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charts/chart8.xml" ContentType="application/vnd.openxmlformats-officedocument.drawingml.chart+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2.xml" ContentType="application/vnd.openxmlformats-officedocument.drawingml.chartshapes+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tags/tag13.xml" ContentType="application/vnd.openxmlformats-officedocument.presentationml.tags+xml"/>
  <Override PartName="/ppt/notesSlides/notesSlide4.xml" ContentType="application/vnd.openxmlformats-officedocument.presentationml.notesSlid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4.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5.xml" ContentType="application/vnd.openxmlformats-officedocument.drawingml.chart+xml"/>
  <Override PartName="/ppt/notesSlides/notesSlide5.xml" ContentType="application/vnd.openxmlformats-officedocument.presentationml.notesSlide+xml"/>
  <Override PartName="/ppt/charts/chart16.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1.xml" ContentType="application/vnd.openxmlformats-officedocument.themeOverride+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drawings/drawing3.xml" ContentType="application/vnd.openxmlformats-officedocument.drawingml.chartshapes+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drawings/drawing4.xml" ContentType="application/vnd.openxmlformats-officedocument.drawingml.chartshapes+xml"/>
  <Override PartName="/ppt/charts/chart20.xml" ContentType="application/vnd.openxmlformats-officedocument.drawingml.chart+xml"/>
  <Override PartName="/ppt/drawings/drawing5.xml" ContentType="application/vnd.openxmlformats-officedocument.drawingml.chartshapes+xml"/>
  <Override PartName="/ppt/charts/chart21.xml" ContentType="application/vnd.openxmlformats-officedocument.drawingml.chart+xml"/>
  <Override PartName="/ppt/charts/style18.xml" ContentType="application/vnd.ms-office.chartstyle+xml"/>
  <Override PartName="/ppt/charts/colors18.xml" ContentType="application/vnd.ms-office.chartcolorstyle+xml"/>
  <Override PartName="/ppt/drawings/drawing6.xml" ContentType="application/vnd.openxmlformats-officedocument.drawingml.chartshape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charts/chart22.xml" ContentType="application/vnd.openxmlformats-officedocument.drawingml.chart+xml"/>
  <Override PartName="/ppt/charts/style19.xml" ContentType="application/vnd.ms-office.chartstyle+xml"/>
  <Override PartName="/ppt/charts/colors19.xml" ContentType="application/vnd.ms-office.chartcolorstyle+xml"/>
  <Override PartName="/ppt/theme/themeOverride3.xml" ContentType="application/vnd.openxmlformats-officedocument.themeOverride+xml"/>
  <Override PartName="/ppt/charts/chart23.xml" ContentType="application/vnd.openxmlformats-officedocument.drawingml.chart+xml"/>
  <Override PartName="/ppt/charts/style20.xml" ContentType="application/vnd.ms-office.chartstyle+xml"/>
  <Override PartName="/ppt/charts/colors20.xml" ContentType="application/vnd.ms-office.chartcolorstyle+xml"/>
  <Override PartName="/ppt/theme/themeOverride4.xml" ContentType="application/vnd.openxmlformats-officedocument.themeOverride+xml"/>
  <Override PartName="/ppt/charts/chart24.xml" ContentType="application/vnd.openxmlformats-officedocument.drawingml.chart+xml"/>
  <Override PartName="/ppt/charts/style21.xml" ContentType="application/vnd.ms-office.chartstyle+xml"/>
  <Override PartName="/ppt/charts/colors21.xml" ContentType="application/vnd.ms-office.chartcolorstyle+xml"/>
  <Override PartName="/ppt/theme/themeOverride5.xml" ContentType="application/vnd.openxmlformats-officedocument.themeOverride+xml"/>
  <Override PartName="/ppt/charts/chart25.xml" ContentType="application/vnd.openxmlformats-officedocument.drawingml.chart+xml"/>
  <Override PartName="/ppt/charts/style22.xml" ContentType="application/vnd.ms-office.chartstyle+xml"/>
  <Override PartName="/ppt/charts/colors22.xml" ContentType="application/vnd.ms-office.chartcolorstyle+xml"/>
  <Override PartName="/ppt/theme/themeOverride6.xml" ContentType="application/vnd.openxmlformats-officedocument.themeOverride+xml"/>
  <Override PartName="/ppt/charts/chart26.xml" ContentType="application/vnd.openxmlformats-officedocument.drawingml.chart+xml"/>
  <Override PartName="/ppt/charts/style23.xml" ContentType="application/vnd.ms-office.chartstyle+xml"/>
  <Override PartName="/ppt/charts/colors23.xml" ContentType="application/vnd.ms-office.chartcolorstyle+xml"/>
  <Override PartName="/ppt/theme/themeOverride7.xml" ContentType="application/vnd.openxmlformats-officedocument.themeOverride+xml"/>
  <Override PartName="/ppt/charts/chart27.xml" ContentType="application/vnd.openxmlformats-officedocument.drawingml.chart+xml"/>
  <Override PartName="/ppt/charts/style24.xml" ContentType="application/vnd.ms-office.chartstyle+xml"/>
  <Override PartName="/ppt/charts/colors24.xml" ContentType="application/vnd.ms-office.chartcolorstyle+xml"/>
  <Override PartName="/ppt/theme/themeOverride8.xml" ContentType="application/vnd.openxmlformats-officedocument.themeOverride+xml"/>
  <Override PartName="/ppt/charts/chart28.xml" ContentType="application/vnd.openxmlformats-officedocument.drawingml.chart+xml"/>
  <Override PartName="/ppt/charts/style25.xml" ContentType="application/vnd.ms-office.chartstyle+xml"/>
  <Override PartName="/ppt/charts/colors25.xml" ContentType="application/vnd.ms-office.chartcolorstyle+xml"/>
  <Override PartName="/ppt/theme/themeOverride9.xml" ContentType="application/vnd.openxmlformats-officedocument.themeOverride+xml"/>
  <Override PartName="/ppt/charts/chart29.xml" ContentType="application/vnd.openxmlformats-officedocument.drawingml.chart+xml"/>
  <Override PartName="/ppt/charts/style26.xml" ContentType="application/vnd.ms-office.chartstyle+xml"/>
  <Override PartName="/ppt/charts/colors26.xml" ContentType="application/vnd.ms-office.chartcolorstyle+xml"/>
  <Override PartName="/ppt/theme/themeOverride10.xml" ContentType="application/vnd.openxmlformats-officedocument.themeOverride+xml"/>
  <Override PartName="/ppt/charts/chart30.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1.xml" ContentType="application/vnd.openxmlformats-officedocument.drawingml.chart+xml"/>
  <Override PartName="/ppt/charts/style28.xml" ContentType="application/vnd.ms-office.chartstyle+xml"/>
  <Override PartName="/ppt/charts/colors28.xml" ContentType="application/vnd.ms-office.chartcolorstyle+xml"/>
  <Override PartName="/ppt/tags/tag26.xml" ContentType="application/vnd.openxmlformats-officedocument.presentationml.tags+xml"/>
  <Override PartName="/ppt/tags/tag27.xml" ContentType="application/vnd.openxmlformats-officedocument.presentationml.tags+xml"/>
  <Override PartName="/ppt/charts/chart32.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3.xml" ContentType="application/vnd.openxmlformats-officedocument.drawingml.chart+xml"/>
  <Override PartName="/ppt/charts/style30.xml" ContentType="application/vnd.ms-office.chartstyle+xml"/>
  <Override PartName="/ppt/charts/colors30.xml" ContentType="application/vnd.ms-office.chartcolorstyle+xml"/>
  <Override PartName="/ppt/theme/themeOverride11.xml" ContentType="application/vnd.openxmlformats-officedocument.themeOverride+xml"/>
  <Override PartName="/ppt/notesSlides/notesSlide9.xml" ContentType="application/vnd.openxmlformats-officedocument.presentationml.notesSlide+xml"/>
  <Override PartName="/ppt/charts/chart34.xml" ContentType="application/vnd.openxmlformats-officedocument.drawingml.chart+xml"/>
  <Override PartName="/ppt/charts/style31.xml" ContentType="application/vnd.ms-office.chartstyle+xml"/>
  <Override PartName="/ppt/charts/colors31.xml" ContentType="application/vnd.ms-office.chartcolorstyle+xml"/>
  <Override PartName="/ppt/drawings/drawing7.xml" ContentType="application/vnd.openxmlformats-officedocument.drawingml.chartshapes+xml"/>
  <Override PartName="/ppt/tags/tag28.xml" ContentType="application/vnd.openxmlformats-officedocument.presentationml.tags+xml"/>
  <Override PartName="/ppt/charts/chart35.xml" ContentType="application/vnd.openxmlformats-officedocument.drawingml.chart+xml"/>
  <Override PartName="/ppt/charts/style32.xml" ContentType="application/vnd.ms-office.chartstyle+xml"/>
  <Override PartName="/ppt/charts/colors32.xml" ContentType="application/vnd.ms-office.chartcolorstyle+xml"/>
  <Override PartName="/ppt/theme/themeOverride12.xml" ContentType="application/vnd.openxmlformats-officedocument.themeOverride+xml"/>
  <Override PartName="/ppt/charts/chart36.xml" ContentType="application/vnd.openxmlformats-officedocument.drawingml.chart+xml"/>
  <Override PartName="/ppt/charts/style33.xml" ContentType="application/vnd.ms-office.chartstyle+xml"/>
  <Override PartName="/ppt/charts/colors33.xml" ContentType="application/vnd.ms-office.chartcolorstyle+xml"/>
  <Override PartName="/ppt/theme/themeOverride13.xml" ContentType="application/vnd.openxmlformats-officedocument.themeOverride+xml"/>
  <Override PartName="/ppt/tags/tag29.xml" ContentType="application/vnd.openxmlformats-officedocument.presentationml.tags+xml"/>
  <Override PartName="/ppt/charts/chart37.xml" ContentType="application/vnd.openxmlformats-officedocument.drawingml.chart+xml"/>
  <Override PartName="/ppt/charts/style34.xml" ContentType="application/vnd.ms-office.chartstyle+xml"/>
  <Override PartName="/ppt/charts/colors34.xml" ContentType="application/vnd.ms-office.chartcolorstyle+xml"/>
  <Override PartName="/ppt/drawings/drawing8.xml" ContentType="application/vnd.openxmlformats-officedocument.drawingml.chartshap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093" r:id="rId4"/>
  </p:sldMasterIdLst>
  <p:notesMasterIdLst>
    <p:notesMasterId r:id="rId50"/>
  </p:notesMasterIdLst>
  <p:handoutMasterIdLst>
    <p:handoutMasterId r:id="rId51"/>
  </p:handoutMasterIdLst>
  <p:sldIdLst>
    <p:sldId id="256" r:id="rId5"/>
    <p:sldId id="2147481635" r:id="rId6"/>
    <p:sldId id="2147483477" r:id="rId7"/>
    <p:sldId id="2147378676" r:id="rId8"/>
    <p:sldId id="2147481691" r:id="rId9"/>
    <p:sldId id="2147481609" r:id="rId10"/>
    <p:sldId id="2147481610" r:id="rId11"/>
    <p:sldId id="2147481639" r:id="rId12"/>
    <p:sldId id="2147481584" r:id="rId13"/>
    <p:sldId id="2147481648" r:id="rId14"/>
    <p:sldId id="2147483483" r:id="rId15"/>
    <p:sldId id="2134805505" r:id="rId16"/>
    <p:sldId id="2134805499" r:id="rId17"/>
    <p:sldId id="264" r:id="rId18"/>
    <p:sldId id="258" r:id="rId19"/>
    <p:sldId id="2147481769" r:id="rId20"/>
    <p:sldId id="2147483489" r:id="rId21"/>
    <p:sldId id="2147483632" r:id="rId22"/>
    <p:sldId id="2147483633" r:id="rId23"/>
    <p:sldId id="2147483485" r:id="rId24"/>
    <p:sldId id="2147483486" r:id="rId25"/>
    <p:sldId id="257" r:id="rId26"/>
    <p:sldId id="2147483487" r:id="rId27"/>
    <p:sldId id="2147483636" r:id="rId28"/>
    <p:sldId id="2147483637" r:id="rId29"/>
    <p:sldId id="2147483638" r:id="rId30"/>
    <p:sldId id="2147483484" r:id="rId31"/>
    <p:sldId id="2147483473" r:id="rId32"/>
    <p:sldId id="2147483443" r:id="rId33"/>
    <p:sldId id="2147481477" r:id="rId34"/>
    <p:sldId id="2147481663" r:id="rId35"/>
    <p:sldId id="2147481478" r:id="rId36"/>
    <p:sldId id="2147481543" r:id="rId37"/>
    <p:sldId id="2147483469" r:id="rId38"/>
    <p:sldId id="340" r:id="rId39"/>
    <p:sldId id="2147481510" r:id="rId40"/>
    <p:sldId id="2147377144" r:id="rId41"/>
    <p:sldId id="2147377153" r:id="rId42"/>
    <p:sldId id="2147481541" r:id="rId43"/>
    <p:sldId id="2147481651" r:id="rId44"/>
    <p:sldId id="2147481652" r:id="rId45"/>
    <p:sldId id="2147483481" r:id="rId46"/>
    <p:sldId id="2147481532" r:id="rId47"/>
    <p:sldId id="2147481653" r:id="rId48"/>
    <p:sldId id="2147481647" r:id="rId49"/>
  </p:sldIdLst>
  <p:sldSz cx="9906000" cy="6858000" type="A4"/>
  <p:notesSz cx="9297988" cy="7011988"/>
  <p:custDataLst>
    <p:tags r:id="rId52"/>
  </p:custDataLst>
  <p:defaultTextStyle>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p:defaultTextStyle>
  <p:extLst>
    <p:ext uri="{521415D9-36F7-43E2-AB2F-B90AF26B5E84}">
      <p14:sectionLst xmlns:p14="http://schemas.microsoft.com/office/powerpoint/2010/main">
        <p14:section name="Default Section" id="{5FDC86DB-083D-4319-A825-AC1150E45FC6}">
          <p14:sldIdLst>
            <p14:sldId id="256"/>
            <p14:sldId id="2147481635"/>
            <p14:sldId id="2147483477"/>
            <p14:sldId id="2147378676"/>
            <p14:sldId id="2147481691"/>
            <p14:sldId id="2147481609"/>
            <p14:sldId id="2147481610"/>
            <p14:sldId id="2147481639"/>
            <p14:sldId id="2147481584"/>
            <p14:sldId id="2147481648"/>
            <p14:sldId id="2147483483"/>
            <p14:sldId id="2134805505"/>
            <p14:sldId id="2134805499"/>
            <p14:sldId id="264"/>
            <p14:sldId id="258"/>
            <p14:sldId id="2147481769"/>
            <p14:sldId id="2147483489"/>
            <p14:sldId id="2147483632"/>
            <p14:sldId id="2147483633"/>
            <p14:sldId id="2147483485"/>
            <p14:sldId id="2147483486"/>
            <p14:sldId id="257"/>
            <p14:sldId id="2147483487"/>
            <p14:sldId id="2147483636"/>
            <p14:sldId id="2147483637"/>
            <p14:sldId id="2147483638"/>
            <p14:sldId id="2147483484"/>
            <p14:sldId id="2147483473"/>
            <p14:sldId id="2147483443"/>
            <p14:sldId id="2147481477"/>
            <p14:sldId id="2147481663"/>
            <p14:sldId id="2147481478"/>
            <p14:sldId id="2147481543"/>
            <p14:sldId id="2147483469"/>
            <p14:sldId id="340"/>
            <p14:sldId id="2147481510"/>
            <p14:sldId id="2147377144"/>
            <p14:sldId id="2147377153"/>
            <p14:sldId id="2147481541"/>
            <p14:sldId id="2147481651"/>
            <p14:sldId id="2147481652"/>
            <p14:sldId id="2147483481"/>
            <p14:sldId id="2147481532"/>
            <p14:sldId id="2147481653"/>
            <p14:sldId id="2147481647"/>
          </p14:sldIdLst>
        </p14:section>
      </p14:sectionLst>
    </p:ext>
    <p:ext uri="{EFAFB233-063F-42B5-8137-9DF3F51BA10A}">
      <p15:sldGuideLst xmlns:p15="http://schemas.microsoft.com/office/powerpoint/2012/main">
        <p15:guide id="24" orient="horz" pos="4320" userDrawn="1">
          <p15:clr>
            <a:srgbClr val="A4A3A4"/>
          </p15:clr>
        </p15:guide>
        <p15:guide id="25" pos="3120">
          <p15:clr>
            <a:srgbClr val="A4A3A4"/>
          </p15:clr>
        </p15:guide>
      </p15:sldGuideLst>
    </p:ext>
    <p:ext uri="{2D200454-40CA-4A62-9FC3-DE9A4176ACB9}">
      <p15:notesGuideLst xmlns:p15="http://schemas.microsoft.com/office/powerpoint/2012/main">
        <p15:guide id="1" orient="horz" pos="2209" userDrawn="1">
          <p15:clr>
            <a:srgbClr val="A4A3A4"/>
          </p15:clr>
        </p15:guide>
        <p15:guide id="2" pos="293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89584"/>
    <a:srgbClr val="C0FCF5"/>
    <a:srgbClr val="B4B8B9"/>
    <a:srgbClr val="00375E"/>
    <a:srgbClr val="FFFFFF"/>
    <a:srgbClr val="089C8B"/>
    <a:srgbClr val="315D90"/>
    <a:srgbClr val="0DF3D8"/>
    <a:srgbClr val="8C04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E0A769-84DE-59AE-71F9-F7C52BD4EABC}" v="2033" dt="2026-05-27T08:07:22.5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092" y="90"/>
      </p:cViewPr>
      <p:guideLst>
        <p:guide orient="horz" pos="4320"/>
        <p:guide pos="3120"/>
      </p:guideLst>
    </p:cSldViewPr>
  </p:slideViewPr>
  <p:notesTextViewPr>
    <p:cViewPr>
      <p:scale>
        <a:sx n="1" d="1"/>
        <a:sy n="1" d="1"/>
      </p:scale>
      <p:origin x="0" y="0"/>
    </p:cViewPr>
  </p:notesTextViewPr>
  <p:notesViewPr>
    <p:cSldViewPr snapToGrid="0">
      <p:cViewPr>
        <p:scale>
          <a:sx n="1" d="2"/>
          <a:sy n="1" d="2"/>
        </p:scale>
        <p:origin x="0" y="0"/>
      </p:cViewPr>
      <p:guideLst>
        <p:guide orient="horz" pos="2209"/>
        <p:guide pos="293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oleObject" Target="https://dbs1bank-my.sharepoint.com/personal/soehein_dbs_com/Documents/1%20ECM/1%20Work/2026%20Vantage%20Data%20Centres%20RFP/Databook/Vantage%20-%20Market%20Databoo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bs1bank-my.sharepoint.com/personal/soehein_dbs_com/Documents/1%20ECM/1%20Work/2026%20Vantage%20Data%20Centres%20RFP/Databook/Vantage%20-%20Market%20Databoo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bs1bank-my.sharepoint.com/personal/soehein_dbs_com/Documents/1%20ECM/1%20Work/2026%20Vantage%20Data%20Centres%20RFP/Databook/Vantage%20-%20Market%20Databoo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bs1bank-my.sharepoint.com/personal/soehein_dbs_com/Documents/1%20ECM/1%20Work/2026%20Vantage%20Data%20Centres%20RFP/Databook/Vantage%20-%20Market%20Databoo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bs1bank-my.sharepoint.com/personal/soehein_dbs_com/Documents/1%20ECM/1%20Work/2026%20Vantage%20Data%20Centres%20RFP/Databook/Vantage%20-%20Market%20Databook.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2.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1.xml"/><Relationship Id="rId1" Type="http://schemas.microsoft.com/office/2011/relationships/chartStyle" Target="style11.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2.xml"/><Relationship Id="rId1" Type="http://schemas.microsoft.com/office/2011/relationships/chartStyle" Target="style12.xml"/></Relationships>
</file>

<file path=ppt/charts/_rels/chart14.xml.rels><?xml version="1.0" encoding="UTF-8" standalone="yes"?>
<Relationships xmlns="http://schemas.openxmlformats.org/package/2006/relationships"><Relationship Id="rId3" Type="http://schemas.openxmlformats.org/officeDocument/2006/relationships/oleObject" Target="file:///\\w03g1bnkfps09\DBS%20ACL-ECM\Public\Syndicate\Presentations\Board%20Paper\2020%20Data\Q42020\2017%20-%202020%20ECM%20Volume.xlsx" TargetMode="External"/><Relationship Id="rId2" Type="http://schemas.microsoft.com/office/2011/relationships/chartColorStyle" Target="colors13.xml"/><Relationship Id="rId1" Type="http://schemas.microsoft.com/office/2011/relationships/chartStyle" Target="style13.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package" Target="../embeddings/Microsoft_Excel_Worksheet9.xlsx"/></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package" Target="../embeddings/Microsoft_Excel_Worksheet10.xlsx"/></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chartUserShapes" Target="../drawings/drawing3.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chartUserShapes" Target="../drawings/drawing4.xml"/></Relationships>
</file>

<file path=ppt/charts/_rels/chart20.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13.xlsx"/></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chartUserShapes" Target="../drawings/drawing6.xml"/></Relationships>
</file>

<file path=ppt/charts/_rels/chart22.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package" Target="../embeddings/Microsoft_Excel_Worksheet15.xlsx"/></Relationships>
</file>

<file path=ppt/charts/_rels/chart23.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0.xml"/><Relationship Id="rId1" Type="http://schemas.microsoft.com/office/2011/relationships/chartStyle" Target="style20.xml"/><Relationship Id="rId4" Type="http://schemas.openxmlformats.org/officeDocument/2006/relationships/package" Target="../embeddings/Microsoft_Excel_Worksheet16.xlsx"/></Relationships>
</file>

<file path=ppt/charts/_rels/chart24.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package" Target="../embeddings/Microsoft_Excel_Worksheet17.xlsx"/></Relationships>
</file>

<file path=ppt/charts/_rels/chart25.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22.xml"/><Relationship Id="rId1" Type="http://schemas.microsoft.com/office/2011/relationships/chartStyle" Target="style22.xml"/><Relationship Id="rId4" Type="http://schemas.openxmlformats.org/officeDocument/2006/relationships/package" Target="../embeddings/Microsoft_Excel_Worksheet18.xlsx"/></Relationships>
</file>

<file path=ppt/charts/_rels/chart26.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23.xml"/><Relationship Id="rId1" Type="http://schemas.microsoft.com/office/2011/relationships/chartStyle" Target="style23.xml"/><Relationship Id="rId4" Type="http://schemas.openxmlformats.org/officeDocument/2006/relationships/package" Target="../embeddings/Microsoft_Excel_Worksheet19.xlsx"/></Relationships>
</file>

<file path=ppt/charts/_rels/chart27.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24.xml"/><Relationship Id="rId1" Type="http://schemas.microsoft.com/office/2011/relationships/chartStyle" Target="style24.xml"/><Relationship Id="rId4" Type="http://schemas.openxmlformats.org/officeDocument/2006/relationships/package" Target="../embeddings/Microsoft_Excel_Worksheet20.xlsx"/></Relationships>
</file>

<file path=ppt/charts/_rels/chart28.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25.xml"/><Relationship Id="rId1" Type="http://schemas.microsoft.com/office/2011/relationships/chartStyle" Target="style25.xml"/><Relationship Id="rId4" Type="http://schemas.openxmlformats.org/officeDocument/2006/relationships/package" Target="../embeddings/Microsoft_Excel_Worksheet21.xlsx"/></Relationships>
</file>

<file path=ppt/charts/_rels/chart29.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26.xml"/><Relationship Id="rId1" Type="http://schemas.microsoft.com/office/2011/relationships/chartStyle" Target="style26.xml"/><Relationship Id="rId4" Type="http://schemas.openxmlformats.org/officeDocument/2006/relationships/package" Target="../embeddings/Microsoft_Excel_Worksheet22.xlsx"/></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7.xml"/><Relationship Id="rId1" Type="http://schemas.microsoft.com/office/2011/relationships/chartStyle" Target="style27.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8.xml"/><Relationship Id="rId1" Type="http://schemas.microsoft.com/office/2011/relationships/chartStyle" Target="style28.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9.xml"/><Relationship Id="rId1" Type="http://schemas.microsoft.com/office/2011/relationships/chartStyle" Target="style29.xml"/></Relationships>
</file>

<file path=ppt/charts/_rels/chart33.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30.xml"/><Relationship Id="rId1" Type="http://schemas.microsoft.com/office/2011/relationships/chartStyle" Target="style30.xml"/><Relationship Id="rId4" Type="http://schemas.openxmlformats.org/officeDocument/2006/relationships/oleObject" Target="https://dbs1bank-my.sharepoint.com/personal/soehein_dbs_com/Documents/1%20ECM/2025%20Airtrunk/Airtrunk%20-%20Working%20-%20Benchmarking.xlsx" TargetMode="Externa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31.xml"/><Relationship Id="rId1" Type="http://schemas.microsoft.com/office/2011/relationships/chartStyle" Target="style31.xml"/><Relationship Id="rId4" Type="http://schemas.openxmlformats.org/officeDocument/2006/relationships/chartUserShapes" Target="../drawings/drawing7.xml"/></Relationships>
</file>

<file path=ppt/charts/_rels/chart35.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32.xml"/><Relationship Id="rId1" Type="http://schemas.microsoft.com/office/2011/relationships/chartStyle" Target="style32.xml"/><Relationship Id="rId4" Type="http://schemas.openxmlformats.org/officeDocument/2006/relationships/oleObject" Target="https://dbs1bank-my.sharepoint.com/personal/jasonsiah_dbs_com/Documents/2025%20Project%20Star/Admin%20-%20Transaction%20Analysis/Placement%20Book%20+Charts.xlsx" TargetMode="External"/></Relationships>
</file>

<file path=ppt/charts/_rels/chart36.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33.xml"/><Relationship Id="rId1" Type="http://schemas.microsoft.com/office/2011/relationships/chartStyle" Target="style33.xml"/><Relationship Id="rId4" Type="http://schemas.openxmlformats.org/officeDocument/2006/relationships/oleObject" Target="https://dbs1bank-my.sharepoint.com/personal/jasonsiah_dbs_com/Documents/2025%20Project%20Star/Admin%20-%20Transaction%20Analysis/Placement%20Book%20+Charts.xlsx" TargetMode="Externa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34.xml"/><Relationship Id="rId1" Type="http://schemas.microsoft.com/office/2011/relationships/chartStyle" Target="style34.xml"/><Relationship Id="rId4" Type="http://schemas.openxmlformats.org/officeDocument/2006/relationships/chartUserShapes" Target="../drawings/drawing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667213380715218E-2"/>
          <c:y val="6.0506024399043512E-2"/>
          <c:w val="0.75450705727829748"/>
          <c:h val="0.73285659032743855"/>
        </c:manualLayout>
      </c:layout>
      <c:lineChart>
        <c:grouping val="standard"/>
        <c:varyColors val="0"/>
        <c:ser>
          <c:idx val="3"/>
          <c:order val="0"/>
          <c:tx>
            <c:strRef>
              <c:f>'BBG (Global Markets)'!$S$11</c:f>
              <c:strCache>
                <c:ptCount val="1"/>
                <c:pt idx="0">
                  <c:v>MSCI Asia Ex-Japan 53.7%</c:v>
                </c:pt>
              </c:strCache>
            </c:strRef>
          </c:tx>
          <c:spPr>
            <a:ln w="15875" cap="rnd">
              <a:solidFill>
                <a:srgbClr val="089C8B"/>
              </a:solidFill>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Markets)'!$S$12:$S$501</c:f>
              <c:numCache>
                <c:formatCode>_(* #,##0_);_(* \(#,##0\);_(* "   -"?_);_(@_)</c:formatCode>
                <c:ptCount val="490"/>
                <c:pt idx="1">
                  <c:v>100</c:v>
                </c:pt>
                <c:pt idx="2">
                  <c:v>99.243703440936486</c:v>
                </c:pt>
                <c:pt idx="3">
                  <c:v>99.521816246896066</c:v>
                </c:pt>
                <c:pt idx="4">
                  <c:v>99.521816246896066</c:v>
                </c:pt>
                <c:pt idx="5">
                  <c:v>99.521816246896066</c:v>
                </c:pt>
                <c:pt idx="6">
                  <c:v>99.947499113160703</c:v>
                </c:pt>
                <c:pt idx="7">
                  <c:v>99.930471798510112</c:v>
                </c:pt>
                <c:pt idx="8">
                  <c:v>99.191202554097188</c:v>
                </c:pt>
                <c:pt idx="9">
                  <c:v>98.605179141539551</c:v>
                </c:pt>
                <c:pt idx="10">
                  <c:v>97.677190493082662</c:v>
                </c:pt>
                <c:pt idx="11">
                  <c:v>97.677190493082662</c:v>
                </c:pt>
                <c:pt idx="12">
                  <c:v>97.677190493082662</c:v>
                </c:pt>
                <c:pt idx="13">
                  <c:v>95.848173111032281</c:v>
                </c:pt>
                <c:pt idx="14">
                  <c:v>97.160695282014899</c:v>
                </c:pt>
                <c:pt idx="15">
                  <c:v>97.111032280950695</c:v>
                </c:pt>
                <c:pt idx="16">
                  <c:v>98.376729336644203</c:v>
                </c:pt>
                <c:pt idx="17">
                  <c:v>98.671869457254346</c:v>
                </c:pt>
                <c:pt idx="18">
                  <c:v>98.671869457254346</c:v>
                </c:pt>
                <c:pt idx="19">
                  <c:v>98.671869457254346</c:v>
                </c:pt>
                <c:pt idx="20">
                  <c:v>99.665129478538489</c:v>
                </c:pt>
                <c:pt idx="21">
                  <c:v>99.70060305072721</c:v>
                </c:pt>
                <c:pt idx="22">
                  <c:v>99.633912735012416</c:v>
                </c:pt>
                <c:pt idx="23">
                  <c:v>99.500532103582827</c:v>
                </c:pt>
                <c:pt idx="24">
                  <c:v>100.32493792124866</c:v>
                </c:pt>
                <c:pt idx="25">
                  <c:v>100.32493792124866</c:v>
                </c:pt>
                <c:pt idx="26">
                  <c:v>100.32493792124866</c:v>
                </c:pt>
                <c:pt idx="27">
                  <c:v>100.12912380276693</c:v>
                </c:pt>
                <c:pt idx="28">
                  <c:v>100.24689606243349</c:v>
                </c:pt>
                <c:pt idx="29">
                  <c:v>100.54345512593119</c:v>
                </c:pt>
                <c:pt idx="30">
                  <c:v>100.63001064207167</c:v>
                </c:pt>
                <c:pt idx="31">
                  <c:v>100.52358992550549</c:v>
                </c:pt>
                <c:pt idx="32">
                  <c:v>100.52358992550549</c:v>
                </c:pt>
                <c:pt idx="33">
                  <c:v>100.52358992550549</c:v>
                </c:pt>
                <c:pt idx="34">
                  <c:v>98.453352252571833</c:v>
                </c:pt>
                <c:pt idx="35">
                  <c:v>100.36892515076268</c:v>
                </c:pt>
                <c:pt idx="36">
                  <c:v>100.63001064207167</c:v>
                </c:pt>
                <c:pt idx="37">
                  <c:v>101.13231642426392</c:v>
                </c:pt>
                <c:pt idx="38">
                  <c:v>101.82901738205037</c:v>
                </c:pt>
                <c:pt idx="39">
                  <c:v>101.82901738205037</c:v>
                </c:pt>
                <c:pt idx="40">
                  <c:v>101.82901738205037</c:v>
                </c:pt>
                <c:pt idx="41">
                  <c:v>101.76232706633557</c:v>
                </c:pt>
                <c:pt idx="42">
                  <c:v>101.23731819794253</c:v>
                </c:pt>
                <c:pt idx="43">
                  <c:v>102.10713018800995</c:v>
                </c:pt>
                <c:pt idx="44">
                  <c:v>102.32706633558</c:v>
                </c:pt>
                <c:pt idx="45">
                  <c:v>103.45654487406881</c:v>
                </c:pt>
                <c:pt idx="46">
                  <c:v>103.45654487406881</c:v>
                </c:pt>
                <c:pt idx="47">
                  <c:v>103.45654487406881</c:v>
                </c:pt>
                <c:pt idx="48">
                  <c:v>104.12912380276693</c:v>
                </c:pt>
                <c:pt idx="49">
                  <c:v>104.858460446967</c:v>
                </c:pt>
                <c:pt idx="50">
                  <c:v>104.82298687477829</c:v>
                </c:pt>
                <c:pt idx="51">
                  <c:v>104.14473217452998</c:v>
                </c:pt>
                <c:pt idx="52">
                  <c:v>105.98084427101809</c:v>
                </c:pt>
                <c:pt idx="53">
                  <c:v>105.98084427101809</c:v>
                </c:pt>
                <c:pt idx="54">
                  <c:v>105.98084427101809</c:v>
                </c:pt>
                <c:pt idx="55">
                  <c:v>105.01170627882229</c:v>
                </c:pt>
                <c:pt idx="56">
                  <c:v>103.5431003902093</c:v>
                </c:pt>
                <c:pt idx="57">
                  <c:v>105.06704505143669</c:v>
                </c:pt>
                <c:pt idx="58">
                  <c:v>104.13763746009224</c:v>
                </c:pt>
                <c:pt idx="59">
                  <c:v>101.48847108903867</c:v>
                </c:pt>
                <c:pt idx="60">
                  <c:v>101.48847108903867</c:v>
                </c:pt>
                <c:pt idx="61">
                  <c:v>101.48847108903867</c:v>
                </c:pt>
                <c:pt idx="62">
                  <c:v>101.32813054274565</c:v>
                </c:pt>
                <c:pt idx="63">
                  <c:v>101.11670805250088</c:v>
                </c:pt>
                <c:pt idx="64">
                  <c:v>103.39978715856688</c:v>
                </c:pt>
                <c:pt idx="65">
                  <c:v>104.974813763746</c:v>
                </c:pt>
                <c:pt idx="66">
                  <c:v>104.55622561191913</c:v>
                </c:pt>
                <c:pt idx="67">
                  <c:v>104.55622561191913</c:v>
                </c:pt>
                <c:pt idx="68">
                  <c:v>104.55622561191913</c:v>
                </c:pt>
                <c:pt idx="69">
                  <c:v>103.1216743526073</c:v>
                </c:pt>
                <c:pt idx="70">
                  <c:v>102.72437034409366</c:v>
                </c:pt>
                <c:pt idx="71">
                  <c:v>102.84781837531041</c:v>
                </c:pt>
                <c:pt idx="72">
                  <c:v>102.0971975877971</c:v>
                </c:pt>
                <c:pt idx="73">
                  <c:v>103.08761972330613</c:v>
                </c:pt>
                <c:pt idx="74">
                  <c:v>103.08761972330613</c:v>
                </c:pt>
                <c:pt idx="75">
                  <c:v>103.08761972330613</c:v>
                </c:pt>
                <c:pt idx="76">
                  <c:v>104.16034054629301</c:v>
                </c:pt>
                <c:pt idx="77">
                  <c:v>105.60766229159275</c:v>
                </c:pt>
                <c:pt idx="78">
                  <c:v>105.50549840368923</c:v>
                </c:pt>
                <c:pt idx="79">
                  <c:v>105.28981908478184</c:v>
                </c:pt>
                <c:pt idx="80">
                  <c:v>104.34338417878681</c:v>
                </c:pt>
                <c:pt idx="81">
                  <c:v>104.34338417878681</c:v>
                </c:pt>
                <c:pt idx="82">
                  <c:v>104.34338417878681</c:v>
                </c:pt>
                <c:pt idx="83">
                  <c:v>104.82298687477829</c:v>
                </c:pt>
                <c:pt idx="84">
                  <c:v>103.9914863426747</c:v>
                </c:pt>
                <c:pt idx="85">
                  <c:v>104.21993614757005</c:v>
                </c:pt>
                <c:pt idx="86">
                  <c:v>104.12061014544165</c:v>
                </c:pt>
                <c:pt idx="87">
                  <c:v>103.25079815537424</c:v>
                </c:pt>
                <c:pt idx="88">
                  <c:v>103.25079815537424</c:v>
                </c:pt>
                <c:pt idx="89">
                  <c:v>103.25079815537424</c:v>
                </c:pt>
                <c:pt idx="90">
                  <c:v>101.32245477119545</c:v>
                </c:pt>
                <c:pt idx="91">
                  <c:v>102.14260376019865</c:v>
                </c:pt>
                <c:pt idx="92">
                  <c:v>102.38098616530684</c:v>
                </c:pt>
                <c:pt idx="93">
                  <c:v>101.47286271727563</c:v>
                </c:pt>
                <c:pt idx="94">
                  <c:v>100.71089038666194</c:v>
                </c:pt>
                <c:pt idx="95">
                  <c:v>100.71089038666194</c:v>
                </c:pt>
                <c:pt idx="96">
                  <c:v>100.71089038666194</c:v>
                </c:pt>
                <c:pt idx="97">
                  <c:v>91.751684994678968</c:v>
                </c:pt>
                <c:pt idx="98">
                  <c:v>91.594182334161047</c:v>
                </c:pt>
                <c:pt idx="99">
                  <c:v>90.62646328485279</c:v>
                </c:pt>
                <c:pt idx="100">
                  <c:v>94.014898900319267</c:v>
                </c:pt>
                <c:pt idx="101">
                  <c:v>95.516140475345864</c:v>
                </c:pt>
                <c:pt idx="102">
                  <c:v>95.516140475345864</c:v>
                </c:pt>
                <c:pt idx="103">
                  <c:v>95.516140475345864</c:v>
                </c:pt>
                <c:pt idx="104">
                  <c:v>96.777580702376724</c:v>
                </c:pt>
                <c:pt idx="105">
                  <c:v>97.844625753813403</c:v>
                </c:pt>
                <c:pt idx="106">
                  <c:v>96.659808442710187</c:v>
                </c:pt>
                <c:pt idx="107">
                  <c:v>97.599148634267479</c:v>
                </c:pt>
                <c:pt idx="108">
                  <c:v>97.756651294785385</c:v>
                </c:pt>
                <c:pt idx="109">
                  <c:v>97.756651294785385</c:v>
                </c:pt>
                <c:pt idx="110">
                  <c:v>97.756651294785385</c:v>
                </c:pt>
                <c:pt idx="111">
                  <c:v>98.009223128769079</c:v>
                </c:pt>
                <c:pt idx="112">
                  <c:v>98.037601986520045</c:v>
                </c:pt>
                <c:pt idx="113">
                  <c:v>100.21851720468251</c:v>
                </c:pt>
                <c:pt idx="114">
                  <c:v>99.676481021638892</c:v>
                </c:pt>
                <c:pt idx="115">
                  <c:v>100.08087974459028</c:v>
                </c:pt>
                <c:pt idx="116">
                  <c:v>100.08087974459028</c:v>
                </c:pt>
                <c:pt idx="117">
                  <c:v>100.08087974459028</c:v>
                </c:pt>
                <c:pt idx="118">
                  <c:v>100.57325292656969</c:v>
                </c:pt>
                <c:pt idx="119">
                  <c:v>100.94217807733239</c:v>
                </c:pt>
                <c:pt idx="120">
                  <c:v>101.86023412557645</c:v>
                </c:pt>
                <c:pt idx="121">
                  <c:v>101.85030152536361</c:v>
                </c:pt>
                <c:pt idx="122">
                  <c:v>104.06810925860232</c:v>
                </c:pt>
                <c:pt idx="123">
                  <c:v>104.06810925860232</c:v>
                </c:pt>
                <c:pt idx="124">
                  <c:v>104.06810925860232</c:v>
                </c:pt>
                <c:pt idx="125">
                  <c:v>104.87974459028024</c:v>
                </c:pt>
                <c:pt idx="126">
                  <c:v>104.71372827243704</c:v>
                </c:pt>
                <c:pt idx="127">
                  <c:v>104.78325647392693</c:v>
                </c:pt>
                <c:pt idx="128">
                  <c:v>104.23696346222064</c:v>
                </c:pt>
                <c:pt idx="129">
                  <c:v>104.6285916991841</c:v>
                </c:pt>
                <c:pt idx="130">
                  <c:v>104.6285916991841</c:v>
                </c:pt>
                <c:pt idx="131">
                  <c:v>104.6285916991841</c:v>
                </c:pt>
                <c:pt idx="132">
                  <c:v>107.16708052500887</c:v>
                </c:pt>
                <c:pt idx="133">
                  <c:v>106.39943242284498</c:v>
                </c:pt>
                <c:pt idx="134">
                  <c:v>108.26676126285916</c:v>
                </c:pt>
                <c:pt idx="135">
                  <c:v>108.28378857750975</c:v>
                </c:pt>
                <c:pt idx="136">
                  <c:v>108.20290883291948</c:v>
                </c:pt>
                <c:pt idx="137">
                  <c:v>108.20290883291948</c:v>
                </c:pt>
                <c:pt idx="138">
                  <c:v>108.20290883291948</c:v>
                </c:pt>
                <c:pt idx="139">
                  <c:v>107.49343738914507</c:v>
                </c:pt>
                <c:pt idx="140">
                  <c:v>107.53742461865909</c:v>
                </c:pt>
                <c:pt idx="141">
                  <c:v>108.42568286626464</c:v>
                </c:pt>
                <c:pt idx="142">
                  <c:v>107.56296559063496</c:v>
                </c:pt>
                <c:pt idx="143">
                  <c:v>108.14473217452998</c:v>
                </c:pt>
                <c:pt idx="144">
                  <c:v>108.14473217452998</c:v>
                </c:pt>
                <c:pt idx="145">
                  <c:v>108.14473217452998</c:v>
                </c:pt>
                <c:pt idx="146">
                  <c:v>107.97304008513657</c:v>
                </c:pt>
                <c:pt idx="147">
                  <c:v>107.37566512947853</c:v>
                </c:pt>
                <c:pt idx="148">
                  <c:v>107.29478538488826</c:v>
                </c:pt>
                <c:pt idx="149">
                  <c:v>107.97445902802414</c:v>
                </c:pt>
                <c:pt idx="150">
                  <c:v>106.95282014898902</c:v>
                </c:pt>
                <c:pt idx="151">
                  <c:v>106.95282014898902</c:v>
                </c:pt>
                <c:pt idx="152">
                  <c:v>106.95282014898902</c:v>
                </c:pt>
                <c:pt idx="153">
                  <c:v>106.5044341965236</c:v>
                </c:pt>
                <c:pt idx="154">
                  <c:v>107.02802412202908</c:v>
                </c:pt>
                <c:pt idx="155">
                  <c:v>108.35331677899964</c:v>
                </c:pt>
                <c:pt idx="156">
                  <c:v>109.41752394466123</c:v>
                </c:pt>
                <c:pt idx="157">
                  <c:v>109.47286271727563</c:v>
                </c:pt>
                <c:pt idx="158">
                  <c:v>109.47286271727563</c:v>
                </c:pt>
                <c:pt idx="159">
                  <c:v>109.47286271727563</c:v>
                </c:pt>
                <c:pt idx="160">
                  <c:v>110.64349059950335</c:v>
                </c:pt>
                <c:pt idx="161">
                  <c:v>111.19829726853494</c:v>
                </c:pt>
                <c:pt idx="162">
                  <c:v>111.94608017027315</c:v>
                </c:pt>
                <c:pt idx="163">
                  <c:v>111.36147570060307</c:v>
                </c:pt>
                <c:pt idx="164">
                  <c:v>110.27456544874067</c:v>
                </c:pt>
                <c:pt idx="165">
                  <c:v>110.27456544874067</c:v>
                </c:pt>
                <c:pt idx="166">
                  <c:v>110.27456544874067</c:v>
                </c:pt>
                <c:pt idx="167">
                  <c:v>111.03937566512947</c:v>
                </c:pt>
                <c:pt idx="168">
                  <c:v>111.12025540971977</c:v>
                </c:pt>
                <c:pt idx="169">
                  <c:v>110.75700603050727</c:v>
                </c:pt>
                <c:pt idx="170">
                  <c:v>109.0528556225612</c:v>
                </c:pt>
                <c:pt idx="171">
                  <c:v>110.34125576445548</c:v>
                </c:pt>
                <c:pt idx="172">
                  <c:v>110.34125576445548</c:v>
                </c:pt>
                <c:pt idx="173">
                  <c:v>110.34125576445548</c:v>
                </c:pt>
                <c:pt idx="174">
                  <c:v>109.5906349769422</c:v>
                </c:pt>
                <c:pt idx="175">
                  <c:v>112.30507272082299</c:v>
                </c:pt>
                <c:pt idx="176">
                  <c:v>113.39198297268535</c:v>
                </c:pt>
                <c:pt idx="177">
                  <c:v>113.7807733238737</c:v>
                </c:pt>
                <c:pt idx="178">
                  <c:v>113.99929052855622</c:v>
                </c:pt>
                <c:pt idx="179">
                  <c:v>113.99929052855622</c:v>
                </c:pt>
                <c:pt idx="180">
                  <c:v>113.99929052855622</c:v>
                </c:pt>
                <c:pt idx="181">
                  <c:v>113.03582830791061</c:v>
                </c:pt>
                <c:pt idx="182">
                  <c:v>113.58212131961689</c:v>
                </c:pt>
                <c:pt idx="183">
                  <c:v>113.745299751685</c:v>
                </c:pt>
                <c:pt idx="184">
                  <c:v>114.1993614757006</c:v>
                </c:pt>
                <c:pt idx="185">
                  <c:v>113.54522880454063</c:v>
                </c:pt>
                <c:pt idx="186">
                  <c:v>113.54522880454063</c:v>
                </c:pt>
                <c:pt idx="187">
                  <c:v>113.54522880454063</c:v>
                </c:pt>
                <c:pt idx="188">
                  <c:v>113.12664065271372</c:v>
                </c:pt>
                <c:pt idx="189">
                  <c:v>113.79070592408655</c:v>
                </c:pt>
                <c:pt idx="190">
                  <c:v>113.42178077332387</c:v>
                </c:pt>
                <c:pt idx="191">
                  <c:v>113.94395175594182</c:v>
                </c:pt>
                <c:pt idx="192">
                  <c:v>113.91273501241574</c:v>
                </c:pt>
                <c:pt idx="193">
                  <c:v>113.91273501241574</c:v>
                </c:pt>
                <c:pt idx="194">
                  <c:v>113.91273501241574</c:v>
                </c:pt>
                <c:pt idx="195">
                  <c:v>113.92976232706633</c:v>
                </c:pt>
                <c:pt idx="196">
                  <c:v>115.23377084072366</c:v>
                </c:pt>
                <c:pt idx="197">
                  <c:v>115.15572898190847</c:v>
                </c:pt>
                <c:pt idx="198">
                  <c:v>115.24512238382405</c:v>
                </c:pt>
                <c:pt idx="199">
                  <c:v>116.14757006030507</c:v>
                </c:pt>
                <c:pt idx="200">
                  <c:v>116.14757006030507</c:v>
                </c:pt>
                <c:pt idx="201">
                  <c:v>116.14757006030507</c:v>
                </c:pt>
                <c:pt idx="202">
                  <c:v>116.51649521106775</c:v>
                </c:pt>
                <c:pt idx="203">
                  <c:v>116.06243348705216</c:v>
                </c:pt>
                <c:pt idx="204">
                  <c:v>117.68286626463285</c:v>
                </c:pt>
                <c:pt idx="205">
                  <c:v>118.00212841433134</c:v>
                </c:pt>
                <c:pt idx="206">
                  <c:v>117.02305782192268</c:v>
                </c:pt>
                <c:pt idx="207">
                  <c:v>117.02305782192268</c:v>
                </c:pt>
                <c:pt idx="208">
                  <c:v>117.02305782192268</c:v>
                </c:pt>
                <c:pt idx="209">
                  <c:v>117.15785739623981</c:v>
                </c:pt>
                <c:pt idx="210">
                  <c:v>116.80454061724015</c:v>
                </c:pt>
                <c:pt idx="211">
                  <c:v>116.65413267115999</c:v>
                </c:pt>
                <c:pt idx="212">
                  <c:v>115.60695282014899</c:v>
                </c:pt>
                <c:pt idx="213">
                  <c:v>113.7807733238737</c:v>
                </c:pt>
                <c:pt idx="214">
                  <c:v>113.7807733238737</c:v>
                </c:pt>
                <c:pt idx="215">
                  <c:v>113.7807733238737</c:v>
                </c:pt>
                <c:pt idx="216">
                  <c:v>114.87903511883646</c:v>
                </c:pt>
                <c:pt idx="217">
                  <c:v>115.73891450869102</c:v>
                </c:pt>
                <c:pt idx="218">
                  <c:v>115.32174529975168</c:v>
                </c:pt>
                <c:pt idx="219">
                  <c:v>116.89393401915574</c:v>
                </c:pt>
                <c:pt idx="220">
                  <c:v>116.02837885775099</c:v>
                </c:pt>
                <c:pt idx="221">
                  <c:v>116.02837885775099</c:v>
                </c:pt>
                <c:pt idx="222">
                  <c:v>116.02837885775099</c:v>
                </c:pt>
                <c:pt idx="223">
                  <c:v>116.35899255054984</c:v>
                </c:pt>
                <c:pt idx="224">
                  <c:v>116.48244058176658</c:v>
                </c:pt>
                <c:pt idx="225">
                  <c:v>118.64207165661583</c:v>
                </c:pt>
                <c:pt idx="226">
                  <c:v>118.23341610500178</c:v>
                </c:pt>
                <c:pt idx="227">
                  <c:v>118.10287335934729</c:v>
                </c:pt>
                <c:pt idx="228">
                  <c:v>118.10287335934729</c:v>
                </c:pt>
                <c:pt idx="229">
                  <c:v>118.10287335934729</c:v>
                </c:pt>
                <c:pt idx="230">
                  <c:v>118.16672578928697</c:v>
                </c:pt>
                <c:pt idx="231">
                  <c:v>118.11280595956013</c:v>
                </c:pt>
                <c:pt idx="232">
                  <c:v>117.04717985101098</c:v>
                </c:pt>
                <c:pt idx="233">
                  <c:v>117.16069528201491</c:v>
                </c:pt>
                <c:pt idx="234">
                  <c:v>117.4373891450869</c:v>
                </c:pt>
                <c:pt idx="235">
                  <c:v>117.4373891450869</c:v>
                </c:pt>
                <c:pt idx="236">
                  <c:v>117.4373891450869</c:v>
                </c:pt>
                <c:pt idx="237">
                  <c:v>119.55587087619723</c:v>
                </c:pt>
                <c:pt idx="238">
                  <c:v>118.45335225257183</c:v>
                </c:pt>
                <c:pt idx="239">
                  <c:v>117.91415395530329</c:v>
                </c:pt>
                <c:pt idx="240">
                  <c:v>117.06704505143668</c:v>
                </c:pt>
                <c:pt idx="241">
                  <c:v>116.87123093295494</c:v>
                </c:pt>
                <c:pt idx="242">
                  <c:v>116.87123093295494</c:v>
                </c:pt>
                <c:pt idx="243">
                  <c:v>116.87123093295494</c:v>
                </c:pt>
                <c:pt idx="244">
                  <c:v>117.78928698119901</c:v>
                </c:pt>
                <c:pt idx="245">
                  <c:v>117.63887903511883</c:v>
                </c:pt>
                <c:pt idx="246">
                  <c:v>117.74246186590989</c:v>
                </c:pt>
                <c:pt idx="247">
                  <c:v>117.22029088329195</c:v>
                </c:pt>
                <c:pt idx="248">
                  <c:v>118.54984036892515</c:v>
                </c:pt>
                <c:pt idx="249">
                  <c:v>118.54984036892515</c:v>
                </c:pt>
                <c:pt idx="250">
                  <c:v>118.54984036892515</c:v>
                </c:pt>
                <c:pt idx="251">
                  <c:v>119.24228449804895</c:v>
                </c:pt>
                <c:pt idx="252">
                  <c:v>120.65697055693509</c:v>
                </c:pt>
                <c:pt idx="253">
                  <c:v>121.99929052855623</c:v>
                </c:pt>
                <c:pt idx="254">
                  <c:v>122.12273855977296</c:v>
                </c:pt>
                <c:pt idx="255">
                  <c:v>123.73607662291593</c:v>
                </c:pt>
                <c:pt idx="256">
                  <c:v>123.73607662291593</c:v>
                </c:pt>
                <c:pt idx="257">
                  <c:v>123.73607662291593</c:v>
                </c:pt>
                <c:pt idx="258">
                  <c:v>123.7644554806669</c:v>
                </c:pt>
                <c:pt idx="259">
                  <c:v>124.84001418942887</c:v>
                </c:pt>
                <c:pt idx="260">
                  <c:v>125.58779709116709</c:v>
                </c:pt>
                <c:pt idx="261">
                  <c:v>125.26144022703085</c:v>
                </c:pt>
                <c:pt idx="262">
                  <c:v>124.6427811280596</c:v>
                </c:pt>
                <c:pt idx="263">
                  <c:v>124.6427811280596</c:v>
                </c:pt>
                <c:pt idx="264">
                  <c:v>124.6427811280596</c:v>
                </c:pt>
                <c:pt idx="265">
                  <c:v>124.80170273146504</c:v>
                </c:pt>
                <c:pt idx="266">
                  <c:v>124.80737850301526</c:v>
                </c:pt>
                <c:pt idx="267">
                  <c:v>125.24015608371764</c:v>
                </c:pt>
                <c:pt idx="268">
                  <c:v>124.69528201489891</c:v>
                </c:pt>
                <c:pt idx="269">
                  <c:v>122.62646328485278</c:v>
                </c:pt>
                <c:pt idx="270">
                  <c:v>122.62646328485278</c:v>
                </c:pt>
                <c:pt idx="271">
                  <c:v>122.62646328485278</c:v>
                </c:pt>
                <c:pt idx="272">
                  <c:v>124.01986520042567</c:v>
                </c:pt>
                <c:pt idx="273">
                  <c:v>124.60588861298332</c:v>
                </c:pt>
                <c:pt idx="274">
                  <c:v>125.31961688542037</c:v>
                </c:pt>
                <c:pt idx="275">
                  <c:v>127.20397304008515</c:v>
                </c:pt>
                <c:pt idx="276">
                  <c:v>127.71621142249026</c:v>
                </c:pt>
                <c:pt idx="277">
                  <c:v>127.71621142249026</c:v>
                </c:pt>
                <c:pt idx="278">
                  <c:v>127.71621142249026</c:v>
                </c:pt>
                <c:pt idx="279">
                  <c:v>127.59418233416105</c:v>
                </c:pt>
                <c:pt idx="280">
                  <c:v>128.08371763036536</c:v>
                </c:pt>
                <c:pt idx="281">
                  <c:v>127.52749201844627</c:v>
                </c:pt>
                <c:pt idx="282">
                  <c:v>128.05391982972685</c:v>
                </c:pt>
                <c:pt idx="283">
                  <c:v>127.15572898190848</c:v>
                </c:pt>
                <c:pt idx="284">
                  <c:v>127.15572898190848</c:v>
                </c:pt>
                <c:pt idx="285">
                  <c:v>127.15572898190848</c:v>
                </c:pt>
                <c:pt idx="286">
                  <c:v>125.61050017736785</c:v>
                </c:pt>
                <c:pt idx="287">
                  <c:v>124.08087974459028</c:v>
                </c:pt>
                <c:pt idx="288">
                  <c:v>126.59240865555161</c:v>
                </c:pt>
                <c:pt idx="289">
                  <c:v>127.75026605179143</c:v>
                </c:pt>
                <c:pt idx="290">
                  <c:v>126.04469670095777</c:v>
                </c:pt>
                <c:pt idx="291">
                  <c:v>126.04469670095777</c:v>
                </c:pt>
                <c:pt idx="292">
                  <c:v>126.04469670095777</c:v>
                </c:pt>
                <c:pt idx="293">
                  <c:v>128.28520752039731</c:v>
                </c:pt>
                <c:pt idx="294">
                  <c:v>128.70947144377439</c:v>
                </c:pt>
                <c:pt idx="295">
                  <c:v>128.09365023057822</c:v>
                </c:pt>
                <c:pt idx="296">
                  <c:v>128.00567577155019</c:v>
                </c:pt>
                <c:pt idx="297">
                  <c:v>128.86839304717986</c:v>
                </c:pt>
                <c:pt idx="298">
                  <c:v>128.86839304717986</c:v>
                </c:pt>
                <c:pt idx="299">
                  <c:v>128.86839304717986</c:v>
                </c:pt>
                <c:pt idx="300">
                  <c:v>131.00673997871587</c:v>
                </c:pt>
                <c:pt idx="301">
                  <c:v>130.26463284852784</c:v>
                </c:pt>
                <c:pt idx="302">
                  <c:v>131.45512593118127</c:v>
                </c:pt>
                <c:pt idx="303">
                  <c:v>131.11174175239447</c:v>
                </c:pt>
                <c:pt idx="304">
                  <c:v>130.14544164597373</c:v>
                </c:pt>
                <c:pt idx="305">
                  <c:v>130.14544164597373</c:v>
                </c:pt>
                <c:pt idx="306">
                  <c:v>130.14544164597373</c:v>
                </c:pt>
                <c:pt idx="307">
                  <c:v>131.24654132671162</c:v>
                </c:pt>
                <c:pt idx="308">
                  <c:v>129.67009577864494</c:v>
                </c:pt>
                <c:pt idx="309">
                  <c:v>128.38595246541325</c:v>
                </c:pt>
                <c:pt idx="310">
                  <c:v>129.53529620432778</c:v>
                </c:pt>
                <c:pt idx="311">
                  <c:v>128.22703086200781</c:v>
                </c:pt>
                <c:pt idx="312">
                  <c:v>128.22703086200781</c:v>
                </c:pt>
                <c:pt idx="313">
                  <c:v>128.22703086200781</c:v>
                </c:pt>
                <c:pt idx="314">
                  <c:v>130.00070947144377</c:v>
                </c:pt>
                <c:pt idx="315">
                  <c:v>129.97942532813053</c:v>
                </c:pt>
                <c:pt idx="316">
                  <c:v>130.63497694217807</c:v>
                </c:pt>
                <c:pt idx="317">
                  <c:v>130.84498048953529</c:v>
                </c:pt>
                <c:pt idx="318">
                  <c:v>128.37460092231288</c:v>
                </c:pt>
                <c:pt idx="319">
                  <c:v>128.37460092231288</c:v>
                </c:pt>
                <c:pt idx="320">
                  <c:v>128.37460092231288</c:v>
                </c:pt>
                <c:pt idx="321">
                  <c:v>128.71372827243704</c:v>
                </c:pt>
                <c:pt idx="322">
                  <c:v>126.10854913089749</c:v>
                </c:pt>
                <c:pt idx="323">
                  <c:v>125.77084072366087</c:v>
                </c:pt>
                <c:pt idx="324">
                  <c:v>126.90599503369991</c:v>
                </c:pt>
                <c:pt idx="325">
                  <c:v>123.20822986874778</c:v>
                </c:pt>
                <c:pt idx="326">
                  <c:v>123.20822986874778</c:v>
                </c:pt>
                <c:pt idx="327">
                  <c:v>123.20822986874778</c:v>
                </c:pt>
                <c:pt idx="328">
                  <c:v>124.15750266051791</c:v>
                </c:pt>
                <c:pt idx="329">
                  <c:v>125.2628591699184</c:v>
                </c:pt>
                <c:pt idx="330">
                  <c:v>126.79106065980844</c:v>
                </c:pt>
                <c:pt idx="331">
                  <c:v>126.85207520397303</c:v>
                </c:pt>
                <c:pt idx="332">
                  <c:v>126.36253990776871</c:v>
                </c:pt>
                <c:pt idx="333">
                  <c:v>126.36253990776871</c:v>
                </c:pt>
                <c:pt idx="334">
                  <c:v>126.36253990776871</c:v>
                </c:pt>
                <c:pt idx="335">
                  <c:v>126.43064916637105</c:v>
                </c:pt>
                <c:pt idx="336">
                  <c:v>127.02376729336645</c:v>
                </c:pt>
                <c:pt idx="337">
                  <c:v>126.74139765874423</c:v>
                </c:pt>
                <c:pt idx="338">
                  <c:v>126.9499822632139</c:v>
                </c:pt>
                <c:pt idx="339">
                  <c:v>128.05675771550196</c:v>
                </c:pt>
                <c:pt idx="340">
                  <c:v>128.05675771550196</c:v>
                </c:pt>
                <c:pt idx="341">
                  <c:v>128.05675771550196</c:v>
                </c:pt>
                <c:pt idx="342">
                  <c:v>128.2355445193331</c:v>
                </c:pt>
                <c:pt idx="343">
                  <c:v>127.30046115643844</c:v>
                </c:pt>
                <c:pt idx="344">
                  <c:v>127.64810216388791</c:v>
                </c:pt>
                <c:pt idx="345">
                  <c:v>126.65909897126642</c:v>
                </c:pt>
                <c:pt idx="346">
                  <c:v>128.10642071656616</c:v>
                </c:pt>
                <c:pt idx="347">
                  <c:v>128.10642071656616</c:v>
                </c:pt>
                <c:pt idx="348">
                  <c:v>128.10642071656616</c:v>
                </c:pt>
                <c:pt idx="349">
                  <c:v>126.38666193685704</c:v>
                </c:pt>
                <c:pt idx="350">
                  <c:v>124.45548066690316</c:v>
                </c:pt>
                <c:pt idx="351">
                  <c:v>125.25718339836823</c:v>
                </c:pt>
                <c:pt idx="352">
                  <c:v>125.01454416459737</c:v>
                </c:pt>
                <c:pt idx="353">
                  <c:v>126.10429230223484</c:v>
                </c:pt>
                <c:pt idx="354">
                  <c:v>126.10429230223484</c:v>
                </c:pt>
                <c:pt idx="355">
                  <c:v>126.10429230223484</c:v>
                </c:pt>
                <c:pt idx="356">
                  <c:v>127.54310039020929</c:v>
                </c:pt>
                <c:pt idx="357">
                  <c:v>127.77438808087976</c:v>
                </c:pt>
                <c:pt idx="358">
                  <c:v>128.27101809152182</c:v>
                </c:pt>
                <c:pt idx="359">
                  <c:v>128.26818020574672</c:v>
                </c:pt>
                <c:pt idx="360">
                  <c:v>128.85704150407946</c:v>
                </c:pt>
                <c:pt idx="361">
                  <c:v>128.85704150407946</c:v>
                </c:pt>
                <c:pt idx="362">
                  <c:v>128.85704150407946</c:v>
                </c:pt>
                <c:pt idx="363">
                  <c:v>129.43738914508691</c:v>
                </c:pt>
                <c:pt idx="364">
                  <c:v>129.48421426037601</c:v>
                </c:pt>
                <c:pt idx="365">
                  <c:v>129.60908123448033</c:v>
                </c:pt>
                <c:pt idx="366">
                  <c:v>129.68996097907061</c:v>
                </c:pt>
                <c:pt idx="367">
                  <c:v>132.20574671869457</c:v>
                </c:pt>
                <c:pt idx="368">
                  <c:v>132.20574671869457</c:v>
                </c:pt>
                <c:pt idx="369">
                  <c:v>132.20574671869457</c:v>
                </c:pt>
                <c:pt idx="370">
                  <c:v>134.32280950691734</c:v>
                </c:pt>
                <c:pt idx="371">
                  <c:v>135.88932245477119</c:v>
                </c:pt>
                <c:pt idx="372">
                  <c:v>135.46505853139413</c:v>
                </c:pt>
                <c:pt idx="373">
                  <c:v>134.30578219226678</c:v>
                </c:pt>
                <c:pt idx="374">
                  <c:v>134.12983327421071</c:v>
                </c:pt>
                <c:pt idx="375">
                  <c:v>134.12983327421071</c:v>
                </c:pt>
                <c:pt idx="376">
                  <c:v>134.12983327421071</c:v>
                </c:pt>
                <c:pt idx="377">
                  <c:v>135.22667612628592</c:v>
                </c:pt>
                <c:pt idx="378">
                  <c:v>135.78573962398016</c:v>
                </c:pt>
                <c:pt idx="379">
                  <c:v>136.3320326356864</c:v>
                </c:pt>
                <c:pt idx="380">
                  <c:v>136.2440581766584</c:v>
                </c:pt>
                <c:pt idx="381">
                  <c:v>136.9946789641717</c:v>
                </c:pt>
                <c:pt idx="382">
                  <c:v>136.9946789641717</c:v>
                </c:pt>
                <c:pt idx="383">
                  <c:v>136.9946789641717</c:v>
                </c:pt>
                <c:pt idx="384">
                  <c:v>136.95636750620787</c:v>
                </c:pt>
                <c:pt idx="385">
                  <c:v>136.17027314650585</c:v>
                </c:pt>
                <c:pt idx="386">
                  <c:v>135.76587442355444</c:v>
                </c:pt>
                <c:pt idx="387">
                  <c:v>136.84568996097906</c:v>
                </c:pt>
                <c:pt idx="388">
                  <c:v>137.37495565803476</c:v>
                </c:pt>
                <c:pt idx="389">
                  <c:v>137.37495565803476</c:v>
                </c:pt>
                <c:pt idx="390">
                  <c:v>137.37495565803476</c:v>
                </c:pt>
                <c:pt idx="391">
                  <c:v>137.77367860943596</c:v>
                </c:pt>
                <c:pt idx="392">
                  <c:v>139.78573962398013</c:v>
                </c:pt>
                <c:pt idx="393">
                  <c:v>142.39233770840724</c:v>
                </c:pt>
                <c:pt idx="394">
                  <c:v>142.35970202199363</c:v>
                </c:pt>
                <c:pt idx="395">
                  <c:v>140.18304363249382</c:v>
                </c:pt>
                <c:pt idx="396">
                  <c:v>140.18304363249382</c:v>
                </c:pt>
                <c:pt idx="397">
                  <c:v>140.18304363249382</c:v>
                </c:pt>
                <c:pt idx="398">
                  <c:v>136.5562256119191</c:v>
                </c:pt>
                <c:pt idx="399">
                  <c:v>140.38311457963817</c:v>
                </c:pt>
                <c:pt idx="400">
                  <c:v>140.39588506562612</c:v>
                </c:pt>
                <c:pt idx="401">
                  <c:v>138.24051081943952</c:v>
                </c:pt>
                <c:pt idx="402">
                  <c:v>137.49130897481376</c:v>
                </c:pt>
                <c:pt idx="403">
                  <c:v>137.49130897481376</c:v>
                </c:pt>
                <c:pt idx="404">
                  <c:v>137.49130897481376</c:v>
                </c:pt>
                <c:pt idx="405">
                  <c:v>140.69953884356156</c:v>
                </c:pt>
                <c:pt idx="406">
                  <c:v>141.89428875487761</c:v>
                </c:pt>
                <c:pt idx="407">
                  <c:v>143.28769067045053</c:v>
                </c:pt>
                <c:pt idx="408">
                  <c:v>143.86094359702022</c:v>
                </c:pt>
                <c:pt idx="409">
                  <c:v>142.44483859524655</c:v>
                </c:pt>
                <c:pt idx="410">
                  <c:v>142.44483859524655</c:v>
                </c:pt>
                <c:pt idx="411">
                  <c:v>142.44483859524655</c:v>
                </c:pt>
                <c:pt idx="412">
                  <c:v>142.83788577509756</c:v>
                </c:pt>
                <c:pt idx="413">
                  <c:v>142.90315714792482</c:v>
                </c:pt>
                <c:pt idx="414">
                  <c:v>143.05782192266761</c:v>
                </c:pt>
                <c:pt idx="415">
                  <c:v>143.66087264987587</c:v>
                </c:pt>
                <c:pt idx="416">
                  <c:v>143.75877970911671</c:v>
                </c:pt>
                <c:pt idx="417">
                  <c:v>143.75877970911671</c:v>
                </c:pt>
                <c:pt idx="418">
                  <c:v>143.75877970911671</c:v>
                </c:pt>
                <c:pt idx="419">
                  <c:v>145.35225257183399</c:v>
                </c:pt>
                <c:pt idx="420">
                  <c:v>146.13409010287336</c:v>
                </c:pt>
                <c:pt idx="421">
                  <c:v>148.232706633558</c:v>
                </c:pt>
                <c:pt idx="422">
                  <c:v>149.0528556225612</c:v>
                </c:pt>
                <c:pt idx="423">
                  <c:v>148.30081589216036</c:v>
                </c:pt>
                <c:pt idx="424">
                  <c:v>148.30081589216036</c:v>
                </c:pt>
                <c:pt idx="425">
                  <c:v>148.30081589216036</c:v>
                </c:pt>
                <c:pt idx="426">
                  <c:v>146.04469670095779</c:v>
                </c:pt>
                <c:pt idx="427">
                  <c:v>141.30826534231997</c:v>
                </c:pt>
                <c:pt idx="428">
                  <c:v>134.5654487406882</c:v>
                </c:pt>
                <c:pt idx="429">
                  <c:v>138.6264632848528</c:v>
                </c:pt>
                <c:pt idx="430">
                  <c:v>138.76551968783258</c:v>
                </c:pt>
                <c:pt idx="431">
                  <c:v>138.76551968783258</c:v>
                </c:pt>
                <c:pt idx="432">
                  <c:v>138.76551968783258</c:v>
                </c:pt>
                <c:pt idx="433">
                  <c:v>133.63462220645619</c:v>
                </c:pt>
                <c:pt idx="434">
                  <c:v>138.24192976232709</c:v>
                </c:pt>
                <c:pt idx="435">
                  <c:v>139.89357928343384</c:v>
                </c:pt>
                <c:pt idx="436">
                  <c:v>137.93685704150408</c:v>
                </c:pt>
                <c:pt idx="437">
                  <c:v>135.93047179851013</c:v>
                </c:pt>
                <c:pt idx="438">
                  <c:v>135.93047179851013</c:v>
                </c:pt>
                <c:pt idx="439">
                  <c:v>135.93047179851013</c:v>
                </c:pt>
                <c:pt idx="440">
                  <c:v>136.7506207875133</c:v>
                </c:pt>
                <c:pt idx="441">
                  <c:v>138.15253636041149</c:v>
                </c:pt>
                <c:pt idx="442">
                  <c:v>140.9478538488826</c:v>
                </c:pt>
                <c:pt idx="443">
                  <c:v>136.82298687477831</c:v>
                </c:pt>
                <c:pt idx="444">
                  <c:v>135.883646683221</c:v>
                </c:pt>
                <c:pt idx="445">
                  <c:v>135.883646683221</c:v>
                </c:pt>
                <c:pt idx="446">
                  <c:v>135.883646683221</c:v>
                </c:pt>
                <c:pt idx="447">
                  <c:v>130.57963816956368</c:v>
                </c:pt>
                <c:pt idx="448">
                  <c:v>133.36502305782193</c:v>
                </c:pt>
                <c:pt idx="449">
                  <c:v>135.74742816601631</c:v>
                </c:pt>
                <c:pt idx="450">
                  <c:v>133.54664774742818</c:v>
                </c:pt>
                <c:pt idx="451">
                  <c:v>132.55054984036892</c:v>
                </c:pt>
                <c:pt idx="452">
                  <c:v>132.55054984036892</c:v>
                </c:pt>
                <c:pt idx="453">
                  <c:v>132.55054984036892</c:v>
                </c:pt>
                <c:pt idx="454">
                  <c:v>129.86307201135153</c:v>
                </c:pt>
                <c:pt idx="455">
                  <c:v>127.72472507981554</c:v>
                </c:pt>
                <c:pt idx="456">
                  <c:v>133.63604114934373</c:v>
                </c:pt>
                <c:pt idx="457">
                  <c:v>131.24370344093651</c:v>
                </c:pt>
                <c:pt idx="458">
                  <c:v>131.9418233416105</c:v>
                </c:pt>
                <c:pt idx="459">
                  <c:v>131.9418233416105</c:v>
                </c:pt>
                <c:pt idx="460">
                  <c:v>131.9418233416105</c:v>
                </c:pt>
                <c:pt idx="461">
                  <c:v>132.85420361830435</c:v>
                </c:pt>
                <c:pt idx="462">
                  <c:v>134.09435970202199</c:v>
                </c:pt>
                <c:pt idx="463">
                  <c:v>141.30684639943243</c:v>
                </c:pt>
                <c:pt idx="464">
                  <c:v>140.11351543100389</c:v>
                </c:pt>
                <c:pt idx="465">
                  <c:v>141.78077332387372</c:v>
                </c:pt>
                <c:pt idx="466">
                  <c:v>141.78077332387372</c:v>
                </c:pt>
                <c:pt idx="467">
                  <c:v>141.78077332387372</c:v>
                </c:pt>
                <c:pt idx="468">
                  <c:v>140.46399432422845</c:v>
                </c:pt>
                <c:pt idx="469">
                  <c:v>143.16566158212132</c:v>
                </c:pt>
                <c:pt idx="470">
                  <c:v>145.13941113870166</c:v>
                </c:pt>
                <c:pt idx="471">
                  <c:v>147.37566512947856</c:v>
                </c:pt>
                <c:pt idx="472">
                  <c:v>146.22915927633912</c:v>
                </c:pt>
                <c:pt idx="473">
                  <c:v>146.22915927633912</c:v>
                </c:pt>
                <c:pt idx="474">
                  <c:v>146.22915927633912</c:v>
                </c:pt>
                <c:pt idx="475">
                  <c:v>147.04930826534229</c:v>
                </c:pt>
                <c:pt idx="476">
                  <c:v>148.90386661936859</c:v>
                </c:pt>
                <c:pt idx="477">
                  <c:v>148.27527492018447</c:v>
                </c:pt>
                <c:pt idx="478">
                  <c:v>147.6481021638879</c:v>
                </c:pt>
                <c:pt idx="479">
                  <c:v>148.85987938985454</c:v>
                </c:pt>
                <c:pt idx="480">
                  <c:v>148.85987938985454</c:v>
                </c:pt>
                <c:pt idx="481">
                  <c:v>148.85987938985454</c:v>
                </c:pt>
                <c:pt idx="482">
                  <c:v>150.94998226321391</c:v>
                </c:pt>
                <c:pt idx="483">
                  <c:v>149.934019155729</c:v>
                </c:pt>
                <c:pt idx="484">
                  <c:v>150.36537779354381</c:v>
                </c:pt>
                <c:pt idx="485">
                  <c:v>148.39730400851366</c:v>
                </c:pt>
                <c:pt idx="486">
                  <c:v>148.40297978006382</c:v>
                </c:pt>
                <c:pt idx="487">
                  <c:v>148.40297978006382</c:v>
                </c:pt>
                <c:pt idx="488">
                  <c:v>148.40297978006382</c:v>
                </c:pt>
                <c:pt idx="489">
                  <c:v>153.67719049308263</c:v>
                </c:pt>
              </c:numCache>
            </c:numRef>
          </c:val>
          <c:smooth val="0"/>
          <c:extLst>
            <c:ext xmlns:c16="http://schemas.microsoft.com/office/drawing/2014/chart" uri="{C3380CC4-5D6E-409C-BE32-E72D297353CC}">
              <c16:uniqueId val="{00000000-96E7-454A-A66A-36F382D4E673}"/>
            </c:ext>
          </c:extLst>
        </c:ser>
        <c:ser>
          <c:idx val="7"/>
          <c:order val="1"/>
          <c:tx>
            <c:strRef>
              <c:f>'BBG (Global Markets)'!$X$11</c:f>
              <c:strCache>
                <c:ptCount val="1"/>
                <c:pt idx="0">
                  <c:v>Hang Seng 33.0%</c:v>
                </c:pt>
              </c:strCache>
            </c:strRef>
          </c:tx>
          <c:spPr>
            <a:ln w="15875" cap="rnd">
              <a:solidFill>
                <a:srgbClr val="315D90"/>
              </a:solidFill>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Markets)'!$X$12:$X$501</c:f>
              <c:numCache>
                <c:formatCode>_(* #,##0_);_(* \(#,##0\);_(* "   -"?_);_(@_)</c:formatCode>
                <c:ptCount val="490"/>
                <c:pt idx="1">
                  <c:v>100</c:v>
                </c:pt>
                <c:pt idx="2">
                  <c:v>100</c:v>
                </c:pt>
                <c:pt idx="3">
                  <c:v>100.69789413819885</c:v>
                </c:pt>
                <c:pt idx="4">
                  <c:v>100.69789413819885</c:v>
                </c:pt>
                <c:pt idx="5">
                  <c:v>100.69789413819885</c:v>
                </c:pt>
                <c:pt idx="6">
                  <c:v>100.33108566746097</c:v>
                </c:pt>
                <c:pt idx="7">
                  <c:v>99.10443288903204</c:v>
                </c:pt>
                <c:pt idx="8">
                  <c:v>98.249633599207471</c:v>
                </c:pt>
                <c:pt idx="9">
                  <c:v>98.051145270015468</c:v>
                </c:pt>
                <c:pt idx="10">
                  <c:v>97.151195618274585</c:v>
                </c:pt>
                <c:pt idx="11">
                  <c:v>97.151195618274585</c:v>
                </c:pt>
                <c:pt idx="12">
                  <c:v>97.151195618274585</c:v>
                </c:pt>
                <c:pt idx="13">
                  <c:v>96.182195469472035</c:v>
                </c:pt>
                <c:pt idx="14">
                  <c:v>97.943569181973274</c:v>
                </c:pt>
                <c:pt idx="15">
                  <c:v>98.281381539922904</c:v>
                </c:pt>
                <c:pt idx="16">
                  <c:v>99.48821096532086</c:v>
                </c:pt>
                <c:pt idx="17">
                  <c:v>99.799931917738689</c:v>
                </c:pt>
                <c:pt idx="18">
                  <c:v>99.799931917738689</c:v>
                </c:pt>
                <c:pt idx="19">
                  <c:v>99.799931917738689</c:v>
                </c:pt>
                <c:pt idx="20">
                  <c:v>101.54148227720896</c:v>
                </c:pt>
                <c:pt idx="21">
                  <c:v>102.46252927639156</c:v>
                </c:pt>
                <c:pt idx="22">
                  <c:v>100.79216972459299</c:v>
                </c:pt>
                <c:pt idx="23">
                  <c:v>100.39361331313967</c:v>
                </c:pt>
                <c:pt idx="24">
                  <c:v>102.25685561872302</c:v>
                </c:pt>
                <c:pt idx="25">
                  <c:v>102.25685561872302</c:v>
                </c:pt>
                <c:pt idx="26">
                  <c:v>102.25685561872302</c:v>
                </c:pt>
                <c:pt idx="27">
                  <c:v>102.92738435697935</c:v>
                </c:pt>
                <c:pt idx="28">
                  <c:v>103.06670838573697</c:v>
                </c:pt>
                <c:pt idx="29">
                  <c:v>103.06670838573697</c:v>
                </c:pt>
                <c:pt idx="30">
                  <c:v>103.06670838573697</c:v>
                </c:pt>
                <c:pt idx="31">
                  <c:v>103.06670838573697</c:v>
                </c:pt>
                <c:pt idx="32">
                  <c:v>103.06670838573697</c:v>
                </c:pt>
                <c:pt idx="33">
                  <c:v>103.06670838573697</c:v>
                </c:pt>
                <c:pt idx="34">
                  <c:v>103.02670496123997</c:v>
                </c:pt>
                <c:pt idx="35">
                  <c:v>105.94517135734422</c:v>
                </c:pt>
                <c:pt idx="36">
                  <c:v>104.96231014935292</c:v>
                </c:pt>
                <c:pt idx="37">
                  <c:v>106.46322844452416</c:v>
                </c:pt>
                <c:pt idx="38">
                  <c:v>107.69604735590104</c:v>
                </c:pt>
                <c:pt idx="39">
                  <c:v>107.69604735590104</c:v>
                </c:pt>
                <c:pt idx="40">
                  <c:v>107.69604735590104</c:v>
                </c:pt>
                <c:pt idx="41">
                  <c:v>109.67552891151955</c:v>
                </c:pt>
                <c:pt idx="42">
                  <c:v>108.518130469258</c:v>
                </c:pt>
                <c:pt idx="43">
                  <c:v>111.3874716408844</c:v>
                </c:pt>
                <c:pt idx="44">
                  <c:v>111.16554181453495</c:v>
                </c:pt>
                <c:pt idx="45">
                  <c:v>115.27269595562832</c:v>
                </c:pt>
                <c:pt idx="46">
                  <c:v>115.27269595562832</c:v>
                </c:pt>
                <c:pt idx="47">
                  <c:v>115.27269595562832</c:v>
                </c:pt>
                <c:pt idx="48">
                  <c:v>115.25180244729229</c:v>
                </c:pt>
                <c:pt idx="49">
                  <c:v>117.08931006577889</c:v>
                </c:pt>
                <c:pt idx="50">
                  <c:v>116.92333407394877</c:v>
                </c:pt>
                <c:pt idx="51">
                  <c:v>115.05178532480743</c:v>
                </c:pt>
                <c:pt idx="52">
                  <c:v>119.64295542242596</c:v>
                </c:pt>
                <c:pt idx="53">
                  <c:v>119.64295542242596</c:v>
                </c:pt>
                <c:pt idx="54">
                  <c:v>119.64295542242596</c:v>
                </c:pt>
                <c:pt idx="55">
                  <c:v>118.94832270991861</c:v>
                </c:pt>
                <c:pt idx="56">
                  <c:v>117.38085094673075</c:v>
                </c:pt>
                <c:pt idx="57">
                  <c:v>121.22275945150973</c:v>
                </c:pt>
                <c:pt idx="58">
                  <c:v>120.86787556845631</c:v>
                </c:pt>
                <c:pt idx="59">
                  <c:v>116.90845381923141</c:v>
                </c:pt>
                <c:pt idx="60">
                  <c:v>116.90845381923141</c:v>
                </c:pt>
                <c:pt idx="61">
                  <c:v>116.90845381923141</c:v>
                </c:pt>
                <c:pt idx="62">
                  <c:v>117.2394375671395</c:v>
                </c:pt>
                <c:pt idx="63">
                  <c:v>116.91074700917072</c:v>
                </c:pt>
                <c:pt idx="64">
                  <c:v>120.23556666252193</c:v>
                </c:pt>
                <c:pt idx="65">
                  <c:v>124.18749732461174</c:v>
                </c:pt>
                <c:pt idx="66">
                  <c:v>123.48216305905422</c:v>
                </c:pt>
                <c:pt idx="67">
                  <c:v>123.48216305905422</c:v>
                </c:pt>
                <c:pt idx="68">
                  <c:v>123.48216305905422</c:v>
                </c:pt>
                <c:pt idx="69">
                  <c:v>121.20013331077514</c:v>
                </c:pt>
                <c:pt idx="70">
                  <c:v>121.1932537409572</c:v>
                </c:pt>
                <c:pt idx="71">
                  <c:v>120.2666521261438</c:v>
                </c:pt>
                <c:pt idx="72">
                  <c:v>119.56513984381849</c:v>
                </c:pt>
                <c:pt idx="73">
                  <c:v>122.0995224049753</c:v>
                </c:pt>
                <c:pt idx="74">
                  <c:v>122.0995224049753</c:v>
                </c:pt>
                <c:pt idx="75">
                  <c:v>122.0995224049753</c:v>
                </c:pt>
                <c:pt idx="76">
                  <c:v>123.0452848957261</c:v>
                </c:pt>
                <c:pt idx="77">
                  <c:v>126.07739159326761</c:v>
                </c:pt>
                <c:pt idx="78">
                  <c:v>126.23317562981187</c:v>
                </c:pt>
                <c:pt idx="79">
                  <c:v>123.42432371280701</c:v>
                </c:pt>
                <c:pt idx="80">
                  <c:v>120.72228348719788</c:v>
                </c:pt>
                <c:pt idx="81">
                  <c:v>120.72228348719788</c:v>
                </c:pt>
                <c:pt idx="82">
                  <c:v>120.72228348719788</c:v>
                </c:pt>
                <c:pt idx="83">
                  <c:v>121.82219930164723</c:v>
                </c:pt>
                <c:pt idx="84">
                  <c:v>118.96177609089594</c:v>
                </c:pt>
                <c:pt idx="85">
                  <c:v>119.67047370169777</c:v>
                </c:pt>
                <c:pt idx="86">
                  <c:v>120.15703764704443</c:v>
                </c:pt>
                <c:pt idx="87">
                  <c:v>119.38142984979096</c:v>
                </c:pt>
                <c:pt idx="88">
                  <c:v>119.38142984979096</c:v>
                </c:pt>
                <c:pt idx="89">
                  <c:v>119.38142984979096</c:v>
                </c:pt>
                <c:pt idx="90">
                  <c:v>117.81686279385957</c:v>
                </c:pt>
                <c:pt idx="91">
                  <c:v>118.26153780298134</c:v>
                </c:pt>
                <c:pt idx="92">
                  <c:v>118.23957413934035</c:v>
                </c:pt>
                <c:pt idx="93">
                  <c:v>116.44212090512718</c:v>
                </c:pt>
                <c:pt idx="94">
                  <c:v>116.44212090512718</c:v>
                </c:pt>
                <c:pt idx="95">
                  <c:v>116.44212090512718</c:v>
                </c:pt>
                <c:pt idx="96">
                  <c:v>116.44212090512718</c:v>
                </c:pt>
                <c:pt idx="97">
                  <c:v>101.04457349724716</c:v>
                </c:pt>
                <c:pt idx="98">
                  <c:v>102.5702072839866</c:v>
                </c:pt>
                <c:pt idx="99">
                  <c:v>103.26738798531545</c:v>
                </c:pt>
                <c:pt idx="100">
                  <c:v>105.39388849593239</c:v>
                </c:pt>
                <c:pt idx="101">
                  <c:v>106.5807926487465</c:v>
                </c:pt>
                <c:pt idx="102">
                  <c:v>106.5807926487465</c:v>
                </c:pt>
                <c:pt idx="103">
                  <c:v>106.5807926487465</c:v>
                </c:pt>
                <c:pt idx="104">
                  <c:v>109.14259156962227</c:v>
                </c:pt>
                <c:pt idx="105">
                  <c:v>109.39163199703211</c:v>
                </c:pt>
                <c:pt idx="106">
                  <c:v>107.30589930755856</c:v>
                </c:pt>
                <c:pt idx="107">
                  <c:v>109.02915510729072</c:v>
                </c:pt>
                <c:pt idx="108">
                  <c:v>109.02915510729072</c:v>
                </c:pt>
                <c:pt idx="109">
                  <c:v>109.02915510729072</c:v>
                </c:pt>
                <c:pt idx="110">
                  <c:v>109.02915510729072</c:v>
                </c:pt>
                <c:pt idx="111">
                  <c:v>109.02915510729072</c:v>
                </c:pt>
                <c:pt idx="112">
                  <c:v>109.88110064963523</c:v>
                </c:pt>
                <c:pt idx="113">
                  <c:v>112.48157804082082</c:v>
                </c:pt>
                <c:pt idx="114">
                  <c:v>111.65164712189375</c:v>
                </c:pt>
                <c:pt idx="115">
                  <c:v>112.0133596149887</c:v>
                </c:pt>
                <c:pt idx="116">
                  <c:v>112.0133596149887</c:v>
                </c:pt>
                <c:pt idx="117">
                  <c:v>112.0133596149887</c:v>
                </c:pt>
                <c:pt idx="118">
                  <c:v>111.96861693128379</c:v>
                </c:pt>
                <c:pt idx="119">
                  <c:v>112.15283652307562</c:v>
                </c:pt>
                <c:pt idx="120">
                  <c:v>112.72001883473337</c:v>
                </c:pt>
                <c:pt idx="121">
                  <c:v>112.72001883473337</c:v>
                </c:pt>
                <c:pt idx="122">
                  <c:v>114.68334614122382</c:v>
                </c:pt>
                <c:pt idx="123">
                  <c:v>114.68334614122382</c:v>
                </c:pt>
                <c:pt idx="124">
                  <c:v>114.68334614122382</c:v>
                </c:pt>
                <c:pt idx="125">
                  <c:v>114.68334614122382</c:v>
                </c:pt>
                <c:pt idx="126">
                  <c:v>115.48866348813553</c:v>
                </c:pt>
                <c:pt idx="127">
                  <c:v>115.63731315597974</c:v>
                </c:pt>
                <c:pt idx="128">
                  <c:v>116.0655791170913</c:v>
                </c:pt>
                <c:pt idx="129">
                  <c:v>116.53349178426487</c:v>
                </c:pt>
                <c:pt idx="130">
                  <c:v>116.53349178426487</c:v>
                </c:pt>
                <c:pt idx="131">
                  <c:v>116.53349178426487</c:v>
                </c:pt>
                <c:pt idx="132">
                  <c:v>120.00752166300094</c:v>
                </c:pt>
                <c:pt idx="133">
                  <c:v>117.75922728671806</c:v>
                </c:pt>
                <c:pt idx="134">
                  <c:v>120.47222386425946</c:v>
                </c:pt>
                <c:pt idx="135">
                  <c:v>119.5167790159871</c:v>
                </c:pt>
                <c:pt idx="136">
                  <c:v>118.96585287301026</c:v>
                </c:pt>
                <c:pt idx="137">
                  <c:v>118.96585287301026</c:v>
                </c:pt>
                <c:pt idx="138">
                  <c:v>118.96585287301026</c:v>
                </c:pt>
                <c:pt idx="139">
                  <c:v>118.90301946867299</c:v>
                </c:pt>
                <c:pt idx="140">
                  <c:v>120.68029263142017</c:v>
                </c:pt>
                <c:pt idx="141">
                  <c:v>121.42583416058037</c:v>
                </c:pt>
                <c:pt idx="142">
                  <c:v>119.98127737813991</c:v>
                </c:pt>
                <c:pt idx="143">
                  <c:v>120.27149330490457</c:v>
                </c:pt>
                <c:pt idx="144">
                  <c:v>120.27149330490457</c:v>
                </c:pt>
                <c:pt idx="145">
                  <c:v>120.27149330490457</c:v>
                </c:pt>
                <c:pt idx="146">
                  <c:v>118.64623315524592</c:v>
                </c:pt>
                <c:pt idx="147">
                  <c:v>119.15409828714002</c:v>
                </c:pt>
                <c:pt idx="148">
                  <c:v>118.52382777226281</c:v>
                </c:pt>
                <c:pt idx="149">
                  <c:v>120.12941744821978</c:v>
                </c:pt>
                <c:pt idx="150">
                  <c:v>118.68414722890928</c:v>
                </c:pt>
                <c:pt idx="151">
                  <c:v>118.68414722890928</c:v>
                </c:pt>
                <c:pt idx="152">
                  <c:v>118.68414722890928</c:v>
                </c:pt>
                <c:pt idx="153">
                  <c:v>118.01249737557151</c:v>
                </c:pt>
                <c:pt idx="154">
                  <c:v>119.81912336954197</c:v>
                </c:pt>
                <c:pt idx="155">
                  <c:v>120.54040804512182</c:v>
                </c:pt>
                <c:pt idx="156">
                  <c:v>121.82938463012376</c:v>
                </c:pt>
                <c:pt idx="157">
                  <c:v>121.24625190844363</c:v>
                </c:pt>
                <c:pt idx="158">
                  <c:v>121.24625190844363</c:v>
                </c:pt>
                <c:pt idx="159">
                  <c:v>121.24625190844363</c:v>
                </c:pt>
                <c:pt idx="160">
                  <c:v>123.22802665400148</c:v>
                </c:pt>
                <c:pt idx="161">
                  <c:v>123.13344530894874</c:v>
                </c:pt>
                <c:pt idx="162">
                  <c:v>124.17338146654082</c:v>
                </c:pt>
                <c:pt idx="163">
                  <c:v>122.483759119252</c:v>
                </c:pt>
                <c:pt idx="164">
                  <c:v>121.75595159228918</c:v>
                </c:pt>
                <c:pt idx="165">
                  <c:v>121.75595159228918</c:v>
                </c:pt>
                <c:pt idx="166">
                  <c:v>121.75595159228918</c:v>
                </c:pt>
                <c:pt idx="167">
                  <c:v>122.61426710668736</c:v>
                </c:pt>
                <c:pt idx="168">
                  <c:v>122.20307267067957</c:v>
                </c:pt>
                <c:pt idx="169">
                  <c:v>120.82914613837006</c:v>
                </c:pt>
                <c:pt idx="170">
                  <c:v>118.4190035121478</c:v>
                </c:pt>
                <c:pt idx="171">
                  <c:v>119.9108000073382</c:v>
                </c:pt>
                <c:pt idx="172">
                  <c:v>119.9108000073382</c:v>
                </c:pt>
                <c:pt idx="173">
                  <c:v>119.9108000073382</c:v>
                </c:pt>
                <c:pt idx="174">
                  <c:v>120.71927686038858</c:v>
                </c:pt>
                <c:pt idx="175">
                  <c:v>123.20580819147831</c:v>
                </c:pt>
                <c:pt idx="176">
                  <c:v>124.72237113801334</c:v>
                </c:pt>
                <c:pt idx="177">
                  <c:v>123.96169455525366</c:v>
                </c:pt>
                <c:pt idx="178">
                  <c:v>123.75148547748292</c:v>
                </c:pt>
                <c:pt idx="179">
                  <c:v>123.75148547748292</c:v>
                </c:pt>
                <c:pt idx="180">
                  <c:v>123.75148547748292</c:v>
                </c:pt>
                <c:pt idx="181">
                  <c:v>122.67180069427599</c:v>
                </c:pt>
                <c:pt idx="182">
                  <c:v>122.67180069427599</c:v>
                </c:pt>
                <c:pt idx="183">
                  <c:v>123.43176384016567</c:v>
                </c:pt>
                <c:pt idx="184">
                  <c:v>122.65987610659155</c:v>
                </c:pt>
                <c:pt idx="185">
                  <c:v>121.87570706689796</c:v>
                </c:pt>
                <c:pt idx="186">
                  <c:v>121.87570706689796</c:v>
                </c:pt>
                <c:pt idx="187">
                  <c:v>121.87570706689796</c:v>
                </c:pt>
                <c:pt idx="188">
                  <c:v>121.73184761803815</c:v>
                </c:pt>
                <c:pt idx="189">
                  <c:v>123.05802483983341</c:v>
                </c:pt>
                <c:pt idx="190">
                  <c:v>121.75472855765489</c:v>
                </c:pt>
                <c:pt idx="191">
                  <c:v>122.44803631597507</c:v>
                </c:pt>
                <c:pt idx="192">
                  <c:v>123.01470902986856</c:v>
                </c:pt>
                <c:pt idx="193">
                  <c:v>123.01470902986856</c:v>
                </c:pt>
                <c:pt idx="194">
                  <c:v>123.01470902986856</c:v>
                </c:pt>
                <c:pt idx="195">
                  <c:v>123.33957760460514</c:v>
                </c:pt>
                <c:pt idx="196">
                  <c:v>125.31070175688926</c:v>
                </c:pt>
                <c:pt idx="197">
                  <c:v>124.94195681464706</c:v>
                </c:pt>
                <c:pt idx="198">
                  <c:v>124.84610147518363</c:v>
                </c:pt>
                <c:pt idx="199">
                  <c:v>126.51100833090425</c:v>
                </c:pt>
                <c:pt idx="200">
                  <c:v>126.51100833090425</c:v>
                </c:pt>
                <c:pt idx="201">
                  <c:v>126.51100833090425</c:v>
                </c:pt>
                <c:pt idx="202">
                  <c:v>127.36957864418457</c:v>
                </c:pt>
                <c:pt idx="203">
                  <c:v>128.06207104608188</c:v>
                </c:pt>
                <c:pt idx="204">
                  <c:v>130.14143376350179</c:v>
                </c:pt>
                <c:pt idx="205">
                  <c:v>130.79937543698009</c:v>
                </c:pt>
                <c:pt idx="206">
                  <c:v>129.37846399080277</c:v>
                </c:pt>
                <c:pt idx="207">
                  <c:v>129.37846399080277</c:v>
                </c:pt>
                <c:pt idx="208">
                  <c:v>129.37846399080277</c:v>
                </c:pt>
                <c:pt idx="209">
                  <c:v>130.26404298559063</c:v>
                </c:pt>
                <c:pt idx="210">
                  <c:v>130.07202654800514</c:v>
                </c:pt>
                <c:pt idx="211">
                  <c:v>128.30107239753519</c:v>
                </c:pt>
                <c:pt idx="212">
                  <c:v>126.24433582084991</c:v>
                </c:pt>
                <c:pt idx="213">
                  <c:v>124.89125183709994</c:v>
                </c:pt>
                <c:pt idx="214">
                  <c:v>124.89125183709994</c:v>
                </c:pt>
                <c:pt idx="215">
                  <c:v>124.89125183709994</c:v>
                </c:pt>
                <c:pt idx="216">
                  <c:v>126.04110823244996</c:v>
                </c:pt>
                <c:pt idx="217">
                  <c:v>126.90273613231604</c:v>
                </c:pt>
                <c:pt idx="218">
                  <c:v>126.94401355122376</c:v>
                </c:pt>
                <c:pt idx="219">
                  <c:v>127.81542572816424</c:v>
                </c:pt>
                <c:pt idx="220">
                  <c:v>126.67999094954369</c:v>
                </c:pt>
                <c:pt idx="221">
                  <c:v>126.67999094954369</c:v>
                </c:pt>
                <c:pt idx="222">
                  <c:v>126.67999094954369</c:v>
                </c:pt>
                <c:pt idx="223">
                  <c:v>126.92454691662778</c:v>
                </c:pt>
                <c:pt idx="224">
                  <c:v>127.24493103103858</c:v>
                </c:pt>
                <c:pt idx="225">
                  <c:v>130.52668967330706</c:v>
                </c:pt>
                <c:pt idx="226">
                  <c:v>130.04588418269691</c:v>
                </c:pt>
                <c:pt idx="227">
                  <c:v>128.77571175519739</c:v>
                </c:pt>
                <c:pt idx="228">
                  <c:v>128.77571175519739</c:v>
                </c:pt>
                <c:pt idx="229">
                  <c:v>128.77571175519739</c:v>
                </c:pt>
                <c:pt idx="230">
                  <c:v>128.30066471932372</c:v>
                </c:pt>
                <c:pt idx="231">
                  <c:v>128.02573672548786</c:v>
                </c:pt>
                <c:pt idx="232">
                  <c:v>128.24506760323942</c:v>
                </c:pt>
                <c:pt idx="233">
                  <c:v>127.9325312943987</c:v>
                </c:pt>
                <c:pt idx="234">
                  <c:v>129.12769093099433</c:v>
                </c:pt>
                <c:pt idx="235">
                  <c:v>129.12769093099433</c:v>
                </c:pt>
                <c:pt idx="236">
                  <c:v>129.12769093099433</c:v>
                </c:pt>
                <c:pt idx="237">
                  <c:v>131.62864387881356</c:v>
                </c:pt>
                <c:pt idx="238">
                  <c:v>130.07442165749728</c:v>
                </c:pt>
                <c:pt idx="239">
                  <c:v>128.42760552240904</c:v>
                </c:pt>
                <c:pt idx="240">
                  <c:v>127.39342781955347</c:v>
                </c:pt>
                <c:pt idx="241">
                  <c:v>127.79499085781612</c:v>
                </c:pt>
                <c:pt idx="242">
                  <c:v>127.79499085781612</c:v>
                </c:pt>
                <c:pt idx="243">
                  <c:v>127.79499085781612</c:v>
                </c:pt>
                <c:pt idx="244">
                  <c:v>130.54579958946803</c:v>
                </c:pt>
                <c:pt idx="245">
                  <c:v>129.92984877176747</c:v>
                </c:pt>
                <c:pt idx="246">
                  <c:v>129.1495526750825</c:v>
                </c:pt>
                <c:pt idx="247">
                  <c:v>127.69760672505977</c:v>
                </c:pt>
                <c:pt idx="248">
                  <c:v>129.52945780836271</c:v>
                </c:pt>
                <c:pt idx="249">
                  <c:v>129.52945780836271</c:v>
                </c:pt>
                <c:pt idx="250">
                  <c:v>129.52945780836271</c:v>
                </c:pt>
                <c:pt idx="251">
                  <c:v>130.62983226079993</c:v>
                </c:pt>
                <c:pt idx="252">
                  <c:v>132.18013057933115</c:v>
                </c:pt>
                <c:pt idx="253">
                  <c:v>133.51593919887154</c:v>
                </c:pt>
                <c:pt idx="254">
                  <c:v>132.93530350623647</c:v>
                </c:pt>
                <c:pt idx="255">
                  <c:v>134.4734733979775</c:v>
                </c:pt>
                <c:pt idx="256">
                  <c:v>134.4734733979775</c:v>
                </c:pt>
                <c:pt idx="257">
                  <c:v>134.4734733979775</c:v>
                </c:pt>
                <c:pt idx="258">
                  <c:v>134.77107849232445</c:v>
                </c:pt>
                <c:pt idx="259">
                  <c:v>134.73005587229886</c:v>
                </c:pt>
                <c:pt idx="260">
                  <c:v>137.12455384715736</c:v>
                </c:pt>
                <c:pt idx="261">
                  <c:v>135.27196213484771</c:v>
                </c:pt>
                <c:pt idx="262">
                  <c:v>135.27323612925846</c:v>
                </c:pt>
                <c:pt idx="263">
                  <c:v>135.27323612925846</c:v>
                </c:pt>
                <c:pt idx="264">
                  <c:v>135.27323612925846</c:v>
                </c:pt>
                <c:pt idx="265">
                  <c:v>134.24914846213588</c:v>
                </c:pt>
                <c:pt idx="266">
                  <c:v>133.30629067864152</c:v>
                </c:pt>
                <c:pt idx="267">
                  <c:v>135.13844752060305</c:v>
                </c:pt>
                <c:pt idx="268">
                  <c:v>134.96533716007281</c:v>
                </c:pt>
                <c:pt idx="269">
                  <c:v>133.14872304992224</c:v>
                </c:pt>
                <c:pt idx="270">
                  <c:v>133.14872304992224</c:v>
                </c:pt>
                <c:pt idx="271">
                  <c:v>133.14872304992224</c:v>
                </c:pt>
                <c:pt idx="272">
                  <c:v>135.66960127032533</c:v>
                </c:pt>
                <c:pt idx="273">
                  <c:v>136.85533334828156</c:v>
                </c:pt>
                <c:pt idx="274">
                  <c:v>136.85533334828156</c:v>
                </c:pt>
                <c:pt idx="275">
                  <c:v>139.05455345986306</c:v>
                </c:pt>
                <c:pt idx="276">
                  <c:v>138.30952152846714</c:v>
                </c:pt>
                <c:pt idx="277">
                  <c:v>138.30952152846714</c:v>
                </c:pt>
                <c:pt idx="278">
                  <c:v>138.30952152846714</c:v>
                </c:pt>
                <c:pt idx="279">
                  <c:v>137.3761932231651</c:v>
                </c:pt>
                <c:pt idx="280">
                  <c:v>137.3761932231651</c:v>
                </c:pt>
                <c:pt idx="281">
                  <c:v>136.72232833180112</c:v>
                </c:pt>
                <c:pt idx="282">
                  <c:v>136.33060053038935</c:v>
                </c:pt>
                <c:pt idx="283">
                  <c:v>133.97488294539355</c:v>
                </c:pt>
                <c:pt idx="284">
                  <c:v>133.97488294539355</c:v>
                </c:pt>
                <c:pt idx="285">
                  <c:v>133.97488294539355</c:v>
                </c:pt>
                <c:pt idx="286">
                  <c:v>131.93221126700271</c:v>
                </c:pt>
                <c:pt idx="287">
                  <c:v>129.6485508058779</c:v>
                </c:pt>
                <c:pt idx="288">
                  <c:v>132.03983831482134</c:v>
                </c:pt>
                <c:pt idx="289">
                  <c:v>131.9272681686891</c:v>
                </c:pt>
                <c:pt idx="290">
                  <c:v>128.65865714873934</c:v>
                </c:pt>
                <c:pt idx="291">
                  <c:v>128.65865714873934</c:v>
                </c:pt>
                <c:pt idx="292">
                  <c:v>128.65865714873934</c:v>
                </c:pt>
                <c:pt idx="293">
                  <c:v>131.77601955224702</c:v>
                </c:pt>
                <c:pt idx="294">
                  <c:v>132.63581290016165</c:v>
                </c:pt>
                <c:pt idx="295">
                  <c:v>131.38332351508308</c:v>
                </c:pt>
                <c:pt idx="296">
                  <c:v>132.3322455119725</c:v>
                </c:pt>
                <c:pt idx="297">
                  <c:v>133.31153953561378</c:v>
                </c:pt>
                <c:pt idx="298">
                  <c:v>133.31153953561378</c:v>
                </c:pt>
                <c:pt idx="299">
                  <c:v>133.31153953561378</c:v>
                </c:pt>
                <c:pt idx="300">
                  <c:v>134.70554421983641</c:v>
                </c:pt>
                <c:pt idx="301">
                  <c:v>134.25934041742173</c:v>
                </c:pt>
                <c:pt idx="302">
                  <c:v>134.25934041742173</c:v>
                </c:pt>
                <c:pt idx="303">
                  <c:v>133.93600063597802</c:v>
                </c:pt>
                <c:pt idx="304">
                  <c:v>132.01970920313181</c:v>
                </c:pt>
                <c:pt idx="305">
                  <c:v>132.01970920313181</c:v>
                </c:pt>
                <c:pt idx="306">
                  <c:v>132.01970920313181</c:v>
                </c:pt>
                <c:pt idx="307">
                  <c:v>133.30241773563293</c:v>
                </c:pt>
                <c:pt idx="308">
                  <c:v>132.2528501802957</c:v>
                </c:pt>
                <c:pt idx="309">
                  <c:v>132.16626952014238</c:v>
                </c:pt>
                <c:pt idx="310">
                  <c:v>134.97155425279718</c:v>
                </c:pt>
                <c:pt idx="311">
                  <c:v>133.72777898948803</c:v>
                </c:pt>
                <c:pt idx="312">
                  <c:v>133.72777898948803</c:v>
                </c:pt>
                <c:pt idx="313">
                  <c:v>133.72777898948803</c:v>
                </c:pt>
                <c:pt idx="314">
                  <c:v>135.80301396501716</c:v>
                </c:pt>
                <c:pt idx="315">
                  <c:v>136.04430850640972</c:v>
                </c:pt>
                <c:pt idx="316">
                  <c:v>137.19763016655693</c:v>
                </c:pt>
                <c:pt idx="317">
                  <c:v>137.96355560628882</c:v>
                </c:pt>
                <c:pt idx="318">
                  <c:v>135.41266207756891</c:v>
                </c:pt>
                <c:pt idx="319">
                  <c:v>135.41266207756891</c:v>
                </c:pt>
                <c:pt idx="320">
                  <c:v>135.41266207756891</c:v>
                </c:pt>
                <c:pt idx="321">
                  <c:v>134.45370100472297</c:v>
                </c:pt>
                <c:pt idx="322">
                  <c:v>132.13885316042342</c:v>
                </c:pt>
                <c:pt idx="323">
                  <c:v>131.63241490226935</c:v>
                </c:pt>
                <c:pt idx="324">
                  <c:v>131.65748711227255</c:v>
                </c:pt>
                <c:pt idx="325">
                  <c:v>128.52065807416889</c:v>
                </c:pt>
                <c:pt idx="326">
                  <c:v>128.52065807416889</c:v>
                </c:pt>
                <c:pt idx="327">
                  <c:v>128.52065807416889</c:v>
                </c:pt>
                <c:pt idx="328">
                  <c:v>131.05070905432922</c:v>
                </c:pt>
                <c:pt idx="329">
                  <c:v>131.95804787365236</c:v>
                </c:pt>
                <c:pt idx="330">
                  <c:v>132.12891600401971</c:v>
                </c:pt>
                <c:pt idx="331">
                  <c:v>132.21987920494595</c:v>
                </c:pt>
                <c:pt idx="332">
                  <c:v>131.77632531090561</c:v>
                </c:pt>
                <c:pt idx="333">
                  <c:v>131.77632531090561</c:v>
                </c:pt>
                <c:pt idx="334">
                  <c:v>131.77632531090561</c:v>
                </c:pt>
                <c:pt idx="335">
                  <c:v>132.66491093250275</c:v>
                </c:pt>
                <c:pt idx="336">
                  <c:v>132.97979139105919</c:v>
                </c:pt>
                <c:pt idx="337">
                  <c:v>131.2761041454759</c:v>
                </c:pt>
                <c:pt idx="338">
                  <c:v>132.16876654918741</c:v>
                </c:pt>
                <c:pt idx="339">
                  <c:v>132.92898449395923</c:v>
                </c:pt>
                <c:pt idx="340">
                  <c:v>132.92898449395923</c:v>
                </c:pt>
                <c:pt idx="341">
                  <c:v>132.92898449395923</c:v>
                </c:pt>
                <c:pt idx="342">
                  <c:v>131.29969852196265</c:v>
                </c:pt>
                <c:pt idx="343">
                  <c:v>129.61226744506027</c:v>
                </c:pt>
                <c:pt idx="344">
                  <c:v>130.15524386291412</c:v>
                </c:pt>
                <c:pt idx="345">
                  <c:v>130.10290817252127</c:v>
                </c:pt>
                <c:pt idx="346">
                  <c:v>132.37714107500668</c:v>
                </c:pt>
                <c:pt idx="347">
                  <c:v>132.37714107500668</c:v>
                </c:pt>
                <c:pt idx="348">
                  <c:v>132.37714107500668</c:v>
                </c:pt>
                <c:pt idx="349">
                  <c:v>130.60419949325598</c:v>
                </c:pt>
                <c:pt idx="350">
                  <c:v>128.59908517009356</c:v>
                </c:pt>
                <c:pt idx="351">
                  <c:v>129.78833347262338</c:v>
                </c:pt>
                <c:pt idx="352">
                  <c:v>129.93790041644331</c:v>
                </c:pt>
                <c:pt idx="353">
                  <c:v>130.91836651494242</c:v>
                </c:pt>
                <c:pt idx="354">
                  <c:v>130.91836651494242</c:v>
                </c:pt>
                <c:pt idx="355">
                  <c:v>130.91836651494242</c:v>
                </c:pt>
                <c:pt idx="356">
                  <c:v>131.48524306794164</c:v>
                </c:pt>
                <c:pt idx="357">
                  <c:v>131.34444120566755</c:v>
                </c:pt>
                <c:pt idx="358">
                  <c:v>131.57269004429423</c:v>
                </c:pt>
                <c:pt idx="359">
                  <c:v>131.57269004429423</c:v>
                </c:pt>
                <c:pt idx="360">
                  <c:v>131.57269004429423</c:v>
                </c:pt>
                <c:pt idx="361">
                  <c:v>131.57269004429423</c:v>
                </c:pt>
                <c:pt idx="362">
                  <c:v>131.57269004429423</c:v>
                </c:pt>
                <c:pt idx="363">
                  <c:v>130.63655895128855</c:v>
                </c:pt>
                <c:pt idx="364">
                  <c:v>131.75446356681744</c:v>
                </c:pt>
                <c:pt idx="365">
                  <c:v>130.61265881614327</c:v>
                </c:pt>
                <c:pt idx="366">
                  <c:v>130.61265881614327</c:v>
                </c:pt>
                <c:pt idx="367">
                  <c:v>134.22025426890048</c:v>
                </c:pt>
                <c:pt idx="368">
                  <c:v>134.22025426890048</c:v>
                </c:pt>
                <c:pt idx="369">
                  <c:v>134.22025426890048</c:v>
                </c:pt>
                <c:pt idx="370">
                  <c:v>134.26494599282896</c:v>
                </c:pt>
                <c:pt idx="371">
                  <c:v>136.1158560325164</c:v>
                </c:pt>
                <c:pt idx="372">
                  <c:v>134.83421765532032</c:v>
                </c:pt>
                <c:pt idx="373">
                  <c:v>133.25629913796445</c:v>
                </c:pt>
                <c:pt idx="374">
                  <c:v>133.67661537395304</c:v>
                </c:pt>
                <c:pt idx="375">
                  <c:v>133.67661537395304</c:v>
                </c:pt>
                <c:pt idx="376">
                  <c:v>133.67661537395304</c:v>
                </c:pt>
                <c:pt idx="377">
                  <c:v>135.59621919226717</c:v>
                </c:pt>
                <c:pt idx="378">
                  <c:v>136.81920286679318</c:v>
                </c:pt>
                <c:pt idx="379">
                  <c:v>137.59042812327377</c:v>
                </c:pt>
                <c:pt idx="380">
                  <c:v>137.20216558665913</c:v>
                </c:pt>
                <c:pt idx="381">
                  <c:v>136.80131598526651</c:v>
                </c:pt>
                <c:pt idx="382">
                  <c:v>136.80131598526651</c:v>
                </c:pt>
                <c:pt idx="383">
                  <c:v>136.80131598526651</c:v>
                </c:pt>
                <c:pt idx="384">
                  <c:v>135.36904050894549</c:v>
                </c:pt>
                <c:pt idx="385">
                  <c:v>134.97975877680227</c:v>
                </c:pt>
                <c:pt idx="386">
                  <c:v>135.47687139586981</c:v>
                </c:pt>
                <c:pt idx="387">
                  <c:v>135.70568079203721</c:v>
                </c:pt>
                <c:pt idx="388">
                  <c:v>136.31490491924913</c:v>
                </c:pt>
                <c:pt idx="389">
                  <c:v>136.31490491924913</c:v>
                </c:pt>
                <c:pt idx="390">
                  <c:v>136.31490491924913</c:v>
                </c:pt>
                <c:pt idx="391">
                  <c:v>136.39649152131241</c:v>
                </c:pt>
                <c:pt idx="392">
                  <c:v>138.23833072079549</c:v>
                </c:pt>
                <c:pt idx="393">
                  <c:v>141.80531123173856</c:v>
                </c:pt>
                <c:pt idx="394">
                  <c:v>142.52476135536699</c:v>
                </c:pt>
                <c:pt idx="395">
                  <c:v>139.56410026437933</c:v>
                </c:pt>
                <c:pt idx="396">
                  <c:v>139.56410026437933</c:v>
                </c:pt>
                <c:pt idx="397">
                  <c:v>139.56410026437933</c:v>
                </c:pt>
                <c:pt idx="398">
                  <c:v>136.44770609662382</c:v>
                </c:pt>
                <c:pt idx="399">
                  <c:v>136.74938797308508</c:v>
                </c:pt>
                <c:pt idx="400">
                  <c:v>136.81334249250381</c:v>
                </c:pt>
                <c:pt idx="401">
                  <c:v>137.00658196472361</c:v>
                </c:pt>
                <c:pt idx="402">
                  <c:v>135.34891139725593</c:v>
                </c:pt>
                <c:pt idx="403">
                  <c:v>135.34891139725593</c:v>
                </c:pt>
                <c:pt idx="404">
                  <c:v>135.34891139725593</c:v>
                </c:pt>
                <c:pt idx="405">
                  <c:v>137.72980311180777</c:v>
                </c:pt>
                <c:pt idx="406">
                  <c:v>138.52472466432798</c:v>
                </c:pt>
                <c:pt idx="407">
                  <c:v>138.94886288354877</c:v>
                </c:pt>
                <c:pt idx="408">
                  <c:v>137.75721947152675</c:v>
                </c:pt>
                <c:pt idx="409">
                  <c:v>135.38544955695571</c:v>
                </c:pt>
                <c:pt idx="410">
                  <c:v>135.38544955695571</c:v>
                </c:pt>
                <c:pt idx="411">
                  <c:v>135.38544955695571</c:v>
                </c:pt>
                <c:pt idx="412">
                  <c:v>136.09287317334682</c:v>
                </c:pt>
                <c:pt idx="413">
                  <c:v>136.09287317334682</c:v>
                </c:pt>
                <c:pt idx="414">
                  <c:v>136.09287317334682</c:v>
                </c:pt>
                <c:pt idx="415">
                  <c:v>136.09287317334682</c:v>
                </c:pt>
                <c:pt idx="416">
                  <c:v>134.60184107480285</c:v>
                </c:pt>
                <c:pt idx="417">
                  <c:v>134.60184107480285</c:v>
                </c:pt>
                <c:pt idx="418">
                  <c:v>134.60184107480285</c:v>
                </c:pt>
                <c:pt idx="419">
                  <c:v>138.00880788775805</c:v>
                </c:pt>
                <c:pt idx="420">
                  <c:v>135.50367623827159</c:v>
                </c:pt>
                <c:pt idx="421">
                  <c:v>136.397510716841</c:v>
                </c:pt>
                <c:pt idx="422">
                  <c:v>134.437088117607</c:v>
                </c:pt>
                <c:pt idx="423">
                  <c:v>135.70863645907014</c:v>
                </c:pt>
                <c:pt idx="424">
                  <c:v>135.70863645907014</c:v>
                </c:pt>
                <c:pt idx="425">
                  <c:v>135.70863645907014</c:v>
                </c:pt>
                <c:pt idx="426">
                  <c:v>132.80041297802819</c:v>
                </c:pt>
                <c:pt idx="427">
                  <c:v>131.3135595811514</c:v>
                </c:pt>
                <c:pt idx="428">
                  <c:v>128.67078557552952</c:v>
                </c:pt>
                <c:pt idx="429">
                  <c:v>129.03698252895026</c:v>
                </c:pt>
                <c:pt idx="430">
                  <c:v>131.25857398238423</c:v>
                </c:pt>
                <c:pt idx="431">
                  <c:v>131.25857398238423</c:v>
                </c:pt>
                <c:pt idx="432">
                  <c:v>131.25857398238423</c:v>
                </c:pt>
                <c:pt idx="433">
                  <c:v>129.48094410120203</c:v>
                </c:pt>
                <c:pt idx="434">
                  <c:v>132.29107001261764</c:v>
                </c:pt>
                <c:pt idx="435">
                  <c:v>131.97950193952909</c:v>
                </c:pt>
                <c:pt idx="436">
                  <c:v>131.05203400851639</c:v>
                </c:pt>
                <c:pt idx="437">
                  <c:v>129.77212826371886</c:v>
                </c:pt>
                <c:pt idx="438">
                  <c:v>129.77212826371886</c:v>
                </c:pt>
                <c:pt idx="439">
                  <c:v>129.77212826371886</c:v>
                </c:pt>
                <c:pt idx="440">
                  <c:v>131.64958834692601</c:v>
                </c:pt>
                <c:pt idx="441">
                  <c:v>131.82550149515984</c:v>
                </c:pt>
                <c:pt idx="442">
                  <c:v>132.62495846778219</c:v>
                </c:pt>
                <c:pt idx="443">
                  <c:v>129.95038556166847</c:v>
                </c:pt>
                <c:pt idx="444">
                  <c:v>128.81265759310861</c:v>
                </c:pt>
                <c:pt idx="445">
                  <c:v>128.81265759310861</c:v>
                </c:pt>
                <c:pt idx="446">
                  <c:v>128.81265759310861</c:v>
                </c:pt>
                <c:pt idx="447">
                  <c:v>124.2525219993355</c:v>
                </c:pt>
                <c:pt idx="448">
                  <c:v>127.724105808803</c:v>
                </c:pt>
                <c:pt idx="449">
                  <c:v>129.11143476231342</c:v>
                </c:pt>
                <c:pt idx="450">
                  <c:v>126.66781156297711</c:v>
                </c:pt>
                <c:pt idx="451">
                  <c:v>127.15422262899449</c:v>
                </c:pt>
                <c:pt idx="452">
                  <c:v>127.15422262899449</c:v>
                </c:pt>
                <c:pt idx="453">
                  <c:v>127.15422262899449</c:v>
                </c:pt>
                <c:pt idx="454">
                  <c:v>126.12947248477833</c:v>
                </c:pt>
                <c:pt idx="455">
                  <c:v>126.31980724974163</c:v>
                </c:pt>
                <c:pt idx="456">
                  <c:v>128.89781137952193</c:v>
                </c:pt>
                <c:pt idx="457">
                  <c:v>127.9932753479024</c:v>
                </c:pt>
                <c:pt idx="458">
                  <c:v>127.9932753479024</c:v>
                </c:pt>
                <c:pt idx="459">
                  <c:v>127.9932753479024</c:v>
                </c:pt>
                <c:pt idx="460">
                  <c:v>127.9932753479024</c:v>
                </c:pt>
                <c:pt idx="461">
                  <c:v>127.9932753479024</c:v>
                </c:pt>
                <c:pt idx="462">
                  <c:v>127.9932753479024</c:v>
                </c:pt>
                <c:pt idx="463">
                  <c:v>131.95025102785868</c:v>
                </c:pt>
                <c:pt idx="464">
                  <c:v>131.23365465171034</c:v>
                </c:pt>
                <c:pt idx="465">
                  <c:v>131.95290093623302</c:v>
                </c:pt>
                <c:pt idx="466">
                  <c:v>131.95290093623302</c:v>
                </c:pt>
                <c:pt idx="467">
                  <c:v>131.95290093623302</c:v>
                </c:pt>
                <c:pt idx="468">
                  <c:v>130.76711789850035</c:v>
                </c:pt>
                <c:pt idx="469">
                  <c:v>131.84476429065012</c:v>
                </c:pt>
                <c:pt idx="470">
                  <c:v>132.2269626138696</c:v>
                </c:pt>
                <c:pt idx="471">
                  <c:v>134.50455886159935</c:v>
                </c:pt>
                <c:pt idx="472">
                  <c:v>133.3124568115895</c:v>
                </c:pt>
                <c:pt idx="473">
                  <c:v>133.3124568115895</c:v>
                </c:pt>
                <c:pt idx="474">
                  <c:v>133.3124568115895</c:v>
                </c:pt>
                <c:pt idx="475">
                  <c:v>134.33542336363061</c:v>
                </c:pt>
                <c:pt idx="476">
                  <c:v>134.97960589747299</c:v>
                </c:pt>
                <c:pt idx="477">
                  <c:v>133.32728610653041</c:v>
                </c:pt>
                <c:pt idx="478">
                  <c:v>132.06327981197882</c:v>
                </c:pt>
                <c:pt idx="479">
                  <c:v>132.38366392638963</c:v>
                </c:pt>
                <c:pt idx="480">
                  <c:v>132.38366392638963</c:v>
                </c:pt>
                <c:pt idx="481">
                  <c:v>132.38366392638963</c:v>
                </c:pt>
                <c:pt idx="482">
                  <c:v>132.11653277834742</c:v>
                </c:pt>
                <c:pt idx="483">
                  <c:v>130.86358475528095</c:v>
                </c:pt>
                <c:pt idx="484">
                  <c:v>133.06535285568395</c:v>
                </c:pt>
                <c:pt idx="485">
                  <c:v>131.35662059223415</c:v>
                </c:pt>
                <c:pt idx="486">
                  <c:v>131.35662059223415</c:v>
                </c:pt>
                <c:pt idx="487">
                  <c:v>131.35662059223415</c:v>
                </c:pt>
                <c:pt idx="488">
                  <c:v>131.35662059223415</c:v>
                </c:pt>
                <c:pt idx="489">
                  <c:v>132.98402105250284</c:v>
                </c:pt>
              </c:numCache>
            </c:numRef>
          </c:val>
          <c:smooth val="0"/>
          <c:extLst>
            <c:ext xmlns:c16="http://schemas.microsoft.com/office/drawing/2014/chart" uri="{C3380CC4-5D6E-409C-BE32-E72D297353CC}">
              <c16:uniqueId val="{00000001-96E7-454A-A66A-36F382D4E673}"/>
            </c:ext>
          </c:extLst>
        </c:ser>
        <c:ser>
          <c:idx val="9"/>
          <c:order val="4"/>
          <c:tx>
            <c:strRef>
              <c:f>'BBG (Global Markets)'!$Z$11</c:f>
              <c:strCache>
                <c:ptCount val="1"/>
                <c:pt idx="0">
                  <c:v>Shanghai Comp 26.0%</c:v>
                </c:pt>
              </c:strCache>
            </c:strRef>
          </c:tx>
          <c:spPr>
            <a:ln w="15875" cap="rnd">
              <a:solidFill>
                <a:srgbClr val="FDBBBC"/>
              </a:solidFill>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Markets)'!$Z$12:$Z$501</c:f>
              <c:numCache>
                <c:formatCode>_(* #,##0_);_(* \(#,##0\);_(* "   -"?_);_(@_)</c:formatCode>
                <c:ptCount val="490"/>
                <c:pt idx="1">
                  <c:v>100</c:v>
                </c:pt>
                <c:pt idx="2">
                  <c:v>100</c:v>
                </c:pt>
                <c:pt idx="3">
                  <c:v>98.432795586044207</c:v>
                </c:pt>
                <c:pt idx="4">
                  <c:v>98.432795586044207</c:v>
                </c:pt>
                <c:pt idx="5">
                  <c:v>98.432795586044207</c:v>
                </c:pt>
                <c:pt idx="6">
                  <c:v>98.294652575078274</c:v>
                </c:pt>
                <c:pt idx="7">
                  <c:v>98.991068672738976</c:v>
                </c:pt>
                <c:pt idx="8">
                  <c:v>99.007129675123323</c:v>
                </c:pt>
                <c:pt idx="9">
                  <c:v>98.431661507631574</c:v>
                </c:pt>
                <c:pt idx="10">
                  <c:v>97.117693738140062</c:v>
                </c:pt>
                <c:pt idx="11">
                  <c:v>97.117693738140062</c:v>
                </c:pt>
                <c:pt idx="12">
                  <c:v>97.117693738140062</c:v>
                </c:pt>
                <c:pt idx="13">
                  <c:v>96.879567922254935</c:v>
                </c:pt>
                <c:pt idx="14">
                  <c:v>99.337299747039211</c:v>
                </c:pt>
                <c:pt idx="15">
                  <c:v>98.913614182232905</c:v>
                </c:pt>
                <c:pt idx="16">
                  <c:v>99.18686577814178</c:v>
                </c:pt>
                <c:pt idx="17">
                  <c:v>99.364303073567044</c:v>
                </c:pt>
                <c:pt idx="18">
                  <c:v>99.364303073567044</c:v>
                </c:pt>
                <c:pt idx="19">
                  <c:v>99.364303073567044</c:v>
                </c:pt>
                <c:pt idx="20">
                  <c:v>99.442677087110397</c:v>
                </c:pt>
                <c:pt idx="21">
                  <c:v>99.388884989430082</c:v>
                </c:pt>
                <c:pt idx="22">
                  <c:v>98.500043370836579</c:v>
                </c:pt>
                <c:pt idx="23">
                  <c:v>99.007007072051678</c:v>
                </c:pt>
                <c:pt idx="24">
                  <c:v>99.695484620823947</c:v>
                </c:pt>
                <c:pt idx="25">
                  <c:v>99.695484620823947</c:v>
                </c:pt>
                <c:pt idx="26">
                  <c:v>99.695484620823947</c:v>
                </c:pt>
                <c:pt idx="27">
                  <c:v>99.633416815808189</c:v>
                </c:pt>
                <c:pt idx="28">
                  <c:v>99.633416815808189</c:v>
                </c:pt>
                <c:pt idx="29">
                  <c:v>99.633416815808189</c:v>
                </c:pt>
                <c:pt idx="30">
                  <c:v>99.633416815808189</c:v>
                </c:pt>
                <c:pt idx="31">
                  <c:v>99.633416815808189</c:v>
                </c:pt>
                <c:pt idx="32">
                  <c:v>99.633416815808189</c:v>
                </c:pt>
                <c:pt idx="33">
                  <c:v>99.633416815808189</c:v>
                </c:pt>
                <c:pt idx="34">
                  <c:v>99.633416815808189</c:v>
                </c:pt>
                <c:pt idx="35">
                  <c:v>99.633416815808189</c:v>
                </c:pt>
                <c:pt idx="36">
                  <c:v>98.986287152945181</c:v>
                </c:pt>
                <c:pt idx="37">
                  <c:v>100.24820991852718</c:v>
                </c:pt>
                <c:pt idx="38">
                  <c:v>101.25993046566792</c:v>
                </c:pt>
                <c:pt idx="39">
                  <c:v>101.25993046566792</c:v>
                </c:pt>
                <c:pt idx="40">
                  <c:v>101.25993046566792</c:v>
                </c:pt>
                <c:pt idx="41">
                  <c:v>101.8270616242884</c:v>
                </c:pt>
                <c:pt idx="42">
                  <c:v>101.70099501587862</c:v>
                </c:pt>
                <c:pt idx="43">
                  <c:v>102.56926996920517</c:v>
                </c:pt>
                <c:pt idx="44">
                  <c:v>102.14316299373407</c:v>
                </c:pt>
                <c:pt idx="45">
                  <c:v>102.57966057952632</c:v>
                </c:pt>
                <c:pt idx="46">
                  <c:v>102.57966057952632</c:v>
                </c:pt>
                <c:pt idx="47">
                  <c:v>102.57966057952632</c:v>
                </c:pt>
                <c:pt idx="48">
                  <c:v>102.85876647210581</c:v>
                </c:pt>
                <c:pt idx="49">
                  <c:v>101.8981714058373</c:v>
                </c:pt>
                <c:pt idx="50">
                  <c:v>102.72724402700824</c:v>
                </c:pt>
                <c:pt idx="51">
                  <c:v>102.70407204646901</c:v>
                </c:pt>
                <c:pt idx="52">
                  <c:v>103.57240830133136</c:v>
                </c:pt>
                <c:pt idx="53">
                  <c:v>103.57240830133136</c:v>
                </c:pt>
                <c:pt idx="54">
                  <c:v>103.57240830133136</c:v>
                </c:pt>
                <c:pt idx="55">
                  <c:v>103.38589837860501</c:v>
                </c:pt>
                <c:pt idx="56">
                  <c:v>102.55869545427656</c:v>
                </c:pt>
                <c:pt idx="57">
                  <c:v>103.6061547967992</c:v>
                </c:pt>
                <c:pt idx="58">
                  <c:v>103.84670202334914</c:v>
                </c:pt>
                <c:pt idx="59">
                  <c:v>101.78804319674022</c:v>
                </c:pt>
                <c:pt idx="60">
                  <c:v>101.78804319674022</c:v>
                </c:pt>
                <c:pt idx="61">
                  <c:v>101.78804319674022</c:v>
                </c:pt>
                <c:pt idx="62">
                  <c:v>101.66629834660563</c:v>
                </c:pt>
                <c:pt idx="63">
                  <c:v>101.88958919082279</c:v>
                </c:pt>
                <c:pt idx="64">
                  <c:v>102.43379357504733</c:v>
                </c:pt>
                <c:pt idx="65">
                  <c:v>103.63325007563076</c:v>
                </c:pt>
                <c:pt idx="66">
                  <c:v>103.37112470847288</c:v>
                </c:pt>
                <c:pt idx="67">
                  <c:v>103.37112470847288</c:v>
                </c:pt>
                <c:pt idx="68">
                  <c:v>103.37112470847288</c:v>
                </c:pt>
                <c:pt idx="69">
                  <c:v>103.17548085690964</c:v>
                </c:pt>
                <c:pt idx="70">
                  <c:v>103.59432360038632</c:v>
                </c:pt>
                <c:pt idx="71">
                  <c:v>103.35205993083348</c:v>
                </c:pt>
                <c:pt idx="72">
                  <c:v>102.94762304827402</c:v>
                </c:pt>
                <c:pt idx="73">
                  <c:v>104.81220121248307</c:v>
                </c:pt>
                <c:pt idx="74">
                  <c:v>104.81220121248307</c:v>
                </c:pt>
                <c:pt idx="75">
                  <c:v>104.81220121248307</c:v>
                </c:pt>
                <c:pt idx="76">
                  <c:v>105.01345415457367</c:v>
                </c:pt>
                <c:pt idx="77">
                  <c:v>105.12474709285129</c:v>
                </c:pt>
                <c:pt idx="78">
                  <c:v>105.02268003571427</c:v>
                </c:pt>
                <c:pt idx="79">
                  <c:v>104.4868739618968</c:v>
                </c:pt>
                <c:pt idx="80">
                  <c:v>103.13465403405485</c:v>
                </c:pt>
                <c:pt idx="81">
                  <c:v>103.13465403405485</c:v>
                </c:pt>
                <c:pt idx="82">
                  <c:v>103.13465403405485</c:v>
                </c:pt>
                <c:pt idx="83">
                  <c:v>103.29394607487798</c:v>
                </c:pt>
                <c:pt idx="84">
                  <c:v>103.29235223494673</c:v>
                </c:pt>
                <c:pt idx="85">
                  <c:v>103.25314990279108</c:v>
                </c:pt>
                <c:pt idx="86">
                  <c:v>103.40799758226741</c:v>
                </c:pt>
                <c:pt idx="87">
                  <c:v>102.72013304885333</c:v>
                </c:pt>
                <c:pt idx="88">
                  <c:v>102.72013304885333</c:v>
                </c:pt>
                <c:pt idx="89">
                  <c:v>102.72013304885333</c:v>
                </c:pt>
                <c:pt idx="90">
                  <c:v>102.24317644942118</c:v>
                </c:pt>
                <c:pt idx="91">
                  <c:v>102.63210404341865</c:v>
                </c:pt>
                <c:pt idx="92">
                  <c:v>102.68396514272069</c:v>
                </c:pt>
                <c:pt idx="93">
                  <c:v>102.43511155806742</c:v>
                </c:pt>
                <c:pt idx="94">
                  <c:v>102.43511155806742</c:v>
                </c:pt>
                <c:pt idx="95">
                  <c:v>102.43511155806742</c:v>
                </c:pt>
                <c:pt idx="96">
                  <c:v>102.43511155806742</c:v>
                </c:pt>
                <c:pt idx="97">
                  <c:v>94.912432288622341</c:v>
                </c:pt>
                <c:pt idx="98">
                  <c:v>96.41349234543047</c:v>
                </c:pt>
                <c:pt idx="99">
                  <c:v>97.678173680124289</c:v>
                </c:pt>
                <c:pt idx="100">
                  <c:v>98.806980160677455</c:v>
                </c:pt>
                <c:pt idx="101">
                  <c:v>99.254144213702048</c:v>
                </c:pt>
                <c:pt idx="102">
                  <c:v>99.254144213702048</c:v>
                </c:pt>
                <c:pt idx="103">
                  <c:v>99.254144213702048</c:v>
                </c:pt>
                <c:pt idx="104">
                  <c:v>100.00757073967353</c:v>
                </c:pt>
                <c:pt idx="105">
                  <c:v>100.15634956710386</c:v>
                </c:pt>
                <c:pt idx="106">
                  <c:v>100.41203827300087</c:v>
                </c:pt>
                <c:pt idx="107">
                  <c:v>100.54497065342225</c:v>
                </c:pt>
                <c:pt idx="108">
                  <c:v>100.43429073050281</c:v>
                </c:pt>
                <c:pt idx="109">
                  <c:v>100.43429073050281</c:v>
                </c:pt>
                <c:pt idx="110">
                  <c:v>100.43429073050281</c:v>
                </c:pt>
                <c:pt idx="111">
                  <c:v>100.88497962183696</c:v>
                </c:pt>
                <c:pt idx="112">
                  <c:v>101.14008596314368</c:v>
                </c:pt>
                <c:pt idx="113">
                  <c:v>101.03581205071721</c:v>
                </c:pt>
                <c:pt idx="114">
                  <c:v>101.06440921717632</c:v>
                </c:pt>
                <c:pt idx="115">
                  <c:v>100.99611930627503</c:v>
                </c:pt>
                <c:pt idx="116">
                  <c:v>100.99611930627503</c:v>
                </c:pt>
                <c:pt idx="117">
                  <c:v>100.99611930627503</c:v>
                </c:pt>
                <c:pt idx="118">
                  <c:v>100.79244495351965</c:v>
                </c:pt>
                <c:pt idx="119">
                  <c:v>100.73849960199979</c:v>
                </c:pt>
                <c:pt idx="120">
                  <c:v>100.50481814746146</c:v>
                </c:pt>
                <c:pt idx="121">
                  <c:v>100.50481814746146</c:v>
                </c:pt>
                <c:pt idx="122">
                  <c:v>100.50481814746146</c:v>
                </c:pt>
                <c:pt idx="123">
                  <c:v>100.50481814746146</c:v>
                </c:pt>
                <c:pt idx="124">
                  <c:v>100.50481814746146</c:v>
                </c:pt>
                <c:pt idx="125">
                  <c:v>100.50481814746146</c:v>
                </c:pt>
                <c:pt idx="126">
                  <c:v>101.64144057383142</c:v>
                </c:pt>
                <c:pt idx="127">
                  <c:v>102.45524911258363</c:v>
                </c:pt>
                <c:pt idx="128">
                  <c:v>102.74125142794266</c:v>
                </c:pt>
                <c:pt idx="129">
                  <c:v>102.43483570115623</c:v>
                </c:pt>
                <c:pt idx="130">
                  <c:v>102.43483570115623</c:v>
                </c:pt>
                <c:pt idx="131">
                  <c:v>102.43483570115623</c:v>
                </c:pt>
                <c:pt idx="132">
                  <c:v>103.26991587283732</c:v>
                </c:pt>
                <c:pt idx="133">
                  <c:v>103.44238774386135</c:v>
                </c:pt>
                <c:pt idx="134">
                  <c:v>104.33362012235172</c:v>
                </c:pt>
                <c:pt idx="135">
                  <c:v>103.62475981291996</c:v>
                </c:pt>
                <c:pt idx="136">
                  <c:v>103.21529620442345</c:v>
                </c:pt>
                <c:pt idx="137">
                  <c:v>103.21529620442345</c:v>
                </c:pt>
                <c:pt idx="138">
                  <c:v>103.21529620442345</c:v>
                </c:pt>
                <c:pt idx="139">
                  <c:v>103.21900494734044</c:v>
                </c:pt>
                <c:pt idx="140">
                  <c:v>103.61424659952718</c:v>
                </c:pt>
                <c:pt idx="141">
                  <c:v>103.83171379784162</c:v>
                </c:pt>
                <c:pt idx="142">
                  <c:v>103.60535787683357</c:v>
                </c:pt>
                <c:pt idx="143">
                  <c:v>102.63017304504038</c:v>
                </c:pt>
                <c:pt idx="144">
                  <c:v>102.63017304504038</c:v>
                </c:pt>
                <c:pt idx="145">
                  <c:v>102.63017304504038</c:v>
                </c:pt>
                <c:pt idx="146">
                  <c:v>102.58318541783586</c:v>
                </c:pt>
                <c:pt idx="147">
                  <c:v>102.3946218936596</c:v>
                </c:pt>
                <c:pt idx="148">
                  <c:v>102.3714805638883</c:v>
                </c:pt>
                <c:pt idx="149">
                  <c:v>103.09220272050086</c:v>
                </c:pt>
                <c:pt idx="150">
                  <c:v>102.6030471154409</c:v>
                </c:pt>
                <c:pt idx="151">
                  <c:v>102.6030471154409</c:v>
                </c:pt>
                <c:pt idx="152">
                  <c:v>102.6030471154409</c:v>
                </c:pt>
                <c:pt idx="153">
                  <c:v>102.6030471154409</c:v>
                </c:pt>
                <c:pt idx="154">
                  <c:v>103.04714609167461</c:v>
                </c:pt>
                <c:pt idx="155">
                  <c:v>103.48321456671614</c:v>
                </c:pt>
                <c:pt idx="156">
                  <c:v>103.72520237935781</c:v>
                </c:pt>
                <c:pt idx="157">
                  <c:v>103.76382234692316</c:v>
                </c:pt>
                <c:pt idx="158">
                  <c:v>103.76382234692316</c:v>
                </c:pt>
                <c:pt idx="159">
                  <c:v>103.76382234692316</c:v>
                </c:pt>
                <c:pt idx="160">
                  <c:v>104.20559186479579</c:v>
                </c:pt>
                <c:pt idx="161">
                  <c:v>103.74720963071647</c:v>
                </c:pt>
                <c:pt idx="162">
                  <c:v>104.28359806912422</c:v>
                </c:pt>
                <c:pt idx="163">
                  <c:v>104.2940806317491</c:v>
                </c:pt>
                <c:pt idx="164">
                  <c:v>103.50752062566799</c:v>
                </c:pt>
                <c:pt idx="165">
                  <c:v>103.50752062566799</c:v>
                </c:pt>
                <c:pt idx="166">
                  <c:v>103.50752062566799</c:v>
                </c:pt>
                <c:pt idx="167">
                  <c:v>103.86714608554443</c:v>
                </c:pt>
                <c:pt idx="168">
                  <c:v>103.82656446883291</c:v>
                </c:pt>
                <c:pt idx="169">
                  <c:v>103.86959814697718</c:v>
                </c:pt>
                <c:pt idx="170">
                  <c:v>103.0511919930386</c:v>
                </c:pt>
                <c:pt idx="171">
                  <c:v>102.98339249442385</c:v>
                </c:pt>
                <c:pt idx="172">
                  <c:v>102.98339249442385</c:v>
                </c:pt>
                <c:pt idx="173">
                  <c:v>102.98339249442385</c:v>
                </c:pt>
                <c:pt idx="174">
                  <c:v>103.64808504729872</c:v>
                </c:pt>
                <c:pt idx="175">
                  <c:v>104.84297458346373</c:v>
                </c:pt>
                <c:pt idx="176">
                  <c:v>105.92825697358607</c:v>
                </c:pt>
                <c:pt idx="177">
                  <c:v>105.69773254814238</c:v>
                </c:pt>
                <c:pt idx="178">
                  <c:v>104.95518704477863</c:v>
                </c:pt>
                <c:pt idx="179">
                  <c:v>104.95518704477863</c:v>
                </c:pt>
                <c:pt idx="180">
                  <c:v>104.95518704477863</c:v>
                </c:pt>
                <c:pt idx="181">
                  <c:v>105.5743019057728</c:v>
                </c:pt>
                <c:pt idx="182">
                  <c:v>105.98260078508876</c:v>
                </c:pt>
                <c:pt idx="183">
                  <c:v>105.89202776591762</c:v>
                </c:pt>
                <c:pt idx="184">
                  <c:v>106.08693599905104</c:v>
                </c:pt>
                <c:pt idx="185">
                  <c:v>106.42924377505891</c:v>
                </c:pt>
                <c:pt idx="186">
                  <c:v>106.42924377505891</c:v>
                </c:pt>
                <c:pt idx="187">
                  <c:v>106.42924377505891</c:v>
                </c:pt>
                <c:pt idx="188">
                  <c:v>106.4540095955294</c:v>
                </c:pt>
                <c:pt idx="189">
                  <c:v>107.20029449257807</c:v>
                </c:pt>
                <c:pt idx="190">
                  <c:v>107.06466484458068</c:v>
                </c:pt>
                <c:pt idx="191">
                  <c:v>107.57444841644339</c:v>
                </c:pt>
                <c:pt idx="192">
                  <c:v>107.58962054655836</c:v>
                </c:pt>
                <c:pt idx="193">
                  <c:v>107.58962054655836</c:v>
                </c:pt>
                <c:pt idx="194">
                  <c:v>107.58962054655836</c:v>
                </c:pt>
                <c:pt idx="195">
                  <c:v>107.87997527096044</c:v>
                </c:pt>
                <c:pt idx="196">
                  <c:v>107.43091087032548</c:v>
                </c:pt>
                <c:pt idx="197">
                  <c:v>107.39345563194067</c:v>
                </c:pt>
                <c:pt idx="198">
                  <c:v>107.79338685161748</c:v>
                </c:pt>
                <c:pt idx="199">
                  <c:v>108.33461811135486</c:v>
                </c:pt>
                <c:pt idx="200">
                  <c:v>108.33461811135486</c:v>
                </c:pt>
                <c:pt idx="201">
                  <c:v>108.33461811135486</c:v>
                </c:pt>
                <c:pt idx="202">
                  <c:v>109.11032774559617</c:v>
                </c:pt>
                <c:pt idx="203">
                  <c:v>109.7867901933481</c:v>
                </c:pt>
                <c:pt idx="204">
                  <c:v>109.80018457892433</c:v>
                </c:pt>
                <c:pt idx="205">
                  <c:v>110.51830142026462</c:v>
                </c:pt>
                <c:pt idx="206">
                  <c:v>110.14828535006703</c:v>
                </c:pt>
                <c:pt idx="207">
                  <c:v>110.14828535006703</c:v>
                </c:pt>
                <c:pt idx="208">
                  <c:v>110.14828535006703</c:v>
                </c:pt>
                <c:pt idx="209">
                  <c:v>110.27953193825341</c:v>
                </c:pt>
                <c:pt idx="210">
                  <c:v>110.64041407961413</c:v>
                </c:pt>
                <c:pt idx="211">
                  <c:v>110.8245025916757</c:v>
                </c:pt>
                <c:pt idx="212">
                  <c:v>109.5215690986314</c:v>
                </c:pt>
                <c:pt idx="213">
                  <c:v>109.11526251922952</c:v>
                </c:pt>
                <c:pt idx="214">
                  <c:v>109.11526251922952</c:v>
                </c:pt>
                <c:pt idx="215">
                  <c:v>109.11526251922952</c:v>
                </c:pt>
                <c:pt idx="216">
                  <c:v>109.83117250528036</c:v>
                </c:pt>
                <c:pt idx="217">
                  <c:v>110.88215668611252</c:v>
                </c:pt>
                <c:pt idx="218">
                  <c:v>111.38473732751663</c:v>
                </c:pt>
                <c:pt idx="219">
                  <c:v>111.55858848309654</c:v>
                </c:pt>
                <c:pt idx="220">
                  <c:v>111.41946464755755</c:v>
                </c:pt>
                <c:pt idx="221">
                  <c:v>111.41946464755755</c:v>
                </c:pt>
                <c:pt idx="222">
                  <c:v>111.41946464755755</c:v>
                </c:pt>
                <c:pt idx="223">
                  <c:v>111.8001165342196</c:v>
                </c:pt>
                <c:pt idx="224">
                  <c:v>112.36320179147607</c:v>
                </c:pt>
                <c:pt idx="225">
                  <c:v>112.90103081597556</c:v>
                </c:pt>
                <c:pt idx="226">
                  <c:v>112.37929344462832</c:v>
                </c:pt>
                <c:pt idx="227">
                  <c:v>113.3088699337729</c:v>
                </c:pt>
                <c:pt idx="228">
                  <c:v>113.3088699337729</c:v>
                </c:pt>
                <c:pt idx="229">
                  <c:v>113.3088699337729</c:v>
                </c:pt>
                <c:pt idx="230">
                  <c:v>114.26689033553701</c:v>
                </c:pt>
                <c:pt idx="231">
                  <c:v>114.24423941805226</c:v>
                </c:pt>
                <c:pt idx="232">
                  <c:v>115.43722860660691</c:v>
                </c:pt>
                <c:pt idx="233">
                  <c:v>115.58708021091407</c:v>
                </c:pt>
                <c:pt idx="234">
                  <c:v>117.26245118482075</c:v>
                </c:pt>
                <c:pt idx="235">
                  <c:v>117.26245118482075</c:v>
                </c:pt>
                <c:pt idx="236">
                  <c:v>117.26245118482075</c:v>
                </c:pt>
                <c:pt idx="237">
                  <c:v>119.03415752226547</c:v>
                </c:pt>
                <c:pt idx="238">
                  <c:v>118.56887886540666</c:v>
                </c:pt>
                <c:pt idx="239">
                  <c:v>116.48364582302062</c:v>
                </c:pt>
                <c:pt idx="240">
                  <c:v>117.80919958278176</c:v>
                </c:pt>
                <c:pt idx="241">
                  <c:v>118.2484250869179</c:v>
                </c:pt>
                <c:pt idx="242">
                  <c:v>118.2484250869179</c:v>
                </c:pt>
                <c:pt idx="243">
                  <c:v>118.2484250869179</c:v>
                </c:pt>
                <c:pt idx="244">
                  <c:v>118.78800120518818</c:v>
                </c:pt>
                <c:pt idx="245">
                  <c:v>118.25473914510715</c:v>
                </c:pt>
                <c:pt idx="246">
                  <c:v>116.88845051479495</c:v>
                </c:pt>
                <c:pt idx="247">
                  <c:v>115.42699125012528</c:v>
                </c:pt>
                <c:pt idx="248">
                  <c:v>116.85648176386587</c:v>
                </c:pt>
                <c:pt idx="249">
                  <c:v>116.85648176386587</c:v>
                </c:pt>
                <c:pt idx="250">
                  <c:v>116.85648176386587</c:v>
                </c:pt>
                <c:pt idx="251">
                  <c:v>117.2956153156983</c:v>
                </c:pt>
                <c:pt idx="252">
                  <c:v>116.69642345384499</c:v>
                </c:pt>
                <c:pt idx="253">
                  <c:v>116.84750108886853</c:v>
                </c:pt>
                <c:pt idx="254">
                  <c:v>118.7811967347124</c:v>
                </c:pt>
                <c:pt idx="255">
                  <c:v>118.63680096709301</c:v>
                </c:pt>
                <c:pt idx="256">
                  <c:v>118.63680096709301</c:v>
                </c:pt>
                <c:pt idx="257">
                  <c:v>118.63680096709301</c:v>
                </c:pt>
                <c:pt idx="258">
                  <c:v>118.32741211581943</c:v>
                </c:pt>
                <c:pt idx="259">
                  <c:v>118.3691278109436</c:v>
                </c:pt>
                <c:pt idx="260">
                  <c:v>118.81282832719448</c:v>
                </c:pt>
                <c:pt idx="261">
                  <c:v>117.44319876318021</c:v>
                </c:pt>
                <c:pt idx="262">
                  <c:v>117.08866133077665</c:v>
                </c:pt>
                <c:pt idx="263">
                  <c:v>117.08866133077665</c:v>
                </c:pt>
                <c:pt idx="264">
                  <c:v>117.08866133077665</c:v>
                </c:pt>
                <c:pt idx="265">
                  <c:v>117.34879439802044</c:v>
                </c:pt>
                <c:pt idx="266">
                  <c:v>117.14211627000996</c:v>
                </c:pt>
                <c:pt idx="267">
                  <c:v>118.11708654642779</c:v>
                </c:pt>
                <c:pt idx="268">
                  <c:v>118.10666528533874</c:v>
                </c:pt>
                <c:pt idx="269">
                  <c:v>117.33438853710321</c:v>
                </c:pt>
                <c:pt idx="270">
                  <c:v>117.33438853710321</c:v>
                </c:pt>
                <c:pt idx="271">
                  <c:v>117.33438853710321</c:v>
                </c:pt>
                <c:pt idx="272">
                  <c:v>118.38957187313892</c:v>
                </c:pt>
                <c:pt idx="273">
                  <c:v>119.0100966694569</c:v>
                </c:pt>
                <c:pt idx="274">
                  <c:v>119.0100966694569</c:v>
                </c:pt>
                <c:pt idx="275">
                  <c:v>119.0100966694569</c:v>
                </c:pt>
                <c:pt idx="276">
                  <c:v>119.0100966694569</c:v>
                </c:pt>
                <c:pt idx="277">
                  <c:v>119.0100966694569</c:v>
                </c:pt>
                <c:pt idx="278">
                  <c:v>119.0100966694569</c:v>
                </c:pt>
                <c:pt idx="279">
                  <c:v>119.0100966694569</c:v>
                </c:pt>
                <c:pt idx="280">
                  <c:v>119.0100966694569</c:v>
                </c:pt>
                <c:pt idx="281">
                  <c:v>119.0100966694569</c:v>
                </c:pt>
                <c:pt idx="282">
                  <c:v>120.57926273255887</c:v>
                </c:pt>
                <c:pt idx="283">
                  <c:v>119.44690076292825</c:v>
                </c:pt>
                <c:pt idx="284">
                  <c:v>119.44690076292825</c:v>
                </c:pt>
                <c:pt idx="285">
                  <c:v>119.44690076292825</c:v>
                </c:pt>
                <c:pt idx="286">
                  <c:v>119.21622308364502</c:v>
                </c:pt>
                <c:pt idx="287">
                  <c:v>118.47223699418952</c:v>
                </c:pt>
                <c:pt idx="288">
                  <c:v>119.91221007055499</c:v>
                </c:pt>
                <c:pt idx="289">
                  <c:v>120.03539550678133</c:v>
                </c:pt>
                <c:pt idx="290">
                  <c:v>117.69143933247533</c:v>
                </c:pt>
                <c:pt idx="291">
                  <c:v>117.69143933247533</c:v>
                </c:pt>
                <c:pt idx="292">
                  <c:v>117.69143933247533</c:v>
                </c:pt>
                <c:pt idx="293">
                  <c:v>118.43128756826309</c:v>
                </c:pt>
                <c:pt idx="294">
                  <c:v>120.03858318664386</c:v>
                </c:pt>
                <c:pt idx="295">
                  <c:v>119.95968811004605</c:v>
                </c:pt>
                <c:pt idx="296">
                  <c:v>120.22487855399484</c:v>
                </c:pt>
                <c:pt idx="297">
                  <c:v>121.08009628019214</c:v>
                </c:pt>
                <c:pt idx="298">
                  <c:v>121.08009628019214</c:v>
                </c:pt>
                <c:pt idx="299">
                  <c:v>121.08009628019214</c:v>
                </c:pt>
                <c:pt idx="300">
                  <c:v>122.5094335400932</c:v>
                </c:pt>
                <c:pt idx="301">
                  <c:v>122.24212819315869</c:v>
                </c:pt>
                <c:pt idx="302">
                  <c:v>123.10362932677734</c:v>
                </c:pt>
                <c:pt idx="303">
                  <c:v>122.20157722721505</c:v>
                </c:pt>
                <c:pt idx="304">
                  <c:v>121.2173504188887</c:v>
                </c:pt>
                <c:pt idx="305">
                  <c:v>121.2173504188887</c:v>
                </c:pt>
                <c:pt idx="306">
                  <c:v>121.2173504188887</c:v>
                </c:pt>
                <c:pt idx="307">
                  <c:v>121.88342225631949</c:v>
                </c:pt>
                <c:pt idx="308">
                  <c:v>121.38274196252577</c:v>
                </c:pt>
                <c:pt idx="309">
                  <c:v>121.66049922131722</c:v>
                </c:pt>
                <c:pt idx="310">
                  <c:v>122.84092159502917</c:v>
                </c:pt>
                <c:pt idx="311">
                  <c:v>122.5281611592856</c:v>
                </c:pt>
                <c:pt idx="312">
                  <c:v>122.5281611592856</c:v>
                </c:pt>
                <c:pt idx="313">
                  <c:v>122.5281611592856</c:v>
                </c:pt>
                <c:pt idx="314">
                  <c:v>123.17308396685915</c:v>
                </c:pt>
                <c:pt idx="315">
                  <c:v>122.68760645394828</c:v>
                </c:pt>
                <c:pt idx="316">
                  <c:v>122.60736274356248</c:v>
                </c:pt>
                <c:pt idx="317">
                  <c:v>123.50729994013905</c:v>
                </c:pt>
                <c:pt idx="318">
                  <c:v>122.31164413477633</c:v>
                </c:pt>
                <c:pt idx="319">
                  <c:v>122.31164413477633</c:v>
                </c:pt>
                <c:pt idx="320">
                  <c:v>122.31164413477633</c:v>
                </c:pt>
                <c:pt idx="321">
                  <c:v>121.74592291147965</c:v>
                </c:pt>
                <c:pt idx="322">
                  <c:v>120.75829386791541</c:v>
                </c:pt>
                <c:pt idx="323">
                  <c:v>120.97067303875697</c:v>
                </c:pt>
                <c:pt idx="324">
                  <c:v>120.48973183949663</c:v>
                </c:pt>
                <c:pt idx="325">
                  <c:v>117.54235399736588</c:v>
                </c:pt>
                <c:pt idx="326">
                  <c:v>117.54235399736588</c:v>
                </c:pt>
                <c:pt idx="327">
                  <c:v>117.54235399736588</c:v>
                </c:pt>
                <c:pt idx="328">
                  <c:v>117.59979353642736</c:v>
                </c:pt>
                <c:pt idx="329">
                  <c:v>118.61917677554534</c:v>
                </c:pt>
                <c:pt idx="330">
                  <c:v>118.44020694172461</c:v>
                </c:pt>
                <c:pt idx="331">
                  <c:v>118.77969484708485</c:v>
                </c:pt>
                <c:pt idx="332">
                  <c:v>119.18845348791945</c:v>
                </c:pt>
                <c:pt idx="333">
                  <c:v>119.18845348791945</c:v>
                </c:pt>
                <c:pt idx="334">
                  <c:v>119.18845348791945</c:v>
                </c:pt>
                <c:pt idx="335">
                  <c:v>119.9672895004875</c:v>
                </c:pt>
                <c:pt idx="336">
                  <c:v>119.46786588817801</c:v>
                </c:pt>
                <c:pt idx="337">
                  <c:v>118.86367795115554</c:v>
                </c:pt>
                <c:pt idx="338">
                  <c:v>118.79603170638036</c:v>
                </c:pt>
                <c:pt idx="339">
                  <c:v>119.62406220144234</c:v>
                </c:pt>
                <c:pt idx="340">
                  <c:v>119.62406220144234</c:v>
                </c:pt>
                <c:pt idx="341">
                  <c:v>119.62406220144234</c:v>
                </c:pt>
                <c:pt idx="342">
                  <c:v>120.27600403486709</c:v>
                </c:pt>
                <c:pt idx="343">
                  <c:v>119.82982080641558</c:v>
                </c:pt>
                <c:pt idx="344">
                  <c:v>119.55319762603671</c:v>
                </c:pt>
                <c:pt idx="345">
                  <c:v>118.72017105580555</c:v>
                </c:pt>
                <c:pt idx="346">
                  <c:v>119.21144156385122</c:v>
                </c:pt>
                <c:pt idx="347">
                  <c:v>119.21144156385122</c:v>
                </c:pt>
                <c:pt idx="348">
                  <c:v>119.21144156385122</c:v>
                </c:pt>
                <c:pt idx="349">
                  <c:v>118.55474886140058</c:v>
                </c:pt>
                <c:pt idx="350">
                  <c:v>117.23342490761091</c:v>
                </c:pt>
                <c:pt idx="351">
                  <c:v>118.62699272136213</c:v>
                </c:pt>
                <c:pt idx="352">
                  <c:v>118.81374785023175</c:v>
                </c:pt>
                <c:pt idx="353">
                  <c:v>119.24521871008696</c:v>
                </c:pt>
                <c:pt idx="354">
                  <c:v>119.24521871008696</c:v>
                </c:pt>
                <c:pt idx="355">
                  <c:v>119.24521871008696</c:v>
                </c:pt>
                <c:pt idx="356">
                  <c:v>120.07021477912596</c:v>
                </c:pt>
                <c:pt idx="357">
                  <c:v>120.15036653720803</c:v>
                </c:pt>
                <c:pt idx="358">
                  <c:v>120.79305183872424</c:v>
                </c:pt>
                <c:pt idx="359">
                  <c:v>121.36542427865716</c:v>
                </c:pt>
                <c:pt idx="360">
                  <c:v>121.48980509483194</c:v>
                </c:pt>
                <c:pt idx="361">
                  <c:v>121.48980509483194</c:v>
                </c:pt>
                <c:pt idx="362">
                  <c:v>121.48980509483194</c:v>
                </c:pt>
                <c:pt idx="363">
                  <c:v>121.53887697425428</c:v>
                </c:pt>
                <c:pt idx="364">
                  <c:v>121.53385024831719</c:v>
                </c:pt>
                <c:pt idx="365">
                  <c:v>121.64799370801036</c:v>
                </c:pt>
                <c:pt idx="366">
                  <c:v>121.64799370801036</c:v>
                </c:pt>
                <c:pt idx="367">
                  <c:v>121.64799370801036</c:v>
                </c:pt>
                <c:pt idx="368">
                  <c:v>121.64799370801036</c:v>
                </c:pt>
                <c:pt idx="369">
                  <c:v>121.64799370801036</c:v>
                </c:pt>
                <c:pt idx="370">
                  <c:v>123.3208206681806</c:v>
                </c:pt>
                <c:pt idx="371">
                  <c:v>125.16752943469869</c:v>
                </c:pt>
                <c:pt idx="372">
                  <c:v>125.23204930114716</c:v>
                </c:pt>
                <c:pt idx="373">
                  <c:v>125.14644170637727</c:v>
                </c:pt>
                <c:pt idx="374">
                  <c:v>126.29422101226612</c:v>
                </c:pt>
                <c:pt idx="375">
                  <c:v>126.29422101226612</c:v>
                </c:pt>
                <c:pt idx="376">
                  <c:v>126.29422101226612</c:v>
                </c:pt>
                <c:pt idx="377">
                  <c:v>127.6692451114324</c:v>
                </c:pt>
                <c:pt idx="378">
                  <c:v>126.85611088957415</c:v>
                </c:pt>
                <c:pt idx="379">
                  <c:v>126.4679189140065</c:v>
                </c:pt>
                <c:pt idx="380">
                  <c:v>126.05437875337809</c:v>
                </c:pt>
                <c:pt idx="381">
                  <c:v>125.72678334596654</c:v>
                </c:pt>
                <c:pt idx="382">
                  <c:v>125.72678334596654</c:v>
                </c:pt>
                <c:pt idx="383">
                  <c:v>125.72678334596654</c:v>
                </c:pt>
                <c:pt idx="384">
                  <c:v>126.0972591776828</c:v>
                </c:pt>
                <c:pt idx="385">
                  <c:v>126.08650075814676</c:v>
                </c:pt>
                <c:pt idx="386">
                  <c:v>126.18737243533529</c:v>
                </c:pt>
                <c:pt idx="387">
                  <c:v>126.36012016327049</c:v>
                </c:pt>
                <c:pt idx="388">
                  <c:v>126.77660279761818</c:v>
                </c:pt>
                <c:pt idx="389">
                  <c:v>126.77660279761818</c:v>
                </c:pt>
                <c:pt idx="390">
                  <c:v>126.77660279761818</c:v>
                </c:pt>
                <c:pt idx="391">
                  <c:v>126.66751671463</c:v>
                </c:pt>
                <c:pt idx="392">
                  <c:v>126.89123666959792</c:v>
                </c:pt>
                <c:pt idx="393">
                  <c:v>127.23863247307867</c:v>
                </c:pt>
                <c:pt idx="394">
                  <c:v>127.44540255339287</c:v>
                </c:pt>
                <c:pt idx="395">
                  <c:v>126.21826840938759</c:v>
                </c:pt>
                <c:pt idx="396">
                  <c:v>126.21826840938759</c:v>
                </c:pt>
                <c:pt idx="397">
                  <c:v>126.21826840938759</c:v>
                </c:pt>
                <c:pt idx="398">
                  <c:v>123.08569862755057</c:v>
                </c:pt>
                <c:pt idx="399">
                  <c:v>124.679293352676</c:v>
                </c:pt>
                <c:pt idx="400">
                  <c:v>125.73564141789227</c:v>
                </c:pt>
                <c:pt idx="401">
                  <c:v>124.92998598340384</c:v>
                </c:pt>
                <c:pt idx="402">
                  <c:v>124.61324094783208</c:v>
                </c:pt>
                <c:pt idx="403">
                  <c:v>124.61324094783208</c:v>
                </c:pt>
                <c:pt idx="404">
                  <c:v>124.61324094783208</c:v>
                </c:pt>
                <c:pt idx="405">
                  <c:v>126.37587465797576</c:v>
                </c:pt>
                <c:pt idx="406">
                  <c:v>126.53780266483905</c:v>
                </c:pt>
                <c:pt idx="407">
                  <c:v>126.64851323852639</c:v>
                </c:pt>
                <c:pt idx="408">
                  <c:v>126.71082624968544</c:v>
                </c:pt>
                <c:pt idx="409">
                  <c:v>125.1186721106517</c:v>
                </c:pt>
                <c:pt idx="410">
                  <c:v>125.1186721106517</c:v>
                </c:pt>
                <c:pt idx="411">
                  <c:v>125.1186721106517</c:v>
                </c:pt>
                <c:pt idx="412">
                  <c:v>125.1186721106517</c:v>
                </c:pt>
                <c:pt idx="413">
                  <c:v>125.1186721106517</c:v>
                </c:pt>
                <c:pt idx="414">
                  <c:v>125.1186721106517</c:v>
                </c:pt>
                <c:pt idx="415">
                  <c:v>125.1186721106517</c:v>
                </c:pt>
                <c:pt idx="416">
                  <c:v>125.1186721106517</c:v>
                </c:pt>
                <c:pt idx="417">
                  <c:v>125.1186721106517</c:v>
                </c:pt>
                <c:pt idx="418">
                  <c:v>125.1186721106517</c:v>
                </c:pt>
                <c:pt idx="419">
                  <c:v>125.1186721106517</c:v>
                </c:pt>
                <c:pt idx="420">
                  <c:v>126.20174764548462</c:v>
                </c:pt>
                <c:pt idx="421">
                  <c:v>127.11578419529931</c:v>
                </c:pt>
                <c:pt idx="422">
                  <c:v>127.09742438532183</c:v>
                </c:pt>
                <c:pt idx="423">
                  <c:v>127.59549936384332</c:v>
                </c:pt>
                <c:pt idx="424">
                  <c:v>127.59549936384332</c:v>
                </c:pt>
                <c:pt idx="425">
                  <c:v>127.59549936384332</c:v>
                </c:pt>
                <c:pt idx="426">
                  <c:v>128.19962599932998</c:v>
                </c:pt>
                <c:pt idx="427">
                  <c:v>126.36318524006143</c:v>
                </c:pt>
                <c:pt idx="428">
                  <c:v>125.13096306858324</c:v>
                </c:pt>
                <c:pt idx="429">
                  <c:v>125.93073355563314</c:v>
                </c:pt>
                <c:pt idx="430">
                  <c:v>126.40971310574731</c:v>
                </c:pt>
                <c:pt idx="431">
                  <c:v>126.40971310574731</c:v>
                </c:pt>
                <c:pt idx="432">
                  <c:v>126.40971310574731</c:v>
                </c:pt>
                <c:pt idx="433">
                  <c:v>125.5640277683697</c:v>
                </c:pt>
                <c:pt idx="434">
                  <c:v>126.37734589483536</c:v>
                </c:pt>
                <c:pt idx="435">
                  <c:v>126.69289555045866</c:v>
                </c:pt>
                <c:pt idx="436">
                  <c:v>126.56017772541264</c:v>
                </c:pt>
                <c:pt idx="437">
                  <c:v>125.52862613143478</c:v>
                </c:pt>
                <c:pt idx="438">
                  <c:v>125.52862613143478</c:v>
                </c:pt>
                <c:pt idx="439">
                  <c:v>125.52862613143478</c:v>
                </c:pt>
                <c:pt idx="440">
                  <c:v>125.20182764398888</c:v>
                </c:pt>
                <c:pt idx="441">
                  <c:v>124.13275951009039</c:v>
                </c:pt>
                <c:pt idx="442">
                  <c:v>124.53357960203655</c:v>
                </c:pt>
                <c:pt idx="443">
                  <c:v>122.80389546739509</c:v>
                </c:pt>
                <c:pt idx="444">
                  <c:v>121.28671310666681</c:v>
                </c:pt>
                <c:pt idx="445">
                  <c:v>121.28671310666681</c:v>
                </c:pt>
                <c:pt idx="446">
                  <c:v>121.28671310666681</c:v>
                </c:pt>
                <c:pt idx="447">
                  <c:v>116.88005220438788</c:v>
                </c:pt>
                <c:pt idx="448">
                  <c:v>118.96421246989712</c:v>
                </c:pt>
                <c:pt idx="449">
                  <c:v>120.51382334307313</c:v>
                </c:pt>
                <c:pt idx="450">
                  <c:v>119.20338041189113</c:v>
                </c:pt>
                <c:pt idx="451">
                  <c:v>119.95864598393715</c:v>
                </c:pt>
                <c:pt idx="452">
                  <c:v>119.95864598393715</c:v>
                </c:pt>
                <c:pt idx="453">
                  <c:v>119.95864598393715</c:v>
                </c:pt>
                <c:pt idx="454">
                  <c:v>120.25175927745104</c:v>
                </c:pt>
                <c:pt idx="455">
                  <c:v>119.28852824514237</c:v>
                </c:pt>
                <c:pt idx="456">
                  <c:v>121.02615092867228</c:v>
                </c:pt>
                <c:pt idx="457">
                  <c:v>120.12909490427917</c:v>
                </c:pt>
                <c:pt idx="458">
                  <c:v>118.92795261146077</c:v>
                </c:pt>
                <c:pt idx="459">
                  <c:v>118.92795261146077</c:v>
                </c:pt>
                <c:pt idx="460">
                  <c:v>118.92795261146077</c:v>
                </c:pt>
                <c:pt idx="461">
                  <c:v>118.92795261146077</c:v>
                </c:pt>
                <c:pt idx="462">
                  <c:v>119.23654454276868</c:v>
                </c:pt>
                <c:pt idx="463">
                  <c:v>122.44975649497434</c:v>
                </c:pt>
                <c:pt idx="464">
                  <c:v>121.56618680846118</c:v>
                </c:pt>
                <c:pt idx="465">
                  <c:v>122.18085730810857</c:v>
                </c:pt>
                <c:pt idx="466">
                  <c:v>122.18085730810857</c:v>
                </c:pt>
                <c:pt idx="467">
                  <c:v>122.18085730810857</c:v>
                </c:pt>
                <c:pt idx="468">
                  <c:v>122.2523655496403</c:v>
                </c:pt>
                <c:pt idx="469">
                  <c:v>123.41914833163273</c:v>
                </c:pt>
                <c:pt idx="470">
                  <c:v>123.43704838009157</c:v>
                </c:pt>
                <c:pt idx="471">
                  <c:v>124.30562984109721</c:v>
                </c:pt>
                <c:pt idx="472">
                  <c:v>124.17928737577625</c:v>
                </c:pt>
                <c:pt idx="473">
                  <c:v>124.17928737577625</c:v>
                </c:pt>
                <c:pt idx="474">
                  <c:v>124.17928737577625</c:v>
                </c:pt>
                <c:pt idx="475">
                  <c:v>125.12032725211881</c:v>
                </c:pt>
                <c:pt idx="476">
                  <c:v>125.2107470174504</c:v>
                </c:pt>
                <c:pt idx="477">
                  <c:v>125.85996093253119</c:v>
                </c:pt>
                <c:pt idx="478">
                  <c:v>125.46125574357076</c:v>
                </c:pt>
                <c:pt idx="479">
                  <c:v>125.05206799198542</c:v>
                </c:pt>
                <c:pt idx="480">
                  <c:v>125.05206799198542</c:v>
                </c:pt>
                <c:pt idx="481">
                  <c:v>125.05206799198542</c:v>
                </c:pt>
                <c:pt idx="482">
                  <c:v>125.24958154039112</c:v>
                </c:pt>
                <c:pt idx="483">
                  <c:v>125.01335607211634</c:v>
                </c:pt>
                <c:pt idx="484">
                  <c:v>125.89845829702494</c:v>
                </c:pt>
                <c:pt idx="485">
                  <c:v>126.0408311139623</c:v>
                </c:pt>
                <c:pt idx="486">
                  <c:v>126.0408311139623</c:v>
                </c:pt>
                <c:pt idx="487">
                  <c:v>126.0408311139623</c:v>
                </c:pt>
                <c:pt idx="488">
                  <c:v>126.0408311139623</c:v>
                </c:pt>
                <c:pt idx="489">
                  <c:v>126.0408311139623</c:v>
                </c:pt>
              </c:numCache>
            </c:numRef>
          </c:val>
          <c:smooth val="0"/>
          <c:extLst>
            <c:ext xmlns:c16="http://schemas.microsoft.com/office/drawing/2014/chart" uri="{C3380CC4-5D6E-409C-BE32-E72D297353CC}">
              <c16:uniqueId val="{00000004-96E7-454A-A66A-36F382D4E673}"/>
            </c:ext>
          </c:extLst>
        </c:ser>
        <c:ser>
          <c:idx val="0"/>
          <c:order val="2"/>
          <c:tx>
            <c:strRef>
              <c:f>'BBG (Global Markets)'!$R$11</c:f>
              <c:strCache>
                <c:ptCount val="1"/>
                <c:pt idx="0">
                  <c:v>NASDAQ 30.0%</c:v>
                </c:pt>
              </c:strCache>
            </c:strRef>
          </c:tx>
          <c:spPr>
            <a:ln w="15875" cap="rnd">
              <a:solidFill>
                <a:srgbClr val="B4B8B9"/>
              </a:solidFill>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Markets)'!$R$12:$R$501</c:f>
              <c:numCache>
                <c:formatCode>_(* #,##0_);_(* \(#,##0\);_(* "   -"?_);_(@_)</c:formatCode>
                <c:ptCount val="490"/>
                <c:pt idx="1">
                  <c:v>100</c:v>
                </c:pt>
                <c:pt idx="2">
                  <c:v>100</c:v>
                </c:pt>
                <c:pt idx="3">
                  <c:v>101.76802921457056</c:v>
                </c:pt>
                <c:pt idx="4">
                  <c:v>101.76802921457056</c:v>
                </c:pt>
                <c:pt idx="5">
                  <c:v>101.76802921457056</c:v>
                </c:pt>
                <c:pt idx="6">
                  <c:v>103.02990696957957</c:v>
                </c:pt>
                <c:pt idx="7">
                  <c:v>101.08340996401081</c:v>
                </c:pt>
                <c:pt idx="8">
                  <c:v>101.02739566169228</c:v>
                </c:pt>
                <c:pt idx="9">
                  <c:v>101.02739566169228</c:v>
                </c:pt>
                <c:pt idx="10">
                  <c:v>99.381975531085615</c:v>
                </c:pt>
                <c:pt idx="11">
                  <c:v>99.381975531085615</c:v>
                </c:pt>
                <c:pt idx="12">
                  <c:v>99.381975531085615</c:v>
                </c:pt>
                <c:pt idx="13">
                  <c:v>99.000611489466962</c:v>
                </c:pt>
                <c:pt idx="14">
                  <c:v>98.773909160361157</c:v>
                </c:pt>
                <c:pt idx="15">
                  <c:v>101.19517924317417</c:v>
                </c:pt>
                <c:pt idx="16">
                  <c:v>100.29822429475142</c:v>
                </c:pt>
                <c:pt idx="17">
                  <c:v>101.8122182752885</c:v>
                </c:pt>
                <c:pt idx="18">
                  <c:v>101.8122182752885</c:v>
                </c:pt>
                <c:pt idx="19">
                  <c:v>101.8122182752885</c:v>
                </c:pt>
                <c:pt idx="20">
                  <c:v>101.8122182752885</c:v>
                </c:pt>
                <c:pt idx="21">
                  <c:v>102.46872664449951</c:v>
                </c:pt>
                <c:pt idx="22">
                  <c:v>103.77863147723718</c:v>
                </c:pt>
                <c:pt idx="23">
                  <c:v>104.00860130731158</c:v>
                </c:pt>
                <c:pt idx="24">
                  <c:v>103.49316599579166</c:v>
                </c:pt>
                <c:pt idx="25">
                  <c:v>103.49316599579166</c:v>
                </c:pt>
                <c:pt idx="26">
                  <c:v>103.49316599579166</c:v>
                </c:pt>
                <c:pt idx="27">
                  <c:v>100.31658453828915</c:v>
                </c:pt>
                <c:pt idx="28">
                  <c:v>102.34845148979892</c:v>
                </c:pt>
                <c:pt idx="29">
                  <c:v>101.82321367537325</c:v>
                </c:pt>
                <c:pt idx="30">
                  <c:v>102.07958283866998</c:v>
                </c:pt>
                <c:pt idx="31">
                  <c:v>101.79790350914044</c:v>
                </c:pt>
                <c:pt idx="32">
                  <c:v>101.79790350914044</c:v>
                </c:pt>
                <c:pt idx="33">
                  <c:v>101.79790350914044</c:v>
                </c:pt>
                <c:pt idx="34">
                  <c:v>100.57658425821762</c:v>
                </c:pt>
                <c:pt idx="35">
                  <c:v>101.93576093095771</c:v>
                </c:pt>
                <c:pt idx="36">
                  <c:v>102.13445610890426</c:v>
                </c:pt>
                <c:pt idx="37">
                  <c:v>102.65134364307687</c:v>
                </c:pt>
                <c:pt idx="38">
                  <c:v>101.25829906347199</c:v>
                </c:pt>
                <c:pt idx="39">
                  <c:v>101.25829906347199</c:v>
                </c:pt>
                <c:pt idx="40">
                  <c:v>101.25829906347199</c:v>
                </c:pt>
                <c:pt idx="41">
                  <c:v>102.24824812676243</c:v>
                </c:pt>
                <c:pt idx="42">
                  <c:v>101.88306599470249</c:v>
                </c:pt>
                <c:pt idx="43">
                  <c:v>101.91465183739878</c:v>
                </c:pt>
                <c:pt idx="44">
                  <c:v>103.44825082374736</c:v>
                </c:pt>
                <c:pt idx="45">
                  <c:v>103.86903233736791</c:v>
                </c:pt>
                <c:pt idx="46">
                  <c:v>103.86903233736791</c:v>
                </c:pt>
                <c:pt idx="47">
                  <c:v>103.86903233736791</c:v>
                </c:pt>
                <c:pt idx="48">
                  <c:v>103.86903233736791</c:v>
                </c:pt>
                <c:pt idx="49">
                  <c:v>103.94418485964525</c:v>
                </c:pt>
                <c:pt idx="50">
                  <c:v>104.02193063665959</c:v>
                </c:pt>
                <c:pt idx="51">
                  <c:v>103.53496926215161</c:v>
                </c:pt>
                <c:pt idx="52">
                  <c:v>101.26146283425108</c:v>
                </c:pt>
                <c:pt idx="53">
                  <c:v>101.26146283425108</c:v>
                </c:pt>
                <c:pt idx="54">
                  <c:v>101.26146283425108</c:v>
                </c:pt>
                <c:pt idx="55">
                  <c:v>100.03184516816997</c:v>
                </c:pt>
                <c:pt idx="56">
                  <c:v>98.680551989830292</c:v>
                </c:pt>
                <c:pt idx="57">
                  <c:v>98.934016707821598</c:v>
                </c:pt>
                <c:pt idx="58">
                  <c:v>96.18081001867661</c:v>
                </c:pt>
                <c:pt idx="59">
                  <c:v>97.75159627795334</c:v>
                </c:pt>
                <c:pt idx="60">
                  <c:v>97.75159627795334</c:v>
                </c:pt>
                <c:pt idx="61">
                  <c:v>97.75159627795334</c:v>
                </c:pt>
                <c:pt idx="62">
                  <c:v>95.173434283553732</c:v>
                </c:pt>
                <c:pt idx="63">
                  <c:v>94.836155572463582</c:v>
                </c:pt>
                <c:pt idx="64">
                  <c:v>96.223909912405034</c:v>
                </c:pt>
                <c:pt idx="65">
                  <c:v>93.716388177040457</c:v>
                </c:pt>
                <c:pt idx="66">
                  <c:v>94.374867419851569</c:v>
                </c:pt>
                <c:pt idx="67">
                  <c:v>94.374867419851569</c:v>
                </c:pt>
                <c:pt idx="68">
                  <c:v>94.374867419851569</c:v>
                </c:pt>
                <c:pt idx="69">
                  <c:v>90.599607173772441</c:v>
                </c:pt>
                <c:pt idx="70">
                  <c:v>90.432497838522167</c:v>
                </c:pt>
                <c:pt idx="71">
                  <c:v>91.533853125312817</c:v>
                </c:pt>
                <c:pt idx="72">
                  <c:v>89.742225292635808</c:v>
                </c:pt>
                <c:pt idx="73">
                  <c:v>92.081755986139569</c:v>
                </c:pt>
                <c:pt idx="74">
                  <c:v>92.081755986139569</c:v>
                </c:pt>
                <c:pt idx="75">
                  <c:v>92.081755986139569</c:v>
                </c:pt>
                <c:pt idx="76">
                  <c:v>92.36478380813233</c:v>
                </c:pt>
                <c:pt idx="77">
                  <c:v>90.785284212939402</c:v>
                </c:pt>
                <c:pt idx="78">
                  <c:v>92.064640504875584</c:v>
                </c:pt>
                <c:pt idx="79">
                  <c:v>91.757806604397445</c:v>
                </c:pt>
                <c:pt idx="80">
                  <c:v>92.237143809978733</c:v>
                </c:pt>
                <c:pt idx="81">
                  <c:v>92.237143809978733</c:v>
                </c:pt>
                <c:pt idx="82">
                  <c:v>92.237143809978733</c:v>
                </c:pt>
                <c:pt idx="83">
                  <c:v>94.335294352565427</c:v>
                </c:pt>
                <c:pt idx="84">
                  <c:v>94.767174996460199</c:v>
                </c:pt>
                <c:pt idx="85">
                  <c:v>92.833436804197333</c:v>
                </c:pt>
                <c:pt idx="86">
                  <c:v>92.340770269268006</c:v>
                </c:pt>
                <c:pt idx="87">
                  <c:v>89.84585175192511</c:v>
                </c:pt>
                <c:pt idx="88">
                  <c:v>89.84585175192511</c:v>
                </c:pt>
                <c:pt idx="89">
                  <c:v>89.84585175192511</c:v>
                </c:pt>
                <c:pt idx="90">
                  <c:v>89.722931477392791</c:v>
                </c:pt>
                <c:pt idx="91">
                  <c:v>90.504019804167768</c:v>
                </c:pt>
                <c:pt idx="92">
                  <c:v>91.288012576248164</c:v>
                </c:pt>
                <c:pt idx="93">
                  <c:v>85.839895564445229</c:v>
                </c:pt>
                <c:pt idx="94">
                  <c:v>80.846220512748701</c:v>
                </c:pt>
                <c:pt idx="95">
                  <c:v>80.846220512748701</c:v>
                </c:pt>
                <c:pt idx="96">
                  <c:v>80.846220512748701</c:v>
                </c:pt>
                <c:pt idx="97">
                  <c:v>80.926455814310515</c:v>
                </c:pt>
                <c:pt idx="98">
                  <c:v>79.187159862225556</c:v>
                </c:pt>
                <c:pt idx="99">
                  <c:v>88.818819145896001</c:v>
                </c:pt>
                <c:pt idx="100">
                  <c:v>84.992938567351246</c:v>
                </c:pt>
                <c:pt idx="101">
                  <c:v>86.741570236489267</c:v>
                </c:pt>
                <c:pt idx="102">
                  <c:v>86.741570236489267</c:v>
                </c:pt>
                <c:pt idx="103">
                  <c:v>86.741570236489267</c:v>
                </c:pt>
                <c:pt idx="104">
                  <c:v>87.296630480390064</c:v>
                </c:pt>
                <c:pt idx="105">
                  <c:v>87.253530586661626</c:v>
                </c:pt>
                <c:pt idx="106">
                  <c:v>84.577239833015142</c:v>
                </c:pt>
                <c:pt idx="107">
                  <c:v>84.469827221809894</c:v>
                </c:pt>
                <c:pt idx="108">
                  <c:v>84.469827221809894</c:v>
                </c:pt>
                <c:pt idx="109">
                  <c:v>84.469827221809894</c:v>
                </c:pt>
                <c:pt idx="110">
                  <c:v>84.469827221809894</c:v>
                </c:pt>
                <c:pt idx="111">
                  <c:v>82.314573209915139</c:v>
                </c:pt>
                <c:pt idx="112">
                  <c:v>84.542282759160798</c:v>
                </c:pt>
                <c:pt idx="113">
                  <c:v>86.656459616021948</c:v>
                </c:pt>
                <c:pt idx="114">
                  <c:v>89.031829089990609</c:v>
                </c:pt>
                <c:pt idx="115">
                  <c:v>90.156782994887649</c:v>
                </c:pt>
                <c:pt idx="116">
                  <c:v>90.156782994887649</c:v>
                </c:pt>
                <c:pt idx="117">
                  <c:v>90.156782994887649</c:v>
                </c:pt>
                <c:pt idx="118">
                  <c:v>90.069597770630764</c:v>
                </c:pt>
                <c:pt idx="119">
                  <c:v>90.563301607454875</c:v>
                </c:pt>
                <c:pt idx="120">
                  <c:v>90.485607695535293</c:v>
                </c:pt>
                <c:pt idx="121">
                  <c:v>91.856920800444385</c:v>
                </c:pt>
                <c:pt idx="122">
                  <c:v>93.241666964890953</c:v>
                </c:pt>
                <c:pt idx="123">
                  <c:v>93.241666964890953</c:v>
                </c:pt>
                <c:pt idx="124">
                  <c:v>93.241666964890953</c:v>
                </c:pt>
                <c:pt idx="125">
                  <c:v>92.549319815215043</c:v>
                </c:pt>
                <c:pt idx="126">
                  <c:v>91.747589180733769</c:v>
                </c:pt>
                <c:pt idx="127">
                  <c:v>91.99913489021975</c:v>
                </c:pt>
                <c:pt idx="128">
                  <c:v>92.984467960078391</c:v>
                </c:pt>
                <c:pt idx="129">
                  <c:v>92.988513437468058</c:v>
                </c:pt>
                <c:pt idx="130">
                  <c:v>92.988513437468058</c:v>
                </c:pt>
                <c:pt idx="131">
                  <c:v>92.988513437468058</c:v>
                </c:pt>
                <c:pt idx="132">
                  <c:v>97.030982651644464</c:v>
                </c:pt>
                <c:pt idx="133">
                  <c:v>98.595960020310386</c:v>
                </c:pt>
                <c:pt idx="134">
                  <c:v>99.305111460681843</c:v>
                </c:pt>
                <c:pt idx="135">
                  <c:v>99.12622874892574</c:v>
                </c:pt>
                <c:pt idx="136">
                  <c:v>99.638552154761285</c:v>
                </c:pt>
                <c:pt idx="137">
                  <c:v>99.638552154761285</c:v>
                </c:pt>
                <c:pt idx="138">
                  <c:v>99.638552154761285</c:v>
                </c:pt>
                <c:pt idx="139">
                  <c:v>99.661165336067654</c:v>
                </c:pt>
                <c:pt idx="140">
                  <c:v>99.283846771838697</c:v>
                </c:pt>
                <c:pt idx="141">
                  <c:v>97.883126158212391</c:v>
                </c:pt>
                <c:pt idx="142">
                  <c:v>98.158477946183737</c:v>
                </c:pt>
                <c:pt idx="143">
                  <c:v>97.180717180157032</c:v>
                </c:pt>
                <c:pt idx="144">
                  <c:v>97.180717180157032</c:v>
                </c:pt>
                <c:pt idx="145">
                  <c:v>97.180717180157032</c:v>
                </c:pt>
                <c:pt idx="146">
                  <c:v>97.180717180157032</c:v>
                </c:pt>
                <c:pt idx="147">
                  <c:v>99.576625231642481</c:v>
                </c:pt>
                <c:pt idx="148">
                  <c:v>99.067206271112326</c:v>
                </c:pt>
                <c:pt idx="149">
                  <c:v>99.455831425994461</c:v>
                </c:pt>
                <c:pt idx="150">
                  <c:v>99.133749187662957</c:v>
                </c:pt>
                <c:pt idx="151">
                  <c:v>99.133749187662957</c:v>
                </c:pt>
                <c:pt idx="152">
                  <c:v>99.133749187662957</c:v>
                </c:pt>
                <c:pt idx="153">
                  <c:v>99.801979068285064</c:v>
                </c:pt>
                <c:pt idx="154">
                  <c:v>100.61288982453517</c:v>
                </c:pt>
                <c:pt idx="155">
                  <c:v>100.93201575246657</c:v>
                </c:pt>
                <c:pt idx="156">
                  <c:v>100.09159375730974</c:v>
                </c:pt>
                <c:pt idx="157">
                  <c:v>101.29227070052626</c:v>
                </c:pt>
                <c:pt idx="158">
                  <c:v>101.29227070052626</c:v>
                </c:pt>
                <c:pt idx="159">
                  <c:v>101.29227070052626</c:v>
                </c:pt>
                <c:pt idx="160">
                  <c:v>101.61015186618391</c:v>
                </c:pt>
                <c:pt idx="161">
                  <c:v>102.25198241358369</c:v>
                </c:pt>
                <c:pt idx="162">
                  <c:v>101.73794745962172</c:v>
                </c:pt>
                <c:pt idx="163">
                  <c:v>101.97963880110721</c:v>
                </c:pt>
                <c:pt idx="164">
                  <c:v>100.65370765409509</c:v>
                </c:pt>
                <c:pt idx="165">
                  <c:v>100.65370765409509</c:v>
                </c:pt>
                <c:pt idx="166">
                  <c:v>100.65370765409509</c:v>
                </c:pt>
                <c:pt idx="167">
                  <c:v>102.18051231303281</c:v>
                </c:pt>
                <c:pt idx="168">
                  <c:v>101.24631822658718</c:v>
                </c:pt>
                <c:pt idx="169">
                  <c:v>101.37691453514093</c:v>
                </c:pt>
                <c:pt idx="170">
                  <c:v>101.37691453514093</c:v>
                </c:pt>
                <c:pt idx="171">
                  <c:v>100.86417620854746</c:v>
                </c:pt>
                <c:pt idx="172">
                  <c:v>100.86417620854746</c:v>
                </c:pt>
                <c:pt idx="173">
                  <c:v>100.86417620854746</c:v>
                </c:pt>
                <c:pt idx="174">
                  <c:v>101.81621188758345</c:v>
                </c:pt>
                <c:pt idx="175">
                  <c:v>103.27652549506527</c:v>
                </c:pt>
                <c:pt idx="176">
                  <c:v>103.59300630316494</c:v>
                </c:pt>
                <c:pt idx="177">
                  <c:v>104.60105628451946</c:v>
                </c:pt>
                <c:pt idx="178">
                  <c:v>105.14849235949355</c:v>
                </c:pt>
                <c:pt idx="179">
                  <c:v>105.14849235949355</c:v>
                </c:pt>
                <c:pt idx="180">
                  <c:v>105.14849235949355</c:v>
                </c:pt>
                <c:pt idx="181">
                  <c:v>105.64779762654952</c:v>
                </c:pt>
                <c:pt idx="182">
                  <c:v>104.78248038591779</c:v>
                </c:pt>
                <c:pt idx="183">
                  <c:v>105.76916194823967</c:v>
                </c:pt>
                <c:pt idx="184">
                  <c:v>106.84780032353444</c:v>
                </c:pt>
                <c:pt idx="185">
                  <c:v>106.84780032353444</c:v>
                </c:pt>
                <c:pt idx="186">
                  <c:v>106.84780032353444</c:v>
                </c:pt>
                <c:pt idx="187">
                  <c:v>106.84780032353444</c:v>
                </c:pt>
                <c:pt idx="188">
                  <c:v>105.86972836693931</c:v>
                </c:pt>
                <c:pt idx="189">
                  <c:v>105.9005362332145</c:v>
                </c:pt>
                <c:pt idx="190">
                  <c:v>106.90091018054757</c:v>
                </c:pt>
                <c:pt idx="191">
                  <c:v>107.00111354358405</c:v>
                </c:pt>
                <c:pt idx="192">
                  <c:v>106.76704637102526</c:v>
                </c:pt>
                <c:pt idx="193">
                  <c:v>106.76704637102526</c:v>
                </c:pt>
                <c:pt idx="194">
                  <c:v>106.76704637102526</c:v>
                </c:pt>
                <c:pt idx="195">
                  <c:v>107.05126709019703</c:v>
                </c:pt>
                <c:pt idx="196">
                  <c:v>107.24560560018546</c:v>
                </c:pt>
                <c:pt idx="197">
                  <c:v>107.51888278436724</c:v>
                </c:pt>
                <c:pt idx="198">
                  <c:v>108.32362159434339</c:v>
                </c:pt>
                <c:pt idx="199">
                  <c:v>108.3755385541775</c:v>
                </c:pt>
                <c:pt idx="200">
                  <c:v>108.3755385541775</c:v>
                </c:pt>
                <c:pt idx="201">
                  <c:v>108.3755385541775</c:v>
                </c:pt>
                <c:pt idx="202">
                  <c:v>108.78273141297632</c:v>
                </c:pt>
                <c:pt idx="203">
                  <c:v>108.36013462103989</c:v>
                </c:pt>
                <c:pt idx="204">
                  <c:v>109.02053287235638</c:v>
                </c:pt>
                <c:pt idx="205">
                  <c:v>109.21730904179756</c:v>
                </c:pt>
                <c:pt idx="206">
                  <c:v>109.47850165890505</c:v>
                </c:pt>
                <c:pt idx="207">
                  <c:v>109.47850165890505</c:v>
                </c:pt>
                <c:pt idx="208">
                  <c:v>109.47850165890505</c:v>
                </c:pt>
                <c:pt idx="209">
                  <c:v>109.8429058145439</c:v>
                </c:pt>
                <c:pt idx="210">
                  <c:v>109.42648096888146</c:v>
                </c:pt>
                <c:pt idx="211">
                  <c:v>109.58923363617362</c:v>
                </c:pt>
                <c:pt idx="212">
                  <c:v>109.5517870377718</c:v>
                </c:pt>
                <c:pt idx="213">
                  <c:v>107.10209488304162</c:v>
                </c:pt>
                <c:pt idx="214">
                  <c:v>107.10209488304162</c:v>
                </c:pt>
                <c:pt idx="215">
                  <c:v>107.10209488304162</c:v>
                </c:pt>
                <c:pt idx="216">
                  <c:v>109.19459213030171</c:v>
                </c:pt>
                <c:pt idx="217">
                  <c:v>108.48388473708806</c:v>
                </c:pt>
                <c:pt idx="218">
                  <c:v>109.79539738776263</c:v>
                </c:pt>
                <c:pt idx="219">
                  <c:v>110.17546480201278</c:v>
                </c:pt>
                <c:pt idx="220">
                  <c:v>111.25073194614951</c:v>
                </c:pt>
                <c:pt idx="221">
                  <c:v>111.25073194614951</c:v>
                </c:pt>
                <c:pt idx="222">
                  <c:v>111.25073194614951</c:v>
                </c:pt>
                <c:pt idx="223">
                  <c:v>110.91557970394368</c:v>
                </c:pt>
                <c:pt idx="224">
                  <c:v>112.45337976296614</c:v>
                </c:pt>
                <c:pt idx="225">
                  <c:v>112.61540631893195</c:v>
                </c:pt>
                <c:pt idx="226">
                  <c:v>112.60259564053132</c:v>
                </c:pt>
                <c:pt idx="227">
                  <c:v>112.14779062476174</c:v>
                </c:pt>
                <c:pt idx="228">
                  <c:v>112.14779062476174</c:v>
                </c:pt>
                <c:pt idx="229">
                  <c:v>112.14779062476174</c:v>
                </c:pt>
                <c:pt idx="230">
                  <c:v>112.18300702408979</c:v>
                </c:pt>
                <c:pt idx="231">
                  <c:v>110.55019011150478</c:v>
                </c:pt>
                <c:pt idx="232">
                  <c:v>109.81323898035298</c:v>
                </c:pt>
                <c:pt idx="233">
                  <c:v>109.43695771801882</c:v>
                </c:pt>
                <c:pt idx="234">
                  <c:v>111.49200836687709</c:v>
                </c:pt>
                <c:pt idx="235">
                  <c:v>111.49200836687709</c:v>
                </c:pt>
                <c:pt idx="236">
                  <c:v>111.49200836687709</c:v>
                </c:pt>
                <c:pt idx="237">
                  <c:v>111.24694579423353</c:v>
                </c:pt>
                <c:pt idx="238">
                  <c:v>111.73956046406812</c:v>
                </c:pt>
                <c:pt idx="239">
                  <c:v>111.97746565363762</c:v>
                </c:pt>
                <c:pt idx="240">
                  <c:v>112.57401797332993</c:v>
                </c:pt>
                <c:pt idx="241">
                  <c:v>111.27941334354037</c:v>
                </c:pt>
                <c:pt idx="242">
                  <c:v>111.27941334354037</c:v>
                </c:pt>
                <c:pt idx="243">
                  <c:v>111.27941334354037</c:v>
                </c:pt>
                <c:pt idx="244">
                  <c:v>111.27941334354037</c:v>
                </c:pt>
                <c:pt idx="245">
                  <c:v>110.3670025968853</c:v>
                </c:pt>
                <c:pt idx="246">
                  <c:v>111.49818031315107</c:v>
                </c:pt>
                <c:pt idx="247">
                  <c:v>112.58713984229898</c:v>
                </c:pt>
                <c:pt idx="248">
                  <c:v>112.54927832313923</c:v>
                </c:pt>
                <c:pt idx="249">
                  <c:v>112.54927832313923</c:v>
                </c:pt>
                <c:pt idx="250">
                  <c:v>112.54927832313923</c:v>
                </c:pt>
                <c:pt idx="251">
                  <c:v>113.05916406952205</c:v>
                </c:pt>
                <c:pt idx="252">
                  <c:v>113.47818216992147</c:v>
                </c:pt>
                <c:pt idx="253">
                  <c:v>113.51225753716523</c:v>
                </c:pt>
                <c:pt idx="254">
                  <c:v>114.32659138966817</c:v>
                </c:pt>
                <c:pt idx="255">
                  <c:v>114.83502491339826</c:v>
                </c:pt>
                <c:pt idx="256">
                  <c:v>114.83502491339826</c:v>
                </c:pt>
                <c:pt idx="257">
                  <c:v>114.83502491339826</c:v>
                </c:pt>
                <c:pt idx="258">
                  <c:v>115.91200360566138</c:v>
                </c:pt>
                <c:pt idx="259">
                  <c:v>115.83529513054185</c:v>
                </c:pt>
                <c:pt idx="260">
                  <c:v>115.45859894744976</c:v>
                </c:pt>
                <c:pt idx="261">
                  <c:v>116.54460216619755</c:v>
                </c:pt>
                <c:pt idx="262">
                  <c:v>117.37838542922773</c:v>
                </c:pt>
                <c:pt idx="263">
                  <c:v>117.37838542922773</c:v>
                </c:pt>
                <c:pt idx="264">
                  <c:v>117.37838542922773</c:v>
                </c:pt>
                <c:pt idx="265">
                  <c:v>118.19526067137289</c:v>
                </c:pt>
                <c:pt idx="266">
                  <c:v>117.07751601464463</c:v>
                </c:pt>
                <c:pt idx="267">
                  <c:v>116.68536403332021</c:v>
                </c:pt>
                <c:pt idx="268">
                  <c:v>116.09845862124943</c:v>
                </c:pt>
                <c:pt idx="269">
                  <c:v>116.6138420676746</c:v>
                </c:pt>
                <c:pt idx="270">
                  <c:v>116.6138420676746</c:v>
                </c:pt>
                <c:pt idx="271">
                  <c:v>116.6138420676746</c:v>
                </c:pt>
                <c:pt idx="272">
                  <c:v>117.16921350214385</c:v>
                </c:pt>
                <c:pt idx="273">
                  <c:v>117.52635654451917</c:v>
                </c:pt>
                <c:pt idx="274">
                  <c:v>118.01985292096433</c:v>
                </c:pt>
                <c:pt idx="275">
                  <c:v>118.48088174810263</c:v>
                </c:pt>
                <c:pt idx="276">
                  <c:v>118.15133093612864</c:v>
                </c:pt>
                <c:pt idx="277">
                  <c:v>118.15133093612864</c:v>
                </c:pt>
                <c:pt idx="278">
                  <c:v>118.15133093612864</c:v>
                </c:pt>
                <c:pt idx="279">
                  <c:v>118.98718880294841</c:v>
                </c:pt>
                <c:pt idx="280">
                  <c:v>118.19204503549908</c:v>
                </c:pt>
                <c:pt idx="281">
                  <c:v>119.51470868154261</c:v>
                </c:pt>
                <c:pt idx="282">
                  <c:v>119.41746162890627</c:v>
                </c:pt>
                <c:pt idx="283">
                  <c:v>115.16348655838271</c:v>
                </c:pt>
                <c:pt idx="284">
                  <c:v>115.16348655838271</c:v>
                </c:pt>
                <c:pt idx="285">
                  <c:v>115.16348655838271</c:v>
                </c:pt>
                <c:pt idx="286">
                  <c:v>117.70580977231742</c:v>
                </c:pt>
                <c:pt idx="287">
                  <c:v>116.80901041917889</c:v>
                </c:pt>
                <c:pt idx="288">
                  <c:v>117.57858469492173</c:v>
                </c:pt>
                <c:pt idx="289">
                  <c:v>117.02082746609447</c:v>
                </c:pt>
                <c:pt idx="290">
                  <c:v>117.62987927361898</c:v>
                </c:pt>
                <c:pt idx="291">
                  <c:v>117.62987927361898</c:v>
                </c:pt>
                <c:pt idx="292">
                  <c:v>117.62987927361898</c:v>
                </c:pt>
                <c:pt idx="293">
                  <c:v>119.24065352093976</c:v>
                </c:pt>
                <c:pt idx="294">
                  <c:v>119.04942691663567</c:v>
                </c:pt>
                <c:pt idx="295">
                  <c:v>117.94330004112904</c:v>
                </c:pt>
                <c:pt idx="296">
                  <c:v>118.98786304918004</c:v>
                </c:pt>
                <c:pt idx="297">
                  <c:v>120.35227809648879</c:v>
                </c:pt>
                <c:pt idx="298">
                  <c:v>120.35227809648879</c:v>
                </c:pt>
                <c:pt idx="299">
                  <c:v>120.35227809648879</c:v>
                </c:pt>
                <c:pt idx="300">
                  <c:v>122.59591022981941</c:v>
                </c:pt>
                <c:pt idx="301">
                  <c:v>123.58150262515177</c:v>
                </c:pt>
                <c:pt idx="302">
                  <c:v>124.26083163604811</c:v>
                </c:pt>
                <c:pt idx="303">
                  <c:v>122.30380601624724</c:v>
                </c:pt>
                <c:pt idx="304">
                  <c:v>123.04972980878894</c:v>
                </c:pt>
                <c:pt idx="305">
                  <c:v>123.04972980878894</c:v>
                </c:pt>
                <c:pt idx="306">
                  <c:v>123.04972980878894</c:v>
                </c:pt>
                <c:pt idx="307">
                  <c:v>123.61900108864833</c:v>
                </c:pt>
                <c:pt idx="308">
                  <c:v>121.09794256355677</c:v>
                </c:pt>
                <c:pt idx="309">
                  <c:v>121.88193533563718</c:v>
                </c:pt>
                <c:pt idx="310">
                  <c:v>119.56973754706108</c:v>
                </c:pt>
                <c:pt idx="311">
                  <c:v>119.31326465357488</c:v>
                </c:pt>
                <c:pt idx="312">
                  <c:v>119.31326465357488</c:v>
                </c:pt>
                <c:pt idx="313">
                  <c:v>119.31326465357488</c:v>
                </c:pt>
                <c:pt idx="314">
                  <c:v>122.02389009993884</c:v>
                </c:pt>
                <c:pt idx="315">
                  <c:v>121.71856028720813</c:v>
                </c:pt>
                <c:pt idx="316">
                  <c:v>121.39782654133984</c:v>
                </c:pt>
                <c:pt idx="317">
                  <c:v>118.61733881236194</c:v>
                </c:pt>
                <c:pt idx="318">
                  <c:v>118.77412699375907</c:v>
                </c:pt>
                <c:pt idx="319">
                  <c:v>118.77412699375907</c:v>
                </c:pt>
                <c:pt idx="320">
                  <c:v>118.77412699375907</c:v>
                </c:pt>
                <c:pt idx="321">
                  <c:v>117.7756201898366</c:v>
                </c:pt>
                <c:pt idx="322">
                  <c:v>116.34818905241953</c:v>
                </c:pt>
                <c:pt idx="323">
                  <c:v>117.02959266710545</c:v>
                </c:pt>
                <c:pt idx="324">
                  <c:v>114.50801549106649</c:v>
                </c:pt>
                <c:pt idx="325">
                  <c:v>115.51954043376853</c:v>
                </c:pt>
                <c:pt idx="326">
                  <c:v>115.51954043376853</c:v>
                </c:pt>
                <c:pt idx="327">
                  <c:v>115.51954043376853</c:v>
                </c:pt>
                <c:pt idx="328">
                  <c:v>118.62589655299391</c:v>
                </c:pt>
                <c:pt idx="329">
                  <c:v>119.42244067800125</c:v>
                </c:pt>
                <c:pt idx="330">
                  <c:v>120.40320961952284</c:v>
                </c:pt>
                <c:pt idx="331">
                  <c:v>120.40320961952284</c:v>
                </c:pt>
                <c:pt idx="332">
                  <c:v>121.1863725500874</c:v>
                </c:pt>
                <c:pt idx="333">
                  <c:v>121.1863725500874</c:v>
                </c:pt>
                <c:pt idx="334">
                  <c:v>121.1863725500874</c:v>
                </c:pt>
                <c:pt idx="335">
                  <c:v>120.72077959461203</c:v>
                </c:pt>
                <c:pt idx="336">
                  <c:v>121.43522127464692</c:v>
                </c:pt>
                <c:pt idx="337">
                  <c:v>121.6448599875835</c:v>
                </c:pt>
                <c:pt idx="338">
                  <c:v>121.909631296228</c:v>
                </c:pt>
                <c:pt idx="339">
                  <c:v>122.2881946227307</c:v>
                </c:pt>
                <c:pt idx="340">
                  <c:v>122.2881946227307</c:v>
                </c:pt>
                <c:pt idx="341">
                  <c:v>122.2881946227307</c:v>
                </c:pt>
                <c:pt idx="342">
                  <c:v>122.12103342238569</c:v>
                </c:pt>
                <c:pt idx="343">
                  <c:v>122.27968874719346</c:v>
                </c:pt>
                <c:pt idx="344">
                  <c:v>122.68247307293944</c:v>
                </c:pt>
                <c:pt idx="345">
                  <c:v>122.36977841675574</c:v>
                </c:pt>
                <c:pt idx="346">
                  <c:v>120.30196895459157</c:v>
                </c:pt>
                <c:pt idx="347">
                  <c:v>120.30196895459157</c:v>
                </c:pt>
                <c:pt idx="348">
                  <c:v>120.30196895459157</c:v>
                </c:pt>
                <c:pt idx="349">
                  <c:v>119.58747540946194</c:v>
                </c:pt>
                <c:pt idx="350">
                  <c:v>119.86780624652826</c:v>
                </c:pt>
                <c:pt idx="351">
                  <c:v>117.69911917509603</c:v>
                </c:pt>
                <c:pt idx="352">
                  <c:v>119.32270410081745</c:v>
                </c:pt>
                <c:pt idx="353">
                  <c:v>120.88519194493585</c:v>
                </c:pt>
                <c:pt idx="354">
                  <c:v>120.88519194493585</c:v>
                </c:pt>
                <c:pt idx="355">
                  <c:v>120.88519194493585</c:v>
                </c:pt>
                <c:pt idx="356">
                  <c:v>121.51384875827185</c:v>
                </c:pt>
                <c:pt idx="357">
                  <c:v>122.20370638340026</c:v>
                </c:pt>
                <c:pt idx="358">
                  <c:v>122.47065602602383</c:v>
                </c:pt>
                <c:pt idx="359">
                  <c:v>122.47065602602383</c:v>
                </c:pt>
                <c:pt idx="360">
                  <c:v>122.36583666955553</c:v>
                </c:pt>
                <c:pt idx="361">
                  <c:v>122.36583666955553</c:v>
                </c:pt>
                <c:pt idx="362">
                  <c:v>122.36583666955553</c:v>
                </c:pt>
                <c:pt idx="363">
                  <c:v>121.74993866952546</c:v>
                </c:pt>
                <c:pt idx="364">
                  <c:v>121.46328029090094</c:v>
                </c:pt>
                <c:pt idx="365">
                  <c:v>120.54480132816134</c:v>
                </c:pt>
                <c:pt idx="366">
                  <c:v>120.54480132816134</c:v>
                </c:pt>
                <c:pt idx="367">
                  <c:v>120.5118151279071</c:v>
                </c:pt>
                <c:pt idx="368">
                  <c:v>120.5118151279071</c:v>
                </c:pt>
                <c:pt idx="369">
                  <c:v>120.5118151279071</c:v>
                </c:pt>
                <c:pt idx="370">
                  <c:v>121.34264208053716</c:v>
                </c:pt>
                <c:pt idx="371">
                  <c:v>122.12762028941759</c:v>
                </c:pt>
                <c:pt idx="372">
                  <c:v>122.32009165599543</c:v>
                </c:pt>
                <c:pt idx="373">
                  <c:v>121.77934617824269</c:v>
                </c:pt>
                <c:pt idx="374">
                  <c:v>122.77168103589116</c:v>
                </c:pt>
                <c:pt idx="375">
                  <c:v>122.77168103589116</c:v>
                </c:pt>
                <c:pt idx="376">
                  <c:v>122.77168103589116</c:v>
                </c:pt>
                <c:pt idx="377">
                  <c:v>123.09609720348595</c:v>
                </c:pt>
                <c:pt idx="378">
                  <c:v>122.97146538082721</c:v>
                </c:pt>
                <c:pt idx="379">
                  <c:v>121.73645374489324</c:v>
                </c:pt>
                <c:pt idx="380">
                  <c:v>122.03867165193958</c:v>
                </c:pt>
                <c:pt idx="381">
                  <c:v>121.96279301833586</c:v>
                </c:pt>
                <c:pt idx="382">
                  <c:v>121.96279301833586</c:v>
                </c:pt>
                <c:pt idx="383">
                  <c:v>121.96279301833586</c:v>
                </c:pt>
                <c:pt idx="384">
                  <c:v>121.96279301833586</c:v>
                </c:pt>
                <c:pt idx="385">
                  <c:v>119.05279814779372</c:v>
                </c:pt>
                <c:pt idx="386">
                  <c:v>120.45574896049382</c:v>
                </c:pt>
                <c:pt idx="387">
                  <c:v>121.55113976138945</c:v>
                </c:pt>
                <c:pt idx="388">
                  <c:v>121.88940390927965</c:v>
                </c:pt>
                <c:pt idx="389">
                  <c:v>121.88940390927965</c:v>
                </c:pt>
                <c:pt idx="390">
                  <c:v>121.88940390927965</c:v>
                </c:pt>
                <c:pt idx="391">
                  <c:v>122.40867723781028</c:v>
                </c:pt>
                <c:pt idx="392">
                  <c:v>123.52761479171754</c:v>
                </c:pt>
                <c:pt idx="393">
                  <c:v>123.73689044899095</c:v>
                </c:pt>
                <c:pt idx="394">
                  <c:v>122.84309927134727</c:v>
                </c:pt>
                <c:pt idx="395">
                  <c:v>121.68495170581704</c:v>
                </c:pt>
                <c:pt idx="396">
                  <c:v>121.68495170581704</c:v>
                </c:pt>
                <c:pt idx="397">
                  <c:v>121.68495170581704</c:v>
                </c:pt>
                <c:pt idx="398">
                  <c:v>122.36070202517635</c:v>
                </c:pt>
                <c:pt idx="399">
                  <c:v>120.61326325321731</c:v>
                </c:pt>
                <c:pt idx="400">
                  <c:v>118.79482116656008</c:v>
                </c:pt>
                <c:pt idx="401">
                  <c:v>116.90698358314155</c:v>
                </c:pt>
                <c:pt idx="402">
                  <c:v>119.45158886124479</c:v>
                </c:pt>
                <c:pt idx="403">
                  <c:v>119.45158886124479</c:v>
                </c:pt>
                <c:pt idx="404">
                  <c:v>119.45158886124479</c:v>
                </c:pt>
                <c:pt idx="405">
                  <c:v>120.52758211670786</c:v>
                </c:pt>
                <c:pt idx="406">
                  <c:v>119.82117952635758</c:v>
                </c:pt>
                <c:pt idx="407">
                  <c:v>119.63446518529584</c:v>
                </c:pt>
                <c:pt idx="408">
                  <c:v>117.20033255898747</c:v>
                </c:pt>
                <c:pt idx="409">
                  <c:v>116.93851756074309</c:v>
                </c:pt>
                <c:pt idx="410">
                  <c:v>116.93851756074309</c:v>
                </c:pt>
                <c:pt idx="411">
                  <c:v>116.93851756074309</c:v>
                </c:pt>
                <c:pt idx="412">
                  <c:v>116.93851756074309</c:v>
                </c:pt>
                <c:pt idx="413">
                  <c:v>117.10298177616166</c:v>
                </c:pt>
                <c:pt idx="414">
                  <c:v>118.0119175614692</c:v>
                </c:pt>
                <c:pt idx="415">
                  <c:v>117.64419403976703</c:v>
                </c:pt>
                <c:pt idx="416">
                  <c:v>118.69881887619749</c:v>
                </c:pt>
                <c:pt idx="417">
                  <c:v>118.69881887619749</c:v>
                </c:pt>
                <c:pt idx="418">
                  <c:v>118.69881887619749</c:v>
                </c:pt>
                <c:pt idx="419">
                  <c:v>117.35655022434246</c:v>
                </c:pt>
                <c:pt idx="420">
                  <c:v>118.58269292907605</c:v>
                </c:pt>
                <c:pt idx="421">
                  <c:v>120.07848226135962</c:v>
                </c:pt>
                <c:pt idx="422">
                  <c:v>118.65893461834291</c:v>
                </c:pt>
                <c:pt idx="423">
                  <c:v>117.56888592220547</c:v>
                </c:pt>
                <c:pt idx="424">
                  <c:v>117.56888592220547</c:v>
                </c:pt>
                <c:pt idx="425">
                  <c:v>117.56888592220547</c:v>
                </c:pt>
                <c:pt idx="426">
                  <c:v>117.98717791127854</c:v>
                </c:pt>
                <c:pt idx="427">
                  <c:v>116.78302600671444</c:v>
                </c:pt>
                <c:pt idx="428">
                  <c:v>118.29121109664074</c:v>
                </c:pt>
                <c:pt idx="429">
                  <c:v>117.98785215751015</c:v>
                </c:pt>
                <c:pt idx="430">
                  <c:v>116.11391441948177</c:v>
                </c:pt>
                <c:pt idx="431">
                  <c:v>116.11391441948177</c:v>
                </c:pt>
                <c:pt idx="432">
                  <c:v>116.11391441948177</c:v>
                </c:pt>
                <c:pt idx="433">
                  <c:v>117.71275969501249</c:v>
                </c:pt>
                <c:pt idx="434">
                  <c:v>117.71872418090751</c:v>
                </c:pt>
                <c:pt idx="435">
                  <c:v>117.81742345619655</c:v>
                </c:pt>
                <c:pt idx="436">
                  <c:v>115.72129565230469</c:v>
                </c:pt>
                <c:pt idx="437">
                  <c:v>114.64965906479974</c:v>
                </c:pt>
                <c:pt idx="438">
                  <c:v>114.64965906479974</c:v>
                </c:pt>
                <c:pt idx="439">
                  <c:v>114.64965906479974</c:v>
                </c:pt>
                <c:pt idx="440">
                  <c:v>116.04389654158362</c:v>
                </c:pt>
                <c:pt idx="441">
                  <c:v>116.59029531466291</c:v>
                </c:pt>
                <c:pt idx="442">
                  <c:v>114.89373620064323</c:v>
                </c:pt>
                <c:pt idx="443">
                  <c:v>114.57357297081705</c:v>
                </c:pt>
                <c:pt idx="444">
                  <c:v>112.27553435310482</c:v>
                </c:pt>
                <c:pt idx="445">
                  <c:v>112.27553435310482</c:v>
                </c:pt>
                <c:pt idx="446">
                  <c:v>112.27553435310482</c:v>
                </c:pt>
                <c:pt idx="447">
                  <c:v>113.82707866223323</c:v>
                </c:pt>
                <c:pt idx="448">
                  <c:v>112.8682486557864</c:v>
                </c:pt>
                <c:pt idx="449">
                  <c:v>113.73927105683947</c:v>
                </c:pt>
                <c:pt idx="450">
                  <c:v>111.03320973881256</c:v>
                </c:pt>
                <c:pt idx="451">
                  <c:v>108.64886760345401</c:v>
                </c:pt>
                <c:pt idx="452">
                  <c:v>108.64886760345401</c:v>
                </c:pt>
                <c:pt idx="453">
                  <c:v>108.64886760345401</c:v>
                </c:pt>
                <c:pt idx="454">
                  <c:v>107.85159736712033</c:v>
                </c:pt>
                <c:pt idx="455">
                  <c:v>111.98000704327985</c:v>
                </c:pt>
                <c:pt idx="456">
                  <c:v>113.27829409479591</c:v>
                </c:pt>
                <c:pt idx="457">
                  <c:v>113.47657435198452</c:v>
                </c:pt>
                <c:pt idx="458">
                  <c:v>113.47657435198452</c:v>
                </c:pt>
                <c:pt idx="459">
                  <c:v>113.47657435198452</c:v>
                </c:pt>
                <c:pt idx="460">
                  <c:v>113.47657435198452</c:v>
                </c:pt>
                <c:pt idx="461">
                  <c:v>114.08422580195105</c:v>
                </c:pt>
                <c:pt idx="462">
                  <c:v>114.19578762073543</c:v>
                </c:pt>
                <c:pt idx="463">
                  <c:v>117.39659007748126</c:v>
                </c:pt>
                <c:pt idx="464">
                  <c:v>118.36869754818136</c:v>
                </c:pt>
                <c:pt idx="465">
                  <c:v>118.78605596554912</c:v>
                </c:pt>
                <c:pt idx="466">
                  <c:v>118.78605596554912</c:v>
                </c:pt>
                <c:pt idx="467">
                  <c:v>118.78605596554912</c:v>
                </c:pt>
                <c:pt idx="468">
                  <c:v>120.24268715130448</c:v>
                </c:pt>
                <c:pt idx="469">
                  <c:v>122.6043123751672</c:v>
                </c:pt>
                <c:pt idx="470">
                  <c:v>124.55931525627322</c:v>
                </c:pt>
                <c:pt idx="471">
                  <c:v>125.00888189747413</c:v>
                </c:pt>
                <c:pt idx="472">
                  <c:v>126.90600333285099</c:v>
                </c:pt>
                <c:pt idx="473">
                  <c:v>126.90600333285099</c:v>
                </c:pt>
                <c:pt idx="474">
                  <c:v>126.90600333285099</c:v>
                </c:pt>
                <c:pt idx="475">
                  <c:v>126.57359994066633</c:v>
                </c:pt>
                <c:pt idx="476">
                  <c:v>125.82451237734553</c:v>
                </c:pt>
                <c:pt idx="477">
                  <c:v>127.88672040927781</c:v>
                </c:pt>
                <c:pt idx="478">
                  <c:v>126.75051177882233</c:v>
                </c:pt>
                <c:pt idx="479">
                  <c:v>128.81526120039686</c:v>
                </c:pt>
                <c:pt idx="480">
                  <c:v>128.81526120039686</c:v>
                </c:pt>
                <c:pt idx="481">
                  <c:v>128.81526120039686</c:v>
                </c:pt>
                <c:pt idx="482">
                  <c:v>129.0771799288307</c:v>
                </c:pt>
                <c:pt idx="483">
                  <c:v>127.91903236330046</c:v>
                </c:pt>
                <c:pt idx="484">
                  <c:v>127.96799301273445</c:v>
                </c:pt>
                <c:pt idx="485">
                  <c:v>129.10420164318995</c:v>
                </c:pt>
                <c:pt idx="486">
                  <c:v>130.25628099263565</c:v>
                </c:pt>
                <c:pt idx="487">
                  <c:v>130.25628099263565</c:v>
                </c:pt>
                <c:pt idx="488">
                  <c:v>130.25628099263565</c:v>
                </c:pt>
                <c:pt idx="489">
                  <c:v>130.01438219077122</c:v>
                </c:pt>
              </c:numCache>
            </c:numRef>
          </c:val>
          <c:smooth val="0"/>
          <c:extLst>
            <c:ext xmlns:c16="http://schemas.microsoft.com/office/drawing/2014/chart" uri="{C3380CC4-5D6E-409C-BE32-E72D297353CC}">
              <c16:uniqueId val="{00000002-96E7-454A-A66A-36F382D4E673}"/>
            </c:ext>
          </c:extLst>
        </c:ser>
        <c:ser>
          <c:idx val="4"/>
          <c:order val="3"/>
          <c:tx>
            <c:strRef>
              <c:f>'BBG (Global Markets)'!$U$11</c:f>
              <c:strCache>
                <c:ptCount val="1"/>
                <c:pt idx="0">
                  <c:v>STI 30.0%</c:v>
                </c:pt>
              </c:strCache>
            </c:strRef>
          </c:tx>
          <c:spPr>
            <a:ln w="15875" cap="rnd">
              <a:solidFill>
                <a:srgbClr val="CC0000"/>
              </a:solidFill>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Markets)'!$U$12:$U$501</c:f>
              <c:numCache>
                <c:formatCode>General</c:formatCode>
                <c:ptCount val="490"/>
                <c:pt idx="1">
                  <c:v>100</c:v>
                </c:pt>
                <c:pt idx="2" formatCode="_(* #,##0_);_(* \(#,##0\);_(* &quot;   -&quot;?_);_(@_)">
                  <c:v>100.34876966944768</c:v>
                </c:pt>
                <c:pt idx="3" formatCode="_(* #,##0_);_(* \(#,##0\);_(* &quot;   -&quot;?_);_(@_)">
                  <c:v>100.37569965149436</c:v>
                </c:pt>
                <c:pt idx="4" formatCode="_(* #,##0_);_(* \(#,##0\);_(* &quot;   -&quot;?_);_(@_)">
                  <c:v>100.37569965149436</c:v>
                </c:pt>
                <c:pt idx="5" formatCode="_(* #,##0_);_(* \(#,##0\);_(* &quot;   -&quot;?_);_(@_)">
                  <c:v>100.37569965149436</c:v>
                </c:pt>
                <c:pt idx="6" formatCode="_(* #,##0_);_(* \(#,##0\);_(* &quot;   -&quot;?_);_(@_)">
                  <c:v>100.90400253458655</c:v>
                </c:pt>
                <c:pt idx="7" formatCode="_(* #,##0_);_(* \(#,##0\);_(* &quot;   -&quot;?_);_(@_)">
                  <c:v>101.07112683493507</c:v>
                </c:pt>
                <c:pt idx="8" formatCode="_(* #,##0_);_(* \(#,##0\);_(* &quot;   -&quot;?_);_(@_)">
                  <c:v>102.62382511352837</c:v>
                </c:pt>
                <c:pt idx="9" formatCode="_(* #,##0_);_(* \(#,##0\);_(* &quot;   -&quot;?_);_(@_)">
                  <c:v>101.98014573872638</c:v>
                </c:pt>
                <c:pt idx="10" formatCode="_(* #,##0_);_(* \(#,##0\);_(* &quot;   -&quot;?_);_(@_)">
                  <c:v>100.36857112683492</c:v>
                </c:pt>
                <c:pt idx="11" formatCode="_(* #,##0_);_(* \(#,##0\);_(* &quot;   -&quot;?_);_(@_)">
                  <c:v>100.36857112683492</c:v>
                </c:pt>
                <c:pt idx="12" formatCode="_(* #,##0_);_(* \(#,##0\);_(* &quot;   -&quot;?_);_(@_)">
                  <c:v>100.36857112683492</c:v>
                </c:pt>
                <c:pt idx="13" formatCode="_(* #,##0_);_(* \(#,##0\);_(* &quot;   -&quot;?_);_(@_)">
                  <c:v>100.10824796705037</c:v>
                </c:pt>
                <c:pt idx="14" formatCode="_(* #,##0_);_(* \(#,##0\);_(* &quot;   -&quot;?_);_(@_)">
                  <c:v>100.03089027352414</c:v>
                </c:pt>
                <c:pt idx="15" formatCode="_(* #,##0_);_(* \(#,##0\);_(* &quot;   -&quot;?_);_(@_)">
                  <c:v>99.603442813391069</c:v>
                </c:pt>
                <c:pt idx="16" formatCode="_(* #,##0_);_(* \(#,##0\);_(* &quot;   -&quot;?_);_(@_)">
                  <c:v>100.35721829126625</c:v>
                </c:pt>
                <c:pt idx="17" formatCode="_(* #,##0_);_(* \(#,##0\);_(* &quot;   -&quot;?_);_(@_)">
                  <c:v>100.61199704298238</c:v>
                </c:pt>
                <c:pt idx="18" formatCode="_(* #,##0_);_(* \(#,##0\);_(* &quot;   -&quot;?_);_(@_)">
                  <c:v>100.61199704298238</c:v>
                </c:pt>
                <c:pt idx="19" formatCode="_(* #,##0_);_(* \(#,##0\);_(* &quot;   -&quot;?_);_(@_)">
                  <c:v>100.61199704298238</c:v>
                </c:pt>
                <c:pt idx="20" formatCode="_(* #,##0_);_(* \(#,##0\);_(* &quot;   -&quot;?_);_(@_)">
                  <c:v>100.53780758263808</c:v>
                </c:pt>
                <c:pt idx="21" formatCode="_(* #,##0_);_(* \(#,##0\);_(* &quot;   -&quot;?_);_(@_)">
                  <c:v>100.20514309853206</c:v>
                </c:pt>
                <c:pt idx="22" formatCode="_(* #,##0_);_(* \(#,##0\);_(* &quot;   -&quot;?_);_(@_)">
                  <c:v>99.831291583060519</c:v>
                </c:pt>
                <c:pt idx="23" formatCode="_(* #,##0_);_(* \(#,##0\);_(* &quot;   -&quot;?_);_(@_)">
                  <c:v>100.50084486218186</c:v>
                </c:pt>
                <c:pt idx="24" formatCode="_(* #,##0_);_(* \(#,##0\);_(* &quot;   -&quot;?_);_(@_)">
                  <c:v>100.43985637342909</c:v>
                </c:pt>
                <c:pt idx="25" formatCode="_(* #,##0_);_(* \(#,##0\);_(* &quot;   -&quot;?_);_(@_)">
                  <c:v>100.43985637342909</c:v>
                </c:pt>
                <c:pt idx="26" formatCode="_(* #,##0_);_(* \(#,##0\);_(* &quot;   -&quot;?_);_(@_)">
                  <c:v>100.43985637342909</c:v>
                </c:pt>
                <c:pt idx="27" formatCode="_(* #,##0_);_(* \(#,##0\);_(* &quot;   -&quot;?_);_(@_)">
                  <c:v>100.2405217023973</c:v>
                </c:pt>
                <c:pt idx="28" formatCode="_(* #,##0_);_(* \(#,##0\);_(* &quot;   -&quot;?_);_(@_)">
                  <c:v>100.35563417467526</c:v>
                </c:pt>
                <c:pt idx="29" formatCode="_(* #,##0_);_(* \(#,##0\);_(* &quot;   -&quot;?_);_(@_)">
                  <c:v>100.35563417467526</c:v>
                </c:pt>
                <c:pt idx="30" formatCode="_(* #,##0_);_(* \(#,##0\);_(* &quot;   -&quot;?_);_(@_)">
                  <c:v>100.35563417467526</c:v>
                </c:pt>
                <c:pt idx="31" formatCode="_(* #,##0_);_(* \(#,##0\);_(* &quot;   -&quot;?_);_(@_)">
                  <c:v>101.80114056394551</c:v>
                </c:pt>
                <c:pt idx="32" formatCode="_(* #,##0_);_(* \(#,##0\);_(* &quot;   -&quot;?_);_(@_)">
                  <c:v>101.80114056394551</c:v>
                </c:pt>
                <c:pt idx="33" formatCode="_(* #,##0_);_(* \(#,##0\);_(* &quot;   -&quot;?_);_(@_)">
                  <c:v>101.80114056394551</c:v>
                </c:pt>
                <c:pt idx="34" formatCode="_(* #,##0_);_(* \(#,##0\);_(* &quot;   -&quot;?_);_(@_)">
                  <c:v>101.02624353152392</c:v>
                </c:pt>
                <c:pt idx="35" formatCode="_(* #,##0_);_(* \(#,##0\);_(* &quot;   -&quot;?_);_(@_)">
                  <c:v>100.93489280811067</c:v>
                </c:pt>
                <c:pt idx="36" formatCode="_(* #,##0_);_(* \(#,##0\);_(* &quot;   -&quot;?_);_(@_)">
                  <c:v>100.7331819621924</c:v>
                </c:pt>
                <c:pt idx="37" formatCode="_(* #,##0_);_(* \(#,##0\);_(* &quot;   -&quot;?_);_(@_)">
                  <c:v>101.13053120709685</c:v>
                </c:pt>
                <c:pt idx="38" formatCode="_(* #,##0_);_(* \(#,##0\);_(* &quot;   -&quot;?_);_(@_)">
                  <c:v>101.9489914457704</c:v>
                </c:pt>
                <c:pt idx="39" formatCode="_(* #,##0_);_(* \(#,##0\);_(* &quot;   -&quot;?_);_(@_)">
                  <c:v>101.9489914457704</c:v>
                </c:pt>
                <c:pt idx="40" formatCode="_(* #,##0_);_(* \(#,##0\);_(* &quot;   -&quot;?_);_(@_)">
                  <c:v>101.9489914457704</c:v>
                </c:pt>
                <c:pt idx="41" formatCode="_(* #,##0_);_(* \(#,##0\);_(* &quot;   -&quot;?_);_(@_)">
                  <c:v>102.31096208680958</c:v>
                </c:pt>
                <c:pt idx="42" formatCode="_(* #,##0_);_(* \(#,##0\);_(* &quot;   -&quot;?_);_(@_)">
                  <c:v>101.93156616326962</c:v>
                </c:pt>
                <c:pt idx="43" formatCode="_(* #,##0_);_(* \(#,##0\);_(* &quot;   -&quot;?_);_(@_)">
                  <c:v>102.29749709578624</c:v>
                </c:pt>
                <c:pt idx="44" formatCode="_(* #,##0_);_(* \(#,##0\);_(* &quot;   -&quot;?_);_(@_)">
                  <c:v>102.50765656352307</c:v>
                </c:pt>
                <c:pt idx="45" formatCode="_(* #,##0_);_(* \(#,##0\);_(* &quot;   -&quot;?_);_(@_)">
                  <c:v>102.37353469215333</c:v>
                </c:pt>
                <c:pt idx="46" formatCode="_(* #,##0_);_(* \(#,##0\);_(* &quot;   -&quot;?_);_(@_)">
                  <c:v>102.37353469215333</c:v>
                </c:pt>
                <c:pt idx="47" formatCode="_(* #,##0_);_(* \(#,##0\);_(* &quot;   -&quot;?_);_(@_)">
                  <c:v>102.37353469215333</c:v>
                </c:pt>
                <c:pt idx="48" formatCode="_(* #,##0_);_(* \(#,##0\);_(* &quot;   -&quot;?_);_(@_)">
                  <c:v>103.0956278382089</c:v>
                </c:pt>
                <c:pt idx="49" formatCode="_(* #,##0_);_(* \(#,##0\);_(* &quot;   -&quot;?_);_(@_)">
                  <c:v>103.6424120815292</c:v>
                </c:pt>
                <c:pt idx="50" formatCode="_(* #,##0_);_(* \(#,##0\);_(* &quot;   -&quot;?_);_(@_)">
                  <c:v>103.8663005597212</c:v>
                </c:pt>
                <c:pt idx="51" formatCode="_(* #,##0_);_(* \(#,##0\);_(* &quot;   -&quot;?_);_(@_)">
                  <c:v>103.6938958707361</c:v>
                </c:pt>
                <c:pt idx="52" formatCode="_(* #,##0_);_(* \(#,##0\);_(* &quot;   -&quot;?_);_(@_)">
                  <c:v>103.75805259267084</c:v>
                </c:pt>
                <c:pt idx="53" formatCode="_(* #,##0_);_(* \(#,##0\);_(* &quot;   -&quot;?_);_(@_)">
                  <c:v>103.75805259267084</c:v>
                </c:pt>
                <c:pt idx="54" formatCode="_(* #,##0_);_(* \(#,##0\);_(* &quot;   -&quot;?_);_(@_)">
                  <c:v>103.75805259267084</c:v>
                </c:pt>
                <c:pt idx="55" formatCode="_(* #,##0_);_(* \(#,##0\);_(* &quot;   -&quot;?_);_(@_)">
                  <c:v>103.70023233710002</c:v>
                </c:pt>
                <c:pt idx="56" formatCode="_(* #,##0_);_(* \(#,##0\);_(* &quot;   -&quot;?_);_(@_)">
                  <c:v>103.38657725208576</c:v>
                </c:pt>
                <c:pt idx="57" formatCode="_(* #,##0_);_(* \(#,##0\);_(* &quot;   -&quot;?_);_(@_)">
                  <c:v>103.18011405639456</c:v>
                </c:pt>
                <c:pt idx="58" formatCode="_(* #,##0_);_(* \(#,##0\);_(* &quot;   -&quot;?_);_(@_)">
                  <c:v>103.52703558981942</c:v>
                </c:pt>
                <c:pt idx="59" formatCode="_(* #,##0_);_(* \(#,##0\);_(* &quot;   -&quot;?_);_(@_)">
                  <c:v>102.85405005808428</c:v>
                </c:pt>
                <c:pt idx="60" formatCode="_(* #,##0_);_(* \(#,##0\);_(* &quot;   -&quot;?_);_(@_)">
                  <c:v>102.85405005808428</c:v>
                </c:pt>
                <c:pt idx="61" formatCode="_(* #,##0_);_(* \(#,##0\);_(* &quot;   -&quot;?_);_(@_)">
                  <c:v>102.85405005808428</c:v>
                </c:pt>
                <c:pt idx="62" formatCode="_(* #,##0_);_(* \(#,##0\);_(* &quot;   -&quot;?_);_(@_)">
                  <c:v>103.20308374696378</c:v>
                </c:pt>
                <c:pt idx="63" formatCode="_(* #,##0_);_(* \(#,##0\);_(* &quot;   -&quot;?_);_(@_)">
                  <c:v>102.72362445876017</c:v>
                </c:pt>
                <c:pt idx="64" formatCode="_(* #,##0_);_(* \(#,##0\);_(* &quot;   -&quot;?_);_(@_)">
                  <c:v>102.92533530467843</c:v>
                </c:pt>
                <c:pt idx="65" formatCode="_(* #,##0_);_(* \(#,##0\);_(* &quot;   -&quot;?_);_(@_)">
                  <c:v>103.41799556447356</c:v>
                </c:pt>
                <c:pt idx="66" formatCode="_(* #,##0_);_(* \(#,##0\);_(* &quot;   -&quot;?_);_(@_)">
                  <c:v>103.34987855106137</c:v>
                </c:pt>
                <c:pt idx="67" formatCode="_(* #,##0_);_(* \(#,##0\);_(* &quot;   -&quot;?_);_(@_)">
                  <c:v>103.34987855106137</c:v>
                </c:pt>
                <c:pt idx="68" formatCode="_(* #,##0_);_(* \(#,##0\);_(* &quot;   -&quot;?_);_(@_)">
                  <c:v>103.34987855106137</c:v>
                </c:pt>
                <c:pt idx="69" formatCode="_(* #,##0_);_(* \(#,##0\);_(* &quot;   -&quot;?_);_(@_)">
                  <c:v>102.94302460661105</c:v>
                </c:pt>
                <c:pt idx="70" formatCode="_(* #,##0_);_(* \(#,##0\);_(* &quot;   -&quot;?_);_(@_)">
                  <c:v>101.00934628788679</c:v>
                </c:pt>
                <c:pt idx="71" formatCode="_(* #,##0_);_(* \(#,##0\);_(* &quot;   -&quot;?_);_(@_)">
                  <c:v>101.20049635653186</c:v>
                </c:pt>
                <c:pt idx="72" formatCode="_(* #,##0_);_(* \(#,##0\);_(* &quot;   -&quot;?_);_(@_)">
                  <c:v>101.31798500369626</c:v>
                </c:pt>
                <c:pt idx="73" formatCode="_(* #,##0_);_(* \(#,##0\);_(* &quot;   -&quot;?_);_(@_)">
                  <c:v>101.27838208892175</c:v>
                </c:pt>
                <c:pt idx="74" formatCode="_(* #,##0_);_(* \(#,##0\);_(* &quot;   -&quot;?_);_(@_)">
                  <c:v>101.27838208892175</c:v>
                </c:pt>
                <c:pt idx="75" formatCode="_(* #,##0_);_(* \(#,##0\);_(* &quot;   -&quot;?_);_(@_)">
                  <c:v>101.27838208892175</c:v>
                </c:pt>
                <c:pt idx="76" formatCode="_(* #,##0_);_(* \(#,##0\);_(* &quot;   -&quot;?_);_(@_)">
                  <c:v>101.89460344281341</c:v>
                </c:pt>
                <c:pt idx="77" formatCode="_(* #,##0_);_(* \(#,##0\);_(* &quot;   -&quot;?_);_(@_)">
                  <c:v>102.83477663956066</c:v>
                </c:pt>
                <c:pt idx="78" formatCode="_(* #,##0_);_(* \(#,##0\);_(* &quot;   -&quot;?_);_(@_)">
                  <c:v>103.18697856162214</c:v>
                </c:pt>
                <c:pt idx="79" formatCode="_(* #,##0_);_(* \(#,##0\);_(* &quot;   -&quot;?_);_(@_)">
                  <c:v>103.77257366142148</c:v>
                </c:pt>
                <c:pt idx="80" formatCode="_(* #,##0_);_(* \(#,##0\);_(* &quot;   -&quot;?_);_(@_)">
                  <c:v>103.66590981096209</c:v>
                </c:pt>
                <c:pt idx="81" formatCode="_(* #,##0_);_(* \(#,##0\);_(* &quot;   -&quot;?_);_(@_)">
                  <c:v>103.66590981096209</c:v>
                </c:pt>
                <c:pt idx="82" formatCode="_(* #,##0_);_(* \(#,##0\);_(* &quot;   -&quot;?_);_(@_)">
                  <c:v>103.66590981096209</c:v>
                </c:pt>
                <c:pt idx="83" formatCode="_(* #,##0_);_(* \(#,##0\);_(* &quot;   -&quot;?_);_(@_)">
                  <c:v>103.92676100961032</c:v>
                </c:pt>
                <c:pt idx="84" formatCode="_(* #,##0_);_(* \(#,##0\);_(* &quot;   -&quot;?_);_(@_)">
                  <c:v>104.40727637554126</c:v>
                </c:pt>
                <c:pt idx="85" formatCode="_(* #,##0_);_(* \(#,##0\);_(* &quot;   -&quot;?_);_(@_)">
                  <c:v>104.64964621396136</c:v>
                </c:pt>
                <c:pt idx="86" formatCode="_(* #,##0_);_(* \(#,##0\);_(* &quot;   -&quot;?_);_(@_)">
                  <c:v>105.12118491921005</c:v>
                </c:pt>
                <c:pt idx="87" formatCode="_(* #,##0_);_(* \(#,##0\);_(* &quot;   -&quot;?_);_(@_)">
                  <c:v>104.87987115851726</c:v>
                </c:pt>
                <c:pt idx="88" formatCode="_(* #,##0_);_(* \(#,##0\);_(* &quot;   -&quot;?_);_(@_)">
                  <c:v>104.87987115851726</c:v>
                </c:pt>
                <c:pt idx="89" formatCode="_(* #,##0_);_(* \(#,##0\);_(* &quot;   -&quot;?_);_(@_)">
                  <c:v>104.87987115851726</c:v>
                </c:pt>
                <c:pt idx="90" formatCode="_(* #,##0_);_(* \(#,##0\);_(* &quot;   -&quot;?_);_(@_)">
                  <c:v>104.87987115851726</c:v>
                </c:pt>
                <c:pt idx="91" formatCode="_(* #,##0_);_(* \(#,##0\);_(* &quot;   -&quot;?_);_(@_)">
                  <c:v>104.78535220192207</c:v>
                </c:pt>
                <c:pt idx="92" formatCode="_(* #,##0_);_(* \(#,##0\);_(* &quot;   -&quot;?_);_(@_)">
                  <c:v>104.39882775372267</c:v>
                </c:pt>
                <c:pt idx="93" formatCode="_(* #,##0_);_(* \(#,##0\);_(* &quot;   -&quot;?_);_(@_)">
                  <c:v>104.08253247439012</c:v>
                </c:pt>
                <c:pt idx="94" formatCode="_(* #,##0_);_(* \(#,##0\);_(* &quot;   -&quot;?_);_(@_)">
                  <c:v>101.01013834618229</c:v>
                </c:pt>
                <c:pt idx="95" formatCode="_(* #,##0_);_(* \(#,##0\);_(* &quot;   -&quot;?_);_(@_)">
                  <c:v>101.01013834618229</c:v>
                </c:pt>
                <c:pt idx="96" formatCode="_(* #,##0_);_(* \(#,##0\);_(* &quot;   -&quot;?_);_(@_)">
                  <c:v>101.01013834618229</c:v>
                </c:pt>
                <c:pt idx="97" formatCode="_(* #,##0_);_(* \(#,##0\);_(* &quot;   -&quot;?_);_(@_)">
                  <c:v>93.476079839476185</c:v>
                </c:pt>
                <c:pt idx="98" formatCode="_(* #,##0_);_(* \(#,##0\);_(* &quot;   -&quot;?_);_(@_)">
                  <c:v>91.600749815186404</c:v>
                </c:pt>
                <c:pt idx="99" formatCode="_(* #,##0_);_(* \(#,##0\);_(* &quot;   -&quot;?_);_(@_)">
                  <c:v>89.600010560777278</c:v>
                </c:pt>
                <c:pt idx="100" formatCode="_(* #,##0_);_(* \(#,##0\);_(* &quot;   -&quot;?_);_(@_)">
                  <c:v>94.461664378498256</c:v>
                </c:pt>
                <c:pt idx="101" formatCode="_(* #,##0_);_(* \(#,##0\);_(* &quot;   -&quot;?_);_(@_)">
                  <c:v>92.737617488647174</c:v>
                </c:pt>
                <c:pt idx="102" formatCode="_(* #,##0_);_(* \(#,##0\);_(* &quot;   -&quot;?_);_(@_)">
                  <c:v>92.737617488647174</c:v>
                </c:pt>
                <c:pt idx="103" formatCode="_(* #,##0_);_(* \(#,##0\);_(* &quot;   -&quot;?_);_(@_)">
                  <c:v>92.737617488647174</c:v>
                </c:pt>
                <c:pt idx="104" formatCode="_(* #,##0_);_(* \(#,##0\);_(* &quot;   -&quot;?_);_(@_)">
                  <c:v>93.698120181645379</c:v>
                </c:pt>
                <c:pt idx="105" formatCode="_(* #,##0_);_(* \(#,##0\);_(* &quot;   -&quot;?_);_(@_)">
                  <c:v>95.699651494349979</c:v>
                </c:pt>
                <c:pt idx="106" formatCode="_(* #,##0_);_(* \(#,##0\);_(* &quot;   -&quot;?_);_(@_)">
                  <c:v>96.695796810645263</c:v>
                </c:pt>
                <c:pt idx="107" formatCode="_(* #,##0_);_(* \(#,##0\);_(* &quot;   -&quot;?_);_(@_)">
                  <c:v>98.223941282078357</c:v>
                </c:pt>
                <c:pt idx="108" formatCode="_(* #,##0_);_(* \(#,##0\);_(* &quot;   -&quot;?_);_(@_)">
                  <c:v>98.223941282078357</c:v>
                </c:pt>
                <c:pt idx="109" formatCode="_(* #,##0_);_(* \(#,##0\);_(* &quot;   -&quot;?_);_(@_)">
                  <c:v>98.223941282078357</c:v>
                </c:pt>
                <c:pt idx="110" formatCode="_(* #,##0_);_(* \(#,##0\);_(* &quot;   -&quot;?_);_(@_)">
                  <c:v>98.223941282078357</c:v>
                </c:pt>
                <c:pt idx="111" formatCode="_(* #,##0_);_(* \(#,##0\);_(* &quot;   -&quot;?_);_(@_)">
                  <c:v>99.250712852465938</c:v>
                </c:pt>
                <c:pt idx="112" formatCode="_(* #,##0_);_(* \(#,##0\);_(* &quot;   -&quot;?_);_(@_)">
                  <c:v>100.20619917625937</c:v>
                </c:pt>
                <c:pt idx="113" formatCode="_(* #,##0_);_(* \(#,##0\);_(* &quot;   -&quot;?_);_(@_)">
                  <c:v>101.18069489914458</c:v>
                </c:pt>
                <c:pt idx="114" formatCode="_(* #,##0_);_(* \(#,##0\);_(* &quot;   -&quot;?_);_(@_)">
                  <c:v>101.17013412187137</c:v>
                </c:pt>
                <c:pt idx="115" formatCode="_(* #,##0_);_(* \(#,##0\);_(* &quot;   -&quot;?_);_(@_)">
                  <c:v>100.9552223043616</c:v>
                </c:pt>
                <c:pt idx="116" formatCode="_(* #,##0_);_(* \(#,##0\);_(* &quot;   -&quot;?_);_(@_)">
                  <c:v>100.9552223043616</c:v>
                </c:pt>
                <c:pt idx="117" formatCode="_(* #,##0_);_(* \(#,##0\);_(* &quot;   -&quot;?_);_(@_)">
                  <c:v>100.9552223043616</c:v>
                </c:pt>
                <c:pt idx="118" formatCode="_(* #,##0_);_(* \(#,##0\);_(* &quot;   -&quot;?_);_(@_)">
                  <c:v>100.63892702502906</c:v>
                </c:pt>
                <c:pt idx="119" formatCode="_(* #,##0_);_(* \(#,##0\);_(* &quot;   -&quot;?_);_(@_)">
                  <c:v>100.46414616115746</c:v>
                </c:pt>
                <c:pt idx="120" formatCode="_(* #,##0_);_(* \(#,##0\);_(* &quot;   -&quot;?_);_(@_)">
                  <c:v>101.18571126834937</c:v>
                </c:pt>
                <c:pt idx="121" formatCode="_(* #,##0_);_(* \(#,##0\);_(* &quot;   -&quot;?_);_(@_)">
                  <c:v>101.18571126834937</c:v>
                </c:pt>
                <c:pt idx="122" formatCode="_(* #,##0_);_(* \(#,##0\);_(* &quot;   -&quot;?_);_(@_)">
                  <c:v>101.51916781075087</c:v>
                </c:pt>
                <c:pt idx="123" formatCode="_(* #,##0_);_(* \(#,##0\);_(* &quot;   -&quot;?_);_(@_)">
                  <c:v>101.51916781075087</c:v>
                </c:pt>
                <c:pt idx="124" formatCode="_(* #,##0_);_(* \(#,##0\);_(* &quot;   -&quot;?_);_(@_)">
                  <c:v>101.51916781075087</c:v>
                </c:pt>
                <c:pt idx="125" formatCode="_(* #,##0_);_(* \(#,##0\);_(* &quot;   -&quot;?_);_(@_)">
                  <c:v>101.72853522019221</c:v>
                </c:pt>
                <c:pt idx="126" formatCode="_(* #,##0_);_(* \(#,##0\);_(* &quot;   -&quot;?_);_(@_)">
                  <c:v>101.92232548315556</c:v>
                </c:pt>
                <c:pt idx="127" formatCode="_(* #,##0_);_(* \(#,##0\);_(* &quot;   -&quot;?_);_(@_)">
                  <c:v>102.05327912134332</c:v>
                </c:pt>
                <c:pt idx="128" formatCode="_(* #,##0_);_(* \(#,##0\);_(* &quot;   -&quot;?_);_(@_)">
                  <c:v>101.60048579575457</c:v>
                </c:pt>
                <c:pt idx="129" formatCode="_(* #,##0_);_(* \(#,##0\);_(* &quot;   -&quot;?_);_(@_)">
                  <c:v>102.33815608828809</c:v>
                </c:pt>
                <c:pt idx="130" formatCode="_(* #,##0_);_(* \(#,##0\);_(* &quot;   -&quot;?_);_(@_)">
                  <c:v>102.33815608828809</c:v>
                </c:pt>
                <c:pt idx="131" formatCode="_(* #,##0_);_(* \(#,##0\);_(* &quot;   -&quot;?_);_(@_)">
                  <c:v>102.33815608828809</c:v>
                </c:pt>
                <c:pt idx="132" formatCode="_(* #,##0_);_(* \(#,##0\);_(* &quot;   -&quot;?_);_(@_)">
                  <c:v>102.33815608828809</c:v>
                </c:pt>
                <c:pt idx="133" formatCode="_(* #,##0_);_(* \(#,##0\);_(* &quot;   -&quot;?_);_(@_)">
                  <c:v>102.46726159045308</c:v>
                </c:pt>
                <c:pt idx="134" formatCode="_(* #,##0_);_(* \(#,##0\);_(* &quot;   -&quot;?_);_(@_)">
                  <c:v>102.20324215862288</c:v>
                </c:pt>
                <c:pt idx="135" formatCode="_(* #,##0_);_(* \(#,##0\);_(* &quot;   -&quot;?_);_(@_)">
                  <c:v>102.75477875171613</c:v>
                </c:pt>
                <c:pt idx="136" formatCode="_(* #,##0_);_(* \(#,##0\);_(* &quot;   -&quot;?_);_(@_)">
                  <c:v>102.91134227479142</c:v>
                </c:pt>
                <c:pt idx="137" formatCode="_(* #,##0_);_(* \(#,##0\);_(* &quot;   -&quot;?_);_(@_)">
                  <c:v>102.91134227479142</c:v>
                </c:pt>
                <c:pt idx="138" formatCode="_(* #,##0_);_(* \(#,##0\);_(* &quot;   -&quot;?_);_(@_)">
                  <c:v>102.91134227479142</c:v>
                </c:pt>
                <c:pt idx="139" formatCode="_(* #,##0_);_(* \(#,##0\);_(* &quot;   -&quot;?_);_(@_)">
                  <c:v>102.33921216601543</c:v>
                </c:pt>
                <c:pt idx="140" formatCode="_(* #,##0_);_(* \(#,##0\);_(* &quot;   -&quot;?_);_(@_)">
                  <c:v>102.50554440806843</c:v>
                </c:pt>
                <c:pt idx="141" formatCode="_(* #,##0_);_(* \(#,##0\);_(* &quot;   -&quot;?_);_(@_)">
                  <c:v>102.5068645052276</c:v>
                </c:pt>
                <c:pt idx="142" formatCode="_(* #,##0_);_(* \(#,##0\);_(* &quot;   -&quot;?_);_(@_)">
                  <c:v>102.44191572499737</c:v>
                </c:pt>
                <c:pt idx="143" formatCode="_(* #,##0_);_(* \(#,##0\);_(* &quot;   -&quot;?_);_(@_)">
                  <c:v>102.50343225261381</c:v>
                </c:pt>
                <c:pt idx="144" formatCode="_(* #,##0_);_(* \(#,##0\);_(* &quot;   -&quot;?_);_(@_)">
                  <c:v>102.50343225261381</c:v>
                </c:pt>
                <c:pt idx="145" formatCode="_(* #,##0_);_(* \(#,##0\);_(* &quot;   -&quot;?_);_(@_)">
                  <c:v>102.50343225261381</c:v>
                </c:pt>
                <c:pt idx="146" formatCode="_(* #,##0_);_(* \(#,##0\);_(* &quot;   -&quot;?_);_(@_)">
                  <c:v>102.3233710001056</c:v>
                </c:pt>
                <c:pt idx="147" formatCode="_(* #,##0_);_(* \(#,##0\);_(* &quot;   -&quot;?_);_(@_)">
                  <c:v>102.86434681592567</c:v>
                </c:pt>
                <c:pt idx="148" formatCode="_(* #,##0_);_(* \(#,##0\);_(* &quot;   -&quot;?_);_(@_)">
                  <c:v>103.28228957651284</c:v>
                </c:pt>
                <c:pt idx="149" formatCode="_(* #,##0_);_(* \(#,##0\);_(* &quot;   -&quot;?_);_(@_)">
                  <c:v>103.41218713697329</c:v>
                </c:pt>
                <c:pt idx="150" formatCode="_(* #,##0_);_(* \(#,##0\);_(* &quot;   -&quot;?_);_(@_)">
                  <c:v>102.82527194001479</c:v>
                </c:pt>
                <c:pt idx="151" formatCode="_(* #,##0_);_(* \(#,##0\);_(* &quot;   -&quot;?_);_(@_)">
                  <c:v>102.82527194001479</c:v>
                </c:pt>
                <c:pt idx="152" formatCode="_(* #,##0_);_(* \(#,##0\);_(* &quot;   -&quot;?_);_(@_)">
                  <c:v>102.82527194001479</c:v>
                </c:pt>
                <c:pt idx="153" formatCode="_(* #,##0_);_(* \(#,##0\);_(* &quot;   -&quot;?_);_(@_)">
                  <c:v>102.71913612841905</c:v>
                </c:pt>
                <c:pt idx="154" formatCode="_(* #,##0_);_(* \(#,##0\);_(* &quot;   -&quot;?_);_(@_)">
                  <c:v>102.81919949308269</c:v>
                </c:pt>
                <c:pt idx="155" formatCode="_(* #,##0_);_(* \(#,##0\);_(* &quot;   -&quot;?_);_(@_)">
                  <c:v>103.07001795332138</c:v>
                </c:pt>
                <c:pt idx="156" formatCode="_(* #,##0_);_(* \(#,##0\);_(* &quot;   -&quot;?_);_(@_)">
                  <c:v>103.43462878867884</c:v>
                </c:pt>
                <c:pt idx="157" formatCode="_(* #,##0_);_(* \(#,##0\);_(* &quot;   -&quot;?_);_(@_)">
                  <c:v>103.87290104551694</c:v>
                </c:pt>
                <c:pt idx="158" formatCode="_(* #,##0_);_(* \(#,##0\);_(* &quot;   -&quot;?_);_(@_)">
                  <c:v>103.87290104551694</c:v>
                </c:pt>
                <c:pt idx="159" formatCode="_(* #,##0_);_(* \(#,##0\);_(* &quot;   -&quot;?_);_(@_)">
                  <c:v>103.87290104551694</c:v>
                </c:pt>
                <c:pt idx="160" formatCode="_(* #,##0_);_(* \(#,##0\);_(* &quot;   -&quot;?_);_(@_)">
                  <c:v>103.92649699017849</c:v>
                </c:pt>
                <c:pt idx="161" formatCode="_(* #,##0_);_(* \(#,##0\);_(* &quot;   -&quot;?_);_(@_)">
                  <c:v>103.85996409335728</c:v>
                </c:pt>
                <c:pt idx="162" formatCode="_(* #,##0_);_(* \(#,##0\);_(* &quot;   -&quot;?_);_(@_)">
                  <c:v>103.47053543140777</c:v>
                </c:pt>
                <c:pt idx="163" formatCode="_(* #,##0_);_(* \(#,##0\);_(* &quot;   -&quot;?_);_(@_)">
                  <c:v>103.55370155243426</c:v>
                </c:pt>
                <c:pt idx="164" formatCode="_(* #,##0_);_(* \(#,##0\);_(* &quot;   -&quot;?_);_(@_)">
                  <c:v>103.26908860492132</c:v>
                </c:pt>
                <c:pt idx="165" formatCode="_(* #,##0_);_(* \(#,##0\);_(* &quot;   -&quot;?_);_(@_)">
                  <c:v>103.26908860492132</c:v>
                </c:pt>
                <c:pt idx="166" formatCode="_(* #,##0_);_(* \(#,##0\);_(* &quot;   -&quot;?_);_(@_)">
                  <c:v>103.26908860492132</c:v>
                </c:pt>
                <c:pt idx="167" formatCode="_(* #,##0_);_(* \(#,##0\);_(* &quot;   -&quot;?_);_(@_)">
                  <c:v>103.1909388530996</c:v>
                </c:pt>
                <c:pt idx="168" formatCode="_(* #,##0_);_(* \(#,##0\);_(* &quot;   -&quot;?_);_(@_)">
                  <c:v>103.77653395289894</c:v>
                </c:pt>
                <c:pt idx="169" formatCode="_(* #,##0_);_(* \(#,##0\);_(* &quot;   -&quot;?_);_(@_)">
                  <c:v>103.51700285140986</c:v>
                </c:pt>
                <c:pt idx="170" formatCode="_(* #,##0_);_(* \(#,##0\);_(* &quot;   -&quot;?_);_(@_)">
                  <c:v>102.81391910444609</c:v>
                </c:pt>
                <c:pt idx="171" formatCode="_(* #,##0_);_(* \(#,##0\);_(* &quot;   -&quot;?_);_(@_)">
                  <c:v>102.53009821522865</c:v>
                </c:pt>
                <c:pt idx="172" formatCode="_(* #,##0_);_(* \(#,##0\);_(* &quot;   -&quot;?_);_(@_)">
                  <c:v>102.53009821522865</c:v>
                </c:pt>
                <c:pt idx="173" formatCode="_(* #,##0_);_(* \(#,##0\);_(* &quot;   -&quot;?_);_(@_)">
                  <c:v>102.53009821522865</c:v>
                </c:pt>
                <c:pt idx="174" formatCode="_(* #,##0_);_(* \(#,##0\);_(* &quot;   -&quot;?_);_(@_)">
                  <c:v>102.42000211215547</c:v>
                </c:pt>
                <c:pt idx="175" formatCode="_(* #,##0_);_(* \(#,##0\);_(* &quot;   -&quot;?_);_(@_)">
                  <c:v>103.08110676945823</c:v>
                </c:pt>
                <c:pt idx="176" formatCode="_(* #,##0_);_(* \(#,##0\);_(* &quot;   -&quot;?_);_(@_)">
                  <c:v>103.65350089766608</c:v>
                </c:pt>
                <c:pt idx="177" formatCode="_(* #,##0_);_(* \(#,##0\);_(* &quot;   -&quot;?_);_(@_)">
                  <c:v>103.98299714859014</c:v>
                </c:pt>
                <c:pt idx="178" formatCode="_(* #,##0_);_(* \(#,##0\);_(* &quot;   -&quot;?_);_(@_)">
                  <c:v>104.71538705248706</c:v>
                </c:pt>
                <c:pt idx="179" formatCode="_(* #,##0_);_(* \(#,##0\);_(* &quot;   -&quot;?_);_(@_)">
                  <c:v>104.71538705248706</c:v>
                </c:pt>
                <c:pt idx="180" formatCode="_(* #,##0_);_(* \(#,##0\);_(* &quot;   -&quot;?_);_(@_)">
                  <c:v>104.71538705248706</c:v>
                </c:pt>
                <c:pt idx="181" formatCode="_(* #,##0_);_(* \(#,##0\);_(* &quot;   -&quot;?_);_(@_)">
                  <c:v>104.6649593410075</c:v>
                </c:pt>
                <c:pt idx="182" formatCode="_(* #,##0_);_(* \(#,##0\);_(* &quot;   -&quot;?_);_(@_)">
                  <c:v>105.33741683387899</c:v>
                </c:pt>
                <c:pt idx="183" formatCode="_(* #,##0_);_(* \(#,##0\);_(* &quot;   -&quot;?_);_(@_)">
                  <c:v>105.89212166015417</c:v>
                </c:pt>
                <c:pt idx="184" formatCode="_(* #,##0_);_(* \(#,##0\);_(* &quot;   -&quot;?_);_(@_)">
                  <c:v>106.12445876016477</c:v>
                </c:pt>
                <c:pt idx="185" formatCode="_(* #,##0_);_(* \(#,##0\);_(* &quot;   -&quot;?_);_(@_)">
                  <c:v>105.96736719822579</c:v>
                </c:pt>
                <c:pt idx="186" formatCode="_(* #,##0_);_(* \(#,##0\);_(* &quot;   -&quot;?_);_(@_)">
                  <c:v>105.96736719822579</c:v>
                </c:pt>
                <c:pt idx="187" formatCode="_(* #,##0_);_(* \(#,##0\);_(* &quot;   -&quot;?_);_(@_)">
                  <c:v>105.96736719822579</c:v>
                </c:pt>
                <c:pt idx="188" formatCode="_(* #,##0_);_(* \(#,##0\);_(* &quot;   -&quot;?_);_(@_)">
                  <c:v>106.44893864188406</c:v>
                </c:pt>
                <c:pt idx="189" formatCode="_(* #,##0_);_(* \(#,##0\);_(* &quot;   -&quot;?_);_(@_)">
                  <c:v>106.87136973281235</c:v>
                </c:pt>
                <c:pt idx="190" formatCode="_(* #,##0_);_(* \(#,##0\);_(* &quot;   -&quot;?_);_(@_)">
                  <c:v>107.13433308691521</c:v>
                </c:pt>
                <c:pt idx="191" formatCode="_(* #,##0_);_(* \(#,##0\);_(* &quot;   -&quot;?_);_(@_)">
                  <c:v>107.60639983102756</c:v>
                </c:pt>
                <c:pt idx="192" formatCode="_(* #,##0_);_(* \(#,##0\);_(* &quot;   -&quot;?_);_(@_)">
                  <c:v>107.92612736297392</c:v>
                </c:pt>
                <c:pt idx="193" formatCode="_(* #,##0_);_(* \(#,##0\);_(* &quot;   -&quot;?_);_(@_)">
                  <c:v>107.92612736297392</c:v>
                </c:pt>
                <c:pt idx="194" formatCode="_(* #,##0_);_(* \(#,##0\);_(* &quot;   -&quot;?_);_(@_)">
                  <c:v>107.92612736297392</c:v>
                </c:pt>
                <c:pt idx="195" formatCode="_(* #,##0_);_(* \(#,##0\);_(* &quot;   -&quot;?_);_(@_)">
                  <c:v>108.49112894709052</c:v>
                </c:pt>
                <c:pt idx="196" formatCode="_(* #,##0_);_(* \(#,##0\);_(* &quot;   -&quot;?_);_(@_)">
                  <c:v>108.77125356426231</c:v>
                </c:pt>
                <c:pt idx="197" formatCode="_(* #,##0_);_(* \(#,##0\);_(* &quot;   -&quot;?_);_(@_)">
                  <c:v>109.09942971802724</c:v>
                </c:pt>
                <c:pt idx="198" formatCode="_(* #,##0_);_(* \(#,##0\);_(* &quot;   -&quot;?_);_(@_)">
                  <c:v>109.86983842010774</c:v>
                </c:pt>
                <c:pt idx="199" formatCode="_(* #,##0_);_(* \(#,##0\);_(* &quot;   -&quot;?_);_(@_)">
                  <c:v>110.61094096525505</c:v>
                </c:pt>
                <c:pt idx="200" formatCode="_(* #,##0_);_(* \(#,##0\);_(* &quot;   -&quot;?_);_(@_)">
                  <c:v>110.61094096525505</c:v>
                </c:pt>
                <c:pt idx="201" formatCode="_(* #,##0_);_(* \(#,##0\);_(* &quot;   -&quot;?_);_(@_)">
                  <c:v>110.61094096525505</c:v>
                </c:pt>
                <c:pt idx="202" formatCode="_(* #,##0_);_(* \(#,##0\);_(* &quot;   -&quot;?_);_(@_)">
                  <c:v>111.07640722357166</c:v>
                </c:pt>
                <c:pt idx="203" formatCode="_(* #,##0_);_(* \(#,##0\);_(* &quot;   -&quot;?_);_(@_)">
                  <c:v>111.10624141936847</c:v>
                </c:pt>
                <c:pt idx="204" formatCode="_(* #,##0_);_(* \(#,##0\);_(* &quot;   -&quot;?_);_(@_)">
                  <c:v>111.71401415144153</c:v>
                </c:pt>
                <c:pt idx="205" formatCode="_(* #,##0_);_(* \(#,##0\);_(* &quot;   -&quot;?_);_(@_)">
                  <c:v>112.81682331819623</c:v>
                </c:pt>
                <c:pt idx="206" formatCode="_(* #,##0_);_(* \(#,##0\);_(* &quot;   -&quot;?_);_(@_)">
                  <c:v>112.50026401943185</c:v>
                </c:pt>
                <c:pt idx="207" formatCode="_(* #,##0_);_(* \(#,##0\);_(* &quot;   -&quot;?_);_(@_)">
                  <c:v>112.50026401943185</c:v>
                </c:pt>
                <c:pt idx="208" formatCode="_(* #,##0_);_(* \(#,##0\);_(* &quot;   -&quot;?_);_(@_)">
                  <c:v>112.50026401943185</c:v>
                </c:pt>
                <c:pt idx="209" formatCode="_(* #,##0_);_(* \(#,##0\);_(* &quot;   -&quot;?_);_(@_)">
                  <c:v>111.97433731122612</c:v>
                </c:pt>
                <c:pt idx="210" formatCode="_(* #,##0_);_(* \(#,##0\);_(* &quot;   -&quot;?_);_(@_)">
                  <c:v>111.6646425176893</c:v>
                </c:pt>
                <c:pt idx="211" formatCode="_(* #,##0_);_(* \(#,##0\);_(* &quot;   -&quot;?_);_(@_)">
                  <c:v>111.40062308585912</c:v>
                </c:pt>
                <c:pt idx="212" formatCode="_(* #,##0_);_(* \(#,##0\);_(* &quot;   -&quot;?_);_(@_)">
                  <c:v>110.19563839898619</c:v>
                </c:pt>
                <c:pt idx="213" formatCode="_(* #,##0_);_(* \(#,##0\);_(* &quot;   -&quot;?_);_(@_)">
                  <c:v>109.66918365191678</c:v>
                </c:pt>
                <c:pt idx="214" formatCode="_(* #,##0_);_(* \(#,##0\);_(* &quot;   -&quot;?_);_(@_)">
                  <c:v>109.66918365191678</c:v>
                </c:pt>
                <c:pt idx="215" formatCode="_(* #,##0_);_(* \(#,##0\);_(* &quot;   -&quot;?_);_(@_)">
                  <c:v>109.66918365191678</c:v>
                </c:pt>
                <c:pt idx="216" formatCode="_(* #,##0_);_(* \(#,##0\);_(* &quot;   -&quot;?_);_(@_)">
                  <c:v>110.81502798605976</c:v>
                </c:pt>
                <c:pt idx="217" formatCode="_(* #,##0_);_(* \(#,##0\);_(* &quot;   -&quot;?_);_(@_)">
                  <c:v>111.11469004118703</c:v>
                </c:pt>
                <c:pt idx="218" formatCode="_(* #,##0_);_(* \(#,##0\);_(* &quot;   -&quot;?_);_(@_)">
                  <c:v>111.61949519484634</c:v>
                </c:pt>
                <c:pt idx="219" formatCode="_(* #,##0_);_(* \(#,##0\);_(* &quot;   -&quot;?_);_(@_)">
                  <c:v>112.42343436476925</c:v>
                </c:pt>
                <c:pt idx="220" formatCode="_(* #,##0_);_(* \(#,##0\);_(* &quot;   -&quot;?_);_(@_)">
                  <c:v>111.93975076565634</c:v>
                </c:pt>
                <c:pt idx="221" formatCode="_(* #,##0_);_(* \(#,##0\);_(* &quot;   -&quot;?_);_(@_)">
                  <c:v>111.93975076565634</c:v>
                </c:pt>
                <c:pt idx="222" formatCode="_(* #,##0_);_(* \(#,##0\);_(* &quot;   -&quot;?_);_(@_)">
                  <c:v>111.93975076565634</c:v>
                </c:pt>
                <c:pt idx="223" formatCode="_(* #,##0_);_(* \(#,##0\);_(* &quot;   -&quot;?_);_(@_)">
                  <c:v>111.75361706621607</c:v>
                </c:pt>
                <c:pt idx="224" formatCode="_(* #,##0_);_(* \(#,##0\);_(* &quot;   -&quot;?_);_(@_)">
                  <c:v>111.43520963142888</c:v>
                </c:pt>
                <c:pt idx="225" formatCode="_(* #,##0_);_(* \(#,##0\);_(* &quot;   -&quot;?_);_(@_)">
                  <c:v>112.80916675467316</c:v>
                </c:pt>
                <c:pt idx="226" formatCode="_(* #,##0_);_(* \(#,##0\);_(* &quot;   -&quot;?_);_(@_)">
                  <c:v>112.38039919738094</c:v>
                </c:pt>
                <c:pt idx="227" formatCode="_(* #,##0_);_(* \(#,##0\);_(* &quot;   -&quot;?_);_(@_)">
                  <c:v>111.69421269405429</c:v>
                </c:pt>
                <c:pt idx="228" formatCode="_(* #,##0_);_(* \(#,##0\);_(* &quot;   -&quot;?_);_(@_)">
                  <c:v>111.69421269405429</c:v>
                </c:pt>
                <c:pt idx="229" formatCode="_(* #,##0_);_(* \(#,##0\);_(* &quot;   -&quot;?_);_(@_)">
                  <c:v>111.69421269405429</c:v>
                </c:pt>
                <c:pt idx="230" formatCode="_(* #,##0_);_(* \(#,##0\);_(* &quot;   -&quot;?_);_(@_)">
                  <c:v>110.55496884570705</c:v>
                </c:pt>
                <c:pt idx="231" formatCode="_(* #,##0_);_(* \(#,##0\);_(* &quot;   -&quot;?_);_(@_)">
                  <c:v>111.3156088288098</c:v>
                </c:pt>
                <c:pt idx="232" formatCode="_(* #,##0_);_(* \(#,##0\);_(* &quot;   -&quot;?_);_(@_)">
                  <c:v>111.4040553384729</c:v>
                </c:pt>
                <c:pt idx="233" formatCode="_(* #,##0_);_(* \(#,##0\);_(* &quot;   -&quot;?_);_(@_)">
                  <c:v>111.703981413032</c:v>
                </c:pt>
                <c:pt idx="234" formatCode="_(* #,##0_);_(* \(#,##0\);_(* &quot;   -&quot;?_);_(@_)">
                  <c:v>112.28799239624038</c:v>
                </c:pt>
                <c:pt idx="235" formatCode="_(* #,##0_);_(* \(#,##0\);_(* &quot;   -&quot;?_);_(@_)">
                  <c:v>112.28799239624038</c:v>
                </c:pt>
                <c:pt idx="236" formatCode="_(* #,##0_);_(* \(#,##0\);_(* &quot;   -&quot;?_);_(@_)">
                  <c:v>112.28799239624038</c:v>
                </c:pt>
                <c:pt idx="237" formatCode="_(* #,##0_);_(* \(#,##0\);_(* &quot;   -&quot;?_);_(@_)">
                  <c:v>112.37960713908544</c:v>
                </c:pt>
                <c:pt idx="238" formatCode="_(* #,##0_);_(* \(#,##0\);_(* &quot;   -&quot;?_);_(@_)">
                  <c:v>112.04219030520646</c:v>
                </c:pt>
                <c:pt idx="239" formatCode="_(* #,##0_);_(* \(#,##0\);_(* &quot;   -&quot;?_);_(@_)">
                  <c:v>112.09129791952688</c:v>
                </c:pt>
                <c:pt idx="240" formatCode="_(* #,##0_);_(* \(#,##0\);_(* &quot;   -&quot;?_);_(@_)">
                  <c:v>112.30805787305947</c:v>
                </c:pt>
                <c:pt idx="241" formatCode="_(* #,##0_);_(* \(#,##0\);_(* &quot;   -&quot;?_);_(@_)">
                  <c:v>112.72837680853311</c:v>
                </c:pt>
                <c:pt idx="242" formatCode="_(* #,##0_);_(* \(#,##0\);_(* &quot;   -&quot;?_);_(@_)">
                  <c:v>112.72837680853311</c:v>
                </c:pt>
                <c:pt idx="243" formatCode="_(* #,##0_);_(* \(#,##0\);_(* &quot;   -&quot;?_);_(@_)">
                  <c:v>112.72837680853311</c:v>
                </c:pt>
                <c:pt idx="244" formatCode="_(* #,##0_);_(* \(#,##0\);_(* &quot;   -&quot;?_);_(@_)">
                  <c:v>112.89655718660893</c:v>
                </c:pt>
                <c:pt idx="245" formatCode="_(* #,##0_);_(* \(#,##0\);_(* &quot;   -&quot;?_);_(@_)">
                  <c:v>113.48901679163588</c:v>
                </c:pt>
                <c:pt idx="246" formatCode="_(* #,##0_);_(* \(#,##0\);_(* &quot;   -&quot;?_);_(@_)">
                  <c:v>113.24664695321576</c:v>
                </c:pt>
                <c:pt idx="247" formatCode="_(* #,##0_);_(* \(#,##0\);_(* &quot;   -&quot;?_);_(@_)">
                  <c:v>113.44466152708839</c:v>
                </c:pt>
                <c:pt idx="248" formatCode="_(* #,##0_);_(* \(#,##0\);_(* &quot;   -&quot;?_);_(@_)">
                  <c:v>113.71528144471432</c:v>
                </c:pt>
                <c:pt idx="249" formatCode="_(* #,##0_);_(* \(#,##0\);_(* &quot;   -&quot;?_);_(@_)">
                  <c:v>113.71528144471432</c:v>
                </c:pt>
                <c:pt idx="250" formatCode="_(* #,##0_);_(* \(#,##0\);_(* &quot;   -&quot;?_);_(@_)">
                  <c:v>113.71528144471432</c:v>
                </c:pt>
                <c:pt idx="251" formatCode="_(* #,##0_);_(* \(#,##0\);_(* &quot;   -&quot;?_);_(@_)">
                  <c:v>113.75330024289789</c:v>
                </c:pt>
                <c:pt idx="252" formatCode="_(* #,##0_);_(* \(#,##0\);_(* &quot;   -&quot;?_);_(@_)">
                  <c:v>113.46419896504383</c:v>
                </c:pt>
                <c:pt idx="253" formatCode="_(* #,##0_);_(* \(#,##0\);_(* &quot;   -&quot;?_);_(@_)">
                  <c:v>114.75498996726159</c:v>
                </c:pt>
                <c:pt idx="254" formatCode="_(* #,##0_);_(* \(#,##0\);_(* &quot;   -&quot;?_);_(@_)">
                  <c:v>115.00211215545464</c:v>
                </c:pt>
                <c:pt idx="255" formatCode="_(* #,##0_);_(* \(#,##0\);_(* &quot;   -&quot;?_);_(@_)">
                  <c:v>114.69637765339529</c:v>
                </c:pt>
                <c:pt idx="256" formatCode="_(* #,##0_);_(* \(#,##0\);_(* &quot;   -&quot;?_);_(@_)">
                  <c:v>114.69637765339529</c:v>
                </c:pt>
                <c:pt idx="257" formatCode="_(* #,##0_);_(* \(#,##0\);_(* &quot;   -&quot;?_);_(@_)">
                  <c:v>114.69637765339529</c:v>
                </c:pt>
                <c:pt idx="258" formatCode="_(* #,##0_);_(* \(#,##0\);_(* &quot;   -&quot;?_);_(@_)">
                  <c:v>114.54271834407012</c:v>
                </c:pt>
                <c:pt idx="259" formatCode="_(* #,##0_);_(* \(#,##0\);_(* &quot;   -&quot;?_);_(@_)">
                  <c:v>114.52476502270568</c:v>
                </c:pt>
                <c:pt idx="260" formatCode="_(* #,##0_);_(* \(#,##0\);_(* &quot;   -&quot;?_);_(@_)">
                  <c:v>114.15619389587073</c:v>
                </c:pt>
                <c:pt idx="261" formatCode="_(* #,##0_);_(* \(#,##0\);_(* &quot;   -&quot;?_);_(@_)">
                  <c:v>113.86154820994825</c:v>
                </c:pt>
                <c:pt idx="262" formatCode="_(* #,##0_);_(* \(#,##0\);_(* &quot;   -&quot;?_);_(@_)">
                  <c:v>113.59990495300454</c:v>
                </c:pt>
                <c:pt idx="263" formatCode="_(* #,##0_);_(* \(#,##0\);_(* &quot;   -&quot;?_);_(@_)">
                  <c:v>113.59990495300454</c:v>
                </c:pt>
                <c:pt idx="264" formatCode="_(* #,##0_);_(* \(#,##0\);_(* &quot;   -&quot;?_);_(@_)">
                  <c:v>113.59990495300454</c:v>
                </c:pt>
                <c:pt idx="265" formatCode="_(* #,##0_);_(* \(#,##0\);_(* &quot;   -&quot;?_);_(@_)">
                  <c:v>113.45891857640721</c:v>
                </c:pt>
                <c:pt idx="266" formatCode="_(* #,##0_);_(* \(#,##0\);_(* &quot;   -&quot;?_);_(@_)">
                  <c:v>113.59884887527723</c:v>
                </c:pt>
                <c:pt idx="267" formatCode="_(* #,##0_);_(* \(#,##0\);_(* &quot;   -&quot;?_);_(@_)">
                  <c:v>113.27489703242158</c:v>
                </c:pt>
                <c:pt idx="268" formatCode="_(* #,##0_);_(* \(#,##0\);_(* &quot;   -&quot;?_);_(@_)">
                  <c:v>112.83820889217446</c:v>
                </c:pt>
                <c:pt idx="269" formatCode="_(* #,##0_);_(* \(#,##0\);_(* &quot;   -&quot;?_);_(@_)">
                  <c:v>112.63016157989227</c:v>
                </c:pt>
                <c:pt idx="270" formatCode="_(* #,##0_);_(* \(#,##0\);_(* &quot;   -&quot;?_);_(@_)">
                  <c:v>112.63016157989227</c:v>
                </c:pt>
                <c:pt idx="271" formatCode="_(* #,##0_);_(* \(#,##0\);_(* &quot;   -&quot;?_);_(@_)">
                  <c:v>112.63016157989227</c:v>
                </c:pt>
                <c:pt idx="272" formatCode="_(* #,##0_);_(* \(#,##0\);_(* &quot;   -&quot;?_);_(@_)">
                  <c:v>112.73576935262435</c:v>
                </c:pt>
                <c:pt idx="273" formatCode="_(* #,##0_);_(* \(#,##0\);_(* &quot;   -&quot;?_);_(@_)">
                  <c:v>113.53257999788784</c:v>
                </c:pt>
                <c:pt idx="274" formatCode="_(* #,##0_);_(* \(#,##0\);_(* &quot;   -&quot;?_);_(@_)">
                  <c:v>114.13876861336993</c:v>
                </c:pt>
                <c:pt idx="275" formatCode="_(* #,##0_);_(* \(#,##0\);_(* &quot;   -&quot;?_);_(@_)">
                  <c:v>116.04208469743374</c:v>
                </c:pt>
                <c:pt idx="276" formatCode="_(* #,##0_);_(* \(#,##0\);_(* &quot;   -&quot;?_);_(@_)">
                  <c:v>116.48405322631746</c:v>
                </c:pt>
                <c:pt idx="277" formatCode="_(* #,##0_);_(* \(#,##0\);_(* &quot;   -&quot;?_);_(@_)">
                  <c:v>116.48405322631746</c:v>
                </c:pt>
                <c:pt idx="278" formatCode="_(* #,##0_);_(* \(#,##0\);_(* &quot;   -&quot;?_);_(@_)">
                  <c:v>116.48405322631746</c:v>
                </c:pt>
                <c:pt idx="279" formatCode="_(* #,##0_);_(* \(#,##0\);_(* &quot;   -&quot;?_);_(@_)">
                  <c:v>116.74173619178372</c:v>
                </c:pt>
                <c:pt idx="280" formatCode="_(* #,##0_);_(* \(#,##0\);_(* &quot;   -&quot;?_);_(@_)">
                  <c:v>118.07635441968529</c:v>
                </c:pt>
                <c:pt idx="281" formatCode="_(* #,##0_);_(* \(#,##0\);_(* &quot;   -&quot;?_);_(@_)">
                  <c:v>117.65497940648433</c:v>
                </c:pt>
                <c:pt idx="282" formatCode="_(* #,##0_);_(* \(#,##0\);_(* &quot;   -&quot;?_);_(@_)">
                  <c:v>117.23782870419264</c:v>
                </c:pt>
                <c:pt idx="283" formatCode="_(* #,##0_);_(* \(#,##0\);_(* &quot;   -&quot;?_);_(@_)">
                  <c:v>116.88298658781289</c:v>
                </c:pt>
                <c:pt idx="284" formatCode="_(* #,##0_);_(* \(#,##0\);_(* &quot;   -&quot;?_);_(@_)">
                  <c:v>116.88298658781289</c:v>
                </c:pt>
                <c:pt idx="285" formatCode="_(* #,##0_);_(* \(#,##0\);_(* &quot;   -&quot;?_);_(@_)">
                  <c:v>116.88298658781289</c:v>
                </c:pt>
                <c:pt idx="286" formatCode="_(* #,##0_);_(* \(#,##0\);_(* &quot;   -&quot;?_);_(@_)">
                  <c:v>115.90030626254094</c:v>
                </c:pt>
                <c:pt idx="287" formatCode="_(* #,##0_);_(* \(#,##0\);_(* &quot;   -&quot;?_);_(@_)">
                  <c:v>114.96778962931673</c:v>
                </c:pt>
                <c:pt idx="288" formatCode="_(* #,##0_);_(* \(#,##0\);_(* &quot;   -&quot;?_);_(@_)">
                  <c:v>115.33477663956066</c:v>
                </c:pt>
                <c:pt idx="289" formatCode="_(* #,##0_);_(* \(#,##0\);_(* &quot;   -&quot;?_);_(@_)">
                  <c:v>115.01214489386417</c:v>
                </c:pt>
                <c:pt idx="290" formatCode="_(* #,##0_);_(* \(#,##0\);_(* &quot;   -&quot;?_);_(@_)">
                  <c:v>114.29216390326329</c:v>
                </c:pt>
                <c:pt idx="291" formatCode="_(* #,##0_);_(* \(#,##0\);_(* &quot;   -&quot;?_);_(@_)">
                  <c:v>114.29216390326329</c:v>
                </c:pt>
                <c:pt idx="292" formatCode="_(* #,##0_);_(* \(#,##0\);_(* &quot;   -&quot;?_);_(@_)">
                  <c:v>114.29216390326329</c:v>
                </c:pt>
                <c:pt idx="293" formatCode="_(* #,##0_);_(* \(#,##0\);_(* &quot;   -&quot;?_);_(@_)">
                  <c:v>114.29216390326329</c:v>
                </c:pt>
                <c:pt idx="294" formatCode="_(* #,##0_);_(* \(#,##0\);_(* &quot;   -&quot;?_);_(@_)">
                  <c:v>115.66823318196219</c:v>
                </c:pt>
                <c:pt idx="295" formatCode="_(* #,##0_);_(* \(#,##0\);_(* &quot;   -&quot;?_);_(@_)">
                  <c:v>116.00802619072765</c:v>
                </c:pt>
                <c:pt idx="296" formatCode="_(* #,##0_);_(* \(#,##0\);_(* &quot;   -&quot;?_);_(@_)">
                  <c:v>116.59810962086812</c:v>
                </c:pt>
                <c:pt idx="297" formatCode="_(* #,##0_);_(* \(#,##0\);_(* &quot;   -&quot;?_);_(@_)">
                  <c:v>116.75493716337525</c:v>
                </c:pt>
                <c:pt idx="298" formatCode="_(* #,##0_);_(* \(#,##0\);_(* &quot;   -&quot;?_);_(@_)">
                  <c:v>116.75493716337525</c:v>
                </c:pt>
                <c:pt idx="299" formatCode="_(* #,##0_);_(* \(#,##0\);_(* &quot;   -&quot;?_);_(@_)">
                  <c:v>116.75493716337525</c:v>
                </c:pt>
                <c:pt idx="300" formatCode="_(* #,##0_);_(* \(#,##0\);_(* &quot;   -&quot;?_);_(@_)">
                  <c:v>117.23254831555603</c:v>
                </c:pt>
                <c:pt idx="301" formatCode="_(* #,##0_);_(* \(#,##0\);_(* &quot;   -&quot;?_);_(@_)">
                  <c:v>117.49815186397718</c:v>
                </c:pt>
                <c:pt idx="302" formatCode="_(* #,##0_);_(* \(#,##0\);_(* &quot;   -&quot;?_);_(@_)">
                  <c:v>117.23017214066955</c:v>
                </c:pt>
                <c:pt idx="303" formatCode="_(* #,##0_);_(* \(#,##0\);_(* &quot;   -&quot;?_);_(@_)">
                  <c:v>117.15703875805259</c:v>
                </c:pt>
                <c:pt idx="304" formatCode="_(* #,##0_);_(* \(#,##0\);_(* &quot;   -&quot;?_);_(@_)">
                  <c:v>116.92417361917838</c:v>
                </c:pt>
                <c:pt idx="305" formatCode="_(* #,##0_);_(* \(#,##0\);_(* &quot;   -&quot;?_);_(@_)">
                  <c:v>116.92417361917838</c:v>
                </c:pt>
                <c:pt idx="306" formatCode="_(* #,##0_);_(* \(#,##0\);_(* &quot;   -&quot;?_);_(@_)">
                  <c:v>116.92417361917838</c:v>
                </c:pt>
                <c:pt idx="307" formatCode="_(* #,##0_);_(* \(#,##0\);_(* &quot;   -&quot;?_);_(@_)">
                  <c:v>117.33894814658359</c:v>
                </c:pt>
                <c:pt idx="308" formatCode="_(* #,##0_);_(* \(#,##0\);_(* &quot;   -&quot;?_);_(@_)">
                  <c:v>116.76840215439856</c:v>
                </c:pt>
                <c:pt idx="309" formatCode="_(* #,##0_);_(* \(#,##0\);_(* &quot;   -&quot;?_);_(@_)">
                  <c:v>116.62055127257366</c:v>
                </c:pt>
                <c:pt idx="310" formatCode="_(* #,##0_);_(* \(#,##0\);_(* &quot;   -&quot;?_);_(@_)">
                  <c:v>118.41245115640511</c:v>
                </c:pt>
                <c:pt idx="311" formatCode="_(* #,##0_);_(* \(#,##0\);_(* &quot;   -&quot;?_);_(@_)">
                  <c:v>118.60386524448199</c:v>
                </c:pt>
                <c:pt idx="312" formatCode="_(* #,##0_);_(* \(#,##0\);_(* &quot;   -&quot;?_);_(@_)">
                  <c:v>118.60386524448199</c:v>
                </c:pt>
                <c:pt idx="313" formatCode="_(* #,##0_);_(* \(#,##0\);_(* &quot;   -&quot;?_);_(@_)">
                  <c:v>118.60386524448199</c:v>
                </c:pt>
                <c:pt idx="314" formatCode="_(* #,##0_);_(* \(#,##0\);_(* &quot;   -&quot;?_);_(@_)">
                  <c:v>118.4953532579998</c:v>
                </c:pt>
                <c:pt idx="315" formatCode="_(* #,##0_);_(* \(#,##0\);_(* &quot;   -&quot;?_);_(@_)">
                  <c:v>119.92290632590559</c:v>
                </c:pt>
                <c:pt idx="316" formatCode="_(* #,##0_);_(* \(#,##0\);_(* &quot;   -&quot;?_);_(@_)">
                  <c:v>120.62810222832401</c:v>
                </c:pt>
                <c:pt idx="317" formatCode="_(* #,##0_);_(* \(#,##0\);_(* &quot;   -&quot;?_);_(@_)">
                  <c:v>120.81291583060514</c:v>
                </c:pt>
                <c:pt idx="318" formatCode="_(* #,##0_);_(* \(#,##0\);_(* &quot;   -&quot;?_);_(@_)">
                  <c:v>120.02508184602388</c:v>
                </c:pt>
                <c:pt idx="319" formatCode="_(* #,##0_);_(* \(#,##0\);_(* &quot;   -&quot;?_);_(@_)">
                  <c:v>120.02508184602388</c:v>
                </c:pt>
                <c:pt idx="320" formatCode="_(* #,##0_);_(* \(#,##0\);_(* &quot;   -&quot;?_);_(@_)">
                  <c:v>120.02508184602388</c:v>
                </c:pt>
                <c:pt idx="321" formatCode="_(* #,##0_);_(* \(#,##0\);_(* &quot;   -&quot;?_);_(@_)">
                  <c:v>119.95960502692999</c:v>
                </c:pt>
                <c:pt idx="322" formatCode="_(* #,##0_);_(* \(#,##0\);_(* &quot;   -&quot;?_);_(@_)">
                  <c:v>118.93204139824691</c:v>
                </c:pt>
                <c:pt idx="323" formatCode="_(* #,##0_);_(* \(#,##0\);_(* &quot;   -&quot;?_);_(@_)">
                  <c:v>118.94656246699758</c:v>
                </c:pt>
                <c:pt idx="324" formatCode="_(* #,##0_);_(* \(#,##0\);_(* &quot;   -&quot;?_);_(@_)">
                  <c:v>119.12213538916465</c:v>
                </c:pt>
                <c:pt idx="325" formatCode="_(* #,##0_);_(* \(#,##0\);_(* &quot;   -&quot;?_);_(@_)">
                  <c:v>117.99398035695428</c:v>
                </c:pt>
                <c:pt idx="326" formatCode="_(* #,##0_);_(* \(#,##0\);_(* &quot;   -&quot;?_);_(@_)">
                  <c:v>117.99398035695428</c:v>
                </c:pt>
                <c:pt idx="327" formatCode="_(* #,##0_);_(* \(#,##0\);_(* &quot;   -&quot;?_);_(@_)">
                  <c:v>117.99398035695428</c:v>
                </c:pt>
                <c:pt idx="328" formatCode="_(* #,##0_);_(* \(#,##0\);_(* &quot;   -&quot;?_);_(@_)">
                  <c:v>118.71976977505545</c:v>
                </c:pt>
                <c:pt idx="329" formatCode="_(* #,##0_);_(* \(#,##0\);_(* &quot;   -&quot;?_);_(@_)">
                  <c:v>118.42934840004224</c:v>
                </c:pt>
                <c:pt idx="330" formatCode="_(* #,##0_);_(* \(#,##0\);_(* &quot;   -&quot;?_);_(@_)">
                  <c:v>118.84993135494774</c:v>
                </c:pt>
                <c:pt idx="331" formatCode="_(* #,##0_);_(* \(#,##0\);_(* &quot;   -&quot;?_);_(@_)">
                  <c:v>119.05533847291161</c:v>
                </c:pt>
                <c:pt idx="332" formatCode="_(* #,##0_);_(* \(#,##0\);_(* &quot;   -&quot;?_);_(@_)">
                  <c:v>119.44133488224733</c:v>
                </c:pt>
                <c:pt idx="333" formatCode="_(* #,##0_);_(* \(#,##0\);_(* &quot;   -&quot;?_);_(@_)">
                  <c:v>119.44133488224733</c:v>
                </c:pt>
                <c:pt idx="334" formatCode="_(* #,##0_);_(* \(#,##0\);_(* &quot;   -&quot;?_);_(@_)">
                  <c:v>119.44133488224733</c:v>
                </c:pt>
                <c:pt idx="335" formatCode="_(* #,##0_);_(* \(#,##0\);_(* &quot;   -&quot;?_);_(@_)">
                  <c:v>119.50100327384096</c:v>
                </c:pt>
                <c:pt idx="336" formatCode="_(* #,##0_);_(* \(#,##0\);_(* &quot;   -&quot;?_);_(@_)">
                  <c:v>119.8109620868096</c:v>
                </c:pt>
                <c:pt idx="337" formatCode="_(* #,##0_);_(* \(#,##0\);_(* &quot;   -&quot;?_);_(@_)">
                  <c:v>120.24817826592039</c:v>
                </c:pt>
                <c:pt idx="338" formatCode="_(* #,##0_);_(* \(#,##0\);_(* &quot;   -&quot;?_);_(@_)">
                  <c:v>119.73650860703349</c:v>
                </c:pt>
                <c:pt idx="339" formatCode="_(* #,##0_);_(* \(#,##0\);_(* &quot;   -&quot;?_);_(@_)">
                  <c:v>119.63670926180166</c:v>
                </c:pt>
                <c:pt idx="340" formatCode="_(* #,##0_);_(* \(#,##0\);_(* &quot;   -&quot;?_);_(@_)">
                  <c:v>119.63670926180166</c:v>
                </c:pt>
                <c:pt idx="341" formatCode="_(* #,##0_);_(* \(#,##0\);_(* &quot;   -&quot;?_);_(@_)">
                  <c:v>119.63670926180166</c:v>
                </c:pt>
                <c:pt idx="342" formatCode="_(* #,##0_);_(* \(#,##0\);_(* &quot;   -&quot;?_);_(@_)">
                  <c:v>118.995670081318</c:v>
                </c:pt>
                <c:pt idx="343" formatCode="_(* #,##0_);_(* \(#,##0\);_(* &quot;   -&quot;?_);_(@_)">
                  <c:v>119.15830605132538</c:v>
                </c:pt>
                <c:pt idx="344" formatCode="_(* #,##0_);_(* \(#,##0\);_(* &quot;   -&quot;?_);_(@_)">
                  <c:v>119.12292744746014</c:v>
                </c:pt>
                <c:pt idx="345" formatCode="_(* #,##0_);_(* \(#,##0\);_(* &quot;   -&quot;?_);_(@_)">
                  <c:v>119.35869680008449</c:v>
                </c:pt>
                <c:pt idx="346" formatCode="_(* #,##0_);_(* \(#,##0\);_(* &quot;   -&quot;?_);_(@_)">
                  <c:v>121.09119231175414</c:v>
                </c:pt>
                <c:pt idx="347" formatCode="_(* #,##0_);_(* \(#,##0\);_(* &quot;   -&quot;?_);_(@_)">
                  <c:v>121.09119231175414</c:v>
                </c:pt>
                <c:pt idx="348" formatCode="_(* #,##0_);_(* \(#,##0\);_(* &quot;   -&quot;?_);_(@_)">
                  <c:v>121.09119231175414</c:v>
                </c:pt>
                <c:pt idx="349" formatCode="_(* #,##0_);_(* \(#,##0\);_(* &quot;   -&quot;?_);_(@_)">
                  <c:v>121.16300559721196</c:v>
                </c:pt>
                <c:pt idx="350" formatCode="_(* #,##0_);_(* \(#,##0\);_(* &quot;   -&quot;?_);_(@_)">
                  <c:v>120.91377125356426</c:v>
                </c:pt>
                <c:pt idx="351" formatCode="_(* #,##0_);_(* \(#,##0\);_(* &quot;   -&quot;?_);_(@_)">
                  <c:v>120.80156299503642</c:v>
                </c:pt>
                <c:pt idx="352" formatCode="_(* #,##0_);_(* \(#,##0\);_(* &quot;   -&quot;?_);_(@_)">
                  <c:v>120.67298553173514</c:v>
                </c:pt>
                <c:pt idx="353" formatCode="_(* #,##0_);_(* \(#,##0\);_(* &quot;   -&quot;?_);_(@_)">
                  <c:v>120.65107191889322</c:v>
                </c:pt>
                <c:pt idx="354" formatCode="_(* #,##0_);_(* \(#,##0\);_(* &quot;   -&quot;?_);_(@_)">
                  <c:v>120.65107191889322</c:v>
                </c:pt>
                <c:pt idx="355" formatCode="_(* #,##0_);_(* \(#,##0\);_(* &quot;   -&quot;?_);_(@_)">
                  <c:v>120.65107191889322</c:v>
                </c:pt>
                <c:pt idx="356" formatCode="_(* #,##0_);_(* \(#,##0\);_(* &quot;   -&quot;?_);_(@_)">
                  <c:v>121.72061463723732</c:v>
                </c:pt>
                <c:pt idx="357" formatCode="_(* #,##0_);_(* \(#,##0\);_(* &quot;   -&quot;?_);_(@_)">
                  <c:v>122.47782236772626</c:v>
                </c:pt>
                <c:pt idx="358" formatCode="_(* #,##0_);_(* \(#,##0\);_(* &quot;   -&quot;?_);_(@_)">
                  <c:v>122.40838525715493</c:v>
                </c:pt>
                <c:pt idx="359" formatCode="_(* #,##0_);_(* \(#,##0\);_(* &quot;   -&quot;?_);_(@_)">
                  <c:v>122.40838525715493</c:v>
                </c:pt>
                <c:pt idx="360" formatCode="_(* #,##0_);_(* \(#,##0\);_(* &quot;   -&quot;?_);_(@_)">
                  <c:v>122.40336888795014</c:v>
                </c:pt>
                <c:pt idx="361" formatCode="_(* #,##0_);_(* \(#,##0\);_(* &quot;   -&quot;?_);_(@_)">
                  <c:v>122.40336888795014</c:v>
                </c:pt>
                <c:pt idx="362" formatCode="_(* #,##0_);_(* \(#,##0\);_(* &quot;   -&quot;?_);_(@_)">
                  <c:v>122.40336888795014</c:v>
                </c:pt>
                <c:pt idx="363" formatCode="_(* #,##0_);_(* \(#,##0\);_(* &quot;   -&quot;?_);_(@_)">
                  <c:v>122.33710001056079</c:v>
                </c:pt>
                <c:pt idx="364" formatCode="_(* #,##0_);_(* \(#,##0\);_(* &quot;   -&quot;?_);_(@_)">
                  <c:v>122.91107825535961</c:v>
                </c:pt>
                <c:pt idx="365" formatCode="_(* #,##0_);_(* \(#,##0\);_(* &quot;   -&quot;?_);_(@_)">
                  <c:v>122.66897243637132</c:v>
                </c:pt>
                <c:pt idx="366" formatCode="_(* #,##0_);_(* \(#,##0\);_(* &quot;   -&quot;?_);_(@_)">
                  <c:v>122.66897243637132</c:v>
                </c:pt>
                <c:pt idx="367" formatCode="_(* #,##0_);_(* \(#,##0\);_(* &quot;   -&quot;?_);_(@_)">
                  <c:v>122.93061569331502</c:v>
                </c:pt>
                <c:pt idx="368" formatCode="_(* #,##0_);_(* \(#,##0\);_(* &quot;   -&quot;?_);_(@_)">
                  <c:v>122.93061569331502</c:v>
                </c:pt>
                <c:pt idx="369" formatCode="_(* #,##0_);_(* \(#,##0\);_(* &quot;   -&quot;?_);_(@_)">
                  <c:v>122.93061569331502</c:v>
                </c:pt>
                <c:pt idx="370" formatCode="_(* #,##0_);_(* \(#,##0\);_(* &quot;   -&quot;?_);_(@_)">
                  <c:v>123.57429506811701</c:v>
                </c:pt>
                <c:pt idx="371" formatCode="_(* #,##0_);_(* \(#,##0\);_(* &quot;   -&quot;?_);_(@_)">
                  <c:v>125.14441862921113</c:v>
                </c:pt>
                <c:pt idx="372" formatCode="_(* #,##0_);_(* \(#,##0\);_(* &quot;   -&quot;?_);_(@_)">
                  <c:v>125.3463934945612</c:v>
                </c:pt>
                <c:pt idx="373" formatCode="_(* #,##0_);_(* \(#,##0\);_(* &quot;   -&quot;?_);_(@_)">
                  <c:v>125.12065688034639</c:v>
                </c:pt>
                <c:pt idx="374" formatCode="_(* #,##0_);_(* \(#,##0\);_(* &quot;   -&quot;?_);_(@_)">
                  <c:v>125.26824374273946</c:v>
                </c:pt>
                <c:pt idx="375" formatCode="_(* #,##0_);_(* \(#,##0\);_(* &quot;   -&quot;?_);_(@_)">
                  <c:v>125.26824374273946</c:v>
                </c:pt>
                <c:pt idx="376" formatCode="_(* #,##0_);_(* \(#,##0\);_(* &quot;   -&quot;?_);_(@_)">
                  <c:v>125.26824374273946</c:v>
                </c:pt>
                <c:pt idx="377" formatCode="_(* #,##0_);_(* \(#,##0\);_(* &quot;   -&quot;?_);_(@_)">
                  <c:v>125.85225472594783</c:v>
                </c:pt>
                <c:pt idx="378" formatCode="_(* #,##0_);_(* \(#,##0\);_(* &quot;   -&quot;?_);_(@_)">
                  <c:v>126.91757313338263</c:v>
                </c:pt>
                <c:pt idx="379" formatCode="_(* #,##0_);_(* \(#,##0\);_(* &quot;   -&quot;?_);_(@_)">
                  <c:v>127.05961558770727</c:v>
                </c:pt>
                <c:pt idx="380" formatCode="_(* #,##0_);_(* \(#,##0\);_(* &quot;   -&quot;?_);_(@_)">
                  <c:v>127.60956806420953</c:v>
                </c:pt>
                <c:pt idx="381" formatCode="_(* #,##0_);_(* \(#,##0\);_(* &quot;   -&quot;?_);_(@_)">
                  <c:v>128.02566268877391</c:v>
                </c:pt>
                <c:pt idx="382" formatCode="_(* #,##0_);_(* \(#,##0\);_(* &quot;   -&quot;?_);_(@_)">
                  <c:v>128.02566268877391</c:v>
                </c:pt>
                <c:pt idx="383" formatCode="_(* #,##0_);_(* \(#,##0\);_(* &quot;   -&quot;?_);_(@_)">
                  <c:v>128.02566268877391</c:v>
                </c:pt>
                <c:pt idx="384" formatCode="_(* #,##0_);_(* \(#,##0\);_(* &quot;   -&quot;?_);_(@_)">
                  <c:v>127.65022705671139</c:v>
                </c:pt>
                <c:pt idx="385" formatCode="_(* #,##0_);_(* \(#,##0\);_(* &quot;   -&quot;?_);_(@_)">
                  <c:v>127.46858168761221</c:v>
                </c:pt>
                <c:pt idx="386" formatCode="_(* #,##0_);_(* \(#,##0\);_(* &quot;   -&quot;?_);_(@_)">
                  <c:v>126.99017847713591</c:v>
                </c:pt>
                <c:pt idx="387" formatCode="_(* #,##0_);_(* \(#,##0\);_(* &quot;   -&quot;?_);_(@_)">
                  <c:v>127.47703030943076</c:v>
                </c:pt>
                <c:pt idx="388" formatCode="_(* #,##0_);_(* \(#,##0\);_(* &quot;   -&quot;?_);_(@_)">
                  <c:v>129.14378498257472</c:v>
                </c:pt>
                <c:pt idx="389" formatCode="_(* #,##0_);_(* \(#,##0\);_(* &quot;   -&quot;?_);_(@_)">
                  <c:v>129.14378498257472</c:v>
                </c:pt>
                <c:pt idx="390" formatCode="_(* #,##0_);_(* \(#,##0\);_(* &quot;   -&quot;?_);_(@_)">
                  <c:v>129.14378498257472</c:v>
                </c:pt>
                <c:pt idx="391" formatCode="_(* #,##0_);_(* \(#,##0\);_(* &quot;   -&quot;?_);_(@_)">
                  <c:v>128.33799767662902</c:v>
                </c:pt>
                <c:pt idx="392" formatCode="_(* #,##0_);_(* \(#,##0\);_(* &quot;   -&quot;?_);_(@_)">
                  <c:v>129.97729432886263</c:v>
                </c:pt>
                <c:pt idx="393" formatCode="_(* #,##0_);_(* \(#,##0\);_(* &quot;   -&quot;?_);_(@_)">
                  <c:v>129.61611574611894</c:v>
                </c:pt>
                <c:pt idx="394" formatCode="_(* #,##0_);_(* \(#,##0\);_(* &quot;   -&quot;?_);_(@_)">
                  <c:v>130.16237195057556</c:v>
                </c:pt>
                <c:pt idx="395" formatCode="_(* #,##0_);_(* \(#,##0\);_(* &quot;   -&quot;?_);_(@_)">
                  <c:v>129.50496356531843</c:v>
                </c:pt>
                <c:pt idx="396" formatCode="_(* #,##0_);_(* \(#,##0\);_(* &quot;   -&quot;?_);_(@_)">
                  <c:v>129.50496356531843</c:v>
                </c:pt>
                <c:pt idx="397" formatCode="_(* #,##0_);_(* \(#,##0\);_(* &quot;   -&quot;?_);_(@_)">
                  <c:v>129.50496356531843</c:v>
                </c:pt>
                <c:pt idx="398" formatCode="_(* #,##0_);_(* \(#,##0\);_(* &quot;   -&quot;?_);_(@_)">
                  <c:v>129.16543457598482</c:v>
                </c:pt>
                <c:pt idx="399" formatCode="_(* #,##0_);_(* \(#,##0\);_(* &quot;   -&quot;?_);_(@_)">
                  <c:v>130.53358327172882</c:v>
                </c:pt>
                <c:pt idx="400" formatCode="_(* #,##0_);_(* \(#,##0\);_(* &quot;   -&quot;?_);_(@_)">
                  <c:v>131.09884887527724</c:v>
                </c:pt>
                <c:pt idx="401" formatCode="_(* #,##0_);_(* \(#,##0\);_(* &quot;   -&quot;?_);_(@_)">
                  <c:v>131.37263702608513</c:v>
                </c:pt>
                <c:pt idx="402" formatCode="_(* #,##0_);_(* \(#,##0\);_(* &quot;   -&quot;?_);_(@_)">
                  <c:v>130.27801246171717</c:v>
                </c:pt>
                <c:pt idx="403" formatCode="_(* #,##0_);_(* \(#,##0\);_(* &quot;   -&quot;?_);_(@_)">
                  <c:v>130.27801246171717</c:v>
                </c:pt>
                <c:pt idx="404" formatCode="_(* #,##0_);_(* \(#,##0\);_(* &quot;   -&quot;?_);_(@_)">
                  <c:v>130.27801246171717</c:v>
                </c:pt>
                <c:pt idx="405" formatCode="_(* #,##0_);_(* \(#,##0\);_(* &quot;   -&quot;?_);_(@_)">
                  <c:v>130.97555180061252</c:v>
                </c:pt>
                <c:pt idx="406" formatCode="_(* #,##0_);_(* \(#,##0\);_(* &quot;   -&quot;?_);_(@_)">
                  <c:v>131.06584644629845</c:v>
                </c:pt>
                <c:pt idx="407" formatCode="_(* #,##0_);_(* \(#,##0\);_(* &quot;   -&quot;?_);_(@_)">
                  <c:v>131.60259795120922</c:v>
                </c:pt>
                <c:pt idx="408" formatCode="_(* #,##0_);_(* \(#,##0\);_(* &quot;   -&quot;?_);_(@_)">
                  <c:v>132.45221248283875</c:v>
                </c:pt>
                <c:pt idx="409" formatCode="_(* #,##0_);_(* \(#,##0\);_(* &quot;   -&quot;?_);_(@_)">
                  <c:v>130.36698701024395</c:v>
                </c:pt>
                <c:pt idx="410" formatCode="_(* #,##0_);_(* \(#,##0\);_(* &quot;   -&quot;?_);_(@_)">
                  <c:v>130.36698701024395</c:v>
                </c:pt>
                <c:pt idx="411" formatCode="_(* #,##0_);_(* \(#,##0\);_(* &quot;   -&quot;?_);_(@_)">
                  <c:v>130.36698701024395</c:v>
                </c:pt>
                <c:pt idx="412" formatCode="_(* #,##0_);_(* \(#,##0\);_(* &quot;   -&quot;?_);_(@_)">
                  <c:v>130.38810856479037</c:v>
                </c:pt>
                <c:pt idx="413" formatCode="_(* #,##0_);_(* \(#,##0\);_(* &quot;   -&quot;?_);_(@_)">
                  <c:v>130.38810856479037</c:v>
                </c:pt>
                <c:pt idx="414" formatCode="_(* #,##0_);_(* \(#,##0\);_(* &quot;   -&quot;?_);_(@_)">
                  <c:v>130.38810856479037</c:v>
                </c:pt>
                <c:pt idx="415" formatCode="_(* #,##0_);_(* \(#,##0\);_(* &quot;   -&quot;?_);_(@_)">
                  <c:v>132.05090294645686</c:v>
                </c:pt>
                <c:pt idx="416" formatCode="_(* #,##0_);_(* \(#,##0\);_(* &quot;   -&quot;?_);_(@_)">
                  <c:v>132.47439011511247</c:v>
                </c:pt>
                <c:pt idx="417" formatCode="_(* #,##0_);_(* \(#,##0\);_(* &quot;   -&quot;?_);_(@_)">
                  <c:v>132.47439011511247</c:v>
                </c:pt>
                <c:pt idx="418" formatCode="_(* #,##0_);_(* \(#,##0\);_(* &quot;   -&quot;?_);_(@_)">
                  <c:v>132.47439011511247</c:v>
                </c:pt>
                <c:pt idx="419" formatCode="_(* #,##0_);_(* \(#,##0\);_(* &quot;   -&quot;?_);_(@_)">
                  <c:v>133.10090822684549</c:v>
                </c:pt>
                <c:pt idx="420" formatCode="_(* #,##0_);_(* \(#,##0\);_(* &quot;   -&quot;?_);_(@_)">
                  <c:v>132.55861231386629</c:v>
                </c:pt>
                <c:pt idx="421" formatCode="_(* #,##0_);_(* \(#,##0\);_(* &quot;   -&quot;?_);_(@_)">
                  <c:v>132.21380293589607</c:v>
                </c:pt>
                <c:pt idx="422" formatCode="_(* #,##0_);_(* \(#,##0\);_(* &quot;   -&quot;?_);_(@_)">
                  <c:v>131.06927869891226</c:v>
                </c:pt>
                <c:pt idx="423" formatCode="_(* #,##0_);_(* \(#,##0\);_(* &quot;   -&quot;?_);_(@_)">
                  <c:v>131.87955433519906</c:v>
                </c:pt>
                <c:pt idx="424" formatCode="_(* #,##0_);_(* \(#,##0\);_(* &quot;   -&quot;?_);_(@_)">
                  <c:v>131.87955433519906</c:v>
                </c:pt>
                <c:pt idx="425" formatCode="_(* #,##0_);_(* \(#,##0\);_(* &quot;   -&quot;?_);_(@_)">
                  <c:v>131.87955433519906</c:v>
                </c:pt>
                <c:pt idx="426" formatCode="_(* #,##0_);_(* \(#,##0\);_(* &quot;   -&quot;?_);_(@_)">
                  <c:v>129.12820783609672</c:v>
                </c:pt>
                <c:pt idx="427" formatCode="_(* #,##0_);_(* \(#,##0\);_(* &quot;   -&quot;?_);_(@_)">
                  <c:v>129.80911395078678</c:v>
                </c:pt>
                <c:pt idx="428" formatCode="_(* #,##0_);_(* \(#,##0\);_(* &quot;   -&quot;?_);_(@_)">
                  <c:v>127.06595205407119</c:v>
                </c:pt>
                <c:pt idx="429" formatCode="_(* #,##0_);_(* \(#,##0\);_(* &quot;   -&quot;?_);_(@_)">
                  <c:v>127.95860175308904</c:v>
                </c:pt>
                <c:pt idx="430" formatCode="_(* #,##0_);_(* \(#,##0\);_(* &quot;   -&quot;?_);_(@_)">
                  <c:v>128.00322103706833</c:v>
                </c:pt>
                <c:pt idx="431" formatCode="_(* #,##0_);_(* \(#,##0\);_(* &quot;   -&quot;?_);_(@_)">
                  <c:v>128.00322103706833</c:v>
                </c:pt>
                <c:pt idx="432" formatCode="_(* #,##0_);_(* \(#,##0\);_(* &quot;   -&quot;?_);_(@_)">
                  <c:v>128.00322103706833</c:v>
                </c:pt>
                <c:pt idx="433" formatCode="_(* #,##0_);_(* \(#,##0\);_(* &quot;   -&quot;?_);_(@_)">
                  <c:v>125.58374696377652</c:v>
                </c:pt>
                <c:pt idx="434" formatCode="_(* #,##0_);_(* \(#,##0\);_(* &quot;   -&quot;?_);_(@_)">
                  <c:v>128.33034111310593</c:v>
                </c:pt>
                <c:pt idx="435" formatCode="_(* #,##0_);_(* \(#,##0\);_(* &quot;   -&quot;?_);_(@_)">
                  <c:v>128.4140352729961</c:v>
                </c:pt>
                <c:pt idx="436" formatCode="_(* #,##0_);_(* \(#,##0\);_(* &quot;   -&quot;?_);_(@_)">
                  <c:v>128.19014679480409</c:v>
                </c:pt>
                <c:pt idx="437" formatCode="_(* #,##0_);_(* \(#,##0\);_(* &quot;   -&quot;?_);_(@_)">
                  <c:v>127.8453374168339</c:v>
                </c:pt>
                <c:pt idx="438" formatCode="_(* #,##0_);_(* \(#,##0\);_(* &quot;   -&quot;?_);_(@_)">
                  <c:v>127.8453374168339</c:v>
                </c:pt>
                <c:pt idx="439" formatCode="_(* #,##0_);_(* \(#,##0\);_(* &quot;   -&quot;?_);_(@_)">
                  <c:v>127.8453374168339</c:v>
                </c:pt>
                <c:pt idx="440" formatCode="_(* #,##0_);_(* \(#,##0\);_(* &quot;   -&quot;?_);_(@_)">
                  <c:v>128.54287675572922</c:v>
                </c:pt>
                <c:pt idx="441" formatCode="_(* #,##0_);_(* \(#,##0\);_(* &quot;   -&quot;?_);_(@_)">
                  <c:v>130.31919949308269</c:v>
                </c:pt>
                <c:pt idx="442" formatCode="_(* #,##0_);_(* \(#,##0\);_(* &quot;   -&quot;?_);_(@_)">
                  <c:v>132.0670081317985</c:v>
                </c:pt>
                <c:pt idx="443" formatCode="_(* #,##0_);_(* \(#,##0\);_(* &quot;   -&quot;?_);_(@_)">
                  <c:v>131.15455697539338</c:v>
                </c:pt>
                <c:pt idx="444" formatCode="_(* #,##0_);_(* \(#,##0\);_(* &quot;   -&quot;?_);_(@_)">
                  <c:v>130.65978456014363</c:v>
                </c:pt>
                <c:pt idx="445" formatCode="_(* #,##0_);_(* \(#,##0\);_(* &quot;   -&quot;?_);_(@_)">
                  <c:v>130.65978456014363</c:v>
                </c:pt>
                <c:pt idx="446" formatCode="_(* #,##0_);_(* \(#,##0\);_(* &quot;   -&quot;?_);_(@_)">
                  <c:v>130.65978456014363</c:v>
                </c:pt>
                <c:pt idx="447" formatCode="_(* #,##0_);_(* \(#,##0\);_(* &quot;   -&quot;?_);_(@_)">
                  <c:v>127.81972753194637</c:v>
                </c:pt>
                <c:pt idx="448" formatCode="_(* #,##0_);_(* \(#,##0\);_(* &quot;   -&quot;?_);_(@_)">
                  <c:v>128.37760059140354</c:v>
                </c:pt>
                <c:pt idx="449" formatCode="_(* #,##0_);_(* \(#,##0\);_(* &quot;   -&quot;?_);_(@_)">
                  <c:v>129.48938641884041</c:v>
                </c:pt>
                <c:pt idx="450" formatCode="_(* #,##0_);_(* \(#,##0\);_(* &quot;   -&quot;?_);_(@_)">
                  <c:v>129.04636181222941</c:v>
                </c:pt>
                <c:pt idx="451" formatCode="_(* #,##0_);_(* \(#,##0\);_(* &quot;   -&quot;?_);_(@_)">
                  <c:v>129.32147006019642</c:v>
                </c:pt>
                <c:pt idx="452" formatCode="_(* #,##0_);_(* \(#,##0\);_(* &quot;   -&quot;?_);_(@_)">
                  <c:v>129.32147006019642</c:v>
                </c:pt>
                <c:pt idx="453" formatCode="_(* #,##0_);_(* \(#,##0\);_(* &quot;   -&quot;?_);_(@_)">
                  <c:v>129.32147006019642</c:v>
                </c:pt>
                <c:pt idx="454" formatCode="_(* #,##0_);_(* \(#,##0\);_(* &quot;   -&quot;?_);_(@_)">
                  <c:v>129.29718027246807</c:v>
                </c:pt>
                <c:pt idx="455" formatCode="_(* #,##0_);_(* \(#,##0\);_(* &quot;   -&quot;?_);_(@_)">
                  <c:v>128.98537332347661</c:v>
                </c:pt>
                <c:pt idx="456" formatCode="_(* #,##0_);_(* \(#,##0\);_(* &quot;   -&quot;?_);_(@_)">
                  <c:v>131.3715809483578</c:v>
                </c:pt>
                <c:pt idx="457" formatCode="_(* #,##0_);_(* \(#,##0\);_(* &quot;   -&quot;?_);_(@_)">
                  <c:v>130.62361389798289</c:v>
                </c:pt>
                <c:pt idx="458" formatCode="_(* #,##0_);_(* \(#,##0\);_(* &quot;   -&quot;?_);_(@_)">
                  <c:v>130.62361389798289</c:v>
                </c:pt>
                <c:pt idx="459" formatCode="_(* #,##0_);_(* \(#,##0\);_(* &quot;   -&quot;?_);_(@_)">
                  <c:v>130.62361389798289</c:v>
                </c:pt>
                <c:pt idx="460" formatCode="_(* #,##0_);_(* \(#,##0\);_(* &quot;   -&quot;?_);_(@_)">
                  <c:v>130.62361389798289</c:v>
                </c:pt>
                <c:pt idx="461" formatCode="_(* #,##0_);_(* \(#,##0\);_(* &quot;   -&quot;?_);_(@_)">
                  <c:v>131.28102228324002</c:v>
                </c:pt>
                <c:pt idx="462" formatCode="_(* #,##0_);_(* \(#,##0\);_(* &quot;   -&quot;?_);_(@_)">
                  <c:v>130.90109832083644</c:v>
                </c:pt>
                <c:pt idx="463" formatCode="_(* #,##0_);_(* \(#,##0\);_(* &quot;   -&quot;?_);_(@_)">
                  <c:v>131.90542823951844</c:v>
                </c:pt>
                <c:pt idx="464" formatCode="_(* #,##0_);_(* \(#,##0\);_(* &quot;   -&quot;?_);_(@_)">
                  <c:v>131.40458337733659</c:v>
                </c:pt>
                <c:pt idx="465" formatCode="_(* #,##0_);_(* \(#,##0\);_(* &quot;   -&quot;?_);_(@_)">
                  <c:v>131.73011933678319</c:v>
                </c:pt>
                <c:pt idx="466" formatCode="_(* #,##0_);_(* \(#,##0\);_(* &quot;   -&quot;?_);_(@_)">
                  <c:v>131.73011933678319</c:v>
                </c:pt>
                <c:pt idx="467" formatCode="_(* #,##0_);_(* \(#,##0\);_(* &quot;   -&quot;?_);_(@_)">
                  <c:v>131.73011933678319</c:v>
                </c:pt>
                <c:pt idx="468" formatCode="_(* #,##0_);_(* \(#,##0\);_(* &quot;   -&quot;?_);_(@_)">
                  <c:v>131.59177315450415</c:v>
                </c:pt>
                <c:pt idx="469" formatCode="_(* #,##0_);_(* \(#,##0\);_(* &quot;   -&quot;?_);_(@_)">
                  <c:v>132.20957862498679</c:v>
                </c:pt>
                <c:pt idx="470" formatCode="_(* #,##0_);_(* \(#,##0\);_(* &quot;   -&quot;?_);_(@_)">
                  <c:v>132.56943711057133</c:v>
                </c:pt>
                <c:pt idx="471" formatCode="_(* #,##0_);_(* \(#,##0\);_(* &quot;   -&quot;?_);_(@_)">
                  <c:v>132.2164431302144</c:v>
                </c:pt>
                <c:pt idx="472" formatCode="_(* #,##0_);_(* \(#,##0\);_(* &quot;   -&quot;?_);_(@_)">
                  <c:v>131.9550638927025</c:v>
                </c:pt>
                <c:pt idx="473" formatCode="_(* #,##0_);_(* \(#,##0\);_(* &quot;   -&quot;?_);_(@_)">
                  <c:v>131.9550638927025</c:v>
                </c:pt>
                <c:pt idx="474" formatCode="_(* #,##0_);_(* \(#,##0\);_(* &quot;   -&quot;?_);_(@_)">
                  <c:v>131.9550638927025</c:v>
                </c:pt>
                <c:pt idx="475" formatCode="_(* #,##0_);_(* \(#,##0\);_(* &quot;   -&quot;?_);_(@_)">
                  <c:v>132.11717182384623</c:v>
                </c:pt>
                <c:pt idx="476" formatCode="_(* #,##0_);_(* \(#,##0\);_(* &quot;   -&quot;?_);_(@_)">
                  <c:v>132.40468898510932</c:v>
                </c:pt>
                <c:pt idx="477" formatCode="_(* #,##0_);_(* \(#,##0\);_(* &quot;   -&quot;?_);_(@_)">
                  <c:v>132.08152920054917</c:v>
                </c:pt>
                <c:pt idx="478" formatCode="_(* #,##0_);_(* \(#,##0\);_(* &quot;   -&quot;?_);_(@_)">
                  <c:v>130.53411131059244</c:v>
                </c:pt>
                <c:pt idx="479" formatCode="_(* #,##0_);_(* \(#,##0\);_(* &quot;   -&quot;?_);_(@_)">
                  <c:v>129.97307001795332</c:v>
                </c:pt>
                <c:pt idx="480" formatCode="_(* #,##0_);_(* \(#,##0\);_(* &quot;   -&quot;?_);_(@_)">
                  <c:v>129.97307001795332</c:v>
                </c:pt>
                <c:pt idx="481" formatCode="_(* #,##0_);_(* \(#,##0\);_(* &quot;   -&quot;?_);_(@_)">
                  <c:v>129.97307001795332</c:v>
                </c:pt>
                <c:pt idx="482" formatCode="_(* #,##0_);_(* \(#,##0\);_(* &quot;   -&quot;?_);_(@_)">
                  <c:v>129.17757946984898</c:v>
                </c:pt>
                <c:pt idx="483" formatCode="_(* #,##0_);_(* \(#,##0\);_(* &quot;   -&quot;?_);_(@_)">
                  <c:v>129.04451367620655</c:v>
                </c:pt>
                <c:pt idx="484" formatCode="_(* #,##0_);_(* \(#,##0\);_(* &quot;   -&quot;?_);_(@_)">
                  <c:v>128.33905375435631</c:v>
                </c:pt>
                <c:pt idx="485" formatCode="_(* #,##0_);_(* \(#,##0\);_(* &quot;   -&quot;?_);_(@_)">
                  <c:v>129.70456225578201</c:v>
                </c:pt>
                <c:pt idx="486" formatCode="_(* #,##0_);_(* \(#,##0\);_(* &quot;   -&quot;?_);_(@_)">
                  <c:v>129.70456225578201</c:v>
                </c:pt>
                <c:pt idx="487" formatCode="_(* #,##0_);_(* \(#,##0\);_(* &quot;   -&quot;?_);_(@_)">
                  <c:v>129.70456225578201</c:v>
                </c:pt>
                <c:pt idx="488" formatCode="_(* #,##0_);_(* \(#,##0\);_(* &quot;   -&quot;?_);_(@_)">
                  <c:v>129.70456225578201</c:v>
                </c:pt>
                <c:pt idx="489" formatCode="_(* #,##0_);_(* \(#,##0\);_(* &quot;   -&quot;?_);_(@_)">
                  <c:v>130.01135283556872</c:v>
                </c:pt>
              </c:numCache>
            </c:numRef>
          </c:val>
          <c:smooth val="0"/>
          <c:extLst>
            <c:ext xmlns:c16="http://schemas.microsoft.com/office/drawing/2014/chart" uri="{C3380CC4-5D6E-409C-BE32-E72D297353CC}">
              <c16:uniqueId val="{00000003-96E7-454A-A66A-36F382D4E673}"/>
            </c:ext>
          </c:extLst>
        </c:ser>
        <c:ser>
          <c:idx val="2"/>
          <c:order val="5"/>
          <c:tx>
            <c:strRef>
              <c:f>'BBG (Global Markets)'!$Q$11</c:f>
              <c:strCache>
                <c:ptCount val="1"/>
                <c:pt idx="0">
                  <c:v>S&amp;P 500 22.4%</c:v>
                </c:pt>
              </c:strCache>
            </c:strRef>
          </c:tx>
          <c:spPr>
            <a:ln w="15875" cap="rnd">
              <a:solidFill>
                <a:srgbClr val="FBDA97"/>
              </a:solidFill>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Markets)'!$Q$12:$Q$501</c:f>
              <c:numCache>
                <c:formatCode>_(* #,##0_);_(* \(#,##0\);_(* "   -"?_);_(@_)</c:formatCode>
                <c:ptCount val="490"/>
                <c:pt idx="1">
                  <c:v>100</c:v>
                </c:pt>
                <c:pt idx="2">
                  <c:v>99.777612668596973</c:v>
                </c:pt>
                <c:pt idx="3">
                  <c:v>101.03440712863612</c:v>
                </c:pt>
                <c:pt idx="4">
                  <c:v>101.03440712863612</c:v>
                </c:pt>
                <c:pt idx="5">
                  <c:v>101.03440712863612</c:v>
                </c:pt>
                <c:pt idx="6">
                  <c:v>101.59394589595061</c:v>
                </c:pt>
                <c:pt idx="7">
                  <c:v>100.46585725385648</c:v>
                </c:pt>
                <c:pt idx="8">
                  <c:v>100.62261651957026</c:v>
                </c:pt>
                <c:pt idx="9">
                  <c:v>100.62261651957026</c:v>
                </c:pt>
                <c:pt idx="10">
                  <c:v>99.071855931093936</c:v>
                </c:pt>
                <c:pt idx="11">
                  <c:v>99.071855931093936</c:v>
                </c:pt>
                <c:pt idx="12">
                  <c:v>99.071855931093936</c:v>
                </c:pt>
                <c:pt idx="13">
                  <c:v>99.227935113225413</c:v>
                </c:pt>
                <c:pt idx="14">
                  <c:v>99.341679092360451</c:v>
                </c:pt>
                <c:pt idx="15">
                  <c:v>101.16090267493874</c:v>
                </c:pt>
                <c:pt idx="16">
                  <c:v>100.94718640920971</c:v>
                </c:pt>
                <c:pt idx="17">
                  <c:v>101.95575036171944</c:v>
                </c:pt>
                <c:pt idx="18">
                  <c:v>101.95575036171944</c:v>
                </c:pt>
                <c:pt idx="19">
                  <c:v>101.95575036171944</c:v>
                </c:pt>
                <c:pt idx="20">
                  <c:v>101.95575036171944</c:v>
                </c:pt>
                <c:pt idx="21">
                  <c:v>102.84972023061634</c:v>
                </c:pt>
                <c:pt idx="22">
                  <c:v>103.48100781586056</c:v>
                </c:pt>
                <c:pt idx="23">
                  <c:v>104.03085539212769</c:v>
                </c:pt>
                <c:pt idx="24">
                  <c:v>103.73382888757028</c:v>
                </c:pt>
                <c:pt idx="25">
                  <c:v>103.73382888757028</c:v>
                </c:pt>
                <c:pt idx="26">
                  <c:v>103.73382888757028</c:v>
                </c:pt>
                <c:pt idx="27">
                  <c:v>102.22132300059677</c:v>
                </c:pt>
                <c:pt idx="28">
                  <c:v>103.16357880383498</c:v>
                </c:pt>
                <c:pt idx="29">
                  <c:v>102.68088948131727</c:v>
                </c:pt>
                <c:pt idx="30">
                  <c:v>103.2225760545971</c:v>
                </c:pt>
                <c:pt idx="31">
                  <c:v>102.70163203057656</c:v>
                </c:pt>
                <c:pt idx="32">
                  <c:v>102.70163203057656</c:v>
                </c:pt>
                <c:pt idx="33">
                  <c:v>102.70163203057656</c:v>
                </c:pt>
                <c:pt idx="34">
                  <c:v>101.92021599454573</c:v>
                </c:pt>
                <c:pt idx="35">
                  <c:v>102.65657649325102</c:v>
                </c:pt>
                <c:pt idx="36">
                  <c:v>103.05782580679164</c:v>
                </c:pt>
                <c:pt idx="37">
                  <c:v>103.43340196510151</c:v>
                </c:pt>
                <c:pt idx="38">
                  <c:v>102.45442164842058</c:v>
                </c:pt>
                <c:pt idx="39">
                  <c:v>102.45442164842058</c:v>
                </c:pt>
                <c:pt idx="40">
                  <c:v>102.45442164842058</c:v>
                </c:pt>
                <c:pt idx="41">
                  <c:v>103.1421561709934</c:v>
                </c:pt>
                <c:pt idx="42">
                  <c:v>103.17718047548044</c:v>
                </c:pt>
                <c:pt idx="43">
                  <c:v>102.89613593510643</c:v>
                </c:pt>
                <c:pt idx="44">
                  <c:v>103.96896778614091</c:v>
                </c:pt>
                <c:pt idx="45">
                  <c:v>103.96148686673592</c:v>
                </c:pt>
                <c:pt idx="46">
                  <c:v>103.96148686673592</c:v>
                </c:pt>
                <c:pt idx="47">
                  <c:v>103.96148686673592</c:v>
                </c:pt>
                <c:pt idx="48">
                  <c:v>103.96148686673592</c:v>
                </c:pt>
                <c:pt idx="49">
                  <c:v>104.21566810561018</c:v>
                </c:pt>
                <c:pt idx="50">
                  <c:v>104.46338855045285</c:v>
                </c:pt>
                <c:pt idx="51">
                  <c:v>104.0106229055551</c:v>
                </c:pt>
                <c:pt idx="52">
                  <c:v>102.23577477672006</c:v>
                </c:pt>
                <c:pt idx="53">
                  <c:v>102.23577477672006</c:v>
                </c:pt>
                <c:pt idx="54">
                  <c:v>102.23577477672006</c:v>
                </c:pt>
                <c:pt idx="55">
                  <c:v>101.72775234076268</c:v>
                </c:pt>
                <c:pt idx="56">
                  <c:v>101.2516938331721</c:v>
                </c:pt>
                <c:pt idx="57">
                  <c:v>101.26546552571311</c:v>
                </c:pt>
                <c:pt idx="58">
                  <c:v>99.658938083490455</c:v>
                </c:pt>
                <c:pt idx="59">
                  <c:v>101.2389422660045</c:v>
                </c:pt>
                <c:pt idx="60">
                  <c:v>101.2389422660045</c:v>
                </c:pt>
                <c:pt idx="61">
                  <c:v>101.2389422660045</c:v>
                </c:pt>
                <c:pt idx="62">
                  <c:v>99.457463322242305</c:v>
                </c:pt>
                <c:pt idx="63">
                  <c:v>98.24062377266165</c:v>
                </c:pt>
                <c:pt idx="64">
                  <c:v>99.336918507284537</c:v>
                </c:pt>
                <c:pt idx="65">
                  <c:v>97.566830963525419</c:v>
                </c:pt>
                <c:pt idx="66">
                  <c:v>98.105457160685035</c:v>
                </c:pt>
                <c:pt idx="67">
                  <c:v>98.105457160685035</c:v>
                </c:pt>
                <c:pt idx="68">
                  <c:v>98.105457160685035</c:v>
                </c:pt>
                <c:pt idx="69">
                  <c:v>95.459251942063688</c:v>
                </c:pt>
                <c:pt idx="70">
                  <c:v>94.736833156794958</c:v>
                </c:pt>
                <c:pt idx="71">
                  <c:v>95.199800055426806</c:v>
                </c:pt>
                <c:pt idx="72">
                  <c:v>93.877377529698407</c:v>
                </c:pt>
                <c:pt idx="73">
                  <c:v>95.873762885458618</c:v>
                </c:pt>
                <c:pt idx="74">
                  <c:v>95.873762885458618</c:v>
                </c:pt>
                <c:pt idx="75">
                  <c:v>95.873762885458618</c:v>
                </c:pt>
                <c:pt idx="76">
                  <c:v>96.488898485623878</c:v>
                </c:pt>
                <c:pt idx="77">
                  <c:v>95.460952151019356</c:v>
                </c:pt>
                <c:pt idx="78">
                  <c:v>96.491788840848542</c:v>
                </c:pt>
                <c:pt idx="79">
                  <c:v>96.280962930344145</c:v>
                </c:pt>
                <c:pt idx="80">
                  <c:v>96.360362688574426</c:v>
                </c:pt>
                <c:pt idx="81">
                  <c:v>96.360362688574426</c:v>
                </c:pt>
                <c:pt idx="82">
                  <c:v>96.360362688574426</c:v>
                </c:pt>
                <c:pt idx="83">
                  <c:v>98.060741665150644</c:v>
                </c:pt>
                <c:pt idx="84">
                  <c:v>98.215120638326454</c:v>
                </c:pt>
                <c:pt idx="85">
                  <c:v>97.119335966390267</c:v>
                </c:pt>
                <c:pt idx="86">
                  <c:v>96.798166494662198</c:v>
                </c:pt>
                <c:pt idx="87">
                  <c:v>94.887641691163836</c:v>
                </c:pt>
                <c:pt idx="88">
                  <c:v>94.887641691163836</c:v>
                </c:pt>
                <c:pt idx="89">
                  <c:v>94.887641691163836</c:v>
                </c:pt>
                <c:pt idx="90">
                  <c:v>95.413176279364748</c:v>
                </c:pt>
                <c:pt idx="91">
                  <c:v>95.77396061976016</c:v>
                </c:pt>
                <c:pt idx="92">
                  <c:v>96.418339813963144</c:v>
                </c:pt>
                <c:pt idx="93">
                  <c:v>91.752116335097583</c:v>
                </c:pt>
                <c:pt idx="94">
                  <c:v>86.269962578400879</c:v>
                </c:pt>
                <c:pt idx="95">
                  <c:v>86.269962578400879</c:v>
                </c:pt>
                <c:pt idx="96">
                  <c:v>86.269962578400879</c:v>
                </c:pt>
                <c:pt idx="97">
                  <c:v>86.068827858943862</c:v>
                </c:pt>
                <c:pt idx="98">
                  <c:v>84.717501780968888</c:v>
                </c:pt>
                <c:pt idx="99">
                  <c:v>92.778702502537556</c:v>
                </c:pt>
                <c:pt idx="100">
                  <c:v>89.567857889734654</c:v>
                </c:pt>
                <c:pt idx="101">
                  <c:v>91.188327045393862</c:v>
                </c:pt>
                <c:pt idx="102">
                  <c:v>91.188327045393862</c:v>
                </c:pt>
                <c:pt idx="103">
                  <c:v>91.188327045393862</c:v>
                </c:pt>
                <c:pt idx="104">
                  <c:v>91.912786081409408</c:v>
                </c:pt>
                <c:pt idx="105">
                  <c:v>91.753986564948832</c:v>
                </c:pt>
                <c:pt idx="106">
                  <c:v>89.697923874844207</c:v>
                </c:pt>
                <c:pt idx="107">
                  <c:v>89.816938501741859</c:v>
                </c:pt>
                <c:pt idx="108">
                  <c:v>89.816938501741859</c:v>
                </c:pt>
                <c:pt idx="109">
                  <c:v>89.816938501741859</c:v>
                </c:pt>
                <c:pt idx="110">
                  <c:v>89.816938501741859</c:v>
                </c:pt>
                <c:pt idx="111">
                  <c:v>87.700178351919448</c:v>
                </c:pt>
                <c:pt idx="112">
                  <c:v>89.902969074899303</c:v>
                </c:pt>
                <c:pt idx="113">
                  <c:v>91.400853164853956</c:v>
                </c:pt>
                <c:pt idx="114">
                  <c:v>93.252550738485766</c:v>
                </c:pt>
                <c:pt idx="115">
                  <c:v>93.94011524016301</c:v>
                </c:pt>
                <c:pt idx="116">
                  <c:v>93.94011524016301</c:v>
                </c:pt>
                <c:pt idx="117">
                  <c:v>93.94011524016301</c:v>
                </c:pt>
                <c:pt idx="118">
                  <c:v>94.00030263719411</c:v>
                </c:pt>
                <c:pt idx="119">
                  <c:v>94.545729670176456</c:v>
                </c:pt>
                <c:pt idx="120">
                  <c:v>94.685656867228985</c:v>
                </c:pt>
                <c:pt idx="121">
                  <c:v>95.282090168881766</c:v>
                </c:pt>
                <c:pt idx="122">
                  <c:v>96.685272620005009</c:v>
                </c:pt>
                <c:pt idx="123">
                  <c:v>96.685272620005009</c:v>
                </c:pt>
                <c:pt idx="124">
                  <c:v>96.685272620005009</c:v>
                </c:pt>
                <c:pt idx="125">
                  <c:v>96.068266789988485</c:v>
                </c:pt>
                <c:pt idx="126">
                  <c:v>95.329185956954106</c:v>
                </c:pt>
                <c:pt idx="127">
                  <c:v>95.743526879453484</c:v>
                </c:pt>
                <c:pt idx="128">
                  <c:v>96.298815124378777</c:v>
                </c:pt>
                <c:pt idx="129">
                  <c:v>96.230296703464859</c:v>
                </c:pt>
                <c:pt idx="130">
                  <c:v>96.230296703464859</c:v>
                </c:pt>
                <c:pt idx="131">
                  <c:v>96.230296703464859</c:v>
                </c:pt>
                <c:pt idx="132">
                  <c:v>99.363441766993148</c:v>
                </c:pt>
                <c:pt idx="133">
                  <c:v>100.08365028061949</c:v>
                </c:pt>
                <c:pt idx="134">
                  <c:v>100.18617288064702</c:v>
                </c:pt>
                <c:pt idx="135">
                  <c:v>100.60017376135528</c:v>
                </c:pt>
                <c:pt idx="136">
                  <c:v>101.3049103734849</c:v>
                </c:pt>
                <c:pt idx="137">
                  <c:v>101.3049103734849</c:v>
                </c:pt>
                <c:pt idx="138">
                  <c:v>101.3049103734849</c:v>
                </c:pt>
                <c:pt idx="139">
                  <c:v>101.39366128097143</c:v>
                </c:pt>
                <c:pt idx="140">
                  <c:v>101.00023292862691</c:v>
                </c:pt>
                <c:pt idx="141">
                  <c:v>99.370582644607026</c:v>
                </c:pt>
                <c:pt idx="142">
                  <c:v>99.326377211759336</c:v>
                </c:pt>
                <c:pt idx="143">
                  <c:v>98.660065322028061</c:v>
                </c:pt>
                <c:pt idx="144">
                  <c:v>98.660065322028061</c:v>
                </c:pt>
                <c:pt idx="145">
                  <c:v>98.660065322028061</c:v>
                </c:pt>
                <c:pt idx="146">
                  <c:v>98.660065322028061</c:v>
                </c:pt>
                <c:pt idx="147">
                  <c:v>100.67855339421214</c:v>
                </c:pt>
                <c:pt idx="148">
                  <c:v>100.1176544597331</c:v>
                </c:pt>
                <c:pt idx="149">
                  <c:v>100.51924381506487</c:v>
                </c:pt>
                <c:pt idx="150">
                  <c:v>100.51108281207759</c:v>
                </c:pt>
                <c:pt idx="151">
                  <c:v>100.51108281207759</c:v>
                </c:pt>
                <c:pt idx="152">
                  <c:v>100.51108281207759</c:v>
                </c:pt>
                <c:pt idx="153">
                  <c:v>100.92338348383016</c:v>
                </c:pt>
                <c:pt idx="154">
                  <c:v>101.50876542727102</c:v>
                </c:pt>
                <c:pt idx="155">
                  <c:v>101.51624634667601</c:v>
                </c:pt>
                <c:pt idx="156">
                  <c:v>100.98051050474103</c:v>
                </c:pt>
                <c:pt idx="157">
                  <c:v>102.01865809307964</c:v>
                </c:pt>
                <c:pt idx="158">
                  <c:v>102.01865809307964</c:v>
                </c:pt>
                <c:pt idx="159">
                  <c:v>102.01865809307964</c:v>
                </c:pt>
                <c:pt idx="160">
                  <c:v>102.11250962743321</c:v>
                </c:pt>
                <c:pt idx="161">
                  <c:v>102.67238843653885</c:v>
                </c:pt>
                <c:pt idx="162">
                  <c:v>102.39066381258257</c:v>
                </c:pt>
                <c:pt idx="163">
                  <c:v>102.78205191418026</c:v>
                </c:pt>
                <c:pt idx="164">
                  <c:v>101.62097921834594</c:v>
                </c:pt>
                <c:pt idx="165">
                  <c:v>101.62097921834594</c:v>
                </c:pt>
                <c:pt idx="166">
                  <c:v>101.62097921834594</c:v>
                </c:pt>
                <c:pt idx="167">
                  <c:v>102.57547652606505</c:v>
                </c:pt>
                <c:pt idx="168">
                  <c:v>101.71874123329758</c:v>
                </c:pt>
                <c:pt idx="169">
                  <c:v>101.68728736761747</c:v>
                </c:pt>
                <c:pt idx="170">
                  <c:v>101.68728736761747</c:v>
                </c:pt>
                <c:pt idx="171">
                  <c:v>101.46575014069231</c:v>
                </c:pt>
                <c:pt idx="172">
                  <c:v>101.46575014069231</c:v>
                </c:pt>
                <c:pt idx="173">
                  <c:v>101.46575014069231</c:v>
                </c:pt>
                <c:pt idx="174">
                  <c:v>102.44047993498401</c:v>
                </c:pt>
                <c:pt idx="175">
                  <c:v>103.57978995618562</c:v>
                </c:pt>
                <c:pt idx="176">
                  <c:v>103.57944991439447</c:v>
                </c:pt>
                <c:pt idx="177">
                  <c:v>104.41017201014004</c:v>
                </c:pt>
                <c:pt idx="178">
                  <c:v>104.95508898043569</c:v>
                </c:pt>
                <c:pt idx="179">
                  <c:v>104.95508898043569</c:v>
                </c:pt>
                <c:pt idx="180">
                  <c:v>104.95508898043569</c:v>
                </c:pt>
                <c:pt idx="181">
                  <c:v>105.49711559550667</c:v>
                </c:pt>
                <c:pt idx="182">
                  <c:v>105.37912109398245</c:v>
                </c:pt>
                <c:pt idx="183">
                  <c:v>105.87915254784812</c:v>
                </c:pt>
                <c:pt idx="184">
                  <c:v>106.76207105853311</c:v>
                </c:pt>
                <c:pt idx="185">
                  <c:v>106.76207105853311</c:v>
                </c:pt>
                <c:pt idx="186">
                  <c:v>106.76207105853311</c:v>
                </c:pt>
                <c:pt idx="187">
                  <c:v>106.76207105853311</c:v>
                </c:pt>
                <c:pt idx="188">
                  <c:v>105.92267789711354</c:v>
                </c:pt>
                <c:pt idx="189">
                  <c:v>105.8468485776902</c:v>
                </c:pt>
                <c:pt idx="190">
                  <c:v>106.48850743756408</c:v>
                </c:pt>
                <c:pt idx="191">
                  <c:v>106.78094337794116</c:v>
                </c:pt>
                <c:pt idx="192">
                  <c:v>106.42883010321968</c:v>
                </c:pt>
                <c:pt idx="193">
                  <c:v>106.42883010321968</c:v>
                </c:pt>
                <c:pt idx="194">
                  <c:v>106.42883010321968</c:v>
                </c:pt>
                <c:pt idx="195">
                  <c:v>106.57861851221514</c:v>
                </c:pt>
                <c:pt idx="196">
                  <c:v>106.15696669120635</c:v>
                </c:pt>
                <c:pt idx="197">
                  <c:v>106.49598835696908</c:v>
                </c:pt>
                <c:pt idx="198">
                  <c:v>107.06827869145117</c:v>
                </c:pt>
                <c:pt idx="199">
                  <c:v>107.0585875004038</c:v>
                </c:pt>
                <c:pt idx="200">
                  <c:v>107.0585875004038</c:v>
                </c:pt>
                <c:pt idx="201">
                  <c:v>107.0585875004038</c:v>
                </c:pt>
                <c:pt idx="202">
                  <c:v>107.20837590939927</c:v>
                </c:pt>
                <c:pt idx="203">
                  <c:v>107.27672430941762</c:v>
                </c:pt>
                <c:pt idx="204">
                  <c:v>108.11475730367262</c:v>
                </c:pt>
                <c:pt idx="205">
                  <c:v>108.19024658130485</c:v>
                </c:pt>
                <c:pt idx="206">
                  <c:v>108.62022942619649</c:v>
                </c:pt>
                <c:pt idx="207">
                  <c:v>108.62022942619649</c:v>
                </c:pt>
                <c:pt idx="208">
                  <c:v>108.62022942619649</c:v>
                </c:pt>
                <c:pt idx="209">
                  <c:v>108.63944178739568</c:v>
                </c:pt>
                <c:pt idx="210">
                  <c:v>108.31793227387645</c:v>
                </c:pt>
                <c:pt idx="211">
                  <c:v>108.18259564100427</c:v>
                </c:pt>
                <c:pt idx="212">
                  <c:v>107.78287651552377</c:v>
                </c:pt>
                <c:pt idx="213">
                  <c:v>106.05920467625471</c:v>
                </c:pt>
                <c:pt idx="214">
                  <c:v>106.05920467625471</c:v>
                </c:pt>
                <c:pt idx="215">
                  <c:v>106.05920467625471</c:v>
                </c:pt>
                <c:pt idx="216">
                  <c:v>107.62220676921193</c:v>
                </c:pt>
                <c:pt idx="217">
                  <c:v>107.09939251534013</c:v>
                </c:pt>
                <c:pt idx="218">
                  <c:v>107.87927836331086</c:v>
                </c:pt>
                <c:pt idx="219">
                  <c:v>107.7932477901534</c:v>
                </c:pt>
                <c:pt idx="220">
                  <c:v>108.63400111873749</c:v>
                </c:pt>
                <c:pt idx="221">
                  <c:v>108.63400111873749</c:v>
                </c:pt>
                <c:pt idx="222">
                  <c:v>108.63400111873749</c:v>
                </c:pt>
                <c:pt idx="223">
                  <c:v>108.36196768582857</c:v>
                </c:pt>
                <c:pt idx="224">
                  <c:v>109.59138878168126</c:v>
                </c:pt>
                <c:pt idx="225">
                  <c:v>109.94537228625398</c:v>
                </c:pt>
                <c:pt idx="226">
                  <c:v>109.97869638178533</c:v>
                </c:pt>
                <c:pt idx="227">
                  <c:v>109.66007722349076</c:v>
                </c:pt>
                <c:pt idx="228">
                  <c:v>109.66007722349076</c:v>
                </c:pt>
                <c:pt idx="229">
                  <c:v>109.66007722349076</c:v>
                </c:pt>
                <c:pt idx="230">
                  <c:v>109.64902586527883</c:v>
                </c:pt>
                <c:pt idx="231">
                  <c:v>109.00668692182269</c:v>
                </c:pt>
                <c:pt idx="232">
                  <c:v>108.74162434563208</c:v>
                </c:pt>
                <c:pt idx="233">
                  <c:v>108.30620083208227</c:v>
                </c:pt>
                <c:pt idx="234">
                  <c:v>109.95098297580772</c:v>
                </c:pt>
                <c:pt idx="235">
                  <c:v>109.95098297580772</c:v>
                </c:pt>
                <c:pt idx="236">
                  <c:v>109.95098297580772</c:v>
                </c:pt>
                <c:pt idx="237">
                  <c:v>109.48189532493542</c:v>
                </c:pt>
                <c:pt idx="238">
                  <c:v>109.93449094893761</c:v>
                </c:pt>
                <c:pt idx="239">
                  <c:v>110.19734325348584</c:v>
                </c:pt>
                <c:pt idx="240">
                  <c:v>110.5452060058181</c:v>
                </c:pt>
                <c:pt idx="241">
                  <c:v>109.83791908025498</c:v>
                </c:pt>
                <c:pt idx="242">
                  <c:v>109.83791908025498</c:v>
                </c:pt>
                <c:pt idx="243">
                  <c:v>109.83791908025498</c:v>
                </c:pt>
                <c:pt idx="244">
                  <c:v>109.83791908025498</c:v>
                </c:pt>
                <c:pt idx="245">
                  <c:v>109.07758563527456</c:v>
                </c:pt>
                <c:pt idx="246">
                  <c:v>109.63389400557328</c:v>
                </c:pt>
                <c:pt idx="247">
                  <c:v>110.5489464655206</c:v>
                </c:pt>
                <c:pt idx="248">
                  <c:v>110.19904346244154</c:v>
                </c:pt>
                <c:pt idx="249">
                  <c:v>110.19904346244154</c:v>
                </c:pt>
                <c:pt idx="250">
                  <c:v>110.19904346244154</c:v>
                </c:pt>
                <c:pt idx="251">
                  <c:v>110.43112198489193</c:v>
                </c:pt>
                <c:pt idx="252">
                  <c:v>110.72797846855377</c:v>
                </c:pt>
                <c:pt idx="253">
                  <c:v>111.05832906864252</c:v>
                </c:pt>
                <c:pt idx="254">
                  <c:v>112.00075489277633</c:v>
                </c:pt>
                <c:pt idx="255">
                  <c:v>111.94668824798568</c:v>
                </c:pt>
                <c:pt idx="256">
                  <c:v>111.94668824798568</c:v>
                </c:pt>
                <c:pt idx="257">
                  <c:v>111.94668824798568</c:v>
                </c:pt>
                <c:pt idx="258">
                  <c:v>112.47358300335111</c:v>
                </c:pt>
                <c:pt idx="259">
                  <c:v>112.32872520032713</c:v>
                </c:pt>
                <c:pt idx="260">
                  <c:v>112.21974180626799</c:v>
                </c:pt>
                <c:pt idx="261">
                  <c:v>112.75717785715864</c:v>
                </c:pt>
                <c:pt idx="262">
                  <c:v>113.30804555879917</c:v>
                </c:pt>
                <c:pt idx="263">
                  <c:v>113.30804555879917</c:v>
                </c:pt>
                <c:pt idx="264">
                  <c:v>113.30804555879917</c:v>
                </c:pt>
                <c:pt idx="265">
                  <c:v>113.80773697087372</c:v>
                </c:pt>
                <c:pt idx="266">
                  <c:v>113.18155001249654</c:v>
                </c:pt>
                <c:pt idx="267">
                  <c:v>112.85936041539506</c:v>
                </c:pt>
                <c:pt idx="268">
                  <c:v>112.29404093763125</c:v>
                </c:pt>
                <c:pt idx="269">
                  <c:v>112.95678238855555</c:v>
                </c:pt>
                <c:pt idx="270">
                  <c:v>112.95678238855555</c:v>
                </c:pt>
                <c:pt idx="271">
                  <c:v>112.95678238855555</c:v>
                </c:pt>
                <c:pt idx="272">
                  <c:v>113.25448897669523</c:v>
                </c:pt>
                <c:pt idx="273">
                  <c:v>113.71779591711821</c:v>
                </c:pt>
                <c:pt idx="274">
                  <c:v>114.10442343363998</c:v>
                </c:pt>
                <c:pt idx="275">
                  <c:v>114.17498210530074</c:v>
                </c:pt>
                <c:pt idx="276">
                  <c:v>114.18246302470574</c:v>
                </c:pt>
                <c:pt idx="277">
                  <c:v>114.18246302470574</c:v>
                </c:pt>
                <c:pt idx="278">
                  <c:v>114.18246302470574</c:v>
                </c:pt>
                <c:pt idx="279">
                  <c:v>114.59884419795192</c:v>
                </c:pt>
                <c:pt idx="280">
                  <c:v>114.16206051723756</c:v>
                </c:pt>
                <c:pt idx="281">
                  <c:v>114.82735228159542</c:v>
                </c:pt>
                <c:pt idx="282">
                  <c:v>114.51094339494323</c:v>
                </c:pt>
                <c:pt idx="283">
                  <c:v>111.40636184187036</c:v>
                </c:pt>
                <c:pt idx="284">
                  <c:v>111.40636184187036</c:v>
                </c:pt>
                <c:pt idx="285">
                  <c:v>111.40636184187036</c:v>
                </c:pt>
                <c:pt idx="286">
                  <c:v>113.14414541547156</c:v>
                </c:pt>
                <c:pt idx="287">
                  <c:v>112.96715366318521</c:v>
                </c:pt>
                <c:pt idx="288">
                  <c:v>113.42195955882978</c:v>
                </c:pt>
                <c:pt idx="289">
                  <c:v>112.70804181833947</c:v>
                </c:pt>
                <c:pt idx="290">
                  <c:v>113.3020948274543</c:v>
                </c:pt>
                <c:pt idx="291">
                  <c:v>113.3020948274543</c:v>
                </c:pt>
                <c:pt idx="292">
                  <c:v>113.3020948274543</c:v>
                </c:pt>
                <c:pt idx="293">
                  <c:v>114.51128343673437</c:v>
                </c:pt>
                <c:pt idx="294">
                  <c:v>114.51502389643689</c:v>
                </c:pt>
                <c:pt idx="295">
                  <c:v>113.90379877686966</c:v>
                </c:pt>
                <c:pt idx="296">
                  <c:v>114.56756035316739</c:v>
                </c:pt>
                <c:pt idx="297">
                  <c:v>115.47292162206735</c:v>
                </c:pt>
                <c:pt idx="298">
                  <c:v>115.47292162206735</c:v>
                </c:pt>
                <c:pt idx="299">
                  <c:v>115.47292162206735</c:v>
                </c:pt>
                <c:pt idx="300">
                  <c:v>116.892086037374</c:v>
                </c:pt>
                <c:pt idx="301">
                  <c:v>117.15952890610257</c:v>
                </c:pt>
                <c:pt idx="302">
                  <c:v>117.15442827923552</c:v>
                </c:pt>
                <c:pt idx="303">
                  <c:v>115.99403566698348</c:v>
                </c:pt>
                <c:pt idx="304">
                  <c:v>116.29769298646804</c:v>
                </c:pt>
                <c:pt idx="305">
                  <c:v>116.29769298646804</c:v>
                </c:pt>
                <c:pt idx="306">
                  <c:v>116.29769298646804</c:v>
                </c:pt>
                <c:pt idx="307">
                  <c:v>116.49780758055167</c:v>
                </c:pt>
                <c:pt idx="308">
                  <c:v>115.13049953839327</c:v>
                </c:pt>
                <c:pt idx="309">
                  <c:v>115.55113123402867</c:v>
                </c:pt>
                <c:pt idx="310">
                  <c:v>114.25948249039806</c:v>
                </c:pt>
                <c:pt idx="311">
                  <c:v>114.40366020983979</c:v>
                </c:pt>
                <c:pt idx="312">
                  <c:v>114.40366020983979</c:v>
                </c:pt>
                <c:pt idx="313">
                  <c:v>114.40366020983979</c:v>
                </c:pt>
                <c:pt idx="314">
                  <c:v>116.16558675061167</c:v>
                </c:pt>
                <c:pt idx="315">
                  <c:v>116.40667638052716</c:v>
                </c:pt>
                <c:pt idx="316">
                  <c:v>116.47995538651701</c:v>
                </c:pt>
                <c:pt idx="317">
                  <c:v>114.55140836808843</c:v>
                </c:pt>
                <c:pt idx="318">
                  <c:v>114.49394130538641</c:v>
                </c:pt>
                <c:pt idx="319">
                  <c:v>114.49394130538641</c:v>
                </c:pt>
                <c:pt idx="320">
                  <c:v>114.49394130538641</c:v>
                </c:pt>
                <c:pt idx="321">
                  <c:v>113.44491237973146</c:v>
                </c:pt>
                <c:pt idx="322">
                  <c:v>112.50826726604699</c:v>
                </c:pt>
                <c:pt idx="323">
                  <c:v>112.93059917063806</c:v>
                </c:pt>
                <c:pt idx="324">
                  <c:v>111.17258311046427</c:v>
                </c:pt>
                <c:pt idx="325">
                  <c:v>112.26462732269795</c:v>
                </c:pt>
                <c:pt idx="326">
                  <c:v>112.26462732269795</c:v>
                </c:pt>
                <c:pt idx="327">
                  <c:v>112.26462732269795</c:v>
                </c:pt>
                <c:pt idx="328">
                  <c:v>114.0010507291346</c:v>
                </c:pt>
                <c:pt idx="329">
                  <c:v>115.03409769060617</c:v>
                </c:pt>
                <c:pt idx="330">
                  <c:v>115.82860533559574</c:v>
                </c:pt>
                <c:pt idx="331">
                  <c:v>115.82860533559574</c:v>
                </c:pt>
                <c:pt idx="332">
                  <c:v>116.44884156262805</c:v>
                </c:pt>
                <c:pt idx="333">
                  <c:v>116.44884156262805</c:v>
                </c:pt>
                <c:pt idx="334">
                  <c:v>116.44884156262805</c:v>
                </c:pt>
                <c:pt idx="335">
                  <c:v>115.82894537738689</c:v>
                </c:pt>
                <c:pt idx="336">
                  <c:v>116.11356035656782</c:v>
                </c:pt>
                <c:pt idx="337">
                  <c:v>116.45955287904883</c:v>
                </c:pt>
                <c:pt idx="338">
                  <c:v>116.5853683417692</c:v>
                </c:pt>
                <c:pt idx="339">
                  <c:v>116.81115609108359</c:v>
                </c:pt>
                <c:pt idx="340">
                  <c:v>116.81115609108359</c:v>
                </c:pt>
                <c:pt idx="341">
                  <c:v>116.81115609108359</c:v>
                </c:pt>
                <c:pt idx="342">
                  <c:v>116.40497617157149</c:v>
                </c:pt>
                <c:pt idx="343">
                  <c:v>116.30296363423065</c:v>
                </c:pt>
                <c:pt idx="344">
                  <c:v>117.0879501090684</c:v>
                </c:pt>
                <c:pt idx="345">
                  <c:v>117.33142003152189</c:v>
                </c:pt>
                <c:pt idx="346">
                  <c:v>116.08023626103648</c:v>
                </c:pt>
                <c:pt idx="347">
                  <c:v>116.08023626103648</c:v>
                </c:pt>
                <c:pt idx="348">
                  <c:v>116.08023626103648</c:v>
                </c:pt>
                <c:pt idx="349">
                  <c:v>115.89491348486729</c:v>
                </c:pt>
                <c:pt idx="350">
                  <c:v>115.61862952956918</c:v>
                </c:pt>
                <c:pt idx="351">
                  <c:v>114.27835480980613</c:v>
                </c:pt>
                <c:pt idx="352">
                  <c:v>115.18507624587062</c:v>
                </c:pt>
                <c:pt idx="353">
                  <c:v>116.20078107599423</c:v>
                </c:pt>
                <c:pt idx="354">
                  <c:v>116.20078107599423</c:v>
                </c:pt>
                <c:pt idx="355">
                  <c:v>116.20078107599423</c:v>
                </c:pt>
                <c:pt idx="356">
                  <c:v>116.94870299559817</c:v>
                </c:pt>
                <c:pt idx="357">
                  <c:v>117.4808683987262</c:v>
                </c:pt>
                <c:pt idx="358">
                  <c:v>117.85933491226072</c:v>
                </c:pt>
                <c:pt idx="359">
                  <c:v>117.85933491226072</c:v>
                </c:pt>
                <c:pt idx="360">
                  <c:v>117.82346050329583</c:v>
                </c:pt>
                <c:pt idx="361">
                  <c:v>117.82346050329583</c:v>
                </c:pt>
                <c:pt idx="362">
                  <c:v>117.82346050329583</c:v>
                </c:pt>
                <c:pt idx="363">
                  <c:v>117.41200993602112</c:v>
                </c:pt>
                <c:pt idx="364">
                  <c:v>117.25049008523148</c:v>
                </c:pt>
                <c:pt idx="365">
                  <c:v>116.3878040611191</c:v>
                </c:pt>
                <c:pt idx="366">
                  <c:v>116.3878040611191</c:v>
                </c:pt>
                <c:pt idx="367">
                  <c:v>116.6083211626709</c:v>
                </c:pt>
                <c:pt idx="368">
                  <c:v>116.6083211626709</c:v>
                </c:pt>
                <c:pt idx="369">
                  <c:v>116.6083211626709</c:v>
                </c:pt>
                <c:pt idx="370">
                  <c:v>117.34927222555652</c:v>
                </c:pt>
                <c:pt idx="371">
                  <c:v>118.07645159590112</c:v>
                </c:pt>
                <c:pt idx="372">
                  <c:v>117.67027167638904</c:v>
                </c:pt>
                <c:pt idx="373">
                  <c:v>117.67928278385413</c:v>
                </c:pt>
                <c:pt idx="374">
                  <c:v>118.44131643779019</c:v>
                </c:pt>
                <c:pt idx="375">
                  <c:v>118.44131643779019</c:v>
                </c:pt>
                <c:pt idx="376">
                  <c:v>118.44131643779019</c:v>
                </c:pt>
                <c:pt idx="377">
                  <c:v>118.62816940201952</c:v>
                </c:pt>
                <c:pt idx="378">
                  <c:v>118.39813113031592</c:v>
                </c:pt>
                <c:pt idx="379">
                  <c:v>117.76667352417614</c:v>
                </c:pt>
                <c:pt idx="380">
                  <c:v>118.07050086455627</c:v>
                </c:pt>
                <c:pt idx="381">
                  <c:v>117.9946715451329</c:v>
                </c:pt>
                <c:pt idx="382">
                  <c:v>117.9946715451329</c:v>
                </c:pt>
                <c:pt idx="383">
                  <c:v>117.9946715451329</c:v>
                </c:pt>
                <c:pt idx="384">
                  <c:v>117.9946715451329</c:v>
                </c:pt>
                <c:pt idx="385">
                  <c:v>115.56082242507604</c:v>
                </c:pt>
                <c:pt idx="386">
                  <c:v>116.89990699857012</c:v>
                </c:pt>
                <c:pt idx="387">
                  <c:v>117.54139583754844</c:v>
                </c:pt>
                <c:pt idx="388">
                  <c:v>117.5798205599468</c:v>
                </c:pt>
                <c:pt idx="389">
                  <c:v>117.5798205599468</c:v>
                </c:pt>
                <c:pt idx="390">
                  <c:v>117.5798205599468</c:v>
                </c:pt>
                <c:pt idx="391">
                  <c:v>118.16843290040345</c:v>
                </c:pt>
                <c:pt idx="392">
                  <c:v>118.65078218113005</c:v>
                </c:pt>
                <c:pt idx="393">
                  <c:v>118.64109099008266</c:v>
                </c:pt>
                <c:pt idx="394">
                  <c:v>118.48773214228028</c:v>
                </c:pt>
                <c:pt idx="395">
                  <c:v>117.97800949736721</c:v>
                </c:pt>
                <c:pt idx="396">
                  <c:v>117.97800949736721</c:v>
                </c:pt>
                <c:pt idx="397">
                  <c:v>117.97800949736721</c:v>
                </c:pt>
                <c:pt idx="398">
                  <c:v>118.61405766768736</c:v>
                </c:pt>
                <c:pt idx="399">
                  <c:v>117.6172251569718</c:v>
                </c:pt>
                <c:pt idx="400">
                  <c:v>117.02062183442345</c:v>
                </c:pt>
                <c:pt idx="401">
                  <c:v>115.58700564299352</c:v>
                </c:pt>
                <c:pt idx="402">
                  <c:v>117.86358543464992</c:v>
                </c:pt>
                <c:pt idx="403">
                  <c:v>117.86358543464992</c:v>
                </c:pt>
                <c:pt idx="404">
                  <c:v>117.86358543464992</c:v>
                </c:pt>
                <c:pt idx="405">
                  <c:v>118.41649338703726</c:v>
                </c:pt>
                <c:pt idx="406">
                  <c:v>118.02527530633515</c:v>
                </c:pt>
                <c:pt idx="407">
                  <c:v>118.01949459588583</c:v>
                </c:pt>
                <c:pt idx="408">
                  <c:v>116.1711974401654</c:v>
                </c:pt>
                <c:pt idx="409">
                  <c:v>116.2291745655541</c:v>
                </c:pt>
                <c:pt idx="410">
                  <c:v>116.2291745655541</c:v>
                </c:pt>
                <c:pt idx="411">
                  <c:v>116.2291745655541</c:v>
                </c:pt>
                <c:pt idx="412">
                  <c:v>116.2291745655541</c:v>
                </c:pt>
                <c:pt idx="413">
                  <c:v>116.34903929692959</c:v>
                </c:pt>
                <c:pt idx="414">
                  <c:v>116.99664888814836</c:v>
                </c:pt>
                <c:pt idx="415">
                  <c:v>116.66646830895517</c:v>
                </c:pt>
                <c:pt idx="416">
                  <c:v>117.4761078136503</c:v>
                </c:pt>
                <c:pt idx="417">
                  <c:v>117.4761078136503</c:v>
                </c:pt>
                <c:pt idx="418">
                  <c:v>117.4761078136503</c:v>
                </c:pt>
                <c:pt idx="419">
                  <c:v>116.25603786705385</c:v>
                </c:pt>
                <c:pt idx="420">
                  <c:v>117.14558719266597</c:v>
                </c:pt>
                <c:pt idx="421">
                  <c:v>118.09872433322055</c:v>
                </c:pt>
                <c:pt idx="422">
                  <c:v>117.46505645543837</c:v>
                </c:pt>
                <c:pt idx="423">
                  <c:v>116.95533381052532</c:v>
                </c:pt>
                <c:pt idx="424">
                  <c:v>116.95533381052532</c:v>
                </c:pt>
                <c:pt idx="425">
                  <c:v>116.95533381052532</c:v>
                </c:pt>
                <c:pt idx="426">
                  <c:v>117.00191953591097</c:v>
                </c:pt>
                <c:pt idx="427">
                  <c:v>115.8969537356141</c:v>
                </c:pt>
                <c:pt idx="428">
                  <c:v>116.79585421048246</c:v>
                </c:pt>
                <c:pt idx="429">
                  <c:v>116.13634315657396</c:v>
                </c:pt>
                <c:pt idx="430">
                  <c:v>114.59442365466717</c:v>
                </c:pt>
                <c:pt idx="431">
                  <c:v>114.59442365466717</c:v>
                </c:pt>
                <c:pt idx="432">
                  <c:v>114.59442365466717</c:v>
                </c:pt>
                <c:pt idx="433">
                  <c:v>115.54603060716163</c:v>
                </c:pt>
                <c:pt idx="434">
                  <c:v>115.29933028769234</c:v>
                </c:pt>
                <c:pt idx="435">
                  <c:v>115.20275841900968</c:v>
                </c:pt>
                <c:pt idx="436">
                  <c:v>113.44848281853839</c:v>
                </c:pt>
                <c:pt idx="437">
                  <c:v>112.7610883377567</c:v>
                </c:pt>
                <c:pt idx="438">
                  <c:v>112.7610883377567</c:v>
                </c:pt>
                <c:pt idx="439">
                  <c:v>112.7610883377567</c:v>
                </c:pt>
                <c:pt idx="440">
                  <c:v>113.90345873507854</c:v>
                </c:pt>
                <c:pt idx="441">
                  <c:v>114.18756365157279</c:v>
                </c:pt>
                <c:pt idx="442">
                  <c:v>112.63374268697623</c:v>
                </c:pt>
                <c:pt idx="443">
                  <c:v>112.32413463614677</c:v>
                </c:pt>
                <c:pt idx="444">
                  <c:v>110.62375565957055</c:v>
                </c:pt>
                <c:pt idx="445">
                  <c:v>110.62375565957055</c:v>
                </c:pt>
                <c:pt idx="446">
                  <c:v>110.62375565957055</c:v>
                </c:pt>
                <c:pt idx="447">
                  <c:v>111.89075137334379</c:v>
                </c:pt>
                <c:pt idx="448">
                  <c:v>111.47198990755965</c:v>
                </c:pt>
                <c:pt idx="449">
                  <c:v>112.07607414951298</c:v>
                </c:pt>
                <c:pt idx="450">
                  <c:v>110.12525439376499</c:v>
                </c:pt>
                <c:pt idx="451">
                  <c:v>108.28375807386728</c:v>
                </c:pt>
                <c:pt idx="452">
                  <c:v>108.28375807386728</c:v>
                </c:pt>
                <c:pt idx="453">
                  <c:v>108.28375807386728</c:v>
                </c:pt>
                <c:pt idx="454">
                  <c:v>107.85649556330472</c:v>
                </c:pt>
                <c:pt idx="455">
                  <c:v>110.99848171340258</c:v>
                </c:pt>
                <c:pt idx="456">
                  <c:v>111.7941795046611</c:v>
                </c:pt>
                <c:pt idx="457">
                  <c:v>111.91948490469478</c:v>
                </c:pt>
                <c:pt idx="458">
                  <c:v>111.91948490469478</c:v>
                </c:pt>
                <c:pt idx="459">
                  <c:v>111.91948490469478</c:v>
                </c:pt>
                <c:pt idx="460">
                  <c:v>111.91948490469478</c:v>
                </c:pt>
                <c:pt idx="461">
                  <c:v>112.41492579438012</c:v>
                </c:pt>
                <c:pt idx="462">
                  <c:v>112.50027628395529</c:v>
                </c:pt>
                <c:pt idx="463">
                  <c:v>115.32194306680293</c:v>
                </c:pt>
                <c:pt idx="464">
                  <c:v>116.03348051475525</c:v>
                </c:pt>
                <c:pt idx="465">
                  <c:v>115.90137427889888</c:v>
                </c:pt>
                <c:pt idx="466">
                  <c:v>115.90137427889888</c:v>
                </c:pt>
                <c:pt idx="467">
                  <c:v>115.90137427889888</c:v>
                </c:pt>
                <c:pt idx="468">
                  <c:v>117.08046918966339</c:v>
                </c:pt>
                <c:pt idx="469">
                  <c:v>118.4600187363027</c:v>
                </c:pt>
                <c:pt idx="470">
                  <c:v>119.40482485297443</c:v>
                </c:pt>
                <c:pt idx="471">
                  <c:v>119.7164731545507</c:v>
                </c:pt>
                <c:pt idx="472">
                  <c:v>121.15791030717675</c:v>
                </c:pt>
                <c:pt idx="473">
                  <c:v>121.15791030717675</c:v>
                </c:pt>
                <c:pt idx="474">
                  <c:v>121.15791030717675</c:v>
                </c:pt>
                <c:pt idx="475">
                  <c:v>120.87023495187559</c:v>
                </c:pt>
                <c:pt idx="476">
                  <c:v>120.1029306501769</c:v>
                </c:pt>
                <c:pt idx="477">
                  <c:v>121.35921504752933</c:v>
                </c:pt>
                <c:pt idx="478">
                  <c:v>120.85765340560354</c:v>
                </c:pt>
                <c:pt idx="479">
                  <c:v>121.82133184168333</c:v>
                </c:pt>
                <c:pt idx="480">
                  <c:v>121.82133184168333</c:v>
                </c:pt>
                <c:pt idx="481">
                  <c:v>121.82133184168333</c:v>
                </c:pt>
                <c:pt idx="482">
                  <c:v>121.97146029246994</c:v>
                </c:pt>
                <c:pt idx="483">
                  <c:v>121.37451692813046</c:v>
                </c:pt>
                <c:pt idx="484">
                  <c:v>121.32606097289356</c:v>
                </c:pt>
                <c:pt idx="485">
                  <c:v>122.56823363591384</c:v>
                </c:pt>
                <c:pt idx="486">
                  <c:v>122.92714774645803</c:v>
                </c:pt>
                <c:pt idx="487">
                  <c:v>122.92714774645803</c:v>
                </c:pt>
                <c:pt idx="488">
                  <c:v>122.92714774645803</c:v>
                </c:pt>
                <c:pt idx="489">
                  <c:v>122.42779637617463</c:v>
                </c:pt>
              </c:numCache>
            </c:numRef>
          </c:val>
          <c:smooth val="0"/>
          <c:extLst>
            <c:ext xmlns:c16="http://schemas.microsoft.com/office/drawing/2014/chart" uri="{C3380CC4-5D6E-409C-BE32-E72D297353CC}">
              <c16:uniqueId val="{00000005-96E7-454A-A66A-36F382D4E673}"/>
            </c:ext>
          </c:extLst>
        </c:ser>
        <c:ser>
          <c:idx val="5"/>
          <c:order val="6"/>
          <c:tx>
            <c:strRef>
              <c:f>'BBG (Global Markets)'!$T$11</c:f>
              <c:strCache>
                <c:ptCount val="1"/>
                <c:pt idx="0">
                  <c:v>MSCI ASEAN 11.1%</c:v>
                </c:pt>
              </c:strCache>
            </c:strRef>
          </c:tx>
          <c:spPr>
            <a:ln w="15875" cap="rnd">
              <a:solidFill>
                <a:srgbClr val="00375E"/>
              </a:solidFill>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Markets)'!$T$12:$T$501</c:f>
              <c:numCache>
                <c:formatCode>_(* #,##0_);_(* \(#,##0\);_(* "   -"?_);_(@_)</c:formatCode>
                <c:ptCount val="490"/>
                <c:pt idx="1">
                  <c:v>100</c:v>
                </c:pt>
                <c:pt idx="2">
                  <c:v>99.71238223813576</c:v>
                </c:pt>
                <c:pt idx="3">
                  <c:v>99.567105919643112</c:v>
                </c:pt>
                <c:pt idx="4">
                  <c:v>99.567105919643112</c:v>
                </c:pt>
                <c:pt idx="5">
                  <c:v>99.567105919643112</c:v>
                </c:pt>
                <c:pt idx="6">
                  <c:v>99.526017667948224</c:v>
                </c:pt>
                <c:pt idx="7">
                  <c:v>99.774014615678084</c:v>
                </c:pt>
                <c:pt idx="8">
                  <c:v>100.0278813136501</c:v>
                </c:pt>
                <c:pt idx="9">
                  <c:v>99.47612479089014</c:v>
                </c:pt>
                <c:pt idx="10">
                  <c:v>98.758547823790082</c:v>
                </c:pt>
                <c:pt idx="11">
                  <c:v>98.758547823790082</c:v>
                </c:pt>
                <c:pt idx="12">
                  <c:v>98.758547823790082</c:v>
                </c:pt>
                <c:pt idx="13">
                  <c:v>97.605141901212107</c:v>
                </c:pt>
                <c:pt idx="14">
                  <c:v>97.455463270037853</c:v>
                </c:pt>
                <c:pt idx="15">
                  <c:v>98.045373169371643</c:v>
                </c:pt>
                <c:pt idx="16">
                  <c:v>98.319783993191081</c:v>
                </c:pt>
                <c:pt idx="17">
                  <c:v>98.861268453027336</c:v>
                </c:pt>
                <c:pt idx="18">
                  <c:v>98.861268453027336</c:v>
                </c:pt>
                <c:pt idx="19">
                  <c:v>98.861268453027336</c:v>
                </c:pt>
                <c:pt idx="20">
                  <c:v>99.19437677926804</c:v>
                </c:pt>
                <c:pt idx="21">
                  <c:v>99.703577612772577</c:v>
                </c:pt>
                <c:pt idx="22">
                  <c:v>100.37126170281454</c:v>
                </c:pt>
                <c:pt idx="23">
                  <c:v>99.906083996125972</c:v>
                </c:pt>
                <c:pt idx="24">
                  <c:v>100.58110527397058</c:v>
                </c:pt>
                <c:pt idx="25">
                  <c:v>100.58110527397058</c:v>
                </c:pt>
                <c:pt idx="26">
                  <c:v>100.58110527397058</c:v>
                </c:pt>
                <c:pt idx="27">
                  <c:v>99.854723681507352</c:v>
                </c:pt>
                <c:pt idx="28">
                  <c:v>99.809233117130859</c:v>
                </c:pt>
                <c:pt idx="29">
                  <c:v>100.14234144337158</c:v>
                </c:pt>
                <c:pt idx="30">
                  <c:v>99.790156428843943</c:v>
                </c:pt>
                <c:pt idx="31">
                  <c:v>99.669826548880351</c:v>
                </c:pt>
                <c:pt idx="32">
                  <c:v>99.669826548880351</c:v>
                </c:pt>
                <c:pt idx="33">
                  <c:v>99.669826548880351</c:v>
                </c:pt>
                <c:pt idx="34">
                  <c:v>98.476799812167997</c:v>
                </c:pt>
                <c:pt idx="35">
                  <c:v>99.633140609867056</c:v>
                </c:pt>
                <c:pt idx="36">
                  <c:v>99.718251988377887</c:v>
                </c:pt>
                <c:pt idx="37">
                  <c:v>98.768819886713828</c:v>
                </c:pt>
                <c:pt idx="38">
                  <c:v>99.762275115193844</c:v>
                </c:pt>
                <c:pt idx="39">
                  <c:v>99.762275115193844</c:v>
                </c:pt>
                <c:pt idx="40">
                  <c:v>99.762275115193844</c:v>
                </c:pt>
                <c:pt idx="41">
                  <c:v>99.203181404631223</c:v>
                </c:pt>
                <c:pt idx="42">
                  <c:v>99.091656150030801</c:v>
                </c:pt>
                <c:pt idx="43">
                  <c:v>99.826842367857239</c:v>
                </c:pt>
                <c:pt idx="44">
                  <c:v>100.22011563407978</c:v>
                </c:pt>
                <c:pt idx="45">
                  <c:v>100.5268100842309</c:v>
                </c:pt>
                <c:pt idx="46">
                  <c:v>100.5268100842309</c:v>
                </c:pt>
                <c:pt idx="47">
                  <c:v>100.5268100842309</c:v>
                </c:pt>
                <c:pt idx="48">
                  <c:v>100.86872303583483</c:v>
                </c:pt>
                <c:pt idx="49">
                  <c:v>101.53934200099786</c:v>
                </c:pt>
                <c:pt idx="50">
                  <c:v>101.03747835529597</c:v>
                </c:pt>
                <c:pt idx="51">
                  <c:v>100.46517770668856</c:v>
                </c:pt>
                <c:pt idx="52">
                  <c:v>100.41821970475155</c:v>
                </c:pt>
                <c:pt idx="53">
                  <c:v>100.41821970475155</c:v>
                </c:pt>
                <c:pt idx="54">
                  <c:v>100.41821970475155</c:v>
                </c:pt>
                <c:pt idx="55">
                  <c:v>100.09244856631349</c:v>
                </c:pt>
                <c:pt idx="56">
                  <c:v>98.492941625333842</c:v>
                </c:pt>
                <c:pt idx="57">
                  <c:v>99.443841164558435</c:v>
                </c:pt>
                <c:pt idx="58">
                  <c:v>98.369676870249165</c:v>
                </c:pt>
                <c:pt idx="59">
                  <c:v>96.843541807296091</c:v>
                </c:pt>
                <c:pt idx="60">
                  <c:v>96.843541807296091</c:v>
                </c:pt>
                <c:pt idx="61">
                  <c:v>96.843541807296091</c:v>
                </c:pt>
                <c:pt idx="62">
                  <c:v>97.433451706629882</c:v>
                </c:pt>
                <c:pt idx="63">
                  <c:v>97.502421271974882</c:v>
                </c:pt>
                <c:pt idx="64">
                  <c:v>100.01760925072638</c:v>
                </c:pt>
                <c:pt idx="65">
                  <c:v>99.553898981598323</c:v>
                </c:pt>
                <c:pt idx="66">
                  <c:v>99.587650045490562</c:v>
                </c:pt>
                <c:pt idx="67">
                  <c:v>99.587650045490562</c:v>
                </c:pt>
                <c:pt idx="68">
                  <c:v>99.587650045490562</c:v>
                </c:pt>
                <c:pt idx="69">
                  <c:v>97.991077979631953</c:v>
                </c:pt>
                <c:pt idx="70">
                  <c:v>96.950664749214909</c:v>
                </c:pt>
                <c:pt idx="71">
                  <c:v>96.475214979602626</c:v>
                </c:pt>
                <c:pt idx="72">
                  <c:v>96.268306283567625</c:v>
                </c:pt>
                <c:pt idx="73">
                  <c:v>96.611686672732063</c:v>
                </c:pt>
                <c:pt idx="74">
                  <c:v>96.611686672732063</c:v>
                </c:pt>
                <c:pt idx="75">
                  <c:v>96.611686672732063</c:v>
                </c:pt>
                <c:pt idx="76">
                  <c:v>97.324861327150529</c:v>
                </c:pt>
                <c:pt idx="77">
                  <c:v>96.839139494614486</c:v>
                </c:pt>
                <c:pt idx="78">
                  <c:v>97.112082880873402</c:v>
                </c:pt>
                <c:pt idx="79">
                  <c:v>97.185454758900008</c:v>
                </c:pt>
                <c:pt idx="80">
                  <c:v>96.663046987350683</c:v>
                </c:pt>
                <c:pt idx="81">
                  <c:v>96.663046987350683</c:v>
                </c:pt>
                <c:pt idx="82">
                  <c:v>96.663046987350683</c:v>
                </c:pt>
                <c:pt idx="83">
                  <c:v>96.552989170310795</c:v>
                </c:pt>
                <c:pt idx="84">
                  <c:v>97.112082880873402</c:v>
                </c:pt>
                <c:pt idx="85">
                  <c:v>98.0483080444927</c:v>
                </c:pt>
                <c:pt idx="86">
                  <c:v>98.812843013529772</c:v>
                </c:pt>
                <c:pt idx="87">
                  <c:v>98.001350042555686</c:v>
                </c:pt>
                <c:pt idx="88">
                  <c:v>98.001350042555686</c:v>
                </c:pt>
                <c:pt idx="89">
                  <c:v>98.001350042555686</c:v>
                </c:pt>
                <c:pt idx="90">
                  <c:v>97.809115722126023</c:v>
                </c:pt>
                <c:pt idx="91">
                  <c:v>97.961729228421333</c:v>
                </c:pt>
                <c:pt idx="92">
                  <c:v>98.18331230006163</c:v>
                </c:pt>
                <c:pt idx="93">
                  <c:v>97.12382238135767</c:v>
                </c:pt>
                <c:pt idx="94">
                  <c:v>94.073019693012057</c:v>
                </c:pt>
                <c:pt idx="95">
                  <c:v>94.073019693012057</c:v>
                </c:pt>
                <c:pt idx="96">
                  <c:v>94.073019693012057</c:v>
                </c:pt>
                <c:pt idx="97">
                  <c:v>90.113873154697259</c:v>
                </c:pt>
                <c:pt idx="98">
                  <c:v>87.154051595104619</c:v>
                </c:pt>
                <c:pt idx="99">
                  <c:v>87.513573797434915</c:v>
                </c:pt>
                <c:pt idx="100">
                  <c:v>91.619464091802897</c:v>
                </c:pt>
                <c:pt idx="101">
                  <c:v>91.717782408358516</c:v>
                </c:pt>
                <c:pt idx="102">
                  <c:v>91.717782408358516</c:v>
                </c:pt>
                <c:pt idx="103">
                  <c:v>91.717782408358516</c:v>
                </c:pt>
                <c:pt idx="104">
                  <c:v>92.85504651777066</c:v>
                </c:pt>
                <c:pt idx="105">
                  <c:v>93.84556687112962</c:v>
                </c:pt>
                <c:pt idx="106">
                  <c:v>94.16987057200717</c:v>
                </c:pt>
                <c:pt idx="107">
                  <c:v>94.871305725941355</c:v>
                </c:pt>
                <c:pt idx="108">
                  <c:v>95.200011739500482</c:v>
                </c:pt>
                <c:pt idx="109">
                  <c:v>95.200011739500482</c:v>
                </c:pt>
                <c:pt idx="110">
                  <c:v>95.200011739500482</c:v>
                </c:pt>
                <c:pt idx="111">
                  <c:v>95.492031814046314</c:v>
                </c:pt>
                <c:pt idx="112">
                  <c:v>95.78258445103161</c:v>
                </c:pt>
                <c:pt idx="113">
                  <c:v>96.849411557538218</c:v>
                </c:pt>
                <c:pt idx="114">
                  <c:v>96.952132186775458</c:v>
                </c:pt>
                <c:pt idx="115">
                  <c:v>97.255891761805529</c:v>
                </c:pt>
                <c:pt idx="116">
                  <c:v>97.255891761805529</c:v>
                </c:pt>
                <c:pt idx="117">
                  <c:v>97.255891761805529</c:v>
                </c:pt>
                <c:pt idx="118">
                  <c:v>97.536172335867093</c:v>
                </c:pt>
                <c:pt idx="119">
                  <c:v>98.275760866375137</c:v>
                </c:pt>
                <c:pt idx="120">
                  <c:v>99.935432747336591</c:v>
                </c:pt>
                <c:pt idx="121">
                  <c:v>99.919290934170746</c:v>
                </c:pt>
                <c:pt idx="122">
                  <c:v>101.63912775511402</c:v>
                </c:pt>
                <c:pt idx="123">
                  <c:v>101.63912775511402</c:v>
                </c:pt>
                <c:pt idx="124">
                  <c:v>101.63912775511402</c:v>
                </c:pt>
                <c:pt idx="125">
                  <c:v>102.02946614621547</c:v>
                </c:pt>
                <c:pt idx="126">
                  <c:v>102.11017521204472</c:v>
                </c:pt>
                <c:pt idx="127">
                  <c:v>102.67220379772839</c:v>
                </c:pt>
                <c:pt idx="128">
                  <c:v>101.7257065711854</c:v>
                </c:pt>
                <c:pt idx="129">
                  <c:v>101.72130425850381</c:v>
                </c:pt>
                <c:pt idx="130">
                  <c:v>101.72130425850381</c:v>
                </c:pt>
                <c:pt idx="131">
                  <c:v>101.72130425850381</c:v>
                </c:pt>
                <c:pt idx="132">
                  <c:v>101.70516244533796</c:v>
                </c:pt>
                <c:pt idx="133">
                  <c:v>102.72062923722596</c:v>
                </c:pt>
                <c:pt idx="134">
                  <c:v>104.11322748217063</c:v>
                </c:pt>
                <c:pt idx="135">
                  <c:v>104.08681360608105</c:v>
                </c:pt>
                <c:pt idx="136">
                  <c:v>104.17779473483402</c:v>
                </c:pt>
                <c:pt idx="137">
                  <c:v>104.17779473483402</c:v>
                </c:pt>
                <c:pt idx="138">
                  <c:v>104.17779473483402</c:v>
                </c:pt>
                <c:pt idx="139">
                  <c:v>104.07360666803626</c:v>
                </c:pt>
                <c:pt idx="140">
                  <c:v>103.76397734276406</c:v>
                </c:pt>
                <c:pt idx="141">
                  <c:v>104.24236198749743</c:v>
                </c:pt>
                <c:pt idx="142">
                  <c:v>103.82560972030639</c:v>
                </c:pt>
                <c:pt idx="143">
                  <c:v>105.03477827018459</c:v>
                </c:pt>
                <c:pt idx="144">
                  <c:v>105.03477827018459</c:v>
                </c:pt>
                <c:pt idx="145">
                  <c:v>105.03477827018459</c:v>
                </c:pt>
                <c:pt idx="146">
                  <c:v>104.8557508877997</c:v>
                </c:pt>
                <c:pt idx="147">
                  <c:v>104.52997974936167</c:v>
                </c:pt>
                <c:pt idx="148">
                  <c:v>104.64590731664367</c:v>
                </c:pt>
                <c:pt idx="149">
                  <c:v>104.26730842602647</c:v>
                </c:pt>
                <c:pt idx="150">
                  <c:v>103.40298770287323</c:v>
                </c:pt>
                <c:pt idx="151">
                  <c:v>103.40298770287323</c:v>
                </c:pt>
                <c:pt idx="152">
                  <c:v>103.40298770287323</c:v>
                </c:pt>
                <c:pt idx="153">
                  <c:v>103.44407595456812</c:v>
                </c:pt>
                <c:pt idx="154">
                  <c:v>103.41179232823643</c:v>
                </c:pt>
                <c:pt idx="155">
                  <c:v>103.52331758283684</c:v>
                </c:pt>
                <c:pt idx="156">
                  <c:v>104.34801749185571</c:v>
                </c:pt>
                <c:pt idx="157">
                  <c:v>103.97969066416223</c:v>
                </c:pt>
                <c:pt idx="158">
                  <c:v>103.97969066416223</c:v>
                </c:pt>
                <c:pt idx="159">
                  <c:v>103.97969066416223</c:v>
                </c:pt>
                <c:pt idx="160">
                  <c:v>103.96061397587533</c:v>
                </c:pt>
                <c:pt idx="161">
                  <c:v>103.60842896134767</c:v>
                </c:pt>
                <c:pt idx="162">
                  <c:v>103.41766207847856</c:v>
                </c:pt>
                <c:pt idx="163">
                  <c:v>103.60696152378715</c:v>
                </c:pt>
                <c:pt idx="164">
                  <c:v>102.88057993132391</c:v>
                </c:pt>
                <c:pt idx="165">
                  <c:v>102.88057993132391</c:v>
                </c:pt>
                <c:pt idx="166">
                  <c:v>102.88057993132391</c:v>
                </c:pt>
                <c:pt idx="167">
                  <c:v>102.96862618495584</c:v>
                </c:pt>
                <c:pt idx="168">
                  <c:v>102.87911249376339</c:v>
                </c:pt>
                <c:pt idx="169">
                  <c:v>102.05294514718399</c:v>
                </c:pt>
                <c:pt idx="170">
                  <c:v>100.56936577348634</c:v>
                </c:pt>
                <c:pt idx="171">
                  <c:v>100.29202007454583</c:v>
                </c:pt>
                <c:pt idx="172">
                  <c:v>100.29202007454583</c:v>
                </c:pt>
                <c:pt idx="173">
                  <c:v>100.29202007454583</c:v>
                </c:pt>
                <c:pt idx="174">
                  <c:v>99.725589176180549</c:v>
                </c:pt>
                <c:pt idx="175">
                  <c:v>101.90913626625186</c:v>
                </c:pt>
                <c:pt idx="176">
                  <c:v>102.06468464766823</c:v>
                </c:pt>
                <c:pt idx="177">
                  <c:v>102.99797493616644</c:v>
                </c:pt>
                <c:pt idx="178">
                  <c:v>103.01118187421126</c:v>
                </c:pt>
                <c:pt idx="179">
                  <c:v>103.01118187421126</c:v>
                </c:pt>
                <c:pt idx="180">
                  <c:v>103.01118187421126</c:v>
                </c:pt>
                <c:pt idx="181">
                  <c:v>103.36630176385995</c:v>
                </c:pt>
                <c:pt idx="182">
                  <c:v>103.51011064479205</c:v>
                </c:pt>
                <c:pt idx="183">
                  <c:v>103.39858539019164</c:v>
                </c:pt>
                <c:pt idx="184">
                  <c:v>103.57174302233439</c:v>
                </c:pt>
                <c:pt idx="185">
                  <c:v>103.43820620432599</c:v>
                </c:pt>
                <c:pt idx="186">
                  <c:v>103.43820620432599</c:v>
                </c:pt>
                <c:pt idx="187">
                  <c:v>103.43820620432599</c:v>
                </c:pt>
                <c:pt idx="188">
                  <c:v>103.57467789745547</c:v>
                </c:pt>
                <c:pt idx="189">
                  <c:v>103.30466938631761</c:v>
                </c:pt>
                <c:pt idx="190">
                  <c:v>103.55119889648694</c:v>
                </c:pt>
                <c:pt idx="191">
                  <c:v>103.82854459542745</c:v>
                </c:pt>
                <c:pt idx="192">
                  <c:v>104.24382942505797</c:v>
                </c:pt>
                <c:pt idx="193">
                  <c:v>104.24382942505797</c:v>
                </c:pt>
                <c:pt idx="194">
                  <c:v>104.24382942505797</c:v>
                </c:pt>
                <c:pt idx="195">
                  <c:v>104.7398233205177</c:v>
                </c:pt>
                <c:pt idx="196">
                  <c:v>105.10668271065065</c:v>
                </c:pt>
                <c:pt idx="197">
                  <c:v>104.87922988876824</c:v>
                </c:pt>
                <c:pt idx="198">
                  <c:v>106.33199307369472</c:v>
                </c:pt>
                <c:pt idx="199">
                  <c:v>107.05837466615795</c:v>
                </c:pt>
                <c:pt idx="200">
                  <c:v>107.05837466615795</c:v>
                </c:pt>
                <c:pt idx="201">
                  <c:v>107.05837466615795</c:v>
                </c:pt>
                <c:pt idx="202">
                  <c:v>106.59172952190883</c:v>
                </c:pt>
                <c:pt idx="203">
                  <c:v>106.26889325859183</c:v>
                </c:pt>
                <c:pt idx="204">
                  <c:v>107.58811962550992</c:v>
                </c:pt>
                <c:pt idx="205">
                  <c:v>108.31009890529157</c:v>
                </c:pt>
                <c:pt idx="206">
                  <c:v>107.73192850644205</c:v>
                </c:pt>
                <c:pt idx="207">
                  <c:v>107.73192850644205</c:v>
                </c:pt>
                <c:pt idx="208">
                  <c:v>107.73192850644205</c:v>
                </c:pt>
                <c:pt idx="209">
                  <c:v>107.51768262260441</c:v>
                </c:pt>
                <c:pt idx="210">
                  <c:v>107.18017198368209</c:v>
                </c:pt>
                <c:pt idx="211">
                  <c:v>106.72526633991724</c:v>
                </c:pt>
                <c:pt idx="212">
                  <c:v>105.33120065741201</c:v>
                </c:pt>
                <c:pt idx="213">
                  <c:v>104.97314589264226</c:v>
                </c:pt>
                <c:pt idx="214">
                  <c:v>104.97314589264226</c:v>
                </c:pt>
                <c:pt idx="215">
                  <c:v>104.97314589264226</c:v>
                </c:pt>
                <c:pt idx="216">
                  <c:v>106.31438382296834</c:v>
                </c:pt>
                <c:pt idx="217">
                  <c:v>106.69738502626713</c:v>
                </c:pt>
                <c:pt idx="218">
                  <c:v>106.65336189945116</c:v>
                </c:pt>
                <c:pt idx="219">
                  <c:v>107.40175505532238</c:v>
                </c:pt>
                <c:pt idx="220">
                  <c:v>106.92337041058902</c:v>
                </c:pt>
                <c:pt idx="221">
                  <c:v>106.92337041058902</c:v>
                </c:pt>
                <c:pt idx="222">
                  <c:v>106.92337041058902</c:v>
                </c:pt>
                <c:pt idx="223">
                  <c:v>106.99087253837349</c:v>
                </c:pt>
                <c:pt idx="224">
                  <c:v>109.32703313474011</c:v>
                </c:pt>
                <c:pt idx="225">
                  <c:v>110.96175857717252</c:v>
                </c:pt>
                <c:pt idx="226">
                  <c:v>110.13705866815367</c:v>
                </c:pt>
                <c:pt idx="227">
                  <c:v>109.79661315411029</c:v>
                </c:pt>
                <c:pt idx="228">
                  <c:v>109.79661315411029</c:v>
                </c:pt>
                <c:pt idx="229">
                  <c:v>109.79661315411029</c:v>
                </c:pt>
                <c:pt idx="230">
                  <c:v>109.12746162650777</c:v>
                </c:pt>
                <c:pt idx="231">
                  <c:v>109.10545006309982</c:v>
                </c:pt>
                <c:pt idx="232">
                  <c:v>109.4928535790802</c:v>
                </c:pt>
                <c:pt idx="233">
                  <c:v>109.59263933319636</c:v>
                </c:pt>
                <c:pt idx="234">
                  <c:v>110.40706717929152</c:v>
                </c:pt>
                <c:pt idx="235">
                  <c:v>110.40706717929152</c:v>
                </c:pt>
                <c:pt idx="236">
                  <c:v>110.40706717929152</c:v>
                </c:pt>
                <c:pt idx="237">
                  <c:v>110.93387726352245</c:v>
                </c:pt>
                <c:pt idx="238">
                  <c:v>109.77900390338391</c:v>
                </c:pt>
                <c:pt idx="239">
                  <c:v>109.31969594693744</c:v>
                </c:pt>
                <c:pt idx="240">
                  <c:v>109.68655533707042</c:v>
                </c:pt>
                <c:pt idx="241">
                  <c:v>108.95136911924396</c:v>
                </c:pt>
                <c:pt idx="242">
                  <c:v>108.95136911924396</c:v>
                </c:pt>
                <c:pt idx="243">
                  <c:v>108.95136911924396</c:v>
                </c:pt>
                <c:pt idx="244">
                  <c:v>108.96897836997034</c:v>
                </c:pt>
                <c:pt idx="245">
                  <c:v>108.67842573298505</c:v>
                </c:pt>
                <c:pt idx="246">
                  <c:v>108.98658762069675</c:v>
                </c:pt>
                <c:pt idx="247">
                  <c:v>109.48404895371702</c:v>
                </c:pt>
                <c:pt idx="248">
                  <c:v>110.19282129545387</c:v>
                </c:pt>
                <c:pt idx="249">
                  <c:v>110.19282129545387</c:v>
                </c:pt>
                <c:pt idx="250">
                  <c:v>110.19282129545387</c:v>
                </c:pt>
                <c:pt idx="251">
                  <c:v>110.11211222962463</c:v>
                </c:pt>
                <c:pt idx="252">
                  <c:v>109.86558271945528</c:v>
                </c:pt>
                <c:pt idx="253">
                  <c:v>110.78419863234818</c:v>
                </c:pt>
                <c:pt idx="254">
                  <c:v>111.32274821706336</c:v>
                </c:pt>
                <c:pt idx="255">
                  <c:v>111.95521380565256</c:v>
                </c:pt>
                <c:pt idx="256">
                  <c:v>111.95521380565256</c:v>
                </c:pt>
                <c:pt idx="257">
                  <c:v>111.95521380565256</c:v>
                </c:pt>
                <c:pt idx="258">
                  <c:v>111.64264960525929</c:v>
                </c:pt>
                <c:pt idx="259">
                  <c:v>112.0300531212397</c:v>
                </c:pt>
                <c:pt idx="260">
                  <c:v>112.17239456461125</c:v>
                </c:pt>
                <c:pt idx="261">
                  <c:v>111.6382472925777</c:v>
                </c:pt>
                <c:pt idx="262">
                  <c:v>111.41372934581632</c:v>
                </c:pt>
                <c:pt idx="263">
                  <c:v>111.41372934581632</c:v>
                </c:pt>
                <c:pt idx="264">
                  <c:v>111.41372934581632</c:v>
                </c:pt>
                <c:pt idx="265">
                  <c:v>111.13785108443635</c:v>
                </c:pt>
                <c:pt idx="266">
                  <c:v>110.56995274851053</c:v>
                </c:pt>
                <c:pt idx="267">
                  <c:v>110.05047985208229</c:v>
                </c:pt>
                <c:pt idx="268">
                  <c:v>109.36225163619287</c:v>
                </c:pt>
                <c:pt idx="269">
                  <c:v>109.09664543773663</c:v>
                </c:pt>
                <c:pt idx="270">
                  <c:v>109.09664543773663</c:v>
                </c:pt>
                <c:pt idx="271">
                  <c:v>109.09664543773663</c:v>
                </c:pt>
                <c:pt idx="272">
                  <c:v>109.19643119185278</c:v>
                </c:pt>
                <c:pt idx="273">
                  <c:v>108.94256449388078</c:v>
                </c:pt>
                <c:pt idx="274">
                  <c:v>109.48551639127754</c:v>
                </c:pt>
                <c:pt idx="275">
                  <c:v>110.59636662460011</c:v>
                </c:pt>
                <c:pt idx="276">
                  <c:v>111.13051389663369</c:v>
                </c:pt>
                <c:pt idx="277">
                  <c:v>111.13051389663369</c:v>
                </c:pt>
                <c:pt idx="278">
                  <c:v>111.13051389663369</c:v>
                </c:pt>
                <c:pt idx="279">
                  <c:v>111.23616940099197</c:v>
                </c:pt>
                <c:pt idx="280">
                  <c:v>112.20761306606404</c:v>
                </c:pt>
                <c:pt idx="281">
                  <c:v>111.92586505444193</c:v>
                </c:pt>
                <c:pt idx="282">
                  <c:v>111.78499104863087</c:v>
                </c:pt>
                <c:pt idx="283">
                  <c:v>110.47163443195491</c:v>
                </c:pt>
                <c:pt idx="284">
                  <c:v>110.47163443195491</c:v>
                </c:pt>
                <c:pt idx="285">
                  <c:v>110.47163443195491</c:v>
                </c:pt>
                <c:pt idx="286">
                  <c:v>110.11064479206409</c:v>
                </c:pt>
                <c:pt idx="287">
                  <c:v>108.93669474363865</c:v>
                </c:pt>
                <c:pt idx="288">
                  <c:v>108.59771666715581</c:v>
                </c:pt>
                <c:pt idx="289">
                  <c:v>108.70337217151409</c:v>
                </c:pt>
                <c:pt idx="290">
                  <c:v>107.62333812696269</c:v>
                </c:pt>
                <c:pt idx="291">
                  <c:v>107.62333812696269</c:v>
                </c:pt>
                <c:pt idx="292">
                  <c:v>107.62333812696269</c:v>
                </c:pt>
                <c:pt idx="293">
                  <c:v>108.77967892466174</c:v>
                </c:pt>
                <c:pt idx="294">
                  <c:v>109.64106477269391</c:v>
                </c:pt>
                <c:pt idx="295">
                  <c:v>108.95870630704663</c:v>
                </c:pt>
                <c:pt idx="296">
                  <c:v>109.56769289466732</c:v>
                </c:pt>
                <c:pt idx="297">
                  <c:v>109.88172453262112</c:v>
                </c:pt>
                <c:pt idx="298">
                  <c:v>109.88172453262112</c:v>
                </c:pt>
                <c:pt idx="299">
                  <c:v>109.88172453262112</c:v>
                </c:pt>
                <c:pt idx="300">
                  <c:v>110.52739705925514</c:v>
                </c:pt>
                <c:pt idx="301">
                  <c:v>110.55968068558681</c:v>
                </c:pt>
                <c:pt idx="302">
                  <c:v>110.71376162944266</c:v>
                </c:pt>
                <c:pt idx="303">
                  <c:v>110.30728142517536</c:v>
                </c:pt>
                <c:pt idx="304">
                  <c:v>110.08716579109559</c:v>
                </c:pt>
                <c:pt idx="305">
                  <c:v>110.08716579109559</c:v>
                </c:pt>
                <c:pt idx="306">
                  <c:v>110.08716579109559</c:v>
                </c:pt>
                <c:pt idx="307">
                  <c:v>110.36597892759663</c:v>
                </c:pt>
                <c:pt idx="308">
                  <c:v>109.79954802923135</c:v>
                </c:pt>
                <c:pt idx="309">
                  <c:v>109.83770140580518</c:v>
                </c:pt>
                <c:pt idx="310">
                  <c:v>110.66533618994512</c:v>
                </c:pt>
                <c:pt idx="311">
                  <c:v>110.68441287823202</c:v>
                </c:pt>
                <c:pt idx="312">
                  <c:v>110.68441287823202</c:v>
                </c:pt>
                <c:pt idx="313">
                  <c:v>110.68441287823202</c:v>
                </c:pt>
                <c:pt idx="314">
                  <c:v>110.98963989082264</c:v>
                </c:pt>
                <c:pt idx="315">
                  <c:v>110.68441287823202</c:v>
                </c:pt>
                <c:pt idx="316">
                  <c:v>110.81941713380097</c:v>
                </c:pt>
                <c:pt idx="317">
                  <c:v>110.64772693921874</c:v>
                </c:pt>
                <c:pt idx="318">
                  <c:v>109.97710797405571</c:v>
                </c:pt>
                <c:pt idx="319">
                  <c:v>109.97710797405571</c:v>
                </c:pt>
                <c:pt idx="320">
                  <c:v>109.97710797405571</c:v>
                </c:pt>
                <c:pt idx="321">
                  <c:v>110.53473424705777</c:v>
                </c:pt>
                <c:pt idx="322">
                  <c:v>109.85971296921315</c:v>
                </c:pt>
                <c:pt idx="323">
                  <c:v>109.82449446776039</c:v>
                </c:pt>
                <c:pt idx="324">
                  <c:v>109.13920112699205</c:v>
                </c:pt>
                <c:pt idx="325">
                  <c:v>108.41428697208933</c:v>
                </c:pt>
                <c:pt idx="326">
                  <c:v>108.41428697208933</c:v>
                </c:pt>
                <c:pt idx="327">
                  <c:v>108.41428697208933</c:v>
                </c:pt>
                <c:pt idx="328">
                  <c:v>109.45616764006691</c:v>
                </c:pt>
                <c:pt idx="329">
                  <c:v>109.5207348927303</c:v>
                </c:pt>
                <c:pt idx="330">
                  <c:v>110.01379391306901</c:v>
                </c:pt>
                <c:pt idx="331">
                  <c:v>109.62345552196753</c:v>
                </c:pt>
                <c:pt idx="332">
                  <c:v>110.00939160038739</c:v>
                </c:pt>
                <c:pt idx="333">
                  <c:v>110.00939160038739</c:v>
                </c:pt>
                <c:pt idx="334">
                  <c:v>110.00939160038739</c:v>
                </c:pt>
                <c:pt idx="335">
                  <c:v>110.41733924221523</c:v>
                </c:pt>
                <c:pt idx="336">
                  <c:v>110.87517976110118</c:v>
                </c:pt>
                <c:pt idx="337">
                  <c:v>110.62571537581076</c:v>
                </c:pt>
                <c:pt idx="338">
                  <c:v>110.42027411733631</c:v>
                </c:pt>
                <c:pt idx="339">
                  <c:v>110.20602823349866</c:v>
                </c:pt>
                <c:pt idx="340">
                  <c:v>110.20602823349866</c:v>
                </c:pt>
                <c:pt idx="341">
                  <c:v>110.20602823349866</c:v>
                </c:pt>
                <c:pt idx="342">
                  <c:v>109.44002582690105</c:v>
                </c:pt>
                <c:pt idx="343">
                  <c:v>109.56329058198573</c:v>
                </c:pt>
                <c:pt idx="344">
                  <c:v>109.41507938837202</c:v>
                </c:pt>
                <c:pt idx="345">
                  <c:v>109.65573914829922</c:v>
                </c:pt>
                <c:pt idx="346">
                  <c:v>110.52739705925514</c:v>
                </c:pt>
                <c:pt idx="347">
                  <c:v>110.52739705925514</c:v>
                </c:pt>
                <c:pt idx="348">
                  <c:v>110.52739705925514</c:v>
                </c:pt>
                <c:pt idx="349">
                  <c:v>110.96469345229359</c:v>
                </c:pt>
                <c:pt idx="350">
                  <c:v>110.87811463622224</c:v>
                </c:pt>
                <c:pt idx="351">
                  <c:v>110.1708097320459</c:v>
                </c:pt>
                <c:pt idx="352">
                  <c:v>110.21923517154345</c:v>
                </c:pt>
                <c:pt idx="353">
                  <c:v>110.28086754908577</c:v>
                </c:pt>
                <c:pt idx="354">
                  <c:v>110.28086754908577</c:v>
                </c:pt>
                <c:pt idx="355">
                  <c:v>110.28086754908577</c:v>
                </c:pt>
                <c:pt idx="356">
                  <c:v>111.81433979984152</c:v>
                </c:pt>
                <c:pt idx="357">
                  <c:v>112.13424118803744</c:v>
                </c:pt>
                <c:pt idx="358">
                  <c:v>112.36169400991989</c:v>
                </c:pt>
                <c:pt idx="359">
                  <c:v>112.21641769142722</c:v>
                </c:pt>
                <c:pt idx="360">
                  <c:v>112.26631056848531</c:v>
                </c:pt>
                <c:pt idx="361">
                  <c:v>112.26631056848531</c:v>
                </c:pt>
                <c:pt idx="362">
                  <c:v>112.26631056848531</c:v>
                </c:pt>
                <c:pt idx="363">
                  <c:v>112.13717606315849</c:v>
                </c:pt>
                <c:pt idx="364">
                  <c:v>112.24136412995627</c:v>
                </c:pt>
                <c:pt idx="365">
                  <c:v>111.9845625568632</c:v>
                </c:pt>
                <c:pt idx="366">
                  <c:v>111.9845625568632</c:v>
                </c:pt>
                <c:pt idx="367">
                  <c:v>112.35729169723827</c:v>
                </c:pt>
                <c:pt idx="368">
                  <c:v>112.35729169723827</c:v>
                </c:pt>
                <c:pt idx="369">
                  <c:v>112.35729169723827</c:v>
                </c:pt>
                <c:pt idx="370">
                  <c:v>113.65890881342997</c:v>
                </c:pt>
                <c:pt idx="371">
                  <c:v>114.8651424881871</c:v>
                </c:pt>
                <c:pt idx="372">
                  <c:v>114.44839022099609</c:v>
                </c:pt>
                <c:pt idx="373">
                  <c:v>113.1482405423649</c:v>
                </c:pt>
                <c:pt idx="374">
                  <c:v>113.13356616675961</c:v>
                </c:pt>
                <c:pt idx="375">
                  <c:v>113.13356616675961</c:v>
                </c:pt>
                <c:pt idx="376">
                  <c:v>113.13356616675961</c:v>
                </c:pt>
                <c:pt idx="377">
                  <c:v>113.38449798961052</c:v>
                </c:pt>
                <c:pt idx="378">
                  <c:v>113.69559475244327</c:v>
                </c:pt>
                <c:pt idx="379">
                  <c:v>113.73668300413817</c:v>
                </c:pt>
                <c:pt idx="380">
                  <c:v>114.19745839814517</c:v>
                </c:pt>
                <c:pt idx="381">
                  <c:v>114.31485340298771</c:v>
                </c:pt>
                <c:pt idx="382">
                  <c:v>114.31485340298771</c:v>
                </c:pt>
                <c:pt idx="383">
                  <c:v>114.31485340298771</c:v>
                </c:pt>
                <c:pt idx="384">
                  <c:v>114.56285035071758</c:v>
                </c:pt>
                <c:pt idx="385">
                  <c:v>114.37208346784844</c:v>
                </c:pt>
                <c:pt idx="386">
                  <c:v>114.19892583570568</c:v>
                </c:pt>
                <c:pt idx="387">
                  <c:v>114.66263610483374</c:v>
                </c:pt>
                <c:pt idx="388">
                  <c:v>115.94664397029905</c:v>
                </c:pt>
                <c:pt idx="389">
                  <c:v>115.94664397029905</c:v>
                </c:pt>
                <c:pt idx="390">
                  <c:v>115.94664397029905</c:v>
                </c:pt>
                <c:pt idx="391">
                  <c:v>116.64367681155166</c:v>
                </c:pt>
                <c:pt idx="392">
                  <c:v>118.2695976286209</c:v>
                </c:pt>
                <c:pt idx="393">
                  <c:v>117.06189651630324</c:v>
                </c:pt>
                <c:pt idx="394">
                  <c:v>116.34138467408212</c:v>
                </c:pt>
                <c:pt idx="395">
                  <c:v>115.84245590350129</c:v>
                </c:pt>
                <c:pt idx="396">
                  <c:v>115.84245590350129</c:v>
                </c:pt>
                <c:pt idx="397">
                  <c:v>115.84245590350129</c:v>
                </c:pt>
                <c:pt idx="398">
                  <c:v>114.83872861209757</c:v>
                </c:pt>
                <c:pt idx="399">
                  <c:v>115.92609984445161</c:v>
                </c:pt>
                <c:pt idx="400">
                  <c:v>116.24746867020808</c:v>
                </c:pt>
                <c:pt idx="401">
                  <c:v>116.06403897514159</c:v>
                </c:pt>
                <c:pt idx="402">
                  <c:v>115.85713027910663</c:v>
                </c:pt>
                <c:pt idx="403">
                  <c:v>115.85713027910663</c:v>
                </c:pt>
                <c:pt idx="404">
                  <c:v>115.85713027910663</c:v>
                </c:pt>
                <c:pt idx="405">
                  <c:v>117.41261409327034</c:v>
                </c:pt>
                <c:pt idx="406">
                  <c:v>118.3576438822528</c:v>
                </c:pt>
                <c:pt idx="407">
                  <c:v>119.12658116397145</c:v>
                </c:pt>
                <c:pt idx="408">
                  <c:v>119.57268218237314</c:v>
                </c:pt>
                <c:pt idx="409">
                  <c:v>117.65767616587912</c:v>
                </c:pt>
                <c:pt idx="410">
                  <c:v>117.65767616587912</c:v>
                </c:pt>
                <c:pt idx="411">
                  <c:v>117.65767616587912</c:v>
                </c:pt>
                <c:pt idx="412">
                  <c:v>117.81028967217443</c:v>
                </c:pt>
                <c:pt idx="413">
                  <c:v>118.04067736917794</c:v>
                </c:pt>
                <c:pt idx="414">
                  <c:v>118.50732251342706</c:v>
                </c:pt>
                <c:pt idx="415">
                  <c:v>119.48903824142283</c:v>
                </c:pt>
                <c:pt idx="416">
                  <c:v>119.71355618818419</c:v>
                </c:pt>
                <c:pt idx="417">
                  <c:v>119.71355618818419</c:v>
                </c:pt>
                <c:pt idx="418">
                  <c:v>119.71355618818419</c:v>
                </c:pt>
                <c:pt idx="419">
                  <c:v>120.30640096263905</c:v>
                </c:pt>
                <c:pt idx="420">
                  <c:v>119.65632612332344</c:v>
                </c:pt>
                <c:pt idx="421">
                  <c:v>120.04813195198545</c:v>
                </c:pt>
                <c:pt idx="422">
                  <c:v>120.35042408945498</c:v>
                </c:pt>
                <c:pt idx="423">
                  <c:v>119.61377043406802</c:v>
                </c:pt>
                <c:pt idx="424">
                  <c:v>119.61377043406802</c:v>
                </c:pt>
                <c:pt idx="425">
                  <c:v>119.61377043406802</c:v>
                </c:pt>
                <c:pt idx="426">
                  <c:v>115.80430252692746</c:v>
                </c:pt>
                <c:pt idx="427">
                  <c:v>114.76095442138936</c:v>
                </c:pt>
                <c:pt idx="428">
                  <c:v>111.96842074369735</c:v>
                </c:pt>
                <c:pt idx="429">
                  <c:v>113.36542130132361</c:v>
                </c:pt>
                <c:pt idx="430">
                  <c:v>112.53778651718369</c:v>
                </c:pt>
                <c:pt idx="431">
                  <c:v>112.53778651718369</c:v>
                </c:pt>
                <c:pt idx="432">
                  <c:v>112.53778651718369</c:v>
                </c:pt>
                <c:pt idx="433">
                  <c:v>109.78634109118657</c:v>
                </c:pt>
                <c:pt idx="434">
                  <c:v>112.30886625774073</c:v>
                </c:pt>
                <c:pt idx="435">
                  <c:v>112.15331787632434</c:v>
                </c:pt>
                <c:pt idx="436">
                  <c:v>111.76004461010183</c:v>
                </c:pt>
                <c:pt idx="437">
                  <c:v>110.1620051066827</c:v>
                </c:pt>
                <c:pt idx="438">
                  <c:v>110.1620051066827</c:v>
                </c:pt>
                <c:pt idx="439">
                  <c:v>110.1620051066827</c:v>
                </c:pt>
                <c:pt idx="440">
                  <c:v>110.24858392275408</c:v>
                </c:pt>
                <c:pt idx="441">
                  <c:v>111.9199953041998</c:v>
                </c:pt>
                <c:pt idx="442">
                  <c:v>112.57300501863645</c:v>
                </c:pt>
                <c:pt idx="443">
                  <c:v>111.28606227805007</c:v>
                </c:pt>
                <c:pt idx="444">
                  <c:v>111.13638364687581</c:v>
                </c:pt>
                <c:pt idx="445">
                  <c:v>111.13638364687581</c:v>
                </c:pt>
                <c:pt idx="446">
                  <c:v>111.13638364687581</c:v>
                </c:pt>
                <c:pt idx="447">
                  <c:v>109.6542717107387</c:v>
                </c:pt>
                <c:pt idx="448">
                  <c:v>109.91400815895283</c:v>
                </c:pt>
                <c:pt idx="449">
                  <c:v>111.98309511930266</c:v>
                </c:pt>
                <c:pt idx="450">
                  <c:v>110.63598743873449</c:v>
                </c:pt>
                <c:pt idx="451">
                  <c:v>110.0739588530508</c:v>
                </c:pt>
                <c:pt idx="452">
                  <c:v>110.0739588530508</c:v>
                </c:pt>
                <c:pt idx="453">
                  <c:v>110.0739588530508</c:v>
                </c:pt>
                <c:pt idx="454">
                  <c:v>109.33877263522437</c:v>
                </c:pt>
                <c:pt idx="455">
                  <c:v>109.43855838934053</c:v>
                </c:pt>
                <c:pt idx="456">
                  <c:v>111.71015173304374</c:v>
                </c:pt>
                <c:pt idx="457">
                  <c:v>110.74604525577436</c:v>
                </c:pt>
                <c:pt idx="458">
                  <c:v>110.59636662460011</c:v>
                </c:pt>
                <c:pt idx="459">
                  <c:v>110.59636662460011</c:v>
                </c:pt>
                <c:pt idx="460">
                  <c:v>110.59636662460011</c:v>
                </c:pt>
                <c:pt idx="461">
                  <c:v>110.54353887242097</c:v>
                </c:pt>
                <c:pt idx="462">
                  <c:v>110.36744636515716</c:v>
                </c:pt>
                <c:pt idx="463">
                  <c:v>113.33167023743138</c:v>
                </c:pt>
                <c:pt idx="464">
                  <c:v>113.04845478824875</c:v>
                </c:pt>
                <c:pt idx="465">
                  <c:v>114.02870307868398</c:v>
                </c:pt>
                <c:pt idx="466">
                  <c:v>114.02870307868398</c:v>
                </c:pt>
                <c:pt idx="467">
                  <c:v>114.02870307868398</c:v>
                </c:pt>
                <c:pt idx="468">
                  <c:v>113.77190150559093</c:v>
                </c:pt>
                <c:pt idx="469">
                  <c:v>114.61274322777564</c:v>
                </c:pt>
                <c:pt idx="470">
                  <c:v>114.79030317259999</c:v>
                </c:pt>
                <c:pt idx="471">
                  <c:v>114.40143221905907</c:v>
                </c:pt>
                <c:pt idx="472">
                  <c:v>114.4351832829513</c:v>
                </c:pt>
                <c:pt idx="473">
                  <c:v>114.4351832829513</c:v>
                </c:pt>
                <c:pt idx="474">
                  <c:v>114.4351832829513</c:v>
                </c:pt>
                <c:pt idx="475">
                  <c:v>114.32952777859302</c:v>
                </c:pt>
                <c:pt idx="476">
                  <c:v>114.1945235230241</c:v>
                </c:pt>
                <c:pt idx="477">
                  <c:v>113.5444486837085</c:v>
                </c:pt>
                <c:pt idx="478">
                  <c:v>111.80406773691777</c:v>
                </c:pt>
                <c:pt idx="479">
                  <c:v>111.01605376691222</c:v>
                </c:pt>
                <c:pt idx="480">
                  <c:v>111.01605376691222</c:v>
                </c:pt>
                <c:pt idx="481">
                  <c:v>111.01605376691222</c:v>
                </c:pt>
                <c:pt idx="482">
                  <c:v>110.9734980776568</c:v>
                </c:pt>
                <c:pt idx="483">
                  <c:v>110.69321750359522</c:v>
                </c:pt>
                <c:pt idx="484">
                  <c:v>110.14879816863792</c:v>
                </c:pt>
                <c:pt idx="485">
                  <c:v>110.70642444164001</c:v>
                </c:pt>
                <c:pt idx="486">
                  <c:v>110.80914507087722</c:v>
                </c:pt>
                <c:pt idx="487">
                  <c:v>110.80914507087722</c:v>
                </c:pt>
                <c:pt idx="488">
                  <c:v>110.80914507087722</c:v>
                </c:pt>
                <c:pt idx="489">
                  <c:v>111.11143720834677</c:v>
                </c:pt>
              </c:numCache>
            </c:numRef>
          </c:val>
          <c:smooth val="0"/>
          <c:extLst>
            <c:ext xmlns:c16="http://schemas.microsoft.com/office/drawing/2014/chart" uri="{C3380CC4-5D6E-409C-BE32-E72D297353CC}">
              <c16:uniqueId val="{00000006-96E7-454A-A66A-36F382D4E673}"/>
            </c:ext>
          </c:extLst>
        </c:ser>
        <c:ser>
          <c:idx val="6"/>
          <c:order val="8"/>
          <c:tx>
            <c:strRef>
              <c:f>'BBG (Global Markets)'!$W$11</c:f>
              <c:strCache>
                <c:ptCount val="1"/>
                <c:pt idx="0">
                  <c:v>JCI (2.7%)</c:v>
                </c:pt>
              </c:strCache>
            </c:strRef>
          </c:tx>
          <c:spPr>
            <a:ln w="15875" cap="rnd">
              <a:solidFill>
                <a:srgbClr val="001C30"/>
              </a:solidFill>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Markets)'!$W$12:$W$501</c:f>
              <c:numCache>
                <c:formatCode>_(* #,##0_);_(* \(#,##0\);_(* "   -"?_);_(@_)</c:formatCode>
                <c:ptCount val="490"/>
                <c:pt idx="1">
                  <c:v>100</c:v>
                </c:pt>
                <c:pt idx="2">
                  <c:v>100</c:v>
                </c:pt>
                <c:pt idx="3">
                  <c:v>100.017087323342</c:v>
                </c:pt>
                <c:pt idx="4">
                  <c:v>100.017087323342</c:v>
                </c:pt>
                <c:pt idx="5">
                  <c:v>100.017087323342</c:v>
                </c:pt>
                <c:pt idx="6">
                  <c:v>98.845056088720057</c:v>
                </c:pt>
                <c:pt idx="7">
                  <c:v>98.884284339202907</c:v>
                </c:pt>
                <c:pt idx="8">
                  <c:v>98.843352940478454</c:v>
                </c:pt>
                <c:pt idx="9">
                  <c:v>98.623283851292825</c:v>
                </c:pt>
                <c:pt idx="10">
                  <c:v>98.96221035137205</c:v>
                </c:pt>
                <c:pt idx="11">
                  <c:v>98.96221035137205</c:v>
                </c:pt>
                <c:pt idx="12">
                  <c:v>98.96221035137205</c:v>
                </c:pt>
                <c:pt idx="13">
                  <c:v>97.957255167205176</c:v>
                </c:pt>
                <c:pt idx="14">
                  <c:v>97.116653788353119</c:v>
                </c:pt>
                <c:pt idx="15">
                  <c:v>98.832324357602502</c:v>
                </c:pt>
                <c:pt idx="16">
                  <c:v>99.222610549328138</c:v>
                </c:pt>
                <c:pt idx="17">
                  <c:v>99.880681901467298</c:v>
                </c:pt>
                <c:pt idx="18">
                  <c:v>99.880681901467298</c:v>
                </c:pt>
                <c:pt idx="19">
                  <c:v>99.880681901467298</c:v>
                </c:pt>
                <c:pt idx="20">
                  <c:v>100.10514846357184</c:v>
                </c:pt>
                <c:pt idx="21">
                  <c:v>100.25986970915952</c:v>
                </c:pt>
                <c:pt idx="22">
                  <c:v>101.31118682209987</c:v>
                </c:pt>
                <c:pt idx="23">
                  <c:v>100.96937055410254</c:v>
                </c:pt>
                <c:pt idx="24">
                  <c:v>100.03980061997389</c:v>
                </c:pt>
                <c:pt idx="25">
                  <c:v>100.03980061997389</c:v>
                </c:pt>
                <c:pt idx="26">
                  <c:v>100.03980061997389</c:v>
                </c:pt>
                <c:pt idx="27">
                  <c:v>100.03980061997389</c:v>
                </c:pt>
                <c:pt idx="28">
                  <c:v>100.03980061997389</c:v>
                </c:pt>
                <c:pt idx="29">
                  <c:v>100.03980061997389</c:v>
                </c:pt>
                <c:pt idx="30">
                  <c:v>98.74739030922612</c:v>
                </c:pt>
                <c:pt idx="31">
                  <c:v>99.246021857534444</c:v>
                </c:pt>
                <c:pt idx="32">
                  <c:v>99.246021857534444</c:v>
                </c:pt>
                <c:pt idx="33">
                  <c:v>99.246021857534444</c:v>
                </c:pt>
                <c:pt idx="34">
                  <c:v>98.141237057992896</c:v>
                </c:pt>
                <c:pt idx="35">
                  <c:v>98.747125064827827</c:v>
                </c:pt>
                <c:pt idx="36">
                  <c:v>98.059848908414608</c:v>
                </c:pt>
                <c:pt idx="37">
                  <c:v>95.984074167917854</c:v>
                </c:pt>
                <c:pt idx="38">
                  <c:v>94.127921789199107</c:v>
                </c:pt>
                <c:pt idx="39">
                  <c:v>94.127921789199107</c:v>
                </c:pt>
                <c:pt idx="40">
                  <c:v>94.127921789199107</c:v>
                </c:pt>
                <c:pt idx="41">
                  <c:v>92.80960128880858</c:v>
                </c:pt>
                <c:pt idx="42">
                  <c:v>91.188092480949507</c:v>
                </c:pt>
                <c:pt idx="43">
                  <c:v>92.776599301569618</c:v>
                </c:pt>
                <c:pt idx="44">
                  <c:v>92.326940245323158</c:v>
                </c:pt>
                <c:pt idx="45">
                  <c:v>92.674424367304852</c:v>
                </c:pt>
                <c:pt idx="46">
                  <c:v>92.674424367304852</c:v>
                </c:pt>
                <c:pt idx="47">
                  <c:v>92.674424367304852</c:v>
                </c:pt>
                <c:pt idx="48">
                  <c:v>95.360693991027759</c:v>
                </c:pt>
                <c:pt idx="49">
                  <c:v>95.95640498910754</c:v>
                </c:pt>
                <c:pt idx="50">
                  <c:v>94.857930214198817</c:v>
                </c:pt>
                <c:pt idx="51">
                  <c:v>94.762637674057913</c:v>
                </c:pt>
                <c:pt idx="52">
                  <c:v>94.971468776895264</c:v>
                </c:pt>
                <c:pt idx="53">
                  <c:v>94.971468776895264</c:v>
                </c:pt>
                <c:pt idx="54">
                  <c:v>94.971468776895264</c:v>
                </c:pt>
                <c:pt idx="55">
                  <c:v>94.225992415406225</c:v>
                </c:pt>
                <c:pt idx="56">
                  <c:v>91.95725935527463</c:v>
                </c:pt>
                <c:pt idx="57">
                  <c:v>92.223774134622701</c:v>
                </c:pt>
                <c:pt idx="58">
                  <c:v>90.538355387009034</c:v>
                </c:pt>
                <c:pt idx="59">
                  <c:v>87.538985691460738</c:v>
                </c:pt>
                <c:pt idx="60">
                  <c:v>87.538985691460738</c:v>
                </c:pt>
                <c:pt idx="61">
                  <c:v>87.538985691460738</c:v>
                </c:pt>
                <c:pt idx="62">
                  <c:v>91.015934906232616</c:v>
                </c:pt>
                <c:pt idx="63">
                  <c:v>89.071874949830416</c:v>
                </c:pt>
                <c:pt idx="64">
                  <c:v>91.179841984139784</c:v>
                </c:pt>
                <c:pt idx="65">
                  <c:v>92.386676075862681</c:v>
                </c:pt>
                <c:pt idx="66">
                  <c:v>92.640096158074499</c:v>
                </c:pt>
                <c:pt idx="67">
                  <c:v>92.640096158074499</c:v>
                </c:pt>
                <c:pt idx="68">
                  <c:v>92.640096158074499</c:v>
                </c:pt>
                <c:pt idx="69">
                  <c:v>92.112566930584848</c:v>
                </c:pt>
                <c:pt idx="70">
                  <c:v>91.381581289380946</c:v>
                </c:pt>
                <c:pt idx="71">
                  <c:v>93.045571081659673</c:v>
                </c:pt>
                <c:pt idx="72">
                  <c:v>92.799480120979368</c:v>
                </c:pt>
                <c:pt idx="73">
                  <c:v>90.959717054028204</c:v>
                </c:pt>
                <c:pt idx="74">
                  <c:v>90.959717054028204</c:v>
                </c:pt>
                <c:pt idx="75">
                  <c:v>90.959717054028204</c:v>
                </c:pt>
                <c:pt idx="76">
                  <c:v>90.349878301681997</c:v>
                </c:pt>
                <c:pt idx="77">
                  <c:v>86.879937123117372</c:v>
                </c:pt>
                <c:pt idx="78">
                  <c:v>88.112234677075421</c:v>
                </c:pt>
                <c:pt idx="79">
                  <c:v>89.089646324515357</c:v>
                </c:pt>
                <c:pt idx="80">
                  <c:v>87.365627536835817</c:v>
                </c:pt>
                <c:pt idx="81">
                  <c:v>87.365627536835817</c:v>
                </c:pt>
                <c:pt idx="82">
                  <c:v>87.365627536835817</c:v>
                </c:pt>
                <c:pt idx="83">
                  <c:v>86.012029531473686</c:v>
                </c:pt>
                <c:pt idx="84">
                  <c:v>87.050684714453936</c:v>
                </c:pt>
                <c:pt idx="85">
                  <c:v>90.355588036360814</c:v>
                </c:pt>
                <c:pt idx="86">
                  <c:v>90.88976233403902</c:v>
                </c:pt>
                <c:pt idx="87">
                  <c:v>90.88976233403902</c:v>
                </c:pt>
                <c:pt idx="88">
                  <c:v>90.88976233403902</c:v>
                </c:pt>
                <c:pt idx="89">
                  <c:v>90.88976233403902</c:v>
                </c:pt>
                <c:pt idx="90">
                  <c:v>90.88976233403902</c:v>
                </c:pt>
                <c:pt idx="91">
                  <c:v>90.88976233403902</c:v>
                </c:pt>
                <c:pt idx="92">
                  <c:v>90.88976233403902</c:v>
                </c:pt>
                <c:pt idx="93">
                  <c:v>90.88976233403902</c:v>
                </c:pt>
                <c:pt idx="94">
                  <c:v>90.88976233403902</c:v>
                </c:pt>
                <c:pt idx="95">
                  <c:v>90.88976233403902</c:v>
                </c:pt>
                <c:pt idx="96">
                  <c:v>90.88976233403902</c:v>
                </c:pt>
                <c:pt idx="97">
                  <c:v>90.88976233403902</c:v>
                </c:pt>
                <c:pt idx="98">
                  <c:v>83.7075303582684</c:v>
                </c:pt>
                <c:pt idx="99">
                  <c:v>83.314494000939533</c:v>
                </c:pt>
                <c:pt idx="100">
                  <c:v>87.307622775000866</c:v>
                </c:pt>
                <c:pt idx="101">
                  <c:v>87.422124593670006</c:v>
                </c:pt>
                <c:pt idx="102">
                  <c:v>87.422124593670006</c:v>
                </c:pt>
                <c:pt idx="103">
                  <c:v>87.422124593670006</c:v>
                </c:pt>
                <c:pt idx="104">
                  <c:v>88.905971558820383</c:v>
                </c:pt>
                <c:pt idx="105">
                  <c:v>89.927385855912263</c:v>
                </c:pt>
                <c:pt idx="106">
                  <c:v>89.346235379275058</c:v>
                </c:pt>
                <c:pt idx="107">
                  <c:v>89.879725625610334</c:v>
                </c:pt>
                <c:pt idx="108">
                  <c:v>89.879725625610334</c:v>
                </c:pt>
                <c:pt idx="109">
                  <c:v>89.879725625610334</c:v>
                </c:pt>
                <c:pt idx="110">
                  <c:v>89.879725625610334</c:v>
                </c:pt>
                <c:pt idx="111">
                  <c:v>89.987191487609238</c:v>
                </c:pt>
                <c:pt idx="112">
                  <c:v>91.275706893771712</c:v>
                </c:pt>
                <c:pt idx="113">
                  <c:v>92.617438702368574</c:v>
                </c:pt>
                <c:pt idx="114">
                  <c:v>92.325683824489175</c:v>
                </c:pt>
                <c:pt idx="115">
                  <c:v>93.239199492405987</c:v>
                </c:pt>
                <c:pt idx="116">
                  <c:v>93.239199492405987</c:v>
                </c:pt>
                <c:pt idx="117">
                  <c:v>93.239199492405987</c:v>
                </c:pt>
                <c:pt idx="118">
                  <c:v>93.854161649708473</c:v>
                </c:pt>
                <c:pt idx="119">
                  <c:v>94.218649333643242</c:v>
                </c:pt>
                <c:pt idx="120">
                  <c:v>94.466024635620499</c:v>
                </c:pt>
                <c:pt idx="121">
                  <c:v>94.466024635620499</c:v>
                </c:pt>
                <c:pt idx="122">
                  <c:v>95.149168563513115</c:v>
                </c:pt>
                <c:pt idx="123">
                  <c:v>95.149168563513115</c:v>
                </c:pt>
                <c:pt idx="124">
                  <c:v>95.149168563513115</c:v>
                </c:pt>
                <c:pt idx="125">
                  <c:v>95.375631438720518</c:v>
                </c:pt>
                <c:pt idx="126">
                  <c:v>96.300426973680075</c:v>
                </c:pt>
                <c:pt idx="127">
                  <c:v>96.691704341841401</c:v>
                </c:pt>
                <c:pt idx="128">
                  <c:v>95.316970546005592</c:v>
                </c:pt>
                <c:pt idx="129">
                  <c:v>95.387511595717285</c:v>
                </c:pt>
                <c:pt idx="130">
                  <c:v>95.387511595717285</c:v>
                </c:pt>
                <c:pt idx="131">
                  <c:v>95.387511595717285</c:v>
                </c:pt>
                <c:pt idx="132">
                  <c:v>95.387511595717285</c:v>
                </c:pt>
                <c:pt idx="133">
                  <c:v>95.387511595717285</c:v>
                </c:pt>
                <c:pt idx="134">
                  <c:v>97.440740562360006</c:v>
                </c:pt>
                <c:pt idx="135">
                  <c:v>98.282277276721814</c:v>
                </c:pt>
                <c:pt idx="136">
                  <c:v>99.208748039459991</c:v>
                </c:pt>
                <c:pt idx="137">
                  <c:v>99.208748039459991</c:v>
                </c:pt>
                <c:pt idx="138">
                  <c:v>99.208748039459991</c:v>
                </c:pt>
                <c:pt idx="139">
                  <c:v>99.691283440862023</c:v>
                </c:pt>
                <c:pt idx="140">
                  <c:v>99.042286239190418</c:v>
                </c:pt>
                <c:pt idx="141">
                  <c:v>99.710408958001352</c:v>
                </c:pt>
                <c:pt idx="142">
                  <c:v>100.05271383410079</c:v>
                </c:pt>
                <c:pt idx="143">
                  <c:v>100.71138547619395</c:v>
                </c:pt>
                <c:pt idx="144">
                  <c:v>100.71138547619395</c:v>
                </c:pt>
                <c:pt idx="145">
                  <c:v>100.71138547619395</c:v>
                </c:pt>
                <c:pt idx="146">
                  <c:v>100.35107190147427</c:v>
                </c:pt>
                <c:pt idx="147">
                  <c:v>100.49924579849383</c:v>
                </c:pt>
                <c:pt idx="148">
                  <c:v>100.17609435999668</c:v>
                </c:pt>
                <c:pt idx="149">
                  <c:v>100.17609435999668</c:v>
                </c:pt>
                <c:pt idx="150">
                  <c:v>100.17609435999668</c:v>
                </c:pt>
                <c:pt idx="151">
                  <c:v>100.17609435999668</c:v>
                </c:pt>
                <c:pt idx="152">
                  <c:v>100.17609435999668</c:v>
                </c:pt>
                <c:pt idx="153">
                  <c:v>98.629998722638817</c:v>
                </c:pt>
                <c:pt idx="154">
                  <c:v>98.347345915689971</c:v>
                </c:pt>
                <c:pt idx="155">
                  <c:v>98.685392921185425</c:v>
                </c:pt>
                <c:pt idx="156">
                  <c:v>99.305059676499567</c:v>
                </c:pt>
                <c:pt idx="157">
                  <c:v>99.305059676499567</c:v>
                </c:pt>
                <c:pt idx="158">
                  <c:v>99.305059676499567</c:v>
                </c:pt>
                <c:pt idx="159">
                  <c:v>99.305059676499567</c:v>
                </c:pt>
                <c:pt idx="160">
                  <c:v>99.305059676499567</c:v>
                </c:pt>
                <c:pt idx="161">
                  <c:v>100.94287403473726</c:v>
                </c:pt>
                <c:pt idx="162">
                  <c:v>100.82715767592858</c:v>
                </c:pt>
                <c:pt idx="163">
                  <c:v>100.57467292922651</c:v>
                </c:pt>
                <c:pt idx="164">
                  <c:v>100.03992626205726</c:v>
                </c:pt>
                <c:pt idx="165">
                  <c:v>100.03992626205726</c:v>
                </c:pt>
                <c:pt idx="166">
                  <c:v>100.03992626205726</c:v>
                </c:pt>
                <c:pt idx="167">
                  <c:v>99.363218000880892</c:v>
                </c:pt>
                <c:pt idx="168">
                  <c:v>99.897350417864629</c:v>
                </c:pt>
                <c:pt idx="169">
                  <c:v>99.226379811830029</c:v>
                </c:pt>
                <c:pt idx="170">
                  <c:v>97.283813600197121</c:v>
                </c:pt>
                <c:pt idx="171">
                  <c:v>96.425245403419282</c:v>
                </c:pt>
                <c:pt idx="172">
                  <c:v>96.425245403419282</c:v>
                </c:pt>
                <c:pt idx="173">
                  <c:v>96.425245403419282</c:v>
                </c:pt>
                <c:pt idx="174">
                  <c:v>94.750045545255233</c:v>
                </c:pt>
                <c:pt idx="175">
                  <c:v>95.895217294493179</c:v>
                </c:pt>
                <c:pt idx="176">
                  <c:v>95.378297842934828</c:v>
                </c:pt>
                <c:pt idx="177">
                  <c:v>96.289300669183703</c:v>
                </c:pt>
                <c:pt idx="178">
                  <c:v>96.289300669183703</c:v>
                </c:pt>
                <c:pt idx="179">
                  <c:v>96.289300669183703</c:v>
                </c:pt>
                <c:pt idx="180">
                  <c:v>96.289300669183703</c:v>
                </c:pt>
                <c:pt idx="181">
                  <c:v>96.712002518425763</c:v>
                </c:pt>
                <c:pt idx="182">
                  <c:v>96.5400264267182</c:v>
                </c:pt>
                <c:pt idx="183">
                  <c:v>96.063773129486023</c:v>
                </c:pt>
                <c:pt idx="184">
                  <c:v>96.019184150111585</c:v>
                </c:pt>
                <c:pt idx="185">
                  <c:v>95.839669533400212</c:v>
                </c:pt>
                <c:pt idx="186">
                  <c:v>95.839669533400212</c:v>
                </c:pt>
                <c:pt idx="187">
                  <c:v>95.839669533400212</c:v>
                </c:pt>
                <c:pt idx="188">
                  <c:v>96.338608206801283</c:v>
                </c:pt>
                <c:pt idx="189">
                  <c:v>96.386910607751702</c:v>
                </c:pt>
                <c:pt idx="190">
                  <c:v>96.938758558494413</c:v>
                </c:pt>
                <c:pt idx="191">
                  <c:v>97.796600823234854</c:v>
                </c:pt>
                <c:pt idx="192">
                  <c:v>98.383865881264043</c:v>
                </c:pt>
                <c:pt idx="193">
                  <c:v>98.383865881264043</c:v>
                </c:pt>
                <c:pt idx="194">
                  <c:v>98.383865881264043</c:v>
                </c:pt>
                <c:pt idx="195">
                  <c:v>99.077870869254753</c:v>
                </c:pt>
                <c:pt idx="196">
                  <c:v>99.682669978033573</c:v>
                </c:pt>
                <c:pt idx="197">
                  <c:v>100.40223614987984</c:v>
                </c:pt>
                <c:pt idx="198">
                  <c:v>101.72850002198737</c:v>
                </c:pt>
                <c:pt idx="199">
                  <c:v>102.07602602466355</c:v>
                </c:pt>
                <c:pt idx="200">
                  <c:v>102.07602602466355</c:v>
                </c:pt>
                <c:pt idx="201">
                  <c:v>102.07602602466355</c:v>
                </c:pt>
                <c:pt idx="202">
                  <c:v>103.28047291680191</c:v>
                </c:pt>
                <c:pt idx="203">
                  <c:v>102.53421478234952</c:v>
                </c:pt>
                <c:pt idx="204">
                  <c:v>104.27217984128612</c:v>
                </c:pt>
                <c:pt idx="205">
                  <c:v>105.13313523764852</c:v>
                </c:pt>
                <c:pt idx="206">
                  <c:v>105.30904811463584</c:v>
                </c:pt>
                <c:pt idx="207">
                  <c:v>105.30904811463584</c:v>
                </c:pt>
                <c:pt idx="208">
                  <c:v>105.30904811463584</c:v>
                </c:pt>
                <c:pt idx="209">
                  <c:v>106.30392401166797</c:v>
                </c:pt>
                <c:pt idx="210">
                  <c:v>106.34774517831056</c:v>
                </c:pt>
                <c:pt idx="211">
                  <c:v>105.39818419269029</c:v>
                </c:pt>
                <c:pt idx="212">
                  <c:v>104.4830770583838</c:v>
                </c:pt>
                <c:pt idx="213">
                  <c:v>105.22898618704895</c:v>
                </c:pt>
                <c:pt idx="214">
                  <c:v>105.22898618704895</c:v>
                </c:pt>
                <c:pt idx="215">
                  <c:v>105.22898618704895</c:v>
                </c:pt>
                <c:pt idx="216">
                  <c:v>104.2081721799111</c:v>
                </c:pt>
                <c:pt idx="217">
                  <c:v>104.91372227934284</c:v>
                </c:pt>
                <c:pt idx="218">
                  <c:v>104.75408703227116</c:v>
                </c:pt>
                <c:pt idx="219">
                  <c:v>104.5646885716659</c:v>
                </c:pt>
                <c:pt idx="220">
                  <c:v>105.1677984924346</c:v>
                </c:pt>
                <c:pt idx="221">
                  <c:v>105.1677984924346</c:v>
                </c:pt>
                <c:pt idx="222">
                  <c:v>105.1677984924346</c:v>
                </c:pt>
                <c:pt idx="223">
                  <c:v>106.18047368461465</c:v>
                </c:pt>
                <c:pt idx="224">
                  <c:v>108.77389380870714</c:v>
                </c:pt>
                <c:pt idx="225">
                  <c:v>110.18686467859011</c:v>
                </c:pt>
                <c:pt idx="226">
                  <c:v>110.72209995386144</c:v>
                </c:pt>
                <c:pt idx="227">
                  <c:v>110.26314338344359</c:v>
                </c:pt>
                <c:pt idx="228">
                  <c:v>110.26314338344359</c:v>
                </c:pt>
                <c:pt idx="229">
                  <c:v>110.26314338344359</c:v>
                </c:pt>
                <c:pt idx="230">
                  <c:v>110.26314338344359</c:v>
                </c:pt>
                <c:pt idx="231">
                  <c:v>109.7685882227299</c:v>
                </c:pt>
                <c:pt idx="232">
                  <c:v>110.89763590459857</c:v>
                </c:pt>
                <c:pt idx="233">
                  <c:v>110.15620801024122</c:v>
                </c:pt>
                <c:pt idx="234">
                  <c:v>109.7113791940898</c:v>
                </c:pt>
                <c:pt idx="235">
                  <c:v>109.7113791940898</c:v>
                </c:pt>
                <c:pt idx="236">
                  <c:v>109.7113791940898</c:v>
                </c:pt>
                <c:pt idx="237">
                  <c:v>110.66145670827514</c:v>
                </c:pt>
                <c:pt idx="238">
                  <c:v>110.36619781229211</c:v>
                </c:pt>
                <c:pt idx="239">
                  <c:v>110.79085409394258</c:v>
                </c:pt>
                <c:pt idx="240">
                  <c:v>111.01298929738851</c:v>
                </c:pt>
                <c:pt idx="241">
                  <c:v>109.31549494953725</c:v>
                </c:pt>
                <c:pt idx="242">
                  <c:v>109.31549494953725</c:v>
                </c:pt>
                <c:pt idx="243">
                  <c:v>109.31549494953725</c:v>
                </c:pt>
                <c:pt idx="244">
                  <c:v>107.99727217076713</c:v>
                </c:pt>
                <c:pt idx="245">
                  <c:v>108.91193257766601</c:v>
                </c:pt>
                <c:pt idx="246">
                  <c:v>110.08847296705875</c:v>
                </c:pt>
                <c:pt idx="247">
                  <c:v>109.82999928104809</c:v>
                </c:pt>
                <c:pt idx="248">
                  <c:v>109.82999928104809</c:v>
                </c:pt>
                <c:pt idx="249">
                  <c:v>109.82999928104809</c:v>
                </c:pt>
                <c:pt idx="250">
                  <c:v>109.82999928104809</c:v>
                </c:pt>
                <c:pt idx="251">
                  <c:v>108.42700997667944</c:v>
                </c:pt>
                <c:pt idx="252">
                  <c:v>106.49709173477515</c:v>
                </c:pt>
                <c:pt idx="253">
                  <c:v>107.47991995203263</c:v>
                </c:pt>
                <c:pt idx="254">
                  <c:v>108.16254735136017</c:v>
                </c:pt>
                <c:pt idx="255">
                  <c:v>109.64449572502812</c:v>
                </c:pt>
                <c:pt idx="256">
                  <c:v>109.64449572502812</c:v>
                </c:pt>
                <c:pt idx="257">
                  <c:v>109.64449572502812</c:v>
                </c:pt>
                <c:pt idx="258">
                  <c:v>110.80400463200482</c:v>
                </c:pt>
                <c:pt idx="259">
                  <c:v>111.09127827557637</c:v>
                </c:pt>
                <c:pt idx="260">
                  <c:v>112.03335657711877</c:v>
                </c:pt>
                <c:pt idx="261">
                  <c:v>111.79957854061135</c:v>
                </c:pt>
                <c:pt idx="262">
                  <c:v>112.39547102170049</c:v>
                </c:pt>
                <c:pt idx="263">
                  <c:v>112.39547102170049</c:v>
                </c:pt>
                <c:pt idx="264">
                  <c:v>112.39547102170049</c:v>
                </c:pt>
                <c:pt idx="265">
                  <c:v>112.24080561703873</c:v>
                </c:pt>
                <c:pt idx="266">
                  <c:v>113.42968685106736</c:v>
                </c:pt>
                <c:pt idx="267">
                  <c:v>113.44863088519735</c:v>
                </c:pt>
                <c:pt idx="268">
                  <c:v>112.24954472195058</c:v>
                </c:pt>
                <c:pt idx="269">
                  <c:v>113.06856358292133</c:v>
                </c:pt>
                <c:pt idx="270">
                  <c:v>113.06856358292133</c:v>
                </c:pt>
                <c:pt idx="271">
                  <c:v>113.06856358292133</c:v>
                </c:pt>
                <c:pt idx="272">
                  <c:v>113.40238063827574</c:v>
                </c:pt>
                <c:pt idx="273">
                  <c:v>112.53429156362272</c:v>
                </c:pt>
                <c:pt idx="274">
                  <c:v>112.29361717275997</c:v>
                </c:pt>
                <c:pt idx="275">
                  <c:v>112.67415912290657</c:v>
                </c:pt>
                <c:pt idx="276">
                  <c:v>113.33336125379631</c:v>
                </c:pt>
                <c:pt idx="277">
                  <c:v>113.33336125379631</c:v>
                </c:pt>
                <c:pt idx="278">
                  <c:v>113.33336125379631</c:v>
                </c:pt>
                <c:pt idx="279">
                  <c:v>113.63480453232877</c:v>
                </c:pt>
                <c:pt idx="280">
                  <c:v>114.04505385508304</c:v>
                </c:pt>
                <c:pt idx="281">
                  <c:v>113.99965518228224</c:v>
                </c:pt>
                <c:pt idx="282">
                  <c:v>115.18500447774424</c:v>
                </c:pt>
                <c:pt idx="283">
                  <c:v>115.28162323987657</c:v>
                </c:pt>
                <c:pt idx="284">
                  <c:v>115.28162323987657</c:v>
                </c:pt>
                <c:pt idx="285">
                  <c:v>115.28162323987657</c:v>
                </c:pt>
                <c:pt idx="286">
                  <c:v>114.85364442313181</c:v>
                </c:pt>
                <c:pt idx="287">
                  <c:v>112.61051442755023</c:v>
                </c:pt>
                <c:pt idx="288">
                  <c:v>112.39626675489534</c:v>
                </c:pt>
                <c:pt idx="289">
                  <c:v>113.42348850828643</c:v>
                </c:pt>
                <c:pt idx="290">
                  <c:v>110.50439014379737</c:v>
                </c:pt>
                <c:pt idx="291">
                  <c:v>110.50439014379737</c:v>
                </c:pt>
                <c:pt idx="292">
                  <c:v>110.50439014379737</c:v>
                </c:pt>
                <c:pt idx="293">
                  <c:v>112.92400538585731</c:v>
                </c:pt>
                <c:pt idx="294">
                  <c:v>115.00555966219032</c:v>
                </c:pt>
                <c:pt idx="295">
                  <c:v>113.81152710274243</c:v>
                </c:pt>
                <c:pt idx="296">
                  <c:v>115.51186933781736</c:v>
                </c:pt>
                <c:pt idx="297">
                  <c:v>115.47515392900245</c:v>
                </c:pt>
                <c:pt idx="298">
                  <c:v>115.47515392900245</c:v>
                </c:pt>
                <c:pt idx="299">
                  <c:v>115.47515392900245</c:v>
                </c:pt>
                <c:pt idx="300">
                  <c:v>113.31730698758446</c:v>
                </c:pt>
                <c:pt idx="301">
                  <c:v>112.97497419102203</c:v>
                </c:pt>
                <c:pt idx="302">
                  <c:v>114.0023774274225</c:v>
                </c:pt>
                <c:pt idx="303">
                  <c:v>114.25142795717839</c:v>
                </c:pt>
                <c:pt idx="304">
                  <c:v>113.96958484365587</c:v>
                </c:pt>
                <c:pt idx="305">
                  <c:v>113.96958484365587</c:v>
                </c:pt>
                <c:pt idx="306">
                  <c:v>113.96958484365587</c:v>
                </c:pt>
                <c:pt idx="307">
                  <c:v>115.52208822726699</c:v>
                </c:pt>
                <c:pt idx="308">
                  <c:v>115.05898546809703</c:v>
                </c:pt>
                <c:pt idx="309">
                  <c:v>116.12854860359295</c:v>
                </c:pt>
                <c:pt idx="310">
                  <c:v>116.38725961353893</c:v>
                </c:pt>
                <c:pt idx="311">
                  <c:v>117.19041965153866</c:v>
                </c:pt>
                <c:pt idx="312">
                  <c:v>117.19041965153866</c:v>
                </c:pt>
                <c:pt idx="313">
                  <c:v>117.19041965153866</c:v>
                </c:pt>
                <c:pt idx="314">
                  <c:v>117.143652876052</c:v>
                </c:pt>
                <c:pt idx="315">
                  <c:v>116.79848615249738</c:v>
                </c:pt>
                <c:pt idx="316">
                  <c:v>117.1063232170516</c:v>
                </c:pt>
                <c:pt idx="317">
                  <c:v>116.87504406198063</c:v>
                </c:pt>
                <c:pt idx="318">
                  <c:v>116.85322422016402</c:v>
                </c:pt>
                <c:pt idx="319">
                  <c:v>116.85322422016402</c:v>
                </c:pt>
                <c:pt idx="320">
                  <c:v>116.85322422016402</c:v>
                </c:pt>
                <c:pt idx="321">
                  <c:v>117.50162113188161</c:v>
                </c:pt>
                <c:pt idx="322">
                  <c:v>116.73442265019638</c:v>
                </c:pt>
                <c:pt idx="323">
                  <c:v>117.35776094639201</c:v>
                </c:pt>
                <c:pt idx="324">
                  <c:v>117.54399043444938</c:v>
                </c:pt>
                <c:pt idx="325">
                  <c:v>117.46630174621558</c:v>
                </c:pt>
                <c:pt idx="326">
                  <c:v>117.46630174621558</c:v>
                </c:pt>
                <c:pt idx="327">
                  <c:v>117.46630174621558</c:v>
                </c:pt>
                <c:pt idx="328">
                  <c:v>119.64272975574481</c:v>
                </c:pt>
                <c:pt idx="329">
                  <c:v>118.96748731887472</c:v>
                </c:pt>
                <c:pt idx="330">
                  <c:v>120.08772609467408</c:v>
                </c:pt>
                <c:pt idx="331">
                  <c:v>119.30225366997036</c:v>
                </c:pt>
                <c:pt idx="332">
                  <c:v>118.78350542808703</c:v>
                </c:pt>
                <c:pt idx="333">
                  <c:v>118.78350542808703</c:v>
                </c:pt>
                <c:pt idx="334">
                  <c:v>118.78350542808703</c:v>
                </c:pt>
                <c:pt idx="335">
                  <c:v>119.34305942661143</c:v>
                </c:pt>
                <c:pt idx="336">
                  <c:v>120.29591502686297</c:v>
                </c:pt>
                <c:pt idx="337">
                  <c:v>120.22254005015911</c:v>
                </c:pt>
                <c:pt idx="338">
                  <c:v>120.61913626651757</c:v>
                </c:pt>
                <c:pt idx="339">
                  <c:v>120.51534194540014</c:v>
                </c:pt>
                <c:pt idx="340">
                  <c:v>120.51534194540014</c:v>
                </c:pt>
                <c:pt idx="341">
                  <c:v>120.51534194540014</c:v>
                </c:pt>
                <c:pt idx="342">
                  <c:v>121.60331862622947</c:v>
                </c:pt>
                <c:pt idx="343">
                  <c:v>120.85622287788776</c:v>
                </c:pt>
                <c:pt idx="344">
                  <c:v>121.46691320435477</c:v>
                </c:pt>
                <c:pt idx="345">
                  <c:v>120.34391030272064</c:v>
                </c:pt>
                <c:pt idx="346">
                  <c:v>120.90257084642977</c:v>
                </c:pt>
                <c:pt idx="347">
                  <c:v>120.90257084642977</c:v>
                </c:pt>
                <c:pt idx="348">
                  <c:v>120.90257084642977</c:v>
                </c:pt>
                <c:pt idx="349">
                  <c:v>120.75128381778828</c:v>
                </c:pt>
                <c:pt idx="350">
                  <c:v>121.26511805818762</c:v>
                </c:pt>
                <c:pt idx="351">
                  <c:v>121.13774490608603</c:v>
                </c:pt>
                <c:pt idx="352">
                  <c:v>120.31199721353781</c:v>
                </c:pt>
                <c:pt idx="353">
                  <c:v>120.19132497255069</c:v>
                </c:pt>
                <c:pt idx="354">
                  <c:v>120.19132497255069</c:v>
                </c:pt>
                <c:pt idx="355">
                  <c:v>120.19132497255069</c:v>
                </c:pt>
                <c:pt idx="356">
                  <c:v>120.69798365396494</c:v>
                </c:pt>
                <c:pt idx="357">
                  <c:v>119.84554399881058</c:v>
                </c:pt>
                <c:pt idx="358">
                  <c:v>119.19121398871036</c:v>
                </c:pt>
                <c:pt idx="359">
                  <c:v>119.19121398871036</c:v>
                </c:pt>
                <c:pt idx="360">
                  <c:v>119.19121398871036</c:v>
                </c:pt>
                <c:pt idx="361">
                  <c:v>119.19121398871036</c:v>
                </c:pt>
                <c:pt idx="362">
                  <c:v>119.19121398871036</c:v>
                </c:pt>
                <c:pt idx="363">
                  <c:v>120.67581480636112</c:v>
                </c:pt>
                <c:pt idx="364">
                  <c:v>120.71325614721344</c:v>
                </c:pt>
                <c:pt idx="365">
                  <c:v>120.71325614721344</c:v>
                </c:pt>
                <c:pt idx="366">
                  <c:v>120.71325614721344</c:v>
                </c:pt>
                <c:pt idx="367">
                  <c:v>122.12594781246662</c:v>
                </c:pt>
                <c:pt idx="368">
                  <c:v>122.12594781246662</c:v>
                </c:pt>
                <c:pt idx="369">
                  <c:v>122.12594781246662</c:v>
                </c:pt>
                <c:pt idx="370">
                  <c:v>123.67635716135446</c:v>
                </c:pt>
                <c:pt idx="371">
                  <c:v>124.71524966827002</c:v>
                </c:pt>
                <c:pt idx="372">
                  <c:v>124.8716601018678</c:v>
                </c:pt>
                <c:pt idx="373">
                  <c:v>124.60164130441611</c:v>
                </c:pt>
                <c:pt idx="374">
                  <c:v>124.75915459630154</c:v>
                </c:pt>
                <c:pt idx="375">
                  <c:v>124.75915459630154</c:v>
                </c:pt>
                <c:pt idx="376">
                  <c:v>124.75915459630154</c:v>
                </c:pt>
                <c:pt idx="377">
                  <c:v>124.03278979172032</c:v>
                </c:pt>
                <c:pt idx="378">
                  <c:v>124.92038130976289</c:v>
                </c:pt>
                <c:pt idx="379">
                  <c:v>126.0969635798501</c:v>
                </c:pt>
                <c:pt idx="380">
                  <c:v>126.69476861265314</c:v>
                </c:pt>
                <c:pt idx="381">
                  <c:v>126.69476861265314</c:v>
                </c:pt>
                <c:pt idx="382">
                  <c:v>126.69476861265314</c:v>
                </c:pt>
                <c:pt idx="383">
                  <c:v>126.69476861265314</c:v>
                </c:pt>
                <c:pt idx="384">
                  <c:v>127.51098146709468</c:v>
                </c:pt>
                <c:pt idx="385">
                  <c:v>127.52252657853573</c:v>
                </c:pt>
                <c:pt idx="386">
                  <c:v>125.7862925883037</c:v>
                </c:pt>
                <c:pt idx="387">
                  <c:v>125.53295626748084</c:v>
                </c:pt>
                <c:pt idx="388">
                  <c:v>124.95817165640241</c:v>
                </c:pt>
                <c:pt idx="389">
                  <c:v>124.95817165640241</c:v>
                </c:pt>
                <c:pt idx="390">
                  <c:v>124.95817165640241</c:v>
                </c:pt>
                <c:pt idx="391">
                  <c:v>125.29774032713013</c:v>
                </c:pt>
                <c:pt idx="392">
                  <c:v>125.36608962049809</c:v>
                </c:pt>
                <c:pt idx="393">
                  <c:v>116.15688787351472</c:v>
                </c:pt>
                <c:pt idx="394">
                  <c:v>114.92345954080609</c:v>
                </c:pt>
                <c:pt idx="395">
                  <c:v>116.28322796848619</c:v>
                </c:pt>
                <c:pt idx="396">
                  <c:v>116.28322796848619</c:v>
                </c:pt>
                <c:pt idx="397">
                  <c:v>116.28322796848619</c:v>
                </c:pt>
                <c:pt idx="398">
                  <c:v>110.60315878157891</c:v>
                </c:pt>
                <c:pt idx="399">
                  <c:v>113.39333440827116</c:v>
                </c:pt>
                <c:pt idx="400">
                  <c:v>113.73005519177519</c:v>
                </c:pt>
                <c:pt idx="401">
                  <c:v>113.13202679526833</c:v>
                </c:pt>
                <c:pt idx="402">
                  <c:v>110.77806652189908</c:v>
                </c:pt>
                <c:pt idx="403">
                  <c:v>110.77806652189908</c:v>
                </c:pt>
                <c:pt idx="404">
                  <c:v>110.77806652189908</c:v>
                </c:pt>
                <c:pt idx="405">
                  <c:v>112.12682032693466</c:v>
                </c:pt>
                <c:pt idx="406">
                  <c:v>113.52094488430808</c:v>
                </c:pt>
                <c:pt idx="407">
                  <c:v>115.74380462376827</c:v>
                </c:pt>
                <c:pt idx="408">
                  <c:v>115.38622725442033</c:v>
                </c:pt>
                <c:pt idx="409">
                  <c:v>114.64520420677617</c:v>
                </c:pt>
                <c:pt idx="410">
                  <c:v>114.64520420677617</c:v>
                </c:pt>
                <c:pt idx="411">
                  <c:v>114.64520420677617</c:v>
                </c:pt>
                <c:pt idx="412">
                  <c:v>114.64520420677617</c:v>
                </c:pt>
                <c:pt idx="413">
                  <c:v>114.64520420677617</c:v>
                </c:pt>
                <c:pt idx="414">
                  <c:v>116.0126926424694</c:v>
                </c:pt>
                <c:pt idx="415">
                  <c:v>115.50808611508397</c:v>
                </c:pt>
                <c:pt idx="416">
                  <c:v>115.47578213941942</c:v>
                </c:pt>
                <c:pt idx="417">
                  <c:v>115.47578213941942</c:v>
                </c:pt>
                <c:pt idx="418">
                  <c:v>115.47578213941942</c:v>
                </c:pt>
                <c:pt idx="419">
                  <c:v>117.21124831691961</c:v>
                </c:pt>
                <c:pt idx="420">
                  <c:v>115.60234559809473</c:v>
                </c:pt>
                <c:pt idx="421">
                  <c:v>116.18024334079506</c:v>
                </c:pt>
                <c:pt idx="422">
                  <c:v>114.96616388892961</c:v>
                </c:pt>
                <c:pt idx="423">
                  <c:v>114.96927702055157</c:v>
                </c:pt>
                <c:pt idx="424">
                  <c:v>114.96927702055157</c:v>
                </c:pt>
                <c:pt idx="425">
                  <c:v>114.96927702055157</c:v>
                </c:pt>
                <c:pt idx="426">
                  <c:v>111.91684448511525</c:v>
                </c:pt>
                <c:pt idx="427">
                  <c:v>110.840985285218</c:v>
                </c:pt>
                <c:pt idx="428">
                  <c:v>105.77756744362337</c:v>
                </c:pt>
                <c:pt idx="429">
                  <c:v>107.64088142109574</c:v>
                </c:pt>
                <c:pt idx="430">
                  <c:v>105.8979465197492</c:v>
                </c:pt>
                <c:pt idx="431">
                  <c:v>105.8979465197492</c:v>
                </c:pt>
                <c:pt idx="432">
                  <c:v>105.8979465197492</c:v>
                </c:pt>
                <c:pt idx="433">
                  <c:v>102.43136975697331</c:v>
                </c:pt>
                <c:pt idx="434">
                  <c:v>103.87686796622462</c:v>
                </c:pt>
                <c:pt idx="435">
                  <c:v>103.15772060132302</c:v>
                </c:pt>
                <c:pt idx="436">
                  <c:v>102.77685756585215</c:v>
                </c:pt>
                <c:pt idx="437">
                  <c:v>99.637131702917898</c:v>
                </c:pt>
                <c:pt idx="438">
                  <c:v>99.637131702917898</c:v>
                </c:pt>
                <c:pt idx="439">
                  <c:v>99.637131702917898</c:v>
                </c:pt>
                <c:pt idx="440">
                  <c:v>98.032766059326789</c:v>
                </c:pt>
                <c:pt idx="441">
                  <c:v>99.213117591915918</c:v>
                </c:pt>
                <c:pt idx="442">
                  <c:v>99.213117591915918</c:v>
                </c:pt>
                <c:pt idx="443">
                  <c:v>99.213117591915918</c:v>
                </c:pt>
                <c:pt idx="444">
                  <c:v>99.213117591915918</c:v>
                </c:pt>
                <c:pt idx="445">
                  <c:v>99.213117591915918</c:v>
                </c:pt>
                <c:pt idx="446">
                  <c:v>99.213117591915918</c:v>
                </c:pt>
                <c:pt idx="447">
                  <c:v>99.213117591915918</c:v>
                </c:pt>
                <c:pt idx="448">
                  <c:v>99.213117591915918</c:v>
                </c:pt>
                <c:pt idx="449">
                  <c:v>101.9392995174646</c:v>
                </c:pt>
                <c:pt idx="450">
                  <c:v>100.01236876509887</c:v>
                </c:pt>
                <c:pt idx="451">
                  <c:v>99.076558607494832</c:v>
                </c:pt>
                <c:pt idx="452">
                  <c:v>99.076558607494832</c:v>
                </c:pt>
                <c:pt idx="453">
                  <c:v>99.076558607494832</c:v>
                </c:pt>
                <c:pt idx="454">
                  <c:v>99.001354840465979</c:v>
                </c:pt>
                <c:pt idx="455">
                  <c:v>98.394810702751073</c:v>
                </c:pt>
                <c:pt idx="456">
                  <c:v>100.29641759519656</c:v>
                </c:pt>
                <c:pt idx="457">
                  <c:v>98.09550333963638</c:v>
                </c:pt>
                <c:pt idx="458">
                  <c:v>98.09550333963638</c:v>
                </c:pt>
                <c:pt idx="459">
                  <c:v>98.09550333963638</c:v>
                </c:pt>
                <c:pt idx="460">
                  <c:v>98.09550333963638</c:v>
                </c:pt>
                <c:pt idx="461">
                  <c:v>97.574004932149791</c:v>
                </c:pt>
                <c:pt idx="462">
                  <c:v>97.317150632991797</c:v>
                </c:pt>
                <c:pt idx="463">
                  <c:v>101.61944269359876</c:v>
                </c:pt>
                <c:pt idx="464">
                  <c:v>102.01563406324404</c:v>
                </c:pt>
                <c:pt idx="465">
                  <c:v>104.12233071648795</c:v>
                </c:pt>
                <c:pt idx="466">
                  <c:v>104.12233071648795</c:v>
                </c:pt>
                <c:pt idx="467">
                  <c:v>104.12233071648795</c:v>
                </c:pt>
                <c:pt idx="468">
                  <c:v>104.70434672747744</c:v>
                </c:pt>
                <c:pt idx="469">
                  <c:v>107.15805285483245</c:v>
                </c:pt>
                <c:pt idx="470">
                  <c:v>106.42702533293406</c:v>
                </c:pt>
                <c:pt idx="471">
                  <c:v>106.39625698273328</c:v>
                </c:pt>
                <c:pt idx="472">
                  <c:v>106.57246302458188</c:v>
                </c:pt>
                <c:pt idx="473">
                  <c:v>106.57246302458188</c:v>
                </c:pt>
                <c:pt idx="474">
                  <c:v>106.57246302458188</c:v>
                </c:pt>
                <c:pt idx="475">
                  <c:v>106.01554750980881</c:v>
                </c:pt>
                <c:pt idx="476">
                  <c:v>105.53069470997968</c:v>
                </c:pt>
                <c:pt idx="477">
                  <c:v>105.28264931689097</c:v>
                </c:pt>
                <c:pt idx="478">
                  <c:v>103.00704782286701</c:v>
                </c:pt>
                <c:pt idx="479">
                  <c:v>99.529330795363251</c:v>
                </c:pt>
                <c:pt idx="480">
                  <c:v>99.529330795363251</c:v>
                </c:pt>
                <c:pt idx="481">
                  <c:v>99.529330795363251</c:v>
                </c:pt>
                <c:pt idx="482">
                  <c:v>99.208664278071069</c:v>
                </c:pt>
                <c:pt idx="483">
                  <c:v>98.732229497829522</c:v>
                </c:pt>
                <c:pt idx="484">
                  <c:v>99.134758812570624</c:v>
                </c:pt>
                <c:pt idx="485">
                  <c:v>97.118594260530031</c:v>
                </c:pt>
                <c:pt idx="486">
                  <c:v>97.118594260530031</c:v>
                </c:pt>
                <c:pt idx="487">
                  <c:v>97.118594260530031</c:v>
                </c:pt>
                <c:pt idx="488">
                  <c:v>97.118594260530031</c:v>
                </c:pt>
                <c:pt idx="489">
                  <c:v>97.330077807350207</c:v>
                </c:pt>
              </c:numCache>
            </c:numRef>
          </c:val>
          <c:smooth val="0"/>
          <c:extLst>
            <c:ext xmlns:c16="http://schemas.microsoft.com/office/drawing/2014/chart" uri="{C3380CC4-5D6E-409C-BE32-E72D297353CC}">
              <c16:uniqueId val="{00000007-96E7-454A-A66A-36F382D4E673}"/>
            </c:ext>
          </c:extLst>
        </c:ser>
        <c:dLbls>
          <c:showLegendKey val="0"/>
          <c:showVal val="0"/>
          <c:showCatName val="0"/>
          <c:showSerName val="0"/>
          <c:showPercent val="0"/>
          <c:showBubbleSize val="0"/>
        </c:dLbls>
        <c:marker val="1"/>
        <c:smooth val="0"/>
        <c:axId val="1085103152"/>
        <c:axId val="1085105232"/>
        <c:extLst>
          <c:ext xmlns:c15="http://schemas.microsoft.com/office/drawing/2012/chart" uri="{02D57815-91ED-43cb-92C2-25804820EDAC}">
            <c15:filteredLineSeries>
              <c15:ser>
                <c:idx val="1"/>
                <c:order val="7"/>
                <c:tx>
                  <c:strRef>
                    <c:extLst>
                      <c:ext uri="{02D57815-91ED-43cb-92C2-25804820EDAC}">
                        <c15:formulaRef>
                          <c15:sqref>'BBG (Global Markets)'!$V$11</c15:sqref>
                        </c15:formulaRef>
                      </c:ext>
                    </c:extLst>
                    <c:strCache>
                      <c:ptCount val="1"/>
                      <c:pt idx="0">
                        <c:v>PSEi (9.3%)</c:v>
                      </c:pt>
                    </c:strCache>
                  </c:strRef>
                </c:tx>
                <c:spPr>
                  <a:ln w="28575" cap="rnd">
                    <a:solidFill>
                      <a:schemeClr val="accent2"/>
                    </a:solidFill>
                    <a:round/>
                  </a:ln>
                  <a:effectLst>
                    <a:outerShdw blurRad="50800" dist="38100" dir="2700000" algn="tl" rotWithShape="0">
                      <a:prstClr val="black">
                        <a:alpha val="40000"/>
                      </a:prstClr>
                    </a:outerShdw>
                  </a:effectLst>
                </c:spPr>
                <c:marker>
                  <c:symbol val="circle"/>
                  <c:size val="5"/>
                  <c:spPr>
                    <a:solidFill>
                      <a:schemeClr val="accent2"/>
                    </a:solidFill>
                    <a:ln w="9525">
                      <a:solidFill>
                        <a:schemeClr val="accent2"/>
                      </a:solidFill>
                    </a:ln>
                    <a:effectLst/>
                  </c:spPr>
                </c:marker>
                <c:cat>
                  <c:numRef>
                    <c:extLst>
                      <c:ext uri="{02D57815-91ED-43cb-92C2-25804820EDAC}">
                        <c15:formulaRef>
                          <c15:sqref>'BBG (Global Markets)'!$P$12:$P$501</c15:sqref>
                        </c15:formulaRef>
                      </c:ext>
                    </c:extLst>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extLst>
                      <c:ext uri="{02D57815-91ED-43cb-92C2-25804820EDAC}">
                        <c15:formulaRef>
                          <c15:sqref>'BBG (Global Markets)'!$V$12:$V$501</c15:sqref>
                        </c15:formulaRef>
                      </c:ext>
                    </c:extLst>
                    <c:numCache>
                      <c:formatCode>_(* #,##0_);_(* \(#,##0\);_(* "   -"?_);_(@_)</c:formatCode>
                      <c:ptCount val="490"/>
                      <c:pt idx="1">
                        <c:v>100</c:v>
                      </c:pt>
                      <c:pt idx="2">
                        <c:v>100</c:v>
                      </c:pt>
                      <c:pt idx="3">
                        <c:v>100.81552396116874</c:v>
                      </c:pt>
                      <c:pt idx="4">
                        <c:v>100.81552396116874</c:v>
                      </c:pt>
                      <c:pt idx="5">
                        <c:v>100.81552396116874</c:v>
                      </c:pt>
                      <c:pt idx="6">
                        <c:v>101.1416114155035</c:v>
                      </c:pt>
                      <c:pt idx="7">
                        <c:v>99.923516004390578</c:v>
                      </c:pt>
                      <c:pt idx="8">
                        <c:v>99.18065947218409</c:v>
                      </c:pt>
                      <c:pt idx="9">
                        <c:v>99.407363531026377</c:v>
                      </c:pt>
                      <c:pt idx="10">
                        <c:v>99.1745529655486</c:v>
                      </c:pt>
                      <c:pt idx="11">
                        <c:v>99.1745529655486</c:v>
                      </c:pt>
                      <c:pt idx="12">
                        <c:v>99.1745529655486</c:v>
                      </c:pt>
                      <c:pt idx="13">
                        <c:v>96.83545559882694</c:v>
                      </c:pt>
                      <c:pt idx="14">
                        <c:v>96.172441640879384</c:v>
                      </c:pt>
                      <c:pt idx="15">
                        <c:v>96.642489989145687</c:v>
                      </c:pt>
                      <c:pt idx="16">
                        <c:v>95.651098636875048</c:v>
                      </c:pt>
                      <c:pt idx="17">
                        <c:v>96.973157323457073</c:v>
                      </c:pt>
                      <c:pt idx="18">
                        <c:v>96.973157323457073</c:v>
                      </c:pt>
                      <c:pt idx="19">
                        <c:v>96.973157323457073</c:v>
                      </c:pt>
                      <c:pt idx="20">
                        <c:v>96.939113548964258</c:v>
                      </c:pt>
                      <c:pt idx="21">
                        <c:v>96.791336088385577</c:v>
                      </c:pt>
                      <c:pt idx="22">
                        <c:v>96.915450835751756</c:v>
                      </c:pt>
                      <c:pt idx="23">
                        <c:v>97.38137729203909</c:v>
                      </c:pt>
                      <c:pt idx="24">
                        <c:v>96.119467695816567</c:v>
                      </c:pt>
                      <c:pt idx="25">
                        <c:v>96.119467695816567</c:v>
                      </c:pt>
                      <c:pt idx="26">
                        <c:v>96.119467695816567</c:v>
                      </c:pt>
                      <c:pt idx="27">
                        <c:v>94.603222098226212</c:v>
                      </c:pt>
                      <c:pt idx="28">
                        <c:v>93.940513465610437</c:v>
                      </c:pt>
                      <c:pt idx="29">
                        <c:v>93.940513465610437</c:v>
                      </c:pt>
                      <c:pt idx="30">
                        <c:v>93.241165793181764</c:v>
                      </c:pt>
                      <c:pt idx="31">
                        <c:v>89.499861840287366</c:v>
                      </c:pt>
                      <c:pt idx="32">
                        <c:v>89.499861840287366</c:v>
                      </c:pt>
                      <c:pt idx="33">
                        <c:v>89.499861840287366</c:v>
                      </c:pt>
                      <c:pt idx="34">
                        <c:v>89.812056992026427</c:v>
                      </c:pt>
                      <c:pt idx="35">
                        <c:v>92.957213234631837</c:v>
                      </c:pt>
                      <c:pt idx="36">
                        <c:v>95.888641744995326</c:v>
                      </c:pt>
                      <c:pt idx="37">
                        <c:v>95.291578058710996</c:v>
                      </c:pt>
                      <c:pt idx="38">
                        <c:v>93.963718190825276</c:v>
                      </c:pt>
                      <c:pt idx="39">
                        <c:v>93.963718190825276</c:v>
                      </c:pt>
                      <c:pt idx="40">
                        <c:v>93.963718190825276</c:v>
                      </c:pt>
                      <c:pt idx="41">
                        <c:v>92.164283348014379</c:v>
                      </c:pt>
                      <c:pt idx="42">
                        <c:v>91.410587766529929</c:v>
                      </c:pt>
                      <c:pt idx="43">
                        <c:v>92.271299876801223</c:v>
                      </c:pt>
                      <c:pt idx="44">
                        <c:v>93.325588247417329</c:v>
                      </c:pt>
                      <c:pt idx="45">
                        <c:v>92.533879662126978</c:v>
                      </c:pt>
                      <c:pt idx="46">
                        <c:v>92.533879662126978</c:v>
                      </c:pt>
                      <c:pt idx="47">
                        <c:v>92.533879662126978</c:v>
                      </c:pt>
                      <c:pt idx="48">
                        <c:v>91.49806347408321</c:v>
                      </c:pt>
                      <c:pt idx="49">
                        <c:v>93.0472842075052</c:v>
                      </c:pt>
                      <c:pt idx="50">
                        <c:v>93.427719570895775</c:v>
                      </c:pt>
                      <c:pt idx="51">
                        <c:v>92.614790875047134</c:v>
                      </c:pt>
                      <c:pt idx="52">
                        <c:v>93.094304308598424</c:v>
                      </c:pt>
                      <c:pt idx="53">
                        <c:v>93.094304308598424</c:v>
                      </c:pt>
                      <c:pt idx="54">
                        <c:v>93.094304308598424</c:v>
                      </c:pt>
                      <c:pt idx="55">
                        <c:v>93.062703136759794</c:v>
                      </c:pt>
                      <c:pt idx="56">
                        <c:v>92.577083196573014</c:v>
                      </c:pt>
                      <c:pt idx="57">
                        <c:v>93.810597536940548</c:v>
                      </c:pt>
                      <c:pt idx="58">
                        <c:v>93.491990553234231</c:v>
                      </c:pt>
                      <c:pt idx="59">
                        <c:v>91.566609011066518</c:v>
                      </c:pt>
                      <c:pt idx="60">
                        <c:v>91.566609011066518</c:v>
                      </c:pt>
                      <c:pt idx="61">
                        <c:v>91.566609011066518</c:v>
                      </c:pt>
                      <c:pt idx="62">
                        <c:v>92.165351986675589</c:v>
                      </c:pt>
                      <c:pt idx="63">
                        <c:v>92.576319883243585</c:v>
                      </c:pt>
                      <c:pt idx="64">
                        <c:v>93.456572814748441</c:v>
                      </c:pt>
                      <c:pt idx="65">
                        <c:v>94.955567531093564</c:v>
                      </c:pt>
                      <c:pt idx="66">
                        <c:v>96.151374192986978</c:v>
                      </c:pt>
                      <c:pt idx="67">
                        <c:v>96.151374192986978</c:v>
                      </c:pt>
                      <c:pt idx="68">
                        <c:v>96.151374192986978</c:v>
                      </c:pt>
                      <c:pt idx="69">
                        <c:v>97.105210529449394</c:v>
                      </c:pt>
                      <c:pt idx="70">
                        <c:v>94.750846896139009</c:v>
                      </c:pt>
                      <c:pt idx="71">
                        <c:v>94.5784907463525</c:v>
                      </c:pt>
                      <c:pt idx="72">
                        <c:v>95.293104685369869</c:v>
                      </c:pt>
                      <c:pt idx="73">
                        <c:v>96.087561198646171</c:v>
                      </c:pt>
                      <c:pt idx="74">
                        <c:v>96.087561198646171</c:v>
                      </c:pt>
                      <c:pt idx="75">
                        <c:v>96.087561198646171</c:v>
                      </c:pt>
                      <c:pt idx="76">
                        <c:v>96.271977699037762</c:v>
                      </c:pt>
                      <c:pt idx="77">
                        <c:v>95.943600304714678</c:v>
                      </c:pt>
                      <c:pt idx="78">
                        <c:v>96.377772926497499</c:v>
                      </c:pt>
                      <c:pt idx="79">
                        <c:v>96.530588255050461</c:v>
                      </c:pt>
                      <c:pt idx="80">
                        <c:v>95.669876144779167</c:v>
                      </c:pt>
                      <c:pt idx="81">
                        <c:v>95.669876144779167</c:v>
                      </c:pt>
                      <c:pt idx="82">
                        <c:v>95.669876144779167</c:v>
                      </c:pt>
                      <c:pt idx="83">
                        <c:v>94.529028042605105</c:v>
                      </c:pt>
                      <c:pt idx="84">
                        <c:v>94.037912246446396</c:v>
                      </c:pt>
                      <c:pt idx="85">
                        <c:v>94.132563099296377</c:v>
                      </c:pt>
                      <c:pt idx="86">
                        <c:v>93.72739638403209</c:v>
                      </c:pt>
                      <c:pt idx="87">
                        <c:v>93.848457878080524</c:v>
                      </c:pt>
                      <c:pt idx="88">
                        <c:v>93.848457878080524</c:v>
                      </c:pt>
                      <c:pt idx="89">
                        <c:v>93.848457878080524</c:v>
                      </c:pt>
                      <c:pt idx="90">
                        <c:v>94.356519230152699</c:v>
                      </c:pt>
                      <c:pt idx="91">
                        <c:v>94.356519230152699</c:v>
                      </c:pt>
                      <c:pt idx="92">
                        <c:v>95.378748440932526</c:v>
                      </c:pt>
                      <c:pt idx="93">
                        <c:v>93.822352562213837</c:v>
                      </c:pt>
                      <c:pt idx="94">
                        <c:v>92.882866516344819</c:v>
                      </c:pt>
                      <c:pt idx="95">
                        <c:v>92.882866516344819</c:v>
                      </c:pt>
                      <c:pt idx="96">
                        <c:v>92.882866516344819</c:v>
                      </c:pt>
                      <c:pt idx="97">
                        <c:v>88.893180406052167</c:v>
                      </c:pt>
                      <c:pt idx="98">
                        <c:v>91.694387662413988</c:v>
                      </c:pt>
                      <c:pt idx="99">
                        <c:v>91.694387662413988</c:v>
                      </c:pt>
                      <c:pt idx="100">
                        <c:v>92.785620398174757</c:v>
                      </c:pt>
                      <c:pt idx="101">
                        <c:v>92.856150549814572</c:v>
                      </c:pt>
                      <c:pt idx="102">
                        <c:v>92.856150549814572</c:v>
                      </c:pt>
                      <c:pt idx="103">
                        <c:v>92.856150549814572</c:v>
                      </c:pt>
                      <c:pt idx="104">
                        <c:v>93.819146646230223</c:v>
                      </c:pt>
                      <c:pt idx="105">
                        <c:v>94.438651744399948</c:v>
                      </c:pt>
                      <c:pt idx="106">
                        <c:v>93.652744340413307</c:v>
                      </c:pt>
                      <c:pt idx="107">
                        <c:v>93.652744340413307</c:v>
                      </c:pt>
                      <c:pt idx="108">
                        <c:v>93.652744340413307</c:v>
                      </c:pt>
                      <c:pt idx="109">
                        <c:v>93.652744340413307</c:v>
                      </c:pt>
                      <c:pt idx="110">
                        <c:v>93.652744340413307</c:v>
                      </c:pt>
                      <c:pt idx="111">
                        <c:v>93.704344321483148</c:v>
                      </c:pt>
                      <c:pt idx="112">
                        <c:v>93.820215284891432</c:v>
                      </c:pt>
                      <c:pt idx="113">
                        <c:v>94.169660127106923</c:v>
                      </c:pt>
                      <c:pt idx="114">
                        <c:v>94.016997461219859</c:v>
                      </c:pt>
                      <c:pt idx="115">
                        <c:v>95.700408677956574</c:v>
                      </c:pt>
                      <c:pt idx="116">
                        <c:v>95.700408677956574</c:v>
                      </c:pt>
                      <c:pt idx="117">
                        <c:v>95.700408677956574</c:v>
                      </c:pt>
                      <c:pt idx="118">
                        <c:v>95.406533046123968</c:v>
                      </c:pt>
                      <c:pt idx="119">
                        <c:v>95.447599303247571</c:v>
                      </c:pt>
                      <c:pt idx="120">
                        <c:v>97.01697150856667</c:v>
                      </c:pt>
                      <c:pt idx="121">
                        <c:v>97.01697150856667</c:v>
                      </c:pt>
                      <c:pt idx="122">
                        <c:v>97.885164089466414</c:v>
                      </c:pt>
                      <c:pt idx="123">
                        <c:v>97.885164089466414</c:v>
                      </c:pt>
                      <c:pt idx="124">
                        <c:v>97.885164089466414</c:v>
                      </c:pt>
                      <c:pt idx="125">
                        <c:v>97.087806985538265</c:v>
                      </c:pt>
                      <c:pt idx="126">
                        <c:v>97.989432690267293</c:v>
                      </c:pt>
                      <c:pt idx="127">
                        <c:v>98.703283315955233</c:v>
                      </c:pt>
                      <c:pt idx="128">
                        <c:v>97.543657705877052</c:v>
                      </c:pt>
                      <c:pt idx="129">
                        <c:v>98.592602883187098</c:v>
                      </c:pt>
                      <c:pt idx="130">
                        <c:v>98.592602883187098</c:v>
                      </c:pt>
                      <c:pt idx="131">
                        <c:v>98.592602883187098</c:v>
                      </c:pt>
                      <c:pt idx="132">
                        <c:v>98.592602883187098</c:v>
                      </c:pt>
                      <c:pt idx="133">
                        <c:v>100.25082476005245</c:v>
                      </c:pt>
                      <c:pt idx="134">
                        <c:v>100.02167809855595</c:v>
                      </c:pt>
                      <c:pt idx="135">
                        <c:v>98.724808751845302</c:v>
                      </c:pt>
                      <c:pt idx="136">
                        <c:v>98.704504617282325</c:v>
                      </c:pt>
                      <c:pt idx="137">
                        <c:v>98.704504617282325</c:v>
                      </c:pt>
                      <c:pt idx="138">
                        <c:v>98.704504617282325</c:v>
                      </c:pt>
                      <c:pt idx="139">
                        <c:v>98.541308227449051</c:v>
                      </c:pt>
                      <c:pt idx="140">
                        <c:v>96.716836707432691</c:v>
                      </c:pt>
                      <c:pt idx="141">
                        <c:v>97.327792696312741</c:v>
                      </c:pt>
                      <c:pt idx="142">
                        <c:v>96.259459360435017</c:v>
                      </c:pt>
                      <c:pt idx="143">
                        <c:v>97.904094260036416</c:v>
                      </c:pt>
                      <c:pt idx="144">
                        <c:v>97.904094260036416</c:v>
                      </c:pt>
                      <c:pt idx="145">
                        <c:v>97.904094260036416</c:v>
                      </c:pt>
                      <c:pt idx="146">
                        <c:v>97.550527525841957</c:v>
                      </c:pt>
                      <c:pt idx="147">
                        <c:v>97.469310987590035</c:v>
                      </c:pt>
                      <c:pt idx="148">
                        <c:v>98.097975845713009</c:v>
                      </c:pt>
                      <c:pt idx="149">
                        <c:v>97.899667042725696</c:v>
                      </c:pt>
                      <c:pt idx="150">
                        <c:v>96.811487560282657</c:v>
                      </c:pt>
                      <c:pt idx="151">
                        <c:v>96.811487560282657</c:v>
                      </c:pt>
                      <c:pt idx="152">
                        <c:v>96.811487560282657</c:v>
                      </c:pt>
                      <c:pt idx="153">
                        <c:v>96.981401107414968</c:v>
                      </c:pt>
                      <c:pt idx="154">
                        <c:v>97.900430356055125</c:v>
                      </c:pt>
                      <c:pt idx="155">
                        <c:v>97.376797412062487</c:v>
                      </c:pt>
                      <c:pt idx="156">
                        <c:v>97.349776120200474</c:v>
                      </c:pt>
                      <c:pt idx="157">
                        <c:v>97.349776120200474</c:v>
                      </c:pt>
                      <c:pt idx="158">
                        <c:v>97.349776120200474</c:v>
                      </c:pt>
                      <c:pt idx="159">
                        <c:v>97.349776120200474</c:v>
                      </c:pt>
                      <c:pt idx="160">
                        <c:v>97.797688381913133</c:v>
                      </c:pt>
                      <c:pt idx="161">
                        <c:v>96.905222437137326</c:v>
                      </c:pt>
                      <c:pt idx="162">
                        <c:v>97.4189323078473</c:v>
                      </c:pt>
                      <c:pt idx="163">
                        <c:v>97.4189323078473</c:v>
                      </c:pt>
                      <c:pt idx="164">
                        <c:v>97.63678193206816</c:v>
                      </c:pt>
                      <c:pt idx="165">
                        <c:v>97.63678193206816</c:v>
                      </c:pt>
                      <c:pt idx="166">
                        <c:v>97.63678193206816</c:v>
                      </c:pt>
                      <c:pt idx="167">
                        <c:v>97.071777405620125</c:v>
                      </c:pt>
                      <c:pt idx="168">
                        <c:v>97.233752494126293</c:v>
                      </c:pt>
                      <c:pt idx="169">
                        <c:v>96.748895867268971</c:v>
                      </c:pt>
                      <c:pt idx="170">
                        <c:v>97.047809367075857</c:v>
                      </c:pt>
                      <c:pt idx="171">
                        <c:v>96.784618931086555</c:v>
                      </c:pt>
                      <c:pt idx="172">
                        <c:v>96.784618931086555</c:v>
                      </c:pt>
                      <c:pt idx="173">
                        <c:v>96.784618931086555</c:v>
                      </c:pt>
                      <c:pt idx="174">
                        <c:v>94.929920203224526</c:v>
                      </c:pt>
                      <c:pt idx="175">
                        <c:v>96.066799076085545</c:v>
                      </c:pt>
                      <c:pt idx="176">
                        <c:v>96.568906584188113</c:v>
                      </c:pt>
                      <c:pt idx="177">
                        <c:v>96.645390579797535</c:v>
                      </c:pt>
                      <c:pt idx="178">
                        <c:v>97.830358192412973</c:v>
                      </c:pt>
                      <c:pt idx="179">
                        <c:v>97.830358192412973</c:v>
                      </c:pt>
                      <c:pt idx="180">
                        <c:v>97.830358192412973</c:v>
                      </c:pt>
                      <c:pt idx="181">
                        <c:v>97.16887086112429</c:v>
                      </c:pt>
                      <c:pt idx="182">
                        <c:v>98.068206625865031</c:v>
                      </c:pt>
                      <c:pt idx="183">
                        <c:v>97.994928546239223</c:v>
                      </c:pt>
                      <c:pt idx="184">
                        <c:v>98.757173237013362</c:v>
                      </c:pt>
                      <c:pt idx="185">
                        <c:v>97.636476606736395</c:v>
                      </c:pt>
                      <c:pt idx="186">
                        <c:v>97.636476606736395</c:v>
                      </c:pt>
                      <c:pt idx="187">
                        <c:v>97.636476606736395</c:v>
                      </c:pt>
                      <c:pt idx="188">
                        <c:v>98.08942673642332</c:v>
                      </c:pt>
                      <c:pt idx="189">
                        <c:v>98.217052725104921</c:v>
                      </c:pt>
                      <c:pt idx="190">
                        <c:v>99.296988423590037</c:v>
                      </c:pt>
                      <c:pt idx="191">
                        <c:v>98.668934216130637</c:v>
                      </c:pt>
                      <c:pt idx="192">
                        <c:v>98.618250211056136</c:v>
                      </c:pt>
                      <c:pt idx="193">
                        <c:v>98.618250211056136</c:v>
                      </c:pt>
                      <c:pt idx="194">
                        <c:v>98.618250211056136</c:v>
                      </c:pt>
                      <c:pt idx="195">
                        <c:v>99.613000141976272</c:v>
                      </c:pt>
                      <c:pt idx="196">
                        <c:v>98.611991041754763</c:v>
                      </c:pt>
                      <c:pt idx="197">
                        <c:v>96.749659180598385</c:v>
                      </c:pt>
                      <c:pt idx="198">
                        <c:v>96.109544622533932</c:v>
                      </c:pt>
                      <c:pt idx="199">
                        <c:v>96.234270020563656</c:v>
                      </c:pt>
                      <c:pt idx="200">
                        <c:v>96.234270020563656</c:v>
                      </c:pt>
                      <c:pt idx="201">
                        <c:v>96.234270020563656</c:v>
                      </c:pt>
                      <c:pt idx="202">
                        <c:v>96.982622408742074</c:v>
                      </c:pt>
                      <c:pt idx="203">
                        <c:v>97.027657895178749</c:v>
                      </c:pt>
                      <c:pt idx="204">
                        <c:v>98.65443126287137</c:v>
                      </c:pt>
                      <c:pt idx="205">
                        <c:v>98.378264500281659</c:v>
                      </c:pt>
                      <c:pt idx="206">
                        <c:v>97.905315561363523</c:v>
                      </c:pt>
                      <c:pt idx="207">
                        <c:v>97.905315561363523</c:v>
                      </c:pt>
                      <c:pt idx="208">
                        <c:v>97.905315561363523</c:v>
                      </c:pt>
                      <c:pt idx="209">
                        <c:v>97.394964269303046</c:v>
                      </c:pt>
                      <c:pt idx="210">
                        <c:v>96.565548005538588</c:v>
                      </c:pt>
                      <c:pt idx="211">
                        <c:v>96.45578354876578</c:v>
                      </c:pt>
                      <c:pt idx="212">
                        <c:v>95.45584308720548</c:v>
                      </c:pt>
                      <c:pt idx="213">
                        <c:v>96.271061723042436</c:v>
                      </c:pt>
                      <c:pt idx="214">
                        <c:v>96.271061723042436</c:v>
                      </c:pt>
                      <c:pt idx="215">
                        <c:v>96.271061723042436</c:v>
                      </c:pt>
                      <c:pt idx="216">
                        <c:v>96.920183378394256</c:v>
                      </c:pt>
                      <c:pt idx="217">
                        <c:v>96.996209386006015</c:v>
                      </c:pt>
                      <c:pt idx="218">
                        <c:v>97.256041243345805</c:v>
                      </c:pt>
                      <c:pt idx="219">
                        <c:v>97.165054294477116</c:v>
                      </c:pt>
                      <c:pt idx="220">
                        <c:v>96.778665087116948</c:v>
                      </c:pt>
                      <c:pt idx="221">
                        <c:v>96.778665087116948</c:v>
                      </c:pt>
                      <c:pt idx="222">
                        <c:v>96.778665087116948</c:v>
                      </c:pt>
                      <c:pt idx="223">
                        <c:v>95.480727101745074</c:v>
                      </c:pt>
                      <c:pt idx="224">
                        <c:v>96.022526902978299</c:v>
                      </c:pt>
                      <c:pt idx="225">
                        <c:v>96.560510137564322</c:v>
                      </c:pt>
                      <c:pt idx="226">
                        <c:v>96.053059436155706</c:v>
                      </c:pt>
                      <c:pt idx="227">
                        <c:v>96.420671135611769</c:v>
                      </c:pt>
                      <c:pt idx="228">
                        <c:v>96.420671135611769</c:v>
                      </c:pt>
                      <c:pt idx="229">
                        <c:v>96.420671135611769</c:v>
                      </c:pt>
                      <c:pt idx="230">
                        <c:v>96.007718624387252</c:v>
                      </c:pt>
                      <c:pt idx="231">
                        <c:v>95.836583775927835</c:v>
                      </c:pt>
                      <c:pt idx="232">
                        <c:v>95.83963702924558</c:v>
                      </c:pt>
                      <c:pt idx="233">
                        <c:v>95.83963702924558</c:v>
                      </c:pt>
                      <c:pt idx="234">
                        <c:v>95.896274878289688</c:v>
                      </c:pt>
                      <c:pt idx="235">
                        <c:v>95.896274878289688</c:v>
                      </c:pt>
                      <c:pt idx="236">
                        <c:v>95.896274878289688</c:v>
                      </c:pt>
                      <c:pt idx="237">
                        <c:v>95.896274878289688</c:v>
                      </c:pt>
                      <c:pt idx="238">
                        <c:v>93.814872091585372</c:v>
                      </c:pt>
                      <c:pt idx="239">
                        <c:v>95.77048084159874</c:v>
                      </c:pt>
                      <c:pt idx="240">
                        <c:v>94.501090774747752</c:v>
                      </c:pt>
                      <c:pt idx="241">
                        <c:v>93.972572625446716</c:v>
                      </c:pt>
                      <c:pt idx="242">
                        <c:v>93.972572625446716</c:v>
                      </c:pt>
                      <c:pt idx="243">
                        <c:v>93.972572625446716</c:v>
                      </c:pt>
                      <c:pt idx="244">
                        <c:v>93.740220047966616</c:v>
                      </c:pt>
                      <c:pt idx="245">
                        <c:v>93.56526863286004</c:v>
                      </c:pt>
                      <c:pt idx="246">
                        <c:v>92.863631020443066</c:v>
                      </c:pt>
                      <c:pt idx="247">
                        <c:v>93.229868755906125</c:v>
                      </c:pt>
                      <c:pt idx="248">
                        <c:v>93.874257868615445</c:v>
                      </c:pt>
                      <c:pt idx="249">
                        <c:v>93.874257868615445</c:v>
                      </c:pt>
                      <c:pt idx="250">
                        <c:v>93.874257868615445</c:v>
                      </c:pt>
                      <c:pt idx="251">
                        <c:v>93.15262144696726</c:v>
                      </c:pt>
                      <c:pt idx="252">
                        <c:v>93.470923105341825</c:v>
                      </c:pt>
                      <c:pt idx="253">
                        <c:v>93.430925486879403</c:v>
                      </c:pt>
                      <c:pt idx="254">
                        <c:v>93.534736099682618</c:v>
                      </c:pt>
                      <c:pt idx="255">
                        <c:v>93.264828506394267</c:v>
                      </c:pt>
                      <c:pt idx="256">
                        <c:v>93.264828506394267</c:v>
                      </c:pt>
                      <c:pt idx="257">
                        <c:v>93.264828506394267</c:v>
                      </c:pt>
                      <c:pt idx="258">
                        <c:v>92.474341222431036</c:v>
                      </c:pt>
                      <c:pt idx="259">
                        <c:v>93.868304024645852</c:v>
                      </c:pt>
                      <c:pt idx="260">
                        <c:v>94.813591251818579</c:v>
                      </c:pt>
                      <c:pt idx="261">
                        <c:v>95.164104732695293</c:v>
                      </c:pt>
                      <c:pt idx="262">
                        <c:v>95.635374382288688</c:v>
                      </c:pt>
                      <c:pt idx="263">
                        <c:v>95.635374382288688</c:v>
                      </c:pt>
                      <c:pt idx="264">
                        <c:v>95.635374382288688</c:v>
                      </c:pt>
                      <c:pt idx="265">
                        <c:v>94.877251583493489</c:v>
                      </c:pt>
                      <c:pt idx="266">
                        <c:v>93.407262773666915</c:v>
                      </c:pt>
                      <c:pt idx="267">
                        <c:v>93.257348035765801</c:v>
                      </c:pt>
                      <c:pt idx="268">
                        <c:v>92.243057283612117</c:v>
                      </c:pt>
                      <c:pt idx="269">
                        <c:v>92.011620682127315</c:v>
                      </c:pt>
                      <c:pt idx="270">
                        <c:v>92.011620682127315</c:v>
                      </c:pt>
                      <c:pt idx="271">
                        <c:v>92.011620682127315</c:v>
                      </c:pt>
                      <c:pt idx="272">
                        <c:v>91.560960492428705</c:v>
                      </c:pt>
                      <c:pt idx="273">
                        <c:v>90.88710748520316</c:v>
                      </c:pt>
                      <c:pt idx="274">
                        <c:v>91.994980451545629</c:v>
                      </c:pt>
                      <c:pt idx="275">
                        <c:v>92.204586291808582</c:v>
                      </c:pt>
                      <c:pt idx="276">
                        <c:v>93.25948531308822</c:v>
                      </c:pt>
                      <c:pt idx="277">
                        <c:v>93.25948531308822</c:v>
                      </c:pt>
                      <c:pt idx="278">
                        <c:v>93.25948531308822</c:v>
                      </c:pt>
                      <c:pt idx="279">
                        <c:v>91.602484737549972</c:v>
                      </c:pt>
                      <c:pt idx="280">
                        <c:v>92.87737066037289</c:v>
                      </c:pt>
                      <c:pt idx="281">
                        <c:v>93.104990695210503</c:v>
                      </c:pt>
                      <c:pt idx="282">
                        <c:v>92.473883234433359</c:v>
                      </c:pt>
                      <c:pt idx="283">
                        <c:v>92.174511746628824</c:v>
                      </c:pt>
                      <c:pt idx="284">
                        <c:v>92.174511746628824</c:v>
                      </c:pt>
                      <c:pt idx="285">
                        <c:v>92.174511746628824</c:v>
                      </c:pt>
                      <c:pt idx="286">
                        <c:v>92.396483262828625</c:v>
                      </c:pt>
                      <c:pt idx="287">
                        <c:v>92.76119437163284</c:v>
                      </c:pt>
                      <c:pt idx="288">
                        <c:v>93.034155218238908</c:v>
                      </c:pt>
                      <c:pt idx="289">
                        <c:v>93.027590723605769</c:v>
                      </c:pt>
                      <c:pt idx="290">
                        <c:v>92.964388379928522</c:v>
                      </c:pt>
                      <c:pt idx="291">
                        <c:v>92.964388379928522</c:v>
                      </c:pt>
                      <c:pt idx="292">
                        <c:v>92.964388379928522</c:v>
                      </c:pt>
                      <c:pt idx="293">
                        <c:v>92.881034564354167</c:v>
                      </c:pt>
                      <c:pt idx="294">
                        <c:v>93.02545344628335</c:v>
                      </c:pt>
                      <c:pt idx="295">
                        <c:v>92.06886918183497</c:v>
                      </c:pt>
                      <c:pt idx="296">
                        <c:v>92.421367277368219</c:v>
                      </c:pt>
                      <c:pt idx="297">
                        <c:v>91.414709658508883</c:v>
                      </c:pt>
                      <c:pt idx="298">
                        <c:v>91.414709658508883</c:v>
                      </c:pt>
                      <c:pt idx="299">
                        <c:v>91.414709658508883</c:v>
                      </c:pt>
                      <c:pt idx="300">
                        <c:v>90.586362033405649</c:v>
                      </c:pt>
                      <c:pt idx="301">
                        <c:v>90.882527605226542</c:v>
                      </c:pt>
                      <c:pt idx="302">
                        <c:v>91.044502693732738</c:v>
                      </c:pt>
                      <c:pt idx="303">
                        <c:v>90.524075665723728</c:v>
                      </c:pt>
                      <c:pt idx="304">
                        <c:v>90.524075665723728</c:v>
                      </c:pt>
                      <c:pt idx="305">
                        <c:v>90.524075665723728</c:v>
                      </c:pt>
                      <c:pt idx="306">
                        <c:v>90.524075665723728</c:v>
                      </c:pt>
                      <c:pt idx="307">
                        <c:v>88.972717654979334</c:v>
                      </c:pt>
                      <c:pt idx="308">
                        <c:v>89.567796726607114</c:v>
                      </c:pt>
                      <c:pt idx="309">
                        <c:v>88.820054989092256</c:v>
                      </c:pt>
                      <c:pt idx="310">
                        <c:v>89.087672642392278</c:v>
                      </c:pt>
                      <c:pt idx="311">
                        <c:v>87.924077803001026</c:v>
                      </c:pt>
                      <c:pt idx="312">
                        <c:v>87.924077803001026</c:v>
                      </c:pt>
                      <c:pt idx="313">
                        <c:v>87.924077803001026</c:v>
                      </c:pt>
                      <c:pt idx="314">
                        <c:v>87.0580224994237</c:v>
                      </c:pt>
                      <c:pt idx="315">
                        <c:v>85.93488326649252</c:v>
                      </c:pt>
                      <c:pt idx="316">
                        <c:v>87.231752613203184</c:v>
                      </c:pt>
                      <c:pt idx="317">
                        <c:v>87.429756090858703</c:v>
                      </c:pt>
                      <c:pt idx="318">
                        <c:v>85.252175824645562</c:v>
                      </c:pt>
                      <c:pt idx="319">
                        <c:v>85.252175824645562</c:v>
                      </c:pt>
                      <c:pt idx="320">
                        <c:v>85.252175824645562</c:v>
                      </c:pt>
                      <c:pt idx="321">
                        <c:v>88.225586568127994</c:v>
                      </c:pt>
                      <c:pt idx="322">
                        <c:v>87.882706220545643</c:v>
                      </c:pt>
                      <c:pt idx="323">
                        <c:v>88.753646729431367</c:v>
                      </c:pt>
                      <c:pt idx="324">
                        <c:v>90.541326546968961</c:v>
                      </c:pt>
                      <c:pt idx="325">
                        <c:v>91.553785347132006</c:v>
                      </c:pt>
                      <c:pt idx="326">
                        <c:v>91.553785347132006</c:v>
                      </c:pt>
                      <c:pt idx="327">
                        <c:v>91.553785347132006</c:v>
                      </c:pt>
                      <c:pt idx="328">
                        <c:v>91.927198227891765</c:v>
                      </c:pt>
                      <c:pt idx="329">
                        <c:v>91.233804399432699</c:v>
                      </c:pt>
                      <c:pt idx="330">
                        <c:v>91.66935098520851</c:v>
                      </c:pt>
                      <c:pt idx="331">
                        <c:v>91.126329882648207</c:v>
                      </c:pt>
                      <c:pt idx="332">
                        <c:v>91.937121301174429</c:v>
                      </c:pt>
                      <c:pt idx="333">
                        <c:v>91.937121301174429</c:v>
                      </c:pt>
                      <c:pt idx="334">
                        <c:v>91.937121301174429</c:v>
                      </c:pt>
                      <c:pt idx="335">
                        <c:v>91.434097817076534</c:v>
                      </c:pt>
                      <c:pt idx="336">
                        <c:v>91.512108439344814</c:v>
                      </c:pt>
                      <c:pt idx="337">
                        <c:v>90.160127870248942</c:v>
                      </c:pt>
                      <c:pt idx="338">
                        <c:v>89.88136584233915</c:v>
                      </c:pt>
                      <c:pt idx="339">
                        <c:v>90.822378514867054</c:v>
                      </c:pt>
                      <c:pt idx="340">
                        <c:v>90.822378514867054</c:v>
                      </c:pt>
                      <c:pt idx="341">
                        <c:v>90.822378514867054</c:v>
                      </c:pt>
                      <c:pt idx="342">
                        <c:v>90.822378514867054</c:v>
                      </c:pt>
                      <c:pt idx="343">
                        <c:v>91.240979544729399</c:v>
                      </c:pt>
                      <c:pt idx="344">
                        <c:v>90.986032892697978</c:v>
                      </c:pt>
                      <c:pt idx="345">
                        <c:v>91.444936866354524</c:v>
                      </c:pt>
                      <c:pt idx="346">
                        <c:v>92.158176841378918</c:v>
                      </c:pt>
                      <c:pt idx="347">
                        <c:v>92.158176841378918</c:v>
                      </c:pt>
                      <c:pt idx="348">
                        <c:v>92.158176841378918</c:v>
                      </c:pt>
                      <c:pt idx="349">
                        <c:v>92.483348319718374</c:v>
                      </c:pt>
                      <c:pt idx="350">
                        <c:v>92.447625255900789</c:v>
                      </c:pt>
                      <c:pt idx="351">
                        <c:v>92.803939918081213</c:v>
                      </c:pt>
                      <c:pt idx="352">
                        <c:v>92.078181604454073</c:v>
                      </c:pt>
                      <c:pt idx="353">
                        <c:v>90.389579857077209</c:v>
                      </c:pt>
                      <c:pt idx="354">
                        <c:v>90.389579857077209</c:v>
                      </c:pt>
                      <c:pt idx="355">
                        <c:v>90.389579857077209</c:v>
                      </c:pt>
                      <c:pt idx="356">
                        <c:v>92.227485691691641</c:v>
                      </c:pt>
                      <c:pt idx="357">
                        <c:v>92.23740876497429</c:v>
                      </c:pt>
                      <c:pt idx="358">
                        <c:v>92.23740876497429</c:v>
                      </c:pt>
                      <c:pt idx="359">
                        <c:v>92.23740876497429</c:v>
                      </c:pt>
                      <c:pt idx="360">
                        <c:v>92.599677271124321</c:v>
                      </c:pt>
                      <c:pt idx="361">
                        <c:v>92.599677271124321</c:v>
                      </c:pt>
                      <c:pt idx="362">
                        <c:v>92.599677271124321</c:v>
                      </c:pt>
                      <c:pt idx="363">
                        <c:v>92.405490360115962</c:v>
                      </c:pt>
                      <c:pt idx="364">
                        <c:v>92.405490360115962</c:v>
                      </c:pt>
                      <c:pt idx="365">
                        <c:v>92.405490360115962</c:v>
                      </c:pt>
                      <c:pt idx="366">
                        <c:v>92.405490360115962</c:v>
                      </c:pt>
                      <c:pt idx="367">
                        <c:v>93.659461497712343</c:v>
                      </c:pt>
                      <c:pt idx="368">
                        <c:v>93.659461497712343</c:v>
                      </c:pt>
                      <c:pt idx="369">
                        <c:v>93.659461497712343</c:v>
                      </c:pt>
                      <c:pt idx="370">
                        <c:v>94.109358374081538</c:v>
                      </c:pt>
                      <c:pt idx="371">
                        <c:v>96.450898343457396</c:v>
                      </c:pt>
                      <c:pt idx="372">
                        <c:v>96.056723340136998</c:v>
                      </c:pt>
                      <c:pt idx="373">
                        <c:v>96.493033239242237</c:v>
                      </c:pt>
                      <c:pt idx="374">
                        <c:v>96.912397582434011</c:v>
                      </c:pt>
                      <c:pt idx="375">
                        <c:v>96.912397582434011</c:v>
                      </c:pt>
                      <c:pt idx="376">
                        <c:v>96.912397582434011</c:v>
                      </c:pt>
                      <c:pt idx="377">
                        <c:v>98.008820848834958</c:v>
                      </c:pt>
                      <c:pt idx="378">
                        <c:v>97.837838663041438</c:v>
                      </c:pt>
                      <c:pt idx="379">
                        <c:v>97.54854291118545</c:v>
                      </c:pt>
                      <c:pt idx="380">
                        <c:v>99.040362482233874</c:v>
                      </c:pt>
                      <c:pt idx="381">
                        <c:v>98.691375628016047</c:v>
                      </c:pt>
                      <c:pt idx="382">
                        <c:v>98.691375628016047</c:v>
                      </c:pt>
                      <c:pt idx="383">
                        <c:v>98.691375628016047</c:v>
                      </c:pt>
                      <c:pt idx="384">
                        <c:v>98.2808657194457</c:v>
                      </c:pt>
                      <c:pt idx="385">
                        <c:v>96.984454360732713</c:v>
                      </c:pt>
                      <c:pt idx="386">
                        <c:v>96.636994133173744</c:v>
                      </c:pt>
                      <c:pt idx="387">
                        <c:v>97.682733394500175</c:v>
                      </c:pt>
                      <c:pt idx="388">
                        <c:v>96.68523553559406</c:v>
                      </c:pt>
                      <c:pt idx="389">
                        <c:v>96.68523553559406</c:v>
                      </c:pt>
                      <c:pt idx="390">
                        <c:v>96.68523553559406</c:v>
                      </c:pt>
                      <c:pt idx="391">
                        <c:v>95.778571962890751</c:v>
                      </c:pt>
                      <c:pt idx="392">
                        <c:v>96.282816748315739</c:v>
                      </c:pt>
                      <c:pt idx="393">
                        <c:v>97.029031859171738</c:v>
                      </c:pt>
                      <c:pt idx="394">
                        <c:v>95.007472837495172</c:v>
                      </c:pt>
                      <c:pt idx="395">
                        <c:v>96.619743251928512</c:v>
                      </c:pt>
                      <c:pt idx="396">
                        <c:v>96.619743251928512</c:v>
                      </c:pt>
                      <c:pt idx="397">
                        <c:v>96.619743251928512</c:v>
                      </c:pt>
                      <c:pt idx="398">
                        <c:v>96.132902010414639</c:v>
                      </c:pt>
                      <c:pt idx="399">
                        <c:v>97.734028050238237</c:v>
                      </c:pt>
                      <c:pt idx="400">
                        <c:v>97.29115365649983</c:v>
                      </c:pt>
                      <c:pt idx="401">
                        <c:v>97.429924019791187</c:v>
                      </c:pt>
                      <c:pt idx="402">
                        <c:v>97.565335804433005</c:v>
                      </c:pt>
                      <c:pt idx="403">
                        <c:v>97.565335804433005</c:v>
                      </c:pt>
                      <c:pt idx="404">
                        <c:v>97.565335804433005</c:v>
                      </c:pt>
                      <c:pt idx="405">
                        <c:v>96.927969174354502</c:v>
                      </c:pt>
                      <c:pt idx="406">
                        <c:v>98.842969655241902</c:v>
                      </c:pt>
                      <c:pt idx="407">
                        <c:v>99.212718632020369</c:v>
                      </c:pt>
                      <c:pt idx="408">
                        <c:v>98.791827662169723</c:v>
                      </c:pt>
                      <c:pt idx="409">
                        <c:v>97.468700336926489</c:v>
                      </c:pt>
                      <c:pt idx="410">
                        <c:v>97.468700336926489</c:v>
                      </c:pt>
                      <c:pt idx="411">
                        <c:v>97.468700336926489</c:v>
                      </c:pt>
                      <c:pt idx="412">
                        <c:v>97.223982083509526</c:v>
                      </c:pt>
                      <c:pt idx="413">
                        <c:v>97.223982083509526</c:v>
                      </c:pt>
                      <c:pt idx="414">
                        <c:v>97.624263593465429</c:v>
                      </c:pt>
                      <c:pt idx="415">
                        <c:v>97.81325997383361</c:v>
                      </c:pt>
                      <c:pt idx="416">
                        <c:v>98.698245447980952</c:v>
                      </c:pt>
                      <c:pt idx="417">
                        <c:v>98.698245447980952</c:v>
                      </c:pt>
                      <c:pt idx="418">
                        <c:v>98.698245447980952</c:v>
                      </c:pt>
                      <c:pt idx="419">
                        <c:v>99.055323423490819</c:v>
                      </c:pt>
                      <c:pt idx="420">
                        <c:v>99.963208297521206</c:v>
                      </c:pt>
                      <c:pt idx="421">
                        <c:v>101.06070020258335</c:v>
                      </c:pt>
                      <c:pt idx="422">
                        <c:v>101.14603863281421</c:v>
                      </c:pt>
                      <c:pt idx="423">
                        <c:v>100.92895232192281</c:v>
                      </c:pt>
                      <c:pt idx="424">
                        <c:v>100.92895232192281</c:v>
                      </c:pt>
                      <c:pt idx="425">
                        <c:v>100.92895232192281</c:v>
                      </c:pt>
                      <c:pt idx="426">
                        <c:v>98.113700100299354</c:v>
                      </c:pt>
                      <c:pt idx="427">
                        <c:v>98.396889345519881</c:v>
                      </c:pt>
                      <c:pt idx="428">
                        <c:v>96.297167038909123</c:v>
                      </c:pt>
                      <c:pt idx="429">
                        <c:v>97.406871957242231</c:v>
                      </c:pt>
                      <c:pt idx="430">
                        <c:v>96.489064009929166</c:v>
                      </c:pt>
                      <c:pt idx="431">
                        <c:v>96.489064009929166</c:v>
                      </c:pt>
                      <c:pt idx="432">
                        <c:v>96.489064009929166</c:v>
                      </c:pt>
                      <c:pt idx="433">
                        <c:v>91.692555710423349</c:v>
                      </c:pt>
                      <c:pt idx="434">
                        <c:v>93.531224858367196</c:v>
                      </c:pt>
                      <c:pt idx="435">
                        <c:v>94.014707521231557</c:v>
                      </c:pt>
                      <c:pt idx="436">
                        <c:v>93.331542091386922</c:v>
                      </c:pt>
                      <c:pt idx="437">
                        <c:v>92.497393284979964</c:v>
                      </c:pt>
                      <c:pt idx="438">
                        <c:v>92.497393284979964</c:v>
                      </c:pt>
                      <c:pt idx="439">
                        <c:v>92.497393284979964</c:v>
                      </c:pt>
                      <c:pt idx="440">
                        <c:v>91.697593578397615</c:v>
                      </c:pt>
                      <c:pt idx="441">
                        <c:v>91.994675126213849</c:v>
                      </c:pt>
                      <c:pt idx="442">
                        <c:v>92.444114014585381</c:v>
                      </c:pt>
                      <c:pt idx="443">
                        <c:v>91.88185741612331</c:v>
                      </c:pt>
                      <c:pt idx="444">
                        <c:v>91.88185741612331</c:v>
                      </c:pt>
                      <c:pt idx="445">
                        <c:v>91.88185741612331</c:v>
                      </c:pt>
                      <c:pt idx="446">
                        <c:v>91.88185741612331</c:v>
                      </c:pt>
                      <c:pt idx="447">
                        <c:v>90.05845453476816</c:v>
                      </c:pt>
                      <c:pt idx="448">
                        <c:v>90.623611723882078</c:v>
                      </c:pt>
                      <c:pt idx="449">
                        <c:v>92.271910527464769</c:v>
                      </c:pt>
                      <c:pt idx="450">
                        <c:v>91.35639252014002</c:v>
                      </c:pt>
                      <c:pt idx="451">
                        <c:v>91.182815069026418</c:v>
                      </c:pt>
                      <c:pt idx="452">
                        <c:v>91.182815069026418</c:v>
                      </c:pt>
                      <c:pt idx="453">
                        <c:v>91.182815069026418</c:v>
                      </c:pt>
                      <c:pt idx="454">
                        <c:v>89.60519907974944</c:v>
                      </c:pt>
                      <c:pt idx="455">
                        <c:v>90.818103960222203</c:v>
                      </c:pt>
                      <c:pt idx="456">
                        <c:v>91.577448060344508</c:v>
                      </c:pt>
                      <c:pt idx="457">
                        <c:v>91.577448060344508</c:v>
                      </c:pt>
                      <c:pt idx="458">
                        <c:v>91.577448060344508</c:v>
                      </c:pt>
                      <c:pt idx="459">
                        <c:v>91.577448060344508</c:v>
                      </c:pt>
                      <c:pt idx="460">
                        <c:v>91.577448060344508</c:v>
                      </c:pt>
                      <c:pt idx="461">
                        <c:v>90.808791537603099</c:v>
                      </c:pt>
                      <c:pt idx="462">
                        <c:v>90.954431720859361</c:v>
                      </c:pt>
                      <c:pt idx="463">
                        <c:v>92.970189561232232</c:v>
                      </c:pt>
                      <c:pt idx="464">
                        <c:v>92.970189561232232</c:v>
                      </c:pt>
                      <c:pt idx="465">
                        <c:v>93.096899573918492</c:v>
                      </c:pt>
                      <c:pt idx="466">
                        <c:v>93.096899573918492</c:v>
                      </c:pt>
                      <c:pt idx="467">
                        <c:v>93.096899573918492</c:v>
                      </c:pt>
                      <c:pt idx="468">
                        <c:v>92.422741241361194</c:v>
                      </c:pt>
                      <c:pt idx="469">
                        <c:v>91.797587624553657</c:v>
                      </c:pt>
                      <c:pt idx="470">
                        <c:v>92.564717520636179</c:v>
                      </c:pt>
                      <c:pt idx="471">
                        <c:v>92.569908051276329</c:v>
                      </c:pt>
                      <c:pt idx="472">
                        <c:v>91.584317880309413</c:v>
                      </c:pt>
                      <c:pt idx="473">
                        <c:v>91.584317880309413</c:v>
                      </c:pt>
                      <c:pt idx="474">
                        <c:v>91.584317880309413</c:v>
                      </c:pt>
                      <c:pt idx="475">
                        <c:v>91.842317785658551</c:v>
                      </c:pt>
                      <c:pt idx="476">
                        <c:v>91.883078717450402</c:v>
                      </c:pt>
                      <c:pt idx="477">
                        <c:v>91.438219709055488</c:v>
                      </c:pt>
                      <c:pt idx="478">
                        <c:v>91.350438676170427</c:v>
                      </c:pt>
                      <c:pt idx="479">
                        <c:v>90.734902807313759</c:v>
                      </c:pt>
                      <c:pt idx="480">
                        <c:v>90.734902807313759</c:v>
                      </c:pt>
                      <c:pt idx="481">
                        <c:v>90.734902807313759</c:v>
                      </c:pt>
                      <c:pt idx="482">
                        <c:v>90.088529079947904</c:v>
                      </c:pt>
                      <c:pt idx="483">
                        <c:v>89.563980159959939</c:v>
                      </c:pt>
                      <c:pt idx="484">
                        <c:v>90.191423716755793</c:v>
                      </c:pt>
                      <c:pt idx="485">
                        <c:v>89.0579034225443</c:v>
                      </c:pt>
                      <c:pt idx="486">
                        <c:v>89.0579034225443</c:v>
                      </c:pt>
                      <c:pt idx="487">
                        <c:v>89.0579034225443</c:v>
                      </c:pt>
                      <c:pt idx="488">
                        <c:v>89.0579034225443</c:v>
                      </c:pt>
                      <c:pt idx="489">
                        <c:v>90.714598672750782</c:v>
                      </c:pt>
                    </c:numCache>
                  </c:numRef>
                </c:val>
                <c:smooth val="0"/>
                <c:extLst>
                  <c:ext xmlns:c16="http://schemas.microsoft.com/office/drawing/2014/chart" uri="{C3380CC4-5D6E-409C-BE32-E72D297353CC}">
                    <c16:uniqueId val="{00000009-96E7-454A-A66A-36F382D4E673}"/>
                  </c:ext>
                </c:extLst>
              </c15:ser>
            </c15:filteredLineSeries>
            <c15:filteredLineSeries>
              <c15:ser>
                <c:idx val="8"/>
                <c:order val="9"/>
                <c:tx>
                  <c:strRef>
                    <c:extLst xmlns:c15="http://schemas.microsoft.com/office/drawing/2012/chart">
                      <c:ext xmlns:c15="http://schemas.microsoft.com/office/drawing/2012/chart" uri="{02D57815-91ED-43cb-92C2-25804820EDAC}">
                        <c15:formulaRef>
                          <c15:sqref>'BBG (Global Markets)'!$Y$11</c15:sqref>
                        </c15:formulaRef>
                      </c:ext>
                    </c:extLst>
                    <c:strCache>
                      <c:ptCount val="1"/>
                      <c:pt idx="0">
                        <c:v>FTSE REIT 6.0%</c:v>
                      </c:pt>
                    </c:strCache>
                  </c:strRef>
                </c:tx>
                <c:spPr>
                  <a:ln w="28575" cap="rnd">
                    <a:solidFill>
                      <a:schemeClr val="accent3">
                        <a:lumMod val="60000"/>
                      </a:schemeClr>
                    </a:solidFill>
                    <a:round/>
                  </a:ln>
                  <a:effectLst>
                    <a:outerShdw blurRad="50800" dist="38100" dir="2700000" algn="tl" rotWithShape="0">
                      <a:prstClr val="black">
                        <a:alpha val="40000"/>
                      </a:prstClr>
                    </a:outerShdw>
                  </a:effectLst>
                </c:spPr>
                <c:marker>
                  <c:symbol val="circle"/>
                  <c:size val="5"/>
                  <c:spPr>
                    <a:solidFill>
                      <a:schemeClr val="accent3">
                        <a:lumMod val="60000"/>
                      </a:schemeClr>
                    </a:solidFill>
                    <a:ln w="9525">
                      <a:solidFill>
                        <a:schemeClr val="accent3">
                          <a:lumMod val="60000"/>
                        </a:schemeClr>
                      </a:solidFill>
                    </a:ln>
                    <a:effectLst/>
                  </c:spPr>
                </c:marker>
                <c:cat>
                  <c:numRef>
                    <c:extLst xmlns:c15="http://schemas.microsoft.com/office/drawing/2012/chart">
                      <c:ext xmlns:c15="http://schemas.microsoft.com/office/drawing/2012/chart" uri="{02D57815-91ED-43cb-92C2-25804820EDAC}">
                        <c15:formulaRef>
                          <c15:sqref>'BBG (Global Markets)'!$P$12:$P$501</c15:sqref>
                        </c15:formulaRef>
                      </c:ext>
                    </c:extLst>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extLst xmlns:c15="http://schemas.microsoft.com/office/drawing/2012/chart">
                      <c:ext xmlns:c15="http://schemas.microsoft.com/office/drawing/2012/chart" uri="{02D57815-91ED-43cb-92C2-25804820EDAC}">
                        <c15:formulaRef>
                          <c15:sqref>'BBG (Global Markets)'!$Y$12:$Y$501</c15:sqref>
                        </c15:formulaRef>
                      </c:ext>
                    </c:extLst>
                    <c:numCache>
                      <c:formatCode>_(* #,##0_);_(* \(#,##0\);_(* "   -"?_);_(@_)</c:formatCode>
                      <c:ptCount val="490"/>
                      <c:pt idx="1">
                        <c:v>100</c:v>
                      </c:pt>
                      <c:pt idx="2">
                        <c:v>101.1479910157225</c:v>
                      </c:pt>
                      <c:pt idx="3">
                        <c:v>102.16496131769404</c:v>
                      </c:pt>
                      <c:pt idx="4">
                        <c:v>102.16496131769404</c:v>
                      </c:pt>
                      <c:pt idx="5">
                        <c:v>102.16496131769404</c:v>
                      </c:pt>
                      <c:pt idx="6">
                        <c:v>102.43324182680308</c:v>
                      </c:pt>
                      <c:pt idx="7">
                        <c:v>101.81713251809332</c:v>
                      </c:pt>
                      <c:pt idx="8">
                        <c:v>101.19166458697279</c:v>
                      </c:pt>
                      <c:pt idx="9">
                        <c:v>100.94990017469429</c:v>
                      </c:pt>
                      <c:pt idx="10">
                        <c:v>100.60987022710258</c:v>
                      </c:pt>
                      <c:pt idx="11">
                        <c:v>100.60987022710258</c:v>
                      </c:pt>
                      <c:pt idx="12">
                        <c:v>100.60987022710258</c:v>
                      </c:pt>
                      <c:pt idx="13">
                        <c:v>99.951647117544283</c:v>
                      </c:pt>
                      <c:pt idx="14">
                        <c:v>99.280945844771651</c:v>
                      </c:pt>
                      <c:pt idx="15">
                        <c:v>99.46811829298727</c:v>
                      </c:pt>
                      <c:pt idx="16">
                        <c:v>100.94210132268529</c:v>
                      </c:pt>
                      <c:pt idx="17">
                        <c:v>101.02164961317692</c:v>
                      </c:pt>
                      <c:pt idx="18">
                        <c:v>101.02164961317692</c:v>
                      </c:pt>
                      <c:pt idx="19">
                        <c:v>101.02164961317692</c:v>
                      </c:pt>
                      <c:pt idx="20">
                        <c:v>101.66115547791365</c:v>
                      </c:pt>
                      <c:pt idx="21">
                        <c:v>101.54105315697531</c:v>
                      </c:pt>
                      <c:pt idx="22">
                        <c:v>100.62234839031694</c:v>
                      </c:pt>
                      <c:pt idx="23">
                        <c:v>100.60675068629898</c:v>
                      </c:pt>
                      <c:pt idx="24">
                        <c:v>100.90466683304217</c:v>
                      </c:pt>
                      <c:pt idx="25">
                        <c:v>100.90466683304217</c:v>
                      </c:pt>
                      <c:pt idx="26">
                        <c:v>100.90466683304217</c:v>
                      </c:pt>
                      <c:pt idx="27">
                        <c:v>99.513351634639378</c:v>
                      </c:pt>
                      <c:pt idx="28">
                        <c:v>100.44765410531571</c:v>
                      </c:pt>
                      <c:pt idx="29">
                        <c:v>100.44765410531571</c:v>
                      </c:pt>
                      <c:pt idx="30">
                        <c:v>100.44765410531571</c:v>
                      </c:pt>
                      <c:pt idx="31">
                        <c:v>100.16221612178686</c:v>
                      </c:pt>
                      <c:pt idx="32">
                        <c:v>100.16221612178686</c:v>
                      </c:pt>
                      <c:pt idx="33">
                        <c:v>100.16221612178686</c:v>
                      </c:pt>
                      <c:pt idx="34">
                        <c:v>99.277826303968055</c:v>
                      </c:pt>
                      <c:pt idx="35">
                        <c:v>99.284065385575232</c:v>
                      </c:pt>
                      <c:pt idx="36">
                        <c:v>99.165522835038672</c:v>
                      </c:pt>
                      <c:pt idx="37">
                        <c:v>99.502433241826793</c:v>
                      </c:pt>
                      <c:pt idx="38">
                        <c:v>100.2402046418767</c:v>
                      </c:pt>
                      <c:pt idx="39">
                        <c:v>100.2402046418767</c:v>
                      </c:pt>
                      <c:pt idx="40">
                        <c:v>100.2402046418767</c:v>
                      </c:pt>
                      <c:pt idx="41">
                        <c:v>99.798789618168215</c:v>
                      </c:pt>
                      <c:pt idx="42">
                        <c:v>99.650611429997511</c:v>
                      </c:pt>
                      <c:pt idx="43">
                        <c:v>99.355814824057902</c:v>
                      </c:pt>
                      <c:pt idx="44">
                        <c:v>98.711629648115789</c:v>
                      </c:pt>
                      <c:pt idx="45">
                        <c:v>98.530696281507375</c:v>
                      </c:pt>
                      <c:pt idx="46">
                        <c:v>98.530696281507375</c:v>
                      </c:pt>
                      <c:pt idx="47">
                        <c:v>98.530696281507375</c:v>
                      </c:pt>
                      <c:pt idx="48">
                        <c:v>99.226353880708757</c:v>
                      </c:pt>
                      <c:pt idx="49">
                        <c:v>98.449588220613919</c:v>
                      </c:pt>
                      <c:pt idx="50">
                        <c:v>97.944222610431751</c:v>
                      </c:pt>
                      <c:pt idx="51">
                        <c:v>97.601073122036439</c:v>
                      </c:pt>
                      <c:pt idx="52">
                        <c:v>97.482530571499879</c:v>
                      </c:pt>
                      <c:pt idx="53">
                        <c:v>97.482530571499879</c:v>
                      </c:pt>
                      <c:pt idx="54">
                        <c:v>97.482530571499879</c:v>
                      </c:pt>
                      <c:pt idx="55">
                        <c:v>97.875592712752677</c:v>
                      </c:pt>
                      <c:pt idx="56">
                        <c:v>97.841277763913155</c:v>
                      </c:pt>
                      <c:pt idx="57">
                        <c:v>97.658784626902914</c:v>
                      </c:pt>
                      <c:pt idx="58">
                        <c:v>97.563638632393307</c:v>
                      </c:pt>
                      <c:pt idx="59">
                        <c:v>97.243885700024961</c:v>
                      </c:pt>
                      <c:pt idx="60">
                        <c:v>97.243885700024961</c:v>
                      </c:pt>
                      <c:pt idx="61">
                        <c:v>97.243885700024961</c:v>
                      </c:pt>
                      <c:pt idx="62">
                        <c:v>97.577676566009487</c:v>
                      </c:pt>
                      <c:pt idx="63">
                        <c:v>97.465373097080104</c:v>
                      </c:pt>
                      <c:pt idx="64">
                        <c:v>97.830359371100585</c:v>
                      </c:pt>
                      <c:pt idx="65">
                        <c:v>97.739892687796356</c:v>
                      </c:pt>
                      <c:pt idx="66">
                        <c:v>97.484090341901677</c:v>
                      </c:pt>
                      <c:pt idx="67">
                        <c:v>97.484090341901677</c:v>
                      </c:pt>
                      <c:pt idx="68">
                        <c:v>97.484090341901677</c:v>
                      </c:pt>
                      <c:pt idx="69">
                        <c:v>97.507486897928615</c:v>
                      </c:pt>
                      <c:pt idx="70">
                        <c:v>98.048727227352146</c:v>
                      </c:pt>
                      <c:pt idx="71">
                        <c:v>100.27451959071625</c:v>
                      </c:pt>
                      <c:pt idx="72">
                        <c:v>101.26809333666085</c:v>
                      </c:pt>
                      <c:pt idx="73">
                        <c:v>101.7874968804592</c:v>
                      </c:pt>
                      <c:pt idx="74">
                        <c:v>101.7874968804592</c:v>
                      </c:pt>
                      <c:pt idx="75">
                        <c:v>101.7874968804592</c:v>
                      </c:pt>
                      <c:pt idx="76">
                        <c:v>101.65179685550288</c:v>
                      </c:pt>
                      <c:pt idx="77">
                        <c:v>101.41003244322435</c:v>
                      </c:pt>
                      <c:pt idx="78">
                        <c:v>101.15423009732967</c:v>
                      </c:pt>
                      <c:pt idx="79">
                        <c:v>101.69391065635138</c:v>
                      </c:pt>
                      <c:pt idx="80">
                        <c:v>101.86080608934364</c:v>
                      </c:pt>
                      <c:pt idx="81">
                        <c:v>101.86080608934364</c:v>
                      </c:pt>
                      <c:pt idx="82">
                        <c:v>101.86080608934364</c:v>
                      </c:pt>
                      <c:pt idx="83">
                        <c:v>102.32249812827551</c:v>
                      </c:pt>
                      <c:pt idx="84">
                        <c:v>102.21019465934613</c:v>
                      </c:pt>
                      <c:pt idx="85">
                        <c:v>102.380209633142</c:v>
                      </c:pt>
                      <c:pt idx="86">
                        <c:v>102.23203144497128</c:v>
                      </c:pt>
                      <c:pt idx="87">
                        <c:v>101.90759920139756</c:v>
                      </c:pt>
                      <c:pt idx="88">
                        <c:v>101.90759920139756</c:v>
                      </c:pt>
                      <c:pt idx="89">
                        <c:v>101.90759920139756</c:v>
                      </c:pt>
                      <c:pt idx="90">
                        <c:v>101.90759920139756</c:v>
                      </c:pt>
                      <c:pt idx="91">
                        <c:v>102.42232343399051</c:v>
                      </c:pt>
                      <c:pt idx="92">
                        <c:v>101.96999001746943</c:v>
                      </c:pt>
                      <c:pt idx="93">
                        <c:v>103.59215123533816</c:v>
                      </c:pt>
                      <c:pt idx="94">
                        <c:v>102.45975792363365</c:v>
                      </c:pt>
                      <c:pt idx="95">
                        <c:v>102.45975792363365</c:v>
                      </c:pt>
                      <c:pt idx="96">
                        <c:v>102.45975792363365</c:v>
                      </c:pt>
                      <c:pt idx="97">
                        <c:v>96.701085600199661</c:v>
                      </c:pt>
                      <c:pt idx="98">
                        <c:v>95.25829797853757</c:v>
                      </c:pt>
                      <c:pt idx="99">
                        <c:v>92.115360618916895</c:v>
                      </c:pt>
                      <c:pt idx="100">
                        <c:v>95.130396805590209</c:v>
                      </c:pt>
                      <c:pt idx="101">
                        <c:v>94.473733466433757</c:v>
                      </c:pt>
                      <c:pt idx="102">
                        <c:v>94.473733466433757</c:v>
                      </c:pt>
                      <c:pt idx="103">
                        <c:v>94.473733466433757</c:v>
                      </c:pt>
                      <c:pt idx="104">
                        <c:v>94.912028949338662</c:v>
                      </c:pt>
                      <c:pt idx="105">
                        <c:v>96.886698278013469</c:v>
                      </c:pt>
                      <c:pt idx="106">
                        <c:v>98.120476665834801</c:v>
                      </c:pt>
                      <c:pt idx="107">
                        <c:v>98.6133641128026</c:v>
                      </c:pt>
                      <c:pt idx="108">
                        <c:v>98.6133641128026</c:v>
                      </c:pt>
                      <c:pt idx="109">
                        <c:v>98.6133641128026</c:v>
                      </c:pt>
                      <c:pt idx="110">
                        <c:v>98.6133641128026</c:v>
                      </c:pt>
                      <c:pt idx="111">
                        <c:v>98.580608934364861</c:v>
                      </c:pt>
                      <c:pt idx="112">
                        <c:v>99.126528574993756</c:v>
                      </c:pt>
                      <c:pt idx="113">
                        <c:v>100.60987022710258</c:v>
                      </c:pt>
                      <c:pt idx="114">
                        <c:v>99.900174694284999</c:v>
                      </c:pt>
                      <c:pt idx="115">
                        <c:v>99.706763164462188</c:v>
                      </c:pt>
                      <c:pt idx="116">
                        <c:v>99.706763164462188</c:v>
                      </c:pt>
                      <c:pt idx="117">
                        <c:v>99.706763164462188</c:v>
                      </c:pt>
                      <c:pt idx="118">
                        <c:v>99.929810331919128</c:v>
                      </c:pt>
                      <c:pt idx="119">
                        <c:v>99.864299975043664</c:v>
                      </c:pt>
                      <c:pt idx="120">
                        <c:v>100.3415897179935</c:v>
                      </c:pt>
                      <c:pt idx="121">
                        <c:v>100.3415897179935</c:v>
                      </c:pt>
                      <c:pt idx="122">
                        <c:v>100.47417020214624</c:v>
                      </c:pt>
                      <c:pt idx="123">
                        <c:v>100.47417020214624</c:v>
                      </c:pt>
                      <c:pt idx="124">
                        <c:v>100.47417020214624</c:v>
                      </c:pt>
                      <c:pt idx="125">
                        <c:v>100.6410656351385</c:v>
                      </c:pt>
                      <c:pt idx="126">
                        <c:v>100.43049663089593</c:v>
                      </c:pt>
                      <c:pt idx="127">
                        <c:v>100.32131270277014</c:v>
                      </c:pt>
                      <c:pt idx="128">
                        <c:v>98.752183678562517</c:v>
                      </c:pt>
                      <c:pt idx="129">
                        <c:v>99.065697529323685</c:v>
                      </c:pt>
                      <c:pt idx="130">
                        <c:v>99.065697529323685</c:v>
                      </c:pt>
                      <c:pt idx="131">
                        <c:v>99.065697529323685</c:v>
                      </c:pt>
                      <c:pt idx="132">
                        <c:v>99.065697529323685</c:v>
                      </c:pt>
                      <c:pt idx="133">
                        <c:v>98.883204392313459</c:v>
                      </c:pt>
                      <c:pt idx="134">
                        <c:v>98.326366358871979</c:v>
                      </c:pt>
                      <c:pt idx="135">
                        <c:v>97.772647866234095</c:v>
                      </c:pt>
                      <c:pt idx="136">
                        <c:v>98.527576740703765</c:v>
                      </c:pt>
                      <c:pt idx="137">
                        <c:v>98.527576740703765</c:v>
                      </c:pt>
                      <c:pt idx="138">
                        <c:v>98.527576740703765</c:v>
                      </c:pt>
                      <c:pt idx="139">
                        <c:v>97.583915647616664</c:v>
                      </c:pt>
                      <c:pt idx="140">
                        <c:v>97.509046668330413</c:v>
                      </c:pt>
                      <c:pt idx="141">
                        <c:v>97.658784626902914</c:v>
                      </c:pt>
                      <c:pt idx="142">
                        <c:v>97.351509857748937</c:v>
                      </c:pt>
                      <c:pt idx="143">
                        <c:v>97.437297229847772</c:v>
                      </c:pt>
                      <c:pt idx="144">
                        <c:v>97.437297229847772</c:v>
                      </c:pt>
                      <c:pt idx="145">
                        <c:v>97.437297229847772</c:v>
                      </c:pt>
                      <c:pt idx="146">
                        <c:v>97.705577738956819</c:v>
                      </c:pt>
                      <c:pt idx="147">
                        <c:v>97.732093835787381</c:v>
                      </c:pt>
                      <c:pt idx="148">
                        <c:v>97.900549039181428</c:v>
                      </c:pt>
                      <c:pt idx="149">
                        <c:v>97.813201896680809</c:v>
                      </c:pt>
                      <c:pt idx="150">
                        <c:v>98.472984776640885</c:v>
                      </c:pt>
                      <c:pt idx="151">
                        <c:v>98.472984776640885</c:v>
                      </c:pt>
                      <c:pt idx="152">
                        <c:v>98.472984776640885</c:v>
                      </c:pt>
                      <c:pt idx="153">
                        <c:v>98.13607436985275</c:v>
                      </c:pt>
                      <c:pt idx="154">
                        <c:v>97.964499625655108</c:v>
                      </c:pt>
                      <c:pt idx="155">
                        <c:v>97.644746693286748</c:v>
                      </c:pt>
                      <c:pt idx="156">
                        <c:v>98.132954829049154</c:v>
                      </c:pt>
                      <c:pt idx="157">
                        <c:v>98.795857249812826</c:v>
                      </c:pt>
                      <c:pt idx="158">
                        <c:v>98.795857249812826</c:v>
                      </c:pt>
                      <c:pt idx="159">
                        <c:v>98.795857249812826</c:v>
                      </c:pt>
                      <c:pt idx="160">
                        <c:v>98.579049163963063</c:v>
                      </c:pt>
                      <c:pt idx="161">
                        <c:v>98.922198652358375</c:v>
                      </c:pt>
                      <c:pt idx="162">
                        <c:v>99.436922884951329</c:v>
                      </c:pt>
                      <c:pt idx="163">
                        <c:v>99.847142500623903</c:v>
                      </c:pt>
                      <c:pt idx="164">
                        <c:v>99.635013725979533</c:v>
                      </c:pt>
                      <c:pt idx="165">
                        <c:v>99.635013725979533</c:v>
                      </c:pt>
                      <c:pt idx="166">
                        <c:v>99.635013725979533</c:v>
                      </c:pt>
                      <c:pt idx="167">
                        <c:v>99.628774644372356</c:v>
                      </c:pt>
                      <c:pt idx="168">
                        <c:v>100.7408909408535</c:v>
                      </c:pt>
                      <c:pt idx="169">
                        <c:v>100.92182430746193</c:v>
                      </c:pt>
                      <c:pt idx="170">
                        <c:v>100.75804841527327</c:v>
                      </c:pt>
                      <c:pt idx="171">
                        <c:v>100.29479660593961</c:v>
                      </c:pt>
                      <c:pt idx="172">
                        <c:v>100.29479660593961</c:v>
                      </c:pt>
                      <c:pt idx="173">
                        <c:v>100.29479660593961</c:v>
                      </c:pt>
                      <c:pt idx="174">
                        <c:v>100.05771150486649</c:v>
                      </c:pt>
                      <c:pt idx="175">
                        <c:v>100.30103568754679</c:v>
                      </c:pt>
                      <c:pt idx="176">
                        <c:v>100.70657599201398</c:v>
                      </c:pt>
                      <c:pt idx="177">
                        <c:v>101.50673820813576</c:v>
                      </c:pt>
                      <c:pt idx="178">
                        <c:v>102.40984527077615</c:v>
                      </c:pt>
                      <c:pt idx="179">
                        <c:v>102.40984527077615</c:v>
                      </c:pt>
                      <c:pt idx="180">
                        <c:v>102.40984527077615</c:v>
                      </c:pt>
                      <c:pt idx="181">
                        <c:v>102.480034938857</c:v>
                      </c:pt>
                      <c:pt idx="182">
                        <c:v>102.43948090841029</c:v>
                      </c:pt>
                      <c:pt idx="183">
                        <c:v>103.6280259545795</c:v>
                      </c:pt>
                      <c:pt idx="184">
                        <c:v>103.96337659096579</c:v>
                      </c:pt>
                      <c:pt idx="185">
                        <c:v>103.01971549787872</c:v>
                      </c:pt>
                      <c:pt idx="186">
                        <c:v>103.01971549787872</c:v>
                      </c:pt>
                      <c:pt idx="187">
                        <c:v>103.01971549787872</c:v>
                      </c:pt>
                      <c:pt idx="188">
                        <c:v>102.72179935113553</c:v>
                      </c:pt>
                      <c:pt idx="189">
                        <c:v>101.29616920389317</c:v>
                      </c:pt>
                      <c:pt idx="190">
                        <c:v>101.53949338657348</c:v>
                      </c:pt>
                      <c:pt idx="191">
                        <c:v>101.83740953331667</c:v>
                      </c:pt>
                      <c:pt idx="192">
                        <c:v>102.19147741452457</c:v>
                      </c:pt>
                      <c:pt idx="193">
                        <c:v>102.19147741452457</c:v>
                      </c:pt>
                      <c:pt idx="194">
                        <c:v>102.19147741452457</c:v>
                      </c:pt>
                      <c:pt idx="195">
                        <c:v>102.96356376341403</c:v>
                      </c:pt>
                      <c:pt idx="196">
                        <c:v>103.1772523084602</c:v>
                      </c:pt>
                      <c:pt idx="197">
                        <c:v>103.43461442475667</c:v>
                      </c:pt>
                      <c:pt idx="198">
                        <c:v>103.42681557274769</c:v>
                      </c:pt>
                      <c:pt idx="199">
                        <c:v>103.59995008734715</c:v>
                      </c:pt>
                      <c:pt idx="200">
                        <c:v>103.59995008734715</c:v>
                      </c:pt>
                      <c:pt idx="201">
                        <c:v>103.59995008734715</c:v>
                      </c:pt>
                      <c:pt idx="202">
                        <c:v>104.78849513351636</c:v>
                      </c:pt>
                      <c:pt idx="203">
                        <c:v>105.03025954579486</c:v>
                      </c:pt>
                      <c:pt idx="204">
                        <c:v>105.20963314200149</c:v>
                      </c:pt>
                      <c:pt idx="205">
                        <c:v>104.87896181682058</c:v>
                      </c:pt>
                      <c:pt idx="206">
                        <c:v>105.12228599950089</c:v>
                      </c:pt>
                      <c:pt idx="207">
                        <c:v>105.12228599950089</c:v>
                      </c:pt>
                      <c:pt idx="208">
                        <c:v>105.12228599950089</c:v>
                      </c:pt>
                      <c:pt idx="209">
                        <c:v>105.70252058896929</c:v>
                      </c:pt>
                      <c:pt idx="210">
                        <c:v>105.78518842026455</c:v>
                      </c:pt>
                      <c:pt idx="211">
                        <c:v>106.72728974294982</c:v>
                      </c:pt>
                      <c:pt idx="212">
                        <c:v>104.95227102570502</c:v>
                      </c:pt>
                      <c:pt idx="213">
                        <c:v>103.86511105565262</c:v>
                      </c:pt>
                      <c:pt idx="214">
                        <c:v>103.86511105565262</c:v>
                      </c:pt>
                      <c:pt idx="215">
                        <c:v>103.86511105565262</c:v>
                      </c:pt>
                      <c:pt idx="216">
                        <c:v>105.46855502869977</c:v>
                      </c:pt>
                      <c:pt idx="217">
                        <c:v>104.79941352632891</c:v>
                      </c:pt>
                      <c:pt idx="218">
                        <c:v>104.54517095083604</c:v>
                      </c:pt>
                      <c:pt idx="219">
                        <c:v>105.22055153481409</c:v>
                      </c:pt>
                      <c:pt idx="220">
                        <c:v>105.04897679061642</c:v>
                      </c:pt>
                      <c:pt idx="221">
                        <c:v>105.04897679061642</c:v>
                      </c:pt>
                      <c:pt idx="222">
                        <c:v>105.04897679061642</c:v>
                      </c:pt>
                      <c:pt idx="223">
                        <c:v>105.17999750436738</c:v>
                      </c:pt>
                      <c:pt idx="224">
                        <c:v>104.00860993261793</c:v>
                      </c:pt>
                      <c:pt idx="225">
                        <c:v>104.90703768405292</c:v>
                      </c:pt>
                      <c:pt idx="226">
                        <c:v>104.95227102570502</c:v>
                      </c:pt>
                      <c:pt idx="227">
                        <c:v>104.38763414025456</c:v>
                      </c:pt>
                      <c:pt idx="228">
                        <c:v>104.38763414025456</c:v>
                      </c:pt>
                      <c:pt idx="229">
                        <c:v>104.38763414025456</c:v>
                      </c:pt>
                      <c:pt idx="230">
                        <c:v>104.27065136011979</c:v>
                      </c:pt>
                      <c:pt idx="231">
                        <c:v>105.0645744946344</c:v>
                      </c:pt>
                      <c:pt idx="232">
                        <c:v>105.10512852508111</c:v>
                      </c:pt>
                      <c:pt idx="233">
                        <c:v>105.10044921387573</c:v>
                      </c:pt>
                      <c:pt idx="234">
                        <c:v>105.18623658597454</c:v>
                      </c:pt>
                      <c:pt idx="235">
                        <c:v>105.18623658597454</c:v>
                      </c:pt>
                      <c:pt idx="236">
                        <c:v>105.18623658597454</c:v>
                      </c:pt>
                      <c:pt idx="237">
                        <c:v>106.92850012478164</c:v>
                      </c:pt>
                      <c:pt idx="238">
                        <c:v>106.59470925879711</c:v>
                      </c:pt>
                      <c:pt idx="239">
                        <c:v>106.52295982031445</c:v>
                      </c:pt>
                      <c:pt idx="240">
                        <c:v>106.67425754928874</c:v>
                      </c:pt>
                      <c:pt idx="241">
                        <c:v>107.3418392812578</c:v>
                      </c:pt>
                      <c:pt idx="242">
                        <c:v>107.3418392812578</c:v>
                      </c:pt>
                      <c:pt idx="243">
                        <c:v>107.3418392812578</c:v>
                      </c:pt>
                      <c:pt idx="244">
                        <c:v>108.66140504117794</c:v>
                      </c:pt>
                      <c:pt idx="245">
                        <c:v>108.18411529822811</c:v>
                      </c:pt>
                      <c:pt idx="246">
                        <c:v>107.82692787621662</c:v>
                      </c:pt>
                      <c:pt idx="247">
                        <c:v>107.38707262290991</c:v>
                      </c:pt>
                      <c:pt idx="248">
                        <c:v>107.99850262041426</c:v>
                      </c:pt>
                      <c:pt idx="249">
                        <c:v>107.99850262041426</c:v>
                      </c:pt>
                      <c:pt idx="250">
                        <c:v>107.99850262041426</c:v>
                      </c:pt>
                      <c:pt idx="251">
                        <c:v>109.45376840529076</c:v>
                      </c:pt>
                      <c:pt idx="252">
                        <c:v>109.50368105814823</c:v>
                      </c:pt>
                      <c:pt idx="253">
                        <c:v>109.23852008984278</c:v>
                      </c:pt>
                      <c:pt idx="254">
                        <c:v>109.7797604192663</c:v>
                      </c:pt>
                      <c:pt idx="255">
                        <c:v>110.75773646119291</c:v>
                      </c:pt>
                      <c:pt idx="256">
                        <c:v>110.75773646119291</c:v>
                      </c:pt>
                      <c:pt idx="257">
                        <c:v>110.75773646119291</c:v>
                      </c:pt>
                      <c:pt idx="258">
                        <c:v>111.10712503119542</c:v>
                      </c:pt>
                      <c:pt idx="259">
                        <c:v>110.48477664087845</c:v>
                      </c:pt>
                      <c:pt idx="260">
                        <c:v>110.08391564761666</c:v>
                      </c:pt>
                      <c:pt idx="261">
                        <c:v>109.42881207886199</c:v>
                      </c:pt>
                      <c:pt idx="262">
                        <c:v>109.01079361118042</c:v>
                      </c:pt>
                      <c:pt idx="263">
                        <c:v>109.01079361118042</c:v>
                      </c:pt>
                      <c:pt idx="264">
                        <c:v>109.01079361118042</c:v>
                      </c:pt>
                      <c:pt idx="265">
                        <c:v>108.79710506613426</c:v>
                      </c:pt>
                      <c:pt idx="266">
                        <c:v>109.68149488395309</c:v>
                      </c:pt>
                      <c:pt idx="267">
                        <c:v>109.44908909408535</c:v>
                      </c:pt>
                      <c:pt idx="268">
                        <c:v>108.68480159720488</c:v>
                      </c:pt>
                      <c:pt idx="269">
                        <c:v>108.41184177689043</c:v>
                      </c:pt>
                      <c:pt idx="270">
                        <c:v>108.41184177689043</c:v>
                      </c:pt>
                      <c:pt idx="271">
                        <c:v>108.41184177689043</c:v>
                      </c:pt>
                      <c:pt idx="272">
                        <c:v>108.822061392563</c:v>
                      </c:pt>
                      <c:pt idx="273">
                        <c:v>109.18548789618168</c:v>
                      </c:pt>
                      <c:pt idx="274">
                        <c:v>109.77664087846269</c:v>
                      </c:pt>
                      <c:pt idx="275">
                        <c:v>110.83884452208635</c:v>
                      </c:pt>
                      <c:pt idx="276">
                        <c:v>111.30677564262541</c:v>
                      </c:pt>
                      <c:pt idx="277">
                        <c:v>111.30677564262541</c:v>
                      </c:pt>
                      <c:pt idx="278">
                        <c:v>111.30677564262541</c:v>
                      </c:pt>
                      <c:pt idx="279">
                        <c:v>111.08060893436486</c:v>
                      </c:pt>
                      <c:pt idx="280">
                        <c:v>111.35824806588471</c:v>
                      </c:pt>
                      <c:pt idx="281">
                        <c:v>111.39256301472422</c:v>
                      </c:pt>
                      <c:pt idx="282">
                        <c:v>110.93866982780133</c:v>
                      </c:pt>
                      <c:pt idx="283">
                        <c:v>110.50193411529823</c:v>
                      </c:pt>
                      <c:pt idx="284">
                        <c:v>110.50193411529823</c:v>
                      </c:pt>
                      <c:pt idx="285">
                        <c:v>110.50193411529823</c:v>
                      </c:pt>
                      <c:pt idx="286">
                        <c:v>109.99656850511606</c:v>
                      </c:pt>
                      <c:pt idx="287">
                        <c:v>110.30696281507362</c:v>
                      </c:pt>
                      <c:pt idx="288">
                        <c:v>110.41302720239581</c:v>
                      </c:pt>
                      <c:pt idx="289">
                        <c:v>110.87783878213126</c:v>
                      </c:pt>
                      <c:pt idx="290">
                        <c:v>110.78893186922885</c:v>
                      </c:pt>
                      <c:pt idx="291">
                        <c:v>110.78893186922885</c:v>
                      </c:pt>
                      <c:pt idx="292">
                        <c:v>110.78893186922885</c:v>
                      </c:pt>
                      <c:pt idx="293">
                        <c:v>110.78893186922885</c:v>
                      </c:pt>
                      <c:pt idx="294">
                        <c:v>111.72947342151235</c:v>
                      </c:pt>
                      <c:pt idx="295">
                        <c:v>112.1474918891939</c:v>
                      </c:pt>
                      <c:pt idx="296">
                        <c:v>112.85562765160968</c:v>
                      </c:pt>
                      <c:pt idx="297">
                        <c:v>112.5499126528575</c:v>
                      </c:pt>
                      <c:pt idx="298">
                        <c:v>112.5499126528575</c:v>
                      </c:pt>
                      <c:pt idx="299">
                        <c:v>112.5499126528575</c:v>
                      </c:pt>
                      <c:pt idx="300">
                        <c:v>112.88526328924382</c:v>
                      </c:pt>
                      <c:pt idx="301">
                        <c:v>113.47173696031945</c:v>
                      </c:pt>
                      <c:pt idx="302">
                        <c:v>113.69166458697279</c:v>
                      </c:pt>
                      <c:pt idx="303">
                        <c:v>112.07730222111306</c:v>
                      </c:pt>
                      <c:pt idx="304">
                        <c:v>111.42687796356377</c:v>
                      </c:pt>
                      <c:pt idx="305">
                        <c:v>111.42687796356377</c:v>
                      </c:pt>
                      <c:pt idx="306">
                        <c:v>111.42687796356377</c:v>
                      </c:pt>
                      <c:pt idx="307">
                        <c:v>111.49082855003742</c:v>
                      </c:pt>
                      <c:pt idx="308">
                        <c:v>110.34907661592214</c:v>
                      </c:pt>
                      <c:pt idx="309">
                        <c:v>110.05739955078613</c:v>
                      </c:pt>
                      <c:pt idx="310">
                        <c:v>110.25549039181432</c:v>
                      </c:pt>
                      <c:pt idx="311">
                        <c:v>110.48165710007487</c:v>
                      </c:pt>
                      <c:pt idx="312">
                        <c:v>110.48165710007487</c:v>
                      </c:pt>
                      <c:pt idx="313">
                        <c:v>110.48165710007487</c:v>
                      </c:pt>
                      <c:pt idx="314">
                        <c:v>110.74525829797854</c:v>
                      </c:pt>
                      <c:pt idx="315">
                        <c:v>111.45339406039429</c:v>
                      </c:pt>
                      <c:pt idx="316">
                        <c:v>110.89031694534566</c:v>
                      </c:pt>
                      <c:pt idx="317">
                        <c:v>110.69690541552283</c:v>
                      </c:pt>
                      <c:pt idx="318">
                        <c:v>109.97317194908909</c:v>
                      </c:pt>
                      <c:pt idx="319">
                        <c:v>109.97317194908909</c:v>
                      </c:pt>
                      <c:pt idx="320">
                        <c:v>109.97317194908909</c:v>
                      </c:pt>
                      <c:pt idx="321">
                        <c:v>110.04960069877714</c:v>
                      </c:pt>
                      <c:pt idx="322">
                        <c:v>109.33834539555778</c:v>
                      </c:pt>
                      <c:pt idx="323">
                        <c:v>109.58166957823808</c:v>
                      </c:pt>
                      <c:pt idx="324">
                        <c:v>110.05116046917894</c:v>
                      </c:pt>
                      <c:pt idx="325">
                        <c:v>108.99051659595706</c:v>
                      </c:pt>
                      <c:pt idx="326">
                        <c:v>108.99051659595706</c:v>
                      </c:pt>
                      <c:pt idx="327">
                        <c:v>108.99051659595706</c:v>
                      </c:pt>
                      <c:pt idx="328">
                        <c:v>110.03400299475918</c:v>
                      </c:pt>
                      <c:pt idx="329">
                        <c:v>110.08235587721487</c:v>
                      </c:pt>
                      <c:pt idx="330">
                        <c:v>109.9747317194909</c:v>
                      </c:pt>
                      <c:pt idx="331">
                        <c:v>110.42706513601199</c:v>
                      </c:pt>
                      <c:pt idx="332">
                        <c:v>110.57680309458446</c:v>
                      </c:pt>
                      <c:pt idx="333">
                        <c:v>110.57680309458446</c:v>
                      </c:pt>
                      <c:pt idx="334">
                        <c:v>110.57680309458446</c:v>
                      </c:pt>
                      <c:pt idx="335">
                        <c:v>109.70021212877464</c:v>
                      </c:pt>
                      <c:pt idx="336">
                        <c:v>110.37403294235088</c:v>
                      </c:pt>
                      <c:pt idx="337">
                        <c:v>110.30228350386821</c:v>
                      </c:pt>
                      <c:pt idx="338">
                        <c:v>109.6736960319441</c:v>
                      </c:pt>
                      <c:pt idx="339">
                        <c:v>109.51771899176441</c:v>
                      </c:pt>
                      <c:pt idx="340">
                        <c:v>109.51771899176441</c:v>
                      </c:pt>
                      <c:pt idx="341">
                        <c:v>109.51771899176441</c:v>
                      </c:pt>
                      <c:pt idx="342">
                        <c:v>108.67388320439231</c:v>
                      </c:pt>
                      <c:pt idx="343">
                        <c:v>108.96400049912654</c:v>
                      </c:pt>
                      <c:pt idx="344">
                        <c:v>108.51010731220363</c:v>
                      </c:pt>
                      <c:pt idx="345">
                        <c:v>108.89225106064386</c:v>
                      </c:pt>
                      <c:pt idx="346">
                        <c:v>109.29467182430747</c:v>
                      </c:pt>
                      <c:pt idx="347">
                        <c:v>109.29467182430747</c:v>
                      </c:pt>
                      <c:pt idx="348">
                        <c:v>109.29467182430747</c:v>
                      </c:pt>
                      <c:pt idx="349">
                        <c:v>109.0809832792613</c:v>
                      </c:pt>
                      <c:pt idx="350">
                        <c:v>109.09346144247567</c:v>
                      </c:pt>
                      <c:pt idx="351">
                        <c:v>108.9733591215373</c:v>
                      </c:pt>
                      <c:pt idx="352">
                        <c:v>109.26503618667331</c:v>
                      </c:pt>
                      <c:pt idx="353">
                        <c:v>109.8780259545795</c:v>
                      </c:pt>
                      <c:pt idx="354">
                        <c:v>109.8780259545795</c:v>
                      </c:pt>
                      <c:pt idx="355">
                        <c:v>109.8780259545795</c:v>
                      </c:pt>
                      <c:pt idx="356">
                        <c:v>109.5629523334165</c:v>
                      </c:pt>
                      <c:pt idx="357">
                        <c:v>109.67057649114051</c:v>
                      </c:pt>
                      <c:pt idx="358">
                        <c:v>109.98565011230346</c:v>
                      </c:pt>
                      <c:pt idx="359">
                        <c:v>109.98565011230346</c:v>
                      </c:pt>
                      <c:pt idx="360">
                        <c:v>110.119790366858</c:v>
                      </c:pt>
                      <c:pt idx="361">
                        <c:v>110.119790366858</c:v>
                      </c:pt>
                      <c:pt idx="362">
                        <c:v>110.119790366858</c:v>
                      </c:pt>
                      <c:pt idx="363">
                        <c:v>110.6126778138258</c:v>
                      </c:pt>
                      <c:pt idx="364">
                        <c:v>110.74681806838034</c:v>
                      </c:pt>
                      <c:pt idx="365">
                        <c:v>111.32081357624158</c:v>
                      </c:pt>
                      <c:pt idx="366">
                        <c:v>111.32081357624158</c:v>
                      </c:pt>
                      <c:pt idx="367">
                        <c:v>111.13988020963315</c:v>
                      </c:pt>
                      <c:pt idx="368">
                        <c:v>111.13988020963315</c:v>
                      </c:pt>
                      <c:pt idx="369">
                        <c:v>111.13988020963315</c:v>
                      </c:pt>
                      <c:pt idx="370">
                        <c:v>111.19447217369603</c:v>
                      </c:pt>
                      <c:pt idx="371">
                        <c:v>111.39568255552781</c:v>
                      </c:pt>
                      <c:pt idx="372">
                        <c:v>111.76846768155728</c:v>
                      </c:pt>
                      <c:pt idx="373">
                        <c:v>111.93848265535313</c:v>
                      </c:pt>
                      <c:pt idx="374">
                        <c:v>112.03518842026455</c:v>
                      </c:pt>
                      <c:pt idx="375">
                        <c:v>112.03518842026455</c:v>
                      </c:pt>
                      <c:pt idx="376">
                        <c:v>112.03518842026455</c:v>
                      </c:pt>
                      <c:pt idx="377">
                        <c:v>112.51247816321437</c:v>
                      </c:pt>
                      <c:pt idx="378">
                        <c:v>113.06463688545045</c:v>
                      </c:pt>
                      <c:pt idx="379">
                        <c:v>113.06307711504866</c:v>
                      </c:pt>
                      <c:pt idx="380">
                        <c:v>112.41889193910657</c:v>
                      </c:pt>
                      <c:pt idx="381">
                        <c:v>112.52495632642874</c:v>
                      </c:pt>
                      <c:pt idx="382">
                        <c:v>112.52495632642874</c:v>
                      </c:pt>
                      <c:pt idx="383">
                        <c:v>112.52495632642874</c:v>
                      </c:pt>
                      <c:pt idx="384">
                        <c:v>112.20364362365859</c:v>
                      </c:pt>
                      <c:pt idx="385">
                        <c:v>113.09895183428999</c:v>
                      </c:pt>
                      <c:pt idx="386">
                        <c:v>112.42045170950836</c:v>
                      </c:pt>
                      <c:pt idx="387">
                        <c:v>112.25043673571248</c:v>
                      </c:pt>
                      <c:pt idx="388">
                        <c:v>112.29567007736463</c:v>
                      </c:pt>
                      <c:pt idx="389">
                        <c:v>112.29567007736463</c:v>
                      </c:pt>
                      <c:pt idx="390">
                        <c:v>112.29567007736463</c:v>
                      </c:pt>
                      <c:pt idx="391">
                        <c:v>111.96187921138008</c:v>
                      </c:pt>
                      <c:pt idx="392">
                        <c:v>112.03206887946094</c:v>
                      </c:pt>
                      <c:pt idx="393">
                        <c:v>111.91040678812078</c:v>
                      </c:pt>
                      <c:pt idx="394">
                        <c:v>111.98839530821063</c:v>
                      </c:pt>
                      <c:pt idx="395">
                        <c:v>112.0601447466933</c:v>
                      </c:pt>
                      <c:pt idx="396">
                        <c:v>112.0601447466933</c:v>
                      </c:pt>
                      <c:pt idx="397">
                        <c:v>112.0601447466933</c:v>
                      </c:pt>
                      <c:pt idx="398">
                        <c:v>111.70607686548539</c:v>
                      </c:pt>
                      <c:pt idx="399">
                        <c:v>111.65928375343151</c:v>
                      </c:pt>
                      <c:pt idx="400">
                        <c:v>111.72323433990516</c:v>
                      </c:pt>
                      <c:pt idx="401">
                        <c:v>111.44091589717995</c:v>
                      </c:pt>
                      <c:pt idx="402">
                        <c:v>111.32081357624158</c:v>
                      </c:pt>
                      <c:pt idx="403">
                        <c:v>111.32081357624158</c:v>
                      </c:pt>
                      <c:pt idx="404">
                        <c:v>111.32081357624158</c:v>
                      </c:pt>
                      <c:pt idx="405">
                        <c:v>111.93068380334414</c:v>
                      </c:pt>
                      <c:pt idx="406">
                        <c:v>112.04610681307712</c:v>
                      </c:pt>
                      <c:pt idx="407">
                        <c:v>112.0071125530322</c:v>
                      </c:pt>
                      <c:pt idx="408">
                        <c:v>110.65167207387073</c:v>
                      </c:pt>
                      <c:pt idx="409">
                        <c:v>109.8671075617669</c:v>
                      </c:pt>
                      <c:pt idx="410">
                        <c:v>109.8671075617669</c:v>
                      </c:pt>
                      <c:pt idx="411">
                        <c:v>109.8671075617669</c:v>
                      </c:pt>
                      <c:pt idx="412">
                        <c:v>110.12602944846519</c:v>
                      </c:pt>
                      <c:pt idx="413">
                        <c:v>110.12602944846519</c:v>
                      </c:pt>
                      <c:pt idx="414">
                        <c:v>110.12602944846519</c:v>
                      </c:pt>
                      <c:pt idx="415">
                        <c:v>109.89518342899925</c:v>
                      </c:pt>
                      <c:pt idx="416">
                        <c:v>110.1307087596706</c:v>
                      </c:pt>
                      <c:pt idx="417">
                        <c:v>110.1307087596706</c:v>
                      </c:pt>
                      <c:pt idx="418">
                        <c:v>110.1307087596706</c:v>
                      </c:pt>
                      <c:pt idx="419">
                        <c:v>110.62203643623658</c:v>
                      </c:pt>
                      <c:pt idx="420">
                        <c:v>111.23346643374094</c:v>
                      </c:pt>
                      <c:pt idx="421">
                        <c:v>111.26934115298228</c:v>
                      </c:pt>
                      <c:pt idx="422">
                        <c:v>110.99482156226603</c:v>
                      </c:pt>
                      <c:pt idx="423">
                        <c:v>109.98253057149986</c:v>
                      </c:pt>
                      <c:pt idx="424">
                        <c:v>109.98253057149986</c:v>
                      </c:pt>
                      <c:pt idx="425">
                        <c:v>109.98253057149986</c:v>
                      </c:pt>
                      <c:pt idx="426">
                        <c:v>109.11217868729723</c:v>
                      </c:pt>
                      <c:pt idx="427">
                        <c:v>108.31357624157722</c:v>
                      </c:pt>
                      <c:pt idx="428">
                        <c:v>106.68829548290491</c:v>
                      </c:pt>
                      <c:pt idx="429">
                        <c:v>106.80527826303967</c:v>
                      </c:pt>
                      <c:pt idx="430">
                        <c:v>106.71169203893187</c:v>
                      </c:pt>
                      <c:pt idx="431">
                        <c:v>106.71169203893187</c:v>
                      </c:pt>
                      <c:pt idx="432">
                        <c:v>106.71169203893187</c:v>
                      </c:pt>
                      <c:pt idx="433">
                        <c:v>103.81675817319692</c:v>
                      </c:pt>
                      <c:pt idx="434">
                        <c:v>104.93043424007986</c:v>
                      </c:pt>
                      <c:pt idx="435">
                        <c:v>104.98190666333915</c:v>
                      </c:pt>
                      <c:pt idx="436">
                        <c:v>104.80409283753431</c:v>
                      </c:pt>
                      <c:pt idx="437">
                        <c:v>104.42194908909408</c:v>
                      </c:pt>
                      <c:pt idx="438">
                        <c:v>104.42194908909408</c:v>
                      </c:pt>
                      <c:pt idx="439">
                        <c:v>104.42194908909408</c:v>
                      </c:pt>
                      <c:pt idx="440">
                        <c:v>104.83060893436486</c:v>
                      </c:pt>
                      <c:pt idx="441">
                        <c:v>106.03007237334663</c:v>
                      </c:pt>
                      <c:pt idx="442">
                        <c:v>106.70545295732468</c:v>
                      </c:pt>
                      <c:pt idx="443">
                        <c:v>105.92400798602446</c:v>
                      </c:pt>
                      <c:pt idx="444">
                        <c:v>106.26247816321437</c:v>
                      </c:pt>
                      <c:pt idx="445">
                        <c:v>106.26247816321437</c:v>
                      </c:pt>
                      <c:pt idx="446">
                        <c:v>106.26247816321437</c:v>
                      </c:pt>
                      <c:pt idx="447">
                        <c:v>103.65610182181182</c:v>
                      </c:pt>
                      <c:pt idx="448">
                        <c:v>103.60618916895432</c:v>
                      </c:pt>
                      <c:pt idx="449">
                        <c:v>103.74500873471423</c:v>
                      </c:pt>
                      <c:pt idx="450">
                        <c:v>102.72491889193911</c:v>
                      </c:pt>
                      <c:pt idx="451">
                        <c:v>102.91521088095831</c:v>
                      </c:pt>
                      <c:pt idx="452">
                        <c:v>102.91521088095831</c:v>
                      </c:pt>
                      <c:pt idx="453">
                        <c:v>102.91521088095831</c:v>
                      </c:pt>
                      <c:pt idx="454">
                        <c:v>102.89337409533317</c:v>
                      </c:pt>
                      <c:pt idx="455">
                        <c:v>102.42232343399051</c:v>
                      </c:pt>
                      <c:pt idx="456">
                        <c:v>103.71849263788371</c:v>
                      </c:pt>
                      <c:pt idx="457">
                        <c:v>103.38782131270277</c:v>
                      </c:pt>
                      <c:pt idx="458">
                        <c:v>103.38782131270277</c:v>
                      </c:pt>
                      <c:pt idx="459">
                        <c:v>103.38782131270277</c:v>
                      </c:pt>
                      <c:pt idx="460">
                        <c:v>103.38782131270277</c:v>
                      </c:pt>
                      <c:pt idx="461">
                        <c:v>103.78556276516096</c:v>
                      </c:pt>
                      <c:pt idx="462">
                        <c:v>103.50792363364111</c:v>
                      </c:pt>
                      <c:pt idx="463">
                        <c:v>105.90529074120289</c:v>
                      </c:pt>
                      <c:pt idx="464">
                        <c:v>105.1628400299476</c:v>
                      </c:pt>
                      <c:pt idx="465">
                        <c:v>105.66508609932619</c:v>
                      </c:pt>
                      <c:pt idx="466">
                        <c:v>105.66508609932619</c:v>
                      </c:pt>
                      <c:pt idx="467">
                        <c:v>105.66508609932619</c:v>
                      </c:pt>
                      <c:pt idx="468">
                        <c:v>105.8974918891939</c:v>
                      </c:pt>
                      <c:pt idx="469">
                        <c:v>106.69765410531569</c:v>
                      </c:pt>
                      <c:pt idx="470">
                        <c:v>107.26229099076615</c:v>
                      </c:pt>
                      <c:pt idx="471">
                        <c:v>107.89399800349389</c:v>
                      </c:pt>
                      <c:pt idx="472">
                        <c:v>107.64443473920639</c:v>
                      </c:pt>
                      <c:pt idx="473">
                        <c:v>107.64443473920639</c:v>
                      </c:pt>
                      <c:pt idx="474">
                        <c:v>107.64443473920639</c:v>
                      </c:pt>
                      <c:pt idx="475">
                        <c:v>107.71306463688546</c:v>
                      </c:pt>
                      <c:pt idx="476">
                        <c:v>108.6801222859995</c:v>
                      </c:pt>
                      <c:pt idx="477">
                        <c:v>108.51790616421265</c:v>
                      </c:pt>
                      <c:pt idx="478">
                        <c:v>108.32449463438982</c:v>
                      </c:pt>
                      <c:pt idx="479">
                        <c:v>108.21063139505864</c:v>
                      </c:pt>
                      <c:pt idx="480">
                        <c:v>108.21063139505864</c:v>
                      </c:pt>
                      <c:pt idx="481">
                        <c:v>108.21063139505864</c:v>
                      </c:pt>
                      <c:pt idx="482">
                        <c:v>107.41514849014224</c:v>
                      </c:pt>
                      <c:pt idx="483">
                        <c:v>106.73976790616422</c:v>
                      </c:pt>
                      <c:pt idx="484">
                        <c:v>106.23596206638383</c:v>
                      </c:pt>
                      <c:pt idx="485">
                        <c:v>105.66196655852258</c:v>
                      </c:pt>
                      <c:pt idx="486">
                        <c:v>105.66196655852258</c:v>
                      </c:pt>
                      <c:pt idx="487">
                        <c:v>105.66196655852258</c:v>
                      </c:pt>
                      <c:pt idx="488">
                        <c:v>105.66196655852258</c:v>
                      </c:pt>
                      <c:pt idx="489">
                        <c:v>105.95676316446219</c:v>
                      </c:pt>
                    </c:numCache>
                  </c:numRef>
                </c:val>
                <c:smooth val="0"/>
                <c:extLst xmlns:c15="http://schemas.microsoft.com/office/drawing/2012/chart">
                  <c:ext xmlns:c16="http://schemas.microsoft.com/office/drawing/2014/chart" uri="{C3380CC4-5D6E-409C-BE32-E72D297353CC}">
                    <c16:uniqueId val="{0000000A-96E7-454A-A66A-36F382D4E673}"/>
                  </c:ext>
                </c:extLst>
              </c15:ser>
            </c15:filteredLineSeries>
          </c:ext>
        </c:extLst>
      </c:lineChart>
      <c:lineChart>
        <c:grouping val="standard"/>
        <c:varyColors val="0"/>
        <c:ser>
          <c:idx val="10"/>
          <c:order val="10"/>
          <c:tx>
            <c:strRef>
              <c:f>'BBG (Global Markets)'!$AA$11</c:f>
              <c:strCache>
                <c:ptCount val="1"/>
                <c:pt idx="0">
                  <c:v>US Fed Funds Rate</c:v>
                </c:pt>
              </c:strCache>
            </c:strRef>
          </c:tx>
          <c:spPr>
            <a:ln w="15875" cap="rnd">
              <a:solidFill>
                <a:schemeClr val="bg1">
                  <a:lumMod val="65000"/>
                </a:schemeClr>
              </a:solidFill>
              <a:prstDash val="sysDash"/>
              <a:round/>
            </a:ln>
            <a:effectLst/>
          </c:spPr>
          <c:marker>
            <c:symbol val="none"/>
          </c:marker>
          <c:cat>
            <c:numRef>
              <c:f>'BBG (Global Markets)'!$P$12:$P$501</c:f>
              <c:numCache>
                <c:formatCode>dd\ mmm\ yy</c:formatCode>
                <c:ptCount val="490"/>
                <c:pt idx="1">
                  <c:v>45658</c:v>
                </c:pt>
                <c:pt idx="2">
                  <c:v>45659</c:v>
                </c:pt>
                <c:pt idx="3">
                  <c:v>45660</c:v>
                </c:pt>
                <c:pt idx="4">
                  <c:v>45661</c:v>
                </c:pt>
                <c:pt idx="5">
                  <c:v>45662</c:v>
                </c:pt>
                <c:pt idx="6">
                  <c:v>45663</c:v>
                </c:pt>
                <c:pt idx="7">
                  <c:v>45664</c:v>
                </c:pt>
                <c:pt idx="8">
                  <c:v>45665</c:v>
                </c:pt>
                <c:pt idx="9">
                  <c:v>45666</c:v>
                </c:pt>
                <c:pt idx="10">
                  <c:v>45667</c:v>
                </c:pt>
                <c:pt idx="11">
                  <c:v>45668</c:v>
                </c:pt>
                <c:pt idx="12">
                  <c:v>45669</c:v>
                </c:pt>
                <c:pt idx="13">
                  <c:v>45670</c:v>
                </c:pt>
                <c:pt idx="14">
                  <c:v>45671</c:v>
                </c:pt>
                <c:pt idx="15">
                  <c:v>45672</c:v>
                </c:pt>
                <c:pt idx="16">
                  <c:v>45673</c:v>
                </c:pt>
                <c:pt idx="17">
                  <c:v>45674</c:v>
                </c:pt>
                <c:pt idx="18">
                  <c:v>45675</c:v>
                </c:pt>
                <c:pt idx="19">
                  <c:v>45676</c:v>
                </c:pt>
                <c:pt idx="20">
                  <c:v>45677</c:v>
                </c:pt>
                <c:pt idx="21">
                  <c:v>45678</c:v>
                </c:pt>
                <c:pt idx="22">
                  <c:v>45679</c:v>
                </c:pt>
                <c:pt idx="23">
                  <c:v>45680</c:v>
                </c:pt>
                <c:pt idx="24">
                  <c:v>45681</c:v>
                </c:pt>
                <c:pt idx="25">
                  <c:v>45682</c:v>
                </c:pt>
                <c:pt idx="26">
                  <c:v>45683</c:v>
                </c:pt>
                <c:pt idx="27">
                  <c:v>45684</c:v>
                </c:pt>
                <c:pt idx="28">
                  <c:v>45685</c:v>
                </c:pt>
                <c:pt idx="29">
                  <c:v>45686</c:v>
                </c:pt>
                <c:pt idx="30">
                  <c:v>45687</c:v>
                </c:pt>
                <c:pt idx="31">
                  <c:v>45688</c:v>
                </c:pt>
                <c:pt idx="32">
                  <c:v>45689</c:v>
                </c:pt>
                <c:pt idx="33">
                  <c:v>45690</c:v>
                </c:pt>
                <c:pt idx="34">
                  <c:v>45691</c:v>
                </c:pt>
                <c:pt idx="35">
                  <c:v>45692</c:v>
                </c:pt>
                <c:pt idx="36">
                  <c:v>45693</c:v>
                </c:pt>
                <c:pt idx="37">
                  <c:v>45694</c:v>
                </c:pt>
                <c:pt idx="38">
                  <c:v>45695</c:v>
                </c:pt>
                <c:pt idx="39">
                  <c:v>45696</c:v>
                </c:pt>
                <c:pt idx="40">
                  <c:v>45697</c:v>
                </c:pt>
                <c:pt idx="41">
                  <c:v>45698</c:v>
                </c:pt>
                <c:pt idx="42">
                  <c:v>45699</c:v>
                </c:pt>
                <c:pt idx="43">
                  <c:v>45700</c:v>
                </c:pt>
                <c:pt idx="44">
                  <c:v>45701</c:v>
                </c:pt>
                <c:pt idx="45">
                  <c:v>45702</c:v>
                </c:pt>
                <c:pt idx="46">
                  <c:v>45703</c:v>
                </c:pt>
                <c:pt idx="47">
                  <c:v>45704</c:v>
                </c:pt>
                <c:pt idx="48">
                  <c:v>45705</c:v>
                </c:pt>
                <c:pt idx="49">
                  <c:v>45706</c:v>
                </c:pt>
                <c:pt idx="50">
                  <c:v>45707</c:v>
                </c:pt>
                <c:pt idx="51">
                  <c:v>45708</c:v>
                </c:pt>
                <c:pt idx="52">
                  <c:v>45709</c:v>
                </c:pt>
                <c:pt idx="53">
                  <c:v>45710</c:v>
                </c:pt>
                <c:pt idx="54">
                  <c:v>45711</c:v>
                </c:pt>
                <c:pt idx="55">
                  <c:v>45712</c:v>
                </c:pt>
                <c:pt idx="56">
                  <c:v>45713</c:v>
                </c:pt>
                <c:pt idx="57">
                  <c:v>45714</c:v>
                </c:pt>
                <c:pt idx="58">
                  <c:v>45715</c:v>
                </c:pt>
                <c:pt idx="59">
                  <c:v>45716</c:v>
                </c:pt>
                <c:pt idx="60">
                  <c:v>45717</c:v>
                </c:pt>
                <c:pt idx="61">
                  <c:v>45718</c:v>
                </c:pt>
                <c:pt idx="62">
                  <c:v>45719</c:v>
                </c:pt>
                <c:pt idx="63">
                  <c:v>45720</c:v>
                </c:pt>
                <c:pt idx="64">
                  <c:v>45721</c:v>
                </c:pt>
                <c:pt idx="65">
                  <c:v>45722</c:v>
                </c:pt>
                <c:pt idx="66">
                  <c:v>45723</c:v>
                </c:pt>
                <c:pt idx="67">
                  <c:v>45724</c:v>
                </c:pt>
                <c:pt idx="68">
                  <c:v>45725</c:v>
                </c:pt>
                <c:pt idx="69">
                  <c:v>45726</c:v>
                </c:pt>
                <c:pt idx="70">
                  <c:v>45727</c:v>
                </c:pt>
                <c:pt idx="71">
                  <c:v>45728</c:v>
                </c:pt>
                <c:pt idx="72">
                  <c:v>45729</c:v>
                </c:pt>
                <c:pt idx="73">
                  <c:v>45730</c:v>
                </c:pt>
                <c:pt idx="74">
                  <c:v>45731</c:v>
                </c:pt>
                <c:pt idx="75">
                  <c:v>45732</c:v>
                </c:pt>
                <c:pt idx="76">
                  <c:v>45733</c:v>
                </c:pt>
                <c:pt idx="77">
                  <c:v>45734</c:v>
                </c:pt>
                <c:pt idx="78">
                  <c:v>45735</c:v>
                </c:pt>
                <c:pt idx="79">
                  <c:v>45736</c:v>
                </c:pt>
                <c:pt idx="80">
                  <c:v>45737</c:v>
                </c:pt>
                <c:pt idx="81">
                  <c:v>45738</c:v>
                </c:pt>
                <c:pt idx="82">
                  <c:v>45739</c:v>
                </c:pt>
                <c:pt idx="83">
                  <c:v>45740</c:v>
                </c:pt>
                <c:pt idx="84">
                  <c:v>45741</c:v>
                </c:pt>
                <c:pt idx="85">
                  <c:v>45742</c:v>
                </c:pt>
                <c:pt idx="86">
                  <c:v>45743</c:v>
                </c:pt>
                <c:pt idx="87">
                  <c:v>45744</c:v>
                </c:pt>
                <c:pt idx="88">
                  <c:v>45745</c:v>
                </c:pt>
                <c:pt idx="89">
                  <c:v>45746</c:v>
                </c:pt>
                <c:pt idx="90">
                  <c:v>45747</c:v>
                </c:pt>
                <c:pt idx="91">
                  <c:v>45748</c:v>
                </c:pt>
                <c:pt idx="92">
                  <c:v>45749</c:v>
                </c:pt>
                <c:pt idx="93">
                  <c:v>45750</c:v>
                </c:pt>
                <c:pt idx="94">
                  <c:v>45751</c:v>
                </c:pt>
                <c:pt idx="95">
                  <c:v>45752</c:v>
                </c:pt>
                <c:pt idx="96">
                  <c:v>45753</c:v>
                </c:pt>
                <c:pt idx="97">
                  <c:v>45754</c:v>
                </c:pt>
                <c:pt idx="98">
                  <c:v>45755</c:v>
                </c:pt>
                <c:pt idx="99">
                  <c:v>45756</c:v>
                </c:pt>
                <c:pt idx="100">
                  <c:v>45757</c:v>
                </c:pt>
                <c:pt idx="101">
                  <c:v>45758</c:v>
                </c:pt>
                <c:pt idx="102">
                  <c:v>45759</c:v>
                </c:pt>
                <c:pt idx="103">
                  <c:v>45760</c:v>
                </c:pt>
                <c:pt idx="104">
                  <c:v>45761</c:v>
                </c:pt>
                <c:pt idx="105">
                  <c:v>45762</c:v>
                </c:pt>
                <c:pt idx="106">
                  <c:v>45763</c:v>
                </c:pt>
                <c:pt idx="107">
                  <c:v>45764</c:v>
                </c:pt>
                <c:pt idx="108">
                  <c:v>45765</c:v>
                </c:pt>
                <c:pt idx="109">
                  <c:v>45766</c:v>
                </c:pt>
                <c:pt idx="110">
                  <c:v>45767</c:v>
                </c:pt>
                <c:pt idx="111">
                  <c:v>45768</c:v>
                </c:pt>
                <c:pt idx="112">
                  <c:v>45769</c:v>
                </c:pt>
                <c:pt idx="113">
                  <c:v>45770</c:v>
                </c:pt>
                <c:pt idx="114">
                  <c:v>45771</c:v>
                </c:pt>
                <c:pt idx="115">
                  <c:v>45772</c:v>
                </c:pt>
                <c:pt idx="116">
                  <c:v>45773</c:v>
                </c:pt>
                <c:pt idx="117">
                  <c:v>45774</c:v>
                </c:pt>
                <c:pt idx="118">
                  <c:v>45775</c:v>
                </c:pt>
                <c:pt idx="119">
                  <c:v>45776</c:v>
                </c:pt>
                <c:pt idx="120">
                  <c:v>45777</c:v>
                </c:pt>
                <c:pt idx="121">
                  <c:v>45778</c:v>
                </c:pt>
                <c:pt idx="122">
                  <c:v>45779</c:v>
                </c:pt>
                <c:pt idx="123">
                  <c:v>45780</c:v>
                </c:pt>
                <c:pt idx="124">
                  <c:v>45781</c:v>
                </c:pt>
                <c:pt idx="125">
                  <c:v>45782</c:v>
                </c:pt>
                <c:pt idx="126">
                  <c:v>45783</c:v>
                </c:pt>
                <c:pt idx="127">
                  <c:v>45784</c:v>
                </c:pt>
                <c:pt idx="128">
                  <c:v>45785</c:v>
                </c:pt>
                <c:pt idx="129">
                  <c:v>45786</c:v>
                </c:pt>
                <c:pt idx="130">
                  <c:v>45787</c:v>
                </c:pt>
                <c:pt idx="131">
                  <c:v>45788</c:v>
                </c:pt>
                <c:pt idx="132">
                  <c:v>45789</c:v>
                </c:pt>
                <c:pt idx="133">
                  <c:v>45790</c:v>
                </c:pt>
                <c:pt idx="134">
                  <c:v>45791</c:v>
                </c:pt>
                <c:pt idx="135">
                  <c:v>45792</c:v>
                </c:pt>
                <c:pt idx="136">
                  <c:v>45793</c:v>
                </c:pt>
                <c:pt idx="137">
                  <c:v>45794</c:v>
                </c:pt>
                <c:pt idx="138">
                  <c:v>45795</c:v>
                </c:pt>
                <c:pt idx="139">
                  <c:v>45796</c:v>
                </c:pt>
                <c:pt idx="140">
                  <c:v>45797</c:v>
                </c:pt>
                <c:pt idx="141">
                  <c:v>45798</c:v>
                </c:pt>
                <c:pt idx="142">
                  <c:v>45799</c:v>
                </c:pt>
                <c:pt idx="143">
                  <c:v>45800</c:v>
                </c:pt>
                <c:pt idx="144">
                  <c:v>45801</c:v>
                </c:pt>
                <c:pt idx="145">
                  <c:v>45802</c:v>
                </c:pt>
                <c:pt idx="146">
                  <c:v>45803</c:v>
                </c:pt>
                <c:pt idx="147">
                  <c:v>45804</c:v>
                </c:pt>
                <c:pt idx="148">
                  <c:v>45805</c:v>
                </c:pt>
                <c:pt idx="149">
                  <c:v>45806</c:v>
                </c:pt>
                <c:pt idx="150">
                  <c:v>45807</c:v>
                </c:pt>
                <c:pt idx="151">
                  <c:v>45808</c:v>
                </c:pt>
                <c:pt idx="152">
                  <c:v>45809</c:v>
                </c:pt>
                <c:pt idx="153">
                  <c:v>45810</c:v>
                </c:pt>
                <c:pt idx="154">
                  <c:v>45811</c:v>
                </c:pt>
                <c:pt idx="155">
                  <c:v>45812</c:v>
                </c:pt>
                <c:pt idx="156">
                  <c:v>45813</c:v>
                </c:pt>
                <c:pt idx="157">
                  <c:v>45814</c:v>
                </c:pt>
                <c:pt idx="158">
                  <c:v>45815</c:v>
                </c:pt>
                <c:pt idx="159">
                  <c:v>45816</c:v>
                </c:pt>
                <c:pt idx="160">
                  <c:v>45817</c:v>
                </c:pt>
                <c:pt idx="161">
                  <c:v>45818</c:v>
                </c:pt>
                <c:pt idx="162">
                  <c:v>45819</c:v>
                </c:pt>
                <c:pt idx="163">
                  <c:v>45820</c:v>
                </c:pt>
                <c:pt idx="164">
                  <c:v>45821</c:v>
                </c:pt>
                <c:pt idx="165">
                  <c:v>45822</c:v>
                </c:pt>
                <c:pt idx="166">
                  <c:v>45823</c:v>
                </c:pt>
                <c:pt idx="167">
                  <c:v>45824</c:v>
                </c:pt>
                <c:pt idx="168">
                  <c:v>45825</c:v>
                </c:pt>
                <c:pt idx="169">
                  <c:v>45826</c:v>
                </c:pt>
                <c:pt idx="170">
                  <c:v>45827</c:v>
                </c:pt>
                <c:pt idx="171">
                  <c:v>45828</c:v>
                </c:pt>
                <c:pt idx="172">
                  <c:v>45829</c:v>
                </c:pt>
                <c:pt idx="173">
                  <c:v>45830</c:v>
                </c:pt>
                <c:pt idx="174">
                  <c:v>45831</c:v>
                </c:pt>
                <c:pt idx="175">
                  <c:v>45832</c:v>
                </c:pt>
                <c:pt idx="176">
                  <c:v>45833</c:v>
                </c:pt>
                <c:pt idx="177">
                  <c:v>45834</c:v>
                </c:pt>
                <c:pt idx="178">
                  <c:v>45835</c:v>
                </c:pt>
                <c:pt idx="179">
                  <c:v>45836</c:v>
                </c:pt>
                <c:pt idx="180">
                  <c:v>45837</c:v>
                </c:pt>
                <c:pt idx="181">
                  <c:v>45838</c:v>
                </c:pt>
                <c:pt idx="182">
                  <c:v>45839</c:v>
                </c:pt>
                <c:pt idx="183">
                  <c:v>45840</c:v>
                </c:pt>
                <c:pt idx="184">
                  <c:v>45841</c:v>
                </c:pt>
                <c:pt idx="185">
                  <c:v>45842</c:v>
                </c:pt>
                <c:pt idx="186">
                  <c:v>45843</c:v>
                </c:pt>
                <c:pt idx="187">
                  <c:v>45844</c:v>
                </c:pt>
                <c:pt idx="188">
                  <c:v>45845</c:v>
                </c:pt>
                <c:pt idx="189">
                  <c:v>45846</c:v>
                </c:pt>
                <c:pt idx="190">
                  <c:v>45847</c:v>
                </c:pt>
                <c:pt idx="191">
                  <c:v>45848</c:v>
                </c:pt>
                <c:pt idx="192">
                  <c:v>45849</c:v>
                </c:pt>
                <c:pt idx="193">
                  <c:v>45850</c:v>
                </c:pt>
                <c:pt idx="194">
                  <c:v>45851</c:v>
                </c:pt>
                <c:pt idx="195">
                  <c:v>45852</c:v>
                </c:pt>
                <c:pt idx="196">
                  <c:v>45853</c:v>
                </c:pt>
                <c:pt idx="197">
                  <c:v>45854</c:v>
                </c:pt>
                <c:pt idx="198">
                  <c:v>45855</c:v>
                </c:pt>
                <c:pt idx="199">
                  <c:v>45856</c:v>
                </c:pt>
                <c:pt idx="200">
                  <c:v>45857</c:v>
                </c:pt>
                <c:pt idx="201">
                  <c:v>45858</c:v>
                </c:pt>
                <c:pt idx="202">
                  <c:v>45859</c:v>
                </c:pt>
                <c:pt idx="203">
                  <c:v>45860</c:v>
                </c:pt>
                <c:pt idx="204">
                  <c:v>45861</c:v>
                </c:pt>
                <c:pt idx="205">
                  <c:v>45862</c:v>
                </c:pt>
                <c:pt idx="206">
                  <c:v>45863</c:v>
                </c:pt>
                <c:pt idx="207">
                  <c:v>45864</c:v>
                </c:pt>
                <c:pt idx="208">
                  <c:v>45865</c:v>
                </c:pt>
                <c:pt idx="209">
                  <c:v>45866</c:v>
                </c:pt>
                <c:pt idx="210">
                  <c:v>45867</c:v>
                </c:pt>
                <c:pt idx="211">
                  <c:v>45868</c:v>
                </c:pt>
                <c:pt idx="212">
                  <c:v>45869</c:v>
                </c:pt>
                <c:pt idx="213">
                  <c:v>45870</c:v>
                </c:pt>
                <c:pt idx="214">
                  <c:v>45871</c:v>
                </c:pt>
                <c:pt idx="215">
                  <c:v>45872</c:v>
                </c:pt>
                <c:pt idx="216">
                  <c:v>45873</c:v>
                </c:pt>
                <c:pt idx="217">
                  <c:v>45874</c:v>
                </c:pt>
                <c:pt idx="218">
                  <c:v>45875</c:v>
                </c:pt>
                <c:pt idx="219">
                  <c:v>45876</c:v>
                </c:pt>
                <c:pt idx="220">
                  <c:v>45877</c:v>
                </c:pt>
                <c:pt idx="221">
                  <c:v>45878</c:v>
                </c:pt>
                <c:pt idx="222">
                  <c:v>45879</c:v>
                </c:pt>
                <c:pt idx="223">
                  <c:v>45880</c:v>
                </c:pt>
                <c:pt idx="224">
                  <c:v>45881</c:v>
                </c:pt>
                <c:pt idx="225">
                  <c:v>45882</c:v>
                </c:pt>
                <c:pt idx="226">
                  <c:v>45883</c:v>
                </c:pt>
                <c:pt idx="227">
                  <c:v>45884</c:v>
                </c:pt>
                <c:pt idx="228">
                  <c:v>45885</c:v>
                </c:pt>
                <c:pt idx="229">
                  <c:v>45886</c:v>
                </c:pt>
                <c:pt idx="230">
                  <c:v>45887</c:v>
                </c:pt>
                <c:pt idx="231">
                  <c:v>45888</c:v>
                </c:pt>
                <c:pt idx="232">
                  <c:v>45889</c:v>
                </c:pt>
                <c:pt idx="233">
                  <c:v>45890</c:v>
                </c:pt>
                <c:pt idx="234">
                  <c:v>45891</c:v>
                </c:pt>
                <c:pt idx="235">
                  <c:v>45892</c:v>
                </c:pt>
                <c:pt idx="236">
                  <c:v>45893</c:v>
                </c:pt>
                <c:pt idx="237">
                  <c:v>45894</c:v>
                </c:pt>
                <c:pt idx="238">
                  <c:v>45895</c:v>
                </c:pt>
                <c:pt idx="239">
                  <c:v>45896</c:v>
                </c:pt>
                <c:pt idx="240">
                  <c:v>45897</c:v>
                </c:pt>
                <c:pt idx="241">
                  <c:v>45898</c:v>
                </c:pt>
                <c:pt idx="242">
                  <c:v>45899</c:v>
                </c:pt>
                <c:pt idx="243">
                  <c:v>45900</c:v>
                </c:pt>
                <c:pt idx="244">
                  <c:v>45901</c:v>
                </c:pt>
                <c:pt idx="245">
                  <c:v>45902</c:v>
                </c:pt>
                <c:pt idx="246">
                  <c:v>45903</c:v>
                </c:pt>
                <c:pt idx="247">
                  <c:v>45904</c:v>
                </c:pt>
                <c:pt idx="248">
                  <c:v>45905</c:v>
                </c:pt>
                <c:pt idx="249">
                  <c:v>45906</c:v>
                </c:pt>
                <c:pt idx="250">
                  <c:v>45907</c:v>
                </c:pt>
                <c:pt idx="251">
                  <c:v>45908</c:v>
                </c:pt>
                <c:pt idx="252">
                  <c:v>45909</c:v>
                </c:pt>
                <c:pt idx="253">
                  <c:v>45910</c:v>
                </c:pt>
                <c:pt idx="254">
                  <c:v>45911</c:v>
                </c:pt>
                <c:pt idx="255">
                  <c:v>45912</c:v>
                </c:pt>
                <c:pt idx="256">
                  <c:v>45913</c:v>
                </c:pt>
                <c:pt idx="257">
                  <c:v>45914</c:v>
                </c:pt>
                <c:pt idx="258">
                  <c:v>45915</c:v>
                </c:pt>
                <c:pt idx="259">
                  <c:v>45916</c:v>
                </c:pt>
                <c:pt idx="260">
                  <c:v>45917</c:v>
                </c:pt>
                <c:pt idx="261">
                  <c:v>45918</c:v>
                </c:pt>
                <c:pt idx="262">
                  <c:v>45919</c:v>
                </c:pt>
                <c:pt idx="263">
                  <c:v>45920</c:v>
                </c:pt>
                <c:pt idx="264">
                  <c:v>45921</c:v>
                </c:pt>
                <c:pt idx="265">
                  <c:v>45922</c:v>
                </c:pt>
                <c:pt idx="266">
                  <c:v>45923</c:v>
                </c:pt>
                <c:pt idx="267">
                  <c:v>45924</c:v>
                </c:pt>
                <c:pt idx="268">
                  <c:v>45925</c:v>
                </c:pt>
                <c:pt idx="269">
                  <c:v>45926</c:v>
                </c:pt>
                <c:pt idx="270">
                  <c:v>45927</c:v>
                </c:pt>
                <c:pt idx="271">
                  <c:v>45928</c:v>
                </c:pt>
                <c:pt idx="272">
                  <c:v>45929</c:v>
                </c:pt>
                <c:pt idx="273">
                  <c:v>45930</c:v>
                </c:pt>
                <c:pt idx="274">
                  <c:v>45931</c:v>
                </c:pt>
                <c:pt idx="275">
                  <c:v>45932</c:v>
                </c:pt>
                <c:pt idx="276">
                  <c:v>45933</c:v>
                </c:pt>
                <c:pt idx="277">
                  <c:v>45934</c:v>
                </c:pt>
                <c:pt idx="278">
                  <c:v>45935</c:v>
                </c:pt>
                <c:pt idx="279">
                  <c:v>45936</c:v>
                </c:pt>
                <c:pt idx="280">
                  <c:v>45937</c:v>
                </c:pt>
                <c:pt idx="281">
                  <c:v>45938</c:v>
                </c:pt>
                <c:pt idx="282">
                  <c:v>45939</c:v>
                </c:pt>
                <c:pt idx="283">
                  <c:v>45940</c:v>
                </c:pt>
                <c:pt idx="284">
                  <c:v>45941</c:v>
                </c:pt>
                <c:pt idx="285">
                  <c:v>45942</c:v>
                </c:pt>
                <c:pt idx="286">
                  <c:v>45943</c:v>
                </c:pt>
                <c:pt idx="287">
                  <c:v>45944</c:v>
                </c:pt>
                <c:pt idx="288">
                  <c:v>45945</c:v>
                </c:pt>
                <c:pt idx="289">
                  <c:v>45946</c:v>
                </c:pt>
                <c:pt idx="290">
                  <c:v>45947</c:v>
                </c:pt>
                <c:pt idx="291">
                  <c:v>45948</c:v>
                </c:pt>
                <c:pt idx="292">
                  <c:v>45949</c:v>
                </c:pt>
                <c:pt idx="293">
                  <c:v>45950</c:v>
                </c:pt>
                <c:pt idx="294">
                  <c:v>45951</c:v>
                </c:pt>
                <c:pt idx="295">
                  <c:v>45952</c:v>
                </c:pt>
                <c:pt idx="296">
                  <c:v>45953</c:v>
                </c:pt>
                <c:pt idx="297">
                  <c:v>45954</c:v>
                </c:pt>
                <c:pt idx="298">
                  <c:v>45955</c:v>
                </c:pt>
                <c:pt idx="299">
                  <c:v>45956</c:v>
                </c:pt>
                <c:pt idx="300">
                  <c:v>45957</c:v>
                </c:pt>
                <c:pt idx="301">
                  <c:v>45958</c:v>
                </c:pt>
                <c:pt idx="302">
                  <c:v>45959</c:v>
                </c:pt>
                <c:pt idx="303">
                  <c:v>45960</c:v>
                </c:pt>
                <c:pt idx="304">
                  <c:v>45961</c:v>
                </c:pt>
                <c:pt idx="305">
                  <c:v>45962</c:v>
                </c:pt>
                <c:pt idx="306">
                  <c:v>45963</c:v>
                </c:pt>
                <c:pt idx="307">
                  <c:v>45964</c:v>
                </c:pt>
                <c:pt idx="308">
                  <c:v>45965</c:v>
                </c:pt>
                <c:pt idx="309">
                  <c:v>45966</c:v>
                </c:pt>
                <c:pt idx="310">
                  <c:v>45967</c:v>
                </c:pt>
                <c:pt idx="311">
                  <c:v>45968</c:v>
                </c:pt>
                <c:pt idx="312">
                  <c:v>45969</c:v>
                </c:pt>
                <c:pt idx="313">
                  <c:v>45970</c:v>
                </c:pt>
                <c:pt idx="314">
                  <c:v>45971</c:v>
                </c:pt>
                <c:pt idx="315">
                  <c:v>45972</c:v>
                </c:pt>
                <c:pt idx="316">
                  <c:v>45973</c:v>
                </c:pt>
                <c:pt idx="317">
                  <c:v>45974</c:v>
                </c:pt>
                <c:pt idx="318">
                  <c:v>45975</c:v>
                </c:pt>
                <c:pt idx="319">
                  <c:v>45976</c:v>
                </c:pt>
                <c:pt idx="320">
                  <c:v>45977</c:v>
                </c:pt>
                <c:pt idx="321">
                  <c:v>45978</c:v>
                </c:pt>
                <c:pt idx="322">
                  <c:v>45979</c:v>
                </c:pt>
                <c:pt idx="323">
                  <c:v>45980</c:v>
                </c:pt>
                <c:pt idx="324">
                  <c:v>45981</c:v>
                </c:pt>
                <c:pt idx="325">
                  <c:v>45982</c:v>
                </c:pt>
                <c:pt idx="326">
                  <c:v>45983</c:v>
                </c:pt>
                <c:pt idx="327">
                  <c:v>45984</c:v>
                </c:pt>
                <c:pt idx="328">
                  <c:v>45985</c:v>
                </c:pt>
                <c:pt idx="329">
                  <c:v>45986</c:v>
                </c:pt>
                <c:pt idx="330">
                  <c:v>45987</c:v>
                </c:pt>
                <c:pt idx="331">
                  <c:v>45988</c:v>
                </c:pt>
                <c:pt idx="332">
                  <c:v>45989</c:v>
                </c:pt>
                <c:pt idx="333">
                  <c:v>45990</c:v>
                </c:pt>
                <c:pt idx="334">
                  <c:v>45991</c:v>
                </c:pt>
                <c:pt idx="335">
                  <c:v>45992</c:v>
                </c:pt>
                <c:pt idx="336">
                  <c:v>45993</c:v>
                </c:pt>
                <c:pt idx="337">
                  <c:v>45994</c:v>
                </c:pt>
                <c:pt idx="338">
                  <c:v>45995</c:v>
                </c:pt>
                <c:pt idx="339">
                  <c:v>45996</c:v>
                </c:pt>
                <c:pt idx="340">
                  <c:v>45997</c:v>
                </c:pt>
                <c:pt idx="341">
                  <c:v>45998</c:v>
                </c:pt>
                <c:pt idx="342">
                  <c:v>45999</c:v>
                </c:pt>
                <c:pt idx="343">
                  <c:v>46000</c:v>
                </c:pt>
                <c:pt idx="344">
                  <c:v>46001</c:v>
                </c:pt>
                <c:pt idx="345">
                  <c:v>46002</c:v>
                </c:pt>
                <c:pt idx="346">
                  <c:v>46003</c:v>
                </c:pt>
                <c:pt idx="347">
                  <c:v>46004</c:v>
                </c:pt>
                <c:pt idx="348">
                  <c:v>46005</c:v>
                </c:pt>
                <c:pt idx="349">
                  <c:v>46006</c:v>
                </c:pt>
                <c:pt idx="350">
                  <c:v>46007</c:v>
                </c:pt>
                <c:pt idx="351">
                  <c:v>46008</c:v>
                </c:pt>
                <c:pt idx="352">
                  <c:v>46009</c:v>
                </c:pt>
                <c:pt idx="353">
                  <c:v>46010</c:v>
                </c:pt>
                <c:pt idx="354">
                  <c:v>46011</c:v>
                </c:pt>
                <c:pt idx="355">
                  <c:v>46012</c:v>
                </c:pt>
                <c:pt idx="356">
                  <c:v>46013</c:v>
                </c:pt>
                <c:pt idx="357">
                  <c:v>46014</c:v>
                </c:pt>
                <c:pt idx="358">
                  <c:v>46015</c:v>
                </c:pt>
                <c:pt idx="359">
                  <c:v>46016</c:v>
                </c:pt>
                <c:pt idx="360">
                  <c:v>46017</c:v>
                </c:pt>
                <c:pt idx="361">
                  <c:v>46018</c:v>
                </c:pt>
                <c:pt idx="362">
                  <c:v>46019</c:v>
                </c:pt>
                <c:pt idx="363">
                  <c:v>46020</c:v>
                </c:pt>
                <c:pt idx="364">
                  <c:v>46021</c:v>
                </c:pt>
                <c:pt idx="365">
                  <c:v>46022</c:v>
                </c:pt>
                <c:pt idx="366">
                  <c:v>46023</c:v>
                </c:pt>
                <c:pt idx="367">
                  <c:v>46024</c:v>
                </c:pt>
                <c:pt idx="368">
                  <c:v>46025</c:v>
                </c:pt>
                <c:pt idx="369">
                  <c:v>46026</c:v>
                </c:pt>
                <c:pt idx="370">
                  <c:v>46027</c:v>
                </c:pt>
                <c:pt idx="371">
                  <c:v>46028</c:v>
                </c:pt>
                <c:pt idx="372">
                  <c:v>46029</c:v>
                </c:pt>
                <c:pt idx="373">
                  <c:v>46030</c:v>
                </c:pt>
                <c:pt idx="374">
                  <c:v>46031</c:v>
                </c:pt>
                <c:pt idx="375">
                  <c:v>46032</c:v>
                </c:pt>
                <c:pt idx="376">
                  <c:v>46033</c:v>
                </c:pt>
                <c:pt idx="377">
                  <c:v>46034</c:v>
                </c:pt>
                <c:pt idx="378">
                  <c:v>46035</c:v>
                </c:pt>
                <c:pt idx="379">
                  <c:v>46036</c:v>
                </c:pt>
                <c:pt idx="380">
                  <c:v>46037</c:v>
                </c:pt>
                <c:pt idx="381">
                  <c:v>46038</c:v>
                </c:pt>
                <c:pt idx="382">
                  <c:v>46039</c:v>
                </c:pt>
                <c:pt idx="383">
                  <c:v>46040</c:v>
                </c:pt>
                <c:pt idx="384">
                  <c:v>46041</c:v>
                </c:pt>
                <c:pt idx="385">
                  <c:v>46042</c:v>
                </c:pt>
                <c:pt idx="386">
                  <c:v>46043</c:v>
                </c:pt>
                <c:pt idx="387">
                  <c:v>46044</c:v>
                </c:pt>
                <c:pt idx="388">
                  <c:v>46045</c:v>
                </c:pt>
                <c:pt idx="389">
                  <c:v>46046</c:v>
                </c:pt>
                <c:pt idx="390">
                  <c:v>46047</c:v>
                </c:pt>
                <c:pt idx="391">
                  <c:v>46048</c:v>
                </c:pt>
                <c:pt idx="392">
                  <c:v>46049</c:v>
                </c:pt>
                <c:pt idx="393">
                  <c:v>46050</c:v>
                </c:pt>
                <c:pt idx="394">
                  <c:v>46051</c:v>
                </c:pt>
                <c:pt idx="395">
                  <c:v>46052</c:v>
                </c:pt>
                <c:pt idx="396">
                  <c:v>46053</c:v>
                </c:pt>
                <c:pt idx="397">
                  <c:v>46054</c:v>
                </c:pt>
                <c:pt idx="398">
                  <c:v>46055</c:v>
                </c:pt>
                <c:pt idx="399">
                  <c:v>46056</c:v>
                </c:pt>
                <c:pt idx="400">
                  <c:v>46057</c:v>
                </c:pt>
                <c:pt idx="401">
                  <c:v>46058</c:v>
                </c:pt>
                <c:pt idx="402">
                  <c:v>46059</c:v>
                </c:pt>
                <c:pt idx="403">
                  <c:v>46060</c:v>
                </c:pt>
                <c:pt idx="404">
                  <c:v>46061</c:v>
                </c:pt>
                <c:pt idx="405">
                  <c:v>46062</c:v>
                </c:pt>
                <c:pt idx="406">
                  <c:v>46063</c:v>
                </c:pt>
                <c:pt idx="407">
                  <c:v>46064</c:v>
                </c:pt>
                <c:pt idx="408">
                  <c:v>46065</c:v>
                </c:pt>
                <c:pt idx="409">
                  <c:v>46066</c:v>
                </c:pt>
                <c:pt idx="410">
                  <c:v>46067</c:v>
                </c:pt>
                <c:pt idx="411">
                  <c:v>46068</c:v>
                </c:pt>
                <c:pt idx="412">
                  <c:v>46069</c:v>
                </c:pt>
                <c:pt idx="413">
                  <c:v>46070</c:v>
                </c:pt>
                <c:pt idx="414">
                  <c:v>46071</c:v>
                </c:pt>
                <c:pt idx="415">
                  <c:v>46072</c:v>
                </c:pt>
                <c:pt idx="416">
                  <c:v>46073</c:v>
                </c:pt>
                <c:pt idx="417">
                  <c:v>46074</c:v>
                </c:pt>
                <c:pt idx="418">
                  <c:v>46075</c:v>
                </c:pt>
                <c:pt idx="419">
                  <c:v>46076</c:v>
                </c:pt>
                <c:pt idx="420">
                  <c:v>46077</c:v>
                </c:pt>
                <c:pt idx="421">
                  <c:v>46078</c:v>
                </c:pt>
                <c:pt idx="422">
                  <c:v>46079</c:v>
                </c:pt>
                <c:pt idx="423">
                  <c:v>46080</c:v>
                </c:pt>
                <c:pt idx="424">
                  <c:v>46081</c:v>
                </c:pt>
                <c:pt idx="425">
                  <c:v>46082</c:v>
                </c:pt>
                <c:pt idx="426">
                  <c:v>46083</c:v>
                </c:pt>
                <c:pt idx="427">
                  <c:v>46084</c:v>
                </c:pt>
                <c:pt idx="428">
                  <c:v>46085</c:v>
                </c:pt>
                <c:pt idx="429">
                  <c:v>46086</c:v>
                </c:pt>
                <c:pt idx="430">
                  <c:v>46087</c:v>
                </c:pt>
                <c:pt idx="431">
                  <c:v>46088</c:v>
                </c:pt>
                <c:pt idx="432">
                  <c:v>46089</c:v>
                </c:pt>
                <c:pt idx="433">
                  <c:v>46090</c:v>
                </c:pt>
                <c:pt idx="434">
                  <c:v>46091</c:v>
                </c:pt>
                <c:pt idx="435">
                  <c:v>46092</c:v>
                </c:pt>
                <c:pt idx="436">
                  <c:v>46093</c:v>
                </c:pt>
                <c:pt idx="437">
                  <c:v>46094</c:v>
                </c:pt>
                <c:pt idx="438">
                  <c:v>46095</c:v>
                </c:pt>
                <c:pt idx="439">
                  <c:v>46096</c:v>
                </c:pt>
                <c:pt idx="440">
                  <c:v>46097</c:v>
                </c:pt>
                <c:pt idx="441">
                  <c:v>46098</c:v>
                </c:pt>
                <c:pt idx="442">
                  <c:v>46099</c:v>
                </c:pt>
                <c:pt idx="443">
                  <c:v>46100</c:v>
                </c:pt>
                <c:pt idx="444">
                  <c:v>46101</c:v>
                </c:pt>
                <c:pt idx="445">
                  <c:v>46102</c:v>
                </c:pt>
                <c:pt idx="446">
                  <c:v>46103</c:v>
                </c:pt>
                <c:pt idx="447">
                  <c:v>46104</c:v>
                </c:pt>
                <c:pt idx="448">
                  <c:v>46105</c:v>
                </c:pt>
                <c:pt idx="449">
                  <c:v>46106</c:v>
                </c:pt>
                <c:pt idx="450">
                  <c:v>46107</c:v>
                </c:pt>
                <c:pt idx="451">
                  <c:v>46108</c:v>
                </c:pt>
                <c:pt idx="452">
                  <c:v>46109</c:v>
                </c:pt>
                <c:pt idx="453">
                  <c:v>46110</c:v>
                </c:pt>
                <c:pt idx="454">
                  <c:v>46111</c:v>
                </c:pt>
                <c:pt idx="455">
                  <c:v>46112</c:v>
                </c:pt>
                <c:pt idx="456">
                  <c:v>46113</c:v>
                </c:pt>
                <c:pt idx="457">
                  <c:v>46114</c:v>
                </c:pt>
                <c:pt idx="458">
                  <c:v>46115</c:v>
                </c:pt>
                <c:pt idx="459">
                  <c:v>46116</c:v>
                </c:pt>
                <c:pt idx="460">
                  <c:v>46117</c:v>
                </c:pt>
                <c:pt idx="461">
                  <c:v>46118</c:v>
                </c:pt>
                <c:pt idx="462">
                  <c:v>46119</c:v>
                </c:pt>
                <c:pt idx="463">
                  <c:v>46120</c:v>
                </c:pt>
                <c:pt idx="464">
                  <c:v>46121</c:v>
                </c:pt>
                <c:pt idx="465">
                  <c:v>46122</c:v>
                </c:pt>
                <c:pt idx="466">
                  <c:v>46123</c:v>
                </c:pt>
                <c:pt idx="467">
                  <c:v>46124</c:v>
                </c:pt>
                <c:pt idx="468">
                  <c:v>46125</c:v>
                </c:pt>
                <c:pt idx="469">
                  <c:v>46126</c:v>
                </c:pt>
                <c:pt idx="470">
                  <c:v>46127</c:v>
                </c:pt>
                <c:pt idx="471">
                  <c:v>46128</c:v>
                </c:pt>
                <c:pt idx="472">
                  <c:v>46129</c:v>
                </c:pt>
                <c:pt idx="473">
                  <c:v>46130</c:v>
                </c:pt>
                <c:pt idx="474">
                  <c:v>46131</c:v>
                </c:pt>
                <c:pt idx="475">
                  <c:v>46132</c:v>
                </c:pt>
                <c:pt idx="476">
                  <c:v>46133</c:v>
                </c:pt>
                <c:pt idx="477">
                  <c:v>46134</c:v>
                </c:pt>
                <c:pt idx="478">
                  <c:v>46135</c:v>
                </c:pt>
                <c:pt idx="479">
                  <c:v>46136</c:v>
                </c:pt>
                <c:pt idx="480">
                  <c:v>46137</c:v>
                </c:pt>
                <c:pt idx="481">
                  <c:v>46138</c:v>
                </c:pt>
                <c:pt idx="482">
                  <c:v>46139</c:v>
                </c:pt>
                <c:pt idx="483">
                  <c:v>46140</c:v>
                </c:pt>
                <c:pt idx="484">
                  <c:v>46141</c:v>
                </c:pt>
                <c:pt idx="485">
                  <c:v>46142</c:v>
                </c:pt>
                <c:pt idx="486">
                  <c:v>46143</c:v>
                </c:pt>
                <c:pt idx="487">
                  <c:v>46144</c:v>
                </c:pt>
                <c:pt idx="488">
                  <c:v>46145</c:v>
                </c:pt>
                <c:pt idx="489">
                  <c:v>46146</c:v>
                </c:pt>
              </c:numCache>
            </c:numRef>
          </c:cat>
          <c:val>
            <c:numRef>
              <c:f>'BBG (Global Markets)'!$AA$12:$AA$501</c:f>
              <c:numCache>
                <c:formatCode>_(* #,##0.00_);_(* \(#,##0.00\);_(* "   -"?_);_(@_)</c:formatCode>
                <c:ptCount val="490"/>
                <c:pt idx="1">
                  <c:v>0</c:v>
                </c:pt>
                <c:pt idx="2">
                  <c:v>4.33</c:v>
                </c:pt>
                <c:pt idx="3">
                  <c:v>4.33</c:v>
                </c:pt>
                <c:pt idx="4">
                  <c:v>4.33</c:v>
                </c:pt>
                <c:pt idx="5">
                  <c:v>4.33</c:v>
                </c:pt>
                <c:pt idx="6">
                  <c:v>4.33</c:v>
                </c:pt>
                <c:pt idx="7">
                  <c:v>4.33</c:v>
                </c:pt>
                <c:pt idx="8">
                  <c:v>4.33</c:v>
                </c:pt>
                <c:pt idx="9">
                  <c:v>4.33</c:v>
                </c:pt>
                <c:pt idx="10">
                  <c:v>4.33</c:v>
                </c:pt>
                <c:pt idx="11">
                  <c:v>4.33</c:v>
                </c:pt>
                <c:pt idx="12">
                  <c:v>4.33</c:v>
                </c:pt>
                <c:pt idx="13">
                  <c:v>4.33</c:v>
                </c:pt>
                <c:pt idx="14">
                  <c:v>4.33</c:v>
                </c:pt>
                <c:pt idx="15">
                  <c:v>4.33</c:v>
                </c:pt>
                <c:pt idx="16">
                  <c:v>4.33</c:v>
                </c:pt>
                <c:pt idx="17">
                  <c:v>4.33</c:v>
                </c:pt>
                <c:pt idx="18">
                  <c:v>4.33</c:v>
                </c:pt>
                <c:pt idx="19">
                  <c:v>4.33</c:v>
                </c:pt>
                <c:pt idx="20">
                  <c:v>4.33</c:v>
                </c:pt>
                <c:pt idx="21">
                  <c:v>4.33</c:v>
                </c:pt>
                <c:pt idx="22">
                  <c:v>4.33</c:v>
                </c:pt>
                <c:pt idx="23">
                  <c:v>4.33</c:v>
                </c:pt>
                <c:pt idx="24">
                  <c:v>4.33</c:v>
                </c:pt>
                <c:pt idx="25">
                  <c:v>4.33</c:v>
                </c:pt>
                <c:pt idx="26">
                  <c:v>4.33</c:v>
                </c:pt>
                <c:pt idx="27">
                  <c:v>4.33</c:v>
                </c:pt>
                <c:pt idx="28">
                  <c:v>4.33</c:v>
                </c:pt>
                <c:pt idx="29">
                  <c:v>4.33</c:v>
                </c:pt>
                <c:pt idx="30">
                  <c:v>4.33</c:v>
                </c:pt>
                <c:pt idx="31">
                  <c:v>4.33</c:v>
                </c:pt>
                <c:pt idx="32">
                  <c:v>4.33</c:v>
                </c:pt>
                <c:pt idx="33">
                  <c:v>4.33</c:v>
                </c:pt>
                <c:pt idx="34">
                  <c:v>4.33</c:v>
                </c:pt>
                <c:pt idx="35">
                  <c:v>4.33</c:v>
                </c:pt>
                <c:pt idx="36">
                  <c:v>4.33</c:v>
                </c:pt>
                <c:pt idx="37">
                  <c:v>4.33</c:v>
                </c:pt>
                <c:pt idx="38">
                  <c:v>4.33</c:v>
                </c:pt>
                <c:pt idx="39">
                  <c:v>4.33</c:v>
                </c:pt>
                <c:pt idx="40">
                  <c:v>4.33</c:v>
                </c:pt>
                <c:pt idx="41">
                  <c:v>4.33</c:v>
                </c:pt>
                <c:pt idx="42">
                  <c:v>4.33</c:v>
                </c:pt>
                <c:pt idx="43">
                  <c:v>4.33</c:v>
                </c:pt>
                <c:pt idx="44">
                  <c:v>4.33</c:v>
                </c:pt>
                <c:pt idx="45">
                  <c:v>4.33</c:v>
                </c:pt>
                <c:pt idx="46">
                  <c:v>4.33</c:v>
                </c:pt>
                <c:pt idx="47">
                  <c:v>4.33</c:v>
                </c:pt>
                <c:pt idx="48">
                  <c:v>4.33</c:v>
                </c:pt>
                <c:pt idx="49">
                  <c:v>4.33</c:v>
                </c:pt>
                <c:pt idx="50">
                  <c:v>4.33</c:v>
                </c:pt>
                <c:pt idx="51">
                  <c:v>4.33</c:v>
                </c:pt>
                <c:pt idx="52">
                  <c:v>4.33</c:v>
                </c:pt>
                <c:pt idx="53">
                  <c:v>4.33</c:v>
                </c:pt>
                <c:pt idx="54">
                  <c:v>4.33</c:v>
                </c:pt>
                <c:pt idx="55">
                  <c:v>4.33</c:v>
                </c:pt>
                <c:pt idx="56">
                  <c:v>4.33</c:v>
                </c:pt>
                <c:pt idx="57">
                  <c:v>4.33</c:v>
                </c:pt>
                <c:pt idx="58">
                  <c:v>4.33</c:v>
                </c:pt>
                <c:pt idx="59">
                  <c:v>4.33</c:v>
                </c:pt>
                <c:pt idx="60">
                  <c:v>4.33</c:v>
                </c:pt>
                <c:pt idx="61">
                  <c:v>4.33</c:v>
                </c:pt>
                <c:pt idx="62">
                  <c:v>4.33</c:v>
                </c:pt>
                <c:pt idx="63">
                  <c:v>4.33</c:v>
                </c:pt>
                <c:pt idx="64">
                  <c:v>4.33</c:v>
                </c:pt>
                <c:pt idx="65">
                  <c:v>4.33</c:v>
                </c:pt>
                <c:pt idx="66">
                  <c:v>4.33</c:v>
                </c:pt>
                <c:pt idx="67">
                  <c:v>4.33</c:v>
                </c:pt>
                <c:pt idx="68">
                  <c:v>4.33</c:v>
                </c:pt>
                <c:pt idx="69">
                  <c:v>4.33</c:v>
                </c:pt>
                <c:pt idx="70">
                  <c:v>4.33</c:v>
                </c:pt>
                <c:pt idx="71">
                  <c:v>4.33</c:v>
                </c:pt>
                <c:pt idx="72">
                  <c:v>4.33</c:v>
                </c:pt>
                <c:pt idx="73">
                  <c:v>4.33</c:v>
                </c:pt>
                <c:pt idx="74">
                  <c:v>4.33</c:v>
                </c:pt>
                <c:pt idx="75">
                  <c:v>4.33</c:v>
                </c:pt>
                <c:pt idx="76">
                  <c:v>4.33</c:v>
                </c:pt>
                <c:pt idx="77">
                  <c:v>4.33</c:v>
                </c:pt>
                <c:pt idx="78">
                  <c:v>4.33</c:v>
                </c:pt>
                <c:pt idx="79">
                  <c:v>4.33</c:v>
                </c:pt>
                <c:pt idx="80">
                  <c:v>4.33</c:v>
                </c:pt>
                <c:pt idx="81">
                  <c:v>4.33</c:v>
                </c:pt>
                <c:pt idx="82">
                  <c:v>4.33</c:v>
                </c:pt>
                <c:pt idx="83">
                  <c:v>4.33</c:v>
                </c:pt>
                <c:pt idx="84">
                  <c:v>4.33</c:v>
                </c:pt>
                <c:pt idx="85">
                  <c:v>4.33</c:v>
                </c:pt>
                <c:pt idx="86">
                  <c:v>4.33</c:v>
                </c:pt>
                <c:pt idx="87">
                  <c:v>4.33</c:v>
                </c:pt>
                <c:pt idx="88">
                  <c:v>4.33</c:v>
                </c:pt>
                <c:pt idx="89">
                  <c:v>4.33</c:v>
                </c:pt>
                <c:pt idx="90">
                  <c:v>4.33</c:v>
                </c:pt>
                <c:pt idx="91">
                  <c:v>4.33</c:v>
                </c:pt>
                <c:pt idx="92">
                  <c:v>4.33</c:v>
                </c:pt>
                <c:pt idx="93">
                  <c:v>4.33</c:v>
                </c:pt>
                <c:pt idx="94">
                  <c:v>4.33</c:v>
                </c:pt>
                <c:pt idx="95">
                  <c:v>4.33</c:v>
                </c:pt>
                <c:pt idx="96">
                  <c:v>4.33</c:v>
                </c:pt>
                <c:pt idx="97">
                  <c:v>4.33</c:v>
                </c:pt>
                <c:pt idx="98">
                  <c:v>4.33</c:v>
                </c:pt>
                <c:pt idx="99">
                  <c:v>4.33</c:v>
                </c:pt>
                <c:pt idx="100">
                  <c:v>4.33</c:v>
                </c:pt>
                <c:pt idx="101">
                  <c:v>4.33</c:v>
                </c:pt>
                <c:pt idx="102">
                  <c:v>4.33</c:v>
                </c:pt>
                <c:pt idx="103">
                  <c:v>4.33</c:v>
                </c:pt>
                <c:pt idx="104">
                  <c:v>4.33</c:v>
                </c:pt>
                <c:pt idx="105">
                  <c:v>4.33</c:v>
                </c:pt>
                <c:pt idx="106">
                  <c:v>4.33</c:v>
                </c:pt>
                <c:pt idx="107">
                  <c:v>4.33</c:v>
                </c:pt>
                <c:pt idx="108">
                  <c:v>4.33</c:v>
                </c:pt>
                <c:pt idx="109">
                  <c:v>4.33</c:v>
                </c:pt>
                <c:pt idx="110">
                  <c:v>4.33</c:v>
                </c:pt>
                <c:pt idx="111">
                  <c:v>4.33</c:v>
                </c:pt>
                <c:pt idx="112">
                  <c:v>4.33</c:v>
                </c:pt>
                <c:pt idx="113">
                  <c:v>4.33</c:v>
                </c:pt>
                <c:pt idx="114">
                  <c:v>4.33</c:v>
                </c:pt>
                <c:pt idx="115">
                  <c:v>4.33</c:v>
                </c:pt>
                <c:pt idx="116">
                  <c:v>4.33</c:v>
                </c:pt>
                <c:pt idx="117">
                  <c:v>4.33</c:v>
                </c:pt>
                <c:pt idx="118">
                  <c:v>4.33</c:v>
                </c:pt>
                <c:pt idx="119">
                  <c:v>4.33</c:v>
                </c:pt>
                <c:pt idx="120">
                  <c:v>4.33</c:v>
                </c:pt>
                <c:pt idx="121">
                  <c:v>4.33</c:v>
                </c:pt>
                <c:pt idx="122">
                  <c:v>4.33</c:v>
                </c:pt>
                <c:pt idx="123">
                  <c:v>4.33</c:v>
                </c:pt>
                <c:pt idx="124">
                  <c:v>4.33</c:v>
                </c:pt>
                <c:pt idx="125">
                  <c:v>4.33</c:v>
                </c:pt>
                <c:pt idx="126">
                  <c:v>4.33</c:v>
                </c:pt>
                <c:pt idx="127">
                  <c:v>4.33</c:v>
                </c:pt>
                <c:pt idx="128">
                  <c:v>4.33</c:v>
                </c:pt>
                <c:pt idx="129">
                  <c:v>4.33</c:v>
                </c:pt>
                <c:pt idx="130">
                  <c:v>4.33</c:v>
                </c:pt>
                <c:pt idx="131">
                  <c:v>4.33</c:v>
                </c:pt>
                <c:pt idx="132">
                  <c:v>4.33</c:v>
                </c:pt>
                <c:pt idx="133">
                  <c:v>4.33</c:v>
                </c:pt>
                <c:pt idx="134">
                  <c:v>4.33</c:v>
                </c:pt>
                <c:pt idx="135">
                  <c:v>4.33</c:v>
                </c:pt>
                <c:pt idx="136">
                  <c:v>4.33</c:v>
                </c:pt>
                <c:pt idx="137">
                  <c:v>4.33</c:v>
                </c:pt>
                <c:pt idx="138">
                  <c:v>4.33</c:v>
                </c:pt>
                <c:pt idx="139">
                  <c:v>4.33</c:v>
                </c:pt>
                <c:pt idx="140">
                  <c:v>4.33</c:v>
                </c:pt>
                <c:pt idx="141">
                  <c:v>4.33</c:v>
                </c:pt>
                <c:pt idx="142">
                  <c:v>4.33</c:v>
                </c:pt>
                <c:pt idx="143">
                  <c:v>4.33</c:v>
                </c:pt>
                <c:pt idx="144">
                  <c:v>4.33</c:v>
                </c:pt>
                <c:pt idx="145">
                  <c:v>4.33</c:v>
                </c:pt>
                <c:pt idx="146">
                  <c:v>4.33</c:v>
                </c:pt>
                <c:pt idx="147">
                  <c:v>4.33</c:v>
                </c:pt>
                <c:pt idx="148">
                  <c:v>4.33</c:v>
                </c:pt>
                <c:pt idx="149">
                  <c:v>4.33</c:v>
                </c:pt>
                <c:pt idx="150">
                  <c:v>4.33</c:v>
                </c:pt>
                <c:pt idx="151">
                  <c:v>4.33</c:v>
                </c:pt>
                <c:pt idx="152">
                  <c:v>4.33</c:v>
                </c:pt>
                <c:pt idx="153">
                  <c:v>4.33</c:v>
                </c:pt>
                <c:pt idx="154">
                  <c:v>4.33</c:v>
                </c:pt>
                <c:pt idx="155">
                  <c:v>4.33</c:v>
                </c:pt>
                <c:pt idx="156">
                  <c:v>4.33</c:v>
                </c:pt>
                <c:pt idx="157">
                  <c:v>4.33</c:v>
                </c:pt>
                <c:pt idx="158">
                  <c:v>4.33</c:v>
                </c:pt>
                <c:pt idx="159">
                  <c:v>4.33</c:v>
                </c:pt>
                <c:pt idx="160">
                  <c:v>4.33</c:v>
                </c:pt>
                <c:pt idx="161">
                  <c:v>4.33</c:v>
                </c:pt>
                <c:pt idx="162">
                  <c:v>4.33</c:v>
                </c:pt>
                <c:pt idx="163">
                  <c:v>4.33</c:v>
                </c:pt>
                <c:pt idx="164">
                  <c:v>4.33</c:v>
                </c:pt>
                <c:pt idx="165">
                  <c:v>4.33</c:v>
                </c:pt>
                <c:pt idx="166">
                  <c:v>4.33</c:v>
                </c:pt>
                <c:pt idx="167">
                  <c:v>4.33</c:v>
                </c:pt>
                <c:pt idx="168">
                  <c:v>4.33</c:v>
                </c:pt>
                <c:pt idx="169">
                  <c:v>4.33</c:v>
                </c:pt>
                <c:pt idx="170">
                  <c:v>4.33</c:v>
                </c:pt>
                <c:pt idx="171">
                  <c:v>4.33</c:v>
                </c:pt>
                <c:pt idx="172">
                  <c:v>4.33</c:v>
                </c:pt>
                <c:pt idx="173">
                  <c:v>4.33</c:v>
                </c:pt>
                <c:pt idx="174">
                  <c:v>4.33</c:v>
                </c:pt>
                <c:pt idx="175">
                  <c:v>4.33</c:v>
                </c:pt>
                <c:pt idx="176">
                  <c:v>4.33</c:v>
                </c:pt>
                <c:pt idx="177">
                  <c:v>4.33</c:v>
                </c:pt>
                <c:pt idx="178">
                  <c:v>4.33</c:v>
                </c:pt>
                <c:pt idx="179">
                  <c:v>4.33</c:v>
                </c:pt>
                <c:pt idx="180">
                  <c:v>4.33</c:v>
                </c:pt>
                <c:pt idx="181">
                  <c:v>4.33</c:v>
                </c:pt>
                <c:pt idx="182">
                  <c:v>4.33</c:v>
                </c:pt>
                <c:pt idx="183">
                  <c:v>4.33</c:v>
                </c:pt>
                <c:pt idx="184">
                  <c:v>4.33</c:v>
                </c:pt>
                <c:pt idx="185">
                  <c:v>4.33</c:v>
                </c:pt>
                <c:pt idx="186">
                  <c:v>4.33</c:v>
                </c:pt>
                <c:pt idx="187">
                  <c:v>4.33</c:v>
                </c:pt>
                <c:pt idx="188">
                  <c:v>4.33</c:v>
                </c:pt>
                <c:pt idx="189">
                  <c:v>4.33</c:v>
                </c:pt>
                <c:pt idx="190">
                  <c:v>4.33</c:v>
                </c:pt>
                <c:pt idx="191">
                  <c:v>4.33</c:v>
                </c:pt>
                <c:pt idx="192">
                  <c:v>4.33</c:v>
                </c:pt>
                <c:pt idx="193">
                  <c:v>4.33</c:v>
                </c:pt>
                <c:pt idx="194">
                  <c:v>4.33</c:v>
                </c:pt>
                <c:pt idx="195">
                  <c:v>4.33</c:v>
                </c:pt>
                <c:pt idx="196">
                  <c:v>4.33</c:v>
                </c:pt>
                <c:pt idx="197">
                  <c:v>4.33</c:v>
                </c:pt>
                <c:pt idx="198">
                  <c:v>4.33</c:v>
                </c:pt>
                <c:pt idx="199">
                  <c:v>4.33</c:v>
                </c:pt>
                <c:pt idx="200">
                  <c:v>4.33</c:v>
                </c:pt>
                <c:pt idx="201">
                  <c:v>4.33</c:v>
                </c:pt>
                <c:pt idx="202">
                  <c:v>4.33</c:v>
                </c:pt>
                <c:pt idx="203">
                  <c:v>4.33</c:v>
                </c:pt>
                <c:pt idx="204">
                  <c:v>4.33</c:v>
                </c:pt>
                <c:pt idx="205">
                  <c:v>4.33</c:v>
                </c:pt>
                <c:pt idx="206">
                  <c:v>4.33</c:v>
                </c:pt>
                <c:pt idx="207">
                  <c:v>4.33</c:v>
                </c:pt>
                <c:pt idx="208">
                  <c:v>4.33</c:v>
                </c:pt>
                <c:pt idx="209">
                  <c:v>4.33</c:v>
                </c:pt>
                <c:pt idx="210">
                  <c:v>4.33</c:v>
                </c:pt>
                <c:pt idx="211">
                  <c:v>4.33</c:v>
                </c:pt>
                <c:pt idx="212">
                  <c:v>4.33</c:v>
                </c:pt>
                <c:pt idx="213">
                  <c:v>4.33</c:v>
                </c:pt>
                <c:pt idx="214">
                  <c:v>4.33</c:v>
                </c:pt>
                <c:pt idx="215">
                  <c:v>4.33</c:v>
                </c:pt>
                <c:pt idx="216">
                  <c:v>4.33</c:v>
                </c:pt>
                <c:pt idx="217">
                  <c:v>4.33</c:v>
                </c:pt>
                <c:pt idx="218">
                  <c:v>4.33</c:v>
                </c:pt>
                <c:pt idx="219">
                  <c:v>4.33</c:v>
                </c:pt>
                <c:pt idx="220">
                  <c:v>4.33</c:v>
                </c:pt>
                <c:pt idx="221">
                  <c:v>4.33</c:v>
                </c:pt>
                <c:pt idx="222">
                  <c:v>4.33</c:v>
                </c:pt>
                <c:pt idx="223">
                  <c:v>4.33</c:v>
                </c:pt>
                <c:pt idx="224">
                  <c:v>4.33</c:v>
                </c:pt>
                <c:pt idx="225">
                  <c:v>4.33</c:v>
                </c:pt>
                <c:pt idx="226">
                  <c:v>4.33</c:v>
                </c:pt>
                <c:pt idx="227">
                  <c:v>4.33</c:v>
                </c:pt>
                <c:pt idx="228">
                  <c:v>4.33</c:v>
                </c:pt>
                <c:pt idx="229">
                  <c:v>4.33</c:v>
                </c:pt>
                <c:pt idx="230">
                  <c:v>4.33</c:v>
                </c:pt>
                <c:pt idx="231">
                  <c:v>4.33</c:v>
                </c:pt>
                <c:pt idx="232">
                  <c:v>4.33</c:v>
                </c:pt>
                <c:pt idx="233">
                  <c:v>4.33</c:v>
                </c:pt>
                <c:pt idx="234">
                  <c:v>4.33</c:v>
                </c:pt>
                <c:pt idx="235">
                  <c:v>4.33</c:v>
                </c:pt>
                <c:pt idx="236">
                  <c:v>4.33</c:v>
                </c:pt>
                <c:pt idx="237">
                  <c:v>4.33</c:v>
                </c:pt>
                <c:pt idx="238">
                  <c:v>4.33</c:v>
                </c:pt>
                <c:pt idx="239">
                  <c:v>4.33</c:v>
                </c:pt>
                <c:pt idx="240">
                  <c:v>4.33</c:v>
                </c:pt>
                <c:pt idx="241">
                  <c:v>4.33</c:v>
                </c:pt>
                <c:pt idx="242">
                  <c:v>4.33</c:v>
                </c:pt>
                <c:pt idx="243">
                  <c:v>4.33</c:v>
                </c:pt>
                <c:pt idx="244">
                  <c:v>4.33</c:v>
                </c:pt>
                <c:pt idx="245">
                  <c:v>4.33</c:v>
                </c:pt>
                <c:pt idx="246">
                  <c:v>4.33</c:v>
                </c:pt>
                <c:pt idx="247">
                  <c:v>4.33</c:v>
                </c:pt>
                <c:pt idx="248">
                  <c:v>4.33</c:v>
                </c:pt>
                <c:pt idx="249">
                  <c:v>4.33</c:v>
                </c:pt>
                <c:pt idx="250">
                  <c:v>4.33</c:v>
                </c:pt>
                <c:pt idx="251">
                  <c:v>4.33</c:v>
                </c:pt>
                <c:pt idx="252">
                  <c:v>4.33</c:v>
                </c:pt>
                <c:pt idx="253">
                  <c:v>4.33</c:v>
                </c:pt>
                <c:pt idx="254">
                  <c:v>4.33</c:v>
                </c:pt>
                <c:pt idx="255">
                  <c:v>4.33</c:v>
                </c:pt>
                <c:pt idx="256">
                  <c:v>4.33</c:v>
                </c:pt>
                <c:pt idx="257">
                  <c:v>4.33</c:v>
                </c:pt>
                <c:pt idx="258">
                  <c:v>4.33</c:v>
                </c:pt>
                <c:pt idx="259">
                  <c:v>4.33</c:v>
                </c:pt>
                <c:pt idx="260">
                  <c:v>4.33</c:v>
                </c:pt>
                <c:pt idx="261">
                  <c:v>4.08</c:v>
                </c:pt>
                <c:pt idx="262">
                  <c:v>4.08</c:v>
                </c:pt>
                <c:pt idx="263">
                  <c:v>4.08</c:v>
                </c:pt>
                <c:pt idx="264">
                  <c:v>4.08</c:v>
                </c:pt>
                <c:pt idx="265">
                  <c:v>4.09</c:v>
                </c:pt>
                <c:pt idx="266">
                  <c:v>4.09</c:v>
                </c:pt>
                <c:pt idx="267">
                  <c:v>4.09</c:v>
                </c:pt>
                <c:pt idx="268">
                  <c:v>4.09</c:v>
                </c:pt>
                <c:pt idx="269">
                  <c:v>4.09</c:v>
                </c:pt>
                <c:pt idx="270">
                  <c:v>4.09</c:v>
                </c:pt>
                <c:pt idx="271">
                  <c:v>4.09</c:v>
                </c:pt>
                <c:pt idx="272">
                  <c:v>4.09</c:v>
                </c:pt>
                <c:pt idx="273">
                  <c:v>4.09</c:v>
                </c:pt>
                <c:pt idx="274">
                  <c:v>4.09</c:v>
                </c:pt>
                <c:pt idx="275">
                  <c:v>4.09</c:v>
                </c:pt>
                <c:pt idx="276">
                  <c:v>4.09</c:v>
                </c:pt>
                <c:pt idx="277">
                  <c:v>4.09</c:v>
                </c:pt>
                <c:pt idx="278">
                  <c:v>4.09</c:v>
                </c:pt>
                <c:pt idx="279">
                  <c:v>4.09</c:v>
                </c:pt>
                <c:pt idx="280">
                  <c:v>4.09</c:v>
                </c:pt>
                <c:pt idx="281">
                  <c:v>4.0999999999999996</c:v>
                </c:pt>
                <c:pt idx="282">
                  <c:v>4.0999999999999996</c:v>
                </c:pt>
                <c:pt idx="283">
                  <c:v>4.0999999999999996</c:v>
                </c:pt>
                <c:pt idx="284">
                  <c:v>4.0999999999999996</c:v>
                </c:pt>
                <c:pt idx="285">
                  <c:v>4.0999999999999996</c:v>
                </c:pt>
                <c:pt idx="286">
                  <c:v>4.0999999999999996</c:v>
                </c:pt>
                <c:pt idx="287">
                  <c:v>4.0999999999999996</c:v>
                </c:pt>
                <c:pt idx="288">
                  <c:v>4.0999999999999996</c:v>
                </c:pt>
                <c:pt idx="289">
                  <c:v>4.1100000000000003</c:v>
                </c:pt>
                <c:pt idx="290">
                  <c:v>4.1100000000000003</c:v>
                </c:pt>
                <c:pt idx="291">
                  <c:v>4.1100000000000003</c:v>
                </c:pt>
                <c:pt idx="292">
                  <c:v>4.1100000000000003</c:v>
                </c:pt>
                <c:pt idx="293">
                  <c:v>4.1100000000000003</c:v>
                </c:pt>
                <c:pt idx="294">
                  <c:v>4.1100000000000003</c:v>
                </c:pt>
                <c:pt idx="295">
                  <c:v>4.1100000000000003</c:v>
                </c:pt>
                <c:pt idx="296">
                  <c:v>4.1100000000000003</c:v>
                </c:pt>
                <c:pt idx="297">
                  <c:v>4.1100000000000003</c:v>
                </c:pt>
                <c:pt idx="298">
                  <c:v>4.1100000000000003</c:v>
                </c:pt>
                <c:pt idx="299">
                  <c:v>4.1100000000000003</c:v>
                </c:pt>
                <c:pt idx="300">
                  <c:v>4.12</c:v>
                </c:pt>
                <c:pt idx="301">
                  <c:v>4.12</c:v>
                </c:pt>
                <c:pt idx="302">
                  <c:v>4.12</c:v>
                </c:pt>
                <c:pt idx="303">
                  <c:v>3.87</c:v>
                </c:pt>
                <c:pt idx="304">
                  <c:v>3.86</c:v>
                </c:pt>
                <c:pt idx="305">
                  <c:v>3.86</c:v>
                </c:pt>
                <c:pt idx="306">
                  <c:v>3.86</c:v>
                </c:pt>
                <c:pt idx="307">
                  <c:v>3.87</c:v>
                </c:pt>
                <c:pt idx="308">
                  <c:v>3.87</c:v>
                </c:pt>
                <c:pt idx="309">
                  <c:v>3.87</c:v>
                </c:pt>
                <c:pt idx="310">
                  <c:v>3.87</c:v>
                </c:pt>
                <c:pt idx="311">
                  <c:v>3.87</c:v>
                </c:pt>
                <c:pt idx="312">
                  <c:v>3.87</c:v>
                </c:pt>
                <c:pt idx="313">
                  <c:v>3.87</c:v>
                </c:pt>
                <c:pt idx="314">
                  <c:v>3.87</c:v>
                </c:pt>
                <c:pt idx="315">
                  <c:v>3.87</c:v>
                </c:pt>
                <c:pt idx="316">
                  <c:v>3.87</c:v>
                </c:pt>
                <c:pt idx="317">
                  <c:v>3.88</c:v>
                </c:pt>
                <c:pt idx="318">
                  <c:v>3.88</c:v>
                </c:pt>
                <c:pt idx="319">
                  <c:v>3.88</c:v>
                </c:pt>
                <c:pt idx="320">
                  <c:v>3.88</c:v>
                </c:pt>
                <c:pt idx="321">
                  <c:v>3.88</c:v>
                </c:pt>
                <c:pt idx="322">
                  <c:v>3.88</c:v>
                </c:pt>
                <c:pt idx="323">
                  <c:v>3.88</c:v>
                </c:pt>
                <c:pt idx="324">
                  <c:v>3.88</c:v>
                </c:pt>
                <c:pt idx="325">
                  <c:v>3.88</c:v>
                </c:pt>
                <c:pt idx="326">
                  <c:v>3.88</c:v>
                </c:pt>
                <c:pt idx="327">
                  <c:v>3.88</c:v>
                </c:pt>
                <c:pt idx="328">
                  <c:v>3.88</c:v>
                </c:pt>
                <c:pt idx="329">
                  <c:v>3.88</c:v>
                </c:pt>
                <c:pt idx="330">
                  <c:v>3.88</c:v>
                </c:pt>
                <c:pt idx="331">
                  <c:v>3.88</c:v>
                </c:pt>
                <c:pt idx="332">
                  <c:v>3.89</c:v>
                </c:pt>
                <c:pt idx="333">
                  <c:v>3.89</c:v>
                </c:pt>
                <c:pt idx="334">
                  <c:v>3.89</c:v>
                </c:pt>
                <c:pt idx="335">
                  <c:v>3.89</c:v>
                </c:pt>
                <c:pt idx="336">
                  <c:v>3.89</c:v>
                </c:pt>
                <c:pt idx="337">
                  <c:v>3.89</c:v>
                </c:pt>
                <c:pt idx="338">
                  <c:v>3.89</c:v>
                </c:pt>
                <c:pt idx="339">
                  <c:v>3.89</c:v>
                </c:pt>
                <c:pt idx="340">
                  <c:v>3.89</c:v>
                </c:pt>
                <c:pt idx="341">
                  <c:v>3.89</c:v>
                </c:pt>
                <c:pt idx="342">
                  <c:v>3.89</c:v>
                </c:pt>
                <c:pt idx="343">
                  <c:v>3.89</c:v>
                </c:pt>
                <c:pt idx="344">
                  <c:v>3.89</c:v>
                </c:pt>
                <c:pt idx="345">
                  <c:v>3.64</c:v>
                </c:pt>
                <c:pt idx="346">
                  <c:v>3.64</c:v>
                </c:pt>
                <c:pt idx="347">
                  <c:v>3.64</c:v>
                </c:pt>
                <c:pt idx="348">
                  <c:v>3.64</c:v>
                </c:pt>
                <c:pt idx="349">
                  <c:v>3.64</c:v>
                </c:pt>
                <c:pt idx="350">
                  <c:v>3.64</c:v>
                </c:pt>
                <c:pt idx="351">
                  <c:v>3.64</c:v>
                </c:pt>
                <c:pt idx="352">
                  <c:v>3.64</c:v>
                </c:pt>
                <c:pt idx="353">
                  <c:v>3.64</c:v>
                </c:pt>
                <c:pt idx="354">
                  <c:v>3.64</c:v>
                </c:pt>
                <c:pt idx="355">
                  <c:v>3.64</c:v>
                </c:pt>
                <c:pt idx="356">
                  <c:v>3.64</c:v>
                </c:pt>
                <c:pt idx="357">
                  <c:v>3.64</c:v>
                </c:pt>
                <c:pt idx="358">
                  <c:v>3.64</c:v>
                </c:pt>
                <c:pt idx="359">
                  <c:v>3.64</c:v>
                </c:pt>
                <c:pt idx="360">
                  <c:v>3.64</c:v>
                </c:pt>
                <c:pt idx="361">
                  <c:v>3.64</c:v>
                </c:pt>
                <c:pt idx="362">
                  <c:v>3.64</c:v>
                </c:pt>
                <c:pt idx="363">
                  <c:v>3.64</c:v>
                </c:pt>
                <c:pt idx="364">
                  <c:v>3.64</c:v>
                </c:pt>
                <c:pt idx="365">
                  <c:v>3.64</c:v>
                </c:pt>
                <c:pt idx="366">
                  <c:v>3.64</c:v>
                </c:pt>
                <c:pt idx="367">
                  <c:v>3.64</c:v>
                </c:pt>
                <c:pt idx="368">
                  <c:v>3.64</c:v>
                </c:pt>
                <c:pt idx="369">
                  <c:v>3.64</c:v>
                </c:pt>
                <c:pt idx="370">
                  <c:v>3.64</c:v>
                </c:pt>
                <c:pt idx="371">
                  <c:v>3.64</c:v>
                </c:pt>
                <c:pt idx="372">
                  <c:v>3.64</c:v>
                </c:pt>
                <c:pt idx="373">
                  <c:v>3.64</c:v>
                </c:pt>
                <c:pt idx="374">
                  <c:v>3.64</c:v>
                </c:pt>
                <c:pt idx="375">
                  <c:v>3.64</c:v>
                </c:pt>
                <c:pt idx="376">
                  <c:v>3.64</c:v>
                </c:pt>
                <c:pt idx="377">
                  <c:v>3.64</c:v>
                </c:pt>
                <c:pt idx="378">
                  <c:v>3.64</c:v>
                </c:pt>
                <c:pt idx="379">
                  <c:v>3.64</c:v>
                </c:pt>
                <c:pt idx="380">
                  <c:v>3.64</c:v>
                </c:pt>
                <c:pt idx="381">
                  <c:v>3.64</c:v>
                </c:pt>
                <c:pt idx="382">
                  <c:v>3.64</c:v>
                </c:pt>
                <c:pt idx="383">
                  <c:v>3.64</c:v>
                </c:pt>
                <c:pt idx="384">
                  <c:v>3.64</c:v>
                </c:pt>
                <c:pt idx="385">
                  <c:v>3.64</c:v>
                </c:pt>
                <c:pt idx="386">
                  <c:v>3.64</c:v>
                </c:pt>
                <c:pt idx="387">
                  <c:v>3.64</c:v>
                </c:pt>
                <c:pt idx="388">
                  <c:v>3.64</c:v>
                </c:pt>
                <c:pt idx="389">
                  <c:v>3.64</c:v>
                </c:pt>
                <c:pt idx="390">
                  <c:v>3.64</c:v>
                </c:pt>
                <c:pt idx="391">
                  <c:v>3.64</c:v>
                </c:pt>
                <c:pt idx="392">
                  <c:v>3.64</c:v>
                </c:pt>
                <c:pt idx="393">
                  <c:v>3.64</c:v>
                </c:pt>
                <c:pt idx="394">
                  <c:v>3.64</c:v>
                </c:pt>
                <c:pt idx="395">
                  <c:v>3.64</c:v>
                </c:pt>
                <c:pt idx="396">
                  <c:v>3.64</c:v>
                </c:pt>
                <c:pt idx="397">
                  <c:v>3.64</c:v>
                </c:pt>
                <c:pt idx="398">
                  <c:v>3.64</c:v>
                </c:pt>
                <c:pt idx="399">
                  <c:v>3.64</c:v>
                </c:pt>
                <c:pt idx="400">
                  <c:v>3.64</c:v>
                </c:pt>
                <c:pt idx="401">
                  <c:v>3.64</c:v>
                </c:pt>
                <c:pt idx="402">
                  <c:v>3.64</c:v>
                </c:pt>
                <c:pt idx="403">
                  <c:v>3.64</c:v>
                </c:pt>
                <c:pt idx="404">
                  <c:v>3.64</c:v>
                </c:pt>
                <c:pt idx="405">
                  <c:v>3.64</c:v>
                </c:pt>
                <c:pt idx="406">
                  <c:v>3.64</c:v>
                </c:pt>
                <c:pt idx="407">
                  <c:v>3.64</c:v>
                </c:pt>
                <c:pt idx="408">
                  <c:v>3.64</c:v>
                </c:pt>
                <c:pt idx="409">
                  <c:v>3.64</c:v>
                </c:pt>
                <c:pt idx="410">
                  <c:v>3.64</c:v>
                </c:pt>
                <c:pt idx="411">
                  <c:v>3.64</c:v>
                </c:pt>
                <c:pt idx="412">
                  <c:v>3.64</c:v>
                </c:pt>
                <c:pt idx="413">
                  <c:v>3.64</c:v>
                </c:pt>
                <c:pt idx="414">
                  <c:v>3.64</c:v>
                </c:pt>
                <c:pt idx="415">
                  <c:v>3.64</c:v>
                </c:pt>
                <c:pt idx="416">
                  <c:v>3.64</c:v>
                </c:pt>
                <c:pt idx="417">
                  <c:v>3.64</c:v>
                </c:pt>
                <c:pt idx="418">
                  <c:v>3.64</c:v>
                </c:pt>
                <c:pt idx="419">
                  <c:v>3.64</c:v>
                </c:pt>
                <c:pt idx="420">
                  <c:v>3.64</c:v>
                </c:pt>
                <c:pt idx="421">
                  <c:v>3.64</c:v>
                </c:pt>
                <c:pt idx="422">
                  <c:v>3.64</c:v>
                </c:pt>
                <c:pt idx="423">
                  <c:v>3.64</c:v>
                </c:pt>
                <c:pt idx="424">
                  <c:v>3.64</c:v>
                </c:pt>
                <c:pt idx="425">
                  <c:v>3.64</c:v>
                </c:pt>
                <c:pt idx="426">
                  <c:v>3.64</c:v>
                </c:pt>
                <c:pt idx="427">
                  <c:v>3.64</c:v>
                </c:pt>
                <c:pt idx="428">
                  <c:v>3.64</c:v>
                </c:pt>
                <c:pt idx="429">
                  <c:v>3.64</c:v>
                </c:pt>
                <c:pt idx="430">
                  <c:v>3.64</c:v>
                </c:pt>
                <c:pt idx="431">
                  <c:v>3.64</c:v>
                </c:pt>
                <c:pt idx="432">
                  <c:v>3.64</c:v>
                </c:pt>
                <c:pt idx="433">
                  <c:v>3.64</c:v>
                </c:pt>
                <c:pt idx="434">
                  <c:v>3.64</c:v>
                </c:pt>
                <c:pt idx="435">
                  <c:v>3.64</c:v>
                </c:pt>
                <c:pt idx="436">
                  <c:v>3.64</c:v>
                </c:pt>
                <c:pt idx="437">
                  <c:v>3.64</c:v>
                </c:pt>
                <c:pt idx="438">
                  <c:v>3.64</c:v>
                </c:pt>
                <c:pt idx="439">
                  <c:v>3.64</c:v>
                </c:pt>
                <c:pt idx="440">
                  <c:v>3.64</c:v>
                </c:pt>
                <c:pt idx="441">
                  <c:v>3.64</c:v>
                </c:pt>
                <c:pt idx="442">
                  <c:v>3.64</c:v>
                </c:pt>
                <c:pt idx="443">
                  <c:v>3.64</c:v>
                </c:pt>
                <c:pt idx="444">
                  <c:v>3.64</c:v>
                </c:pt>
                <c:pt idx="445">
                  <c:v>3.64</c:v>
                </c:pt>
                <c:pt idx="446">
                  <c:v>3.64</c:v>
                </c:pt>
                <c:pt idx="447">
                  <c:v>3.64</c:v>
                </c:pt>
                <c:pt idx="448">
                  <c:v>3.64</c:v>
                </c:pt>
                <c:pt idx="449">
                  <c:v>3.64</c:v>
                </c:pt>
                <c:pt idx="450">
                  <c:v>3.64</c:v>
                </c:pt>
                <c:pt idx="451">
                  <c:v>3.64</c:v>
                </c:pt>
                <c:pt idx="452">
                  <c:v>3.64</c:v>
                </c:pt>
                <c:pt idx="453">
                  <c:v>3.64</c:v>
                </c:pt>
                <c:pt idx="454">
                  <c:v>3.64</c:v>
                </c:pt>
                <c:pt idx="455">
                  <c:v>3.64</c:v>
                </c:pt>
                <c:pt idx="456">
                  <c:v>3.64</c:v>
                </c:pt>
                <c:pt idx="457">
                  <c:v>3.64</c:v>
                </c:pt>
                <c:pt idx="458">
                  <c:v>3.64</c:v>
                </c:pt>
                <c:pt idx="459">
                  <c:v>3.64</c:v>
                </c:pt>
                <c:pt idx="460">
                  <c:v>3.64</c:v>
                </c:pt>
                <c:pt idx="461">
                  <c:v>3.64</c:v>
                </c:pt>
                <c:pt idx="462">
                  <c:v>3.64</c:v>
                </c:pt>
                <c:pt idx="463">
                  <c:v>3.64</c:v>
                </c:pt>
                <c:pt idx="464">
                  <c:v>3.64</c:v>
                </c:pt>
                <c:pt idx="465">
                  <c:v>3.64</c:v>
                </c:pt>
                <c:pt idx="466">
                  <c:v>3.64</c:v>
                </c:pt>
                <c:pt idx="467">
                  <c:v>3.64</c:v>
                </c:pt>
                <c:pt idx="468">
                  <c:v>3.64</c:v>
                </c:pt>
                <c:pt idx="469">
                  <c:v>3.64</c:v>
                </c:pt>
                <c:pt idx="470">
                  <c:v>3.64</c:v>
                </c:pt>
                <c:pt idx="471">
                  <c:v>3.64</c:v>
                </c:pt>
                <c:pt idx="472">
                  <c:v>3.64</c:v>
                </c:pt>
                <c:pt idx="473">
                  <c:v>3.64</c:v>
                </c:pt>
                <c:pt idx="474">
                  <c:v>3.64</c:v>
                </c:pt>
                <c:pt idx="475">
                  <c:v>3.64</c:v>
                </c:pt>
                <c:pt idx="476">
                  <c:v>3.64</c:v>
                </c:pt>
                <c:pt idx="477">
                  <c:v>3.64</c:v>
                </c:pt>
                <c:pt idx="478">
                  <c:v>3.64</c:v>
                </c:pt>
                <c:pt idx="479">
                  <c:v>3.64</c:v>
                </c:pt>
                <c:pt idx="480">
                  <c:v>3.64</c:v>
                </c:pt>
                <c:pt idx="481">
                  <c:v>3.64</c:v>
                </c:pt>
                <c:pt idx="482">
                  <c:v>3.64</c:v>
                </c:pt>
                <c:pt idx="483">
                  <c:v>3.64</c:v>
                </c:pt>
                <c:pt idx="484">
                  <c:v>3.64</c:v>
                </c:pt>
                <c:pt idx="485">
                  <c:v>3.64</c:v>
                </c:pt>
                <c:pt idx="486">
                  <c:v>3.64</c:v>
                </c:pt>
                <c:pt idx="487">
                  <c:v>3.64</c:v>
                </c:pt>
                <c:pt idx="488">
                  <c:v>3.64</c:v>
                </c:pt>
                <c:pt idx="489">
                  <c:v>3.64</c:v>
                </c:pt>
              </c:numCache>
            </c:numRef>
          </c:val>
          <c:smooth val="0"/>
          <c:extLst>
            <c:ext xmlns:c16="http://schemas.microsoft.com/office/drawing/2014/chart" uri="{C3380CC4-5D6E-409C-BE32-E72D297353CC}">
              <c16:uniqueId val="{00000008-96E7-454A-A66A-36F382D4E673}"/>
            </c:ext>
          </c:extLst>
        </c:ser>
        <c:dLbls>
          <c:showLegendKey val="0"/>
          <c:showVal val="0"/>
          <c:showCatName val="0"/>
          <c:showSerName val="0"/>
          <c:showPercent val="0"/>
          <c:showBubbleSize val="0"/>
        </c:dLbls>
        <c:marker val="1"/>
        <c:smooth val="0"/>
        <c:axId val="1307382048"/>
        <c:axId val="1307368608"/>
      </c:lineChart>
      <c:dateAx>
        <c:axId val="1085103152"/>
        <c:scaling>
          <c:orientation val="minMax"/>
        </c:scaling>
        <c:delete val="0"/>
        <c:axPos val="b"/>
        <c:numFmt formatCode="mmm\ yy" sourceLinked="0"/>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085105232"/>
        <c:crosses val="autoZero"/>
        <c:auto val="1"/>
        <c:lblOffset val="100"/>
        <c:baseTimeUnit val="days"/>
        <c:majorUnit val="1"/>
      </c:dateAx>
      <c:valAx>
        <c:axId val="1085105232"/>
        <c:scaling>
          <c:orientation val="minMax"/>
          <c:min val="7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085103152"/>
        <c:crosses val="autoZero"/>
        <c:crossBetween val="between"/>
        <c:majorUnit val="20"/>
      </c:valAx>
      <c:valAx>
        <c:axId val="1307368608"/>
        <c:scaling>
          <c:orientation val="minMax"/>
          <c:max val="10"/>
          <c:min val="3"/>
        </c:scaling>
        <c:delete val="0"/>
        <c:axPos val="r"/>
        <c:numFmt formatCode="_(* #,##0.00_);_(* \(#,##0.00\);_(* &quot;   -&quot;?_);_(@_)"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1307382048"/>
        <c:crosses val="max"/>
        <c:crossBetween val="between"/>
      </c:valAx>
      <c:dateAx>
        <c:axId val="1307382048"/>
        <c:scaling>
          <c:orientation val="minMax"/>
        </c:scaling>
        <c:delete val="1"/>
        <c:axPos val="b"/>
        <c:numFmt formatCode="dd\ mmm\ yy" sourceLinked="1"/>
        <c:majorTickMark val="out"/>
        <c:minorTickMark val="none"/>
        <c:tickLblPos val="nextTo"/>
        <c:crossAx val="1307368608"/>
        <c:crosses val="autoZero"/>
        <c:auto val="1"/>
        <c:lblOffset val="100"/>
        <c:baseTimeUnit val="days"/>
      </c:dateAx>
      <c:spPr>
        <a:noFill/>
        <a:ln>
          <a:noFill/>
        </a:ln>
        <a:effectLst/>
      </c:spPr>
    </c:plotArea>
    <c:legend>
      <c:legendPos val="r"/>
      <c:layout>
        <c:manualLayout>
          <c:xMode val="edge"/>
          <c:yMode val="edge"/>
          <c:x val="0.80916523876513735"/>
          <c:y val="9.6806920032828717E-2"/>
          <c:w val="0.18660106098084059"/>
          <c:h val="0.75240202172870807"/>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lumMod val="95000"/>
          <a:lumOff val="5000"/>
        </a:schemeClr>
      </a:solidFill>
    </a:ln>
    <a:effectLst/>
  </c:spPr>
  <c:txPr>
    <a:bodyPr/>
    <a:lstStyle/>
    <a:p>
      <a:pPr>
        <a:defRPr sz="800">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871391076115485E-2"/>
          <c:y val="7.5810609143942484E-2"/>
          <c:w val="0.94225721784776906"/>
          <c:h val="0.70980219780219778"/>
        </c:manualLayout>
      </c:layout>
      <c:barChart>
        <c:barDir val="col"/>
        <c:grouping val="clustered"/>
        <c:varyColors val="0"/>
        <c:ser>
          <c:idx val="0"/>
          <c:order val="0"/>
          <c:tx>
            <c:strRef>
              <c:f>Inflation!$D$19</c:f>
              <c:strCache>
                <c:ptCount val="1"/>
                <c:pt idx="0">
                  <c:v>CPI</c:v>
                </c:pt>
              </c:strCache>
            </c:strRef>
          </c:tx>
          <c:spPr>
            <a:solidFill>
              <a:srgbClr val="089C8B"/>
            </a:solidFill>
            <a:ln>
              <a:noFill/>
            </a:ln>
            <a:effectLst>
              <a:outerShdw blurRad="50800" dist="38100" dir="2700000" algn="tl" rotWithShape="0">
                <a:prstClr val="black">
                  <a:alpha val="40000"/>
                </a:prstClr>
              </a:outerShdw>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Inflation!$C$22:$C$24</c:f>
              <c:numCache>
                <c:formatCode>General</c:formatCode>
                <c:ptCount val="3"/>
                <c:pt idx="0">
                  <c:v>2026</c:v>
                </c:pt>
                <c:pt idx="1">
                  <c:v>2027</c:v>
                </c:pt>
                <c:pt idx="2">
                  <c:v>2028</c:v>
                </c:pt>
              </c:numCache>
            </c:numRef>
          </c:cat>
          <c:val>
            <c:numRef>
              <c:f>Inflation!$D$22:$D$24</c:f>
              <c:numCache>
                <c:formatCode>#,##0.0%;\(#,##0.0%\);\-</c:formatCode>
                <c:ptCount val="3"/>
                <c:pt idx="0">
                  <c:v>3.27E-2</c:v>
                </c:pt>
                <c:pt idx="1">
                  <c:v>2.4E-2</c:v>
                </c:pt>
                <c:pt idx="2">
                  <c:v>2.2200000000000001E-2</c:v>
                </c:pt>
              </c:numCache>
            </c:numRef>
          </c:val>
          <c:extLst>
            <c:ext xmlns:c16="http://schemas.microsoft.com/office/drawing/2014/chart" uri="{C3380CC4-5D6E-409C-BE32-E72D297353CC}">
              <c16:uniqueId val="{00000000-62B0-4D01-837F-75857D4E95B9}"/>
            </c:ext>
          </c:extLst>
        </c:ser>
        <c:ser>
          <c:idx val="1"/>
          <c:order val="1"/>
          <c:tx>
            <c:strRef>
              <c:f>Inflation!$E$19</c:f>
              <c:strCache>
                <c:ptCount val="1"/>
                <c:pt idx="0">
                  <c:v>PCE</c:v>
                </c:pt>
              </c:strCache>
            </c:strRef>
          </c:tx>
          <c:spPr>
            <a:solidFill>
              <a:srgbClr val="315D90"/>
            </a:solidFill>
            <a:ln>
              <a:noFill/>
            </a:ln>
            <a:effectLst>
              <a:outerShdw blurRad="50800" dist="38100" dir="2700000" algn="tl" rotWithShape="0">
                <a:prstClr val="black">
                  <a:alpha val="40000"/>
                </a:prstClr>
              </a:outerShdw>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Inflation!$C$22:$C$24</c:f>
              <c:numCache>
                <c:formatCode>General</c:formatCode>
                <c:ptCount val="3"/>
                <c:pt idx="0">
                  <c:v>2026</c:v>
                </c:pt>
                <c:pt idx="1">
                  <c:v>2027</c:v>
                </c:pt>
                <c:pt idx="2">
                  <c:v>2028</c:v>
                </c:pt>
              </c:numCache>
            </c:numRef>
          </c:cat>
          <c:val>
            <c:numRef>
              <c:f>Inflation!$E$22:$E$24</c:f>
              <c:numCache>
                <c:formatCode>#,##0.0%;\(#,##0.0%\);\-</c:formatCode>
                <c:ptCount val="3"/>
                <c:pt idx="0">
                  <c:v>3.3000000000000002E-2</c:v>
                </c:pt>
                <c:pt idx="1">
                  <c:v>2.3900000000000001E-2</c:v>
                </c:pt>
                <c:pt idx="2">
                  <c:v>2.1400000000000002E-2</c:v>
                </c:pt>
              </c:numCache>
            </c:numRef>
          </c:val>
          <c:extLst>
            <c:ext xmlns:c16="http://schemas.microsoft.com/office/drawing/2014/chart" uri="{C3380CC4-5D6E-409C-BE32-E72D297353CC}">
              <c16:uniqueId val="{00000001-62B0-4D01-837F-75857D4E95B9}"/>
            </c:ext>
          </c:extLst>
        </c:ser>
        <c:ser>
          <c:idx val="2"/>
          <c:order val="2"/>
          <c:tx>
            <c:strRef>
              <c:f>Inflation!$F$19</c:f>
              <c:strCache>
                <c:ptCount val="1"/>
                <c:pt idx="0">
                  <c:v>PCE Core</c:v>
                </c:pt>
              </c:strCache>
            </c:strRef>
          </c:tx>
          <c:spPr>
            <a:solidFill>
              <a:srgbClr val="B4B8B9"/>
            </a:solidFill>
            <a:ln>
              <a:noFill/>
            </a:ln>
            <a:effectLst>
              <a:outerShdw blurRad="50800" dist="38100" dir="2700000" algn="tl" rotWithShape="0">
                <a:prstClr val="black">
                  <a:alpha val="40000"/>
                </a:prstClr>
              </a:outerShdw>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Inflation!$C$22:$C$24</c:f>
              <c:numCache>
                <c:formatCode>General</c:formatCode>
                <c:ptCount val="3"/>
                <c:pt idx="0">
                  <c:v>2026</c:v>
                </c:pt>
                <c:pt idx="1">
                  <c:v>2027</c:v>
                </c:pt>
                <c:pt idx="2">
                  <c:v>2028</c:v>
                </c:pt>
              </c:numCache>
            </c:numRef>
          </c:cat>
          <c:val>
            <c:numRef>
              <c:f>Inflation!$F$22:$F$24</c:f>
              <c:numCache>
                <c:formatCode>#,##0.0%;\(#,##0.0%\);\-</c:formatCode>
                <c:ptCount val="3"/>
                <c:pt idx="0">
                  <c:v>3.0499999999999999E-2</c:v>
                </c:pt>
                <c:pt idx="1">
                  <c:v>2.4E-2</c:v>
                </c:pt>
                <c:pt idx="2">
                  <c:v>2.2000000000000002E-2</c:v>
                </c:pt>
              </c:numCache>
            </c:numRef>
          </c:val>
          <c:extLst>
            <c:ext xmlns:c16="http://schemas.microsoft.com/office/drawing/2014/chart" uri="{C3380CC4-5D6E-409C-BE32-E72D297353CC}">
              <c16:uniqueId val="{00000002-62B0-4D01-837F-75857D4E95B9}"/>
            </c:ext>
          </c:extLst>
        </c:ser>
        <c:dLbls>
          <c:dLblPos val="outEnd"/>
          <c:showLegendKey val="0"/>
          <c:showVal val="1"/>
          <c:showCatName val="0"/>
          <c:showSerName val="0"/>
          <c:showPercent val="0"/>
          <c:showBubbleSize val="0"/>
        </c:dLbls>
        <c:gapWidth val="219"/>
        <c:overlap val="-27"/>
        <c:axId val="2079957760"/>
        <c:axId val="2079954432"/>
      </c:barChart>
      <c:catAx>
        <c:axId val="2079957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2079954432"/>
        <c:crosses val="autoZero"/>
        <c:auto val="1"/>
        <c:lblAlgn val="ctr"/>
        <c:lblOffset val="100"/>
        <c:noMultiLvlLbl val="0"/>
      </c:catAx>
      <c:valAx>
        <c:axId val="2079954432"/>
        <c:scaling>
          <c:orientation val="minMax"/>
        </c:scaling>
        <c:delete val="1"/>
        <c:axPos val="l"/>
        <c:numFmt formatCode="#,##0.0%;\(#,##0.0%\);\-" sourceLinked="1"/>
        <c:majorTickMark val="none"/>
        <c:minorTickMark val="none"/>
        <c:tickLblPos val="nextTo"/>
        <c:crossAx val="2079957760"/>
        <c:crosses val="autoZero"/>
        <c:crossBetween val="between"/>
      </c:valAx>
      <c:spPr>
        <a:noFill/>
        <a:ln>
          <a:noFill/>
        </a:ln>
        <a:effectLst/>
      </c:spPr>
    </c:plotArea>
    <c:legend>
      <c:legendPos val="b"/>
      <c:layout>
        <c:manualLayout>
          <c:xMode val="edge"/>
          <c:yMode val="edge"/>
          <c:x val="7.6914588130471445E-2"/>
          <c:y val="0.90194834995202133"/>
          <c:w val="0.87071048634258141"/>
          <c:h val="6.9829259259259258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108888038280094E-2"/>
          <c:y val="6.4896755162241887E-2"/>
          <c:w val="0.86152774795765663"/>
          <c:h val="0.80542772861356937"/>
        </c:manualLayout>
      </c:layout>
      <c:lineChart>
        <c:grouping val="standard"/>
        <c:varyColors val="0"/>
        <c:ser>
          <c:idx val="0"/>
          <c:order val="0"/>
          <c:tx>
            <c:strRef>
              <c:f>'VIX '!$G$11</c:f>
              <c:strCache>
                <c:ptCount val="1"/>
                <c:pt idx="0">
                  <c:v>CBOE VIX
2.0%</c:v>
                </c:pt>
              </c:strCache>
            </c:strRef>
          </c:tx>
          <c:spPr>
            <a:ln w="15875" cap="rnd">
              <a:solidFill>
                <a:srgbClr val="089C8B"/>
              </a:solidFill>
              <a:round/>
            </a:ln>
            <a:effectLst/>
          </c:spPr>
          <c:marker>
            <c:symbol val="none"/>
          </c:marker>
          <c:cat>
            <c:numRef>
              <c:f>'VIX '!$F$13:$F$356</c:f>
              <c:numCache>
                <c:formatCode>dd\ mmm\ yy</c:formatCode>
                <c:ptCount val="344"/>
                <c:pt idx="0">
                  <c:v>45659</c:v>
                </c:pt>
                <c:pt idx="1">
                  <c:v>45660</c:v>
                </c:pt>
                <c:pt idx="2">
                  <c:v>45663</c:v>
                </c:pt>
                <c:pt idx="3">
                  <c:v>45664</c:v>
                </c:pt>
                <c:pt idx="4">
                  <c:v>45665</c:v>
                </c:pt>
                <c:pt idx="5">
                  <c:v>45666</c:v>
                </c:pt>
                <c:pt idx="6">
                  <c:v>45667</c:v>
                </c:pt>
                <c:pt idx="7">
                  <c:v>45670</c:v>
                </c:pt>
                <c:pt idx="8">
                  <c:v>45671</c:v>
                </c:pt>
                <c:pt idx="9">
                  <c:v>45672</c:v>
                </c:pt>
                <c:pt idx="10">
                  <c:v>45673</c:v>
                </c:pt>
                <c:pt idx="11">
                  <c:v>45674</c:v>
                </c:pt>
                <c:pt idx="12">
                  <c:v>45677</c:v>
                </c:pt>
                <c:pt idx="13">
                  <c:v>45678</c:v>
                </c:pt>
                <c:pt idx="14">
                  <c:v>45679</c:v>
                </c:pt>
                <c:pt idx="15">
                  <c:v>45680</c:v>
                </c:pt>
                <c:pt idx="16">
                  <c:v>45681</c:v>
                </c:pt>
                <c:pt idx="17">
                  <c:v>45684</c:v>
                </c:pt>
                <c:pt idx="18">
                  <c:v>45685</c:v>
                </c:pt>
                <c:pt idx="19">
                  <c:v>45686</c:v>
                </c:pt>
                <c:pt idx="20">
                  <c:v>45687</c:v>
                </c:pt>
                <c:pt idx="21">
                  <c:v>45688</c:v>
                </c:pt>
                <c:pt idx="22">
                  <c:v>45691</c:v>
                </c:pt>
                <c:pt idx="23">
                  <c:v>45692</c:v>
                </c:pt>
                <c:pt idx="24">
                  <c:v>45693</c:v>
                </c:pt>
                <c:pt idx="25">
                  <c:v>45694</c:v>
                </c:pt>
                <c:pt idx="26">
                  <c:v>45695</c:v>
                </c:pt>
                <c:pt idx="27">
                  <c:v>45698</c:v>
                </c:pt>
                <c:pt idx="28">
                  <c:v>45699</c:v>
                </c:pt>
                <c:pt idx="29">
                  <c:v>45700</c:v>
                </c:pt>
                <c:pt idx="30">
                  <c:v>45701</c:v>
                </c:pt>
                <c:pt idx="31">
                  <c:v>45702</c:v>
                </c:pt>
                <c:pt idx="32">
                  <c:v>45705</c:v>
                </c:pt>
                <c:pt idx="33">
                  <c:v>45706</c:v>
                </c:pt>
                <c:pt idx="34">
                  <c:v>45707</c:v>
                </c:pt>
                <c:pt idx="35">
                  <c:v>45708</c:v>
                </c:pt>
                <c:pt idx="36">
                  <c:v>45709</c:v>
                </c:pt>
                <c:pt idx="37">
                  <c:v>45712</c:v>
                </c:pt>
                <c:pt idx="38">
                  <c:v>45713</c:v>
                </c:pt>
                <c:pt idx="39">
                  <c:v>45714</c:v>
                </c:pt>
                <c:pt idx="40">
                  <c:v>45715</c:v>
                </c:pt>
                <c:pt idx="41">
                  <c:v>45716</c:v>
                </c:pt>
                <c:pt idx="42">
                  <c:v>45719</c:v>
                </c:pt>
                <c:pt idx="43">
                  <c:v>45720</c:v>
                </c:pt>
                <c:pt idx="44">
                  <c:v>45721</c:v>
                </c:pt>
                <c:pt idx="45">
                  <c:v>45722</c:v>
                </c:pt>
                <c:pt idx="46">
                  <c:v>45723</c:v>
                </c:pt>
                <c:pt idx="47">
                  <c:v>45726</c:v>
                </c:pt>
                <c:pt idx="48">
                  <c:v>45727</c:v>
                </c:pt>
                <c:pt idx="49">
                  <c:v>45728</c:v>
                </c:pt>
                <c:pt idx="50">
                  <c:v>45729</c:v>
                </c:pt>
                <c:pt idx="51">
                  <c:v>45730</c:v>
                </c:pt>
                <c:pt idx="52">
                  <c:v>45733</c:v>
                </c:pt>
                <c:pt idx="53">
                  <c:v>45734</c:v>
                </c:pt>
                <c:pt idx="54">
                  <c:v>45735</c:v>
                </c:pt>
                <c:pt idx="55">
                  <c:v>45736</c:v>
                </c:pt>
                <c:pt idx="56">
                  <c:v>45737</c:v>
                </c:pt>
                <c:pt idx="57">
                  <c:v>45740</c:v>
                </c:pt>
                <c:pt idx="58">
                  <c:v>45741</c:v>
                </c:pt>
                <c:pt idx="59">
                  <c:v>45742</c:v>
                </c:pt>
                <c:pt idx="60">
                  <c:v>45743</c:v>
                </c:pt>
                <c:pt idx="61">
                  <c:v>45744</c:v>
                </c:pt>
                <c:pt idx="62">
                  <c:v>45747</c:v>
                </c:pt>
                <c:pt idx="63">
                  <c:v>45748</c:v>
                </c:pt>
                <c:pt idx="64">
                  <c:v>45749</c:v>
                </c:pt>
                <c:pt idx="65">
                  <c:v>45750</c:v>
                </c:pt>
                <c:pt idx="66">
                  <c:v>45751</c:v>
                </c:pt>
                <c:pt idx="67">
                  <c:v>45754</c:v>
                </c:pt>
                <c:pt idx="68">
                  <c:v>45755</c:v>
                </c:pt>
                <c:pt idx="69">
                  <c:v>45756</c:v>
                </c:pt>
                <c:pt idx="70">
                  <c:v>45757</c:v>
                </c:pt>
                <c:pt idx="71">
                  <c:v>45758</c:v>
                </c:pt>
                <c:pt idx="72">
                  <c:v>45761</c:v>
                </c:pt>
                <c:pt idx="73">
                  <c:v>45762</c:v>
                </c:pt>
                <c:pt idx="74">
                  <c:v>45763</c:v>
                </c:pt>
                <c:pt idx="75">
                  <c:v>45764</c:v>
                </c:pt>
                <c:pt idx="76">
                  <c:v>45768</c:v>
                </c:pt>
                <c:pt idx="77">
                  <c:v>45769</c:v>
                </c:pt>
                <c:pt idx="78">
                  <c:v>45770</c:v>
                </c:pt>
                <c:pt idx="79">
                  <c:v>45771</c:v>
                </c:pt>
                <c:pt idx="80">
                  <c:v>45772</c:v>
                </c:pt>
                <c:pt idx="81">
                  <c:v>45775</c:v>
                </c:pt>
                <c:pt idx="82">
                  <c:v>45776</c:v>
                </c:pt>
                <c:pt idx="83">
                  <c:v>45777</c:v>
                </c:pt>
                <c:pt idx="84">
                  <c:v>45778</c:v>
                </c:pt>
                <c:pt idx="85">
                  <c:v>45779</c:v>
                </c:pt>
                <c:pt idx="86">
                  <c:v>45782</c:v>
                </c:pt>
                <c:pt idx="87">
                  <c:v>45783</c:v>
                </c:pt>
                <c:pt idx="88">
                  <c:v>45784</c:v>
                </c:pt>
                <c:pt idx="89">
                  <c:v>45785</c:v>
                </c:pt>
                <c:pt idx="90">
                  <c:v>45786</c:v>
                </c:pt>
                <c:pt idx="91">
                  <c:v>45789</c:v>
                </c:pt>
                <c:pt idx="92">
                  <c:v>45790</c:v>
                </c:pt>
                <c:pt idx="93">
                  <c:v>45791</c:v>
                </c:pt>
                <c:pt idx="94">
                  <c:v>45792</c:v>
                </c:pt>
                <c:pt idx="95">
                  <c:v>45793</c:v>
                </c:pt>
                <c:pt idx="96">
                  <c:v>45796</c:v>
                </c:pt>
                <c:pt idx="97">
                  <c:v>45797</c:v>
                </c:pt>
                <c:pt idx="98">
                  <c:v>45798</c:v>
                </c:pt>
                <c:pt idx="99">
                  <c:v>45799</c:v>
                </c:pt>
                <c:pt idx="100">
                  <c:v>45800</c:v>
                </c:pt>
                <c:pt idx="101">
                  <c:v>45803</c:v>
                </c:pt>
                <c:pt idx="102">
                  <c:v>45804</c:v>
                </c:pt>
                <c:pt idx="103">
                  <c:v>45805</c:v>
                </c:pt>
                <c:pt idx="104">
                  <c:v>45806</c:v>
                </c:pt>
                <c:pt idx="105">
                  <c:v>45807</c:v>
                </c:pt>
                <c:pt idx="106">
                  <c:v>45810</c:v>
                </c:pt>
                <c:pt idx="107">
                  <c:v>45811</c:v>
                </c:pt>
                <c:pt idx="108">
                  <c:v>45812</c:v>
                </c:pt>
                <c:pt idx="109">
                  <c:v>45813</c:v>
                </c:pt>
                <c:pt idx="110">
                  <c:v>45814</c:v>
                </c:pt>
                <c:pt idx="111">
                  <c:v>45817</c:v>
                </c:pt>
                <c:pt idx="112">
                  <c:v>45818</c:v>
                </c:pt>
                <c:pt idx="113">
                  <c:v>45819</c:v>
                </c:pt>
                <c:pt idx="114">
                  <c:v>45820</c:v>
                </c:pt>
                <c:pt idx="115">
                  <c:v>45821</c:v>
                </c:pt>
                <c:pt idx="116">
                  <c:v>45824</c:v>
                </c:pt>
                <c:pt idx="117">
                  <c:v>45825</c:v>
                </c:pt>
                <c:pt idx="118">
                  <c:v>45826</c:v>
                </c:pt>
                <c:pt idx="119">
                  <c:v>45827</c:v>
                </c:pt>
                <c:pt idx="120">
                  <c:v>45828</c:v>
                </c:pt>
                <c:pt idx="121">
                  <c:v>45831</c:v>
                </c:pt>
                <c:pt idx="122">
                  <c:v>45832</c:v>
                </c:pt>
                <c:pt idx="123">
                  <c:v>45833</c:v>
                </c:pt>
                <c:pt idx="124">
                  <c:v>45834</c:v>
                </c:pt>
                <c:pt idx="125">
                  <c:v>45835</c:v>
                </c:pt>
                <c:pt idx="126">
                  <c:v>45838</c:v>
                </c:pt>
                <c:pt idx="127">
                  <c:v>45839</c:v>
                </c:pt>
                <c:pt idx="128">
                  <c:v>45840</c:v>
                </c:pt>
                <c:pt idx="129">
                  <c:v>45841</c:v>
                </c:pt>
                <c:pt idx="130">
                  <c:v>45842</c:v>
                </c:pt>
                <c:pt idx="131">
                  <c:v>45845</c:v>
                </c:pt>
                <c:pt idx="132">
                  <c:v>45846</c:v>
                </c:pt>
                <c:pt idx="133">
                  <c:v>45847</c:v>
                </c:pt>
                <c:pt idx="134">
                  <c:v>45848</c:v>
                </c:pt>
                <c:pt idx="135">
                  <c:v>45849</c:v>
                </c:pt>
                <c:pt idx="136">
                  <c:v>45852</c:v>
                </c:pt>
                <c:pt idx="137">
                  <c:v>45853</c:v>
                </c:pt>
                <c:pt idx="138">
                  <c:v>45854</c:v>
                </c:pt>
                <c:pt idx="139">
                  <c:v>45855</c:v>
                </c:pt>
                <c:pt idx="140">
                  <c:v>45856</c:v>
                </c:pt>
                <c:pt idx="141">
                  <c:v>45859</c:v>
                </c:pt>
                <c:pt idx="142">
                  <c:v>45860</c:v>
                </c:pt>
                <c:pt idx="143">
                  <c:v>45861</c:v>
                </c:pt>
                <c:pt idx="144">
                  <c:v>45862</c:v>
                </c:pt>
                <c:pt idx="145">
                  <c:v>45863</c:v>
                </c:pt>
                <c:pt idx="146">
                  <c:v>45866</c:v>
                </c:pt>
                <c:pt idx="147">
                  <c:v>45867</c:v>
                </c:pt>
                <c:pt idx="148">
                  <c:v>45868</c:v>
                </c:pt>
                <c:pt idx="149">
                  <c:v>45869</c:v>
                </c:pt>
                <c:pt idx="150">
                  <c:v>45870</c:v>
                </c:pt>
                <c:pt idx="151">
                  <c:v>45873</c:v>
                </c:pt>
                <c:pt idx="152">
                  <c:v>45874</c:v>
                </c:pt>
                <c:pt idx="153">
                  <c:v>45875</c:v>
                </c:pt>
                <c:pt idx="154">
                  <c:v>45876</c:v>
                </c:pt>
                <c:pt idx="155">
                  <c:v>45877</c:v>
                </c:pt>
                <c:pt idx="156">
                  <c:v>45880</c:v>
                </c:pt>
                <c:pt idx="157">
                  <c:v>45881</c:v>
                </c:pt>
                <c:pt idx="158">
                  <c:v>45882</c:v>
                </c:pt>
                <c:pt idx="159">
                  <c:v>45883</c:v>
                </c:pt>
                <c:pt idx="160">
                  <c:v>45884</c:v>
                </c:pt>
                <c:pt idx="161">
                  <c:v>45887</c:v>
                </c:pt>
                <c:pt idx="162">
                  <c:v>45888</c:v>
                </c:pt>
                <c:pt idx="163">
                  <c:v>45889</c:v>
                </c:pt>
                <c:pt idx="164">
                  <c:v>45890</c:v>
                </c:pt>
                <c:pt idx="165">
                  <c:v>45891</c:v>
                </c:pt>
                <c:pt idx="166">
                  <c:v>45894</c:v>
                </c:pt>
                <c:pt idx="167">
                  <c:v>45895</c:v>
                </c:pt>
                <c:pt idx="168">
                  <c:v>45896</c:v>
                </c:pt>
                <c:pt idx="169">
                  <c:v>45897</c:v>
                </c:pt>
                <c:pt idx="170">
                  <c:v>45898</c:v>
                </c:pt>
                <c:pt idx="171">
                  <c:v>45901</c:v>
                </c:pt>
                <c:pt idx="172">
                  <c:v>45902</c:v>
                </c:pt>
                <c:pt idx="173">
                  <c:v>45903</c:v>
                </c:pt>
                <c:pt idx="174">
                  <c:v>45904</c:v>
                </c:pt>
                <c:pt idx="175">
                  <c:v>45905</c:v>
                </c:pt>
                <c:pt idx="176">
                  <c:v>45908</c:v>
                </c:pt>
                <c:pt idx="177">
                  <c:v>45909</c:v>
                </c:pt>
                <c:pt idx="178">
                  <c:v>45910</c:v>
                </c:pt>
                <c:pt idx="179">
                  <c:v>45911</c:v>
                </c:pt>
                <c:pt idx="180">
                  <c:v>45912</c:v>
                </c:pt>
                <c:pt idx="181">
                  <c:v>45915</c:v>
                </c:pt>
                <c:pt idx="182">
                  <c:v>45916</c:v>
                </c:pt>
                <c:pt idx="183">
                  <c:v>45917</c:v>
                </c:pt>
                <c:pt idx="184">
                  <c:v>45918</c:v>
                </c:pt>
                <c:pt idx="185">
                  <c:v>45919</c:v>
                </c:pt>
                <c:pt idx="186">
                  <c:v>45922</c:v>
                </c:pt>
                <c:pt idx="187">
                  <c:v>45923</c:v>
                </c:pt>
                <c:pt idx="188">
                  <c:v>45924</c:v>
                </c:pt>
                <c:pt idx="189">
                  <c:v>45925</c:v>
                </c:pt>
                <c:pt idx="190">
                  <c:v>45926</c:v>
                </c:pt>
                <c:pt idx="191">
                  <c:v>45929</c:v>
                </c:pt>
                <c:pt idx="192">
                  <c:v>45930</c:v>
                </c:pt>
                <c:pt idx="193">
                  <c:v>45931</c:v>
                </c:pt>
                <c:pt idx="194">
                  <c:v>45932</c:v>
                </c:pt>
                <c:pt idx="195">
                  <c:v>45933</c:v>
                </c:pt>
                <c:pt idx="196">
                  <c:v>45936</c:v>
                </c:pt>
                <c:pt idx="197">
                  <c:v>45937</c:v>
                </c:pt>
                <c:pt idx="198">
                  <c:v>45938</c:v>
                </c:pt>
                <c:pt idx="199">
                  <c:v>45939</c:v>
                </c:pt>
                <c:pt idx="200">
                  <c:v>45940</c:v>
                </c:pt>
                <c:pt idx="201">
                  <c:v>45943</c:v>
                </c:pt>
                <c:pt idx="202">
                  <c:v>45944</c:v>
                </c:pt>
                <c:pt idx="203">
                  <c:v>45945</c:v>
                </c:pt>
                <c:pt idx="204">
                  <c:v>45946</c:v>
                </c:pt>
                <c:pt idx="205">
                  <c:v>45947</c:v>
                </c:pt>
                <c:pt idx="206">
                  <c:v>45950</c:v>
                </c:pt>
                <c:pt idx="207">
                  <c:v>45951</c:v>
                </c:pt>
                <c:pt idx="208">
                  <c:v>45952</c:v>
                </c:pt>
                <c:pt idx="209">
                  <c:v>45953</c:v>
                </c:pt>
                <c:pt idx="210">
                  <c:v>45954</c:v>
                </c:pt>
                <c:pt idx="211">
                  <c:v>45957</c:v>
                </c:pt>
                <c:pt idx="212">
                  <c:v>45958</c:v>
                </c:pt>
                <c:pt idx="213">
                  <c:v>45959</c:v>
                </c:pt>
                <c:pt idx="214">
                  <c:v>45960</c:v>
                </c:pt>
                <c:pt idx="215">
                  <c:v>45961</c:v>
                </c:pt>
                <c:pt idx="216">
                  <c:v>45964</c:v>
                </c:pt>
                <c:pt idx="217">
                  <c:v>45965</c:v>
                </c:pt>
                <c:pt idx="218">
                  <c:v>45966</c:v>
                </c:pt>
                <c:pt idx="219">
                  <c:v>45967</c:v>
                </c:pt>
                <c:pt idx="220">
                  <c:v>45968</c:v>
                </c:pt>
                <c:pt idx="221">
                  <c:v>45971</c:v>
                </c:pt>
                <c:pt idx="222">
                  <c:v>45972</c:v>
                </c:pt>
                <c:pt idx="223">
                  <c:v>45973</c:v>
                </c:pt>
                <c:pt idx="224">
                  <c:v>45974</c:v>
                </c:pt>
                <c:pt idx="225">
                  <c:v>45975</c:v>
                </c:pt>
                <c:pt idx="226">
                  <c:v>45978</c:v>
                </c:pt>
                <c:pt idx="227">
                  <c:v>45979</c:v>
                </c:pt>
                <c:pt idx="228">
                  <c:v>45980</c:v>
                </c:pt>
                <c:pt idx="229">
                  <c:v>45981</c:v>
                </c:pt>
                <c:pt idx="230">
                  <c:v>45982</c:v>
                </c:pt>
                <c:pt idx="231">
                  <c:v>45985</c:v>
                </c:pt>
                <c:pt idx="232">
                  <c:v>45986</c:v>
                </c:pt>
                <c:pt idx="233">
                  <c:v>45987</c:v>
                </c:pt>
                <c:pt idx="234">
                  <c:v>45988</c:v>
                </c:pt>
                <c:pt idx="235">
                  <c:v>45989</c:v>
                </c:pt>
                <c:pt idx="236">
                  <c:v>45992</c:v>
                </c:pt>
                <c:pt idx="237">
                  <c:v>45993</c:v>
                </c:pt>
                <c:pt idx="238">
                  <c:v>45994</c:v>
                </c:pt>
                <c:pt idx="239">
                  <c:v>45995</c:v>
                </c:pt>
                <c:pt idx="240">
                  <c:v>45996</c:v>
                </c:pt>
                <c:pt idx="241">
                  <c:v>45999</c:v>
                </c:pt>
                <c:pt idx="242">
                  <c:v>46000</c:v>
                </c:pt>
                <c:pt idx="243">
                  <c:v>46001</c:v>
                </c:pt>
                <c:pt idx="244">
                  <c:v>46002</c:v>
                </c:pt>
                <c:pt idx="245">
                  <c:v>46003</c:v>
                </c:pt>
                <c:pt idx="246">
                  <c:v>46006</c:v>
                </c:pt>
                <c:pt idx="247">
                  <c:v>46007</c:v>
                </c:pt>
                <c:pt idx="248">
                  <c:v>46008</c:v>
                </c:pt>
                <c:pt idx="249">
                  <c:v>46009</c:v>
                </c:pt>
                <c:pt idx="250">
                  <c:v>46010</c:v>
                </c:pt>
                <c:pt idx="251">
                  <c:v>46013</c:v>
                </c:pt>
                <c:pt idx="252">
                  <c:v>46014</c:v>
                </c:pt>
                <c:pt idx="253">
                  <c:v>46015</c:v>
                </c:pt>
                <c:pt idx="254">
                  <c:v>46017</c:v>
                </c:pt>
                <c:pt idx="255">
                  <c:v>46020</c:v>
                </c:pt>
                <c:pt idx="256">
                  <c:v>46021</c:v>
                </c:pt>
                <c:pt idx="257">
                  <c:v>46022</c:v>
                </c:pt>
                <c:pt idx="258">
                  <c:v>46024</c:v>
                </c:pt>
                <c:pt idx="259">
                  <c:v>46027</c:v>
                </c:pt>
                <c:pt idx="260">
                  <c:v>46028</c:v>
                </c:pt>
                <c:pt idx="261">
                  <c:v>46029</c:v>
                </c:pt>
                <c:pt idx="262">
                  <c:v>46030</c:v>
                </c:pt>
                <c:pt idx="263">
                  <c:v>46031</c:v>
                </c:pt>
                <c:pt idx="264">
                  <c:v>46034</c:v>
                </c:pt>
                <c:pt idx="265">
                  <c:v>46035</c:v>
                </c:pt>
                <c:pt idx="266">
                  <c:v>46036</c:v>
                </c:pt>
                <c:pt idx="267">
                  <c:v>46037</c:v>
                </c:pt>
                <c:pt idx="268">
                  <c:v>46038</c:v>
                </c:pt>
                <c:pt idx="269">
                  <c:v>46041</c:v>
                </c:pt>
                <c:pt idx="270">
                  <c:v>46042</c:v>
                </c:pt>
                <c:pt idx="271">
                  <c:v>46043</c:v>
                </c:pt>
                <c:pt idx="272">
                  <c:v>46044</c:v>
                </c:pt>
                <c:pt idx="273">
                  <c:v>46045</c:v>
                </c:pt>
                <c:pt idx="274">
                  <c:v>46048</c:v>
                </c:pt>
                <c:pt idx="275">
                  <c:v>46049</c:v>
                </c:pt>
                <c:pt idx="276">
                  <c:v>46050</c:v>
                </c:pt>
                <c:pt idx="277">
                  <c:v>46051</c:v>
                </c:pt>
                <c:pt idx="278">
                  <c:v>46052</c:v>
                </c:pt>
                <c:pt idx="279">
                  <c:v>46055</c:v>
                </c:pt>
                <c:pt idx="280">
                  <c:v>46056</c:v>
                </c:pt>
                <c:pt idx="281">
                  <c:v>46057</c:v>
                </c:pt>
                <c:pt idx="282">
                  <c:v>46058</c:v>
                </c:pt>
                <c:pt idx="283">
                  <c:v>46059</c:v>
                </c:pt>
                <c:pt idx="284">
                  <c:v>46062</c:v>
                </c:pt>
                <c:pt idx="285">
                  <c:v>46063</c:v>
                </c:pt>
                <c:pt idx="286">
                  <c:v>46064</c:v>
                </c:pt>
                <c:pt idx="287">
                  <c:v>46065</c:v>
                </c:pt>
                <c:pt idx="288">
                  <c:v>46066</c:v>
                </c:pt>
                <c:pt idx="289">
                  <c:v>46069</c:v>
                </c:pt>
                <c:pt idx="290">
                  <c:v>46070</c:v>
                </c:pt>
                <c:pt idx="291">
                  <c:v>46071</c:v>
                </c:pt>
                <c:pt idx="292">
                  <c:v>46072</c:v>
                </c:pt>
                <c:pt idx="293">
                  <c:v>46073</c:v>
                </c:pt>
                <c:pt idx="294">
                  <c:v>46076</c:v>
                </c:pt>
                <c:pt idx="295">
                  <c:v>46077</c:v>
                </c:pt>
                <c:pt idx="296">
                  <c:v>46078</c:v>
                </c:pt>
                <c:pt idx="297">
                  <c:v>46079</c:v>
                </c:pt>
                <c:pt idx="298">
                  <c:v>46080</c:v>
                </c:pt>
                <c:pt idx="299">
                  <c:v>46083</c:v>
                </c:pt>
                <c:pt idx="300">
                  <c:v>46084</c:v>
                </c:pt>
                <c:pt idx="301">
                  <c:v>46085</c:v>
                </c:pt>
                <c:pt idx="302">
                  <c:v>46086</c:v>
                </c:pt>
                <c:pt idx="303">
                  <c:v>46087</c:v>
                </c:pt>
                <c:pt idx="304">
                  <c:v>46090</c:v>
                </c:pt>
                <c:pt idx="305">
                  <c:v>46091</c:v>
                </c:pt>
                <c:pt idx="306">
                  <c:v>46092</c:v>
                </c:pt>
                <c:pt idx="307">
                  <c:v>46093</c:v>
                </c:pt>
                <c:pt idx="308">
                  <c:v>46094</c:v>
                </c:pt>
                <c:pt idx="309">
                  <c:v>46097</c:v>
                </c:pt>
                <c:pt idx="310">
                  <c:v>46098</c:v>
                </c:pt>
                <c:pt idx="311">
                  <c:v>46099</c:v>
                </c:pt>
                <c:pt idx="312">
                  <c:v>46100</c:v>
                </c:pt>
                <c:pt idx="313">
                  <c:v>46101</c:v>
                </c:pt>
                <c:pt idx="314">
                  <c:v>46104</c:v>
                </c:pt>
                <c:pt idx="315">
                  <c:v>46105</c:v>
                </c:pt>
                <c:pt idx="316">
                  <c:v>46106</c:v>
                </c:pt>
                <c:pt idx="317">
                  <c:v>46107</c:v>
                </c:pt>
                <c:pt idx="318">
                  <c:v>46108</c:v>
                </c:pt>
                <c:pt idx="319">
                  <c:v>46111</c:v>
                </c:pt>
                <c:pt idx="320">
                  <c:v>46112</c:v>
                </c:pt>
                <c:pt idx="321">
                  <c:v>46113</c:v>
                </c:pt>
                <c:pt idx="322">
                  <c:v>46114</c:v>
                </c:pt>
                <c:pt idx="323">
                  <c:v>46118</c:v>
                </c:pt>
                <c:pt idx="324">
                  <c:v>46119</c:v>
                </c:pt>
                <c:pt idx="325">
                  <c:v>46120</c:v>
                </c:pt>
                <c:pt idx="326">
                  <c:v>46121</c:v>
                </c:pt>
                <c:pt idx="327">
                  <c:v>46122</c:v>
                </c:pt>
                <c:pt idx="328">
                  <c:v>46125</c:v>
                </c:pt>
                <c:pt idx="329">
                  <c:v>46126</c:v>
                </c:pt>
                <c:pt idx="330">
                  <c:v>46127</c:v>
                </c:pt>
                <c:pt idx="331">
                  <c:v>46128</c:v>
                </c:pt>
                <c:pt idx="332">
                  <c:v>46129</c:v>
                </c:pt>
                <c:pt idx="333">
                  <c:v>46132</c:v>
                </c:pt>
                <c:pt idx="334">
                  <c:v>46133</c:v>
                </c:pt>
                <c:pt idx="335">
                  <c:v>46134</c:v>
                </c:pt>
                <c:pt idx="336">
                  <c:v>46135</c:v>
                </c:pt>
                <c:pt idx="337">
                  <c:v>46136</c:v>
                </c:pt>
                <c:pt idx="338">
                  <c:v>46139</c:v>
                </c:pt>
                <c:pt idx="339">
                  <c:v>46140</c:v>
                </c:pt>
                <c:pt idx="340">
                  <c:v>46141</c:v>
                </c:pt>
                <c:pt idx="341">
                  <c:v>46142</c:v>
                </c:pt>
                <c:pt idx="342">
                  <c:v>46143</c:v>
                </c:pt>
                <c:pt idx="343">
                  <c:v>46146</c:v>
                </c:pt>
              </c:numCache>
            </c:numRef>
          </c:cat>
          <c:val>
            <c:numRef>
              <c:f>'VIX '!$G$13:$G$356</c:f>
              <c:numCache>
                <c:formatCode>_(* #,##0_);_(* \(#,##0\);_(* "   -"?_);_(@_)</c:formatCode>
                <c:ptCount val="344"/>
                <c:pt idx="0">
                  <c:v>17.93</c:v>
                </c:pt>
                <c:pt idx="1">
                  <c:v>16.13</c:v>
                </c:pt>
                <c:pt idx="2">
                  <c:v>16.04</c:v>
                </c:pt>
                <c:pt idx="3">
                  <c:v>17.82</c:v>
                </c:pt>
                <c:pt idx="4">
                  <c:v>17.7</c:v>
                </c:pt>
                <c:pt idx="5">
                  <c:v>18.07</c:v>
                </c:pt>
                <c:pt idx="6">
                  <c:v>19.54</c:v>
                </c:pt>
                <c:pt idx="7">
                  <c:v>19.190000000000001</c:v>
                </c:pt>
                <c:pt idx="8">
                  <c:v>18.71</c:v>
                </c:pt>
                <c:pt idx="9">
                  <c:v>16.12</c:v>
                </c:pt>
                <c:pt idx="10">
                  <c:v>16.600000000000001</c:v>
                </c:pt>
                <c:pt idx="11">
                  <c:v>15.97</c:v>
                </c:pt>
                <c:pt idx="12">
                  <c:v>15.81</c:v>
                </c:pt>
                <c:pt idx="13">
                  <c:v>15.06</c:v>
                </c:pt>
                <c:pt idx="14">
                  <c:v>15.1</c:v>
                </c:pt>
                <c:pt idx="15">
                  <c:v>15.02</c:v>
                </c:pt>
                <c:pt idx="16">
                  <c:v>14.85</c:v>
                </c:pt>
                <c:pt idx="17">
                  <c:v>17.899999999999999</c:v>
                </c:pt>
                <c:pt idx="18">
                  <c:v>16.41</c:v>
                </c:pt>
                <c:pt idx="19">
                  <c:v>16.559999999999999</c:v>
                </c:pt>
                <c:pt idx="20">
                  <c:v>15.84</c:v>
                </c:pt>
                <c:pt idx="21">
                  <c:v>16.43</c:v>
                </c:pt>
                <c:pt idx="22">
                  <c:v>18.62</c:v>
                </c:pt>
                <c:pt idx="23">
                  <c:v>17.21</c:v>
                </c:pt>
                <c:pt idx="24">
                  <c:v>15.77</c:v>
                </c:pt>
                <c:pt idx="25">
                  <c:v>15.5</c:v>
                </c:pt>
                <c:pt idx="26">
                  <c:v>16.54</c:v>
                </c:pt>
                <c:pt idx="27">
                  <c:v>15.81</c:v>
                </c:pt>
                <c:pt idx="28">
                  <c:v>16.02</c:v>
                </c:pt>
                <c:pt idx="29">
                  <c:v>15.89</c:v>
                </c:pt>
                <c:pt idx="30">
                  <c:v>15.1</c:v>
                </c:pt>
                <c:pt idx="31">
                  <c:v>14.77</c:v>
                </c:pt>
                <c:pt idx="32">
                  <c:v>15.37</c:v>
                </c:pt>
                <c:pt idx="33">
                  <c:v>15.35</c:v>
                </c:pt>
                <c:pt idx="34">
                  <c:v>15.27</c:v>
                </c:pt>
                <c:pt idx="35">
                  <c:v>15.66</c:v>
                </c:pt>
                <c:pt idx="36">
                  <c:v>18.21</c:v>
                </c:pt>
                <c:pt idx="37">
                  <c:v>18.98</c:v>
                </c:pt>
                <c:pt idx="38">
                  <c:v>19.43</c:v>
                </c:pt>
                <c:pt idx="39">
                  <c:v>19.100000000000001</c:v>
                </c:pt>
                <c:pt idx="40">
                  <c:v>21.13</c:v>
                </c:pt>
                <c:pt idx="41">
                  <c:v>19.63</c:v>
                </c:pt>
                <c:pt idx="42">
                  <c:v>22.78</c:v>
                </c:pt>
                <c:pt idx="43">
                  <c:v>23.51</c:v>
                </c:pt>
                <c:pt idx="44">
                  <c:v>21.93</c:v>
                </c:pt>
                <c:pt idx="45">
                  <c:v>24.87</c:v>
                </c:pt>
                <c:pt idx="46">
                  <c:v>23.37</c:v>
                </c:pt>
                <c:pt idx="47">
                  <c:v>27.86</c:v>
                </c:pt>
                <c:pt idx="48">
                  <c:v>26.92</c:v>
                </c:pt>
                <c:pt idx="49">
                  <c:v>24.23</c:v>
                </c:pt>
                <c:pt idx="50">
                  <c:v>24.66</c:v>
                </c:pt>
                <c:pt idx="51">
                  <c:v>21.77</c:v>
                </c:pt>
                <c:pt idx="52">
                  <c:v>20.51</c:v>
                </c:pt>
                <c:pt idx="53">
                  <c:v>21.7</c:v>
                </c:pt>
                <c:pt idx="54">
                  <c:v>19.899999999999999</c:v>
                </c:pt>
                <c:pt idx="55">
                  <c:v>19.8</c:v>
                </c:pt>
                <c:pt idx="56">
                  <c:v>19.28</c:v>
                </c:pt>
                <c:pt idx="57">
                  <c:v>17.48</c:v>
                </c:pt>
                <c:pt idx="58">
                  <c:v>17.149999999999999</c:v>
                </c:pt>
                <c:pt idx="59">
                  <c:v>18.329999999999998</c:v>
                </c:pt>
                <c:pt idx="60">
                  <c:v>18.690000000000001</c:v>
                </c:pt>
                <c:pt idx="61">
                  <c:v>21.65</c:v>
                </c:pt>
                <c:pt idx="62">
                  <c:v>22.28</c:v>
                </c:pt>
                <c:pt idx="63">
                  <c:v>21.77</c:v>
                </c:pt>
                <c:pt idx="64">
                  <c:v>21.51</c:v>
                </c:pt>
                <c:pt idx="65">
                  <c:v>30.02</c:v>
                </c:pt>
                <c:pt idx="66">
                  <c:v>45.31</c:v>
                </c:pt>
                <c:pt idx="67">
                  <c:v>46.98</c:v>
                </c:pt>
                <c:pt idx="68">
                  <c:v>52.33</c:v>
                </c:pt>
                <c:pt idx="69">
                  <c:v>33.619999999999997</c:v>
                </c:pt>
                <c:pt idx="70">
                  <c:v>40.72</c:v>
                </c:pt>
                <c:pt idx="71">
                  <c:v>37.56</c:v>
                </c:pt>
                <c:pt idx="72">
                  <c:v>30.89</c:v>
                </c:pt>
                <c:pt idx="73">
                  <c:v>30.12</c:v>
                </c:pt>
                <c:pt idx="74">
                  <c:v>32.64</c:v>
                </c:pt>
                <c:pt idx="75">
                  <c:v>29.65</c:v>
                </c:pt>
                <c:pt idx="76">
                  <c:v>33.82</c:v>
                </c:pt>
                <c:pt idx="77">
                  <c:v>30.57</c:v>
                </c:pt>
                <c:pt idx="78">
                  <c:v>28.45</c:v>
                </c:pt>
                <c:pt idx="79">
                  <c:v>26.47</c:v>
                </c:pt>
                <c:pt idx="80">
                  <c:v>24.84</c:v>
                </c:pt>
                <c:pt idx="81">
                  <c:v>25.15</c:v>
                </c:pt>
                <c:pt idx="82">
                  <c:v>24.17</c:v>
                </c:pt>
                <c:pt idx="83">
                  <c:v>24.7</c:v>
                </c:pt>
                <c:pt idx="84">
                  <c:v>24.6</c:v>
                </c:pt>
                <c:pt idx="85">
                  <c:v>22.68</c:v>
                </c:pt>
                <c:pt idx="86">
                  <c:v>23.64</c:v>
                </c:pt>
                <c:pt idx="87">
                  <c:v>24.76</c:v>
                </c:pt>
                <c:pt idx="88">
                  <c:v>23.55</c:v>
                </c:pt>
                <c:pt idx="89">
                  <c:v>22.48</c:v>
                </c:pt>
                <c:pt idx="90">
                  <c:v>21.9</c:v>
                </c:pt>
                <c:pt idx="91">
                  <c:v>18.39</c:v>
                </c:pt>
                <c:pt idx="92">
                  <c:v>18.22</c:v>
                </c:pt>
                <c:pt idx="93">
                  <c:v>18.62</c:v>
                </c:pt>
                <c:pt idx="94">
                  <c:v>17.829999999999998</c:v>
                </c:pt>
                <c:pt idx="95">
                  <c:v>17.239999999999998</c:v>
                </c:pt>
                <c:pt idx="96">
                  <c:v>18.14</c:v>
                </c:pt>
                <c:pt idx="97">
                  <c:v>18.09</c:v>
                </c:pt>
                <c:pt idx="98">
                  <c:v>20.87</c:v>
                </c:pt>
                <c:pt idx="99">
                  <c:v>20.28</c:v>
                </c:pt>
                <c:pt idx="100">
                  <c:v>22.29</c:v>
                </c:pt>
                <c:pt idx="101">
                  <c:v>20.57</c:v>
                </c:pt>
                <c:pt idx="102">
                  <c:v>18.96</c:v>
                </c:pt>
                <c:pt idx="103">
                  <c:v>19.309999999999999</c:v>
                </c:pt>
                <c:pt idx="104">
                  <c:v>19.18</c:v>
                </c:pt>
                <c:pt idx="105">
                  <c:v>18.57</c:v>
                </c:pt>
                <c:pt idx="106">
                  <c:v>18.36</c:v>
                </c:pt>
                <c:pt idx="107">
                  <c:v>17.690000000000001</c:v>
                </c:pt>
                <c:pt idx="108">
                  <c:v>17.61</c:v>
                </c:pt>
                <c:pt idx="109">
                  <c:v>18.48</c:v>
                </c:pt>
                <c:pt idx="110">
                  <c:v>16.77</c:v>
                </c:pt>
                <c:pt idx="111">
                  <c:v>17.16</c:v>
                </c:pt>
                <c:pt idx="112">
                  <c:v>16.95</c:v>
                </c:pt>
                <c:pt idx="113">
                  <c:v>17.260000000000002</c:v>
                </c:pt>
                <c:pt idx="114">
                  <c:v>18.02</c:v>
                </c:pt>
                <c:pt idx="115">
                  <c:v>20.82</c:v>
                </c:pt>
                <c:pt idx="116">
                  <c:v>19.11</c:v>
                </c:pt>
                <c:pt idx="117">
                  <c:v>21.6</c:v>
                </c:pt>
                <c:pt idx="118">
                  <c:v>20.14</c:v>
                </c:pt>
                <c:pt idx="119">
                  <c:v>22.17</c:v>
                </c:pt>
                <c:pt idx="120">
                  <c:v>20.62</c:v>
                </c:pt>
                <c:pt idx="121">
                  <c:v>19.829999999999998</c:v>
                </c:pt>
                <c:pt idx="122">
                  <c:v>17.48</c:v>
                </c:pt>
                <c:pt idx="123">
                  <c:v>16.760000000000002</c:v>
                </c:pt>
                <c:pt idx="124">
                  <c:v>16.59</c:v>
                </c:pt>
                <c:pt idx="125">
                  <c:v>16.32</c:v>
                </c:pt>
                <c:pt idx="126">
                  <c:v>16.73</c:v>
                </c:pt>
                <c:pt idx="127">
                  <c:v>16.829999999999998</c:v>
                </c:pt>
                <c:pt idx="128">
                  <c:v>16.64</c:v>
                </c:pt>
                <c:pt idx="129">
                  <c:v>16.38</c:v>
                </c:pt>
                <c:pt idx="130">
                  <c:v>17.48</c:v>
                </c:pt>
                <c:pt idx="131">
                  <c:v>17.79</c:v>
                </c:pt>
                <c:pt idx="132">
                  <c:v>16.809999999999999</c:v>
                </c:pt>
                <c:pt idx="133">
                  <c:v>15.94</c:v>
                </c:pt>
                <c:pt idx="134">
                  <c:v>15.78</c:v>
                </c:pt>
                <c:pt idx="135">
                  <c:v>16.399999999999999</c:v>
                </c:pt>
                <c:pt idx="136">
                  <c:v>17.2</c:v>
                </c:pt>
                <c:pt idx="137">
                  <c:v>17.38</c:v>
                </c:pt>
                <c:pt idx="138">
                  <c:v>17.16</c:v>
                </c:pt>
                <c:pt idx="139">
                  <c:v>16.52</c:v>
                </c:pt>
                <c:pt idx="140">
                  <c:v>16.41</c:v>
                </c:pt>
                <c:pt idx="141">
                  <c:v>16.649999999999999</c:v>
                </c:pt>
                <c:pt idx="142">
                  <c:v>16.5</c:v>
                </c:pt>
                <c:pt idx="143">
                  <c:v>15.37</c:v>
                </c:pt>
                <c:pt idx="144">
                  <c:v>15.39</c:v>
                </c:pt>
                <c:pt idx="145">
                  <c:v>14.93</c:v>
                </c:pt>
                <c:pt idx="146">
                  <c:v>15.03</c:v>
                </c:pt>
                <c:pt idx="147">
                  <c:v>15.98</c:v>
                </c:pt>
                <c:pt idx="148">
                  <c:v>15.48</c:v>
                </c:pt>
                <c:pt idx="149">
                  <c:v>16.72</c:v>
                </c:pt>
                <c:pt idx="150">
                  <c:v>20.38</c:v>
                </c:pt>
                <c:pt idx="151">
                  <c:v>17.52</c:v>
                </c:pt>
                <c:pt idx="152">
                  <c:v>17.850000000000001</c:v>
                </c:pt>
                <c:pt idx="153">
                  <c:v>16.77</c:v>
                </c:pt>
                <c:pt idx="154">
                  <c:v>16.57</c:v>
                </c:pt>
                <c:pt idx="155">
                  <c:v>15.15</c:v>
                </c:pt>
                <c:pt idx="156">
                  <c:v>16.25</c:v>
                </c:pt>
                <c:pt idx="157">
                  <c:v>14.73</c:v>
                </c:pt>
                <c:pt idx="158">
                  <c:v>14.49</c:v>
                </c:pt>
                <c:pt idx="159">
                  <c:v>14.83</c:v>
                </c:pt>
                <c:pt idx="160">
                  <c:v>15.09</c:v>
                </c:pt>
                <c:pt idx="161">
                  <c:v>14.99</c:v>
                </c:pt>
                <c:pt idx="162">
                  <c:v>15.57</c:v>
                </c:pt>
                <c:pt idx="163">
                  <c:v>15.69</c:v>
                </c:pt>
                <c:pt idx="164">
                  <c:v>16.600000000000001</c:v>
                </c:pt>
                <c:pt idx="165">
                  <c:v>14.22</c:v>
                </c:pt>
                <c:pt idx="166">
                  <c:v>14.79</c:v>
                </c:pt>
                <c:pt idx="167">
                  <c:v>14.62</c:v>
                </c:pt>
                <c:pt idx="168">
                  <c:v>14.85</c:v>
                </c:pt>
                <c:pt idx="169">
                  <c:v>14.43</c:v>
                </c:pt>
                <c:pt idx="170">
                  <c:v>15.36</c:v>
                </c:pt>
                <c:pt idx="171">
                  <c:v>16.12</c:v>
                </c:pt>
                <c:pt idx="172">
                  <c:v>17.170000000000002</c:v>
                </c:pt>
                <c:pt idx="173">
                  <c:v>16.350000000000001</c:v>
                </c:pt>
                <c:pt idx="174">
                  <c:v>15.3</c:v>
                </c:pt>
                <c:pt idx="175">
                  <c:v>15.18</c:v>
                </c:pt>
                <c:pt idx="176">
                  <c:v>15.11</c:v>
                </c:pt>
                <c:pt idx="177">
                  <c:v>15.04</c:v>
                </c:pt>
                <c:pt idx="178">
                  <c:v>15.35</c:v>
                </c:pt>
                <c:pt idx="179">
                  <c:v>14.71</c:v>
                </c:pt>
                <c:pt idx="180">
                  <c:v>14.76</c:v>
                </c:pt>
                <c:pt idx="181">
                  <c:v>15.69</c:v>
                </c:pt>
                <c:pt idx="182">
                  <c:v>16.36</c:v>
                </c:pt>
                <c:pt idx="183">
                  <c:v>15.72</c:v>
                </c:pt>
                <c:pt idx="184">
                  <c:v>15.7</c:v>
                </c:pt>
                <c:pt idx="185">
                  <c:v>15.45</c:v>
                </c:pt>
                <c:pt idx="186">
                  <c:v>16.100000000000001</c:v>
                </c:pt>
                <c:pt idx="187">
                  <c:v>16.64</c:v>
                </c:pt>
                <c:pt idx="188">
                  <c:v>16.18</c:v>
                </c:pt>
                <c:pt idx="189">
                  <c:v>16.739999999999998</c:v>
                </c:pt>
                <c:pt idx="190">
                  <c:v>15.29</c:v>
                </c:pt>
                <c:pt idx="191">
                  <c:v>16.12</c:v>
                </c:pt>
                <c:pt idx="192">
                  <c:v>16.28</c:v>
                </c:pt>
                <c:pt idx="193">
                  <c:v>16.29</c:v>
                </c:pt>
                <c:pt idx="194">
                  <c:v>16.63</c:v>
                </c:pt>
                <c:pt idx="195">
                  <c:v>16.649999999999999</c:v>
                </c:pt>
                <c:pt idx="196">
                  <c:v>16.37</c:v>
                </c:pt>
                <c:pt idx="197">
                  <c:v>17.239999999999998</c:v>
                </c:pt>
                <c:pt idx="198">
                  <c:v>16.3</c:v>
                </c:pt>
                <c:pt idx="199">
                  <c:v>16.43</c:v>
                </c:pt>
                <c:pt idx="200">
                  <c:v>21.66</c:v>
                </c:pt>
                <c:pt idx="201">
                  <c:v>19.03</c:v>
                </c:pt>
                <c:pt idx="202">
                  <c:v>20.81</c:v>
                </c:pt>
                <c:pt idx="203">
                  <c:v>20.64</c:v>
                </c:pt>
                <c:pt idx="204">
                  <c:v>25.31</c:v>
                </c:pt>
                <c:pt idx="205">
                  <c:v>20.78</c:v>
                </c:pt>
                <c:pt idx="206">
                  <c:v>18.23</c:v>
                </c:pt>
                <c:pt idx="207">
                  <c:v>17.87</c:v>
                </c:pt>
                <c:pt idx="208">
                  <c:v>18.600000000000001</c:v>
                </c:pt>
                <c:pt idx="209">
                  <c:v>17.3</c:v>
                </c:pt>
                <c:pt idx="210">
                  <c:v>16.37</c:v>
                </c:pt>
                <c:pt idx="211">
                  <c:v>15.79</c:v>
                </c:pt>
                <c:pt idx="212">
                  <c:v>16.420000000000002</c:v>
                </c:pt>
                <c:pt idx="213">
                  <c:v>16.920000000000002</c:v>
                </c:pt>
                <c:pt idx="214">
                  <c:v>16.91</c:v>
                </c:pt>
                <c:pt idx="215">
                  <c:v>17.440000000000001</c:v>
                </c:pt>
                <c:pt idx="216">
                  <c:v>17.170000000000002</c:v>
                </c:pt>
                <c:pt idx="217">
                  <c:v>19</c:v>
                </c:pt>
                <c:pt idx="218">
                  <c:v>18.010000000000002</c:v>
                </c:pt>
                <c:pt idx="219">
                  <c:v>19.5</c:v>
                </c:pt>
                <c:pt idx="220">
                  <c:v>19.079999999999998</c:v>
                </c:pt>
                <c:pt idx="221">
                  <c:v>17.600000000000001</c:v>
                </c:pt>
                <c:pt idx="222">
                  <c:v>17.28</c:v>
                </c:pt>
                <c:pt idx="223">
                  <c:v>17.510000000000002</c:v>
                </c:pt>
                <c:pt idx="224">
                  <c:v>20</c:v>
                </c:pt>
                <c:pt idx="225">
                  <c:v>19.829999999999998</c:v>
                </c:pt>
                <c:pt idx="226">
                  <c:v>22.38</c:v>
                </c:pt>
                <c:pt idx="227">
                  <c:v>24.69</c:v>
                </c:pt>
                <c:pt idx="228">
                  <c:v>23.66</c:v>
                </c:pt>
                <c:pt idx="229">
                  <c:v>26.42</c:v>
                </c:pt>
                <c:pt idx="230">
                  <c:v>23.43</c:v>
                </c:pt>
                <c:pt idx="231">
                  <c:v>20.52</c:v>
                </c:pt>
                <c:pt idx="232">
                  <c:v>18.559999999999999</c:v>
                </c:pt>
                <c:pt idx="233">
                  <c:v>17.190000000000001</c:v>
                </c:pt>
                <c:pt idx="234">
                  <c:v>17.21</c:v>
                </c:pt>
                <c:pt idx="235">
                  <c:v>16.350000000000001</c:v>
                </c:pt>
                <c:pt idx="236">
                  <c:v>17.239999999999998</c:v>
                </c:pt>
                <c:pt idx="237">
                  <c:v>16.59</c:v>
                </c:pt>
                <c:pt idx="238">
                  <c:v>16.079999999999998</c:v>
                </c:pt>
                <c:pt idx="239">
                  <c:v>15.78</c:v>
                </c:pt>
                <c:pt idx="240">
                  <c:v>15.41</c:v>
                </c:pt>
                <c:pt idx="241">
                  <c:v>16.66</c:v>
                </c:pt>
                <c:pt idx="242">
                  <c:v>16.93</c:v>
                </c:pt>
                <c:pt idx="243">
                  <c:v>15.77</c:v>
                </c:pt>
                <c:pt idx="244">
                  <c:v>14.85</c:v>
                </c:pt>
                <c:pt idx="245">
                  <c:v>15.74</c:v>
                </c:pt>
                <c:pt idx="246">
                  <c:v>16.5</c:v>
                </c:pt>
                <c:pt idx="247">
                  <c:v>16.48</c:v>
                </c:pt>
                <c:pt idx="248">
                  <c:v>17.62</c:v>
                </c:pt>
                <c:pt idx="249">
                  <c:v>16.87</c:v>
                </c:pt>
                <c:pt idx="250">
                  <c:v>14.91</c:v>
                </c:pt>
                <c:pt idx="251">
                  <c:v>14.08</c:v>
                </c:pt>
                <c:pt idx="252">
                  <c:v>14</c:v>
                </c:pt>
                <c:pt idx="253">
                  <c:v>13.47</c:v>
                </c:pt>
                <c:pt idx="254">
                  <c:v>13.6</c:v>
                </c:pt>
                <c:pt idx="255">
                  <c:v>14.2</c:v>
                </c:pt>
                <c:pt idx="256">
                  <c:v>14.33</c:v>
                </c:pt>
                <c:pt idx="257">
                  <c:v>14.95</c:v>
                </c:pt>
                <c:pt idx="258">
                  <c:v>14.51</c:v>
                </c:pt>
                <c:pt idx="259">
                  <c:v>14.9</c:v>
                </c:pt>
                <c:pt idx="260">
                  <c:v>14.75</c:v>
                </c:pt>
                <c:pt idx="261">
                  <c:v>15.38</c:v>
                </c:pt>
                <c:pt idx="262">
                  <c:v>15.45</c:v>
                </c:pt>
                <c:pt idx="263">
                  <c:v>14.49</c:v>
                </c:pt>
                <c:pt idx="264">
                  <c:v>15.12</c:v>
                </c:pt>
                <c:pt idx="265">
                  <c:v>15.98</c:v>
                </c:pt>
                <c:pt idx="266">
                  <c:v>16.75</c:v>
                </c:pt>
                <c:pt idx="267">
                  <c:v>15.84</c:v>
                </c:pt>
                <c:pt idx="268">
                  <c:v>15.86</c:v>
                </c:pt>
                <c:pt idx="269">
                  <c:v>18.84</c:v>
                </c:pt>
                <c:pt idx="270">
                  <c:v>20.09</c:v>
                </c:pt>
                <c:pt idx="271">
                  <c:v>16.899999999999999</c:v>
                </c:pt>
                <c:pt idx="272">
                  <c:v>15.64</c:v>
                </c:pt>
                <c:pt idx="273">
                  <c:v>16.09</c:v>
                </c:pt>
                <c:pt idx="274">
                  <c:v>16.149999999999999</c:v>
                </c:pt>
                <c:pt idx="275">
                  <c:v>16.350000000000001</c:v>
                </c:pt>
                <c:pt idx="276">
                  <c:v>16.350000000000001</c:v>
                </c:pt>
                <c:pt idx="277">
                  <c:v>16.88</c:v>
                </c:pt>
                <c:pt idx="278">
                  <c:v>17.440000000000001</c:v>
                </c:pt>
                <c:pt idx="279">
                  <c:v>16.34</c:v>
                </c:pt>
                <c:pt idx="280">
                  <c:v>18</c:v>
                </c:pt>
                <c:pt idx="281">
                  <c:v>18.64</c:v>
                </c:pt>
                <c:pt idx="282">
                  <c:v>21.77</c:v>
                </c:pt>
                <c:pt idx="283">
                  <c:v>17.760000000000002</c:v>
                </c:pt>
                <c:pt idx="284">
                  <c:v>17.36</c:v>
                </c:pt>
                <c:pt idx="285">
                  <c:v>17.79</c:v>
                </c:pt>
                <c:pt idx="286">
                  <c:v>17.649999999999999</c:v>
                </c:pt>
                <c:pt idx="287">
                  <c:v>20.82</c:v>
                </c:pt>
                <c:pt idx="288">
                  <c:v>20.6</c:v>
                </c:pt>
                <c:pt idx="289">
                  <c:v>21.2</c:v>
                </c:pt>
                <c:pt idx="290">
                  <c:v>20.29</c:v>
                </c:pt>
                <c:pt idx="291">
                  <c:v>19.62</c:v>
                </c:pt>
                <c:pt idx="292">
                  <c:v>20.23</c:v>
                </c:pt>
                <c:pt idx="293">
                  <c:v>19.09</c:v>
                </c:pt>
                <c:pt idx="294">
                  <c:v>21.01</c:v>
                </c:pt>
                <c:pt idx="295">
                  <c:v>19.55</c:v>
                </c:pt>
                <c:pt idx="296">
                  <c:v>17.93</c:v>
                </c:pt>
                <c:pt idx="297">
                  <c:v>18.63</c:v>
                </c:pt>
                <c:pt idx="298">
                  <c:v>19.86</c:v>
                </c:pt>
                <c:pt idx="299">
                  <c:v>21.44</c:v>
                </c:pt>
                <c:pt idx="300">
                  <c:v>23.57</c:v>
                </c:pt>
                <c:pt idx="301">
                  <c:v>21.15</c:v>
                </c:pt>
                <c:pt idx="302">
                  <c:v>23.75</c:v>
                </c:pt>
                <c:pt idx="303">
                  <c:v>29.49</c:v>
                </c:pt>
                <c:pt idx="304">
                  <c:v>25.5</c:v>
                </c:pt>
                <c:pt idx="305">
                  <c:v>24.93</c:v>
                </c:pt>
                <c:pt idx="306">
                  <c:v>24.23</c:v>
                </c:pt>
                <c:pt idx="307">
                  <c:v>27.29</c:v>
                </c:pt>
                <c:pt idx="308">
                  <c:v>27.19</c:v>
                </c:pt>
                <c:pt idx="309">
                  <c:v>23.51</c:v>
                </c:pt>
                <c:pt idx="310">
                  <c:v>22.37</c:v>
                </c:pt>
                <c:pt idx="311">
                  <c:v>25.09</c:v>
                </c:pt>
                <c:pt idx="312">
                  <c:v>24.06</c:v>
                </c:pt>
                <c:pt idx="313">
                  <c:v>26.78</c:v>
                </c:pt>
                <c:pt idx="314">
                  <c:v>26.15</c:v>
                </c:pt>
                <c:pt idx="315">
                  <c:v>26.95</c:v>
                </c:pt>
                <c:pt idx="316">
                  <c:v>25.33</c:v>
                </c:pt>
                <c:pt idx="317">
                  <c:v>27.44</c:v>
                </c:pt>
                <c:pt idx="318">
                  <c:v>31.05</c:v>
                </c:pt>
                <c:pt idx="319">
                  <c:v>30.61</c:v>
                </c:pt>
                <c:pt idx="320">
                  <c:v>25.25</c:v>
                </c:pt>
                <c:pt idx="321">
                  <c:v>24.54</c:v>
                </c:pt>
                <c:pt idx="322">
                  <c:v>23.87</c:v>
                </c:pt>
                <c:pt idx="323">
                  <c:v>24.17</c:v>
                </c:pt>
                <c:pt idx="324">
                  <c:v>25.78</c:v>
                </c:pt>
                <c:pt idx="325">
                  <c:v>21.04</c:v>
                </c:pt>
                <c:pt idx="326">
                  <c:v>19.489999999999998</c:v>
                </c:pt>
                <c:pt idx="327">
                  <c:v>19.23</c:v>
                </c:pt>
                <c:pt idx="328">
                  <c:v>19.12</c:v>
                </c:pt>
                <c:pt idx="329">
                  <c:v>18.36</c:v>
                </c:pt>
                <c:pt idx="330">
                  <c:v>18.170000000000002</c:v>
                </c:pt>
                <c:pt idx="331">
                  <c:v>17.940000000000001</c:v>
                </c:pt>
                <c:pt idx="332">
                  <c:v>17.48</c:v>
                </c:pt>
                <c:pt idx="333">
                  <c:v>18.87</c:v>
                </c:pt>
                <c:pt idx="334">
                  <c:v>19.5</c:v>
                </c:pt>
                <c:pt idx="335">
                  <c:v>18.920000000000002</c:v>
                </c:pt>
                <c:pt idx="336">
                  <c:v>19.309999999999999</c:v>
                </c:pt>
                <c:pt idx="337">
                  <c:v>18.71</c:v>
                </c:pt>
                <c:pt idx="338">
                  <c:v>18.02</c:v>
                </c:pt>
                <c:pt idx="339">
                  <c:v>17.829999999999998</c:v>
                </c:pt>
                <c:pt idx="340">
                  <c:v>18.809999999999999</c:v>
                </c:pt>
                <c:pt idx="341">
                  <c:v>16.89</c:v>
                </c:pt>
                <c:pt idx="342">
                  <c:v>16.989999999999998</c:v>
                </c:pt>
                <c:pt idx="343">
                  <c:v>18.29</c:v>
                </c:pt>
              </c:numCache>
            </c:numRef>
          </c:val>
          <c:smooth val="0"/>
          <c:extLst>
            <c:ext xmlns:c16="http://schemas.microsoft.com/office/drawing/2014/chart" uri="{C3380CC4-5D6E-409C-BE32-E72D297353CC}">
              <c16:uniqueId val="{00000000-4261-49AC-A623-FD695EA255F0}"/>
            </c:ext>
          </c:extLst>
        </c:ser>
        <c:dLbls>
          <c:showLegendKey val="0"/>
          <c:showVal val="0"/>
          <c:showCatName val="0"/>
          <c:showSerName val="0"/>
          <c:showPercent val="0"/>
          <c:showBubbleSize val="0"/>
        </c:dLbls>
        <c:smooth val="0"/>
        <c:axId val="1085103152"/>
        <c:axId val="1085105232"/>
      </c:lineChart>
      <c:dateAx>
        <c:axId val="1085103152"/>
        <c:scaling>
          <c:orientation val="minMax"/>
        </c:scaling>
        <c:delete val="0"/>
        <c:axPos val="b"/>
        <c:numFmt formatCode="mmm\ yy" sourceLinked="0"/>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085105232"/>
        <c:crosses val="autoZero"/>
        <c:auto val="1"/>
        <c:lblOffset val="100"/>
        <c:baseTimeUnit val="days"/>
        <c:majorUnit val="2"/>
        <c:majorTimeUnit val="months"/>
      </c:dateAx>
      <c:valAx>
        <c:axId val="1085105232"/>
        <c:scaling>
          <c:orientation val="minMax"/>
        </c:scaling>
        <c:delete val="0"/>
        <c:axPos val="l"/>
        <c:numFmt formatCode="_(* #,##0_);_(* \(#,##0\);_(* &quot;   -&quot;?_);_(@_)"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085103152"/>
        <c:crosses val="autoZero"/>
        <c:crossBetween val="between"/>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latin typeface="Arial" panose="020B060402020202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134614927868742E-2"/>
          <c:y val="4.6054312440763176E-2"/>
          <c:w val="0.86874913903258133"/>
          <c:h val="0.84864359396935851"/>
        </c:manualLayout>
      </c:layout>
      <c:lineChart>
        <c:grouping val="standard"/>
        <c:varyColors val="0"/>
        <c:ser>
          <c:idx val="1"/>
          <c:order val="0"/>
          <c:tx>
            <c:strRef>
              <c:f>'US 10Y Govt'!$N$13</c:f>
              <c:strCache>
                <c:ptCount val="1"/>
                <c:pt idx="0">
                  <c:v>US 10Y Treasury</c:v>
                </c:pt>
              </c:strCache>
            </c:strRef>
          </c:tx>
          <c:spPr>
            <a:ln w="15875" cap="rnd">
              <a:solidFill>
                <a:srgbClr val="089C8B"/>
              </a:solidFill>
              <a:round/>
            </a:ln>
            <a:effectLst/>
          </c:spPr>
          <c:marker>
            <c:symbol val="none"/>
          </c:marker>
          <c:dLbls>
            <c:dLbl>
              <c:idx val="347"/>
              <c:layout>
                <c:manualLayout>
                  <c:x val="-1.3767233344197988E-2"/>
                  <c:y val="-2.230995544161630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71C-4BC6-AA73-4B0695FC4D8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'US 10Y Govt'!$M$14:$M$361</c:f>
              <c:numCache>
                <c:formatCode>dd\ mmm\ yy</c:formatCode>
                <c:ptCount val="348"/>
                <c:pt idx="0">
                  <c:v>45658</c:v>
                </c:pt>
                <c:pt idx="1">
                  <c:v>45659</c:v>
                </c:pt>
                <c:pt idx="2">
                  <c:v>45660</c:v>
                </c:pt>
                <c:pt idx="3">
                  <c:v>45663</c:v>
                </c:pt>
                <c:pt idx="4">
                  <c:v>45664</c:v>
                </c:pt>
                <c:pt idx="5">
                  <c:v>45665</c:v>
                </c:pt>
                <c:pt idx="6">
                  <c:v>45666</c:v>
                </c:pt>
                <c:pt idx="7">
                  <c:v>45667</c:v>
                </c:pt>
                <c:pt idx="8">
                  <c:v>45670</c:v>
                </c:pt>
                <c:pt idx="9">
                  <c:v>45671</c:v>
                </c:pt>
                <c:pt idx="10">
                  <c:v>45672</c:v>
                </c:pt>
                <c:pt idx="11">
                  <c:v>45673</c:v>
                </c:pt>
                <c:pt idx="12">
                  <c:v>45674</c:v>
                </c:pt>
                <c:pt idx="13">
                  <c:v>45677</c:v>
                </c:pt>
                <c:pt idx="14">
                  <c:v>45678</c:v>
                </c:pt>
                <c:pt idx="15">
                  <c:v>45679</c:v>
                </c:pt>
                <c:pt idx="16">
                  <c:v>45680</c:v>
                </c:pt>
                <c:pt idx="17">
                  <c:v>45681</c:v>
                </c:pt>
                <c:pt idx="18">
                  <c:v>45684</c:v>
                </c:pt>
                <c:pt idx="19">
                  <c:v>45685</c:v>
                </c:pt>
                <c:pt idx="20">
                  <c:v>45686</c:v>
                </c:pt>
                <c:pt idx="21">
                  <c:v>45687</c:v>
                </c:pt>
                <c:pt idx="22">
                  <c:v>45688</c:v>
                </c:pt>
                <c:pt idx="23">
                  <c:v>45691</c:v>
                </c:pt>
                <c:pt idx="24">
                  <c:v>45692</c:v>
                </c:pt>
                <c:pt idx="25">
                  <c:v>45693</c:v>
                </c:pt>
                <c:pt idx="26">
                  <c:v>45694</c:v>
                </c:pt>
                <c:pt idx="27">
                  <c:v>45695</c:v>
                </c:pt>
                <c:pt idx="28">
                  <c:v>45698</c:v>
                </c:pt>
                <c:pt idx="29">
                  <c:v>45699</c:v>
                </c:pt>
                <c:pt idx="30">
                  <c:v>45700</c:v>
                </c:pt>
                <c:pt idx="31">
                  <c:v>45701</c:v>
                </c:pt>
                <c:pt idx="32">
                  <c:v>45702</c:v>
                </c:pt>
                <c:pt idx="33">
                  <c:v>45705</c:v>
                </c:pt>
                <c:pt idx="34">
                  <c:v>45706</c:v>
                </c:pt>
                <c:pt idx="35">
                  <c:v>45707</c:v>
                </c:pt>
                <c:pt idx="36">
                  <c:v>45708</c:v>
                </c:pt>
                <c:pt idx="37">
                  <c:v>45709</c:v>
                </c:pt>
                <c:pt idx="38">
                  <c:v>45712</c:v>
                </c:pt>
                <c:pt idx="39">
                  <c:v>45713</c:v>
                </c:pt>
                <c:pt idx="40">
                  <c:v>45714</c:v>
                </c:pt>
                <c:pt idx="41">
                  <c:v>45715</c:v>
                </c:pt>
                <c:pt idx="42">
                  <c:v>45716</c:v>
                </c:pt>
                <c:pt idx="43">
                  <c:v>45719</c:v>
                </c:pt>
                <c:pt idx="44">
                  <c:v>45720</c:v>
                </c:pt>
                <c:pt idx="45">
                  <c:v>45721</c:v>
                </c:pt>
                <c:pt idx="46">
                  <c:v>45722</c:v>
                </c:pt>
                <c:pt idx="47">
                  <c:v>45723</c:v>
                </c:pt>
                <c:pt idx="48">
                  <c:v>45726</c:v>
                </c:pt>
                <c:pt idx="49">
                  <c:v>45727</c:v>
                </c:pt>
                <c:pt idx="50">
                  <c:v>45728</c:v>
                </c:pt>
                <c:pt idx="51">
                  <c:v>45729</c:v>
                </c:pt>
                <c:pt idx="52">
                  <c:v>45730</c:v>
                </c:pt>
                <c:pt idx="53">
                  <c:v>45733</c:v>
                </c:pt>
                <c:pt idx="54">
                  <c:v>45734</c:v>
                </c:pt>
                <c:pt idx="55">
                  <c:v>45735</c:v>
                </c:pt>
                <c:pt idx="56">
                  <c:v>45736</c:v>
                </c:pt>
                <c:pt idx="57">
                  <c:v>45737</c:v>
                </c:pt>
                <c:pt idx="58">
                  <c:v>45740</c:v>
                </c:pt>
                <c:pt idx="59">
                  <c:v>45741</c:v>
                </c:pt>
                <c:pt idx="60">
                  <c:v>45742</c:v>
                </c:pt>
                <c:pt idx="61">
                  <c:v>45743</c:v>
                </c:pt>
                <c:pt idx="62">
                  <c:v>45744</c:v>
                </c:pt>
                <c:pt idx="63">
                  <c:v>45747</c:v>
                </c:pt>
                <c:pt idx="64">
                  <c:v>45748</c:v>
                </c:pt>
                <c:pt idx="65">
                  <c:v>45749</c:v>
                </c:pt>
                <c:pt idx="66">
                  <c:v>45750</c:v>
                </c:pt>
                <c:pt idx="67">
                  <c:v>45751</c:v>
                </c:pt>
                <c:pt idx="68">
                  <c:v>45754</c:v>
                </c:pt>
                <c:pt idx="69">
                  <c:v>45755</c:v>
                </c:pt>
                <c:pt idx="70">
                  <c:v>45756</c:v>
                </c:pt>
                <c:pt idx="71">
                  <c:v>45757</c:v>
                </c:pt>
                <c:pt idx="72">
                  <c:v>45758</c:v>
                </c:pt>
                <c:pt idx="73">
                  <c:v>45761</c:v>
                </c:pt>
                <c:pt idx="74">
                  <c:v>45762</c:v>
                </c:pt>
                <c:pt idx="75">
                  <c:v>45763</c:v>
                </c:pt>
                <c:pt idx="76">
                  <c:v>45764</c:v>
                </c:pt>
                <c:pt idx="77">
                  <c:v>45765</c:v>
                </c:pt>
                <c:pt idx="78">
                  <c:v>45768</c:v>
                </c:pt>
                <c:pt idx="79">
                  <c:v>45769</c:v>
                </c:pt>
                <c:pt idx="80">
                  <c:v>45770</c:v>
                </c:pt>
                <c:pt idx="81">
                  <c:v>45771</c:v>
                </c:pt>
                <c:pt idx="82">
                  <c:v>45772</c:v>
                </c:pt>
                <c:pt idx="83">
                  <c:v>45775</c:v>
                </c:pt>
                <c:pt idx="84">
                  <c:v>45776</c:v>
                </c:pt>
                <c:pt idx="85">
                  <c:v>45777</c:v>
                </c:pt>
                <c:pt idx="86">
                  <c:v>45778</c:v>
                </c:pt>
                <c:pt idx="87">
                  <c:v>45779</c:v>
                </c:pt>
                <c:pt idx="88">
                  <c:v>45782</c:v>
                </c:pt>
                <c:pt idx="89">
                  <c:v>45783</c:v>
                </c:pt>
                <c:pt idx="90">
                  <c:v>45784</c:v>
                </c:pt>
                <c:pt idx="91">
                  <c:v>45785</c:v>
                </c:pt>
                <c:pt idx="92">
                  <c:v>45786</c:v>
                </c:pt>
                <c:pt idx="93">
                  <c:v>45789</c:v>
                </c:pt>
                <c:pt idx="94">
                  <c:v>45790</c:v>
                </c:pt>
                <c:pt idx="95">
                  <c:v>45791</c:v>
                </c:pt>
                <c:pt idx="96">
                  <c:v>45792</c:v>
                </c:pt>
                <c:pt idx="97">
                  <c:v>45793</c:v>
                </c:pt>
                <c:pt idx="98">
                  <c:v>45796</c:v>
                </c:pt>
                <c:pt idx="99">
                  <c:v>45797</c:v>
                </c:pt>
                <c:pt idx="100">
                  <c:v>45798</c:v>
                </c:pt>
                <c:pt idx="101">
                  <c:v>45799</c:v>
                </c:pt>
                <c:pt idx="102">
                  <c:v>45800</c:v>
                </c:pt>
                <c:pt idx="103">
                  <c:v>45804</c:v>
                </c:pt>
                <c:pt idx="104">
                  <c:v>45805</c:v>
                </c:pt>
                <c:pt idx="105">
                  <c:v>45806</c:v>
                </c:pt>
                <c:pt idx="106">
                  <c:v>45807</c:v>
                </c:pt>
                <c:pt idx="107">
                  <c:v>45810</c:v>
                </c:pt>
                <c:pt idx="108">
                  <c:v>45811</c:v>
                </c:pt>
                <c:pt idx="109">
                  <c:v>45812</c:v>
                </c:pt>
                <c:pt idx="110">
                  <c:v>45813</c:v>
                </c:pt>
                <c:pt idx="111">
                  <c:v>45814</c:v>
                </c:pt>
                <c:pt idx="112">
                  <c:v>45817</c:v>
                </c:pt>
                <c:pt idx="113">
                  <c:v>45818</c:v>
                </c:pt>
                <c:pt idx="114">
                  <c:v>45819</c:v>
                </c:pt>
                <c:pt idx="115">
                  <c:v>45820</c:v>
                </c:pt>
                <c:pt idx="116">
                  <c:v>45821</c:v>
                </c:pt>
                <c:pt idx="117">
                  <c:v>45824</c:v>
                </c:pt>
                <c:pt idx="118">
                  <c:v>45825</c:v>
                </c:pt>
                <c:pt idx="119">
                  <c:v>45826</c:v>
                </c:pt>
                <c:pt idx="120">
                  <c:v>45827</c:v>
                </c:pt>
                <c:pt idx="121">
                  <c:v>45828</c:v>
                </c:pt>
                <c:pt idx="122">
                  <c:v>45831</c:v>
                </c:pt>
                <c:pt idx="123">
                  <c:v>45832</c:v>
                </c:pt>
                <c:pt idx="124">
                  <c:v>45833</c:v>
                </c:pt>
                <c:pt idx="125">
                  <c:v>45834</c:v>
                </c:pt>
                <c:pt idx="126">
                  <c:v>45835</c:v>
                </c:pt>
                <c:pt idx="127">
                  <c:v>45838</c:v>
                </c:pt>
                <c:pt idx="128">
                  <c:v>45839</c:v>
                </c:pt>
                <c:pt idx="129">
                  <c:v>45840</c:v>
                </c:pt>
                <c:pt idx="130">
                  <c:v>45841</c:v>
                </c:pt>
                <c:pt idx="131">
                  <c:v>45842</c:v>
                </c:pt>
                <c:pt idx="132">
                  <c:v>45845</c:v>
                </c:pt>
                <c:pt idx="133">
                  <c:v>45846</c:v>
                </c:pt>
                <c:pt idx="134">
                  <c:v>45847</c:v>
                </c:pt>
                <c:pt idx="135">
                  <c:v>45848</c:v>
                </c:pt>
                <c:pt idx="136">
                  <c:v>45849</c:v>
                </c:pt>
                <c:pt idx="137">
                  <c:v>45852</c:v>
                </c:pt>
                <c:pt idx="138">
                  <c:v>45853</c:v>
                </c:pt>
                <c:pt idx="139">
                  <c:v>45854</c:v>
                </c:pt>
                <c:pt idx="140">
                  <c:v>45855</c:v>
                </c:pt>
                <c:pt idx="141">
                  <c:v>45856</c:v>
                </c:pt>
                <c:pt idx="142">
                  <c:v>45859</c:v>
                </c:pt>
                <c:pt idx="143">
                  <c:v>45860</c:v>
                </c:pt>
                <c:pt idx="144">
                  <c:v>45861</c:v>
                </c:pt>
                <c:pt idx="145">
                  <c:v>45862</c:v>
                </c:pt>
                <c:pt idx="146">
                  <c:v>45863</c:v>
                </c:pt>
                <c:pt idx="147">
                  <c:v>45866</c:v>
                </c:pt>
                <c:pt idx="148">
                  <c:v>45867</c:v>
                </c:pt>
                <c:pt idx="149">
                  <c:v>45868</c:v>
                </c:pt>
                <c:pt idx="150">
                  <c:v>45869</c:v>
                </c:pt>
                <c:pt idx="151">
                  <c:v>45870</c:v>
                </c:pt>
                <c:pt idx="152">
                  <c:v>45873</c:v>
                </c:pt>
                <c:pt idx="153">
                  <c:v>45874</c:v>
                </c:pt>
                <c:pt idx="154">
                  <c:v>45875</c:v>
                </c:pt>
                <c:pt idx="155">
                  <c:v>45876</c:v>
                </c:pt>
                <c:pt idx="156">
                  <c:v>45877</c:v>
                </c:pt>
                <c:pt idx="157">
                  <c:v>45880</c:v>
                </c:pt>
                <c:pt idx="158">
                  <c:v>45881</c:v>
                </c:pt>
                <c:pt idx="159">
                  <c:v>45882</c:v>
                </c:pt>
                <c:pt idx="160">
                  <c:v>45883</c:v>
                </c:pt>
                <c:pt idx="161">
                  <c:v>45884</c:v>
                </c:pt>
                <c:pt idx="162">
                  <c:v>45887</c:v>
                </c:pt>
                <c:pt idx="163">
                  <c:v>45888</c:v>
                </c:pt>
                <c:pt idx="164">
                  <c:v>45889</c:v>
                </c:pt>
                <c:pt idx="165">
                  <c:v>45890</c:v>
                </c:pt>
                <c:pt idx="166">
                  <c:v>45891</c:v>
                </c:pt>
                <c:pt idx="167">
                  <c:v>45894</c:v>
                </c:pt>
                <c:pt idx="168">
                  <c:v>45895</c:v>
                </c:pt>
                <c:pt idx="169">
                  <c:v>45896</c:v>
                </c:pt>
                <c:pt idx="170">
                  <c:v>45897</c:v>
                </c:pt>
                <c:pt idx="171">
                  <c:v>45898</c:v>
                </c:pt>
                <c:pt idx="172">
                  <c:v>45901</c:v>
                </c:pt>
                <c:pt idx="173">
                  <c:v>45902</c:v>
                </c:pt>
                <c:pt idx="174">
                  <c:v>45903</c:v>
                </c:pt>
                <c:pt idx="175">
                  <c:v>45904</c:v>
                </c:pt>
                <c:pt idx="176">
                  <c:v>45905</c:v>
                </c:pt>
                <c:pt idx="177">
                  <c:v>45908</c:v>
                </c:pt>
                <c:pt idx="178">
                  <c:v>45909</c:v>
                </c:pt>
                <c:pt idx="179">
                  <c:v>45910</c:v>
                </c:pt>
                <c:pt idx="180">
                  <c:v>45911</c:v>
                </c:pt>
                <c:pt idx="181">
                  <c:v>45912</c:v>
                </c:pt>
                <c:pt idx="182">
                  <c:v>45915</c:v>
                </c:pt>
                <c:pt idx="183">
                  <c:v>45916</c:v>
                </c:pt>
                <c:pt idx="184">
                  <c:v>45917</c:v>
                </c:pt>
                <c:pt idx="185">
                  <c:v>45918</c:v>
                </c:pt>
                <c:pt idx="186">
                  <c:v>45919</c:v>
                </c:pt>
                <c:pt idx="187">
                  <c:v>45922</c:v>
                </c:pt>
                <c:pt idx="188">
                  <c:v>45923</c:v>
                </c:pt>
                <c:pt idx="189">
                  <c:v>45924</c:v>
                </c:pt>
                <c:pt idx="190">
                  <c:v>45925</c:v>
                </c:pt>
                <c:pt idx="191">
                  <c:v>45926</c:v>
                </c:pt>
                <c:pt idx="192">
                  <c:v>45929</c:v>
                </c:pt>
                <c:pt idx="193">
                  <c:v>45930</c:v>
                </c:pt>
                <c:pt idx="194">
                  <c:v>45931</c:v>
                </c:pt>
                <c:pt idx="195">
                  <c:v>45932</c:v>
                </c:pt>
                <c:pt idx="196">
                  <c:v>45933</c:v>
                </c:pt>
                <c:pt idx="197">
                  <c:v>45936</c:v>
                </c:pt>
                <c:pt idx="198">
                  <c:v>45937</c:v>
                </c:pt>
                <c:pt idx="199">
                  <c:v>45938</c:v>
                </c:pt>
                <c:pt idx="200">
                  <c:v>45939</c:v>
                </c:pt>
                <c:pt idx="201">
                  <c:v>45940</c:v>
                </c:pt>
                <c:pt idx="202">
                  <c:v>45943</c:v>
                </c:pt>
                <c:pt idx="203">
                  <c:v>45944</c:v>
                </c:pt>
                <c:pt idx="204">
                  <c:v>45945</c:v>
                </c:pt>
                <c:pt idx="205">
                  <c:v>45946</c:v>
                </c:pt>
                <c:pt idx="206">
                  <c:v>45947</c:v>
                </c:pt>
                <c:pt idx="207">
                  <c:v>45950</c:v>
                </c:pt>
                <c:pt idx="208">
                  <c:v>45951</c:v>
                </c:pt>
                <c:pt idx="209">
                  <c:v>45952</c:v>
                </c:pt>
                <c:pt idx="210">
                  <c:v>45953</c:v>
                </c:pt>
                <c:pt idx="211">
                  <c:v>45954</c:v>
                </c:pt>
                <c:pt idx="212">
                  <c:v>45957</c:v>
                </c:pt>
                <c:pt idx="213">
                  <c:v>45958</c:v>
                </c:pt>
                <c:pt idx="214">
                  <c:v>45959</c:v>
                </c:pt>
                <c:pt idx="215">
                  <c:v>45960</c:v>
                </c:pt>
                <c:pt idx="216">
                  <c:v>45961</c:v>
                </c:pt>
                <c:pt idx="217">
                  <c:v>45964</c:v>
                </c:pt>
                <c:pt idx="218">
                  <c:v>45965</c:v>
                </c:pt>
                <c:pt idx="219">
                  <c:v>45966</c:v>
                </c:pt>
                <c:pt idx="220">
                  <c:v>45967</c:v>
                </c:pt>
                <c:pt idx="221">
                  <c:v>45968</c:v>
                </c:pt>
                <c:pt idx="222">
                  <c:v>45971</c:v>
                </c:pt>
                <c:pt idx="223">
                  <c:v>45972</c:v>
                </c:pt>
                <c:pt idx="224">
                  <c:v>45973</c:v>
                </c:pt>
                <c:pt idx="225">
                  <c:v>45974</c:v>
                </c:pt>
                <c:pt idx="226">
                  <c:v>45975</c:v>
                </c:pt>
                <c:pt idx="227">
                  <c:v>45978</c:v>
                </c:pt>
                <c:pt idx="228">
                  <c:v>45979</c:v>
                </c:pt>
                <c:pt idx="229">
                  <c:v>45980</c:v>
                </c:pt>
                <c:pt idx="230">
                  <c:v>45981</c:v>
                </c:pt>
                <c:pt idx="231">
                  <c:v>45982</c:v>
                </c:pt>
                <c:pt idx="232">
                  <c:v>45985</c:v>
                </c:pt>
                <c:pt idx="233">
                  <c:v>45986</c:v>
                </c:pt>
                <c:pt idx="234">
                  <c:v>45987</c:v>
                </c:pt>
                <c:pt idx="235">
                  <c:v>45988</c:v>
                </c:pt>
                <c:pt idx="236">
                  <c:v>45989</c:v>
                </c:pt>
                <c:pt idx="237">
                  <c:v>45992</c:v>
                </c:pt>
                <c:pt idx="238">
                  <c:v>45993</c:v>
                </c:pt>
                <c:pt idx="239">
                  <c:v>45994</c:v>
                </c:pt>
                <c:pt idx="240">
                  <c:v>45995</c:v>
                </c:pt>
                <c:pt idx="241">
                  <c:v>45996</c:v>
                </c:pt>
                <c:pt idx="242">
                  <c:v>45999</c:v>
                </c:pt>
                <c:pt idx="243">
                  <c:v>46000</c:v>
                </c:pt>
                <c:pt idx="244">
                  <c:v>46001</c:v>
                </c:pt>
                <c:pt idx="245">
                  <c:v>46002</c:v>
                </c:pt>
                <c:pt idx="246">
                  <c:v>46003</c:v>
                </c:pt>
                <c:pt idx="247">
                  <c:v>46006</c:v>
                </c:pt>
                <c:pt idx="248">
                  <c:v>46007</c:v>
                </c:pt>
                <c:pt idx="249">
                  <c:v>46008</c:v>
                </c:pt>
                <c:pt idx="250">
                  <c:v>46009</c:v>
                </c:pt>
                <c:pt idx="251">
                  <c:v>46010</c:v>
                </c:pt>
                <c:pt idx="252">
                  <c:v>46013</c:v>
                </c:pt>
                <c:pt idx="253">
                  <c:v>46014</c:v>
                </c:pt>
                <c:pt idx="254">
                  <c:v>46015</c:v>
                </c:pt>
                <c:pt idx="255">
                  <c:v>46016</c:v>
                </c:pt>
                <c:pt idx="256">
                  <c:v>46017</c:v>
                </c:pt>
                <c:pt idx="257">
                  <c:v>46020</c:v>
                </c:pt>
                <c:pt idx="258">
                  <c:v>46021</c:v>
                </c:pt>
                <c:pt idx="259">
                  <c:v>46022</c:v>
                </c:pt>
                <c:pt idx="260">
                  <c:v>46023</c:v>
                </c:pt>
                <c:pt idx="261">
                  <c:v>46024</c:v>
                </c:pt>
                <c:pt idx="262">
                  <c:v>46027</c:v>
                </c:pt>
                <c:pt idx="263">
                  <c:v>46028</c:v>
                </c:pt>
                <c:pt idx="264">
                  <c:v>46029</c:v>
                </c:pt>
                <c:pt idx="265">
                  <c:v>46030</c:v>
                </c:pt>
                <c:pt idx="266">
                  <c:v>46031</c:v>
                </c:pt>
                <c:pt idx="267">
                  <c:v>46034</c:v>
                </c:pt>
                <c:pt idx="268">
                  <c:v>46035</c:v>
                </c:pt>
                <c:pt idx="269">
                  <c:v>46036</c:v>
                </c:pt>
                <c:pt idx="270">
                  <c:v>46037</c:v>
                </c:pt>
                <c:pt idx="271">
                  <c:v>46038</c:v>
                </c:pt>
                <c:pt idx="272">
                  <c:v>46041</c:v>
                </c:pt>
                <c:pt idx="273">
                  <c:v>46042</c:v>
                </c:pt>
                <c:pt idx="274">
                  <c:v>46043</c:v>
                </c:pt>
                <c:pt idx="275">
                  <c:v>46044</c:v>
                </c:pt>
                <c:pt idx="276">
                  <c:v>46045</c:v>
                </c:pt>
                <c:pt idx="277">
                  <c:v>46048</c:v>
                </c:pt>
                <c:pt idx="278">
                  <c:v>46049</c:v>
                </c:pt>
                <c:pt idx="279">
                  <c:v>46050</c:v>
                </c:pt>
                <c:pt idx="280">
                  <c:v>46051</c:v>
                </c:pt>
                <c:pt idx="281">
                  <c:v>46052</c:v>
                </c:pt>
                <c:pt idx="282">
                  <c:v>46055</c:v>
                </c:pt>
                <c:pt idx="283">
                  <c:v>46056</c:v>
                </c:pt>
                <c:pt idx="284">
                  <c:v>46057</c:v>
                </c:pt>
                <c:pt idx="285">
                  <c:v>46058</c:v>
                </c:pt>
                <c:pt idx="286">
                  <c:v>46059</c:v>
                </c:pt>
                <c:pt idx="287">
                  <c:v>46062</c:v>
                </c:pt>
                <c:pt idx="288">
                  <c:v>46063</c:v>
                </c:pt>
                <c:pt idx="289">
                  <c:v>46064</c:v>
                </c:pt>
                <c:pt idx="290">
                  <c:v>46065</c:v>
                </c:pt>
                <c:pt idx="291">
                  <c:v>46066</c:v>
                </c:pt>
                <c:pt idx="292">
                  <c:v>46069</c:v>
                </c:pt>
                <c:pt idx="293">
                  <c:v>46070</c:v>
                </c:pt>
                <c:pt idx="294">
                  <c:v>46071</c:v>
                </c:pt>
                <c:pt idx="295">
                  <c:v>46072</c:v>
                </c:pt>
                <c:pt idx="296">
                  <c:v>46073</c:v>
                </c:pt>
                <c:pt idx="297">
                  <c:v>46076</c:v>
                </c:pt>
                <c:pt idx="298">
                  <c:v>46077</c:v>
                </c:pt>
                <c:pt idx="299">
                  <c:v>46078</c:v>
                </c:pt>
                <c:pt idx="300">
                  <c:v>46079</c:v>
                </c:pt>
                <c:pt idx="301">
                  <c:v>46080</c:v>
                </c:pt>
                <c:pt idx="302">
                  <c:v>46083</c:v>
                </c:pt>
                <c:pt idx="303">
                  <c:v>46084</c:v>
                </c:pt>
                <c:pt idx="304">
                  <c:v>46085</c:v>
                </c:pt>
                <c:pt idx="305">
                  <c:v>46086</c:v>
                </c:pt>
                <c:pt idx="306">
                  <c:v>46087</c:v>
                </c:pt>
                <c:pt idx="307">
                  <c:v>46090</c:v>
                </c:pt>
                <c:pt idx="308">
                  <c:v>46091</c:v>
                </c:pt>
                <c:pt idx="309">
                  <c:v>46092</c:v>
                </c:pt>
                <c:pt idx="310">
                  <c:v>46093</c:v>
                </c:pt>
                <c:pt idx="311">
                  <c:v>46094</c:v>
                </c:pt>
                <c:pt idx="312">
                  <c:v>46097</c:v>
                </c:pt>
                <c:pt idx="313">
                  <c:v>46098</c:v>
                </c:pt>
                <c:pt idx="314">
                  <c:v>46099</c:v>
                </c:pt>
                <c:pt idx="315">
                  <c:v>46100</c:v>
                </c:pt>
                <c:pt idx="316">
                  <c:v>46101</c:v>
                </c:pt>
                <c:pt idx="317">
                  <c:v>46104</c:v>
                </c:pt>
                <c:pt idx="318">
                  <c:v>46105</c:v>
                </c:pt>
                <c:pt idx="319">
                  <c:v>46106</c:v>
                </c:pt>
                <c:pt idx="320">
                  <c:v>46107</c:v>
                </c:pt>
                <c:pt idx="321">
                  <c:v>46108</c:v>
                </c:pt>
                <c:pt idx="322">
                  <c:v>46111</c:v>
                </c:pt>
                <c:pt idx="323">
                  <c:v>46112</c:v>
                </c:pt>
                <c:pt idx="324">
                  <c:v>46113</c:v>
                </c:pt>
                <c:pt idx="325">
                  <c:v>46114</c:v>
                </c:pt>
                <c:pt idx="326">
                  <c:v>46115</c:v>
                </c:pt>
                <c:pt idx="327">
                  <c:v>46118</c:v>
                </c:pt>
                <c:pt idx="328">
                  <c:v>46119</c:v>
                </c:pt>
                <c:pt idx="329">
                  <c:v>46120</c:v>
                </c:pt>
                <c:pt idx="330">
                  <c:v>46121</c:v>
                </c:pt>
                <c:pt idx="331">
                  <c:v>46122</c:v>
                </c:pt>
                <c:pt idx="332">
                  <c:v>46125</c:v>
                </c:pt>
                <c:pt idx="333">
                  <c:v>46126</c:v>
                </c:pt>
                <c:pt idx="334">
                  <c:v>46127</c:v>
                </c:pt>
                <c:pt idx="335">
                  <c:v>46128</c:v>
                </c:pt>
                <c:pt idx="336">
                  <c:v>46129</c:v>
                </c:pt>
                <c:pt idx="337">
                  <c:v>46132</c:v>
                </c:pt>
                <c:pt idx="338">
                  <c:v>46133</c:v>
                </c:pt>
                <c:pt idx="339">
                  <c:v>46134</c:v>
                </c:pt>
                <c:pt idx="340">
                  <c:v>46135</c:v>
                </c:pt>
                <c:pt idx="341">
                  <c:v>46136</c:v>
                </c:pt>
                <c:pt idx="342">
                  <c:v>46139</c:v>
                </c:pt>
                <c:pt idx="343">
                  <c:v>46140</c:v>
                </c:pt>
                <c:pt idx="344">
                  <c:v>46141</c:v>
                </c:pt>
                <c:pt idx="345">
                  <c:v>46142</c:v>
                </c:pt>
                <c:pt idx="346">
                  <c:v>46143</c:v>
                </c:pt>
                <c:pt idx="347">
                  <c:v>46146</c:v>
                </c:pt>
              </c:numCache>
            </c:numRef>
          </c:cat>
          <c:val>
            <c:numRef>
              <c:f>'US 10Y Govt'!$N$14:$N$361</c:f>
              <c:numCache>
                <c:formatCode>#,##0.0;\(#,##0.0\);\-</c:formatCode>
                <c:ptCount val="348"/>
                <c:pt idx="0">
                  <c:v>4.569</c:v>
                </c:pt>
                <c:pt idx="1">
                  <c:v>4.5590000000000002</c:v>
                </c:pt>
                <c:pt idx="2">
                  <c:v>4.5975000000000001</c:v>
                </c:pt>
                <c:pt idx="3">
                  <c:v>4.63</c:v>
                </c:pt>
                <c:pt idx="4">
                  <c:v>4.6849999999999996</c:v>
                </c:pt>
                <c:pt idx="5">
                  <c:v>4.6891999999999996</c:v>
                </c:pt>
                <c:pt idx="6">
                  <c:v>4.6893000000000002</c:v>
                </c:pt>
                <c:pt idx="7">
                  <c:v>4.7591999999999999</c:v>
                </c:pt>
                <c:pt idx="8">
                  <c:v>4.7778999999999998</c:v>
                </c:pt>
                <c:pt idx="9">
                  <c:v>4.7923999999999998</c:v>
                </c:pt>
                <c:pt idx="10">
                  <c:v>4.6531000000000002</c:v>
                </c:pt>
                <c:pt idx="11">
                  <c:v>4.6124999999999998</c:v>
                </c:pt>
                <c:pt idx="12">
                  <c:v>4.6269999999999998</c:v>
                </c:pt>
                <c:pt idx="13">
                  <c:v>4.6269999999999998</c:v>
                </c:pt>
                <c:pt idx="14">
                  <c:v>4.5763999999999996</c:v>
                </c:pt>
                <c:pt idx="15">
                  <c:v>4.6109</c:v>
                </c:pt>
                <c:pt idx="16">
                  <c:v>4.6436000000000002</c:v>
                </c:pt>
                <c:pt idx="17">
                  <c:v>4.6214000000000004</c:v>
                </c:pt>
                <c:pt idx="18">
                  <c:v>4.5343</c:v>
                </c:pt>
                <c:pt idx="19">
                  <c:v>4.5323000000000002</c:v>
                </c:pt>
                <c:pt idx="20">
                  <c:v>4.5284000000000004</c:v>
                </c:pt>
                <c:pt idx="21">
                  <c:v>4.5163000000000002</c:v>
                </c:pt>
                <c:pt idx="22">
                  <c:v>4.5387000000000004</c:v>
                </c:pt>
                <c:pt idx="23">
                  <c:v>4.5549999999999997</c:v>
                </c:pt>
                <c:pt idx="24">
                  <c:v>4.5105000000000004</c:v>
                </c:pt>
                <c:pt idx="25">
                  <c:v>4.4180999999999999</c:v>
                </c:pt>
                <c:pt idx="26">
                  <c:v>4.4341999999999997</c:v>
                </c:pt>
                <c:pt idx="27">
                  <c:v>4.4946999999999999</c:v>
                </c:pt>
                <c:pt idx="28">
                  <c:v>4.4968000000000004</c:v>
                </c:pt>
                <c:pt idx="29">
                  <c:v>4.5351999999999997</c:v>
                </c:pt>
                <c:pt idx="30">
                  <c:v>4.6208</c:v>
                </c:pt>
                <c:pt idx="31">
                  <c:v>4.5288000000000004</c:v>
                </c:pt>
                <c:pt idx="32">
                  <c:v>4.4762000000000004</c:v>
                </c:pt>
                <c:pt idx="33">
                  <c:v>4.4762000000000004</c:v>
                </c:pt>
                <c:pt idx="34">
                  <c:v>4.5503</c:v>
                </c:pt>
                <c:pt idx="35">
                  <c:v>4.5327000000000002</c:v>
                </c:pt>
                <c:pt idx="36">
                  <c:v>4.5053000000000001</c:v>
                </c:pt>
                <c:pt idx="37">
                  <c:v>4.4313000000000002</c:v>
                </c:pt>
                <c:pt idx="38">
                  <c:v>4.4002999999999997</c:v>
                </c:pt>
                <c:pt idx="39">
                  <c:v>4.2945000000000002</c:v>
                </c:pt>
                <c:pt idx="40">
                  <c:v>4.2561999999999998</c:v>
                </c:pt>
                <c:pt idx="41">
                  <c:v>4.2599</c:v>
                </c:pt>
                <c:pt idx="42">
                  <c:v>4.2081999999999997</c:v>
                </c:pt>
                <c:pt idx="43">
                  <c:v>4.1551</c:v>
                </c:pt>
                <c:pt idx="44">
                  <c:v>4.2442000000000002</c:v>
                </c:pt>
                <c:pt idx="45">
                  <c:v>4.2785000000000002</c:v>
                </c:pt>
                <c:pt idx="46">
                  <c:v>4.2784000000000004</c:v>
                </c:pt>
                <c:pt idx="47">
                  <c:v>4.3010999999999999</c:v>
                </c:pt>
                <c:pt idx="48">
                  <c:v>4.2130999999999998</c:v>
                </c:pt>
                <c:pt idx="49">
                  <c:v>4.2798999999999996</c:v>
                </c:pt>
                <c:pt idx="50">
                  <c:v>4.3124000000000002</c:v>
                </c:pt>
                <c:pt idx="51">
                  <c:v>4.2682000000000002</c:v>
                </c:pt>
                <c:pt idx="52">
                  <c:v>4.3121</c:v>
                </c:pt>
                <c:pt idx="53">
                  <c:v>4.2984999999999998</c:v>
                </c:pt>
                <c:pt idx="54">
                  <c:v>4.2831000000000001</c:v>
                </c:pt>
                <c:pt idx="55">
                  <c:v>4.2427999999999999</c:v>
                </c:pt>
                <c:pt idx="56">
                  <c:v>4.2369000000000003</c:v>
                </c:pt>
                <c:pt idx="57">
                  <c:v>4.2462</c:v>
                </c:pt>
                <c:pt idx="58">
                  <c:v>4.3346</c:v>
                </c:pt>
                <c:pt idx="59">
                  <c:v>4.3132999999999999</c:v>
                </c:pt>
                <c:pt idx="60">
                  <c:v>4.3518999999999997</c:v>
                </c:pt>
                <c:pt idx="61">
                  <c:v>4.3594999999999997</c:v>
                </c:pt>
                <c:pt idx="62">
                  <c:v>4.2493999999999996</c:v>
                </c:pt>
                <c:pt idx="63">
                  <c:v>4.2053000000000003</c:v>
                </c:pt>
                <c:pt idx="64">
                  <c:v>4.1688999999999998</c:v>
                </c:pt>
                <c:pt idx="65">
                  <c:v>4.1307</c:v>
                </c:pt>
                <c:pt idx="66">
                  <c:v>4.0286</c:v>
                </c:pt>
                <c:pt idx="67">
                  <c:v>3.9943</c:v>
                </c:pt>
                <c:pt idx="68">
                  <c:v>4.1835000000000004</c:v>
                </c:pt>
                <c:pt idx="69">
                  <c:v>4.2929000000000004</c:v>
                </c:pt>
                <c:pt idx="70">
                  <c:v>4.3315000000000001</c:v>
                </c:pt>
                <c:pt idx="71">
                  <c:v>4.4249000000000001</c:v>
                </c:pt>
                <c:pt idx="72">
                  <c:v>4.4894999999999996</c:v>
                </c:pt>
                <c:pt idx="73">
                  <c:v>4.3738999999999999</c:v>
                </c:pt>
                <c:pt idx="74">
                  <c:v>4.3330000000000002</c:v>
                </c:pt>
                <c:pt idx="75">
                  <c:v>4.2767999999999997</c:v>
                </c:pt>
                <c:pt idx="76">
                  <c:v>4.3249000000000004</c:v>
                </c:pt>
                <c:pt idx="77">
                  <c:v>4.3249000000000004</c:v>
                </c:pt>
                <c:pt idx="78">
                  <c:v>4.4105999999999996</c:v>
                </c:pt>
                <c:pt idx="79">
                  <c:v>4.4008000000000003</c:v>
                </c:pt>
                <c:pt idx="80">
                  <c:v>4.3811999999999998</c:v>
                </c:pt>
                <c:pt idx="81">
                  <c:v>4.3148999999999997</c:v>
                </c:pt>
                <c:pt idx="82">
                  <c:v>4.2352999999999996</c:v>
                </c:pt>
                <c:pt idx="83">
                  <c:v>4.2081999999999997</c:v>
                </c:pt>
                <c:pt idx="84">
                  <c:v>4.1715999999999998</c:v>
                </c:pt>
                <c:pt idx="85">
                  <c:v>4.1619000000000002</c:v>
                </c:pt>
                <c:pt idx="86">
                  <c:v>4.2176</c:v>
                </c:pt>
                <c:pt idx="87">
                  <c:v>4.3083</c:v>
                </c:pt>
                <c:pt idx="88">
                  <c:v>4.3433000000000002</c:v>
                </c:pt>
                <c:pt idx="89">
                  <c:v>4.2946</c:v>
                </c:pt>
                <c:pt idx="90">
                  <c:v>4.2694000000000001</c:v>
                </c:pt>
                <c:pt idx="91">
                  <c:v>4.3784999999999998</c:v>
                </c:pt>
                <c:pt idx="92">
                  <c:v>4.3784999999999998</c:v>
                </c:pt>
                <c:pt idx="93">
                  <c:v>4.4709000000000003</c:v>
                </c:pt>
                <c:pt idx="94">
                  <c:v>4.4649999999999999</c:v>
                </c:pt>
                <c:pt idx="95">
                  <c:v>4.5362999999999998</c:v>
                </c:pt>
                <c:pt idx="96">
                  <c:v>4.4314999999999998</c:v>
                </c:pt>
                <c:pt idx="97">
                  <c:v>4.4770000000000003</c:v>
                </c:pt>
                <c:pt idx="98">
                  <c:v>4.4474</c:v>
                </c:pt>
                <c:pt idx="99">
                  <c:v>4.4869000000000003</c:v>
                </c:pt>
                <c:pt idx="100">
                  <c:v>4.5984999999999996</c:v>
                </c:pt>
                <c:pt idx="101">
                  <c:v>4.5286999999999997</c:v>
                </c:pt>
                <c:pt idx="102">
                  <c:v>4.5110000000000001</c:v>
                </c:pt>
                <c:pt idx="103">
                  <c:v>4.4436</c:v>
                </c:pt>
                <c:pt idx="104">
                  <c:v>4.4772999999999996</c:v>
                </c:pt>
                <c:pt idx="105">
                  <c:v>4.4180000000000001</c:v>
                </c:pt>
                <c:pt idx="106">
                  <c:v>4.4004000000000003</c:v>
                </c:pt>
                <c:pt idx="107">
                  <c:v>4.4398999999999997</c:v>
                </c:pt>
                <c:pt idx="108">
                  <c:v>4.4537000000000004</c:v>
                </c:pt>
                <c:pt idx="109">
                  <c:v>4.3552</c:v>
                </c:pt>
                <c:pt idx="110">
                  <c:v>4.3906000000000001</c:v>
                </c:pt>
                <c:pt idx="111">
                  <c:v>4.5056000000000003</c:v>
                </c:pt>
                <c:pt idx="112">
                  <c:v>4.4737999999999998</c:v>
                </c:pt>
                <c:pt idx="113">
                  <c:v>4.4698000000000002</c:v>
                </c:pt>
                <c:pt idx="114">
                  <c:v>4.4203000000000001</c:v>
                </c:pt>
                <c:pt idx="115">
                  <c:v>4.3592000000000004</c:v>
                </c:pt>
                <c:pt idx="116">
                  <c:v>4.3986999999999998</c:v>
                </c:pt>
                <c:pt idx="117">
                  <c:v>4.4462000000000002</c:v>
                </c:pt>
                <c:pt idx="118">
                  <c:v>4.3887999999999998</c:v>
                </c:pt>
                <c:pt idx="119">
                  <c:v>4.3909000000000002</c:v>
                </c:pt>
                <c:pt idx="120">
                  <c:v>4.3909000000000002</c:v>
                </c:pt>
                <c:pt idx="121">
                  <c:v>4.3750999999999998</c:v>
                </c:pt>
                <c:pt idx="122">
                  <c:v>4.3475000000000001</c:v>
                </c:pt>
                <c:pt idx="123">
                  <c:v>4.2945000000000002</c:v>
                </c:pt>
                <c:pt idx="124">
                  <c:v>4.2906000000000004</c:v>
                </c:pt>
                <c:pt idx="125">
                  <c:v>4.2416999999999998</c:v>
                </c:pt>
                <c:pt idx="126">
                  <c:v>4.2769000000000004</c:v>
                </c:pt>
                <c:pt idx="127">
                  <c:v>4.2279999999999998</c:v>
                </c:pt>
                <c:pt idx="128">
                  <c:v>4.2416</c:v>
                </c:pt>
                <c:pt idx="129">
                  <c:v>4.2769000000000004</c:v>
                </c:pt>
                <c:pt idx="130">
                  <c:v>4.3456999999999999</c:v>
                </c:pt>
                <c:pt idx="131">
                  <c:v>4.3456999999999999</c:v>
                </c:pt>
                <c:pt idx="132">
                  <c:v>4.3794000000000004</c:v>
                </c:pt>
                <c:pt idx="133">
                  <c:v>4.3992000000000004</c:v>
                </c:pt>
                <c:pt idx="134">
                  <c:v>4.3319999999999999</c:v>
                </c:pt>
                <c:pt idx="135">
                  <c:v>4.3498000000000001</c:v>
                </c:pt>
                <c:pt idx="136">
                  <c:v>4.4093</c:v>
                </c:pt>
                <c:pt idx="137">
                  <c:v>4.4333</c:v>
                </c:pt>
                <c:pt idx="138">
                  <c:v>4.4813000000000001</c:v>
                </c:pt>
                <c:pt idx="139">
                  <c:v>4.4553000000000003</c:v>
                </c:pt>
                <c:pt idx="140">
                  <c:v>4.4512999999999998</c:v>
                </c:pt>
                <c:pt idx="141">
                  <c:v>4.4154999999999998</c:v>
                </c:pt>
                <c:pt idx="142">
                  <c:v>4.3776999999999999</c:v>
                </c:pt>
                <c:pt idx="143">
                  <c:v>4.3440000000000003</c:v>
                </c:pt>
                <c:pt idx="144">
                  <c:v>4.3798000000000004</c:v>
                </c:pt>
                <c:pt idx="145">
                  <c:v>4.3956999999999997</c:v>
                </c:pt>
                <c:pt idx="146">
                  <c:v>4.3878000000000004</c:v>
                </c:pt>
                <c:pt idx="147">
                  <c:v>4.4097999999999997</c:v>
                </c:pt>
                <c:pt idx="148">
                  <c:v>4.3204000000000002</c:v>
                </c:pt>
                <c:pt idx="149">
                  <c:v>4.37</c:v>
                </c:pt>
                <c:pt idx="150">
                  <c:v>4.3739999999999997</c:v>
                </c:pt>
                <c:pt idx="151">
                  <c:v>4.2159000000000004</c:v>
                </c:pt>
                <c:pt idx="152">
                  <c:v>4.1923000000000004</c:v>
                </c:pt>
                <c:pt idx="153">
                  <c:v>4.21</c:v>
                </c:pt>
                <c:pt idx="154">
                  <c:v>4.2256999999999998</c:v>
                </c:pt>
                <c:pt idx="155">
                  <c:v>4.25</c:v>
                </c:pt>
                <c:pt idx="156">
                  <c:v>4.2828999999999997</c:v>
                </c:pt>
                <c:pt idx="157">
                  <c:v>4.2849000000000004</c:v>
                </c:pt>
                <c:pt idx="158">
                  <c:v>4.2888000000000002</c:v>
                </c:pt>
                <c:pt idx="159">
                  <c:v>4.2325999999999997</c:v>
                </c:pt>
                <c:pt idx="160">
                  <c:v>4.2849000000000004</c:v>
                </c:pt>
                <c:pt idx="161">
                  <c:v>4.3159999999999998</c:v>
                </c:pt>
                <c:pt idx="162">
                  <c:v>4.3334999999999999</c:v>
                </c:pt>
                <c:pt idx="163">
                  <c:v>4.3061999999999996</c:v>
                </c:pt>
                <c:pt idx="164">
                  <c:v>4.2907000000000002</c:v>
                </c:pt>
                <c:pt idx="165">
                  <c:v>4.3277000000000001</c:v>
                </c:pt>
                <c:pt idx="166">
                  <c:v>4.2537000000000003</c:v>
                </c:pt>
                <c:pt idx="167">
                  <c:v>4.2751000000000001</c:v>
                </c:pt>
                <c:pt idx="168">
                  <c:v>4.2614999999999998</c:v>
                </c:pt>
                <c:pt idx="169">
                  <c:v>4.2343000000000002</c:v>
                </c:pt>
                <c:pt idx="170">
                  <c:v>4.2032999999999996</c:v>
                </c:pt>
                <c:pt idx="171">
                  <c:v>4.2283999999999997</c:v>
                </c:pt>
                <c:pt idx="172">
                  <c:v>4.2283999999999997</c:v>
                </c:pt>
                <c:pt idx="173">
                  <c:v>4.2614000000000001</c:v>
                </c:pt>
                <c:pt idx="174">
                  <c:v>4.2168000000000001</c:v>
                </c:pt>
                <c:pt idx="175">
                  <c:v>4.1607000000000003</c:v>
                </c:pt>
                <c:pt idx="176">
                  <c:v>4.0742000000000003</c:v>
                </c:pt>
                <c:pt idx="177">
                  <c:v>4.0397999999999996</c:v>
                </c:pt>
                <c:pt idx="178">
                  <c:v>4.0875000000000004</c:v>
                </c:pt>
                <c:pt idx="179">
                  <c:v>4.0453999999999999</c:v>
                </c:pt>
                <c:pt idx="180">
                  <c:v>4.0206</c:v>
                </c:pt>
                <c:pt idx="181">
                  <c:v>4.0643000000000002</c:v>
                </c:pt>
                <c:pt idx="182">
                  <c:v>4.0374999999999996</c:v>
                </c:pt>
                <c:pt idx="183">
                  <c:v>4.0278999999999998</c:v>
                </c:pt>
                <c:pt idx="184">
                  <c:v>4.0872000000000002</c:v>
                </c:pt>
                <c:pt idx="185">
                  <c:v>4.1044</c:v>
                </c:pt>
                <c:pt idx="186">
                  <c:v>4.1273999999999997</c:v>
                </c:pt>
                <c:pt idx="187">
                  <c:v>4.1467000000000001</c:v>
                </c:pt>
                <c:pt idx="188">
                  <c:v>4.1060999999999996</c:v>
                </c:pt>
                <c:pt idx="189">
                  <c:v>4.1466000000000003</c:v>
                </c:pt>
                <c:pt idx="190">
                  <c:v>4.1698000000000004</c:v>
                </c:pt>
                <c:pt idx="191">
                  <c:v>4.1755000000000004</c:v>
                </c:pt>
                <c:pt idx="192">
                  <c:v>4.1387</c:v>
                </c:pt>
                <c:pt idx="193">
                  <c:v>4.1502999999999997</c:v>
                </c:pt>
                <c:pt idx="194">
                  <c:v>4.0980999999999996</c:v>
                </c:pt>
                <c:pt idx="195">
                  <c:v>4.0827</c:v>
                </c:pt>
                <c:pt idx="196">
                  <c:v>4.1192000000000002</c:v>
                </c:pt>
                <c:pt idx="197">
                  <c:v>4.1520000000000001</c:v>
                </c:pt>
                <c:pt idx="198">
                  <c:v>4.1230000000000002</c:v>
                </c:pt>
                <c:pt idx="199">
                  <c:v>4.1170999999999998</c:v>
                </c:pt>
                <c:pt idx="200">
                  <c:v>4.1383999999999999</c:v>
                </c:pt>
                <c:pt idx="201">
                  <c:v>4.0321999999999996</c:v>
                </c:pt>
                <c:pt idx="202">
                  <c:v>4.0321999999999996</c:v>
                </c:pt>
                <c:pt idx="203">
                  <c:v>4.0320999999999998</c:v>
                </c:pt>
                <c:pt idx="204">
                  <c:v>4.0282</c:v>
                </c:pt>
                <c:pt idx="205">
                  <c:v>3.9744999999999999</c:v>
                </c:pt>
                <c:pt idx="206">
                  <c:v>4.0087999999999999</c:v>
                </c:pt>
                <c:pt idx="207">
                  <c:v>3.98</c:v>
                </c:pt>
                <c:pt idx="208">
                  <c:v>3.9626999999999999</c:v>
                </c:pt>
                <c:pt idx="209">
                  <c:v>3.9493</c:v>
                </c:pt>
                <c:pt idx="210">
                  <c:v>4.0008999999999997</c:v>
                </c:pt>
                <c:pt idx="211">
                  <c:v>4.0007000000000001</c:v>
                </c:pt>
                <c:pt idx="212">
                  <c:v>3.9794999999999998</c:v>
                </c:pt>
                <c:pt idx="213">
                  <c:v>3.9756</c:v>
                </c:pt>
                <c:pt idx="214">
                  <c:v>4.0757000000000003</c:v>
                </c:pt>
                <c:pt idx="215">
                  <c:v>4.0970000000000004</c:v>
                </c:pt>
                <c:pt idx="216">
                  <c:v>4.0774999999999997</c:v>
                </c:pt>
                <c:pt idx="217">
                  <c:v>4.1104000000000003</c:v>
                </c:pt>
                <c:pt idx="218">
                  <c:v>4.0852000000000004</c:v>
                </c:pt>
                <c:pt idx="219">
                  <c:v>4.1590999999999996</c:v>
                </c:pt>
                <c:pt idx="220">
                  <c:v>4.0831</c:v>
                </c:pt>
                <c:pt idx="221">
                  <c:v>4.0965999999999996</c:v>
                </c:pt>
                <c:pt idx="222">
                  <c:v>4.1159999999999997</c:v>
                </c:pt>
                <c:pt idx="223">
                  <c:v>4.1159999999999997</c:v>
                </c:pt>
                <c:pt idx="224">
                  <c:v>4.0693000000000001</c:v>
                </c:pt>
                <c:pt idx="225">
                  <c:v>4.1192000000000002</c:v>
                </c:pt>
                <c:pt idx="226">
                  <c:v>4.1482999999999999</c:v>
                </c:pt>
                <c:pt idx="227">
                  <c:v>4.1386000000000003</c:v>
                </c:pt>
                <c:pt idx="228">
                  <c:v>4.1134000000000004</c:v>
                </c:pt>
                <c:pt idx="229">
                  <c:v>4.1367000000000003</c:v>
                </c:pt>
                <c:pt idx="230">
                  <c:v>4.0845000000000002</c:v>
                </c:pt>
                <c:pt idx="231">
                  <c:v>4.0632999999999999</c:v>
                </c:pt>
                <c:pt idx="232">
                  <c:v>4.0247999999999999</c:v>
                </c:pt>
                <c:pt idx="233">
                  <c:v>3.996</c:v>
                </c:pt>
                <c:pt idx="234">
                  <c:v>3.9941</c:v>
                </c:pt>
                <c:pt idx="235">
                  <c:v>3.9941</c:v>
                </c:pt>
                <c:pt idx="236">
                  <c:v>4.0132000000000003</c:v>
                </c:pt>
                <c:pt idx="237">
                  <c:v>4.0865</c:v>
                </c:pt>
                <c:pt idx="238">
                  <c:v>4.0865</c:v>
                </c:pt>
                <c:pt idx="239">
                  <c:v>4.0632999999999999</c:v>
                </c:pt>
                <c:pt idx="240">
                  <c:v>4.0980999999999996</c:v>
                </c:pt>
                <c:pt idx="241">
                  <c:v>4.1351000000000004</c:v>
                </c:pt>
                <c:pt idx="242">
                  <c:v>4.1642999999999999</c:v>
                </c:pt>
                <c:pt idx="243">
                  <c:v>4.1878000000000002</c:v>
                </c:pt>
                <c:pt idx="244">
                  <c:v>4.1467999999999998</c:v>
                </c:pt>
                <c:pt idx="245">
                  <c:v>4.1566000000000001</c:v>
                </c:pt>
                <c:pt idx="246">
                  <c:v>4.1840999999999999</c:v>
                </c:pt>
                <c:pt idx="247">
                  <c:v>4.1722999999999999</c:v>
                </c:pt>
                <c:pt idx="248">
                  <c:v>4.1449999999999996</c:v>
                </c:pt>
                <c:pt idx="249">
                  <c:v>4.1528</c:v>
                </c:pt>
                <c:pt idx="250">
                  <c:v>4.1216999999999997</c:v>
                </c:pt>
                <c:pt idx="251">
                  <c:v>4.1471</c:v>
                </c:pt>
                <c:pt idx="252">
                  <c:v>4.1627999999999998</c:v>
                </c:pt>
                <c:pt idx="253">
                  <c:v>4.1627999999999998</c:v>
                </c:pt>
                <c:pt idx="254">
                  <c:v>4.1334999999999997</c:v>
                </c:pt>
                <c:pt idx="255">
                  <c:v>4.1334999999999997</c:v>
                </c:pt>
                <c:pt idx="256">
                  <c:v>4.1276999999999999</c:v>
                </c:pt>
                <c:pt idx="257">
                  <c:v>4.1101999999999999</c:v>
                </c:pt>
                <c:pt idx="258">
                  <c:v>4.1219000000000001</c:v>
                </c:pt>
                <c:pt idx="259">
                  <c:v>4.1669999999999998</c:v>
                </c:pt>
                <c:pt idx="260">
                  <c:v>4.1669999999999998</c:v>
                </c:pt>
                <c:pt idx="261">
                  <c:v>4.1906999999999996</c:v>
                </c:pt>
                <c:pt idx="262">
                  <c:v>4.1612</c:v>
                </c:pt>
                <c:pt idx="263">
                  <c:v>4.173</c:v>
                </c:pt>
                <c:pt idx="264">
                  <c:v>4.1475</c:v>
                </c:pt>
                <c:pt idx="265">
                  <c:v>4.1672000000000002</c:v>
                </c:pt>
                <c:pt idx="266">
                  <c:v>4.1653000000000002</c:v>
                </c:pt>
                <c:pt idx="267">
                  <c:v>4.1752000000000002</c:v>
                </c:pt>
                <c:pt idx="268">
                  <c:v>4.1791999999999998</c:v>
                </c:pt>
                <c:pt idx="269">
                  <c:v>4.1319999999999997</c:v>
                </c:pt>
                <c:pt idx="270">
                  <c:v>4.1694000000000004</c:v>
                </c:pt>
                <c:pt idx="271">
                  <c:v>4.2229000000000001</c:v>
                </c:pt>
                <c:pt idx="272">
                  <c:v>4.2229000000000001</c:v>
                </c:pt>
                <c:pt idx="273">
                  <c:v>4.2925000000000004</c:v>
                </c:pt>
                <c:pt idx="274">
                  <c:v>4.2427999999999999</c:v>
                </c:pt>
                <c:pt idx="275">
                  <c:v>4.2449000000000003</c:v>
                </c:pt>
                <c:pt idx="276">
                  <c:v>4.2252000000000001</c:v>
                </c:pt>
                <c:pt idx="277">
                  <c:v>4.2112999999999996</c:v>
                </c:pt>
                <c:pt idx="278">
                  <c:v>4.2431999999999999</c:v>
                </c:pt>
                <c:pt idx="279">
                  <c:v>4.2431999999999999</c:v>
                </c:pt>
                <c:pt idx="280">
                  <c:v>4.2313000000000001</c:v>
                </c:pt>
                <c:pt idx="281">
                  <c:v>4.2355</c:v>
                </c:pt>
                <c:pt idx="282">
                  <c:v>4.2774000000000001</c:v>
                </c:pt>
                <c:pt idx="283">
                  <c:v>4.2655000000000003</c:v>
                </c:pt>
                <c:pt idx="284">
                  <c:v>4.2735000000000003</c:v>
                </c:pt>
                <c:pt idx="285">
                  <c:v>4.1801000000000004</c:v>
                </c:pt>
                <c:pt idx="286">
                  <c:v>4.2060000000000004</c:v>
                </c:pt>
                <c:pt idx="287">
                  <c:v>4.2020999999999997</c:v>
                </c:pt>
                <c:pt idx="288">
                  <c:v>4.1426999999999996</c:v>
                </c:pt>
                <c:pt idx="289">
                  <c:v>4.1723999999999997</c:v>
                </c:pt>
                <c:pt idx="290">
                  <c:v>4.0980999999999996</c:v>
                </c:pt>
                <c:pt idx="291">
                  <c:v>4.0483000000000002</c:v>
                </c:pt>
                <c:pt idx="292">
                  <c:v>4.0483000000000002</c:v>
                </c:pt>
                <c:pt idx="293">
                  <c:v>4.0578000000000003</c:v>
                </c:pt>
                <c:pt idx="294">
                  <c:v>4.0827</c:v>
                </c:pt>
                <c:pt idx="295">
                  <c:v>4.0673000000000004</c:v>
                </c:pt>
                <c:pt idx="296">
                  <c:v>4.0826000000000002</c:v>
                </c:pt>
                <c:pt idx="297">
                  <c:v>4.0308999999999999</c:v>
                </c:pt>
                <c:pt idx="298">
                  <c:v>4.0289999999999999</c:v>
                </c:pt>
                <c:pt idx="299">
                  <c:v>4.0518999999999998</c:v>
                </c:pt>
                <c:pt idx="300">
                  <c:v>4.0041000000000002</c:v>
                </c:pt>
                <c:pt idx="301">
                  <c:v>3.9375</c:v>
                </c:pt>
                <c:pt idx="302">
                  <c:v>4.0345000000000004</c:v>
                </c:pt>
                <c:pt idx="303">
                  <c:v>4.0594000000000001</c:v>
                </c:pt>
                <c:pt idx="304">
                  <c:v>4.0959000000000003</c:v>
                </c:pt>
                <c:pt idx="305">
                  <c:v>4.1363000000000003</c:v>
                </c:pt>
                <c:pt idx="306">
                  <c:v>4.1383000000000001</c:v>
                </c:pt>
                <c:pt idx="307">
                  <c:v>4.0957999999999997</c:v>
                </c:pt>
                <c:pt idx="308">
                  <c:v>4.1557000000000004</c:v>
                </c:pt>
                <c:pt idx="309">
                  <c:v>4.2295999999999996</c:v>
                </c:pt>
                <c:pt idx="310">
                  <c:v>4.2609000000000004</c:v>
                </c:pt>
                <c:pt idx="311">
                  <c:v>4.2766999999999999</c:v>
                </c:pt>
                <c:pt idx="312">
                  <c:v>4.2160000000000002</c:v>
                </c:pt>
                <c:pt idx="313">
                  <c:v>4.1985000000000001</c:v>
                </c:pt>
                <c:pt idx="314">
                  <c:v>4.2649999999999997</c:v>
                </c:pt>
                <c:pt idx="315">
                  <c:v>4.2492999999999999</c:v>
                </c:pt>
                <c:pt idx="316">
                  <c:v>4.3795999999999999</c:v>
                </c:pt>
                <c:pt idx="317">
                  <c:v>4.3419999999999996</c:v>
                </c:pt>
                <c:pt idx="318">
                  <c:v>4.3598999999999997</c:v>
                </c:pt>
                <c:pt idx="319">
                  <c:v>4.3322000000000003</c:v>
                </c:pt>
                <c:pt idx="320">
                  <c:v>4.4116999999999997</c:v>
                </c:pt>
                <c:pt idx="321">
                  <c:v>4.4278000000000004</c:v>
                </c:pt>
                <c:pt idx="322">
                  <c:v>4.3482000000000003</c:v>
                </c:pt>
                <c:pt idx="323">
                  <c:v>4.3166000000000002</c:v>
                </c:pt>
                <c:pt idx="324">
                  <c:v>4.3186</c:v>
                </c:pt>
                <c:pt idx="325">
                  <c:v>4.3048999999999999</c:v>
                </c:pt>
                <c:pt idx="326">
                  <c:v>4.3406000000000002</c:v>
                </c:pt>
                <c:pt idx="327">
                  <c:v>4.3307000000000002</c:v>
                </c:pt>
                <c:pt idx="328">
                  <c:v>4.2930999999999999</c:v>
                </c:pt>
                <c:pt idx="329">
                  <c:v>4.2911000000000001</c:v>
                </c:pt>
                <c:pt idx="330">
                  <c:v>4.2754000000000003</c:v>
                </c:pt>
                <c:pt idx="331">
                  <c:v>4.3170000000000002</c:v>
                </c:pt>
                <c:pt idx="332">
                  <c:v>4.2933000000000003</c:v>
                </c:pt>
                <c:pt idx="333">
                  <c:v>4.2478999999999996</c:v>
                </c:pt>
                <c:pt idx="334">
                  <c:v>4.2834000000000003</c:v>
                </c:pt>
                <c:pt idx="335">
                  <c:v>4.3112000000000004</c:v>
                </c:pt>
                <c:pt idx="336">
                  <c:v>4.2480000000000002</c:v>
                </c:pt>
                <c:pt idx="337">
                  <c:v>4.2510000000000003</c:v>
                </c:pt>
                <c:pt idx="338">
                  <c:v>4.2915999999999999</c:v>
                </c:pt>
                <c:pt idx="339">
                  <c:v>4.3025000000000002</c:v>
                </c:pt>
                <c:pt idx="340">
                  <c:v>4.3243999999999998</c:v>
                </c:pt>
                <c:pt idx="341">
                  <c:v>4.3007</c:v>
                </c:pt>
                <c:pt idx="342">
                  <c:v>4.3395000000000001</c:v>
                </c:pt>
                <c:pt idx="343">
                  <c:v>4.3455000000000004</c:v>
                </c:pt>
                <c:pt idx="344">
                  <c:v>4.4298000000000002</c:v>
                </c:pt>
                <c:pt idx="345">
                  <c:v>4.3705999999999996</c:v>
                </c:pt>
                <c:pt idx="346">
                  <c:v>4.3697999999999997</c:v>
                </c:pt>
                <c:pt idx="347">
                  <c:v>4.4382000000000001</c:v>
                </c:pt>
              </c:numCache>
            </c:numRef>
          </c:val>
          <c:smooth val="0"/>
          <c:extLst>
            <c:ext xmlns:c16="http://schemas.microsoft.com/office/drawing/2014/chart" uri="{C3380CC4-5D6E-409C-BE32-E72D297353CC}">
              <c16:uniqueId val="{00000001-271C-4BC6-AA73-4B0695FC4D80}"/>
            </c:ext>
          </c:extLst>
        </c:ser>
        <c:ser>
          <c:idx val="0"/>
          <c:order val="1"/>
          <c:tx>
            <c:strRef>
              <c:f>'US 10Y Govt'!$O$13</c:f>
              <c:strCache>
                <c:ptCount val="1"/>
                <c:pt idx="0">
                  <c:v>US Fed Fund Rate (Upper Limit)</c:v>
                </c:pt>
              </c:strCache>
            </c:strRef>
          </c:tx>
          <c:spPr>
            <a:ln w="15875" cap="rnd">
              <a:solidFill>
                <a:schemeClr val="tx1"/>
              </a:solidFill>
              <a:prstDash val="dash"/>
              <a:round/>
            </a:ln>
            <a:effectLst/>
          </c:spPr>
          <c:marker>
            <c:symbol val="none"/>
          </c:marker>
          <c:dLbls>
            <c:dLbl>
              <c:idx val="346"/>
              <c:layout>
                <c:manualLayout>
                  <c:x val="-5.9913425854447935E-3"/>
                  <c:y val="-3.7053042788257255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71C-4BC6-AA73-4B0695FC4D8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'US 10Y Govt'!$M$14:$M$361</c:f>
              <c:numCache>
                <c:formatCode>dd\ mmm\ yy</c:formatCode>
                <c:ptCount val="348"/>
                <c:pt idx="0">
                  <c:v>45658</c:v>
                </c:pt>
                <c:pt idx="1">
                  <c:v>45659</c:v>
                </c:pt>
                <c:pt idx="2">
                  <c:v>45660</c:v>
                </c:pt>
                <c:pt idx="3">
                  <c:v>45663</c:v>
                </c:pt>
                <c:pt idx="4">
                  <c:v>45664</c:v>
                </c:pt>
                <c:pt idx="5">
                  <c:v>45665</c:v>
                </c:pt>
                <c:pt idx="6">
                  <c:v>45666</c:v>
                </c:pt>
                <c:pt idx="7">
                  <c:v>45667</c:v>
                </c:pt>
                <c:pt idx="8">
                  <c:v>45670</c:v>
                </c:pt>
                <c:pt idx="9">
                  <c:v>45671</c:v>
                </c:pt>
                <c:pt idx="10">
                  <c:v>45672</c:v>
                </c:pt>
                <c:pt idx="11">
                  <c:v>45673</c:v>
                </c:pt>
                <c:pt idx="12">
                  <c:v>45674</c:v>
                </c:pt>
                <c:pt idx="13">
                  <c:v>45677</c:v>
                </c:pt>
                <c:pt idx="14">
                  <c:v>45678</c:v>
                </c:pt>
                <c:pt idx="15">
                  <c:v>45679</c:v>
                </c:pt>
                <c:pt idx="16">
                  <c:v>45680</c:v>
                </c:pt>
                <c:pt idx="17">
                  <c:v>45681</c:v>
                </c:pt>
                <c:pt idx="18">
                  <c:v>45684</c:v>
                </c:pt>
                <c:pt idx="19">
                  <c:v>45685</c:v>
                </c:pt>
                <c:pt idx="20">
                  <c:v>45686</c:v>
                </c:pt>
                <c:pt idx="21">
                  <c:v>45687</c:v>
                </c:pt>
                <c:pt idx="22">
                  <c:v>45688</c:v>
                </c:pt>
                <c:pt idx="23">
                  <c:v>45691</c:v>
                </c:pt>
                <c:pt idx="24">
                  <c:v>45692</c:v>
                </c:pt>
                <c:pt idx="25">
                  <c:v>45693</c:v>
                </c:pt>
                <c:pt idx="26">
                  <c:v>45694</c:v>
                </c:pt>
                <c:pt idx="27">
                  <c:v>45695</c:v>
                </c:pt>
                <c:pt idx="28">
                  <c:v>45698</c:v>
                </c:pt>
                <c:pt idx="29">
                  <c:v>45699</c:v>
                </c:pt>
                <c:pt idx="30">
                  <c:v>45700</c:v>
                </c:pt>
                <c:pt idx="31">
                  <c:v>45701</c:v>
                </c:pt>
                <c:pt idx="32">
                  <c:v>45702</c:v>
                </c:pt>
                <c:pt idx="33">
                  <c:v>45705</c:v>
                </c:pt>
                <c:pt idx="34">
                  <c:v>45706</c:v>
                </c:pt>
                <c:pt idx="35">
                  <c:v>45707</c:v>
                </c:pt>
                <c:pt idx="36">
                  <c:v>45708</c:v>
                </c:pt>
                <c:pt idx="37">
                  <c:v>45709</c:v>
                </c:pt>
                <c:pt idx="38">
                  <c:v>45712</c:v>
                </c:pt>
                <c:pt idx="39">
                  <c:v>45713</c:v>
                </c:pt>
                <c:pt idx="40">
                  <c:v>45714</c:v>
                </c:pt>
                <c:pt idx="41">
                  <c:v>45715</c:v>
                </c:pt>
                <c:pt idx="42">
                  <c:v>45716</c:v>
                </c:pt>
                <c:pt idx="43">
                  <c:v>45719</c:v>
                </c:pt>
                <c:pt idx="44">
                  <c:v>45720</c:v>
                </c:pt>
                <c:pt idx="45">
                  <c:v>45721</c:v>
                </c:pt>
                <c:pt idx="46">
                  <c:v>45722</c:v>
                </c:pt>
                <c:pt idx="47">
                  <c:v>45723</c:v>
                </c:pt>
                <c:pt idx="48">
                  <c:v>45726</c:v>
                </c:pt>
                <c:pt idx="49">
                  <c:v>45727</c:v>
                </c:pt>
                <c:pt idx="50">
                  <c:v>45728</c:v>
                </c:pt>
                <c:pt idx="51">
                  <c:v>45729</c:v>
                </c:pt>
                <c:pt idx="52">
                  <c:v>45730</c:v>
                </c:pt>
                <c:pt idx="53">
                  <c:v>45733</c:v>
                </c:pt>
                <c:pt idx="54">
                  <c:v>45734</c:v>
                </c:pt>
                <c:pt idx="55">
                  <c:v>45735</c:v>
                </c:pt>
                <c:pt idx="56">
                  <c:v>45736</c:v>
                </c:pt>
                <c:pt idx="57">
                  <c:v>45737</c:v>
                </c:pt>
                <c:pt idx="58">
                  <c:v>45740</c:v>
                </c:pt>
                <c:pt idx="59">
                  <c:v>45741</c:v>
                </c:pt>
                <c:pt idx="60">
                  <c:v>45742</c:v>
                </c:pt>
                <c:pt idx="61">
                  <c:v>45743</c:v>
                </c:pt>
                <c:pt idx="62">
                  <c:v>45744</c:v>
                </c:pt>
                <c:pt idx="63">
                  <c:v>45747</c:v>
                </c:pt>
                <c:pt idx="64">
                  <c:v>45748</c:v>
                </c:pt>
                <c:pt idx="65">
                  <c:v>45749</c:v>
                </c:pt>
                <c:pt idx="66">
                  <c:v>45750</c:v>
                </c:pt>
                <c:pt idx="67">
                  <c:v>45751</c:v>
                </c:pt>
                <c:pt idx="68">
                  <c:v>45754</c:v>
                </c:pt>
                <c:pt idx="69">
                  <c:v>45755</c:v>
                </c:pt>
                <c:pt idx="70">
                  <c:v>45756</c:v>
                </c:pt>
                <c:pt idx="71">
                  <c:v>45757</c:v>
                </c:pt>
                <c:pt idx="72">
                  <c:v>45758</c:v>
                </c:pt>
                <c:pt idx="73">
                  <c:v>45761</c:v>
                </c:pt>
                <c:pt idx="74">
                  <c:v>45762</c:v>
                </c:pt>
                <c:pt idx="75">
                  <c:v>45763</c:v>
                </c:pt>
                <c:pt idx="76">
                  <c:v>45764</c:v>
                </c:pt>
                <c:pt idx="77">
                  <c:v>45765</c:v>
                </c:pt>
                <c:pt idx="78">
                  <c:v>45768</c:v>
                </c:pt>
                <c:pt idx="79">
                  <c:v>45769</c:v>
                </c:pt>
                <c:pt idx="80">
                  <c:v>45770</c:v>
                </c:pt>
                <c:pt idx="81">
                  <c:v>45771</c:v>
                </c:pt>
                <c:pt idx="82">
                  <c:v>45772</c:v>
                </c:pt>
                <c:pt idx="83">
                  <c:v>45775</c:v>
                </c:pt>
                <c:pt idx="84">
                  <c:v>45776</c:v>
                </c:pt>
                <c:pt idx="85">
                  <c:v>45777</c:v>
                </c:pt>
                <c:pt idx="86">
                  <c:v>45778</c:v>
                </c:pt>
                <c:pt idx="87">
                  <c:v>45779</c:v>
                </c:pt>
                <c:pt idx="88">
                  <c:v>45782</c:v>
                </c:pt>
                <c:pt idx="89">
                  <c:v>45783</c:v>
                </c:pt>
                <c:pt idx="90">
                  <c:v>45784</c:v>
                </c:pt>
                <c:pt idx="91">
                  <c:v>45785</c:v>
                </c:pt>
                <c:pt idx="92">
                  <c:v>45786</c:v>
                </c:pt>
                <c:pt idx="93">
                  <c:v>45789</c:v>
                </c:pt>
                <c:pt idx="94">
                  <c:v>45790</c:v>
                </c:pt>
                <c:pt idx="95">
                  <c:v>45791</c:v>
                </c:pt>
                <c:pt idx="96">
                  <c:v>45792</c:v>
                </c:pt>
                <c:pt idx="97">
                  <c:v>45793</c:v>
                </c:pt>
                <c:pt idx="98">
                  <c:v>45796</c:v>
                </c:pt>
                <c:pt idx="99">
                  <c:v>45797</c:v>
                </c:pt>
                <c:pt idx="100">
                  <c:v>45798</c:v>
                </c:pt>
                <c:pt idx="101">
                  <c:v>45799</c:v>
                </c:pt>
                <c:pt idx="102">
                  <c:v>45800</c:v>
                </c:pt>
                <c:pt idx="103">
                  <c:v>45804</c:v>
                </c:pt>
                <c:pt idx="104">
                  <c:v>45805</c:v>
                </c:pt>
                <c:pt idx="105">
                  <c:v>45806</c:v>
                </c:pt>
                <c:pt idx="106">
                  <c:v>45807</c:v>
                </c:pt>
                <c:pt idx="107">
                  <c:v>45810</c:v>
                </c:pt>
                <c:pt idx="108">
                  <c:v>45811</c:v>
                </c:pt>
                <c:pt idx="109">
                  <c:v>45812</c:v>
                </c:pt>
                <c:pt idx="110">
                  <c:v>45813</c:v>
                </c:pt>
                <c:pt idx="111">
                  <c:v>45814</c:v>
                </c:pt>
                <c:pt idx="112">
                  <c:v>45817</c:v>
                </c:pt>
                <c:pt idx="113">
                  <c:v>45818</c:v>
                </c:pt>
                <c:pt idx="114">
                  <c:v>45819</c:v>
                </c:pt>
                <c:pt idx="115">
                  <c:v>45820</c:v>
                </c:pt>
                <c:pt idx="116">
                  <c:v>45821</c:v>
                </c:pt>
                <c:pt idx="117">
                  <c:v>45824</c:v>
                </c:pt>
                <c:pt idx="118">
                  <c:v>45825</c:v>
                </c:pt>
                <c:pt idx="119">
                  <c:v>45826</c:v>
                </c:pt>
                <c:pt idx="120">
                  <c:v>45827</c:v>
                </c:pt>
                <c:pt idx="121">
                  <c:v>45828</c:v>
                </c:pt>
                <c:pt idx="122">
                  <c:v>45831</c:v>
                </c:pt>
                <c:pt idx="123">
                  <c:v>45832</c:v>
                </c:pt>
                <c:pt idx="124">
                  <c:v>45833</c:v>
                </c:pt>
                <c:pt idx="125">
                  <c:v>45834</c:v>
                </c:pt>
                <c:pt idx="126">
                  <c:v>45835</c:v>
                </c:pt>
                <c:pt idx="127">
                  <c:v>45838</c:v>
                </c:pt>
                <c:pt idx="128">
                  <c:v>45839</c:v>
                </c:pt>
                <c:pt idx="129">
                  <c:v>45840</c:v>
                </c:pt>
                <c:pt idx="130">
                  <c:v>45841</c:v>
                </c:pt>
                <c:pt idx="131">
                  <c:v>45842</c:v>
                </c:pt>
                <c:pt idx="132">
                  <c:v>45845</c:v>
                </c:pt>
                <c:pt idx="133">
                  <c:v>45846</c:v>
                </c:pt>
                <c:pt idx="134">
                  <c:v>45847</c:v>
                </c:pt>
                <c:pt idx="135">
                  <c:v>45848</c:v>
                </c:pt>
                <c:pt idx="136">
                  <c:v>45849</c:v>
                </c:pt>
                <c:pt idx="137">
                  <c:v>45852</c:v>
                </c:pt>
                <c:pt idx="138">
                  <c:v>45853</c:v>
                </c:pt>
                <c:pt idx="139">
                  <c:v>45854</c:v>
                </c:pt>
                <c:pt idx="140">
                  <c:v>45855</c:v>
                </c:pt>
                <c:pt idx="141">
                  <c:v>45856</c:v>
                </c:pt>
                <c:pt idx="142">
                  <c:v>45859</c:v>
                </c:pt>
                <c:pt idx="143">
                  <c:v>45860</c:v>
                </c:pt>
                <c:pt idx="144">
                  <c:v>45861</c:v>
                </c:pt>
                <c:pt idx="145">
                  <c:v>45862</c:v>
                </c:pt>
                <c:pt idx="146">
                  <c:v>45863</c:v>
                </c:pt>
                <c:pt idx="147">
                  <c:v>45866</c:v>
                </c:pt>
                <c:pt idx="148">
                  <c:v>45867</c:v>
                </c:pt>
                <c:pt idx="149">
                  <c:v>45868</c:v>
                </c:pt>
                <c:pt idx="150">
                  <c:v>45869</c:v>
                </c:pt>
                <c:pt idx="151">
                  <c:v>45870</c:v>
                </c:pt>
                <c:pt idx="152">
                  <c:v>45873</c:v>
                </c:pt>
                <c:pt idx="153">
                  <c:v>45874</c:v>
                </c:pt>
                <c:pt idx="154">
                  <c:v>45875</c:v>
                </c:pt>
                <c:pt idx="155">
                  <c:v>45876</c:v>
                </c:pt>
                <c:pt idx="156">
                  <c:v>45877</c:v>
                </c:pt>
                <c:pt idx="157">
                  <c:v>45880</c:v>
                </c:pt>
                <c:pt idx="158">
                  <c:v>45881</c:v>
                </c:pt>
                <c:pt idx="159">
                  <c:v>45882</c:v>
                </c:pt>
                <c:pt idx="160">
                  <c:v>45883</c:v>
                </c:pt>
                <c:pt idx="161">
                  <c:v>45884</c:v>
                </c:pt>
                <c:pt idx="162">
                  <c:v>45887</c:v>
                </c:pt>
                <c:pt idx="163">
                  <c:v>45888</c:v>
                </c:pt>
                <c:pt idx="164">
                  <c:v>45889</c:v>
                </c:pt>
                <c:pt idx="165">
                  <c:v>45890</c:v>
                </c:pt>
                <c:pt idx="166">
                  <c:v>45891</c:v>
                </c:pt>
                <c:pt idx="167">
                  <c:v>45894</c:v>
                </c:pt>
                <c:pt idx="168">
                  <c:v>45895</c:v>
                </c:pt>
                <c:pt idx="169">
                  <c:v>45896</c:v>
                </c:pt>
                <c:pt idx="170">
                  <c:v>45897</c:v>
                </c:pt>
                <c:pt idx="171">
                  <c:v>45898</c:v>
                </c:pt>
                <c:pt idx="172">
                  <c:v>45901</c:v>
                </c:pt>
                <c:pt idx="173">
                  <c:v>45902</c:v>
                </c:pt>
                <c:pt idx="174">
                  <c:v>45903</c:v>
                </c:pt>
                <c:pt idx="175">
                  <c:v>45904</c:v>
                </c:pt>
                <c:pt idx="176">
                  <c:v>45905</c:v>
                </c:pt>
                <c:pt idx="177">
                  <c:v>45908</c:v>
                </c:pt>
                <c:pt idx="178">
                  <c:v>45909</c:v>
                </c:pt>
                <c:pt idx="179">
                  <c:v>45910</c:v>
                </c:pt>
                <c:pt idx="180">
                  <c:v>45911</c:v>
                </c:pt>
                <c:pt idx="181">
                  <c:v>45912</c:v>
                </c:pt>
                <c:pt idx="182">
                  <c:v>45915</c:v>
                </c:pt>
                <c:pt idx="183">
                  <c:v>45916</c:v>
                </c:pt>
                <c:pt idx="184">
                  <c:v>45917</c:v>
                </c:pt>
                <c:pt idx="185">
                  <c:v>45918</c:v>
                </c:pt>
                <c:pt idx="186">
                  <c:v>45919</c:v>
                </c:pt>
                <c:pt idx="187">
                  <c:v>45922</c:v>
                </c:pt>
                <c:pt idx="188">
                  <c:v>45923</c:v>
                </c:pt>
                <c:pt idx="189">
                  <c:v>45924</c:v>
                </c:pt>
                <c:pt idx="190">
                  <c:v>45925</c:v>
                </c:pt>
                <c:pt idx="191">
                  <c:v>45926</c:v>
                </c:pt>
                <c:pt idx="192">
                  <c:v>45929</c:v>
                </c:pt>
                <c:pt idx="193">
                  <c:v>45930</c:v>
                </c:pt>
                <c:pt idx="194">
                  <c:v>45931</c:v>
                </c:pt>
                <c:pt idx="195">
                  <c:v>45932</c:v>
                </c:pt>
                <c:pt idx="196">
                  <c:v>45933</c:v>
                </c:pt>
                <c:pt idx="197">
                  <c:v>45936</c:v>
                </c:pt>
                <c:pt idx="198">
                  <c:v>45937</c:v>
                </c:pt>
                <c:pt idx="199">
                  <c:v>45938</c:v>
                </c:pt>
                <c:pt idx="200">
                  <c:v>45939</c:v>
                </c:pt>
                <c:pt idx="201">
                  <c:v>45940</c:v>
                </c:pt>
                <c:pt idx="202">
                  <c:v>45943</c:v>
                </c:pt>
                <c:pt idx="203">
                  <c:v>45944</c:v>
                </c:pt>
                <c:pt idx="204">
                  <c:v>45945</c:v>
                </c:pt>
                <c:pt idx="205">
                  <c:v>45946</c:v>
                </c:pt>
                <c:pt idx="206">
                  <c:v>45947</c:v>
                </c:pt>
                <c:pt idx="207">
                  <c:v>45950</c:v>
                </c:pt>
                <c:pt idx="208">
                  <c:v>45951</c:v>
                </c:pt>
                <c:pt idx="209">
                  <c:v>45952</c:v>
                </c:pt>
                <c:pt idx="210">
                  <c:v>45953</c:v>
                </c:pt>
                <c:pt idx="211">
                  <c:v>45954</c:v>
                </c:pt>
                <c:pt idx="212">
                  <c:v>45957</c:v>
                </c:pt>
                <c:pt idx="213">
                  <c:v>45958</c:v>
                </c:pt>
                <c:pt idx="214">
                  <c:v>45959</c:v>
                </c:pt>
                <c:pt idx="215">
                  <c:v>45960</c:v>
                </c:pt>
                <c:pt idx="216">
                  <c:v>45961</c:v>
                </c:pt>
                <c:pt idx="217">
                  <c:v>45964</c:v>
                </c:pt>
                <c:pt idx="218">
                  <c:v>45965</c:v>
                </c:pt>
                <c:pt idx="219">
                  <c:v>45966</c:v>
                </c:pt>
                <c:pt idx="220">
                  <c:v>45967</c:v>
                </c:pt>
                <c:pt idx="221">
                  <c:v>45968</c:v>
                </c:pt>
                <c:pt idx="222">
                  <c:v>45971</c:v>
                </c:pt>
                <c:pt idx="223">
                  <c:v>45972</c:v>
                </c:pt>
                <c:pt idx="224">
                  <c:v>45973</c:v>
                </c:pt>
                <c:pt idx="225">
                  <c:v>45974</c:v>
                </c:pt>
                <c:pt idx="226">
                  <c:v>45975</c:v>
                </c:pt>
                <c:pt idx="227">
                  <c:v>45978</c:v>
                </c:pt>
                <c:pt idx="228">
                  <c:v>45979</c:v>
                </c:pt>
                <c:pt idx="229">
                  <c:v>45980</c:v>
                </c:pt>
                <c:pt idx="230">
                  <c:v>45981</c:v>
                </c:pt>
                <c:pt idx="231">
                  <c:v>45982</c:v>
                </c:pt>
                <c:pt idx="232">
                  <c:v>45985</c:v>
                </c:pt>
                <c:pt idx="233">
                  <c:v>45986</c:v>
                </c:pt>
                <c:pt idx="234">
                  <c:v>45987</c:v>
                </c:pt>
                <c:pt idx="235">
                  <c:v>45988</c:v>
                </c:pt>
                <c:pt idx="236">
                  <c:v>45989</c:v>
                </c:pt>
                <c:pt idx="237">
                  <c:v>45992</c:v>
                </c:pt>
                <c:pt idx="238">
                  <c:v>45993</c:v>
                </c:pt>
                <c:pt idx="239">
                  <c:v>45994</c:v>
                </c:pt>
                <c:pt idx="240">
                  <c:v>45995</c:v>
                </c:pt>
                <c:pt idx="241">
                  <c:v>45996</c:v>
                </c:pt>
                <c:pt idx="242">
                  <c:v>45999</c:v>
                </c:pt>
                <c:pt idx="243">
                  <c:v>46000</c:v>
                </c:pt>
                <c:pt idx="244">
                  <c:v>46001</c:v>
                </c:pt>
                <c:pt idx="245">
                  <c:v>46002</c:v>
                </c:pt>
                <c:pt idx="246">
                  <c:v>46003</c:v>
                </c:pt>
                <c:pt idx="247">
                  <c:v>46006</c:v>
                </c:pt>
                <c:pt idx="248">
                  <c:v>46007</c:v>
                </c:pt>
                <c:pt idx="249">
                  <c:v>46008</c:v>
                </c:pt>
                <c:pt idx="250">
                  <c:v>46009</c:v>
                </c:pt>
                <c:pt idx="251">
                  <c:v>46010</c:v>
                </c:pt>
                <c:pt idx="252">
                  <c:v>46013</c:v>
                </c:pt>
                <c:pt idx="253">
                  <c:v>46014</c:v>
                </c:pt>
                <c:pt idx="254">
                  <c:v>46015</c:v>
                </c:pt>
                <c:pt idx="255">
                  <c:v>46016</c:v>
                </c:pt>
                <c:pt idx="256">
                  <c:v>46017</c:v>
                </c:pt>
                <c:pt idx="257">
                  <c:v>46020</c:v>
                </c:pt>
                <c:pt idx="258">
                  <c:v>46021</c:v>
                </c:pt>
                <c:pt idx="259">
                  <c:v>46022</c:v>
                </c:pt>
                <c:pt idx="260">
                  <c:v>46023</c:v>
                </c:pt>
                <c:pt idx="261">
                  <c:v>46024</c:v>
                </c:pt>
                <c:pt idx="262">
                  <c:v>46027</c:v>
                </c:pt>
                <c:pt idx="263">
                  <c:v>46028</c:v>
                </c:pt>
                <c:pt idx="264">
                  <c:v>46029</c:v>
                </c:pt>
                <c:pt idx="265">
                  <c:v>46030</c:v>
                </c:pt>
                <c:pt idx="266">
                  <c:v>46031</c:v>
                </c:pt>
                <c:pt idx="267">
                  <c:v>46034</c:v>
                </c:pt>
                <c:pt idx="268">
                  <c:v>46035</c:v>
                </c:pt>
                <c:pt idx="269">
                  <c:v>46036</c:v>
                </c:pt>
                <c:pt idx="270">
                  <c:v>46037</c:v>
                </c:pt>
                <c:pt idx="271">
                  <c:v>46038</c:v>
                </c:pt>
                <c:pt idx="272">
                  <c:v>46041</c:v>
                </c:pt>
                <c:pt idx="273">
                  <c:v>46042</c:v>
                </c:pt>
                <c:pt idx="274">
                  <c:v>46043</c:v>
                </c:pt>
                <c:pt idx="275">
                  <c:v>46044</c:v>
                </c:pt>
                <c:pt idx="276">
                  <c:v>46045</c:v>
                </c:pt>
                <c:pt idx="277">
                  <c:v>46048</c:v>
                </c:pt>
                <c:pt idx="278">
                  <c:v>46049</c:v>
                </c:pt>
                <c:pt idx="279">
                  <c:v>46050</c:v>
                </c:pt>
                <c:pt idx="280">
                  <c:v>46051</c:v>
                </c:pt>
                <c:pt idx="281">
                  <c:v>46052</c:v>
                </c:pt>
                <c:pt idx="282">
                  <c:v>46055</c:v>
                </c:pt>
                <c:pt idx="283">
                  <c:v>46056</c:v>
                </c:pt>
                <c:pt idx="284">
                  <c:v>46057</c:v>
                </c:pt>
                <c:pt idx="285">
                  <c:v>46058</c:v>
                </c:pt>
                <c:pt idx="286">
                  <c:v>46059</c:v>
                </c:pt>
                <c:pt idx="287">
                  <c:v>46062</c:v>
                </c:pt>
                <c:pt idx="288">
                  <c:v>46063</c:v>
                </c:pt>
                <c:pt idx="289">
                  <c:v>46064</c:v>
                </c:pt>
                <c:pt idx="290">
                  <c:v>46065</c:v>
                </c:pt>
                <c:pt idx="291">
                  <c:v>46066</c:v>
                </c:pt>
                <c:pt idx="292">
                  <c:v>46069</c:v>
                </c:pt>
                <c:pt idx="293">
                  <c:v>46070</c:v>
                </c:pt>
                <c:pt idx="294">
                  <c:v>46071</c:v>
                </c:pt>
                <c:pt idx="295">
                  <c:v>46072</c:v>
                </c:pt>
                <c:pt idx="296">
                  <c:v>46073</c:v>
                </c:pt>
                <c:pt idx="297">
                  <c:v>46076</c:v>
                </c:pt>
                <c:pt idx="298">
                  <c:v>46077</c:v>
                </c:pt>
                <c:pt idx="299">
                  <c:v>46078</c:v>
                </c:pt>
                <c:pt idx="300">
                  <c:v>46079</c:v>
                </c:pt>
                <c:pt idx="301">
                  <c:v>46080</c:v>
                </c:pt>
                <c:pt idx="302">
                  <c:v>46083</c:v>
                </c:pt>
                <c:pt idx="303">
                  <c:v>46084</c:v>
                </c:pt>
                <c:pt idx="304">
                  <c:v>46085</c:v>
                </c:pt>
                <c:pt idx="305">
                  <c:v>46086</c:v>
                </c:pt>
                <c:pt idx="306">
                  <c:v>46087</c:v>
                </c:pt>
                <c:pt idx="307">
                  <c:v>46090</c:v>
                </c:pt>
                <c:pt idx="308">
                  <c:v>46091</c:v>
                </c:pt>
                <c:pt idx="309">
                  <c:v>46092</c:v>
                </c:pt>
                <c:pt idx="310">
                  <c:v>46093</c:v>
                </c:pt>
                <c:pt idx="311">
                  <c:v>46094</c:v>
                </c:pt>
                <c:pt idx="312">
                  <c:v>46097</c:v>
                </c:pt>
                <c:pt idx="313">
                  <c:v>46098</c:v>
                </c:pt>
                <c:pt idx="314">
                  <c:v>46099</c:v>
                </c:pt>
                <c:pt idx="315">
                  <c:v>46100</c:v>
                </c:pt>
                <c:pt idx="316">
                  <c:v>46101</c:v>
                </c:pt>
                <c:pt idx="317">
                  <c:v>46104</c:v>
                </c:pt>
                <c:pt idx="318">
                  <c:v>46105</c:v>
                </c:pt>
                <c:pt idx="319">
                  <c:v>46106</c:v>
                </c:pt>
                <c:pt idx="320">
                  <c:v>46107</c:v>
                </c:pt>
                <c:pt idx="321">
                  <c:v>46108</c:v>
                </c:pt>
                <c:pt idx="322">
                  <c:v>46111</c:v>
                </c:pt>
                <c:pt idx="323">
                  <c:v>46112</c:v>
                </c:pt>
                <c:pt idx="324">
                  <c:v>46113</c:v>
                </c:pt>
                <c:pt idx="325">
                  <c:v>46114</c:v>
                </c:pt>
                <c:pt idx="326">
                  <c:v>46115</c:v>
                </c:pt>
                <c:pt idx="327">
                  <c:v>46118</c:v>
                </c:pt>
                <c:pt idx="328">
                  <c:v>46119</c:v>
                </c:pt>
                <c:pt idx="329">
                  <c:v>46120</c:v>
                </c:pt>
                <c:pt idx="330">
                  <c:v>46121</c:v>
                </c:pt>
                <c:pt idx="331">
                  <c:v>46122</c:v>
                </c:pt>
                <c:pt idx="332">
                  <c:v>46125</c:v>
                </c:pt>
                <c:pt idx="333">
                  <c:v>46126</c:v>
                </c:pt>
                <c:pt idx="334">
                  <c:v>46127</c:v>
                </c:pt>
                <c:pt idx="335">
                  <c:v>46128</c:v>
                </c:pt>
                <c:pt idx="336">
                  <c:v>46129</c:v>
                </c:pt>
                <c:pt idx="337">
                  <c:v>46132</c:v>
                </c:pt>
                <c:pt idx="338">
                  <c:v>46133</c:v>
                </c:pt>
                <c:pt idx="339">
                  <c:v>46134</c:v>
                </c:pt>
                <c:pt idx="340">
                  <c:v>46135</c:v>
                </c:pt>
                <c:pt idx="341">
                  <c:v>46136</c:v>
                </c:pt>
                <c:pt idx="342">
                  <c:v>46139</c:v>
                </c:pt>
                <c:pt idx="343">
                  <c:v>46140</c:v>
                </c:pt>
                <c:pt idx="344">
                  <c:v>46141</c:v>
                </c:pt>
                <c:pt idx="345">
                  <c:v>46142</c:v>
                </c:pt>
                <c:pt idx="346">
                  <c:v>46143</c:v>
                </c:pt>
                <c:pt idx="347">
                  <c:v>46146</c:v>
                </c:pt>
              </c:numCache>
            </c:numRef>
          </c:cat>
          <c:val>
            <c:numRef>
              <c:f>'US 10Y Govt'!$O$14:$O$361</c:f>
              <c:numCache>
                <c:formatCode>#,##0.0;\(#,##0.0\);\-</c:formatCode>
                <c:ptCount val="348"/>
                <c:pt idx="0">
                  <c:v>4.33</c:v>
                </c:pt>
                <c:pt idx="1">
                  <c:v>4.33</c:v>
                </c:pt>
                <c:pt idx="2">
                  <c:v>4.33</c:v>
                </c:pt>
                <c:pt idx="3">
                  <c:v>4.33</c:v>
                </c:pt>
                <c:pt idx="4">
                  <c:v>4.33</c:v>
                </c:pt>
                <c:pt idx="5">
                  <c:v>4.33</c:v>
                </c:pt>
                <c:pt idx="6">
                  <c:v>4.33</c:v>
                </c:pt>
                <c:pt idx="7">
                  <c:v>4.33</c:v>
                </c:pt>
                <c:pt idx="8">
                  <c:v>4.33</c:v>
                </c:pt>
                <c:pt idx="9">
                  <c:v>4.33</c:v>
                </c:pt>
                <c:pt idx="10">
                  <c:v>4.33</c:v>
                </c:pt>
                <c:pt idx="11">
                  <c:v>4.33</c:v>
                </c:pt>
                <c:pt idx="12">
                  <c:v>4.33</c:v>
                </c:pt>
                <c:pt idx="13">
                  <c:v>4.33</c:v>
                </c:pt>
                <c:pt idx="14">
                  <c:v>4.33</c:v>
                </c:pt>
                <c:pt idx="15">
                  <c:v>4.33</c:v>
                </c:pt>
                <c:pt idx="16">
                  <c:v>4.33</c:v>
                </c:pt>
                <c:pt idx="17">
                  <c:v>4.33</c:v>
                </c:pt>
                <c:pt idx="18">
                  <c:v>4.33</c:v>
                </c:pt>
                <c:pt idx="19">
                  <c:v>4.33</c:v>
                </c:pt>
                <c:pt idx="20">
                  <c:v>4.33</c:v>
                </c:pt>
                <c:pt idx="21">
                  <c:v>4.33</c:v>
                </c:pt>
                <c:pt idx="22">
                  <c:v>4.33</c:v>
                </c:pt>
                <c:pt idx="23">
                  <c:v>4.33</c:v>
                </c:pt>
                <c:pt idx="24">
                  <c:v>4.33</c:v>
                </c:pt>
                <c:pt idx="25">
                  <c:v>4.33</c:v>
                </c:pt>
                <c:pt idx="26">
                  <c:v>4.33</c:v>
                </c:pt>
                <c:pt idx="27">
                  <c:v>4.33</c:v>
                </c:pt>
                <c:pt idx="28">
                  <c:v>4.33</c:v>
                </c:pt>
                <c:pt idx="29">
                  <c:v>4.33</c:v>
                </c:pt>
                <c:pt idx="30">
                  <c:v>4.33</c:v>
                </c:pt>
                <c:pt idx="31">
                  <c:v>4.33</c:v>
                </c:pt>
                <c:pt idx="32">
                  <c:v>4.33</c:v>
                </c:pt>
                <c:pt idx="33">
                  <c:v>4.33</c:v>
                </c:pt>
                <c:pt idx="34">
                  <c:v>4.33</c:v>
                </c:pt>
                <c:pt idx="35">
                  <c:v>4.33</c:v>
                </c:pt>
                <c:pt idx="36">
                  <c:v>4.33</c:v>
                </c:pt>
                <c:pt idx="37">
                  <c:v>4.33</c:v>
                </c:pt>
                <c:pt idx="38">
                  <c:v>4.33</c:v>
                </c:pt>
                <c:pt idx="39">
                  <c:v>4.33</c:v>
                </c:pt>
                <c:pt idx="40">
                  <c:v>4.33</c:v>
                </c:pt>
                <c:pt idx="41">
                  <c:v>4.33</c:v>
                </c:pt>
                <c:pt idx="42">
                  <c:v>4.33</c:v>
                </c:pt>
                <c:pt idx="43">
                  <c:v>4.33</c:v>
                </c:pt>
                <c:pt idx="44">
                  <c:v>4.33</c:v>
                </c:pt>
                <c:pt idx="45">
                  <c:v>4.33</c:v>
                </c:pt>
                <c:pt idx="46">
                  <c:v>4.33</c:v>
                </c:pt>
                <c:pt idx="47">
                  <c:v>4.33</c:v>
                </c:pt>
                <c:pt idx="48">
                  <c:v>4.33</c:v>
                </c:pt>
                <c:pt idx="49">
                  <c:v>4.33</c:v>
                </c:pt>
                <c:pt idx="50">
                  <c:v>4.33</c:v>
                </c:pt>
                <c:pt idx="51">
                  <c:v>4.33</c:v>
                </c:pt>
                <c:pt idx="52">
                  <c:v>4.33</c:v>
                </c:pt>
                <c:pt idx="53">
                  <c:v>4.33</c:v>
                </c:pt>
                <c:pt idx="54">
                  <c:v>4.33</c:v>
                </c:pt>
                <c:pt idx="55">
                  <c:v>4.33</c:v>
                </c:pt>
                <c:pt idx="56">
                  <c:v>4.33</c:v>
                </c:pt>
                <c:pt idx="57">
                  <c:v>4.33</c:v>
                </c:pt>
                <c:pt idx="58">
                  <c:v>4.33</c:v>
                </c:pt>
                <c:pt idx="59">
                  <c:v>4.33</c:v>
                </c:pt>
                <c:pt idx="60">
                  <c:v>4.33</c:v>
                </c:pt>
                <c:pt idx="61">
                  <c:v>4.33</c:v>
                </c:pt>
                <c:pt idx="62">
                  <c:v>4.33</c:v>
                </c:pt>
                <c:pt idx="63">
                  <c:v>4.33</c:v>
                </c:pt>
                <c:pt idx="64">
                  <c:v>4.33</c:v>
                </c:pt>
                <c:pt idx="65">
                  <c:v>4.33</c:v>
                </c:pt>
                <c:pt idx="66">
                  <c:v>4.33</c:v>
                </c:pt>
                <c:pt idx="67">
                  <c:v>4.33</c:v>
                </c:pt>
                <c:pt idx="68">
                  <c:v>4.33</c:v>
                </c:pt>
                <c:pt idx="69">
                  <c:v>4.33</c:v>
                </c:pt>
                <c:pt idx="70">
                  <c:v>4.33</c:v>
                </c:pt>
                <c:pt idx="71">
                  <c:v>4.33</c:v>
                </c:pt>
                <c:pt idx="72">
                  <c:v>4.33</c:v>
                </c:pt>
                <c:pt idx="73">
                  <c:v>4.33</c:v>
                </c:pt>
                <c:pt idx="74">
                  <c:v>4.33</c:v>
                </c:pt>
                <c:pt idx="75">
                  <c:v>4.33</c:v>
                </c:pt>
                <c:pt idx="76">
                  <c:v>4.33</c:v>
                </c:pt>
                <c:pt idx="77">
                  <c:v>4.33</c:v>
                </c:pt>
                <c:pt idx="78">
                  <c:v>4.33</c:v>
                </c:pt>
                <c:pt idx="79">
                  <c:v>4.33</c:v>
                </c:pt>
                <c:pt idx="80">
                  <c:v>4.33</c:v>
                </c:pt>
                <c:pt idx="81">
                  <c:v>4.33</c:v>
                </c:pt>
                <c:pt idx="82">
                  <c:v>4.33</c:v>
                </c:pt>
                <c:pt idx="83">
                  <c:v>4.33</c:v>
                </c:pt>
                <c:pt idx="84">
                  <c:v>4.33</c:v>
                </c:pt>
                <c:pt idx="85">
                  <c:v>4.33</c:v>
                </c:pt>
                <c:pt idx="86">
                  <c:v>4.33</c:v>
                </c:pt>
                <c:pt idx="87">
                  <c:v>4.33</c:v>
                </c:pt>
                <c:pt idx="88">
                  <c:v>4.33</c:v>
                </c:pt>
                <c:pt idx="89">
                  <c:v>4.33</c:v>
                </c:pt>
                <c:pt idx="90">
                  <c:v>4.33</c:v>
                </c:pt>
                <c:pt idx="91">
                  <c:v>4.33</c:v>
                </c:pt>
                <c:pt idx="92">
                  <c:v>4.33</c:v>
                </c:pt>
                <c:pt idx="93">
                  <c:v>4.33</c:v>
                </c:pt>
                <c:pt idx="94">
                  <c:v>4.33</c:v>
                </c:pt>
                <c:pt idx="95">
                  <c:v>4.33</c:v>
                </c:pt>
                <c:pt idx="96">
                  <c:v>4.33</c:v>
                </c:pt>
                <c:pt idx="97">
                  <c:v>4.33</c:v>
                </c:pt>
                <c:pt idx="98">
                  <c:v>4.33</c:v>
                </c:pt>
                <c:pt idx="99">
                  <c:v>4.33</c:v>
                </c:pt>
                <c:pt idx="100">
                  <c:v>4.33</c:v>
                </c:pt>
                <c:pt idx="101">
                  <c:v>4.33</c:v>
                </c:pt>
                <c:pt idx="102">
                  <c:v>4.33</c:v>
                </c:pt>
                <c:pt idx="103">
                  <c:v>4.33</c:v>
                </c:pt>
                <c:pt idx="104">
                  <c:v>4.33</c:v>
                </c:pt>
                <c:pt idx="105">
                  <c:v>4.33</c:v>
                </c:pt>
                <c:pt idx="106">
                  <c:v>4.33</c:v>
                </c:pt>
                <c:pt idx="107">
                  <c:v>4.33</c:v>
                </c:pt>
                <c:pt idx="108">
                  <c:v>4.33</c:v>
                </c:pt>
                <c:pt idx="109">
                  <c:v>4.33</c:v>
                </c:pt>
                <c:pt idx="110">
                  <c:v>4.33</c:v>
                </c:pt>
                <c:pt idx="111">
                  <c:v>4.33</c:v>
                </c:pt>
                <c:pt idx="112">
                  <c:v>4.33</c:v>
                </c:pt>
                <c:pt idx="113">
                  <c:v>4.33</c:v>
                </c:pt>
                <c:pt idx="114">
                  <c:v>4.33</c:v>
                </c:pt>
                <c:pt idx="115">
                  <c:v>4.33</c:v>
                </c:pt>
                <c:pt idx="116">
                  <c:v>4.33</c:v>
                </c:pt>
                <c:pt idx="117">
                  <c:v>4.33</c:v>
                </c:pt>
                <c:pt idx="118">
                  <c:v>4.33</c:v>
                </c:pt>
                <c:pt idx="119">
                  <c:v>4.33</c:v>
                </c:pt>
                <c:pt idx="120">
                  <c:v>4.33</c:v>
                </c:pt>
                <c:pt idx="121">
                  <c:v>4.33</c:v>
                </c:pt>
                <c:pt idx="122">
                  <c:v>4.33</c:v>
                </c:pt>
                <c:pt idx="123">
                  <c:v>4.33</c:v>
                </c:pt>
                <c:pt idx="124">
                  <c:v>4.33</c:v>
                </c:pt>
                <c:pt idx="125">
                  <c:v>4.33</c:v>
                </c:pt>
                <c:pt idx="126">
                  <c:v>4.33</c:v>
                </c:pt>
                <c:pt idx="127">
                  <c:v>4.33</c:v>
                </c:pt>
                <c:pt idx="128">
                  <c:v>4.33</c:v>
                </c:pt>
                <c:pt idx="129">
                  <c:v>4.33</c:v>
                </c:pt>
                <c:pt idx="130">
                  <c:v>4.33</c:v>
                </c:pt>
                <c:pt idx="131">
                  <c:v>4.33</c:v>
                </c:pt>
                <c:pt idx="132">
                  <c:v>4.33</c:v>
                </c:pt>
                <c:pt idx="133">
                  <c:v>4.33</c:v>
                </c:pt>
                <c:pt idx="134">
                  <c:v>4.33</c:v>
                </c:pt>
                <c:pt idx="135">
                  <c:v>4.33</c:v>
                </c:pt>
                <c:pt idx="136">
                  <c:v>4.33</c:v>
                </c:pt>
                <c:pt idx="137">
                  <c:v>4.33</c:v>
                </c:pt>
                <c:pt idx="138">
                  <c:v>4.33</c:v>
                </c:pt>
                <c:pt idx="139">
                  <c:v>4.33</c:v>
                </c:pt>
                <c:pt idx="140">
                  <c:v>4.33</c:v>
                </c:pt>
                <c:pt idx="141">
                  <c:v>4.33</c:v>
                </c:pt>
                <c:pt idx="142">
                  <c:v>4.33</c:v>
                </c:pt>
                <c:pt idx="143">
                  <c:v>4.33</c:v>
                </c:pt>
                <c:pt idx="144">
                  <c:v>4.33</c:v>
                </c:pt>
                <c:pt idx="145">
                  <c:v>4.33</c:v>
                </c:pt>
                <c:pt idx="146">
                  <c:v>4.33</c:v>
                </c:pt>
                <c:pt idx="147">
                  <c:v>4.33</c:v>
                </c:pt>
                <c:pt idx="148">
                  <c:v>4.33</c:v>
                </c:pt>
                <c:pt idx="149">
                  <c:v>4.33</c:v>
                </c:pt>
                <c:pt idx="150">
                  <c:v>4.33</c:v>
                </c:pt>
                <c:pt idx="151">
                  <c:v>4.33</c:v>
                </c:pt>
                <c:pt idx="152">
                  <c:v>4.33</c:v>
                </c:pt>
                <c:pt idx="153">
                  <c:v>4.33</c:v>
                </c:pt>
                <c:pt idx="154">
                  <c:v>4.33</c:v>
                </c:pt>
                <c:pt idx="155">
                  <c:v>4.33</c:v>
                </c:pt>
                <c:pt idx="156">
                  <c:v>4.33</c:v>
                </c:pt>
                <c:pt idx="157">
                  <c:v>4.33</c:v>
                </c:pt>
                <c:pt idx="158">
                  <c:v>4.33</c:v>
                </c:pt>
                <c:pt idx="159">
                  <c:v>4.33</c:v>
                </c:pt>
                <c:pt idx="160">
                  <c:v>4.33</c:v>
                </c:pt>
                <c:pt idx="161">
                  <c:v>4.33</c:v>
                </c:pt>
                <c:pt idx="162">
                  <c:v>4.33</c:v>
                </c:pt>
                <c:pt idx="163">
                  <c:v>4.33</c:v>
                </c:pt>
                <c:pt idx="164">
                  <c:v>4.33</c:v>
                </c:pt>
                <c:pt idx="165">
                  <c:v>4.33</c:v>
                </c:pt>
                <c:pt idx="166">
                  <c:v>4.33</c:v>
                </c:pt>
                <c:pt idx="167">
                  <c:v>4.33</c:v>
                </c:pt>
                <c:pt idx="168">
                  <c:v>4.33</c:v>
                </c:pt>
                <c:pt idx="169">
                  <c:v>4.33</c:v>
                </c:pt>
                <c:pt idx="170">
                  <c:v>4.33</c:v>
                </c:pt>
                <c:pt idx="171">
                  <c:v>4.33</c:v>
                </c:pt>
                <c:pt idx="172">
                  <c:v>4.33</c:v>
                </c:pt>
                <c:pt idx="173">
                  <c:v>4.33</c:v>
                </c:pt>
                <c:pt idx="174">
                  <c:v>4.33</c:v>
                </c:pt>
                <c:pt idx="175">
                  <c:v>4.33</c:v>
                </c:pt>
                <c:pt idx="176">
                  <c:v>4.33</c:v>
                </c:pt>
                <c:pt idx="177">
                  <c:v>4.33</c:v>
                </c:pt>
                <c:pt idx="178">
                  <c:v>4.33</c:v>
                </c:pt>
                <c:pt idx="179">
                  <c:v>4.33</c:v>
                </c:pt>
                <c:pt idx="180">
                  <c:v>4.33</c:v>
                </c:pt>
                <c:pt idx="181">
                  <c:v>4.33</c:v>
                </c:pt>
                <c:pt idx="182">
                  <c:v>4.33</c:v>
                </c:pt>
                <c:pt idx="183">
                  <c:v>4.33</c:v>
                </c:pt>
                <c:pt idx="184">
                  <c:v>4.33</c:v>
                </c:pt>
                <c:pt idx="185">
                  <c:v>4.08</c:v>
                </c:pt>
                <c:pt idx="186">
                  <c:v>4.08</c:v>
                </c:pt>
                <c:pt idx="187">
                  <c:v>4.09</c:v>
                </c:pt>
                <c:pt idx="188">
                  <c:v>4.09</c:v>
                </c:pt>
                <c:pt idx="189">
                  <c:v>4.09</c:v>
                </c:pt>
                <c:pt idx="190">
                  <c:v>4.09</c:v>
                </c:pt>
                <c:pt idx="191">
                  <c:v>4.09</c:v>
                </c:pt>
                <c:pt idx="192">
                  <c:v>4.09</c:v>
                </c:pt>
                <c:pt idx="193">
                  <c:v>4.09</c:v>
                </c:pt>
                <c:pt idx="194">
                  <c:v>4.09</c:v>
                </c:pt>
                <c:pt idx="195">
                  <c:v>4.09</c:v>
                </c:pt>
                <c:pt idx="196">
                  <c:v>4.09</c:v>
                </c:pt>
                <c:pt idx="197">
                  <c:v>4.09</c:v>
                </c:pt>
                <c:pt idx="198">
                  <c:v>4.09</c:v>
                </c:pt>
                <c:pt idx="199">
                  <c:v>4.0999999999999996</c:v>
                </c:pt>
                <c:pt idx="200">
                  <c:v>4.0999999999999996</c:v>
                </c:pt>
                <c:pt idx="201">
                  <c:v>4.0999999999999996</c:v>
                </c:pt>
                <c:pt idx="202">
                  <c:v>4.0999999999999996</c:v>
                </c:pt>
                <c:pt idx="203">
                  <c:v>4.0999999999999996</c:v>
                </c:pt>
                <c:pt idx="204">
                  <c:v>4.0999999999999996</c:v>
                </c:pt>
                <c:pt idx="205">
                  <c:v>4.1100000000000003</c:v>
                </c:pt>
                <c:pt idx="206">
                  <c:v>4.1100000000000003</c:v>
                </c:pt>
                <c:pt idx="207">
                  <c:v>4.1100000000000003</c:v>
                </c:pt>
                <c:pt idx="208">
                  <c:v>4.1100000000000003</c:v>
                </c:pt>
                <c:pt idx="209">
                  <c:v>4.1100000000000003</c:v>
                </c:pt>
                <c:pt idx="210">
                  <c:v>4.1100000000000003</c:v>
                </c:pt>
                <c:pt idx="211">
                  <c:v>4.1100000000000003</c:v>
                </c:pt>
                <c:pt idx="212">
                  <c:v>4.12</c:v>
                </c:pt>
                <c:pt idx="213">
                  <c:v>4.12</c:v>
                </c:pt>
                <c:pt idx="214">
                  <c:v>4.12</c:v>
                </c:pt>
                <c:pt idx="215">
                  <c:v>3.87</c:v>
                </c:pt>
                <c:pt idx="216">
                  <c:v>3.86</c:v>
                </c:pt>
                <c:pt idx="217">
                  <c:v>3.87</c:v>
                </c:pt>
                <c:pt idx="218">
                  <c:v>3.87</c:v>
                </c:pt>
                <c:pt idx="219">
                  <c:v>3.87</c:v>
                </c:pt>
                <c:pt idx="220">
                  <c:v>3.87</c:v>
                </c:pt>
                <c:pt idx="221">
                  <c:v>3.87</c:v>
                </c:pt>
                <c:pt idx="222">
                  <c:v>3.87</c:v>
                </c:pt>
                <c:pt idx="223">
                  <c:v>3.87</c:v>
                </c:pt>
                <c:pt idx="224">
                  <c:v>3.87</c:v>
                </c:pt>
                <c:pt idx="225">
                  <c:v>3.88</c:v>
                </c:pt>
                <c:pt idx="226">
                  <c:v>3.88</c:v>
                </c:pt>
                <c:pt idx="227">
                  <c:v>3.88</c:v>
                </c:pt>
                <c:pt idx="228">
                  <c:v>3.88</c:v>
                </c:pt>
                <c:pt idx="229">
                  <c:v>3.88</c:v>
                </c:pt>
                <c:pt idx="230">
                  <c:v>3.88</c:v>
                </c:pt>
                <c:pt idx="231">
                  <c:v>3.88</c:v>
                </c:pt>
                <c:pt idx="232">
                  <c:v>3.88</c:v>
                </c:pt>
                <c:pt idx="233">
                  <c:v>3.88</c:v>
                </c:pt>
                <c:pt idx="234">
                  <c:v>3.88</c:v>
                </c:pt>
                <c:pt idx="235">
                  <c:v>3.88</c:v>
                </c:pt>
                <c:pt idx="236">
                  <c:v>3.89</c:v>
                </c:pt>
                <c:pt idx="237">
                  <c:v>3.89</c:v>
                </c:pt>
                <c:pt idx="238">
                  <c:v>3.89</c:v>
                </c:pt>
                <c:pt idx="239">
                  <c:v>3.89</c:v>
                </c:pt>
                <c:pt idx="240">
                  <c:v>3.89</c:v>
                </c:pt>
                <c:pt idx="241">
                  <c:v>3.89</c:v>
                </c:pt>
                <c:pt idx="242">
                  <c:v>3.89</c:v>
                </c:pt>
                <c:pt idx="243">
                  <c:v>3.89</c:v>
                </c:pt>
                <c:pt idx="244">
                  <c:v>3.89</c:v>
                </c:pt>
                <c:pt idx="245">
                  <c:v>3.64</c:v>
                </c:pt>
                <c:pt idx="246">
                  <c:v>3.64</c:v>
                </c:pt>
                <c:pt idx="247">
                  <c:v>3.64</c:v>
                </c:pt>
                <c:pt idx="248">
                  <c:v>3.64</c:v>
                </c:pt>
                <c:pt idx="249">
                  <c:v>3.64</c:v>
                </c:pt>
                <c:pt idx="250">
                  <c:v>3.64</c:v>
                </c:pt>
                <c:pt idx="251">
                  <c:v>3.64</c:v>
                </c:pt>
                <c:pt idx="252">
                  <c:v>3.64</c:v>
                </c:pt>
                <c:pt idx="253">
                  <c:v>3.64</c:v>
                </c:pt>
                <c:pt idx="254">
                  <c:v>3.64</c:v>
                </c:pt>
                <c:pt idx="255">
                  <c:v>3.64</c:v>
                </c:pt>
                <c:pt idx="256">
                  <c:v>3.64</c:v>
                </c:pt>
                <c:pt idx="257">
                  <c:v>3.64</c:v>
                </c:pt>
                <c:pt idx="258">
                  <c:v>3.64</c:v>
                </c:pt>
                <c:pt idx="259">
                  <c:v>3.64</c:v>
                </c:pt>
                <c:pt idx="260">
                  <c:v>3.64</c:v>
                </c:pt>
                <c:pt idx="261">
                  <c:v>3.64</c:v>
                </c:pt>
                <c:pt idx="262">
                  <c:v>3.64</c:v>
                </c:pt>
                <c:pt idx="263">
                  <c:v>3.64</c:v>
                </c:pt>
                <c:pt idx="264">
                  <c:v>3.64</c:v>
                </c:pt>
                <c:pt idx="265">
                  <c:v>3.64</c:v>
                </c:pt>
                <c:pt idx="266">
                  <c:v>3.64</c:v>
                </c:pt>
                <c:pt idx="267">
                  <c:v>3.64</c:v>
                </c:pt>
                <c:pt idx="268">
                  <c:v>3.64</c:v>
                </c:pt>
                <c:pt idx="269">
                  <c:v>3.64</c:v>
                </c:pt>
                <c:pt idx="270">
                  <c:v>3.64</c:v>
                </c:pt>
                <c:pt idx="271">
                  <c:v>3.64</c:v>
                </c:pt>
                <c:pt idx="272">
                  <c:v>3.64</c:v>
                </c:pt>
                <c:pt idx="273">
                  <c:v>3.64</c:v>
                </c:pt>
                <c:pt idx="274">
                  <c:v>3.64</c:v>
                </c:pt>
                <c:pt idx="275">
                  <c:v>3.64</c:v>
                </c:pt>
                <c:pt idx="276">
                  <c:v>3.64</c:v>
                </c:pt>
                <c:pt idx="277">
                  <c:v>3.64</c:v>
                </c:pt>
                <c:pt idx="278">
                  <c:v>3.64</c:v>
                </c:pt>
                <c:pt idx="279">
                  <c:v>3.64</c:v>
                </c:pt>
                <c:pt idx="280">
                  <c:v>3.64</c:v>
                </c:pt>
                <c:pt idx="281">
                  <c:v>3.64</c:v>
                </c:pt>
                <c:pt idx="282">
                  <c:v>3.64</c:v>
                </c:pt>
                <c:pt idx="283">
                  <c:v>3.64</c:v>
                </c:pt>
                <c:pt idx="284">
                  <c:v>3.64</c:v>
                </c:pt>
                <c:pt idx="285">
                  <c:v>3.64</c:v>
                </c:pt>
                <c:pt idx="286">
                  <c:v>3.64</c:v>
                </c:pt>
                <c:pt idx="287">
                  <c:v>3.64</c:v>
                </c:pt>
                <c:pt idx="288">
                  <c:v>3.64</c:v>
                </c:pt>
                <c:pt idx="289">
                  <c:v>3.64</c:v>
                </c:pt>
                <c:pt idx="290">
                  <c:v>3.64</c:v>
                </c:pt>
                <c:pt idx="291">
                  <c:v>3.64</c:v>
                </c:pt>
                <c:pt idx="292">
                  <c:v>3.64</c:v>
                </c:pt>
                <c:pt idx="293">
                  <c:v>3.64</c:v>
                </c:pt>
                <c:pt idx="294">
                  <c:v>3.64</c:v>
                </c:pt>
                <c:pt idx="295">
                  <c:v>3.64</c:v>
                </c:pt>
                <c:pt idx="296">
                  <c:v>3.64</c:v>
                </c:pt>
                <c:pt idx="297">
                  <c:v>3.64</c:v>
                </c:pt>
                <c:pt idx="298">
                  <c:v>3.64</c:v>
                </c:pt>
                <c:pt idx="299">
                  <c:v>3.64</c:v>
                </c:pt>
                <c:pt idx="300">
                  <c:v>3.64</c:v>
                </c:pt>
                <c:pt idx="301">
                  <c:v>3.64</c:v>
                </c:pt>
                <c:pt idx="302">
                  <c:v>3.64</c:v>
                </c:pt>
                <c:pt idx="303">
                  <c:v>3.64</c:v>
                </c:pt>
                <c:pt idx="304">
                  <c:v>3.64</c:v>
                </c:pt>
                <c:pt idx="305">
                  <c:v>3.64</c:v>
                </c:pt>
                <c:pt idx="306">
                  <c:v>3.64</c:v>
                </c:pt>
                <c:pt idx="307">
                  <c:v>3.64</c:v>
                </c:pt>
                <c:pt idx="308">
                  <c:v>3.64</c:v>
                </c:pt>
                <c:pt idx="309">
                  <c:v>3.64</c:v>
                </c:pt>
                <c:pt idx="310">
                  <c:v>3.64</c:v>
                </c:pt>
                <c:pt idx="311">
                  <c:v>3.64</c:v>
                </c:pt>
                <c:pt idx="312">
                  <c:v>3.64</c:v>
                </c:pt>
                <c:pt idx="313">
                  <c:v>3.64</c:v>
                </c:pt>
                <c:pt idx="314">
                  <c:v>3.64</c:v>
                </c:pt>
                <c:pt idx="315">
                  <c:v>3.64</c:v>
                </c:pt>
                <c:pt idx="316">
                  <c:v>3.64</c:v>
                </c:pt>
                <c:pt idx="317">
                  <c:v>3.64</c:v>
                </c:pt>
                <c:pt idx="318">
                  <c:v>3.64</c:v>
                </c:pt>
                <c:pt idx="319">
                  <c:v>3.64</c:v>
                </c:pt>
                <c:pt idx="320">
                  <c:v>3.64</c:v>
                </c:pt>
                <c:pt idx="321">
                  <c:v>3.64</c:v>
                </c:pt>
                <c:pt idx="322">
                  <c:v>3.64</c:v>
                </c:pt>
                <c:pt idx="323">
                  <c:v>3.64</c:v>
                </c:pt>
                <c:pt idx="324">
                  <c:v>3.64</c:v>
                </c:pt>
                <c:pt idx="325">
                  <c:v>3.64</c:v>
                </c:pt>
                <c:pt idx="326">
                  <c:v>3.64</c:v>
                </c:pt>
                <c:pt idx="327">
                  <c:v>3.64</c:v>
                </c:pt>
                <c:pt idx="328">
                  <c:v>3.64</c:v>
                </c:pt>
                <c:pt idx="329">
                  <c:v>3.64</c:v>
                </c:pt>
                <c:pt idx="330">
                  <c:v>3.64</c:v>
                </c:pt>
                <c:pt idx="331">
                  <c:v>3.64</c:v>
                </c:pt>
                <c:pt idx="332">
                  <c:v>3.64</c:v>
                </c:pt>
                <c:pt idx="333">
                  <c:v>3.64</c:v>
                </c:pt>
                <c:pt idx="334">
                  <c:v>3.64</c:v>
                </c:pt>
                <c:pt idx="335">
                  <c:v>3.64</c:v>
                </c:pt>
                <c:pt idx="336">
                  <c:v>3.64</c:v>
                </c:pt>
                <c:pt idx="337">
                  <c:v>3.64</c:v>
                </c:pt>
                <c:pt idx="338">
                  <c:v>3.64</c:v>
                </c:pt>
                <c:pt idx="339">
                  <c:v>3.64</c:v>
                </c:pt>
                <c:pt idx="340">
                  <c:v>3.64</c:v>
                </c:pt>
                <c:pt idx="341">
                  <c:v>3.64</c:v>
                </c:pt>
                <c:pt idx="342">
                  <c:v>3.64</c:v>
                </c:pt>
                <c:pt idx="343">
                  <c:v>3.64</c:v>
                </c:pt>
                <c:pt idx="344">
                  <c:v>3.64</c:v>
                </c:pt>
                <c:pt idx="345">
                  <c:v>3.64</c:v>
                </c:pt>
                <c:pt idx="346">
                  <c:v>3.64</c:v>
                </c:pt>
                <c:pt idx="347">
                  <c:v>3.64</c:v>
                </c:pt>
              </c:numCache>
            </c:numRef>
          </c:val>
          <c:smooth val="0"/>
          <c:extLst>
            <c:ext xmlns:c16="http://schemas.microsoft.com/office/drawing/2014/chart" uri="{C3380CC4-5D6E-409C-BE32-E72D297353CC}">
              <c16:uniqueId val="{00000000-271C-4BC6-AA73-4B0695FC4D80}"/>
            </c:ext>
          </c:extLst>
        </c:ser>
        <c:dLbls>
          <c:showLegendKey val="0"/>
          <c:showVal val="0"/>
          <c:showCatName val="0"/>
          <c:showSerName val="0"/>
          <c:showPercent val="0"/>
          <c:showBubbleSize val="0"/>
        </c:dLbls>
        <c:smooth val="0"/>
        <c:axId val="1085103152"/>
        <c:axId val="1085105232"/>
      </c:lineChart>
      <c:dateAx>
        <c:axId val="1085103152"/>
        <c:scaling>
          <c:orientation val="minMax"/>
        </c:scaling>
        <c:delete val="0"/>
        <c:axPos val="b"/>
        <c:numFmt formatCode="mmm\ yy" sourceLinked="0"/>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085105232"/>
        <c:crosses val="autoZero"/>
        <c:auto val="0"/>
        <c:lblOffset val="100"/>
        <c:baseTimeUnit val="days"/>
        <c:majorUnit val="2"/>
        <c:majorTimeUnit val="months"/>
      </c:dateAx>
      <c:valAx>
        <c:axId val="1085105232"/>
        <c:scaling>
          <c:orientation val="minMax"/>
          <c:max val="5.5"/>
          <c:min val="3"/>
        </c:scaling>
        <c:delete val="0"/>
        <c:axPos val="l"/>
        <c:numFmt formatCode="#,##0.0;\(#,##0.0\);\-" sourceLinked="1"/>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085103152"/>
        <c:crosses val="autoZero"/>
        <c:crossBetween val="between"/>
        <c:majorUnit val="0.5"/>
      </c:valAx>
      <c:spPr>
        <a:noFill/>
        <a:ln>
          <a:noFill/>
        </a:ln>
        <a:effectLst/>
      </c:spPr>
    </c:plotArea>
    <c:legend>
      <c:legendPos val="r"/>
      <c:layout>
        <c:manualLayout>
          <c:xMode val="edge"/>
          <c:yMode val="edge"/>
          <c:x val="0.65538846859828792"/>
          <c:y val="7.084270280168467E-2"/>
          <c:w val="0.31722688258738901"/>
          <c:h val="0.2194255020448025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r>
              <a:rPr lang="en-SG" sz="900" b="1" i="0" baseline="0">
                <a:solidFill>
                  <a:schemeClr val="tx1"/>
                </a:solidFill>
                <a:effectLst/>
              </a:rPr>
              <a:t>Singapore Equity Market Indices (2025 to YTD 2026 Performance)</a:t>
            </a:r>
            <a:endParaRPr lang="en-SG" sz="900">
              <a:solidFill>
                <a:schemeClr val="tx1"/>
              </a:solidFill>
              <a:effectLst/>
            </a:endParaRPr>
          </a:p>
        </c:rich>
      </c:tx>
      <c:layout>
        <c:manualLayout>
          <c:xMode val="edge"/>
          <c:yMode val="edge"/>
          <c:x val="4.7719298245614517E-4"/>
          <c:y val="1.0709504685408299E-2"/>
        </c:manualLayout>
      </c:layout>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65000"/>
                  <a:lumOff val="35000"/>
                </a:schemeClr>
              </a:solidFill>
              <a:latin typeface="+mn-lt"/>
              <a:ea typeface="+mn-ea"/>
              <a:cs typeface="+mn-cs"/>
            </a:defRPr>
          </a:pPr>
          <a:endParaRPr lang="en-SG"/>
        </a:p>
      </c:txPr>
    </c:title>
    <c:autoTitleDeleted val="0"/>
    <c:plotArea>
      <c:layout>
        <c:manualLayout>
          <c:layoutTarget val="inner"/>
          <c:xMode val="edge"/>
          <c:yMode val="edge"/>
          <c:x val="4.1059814891559611E-2"/>
          <c:y val="0.13922356091030791"/>
          <c:w val="0.78425805951471261"/>
          <c:h val="0.74307898259705496"/>
        </c:manualLayout>
      </c:layout>
      <c:lineChart>
        <c:grouping val="standard"/>
        <c:varyColors val="0"/>
        <c:ser>
          <c:idx val="0"/>
          <c:order val="0"/>
          <c:tx>
            <c:strRef>
              <c:f>'SG Market Indices'!$T$11</c:f>
              <c:strCache>
                <c:ptCount val="1"/>
                <c:pt idx="0">
                  <c:v>STI 30.0%</c:v>
                </c:pt>
              </c:strCache>
            </c:strRef>
          </c:tx>
          <c:spPr>
            <a:ln w="15875" cap="rnd">
              <a:solidFill>
                <a:schemeClr val="accent1"/>
              </a:solidFill>
              <a:round/>
            </a:ln>
            <a:effectLst/>
          </c:spPr>
          <c:marker>
            <c:symbol val="none"/>
          </c:marker>
          <c:cat>
            <c:numRef>
              <c:f>'SG Market Indices'!$S$12:$S$500</c:f>
              <c:numCache>
                <c:formatCode>dd\ mmm\ 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'SG Market Indices'!$T$12:$T$500</c:f>
              <c:numCache>
                <c:formatCode>0.00</c:formatCode>
                <c:ptCount val="489"/>
                <c:pt idx="0">
                  <c:v>100</c:v>
                </c:pt>
                <c:pt idx="1">
                  <c:v>100.34876966944768</c:v>
                </c:pt>
                <c:pt idx="2">
                  <c:v>100.37569965149436</c:v>
                </c:pt>
                <c:pt idx="3">
                  <c:v>100.37569965149436</c:v>
                </c:pt>
                <c:pt idx="4">
                  <c:v>100.37569965149436</c:v>
                </c:pt>
                <c:pt idx="5">
                  <c:v>100.90400253458655</c:v>
                </c:pt>
                <c:pt idx="6">
                  <c:v>101.07112683493507</c:v>
                </c:pt>
                <c:pt idx="7">
                  <c:v>102.62382511352837</c:v>
                </c:pt>
                <c:pt idx="8">
                  <c:v>101.98014573872638</c:v>
                </c:pt>
                <c:pt idx="9">
                  <c:v>100.36857112683492</c:v>
                </c:pt>
                <c:pt idx="10">
                  <c:v>100.36857112683492</c:v>
                </c:pt>
                <c:pt idx="11">
                  <c:v>100.36857112683492</c:v>
                </c:pt>
                <c:pt idx="12">
                  <c:v>100.10824796705037</c:v>
                </c:pt>
                <c:pt idx="13">
                  <c:v>100.03089027352414</c:v>
                </c:pt>
                <c:pt idx="14">
                  <c:v>99.603442813391069</c:v>
                </c:pt>
                <c:pt idx="15">
                  <c:v>100.35721829126625</c:v>
                </c:pt>
                <c:pt idx="16">
                  <c:v>100.61199704298238</c:v>
                </c:pt>
                <c:pt idx="17">
                  <c:v>100.61199704298238</c:v>
                </c:pt>
                <c:pt idx="18">
                  <c:v>100.61199704298238</c:v>
                </c:pt>
                <c:pt idx="19">
                  <c:v>100.53780758263808</c:v>
                </c:pt>
                <c:pt idx="20">
                  <c:v>100.20514309853206</c:v>
                </c:pt>
                <c:pt idx="21">
                  <c:v>99.831291583060519</c:v>
                </c:pt>
                <c:pt idx="22">
                  <c:v>100.50084486218186</c:v>
                </c:pt>
                <c:pt idx="23">
                  <c:v>100.43985637342909</c:v>
                </c:pt>
                <c:pt idx="24">
                  <c:v>100.43985637342909</c:v>
                </c:pt>
                <c:pt idx="25">
                  <c:v>100.43985637342909</c:v>
                </c:pt>
                <c:pt idx="26">
                  <c:v>100.2405217023973</c:v>
                </c:pt>
                <c:pt idx="27">
                  <c:v>100.35563417467526</c:v>
                </c:pt>
                <c:pt idx="28">
                  <c:v>100.35563417467526</c:v>
                </c:pt>
                <c:pt idx="29">
                  <c:v>100.35563417467526</c:v>
                </c:pt>
                <c:pt idx="30">
                  <c:v>101.80114056394551</c:v>
                </c:pt>
                <c:pt idx="31">
                  <c:v>101.80114056394551</c:v>
                </c:pt>
                <c:pt idx="32">
                  <c:v>101.80114056394551</c:v>
                </c:pt>
                <c:pt idx="33">
                  <c:v>101.02624353152392</c:v>
                </c:pt>
                <c:pt idx="34">
                  <c:v>100.93489280811067</c:v>
                </c:pt>
                <c:pt idx="35">
                  <c:v>100.7331819621924</c:v>
                </c:pt>
                <c:pt idx="36">
                  <c:v>101.13053120709685</c:v>
                </c:pt>
                <c:pt idx="37">
                  <c:v>101.9489914457704</c:v>
                </c:pt>
                <c:pt idx="38">
                  <c:v>101.9489914457704</c:v>
                </c:pt>
                <c:pt idx="39">
                  <c:v>101.9489914457704</c:v>
                </c:pt>
                <c:pt idx="40">
                  <c:v>102.31096208680958</c:v>
                </c:pt>
                <c:pt idx="41">
                  <c:v>101.93156616326962</c:v>
                </c:pt>
                <c:pt idx="42">
                  <c:v>102.29749709578624</c:v>
                </c:pt>
                <c:pt idx="43">
                  <c:v>102.50765656352307</c:v>
                </c:pt>
                <c:pt idx="44">
                  <c:v>102.37353469215333</c:v>
                </c:pt>
                <c:pt idx="45">
                  <c:v>102.37353469215333</c:v>
                </c:pt>
                <c:pt idx="46">
                  <c:v>102.37353469215333</c:v>
                </c:pt>
                <c:pt idx="47">
                  <c:v>103.0956278382089</c:v>
                </c:pt>
                <c:pt idx="48">
                  <c:v>103.6424120815292</c:v>
                </c:pt>
                <c:pt idx="49">
                  <c:v>103.8663005597212</c:v>
                </c:pt>
                <c:pt idx="50">
                  <c:v>103.6938958707361</c:v>
                </c:pt>
                <c:pt idx="51">
                  <c:v>103.75805259267084</c:v>
                </c:pt>
                <c:pt idx="52">
                  <c:v>103.75805259267084</c:v>
                </c:pt>
                <c:pt idx="53">
                  <c:v>103.75805259267084</c:v>
                </c:pt>
                <c:pt idx="54">
                  <c:v>103.70023233710002</c:v>
                </c:pt>
                <c:pt idx="55">
                  <c:v>103.38657725208576</c:v>
                </c:pt>
                <c:pt idx="56">
                  <c:v>103.18011405639456</c:v>
                </c:pt>
                <c:pt idx="57">
                  <c:v>103.52703558981942</c:v>
                </c:pt>
                <c:pt idx="58">
                  <c:v>102.85405005808428</c:v>
                </c:pt>
                <c:pt idx="59">
                  <c:v>102.85405005808428</c:v>
                </c:pt>
                <c:pt idx="60">
                  <c:v>102.85405005808428</c:v>
                </c:pt>
                <c:pt idx="61">
                  <c:v>103.20308374696378</c:v>
                </c:pt>
                <c:pt idx="62">
                  <c:v>102.72362445876017</c:v>
                </c:pt>
                <c:pt idx="63">
                  <c:v>102.92533530467843</c:v>
                </c:pt>
                <c:pt idx="64">
                  <c:v>103.41799556447356</c:v>
                </c:pt>
                <c:pt idx="65">
                  <c:v>103.34987855106137</c:v>
                </c:pt>
                <c:pt idx="66">
                  <c:v>103.34987855106137</c:v>
                </c:pt>
                <c:pt idx="67">
                  <c:v>103.34987855106137</c:v>
                </c:pt>
                <c:pt idx="68">
                  <c:v>102.94302460661105</c:v>
                </c:pt>
                <c:pt idx="69">
                  <c:v>101.00934628788679</c:v>
                </c:pt>
                <c:pt idx="70">
                  <c:v>101.20049635653186</c:v>
                </c:pt>
                <c:pt idx="71">
                  <c:v>101.31798500369626</c:v>
                </c:pt>
                <c:pt idx="72">
                  <c:v>101.27838208892175</c:v>
                </c:pt>
                <c:pt idx="73">
                  <c:v>101.27838208892175</c:v>
                </c:pt>
                <c:pt idx="74">
                  <c:v>101.27838208892175</c:v>
                </c:pt>
                <c:pt idx="75">
                  <c:v>101.89460344281341</c:v>
                </c:pt>
                <c:pt idx="76">
                  <c:v>102.83477663956066</c:v>
                </c:pt>
                <c:pt idx="77">
                  <c:v>103.18697856162214</c:v>
                </c:pt>
                <c:pt idx="78">
                  <c:v>103.77257366142148</c:v>
                </c:pt>
                <c:pt idx="79">
                  <c:v>103.66590981096209</c:v>
                </c:pt>
                <c:pt idx="80">
                  <c:v>103.66590981096209</c:v>
                </c:pt>
                <c:pt idx="81">
                  <c:v>103.66590981096209</c:v>
                </c:pt>
                <c:pt idx="82">
                  <c:v>103.92676100961032</c:v>
                </c:pt>
                <c:pt idx="83">
                  <c:v>104.40727637554126</c:v>
                </c:pt>
                <c:pt idx="84">
                  <c:v>104.64964621396136</c:v>
                </c:pt>
                <c:pt idx="85">
                  <c:v>105.12118491921005</c:v>
                </c:pt>
                <c:pt idx="86">
                  <c:v>104.87987115851726</c:v>
                </c:pt>
                <c:pt idx="87">
                  <c:v>104.87987115851726</c:v>
                </c:pt>
                <c:pt idx="88">
                  <c:v>104.87987115851726</c:v>
                </c:pt>
                <c:pt idx="89">
                  <c:v>104.87987115851726</c:v>
                </c:pt>
                <c:pt idx="90">
                  <c:v>104.78535220192207</c:v>
                </c:pt>
                <c:pt idx="91">
                  <c:v>104.39882775372267</c:v>
                </c:pt>
                <c:pt idx="92">
                  <c:v>104.08253247439012</c:v>
                </c:pt>
                <c:pt idx="93">
                  <c:v>101.01013834618229</c:v>
                </c:pt>
                <c:pt idx="94">
                  <c:v>101.01013834618229</c:v>
                </c:pt>
                <c:pt idx="95">
                  <c:v>101.01013834618229</c:v>
                </c:pt>
                <c:pt idx="96">
                  <c:v>93.476079839476185</c:v>
                </c:pt>
                <c:pt idx="97">
                  <c:v>91.600749815186404</c:v>
                </c:pt>
                <c:pt idx="98">
                  <c:v>89.600010560777278</c:v>
                </c:pt>
                <c:pt idx="99">
                  <c:v>94.461664378498256</c:v>
                </c:pt>
                <c:pt idx="100">
                  <c:v>92.737617488647174</c:v>
                </c:pt>
                <c:pt idx="101">
                  <c:v>92.737617488647174</c:v>
                </c:pt>
                <c:pt idx="102">
                  <c:v>92.737617488647174</c:v>
                </c:pt>
                <c:pt idx="103">
                  <c:v>93.698120181645379</c:v>
                </c:pt>
                <c:pt idx="104">
                  <c:v>95.699651494349979</c:v>
                </c:pt>
                <c:pt idx="105">
                  <c:v>96.695796810645263</c:v>
                </c:pt>
                <c:pt idx="106">
                  <c:v>98.223941282078357</c:v>
                </c:pt>
                <c:pt idx="107">
                  <c:v>98.223941282078357</c:v>
                </c:pt>
                <c:pt idx="108">
                  <c:v>98.223941282078357</c:v>
                </c:pt>
                <c:pt idx="109">
                  <c:v>98.223941282078357</c:v>
                </c:pt>
                <c:pt idx="110">
                  <c:v>99.250712852465938</c:v>
                </c:pt>
                <c:pt idx="111">
                  <c:v>100.20619917625937</c:v>
                </c:pt>
                <c:pt idx="112">
                  <c:v>101.18069489914458</c:v>
                </c:pt>
                <c:pt idx="113">
                  <c:v>101.17013412187137</c:v>
                </c:pt>
                <c:pt idx="114">
                  <c:v>100.9552223043616</c:v>
                </c:pt>
                <c:pt idx="115">
                  <c:v>100.9552223043616</c:v>
                </c:pt>
                <c:pt idx="116">
                  <c:v>100.9552223043616</c:v>
                </c:pt>
                <c:pt idx="117">
                  <c:v>100.63892702502906</c:v>
                </c:pt>
                <c:pt idx="118">
                  <c:v>100.46414616115746</c:v>
                </c:pt>
                <c:pt idx="119">
                  <c:v>101.18571126834937</c:v>
                </c:pt>
                <c:pt idx="120">
                  <c:v>101.18571126834937</c:v>
                </c:pt>
                <c:pt idx="121">
                  <c:v>101.51916781075087</c:v>
                </c:pt>
                <c:pt idx="122">
                  <c:v>101.51916781075087</c:v>
                </c:pt>
                <c:pt idx="123">
                  <c:v>101.51916781075087</c:v>
                </c:pt>
                <c:pt idx="124">
                  <c:v>101.72853522019221</c:v>
                </c:pt>
                <c:pt idx="125">
                  <c:v>101.92232548315556</c:v>
                </c:pt>
                <c:pt idx="126">
                  <c:v>102.05327912134332</c:v>
                </c:pt>
                <c:pt idx="127">
                  <c:v>101.60048579575457</c:v>
                </c:pt>
                <c:pt idx="128">
                  <c:v>102.33815608828809</c:v>
                </c:pt>
                <c:pt idx="129">
                  <c:v>102.33815608828809</c:v>
                </c:pt>
                <c:pt idx="130">
                  <c:v>102.33815608828809</c:v>
                </c:pt>
                <c:pt idx="131">
                  <c:v>102.33815608828809</c:v>
                </c:pt>
                <c:pt idx="132">
                  <c:v>102.46726159045308</c:v>
                </c:pt>
                <c:pt idx="133">
                  <c:v>102.20324215862288</c:v>
                </c:pt>
                <c:pt idx="134">
                  <c:v>102.75477875171613</c:v>
                </c:pt>
                <c:pt idx="135">
                  <c:v>102.91134227479142</c:v>
                </c:pt>
                <c:pt idx="136">
                  <c:v>102.91134227479142</c:v>
                </c:pt>
                <c:pt idx="137">
                  <c:v>102.91134227479142</c:v>
                </c:pt>
                <c:pt idx="138">
                  <c:v>102.33921216601543</c:v>
                </c:pt>
                <c:pt idx="139">
                  <c:v>102.50554440806843</c:v>
                </c:pt>
                <c:pt idx="140">
                  <c:v>102.5068645052276</c:v>
                </c:pt>
                <c:pt idx="141">
                  <c:v>102.44191572499737</c:v>
                </c:pt>
                <c:pt idx="142">
                  <c:v>102.50343225261381</c:v>
                </c:pt>
                <c:pt idx="143">
                  <c:v>102.50343225261381</c:v>
                </c:pt>
                <c:pt idx="144">
                  <c:v>102.50343225261381</c:v>
                </c:pt>
                <c:pt idx="145">
                  <c:v>102.3233710001056</c:v>
                </c:pt>
                <c:pt idx="146">
                  <c:v>102.86434681592567</c:v>
                </c:pt>
                <c:pt idx="147">
                  <c:v>103.28228957651284</c:v>
                </c:pt>
                <c:pt idx="148">
                  <c:v>103.41218713697329</c:v>
                </c:pt>
                <c:pt idx="149">
                  <c:v>102.82527194001479</c:v>
                </c:pt>
                <c:pt idx="150">
                  <c:v>102.82527194001479</c:v>
                </c:pt>
                <c:pt idx="151">
                  <c:v>102.82527194001479</c:v>
                </c:pt>
                <c:pt idx="152">
                  <c:v>102.71913612841905</c:v>
                </c:pt>
                <c:pt idx="153">
                  <c:v>102.81919949308269</c:v>
                </c:pt>
                <c:pt idx="154">
                  <c:v>103.07001795332138</c:v>
                </c:pt>
                <c:pt idx="155">
                  <c:v>103.43462878867884</c:v>
                </c:pt>
                <c:pt idx="156">
                  <c:v>103.87290104551694</c:v>
                </c:pt>
                <c:pt idx="157">
                  <c:v>103.87290104551694</c:v>
                </c:pt>
                <c:pt idx="158">
                  <c:v>103.87290104551694</c:v>
                </c:pt>
                <c:pt idx="159">
                  <c:v>103.92649699017849</c:v>
                </c:pt>
                <c:pt idx="160">
                  <c:v>103.85996409335728</c:v>
                </c:pt>
                <c:pt idx="161">
                  <c:v>103.47053543140777</c:v>
                </c:pt>
                <c:pt idx="162">
                  <c:v>103.55370155243426</c:v>
                </c:pt>
                <c:pt idx="163">
                  <c:v>103.26908860492132</c:v>
                </c:pt>
                <c:pt idx="164">
                  <c:v>103.26908860492132</c:v>
                </c:pt>
                <c:pt idx="165">
                  <c:v>103.26908860492132</c:v>
                </c:pt>
                <c:pt idx="166">
                  <c:v>103.1909388530996</c:v>
                </c:pt>
                <c:pt idx="167">
                  <c:v>103.77653395289894</c:v>
                </c:pt>
                <c:pt idx="168">
                  <c:v>103.51700285140986</c:v>
                </c:pt>
                <c:pt idx="169">
                  <c:v>102.81391910444609</c:v>
                </c:pt>
                <c:pt idx="170">
                  <c:v>102.53009821522865</c:v>
                </c:pt>
                <c:pt idx="171">
                  <c:v>102.53009821522865</c:v>
                </c:pt>
                <c:pt idx="172">
                  <c:v>102.53009821522865</c:v>
                </c:pt>
                <c:pt idx="173">
                  <c:v>102.42000211215547</c:v>
                </c:pt>
                <c:pt idx="174">
                  <c:v>103.08110676945823</c:v>
                </c:pt>
                <c:pt idx="175">
                  <c:v>103.65350089766608</c:v>
                </c:pt>
                <c:pt idx="176">
                  <c:v>103.98299714859014</c:v>
                </c:pt>
                <c:pt idx="177">
                  <c:v>104.71538705248706</c:v>
                </c:pt>
                <c:pt idx="178">
                  <c:v>104.71538705248706</c:v>
                </c:pt>
                <c:pt idx="179">
                  <c:v>104.71538705248706</c:v>
                </c:pt>
                <c:pt idx="180">
                  <c:v>104.6649593410075</c:v>
                </c:pt>
                <c:pt idx="181">
                  <c:v>105.33741683387899</c:v>
                </c:pt>
                <c:pt idx="182">
                  <c:v>105.89212166015417</c:v>
                </c:pt>
                <c:pt idx="183">
                  <c:v>106.12445876016477</c:v>
                </c:pt>
                <c:pt idx="184">
                  <c:v>105.96736719822579</c:v>
                </c:pt>
                <c:pt idx="185">
                  <c:v>105.96736719822579</c:v>
                </c:pt>
                <c:pt idx="186">
                  <c:v>105.96736719822579</c:v>
                </c:pt>
                <c:pt idx="187">
                  <c:v>106.44893864188406</c:v>
                </c:pt>
                <c:pt idx="188">
                  <c:v>106.87136973281235</c:v>
                </c:pt>
                <c:pt idx="189">
                  <c:v>107.13433308691521</c:v>
                </c:pt>
                <c:pt idx="190">
                  <c:v>107.60639983102756</c:v>
                </c:pt>
                <c:pt idx="191">
                  <c:v>107.92612736297392</c:v>
                </c:pt>
                <c:pt idx="192">
                  <c:v>107.92612736297392</c:v>
                </c:pt>
                <c:pt idx="193">
                  <c:v>107.92612736297392</c:v>
                </c:pt>
                <c:pt idx="194">
                  <c:v>108.49112894709052</c:v>
                </c:pt>
                <c:pt idx="195">
                  <c:v>108.77125356426231</c:v>
                </c:pt>
                <c:pt idx="196">
                  <c:v>109.09942971802724</c:v>
                </c:pt>
                <c:pt idx="197">
                  <c:v>109.86983842010774</c:v>
                </c:pt>
                <c:pt idx="198">
                  <c:v>110.61094096525505</c:v>
                </c:pt>
                <c:pt idx="199">
                  <c:v>110.61094096525505</c:v>
                </c:pt>
                <c:pt idx="200">
                  <c:v>110.61094096525505</c:v>
                </c:pt>
                <c:pt idx="201">
                  <c:v>111.07640722357166</c:v>
                </c:pt>
                <c:pt idx="202">
                  <c:v>111.10624141936847</c:v>
                </c:pt>
                <c:pt idx="203">
                  <c:v>111.71401415144153</c:v>
                </c:pt>
                <c:pt idx="204">
                  <c:v>112.81682331819623</c:v>
                </c:pt>
                <c:pt idx="205">
                  <c:v>112.50026401943185</c:v>
                </c:pt>
                <c:pt idx="206">
                  <c:v>112.50026401943185</c:v>
                </c:pt>
                <c:pt idx="207">
                  <c:v>112.50026401943185</c:v>
                </c:pt>
                <c:pt idx="208">
                  <c:v>111.97433731122612</c:v>
                </c:pt>
                <c:pt idx="209">
                  <c:v>111.6646425176893</c:v>
                </c:pt>
                <c:pt idx="210">
                  <c:v>111.40062308585912</c:v>
                </c:pt>
                <c:pt idx="211">
                  <c:v>110.19563839898619</c:v>
                </c:pt>
                <c:pt idx="212">
                  <c:v>109.66918365191678</c:v>
                </c:pt>
                <c:pt idx="213">
                  <c:v>109.66918365191678</c:v>
                </c:pt>
                <c:pt idx="214">
                  <c:v>109.66918365191678</c:v>
                </c:pt>
                <c:pt idx="215">
                  <c:v>110.81502798605976</c:v>
                </c:pt>
                <c:pt idx="216">
                  <c:v>111.11469004118703</c:v>
                </c:pt>
                <c:pt idx="217">
                  <c:v>111.61949519484634</c:v>
                </c:pt>
                <c:pt idx="218">
                  <c:v>112.42343436476925</c:v>
                </c:pt>
                <c:pt idx="219">
                  <c:v>111.93975076565634</c:v>
                </c:pt>
                <c:pt idx="220">
                  <c:v>111.93975076565634</c:v>
                </c:pt>
                <c:pt idx="221">
                  <c:v>111.93975076565634</c:v>
                </c:pt>
                <c:pt idx="222">
                  <c:v>111.75361706621607</c:v>
                </c:pt>
                <c:pt idx="223">
                  <c:v>111.43520963142888</c:v>
                </c:pt>
                <c:pt idx="224">
                  <c:v>112.80916675467316</c:v>
                </c:pt>
                <c:pt idx="225">
                  <c:v>112.38039919738094</c:v>
                </c:pt>
                <c:pt idx="226">
                  <c:v>111.69421269405429</c:v>
                </c:pt>
                <c:pt idx="227">
                  <c:v>111.69421269405429</c:v>
                </c:pt>
                <c:pt idx="228">
                  <c:v>111.69421269405429</c:v>
                </c:pt>
                <c:pt idx="229">
                  <c:v>110.55496884570705</c:v>
                </c:pt>
                <c:pt idx="230">
                  <c:v>111.3156088288098</c:v>
                </c:pt>
                <c:pt idx="231">
                  <c:v>111.4040553384729</c:v>
                </c:pt>
                <c:pt idx="232">
                  <c:v>111.703981413032</c:v>
                </c:pt>
                <c:pt idx="233">
                  <c:v>112.28799239624038</c:v>
                </c:pt>
                <c:pt idx="234">
                  <c:v>112.28799239624038</c:v>
                </c:pt>
                <c:pt idx="235">
                  <c:v>112.28799239624038</c:v>
                </c:pt>
                <c:pt idx="236">
                  <c:v>112.37960713908544</c:v>
                </c:pt>
                <c:pt idx="237">
                  <c:v>112.04219030520646</c:v>
                </c:pt>
                <c:pt idx="238">
                  <c:v>112.09129791952688</c:v>
                </c:pt>
                <c:pt idx="239">
                  <c:v>112.30805787305947</c:v>
                </c:pt>
                <c:pt idx="240">
                  <c:v>112.72837680853311</c:v>
                </c:pt>
                <c:pt idx="241">
                  <c:v>112.72837680853311</c:v>
                </c:pt>
                <c:pt idx="242">
                  <c:v>112.72837680853311</c:v>
                </c:pt>
                <c:pt idx="243">
                  <c:v>112.89655718660893</c:v>
                </c:pt>
                <c:pt idx="244">
                  <c:v>113.48901679163588</c:v>
                </c:pt>
                <c:pt idx="245">
                  <c:v>113.24664695321576</c:v>
                </c:pt>
                <c:pt idx="246">
                  <c:v>113.44466152708839</c:v>
                </c:pt>
                <c:pt idx="247">
                  <c:v>113.71528144471432</c:v>
                </c:pt>
                <c:pt idx="248">
                  <c:v>113.71528144471432</c:v>
                </c:pt>
                <c:pt idx="249">
                  <c:v>113.71528144471432</c:v>
                </c:pt>
                <c:pt idx="250">
                  <c:v>113.75330024289789</c:v>
                </c:pt>
                <c:pt idx="251">
                  <c:v>113.46419896504383</c:v>
                </c:pt>
                <c:pt idx="252">
                  <c:v>114.75498996726159</c:v>
                </c:pt>
                <c:pt idx="253">
                  <c:v>115.00211215545464</c:v>
                </c:pt>
                <c:pt idx="254">
                  <c:v>114.69637765339529</c:v>
                </c:pt>
                <c:pt idx="255">
                  <c:v>114.69637765339529</c:v>
                </c:pt>
                <c:pt idx="256">
                  <c:v>114.69637765339529</c:v>
                </c:pt>
                <c:pt idx="257">
                  <c:v>114.54271834407012</c:v>
                </c:pt>
                <c:pt idx="258">
                  <c:v>114.52476502270568</c:v>
                </c:pt>
                <c:pt idx="259">
                  <c:v>114.15619389587073</c:v>
                </c:pt>
                <c:pt idx="260">
                  <c:v>113.86154820994825</c:v>
                </c:pt>
                <c:pt idx="261">
                  <c:v>113.59990495300454</c:v>
                </c:pt>
                <c:pt idx="262">
                  <c:v>113.59990495300454</c:v>
                </c:pt>
                <c:pt idx="263">
                  <c:v>113.59990495300454</c:v>
                </c:pt>
                <c:pt idx="264">
                  <c:v>113.45891857640721</c:v>
                </c:pt>
                <c:pt idx="265">
                  <c:v>113.59884887527723</c:v>
                </c:pt>
                <c:pt idx="266">
                  <c:v>113.27489703242158</c:v>
                </c:pt>
                <c:pt idx="267">
                  <c:v>112.83820889217446</c:v>
                </c:pt>
                <c:pt idx="268">
                  <c:v>112.63016157989227</c:v>
                </c:pt>
                <c:pt idx="269">
                  <c:v>112.63016157989227</c:v>
                </c:pt>
                <c:pt idx="270">
                  <c:v>112.63016157989227</c:v>
                </c:pt>
                <c:pt idx="271">
                  <c:v>112.73576935262435</c:v>
                </c:pt>
                <c:pt idx="272">
                  <c:v>113.53257999788784</c:v>
                </c:pt>
                <c:pt idx="273">
                  <c:v>114.13876861336993</c:v>
                </c:pt>
                <c:pt idx="274">
                  <c:v>116.04208469743374</c:v>
                </c:pt>
                <c:pt idx="275">
                  <c:v>116.48405322631746</c:v>
                </c:pt>
                <c:pt idx="276">
                  <c:v>116.48405322631746</c:v>
                </c:pt>
                <c:pt idx="277">
                  <c:v>116.48405322631746</c:v>
                </c:pt>
                <c:pt idx="278">
                  <c:v>116.74173619178372</c:v>
                </c:pt>
                <c:pt idx="279">
                  <c:v>118.07635441968529</c:v>
                </c:pt>
                <c:pt idx="280">
                  <c:v>117.65497940648433</c:v>
                </c:pt>
                <c:pt idx="281">
                  <c:v>117.23782870419264</c:v>
                </c:pt>
                <c:pt idx="282">
                  <c:v>116.88298658781289</c:v>
                </c:pt>
                <c:pt idx="283">
                  <c:v>116.88298658781289</c:v>
                </c:pt>
                <c:pt idx="284">
                  <c:v>116.88298658781289</c:v>
                </c:pt>
                <c:pt idx="285">
                  <c:v>115.90030626254094</c:v>
                </c:pt>
                <c:pt idx="286">
                  <c:v>114.96778962931673</c:v>
                </c:pt>
                <c:pt idx="287">
                  <c:v>115.33477663956066</c:v>
                </c:pt>
                <c:pt idx="288">
                  <c:v>115.01214489386417</c:v>
                </c:pt>
                <c:pt idx="289">
                  <c:v>114.29216390326329</c:v>
                </c:pt>
                <c:pt idx="290">
                  <c:v>114.29216390326329</c:v>
                </c:pt>
                <c:pt idx="291">
                  <c:v>114.29216390326329</c:v>
                </c:pt>
                <c:pt idx="292">
                  <c:v>114.29216390326329</c:v>
                </c:pt>
                <c:pt idx="293">
                  <c:v>115.66823318196219</c:v>
                </c:pt>
                <c:pt idx="294">
                  <c:v>116.00802619072765</c:v>
                </c:pt>
                <c:pt idx="295">
                  <c:v>116.59810962086812</c:v>
                </c:pt>
                <c:pt idx="296">
                  <c:v>116.75493716337525</c:v>
                </c:pt>
                <c:pt idx="297">
                  <c:v>116.75493716337525</c:v>
                </c:pt>
                <c:pt idx="298">
                  <c:v>116.75493716337525</c:v>
                </c:pt>
                <c:pt idx="299">
                  <c:v>117.23254831555603</c:v>
                </c:pt>
                <c:pt idx="300">
                  <c:v>117.49815186397718</c:v>
                </c:pt>
                <c:pt idx="301">
                  <c:v>117.23017214066955</c:v>
                </c:pt>
                <c:pt idx="302">
                  <c:v>117.15703875805259</c:v>
                </c:pt>
                <c:pt idx="303">
                  <c:v>116.92417361917838</c:v>
                </c:pt>
                <c:pt idx="304">
                  <c:v>116.92417361917838</c:v>
                </c:pt>
                <c:pt idx="305">
                  <c:v>116.92417361917838</c:v>
                </c:pt>
                <c:pt idx="306">
                  <c:v>117.33894814658359</c:v>
                </c:pt>
                <c:pt idx="307">
                  <c:v>116.76840215439856</c:v>
                </c:pt>
                <c:pt idx="308">
                  <c:v>116.62055127257366</c:v>
                </c:pt>
                <c:pt idx="309">
                  <c:v>118.41245115640511</c:v>
                </c:pt>
                <c:pt idx="310">
                  <c:v>118.60386524448199</c:v>
                </c:pt>
                <c:pt idx="311">
                  <c:v>118.60386524448199</c:v>
                </c:pt>
                <c:pt idx="312">
                  <c:v>118.60386524448199</c:v>
                </c:pt>
                <c:pt idx="313">
                  <c:v>118.4953532579998</c:v>
                </c:pt>
                <c:pt idx="314">
                  <c:v>119.92290632590559</c:v>
                </c:pt>
                <c:pt idx="315">
                  <c:v>120.62810222832401</c:v>
                </c:pt>
                <c:pt idx="316">
                  <c:v>120.81291583060514</c:v>
                </c:pt>
                <c:pt idx="317">
                  <c:v>120.02508184602388</c:v>
                </c:pt>
                <c:pt idx="318">
                  <c:v>120.02508184602388</c:v>
                </c:pt>
                <c:pt idx="319">
                  <c:v>120.02508184602388</c:v>
                </c:pt>
                <c:pt idx="320">
                  <c:v>119.95960502692999</c:v>
                </c:pt>
                <c:pt idx="321">
                  <c:v>118.93204139824691</c:v>
                </c:pt>
                <c:pt idx="322">
                  <c:v>118.94656246699758</c:v>
                </c:pt>
                <c:pt idx="323">
                  <c:v>119.12213538916465</c:v>
                </c:pt>
                <c:pt idx="324">
                  <c:v>117.99398035695428</c:v>
                </c:pt>
                <c:pt idx="325">
                  <c:v>117.99398035695428</c:v>
                </c:pt>
                <c:pt idx="326">
                  <c:v>117.99398035695428</c:v>
                </c:pt>
                <c:pt idx="327">
                  <c:v>118.71976977505545</c:v>
                </c:pt>
                <c:pt idx="328">
                  <c:v>118.42934840004224</c:v>
                </c:pt>
                <c:pt idx="329">
                  <c:v>118.84993135494774</c:v>
                </c:pt>
                <c:pt idx="330">
                  <c:v>119.05533847291161</c:v>
                </c:pt>
                <c:pt idx="331">
                  <c:v>119.44133488224733</c:v>
                </c:pt>
                <c:pt idx="332">
                  <c:v>119.44133488224733</c:v>
                </c:pt>
                <c:pt idx="333">
                  <c:v>119.44133488224733</c:v>
                </c:pt>
                <c:pt idx="334">
                  <c:v>119.50100327384096</c:v>
                </c:pt>
                <c:pt idx="335">
                  <c:v>119.8109620868096</c:v>
                </c:pt>
                <c:pt idx="336">
                  <c:v>120.24817826592039</c:v>
                </c:pt>
                <c:pt idx="337">
                  <c:v>119.73650860703349</c:v>
                </c:pt>
                <c:pt idx="338">
                  <c:v>119.63670926180166</c:v>
                </c:pt>
                <c:pt idx="339">
                  <c:v>119.63670926180166</c:v>
                </c:pt>
                <c:pt idx="340">
                  <c:v>119.63670926180166</c:v>
                </c:pt>
                <c:pt idx="341">
                  <c:v>118.995670081318</c:v>
                </c:pt>
                <c:pt idx="342">
                  <c:v>119.15830605132538</c:v>
                </c:pt>
                <c:pt idx="343">
                  <c:v>119.12292744746014</c:v>
                </c:pt>
                <c:pt idx="344">
                  <c:v>119.35869680008449</c:v>
                </c:pt>
                <c:pt idx="345">
                  <c:v>121.09119231175414</c:v>
                </c:pt>
                <c:pt idx="346">
                  <c:v>121.09119231175414</c:v>
                </c:pt>
                <c:pt idx="347">
                  <c:v>121.09119231175414</c:v>
                </c:pt>
                <c:pt idx="348">
                  <c:v>121.16300559721196</c:v>
                </c:pt>
                <c:pt idx="349">
                  <c:v>120.91377125356426</c:v>
                </c:pt>
                <c:pt idx="350">
                  <c:v>120.80156299503642</c:v>
                </c:pt>
                <c:pt idx="351">
                  <c:v>120.67298553173514</c:v>
                </c:pt>
                <c:pt idx="352">
                  <c:v>120.65107191889322</c:v>
                </c:pt>
                <c:pt idx="353">
                  <c:v>120.65107191889322</c:v>
                </c:pt>
                <c:pt idx="354">
                  <c:v>120.65107191889322</c:v>
                </c:pt>
                <c:pt idx="355">
                  <c:v>121.72061463723732</c:v>
                </c:pt>
                <c:pt idx="356">
                  <c:v>122.47782236772626</c:v>
                </c:pt>
                <c:pt idx="357">
                  <c:v>122.40838525715493</c:v>
                </c:pt>
                <c:pt idx="358">
                  <c:v>122.40838525715493</c:v>
                </c:pt>
                <c:pt idx="359">
                  <c:v>122.40336888795014</c:v>
                </c:pt>
                <c:pt idx="360">
                  <c:v>122.40336888795014</c:v>
                </c:pt>
                <c:pt idx="361">
                  <c:v>122.40336888795014</c:v>
                </c:pt>
                <c:pt idx="362">
                  <c:v>122.33710001056079</c:v>
                </c:pt>
                <c:pt idx="363">
                  <c:v>122.91107825535961</c:v>
                </c:pt>
                <c:pt idx="364">
                  <c:v>122.66897243637132</c:v>
                </c:pt>
                <c:pt idx="365">
                  <c:v>122.66897243637132</c:v>
                </c:pt>
                <c:pt idx="366">
                  <c:v>122.93061569331502</c:v>
                </c:pt>
                <c:pt idx="367">
                  <c:v>122.93061569331502</c:v>
                </c:pt>
                <c:pt idx="368">
                  <c:v>122.93061569331502</c:v>
                </c:pt>
                <c:pt idx="369">
                  <c:v>123.57429506811701</c:v>
                </c:pt>
                <c:pt idx="370">
                  <c:v>125.14441862921113</c:v>
                </c:pt>
                <c:pt idx="371">
                  <c:v>125.3463934945612</c:v>
                </c:pt>
                <c:pt idx="372">
                  <c:v>125.12065688034639</c:v>
                </c:pt>
                <c:pt idx="373">
                  <c:v>125.26824374273946</c:v>
                </c:pt>
                <c:pt idx="374">
                  <c:v>125.26824374273946</c:v>
                </c:pt>
                <c:pt idx="375">
                  <c:v>125.26824374273946</c:v>
                </c:pt>
                <c:pt idx="376">
                  <c:v>125.85225472594783</c:v>
                </c:pt>
                <c:pt idx="377">
                  <c:v>126.91757313338263</c:v>
                </c:pt>
                <c:pt idx="378">
                  <c:v>127.05961558770727</c:v>
                </c:pt>
                <c:pt idx="379">
                  <c:v>127.60956806420953</c:v>
                </c:pt>
                <c:pt idx="380">
                  <c:v>128.02566268877391</c:v>
                </c:pt>
                <c:pt idx="381">
                  <c:v>128.02566268877391</c:v>
                </c:pt>
                <c:pt idx="382">
                  <c:v>128.02566268877391</c:v>
                </c:pt>
                <c:pt idx="383">
                  <c:v>127.65022705671139</c:v>
                </c:pt>
                <c:pt idx="384">
                  <c:v>127.46858168761221</c:v>
                </c:pt>
                <c:pt idx="385">
                  <c:v>126.99017847713591</c:v>
                </c:pt>
                <c:pt idx="386">
                  <c:v>127.47703030943076</c:v>
                </c:pt>
                <c:pt idx="387">
                  <c:v>129.14378498257472</c:v>
                </c:pt>
                <c:pt idx="388">
                  <c:v>129.14378498257472</c:v>
                </c:pt>
                <c:pt idx="389">
                  <c:v>129.14378498257472</c:v>
                </c:pt>
                <c:pt idx="390">
                  <c:v>128.33799767662902</c:v>
                </c:pt>
                <c:pt idx="391">
                  <c:v>129.97729432886263</c:v>
                </c:pt>
                <c:pt idx="392">
                  <c:v>129.61611574611894</c:v>
                </c:pt>
                <c:pt idx="393">
                  <c:v>130.16237195057556</c:v>
                </c:pt>
                <c:pt idx="394">
                  <c:v>129.50496356531843</c:v>
                </c:pt>
                <c:pt idx="395">
                  <c:v>129.50496356531843</c:v>
                </c:pt>
                <c:pt idx="396">
                  <c:v>129.50496356531843</c:v>
                </c:pt>
                <c:pt idx="397">
                  <c:v>129.16543457598482</c:v>
                </c:pt>
                <c:pt idx="398">
                  <c:v>130.53358327172882</c:v>
                </c:pt>
                <c:pt idx="399">
                  <c:v>131.09884887527724</c:v>
                </c:pt>
                <c:pt idx="400">
                  <c:v>131.37263702608513</c:v>
                </c:pt>
                <c:pt idx="401">
                  <c:v>130.27801246171717</c:v>
                </c:pt>
                <c:pt idx="402">
                  <c:v>130.27801246171717</c:v>
                </c:pt>
                <c:pt idx="403">
                  <c:v>130.27801246171717</c:v>
                </c:pt>
                <c:pt idx="404">
                  <c:v>130.97555180061252</c:v>
                </c:pt>
                <c:pt idx="405">
                  <c:v>131.06584644629845</c:v>
                </c:pt>
                <c:pt idx="406">
                  <c:v>131.60259795120922</c:v>
                </c:pt>
                <c:pt idx="407">
                  <c:v>132.45221248283875</c:v>
                </c:pt>
                <c:pt idx="408">
                  <c:v>130.36698701024395</c:v>
                </c:pt>
                <c:pt idx="409">
                  <c:v>130.36698701024395</c:v>
                </c:pt>
                <c:pt idx="410">
                  <c:v>130.36698701024395</c:v>
                </c:pt>
                <c:pt idx="411">
                  <c:v>130.38810856479037</c:v>
                </c:pt>
                <c:pt idx="412">
                  <c:v>130.38810856479037</c:v>
                </c:pt>
                <c:pt idx="413">
                  <c:v>130.38810856479037</c:v>
                </c:pt>
                <c:pt idx="414">
                  <c:v>132.05090294645686</c:v>
                </c:pt>
                <c:pt idx="415">
                  <c:v>132.47439011511247</c:v>
                </c:pt>
                <c:pt idx="416">
                  <c:v>132.47439011511247</c:v>
                </c:pt>
                <c:pt idx="417">
                  <c:v>132.47439011511247</c:v>
                </c:pt>
                <c:pt idx="418">
                  <c:v>133.10090822684549</c:v>
                </c:pt>
                <c:pt idx="419">
                  <c:v>132.55861231386629</c:v>
                </c:pt>
                <c:pt idx="420">
                  <c:v>132.21380293589607</c:v>
                </c:pt>
                <c:pt idx="421">
                  <c:v>131.06927869891226</c:v>
                </c:pt>
                <c:pt idx="422">
                  <c:v>131.87955433519906</c:v>
                </c:pt>
                <c:pt idx="423">
                  <c:v>131.87955433519906</c:v>
                </c:pt>
                <c:pt idx="424">
                  <c:v>131.87955433519906</c:v>
                </c:pt>
                <c:pt idx="425">
                  <c:v>129.12820783609672</c:v>
                </c:pt>
                <c:pt idx="426">
                  <c:v>129.80911395078678</c:v>
                </c:pt>
                <c:pt idx="427">
                  <c:v>127.06595205407119</c:v>
                </c:pt>
                <c:pt idx="428">
                  <c:v>127.95860175308904</c:v>
                </c:pt>
                <c:pt idx="429">
                  <c:v>128.00322103706833</c:v>
                </c:pt>
                <c:pt idx="430">
                  <c:v>128.00322103706833</c:v>
                </c:pt>
                <c:pt idx="431">
                  <c:v>128.00322103706833</c:v>
                </c:pt>
                <c:pt idx="432">
                  <c:v>125.58374696377652</c:v>
                </c:pt>
                <c:pt idx="433">
                  <c:v>128.33034111310593</c:v>
                </c:pt>
                <c:pt idx="434">
                  <c:v>128.4140352729961</c:v>
                </c:pt>
                <c:pt idx="435">
                  <c:v>128.19014679480409</c:v>
                </c:pt>
                <c:pt idx="436">
                  <c:v>127.8453374168339</c:v>
                </c:pt>
                <c:pt idx="437">
                  <c:v>127.8453374168339</c:v>
                </c:pt>
                <c:pt idx="438">
                  <c:v>127.8453374168339</c:v>
                </c:pt>
                <c:pt idx="439">
                  <c:v>128.54287675572922</c:v>
                </c:pt>
                <c:pt idx="440">
                  <c:v>130.31919949308269</c:v>
                </c:pt>
                <c:pt idx="441">
                  <c:v>132.0670081317985</c:v>
                </c:pt>
                <c:pt idx="442">
                  <c:v>131.15455697539338</c:v>
                </c:pt>
                <c:pt idx="443">
                  <c:v>130.65978456014363</c:v>
                </c:pt>
                <c:pt idx="444">
                  <c:v>130.65978456014363</c:v>
                </c:pt>
                <c:pt idx="445">
                  <c:v>130.65978456014363</c:v>
                </c:pt>
                <c:pt idx="446">
                  <c:v>127.81972753194637</c:v>
                </c:pt>
                <c:pt idx="447">
                  <c:v>128.37760059140354</c:v>
                </c:pt>
                <c:pt idx="448">
                  <c:v>129.48938641884041</c:v>
                </c:pt>
                <c:pt idx="449">
                  <c:v>129.04636181222941</c:v>
                </c:pt>
                <c:pt idx="450">
                  <c:v>129.32147006019642</c:v>
                </c:pt>
                <c:pt idx="451">
                  <c:v>129.32147006019642</c:v>
                </c:pt>
                <c:pt idx="452">
                  <c:v>129.32147006019642</c:v>
                </c:pt>
                <c:pt idx="453">
                  <c:v>129.29718027246807</c:v>
                </c:pt>
                <c:pt idx="454">
                  <c:v>128.98537332347661</c:v>
                </c:pt>
                <c:pt idx="455">
                  <c:v>131.3715809483578</c:v>
                </c:pt>
                <c:pt idx="456">
                  <c:v>130.62361389798289</c:v>
                </c:pt>
                <c:pt idx="457">
                  <c:v>130.62361389798289</c:v>
                </c:pt>
                <c:pt idx="458">
                  <c:v>130.62361389798289</c:v>
                </c:pt>
                <c:pt idx="459">
                  <c:v>130.62361389798289</c:v>
                </c:pt>
                <c:pt idx="460">
                  <c:v>131.28102228324002</c:v>
                </c:pt>
                <c:pt idx="461">
                  <c:v>130.90109832083644</c:v>
                </c:pt>
                <c:pt idx="462">
                  <c:v>131.90542823951844</c:v>
                </c:pt>
                <c:pt idx="463">
                  <c:v>131.40458337733659</c:v>
                </c:pt>
                <c:pt idx="464">
                  <c:v>131.73011933678319</c:v>
                </c:pt>
                <c:pt idx="465">
                  <c:v>131.73011933678319</c:v>
                </c:pt>
                <c:pt idx="466">
                  <c:v>131.73011933678319</c:v>
                </c:pt>
                <c:pt idx="467">
                  <c:v>131.59177315450415</c:v>
                </c:pt>
                <c:pt idx="468">
                  <c:v>132.20957862498679</c:v>
                </c:pt>
                <c:pt idx="469">
                  <c:v>132.56943711057133</c:v>
                </c:pt>
                <c:pt idx="470">
                  <c:v>132.2164431302144</c:v>
                </c:pt>
                <c:pt idx="471">
                  <c:v>131.9550638927025</c:v>
                </c:pt>
                <c:pt idx="472">
                  <c:v>131.9550638927025</c:v>
                </c:pt>
                <c:pt idx="473">
                  <c:v>131.9550638927025</c:v>
                </c:pt>
                <c:pt idx="474">
                  <c:v>132.11717182384623</c:v>
                </c:pt>
                <c:pt idx="475">
                  <c:v>132.40468898510932</c:v>
                </c:pt>
                <c:pt idx="476">
                  <c:v>132.08152920054917</c:v>
                </c:pt>
                <c:pt idx="477">
                  <c:v>130.53411131059244</c:v>
                </c:pt>
                <c:pt idx="478">
                  <c:v>129.97307001795332</c:v>
                </c:pt>
                <c:pt idx="479">
                  <c:v>129.97307001795332</c:v>
                </c:pt>
                <c:pt idx="480">
                  <c:v>129.97307001795332</c:v>
                </c:pt>
                <c:pt idx="481">
                  <c:v>129.17757946984898</c:v>
                </c:pt>
                <c:pt idx="482">
                  <c:v>129.04451367620655</c:v>
                </c:pt>
                <c:pt idx="483">
                  <c:v>128.33905375435631</c:v>
                </c:pt>
                <c:pt idx="484">
                  <c:v>129.70456225578201</c:v>
                </c:pt>
                <c:pt idx="485">
                  <c:v>129.70456225578201</c:v>
                </c:pt>
                <c:pt idx="486">
                  <c:v>129.70456225578201</c:v>
                </c:pt>
                <c:pt idx="487">
                  <c:v>129.70456225578201</c:v>
                </c:pt>
                <c:pt idx="488">
                  <c:v>130.01135283556872</c:v>
                </c:pt>
              </c:numCache>
            </c:numRef>
          </c:val>
          <c:smooth val="0"/>
          <c:extLst>
            <c:ext xmlns:c16="http://schemas.microsoft.com/office/drawing/2014/chart" uri="{C3380CC4-5D6E-409C-BE32-E72D297353CC}">
              <c16:uniqueId val="{00000000-FD23-4714-9A40-2374CE713F5E}"/>
            </c:ext>
          </c:extLst>
        </c:ser>
        <c:ser>
          <c:idx val="2"/>
          <c:order val="1"/>
          <c:tx>
            <c:strRef>
              <c:f>'SG Market Indices'!$V$11</c:f>
              <c:strCache>
                <c:ptCount val="1"/>
                <c:pt idx="0">
                  <c:v>S&amp;P 500 22.4%</c:v>
                </c:pt>
              </c:strCache>
            </c:strRef>
          </c:tx>
          <c:spPr>
            <a:ln w="15875" cap="rnd">
              <a:solidFill>
                <a:srgbClr val="089C8B"/>
              </a:solidFill>
              <a:round/>
            </a:ln>
            <a:effectLst/>
          </c:spPr>
          <c:marker>
            <c:symbol val="none"/>
          </c:marker>
          <c:cat>
            <c:numRef>
              <c:f>'SG Market Indices'!$S$12:$S$500</c:f>
              <c:numCache>
                <c:formatCode>dd\ mmm\ 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'SG Market Indices'!$V$12:$V$500</c:f>
              <c:numCache>
                <c:formatCode>0.00</c:formatCode>
                <c:ptCount val="489"/>
                <c:pt idx="0">
                  <c:v>100</c:v>
                </c:pt>
                <c:pt idx="1">
                  <c:v>99.777612668596973</c:v>
                </c:pt>
                <c:pt idx="2">
                  <c:v>101.03440712863612</c:v>
                </c:pt>
                <c:pt idx="3">
                  <c:v>101.03440712863612</c:v>
                </c:pt>
                <c:pt idx="4">
                  <c:v>101.03440712863612</c:v>
                </c:pt>
                <c:pt idx="5">
                  <c:v>101.59394589595061</c:v>
                </c:pt>
                <c:pt idx="6">
                  <c:v>100.46585725385648</c:v>
                </c:pt>
                <c:pt idx="7">
                  <c:v>100.62261651957026</c:v>
                </c:pt>
                <c:pt idx="8">
                  <c:v>100.62261651957026</c:v>
                </c:pt>
                <c:pt idx="9">
                  <c:v>99.071855931093936</c:v>
                </c:pt>
                <c:pt idx="10">
                  <c:v>99.071855931093936</c:v>
                </c:pt>
                <c:pt idx="11">
                  <c:v>99.071855931093936</c:v>
                </c:pt>
                <c:pt idx="12">
                  <c:v>99.227935113225413</c:v>
                </c:pt>
                <c:pt idx="13">
                  <c:v>99.341679092360451</c:v>
                </c:pt>
                <c:pt idx="14">
                  <c:v>101.16090267493874</c:v>
                </c:pt>
                <c:pt idx="15">
                  <c:v>100.94718640920971</c:v>
                </c:pt>
                <c:pt idx="16">
                  <c:v>101.95575036171944</c:v>
                </c:pt>
                <c:pt idx="17">
                  <c:v>101.95575036171944</c:v>
                </c:pt>
                <c:pt idx="18">
                  <c:v>101.95575036171944</c:v>
                </c:pt>
                <c:pt idx="19">
                  <c:v>101.95575036171944</c:v>
                </c:pt>
                <c:pt idx="20">
                  <c:v>102.84972023061634</c:v>
                </c:pt>
                <c:pt idx="21">
                  <c:v>103.48100781586056</c:v>
                </c:pt>
                <c:pt idx="22">
                  <c:v>104.03085539212769</c:v>
                </c:pt>
                <c:pt idx="23">
                  <c:v>103.73382888757028</c:v>
                </c:pt>
                <c:pt idx="24">
                  <c:v>103.73382888757028</c:v>
                </c:pt>
                <c:pt idx="25">
                  <c:v>103.73382888757028</c:v>
                </c:pt>
                <c:pt idx="26">
                  <c:v>102.22132300059677</c:v>
                </c:pt>
                <c:pt idx="27">
                  <c:v>103.16357880383498</c:v>
                </c:pt>
                <c:pt idx="28">
                  <c:v>102.68088948131727</c:v>
                </c:pt>
                <c:pt idx="29">
                  <c:v>103.2225760545971</c:v>
                </c:pt>
                <c:pt idx="30">
                  <c:v>102.70163203057656</c:v>
                </c:pt>
                <c:pt idx="31">
                  <c:v>102.70163203057656</c:v>
                </c:pt>
                <c:pt idx="32">
                  <c:v>102.70163203057656</c:v>
                </c:pt>
                <c:pt idx="33">
                  <c:v>101.92021599454573</c:v>
                </c:pt>
                <c:pt idx="34">
                  <c:v>102.65657649325102</c:v>
                </c:pt>
                <c:pt idx="35">
                  <c:v>103.05782580679164</c:v>
                </c:pt>
                <c:pt idx="36">
                  <c:v>103.43340196510151</c:v>
                </c:pt>
                <c:pt idx="37">
                  <c:v>102.45442164842058</c:v>
                </c:pt>
                <c:pt idx="38">
                  <c:v>102.45442164842058</c:v>
                </c:pt>
                <c:pt idx="39">
                  <c:v>102.45442164842058</c:v>
                </c:pt>
                <c:pt idx="40">
                  <c:v>103.1421561709934</c:v>
                </c:pt>
                <c:pt idx="41">
                  <c:v>103.17718047548044</c:v>
                </c:pt>
                <c:pt idx="42">
                  <c:v>102.89613593510643</c:v>
                </c:pt>
                <c:pt idx="43">
                  <c:v>103.96896778614091</c:v>
                </c:pt>
                <c:pt idx="44">
                  <c:v>103.96148686673592</c:v>
                </c:pt>
                <c:pt idx="45">
                  <c:v>103.96148686673592</c:v>
                </c:pt>
                <c:pt idx="46">
                  <c:v>103.96148686673592</c:v>
                </c:pt>
                <c:pt idx="47">
                  <c:v>103.96148686673592</c:v>
                </c:pt>
                <c:pt idx="48">
                  <c:v>104.21566810561018</c:v>
                </c:pt>
                <c:pt idx="49">
                  <c:v>104.46338855045285</c:v>
                </c:pt>
                <c:pt idx="50">
                  <c:v>104.0106229055551</c:v>
                </c:pt>
                <c:pt idx="51">
                  <c:v>102.23577477672006</c:v>
                </c:pt>
                <c:pt idx="52">
                  <c:v>102.23577477672006</c:v>
                </c:pt>
                <c:pt idx="53">
                  <c:v>102.23577477672006</c:v>
                </c:pt>
                <c:pt idx="54">
                  <c:v>101.72775234076268</c:v>
                </c:pt>
                <c:pt idx="55">
                  <c:v>101.2516938331721</c:v>
                </c:pt>
                <c:pt idx="56">
                  <c:v>101.26546552571311</c:v>
                </c:pt>
                <c:pt idx="57">
                  <c:v>99.658938083490455</c:v>
                </c:pt>
                <c:pt idx="58">
                  <c:v>101.2389422660045</c:v>
                </c:pt>
                <c:pt idx="59">
                  <c:v>101.2389422660045</c:v>
                </c:pt>
                <c:pt idx="60">
                  <c:v>101.2389422660045</c:v>
                </c:pt>
                <c:pt idx="61">
                  <c:v>99.457463322242305</c:v>
                </c:pt>
                <c:pt idx="62">
                  <c:v>98.24062377266165</c:v>
                </c:pt>
                <c:pt idx="63">
                  <c:v>99.336918507284537</c:v>
                </c:pt>
                <c:pt idx="64">
                  <c:v>97.566830963525419</c:v>
                </c:pt>
                <c:pt idx="65">
                  <c:v>98.105457160685035</c:v>
                </c:pt>
                <c:pt idx="66">
                  <c:v>98.105457160685035</c:v>
                </c:pt>
                <c:pt idx="67">
                  <c:v>98.105457160685035</c:v>
                </c:pt>
                <c:pt idx="68">
                  <c:v>95.459251942063688</c:v>
                </c:pt>
                <c:pt idx="69">
                  <c:v>94.736833156794958</c:v>
                </c:pt>
                <c:pt idx="70">
                  <c:v>95.199800055426806</c:v>
                </c:pt>
                <c:pt idx="71">
                  <c:v>93.877377529698407</c:v>
                </c:pt>
                <c:pt idx="72">
                  <c:v>95.873762885458618</c:v>
                </c:pt>
                <c:pt idx="73">
                  <c:v>95.873762885458618</c:v>
                </c:pt>
                <c:pt idx="74">
                  <c:v>95.873762885458618</c:v>
                </c:pt>
                <c:pt idx="75">
                  <c:v>96.488898485623878</c:v>
                </c:pt>
                <c:pt idx="76">
                  <c:v>95.460952151019356</c:v>
                </c:pt>
                <c:pt idx="77">
                  <c:v>96.491788840848542</c:v>
                </c:pt>
                <c:pt idx="78">
                  <c:v>96.280962930344145</c:v>
                </c:pt>
                <c:pt idx="79">
                  <c:v>96.360362688574426</c:v>
                </c:pt>
                <c:pt idx="80">
                  <c:v>96.360362688574426</c:v>
                </c:pt>
                <c:pt idx="81">
                  <c:v>96.360362688574426</c:v>
                </c:pt>
                <c:pt idx="82">
                  <c:v>98.060741665150644</c:v>
                </c:pt>
                <c:pt idx="83">
                  <c:v>98.215120638326454</c:v>
                </c:pt>
                <c:pt idx="84">
                  <c:v>97.119335966390267</c:v>
                </c:pt>
                <c:pt idx="85">
                  <c:v>96.798166494662198</c:v>
                </c:pt>
                <c:pt idx="86">
                  <c:v>94.887641691163836</c:v>
                </c:pt>
                <c:pt idx="87">
                  <c:v>94.887641691163836</c:v>
                </c:pt>
                <c:pt idx="88">
                  <c:v>94.887641691163836</c:v>
                </c:pt>
                <c:pt idx="89">
                  <c:v>95.413176279364748</c:v>
                </c:pt>
                <c:pt idx="90">
                  <c:v>95.77396061976016</c:v>
                </c:pt>
                <c:pt idx="91">
                  <c:v>96.418339813963144</c:v>
                </c:pt>
                <c:pt idx="92">
                  <c:v>91.752116335097583</c:v>
                </c:pt>
                <c:pt idx="93">
                  <c:v>86.269962578400879</c:v>
                </c:pt>
                <c:pt idx="94">
                  <c:v>86.269962578400879</c:v>
                </c:pt>
                <c:pt idx="95">
                  <c:v>86.269962578400879</c:v>
                </c:pt>
                <c:pt idx="96">
                  <c:v>86.068827858943862</c:v>
                </c:pt>
                <c:pt idx="97">
                  <c:v>84.717501780968888</c:v>
                </c:pt>
                <c:pt idx="98">
                  <c:v>92.778702502537556</c:v>
                </c:pt>
                <c:pt idx="99">
                  <c:v>89.567857889734654</c:v>
                </c:pt>
                <c:pt idx="100">
                  <c:v>91.188327045393862</c:v>
                </c:pt>
                <c:pt idx="101">
                  <c:v>91.188327045393862</c:v>
                </c:pt>
                <c:pt idx="102">
                  <c:v>91.188327045393862</c:v>
                </c:pt>
                <c:pt idx="103">
                  <c:v>91.912786081409408</c:v>
                </c:pt>
                <c:pt idx="104">
                  <c:v>91.753986564948832</c:v>
                </c:pt>
                <c:pt idx="105">
                  <c:v>89.697923874844207</c:v>
                </c:pt>
                <c:pt idx="106">
                  <c:v>89.816938501741859</c:v>
                </c:pt>
                <c:pt idx="107">
                  <c:v>89.816938501741859</c:v>
                </c:pt>
                <c:pt idx="108">
                  <c:v>89.816938501741859</c:v>
                </c:pt>
                <c:pt idx="109">
                  <c:v>89.816938501741859</c:v>
                </c:pt>
                <c:pt idx="110">
                  <c:v>87.700178351919448</c:v>
                </c:pt>
                <c:pt idx="111">
                  <c:v>89.902969074899303</c:v>
                </c:pt>
                <c:pt idx="112">
                  <c:v>91.400853164853956</c:v>
                </c:pt>
                <c:pt idx="113">
                  <c:v>93.252550738485766</c:v>
                </c:pt>
                <c:pt idx="114">
                  <c:v>93.94011524016301</c:v>
                </c:pt>
                <c:pt idx="115">
                  <c:v>93.94011524016301</c:v>
                </c:pt>
                <c:pt idx="116">
                  <c:v>93.94011524016301</c:v>
                </c:pt>
                <c:pt idx="117">
                  <c:v>94.00030263719411</c:v>
                </c:pt>
                <c:pt idx="118">
                  <c:v>94.545729670176456</c:v>
                </c:pt>
                <c:pt idx="119">
                  <c:v>94.685656867228985</c:v>
                </c:pt>
                <c:pt idx="120">
                  <c:v>95.282090168881766</c:v>
                </c:pt>
                <c:pt idx="121">
                  <c:v>96.685272620005009</c:v>
                </c:pt>
                <c:pt idx="122">
                  <c:v>96.685272620005009</c:v>
                </c:pt>
                <c:pt idx="123">
                  <c:v>96.685272620005009</c:v>
                </c:pt>
                <c:pt idx="124">
                  <c:v>96.068266789988485</c:v>
                </c:pt>
                <c:pt idx="125">
                  <c:v>95.329185956954106</c:v>
                </c:pt>
                <c:pt idx="126">
                  <c:v>95.743526879453484</c:v>
                </c:pt>
                <c:pt idx="127">
                  <c:v>96.298815124378777</c:v>
                </c:pt>
                <c:pt idx="128">
                  <c:v>96.230296703464859</c:v>
                </c:pt>
                <c:pt idx="129">
                  <c:v>96.230296703464859</c:v>
                </c:pt>
                <c:pt idx="130">
                  <c:v>96.230296703464859</c:v>
                </c:pt>
                <c:pt idx="131">
                  <c:v>99.363441766993148</c:v>
                </c:pt>
                <c:pt idx="132">
                  <c:v>100.08365028061949</c:v>
                </c:pt>
                <c:pt idx="133">
                  <c:v>100.18617288064702</c:v>
                </c:pt>
                <c:pt idx="134">
                  <c:v>100.60017376135528</c:v>
                </c:pt>
                <c:pt idx="135">
                  <c:v>101.3049103734849</c:v>
                </c:pt>
                <c:pt idx="136">
                  <c:v>101.3049103734849</c:v>
                </c:pt>
                <c:pt idx="137">
                  <c:v>101.3049103734849</c:v>
                </c:pt>
                <c:pt idx="138">
                  <c:v>101.39366128097143</c:v>
                </c:pt>
                <c:pt idx="139">
                  <c:v>101.00023292862691</c:v>
                </c:pt>
                <c:pt idx="140">
                  <c:v>99.370582644607026</c:v>
                </c:pt>
                <c:pt idx="141">
                  <c:v>99.326377211759336</c:v>
                </c:pt>
                <c:pt idx="142">
                  <c:v>98.660065322028061</c:v>
                </c:pt>
                <c:pt idx="143">
                  <c:v>98.660065322028061</c:v>
                </c:pt>
                <c:pt idx="144">
                  <c:v>98.660065322028061</c:v>
                </c:pt>
                <c:pt idx="145">
                  <c:v>98.660065322028061</c:v>
                </c:pt>
                <c:pt idx="146">
                  <c:v>100.67855339421214</c:v>
                </c:pt>
                <c:pt idx="147">
                  <c:v>100.1176544597331</c:v>
                </c:pt>
                <c:pt idx="148">
                  <c:v>100.51924381506487</c:v>
                </c:pt>
                <c:pt idx="149">
                  <c:v>100.51108281207759</c:v>
                </c:pt>
                <c:pt idx="150">
                  <c:v>100.51108281207759</c:v>
                </c:pt>
                <c:pt idx="151">
                  <c:v>100.51108281207759</c:v>
                </c:pt>
                <c:pt idx="152">
                  <c:v>100.92338348383016</c:v>
                </c:pt>
                <c:pt idx="153">
                  <c:v>101.50876542727102</c:v>
                </c:pt>
                <c:pt idx="154">
                  <c:v>101.51624634667601</c:v>
                </c:pt>
                <c:pt idx="155">
                  <c:v>100.98051050474103</c:v>
                </c:pt>
                <c:pt idx="156">
                  <c:v>102.01865809307964</c:v>
                </c:pt>
                <c:pt idx="157">
                  <c:v>102.01865809307964</c:v>
                </c:pt>
                <c:pt idx="158">
                  <c:v>102.01865809307964</c:v>
                </c:pt>
                <c:pt idx="159">
                  <c:v>102.11250962743321</c:v>
                </c:pt>
                <c:pt idx="160">
                  <c:v>102.67238843653885</c:v>
                </c:pt>
                <c:pt idx="161">
                  <c:v>102.39066381258257</c:v>
                </c:pt>
                <c:pt idx="162">
                  <c:v>102.78205191418026</c:v>
                </c:pt>
                <c:pt idx="163">
                  <c:v>101.62097921834594</c:v>
                </c:pt>
                <c:pt idx="164">
                  <c:v>101.62097921834594</c:v>
                </c:pt>
                <c:pt idx="165">
                  <c:v>101.62097921834594</c:v>
                </c:pt>
                <c:pt idx="166">
                  <c:v>102.57547652606505</c:v>
                </c:pt>
                <c:pt idx="167">
                  <c:v>101.71874123329758</c:v>
                </c:pt>
                <c:pt idx="168">
                  <c:v>101.68728736761747</c:v>
                </c:pt>
                <c:pt idx="169">
                  <c:v>101.68728736761747</c:v>
                </c:pt>
                <c:pt idx="170">
                  <c:v>101.46575014069231</c:v>
                </c:pt>
                <c:pt idx="171">
                  <c:v>101.46575014069231</c:v>
                </c:pt>
                <c:pt idx="172">
                  <c:v>101.46575014069231</c:v>
                </c:pt>
                <c:pt idx="173">
                  <c:v>102.44047993498401</c:v>
                </c:pt>
                <c:pt idx="174">
                  <c:v>103.57978995618562</c:v>
                </c:pt>
                <c:pt idx="175">
                  <c:v>103.57944991439447</c:v>
                </c:pt>
                <c:pt idx="176">
                  <c:v>104.41017201014004</c:v>
                </c:pt>
                <c:pt idx="177">
                  <c:v>104.95508898043569</c:v>
                </c:pt>
                <c:pt idx="178">
                  <c:v>104.95508898043569</c:v>
                </c:pt>
                <c:pt idx="179">
                  <c:v>104.95508898043569</c:v>
                </c:pt>
                <c:pt idx="180">
                  <c:v>105.49711559550667</c:v>
                </c:pt>
                <c:pt idx="181">
                  <c:v>105.37912109398245</c:v>
                </c:pt>
                <c:pt idx="182">
                  <c:v>105.87915254784812</c:v>
                </c:pt>
                <c:pt idx="183">
                  <c:v>106.76207105853311</c:v>
                </c:pt>
                <c:pt idx="184">
                  <c:v>106.76207105853311</c:v>
                </c:pt>
                <c:pt idx="185">
                  <c:v>106.76207105853311</c:v>
                </c:pt>
                <c:pt idx="186">
                  <c:v>106.76207105853311</c:v>
                </c:pt>
                <c:pt idx="187">
                  <c:v>105.92267789711354</c:v>
                </c:pt>
                <c:pt idx="188">
                  <c:v>105.8468485776902</c:v>
                </c:pt>
                <c:pt idx="189">
                  <c:v>106.48850743756408</c:v>
                </c:pt>
                <c:pt idx="190">
                  <c:v>106.78094337794116</c:v>
                </c:pt>
                <c:pt idx="191">
                  <c:v>106.42883010321968</c:v>
                </c:pt>
                <c:pt idx="192">
                  <c:v>106.42883010321968</c:v>
                </c:pt>
                <c:pt idx="193">
                  <c:v>106.42883010321968</c:v>
                </c:pt>
                <c:pt idx="194">
                  <c:v>106.57861851221514</c:v>
                </c:pt>
                <c:pt idx="195">
                  <c:v>106.15696669120635</c:v>
                </c:pt>
                <c:pt idx="196">
                  <c:v>106.49598835696908</c:v>
                </c:pt>
                <c:pt idx="197">
                  <c:v>107.06827869145117</c:v>
                </c:pt>
                <c:pt idx="198">
                  <c:v>107.0585875004038</c:v>
                </c:pt>
                <c:pt idx="199">
                  <c:v>107.0585875004038</c:v>
                </c:pt>
                <c:pt idx="200">
                  <c:v>107.0585875004038</c:v>
                </c:pt>
                <c:pt idx="201">
                  <c:v>107.20837590939927</c:v>
                </c:pt>
                <c:pt idx="202">
                  <c:v>107.27672430941762</c:v>
                </c:pt>
                <c:pt idx="203">
                  <c:v>108.11475730367262</c:v>
                </c:pt>
                <c:pt idx="204">
                  <c:v>108.19024658130485</c:v>
                </c:pt>
                <c:pt idx="205">
                  <c:v>108.62022942619649</c:v>
                </c:pt>
                <c:pt idx="206">
                  <c:v>108.62022942619649</c:v>
                </c:pt>
                <c:pt idx="207">
                  <c:v>108.62022942619649</c:v>
                </c:pt>
                <c:pt idx="208">
                  <c:v>108.63944178739568</c:v>
                </c:pt>
                <c:pt idx="209">
                  <c:v>108.31793227387645</c:v>
                </c:pt>
                <c:pt idx="210">
                  <c:v>108.18259564100427</c:v>
                </c:pt>
                <c:pt idx="211">
                  <c:v>107.78287651552377</c:v>
                </c:pt>
                <c:pt idx="212">
                  <c:v>106.05920467625471</c:v>
                </c:pt>
                <c:pt idx="213">
                  <c:v>106.05920467625471</c:v>
                </c:pt>
                <c:pt idx="214">
                  <c:v>106.05920467625471</c:v>
                </c:pt>
                <c:pt idx="215">
                  <c:v>107.62220676921193</c:v>
                </c:pt>
                <c:pt idx="216">
                  <c:v>107.09939251534013</c:v>
                </c:pt>
                <c:pt idx="217">
                  <c:v>107.87927836331086</c:v>
                </c:pt>
                <c:pt idx="218">
                  <c:v>107.7932477901534</c:v>
                </c:pt>
                <c:pt idx="219">
                  <c:v>108.63400111873749</c:v>
                </c:pt>
                <c:pt idx="220">
                  <c:v>108.63400111873749</c:v>
                </c:pt>
                <c:pt idx="221">
                  <c:v>108.63400111873749</c:v>
                </c:pt>
                <c:pt idx="222">
                  <c:v>108.36196768582857</c:v>
                </c:pt>
                <c:pt idx="223">
                  <c:v>109.59138878168126</c:v>
                </c:pt>
                <c:pt idx="224">
                  <c:v>109.94537228625398</c:v>
                </c:pt>
                <c:pt idx="225">
                  <c:v>109.97869638178533</c:v>
                </c:pt>
                <c:pt idx="226">
                  <c:v>109.66007722349076</c:v>
                </c:pt>
                <c:pt idx="227">
                  <c:v>109.66007722349076</c:v>
                </c:pt>
                <c:pt idx="228">
                  <c:v>109.66007722349076</c:v>
                </c:pt>
                <c:pt idx="229">
                  <c:v>109.64902586527883</c:v>
                </c:pt>
                <c:pt idx="230">
                  <c:v>109.00668692182269</c:v>
                </c:pt>
                <c:pt idx="231">
                  <c:v>108.74162434563208</c:v>
                </c:pt>
                <c:pt idx="232">
                  <c:v>108.30620083208227</c:v>
                </c:pt>
                <c:pt idx="233">
                  <c:v>109.95098297580772</c:v>
                </c:pt>
                <c:pt idx="234">
                  <c:v>109.95098297580772</c:v>
                </c:pt>
                <c:pt idx="235">
                  <c:v>109.95098297580772</c:v>
                </c:pt>
                <c:pt idx="236">
                  <c:v>109.48189532493542</c:v>
                </c:pt>
                <c:pt idx="237">
                  <c:v>109.93449094893761</c:v>
                </c:pt>
                <c:pt idx="238">
                  <c:v>110.19734325348584</c:v>
                </c:pt>
                <c:pt idx="239">
                  <c:v>110.5452060058181</c:v>
                </c:pt>
                <c:pt idx="240">
                  <c:v>109.83791908025498</c:v>
                </c:pt>
                <c:pt idx="241">
                  <c:v>109.83791908025498</c:v>
                </c:pt>
                <c:pt idx="242">
                  <c:v>109.83791908025498</c:v>
                </c:pt>
                <c:pt idx="243">
                  <c:v>109.83791908025498</c:v>
                </c:pt>
                <c:pt idx="244">
                  <c:v>109.07758563527456</c:v>
                </c:pt>
                <c:pt idx="245">
                  <c:v>109.63389400557328</c:v>
                </c:pt>
                <c:pt idx="246">
                  <c:v>110.5489464655206</c:v>
                </c:pt>
                <c:pt idx="247">
                  <c:v>110.19904346244154</c:v>
                </c:pt>
                <c:pt idx="248">
                  <c:v>110.19904346244154</c:v>
                </c:pt>
                <c:pt idx="249">
                  <c:v>110.19904346244154</c:v>
                </c:pt>
                <c:pt idx="250">
                  <c:v>110.43112198489193</c:v>
                </c:pt>
                <c:pt idx="251">
                  <c:v>110.72797846855377</c:v>
                </c:pt>
                <c:pt idx="252">
                  <c:v>111.05832906864252</c:v>
                </c:pt>
                <c:pt idx="253">
                  <c:v>112.00075489277633</c:v>
                </c:pt>
                <c:pt idx="254">
                  <c:v>111.94668824798568</c:v>
                </c:pt>
                <c:pt idx="255">
                  <c:v>111.94668824798568</c:v>
                </c:pt>
                <c:pt idx="256">
                  <c:v>111.94668824798568</c:v>
                </c:pt>
                <c:pt idx="257">
                  <c:v>112.47358300335111</c:v>
                </c:pt>
                <c:pt idx="258">
                  <c:v>112.32872520032713</c:v>
                </c:pt>
                <c:pt idx="259">
                  <c:v>112.21974180626799</c:v>
                </c:pt>
                <c:pt idx="260">
                  <c:v>112.75717785715864</c:v>
                </c:pt>
                <c:pt idx="261">
                  <c:v>113.30804555879917</c:v>
                </c:pt>
                <c:pt idx="262">
                  <c:v>113.30804555879917</c:v>
                </c:pt>
                <c:pt idx="263">
                  <c:v>113.30804555879917</c:v>
                </c:pt>
                <c:pt idx="264">
                  <c:v>113.80773697087372</c:v>
                </c:pt>
                <c:pt idx="265">
                  <c:v>113.18155001249654</c:v>
                </c:pt>
                <c:pt idx="266">
                  <c:v>112.85936041539506</c:v>
                </c:pt>
                <c:pt idx="267">
                  <c:v>112.29404093763125</c:v>
                </c:pt>
                <c:pt idx="268">
                  <c:v>112.95678238855555</c:v>
                </c:pt>
                <c:pt idx="269">
                  <c:v>112.95678238855555</c:v>
                </c:pt>
                <c:pt idx="270">
                  <c:v>112.95678238855555</c:v>
                </c:pt>
                <c:pt idx="271">
                  <c:v>113.25448897669523</c:v>
                </c:pt>
                <c:pt idx="272">
                  <c:v>113.71779591711821</c:v>
                </c:pt>
                <c:pt idx="273">
                  <c:v>114.10442343363998</c:v>
                </c:pt>
                <c:pt idx="274">
                  <c:v>114.17498210530074</c:v>
                </c:pt>
                <c:pt idx="275">
                  <c:v>114.18246302470574</c:v>
                </c:pt>
                <c:pt idx="276">
                  <c:v>114.18246302470574</c:v>
                </c:pt>
                <c:pt idx="277">
                  <c:v>114.18246302470574</c:v>
                </c:pt>
                <c:pt idx="278">
                  <c:v>114.59884419795192</c:v>
                </c:pt>
                <c:pt idx="279">
                  <c:v>114.16206051723756</c:v>
                </c:pt>
                <c:pt idx="280">
                  <c:v>114.82735228159542</c:v>
                </c:pt>
                <c:pt idx="281">
                  <c:v>114.51094339494323</c:v>
                </c:pt>
                <c:pt idx="282">
                  <c:v>111.40636184187036</c:v>
                </c:pt>
                <c:pt idx="283">
                  <c:v>111.40636184187036</c:v>
                </c:pt>
                <c:pt idx="284">
                  <c:v>111.40636184187036</c:v>
                </c:pt>
                <c:pt idx="285">
                  <c:v>113.14414541547156</c:v>
                </c:pt>
                <c:pt idx="286">
                  <c:v>112.96715366318521</c:v>
                </c:pt>
                <c:pt idx="287">
                  <c:v>113.42195955882978</c:v>
                </c:pt>
                <c:pt idx="288">
                  <c:v>112.70804181833947</c:v>
                </c:pt>
                <c:pt idx="289">
                  <c:v>113.3020948274543</c:v>
                </c:pt>
                <c:pt idx="290">
                  <c:v>113.3020948274543</c:v>
                </c:pt>
                <c:pt idx="291">
                  <c:v>113.3020948274543</c:v>
                </c:pt>
                <c:pt idx="292">
                  <c:v>114.51128343673437</c:v>
                </c:pt>
                <c:pt idx="293">
                  <c:v>114.51502389643689</c:v>
                </c:pt>
                <c:pt idx="294">
                  <c:v>113.90379877686966</c:v>
                </c:pt>
                <c:pt idx="295">
                  <c:v>114.56756035316739</c:v>
                </c:pt>
                <c:pt idx="296">
                  <c:v>115.47292162206735</c:v>
                </c:pt>
                <c:pt idx="297">
                  <c:v>115.47292162206735</c:v>
                </c:pt>
                <c:pt idx="298">
                  <c:v>115.47292162206735</c:v>
                </c:pt>
                <c:pt idx="299">
                  <c:v>116.892086037374</c:v>
                </c:pt>
                <c:pt idx="300">
                  <c:v>117.15952890610257</c:v>
                </c:pt>
                <c:pt idx="301">
                  <c:v>117.15442827923552</c:v>
                </c:pt>
                <c:pt idx="302">
                  <c:v>115.99403566698348</c:v>
                </c:pt>
                <c:pt idx="303">
                  <c:v>116.29769298646804</c:v>
                </c:pt>
                <c:pt idx="304">
                  <c:v>116.29769298646804</c:v>
                </c:pt>
                <c:pt idx="305">
                  <c:v>116.29769298646804</c:v>
                </c:pt>
                <c:pt idx="306">
                  <c:v>116.49780758055167</c:v>
                </c:pt>
                <c:pt idx="307">
                  <c:v>115.13049953839327</c:v>
                </c:pt>
                <c:pt idx="308">
                  <c:v>115.55113123402867</c:v>
                </c:pt>
                <c:pt idx="309">
                  <c:v>114.25948249039806</c:v>
                </c:pt>
                <c:pt idx="310">
                  <c:v>114.40366020983979</c:v>
                </c:pt>
                <c:pt idx="311">
                  <c:v>114.40366020983979</c:v>
                </c:pt>
                <c:pt idx="312">
                  <c:v>114.40366020983979</c:v>
                </c:pt>
                <c:pt idx="313">
                  <c:v>116.16558675061167</c:v>
                </c:pt>
                <c:pt idx="314">
                  <c:v>116.40667638052716</c:v>
                </c:pt>
                <c:pt idx="315">
                  <c:v>116.47995538651701</c:v>
                </c:pt>
                <c:pt idx="316">
                  <c:v>114.55140836808843</c:v>
                </c:pt>
                <c:pt idx="317">
                  <c:v>114.49394130538641</c:v>
                </c:pt>
                <c:pt idx="318">
                  <c:v>114.49394130538641</c:v>
                </c:pt>
                <c:pt idx="319">
                  <c:v>114.49394130538641</c:v>
                </c:pt>
                <c:pt idx="320">
                  <c:v>113.44491237973146</c:v>
                </c:pt>
                <c:pt idx="321">
                  <c:v>112.50826726604699</c:v>
                </c:pt>
                <c:pt idx="322">
                  <c:v>112.93059917063806</c:v>
                </c:pt>
                <c:pt idx="323">
                  <c:v>111.17258311046427</c:v>
                </c:pt>
                <c:pt idx="324">
                  <c:v>112.26462732269795</c:v>
                </c:pt>
                <c:pt idx="325">
                  <c:v>112.26462732269795</c:v>
                </c:pt>
                <c:pt idx="326">
                  <c:v>112.26462732269795</c:v>
                </c:pt>
                <c:pt idx="327">
                  <c:v>114.0010507291346</c:v>
                </c:pt>
                <c:pt idx="328">
                  <c:v>115.03409769060617</c:v>
                </c:pt>
                <c:pt idx="329">
                  <c:v>115.82860533559574</c:v>
                </c:pt>
                <c:pt idx="330">
                  <c:v>115.82860533559574</c:v>
                </c:pt>
                <c:pt idx="331">
                  <c:v>116.44884156262805</c:v>
                </c:pt>
                <c:pt idx="332">
                  <c:v>116.44884156262805</c:v>
                </c:pt>
                <c:pt idx="333">
                  <c:v>116.44884156262805</c:v>
                </c:pt>
                <c:pt idx="334">
                  <c:v>115.82894537738689</c:v>
                </c:pt>
                <c:pt idx="335">
                  <c:v>116.11356035656782</c:v>
                </c:pt>
                <c:pt idx="336">
                  <c:v>116.45955287904883</c:v>
                </c:pt>
                <c:pt idx="337">
                  <c:v>116.5853683417692</c:v>
                </c:pt>
                <c:pt idx="338">
                  <c:v>116.81115609108359</c:v>
                </c:pt>
                <c:pt idx="339">
                  <c:v>116.81115609108359</c:v>
                </c:pt>
                <c:pt idx="340">
                  <c:v>116.81115609108359</c:v>
                </c:pt>
                <c:pt idx="341">
                  <c:v>116.40497617157149</c:v>
                </c:pt>
                <c:pt idx="342">
                  <c:v>116.30296363423065</c:v>
                </c:pt>
                <c:pt idx="343">
                  <c:v>117.0879501090684</c:v>
                </c:pt>
                <c:pt idx="344">
                  <c:v>117.33142003152189</c:v>
                </c:pt>
                <c:pt idx="345">
                  <c:v>116.08023626103648</c:v>
                </c:pt>
                <c:pt idx="346">
                  <c:v>116.08023626103648</c:v>
                </c:pt>
                <c:pt idx="347">
                  <c:v>116.08023626103648</c:v>
                </c:pt>
                <c:pt idx="348">
                  <c:v>115.89491348486729</c:v>
                </c:pt>
                <c:pt idx="349">
                  <c:v>115.61862952956918</c:v>
                </c:pt>
                <c:pt idx="350">
                  <c:v>114.27835480980613</c:v>
                </c:pt>
                <c:pt idx="351">
                  <c:v>115.18507624587062</c:v>
                </c:pt>
                <c:pt idx="352">
                  <c:v>116.20078107599423</c:v>
                </c:pt>
                <c:pt idx="353">
                  <c:v>116.20078107599423</c:v>
                </c:pt>
                <c:pt idx="354">
                  <c:v>116.20078107599423</c:v>
                </c:pt>
                <c:pt idx="355">
                  <c:v>116.94870299559817</c:v>
                </c:pt>
                <c:pt idx="356">
                  <c:v>117.4808683987262</c:v>
                </c:pt>
                <c:pt idx="357">
                  <c:v>117.85933491226072</c:v>
                </c:pt>
                <c:pt idx="358">
                  <c:v>117.85933491226072</c:v>
                </c:pt>
                <c:pt idx="359">
                  <c:v>117.82346050329583</c:v>
                </c:pt>
                <c:pt idx="360">
                  <c:v>117.82346050329583</c:v>
                </c:pt>
                <c:pt idx="361">
                  <c:v>117.82346050329583</c:v>
                </c:pt>
                <c:pt idx="362">
                  <c:v>117.41200993602112</c:v>
                </c:pt>
                <c:pt idx="363">
                  <c:v>117.25049008523148</c:v>
                </c:pt>
                <c:pt idx="364">
                  <c:v>116.3878040611191</c:v>
                </c:pt>
                <c:pt idx="365">
                  <c:v>116.3878040611191</c:v>
                </c:pt>
                <c:pt idx="366">
                  <c:v>116.6083211626709</c:v>
                </c:pt>
                <c:pt idx="367">
                  <c:v>116.6083211626709</c:v>
                </c:pt>
                <c:pt idx="368">
                  <c:v>116.6083211626709</c:v>
                </c:pt>
                <c:pt idx="369">
                  <c:v>117.34927222555652</c:v>
                </c:pt>
                <c:pt idx="370">
                  <c:v>118.07645159590112</c:v>
                </c:pt>
                <c:pt idx="371">
                  <c:v>117.67027167638904</c:v>
                </c:pt>
                <c:pt idx="372">
                  <c:v>117.67928278385413</c:v>
                </c:pt>
                <c:pt idx="373">
                  <c:v>118.44131643779019</c:v>
                </c:pt>
                <c:pt idx="374">
                  <c:v>118.44131643779019</c:v>
                </c:pt>
                <c:pt idx="375">
                  <c:v>118.44131643779019</c:v>
                </c:pt>
                <c:pt idx="376">
                  <c:v>118.62816940201952</c:v>
                </c:pt>
                <c:pt idx="377">
                  <c:v>118.39813113031592</c:v>
                </c:pt>
                <c:pt idx="378">
                  <c:v>117.76667352417614</c:v>
                </c:pt>
                <c:pt idx="379">
                  <c:v>118.07050086455627</c:v>
                </c:pt>
                <c:pt idx="380">
                  <c:v>117.9946715451329</c:v>
                </c:pt>
                <c:pt idx="381">
                  <c:v>117.9946715451329</c:v>
                </c:pt>
                <c:pt idx="382">
                  <c:v>117.9946715451329</c:v>
                </c:pt>
                <c:pt idx="383">
                  <c:v>117.9946715451329</c:v>
                </c:pt>
                <c:pt idx="384">
                  <c:v>115.56082242507604</c:v>
                </c:pt>
                <c:pt idx="385">
                  <c:v>116.89990699857012</c:v>
                </c:pt>
                <c:pt idx="386">
                  <c:v>117.54139583754844</c:v>
                </c:pt>
                <c:pt idx="387">
                  <c:v>117.5798205599468</c:v>
                </c:pt>
                <c:pt idx="388">
                  <c:v>117.5798205599468</c:v>
                </c:pt>
                <c:pt idx="389">
                  <c:v>117.5798205599468</c:v>
                </c:pt>
                <c:pt idx="390">
                  <c:v>118.16843290040345</c:v>
                </c:pt>
                <c:pt idx="391">
                  <c:v>118.65078218113005</c:v>
                </c:pt>
                <c:pt idx="392">
                  <c:v>118.64109099008266</c:v>
                </c:pt>
                <c:pt idx="393">
                  <c:v>118.48773214228028</c:v>
                </c:pt>
                <c:pt idx="394">
                  <c:v>117.97800949736721</c:v>
                </c:pt>
                <c:pt idx="395">
                  <c:v>117.97800949736721</c:v>
                </c:pt>
                <c:pt idx="396">
                  <c:v>117.97800949736721</c:v>
                </c:pt>
                <c:pt idx="397">
                  <c:v>118.61405766768736</c:v>
                </c:pt>
                <c:pt idx="398">
                  <c:v>117.6172251569718</c:v>
                </c:pt>
                <c:pt idx="399">
                  <c:v>117.02062183442345</c:v>
                </c:pt>
                <c:pt idx="400">
                  <c:v>115.58700564299352</c:v>
                </c:pt>
                <c:pt idx="401">
                  <c:v>117.86358543464992</c:v>
                </c:pt>
                <c:pt idx="402">
                  <c:v>117.86358543464992</c:v>
                </c:pt>
                <c:pt idx="403">
                  <c:v>117.86358543464992</c:v>
                </c:pt>
                <c:pt idx="404">
                  <c:v>118.41649338703726</c:v>
                </c:pt>
                <c:pt idx="405">
                  <c:v>118.02527530633515</c:v>
                </c:pt>
                <c:pt idx="406">
                  <c:v>118.01949459588583</c:v>
                </c:pt>
                <c:pt idx="407">
                  <c:v>116.1711974401654</c:v>
                </c:pt>
                <c:pt idx="408">
                  <c:v>116.2291745655541</c:v>
                </c:pt>
                <c:pt idx="409">
                  <c:v>116.2291745655541</c:v>
                </c:pt>
                <c:pt idx="410">
                  <c:v>116.2291745655541</c:v>
                </c:pt>
                <c:pt idx="411">
                  <c:v>116.2291745655541</c:v>
                </c:pt>
                <c:pt idx="412">
                  <c:v>116.34903929692959</c:v>
                </c:pt>
                <c:pt idx="413">
                  <c:v>116.99664888814836</c:v>
                </c:pt>
                <c:pt idx="414">
                  <c:v>116.66646830895517</c:v>
                </c:pt>
                <c:pt idx="415">
                  <c:v>117.4761078136503</c:v>
                </c:pt>
                <c:pt idx="416">
                  <c:v>117.4761078136503</c:v>
                </c:pt>
                <c:pt idx="417">
                  <c:v>117.4761078136503</c:v>
                </c:pt>
                <c:pt idx="418">
                  <c:v>116.25603786705385</c:v>
                </c:pt>
                <c:pt idx="419">
                  <c:v>117.14558719266597</c:v>
                </c:pt>
                <c:pt idx="420">
                  <c:v>118.09872433322055</c:v>
                </c:pt>
                <c:pt idx="421">
                  <c:v>117.46505645543837</c:v>
                </c:pt>
                <c:pt idx="422">
                  <c:v>116.95533381052532</c:v>
                </c:pt>
                <c:pt idx="423">
                  <c:v>116.95533381052532</c:v>
                </c:pt>
                <c:pt idx="424">
                  <c:v>116.95533381052532</c:v>
                </c:pt>
                <c:pt idx="425">
                  <c:v>117.00191953591097</c:v>
                </c:pt>
                <c:pt idx="426">
                  <c:v>115.8969537356141</c:v>
                </c:pt>
                <c:pt idx="427">
                  <c:v>116.79585421048246</c:v>
                </c:pt>
                <c:pt idx="428">
                  <c:v>116.13634315657396</c:v>
                </c:pt>
                <c:pt idx="429">
                  <c:v>114.59442365466717</c:v>
                </c:pt>
                <c:pt idx="430">
                  <c:v>114.59442365466717</c:v>
                </c:pt>
                <c:pt idx="431">
                  <c:v>114.59442365466717</c:v>
                </c:pt>
                <c:pt idx="432">
                  <c:v>115.54603060716163</c:v>
                </c:pt>
                <c:pt idx="433">
                  <c:v>115.29933028769234</c:v>
                </c:pt>
                <c:pt idx="434">
                  <c:v>115.20275841900968</c:v>
                </c:pt>
                <c:pt idx="435">
                  <c:v>113.44848281853839</c:v>
                </c:pt>
                <c:pt idx="436">
                  <c:v>112.7610883377567</c:v>
                </c:pt>
                <c:pt idx="437">
                  <c:v>112.7610883377567</c:v>
                </c:pt>
                <c:pt idx="438">
                  <c:v>112.7610883377567</c:v>
                </c:pt>
                <c:pt idx="439">
                  <c:v>113.90345873507854</c:v>
                </c:pt>
                <c:pt idx="440">
                  <c:v>114.18756365157279</c:v>
                </c:pt>
                <c:pt idx="441">
                  <c:v>112.63374268697623</c:v>
                </c:pt>
                <c:pt idx="442">
                  <c:v>112.32413463614677</c:v>
                </c:pt>
                <c:pt idx="443">
                  <c:v>110.62375565957055</c:v>
                </c:pt>
                <c:pt idx="444">
                  <c:v>110.62375565957055</c:v>
                </c:pt>
                <c:pt idx="445">
                  <c:v>110.62375565957055</c:v>
                </c:pt>
                <c:pt idx="446">
                  <c:v>111.89075137334379</c:v>
                </c:pt>
                <c:pt idx="447">
                  <c:v>111.47198990755965</c:v>
                </c:pt>
                <c:pt idx="448">
                  <c:v>112.07607414951298</c:v>
                </c:pt>
                <c:pt idx="449">
                  <c:v>110.12525439376499</c:v>
                </c:pt>
                <c:pt idx="450">
                  <c:v>108.28375807386728</c:v>
                </c:pt>
                <c:pt idx="451">
                  <c:v>108.28375807386728</c:v>
                </c:pt>
                <c:pt idx="452">
                  <c:v>108.28375807386728</c:v>
                </c:pt>
                <c:pt idx="453">
                  <c:v>107.85649556330472</c:v>
                </c:pt>
                <c:pt idx="454">
                  <c:v>110.99848171340258</c:v>
                </c:pt>
                <c:pt idx="455">
                  <c:v>111.7941795046611</c:v>
                </c:pt>
                <c:pt idx="456">
                  <c:v>111.91948490469478</c:v>
                </c:pt>
                <c:pt idx="457">
                  <c:v>111.91948490469478</c:v>
                </c:pt>
                <c:pt idx="458">
                  <c:v>111.91948490469478</c:v>
                </c:pt>
                <c:pt idx="459">
                  <c:v>111.91948490469478</c:v>
                </c:pt>
                <c:pt idx="460">
                  <c:v>112.41492579438012</c:v>
                </c:pt>
                <c:pt idx="461">
                  <c:v>112.50027628395529</c:v>
                </c:pt>
                <c:pt idx="462">
                  <c:v>115.32194306680293</c:v>
                </c:pt>
                <c:pt idx="463">
                  <c:v>116.03348051475525</c:v>
                </c:pt>
                <c:pt idx="464">
                  <c:v>115.90137427889888</c:v>
                </c:pt>
                <c:pt idx="465">
                  <c:v>115.90137427889888</c:v>
                </c:pt>
                <c:pt idx="466">
                  <c:v>115.90137427889888</c:v>
                </c:pt>
                <c:pt idx="467">
                  <c:v>117.08046918966339</c:v>
                </c:pt>
                <c:pt idx="468">
                  <c:v>118.4600187363027</c:v>
                </c:pt>
                <c:pt idx="469">
                  <c:v>119.40482485297443</c:v>
                </c:pt>
                <c:pt idx="470">
                  <c:v>119.7164731545507</c:v>
                </c:pt>
                <c:pt idx="471">
                  <c:v>121.15791030717675</c:v>
                </c:pt>
                <c:pt idx="472">
                  <c:v>121.15791030717675</c:v>
                </c:pt>
                <c:pt idx="473">
                  <c:v>121.15791030717675</c:v>
                </c:pt>
                <c:pt idx="474">
                  <c:v>120.87023495187559</c:v>
                </c:pt>
                <c:pt idx="475">
                  <c:v>120.1029306501769</c:v>
                </c:pt>
                <c:pt idx="476">
                  <c:v>121.35921504752933</c:v>
                </c:pt>
                <c:pt idx="477">
                  <c:v>120.85765340560354</c:v>
                </c:pt>
                <c:pt idx="478">
                  <c:v>121.82133184168333</c:v>
                </c:pt>
                <c:pt idx="479">
                  <c:v>121.82133184168333</c:v>
                </c:pt>
                <c:pt idx="480">
                  <c:v>121.82133184168333</c:v>
                </c:pt>
                <c:pt idx="481">
                  <c:v>121.97146029246994</c:v>
                </c:pt>
                <c:pt idx="482">
                  <c:v>121.37451692813046</c:v>
                </c:pt>
                <c:pt idx="483">
                  <c:v>121.32606097289356</c:v>
                </c:pt>
                <c:pt idx="484">
                  <c:v>122.56823363591384</c:v>
                </c:pt>
                <c:pt idx="485">
                  <c:v>122.92714774645803</c:v>
                </c:pt>
                <c:pt idx="486">
                  <c:v>122.92714774645803</c:v>
                </c:pt>
                <c:pt idx="487">
                  <c:v>122.92714774645803</c:v>
                </c:pt>
                <c:pt idx="488">
                  <c:v>122.42779637617463</c:v>
                </c:pt>
              </c:numCache>
            </c:numRef>
          </c:val>
          <c:smooth val="0"/>
          <c:extLst>
            <c:ext xmlns:c16="http://schemas.microsoft.com/office/drawing/2014/chart" uri="{C3380CC4-5D6E-409C-BE32-E72D297353CC}">
              <c16:uniqueId val="{00000002-FD23-4714-9A40-2374CE713F5E}"/>
            </c:ext>
          </c:extLst>
        </c:ser>
        <c:ser>
          <c:idx val="1"/>
          <c:order val="2"/>
          <c:tx>
            <c:strRef>
              <c:f>'SG Market Indices'!$U$11</c:f>
              <c:strCache>
                <c:ptCount val="1"/>
                <c:pt idx="0">
                  <c:v>ST REIT 6.0%</c:v>
                </c:pt>
              </c:strCache>
            </c:strRef>
          </c:tx>
          <c:spPr>
            <a:ln w="15875" cap="rnd">
              <a:solidFill>
                <a:srgbClr val="315D90"/>
              </a:solidFill>
              <a:round/>
            </a:ln>
            <a:effectLst/>
          </c:spPr>
          <c:marker>
            <c:symbol val="none"/>
          </c:marker>
          <c:cat>
            <c:numRef>
              <c:f>'SG Market Indices'!$S$12:$S$500</c:f>
              <c:numCache>
                <c:formatCode>dd\ mmm\ 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'SG Market Indices'!$U$12:$U$500</c:f>
              <c:numCache>
                <c:formatCode>0.00</c:formatCode>
                <c:ptCount val="489"/>
                <c:pt idx="0">
                  <c:v>100</c:v>
                </c:pt>
                <c:pt idx="1">
                  <c:v>101.1479910157225</c:v>
                </c:pt>
                <c:pt idx="2">
                  <c:v>102.16496131769404</c:v>
                </c:pt>
                <c:pt idx="3">
                  <c:v>102.16496131769404</c:v>
                </c:pt>
                <c:pt idx="4">
                  <c:v>102.16496131769404</c:v>
                </c:pt>
                <c:pt idx="5">
                  <c:v>102.43324182680308</c:v>
                </c:pt>
                <c:pt idx="6">
                  <c:v>101.81713251809332</c:v>
                </c:pt>
                <c:pt idx="7">
                  <c:v>101.19166458697279</c:v>
                </c:pt>
                <c:pt idx="8">
                  <c:v>100.94990017469429</c:v>
                </c:pt>
                <c:pt idx="9">
                  <c:v>100.60987022710258</c:v>
                </c:pt>
                <c:pt idx="10">
                  <c:v>100.60987022710258</c:v>
                </c:pt>
                <c:pt idx="11">
                  <c:v>100.60987022710258</c:v>
                </c:pt>
                <c:pt idx="12">
                  <c:v>99.951647117544283</c:v>
                </c:pt>
                <c:pt idx="13">
                  <c:v>99.280945844771651</c:v>
                </c:pt>
                <c:pt idx="14">
                  <c:v>99.46811829298727</c:v>
                </c:pt>
                <c:pt idx="15">
                  <c:v>100.94210132268529</c:v>
                </c:pt>
                <c:pt idx="16">
                  <c:v>101.02164961317692</c:v>
                </c:pt>
                <c:pt idx="17">
                  <c:v>101.02164961317692</c:v>
                </c:pt>
                <c:pt idx="18">
                  <c:v>101.02164961317692</c:v>
                </c:pt>
                <c:pt idx="19">
                  <c:v>101.66115547791365</c:v>
                </c:pt>
                <c:pt idx="20">
                  <c:v>101.54105315697531</c:v>
                </c:pt>
                <c:pt idx="21">
                  <c:v>100.62234839031694</c:v>
                </c:pt>
                <c:pt idx="22">
                  <c:v>100.60675068629898</c:v>
                </c:pt>
                <c:pt idx="23">
                  <c:v>100.90466683304217</c:v>
                </c:pt>
                <c:pt idx="24">
                  <c:v>100.90466683304217</c:v>
                </c:pt>
                <c:pt idx="25">
                  <c:v>100.90466683304217</c:v>
                </c:pt>
                <c:pt idx="26">
                  <c:v>99.513351634639378</c:v>
                </c:pt>
                <c:pt idx="27">
                  <c:v>100.44765410531571</c:v>
                </c:pt>
                <c:pt idx="28">
                  <c:v>100.44765410531571</c:v>
                </c:pt>
                <c:pt idx="29">
                  <c:v>100.44765410531571</c:v>
                </c:pt>
                <c:pt idx="30">
                  <c:v>100.16221612178686</c:v>
                </c:pt>
                <c:pt idx="31">
                  <c:v>100.16221612178686</c:v>
                </c:pt>
                <c:pt idx="32">
                  <c:v>100.16221612178686</c:v>
                </c:pt>
                <c:pt idx="33">
                  <c:v>99.277826303968055</c:v>
                </c:pt>
                <c:pt idx="34">
                  <c:v>99.284065385575232</c:v>
                </c:pt>
                <c:pt idx="35">
                  <c:v>99.165522835038672</c:v>
                </c:pt>
                <c:pt idx="36">
                  <c:v>99.502433241826793</c:v>
                </c:pt>
                <c:pt idx="37">
                  <c:v>100.2402046418767</c:v>
                </c:pt>
                <c:pt idx="38">
                  <c:v>100.2402046418767</c:v>
                </c:pt>
                <c:pt idx="39">
                  <c:v>100.2402046418767</c:v>
                </c:pt>
                <c:pt idx="40">
                  <c:v>99.798789618168215</c:v>
                </c:pt>
                <c:pt idx="41">
                  <c:v>99.650611429997511</c:v>
                </c:pt>
                <c:pt idx="42">
                  <c:v>99.355814824057902</c:v>
                </c:pt>
                <c:pt idx="43">
                  <c:v>98.711629648115789</c:v>
                </c:pt>
                <c:pt idx="44">
                  <c:v>98.530696281507375</c:v>
                </c:pt>
                <c:pt idx="45">
                  <c:v>98.530696281507375</c:v>
                </c:pt>
                <c:pt idx="46">
                  <c:v>98.530696281507375</c:v>
                </c:pt>
                <c:pt idx="47">
                  <c:v>99.226353880708757</c:v>
                </c:pt>
                <c:pt idx="48">
                  <c:v>98.449588220613919</c:v>
                </c:pt>
                <c:pt idx="49">
                  <c:v>97.944222610431751</c:v>
                </c:pt>
                <c:pt idx="50">
                  <c:v>97.601073122036439</c:v>
                </c:pt>
                <c:pt idx="51">
                  <c:v>97.482530571499879</c:v>
                </c:pt>
                <c:pt idx="52">
                  <c:v>97.482530571499879</c:v>
                </c:pt>
                <c:pt idx="53">
                  <c:v>97.482530571499879</c:v>
                </c:pt>
                <c:pt idx="54">
                  <c:v>97.875592712752677</c:v>
                </c:pt>
                <c:pt idx="55">
                  <c:v>97.841277763913155</c:v>
                </c:pt>
                <c:pt idx="56">
                  <c:v>97.658784626902914</c:v>
                </c:pt>
                <c:pt idx="57">
                  <c:v>97.563638632393307</c:v>
                </c:pt>
                <c:pt idx="58">
                  <c:v>97.243885700024961</c:v>
                </c:pt>
                <c:pt idx="59">
                  <c:v>97.243885700024961</c:v>
                </c:pt>
                <c:pt idx="60">
                  <c:v>97.243885700024961</c:v>
                </c:pt>
                <c:pt idx="61">
                  <c:v>97.577676566009487</c:v>
                </c:pt>
                <c:pt idx="62">
                  <c:v>97.465373097080104</c:v>
                </c:pt>
                <c:pt idx="63">
                  <c:v>97.830359371100585</c:v>
                </c:pt>
                <c:pt idx="64">
                  <c:v>97.739892687796356</c:v>
                </c:pt>
                <c:pt idx="65">
                  <c:v>97.484090341901677</c:v>
                </c:pt>
                <c:pt idx="66">
                  <c:v>97.484090341901677</c:v>
                </c:pt>
                <c:pt idx="67">
                  <c:v>97.484090341901677</c:v>
                </c:pt>
                <c:pt idx="68">
                  <c:v>97.507486897928615</c:v>
                </c:pt>
                <c:pt idx="69">
                  <c:v>98.048727227352146</c:v>
                </c:pt>
                <c:pt idx="70">
                  <c:v>100.27451959071625</c:v>
                </c:pt>
                <c:pt idx="71">
                  <c:v>101.26809333666085</c:v>
                </c:pt>
                <c:pt idx="72">
                  <c:v>101.7874968804592</c:v>
                </c:pt>
                <c:pt idx="73">
                  <c:v>101.7874968804592</c:v>
                </c:pt>
                <c:pt idx="74">
                  <c:v>101.7874968804592</c:v>
                </c:pt>
                <c:pt idx="75">
                  <c:v>101.65179685550288</c:v>
                </c:pt>
                <c:pt idx="76">
                  <c:v>101.41003244322435</c:v>
                </c:pt>
                <c:pt idx="77">
                  <c:v>101.15423009732967</c:v>
                </c:pt>
                <c:pt idx="78">
                  <c:v>101.69391065635138</c:v>
                </c:pt>
                <c:pt idx="79">
                  <c:v>101.86080608934364</c:v>
                </c:pt>
                <c:pt idx="80">
                  <c:v>101.86080608934364</c:v>
                </c:pt>
                <c:pt idx="81">
                  <c:v>101.86080608934364</c:v>
                </c:pt>
                <c:pt idx="82">
                  <c:v>102.32249812827551</c:v>
                </c:pt>
                <c:pt idx="83">
                  <c:v>102.21019465934613</c:v>
                </c:pt>
                <c:pt idx="84">
                  <c:v>102.380209633142</c:v>
                </c:pt>
                <c:pt idx="85">
                  <c:v>102.23203144497128</c:v>
                </c:pt>
                <c:pt idx="86">
                  <c:v>101.90759920139756</c:v>
                </c:pt>
                <c:pt idx="87">
                  <c:v>101.90759920139756</c:v>
                </c:pt>
                <c:pt idx="88">
                  <c:v>101.90759920139756</c:v>
                </c:pt>
                <c:pt idx="89">
                  <c:v>101.90759920139756</c:v>
                </c:pt>
                <c:pt idx="90">
                  <c:v>102.42232343399051</c:v>
                </c:pt>
                <c:pt idx="91">
                  <c:v>101.96999001746943</c:v>
                </c:pt>
                <c:pt idx="92">
                  <c:v>103.59215123533816</c:v>
                </c:pt>
                <c:pt idx="93">
                  <c:v>102.45975792363365</c:v>
                </c:pt>
                <c:pt idx="94">
                  <c:v>102.45975792363365</c:v>
                </c:pt>
                <c:pt idx="95">
                  <c:v>102.45975792363365</c:v>
                </c:pt>
                <c:pt idx="96">
                  <c:v>96.701085600199661</c:v>
                </c:pt>
                <c:pt idx="97">
                  <c:v>95.25829797853757</c:v>
                </c:pt>
                <c:pt idx="98">
                  <c:v>92.115360618916895</c:v>
                </c:pt>
                <c:pt idx="99">
                  <c:v>95.130396805590209</c:v>
                </c:pt>
                <c:pt idx="100">
                  <c:v>94.473733466433757</c:v>
                </c:pt>
                <c:pt idx="101">
                  <c:v>94.473733466433757</c:v>
                </c:pt>
                <c:pt idx="102">
                  <c:v>94.473733466433757</c:v>
                </c:pt>
                <c:pt idx="103">
                  <c:v>94.912028949338662</c:v>
                </c:pt>
                <c:pt idx="104">
                  <c:v>96.886698278013469</c:v>
                </c:pt>
                <c:pt idx="105">
                  <c:v>98.120476665834801</c:v>
                </c:pt>
                <c:pt idx="106">
                  <c:v>98.6133641128026</c:v>
                </c:pt>
                <c:pt idx="107">
                  <c:v>98.6133641128026</c:v>
                </c:pt>
                <c:pt idx="108">
                  <c:v>98.6133641128026</c:v>
                </c:pt>
                <c:pt idx="109">
                  <c:v>98.6133641128026</c:v>
                </c:pt>
                <c:pt idx="110">
                  <c:v>98.580608934364861</c:v>
                </c:pt>
                <c:pt idx="111">
                  <c:v>99.126528574993756</c:v>
                </c:pt>
                <c:pt idx="112">
                  <c:v>100.60987022710258</c:v>
                </c:pt>
                <c:pt idx="113">
                  <c:v>99.900174694284999</c:v>
                </c:pt>
                <c:pt idx="114">
                  <c:v>99.706763164462188</c:v>
                </c:pt>
                <c:pt idx="115">
                  <c:v>99.706763164462188</c:v>
                </c:pt>
                <c:pt idx="116">
                  <c:v>99.706763164462188</c:v>
                </c:pt>
                <c:pt idx="117">
                  <c:v>99.929810331919128</c:v>
                </c:pt>
                <c:pt idx="118">
                  <c:v>99.864299975043664</c:v>
                </c:pt>
                <c:pt idx="119">
                  <c:v>100.3415897179935</c:v>
                </c:pt>
                <c:pt idx="120">
                  <c:v>100.3415897179935</c:v>
                </c:pt>
                <c:pt idx="121">
                  <c:v>100.47417020214624</c:v>
                </c:pt>
                <c:pt idx="122">
                  <c:v>100.47417020214624</c:v>
                </c:pt>
                <c:pt idx="123">
                  <c:v>100.47417020214624</c:v>
                </c:pt>
                <c:pt idx="124">
                  <c:v>100.6410656351385</c:v>
                </c:pt>
                <c:pt idx="125">
                  <c:v>100.43049663089593</c:v>
                </c:pt>
                <c:pt idx="126">
                  <c:v>100.32131270277014</c:v>
                </c:pt>
                <c:pt idx="127">
                  <c:v>98.752183678562517</c:v>
                </c:pt>
                <c:pt idx="128">
                  <c:v>99.065697529323685</c:v>
                </c:pt>
                <c:pt idx="129">
                  <c:v>99.065697529323685</c:v>
                </c:pt>
                <c:pt idx="130">
                  <c:v>99.065697529323685</c:v>
                </c:pt>
                <c:pt idx="131">
                  <c:v>99.065697529323685</c:v>
                </c:pt>
                <c:pt idx="132">
                  <c:v>98.883204392313459</c:v>
                </c:pt>
                <c:pt idx="133">
                  <c:v>98.326366358871979</c:v>
                </c:pt>
                <c:pt idx="134">
                  <c:v>97.772647866234095</c:v>
                </c:pt>
                <c:pt idx="135">
                  <c:v>98.527576740703765</c:v>
                </c:pt>
                <c:pt idx="136">
                  <c:v>98.527576740703765</c:v>
                </c:pt>
                <c:pt idx="137">
                  <c:v>98.527576740703765</c:v>
                </c:pt>
                <c:pt idx="138">
                  <c:v>97.583915647616664</c:v>
                </c:pt>
                <c:pt idx="139">
                  <c:v>97.509046668330413</c:v>
                </c:pt>
                <c:pt idx="140">
                  <c:v>97.658784626902914</c:v>
                </c:pt>
                <c:pt idx="141">
                  <c:v>97.351509857748937</c:v>
                </c:pt>
                <c:pt idx="142">
                  <c:v>97.437297229847772</c:v>
                </c:pt>
                <c:pt idx="143">
                  <c:v>97.437297229847772</c:v>
                </c:pt>
                <c:pt idx="144">
                  <c:v>97.437297229847772</c:v>
                </c:pt>
                <c:pt idx="145">
                  <c:v>97.705577738956819</c:v>
                </c:pt>
                <c:pt idx="146">
                  <c:v>97.732093835787381</c:v>
                </c:pt>
                <c:pt idx="147">
                  <c:v>97.900549039181428</c:v>
                </c:pt>
                <c:pt idx="148">
                  <c:v>97.813201896680809</c:v>
                </c:pt>
                <c:pt idx="149">
                  <c:v>98.472984776640885</c:v>
                </c:pt>
                <c:pt idx="150">
                  <c:v>98.472984776640885</c:v>
                </c:pt>
                <c:pt idx="151">
                  <c:v>98.472984776640885</c:v>
                </c:pt>
                <c:pt idx="152">
                  <c:v>98.13607436985275</c:v>
                </c:pt>
                <c:pt idx="153">
                  <c:v>97.964499625655108</c:v>
                </c:pt>
                <c:pt idx="154">
                  <c:v>97.644746693286748</c:v>
                </c:pt>
                <c:pt idx="155">
                  <c:v>98.132954829049154</c:v>
                </c:pt>
                <c:pt idx="156">
                  <c:v>98.795857249812826</c:v>
                </c:pt>
                <c:pt idx="157">
                  <c:v>98.795857249812826</c:v>
                </c:pt>
                <c:pt idx="158">
                  <c:v>98.795857249812826</c:v>
                </c:pt>
                <c:pt idx="159">
                  <c:v>98.579049163963063</c:v>
                </c:pt>
                <c:pt idx="160">
                  <c:v>98.922198652358375</c:v>
                </c:pt>
                <c:pt idx="161">
                  <c:v>99.436922884951329</c:v>
                </c:pt>
                <c:pt idx="162">
                  <c:v>99.847142500623903</c:v>
                </c:pt>
                <c:pt idx="163">
                  <c:v>99.635013725979533</c:v>
                </c:pt>
                <c:pt idx="164">
                  <c:v>99.635013725979533</c:v>
                </c:pt>
                <c:pt idx="165">
                  <c:v>99.635013725979533</c:v>
                </c:pt>
                <c:pt idx="166">
                  <c:v>99.628774644372356</c:v>
                </c:pt>
                <c:pt idx="167">
                  <c:v>100.7408909408535</c:v>
                </c:pt>
                <c:pt idx="168">
                  <c:v>100.92182430746193</c:v>
                </c:pt>
                <c:pt idx="169">
                  <c:v>100.75804841527327</c:v>
                </c:pt>
                <c:pt idx="170">
                  <c:v>100.29479660593961</c:v>
                </c:pt>
                <c:pt idx="171">
                  <c:v>100.29479660593961</c:v>
                </c:pt>
                <c:pt idx="172">
                  <c:v>100.29479660593961</c:v>
                </c:pt>
                <c:pt idx="173">
                  <c:v>100.05771150486649</c:v>
                </c:pt>
                <c:pt idx="174">
                  <c:v>100.30103568754679</c:v>
                </c:pt>
                <c:pt idx="175">
                  <c:v>100.70657599201398</c:v>
                </c:pt>
                <c:pt idx="176">
                  <c:v>101.50673820813576</c:v>
                </c:pt>
                <c:pt idx="177">
                  <c:v>102.40984527077615</c:v>
                </c:pt>
                <c:pt idx="178">
                  <c:v>102.40984527077615</c:v>
                </c:pt>
                <c:pt idx="179">
                  <c:v>102.40984527077615</c:v>
                </c:pt>
                <c:pt idx="180">
                  <c:v>102.480034938857</c:v>
                </c:pt>
                <c:pt idx="181">
                  <c:v>102.43948090841029</c:v>
                </c:pt>
                <c:pt idx="182">
                  <c:v>103.6280259545795</c:v>
                </c:pt>
                <c:pt idx="183">
                  <c:v>103.96337659096579</c:v>
                </c:pt>
                <c:pt idx="184">
                  <c:v>103.01971549787872</c:v>
                </c:pt>
                <c:pt idx="185">
                  <c:v>103.01971549787872</c:v>
                </c:pt>
                <c:pt idx="186">
                  <c:v>103.01971549787872</c:v>
                </c:pt>
                <c:pt idx="187">
                  <c:v>102.72179935113553</c:v>
                </c:pt>
                <c:pt idx="188">
                  <c:v>101.29616920389317</c:v>
                </c:pt>
                <c:pt idx="189">
                  <c:v>101.53949338657348</c:v>
                </c:pt>
                <c:pt idx="190">
                  <c:v>101.83740953331667</c:v>
                </c:pt>
                <c:pt idx="191">
                  <c:v>102.19147741452457</c:v>
                </c:pt>
                <c:pt idx="192">
                  <c:v>102.19147741452457</c:v>
                </c:pt>
                <c:pt idx="193">
                  <c:v>102.19147741452457</c:v>
                </c:pt>
                <c:pt idx="194">
                  <c:v>102.96356376341403</c:v>
                </c:pt>
                <c:pt idx="195">
                  <c:v>103.1772523084602</c:v>
                </c:pt>
                <c:pt idx="196">
                  <c:v>103.43461442475667</c:v>
                </c:pt>
                <c:pt idx="197">
                  <c:v>103.42681557274769</c:v>
                </c:pt>
                <c:pt idx="198">
                  <c:v>103.59995008734715</c:v>
                </c:pt>
                <c:pt idx="199">
                  <c:v>103.59995008734715</c:v>
                </c:pt>
                <c:pt idx="200">
                  <c:v>103.59995008734715</c:v>
                </c:pt>
                <c:pt idx="201">
                  <c:v>104.78849513351636</c:v>
                </c:pt>
                <c:pt idx="202">
                  <c:v>105.03025954579486</c:v>
                </c:pt>
                <c:pt idx="203">
                  <c:v>105.20963314200149</c:v>
                </c:pt>
                <c:pt idx="204">
                  <c:v>104.87896181682058</c:v>
                </c:pt>
                <c:pt idx="205">
                  <c:v>105.12228599950089</c:v>
                </c:pt>
                <c:pt idx="206">
                  <c:v>105.12228599950089</c:v>
                </c:pt>
                <c:pt idx="207">
                  <c:v>105.12228599950089</c:v>
                </c:pt>
                <c:pt idx="208">
                  <c:v>105.70252058896929</c:v>
                </c:pt>
                <c:pt idx="209">
                  <c:v>105.78518842026455</c:v>
                </c:pt>
                <c:pt idx="210">
                  <c:v>106.72728974294982</c:v>
                </c:pt>
                <c:pt idx="211">
                  <c:v>104.95227102570502</c:v>
                </c:pt>
                <c:pt idx="212">
                  <c:v>103.86511105565262</c:v>
                </c:pt>
                <c:pt idx="213">
                  <c:v>103.86511105565262</c:v>
                </c:pt>
                <c:pt idx="214">
                  <c:v>103.86511105565262</c:v>
                </c:pt>
                <c:pt idx="215">
                  <c:v>105.46855502869977</c:v>
                </c:pt>
                <c:pt idx="216">
                  <c:v>104.79941352632891</c:v>
                </c:pt>
                <c:pt idx="217">
                  <c:v>104.54517095083604</c:v>
                </c:pt>
                <c:pt idx="218">
                  <c:v>105.22055153481409</c:v>
                </c:pt>
                <c:pt idx="219">
                  <c:v>105.04897679061642</c:v>
                </c:pt>
                <c:pt idx="220">
                  <c:v>105.04897679061642</c:v>
                </c:pt>
                <c:pt idx="221">
                  <c:v>105.04897679061642</c:v>
                </c:pt>
                <c:pt idx="222">
                  <c:v>105.17999750436738</c:v>
                </c:pt>
                <c:pt idx="223">
                  <c:v>104.00860993261793</c:v>
                </c:pt>
                <c:pt idx="224">
                  <c:v>104.90703768405292</c:v>
                </c:pt>
                <c:pt idx="225">
                  <c:v>104.95227102570502</c:v>
                </c:pt>
                <c:pt idx="226">
                  <c:v>104.38763414025456</c:v>
                </c:pt>
                <c:pt idx="227">
                  <c:v>104.38763414025456</c:v>
                </c:pt>
                <c:pt idx="228">
                  <c:v>104.38763414025456</c:v>
                </c:pt>
                <c:pt idx="229">
                  <c:v>104.27065136011979</c:v>
                </c:pt>
                <c:pt idx="230">
                  <c:v>105.0645744946344</c:v>
                </c:pt>
                <c:pt idx="231">
                  <c:v>105.10512852508111</c:v>
                </c:pt>
                <c:pt idx="232">
                  <c:v>105.10044921387573</c:v>
                </c:pt>
                <c:pt idx="233">
                  <c:v>105.18623658597454</c:v>
                </c:pt>
                <c:pt idx="234">
                  <c:v>105.18623658597454</c:v>
                </c:pt>
                <c:pt idx="235">
                  <c:v>105.18623658597454</c:v>
                </c:pt>
                <c:pt idx="236">
                  <c:v>106.92850012478164</c:v>
                </c:pt>
                <c:pt idx="237">
                  <c:v>106.59470925879711</c:v>
                </c:pt>
                <c:pt idx="238">
                  <c:v>106.52295982031445</c:v>
                </c:pt>
                <c:pt idx="239">
                  <c:v>106.67425754928874</c:v>
                </c:pt>
                <c:pt idx="240">
                  <c:v>107.3418392812578</c:v>
                </c:pt>
                <c:pt idx="241">
                  <c:v>107.3418392812578</c:v>
                </c:pt>
                <c:pt idx="242">
                  <c:v>107.3418392812578</c:v>
                </c:pt>
                <c:pt idx="243">
                  <c:v>108.66140504117794</c:v>
                </c:pt>
                <c:pt idx="244">
                  <c:v>108.18411529822811</c:v>
                </c:pt>
                <c:pt idx="245">
                  <c:v>107.82692787621662</c:v>
                </c:pt>
                <c:pt idx="246">
                  <c:v>107.38707262290991</c:v>
                </c:pt>
                <c:pt idx="247">
                  <c:v>107.99850262041426</c:v>
                </c:pt>
                <c:pt idx="248">
                  <c:v>107.99850262041426</c:v>
                </c:pt>
                <c:pt idx="249">
                  <c:v>107.99850262041426</c:v>
                </c:pt>
                <c:pt idx="250">
                  <c:v>109.45376840529076</c:v>
                </c:pt>
                <c:pt idx="251">
                  <c:v>109.50368105814823</c:v>
                </c:pt>
                <c:pt idx="252">
                  <c:v>109.23852008984278</c:v>
                </c:pt>
                <c:pt idx="253">
                  <c:v>109.7797604192663</c:v>
                </c:pt>
                <c:pt idx="254">
                  <c:v>110.75773646119291</c:v>
                </c:pt>
                <c:pt idx="255">
                  <c:v>110.75773646119291</c:v>
                </c:pt>
                <c:pt idx="256">
                  <c:v>110.75773646119291</c:v>
                </c:pt>
                <c:pt idx="257">
                  <c:v>111.10712503119542</c:v>
                </c:pt>
                <c:pt idx="258">
                  <c:v>110.48477664087845</c:v>
                </c:pt>
                <c:pt idx="259">
                  <c:v>110.08391564761666</c:v>
                </c:pt>
                <c:pt idx="260">
                  <c:v>109.42881207886199</c:v>
                </c:pt>
                <c:pt idx="261">
                  <c:v>109.01079361118042</c:v>
                </c:pt>
                <c:pt idx="262">
                  <c:v>109.01079361118042</c:v>
                </c:pt>
                <c:pt idx="263">
                  <c:v>109.01079361118042</c:v>
                </c:pt>
                <c:pt idx="264">
                  <c:v>108.79710506613426</c:v>
                </c:pt>
                <c:pt idx="265">
                  <c:v>109.68149488395309</c:v>
                </c:pt>
                <c:pt idx="266">
                  <c:v>109.44908909408535</c:v>
                </c:pt>
                <c:pt idx="267">
                  <c:v>108.68480159720488</c:v>
                </c:pt>
                <c:pt idx="268">
                  <c:v>108.41184177689043</c:v>
                </c:pt>
                <c:pt idx="269">
                  <c:v>108.41184177689043</c:v>
                </c:pt>
                <c:pt idx="270">
                  <c:v>108.41184177689043</c:v>
                </c:pt>
                <c:pt idx="271">
                  <c:v>108.822061392563</c:v>
                </c:pt>
                <c:pt idx="272">
                  <c:v>109.18548789618168</c:v>
                </c:pt>
                <c:pt idx="273">
                  <c:v>109.77664087846269</c:v>
                </c:pt>
                <c:pt idx="274">
                  <c:v>110.83884452208635</c:v>
                </c:pt>
                <c:pt idx="275">
                  <c:v>111.30677564262541</c:v>
                </c:pt>
                <c:pt idx="276">
                  <c:v>111.30677564262541</c:v>
                </c:pt>
                <c:pt idx="277">
                  <c:v>111.30677564262541</c:v>
                </c:pt>
                <c:pt idx="278">
                  <c:v>111.08060893436486</c:v>
                </c:pt>
                <c:pt idx="279">
                  <c:v>111.35824806588471</c:v>
                </c:pt>
                <c:pt idx="280">
                  <c:v>111.39256301472422</c:v>
                </c:pt>
                <c:pt idx="281">
                  <c:v>110.93866982780133</c:v>
                </c:pt>
                <c:pt idx="282">
                  <c:v>110.50193411529823</c:v>
                </c:pt>
                <c:pt idx="283">
                  <c:v>110.50193411529823</c:v>
                </c:pt>
                <c:pt idx="284">
                  <c:v>110.50193411529823</c:v>
                </c:pt>
                <c:pt idx="285">
                  <c:v>109.99656850511606</c:v>
                </c:pt>
                <c:pt idx="286">
                  <c:v>110.30696281507362</c:v>
                </c:pt>
                <c:pt idx="287">
                  <c:v>110.41302720239581</c:v>
                </c:pt>
                <c:pt idx="288">
                  <c:v>110.87783878213126</c:v>
                </c:pt>
                <c:pt idx="289">
                  <c:v>110.78893186922885</c:v>
                </c:pt>
                <c:pt idx="290">
                  <c:v>110.78893186922885</c:v>
                </c:pt>
                <c:pt idx="291">
                  <c:v>110.78893186922885</c:v>
                </c:pt>
                <c:pt idx="292">
                  <c:v>110.78893186922885</c:v>
                </c:pt>
                <c:pt idx="293">
                  <c:v>111.72947342151235</c:v>
                </c:pt>
                <c:pt idx="294">
                  <c:v>112.1474918891939</c:v>
                </c:pt>
                <c:pt idx="295">
                  <c:v>112.85562765160968</c:v>
                </c:pt>
                <c:pt idx="296">
                  <c:v>112.5499126528575</c:v>
                </c:pt>
                <c:pt idx="297">
                  <c:v>112.5499126528575</c:v>
                </c:pt>
                <c:pt idx="298">
                  <c:v>112.5499126528575</c:v>
                </c:pt>
                <c:pt idx="299">
                  <c:v>112.88526328924382</c:v>
                </c:pt>
                <c:pt idx="300">
                  <c:v>113.47173696031945</c:v>
                </c:pt>
                <c:pt idx="301">
                  <c:v>113.69166458697279</c:v>
                </c:pt>
                <c:pt idx="302">
                  <c:v>112.07730222111306</c:v>
                </c:pt>
                <c:pt idx="303">
                  <c:v>111.42687796356377</c:v>
                </c:pt>
                <c:pt idx="304">
                  <c:v>111.42687796356377</c:v>
                </c:pt>
                <c:pt idx="305">
                  <c:v>111.42687796356377</c:v>
                </c:pt>
                <c:pt idx="306">
                  <c:v>111.49082855003742</c:v>
                </c:pt>
                <c:pt idx="307">
                  <c:v>110.34907661592214</c:v>
                </c:pt>
                <c:pt idx="308">
                  <c:v>110.05739955078613</c:v>
                </c:pt>
                <c:pt idx="309">
                  <c:v>110.25549039181432</c:v>
                </c:pt>
                <c:pt idx="310">
                  <c:v>110.48165710007487</c:v>
                </c:pt>
                <c:pt idx="311">
                  <c:v>110.48165710007487</c:v>
                </c:pt>
                <c:pt idx="312">
                  <c:v>110.48165710007487</c:v>
                </c:pt>
                <c:pt idx="313">
                  <c:v>110.74525829797854</c:v>
                </c:pt>
                <c:pt idx="314">
                  <c:v>111.45339406039429</c:v>
                </c:pt>
                <c:pt idx="315">
                  <c:v>110.89031694534566</c:v>
                </c:pt>
                <c:pt idx="316">
                  <c:v>110.69690541552283</c:v>
                </c:pt>
                <c:pt idx="317">
                  <c:v>109.97317194908909</c:v>
                </c:pt>
                <c:pt idx="318">
                  <c:v>109.97317194908909</c:v>
                </c:pt>
                <c:pt idx="319">
                  <c:v>109.97317194908909</c:v>
                </c:pt>
                <c:pt idx="320">
                  <c:v>110.04960069877714</c:v>
                </c:pt>
                <c:pt idx="321">
                  <c:v>109.33834539555778</c:v>
                </c:pt>
                <c:pt idx="322">
                  <c:v>109.58166957823808</c:v>
                </c:pt>
                <c:pt idx="323">
                  <c:v>110.05116046917894</c:v>
                </c:pt>
                <c:pt idx="324">
                  <c:v>108.99051659595706</c:v>
                </c:pt>
                <c:pt idx="325">
                  <c:v>108.99051659595706</c:v>
                </c:pt>
                <c:pt idx="326">
                  <c:v>108.99051659595706</c:v>
                </c:pt>
                <c:pt idx="327">
                  <c:v>110.03400299475918</c:v>
                </c:pt>
                <c:pt idx="328">
                  <c:v>110.08235587721487</c:v>
                </c:pt>
                <c:pt idx="329">
                  <c:v>109.9747317194909</c:v>
                </c:pt>
                <c:pt idx="330">
                  <c:v>110.42706513601199</c:v>
                </c:pt>
                <c:pt idx="331">
                  <c:v>110.57680309458446</c:v>
                </c:pt>
                <c:pt idx="332">
                  <c:v>110.57680309458446</c:v>
                </c:pt>
                <c:pt idx="333">
                  <c:v>110.57680309458446</c:v>
                </c:pt>
                <c:pt idx="334">
                  <c:v>109.70021212877464</c:v>
                </c:pt>
                <c:pt idx="335">
                  <c:v>110.37403294235088</c:v>
                </c:pt>
                <c:pt idx="336">
                  <c:v>110.30228350386821</c:v>
                </c:pt>
                <c:pt idx="337">
                  <c:v>109.6736960319441</c:v>
                </c:pt>
                <c:pt idx="338">
                  <c:v>109.51771899176441</c:v>
                </c:pt>
                <c:pt idx="339">
                  <c:v>109.51771899176441</c:v>
                </c:pt>
                <c:pt idx="340">
                  <c:v>109.51771899176441</c:v>
                </c:pt>
                <c:pt idx="341">
                  <c:v>108.67388320439231</c:v>
                </c:pt>
                <c:pt idx="342">
                  <c:v>108.96400049912654</c:v>
                </c:pt>
                <c:pt idx="343">
                  <c:v>108.51010731220363</c:v>
                </c:pt>
                <c:pt idx="344">
                  <c:v>108.89225106064386</c:v>
                </c:pt>
                <c:pt idx="345">
                  <c:v>109.29467182430747</c:v>
                </c:pt>
                <c:pt idx="346">
                  <c:v>109.29467182430747</c:v>
                </c:pt>
                <c:pt idx="347">
                  <c:v>109.29467182430747</c:v>
                </c:pt>
                <c:pt idx="348">
                  <c:v>109.0809832792613</c:v>
                </c:pt>
                <c:pt idx="349">
                  <c:v>109.09346144247567</c:v>
                </c:pt>
                <c:pt idx="350">
                  <c:v>108.9733591215373</c:v>
                </c:pt>
                <c:pt idx="351">
                  <c:v>109.26503618667331</c:v>
                </c:pt>
                <c:pt idx="352">
                  <c:v>109.8780259545795</c:v>
                </c:pt>
                <c:pt idx="353">
                  <c:v>109.8780259545795</c:v>
                </c:pt>
                <c:pt idx="354">
                  <c:v>109.8780259545795</c:v>
                </c:pt>
                <c:pt idx="355">
                  <c:v>109.5629523334165</c:v>
                </c:pt>
                <c:pt idx="356">
                  <c:v>109.67057649114051</c:v>
                </c:pt>
                <c:pt idx="357">
                  <c:v>109.98565011230346</c:v>
                </c:pt>
                <c:pt idx="358">
                  <c:v>109.98565011230346</c:v>
                </c:pt>
                <c:pt idx="359">
                  <c:v>110.119790366858</c:v>
                </c:pt>
                <c:pt idx="360">
                  <c:v>110.119790366858</c:v>
                </c:pt>
                <c:pt idx="361">
                  <c:v>110.119790366858</c:v>
                </c:pt>
                <c:pt idx="362">
                  <c:v>110.6126778138258</c:v>
                </c:pt>
                <c:pt idx="363">
                  <c:v>110.74681806838034</c:v>
                </c:pt>
                <c:pt idx="364">
                  <c:v>111.32081357624158</c:v>
                </c:pt>
                <c:pt idx="365">
                  <c:v>111.32081357624158</c:v>
                </c:pt>
                <c:pt idx="366">
                  <c:v>111.13988020963315</c:v>
                </c:pt>
                <c:pt idx="367">
                  <c:v>111.13988020963315</c:v>
                </c:pt>
                <c:pt idx="368">
                  <c:v>111.13988020963315</c:v>
                </c:pt>
                <c:pt idx="369">
                  <c:v>111.19447217369603</c:v>
                </c:pt>
                <c:pt idx="370">
                  <c:v>111.39568255552781</c:v>
                </c:pt>
                <c:pt idx="371">
                  <c:v>111.76846768155728</c:v>
                </c:pt>
                <c:pt idx="372">
                  <c:v>111.93848265535313</c:v>
                </c:pt>
                <c:pt idx="373">
                  <c:v>112.03518842026455</c:v>
                </c:pt>
                <c:pt idx="374">
                  <c:v>112.03518842026455</c:v>
                </c:pt>
                <c:pt idx="375">
                  <c:v>112.03518842026455</c:v>
                </c:pt>
                <c:pt idx="376">
                  <c:v>112.51247816321437</c:v>
                </c:pt>
                <c:pt idx="377">
                  <c:v>113.06463688545045</c:v>
                </c:pt>
                <c:pt idx="378">
                  <c:v>113.06307711504866</c:v>
                </c:pt>
                <c:pt idx="379">
                  <c:v>112.41889193910657</c:v>
                </c:pt>
                <c:pt idx="380">
                  <c:v>112.52495632642874</c:v>
                </c:pt>
                <c:pt idx="381">
                  <c:v>112.52495632642874</c:v>
                </c:pt>
                <c:pt idx="382">
                  <c:v>112.52495632642874</c:v>
                </c:pt>
                <c:pt idx="383">
                  <c:v>112.20364362365859</c:v>
                </c:pt>
                <c:pt idx="384">
                  <c:v>113.09895183428999</c:v>
                </c:pt>
                <c:pt idx="385">
                  <c:v>112.42045170950836</c:v>
                </c:pt>
                <c:pt idx="386">
                  <c:v>112.25043673571248</c:v>
                </c:pt>
                <c:pt idx="387">
                  <c:v>112.29567007736463</c:v>
                </c:pt>
                <c:pt idx="388">
                  <c:v>112.29567007736463</c:v>
                </c:pt>
                <c:pt idx="389">
                  <c:v>112.29567007736463</c:v>
                </c:pt>
                <c:pt idx="390">
                  <c:v>111.96187921138008</c:v>
                </c:pt>
                <c:pt idx="391">
                  <c:v>112.03206887946094</c:v>
                </c:pt>
                <c:pt idx="392">
                  <c:v>111.91040678812078</c:v>
                </c:pt>
                <c:pt idx="393">
                  <c:v>111.98839530821063</c:v>
                </c:pt>
                <c:pt idx="394">
                  <c:v>112.0601447466933</c:v>
                </c:pt>
                <c:pt idx="395">
                  <c:v>112.0601447466933</c:v>
                </c:pt>
                <c:pt idx="396">
                  <c:v>112.0601447466933</c:v>
                </c:pt>
                <c:pt idx="397">
                  <c:v>111.70607686548539</c:v>
                </c:pt>
                <c:pt idx="398">
                  <c:v>111.65928375343151</c:v>
                </c:pt>
                <c:pt idx="399">
                  <c:v>111.72323433990516</c:v>
                </c:pt>
                <c:pt idx="400">
                  <c:v>111.44091589717995</c:v>
                </c:pt>
                <c:pt idx="401">
                  <c:v>111.32081357624158</c:v>
                </c:pt>
                <c:pt idx="402">
                  <c:v>111.32081357624158</c:v>
                </c:pt>
                <c:pt idx="403">
                  <c:v>111.32081357624158</c:v>
                </c:pt>
                <c:pt idx="404">
                  <c:v>111.93068380334414</c:v>
                </c:pt>
                <c:pt idx="405">
                  <c:v>112.04610681307712</c:v>
                </c:pt>
                <c:pt idx="406">
                  <c:v>112.0071125530322</c:v>
                </c:pt>
                <c:pt idx="407">
                  <c:v>110.65167207387073</c:v>
                </c:pt>
                <c:pt idx="408">
                  <c:v>109.8671075617669</c:v>
                </c:pt>
                <c:pt idx="409">
                  <c:v>109.8671075617669</c:v>
                </c:pt>
                <c:pt idx="410">
                  <c:v>109.8671075617669</c:v>
                </c:pt>
                <c:pt idx="411">
                  <c:v>110.12602944846519</c:v>
                </c:pt>
                <c:pt idx="412">
                  <c:v>110.12602944846519</c:v>
                </c:pt>
                <c:pt idx="413">
                  <c:v>110.12602944846519</c:v>
                </c:pt>
                <c:pt idx="414">
                  <c:v>109.89518342899925</c:v>
                </c:pt>
                <c:pt idx="415">
                  <c:v>110.1307087596706</c:v>
                </c:pt>
                <c:pt idx="416">
                  <c:v>110.1307087596706</c:v>
                </c:pt>
                <c:pt idx="417">
                  <c:v>110.1307087596706</c:v>
                </c:pt>
                <c:pt idx="418">
                  <c:v>110.62203643623658</c:v>
                </c:pt>
                <c:pt idx="419">
                  <c:v>111.23346643374094</c:v>
                </c:pt>
                <c:pt idx="420">
                  <c:v>111.26934115298228</c:v>
                </c:pt>
                <c:pt idx="421">
                  <c:v>110.99482156226603</c:v>
                </c:pt>
                <c:pt idx="422">
                  <c:v>109.98253057149986</c:v>
                </c:pt>
                <c:pt idx="423">
                  <c:v>109.98253057149986</c:v>
                </c:pt>
                <c:pt idx="424">
                  <c:v>109.98253057149986</c:v>
                </c:pt>
                <c:pt idx="425">
                  <c:v>109.11217868729723</c:v>
                </c:pt>
                <c:pt idx="426">
                  <c:v>108.31357624157722</c:v>
                </c:pt>
                <c:pt idx="427">
                  <c:v>106.68829548290491</c:v>
                </c:pt>
                <c:pt idx="428">
                  <c:v>106.80527826303967</c:v>
                </c:pt>
                <c:pt idx="429">
                  <c:v>106.71169203893187</c:v>
                </c:pt>
                <c:pt idx="430">
                  <c:v>106.71169203893187</c:v>
                </c:pt>
                <c:pt idx="431">
                  <c:v>106.71169203893187</c:v>
                </c:pt>
                <c:pt idx="432">
                  <c:v>103.81675817319692</c:v>
                </c:pt>
                <c:pt idx="433">
                  <c:v>104.93043424007986</c:v>
                </c:pt>
                <c:pt idx="434">
                  <c:v>104.98190666333915</c:v>
                </c:pt>
                <c:pt idx="435">
                  <c:v>104.80409283753431</c:v>
                </c:pt>
                <c:pt idx="436">
                  <c:v>104.42194908909408</c:v>
                </c:pt>
                <c:pt idx="437">
                  <c:v>104.42194908909408</c:v>
                </c:pt>
                <c:pt idx="438">
                  <c:v>104.42194908909408</c:v>
                </c:pt>
                <c:pt idx="439">
                  <c:v>104.83060893436486</c:v>
                </c:pt>
                <c:pt idx="440">
                  <c:v>106.03007237334663</c:v>
                </c:pt>
                <c:pt idx="441">
                  <c:v>106.70545295732468</c:v>
                </c:pt>
                <c:pt idx="442">
                  <c:v>105.92400798602446</c:v>
                </c:pt>
                <c:pt idx="443">
                  <c:v>106.26247816321437</c:v>
                </c:pt>
                <c:pt idx="444">
                  <c:v>106.26247816321437</c:v>
                </c:pt>
                <c:pt idx="445">
                  <c:v>106.26247816321437</c:v>
                </c:pt>
                <c:pt idx="446">
                  <c:v>103.65610182181182</c:v>
                </c:pt>
                <c:pt idx="447">
                  <c:v>103.60618916895432</c:v>
                </c:pt>
                <c:pt idx="448">
                  <c:v>103.74500873471423</c:v>
                </c:pt>
                <c:pt idx="449">
                  <c:v>102.72491889193911</c:v>
                </c:pt>
                <c:pt idx="450">
                  <c:v>102.91521088095831</c:v>
                </c:pt>
                <c:pt idx="451">
                  <c:v>102.91521088095831</c:v>
                </c:pt>
                <c:pt idx="452">
                  <c:v>102.91521088095831</c:v>
                </c:pt>
                <c:pt idx="453">
                  <c:v>102.89337409533317</c:v>
                </c:pt>
                <c:pt idx="454">
                  <c:v>102.42232343399051</c:v>
                </c:pt>
                <c:pt idx="455">
                  <c:v>103.71849263788371</c:v>
                </c:pt>
                <c:pt idx="456">
                  <c:v>103.38782131270277</c:v>
                </c:pt>
                <c:pt idx="457">
                  <c:v>103.38782131270277</c:v>
                </c:pt>
                <c:pt idx="458">
                  <c:v>103.38782131270277</c:v>
                </c:pt>
                <c:pt idx="459">
                  <c:v>103.38782131270277</c:v>
                </c:pt>
                <c:pt idx="460">
                  <c:v>103.78556276516096</c:v>
                </c:pt>
                <c:pt idx="461">
                  <c:v>103.50792363364111</c:v>
                </c:pt>
                <c:pt idx="462">
                  <c:v>105.90529074120289</c:v>
                </c:pt>
                <c:pt idx="463">
                  <c:v>105.1628400299476</c:v>
                </c:pt>
                <c:pt idx="464">
                  <c:v>105.66508609932619</c:v>
                </c:pt>
                <c:pt idx="465">
                  <c:v>105.66508609932619</c:v>
                </c:pt>
                <c:pt idx="466">
                  <c:v>105.66508609932619</c:v>
                </c:pt>
                <c:pt idx="467">
                  <c:v>105.8974918891939</c:v>
                </c:pt>
                <c:pt idx="468">
                  <c:v>106.69765410531569</c:v>
                </c:pt>
                <c:pt idx="469">
                  <c:v>107.26229099076615</c:v>
                </c:pt>
                <c:pt idx="470">
                  <c:v>107.89399800349389</c:v>
                </c:pt>
                <c:pt idx="471">
                  <c:v>107.64443473920639</c:v>
                </c:pt>
                <c:pt idx="472">
                  <c:v>107.64443473920639</c:v>
                </c:pt>
                <c:pt idx="473">
                  <c:v>107.64443473920639</c:v>
                </c:pt>
                <c:pt idx="474">
                  <c:v>107.71306463688546</c:v>
                </c:pt>
                <c:pt idx="475">
                  <c:v>108.6801222859995</c:v>
                </c:pt>
                <c:pt idx="476">
                  <c:v>108.51790616421265</c:v>
                </c:pt>
                <c:pt idx="477">
                  <c:v>108.32449463438982</c:v>
                </c:pt>
                <c:pt idx="478">
                  <c:v>108.21063139505864</c:v>
                </c:pt>
                <c:pt idx="479">
                  <c:v>108.21063139505864</c:v>
                </c:pt>
                <c:pt idx="480">
                  <c:v>108.21063139505864</c:v>
                </c:pt>
                <c:pt idx="481">
                  <c:v>107.41514849014224</c:v>
                </c:pt>
                <c:pt idx="482">
                  <c:v>106.73976790616422</c:v>
                </c:pt>
                <c:pt idx="483">
                  <c:v>106.23596206638383</c:v>
                </c:pt>
                <c:pt idx="484">
                  <c:v>105.66196655852258</c:v>
                </c:pt>
                <c:pt idx="485">
                  <c:v>105.66196655852258</c:v>
                </c:pt>
                <c:pt idx="486">
                  <c:v>105.66196655852258</c:v>
                </c:pt>
                <c:pt idx="487">
                  <c:v>105.66196655852258</c:v>
                </c:pt>
                <c:pt idx="488">
                  <c:v>105.95676316446219</c:v>
                </c:pt>
              </c:numCache>
            </c:numRef>
          </c:val>
          <c:smooth val="0"/>
          <c:extLst>
            <c:ext xmlns:c16="http://schemas.microsoft.com/office/drawing/2014/chart" uri="{C3380CC4-5D6E-409C-BE32-E72D297353CC}">
              <c16:uniqueId val="{00000001-FD23-4714-9A40-2374CE713F5E}"/>
            </c:ext>
          </c:extLst>
        </c:ser>
        <c:dLbls>
          <c:showLegendKey val="0"/>
          <c:showVal val="0"/>
          <c:showCatName val="0"/>
          <c:showSerName val="0"/>
          <c:showPercent val="0"/>
          <c:showBubbleSize val="0"/>
        </c:dLbls>
        <c:marker val="1"/>
        <c:smooth val="0"/>
        <c:axId val="949739695"/>
        <c:axId val="949738735"/>
      </c:lineChart>
      <c:lineChart>
        <c:grouping val="standard"/>
        <c:varyColors val="0"/>
        <c:ser>
          <c:idx val="3"/>
          <c:order val="3"/>
          <c:tx>
            <c:strRef>
              <c:f>'SG Market Indices'!$W$11</c:f>
              <c:strCache>
                <c:ptCount val="1"/>
                <c:pt idx="0">
                  <c:v>US Fed Funds Target Rate</c:v>
                </c:pt>
              </c:strCache>
            </c:strRef>
          </c:tx>
          <c:spPr>
            <a:ln w="15875" cap="rnd">
              <a:solidFill>
                <a:schemeClr val="tx1">
                  <a:lumMod val="95000"/>
                  <a:lumOff val="5000"/>
                </a:schemeClr>
              </a:solidFill>
              <a:prstDash val="sysDash"/>
              <a:round/>
            </a:ln>
            <a:effectLst/>
          </c:spPr>
          <c:marker>
            <c:symbol val="none"/>
          </c:marker>
          <c:cat>
            <c:numRef>
              <c:f>'SG Market Indices'!$S$12:$S$500</c:f>
              <c:numCache>
                <c:formatCode>dd\ mmm\ 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'SG Market Indices'!$W$12:$W$500</c:f>
              <c:numCache>
                <c:formatCode>General</c:formatCode>
                <c:ptCount val="489"/>
                <c:pt idx="0">
                  <c:v>4.33</c:v>
                </c:pt>
                <c:pt idx="1">
                  <c:v>4.33</c:v>
                </c:pt>
                <c:pt idx="2">
                  <c:v>4.33</c:v>
                </c:pt>
                <c:pt idx="3">
                  <c:v>4.33</c:v>
                </c:pt>
                <c:pt idx="4">
                  <c:v>4.33</c:v>
                </c:pt>
                <c:pt idx="5">
                  <c:v>4.33</c:v>
                </c:pt>
                <c:pt idx="6">
                  <c:v>4.33</c:v>
                </c:pt>
                <c:pt idx="7">
                  <c:v>4.33</c:v>
                </c:pt>
                <c:pt idx="8">
                  <c:v>4.33</c:v>
                </c:pt>
                <c:pt idx="9">
                  <c:v>4.33</c:v>
                </c:pt>
                <c:pt idx="10">
                  <c:v>4.33</c:v>
                </c:pt>
                <c:pt idx="11">
                  <c:v>4.33</c:v>
                </c:pt>
                <c:pt idx="12">
                  <c:v>4.33</c:v>
                </c:pt>
                <c:pt idx="13">
                  <c:v>4.33</c:v>
                </c:pt>
                <c:pt idx="14">
                  <c:v>4.33</c:v>
                </c:pt>
                <c:pt idx="15">
                  <c:v>4.33</c:v>
                </c:pt>
                <c:pt idx="16">
                  <c:v>4.33</c:v>
                </c:pt>
                <c:pt idx="17">
                  <c:v>4.33</c:v>
                </c:pt>
                <c:pt idx="18">
                  <c:v>4.33</c:v>
                </c:pt>
                <c:pt idx="19">
                  <c:v>4.33</c:v>
                </c:pt>
                <c:pt idx="20">
                  <c:v>4.33</c:v>
                </c:pt>
                <c:pt idx="21">
                  <c:v>4.33</c:v>
                </c:pt>
                <c:pt idx="22">
                  <c:v>4.33</c:v>
                </c:pt>
                <c:pt idx="23">
                  <c:v>4.33</c:v>
                </c:pt>
                <c:pt idx="24">
                  <c:v>4.33</c:v>
                </c:pt>
                <c:pt idx="25">
                  <c:v>4.33</c:v>
                </c:pt>
                <c:pt idx="26">
                  <c:v>4.33</c:v>
                </c:pt>
                <c:pt idx="27">
                  <c:v>4.33</c:v>
                </c:pt>
                <c:pt idx="28">
                  <c:v>4.33</c:v>
                </c:pt>
                <c:pt idx="29">
                  <c:v>4.33</c:v>
                </c:pt>
                <c:pt idx="30">
                  <c:v>4.33</c:v>
                </c:pt>
                <c:pt idx="31">
                  <c:v>4.33</c:v>
                </c:pt>
                <c:pt idx="32">
                  <c:v>4.33</c:v>
                </c:pt>
                <c:pt idx="33">
                  <c:v>4.33</c:v>
                </c:pt>
                <c:pt idx="34">
                  <c:v>4.33</c:v>
                </c:pt>
                <c:pt idx="35">
                  <c:v>4.33</c:v>
                </c:pt>
                <c:pt idx="36">
                  <c:v>4.33</c:v>
                </c:pt>
                <c:pt idx="37">
                  <c:v>4.33</c:v>
                </c:pt>
                <c:pt idx="38">
                  <c:v>4.33</c:v>
                </c:pt>
                <c:pt idx="39">
                  <c:v>4.33</c:v>
                </c:pt>
                <c:pt idx="40">
                  <c:v>4.33</c:v>
                </c:pt>
                <c:pt idx="41">
                  <c:v>4.33</c:v>
                </c:pt>
                <c:pt idx="42">
                  <c:v>4.33</c:v>
                </c:pt>
                <c:pt idx="43">
                  <c:v>4.33</c:v>
                </c:pt>
                <c:pt idx="44">
                  <c:v>4.33</c:v>
                </c:pt>
                <c:pt idx="45">
                  <c:v>4.33</c:v>
                </c:pt>
                <c:pt idx="46">
                  <c:v>4.33</c:v>
                </c:pt>
                <c:pt idx="47">
                  <c:v>4.33</c:v>
                </c:pt>
                <c:pt idx="48">
                  <c:v>4.33</c:v>
                </c:pt>
                <c:pt idx="49">
                  <c:v>4.33</c:v>
                </c:pt>
                <c:pt idx="50">
                  <c:v>4.33</c:v>
                </c:pt>
                <c:pt idx="51">
                  <c:v>4.33</c:v>
                </c:pt>
                <c:pt idx="52">
                  <c:v>4.33</c:v>
                </c:pt>
                <c:pt idx="53">
                  <c:v>4.33</c:v>
                </c:pt>
                <c:pt idx="54">
                  <c:v>4.33</c:v>
                </c:pt>
                <c:pt idx="55">
                  <c:v>4.33</c:v>
                </c:pt>
                <c:pt idx="56">
                  <c:v>4.33</c:v>
                </c:pt>
                <c:pt idx="57">
                  <c:v>4.33</c:v>
                </c:pt>
                <c:pt idx="58">
                  <c:v>4.33</c:v>
                </c:pt>
                <c:pt idx="59">
                  <c:v>4.33</c:v>
                </c:pt>
                <c:pt idx="60">
                  <c:v>4.33</c:v>
                </c:pt>
                <c:pt idx="61">
                  <c:v>4.33</c:v>
                </c:pt>
                <c:pt idx="62">
                  <c:v>4.33</c:v>
                </c:pt>
                <c:pt idx="63">
                  <c:v>4.33</c:v>
                </c:pt>
                <c:pt idx="64">
                  <c:v>4.33</c:v>
                </c:pt>
                <c:pt idx="65">
                  <c:v>4.33</c:v>
                </c:pt>
                <c:pt idx="66">
                  <c:v>4.33</c:v>
                </c:pt>
                <c:pt idx="67">
                  <c:v>4.33</c:v>
                </c:pt>
                <c:pt idx="68">
                  <c:v>4.33</c:v>
                </c:pt>
                <c:pt idx="69">
                  <c:v>4.33</c:v>
                </c:pt>
                <c:pt idx="70">
                  <c:v>4.33</c:v>
                </c:pt>
                <c:pt idx="71">
                  <c:v>4.33</c:v>
                </c:pt>
                <c:pt idx="72">
                  <c:v>4.33</c:v>
                </c:pt>
                <c:pt idx="73">
                  <c:v>4.33</c:v>
                </c:pt>
                <c:pt idx="74">
                  <c:v>4.33</c:v>
                </c:pt>
                <c:pt idx="75">
                  <c:v>4.33</c:v>
                </c:pt>
                <c:pt idx="76">
                  <c:v>4.33</c:v>
                </c:pt>
                <c:pt idx="77">
                  <c:v>4.33</c:v>
                </c:pt>
                <c:pt idx="78">
                  <c:v>4.33</c:v>
                </c:pt>
                <c:pt idx="79">
                  <c:v>4.33</c:v>
                </c:pt>
                <c:pt idx="80">
                  <c:v>4.33</c:v>
                </c:pt>
                <c:pt idx="81">
                  <c:v>4.33</c:v>
                </c:pt>
                <c:pt idx="82">
                  <c:v>4.33</c:v>
                </c:pt>
                <c:pt idx="83">
                  <c:v>4.33</c:v>
                </c:pt>
                <c:pt idx="84">
                  <c:v>4.33</c:v>
                </c:pt>
                <c:pt idx="85">
                  <c:v>4.33</c:v>
                </c:pt>
                <c:pt idx="86">
                  <c:v>4.33</c:v>
                </c:pt>
                <c:pt idx="87">
                  <c:v>4.33</c:v>
                </c:pt>
                <c:pt idx="88">
                  <c:v>4.33</c:v>
                </c:pt>
                <c:pt idx="89">
                  <c:v>4.33</c:v>
                </c:pt>
                <c:pt idx="90">
                  <c:v>4.33</c:v>
                </c:pt>
                <c:pt idx="91">
                  <c:v>4.33</c:v>
                </c:pt>
                <c:pt idx="92">
                  <c:v>4.33</c:v>
                </c:pt>
                <c:pt idx="93">
                  <c:v>4.33</c:v>
                </c:pt>
                <c:pt idx="94">
                  <c:v>4.33</c:v>
                </c:pt>
                <c:pt idx="95">
                  <c:v>4.33</c:v>
                </c:pt>
                <c:pt idx="96">
                  <c:v>4.33</c:v>
                </c:pt>
                <c:pt idx="97">
                  <c:v>4.33</c:v>
                </c:pt>
                <c:pt idx="98">
                  <c:v>4.33</c:v>
                </c:pt>
                <c:pt idx="99">
                  <c:v>4.33</c:v>
                </c:pt>
                <c:pt idx="100">
                  <c:v>4.33</c:v>
                </c:pt>
                <c:pt idx="101">
                  <c:v>4.33</c:v>
                </c:pt>
                <c:pt idx="102">
                  <c:v>4.33</c:v>
                </c:pt>
                <c:pt idx="103">
                  <c:v>4.33</c:v>
                </c:pt>
                <c:pt idx="104">
                  <c:v>4.33</c:v>
                </c:pt>
                <c:pt idx="105">
                  <c:v>4.33</c:v>
                </c:pt>
                <c:pt idx="106">
                  <c:v>4.33</c:v>
                </c:pt>
                <c:pt idx="107">
                  <c:v>4.33</c:v>
                </c:pt>
                <c:pt idx="108">
                  <c:v>4.33</c:v>
                </c:pt>
                <c:pt idx="109">
                  <c:v>4.33</c:v>
                </c:pt>
                <c:pt idx="110">
                  <c:v>4.33</c:v>
                </c:pt>
                <c:pt idx="111">
                  <c:v>4.33</c:v>
                </c:pt>
                <c:pt idx="112">
                  <c:v>4.33</c:v>
                </c:pt>
                <c:pt idx="113">
                  <c:v>4.33</c:v>
                </c:pt>
                <c:pt idx="114">
                  <c:v>4.33</c:v>
                </c:pt>
                <c:pt idx="115">
                  <c:v>4.33</c:v>
                </c:pt>
                <c:pt idx="116">
                  <c:v>4.33</c:v>
                </c:pt>
                <c:pt idx="117">
                  <c:v>4.33</c:v>
                </c:pt>
                <c:pt idx="118">
                  <c:v>4.33</c:v>
                </c:pt>
                <c:pt idx="119">
                  <c:v>4.33</c:v>
                </c:pt>
                <c:pt idx="120">
                  <c:v>4.33</c:v>
                </c:pt>
                <c:pt idx="121">
                  <c:v>4.33</c:v>
                </c:pt>
                <c:pt idx="122">
                  <c:v>4.33</c:v>
                </c:pt>
                <c:pt idx="123">
                  <c:v>4.33</c:v>
                </c:pt>
                <c:pt idx="124">
                  <c:v>4.33</c:v>
                </c:pt>
                <c:pt idx="125">
                  <c:v>4.33</c:v>
                </c:pt>
                <c:pt idx="126">
                  <c:v>4.33</c:v>
                </c:pt>
                <c:pt idx="127">
                  <c:v>4.33</c:v>
                </c:pt>
                <c:pt idx="128">
                  <c:v>4.33</c:v>
                </c:pt>
                <c:pt idx="129">
                  <c:v>4.33</c:v>
                </c:pt>
                <c:pt idx="130">
                  <c:v>4.33</c:v>
                </c:pt>
                <c:pt idx="131">
                  <c:v>4.33</c:v>
                </c:pt>
                <c:pt idx="132">
                  <c:v>4.33</c:v>
                </c:pt>
                <c:pt idx="133">
                  <c:v>4.33</c:v>
                </c:pt>
                <c:pt idx="134">
                  <c:v>4.33</c:v>
                </c:pt>
                <c:pt idx="135">
                  <c:v>4.33</c:v>
                </c:pt>
                <c:pt idx="136">
                  <c:v>4.33</c:v>
                </c:pt>
                <c:pt idx="137">
                  <c:v>4.33</c:v>
                </c:pt>
                <c:pt idx="138">
                  <c:v>4.33</c:v>
                </c:pt>
                <c:pt idx="139">
                  <c:v>4.33</c:v>
                </c:pt>
                <c:pt idx="140">
                  <c:v>4.33</c:v>
                </c:pt>
                <c:pt idx="141">
                  <c:v>4.33</c:v>
                </c:pt>
                <c:pt idx="142">
                  <c:v>4.33</c:v>
                </c:pt>
                <c:pt idx="143">
                  <c:v>4.33</c:v>
                </c:pt>
                <c:pt idx="144">
                  <c:v>4.33</c:v>
                </c:pt>
                <c:pt idx="145">
                  <c:v>4.33</c:v>
                </c:pt>
                <c:pt idx="146">
                  <c:v>4.33</c:v>
                </c:pt>
                <c:pt idx="147">
                  <c:v>4.33</c:v>
                </c:pt>
                <c:pt idx="148">
                  <c:v>4.33</c:v>
                </c:pt>
                <c:pt idx="149">
                  <c:v>4.33</c:v>
                </c:pt>
                <c:pt idx="150">
                  <c:v>4.33</c:v>
                </c:pt>
                <c:pt idx="151">
                  <c:v>4.33</c:v>
                </c:pt>
                <c:pt idx="152">
                  <c:v>4.33</c:v>
                </c:pt>
                <c:pt idx="153">
                  <c:v>4.33</c:v>
                </c:pt>
                <c:pt idx="154">
                  <c:v>4.33</c:v>
                </c:pt>
                <c:pt idx="155">
                  <c:v>4.33</c:v>
                </c:pt>
                <c:pt idx="156">
                  <c:v>4.33</c:v>
                </c:pt>
                <c:pt idx="157">
                  <c:v>4.33</c:v>
                </c:pt>
                <c:pt idx="158">
                  <c:v>4.33</c:v>
                </c:pt>
                <c:pt idx="159">
                  <c:v>4.33</c:v>
                </c:pt>
                <c:pt idx="160">
                  <c:v>4.33</c:v>
                </c:pt>
                <c:pt idx="161">
                  <c:v>4.33</c:v>
                </c:pt>
                <c:pt idx="162">
                  <c:v>4.33</c:v>
                </c:pt>
                <c:pt idx="163">
                  <c:v>4.33</c:v>
                </c:pt>
                <c:pt idx="164">
                  <c:v>4.33</c:v>
                </c:pt>
                <c:pt idx="165">
                  <c:v>4.33</c:v>
                </c:pt>
                <c:pt idx="166">
                  <c:v>4.33</c:v>
                </c:pt>
                <c:pt idx="167">
                  <c:v>4.33</c:v>
                </c:pt>
                <c:pt idx="168">
                  <c:v>4.33</c:v>
                </c:pt>
                <c:pt idx="169">
                  <c:v>4.33</c:v>
                </c:pt>
                <c:pt idx="170">
                  <c:v>4.33</c:v>
                </c:pt>
                <c:pt idx="171">
                  <c:v>4.33</c:v>
                </c:pt>
                <c:pt idx="172">
                  <c:v>4.33</c:v>
                </c:pt>
                <c:pt idx="173">
                  <c:v>4.33</c:v>
                </c:pt>
                <c:pt idx="174">
                  <c:v>4.33</c:v>
                </c:pt>
                <c:pt idx="175">
                  <c:v>4.33</c:v>
                </c:pt>
                <c:pt idx="176">
                  <c:v>4.33</c:v>
                </c:pt>
                <c:pt idx="177">
                  <c:v>4.33</c:v>
                </c:pt>
                <c:pt idx="178">
                  <c:v>4.33</c:v>
                </c:pt>
                <c:pt idx="179">
                  <c:v>4.33</c:v>
                </c:pt>
                <c:pt idx="180">
                  <c:v>4.33</c:v>
                </c:pt>
                <c:pt idx="181">
                  <c:v>4.33</c:v>
                </c:pt>
                <c:pt idx="182">
                  <c:v>4.33</c:v>
                </c:pt>
                <c:pt idx="183">
                  <c:v>4.33</c:v>
                </c:pt>
                <c:pt idx="184">
                  <c:v>4.33</c:v>
                </c:pt>
                <c:pt idx="185">
                  <c:v>4.33</c:v>
                </c:pt>
                <c:pt idx="186">
                  <c:v>4.33</c:v>
                </c:pt>
                <c:pt idx="187">
                  <c:v>4.33</c:v>
                </c:pt>
                <c:pt idx="188">
                  <c:v>4.33</c:v>
                </c:pt>
                <c:pt idx="189">
                  <c:v>4.33</c:v>
                </c:pt>
                <c:pt idx="190">
                  <c:v>4.33</c:v>
                </c:pt>
                <c:pt idx="191">
                  <c:v>4.33</c:v>
                </c:pt>
                <c:pt idx="192">
                  <c:v>4.33</c:v>
                </c:pt>
                <c:pt idx="193">
                  <c:v>4.33</c:v>
                </c:pt>
                <c:pt idx="194">
                  <c:v>4.33</c:v>
                </c:pt>
                <c:pt idx="195">
                  <c:v>4.33</c:v>
                </c:pt>
                <c:pt idx="196">
                  <c:v>4.33</c:v>
                </c:pt>
                <c:pt idx="197">
                  <c:v>4.33</c:v>
                </c:pt>
                <c:pt idx="198">
                  <c:v>4.33</c:v>
                </c:pt>
                <c:pt idx="199">
                  <c:v>4.33</c:v>
                </c:pt>
                <c:pt idx="200">
                  <c:v>4.33</c:v>
                </c:pt>
                <c:pt idx="201">
                  <c:v>4.33</c:v>
                </c:pt>
                <c:pt idx="202">
                  <c:v>4.33</c:v>
                </c:pt>
                <c:pt idx="203">
                  <c:v>4.33</c:v>
                </c:pt>
                <c:pt idx="204">
                  <c:v>4.33</c:v>
                </c:pt>
                <c:pt idx="205">
                  <c:v>4.33</c:v>
                </c:pt>
                <c:pt idx="206">
                  <c:v>4.33</c:v>
                </c:pt>
                <c:pt idx="207">
                  <c:v>4.33</c:v>
                </c:pt>
                <c:pt idx="208">
                  <c:v>4.33</c:v>
                </c:pt>
                <c:pt idx="209">
                  <c:v>4.33</c:v>
                </c:pt>
                <c:pt idx="210">
                  <c:v>4.33</c:v>
                </c:pt>
                <c:pt idx="211">
                  <c:v>4.33</c:v>
                </c:pt>
                <c:pt idx="212">
                  <c:v>4.33</c:v>
                </c:pt>
                <c:pt idx="213">
                  <c:v>4.33</c:v>
                </c:pt>
                <c:pt idx="214">
                  <c:v>4.33</c:v>
                </c:pt>
                <c:pt idx="215">
                  <c:v>4.33</c:v>
                </c:pt>
                <c:pt idx="216">
                  <c:v>4.33</c:v>
                </c:pt>
                <c:pt idx="217">
                  <c:v>4.33</c:v>
                </c:pt>
                <c:pt idx="218">
                  <c:v>4.33</c:v>
                </c:pt>
                <c:pt idx="219">
                  <c:v>4.33</c:v>
                </c:pt>
                <c:pt idx="220">
                  <c:v>4.33</c:v>
                </c:pt>
                <c:pt idx="221">
                  <c:v>4.33</c:v>
                </c:pt>
                <c:pt idx="222">
                  <c:v>4.33</c:v>
                </c:pt>
                <c:pt idx="223">
                  <c:v>4.33</c:v>
                </c:pt>
                <c:pt idx="224">
                  <c:v>4.33</c:v>
                </c:pt>
                <c:pt idx="225">
                  <c:v>4.33</c:v>
                </c:pt>
                <c:pt idx="226">
                  <c:v>4.33</c:v>
                </c:pt>
                <c:pt idx="227">
                  <c:v>4.33</c:v>
                </c:pt>
                <c:pt idx="228">
                  <c:v>4.33</c:v>
                </c:pt>
                <c:pt idx="229">
                  <c:v>4.33</c:v>
                </c:pt>
                <c:pt idx="230">
                  <c:v>4.33</c:v>
                </c:pt>
                <c:pt idx="231">
                  <c:v>4.33</c:v>
                </c:pt>
                <c:pt idx="232">
                  <c:v>4.33</c:v>
                </c:pt>
                <c:pt idx="233">
                  <c:v>4.33</c:v>
                </c:pt>
                <c:pt idx="234">
                  <c:v>4.33</c:v>
                </c:pt>
                <c:pt idx="235">
                  <c:v>4.33</c:v>
                </c:pt>
                <c:pt idx="236">
                  <c:v>4.33</c:v>
                </c:pt>
                <c:pt idx="237">
                  <c:v>4.33</c:v>
                </c:pt>
                <c:pt idx="238">
                  <c:v>4.33</c:v>
                </c:pt>
                <c:pt idx="239">
                  <c:v>4.33</c:v>
                </c:pt>
                <c:pt idx="240">
                  <c:v>4.33</c:v>
                </c:pt>
                <c:pt idx="241">
                  <c:v>4.33</c:v>
                </c:pt>
                <c:pt idx="242">
                  <c:v>4.33</c:v>
                </c:pt>
                <c:pt idx="243">
                  <c:v>4.33</c:v>
                </c:pt>
                <c:pt idx="244">
                  <c:v>4.33</c:v>
                </c:pt>
                <c:pt idx="245">
                  <c:v>4.33</c:v>
                </c:pt>
                <c:pt idx="246">
                  <c:v>4.33</c:v>
                </c:pt>
                <c:pt idx="247">
                  <c:v>4.33</c:v>
                </c:pt>
                <c:pt idx="248">
                  <c:v>4.33</c:v>
                </c:pt>
                <c:pt idx="249">
                  <c:v>4.33</c:v>
                </c:pt>
                <c:pt idx="250">
                  <c:v>4.33</c:v>
                </c:pt>
                <c:pt idx="251">
                  <c:v>4.33</c:v>
                </c:pt>
                <c:pt idx="252">
                  <c:v>4.33</c:v>
                </c:pt>
                <c:pt idx="253">
                  <c:v>4.33</c:v>
                </c:pt>
                <c:pt idx="254">
                  <c:v>4.33</c:v>
                </c:pt>
                <c:pt idx="255">
                  <c:v>4.33</c:v>
                </c:pt>
                <c:pt idx="256">
                  <c:v>4.33</c:v>
                </c:pt>
                <c:pt idx="257">
                  <c:v>4.33</c:v>
                </c:pt>
                <c:pt idx="258">
                  <c:v>4.33</c:v>
                </c:pt>
                <c:pt idx="259">
                  <c:v>4.33</c:v>
                </c:pt>
                <c:pt idx="260">
                  <c:v>4.08</c:v>
                </c:pt>
                <c:pt idx="261">
                  <c:v>4.08</c:v>
                </c:pt>
                <c:pt idx="262">
                  <c:v>4.08</c:v>
                </c:pt>
                <c:pt idx="263">
                  <c:v>4.08</c:v>
                </c:pt>
                <c:pt idx="264">
                  <c:v>4.08</c:v>
                </c:pt>
                <c:pt idx="265">
                  <c:v>4.08</c:v>
                </c:pt>
                <c:pt idx="266">
                  <c:v>4.08</c:v>
                </c:pt>
                <c:pt idx="267">
                  <c:v>4.08</c:v>
                </c:pt>
                <c:pt idx="268">
                  <c:v>4.08</c:v>
                </c:pt>
                <c:pt idx="269">
                  <c:v>4.08</c:v>
                </c:pt>
                <c:pt idx="270">
                  <c:v>4.08</c:v>
                </c:pt>
                <c:pt idx="271">
                  <c:v>4.08</c:v>
                </c:pt>
                <c:pt idx="272">
                  <c:v>4.08</c:v>
                </c:pt>
                <c:pt idx="273">
                  <c:v>4.08</c:v>
                </c:pt>
                <c:pt idx="274">
                  <c:v>4.08</c:v>
                </c:pt>
                <c:pt idx="275">
                  <c:v>4.08</c:v>
                </c:pt>
                <c:pt idx="276">
                  <c:v>4.08</c:v>
                </c:pt>
                <c:pt idx="277">
                  <c:v>4.08</c:v>
                </c:pt>
                <c:pt idx="278">
                  <c:v>4.08</c:v>
                </c:pt>
                <c:pt idx="279">
                  <c:v>4.08</c:v>
                </c:pt>
                <c:pt idx="280">
                  <c:v>4.08</c:v>
                </c:pt>
                <c:pt idx="281">
                  <c:v>4.08</c:v>
                </c:pt>
                <c:pt idx="282">
                  <c:v>4.08</c:v>
                </c:pt>
                <c:pt idx="283">
                  <c:v>4.08</c:v>
                </c:pt>
                <c:pt idx="284">
                  <c:v>4.08</c:v>
                </c:pt>
                <c:pt idx="285">
                  <c:v>4.08</c:v>
                </c:pt>
                <c:pt idx="286">
                  <c:v>4.08</c:v>
                </c:pt>
                <c:pt idx="287">
                  <c:v>4.08</c:v>
                </c:pt>
                <c:pt idx="288">
                  <c:v>4.08</c:v>
                </c:pt>
                <c:pt idx="289">
                  <c:v>4.08</c:v>
                </c:pt>
                <c:pt idx="290">
                  <c:v>4.08</c:v>
                </c:pt>
                <c:pt idx="291">
                  <c:v>4.08</c:v>
                </c:pt>
                <c:pt idx="292">
                  <c:v>4.08</c:v>
                </c:pt>
                <c:pt idx="293">
                  <c:v>4.08</c:v>
                </c:pt>
                <c:pt idx="294">
                  <c:v>4.08</c:v>
                </c:pt>
                <c:pt idx="295">
                  <c:v>4.08</c:v>
                </c:pt>
                <c:pt idx="296">
                  <c:v>4.08</c:v>
                </c:pt>
                <c:pt idx="297">
                  <c:v>4.08</c:v>
                </c:pt>
                <c:pt idx="298">
                  <c:v>4.08</c:v>
                </c:pt>
                <c:pt idx="299">
                  <c:v>4.08</c:v>
                </c:pt>
                <c:pt idx="300">
                  <c:v>4.08</c:v>
                </c:pt>
                <c:pt idx="301">
                  <c:v>4.08</c:v>
                </c:pt>
                <c:pt idx="302">
                  <c:v>3.87</c:v>
                </c:pt>
                <c:pt idx="303">
                  <c:v>3.87</c:v>
                </c:pt>
                <c:pt idx="304">
                  <c:v>3.87</c:v>
                </c:pt>
                <c:pt idx="305">
                  <c:v>3.87</c:v>
                </c:pt>
                <c:pt idx="306">
                  <c:v>3.87</c:v>
                </c:pt>
                <c:pt idx="307">
                  <c:v>3.87</c:v>
                </c:pt>
                <c:pt idx="308">
                  <c:v>3.87</c:v>
                </c:pt>
                <c:pt idx="309">
                  <c:v>3.87</c:v>
                </c:pt>
                <c:pt idx="310">
                  <c:v>3.87</c:v>
                </c:pt>
                <c:pt idx="311">
                  <c:v>3.87</c:v>
                </c:pt>
                <c:pt idx="312">
                  <c:v>3.87</c:v>
                </c:pt>
                <c:pt idx="313">
                  <c:v>3.87</c:v>
                </c:pt>
                <c:pt idx="314">
                  <c:v>3.87</c:v>
                </c:pt>
                <c:pt idx="315">
                  <c:v>3.87</c:v>
                </c:pt>
                <c:pt idx="316">
                  <c:v>3.87</c:v>
                </c:pt>
                <c:pt idx="317">
                  <c:v>3.87</c:v>
                </c:pt>
                <c:pt idx="318">
                  <c:v>3.87</c:v>
                </c:pt>
                <c:pt idx="319">
                  <c:v>3.87</c:v>
                </c:pt>
                <c:pt idx="320">
                  <c:v>3.87</c:v>
                </c:pt>
                <c:pt idx="321">
                  <c:v>3.87</c:v>
                </c:pt>
                <c:pt idx="322">
                  <c:v>3.87</c:v>
                </c:pt>
                <c:pt idx="323">
                  <c:v>3.87</c:v>
                </c:pt>
                <c:pt idx="324">
                  <c:v>3.87</c:v>
                </c:pt>
                <c:pt idx="325">
                  <c:v>3.87</c:v>
                </c:pt>
                <c:pt idx="326">
                  <c:v>3.87</c:v>
                </c:pt>
                <c:pt idx="327">
                  <c:v>3.87</c:v>
                </c:pt>
                <c:pt idx="328">
                  <c:v>3.87</c:v>
                </c:pt>
                <c:pt idx="329">
                  <c:v>3.87</c:v>
                </c:pt>
                <c:pt idx="330">
                  <c:v>3.87</c:v>
                </c:pt>
                <c:pt idx="331">
                  <c:v>3.87</c:v>
                </c:pt>
                <c:pt idx="332">
                  <c:v>3.87</c:v>
                </c:pt>
                <c:pt idx="333">
                  <c:v>3.87</c:v>
                </c:pt>
                <c:pt idx="334">
                  <c:v>3.87</c:v>
                </c:pt>
                <c:pt idx="335">
                  <c:v>3.87</c:v>
                </c:pt>
                <c:pt idx="336">
                  <c:v>3.87</c:v>
                </c:pt>
                <c:pt idx="337">
                  <c:v>3.87</c:v>
                </c:pt>
                <c:pt idx="338">
                  <c:v>3.87</c:v>
                </c:pt>
                <c:pt idx="339">
                  <c:v>3.87</c:v>
                </c:pt>
                <c:pt idx="340">
                  <c:v>3.87</c:v>
                </c:pt>
                <c:pt idx="341">
                  <c:v>3.87</c:v>
                </c:pt>
                <c:pt idx="342">
                  <c:v>3.87</c:v>
                </c:pt>
                <c:pt idx="343">
                  <c:v>3.87</c:v>
                </c:pt>
                <c:pt idx="344">
                  <c:v>3.64</c:v>
                </c:pt>
                <c:pt idx="345">
                  <c:v>3.64</c:v>
                </c:pt>
                <c:pt idx="346">
                  <c:v>3.64</c:v>
                </c:pt>
                <c:pt idx="347">
                  <c:v>3.64</c:v>
                </c:pt>
                <c:pt idx="348">
                  <c:v>3.64</c:v>
                </c:pt>
                <c:pt idx="349">
                  <c:v>3.64</c:v>
                </c:pt>
                <c:pt idx="350">
                  <c:v>3.64</c:v>
                </c:pt>
                <c:pt idx="351">
                  <c:v>3.64</c:v>
                </c:pt>
                <c:pt idx="352">
                  <c:v>3.64</c:v>
                </c:pt>
                <c:pt idx="353">
                  <c:v>3.64</c:v>
                </c:pt>
                <c:pt idx="354">
                  <c:v>3.64</c:v>
                </c:pt>
                <c:pt idx="355">
                  <c:v>3.64</c:v>
                </c:pt>
                <c:pt idx="356">
                  <c:v>3.64</c:v>
                </c:pt>
                <c:pt idx="357">
                  <c:v>3.64</c:v>
                </c:pt>
                <c:pt idx="358">
                  <c:v>3.64</c:v>
                </c:pt>
                <c:pt idx="359">
                  <c:v>3.64</c:v>
                </c:pt>
                <c:pt idx="360">
                  <c:v>3.64</c:v>
                </c:pt>
                <c:pt idx="361">
                  <c:v>3.64</c:v>
                </c:pt>
                <c:pt idx="362">
                  <c:v>3.64</c:v>
                </c:pt>
                <c:pt idx="363">
                  <c:v>3.64</c:v>
                </c:pt>
                <c:pt idx="364">
                  <c:v>3.64</c:v>
                </c:pt>
                <c:pt idx="365">
                  <c:v>3.64</c:v>
                </c:pt>
                <c:pt idx="366">
                  <c:v>3.64</c:v>
                </c:pt>
                <c:pt idx="367">
                  <c:v>3.64</c:v>
                </c:pt>
                <c:pt idx="368">
                  <c:v>3.64</c:v>
                </c:pt>
                <c:pt idx="369">
                  <c:v>3.64</c:v>
                </c:pt>
                <c:pt idx="370">
                  <c:v>3.64</c:v>
                </c:pt>
                <c:pt idx="371">
                  <c:v>3.64</c:v>
                </c:pt>
                <c:pt idx="372">
                  <c:v>3.64</c:v>
                </c:pt>
                <c:pt idx="373">
                  <c:v>3.64</c:v>
                </c:pt>
                <c:pt idx="374">
                  <c:v>3.64</c:v>
                </c:pt>
                <c:pt idx="375">
                  <c:v>3.64</c:v>
                </c:pt>
                <c:pt idx="376">
                  <c:v>3.64</c:v>
                </c:pt>
                <c:pt idx="377">
                  <c:v>3.64</c:v>
                </c:pt>
                <c:pt idx="378">
                  <c:v>3.64</c:v>
                </c:pt>
                <c:pt idx="379">
                  <c:v>3.64</c:v>
                </c:pt>
                <c:pt idx="380">
                  <c:v>3.64</c:v>
                </c:pt>
                <c:pt idx="381">
                  <c:v>3.64</c:v>
                </c:pt>
                <c:pt idx="382">
                  <c:v>3.64</c:v>
                </c:pt>
                <c:pt idx="383">
                  <c:v>3.64</c:v>
                </c:pt>
                <c:pt idx="384">
                  <c:v>3.64</c:v>
                </c:pt>
                <c:pt idx="385">
                  <c:v>3.64</c:v>
                </c:pt>
                <c:pt idx="386">
                  <c:v>3.64</c:v>
                </c:pt>
                <c:pt idx="387">
                  <c:v>3.64</c:v>
                </c:pt>
                <c:pt idx="388">
                  <c:v>3.64</c:v>
                </c:pt>
                <c:pt idx="389">
                  <c:v>3.64</c:v>
                </c:pt>
                <c:pt idx="390">
                  <c:v>3.64</c:v>
                </c:pt>
                <c:pt idx="391">
                  <c:v>3.64</c:v>
                </c:pt>
                <c:pt idx="392">
                  <c:v>3.64</c:v>
                </c:pt>
                <c:pt idx="393">
                  <c:v>3.64</c:v>
                </c:pt>
                <c:pt idx="394">
                  <c:v>3.64</c:v>
                </c:pt>
                <c:pt idx="395">
                  <c:v>3.64</c:v>
                </c:pt>
                <c:pt idx="396">
                  <c:v>3.64</c:v>
                </c:pt>
                <c:pt idx="397">
                  <c:v>3.64</c:v>
                </c:pt>
                <c:pt idx="398">
                  <c:v>3.64</c:v>
                </c:pt>
                <c:pt idx="399">
                  <c:v>3.64</c:v>
                </c:pt>
                <c:pt idx="400">
                  <c:v>3.64</c:v>
                </c:pt>
                <c:pt idx="401">
                  <c:v>3.64</c:v>
                </c:pt>
                <c:pt idx="402">
                  <c:v>3.64</c:v>
                </c:pt>
                <c:pt idx="403">
                  <c:v>3.64</c:v>
                </c:pt>
                <c:pt idx="404">
                  <c:v>3.64</c:v>
                </c:pt>
                <c:pt idx="405">
                  <c:v>3.64</c:v>
                </c:pt>
                <c:pt idx="406">
                  <c:v>3.64</c:v>
                </c:pt>
                <c:pt idx="407">
                  <c:v>3.64</c:v>
                </c:pt>
                <c:pt idx="408">
                  <c:v>3.64</c:v>
                </c:pt>
                <c:pt idx="409">
                  <c:v>3.64</c:v>
                </c:pt>
                <c:pt idx="410">
                  <c:v>3.64</c:v>
                </c:pt>
                <c:pt idx="411">
                  <c:v>3.64</c:v>
                </c:pt>
                <c:pt idx="412">
                  <c:v>3.64</c:v>
                </c:pt>
                <c:pt idx="413">
                  <c:v>3.64</c:v>
                </c:pt>
                <c:pt idx="414">
                  <c:v>3.64</c:v>
                </c:pt>
                <c:pt idx="415">
                  <c:v>3.64</c:v>
                </c:pt>
                <c:pt idx="416">
                  <c:v>3.64</c:v>
                </c:pt>
                <c:pt idx="417">
                  <c:v>3.64</c:v>
                </c:pt>
                <c:pt idx="418">
                  <c:v>3.64</c:v>
                </c:pt>
                <c:pt idx="419">
                  <c:v>3.64</c:v>
                </c:pt>
                <c:pt idx="420">
                  <c:v>3.64</c:v>
                </c:pt>
                <c:pt idx="421">
                  <c:v>3.64</c:v>
                </c:pt>
                <c:pt idx="422">
                  <c:v>3.64</c:v>
                </c:pt>
                <c:pt idx="423">
                  <c:v>3.64</c:v>
                </c:pt>
                <c:pt idx="424">
                  <c:v>3.64</c:v>
                </c:pt>
                <c:pt idx="425">
                  <c:v>3.64</c:v>
                </c:pt>
                <c:pt idx="426">
                  <c:v>3.64</c:v>
                </c:pt>
                <c:pt idx="427">
                  <c:v>3.64</c:v>
                </c:pt>
                <c:pt idx="428">
                  <c:v>3.64</c:v>
                </c:pt>
                <c:pt idx="429">
                  <c:v>3.64</c:v>
                </c:pt>
                <c:pt idx="430">
                  <c:v>3.64</c:v>
                </c:pt>
                <c:pt idx="431">
                  <c:v>3.64</c:v>
                </c:pt>
                <c:pt idx="432">
                  <c:v>3.64</c:v>
                </c:pt>
                <c:pt idx="433">
                  <c:v>3.64</c:v>
                </c:pt>
                <c:pt idx="434">
                  <c:v>3.64</c:v>
                </c:pt>
                <c:pt idx="435">
                  <c:v>3.64</c:v>
                </c:pt>
                <c:pt idx="436">
                  <c:v>3.64</c:v>
                </c:pt>
                <c:pt idx="437">
                  <c:v>3.64</c:v>
                </c:pt>
                <c:pt idx="438">
                  <c:v>3.64</c:v>
                </c:pt>
                <c:pt idx="439">
                  <c:v>3.64</c:v>
                </c:pt>
                <c:pt idx="440">
                  <c:v>3.64</c:v>
                </c:pt>
                <c:pt idx="441">
                  <c:v>3.64</c:v>
                </c:pt>
                <c:pt idx="442">
                  <c:v>3.64</c:v>
                </c:pt>
                <c:pt idx="443">
                  <c:v>3.64</c:v>
                </c:pt>
                <c:pt idx="444">
                  <c:v>3.64</c:v>
                </c:pt>
                <c:pt idx="445">
                  <c:v>3.64</c:v>
                </c:pt>
                <c:pt idx="446">
                  <c:v>3.64</c:v>
                </c:pt>
                <c:pt idx="447">
                  <c:v>3.64</c:v>
                </c:pt>
                <c:pt idx="448">
                  <c:v>3.64</c:v>
                </c:pt>
                <c:pt idx="449">
                  <c:v>3.64</c:v>
                </c:pt>
                <c:pt idx="450">
                  <c:v>3.64</c:v>
                </c:pt>
                <c:pt idx="451">
                  <c:v>3.64</c:v>
                </c:pt>
                <c:pt idx="452">
                  <c:v>3.64</c:v>
                </c:pt>
                <c:pt idx="453">
                  <c:v>3.64</c:v>
                </c:pt>
                <c:pt idx="454">
                  <c:v>3.64</c:v>
                </c:pt>
                <c:pt idx="455">
                  <c:v>3.64</c:v>
                </c:pt>
                <c:pt idx="456">
                  <c:v>3.64</c:v>
                </c:pt>
                <c:pt idx="457">
                  <c:v>3.64</c:v>
                </c:pt>
                <c:pt idx="458">
                  <c:v>3.64</c:v>
                </c:pt>
                <c:pt idx="459">
                  <c:v>3.64</c:v>
                </c:pt>
                <c:pt idx="460">
                  <c:v>3.64</c:v>
                </c:pt>
                <c:pt idx="461">
                  <c:v>3.64</c:v>
                </c:pt>
                <c:pt idx="462">
                  <c:v>3.64</c:v>
                </c:pt>
                <c:pt idx="463">
                  <c:v>3.64</c:v>
                </c:pt>
                <c:pt idx="464">
                  <c:v>3.64</c:v>
                </c:pt>
                <c:pt idx="465">
                  <c:v>3.64</c:v>
                </c:pt>
                <c:pt idx="466">
                  <c:v>3.64</c:v>
                </c:pt>
                <c:pt idx="467">
                  <c:v>3.64</c:v>
                </c:pt>
                <c:pt idx="468">
                  <c:v>3.64</c:v>
                </c:pt>
                <c:pt idx="469">
                  <c:v>3.64</c:v>
                </c:pt>
                <c:pt idx="470">
                  <c:v>3.64</c:v>
                </c:pt>
                <c:pt idx="471">
                  <c:v>3.64</c:v>
                </c:pt>
                <c:pt idx="472">
                  <c:v>3.64</c:v>
                </c:pt>
                <c:pt idx="473">
                  <c:v>3.64</c:v>
                </c:pt>
                <c:pt idx="474">
                  <c:v>3.64</c:v>
                </c:pt>
                <c:pt idx="475">
                  <c:v>3.64</c:v>
                </c:pt>
                <c:pt idx="476">
                  <c:v>3.64</c:v>
                </c:pt>
                <c:pt idx="477">
                  <c:v>3.64</c:v>
                </c:pt>
                <c:pt idx="478">
                  <c:v>3.64</c:v>
                </c:pt>
                <c:pt idx="479">
                  <c:v>3.64</c:v>
                </c:pt>
                <c:pt idx="480">
                  <c:v>3.64</c:v>
                </c:pt>
                <c:pt idx="481">
                  <c:v>3.64</c:v>
                </c:pt>
                <c:pt idx="482">
                  <c:v>3.64</c:v>
                </c:pt>
                <c:pt idx="483">
                  <c:v>3.64</c:v>
                </c:pt>
                <c:pt idx="484">
                  <c:v>3.64</c:v>
                </c:pt>
                <c:pt idx="485">
                  <c:v>3.64</c:v>
                </c:pt>
                <c:pt idx="486">
                  <c:v>3.64</c:v>
                </c:pt>
                <c:pt idx="487">
                  <c:v>3.64</c:v>
                </c:pt>
                <c:pt idx="488">
                  <c:v>3.64</c:v>
                </c:pt>
              </c:numCache>
            </c:numRef>
          </c:val>
          <c:smooth val="0"/>
          <c:extLst>
            <c:ext xmlns:c16="http://schemas.microsoft.com/office/drawing/2014/chart" uri="{C3380CC4-5D6E-409C-BE32-E72D297353CC}">
              <c16:uniqueId val="{00000003-FD23-4714-9A40-2374CE713F5E}"/>
            </c:ext>
          </c:extLst>
        </c:ser>
        <c:ser>
          <c:idx val="4"/>
          <c:order val="4"/>
          <c:tx>
            <c:strRef>
              <c:f>'SG Market Indices'!$X$11</c:f>
              <c:strCache>
                <c:ptCount val="1"/>
                <c:pt idx="0">
                  <c:v>SG 5Y SORA Swap</c:v>
                </c:pt>
              </c:strCache>
            </c:strRef>
          </c:tx>
          <c:spPr>
            <a:ln w="15875" cap="rnd">
              <a:solidFill>
                <a:schemeClr val="bg1">
                  <a:lumMod val="65000"/>
                </a:schemeClr>
              </a:solidFill>
              <a:prstDash val="sysDash"/>
              <a:round/>
            </a:ln>
            <a:effectLst/>
          </c:spPr>
          <c:marker>
            <c:symbol val="none"/>
          </c:marker>
          <c:dLbls>
            <c:dLbl>
              <c:idx val="488"/>
              <c:layout>
                <c:manualLayout>
                  <c:x val="-3.7974683544303903E-2"/>
                  <c:y val="-3.21285140562248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D23-4714-9A40-2374CE713F5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'SG Market Indices'!$S$12:$S$500</c:f>
              <c:numCache>
                <c:formatCode>dd\ mmm\ 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'SG Market Indices'!$X$12:$X$500</c:f>
              <c:numCache>
                <c:formatCode>0.00</c:formatCode>
                <c:ptCount val="489"/>
                <c:pt idx="0">
                  <c:v>2.665</c:v>
                </c:pt>
                <c:pt idx="1">
                  <c:v>2.6825000000000001</c:v>
                </c:pt>
                <c:pt idx="2">
                  <c:v>2.68</c:v>
                </c:pt>
                <c:pt idx="3">
                  <c:v>2.68</c:v>
                </c:pt>
                <c:pt idx="4">
                  <c:v>2.68</c:v>
                </c:pt>
                <c:pt idx="5">
                  <c:v>2.7663000000000002</c:v>
                </c:pt>
                <c:pt idx="6">
                  <c:v>2.7275</c:v>
                </c:pt>
                <c:pt idx="7">
                  <c:v>2.7534999999999998</c:v>
                </c:pt>
                <c:pt idx="8">
                  <c:v>2.7555000000000001</c:v>
                </c:pt>
                <c:pt idx="9">
                  <c:v>2.8065000000000002</c:v>
                </c:pt>
                <c:pt idx="10">
                  <c:v>2.8065000000000002</c:v>
                </c:pt>
                <c:pt idx="11">
                  <c:v>2.8065000000000002</c:v>
                </c:pt>
                <c:pt idx="12">
                  <c:v>2.895</c:v>
                </c:pt>
                <c:pt idx="13">
                  <c:v>2.8889999999999998</c:v>
                </c:pt>
                <c:pt idx="14">
                  <c:v>2.8763999999999998</c:v>
                </c:pt>
                <c:pt idx="15">
                  <c:v>2.8065000000000002</c:v>
                </c:pt>
                <c:pt idx="16">
                  <c:v>2.7505000000000002</c:v>
                </c:pt>
                <c:pt idx="17">
                  <c:v>2.7505000000000002</c:v>
                </c:pt>
                <c:pt idx="18">
                  <c:v>2.7505000000000002</c:v>
                </c:pt>
                <c:pt idx="19">
                  <c:v>2.7885</c:v>
                </c:pt>
                <c:pt idx="20">
                  <c:v>2.7244999999999999</c:v>
                </c:pt>
                <c:pt idx="21">
                  <c:v>2.7164999999999999</c:v>
                </c:pt>
                <c:pt idx="22">
                  <c:v>2.7414999999999998</c:v>
                </c:pt>
                <c:pt idx="23">
                  <c:v>2.7014999999999998</c:v>
                </c:pt>
                <c:pt idx="24">
                  <c:v>2.7014999999999998</c:v>
                </c:pt>
                <c:pt idx="25">
                  <c:v>2.7014999999999998</c:v>
                </c:pt>
                <c:pt idx="26">
                  <c:v>2.6335000000000002</c:v>
                </c:pt>
                <c:pt idx="27">
                  <c:v>2.6385000000000001</c:v>
                </c:pt>
                <c:pt idx="28">
                  <c:v>2.64</c:v>
                </c:pt>
                <c:pt idx="29">
                  <c:v>2.64</c:v>
                </c:pt>
                <c:pt idx="30">
                  <c:v>2.6175000000000002</c:v>
                </c:pt>
                <c:pt idx="31">
                  <c:v>2.6175000000000002</c:v>
                </c:pt>
                <c:pt idx="32">
                  <c:v>2.6175000000000002</c:v>
                </c:pt>
                <c:pt idx="33">
                  <c:v>2.6150000000000002</c:v>
                </c:pt>
                <c:pt idx="34">
                  <c:v>2.6255000000000002</c:v>
                </c:pt>
                <c:pt idx="35">
                  <c:v>2.5550000000000002</c:v>
                </c:pt>
                <c:pt idx="36">
                  <c:v>2.5455000000000001</c:v>
                </c:pt>
                <c:pt idx="37">
                  <c:v>2.5455000000000001</c:v>
                </c:pt>
                <c:pt idx="38">
                  <c:v>2.5455000000000001</c:v>
                </c:pt>
                <c:pt idx="39">
                  <c:v>2.5455000000000001</c:v>
                </c:pt>
                <c:pt idx="40">
                  <c:v>2.5684999999999998</c:v>
                </c:pt>
                <c:pt idx="41">
                  <c:v>2.5575000000000001</c:v>
                </c:pt>
                <c:pt idx="42">
                  <c:v>2.5935000000000001</c:v>
                </c:pt>
                <c:pt idx="43">
                  <c:v>2.6324000000000001</c:v>
                </c:pt>
                <c:pt idx="44">
                  <c:v>2.5785</c:v>
                </c:pt>
                <c:pt idx="45">
                  <c:v>2.5785</c:v>
                </c:pt>
                <c:pt idx="46">
                  <c:v>2.5785</c:v>
                </c:pt>
                <c:pt idx="47">
                  <c:v>2.5394999999999999</c:v>
                </c:pt>
                <c:pt idx="48">
                  <c:v>2.5754999999999999</c:v>
                </c:pt>
                <c:pt idx="49">
                  <c:v>2.6305000000000001</c:v>
                </c:pt>
                <c:pt idx="50">
                  <c:v>2.5954000000000002</c:v>
                </c:pt>
                <c:pt idx="51">
                  <c:v>2.5684999999999998</c:v>
                </c:pt>
                <c:pt idx="52">
                  <c:v>2.5684999999999998</c:v>
                </c:pt>
                <c:pt idx="53">
                  <c:v>2.5684999999999998</c:v>
                </c:pt>
                <c:pt idx="54">
                  <c:v>2.5325000000000002</c:v>
                </c:pt>
                <c:pt idx="55">
                  <c:v>2.4584999999999999</c:v>
                </c:pt>
                <c:pt idx="56">
                  <c:v>2.4445000000000001</c:v>
                </c:pt>
                <c:pt idx="57">
                  <c:v>2.4344999999999999</c:v>
                </c:pt>
                <c:pt idx="58">
                  <c:v>2.3755000000000002</c:v>
                </c:pt>
                <c:pt idx="59">
                  <c:v>2.3755000000000002</c:v>
                </c:pt>
                <c:pt idx="60">
                  <c:v>2.3755000000000002</c:v>
                </c:pt>
                <c:pt idx="61">
                  <c:v>2.3675000000000002</c:v>
                </c:pt>
                <c:pt idx="62">
                  <c:v>2.3014999999999999</c:v>
                </c:pt>
                <c:pt idx="63">
                  <c:v>2.3165</c:v>
                </c:pt>
                <c:pt idx="64">
                  <c:v>2.3649</c:v>
                </c:pt>
                <c:pt idx="65">
                  <c:v>2.2825000000000002</c:v>
                </c:pt>
                <c:pt idx="66">
                  <c:v>2.2825000000000002</c:v>
                </c:pt>
                <c:pt idx="67">
                  <c:v>2.2825000000000002</c:v>
                </c:pt>
                <c:pt idx="68">
                  <c:v>2.2565</c:v>
                </c:pt>
                <c:pt idx="69">
                  <c:v>2.1949999999999998</c:v>
                </c:pt>
                <c:pt idx="70">
                  <c:v>2.2174999999999998</c:v>
                </c:pt>
                <c:pt idx="71">
                  <c:v>2.2315</c:v>
                </c:pt>
                <c:pt idx="72">
                  <c:v>2.2587999999999999</c:v>
                </c:pt>
                <c:pt idx="73">
                  <c:v>2.2587999999999999</c:v>
                </c:pt>
                <c:pt idx="74">
                  <c:v>2.2587999999999999</c:v>
                </c:pt>
                <c:pt idx="75">
                  <c:v>2.2894999999999999</c:v>
                </c:pt>
                <c:pt idx="76">
                  <c:v>2.2685</c:v>
                </c:pt>
                <c:pt idx="77">
                  <c:v>2.2745000000000002</c:v>
                </c:pt>
                <c:pt idx="78">
                  <c:v>2.2385000000000002</c:v>
                </c:pt>
                <c:pt idx="79">
                  <c:v>2.2625000000000002</c:v>
                </c:pt>
                <c:pt idx="80">
                  <c:v>2.2625000000000002</c:v>
                </c:pt>
                <c:pt idx="81">
                  <c:v>2.2625000000000002</c:v>
                </c:pt>
                <c:pt idx="82">
                  <c:v>2.3075000000000001</c:v>
                </c:pt>
                <c:pt idx="83">
                  <c:v>2.3805000000000001</c:v>
                </c:pt>
                <c:pt idx="84">
                  <c:v>2.3464999999999998</c:v>
                </c:pt>
                <c:pt idx="85">
                  <c:v>2.3075000000000001</c:v>
                </c:pt>
                <c:pt idx="86">
                  <c:v>2.2774999999999999</c:v>
                </c:pt>
                <c:pt idx="87">
                  <c:v>2.2774999999999999</c:v>
                </c:pt>
                <c:pt idx="88">
                  <c:v>2.2774999999999999</c:v>
                </c:pt>
                <c:pt idx="89">
                  <c:v>2.2774999999999999</c:v>
                </c:pt>
                <c:pt idx="90">
                  <c:v>2.1785000000000001</c:v>
                </c:pt>
                <c:pt idx="91">
                  <c:v>2.1865000000000001</c:v>
                </c:pt>
                <c:pt idx="92">
                  <c:v>2.0954999999999999</c:v>
                </c:pt>
                <c:pt idx="93">
                  <c:v>1.9815</c:v>
                </c:pt>
                <c:pt idx="94">
                  <c:v>1.9815</c:v>
                </c:pt>
                <c:pt idx="95">
                  <c:v>1.9815</c:v>
                </c:pt>
                <c:pt idx="96">
                  <c:v>1.9804999999999999</c:v>
                </c:pt>
                <c:pt idx="97">
                  <c:v>2.06</c:v>
                </c:pt>
                <c:pt idx="98">
                  <c:v>2.0724999999999998</c:v>
                </c:pt>
                <c:pt idx="99">
                  <c:v>2.105</c:v>
                </c:pt>
                <c:pt idx="100">
                  <c:v>2.0535000000000001</c:v>
                </c:pt>
                <c:pt idx="101">
                  <c:v>2.0535000000000001</c:v>
                </c:pt>
                <c:pt idx="102">
                  <c:v>2.0535000000000001</c:v>
                </c:pt>
                <c:pt idx="103">
                  <c:v>2.06</c:v>
                </c:pt>
                <c:pt idx="104">
                  <c:v>2.0063</c:v>
                </c:pt>
                <c:pt idx="105">
                  <c:v>1.9750000000000001</c:v>
                </c:pt>
                <c:pt idx="106">
                  <c:v>1.9924999999999999</c:v>
                </c:pt>
                <c:pt idx="107">
                  <c:v>1.9924999999999999</c:v>
                </c:pt>
                <c:pt idx="108">
                  <c:v>1.9924999999999999</c:v>
                </c:pt>
                <c:pt idx="109">
                  <c:v>1.9924999999999999</c:v>
                </c:pt>
                <c:pt idx="110">
                  <c:v>1.9399</c:v>
                </c:pt>
                <c:pt idx="111">
                  <c:v>1.9550000000000001</c:v>
                </c:pt>
                <c:pt idx="112">
                  <c:v>1.925</c:v>
                </c:pt>
                <c:pt idx="113">
                  <c:v>1.95</c:v>
                </c:pt>
                <c:pt idx="114">
                  <c:v>1.9055</c:v>
                </c:pt>
                <c:pt idx="115">
                  <c:v>1.9055</c:v>
                </c:pt>
                <c:pt idx="116">
                  <c:v>1.9055</c:v>
                </c:pt>
                <c:pt idx="117">
                  <c:v>1.925</c:v>
                </c:pt>
                <c:pt idx="118">
                  <c:v>1.915</c:v>
                </c:pt>
                <c:pt idx="119">
                  <c:v>1.885</c:v>
                </c:pt>
                <c:pt idx="120">
                  <c:v>1.8835</c:v>
                </c:pt>
                <c:pt idx="121">
                  <c:v>1.8765000000000001</c:v>
                </c:pt>
                <c:pt idx="122">
                  <c:v>1.8765000000000001</c:v>
                </c:pt>
                <c:pt idx="123">
                  <c:v>1.8765000000000001</c:v>
                </c:pt>
                <c:pt idx="124">
                  <c:v>1.8915</c:v>
                </c:pt>
                <c:pt idx="125">
                  <c:v>1.8915</c:v>
                </c:pt>
                <c:pt idx="126">
                  <c:v>1.8214999999999999</c:v>
                </c:pt>
                <c:pt idx="127">
                  <c:v>1.8549</c:v>
                </c:pt>
                <c:pt idx="128">
                  <c:v>1.8825000000000001</c:v>
                </c:pt>
                <c:pt idx="129">
                  <c:v>1.8825000000000001</c:v>
                </c:pt>
                <c:pt idx="130">
                  <c:v>1.8825000000000001</c:v>
                </c:pt>
                <c:pt idx="131">
                  <c:v>1.8825000000000001</c:v>
                </c:pt>
                <c:pt idx="132">
                  <c:v>2.0173999999999999</c:v>
                </c:pt>
                <c:pt idx="133">
                  <c:v>2.0499000000000001</c:v>
                </c:pt>
                <c:pt idx="134">
                  <c:v>2.0724999999999998</c:v>
                </c:pt>
                <c:pt idx="135">
                  <c:v>1.9975000000000001</c:v>
                </c:pt>
                <c:pt idx="136">
                  <c:v>1.9975000000000001</c:v>
                </c:pt>
                <c:pt idx="137">
                  <c:v>1.9975000000000001</c:v>
                </c:pt>
                <c:pt idx="138">
                  <c:v>2.0550000000000002</c:v>
                </c:pt>
                <c:pt idx="139">
                  <c:v>1.9775</c:v>
                </c:pt>
                <c:pt idx="140">
                  <c:v>2</c:v>
                </c:pt>
                <c:pt idx="141">
                  <c:v>2.0150000000000001</c:v>
                </c:pt>
                <c:pt idx="142">
                  <c:v>1.9624999999999999</c:v>
                </c:pt>
                <c:pt idx="143">
                  <c:v>1.9624999999999999</c:v>
                </c:pt>
                <c:pt idx="144">
                  <c:v>1.9624999999999999</c:v>
                </c:pt>
                <c:pt idx="145">
                  <c:v>1.925</c:v>
                </c:pt>
                <c:pt idx="146">
                  <c:v>1.9</c:v>
                </c:pt>
                <c:pt idx="147">
                  <c:v>1.905</c:v>
                </c:pt>
                <c:pt idx="148">
                  <c:v>1.9524999999999999</c:v>
                </c:pt>
                <c:pt idx="149">
                  <c:v>1.93</c:v>
                </c:pt>
                <c:pt idx="150">
                  <c:v>1.93</c:v>
                </c:pt>
                <c:pt idx="151">
                  <c:v>1.93</c:v>
                </c:pt>
                <c:pt idx="152">
                  <c:v>1.915</c:v>
                </c:pt>
                <c:pt idx="153">
                  <c:v>1.8565</c:v>
                </c:pt>
                <c:pt idx="154">
                  <c:v>1.8514999999999999</c:v>
                </c:pt>
                <c:pt idx="155">
                  <c:v>1.8105</c:v>
                </c:pt>
                <c:pt idx="156">
                  <c:v>1.7725</c:v>
                </c:pt>
                <c:pt idx="157">
                  <c:v>1.7725</c:v>
                </c:pt>
                <c:pt idx="158">
                  <c:v>1.7725</c:v>
                </c:pt>
                <c:pt idx="159">
                  <c:v>1.8049999999999999</c:v>
                </c:pt>
                <c:pt idx="160">
                  <c:v>1.8174999999999999</c:v>
                </c:pt>
                <c:pt idx="161">
                  <c:v>1.8499000000000001</c:v>
                </c:pt>
                <c:pt idx="162">
                  <c:v>1.7912999999999999</c:v>
                </c:pt>
                <c:pt idx="163">
                  <c:v>1.77</c:v>
                </c:pt>
                <c:pt idx="164">
                  <c:v>1.77</c:v>
                </c:pt>
                <c:pt idx="165">
                  <c:v>1.77</c:v>
                </c:pt>
                <c:pt idx="166">
                  <c:v>1.8109999999999999</c:v>
                </c:pt>
                <c:pt idx="167">
                  <c:v>1.7925</c:v>
                </c:pt>
                <c:pt idx="168">
                  <c:v>1.79</c:v>
                </c:pt>
                <c:pt idx="169">
                  <c:v>1.8194999999999999</c:v>
                </c:pt>
                <c:pt idx="170">
                  <c:v>1.7975000000000001</c:v>
                </c:pt>
                <c:pt idx="171">
                  <c:v>1.7975000000000001</c:v>
                </c:pt>
                <c:pt idx="172">
                  <c:v>1.7975000000000001</c:v>
                </c:pt>
                <c:pt idx="173">
                  <c:v>1.7963</c:v>
                </c:pt>
                <c:pt idx="174">
                  <c:v>1.7504999999999999</c:v>
                </c:pt>
                <c:pt idx="175">
                  <c:v>1.7350000000000001</c:v>
                </c:pt>
                <c:pt idx="176">
                  <c:v>1.7188000000000001</c:v>
                </c:pt>
                <c:pt idx="177">
                  <c:v>1.6773</c:v>
                </c:pt>
                <c:pt idx="178">
                  <c:v>1.6773</c:v>
                </c:pt>
                <c:pt idx="179">
                  <c:v>1.6773</c:v>
                </c:pt>
                <c:pt idx="180">
                  <c:v>1.6515</c:v>
                </c:pt>
                <c:pt idx="181">
                  <c:v>1.5925</c:v>
                </c:pt>
                <c:pt idx="182">
                  <c:v>1.6375</c:v>
                </c:pt>
                <c:pt idx="183">
                  <c:v>1.6114999999999999</c:v>
                </c:pt>
                <c:pt idx="184">
                  <c:v>1.6214999999999999</c:v>
                </c:pt>
                <c:pt idx="185">
                  <c:v>1.6214999999999999</c:v>
                </c:pt>
                <c:pt idx="186">
                  <c:v>1.6214999999999999</c:v>
                </c:pt>
                <c:pt idx="187">
                  <c:v>1.6313</c:v>
                </c:pt>
                <c:pt idx="188">
                  <c:v>1.6475</c:v>
                </c:pt>
                <c:pt idx="189">
                  <c:v>1.6805000000000001</c:v>
                </c:pt>
                <c:pt idx="190">
                  <c:v>1.68</c:v>
                </c:pt>
                <c:pt idx="191">
                  <c:v>1.7499</c:v>
                </c:pt>
                <c:pt idx="192">
                  <c:v>1.7499</c:v>
                </c:pt>
                <c:pt idx="193">
                  <c:v>1.7499</c:v>
                </c:pt>
                <c:pt idx="194">
                  <c:v>1.7455000000000001</c:v>
                </c:pt>
                <c:pt idx="195">
                  <c:v>1.7175</c:v>
                </c:pt>
                <c:pt idx="196">
                  <c:v>1.7387999999999999</c:v>
                </c:pt>
                <c:pt idx="197">
                  <c:v>1.7249000000000001</c:v>
                </c:pt>
                <c:pt idx="198">
                  <c:v>1.6675</c:v>
                </c:pt>
                <c:pt idx="199">
                  <c:v>1.6675</c:v>
                </c:pt>
                <c:pt idx="200">
                  <c:v>1.6675</c:v>
                </c:pt>
                <c:pt idx="201">
                  <c:v>1.6274999999999999</c:v>
                </c:pt>
                <c:pt idx="202">
                  <c:v>1.6448</c:v>
                </c:pt>
                <c:pt idx="203">
                  <c:v>1.6565000000000001</c:v>
                </c:pt>
                <c:pt idx="204">
                  <c:v>1.6335</c:v>
                </c:pt>
                <c:pt idx="205">
                  <c:v>1.6635</c:v>
                </c:pt>
                <c:pt idx="206">
                  <c:v>1.6635</c:v>
                </c:pt>
                <c:pt idx="207">
                  <c:v>1.6635</c:v>
                </c:pt>
                <c:pt idx="208">
                  <c:v>1.6585000000000001</c:v>
                </c:pt>
                <c:pt idx="209">
                  <c:v>1.6924999999999999</c:v>
                </c:pt>
                <c:pt idx="210">
                  <c:v>1.6595</c:v>
                </c:pt>
                <c:pt idx="211">
                  <c:v>1.6875</c:v>
                </c:pt>
                <c:pt idx="212">
                  <c:v>1.7175</c:v>
                </c:pt>
                <c:pt idx="213">
                  <c:v>1.7175</c:v>
                </c:pt>
                <c:pt idx="214">
                  <c:v>1.7175</c:v>
                </c:pt>
                <c:pt idx="215">
                  <c:v>1.6274999999999999</c:v>
                </c:pt>
                <c:pt idx="216">
                  <c:v>1.6</c:v>
                </c:pt>
                <c:pt idx="217">
                  <c:v>1.5954999999999999</c:v>
                </c:pt>
                <c:pt idx="218">
                  <c:v>1.5425</c:v>
                </c:pt>
                <c:pt idx="219">
                  <c:v>1.5449999999999999</c:v>
                </c:pt>
                <c:pt idx="220">
                  <c:v>1.5449999999999999</c:v>
                </c:pt>
                <c:pt idx="221">
                  <c:v>1.5449999999999999</c:v>
                </c:pt>
                <c:pt idx="222">
                  <c:v>1.5615000000000001</c:v>
                </c:pt>
                <c:pt idx="223">
                  <c:v>1.53</c:v>
                </c:pt>
                <c:pt idx="224">
                  <c:v>1.5069999999999999</c:v>
                </c:pt>
                <c:pt idx="225">
                  <c:v>1.4850000000000001</c:v>
                </c:pt>
                <c:pt idx="226">
                  <c:v>1.4975000000000001</c:v>
                </c:pt>
                <c:pt idx="227">
                  <c:v>1.4975000000000001</c:v>
                </c:pt>
                <c:pt idx="228">
                  <c:v>1.4975000000000001</c:v>
                </c:pt>
                <c:pt idx="229">
                  <c:v>1.4975000000000001</c:v>
                </c:pt>
                <c:pt idx="230">
                  <c:v>1.5624</c:v>
                </c:pt>
                <c:pt idx="231">
                  <c:v>1.5349999999999999</c:v>
                </c:pt>
                <c:pt idx="232">
                  <c:v>1.53</c:v>
                </c:pt>
                <c:pt idx="233">
                  <c:v>1.5249999999999999</c:v>
                </c:pt>
                <c:pt idx="234">
                  <c:v>1.5249999999999999</c:v>
                </c:pt>
                <c:pt idx="235">
                  <c:v>1.5249999999999999</c:v>
                </c:pt>
                <c:pt idx="236">
                  <c:v>1.4524999999999999</c:v>
                </c:pt>
                <c:pt idx="237">
                  <c:v>1.4251</c:v>
                </c:pt>
                <c:pt idx="238">
                  <c:v>1.3774999999999999</c:v>
                </c:pt>
                <c:pt idx="239">
                  <c:v>1.3925000000000001</c:v>
                </c:pt>
                <c:pt idx="240">
                  <c:v>1.4275</c:v>
                </c:pt>
                <c:pt idx="241">
                  <c:v>1.4275</c:v>
                </c:pt>
                <c:pt idx="242">
                  <c:v>1.4275</c:v>
                </c:pt>
                <c:pt idx="243">
                  <c:v>1.4449000000000001</c:v>
                </c:pt>
                <c:pt idx="244">
                  <c:v>1.43</c:v>
                </c:pt>
                <c:pt idx="245">
                  <c:v>1.4524999999999999</c:v>
                </c:pt>
                <c:pt idx="246">
                  <c:v>1.4225000000000001</c:v>
                </c:pt>
                <c:pt idx="247">
                  <c:v>1.4125000000000001</c:v>
                </c:pt>
                <c:pt idx="248">
                  <c:v>1.4125000000000001</c:v>
                </c:pt>
                <c:pt idx="249">
                  <c:v>1.4125000000000001</c:v>
                </c:pt>
                <c:pt idx="250">
                  <c:v>1.375</c:v>
                </c:pt>
                <c:pt idx="251">
                  <c:v>1.3925000000000001</c:v>
                </c:pt>
                <c:pt idx="252">
                  <c:v>1.385</c:v>
                </c:pt>
                <c:pt idx="253">
                  <c:v>1.3763000000000001</c:v>
                </c:pt>
                <c:pt idx="254">
                  <c:v>1.3725000000000001</c:v>
                </c:pt>
                <c:pt idx="255">
                  <c:v>1.3725000000000001</c:v>
                </c:pt>
                <c:pt idx="256">
                  <c:v>1.3725000000000001</c:v>
                </c:pt>
                <c:pt idx="257">
                  <c:v>1.3875</c:v>
                </c:pt>
                <c:pt idx="258">
                  <c:v>1.3625</c:v>
                </c:pt>
                <c:pt idx="259">
                  <c:v>1.3494999999999999</c:v>
                </c:pt>
                <c:pt idx="260">
                  <c:v>1.3888</c:v>
                </c:pt>
                <c:pt idx="261">
                  <c:v>1.4298999999999999</c:v>
                </c:pt>
                <c:pt idx="262">
                  <c:v>1.4298999999999999</c:v>
                </c:pt>
                <c:pt idx="263">
                  <c:v>1.4298999999999999</c:v>
                </c:pt>
                <c:pt idx="264">
                  <c:v>1.4289000000000001</c:v>
                </c:pt>
                <c:pt idx="265">
                  <c:v>1.4449000000000001</c:v>
                </c:pt>
                <c:pt idx="266">
                  <c:v>1.4524999999999999</c:v>
                </c:pt>
                <c:pt idx="267">
                  <c:v>1.4850000000000001</c:v>
                </c:pt>
                <c:pt idx="268">
                  <c:v>1.5674999999999999</c:v>
                </c:pt>
                <c:pt idx="269">
                  <c:v>1.5674999999999999</c:v>
                </c:pt>
                <c:pt idx="270">
                  <c:v>1.5674999999999999</c:v>
                </c:pt>
                <c:pt idx="271">
                  <c:v>1.5615000000000001</c:v>
                </c:pt>
                <c:pt idx="272">
                  <c:v>1.5165</c:v>
                </c:pt>
                <c:pt idx="273">
                  <c:v>1.5455000000000001</c:v>
                </c:pt>
                <c:pt idx="274">
                  <c:v>1.4950000000000001</c:v>
                </c:pt>
                <c:pt idx="275">
                  <c:v>1.504</c:v>
                </c:pt>
                <c:pt idx="276">
                  <c:v>1.504</c:v>
                </c:pt>
                <c:pt idx="277">
                  <c:v>1.504</c:v>
                </c:pt>
                <c:pt idx="278">
                  <c:v>1.5149999999999999</c:v>
                </c:pt>
                <c:pt idx="279">
                  <c:v>1.5049999999999999</c:v>
                </c:pt>
                <c:pt idx="280">
                  <c:v>1.4684999999999999</c:v>
                </c:pt>
                <c:pt idx="281">
                  <c:v>1.4950000000000001</c:v>
                </c:pt>
                <c:pt idx="282">
                  <c:v>1.4764999999999999</c:v>
                </c:pt>
                <c:pt idx="283">
                  <c:v>1.4764999999999999</c:v>
                </c:pt>
                <c:pt idx="284">
                  <c:v>1.4764999999999999</c:v>
                </c:pt>
                <c:pt idx="285">
                  <c:v>1.4559</c:v>
                </c:pt>
                <c:pt idx="286">
                  <c:v>1.4249000000000001</c:v>
                </c:pt>
                <c:pt idx="287">
                  <c:v>1.4350000000000001</c:v>
                </c:pt>
                <c:pt idx="288">
                  <c:v>1.4450000000000001</c:v>
                </c:pt>
                <c:pt idx="289">
                  <c:v>1.405</c:v>
                </c:pt>
                <c:pt idx="290">
                  <c:v>1.405</c:v>
                </c:pt>
                <c:pt idx="291">
                  <c:v>1.405</c:v>
                </c:pt>
                <c:pt idx="292">
                  <c:v>1.405</c:v>
                </c:pt>
                <c:pt idx="293">
                  <c:v>1.4274</c:v>
                </c:pt>
                <c:pt idx="294">
                  <c:v>1.4399</c:v>
                </c:pt>
                <c:pt idx="295">
                  <c:v>1.4824999999999999</c:v>
                </c:pt>
                <c:pt idx="296">
                  <c:v>1.4935</c:v>
                </c:pt>
                <c:pt idx="297">
                  <c:v>1.4935</c:v>
                </c:pt>
                <c:pt idx="298">
                  <c:v>1.4935</c:v>
                </c:pt>
                <c:pt idx="299">
                  <c:v>1.5012000000000001</c:v>
                </c:pt>
                <c:pt idx="300">
                  <c:v>1.4675</c:v>
                </c:pt>
                <c:pt idx="301">
                  <c:v>1.4764999999999999</c:v>
                </c:pt>
                <c:pt idx="302">
                  <c:v>1.5324</c:v>
                </c:pt>
                <c:pt idx="303">
                  <c:v>1.5349999999999999</c:v>
                </c:pt>
                <c:pt idx="304">
                  <c:v>1.5349999999999999</c:v>
                </c:pt>
                <c:pt idx="305">
                  <c:v>1.5349999999999999</c:v>
                </c:pt>
                <c:pt idx="306">
                  <c:v>1.4874000000000001</c:v>
                </c:pt>
                <c:pt idx="307">
                  <c:v>1.4850000000000001</c:v>
                </c:pt>
                <c:pt idx="308">
                  <c:v>1.4850000000000001</c:v>
                </c:pt>
                <c:pt idx="309">
                  <c:v>1.5124</c:v>
                </c:pt>
                <c:pt idx="310">
                  <c:v>1.5105</c:v>
                </c:pt>
                <c:pt idx="311">
                  <c:v>1.5105</c:v>
                </c:pt>
                <c:pt idx="312">
                  <c:v>1.5105</c:v>
                </c:pt>
                <c:pt idx="313">
                  <c:v>1.5475000000000001</c:v>
                </c:pt>
                <c:pt idx="314">
                  <c:v>1.5424</c:v>
                </c:pt>
                <c:pt idx="315">
                  <c:v>1.5297000000000001</c:v>
                </c:pt>
                <c:pt idx="316">
                  <c:v>1.5149999999999999</c:v>
                </c:pt>
                <c:pt idx="317">
                  <c:v>1.5287999999999999</c:v>
                </c:pt>
                <c:pt idx="318">
                  <c:v>1.5287999999999999</c:v>
                </c:pt>
                <c:pt idx="319">
                  <c:v>1.5287999999999999</c:v>
                </c:pt>
                <c:pt idx="320">
                  <c:v>1.54</c:v>
                </c:pt>
                <c:pt idx="321">
                  <c:v>1.51</c:v>
                </c:pt>
                <c:pt idx="322">
                  <c:v>1.5213000000000001</c:v>
                </c:pt>
                <c:pt idx="323">
                  <c:v>1.5688</c:v>
                </c:pt>
                <c:pt idx="324">
                  <c:v>1.6093</c:v>
                </c:pt>
                <c:pt idx="325">
                  <c:v>1.6093</c:v>
                </c:pt>
                <c:pt idx="326">
                  <c:v>1.6093</c:v>
                </c:pt>
                <c:pt idx="327">
                  <c:v>1.6798999999999999</c:v>
                </c:pt>
                <c:pt idx="328">
                  <c:v>1.7250000000000001</c:v>
                </c:pt>
                <c:pt idx="329">
                  <c:v>1.8172999999999999</c:v>
                </c:pt>
                <c:pt idx="330">
                  <c:v>1.7873000000000001</c:v>
                </c:pt>
                <c:pt idx="331">
                  <c:v>1.7504999999999999</c:v>
                </c:pt>
                <c:pt idx="332">
                  <c:v>1.7504999999999999</c:v>
                </c:pt>
                <c:pt idx="333">
                  <c:v>1.7504999999999999</c:v>
                </c:pt>
                <c:pt idx="334">
                  <c:v>1.7875000000000001</c:v>
                </c:pt>
                <c:pt idx="335">
                  <c:v>1.8099000000000001</c:v>
                </c:pt>
                <c:pt idx="336">
                  <c:v>1.7549999999999999</c:v>
                </c:pt>
                <c:pt idx="337">
                  <c:v>1.7929999999999999</c:v>
                </c:pt>
                <c:pt idx="338">
                  <c:v>1.7825</c:v>
                </c:pt>
                <c:pt idx="339">
                  <c:v>1.7825</c:v>
                </c:pt>
                <c:pt idx="340">
                  <c:v>1.7825</c:v>
                </c:pt>
                <c:pt idx="341">
                  <c:v>1.81</c:v>
                </c:pt>
                <c:pt idx="342">
                  <c:v>1.9198999999999999</c:v>
                </c:pt>
                <c:pt idx="343">
                  <c:v>1.9515</c:v>
                </c:pt>
                <c:pt idx="344">
                  <c:v>1.9672000000000001</c:v>
                </c:pt>
                <c:pt idx="345">
                  <c:v>2</c:v>
                </c:pt>
                <c:pt idx="346">
                  <c:v>2</c:v>
                </c:pt>
                <c:pt idx="347">
                  <c:v>2</c:v>
                </c:pt>
                <c:pt idx="348">
                  <c:v>1.9288000000000001</c:v>
                </c:pt>
                <c:pt idx="349">
                  <c:v>1.92</c:v>
                </c:pt>
                <c:pt idx="350">
                  <c:v>1.9599</c:v>
                </c:pt>
                <c:pt idx="351">
                  <c:v>1.9513</c:v>
                </c:pt>
                <c:pt idx="352">
                  <c:v>1.9375</c:v>
                </c:pt>
                <c:pt idx="353">
                  <c:v>1.9375</c:v>
                </c:pt>
                <c:pt idx="354">
                  <c:v>1.9375</c:v>
                </c:pt>
                <c:pt idx="355">
                  <c:v>1.9715</c:v>
                </c:pt>
                <c:pt idx="356">
                  <c:v>1.9595</c:v>
                </c:pt>
                <c:pt idx="357">
                  <c:v>1.9715</c:v>
                </c:pt>
                <c:pt idx="358">
                  <c:v>1.97</c:v>
                </c:pt>
                <c:pt idx="359">
                  <c:v>2.0002</c:v>
                </c:pt>
                <c:pt idx="360">
                  <c:v>2.0002</c:v>
                </c:pt>
                <c:pt idx="361">
                  <c:v>2.0002</c:v>
                </c:pt>
                <c:pt idx="362">
                  <c:v>1.9651000000000001</c:v>
                </c:pt>
                <c:pt idx="363">
                  <c:v>1.9448000000000001</c:v>
                </c:pt>
                <c:pt idx="364">
                  <c:v>1.92</c:v>
                </c:pt>
                <c:pt idx="365">
                  <c:v>1.9137</c:v>
                </c:pt>
                <c:pt idx="366">
                  <c:v>1.9125000000000001</c:v>
                </c:pt>
                <c:pt idx="367">
                  <c:v>1.9125000000000001</c:v>
                </c:pt>
                <c:pt idx="368">
                  <c:v>1.9125000000000001</c:v>
                </c:pt>
                <c:pt idx="369">
                  <c:v>1.9072</c:v>
                </c:pt>
                <c:pt idx="370">
                  <c:v>1.9395</c:v>
                </c:pt>
                <c:pt idx="371">
                  <c:v>1.9047000000000001</c:v>
                </c:pt>
                <c:pt idx="372">
                  <c:v>1.8565</c:v>
                </c:pt>
                <c:pt idx="373">
                  <c:v>1.8773</c:v>
                </c:pt>
                <c:pt idx="374">
                  <c:v>1.8773</c:v>
                </c:pt>
                <c:pt idx="375">
                  <c:v>1.8773</c:v>
                </c:pt>
                <c:pt idx="376">
                  <c:v>1.87</c:v>
                </c:pt>
                <c:pt idx="377">
                  <c:v>1.8734</c:v>
                </c:pt>
                <c:pt idx="378">
                  <c:v>1.8888</c:v>
                </c:pt>
                <c:pt idx="379">
                  <c:v>1.8925000000000001</c:v>
                </c:pt>
                <c:pt idx="380">
                  <c:v>1.8948</c:v>
                </c:pt>
                <c:pt idx="381">
                  <c:v>1.8948</c:v>
                </c:pt>
                <c:pt idx="382">
                  <c:v>1.8948</c:v>
                </c:pt>
                <c:pt idx="383">
                  <c:v>1.9039999999999999</c:v>
                </c:pt>
                <c:pt idx="384">
                  <c:v>1.8924000000000001</c:v>
                </c:pt>
                <c:pt idx="385">
                  <c:v>1.9075</c:v>
                </c:pt>
                <c:pt idx="386">
                  <c:v>1.8774999999999999</c:v>
                </c:pt>
                <c:pt idx="387">
                  <c:v>1.8525</c:v>
                </c:pt>
                <c:pt idx="388">
                  <c:v>1.8525</c:v>
                </c:pt>
                <c:pt idx="389">
                  <c:v>1.8525</c:v>
                </c:pt>
                <c:pt idx="390">
                  <c:v>1.7939000000000001</c:v>
                </c:pt>
                <c:pt idx="391">
                  <c:v>1.7948999999999999</c:v>
                </c:pt>
                <c:pt idx="392">
                  <c:v>1.7575000000000001</c:v>
                </c:pt>
                <c:pt idx="393">
                  <c:v>1.8134999999999999</c:v>
                </c:pt>
                <c:pt idx="394">
                  <c:v>1.8448</c:v>
                </c:pt>
                <c:pt idx="395">
                  <c:v>1.8448</c:v>
                </c:pt>
                <c:pt idx="396">
                  <c:v>1.8448</c:v>
                </c:pt>
                <c:pt idx="397">
                  <c:v>1.8365</c:v>
                </c:pt>
                <c:pt idx="398">
                  <c:v>1.8776999999999999</c:v>
                </c:pt>
                <c:pt idx="399">
                  <c:v>1.8405</c:v>
                </c:pt>
                <c:pt idx="400">
                  <c:v>1.8222</c:v>
                </c:pt>
                <c:pt idx="401">
                  <c:v>1.8145</c:v>
                </c:pt>
                <c:pt idx="402">
                  <c:v>1.8145</c:v>
                </c:pt>
                <c:pt idx="403">
                  <c:v>1.8145</c:v>
                </c:pt>
                <c:pt idx="404">
                  <c:v>1.79</c:v>
                </c:pt>
                <c:pt idx="405">
                  <c:v>1.7673000000000001</c:v>
                </c:pt>
                <c:pt idx="406">
                  <c:v>1.7625</c:v>
                </c:pt>
                <c:pt idx="407">
                  <c:v>1.7149000000000001</c:v>
                </c:pt>
                <c:pt idx="408">
                  <c:v>1.6805000000000001</c:v>
                </c:pt>
                <c:pt idx="409">
                  <c:v>1.6805000000000001</c:v>
                </c:pt>
                <c:pt idx="410">
                  <c:v>1.6805000000000001</c:v>
                </c:pt>
                <c:pt idx="411">
                  <c:v>1.6597</c:v>
                </c:pt>
                <c:pt idx="412">
                  <c:v>1.6603000000000001</c:v>
                </c:pt>
                <c:pt idx="413">
                  <c:v>1.6603000000000001</c:v>
                </c:pt>
                <c:pt idx="414">
                  <c:v>1.6695</c:v>
                </c:pt>
                <c:pt idx="415">
                  <c:v>1.6555</c:v>
                </c:pt>
                <c:pt idx="416">
                  <c:v>1.6555</c:v>
                </c:pt>
                <c:pt idx="417">
                  <c:v>1.6555</c:v>
                </c:pt>
                <c:pt idx="418">
                  <c:v>1.6475</c:v>
                </c:pt>
                <c:pt idx="419">
                  <c:v>1.6349</c:v>
                </c:pt>
                <c:pt idx="420">
                  <c:v>1.65</c:v>
                </c:pt>
                <c:pt idx="421">
                  <c:v>1.6123000000000001</c:v>
                </c:pt>
                <c:pt idx="422">
                  <c:v>1.57</c:v>
                </c:pt>
                <c:pt idx="423">
                  <c:v>1.57</c:v>
                </c:pt>
                <c:pt idx="424">
                  <c:v>1.57</c:v>
                </c:pt>
                <c:pt idx="425">
                  <c:v>1.5623</c:v>
                </c:pt>
                <c:pt idx="426">
                  <c:v>1.6898</c:v>
                </c:pt>
                <c:pt idx="427">
                  <c:v>1.6649</c:v>
                </c:pt>
                <c:pt idx="428">
                  <c:v>1.6822999999999999</c:v>
                </c:pt>
                <c:pt idx="429">
                  <c:v>1.7246999999999999</c:v>
                </c:pt>
                <c:pt idx="430">
                  <c:v>1.7246999999999999</c:v>
                </c:pt>
                <c:pt idx="431">
                  <c:v>1.7246999999999999</c:v>
                </c:pt>
                <c:pt idx="432">
                  <c:v>1.8449</c:v>
                </c:pt>
                <c:pt idx="433">
                  <c:v>1.7615000000000001</c:v>
                </c:pt>
                <c:pt idx="434">
                  <c:v>1.7364999999999999</c:v>
                </c:pt>
                <c:pt idx="435">
                  <c:v>1.7504999999999999</c:v>
                </c:pt>
                <c:pt idx="436">
                  <c:v>1.8324</c:v>
                </c:pt>
                <c:pt idx="437">
                  <c:v>1.8324</c:v>
                </c:pt>
                <c:pt idx="438">
                  <c:v>1.8324</c:v>
                </c:pt>
                <c:pt idx="439">
                  <c:v>1.8624000000000001</c:v>
                </c:pt>
                <c:pt idx="440">
                  <c:v>1.8247</c:v>
                </c:pt>
                <c:pt idx="441">
                  <c:v>1.7748999999999999</c:v>
                </c:pt>
                <c:pt idx="442">
                  <c:v>1.8334999999999999</c:v>
                </c:pt>
                <c:pt idx="443">
                  <c:v>1.8151999999999999</c:v>
                </c:pt>
                <c:pt idx="444">
                  <c:v>1.8151999999999999</c:v>
                </c:pt>
                <c:pt idx="445">
                  <c:v>1.8151999999999999</c:v>
                </c:pt>
                <c:pt idx="446">
                  <c:v>1.9924999999999999</c:v>
                </c:pt>
                <c:pt idx="447">
                  <c:v>1.9398</c:v>
                </c:pt>
                <c:pt idx="448">
                  <c:v>1.9101999999999999</c:v>
                </c:pt>
                <c:pt idx="449">
                  <c:v>2.0205000000000002</c:v>
                </c:pt>
                <c:pt idx="450">
                  <c:v>2.1400999999999999</c:v>
                </c:pt>
                <c:pt idx="451">
                  <c:v>2.1400999999999999</c:v>
                </c:pt>
                <c:pt idx="452">
                  <c:v>2.1400999999999999</c:v>
                </c:pt>
                <c:pt idx="453">
                  <c:v>2.085</c:v>
                </c:pt>
                <c:pt idx="454">
                  <c:v>2.0097</c:v>
                </c:pt>
                <c:pt idx="455">
                  <c:v>1.93</c:v>
                </c:pt>
                <c:pt idx="456">
                  <c:v>2.0024999999999999</c:v>
                </c:pt>
                <c:pt idx="457">
                  <c:v>2.0005000000000002</c:v>
                </c:pt>
                <c:pt idx="458">
                  <c:v>2.0005000000000002</c:v>
                </c:pt>
                <c:pt idx="459">
                  <c:v>2.0005000000000002</c:v>
                </c:pt>
                <c:pt idx="460">
                  <c:v>1.9615</c:v>
                </c:pt>
                <c:pt idx="461">
                  <c:v>1.9535</c:v>
                </c:pt>
                <c:pt idx="462">
                  <c:v>1.8514999999999999</c:v>
                </c:pt>
                <c:pt idx="463">
                  <c:v>1.8494999999999999</c:v>
                </c:pt>
                <c:pt idx="464">
                  <c:v>1.8325</c:v>
                </c:pt>
                <c:pt idx="465">
                  <c:v>1.8325</c:v>
                </c:pt>
                <c:pt idx="466">
                  <c:v>1.8325</c:v>
                </c:pt>
                <c:pt idx="467">
                  <c:v>1.8474999999999999</c:v>
                </c:pt>
                <c:pt idx="468">
                  <c:v>1.7835000000000001</c:v>
                </c:pt>
                <c:pt idx="469">
                  <c:v>1.7925</c:v>
                </c:pt>
                <c:pt idx="470">
                  <c:v>1.7798</c:v>
                </c:pt>
                <c:pt idx="471">
                  <c:v>1.7878000000000001</c:v>
                </c:pt>
                <c:pt idx="472">
                  <c:v>1.7878000000000001</c:v>
                </c:pt>
                <c:pt idx="473">
                  <c:v>1.7878000000000001</c:v>
                </c:pt>
                <c:pt idx="474">
                  <c:v>1.7615000000000001</c:v>
                </c:pt>
                <c:pt idx="475">
                  <c:v>1.8048999999999999</c:v>
                </c:pt>
                <c:pt idx="476">
                  <c:v>1.8049999999999999</c:v>
                </c:pt>
                <c:pt idx="477">
                  <c:v>1.8434999999999999</c:v>
                </c:pt>
                <c:pt idx="478">
                  <c:v>1.8405</c:v>
                </c:pt>
                <c:pt idx="479">
                  <c:v>1.8405</c:v>
                </c:pt>
                <c:pt idx="480">
                  <c:v>1.8405</c:v>
                </c:pt>
                <c:pt idx="481">
                  <c:v>1.7975000000000001</c:v>
                </c:pt>
                <c:pt idx="482">
                  <c:v>1.8565</c:v>
                </c:pt>
                <c:pt idx="483">
                  <c:v>1.8623000000000001</c:v>
                </c:pt>
                <c:pt idx="484">
                  <c:v>1.8875</c:v>
                </c:pt>
                <c:pt idx="485">
                  <c:v>1.8875</c:v>
                </c:pt>
                <c:pt idx="486">
                  <c:v>1.8875</c:v>
                </c:pt>
                <c:pt idx="487">
                  <c:v>1.8875</c:v>
                </c:pt>
                <c:pt idx="488">
                  <c:v>1.8835</c:v>
                </c:pt>
              </c:numCache>
            </c:numRef>
          </c:val>
          <c:smooth val="0"/>
          <c:extLst>
            <c:ext xmlns:c16="http://schemas.microsoft.com/office/drawing/2014/chart" uri="{C3380CC4-5D6E-409C-BE32-E72D297353CC}">
              <c16:uniqueId val="{00000004-FD23-4714-9A40-2374CE713F5E}"/>
            </c:ext>
          </c:extLst>
        </c:ser>
        <c:dLbls>
          <c:showLegendKey val="0"/>
          <c:showVal val="0"/>
          <c:showCatName val="0"/>
          <c:showSerName val="0"/>
          <c:showPercent val="0"/>
          <c:showBubbleSize val="0"/>
        </c:dLbls>
        <c:marker val="1"/>
        <c:smooth val="0"/>
        <c:axId val="988937919"/>
        <c:axId val="988937439"/>
      </c:lineChart>
      <c:dateAx>
        <c:axId val="949739695"/>
        <c:scaling>
          <c:orientation val="minMax"/>
        </c:scaling>
        <c:delete val="0"/>
        <c:axPos val="b"/>
        <c:numFmt formatCode="mmm\ 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949738735"/>
        <c:crosses val="autoZero"/>
        <c:auto val="1"/>
        <c:lblOffset val="100"/>
        <c:baseTimeUnit val="days"/>
        <c:majorUnit val="2"/>
        <c:majorTimeUnit val="months"/>
      </c:dateAx>
      <c:valAx>
        <c:axId val="949738735"/>
        <c:scaling>
          <c:orientation val="minMax"/>
          <c:max val="150"/>
          <c:min val="7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949739695"/>
        <c:crosses val="autoZero"/>
        <c:crossBetween val="between"/>
      </c:valAx>
      <c:valAx>
        <c:axId val="988937439"/>
        <c:scaling>
          <c:orientation val="minMax"/>
          <c:max val="15"/>
          <c:min val="1"/>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988937919"/>
        <c:crosses val="max"/>
        <c:crossBetween val="between"/>
      </c:valAx>
      <c:dateAx>
        <c:axId val="988937919"/>
        <c:scaling>
          <c:orientation val="minMax"/>
        </c:scaling>
        <c:delete val="1"/>
        <c:axPos val="b"/>
        <c:numFmt formatCode="dd\ mmm\ yy" sourceLinked="1"/>
        <c:majorTickMark val="out"/>
        <c:minorTickMark val="none"/>
        <c:tickLblPos val="nextTo"/>
        <c:crossAx val="988937439"/>
        <c:crosses val="autoZero"/>
        <c:auto val="1"/>
        <c:lblOffset val="100"/>
        <c:baseTimeUnit val="days"/>
      </c:dateAx>
      <c:spPr>
        <a:noFill/>
        <a:ln>
          <a:noFill/>
        </a:ln>
        <a:effectLst/>
      </c:spPr>
    </c:plotArea>
    <c:legend>
      <c:legendPos val="r"/>
      <c:layout>
        <c:manualLayout>
          <c:xMode val="edge"/>
          <c:yMode val="edge"/>
          <c:x val="0.84662380809993676"/>
          <c:y val="0.17763695200750509"/>
          <c:w val="0.14775031285646256"/>
          <c:h val="0.726894981500806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013173834039982E-2"/>
          <c:y val="0.14162016451857329"/>
          <c:w val="0.90175605693519079"/>
          <c:h val="0.59423067488229853"/>
        </c:manualLayout>
      </c:layout>
      <c:barChart>
        <c:barDir val="col"/>
        <c:grouping val="clustered"/>
        <c:varyColors val="0"/>
        <c:ser>
          <c:idx val="0"/>
          <c:order val="0"/>
          <c:tx>
            <c:strRef>
              <c:f>Sheet1!$B$1</c:f>
              <c:strCache>
                <c:ptCount val="1"/>
                <c:pt idx="0">
                  <c:v>Series 1</c:v>
                </c:pt>
              </c:strCache>
            </c:strRef>
          </c:tx>
          <c:spPr>
            <a:solidFill>
              <a:srgbClr val="006161"/>
            </a:solidFill>
            <a:ln>
              <a:noFill/>
            </a:ln>
            <a:effectLst/>
          </c:spPr>
          <c:invertIfNegative val="0"/>
          <c:dPt>
            <c:idx val="0"/>
            <c:invertIfNegative val="0"/>
            <c:bubble3D val="0"/>
            <c:spPr>
              <a:solidFill>
                <a:srgbClr val="006161"/>
              </a:solidFill>
              <a:ln>
                <a:noFill/>
              </a:ln>
              <a:effectLst/>
            </c:spPr>
            <c:extLst>
              <c:ext xmlns:c16="http://schemas.microsoft.com/office/drawing/2014/chart" uri="{C3380CC4-5D6E-409C-BE32-E72D297353CC}">
                <c16:uniqueId val="{00000001-44E6-4459-8AAC-854906C43568}"/>
              </c:ext>
            </c:extLst>
          </c:dPt>
          <c:dPt>
            <c:idx val="1"/>
            <c:invertIfNegative val="0"/>
            <c:bubble3D val="0"/>
            <c:spPr>
              <a:solidFill>
                <a:srgbClr val="006161"/>
              </a:solidFill>
              <a:ln>
                <a:noFill/>
              </a:ln>
              <a:effectLst/>
            </c:spPr>
            <c:extLst>
              <c:ext xmlns:c16="http://schemas.microsoft.com/office/drawing/2014/chart" uri="{C3380CC4-5D6E-409C-BE32-E72D297353CC}">
                <c16:uniqueId val="{00000003-44E6-4459-8AAC-854906C43568}"/>
              </c:ext>
            </c:extLst>
          </c:dPt>
          <c:dPt>
            <c:idx val="2"/>
            <c:invertIfNegative val="0"/>
            <c:bubble3D val="0"/>
            <c:spPr>
              <a:solidFill>
                <a:srgbClr val="006161"/>
              </a:solidFill>
              <a:ln>
                <a:noFill/>
              </a:ln>
              <a:effectLst/>
            </c:spPr>
            <c:extLst>
              <c:ext xmlns:c16="http://schemas.microsoft.com/office/drawing/2014/chart" uri="{C3380CC4-5D6E-409C-BE32-E72D297353CC}">
                <c16:uniqueId val="{00000005-44E6-4459-8AAC-854906C43568}"/>
              </c:ext>
            </c:extLst>
          </c:dPt>
          <c:dPt>
            <c:idx val="3"/>
            <c:invertIfNegative val="0"/>
            <c:bubble3D val="0"/>
            <c:spPr>
              <a:solidFill>
                <a:srgbClr val="006161"/>
              </a:solidFill>
              <a:ln>
                <a:noFill/>
              </a:ln>
              <a:effectLst/>
            </c:spPr>
            <c:extLst>
              <c:ext xmlns:c16="http://schemas.microsoft.com/office/drawing/2014/chart" uri="{C3380CC4-5D6E-409C-BE32-E72D297353CC}">
                <c16:uniqueId val="{00000007-44E6-4459-8AAC-854906C43568}"/>
              </c:ext>
            </c:extLst>
          </c:dPt>
          <c:dPt>
            <c:idx val="4"/>
            <c:invertIfNegative val="0"/>
            <c:bubble3D val="0"/>
            <c:spPr>
              <a:solidFill>
                <a:srgbClr val="006161"/>
              </a:solidFill>
              <a:ln>
                <a:noFill/>
              </a:ln>
              <a:effectLst/>
            </c:spPr>
            <c:extLst>
              <c:ext xmlns:c16="http://schemas.microsoft.com/office/drawing/2014/chart" uri="{C3380CC4-5D6E-409C-BE32-E72D297353CC}">
                <c16:uniqueId val="{00000009-44E6-4459-8AAC-854906C43568}"/>
              </c:ext>
            </c:extLst>
          </c:dPt>
          <c:dPt>
            <c:idx val="5"/>
            <c:invertIfNegative val="0"/>
            <c:bubble3D val="0"/>
            <c:spPr>
              <a:solidFill>
                <a:srgbClr val="006161"/>
              </a:solidFill>
              <a:ln>
                <a:noFill/>
              </a:ln>
              <a:effectLst/>
            </c:spPr>
            <c:extLst>
              <c:ext xmlns:c16="http://schemas.microsoft.com/office/drawing/2014/chart" uri="{C3380CC4-5D6E-409C-BE32-E72D297353CC}">
                <c16:uniqueId val="{0000000B-44E6-4459-8AAC-854906C43568}"/>
              </c:ext>
            </c:extLst>
          </c:dPt>
          <c:dPt>
            <c:idx val="6"/>
            <c:invertIfNegative val="0"/>
            <c:bubble3D val="0"/>
            <c:spPr>
              <a:solidFill>
                <a:srgbClr val="006161"/>
              </a:solidFill>
              <a:ln>
                <a:noFill/>
              </a:ln>
              <a:effectLst/>
            </c:spPr>
            <c:extLst>
              <c:ext xmlns:c16="http://schemas.microsoft.com/office/drawing/2014/chart" uri="{C3380CC4-5D6E-409C-BE32-E72D297353CC}">
                <c16:uniqueId val="{0000000D-44E6-4459-8AAC-854906C43568}"/>
              </c:ext>
            </c:extLst>
          </c:dPt>
          <c:dPt>
            <c:idx val="7"/>
            <c:invertIfNegative val="0"/>
            <c:bubble3D val="0"/>
            <c:spPr>
              <a:solidFill>
                <a:srgbClr val="006161"/>
              </a:solidFill>
              <a:ln>
                <a:noFill/>
              </a:ln>
              <a:effectLst/>
            </c:spPr>
            <c:extLst>
              <c:ext xmlns:c16="http://schemas.microsoft.com/office/drawing/2014/chart" uri="{C3380CC4-5D6E-409C-BE32-E72D297353CC}">
                <c16:uniqueId val="{0000000F-44E6-4459-8AAC-854906C43568}"/>
              </c:ext>
            </c:extLst>
          </c:dPt>
          <c:dPt>
            <c:idx val="8"/>
            <c:invertIfNegative val="0"/>
            <c:bubble3D val="0"/>
            <c:spPr>
              <a:solidFill>
                <a:srgbClr val="006161"/>
              </a:solidFill>
              <a:ln>
                <a:noFill/>
              </a:ln>
              <a:effectLst/>
            </c:spPr>
            <c:extLst>
              <c:ext xmlns:c16="http://schemas.microsoft.com/office/drawing/2014/chart" uri="{C3380CC4-5D6E-409C-BE32-E72D297353CC}">
                <c16:uniqueId val="{00000011-44E6-4459-8AAC-854906C43568}"/>
              </c:ext>
            </c:extLst>
          </c:dPt>
          <c:dPt>
            <c:idx val="9"/>
            <c:invertIfNegative val="0"/>
            <c:bubble3D val="0"/>
            <c:spPr>
              <a:solidFill>
                <a:srgbClr val="006161"/>
              </a:solidFill>
              <a:ln>
                <a:noFill/>
              </a:ln>
              <a:effectLst/>
            </c:spPr>
            <c:extLst>
              <c:ext xmlns:c16="http://schemas.microsoft.com/office/drawing/2014/chart" uri="{C3380CC4-5D6E-409C-BE32-E72D297353CC}">
                <c16:uniqueId val="{00000013-44E6-4459-8AAC-854906C43568}"/>
              </c:ext>
            </c:extLst>
          </c:dPt>
          <c:dPt>
            <c:idx val="10"/>
            <c:invertIfNegative val="0"/>
            <c:bubble3D val="0"/>
            <c:spPr>
              <a:solidFill>
                <a:srgbClr val="006161"/>
              </a:solidFill>
              <a:ln>
                <a:noFill/>
              </a:ln>
              <a:effectLst/>
            </c:spPr>
            <c:extLst>
              <c:ext xmlns:c16="http://schemas.microsoft.com/office/drawing/2014/chart" uri="{C3380CC4-5D6E-409C-BE32-E72D297353CC}">
                <c16:uniqueId val="{00000015-44E6-4459-8AAC-854906C43568}"/>
              </c:ext>
            </c:extLst>
          </c:dPt>
          <c:dPt>
            <c:idx val="11"/>
            <c:invertIfNegative val="0"/>
            <c:bubble3D val="0"/>
            <c:spPr>
              <a:solidFill>
                <a:srgbClr val="006161"/>
              </a:solidFill>
              <a:ln>
                <a:noFill/>
              </a:ln>
              <a:effectLst/>
            </c:spPr>
            <c:extLst>
              <c:ext xmlns:c16="http://schemas.microsoft.com/office/drawing/2014/chart" uri="{C3380CC4-5D6E-409C-BE32-E72D297353CC}">
                <c16:uniqueId val="{00000017-44E6-4459-8AAC-854906C43568}"/>
              </c:ext>
            </c:extLst>
          </c:dPt>
          <c:dPt>
            <c:idx val="12"/>
            <c:invertIfNegative val="0"/>
            <c:bubble3D val="0"/>
            <c:spPr>
              <a:solidFill>
                <a:srgbClr val="BF8652"/>
              </a:solidFill>
              <a:ln>
                <a:noFill/>
              </a:ln>
              <a:effectLst/>
            </c:spPr>
            <c:extLst>
              <c:ext xmlns:c16="http://schemas.microsoft.com/office/drawing/2014/chart" uri="{C3380CC4-5D6E-409C-BE32-E72D297353CC}">
                <c16:uniqueId val="{00000018-A1E7-4A95-B6A9-B89AF5A0B9C4}"/>
              </c:ext>
            </c:extLst>
          </c:dPt>
          <c:dPt>
            <c:idx val="13"/>
            <c:invertIfNegative val="0"/>
            <c:bubble3D val="0"/>
            <c:spPr>
              <a:solidFill>
                <a:srgbClr val="BF8652"/>
              </a:solidFill>
              <a:ln>
                <a:noFill/>
              </a:ln>
              <a:effectLst/>
            </c:spPr>
            <c:extLst>
              <c:ext xmlns:c16="http://schemas.microsoft.com/office/drawing/2014/chart" uri="{C3380CC4-5D6E-409C-BE32-E72D297353CC}">
                <c16:uniqueId val="{00000019-A1E7-4A95-B6A9-B89AF5A0B9C4}"/>
              </c:ext>
            </c:extLst>
          </c:dPt>
          <c:dPt>
            <c:idx val="14"/>
            <c:invertIfNegative val="0"/>
            <c:bubble3D val="0"/>
            <c:spPr>
              <a:solidFill>
                <a:srgbClr val="BF8652"/>
              </a:solidFill>
              <a:ln>
                <a:noFill/>
              </a:ln>
              <a:effectLst/>
            </c:spPr>
            <c:extLst>
              <c:ext xmlns:c16="http://schemas.microsoft.com/office/drawing/2014/chart" uri="{C3380CC4-5D6E-409C-BE32-E72D297353CC}">
                <c16:uniqueId val="{0000001A-A1E7-4A95-B6A9-B89AF5A0B9C4}"/>
              </c:ext>
            </c:extLst>
          </c:dPt>
          <c:dPt>
            <c:idx val="15"/>
            <c:invertIfNegative val="0"/>
            <c:bubble3D val="0"/>
            <c:spPr>
              <a:solidFill>
                <a:srgbClr val="BF8652"/>
              </a:solidFill>
              <a:ln>
                <a:noFill/>
              </a:ln>
              <a:effectLst/>
            </c:spPr>
            <c:extLst>
              <c:ext xmlns:c16="http://schemas.microsoft.com/office/drawing/2014/chart" uri="{C3380CC4-5D6E-409C-BE32-E72D297353CC}">
                <c16:uniqueId val="{0000001B-A1E7-4A95-B6A9-B89AF5A0B9C4}"/>
              </c:ext>
            </c:extLst>
          </c:dPt>
          <c:dPt>
            <c:idx val="16"/>
            <c:invertIfNegative val="0"/>
            <c:bubble3D val="0"/>
            <c:spPr>
              <a:solidFill>
                <a:srgbClr val="BF8652"/>
              </a:solidFill>
              <a:ln>
                <a:noFill/>
              </a:ln>
              <a:effectLst/>
            </c:spPr>
            <c:extLst>
              <c:ext xmlns:c16="http://schemas.microsoft.com/office/drawing/2014/chart" uri="{C3380CC4-5D6E-409C-BE32-E72D297353CC}">
                <c16:uniqueId val="{0000001C-A1E7-4A95-B6A9-B89AF5A0B9C4}"/>
              </c:ext>
            </c:extLst>
          </c:dPt>
          <c:dPt>
            <c:idx val="17"/>
            <c:invertIfNegative val="0"/>
            <c:bubble3D val="0"/>
            <c:spPr>
              <a:solidFill>
                <a:srgbClr val="BF8652"/>
              </a:solidFill>
              <a:ln>
                <a:noFill/>
              </a:ln>
              <a:effectLst/>
            </c:spPr>
            <c:extLst>
              <c:ext xmlns:c16="http://schemas.microsoft.com/office/drawing/2014/chart" uri="{C3380CC4-5D6E-409C-BE32-E72D297353CC}">
                <c16:uniqueId val="{0000001D-A1E7-4A95-B6A9-B89AF5A0B9C4}"/>
              </c:ext>
            </c:extLst>
          </c:dPt>
          <c:dPt>
            <c:idx val="18"/>
            <c:invertIfNegative val="0"/>
            <c:bubble3D val="0"/>
            <c:spPr>
              <a:solidFill>
                <a:srgbClr val="BF8652"/>
              </a:solidFill>
              <a:ln>
                <a:noFill/>
              </a:ln>
              <a:effectLst/>
            </c:spPr>
            <c:extLst>
              <c:ext xmlns:c16="http://schemas.microsoft.com/office/drawing/2014/chart" uri="{C3380CC4-5D6E-409C-BE32-E72D297353CC}">
                <c16:uniqueId val="{0000001E-A1E7-4A95-B6A9-B89AF5A0B9C4}"/>
              </c:ext>
            </c:extLst>
          </c:dPt>
          <c:dPt>
            <c:idx val="19"/>
            <c:invertIfNegative val="0"/>
            <c:bubble3D val="0"/>
            <c:spPr>
              <a:solidFill>
                <a:srgbClr val="BF8652"/>
              </a:solidFill>
              <a:ln>
                <a:noFill/>
              </a:ln>
              <a:effectLst/>
            </c:spPr>
            <c:extLst>
              <c:ext xmlns:c16="http://schemas.microsoft.com/office/drawing/2014/chart" uri="{C3380CC4-5D6E-409C-BE32-E72D297353CC}">
                <c16:uniqueId val="{0000001F-A1E7-4A95-B6A9-B89AF5A0B9C4}"/>
              </c:ext>
            </c:extLst>
          </c:dPt>
          <c:dPt>
            <c:idx val="20"/>
            <c:invertIfNegative val="0"/>
            <c:bubble3D val="0"/>
            <c:spPr>
              <a:solidFill>
                <a:srgbClr val="BF8652"/>
              </a:solidFill>
              <a:ln>
                <a:noFill/>
              </a:ln>
              <a:effectLst/>
            </c:spPr>
            <c:extLst>
              <c:ext xmlns:c16="http://schemas.microsoft.com/office/drawing/2014/chart" uri="{C3380CC4-5D6E-409C-BE32-E72D297353CC}">
                <c16:uniqueId val="{00000020-A1E7-4A95-B6A9-B89AF5A0B9C4}"/>
              </c:ext>
            </c:extLst>
          </c:dPt>
          <c:dPt>
            <c:idx val="21"/>
            <c:invertIfNegative val="0"/>
            <c:bubble3D val="0"/>
            <c:spPr>
              <a:solidFill>
                <a:srgbClr val="BF8652"/>
              </a:solidFill>
              <a:ln>
                <a:noFill/>
              </a:ln>
              <a:effectLst/>
            </c:spPr>
            <c:extLst>
              <c:ext xmlns:c16="http://schemas.microsoft.com/office/drawing/2014/chart" uri="{C3380CC4-5D6E-409C-BE32-E72D297353CC}">
                <c16:uniqueId val="{00000021-A1E7-4A95-B6A9-B89AF5A0B9C4}"/>
              </c:ext>
            </c:extLst>
          </c:dPt>
          <c:dPt>
            <c:idx val="22"/>
            <c:invertIfNegative val="0"/>
            <c:bubble3D val="0"/>
            <c:spPr>
              <a:solidFill>
                <a:srgbClr val="BF8652"/>
              </a:solidFill>
              <a:ln>
                <a:noFill/>
              </a:ln>
              <a:effectLst/>
            </c:spPr>
            <c:extLst>
              <c:ext xmlns:c16="http://schemas.microsoft.com/office/drawing/2014/chart" uri="{C3380CC4-5D6E-409C-BE32-E72D297353CC}">
                <c16:uniqueId val="{00000022-A1E7-4A95-B6A9-B89AF5A0B9C4}"/>
              </c:ext>
            </c:extLst>
          </c:dPt>
          <c:dPt>
            <c:idx val="23"/>
            <c:invertIfNegative val="0"/>
            <c:bubble3D val="0"/>
            <c:spPr>
              <a:solidFill>
                <a:srgbClr val="BF8652"/>
              </a:solidFill>
              <a:ln>
                <a:noFill/>
              </a:ln>
              <a:effectLst/>
            </c:spPr>
            <c:extLst>
              <c:ext xmlns:c16="http://schemas.microsoft.com/office/drawing/2014/chart" uri="{C3380CC4-5D6E-409C-BE32-E72D297353CC}">
                <c16:uniqueId val="{0000002E-185E-4BC4-BC20-C678D77F0BC7}"/>
              </c:ext>
            </c:extLst>
          </c:dPt>
          <c:dPt>
            <c:idx val="24"/>
            <c:invertIfNegative val="0"/>
            <c:bubble3D val="0"/>
            <c:spPr>
              <a:solidFill>
                <a:srgbClr val="089C8B"/>
              </a:solidFill>
              <a:ln>
                <a:noFill/>
              </a:ln>
              <a:effectLst/>
            </c:spPr>
            <c:extLst>
              <c:ext xmlns:c16="http://schemas.microsoft.com/office/drawing/2014/chart" uri="{C3380CC4-5D6E-409C-BE32-E72D297353CC}">
                <c16:uniqueId val="{00000030-F22E-46CF-B3B3-3761723B41A3}"/>
              </c:ext>
            </c:extLst>
          </c:dPt>
          <c:dPt>
            <c:idx val="25"/>
            <c:invertIfNegative val="0"/>
            <c:bubble3D val="0"/>
            <c:spPr>
              <a:solidFill>
                <a:srgbClr val="089C8B"/>
              </a:solidFill>
              <a:ln>
                <a:noFill/>
              </a:ln>
              <a:effectLst/>
            </c:spPr>
            <c:extLst>
              <c:ext xmlns:c16="http://schemas.microsoft.com/office/drawing/2014/chart" uri="{C3380CC4-5D6E-409C-BE32-E72D297353CC}">
                <c16:uniqueId val="{00000031-F22E-46CF-B3B3-3761723B41A3}"/>
              </c:ext>
            </c:extLst>
          </c:dPt>
          <c:dPt>
            <c:idx val="26"/>
            <c:invertIfNegative val="0"/>
            <c:bubble3D val="0"/>
            <c:spPr>
              <a:solidFill>
                <a:srgbClr val="089C8B"/>
              </a:solidFill>
              <a:ln>
                <a:noFill/>
              </a:ln>
              <a:effectLst/>
            </c:spPr>
            <c:extLst>
              <c:ext xmlns:c16="http://schemas.microsoft.com/office/drawing/2014/chart" uri="{C3380CC4-5D6E-409C-BE32-E72D297353CC}">
                <c16:uniqueId val="{00000034-FA8B-4320-B71B-459BC8403DA0}"/>
              </c:ext>
            </c:extLst>
          </c:dPt>
          <c:dPt>
            <c:idx val="27"/>
            <c:invertIfNegative val="0"/>
            <c:bubble3D val="0"/>
            <c:spPr>
              <a:solidFill>
                <a:srgbClr val="089C8B"/>
              </a:solidFill>
              <a:ln>
                <a:noFill/>
              </a:ln>
              <a:effectLst/>
            </c:spPr>
            <c:extLst>
              <c:ext xmlns:c16="http://schemas.microsoft.com/office/drawing/2014/chart" uri="{C3380CC4-5D6E-409C-BE32-E72D297353CC}">
                <c16:uniqueId val="{00000036-9BEF-4185-9A1C-BE32BFE80639}"/>
              </c:ext>
            </c:extLst>
          </c:dPt>
          <c:cat>
            <c:numRef>
              <c:f>Sheet1!$A$2:$A$29</c:f>
              <c:numCache>
                <c:formatCode>mmm\-yy</c:formatCode>
                <c:ptCount val="28"/>
                <c:pt idx="0">
                  <c:v>45292</c:v>
                </c:pt>
                <c:pt idx="1">
                  <c:v>45323</c:v>
                </c:pt>
                <c:pt idx="2">
                  <c:v>45352</c:v>
                </c:pt>
                <c:pt idx="3">
                  <c:v>45383</c:v>
                </c:pt>
                <c:pt idx="4">
                  <c:v>45413</c:v>
                </c:pt>
                <c:pt idx="5">
                  <c:v>45444</c:v>
                </c:pt>
                <c:pt idx="6">
                  <c:v>45474</c:v>
                </c:pt>
                <c:pt idx="7">
                  <c:v>45505</c:v>
                </c:pt>
                <c:pt idx="8">
                  <c:v>45536</c:v>
                </c:pt>
                <c:pt idx="9">
                  <c:v>45566</c:v>
                </c:pt>
                <c:pt idx="10">
                  <c:v>45597</c:v>
                </c:pt>
                <c:pt idx="11">
                  <c:v>45627</c:v>
                </c:pt>
                <c:pt idx="12">
                  <c:v>45658</c:v>
                </c:pt>
                <c:pt idx="13">
                  <c:v>45689</c:v>
                </c:pt>
                <c:pt idx="14">
                  <c:v>45717</c:v>
                </c:pt>
                <c:pt idx="15">
                  <c:v>45748</c:v>
                </c:pt>
                <c:pt idx="16">
                  <c:v>45778</c:v>
                </c:pt>
                <c:pt idx="17">
                  <c:v>45809</c:v>
                </c:pt>
                <c:pt idx="18">
                  <c:v>45839</c:v>
                </c:pt>
                <c:pt idx="19">
                  <c:v>45870</c:v>
                </c:pt>
                <c:pt idx="20">
                  <c:v>45901</c:v>
                </c:pt>
                <c:pt idx="21">
                  <c:v>45931</c:v>
                </c:pt>
                <c:pt idx="22">
                  <c:v>45962</c:v>
                </c:pt>
                <c:pt idx="23">
                  <c:v>45992</c:v>
                </c:pt>
                <c:pt idx="24">
                  <c:v>46023</c:v>
                </c:pt>
                <c:pt idx="25">
                  <c:v>46054</c:v>
                </c:pt>
                <c:pt idx="26">
                  <c:v>46082</c:v>
                </c:pt>
                <c:pt idx="27">
                  <c:v>46113</c:v>
                </c:pt>
              </c:numCache>
            </c:numRef>
          </c:cat>
          <c:val>
            <c:numRef>
              <c:f>Sheet1!$B$2:$B$29</c:f>
              <c:numCache>
                <c:formatCode>#,##0.00;\(#,##0.00\);\-</c:formatCode>
                <c:ptCount val="28"/>
                <c:pt idx="0">
                  <c:v>0.9</c:v>
                </c:pt>
                <c:pt idx="1">
                  <c:v>1.2416400000000001</c:v>
                </c:pt>
                <c:pt idx="2">
                  <c:v>1.1775540000000002</c:v>
                </c:pt>
                <c:pt idx="3">
                  <c:v>1.2002642857142856</c:v>
                </c:pt>
                <c:pt idx="4">
                  <c:v>1.2606500000000003</c:v>
                </c:pt>
                <c:pt idx="5">
                  <c:v>1.0987331578947368</c:v>
                </c:pt>
                <c:pt idx="6">
                  <c:v>1.144675652173913</c:v>
                </c:pt>
                <c:pt idx="7">
                  <c:v>1.3598647619047621</c:v>
                </c:pt>
                <c:pt idx="8">
                  <c:v>1.4353528571428573</c:v>
                </c:pt>
                <c:pt idx="9">
                  <c:v>1.2091459090909087</c:v>
                </c:pt>
                <c:pt idx="10">
                  <c:v>1.4194447619047619</c:v>
                </c:pt>
                <c:pt idx="11">
                  <c:v>0.94167857142857125</c:v>
                </c:pt>
                <c:pt idx="12">
                  <c:v>1.0337465000000001</c:v>
                </c:pt>
                <c:pt idx="13">
                  <c:v>1.4695795</c:v>
                </c:pt>
                <c:pt idx="14">
                  <c:v>1.4680940000000002</c:v>
                </c:pt>
                <c:pt idx="15">
                  <c:v>1.919162380952381</c:v>
                </c:pt>
                <c:pt idx="16">
                  <c:v>1.3308925</c:v>
                </c:pt>
                <c:pt idx="17">
                  <c:v>1.2256009523809521</c:v>
                </c:pt>
                <c:pt idx="18">
                  <c:v>1.4523039130434783</c:v>
                </c:pt>
                <c:pt idx="19">
                  <c:v>1.5863842857142858</c:v>
                </c:pt>
                <c:pt idx="20">
                  <c:v>1.4950577272727272</c:v>
                </c:pt>
                <c:pt idx="21">
                  <c:v>1.5219277272727274</c:v>
                </c:pt>
                <c:pt idx="22">
                  <c:v>1.756513</c:v>
                </c:pt>
                <c:pt idx="23">
                  <c:v>1.1539209090909091</c:v>
                </c:pt>
                <c:pt idx="24">
                  <c:v>1.6235633333333335</c:v>
                </c:pt>
                <c:pt idx="25">
                  <c:v>2.1161327777777781</c:v>
                </c:pt>
                <c:pt idx="26">
                  <c:v>2.41</c:v>
                </c:pt>
                <c:pt idx="27" formatCode="0.00">
                  <c:v>2.02</c:v>
                </c:pt>
              </c:numCache>
            </c:numRef>
          </c:val>
          <c:extLst>
            <c:ext xmlns:c16="http://schemas.microsoft.com/office/drawing/2014/chart" uri="{C3380CC4-5D6E-409C-BE32-E72D297353CC}">
              <c16:uniqueId val="{00000018-44E6-4459-8AAC-854906C43568}"/>
            </c:ext>
          </c:extLst>
        </c:ser>
        <c:dLbls>
          <c:showLegendKey val="0"/>
          <c:showVal val="0"/>
          <c:showCatName val="0"/>
          <c:showSerName val="0"/>
          <c:showPercent val="0"/>
          <c:showBubbleSize val="0"/>
        </c:dLbls>
        <c:gapWidth val="150"/>
        <c:overlap val="-27"/>
        <c:axId val="455363072"/>
        <c:axId val="455364992"/>
      </c:barChart>
      <c:dateAx>
        <c:axId val="455363072"/>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000000"/>
                </a:solidFill>
                <a:latin typeface="+mn-lt"/>
                <a:ea typeface="+mn-ea"/>
                <a:cs typeface="+mn-cs"/>
              </a:defRPr>
            </a:pPr>
            <a:endParaRPr lang="en-US"/>
          </a:p>
        </c:txPr>
        <c:crossAx val="455364992"/>
        <c:crosses val="autoZero"/>
        <c:auto val="1"/>
        <c:lblOffset val="100"/>
        <c:baseTimeUnit val="months"/>
      </c:dateAx>
      <c:valAx>
        <c:axId val="455364992"/>
        <c:scaling>
          <c:orientation val="minMax"/>
          <c:max val="2.5"/>
          <c:min val="0.75000000000000011"/>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0000"/>
                </a:solidFill>
                <a:latin typeface="+mn-lt"/>
                <a:ea typeface="+mn-ea"/>
                <a:cs typeface="+mn-cs"/>
              </a:defRPr>
            </a:pPr>
            <a:endParaRPr lang="en-US"/>
          </a:p>
        </c:txPr>
        <c:crossAx val="455363072"/>
        <c:crosses val="autoZero"/>
        <c:crossBetween val="between"/>
        <c:majorUnit val="0.25"/>
        <c:min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0"/>
    <c:plotArea>
      <c:layout/>
      <c:barChart>
        <c:barDir val="col"/>
        <c:grouping val="stacked"/>
        <c:varyColors val="0"/>
        <c:ser>
          <c:idx val="4"/>
          <c:order val="0"/>
          <c:tx>
            <c:strRef>
              <c:f>Chart!$C$18</c:f>
              <c:strCache>
                <c:ptCount val="1"/>
                <c:pt idx="0">
                  <c:v>IPO</c:v>
                </c:pt>
              </c:strCache>
            </c:strRef>
          </c:tx>
          <c:spPr>
            <a:solidFill>
              <a:srgbClr val="089C8B"/>
            </a:solidFill>
            <a:ln w="28575" cap="rnd">
              <a:noFill/>
              <a:round/>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0-6BCA-43BF-84CA-CD3A294DB627}"/>
                </c:ext>
              </c:extLst>
            </c:dLbl>
            <c:dLbl>
              <c:idx val="1"/>
              <c:delete val="1"/>
              <c:extLst>
                <c:ext xmlns:c15="http://schemas.microsoft.com/office/drawing/2012/chart" uri="{CE6537A1-D6FC-4f65-9D91-7224C49458BB}"/>
                <c:ext xmlns:c16="http://schemas.microsoft.com/office/drawing/2014/chart" uri="{C3380CC4-5D6E-409C-BE32-E72D297353CC}">
                  <c16:uniqueId val="{00000001-6BCA-43BF-84CA-CD3A294DB627}"/>
                </c:ext>
              </c:extLst>
            </c:dLbl>
            <c:dLbl>
              <c:idx val="3"/>
              <c:layout>
                <c:manualLayout>
                  <c:x val="-1.0683049024238778E-16"/>
                  <c:y val="6.104477898906000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BCA-43BF-84CA-CD3A294DB627}"/>
                </c:ext>
              </c:extLst>
            </c:dLbl>
            <c:numFmt formatCode="#,##0.0,,," sourceLinked="0"/>
            <c:spPr>
              <a:solidFill>
                <a:srgbClr val="089C8B"/>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numRef>
              <c:f>Chart!$B$11:$B$14</c:f>
              <c:numCache>
                <c:formatCode>General</c:formatCode>
                <c:ptCount val="4"/>
                <c:pt idx="0">
                  <c:v>2023</c:v>
                </c:pt>
                <c:pt idx="1">
                  <c:v>2024</c:v>
                </c:pt>
                <c:pt idx="2">
                  <c:v>2025</c:v>
                </c:pt>
                <c:pt idx="3" formatCode="&quot;YTD &quot;0">
                  <c:v>2026</c:v>
                </c:pt>
              </c:numCache>
            </c:numRef>
          </c:cat>
          <c:val>
            <c:numRef>
              <c:f>Chart!$C$11:$C$14</c:f>
              <c:numCache>
                <c:formatCode>#,##0.00,,,</c:formatCode>
                <c:ptCount val="4"/>
                <c:pt idx="0">
                  <c:v>32461748</c:v>
                </c:pt>
                <c:pt idx="1">
                  <c:v>34405918</c:v>
                </c:pt>
                <c:pt idx="2">
                  <c:v>1928226169</c:v>
                </c:pt>
                <c:pt idx="3">
                  <c:v>795250680</c:v>
                </c:pt>
              </c:numCache>
            </c:numRef>
          </c:val>
          <c:extLst>
            <c:ext xmlns:c16="http://schemas.microsoft.com/office/drawing/2014/chart" uri="{C3380CC4-5D6E-409C-BE32-E72D297353CC}">
              <c16:uniqueId val="{00000003-6BCA-43BF-84CA-CD3A294DB627}"/>
            </c:ext>
          </c:extLst>
        </c:ser>
        <c:ser>
          <c:idx val="0"/>
          <c:order val="1"/>
          <c:tx>
            <c:strRef>
              <c:f>Chart!$D$18</c:f>
              <c:strCache>
                <c:ptCount val="1"/>
                <c:pt idx="0">
                  <c:v>Placements</c:v>
                </c:pt>
              </c:strCache>
            </c:strRef>
          </c:tx>
          <c:spPr>
            <a:solidFill>
              <a:schemeClr val="tx2">
                <a:lumMod val="40000"/>
                <a:lumOff val="60000"/>
              </a:schemeClr>
            </a:solidFill>
            <a:ln w="19050">
              <a:noFill/>
            </a:ln>
            <a:effectLst/>
          </c:spPr>
          <c:invertIfNegative val="0"/>
          <c:dLbls>
            <c:dLbl>
              <c:idx val="0"/>
              <c:layout>
                <c:manualLayout>
                  <c:x val="-1.3353811280298473E-17"/>
                  <c:y val="-2.44179115956240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BCA-43BF-84CA-CD3A294DB627}"/>
                </c:ext>
              </c:extLst>
            </c:dLbl>
            <c:dLbl>
              <c:idx val="1"/>
              <c:layout>
                <c:manualLayout>
                  <c:x val="0"/>
                  <c:y val="-1.83134336967180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BCA-43BF-84CA-CD3A294DB627}"/>
                </c:ext>
              </c:extLst>
            </c:dLbl>
            <c:numFmt formatCode="#,##0.0,,," sourceLinked="0"/>
            <c:spPr>
              <a:solidFill>
                <a:schemeClr val="tx2">
                  <a:lumMod val="40000"/>
                  <a:lumOff val="60000"/>
                </a:schemeClr>
              </a:solidFill>
              <a:ln>
                <a:noFill/>
              </a:ln>
              <a:effectLst/>
            </c:spPr>
            <c:txPr>
              <a:bodyPr rot="0" spcFirstLastPara="1" vertOverflow="ellipsis" vert="horz" wrap="square" lIns="38100" tIns="0" rIns="38100" bIns="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6350" cap="flat" cmpd="sng" algn="ctr">
                      <a:solidFill>
                        <a:schemeClr val="tx1"/>
                      </a:solidFill>
                      <a:prstDash val="solid"/>
                      <a:round/>
                    </a:ln>
                    <a:effectLst/>
                  </c:spPr>
                </c15:leaderLines>
              </c:ext>
            </c:extLst>
          </c:dLbls>
          <c:cat>
            <c:numRef>
              <c:f>Chart!$B$11:$B$14</c:f>
              <c:numCache>
                <c:formatCode>General</c:formatCode>
                <c:ptCount val="4"/>
                <c:pt idx="0">
                  <c:v>2023</c:v>
                </c:pt>
                <c:pt idx="1">
                  <c:v>2024</c:v>
                </c:pt>
                <c:pt idx="2">
                  <c:v>2025</c:v>
                </c:pt>
                <c:pt idx="3" formatCode="&quot;YTD &quot;0">
                  <c:v>2026</c:v>
                </c:pt>
              </c:numCache>
            </c:numRef>
          </c:cat>
          <c:val>
            <c:numRef>
              <c:f>Chart!$D$11:$D$14</c:f>
              <c:numCache>
                <c:formatCode>#,##0.00,,,</c:formatCode>
                <c:ptCount val="4"/>
                <c:pt idx="0">
                  <c:v>1429629748</c:v>
                </c:pt>
                <c:pt idx="1">
                  <c:v>1519887907</c:v>
                </c:pt>
                <c:pt idx="2">
                  <c:v>1920747236</c:v>
                </c:pt>
                <c:pt idx="3">
                  <c:v>1355209895</c:v>
                </c:pt>
              </c:numCache>
            </c:numRef>
          </c:val>
          <c:extLst>
            <c:ext xmlns:c16="http://schemas.microsoft.com/office/drawing/2014/chart" uri="{C3380CC4-5D6E-409C-BE32-E72D297353CC}">
              <c16:uniqueId val="{00000006-6BCA-43BF-84CA-CD3A294DB627}"/>
            </c:ext>
          </c:extLst>
        </c:ser>
        <c:ser>
          <c:idx val="1"/>
          <c:order val="2"/>
          <c:tx>
            <c:strRef>
              <c:f>Chart!$E$18</c:f>
              <c:strCache>
                <c:ptCount val="1"/>
                <c:pt idx="0">
                  <c:v>Preferential Offering</c:v>
                </c:pt>
              </c:strCache>
            </c:strRef>
          </c:tx>
          <c:spPr>
            <a:solidFill>
              <a:srgbClr val="00375E"/>
            </a:solidFill>
            <a:ln w="19050">
              <a:noFill/>
            </a:ln>
            <a:effectLst/>
          </c:spPr>
          <c:invertIfNegative val="0"/>
          <c:dLbls>
            <c:dLbl>
              <c:idx val="3"/>
              <c:layout>
                <c:manualLayout>
                  <c:x val="0"/>
                  <c:y val="-1.83134336967181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BCA-43BF-84CA-CD3A294DB627}"/>
                </c:ext>
              </c:extLst>
            </c:dLbl>
            <c:numFmt formatCode="#,##0.0,,," sourceLinked="0"/>
            <c:spPr>
              <a:solidFill>
                <a:srgbClr val="00375E"/>
              </a:solidFill>
              <a:ln>
                <a:noFill/>
              </a:ln>
              <a:effectLst/>
            </c:spPr>
            <c:txPr>
              <a:bodyPr rot="0" spcFirstLastPara="1" vertOverflow="ellipsis" vert="horz" wrap="square" lIns="38100" tIns="0" rIns="38100" bIns="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6350" cap="flat" cmpd="sng" algn="ctr">
                      <a:solidFill>
                        <a:schemeClr val="tx1"/>
                      </a:solidFill>
                      <a:prstDash val="solid"/>
                      <a:round/>
                    </a:ln>
                    <a:effectLst/>
                  </c:spPr>
                </c15:leaderLines>
              </c:ext>
            </c:extLst>
          </c:dLbls>
          <c:cat>
            <c:numRef>
              <c:f>Chart!$B$11:$B$14</c:f>
              <c:numCache>
                <c:formatCode>General</c:formatCode>
                <c:ptCount val="4"/>
                <c:pt idx="0">
                  <c:v>2023</c:v>
                </c:pt>
                <c:pt idx="1">
                  <c:v>2024</c:v>
                </c:pt>
                <c:pt idx="2">
                  <c:v>2025</c:v>
                </c:pt>
                <c:pt idx="3" formatCode="&quot;YTD &quot;0">
                  <c:v>2026</c:v>
                </c:pt>
              </c:numCache>
            </c:numRef>
          </c:cat>
          <c:val>
            <c:numRef>
              <c:f>Chart!$E$11:$E$14</c:f>
              <c:numCache>
                <c:formatCode>#,##0.00,,,</c:formatCode>
                <c:ptCount val="4"/>
                <c:pt idx="0">
                  <c:v>871913764</c:v>
                </c:pt>
                <c:pt idx="1">
                  <c:v>839149442</c:v>
                </c:pt>
                <c:pt idx="2">
                  <c:v>463432602</c:v>
                </c:pt>
                <c:pt idx="3">
                  <c:v>1136812510</c:v>
                </c:pt>
              </c:numCache>
            </c:numRef>
          </c:val>
          <c:extLst>
            <c:ext xmlns:c16="http://schemas.microsoft.com/office/drawing/2014/chart" uri="{C3380CC4-5D6E-409C-BE32-E72D297353CC}">
              <c16:uniqueId val="{00000008-6BCA-43BF-84CA-CD3A294DB627}"/>
            </c:ext>
          </c:extLst>
        </c:ser>
        <c:dLbls>
          <c:showLegendKey val="0"/>
          <c:showVal val="0"/>
          <c:showCatName val="0"/>
          <c:showSerName val="0"/>
          <c:showPercent val="0"/>
          <c:showBubbleSize val="0"/>
        </c:dLbls>
        <c:gapWidth val="75"/>
        <c:overlap val="100"/>
        <c:axId val="34523120"/>
        <c:axId val="34524560"/>
        <c:extLst>
          <c:ext xmlns:c15="http://schemas.microsoft.com/office/drawing/2012/chart" uri="{02D57815-91ED-43cb-92C2-25804820EDAC}">
            <c15:filteredBarSeries>
              <c15:ser>
                <c:idx val="2"/>
                <c:order val="3"/>
                <c:tx>
                  <c:strRef>
                    <c:extLst>
                      <c:ext uri="{02D57815-91ED-43cb-92C2-25804820EDAC}">
                        <c15:formulaRef>
                          <c15:sqref>Chart!$F$2</c15:sqref>
                        </c15:formulaRef>
                      </c:ext>
                    </c:extLst>
                    <c:strCache>
                      <c:ptCount val="1"/>
                      <c:pt idx="0">
                        <c:v>Secondaries</c:v>
                      </c:pt>
                    </c:strCache>
                  </c:strRef>
                </c:tx>
                <c:spPr>
                  <a:solidFill>
                    <a:schemeClr val="accent3"/>
                  </a:solidFill>
                  <a:ln w="19050">
                    <a:noFill/>
                  </a:ln>
                  <a:effectLst/>
                </c:spPr>
                <c:invertIfNegative val="0"/>
                <c:cat>
                  <c:numRef>
                    <c:extLst>
                      <c:ext uri="{02D57815-91ED-43cb-92C2-25804820EDAC}">
                        <c15:formulaRef>
                          <c15:sqref>Chart!$B$11:$B$14</c15:sqref>
                        </c15:formulaRef>
                      </c:ext>
                    </c:extLst>
                    <c:numCache>
                      <c:formatCode>General</c:formatCode>
                      <c:ptCount val="4"/>
                      <c:pt idx="0">
                        <c:v>2023</c:v>
                      </c:pt>
                      <c:pt idx="1">
                        <c:v>2024</c:v>
                      </c:pt>
                      <c:pt idx="2">
                        <c:v>2025</c:v>
                      </c:pt>
                      <c:pt idx="3" formatCode="&quot;YTD &quot;0">
                        <c:v>2026</c:v>
                      </c:pt>
                    </c:numCache>
                  </c:numRef>
                </c:cat>
                <c:val>
                  <c:numRef>
                    <c:extLst>
                      <c:ext uri="{02D57815-91ED-43cb-92C2-25804820EDAC}">
                        <c15:formulaRef>
                          <c15:sqref>Chart!$F$11:$F$14</c15:sqref>
                        </c15:formulaRef>
                      </c:ext>
                    </c:extLst>
                    <c:numCache>
                      <c:formatCode>#,##0.00,,,</c:formatCode>
                      <c:ptCount val="4"/>
                      <c:pt idx="0">
                        <c:v>2301543512</c:v>
                      </c:pt>
                      <c:pt idx="1">
                        <c:v>2359037349</c:v>
                      </c:pt>
                      <c:pt idx="2">
                        <c:v>2384179838</c:v>
                      </c:pt>
                      <c:pt idx="3">
                        <c:v>2492022405</c:v>
                      </c:pt>
                    </c:numCache>
                  </c:numRef>
                </c:val>
                <c:extLst>
                  <c:ext xmlns:c16="http://schemas.microsoft.com/office/drawing/2014/chart" uri="{C3380CC4-5D6E-409C-BE32-E72D297353CC}">
                    <c16:uniqueId val="{0000000B-6BCA-43BF-84CA-CD3A294DB627}"/>
                  </c:ext>
                </c:extLst>
              </c15:ser>
            </c15:filteredBarSeries>
          </c:ext>
        </c:extLst>
      </c:barChart>
      <c:lineChart>
        <c:grouping val="standard"/>
        <c:varyColors val="0"/>
        <c:ser>
          <c:idx val="3"/>
          <c:order val="4"/>
          <c:tx>
            <c:strRef>
              <c:f>Chart!$G$18</c:f>
              <c:strCache>
                <c:ptCount val="1"/>
                <c:pt idx="0">
                  <c:v>Total</c:v>
                </c:pt>
              </c:strCache>
            </c:strRef>
          </c:tx>
          <c:spPr>
            <a:ln w="19050" cap="rnd" cmpd="sng" algn="ctr">
              <a:noFill/>
              <a:prstDash val="solid"/>
              <a:round/>
            </a:ln>
            <a:effectLst/>
          </c:spPr>
          <c:marker>
            <c:symbol val="none"/>
          </c:marker>
          <c:dLbls>
            <c:dLbl>
              <c:idx val="3"/>
              <c:layout>
                <c:manualLayout>
                  <c:x val="-7.6586875527658485E-2"/>
                  <c:y val="-8.45138528388225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BCA-43BF-84CA-CD3A294DB627}"/>
                </c:ext>
              </c:extLst>
            </c:dLbl>
            <c:numFmt formatCode="#,##0.0,,," sourceLinked="0"/>
            <c:spPr>
              <a:solidFill>
                <a:schemeClr val="lt1"/>
              </a:solidFill>
              <a:ln>
                <a:solidFill>
                  <a:schemeClr val="dk1">
                    <a:lumMod val="65000"/>
                    <a:lumOff val="35000"/>
                  </a:schemeClr>
                </a:solidFill>
              </a:ln>
              <a:effectLst/>
            </c:spPr>
            <c:txPr>
              <a:bodyPr rot="0" spcFirstLastPara="1" vertOverflow="overflow" horzOverflow="overflow" vert="horz" wrap="square" lIns="108000" tIns="0" rIns="108000" bIns="0" anchor="ctr" anchorCtr="1">
                <a:spAutoFit/>
              </a:bodyPr>
              <a:lstStyle/>
              <a:p>
                <a:pPr>
                  <a:defRPr sz="1000" b="0" i="0" u="none" strike="noStrike" kern="1200" baseline="0">
                    <a:solidFill>
                      <a:schemeClr val="dk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ellipse">
                    <a:avLst/>
                  </a:prstGeom>
                  <a:noFill/>
                  <a:ln>
                    <a:noFill/>
                  </a:ln>
                </c15:spPr>
                <c15:showLeaderLines val="0"/>
              </c:ext>
            </c:extLst>
          </c:dLbls>
          <c:cat>
            <c:numRef>
              <c:f>Chart!$B$11:$B$14</c:f>
              <c:numCache>
                <c:formatCode>General</c:formatCode>
                <c:ptCount val="4"/>
                <c:pt idx="0">
                  <c:v>2023</c:v>
                </c:pt>
                <c:pt idx="1">
                  <c:v>2024</c:v>
                </c:pt>
                <c:pt idx="2">
                  <c:v>2025</c:v>
                </c:pt>
                <c:pt idx="3" formatCode="&quot;YTD &quot;0">
                  <c:v>2026</c:v>
                </c:pt>
              </c:numCache>
            </c:numRef>
          </c:cat>
          <c:val>
            <c:numRef>
              <c:f>Chart!$G$11:$G$14</c:f>
              <c:numCache>
                <c:formatCode>#,##0.00,,,</c:formatCode>
                <c:ptCount val="4"/>
                <c:pt idx="0">
                  <c:v>2334005260</c:v>
                </c:pt>
                <c:pt idx="1">
                  <c:v>2393443267</c:v>
                </c:pt>
                <c:pt idx="2">
                  <c:v>4312406007</c:v>
                </c:pt>
                <c:pt idx="3">
                  <c:v>3287273085</c:v>
                </c:pt>
              </c:numCache>
            </c:numRef>
          </c:val>
          <c:smooth val="0"/>
          <c:extLst>
            <c:ext xmlns:c16="http://schemas.microsoft.com/office/drawing/2014/chart" uri="{C3380CC4-5D6E-409C-BE32-E72D297353CC}">
              <c16:uniqueId val="{0000000A-6BCA-43BF-84CA-CD3A294DB627}"/>
            </c:ext>
          </c:extLst>
        </c:ser>
        <c:dLbls>
          <c:showLegendKey val="0"/>
          <c:showVal val="0"/>
          <c:showCatName val="0"/>
          <c:showSerName val="0"/>
          <c:showPercent val="0"/>
          <c:showBubbleSize val="0"/>
        </c:dLbls>
        <c:marker val="1"/>
        <c:smooth val="0"/>
        <c:axId val="34523120"/>
        <c:axId val="34524560"/>
      </c:lineChart>
      <c:catAx>
        <c:axId val="34523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4524560"/>
        <c:crosses val="autoZero"/>
        <c:auto val="1"/>
        <c:lblAlgn val="ctr"/>
        <c:lblOffset val="200"/>
        <c:noMultiLvlLbl val="0"/>
      </c:catAx>
      <c:valAx>
        <c:axId val="34524560"/>
        <c:scaling>
          <c:orientation val="minMax"/>
        </c:scaling>
        <c:delete val="1"/>
        <c:axPos val="l"/>
        <c:numFmt formatCode="&quot;US$&quot;#,##0.0,,,&quot;b&quot;" sourceLinked="0"/>
        <c:majorTickMark val="out"/>
        <c:minorTickMark val="none"/>
        <c:tickLblPos val="nextTo"/>
        <c:crossAx val="34523120"/>
        <c:crosses val="autoZero"/>
        <c:crossBetween val="between"/>
      </c:valAx>
      <c:spPr>
        <a:noFill/>
        <a:ln>
          <a:noFill/>
        </a:ln>
        <a:effectLst/>
      </c:spPr>
    </c:plotArea>
    <c:legend>
      <c:legendPos val="t"/>
      <c:layout>
        <c:manualLayout>
          <c:xMode val="edge"/>
          <c:yMode val="edge"/>
          <c:x val="0.16247201115882981"/>
          <c:y val="3.6626867393436006E-2"/>
          <c:w val="0.80908100245934722"/>
          <c:h val="0.1041621003249312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6350" cap="flat" cmpd="sng" algn="ctr">
      <a:noFill/>
      <a:prstDash val="solid"/>
      <a:miter lim="800000"/>
    </a:ln>
    <a:effectLst/>
  </c:spPr>
  <c:txPr>
    <a:bodyPr/>
    <a:lstStyle/>
    <a:p>
      <a:pPr>
        <a:defRPr sz="10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3601294452759E-2"/>
          <c:y val="3.1730766828379255E-2"/>
          <c:w val="0.93727974110944823"/>
          <c:h val="0.74968763251910708"/>
        </c:manualLayout>
      </c:layout>
      <c:barChart>
        <c:barDir val="col"/>
        <c:grouping val="stacked"/>
        <c:varyColors val="0"/>
        <c:ser>
          <c:idx val="1"/>
          <c:order val="0"/>
          <c:tx>
            <c:strRef>
              <c:f>Sheet1!$B$1</c:f>
              <c:strCache>
                <c:ptCount val="1"/>
                <c:pt idx="0">
                  <c:v>Private Placements</c:v>
                </c:pt>
              </c:strCache>
            </c:strRef>
          </c:tx>
          <c:spPr>
            <a:solidFill>
              <a:srgbClr val="315D9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Sheet1!$A$7:$A$13</c:f>
              <c:strCache>
                <c:ptCount val="7"/>
                <c:pt idx="0">
                  <c:v>2020</c:v>
                </c:pt>
                <c:pt idx="1">
                  <c:v>2021</c:v>
                </c:pt>
                <c:pt idx="2">
                  <c:v>2022</c:v>
                </c:pt>
                <c:pt idx="3">
                  <c:v>2023</c:v>
                </c:pt>
                <c:pt idx="4">
                  <c:v>2024</c:v>
                </c:pt>
                <c:pt idx="5">
                  <c:v>2025</c:v>
                </c:pt>
                <c:pt idx="6">
                  <c:v>YTD 2026</c:v>
                </c:pt>
              </c:strCache>
            </c:strRef>
          </c:cat>
          <c:val>
            <c:numRef>
              <c:f>Sheet1!$B$7:$B$13</c:f>
              <c:numCache>
                <c:formatCode>#,##0.0_);\(#,##0.0\);"-"_);@_)</c:formatCode>
                <c:ptCount val="7"/>
                <c:pt idx="0">
                  <c:v>2.8383792292976224</c:v>
                </c:pt>
                <c:pt idx="1">
                  <c:v>3.336937453348773</c:v>
                </c:pt>
                <c:pt idx="2">
                  <c:v>0.56999999999999995</c:v>
                </c:pt>
                <c:pt idx="3">
                  <c:v>1.5078</c:v>
                </c:pt>
                <c:pt idx="4">
                  <c:v>1.7939808392976224</c:v>
                </c:pt>
                <c:pt idx="5">
                  <c:v>1.754</c:v>
                </c:pt>
                <c:pt idx="6">
                  <c:v>1.5</c:v>
                </c:pt>
              </c:numCache>
            </c:numRef>
          </c:val>
          <c:extLst>
            <c:ext xmlns:c16="http://schemas.microsoft.com/office/drawing/2014/chart" uri="{C3380CC4-5D6E-409C-BE32-E72D297353CC}">
              <c16:uniqueId val="{00000001-355C-4913-B682-A629861D86E8}"/>
            </c:ext>
          </c:extLst>
        </c:ser>
        <c:ser>
          <c:idx val="2"/>
          <c:order val="1"/>
          <c:tx>
            <c:strRef>
              <c:f>Sheet1!$C$1</c:f>
              <c:strCache>
                <c:ptCount val="1"/>
                <c:pt idx="0">
                  <c:v>Preferential Offerings</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Sheet1!$A$7:$A$13</c:f>
              <c:strCache>
                <c:ptCount val="7"/>
                <c:pt idx="0">
                  <c:v>2020</c:v>
                </c:pt>
                <c:pt idx="1">
                  <c:v>2021</c:v>
                </c:pt>
                <c:pt idx="2">
                  <c:v>2022</c:v>
                </c:pt>
                <c:pt idx="3">
                  <c:v>2023</c:v>
                </c:pt>
                <c:pt idx="4">
                  <c:v>2024</c:v>
                </c:pt>
                <c:pt idx="5">
                  <c:v>2025</c:v>
                </c:pt>
                <c:pt idx="6">
                  <c:v>YTD 2026</c:v>
                </c:pt>
              </c:strCache>
            </c:strRef>
          </c:cat>
          <c:val>
            <c:numRef>
              <c:f>Sheet1!$C$7:$C$13</c:f>
              <c:numCache>
                <c:formatCode>#,##0.0_);\(#,##0.0\);"-"_);@_)</c:formatCode>
                <c:ptCount val="7"/>
                <c:pt idx="0">
                  <c:v>1.381</c:v>
                </c:pt>
                <c:pt idx="1">
                  <c:v>1.1155999999999999</c:v>
                </c:pt>
                <c:pt idx="2">
                  <c:v>0.24880000000000002</c:v>
                </c:pt>
                <c:pt idx="3">
                  <c:v>0.62570000000000003</c:v>
                </c:pt>
                <c:pt idx="4">
                  <c:v>1.2031480799602137</c:v>
                </c:pt>
                <c:pt idx="5">
                  <c:v>0.60599999999999998</c:v>
                </c:pt>
                <c:pt idx="6">
                  <c:v>1.3859999999999999</c:v>
                </c:pt>
              </c:numCache>
            </c:numRef>
          </c:val>
          <c:extLst>
            <c:ext xmlns:c16="http://schemas.microsoft.com/office/drawing/2014/chart" uri="{C3380CC4-5D6E-409C-BE32-E72D297353CC}">
              <c16:uniqueId val="{00000002-355C-4913-B682-A629861D86E8}"/>
            </c:ext>
          </c:extLst>
        </c:ser>
        <c:ser>
          <c:idx val="3"/>
          <c:order val="2"/>
          <c:tx>
            <c:strRef>
              <c:f>Sheet1!$D$1</c:f>
              <c:strCache>
                <c:ptCount val="1"/>
                <c:pt idx="0">
                  <c:v>Rights Issues</c:v>
                </c:pt>
              </c:strCache>
            </c:strRef>
          </c:tx>
          <c:spPr>
            <a:solidFill>
              <a:schemeClr val="bg2">
                <a:lumMod val="50000"/>
              </a:schemeClr>
            </a:solidFill>
            <a:ln>
              <a:noFill/>
            </a:ln>
            <a:effectLst/>
          </c:spPr>
          <c:invertIfNegative val="0"/>
          <c:dLbls>
            <c:dLbl>
              <c:idx val="2"/>
              <c:delete val="1"/>
              <c:extLst>
                <c:ext xmlns:c15="http://schemas.microsoft.com/office/drawing/2012/chart" uri="{CE6537A1-D6FC-4f65-9D91-7224C49458BB}"/>
                <c:ext xmlns:c16="http://schemas.microsoft.com/office/drawing/2014/chart" uri="{C3380CC4-5D6E-409C-BE32-E72D297353CC}">
                  <c16:uniqueId val="{00000011-355C-4913-B682-A629861D86E8}"/>
                </c:ext>
              </c:extLst>
            </c:dLbl>
            <c:dLbl>
              <c:idx val="3"/>
              <c:delete val="1"/>
              <c:extLst>
                <c:ext xmlns:c15="http://schemas.microsoft.com/office/drawing/2012/chart" uri="{CE6537A1-D6FC-4f65-9D91-7224C49458BB}"/>
                <c:ext xmlns:c16="http://schemas.microsoft.com/office/drawing/2014/chart" uri="{C3380CC4-5D6E-409C-BE32-E72D297353CC}">
                  <c16:uniqueId val="{00000010-355C-4913-B682-A629861D86E8}"/>
                </c:ext>
              </c:extLst>
            </c:dLbl>
            <c:dLbl>
              <c:idx val="4"/>
              <c:delete val="1"/>
              <c:extLst>
                <c:ext xmlns:c15="http://schemas.microsoft.com/office/drawing/2012/chart" uri="{CE6537A1-D6FC-4f65-9D91-7224C49458BB}"/>
                <c:ext xmlns:c16="http://schemas.microsoft.com/office/drawing/2014/chart" uri="{C3380CC4-5D6E-409C-BE32-E72D297353CC}">
                  <c16:uniqueId val="{0000000F-355C-4913-B682-A629861D86E8}"/>
                </c:ext>
              </c:extLst>
            </c:dLbl>
            <c:dLbl>
              <c:idx val="5"/>
              <c:delete val="1"/>
              <c:extLst>
                <c:ext xmlns:c15="http://schemas.microsoft.com/office/drawing/2012/chart" uri="{CE6537A1-D6FC-4f65-9D91-7224C49458BB}"/>
                <c:ext xmlns:c16="http://schemas.microsoft.com/office/drawing/2014/chart" uri="{C3380CC4-5D6E-409C-BE32-E72D297353CC}">
                  <c16:uniqueId val="{0000000E-355C-4913-B682-A629861D86E8}"/>
                </c:ext>
              </c:extLst>
            </c:dLbl>
            <c:spPr>
              <a:solidFill>
                <a:srgbClr val="767171"/>
              </a:solid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Sheet1!$A$7:$A$13</c:f>
              <c:strCache>
                <c:ptCount val="7"/>
                <c:pt idx="0">
                  <c:v>2020</c:v>
                </c:pt>
                <c:pt idx="1">
                  <c:v>2021</c:v>
                </c:pt>
                <c:pt idx="2">
                  <c:v>2022</c:v>
                </c:pt>
                <c:pt idx="3">
                  <c:v>2023</c:v>
                </c:pt>
                <c:pt idx="4">
                  <c:v>2024</c:v>
                </c:pt>
                <c:pt idx="5">
                  <c:v>2025</c:v>
                </c:pt>
                <c:pt idx="6">
                  <c:v>YTD 2026</c:v>
                </c:pt>
              </c:strCache>
            </c:strRef>
          </c:cat>
          <c:val>
            <c:numRef>
              <c:f>Sheet1!$D$7:$D$13</c:f>
              <c:numCache>
                <c:formatCode>#,##0.0_);\(#,##0.0\);"-"_);@_)</c:formatCode>
                <c:ptCount val="7"/>
                <c:pt idx="0">
                  <c:v>0.189</c:v>
                </c:pt>
                <c:pt idx="1">
                  <c:v>0.15819999999999998</c:v>
                </c:pt>
                <c:pt idx="2">
                  <c:v>0</c:v>
                </c:pt>
                <c:pt idx="3">
                  <c:v>0</c:v>
                </c:pt>
                <c:pt idx="4">
                  <c:v>0</c:v>
                </c:pt>
                <c:pt idx="5">
                  <c:v>0</c:v>
                </c:pt>
                <c:pt idx="6">
                  <c:v>6.3E-2</c:v>
                </c:pt>
              </c:numCache>
            </c:numRef>
          </c:val>
          <c:extLst>
            <c:ext xmlns:c16="http://schemas.microsoft.com/office/drawing/2014/chart" uri="{C3380CC4-5D6E-409C-BE32-E72D297353CC}">
              <c16:uniqueId val="{00000009-355C-4913-B682-A629861D86E8}"/>
            </c:ext>
          </c:extLst>
        </c:ser>
        <c:ser>
          <c:idx val="0"/>
          <c:order val="4"/>
          <c:tx>
            <c:strRef>
              <c:f>Sheet1!$E$1</c:f>
              <c:strCache>
                <c:ptCount val="1"/>
                <c:pt idx="0">
                  <c:v>IPO</c:v>
                </c:pt>
              </c:strCache>
            </c:strRef>
          </c:tx>
          <c:spPr>
            <a:solidFill>
              <a:srgbClr val="055F54"/>
            </a:solidFill>
            <a:ln w="19050">
              <a:noFill/>
            </a:ln>
          </c:spPr>
          <c:invertIfNegative val="0"/>
          <c:dLbls>
            <c:dLbl>
              <c:idx val="2"/>
              <c:delete val="1"/>
              <c:extLst>
                <c:ext xmlns:c15="http://schemas.microsoft.com/office/drawing/2012/chart" uri="{CE6537A1-D6FC-4f65-9D91-7224C49458BB}"/>
                <c:ext xmlns:c16="http://schemas.microsoft.com/office/drawing/2014/chart" uri="{C3380CC4-5D6E-409C-BE32-E72D297353CC}">
                  <c16:uniqueId val="{00000005-48D2-491F-9047-45514939AC8C}"/>
                </c:ext>
              </c:extLst>
            </c:dLbl>
            <c:dLbl>
              <c:idx val="3"/>
              <c:delete val="1"/>
              <c:extLst>
                <c:ext xmlns:c15="http://schemas.microsoft.com/office/drawing/2012/chart" uri="{CE6537A1-D6FC-4f65-9D91-7224C49458BB}"/>
                <c:ext xmlns:c16="http://schemas.microsoft.com/office/drawing/2014/chart" uri="{C3380CC4-5D6E-409C-BE32-E72D297353CC}">
                  <c16:uniqueId val="{00000003-48D2-491F-9047-45514939AC8C}"/>
                </c:ext>
              </c:extLst>
            </c:dLbl>
            <c:dLbl>
              <c:idx val="4"/>
              <c:delete val="1"/>
              <c:extLst>
                <c:ext xmlns:c15="http://schemas.microsoft.com/office/drawing/2012/chart" uri="{CE6537A1-D6FC-4f65-9D91-7224C49458BB}"/>
                <c:ext xmlns:c16="http://schemas.microsoft.com/office/drawing/2014/chart" uri="{C3380CC4-5D6E-409C-BE32-E72D297353CC}">
                  <c16:uniqueId val="{00000004-48D2-491F-9047-45514939AC8C}"/>
                </c:ext>
              </c:extLst>
            </c:dLbl>
            <c:numFmt formatCode="#,##0.0" sourceLinked="0"/>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val>
            <c:numRef>
              <c:f>Sheet1!$E$7:$E$13</c:f>
              <c:numCache>
                <c:formatCode>#,##0.0_);\(#,##0.0\);"-"_);@_)</c:formatCode>
                <c:ptCount val="7"/>
                <c:pt idx="0">
                  <c:v>0.60203300000000004</c:v>
                </c:pt>
                <c:pt idx="1">
                  <c:v>1.238</c:v>
                </c:pt>
                <c:pt idx="2">
                  <c:v>0</c:v>
                </c:pt>
                <c:pt idx="3">
                  <c:v>0</c:v>
                </c:pt>
                <c:pt idx="4">
                  <c:v>0</c:v>
                </c:pt>
                <c:pt idx="5" formatCode="#,##0.000_);\(#,##0.000\);&quot;-&quot;_);@_)">
                  <c:v>1.768</c:v>
                </c:pt>
                <c:pt idx="6">
                  <c:v>0.97399999999999998</c:v>
                </c:pt>
              </c:numCache>
            </c:numRef>
          </c:val>
          <c:extLst>
            <c:ext xmlns:c16="http://schemas.microsoft.com/office/drawing/2014/chart" uri="{C3380CC4-5D6E-409C-BE32-E72D297353CC}">
              <c16:uniqueId val="{00000001-48D2-491F-9047-45514939AC8C}"/>
            </c:ext>
          </c:extLst>
        </c:ser>
        <c:dLbls>
          <c:showLegendKey val="0"/>
          <c:showVal val="0"/>
          <c:showCatName val="0"/>
          <c:showSerName val="0"/>
          <c:showPercent val="0"/>
          <c:showBubbleSize val="0"/>
        </c:dLbls>
        <c:gapWidth val="150"/>
        <c:overlap val="100"/>
        <c:axId val="475283664"/>
        <c:axId val="475285104"/>
      </c:barChart>
      <c:lineChart>
        <c:grouping val="standard"/>
        <c:varyColors val="0"/>
        <c:ser>
          <c:idx val="4"/>
          <c:order val="3"/>
          <c:tx>
            <c:strRef>
              <c:f>Sheet1!$F$1</c:f>
              <c:strCache>
                <c:ptCount val="1"/>
                <c:pt idx="0">
                  <c:v>Total</c:v>
                </c:pt>
              </c:strCache>
            </c:strRef>
          </c:tx>
          <c:spPr>
            <a:ln w="28575" cap="rnd">
              <a:noFill/>
              <a:round/>
            </a:ln>
            <a:effectLst/>
          </c:spPr>
          <c:marker>
            <c:symbol val="none"/>
          </c:marker>
          <c:dPt>
            <c:idx val="0"/>
            <c:bubble3D val="0"/>
            <c:extLst>
              <c:ext xmlns:c16="http://schemas.microsoft.com/office/drawing/2014/chart" uri="{C3380CC4-5D6E-409C-BE32-E72D297353CC}">
                <c16:uniqueId val="{00000002-48D2-491F-9047-45514939AC8C}"/>
              </c:ext>
            </c:extLst>
          </c:dPt>
          <c:dLbls>
            <c:numFmt formatCode="#,##0.0" sourceLinked="0"/>
            <c:spPr>
              <a:solidFill>
                <a:schemeClr val="lt1"/>
              </a:solidFill>
              <a:ln>
                <a:solidFill>
                  <a:schemeClr val="dk1">
                    <a:lumMod val="25000"/>
                    <a:lumOff val="75000"/>
                  </a:schemeClr>
                </a:solidFill>
              </a:ln>
              <a:effectLst/>
            </c:spPr>
            <c:txPr>
              <a:bodyPr rot="0" spcFirstLastPara="1" vertOverflow="clip" horzOverflow="clip" vert="horz" wrap="square" lIns="36000" tIns="0" rIns="36000" bIns="0" anchor="ctr" anchorCtr="1">
                <a:spAutoFit/>
              </a:bodyPr>
              <a:lstStyle/>
              <a:p>
                <a:pPr>
                  <a:defRPr sz="10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ellipse">
                    <a:avLst/>
                  </a:prstGeom>
                </c15:spPr>
                <c15:showLeaderLines val="1"/>
                <c15:leaderLines>
                  <c:spPr>
                    <a:ln w="9525" cap="flat" cmpd="sng" algn="ctr">
                      <a:solidFill>
                        <a:schemeClr val="tx1">
                          <a:lumMod val="35000"/>
                          <a:lumOff val="65000"/>
                        </a:schemeClr>
                      </a:solidFill>
                      <a:round/>
                    </a:ln>
                    <a:effectLst/>
                  </c:spPr>
                </c15:leaderLines>
              </c:ext>
            </c:extLst>
          </c:dLbls>
          <c:cat>
            <c:strRef>
              <c:f>Sheet1!$A$7:$A$13</c:f>
              <c:strCache>
                <c:ptCount val="7"/>
                <c:pt idx="0">
                  <c:v>2020</c:v>
                </c:pt>
                <c:pt idx="1">
                  <c:v>2021</c:v>
                </c:pt>
                <c:pt idx="2">
                  <c:v>2022</c:v>
                </c:pt>
                <c:pt idx="3">
                  <c:v>2023</c:v>
                </c:pt>
                <c:pt idx="4">
                  <c:v>2024</c:v>
                </c:pt>
                <c:pt idx="5">
                  <c:v>2025</c:v>
                </c:pt>
                <c:pt idx="6">
                  <c:v>YTD 2026</c:v>
                </c:pt>
              </c:strCache>
            </c:strRef>
          </c:cat>
          <c:val>
            <c:numRef>
              <c:f>Sheet1!$F$7:$F$13</c:f>
              <c:numCache>
                <c:formatCode>#,##0.000_);\(#,##0.000\);"-"_);@_)</c:formatCode>
                <c:ptCount val="7"/>
                <c:pt idx="0">
                  <c:v>5.0104122292976232</c:v>
                </c:pt>
                <c:pt idx="1">
                  <c:v>5.8487374533487735</c:v>
                </c:pt>
                <c:pt idx="2">
                  <c:v>0.81879999999999997</c:v>
                </c:pt>
                <c:pt idx="3">
                  <c:v>2.1335000000000002</c:v>
                </c:pt>
                <c:pt idx="4">
                  <c:v>2.9971289192578361</c:v>
                </c:pt>
                <c:pt idx="5">
                  <c:v>4.1280000000000001</c:v>
                </c:pt>
                <c:pt idx="6">
                  <c:v>3.923</c:v>
                </c:pt>
              </c:numCache>
            </c:numRef>
          </c:val>
          <c:smooth val="0"/>
          <c:extLst>
            <c:ext xmlns:c16="http://schemas.microsoft.com/office/drawing/2014/chart" uri="{C3380CC4-5D6E-409C-BE32-E72D297353CC}">
              <c16:uniqueId val="{0000000A-355C-4913-B682-A629861D86E8}"/>
            </c:ext>
          </c:extLst>
        </c:ser>
        <c:dLbls>
          <c:showLegendKey val="0"/>
          <c:showVal val="0"/>
          <c:showCatName val="0"/>
          <c:showSerName val="0"/>
          <c:showPercent val="0"/>
          <c:showBubbleSize val="0"/>
        </c:dLbls>
        <c:marker val="1"/>
        <c:smooth val="0"/>
        <c:axId val="475283664"/>
        <c:axId val="475285104"/>
      </c:lineChart>
      <c:catAx>
        <c:axId val="47528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475285104"/>
        <c:crosses val="autoZero"/>
        <c:auto val="1"/>
        <c:lblAlgn val="ctr"/>
        <c:lblOffset val="100"/>
        <c:noMultiLvlLbl val="0"/>
      </c:catAx>
      <c:valAx>
        <c:axId val="475285104"/>
        <c:scaling>
          <c:orientation val="minMax"/>
        </c:scaling>
        <c:delete val="1"/>
        <c:axPos val="l"/>
        <c:numFmt formatCode="#,##0.0_);\(#,##0.0\);&quot;-&quot;_);@_)" sourceLinked="1"/>
        <c:majorTickMark val="none"/>
        <c:minorTickMark val="none"/>
        <c:tickLblPos val="nextTo"/>
        <c:crossAx val="475283664"/>
        <c:crosses val="autoZero"/>
        <c:crossBetween val="between"/>
      </c:valAx>
      <c:spPr>
        <a:noFill/>
        <a:ln>
          <a:noFill/>
        </a:ln>
        <a:effectLst/>
      </c:spPr>
    </c:plotArea>
    <c:legend>
      <c:legendPos val="b"/>
      <c:legendEntry>
        <c:idx val="4"/>
        <c:delete val="1"/>
      </c:legendEntry>
      <c:layout>
        <c:manualLayout>
          <c:xMode val="edge"/>
          <c:yMode val="edge"/>
          <c:x val="4.7149067917240689E-2"/>
          <c:y val="0.88731761907044071"/>
          <c:w val="0.91710532311820714"/>
          <c:h val="8.383622926739631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186519774675981E-2"/>
          <c:y val="5.5766815670914315E-2"/>
          <c:w val="0.89371518528166904"/>
          <c:h val="0.79355624732954888"/>
        </c:manualLayout>
      </c:layout>
      <c:barChart>
        <c:barDir val="col"/>
        <c:grouping val="clustered"/>
        <c:varyColors val="0"/>
        <c:ser>
          <c:idx val="1"/>
          <c:order val="1"/>
          <c:tx>
            <c:strRef>
              <c:f>Sheet1!$C$1</c:f>
              <c:strCache>
                <c:ptCount val="1"/>
                <c:pt idx="0">
                  <c:v>Turnover (S$m)</c:v>
                </c:pt>
              </c:strCache>
            </c:strRef>
          </c:tx>
          <c:spPr>
            <a:solidFill>
              <a:schemeClr val="bg1">
                <a:lumMod val="85000"/>
              </a:schemeClr>
            </a:solidFill>
            <a:ln>
              <a:noFill/>
            </a:ln>
            <a:effectLst/>
          </c:spPr>
          <c:invertIfNegative val="0"/>
          <c:cat>
            <c:numRef>
              <c:f>Sheet1!$A$2:$A$490</c:f>
              <c:numCache>
                <c:formatCode>m/d/yyyy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Sheet1!$C$2:$C$490</c:f>
              <c:numCache>
                <c:formatCode>#,##0</c:formatCode>
                <c:ptCount val="489"/>
                <c:pt idx="0">
                  <c:v>6060192</c:v>
                </c:pt>
                <c:pt idx="1">
                  <c:v>3839202</c:v>
                </c:pt>
                <c:pt idx="2">
                  <c:v>8171926</c:v>
                </c:pt>
                <c:pt idx="3">
                  <c:v>8171926</c:v>
                </c:pt>
                <c:pt idx="4">
                  <c:v>8171926</c:v>
                </c:pt>
                <c:pt idx="5">
                  <c:v>14790810</c:v>
                </c:pt>
                <c:pt idx="6">
                  <c:v>7620939</c:v>
                </c:pt>
                <c:pt idx="7">
                  <c:v>14781310</c:v>
                </c:pt>
                <c:pt idx="8">
                  <c:v>10162690</c:v>
                </c:pt>
                <c:pt idx="9">
                  <c:v>13025760</c:v>
                </c:pt>
                <c:pt idx="10">
                  <c:v>13025760</c:v>
                </c:pt>
                <c:pt idx="11">
                  <c:v>13025760</c:v>
                </c:pt>
                <c:pt idx="12">
                  <c:v>15171950</c:v>
                </c:pt>
                <c:pt idx="13">
                  <c:v>22628310</c:v>
                </c:pt>
                <c:pt idx="14">
                  <c:v>8994375</c:v>
                </c:pt>
                <c:pt idx="15">
                  <c:v>12586430</c:v>
                </c:pt>
                <c:pt idx="16">
                  <c:v>11122970</c:v>
                </c:pt>
                <c:pt idx="17">
                  <c:v>11122970</c:v>
                </c:pt>
                <c:pt idx="18">
                  <c:v>11122970</c:v>
                </c:pt>
                <c:pt idx="19">
                  <c:v>14569580</c:v>
                </c:pt>
                <c:pt idx="20">
                  <c:v>23354920</c:v>
                </c:pt>
                <c:pt idx="21">
                  <c:v>14949270</c:v>
                </c:pt>
                <c:pt idx="22">
                  <c:v>9275018</c:v>
                </c:pt>
                <c:pt idx="23">
                  <c:v>28509810</c:v>
                </c:pt>
                <c:pt idx="24">
                  <c:v>28509810</c:v>
                </c:pt>
                <c:pt idx="25">
                  <c:v>28509810</c:v>
                </c:pt>
                <c:pt idx="26">
                  <c:v>96985400</c:v>
                </c:pt>
                <c:pt idx="27">
                  <c:v>25359800</c:v>
                </c:pt>
                <c:pt idx="28">
                  <c:v>25359800</c:v>
                </c:pt>
                <c:pt idx="29">
                  <c:v>25359800</c:v>
                </c:pt>
                <c:pt idx="30">
                  <c:v>42145840</c:v>
                </c:pt>
                <c:pt idx="31">
                  <c:v>42145840</c:v>
                </c:pt>
                <c:pt idx="32">
                  <c:v>42145840</c:v>
                </c:pt>
                <c:pt idx="33">
                  <c:v>17530750</c:v>
                </c:pt>
                <c:pt idx="34">
                  <c:v>23951770</c:v>
                </c:pt>
                <c:pt idx="35">
                  <c:v>19262260</c:v>
                </c:pt>
                <c:pt idx="36">
                  <c:v>13852530</c:v>
                </c:pt>
                <c:pt idx="37">
                  <c:v>11738880</c:v>
                </c:pt>
                <c:pt idx="38">
                  <c:v>11738880</c:v>
                </c:pt>
                <c:pt idx="39">
                  <c:v>11738880</c:v>
                </c:pt>
                <c:pt idx="40">
                  <c:v>16435530</c:v>
                </c:pt>
                <c:pt idx="41">
                  <c:v>20532760</c:v>
                </c:pt>
                <c:pt idx="42">
                  <c:v>17762910</c:v>
                </c:pt>
                <c:pt idx="43">
                  <c:v>14445140</c:v>
                </c:pt>
                <c:pt idx="44">
                  <c:v>46946440</c:v>
                </c:pt>
                <c:pt idx="45">
                  <c:v>46946440</c:v>
                </c:pt>
                <c:pt idx="46">
                  <c:v>46946440</c:v>
                </c:pt>
                <c:pt idx="47">
                  <c:v>12987390</c:v>
                </c:pt>
                <c:pt idx="48">
                  <c:v>16259740</c:v>
                </c:pt>
                <c:pt idx="49">
                  <c:v>13810990</c:v>
                </c:pt>
                <c:pt idx="50">
                  <c:v>15121090</c:v>
                </c:pt>
                <c:pt idx="51">
                  <c:v>21095730</c:v>
                </c:pt>
                <c:pt idx="52">
                  <c:v>21095730</c:v>
                </c:pt>
                <c:pt idx="53">
                  <c:v>21095730</c:v>
                </c:pt>
                <c:pt idx="54">
                  <c:v>17152430</c:v>
                </c:pt>
                <c:pt idx="55">
                  <c:v>19173020</c:v>
                </c:pt>
                <c:pt idx="56">
                  <c:v>33916960</c:v>
                </c:pt>
                <c:pt idx="57">
                  <c:v>20658090</c:v>
                </c:pt>
                <c:pt idx="58">
                  <c:v>32764840</c:v>
                </c:pt>
                <c:pt idx="59">
                  <c:v>32764840</c:v>
                </c:pt>
                <c:pt idx="60">
                  <c:v>32764840</c:v>
                </c:pt>
                <c:pt idx="61">
                  <c:v>14960800</c:v>
                </c:pt>
                <c:pt idx="62">
                  <c:v>14217880</c:v>
                </c:pt>
                <c:pt idx="63">
                  <c:v>11914010</c:v>
                </c:pt>
                <c:pt idx="64">
                  <c:v>12603950</c:v>
                </c:pt>
                <c:pt idx="65">
                  <c:v>6280428</c:v>
                </c:pt>
                <c:pt idx="66">
                  <c:v>6280428</c:v>
                </c:pt>
                <c:pt idx="67">
                  <c:v>6280428</c:v>
                </c:pt>
                <c:pt idx="68">
                  <c:v>10282020</c:v>
                </c:pt>
                <c:pt idx="69">
                  <c:v>19938370</c:v>
                </c:pt>
                <c:pt idx="70">
                  <c:v>46329180</c:v>
                </c:pt>
                <c:pt idx="71">
                  <c:v>57028400</c:v>
                </c:pt>
                <c:pt idx="72">
                  <c:v>28940560</c:v>
                </c:pt>
                <c:pt idx="73">
                  <c:v>28940560</c:v>
                </c:pt>
                <c:pt idx="74">
                  <c:v>28940560</c:v>
                </c:pt>
                <c:pt idx="75">
                  <c:v>11646880</c:v>
                </c:pt>
                <c:pt idx="76">
                  <c:v>11509230</c:v>
                </c:pt>
                <c:pt idx="77">
                  <c:v>6768887</c:v>
                </c:pt>
                <c:pt idx="78">
                  <c:v>17677540</c:v>
                </c:pt>
                <c:pt idx="79">
                  <c:v>28894850</c:v>
                </c:pt>
                <c:pt idx="80">
                  <c:v>28894850</c:v>
                </c:pt>
                <c:pt idx="81">
                  <c:v>28894850</c:v>
                </c:pt>
                <c:pt idx="82">
                  <c:v>14963200</c:v>
                </c:pt>
                <c:pt idx="83">
                  <c:v>20511050</c:v>
                </c:pt>
                <c:pt idx="84">
                  <c:v>14492400</c:v>
                </c:pt>
                <c:pt idx="85">
                  <c:v>12854830</c:v>
                </c:pt>
                <c:pt idx="86">
                  <c:v>22347800</c:v>
                </c:pt>
                <c:pt idx="87">
                  <c:v>22347800</c:v>
                </c:pt>
                <c:pt idx="88">
                  <c:v>22347800</c:v>
                </c:pt>
                <c:pt idx="89">
                  <c:v>22347800</c:v>
                </c:pt>
                <c:pt idx="90">
                  <c:v>15108070</c:v>
                </c:pt>
                <c:pt idx="91">
                  <c:v>9057615</c:v>
                </c:pt>
                <c:pt idx="92">
                  <c:v>16401630</c:v>
                </c:pt>
                <c:pt idx="93">
                  <c:v>19513590</c:v>
                </c:pt>
                <c:pt idx="94">
                  <c:v>19513590</c:v>
                </c:pt>
                <c:pt idx="95">
                  <c:v>19513590</c:v>
                </c:pt>
                <c:pt idx="96">
                  <c:v>60925270</c:v>
                </c:pt>
                <c:pt idx="97">
                  <c:v>36623200</c:v>
                </c:pt>
                <c:pt idx="98">
                  <c:v>29599720</c:v>
                </c:pt>
                <c:pt idx="99">
                  <c:v>30906510</c:v>
                </c:pt>
                <c:pt idx="100">
                  <c:v>13492200</c:v>
                </c:pt>
                <c:pt idx="101">
                  <c:v>13492200</c:v>
                </c:pt>
                <c:pt idx="102">
                  <c:v>13492200</c:v>
                </c:pt>
                <c:pt idx="103">
                  <c:v>13669950</c:v>
                </c:pt>
                <c:pt idx="104">
                  <c:v>13471540</c:v>
                </c:pt>
                <c:pt idx="105">
                  <c:v>21357570</c:v>
                </c:pt>
                <c:pt idx="106">
                  <c:v>16396600</c:v>
                </c:pt>
                <c:pt idx="107">
                  <c:v>16396600</c:v>
                </c:pt>
                <c:pt idx="108">
                  <c:v>16396600</c:v>
                </c:pt>
                <c:pt idx="109">
                  <c:v>16396600</c:v>
                </c:pt>
                <c:pt idx="110">
                  <c:v>8112579</c:v>
                </c:pt>
                <c:pt idx="111">
                  <c:v>11732600</c:v>
                </c:pt>
                <c:pt idx="112">
                  <c:v>7609249</c:v>
                </c:pt>
                <c:pt idx="113">
                  <c:v>4816556</c:v>
                </c:pt>
                <c:pt idx="114">
                  <c:v>12325440</c:v>
                </c:pt>
                <c:pt idx="115">
                  <c:v>12325440</c:v>
                </c:pt>
                <c:pt idx="116">
                  <c:v>12325440</c:v>
                </c:pt>
                <c:pt idx="117">
                  <c:v>7986745</c:v>
                </c:pt>
                <c:pt idx="118">
                  <c:v>7024283</c:v>
                </c:pt>
                <c:pt idx="119">
                  <c:v>30490510</c:v>
                </c:pt>
                <c:pt idx="120">
                  <c:v>30490510</c:v>
                </c:pt>
                <c:pt idx="121">
                  <c:v>22750510</c:v>
                </c:pt>
                <c:pt idx="122">
                  <c:v>22750510</c:v>
                </c:pt>
                <c:pt idx="123">
                  <c:v>22750510</c:v>
                </c:pt>
                <c:pt idx="124">
                  <c:v>7068349</c:v>
                </c:pt>
                <c:pt idx="125">
                  <c:v>8942870</c:v>
                </c:pt>
                <c:pt idx="126">
                  <c:v>23889440</c:v>
                </c:pt>
                <c:pt idx="127">
                  <c:v>14112360</c:v>
                </c:pt>
                <c:pt idx="128">
                  <c:v>14714470</c:v>
                </c:pt>
                <c:pt idx="129">
                  <c:v>14714470</c:v>
                </c:pt>
                <c:pt idx="130">
                  <c:v>14714470</c:v>
                </c:pt>
                <c:pt idx="131">
                  <c:v>14714470</c:v>
                </c:pt>
                <c:pt idx="132">
                  <c:v>14161690</c:v>
                </c:pt>
                <c:pt idx="133">
                  <c:v>14495650</c:v>
                </c:pt>
                <c:pt idx="134">
                  <c:v>17197740</c:v>
                </c:pt>
                <c:pt idx="135">
                  <c:v>8989328</c:v>
                </c:pt>
                <c:pt idx="136">
                  <c:v>8989328</c:v>
                </c:pt>
                <c:pt idx="137">
                  <c:v>8989328</c:v>
                </c:pt>
                <c:pt idx="138">
                  <c:v>15677470</c:v>
                </c:pt>
                <c:pt idx="139">
                  <c:v>8365081</c:v>
                </c:pt>
                <c:pt idx="140">
                  <c:v>16783150</c:v>
                </c:pt>
                <c:pt idx="141">
                  <c:v>7084809</c:v>
                </c:pt>
                <c:pt idx="142">
                  <c:v>11173770</c:v>
                </c:pt>
                <c:pt idx="143">
                  <c:v>11173770</c:v>
                </c:pt>
                <c:pt idx="144">
                  <c:v>11173770</c:v>
                </c:pt>
                <c:pt idx="145">
                  <c:v>9435182</c:v>
                </c:pt>
                <c:pt idx="146">
                  <c:v>9208744</c:v>
                </c:pt>
                <c:pt idx="147">
                  <c:v>12256610</c:v>
                </c:pt>
                <c:pt idx="148">
                  <c:v>12744260</c:v>
                </c:pt>
                <c:pt idx="149">
                  <c:v>15793960</c:v>
                </c:pt>
                <c:pt idx="150">
                  <c:v>15793960</c:v>
                </c:pt>
                <c:pt idx="151">
                  <c:v>15793960</c:v>
                </c:pt>
                <c:pt idx="152">
                  <c:v>8613672</c:v>
                </c:pt>
                <c:pt idx="153">
                  <c:v>12289660</c:v>
                </c:pt>
                <c:pt idx="154">
                  <c:v>10663230</c:v>
                </c:pt>
                <c:pt idx="155">
                  <c:v>10646440</c:v>
                </c:pt>
                <c:pt idx="156">
                  <c:v>22816380</c:v>
                </c:pt>
                <c:pt idx="157">
                  <c:v>22816380</c:v>
                </c:pt>
                <c:pt idx="158">
                  <c:v>22816380</c:v>
                </c:pt>
                <c:pt idx="159">
                  <c:v>27435290</c:v>
                </c:pt>
                <c:pt idx="160">
                  <c:v>11040560</c:v>
                </c:pt>
                <c:pt idx="161">
                  <c:v>23541640</c:v>
                </c:pt>
                <c:pt idx="162">
                  <c:v>27007040</c:v>
                </c:pt>
                <c:pt idx="163">
                  <c:v>14220040</c:v>
                </c:pt>
                <c:pt idx="164">
                  <c:v>14220040</c:v>
                </c:pt>
                <c:pt idx="165">
                  <c:v>14220040</c:v>
                </c:pt>
                <c:pt idx="166">
                  <c:v>13298930</c:v>
                </c:pt>
                <c:pt idx="167">
                  <c:v>22758130</c:v>
                </c:pt>
                <c:pt idx="168">
                  <c:v>17299420</c:v>
                </c:pt>
                <c:pt idx="169">
                  <c:v>9526500</c:v>
                </c:pt>
                <c:pt idx="170">
                  <c:v>106718700</c:v>
                </c:pt>
                <c:pt idx="171">
                  <c:v>106718700</c:v>
                </c:pt>
                <c:pt idx="172">
                  <c:v>106718700</c:v>
                </c:pt>
                <c:pt idx="173">
                  <c:v>22268920</c:v>
                </c:pt>
                <c:pt idx="174">
                  <c:v>25848410</c:v>
                </c:pt>
                <c:pt idx="175">
                  <c:v>20529860</c:v>
                </c:pt>
                <c:pt idx="176">
                  <c:v>13956340</c:v>
                </c:pt>
                <c:pt idx="177">
                  <c:v>23471140</c:v>
                </c:pt>
                <c:pt idx="178">
                  <c:v>23471140</c:v>
                </c:pt>
                <c:pt idx="179">
                  <c:v>23471140</c:v>
                </c:pt>
                <c:pt idx="180">
                  <c:v>15782410</c:v>
                </c:pt>
                <c:pt idx="181">
                  <c:v>18534070</c:v>
                </c:pt>
                <c:pt idx="182">
                  <c:v>23949810</c:v>
                </c:pt>
                <c:pt idx="183">
                  <c:v>15213170</c:v>
                </c:pt>
                <c:pt idx="184">
                  <c:v>27443550</c:v>
                </c:pt>
                <c:pt idx="185">
                  <c:v>27443550</c:v>
                </c:pt>
                <c:pt idx="186">
                  <c:v>27443550</c:v>
                </c:pt>
                <c:pt idx="187">
                  <c:v>26721340</c:v>
                </c:pt>
                <c:pt idx="188">
                  <c:v>35658430</c:v>
                </c:pt>
                <c:pt idx="189">
                  <c:v>22660860</c:v>
                </c:pt>
                <c:pt idx="190">
                  <c:v>29071750</c:v>
                </c:pt>
                <c:pt idx="191">
                  <c:v>28819040</c:v>
                </c:pt>
                <c:pt idx="192">
                  <c:v>28819040</c:v>
                </c:pt>
                <c:pt idx="193">
                  <c:v>28819040</c:v>
                </c:pt>
                <c:pt idx="194">
                  <c:v>16128910</c:v>
                </c:pt>
                <c:pt idx="195">
                  <c:v>28838850</c:v>
                </c:pt>
                <c:pt idx="196">
                  <c:v>24730320</c:v>
                </c:pt>
                <c:pt idx="197">
                  <c:v>22143840</c:v>
                </c:pt>
                <c:pt idx="198">
                  <c:v>43585850</c:v>
                </c:pt>
                <c:pt idx="199">
                  <c:v>43585850</c:v>
                </c:pt>
                <c:pt idx="200">
                  <c:v>43585850</c:v>
                </c:pt>
                <c:pt idx="201">
                  <c:v>25851230</c:v>
                </c:pt>
                <c:pt idx="202">
                  <c:v>23629570</c:v>
                </c:pt>
                <c:pt idx="203">
                  <c:v>26568960</c:v>
                </c:pt>
                <c:pt idx="204">
                  <c:v>18870910</c:v>
                </c:pt>
                <c:pt idx="205">
                  <c:v>65655920</c:v>
                </c:pt>
                <c:pt idx="206">
                  <c:v>65655920</c:v>
                </c:pt>
                <c:pt idx="207">
                  <c:v>65655920</c:v>
                </c:pt>
                <c:pt idx="208">
                  <c:v>39522720</c:v>
                </c:pt>
                <c:pt idx="209">
                  <c:v>25532760</c:v>
                </c:pt>
                <c:pt idx="210">
                  <c:v>14734510</c:v>
                </c:pt>
                <c:pt idx="211">
                  <c:v>13564620</c:v>
                </c:pt>
                <c:pt idx="212">
                  <c:v>32643010</c:v>
                </c:pt>
                <c:pt idx="213">
                  <c:v>32643010</c:v>
                </c:pt>
                <c:pt idx="214">
                  <c:v>32643010</c:v>
                </c:pt>
                <c:pt idx="215">
                  <c:v>13285650</c:v>
                </c:pt>
                <c:pt idx="216">
                  <c:v>15957620</c:v>
                </c:pt>
                <c:pt idx="217">
                  <c:v>12438120</c:v>
                </c:pt>
                <c:pt idx="218">
                  <c:v>17719590</c:v>
                </c:pt>
                <c:pt idx="219">
                  <c:v>7665986</c:v>
                </c:pt>
                <c:pt idx="220">
                  <c:v>7665986</c:v>
                </c:pt>
                <c:pt idx="221">
                  <c:v>7665986</c:v>
                </c:pt>
                <c:pt idx="222">
                  <c:v>6994378</c:v>
                </c:pt>
                <c:pt idx="223">
                  <c:v>16127880</c:v>
                </c:pt>
                <c:pt idx="224">
                  <c:v>9924277</c:v>
                </c:pt>
                <c:pt idx="225">
                  <c:v>13176270</c:v>
                </c:pt>
                <c:pt idx="226">
                  <c:v>13063020</c:v>
                </c:pt>
                <c:pt idx="227">
                  <c:v>13063020</c:v>
                </c:pt>
                <c:pt idx="228">
                  <c:v>13063020</c:v>
                </c:pt>
                <c:pt idx="229">
                  <c:v>11874600</c:v>
                </c:pt>
                <c:pt idx="230">
                  <c:v>14053940</c:v>
                </c:pt>
                <c:pt idx="231">
                  <c:v>6578322</c:v>
                </c:pt>
                <c:pt idx="232">
                  <c:v>10723800</c:v>
                </c:pt>
                <c:pt idx="233">
                  <c:v>8563339</c:v>
                </c:pt>
                <c:pt idx="234">
                  <c:v>8563339</c:v>
                </c:pt>
                <c:pt idx="235">
                  <c:v>8563339</c:v>
                </c:pt>
                <c:pt idx="236">
                  <c:v>10321280</c:v>
                </c:pt>
                <c:pt idx="237">
                  <c:v>12494640</c:v>
                </c:pt>
                <c:pt idx="238">
                  <c:v>13030370</c:v>
                </c:pt>
                <c:pt idx="239">
                  <c:v>12300250</c:v>
                </c:pt>
                <c:pt idx="240">
                  <c:v>13184530</c:v>
                </c:pt>
                <c:pt idx="241">
                  <c:v>13184530</c:v>
                </c:pt>
                <c:pt idx="242">
                  <c:v>13184530</c:v>
                </c:pt>
                <c:pt idx="243">
                  <c:v>10028140</c:v>
                </c:pt>
                <c:pt idx="244">
                  <c:v>10321590</c:v>
                </c:pt>
                <c:pt idx="245">
                  <c:v>18561080</c:v>
                </c:pt>
                <c:pt idx="246">
                  <c:v>16037310</c:v>
                </c:pt>
                <c:pt idx="247">
                  <c:v>13939640</c:v>
                </c:pt>
                <c:pt idx="248">
                  <c:v>13939640</c:v>
                </c:pt>
                <c:pt idx="249">
                  <c:v>13939640</c:v>
                </c:pt>
                <c:pt idx="250">
                  <c:v>20513770</c:v>
                </c:pt>
                <c:pt idx="251">
                  <c:v>14012970</c:v>
                </c:pt>
                <c:pt idx="252">
                  <c:v>11500250</c:v>
                </c:pt>
                <c:pt idx="253">
                  <c:v>19959940</c:v>
                </c:pt>
                <c:pt idx="254">
                  <c:v>17326860</c:v>
                </c:pt>
                <c:pt idx="255">
                  <c:v>17326860</c:v>
                </c:pt>
                <c:pt idx="256">
                  <c:v>17326860</c:v>
                </c:pt>
                <c:pt idx="257">
                  <c:v>35624180</c:v>
                </c:pt>
                <c:pt idx="258">
                  <c:v>18722430</c:v>
                </c:pt>
                <c:pt idx="259">
                  <c:v>12065330</c:v>
                </c:pt>
                <c:pt idx="260">
                  <c:v>16057330</c:v>
                </c:pt>
                <c:pt idx="261">
                  <c:v>31966030</c:v>
                </c:pt>
                <c:pt idx="262">
                  <c:v>31966030</c:v>
                </c:pt>
                <c:pt idx="263">
                  <c:v>31966030</c:v>
                </c:pt>
                <c:pt idx="264">
                  <c:v>10734600</c:v>
                </c:pt>
                <c:pt idx="265">
                  <c:v>28835340</c:v>
                </c:pt>
                <c:pt idx="266">
                  <c:v>12331030</c:v>
                </c:pt>
                <c:pt idx="267">
                  <c:v>16002530</c:v>
                </c:pt>
                <c:pt idx="268">
                  <c:v>18047580</c:v>
                </c:pt>
                <c:pt idx="269">
                  <c:v>18047580</c:v>
                </c:pt>
                <c:pt idx="270">
                  <c:v>18047580</c:v>
                </c:pt>
                <c:pt idx="271">
                  <c:v>12153580</c:v>
                </c:pt>
                <c:pt idx="272">
                  <c:v>15685330</c:v>
                </c:pt>
                <c:pt idx="273">
                  <c:v>13374660</c:v>
                </c:pt>
                <c:pt idx="274">
                  <c:v>25480900</c:v>
                </c:pt>
                <c:pt idx="275">
                  <c:v>10353410</c:v>
                </c:pt>
                <c:pt idx="276">
                  <c:v>10353410</c:v>
                </c:pt>
                <c:pt idx="277">
                  <c:v>10353410</c:v>
                </c:pt>
                <c:pt idx="278">
                  <c:v>16184960</c:v>
                </c:pt>
                <c:pt idx="279">
                  <c:v>13020070</c:v>
                </c:pt>
                <c:pt idx="280">
                  <c:v>6906225</c:v>
                </c:pt>
                <c:pt idx="281">
                  <c:v>13695030</c:v>
                </c:pt>
                <c:pt idx="282">
                  <c:v>17325570</c:v>
                </c:pt>
                <c:pt idx="283">
                  <c:v>17325570</c:v>
                </c:pt>
                <c:pt idx="284">
                  <c:v>17325570</c:v>
                </c:pt>
                <c:pt idx="285">
                  <c:v>17692110</c:v>
                </c:pt>
                <c:pt idx="286">
                  <c:v>14472260</c:v>
                </c:pt>
                <c:pt idx="287">
                  <c:v>16405360</c:v>
                </c:pt>
                <c:pt idx="288">
                  <c:v>18893880</c:v>
                </c:pt>
                <c:pt idx="289">
                  <c:v>15256970</c:v>
                </c:pt>
                <c:pt idx="290">
                  <c:v>15256970</c:v>
                </c:pt>
                <c:pt idx="291">
                  <c:v>15256970</c:v>
                </c:pt>
                <c:pt idx="292">
                  <c:v>15256970</c:v>
                </c:pt>
                <c:pt idx="293">
                  <c:v>19004500</c:v>
                </c:pt>
                <c:pt idx="294">
                  <c:v>19220800</c:v>
                </c:pt>
                <c:pt idx="295">
                  <c:v>10495890</c:v>
                </c:pt>
                <c:pt idx="296">
                  <c:v>15092720</c:v>
                </c:pt>
                <c:pt idx="297">
                  <c:v>15092720</c:v>
                </c:pt>
                <c:pt idx="298">
                  <c:v>15092720</c:v>
                </c:pt>
                <c:pt idx="299">
                  <c:v>16956000</c:v>
                </c:pt>
                <c:pt idx="300">
                  <c:v>15981960</c:v>
                </c:pt>
                <c:pt idx="301">
                  <c:v>16239370</c:v>
                </c:pt>
                <c:pt idx="302">
                  <c:v>13330310</c:v>
                </c:pt>
                <c:pt idx="303">
                  <c:v>18348220</c:v>
                </c:pt>
                <c:pt idx="304">
                  <c:v>18348220</c:v>
                </c:pt>
                <c:pt idx="305">
                  <c:v>18348220</c:v>
                </c:pt>
                <c:pt idx="306">
                  <c:v>13642330</c:v>
                </c:pt>
                <c:pt idx="307">
                  <c:v>19714650</c:v>
                </c:pt>
                <c:pt idx="308">
                  <c:v>18637580</c:v>
                </c:pt>
                <c:pt idx="309">
                  <c:v>23492180</c:v>
                </c:pt>
                <c:pt idx="310">
                  <c:v>17523110</c:v>
                </c:pt>
                <c:pt idx="311">
                  <c:v>17523110</c:v>
                </c:pt>
                <c:pt idx="312">
                  <c:v>17523110</c:v>
                </c:pt>
                <c:pt idx="313">
                  <c:v>16485530</c:v>
                </c:pt>
                <c:pt idx="314">
                  <c:v>23504660</c:v>
                </c:pt>
                <c:pt idx="315">
                  <c:v>18221650</c:v>
                </c:pt>
                <c:pt idx="316">
                  <c:v>10980730</c:v>
                </c:pt>
                <c:pt idx="317">
                  <c:v>25062240</c:v>
                </c:pt>
                <c:pt idx="318" formatCode="General">
                  <c:v>25062240</c:v>
                </c:pt>
                <c:pt idx="319" formatCode="General">
                  <c:v>25062240</c:v>
                </c:pt>
                <c:pt idx="320" formatCode="General">
                  <c:v>16414700</c:v>
                </c:pt>
                <c:pt idx="321" formatCode="General">
                  <c:v>12272330</c:v>
                </c:pt>
                <c:pt idx="322" formatCode="General">
                  <c:v>22206490</c:v>
                </c:pt>
                <c:pt idx="323" formatCode="General">
                  <c:v>19244650</c:v>
                </c:pt>
                <c:pt idx="324" formatCode="General">
                  <c:v>24270090</c:v>
                </c:pt>
                <c:pt idx="325" formatCode="General">
                  <c:v>24270090</c:v>
                </c:pt>
                <c:pt idx="326" formatCode="General">
                  <c:v>24270090</c:v>
                </c:pt>
                <c:pt idx="327" formatCode="General">
                  <c:v>19415680</c:v>
                </c:pt>
                <c:pt idx="328" formatCode="General">
                  <c:v>11727460</c:v>
                </c:pt>
                <c:pt idx="329" formatCode="General">
                  <c:v>28629560</c:v>
                </c:pt>
                <c:pt idx="330" formatCode="General">
                  <c:v>15187170</c:v>
                </c:pt>
                <c:pt idx="331" formatCode="General">
                  <c:v>5059427</c:v>
                </c:pt>
                <c:pt idx="332" formatCode="General">
                  <c:v>5059427</c:v>
                </c:pt>
                <c:pt idx="333" formatCode="General">
                  <c:v>5059427</c:v>
                </c:pt>
                <c:pt idx="334" formatCode="General">
                  <c:v>21378550</c:v>
                </c:pt>
                <c:pt idx="335" formatCode="General">
                  <c:v>14516440</c:v>
                </c:pt>
                <c:pt idx="336" formatCode="General">
                  <c:v>13562180</c:v>
                </c:pt>
                <c:pt idx="337" formatCode="General">
                  <c:v>11084480</c:v>
                </c:pt>
                <c:pt idx="338" formatCode="General">
                  <c:v>16031810</c:v>
                </c:pt>
                <c:pt idx="339" formatCode="General">
                  <c:v>16031810</c:v>
                </c:pt>
                <c:pt idx="340" formatCode="General">
                  <c:v>16031810</c:v>
                </c:pt>
                <c:pt idx="341" formatCode="General">
                  <c:v>13260960</c:v>
                </c:pt>
                <c:pt idx="342" formatCode="General">
                  <c:v>7488189</c:v>
                </c:pt>
                <c:pt idx="343" formatCode="General">
                  <c:v>8559585</c:v>
                </c:pt>
                <c:pt idx="344" formatCode="General">
                  <c:v>8414046</c:v>
                </c:pt>
                <c:pt idx="345" formatCode="General">
                  <c:v>16575910</c:v>
                </c:pt>
                <c:pt idx="346" formatCode="General">
                  <c:v>16575910</c:v>
                </c:pt>
                <c:pt idx="347" formatCode="General">
                  <c:v>16575910</c:v>
                </c:pt>
                <c:pt idx="348" formatCode="General">
                  <c:v>14077430</c:v>
                </c:pt>
                <c:pt idx="349" formatCode="General">
                  <c:v>37128630</c:v>
                </c:pt>
                <c:pt idx="350" formatCode="General">
                  <c:v>18950600</c:v>
                </c:pt>
                <c:pt idx="351" formatCode="General">
                  <c:v>19951600</c:v>
                </c:pt>
                <c:pt idx="352" formatCode="General">
                  <c:v>47952090</c:v>
                </c:pt>
                <c:pt idx="353" formatCode="General">
                  <c:v>47952090</c:v>
                </c:pt>
                <c:pt idx="354" formatCode="General">
                  <c:v>47952090</c:v>
                </c:pt>
                <c:pt idx="355" formatCode="General">
                  <c:v>16648320</c:v>
                </c:pt>
                <c:pt idx="356" formatCode="General">
                  <c:v>26679050</c:v>
                </c:pt>
                <c:pt idx="357" formatCode="General">
                  <c:v>10863140</c:v>
                </c:pt>
                <c:pt idx="358" formatCode="General">
                  <c:v>10863140</c:v>
                </c:pt>
                <c:pt idx="359" formatCode="General">
                  <c:v>10542970</c:v>
                </c:pt>
                <c:pt idx="360" formatCode="General">
                  <c:v>10542970</c:v>
                </c:pt>
                <c:pt idx="361" formatCode="General">
                  <c:v>10542970</c:v>
                </c:pt>
                <c:pt idx="362" formatCode="General">
                  <c:v>13420980</c:v>
                </c:pt>
                <c:pt idx="363" formatCode="General">
                  <c:v>6852174</c:v>
                </c:pt>
                <c:pt idx="364" formatCode="General">
                  <c:v>7058543</c:v>
                </c:pt>
                <c:pt idx="365" formatCode="General">
                  <c:v>7058543</c:v>
                </c:pt>
                <c:pt idx="366" formatCode="General">
                  <c:v>11629810</c:v>
                </c:pt>
                <c:pt idx="367" formatCode="General">
                  <c:v>11629810</c:v>
                </c:pt>
                <c:pt idx="368" formatCode="General">
                  <c:v>11629810</c:v>
                </c:pt>
                <c:pt idx="369" formatCode="General">
                  <c:v>12290020</c:v>
                </c:pt>
                <c:pt idx="370" formatCode="General">
                  <c:v>17440980</c:v>
                </c:pt>
                <c:pt idx="371" formatCode="General">
                  <c:v>36360840</c:v>
                </c:pt>
                <c:pt idx="372" formatCode="General">
                  <c:v>52813570</c:v>
                </c:pt>
                <c:pt idx="373" formatCode="General">
                  <c:v>18056640</c:v>
                </c:pt>
                <c:pt idx="374" formatCode="General">
                  <c:v>18056640</c:v>
                </c:pt>
                <c:pt idx="375" formatCode="General">
                  <c:v>18056640</c:v>
                </c:pt>
                <c:pt idx="376" formatCode="General">
                  <c:v>15352090</c:v>
                </c:pt>
                <c:pt idx="377" formatCode="General">
                  <c:v>16442350</c:v>
                </c:pt>
                <c:pt idx="378" formatCode="General">
                  <c:v>14885020</c:v>
                </c:pt>
                <c:pt idx="379" formatCode="General">
                  <c:v>14134380</c:v>
                </c:pt>
                <c:pt idx="380" formatCode="General">
                  <c:v>31065550</c:v>
                </c:pt>
                <c:pt idx="381" formatCode="General">
                  <c:v>31065550</c:v>
                </c:pt>
                <c:pt idx="382" formatCode="General">
                  <c:v>31065550</c:v>
                </c:pt>
                <c:pt idx="383" formatCode="General">
                  <c:v>20496300</c:v>
                </c:pt>
                <c:pt idx="384" formatCode="General">
                  <c:v>39915710</c:v>
                </c:pt>
                <c:pt idx="385" formatCode="General">
                  <c:v>32310020</c:v>
                </c:pt>
                <c:pt idx="386" formatCode="General">
                  <c:v>43580270</c:v>
                </c:pt>
                <c:pt idx="387" formatCode="General">
                  <c:v>13480700</c:v>
                </c:pt>
                <c:pt idx="388" formatCode="General">
                  <c:v>13480700</c:v>
                </c:pt>
                <c:pt idx="389" formatCode="General">
                  <c:v>13480700</c:v>
                </c:pt>
                <c:pt idx="390" formatCode="General">
                  <c:v>14941380</c:v>
                </c:pt>
                <c:pt idx="391" formatCode="General">
                  <c:v>19988480</c:v>
                </c:pt>
                <c:pt idx="392" formatCode="General">
                  <c:v>37452500</c:v>
                </c:pt>
                <c:pt idx="393" formatCode="General">
                  <c:v>23834820</c:v>
                </c:pt>
                <c:pt idx="394" formatCode="General">
                  <c:v>74515600</c:v>
                </c:pt>
                <c:pt idx="395" formatCode="General">
                  <c:v>74515600</c:v>
                </c:pt>
                <c:pt idx="396" formatCode="General">
                  <c:v>74515600</c:v>
                </c:pt>
                <c:pt idx="397" formatCode="General">
                  <c:v>44333660</c:v>
                </c:pt>
                <c:pt idx="398" formatCode="General">
                  <c:v>21209650</c:v>
                </c:pt>
                <c:pt idx="399" formatCode="General">
                  <c:v>29678120</c:v>
                </c:pt>
                <c:pt idx="400" formatCode="General">
                  <c:v>30019350</c:v>
                </c:pt>
                <c:pt idx="401" formatCode="General">
                  <c:v>26315580</c:v>
                </c:pt>
                <c:pt idx="402" formatCode="General">
                  <c:v>26315580</c:v>
                </c:pt>
                <c:pt idx="403" formatCode="General">
                  <c:v>26315580</c:v>
                </c:pt>
                <c:pt idx="404" formatCode="General">
                  <c:v>28273270</c:v>
                </c:pt>
                <c:pt idx="405" formatCode="General">
                  <c:v>16406640</c:v>
                </c:pt>
                <c:pt idx="406" formatCode="General">
                  <c:v>34916620</c:v>
                </c:pt>
                <c:pt idx="407" formatCode="General">
                  <c:v>35543430</c:v>
                </c:pt>
                <c:pt idx="408" formatCode="General">
                  <c:v>26982120</c:v>
                </c:pt>
                <c:pt idx="409" formatCode="General">
                  <c:v>26982120</c:v>
                </c:pt>
                <c:pt idx="410" formatCode="General">
                  <c:v>26982120</c:v>
                </c:pt>
                <c:pt idx="411" formatCode="General">
                  <c:v>10660050</c:v>
                </c:pt>
                <c:pt idx="412" formatCode="General">
                  <c:v>10660050</c:v>
                </c:pt>
                <c:pt idx="413" formatCode="General">
                  <c:v>10660050</c:v>
                </c:pt>
                <c:pt idx="414" formatCode="General">
                  <c:v>17716700</c:v>
                </c:pt>
                <c:pt idx="415" formatCode="General">
                  <c:v>28379880</c:v>
                </c:pt>
                <c:pt idx="416" formatCode="General">
                  <c:v>28379880</c:v>
                </c:pt>
                <c:pt idx="417" formatCode="General">
                  <c:v>28379880</c:v>
                </c:pt>
                <c:pt idx="418" formatCode="General">
                  <c:v>11239930</c:v>
                </c:pt>
                <c:pt idx="419" formatCode="General">
                  <c:v>12913610</c:v>
                </c:pt>
                <c:pt idx="420" formatCode="General">
                  <c:v>15098410</c:v>
                </c:pt>
                <c:pt idx="421" formatCode="General">
                  <c:v>47980720</c:v>
                </c:pt>
                <c:pt idx="422" formatCode="General">
                  <c:v>40211080</c:v>
                </c:pt>
                <c:pt idx="423" formatCode="General">
                  <c:v>40211080</c:v>
                </c:pt>
                <c:pt idx="424" formatCode="General">
                  <c:v>40211080</c:v>
                </c:pt>
                <c:pt idx="425" formatCode="General">
                  <c:v>30087730</c:v>
                </c:pt>
                <c:pt idx="426" formatCode="General">
                  <c:v>40137560</c:v>
                </c:pt>
                <c:pt idx="427" formatCode="General">
                  <c:v>38869350</c:v>
                </c:pt>
                <c:pt idx="428" formatCode="General">
                  <c:v>24840060</c:v>
                </c:pt>
                <c:pt idx="429" formatCode="General">
                  <c:v>25052590</c:v>
                </c:pt>
                <c:pt idx="430" formatCode="General">
                  <c:v>25052590</c:v>
                </c:pt>
                <c:pt idx="431" formatCode="General">
                  <c:v>25052590</c:v>
                </c:pt>
                <c:pt idx="432" formatCode="General">
                  <c:v>44632320</c:v>
                </c:pt>
                <c:pt idx="433" formatCode="General">
                  <c:v>29352360</c:v>
                </c:pt>
                <c:pt idx="434" formatCode="General">
                  <c:v>29437770</c:v>
                </c:pt>
                <c:pt idx="435" formatCode="General">
                  <c:v>21128640</c:v>
                </c:pt>
                <c:pt idx="436" formatCode="General">
                  <c:v>20109760</c:v>
                </c:pt>
                <c:pt idx="437" formatCode="General">
                  <c:v>20109760</c:v>
                </c:pt>
                <c:pt idx="438" formatCode="General">
                  <c:v>20109760</c:v>
                </c:pt>
                <c:pt idx="439" formatCode="General">
                  <c:v>6787701</c:v>
                </c:pt>
                <c:pt idx="440" formatCode="General">
                  <c:v>16809890</c:v>
                </c:pt>
                <c:pt idx="441" formatCode="General">
                  <c:v>27272580</c:v>
                </c:pt>
                <c:pt idx="442" formatCode="General">
                  <c:v>15173550</c:v>
                </c:pt>
                <c:pt idx="443" formatCode="General">
                  <c:v>37614040</c:v>
                </c:pt>
                <c:pt idx="444" formatCode="General">
                  <c:v>37614040</c:v>
                </c:pt>
                <c:pt idx="445" formatCode="General">
                  <c:v>37614040</c:v>
                </c:pt>
                <c:pt idx="446" formatCode="General">
                  <c:v>60785060</c:v>
                </c:pt>
                <c:pt idx="447" formatCode="General">
                  <c:v>20351670</c:v>
                </c:pt>
                <c:pt idx="448" formatCode="General">
                  <c:v>30268390</c:v>
                </c:pt>
                <c:pt idx="449" formatCode="General">
                  <c:v>22069780</c:v>
                </c:pt>
                <c:pt idx="450" formatCode="General">
                  <c:v>25954430</c:v>
                </c:pt>
                <c:pt idx="451" formatCode="General">
                  <c:v>25954430</c:v>
                </c:pt>
                <c:pt idx="452" formatCode="General">
                  <c:v>25954430</c:v>
                </c:pt>
                <c:pt idx="453" formatCode="General">
                  <c:v>31223740</c:v>
                </c:pt>
                <c:pt idx="454" formatCode="General">
                  <c:v>10854880</c:v>
                </c:pt>
                <c:pt idx="455" formatCode="General">
                  <c:v>25239090</c:v>
                </c:pt>
                <c:pt idx="456" formatCode="General">
                  <c:v>11503390</c:v>
                </c:pt>
                <c:pt idx="457" formatCode="General">
                  <c:v>11503390</c:v>
                </c:pt>
                <c:pt idx="458" formatCode="General">
                  <c:v>11503390</c:v>
                </c:pt>
                <c:pt idx="459" formatCode="General">
                  <c:v>11503390</c:v>
                </c:pt>
                <c:pt idx="460" formatCode="General">
                  <c:v>11725540</c:v>
                </c:pt>
                <c:pt idx="461" formatCode="General">
                  <c:v>12034140</c:v>
                </c:pt>
                <c:pt idx="462" formatCode="General">
                  <c:v>43238560</c:v>
                </c:pt>
                <c:pt idx="463" formatCode="General">
                  <c:v>13219830</c:v>
                </c:pt>
                <c:pt idx="464" formatCode="General">
                  <c:v>13871950</c:v>
                </c:pt>
                <c:pt idx="465" formatCode="General">
                  <c:v>13871950</c:v>
                </c:pt>
                <c:pt idx="466" formatCode="General">
                  <c:v>13871950</c:v>
                </c:pt>
                <c:pt idx="467" formatCode="General">
                  <c:v>7865000</c:v>
                </c:pt>
                <c:pt idx="468" formatCode="General">
                  <c:v>31969210</c:v>
                </c:pt>
                <c:pt idx="469" formatCode="General">
                  <c:v>22517970</c:v>
                </c:pt>
                <c:pt idx="470" formatCode="General">
                  <c:v>53460460</c:v>
                </c:pt>
                <c:pt idx="471" formatCode="General">
                  <c:v>34571520</c:v>
                </c:pt>
                <c:pt idx="472" formatCode="General">
                  <c:v>34571520</c:v>
                </c:pt>
                <c:pt idx="473" formatCode="General">
                  <c:v>34571520</c:v>
                </c:pt>
                <c:pt idx="474" formatCode="General">
                  <c:v>31937020</c:v>
                </c:pt>
                <c:pt idx="475" formatCode="General">
                  <c:v>41251100</c:v>
                </c:pt>
                <c:pt idx="476" formatCode="General">
                  <c:v>23065620</c:v>
                </c:pt>
                <c:pt idx="477" formatCode="General">
                  <c:v>33667060</c:v>
                </c:pt>
                <c:pt idx="478" formatCode="General">
                  <c:v>35201780</c:v>
                </c:pt>
                <c:pt idx="479" formatCode="General">
                  <c:v>35201780</c:v>
                </c:pt>
                <c:pt idx="480" formatCode="General">
                  <c:v>35201780</c:v>
                </c:pt>
                <c:pt idx="481" formatCode="General">
                  <c:v>22664600</c:v>
                </c:pt>
                <c:pt idx="482" formatCode="General">
                  <c:v>20107940</c:v>
                </c:pt>
                <c:pt idx="483" formatCode="General">
                  <c:v>23244030</c:v>
                </c:pt>
                <c:pt idx="484" formatCode="General">
                  <c:v>26058840</c:v>
                </c:pt>
                <c:pt idx="485" formatCode="General">
                  <c:v>26058840</c:v>
                </c:pt>
                <c:pt idx="486" formatCode="General">
                  <c:v>26058840</c:v>
                </c:pt>
                <c:pt idx="487" formatCode="General">
                  <c:v>26058840</c:v>
                </c:pt>
                <c:pt idx="488" formatCode="General">
                  <c:v>16332190</c:v>
                </c:pt>
              </c:numCache>
            </c:numRef>
          </c:val>
          <c:extLst>
            <c:ext xmlns:c16="http://schemas.microsoft.com/office/drawing/2014/chart" uri="{C3380CC4-5D6E-409C-BE32-E72D297353CC}">
              <c16:uniqueId val="{00000000-1D74-449A-9A92-85BED8C4386F}"/>
            </c:ext>
          </c:extLst>
        </c:ser>
        <c:dLbls>
          <c:showLegendKey val="0"/>
          <c:showVal val="0"/>
          <c:showCatName val="0"/>
          <c:showSerName val="0"/>
          <c:showPercent val="0"/>
          <c:showBubbleSize val="0"/>
        </c:dLbls>
        <c:gapWidth val="150"/>
        <c:axId val="332405216"/>
        <c:axId val="332405696"/>
      </c:barChart>
      <c:lineChart>
        <c:grouping val="standard"/>
        <c:varyColors val="0"/>
        <c:ser>
          <c:idx val="0"/>
          <c:order val="0"/>
          <c:tx>
            <c:strRef>
              <c:f>Sheet1!$B$1</c:f>
              <c:strCache>
                <c:ptCount val="1"/>
                <c:pt idx="0">
                  <c:v>Keppel DC (Rebased)</c:v>
                </c:pt>
              </c:strCache>
            </c:strRef>
          </c:tx>
          <c:spPr>
            <a:ln w="19050" cap="rnd">
              <a:solidFill>
                <a:srgbClr val="C71031"/>
              </a:solidFill>
              <a:round/>
            </a:ln>
            <a:effectLst>
              <a:outerShdw blurRad="50800" dist="38100" dir="5400000" algn="t" rotWithShape="0">
                <a:prstClr val="black">
                  <a:alpha val="40000"/>
                </a:prstClr>
              </a:outerShdw>
            </a:effectLst>
          </c:spPr>
          <c:marker>
            <c:symbol val="none"/>
          </c:marker>
          <c:cat>
            <c:numRef>
              <c:f>Sheet1!$A$2:$A$490</c:f>
              <c:numCache>
                <c:formatCode>m/d/yyyy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Sheet1!$B$2:$B$490</c:f>
              <c:numCache>
                <c:formatCode>General</c:formatCode>
                <c:ptCount val="489"/>
                <c:pt idx="0">
                  <c:v>100</c:v>
                </c:pt>
                <c:pt idx="1">
                  <c:v>101.38248847926268</c:v>
                </c:pt>
                <c:pt idx="2">
                  <c:v>102.30414746543781</c:v>
                </c:pt>
                <c:pt idx="3">
                  <c:v>102.30414746543781</c:v>
                </c:pt>
                <c:pt idx="4">
                  <c:v>102.30414746543781</c:v>
                </c:pt>
                <c:pt idx="5">
                  <c:v>102.30414746543781</c:v>
                </c:pt>
                <c:pt idx="6">
                  <c:v>103.22580645161293</c:v>
                </c:pt>
                <c:pt idx="7">
                  <c:v>102.30414746543781</c:v>
                </c:pt>
                <c:pt idx="8">
                  <c:v>103.22580645161293</c:v>
                </c:pt>
                <c:pt idx="9">
                  <c:v>103.22580645161293</c:v>
                </c:pt>
                <c:pt idx="10">
                  <c:v>103.22580645161293</c:v>
                </c:pt>
                <c:pt idx="11">
                  <c:v>103.22580645161293</c:v>
                </c:pt>
                <c:pt idx="12">
                  <c:v>100.46082949308757</c:v>
                </c:pt>
                <c:pt idx="13">
                  <c:v>97.695852534562221</c:v>
                </c:pt>
                <c:pt idx="14">
                  <c:v>98.156682027649765</c:v>
                </c:pt>
                <c:pt idx="15">
                  <c:v>100.46082949308757</c:v>
                </c:pt>
                <c:pt idx="16">
                  <c:v>101.38248847926268</c:v>
                </c:pt>
                <c:pt idx="17">
                  <c:v>101.38248847926268</c:v>
                </c:pt>
                <c:pt idx="18">
                  <c:v>101.38248847926268</c:v>
                </c:pt>
                <c:pt idx="19">
                  <c:v>102.30414746543781</c:v>
                </c:pt>
                <c:pt idx="20">
                  <c:v>102.76497695852535</c:v>
                </c:pt>
                <c:pt idx="21">
                  <c:v>101.38248847926268</c:v>
                </c:pt>
                <c:pt idx="22">
                  <c:v>101.84331797235022</c:v>
                </c:pt>
                <c:pt idx="23">
                  <c:v>104.14746543778801</c:v>
                </c:pt>
                <c:pt idx="24">
                  <c:v>104.14746543778801</c:v>
                </c:pt>
                <c:pt idx="25">
                  <c:v>104.14746543778801</c:v>
                </c:pt>
                <c:pt idx="26">
                  <c:v>95.852534562211986</c:v>
                </c:pt>
                <c:pt idx="27">
                  <c:v>98.617511520737338</c:v>
                </c:pt>
                <c:pt idx="28">
                  <c:v>98.617511520737338</c:v>
                </c:pt>
                <c:pt idx="29">
                  <c:v>98.617511520737338</c:v>
                </c:pt>
                <c:pt idx="30">
                  <c:v>100.92165898617512</c:v>
                </c:pt>
                <c:pt idx="31">
                  <c:v>100.92165898617512</c:v>
                </c:pt>
                <c:pt idx="32">
                  <c:v>100.92165898617512</c:v>
                </c:pt>
                <c:pt idx="33">
                  <c:v>100</c:v>
                </c:pt>
                <c:pt idx="34">
                  <c:v>98.156682027649765</c:v>
                </c:pt>
                <c:pt idx="35">
                  <c:v>100.92165898617512</c:v>
                </c:pt>
                <c:pt idx="36">
                  <c:v>100</c:v>
                </c:pt>
                <c:pt idx="37">
                  <c:v>100.46082949308757</c:v>
                </c:pt>
                <c:pt idx="38">
                  <c:v>100.46082949308757</c:v>
                </c:pt>
                <c:pt idx="39">
                  <c:v>100.46082949308757</c:v>
                </c:pt>
                <c:pt idx="40">
                  <c:v>99.539170506912455</c:v>
                </c:pt>
                <c:pt idx="41">
                  <c:v>99.539170506912455</c:v>
                </c:pt>
                <c:pt idx="42">
                  <c:v>100.92165898617512</c:v>
                </c:pt>
                <c:pt idx="43">
                  <c:v>99.078341013824883</c:v>
                </c:pt>
                <c:pt idx="44">
                  <c:v>96.31336405529953</c:v>
                </c:pt>
                <c:pt idx="45">
                  <c:v>96.31336405529953</c:v>
                </c:pt>
                <c:pt idx="46">
                  <c:v>96.31336405529953</c:v>
                </c:pt>
                <c:pt idx="47">
                  <c:v>97.695852534562221</c:v>
                </c:pt>
                <c:pt idx="48">
                  <c:v>97.235023041474662</c:v>
                </c:pt>
                <c:pt idx="49">
                  <c:v>96.774193548387103</c:v>
                </c:pt>
                <c:pt idx="50">
                  <c:v>96.31336405529953</c:v>
                </c:pt>
                <c:pt idx="51">
                  <c:v>98.156682027649765</c:v>
                </c:pt>
                <c:pt idx="52">
                  <c:v>98.156682027649765</c:v>
                </c:pt>
                <c:pt idx="53">
                  <c:v>98.156682027649765</c:v>
                </c:pt>
                <c:pt idx="54">
                  <c:v>98.617511520737338</c:v>
                </c:pt>
                <c:pt idx="55">
                  <c:v>96.774193548387103</c:v>
                </c:pt>
                <c:pt idx="56">
                  <c:v>94.470046082949295</c:v>
                </c:pt>
                <c:pt idx="57">
                  <c:v>94.009216589861751</c:v>
                </c:pt>
                <c:pt idx="58">
                  <c:v>94.930875576036883</c:v>
                </c:pt>
                <c:pt idx="59">
                  <c:v>94.930875576036883</c:v>
                </c:pt>
                <c:pt idx="60">
                  <c:v>94.930875576036883</c:v>
                </c:pt>
                <c:pt idx="61">
                  <c:v>96.31336405529953</c:v>
                </c:pt>
                <c:pt idx="62">
                  <c:v>96.31336405529953</c:v>
                </c:pt>
                <c:pt idx="63">
                  <c:v>96.774193548387103</c:v>
                </c:pt>
                <c:pt idx="64">
                  <c:v>94.930875576036883</c:v>
                </c:pt>
                <c:pt idx="65">
                  <c:v>94.470046082949295</c:v>
                </c:pt>
                <c:pt idx="66">
                  <c:v>94.470046082949295</c:v>
                </c:pt>
                <c:pt idx="67">
                  <c:v>94.470046082949295</c:v>
                </c:pt>
                <c:pt idx="68">
                  <c:v>94.930875576036883</c:v>
                </c:pt>
                <c:pt idx="69">
                  <c:v>94.009216589861751</c:v>
                </c:pt>
                <c:pt idx="70">
                  <c:v>98.617511520737338</c:v>
                </c:pt>
                <c:pt idx="71">
                  <c:v>101.38248847926268</c:v>
                </c:pt>
                <c:pt idx="72">
                  <c:v>100.46082949308757</c:v>
                </c:pt>
                <c:pt idx="73">
                  <c:v>100.46082949308757</c:v>
                </c:pt>
                <c:pt idx="74">
                  <c:v>100.46082949308757</c:v>
                </c:pt>
                <c:pt idx="75">
                  <c:v>100.46082949308757</c:v>
                </c:pt>
                <c:pt idx="76">
                  <c:v>99.539170506912455</c:v>
                </c:pt>
                <c:pt idx="77">
                  <c:v>99.539170506912455</c:v>
                </c:pt>
                <c:pt idx="78">
                  <c:v>100</c:v>
                </c:pt>
                <c:pt idx="79">
                  <c:v>99.539170506912455</c:v>
                </c:pt>
                <c:pt idx="80">
                  <c:v>99.539170506912455</c:v>
                </c:pt>
                <c:pt idx="81">
                  <c:v>99.539170506912455</c:v>
                </c:pt>
                <c:pt idx="82">
                  <c:v>100</c:v>
                </c:pt>
                <c:pt idx="83">
                  <c:v>99.539170506912455</c:v>
                </c:pt>
                <c:pt idx="84">
                  <c:v>100.46082949308757</c:v>
                </c:pt>
                <c:pt idx="85">
                  <c:v>100.46082949308757</c:v>
                </c:pt>
                <c:pt idx="86">
                  <c:v>98.617511520737338</c:v>
                </c:pt>
                <c:pt idx="87">
                  <c:v>98.617511520737338</c:v>
                </c:pt>
                <c:pt idx="88">
                  <c:v>98.617511520737338</c:v>
                </c:pt>
                <c:pt idx="89">
                  <c:v>98.617511520737338</c:v>
                </c:pt>
                <c:pt idx="90">
                  <c:v>98.617511520737338</c:v>
                </c:pt>
                <c:pt idx="91">
                  <c:v>97.695852534562221</c:v>
                </c:pt>
                <c:pt idx="92">
                  <c:v>97.695852534562221</c:v>
                </c:pt>
                <c:pt idx="93">
                  <c:v>98.156682027649765</c:v>
                </c:pt>
                <c:pt idx="94">
                  <c:v>98.156682027649765</c:v>
                </c:pt>
                <c:pt idx="95">
                  <c:v>98.156682027649765</c:v>
                </c:pt>
                <c:pt idx="96">
                  <c:v>89.861751152073737</c:v>
                </c:pt>
                <c:pt idx="97">
                  <c:v>90.322580645161281</c:v>
                </c:pt>
                <c:pt idx="98">
                  <c:v>88.018433179723502</c:v>
                </c:pt>
                <c:pt idx="99">
                  <c:v>91.244239631336413</c:v>
                </c:pt>
                <c:pt idx="100">
                  <c:v>88.940092165898619</c:v>
                </c:pt>
                <c:pt idx="101">
                  <c:v>88.940092165898619</c:v>
                </c:pt>
                <c:pt idx="102">
                  <c:v>88.940092165898619</c:v>
                </c:pt>
                <c:pt idx="103">
                  <c:v>88.47926267281106</c:v>
                </c:pt>
                <c:pt idx="104">
                  <c:v>91.244239631336413</c:v>
                </c:pt>
                <c:pt idx="105">
                  <c:v>94.009216589861751</c:v>
                </c:pt>
                <c:pt idx="106">
                  <c:v>93.087557603686648</c:v>
                </c:pt>
                <c:pt idx="107">
                  <c:v>93.087557603686648</c:v>
                </c:pt>
                <c:pt idx="108">
                  <c:v>93.087557603686648</c:v>
                </c:pt>
                <c:pt idx="109">
                  <c:v>93.087557603686648</c:v>
                </c:pt>
                <c:pt idx="110">
                  <c:v>94.009216589861751</c:v>
                </c:pt>
                <c:pt idx="111">
                  <c:v>93.548387096774192</c:v>
                </c:pt>
                <c:pt idx="112">
                  <c:v>94.930875576036883</c:v>
                </c:pt>
                <c:pt idx="113">
                  <c:v>94.930875576036883</c:v>
                </c:pt>
                <c:pt idx="114">
                  <c:v>95.391705069124427</c:v>
                </c:pt>
                <c:pt idx="115">
                  <c:v>95.391705069124427</c:v>
                </c:pt>
                <c:pt idx="116">
                  <c:v>95.391705069124427</c:v>
                </c:pt>
                <c:pt idx="117">
                  <c:v>95.852534562211986</c:v>
                </c:pt>
                <c:pt idx="118">
                  <c:v>95.391705069124427</c:v>
                </c:pt>
                <c:pt idx="119">
                  <c:v>99.078341013824883</c:v>
                </c:pt>
                <c:pt idx="120">
                  <c:v>99.078341013824883</c:v>
                </c:pt>
                <c:pt idx="121">
                  <c:v>100.46082949308757</c:v>
                </c:pt>
                <c:pt idx="122">
                  <c:v>100.46082949308757</c:v>
                </c:pt>
                <c:pt idx="123">
                  <c:v>100.46082949308757</c:v>
                </c:pt>
                <c:pt idx="124">
                  <c:v>99.539170506912455</c:v>
                </c:pt>
                <c:pt idx="125">
                  <c:v>100.46082949308757</c:v>
                </c:pt>
                <c:pt idx="126">
                  <c:v>100.92165898617512</c:v>
                </c:pt>
                <c:pt idx="127">
                  <c:v>99.078341013824883</c:v>
                </c:pt>
                <c:pt idx="128">
                  <c:v>100.46082949308757</c:v>
                </c:pt>
                <c:pt idx="129">
                  <c:v>100.46082949308757</c:v>
                </c:pt>
                <c:pt idx="130">
                  <c:v>100.46082949308757</c:v>
                </c:pt>
                <c:pt idx="131">
                  <c:v>100.46082949308757</c:v>
                </c:pt>
                <c:pt idx="132">
                  <c:v>100.46082949308757</c:v>
                </c:pt>
                <c:pt idx="133">
                  <c:v>99.539170506912455</c:v>
                </c:pt>
                <c:pt idx="134">
                  <c:v>98.156682027649765</c:v>
                </c:pt>
                <c:pt idx="135">
                  <c:v>98.156682027649765</c:v>
                </c:pt>
                <c:pt idx="136">
                  <c:v>98.156682027649765</c:v>
                </c:pt>
                <c:pt idx="137">
                  <c:v>98.156682027649765</c:v>
                </c:pt>
                <c:pt idx="138">
                  <c:v>98.156682027649765</c:v>
                </c:pt>
                <c:pt idx="139">
                  <c:v>98.156682027649765</c:v>
                </c:pt>
                <c:pt idx="140">
                  <c:v>99.078341013824883</c:v>
                </c:pt>
                <c:pt idx="141">
                  <c:v>98.617511520737338</c:v>
                </c:pt>
                <c:pt idx="142">
                  <c:v>100</c:v>
                </c:pt>
                <c:pt idx="143">
                  <c:v>100</c:v>
                </c:pt>
                <c:pt idx="144">
                  <c:v>100</c:v>
                </c:pt>
                <c:pt idx="145">
                  <c:v>100.92165898617512</c:v>
                </c:pt>
                <c:pt idx="146">
                  <c:v>99.539170506912455</c:v>
                </c:pt>
                <c:pt idx="147">
                  <c:v>99.539170506912455</c:v>
                </c:pt>
                <c:pt idx="148">
                  <c:v>99.539170506912455</c:v>
                </c:pt>
                <c:pt idx="149">
                  <c:v>100.46082949308757</c:v>
                </c:pt>
                <c:pt idx="150">
                  <c:v>100.46082949308757</c:v>
                </c:pt>
                <c:pt idx="151">
                  <c:v>100.46082949308757</c:v>
                </c:pt>
                <c:pt idx="152">
                  <c:v>100</c:v>
                </c:pt>
                <c:pt idx="153">
                  <c:v>99.539170506912455</c:v>
                </c:pt>
                <c:pt idx="154">
                  <c:v>99.539170506912455</c:v>
                </c:pt>
                <c:pt idx="155">
                  <c:v>100.46082949308757</c:v>
                </c:pt>
                <c:pt idx="156">
                  <c:v>102.76497695852535</c:v>
                </c:pt>
                <c:pt idx="157">
                  <c:v>102.76497695852535</c:v>
                </c:pt>
                <c:pt idx="158">
                  <c:v>102.76497695852535</c:v>
                </c:pt>
                <c:pt idx="159">
                  <c:v>102.30414746543781</c:v>
                </c:pt>
                <c:pt idx="160">
                  <c:v>103.22580645161293</c:v>
                </c:pt>
                <c:pt idx="161">
                  <c:v>104.60829493087557</c:v>
                </c:pt>
                <c:pt idx="162">
                  <c:v>105.06912442396312</c:v>
                </c:pt>
                <c:pt idx="163">
                  <c:v>104.60829493087557</c:v>
                </c:pt>
                <c:pt idx="164">
                  <c:v>104.60829493087557</c:v>
                </c:pt>
                <c:pt idx="165">
                  <c:v>104.60829493087557</c:v>
                </c:pt>
                <c:pt idx="166">
                  <c:v>104.60829493087557</c:v>
                </c:pt>
                <c:pt idx="167">
                  <c:v>105.99078341013823</c:v>
                </c:pt>
                <c:pt idx="168">
                  <c:v>106.91244239631337</c:v>
                </c:pt>
                <c:pt idx="169">
                  <c:v>105.99078341013823</c:v>
                </c:pt>
                <c:pt idx="170">
                  <c:v>105.99078341013823</c:v>
                </c:pt>
                <c:pt idx="171">
                  <c:v>105.99078341013823</c:v>
                </c:pt>
                <c:pt idx="172">
                  <c:v>105.99078341013823</c:v>
                </c:pt>
                <c:pt idx="173">
                  <c:v>105.52995391705069</c:v>
                </c:pt>
                <c:pt idx="174">
                  <c:v>104.60829493087557</c:v>
                </c:pt>
                <c:pt idx="175">
                  <c:v>105.52995391705069</c:v>
                </c:pt>
                <c:pt idx="176">
                  <c:v>105.52995391705069</c:v>
                </c:pt>
                <c:pt idx="177">
                  <c:v>106.91244239631337</c:v>
                </c:pt>
                <c:pt idx="178">
                  <c:v>106.91244239631337</c:v>
                </c:pt>
                <c:pt idx="179">
                  <c:v>106.91244239631337</c:v>
                </c:pt>
                <c:pt idx="180">
                  <c:v>106.91244239631337</c:v>
                </c:pt>
                <c:pt idx="181">
                  <c:v>106.45161290322582</c:v>
                </c:pt>
                <c:pt idx="182">
                  <c:v>107.37327188940094</c:v>
                </c:pt>
                <c:pt idx="183">
                  <c:v>106.45161290322582</c:v>
                </c:pt>
                <c:pt idx="184">
                  <c:v>105.52995391705069</c:v>
                </c:pt>
                <c:pt idx="185">
                  <c:v>105.52995391705069</c:v>
                </c:pt>
                <c:pt idx="186">
                  <c:v>105.52995391705069</c:v>
                </c:pt>
                <c:pt idx="187">
                  <c:v>104.14746543778801</c:v>
                </c:pt>
                <c:pt idx="188">
                  <c:v>101.84331797235022</c:v>
                </c:pt>
                <c:pt idx="189">
                  <c:v>101.38248847926268</c:v>
                </c:pt>
                <c:pt idx="190">
                  <c:v>100.46082949308757</c:v>
                </c:pt>
                <c:pt idx="191">
                  <c:v>100.46082949308757</c:v>
                </c:pt>
                <c:pt idx="192">
                  <c:v>100.46082949308757</c:v>
                </c:pt>
                <c:pt idx="193">
                  <c:v>100.46082949308757</c:v>
                </c:pt>
                <c:pt idx="194">
                  <c:v>101.38248847926268</c:v>
                </c:pt>
                <c:pt idx="195">
                  <c:v>102.30414746543781</c:v>
                </c:pt>
                <c:pt idx="196">
                  <c:v>103.22580645161293</c:v>
                </c:pt>
                <c:pt idx="197">
                  <c:v>103.22580645161293</c:v>
                </c:pt>
                <c:pt idx="198">
                  <c:v>104.60829493087557</c:v>
                </c:pt>
                <c:pt idx="199">
                  <c:v>104.60829493087557</c:v>
                </c:pt>
                <c:pt idx="200">
                  <c:v>104.60829493087557</c:v>
                </c:pt>
                <c:pt idx="201">
                  <c:v>104.14746543778801</c:v>
                </c:pt>
                <c:pt idx="202">
                  <c:v>104.14746543778801</c:v>
                </c:pt>
                <c:pt idx="203">
                  <c:v>104.60829493087557</c:v>
                </c:pt>
                <c:pt idx="204">
                  <c:v>103.68663594470047</c:v>
                </c:pt>
                <c:pt idx="205">
                  <c:v>106.45161290322582</c:v>
                </c:pt>
                <c:pt idx="206">
                  <c:v>106.45161290322582</c:v>
                </c:pt>
                <c:pt idx="207">
                  <c:v>106.45161290322582</c:v>
                </c:pt>
                <c:pt idx="208">
                  <c:v>108.75576036866359</c:v>
                </c:pt>
                <c:pt idx="209">
                  <c:v>108.29493087557604</c:v>
                </c:pt>
                <c:pt idx="210">
                  <c:v>109.21658986175116</c:v>
                </c:pt>
                <c:pt idx="211">
                  <c:v>108.75576036866359</c:v>
                </c:pt>
                <c:pt idx="212">
                  <c:v>105.06912442396312</c:v>
                </c:pt>
                <c:pt idx="213">
                  <c:v>105.06912442396312</c:v>
                </c:pt>
                <c:pt idx="214">
                  <c:v>105.06912442396312</c:v>
                </c:pt>
                <c:pt idx="215">
                  <c:v>106.91244239631337</c:v>
                </c:pt>
                <c:pt idx="216">
                  <c:v>106.45161290322582</c:v>
                </c:pt>
                <c:pt idx="217">
                  <c:v>105.52995391705069</c:v>
                </c:pt>
                <c:pt idx="218">
                  <c:v>105.52995391705069</c:v>
                </c:pt>
                <c:pt idx="219">
                  <c:v>105.99078341013823</c:v>
                </c:pt>
                <c:pt idx="220">
                  <c:v>105.99078341013823</c:v>
                </c:pt>
                <c:pt idx="221">
                  <c:v>105.99078341013823</c:v>
                </c:pt>
                <c:pt idx="222">
                  <c:v>105.99078341013823</c:v>
                </c:pt>
                <c:pt idx="223">
                  <c:v>105.06912442396312</c:v>
                </c:pt>
                <c:pt idx="224">
                  <c:v>106.45161290322582</c:v>
                </c:pt>
                <c:pt idx="225">
                  <c:v>105.52995391705069</c:v>
                </c:pt>
                <c:pt idx="226">
                  <c:v>105.99078341013823</c:v>
                </c:pt>
                <c:pt idx="227">
                  <c:v>105.99078341013823</c:v>
                </c:pt>
                <c:pt idx="228">
                  <c:v>105.99078341013823</c:v>
                </c:pt>
                <c:pt idx="229">
                  <c:v>105.99078341013823</c:v>
                </c:pt>
                <c:pt idx="230">
                  <c:v>106.45161290322582</c:v>
                </c:pt>
                <c:pt idx="231">
                  <c:v>106.45161290322582</c:v>
                </c:pt>
                <c:pt idx="232">
                  <c:v>106.91244239631337</c:v>
                </c:pt>
                <c:pt idx="233">
                  <c:v>105.99078341013823</c:v>
                </c:pt>
                <c:pt idx="234">
                  <c:v>105.99078341013823</c:v>
                </c:pt>
                <c:pt idx="235">
                  <c:v>105.99078341013823</c:v>
                </c:pt>
                <c:pt idx="236">
                  <c:v>107.37327188940094</c:v>
                </c:pt>
                <c:pt idx="237">
                  <c:v>106.45161290322582</c:v>
                </c:pt>
                <c:pt idx="238">
                  <c:v>107.37327188940094</c:v>
                </c:pt>
                <c:pt idx="239">
                  <c:v>106.91244239631337</c:v>
                </c:pt>
                <c:pt idx="240">
                  <c:v>108.29493087557604</c:v>
                </c:pt>
                <c:pt idx="241">
                  <c:v>108.29493087557604</c:v>
                </c:pt>
                <c:pt idx="242">
                  <c:v>108.29493087557604</c:v>
                </c:pt>
                <c:pt idx="243">
                  <c:v>108.75576036866359</c:v>
                </c:pt>
                <c:pt idx="244">
                  <c:v>107.83410138248848</c:v>
                </c:pt>
                <c:pt idx="245">
                  <c:v>106.45161290322582</c:v>
                </c:pt>
                <c:pt idx="246">
                  <c:v>105.99078341013823</c:v>
                </c:pt>
                <c:pt idx="247">
                  <c:v>106.91244239631337</c:v>
                </c:pt>
                <c:pt idx="248">
                  <c:v>106.91244239631337</c:v>
                </c:pt>
                <c:pt idx="249">
                  <c:v>106.91244239631337</c:v>
                </c:pt>
                <c:pt idx="250">
                  <c:v>107.83410138248848</c:v>
                </c:pt>
                <c:pt idx="251">
                  <c:v>107.37327188940094</c:v>
                </c:pt>
                <c:pt idx="252">
                  <c:v>106.91244239631337</c:v>
                </c:pt>
                <c:pt idx="253">
                  <c:v>107.37327188940094</c:v>
                </c:pt>
                <c:pt idx="254">
                  <c:v>108.29493087557604</c:v>
                </c:pt>
                <c:pt idx="255">
                  <c:v>108.29493087557604</c:v>
                </c:pt>
                <c:pt idx="256">
                  <c:v>108.29493087557604</c:v>
                </c:pt>
                <c:pt idx="257">
                  <c:v>110.59907834101384</c:v>
                </c:pt>
                <c:pt idx="258">
                  <c:v>109.21658986175116</c:v>
                </c:pt>
                <c:pt idx="259">
                  <c:v>108.75576036866359</c:v>
                </c:pt>
                <c:pt idx="260">
                  <c:v>109.6774193548387</c:v>
                </c:pt>
                <c:pt idx="261">
                  <c:v>108.29493087557604</c:v>
                </c:pt>
                <c:pt idx="262">
                  <c:v>108.29493087557604</c:v>
                </c:pt>
                <c:pt idx="263">
                  <c:v>108.29493087557604</c:v>
                </c:pt>
                <c:pt idx="264">
                  <c:v>108.29493087557604</c:v>
                </c:pt>
                <c:pt idx="265">
                  <c:v>109.6774193548387</c:v>
                </c:pt>
                <c:pt idx="266">
                  <c:v>108.75576036866359</c:v>
                </c:pt>
                <c:pt idx="267">
                  <c:v>109.21658986175116</c:v>
                </c:pt>
                <c:pt idx="268">
                  <c:v>108.75576036866359</c:v>
                </c:pt>
                <c:pt idx="269">
                  <c:v>108.75576036866359</c:v>
                </c:pt>
                <c:pt idx="270">
                  <c:v>108.75576036866359</c:v>
                </c:pt>
                <c:pt idx="271">
                  <c:v>109.6774193548387</c:v>
                </c:pt>
                <c:pt idx="272">
                  <c:v>110.13824884792626</c:v>
                </c:pt>
                <c:pt idx="273">
                  <c:v>110.13824884792626</c:v>
                </c:pt>
                <c:pt idx="274">
                  <c:v>110.59907834101384</c:v>
                </c:pt>
                <c:pt idx="275">
                  <c:v>110.59907834101384</c:v>
                </c:pt>
                <c:pt idx="276">
                  <c:v>110.59907834101384</c:v>
                </c:pt>
                <c:pt idx="277">
                  <c:v>110.59907834101384</c:v>
                </c:pt>
                <c:pt idx="278">
                  <c:v>109.6774193548387</c:v>
                </c:pt>
                <c:pt idx="279">
                  <c:v>110.59907834101384</c:v>
                </c:pt>
                <c:pt idx="280">
                  <c:v>110.13824884792626</c:v>
                </c:pt>
                <c:pt idx="281">
                  <c:v>110.13824884792626</c:v>
                </c:pt>
                <c:pt idx="282">
                  <c:v>110.13824884792626</c:v>
                </c:pt>
                <c:pt idx="283">
                  <c:v>110.13824884792626</c:v>
                </c:pt>
                <c:pt idx="284">
                  <c:v>110.13824884792626</c:v>
                </c:pt>
                <c:pt idx="285">
                  <c:v>108.75576036866359</c:v>
                </c:pt>
                <c:pt idx="286">
                  <c:v>109.21658986175116</c:v>
                </c:pt>
                <c:pt idx="287">
                  <c:v>108.75576036866359</c:v>
                </c:pt>
                <c:pt idx="288">
                  <c:v>109.21658986175116</c:v>
                </c:pt>
                <c:pt idx="289">
                  <c:v>108.29493087557604</c:v>
                </c:pt>
                <c:pt idx="290">
                  <c:v>108.29493087557604</c:v>
                </c:pt>
                <c:pt idx="291">
                  <c:v>108.29493087557604</c:v>
                </c:pt>
                <c:pt idx="292">
                  <c:v>108.29493087557604</c:v>
                </c:pt>
                <c:pt idx="293">
                  <c:v>109.6774193548387</c:v>
                </c:pt>
                <c:pt idx="294">
                  <c:v>109.6774193548387</c:v>
                </c:pt>
                <c:pt idx="295">
                  <c:v>110.59907834101384</c:v>
                </c:pt>
                <c:pt idx="296">
                  <c:v>110.59907834101384</c:v>
                </c:pt>
                <c:pt idx="297">
                  <c:v>110.59907834101384</c:v>
                </c:pt>
                <c:pt idx="298">
                  <c:v>110.59907834101384</c:v>
                </c:pt>
                <c:pt idx="299">
                  <c:v>111.98156682027651</c:v>
                </c:pt>
                <c:pt idx="300">
                  <c:v>111.05990783410139</c:v>
                </c:pt>
                <c:pt idx="301">
                  <c:v>111.05990783410139</c:v>
                </c:pt>
                <c:pt idx="302">
                  <c:v>110.59907834101384</c:v>
                </c:pt>
                <c:pt idx="303">
                  <c:v>110.13824884792626</c:v>
                </c:pt>
                <c:pt idx="304">
                  <c:v>110.13824884792626</c:v>
                </c:pt>
                <c:pt idx="305">
                  <c:v>110.13824884792626</c:v>
                </c:pt>
                <c:pt idx="306">
                  <c:v>109.6774193548387</c:v>
                </c:pt>
                <c:pt idx="307">
                  <c:v>110.13824884792626</c:v>
                </c:pt>
                <c:pt idx="308">
                  <c:v>110.59907834101384</c:v>
                </c:pt>
                <c:pt idx="309">
                  <c:v>109.6774193548387</c:v>
                </c:pt>
                <c:pt idx="310">
                  <c:v>110.59907834101384</c:v>
                </c:pt>
                <c:pt idx="311">
                  <c:v>110.59907834101384</c:v>
                </c:pt>
                <c:pt idx="312">
                  <c:v>110.59907834101384</c:v>
                </c:pt>
                <c:pt idx="313">
                  <c:v>110.13824884792626</c:v>
                </c:pt>
                <c:pt idx="314">
                  <c:v>111.52073732718894</c:v>
                </c:pt>
                <c:pt idx="315">
                  <c:v>110.59907834101384</c:v>
                </c:pt>
                <c:pt idx="316">
                  <c:v>110.13824884792626</c:v>
                </c:pt>
                <c:pt idx="317">
                  <c:v>109.21658986175116</c:v>
                </c:pt>
                <c:pt idx="318">
                  <c:v>109.21658986175116</c:v>
                </c:pt>
                <c:pt idx="319">
                  <c:v>109.21658986175116</c:v>
                </c:pt>
                <c:pt idx="320">
                  <c:v>108.75576036866359</c:v>
                </c:pt>
                <c:pt idx="321">
                  <c:v>108.29493087557604</c:v>
                </c:pt>
                <c:pt idx="322">
                  <c:v>106.91244239631337</c:v>
                </c:pt>
                <c:pt idx="323">
                  <c:v>108.29493087557604</c:v>
                </c:pt>
                <c:pt idx="324">
                  <c:v>106.45161290322582</c:v>
                </c:pt>
                <c:pt idx="325">
                  <c:v>106.45161290322582</c:v>
                </c:pt>
                <c:pt idx="326">
                  <c:v>106.45161290322582</c:v>
                </c:pt>
                <c:pt idx="327">
                  <c:v>106.91244239631337</c:v>
                </c:pt>
                <c:pt idx="328">
                  <c:v>106.91244239631337</c:v>
                </c:pt>
                <c:pt idx="329">
                  <c:v>105.06912442396312</c:v>
                </c:pt>
                <c:pt idx="330">
                  <c:v>105.99078341013823</c:v>
                </c:pt>
                <c:pt idx="331">
                  <c:v>106.45161290322582</c:v>
                </c:pt>
                <c:pt idx="332">
                  <c:v>106.45161290322582</c:v>
                </c:pt>
                <c:pt idx="333">
                  <c:v>106.45161290322582</c:v>
                </c:pt>
                <c:pt idx="334">
                  <c:v>104.60829493087557</c:v>
                </c:pt>
                <c:pt idx="335">
                  <c:v>105.99078341013823</c:v>
                </c:pt>
                <c:pt idx="336">
                  <c:v>105.06912442396312</c:v>
                </c:pt>
                <c:pt idx="337">
                  <c:v>104.60829493087557</c:v>
                </c:pt>
                <c:pt idx="338">
                  <c:v>103.68663594470047</c:v>
                </c:pt>
                <c:pt idx="339">
                  <c:v>103.68663594470047</c:v>
                </c:pt>
                <c:pt idx="340">
                  <c:v>103.68663594470047</c:v>
                </c:pt>
                <c:pt idx="341">
                  <c:v>103.22580645161293</c:v>
                </c:pt>
                <c:pt idx="342">
                  <c:v>103.22580645161293</c:v>
                </c:pt>
                <c:pt idx="343">
                  <c:v>102.76497695852535</c:v>
                </c:pt>
                <c:pt idx="344">
                  <c:v>103.22580645161293</c:v>
                </c:pt>
                <c:pt idx="345">
                  <c:v>103.68663594470047</c:v>
                </c:pt>
                <c:pt idx="346">
                  <c:v>103.68663594470047</c:v>
                </c:pt>
                <c:pt idx="347">
                  <c:v>103.68663594470047</c:v>
                </c:pt>
                <c:pt idx="348">
                  <c:v>103.22580645161293</c:v>
                </c:pt>
                <c:pt idx="349">
                  <c:v>101.38248847926268</c:v>
                </c:pt>
                <c:pt idx="350">
                  <c:v>101.38248847926268</c:v>
                </c:pt>
                <c:pt idx="351">
                  <c:v>101.38248847926268</c:v>
                </c:pt>
                <c:pt idx="352">
                  <c:v>100.92165898617512</c:v>
                </c:pt>
                <c:pt idx="353">
                  <c:v>100.92165898617512</c:v>
                </c:pt>
                <c:pt idx="354">
                  <c:v>100.92165898617512</c:v>
                </c:pt>
                <c:pt idx="355">
                  <c:v>100.92165898617512</c:v>
                </c:pt>
                <c:pt idx="356">
                  <c:v>100.92165898617512</c:v>
                </c:pt>
                <c:pt idx="357">
                  <c:v>101.84331797235022</c:v>
                </c:pt>
                <c:pt idx="358">
                  <c:v>101.84331797235022</c:v>
                </c:pt>
                <c:pt idx="359">
                  <c:v>101.84331797235022</c:v>
                </c:pt>
                <c:pt idx="360">
                  <c:v>101.84331797235022</c:v>
                </c:pt>
                <c:pt idx="361">
                  <c:v>101.84331797235022</c:v>
                </c:pt>
                <c:pt idx="362">
                  <c:v>102.76497695852535</c:v>
                </c:pt>
                <c:pt idx="363">
                  <c:v>102.76497695852535</c:v>
                </c:pt>
                <c:pt idx="364">
                  <c:v>103.68663594470047</c:v>
                </c:pt>
                <c:pt idx="365">
                  <c:v>103.68663594470047</c:v>
                </c:pt>
                <c:pt idx="366">
                  <c:v>103.22580645161293</c:v>
                </c:pt>
                <c:pt idx="367">
                  <c:v>103.22580645161293</c:v>
                </c:pt>
                <c:pt idx="368">
                  <c:v>103.22580645161293</c:v>
                </c:pt>
                <c:pt idx="369">
                  <c:v>103.22580645161293</c:v>
                </c:pt>
                <c:pt idx="370">
                  <c:v>102.76497695852535</c:v>
                </c:pt>
                <c:pt idx="371">
                  <c:v>102.76497695852535</c:v>
                </c:pt>
                <c:pt idx="372">
                  <c:v>101.84331797235022</c:v>
                </c:pt>
                <c:pt idx="373">
                  <c:v>102.30414746543781</c:v>
                </c:pt>
                <c:pt idx="374">
                  <c:v>102.30414746543781</c:v>
                </c:pt>
                <c:pt idx="375">
                  <c:v>102.30414746543781</c:v>
                </c:pt>
                <c:pt idx="376">
                  <c:v>103.22580645161293</c:v>
                </c:pt>
                <c:pt idx="377">
                  <c:v>103.68663594470047</c:v>
                </c:pt>
                <c:pt idx="378">
                  <c:v>104.14746543778801</c:v>
                </c:pt>
                <c:pt idx="379">
                  <c:v>103.22580645161293</c:v>
                </c:pt>
                <c:pt idx="380">
                  <c:v>103.22580645161293</c:v>
                </c:pt>
                <c:pt idx="381">
                  <c:v>103.22580645161293</c:v>
                </c:pt>
                <c:pt idx="382">
                  <c:v>103.22580645161293</c:v>
                </c:pt>
                <c:pt idx="383">
                  <c:v>102.76497695852535</c:v>
                </c:pt>
                <c:pt idx="384">
                  <c:v>103.22580645161293</c:v>
                </c:pt>
                <c:pt idx="385">
                  <c:v>102.30414746543781</c:v>
                </c:pt>
                <c:pt idx="386">
                  <c:v>101.84331797235022</c:v>
                </c:pt>
                <c:pt idx="387">
                  <c:v>102.30414746543781</c:v>
                </c:pt>
                <c:pt idx="388">
                  <c:v>102.30414746543781</c:v>
                </c:pt>
                <c:pt idx="389">
                  <c:v>102.30414746543781</c:v>
                </c:pt>
                <c:pt idx="390">
                  <c:v>102.76497695852535</c:v>
                </c:pt>
                <c:pt idx="391">
                  <c:v>102.30414746543781</c:v>
                </c:pt>
                <c:pt idx="392">
                  <c:v>102.76497695852535</c:v>
                </c:pt>
                <c:pt idx="393">
                  <c:v>103.22580645161293</c:v>
                </c:pt>
                <c:pt idx="394">
                  <c:v>105.06912442396312</c:v>
                </c:pt>
                <c:pt idx="395">
                  <c:v>105.06912442396312</c:v>
                </c:pt>
                <c:pt idx="396">
                  <c:v>105.06912442396312</c:v>
                </c:pt>
                <c:pt idx="397">
                  <c:v>105.06912442396312</c:v>
                </c:pt>
                <c:pt idx="398">
                  <c:v>105.52995391705069</c:v>
                </c:pt>
                <c:pt idx="399">
                  <c:v>104.60829493087557</c:v>
                </c:pt>
                <c:pt idx="400">
                  <c:v>104.60829493087557</c:v>
                </c:pt>
                <c:pt idx="401">
                  <c:v>102.76497695852535</c:v>
                </c:pt>
                <c:pt idx="402">
                  <c:v>102.76497695852535</c:v>
                </c:pt>
                <c:pt idx="403">
                  <c:v>102.76497695852535</c:v>
                </c:pt>
                <c:pt idx="404">
                  <c:v>103.22580645161293</c:v>
                </c:pt>
                <c:pt idx="405">
                  <c:v>103.68663594470047</c:v>
                </c:pt>
                <c:pt idx="406">
                  <c:v>104.14746543778801</c:v>
                </c:pt>
                <c:pt idx="407">
                  <c:v>103.68663594470047</c:v>
                </c:pt>
                <c:pt idx="408">
                  <c:v>103.68663594470047</c:v>
                </c:pt>
                <c:pt idx="409">
                  <c:v>103.68663594470047</c:v>
                </c:pt>
                <c:pt idx="410">
                  <c:v>103.68663594470047</c:v>
                </c:pt>
                <c:pt idx="411">
                  <c:v>104.14746543778801</c:v>
                </c:pt>
                <c:pt idx="412">
                  <c:v>104.14746543778801</c:v>
                </c:pt>
                <c:pt idx="413">
                  <c:v>104.14746543778801</c:v>
                </c:pt>
                <c:pt idx="414">
                  <c:v>104.14746543778801</c:v>
                </c:pt>
                <c:pt idx="415">
                  <c:v>104.60829493087557</c:v>
                </c:pt>
                <c:pt idx="416">
                  <c:v>104.60829493087557</c:v>
                </c:pt>
                <c:pt idx="417">
                  <c:v>104.60829493087557</c:v>
                </c:pt>
                <c:pt idx="418">
                  <c:v>105.06912442396312</c:v>
                </c:pt>
                <c:pt idx="419">
                  <c:v>105.52995391705069</c:v>
                </c:pt>
                <c:pt idx="420">
                  <c:v>105.52995391705069</c:v>
                </c:pt>
                <c:pt idx="421">
                  <c:v>106.45161290322582</c:v>
                </c:pt>
                <c:pt idx="422">
                  <c:v>106.45161290322582</c:v>
                </c:pt>
                <c:pt idx="423">
                  <c:v>106.45161290322582</c:v>
                </c:pt>
                <c:pt idx="424">
                  <c:v>106.45161290322582</c:v>
                </c:pt>
                <c:pt idx="425">
                  <c:v>105.52995391705069</c:v>
                </c:pt>
                <c:pt idx="426">
                  <c:v>105.52995391705069</c:v>
                </c:pt>
                <c:pt idx="427">
                  <c:v>105.52995391705069</c:v>
                </c:pt>
                <c:pt idx="428">
                  <c:v>106.45161290322582</c:v>
                </c:pt>
                <c:pt idx="429">
                  <c:v>105.99078341013823</c:v>
                </c:pt>
                <c:pt idx="430">
                  <c:v>105.99078341013823</c:v>
                </c:pt>
                <c:pt idx="431">
                  <c:v>105.99078341013823</c:v>
                </c:pt>
                <c:pt idx="432">
                  <c:v>103.22580645161293</c:v>
                </c:pt>
                <c:pt idx="433">
                  <c:v>103.22580645161293</c:v>
                </c:pt>
                <c:pt idx="434">
                  <c:v>104.60829493087557</c:v>
                </c:pt>
                <c:pt idx="435">
                  <c:v>104.14746543778801</c:v>
                </c:pt>
                <c:pt idx="436">
                  <c:v>103.68663594470047</c:v>
                </c:pt>
                <c:pt idx="437">
                  <c:v>103.68663594470047</c:v>
                </c:pt>
                <c:pt idx="438">
                  <c:v>103.68663594470047</c:v>
                </c:pt>
                <c:pt idx="439">
                  <c:v>103.68663594470047</c:v>
                </c:pt>
                <c:pt idx="440">
                  <c:v>104.60829493087557</c:v>
                </c:pt>
                <c:pt idx="441">
                  <c:v>105.99078341013823</c:v>
                </c:pt>
                <c:pt idx="442">
                  <c:v>105.99078341013823</c:v>
                </c:pt>
                <c:pt idx="443">
                  <c:v>106.45161290322582</c:v>
                </c:pt>
                <c:pt idx="444">
                  <c:v>106.45161290322582</c:v>
                </c:pt>
                <c:pt idx="445">
                  <c:v>106.45161290322582</c:v>
                </c:pt>
                <c:pt idx="446">
                  <c:v>103.22580645161293</c:v>
                </c:pt>
                <c:pt idx="447">
                  <c:v>102.30414746543781</c:v>
                </c:pt>
                <c:pt idx="448">
                  <c:v>100.92165898617512</c:v>
                </c:pt>
                <c:pt idx="449">
                  <c:v>100.46082949308757</c:v>
                </c:pt>
                <c:pt idx="450">
                  <c:v>100.46082949308757</c:v>
                </c:pt>
                <c:pt idx="451">
                  <c:v>100.46082949308757</c:v>
                </c:pt>
                <c:pt idx="452">
                  <c:v>100.46082949308757</c:v>
                </c:pt>
                <c:pt idx="453">
                  <c:v>100.46082949308757</c:v>
                </c:pt>
                <c:pt idx="454">
                  <c:v>100.46082949308757</c:v>
                </c:pt>
                <c:pt idx="455">
                  <c:v>102.76497695852535</c:v>
                </c:pt>
                <c:pt idx="456">
                  <c:v>102.30414746543781</c:v>
                </c:pt>
                <c:pt idx="457">
                  <c:v>102.30414746543781</c:v>
                </c:pt>
                <c:pt idx="458">
                  <c:v>102.30414746543781</c:v>
                </c:pt>
                <c:pt idx="459">
                  <c:v>102.30414746543781</c:v>
                </c:pt>
                <c:pt idx="460">
                  <c:v>102.76497695852535</c:v>
                </c:pt>
                <c:pt idx="461">
                  <c:v>102.76497695852535</c:v>
                </c:pt>
                <c:pt idx="462">
                  <c:v>105.52995391705069</c:v>
                </c:pt>
                <c:pt idx="463">
                  <c:v>105.99078341013823</c:v>
                </c:pt>
                <c:pt idx="464">
                  <c:v>106.45161290322582</c:v>
                </c:pt>
                <c:pt idx="465">
                  <c:v>106.45161290322582</c:v>
                </c:pt>
                <c:pt idx="466">
                  <c:v>106.45161290322582</c:v>
                </c:pt>
                <c:pt idx="467">
                  <c:v>106.45161290322582</c:v>
                </c:pt>
                <c:pt idx="468">
                  <c:v>107.83410138248848</c:v>
                </c:pt>
                <c:pt idx="469">
                  <c:v>107.37327188940094</c:v>
                </c:pt>
                <c:pt idx="470">
                  <c:v>108.75576036866359</c:v>
                </c:pt>
                <c:pt idx="471">
                  <c:v>108.29493087557604</c:v>
                </c:pt>
                <c:pt idx="472">
                  <c:v>108.29493087557604</c:v>
                </c:pt>
                <c:pt idx="473">
                  <c:v>108.29493087557604</c:v>
                </c:pt>
                <c:pt idx="474">
                  <c:v>109.6774193548387</c:v>
                </c:pt>
                <c:pt idx="475">
                  <c:v>110.13824884792626</c:v>
                </c:pt>
                <c:pt idx="476">
                  <c:v>109.21658986175116</c:v>
                </c:pt>
                <c:pt idx="477">
                  <c:v>109.6774193548387</c:v>
                </c:pt>
                <c:pt idx="478">
                  <c:v>109.21658986175116</c:v>
                </c:pt>
                <c:pt idx="479">
                  <c:v>109.21658986175116</c:v>
                </c:pt>
                <c:pt idx="480">
                  <c:v>109.21658986175116</c:v>
                </c:pt>
                <c:pt idx="481">
                  <c:v>109.21658986175116</c:v>
                </c:pt>
                <c:pt idx="482">
                  <c:v>109.21658986175116</c:v>
                </c:pt>
                <c:pt idx="483">
                  <c:v>108.75576036866359</c:v>
                </c:pt>
                <c:pt idx="484">
                  <c:v>108.29493087557604</c:v>
                </c:pt>
                <c:pt idx="485">
                  <c:v>108.29493087557604</c:v>
                </c:pt>
                <c:pt idx="486">
                  <c:v>108.29493087557604</c:v>
                </c:pt>
                <c:pt idx="487">
                  <c:v>108.29493087557604</c:v>
                </c:pt>
                <c:pt idx="488">
                  <c:v>107.83410138248848</c:v>
                </c:pt>
              </c:numCache>
            </c:numRef>
          </c:val>
          <c:smooth val="0"/>
          <c:extLst>
            <c:ext xmlns:c16="http://schemas.microsoft.com/office/drawing/2014/chart" uri="{C3380CC4-5D6E-409C-BE32-E72D297353CC}">
              <c16:uniqueId val="{00000001-1D74-449A-9A92-85BED8C4386F}"/>
            </c:ext>
          </c:extLst>
        </c:ser>
        <c:ser>
          <c:idx val="2"/>
          <c:order val="2"/>
          <c:tx>
            <c:strRef>
              <c:f>Sheet1!$D$1</c:f>
              <c:strCache>
                <c:ptCount val="1"/>
                <c:pt idx="0">
                  <c:v>FTSE ST REIT Index</c:v>
                </c:pt>
              </c:strCache>
            </c:strRef>
          </c:tx>
          <c:spPr>
            <a:ln w="19050" cap="rnd">
              <a:solidFill>
                <a:schemeClr val="tx1">
                  <a:lumMod val="50000"/>
                  <a:lumOff val="50000"/>
                </a:schemeClr>
              </a:solidFill>
              <a:round/>
            </a:ln>
            <a:effectLst/>
          </c:spPr>
          <c:marker>
            <c:symbol val="none"/>
          </c:marker>
          <c:cat>
            <c:numRef>
              <c:f>Sheet1!$A$2:$A$490</c:f>
              <c:numCache>
                <c:formatCode>m/d/yyyy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Sheet1!$D$2:$D$490</c:f>
              <c:numCache>
                <c:formatCode>General</c:formatCode>
                <c:ptCount val="489"/>
                <c:pt idx="0">
                  <c:v>100</c:v>
                </c:pt>
                <c:pt idx="1">
                  <c:v>101.1479910157225</c:v>
                </c:pt>
                <c:pt idx="2">
                  <c:v>102.16496131769404</c:v>
                </c:pt>
                <c:pt idx="3">
                  <c:v>102.16496131769404</c:v>
                </c:pt>
                <c:pt idx="4">
                  <c:v>102.16496131769404</c:v>
                </c:pt>
                <c:pt idx="5">
                  <c:v>102.43324182680308</c:v>
                </c:pt>
                <c:pt idx="6">
                  <c:v>101.81713251809332</c:v>
                </c:pt>
                <c:pt idx="7">
                  <c:v>101.19166458697279</c:v>
                </c:pt>
                <c:pt idx="8">
                  <c:v>100.94990017469429</c:v>
                </c:pt>
                <c:pt idx="9">
                  <c:v>100.60987022710258</c:v>
                </c:pt>
                <c:pt idx="10">
                  <c:v>100.60987022710258</c:v>
                </c:pt>
                <c:pt idx="11">
                  <c:v>100.60987022710258</c:v>
                </c:pt>
                <c:pt idx="12">
                  <c:v>99.951647117544283</c:v>
                </c:pt>
                <c:pt idx="13">
                  <c:v>99.280945844771651</c:v>
                </c:pt>
                <c:pt idx="14">
                  <c:v>99.46811829298727</c:v>
                </c:pt>
                <c:pt idx="15">
                  <c:v>100.94210132268529</c:v>
                </c:pt>
                <c:pt idx="16">
                  <c:v>101.02164961317692</c:v>
                </c:pt>
                <c:pt idx="17">
                  <c:v>101.02164961317692</c:v>
                </c:pt>
                <c:pt idx="18">
                  <c:v>101.02164961317692</c:v>
                </c:pt>
                <c:pt idx="19">
                  <c:v>101.66115547791365</c:v>
                </c:pt>
                <c:pt idx="20">
                  <c:v>101.54105315697531</c:v>
                </c:pt>
                <c:pt idx="21">
                  <c:v>100.62234839031694</c:v>
                </c:pt>
                <c:pt idx="22">
                  <c:v>100.60675068629898</c:v>
                </c:pt>
                <c:pt idx="23">
                  <c:v>100.90466683304217</c:v>
                </c:pt>
                <c:pt idx="24">
                  <c:v>100.90466683304217</c:v>
                </c:pt>
                <c:pt idx="25">
                  <c:v>100.90466683304217</c:v>
                </c:pt>
                <c:pt idx="26">
                  <c:v>99.513351634639378</c:v>
                </c:pt>
                <c:pt idx="27">
                  <c:v>100.44765410531571</c:v>
                </c:pt>
                <c:pt idx="28">
                  <c:v>100.44765410531571</c:v>
                </c:pt>
                <c:pt idx="29">
                  <c:v>100.44765410531571</c:v>
                </c:pt>
                <c:pt idx="30">
                  <c:v>100.16221612178686</c:v>
                </c:pt>
                <c:pt idx="31">
                  <c:v>100.16221612178686</c:v>
                </c:pt>
                <c:pt idx="32">
                  <c:v>100.16221612178686</c:v>
                </c:pt>
                <c:pt idx="33">
                  <c:v>99.277826303968055</c:v>
                </c:pt>
                <c:pt idx="34">
                  <c:v>99.284065385575232</c:v>
                </c:pt>
                <c:pt idx="35">
                  <c:v>99.165522835038672</c:v>
                </c:pt>
                <c:pt idx="36">
                  <c:v>99.502433241826793</c:v>
                </c:pt>
                <c:pt idx="37">
                  <c:v>100.2402046418767</c:v>
                </c:pt>
                <c:pt idx="38">
                  <c:v>100.2402046418767</c:v>
                </c:pt>
                <c:pt idx="39">
                  <c:v>100.2402046418767</c:v>
                </c:pt>
                <c:pt idx="40">
                  <c:v>99.798789618168215</c:v>
                </c:pt>
                <c:pt idx="41">
                  <c:v>99.650611429997511</c:v>
                </c:pt>
                <c:pt idx="42">
                  <c:v>99.355814824057902</c:v>
                </c:pt>
                <c:pt idx="43">
                  <c:v>98.711629648115789</c:v>
                </c:pt>
                <c:pt idx="44">
                  <c:v>98.530696281507375</c:v>
                </c:pt>
                <c:pt idx="45">
                  <c:v>98.530696281507375</c:v>
                </c:pt>
                <c:pt idx="46">
                  <c:v>98.530696281507375</c:v>
                </c:pt>
                <c:pt idx="47">
                  <c:v>99.226353880708757</c:v>
                </c:pt>
                <c:pt idx="48">
                  <c:v>98.449588220613919</c:v>
                </c:pt>
                <c:pt idx="49">
                  <c:v>97.944222610431751</c:v>
                </c:pt>
                <c:pt idx="50">
                  <c:v>97.601073122036439</c:v>
                </c:pt>
                <c:pt idx="51">
                  <c:v>97.482530571499879</c:v>
                </c:pt>
                <c:pt idx="52">
                  <c:v>97.482530571499879</c:v>
                </c:pt>
                <c:pt idx="53">
                  <c:v>97.482530571499879</c:v>
                </c:pt>
                <c:pt idx="54">
                  <c:v>97.875592712752677</c:v>
                </c:pt>
                <c:pt idx="55">
                  <c:v>97.841277763913155</c:v>
                </c:pt>
                <c:pt idx="56">
                  <c:v>97.658784626902914</c:v>
                </c:pt>
                <c:pt idx="57">
                  <c:v>97.563638632393307</c:v>
                </c:pt>
                <c:pt idx="58">
                  <c:v>97.243885700024961</c:v>
                </c:pt>
                <c:pt idx="59">
                  <c:v>97.243885700024961</c:v>
                </c:pt>
                <c:pt idx="60">
                  <c:v>97.243885700024961</c:v>
                </c:pt>
                <c:pt idx="61">
                  <c:v>97.577676566009487</c:v>
                </c:pt>
                <c:pt idx="62">
                  <c:v>97.465373097080104</c:v>
                </c:pt>
                <c:pt idx="63">
                  <c:v>97.830359371100585</c:v>
                </c:pt>
                <c:pt idx="64">
                  <c:v>97.739892687796356</c:v>
                </c:pt>
                <c:pt idx="65">
                  <c:v>97.484090341901677</c:v>
                </c:pt>
                <c:pt idx="66">
                  <c:v>97.484090341901677</c:v>
                </c:pt>
                <c:pt idx="67">
                  <c:v>97.484090341901677</c:v>
                </c:pt>
                <c:pt idx="68">
                  <c:v>97.507486897928615</c:v>
                </c:pt>
                <c:pt idx="69">
                  <c:v>98.048727227352146</c:v>
                </c:pt>
                <c:pt idx="70">
                  <c:v>100.27451959071625</c:v>
                </c:pt>
                <c:pt idx="71">
                  <c:v>101.26809333666085</c:v>
                </c:pt>
                <c:pt idx="72">
                  <c:v>101.7874968804592</c:v>
                </c:pt>
                <c:pt idx="73">
                  <c:v>101.7874968804592</c:v>
                </c:pt>
                <c:pt idx="74">
                  <c:v>101.7874968804592</c:v>
                </c:pt>
                <c:pt idx="75">
                  <c:v>101.65179685550288</c:v>
                </c:pt>
                <c:pt idx="76">
                  <c:v>101.41003244322435</c:v>
                </c:pt>
                <c:pt idx="77">
                  <c:v>101.15423009732967</c:v>
                </c:pt>
                <c:pt idx="78">
                  <c:v>101.69391065635138</c:v>
                </c:pt>
                <c:pt idx="79">
                  <c:v>101.86080608934364</c:v>
                </c:pt>
                <c:pt idx="80">
                  <c:v>101.86080608934364</c:v>
                </c:pt>
                <c:pt idx="81">
                  <c:v>101.86080608934364</c:v>
                </c:pt>
                <c:pt idx="82">
                  <c:v>102.32249812827551</c:v>
                </c:pt>
                <c:pt idx="83">
                  <c:v>102.21019465934613</c:v>
                </c:pt>
                <c:pt idx="84">
                  <c:v>102.380209633142</c:v>
                </c:pt>
                <c:pt idx="85">
                  <c:v>102.23203144497128</c:v>
                </c:pt>
                <c:pt idx="86">
                  <c:v>101.90759920139756</c:v>
                </c:pt>
                <c:pt idx="87">
                  <c:v>101.90759920139756</c:v>
                </c:pt>
                <c:pt idx="88">
                  <c:v>101.90759920139756</c:v>
                </c:pt>
                <c:pt idx="89">
                  <c:v>101.90759920139756</c:v>
                </c:pt>
                <c:pt idx="90">
                  <c:v>102.42232343399051</c:v>
                </c:pt>
                <c:pt idx="91">
                  <c:v>101.96999001746943</c:v>
                </c:pt>
                <c:pt idx="92">
                  <c:v>103.59215123533816</c:v>
                </c:pt>
                <c:pt idx="93">
                  <c:v>102.45975792363365</c:v>
                </c:pt>
                <c:pt idx="94">
                  <c:v>102.45975792363365</c:v>
                </c:pt>
                <c:pt idx="95">
                  <c:v>102.45975792363365</c:v>
                </c:pt>
                <c:pt idx="96">
                  <c:v>96.701085600199661</c:v>
                </c:pt>
                <c:pt idx="97">
                  <c:v>95.25829797853757</c:v>
                </c:pt>
                <c:pt idx="98">
                  <c:v>92.115360618916895</c:v>
                </c:pt>
                <c:pt idx="99">
                  <c:v>95.130396805590209</c:v>
                </c:pt>
                <c:pt idx="100">
                  <c:v>94.473733466433757</c:v>
                </c:pt>
                <c:pt idx="101">
                  <c:v>94.473733466433757</c:v>
                </c:pt>
                <c:pt idx="102">
                  <c:v>94.473733466433757</c:v>
                </c:pt>
                <c:pt idx="103">
                  <c:v>94.912028949338662</c:v>
                </c:pt>
                <c:pt idx="104">
                  <c:v>96.886698278013469</c:v>
                </c:pt>
                <c:pt idx="105">
                  <c:v>98.120476665834801</c:v>
                </c:pt>
                <c:pt idx="106">
                  <c:v>98.6133641128026</c:v>
                </c:pt>
                <c:pt idx="107">
                  <c:v>98.6133641128026</c:v>
                </c:pt>
                <c:pt idx="108">
                  <c:v>98.6133641128026</c:v>
                </c:pt>
                <c:pt idx="109">
                  <c:v>98.6133641128026</c:v>
                </c:pt>
                <c:pt idx="110">
                  <c:v>98.580608934364861</c:v>
                </c:pt>
                <c:pt idx="111">
                  <c:v>99.126528574993756</c:v>
                </c:pt>
                <c:pt idx="112">
                  <c:v>100.60987022710258</c:v>
                </c:pt>
                <c:pt idx="113">
                  <c:v>99.900174694284999</c:v>
                </c:pt>
                <c:pt idx="114">
                  <c:v>99.706763164462188</c:v>
                </c:pt>
                <c:pt idx="115">
                  <c:v>99.706763164462188</c:v>
                </c:pt>
                <c:pt idx="116">
                  <c:v>99.706763164462188</c:v>
                </c:pt>
                <c:pt idx="117">
                  <c:v>99.929810331919128</c:v>
                </c:pt>
                <c:pt idx="118">
                  <c:v>99.864299975043664</c:v>
                </c:pt>
                <c:pt idx="119">
                  <c:v>100.3415897179935</c:v>
                </c:pt>
                <c:pt idx="120">
                  <c:v>100.3415897179935</c:v>
                </c:pt>
                <c:pt idx="121">
                  <c:v>100.47417020214624</c:v>
                </c:pt>
                <c:pt idx="122">
                  <c:v>100.47417020214624</c:v>
                </c:pt>
                <c:pt idx="123">
                  <c:v>100.47417020214624</c:v>
                </c:pt>
                <c:pt idx="124">
                  <c:v>100.6410656351385</c:v>
                </c:pt>
                <c:pt idx="125">
                  <c:v>100.43049663089593</c:v>
                </c:pt>
                <c:pt idx="126">
                  <c:v>100.32131270277014</c:v>
                </c:pt>
                <c:pt idx="127">
                  <c:v>98.752183678562517</c:v>
                </c:pt>
                <c:pt idx="128">
                  <c:v>99.065697529323685</c:v>
                </c:pt>
                <c:pt idx="129">
                  <c:v>99.065697529323685</c:v>
                </c:pt>
                <c:pt idx="130">
                  <c:v>99.065697529323685</c:v>
                </c:pt>
                <c:pt idx="131">
                  <c:v>99.065697529323685</c:v>
                </c:pt>
                <c:pt idx="132">
                  <c:v>98.883204392313459</c:v>
                </c:pt>
                <c:pt idx="133">
                  <c:v>98.326366358871979</c:v>
                </c:pt>
                <c:pt idx="134">
                  <c:v>97.772647866234095</c:v>
                </c:pt>
                <c:pt idx="135">
                  <c:v>98.527576740703765</c:v>
                </c:pt>
                <c:pt idx="136">
                  <c:v>98.527576740703765</c:v>
                </c:pt>
                <c:pt idx="137">
                  <c:v>98.527576740703765</c:v>
                </c:pt>
                <c:pt idx="138">
                  <c:v>97.583915647616664</c:v>
                </c:pt>
                <c:pt idx="139">
                  <c:v>97.509046668330413</c:v>
                </c:pt>
                <c:pt idx="140">
                  <c:v>97.658784626902914</c:v>
                </c:pt>
                <c:pt idx="141">
                  <c:v>97.351509857748937</c:v>
                </c:pt>
                <c:pt idx="142">
                  <c:v>97.437297229847772</c:v>
                </c:pt>
                <c:pt idx="143">
                  <c:v>97.437297229847772</c:v>
                </c:pt>
                <c:pt idx="144">
                  <c:v>97.437297229847772</c:v>
                </c:pt>
                <c:pt idx="145">
                  <c:v>97.705577738956819</c:v>
                </c:pt>
                <c:pt idx="146">
                  <c:v>97.732093835787381</c:v>
                </c:pt>
                <c:pt idx="147">
                  <c:v>97.900549039181428</c:v>
                </c:pt>
                <c:pt idx="148">
                  <c:v>97.813201896680809</c:v>
                </c:pt>
                <c:pt idx="149">
                  <c:v>98.472984776640885</c:v>
                </c:pt>
                <c:pt idx="150">
                  <c:v>98.472984776640885</c:v>
                </c:pt>
                <c:pt idx="151">
                  <c:v>98.472984776640885</c:v>
                </c:pt>
                <c:pt idx="152">
                  <c:v>98.13607436985275</c:v>
                </c:pt>
                <c:pt idx="153">
                  <c:v>97.964499625655108</c:v>
                </c:pt>
                <c:pt idx="154">
                  <c:v>97.644746693286748</c:v>
                </c:pt>
                <c:pt idx="155">
                  <c:v>98.132954829049154</c:v>
                </c:pt>
                <c:pt idx="156">
                  <c:v>98.795857249812826</c:v>
                </c:pt>
                <c:pt idx="157">
                  <c:v>98.795857249812826</c:v>
                </c:pt>
                <c:pt idx="158">
                  <c:v>98.795857249812826</c:v>
                </c:pt>
                <c:pt idx="159">
                  <c:v>98.579049163963063</c:v>
                </c:pt>
                <c:pt idx="160">
                  <c:v>98.922198652358375</c:v>
                </c:pt>
                <c:pt idx="161">
                  <c:v>99.436922884951329</c:v>
                </c:pt>
                <c:pt idx="162">
                  <c:v>99.847142500623903</c:v>
                </c:pt>
                <c:pt idx="163">
                  <c:v>99.635013725979533</c:v>
                </c:pt>
                <c:pt idx="164">
                  <c:v>99.635013725979533</c:v>
                </c:pt>
                <c:pt idx="165">
                  <c:v>99.635013725979533</c:v>
                </c:pt>
                <c:pt idx="166">
                  <c:v>99.628774644372356</c:v>
                </c:pt>
                <c:pt idx="167">
                  <c:v>100.7408909408535</c:v>
                </c:pt>
                <c:pt idx="168">
                  <c:v>100.92182430746193</c:v>
                </c:pt>
                <c:pt idx="169">
                  <c:v>100.75804841527327</c:v>
                </c:pt>
                <c:pt idx="170">
                  <c:v>100.29479660593961</c:v>
                </c:pt>
                <c:pt idx="171">
                  <c:v>100.29479660593961</c:v>
                </c:pt>
                <c:pt idx="172">
                  <c:v>100.29479660593961</c:v>
                </c:pt>
                <c:pt idx="173">
                  <c:v>100.05771150486649</c:v>
                </c:pt>
                <c:pt idx="174">
                  <c:v>100.30103568754679</c:v>
                </c:pt>
                <c:pt idx="175">
                  <c:v>100.70657599201398</c:v>
                </c:pt>
                <c:pt idx="176">
                  <c:v>101.50673820813576</c:v>
                </c:pt>
                <c:pt idx="177">
                  <c:v>102.40984527077615</c:v>
                </c:pt>
                <c:pt idx="178">
                  <c:v>102.40984527077615</c:v>
                </c:pt>
                <c:pt idx="179">
                  <c:v>102.40984527077615</c:v>
                </c:pt>
                <c:pt idx="180">
                  <c:v>102.480034938857</c:v>
                </c:pt>
                <c:pt idx="181">
                  <c:v>102.43948090841029</c:v>
                </c:pt>
                <c:pt idx="182">
                  <c:v>103.6280259545795</c:v>
                </c:pt>
                <c:pt idx="183">
                  <c:v>103.96337659096579</c:v>
                </c:pt>
                <c:pt idx="184">
                  <c:v>103.01971549787872</c:v>
                </c:pt>
                <c:pt idx="185">
                  <c:v>103.01971549787872</c:v>
                </c:pt>
                <c:pt idx="186">
                  <c:v>103.01971549787872</c:v>
                </c:pt>
                <c:pt idx="187">
                  <c:v>102.72179935113553</c:v>
                </c:pt>
                <c:pt idx="188">
                  <c:v>101.29616920389317</c:v>
                </c:pt>
                <c:pt idx="189">
                  <c:v>101.53949338657348</c:v>
                </c:pt>
                <c:pt idx="190">
                  <c:v>101.83740953331667</c:v>
                </c:pt>
                <c:pt idx="191">
                  <c:v>102.19147741452457</c:v>
                </c:pt>
                <c:pt idx="192">
                  <c:v>102.19147741452457</c:v>
                </c:pt>
                <c:pt idx="193">
                  <c:v>102.19147741452457</c:v>
                </c:pt>
                <c:pt idx="194">
                  <c:v>102.96356376341403</c:v>
                </c:pt>
                <c:pt idx="195">
                  <c:v>103.1772523084602</c:v>
                </c:pt>
                <c:pt idx="196">
                  <c:v>103.43461442475667</c:v>
                </c:pt>
                <c:pt idx="197">
                  <c:v>103.42681557274769</c:v>
                </c:pt>
                <c:pt idx="198">
                  <c:v>103.59995008734715</c:v>
                </c:pt>
                <c:pt idx="199">
                  <c:v>103.59995008734715</c:v>
                </c:pt>
                <c:pt idx="200">
                  <c:v>103.59995008734715</c:v>
                </c:pt>
                <c:pt idx="201">
                  <c:v>104.78849513351636</c:v>
                </c:pt>
                <c:pt idx="202">
                  <c:v>105.03025954579486</c:v>
                </c:pt>
                <c:pt idx="203">
                  <c:v>105.20963314200149</c:v>
                </c:pt>
                <c:pt idx="204">
                  <c:v>104.87896181682058</c:v>
                </c:pt>
                <c:pt idx="205">
                  <c:v>105.12228599950089</c:v>
                </c:pt>
                <c:pt idx="206">
                  <c:v>105.12228599950089</c:v>
                </c:pt>
                <c:pt idx="207">
                  <c:v>105.12228599950089</c:v>
                </c:pt>
                <c:pt idx="208">
                  <c:v>105.70252058896929</c:v>
                </c:pt>
                <c:pt idx="209">
                  <c:v>105.78518842026455</c:v>
                </c:pt>
                <c:pt idx="210">
                  <c:v>106.72728974294982</c:v>
                </c:pt>
                <c:pt idx="211">
                  <c:v>104.95227102570502</c:v>
                </c:pt>
                <c:pt idx="212">
                  <c:v>103.86511105565262</c:v>
                </c:pt>
                <c:pt idx="213">
                  <c:v>103.86511105565262</c:v>
                </c:pt>
                <c:pt idx="214">
                  <c:v>103.86511105565262</c:v>
                </c:pt>
                <c:pt idx="215">
                  <c:v>105.46855502869977</c:v>
                </c:pt>
                <c:pt idx="216">
                  <c:v>104.79941352632891</c:v>
                </c:pt>
                <c:pt idx="217">
                  <c:v>104.54517095083604</c:v>
                </c:pt>
                <c:pt idx="218">
                  <c:v>105.22055153481409</c:v>
                </c:pt>
                <c:pt idx="219">
                  <c:v>105.04897679061642</c:v>
                </c:pt>
                <c:pt idx="220">
                  <c:v>105.04897679061642</c:v>
                </c:pt>
                <c:pt idx="221">
                  <c:v>105.04897679061642</c:v>
                </c:pt>
                <c:pt idx="222">
                  <c:v>105.17999750436738</c:v>
                </c:pt>
                <c:pt idx="223">
                  <c:v>104.00860993261793</c:v>
                </c:pt>
                <c:pt idx="224">
                  <c:v>104.90703768405292</c:v>
                </c:pt>
                <c:pt idx="225">
                  <c:v>104.95227102570502</c:v>
                </c:pt>
                <c:pt idx="226">
                  <c:v>104.38763414025456</c:v>
                </c:pt>
                <c:pt idx="227">
                  <c:v>104.38763414025456</c:v>
                </c:pt>
                <c:pt idx="228">
                  <c:v>104.38763414025456</c:v>
                </c:pt>
                <c:pt idx="229">
                  <c:v>104.27065136011979</c:v>
                </c:pt>
                <c:pt idx="230">
                  <c:v>105.0645744946344</c:v>
                </c:pt>
                <c:pt idx="231">
                  <c:v>105.10512852508111</c:v>
                </c:pt>
                <c:pt idx="232">
                  <c:v>105.10044921387573</c:v>
                </c:pt>
                <c:pt idx="233">
                  <c:v>105.18623658597454</c:v>
                </c:pt>
                <c:pt idx="234">
                  <c:v>105.18623658597454</c:v>
                </c:pt>
                <c:pt idx="235">
                  <c:v>105.18623658597454</c:v>
                </c:pt>
                <c:pt idx="236">
                  <c:v>106.92850012478164</c:v>
                </c:pt>
                <c:pt idx="237">
                  <c:v>106.59470925879711</c:v>
                </c:pt>
                <c:pt idx="238">
                  <c:v>106.52295982031445</c:v>
                </c:pt>
                <c:pt idx="239">
                  <c:v>106.67425754928874</c:v>
                </c:pt>
                <c:pt idx="240">
                  <c:v>107.3418392812578</c:v>
                </c:pt>
                <c:pt idx="241">
                  <c:v>107.3418392812578</c:v>
                </c:pt>
                <c:pt idx="242">
                  <c:v>107.3418392812578</c:v>
                </c:pt>
                <c:pt idx="243">
                  <c:v>108.66140504117794</c:v>
                </c:pt>
                <c:pt idx="244">
                  <c:v>108.18411529822811</c:v>
                </c:pt>
                <c:pt idx="245">
                  <c:v>107.82692787621662</c:v>
                </c:pt>
                <c:pt idx="246">
                  <c:v>107.38707262290991</c:v>
                </c:pt>
                <c:pt idx="247">
                  <c:v>107.99850262041426</c:v>
                </c:pt>
                <c:pt idx="248">
                  <c:v>107.99850262041426</c:v>
                </c:pt>
                <c:pt idx="249">
                  <c:v>107.99850262041426</c:v>
                </c:pt>
                <c:pt idx="250">
                  <c:v>109.45376840529076</c:v>
                </c:pt>
                <c:pt idx="251">
                  <c:v>109.50368105814823</c:v>
                </c:pt>
                <c:pt idx="252">
                  <c:v>109.23852008984278</c:v>
                </c:pt>
                <c:pt idx="253">
                  <c:v>109.7797604192663</c:v>
                </c:pt>
                <c:pt idx="254">
                  <c:v>110.75773646119291</c:v>
                </c:pt>
                <c:pt idx="255">
                  <c:v>110.75773646119291</c:v>
                </c:pt>
                <c:pt idx="256">
                  <c:v>110.75773646119291</c:v>
                </c:pt>
                <c:pt idx="257">
                  <c:v>111.10712503119542</c:v>
                </c:pt>
                <c:pt idx="258">
                  <c:v>110.48477664087845</c:v>
                </c:pt>
                <c:pt idx="259">
                  <c:v>110.08391564761666</c:v>
                </c:pt>
                <c:pt idx="260">
                  <c:v>109.42881207886199</c:v>
                </c:pt>
                <c:pt idx="261">
                  <c:v>109.01079361118042</c:v>
                </c:pt>
                <c:pt idx="262">
                  <c:v>109.01079361118042</c:v>
                </c:pt>
                <c:pt idx="263">
                  <c:v>109.01079361118042</c:v>
                </c:pt>
                <c:pt idx="264">
                  <c:v>108.79710506613426</c:v>
                </c:pt>
                <c:pt idx="265">
                  <c:v>109.68149488395309</c:v>
                </c:pt>
                <c:pt idx="266">
                  <c:v>109.44908909408535</c:v>
                </c:pt>
                <c:pt idx="267">
                  <c:v>108.68480159720488</c:v>
                </c:pt>
                <c:pt idx="268">
                  <c:v>108.41184177689043</c:v>
                </c:pt>
                <c:pt idx="269">
                  <c:v>108.41184177689043</c:v>
                </c:pt>
                <c:pt idx="270">
                  <c:v>108.41184177689043</c:v>
                </c:pt>
                <c:pt idx="271">
                  <c:v>108.822061392563</c:v>
                </c:pt>
                <c:pt idx="272">
                  <c:v>109.18548789618168</c:v>
                </c:pt>
                <c:pt idx="273">
                  <c:v>109.77664087846269</c:v>
                </c:pt>
                <c:pt idx="274">
                  <c:v>110.83884452208635</c:v>
                </c:pt>
                <c:pt idx="275">
                  <c:v>111.30677564262541</c:v>
                </c:pt>
                <c:pt idx="276">
                  <c:v>111.30677564262541</c:v>
                </c:pt>
                <c:pt idx="277">
                  <c:v>111.30677564262541</c:v>
                </c:pt>
                <c:pt idx="278">
                  <c:v>111.08060893436486</c:v>
                </c:pt>
                <c:pt idx="279">
                  <c:v>111.35824806588471</c:v>
                </c:pt>
                <c:pt idx="280">
                  <c:v>111.39256301472422</c:v>
                </c:pt>
                <c:pt idx="281">
                  <c:v>110.93866982780133</c:v>
                </c:pt>
                <c:pt idx="282">
                  <c:v>110.50193411529823</c:v>
                </c:pt>
                <c:pt idx="283">
                  <c:v>110.50193411529823</c:v>
                </c:pt>
                <c:pt idx="284">
                  <c:v>110.50193411529823</c:v>
                </c:pt>
                <c:pt idx="285">
                  <c:v>109.99656850511606</c:v>
                </c:pt>
                <c:pt idx="286">
                  <c:v>110.30696281507362</c:v>
                </c:pt>
                <c:pt idx="287">
                  <c:v>110.41302720239581</c:v>
                </c:pt>
                <c:pt idx="288">
                  <c:v>110.87783878213126</c:v>
                </c:pt>
                <c:pt idx="289">
                  <c:v>110.78893186922885</c:v>
                </c:pt>
                <c:pt idx="290">
                  <c:v>110.78893186922885</c:v>
                </c:pt>
                <c:pt idx="291">
                  <c:v>110.78893186922885</c:v>
                </c:pt>
                <c:pt idx="292">
                  <c:v>110.78893186922885</c:v>
                </c:pt>
                <c:pt idx="293">
                  <c:v>111.72947342151235</c:v>
                </c:pt>
                <c:pt idx="294">
                  <c:v>112.1474918891939</c:v>
                </c:pt>
                <c:pt idx="295">
                  <c:v>112.85562765160968</c:v>
                </c:pt>
                <c:pt idx="296">
                  <c:v>112.5499126528575</c:v>
                </c:pt>
                <c:pt idx="297">
                  <c:v>112.5499126528575</c:v>
                </c:pt>
                <c:pt idx="298">
                  <c:v>112.5499126528575</c:v>
                </c:pt>
                <c:pt idx="299">
                  <c:v>112.88526328924382</c:v>
                </c:pt>
                <c:pt idx="300">
                  <c:v>113.47173696031945</c:v>
                </c:pt>
                <c:pt idx="301">
                  <c:v>113.69166458697279</c:v>
                </c:pt>
                <c:pt idx="302">
                  <c:v>112.07730222111306</c:v>
                </c:pt>
                <c:pt idx="303">
                  <c:v>111.42687796356377</c:v>
                </c:pt>
                <c:pt idx="304">
                  <c:v>111.42687796356377</c:v>
                </c:pt>
                <c:pt idx="305">
                  <c:v>111.42687796356377</c:v>
                </c:pt>
                <c:pt idx="306">
                  <c:v>111.49082855003742</c:v>
                </c:pt>
                <c:pt idx="307">
                  <c:v>110.34907661592214</c:v>
                </c:pt>
                <c:pt idx="308">
                  <c:v>110.05739955078613</c:v>
                </c:pt>
                <c:pt idx="309">
                  <c:v>110.25549039181432</c:v>
                </c:pt>
                <c:pt idx="310">
                  <c:v>110.48165710007487</c:v>
                </c:pt>
                <c:pt idx="311">
                  <c:v>110.48165710007487</c:v>
                </c:pt>
                <c:pt idx="312">
                  <c:v>110.48165710007487</c:v>
                </c:pt>
                <c:pt idx="313">
                  <c:v>110.74525829797854</c:v>
                </c:pt>
                <c:pt idx="314">
                  <c:v>111.45339406039429</c:v>
                </c:pt>
                <c:pt idx="315">
                  <c:v>110.89031694534566</c:v>
                </c:pt>
                <c:pt idx="316">
                  <c:v>110.69690541552283</c:v>
                </c:pt>
                <c:pt idx="317">
                  <c:v>109.97317194908909</c:v>
                </c:pt>
                <c:pt idx="318">
                  <c:v>109.97317194908909</c:v>
                </c:pt>
                <c:pt idx="319">
                  <c:v>109.97317194908909</c:v>
                </c:pt>
                <c:pt idx="320">
                  <c:v>110.04960069877714</c:v>
                </c:pt>
                <c:pt idx="321">
                  <c:v>109.33834539555778</c:v>
                </c:pt>
                <c:pt idx="322">
                  <c:v>109.58166957823808</c:v>
                </c:pt>
                <c:pt idx="323">
                  <c:v>110.05116046917894</c:v>
                </c:pt>
                <c:pt idx="324">
                  <c:v>108.99051659595706</c:v>
                </c:pt>
                <c:pt idx="325">
                  <c:v>108.99051659595706</c:v>
                </c:pt>
                <c:pt idx="326">
                  <c:v>108.99051659595706</c:v>
                </c:pt>
                <c:pt idx="327">
                  <c:v>110.03400299475918</c:v>
                </c:pt>
                <c:pt idx="328">
                  <c:v>110.08235587721487</c:v>
                </c:pt>
                <c:pt idx="329">
                  <c:v>109.9747317194909</c:v>
                </c:pt>
                <c:pt idx="330">
                  <c:v>110.42706513601199</c:v>
                </c:pt>
                <c:pt idx="331">
                  <c:v>110.57680309458446</c:v>
                </c:pt>
                <c:pt idx="332">
                  <c:v>110.57680309458446</c:v>
                </c:pt>
                <c:pt idx="333">
                  <c:v>110.57680309458446</c:v>
                </c:pt>
                <c:pt idx="334">
                  <c:v>109.70021212877464</c:v>
                </c:pt>
                <c:pt idx="335">
                  <c:v>110.37403294235088</c:v>
                </c:pt>
                <c:pt idx="336">
                  <c:v>110.30228350386821</c:v>
                </c:pt>
                <c:pt idx="337">
                  <c:v>109.6736960319441</c:v>
                </c:pt>
                <c:pt idx="338">
                  <c:v>109.51771899176441</c:v>
                </c:pt>
                <c:pt idx="339">
                  <c:v>109.51771899176441</c:v>
                </c:pt>
                <c:pt idx="340">
                  <c:v>109.51771899176441</c:v>
                </c:pt>
                <c:pt idx="341">
                  <c:v>108.67388320439231</c:v>
                </c:pt>
                <c:pt idx="342">
                  <c:v>108.96400049912654</c:v>
                </c:pt>
                <c:pt idx="343">
                  <c:v>108.51010731220363</c:v>
                </c:pt>
                <c:pt idx="344">
                  <c:v>108.89225106064386</c:v>
                </c:pt>
                <c:pt idx="345">
                  <c:v>109.29467182430747</c:v>
                </c:pt>
                <c:pt idx="346">
                  <c:v>109.29467182430747</c:v>
                </c:pt>
                <c:pt idx="347">
                  <c:v>109.29467182430747</c:v>
                </c:pt>
                <c:pt idx="348">
                  <c:v>109.0809832792613</c:v>
                </c:pt>
                <c:pt idx="349">
                  <c:v>109.09346144247567</c:v>
                </c:pt>
                <c:pt idx="350">
                  <c:v>108.9733591215373</c:v>
                </c:pt>
                <c:pt idx="351">
                  <c:v>109.26503618667331</c:v>
                </c:pt>
                <c:pt idx="352">
                  <c:v>109.8780259545795</c:v>
                </c:pt>
                <c:pt idx="353">
                  <c:v>109.8780259545795</c:v>
                </c:pt>
                <c:pt idx="354">
                  <c:v>109.8780259545795</c:v>
                </c:pt>
                <c:pt idx="355">
                  <c:v>109.5629523334165</c:v>
                </c:pt>
                <c:pt idx="356">
                  <c:v>109.67057649114051</c:v>
                </c:pt>
                <c:pt idx="357">
                  <c:v>109.98565011230346</c:v>
                </c:pt>
                <c:pt idx="358">
                  <c:v>109.98565011230346</c:v>
                </c:pt>
                <c:pt idx="359">
                  <c:v>110.119790366858</c:v>
                </c:pt>
                <c:pt idx="360">
                  <c:v>110.119790366858</c:v>
                </c:pt>
                <c:pt idx="361">
                  <c:v>110.119790366858</c:v>
                </c:pt>
                <c:pt idx="362">
                  <c:v>110.6126778138258</c:v>
                </c:pt>
                <c:pt idx="363">
                  <c:v>110.74681806838034</c:v>
                </c:pt>
                <c:pt idx="364">
                  <c:v>111.32081357624158</c:v>
                </c:pt>
                <c:pt idx="365">
                  <c:v>111.32081357624158</c:v>
                </c:pt>
                <c:pt idx="366">
                  <c:v>111.13988020963315</c:v>
                </c:pt>
                <c:pt idx="367">
                  <c:v>111.13988020963315</c:v>
                </c:pt>
                <c:pt idx="368">
                  <c:v>111.13988020963315</c:v>
                </c:pt>
                <c:pt idx="369">
                  <c:v>111.19447217369603</c:v>
                </c:pt>
                <c:pt idx="370">
                  <c:v>111.39568255552781</c:v>
                </c:pt>
                <c:pt idx="371">
                  <c:v>111.76846768155728</c:v>
                </c:pt>
                <c:pt idx="372">
                  <c:v>111.93848265535313</c:v>
                </c:pt>
                <c:pt idx="373">
                  <c:v>112.03518842026455</c:v>
                </c:pt>
                <c:pt idx="374">
                  <c:v>112.03518842026455</c:v>
                </c:pt>
                <c:pt idx="375">
                  <c:v>112.03518842026455</c:v>
                </c:pt>
                <c:pt idx="376">
                  <c:v>112.51247816321437</c:v>
                </c:pt>
                <c:pt idx="377">
                  <c:v>113.06463688545045</c:v>
                </c:pt>
                <c:pt idx="378">
                  <c:v>113.06307711504866</c:v>
                </c:pt>
                <c:pt idx="379">
                  <c:v>112.41889193910657</c:v>
                </c:pt>
                <c:pt idx="380">
                  <c:v>112.52495632642874</c:v>
                </c:pt>
                <c:pt idx="381">
                  <c:v>112.52495632642874</c:v>
                </c:pt>
                <c:pt idx="382">
                  <c:v>112.52495632642874</c:v>
                </c:pt>
                <c:pt idx="383">
                  <c:v>112.20364362365859</c:v>
                </c:pt>
                <c:pt idx="384">
                  <c:v>113.09895183428999</c:v>
                </c:pt>
                <c:pt idx="385">
                  <c:v>112.42045170950836</c:v>
                </c:pt>
                <c:pt idx="386">
                  <c:v>112.25043673571248</c:v>
                </c:pt>
                <c:pt idx="387">
                  <c:v>112.29567007736463</c:v>
                </c:pt>
                <c:pt idx="388">
                  <c:v>112.29567007736463</c:v>
                </c:pt>
                <c:pt idx="389">
                  <c:v>112.29567007736463</c:v>
                </c:pt>
                <c:pt idx="390">
                  <c:v>111.96187921138008</c:v>
                </c:pt>
                <c:pt idx="391">
                  <c:v>112.03206887946094</c:v>
                </c:pt>
                <c:pt idx="392">
                  <c:v>111.91040678812078</c:v>
                </c:pt>
                <c:pt idx="393">
                  <c:v>111.98839530821063</c:v>
                </c:pt>
                <c:pt idx="394">
                  <c:v>112.0601447466933</c:v>
                </c:pt>
                <c:pt idx="395">
                  <c:v>112.0601447466933</c:v>
                </c:pt>
                <c:pt idx="396">
                  <c:v>112.0601447466933</c:v>
                </c:pt>
                <c:pt idx="397">
                  <c:v>111.70607686548539</c:v>
                </c:pt>
                <c:pt idx="398">
                  <c:v>111.65928375343151</c:v>
                </c:pt>
                <c:pt idx="399">
                  <c:v>111.72323433990516</c:v>
                </c:pt>
                <c:pt idx="400">
                  <c:v>111.44091589717995</c:v>
                </c:pt>
                <c:pt idx="401">
                  <c:v>111.32081357624158</c:v>
                </c:pt>
                <c:pt idx="402">
                  <c:v>111.32081357624158</c:v>
                </c:pt>
                <c:pt idx="403">
                  <c:v>111.32081357624158</c:v>
                </c:pt>
                <c:pt idx="404">
                  <c:v>111.93068380334414</c:v>
                </c:pt>
                <c:pt idx="405">
                  <c:v>112.04610681307712</c:v>
                </c:pt>
                <c:pt idx="406">
                  <c:v>112.0071125530322</c:v>
                </c:pt>
                <c:pt idx="407">
                  <c:v>110.65167207387073</c:v>
                </c:pt>
                <c:pt idx="408">
                  <c:v>109.8671075617669</c:v>
                </c:pt>
                <c:pt idx="409">
                  <c:v>109.8671075617669</c:v>
                </c:pt>
                <c:pt idx="410">
                  <c:v>109.8671075617669</c:v>
                </c:pt>
                <c:pt idx="411">
                  <c:v>110.12602944846519</c:v>
                </c:pt>
                <c:pt idx="412">
                  <c:v>110.12602944846519</c:v>
                </c:pt>
                <c:pt idx="413">
                  <c:v>110.12602944846519</c:v>
                </c:pt>
                <c:pt idx="414">
                  <c:v>109.89518342899925</c:v>
                </c:pt>
                <c:pt idx="415">
                  <c:v>110.1307087596706</c:v>
                </c:pt>
                <c:pt idx="416">
                  <c:v>110.1307087596706</c:v>
                </c:pt>
                <c:pt idx="417">
                  <c:v>110.1307087596706</c:v>
                </c:pt>
                <c:pt idx="418">
                  <c:v>110.62203643623658</c:v>
                </c:pt>
                <c:pt idx="419">
                  <c:v>111.23346643374094</c:v>
                </c:pt>
                <c:pt idx="420">
                  <c:v>111.26934115298228</c:v>
                </c:pt>
                <c:pt idx="421">
                  <c:v>110.99482156226603</c:v>
                </c:pt>
                <c:pt idx="422">
                  <c:v>109.98253057149986</c:v>
                </c:pt>
                <c:pt idx="423">
                  <c:v>109.98253057149986</c:v>
                </c:pt>
                <c:pt idx="424">
                  <c:v>109.98253057149986</c:v>
                </c:pt>
                <c:pt idx="425">
                  <c:v>109.11217868729723</c:v>
                </c:pt>
                <c:pt idx="426">
                  <c:v>108.31357624157722</c:v>
                </c:pt>
                <c:pt idx="427">
                  <c:v>106.68829548290491</c:v>
                </c:pt>
                <c:pt idx="428">
                  <c:v>106.80527826303967</c:v>
                </c:pt>
                <c:pt idx="429">
                  <c:v>106.71169203893187</c:v>
                </c:pt>
                <c:pt idx="430">
                  <c:v>106.71169203893187</c:v>
                </c:pt>
                <c:pt idx="431">
                  <c:v>106.71169203893187</c:v>
                </c:pt>
                <c:pt idx="432">
                  <c:v>103.81675817319692</c:v>
                </c:pt>
                <c:pt idx="433">
                  <c:v>104.93043424007986</c:v>
                </c:pt>
                <c:pt idx="434">
                  <c:v>104.98190666333915</c:v>
                </c:pt>
                <c:pt idx="435">
                  <c:v>104.80409283753431</c:v>
                </c:pt>
                <c:pt idx="436">
                  <c:v>104.42194908909408</c:v>
                </c:pt>
                <c:pt idx="437">
                  <c:v>104.42194908909408</c:v>
                </c:pt>
                <c:pt idx="438">
                  <c:v>104.42194908909408</c:v>
                </c:pt>
                <c:pt idx="439">
                  <c:v>104.83060893436486</c:v>
                </c:pt>
                <c:pt idx="440">
                  <c:v>106.03007237334663</c:v>
                </c:pt>
                <c:pt idx="441">
                  <c:v>106.70545295732468</c:v>
                </c:pt>
                <c:pt idx="442">
                  <c:v>105.92400798602446</c:v>
                </c:pt>
                <c:pt idx="443">
                  <c:v>106.26247816321437</c:v>
                </c:pt>
                <c:pt idx="444">
                  <c:v>106.26247816321437</c:v>
                </c:pt>
                <c:pt idx="445">
                  <c:v>106.26247816321437</c:v>
                </c:pt>
                <c:pt idx="446">
                  <c:v>103.65610182181182</c:v>
                </c:pt>
                <c:pt idx="447">
                  <c:v>103.60618916895432</c:v>
                </c:pt>
                <c:pt idx="448">
                  <c:v>103.74500873471423</c:v>
                </c:pt>
                <c:pt idx="449">
                  <c:v>102.72491889193911</c:v>
                </c:pt>
                <c:pt idx="450">
                  <c:v>102.91521088095831</c:v>
                </c:pt>
                <c:pt idx="451">
                  <c:v>102.91521088095831</c:v>
                </c:pt>
                <c:pt idx="452">
                  <c:v>102.91521088095831</c:v>
                </c:pt>
                <c:pt idx="453">
                  <c:v>102.89337409533317</c:v>
                </c:pt>
                <c:pt idx="454">
                  <c:v>102.42232343399051</c:v>
                </c:pt>
                <c:pt idx="455">
                  <c:v>103.71849263788371</c:v>
                </c:pt>
                <c:pt idx="456">
                  <c:v>103.38782131270277</c:v>
                </c:pt>
                <c:pt idx="457">
                  <c:v>103.38782131270277</c:v>
                </c:pt>
                <c:pt idx="458">
                  <c:v>103.38782131270277</c:v>
                </c:pt>
                <c:pt idx="459">
                  <c:v>103.38782131270277</c:v>
                </c:pt>
                <c:pt idx="460">
                  <c:v>103.78556276516096</c:v>
                </c:pt>
                <c:pt idx="461">
                  <c:v>103.50792363364111</c:v>
                </c:pt>
                <c:pt idx="462">
                  <c:v>105.90529074120289</c:v>
                </c:pt>
                <c:pt idx="463">
                  <c:v>105.1628400299476</c:v>
                </c:pt>
                <c:pt idx="464">
                  <c:v>105.66508609932619</c:v>
                </c:pt>
                <c:pt idx="465">
                  <c:v>105.66508609932619</c:v>
                </c:pt>
                <c:pt idx="466">
                  <c:v>105.66508609932619</c:v>
                </c:pt>
                <c:pt idx="467">
                  <c:v>105.8974918891939</c:v>
                </c:pt>
                <c:pt idx="468">
                  <c:v>106.69765410531569</c:v>
                </c:pt>
                <c:pt idx="469">
                  <c:v>107.26229099076615</c:v>
                </c:pt>
                <c:pt idx="470">
                  <c:v>107.89399800349389</c:v>
                </c:pt>
                <c:pt idx="471">
                  <c:v>107.64443473920639</c:v>
                </c:pt>
                <c:pt idx="472">
                  <c:v>107.64443473920639</c:v>
                </c:pt>
                <c:pt idx="473">
                  <c:v>107.64443473920639</c:v>
                </c:pt>
                <c:pt idx="474">
                  <c:v>107.71306463688546</c:v>
                </c:pt>
                <c:pt idx="475">
                  <c:v>108.6801222859995</c:v>
                </c:pt>
                <c:pt idx="476">
                  <c:v>108.51790616421265</c:v>
                </c:pt>
                <c:pt idx="477">
                  <c:v>108.32449463438982</c:v>
                </c:pt>
                <c:pt idx="478">
                  <c:v>108.21063139505864</c:v>
                </c:pt>
                <c:pt idx="479">
                  <c:v>108.21063139505864</c:v>
                </c:pt>
                <c:pt idx="480">
                  <c:v>108.21063139505864</c:v>
                </c:pt>
                <c:pt idx="481">
                  <c:v>107.41514849014224</c:v>
                </c:pt>
                <c:pt idx="482">
                  <c:v>106.73976790616422</c:v>
                </c:pt>
                <c:pt idx="483">
                  <c:v>106.23596206638383</c:v>
                </c:pt>
                <c:pt idx="484">
                  <c:v>105.66196655852258</c:v>
                </c:pt>
                <c:pt idx="485">
                  <c:v>105.66196655852258</c:v>
                </c:pt>
                <c:pt idx="486">
                  <c:v>105.66196655852258</c:v>
                </c:pt>
                <c:pt idx="487">
                  <c:v>105.66196655852258</c:v>
                </c:pt>
                <c:pt idx="488">
                  <c:v>105.95676316446219</c:v>
                </c:pt>
              </c:numCache>
            </c:numRef>
          </c:val>
          <c:smooth val="0"/>
          <c:extLst>
            <c:ext xmlns:c16="http://schemas.microsoft.com/office/drawing/2014/chart" uri="{C3380CC4-5D6E-409C-BE32-E72D297353CC}">
              <c16:uniqueId val="{00000002-1D74-449A-9A92-85BED8C4386F}"/>
            </c:ext>
          </c:extLst>
        </c:ser>
        <c:dLbls>
          <c:showLegendKey val="0"/>
          <c:showVal val="0"/>
          <c:showCatName val="0"/>
          <c:showSerName val="0"/>
          <c:showPercent val="0"/>
          <c:showBubbleSize val="0"/>
        </c:dLbls>
        <c:marker val="1"/>
        <c:smooth val="0"/>
        <c:axId val="984368624"/>
        <c:axId val="984373424"/>
      </c:lineChart>
      <c:dateAx>
        <c:axId val="984368624"/>
        <c:scaling>
          <c:orientation val="minMax"/>
        </c:scaling>
        <c:delete val="0"/>
        <c:axPos val="b"/>
        <c:numFmt formatCode="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en-US"/>
          </a:p>
        </c:txPr>
        <c:crossAx val="984373424"/>
        <c:crosses val="autoZero"/>
        <c:auto val="1"/>
        <c:lblOffset val="100"/>
        <c:baseTimeUnit val="days"/>
        <c:majorUnit val="3"/>
        <c:majorTimeUnit val="months"/>
      </c:dateAx>
      <c:valAx>
        <c:axId val="984373424"/>
        <c:scaling>
          <c:orientation val="minMax"/>
          <c:max val="120"/>
          <c:min val="80"/>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984368624"/>
        <c:crosses val="autoZero"/>
        <c:crossBetween val="between"/>
        <c:majorUnit val="10"/>
      </c:valAx>
      <c:valAx>
        <c:axId val="332405696"/>
        <c:scaling>
          <c:orientation val="minMax"/>
          <c:max val="10000000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332405216"/>
        <c:crosses val="max"/>
        <c:crossBetween val="between"/>
      </c:valAx>
      <c:dateAx>
        <c:axId val="332405216"/>
        <c:scaling>
          <c:orientation val="minMax"/>
        </c:scaling>
        <c:delete val="1"/>
        <c:axPos val="b"/>
        <c:numFmt formatCode="m/d/yyyy" sourceLinked="1"/>
        <c:majorTickMark val="out"/>
        <c:minorTickMark val="none"/>
        <c:tickLblPos val="nextTo"/>
        <c:crossAx val="332405696"/>
        <c:crosses val="autoZero"/>
        <c:auto val="1"/>
        <c:lblOffset val="100"/>
        <c:baseTimeUnit val="days"/>
      </c:dateAx>
      <c:spPr>
        <a:noFill/>
        <a:ln>
          <a:noFill/>
        </a:ln>
        <a:effectLst/>
      </c:spPr>
    </c:plotArea>
    <c:legend>
      <c:legendPos val="b"/>
      <c:layout>
        <c:manualLayout>
          <c:xMode val="edge"/>
          <c:yMode val="edge"/>
          <c:x val="0.1298205882352941"/>
          <c:y val="7.4570555555555543E-2"/>
          <c:w val="0.57081633986928104"/>
          <c:h val="0.1458686111111111"/>
        </c:manualLayout>
      </c:layout>
      <c:overlay val="0"/>
      <c:spPr>
        <a:solidFill>
          <a:schemeClr val="bg1"/>
        </a:solid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7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4917576338176508E-2"/>
          <c:y val="5.5767060367454067E-2"/>
          <c:w val="0.89371518528166904"/>
          <c:h val="0.79355624732954888"/>
        </c:manualLayout>
      </c:layout>
      <c:barChart>
        <c:barDir val="col"/>
        <c:grouping val="clustered"/>
        <c:varyColors val="0"/>
        <c:ser>
          <c:idx val="1"/>
          <c:order val="1"/>
          <c:tx>
            <c:strRef>
              <c:f>Sheet1!$C$1</c:f>
              <c:strCache>
                <c:ptCount val="1"/>
                <c:pt idx="0">
                  <c:v>Turnover (S$m)</c:v>
                </c:pt>
              </c:strCache>
            </c:strRef>
          </c:tx>
          <c:spPr>
            <a:solidFill>
              <a:schemeClr val="bg1">
                <a:lumMod val="85000"/>
              </a:schemeClr>
            </a:solidFill>
            <a:ln>
              <a:noFill/>
            </a:ln>
            <a:effectLst/>
          </c:spPr>
          <c:invertIfNegative val="0"/>
          <c:cat>
            <c:numRef>
              <c:f>Sheet1!$A$2:$A$299</c:f>
              <c:numCache>
                <c:formatCode>m/d/yyyy</c:formatCode>
                <c:ptCount val="298"/>
                <c:pt idx="0">
                  <c:v>45849</c:v>
                </c:pt>
                <c:pt idx="1">
                  <c:v>45850</c:v>
                </c:pt>
                <c:pt idx="2">
                  <c:v>45851</c:v>
                </c:pt>
                <c:pt idx="3">
                  <c:v>45852</c:v>
                </c:pt>
                <c:pt idx="4">
                  <c:v>45853</c:v>
                </c:pt>
                <c:pt idx="5">
                  <c:v>45854</c:v>
                </c:pt>
                <c:pt idx="6">
                  <c:v>45855</c:v>
                </c:pt>
                <c:pt idx="7">
                  <c:v>45856</c:v>
                </c:pt>
                <c:pt idx="8">
                  <c:v>45857</c:v>
                </c:pt>
                <c:pt idx="9">
                  <c:v>45858</c:v>
                </c:pt>
                <c:pt idx="10">
                  <c:v>45859</c:v>
                </c:pt>
                <c:pt idx="11">
                  <c:v>45860</c:v>
                </c:pt>
                <c:pt idx="12">
                  <c:v>45861</c:v>
                </c:pt>
                <c:pt idx="13">
                  <c:v>45862</c:v>
                </c:pt>
                <c:pt idx="14">
                  <c:v>45863</c:v>
                </c:pt>
                <c:pt idx="15">
                  <c:v>45864</c:v>
                </c:pt>
                <c:pt idx="16">
                  <c:v>45865</c:v>
                </c:pt>
                <c:pt idx="17">
                  <c:v>45866</c:v>
                </c:pt>
                <c:pt idx="18">
                  <c:v>45867</c:v>
                </c:pt>
                <c:pt idx="19">
                  <c:v>45868</c:v>
                </c:pt>
                <c:pt idx="20">
                  <c:v>45869</c:v>
                </c:pt>
                <c:pt idx="21">
                  <c:v>45870</c:v>
                </c:pt>
                <c:pt idx="22">
                  <c:v>45871</c:v>
                </c:pt>
                <c:pt idx="23">
                  <c:v>45872</c:v>
                </c:pt>
                <c:pt idx="24">
                  <c:v>45873</c:v>
                </c:pt>
                <c:pt idx="25">
                  <c:v>45874</c:v>
                </c:pt>
                <c:pt idx="26">
                  <c:v>45875</c:v>
                </c:pt>
                <c:pt idx="27">
                  <c:v>45876</c:v>
                </c:pt>
                <c:pt idx="28">
                  <c:v>45877</c:v>
                </c:pt>
                <c:pt idx="29">
                  <c:v>45878</c:v>
                </c:pt>
                <c:pt idx="30">
                  <c:v>45879</c:v>
                </c:pt>
                <c:pt idx="31">
                  <c:v>45880</c:v>
                </c:pt>
                <c:pt idx="32">
                  <c:v>45881</c:v>
                </c:pt>
                <c:pt idx="33">
                  <c:v>45882</c:v>
                </c:pt>
                <c:pt idx="34">
                  <c:v>45883</c:v>
                </c:pt>
                <c:pt idx="35">
                  <c:v>45884</c:v>
                </c:pt>
                <c:pt idx="36">
                  <c:v>45885</c:v>
                </c:pt>
                <c:pt idx="37">
                  <c:v>45886</c:v>
                </c:pt>
                <c:pt idx="38">
                  <c:v>45887</c:v>
                </c:pt>
                <c:pt idx="39">
                  <c:v>45888</c:v>
                </c:pt>
                <c:pt idx="40">
                  <c:v>45889</c:v>
                </c:pt>
                <c:pt idx="41">
                  <c:v>45890</c:v>
                </c:pt>
                <c:pt idx="42">
                  <c:v>45891</c:v>
                </c:pt>
                <c:pt idx="43">
                  <c:v>45892</c:v>
                </c:pt>
                <c:pt idx="44">
                  <c:v>45893</c:v>
                </c:pt>
                <c:pt idx="45">
                  <c:v>45894</c:v>
                </c:pt>
                <c:pt idx="46">
                  <c:v>45895</c:v>
                </c:pt>
                <c:pt idx="47">
                  <c:v>45896</c:v>
                </c:pt>
                <c:pt idx="48">
                  <c:v>45897</c:v>
                </c:pt>
                <c:pt idx="49">
                  <c:v>45898</c:v>
                </c:pt>
                <c:pt idx="50">
                  <c:v>45899</c:v>
                </c:pt>
                <c:pt idx="51">
                  <c:v>45900</c:v>
                </c:pt>
                <c:pt idx="52">
                  <c:v>45901</c:v>
                </c:pt>
                <c:pt idx="53">
                  <c:v>45902</c:v>
                </c:pt>
                <c:pt idx="54">
                  <c:v>45903</c:v>
                </c:pt>
                <c:pt idx="55">
                  <c:v>45904</c:v>
                </c:pt>
                <c:pt idx="56">
                  <c:v>45905</c:v>
                </c:pt>
                <c:pt idx="57">
                  <c:v>45906</c:v>
                </c:pt>
                <c:pt idx="58">
                  <c:v>45907</c:v>
                </c:pt>
                <c:pt idx="59">
                  <c:v>45908</c:v>
                </c:pt>
                <c:pt idx="60">
                  <c:v>45909</c:v>
                </c:pt>
                <c:pt idx="61">
                  <c:v>45910</c:v>
                </c:pt>
                <c:pt idx="62">
                  <c:v>45911</c:v>
                </c:pt>
                <c:pt idx="63">
                  <c:v>45912</c:v>
                </c:pt>
                <c:pt idx="64">
                  <c:v>45913</c:v>
                </c:pt>
                <c:pt idx="65">
                  <c:v>45914</c:v>
                </c:pt>
                <c:pt idx="66">
                  <c:v>45915</c:v>
                </c:pt>
                <c:pt idx="67">
                  <c:v>45916</c:v>
                </c:pt>
                <c:pt idx="68">
                  <c:v>45917</c:v>
                </c:pt>
                <c:pt idx="69">
                  <c:v>45918</c:v>
                </c:pt>
                <c:pt idx="70">
                  <c:v>45919</c:v>
                </c:pt>
                <c:pt idx="71">
                  <c:v>45920</c:v>
                </c:pt>
                <c:pt idx="72">
                  <c:v>45921</c:v>
                </c:pt>
                <c:pt idx="73">
                  <c:v>45922</c:v>
                </c:pt>
                <c:pt idx="74">
                  <c:v>45923</c:v>
                </c:pt>
                <c:pt idx="75">
                  <c:v>45924</c:v>
                </c:pt>
                <c:pt idx="76">
                  <c:v>45925</c:v>
                </c:pt>
                <c:pt idx="77">
                  <c:v>45926</c:v>
                </c:pt>
                <c:pt idx="78">
                  <c:v>45927</c:v>
                </c:pt>
                <c:pt idx="79">
                  <c:v>45928</c:v>
                </c:pt>
                <c:pt idx="80">
                  <c:v>45929</c:v>
                </c:pt>
                <c:pt idx="81">
                  <c:v>45930</c:v>
                </c:pt>
                <c:pt idx="82">
                  <c:v>45931</c:v>
                </c:pt>
                <c:pt idx="83">
                  <c:v>45932</c:v>
                </c:pt>
                <c:pt idx="84">
                  <c:v>45933</c:v>
                </c:pt>
                <c:pt idx="85">
                  <c:v>45934</c:v>
                </c:pt>
                <c:pt idx="86">
                  <c:v>45935</c:v>
                </c:pt>
                <c:pt idx="87">
                  <c:v>45936</c:v>
                </c:pt>
                <c:pt idx="88">
                  <c:v>45937</c:v>
                </c:pt>
                <c:pt idx="89">
                  <c:v>45938</c:v>
                </c:pt>
                <c:pt idx="90">
                  <c:v>45939</c:v>
                </c:pt>
                <c:pt idx="91">
                  <c:v>45940</c:v>
                </c:pt>
                <c:pt idx="92">
                  <c:v>45941</c:v>
                </c:pt>
                <c:pt idx="93">
                  <c:v>45942</c:v>
                </c:pt>
                <c:pt idx="94">
                  <c:v>45943</c:v>
                </c:pt>
                <c:pt idx="95">
                  <c:v>45944</c:v>
                </c:pt>
                <c:pt idx="96">
                  <c:v>45945</c:v>
                </c:pt>
                <c:pt idx="97">
                  <c:v>45946</c:v>
                </c:pt>
                <c:pt idx="98">
                  <c:v>45947</c:v>
                </c:pt>
                <c:pt idx="99">
                  <c:v>45948</c:v>
                </c:pt>
                <c:pt idx="100">
                  <c:v>45949</c:v>
                </c:pt>
                <c:pt idx="101">
                  <c:v>45950</c:v>
                </c:pt>
                <c:pt idx="102">
                  <c:v>45951</c:v>
                </c:pt>
                <c:pt idx="103">
                  <c:v>45952</c:v>
                </c:pt>
                <c:pt idx="104">
                  <c:v>45953</c:v>
                </c:pt>
                <c:pt idx="105">
                  <c:v>45954</c:v>
                </c:pt>
                <c:pt idx="106">
                  <c:v>45955</c:v>
                </c:pt>
                <c:pt idx="107">
                  <c:v>45956</c:v>
                </c:pt>
                <c:pt idx="108">
                  <c:v>45957</c:v>
                </c:pt>
                <c:pt idx="109">
                  <c:v>45958</c:v>
                </c:pt>
                <c:pt idx="110">
                  <c:v>45959</c:v>
                </c:pt>
                <c:pt idx="111">
                  <c:v>45960</c:v>
                </c:pt>
                <c:pt idx="112">
                  <c:v>45961</c:v>
                </c:pt>
                <c:pt idx="113">
                  <c:v>45962</c:v>
                </c:pt>
                <c:pt idx="114">
                  <c:v>45963</c:v>
                </c:pt>
                <c:pt idx="115">
                  <c:v>45964</c:v>
                </c:pt>
                <c:pt idx="116">
                  <c:v>45965</c:v>
                </c:pt>
                <c:pt idx="117">
                  <c:v>45966</c:v>
                </c:pt>
                <c:pt idx="118">
                  <c:v>45967</c:v>
                </c:pt>
                <c:pt idx="119">
                  <c:v>45968</c:v>
                </c:pt>
                <c:pt idx="120">
                  <c:v>45969</c:v>
                </c:pt>
                <c:pt idx="121">
                  <c:v>45970</c:v>
                </c:pt>
                <c:pt idx="122">
                  <c:v>45971</c:v>
                </c:pt>
                <c:pt idx="123">
                  <c:v>45972</c:v>
                </c:pt>
                <c:pt idx="124">
                  <c:v>45973</c:v>
                </c:pt>
                <c:pt idx="125">
                  <c:v>45974</c:v>
                </c:pt>
                <c:pt idx="126">
                  <c:v>45975</c:v>
                </c:pt>
                <c:pt idx="127">
                  <c:v>45976</c:v>
                </c:pt>
                <c:pt idx="128">
                  <c:v>45977</c:v>
                </c:pt>
                <c:pt idx="129">
                  <c:v>45978</c:v>
                </c:pt>
                <c:pt idx="130">
                  <c:v>45979</c:v>
                </c:pt>
                <c:pt idx="131">
                  <c:v>45980</c:v>
                </c:pt>
                <c:pt idx="132">
                  <c:v>45981</c:v>
                </c:pt>
                <c:pt idx="133">
                  <c:v>45982</c:v>
                </c:pt>
                <c:pt idx="134">
                  <c:v>45983</c:v>
                </c:pt>
                <c:pt idx="135">
                  <c:v>45984</c:v>
                </c:pt>
                <c:pt idx="136">
                  <c:v>45985</c:v>
                </c:pt>
                <c:pt idx="137">
                  <c:v>45986</c:v>
                </c:pt>
                <c:pt idx="138">
                  <c:v>45987</c:v>
                </c:pt>
                <c:pt idx="139">
                  <c:v>45988</c:v>
                </c:pt>
                <c:pt idx="140">
                  <c:v>45989</c:v>
                </c:pt>
                <c:pt idx="141">
                  <c:v>45990</c:v>
                </c:pt>
                <c:pt idx="142">
                  <c:v>45991</c:v>
                </c:pt>
                <c:pt idx="143">
                  <c:v>45992</c:v>
                </c:pt>
                <c:pt idx="144">
                  <c:v>45993</c:v>
                </c:pt>
                <c:pt idx="145">
                  <c:v>45994</c:v>
                </c:pt>
                <c:pt idx="146">
                  <c:v>45995</c:v>
                </c:pt>
                <c:pt idx="147">
                  <c:v>45996</c:v>
                </c:pt>
                <c:pt idx="148">
                  <c:v>45997</c:v>
                </c:pt>
                <c:pt idx="149">
                  <c:v>45998</c:v>
                </c:pt>
                <c:pt idx="150">
                  <c:v>45999</c:v>
                </c:pt>
                <c:pt idx="151">
                  <c:v>46000</c:v>
                </c:pt>
                <c:pt idx="152">
                  <c:v>46001</c:v>
                </c:pt>
                <c:pt idx="153">
                  <c:v>46002</c:v>
                </c:pt>
                <c:pt idx="154">
                  <c:v>46003</c:v>
                </c:pt>
                <c:pt idx="155">
                  <c:v>46004</c:v>
                </c:pt>
                <c:pt idx="156">
                  <c:v>46005</c:v>
                </c:pt>
                <c:pt idx="157">
                  <c:v>46006</c:v>
                </c:pt>
                <c:pt idx="158">
                  <c:v>46007</c:v>
                </c:pt>
                <c:pt idx="159">
                  <c:v>46008</c:v>
                </c:pt>
                <c:pt idx="160">
                  <c:v>46009</c:v>
                </c:pt>
                <c:pt idx="161">
                  <c:v>46010</c:v>
                </c:pt>
                <c:pt idx="162">
                  <c:v>46011</c:v>
                </c:pt>
                <c:pt idx="163">
                  <c:v>46012</c:v>
                </c:pt>
                <c:pt idx="164">
                  <c:v>46013</c:v>
                </c:pt>
                <c:pt idx="165">
                  <c:v>46014</c:v>
                </c:pt>
                <c:pt idx="166">
                  <c:v>46015</c:v>
                </c:pt>
                <c:pt idx="167">
                  <c:v>46016</c:v>
                </c:pt>
                <c:pt idx="168">
                  <c:v>46017</c:v>
                </c:pt>
                <c:pt idx="169">
                  <c:v>46018</c:v>
                </c:pt>
                <c:pt idx="170">
                  <c:v>46019</c:v>
                </c:pt>
                <c:pt idx="171">
                  <c:v>46020</c:v>
                </c:pt>
                <c:pt idx="172">
                  <c:v>46021</c:v>
                </c:pt>
                <c:pt idx="173">
                  <c:v>46022</c:v>
                </c:pt>
                <c:pt idx="174">
                  <c:v>46023</c:v>
                </c:pt>
                <c:pt idx="175">
                  <c:v>46024</c:v>
                </c:pt>
                <c:pt idx="176">
                  <c:v>46025</c:v>
                </c:pt>
                <c:pt idx="177">
                  <c:v>46026</c:v>
                </c:pt>
                <c:pt idx="178">
                  <c:v>46027</c:v>
                </c:pt>
                <c:pt idx="179">
                  <c:v>46028</c:v>
                </c:pt>
                <c:pt idx="180">
                  <c:v>46029</c:v>
                </c:pt>
                <c:pt idx="181">
                  <c:v>46030</c:v>
                </c:pt>
                <c:pt idx="182">
                  <c:v>46031</c:v>
                </c:pt>
                <c:pt idx="183">
                  <c:v>46032</c:v>
                </c:pt>
                <c:pt idx="184">
                  <c:v>46033</c:v>
                </c:pt>
                <c:pt idx="185">
                  <c:v>46034</c:v>
                </c:pt>
                <c:pt idx="186">
                  <c:v>46035</c:v>
                </c:pt>
                <c:pt idx="187">
                  <c:v>46036</c:v>
                </c:pt>
                <c:pt idx="188">
                  <c:v>46037</c:v>
                </c:pt>
                <c:pt idx="189">
                  <c:v>46038</c:v>
                </c:pt>
                <c:pt idx="190">
                  <c:v>46039</c:v>
                </c:pt>
                <c:pt idx="191">
                  <c:v>46040</c:v>
                </c:pt>
                <c:pt idx="192">
                  <c:v>46041</c:v>
                </c:pt>
                <c:pt idx="193">
                  <c:v>46042</c:v>
                </c:pt>
                <c:pt idx="194">
                  <c:v>46043</c:v>
                </c:pt>
                <c:pt idx="195">
                  <c:v>46044</c:v>
                </c:pt>
                <c:pt idx="196">
                  <c:v>46045</c:v>
                </c:pt>
                <c:pt idx="197">
                  <c:v>46046</c:v>
                </c:pt>
                <c:pt idx="198">
                  <c:v>46047</c:v>
                </c:pt>
                <c:pt idx="199">
                  <c:v>46048</c:v>
                </c:pt>
                <c:pt idx="200">
                  <c:v>46049</c:v>
                </c:pt>
                <c:pt idx="201">
                  <c:v>46050</c:v>
                </c:pt>
                <c:pt idx="202">
                  <c:v>46051</c:v>
                </c:pt>
                <c:pt idx="203">
                  <c:v>46052</c:v>
                </c:pt>
                <c:pt idx="204">
                  <c:v>46053</c:v>
                </c:pt>
                <c:pt idx="205">
                  <c:v>46054</c:v>
                </c:pt>
                <c:pt idx="206">
                  <c:v>46055</c:v>
                </c:pt>
                <c:pt idx="207">
                  <c:v>46056</c:v>
                </c:pt>
                <c:pt idx="208">
                  <c:v>46057</c:v>
                </c:pt>
                <c:pt idx="209">
                  <c:v>46058</c:v>
                </c:pt>
                <c:pt idx="210">
                  <c:v>46059</c:v>
                </c:pt>
                <c:pt idx="211">
                  <c:v>46060</c:v>
                </c:pt>
                <c:pt idx="212">
                  <c:v>46061</c:v>
                </c:pt>
                <c:pt idx="213">
                  <c:v>46062</c:v>
                </c:pt>
                <c:pt idx="214">
                  <c:v>46063</c:v>
                </c:pt>
                <c:pt idx="215">
                  <c:v>46064</c:v>
                </c:pt>
                <c:pt idx="216">
                  <c:v>46065</c:v>
                </c:pt>
                <c:pt idx="217">
                  <c:v>46066</c:v>
                </c:pt>
                <c:pt idx="218">
                  <c:v>46067</c:v>
                </c:pt>
                <c:pt idx="219">
                  <c:v>46068</c:v>
                </c:pt>
                <c:pt idx="220">
                  <c:v>46069</c:v>
                </c:pt>
                <c:pt idx="221">
                  <c:v>46070</c:v>
                </c:pt>
                <c:pt idx="222">
                  <c:v>46071</c:v>
                </c:pt>
                <c:pt idx="223">
                  <c:v>46072</c:v>
                </c:pt>
                <c:pt idx="224">
                  <c:v>46073</c:v>
                </c:pt>
                <c:pt idx="225">
                  <c:v>46074</c:v>
                </c:pt>
                <c:pt idx="226">
                  <c:v>46075</c:v>
                </c:pt>
                <c:pt idx="227">
                  <c:v>46076</c:v>
                </c:pt>
                <c:pt idx="228">
                  <c:v>46077</c:v>
                </c:pt>
                <c:pt idx="229">
                  <c:v>46078</c:v>
                </c:pt>
                <c:pt idx="230">
                  <c:v>46079</c:v>
                </c:pt>
                <c:pt idx="231">
                  <c:v>46080</c:v>
                </c:pt>
                <c:pt idx="232">
                  <c:v>46081</c:v>
                </c:pt>
                <c:pt idx="233">
                  <c:v>46082</c:v>
                </c:pt>
                <c:pt idx="234">
                  <c:v>46083</c:v>
                </c:pt>
                <c:pt idx="235">
                  <c:v>46084</c:v>
                </c:pt>
                <c:pt idx="236">
                  <c:v>46085</c:v>
                </c:pt>
                <c:pt idx="237">
                  <c:v>46086</c:v>
                </c:pt>
                <c:pt idx="238">
                  <c:v>46087</c:v>
                </c:pt>
                <c:pt idx="239">
                  <c:v>46088</c:v>
                </c:pt>
                <c:pt idx="240">
                  <c:v>46089</c:v>
                </c:pt>
                <c:pt idx="241">
                  <c:v>46090</c:v>
                </c:pt>
                <c:pt idx="242">
                  <c:v>46091</c:v>
                </c:pt>
                <c:pt idx="243">
                  <c:v>46092</c:v>
                </c:pt>
                <c:pt idx="244">
                  <c:v>46093</c:v>
                </c:pt>
                <c:pt idx="245">
                  <c:v>46094</c:v>
                </c:pt>
                <c:pt idx="246">
                  <c:v>46095</c:v>
                </c:pt>
                <c:pt idx="247">
                  <c:v>46096</c:v>
                </c:pt>
                <c:pt idx="248">
                  <c:v>46097</c:v>
                </c:pt>
                <c:pt idx="249">
                  <c:v>46098</c:v>
                </c:pt>
                <c:pt idx="250">
                  <c:v>46099</c:v>
                </c:pt>
                <c:pt idx="251">
                  <c:v>46100</c:v>
                </c:pt>
                <c:pt idx="252">
                  <c:v>46101</c:v>
                </c:pt>
                <c:pt idx="253">
                  <c:v>46102</c:v>
                </c:pt>
                <c:pt idx="254">
                  <c:v>46103</c:v>
                </c:pt>
                <c:pt idx="255">
                  <c:v>46104</c:v>
                </c:pt>
                <c:pt idx="256">
                  <c:v>46105</c:v>
                </c:pt>
                <c:pt idx="257">
                  <c:v>46106</c:v>
                </c:pt>
                <c:pt idx="258">
                  <c:v>46107</c:v>
                </c:pt>
                <c:pt idx="259">
                  <c:v>46108</c:v>
                </c:pt>
                <c:pt idx="260">
                  <c:v>46109</c:v>
                </c:pt>
                <c:pt idx="261">
                  <c:v>46110</c:v>
                </c:pt>
                <c:pt idx="262">
                  <c:v>46111</c:v>
                </c:pt>
                <c:pt idx="263">
                  <c:v>46112</c:v>
                </c:pt>
                <c:pt idx="264">
                  <c:v>46113</c:v>
                </c:pt>
                <c:pt idx="265">
                  <c:v>46114</c:v>
                </c:pt>
                <c:pt idx="266">
                  <c:v>46115</c:v>
                </c:pt>
                <c:pt idx="267">
                  <c:v>46116</c:v>
                </c:pt>
                <c:pt idx="268">
                  <c:v>46117</c:v>
                </c:pt>
                <c:pt idx="269">
                  <c:v>46118</c:v>
                </c:pt>
                <c:pt idx="270">
                  <c:v>46119</c:v>
                </c:pt>
                <c:pt idx="271">
                  <c:v>46120</c:v>
                </c:pt>
                <c:pt idx="272">
                  <c:v>46121</c:v>
                </c:pt>
                <c:pt idx="273">
                  <c:v>46122</c:v>
                </c:pt>
                <c:pt idx="274">
                  <c:v>46123</c:v>
                </c:pt>
                <c:pt idx="275">
                  <c:v>46124</c:v>
                </c:pt>
                <c:pt idx="276">
                  <c:v>46125</c:v>
                </c:pt>
                <c:pt idx="277">
                  <c:v>46126</c:v>
                </c:pt>
                <c:pt idx="278">
                  <c:v>46127</c:v>
                </c:pt>
                <c:pt idx="279">
                  <c:v>46128</c:v>
                </c:pt>
                <c:pt idx="280">
                  <c:v>46129</c:v>
                </c:pt>
                <c:pt idx="281">
                  <c:v>46130</c:v>
                </c:pt>
                <c:pt idx="282">
                  <c:v>46131</c:v>
                </c:pt>
                <c:pt idx="283">
                  <c:v>46132</c:v>
                </c:pt>
                <c:pt idx="284">
                  <c:v>46133</c:v>
                </c:pt>
                <c:pt idx="285">
                  <c:v>46134</c:v>
                </c:pt>
                <c:pt idx="286">
                  <c:v>46135</c:v>
                </c:pt>
                <c:pt idx="287">
                  <c:v>46136</c:v>
                </c:pt>
                <c:pt idx="288">
                  <c:v>46137</c:v>
                </c:pt>
                <c:pt idx="289">
                  <c:v>46138</c:v>
                </c:pt>
                <c:pt idx="290">
                  <c:v>46139</c:v>
                </c:pt>
                <c:pt idx="291">
                  <c:v>46140</c:v>
                </c:pt>
                <c:pt idx="292">
                  <c:v>46141</c:v>
                </c:pt>
                <c:pt idx="293">
                  <c:v>46142</c:v>
                </c:pt>
                <c:pt idx="294">
                  <c:v>46143</c:v>
                </c:pt>
                <c:pt idx="295">
                  <c:v>46144</c:v>
                </c:pt>
                <c:pt idx="296">
                  <c:v>46145</c:v>
                </c:pt>
                <c:pt idx="297">
                  <c:v>46146</c:v>
                </c:pt>
              </c:numCache>
            </c:numRef>
          </c:cat>
          <c:val>
            <c:numRef>
              <c:f>Sheet1!$C$2:$C$299</c:f>
              <c:numCache>
                <c:formatCode>#,##0</c:formatCode>
                <c:ptCount val="298"/>
                <c:pt idx="0">
                  <c:v>0</c:v>
                </c:pt>
                <c:pt idx="1">
                  <c:v>0</c:v>
                </c:pt>
                <c:pt idx="2">
                  <c:v>0</c:v>
                </c:pt>
                <c:pt idx="3">
                  <c:v>154462800</c:v>
                </c:pt>
                <c:pt idx="4">
                  <c:v>33812840</c:v>
                </c:pt>
                <c:pt idx="5">
                  <c:v>46591590</c:v>
                </c:pt>
                <c:pt idx="6">
                  <c:v>32618720</c:v>
                </c:pt>
                <c:pt idx="7">
                  <c:v>29227250</c:v>
                </c:pt>
                <c:pt idx="8">
                  <c:v>29227250</c:v>
                </c:pt>
                <c:pt idx="9">
                  <c:v>29227250</c:v>
                </c:pt>
                <c:pt idx="10">
                  <c:v>35172650</c:v>
                </c:pt>
                <c:pt idx="11">
                  <c:v>11633720</c:v>
                </c:pt>
                <c:pt idx="12">
                  <c:v>14484610</c:v>
                </c:pt>
                <c:pt idx="13">
                  <c:v>28248600</c:v>
                </c:pt>
                <c:pt idx="14">
                  <c:v>16093270</c:v>
                </c:pt>
                <c:pt idx="15">
                  <c:v>16093270</c:v>
                </c:pt>
                <c:pt idx="16">
                  <c:v>16093270</c:v>
                </c:pt>
                <c:pt idx="17">
                  <c:v>11878530</c:v>
                </c:pt>
                <c:pt idx="18">
                  <c:v>13647890</c:v>
                </c:pt>
                <c:pt idx="19">
                  <c:v>6267854</c:v>
                </c:pt>
                <c:pt idx="20">
                  <c:v>7323321</c:v>
                </c:pt>
                <c:pt idx="21">
                  <c:v>4963502</c:v>
                </c:pt>
                <c:pt idx="22">
                  <c:v>4963502</c:v>
                </c:pt>
                <c:pt idx="23">
                  <c:v>4963502</c:v>
                </c:pt>
                <c:pt idx="24">
                  <c:v>8274651</c:v>
                </c:pt>
                <c:pt idx="25">
                  <c:v>4578001</c:v>
                </c:pt>
                <c:pt idx="26">
                  <c:v>4221495</c:v>
                </c:pt>
                <c:pt idx="27">
                  <c:v>2926571</c:v>
                </c:pt>
                <c:pt idx="28">
                  <c:v>12739490</c:v>
                </c:pt>
                <c:pt idx="29">
                  <c:v>12739490</c:v>
                </c:pt>
                <c:pt idx="30">
                  <c:v>12739490</c:v>
                </c:pt>
                <c:pt idx="31">
                  <c:v>2011343</c:v>
                </c:pt>
                <c:pt idx="32">
                  <c:v>5382122</c:v>
                </c:pt>
                <c:pt idx="33">
                  <c:v>4044365</c:v>
                </c:pt>
                <c:pt idx="34">
                  <c:v>11555900</c:v>
                </c:pt>
                <c:pt idx="35">
                  <c:v>3114329</c:v>
                </c:pt>
                <c:pt idx="36">
                  <c:v>3114329</c:v>
                </c:pt>
                <c:pt idx="37">
                  <c:v>3114329</c:v>
                </c:pt>
                <c:pt idx="38">
                  <c:v>8910472</c:v>
                </c:pt>
                <c:pt idx="39">
                  <c:v>1476682</c:v>
                </c:pt>
                <c:pt idx="40">
                  <c:v>4070898</c:v>
                </c:pt>
                <c:pt idx="41">
                  <c:v>2554467</c:v>
                </c:pt>
                <c:pt idx="42">
                  <c:v>1730317</c:v>
                </c:pt>
                <c:pt idx="43">
                  <c:v>1730317</c:v>
                </c:pt>
                <c:pt idx="44">
                  <c:v>1730317</c:v>
                </c:pt>
                <c:pt idx="45">
                  <c:v>4455103</c:v>
                </c:pt>
                <c:pt idx="46">
                  <c:v>4819852</c:v>
                </c:pt>
                <c:pt idx="47">
                  <c:v>5236359</c:v>
                </c:pt>
                <c:pt idx="48">
                  <c:v>2341064</c:v>
                </c:pt>
                <c:pt idx="49">
                  <c:v>6244831</c:v>
                </c:pt>
                <c:pt idx="50">
                  <c:v>6244831</c:v>
                </c:pt>
                <c:pt idx="51">
                  <c:v>6244831</c:v>
                </c:pt>
                <c:pt idx="52">
                  <c:v>2620799</c:v>
                </c:pt>
                <c:pt idx="53">
                  <c:v>3596126</c:v>
                </c:pt>
                <c:pt idx="54">
                  <c:v>8668678</c:v>
                </c:pt>
                <c:pt idx="55">
                  <c:v>1167975</c:v>
                </c:pt>
                <c:pt idx="56">
                  <c:v>3026503</c:v>
                </c:pt>
                <c:pt idx="57">
                  <c:v>3026503</c:v>
                </c:pt>
                <c:pt idx="58">
                  <c:v>3026503</c:v>
                </c:pt>
                <c:pt idx="59">
                  <c:v>2977161</c:v>
                </c:pt>
                <c:pt idx="60">
                  <c:v>2986982</c:v>
                </c:pt>
                <c:pt idx="61">
                  <c:v>1634603</c:v>
                </c:pt>
                <c:pt idx="62">
                  <c:v>6654999</c:v>
                </c:pt>
                <c:pt idx="63">
                  <c:v>7231490</c:v>
                </c:pt>
                <c:pt idx="64">
                  <c:v>7231490</c:v>
                </c:pt>
                <c:pt idx="65">
                  <c:v>7231490</c:v>
                </c:pt>
                <c:pt idx="66">
                  <c:v>4547477</c:v>
                </c:pt>
                <c:pt idx="67">
                  <c:v>11428960</c:v>
                </c:pt>
                <c:pt idx="68">
                  <c:v>4115091</c:v>
                </c:pt>
                <c:pt idx="69">
                  <c:v>8786536</c:v>
                </c:pt>
                <c:pt idx="70">
                  <c:v>13097230</c:v>
                </c:pt>
                <c:pt idx="71">
                  <c:v>13097230</c:v>
                </c:pt>
                <c:pt idx="72">
                  <c:v>13097230</c:v>
                </c:pt>
                <c:pt idx="73">
                  <c:v>6691576</c:v>
                </c:pt>
                <c:pt idx="74">
                  <c:v>2255135</c:v>
                </c:pt>
                <c:pt idx="75">
                  <c:v>10365930</c:v>
                </c:pt>
                <c:pt idx="76">
                  <c:v>5882519</c:v>
                </c:pt>
                <c:pt idx="77">
                  <c:v>7541018</c:v>
                </c:pt>
                <c:pt idx="78">
                  <c:v>7541018</c:v>
                </c:pt>
                <c:pt idx="79">
                  <c:v>7541018</c:v>
                </c:pt>
                <c:pt idx="80">
                  <c:v>3544002</c:v>
                </c:pt>
                <c:pt idx="81">
                  <c:v>890618.2</c:v>
                </c:pt>
                <c:pt idx="82">
                  <c:v>6238651</c:v>
                </c:pt>
                <c:pt idx="83">
                  <c:v>3196581</c:v>
                </c:pt>
                <c:pt idx="84">
                  <c:v>4318930</c:v>
                </c:pt>
                <c:pt idx="85">
                  <c:v>4318930</c:v>
                </c:pt>
                <c:pt idx="86">
                  <c:v>4318930</c:v>
                </c:pt>
                <c:pt idx="87">
                  <c:v>7337578</c:v>
                </c:pt>
                <c:pt idx="88">
                  <c:v>10317820</c:v>
                </c:pt>
                <c:pt idx="89">
                  <c:v>12594730</c:v>
                </c:pt>
                <c:pt idx="90">
                  <c:v>7197711</c:v>
                </c:pt>
                <c:pt idx="91">
                  <c:v>9758538</c:v>
                </c:pt>
                <c:pt idx="92">
                  <c:v>9758538</c:v>
                </c:pt>
                <c:pt idx="93">
                  <c:v>9758538</c:v>
                </c:pt>
                <c:pt idx="94">
                  <c:v>6797615</c:v>
                </c:pt>
                <c:pt idx="95">
                  <c:v>4283889</c:v>
                </c:pt>
                <c:pt idx="96">
                  <c:v>4747545</c:v>
                </c:pt>
                <c:pt idx="97">
                  <c:v>2861018</c:v>
                </c:pt>
                <c:pt idx="98">
                  <c:v>3859008</c:v>
                </c:pt>
                <c:pt idx="99">
                  <c:v>3859008</c:v>
                </c:pt>
                <c:pt idx="100">
                  <c:v>3859008</c:v>
                </c:pt>
                <c:pt idx="101">
                  <c:v>3859008</c:v>
                </c:pt>
                <c:pt idx="102">
                  <c:v>3603528</c:v>
                </c:pt>
                <c:pt idx="103">
                  <c:v>6033285</c:v>
                </c:pt>
                <c:pt idx="104">
                  <c:v>3858922</c:v>
                </c:pt>
                <c:pt idx="105">
                  <c:v>5657777</c:v>
                </c:pt>
                <c:pt idx="106">
                  <c:v>5657777</c:v>
                </c:pt>
                <c:pt idx="107">
                  <c:v>5657777</c:v>
                </c:pt>
                <c:pt idx="108">
                  <c:v>1305404</c:v>
                </c:pt>
                <c:pt idx="109">
                  <c:v>2426122</c:v>
                </c:pt>
                <c:pt idx="110">
                  <c:v>2470047</c:v>
                </c:pt>
                <c:pt idx="111">
                  <c:v>3316279</c:v>
                </c:pt>
                <c:pt idx="112">
                  <c:v>3753904</c:v>
                </c:pt>
                <c:pt idx="113">
                  <c:v>3753904</c:v>
                </c:pt>
                <c:pt idx="114">
                  <c:v>3753904</c:v>
                </c:pt>
                <c:pt idx="115">
                  <c:v>2219898</c:v>
                </c:pt>
                <c:pt idx="116">
                  <c:v>3619469</c:v>
                </c:pt>
                <c:pt idx="117">
                  <c:v>11916570</c:v>
                </c:pt>
                <c:pt idx="118">
                  <c:v>8116201</c:v>
                </c:pt>
                <c:pt idx="119">
                  <c:v>6236997</c:v>
                </c:pt>
                <c:pt idx="120">
                  <c:v>6236997</c:v>
                </c:pt>
                <c:pt idx="121">
                  <c:v>6236997</c:v>
                </c:pt>
                <c:pt idx="122">
                  <c:v>5821722</c:v>
                </c:pt>
                <c:pt idx="123">
                  <c:v>11827220</c:v>
                </c:pt>
                <c:pt idx="124">
                  <c:v>2399420</c:v>
                </c:pt>
                <c:pt idx="125">
                  <c:v>4983050</c:v>
                </c:pt>
                <c:pt idx="126">
                  <c:v>3926020</c:v>
                </c:pt>
                <c:pt idx="127">
                  <c:v>3926020</c:v>
                </c:pt>
                <c:pt idx="128">
                  <c:v>3926020</c:v>
                </c:pt>
                <c:pt idx="129">
                  <c:v>10621860</c:v>
                </c:pt>
                <c:pt idx="130">
                  <c:v>8768982</c:v>
                </c:pt>
                <c:pt idx="131">
                  <c:v>1957842</c:v>
                </c:pt>
                <c:pt idx="132">
                  <c:v>6833599</c:v>
                </c:pt>
                <c:pt idx="133">
                  <c:v>5524311</c:v>
                </c:pt>
                <c:pt idx="134">
                  <c:v>5524311</c:v>
                </c:pt>
                <c:pt idx="135">
                  <c:v>5524311</c:v>
                </c:pt>
                <c:pt idx="136">
                  <c:v>27348290</c:v>
                </c:pt>
                <c:pt idx="137">
                  <c:v>3835934</c:v>
                </c:pt>
                <c:pt idx="138">
                  <c:v>3419021</c:v>
                </c:pt>
                <c:pt idx="139">
                  <c:v>4114611</c:v>
                </c:pt>
                <c:pt idx="140">
                  <c:v>10290870</c:v>
                </c:pt>
                <c:pt idx="141">
                  <c:v>10290870</c:v>
                </c:pt>
                <c:pt idx="142">
                  <c:v>10290870</c:v>
                </c:pt>
                <c:pt idx="143">
                  <c:v>13936300</c:v>
                </c:pt>
                <c:pt idx="144">
                  <c:v>2872533</c:v>
                </c:pt>
                <c:pt idx="145">
                  <c:v>1321418</c:v>
                </c:pt>
                <c:pt idx="146">
                  <c:v>2969468</c:v>
                </c:pt>
                <c:pt idx="147">
                  <c:v>2126496</c:v>
                </c:pt>
                <c:pt idx="148">
                  <c:v>2126496</c:v>
                </c:pt>
                <c:pt idx="149">
                  <c:v>2126496</c:v>
                </c:pt>
                <c:pt idx="150">
                  <c:v>1771893</c:v>
                </c:pt>
                <c:pt idx="151">
                  <c:v>3553915</c:v>
                </c:pt>
                <c:pt idx="152">
                  <c:v>4141416</c:v>
                </c:pt>
                <c:pt idx="153">
                  <c:v>4452797</c:v>
                </c:pt>
                <c:pt idx="154">
                  <c:v>5977846</c:v>
                </c:pt>
                <c:pt idx="155">
                  <c:v>5977846</c:v>
                </c:pt>
                <c:pt idx="156">
                  <c:v>5977846</c:v>
                </c:pt>
                <c:pt idx="157">
                  <c:v>3045987</c:v>
                </c:pt>
                <c:pt idx="158">
                  <c:v>5054903</c:v>
                </c:pt>
                <c:pt idx="159">
                  <c:v>4266568</c:v>
                </c:pt>
                <c:pt idx="160">
                  <c:v>9390439</c:v>
                </c:pt>
                <c:pt idx="161">
                  <c:v>49327380</c:v>
                </c:pt>
                <c:pt idx="162">
                  <c:v>49327380</c:v>
                </c:pt>
                <c:pt idx="163">
                  <c:v>49327380</c:v>
                </c:pt>
                <c:pt idx="164">
                  <c:v>4686818</c:v>
                </c:pt>
                <c:pt idx="165">
                  <c:v>3906728</c:v>
                </c:pt>
                <c:pt idx="166">
                  <c:v>424556.5</c:v>
                </c:pt>
                <c:pt idx="167">
                  <c:v>424556.5</c:v>
                </c:pt>
                <c:pt idx="168">
                  <c:v>1711640</c:v>
                </c:pt>
                <c:pt idx="169">
                  <c:v>1711640</c:v>
                </c:pt>
                <c:pt idx="170">
                  <c:v>1711640</c:v>
                </c:pt>
                <c:pt idx="171">
                  <c:v>6681329</c:v>
                </c:pt>
                <c:pt idx="172">
                  <c:v>1428058</c:v>
                </c:pt>
                <c:pt idx="173">
                  <c:v>2682706</c:v>
                </c:pt>
                <c:pt idx="174">
                  <c:v>2682706</c:v>
                </c:pt>
                <c:pt idx="175">
                  <c:v>3675493</c:v>
                </c:pt>
                <c:pt idx="176">
                  <c:v>3675493</c:v>
                </c:pt>
                <c:pt idx="177">
                  <c:v>3675493</c:v>
                </c:pt>
                <c:pt idx="178">
                  <c:v>4532811</c:v>
                </c:pt>
                <c:pt idx="179">
                  <c:v>14106430</c:v>
                </c:pt>
                <c:pt idx="180">
                  <c:v>2149790</c:v>
                </c:pt>
                <c:pt idx="181">
                  <c:v>8191182</c:v>
                </c:pt>
                <c:pt idx="182">
                  <c:v>4361221</c:v>
                </c:pt>
                <c:pt idx="183">
                  <c:v>4361221</c:v>
                </c:pt>
                <c:pt idx="184">
                  <c:v>4361221</c:v>
                </c:pt>
                <c:pt idx="185">
                  <c:v>6160624</c:v>
                </c:pt>
                <c:pt idx="186">
                  <c:v>10246100</c:v>
                </c:pt>
                <c:pt idx="187">
                  <c:v>3232847</c:v>
                </c:pt>
                <c:pt idx="188">
                  <c:v>4754222</c:v>
                </c:pt>
                <c:pt idx="189">
                  <c:v>6551690</c:v>
                </c:pt>
                <c:pt idx="190">
                  <c:v>6551690</c:v>
                </c:pt>
                <c:pt idx="191">
                  <c:v>6551690</c:v>
                </c:pt>
                <c:pt idx="192">
                  <c:v>2767278</c:v>
                </c:pt>
                <c:pt idx="193">
                  <c:v>16407190</c:v>
                </c:pt>
                <c:pt idx="194">
                  <c:v>10979830</c:v>
                </c:pt>
                <c:pt idx="195">
                  <c:v>12660160</c:v>
                </c:pt>
                <c:pt idx="196">
                  <c:v>11248630</c:v>
                </c:pt>
                <c:pt idx="197">
                  <c:v>11248630</c:v>
                </c:pt>
                <c:pt idx="198">
                  <c:v>11248630</c:v>
                </c:pt>
                <c:pt idx="199">
                  <c:v>12264430</c:v>
                </c:pt>
                <c:pt idx="200">
                  <c:v>1569374</c:v>
                </c:pt>
                <c:pt idx="201">
                  <c:v>4551435</c:v>
                </c:pt>
                <c:pt idx="202">
                  <c:v>2438975</c:v>
                </c:pt>
                <c:pt idx="203">
                  <c:v>7283146</c:v>
                </c:pt>
                <c:pt idx="204">
                  <c:v>7283146</c:v>
                </c:pt>
                <c:pt idx="205">
                  <c:v>7283146</c:v>
                </c:pt>
                <c:pt idx="206">
                  <c:v>9101743</c:v>
                </c:pt>
                <c:pt idx="207">
                  <c:v>4352447</c:v>
                </c:pt>
                <c:pt idx="208">
                  <c:v>2732102</c:v>
                </c:pt>
                <c:pt idx="209">
                  <c:v>6747871</c:v>
                </c:pt>
                <c:pt idx="210">
                  <c:v>2343514</c:v>
                </c:pt>
                <c:pt idx="211">
                  <c:v>2343514</c:v>
                </c:pt>
                <c:pt idx="212">
                  <c:v>2343514</c:v>
                </c:pt>
                <c:pt idx="213">
                  <c:v>7192466</c:v>
                </c:pt>
                <c:pt idx="214">
                  <c:v>2847244</c:v>
                </c:pt>
                <c:pt idx="215">
                  <c:v>927945.5</c:v>
                </c:pt>
                <c:pt idx="216">
                  <c:v>3091074</c:v>
                </c:pt>
                <c:pt idx="217">
                  <c:v>4503759</c:v>
                </c:pt>
                <c:pt idx="218">
                  <c:v>4503759</c:v>
                </c:pt>
                <c:pt idx="219">
                  <c:v>4503759</c:v>
                </c:pt>
                <c:pt idx="220">
                  <c:v>385079.9</c:v>
                </c:pt>
                <c:pt idx="221">
                  <c:v>385079.9</c:v>
                </c:pt>
                <c:pt idx="222">
                  <c:v>385079.9</c:v>
                </c:pt>
                <c:pt idx="223">
                  <c:v>4259781</c:v>
                </c:pt>
                <c:pt idx="224">
                  <c:v>2826952</c:v>
                </c:pt>
                <c:pt idx="225">
                  <c:v>2826952</c:v>
                </c:pt>
                <c:pt idx="226">
                  <c:v>2826952</c:v>
                </c:pt>
                <c:pt idx="227">
                  <c:v>1607943</c:v>
                </c:pt>
                <c:pt idx="228">
                  <c:v>5683106</c:v>
                </c:pt>
                <c:pt idx="229">
                  <c:v>2266593</c:v>
                </c:pt>
                <c:pt idx="230">
                  <c:v>2407392</c:v>
                </c:pt>
                <c:pt idx="231">
                  <c:v>3042078</c:v>
                </c:pt>
                <c:pt idx="232">
                  <c:v>3042078</c:v>
                </c:pt>
                <c:pt idx="233">
                  <c:v>3042078</c:v>
                </c:pt>
                <c:pt idx="234">
                  <c:v>9101991</c:v>
                </c:pt>
                <c:pt idx="235">
                  <c:v>3460680</c:v>
                </c:pt>
                <c:pt idx="236">
                  <c:v>5392046</c:v>
                </c:pt>
                <c:pt idx="237">
                  <c:v>2018232</c:v>
                </c:pt>
                <c:pt idx="238">
                  <c:v>2283886</c:v>
                </c:pt>
                <c:pt idx="239">
                  <c:v>2283886</c:v>
                </c:pt>
                <c:pt idx="240">
                  <c:v>2283886</c:v>
                </c:pt>
                <c:pt idx="241">
                  <c:v>3391183</c:v>
                </c:pt>
                <c:pt idx="242">
                  <c:v>2351925</c:v>
                </c:pt>
                <c:pt idx="243">
                  <c:v>845304.4</c:v>
                </c:pt>
                <c:pt idx="244">
                  <c:v>1620736</c:v>
                </c:pt>
                <c:pt idx="245">
                  <c:v>6222715</c:v>
                </c:pt>
                <c:pt idx="246">
                  <c:v>6222715</c:v>
                </c:pt>
                <c:pt idx="247">
                  <c:v>6222715</c:v>
                </c:pt>
                <c:pt idx="248">
                  <c:v>651337</c:v>
                </c:pt>
                <c:pt idx="249">
                  <c:v>3129082</c:v>
                </c:pt>
                <c:pt idx="250">
                  <c:v>8604993</c:v>
                </c:pt>
                <c:pt idx="251">
                  <c:v>2527150</c:v>
                </c:pt>
                <c:pt idx="252">
                  <c:v>2509313</c:v>
                </c:pt>
                <c:pt idx="253">
                  <c:v>2509313</c:v>
                </c:pt>
                <c:pt idx="254">
                  <c:v>2509313</c:v>
                </c:pt>
                <c:pt idx="255">
                  <c:v>7972228</c:v>
                </c:pt>
                <c:pt idx="256">
                  <c:v>1457976</c:v>
                </c:pt>
                <c:pt idx="257">
                  <c:v>7841987</c:v>
                </c:pt>
                <c:pt idx="258">
                  <c:v>4993138</c:v>
                </c:pt>
                <c:pt idx="259">
                  <c:v>1373696</c:v>
                </c:pt>
                <c:pt idx="260">
                  <c:v>1373696</c:v>
                </c:pt>
                <c:pt idx="261">
                  <c:v>1373696</c:v>
                </c:pt>
                <c:pt idx="262">
                  <c:v>2142768</c:v>
                </c:pt>
                <c:pt idx="263">
                  <c:v>3720486</c:v>
                </c:pt>
                <c:pt idx="264">
                  <c:v>8037758</c:v>
                </c:pt>
                <c:pt idx="265">
                  <c:v>2532066</c:v>
                </c:pt>
                <c:pt idx="266">
                  <c:v>2532066</c:v>
                </c:pt>
                <c:pt idx="267">
                  <c:v>2532066</c:v>
                </c:pt>
                <c:pt idx="268">
                  <c:v>2532066</c:v>
                </c:pt>
                <c:pt idx="269">
                  <c:v>2373987</c:v>
                </c:pt>
                <c:pt idx="270">
                  <c:v>3527775</c:v>
                </c:pt>
                <c:pt idx="271">
                  <c:v>6103910</c:v>
                </c:pt>
                <c:pt idx="272">
                  <c:v>6504236</c:v>
                </c:pt>
                <c:pt idx="273">
                  <c:v>9427906</c:v>
                </c:pt>
                <c:pt idx="274">
                  <c:v>9427906</c:v>
                </c:pt>
                <c:pt idx="275">
                  <c:v>9427906</c:v>
                </c:pt>
                <c:pt idx="276">
                  <c:v>7965611</c:v>
                </c:pt>
                <c:pt idx="277">
                  <c:v>1359669</c:v>
                </c:pt>
                <c:pt idx="278">
                  <c:v>3419364</c:v>
                </c:pt>
                <c:pt idx="279">
                  <c:v>6103833</c:v>
                </c:pt>
                <c:pt idx="280">
                  <c:v>2713352</c:v>
                </c:pt>
                <c:pt idx="281">
                  <c:v>2713352</c:v>
                </c:pt>
                <c:pt idx="282">
                  <c:v>2713352</c:v>
                </c:pt>
                <c:pt idx="283">
                  <c:v>4985987</c:v>
                </c:pt>
                <c:pt idx="284">
                  <c:v>1808580</c:v>
                </c:pt>
                <c:pt idx="285">
                  <c:v>4166576</c:v>
                </c:pt>
                <c:pt idx="286">
                  <c:v>2918317</c:v>
                </c:pt>
                <c:pt idx="287">
                  <c:v>1256869</c:v>
                </c:pt>
                <c:pt idx="288">
                  <c:v>1256869</c:v>
                </c:pt>
                <c:pt idx="289">
                  <c:v>1256869</c:v>
                </c:pt>
                <c:pt idx="290">
                  <c:v>2008760</c:v>
                </c:pt>
                <c:pt idx="291">
                  <c:v>580869.6</c:v>
                </c:pt>
                <c:pt idx="292">
                  <c:v>4626440</c:v>
                </c:pt>
                <c:pt idx="293">
                  <c:v>8082348</c:v>
                </c:pt>
                <c:pt idx="294">
                  <c:v>8082348</c:v>
                </c:pt>
                <c:pt idx="295">
                  <c:v>8082348</c:v>
                </c:pt>
                <c:pt idx="296">
                  <c:v>8082348</c:v>
                </c:pt>
                <c:pt idx="297" formatCode="General">
                  <c:v>1785018</c:v>
                </c:pt>
              </c:numCache>
            </c:numRef>
          </c:val>
          <c:extLst>
            <c:ext xmlns:c16="http://schemas.microsoft.com/office/drawing/2014/chart" uri="{C3380CC4-5D6E-409C-BE32-E72D297353CC}">
              <c16:uniqueId val="{00000000-3C62-49C9-B6DB-E3240FFD6DED}"/>
            </c:ext>
          </c:extLst>
        </c:ser>
        <c:dLbls>
          <c:showLegendKey val="0"/>
          <c:showVal val="0"/>
          <c:showCatName val="0"/>
          <c:showSerName val="0"/>
          <c:showPercent val="0"/>
          <c:showBubbleSize val="0"/>
        </c:dLbls>
        <c:gapWidth val="150"/>
        <c:axId val="332405216"/>
        <c:axId val="332405696"/>
      </c:barChart>
      <c:lineChart>
        <c:grouping val="standard"/>
        <c:varyColors val="0"/>
        <c:ser>
          <c:idx val="0"/>
          <c:order val="0"/>
          <c:tx>
            <c:strRef>
              <c:f>Sheet1!$B$1</c:f>
              <c:strCache>
                <c:ptCount val="1"/>
                <c:pt idx="0">
                  <c:v>NTT DC REIT (Rebased)</c:v>
                </c:pt>
              </c:strCache>
            </c:strRef>
          </c:tx>
          <c:spPr>
            <a:ln w="19050" cap="rnd">
              <a:solidFill>
                <a:srgbClr val="0D73BB"/>
              </a:solidFill>
              <a:round/>
            </a:ln>
            <a:effectLst>
              <a:outerShdw blurRad="50800" dist="38100" dir="5400000" algn="t" rotWithShape="0">
                <a:prstClr val="black">
                  <a:alpha val="40000"/>
                </a:prstClr>
              </a:outerShdw>
            </a:effectLst>
          </c:spPr>
          <c:marker>
            <c:symbol val="none"/>
          </c:marker>
          <c:cat>
            <c:numRef>
              <c:f>Sheet1!$A$2:$A$299</c:f>
              <c:numCache>
                <c:formatCode>m/d/yyyy</c:formatCode>
                <c:ptCount val="298"/>
                <c:pt idx="0">
                  <c:v>45849</c:v>
                </c:pt>
                <c:pt idx="1">
                  <c:v>45850</c:v>
                </c:pt>
                <c:pt idx="2">
                  <c:v>45851</c:v>
                </c:pt>
                <c:pt idx="3">
                  <c:v>45852</c:v>
                </c:pt>
                <c:pt idx="4">
                  <c:v>45853</c:v>
                </c:pt>
                <c:pt idx="5">
                  <c:v>45854</c:v>
                </c:pt>
                <c:pt idx="6">
                  <c:v>45855</c:v>
                </c:pt>
                <c:pt idx="7">
                  <c:v>45856</c:v>
                </c:pt>
                <c:pt idx="8">
                  <c:v>45857</c:v>
                </c:pt>
                <c:pt idx="9">
                  <c:v>45858</c:v>
                </c:pt>
                <c:pt idx="10">
                  <c:v>45859</c:v>
                </c:pt>
                <c:pt idx="11">
                  <c:v>45860</c:v>
                </c:pt>
                <c:pt idx="12">
                  <c:v>45861</c:v>
                </c:pt>
                <c:pt idx="13">
                  <c:v>45862</c:v>
                </c:pt>
                <c:pt idx="14">
                  <c:v>45863</c:v>
                </c:pt>
                <c:pt idx="15">
                  <c:v>45864</c:v>
                </c:pt>
                <c:pt idx="16">
                  <c:v>45865</c:v>
                </c:pt>
                <c:pt idx="17">
                  <c:v>45866</c:v>
                </c:pt>
                <c:pt idx="18">
                  <c:v>45867</c:v>
                </c:pt>
                <c:pt idx="19">
                  <c:v>45868</c:v>
                </c:pt>
                <c:pt idx="20">
                  <c:v>45869</c:v>
                </c:pt>
                <c:pt idx="21">
                  <c:v>45870</c:v>
                </c:pt>
                <c:pt idx="22">
                  <c:v>45871</c:v>
                </c:pt>
                <c:pt idx="23">
                  <c:v>45872</c:v>
                </c:pt>
                <c:pt idx="24">
                  <c:v>45873</c:v>
                </c:pt>
                <c:pt idx="25">
                  <c:v>45874</c:v>
                </c:pt>
                <c:pt idx="26">
                  <c:v>45875</c:v>
                </c:pt>
                <c:pt idx="27">
                  <c:v>45876</c:v>
                </c:pt>
                <c:pt idx="28">
                  <c:v>45877</c:v>
                </c:pt>
                <c:pt idx="29">
                  <c:v>45878</c:v>
                </c:pt>
                <c:pt idx="30">
                  <c:v>45879</c:v>
                </c:pt>
                <c:pt idx="31">
                  <c:v>45880</c:v>
                </c:pt>
                <c:pt idx="32">
                  <c:v>45881</c:v>
                </c:pt>
                <c:pt idx="33">
                  <c:v>45882</c:v>
                </c:pt>
                <c:pt idx="34">
                  <c:v>45883</c:v>
                </c:pt>
                <c:pt idx="35">
                  <c:v>45884</c:v>
                </c:pt>
                <c:pt idx="36">
                  <c:v>45885</c:v>
                </c:pt>
                <c:pt idx="37">
                  <c:v>45886</c:v>
                </c:pt>
                <c:pt idx="38">
                  <c:v>45887</c:v>
                </c:pt>
                <c:pt idx="39">
                  <c:v>45888</c:v>
                </c:pt>
                <c:pt idx="40">
                  <c:v>45889</c:v>
                </c:pt>
                <c:pt idx="41">
                  <c:v>45890</c:v>
                </c:pt>
                <c:pt idx="42">
                  <c:v>45891</c:v>
                </c:pt>
                <c:pt idx="43">
                  <c:v>45892</c:v>
                </c:pt>
                <c:pt idx="44">
                  <c:v>45893</c:v>
                </c:pt>
                <c:pt idx="45">
                  <c:v>45894</c:v>
                </c:pt>
                <c:pt idx="46">
                  <c:v>45895</c:v>
                </c:pt>
                <c:pt idx="47">
                  <c:v>45896</c:v>
                </c:pt>
                <c:pt idx="48">
                  <c:v>45897</c:v>
                </c:pt>
                <c:pt idx="49">
                  <c:v>45898</c:v>
                </c:pt>
                <c:pt idx="50">
                  <c:v>45899</c:v>
                </c:pt>
                <c:pt idx="51">
                  <c:v>45900</c:v>
                </c:pt>
                <c:pt idx="52">
                  <c:v>45901</c:v>
                </c:pt>
                <c:pt idx="53">
                  <c:v>45902</c:v>
                </c:pt>
                <c:pt idx="54">
                  <c:v>45903</c:v>
                </c:pt>
                <c:pt idx="55">
                  <c:v>45904</c:v>
                </c:pt>
                <c:pt idx="56">
                  <c:v>45905</c:v>
                </c:pt>
                <c:pt idx="57">
                  <c:v>45906</c:v>
                </c:pt>
                <c:pt idx="58">
                  <c:v>45907</c:v>
                </c:pt>
                <c:pt idx="59">
                  <c:v>45908</c:v>
                </c:pt>
                <c:pt idx="60">
                  <c:v>45909</c:v>
                </c:pt>
                <c:pt idx="61">
                  <c:v>45910</c:v>
                </c:pt>
                <c:pt idx="62">
                  <c:v>45911</c:v>
                </c:pt>
                <c:pt idx="63">
                  <c:v>45912</c:v>
                </c:pt>
                <c:pt idx="64">
                  <c:v>45913</c:v>
                </c:pt>
                <c:pt idx="65">
                  <c:v>45914</c:v>
                </c:pt>
                <c:pt idx="66">
                  <c:v>45915</c:v>
                </c:pt>
                <c:pt idx="67">
                  <c:v>45916</c:v>
                </c:pt>
                <c:pt idx="68">
                  <c:v>45917</c:v>
                </c:pt>
                <c:pt idx="69">
                  <c:v>45918</c:v>
                </c:pt>
                <c:pt idx="70">
                  <c:v>45919</c:v>
                </c:pt>
                <c:pt idx="71">
                  <c:v>45920</c:v>
                </c:pt>
                <c:pt idx="72">
                  <c:v>45921</c:v>
                </c:pt>
                <c:pt idx="73">
                  <c:v>45922</c:v>
                </c:pt>
                <c:pt idx="74">
                  <c:v>45923</c:v>
                </c:pt>
                <c:pt idx="75">
                  <c:v>45924</c:v>
                </c:pt>
                <c:pt idx="76">
                  <c:v>45925</c:v>
                </c:pt>
                <c:pt idx="77">
                  <c:v>45926</c:v>
                </c:pt>
                <c:pt idx="78">
                  <c:v>45927</c:v>
                </c:pt>
                <c:pt idx="79">
                  <c:v>45928</c:v>
                </c:pt>
                <c:pt idx="80">
                  <c:v>45929</c:v>
                </c:pt>
                <c:pt idx="81">
                  <c:v>45930</c:v>
                </c:pt>
                <c:pt idx="82">
                  <c:v>45931</c:v>
                </c:pt>
                <c:pt idx="83">
                  <c:v>45932</c:v>
                </c:pt>
                <c:pt idx="84">
                  <c:v>45933</c:v>
                </c:pt>
                <c:pt idx="85">
                  <c:v>45934</c:v>
                </c:pt>
                <c:pt idx="86">
                  <c:v>45935</c:v>
                </c:pt>
                <c:pt idx="87">
                  <c:v>45936</c:v>
                </c:pt>
                <c:pt idx="88">
                  <c:v>45937</c:v>
                </c:pt>
                <c:pt idx="89">
                  <c:v>45938</c:v>
                </c:pt>
                <c:pt idx="90">
                  <c:v>45939</c:v>
                </c:pt>
                <c:pt idx="91">
                  <c:v>45940</c:v>
                </c:pt>
                <c:pt idx="92">
                  <c:v>45941</c:v>
                </c:pt>
                <c:pt idx="93">
                  <c:v>45942</c:v>
                </c:pt>
                <c:pt idx="94">
                  <c:v>45943</c:v>
                </c:pt>
                <c:pt idx="95">
                  <c:v>45944</c:v>
                </c:pt>
                <c:pt idx="96">
                  <c:v>45945</c:v>
                </c:pt>
                <c:pt idx="97">
                  <c:v>45946</c:v>
                </c:pt>
                <c:pt idx="98">
                  <c:v>45947</c:v>
                </c:pt>
                <c:pt idx="99">
                  <c:v>45948</c:v>
                </c:pt>
                <c:pt idx="100">
                  <c:v>45949</c:v>
                </c:pt>
                <c:pt idx="101">
                  <c:v>45950</c:v>
                </c:pt>
                <c:pt idx="102">
                  <c:v>45951</c:v>
                </c:pt>
                <c:pt idx="103">
                  <c:v>45952</c:v>
                </c:pt>
                <c:pt idx="104">
                  <c:v>45953</c:v>
                </c:pt>
                <c:pt idx="105">
                  <c:v>45954</c:v>
                </c:pt>
                <c:pt idx="106">
                  <c:v>45955</c:v>
                </c:pt>
                <c:pt idx="107">
                  <c:v>45956</c:v>
                </c:pt>
                <c:pt idx="108">
                  <c:v>45957</c:v>
                </c:pt>
                <c:pt idx="109">
                  <c:v>45958</c:v>
                </c:pt>
                <c:pt idx="110">
                  <c:v>45959</c:v>
                </c:pt>
                <c:pt idx="111">
                  <c:v>45960</c:v>
                </c:pt>
                <c:pt idx="112">
                  <c:v>45961</c:v>
                </c:pt>
                <c:pt idx="113">
                  <c:v>45962</c:v>
                </c:pt>
                <c:pt idx="114">
                  <c:v>45963</c:v>
                </c:pt>
                <c:pt idx="115">
                  <c:v>45964</c:v>
                </c:pt>
                <c:pt idx="116">
                  <c:v>45965</c:v>
                </c:pt>
                <c:pt idx="117">
                  <c:v>45966</c:v>
                </c:pt>
                <c:pt idx="118">
                  <c:v>45967</c:v>
                </c:pt>
                <c:pt idx="119">
                  <c:v>45968</c:v>
                </c:pt>
                <c:pt idx="120">
                  <c:v>45969</c:v>
                </c:pt>
                <c:pt idx="121">
                  <c:v>45970</c:v>
                </c:pt>
                <c:pt idx="122">
                  <c:v>45971</c:v>
                </c:pt>
                <c:pt idx="123">
                  <c:v>45972</c:v>
                </c:pt>
                <c:pt idx="124">
                  <c:v>45973</c:v>
                </c:pt>
                <c:pt idx="125">
                  <c:v>45974</c:v>
                </c:pt>
                <c:pt idx="126">
                  <c:v>45975</c:v>
                </c:pt>
                <c:pt idx="127">
                  <c:v>45976</c:v>
                </c:pt>
                <c:pt idx="128">
                  <c:v>45977</c:v>
                </c:pt>
                <c:pt idx="129">
                  <c:v>45978</c:v>
                </c:pt>
                <c:pt idx="130">
                  <c:v>45979</c:v>
                </c:pt>
                <c:pt idx="131">
                  <c:v>45980</c:v>
                </c:pt>
                <c:pt idx="132">
                  <c:v>45981</c:v>
                </c:pt>
                <c:pt idx="133">
                  <c:v>45982</c:v>
                </c:pt>
                <c:pt idx="134">
                  <c:v>45983</c:v>
                </c:pt>
                <c:pt idx="135">
                  <c:v>45984</c:v>
                </c:pt>
                <c:pt idx="136">
                  <c:v>45985</c:v>
                </c:pt>
                <c:pt idx="137">
                  <c:v>45986</c:v>
                </c:pt>
                <c:pt idx="138">
                  <c:v>45987</c:v>
                </c:pt>
                <c:pt idx="139">
                  <c:v>45988</c:v>
                </c:pt>
                <c:pt idx="140">
                  <c:v>45989</c:v>
                </c:pt>
                <c:pt idx="141">
                  <c:v>45990</c:v>
                </c:pt>
                <c:pt idx="142">
                  <c:v>45991</c:v>
                </c:pt>
                <c:pt idx="143">
                  <c:v>45992</c:v>
                </c:pt>
                <c:pt idx="144">
                  <c:v>45993</c:v>
                </c:pt>
                <c:pt idx="145">
                  <c:v>45994</c:v>
                </c:pt>
                <c:pt idx="146">
                  <c:v>45995</c:v>
                </c:pt>
                <c:pt idx="147">
                  <c:v>45996</c:v>
                </c:pt>
                <c:pt idx="148">
                  <c:v>45997</c:v>
                </c:pt>
                <c:pt idx="149">
                  <c:v>45998</c:v>
                </c:pt>
                <c:pt idx="150">
                  <c:v>45999</c:v>
                </c:pt>
                <c:pt idx="151">
                  <c:v>46000</c:v>
                </c:pt>
                <c:pt idx="152">
                  <c:v>46001</c:v>
                </c:pt>
                <c:pt idx="153">
                  <c:v>46002</c:v>
                </c:pt>
                <c:pt idx="154">
                  <c:v>46003</c:v>
                </c:pt>
                <c:pt idx="155">
                  <c:v>46004</c:v>
                </c:pt>
                <c:pt idx="156">
                  <c:v>46005</c:v>
                </c:pt>
                <c:pt idx="157">
                  <c:v>46006</c:v>
                </c:pt>
                <c:pt idx="158">
                  <c:v>46007</c:v>
                </c:pt>
                <c:pt idx="159">
                  <c:v>46008</c:v>
                </c:pt>
                <c:pt idx="160">
                  <c:v>46009</c:v>
                </c:pt>
                <c:pt idx="161">
                  <c:v>46010</c:v>
                </c:pt>
                <c:pt idx="162">
                  <c:v>46011</c:v>
                </c:pt>
                <c:pt idx="163">
                  <c:v>46012</c:v>
                </c:pt>
                <c:pt idx="164">
                  <c:v>46013</c:v>
                </c:pt>
                <c:pt idx="165">
                  <c:v>46014</c:v>
                </c:pt>
                <c:pt idx="166">
                  <c:v>46015</c:v>
                </c:pt>
                <c:pt idx="167">
                  <c:v>46016</c:v>
                </c:pt>
                <c:pt idx="168">
                  <c:v>46017</c:v>
                </c:pt>
                <c:pt idx="169">
                  <c:v>46018</c:v>
                </c:pt>
                <c:pt idx="170">
                  <c:v>46019</c:v>
                </c:pt>
                <c:pt idx="171">
                  <c:v>46020</c:v>
                </c:pt>
                <c:pt idx="172">
                  <c:v>46021</c:v>
                </c:pt>
                <c:pt idx="173">
                  <c:v>46022</c:v>
                </c:pt>
                <c:pt idx="174">
                  <c:v>46023</c:v>
                </c:pt>
                <c:pt idx="175">
                  <c:v>46024</c:v>
                </c:pt>
                <c:pt idx="176">
                  <c:v>46025</c:v>
                </c:pt>
                <c:pt idx="177">
                  <c:v>46026</c:v>
                </c:pt>
                <c:pt idx="178">
                  <c:v>46027</c:v>
                </c:pt>
                <c:pt idx="179">
                  <c:v>46028</c:v>
                </c:pt>
                <c:pt idx="180">
                  <c:v>46029</c:v>
                </c:pt>
                <c:pt idx="181">
                  <c:v>46030</c:v>
                </c:pt>
                <c:pt idx="182">
                  <c:v>46031</c:v>
                </c:pt>
                <c:pt idx="183">
                  <c:v>46032</c:v>
                </c:pt>
                <c:pt idx="184">
                  <c:v>46033</c:v>
                </c:pt>
                <c:pt idx="185">
                  <c:v>46034</c:v>
                </c:pt>
                <c:pt idx="186">
                  <c:v>46035</c:v>
                </c:pt>
                <c:pt idx="187">
                  <c:v>46036</c:v>
                </c:pt>
                <c:pt idx="188">
                  <c:v>46037</c:v>
                </c:pt>
                <c:pt idx="189">
                  <c:v>46038</c:v>
                </c:pt>
                <c:pt idx="190">
                  <c:v>46039</c:v>
                </c:pt>
                <c:pt idx="191">
                  <c:v>46040</c:v>
                </c:pt>
                <c:pt idx="192">
                  <c:v>46041</c:v>
                </c:pt>
                <c:pt idx="193">
                  <c:v>46042</c:v>
                </c:pt>
                <c:pt idx="194">
                  <c:v>46043</c:v>
                </c:pt>
                <c:pt idx="195">
                  <c:v>46044</c:v>
                </c:pt>
                <c:pt idx="196">
                  <c:v>46045</c:v>
                </c:pt>
                <c:pt idx="197">
                  <c:v>46046</c:v>
                </c:pt>
                <c:pt idx="198">
                  <c:v>46047</c:v>
                </c:pt>
                <c:pt idx="199">
                  <c:v>46048</c:v>
                </c:pt>
                <c:pt idx="200">
                  <c:v>46049</c:v>
                </c:pt>
                <c:pt idx="201">
                  <c:v>46050</c:v>
                </c:pt>
                <c:pt idx="202">
                  <c:v>46051</c:v>
                </c:pt>
                <c:pt idx="203">
                  <c:v>46052</c:v>
                </c:pt>
                <c:pt idx="204">
                  <c:v>46053</c:v>
                </c:pt>
                <c:pt idx="205">
                  <c:v>46054</c:v>
                </c:pt>
                <c:pt idx="206">
                  <c:v>46055</c:v>
                </c:pt>
                <c:pt idx="207">
                  <c:v>46056</c:v>
                </c:pt>
                <c:pt idx="208">
                  <c:v>46057</c:v>
                </c:pt>
                <c:pt idx="209">
                  <c:v>46058</c:v>
                </c:pt>
                <c:pt idx="210">
                  <c:v>46059</c:v>
                </c:pt>
                <c:pt idx="211">
                  <c:v>46060</c:v>
                </c:pt>
                <c:pt idx="212">
                  <c:v>46061</c:v>
                </c:pt>
                <c:pt idx="213">
                  <c:v>46062</c:v>
                </c:pt>
                <c:pt idx="214">
                  <c:v>46063</c:v>
                </c:pt>
                <c:pt idx="215">
                  <c:v>46064</c:v>
                </c:pt>
                <c:pt idx="216">
                  <c:v>46065</c:v>
                </c:pt>
                <c:pt idx="217">
                  <c:v>46066</c:v>
                </c:pt>
                <c:pt idx="218">
                  <c:v>46067</c:v>
                </c:pt>
                <c:pt idx="219">
                  <c:v>46068</c:v>
                </c:pt>
                <c:pt idx="220">
                  <c:v>46069</c:v>
                </c:pt>
                <c:pt idx="221">
                  <c:v>46070</c:v>
                </c:pt>
                <c:pt idx="222">
                  <c:v>46071</c:v>
                </c:pt>
                <c:pt idx="223">
                  <c:v>46072</c:v>
                </c:pt>
                <c:pt idx="224">
                  <c:v>46073</c:v>
                </c:pt>
                <c:pt idx="225">
                  <c:v>46074</c:v>
                </c:pt>
                <c:pt idx="226">
                  <c:v>46075</c:v>
                </c:pt>
                <c:pt idx="227">
                  <c:v>46076</c:v>
                </c:pt>
                <c:pt idx="228">
                  <c:v>46077</c:v>
                </c:pt>
                <c:pt idx="229">
                  <c:v>46078</c:v>
                </c:pt>
                <c:pt idx="230">
                  <c:v>46079</c:v>
                </c:pt>
                <c:pt idx="231">
                  <c:v>46080</c:v>
                </c:pt>
                <c:pt idx="232">
                  <c:v>46081</c:v>
                </c:pt>
                <c:pt idx="233">
                  <c:v>46082</c:v>
                </c:pt>
                <c:pt idx="234">
                  <c:v>46083</c:v>
                </c:pt>
                <c:pt idx="235">
                  <c:v>46084</c:v>
                </c:pt>
                <c:pt idx="236">
                  <c:v>46085</c:v>
                </c:pt>
                <c:pt idx="237">
                  <c:v>46086</c:v>
                </c:pt>
                <c:pt idx="238">
                  <c:v>46087</c:v>
                </c:pt>
                <c:pt idx="239">
                  <c:v>46088</c:v>
                </c:pt>
                <c:pt idx="240">
                  <c:v>46089</c:v>
                </c:pt>
                <c:pt idx="241">
                  <c:v>46090</c:v>
                </c:pt>
                <c:pt idx="242">
                  <c:v>46091</c:v>
                </c:pt>
                <c:pt idx="243">
                  <c:v>46092</c:v>
                </c:pt>
                <c:pt idx="244">
                  <c:v>46093</c:v>
                </c:pt>
                <c:pt idx="245">
                  <c:v>46094</c:v>
                </c:pt>
                <c:pt idx="246">
                  <c:v>46095</c:v>
                </c:pt>
                <c:pt idx="247">
                  <c:v>46096</c:v>
                </c:pt>
                <c:pt idx="248">
                  <c:v>46097</c:v>
                </c:pt>
                <c:pt idx="249">
                  <c:v>46098</c:v>
                </c:pt>
                <c:pt idx="250">
                  <c:v>46099</c:v>
                </c:pt>
                <c:pt idx="251">
                  <c:v>46100</c:v>
                </c:pt>
                <c:pt idx="252">
                  <c:v>46101</c:v>
                </c:pt>
                <c:pt idx="253">
                  <c:v>46102</c:v>
                </c:pt>
                <c:pt idx="254">
                  <c:v>46103</c:v>
                </c:pt>
                <c:pt idx="255">
                  <c:v>46104</c:v>
                </c:pt>
                <c:pt idx="256">
                  <c:v>46105</c:v>
                </c:pt>
                <c:pt idx="257">
                  <c:v>46106</c:v>
                </c:pt>
                <c:pt idx="258">
                  <c:v>46107</c:v>
                </c:pt>
                <c:pt idx="259">
                  <c:v>46108</c:v>
                </c:pt>
                <c:pt idx="260">
                  <c:v>46109</c:v>
                </c:pt>
                <c:pt idx="261">
                  <c:v>46110</c:v>
                </c:pt>
                <c:pt idx="262">
                  <c:v>46111</c:v>
                </c:pt>
                <c:pt idx="263">
                  <c:v>46112</c:v>
                </c:pt>
                <c:pt idx="264">
                  <c:v>46113</c:v>
                </c:pt>
                <c:pt idx="265">
                  <c:v>46114</c:v>
                </c:pt>
                <c:pt idx="266">
                  <c:v>46115</c:v>
                </c:pt>
                <c:pt idx="267">
                  <c:v>46116</c:v>
                </c:pt>
                <c:pt idx="268">
                  <c:v>46117</c:v>
                </c:pt>
                <c:pt idx="269">
                  <c:v>46118</c:v>
                </c:pt>
                <c:pt idx="270">
                  <c:v>46119</c:v>
                </c:pt>
                <c:pt idx="271">
                  <c:v>46120</c:v>
                </c:pt>
                <c:pt idx="272">
                  <c:v>46121</c:v>
                </c:pt>
                <c:pt idx="273">
                  <c:v>46122</c:v>
                </c:pt>
                <c:pt idx="274">
                  <c:v>46123</c:v>
                </c:pt>
                <c:pt idx="275">
                  <c:v>46124</c:v>
                </c:pt>
                <c:pt idx="276">
                  <c:v>46125</c:v>
                </c:pt>
                <c:pt idx="277">
                  <c:v>46126</c:v>
                </c:pt>
                <c:pt idx="278">
                  <c:v>46127</c:v>
                </c:pt>
                <c:pt idx="279">
                  <c:v>46128</c:v>
                </c:pt>
                <c:pt idx="280">
                  <c:v>46129</c:v>
                </c:pt>
                <c:pt idx="281">
                  <c:v>46130</c:v>
                </c:pt>
                <c:pt idx="282">
                  <c:v>46131</c:v>
                </c:pt>
                <c:pt idx="283">
                  <c:v>46132</c:v>
                </c:pt>
                <c:pt idx="284">
                  <c:v>46133</c:v>
                </c:pt>
                <c:pt idx="285">
                  <c:v>46134</c:v>
                </c:pt>
                <c:pt idx="286">
                  <c:v>46135</c:v>
                </c:pt>
                <c:pt idx="287">
                  <c:v>46136</c:v>
                </c:pt>
                <c:pt idx="288">
                  <c:v>46137</c:v>
                </c:pt>
                <c:pt idx="289">
                  <c:v>46138</c:v>
                </c:pt>
                <c:pt idx="290">
                  <c:v>46139</c:v>
                </c:pt>
                <c:pt idx="291">
                  <c:v>46140</c:v>
                </c:pt>
                <c:pt idx="292">
                  <c:v>46141</c:v>
                </c:pt>
                <c:pt idx="293">
                  <c:v>46142</c:v>
                </c:pt>
                <c:pt idx="294">
                  <c:v>46143</c:v>
                </c:pt>
                <c:pt idx="295">
                  <c:v>46144</c:v>
                </c:pt>
                <c:pt idx="296">
                  <c:v>46145</c:v>
                </c:pt>
                <c:pt idx="297">
                  <c:v>46146</c:v>
                </c:pt>
              </c:numCache>
            </c:numRef>
          </c:cat>
          <c:val>
            <c:numRef>
              <c:f>Sheet1!$B$2:$B$299</c:f>
              <c:numCache>
                <c:formatCode>0.00</c:formatCode>
                <c:ptCount val="298"/>
                <c:pt idx="0">
                  <c:v>100</c:v>
                </c:pt>
                <c:pt idx="1">
                  <c:v>100</c:v>
                </c:pt>
                <c:pt idx="2">
                  <c:v>100</c:v>
                </c:pt>
                <c:pt idx="3">
                  <c:v>100</c:v>
                </c:pt>
                <c:pt idx="4">
                  <c:v>100</c:v>
                </c:pt>
                <c:pt idx="5">
                  <c:v>97.5</c:v>
                </c:pt>
                <c:pt idx="6">
                  <c:v>97</c:v>
                </c:pt>
                <c:pt idx="7">
                  <c:v>95</c:v>
                </c:pt>
                <c:pt idx="8">
                  <c:v>95</c:v>
                </c:pt>
                <c:pt idx="9">
                  <c:v>95</c:v>
                </c:pt>
                <c:pt idx="10">
                  <c:v>96</c:v>
                </c:pt>
                <c:pt idx="11">
                  <c:v>95</c:v>
                </c:pt>
                <c:pt idx="12">
                  <c:v>95</c:v>
                </c:pt>
                <c:pt idx="13">
                  <c:v>96</c:v>
                </c:pt>
                <c:pt idx="14">
                  <c:v>95</c:v>
                </c:pt>
                <c:pt idx="15">
                  <c:v>95</c:v>
                </c:pt>
                <c:pt idx="16">
                  <c:v>95</c:v>
                </c:pt>
                <c:pt idx="17">
                  <c:v>95</c:v>
                </c:pt>
                <c:pt idx="18">
                  <c:v>94.5</c:v>
                </c:pt>
                <c:pt idx="19">
                  <c:v>93.5</c:v>
                </c:pt>
                <c:pt idx="20">
                  <c:v>94</c:v>
                </c:pt>
                <c:pt idx="21">
                  <c:v>94</c:v>
                </c:pt>
                <c:pt idx="22">
                  <c:v>94</c:v>
                </c:pt>
                <c:pt idx="23">
                  <c:v>94</c:v>
                </c:pt>
                <c:pt idx="24">
                  <c:v>95</c:v>
                </c:pt>
                <c:pt idx="25">
                  <c:v>94</c:v>
                </c:pt>
                <c:pt idx="26">
                  <c:v>94</c:v>
                </c:pt>
                <c:pt idx="27">
                  <c:v>94</c:v>
                </c:pt>
                <c:pt idx="28">
                  <c:v>94.5</c:v>
                </c:pt>
                <c:pt idx="29">
                  <c:v>94.5</c:v>
                </c:pt>
                <c:pt idx="30">
                  <c:v>94.5</c:v>
                </c:pt>
                <c:pt idx="31">
                  <c:v>94.5</c:v>
                </c:pt>
                <c:pt idx="32">
                  <c:v>93.5</c:v>
                </c:pt>
                <c:pt idx="33">
                  <c:v>93.5</c:v>
                </c:pt>
                <c:pt idx="34">
                  <c:v>93</c:v>
                </c:pt>
                <c:pt idx="35">
                  <c:v>93.5</c:v>
                </c:pt>
                <c:pt idx="36">
                  <c:v>93.5</c:v>
                </c:pt>
                <c:pt idx="37">
                  <c:v>93.5</c:v>
                </c:pt>
                <c:pt idx="38">
                  <c:v>94.5</c:v>
                </c:pt>
                <c:pt idx="39">
                  <c:v>94.5</c:v>
                </c:pt>
                <c:pt idx="40">
                  <c:v>93.5</c:v>
                </c:pt>
                <c:pt idx="41">
                  <c:v>95</c:v>
                </c:pt>
                <c:pt idx="42">
                  <c:v>94.5</c:v>
                </c:pt>
                <c:pt idx="43">
                  <c:v>94.5</c:v>
                </c:pt>
                <c:pt idx="44">
                  <c:v>94.5</c:v>
                </c:pt>
                <c:pt idx="45">
                  <c:v>95</c:v>
                </c:pt>
                <c:pt idx="46">
                  <c:v>94.5</c:v>
                </c:pt>
                <c:pt idx="47">
                  <c:v>94.5</c:v>
                </c:pt>
                <c:pt idx="48">
                  <c:v>94.5</c:v>
                </c:pt>
                <c:pt idx="49">
                  <c:v>94</c:v>
                </c:pt>
                <c:pt idx="50">
                  <c:v>94</c:v>
                </c:pt>
                <c:pt idx="51">
                  <c:v>94</c:v>
                </c:pt>
                <c:pt idx="52">
                  <c:v>94.5</c:v>
                </c:pt>
                <c:pt idx="53">
                  <c:v>94</c:v>
                </c:pt>
                <c:pt idx="54">
                  <c:v>94</c:v>
                </c:pt>
                <c:pt idx="55">
                  <c:v>93.5</c:v>
                </c:pt>
                <c:pt idx="56">
                  <c:v>95</c:v>
                </c:pt>
                <c:pt idx="57">
                  <c:v>95</c:v>
                </c:pt>
                <c:pt idx="58">
                  <c:v>95</c:v>
                </c:pt>
                <c:pt idx="59">
                  <c:v>94</c:v>
                </c:pt>
                <c:pt idx="60">
                  <c:v>94.5</c:v>
                </c:pt>
                <c:pt idx="61">
                  <c:v>95</c:v>
                </c:pt>
                <c:pt idx="62">
                  <c:v>95</c:v>
                </c:pt>
                <c:pt idx="63">
                  <c:v>95.5</c:v>
                </c:pt>
                <c:pt idx="64">
                  <c:v>95.5</c:v>
                </c:pt>
                <c:pt idx="65">
                  <c:v>95.5</c:v>
                </c:pt>
                <c:pt idx="66">
                  <c:v>97.5</c:v>
                </c:pt>
                <c:pt idx="67">
                  <c:v>99</c:v>
                </c:pt>
                <c:pt idx="68">
                  <c:v>99</c:v>
                </c:pt>
                <c:pt idx="69">
                  <c:v>100</c:v>
                </c:pt>
                <c:pt idx="70">
                  <c:v>101</c:v>
                </c:pt>
                <c:pt idx="71">
                  <c:v>101</c:v>
                </c:pt>
                <c:pt idx="72">
                  <c:v>101</c:v>
                </c:pt>
                <c:pt idx="73">
                  <c:v>99.5</c:v>
                </c:pt>
                <c:pt idx="74">
                  <c:v>100</c:v>
                </c:pt>
                <c:pt idx="75">
                  <c:v>100</c:v>
                </c:pt>
                <c:pt idx="76">
                  <c:v>99.5</c:v>
                </c:pt>
                <c:pt idx="77">
                  <c:v>100</c:v>
                </c:pt>
                <c:pt idx="78">
                  <c:v>100</c:v>
                </c:pt>
                <c:pt idx="79">
                  <c:v>100</c:v>
                </c:pt>
                <c:pt idx="80">
                  <c:v>101</c:v>
                </c:pt>
                <c:pt idx="81">
                  <c:v>100</c:v>
                </c:pt>
                <c:pt idx="82">
                  <c:v>101</c:v>
                </c:pt>
                <c:pt idx="83">
                  <c:v>101</c:v>
                </c:pt>
                <c:pt idx="84">
                  <c:v>102</c:v>
                </c:pt>
                <c:pt idx="85">
                  <c:v>102</c:v>
                </c:pt>
                <c:pt idx="86">
                  <c:v>102</c:v>
                </c:pt>
                <c:pt idx="87">
                  <c:v>102</c:v>
                </c:pt>
                <c:pt idx="88">
                  <c:v>104</c:v>
                </c:pt>
                <c:pt idx="89">
                  <c:v>106</c:v>
                </c:pt>
                <c:pt idx="90">
                  <c:v>105</c:v>
                </c:pt>
                <c:pt idx="91">
                  <c:v>104</c:v>
                </c:pt>
                <c:pt idx="92">
                  <c:v>104</c:v>
                </c:pt>
                <c:pt idx="93">
                  <c:v>104</c:v>
                </c:pt>
                <c:pt idx="94">
                  <c:v>104</c:v>
                </c:pt>
                <c:pt idx="95">
                  <c:v>105</c:v>
                </c:pt>
                <c:pt idx="96">
                  <c:v>104</c:v>
                </c:pt>
                <c:pt idx="97">
                  <c:v>104</c:v>
                </c:pt>
                <c:pt idx="98">
                  <c:v>104</c:v>
                </c:pt>
                <c:pt idx="99">
                  <c:v>104</c:v>
                </c:pt>
                <c:pt idx="100">
                  <c:v>104</c:v>
                </c:pt>
                <c:pt idx="101">
                  <c:v>104</c:v>
                </c:pt>
                <c:pt idx="102">
                  <c:v>103</c:v>
                </c:pt>
                <c:pt idx="103">
                  <c:v>103</c:v>
                </c:pt>
                <c:pt idx="104">
                  <c:v>102</c:v>
                </c:pt>
                <c:pt idx="105">
                  <c:v>103</c:v>
                </c:pt>
                <c:pt idx="106" formatCode="General">
                  <c:v>103</c:v>
                </c:pt>
                <c:pt idx="107" formatCode="General">
                  <c:v>103</c:v>
                </c:pt>
                <c:pt idx="108" formatCode="General">
                  <c:v>102</c:v>
                </c:pt>
                <c:pt idx="109" formatCode="General">
                  <c:v>102</c:v>
                </c:pt>
                <c:pt idx="110" formatCode="General">
                  <c:v>102</c:v>
                </c:pt>
                <c:pt idx="111" formatCode="General">
                  <c:v>101</c:v>
                </c:pt>
                <c:pt idx="112" formatCode="General">
                  <c:v>101</c:v>
                </c:pt>
                <c:pt idx="113" formatCode="General">
                  <c:v>101</c:v>
                </c:pt>
                <c:pt idx="114" formatCode="General">
                  <c:v>101</c:v>
                </c:pt>
                <c:pt idx="115" formatCode="General">
                  <c:v>101</c:v>
                </c:pt>
                <c:pt idx="116" formatCode="General">
                  <c:v>100</c:v>
                </c:pt>
                <c:pt idx="117" formatCode="General">
                  <c:v>102</c:v>
                </c:pt>
                <c:pt idx="118" formatCode="General">
                  <c:v>100</c:v>
                </c:pt>
                <c:pt idx="119" formatCode="General">
                  <c:v>101</c:v>
                </c:pt>
                <c:pt idx="120" formatCode="General">
                  <c:v>101</c:v>
                </c:pt>
                <c:pt idx="121" formatCode="General">
                  <c:v>101</c:v>
                </c:pt>
                <c:pt idx="122" formatCode="General">
                  <c:v>101</c:v>
                </c:pt>
                <c:pt idx="123" formatCode="General">
                  <c:v>101</c:v>
                </c:pt>
                <c:pt idx="124" formatCode="General">
                  <c:v>101</c:v>
                </c:pt>
                <c:pt idx="125" formatCode="General">
                  <c:v>101</c:v>
                </c:pt>
                <c:pt idx="126" formatCode="General">
                  <c:v>101</c:v>
                </c:pt>
                <c:pt idx="127" formatCode="General">
                  <c:v>101</c:v>
                </c:pt>
                <c:pt idx="128" formatCode="General">
                  <c:v>101</c:v>
                </c:pt>
                <c:pt idx="129" formatCode="General">
                  <c:v>99.5</c:v>
                </c:pt>
                <c:pt idx="130" formatCode="General">
                  <c:v>99.5</c:v>
                </c:pt>
                <c:pt idx="131" formatCode="General">
                  <c:v>98.5</c:v>
                </c:pt>
                <c:pt idx="132" formatCode="General">
                  <c:v>99.5</c:v>
                </c:pt>
                <c:pt idx="133" formatCode="General">
                  <c:v>98.5</c:v>
                </c:pt>
                <c:pt idx="134" formatCode="General">
                  <c:v>98.5</c:v>
                </c:pt>
                <c:pt idx="135" formatCode="General">
                  <c:v>98.5</c:v>
                </c:pt>
                <c:pt idx="136" formatCode="General">
                  <c:v>97.5</c:v>
                </c:pt>
                <c:pt idx="137" formatCode="General">
                  <c:v>98.5</c:v>
                </c:pt>
                <c:pt idx="138" formatCode="General">
                  <c:v>98</c:v>
                </c:pt>
                <c:pt idx="139" formatCode="General">
                  <c:v>98</c:v>
                </c:pt>
                <c:pt idx="140" formatCode="General">
                  <c:v>96</c:v>
                </c:pt>
                <c:pt idx="141" formatCode="General">
                  <c:v>96</c:v>
                </c:pt>
                <c:pt idx="142" formatCode="General">
                  <c:v>96</c:v>
                </c:pt>
                <c:pt idx="143" formatCode="General">
                  <c:v>94.5</c:v>
                </c:pt>
                <c:pt idx="144" formatCode="General">
                  <c:v>96</c:v>
                </c:pt>
                <c:pt idx="145" formatCode="General">
                  <c:v>97</c:v>
                </c:pt>
                <c:pt idx="146" formatCode="General">
                  <c:v>96.5</c:v>
                </c:pt>
                <c:pt idx="147" formatCode="General">
                  <c:v>96.5</c:v>
                </c:pt>
                <c:pt idx="148" formatCode="General">
                  <c:v>96.5</c:v>
                </c:pt>
                <c:pt idx="149" formatCode="General">
                  <c:v>96.5</c:v>
                </c:pt>
                <c:pt idx="150" formatCode="General">
                  <c:v>96.5</c:v>
                </c:pt>
                <c:pt idx="151" formatCode="General">
                  <c:v>96.5</c:v>
                </c:pt>
                <c:pt idx="152" formatCode="General">
                  <c:v>97.5</c:v>
                </c:pt>
                <c:pt idx="153" formatCode="General">
                  <c:v>97.5</c:v>
                </c:pt>
                <c:pt idx="154" formatCode="General">
                  <c:v>96.5</c:v>
                </c:pt>
                <c:pt idx="155" formatCode="General">
                  <c:v>96.5</c:v>
                </c:pt>
                <c:pt idx="156" formatCode="General">
                  <c:v>96.5</c:v>
                </c:pt>
                <c:pt idx="157" formatCode="General">
                  <c:v>97.5</c:v>
                </c:pt>
                <c:pt idx="158" formatCode="General">
                  <c:v>96</c:v>
                </c:pt>
                <c:pt idx="159" formatCode="General">
                  <c:v>97</c:v>
                </c:pt>
                <c:pt idx="160" formatCode="General">
                  <c:v>99</c:v>
                </c:pt>
                <c:pt idx="161" formatCode="General">
                  <c:v>103</c:v>
                </c:pt>
                <c:pt idx="162" formatCode="General">
                  <c:v>103</c:v>
                </c:pt>
                <c:pt idx="163" formatCode="General">
                  <c:v>103</c:v>
                </c:pt>
                <c:pt idx="164" formatCode="General">
                  <c:v>100</c:v>
                </c:pt>
                <c:pt idx="165" formatCode="General">
                  <c:v>99.5</c:v>
                </c:pt>
                <c:pt idx="166" formatCode="General">
                  <c:v>99</c:v>
                </c:pt>
                <c:pt idx="167" formatCode="General">
                  <c:v>99</c:v>
                </c:pt>
                <c:pt idx="168" formatCode="General">
                  <c:v>98.5</c:v>
                </c:pt>
                <c:pt idx="169" formatCode="General">
                  <c:v>98.5</c:v>
                </c:pt>
                <c:pt idx="170" formatCode="General">
                  <c:v>98.5</c:v>
                </c:pt>
                <c:pt idx="171" formatCode="General">
                  <c:v>101</c:v>
                </c:pt>
                <c:pt idx="172" formatCode="General">
                  <c:v>100</c:v>
                </c:pt>
                <c:pt idx="173" formatCode="General">
                  <c:v>102</c:v>
                </c:pt>
                <c:pt idx="174" formatCode="General">
                  <c:v>102</c:v>
                </c:pt>
                <c:pt idx="175" formatCode="General">
                  <c:v>101</c:v>
                </c:pt>
                <c:pt idx="176" formatCode="General">
                  <c:v>101</c:v>
                </c:pt>
                <c:pt idx="177" formatCode="General">
                  <c:v>101</c:v>
                </c:pt>
                <c:pt idx="178" formatCode="General">
                  <c:v>100</c:v>
                </c:pt>
                <c:pt idx="179" formatCode="General">
                  <c:v>101</c:v>
                </c:pt>
                <c:pt idx="180" formatCode="General">
                  <c:v>101</c:v>
                </c:pt>
                <c:pt idx="181" formatCode="General">
                  <c:v>101</c:v>
                </c:pt>
                <c:pt idx="182" formatCode="General">
                  <c:v>100</c:v>
                </c:pt>
                <c:pt idx="183" formatCode="General">
                  <c:v>100</c:v>
                </c:pt>
                <c:pt idx="184" formatCode="General">
                  <c:v>100</c:v>
                </c:pt>
                <c:pt idx="185" formatCode="General">
                  <c:v>102</c:v>
                </c:pt>
                <c:pt idx="186" formatCode="General">
                  <c:v>101</c:v>
                </c:pt>
                <c:pt idx="187" formatCode="General">
                  <c:v>101</c:v>
                </c:pt>
                <c:pt idx="188" formatCode="General">
                  <c:v>101</c:v>
                </c:pt>
                <c:pt idx="189" formatCode="General">
                  <c:v>101</c:v>
                </c:pt>
                <c:pt idx="190" formatCode="General">
                  <c:v>101</c:v>
                </c:pt>
                <c:pt idx="191" formatCode="General">
                  <c:v>101</c:v>
                </c:pt>
                <c:pt idx="192" formatCode="General">
                  <c:v>102</c:v>
                </c:pt>
                <c:pt idx="193" formatCode="General">
                  <c:v>105</c:v>
                </c:pt>
                <c:pt idx="194" formatCode="General">
                  <c:v>105</c:v>
                </c:pt>
                <c:pt idx="195" formatCode="General">
                  <c:v>104</c:v>
                </c:pt>
                <c:pt idx="196" formatCode="General">
                  <c:v>101</c:v>
                </c:pt>
                <c:pt idx="197" formatCode="General">
                  <c:v>101</c:v>
                </c:pt>
                <c:pt idx="198" formatCode="General">
                  <c:v>101</c:v>
                </c:pt>
                <c:pt idx="199" formatCode="General">
                  <c:v>100</c:v>
                </c:pt>
                <c:pt idx="200" formatCode="General">
                  <c:v>100</c:v>
                </c:pt>
                <c:pt idx="201" formatCode="General">
                  <c:v>101</c:v>
                </c:pt>
                <c:pt idx="202" formatCode="General">
                  <c:v>100</c:v>
                </c:pt>
                <c:pt idx="203" formatCode="General">
                  <c:v>102</c:v>
                </c:pt>
                <c:pt idx="204" formatCode="General">
                  <c:v>102</c:v>
                </c:pt>
                <c:pt idx="205" formatCode="General">
                  <c:v>102</c:v>
                </c:pt>
                <c:pt idx="206" formatCode="General">
                  <c:v>104</c:v>
                </c:pt>
                <c:pt idx="207" formatCode="General">
                  <c:v>103</c:v>
                </c:pt>
                <c:pt idx="208" formatCode="General">
                  <c:v>103</c:v>
                </c:pt>
                <c:pt idx="209" formatCode="General">
                  <c:v>102</c:v>
                </c:pt>
                <c:pt idx="210" formatCode="General">
                  <c:v>100</c:v>
                </c:pt>
                <c:pt idx="211" formatCode="General">
                  <c:v>100</c:v>
                </c:pt>
                <c:pt idx="212" formatCode="General">
                  <c:v>100</c:v>
                </c:pt>
                <c:pt idx="213" formatCode="General">
                  <c:v>100</c:v>
                </c:pt>
                <c:pt idx="214" formatCode="General">
                  <c:v>101</c:v>
                </c:pt>
                <c:pt idx="215" formatCode="General">
                  <c:v>101</c:v>
                </c:pt>
                <c:pt idx="216" formatCode="General">
                  <c:v>100</c:v>
                </c:pt>
                <c:pt idx="217" formatCode="General">
                  <c:v>99.5</c:v>
                </c:pt>
                <c:pt idx="218" formatCode="General">
                  <c:v>99.5</c:v>
                </c:pt>
                <c:pt idx="219" formatCode="General">
                  <c:v>99.5</c:v>
                </c:pt>
                <c:pt idx="220" formatCode="General">
                  <c:v>100</c:v>
                </c:pt>
                <c:pt idx="221" formatCode="General">
                  <c:v>100</c:v>
                </c:pt>
                <c:pt idx="222" formatCode="General">
                  <c:v>100</c:v>
                </c:pt>
                <c:pt idx="223" formatCode="General">
                  <c:v>99.5</c:v>
                </c:pt>
                <c:pt idx="224" formatCode="General">
                  <c:v>99.5</c:v>
                </c:pt>
                <c:pt idx="225" formatCode="General">
                  <c:v>99.5</c:v>
                </c:pt>
                <c:pt idx="226" formatCode="General">
                  <c:v>99.5</c:v>
                </c:pt>
                <c:pt idx="227" formatCode="General">
                  <c:v>100</c:v>
                </c:pt>
                <c:pt idx="228" formatCode="General">
                  <c:v>99.5</c:v>
                </c:pt>
                <c:pt idx="229" formatCode="General">
                  <c:v>99.5</c:v>
                </c:pt>
                <c:pt idx="230" formatCode="General">
                  <c:v>99.5</c:v>
                </c:pt>
                <c:pt idx="231" formatCode="General">
                  <c:v>99.5</c:v>
                </c:pt>
                <c:pt idx="232" formatCode="General">
                  <c:v>99.5</c:v>
                </c:pt>
                <c:pt idx="233" formatCode="General">
                  <c:v>99.5</c:v>
                </c:pt>
                <c:pt idx="234" formatCode="General">
                  <c:v>97</c:v>
                </c:pt>
                <c:pt idx="235" formatCode="General">
                  <c:v>97.5</c:v>
                </c:pt>
                <c:pt idx="236" formatCode="General">
                  <c:v>95.5</c:v>
                </c:pt>
                <c:pt idx="237" formatCode="General">
                  <c:v>96</c:v>
                </c:pt>
                <c:pt idx="238" formatCode="General">
                  <c:v>95.5</c:v>
                </c:pt>
                <c:pt idx="239" formatCode="General">
                  <c:v>95.5</c:v>
                </c:pt>
                <c:pt idx="240" formatCode="General">
                  <c:v>95.5</c:v>
                </c:pt>
                <c:pt idx="241" formatCode="General">
                  <c:v>94</c:v>
                </c:pt>
                <c:pt idx="242" formatCode="General">
                  <c:v>96.5</c:v>
                </c:pt>
                <c:pt idx="243" formatCode="General">
                  <c:v>96</c:v>
                </c:pt>
                <c:pt idx="244" formatCode="General">
                  <c:v>96.5</c:v>
                </c:pt>
                <c:pt idx="245" formatCode="General">
                  <c:v>95.5</c:v>
                </c:pt>
                <c:pt idx="246" formatCode="General">
                  <c:v>95.5</c:v>
                </c:pt>
                <c:pt idx="247" formatCode="General">
                  <c:v>95.5</c:v>
                </c:pt>
                <c:pt idx="248" formatCode="General">
                  <c:v>95.5</c:v>
                </c:pt>
                <c:pt idx="249" formatCode="General">
                  <c:v>95</c:v>
                </c:pt>
                <c:pt idx="250" formatCode="General">
                  <c:v>93.5</c:v>
                </c:pt>
                <c:pt idx="251" formatCode="General">
                  <c:v>94</c:v>
                </c:pt>
                <c:pt idx="252" formatCode="General">
                  <c:v>95.5</c:v>
                </c:pt>
                <c:pt idx="253" formatCode="General">
                  <c:v>95.5</c:v>
                </c:pt>
                <c:pt idx="254" formatCode="General">
                  <c:v>95.5</c:v>
                </c:pt>
                <c:pt idx="255" formatCode="General">
                  <c:v>91</c:v>
                </c:pt>
                <c:pt idx="256" formatCode="General">
                  <c:v>92</c:v>
                </c:pt>
                <c:pt idx="257" formatCode="General">
                  <c:v>93.5</c:v>
                </c:pt>
                <c:pt idx="258" formatCode="General">
                  <c:v>90.5</c:v>
                </c:pt>
                <c:pt idx="259" formatCode="General">
                  <c:v>92</c:v>
                </c:pt>
                <c:pt idx="260" formatCode="General">
                  <c:v>92</c:v>
                </c:pt>
                <c:pt idx="261" formatCode="General">
                  <c:v>92</c:v>
                </c:pt>
                <c:pt idx="262" formatCode="General">
                  <c:v>91</c:v>
                </c:pt>
                <c:pt idx="263" formatCode="General">
                  <c:v>91.5</c:v>
                </c:pt>
                <c:pt idx="264" formatCode="General">
                  <c:v>93</c:v>
                </c:pt>
                <c:pt idx="265" formatCode="General">
                  <c:v>91.5</c:v>
                </c:pt>
                <c:pt idx="266" formatCode="General">
                  <c:v>91.5</c:v>
                </c:pt>
                <c:pt idx="267" formatCode="General">
                  <c:v>91.5</c:v>
                </c:pt>
                <c:pt idx="268" formatCode="General">
                  <c:v>91.5</c:v>
                </c:pt>
                <c:pt idx="269" formatCode="General">
                  <c:v>92</c:v>
                </c:pt>
                <c:pt idx="270" formatCode="General">
                  <c:v>91.5</c:v>
                </c:pt>
                <c:pt idx="271" formatCode="General">
                  <c:v>93.5</c:v>
                </c:pt>
                <c:pt idx="272" formatCode="General">
                  <c:v>93</c:v>
                </c:pt>
                <c:pt idx="273" formatCode="General">
                  <c:v>93</c:v>
                </c:pt>
                <c:pt idx="274" formatCode="General">
                  <c:v>93</c:v>
                </c:pt>
                <c:pt idx="275" formatCode="General">
                  <c:v>93</c:v>
                </c:pt>
                <c:pt idx="276" formatCode="General">
                  <c:v>95</c:v>
                </c:pt>
                <c:pt idx="277" formatCode="General">
                  <c:v>95.5</c:v>
                </c:pt>
                <c:pt idx="278" formatCode="General">
                  <c:v>96</c:v>
                </c:pt>
                <c:pt idx="279" formatCode="General">
                  <c:v>96.5</c:v>
                </c:pt>
                <c:pt idx="280" formatCode="General">
                  <c:v>95.5</c:v>
                </c:pt>
                <c:pt idx="281" formatCode="General">
                  <c:v>95.5</c:v>
                </c:pt>
                <c:pt idx="282" formatCode="General">
                  <c:v>95.5</c:v>
                </c:pt>
                <c:pt idx="283" formatCode="General">
                  <c:v>95.5</c:v>
                </c:pt>
                <c:pt idx="284" formatCode="General">
                  <c:v>97</c:v>
                </c:pt>
                <c:pt idx="285" formatCode="General">
                  <c:v>97.5</c:v>
                </c:pt>
                <c:pt idx="286" formatCode="General">
                  <c:v>98</c:v>
                </c:pt>
                <c:pt idx="287" formatCode="General">
                  <c:v>97.5</c:v>
                </c:pt>
                <c:pt idx="288" formatCode="General">
                  <c:v>97.5</c:v>
                </c:pt>
                <c:pt idx="289" formatCode="General">
                  <c:v>97.5</c:v>
                </c:pt>
                <c:pt idx="290" formatCode="General">
                  <c:v>98.5</c:v>
                </c:pt>
                <c:pt idx="291" formatCode="General">
                  <c:v>97.5</c:v>
                </c:pt>
                <c:pt idx="292" formatCode="General">
                  <c:v>97</c:v>
                </c:pt>
                <c:pt idx="293" formatCode="General">
                  <c:v>98</c:v>
                </c:pt>
                <c:pt idx="294" formatCode="General">
                  <c:v>98</c:v>
                </c:pt>
                <c:pt idx="295" formatCode="General">
                  <c:v>98</c:v>
                </c:pt>
                <c:pt idx="296" formatCode="General">
                  <c:v>98</c:v>
                </c:pt>
                <c:pt idx="297" formatCode="General">
                  <c:v>99</c:v>
                </c:pt>
              </c:numCache>
            </c:numRef>
          </c:val>
          <c:smooth val="0"/>
          <c:extLst>
            <c:ext xmlns:c16="http://schemas.microsoft.com/office/drawing/2014/chart" uri="{C3380CC4-5D6E-409C-BE32-E72D297353CC}">
              <c16:uniqueId val="{00000001-3C62-49C9-B6DB-E3240FFD6DED}"/>
            </c:ext>
          </c:extLst>
        </c:ser>
        <c:ser>
          <c:idx val="2"/>
          <c:order val="2"/>
          <c:tx>
            <c:strRef>
              <c:f>Sheet1!$D$1</c:f>
              <c:strCache>
                <c:ptCount val="1"/>
                <c:pt idx="0">
                  <c:v>FTSE ST REIT Index</c:v>
                </c:pt>
              </c:strCache>
            </c:strRef>
          </c:tx>
          <c:spPr>
            <a:ln w="19050" cap="rnd">
              <a:solidFill>
                <a:schemeClr val="tx1">
                  <a:lumMod val="50000"/>
                  <a:lumOff val="50000"/>
                </a:schemeClr>
              </a:solidFill>
              <a:round/>
            </a:ln>
            <a:effectLst/>
          </c:spPr>
          <c:marker>
            <c:symbol val="none"/>
          </c:marker>
          <c:cat>
            <c:numRef>
              <c:f>Sheet1!$A$2:$A$299</c:f>
              <c:numCache>
                <c:formatCode>m/d/yyyy</c:formatCode>
                <c:ptCount val="298"/>
                <c:pt idx="0">
                  <c:v>45849</c:v>
                </c:pt>
                <c:pt idx="1">
                  <c:v>45850</c:v>
                </c:pt>
                <c:pt idx="2">
                  <c:v>45851</c:v>
                </c:pt>
                <c:pt idx="3">
                  <c:v>45852</c:v>
                </c:pt>
                <c:pt idx="4">
                  <c:v>45853</c:v>
                </c:pt>
                <c:pt idx="5">
                  <c:v>45854</c:v>
                </c:pt>
                <c:pt idx="6">
                  <c:v>45855</c:v>
                </c:pt>
                <c:pt idx="7">
                  <c:v>45856</c:v>
                </c:pt>
                <c:pt idx="8">
                  <c:v>45857</c:v>
                </c:pt>
                <c:pt idx="9">
                  <c:v>45858</c:v>
                </c:pt>
                <c:pt idx="10">
                  <c:v>45859</c:v>
                </c:pt>
                <c:pt idx="11">
                  <c:v>45860</c:v>
                </c:pt>
                <c:pt idx="12">
                  <c:v>45861</c:v>
                </c:pt>
                <c:pt idx="13">
                  <c:v>45862</c:v>
                </c:pt>
                <c:pt idx="14">
                  <c:v>45863</c:v>
                </c:pt>
                <c:pt idx="15">
                  <c:v>45864</c:v>
                </c:pt>
                <c:pt idx="16">
                  <c:v>45865</c:v>
                </c:pt>
                <c:pt idx="17">
                  <c:v>45866</c:v>
                </c:pt>
                <c:pt idx="18">
                  <c:v>45867</c:v>
                </c:pt>
                <c:pt idx="19">
                  <c:v>45868</c:v>
                </c:pt>
                <c:pt idx="20">
                  <c:v>45869</c:v>
                </c:pt>
                <c:pt idx="21">
                  <c:v>45870</c:v>
                </c:pt>
                <c:pt idx="22">
                  <c:v>45871</c:v>
                </c:pt>
                <c:pt idx="23">
                  <c:v>45872</c:v>
                </c:pt>
                <c:pt idx="24">
                  <c:v>45873</c:v>
                </c:pt>
                <c:pt idx="25">
                  <c:v>45874</c:v>
                </c:pt>
                <c:pt idx="26">
                  <c:v>45875</c:v>
                </c:pt>
                <c:pt idx="27">
                  <c:v>45876</c:v>
                </c:pt>
                <c:pt idx="28">
                  <c:v>45877</c:v>
                </c:pt>
                <c:pt idx="29">
                  <c:v>45878</c:v>
                </c:pt>
                <c:pt idx="30">
                  <c:v>45879</c:v>
                </c:pt>
                <c:pt idx="31">
                  <c:v>45880</c:v>
                </c:pt>
                <c:pt idx="32">
                  <c:v>45881</c:v>
                </c:pt>
                <c:pt idx="33">
                  <c:v>45882</c:v>
                </c:pt>
                <c:pt idx="34">
                  <c:v>45883</c:v>
                </c:pt>
                <c:pt idx="35">
                  <c:v>45884</c:v>
                </c:pt>
                <c:pt idx="36">
                  <c:v>45885</c:v>
                </c:pt>
                <c:pt idx="37">
                  <c:v>45886</c:v>
                </c:pt>
                <c:pt idx="38">
                  <c:v>45887</c:v>
                </c:pt>
                <c:pt idx="39">
                  <c:v>45888</c:v>
                </c:pt>
                <c:pt idx="40">
                  <c:v>45889</c:v>
                </c:pt>
                <c:pt idx="41">
                  <c:v>45890</c:v>
                </c:pt>
                <c:pt idx="42">
                  <c:v>45891</c:v>
                </c:pt>
                <c:pt idx="43">
                  <c:v>45892</c:v>
                </c:pt>
                <c:pt idx="44">
                  <c:v>45893</c:v>
                </c:pt>
                <c:pt idx="45">
                  <c:v>45894</c:v>
                </c:pt>
                <c:pt idx="46">
                  <c:v>45895</c:v>
                </c:pt>
                <c:pt idx="47">
                  <c:v>45896</c:v>
                </c:pt>
                <c:pt idx="48">
                  <c:v>45897</c:v>
                </c:pt>
                <c:pt idx="49">
                  <c:v>45898</c:v>
                </c:pt>
                <c:pt idx="50">
                  <c:v>45899</c:v>
                </c:pt>
                <c:pt idx="51">
                  <c:v>45900</c:v>
                </c:pt>
                <c:pt idx="52">
                  <c:v>45901</c:v>
                </c:pt>
                <c:pt idx="53">
                  <c:v>45902</c:v>
                </c:pt>
                <c:pt idx="54">
                  <c:v>45903</c:v>
                </c:pt>
                <c:pt idx="55">
                  <c:v>45904</c:v>
                </c:pt>
                <c:pt idx="56">
                  <c:v>45905</c:v>
                </c:pt>
                <c:pt idx="57">
                  <c:v>45906</c:v>
                </c:pt>
                <c:pt idx="58">
                  <c:v>45907</c:v>
                </c:pt>
                <c:pt idx="59">
                  <c:v>45908</c:v>
                </c:pt>
                <c:pt idx="60">
                  <c:v>45909</c:v>
                </c:pt>
                <c:pt idx="61">
                  <c:v>45910</c:v>
                </c:pt>
                <c:pt idx="62">
                  <c:v>45911</c:v>
                </c:pt>
                <c:pt idx="63">
                  <c:v>45912</c:v>
                </c:pt>
                <c:pt idx="64">
                  <c:v>45913</c:v>
                </c:pt>
                <c:pt idx="65">
                  <c:v>45914</c:v>
                </c:pt>
                <c:pt idx="66">
                  <c:v>45915</c:v>
                </c:pt>
                <c:pt idx="67">
                  <c:v>45916</c:v>
                </c:pt>
                <c:pt idx="68">
                  <c:v>45917</c:v>
                </c:pt>
                <c:pt idx="69">
                  <c:v>45918</c:v>
                </c:pt>
                <c:pt idx="70">
                  <c:v>45919</c:v>
                </c:pt>
                <c:pt idx="71">
                  <c:v>45920</c:v>
                </c:pt>
                <c:pt idx="72">
                  <c:v>45921</c:v>
                </c:pt>
                <c:pt idx="73">
                  <c:v>45922</c:v>
                </c:pt>
                <c:pt idx="74">
                  <c:v>45923</c:v>
                </c:pt>
                <c:pt idx="75">
                  <c:v>45924</c:v>
                </c:pt>
                <c:pt idx="76">
                  <c:v>45925</c:v>
                </c:pt>
                <c:pt idx="77">
                  <c:v>45926</c:v>
                </c:pt>
                <c:pt idx="78">
                  <c:v>45927</c:v>
                </c:pt>
                <c:pt idx="79">
                  <c:v>45928</c:v>
                </c:pt>
                <c:pt idx="80">
                  <c:v>45929</c:v>
                </c:pt>
                <c:pt idx="81">
                  <c:v>45930</c:v>
                </c:pt>
                <c:pt idx="82">
                  <c:v>45931</c:v>
                </c:pt>
                <c:pt idx="83">
                  <c:v>45932</c:v>
                </c:pt>
                <c:pt idx="84">
                  <c:v>45933</c:v>
                </c:pt>
                <c:pt idx="85">
                  <c:v>45934</c:v>
                </c:pt>
                <c:pt idx="86">
                  <c:v>45935</c:v>
                </c:pt>
                <c:pt idx="87">
                  <c:v>45936</c:v>
                </c:pt>
                <c:pt idx="88">
                  <c:v>45937</c:v>
                </c:pt>
                <c:pt idx="89">
                  <c:v>45938</c:v>
                </c:pt>
                <c:pt idx="90">
                  <c:v>45939</c:v>
                </c:pt>
                <c:pt idx="91">
                  <c:v>45940</c:v>
                </c:pt>
                <c:pt idx="92">
                  <c:v>45941</c:v>
                </c:pt>
                <c:pt idx="93">
                  <c:v>45942</c:v>
                </c:pt>
                <c:pt idx="94">
                  <c:v>45943</c:v>
                </c:pt>
                <c:pt idx="95">
                  <c:v>45944</c:v>
                </c:pt>
                <c:pt idx="96">
                  <c:v>45945</c:v>
                </c:pt>
                <c:pt idx="97">
                  <c:v>45946</c:v>
                </c:pt>
                <c:pt idx="98">
                  <c:v>45947</c:v>
                </c:pt>
                <c:pt idx="99">
                  <c:v>45948</c:v>
                </c:pt>
                <c:pt idx="100">
                  <c:v>45949</c:v>
                </c:pt>
                <c:pt idx="101">
                  <c:v>45950</c:v>
                </c:pt>
                <c:pt idx="102">
                  <c:v>45951</c:v>
                </c:pt>
                <c:pt idx="103">
                  <c:v>45952</c:v>
                </c:pt>
                <c:pt idx="104">
                  <c:v>45953</c:v>
                </c:pt>
                <c:pt idx="105">
                  <c:v>45954</c:v>
                </c:pt>
                <c:pt idx="106">
                  <c:v>45955</c:v>
                </c:pt>
                <c:pt idx="107">
                  <c:v>45956</c:v>
                </c:pt>
                <c:pt idx="108">
                  <c:v>45957</c:v>
                </c:pt>
                <c:pt idx="109">
                  <c:v>45958</c:v>
                </c:pt>
                <c:pt idx="110">
                  <c:v>45959</c:v>
                </c:pt>
                <c:pt idx="111">
                  <c:v>45960</c:v>
                </c:pt>
                <c:pt idx="112">
                  <c:v>45961</c:v>
                </c:pt>
                <c:pt idx="113">
                  <c:v>45962</c:v>
                </c:pt>
                <c:pt idx="114">
                  <c:v>45963</c:v>
                </c:pt>
                <c:pt idx="115">
                  <c:v>45964</c:v>
                </c:pt>
                <c:pt idx="116">
                  <c:v>45965</c:v>
                </c:pt>
                <c:pt idx="117">
                  <c:v>45966</c:v>
                </c:pt>
                <c:pt idx="118">
                  <c:v>45967</c:v>
                </c:pt>
                <c:pt idx="119">
                  <c:v>45968</c:v>
                </c:pt>
                <c:pt idx="120">
                  <c:v>45969</c:v>
                </c:pt>
                <c:pt idx="121">
                  <c:v>45970</c:v>
                </c:pt>
                <c:pt idx="122">
                  <c:v>45971</c:v>
                </c:pt>
                <c:pt idx="123">
                  <c:v>45972</c:v>
                </c:pt>
                <c:pt idx="124">
                  <c:v>45973</c:v>
                </c:pt>
                <c:pt idx="125">
                  <c:v>45974</c:v>
                </c:pt>
                <c:pt idx="126">
                  <c:v>45975</c:v>
                </c:pt>
                <c:pt idx="127">
                  <c:v>45976</c:v>
                </c:pt>
                <c:pt idx="128">
                  <c:v>45977</c:v>
                </c:pt>
                <c:pt idx="129">
                  <c:v>45978</c:v>
                </c:pt>
                <c:pt idx="130">
                  <c:v>45979</c:v>
                </c:pt>
                <c:pt idx="131">
                  <c:v>45980</c:v>
                </c:pt>
                <c:pt idx="132">
                  <c:v>45981</c:v>
                </c:pt>
                <c:pt idx="133">
                  <c:v>45982</c:v>
                </c:pt>
                <c:pt idx="134">
                  <c:v>45983</c:v>
                </c:pt>
                <c:pt idx="135">
                  <c:v>45984</c:v>
                </c:pt>
                <c:pt idx="136">
                  <c:v>45985</c:v>
                </c:pt>
                <c:pt idx="137">
                  <c:v>45986</c:v>
                </c:pt>
                <c:pt idx="138">
                  <c:v>45987</c:v>
                </c:pt>
                <c:pt idx="139">
                  <c:v>45988</c:v>
                </c:pt>
                <c:pt idx="140">
                  <c:v>45989</c:v>
                </c:pt>
                <c:pt idx="141">
                  <c:v>45990</c:v>
                </c:pt>
                <c:pt idx="142">
                  <c:v>45991</c:v>
                </c:pt>
                <c:pt idx="143">
                  <c:v>45992</c:v>
                </c:pt>
                <c:pt idx="144">
                  <c:v>45993</c:v>
                </c:pt>
                <c:pt idx="145">
                  <c:v>45994</c:v>
                </c:pt>
                <c:pt idx="146">
                  <c:v>45995</c:v>
                </c:pt>
                <c:pt idx="147">
                  <c:v>45996</c:v>
                </c:pt>
                <c:pt idx="148">
                  <c:v>45997</c:v>
                </c:pt>
                <c:pt idx="149">
                  <c:v>45998</c:v>
                </c:pt>
                <c:pt idx="150">
                  <c:v>45999</c:v>
                </c:pt>
                <c:pt idx="151">
                  <c:v>46000</c:v>
                </c:pt>
                <c:pt idx="152">
                  <c:v>46001</c:v>
                </c:pt>
                <c:pt idx="153">
                  <c:v>46002</c:v>
                </c:pt>
                <c:pt idx="154">
                  <c:v>46003</c:v>
                </c:pt>
                <c:pt idx="155">
                  <c:v>46004</c:v>
                </c:pt>
                <c:pt idx="156">
                  <c:v>46005</c:v>
                </c:pt>
                <c:pt idx="157">
                  <c:v>46006</c:v>
                </c:pt>
                <c:pt idx="158">
                  <c:v>46007</c:v>
                </c:pt>
                <c:pt idx="159">
                  <c:v>46008</c:v>
                </c:pt>
                <c:pt idx="160">
                  <c:v>46009</c:v>
                </c:pt>
                <c:pt idx="161">
                  <c:v>46010</c:v>
                </c:pt>
                <c:pt idx="162">
                  <c:v>46011</c:v>
                </c:pt>
                <c:pt idx="163">
                  <c:v>46012</c:v>
                </c:pt>
                <c:pt idx="164">
                  <c:v>46013</c:v>
                </c:pt>
                <c:pt idx="165">
                  <c:v>46014</c:v>
                </c:pt>
                <c:pt idx="166">
                  <c:v>46015</c:v>
                </c:pt>
                <c:pt idx="167">
                  <c:v>46016</c:v>
                </c:pt>
                <c:pt idx="168">
                  <c:v>46017</c:v>
                </c:pt>
                <c:pt idx="169">
                  <c:v>46018</c:v>
                </c:pt>
                <c:pt idx="170">
                  <c:v>46019</c:v>
                </c:pt>
                <c:pt idx="171">
                  <c:v>46020</c:v>
                </c:pt>
                <c:pt idx="172">
                  <c:v>46021</c:v>
                </c:pt>
                <c:pt idx="173">
                  <c:v>46022</c:v>
                </c:pt>
                <c:pt idx="174">
                  <c:v>46023</c:v>
                </c:pt>
                <c:pt idx="175">
                  <c:v>46024</c:v>
                </c:pt>
                <c:pt idx="176">
                  <c:v>46025</c:v>
                </c:pt>
                <c:pt idx="177">
                  <c:v>46026</c:v>
                </c:pt>
                <c:pt idx="178">
                  <c:v>46027</c:v>
                </c:pt>
                <c:pt idx="179">
                  <c:v>46028</c:v>
                </c:pt>
                <c:pt idx="180">
                  <c:v>46029</c:v>
                </c:pt>
                <c:pt idx="181">
                  <c:v>46030</c:v>
                </c:pt>
                <c:pt idx="182">
                  <c:v>46031</c:v>
                </c:pt>
                <c:pt idx="183">
                  <c:v>46032</c:v>
                </c:pt>
                <c:pt idx="184">
                  <c:v>46033</c:v>
                </c:pt>
                <c:pt idx="185">
                  <c:v>46034</c:v>
                </c:pt>
                <c:pt idx="186">
                  <c:v>46035</c:v>
                </c:pt>
                <c:pt idx="187">
                  <c:v>46036</c:v>
                </c:pt>
                <c:pt idx="188">
                  <c:v>46037</c:v>
                </c:pt>
                <c:pt idx="189">
                  <c:v>46038</c:v>
                </c:pt>
                <c:pt idx="190">
                  <c:v>46039</c:v>
                </c:pt>
                <c:pt idx="191">
                  <c:v>46040</c:v>
                </c:pt>
                <c:pt idx="192">
                  <c:v>46041</c:v>
                </c:pt>
                <c:pt idx="193">
                  <c:v>46042</c:v>
                </c:pt>
                <c:pt idx="194">
                  <c:v>46043</c:v>
                </c:pt>
                <c:pt idx="195">
                  <c:v>46044</c:v>
                </c:pt>
                <c:pt idx="196">
                  <c:v>46045</c:v>
                </c:pt>
                <c:pt idx="197">
                  <c:v>46046</c:v>
                </c:pt>
                <c:pt idx="198">
                  <c:v>46047</c:v>
                </c:pt>
                <c:pt idx="199">
                  <c:v>46048</c:v>
                </c:pt>
                <c:pt idx="200">
                  <c:v>46049</c:v>
                </c:pt>
                <c:pt idx="201">
                  <c:v>46050</c:v>
                </c:pt>
                <c:pt idx="202">
                  <c:v>46051</c:v>
                </c:pt>
                <c:pt idx="203">
                  <c:v>46052</c:v>
                </c:pt>
                <c:pt idx="204">
                  <c:v>46053</c:v>
                </c:pt>
                <c:pt idx="205">
                  <c:v>46054</c:v>
                </c:pt>
                <c:pt idx="206">
                  <c:v>46055</c:v>
                </c:pt>
                <c:pt idx="207">
                  <c:v>46056</c:v>
                </c:pt>
                <c:pt idx="208">
                  <c:v>46057</c:v>
                </c:pt>
                <c:pt idx="209">
                  <c:v>46058</c:v>
                </c:pt>
                <c:pt idx="210">
                  <c:v>46059</c:v>
                </c:pt>
                <c:pt idx="211">
                  <c:v>46060</c:v>
                </c:pt>
                <c:pt idx="212">
                  <c:v>46061</c:v>
                </c:pt>
                <c:pt idx="213">
                  <c:v>46062</c:v>
                </c:pt>
                <c:pt idx="214">
                  <c:v>46063</c:v>
                </c:pt>
                <c:pt idx="215">
                  <c:v>46064</c:v>
                </c:pt>
                <c:pt idx="216">
                  <c:v>46065</c:v>
                </c:pt>
                <c:pt idx="217">
                  <c:v>46066</c:v>
                </c:pt>
                <c:pt idx="218">
                  <c:v>46067</c:v>
                </c:pt>
                <c:pt idx="219">
                  <c:v>46068</c:v>
                </c:pt>
                <c:pt idx="220">
                  <c:v>46069</c:v>
                </c:pt>
                <c:pt idx="221">
                  <c:v>46070</c:v>
                </c:pt>
                <c:pt idx="222">
                  <c:v>46071</c:v>
                </c:pt>
                <c:pt idx="223">
                  <c:v>46072</c:v>
                </c:pt>
                <c:pt idx="224">
                  <c:v>46073</c:v>
                </c:pt>
                <c:pt idx="225">
                  <c:v>46074</c:v>
                </c:pt>
                <c:pt idx="226">
                  <c:v>46075</c:v>
                </c:pt>
                <c:pt idx="227">
                  <c:v>46076</c:v>
                </c:pt>
                <c:pt idx="228">
                  <c:v>46077</c:v>
                </c:pt>
                <c:pt idx="229">
                  <c:v>46078</c:v>
                </c:pt>
                <c:pt idx="230">
                  <c:v>46079</c:v>
                </c:pt>
                <c:pt idx="231">
                  <c:v>46080</c:v>
                </c:pt>
                <c:pt idx="232">
                  <c:v>46081</c:v>
                </c:pt>
                <c:pt idx="233">
                  <c:v>46082</c:v>
                </c:pt>
                <c:pt idx="234">
                  <c:v>46083</c:v>
                </c:pt>
                <c:pt idx="235">
                  <c:v>46084</c:v>
                </c:pt>
                <c:pt idx="236">
                  <c:v>46085</c:v>
                </c:pt>
                <c:pt idx="237">
                  <c:v>46086</c:v>
                </c:pt>
                <c:pt idx="238">
                  <c:v>46087</c:v>
                </c:pt>
                <c:pt idx="239">
                  <c:v>46088</c:v>
                </c:pt>
                <c:pt idx="240">
                  <c:v>46089</c:v>
                </c:pt>
                <c:pt idx="241">
                  <c:v>46090</c:v>
                </c:pt>
                <c:pt idx="242">
                  <c:v>46091</c:v>
                </c:pt>
                <c:pt idx="243">
                  <c:v>46092</c:v>
                </c:pt>
                <c:pt idx="244">
                  <c:v>46093</c:v>
                </c:pt>
                <c:pt idx="245">
                  <c:v>46094</c:v>
                </c:pt>
                <c:pt idx="246">
                  <c:v>46095</c:v>
                </c:pt>
                <c:pt idx="247">
                  <c:v>46096</c:v>
                </c:pt>
                <c:pt idx="248">
                  <c:v>46097</c:v>
                </c:pt>
                <c:pt idx="249">
                  <c:v>46098</c:v>
                </c:pt>
                <c:pt idx="250">
                  <c:v>46099</c:v>
                </c:pt>
                <c:pt idx="251">
                  <c:v>46100</c:v>
                </c:pt>
                <c:pt idx="252">
                  <c:v>46101</c:v>
                </c:pt>
                <c:pt idx="253">
                  <c:v>46102</c:v>
                </c:pt>
                <c:pt idx="254">
                  <c:v>46103</c:v>
                </c:pt>
                <c:pt idx="255">
                  <c:v>46104</c:v>
                </c:pt>
                <c:pt idx="256">
                  <c:v>46105</c:v>
                </c:pt>
                <c:pt idx="257">
                  <c:v>46106</c:v>
                </c:pt>
                <c:pt idx="258">
                  <c:v>46107</c:v>
                </c:pt>
                <c:pt idx="259">
                  <c:v>46108</c:v>
                </c:pt>
                <c:pt idx="260">
                  <c:v>46109</c:v>
                </c:pt>
                <c:pt idx="261">
                  <c:v>46110</c:v>
                </c:pt>
                <c:pt idx="262">
                  <c:v>46111</c:v>
                </c:pt>
                <c:pt idx="263">
                  <c:v>46112</c:v>
                </c:pt>
                <c:pt idx="264">
                  <c:v>46113</c:v>
                </c:pt>
                <c:pt idx="265">
                  <c:v>46114</c:v>
                </c:pt>
                <c:pt idx="266">
                  <c:v>46115</c:v>
                </c:pt>
                <c:pt idx="267">
                  <c:v>46116</c:v>
                </c:pt>
                <c:pt idx="268">
                  <c:v>46117</c:v>
                </c:pt>
                <c:pt idx="269">
                  <c:v>46118</c:v>
                </c:pt>
                <c:pt idx="270">
                  <c:v>46119</c:v>
                </c:pt>
                <c:pt idx="271">
                  <c:v>46120</c:v>
                </c:pt>
                <c:pt idx="272">
                  <c:v>46121</c:v>
                </c:pt>
                <c:pt idx="273">
                  <c:v>46122</c:v>
                </c:pt>
                <c:pt idx="274">
                  <c:v>46123</c:v>
                </c:pt>
                <c:pt idx="275">
                  <c:v>46124</c:v>
                </c:pt>
                <c:pt idx="276">
                  <c:v>46125</c:v>
                </c:pt>
                <c:pt idx="277">
                  <c:v>46126</c:v>
                </c:pt>
                <c:pt idx="278">
                  <c:v>46127</c:v>
                </c:pt>
                <c:pt idx="279">
                  <c:v>46128</c:v>
                </c:pt>
                <c:pt idx="280">
                  <c:v>46129</c:v>
                </c:pt>
                <c:pt idx="281">
                  <c:v>46130</c:v>
                </c:pt>
                <c:pt idx="282">
                  <c:v>46131</c:v>
                </c:pt>
                <c:pt idx="283">
                  <c:v>46132</c:v>
                </c:pt>
                <c:pt idx="284">
                  <c:v>46133</c:v>
                </c:pt>
                <c:pt idx="285">
                  <c:v>46134</c:v>
                </c:pt>
                <c:pt idx="286">
                  <c:v>46135</c:v>
                </c:pt>
                <c:pt idx="287">
                  <c:v>46136</c:v>
                </c:pt>
                <c:pt idx="288">
                  <c:v>46137</c:v>
                </c:pt>
                <c:pt idx="289">
                  <c:v>46138</c:v>
                </c:pt>
                <c:pt idx="290">
                  <c:v>46139</c:v>
                </c:pt>
                <c:pt idx="291">
                  <c:v>46140</c:v>
                </c:pt>
                <c:pt idx="292">
                  <c:v>46141</c:v>
                </c:pt>
                <c:pt idx="293">
                  <c:v>46142</c:v>
                </c:pt>
                <c:pt idx="294">
                  <c:v>46143</c:v>
                </c:pt>
                <c:pt idx="295">
                  <c:v>46144</c:v>
                </c:pt>
                <c:pt idx="296">
                  <c:v>46145</c:v>
                </c:pt>
                <c:pt idx="297">
                  <c:v>46146</c:v>
                </c:pt>
              </c:numCache>
            </c:numRef>
          </c:cat>
          <c:val>
            <c:numRef>
              <c:f>Sheet1!$D$2:$D$299</c:f>
              <c:numCache>
                <c:formatCode>General</c:formatCode>
                <c:ptCount val="298"/>
                <c:pt idx="0">
                  <c:v>100</c:v>
                </c:pt>
                <c:pt idx="1">
                  <c:v>100</c:v>
                </c:pt>
                <c:pt idx="2">
                  <c:v>100</c:v>
                </c:pt>
                <c:pt idx="3">
                  <c:v>100.75552909931773</c:v>
                </c:pt>
                <c:pt idx="4">
                  <c:v>100.96463513286629</c:v>
                </c:pt>
                <c:pt idx="5">
                  <c:v>101.21647816597219</c:v>
                </c:pt>
                <c:pt idx="6">
                  <c:v>101.20884655890838</c:v>
                </c:pt>
                <c:pt idx="7">
                  <c:v>101.37826823572509</c:v>
                </c:pt>
                <c:pt idx="8">
                  <c:v>101.37826823572509</c:v>
                </c:pt>
                <c:pt idx="9">
                  <c:v>101.37826823572509</c:v>
                </c:pt>
                <c:pt idx="10">
                  <c:v>102.54132515225058</c:v>
                </c:pt>
                <c:pt idx="11">
                  <c:v>102.77790497122885</c:v>
                </c:pt>
                <c:pt idx="12">
                  <c:v>102.95343193369659</c:v>
                </c:pt>
                <c:pt idx="13">
                  <c:v>102.62985179419081</c:v>
                </c:pt>
                <c:pt idx="14">
                  <c:v>102.86795793458188</c:v>
                </c:pt>
                <c:pt idx="15">
                  <c:v>102.86795793458188</c:v>
                </c:pt>
                <c:pt idx="16">
                  <c:v>102.86795793458188</c:v>
                </c:pt>
                <c:pt idx="17">
                  <c:v>103.43574950012973</c:v>
                </c:pt>
                <c:pt idx="18">
                  <c:v>103.51664453500619</c:v>
                </c:pt>
                <c:pt idx="19">
                  <c:v>104.43854266831509</c:v>
                </c:pt>
                <c:pt idx="20">
                  <c:v>102.70158890059069</c:v>
                </c:pt>
                <c:pt idx="21">
                  <c:v>101.6377428758948</c:v>
                </c:pt>
                <c:pt idx="22">
                  <c:v>101.6377428758948</c:v>
                </c:pt>
                <c:pt idx="23">
                  <c:v>101.6377428758948</c:v>
                </c:pt>
                <c:pt idx="24">
                  <c:v>103.20680128821526</c:v>
                </c:pt>
                <c:pt idx="25">
                  <c:v>102.55200940213992</c:v>
                </c:pt>
                <c:pt idx="26">
                  <c:v>102.30321901185953</c:v>
                </c:pt>
                <c:pt idx="27">
                  <c:v>102.96411618358594</c:v>
                </c:pt>
                <c:pt idx="28">
                  <c:v>102.796220828182</c:v>
                </c:pt>
                <c:pt idx="29">
                  <c:v>102.796220828182</c:v>
                </c:pt>
                <c:pt idx="30">
                  <c:v>102.796220828182</c:v>
                </c:pt>
                <c:pt idx="31">
                  <c:v>102.92443182685412</c:v>
                </c:pt>
                <c:pt idx="32">
                  <c:v>101.77816444586902</c:v>
                </c:pt>
                <c:pt idx="33">
                  <c:v>102.65732557962058</c:v>
                </c:pt>
                <c:pt idx="34">
                  <c:v>102.70158890059069</c:v>
                </c:pt>
                <c:pt idx="35">
                  <c:v>102.14906054917046</c:v>
                </c:pt>
                <c:pt idx="36">
                  <c:v>102.14906054917046</c:v>
                </c:pt>
                <c:pt idx="37">
                  <c:v>102.14906054917046</c:v>
                </c:pt>
                <c:pt idx="38">
                  <c:v>102.03458644321321</c:v>
                </c:pt>
                <c:pt idx="39">
                  <c:v>102.81148404230964</c:v>
                </c:pt>
                <c:pt idx="40">
                  <c:v>102.85116839904147</c:v>
                </c:pt>
                <c:pt idx="41">
                  <c:v>102.84658943480321</c:v>
                </c:pt>
                <c:pt idx="42">
                  <c:v>102.93053711250515</c:v>
                </c:pt>
                <c:pt idx="43">
                  <c:v>102.93053711250515</c:v>
                </c:pt>
                <c:pt idx="44">
                  <c:v>102.93053711250515</c:v>
                </c:pt>
                <c:pt idx="45">
                  <c:v>104.63543813056152</c:v>
                </c:pt>
                <c:pt idx="46">
                  <c:v>104.30880534823024</c:v>
                </c:pt>
                <c:pt idx="47">
                  <c:v>104.23859456324314</c:v>
                </c:pt>
                <c:pt idx="48">
                  <c:v>104.38664774028115</c:v>
                </c:pt>
                <c:pt idx="49">
                  <c:v>105.03991330494378</c:v>
                </c:pt>
                <c:pt idx="50">
                  <c:v>105.03991330494378</c:v>
                </c:pt>
                <c:pt idx="51">
                  <c:v>105.03991330494378</c:v>
                </c:pt>
                <c:pt idx="52">
                  <c:v>106.33118122014133</c:v>
                </c:pt>
                <c:pt idx="53">
                  <c:v>105.86412686783584</c:v>
                </c:pt>
                <c:pt idx="54">
                  <c:v>105.51459926431308</c:v>
                </c:pt>
                <c:pt idx="55">
                  <c:v>105.0841766259139</c:v>
                </c:pt>
                <c:pt idx="56">
                  <c:v>105.68249461971702</c:v>
                </c:pt>
                <c:pt idx="57">
                  <c:v>105.68249461971702</c:v>
                </c:pt>
                <c:pt idx="58">
                  <c:v>105.68249461971702</c:v>
                </c:pt>
                <c:pt idx="59">
                  <c:v>107.10655249782499</c:v>
                </c:pt>
                <c:pt idx="60">
                  <c:v>107.15539478303342</c:v>
                </c:pt>
                <c:pt idx="61">
                  <c:v>106.89592014286369</c:v>
                </c:pt>
                <c:pt idx="62">
                  <c:v>107.42555367309249</c:v>
                </c:pt>
                <c:pt idx="63">
                  <c:v>108.38255719889496</c:v>
                </c:pt>
                <c:pt idx="64">
                  <c:v>108.38255719889496</c:v>
                </c:pt>
                <c:pt idx="65">
                  <c:v>108.38255719889496</c:v>
                </c:pt>
                <c:pt idx="66">
                  <c:v>108.72445319535389</c:v>
                </c:pt>
                <c:pt idx="67">
                  <c:v>108.11545095166142</c:v>
                </c:pt>
                <c:pt idx="68">
                  <c:v>107.72318634858129</c:v>
                </c:pt>
                <c:pt idx="69">
                  <c:v>107.0821313552208</c:v>
                </c:pt>
                <c:pt idx="70">
                  <c:v>106.67307721660029</c:v>
                </c:pt>
                <c:pt idx="71">
                  <c:v>106.67307721660029</c:v>
                </c:pt>
                <c:pt idx="72">
                  <c:v>106.67307721660029</c:v>
                </c:pt>
                <c:pt idx="73">
                  <c:v>106.46397118305173</c:v>
                </c:pt>
                <c:pt idx="74">
                  <c:v>107.32939542408842</c:v>
                </c:pt>
                <c:pt idx="75">
                  <c:v>107.10197353358673</c:v>
                </c:pt>
                <c:pt idx="76">
                  <c:v>106.35407604133277</c:v>
                </c:pt>
                <c:pt idx="77">
                  <c:v>106.08696979409925</c:v>
                </c:pt>
                <c:pt idx="78">
                  <c:v>106.08696979409925</c:v>
                </c:pt>
                <c:pt idx="79">
                  <c:v>106.08696979409925</c:v>
                </c:pt>
                <c:pt idx="80">
                  <c:v>106.48839232565595</c:v>
                </c:pt>
                <c:pt idx="81">
                  <c:v>106.84402521482974</c:v>
                </c:pt>
                <c:pt idx="82">
                  <c:v>107.42250103026696</c:v>
                </c:pt>
                <c:pt idx="83">
                  <c:v>108.46192591235864</c:v>
                </c:pt>
                <c:pt idx="84">
                  <c:v>108.91982233618755</c:v>
                </c:pt>
                <c:pt idx="85">
                  <c:v>108.91982233618755</c:v>
                </c:pt>
                <c:pt idx="86">
                  <c:v>108.91982233618755</c:v>
                </c:pt>
                <c:pt idx="87">
                  <c:v>108.69850573133691</c:v>
                </c:pt>
                <c:pt idx="88">
                  <c:v>108.97019094280876</c:v>
                </c:pt>
                <c:pt idx="89">
                  <c:v>109.00377001388952</c:v>
                </c:pt>
                <c:pt idx="90">
                  <c:v>108.55961048277547</c:v>
                </c:pt>
                <c:pt idx="91">
                  <c:v>108.1322404872018</c:v>
                </c:pt>
                <c:pt idx="92">
                  <c:v>108.1322404872018</c:v>
                </c:pt>
                <c:pt idx="93">
                  <c:v>108.1322404872018</c:v>
                </c:pt>
                <c:pt idx="94">
                  <c:v>107.63771234946655</c:v>
                </c:pt>
                <c:pt idx="95">
                  <c:v>107.94145031060643</c:v>
                </c:pt>
                <c:pt idx="96">
                  <c:v>108.04524016667429</c:v>
                </c:pt>
                <c:pt idx="97">
                  <c:v>108.50008394767772</c:v>
                </c:pt>
                <c:pt idx="98">
                  <c:v>108.41308362715021</c:v>
                </c:pt>
                <c:pt idx="99">
                  <c:v>108.41308362715021</c:v>
                </c:pt>
                <c:pt idx="100">
                  <c:v>108.41308362715021</c:v>
                </c:pt>
                <c:pt idx="101">
                  <c:v>108.41308362715021</c:v>
                </c:pt>
                <c:pt idx="102">
                  <c:v>109.33345543904638</c:v>
                </c:pt>
                <c:pt idx="103">
                  <c:v>109.74250957766687</c:v>
                </c:pt>
                <c:pt idx="104">
                  <c:v>110.43545949906131</c:v>
                </c:pt>
                <c:pt idx="105">
                  <c:v>110.13630050215977</c:v>
                </c:pt>
                <c:pt idx="106">
                  <c:v>110.13630050215977</c:v>
                </c:pt>
                <c:pt idx="107">
                  <c:v>110.13630050215977</c:v>
                </c:pt>
                <c:pt idx="108">
                  <c:v>110.46445960590383</c:v>
                </c:pt>
                <c:pt idx="109">
                  <c:v>111.03835645710274</c:v>
                </c:pt>
                <c:pt idx="110">
                  <c:v>111.25356777630233</c:v>
                </c:pt>
                <c:pt idx="111">
                  <c:v>109.67382511409252</c:v>
                </c:pt>
                <c:pt idx="112">
                  <c:v>109.03734908497032</c:v>
                </c:pt>
                <c:pt idx="113">
                  <c:v>109.03734908497032</c:v>
                </c:pt>
                <c:pt idx="114">
                  <c:v>109.03734908497032</c:v>
                </c:pt>
                <c:pt idx="115">
                  <c:v>109.09992826289361</c:v>
                </c:pt>
                <c:pt idx="116">
                  <c:v>107.98266098875102</c:v>
                </c:pt>
                <c:pt idx="117">
                  <c:v>107.69723888456433</c:v>
                </c:pt>
                <c:pt idx="118">
                  <c:v>107.89108170398522</c:v>
                </c:pt>
                <c:pt idx="119">
                  <c:v>108.11239830883591</c:v>
                </c:pt>
                <c:pt idx="120">
                  <c:v>108.11239830883591</c:v>
                </c:pt>
                <c:pt idx="121">
                  <c:v>108.11239830883591</c:v>
                </c:pt>
                <c:pt idx="122">
                  <c:v>108.37034662759284</c:v>
                </c:pt>
                <c:pt idx="123">
                  <c:v>109.06329654898728</c:v>
                </c:pt>
                <c:pt idx="124">
                  <c:v>108.51229451897981</c:v>
                </c:pt>
                <c:pt idx="125">
                  <c:v>108.3230306637972</c:v>
                </c:pt>
                <c:pt idx="126">
                  <c:v>107.61481752827511</c:v>
                </c:pt>
                <c:pt idx="127">
                  <c:v>107.61481752827511</c:v>
                </c:pt>
                <c:pt idx="128">
                  <c:v>107.61481752827511</c:v>
                </c:pt>
                <c:pt idx="129">
                  <c:v>107.6896072775005</c:v>
                </c:pt>
                <c:pt idx="130">
                  <c:v>106.99360471328052</c:v>
                </c:pt>
                <c:pt idx="131">
                  <c:v>107.23171085367156</c:v>
                </c:pt>
                <c:pt idx="132">
                  <c:v>107.69113359891324</c:v>
                </c:pt>
                <c:pt idx="133">
                  <c:v>106.65323503823436</c:v>
                </c:pt>
                <c:pt idx="134">
                  <c:v>106.65323503823436</c:v>
                </c:pt>
                <c:pt idx="135">
                  <c:v>106.65323503823436</c:v>
                </c:pt>
                <c:pt idx="136">
                  <c:v>107.67434406337289</c:v>
                </c:pt>
                <c:pt idx="137">
                  <c:v>107.72166002716853</c:v>
                </c:pt>
                <c:pt idx="138">
                  <c:v>107.61634384968788</c:v>
                </c:pt>
                <c:pt idx="139">
                  <c:v>108.05897705938918</c:v>
                </c:pt>
                <c:pt idx="140">
                  <c:v>108.20550391501442</c:v>
                </c:pt>
                <c:pt idx="141">
                  <c:v>108.20550391501442</c:v>
                </c:pt>
                <c:pt idx="142">
                  <c:v>108.20550391501442</c:v>
                </c:pt>
                <c:pt idx="143">
                  <c:v>107.34771128104157</c:v>
                </c:pt>
                <c:pt idx="144">
                  <c:v>108.00708213135523</c:v>
                </c:pt>
                <c:pt idx="145">
                  <c:v>107.93687134636811</c:v>
                </c:pt>
                <c:pt idx="146">
                  <c:v>107.32176381702459</c:v>
                </c:pt>
                <c:pt idx="147">
                  <c:v>107.16913167574829</c:v>
                </c:pt>
                <c:pt idx="148">
                  <c:v>107.16913167574829</c:v>
                </c:pt>
                <c:pt idx="149">
                  <c:v>107.16913167574829</c:v>
                </c:pt>
                <c:pt idx="150">
                  <c:v>106.34339179144345</c:v>
                </c:pt>
                <c:pt idx="151">
                  <c:v>106.62728757421741</c:v>
                </c:pt>
                <c:pt idx="152">
                  <c:v>106.18312804310332</c:v>
                </c:pt>
                <c:pt idx="153">
                  <c:v>106.55707678923028</c:v>
                </c:pt>
                <c:pt idx="154">
                  <c:v>106.95086771372317</c:v>
                </c:pt>
                <c:pt idx="155">
                  <c:v>106.95086771372317</c:v>
                </c:pt>
                <c:pt idx="156">
                  <c:v>106.95086771372317</c:v>
                </c:pt>
                <c:pt idx="157">
                  <c:v>106.74176168017462</c:v>
                </c:pt>
                <c:pt idx="158">
                  <c:v>106.75397225147671</c:v>
                </c:pt>
                <c:pt idx="159">
                  <c:v>106.63644550269396</c:v>
                </c:pt>
                <c:pt idx="160">
                  <c:v>106.92186760688067</c:v>
                </c:pt>
                <c:pt idx="161">
                  <c:v>107.52171192209656</c:v>
                </c:pt>
                <c:pt idx="162">
                  <c:v>107.52171192209656</c:v>
                </c:pt>
                <c:pt idx="163">
                  <c:v>107.52171192209656</c:v>
                </c:pt>
                <c:pt idx="164">
                  <c:v>107.21339499671841</c:v>
                </c:pt>
                <c:pt idx="165">
                  <c:v>107.31871117419907</c:v>
                </c:pt>
                <c:pt idx="166">
                  <c:v>107.6270280995772</c:v>
                </c:pt>
                <c:pt idx="167">
                  <c:v>107.6270280995772</c:v>
                </c:pt>
                <c:pt idx="168">
                  <c:v>107.75829174107486</c:v>
                </c:pt>
                <c:pt idx="169">
                  <c:v>107.75829174107486</c:v>
                </c:pt>
                <c:pt idx="170">
                  <c:v>107.75829174107486</c:v>
                </c:pt>
                <c:pt idx="171">
                  <c:v>108.24060930750798</c:v>
                </c:pt>
                <c:pt idx="172">
                  <c:v>108.37187294900561</c:v>
                </c:pt>
                <c:pt idx="173">
                  <c:v>108.93355922890244</c:v>
                </c:pt>
                <c:pt idx="174">
                  <c:v>108.93355922890244</c:v>
                </c:pt>
                <c:pt idx="175">
                  <c:v>108.75650594502191</c:v>
                </c:pt>
                <c:pt idx="176">
                  <c:v>108.75650594502191</c:v>
                </c:pt>
                <c:pt idx="177">
                  <c:v>108.75650594502191</c:v>
                </c:pt>
                <c:pt idx="178">
                  <c:v>108.80992719446863</c:v>
                </c:pt>
                <c:pt idx="179">
                  <c:v>109.00682265671504</c:v>
                </c:pt>
                <c:pt idx="180">
                  <c:v>109.37161347436543</c:v>
                </c:pt>
                <c:pt idx="181">
                  <c:v>109.53798250835661</c:v>
                </c:pt>
                <c:pt idx="182">
                  <c:v>109.63261443594791</c:v>
                </c:pt>
                <c:pt idx="183">
                  <c:v>109.63261443594791</c:v>
                </c:pt>
                <c:pt idx="184">
                  <c:v>109.63261443594791</c:v>
                </c:pt>
                <c:pt idx="185">
                  <c:v>110.09966878825344</c:v>
                </c:pt>
                <c:pt idx="186">
                  <c:v>110.63998656837157</c:v>
                </c:pt>
                <c:pt idx="187">
                  <c:v>110.6384602469588</c:v>
                </c:pt>
                <c:pt idx="188">
                  <c:v>110.00808950348767</c:v>
                </c:pt>
                <c:pt idx="189">
                  <c:v>110.11187935955553</c:v>
                </c:pt>
                <c:pt idx="190">
                  <c:v>110.11187935955553</c:v>
                </c:pt>
                <c:pt idx="191">
                  <c:v>110.11187935955553</c:v>
                </c:pt>
                <c:pt idx="192">
                  <c:v>109.79745714852636</c:v>
                </c:pt>
                <c:pt idx="193">
                  <c:v>110.67356563945236</c:v>
                </c:pt>
                <c:pt idx="194">
                  <c:v>110.00961582490041</c:v>
                </c:pt>
                <c:pt idx="195">
                  <c:v>109.84324679090922</c:v>
                </c:pt>
                <c:pt idx="196">
                  <c:v>109.88751011187938</c:v>
                </c:pt>
                <c:pt idx="197">
                  <c:v>109.88751011187938</c:v>
                </c:pt>
                <c:pt idx="198">
                  <c:v>109.88751011187938</c:v>
                </c:pt>
                <c:pt idx="199">
                  <c:v>109.56087732954805</c:v>
                </c:pt>
                <c:pt idx="200">
                  <c:v>109.62956179312241</c:v>
                </c:pt>
                <c:pt idx="201">
                  <c:v>109.51050872292689</c:v>
                </c:pt>
                <c:pt idx="202">
                  <c:v>109.58682479356503</c:v>
                </c:pt>
                <c:pt idx="203">
                  <c:v>109.65703557855215</c:v>
                </c:pt>
                <c:pt idx="204">
                  <c:v>109.65703557855215</c:v>
                </c:pt>
                <c:pt idx="205">
                  <c:v>109.65703557855215</c:v>
                </c:pt>
                <c:pt idx="206">
                  <c:v>109.31056061785492</c:v>
                </c:pt>
                <c:pt idx="207">
                  <c:v>109.26477097547203</c:v>
                </c:pt>
                <c:pt idx="208">
                  <c:v>109.3273501533953</c:v>
                </c:pt>
                <c:pt idx="209">
                  <c:v>109.0510859776852</c:v>
                </c:pt>
                <c:pt idx="210">
                  <c:v>108.93355922890244</c:v>
                </c:pt>
                <c:pt idx="211">
                  <c:v>108.93355922890244</c:v>
                </c:pt>
                <c:pt idx="212">
                  <c:v>108.93355922890244</c:v>
                </c:pt>
                <c:pt idx="213">
                  <c:v>109.53035090129279</c:v>
                </c:pt>
                <c:pt idx="214">
                  <c:v>109.64329868583727</c:v>
                </c:pt>
                <c:pt idx="215">
                  <c:v>109.60514065051821</c:v>
                </c:pt>
                <c:pt idx="216">
                  <c:v>108.27876734282707</c:v>
                </c:pt>
                <c:pt idx="217">
                  <c:v>107.51102767220722</c:v>
                </c:pt>
                <c:pt idx="218">
                  <c:v>107.51102767220722</c:v>
                </c:pt>
                <c:pt idx="219">
                  <c:v>107.51102767220722</c:v>
                </c:pt>
                <c:pt idx="220">
                  <c:v>107.76439702672589</c:v>
                </c:pt>
                <c:pt idx="221">
                  <c:v>107.76439702672589</c:v>
                </c:pt>
                <c:pt idx="222">
                  <c:v>107.76439702672589</c:v>
                </c:pt>
                <c:pt idx="223">
                  <c:v>107.53850145763695</c:v>
                </c:pt>
                <c:pt idx="224">
                  <c:v>107.76897599096419</c:v>
                </c:pt>
                <c:pt idx="225">
                  <c:v>107.76897599096419</c:v>
                </c:pt>
                <c:pt idx="226">
                  <c:v>107.76897599096419</c:v>
                </c:pt>
                <c:pt idx="227">
                  <c:v>108.24976723598456</c:v>
                </c:pt>
                <c:pt idx="228">
                  <c:v>108.84808522978769</c:v>
                </c:pt>
                <c:pt idx="229">
                  <c:v>108.88319062228125</c:v>
                </c:pt>
                <c:pt idx="230">
                  <c:v>108.61455805363494</c:v>
                </c:pt>
                <c:pt idx="231">
                  <c:v>107.62397545675168</c:v>
                </c:pt>
                <c:pt idx="232">
                  <c:v>107.62397545675168</c:v>
                </c:pt>
                <c:pt idx="233">
                  <c:v>107.62397545675168</c:v>
                </c:pt>
                <c:pt idx="234">
                  <c:v>106.77228810842988</c:v>
                </c:pt>
                <c:pt idx="235">
                  <c:v>105.99081154509517</c:v>
                </c:pt>
                <c:pt idx="236">
                  <c:v>104.40038463299601</c:v>
                </c:pt>
                <c:pt idx="237">
                  <c:v>104.51485873895325</c:v>
                </c:pt>
                <c:pt idx="238">
                  <c:v>104.42327945418745</c:v>
                </c:pt>
                <c:pt idx="239">
                  <c:v>104.42327945418745</c:v>
                </c:pt>
                <c:pt idx="240">
                  <c:v>104.42327945418745</c:v>
                </c:pt>
                <c:pt idx="241">
                  <c:v>101.59042691209916</c:v>
                </c:pt>
                <c:pt idx="242">
                  <c:v>102.68022040081202</c:v>
                </c:pt>
                <c:pt idx="243">
                  <c:v>102.7305890074332</c:v>
                </c:pt>
                <c:pt idx="244">
                  <c:v>102.55658836637819</c:v>
                </c:pt>
                <c:pt idx="245">
                  <c:v>102.18263962025125</c:v>
                </c:pt>
                <c:pt idx="246">
                  <c:v>102.18263962025125</c:v>
                </c:pt>
                <c:pt idx="247">
                  <c:v>102.18263962025125</c:v>
                </c:pt>
                <c:pt idx="248">
                  <c:v>102.58253583039519</c:v>
                </c:pt>
                <c:pt idx="249">
                  <c:v>103.75627699680999</c:v>
                </c:pt>
                <c:pt idx="250">
                  <c:v>104.41717416853642</c:v>
                </c:pt>
                <c:pt idx="251">
                  <c:v>103.65248714074211</c:v>
                </c:pt>
                <c:pt idx="252">
                  <c:v>103.98369888731169</c:v>
                </c:pt>
                <c:pt idx="253">
                  <c:v>103.98369888731169</c:v>
                </c:pt>
                <c:pt idx="254">
                  <c:v>103.98369888731169</c:v>
                </c:pt>
                <c:pt idx="255">
                  <c:v>101.43321580658456</c:v>
                </c:pt>
                <c:pt idx="256">
                  <c:v>101.38437352137615</c:v>
                </c:pt>
                <c:pt idx="257">
                  <c:v>101.52021612711206</c:v>
                </c:pt>
                <c:pt idx="258">
                  <c:v>100.52200192316498</c:v>
                </c:pt>
                <c:pt idx="259">
                  <c:v>100.70821313552207</c:v>
                </c:pt>
                <c:pt idx="260">
                  <c:v>100.70821313552207</c:v>
                </c:pt>
                <c:pt idx="261">
                  <c:v>100.70821313552207</c:v>
                </c:pt>
                <c:pt idx="262">
                  <c:v>100.6868446357434</c:v>
                </c:pt>
                <c:pt idx="263">
                  <c:v>100.22589556908895</c:v>
                </c:pt>
                <c:pt idx="264">
                  <c:v>101.49426866309508</c:v>
                </c:pt>
                <c:pt idx="265">
                  <c:v>101.17068852358931</c:v>
                </c:pt>
                <c:pt idx="266">
                  <c:v>101.17068852358931</c:v>
                </c:pt>
                <c:pt idx="267">
                  <c:v>101.17068852358931</c:v>
                </c:pt>
                <c:pt idx="268">
                  <c:v>101.17068852358931</c:v>
                </c:pt>
                <c:pt idx="269">
                  <c:v>101.55990048384389</c:v>
                </c:pt>
                <c:pt idx="270">
                  <c:v>101.28821527237206</c:v>
                </c:pt>
                <c:pt idx="271">
                  <c:v>103.63417128378896</c:v>
                </c:pt>
                <c:pt idx="272">
                  <c:v>102.90764229131371</c:v>
                </c:pt>
                <c:pt idx="273">
                  <c:v>103.39911778622344</c:v>
                </c:pt>
                <c:pt idx="274">
                  <c:v>103.39911778622344</c:v>
                </c:pt>
                <c:pt idx="275">
                  <c:v>103.39911778622344</c:v>
                </c:pt>
                <c:pt idx="276">
                  <c:v>103.62653967672513</c:v>
                </c:pt>
                <c:pt idx="277">
                  <c:v>104.40954256147259</c:v>
                </c:pt>
                <c:pt idx="278">
                  <c:v>104.96207091289284</c:v>
                </c:pt>
                <c:pt idx="279">
                  <c:v>105.5802310850619</c:v>
                </c:pt>
                <c:pt idx="280">
                  <c:v>105.3360196590198</c:v>
                </c:pt>
                <c:pt idx="281">
                  <c:v>105.3360196590198</c:v>
                </c:pt>
                <c:pt idx="282">
                  <c:v>105.3360196590198</c:v>
                </c:pt>
                <c:pt idx="283">
                  <c:v>105.40317780118139</c:v>
                </c:pt>
                <c:pt idx="284">
                  <c:v>106.3494970770945</c:v>
                </c:pt>
                <c:pt idx="285">
                  <c:v>106.19075965016714</c:v>
                </c:pt>
                <c:pt idx="286">
                  <c:v>106.00149579498452</c:v>
                </c:pt>
                <c:pt idx="287">
                  <c:v>105.8900743318528</c:v>
                </c:pt>
                <c:pt idx="288">
                  <c:v>105.8900743318528</c:v>
                </c:pt>
                <c:pt idx="289">
                  <c:v>105.8900743318528</c:v>
                </c:pt>
                <c:pt idx="290">
                  <c:v>105.11165041134363</c:v>
                </c:pt>
                <c:pt idx="291">
                  <c:v>104.45075323961721</c:v>
                </c:pt>
                <c:pt idx="292">
                  <c:v>103.95775142329472</c:v>
                </c:pt>
                <c:pt idx="293">
                  <c:v>103.39606514339789</c:v>
                </c:pt>
                <c:pt idx="294">
                  <c:v>103.39606514339789</c:v>
                </c:pt>
                <c:pt idx="295">
                  <c:v>103.39606514339789</c:v>
                </c:pt>
                <c:pt idx="296">
                  <c:v>103.39606514339789</c:v>
                </c:pt>
                <c:pt idx="297">
                  <c:v>103.68453989041011</c:v>
                </c:pt>
              </c:numCache>
            </c:numRef>
          </c:val>
          <c:smooth val="0"/>
          <c:extLst>
            <c:ext xmlns:c16="http://schemas.microsoft.com/office/drawing/2014/chart" uri="{C3380CC4-5D6E-409C-BE32-E72D297353CC}">
              <c16:uniqueId val="{00000000-462B-4217-BB58-2868E64CC5AB}"/>
            </c:ext>
          </c:extLst>
        </c:ser>
        <c:dLbls>
          <c:showLegendKey val="0"/>
          <c:showVal val="0"/>
          <c:showCatName val="0"/>
          <c:showSerName val="0"/>
          <c:showPercent val="0"/>
          <c:showBubbleSize val="0"/>
        </c:dLbls>
        <c:marker val="1"/>
        <c:smooth val="0"/>
        <c:axId val="984368624"/>
        <c:axId val="984373424"/>
      </c:lineChart>
      <c:dateAx>
        <c:axId val="984368624"/>
        <c:scaling>
          <c:orientation val="minMax"/>
          <c:max val="46153"/>
        </c:scaling>
        <c:delete val="0"/>
        <c:axPos val="b"/>
        <c:numFmt formatCode="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en-US"/>
          </a:p>
        </c:txPr>
        <c:crossAx val="984373424"/>
        <c:crosses val="autoZero"/>
        <c:auto val="1"/>
        <c:lblOffset val="100"/>
        <c:baseTimeUnit val="days"/>
        <c:majorUnit val="2"/>
        <c:majorTimeUnit val="months"/>
      </c:dateAx>
      <c:valAx>
        <c:axId val="984373424"/>
        <c:scaling>
          <c:orientation val="minMax"/>
          <c:min val="80"/>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984368624"/>
        <c:crosses val="autoZero"/>
        <c:crossBetween val="between"/>
        <c:majorUnit val="10"/>
      </c:valAx>
      <c:valAx>
        <c:axId val="332405696"/>
        <c:scaling>
          <c:orientation val="minMax"/>
          <c:max val="100000000"/>
          <c:min val="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332405216"/>
        <c:crosses val="max"/>
        <c:crossBetween val="between"/>
      </c:valAx>
      <c:dateAx>
        <c:axId val="332405216"/>
        <c:scaling>
          <c:orientation val="minMax"/>
        </c:scaling>
        <c:delete val="1"/>
        <c:axPos val="b"/>
        <c:numFmt formatCode="m/d/yyyy" sourceLinked="1"/>
        <c:majorTickMark val="out"/>
        <c:minorTickMark val="none"/>
        <c:tickLblPos val="nextTo"/>
        <c:crossAx val="332405696"/>
        <c:crosses val="autoZero"/>
        <c:auto val="1"/>
        <c:lblOffset val="100"/>
        <c:baseTimeUnit val="days"/>
      </c:dateAx>
      <c:spPr>
        <a:noFill/>
        <a:ln>
          <a:noFill/>
        </a:ln>
        <a:effectLst/>
      </c:spPr>
    </c:plotArea>
    <c:legend>
      <c:legendPos val="b"/>
      <c:layout>
        <c:manualLayout>
          <c:xMode val="edge"/>
          <c:yMode val="edge"/>
          <c:x val="0.15365784313725489"/>
          <c:y val="6.0528888888888889E-2"/>
          <c:w val="0.51680000000000004"/>
          <c:h val="0.1635075"/>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700"/>
      </a:pPr>
      <a:endParaRPr lang="en-US"/>
    </a:p>
  </c:txPr>
  <c:externalData r:id="rId3">
    <c:autoUpdate val="0"/>
  </c:externalData>
  <c:userShapes r:id="rId4"/>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9186519774675981E-2"/>
          <c:y val="5.5766815670914315E-2"/>
          <c:w val="0.89371518528166904"/>
          <c:h val="0.79355624732954888"/>
        </c:manualLayout>
      </c:layout>
      <c:barChart>
        <c:barDir val="col"/>
        <c:grouping val="clustered"/>
        <c:varyColors val="0"/>
        <c:ser>
          <c:idx val="1"/>
          <c:order val="1"/>
          <c:tx>
            <c:strRef>
              <c:f>Sheet1!$C$1</c:f>
              <c:strCache>
                <c:ptCount val="1"/>
                <c:pt idx="0">
                  <c:v>Turnover (S$m)</c:v>
                </c:pt>
              </c:strCache>
            </c:strRef>
          </c:tx>
          <c:spPr>
            <a:solidFill>
              <a:schemeClr val="bg1">
                <a:lumMod val="85000"/>
              </a:schemeClr>
            </a:solidFill>
            <a:ln>
              <a:noFill/>
            </a:ln>
            <a:effectLst/>
          </c:spPr>
          <c:invertIfNegative val="0"/>
          <c:cat>
            <c:numRef>
              <c:f>Sheet1!$A$2:$A$490</c:f>
              <c:numCache>
                <c:formatCode>m/d/yyyy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Sheet1!$C$2:$C$490</c:f>
              <c:numCache>
                <c:formatCode>#,##0</c:formatCode>
                <c:ptCount val="489"/>
                <c:pt idx="0">
                  <c:v>417023.9</c:v>
                </c:pt>
                <c:pt idx="1">
                  <c:v>1613501</c:v>
                </c:pt>
                <c:pt idx="2">
                  <c:v>261003.2</c:v>
                </c:pt>
                <c:pt idx="3">
                  <c:v>261003.2</c:v>
                </c:pt>
                <c:pt idx="4">
                  <c:v>261003.2</c:v>
                </c:pt>
                <c:pt idx="5">
                  <c:v>1041445</c:v>
                </c:pt>
                <c:pt idx="6">
                  <c:v>5727834</c:v>
                </c:pt>
                <c:pt idx="7">
                  <c:v>4851946</c:v>
                </c:pt>
                <c:pt idx="8">
                  <c:v>2129748</c:v>
                </c:pt>
                <c:pt idx="9">
                  <c:v>1694448</c:v>
                </c:pt>
                <c:pt idx="10">
                  <c:v>1694448</c:v>
                </c:pt>
                <c:pt idx="11">
                  <c:v>1694448</c:v>
                </c:pt>
                <c:pt idx="12">
                  <c:v>2888762</c:v>
                </c:pt>
                <c:pt idx="13">
                  <c:v>3992839</c:v>
                </c:pt>
                <c:pt idx="14">
                  <c:v>1555320</c:v>
                </c:pt>
                <c:pt idx="15">
                  <c:v>3623154</c:v>
                </c:pt>
                <c:pt idx="16">
                  <c:v>1877735</c:v>
                </c:pt>
                <c:pt idx="17">
                  <c:v>1877735</c:v>
                </c:pt>
                <c:pt idx="18">
                  <c:v>1877735</c:v>
                </c:pt>
                <c:pt idx="19">
                  <c:v>829938.3</c:v>
                </c:pt>
                <c:pt idx="20">
                  <c:v>663040.1</c:v>
                </c:pt>
                <c:pt idx="21">
                  <c:v>903542.6</c:v>
                </c:pt>
                <c:pt idx="22">
                  <c:v>1205175</c:v>
                </c:pt>
                <c:pt idx="23">
                  <c:v>897199.4</c:v>
                </c:pt>
                <c:pt idx="24">
                  <c:v>897199.4</c:v>
                </c:pt>
                <c:pt idx="25">
                  <c:v>897199.4</c:v>
                </c:pt>
                <c:pt idx="26">
                  <c:v>6455718</c:v>
                </c:pt>
                <c:pt idx="27">
                  <c:v>3203508</c:v>
                </c:pt>
                <c:pt idx="28">
                  <c:v>3203508</c:v>
                </c:pt>
                <c:pt idx="29">
                  <c:v>3203508</c:v>
                </c:pt>
                <c:pt idx="30">
                  <c:v>660672.80000000005</c:v>
                </c:pt>
                <c:pt idx="31">
                  <c:v>660672.80000000005</c:v>
                </c:pt>
                <c:pt idx="32">
                  <c:v>660672.80000000005</c:v>
                </c:pt>
                <c:pt idx="33">
                  <c:v>992357.4</c:v>
                </c:pt>
                <c:pt idx="34">
                  <c:v>7732051</c:v>
                </c:pt>
                <c:pt idx="35">
                  <c:v>3795672</c:v>
                </c:pt>
                <c:pt idx="36">
                  <c:v>2568706</c:v>
                </c:pt>
                <c:pt idx="37">
                  <c:v>1655126</c:v>
                </c:pt>
                <c:pt idx="38">
                  <c:v>1655126</c:v>
                </c:pt>
                <c:pt idx="39">
                  <c:v>1655126</c:v>
                </c:pt>
                <c:pt idx="40">
                  <c:v>941086.7</c:v>
                </c:pt>
                <c:pt idx="41">
                  <c:v>2260159</c:v>
                </c:pt>
                <c:pt idx="42">
                  <c:v>2113814</c:v>
                </c:pt>
                <c:pt idx="43">
                  <c:v>2045588</c:v>
                </c:pt>
                <c:pt idx="44">
                  <c:v>3824378</c:v>
                </c:pt>
                <c:pt idx="45">
                  <c:v>3824378</c:v>
                </c:pt>
                <c:pt idx="46">
                  <c:v>3824378</c:v>
                </c:pt>
                <c:pt idx="47">
                  <c:v>2165632</c:v>
                </c:pt>
                <c:pt idx="48">
                  <c:v>2782773</c:v>
                </c:pt>
                <c:pt idx="49">
                  <c:v>1246026</c:v>
                </c:pt>
                <c:pt idx="50">
                  <c:v>1977195</c:v>
                </c:pt>
                <c:pt idx="51">
                  <c:v>1185812</c:v>
                </c:pt>
                <c:pt idx="52">
                  <c:v>1185812</c:v>
                </c:pt>
                <c:pt idx="53">
                  <c:v>1185812</c:v>
                </c:pt>
                <c:pt idx="54">
                  <c:v>2323580</c:v>
                </c:pt>
                <c:pt idx="55">
                  <c:v>2561904</c:v>
                </c:pt>
                <c:pt idx="56">
                  <c:v>3046701</c:v>
                </c:pt>
                <c:pt idx="57">
                  <c:v>3449445</c:v>
                </c:pt>
                <c:pt idx="58">
                  <c:v>5079329</c:v>
                </c:pt>
                <c:pt idx="59">
                  <c:v>5079329</c:v>
                </c:pt>
                <c:pt idx="60">
                  <c:v>5079329</c:v>
                </c:pt>
                <c:pt idx="61">
                  <c:v>6014578</c:v>
                </c:pt>
                <c:pt idx="62">
                  <c:v>1834286</c:v>
                </c:pt>
                <c:pt idx="63">
                  <c:v>936413.1</c:v>
                </c:pt>
                <c:pt idx="64">
                  <c:v>3718660</c:v>
                </c:pt>
                <c:pt idx="65">
                  <c:v>991883.5</c:v>
                </c:pt>
                <c:pt idx="66">
                  <c:v>991883.5</c:v>
                </c:pt>
                <c:pt idx="67">
                  <c:v>991883.5</c:v>
                </c:pt>
                <c:pt idx="68">
                  <c:v>1716156</c:v>
                </c:pt>
                <c:pt idx="69">
                  <c:v>2803990</c:v>
                </c:pt>
                <c:pt idx="70">
                  <c:v>2224075</c:v>
                </c:pt>
                <c:pt idx="71">
                  <c:v>10372610</c:v>
                </c:pt>
                <c:pt idx="72">
                  <c:v>1257187</c:v>
                </c:pt>
                <c:pt idx="73">
                  <c:v>1257187</c:v>
                </c:pt>
                <c:pt idx="74">
                  <c:v>1257187</c:v>
                </c:pt>
                <c:pt idx="75">
                  <c:v>709742.8</c:v>
                </c:pt>
                <c:pt idx="76">
                  <c:v>1192509</c:v>
                </c:pt>
                <c:pt idx="77">
                  <c:v>705984.3</c:v>
                </c:pt>
                <c:pt idx="78">
                  <c:v>2278820</c:v>
                </c:pt>
                <c:pt idx="79">
                  <c:v>5164202</c:v>
                </c:pt>
                <c:pt idx="80">
                  <c:v>5164202</c:v>
                </c:pt>
                <c:pt idx="81">
                  <c:v>5164202</c:v>
                </c:pt>
                <c:pt idx="82">
                  <c:v>736791.2</c:v>
                </c:pt>
                <c:pt idx="83">
                  <c:v>2782387</c:v>
                </c:pt>
                <c:pt idx="84">
                  <c:v>1552589</c:v>
                </c:pt>
                <c:pt idx="85">
                  <c:v>1245868</c:v>
                </c:pt>
                <c:pt idx="86">
                  <c:v>2166837</c:v>
                </c:pt>
                <c:pt idx="87">
                  <c:v>2166837</c:v>
                </c:pt>
                <c:pt idx="88">
                  <c:v>2166837</c:v>
                </c:pt>
                <c:pt idx="89">
                  <c:v>2166837</c:v>
                </c:pt>
                <c:pt idx="90">
                  <c:v>2710758</c:v>
                </c:pt>
                <c:pt idx="91">
                  <c:v>1088428</c:v>
                </c:pt>
                <c:pt idx="92">
                  <c:v>3906208</c:v>
                </c:pt>
                <c:pt idx="93">
                  <c:v>4657862</c:v>
                </c:pt>
                <c:pt idx="94">
                  <c:v>4657862</c:v>
                </c:pt>
                <c:pt idx="95">
                  <c:v>4657862</c:v>
                </c:pt>
                <c:pt idx="96">
                  <c:v>3328754</c:v>
                </c:pt>
                <c:pt idx="97">
                  <c:v>2417144</c:v>
                </c:pt>
                <c:pt idx="98">
                  <c:v>1468377</c:v>
                </c:pt>
                <c:pt idx="99">
                  <c:v>2466585</c:v>
                </c:pt>
                <c:pt idx="100">
                  <c:v>1657003</c:v>
                </c:pt>
                <c:pt idx="101">
                  <c:v>1657003</c:v>
                </c:pt>
                <c:pt idx="102">
                  <c:v>1657003</c:v>
                </c:pt>
                <c:pt idx="103">
                  <c:v>1146214</c:v>
                </c:pt>
                <c:pt idx="104">
                  <c:v>1224637</c:v>
                </c:pt>
                <c:pt idx="105">
                  <c:v>2308326</c:v>
                </c:pt>
                <c:pt idx="106">
                  <c:v>568968.19999999995</c:v>
                </c:pt>
                <c:pt idx="107">
                  <c:v>568968.19999999995</c:v>
                </c:pt>
                <c:pt idx="108">
                  <c:v>568968.19999999995</c:v>
                </c:pt>
                <c:pt idx="109">
                  <c:v>568968.19999999995</c:v>
                </c:pt>
                <c:pt idx="110">
                  <c:v>1172412</c:v>
                </c:pt>
                <c:pt idx="111">
                  <c:v>1329267</c:v>
                </c:pt>
                <c:pt idx="112">
                  <c:v>1701979</c:v>
                </c:pt>
                <c:pt idx="113">
                  <c:v>8193535</c:v>
                </c:pt>
                <c:pt idx="114">
                  <c:v>2242693</c:v>
                </c:pt>
                <c:pt idx="115">
                  <c:v>2242693</c:v>
                </c:pt>
                <c:pt idx="116">
                  <c:v>2242693</c:v>
                </c:pt>
                <c:pt idx="117">
                  <c:v>2034502</c:v>
                </c:pt>
                <c:pt idx="118">
                  <c:v>3048845</c:v>
                </c:pt>
                <c:pt idx="119">
                  <c:v>4779193</c:v>
                </c:pt>
                <c:pt idx="120">
                  <c:v>4779193</c:v>
                </c:pt>
                <c:pt idx="121">
                  <c:v>4103989</c:v>
                </c:pt>
                <c:pt idx="122">
                  <c:v>4103989</c:v>
                </c:pt>
                <c:pt idx="123">
                  <c:v>4103989</c:v>
                </c:pt>
                <c:pt idx="124">
                  <c:v>1362027</c:v>
                </c:pt>
                <c:pt idx="125">
                  <c:v>2189495</c:v>
                </c:pt>
                <c:pt idx="126">
                  <c:v>3560365</c:v>
                </c:pt>
                <c:pt idx="127">
                  <c:v>1210257</c:v>
                </c:pt>
                <c:pt idx="128">
                  <c:v>1635934</c:v>
                </c:pt>
                <c:pt idx="129">
                  <c:v>1635934</c:v>
                </c:pt>
                <c:pt idx="130">
                  <c:v>1635934</c:v>
                </c:pt>
                <c:pt idx="131">
                  <c:v>1635934</c:v>
                </c:pt>
                <c:pt idx="132">
                  <c:v>3834065</c:v>
                </c:pt>
                <c:pt idx="133">
                  <c:v>915995.9</c:v>
                </c:pt>
                <c:pt idx="134">
                  <c:v>1049029</c:v>
                </c:pt>
                <c:pt idx="135">
                  <c:v>712567.3</c:v>
                </c:pt>
                <c:pt idx="136">
                  <c:v>712567.3</c:v>
                </c:pt>
                <c:pt idx="137">
                  <c:v>712567.3</c:v>
                </c:pt>
                <c:pt idx="138">
                  <c:v>797109.4</c:v>
                </c:pt>
                <c:pt idx="139">
                  <c:v>1026266</c:v>
                </c:pt>
                <c:pt idx="140">
                  <c:v>788930.3</c:v>
                </c:pt>
                <c:pt idx="141">
                  <c:v>1124545</c:v>
                </c:pt>
                <c:pt idx="142">
                  <c:v>1547641</c:v>
                </c:pt>
                <c:pt idx="143">
                  <c:v>1547641</c:v>
                </c:pt>
                <c:pt idx="144">
                  <c:v>1547641</c:v>
                </c:pt>
                <c:pt idx="145">
                  <c:v>1202427</c:v>
                </c:pt>
                <c:pt idx="146">
                  <c:v>2164205</c:v>
                </c:pt>
                <c:pt idx="147">
                  <c:v>3439994</c:v>
                </c:pt>
                <c:pt idx="148">
                  <c:v>917564.1</c:v>
                </c:pt>
                <c:pt idx="149">
                  <c:v>1582694</c:v>
                </c:pt>
                <c:pt idx="150">
                  <c:v>1582694</c:v>
                </c:pt>
                <c:pt idx="151">
                  <c:v>1582694</c:v>
                </c:pt>
                <c:pt idx="152">
                  <c:v>626428.1</c:v>
                </c:pt>
                <c:pt idx="153">
                  <c:v>2577311</c:v>
                </c:pt>
                <c:pt idx="154">
                  <c:v>1778153</c:v>
                </c:pt>
                <c:pt idx="155">
                  <c:v>1269148</c:v>
                </c:pt>
                <c:pt idx="156">
                  <c:v>840321.5</c:v>
                </c:pt>
                <c:pt idx="157">
                  <c:v>840321.5</c:v>
                </c:pt>
                <c:pt idx="158">
                  <c:v>840321.5</c:v>
                </c:pt>
                <c:pt idx="159">
                  <c:v>403617.6</c:v>
                </c:pt>
                <c:pt idx="160">
                  <c:v>379753</c:v>
                </c:pt>
                <c:pt idx="161">
                  <c:v>1105062</c:v>
                </c:pt>
                <c:pt idx="162">
                  <c:v>1697879</c:v>
                </c:pt>
                <c:pt idx="163">
                  <c:v>1462648</c:v>
                </c:pt>
                <c:pt idx="164">
                  <c:v>1462648</c:v>
                </c:pt>
                <c:pt idx="165">
                  <c:v>1462648</c:v>
                </c:pt>
                <c:pt idx="166">
                  <c:v>1282698</c:v>
                </c:pt>
                <c:pt idx="167">
                  <c:v>569368.69999999995</c:v>
                </c:pt>
                <c:pt idx="168">
                  <c:v>2797714</c:v>
                </c:pt>
                <c:pt idx="169">
                  <c:v>2314685</c:v>
                </c:pt>
                <c:pt idx="170">
                  <c:v>3733469</c:v>
                </c:pt>
                <c:pt idx="171">
                  <c:v>3733469</c:v>
                </c:pt>
                <c:pt idx="172">
                  <c:v>3733469</c:v>
                </c:pt>
                <c:pt idx="173">
                  <c:v>1056268</c:v>
                </c:pt>
                <c:pt idx="174">
                  <c:v>2430770</c:v>
                </c:pt>
                <c:pt idx="175">
                  <c:v>795057.5</c:v>
                </c:pt>
                <c:pt idx="176">
                  <c:v>826281.3</c:v>
                </c:pt>
                <c:pt idx="177">
                  <c:v>2729119</c:v>
                </c:pt>
                <c:pt idx="178">
                  <c:v>2729119</c:v>
                </c:pt>
                <c:pt idx="179">
                  <c:v>2729119</c:v>
                </c:pt>
                <c:pt idx="180">
                  <c:v>3263379</c:v>
                </c:pt>
                <c:pt idx="181">
                  <c:v>1723343</c:v>
                </c:pt>
                <c:pt idx="182">
                  <c:v>3270995</c:v>
                </c:pt>
                <c:pt idx="183">
                  <c:v>2554698</c:v>
                </c:pt>
                <c:pt idx="184">
                  <c:v>1036221</c:v>
                </c:pt>
                <c:pt idx="185">
                  <c:v>1036221</c:v>
                </c:pt>
                <c:pt idx="186">
                  <c:v>1036221</c:v>
                </c:pt>
                <c:pt idx="187">
                  <c:v>1992307</c:v>
                </c:pt>
                <c:pt idx="188">
                  <c:v>570688.80000000005</c:v>
                </c:pt>
                <c:pt idx="189">
                  <c:v>997853.5</c:v>
                </c:pt>
                <c:pt idx="190">
                  <c:v>830274.3</c:v>
                </c:pt>
                <c:pt idx="191">
                  <c:v>714850.2</c:v>
                </c:pt>
                <c:pt idx="192">
                  <c:v>714850.2</c:v>
                </c:pt>
                <c:pt idx="193">
                  <c:v>714850.2</c:v>
                </c:pt>
                <c:pt idx="194">
                  <c:v>758292.2</c:v>
                </c:pt>
                <c:pt idx="195">
                  <c:v>657419.6</c:v>
                </c:pt>
                <c:pt idx="196">
                  <c:v>1502694</c:v>
                </c:pt>
                <c:pt idx="197">
                  <c:v>1854211</c:v>
                </c:pt>
                <c:pt idx="198">
                  <c:v>2202319</c:v>
                </c:pt>
                <c:pt idx="199">
                  <c:v>2202319</c:v>
                </c:pt>
                <c:pt idx="200">
                  <c:v>2202319</c:v>
                </c:pt>
                <c:pt idx="201">
                  <c:v>3300763</c:v>
                </c:pt>
                <c:pt idx="202">
                  <c:v>1372853</c:v>
                </c:pt>
                <c:pt idx="203">
                  <c:v>1067035</c:v>
                </c:pt>
                <c:pt idx="204">
                  <c:v>2953745</c:v>
                </c:pt>
                <c:pt idx="205">
                  <c:v>1940963</c:v>
                </c:pt>
                <c:pt idx="206">
                  <c:v>1940963</c:v>
                </c:pt>
                <c:pt idx="207">
                  <c:v>1940963</c:v>
                </c:pt>
                <c:pt idx="208">
                  <c:v>1642309</c:v>
                </c:pt>
                <c:pt idx="209">
                  <c:v>823861.2</c:v>
                </c:pt>
                <c:pt idx="210">
                  <c:v>1857298</c:v>
                </c:pt>
                <c:pt idx="211">
                  <c:v>1069832</c:v>
                </c:pt>
                <c:pt idx="212">
                  <c:v>2133264</c:v>
                </c:pt>
                <c:pt idx="213">
                  <c:v>2133264</c:v>
                </c:pt>
                <c:pt idx="214">
                  <c:v>2133264</c:v>
                </c:pt>
                <c:pt idx="215">
                  <c:v>1186816</c:v>
                </c:pt>
                <c:pt idx="216">
                  <c:v>706865.9</c:v>
                </c:pt>
                <c:pt idx="217">
                  <c:v>922879.7</c:v>
                </c:pt>
                <c:pt idx="218">
                  <c:v>2026703</c:v>
                </c:pt>
                <c:pt idx="219">
                  <c:v>2569291</c:v>
                </c:pt>
                <c:pt idx="220">
                  <c:v>2569291</c:v>
                </c:pt>
                <c:pt idx="221">
                  <c:v>2569291</c:v>
                </c:pt>
                <c:pt idx="222">
                  <c:v>2136831</c:v>
                </c:pt>
                <c:pt idx="223">
                  <c:v>552989.6</c:v>
                </c:pt>
                <c:pt idx="224">
                  <c:v>3798589</c:v>
                </c:pt>
                <c:pt idx="225">
                  <c:v>2991296</c:v>
                </c:pt>
                <c:pt idx="226">
                  <c:v>2767624</c:v>
                </c:pt>
                <c:pt idx="227">
                  <c:v>2767624</c:v>
                </c:pt>
                <c:pt idx="228">
                  <c:v>2767624</c:v>
                </c:pt>
                <c:pt idx="229">
                  <c:v>868009.4</c:v>
                </c:pt>
                <c:pt idx="230">
                  <c:v>1120541</c:v>
                </c:pt>
                <c:pt idx="231">
                  <c:v>1858480</c:v>
                </c:pt>
                <c:pt idx="232">
                  <c:v>1518197</c:v>
                </c:pt>
                <c:pt idx="233">
                  <c:v>1109699</c:v>
                </c:pt>
                <c:pt idx="234">
                  <c:v>1109699</c:v>
                </c:pt>
                <c:pt idx="235">
                  <c:v>1109699</c:v>
                </c:pt>
                <c:pt idx="236">
                  <c:v>2158770</c:v>
                </c:pt>
                <c:pt idx="237">
                  <c:v>2223419</c:v>
                </c:pt>
                <c:pt idx="238">
                  <c:v>144989.70000000001</c:v>
                </c:pt>
                <c:pt idx="239">
                  <c:v>492358.5</c:v>
                </c:pt>
                <c:pt idx="240">
                  <c:v>1074979</c:v>
                </c:pt>
                <c:pt idx="241">
                  <c:v>1074979</c:v>
                </c:pt>
                <c:pt idx="242">
                  <c:v>1074979</c:v>
                </c:pt>
                <c:pt idx="243">
                  <c:v>655349.69999999995</c:v>
                </c:pt>
                <c:pt idx="244">
                  <c:v>465471.1</c:v>
                </c:pt>
                <c:pt idx="245">
                  <c:v>1422179</c:v>
                </c:pt>
                <c:pt idx="246">
                  <c:v>2409383</c:v>
                </c:pt>
                <c:pt idx="247">
                  <c:v>3084161</c:v>
                </c:pt>
                <c:pt idx="248">
                  <c:v>3084161</c:v>
                </c:pt>
                <c:pt idx="249">
                  <c:v>3084161</c:v>
                </c:pt>
                <c:pt idx="250">
                  <c:v>2348790</c:v>
                </c:pt>
                <c:pt idx="251">
                  <c:v>1330587</c:v>
                </c:pt>
                <c:pt idx="252">
                  <c:v>1609039</c:v>
                </c:pt>
                <c:pt idx="253">
                  <c:v>702282.1</c:v>
                </c:pt>
                <c:pt idx="254">
                  <c:v>2603112</c:v>
                </c:pt>
                <c:pt idx="255">
                  <c:v>2603112</c:v>
                </c:pt>
                <c:pt idx="256">
                  <c:v>2603112</c:v>
                </c:pt>
                <c:pt idx="257">
                  <c:v>1632234</c:v>
                </c:pt>
                <c:pt idx="258">
                  <c:v>771812.4</c:v>
                </c:pt>
                <c:pt idx="259">
                  <c:v>1200511</c:v>
                </c:pt>
                <c:pt idx="260">
                  <c:v>4264436</c:v>
                </c:pt>
                <c:pt idx="261">
                  <c:v>7590182</c:v>
                </c:pt>
                <c:pt idx="262">
                  <c:v>7590182</c:v>
                </c:pt>
                <c:pt idx="263">
                  <c:v>7590182</c:v>
                </c:pt>
                <c:pt idx="264">
                  <c:v>4921656</c:v>
                </c:pt>
                <c:pt idx="265">
                  <c:v>1494304</c:v>
                </c:pt>
                <c:pt idx="266">
                  <c:v>3017517</c:v>
                </c:pt>
                <c:pt idx="267">
                  <c:v>3569429</c:v>
                </c:pt>
                <c:pt idx="268">
                  <c:v>1114638</c:v>
                </c:pt>
                <c:pt idx="269">
                  <c:v>1114638</c:v>
                </c:pt>
                <c:pt idx="270">
                  <c:v>1114638</c:v>
                </c:pt>
                <c:pt idx="271">
                  <c:v>5213362</c:v>
                </c:pt>
                <c:pt idx="272">
                  <c:v>5497331</c:v>
                </c:pt>
                <c:pt idx="273">
                  <c:v>1255539</c:v>
                </c:pt>
                <c:pt idx="274">
                  <c:v>2441341</c:v>
                </c:pt>
                <c:pt idx="275">
                  <c:v>4161924</c:v>
                </c:pt>
                <c:pt idx="276">
                  <c:v>4161924</c:v>
                </c:pt>
                <c:pt idx="277">
                  <c:v>4161924</c:v>
                </c:pt>
                <c:pt idx="278">
                  <c:v>2460229</c:v>
                </c:pt>
                <c:pt idx="279">
                  <c:v>2073903</c:v>
                </c:pt>
                <c:pt idx="280">
                  <c:v>3684787</c:v>
                </c:pt>
                <c:pt idx="281">
                  <c:v>1924085</c:v>
                </c:pt>
                <c:pt idx="282">
                  <c:v>2645227</c:v>
                </c:pt>
                <c:pt idx="283">
                  <c:v>2645227</c:v>
                </c:pt>
                <c:pt idx="284">
                  <c:v>2645227</c:v>
                </c:pt>
                <c:pt idx="285">
                  <c:v>1365117</c:v>
                </c:pt>
                <c:pt idx="286">
                  <c:v>3790022</c:v>
                </c:pt>
                <c:pt idx="287">
                  <c:v>1746902</c:v>
                </c:pt>
                <c:pt idx="288">
                  <c:v>1242924</c:v>
                </c:pt>
                <c:pt idx="289">
                  <c:v>1080924</c:v>
                </c:pt>
                <c:pt idx="290">
                  <c:v>1080924</c:v>
                </c:pt>
                <c:pt idx="291">
                  <c:v>1080924</c:v>
                </c:pt>
                <c:pt idx="292">
                  <c:v>1080924</c:v>
                </c:pt>
                <c:pt idx="293">
                  <c:v>2474036</c:v>
                </c:pt>
                <c:pt idx="294">
                  <c:v>4403567</c:v>
                </c:pt>
                <c:pt idx="295">
                  <c:v>2836951</c:v>
                </c:pt>
                <c:pt idx="296">
                  <c:v>978812.1</c:v>
                </c:pt>
                <c:pt idx="297" formatCode="General">
                  <c:v>978812.1</c:v>
                </c:pt>
                <c:pt idx="298" formatCode="General">
                  <c:v>978812.1</c:v>
                </c:pt>
                <c:pt idx="299" formatCode="General">
                  <c:v>2435677</c:v>
                </c:pt>
                <c:pt idx="300" formatCode="General">
                  <c:v>6470948</c:v>
                </c:pt>
                <c:pt idx="301" formatCode="General">
                  <c:v>2275190</c:v>
                </c:pt>
                <c:pt idx="302" formatCode="General">
                  <c:v>937243.9</c:v>
                </c:pt>
                <c:pt idx="303" formatCode="General">
                  <c:v>1365503</c:v>
                </c:pt>
                <c:pt idx="304" formatCode="General">
                  <c:v>1365503</c:v>
                </c:pt>
                <c:pt idx="305" formatCode="General">
                  <c:v>1365503</c:v>
                </c:pt>
                <c:pt idx="306" formatCode="General">
                  <c:v>1534219</c:v>
                </c:pt>
                <c:pt idx="307" formatCode="General">
                  <c:v>4691195</c:v>
                </c:pt>
                <c:pt idx="308" formatCode="General">
                  <c:v>4194688</c:v>
                </c:pt>
                <c:pt idx="309" formatCode="General">
                  <c:v>989461.5</c:v>
                </c:pt>
                <c:pt idx="310" formatCode="General">
                  <c:v>581909.30000000005</c:v>
                </c:pt>
                <c:pt idx="311" formatCode="General">
                  <c:v>581909.30000000005</c:v>
                </c:pt>
                <c:pt idx="312" formatCode="General">
                  <c:v>581909.30000000005</c:v>
                </c:pt>
                <c:pt idx="313" formatCode="General">
                  <c:v>866079.6</c:v>
                </c:pt>
                <c:pt idx="314" formatCode="General">
                  <c:v>1184414</c:v>
                </c:pt>
                <c:pt idx="315" formatCode="General">
                  <c:v>2041034</c:v>
                </c:pt>
                <c:pt idx="316" formatCode="General">
                  <c:v>306779.90000000002</c:v>
                </c:pt>
                <c:pt idx="317" formatCode="General">
                  <c:v>962167.4</c:v>
                </c:pt>
                <c:pt idx="318" formatCode="General">
                  <c:v>962167.4</c:v>
                </c:pt>
                <c:pt idx="319" formatCode="General">
                  <c:v>962167.4</c:v>
                </c:pt>
                <c:pt idx="320" formatCode="General">
                  <c:v>654492.69999999995</c:v>
                </c:pt>
                <c:pt idx="321" formatCode="General">
                  <c:v>596681.30000000005</c:v>
                </c:pt>
                <c:pt idx="322" formatCode="General">
                  <c:v>1624538</c:v>
                </c:pt>
                <c:pt idx="323" formatCode="General">
                  <c:v>1458085</c:v>
                </c:pt>
                <c:pt idx="324" formatCode="General">
                  <c:v>1438989</c:v>
                </c:pt>
                <c:pt idx="325" formatCode="General">
                  <c:v>1438989</c:v>
                </c:pt>
                <c:pt idx="326" formatCode="General">
                  <c:v>1438989</c:v>
                </c:pt>
                <c:pt idx="327" formatCode="General">
                  <c:v>2079158</c:v>
                </c:pt>
                <c:pt idx="328" formatCode="General">
                  <c:v>783613.5</c:v>
                </c:pt>
                <c:pt idx="329" formatCode="General">
                  <c:v>1446771</c:v>
                </c:pt>
                <c:pt idx="330" formatCode="General">
                  <c:v>1227885</c:v>
                </c:pt>
                <c:pt idx="331" formatCode="General">
                  <c:v>1690686</c:v>
                </c:pt>
                <c:pt idx="332" formatCode="General">
                  <c:v>1690686</c:v>
                </c:pt>
                <c:pt idx="333" formatCode="General">
                  <c:v>1690686</c:v>
                </c:pt>
                <c:pt idx="334" formatCode="General">
                  <c:v>625282.5</c:v>
                </c:pt>
                <c:pt idx="335" formatCode="General">
                  <c:v>810758.2</c:v>
                </c:pt>
                <c:pt idx="336" formatCode="General">
                  <c:v>1445815</c:v>
                </c:pt>
                <c:pt idx="337" formatCode="General">
                  <c:v>1080533</c:v>
                </c:pt>
                <c:pt idx="338" formatCode="General">
                  <c:v>2189061</c:v>
                </c:pt>
                <c:pt idx="339" formatCode="General">
                  <c:v>2189061</c:v>
                </c:pt>
                <c:pt idx="340" formatCode="General">
                  <c:v>2189061</c:v>
                </c:pt>
                <c:pt idx="341" formatCode="General">
                  <c:v>1752045</c:v>
                </c:pt>
                <c:pt idx="342" formatCode="General">
                  <c:v>1497103</c:v>
                </c:pt>
                <c:pt idx="343" formatCode="General">
                  <c:v>1208219</c:v>
                </c:pt>
                <c:pt idx="344" formatCode="General">
                  <c:v>2304576</c:v>
                </c:pt>
                <c:pt idx="345" formatCode="General">
                  <c:v>1750999</c:v>
                </c:pt>
                <c:pt idx="346" formatCode="General">
                  <c:v>1750999</c:v>
                </c:pt>
                <c:pt idx="347" formatCode="General">
                  <c:v>1750999</c:v>
                </c:pt>
                <c:pt idx="348" formatCode="General">
                  <c:v>1210043</c:v>
                </c:pt>
                <c:pt idx="349" formatCode="General">
                  <c:v>3535087</c:v>
                </c:pt>
                <c:pt idx="350" formatCode="General">
                  <c:v>1555618</c:v>
                </c:pt>
                <c:pt idx="351" formatCode="General">
                  <c:v>1549428</c:v>
                </c:pt>
                <c:pt idx="352" formatCode="General">
                  <c:v>2498768</c:v>
                </c:pt>
                <c:pt idx="353" formatCode="General">
                  <c:v>2498768</c:v>
                </c:pt>
                <c:pt idx="354" formatCode="General">
                  <c:v>2498768</c:v>
                </c:pt>
                <c:pt idx="355" formatCode="General">
                  <c:v>1106997</c:v>
                </c:pt>
                <c:pt idx="356" formatCode="General">
                  <c:v>1748476</c:v>
                </c:pt>
                <c:pt idx="357" formatCode="General">
                  <c:v>251700.6</c:v>
                </c:pt>
                <c:pt idx="358" formatCode="General">
                  <c:v>251700.6</c:v>
                </c:pt>
                <c:pt idx="359" formatCode="General">
                  <c:v>397907.8</c:v>
                </c:pt>
                <c:pt idx="360" formatCode="General">
                  <c:v>397907.8</c:v>
                </c:pt>
                <c:pt idx="361" formatCode="General">
                  <c:v>397907.8</c:v>
                </c:pt>
                <c:pt idx="362" formatCode="General">
                  <c:v>431569.4</c:v>
                </c:pt>
                <c:pt idx="363" formatCode="General">
                  <c:v>482933.5</c:v>
                </c:pt>
                <c:pt idx="364" formatCode="General">
                  <c:v>1334395</c:v>
                </c:pt>
                <c:pt idx="365" formatCode="General">
                  <c:v>1334395</c:v>
                </c:pt>
                <c:pt idx="366" formatCode="General">
                  <c:v>1334395</c:v>
                </c:pt>
                <c:pt idx="367" formatCode="General">
                  <c:v>1334395</c:v>
                </c:pt>
                <c:pt idx="368" formatCode="General">
                  <c:v>1334395</c:v>
                </c:pt>
                <c:pt idx="369" formatCode="General">
                  <c:v>20425910</c:v>
                </c:pt>
                <c:pt idx="370" formatCode="General">
                  <c:v>5395600</c:v>
                </c:pt>
                <c:pt idx="371" formatCode="General">
                  <c:v>3910996</c:v>
                </c:pt>
                <c:pt idx="372" formatCode="General">
                  <c:v>1428737</c:v>
                </c:pt>
                <c:pt idx="373" formatCode="General">
                  <c:v>924097.7</c:v>
                </c:pt>
                <c:pt idx="374" formatCode="General">
                  <c:v>924097.7</c:v>
                </c:pt>
                <c:pt idx="375" formatCode="General">
                  <c:v>924097.7</c:v>
                </c:pt>
                <c:pt idx="376" formatCode="General">
                  <c:v>2027210</c:v>
                </c:pt>
                <c:pt idx="377" formatCode="General">
                  <c:v>4380508</c:v>
                </c:pt>
                <c:pt idx="378" formatCode="General">
                  <c:v>748453.3</c:v>
                </c:pt>
                <c:pt idx="379" formatCode="General">
                  <c:v>1750737</c:v>
                </c:pt>
                <c:pt idx="380" formatCode="General">
                  <c:v>751273.6</c:v>
                </c:pt>
                <c:pt idx="381" formatCode="General">
                  <c:v>751273.6</c:v>
                </c:pt>
                <c:pt idx="382" formatCode="General">
                  <c:v>751273.6</c:v>
                </c:pt>
                <c:pt idx="383" formatCode="General">
                  <c:v>2063092</c:v>
                </c:pt>
                <c:pt idx="384" formatCode="General">
                  <c:v>1200006</c:v>
                </c:pt>
                <c:pt idx="385" formatCode="General">
                  <c:v>2650630</c:v>
                </c:pt>
                <c:pt idx="386" formatCode="General">
                  <c:v>1408941</c:v>
                </c:pt>
                <c:pt idx="387" formatCode="General">
                  <c:v>1923650</c:v>
                </c:pt>
                <c:pt idx="388" formatCode="General">
                  <c:v>1923650</c:v>
                </c:pt>
                <c:pt idx="389" formatCode="General">
                  <c:v>1923650</c:v>
                </c:pt>
                <c:pt idx="390" formatCode="General">
                  <c:v>1984429</c:v>
                </c:pt>
                <c:pt idx="391" formatCode="General">
                  <c:v>2918194</c:v>
                </c:pt>
                <c:pt idx="392" formatCode="General">
                  <c:v>1829350</c:v>
                </c:pt>
                <c:pt idx="393" formatCode="General">
                  <c:v>2192397</c:v>
                </c:pt>
                <c:pt idx="394" formatCode="General">
                  <c:v>1423769</c:v>
                </c:pt>
                <c:pt idx="395" formatCode="General">
                  <c:v>1423769</c:v>
                </c:pt>
                <c:pt idx="396" formatCode="General">
                  <c:v>1423769</c:v>
                </c:pt>
                <c:pt idx="397" formatCode="General">
                  <c:v>2490227</c:v>
                </c:pt>
                <c:pt idx="398" formatCode="General">
                  <c:v>1639098</c:v>
                </c:pt>
                <c:pt idx="399" formatCode="General">
                  <c:v>2499769</c:v>
                </c:pt>
                <c:pt idx="400" formatCode="General">
                  <c:v>3300178</c:v>
                </c:pt>
                <c:pt idx="401" formatCode="General">
                  <c:v>1998640</c:v>
                </c:pt>
                <c:pt idx="402" formatCode="General">
                  <c:v>1998640</c:v>
                </c:pt>
                <c:pt idx="403" formatCode="General">
                  <c:v>1998640</c:v>
                </c:pt>
                <c:pt idx="404" formatCode="General">
                  <c:v>2116224</c:v>
                </c:pt>
                <c:pt idx="405" formatCode="General">
                  <c:v>1750554</c:v>
                </c:pt>
                <c:pt idx="406" formatCode="General">
                  <c:v>3236459</c:v>
                </c:pt>
                <c:pt idx="407" formatCode="General">
                  <c:v>2243229</c:v>
                </c:pt>
                <c:pt idx="408" formatCode="General">
                  <c:v>1259117</c:v>
                </c:pt>
                <c:pt idx="409" formatCode="General">
                  <c:v>1259117</c:v>
                </c:pt>
                <c:pt idx="410" formatCode="General">
                  <c:v>1259117</c:v>
                </c:pt>
                <c:pt idx="411" formatCode="General">
                  <c:v>79886.61</c:v>
                </c:pt>
                <c:pt idx="412" formatCode="General">
                  <c:v>79886.61</c:v>
                </c:pt>
                <c:pt idx="413" formatCode="General">
                  <c:v>79886.61</c:v>
                </c:pt>
                <c:pt idx="414" formatCode="General">
                  <c:v>3583635</c:v>
                </c:pt>
                <c:pt idx="415" formatCode="General">
                  <c:v>1390936</c:v>
                </c:pt>
                <c:pt idx="416" formatCode="General">
                  <c:v>1390936</c:v>
                </c:pt>
                <c:pt idx="417" formatCode="General">
                  <c:v>1390936</c:v>
                </c:pt>
                <c:pt idx="418" formatCode="General">
                  <c:v>3734305</c:v>
                </c:pt>
                <c:pt idx="419" formatCode="General">
                  <c:v>1505786</c:v>
                </c:pt>
                <c:pt idx="420" formatCode="General">
                  <c:v>797163.5</c:v>
                </c:pt>
                <c:pt idx="421" formatCode="General">
                  <c:v>938349.6</c:v>
                </c:pt>
                <c:pt idx="422" formatCode="General">
                  <c:v>1883917</c:v>
                </c:pt>
                <c:pt idx="423" formatCode="General">
                  <c:v>1883917</c:v>
                </c:pt>
                <c:pt idx="424" formatCode="General">
                  <c:v>1883917</c:v>
                </c:pt>
                <c:pt idx="425" formatCode="General">
                  <c:v>708547.1</c:v>
                </c:pt>
                <c:pt idx="426" formatCode="General">
                  <c:v>938850</c:v>
                </c:pt>
                <c:pt idx="427" formatCode="General">
                  <c:v>6125518</c:v>
                </c:pt>
                <c:pt idx="428" formatCode="General">
                  <c:v>1280840</c:v>
                </c:pt>
                <c:pt idx="429" formatCode="General">
                  <c:v>783445.2</c:v>
                </c:pt>
                <c:pt idx="430" formatCode="General">
                  <c:v>783445.2</c:v>
                </c:pt>
                <c:pt idx="431" formatCode="General">
                  <c:v>783445.2</c:v>
                </c:pt>
                <c:pt idx="432" formatCode="General">
                  <c:v>1922649</c:v>
                </c:pt>
                <c:pt idx="433" formatCode="General">
                  <c:v>488565.7</c:v>
                </c:pt>
                <c:pt idx="434" formatCode="General">
                  <c:v>834242.2</c:v>
                </c:pt>
                <c:pt idx="435" formatCode="General">
                  <c:v>2108792</c:v>
                </c:pt>
                <c:pt idx="436" formatCode="General">
                  <c:v>1172571</c:v>
                </c:pt>
                <c:pt idx="437" formatCode="General">
                  <c:v>1172571</c:v>
                </c:pt>
                <c:pt idx="438" formatCode="General">
                  <c:v>1172571</c:v>
                </c:pt>
                <c:pt idx="439" formatCode="General">
                  <c:v>420871.6</c:v>
                </c:pt>
                <c:pt idx="440" formatCode="General">
                  <c:v>1001051</c:v>
                </c:pt>
                <c:pt idx="441" formatCode="General">
                  <c:v>740982.4</c:v>
                </c:pt>
                <c:pt idx="442" formatCode="General">
                  <c:v>660097.80000000005</c:v>
                </c:pt>
                <c:pt idx="443" formatCode="General">
                  <c:v>1466095</c:v>
                </c:pt>
                <c:pt idx="444" formatCode="General">
                  <c:v>1466095</c:v>
                </c:pt>
                <c:pt idx="445" formatCode="General">
                  <c:v>1466095</c:v>
                </c:pt>
                <c:pt idx="446" formatCode="General">
                  <c:v>2743497</c:v>
                </c:pt>
                <c:pt idx="447" formatCode="General">
                  <c:v>1938255</c:v>
                </c:pt>
                <c:pt idx="448" formatCode="General">
                  <c:v>2081971</c:v>
                </c:pt>
                <c:pt idx="449" formatCode="General">
                  <c:v>1756071</c:v>
                </c:pt>
                <c:pt idx="450" formatCode="General">
                  <c:v>3308053</c:v>
                </c:pt>
                <c:pt idx="451" formatCode="General">
                  <c:v>3308053</c:v>
                </c:pt>
                <c:pt idx="452" formatCode="General">
                  <c:v>3308053</c:v>
                </c:pt>
                <c:pt idx="453" formatCode="General">
                  <c:v>2304285</c:v>
                </c:pt>
                <c:pt idx="454" formatCode="General">
                  <c:v>1432767</c:v>
                </c:pt>
                <c:pt idx="455" formatCode="General">
                  <c:v>1361939</c:v>
                </c:pt>
                <c:pt idx="456" formatCode="General">
                  <c:v>1256978</c:v>
                </c:pt>
                <c:pt idx="457" formatCode="General">
                  <c:v>1256978</c:v>
                </c:pt>
                <c:pt idx="458" formatCode="General">
                  <c:v>1256978</c:v>
                </c:pt>
                <c:pt idx="459" formatCode="General">
                  <c:v>1256978</c:v>
                </c:pt>
                <c:pt idx="460" formatCode="General">
                  <c:v>277864.59999999998</c:v>
                </c:pt>
                <c:pt idx="461" formatCode="General">
                  <c:v>439245.5</c:v>
                </c:pt>
                <c:pt idx="462" formatCode="General">
                  <c:v>2597362</c:v>
                </c:pt>
                <c:pt idx="463" formatCode="General">
                  <c:v>345284.4</c:v>
                </c:pt>
                <c:pt idx="464" formatCode="General">
                  <c:v>1309581</c:v>
                </c:pt>
                <c:pt idx="465" formatCode="General">
                  <c:v>1309581</c:v>
                </c:pt>
                <c:pt idx="466" formatCode="General">
                  <c:v>1309581</c:v>
                </c:pt>
                <c:pt idx="467" formatCode="General">
                  <c:v>1069349</c:v>
                </c:pt>
                <c:pt idx="468" formatCode="General">
                  <c:v>1638789</c:v>
                </c:pt>
                <c:pt idx="469" formatCode="General">
                  <c:v>3578487</c:v>
                </c:pt>
                <c:pt idx="470" formatCode="General">
                  <c:v>1256398</c:v>
                </c:pt>
                <c:pt idx="471" formatCode="General">
                  <c:v>577671.9</c:v>
                </c:pt>
                <c:pt idx="472" formatCode="General">
                  <c:v>577671.9</c:v>
                </c:pt>
                <c:pt idx="473" formatCode="General">
                  <c:v>577671.9</c:v>
                </c:pt>
                <c:pt idx="474" formatCode="General">
                  <c:v>2079495</c:v>
                </c:pt>
                <c:pt idx="475" formatCode="General">
                  <c:v>1025094</c:v>
                </c:pt>
                <c:pt idx="476" formatCode="General">
                  <c:v>1717201</c:v>
                </c:pt>
                <c:pt idx="477" formatCode="General">
                  <c:v>2618844</c:v>
                </c:pt>
                <c:pt idx="478" formatCode="General">
                  <c:v>3675716</c:v>
                </c:pt>
                <c:pt idx="479" formatCode="General">
                  <c:v>3675716</c:v>
                </c:pt>
                <c:pt idx="480" formatCode="General">
                  <c:v>3675716</c:v>
                </c:pt>
                <c:pt idx="481" formatCode="General">
                  <c:v>2739363</c:v>
                </c:pt>
                <c:pt idx="482" formatCode="General">
                  <c:v>2311528</c:v>
                </c:pt>
                <c:pt idx="483" formatCode="General">
                  <c:v>2052884</c:v>
                </c:pt>
                <c:pt idx="484" formatCode="General">
                  <c:v>979878.1</c:v>
                </c:pt>
                <c:pt idx="485" formatCode="General">
                  <c:v>979878.1</c:v>
                </c:pt>
                <c:pt idx="486" formatCode="General">
                  <c:v>979878.1</c:v>
                </c:pt>
                <c:pt idx="487" formatCode="General">
                  <c:v>979878.1</c:v>
                </c:pt>
                <c:pt idx="488" formatCode="General">
                  <c:v>1044139</c:v>
                </c:pt>
              </c:numCache>
            </c:numRef>
          </c:val>
          <c:extLst>
            <c:ext xmlns:c16="http://schemas.microsoft.com/office/drawing/2014/chart" uri="{C3380CC4-5D6E-409C-BE32-E72D297353CC}">
              <c16:uniqueId val="{00000003-CC94-4733-9FA0-9D75AA0F1B26}"/>
            </c:ext>
          </c:extLst>
        </c:ser>
        <c:dLbls>
          <c:showLegendKey val="0"/>
          <c:showVal val="0"/>
          <c:showCatName val="0"/>
          <c:showSerName val="0"/>
          <c:showPercent val="0"/>
          <c:showBubbleSize val="0"/>
        </c:dLbls>
        <c:gapWidth val="150"/>
        <c:axId val="332405216"/>
        <c:axId val="332405696"/>
      </c:barChart>
      <c:lineChart>
        <c:grouping val="standard"/>
        <c:varyColors val="0"/>
        <c:ser>
          <c:idx val="0"/>
          <c:order val="0"/>
          <c:tx>
            <c:strRef>
              <c:f>Sheet1!$B$1</c:f>
              <c:strCache>
                <c:ptCount val="1"/>
                <c:pt idx="0">
                  <c:v>Digital Core (Rebased)</c:v>
                </c:pt>
              </c:strCache>
            </c:strRef>
          </c:tx>
          <c:spPr>
            <a:ln w="19050" cap="rnd">
              <a:solidFill>
                <a:srgbClr val="1F2C5C"/>
              </a:solidFill>
              <a:round/>
            </a:ln>
            <a:effectLst>
              <a:outerShdw blurRad="50800" dist="38100" dir="5400000" algn="t" rotWithShape="0">
                <a:prstClr val="black">
                  <a:alpha val="40000"/>
                </a:prstClr>
              </a:outerShdw>
            </a:effectLst>
          </c:spPr>
          <c:marker>
            <c:symbol val="none"/>
          </c:marker>
          <c:cat>
            <c:numRef>
              <c:f>Sheet1!$A$2:$A$490</c:f>
              <c:numCache>
                <c:formatCode>m/d/yyyy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Sheet1!$B$2:$B$490</c:f>
              <c:numCache>
                <c:formatCode>General</c:formatCode>
                <c:ptCount val="489"/>
                <c:pt idx="0">
                  <c:v>100</c:v>
                </c:pt>
                <c:pt idx="1">
                  <c:v>100</c:v>
                </c:pt>
                <c:pt idx="2">
                  <c:v>100</c:v>
                </c:pt>
                <c:pt idx="3">
                  <c:v>100</c:v>
                </c:pt>
                <c:pt idx="4">
                  <c:v>100</c:v>
                </c:pt>
                <c:pt idx="5">
                  <c:v>99.137931034482762</c:v>
                </c:pt>
                <c:pt idx="6">
                  <c:v>93.965517241379331</c:v>
                </c:pt>
                <c:pt idx="7">
                  <c:v>96.551724137931046</c:v>
                </c:pt>
                <c:pt idx="8">
                  <c:v>100.86206896551724</c:v>
                </c:pt>
                <c:pt idx="9">
                  <c:v>99.137931034482762</c:v>
                </c:pt>
                <c:pt idx="10">
                  <c:v>99.137931034482762</c:v>
                </c:pt>
                <c:pt idx="11">
                  <c:v>99.137931034482762</c:v>
                </c:pt>
                <c:pt idx="12">
                  <c:v>93.103448275862078</c:v>
                </c:pt>
                <c:pt idx="13">
                  <c:v>95.689655172413808</c:v>
                </c:pt>
                <c:pt idx="14">
                  <c:v>96.551724137931046</c:v>
                </c:pt>
                <c:pt idx="15">
                  <c:v>100.86206896551724</c:v>
                </c:pt>
                <c:pt idx="16">
                  <c:v>100</c:v>
                </c:pt>
                <c:pt idx="17">
                  <c:v>100</c:v>
                </c:pt>
                <c:pt idx="18">
                  <c:v>100</c:v>
                </c:pt>
                <c:pt idx="19">
                  <c:v>98.275862068965509</c:v>
                </c:pt>
                <c:pt idx="20">
                  <c:v>97.41379310344827</c:v>
                </c:pt>
                <c:pt idx="21">
                  <c:v>100</c:v>
                </c:pt>
                <c:pt idx="22">
                  <c:v>99.137931034482762</c:v>
                </c:pt>
                <c:pt idx="23">
                  <c:v>100</c:v>
                </c:pt>
                <c:pt idx="24">
                  <c:v>100</c:v>
                </c:pt>
                <c:pt idx="25">
                  <c:v>100</c:v>
                </c:pt>
                <c:pt idx="26">
                  <c:v>93.965517241379331</c:v>
                </c:pt>
                <c:pt idx="27">
                  <c:v>94.827586206896569</c:v>
                </c:pt>
                <c:pt idx="28">
                  <c:v>94.827586206896569</c:v>
                </c:pt>
                <c:pt idx="29">
                  <c:v>94.827586206896569</c:v>
                </c:pt>
                <c:pt idx="30">
                  <c:v>95.689655172413808</c:v>
                </c:pt>
                <c:pt idx="31">
                  <c:v>95.689655172413808</c:v>
                </c:pt>
                <c:pt idx="32">
                  <c:v>95.689655172413808</c:v>
                </c:pt>
                <c:pt idx="33">
                  <c:v>93.103448275862078</c:v>
                </c:pt>
                <c:pt idx="34">
                  <c:v>89.65517241379311</c:v>
                </c:pt>
                <c:pt idx="35">
                  <c:v>87.931034482758633</c:v>
                </c:pt>
                <c:pt idx="36">
                  <c:v>89.65517241379311</c:v>
                </c:pt>
                <c:pt idx="37">
                  <c:v>91.379310344827601</c:v>
                </c:pt>
                <c:pt idx="38">
                  <c:v>91.379310344827601</c:v>
                </c:pt>
                <c:pt idx="39">
                  <c:v>91.379310344827601</c:v>
                </c:pt>
                <c:pt idx="40">
                  <c:v>89.65517241379311</c:v>
                </c:pt>
                <c:pt idx="41">
                  <c:v>87.931034482758633</c:v>
                </c:pt>
                <c:pt idx="42">
                  <c:v>88.793103448275872</c:v>
                </c:pt>
                <c:pt idx="43">
                  <c:v>92.24137931034484</c:v>
                </c:pt>
                <c:pt idx="44">
                  <c:v>96.551724137931046</c:v>
                </c:pt>
                <c:pt idx="45">
                  <c:v>96.551724137931046</c:v>
                </c:pt>
                <c:pt idx="46">
                  <c:v>96.551724137931046</c:v>
                </c:pt>
                <c:pt idx="47">
                  <c:v>96.551724137931046</c:v>
                </c:pt>
                <c:pt idx="48">
                  <c:v>98.275862068965509</c:v>
                </c:pt>
                <c:pt idx="49">
                  <c:v>97.41379310344827</c:v>
                </c:pt>
                <c:pt idx="50">
                  <c:v>100</c:v>
                </c:pt>
                <c:pt idx="51">
                  <c:v>98.275862068965509</c:v>
                </c:pt>
                <c:pt idx="52">
                  <c:v>98.275862068965509</c:v>
                </c:pt>
                <c:pt idx="53">
                  <c:v>98.275862068965509</c:v>
                </c:pt>
                <c:pt idx="54">
                  <c:v>95.689655172413808</c:v>
                </c:pt>
                <c:pt idx="55">
                  <c:v>93.965517241379331</c:v>
                </c:pt>
                <c:pt idx="56">
                  <c:v>93.103448275862078</c:v>
                </c:pt>
                <c:pt idx="57">
                  <c:v>88.793103448275872</c:v>
                </c:pt>
                <c:pt idx="58">
                  <c:v>97.41379310344827</c:v>
                </c:pt>
                <c:pt idx="59">
                  <c:v>97.41379310344827</c:v>
                </c:pt>
                <c:pt idx="60">
                  <c:v>97.41379310344827</c:v>
                </c:pt>
                <c:pt idx="61">
                  <c:v>96.551724137931046</c:v>
                </c:pt>
                <c:pt idx="62">
                  <c:v>95.689655172413808</c:v>
                </c:pt>
                <c:pt idx="63">
                  <c:v>94.827586206896569</c:v>
                </c:pt>
                <c:pt idx="64">
                  <c:v>99.137931034482762</c:v>
                </c:pt>
                <c:pt idx="65">
                  <c:v>98.275862068965509</c:v>
                </c:pt>
                <c:pt idx="66">
                  <c:v>98.275862068965509</c:v>
                </c:pt>
                <c:pt idx="67">
                  <c:v>98.275862068965509</c:v>
                </c:pt>
                <c:pt idx="68">
                  <c:v>98.275862068965509</c:v>
                </c:pt>
                <c:pt idx="69">
                  <c:v>99.137931034482762</c:v>
                </c:pt>
                <c:pt idx="70">
                  <c:v>98.275862068965509</c:v>
                </c:pt>
                <c:pt idx="71">
                  <c:v>95.689655172413808</c:v>
                </c:pt>
                <c:pt idx="72">
                  <c:v>95.689655172413808</c:v>
                </c:pt>
                <c:pt idx="73">
                  <c:v>95.689655172413808</c:v>
                </c:pt>
                <c:pt idx="74">
                  <c:v>95.689655172413808</c:v>
                </c:pt>
                <c:pt idx="75">
                  <c:v>96.551724137931046</c:v>
                </c:pt>
                <c:pt idx="76">
                  <c:v>96.551724137931046</c:v>
                </c:pt>
                <c:pt idx="77">
                  <c:v>96.551724137931046</c:v>
                </c:pt>
                <c:pt idx="78">
                  <c:v>93.965517241379331</c:v>
                </c:pt>
                <c:pt idx="79">
                  <c:v>95.689655172413808</c:v>
                </c:pt>
                <c:pt idx="80">
                  <c:v>95.689655172413808</c:v>
                </c:pt>
                <c:pt idx="81">
                  <c:v>95.689655172413808</c:v>
                </c:pt>
                <c:pt idx="82">
                  <c:v>94.827586206896569</c:v>
                </c:pt>
                <c:pt idx="83">
                  <c:v>92.24137931034484</c:v>
                </c:pt>
                <c:pt idx="84">
                  <c:v>93.965517241379331</c:v>
                </c:pt>
                <c:pt idx="85">
                  <c:v>92.24137931034484</c:v>
                </c:pt>
                <c:pt idx="86">
                  <c:v>91.379310344827601</c:v>
                </c:pt>
                <c:pt idx="87">
                  <c:v>91.379310344827601</c:v>
                </c:pt>
                <c:pt idx="88">
                  <c:v>91.379310344827601</c:v>
                </c:pt>
                <c:pt idx="89">
                  <c:v>91.379310344827601</c:v>
                </c:pt>
                <c:pt idx="90">
                  <c:v>88.793103448275872</c:v>
                </c:pt>
                <c:pt idx="91">
                  <c:v>89.65517241379311</c:v>
                </c:pt>
                <c:pt idx="92">
                  <c:v>90.517241379310349</c:v>
                </c:pt>
                <c:pt idx="93">
                  <c:v>85.344827586206904</c:v>
                </c:pt>
                <c:pt idx="94">
                  <c:v>85.344827586206904</c:v>
                </c:pt>
                <c:pt idx="95">
                  <c:v>85.344827586206904</c:v>
                </c:pt>
                <c:pt idx="96">
                  <c:v>79.310344827586221</c:v>
                </c:pt>
                <c:pt idx="97">
                  <c:v>80.172413793103459</c:v>
                </c:pt>
                <c:pt idx="98">
                  <c:v>80.172413793103459</c:v>
                </c:pt>
                <c:pt idx="99">
                  <c:v>83.620689655172413</c:v>
                </c:pt>
                <c:pt idx="100">
                  <c:v>79.310344827586221</c:v>
                </c:pt>
                <c:pt idx="101">
                  <c:v>79.310344827586221</c:v>
                </c:pt>
                <c:pt idx="102">
                  <c:v>79.310344827586221</c:v>
                </c:pt>
                <c:pt idx="103">
                  <c:v>81.896551724137936</c:v>
                </c:pt>
                <c:pt idx="104">
                  <c:v>81.896551724137936</c:v>
                </c:pt>
                <c:pt idx="105">
                  <c:v>81.896551724137936</c:v>
                </c:pt>
                <c:pt idx="106">
                  <c:v>82.758620689655174</c:v>
                </c:pt>
                <c:pt idx="107">
                  <c:v>82.758620689655174</c:v>
                </c:pt>
                <c:pt idx="108">
                  <c:v>82.758620689655174</c:v>
                </c:pt>
                <c:pt idx="109">
                  <c:v>82.758620689655174</c:v>
                </c:pt>
                <c:pt idx="110">
                  <c:v>82.758620689655174</c:v>
                </c:pt>
                <c:pt idx="111">
                  <c:v>81.034482758620697</c:v>
                </c:pt>
                <c:pt idx="112">
                  <c:v>81.896551724137936</c:v>
                </c:pt>
                <c:pt idx="113">
                  <c:v>81.034482758620697</c:v>
                </c:pt>
                <c:pt idx="114">
                  <c:v>81.896551724137936</c:v>
                </c:pt>
                <c:pt idx="115">
                  <c:v>81.896551724137936</c:v>
                </c:pt>
                <c:pt idx="116">
                  <c:v>81.896551724137936</c:v>
                </c:pt>
                <c:pt idx="117">
                  <c:v>82.758620689655174</c:v>
                </c:pt>
                <c:pt idx="118">
                  <c:v>81.034482758620697</c:v>
                </c:pt>
                <c:pt idx="119">
                  <c:v>86.206896551724142</c:v>
                </c:pt>
                <c:pt idx="120">
                  <c:v>86.206896551724142</c:v>
                </c:pt>
                <c:pt idx="121">
                  <c:v>89.65517241379311</c:v>
                </c:pt>
                <c:pt idx="122">
                  <c:v>89.65517241379311</c:v>
                </c:pt>
                <c:pt idx="123">
                  <c:v>89.65517241379311</c:v>
                </c:pt>
                <c:pt idx="124">
                  <c:v>91.379310344827601</c:v>
                </c:pt>
                <c:pt idx="125">
                  <c:v>91.379310344827601</c:v>
                </c:pt>
                <c:pt idx="126">
                  <c:v>88.793103448275872</c:v>
                </c:pt>
                <c:pt idx="127">
                  <c:v>88.793103448275872</c:v>
                </c:pt>
                <c:pt idx="128">
                  <c:v>88.793103448275872</c:v>
                </c:pt>
                <c:pt idx="129">
                  <c:v>88.793103448275872</c:v>
                </c:pt>
                <c:pt idx="130">
                  <c:v>88.793103448275872</c:v>
                </c:pt>
                <c:pt idx="131">
                  <c:v>88.793103448275872</c:v>
                </c:pt>
                <c:pt idx="132">
                  <c:v>93.103448275862078</c:v>
                </c:pt>
                <c:pt idx="133">
                  <c:v>90.517241379310349</c:v>
                </c:pt>
                <c:pt idx="134">
                  <c:v>89.65517241379311</c:v>
                </c:pt>
                <c:pt idx="135">
                  <c:v>89.65517241379311</c:v>
                </c:pt>
                <c:pt idx="136">
                  <c:v>89.65517241379311</c:v>
                </c:pt>
                <c:pt idx="137">
                  <c:v>89.65517241379311</c:v>
                </c:pt>
                <c:pt idx="138">
                  <c:v>86.206896551724142</c:v>
                </c:pt>
                <c:pt idx="139">
                  <c:v>88.793103448275872</c:v>
                </c:pt>
                <c:pt idx="140">
                  <c:v>90.517241379310349</c:v>
                </c:pt>
                <c:pt idx="141">
                  <c:v>87.931034482758633</c:v>
                </c:pt>
                <c:pt idx="142">
                  <c:v>87.068965517241381</c:v>
                </c:pt>
                <c:pt idx="143">
                  <c:v>87.068965517241381</c:v>
                </c:pt>
                <c:pt idx="144">
                  <c:v>87.068965517241381</c:v>
                </c:pt>
                <c:pt idx="145">
                  <c:v>85.344827586206904</c:v>
                </c:pt>
                <c:pt idx="146">
                  <c:v>83.620689655172413</c:v>
                </c:pt>
                <c:pt idx="147">
                  <c:v>84.482758620689651</c:v>
                </c:pt>
                <c:pt idx="148">
                  <c:v>85.344827586206904</c:v>
                </c:pt>
                <c:pt idx="149">
                  <c:v>86.206896551724142</c:v>
                </c:pt>
                <c:pt idx="150">
                  <c:v>86.206896551724142</c:v>
                </c:pt>
                <c:pt idx="151">
                  <c:v>86.206896551724142</c:v>
                </c:pt>
                <c:pt idx="152">
                  <c:v>86.206896551724142</c:v>
                </c:pt>
                <c:pt idx="153">
                  <c:v>84.482758620689651</c:v>
                </c:pt>
                <c:pt idx="154">
                  <c:v>87.068965517241381</c:v>
                </c:pt>
                <c:pt idx="155">
                  <c:v>89.65517241379311</c:v>
                </c:pt>
                <c:pt idx="156">
                  <c:v>87.931034482758633</c:v>
                </c:pt>
                <c:pt idx="157">
                  <c:v>87.931034482758633</c:v>
                </c:pt>
                <c:pt idx="158">
                  <c:v>87.931034482758633</c:v>
                </c:pt>
                <c:pt idx="159">
                  <c:v>87.931034482758633</c:v>
                </c:pt>
                <c:pt idx="160">
                  <c:v>87.931034482758633</c:v>
                </c:pt>
                <c:pt idx="161">
                  <c:v>87.068965517241381</c:v>
                </c:pt>
                <c:pt idx="162">
                  <c:v>88.793103448275872</c:v>
                </c:pt>
                <c:pt idx="163">
                  <c:v>87.931034482758633</c:v>
                </c:pt>
                <c:pt idx="164">
                  <c:v>87.931034482758633</c:v>
                </c:pt>
                <c:pt idx="165">
                  <c:v>87.931034482758633</c:v>
                </c:pt>
                <c:pt idx="166">
                  <c:v>90.517241379310349</c:v>
                </c:pt>
                <c:pt idx="167">
                  <c:v>88.793103448275872</c:v>
                </c:pt>
                <c:pt idx="168">
                  <c:v>86.206896551724142</c:v>
                </c:pt>
                <c:pt idx="169">
                  <c:v>87.068965517241381</c:v>
                </c:pt>
                <c:pt idx="170">
                  <c:v>85.344827586206904</c:v>
                </c:pt>
                <c:pt idx="171">
                  <c:v>85.344827586206904</c:v>
                </c:pt>
                <c:pt idx="172">
                  <c:v>85.344827586206904</c:v>
                </c:pt>
                <c:pt idx="173">
                  <c:v>86.206896551724142</c:v>
                </c:pt>
                <c:pt idx="174">
                  <c:v>88.793103448275872</c:v>
                </c:pt>
                <c:pt idx="175">
                  <c:v>87.068965517241381</c:v>
                </c:pt>
                <c:pt idx="176">
                  <c:v>88.793103448275872</c:v>
                </c:pt>
                <c:pt idx="177">
                  <c:v>92.24137931034484</c:v>
                </c:pt>
                <c:pt idx="178">
                  <c:v>92.24137931034484</c:v>
                </c:pt>
                <c:pt idx="179">
                  <c:v>92.24137931034484</c:v>
                </c:pt>
                <c:pt idx="180">
                  <c:v>91.379310344827601</c:v>
                </c:pt>
                <c:pt idx="181">
                  <c:v>92.24137931034484</c:v>
                </c:pt>
                <c:pt idx="182">
                  <c:v>92.24137931034484</c:v>
                </c:pt>
                <c:pt idx="183">
                  <c:v>90.517241379310349</c:v>
                </c:pt>
                <c:pt idx="184">
                  <c:v>89.65517241379311</c:v>
                </c:pt>
                <c:pt idx="185">
                  <c:v>89.65517241379311</c:v>
                </c:pt>
                <c:pt idx="186">
                  <c:v>89.65517241379311</c:v>
                </c:pt>
                <c:pt idx="187">
                  <c:v>90.517241379310349</c:v>
                </c:pt>
                <c:pt idx="188">
                  <c:v>90.517241379310349</c:v>
                </c:pt>
                <c:pt idx="189">
                  <c:v>90.517241379310349</c:v>
                </c:pt>
                <c:pt idx="190">
                  <c:v>90.517241379310349</c:v>
                </c:pt>
                <c:pt idx="191">
                  <c:v>91.379310344827601</c:v>
                </c:pt>
                <c:pt idx="192">
                  <c:v>91.379310344827601</c:v>
                </c:pt>
                <c:pt idx="193">
                  <c:v>91.379310344827601</c:v>
                </c:pt>
                <c:pt idx="194">
                  <c:v>91.379310344827601</c:v>
                </c:pt>
                <c:pt idx="195">
                  <c:v>91.379310344827601</c:v>
                </c:pt>
                <c:pt idx="196">
                  <c:v>93.965517241379331</c:v>
                </c:pt>
                <c:pt idx="197">
                  <c:v>94.827586206896569</c:v>
                </c:pt>
                <c:pt idx="198">
                  <c:v>94.827586206896569</c:v>
                </c:pt>
                <c:pt idx="199">
                  <c:v>94.827586206896569</c:v>
                </c:pt>
                <c:pt idx="200">
                  <c:v>94.827586206896569</c:v>
                </c:pt>
                <c:pt idx="201">
                  <c:v>96.551724137931046</c:v>
                </c:pt>
                <c:pt idx="202">
                  <c:v>96.551724137931046</c:v>
                </c:pt>
                <c:pt idx="203">
                  <c:v>95.689655172413808</c:v>
                </c:pt>
                <c:pt idx="204">
                  <c:v>92.24137931034484</c:v>
                </c:pt>
                <c:pt idx="205">
                  <c:v>92.24137931034484</c:v>
                </c:pt>
                <c:pt idx="206">
                  <c:v>92.24137931034484</c:v>
                </c:pt>
                <c:pt idx="207">
                  <c:v>92.24137931034484</c:v>
                </c:pt>
                <c:pt idx="208">
                  <c:v>93.103448275862078</c:v>
                </c:pt>
                <c:pt idx="209">
                  <c:v>93.965517241379331</c:v>
                </c:pt>
                <c:pt idx="210">
                  <c:v>91.379310344827601</c:v>
                </c:pt>
                <c:pt idx="211">
                  <c:v>90.517241379310349</c:v>
                </c:pt>
                <c:pt idx="212">
                  <c:v>88.793103448275872</c:v>
                </c:pt>
                <c:pt idx="213">
                  <c:v>88.793103448275872</c:v>
                </c:pt>
                <c:pt idx="214">
                  <c:v>88.793103448275872</c:v>
                </c:pt>
                <c:pt idx="215">
                  <c:v>89.65517241379311</c:v>
                </c:pt>
                <c:pt idx="216">
                  <c:v>89.65517241379311</c:v>
                </c:pt>
                <c:pt idx="217">
                  <c:v>88.793103448275872</c:v>
                </c:pt>
                <c:pt idx="218">
                  <c:v>87.931034482758633</c:v>
                </c:pt>
                <c:pt idx="219">
                  <c:v>89.65517241379311</c:v>
                </c:pt>
                <c:pt idx="220">
                  <c:v>89.65517241379311</c:v>
                </c:pt>
                <c:pt idx="221">
                  <c:v>89.65517241379311</c:v>
                </c:pt>
                <c:pt idx="222">
                  <c:v>88.793103448275872</c:v>
                </c:pt>
                <c:pt idx="223">
                  <c:v>87.931034482758633</c:v>
                </c:pt>
                <c:pt idx="224">
                  <c:v>87.931034482758633</c:v>
                </c:pt>
                <c:pt idx="225">
                  <c:v>86.206896551724142</c:v>
                </c:pt>
                <c:pt idx="226">
                  <c:v>86.206896551724142</c:v>
                </c:pt>
                <c:pt idx="227">
                  <c:v>86.206896551724142</c:v>
                </c:pt>
                <c:pt idx="228">
                  <c:v>86.206896551724142</c:v>
                </c:pt>
                <c:pt idx="229">
                  <c:v>86.206896551724142</c:v>
                </c:pt>
                <c:pt idx="230">
                  <c:v>86.206896551724142</c:v>
                </c:pt>
                <c:pt idx="231">
                  <c:v>86.206896551724142</c:v>
                </c:pt>
                <c:pt idx="232">
                  <c:v>87.068965517241381</c:v>
                </c:pt>
                <c:pt idx="233">
                  <c:v>87.068965517241381</c:v>
                </c:pt>
                <c:pt idx="234">
                  <c:v>87.068965517241381</c:v>
                </c:pt>
                <c:pt idx="235">
                  <c:v>87.068965517241381</c:v>
                </c:pt>
                <c:pt idx="236">
                  <c:v>88.793103448275872</c:v>
                </c:pt>
                <c:pt idx="237">
                  <c:v>88.793103448275872</c:v>
                </c:pt>
                <c:pt idx="238">
                  <c:v>88.793103448275872</c:v>
                </c:pt>
                <c:pt idx="239">
                  <c:v>88.793103448275872</c:v>
                </c:pt>
                <c:pt idx="240">
                  <c:v>87.931034482758633</c:v>
                </c:pt>
                <c:pt idx="241">
                  <c:v>87.931034482758633</c:v>
                </c:pt>
                <c:pt idx="242">
                  <c:v>87.931034482758633</c:v>
                </c:pt>
                <c:pt idx="243">
                  <c:v>89.65517241379311</c:v>
                </c:pt>
                <c:pt idx="244">
                  <c:v>88.793103448275872</c:v>
                </c:pt>
                <c:pt idx="245">
                  <c:v>88.793103448275872</c:v>
                </c:pt>
                <c:pt idx="246">
                  <c:v>87.931034482758633</c:v>
                </c:pt>
                <c:pt idx="247">
                  <c:v>87.068965517241381</c:v>
                </c:pt>
                <c:pt idx="248">
                  <c:v>87.068965517241381</c:v>
                </c:pt>
                <c:pt idx="249">
                  <c:v>87.068965517241381</c:v>
                </c:pt>
                <c:pt idx="250">
                  <c:v>88.793103448275872</c:v>
                </c:pt>
                <c:pt idx="251">
                  <c:v>88.793103448275872</c:v>
                </c:pt>
                <c:pt idx="252">
                  <c:v>89.65517241379311</c:v>
                </c:pt>
                <c:pt idx="253">
                  <c:v>89.65517241379311</c:v>
                </c:pt>
                <c:pt idx="254">
                  <c:v>89.65517241379311</c:v>
                </c:pt>
                <c:pt idx="255">
                  <c:v>89.65517241379311</c:v>
                </c:pt>
                <c:pt idx="256">
                  <c:v>89.65517241379311</c:v>
                </c:pt>
                <c:pt idx="257">
                  <c:v>90.517241379310349</c:v>
                </c:pt>
                <c:pt idx="258">
                  <c:v>89.65517241379311</c:v>
                </c:pt>
                <c:pt idx="259">
                  <c:v>89.65517241379311</c:v>
                </c:pt>
                <c:pt idx="260">
                  <c:v>87.931034482758633</c:v>
                </c:pt>
                <c:pt idx="261">
                  <c:v>87.068965517241381</c:v>
                </c:pt>
                <c:pt idx="262">
                  <c:v>87.068965517241381</c:v>
                </c:pt>
                <c:pt idx="263">
                  <c:v>87.068965517241381</c:v>
                </c:pt>
                <c:pt idx="264">
                  <c:v>85.344827586206904</c:v>
                </c:pt>
                <c:pt idx="265">
                  <c:v>86.206896551724142</c:v>
                </c:pt>
                <c:pt idx="266">
                  <c:v>84.482758620689651</c:v>
                </c:pt>
                <c:pt idx="267">
                  <c:v>83.620689655172413</c:v>
                </c:pt>
                <c:pt idx="268">
                  <c:v>84.482758620689651</c:v>
                </c:pt>
                <c:pt idx="269">
                  <c:v>84.482758620689651</c:v>
                </c:pt>
                <c:pt idx="270">
                  <c:v>84.482758620689651</c:v>
                </c:pt>
                <c:pt idx="271">
                  <c:v>81.896551724137936</c:v>
                </c:pt>
                <c:pt idx="272">
                  <c:v>81.896551724137936</c:v>
                </c:pt>
                <c:pt idx="273">
                  <c:v>81.896551724137936</c:v>
                </c:pt>
                <c:pt idx="274">
                  <c:v>81.896551724137936</c:v>
                </c:pt>
                <c:pt idx="275">
                  <c:v>81.896551724137936</c:v>
                </c:pt>
                <c:pt idx="276">
                  <c:v>81.896551724137936</c:v>
                </c:pt>
                <c:pt idx="277">
                  <c:v>81.896551724137936</c:v>
                </c:pt>
                <c:pt idx="278">
                  <c:v>81.034482758620697</c:v>
                </c:pt>
                <c:pt idx="279">
                  <c:v>81.034482758620697</c:v>
                </c:pt>
                <c:pt idx="280">
                  <c:v>80.172413793103459</c:v>
                </c:pt>
                <c:pt idx="281">
                  <c:v>80.172413793103459</c:v>
                </c:pt>
                <c:pt idx="282">
                  <c:v>79.310344827586221</c:v>
                </c:pt>
                <c:pt idx="283">
                  <c:v>79.310344827586221</c:v>
                </c:pt>
                <c:pt idx="284">
                  <c:v>79.310344827586221</c:v>
                </c:pt>
                <c:pt idx="285">
                  <c:v>81.034482758620697</c:v>
                </c:pt>
                <c:pt idx="286">
                  <c:v>80.172413793103459</c:v>
                </c:pt>
                <c:pt idx="287">
                  <c:v>81.034482758620697</c:v>
                </c:pt>
                <c:pt idx="288">
                  <c:v>81.896551724137936</c:v>
                </c:pt>
                <c:pt idx="289">
                  <c:v>81.896551724137936</c:v>
                </c:pt>
                <c:pt idx="290">
                  <c:v>81.896551724137936</c:v>
                </c:pt>
                <c:pt idx="291">
                  <c:v>81.896551724137936</c:v>
                </c:pt>
                <c:pt idx="292">
                  <c:v>81.896551724137936</c:v>
                </c:pt>
                <c:pt idx="293">
                  <c:v>82.758620689655174</c:v>
                </c:pt>
                <c:pt idx="294">
                  <c:v>83.620689655172413</c:v>
                </c:pt>
                <c:pt idx="295">
                  <c:v>87.931034482758633</c:v>
                </c:pt>
                <c:pt idx="296">
                  <c:v>87.068965517241381</c:v>
                </c:pt>
                <c:pt idx="297">
                  <c:v>87.068965517241381</c:v>
                </c:pt>
                <c:pt idx="298">
                  <c:v>87.068965517241381</c:v>
                </c:pt>
                <c:pt idx="299">
                  <c:v>89.65517241379311</c:v>
                </c:pt>
                <c:pt idx="300">
                  <c:v>93.103448275862078</c:v>
                </c:pt>
                <c:pt idx="301">
                  <c:v>90.517241379310349</c:v>
                </c:pt>
                <c:pt idx="302">
                  <c:v>89.65517241379311</c:v>
                </c:pt>
                <c:pt idx="303">
                  <c:v>88.793103448275872</c:v>
                </c:pt>
                <c:pt idx="304">
                  <c:v>88.793103448275872</c:v>
                </c:pt>
                <c:pt idx="305">
                  <c:v>88.793103448275872</c:v>
                </c:pt>
                <c:pt idx="306">
                  <c:v>88.793103448275872</c:v>
                </c:pt>
                <c:pt idx="307">
                  <c:v>87.068965517241381</c:v>
                </c:pt>
                <c:pt idx="308">
                  <c:v>86.206896551724142</c:v>
                </c:pt>
                <c:pt idx="309">
                  <c:v>87.931034482758633</c:v>
                </c:pt>
                <c:pt idx="310">
                  <c:v>87.068965517241381</c:v>
                </c:pt>
                <c:pt idx="311">
                  <c:v>87.068965517241381</c:v>
                </c:pt>
                <c:pt idx="312">
                  <c:v>87.068965517241381</c:v>
                </c:pt>
                <c:pt idx="313">
                  <c:v>87.068965517241381</c:v>
                </c:pt>
                <c:pt idx="314">
                  <c:v>87.931034482758633</c:v>
                </c:pt>
                <c:pt idx="315">
                  <c:v>86.206896551724142</c:v>
                </c:pt>
                <c:pt idx="316">
                  <c:v>87.068965517241381</c:v>
                </c:pt>
                <c:pt idx="317">
                  <c:v>85.344827586206904</c:v>
                </c:pt>
                <c:pt idx="318">
                  <c:v>85.344827586206904</c:v>
                </c:pt>
                <c:pt idx="319">
                  <c:v>85.344827586206904</c:v>
                </c:pt>
                <c:pt idx="320">
                  <c:v>86.206896551724142</c:v>
                </c:pt>
                <c:pt idx="321">
                  <c:v>85.344827586206904</c:v>
                </c:pt>
                <c:pt idx="322">
                  <c:v>84.482758620689651</c:v>
                </c:pt>
                <c:pt idx="323">
                  <c:v>84.482758620689651</c:v>
                </c:pt>
                <c:pt idx="324">
                  <c:v>84.482758620689651</c:v>
                </c:pt>
                <c:pt idx="325">
                  <c:v>84.482758620689651</c:v>
                </c:pt>
                <c:pt idx="326">
                  <c:v>84.482758620689651</c:v>
                </c:pt>
                <c:pt idx="327">
                  <c:v>84.482758620689651</c:v>
                </c:pt>
                <c:pt idx="328">
                  <c:v>84.482758620689651</c:v>
                </c:pt>
                <c:pt idx="329">
                  <c:v>84.482758620689651</c:v>
                </c:pt>
                <c:pt idx="330">
                  <c:v>87.931034482758633</c:v>
                </c:pt>
                <c:pt idx="331">
                  <c:v>87.068965517241381</c:v>
                </c:pt>
                <c:pt idx="332">
                  <c:v>87.068965517241381</c:v>
                </c:pt>
                <c:pt idx="333">
                  <c:v>87.068965517241381</c:v>
                </c:pt>
                <c:pt idx="334">
                  <c:v>87.068965517241381</c:v>
                </c:pt>
                <c:pt idx="335">
                  <c:v>87.068965517241381</c:v>
                </c:pt>
                <c:pt idx="336">
                  <c:v>86.206896551724142</c:v>
                </c:pt>
                <c:pt idx="337">
                  <c:v>85.344827586206904</c:v>
                </c:pt>
                <c:pt idx="338">
                  <c:v>85.344827586206904</c:v>
                </c:pt>
                <c:pt idx="339">
                  <c:v>85.344827586206904</c:v>
                </c:pt>
                <c:pt idx="340">
                  <c:v>85.344827586206904</c:v>
                </c:pt>
                <c:pt idx="341">
                  <c:v>85.344827586206904</c:v>
                </c:pt>
                <c:pt idx="342">
                  <c:v>86.206896551724142</c:v>
                </c:pt>
                <c:pt idx="343">
                  <c:v>87.068965517241381</c:v>
                </c:pt>
                <c:pt idx="344">
                  <c:v>87.931034482758633</c:v>
                </c:pt>
                <c:pt idx="345">
                  <c:v>86.206896551724142</c:v>
                </c:pt>
                <c:pt idx="346">
                  <c:v>86.206896551724142</c:v>
                </c:pt>
                <c:pt idx="347">
                  <c:v>86.206896551724142</c:v>
                </c:pt>
                <c:pt idx="348">
                  <c:v>86.206896551724142</c:v>
                </c:pt>
                <c:pt idx="349">
                  <c:v>83.620689655172413</c:v>
                </c:pt>
                <c:pt idx="350">
                  <c:v>87.068965517241381</c:v>
                </c:pt>
                <c:pt idx="351">
                  <c:v>86.206896551724142</c:v>
                </c:pt>
                <c:pt idx="352">
                  <c:v>84.482758620689651</c:v>
                </c:pt>
                <c:pt idx="353">
                  <c:v>84.482758620689651</c:v>
                </c:pt>
                <c:pt idx="354">
                  <c:v>84.482758620689651</c:v>
                </c:pt>
                <c:pt idx="355">
                  <c:v>85.344827586206904</c:v>
                </c:pt>
                <c:pt idx="356">
                  <c:v>85.344827586206904</c:v>
                </c:pt>
                <c:pt idx="357">
                  <c:v>86.206896551724142</c:v>
                </c:pt>
                <c:pt idx="358">
                  <c:v>86.206896551724142</c:v>
                </c:pt>
                <c:pt idx="359">
                  <c:v>86.206896551724142</c:v>
                </c:pt>
                <c:pt idx="360">
                  <c:v>86.206896551724142</c:v>
                </c:pt>
                <c:pt idx="361">
                  <c:v>86.206896551724142</c:v>
                </c:pt>
                <c:pt idx="362">
                  <c:v>86.206896551724142</c:v>
                </c:pt>
                <c:pt idx="363">
                  <c:v>86.206896551724142</c:v>
                </c:pt>
                <c:pt idx="364">
                  <c:v>87.931034482758633</c:v>
                </c:pt>
                <c:pt idx="365">
                  <c:v>87.931034482758633</c:v>
                </c:pt>
                <c:pt idx="366">
                  <c:v>87.931034482758633</c:v>
                </c:pt>
                <c:pt idx="367">
                  <c:v>87.931034482758633</c:v>
                </c:pt>
                <c:pt idx="368">
                  <c:v>87.931034482758633</c:v>
                </c:pt>
                <c:pt idx="369">
                  <c:v>93.965517241379331</c:v>
                </c:pt>
                <c:pt idx="370">
                  <c:v>92.24137931034484</c:v>
                </c:pt>
                <c:pt idx="371">
                  <c:v>93.103448275862078</c:v>
                </c:pt>
                <c:pt idx="372">
                  <c:v>93.103448275862078</c:v>
                </c:pt>
                <c:pt idx="373">
                  <c:v>93.103448275862078</c:v>
                </c:pt>
                <c:pt idx="374">
                  <c:v>93.103448275862078</c:v>
                </c:pt>
                <c:pt idx="375">
                  <c:v>93.103448275862078</c:v>
                </c:pt>
                <c:pt idx="376">
                  <c:v>93.965517241379331</c:v>
                </c:pt>
                <c:pt idx="377">
                  <c:v>95.689655172413808</c:v>
                </c:pt>
                <c:pt idx="378">
                  <c:v>94.827586206896569</c:v>
                </c:pt>
                <c:pt idx="379">
                  <c:v>94.827586206896569</c:v>
                </c:pt>
                <c:pt idx="380">
                  <c:v>94.827586206896569</c:v>
                </c:pt>
                <c:pt idx="381">
                  <c:v>94.827586206896569</c:v>
                </c:pt>
                <c:pt idx="382">
                  <c:v>94.827586206896569</c:v>
                </c:pt>
                <c:pt idx="383">
                  <c:v>95.689655172413808</c:v>
                </c:pt>
                <c:pt idx="384">
                  <c:v>95.689655172413808</c:v>
                </c:pt>
                <c:pt idx="385">
                  <c:v>93.965517241379331</c:v>
                </c:pt>
                <c:pt idx="386">
                  <c:v>93.965517241379331</c:v>
                </c:pt>
                <c:pt idx="387">
                  <c:v>94.827586206896569</c:v>
                </c:pt>
                <c:pt idx="388">
                  <c:v>94.827586206896569</c:v>
                </c:pt>
                <c:pt idx="389">
                  <c:v>94.827586206896569</c:v>
                </c:pt>
                <c:pt idx="390">
                  <c:v>94.827586206896569</c:v>
                </c:pt>
                <c:pt idx="391">
                  <c:v>93.103448275862078</c:v>
                </c:pt>
                <c:pt idx="392">
                  <c:v>93.103448275862078</c:v>
                </c:pt>
                <c:pt idx="393">
                  <c:v>93.103448275862078</c:v>
                </c:pt>
                <c:pt idx="394">
                  <c:v>93.103448275862078</c:v>
                </c:pt>
                <c:pt idx="395">
                  <c:v>93.103448275862078</c:v>
                </c:pt>
                <c:pt idx="396">
                  <c:v>93.103448275862078</c:v>
                </c:pt>
                <c:pt idx="397">
                  <c:v>90.517241379310349</c:v>
                </c:pt>
                <c:pt idx="398">
                  <c:v>91.379310344827601</c:v>
                </c:pt>
                <c:pt idx="399">
                  <c:v>91.379310344827601</c:v>
                </c:pt>
                <c:pt idx="400">
                  <c:v>90.517241379310349</c:v>
                </c:pt>
                <c:pt idx="401">
                  <c:v>89.65517241379311</c:v>
                </c:pt>
                <c:pt idx="402">
                  <c:v>89.65517241379311</c:v>
                </c:pt>
                <c:pt idx="403">
                  <c:v>89.65517241379311</c:v>
                </c:pt>
                <c:pt idx="404">
                  <c:v>89.65517241379311</c:v>
                </c:pt>
                <c:pt idx="405">
                  <c:v>90.517241379310349</c:v>
                </c:pt>
                <c:pt idx="406">
                  <c:v>89.65517241379311</c:v>
                </c:pt>
                <c:pt idx="407">
                  <c:v>89.65517241379311</c:v>
                </c:pt>
                <c:pt idx="408">
                  <c:v>89.65517241379311</c:v>
                </c:pt>
                <c:pt idx="409">
                  <c:v>89.65517241379311</c:v>
                </c:pt>
                <c:pt idx="410">
                  <c:v>89.65517241379311</c:v>
                </c:pt>
                <c:pt idx="411">
                  <c:v>89.65517241379311</c:v>
                </c:pt>
                <c:pt idx="412">
                  <c:v>89.65517241379311</c:v>
                </c:pt>
                <c:pt idx="413">
                  <c:v>89.65517241379311</c:v>
                </c:pt>
                <c:pt idx="414">
                  <c:v>90.517241379310349</c:v>
                </c:pt>
                <c:pt idx="415">
                  <c:v>89.65517241379311</c:v>
                </c:pt>
                <c:pt idx="416">
                  <c:v>89.65517241379311</c:v>
                </c:pt>
                <c:pt idx="417">
                  <c:v>89.65517241379311</c:v>
                </c:pt>
                <c:pt idx="418">
                  <c:v>91.379310344827601</c:v>
                </c:pt>
                <c:pt idx="419">
                  <c:v>90.517241379310349</c:v>
                </c:pt>
                <c:pt idx="420">
                  <c:v>90.517241379310349</c:v>
                </c:pt>
                <c:pt idx="421">
                  <c:v>90.517241379310349</c:v>
                </c:pt>
                <c:pt idx="422">
                  <c:v>88.793103448275872</c:v>
                </c:pt>
                <c:pt idx="423">
                  <c:v>88.793103448275872</c:v>
                </c:pt>
                <c:pt idx="424">
                  <c:v>88.793103448275872</c:v>
                </c:pt>
                <c:pt idx="425">
                  <c:v>87.931034482758633</c:v>
                </c:pt>
                <c:pt idx="426">
                  <c:v>86.206896551724142</c:v>
                </c:pt>
                <c:pt idx="427">
                  <c:v>82.758620689655174</c:v>
                </c:pt>
                <c:pt idx="428">
                  <c:v>84.482758620689651</c:v>
                </c:pt>
                <c:pt idx="429">
                  <c:v>84.482758620689651</c:v>
                </c:pt>
                <c:pt idx="430">
                  <c:v>84.482758620689651</c:v>
                </c:pt>
                <c:pt idx="431">
                  <c:v>84.482758620689651</c:v>
                </c:pt>
                <c:pt idx="432">
                  <c:v>81.896551724137936</c:v>
                </c:pt>
                <c:pt idx="433">
                  <c:v>83.620689655172413</c:v>
                </c:pt>
                <c:pt idx="434">
                  <c:v>86.206896551724142</c:v>
                </c:pt>
                <c:pt idx="435">
                  <c:v>85.344827586206904</c:v>
                </c:pt>
                <c:pt idx="436">
                  <c:v>83.620689655172413</c:v>
                </c:pt>
                <c:pt idx="437">
                  <c:v>83.620689655172413</c:v>
                </c:pt>
                <c:pt idx="438">
                  <c:v>83.620689655172413</c:v>
                </c:pt>
                <c:pt idx="439">
                  <c:v>84.482758620689651</c:v>
                </c:pt>
                <c:pt idx="440">
                  <c:v>84.482758620689651</c:v>
                </c:pt>
                <c:pt idx="441">
                  <c:v>84.482758620689651</c:v>
                </c:pt>
                <c:pt idx="442">
                  <c:v>83.620689655172413</c:v>
                </c:pt>
                <c:pt idx="443">
                  <c:v>83.620689655172413</c:v>
                </c:pt>
                <c:pt idx="444">
                  <c:v>83.620689655172413</c:v>
                </c:pt>
                <c:pt idx="445">
                  <c:v>83.620689655172413</c:v>
                </c:pt>
                <c:pt idx="446">
                  <c:v>82.758620689655174</c:v>
                </c:pt>
                <c:pt idx="447">
                  <c:v>84.482758620689651</c:v>
                </c:pt>
                <c:pt idx="448">
                  <c:v>85.344827586206904</c:v>
                </c:pt>
                <c:pt idx="449">
                  <c:v>84.482758620689651</c:v>
                </c:pt>
                <c:pt idx="450">
                  <c:v>83.620689655172413</c:v>
                </c:pt>
                <c:pt idx="451">
                  <c:v>83.620689655172413</c:v>
                </c:pt>
                <c:pt idx="452">
                  <c:v>83.620689655172413</c:v>
                </c:pt>
                <c:pt idx="453">
                  <c:v>83.620689655172413</c:v>
                </c:pt>
                <c:pt idx="454">
                  <c:v>83.620689655172413</c:v>
                </c:pt>
                <c:pt idx="455">
                  <c:v>86.206896551724142</c:v>
                </c:pt>
                <c:pt idx="456">
                  <c:v>84.482758620689651</c:v>
                </c:pt>
                <c:pt idx="457">
                  <c:v>84.482758620689651</c:v>
                </c:pt>
                <c:pt idx="458">
                  <c:v>84.482758620689651</c:v>
                </c:pt>
                <c:pt idx="459">
                  <c:v>84.482758620689651</c:v>
                </c:pt>
                <c:pt idx="460">
                  <c:v>85.344827586206904</c:v>
                </c:pt>
                <c:pt idx="461">
                  <c:v>84.482758620689651</c:v>
                </c:pt>
                <c:pt idx="462">
                  <c:v>87.068965517241381</c:v>
                </c:pt>
                <c:pt idx="463">
                  <c:v>87.068965517241381</c:v>
                </c:pt>
                <c:pt idx="464">
                  <c:v>87.931034482758633</c:v>
                </c:pt>
                <c:pt idx="465">
                  <c:v>87.931034482758633</c:v>
                </c:pt>
                <c:pt idx="466">
                  <c:v>87.931034482758633</c:v>
                </c:pt>
                <c:pt idx="467">
                  <c:v>88.793103448275872</c:v>
                </c:pt>
                <c:pt idx="468">
                  <c:v>89.65517241379311</c:v>
                </c:pt>
                <c:pt idx="469">
                  <c:v>91.379310344827601</c:v>
                </c:pt>
                <c:pt idx="470">
                  <c:v>90.517241379310349</c:v>
                </c:pt>
                <c:pt idx="471">
                  <c:v>89.65517241379311</c:v>
                </c:pt>
                <c:pt idx="472">
                  <c:v>89.65517241379311</c:v>
                </c:pt>
                <c:pt idx="473">
                  <c:v>89.65517241379311</c:v>
                </c:pt>
                <c:pt idx="474">
                  <c:v>87.931034482758633</c:v>
                </c:pt>
                <c:pt idx="475">
                  <c:v>89.65517241379311</c:v>
                </c:pt>
                <c:pt idx="476">
                  <c:v>88.793103448275872</c:v>
                </c:pt>
                <c:pt idx="477">
                  <c:v>88.793103448275872</c:v>
                </c:pt>
                <c:pt idx="478">
                  <c:v>89.65517241379311</c:v>
                </c:pt>
                <c:pt idx="479">
                  <c:v>89.65517241379311</c:v>
                </c:pt>
                <c:pt idx="480">
                  <c:v>89.65517241379311</c:v>
                </c:pt>
                <c:pt idx="481">
                  <c:v>89.65517241379311</c:v>
                </c:pt>
                <c:pt idx="482">
                  <c:v>91.379310344827601</c:v>
                </c:pt>
                <c:pt idx="483">
                  <c:v>88.793103448275872</c:v>
                </c:pt>
                <c:pt idx="484">
                  <c:v>88.793103448275872</c:v>
                </c:pt>
                <c:pt idx="485">
                  <c:v>88.793103448275872</c:v>
                </c:pt>
                <c:pt idx="486">
                  <c:v>88.793103448275872</c:v>
                </c:pt>
                <c:pt idx="487">
                  <c:v>88.793103448275872</c:v>
                </c:pt>
                <c:pt idx="488">
                  <c:v>88.793103448275872</c:v>
                </c:pt>
              </c:numCache>
            </c:numRef>
          </c:val>
          <c:smooth val="0"/>
          <c:extLst>
            <c:ext xmlns:c16="http://schemas.microsoft.com/office/drawing/2014/chart" uri="{C3380CC4-5D6E-409C-BE32-E72D297353CC}">
              <c16:uniqueId val="{00000000-CC94-4733-9FA0-9D75AA0F1B26}"/>
            </c:ext>
          </c:extLst>
        </c:ser>
        <c:ser>
          <c:idx val="2"/>
          <c:order val="2"/>
          <c:tx>
            <c:strRef>
              <c:f>Sheet1!$D$1</c:f>
              <c:strCache>
                <c:ptCount val="1"/>
                <c:pt idx="0">
                  <c:v>FTSE ST REIT Index</c:v>
                </c:pt>
              </c:strCache>
            </c:strRef>
          </c:tx>
          <c:spPr>
            <a:ln w="19050" cap="rnd">
              <a:solidFill>
                <a:schemeClr val="tx1">
                  <a:lumMod val="50000"/>
                  <a:lumOff val="50000"/>
                </a:schemeClr>
              </a:solidFill>
              <a:round/>
            </a:ln>
            <a:effectLst/>
          </c:spPr>
          <c:marker>
            <c:symbol val="none"/>
          </c:marker>
          <c:cat>
            <c:numRef>
              <c:f>Sheet1!$A$2:$A$490</c:f>
              <c:numCache>
                <c:formatCode>m/d/yyyy</c:formatCode>
                <c:ptCount val="489"/>
                <c:pt idx="0">
                  <c:v>45658</c:v>
                </c:pt>
                <c:pt idx="1">
                  <c:v>45659</c:v>
                </c:pt>
                <c:pt idx="2">
                  <c:v>45660</c:v>
                </c:pt>
                <c:pt idx="3">
                  <c:v>45661</c:v>
                </c:pt>
                <c:pt idx="4">
                  <c:v>45662</c:v>
                </c:pt>
                <c:pt idx="5">
                  <c:v>45663</c:v>
                </c:pt>
                <c:pt idx="6">
                  <c:v>45664</c:v>
                </c:pt>
                <c:pt idx="7">
                  <c:v>45665</c:v>
                </c:pt>
                <c:pt idx="8">
                  <c:v>45666</c:v>
                </c:pt>
                <c:pt idx="9">
                  <c:v>45667</c:v>
                </c:pt>
                <c:pt idx="10">
                  <c:v>45668</c:v>
                </c:pt>
                <c:pt idx="11">
                  <c:v>45669</c:v>
                </c:pt>
                <c:pt idx="12">
                  <c:v>45670</c:v>
                </c:pt>
                <c:pt idx="13">
                  <c:v>45671</c:v>
                </c:pt>
                <c:pt idx="14">
                  <c:v>45672</c:v>
                </c:pt>
                <c:pt idx="15">
                  <c:v>45673</c:v>
                </c:pt>
                <c:pt idx="16">
                  <c:v>45674</c:v>
                </c:pt>
                <c:pt idx="17">
                  <c:v>45675</c:v>
                </c:pt>
                <c:pt idx="18">
                  <c:v>45676</c:v>
                </c:pt>
                <c:pt idx="19">
                  <c:v>45677</c:v>
                </c:pt>
                <c:pt idx="20">
                  <c:v>45678</c:v>
                </c:pt>
                <c:pt idx="21">
                  <c:v>45679</c:v>
                </c:pt>
                <c:pt idx="22">
                  <c:v>45680</c:v>
                </c:pt>
                <c:pt idx="23">
                  <c:v>45681</c:v>
                </c:pt>
                <c:pt idx="24">
                  <c:v>45682</c:v>
                </c:pt>
                <c:pt idx="25">
                  <c:v>45683</c:v>
                </c:pt>
                <c:pt idx="26">
                  <c:v>45684</c:v>
                </c:pt>
                <c:pt idx="27">
                  <c:v>45685</c:v>
                </c:pt>
                <c:pt idx="28">
                  <c:v>45686</c:v>
                </c:pt>
                <c:pt idx="29">
                  <c:v>45687</c:v>
                </c:pt>
                <c:pt idx="30">
                  <c:v>45688</c:v>
                </c:pt>
                <c:pt idx="31">
                  <c:v>45689</c:v>
                </c:pt>
                <c:pt idx="32">
                  <c:v>45690</c:v>
                </c:pt>
                <c:pt idx="33">
                  <c:v>45691</c:v>
                </c:pt>
                <c:pt idx="34">
                  <c:v>45692</c:v>
                </c:pt>
                <c:pt idx="35">
                  <c:v>45693</c:v>
                </c:pt>
                <c:pt idx="36">
                  <c:v>45694</c:v>
                </c:pt>
                <c:pt idx="37">
                  <c:v>45695</c:v>
                </c:pt>
                <c:pt idx="38">
                  <c:v>45696</c:v>
                </c:pt>
                <c:pt idx="39">
                  <c:v>45697</c:v>
                </c:pt>
                <c:pt idx="40">
                  <c:v>45698</c:v>
                </c:pt>
                <c:pt idx="41">
                  <c:v>45699</c:v>
                </c:pt>
                <c:pt idx="42">
                  <c:v>45700</c:v>
                </c:pt>
                <c:pt idx="43">
                  <c:v>45701</c:v>
                </c:pt>
                <c:pt idx="44">
                  <c:v>45702</c:v>
                </c:pt>
                <c:pt idx="45">
                  <c:v>45703</c:v>
                </c:pt>
                <c:pt idx="46">
                  <c:v>45704</c:v>
                </c:pt>
                <c:pt idx="47">
                  <c:v>45705</c:v>
                </c:pt>
                <c:pt idx="48">
                  <c:v>45706</c:v>
                </c:pt>
                <c:pt idx="49">
                  <c:v>45707</c:v>
                </c:pt>
                <c:pt idx="50">
                  <c:v>45708</c:v>
                </c:pt>
                <c:pt idx="51">
                  <c:v>45709</c:v>
                </c:pt>
                <c:pt idx="52">
                  <c:v>45710</c:v>
                </c:pt>
                <c:pt idx="53">
                  <c:v>45711</c:v>
                </c:pt>
                <c:pt idx="54">
                  <c:v>45712</c:v>
                </c:pt>
                <c:pt idx="55">
                  <c:v>45713</c:v>
                </c:pt>
                <c:pt idx="56">
                  <c:v>45714</c:v>
                </c:pt>
                <c:pt idx="57">
                  <c:v>45715</c:v>
                </c:pt>
                <c:pt idx="58">
                  <c:v>45716</c:v>
                </c:pt>
                <c:pt idx="59">
                  <c:v>45717</c:v>
                </c:pt>
                <c:pt idx="60">
                  <c:v>45718</c:v>
                </c:pt>
                <c:pt idx="61">
                  <c:v>45719</c:v>
                </c:pt>
                <c:pt idx="62">
                  <c:v>45720</c:v>
                </c:pt>
                <c:pt idx="63">
                  <c:v>45721</c:v>
                </c:pt>
                <c:pt idx="64">
                  <c:v>45722</c:v>
                </c:pt>
                <c:pt idx="65">
                  <c:v>45723</c:v>
                </c:pt>
                <c:pt idx="66">
                  <c:v>45724</c:v>
                </c:pt>
                <c:pt idx="67">
                  <c:v>45725</c:v>
                </c:pt>
                <c:pt idx="68">
                  <c:v>45726</c:v>
                </c:pt>
                <c:pt idx="69">
                  <c:v>45727</c:v>
                </c:pt>
                <c:pt idx="70">
                  <c:v>45728</c:v>
                </c:pt>
                <c:pt idx="71">
                  <c:v>45729</c:v>
                </c:pt>
                <c:pt idx="72">
                  <c:v>45730</c:v>
                </c:pt>
                <c:pt idx="73">
                  <c:v>45731</c:v>
                </c:pt>
                <c:pt idx="74">
                  <c:v>45732</c:v>
                </c:pt>
                <c:pt idx="75">
                  <c:v>45733</c:v>
                </c:pt>
                <c:pt idx="76">
                  <c:v>45734</c:v>
                </c:pt>
                <c:pt idx="77">
                  <c:v>45735</c:v>
                </c:pt>
                <c:pt idx="78">
                  <c:v>45736</c:v>
                </c:pt>
                <c:pt idx="79">
                  <c:v>45737</c:v>
                </c:pt>
                <c:pt idx="80">
                  <c:v>45738</c:v>
                </c:pt>
                <c:pt idx="81">
                  <c:v>45739</c:v>
                </c:pt>
                <c:pt idx="82">
                  <c:v>45740</c:v>
                </c:pt>
                <c:pt idx="83">
                  <c:v>45741</c:v>
                </c:pt>
                <c:pt idx="84">
                  <c:v>45742</c:v>
                </c:pt>
                <c:pt idx="85">
                  <c:v>45743</c:v>
                </c:pt>
                <c:pt idx="86">
                  <c:v>45744</c:v>
                </c:pt>
                <c:pt idx="87">
                  <c:v>45745</c:v>
                </c:pt>
                <c:pt idx="88">
                  <c:v>45746</c:v>
                </c:pt>
                <c:pt idx="89">
                  <c:v>45747</c:v>
                </c:pt>
                <c:pt idx="90">
                  <c:v>45748</c:v>
                </c:pt>
                <c:pt idx="91">
                  <c:v>45749</c:v>
                </c:pt>
                <c:pt idx="92">
                  <c:v>45750</c:v>
                </c:pt>
                <c:pt idx="93">
                  <c:v>45751</c:v>
                </c:pt>
                <c:pt idx="94">
                  <c:v>45752</c:v>
                </c:pt>
                <c:pt idx="95">
                  <c:v>45753</c:v>
                </c:pt>
                <c:pt idx="96">
                  <c:v>45754</c:v>
                </c:pt>
                <c:pt idx="97">
                  <c:v>45755</c:v>
                </c:pt>
                <c:pt idx="98">
                  <c:v>45756</c:v>
                </c:pt>
                <c:pt idx="99">
                  <c:v>45757</c:v>
                </c:pt>
                <c:pt idx="100">
                  <c:v>45758</c:v>
                </c:pt>
                <c:pt idx="101">
                  <c:v>45759</c:v>
                </c:pt>
                <c:pt idx="102">
                  <c:v>45760</c:v>
                </c:pt>
                <c:pt idx="103">
                  <c:v>45761</c:v>
                </c:pt>
                <c:pt idx="104">
                  <c:v>45762</c:v>
                </c:pt>
                <c:pt idx="105">
                  <c:v>45763</c:v>
                </c:pt>
                <c:pt idx="106">
                  <c:v>45764</c:v>
                </c:pt>
                <c:pt idx="107">
                  <c:v>45765</c:v>
                </c:pt>
                <c:pt idx="108">
                  <c:v>45766</c:v>
                </c:pt>
                <c:pt idx="109">
                  <c:v>45767</c:v>
                </c:pt>
                <c:pt idx="110">
                  <c:v>45768</c:v>
                </c:pt>
                <c:pt idx="111">
                  <c:v>45769</c:v>
                </c:pt>
                <c:pt idx="112">
                  <c:v>45770</c:v>
                </c:pt>
                <c:pt idx="113">
                  <c:v>45771</c:v>
                </c:pt>
                <c:pt idx="114">
                  <c:v>45772</c:v>
                </c:pt>
                <c:pt idx="115">
                  <c:v>45773</c:v>
                </c:pt>
                <c:pt idx="116">
                  <c:v>45774</c:v>
                </c:pt>
                <c:pt idx="117">
                  <c:v>45775</c:v>
                </c:pt>
                <c:pt idx="118">
                  <c:v>45776</c:v>
                </c:pt>
                <c:pt idx="119">
                  <c:v>45777</c:v>
                </c:pt>
                <c:pt idx="120">
                  <c:v>45778</c:v>
                </c:pt>
                <c:pt idx="121">
                  <c:v>45779</c:v>
                </c:pt>
                <c:pt idx="122">
                  <c:v>45780</c:v>
                </c:pt>
                <c:pt idx="123">
                  <c:v>45781</c:v>
                </c:pt>
                <c:pt idx="124">
                  <c:v>45782</c:v>
                </c:pt>
                <c:pt idx="125">
                  <c:v>45783</c:v>
                </c:pt>
                <c:pt idx="126">
                  <c:v>45784</c:v>
                </c:pt>
                <c:pt idx="127">
                  <c:v>45785</c:v>
                </c:pt>
                <c:pt idx="128">
                  <c:v>45786</c:v>
                </c:pt>
                <c:pt idx="129">
                  <c:v>45787</c:v>
                </c:pt>
                <c:pt idx="130">
                  <c:v>45788</c:v>
                </c:pt>
                <c:pt idx="131">
                  <c:v>45789</c:v>
                </c:pt>
                <c:pt idx="132">
                  <c:v>45790</c:v>
                </c:pt>
                <c:pt idx="133">
                  <c:v>45791</c:v>
                </c:pt>
                <c:pt idx="134">
                  <c:v>45792</c:v>
                </c:pt>
                <c:pt idx="135">
                  <c:v>45793</c:v>
                </c:pt>
                <c:pt idx="136">
                  <c:v>45794</c:v>
                </c:pt>
                <c:pt idx="137">
                  <c:v>45795</c:v>
                </c:pt>
                <c:pt idx="138">
                  <c:v>45796</c:v>
                </c:pt>
                <c:pt idx="139">
                  <c:v>45797</c:v>
                </c:pt>
                <c:pt idx="140">
                  <c:v>45798</c:v>
                </c:pt>
                <c:pt idx="141">
                  <c:v>45799</c:v>
                </c:pt>
                <c:pt idx="142">
                  <c:v>45800</c:v>
                </c:pt>
                <c:pt idx="143">
                  <c:v>45801</c:v>
                </c:pt>
                <c:pt idx="144">
                  <c:v>45802</c:v>
                </c:pt>
                <c:pt idx="145">
                  <c:v>45803</c:v>
                </c:pt>
                <c:pt idx="146">
                  <c:v>45804</c:v>
                </c:pt>
                <c:pt idx="147">
                  <c:v>45805</c:v>
                </c:pt>
                <c:pt idx="148">
                  <c:v>45806</c:v>
                </c:pt>
                <c:pt idx="149">
                  <c:v>45807</c:v>
                </c:pt>
                <c:pt idx="150">
                  <c:v>45808</c:v>
                </c:pt>
                <c:pt idx="151">
                  <c:v>45809</c:v>
                </c:pt>
                <c:pt idx="152">
                  <c:v>45810</c:v>
                </c:pt>
                <c:pt idx="153">
                  <c:v>45811</c:v>
                </c:pt>
                <c:pt idx="154">
                  <c:v>45812</c:v>
                </c:pt>
                <c:pt idx="155">
                  <c:v>45813</c:v>
                </c:pt>
                <c:pt idx="156">
                  <c:v>45814</c:v>
                </c:pt>
                <c:pt idx="157">
                  <c:v>45815</c:v>
                </c:pt>
                <c:pt idx="158">
                  <c:v>45816</c:v>
                </c:pt>
                <c:pt idx="159">
                  <c:v>45817</c:v>
                </c:pt>
                <c:pt idx="160">
                  <c:v>45818</c:v>
                </c:pt>
                <c:pt idx="161">
                  <c:v>45819</c:v>
                </c:pt>
                <c:pt idx="162">
                  <c:v>45820</c:v>
                </c:pt>
                <c:pt idx="163">
                  <c:v>45821</c:v>
                </c:pt>
                <c:pt idx="164">
                  <c:v>45822</c:v>
                </c:pt>
                <c:pt idx="165">
                  <c:v>45823</c:v>
                </c:pt>
                <c:pt idx="166">
                  <c:v>45824</c:v>
                </c:pt>
                <c:pt idx="167">
                  <c:v>45825</c:v>
                </c:pt>
                <c:pt idx="168">
                  <c:v>45826</c:v>
                </c:pt>
                <c:pt idx="169">
                  <c:v>45827</c:v>
                </c:pt>
                <c:pt idx="170">
                  <c:v>45828</c:v>
                </c:pt>
                <c:pt idx="171">
                  <c:v>45829</c:v>
                </c:pt>
                <c:pt idx="172">
                  <c:v>45830</c:v>
                </c:pt>
                <c:pt idx="173">
                  <c:v>45831</c:v>
                </c:pt>
                <c:pt idx="174">
                  <c:v>45832</c:v>
                </c:pt>
                <c:pt idx="175">
                  <c:v>45833</c:v>
                </c:pt>
                <c:pt idx="176">
                  <c:v>45834</c:v>
                </c:pt>
                <c:pt idx="177">
                  <c:v>45835</c:v>
                </c:pt>
                <c:pt idx="178">
                  <c:v>45836</c:v>
                </c:pt>
                <c:pt idx="179">
                  <c:v>45837</c:v>
                </c:pt>
                <c:pt idx="180">
                  <c:v>45838</c:v>
                </c:pt>
                <c:pt idx="181">
                  <c:v>45839</c:v>
                </c:pt>
                <c:pt idx="182">
                  <c:v>45840</c:v>
                </c:pt>
                <c:pt idx="183">
                  <c:v>45841</c:v>
                </c:pt>
                <c:pt idx="184">
                  <c:v>45842</c:v>
                </c:pt>
                <c:pt idx="185">
                  <c:v>45843</c:v>
                </c:pt>
                <c:pt idx="186">
                  <c:v>45844</c:v>
                </c:pt>
                <c:pt idx="187">
                  <c:v>45845</c:v>
                </c:pt>
                <c:pt idx="188">
                  <c:v>45846</c:v>
                </c:pt>
                <c:pt idx="189">
                  <c:v>45847</c:v>
                </c:pt>
                <c:pt idx="190">
                  <c:v>45848</c:v>
                </c:pt>
                <c:pt idx="191">
                  <c:v>45849</c:v>
                </c:pt>
                <c:pt idx="192">
                  <c:v>45850</c:v>
                </c:pt>
                <c:pt idx="193">
                  <c:v>45851</c:v>
                </c:pt>
                <c:pt idx="194">
                  <c:v>45852</c:v>
                </c:pt>
                <c:pt idx="195">
                  <c:v>45853</c:v>
                </c:pt>
                <c:pt idx="196">
                  <c:v>45854</c:v>
                </c:pt>
                <c:pt idx="197">
                  <c:v>45855</c:v>
                </c:pt>
                <c:pt idx="198">
                  <c:v>45856</c:v>
                </c:pt>
                <c:pt idx="199">
                  <c:v>45857</c:v>
                </c:pt>
                <c:pt idx="200">
                  <c:v>45858</c:v>
                </c:pt>
                <c:pt idx="201">
                  <c:v>45859</c:v>
                </c:pt>
                <c:pt idx="202">
                  <c:v>45860</c:v>
                </c:pt>
                <c:pt idx="203">
                  <c:v>45861</c:v>
                </c:pt>
                <c:pt idx="204">
                  <c:v>45862</c:v>
                </c:pt>
                <c:pt idx="205">
                  <c:v>45863</c:v>
                </c:pt>
                <c:pt idx="206">
                  <c:v>45864</c:v>
                </c:pt>
                <c:pt idx="207">
                  <c:v>45865</c:v>
                </c:pt>
                <c:pt idx="208">
                  <c:v>45866</c:v>
                </c:pt>
                <c:pt idx="209">
                  <c:v>45867</c:v>
                </c:pt>
                <c:pt idx="210">
                  <c:v>45868</c:v>
                </c:pt>
                <c:pt idx="211">
                  <c:v>45869</c:v>
                </c:pt>
                <c:pt idx="212">
                  <c:v>45870</c:v>
                </c:pt>
                <c:pt idx="213">
                  <c:v>45871</c:v>
                </c:pt>
                <c:pt idx="214">
                  <c:v>45872</c:v>
                </c:pt>
                <c:pt idx="215">
                  <c:v>45873</c:v>
                </c:pt>
                <c:pt idx="216">
                  <c:v>45874</c:v>
                </c:pt>
                <c:pt idx="217">
                  <c:v>45875</c:v>
                </c:pt>
                <c:pt idx="218">
                  <c:v>45876</c:v>
                </c:pt>
                <c:pt idx="219">
                  <c:v>45877</c:v>
                </c:pt>
                <c:pt idx="220">
                  <c:v>45878</c:v>
                </c:pt>
                <c:pt idx="221">
                  <c:v>45879</c:v>
                </c:pt>
                <c:pt idx="222">
                  <c:v>45880</c:v>
                </c:pt>
                <c:pt idx="223">
                  <c:v>45881</c:v>
                </c:pt>
                <c:pt idx="224">
                  <c:v>45882</c:v>
                </c:pt>
                <c:pt idx="225">
                  <c:v>45883</c:v>
                </c:pt>
                <c:pt idx="226">
                  <c:v>45884</c:v>
                </c:pt>
                <c:pt idx="227">
                  <c:v>45885</c:v>
                </c:pt>
                <c:pt idx="228">
                  <c:v>45886</c:v>
                </c:pt>
                <c:pt idx="229">
                  <c:v>45887</c:v>
                </c:pt>
                <c:pt idx="230">
                  <c:v>45888</c:v>
                </c:pt>
                <c:pt idx="231">
                  <c:v>45889</c:v>
                </c:pt>
                <c:pt idx="232">
                  <c:v>45890</c:v>
                </c:pt>
                <c:pt idx="233">
                  <c:v>45891</c:v>
                </c:pt>
                <c:pt idx="234">
                  <c:v>45892</c:v>
                </c:pt>
                <c:pt idx="235">
                  <c:v>45893</c:v>
                </c:pt>
                <c:pt idx="236">
                  <c:v>45894</c:v>
                </c:pt>
                <c:pt idx="237">
                  <c:v>45895</c:v>
                </c:pt>
                <c:pt idx="238">
                  <c:v>45896</c:v>
                </c:pt>
                <c:pt idx="239">
                  <c:v>45897</c:v>
                </c:pt>
                <c:pt idx="240">
                  <c:v>45898</c:v>
                </c:pt>
                <c:pt idx="241">
                  <c:v>45899</c:v>
                </c:pt>
                <c:pt idx="242">
                  <c:v>45900</c:v>
                </c:pt>
                <c:pt idx="243">
                  <c:v>45901</c:v>
                </c:pt>
                <c:pt idx="244">
                  <c:v>45902</c:v>
                </c:pt>
                <c:pt idx="245">
                  <c:v>45903</c:v>
                </c:pt>
                <c:pt idx="246">
                  <c:v>45904</c:v>
                </c:pt>
                <c:pt idx="247">
                  <c:v>45905</c:v>
                </c:pt>
                <c:pt idx="248">
                  <c:v>45906</c:v>
                </c:pt>
                <c:pt idx="249">
                  <c:v>45907</c:v>
                </c:pt>
                <c:pt idx="250">
                  <c:v>45908</c:v>
                </c:pt>
                <c:pt idx="251">
                  <c:v>45909</c:v>
                </c:pt>
                <c:pt idx="252">
                  <c:v>45910</c:v>
                </c:pt>
                <c:pt idx="253">
                  <c:v>45911</c:v>
                </c:pt>
                <c:pt idx="254">
                  <c:v>45912</c:v>
                </c:pt>
                <c:pt idx="255">
                  <c:v>45913</c:v>
                </c:pt>
                <c:pt idx="256">
                  <c:v>45914</c:v>
                </c:pt>
                <c:pt idx="257">
                  <c:v>45915</c:v>
                </c:pt>
                <c:pt idx="258">
                  <c:v>45916</c:v>
                </c:pt>
                <c:pt idx="259">
                  <c:v>45917</c:v>
                </c:pt>
                <c:pt idx="260">
                  <c:v>45918</c:v>
                </c:pt>
                <c:pt idx="261">
                  <c:v>45919</c:v>
                </c:pt>
                <c:pt idx="262">
                  <c:v>45920</c:v>
                </c:pt>
                <c:pt idx="263">
                  <c:v>45921</c:v>
                </c:pt>
                <c:pt idx="264">
                  <c:v>45922</c:v>
                </c:pt>
                <c:pt idx="265">
                  <c:v>45923</c:v>
                </c:pt>
                <c:pt idx="266">
                  <c:v>45924</c:v>
                </c:pt>
                <c:pt idx="267">
                  <c:v>45925</c:v>
                </c:pt>
                <c:pt idx="268">
                  <c:v>45926</c:v>
                </c:pt>
                <c:pt idx="269">
                  <c:v>45927</c:v>
                </c:pt>
                <c:pt idx="270">
                  <c:v>45928</c:v>
                </c:pt>
                <c:pt idx="271">
                  <c:v>45929</c:v>
                </c:pt>
                <c:pt idx="272">
                  <c:v>45930</c:v>
                </c:pt>
                <c:pt idx="273">
                  <c:v>45931</c:v>
                </c:pt>
                <c:pt idx="274">
                  <c:v>45932</c:v>
                </c:pt>
                <c:pt idx="275">
                  <c:v>45933</c:v>
                </c:pt>
                <c:pt idx="276">
                  <c:v>45934</c:v>
                </c:pt>
                <c:pt idx="277">
                  <c:v>45935</c:v>
                </c:pt>
                <c:pt idx="278">
                  <c:v>45936</c:v>
                </c:pt>
                <c:pt idx="279">
                  <c:v>45937</c:v>
                </c:pt>
                <c:pt idx="280">
                  <c:v>45938</c:v>
                </c:pt>
                <c:pt idx="281">
                  <c:v>45939</c:v>
                </c:pt>
                <c:pt idx="282">
                  <c:v>45940</c:v>
                </c:pt>
                <c:pt idx="283">
                  <c:v>45941</c:v>
                </c:pt>
                <c:pt idx="284">
                  <c:v>45942</c:v>
                </c:pt>
                <c:pt idx="285">
                  <c:v>45943</c:v>
                </c:pt>
                <c:pt idx="286">
                  <c:v>45944</c:v>
                </c:pt>
                <c:pt idx="287">
                  <c:v>45945</c:v>
                </c:pt>
                <c:pt idx="288">
                  <c:v>45946</c:v>
                </c:pt>
                <c:pt idx="289">
                  <c:v>45947</c:v>
                </c:pt>
                <c:pt idx="290">
                  <c:v>45948</c:v>
                </c:pt>
                <c:pt idx="291">
                  <c:v>45949</c:v>
                </c:pt>
                <c:pt idx="292">
                  <c:v>45950</c:v>
                </c:pt>
                <c:pt idx="293">
                  <c:v>45951</c:v>
                </c:pt>
                <c:pt idx="294">
                  <c:v>45952</c:v>
                </c:pt>
                <c:pt idx="295">
                  <c:v>45953</c:v>
                </c:pt>
                <c:pt idx="296">
                  <c:v>45954</c:v>
                </c:pt>
                <c:pt idx="297">
                  <c:v>45955</c:v>
                </c:pt>
                <c:pt idx="298">
                  <c:v>45956</c:v>
                </c:pt>
                <c:pt idx="299">
                  <c:v>45957</c:v>
                </c:pt>
                <c:pt idx="300">
                  <c:v>45958</c:v>
                </c:pt>
                <c:pt idx="301">
                  <c:v>45959</c:v>
                </c:pt>
                <c:pt idx="302">
                  <c:v>45960</c:v>
                </c:pt>
                <c:pt idx="303">
                  <c:v>45961</c:v>
                </c:pt>
                <c:pt idx="304">
                  <c:v>45962</c:v>
                </c:pt>
                <c:pt idx="305">
                  <c:v>45963</c:v>
                </c:pt>
                <c:pt idx="306">
                  <c:v>45964</c:v>
                </c:pt>
                <c:pt idx="307">
                  <c:v>45965</c:v>
                </c:pt>
                <c:pt idx="308">
                  <c:v>45966</c:v>
                </c:pt>
                <c:pt idx="309">
                  <c:v>45967</c:v>
                </c:pt>
                <c:pt idx="310">
                  <c:v>45968</c:v>
                </c:pt>
                <c:pt idx="311">
                  <c:v>45969</c:v>
                </c:pt>
                <c:pt idx="312">
                  <c:v>45970</c:v>
                </c:pt>
                <c:pt idx="313">
                  <c:v>45971</c:v>
                </c:pt>
                <c:pt idx="314">
                  <c:v>45972</c:v>
                </c:pt>
                <c:pt idx="315">
                  <c:v>45973</c:v>
                </c:pt>
                <c:pt idx="316">
                  <c:v>45974</c:v>
                </c:pt>
                <c:pt idx="317">
                  <c:v>45975</c:v>
                </c:pt>
                <c:pt idx="318">
                  <c:v>45976</c:v>
                </c:pt>
                <c:pt idx="319">
                  <c:v>45977</c:v>
                </c:pt>
                <c:pt idx="320">
                  <c:v>45978</c:v>
                </c:pt>
                <c:pt idx="321">
                  <c:v>45979</c:v>
                </c:pt>
                <c:pt idx="322">
                  <c:v>45980</c:v>
                </c:pt>
                <c:pt idx="323">
                  <c:v>45981</c:v>
                </c:pt>
                <c:pt idx="324">
                  <c:v>45982</c:v>
                </c:pt>
                <c:pt idx="325">
                  <c:v>45983</c:v>
                </c:pt>
                <c:pt idx="326">
                  <c:v>45984</c:v>
                </c:pt>
                <c:pt idx="327">
                  <c:v>45985</c:v>
                </c:pt>
                <c:pt idx="328">
                  <c:v>45986</c:v>
                </c:pt>
                <c:pt idx="329">
                  <c:v>45987</c:v>
                </c:pt>
                <c:pt idx="330">
                  <c:v>45988</c:v>
                </c:pt>
                <c:pt idx="331">
                  <c:v>45989</c:v>
                </c:pt>
                <c:pt idx="332">
                  <c:v>45990</c:v>
                </c:pt>
                <c:pt idx="333">
                  <c:v>45991</c:v>
                </c:pt>
                <c:pt idx="334">
                  <c:v>45992</c:v>
                </c:pt>
                <c:pt idx="335">
                  <c:v>45993</c:v>
                </c:pt>
                <c:pt idx="336">
                  <c:v>45994</c:v>
                </c:pt>
                <c:pt idx="337">
                  <c:v>45995</c:v>
                </c:pt>
                <c:pt idx="338">
                  <c:v>45996</c:v>
                </c:pt>
                <c:pt idx="339">
                  <c:v>45997</c:v>
                </c:pt>
                <c:pt idx="340">
                  <c:v>45998</c:v>
                </c:pt>
                <c:pt idx="341">
                  <c:v>45999</c:v>
                </c:pt>
                <c:pt idx="342">
                  <c:v>46000</c:v>
                </c:pt>
                <c:pt idx="343">
                  <c:v>46001</c:v>
                </c:pt>
                <c:pt idx="344">
                  <c:v>46002</c:v>
                </c:pt>
                <c:pt idx="345">
                  <c:v>46003</c:v>
                </c:pt>
                <c:pt idx="346">
                  <c:v>46004</c:v>
                </c:pt>
                <c:pt idx="347">
                  <c:v>46005</c:v>
                </c:pt>
                <c:pt idx="348">
                  <c:v>46006</c:v>
                </c:pt>
                <c:pt idx="349">
                  <c:v>46007</c:v>
                </c:pt>
                <c:pt idx="350">
                  <c:v>46008</c:v>
                </c:pt>
                <c:pt idx="351">
                  <c:v>46009</c:v>
                </c:pt>
                <c:pt idx="352">
                  <c:v>46010</c:v>
                </c:pt>
                <c:pt idx="353">
                  <c:v>46011</c:v>
                </c:pt>
                <c:pt idx="354">
                  <c:v>46012</c:v>
                </c:pt>
                <c:pt idx="355">
                  <c:v>46013</c:v>
                </c:pt>
                <c:pt idx="356">
                  <c:v>46014</c:v>
                </c:pt>
                <c:pt idx="357">
                  <c:v>46015</c:v>
                </c:pt>
                <c:pt idx="358">
                  <c:v>46016</c:v>
                </c:pt>
                <c:pt idx="359">
                  <c:v>46017</c:v>
                </c:pt>
                <c:pt idx="360">
                  <c:v>46018</c:v>
                </c:pt>
                <c:pt idx="361">
                  <c:v>46019</c:v>
                </c:pt>
                <c:pt idx="362">
                  <c:v>46020</c:v>
                </c:pt>
                <c:pt idx="363">
                  <c:v>46021</c:v>
                </c:pt>
                <c:pt idx="364">
                  <c:v>46022</c:v>
                </c:pt>
                <c:pt idx="365">
                  <c:v>46023</c:v>
                </c:pt>
                <c:pt idx="366">
                  <c:v>46024</c:v>
                </c:pt>
                <c:pt idx="367">
                  <c:v>46025</c:v>
                </c:pt>
                <c:pt idx="368">
                  <c:v>46026</c:v>
                </c:pt>
                <c:pt idx="369">
                  <c:v>46027</c:v>
                </c:pt>
                <c:pt idx="370">
                  <c:v>46028</c:v>
                </c:pt>
                <c:pt idx="371">
                  <c:v>46029</c:v>
                </c:pt>
                <c:pt idx="372">
                  <c:v>46030</c:v>
                </c:pt>
                <c:pt idx="373">
                  <c:v>46031</c:v>
                </c:pt>
                <c:pt idx="374">
                  <c:v>46032</c:v>
                </c:pt>
                <c:pt idx="375">
                  <c:v>46033</c:v>
                </c:pt>
                <c:pt idx="376">
                  <c:v>46034</c:v>
                </c:pt>
                <c:pt idx="377">
                  <c:v>46035</c:v>
                </c:pt>
                <c:pt idx="378">
                  <c:v>46036</c:v>
                </c:pt>
                <c:pt idx="379">
                  <c:v>46037</c:v>
                </c:pt>
                <c:pt idx="380">
                  <c:v>46038</c:v>
                </c:pt>
                <c:pt idx="381">
                  <c:v>46039</c:v>
                </c:pt>
                <c:pt idx="382">
                  <c:v>46040</c:v>
                </c:pt>
                <c:pt idx="383">
                  <c:v>46041</c:v>
                </c:pt>
                <c:pt idx="384">
                  <c:v>46042</c:v>
                </c:pt>
                <c:pt idx="385">
                  <c:v>46043</c:v>
                </c:pt>
                <c:pt idx="386">
                  <c:v>46044</c:v>
                </c:pt>
                <c:pt idx="387">
                  <c:v>46045</c:v>
                </c:pt>
                <c:pt idx="388">
                  <c:v>46046</c:v>
                </c:pt>
                <c:pt idx="389">
                  <c:v>46047</c:v>
                </c:pt>
                <c:pt idx="390">
                  <c:v>46048</c:v>
                </c:pt>
                <c:pt idx="391">
                  <c:v>46049</c:v>
                </c:pt>
                <c:pt idx="392">
                  <c:v>46050</c:v>
                </c:pt>
                <c:pt idx="393">
                  <c:v>46051</c:v>
                </c:pt>
                <c:pt idx="394">
                  <c:v>46052</c:v>
                </c:pt>
                <c:pt idx="395">
                  <c:v>46053</c:v>
                </c:pt>
                <c:pt idx="396">
                  <c:v>46054</c:v>
                </c:pt>
                <c:pt idx="397">
                  <c:v>46055</c:v>
                </c:pt>
                <c:pt idx="398">
                  <c:v>46056</c:v>
                </c:pt>
                <c:pt idx="399">
                  <c:v>46057</c:v>
                </c:pt>
                <c:pt idx="400">
                  <c:v>46058</c:v>
                </c:pt>
                <c:pt idx="401">
                  <c:v>46059</c:v>
                </c:pt>
                <c:pt idx="402">
                  <c:v>46060</c:v>
                </c:pt>
                <c:pt idx="403">
                  <c:v>46061</c:v>
                </c:pt>
                <c:pt idx="404">
                  <c:v>46062</c:v>
                </c:pt>
                <c:pt idx="405">
                  <c:v>46063</c:v>
                </c:pt>
                <c:pt idx="406">
                  <c:v>46064</c:v>
                </c:pt>
                <c:pt idx="407">
                  <c:v>46065</c:v>
                </c:pt>
                <c:pt idx="408">
                  <c:v>46066</c:v>
                </c:pt>
                <c:pt idx="409">
                  <c:v>46067</c:v>
                </c:pt>
                <c:pt idx="410">
                  <c:v>46068</c:v>
                </c:pt>
                <c:pt idx="411">
                  <c:v>46069</c:v>
                </c:pt>
                <c:pt idx="412">
                  <c:v>46070</c:v>
                </c:pt>
                <c:pt idx="413">
                  <c:v>46071</c:v>
                </c:pt>
                <c:pt idx="414">
                  <c:v>46072</c:v>
                </c:pt>
                <c:pt idx="415">
                  <c:v>46073</c:v>
                </c:pt>
                <c:pt idx="416">
                  <c:v>46074</c:v>
                </c:pt>
                <c:pt idx="417">
                  <c:v>46075</c:v>
                </c:pt>
                <c:pt idx="418">
                  <c:v>46076</c:v>
                </c:pt>
                <c:pt idx="419">
                  <c:v>46077</c:v>
                </c:pt>
                <c:pt idx="420">
                  <c:v>46078</c:v>
                </c:pt>
                <c:pt idx="421">
                  <c:v>46079</c:v>
                </c:pt>
                <c:pt idx="422">
                  <c:v>46080</c:v>
                </c:pt>
                <c:pt idx="423">
                  <c:v>46081</c:v>
                </c:pt>
                <c:pt idx="424">
                  <c:v>46082</c:v>
                </c:pt>
                <c:pt idx="425">
                  <c:v>46083</c:v>
                </c:pt>
                <c:pt idx="426">
                  <c:v>46084</c:v>
                </c:pt>
                <c:pt idx="427">
                  <c:v>46085</c:v>
                </c:pt>
                <c:pt idx="428">
                  <c:v>46086</c:v>
                </c:pt>
                <c:pt idx="429">
                  <c:v>46087</c:v>
                </c:pt>
                <c:pt idx="430">
                  <c:v>46088</c:v>
                </c:pt>
                <c:pt idx="431">
                  <c:v>46089</c:v>
                </c:pt>
                <c:pt idx="432">
                  <c:v>46090</c:v>
                </c:pt>
                <c:pt idx="433">
                  <c:v>46091</c:v>
                </c:pt>
                <c:pt idx="434">
                  <c:v>46092</c:v>
                </c:pt>
                <c:pt idx="435">
                  <c:v>46093</c:v>
                </c:pt>
                <c:pt idx="436">
                  <c:v>46094</c:v>
                </c:pt>
                <c:pt idx="437">
                  <c:v>46095</c:v>
                </c:pt>
                <c:pt idx="438">
                  <c:v>46096</c:v>
                </c:pt>
                <c:pt idx="439">
                  <c:v>46097</c:v>
                </c:pt>
                <c:pt idx="440">
                  <c:v>46098</c:v>
                </c:pt>
                <c:pt idx="441">
                  <c:v>46099</c:v>
                </c:pt>
                <c:pt idx="442">
                  <c:v>46100</c:v>
                </c:pt>
                <c:pt idx="443">
                  <c:v>46101</c:v>
                </c:pt>
                <c:pt idx="444">
                  <c:v>46102</c:v>
                </c:pt>
                <c:pt idx="445">
                  <c:v>46103</c:v>
                </c:pt>
                <c:pt idx="446">
                  <c:v>46104</c:v>
                </c:pt>
                <c:pt idx="447">
                  <c:v>46105</c:v>
                </c:pt>
                <c:pt idx="448">
                  <c:v>46106</c:v>
                </c:pt>
                <c:pt idx="449">
                  <c:v>46107</c:v>
                </c:pt>
                <c:pt idx="450">
                  <c:v>46108</c:v>
                </c:pt>
                <c:pt idx="451">
                  <c:v>46109</c:v>
                </c:pt>
                <c:pt idx="452">
                  <c:v>46110</c:v>
                </c:pt>
                <c:pt idx="453">
                  <c:v>46111</c:v>
                </c:pt>
                <c:pt idx="454">
                  <c:v>46112</c:v>
                </c:pt>
                <c:pt idx="455">
                  <c:v>46113</c:v>
                </c:pt>
                <c:pt idx="456">
                  <c:v>46114</c:v>
                </c:pt>
                <c:pt idx="457">
                  <c:v>46115</c:v>
                </c:pt>
                <c:pt idx="458">
                  <c:v>46116</c:v>
                </c:pt>
                <c:pt idx="459">
                  <c:v>46117</c:v>
                </c:pt>
                <c:pt idx="460">
                  <c:v>46118</c:v>
                </c:pt>
                <c:pt idx="461">
                  <c:v>46119</c:v>
                </c:pt>
                <c:pt idx="462">
                  <c:v>46120</c:v>
                </c:pt>
                <c:pt idx="463">
                  <c:v>46121</c:v>
                </c:pt>
                <c:pt idx="464">
                  <c:v>46122</c:v>
                </c:pt>
                <c:pt idx="465">
                  <c:v>46123</c:v>
                </c:pt>
                <c:pt idx="466">
                  <c:v>46124</c:v>
                </c:pt>
                <c:pt idx="467">
                  <c:v>46125</c:v>
                </c:pt>
                <c:pt idx="468">
                  <c:v>46126</c:v>
                </c:pt>
                <c:pt idx="469">
                  <c:v>46127</c:v>
                </c:pt>
                <c:pt idx="470">
                  <c:v>46128</c:v>
                </c:pt>
                <c:pt idx="471">
                  <c:v>46129</c:v>
                </c:pt>
                <c:pt idx="472">
                  <c:v>46130</c:v>
                </c:pt>
                <c:pt idx="473">
                  <c:v>46131</c:v>
                </c:pt>
                <c:pt idx="474">
                  <c:v>46132</c:v>
                </c:pt>
                <c:pt idx="475">
                  <c:v>46133</c:v>
                </c:pt>
                <c:pt idx="476">
                  <c:v>46134</c:v>
                </c:pt>
                <c:pt idx="477">
                  <c:v>46135</c:v>
                </c:pt>
                <c:pt idx="478">
                  <c:v>46136</c:v>
                </c:pt>
                <c:pt idx="479">
                  <c:v>46137</c:v>
                </c:pt>
                <c:pt idx="480">
                  <c:v>46138</c:v>
                </c:pt>
                <c:pt idx="481">
                  <c:v>46139</c:v>
                </c:pt>
                <c:pt idx="482">
                  <c:v>46140</c:v>
                </c:pt>
                <c:pt idx="483">
                  <c:v>46141</c:v>
                </c:pt>
                <c:pt idx="484">
                  <c:v>46142</c:v>
                </c:pt>
                <c:pt idx="485">
                  <c:v>46143</c:v>
                </c:pt>
                <c:pt idx="486">
                  <c:v>46144</c:v>
                </c:pt>
                <c:pt idx="487">
                  <c:v>46145</c:v>
                </c:pt>
                <c:pt idx="488">
                  <c:v>46146</c:v>
                </c:pt>
              </c:numCache>
            </c:numRef>
          </c:cat>
          <c:val>
            <c:numRef>
              <c:f>Sheet1!$D$2:$D$490</c:f>
              <c:numCache>
                <c:formatCode>General</c:formatCode>
                <c:ptCount val="489"/>
                <c:pt idx="0">
                  <c:v>100</c:v>
                </c:pt>
                <c:pt idx="1">
                  <c:v>101.1479910157225</c:v>
                </c:pt>
                <c:pt idx="2">
                  <c:v>102.16496131769404</c:v>
                </c:pt>
                <c:pt idx="3">
                  <c:v>102.16496131769404</c:v>
                </c:pt>
                <c:pt idx="4">
                  <c:v>102.16496131769404</c:v>
                </c:pt>
                <c:pt idx="5">
                  <c:v>102.43324182680308</c:v>
                </c:pt>
                <c:pt idx="6">
                  <c:v>101.81713251809332</c:v>
                </c:pt>
                <c:pt idx="7">
                  <c:v>101.19166458697279</c:v>
                </c:pt>
                <c:pt idx="8">
                  <c:v>100.94990017469429</c:v>
                </c:pt>
                <c:pt idx="9">
                  <c:v>100.60987022710258</c:v>
                </c:pt>
                <c:pt idx="10">
                  <c:v>100.60987022710258</c:v>
                </c:pt>
                <c:pt idx="11">
                  <c:v>100.60987022710258</c:v>
                </c:pt>
                <c:pt idx="12">
                  <c:v>99.951647117544283</c:v>
                </c:pt>
                <c:pt idx="13">
                  <c:v>99.280945844771651</c:v>
                </c:pt>
                <c:pt idx="14">
                  <c:v>99.46811829298727</c:v>
                </c:pt>
                <c:pt idx="15">
                  <c:v>100.94210132268529</c:v>
                </c:pt>
                <c:pt idx="16">
                  <c:v>101.02164961317692</c:v>
                </c:pt>
                <c:pt idx="17">
                  <c:v>101.02164961317692</c:v>
                </c:pt>
                <c:pt idx="18">
                  <c:v>101.02164961317692</c:v>
                </c:pt>
                <c:pt idx="19">
                  <c:v>101.66115547791365</c:v>
                </c:pt>
                <c:pt idx="20">
                  <c:v>101.54105315697531</c:v>
                </c:pt>
                <c:pt idx="21">
                  <c:v>100.62234839031694</c:v>
                </c:pt>
                <c:pt idx="22">
                  <c:v>100.60675068629898</c:v>
                </c:pt>
                <c:pt idx="23">
                  <c:v>100.90466683304217</c:v>
                </c:pt>
                <c:pt idx="24">
                  <c:v>100.90466683304217</c:v>
                </c:pt>
                <c:pt idx="25">
                  <c:v>100.90466683304217</c:v>
                </c:pt>
                <c:pt idx="26">
                  <c:v>99.513351634639378</c:v>
                </c:pt>
                <c:pt idx="27">
                  <c:v>100.44765410531571</c:v>
                </c:pt>
                <c:pt idx="28">
                  <c:v>100.44765410531571</c:v>
                </c:pt>
                <c:pt idx="29">
                  <c:v>100.44765410531571</c:v>
                </c:pt>
                <c:pt idx="30">
                  <c:v>100.16221612178686</c:v>
                </c:pt>
                <c:pt idx="31">
                  <c:v>100.16221612178686</c:v>
                </c:pt>
                <c:pt idx="32">
                  <c:v>100.16221612178686</c:v>
                </c:pt>
                <c:pt idx="33">
                  <c:v>99.277826303968055</c:v>
                </c:pt>
                <c:pt idx="34">
                  <c:v>99.284065385575232</c:v>
                </c:pt>
                <c:pt idx="35">
                  <c:v>99.165522835038672</c:v>
                </c:pt>
                <c:pt idx="36">
                  <c:v>99.502433241826793</c:v>
                </c:pt>
                <c:pt idx="37">
                  <c:v>100.2402046418767</c:v>
                </c:pt>
                <c:pt idx="38">
                  <c:v>100.2402046418767</c:v>
                </c:pt>
                <c:pt idx="39">
                  <c:v>100.2402046418767</c:v>
                </c:pt>
                <c:pt idx="40">
                  <c:v>99.798789618168215</c:v>
                </c:pt>
                <c:pt idx="41">
                  <c:v>99.650611429997511</c:v>
                </c:pt>
                <c:pt idx="42">
                  <c:v>99.355814824057902</c:v>
                </c:pt>
                <c:pt idx="43">
                  <c:v>98.711629648115789</c:v>
                </c:pt>
                <c:pt idx="44">
                  <c:v>98.530696281507375</c:v>
                </c:pt>
                <c:pt idx="45">
                  <c:v>98.530696281507375</c:v>
                </c:pt>
                <c:pt idx="46">
                  <c:v>98.530696281507375</c:v>
                </c:pt>
                <c:pt idx="47">
                  <c:v>99.226353880708757</c:v>
                </c:pt>
                <c:pt idx="48">
                  <c:v>98.449588220613919</c:v>
                </c:pt>
                <c:pt idx="49">
                  <c:v>97.944222610431751</c:v>
                </c:pt>
                <c:pt idx="50">
                  <c:v>97.601073122036439</c:v>
                </c:pt>
                <c:pt idx="51">
                  <c:v>97.482530571499879</c:v>
                </c:pt>
                <c:pt idx="52">
                  <c:v>97.482530571499879</c:v>
                </c:pt>
                <c:pt idx="53">
                  <c:v>97.482530571499879</c:v>
                </c:pt>
                <c:pt idx="54">
                  <c:v>97.875592712752677</c:v>
                </c:pt>
                <c:pt idx="55">
                  <c:v>97.841277763913155</c:v>
                </c:pt>
                <c:pt idx="56">
                  <c:v>97.658784626902914</c:v>
                </c:pt>
                <c:pt idx="57">
                  <c:v>97.563638632393307</c:v>
                </c:pt>
                <c:pt idx="58">
                  <c:v>97.243885700024961</c:v>
                </c:pt>
                <c:pt idx="59">
                  <c:v>97.243885700024961</c:v>
                </c:pt>
                <c:pt idx="60">
                  <c:v>97.243885700024961</c:v>
                </c:pt>
                <c:pt idx="61">
                  <c:v>97.577676566009487</c:v>
                </c:pt>
                <c:pt idx="62">
                  <c:v>97.465373097080104</c:v>
                </c:pt>
                <c:pt idx="63">
                  <c:v>97.830359371100585</c:v>
                </c:pt>
                <c:pt idx="64">
                  <c:v>97.739892687796356</c:v>
                </c:pt>
                <c:pt idx="65">
                  <c:v>97.484090341901677</c:v>
                </c:pt>
                <c:pt idx="66">
                  <c:v>97.484090341901677</c:v>
                </c:pt>
                <c:pt idx="67">
                  <c:v>97.484090341901677</c:v>
                </c:pt>
                <c:pt idx="68">
                  <c:v>97.507486897928615</c:v>
                </c:pt>
                <c:pt idx="69">
                  <c:v>98.048727227352146</c:v>
                </c:pt>
                <c:pt idx="70">
                  <c:v>100.27451959071625</c:v>
                </c:pt>
                <c:pt idx="71">
                  <c:v>101.26809333666085</c:v>
                </c:pt>
                <c:pt idx="72">
                  <c:v>101.7874968804592</c:v>
                </c:pt>
                <c:pt idx="73">
                  <c:v>101.7874968804592</c:v>
                </c:pt>
                <c:pt idx="74">
                  <c:v>101.7874968804592</c:v>
                </c:pt>
                <c:pt idx="75">
                  <c:v>101.65179685550288</c:v>
                </c:pt>
                <c:pt idx="76">
                  <c:v>101.41003244322435</c:v>
                </c:pt>
                <c:pt idx="77">
                  <c:v>101.15423009732967</c:v>
                </c:pt>
                <c:pt idx="78">
                  <c:v>101.69391065635138</c:v>
                </c:pt>
                <c:pt idx="79">
                  <c:v>101.86080608934364</c:v>
                </c:pt>
                <c:pt idx="80">
                  <c:v>101.86080608934364</c:v>
                </c:pt>
                <c:pt idx="81">
                  <c:v>101.86080608934364</c:v>
                </c:pt>
                <c:pt idx="82">
                  <c:v>102.32249812827551</c:v>
                </c:pt>
                <c:pt idx="83">
                  <c:v>102.21019465934613</c:v>
                </c:pt>
                <c:pt idx="84">
                  <c:v>102.380209633142</c:v>
                </c:pt>
                <c:pt idx="85">
                  <c:v>102.23203144497128</c:v>
                </c:pt>
                <c:pt idx="86">
                  <c:v>101.90759920139756</c:v>
                </c:pt>
                <c:pt idx="87">
                  <c:v>101.90759920139756</c:v>
                </c:pt>
                <c:pt idx="88">
                  <c:v>101.90759920139756</c:v>
                </c:pt>
                <c:pt idx="89">
                  <c:v>101.90759920139756</c:v>
                </c:pt>
                <c:pt idx="90">
                  <c:v>102.42232343399051</c:v>
                </c:pt>
                <c:pt idx="91">
                  <c:v>101.96999001746943</c:v>
                </c:pt>
                <c:pt idx="92">
                  <c:v>103.59215123533816</c:v>
                </c:pt>
                <c:pt idx="93">
                  <c:v>102.45975792363365</c:v>
                </c:pt>
                <c:pt idx="94">
                  <c:v>102.45975792363365</c:v>
                </c:pt>
                <c:pt idx="95">
                  <c:v>102.45975792363365</c:v>
                </c:pt>
                <c:pt idx="96">
                  <c:v>96.701085600199661</c:v>
                </c:pt>
                <c:pt idx="97">
                  <c:v>95.25829797853757</c:v>
                </c:pt>
                <c:pt idx="98">
                  <c:v>92.115360618916895</c:v>
                </c:pt>
                <c:pt idx="99">
                  <c:v>95.130396805590209</c:v>
                </c:pt>
                <c:pt idx="100">
                  <c:v>94.473733466433757</c:v>
                </c:pt>
                <c:pt idx="101">
                  <c:v>94.473733466433757</c:v>
                </c:pt>
                <c:pt idx="102">
                  <c:v>94.473733466433757</c:v>
                </c:pt>
                <c:pt idx="103">
                  <c:v>94.912028949338662</c:v>
                </c:pt>
                <c:pt idx="104">
                  <c:v>96.886698278013469</c:v>
                </c:pt>
                <c:pt idx="105">
                  <c:v>98.120476665834801</c:v>
                </c:pt>
                <c:pt idx="106">
                  <c:v>98.6133641128026</c:v>
                </c:pt>
                <c:pt idx="107">
                  <c:v>98.6133641128026</c:v>
                </c:pt>
                <c:pt idx="108">
                  <c:v>98.6133641128026</c:v>
                </c:pt>
                <c:pt idx="109">
                  <c:v>98.6133641128026</c:v>
                </c:pt>
                <c:pt idx="110">
                  <c:v>98.580608934364861</c:v>
                </c:pt>
                <c:pt idx="111">
                  <c:v>99.126528574993756</c:v>
                </c:pt>
                <c:pt idx="112">
                  <c:v>100.60987022710258</c:v>
                </c:pt>
                <c:pt idx="113">
                  <c:v>99.900174694284999</c:v>
                </c:pt>
                <c:pt idx="114">
                  <c:v>99.706763164462188</c:v>
                </c:pt>
                <c:pt idx="115">
                  <c:v>99.706763164462188</c:v>
                </c:pt>
                <c:pt idx="116">
                  <c:v>99.706763164462188</c:v>
                </c:pt>
                <c:pt idx="117">
                  <c:v>99.929810331919128</c:v>
                </c:pt>
                <c:pt idx="118">
                  <c:v>99.864299975043664</c:v>
                </c:pt>
                <c:pt idx="119">
                  <c:v>100.3415897179935</c:v>
                </c:pt>
                <c:pt idx="120">
                  <c:v>100.3415897179935</c:v>
                </c:pt>
                <c:pt idx="121">
                  <c:v>100.47417020214624</c:v>
                </c:pt>
                <c:pt idx="122">
                  <c:v>100.47417020214624</c:v>
                </c:pt>
                <c:pt idx="123">
                  <c:v>100.47417020214624</c:v>
                </c:pt>
                <c:pt idx="124">
                  <c:v>100.6410656351385</c:v>
                </c:pt>
                <c:pt idx="125">
                  <c:v>100.43049663089593</c:v>
                </c:pt>
                <c:pt idx="126">
                  <c:v>100.32131270277014</c:v>
                </c:pt>
                <c:pt idx="127">
                  <c:v>98.752183678562517</c:v>
                </c:pt>
                <c:pt idx="128">
                  <c:v>99.065697529323685</c:v>
                </c:pt>
                <c:pt idx="129">
                  <c:v>99.065697529323685</c:v>
                </c:pt>
                <c:pt idx="130">
                  <c:v>99.065697529323685</c:v>
                </c:pt>
                <c:pt idx="131">
                  <c:v>99.065697529323685</c:v>
                </c:pt>
                <c:pt idx="132">
                  <c:v>98.883204392313459</c:v>
                </c:pt>
                <c:pt idx="133">
                  <c:v>98.326366358871979</c:v>
                </c:pt>
                <c:pt idx="134">
                  <c:v>97.772647866234095</c:v>
                </c:pt>
                <c:pt idx="135">
                  <c:v>98.527576740703765</c:v>
                </c:pt>
                <c:pt idx="136">
                  <c:v>98.527576740703765</c:v>
                </c:pt>
                <c:pt idx="137">
                  <c:v>98.527576740703765</c:v>
                </c:pt>
                <c:pt idx="138">
                  <c:v>97.583915647616664</c:v>
                </c:pt>
                <c:pt idx="139">
                  <c:v>97.509046668330413</c:v>
                </c:pt>
                <c:pt idx="140">
                  <c:v>97.658784626902914</c:v>
                </c:pt>
                <c:pt idx="141">
                  <c:v>97.351509857748937</c:v>
                </c:pt>
                <c:pt idx="142">
                  <c:v>97.437297229847772</c:v>
                </c:pt>
                <c:pt idx="143">
                  <c:v>97.437297229847772</c:v>
                </c:pt>
                <c:pt idx="144">
                  <c:v>97.437297229847772</c:v>
                </c:pt>
                <c:pt idx="145">
                  <c:v>97.705577738956819</c:v>
                </c:pt>
                <c:pt idx="146">
                  <c:v>97.732093835787381</c:v>
                </c:pt>
                <c:pt idx="147">
                  <c:v>97.900549039181428</c:v>
                </c:pt>
                <c:pt idx="148">
                  <c:v>97.813201896680809</c:v>
                </c:pt>
                <c:pt idx="149">
                  <c:v>98.472984776640885</c:v>
                </c:pt>
                <c:pt idx="150">
                  <c:v>98.472984776640885</c:v>
                </c:pt>
                <c:pt idx="151">
                  <c:v>98.472984776640885</c:v>
                </c:pt>
                <c:pt idx="152">
                  <c:v>98.13607436985275</c:v>
                </c:pt>
                <c:pt idx="153">
                  <c:v>97.964499625655108</c:v>
                </c:pt>
                <c:pt idx="154">
                  <c:v>97.644746693286748</c:v>
                </c:pt>
                <c:pt idx="155">
                  <c:v>98.132954829049154</c:v>
                </c:pt>
                <c:pt idx="156">
                  <c:v>98.795857249812826</c:v>
                </c:pt>
                <c:pt idx="157">
                  <c:v>98.795857249812826</c:v>
                </c:pt>
                <c:pt idx="158">
                  <c:v>98.795857249812826</c:v>
                </c:pt>
                <c:pt idx="159">
                  <c:v>98.579049163963063</c:v>
                </c:pt>
                <c:pt idx="160">
                  <c:v>98.922198652358375</c:v>
                </c:pt>
                <c:pt idx="161">
                  <c:v>99.436922884951329</c:v>
                </c:pt>
                <c:pt idx="162">
                  <c:v>99.847142500623903</c:v>
                </c:pt>
                <c:pt idx="163">
                  <c:v>99.635013725979533</c:v>
                </c:pt>
                <c:pt idx="164">
                  <c:v>99.635013725979533</c:v>
                </c:pt>
                <c:pt idx="165">
                  <c:v>99.635013725979533</c:v>
                </c:pt>
                <c:pt idx="166">
                  <c:v>99.628774644372356</c:v>
                </c:pt>
                <c:pt idx="167">
                  <c:v>100.7408909408535</c:v>
                </c:pt>
                <c:pt idx="168">
                  <c:v>100.92182430746193</c:v>
                </c:pt>
                <c:pt idx="169">
                  <c:v>100.75804841527327</c:v>
                </c:pt>
                <c:pt idx="170">
                  <c:v>100.29479660593961</c:v>
                </c:pt>
                <c:pt idx="171">
                  <c:v>100.29479660593961</c:v>
                </c:pt>
                <c:pt idx="172">
                  <c:v>100.29479660593961</c:v>
                </c:pt>
                <c:pt idx="173">
                  <c:v>100.05771150486649</c:v>
                </c:pt>
                <c:pt idx="174">
                  <c:v>100.30103568754679</c:v>
                </c:pt>
                <c:pt idx="175">
                  <c:v>100.70657599201398</c:v>
                </c:pt>
                <c:pt idx="176">
                  <c:v>101.50673820813576</c:v>
                </c:pt>
                <c:pt idx="177">
                  <c:v>102.40984527077615</c:v>
                </c:pt>
                <c:pt idx="178">
                  <c:v>102.40984527077615</c:v>
                </c:pt>
                <c:pt idx="179">
                  <c:v>102.40984527077615</c:v>
                </c:pt>
                <c:pt idx="180">
                  <c:v>102.480034938857</c:v>
                </c:pt>
                <c:pt idx="181">
                  <c:v>102.43948090841029</c:v>
                </c:pt>
                <c:pt idx="182">
                  <c:v>103.6280259545795</c:v>
                </c:pt>
                <c:pt idx="183">
                  <c:v>103.96337659096579</c:v>
                </c:pt>
                <c:pt idx="184">
                  <c:v>103.01971549787872</c:v>
                </c:pt>
                <c:pt idx="185">
                  <c:v>103.01971549787872</c:v>
                </c:pt>
                <c:pt idx="186">
                  <c:v>103.01971549787872</c:v>
                </c:pt>
                <c:pt idx="187">
                  <c:v>102.72179935113553</c:v>
                </c:pt>
                <c:pt idx="188">
                  <c:v>101.29616920389317</c:v>
                </c:pt>
                <c:pt idx="189">
                  <c:v>101.53949338657348</c:v>
                </c:pt>
                <c:pt idx="190">
                  <c:v>101.83740953331667</c:v>
                </c:pt>
                <c:pt idx="191">
                  <c:v>102.19147741452457</c:v>
                </c:pt>
                <c:pt idx="192">
                  <c:v>102.19147741452457</c:v>
                </c:pt>
                <c:pt idx="193">
                  <c:v>102.19147741452457</c:v>
                </c:pt>
                <c:pt idx="194">
                  <c:v>102.96356376341403</c:v>
                </c:pt>
                <c:pt idx="195">
                  <c:v>103.1772523084602</c:v>
                </c:pt>
                <c:pt idx="196">
                  <c:v>103.43461442475667</c:v>
                </c:pt>
                <c:pt idx="197">
                  <c:v>103.42681557274769</c:v>
                </c:pt>
                <c:pt idx="198">
                  <c:v>103.59995008734715</c:v>
                </c:pt>
                <c:pt idx="199">
                  <c:v>103.59995008734715</c:v>
                </c:pt>
                <c:pt idx="200">
                  <c:v>103.59995008734715</c:v>
                </c:pt>
                <c:pt idx="201">
                  <c:v>104.78849513351636</c:v>
                </c:pt>
                <c:pt idx="202">
                  <c:v>105.03025954579486</c:v>
                </c:pt>
                <c:pt idx="203">
                  <c:v>105.20963314200149</c:v>
                </c:pt>
                <c:pt idx="204">
                  <c:v>104.87896181682058</c:v>
                </c:pt>
                <c:pt idx="205">
                  <c:v>105.12228599950089</c:v>
                </c:pt>
                <c:pt idx="206">
                  <c:v>105.12228599950089</c:v>
                </c:pt>
                <c:pt idx="207">
                  <c:v>105.12228599950089</c:v>
                </c:pt>
                <c:pt idx="208">
                  <c:v>105.70252058896929</c:v>
                </c:pt>
                <c:pt idx="209">
                  <c:v>105.78518842026455</c:v>
                </c:pt>
                <c:pt idx="210">
                  <c:v>106.72728974294982</c:v>
                </c:pt>
                <c:pt idx="211">
                  <c:v>104.95227102570502</c:v>
                </c:pt>
                <c:pt idx="212">
                  <c:v>103.86511105565262</c:v>
                </c:pt>
                <c:pt idx="213">
                  <c:v>103.86511105565262</c:v>
                </c:pt>
                <c:pt idx="214">
                  <c:v>103.86511105565262</c:v>
                </c:pt>
                <c:pt idx="215">
                  <c:v>105.46855502869977</c:v>
                </c:pt>
                <c:pt idx="216">
                  <c:v>104.79941352632891</c:v>
                </c:pt>
                <c:pt idx="217">
                  <c:v>104.54517095083604</c:v>
                </c:pt>
                <c:pt idx="218">
                  <c:v>105.22055153481409</c:v>
                </c:pt>
                <c:pt idx="219">
                  <c:v>105.04897679061642</c:v>
                </c:pt>
                <c:pt idx="220">
                  <c:v>105.04897679061642</c:v>
                </c:pt>
                <c:pt idx="221">
                  <c:v>105.04897679061642</c:v>
                </c:pt>
                <c:pt idx="222">
                  <c:v>105.17999750436738</c:v>
                </c:pt>
                <c:pt idx="223">
                  <c:v>104.00860993261793</c:v>
                </c:pt>
                <c:pt idx="224">
                  <c:v>104.90703768405292</c:v>
                </c:pt>
                <c:pt idx="225">
                  <c:v>104.95227102570502</c:v>
                </c:pt>
                <c:pt idx="226">
                  <c:v>104.38763414025456</c:v>
                </c:pt>
                <c:pt idx="227">
                  <c:v>104.38763414025456</c:v>
                </c:pt>
                <c:pt idx="228">
                  <c:v>104.38763414025456</c:v>
                </c:pt>
                <c:pt idx="229">
                  <c:v>104.27065136011979</c:v>
                </c:pt>
                <c:pt idx="230">
                  <c:v>105.0645744946344</c:v>
                </c:pt>
                <c:pt idx="231">
                  <c:v>105.10512852508111</c:v>
                </c:pt>
                <c:pt idx="232">
                  <c:v>105.10044921387573</c:v>
                </c:pt>
                <c:pt idx="233">
                  <c:v>105.18623658597454</c:v>
                </c:pt>
                <c:pt idx="234">
                  <c:v>105.18623658597454</c:v>
                </c:pt>
                <c:pt idx="235">
                  <c:v>105.18623658597454</c:v>
                </c:pt>
                <c:pt idx="236">
                  <c:v>106.92850012478164</c:v>
                </c:pt>
                <c:pt idx="237">
                  <c:v>106.59470925879711</c:v>
                </c:pt>
                <c:pt idx="238">
                  <c:v>106.52295982031445</c:v>
                </c:pt>
                <c:pt idx="239">
                  <c:v>106.67425754928874</c:v>
                </c:pt>
                <c:pt idx="240">
                  <c:v>107.3418392812578</c:v>
                </c:pt>
                <c:pt idx="241">
                  <c:v>107.3418392812578</c:v>
                </c:pt>
                <c:pt idx="242">
                  <c:v>107.3418392812578</c:v>
                </c:pt>
                <c:pt idx="243">
                  <c:v>108.66140504117794</c:v>
                </c:pt>
                <c:pt idx="244">
                  <c:v>108.18411529822811</c:v>
                </c:pt>
                <c:pt idx="245">
                  <c:v>107.82692787621662</c:v>
                </c:pt>
                <c:pt idx="246">
                  <c:v>107.38707262290991</c:v>
                </c:pt>
                <c:pt idx="247">
                  <c:v>107.99850262041426</c:v>
                </c:pt>
                <c:pt idx="248">
                  <c:v>107.99850262041426</c:v>
                </c:pt>
                <c:pt idx="249">
                  <c:v>107.99850262041426</c:v>
                </c:pt>
                <c:pt idx="250">
                  <c:v>109.45376840529076</c:v>
                </c:pt>
                <c:pt idx="251">
                  <c:v>109.50368105814823</c:v>
                </c:pt>
                <c:pt idx="252">
                  <c:v>109.23852008984278</c:v>
                </c:pt>
                <c:pt idx="253">
                  <c:v>109.7797604192663</c:v>
                </c:pt>
                <c:pt idx="254">
                  <c:v>110.75773646119291</c:v>
                </c:pt>
                <c:pt idx="255">
                  <c:v>110.75773646119291</c:v>
                </c:pt>
                <c:pt idx="256">
                  <c:v>110.75773646119291</c:v>
                </c:pt>
                <c:pt idx="257">
                  <c:v>111.10712503119542</c:v>
                </c:pt>
                <c:pt idx="258">
                  <c:v>110.48477664087845</c:v>
                </c:pt>
                <c:pt idx="259">
                  <c:v>110.08391564761666</c:v>
                </c:pt>
                <c:pt idx="260">
                  <c:v>109.42881207886199</c:v>
                </c:pt>
                <c:pt idx="261">
                  <c:v>109.01079361118042</c:v>
                </c:pt>
                <c:pt idx="262">
                  <c:v>109.01079361118042</c:v>
                </c:pt>
                <c:pt idx="263">
                  <c:v>109.01079361118042</c:v>
                </c:pt>
                <c:pt idx="264">
                  <c:v>108.79710506613426</c:v>
                </c:pt>
                <c:pt idx="265">
                  <c:v>109.68149488395309</c:v>
                </c:pt>
                <c:pt idx="266">
                  <c:v>109.44908909408535</c:v>
                </c:pt>
                <c:pt idx="267">
                  <c:v>108.68480159720488</c:v>
                </c:pt>
                <c:pt idx="268">
                  <c:v>108.41184177689043</c:v>
                </c:pt>
                <c:pt idx="269">
                  <c:v>108.41184177689043</c:v>
                </c:pt>
                <c:pt idx="270">
                  <c:v>108.41184177689043</c:v>
                </c:pt>
                <c:pt idx="271">
                  <c:v>108.822061392563</c:v>
                </c:pt>
                <c:pt idx="272">
                  <c:v>109.18548789618168</c:v>
                </c:pt>
                <c:pt idx="273">
                  <c:v>109.77664087846269</c:v>
                </c:pt>
                <c:pt idx="274">
                  <c:v>110.83884452208635</c:v>
                </c:pt>
                <c:pt idx="275">
                  <c:v>111.30677564262541</c:v>
                </c:pt>
                <c:pt idx="276">
                  <c:v>111.30677564262541</c:v>
                </c:pt>
                <c:pt idx="277">
                  <c:v>111.30677564262541</c:v>
                </c:pt>
                <c:pt idx="278">
                  <c:v>111.08060893436486</c:v>
                </c:pt>
                <c:pt idx="279">
                  <c:v>111.35824806588471</c:v>
                </c:pt>
                <c:pt idx="280">
                  <c:v>111.39256301472422</c:v>
                </c:pt>
                <c:pt idx="281">
                  <c:v>110.93866982780133</c:v>
                </c:pt>
                <c:pt idx="282">
                  <c:v>110.50193411529823</c:v>
                </c:pt>
                <c:pt idx="283">
                  <c:v>110.50193411529823</c:v>
                </c:pt>
                <c:pt idx="284">
                  <c:v>110.50193411529823</c:v>
                </c:pt>
                <c:pt idx="285">
                  <c:v>109.99656850511606</c:v>
                </c:pt>
                <c:pt idx="286">
                  <c:v>110.30696281507362</c:v>
                </c:pt>
                <c:pt idx="287">
                  <c:v>110.41302720239581</c:v>
                </c:pt>
                <c:pt idx="288">
                  <c:v>110.87783878213126</c:v>
                </c:pt>
                <c:pt idx="289">
                  <c:v>110.78893186922885</c:v>
                </c:pt>
                <c:pt idx="290">
                  <c:v>110.78893186922885</c:v>
                </c:pt>
                <c:pt idx="291">
                  <c:v>110.78893186922885</c:v>
                </c:pt>
                <c:pt idx="292">
                  <c:v>110.78893186922885</c:v>
                </c:pt>
                <c:pt idx="293">
                  <c:v>111.72947342151235</c:v>
                </c:pt>
                <c:pt idx="294">
                  <c:v>112.1474918891939</c:v>
                </c:pt>
                <c:pt idx="295">
                  <c:v>112.85562765160968</c:v>
                </c:pt>
                <c:pt idx="296">
                  <c:v>112.5499126528575</c:v>
                </c:pt>
                <c:pt idx="297">
                  <c:v>112.5499126528575</c:v>
                </c:pt>
                <c:pt idx="298">
                  <c:v>112.5499126528575</c:v>
                </c:pt>
                <c:pt idx="299">
                  <c:v>112.88526328924382</c:v>
                </c:pt>
                <c:pt idx="300">
                  <c:v>113.47173696031945</c:v>
                </c:pt>
                <c:pt idx="301">
                  <c:v>113.69166458697279</c:v>
                </c:pt>
                <c:pt idx="302">
                  <c:v>112.07730222111306</c:v>
                </c:pt>
                <c:pt idx="303">
                  <c:v>111.42687796356377</c:v>
                </c:pt>
                <c:pt idx="304">
                  <c:v>111.42687796356377</c:v>
                </c:pt>
                <c:pt idx="305">
                  <c:v>111.42687796356377</c:v>
                </c:pt>
                <c:pt idx="306">
                  <c:v>111.49082855003742</c:v>
                </c:pt>
                <c:pt idx="307">
                  <c:v>110.34907661592214</c:v>
                </c:pt>
                <c:pt idx="308">
                  <c:v>110.05739955078613</c:v>
                </c:pt>
                <c:pt idx="309">
                  <c:v>110.25549039181432</c:v>
                </c:pt>
                <c:pt idx="310">
                  <c:v>110.48165710007487</c:v>
                </c:pt>
                <c:pt idx="311">
                  <c:v>110.48165710007487</c:v>
                </c:pt>
                <c:pt idx="312">
                  <c:v>110.48165710007487</c:v>
                </c:pt>
                <c:pt idx="313">
                  <c:v>110.74525829797854</c:v>
                </c:pt>
                <c:pt idx="314">
                  <c:v>111.45339406039429</c:v>
                </c:pt>
                <c:pt idx="315">
                  <c:v>110.89031694534566</c:v>
                </c:pt>
                <c:pt idx="316">
                  <c:v>110.69690541552283</c:v>
                </c:pt>
                <c:pt idx="317">
                  <c:v>109.97317194908909</c:v>
                </c:pt>
                <c:pt idx="318">
                  <c:v>109.97317194908909</c:v>
                </c:pt>
                <c:pt idx="319">
                  <c:v>109.97317194908909</c:v>
                </c:pt>
                <c:pt idx="320">
                  <c:v>110.04960069877714</c:v>
                </c:pt>
                <c:pt idx="321">
                  <c:v>109.33834539555778</c:v>
                </c:pt>
                <c:pt idx="322">
                  <c:v>109.58166957823808</c:v>
                </c:pt>
                <c:pt idx="323">
                  <c:v>110.05116046917894</c:v>
                </c:pt>
                <c:pt idx="324">
                  <c:v>108.99051659595706</c:v>
                </c:pt>
                <c:pt idx="325">
                  <c:v>108.99051659595706</c:v>
                </c:pt>
                <c:pt idx="326">
                  <c:v>108.99051659595706</c:v>
                </c:pt>
                <c:pt idx="327">
                  <c:v>110.03400299475918</c:v>
                </c:pt>
                <c:pt idx="328">
                  <c:v>110.08235587721487</c:v>
                </c:pt>
                <c:pt idx="329">
                  <c:v>109.9747317194909</c:v>
                </c:pt>
                <c:pt idx="330">
                  <c:v>110.42706513601199</c:v>
                </c:pt>
                <c:pt idx="331">
                  <c:v>110.57680309458446</c:v>
                </c:pt>
                <c:pt idx="332">
                  <c:v>110.57680309458446</c:v>
                </c:pt>
                <c:pt idx="333">
                  <c:v>110.57680309458446</c:v>
                </c:pt>
                <c:pt idx="334">
                  <c:v>109.70021212877464</c:v>
                </c:pt>
                <c:pt idx="335">
                  <c:v>110.37403294235088</c:v>
                </c:pt>
                <c:pt idx="336">
                  <c:v>110.30228350386821</c:v>
                </c:pt>
                <c:pt idx="337">
                  <c:v>109.6736960319441</c:v>
                </c:pt>
                <c:pt idx="338">
                  <c:v>109.51771899176441</c:v>
                </c:pt>
                <c:pt idx="339">
                  <c:v>109.51771899176441</c:v>
                </c:pt>
                <c:pt idx="340">
                  <c:v>109.51771899176441</c:v>
                </c:pt>
                <c:pt idx="341">
                  <c:v>108.67388320439231</c:v>
                </c:pt>
                <c:pt idx="342">
                  <c:v>108.96400049912654</c:v>
                </c:pt>
                <c:pt idx="343">
                  <c:v>108.51010731220363</c:v>
                </c:pt>
                <c:pt idx="344">
                  <c:v>108.89225106064386</c:v>
                </c:pt>
                <c:pt idx="345">
                  <c:v>109.29467182430747</c:v>
                </c:pt>
                <c:pt idx="346">
                  <c:v>109.29467182430747</c:v>
                </c:pt>
                <c:pt idx="347">
                  <c:v>109.29467182430747</c:v>
                </c:pt>
                <c:pt idx="348">
                  <c:v>109.0809832792613</c:v>
                </c:pt>
                <c:pt idx="349">
                  <c:v>109.09346144247567</c:v>
                </c:pt>
                <c:pt idx="350">
                  <c:v>108.9733591215373</c:v>
                </c:pt>
                <c:pt idx="351">
                  <c:v>109.26503618667331</c:v>
                </c:pt>
                <c:pt idx="352">
                  <c:v>109.8780259545795</c:v>
                </c:pt>
                <c:pt idx="353">
                  <c:v>109.8780259545795</c:v>
                </c:pt>
                <c:pt idx="354">
                  <c:v>109.8780259545795</c:v>
                </c:pt>
                <c:pt idx="355">
                  <c:v>109.5629523334165</c:v>
                </c:pt>
                <c:pt idx="356">
                  <c:v>109.67057649114051</c:v>
                </c:pt>
                <c:pt idx="357">
                  <c:v>109.98565011230346</c:v>
                </c:pt>
                <c:pt idx="358">
                  <c:v>109.98565011230346</c:v>
                </c:pt>
                <c:pt idx="359">
                  <c:v>110.119790366858</c:v>
                </c:pt>
                <c:pt idx="360">
                  <c:v>110.119790366858</c:v>
                </c:pt>
                <c:pt idx="361">
                  <c:v>110.119790366858</c:v>
                </c:pt>
                <c:pt idx="362">
                  <c:v>110.6126778138258</c:v>
                </c:pt>
                <c:pt idx="363">
                  <c:v>110.74681806838034</c:v>
                </c:pt>
                <c:pt idx="364">
                  <c:v>111.32081357624158</c:v>
                </c:pt>
                <c:pt idx="365">
                  <c:v>111.32081357624158</c:v>
                </c:pt>
                <c:pt idx="366">
                  <c:v>111.13988020963315</c:v>
                </c:pt>
                <c:pt idx="367">
                  <c:v>111.13988020963315</c:v>
                </c:pt>
                <c:pt idx="368">
                  <c:v>111.13988020963315</c:v>
                </c:pt>
                <c:pt idx="369">
                  <c:v>111.19447217369603</c:v>
                </c:pt>
                <c:pt idx="370">
                  <c:v>111.39568255552781</c:v>
                </c:pt>
                <c:pt idx="371">
                  <c:v>111.76846768155728</c:v>
                </c:pt>
                <c:pt idx="372">
                  <c:v>111.93848265535313</c:v>
                </c:pt>
                <c:pt idx="373">
                  <c:v>112.03518842026455</c:v>
                </c:pt>
                <c:pt idx="374">
                  <c:v>112.03518842026455</c:v>
                </c:pt>
                <c:pt idx="375">
                  <c:v>112.03518842026455</c:v>
                </c:pt>
                <c:pt idx="376">
                  <c:v>112.51247816321437</c:v>
                </c:pt>
                <c:pt idx="377">
                  <c:v>113.06463688545045</c:v>
                </c:pt>
                <c:pt idx="378">
                  <c:v>113.06307711504866</c:v>
                </c:pt>
                <c:pt idx="379">
                  <c:v>112.41889193910657</c:v>
                </c:pt>
                <c:pt idx="380">
                  <c:v>112.52495632642874</c:v>
                </c:pt>
                <c:pt idx="381">
                  <c:v>112.52495632642874</c:v>
                </c:pt>
                <c:pt idx="382">
                  <c:v>112.52495632642874</c:v>
                </c:pt>
                <c:pt idx="383">
                  <c:v>112.20364362365859</c:v>
                </c:pt>
                <c:pt idx="384">
                  <c:v>113.09895183428999</c:v>
                </c:pt>
                <c:pt idx="385">
                  <c:v>112.42045170950836</c:v>
                </c:pt>
                <c:pt idx="386">
                  <c:v>112.25043673571248</c:v>
                </c:pt>
                <c:pt idx="387">
                  <c:v>112.29567007736463</c:v>
                </c:pt>
                <c:pt idx="388">
                  <c:v>112.29567007736463</c:v>
                </c:pt>
                <c:pt idx="389">
                  <c:v>112.29567007736463</c:v>
                </c:pt>
                <c:pt idx="390">
                  <c:v>111.96187921138008</c:v>
                </c:pt>
                <c:pt idx="391">
                  <c:v>112.03206887946094</c:v>
                </c:pt>
                <c:pt idx="392">
                  <c:v>111.91040678812078</c:v>
                </c:pt>
                <c:pt idx="393">
                  <c:v>111.98839530821063</c:v>
                </c:pt>
                <c:pt idx="394">
                  <c:v>112.0601447466933</c:v>
                </c:pt>
                <c:pt idx="395">
                  <c:v>112.0601447466933</c:v>
                </c:pt>
                <c:pt idx="396">
                  <c:v>112.0601447466933</c:v>
                </c:pt>
                <c:pt idx="397">
                  <c:v>111.70607686548539</c:v>
                </c:pt>
                <c:pt idx="398">
                  <c:v>111.65928375343151</c:v>
                </c:pt>
                <c:pt idx="399">
                  <c:v>111.72323433990516</c:v>
                </c:pt>
                <c:pt idx="400">
                  <c:v>111.44091589717995</c:v>
                </c:pt>
                <c:pt idx="401">
                  <c:v>111.32081357624158</c:v>
                </c:pt>
                <c:pt idx="402">
                  <c:v>111.32081357624158</c:v>
                </c:pt>
                <c:pt idx="403">
                  <c:v>111.32081357624158</c:v>
                </c:pt>
                <c:pt idx="404">
                  <c:v>111.93068380334414</c:v>
                </c:pt>
                <c:pt idx="405">
                  <c:v>112.04610681307712</c:v>
                </c:pt>
                <c:pt idx="406">
                  <c:v>112.0071125530322</c:v>
                </c:pt>
                <c:pt idx="407">
                  <c:v>110.65167207387073</c:v>
                </c:pt>
                <c:pt idx="408">
                  <c:v>109.8671075617669</c:v>
                </c:pt>
                <c:pt idx="409">
                  <c:v>109.8671075617669</c:v>
                </c:pt>
                <c:pt idx="410">
                  <c:v>109.8671075617669</c:v>
                </c:pt>
                <c:pt idx="411">
                  <c:v>110.12602944846519</c:v>
                </c:pt>
                <c:pt idx="412">
                  <c:v>110.12602944846519</c:v>
                </c:pt>
                <c:pt idx="413">
                  <c:v>110.12602944846519</c:v>
                </c:pt>
                <c:pt idx="414">
                  <c:v>109.89518342899925</c:v>
                </c:pt>
                <c:pt idx="415">
                  <c:v>110.1307087596706</c:v>
                </c:pt>
                <c:pt idx="416">
                  <c:v>110.1307087596706</c:v>
                </c:pt>
                <c:pt idx="417">
                  <c:v>110.1307087596706</c:v>
                </c:pt>
                <c:pt idx="418">
                  <c:v>110.62203643623658</c:v>
                </c:pt>
                <c:pt idx="419">
                  <c:v>111.23346643374094</c:v>
                </c:pt>
                <c:pt idx="420">
                  <c:v>111.26934115298228</c:v>
                </c:pt>
                <c:pt idx="421">
                  <c:v>110.99482156226603</c:v>
                </c:pt>
                <c:pt idx="422">
                  <c:v>109.98253057149986</c:v>
                </c:pt>
                <c:pt idx="423">
                  <c:v>109.98253057149986</c:v>
                </c:pt>
                <c:pt idx="424">
                  <c:v>109.98253057149986</c:v>
                </c:pt>
                <c:pt idx="425">
                  <c:v>109.11217868729723</c:v>
                </c:pt>
                <c:pt idx="426">
                  <c:v>108.31357624157722</c:v>
                </c:pt>
                <c:pt idx="427">
                  <c:v>106.68829548290491</c:v>
                </c:pt>
                <c:pt idx="428">
                  <c:v>106.80527826303967</c:v>
                </c:pt>
                <c:pt idx="429">
                  <c:v>106.71169203893187</c:v>
                </c:pt>
                <c:pt idx="430">
                  <c:v>106.71169203893187</c:v>
                </c:pt>
                <c:pt idx="431">
                  <c:v>106.71169203893187</c:v>
                </c:pt>
                <c:pt idx="432">
                  <c:v>103.81675817319692</c:v>
                </c:pt>
                <c:pt idx="433">
                  <c:v>104.93043424007986</c:v>
                </c:pt>
                <c:pt idx="434">
                  <c:v>104.98190666333915</c:v>
                </c:pt>
                <c:pt idx="435">
                  <c:v>104.80409283753431</c:v>
                </c:pt>
                <c:pt idx="436">
                  <c:v>104.42194908909408</c:v>
                </c:pt>
                <c:pt idx="437">
                  <c:v>104.42194908909408</c:v>
                </c:pt>
                <c:pt idx="438">
                  <c:v>104.42194908909408</c:v>
                </c:pt>
                <c:pt idx="439">
                  <c:v>104.83060893436486</c:v>
                </c:pt>
                <c:pt idx="440">
                  <c:v>106.03007237334663</c:v>
                </c:pt>
                <c:pt idx="441">
                  <c:v>106.70545295732468</c:v>
                </c:pt>
                <c:pt idx="442">
                  <c:v>105.92400798602446</c:v>
                </c:pt>
                <c:pt idx="443">
                  <c:v>106.26247816321437</c:v>
                </c:pt>
                <c:pt idx="444">
                  <c:v>106.26247816321437</c:v>
                </c:pt>
                <c:pt idx="445">
                  <c:v>106.26247816321437</c:v>
                </c:pt>
                <c:pt idx="446">
                  <c:v>103.65610182181182</c:v>
                </c:pt>
                <c:pt idx="447">
                  <c:v>103.60618916895432</c:v>
                </c:pt>
                <c:pt idx="448">
                  <c:v>103.74500873471423</c:v>
                </c:pt>
                <c:pt idx="449">
                  <c:v>102.72491889193911</c:v>
                </c:pt>
                <c:pt idx="450">
                  <c:v>102.91521088095831</c:v>
                </c:pt>
                <c:pt idx="451">
                  <c:v>102.91521088095831</c:v>
                </c:pt>
                <c:pt idx="452">
                  <c:v>102.91521088095831</c:v>
                </c:pt>
                <c:pt idx="453">
                  <c:v>102.89337409533317</c:v>
                </c:pt>
                <c:pt idx="454">
                  <c:v>102.42232343399051</c:v>
                </c:pt>
                <c:pt idx="455">
                  <c:v>103.71849263788371</c:v>
                </c:pt>
                <c:pt idx="456">
                  <c:v>103.38782131270277</c:v>
                </c:pt>
                <c:pt idx="457">
                  <c:v>103.38782131270277</c:v>
                </c:pt>
                <c:pt idx="458">
                  <c:v>103.38782131270277</c:v>
                </c:pt>
                <c:pt idx="459">
                  <c:v>103.38782131270277</c:v>
                </c:pt>
                <c:pt idx="460">
                  <c:v>103.78556276516096</c:v>
                </c:pt>
                <c:pt idx="461">
                  <c:v>103.50792363364111</c:v>
                </c:pt>
                <c:pt idx="462">
                  <c:v>105.90529074120289</c:v>
                </c:pt>
                <c:pt idx="463">
                  <c:v>105.1628400299476</c:v>
                </c:pt>
                <c:pt idx="464">
                  <c:v>105.66508609932619</c:v>
                </c:pt>
                <c:pt idx="465">
                  <c:v>105.66508609932619</c:v>
                </c:pt>
                <c:pt idx="466">
                  <c:v>105.66508609932619</c:v>
                </c:pt>
                <c:pt idx="467">
                  <c:v>105.8974918891939</c:v>
                </c:pt>
                <c:pt idx="468">
                  <c:v>106.69765410531569</c:v>
                </c:pt>
                <c:pt idx="469">
                  <c:v>107.26229099076615</c:v>
                </c:pt>
                <c:pt idx="470">
                  <c:v>107.89399800349389</c:v>
                </c:pt>
                <c:pt idx="471">
                  <c:v>107.64443473920639</c:v>
                </c:pt>
                <c:pt idx="472">
                  <c:v>107.64443473920639</c:v>
                </c:pt>
                <c:pt idx="473">
                  <c:v>107.64443473920639</c:v>
                </c:pt>
                <c:pt idx="474">
                  <c:v>107.71306463688546</c:v>
                </c:pt>
                <c:pt idx="475">
                  <c:v>108.6801222859995</c:v>
                </c:pt>
                <c:pt idx="476">
                  <c:v>108.51790616421265</c:v>
                </c:pt>
                <c:pt idx="477">
                  <c:v>108.32449463438982</c:v>
                </c:pt>
                <c:pt idx="478">
                  <c:v>108.21063139505864</c:v>
                </c:pt>
                <c:pt idx="479">
                  <c:v>108.21063139505864</c:v>
                </c:pt>
                <c:pt idx="480">
                  <c:v>108.21063139505864</c:v>
                </c:pt>
                <c:pt idx="481">
                  <c:v>107.41514849014224</c:v>
                </c:pt>
                <c:pt idx="482">
                  <c:v>106.73976790616422</c:v>
                </c:pt>
                <c:pt idx="483">
                  <c:v>106.23596206638383</c:v>
                </c:pt>
                <c:pt idx="484">
                  <c:v>105.66196655852258</c:v>
                </c:pt>
                <c:pt idx="485">
                  <c:v>105.66196655852258</c:v>
                </c:pt>
                <c:pt idx="486">
                  <c:v>105.66196655852258</c:v>
                </c:pt>
                <c:pt idx="487">
                  <c:v>105.66196655852258</c:v>
                </c:pt>
                <c:pt idx="488">
                  <c:v>105.95676316446219</c:v>
                </c:pt>
              </c:numCache>
            </c:numRef>
          </c:val>
          <c:smooth val="0"/>
          <c:extLst>
            <c:ext xmlns:c16="http://schemas.microsoft.com/office/drawing/2014/chart" uri="{C3380CC4-5D6E-409C-BE32-E72D297353CC}">
              <c16:uniqueId val="{00000000-7FC9-4FCD-BD11-85A42EA4938C}"/>
            </c:ext>
          </c:extLst>
        </c:ser>
        <c:dLbls>
          <c:showLegendKey val="0"/>
          <c:showVal val="0"/>
          <c:showCatName val="0"/>
          <c:showSerName val="0"/>
          <c:showPercent val="0"/>
          <c:showBubbleSize val="0"/>
        </c:dLbls>
        <c:marker val="1"/>
        <c:smooth val="0"/>
        <c:axId val="984368624"/>
        <c:axId val="984373424"/>
      </c:lineChart>
      <c:dateAx>
        <c:axId val="984368624"/>
        <c:scaling>
          <c:orientation val="minMax"/>
        </c:scaling>
        <c:delete val="0"/>
        <c:axPos val="b"/>
        <c:numFmt formatCode="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en-US"/>
          </a:p>
        </c:txPr>
        <c:crossAx val="984373424"/>
        <c:crosses val="autoZero"/>
        <c:auto val="1"/>
        <c:lblOffset val="100"/>
        <c:baseTimeUnit val="days"/>
        <c:majorUnit val="3"/>
        <c:majorTimeUnit val="months"/>
      </c:dateAx>
      <c:valAx>
        <c:axId val="984373424"/>
        <c:scaling>
          <c:orientation val="minMax"/>
          <c:max val="130"/>
          <c:min val="60"/>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984368624"/>
        <c:crosses val="autoZero"/>
        <c:crossBetween val="between"/>
        <c:majorUnit val="10"/>
      </c:valAx>
      <c:valAx>
        <c:axId val="332405696"/>
        <c:scaling>
          <c:orientation val="minMax"/>
          <c:max val="10000000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332405216"/>
        <c:crosses val="max"/>
        <c:crossBetween val="between"/>
      </c:valAx>
      <c:dateAx>
        <c:axId val="332405216"/>
        <c:scaling>
          <c:orientation val="minMax"/>
        </c:scaling>
        <c:delete val="1"/>
        <c:axPos val="b"/>
        <c:numFmt formatCode="m/d/yyyy" sourceLinked="1"/>
        <c:majorTickMark val="out"/>
        <c:minorTickMark val="none"/>
        <c:tickLblPos val="nextTo"/>
        <c:crossAx val="332405696"/>
        <c:crosses val="autoZero"/>
        <c:auto val="1"/>
        <c:lblOffset val="100"/>
        <c:baseTimeUnit val="days"/>
      </c:dateAx>
      <c:spPr>
        <a:noFill/>
        <a:ln>
          <a:noFill/>
        </a:ln>
        <a:effectLst/>
      </c:spPr>
    </c:plotArea>
    <c:legend>
      <c:legendPos val="b"/>
      <c:layout>
        <c:manualLayout>
          <c:xMode val="edge"/>
          <c:yMode val="edge"/>
          <c:x val="0.1298205882352941"/>
          <c:y val="6.7515000000000006E-2"/>
          <c:w val="0.51684215686274504"/>
          <c:h val="0.15645194444444444"/>
        </c:manualLayout>
      </c:layout>
      <c:overlay val="0"/>
      <c:spPr>
        <a:solidFill>
          <a:schemeClr val="bg1"/>
        </a:solid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700"/>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718300106887914E-2"/>
          <c:y val="0.19202210280123547"/>
          <c:w val="0.91208947111665795"/>
          <c:h val="0.6316482476656371"/>
        </c:manualLayout>
      </c:layout>
      <c:barChart>
        <c:barDir val="col"/>
        <c:grouping val="stacked"/>
        <c:varyColors val="0"/>
        <c:ser>
          <c:idx val="0"/>
          <c:order val="0"/>
          <c:tx>
            <c:strRef>
              <c:f>Sheet1!$B$1</c:f>
              <c:strCache>
                <c:ptCount val="1"/>
                <c:pt idx="0">
                  <c:v>IPO</c:v>
                </c:pt>
              </c:strCache>
            </c:strRef>
          </c:tx>
          <c:spPr>
            <a:solidFill>
              <a:srgbClr val="315D9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FY2021</c:v>
                </c:pt>
                <c:pt idx="1">
                  <c:v>FY2022</c:v>
                </c:pt>
                <c:pt idx="2">
                  <c:v>FY2023</c:v>
                </c:pt>
                <c:pt idx="3">
                  <c:v>FY2024</c:v>
                </c:pt>
                <c:pt idx="4">
                  <c:v>FY2025</c:v>
                </c:pt>
                <c:pt idx="5">
                  <c:v>2025 Same Period</c:v>
                </c:pt>
                <c:pt idx="6">
                  <c:v>2026YTD</c:v>
                </c:pt>
              </c:strCache>
            </c:strRef>
          </c:cat>
          <c:val>
            <c:numRef>
              <c:f>Sheet1!$B$2:$B$8</c:f>
              <c:numCache>
                <c:formatCode>0.0</c:formatCode>
                <c:ptCount val="7"/>
                <c:pt idx="0" formatCode="General">
                  <c:v>45.3</c:v>
                </c:pt>
                <c:pt idx="1">
                  <c:v>13.38</c:v>
                </c:pt>
                <c:pt idx="2">
                  <c:v>5.899</c:v>
                </c:pt>
                <c:pt idx="3">
                  <c:v>11.2</c:v>
                </c:pt>
                <c:pt idx="4">
                  <c:v>37</c:v>
                </c:pt>
                <c:pt idx="5">
                  <c:v>8.4</c:v>
                </c:pt>
                <c:pt idx="6">
                  <c:v>20.9</c:v>
                </c:pt>
              </c:numCache>
            </c:numRef>
          </c:val>
          <c:extLst>
            <c:ext xmlns:c16="http://schemas.microsoft.com/office/drawing/2014/chart" uri="{C3380CC4-5D6E-409C-BE32-E72D297353CC}">
              <c16:uniqueId val="{00000000-CAB7-4712-8D52-4603CDAD4702}"/>
            </c:ext>
          </c:extLst>
        </c:ser>
        <c:ser>
          <c:idx val="1"/>
          <c:order val="1"/>
          <c:tx>
            <c:strRef>
              <c:f>Sheet1!$C$1</c:f>
              <c:strCache>
                <c:ptCount val="1"/>
                <c:pt idx="0">
                  <c:v>Secondary</c:v>
                </c:pt>
              </c:strCache>
            </c:strRef>
          </c:tx>
          <c:spPr>
            <a:solidFill>
              <a:schemeClr val="accent2">
                <a:alpha val="70000"/>
              </a:schemeClr>
            </a:solidFill>
            <a:ln>
              <a:noFill/>
            </a:ln>
            <a:effectLst/>
          </c:spPr>
          <c:invertIfNegative val="0"/>
          <c:dLbls>
            <c:dLbl>
              <c:idx val="5"/>
              <c:layout>
                <c:manualLayout>
                  <c:x val="0"/>
                  <c:y val="-3.40111763760690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AB7-4712-8D52-4603CDAD4702}"/>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FY2021</c:v>
                </c:pt>
                <c:pt idx="1">
                  <c:v>FY2022</c:v>
                </c:pt>
                <c:pt idx="2">
                  <c:v>FY2023</c:v>
                </c:pt>
                <c:pt idx="3">
                  <c:v>FY2024</c:v>
                </c:pt>
                <c:pt idx="4">
                  <c:v>FY2025</c:v>
                </c:pt>
                <c:pt idx="5">
                  <c:v>2025 Same Period</c:v>
                </c:pt>
                <c:pt idx="6">
                  <c:v>2026YTD</c:v>
                </c:pt>
              </c:strCache>
            </c:strRef>
          </c:cat>
          <c:val>
            <c:numRef>
              <c:f>Sheet1!$C$2:$C$8</c:f>
              <c:numCache>
                <c:formatCode>0.0</c:formatCode>
                <c:ptCount val="7"/>
                <c:pt idx="0" formatCode="General">
                  <c:v>67.2</c:v>
                </c:pt>
                <c:pt idx="1">
                  <c:v>9.8000000000000007</c:v>
                </c:pt>
                <c:pt idx="2">
                  <c:v>11.9</c:v>
                </c:pt>
                <c:pt idx="3">
                  <c:v>7.6</c:v>
                </c:pt>
                <c:pt idx="4">
                  <c:v>45.2</c:v>
                </c:pt>
                <c:pt idx="5">
                  <c:v>16.600000000000001</c:v>
                </c:pt>
                <c:pt idx="6">
                  <c:v>15.1</c:v>
                </c:pt>
              </c:numCache>
            </c:numRef>
          </c:val>
          <c:extLst>
            <c:ext xmlns:c16="http://schemas.microsoft.com/office/drawing/2014/chart" uri="{C3380CC4-5D6E-409C-BE32-E72D297353CC}">
              <c16:uniqueId val="{00000001-CAB7-4712-8D52-4603CDAD4702}"/>
            </c:ext>
          </c:extLst>
        </c:ser>
        <c:dLbls>
          <c:showLegendKey val="0"/>
          <c:showVal val="0"/>
          <c:showCatName val="0"/>
          <c:showSerName val="0"/>
          <c:showPercent val="0"/>
          <c:showBubbleSize val="0"/>
        </c:dLbls>
        <c:gapWidth val="50"/>
        <c:overlap val="100"/>
        <c:axId val="1903189360"/>
        <c:axId val="633191936"/>
      </c:barChart>
      <c:catAx>
        <c:axId val="1903189360"/>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633191936"/>
        <c:crosses val="autoZero"/>
        <c:auto val="1"/>
        <c:lblAlgn val="ctr"/>
        <c:lblOffset val="100"/>
        <c:noMultiLvlLbl val="0"/>
      </c:catAx>
      <c:valAx>
        <c:axId val="633191936"/>
        <c:scaling>
          <c:orientation val="minMax"/>
          <c:max val="2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903189360"/>
        <c:crosses val="autoZero"/>
        <c:crossBetween val="between"/>
      </c:valAx>
      <c:spPr>
        <a:noFill/>
        <a:ln>
          <a:noFill/>
        </a:ln>
        <a:effectLst/>
      </c:spPr>
    </c:plotArea>
    <c:legend>
      <c:legendPos val="b"/>
      <c:layout>
        <c:manualLayout>
          <c:xMode val="edge"/>
          <c:yMode val="edge"/>
          <c:x val="0.74592889371369531"/>
          <c:y val="8.7152523611432782E-3"/>
          <c:w val="0.25321808241642069"/>
          <c:h val="9.565710306904001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0512962340993394E-2"/>
          <c:y val="0.11561561500895545"/>
          <c:w val="0.88553613984367519"/>
          <c:h val="0.73044275440813011"/>
        </c:manualLayout>
      </c:layout>
      <c:barChart>
        <c:barDir val="col"/>
        <c:grouping val="clustered"/>
        <c:varyColors val="0"/>
        <c:ser>
          <c:idx val="0"/>
          <c:order val="0"/>
          <c:tx>
            <c:strRef>
              <c:f>Sheet1!$G$14</c:f>
              <c:strCache>
                <c:ptCount val="1"/>
                <c:pt idx="0">
                  <c:v>Southbound</c:v>
                </c:pt>
              </c:strCache>
            </c:strRef>
          </c:tx>
          <c:spPr>
            <a:solidFill>
              <a:srgbClr val="089584"/>
            </a:solidFill>
            <a:ln>
              <a:noFill/>
            </a:ln>
            <a:effectLst/>
          </c:spPr>
          <c:invertIfNegative val="0"/>
          <c:dLbls>
            <c:dLbl>
              <c:idx val="1"/>
              <c:layout>
                <c:manualLayout>
                  <c:x val="0"/>
                  <c:y val="1.029779270462200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921-4C42-A5EF-D4E61381944B}"/>
                </c:ext>
              </c:extLst>
            </c:dLbl>
            <c:dLbl>
              <c:idx val="2"/>
              <c:layout>
                <c:manualLayout>
                  <c:x val="-2.8292088013494523E-17"/>
                  <c:y val="1.544668905693305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921-4C42-A5EF-D4E61381944B}"/>
                </c:ext>
              </c:extLst>
            </c:dLbl>
            <c:dLbl>
              <c:idx val="3"/>
              <c:layout>
                <c:manualLayout>
                  <c:x val="9.2593357678175461E-3"/>
                  <c:y val="5.131253007540517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967-4874-B982-60778F3A0449}"/>
                </c:ext>
              </c:extLst>
            </c:dLbl>
            <c:dLbl>
              <c:idx val="4"/>
              <c:layout>
                <c:manualLayout>
                  <c:x val="0"/>
                  <c:y val="2.59902656977671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921-4C42-A5EF-D4E61381944B}"/>
                </c:ext>
              </c:extLst>
            </c:dLbl>
            <c:dLbl>
              <c:idx val="5"/>
              <c:layout>
                <c:manualLayout>
                  <c:x val="0"/>
                  <c:y val="3.138503131707160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C7D-4923-9598-BA897E96183A}"/>
                </c:ext>
              </c:extLst>
            </c:dLbl>
            <c:dLbl>
              <c:idx val="6"/>
              <c:layout>
                <c:manualLayout>
                  <c:x val="-5.6584176026989046E-17"/>
                  <c:y val="2.648204689714482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610-43E1-8C1F-42079099A0A8}"/>
                </c:ext>
              </c:extLst>
            </c:dLbl>
            <c:dLbl>
              <c:idx val="7"/>
              <c:layout>
                <c:manualLayout>
                  <c:x val="0"/>
                  <c:y val="2.075942714492182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A921-4C42-A5EF-D4E61381944B}"/>
                </c:ext>
              </c:extLst>
            </c:dLbl>
            <c:dLbl>
              <c:idx val="8"/>
              <c:layout>
                <c:manualLayout>
                  <c:x val="3.0864452559392201E-3"/>
                  <c:y val="2.590830216453746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921-4C42-A5EF-D4E61381944B}"/>
                </c:ext>
              </c:extLst>
            </c:dLbl>
            <c:dLbl>
              <c:idx val="9"/>
              <c:layout>
                <c:manualLayout>
                  <c:x val="0"/>
                  <c:y val="1.569251565853575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C7D-4923-9598-BA897E96183A}"/>
                </c:ext>
              </c:extLst>
            </c:dLbl>
            <c:dLbl>
              <c:idx val="10"/>
              <c:layout>
                <c:manualLayout>
                  <c:x val="-3.0864452559392764E-3"/>
                  <c:y val="1.544668905693291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921-4C42-A5EF-D4E61381944B}"/>
                </c:ext>
              </c:extLst>
            </c:dLbl>
            <c:dLbl>
              <c:idx val="11"/>
              <c:layout>
                <c:manualLayout>
                  <c:x val="-6.1728905118784401E-3"/>
                  <c:y val="2.565609913125550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10-43E1-8C1F-42079099A0A8}"/>
                </c:ext>
              </c:extLst>
            </c:dLbl>
            <c:dLbl>
              <c:idx val="12"/>
              <c:layout>
                <c:manualLayout>
                  <c:x val="-1.1316835205397809E-16"/>
                  <c:y val="2.092335421138102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C7D-4923-9598-BA897E96183A}"/>
                </c:ext>
              </c:extLst>
            </c:dLbl>
            <c:dLbl>
              <c:idx val="13"/>
              <c:layout>
                <c:manualLayout>
                  <c:x val="-3.0864452559392201E-3"/>
                  <c:y val="2.58732926151680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610-43E1-8C1F-42079099A0A8}"/>
                </c:ext>
              </c:extLst>
            </c:dLbl>
            <c:dLbl>
              <c:idx val="14"/>
              <c:layout>
                <c:manualLayout>
                  <c:x val="3.0864452559391069E-3"/>
                  <c:y val="2.084139067815142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921-4C42-A5EF-D4E61381944B}"/>
                </c:ext>
              </c:extLst>
            </c:dLbl>
            <c:dLbl>
              <c:idx val="15"/>
              <c:layout>
                <c:manualLayout>
                  <c:x val="-1.1316835205397809E-16"/>
                  <c:y val="2.05955854092440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921-4C42-A5EF-D4E61381944B}"/>
                </c:ext>
              </c:extLst>
            </c:dLbl>
            <c:dLbl>
              <c:idx val="16"/>
              <c:layout>
                <c:manualLayout>
                  <c:x val="-6.1728905118784401E-3"/>
                  <c:y val="2.574448176155501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610-43E1-8C1F-42079099A0A8}"/>
                </c:ext>
              </c:extLst>
            </c:dLbl>
            <c:dLbl>
              <c:idx val="17"/>
              <c:layout>
                <c:manualLayout>
                  <c:x val="6.1728905118784401E-3"/>
                  <c:y val="1.029779270462200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921-4C42-A5EF-D4E61381944B}"/>
                </c:ext>
              </c:extLst>
            </c:dLbl>
            <c:dLbl>
              <c:idx val="18"/>
              <c:layout>
                <c:manualLayout>
                  <c:x val="0"/>
                  <c:y val="5.148896352310955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921-4C42-A5EF-D4E61381944B}"/>
                </c:ext>
              </c:extLst>
            </c:dLbl>
            <c:dLbl>
              <c:idx val="20"/>
              <c:layout>
                <c:manualLayout>
                  <c:x val="-3.0864452559392201E-3"/>
                  <c:y val="2.05955854092440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921-4C42-A5EF-D4E61381944B}"/>
                </c:ext>
              </c:extLst>
            </c:dLbl>
            <c:dLbl>
              <c:idx val="21"/>
              <c:layout>
                <c:manualLayout>
                  <c:x val="0"/>
                  <c:y val="1.5446689056933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921-4C42-A5EF-D4E61381944B}"/>
                </c:ext>
              </c:extLst>
            </c:dLbl>
            <c:dLbl>
              <c:idx val="22"/>
              <c:layout>
                <c:manualLayout>
                  <c:x val="-1.1316835205397809E-16"/>
                  <c:y val="2.05955854092440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921-4C42-A5EF-D4E61381944B}"/>
                </c:ext>
              </c:extLst>
            </c:dLbl>
            <c:dLbl>
              <c:idx val="23"/>
              <c:layout>
                <c:manualLayout>
                  <c:x val="0"/>
                  <c:y val="1.5446689056933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921-4C42-A5EF-D4E61381944B}"/>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Sheet1!$F$15:$F$31</c:f>
              <c:strCache>
                <c:ptCount val="17"/>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strCache>
            </c:strRef>
          </c:cat>
          <c:val>
            <c:numRef>
              <c:f>Sheet1!$G$15:$G$31</c:f>
              <c:numCache>
                <c:formatCode>0.0_);\(0.0\)</c:formatCode>
                <c:ptCount val="17"/>
                <c:pt idx="0">
                  <c:v>127.98</c:v>
                </c:pt>
                <c:pt idx="1">
                  <c:v>154.44</c:v>
                </c:pt>
                <c:pt idx="2">
                  <c:v>161.78400000000002</c:v>
                </c:pt>
                <c:pt idx="3">
                  <c:v>169.99200000000002</c:v>
                </c:pt>
                <c:pt idx="4">
                  <c:v>45.8</c:v>
                </c:pt>
                <c:pt idx="5">
                  <c:v>80.11</c:v>
                </c:pt>
                <c:pt idx="6">
                  <c:v>135.36000000000001</c:v>
                </c:pt>
                <c:pt idx="7">
                  <c:v>112.705</c:v>
                </c:pt>
                <c:pt idx="8">
                  <c:v>188.50200000000001</c:v>
                </c:pt>
                <c:pt idx="9">
                  <c:v>92.673000000000002</c:v>
                </c:pt>
                <c:pt idx="10">
                  <c:v>126.4</c:v>
                </c:pt>
                <c:pt idx="11">
                  <c:v>23.6</c:v>
                </c:pt>
                <c:pt idx="12">
                  <c:v>71.09</c:v>
                </c:pt>
                <c:pt idx="13">
                  <c:v>92.5</c:v>
                </c:pt>
                <c:pt idx="14">
                  <c:v>62.88</c:v>
                </c:pt>
                <c:pt idx="15">
                  <c:v>57.01</c:v>
                </c:pt>
                <c:pt idx="16">
                  <c:v>83.4</c:v>
                </c:pt>
              </c:numCache>
            </c:numRef>
          </c:val>
          <c:extLst>
            <c:ext xmlns:c16="http://schemas.microsoft.com/office/drawing/2014/chart" uri="{C3380CC4-5D6E-409C-BE32-E72D297353CC}">
              <c16:uniqueId val="{00000000-8F5A-4F1C-B03C-2E66ABBE3998}"/>
            </c:ext>
          </c:extLst>
        </c:ser>
        <c:ser>
          <c:idx val="1"/>
          <c:order val="1"/>
          <c:tx>
            <c:strRef>
              <c:f>Sheet1!$H$14</c:f>
              <c:strCache>
                <c:ptCount val="1"/>
                <c:pt idx="0">
                  <c:v>Northbound</c:v>
                </c:pt>
              </c:strCache>
            </c:strRef>
          </c:tx>
          <c:spPr>
            <a:solidFill>
              <a:schemeClr val="accent2"/>
            </a:solidFill>
            <a:ln>
              <a:noFill/>
            </a:ln>
            <a:effectLst/>
          </c:spPr>
          <c:invertIfNegative val="0"/>
          <c:dLbls>
            <c:dLbl>
              <c:idx val="0"/>
              <c:layout>
                <c:manualLayout>
                  <c:x val="0"/>
                  <c:y val="1.029779270462199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921-4C42-A5EF-D4E61381944B}"/>
                </c:ext>
              </c:extLst>
            </c:dLbl>
            <c:dLbl>
              <c:idx val="1"/>
              <c:layout>
                <c:manualLayout>
                  <c:x val="-3.0864452559392483E-3"/>
                  <c:y val="1.10593107072793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B9C-452A-862F-B3C878C38704}"/>
                </c:ext>
              </c:extLst>
            </c:dLbl>
            <c:dLbl>
              <c:idx val="2"/>
              <c:layout>
                <c:manualLayout>
                  <c:x val="6.1728905118784401E-3"/>
                  <c:y val="-9.4071885078465602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610-43E1-8C1F-42079099A0A8}"/>
                </c:ext>
              </c:extLst>
            </c:dLbl>
            <c:dLbl>
              <c:idx val="4"/>
              <c:layout>
                <c:manualLayout>
                  <c:x val="3.0864452559392201E-3"/>
                  <c:y val="1.070797958243080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967-4874-B982-60778F3A0449}"/>
                </c:ext>
              </c:extLst>
            </c:dLbl>
            <c:dLbl>
              <c:idx val="5"/>
              <c:layout>
                <c:manualLayout>
                  <c:x val="-3.0864452559392201E-3"/>
                  <c:y val="2.059558540924401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967-4874-B982-60778F3A0449}"/>
                </c:ext>
              </c:extLst>
            </c:dLbl>
            <c:dLbl>
              <c:idx val="6"/>
              <c:layout>
                <c:manualLayout>
                  <c:x val="-2.2633670410795618E-16"/>
                  <c:y val="2.05955854092439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610-43E1-8C1F-42079099A0A8}"/>
                </c:ext>
              </c:extLst>
            </c:dLbl>
            <c:dLbl>
              <c:idx val="8"/>
              <c:layout>
                <c:manualLayout>
                  <c:x val="0"/>
                  <c:y val="-2.574448176155491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610-43E1-8C1F-42079099A0A8}"/>
                </c:ext>
              </c:extLst>
            </c:dLbl>
            <c:dLbl>
              <c:idx val="9"/>
              <c:layout>
                <c:manualLayout>
                  <c:x val="0"/>
                  <c:y val="1.029779270462200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610-43E1-8C1F-42079099A0A8}"/>
                </c:ext>
              </c:extLst>
            </c:dLbl>
            <c:dLbl>
              <c:idx val="11"/>
              <c:layout>
                <c:manualLayout>
                  <c:x val="0"/>
                  <c:y val="1.539357839377137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610-43E1-8C1F-42079099A0A8}"/>
                </c:ext>
              </c:extLst>
            </c:dLbl>
            <c:dLbl>
              <c:idx val="13"/>
              <c:layout>
                <c:manualLayout>
                  <c:x val="-6.1728905118784401E-3"/>
                  <c:y val="1.546452775295676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B9C-452A-862F-B3C878C38704}"/>
                </c:ext>
              </c:extLst>
            </c:dLbl>
            <c:dLbl>
              <c:idx val="15"/>
              <c:layout>
                <c:manualLayout>
                  <c:x val="0"/>
                  <c:y val="5.148896352311003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921-4C42-A5EF-D4E61381944B}"/>
                </c:ext>
              </c:extLst>
            </c:dLbl>
            <c:dLbl>
              <c:idx val="16"/>
              <c:layout>
                <c:manualLayout>
                  <c:x val="6.1728905118784401E-3"/>
                  <c:y val="1.029779270462200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921-4C42-A5EF-D4E61381944B}"/>
                </c:ext>
              </c:extLst>
            </c:dLbl>
            <c:dLbl>
              <c:idx val="18"/>
              <c:layout>
                <c:manualLayout>
                  <c:x val="0"/>
                  <c:y val="3.60426798910866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921-4C42-A5EF-D4E61381944B}"/>
                </c:ext>
              </c:extLst>
            </c:dLbl>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Sheet1!$F$15:$F$31</c:f>
              <c:strCache>
                <c:ptCount val="17"/>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strCache>
            </c:strRef>
          </c:cat>
          <c:val>
            <c:numRef>
              <c:f>Sheet1!$H$15:$H$31</c:f>
              <c:numCache>
                <c:formatCode>General</c:formatCode>
                <c:ptCount val="17"/>
              </c:numCache>
            </c:numRef>
          </c:val>
          <c:extLst>
            <c:ext xmlns:c16="http://schemas.microsoft.com/office/drawing/2014/chart" uri="{C3380CC4-5D6E-409C-BE32-E72D297353CC}">
              <c16:uniqueId val="{00000001-8F5A-4F1C-B03C-2E66ABBE3998}"/>
            </c:ext>
          </c:extLst>
        </c:ser>
        <c:dLbls>
          <c:dLblPos val="outEnd"/>
          <c:showLegendKey val="0"/>
          <c:showVal val="1"/>
          <c:showCatName val="0"/>
          <c:showSerName val="0"/>
          <c:showPercent val="0"/>
          <c:showBubbleSize val="0"/>
        </c:dLbls>
        <c:gapWidth val="76"/>
        <c:overlap val="-27"/>
        <c:axId val="142040335"/>
        <c:axId val="142037839"/>
      </c:barChart>
      <c:catAx>
        <c:axId val="142040335"/>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2037839"/>
        <c:crosses val="autoZero"/>
        <c:auto val="1"/>
        <c:lblAlgn val="ctr"/>
        <c:lblOffset val="100"/>
        <c:noMultiLvlLbl val="0"/>
      </c:catAx>
      <c:valAx>
        <c:axId val="142037839"/>
        <c:scaling>
          <c:orientation val="minMax"/>
          <c:min val="-120"/>
        </c:scaling>
        <c:delete val="0"/>
        <c:axPos val="l"/>
        <c:majorGridlines>
          <c:spPr>
            <a:ln w="9525" cap="flat" cmpd="sng" algn="ctr">
              <a:noFill/>
              <a:round/>
            </a:ln>
            <a:effectLst/>
          </c:spPr>
        </c:majorGridlines>
        <c:numFmt formatCode="0.0_);\(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2040335"/>
        <c:crosses val="autoZero"/>
        <c:crossBetween val="between"/>
      </c:valAx>
      <c:spPr>
        <a:noFill/>
        <a:ln>
          <a:noFill/>
        </a:ln>
        <a:effectLst/>
      </c:spPr>
    </c:plotArea>
    <c:legend>
      <c:legendPos val="b"/>
      <c:layout>
        <c:manualLayout>
          <c:xMode val="edge"/>
          <c:yMode val="edge"/>
          <c:x val="0.29648295917677941"/>
          <c:y val="1.4534342477133566E-2"/>
          <c:w val="0.41629341741425879"/>
          <c:h val="0.10203734125587663"/>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354264942239313E-2"/>
          <c:y val="0.13533362829670587"/>
          <c:w val="0.88263152334946071"/>
          <c:h val="0.63263548068373532"/>
        </c:manualLayout>
      </c:layout>
      <c:barChart>
        <c:barDir val="col"/>
        <c:grouping val="clustered"/>
        <c:varyColors val="0"/>
        <c:ser>
          <c:idx val="0"/>
          <c:order val="0"/>
          <c:spPr>
            <a:solidFill>
              <a:schemeClr val="tx2">
                <a:lumMod val="20000"/>
                <a:lumOff val="80000"/>
              </a:schemeClr>
            </a:solidFill>
            <a:ln>
              <a:noFill/>
            </a:ln>
            <a:effectLst/>
          </c:spPr>
          <c:invertIfNegative val="0"/>
          <c:dPt>
            <c:idx val="0"/>
            <c:invertIfNegative val="0"/>
            <c:bubble3D val="0"/>
            <c:spPr>
              <a:solidFill>
                <a:srgbClr val="D9D9D9"/>
              </a:solidFill>
              <a:ln>
                <a:noFill/>
              </a:ln>
              <a:effectLst/>
            </c:spPr>
            <c:extLst>
              <c:ext xmlns:c16="http://schemas.microsoft.com/office/drawing/2014/chart" uri="{C3380CC4-5D6E-409C-BE32-E72D297353CC}">
                <c16:uniqueId val="{00000001-8653-4908-84E2-649299FA3DC0}"/>
              </c:ext>
            </c:extLst>
          </c:dPt>
          <c:dPt>
            <c:idx val="1"/>
            <c:invertIfNegative val="0"/>
            <c:bubble3D val="0"/>
            <c:spPr>
              <a:solidFill>
                <a:srgbClr val="D9D9D9"/>
              </a:solidFill>
              <a:ln>
                <a:noFill/>
              </a:ln>
              <a:effectLst/>
            </c:spPr>
            <c:extLst>
              <c:ext xmlns:c16="http://schemas.microsoft.com/office/drawing/2014/chart" uri="{C3380CC4-5D6E-409C-BE32-E72D297353CC}">
                <c16:uniqueId val="{00000003-8653-4908-84E2-649299FA3DC0}"/>
              </c:ext>
            </c:extLst>
          </c:dPt>
          <c:dPt>
            <c:idx val="2"/>
            <c:invertIfNegative val="0"/>
            <c:bubble3D val="0"/>
            <c:spPr>
              <a:solidFill>
                <a:srgbClr val="D9D9D9"/>
              </a:solidFill>
              <a:ln>
                <a:noFill/>
              </a:ln>
              <a:effectLst/>
            </c:spPr>
            <c:extLst>
              <c:ext xmlns:c16="http://schemas.microsoft.com/office/drawing/2014/chart" uri="{C3380CC4-5D6E-409C-BE32-E72D297353CC}">
                <c16:uniqueId val="{00000005-8653-4908-84E2-649299FA3DC0}"/>
              </c:ext>
            </c:extLst>
          </c:dPt>
          <c:dPt>
            <c:idx val="3"/>
            <c:invertIfNegative val="0"/>
            <c:bubble3D val="0"/>
            <c:spPr>
              <a:solidFill>
                <a:srgbClr val="D9D9D9"/>
              </a:solidFill>
              <a:ln>
                <a:noFill/>
              </a:ln>
              <a:effectLst/>
            </c:spPr>
            <c:extLst>
              <c:ext xmlns:c16="http://schemas.microsoft.com/office/drawing/2014/chart" uri="{C3380CC4-5D6E-409C-BE32-E72D297353CC}">
                <c16:uniqueId val="{00000007-8653-4908-84E2-649299FA3DC0}"/>
              </c:ext>
            </c:extLst>
          </c:dPt>
          <c:dPt>
            <c:idx val="4"/>
            <c:invertIfNegative val="0"/>
            <c:bubble3D val="0"/>
            <c:spPr>
              <a:solidFill>
                <a:srgbClr val="A6A6A6"/>
              </a:solidFill>
              <a:ln>
                <a:noFill/>
              </a:ln>
              <a:effectLst/>
            </c:spPr>
            <c:extLst>
              <c:ext xmlns:c16="http://schemas.microsoft.com/office/drawing/2014/chart" uri="{C3380CC4-5D6E-409C-BE32-E72D297353CC}">
                <c16:uniqueId val="{00000009-8653-4908-84E2-649299FA3DC0}"/>
              </c:ext>
            </c:extLst>
          </c:dPt>
          <c:dPt>
            <c:idx val="5"/>
            <c:invertIfNegative val="0"/>
            <c:bubble3D val="0"/>
            <c:spPr>
              <a:solidFill>
                <a:srgbClr val="A6A6A6"/>
              </a:solidFill>
              <a:ln>
                <a:noFill/>
              </a:ln>
              <a:effectLst/>
            </c:spPr>
            <c:extLst>
              <c:ext xmlns:c16="http://schemas.microsoft.com/office/drawing/2014/chart" uri="{C3380CC4-5D6E-409C-BE32-E72D297353CC}">
                <c16:uniqueId val="{0000000B-8653-4908-84E2-649299FA3DC0}"/>
              </c:ext>
            </c:extLst>
          </c:dPt>
          <c:dPt>
            <c:idx val="6"/>
            <c:invertIfNegative val="0"/>
            <c:bubble3D val="0"/>
            <c:spPr>
              <a:solidFill>
                <a:srgbClr val="A6A6A6"/>
              </a:solidFill>
              <a:ln>
                <a:noFill/>
              </a:ln>
              <a:effectLst/>
            </c:spPr>
            <c:extLst>
              <c:ext xmlns:c16="http://schemas.microsoft.com/office/drawing/2014/chart" uri="{C3380CC4-5D6E-409C-BE32-E72D297353CC}">
                <c16:uniqueId val="{0000000D-8653-4908-84E2-649299FA3DC0}"/>
              </c:ext>
            </c:extLst>
          </c:dPt>
          <c:dPt>
            <c:idx val="7"/>
            <c:invertIfNegative val="0"/>
            <c:bubble3D val="0"/>
            <c:spPr>
              <a:solidFill>
                <a:srgbClr val="A6A6A6"/>
              </a:solidFill>
              <a:ln>
                <a:noFill/>
              </a:ln>
              <a:effectLst/>
            </c:spPr>
            <c:extLst>
              <c:ext xmlns:c16="http://schemas.microsoft.com/office/drawing/2014/chart" uri="{C3380CC4-5D6E-409C-BE32-E72D297353CC}">
                <c16:uniqueId val="{0000000F-8653-4908-84E2-649299FA3DC0}"/>
              </c:ext>
            </c:extLst>
          </c:dPt>
          <c:dPt>
            <c:idx val="8"/>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1-8653-4908-84E2-649299FA3DC0}"/>
              </c:ext>
            </c:extLst>
          </c:dPt>
          <c:dPt>
            <c:idx val="9"/>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3-8653-4908-84E2-649299FA3DC0}"/>
              </c:ext>
            </c:extLst>
          </c:dPt>
          <c:dPt>
            <c:idx val="10"/>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5-8653-4908-84E2-649299FA3DC0}"/>
              </c:ext>
            </c:extLst>
          </c:dPt>
          <c:dPt>
            <c:idx val="11"/>
            <c:invertIfNegative val="0"/>
            <c:bubble3D val="0"/>
            <c:spPr>
              <a:solidFill>
                <a:schemeClr val="tx1">
                  <a:lumMod val="75000"/>
                  <a:lumOff val="25000"/>
                </a:schemeClr>
              </a:solidFill>
              <a:ln>
                <a:noFill/>
              </a:ln>
              <a:effectLst/>
            </c:spPr>
            <c:extLst>
              <c:ext xmlns:c16="http://schemas.microsoft.com/office/drawing/2014/chart" uri="{C3380CC4-5D6E-409C-BE32-E72D297353CC}">
                <c16:uniqueId val="{00000017-8653-4908-84E2-649299FA3DC0}"/>
              </c:ext>
            </c:extLst>
          </c:dPt>
          <c:dPt>
            <c:idx val="12"/>
            <c:invertIfNegative val="0"/>
            <c:bubble3D val="0"/>
            <c:spPr>
              <a:solidFill>
                <a:schemeClr val="accent2"/>
              </a:solidFill>
              <a:ln>
                <a:noFill/>
              </a:ln>
              <a:effectLst/>
            </c:spPr>
            <c:extLst>
              <c:ext xmlns:c16="http://schemas.microsoft.com/office/drawing/2014/chart" uri="{C3380CC4-5D6E-409C-BE32-E72D297353CC}">
                <c16:uniqueId val="{00000019-8653-4908-84E2-649299FA3DC0}"/>
              </c:ext>
            </c:extLst>
          </c:dPt>
          <c:dPt>
            <c:idx val="13"/>
            <c:invertIfNegative val="0"/>
            <c:bubble3D val="0"/>
            <c:spPr>
              <a:solidFill>
                <a:schemeClr val="accent2"/>
              </a:solidFill>
              <a:ln>
                <a:noFill/>
              </a:ln>
              <a:effectLst/>
            </c:spPr>
            <c:extLst>
              <c:ext xmlns:c16="http://schemas.microsoft.com/office/drawing/2014/chart" uri="{C3380CC4-5D6E-409C-BE32-E72D297353CC}">
                <c16:uniqueId val="{0000001B-8653-4908-84E2-649299FA3DC0}"/>
              </c:ext>
            </c:extLst>
          </c:dPt>
          <c:dPt>
            <c:idx val="14"/>
            <c:invertIfNegative val="0"/>
            <c:bubble3D val="0"/>
            <c:spPr>
              <a:solidFill>
                <a:schemeClr val="accent2"/>
              </a:solidFill>
              <a:ln>
                <a:noFill/>
              </a:ln>
              <a:effectLst/>
            </c:spPr>
            <c:extLst>
              <c:ext xmlns:c16="http://schemas.microsoft.com/office/drawing/2014/chart" uri="{C3380CC4-5D6E-409C-BE32-E72D297353CC}">
                <c16:uniqueId val="{0000001D-8653-4908-84E2-649299FA3DC0}"/>
              </c:ext>
            </c:extLst>
          </c:dPt>
          <c:dPt>
            <c:idx val="15"/>
            <c:invertIfNegative val="0"/>
            <c:bubble3D val="0"/>
            <c:spPr>
              <a:solidFill>
                <a:schemeClr val="accent2"/>
              </a:solidFill>
              <a:ln>
                <a:noFill/>
              </a:ln>
              <a:effectLst/>
            </c:spPr>
            <c:extLst>
              <c:ext xmlns:c16="http://schemas.microsoft.com/office/drawing/2014/chart" uri="{C3380CC4-5D6E-409C-BE32-E72D297353CC}">
                <c16:uniqueId val="{0000001E-AF37-44BC-94E2-1E2575F6DB64}"/>
              </c:ext>
            </c:extLst>
          </c:dPt>
          <c:dPt>
            <c:idx val="16"/>
            <c:invertIfNegative val="0"/>
            <c:bubble3D val="0"/>
            <c:spPr>
              <a:solidFill>
                <a:schemeClr val="accent2">
                  <a:lumMod val="50000"/>
                </a:schemeClr>
              </a:solidFill>
              <a:ln>
                <a:noFill/>
              </a:ln>
              <a:effectLst/>
            </c:spPr>
            <c:extLst>
              <c:ext xmlns:c16="http://schemas.microsoft.com/office/drawing/2014/chart" uri="{C3380CC4-5D6E-409C-BE32-E72D297353CC}">
                <c16:uniqueId val="{00000020-35D4-457C-8DA8-0A40A86D83C6}"/>
              </c:ext>
            </c:extLst>
          </c:dPt>
          <c:dPt>
            <c:idx val="17"/>
            <c:invertIfNegative val="0"/>
            <c:bubble3D val="0"/>
            <c:spPr>
              <a:solidFill>
                <a:schemeClr val="accent2">
                  <a:lumMod val="50000"/>
                </a:schemeClr>
              </a:solidFill>
              <a:ln>
                <a:noFill/>
              </a:ln>
              <a:effectLst/>
            </c:spPr>
            <c:extLst>
              <c:ext xmlns:c16="http://schemas.microsoft.com/office/drawing/2014/chart" uri="{C3380CC4-5D6E-409C-BE32-E72D297353CC}">
                <c16:uniqueId val="{00000022-6B83-4D43-B565-3CEBBD48E187}"/>
              </c:ext>
            </c:extLst>
          </c:dPt>
          <c:dPt>
            <c:idx val="18"/>
            <c:invertIfNegative val="0"/>
            <c:bubble3D val="0"/>
            <c:spPr>
              <a:solidFill>
                <a:schemeClr val="accent2">
                  <a:lumMod val="50000"/>
                </a:schemeClr>
              </a:solidFill>
              <a:ln>
                <a:noFill/>
              </a:ln>
              <a:effectLst/>
            </c:spPr>
            <c:extLst>
              <c:ext xmlns:c16="http://schemas.microsoft.com/office/drawing/2014/chart" uri="{C3380CC4-5D6E-409C-BE32-E72D297353CC}">
                <c16:uniqueId val="{00000024-73D7-4186-AD17-718D60BD2412}"/>
              </c:ext>
            </c:extLst>
          </c:dPt>
          <c:dPt>
            <c:idx val="19"/>
            <c:invertIfNegative val="0"/>
            <c:bubble3D val="0"/>
            <c:spPr>
              <a:solidFill>
                <a:schemeClr val="accent2">
                  <a:lumMod val="50000"/>
                </a:schemeClr>
              </a:solidFill>
              <a:ln>
                <a:noFill/>
              </a:ln>
              <a:effectLst/>
            </c:spPr>
            <c:extLst>
              <c:ext xmlns:c16="http://schemas.microsoft.com/office/drawing/2014/chart" uri="{C3380CC4-5D6E-409C-BE32-E72D297353CC}">
                <c16:uniqueId val="{00000026-46E8-4B43-A4B3-D3370E485B24}"/>
              </c:ext>
            </c:extLst>
          </c:dPt>
          <c:dPt>
            <c:idx val="20"/>
            <c:invertIfNegative val="0"/>
            <c:bubble3D val="0"/>
            <c:spPr>
              <a:solidFill>
                <a:srgbClr val="089584"/>
              </a:solidFill>
              <a:ln>
                <a:noFill/>
              </a:ln>
              <a:effectLst/>
            </c:spPr>
            <c:extLst>
              <c:ext xmlns:c16="http://schemas.microsoft.com/office/drawing/2014/chart" uri="{C3380CC4-5D6E-409C-BE32-E72D297353CC}">
                <c16:uniqueId val="{00000028-BCF8-47AB-8B10-BECD1E1B93BA}"/>
              </c:ext>
            </c:extLst>
          </c:dPt>
          <c:dPt>
            <c:idx val="21"/>
            <c:invertIfNegative val="0"/>
            <c:bubble3D val="0"/>
            <c:spPr>
              <a:solidFill>
                <a:srgbClr val="089584"/>
              </a:solidFill>
              <a:ln>
                <a:noFill/>
              </a:ln>
              <a:effectLst/>
            </c:spPr>
            <c:extLst>
              <c:ext xmlns:c16="http://schemas.microsoft.com/office/drawing/2014/chart" uri="{C3380CC4-5D6E-409C-BE32-E72D297353CC}">
                <c16:uniqueId val="{00000000-DAA8-4159-9F08-BB2CDD93F7B2}"/>
              </c:ext>
            </c:extLst>
          </c:dPt>
          <c:dLbls>
            <c:dLbl>
              <c:idx val="16"/>
              <c:layout>
                <c:manualLayout>
                  <c:x val="-1.1004610109904932E-16"/>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35D4-457C-8DA8-0A40A86D83C6}"/>
                </c:ext>
              </c:extLst>
            </c:dLbl>
            <c:dLbl>
              <c:idx val="17"/>
              <c:layout>
                <c:manualLayout>
                  <c:x val="-1.1004610109904932E-16"/>
                  <c:y val="2.706672565934117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6B83-4D43-B565-3CEBBD48E187}"/>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2017 - 2020'!$B$25:$B$46</c:f>
              <c:strCache>
                <c:ptCount val="22"/>
                <c:pt idx="0">
                  <c:v>1Q2021</c:v>
                </c:pt>
                <c:pt idx="1">
                  <c:v>2Q2021</c:v>
                </c:pt>
                <c:pt idx="2">
                  <c:v>3Q2021</c:v>
                </c:pt>
                <c:pt idx="3">
                  <c:v>4Q2021</c:v>
                </c:pt>
                <c:pt idx="4">
                  <c:v>1Q2022</c:v>
                </c:pt>
                <c:pt idx="5">
                  <c:v>2Q2022</c:v>
                </c:pt>
                <c:pt idx="6">
                  <c:v>3Q2022</c:v>
                </c:pt>
                <c:pt idx="7">
                  <c:v>4Q2022</c:v>
                </c:pt>
                <c:pt idx="8">
                  <c:v>1Q2023</c:v>
                </c:pt>
                <c:pt idx="9">
                  <c:v>2Q2023</c:v>
                </c:pt>
                <c:pt idx="10">
                  <c:v>3Q2023</c:v>
                </c:pt>
                <c:pt idx="11">
                  <c:v>4Q2023</c:v>
                </c:pt>
                <c:pt idx="12">
                  <c:v>1Q2024</c:v>
                </c:pt>
                <c:pt idx="13">
                  <c:v>2Q2024</c:v>
                </c:pt>
                <c:pt idx="14">
                  <c:v>3Q2024</c:v>
                </c:pt>
                <c:pt idx="15">
                  <c:v>4Q2024</c:v>
                </c:pt>
                <c:pt idx="16">
                  <c:v>1Q2025</c:v>
                </c:pt>
                <c:pt idx="17">
                  <c:v>2Q2025</c:v>
                </c:pt>
                <c:pt idx="18">
                  <c:v>3Q2025</c:v>
                </c:pt>
                <c:pt idx="19">
                  <c:v>4Q2025</c:v>
                </c:pt>
                <c:pt idx="20">
                  <c:v>1Q2026</c:v>
                </c:pt>
                <c:pt idx="21">
                  <c:v>2QTD2026</c:v>
                </c:pt>
              </c:strCache>
            </c:strRef>
          </c:cat>
          <c:val>
            <c:numRef>
              <c:f>'PIVOT 2017 - 2020'!$C$25:$C$46</c:f>
              <c:numCache>
                <c:formatCode>0.0</c:formatCode>
                <c:ptCount val="22"/>
                <c:pt idx="0">
                  <c:v>29</c:v>
                </c:pt>
                <c:pt idx="1">
                  <c:v>19.5</c:v>
                </c:pt>
                <c:pt idx="2">
                  <c:v>21.2</c:v>
                </c:pt>
                <c:pt idx="3">
                  <c:v>16.07</c:v>
                </c:pt>
                <c:pt idx="4">
                  <c:v>18.260000000000002</c:v>
                </c:pt>
                <c:pt idx="5">
                  <c:v>16.506</c:v>
                </c:pt>
                <c:pt idx="6">
                  <c:v>12.419</c:v>
                </c:pt>
                <c:pt idx="7">
                  <c:v>16.251999999999999</c:v>
                </c:pt>
                <c:pt idx="8">
                  <c:v>16.286999999999999</c:v>
                </c:pt>
                <c:pt idx="9">
                  <c:v>13.1</c:v>
                </c:pt>
                <c:pt idx="10">
                  <c:v>12.568</c:v>
                </c:pt>
                <c:pt idx="11">
                  <c:v>11.6</c:v>
                </c:pt>
                <c:pt idx="12">
                  <c:v>12.7</c:v>
                </c:pt>
                <c:pt idx="13">
                  <c:v>15.6</c:v>
                </c:pt>
                <c:pt idx="14">
                  <c:v>15.2</c:v>
                </c:pt>
                <c:pt idx="15">
                  <c:v>24.029</c:v>
                </c:pt>
                <c:pt idx="16">
                  <c:v>31.198</c:v>
                </c:pt>
                <c:pt idx="17">
                  <c:v>30.4</c:v>
                </c:pt>
                <c:pt idx="18">
                  <c:v>36.609000000000002</c:v>
                </c:pt>
                <c:pt idx="19">
                  <c:v>29.5</c:v>
                </c:pt>
                <c:pt idx="20">
                  <c:v>35.387</c:v>
                </c:pt>
                <c:pt idx="21">
                  <c:v>33.107999999999997</c:v>
                </c:pt>
              </c:numCache>
            </c:numRef>
          </c:val>
          <c:extLst>
            <c:ext xmlns:c16="http://schemas.microsoft.com/office/drawing/2014/chart" uri="{C3380CC4-5D6E-409C-BE32-E72D297353CC}">
              <c16:uniqueId val="{00000022-8653-4908-84E2-649299FA3DC0}"/>
            </c:ext>
          </c:extLst>
        </c:ser>
        <c:dLbls>
          <c:dLblPos val="outEnd"/>
          <c:showLegendKey val="0"/>
          <c:showVal val="1"/>
          <c:showCatName val="0"/>
          <c:showSerName val="0"/>
          <c:showPercent val="0"/>
          <c:showBubbleSize val="0"/>
        </c:dLbls>
        <c:gapWidth val="153"/>
        <c:overlap val="-27"/>
        <c:axId val="897658063"/>
        <c:axId val="829389599"/>
      </c:barChart>
      <c:catAx>
        <c:axId val="8976580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crossAx val="829389599"/>
        <c:crosses val="autoZero"/>
        <c:auto val="1"/>
        <c:lblAlgn val="ctr"/>
        <c:lblOffset val="100"/>
        <c:noMultiLvlLbl val="0"/>
      </c:catAx>
      <c:valAx>
        <c:axId val="829389599"/>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8976580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2223899228508"/>
          <c:y val="7.2999571893994183E-2"/>
          <c:w val="0.89328589211665776"/>
          <c:h val="0.7666149875800885"/>
        </c:manualLayout>
      </c:layout>
      <c:barChart>
        <c:barDir val="col"/>
        <c:grouping val="clustered"/>
        <c:varyColors val="0"/>
        <c:ser>
          <c:idx val="0"/>
          <c:order val="0"/>
          <c:tx>
            <c:strRef>
              <c:f>Sheet1!$B$1</c:f>
              <c:strCache>
                <c:ptCount val="1"/>
                <c:pt idx="0">
                  <c:v>2025 Same Period</c:v>
                </c:pt>
              </c:strCache>
            </c:strRef>
          </c:tx>
          <c:spPr>
            <a:solidFill>
              <a:srgbClr val="089584"/>
            </a:solidFill>
          </c:spPr>
          <c:invertIfNegative val="0"/>
          <c:dLbls>
            <c:dLbl>
              <c:idx val="0"/>
              <c:layout>
                <c:manualLayout>
                  <c:x val="-1.3294792393180415E-2"/>
                  <c:y val="6.23019949393119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A34-46C5-A7CF-425C4F9ECEF3}"/>
                </c:ext>
              </c:extLst>
            </c:dLbl>
            <c:dLbl>
              <c:idx val="1"/>
              <c:layout>
                <c:manualLayout>
                  <c:x val="-3.3236980982950999E-3"/>
                  <c:y val="1.194004580976128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A34-46C5-A7CF-425C4F9ECEF3}"/>
                </c:ext>
              </c:extLst>
            </c:dLbl>
            <c:dLbl>
              <c:idx val="2"/>
              <c:layout>
                <c:manualLayout>
                  <c:x val="-6.6473961965901997E-3"/>
                  <c:y val="2.492079797572478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A34-46C5-A7CF-425C4F9ECEF3}"/>
                </c:ext>
              </c:extLst>
            </c:dLbl>
            <c:dLbl>
              <c:idx val="3"/>
              <c:layout>
                <c:manualLayout>
                  <c:x val="-3.323698098295161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A34-46C5-A7CF-425C4F9ECEF3}"/>
                </c:ext>
              </c:extLst>
            </c:dLbl>
            <c:dLbl>
              <c:idx val="4"/>
              <c:layout>
                <c:manualLayout>
                  <c:x val="-9.9710942948853E-3"/>
                  <c:y val="1.86905984817935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A34-46C5-A7CF-425C4F9ECEF3}"/>
                </c:ext>
              </c:extLst>
            </c:dLbl>
            <c:dLbl>
              <c:idx val="5"/>
              <c:layout>
                <c:manualLayout>
                  <c:x val="0"/>
                  <c:y val="1.825666527189568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A34-46C5-A7CF-425C4F9ECEF3}"/>
                </c:ext>
              </c:extLst>
            </c:dLbl>
            <c:dLbl>
              <c:idx val="6"/>
              <c:layout>
                <c:manualLayout>
                  <c:x val="-6.6473961965901997E-3"/>
                  <c:y val="-6.23019949393119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A34-46C5-A7CF-425C4F9ECEF3}"/>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USA</c:v>
                </c:pt>
                <c:pt idx="1">
                  <c:v>Mainland China2</c:v>
                </c:pt>
                <c:pt idx="2">
                  <c:v>Hong Kong3</c:v>
                </c:pt>
                <c:pt idx="3">
                  <c:v>Singapore</c:v>
                </c:pt>
                <c:pt idx="4">
                  <c:v>Thailand</c:v>
                </c:pt>
                <c:pt idx="5">
                  <c:v>Indonesia</c:v>
                </c:pt>
                <c:pt idx="6">
                  <c:v>India</c:v>
                </c:pt>
              </c:strCache>
            </c:strRef>
          </c:cat>
          <c:val>
            <c:numRef>
              <c:f>Sheet1!$B$2:$B$8</c:f>
              <c:numCache>
                <c:formatCode>#,##0.0</c:formatCode>
                <c:ptCount val="7"/>
                <c:pt idx="0" formatCode="0.0">
                  <c:v>139.82884712000003</c:v>
                </c:pt>
                <c:pt idx="1">
                  <c:v>18.499173319999993</c:v>
                </c:pt>
                <c:pt idx="2" formatCode="0.0">
                  <c:v>25.044828427000027</c:v>
                </c:pt>
                <c:pt idx="3" formatCode="0.0">
                  <c:v>0.40773719900000011</c:v>
                </c:pt>
                <c:pt idx="4" formatCode="0.0">
                  <c:v>0.51180982439999989</c:v>
                </c:pt>
                <c:pt idx="5" formatCode="0.0">
                  <c:v>0.81424596999999999</c:v>
                </c:pt>
                <c:pt idx="6" formatCode="0.0">
                  <c:v>11.787557582999993</c:v>
                </c:pt>
              </c:numCache>
            </c:numRef>
          </c:val>
          <c:extLst>
            <c:ext xmlns:c16="http://schemas.microsoft.com/office/drawing/2014/chart" uri="{C3380CC4-5D6E-409C-BE32-E72D297353CC}">
              <c16:uniqueId val="{00000007-7A34-46C5-A7CF-425C4F9ECEF3}"/>
            </c:ext>
          </c:extLst>
        </c:ser>
        <c:ser>
          <c:idx val="1"/>
          <c:order val="1"/>
          <c:tx>
            <c:strRef>
              <c:f>Sheet1!$C$1</c:f>
              <c:strCache>
                <c:ptCount val="1"/>
                <c:pt idx="0">
                  <c:v>2026 YTD</c:v>
                </c:pt>
              </c:strCache>
            </c:strRef>
          </c:tx>
          <c:spPr>
            <a:solidFill>
              <a:srgbClr val="315D90"/>
            </a:solidFill>
          </c:spPr>
          <c:invertIfNegative val="0"/>
          <c:dLbls>
            <c:dLbl>
              <c:idx val="0"/>
              <c:layout>
                <c:manualLayout>
                  <c:x val="3.3236980982950695E-3"/>
                  <c:y val="1.228688423481493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A34-46C5-A7CF-425C4F9ECEF3}"/>
                </c:ext>
              </c:extLst>
            </c:dLbl>
            <c:dLbl>
              <c:idx val="1"/>
              <c:layout>
                <c:manualLayout>
                  <c:x val="6.6473961965901997E-3"/>
                  <c:y val="3.115099746965598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A34-46C5-A7CF-425C4F9ECEF3}"/>
                </c:ext>
              </c:extLst>
            </c:dLbl>
            <c:dLbl>
              <c:idx val="2"/>
              <c:layout>
                <c:manualLayout>
                  <c:x val="9.9710942948853E-3"/>
                  <c:y val="6.230199493931083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A34-46C5-A7CF-425C4F9ECEF3}"/>
                </c:ext>
              </c:extLst>
            </c:dLbl>
            <c:dLbl>
              <c:idx val="3"/>
              <c:layout>
                <c:manualLayout>
                  <c:x val="-6.093376122340083E-17"/>
                  <c:y val="2.49207979757246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A34-46C5-A7CF-425C4F9ECEF3}"/>
                </c:ext>
              </c:extLst>
            </c:dLbl>
            <c:dLbl>
              <c:idx val="4"/>
              <c:layout>
                <c:manualLayout>
                  <c:x val="0"/>
                  <c:y val="-1.246039898786239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A34-46C5-A7CF-425C4F9ECEF3}"/>
                </c:ext>
              </c:extLst>
            </c:dLbl>
            <c:dLbl>
              <c:idx val="5"/>
              <c:layout>
                <c:manualLayout>
                  <c:x val="0"/>
                  <c:y val="1.86905984817935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A34-46C5-A7CF-425C4F9ECEF3}"/>
                </c:ext>
              </c:extLst>
            </c:dLbl>
            <c:dLbl>
              <c:idx val="6"/>
              <c:layout>
                <c:manualLayout>
                  <c:x val="3.3236980982950999E-3"/>
                  <c:y val="2.49207979757246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A34-46C5-A7CF-425C4F9ECEF3}"/>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USA</c:v>
                </c:pt>
                <c:pt idx="1">
                  <c:v>Mainland China2</c:v>
                </c:pt>
                <c:pt idx="2">
                  <c:v>Hong Kong3</c:v>
                </c:pt>
                <c:pt idx="3">
                  <c:v>Singapore</c:v>
                </c:pt>
                <c:pt idx="4">
                  <c:v>Thailand</c:v>
                </c:pt>
                <c:pt idx="5">
                  <c:v>Indonesia</c:v>
                </c:pt>
                <c:pt idx="6">
                  <c:v>India</c:v>
                </c:pt>
              </c:strCache>
            </c:strRef>
          </c:cat>
          <c:val>
            <c:numRef>
              <c:f>Sheet1!$C$2:$C$8</c:f>
              <c:numCache>
                <c:formatCode>0.0</c:formatCode>
                <c:ptCount val="7"/>
                <c:pt idx="0">
                  <c:v>219.69825157</c:v>
                </c:pt>
                <c:pt idx="1">
                  <c:v>34.14815269999999</c:v>
                </c:pt>
                <c:pt idx="2">
                  <c:v>35.985537203999961</c:v>
                </c:pt>
                <c:pt idx="3">
                  <c:v>2.8361521099999987</c:v>
                </c:pt>
                <c:pt idx="4">
                  <c:v>0.39003208300000008</c:v>
                </c:pt>
                <c:pt idx="5">
                  <c:v>0.30090004999999997</c:v>
                </c:pt>
                <c:pt idx="6">
                  <c:v>9.3770461753999967</c:v>
                </c:pt>
              </c:numCache>
            </c:numRef>
          </c:val>
          <c:extLst>
            <c:ext xmlns:c16="http://schemas.microsoft.com/office/drawing/2014/chart" uri="{C3380CC4-5D6E-409C-BE32-E72D297353CC}">
              <c16:uniqueId val="{0000000F-7A34-46C5-A7CF-425C4F9ECEF3}"/>
            </c:ext>
          </c:extLst>
        </c:ser>
        <c:dLbls>
          <c:dLblPos val="outEnd"/>
          <c:showLegendKey val="0"/>
          <c:showVal val="1"/>
          <c:showCatName val="0"/>
          <c:showSerName val="0"/>
          <c:showPercent val="0"/>
          <c:showBubbleSize val="0"/>
        </c:dLbls>
        <c:gapWidth val="150"/>
        <c:axId val="6036864"/>
        <c:axId val="6050944"/>
      </c:barChart>
      <c:catAx>
        <c:axId val="6036864"/>
        <c:scaling>
          <c:orientation val="minMax"/>
        </c:scaling>
        <c:delete val="0"/>
        <c:axPos val="b"/>
        <c:numFmt formatCode="General" sourceLinked="1"/>
        <c:majorTickMark val="none"/>
        <c:minorTickMark val="none"/>
        <c:tickLblPos val="nextTo"/>
        <c:txPr>
          <a:bodyPr/>
          <a:lstStyle/>
          <a:p>
            <a:pPr>
              <a:defRPr sz="800" b="0">
                <a:latin typeface="+mn-lt"/>
              </a:defRPr>
            </a:pPr>
            <a:endParaRPr lang="en-US"/>
          </a:p>
        </c:txPr>
        <c:crossAx val="6050944"/>
        <c:crosses val="autoZero"/>
        <c:auto val="1"/>
        <c:lblAlgn val="ctr"/>
        <c:lblOffset val="100"/>
        <c:noMultiLvlLbl val="0"/>
      </c:catAx>
      <c:valAx>
        <c:axId val="6050944"/>
        <c:scaling>
          <c:orientation val="minMax"/>
          <c:min val="0"/>
        </c:scaling>
        <c:delete val="0"/>
        <c:axPos val="l"/>
        <c:numFmt formatCode="#,##0" sourceLinked="0"/>
        <c:majorTickMark val="out"/>
        <c:minorTickMark val="none"/>
        <c:tickLblPos val="nextTo"/>
        <c:txPr>
          <a:bodyPr/>
          <a:lstStyle/>
          <a:p>
            <a:pPr>
              <a:defRPr sz="800"/>
            </a:pPr>
            <a:endParaRPr lang="en-US"/>
          </a:p>
        </c:txPr>
        <c:crossAx val="6036864"/>
        <c:crosses val="autoZero"/>
        <c:crossBetween val="between"/>
      </c:valAx>
      <c:spPr>
        <a:noFill/>
        <a:ln w="14644">
          <a:noFill/>
        </a:ln>
      </c:spPr>
    </c:plotArea>
    <c:legend>
      <c:legendPos val="r"/>
      <c:layout>
        <c:manualLayout>
          <c:xMode val="edge"/>
          <c:yMode val="edge"/>
          <c:x val="0.672979476546681"/>
          <c:y val="7.0697957910165459E-3"/>
          <c:w val="0.32314056972239308"/>
          <c:h val="0.17662541208226407"/>
        </c:manualLayout>
      </c:layout>
      <c:overlay val="0"/>
      <c:txPr>
        <a:bodyPr/>
        <a:lstStyle/>
        <a:p>
          <a:pPr>
            <a:defRPr sz="900"/>
          </a:pPr>
          <a:endParaRPr lang="en-US"/>
        </a:p>
      </c:txPr>
    </c:legend>
    <c:plotVisOnly val="1"/>
    <c:dispBlanksAs val="gap"/>
    <c:showDLblsOverMax val="0"/>
  </c:chart>
  <c:txPr>
    <a:bodyPr/>
    <a:lstStyle/>
    <a:p>
      <a:pPr>
        <a:defRPr sz="700">
          <a:latin typeface="+mj-lt"/>
          <a:cs typeface="Calibri" pitchFamily="34"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dPt>
            <c:idx val="0"/>
            <c:bubble3D val="0"/>
            <c:spPr>
              <a:solidFill>
                <a:srgbClr val="00375E"/>
              </a:solidFill>
              <a:ln w="19050">
                <a:solidFill>
                  <a:schemeClr val="lt1"/>
                </a:solidFill>
              </a:ln>
              <a:effectLst/>
            </c:spPr>
            <c:extLst>
              <c:ext xmlns:c16="http://schemas.microsoft.com/office/drawing/2014/chart" uri="{C3380CC4-5D6E-409C-BE32-E72D297353CC}">
                <c16:uniqueId val="{00000001-DAF0-41D1-BAA1-8A099B8FCE51}"/>
              </c:ext>
            </c:extLst>
          </c:dPt>
          <c:dPt>
            <c:idx val="1"/>
            <c:bubble3D val="0"/>
            <c:spPr>
              <a:solidFill>
                <a:srgbClr val="C0FCF5"/>
              </a:solidFill>
              <a:ln w="19050">
                <a:solidFill>
                  <a:schemeClr val="lt1"/>
                </a:solidFill>
              </a:ln>
              <a:effectLst/>
            </c:spPr>
            <c:extLst>
              <c:ext xmlns:c16="http://schemas.microsoft.com/office/drawing/2014/chart" uri="{C3380CC4-5D6E-409C-BE32-E72D297353CC}">
                <c16:uniqueId val="{00000003-DAF0-41D1-BAA1-8A099B8FCE51}"/>
              </c:ext>
            </c:extLst>
          </c:dPt>
          <c:dPt>
            <c:idx val="2"/>
            <c:bubble3D val="0"/>
            <c:spPr>
              <a:solidFill>
                <a:srgbClr val="B4B8B9"/>
              </a:solidFill>
              <a:ln w="19050">
                <a:solidFill>
                  <a:schemeClr val="lt1"/>
                </a:solidFill>
              </a:ln>
              <a:effectLst/>
            </c:spPr>
            <c:extLst>
              <c:ext xmlns:c16="http://schemas.microsoft.com/office/drawing/2014/chart" uri="{C3380CC4-5D6E-409C-BE32-E72D297353CC}">
                <c16:uniqueId val="{00000005-DAF0-41D1-BAA1-8A099B8FCE51}"/>
              </c:ext>
            </c:extLst>
          </c:dPt>
          <c:dLbls>
            <c:dLbl>
              <c:idx val="0"/>
              <c:tx>
                <c:rich>
                  <a:bodyPr/>
                  <a:lstStyle/>
                  <a:p>
                    <a:fld id="{F502E7AB-2261-490C-A06A-4F3FCC1ED1F8}" type="CATEGORYNAME">
                      <a:rPr lang="en-US" b="1">
                        <a:solidFill>
                          <a:schemeClr val="bg1"/>
                        </a:solidFill>
                      </a:rPr>
                      <a:pPr/>
                      <a:t>[CATEGORY NAME]</a:t>
                    </a:fld>
                    <a:r>
                      <a:rPr lang="en-US" b="1" baseline="0">
                        <a:solidFill>
                          <a:schemeClr val="bg1"/>
                        </a:solidFill>
                      </a:rPr>
                      <a:t>
</a:t>
                    </a:r>
                    <a:fld id="{6B618F13-36F8-4843-86EE-51B3CE8914BF}" type="PERCENTAGE">
                      <a:rPr lang="en-US" b="1" baseline="0">
                        <a:solidFill>
                          <a:schemeClr val="bg1"/>
                        </a:solidFill>
                      </a:rPr>
                      <a:pPr/>
                      <a:t>[PERCENTAGE]</a:t>
                    </a:fld>
                    <a:endParaRPr lang="en-US" b="1" baseline="0">
                      <a:solidFill>
                        <a:schemeClr val="bg1"/>
                      </a:solidFill>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AF0-41D1-BAA1-8A099B8FCE51}"/>
                </c:ext>
              </c:extLst>
            </c:dLbl>
            <c:dLbl>
              <c:idx val="2"/>
              <c:layout>
                <c:manualLayout>
                  <c:x val="-0.11715484734389885"/>
                  <c:y val="-0.12014893602643546"/>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AF0-41D1-BAA1-8A099B8FCE5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Sheet3!$F$4:$F$6</c:f>
              <c:strCache>
                <c:ptCount val="3"/>
                <c:pt idx="0">
                  <c:v>IPO</c:v>
                </c:pt>
                <c:pt idx="1">
                  <c:v>Placement</c:v>
                </c:pt>
                <c:pt idx="2">
                  <c:v>Rights</c:v>
                </c:pt>
              </c:strCache>
            </c:strRef>
          </c:cat>
          <c:val>
            <c:numRef>
              <c:f>Sheet3!$G$4:$G$6</c:f>
              <c:numCache>
                <c:formatCode>0.0</c:formatCode>
                <c:ptCount val="3"/>
                <c:pt idx="0">
                  <c:v>20.873851949999999</c:v>
                </c:pt>
                <c:pt idx="1">
                  <c:v>14.722234600000002</c:v>
                </c:pt>
                <c:pt idx="2">
                  <c:v>0.38945065400000006</c:v>
                </c:pt>
              </c:numCache>
            </c:numRef>
          </c:val>
          <c:extLst>
            <c:ext xmlns:c16="http://schemas.microsoft.com/office/drawing/2014/chart" uri="{C3380CC4-5D6E-409C-BE32-E72D297353CC}">
              <c16:uniqueId val="{00000006-DAF0-41D1-BAA1-8A099B8FCE51}"/>
            </c:ext>
          </c:extLst>
        </c:ser>
        <c:dLbls>
          <c:showLegendKey val="0"/>
          <c:showVal val="0"/>
          <c:showCatName val="0"/>
          <c:showSerName val="0"/>
          <c:showPercent val="1"/>
          <c:showBubbleSize val="0"/>
          <c:showLeaderLines val="1"/>
        </c:dLbls>
        <c:firstSliceAng val="0"/>
        <c:holeSize val="5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dPt>
            <c:idx val="0"/>
            <c:bubble3D val="0"/>
            <c:spPr>
              <a:solidFill>
                <a:srgbClr val="00375E"/>
              </a:solidFill>
              <a:ln w="19050">
                <a:solidFill>
                  <a:schemeClr val="lt1"/>
                </a:solidFill>
              </a:ln>
              <a:effectLst/>
            </c:spPr>
            <c:extLst>
              <c:ext xmlns:c16="http://schemas.microsoft.com/office/drawing/2014/chart" uri="{C3380CC4-5D6E-409C-BE32-E72D297353CC}">
                <c16:uniqueId val="{00000001-94B6-4C14-9EF6-7B21B5234A35}"/>
              </c:ext>
            </c:extLst>
          </c:dPt>
          <c:dPt>
            <c:idx val="1"/>
            <c:bubble3D val="0"/>
            <c:spPr>
              <a:solidFill>
                <a:srgbClr val="C0FCF5"/>
              </a:solidFill>
              <a:ln w="19050">
                <a:solidFill>
                  <a:schemeClr val="lt1"/>
                </a:solidFill>
              </a:ln>
              <a:effectLst/>
            </c:spPr>
            <c:extLst>
              <c:ext xmlns:c16="http://schemas.microsoft.com/office/drawing/2014/chart" uri="{C3380CC4-5D6E-409C-BE32-E72D297353CC}">
                <c16:uniqueId val="{00000003-94B6-4C14-9EF6-7B21B5234A35}"/>
              </c:ext>
            </c:extLst>
          </c:dPt>
          <c:dPt>
            <c:idx val="2"/>
            <c:bubble3D val="0"/>
            <c:spPr>
              <a:solidFill>
                <a:srgbClr val="B4B8B9"/>
              </a:solidFill>
              <a:ln w="19050">
                <a:solidFill>
                  <a:schemeClr val="lt1"/>
                </a:solidFill>
              </a:ln>
              <a:effectLst/>
            </c:spPr>
            <c:extLst>
              <c:ext xmlns:c16="http://schemas.microsoft.com/office/drawing/2014/chart" uri="{C3380CC4-5D6E-409C-BE32-E72D297353CC}">
                <c16:uniqueId val="{00000005-94B6-4C14-9EF6-7B21B5234A35}"/>
              </c:ext>
            </c:extLst>
          </c:dPt>
          <c:dLbls>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1-94B6-4C14-9EF6-7B21B5234A35}"/>
                </c:ext>
              </c:extLst>
            </c:dLbl>
            <c:dLbl>
              <c:idx val="2"/>
              <c:layout>
                <c:manualLayout>
                  <c:x val="9.6333032721535497E-2"/>
                  <c:y val="-0.133055174680752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4B6-4C14-9EF6-7B21B5234A3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Sheet3!$F$13:$F$15</c:f>
              <c:strCache>
                <c:ptCount val="3"/>
                <c:pt idx="0">
                  <c:v>IPO</c:v>
                </c:pt>
                <c:pt idx="1">
                  <c:v>Placement</c:v>
                </c:pt>
                <c:pt idx="2">
                  <c:v>Rights</c:v>
                </c:pt>
              </c:strCache>
            </c:strRef>
          </c:cat>
          <c:val>
            <c:numRef>
              <c:f>Sheet3!$G$13:$G$15</c:f>
              <c:numCache>
                <c:formatCode>0.0</c:formatCode>
                <c:ptCount val="3"/>
                <c:pt idx="0">
                  <c:v>8.4096139999999995</c:v>
                </c:pt>
                <c:pt idx="1">
                  <c:v>16.147187606000003</c:v>
                </c:pt>
                <c:pt idx="2">
                  <c:v>0.488026821</c:v>
                </c:pt>
              </c:numCache>
            </c:numRef>
          </c:val>
          <c:extLst>
            <c:ext xmlns:c16="http://schemas.microsoft.com/office/drawing/2014/chart" uri="{C3380CC4-5D6E-409C-BE32-E72D297353CC}">
              <c16:uniqueId val="{00000006-94B6-4C14-9EF6-7B21B5234A35}"/>
            </c:ext>
          </c:extLst>
        </c:ser>
        <c:dLbls>
          <c:showLegendKey val="0"/>
          <c:showVal val="0"/>
          <c:showCatName val="0"/>
          <c:showSerName val="0"/>
          <c:showPercent val="1"/>
          <c:showBubbleSize val="0"/>
          <c:showLeaderLines val="1"/>
        </c:dLbls>
        <c:firstSliceAng val="0"/>
        <c:holeSize val="5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Base</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Sheet1!$B$2:$B$3</c:f>
              <c:numCache>
                <c:formatCode>General</c:formatCode>
                <c:ptCount val="2"/>
                <c:pt idx="0">
                  <c:v>231</c:v>
                </c:pt>
              </c:numCache>
            </c:numRef>
          </c:val>
          <c:extLst>
            <c:ext xmlns:c16="http://schemas.microsoft.com/office/drawing/2014/chart" uri="{C3380CC4-5D6E-409C-BE32-E72D297353CC}">
              <c16:uniqueId val="{00000000-ABBB-437E-A9CF-1B40EAB68640}"/>
            </c:ext>
          </c:extLst>
        </c:ser>
        <c:ser>
          <c:idx val="1"/>
          <c:order val="1"/>
          <c:tx>
            <c:strRef>
              <c:f>Sheet1!$C$1</c:f>
              <c:strCache>
                <c:ptCount val="1"/>
                <c:pt idx="0">
                  <c:v>DBS</c:v>
                </c:pt>
              </c:strCache>
            </c:strRef>
          </c:tx>
          <c:spPr>
            <a:solidFill>
              <a:schemeClr val="accent1"/>
            </a:solidFill>
            <a:ln>
              <a:solidFill>
                <a:schemeClr val="accent1"/>
              </a:solidFill>
            </a:ln>
            <a:effectLst/>
          </c:spPr>
          <c:invertIfNegative val="0"/>
          <c:dLbls>
            <c:dLbl>
              <c:idx val="0"/>
              <c:tx>
                <c:rich>
                  <a:bodyPr/>
                  <a:lstStyle/>
                  <a:p>
                    <a:endParaRPr lang="en-US"/>
                  </a:p>
                </c:rich>
              </c:tx>
              <c:showLegendKey val="0"/>
              <c:showVal val="0"/>
              <c:showCatName val="0"/>
              <c:showSerName val="1"/>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8-ABBB-437E-A9CF-1B40EAB68640}"/>
                </c:ext>
              </c:extLst>
            </c:dLbl>
            <c:dLbl>
              <c:idx val="1"/>
              <c:tx>
                <c:rich>
                  <a:bodyPr/>
                  <a:lstStyle/>
                  <a:p>
                    <a:fld id="{E7321507-77D4-4851-ABCE-5CD06676766B}" type="CELLRANGE">
                      <a:rPr lang="en-US"/>
                      <a:pPr/>
                      <a:t>[CELLRANGE]</a:t>
                    </a:fld>
                    <a:r>
                      <a:rPr lang="en-US" baseline="0"/>
                      <a:t>, </a:t>
                    </a:r>
                    <a:fld id="{BB15C732-57CE-4136-B7F0-DDA3172077AE}" type="SERIESNAME">
                      <a:rPr lang="en-US" baseline="0"/>
                      <a:pPr/>
                      <a:t>[SERIES NAME]</a:t>
                    </a:fld>
                    <a:endParaRPr lang="en-US" baseline="0"/>
                  </a:p>
                </c:rich>
              </c:tx>
              <c:showLegendKey val="0"/>
              <c:showVal val="0"/>
              <c:showCatName val="0"/>
              <c:showSerName val="1"/>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ABBB-437E-A9CF-1B40EAB686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Sheet1!$C$2:$C$3</c:f>
              <c:numCache>
                <c:formatCode>General</c:formatCode>
                <c:ptCount val="2"/>
                <c:pt idx="1">
                  <c:v>251.29999999999998</c:v>
                </c:pt>
              </c:numCache>
            </c:numRef>
          </c:val>
          <c:extLst>
            <c:ext xmlns:c15="http://schemas.microsoft.com/office/drawing/2012/chart" uri="{02D57815-91ED-43cb-92C2-25804820EDAC}">
              <c15:datalabelsRange>
                <c15:f>Sheet1!$C$7:$C$8</c15:f>
                <c15:dlblRangeCache>
                  <c:ptCount val="2"/>
                  <c:pt idx="1">
                    <c:v>70%</c:v>
                  </c:pt>
                </c15:dlblRangeCache>
              </c15:datalabelsRange>
            </c:ext>
            <c:ext xmlns:c16="http://schemas.microsoft.com/office/drawing/2014/chart" uri="{C3380CC4-5D6E-409C-BE32-E72D297353CC}">
              <c16:uniqueId val="{00000001-ABBB-437E-A9CF-1B40EAB68640}"/>
            </c:ext>
          </c:extLst>
        </c:ser>
        <c:ser>
          <c:idx val="2"/>
          <c:order val="2"/>
          <c:tx>
            <c:strRef>
              <c:f>Sheet1!$D$1</c:f>
              <c:strCache>
                <c:ptCount val="1"/>
                <c:pt idx="0">
                  <c:v>Others</c:v>
                </c:pt>
              </c:strCache>
            </c:strRef>
          </c:tx>
          <c:spPr>
            <a:solidFill>
              <a:schemeClr val="bg1">
                <a:lumMod val="85000"/>
              </a:schemeClr>
            </a:solidFill>
            <a:ln>
              <a:solidFill>
                <a:schemeClr val="bg1">
                  <a:lumMod val="75000"/>
                </a:schemeClr>
              </a:solidFill>
            </a:ln>
            <a:effectLst/>
          </c:spPr>
          <c:invertIfNegative val="0"/>
          <c:dLbls>
            <c:dLbl>
              <c:idx val="0"/>
              <c:tx>
                <c:rich>
                  <a:bodyPr/>
                  <a:lstStyle/>
                  <a:p>
                    <a:endParaRPr lang="en-US"/>
                  </a:p>
                </c:rich>
              </c:tx>
              <c:showLegendKey val="0"/>
              <c:showVal val="0"/>
              <c:showCatName val="0"/>
              <c:showSerName val="1"/>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A-ABBB-437E-A9CF-1B40EAB68640}"/>
                </c:ext>
              </c:extLst>
            </c:dLbl>
            <c:dLbl>
              <c:idx val="1"/>
              <c:tx>
                <c:rich>
                  <a:bodyPr/>
                  <a:lstStyle/>
                  <a:p>
                    <a:fld id="{67C3B1AC-4328-4160-812E-FEB706F98862}" type="CELLRANGE">
                      <a:rPr lang="en-US"/>
                      <a:pPr/>
                      <a:t>[CELLRANGE]</a:t>
                    </a:fld>
                    <a:r>
                      <a:rPr lang="en-US" baseline="0"/>
                      <a:t>, </a:t>
                    </a:r>
                    <a:fld id="{32D3521F-2638-4640-9523-F7EB22B412EB}" type="SERIESNAME">
                      <a:rPr lang="en-US" baseline="0"/>
                      <a:pPr/>
                      <a:t>[SERIES NAME]</a:t>
                    </a:fld>
                    <a:endParaRPr lang="en-US" baseline="0"/>
                  </a:p>
                </c:rich>
              </c:tx>
              <c:showLegendKey val="0"/>
              <c:showVal val="0"/>
              <c:showCatName val="0"/>
              <c:showSerName val="1"/>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ABBB-437E-A9CF-1B40EAB686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Sheet1!$D$2:$D$3</c:f>
              <c:numCache>
                <c:formatCode>General</c:formatCode>
                <c:ptCount val="2"/>
                <c:pt idx="1">
                  <c:v>107.70000000000002</c:v>
                </c:pt>
              </c:numCache>
            </c:numRef>
          </c:val>
          <c:extLst>
            <c:ext xmlns:c15="http://schemas.microsoft.com/office/drawing/2012/chart" uri="{02D57815-91ED-43cb-92C2-25804820EDAC}">
              <c15:datalabelsRange>
                <c15:f>Sheet1!$D$7:$D$8</c15:f>
                <c15:dlblRangeCache>
                  <c:ptCount val="2"/>
                  <c:pt idx="1">
                    <c:v>30%</c:v>
                  </c:pt>
                </c15:dlblRangeCache>
              </c15:datalabelsRange>
            </c:ext>
            <c:ext xmlns:c16="http://schemas.microsoft.com/office/drawing/2014/chart" uri="{C3380CC4-5D6E-409C-BE32-E72D297353CC}">
              <c16:uniqueId val="{00000002-ABBB-437E-A9CF-1B40EAB68640}"/>
            </c:ext>
          </c:extLst>
        </c:ser>
        <c:dLbls>
          <c:showLegendKey val="0"/>
          <c:showVal val="0"/>
          <c:showCatName val="0"/>
          <c:showSerName val="0"/>
          <c:showPercent val="0"/>
          <c:showBubbleSize val="0"/>
        </c:dLbls>
        <c:gapWidth val="150"/>
        <c:overlap val="100"/>
        <c:axId val="2138095712"/>
        <c:axId val="2138099552"/>
      </c:barChart>
      <c:lineChart>
        <c:grouping val="standard"/>
        <c:varyColors val="0"/>
        <c:ser>
          <c:idx val="3"/>
          <c:order val="3"/>
          <c:tx>
            <c:strRef>
              <c:f>Sheet1!$E$1</c:f>
              <c:strCache>
                <c:ptCount val="1"/>
                <c:pt idx="0">
                  <c:v>Sum</c:v>
                </c:pt>
              </c:strCache>
            </c:strRef>
          </c:tx>
          <c:spPr>
            <a:ln w="28575" cap="rnd">
              <a:no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6-ABBB-437E-A9CF-1B40EAB68640}"/>
                </c:ext>
              </c:extLst>
            </c:dLbl>
            <c:dLbl>
              <c:idx val="1"/>
              <c:layout>
                <c:manualLayout>
                  <c:x val="6.4935703427511732E-2"/>
                  <c:y val="-2.9690318156436877E-1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BBB-437E-A9CF-1B40EAB6864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Sheet1!$E$2:$E$3</c:f>
              <c:numCache>
                <c:formatCode>General</c:formatCode>
                <c:ptCount val="2"/>
                <c:pt idx="0">
                  <c:v>231</c:v>
                </c:pt>
                <c:pt idx="1">
                  <c:v>359</c:v>
                </c:pt>
              </c:numCache>
            </c:numRef>
          </c:val>
          <c:smooth val="0"/>
          <c:extLst>
            <c:ext xmlns:c16="http://schemas.microsoft.com/office/drawing/2014/chart" uri="{C3380CC4-5D6E-409C-BE32-E72D297353CC}">
              <c16:uniqueId val="{00000005-ABBB-437E-A9CF-1B40EAB68640}"/>
            </c:ext>
          </c:extLst>
        </c:ser>
        <c:dLbls>
          <c:showLegendKey val="0"/>
          <c:showVal val="0"/>
          <c:showCatName val="0"/>
          <c:showSerName val="0"/>
          <c:showPercent val="0"/>
          <c:showBubbleSize val="0"/>
        </c:dLbls>
        <c:marker val="1"/>
        <c:smooth val="0"/>
        <c:axId val="2138095712"/>
        <c:axId val="2138099552"/>
      </c:lineChart>
      <c:catAx>
        <c:axId val="2138095712"/>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8099552"/>
        <c:crosses val="autoZero"/>
        <c:auto val="1"/>
        <c:lblAlgn val="ctr"/>
        <c:lblOffset val="100"/>
        <c:noMultiLvlLbl val="0"/>
      </c:catAx>
      <c:valAx>
        <c:axId val="2138099552"/>
        <c:scaling>
          <c:orientation val="minMax"/>
        </c:scaling>
        <c:delete val="1"/>
        <c:axPos val="l"/>
        <c:numFmt formatCode="General" sourceLinked="1"/>
        <c:majorTickMark val="none"/>
        <c:minorTickMark val="none"/>
        <c:tickLblPos val="nextTo"/>
        <c:crossAx val="2138095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pPr>
      <a:endParaRPr lang="en-US"/>
    </a:p>
  </c:txPr>
  <c:externalData r:id="rId3">
    <c:autoUpdate val="0"/>
  </c:externalData>
  <c:userShapes r:id="rId4"/>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Base</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Sheet1!$B$2:$B$3</c:f>
              <c:numCache>
                <c:formatCode>General</c:formatCode>
                <c:ptCount val="2"/>
                <c:pt idx="0">
                  <c:v>243</c:v>
                </c:pt>
              </c:numCache>
            </c:numRef>
          </c:val>
          <c:extLst>
            <c:ext xmlns:c16="http://schemas.microsoft.com/office/drawing/2014/chart" uri="{C3380CC4-5D6E-409C-BE32-E72D297353CC}">
              <c16:uniqueId val="{00000000-ABBB-437E-A9CF-1B40EAB68640}"/>
            </c:ext>
          </c:extLst>
        </c:ser>
        <c:ser>
          <c:idx val="1"/>
          <c:order val="1"/>
          <c:tx>
            <c:strRef>
              <c:f>Sheet1!$C$1</c:f>
              <c:strCache>
                <c:ptCount val="1"/>
                <c:pt idx="0">
                  <c:v>DBS</c:v>
                </c:pt>
              </c:strCache>
            </c:strRef>
          </c:tx>
          <c:spPr>
            <a:solidFill>
              <a:schemeClr val="accent1"/>
            </a:solidFill>
            <a:ln>
              <a:solidFill>
                <a:schemeClr val="accent1"/>
              </a:solidFill>
            </a:ln>
            <a:effectLst/>
          </c:spPr>
          <c:invertIfNegative val="0"/>
          <c:dLbls>
            <c:dLbl>
              <c:idx val="0"/>
              <c:tx>
                <c:rich>
                  <a:bodyPr/>
                  <a:lstStyle/>
                  <a:p>
                    <a:endParaRPr lang="en-US"/>
                  </a:p>
                </c:rich>
              </c:tx>
              <c:showLegendKey val="0"/>
              <c:showVal val="0"/>
              <c:showCatName val="0"/>
              <c:showSerName val="1"/>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8-ABBB-437E-A9CF-1B40EAB68640}"/>
                </c:ext>
              </c:extLst>
            </c:dLbl>
            <c:dLbl>
              <c:idx val="1"/>
              <c:tx>
                <c:rich>
                  <a:bodyPr/>
                  <a:lstStyle/>
                  <a:p>
                    <a:fld id="{6E95556D-E220-4C9D-8749-13559F26B815}" type="CELLRANGE">
                      <a:rPr lang="en-US"/>
                      <a:pPr/>
                      <a:t>[CELLRANGE]</a:t>
                    </a:fld>
                    <a:r>
                      <a:rPr lang="en-US" baseline="0"/>
                      <a:t>, </a:t>
                    </a:r>
                    <a:fld id="{4D60EE8D-D1A3-4616-8A99-7D09C0F3B641}" type="SERIESNAME">
                      <a:rPr lang="en-US" baseline="0"/>
                      <a:pPr/>
                      <a:t>[SERIES NAME]</a:t>
                    </a:fld>
                    <a:endParaRPr lang="en-US" baseline="0"/>
                  </a:p>
                </c:rich>
              </c:tx>
              <c:showLegendKey val="0"/>
              <c:showVal val="0"/>
              <c:showCatName val="0"/>
              <c:showSerName val="1"/>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ABBB-437E-A9CF-1B40EAB686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Sheet1!$C$2:$C$3</c:f>
              <c:numCache>
                <c:formatCode>General</c:formatCode>
                <c:ptCount val="2"/>
                <c:pt idx="1">
                  <c:v>335.29999999999995</c:v>
                </c:pt>
              </c:numCache>
            </c:numRef>
          </c:val>
          <c:extLst>
            <c:ext xmlns:c15="http://schemas.microsoft.com/office/drawing/2012/chart" uri="{02D57815-91ED-43cb-92C2-25804820EDAC}">
              <c15:datalabelsRange>
                <c15:f>Sheet1!$C$7:$C$8</c15:f>
                <c15:dlblRangeCache>
                  <c:ptCount val="2"/>
                  <c:pt idx="1">
                    <c:v>70%</c:v>
                  </c:pt>
                </c15:dlblRangeCache>
              </c15:datalabelsRange>
            </c:ext>
            <c:ext xmlns:c16="http://schemas.microsoft.com/office/drawing/2014/chart" uri="{C3380CC4-5D6E-409C-BE32-E72D297353CC}">
              <c16:uniqueId val="{00000001-ABBB-437E-A9CF-1B40EAB68640}"/>
            </c:ext>
          </c:extLst>
        </c:ser>
        <c:ser>
          <c:idx val="2"/>
          <c:order val="2"/>
          <c:tx>
            <c:strRef>
              <c:f>Sheet1!$D$1</c:f>
              <c:strCache>
                <c:ptCount val="1"/>
                <c:pt idx="0">
                  <c:v>Others</c:v>
                </c:pt>
              </c:strCache>
            </c:strRef>
          </c:tx>
          <c:spPr>
            <a:solidFill>
              <a:schemeClr val="bg1">
                <a:lumMod val="85000"/>
              </a:schemeClr>
            </a:solidFill>
            <a:ln>
              <a:solidFill>
                <a:schemeClr val="bg1">
                  <a:lumMod val="75000"/>
                </a:schemeClr>
              </a:solidFill>
            </a:ln>
            <a:effectLst/>
          </c:spPr>
          <c:invertIfNegative val="0"/>
          <c:dLbls>
            <c:dLbl>
              <c:idx val="0"/>
              <c:tx>
                <c:rich>
                  <a:bodyPr/>
                  <a:lstStyle/>
                  <a:p>
                    <a:endParaRPr lang="en-US"/>
                  </a:p>
                </c:rich>
              </c:tx>
              <c:showLegendKey val="0"/>
              <c:showVal val="0"/>
              <c:showCatName val="0"/>
              <c:showSerName val="1"/>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A-ABBB-437E-A9CF-1B40EAB68640}"/>
                </c:ext>
              </c:extLst>
            </c:dLbl>
            <c:dLbl>
              <c:idx val="1"/>
              <c:tx>
                <c:rich>
                  <a:bodyPr/>
                  <a:lstStyle/>
                  <a:p>
                    <a:fld id="{82FD0E17-276E-4820-B649-6418EC200E51}" type="CELLRANGE">
                      <a:rPr lang="en-US"/>
                      <a:pPr/>
                      <a:t>[CELLRANGE]</a:t>
                    </a:fld>
                    <a:r>
                      <a:rPr lang="en-US" baseline="0"/>
                      <a:t>, </a:t>
                    </a:r>
                    <a:fld id="{7E62486F-2D06-4004-B405-EC9800AF22A2}" type="SERIESNAME">
                      <a:rPr lang="en-US" baseline="0"/>
                      <a:pPr/>
                      <a:t>[SERIES NAME]</a:t>
                    </a:fld>
                    <a:endParaRPr lang="en-US" baseline="0"/>
                  </a:p>
                </c:rich>
              </c:tx>
              <c:showLegendKey val="0"/>
              <c:showVal val="0"/>
              <c:showCatName val="0"/>
              <c:showSerName val="1"/>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ABBB-437E-A9CF-1B40EAB686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Sheet1!$D$2:$D$3</c:f>
              <c:numCache>
                <c:formatCode>General</c:formatCode>
                <c:ptCount val="2"/>
                <c:pt idx="1">
                  <c:v>143.70000000000002</c:v>
                </c:pt>
              </c:numCache>
            </c:numRef>
          </c:val>
          <c:extLst>
            <c:ext xmlns:c15="http://schemas.microsoft.com/office/drawing/2012/chart" uri="{02D57815-91ED-43cb-92C2-25804820EDAC}">
              <c15:datalabelsRange>
                <c15:f>Sheet1!$D$7:$D$8</c15:f>
                <c15:dlblRangeCache>
                  <c:ptCount val="2"/>
                  <c:pt idx="1">
                    <c:v>30%</c:v>
                  </c:pt>
                </c15:dlblRangeCache>
              </c15:datalabelsRange>
            </c:ext>
            <c:ext xmlns:c16="http://schemas.microsoft.com/office/drawing/2014/chart" uri="{C3380CC4-5D6E-409C-BE32-E72D297353CC}">
              <c16:uniqueId val="{00000002-ABBB-437E-A9CF-1B40EAB68640}"/>
            </c:ext>
          </c:extLst>
        </c:ser>
        <c:dLbls>
          <c:showLegendKey val="0"/>
          <c:showVal val="0"/>
          <c:showCatName val="0"/>
          <c:showSerName val="0"/>
          <c:showPercent val="0"/>
          <c:showBubbleSize val="0"/>
        </c:dLbls>
        <c:gapWidth val="150"/>
        <c:overlap val="100"/>
        <c:axId val="2138095712"/>
        <c:axId val="2138099552"/>
      </c:barChart>
      <c:lineChart>
        <c:grouping val="standard"/>
        <c:varyColors val="0"/>
        <c:ser>
          <c:idx val="3"/>
          <c:order val="3"/>
          <c:tx>
            <c:strRef>
              <c:f>Sheet1!$E$1</c:f>
              <c:strCache>
                <c:ptCount val="1"/>
                <c:pt idx="0">
                  <c:v>Sum</c:v>
                </c:pt>
              </c:strCache>
            </c:strRef>
          </c:tx>
          <c:spPr>
            <a:ln w="28575" cap="rnd">
              <a:no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6-ABBB-437E-A9CF-1B40EAB68640}"/>
                </c:ext>
              </c:extLst>
            </c:dLbl>
            <c:dLbl>
              <c:idx val="1"/>
              <c:layout>
                <c:manualLayout>
                  <c:x val="6.4935703427511732E-2"/>
                  <c:y val="-2.9690318156436877E-1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BBB-437E-A9CF-1B40EAB6864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Sheet1!$E$2:$E$3</c:f>
              <c:numCache>
                <c:formatCode>General</c:formatCode>
                <c:ptCount val="2"/>
                <c:pt idx="0">
                  <c:v>243</c:v>
                </c:pt>
                <c:pt idx="1">
                  <c:v>479</c:v>
                </c:pt>
              </c:numCache>
            </c:numRef>
          </c:val>
          <c:smooth val="0"/>
          <c:extLst>
            <c:ext xmlns:c16="http://schemas.microsoft.com/office/drawing/2014/chart" uri="{C3380CC4-5D6E-409C-BE32-E72D297353CC}">
              <c16:uniqueId val="{00000005-ABBB-437E-A9CF-1B40EAB68640}"/>
            </c:ext>
          </c:extLst>
        </c:ser>
        <c:dLbls>
          <c:showLegendKey val="0"/>
          <c:showVal val="0"/>
          <c:showCatName val="0"/>
          <c:showSerName val="0"/>
          <c:showPercent val="0"/>
          <c:showBubbleSize val="0"/>
        </c:dLbls>
        <c:marker val="1"/>
        <c:smooth val="0"/>
        <c:axId val="2138095712"/>
        <c:axId val="2138099552"/>
      </c:lineChart>
      <c:catAx>
        <c:axId val="2138095712"/>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8099552"/>
        <c:crosses val="autoZero"/>
        <c:auto val="1"/>
        <c:lblAlgn val="ctr"/>
        <c:lblOffset val="100"/>
        <c:noMultiLvlLbl val="0"/>
      </c:catAx>
      <c:valAx>
        <c:axId val="2138099552"/>
        <c:scaling>
          <c:orientation val="minMax"/>
        </c:scaling>
        <c:delete val="1"/>
        <c:axPos val="l"/>
        <c:numFmt formatCode="General" sourceLinked="1"/>
        <c:majorTickMark val="none"/>
        <c:minorTickMark val="none"/>
        <c:tickLblPos val="nextTo"/>
        <c:crossAx val="2138095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pPr>
      <a:endParaRPr lang="en-US"/>
    </a:p>
  </c:txPr>
  <c:externalData r:id="rId3">
    <c:autoUpdate val="0"/>
  </c:externalData>
  <c:userShapes r:id="rId4"/>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Base</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(US$m)</c:v>
                </c:pt>
                <c:pt idx="1">
                  <c:v>Public Offer Demand (US$m)</c:v>
                </c:pt>
              </c:strCache>
            </c:strRef>
          </c:cat>
          <c:val>
            <c:numRef>
              <c:f>Sheet1!$B$2:$B$3</c:f>
              <c:numCache>
                <c:formatCode>General</c:formatCode>
                <c:ptCount val="2"/>
                <c:pt idx="0">
                  <c:v>600</c:v>
                </c:pt>
              </c:numCache>
            </c:numRef>
          </c:val>
          <c:extLst>
            <c:ext xmlns:c16="http://schemas.microsoft.com/office/drawing/2014/chart" uri="{C3380CC4-5D6E-409C-BE32-E72D297353CC}">
              <c16:uniqueId val="{00000000-ABBB-437E-A9CF-1B40EAB68640}"/>
            </c:ext>
          </c:extLst>
        </c:ser>
        <c:ser>
          <c:idx val="1"/>
          <c:order val="1"/>
          <c:tx>
            <c:strRef>
              <c:f>Sheet1!$C$1</c:f>
              <c:strCache>
                <c:ptCount val="1"/>
                <c:pt idx="0">
                  <c:v>DBS</c:v>
                </c:pt>
              </c:strCache>
            </c:strRef>
          </c:tx>
          <c:spPr>
            <a:solidFill>
              <a:schemeClr val="accent1"/>
            </a:solidFill>
            <a:ln>
              <a:solidFill>
                <a:schemeClr val="accent1"/>
              </a:solidFill>
            </a:ln>
            <a:effectLst/>
          </c:spPr>
          <c:invertIfNegative val="0"/>
          <c:dLbls>
            <c:dLbl>
              <c:idx val="0"/>
              <c:tx>
                <c:rich>
                  <a:bodyPr/>
                  <a:lstStyle/>
                  <a:p>
                    <a:endParaRPr lang="en-US"/>
                  </a:p>
                </c:rich>
              </c:tx>
              <c:showLegendKey val="0"/>
              <c:showVal val="0"/>
              <c:showCatName val="0"/>
              <c:showSerName val="1"/>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8-ABBB-437E-A9CF-1B40EAB68640}"/>
                </c:ext>
              </c:extLst>
            </c:dLbl>
            <c:dLbl>
              <c:idx val="1"/>
              <c:tx>
                <c:rich>
                  <a:bodyPr/>
                  <a:lstStyle/>
                  <a:p>
                    <a:fld id="{7CCB8B4D-09C7-4105-B33B-867C9CA58C95}" type="CELLRANGE">
                      <a:rPr lang="en-US"/>
                      <a:pPr/>
                      <a:t>[CELLRANGE]</a:t>
                    </a:fld>
                    <a:r>
                      <a:rPr lang="en-US" baseline="0"/>
                      <a:t>, </a:t>
                    </a:r>
                    <a:fld id="{A3D5ECC0-9700-4942-A4BF-1C816B55F6E7}" type="SERIESNAME">
                      <a:rPr lang="en-US" baseline="0"/>
                      <a:pPr/>
                      <a:t>[SERIES NAME]</a:t>
                    </a:fld>
                    <a:endParaRPr lang="en-US" baseline="0"/>
                  </a:p>
                </c:rich>
              </c:tx>
              <c:showLegendKey val="0"/>
              <c:showVal val="0"/>
              <c:showCatName val="0"/>
              <c:showSerName val="1"/>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ABBB-437E-A9CF-1B40EAB686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(US$m)</c:v>
                </c:pt>
                <c:pt idx="1">
                  <c:v>Public Offer Demand (US$m)</c:v>
                </c:pt>
              </c:strCache>
            </c:strRef>
          </c:cat>
          <c:val>
            <c:numRef>
              <c:f>Sheet1!$C$2:$C$3</c:f>
              <c:numCache>
                <c:formatCode>General</c:formatCode>
                <c:ptCount val="2"/>
                <c:pt idx="1">
                  <c:v>222</c:v>
                </c:pt>
              </c:numCache>
            </c:numRef>
          </c:val>
          <c:extLst>
            <c:ext xmlns:c15="http://schemas.microsoft.com/office/drawing/2012/chart" uri="{02D57815-91ED-43cb-92C2-25804820EDAC}">
              <c15:datalabelsRange>
                <c15:f>Sheet1!$C$7:$C$8</c15:f>
                <c15:dlblRangeCache>
                  <c:ptCount val="2"/>
                  <c:pt idx="1">
                    <c:v>74%</c:v>
                  </c:pt>
                </c15:dlblRangeCache>
              </c15:datalabelsRange>
            </c:ext>
            <c:ext xmlns:c16="http://schemas.microsoft.com/office/drawing/2014/chart" uri="{C3380CC4-5D6E-409C-BE32-E72D297353CC}">
              <c16:uniqueId val="{00000001-ABBB-437E-A9CF-1B40EAB68640}"/>
            </c:ext>
          </c:extLst>
        </c:ser>
        <c:ser>
          <c:idx val="2"/>
          <c:order val="2"/>
          <c:tx>
            <c:strRef>
              <c:f>Sheet1!$D$1</c:f>
              <c:strCache>
                <c:ptCount val="1"/>
                <c:pt idx="0">
                  <c:v>Others</c:v>
                </c:pt>
              </c:strCache>
            </c:strRef>
          </c:tx>
          <c:spPr>
            <a:solidFill>
              <a:schemeClr val="bg1">
                <a:lumMod val="85000"/>
              </a:schemeClr>
            </a:solidFill>
            <a:ln>
              <a:solidFill>
                <a:schemeClr val="bg1">
                  <a:lumMod val="75000"/>
                </a:schemeClr>
              </a:solidFill>
            </a:ln>
            <a:effectLst/>
          </c:spPr>
          <c:invertIfNegative val="0"/>
          <c:dLbls>
            <c:dLbl>
              <c:idx val="0"/>
              <c:tx>
                <c:rich>
                  <a:bodyPr/>
                  <a:lstStyle/>
                  <a:p>
                    <a:endParaRPr lang="en-US"/>
                  </a:p>
                </c:rich>
              </c:tx>
              <c:showLegendKey val="0"/>
              <c:showVal val="0"/>
              <c:showCatName val="0"/>
              <c:showSerName val="1"/>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A-ABBB-437E-A9CF-1B40EAB68640}"/>
                </c:ext>
              </c:extLst>
            </c:dLbl>
            <c:dLbl>
              <c:idx val="1"/>
              <c:tx>
                <c:rich>
                  <a:bodyPr rot="0" spcFirstLastPara="1" vertOverflow="ellipsis" vert="horz" wrap="non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4E49D518-08E6-469C-87D7-5458ADDB592A}" type="CELLRANGE">
                      <a:rPr lang="en-US"/>
                      <a:pPr>
                        <a:defRPr sz="900" b="0" i="0" u="none" strike="noStrike" kern="1200" baseline="0">
                          <a:solidFill>
                            <a:schemeClr val="tx1">
                              <a:lumMod val="75000"/>
                              <a:lumOff val="25000"/>
                            </a:schemeClr>
                          </a:solidFill>
                          <a:latin typeface="+mn-lt"/>
                          <a:ea typeface="+mn-ea"/>
                          <a:cs typeface="+mn-cs"/>
                        </a:defRPr>
                      </a:pPr>
                      <a:t>[CELLRANGE]</a:t>
                    </a:fld>
                    <a:r>
                      <a:rPr lang="en-US" baseline="0"/>
                      <a:t>, </a:t>
                    </a:r>
                    <a:fld id="{66668131-B839-4EC6-922D-C463489E8B9E}" type="SERIESNAME">
                      <a:rPr lang="en-US" baseline="0"/>
                      <a:pPr>
                        <a:defRPr sz="900" b="0" i="0" u="none" strike="noStrike" kern="1200" baseline="0">
                          <a:solidFill>
                            <a:schemeClr val="tx1">
                              <a:lumMod val="75000"/>
                              <a:lumOff val="25000"/>
                            </a:schemeClr>
                          </a:solidFill>
                          <a:latin typeface="+mn-lt"/>
                          <a:ea typeface="+mn-ea"/>
                          <a:cs typeface="+mn-cs"/>
                        </a:defRPr>
                      </a:pPr>
                      <a:t>[SERIES NAME]</a:t>
                    </a:fld>
                    <a:endParaRPr lang="en-US" baseline="0"/>
                  </a:p>
                </c:rich>
              </c:tx>
              <c:numFmt formatCode="#,##0" sourceLinked="0"/>
              <c:spPr>
                <a:noFill/>
                <a:ln>
                  <a:noFill/>
                </a:ln>
                <a:effectLst/>
              </c:spPr>
              <c:showLegendKey val="0"/>
              <c:showVal val="0"/>
              <c:showCatName val="0"/>
              <c:showSerName val="1"/>
              <c:showPercent val="0"/>
              <c:showBubbleSize val="0"/>
              <c:extLst>
                <c:ext xmlns:c15="http://schemas.microsoft.com/office/drawing/2012/chart" uri="{CE6537A1-D6FC-4f65-9D91-7224C49458BB}">
                  <c15:spPr xmlns:c15="http://schemas.microsoft.com/office/drawing/2012/chart">
                    <a:prstGeom prst="rect">
                      <a:avLst/>
                    </a:prstGeom>
                  </c15:spPr>
                  <c15:dlblFieldTable/>
                  <c15:xForSave val="1"/>
                  <c15:showDataLabelsRange val="1"/>
                </c:ext>
                <c:ext xmlns:c16="http://schemas.microsoft.com/office/drawing/2014/chart" uri="{C3380CC4-5D6E-409C-BE32-E72D297353CC}">
                  <c16:uniqueId val="{00000004-ABBB-437E-A9CF-1B40EAB686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(US$m)</c:v>
                </c:pt>
                <c:pt idx="1">
                  <c:v>Public Offer Demand (US$m)</c:v>
                </c:pt>
              </c:strCache>
            </c:strRef>
          </c:cat>
          <c:val>
            <c:numRef>
              <c:f>Sheet1!$D$2:$D$3</c:f>
              <c:numCache>
                <c:formatCode>General</c:formatCode>
                <c:ptCount val="2"/>
                <c:pt idx="1">
                  <c:v>78</c:v>
                </c:pt>
              </c:numCache>
            </c:numRef>
          </c:val>
          <c:extLst>
            <c:ext xmlns:c15="http://schemas.microsoft.com/office/drawing/2012/chart" uri="{02D57815-91ED-43cb-92C2-25804820EDAC}">
              <c15:datalabelsRange>
                <c15:f>Sheet1!$D$7:$D$8</c15:f>
                <c15:dlblRangeCache>
                  <c:ptCount val="2"/>
                  <c:pt idx="1">
                    <c:v>26%</c:v>
                  </c:pt>
                </c15:dlblRangeCache>
              </c15:datalabelsRange>
            </c:ext>
            <c:ext xmlns:c16="http://schemas.microsoft.com/office/drawing/2014/chart" uri="{C3380CC4-5D6E-409C-BE32-E72D297353CC}">
              <c16:uniqueId val="{00000002-ABBB-437E-A9CF-1B40EAB68640}"/>
            </c:ext>
          </c:extLst>
        </c:ser>
        <c:dLbls>
          <c:showLegendKey val="0"/>
          <c:showVal val="0"/>
          <c:showCatName val="0"/>
          <c:showSerName val="0"/>
          <c:showPercent val="0"/>
          <c:showBubbleSize val="0"/>
        </c:dLbls>
        <c:gapWidth val="150"/>
        <c:overlap val="100"/>
        <c:axId val="2138095712"/>
        <c:axId val="2138099552"/>
      </c:barChart>
      <c:lineChart>
        <c:grouping val="standard"/>
        <c:varyColors val="0"/>
        <c:ser>
          <c:idx val="3"/>
          <c:order val="3"/>
          <c:tx>
            <c:strRef>
              <c:f>Sheet1!$E$1</c:f>
              <c:strCache>
                <c:ptCount val="1"/>
                <c:pt idx="0">
                  <c:v>Sum</c:v>
                </c:pt>
              </c:strCache>
            </c:strRef>
          </c:tx>
          <c:spPr>
            <a:ln w="28575" cap="rnd">
              <a:no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6-ABBB-437E-A9CF-1B40EAB68640}"/>
                </c:ext>
              </c:extLst>
            </c:dLbl>
            <c:dLbl>
              <c:idx val="1"/>
              <c:layout>
                <c:manualLayout>
                  <c:x val="6.4935703427511732E-2"/>
                  <c:y val="-2.9690318156436877E-1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BBB-437E-A9CF-1B40EAB6864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(US$m)</c:v>
                </c:pt>
                <c:pt idx="1">
                  <c:v>Public Offer Demand (US$m)</c:v>
                </c:pt>
              </c:strCache>
            </c:strRef>
          </c:cat>
          <c:val>
            <c:numRef>
              <c:f>Sheet1!$E$2:$E$3</c:f>
              <c:numCache>
                <c:formatCode>General</c:formatCode>
                <c:ptCount val="2"/>
                <c:pt idx="0">
                  <c:v>600</c:v>
                </c:pt>
                <c:pt idx="1">
                  <c:v>300</c:v>
                </c:pt>
              </c:numCache>
            </c:numRef>
          </c:val>
          <c:smooth val="0"/>
          <c:extLst>
            <c:ext xmlns:c16="http://schemas.microsoft.com/office/drawing/2014/chart" uri="{C3380CC4-5D6E-409C-BE32-E72D297353CC}">
              <c16:uniqueId val="{00000005-ABBB-437E-A9CF-1B40EAB68640}"/>
            </c:ext>
          </c:extLst>
        </c:ser>
        <c:dLbls>
          <c:showLegendKey val="0"/>
          <c:showVal val="0"/>
          <c:showCatName val="0"/>
          <c:showSerName val="0"/>
          <c:showPercent val="0"/>
          <c:showBubbleSize val="0"/>
        </c:dLbls>
        <c:marker val="1"/>
        <c:smooth val="0"/>
        <c:axId val="2138095712"/>
        <c:axId val="2138099552"/>
      </c:lineChart>
      <c:catAx>
        <c:axId val="2138095712"/>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8099552"/>
        <c:crosses val="autoZero"/>
        <c:auto val="1"/>
        <c:lblAlgn val="ctr"/>
        <c:lblOffset val="100"/>
        <c:noMultiLvlLbl val="0"/>
      </c:catAx>
      <c:valAx>
        <c:axId val="2138099552"/>
        <c:scaling>
          <c:orientation val="minMax"/>
        </c:scaling>
        <c:delete val="1"/>
        <c:axPos val="l"/>
        <c:numFmt formatCode="General" sourceLinked="1"/>
        <c:majorTickMark val="none"/>
        <c:minorTickMark val="none"/>
        <c:tickLblPos val="nextTo"/>
        <c:crossAx val="2138095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pPr>
      <a:endParaRPr lang="en-US"/>
    </a:p>
  </c:txPr>
  <c:externalData r:id="rId1">
    <c:autoUpdate val="0"/>
  </c:externalData>
  <c:userShapes r:id="rId2"/>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Base</c:v>
                </c:pt>
              </c:strCache>
            </c:strRef>
          </c:tx>
          <c:spPr>
            <a:solidFill>
              <a:schemeClr val="bg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Sheet1!$B$2:$B$3</c:f>
              <c:numCache>
                <c:formatCode>General</c:formatCode>
                <c:ptCount val="2"/>
                <c:pt idx="0">
                  <c:v>89</c:v>
                </c:pt>
              </c:numCache>
            </c:numRef>
          </c:val>
          <c:extLst>
            <c:ext xmlns:c16="http://schemas.microsoft.com/office/drawing/2014/chart" uri="{C3380CC4-5D6E-409C-BE32-E72D297353CC}">
              <c16:uniqueId val="{00000000-ABBB-437E-A9CF-1B40EAB68640}"/>
            </c:ext>
          </c:extLst>
        </c:ser>
        <c:ser>
          <c:idx val="1"/>
          <c:order val="1"/>
          <c:tx>
            <c:strRef>
              <c:f>Sheet1!$C$1</c:f>
              <c:strCache>
                <c:ptCount val="1"/>
                <c:pt idx="0">
                  <c:v>DBS</c:v>
                </c:pt>
              </c:strCache>
            </c:strRef>
          </c:tx>
          <c:spPr>
            <a:solidFill>
              <a:schemeClr val="accent1"/>
            </a:solidFill>
            <a:ln>
              <a:solidFill>
                <a:schemeClr val="accent1"/>
              </a:solidFill>
            </a:ln>
            <a:effectLst/>
          </c:spPr>
          <c:invertIfNegative val="0"/>
          <c:dLbls>
            <c:dLbl>
              <c:idx val="0"/>
              <c:tx>
                <c:rich>
                  <a:bodyPr/>
                  <a:lstStyle/>
                  <a:p>
                    <a:endParaRPr lang="en-US"/>
                  </a:p>
                </c:rich>
              </c:tx>
              <c:showLegendKey val="0"/>
              <c:showVal val="0"/>
              <c:showCatName val="0"/>
              <c:showSerName val="1"/>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8-ABBB-437E-A9CF-1B40EAB68640}"/>
                </c:ext>
              </c:extLst>
            </c:dLbl>
            <c:dLbl>
              <c:idx val="1"/>
              <c:tx>
                <c:rich>
                  <a:bodyPr/>
                  <a:lstStyle/>
                  <a:p>
                    <a:fld id="{4B6D98C2-CE12-420F-B119-39ACAF41174C}" type="CELLRANGE">
                      <a:rPr lang="en-US"/>
                      <a:pPr/>
                      <a:t>[CELLRANGE]</a:t>
                    </a:fld>
                    <a:r>
                      <a:rPr lang="en-US" baseline="0"/>
                      <a:t>, </a:t>
                    </a:r>
                    <a:fld id="{388CA3C1-DE4F-4A22-A809-28944658CEA1}" type="SERIESNAME">
                      <a:rPr lang="en-US" baseline="0"/>
                      <a:pPr/>
                      <a:t>[SERIES NAME]</a:t>
                    </a:fld>
                    <a:endParaRPr lang="en-US" baseline="0"/>
                  </a:p>
                </c:rich>
              </c:tx>
              <c:showLegendKey val="0"/>
              <c:showVal val="0"/>
              <c:showCatName val="0"/>
              <c:showSerName val="1"/>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ABBB-437E-A9CF-1B40EAB686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Sheet1!$C$2:$C$3</c:f>
              <c:numCache>
                <c:formatCode>General</c:formatCode>
                <c:ptCount val="2"/>
                <c:pt idx="1">
                  <c:v>78.099999999999994</c:v>
                </c:pt>
              </c:numCache>
            </c:numRef>
          </c:val>
          <c:extLst>
            <c:ext xmlns:c15="http://schemas.microsoft.com/office/drawing/2012/chart" uri="{02D57815-91ED-43cb-92C2-25804820EDAC}">
              <c15:datalabelsRange>
                <c15:f>Sheet1!$C$7:$C$8</c15:f>
                <c15:dlblRangeCache>
                  <c:ptCount val="2"/>
                  <c:pt idx="1">
                    <c:v>71%</c:v>
                  </c:pt>
                </c15:dlblRangeCache>
              </c15:datalabelsRange>
            </c:ext>
            <c:ext xmlns:c16="http://schemas.microsoft.com/office/drawing/2014/chart" uri="{C3380CC4-5D6E-409C-BE32-E72D297353CC}">
              <c16:uniqueId val="{00000001-ABBB-437E-A9CF-1B40EAB68640}"/>
            </c:ext>
          </c:extLst>
        </c:ser>
        <c:ser>
          <c:idx val="2"/>
          <c:order val="2"/>
          <c:tx>
            <c:strRef>
              <c:f>Sheet1!$D$1</c:f>
              <c:strCache>
                <c:ptCount val="1"/>
                <c:pt idx="0">
                  <c:v>Others</c:v>
                </c:pt>
              </c:strCache>
            </c:strRef>
          </c:tx>
          <c:spPr>
            <a:solidFill>
              <a:schemeClr val="bg1">
                <a:lumMod val="85000"/>
              </a:schemeClr>
            </a:solidFill>
            <a:ln>
              <a:solidFill>
                <a:schemeClr val="bg1">
                  <a:lumMod val="75000"/>
                </a:schemeClr>
              </a:solidFill>
            </a:ln>
            <a:effectLst/>
          </c:spPr>
          <c:invertIfNegative val="0"/>
          <c:dLbls>
            <c:dLbl>
              <c:idx val="0"/>
              <c:tx>
                <c:rich>
                  <a:bodyPr/>
                  <a:lstStyle/>
                  <a:p>
                    <a:endParaRPr lang="en-US"/>
                  </a:p>
                </c:rich>
              </c:tx>
              <c:showLegendKey val="0"/>
              <c:showVal val="0"/>
              <c:showCatName val="0"/>
              <c:showSerName val="1"/>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A-ABBB-437E-A9CF-1B40EAB68640}"/>
                </c:ext>
              </c:extLst>
            </c:dLbl>
            <c:dLbl>
              <c:idx val="1"/>
              <c:tx>
                <c:rich>
                  <a:bodyPr/>
                  <a:lstStyle/>
                  <a:p>
                    <a:fld id="{F1DF8066-FA68-4E80-89F8-237EA0DA5158}" type="CELLRANGE">
                      <a:rPr lang="en-US"/>
                      <a:pPr/>
                      <a:t>[CELLRANGE]</a:t>
                    </a:fld>
                    <a:r>
                      <a:rPr lang="en-US" baseline="0"/>
                      <a:t>, </a:t>
                    </a:r>
                    <a:fld id="{844BA086-FC41-42F2-8E75-856291F23534}" type="SERIESNAME">
                      <a:rPr lang="en-US" baseline="0"/>
                      <a:pPr/>
                      <a:t>[SERIES NAME]</a:t>
                    </a:fld>
                    <a:endParaRPr lang="en-US" baseline="0"/>
                  </a:p>
                </c:rich>
              </c:tx>
              <c:showLegendKey val="0"/>
              <c:showVal val="0"/>
              <c:showCatName val="0"/>
              <c:showSerName val="1"/>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ABBB-437E-A9CF-1B40EAB6864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Sheet1!$D$2:$D$3</c:f>
              <c:numCache>
                <c:formatCode>General</c:formatCode>
                <c:ptCount val="2"/>
                <c:pt idx="1">
                  <c:v>31.900000000000006</c:v>
                </c:pt>
              </c:numCache>
            </c:numRef>
          </c:val>
          <c:extLst>
            <c:ext xmlns:c15="http://schemas.microsoft.com/office/drawing/2012/chart" uri="{02D57815-91ED-43cb-92C2-25804820EDAC}">
              <c15:datalabelsRange>
                <c15:f>Sheet1!$D$7:$D$8</c15:f>
                <c15:dlblRangeCache>
                  <c:ptCount val="2"/>
                  <c:pt idx="1">
                    <c:v>29%</c:v>
                  </c:pt>
                </c15:dlblRangeCache>
              </c15:datalabelsRange>
            </c:ext>
            <c:ext xmlns:c16="http://schemas.microsoft.com/office/drawing/2014/chart" uri="{C3380CC4-5D6E-409C-BE32-E72D297353CC}">
              <c16:uniqueId val="{00000002-ABBB-437E-A9CF-1B40EAB68640}"/>
            </c:ext>
          </c:extLst>
        </c:ser>
        <c:dLbls>
          <c:showLegendKey val="0"/>
          <c:showVal val="0"/>
          <c:showCatName val="0"/>
          <c:showSerName val="0"/>
          <c:showPercent val="0"/>
          <c:showBubbleSize val="0"/>
        </c:dLbls>
        <c:gapWidth val="150"/>
        <c:overlap val="100"/>
        <c:axId val="2138095712"/>
        <c:axId val="2138099552"/>
      </c:barChart>
      <c:lineChart>
        <c:grouping val="standard"/>
        <c:varyColors val="0"/>
        <c:ser>
          <c:idx val="3"/>
          <c:order val="3"/>
          <c:tx>
            <c:strRef>
              <c:f>Sheet1!$E$1</c:f>
              <c:strCache>
                <c:ptCount val="1"/>
                <c:pt idx="0">
                  <c:v>Sum</c:v>
                </c:pt>
              </c:strCache>
            </c:strRef>
          </c:tx>
          <c:spPr>
            <a:ln w="28575" cap="rnd">
              <a:no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6-ABBB-437E-A9CF-1B40EAB68640}"/>
                </c:ext>
              </c:extLst>
            </c:dLbl>
            <c:dLbl>
              <c:idx val="1"/>
              <c:layout>
                <c:manualLayout>
                  <c:x val="6.4935703427511732E-2"/>
                  <c:y val="-2.9690318156436877E-17"/>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BBB-437E-A9CF-1B40EAB6864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Base Offering (S$m)</c:v>
                </c:pt>
                <c:pt idx="1">
                  <c:v>Public Offer Demand (S$m)</c:v>
                </c:pt>
              </c:strCache>
            </c:strRef>
          </c:cat>
          <c:val>
            <c:numRef>
              <c:f>Sheet1!$E$2:$E$3</c:f>
              <c:numCache>
                <c:formatCode>General</c:formatCode>
                <c:ptCount val="2"/>
                <c:pt idx="0">
                  <c:v>89</c:v>
                </c:pt>
                <c:pt idx="1">
                  <c:v>110</c:v>
                </c:pt>
              </c:numCache>
            </c:numRef>
          </c:val>
          <c:smooth val="0"/>
          <c:extLst>
            <c:ext xmlns:c16="http://schemas.microsoft.com/office/drawing/2014/chart" uri="{C3380CC4-5D6E-409C-BE32-E72D297353CC}">
              <c16:uniqueId val="{00000005-ABBB-437E-A9CF-1B40EAB68640}"/>
            </c:ext>
          </c:extLst>
        </c:ser>
        <c:dLbls>
          <c:showLegendKey val="0"/>
          <c:showVal val="0"/>
          <c:showCatName val="0"/>
          <c:showSerName val="0"/>
          <c:showPercent val="0"/>
          <c:showBubbleSize val="0"/>
        </c:dLbls>
        <c:marker val="1"/>
        <c:smooth val="0"/>
        <c:axId val="2138095712"/>
        <c:axId val="2138099552"/>
      </c:lineChart>
      <c:catAx>
        <c:axId val="2138095712"/>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8099552"/>
        <c:crosses val="autoZero"/>
        <c:auto val="1"/>
        <c:lblAlgn val="ctr"/>
        <c:lblOffset val="100"/>
        <c:noMultiLvlLbl val="0"/>
      </c:catAx>
      <c:valAx>
        <c:axId val="2138099552"/>
        <c:scaling>
          <c:orientation val="minMax"/>
        </c:scaling>
        <c:delete val="1"/>
        <c:axPos val="l"/>
        <c:numFmt formatCode="General" sourceLinked="1"/>
        <c:majorTickMark val="none"/>
        <c:minorTickMark val="none"/>
        <c:tickLblPos val="nextTo"/>
        <c:crossAx val="2138095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pPr>
      <a:endParaRPr lang="en-US"/>
    </a:p>
  </c:txPr>
  <c:externalData r:id="rId3">
    <c:autoUpdate val="0"/>
  </c:externalData>
  <c:userShapes r:id="rId4"/>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163800201437635"/>
          <c:y val="0.22136532766010036"/>
          <c:w val="0.37033918488360973"/>
          <c:h val="0.65374115580351433"/>
        </c:manualLayout>
      </c:layout>
      <c:doughnutChart>
        <c:varyColors val="1"/>
        <c:ser>
          <c:idx val="0"/>
          <c:order val="0"/>
          <c:tx>
            <c:strRef>
              <c:f>Sheet1!$B$1</c:f>
              <c:strCache>
                <c:ptCount val="1"/>
                <c:pt idx="0">
                  <c:v>Breakdown</c:v>
                </c:pt>
              </c:strCache>
            </c:strRef>
          </c:tx>
          <c:dPt>
            <c:idx val="0"/>
            <c:bubble3D val="0"/>
            <c:spPr>
              <a:solidFill>
                <a:srgbClr val="CC0000"/>
              </a:solidFill>
              <a:ln>
                <a:noFill/>
              </a:ln>
              <a:effectLst/>
            </c:spPr>
            <c:extLst>
              <c:ext xmlns:c16="http://schemas.microsoft.com/office/drawing/2014/chart" uri="{C3380CC4-5D6E-409C-BE32-E72D297353CC}">
                <c16:uniqueId val="{00000001-E58F-44A0-B362-B76A10CB7C46}"/>
              </c:ext>
            </c:extLst>
          </c:dPt>
          <c:dPt>
            <c:idx val="1"/>
            <c:bubble3D val="0"/>
            <c:spPr>
              <a:solidFill>
                <a:sysClr val="windowText" lastClr="000000">
                  <a:lumMod val="50000"/>
                  <a:lumOff val="50000"/>
                </a:sysClr>
              </a:solidFill>
              <a:ln>
                <a:noFill/>
              </a:ln>
              <a:effectLst/>
            </c:spPr>
            <c:extLst>
              <c:ext xmlns:c16="http://schemas.microsoft.com/office/drawing/2014/chart" uri="{C3380CC4-5D6E-409C-BE32-E72D297353CC}">
                <c16:uniqueId val="{00000003-E58F-44A0-B362-B76A10CB7C46}"/>
              </c:ext>
            </c:extLst>
          </c:dPt>
          <c:dPt>
            <c:idx val="2"/>
            <c:bubble3D val="0"/>
            <c:spPr>
              <a:solidFill>
                <a:srgbClr val="FDBBBC"/>
              </a:solidFill>
              <a:ln>
                <a:noFill/>
              </a:ln>
              <a:effectLst/>
            </c:spPr>
            <c:extLst>
              <c:ext xmlns:c16="http://schemas.microsoft.com/office/drawing/2014/chart" uri="{C3380CC4-5D6E-409C-BE32-E72D297353CC}">
                <c16:uniqueId val="{00000005-E58F-44A0-B362-B76A10CB7C46}"/>
              </c:ext>
            </c:extLst>
          </c:dPt>
          <c:dLbls>
            <c:dLbl>
              <c:idx val="0"/>
              <c:layout>
                <c:manualLayout>
                  <c:x val="0.17067504035078807"/>
                  <c:y val="3.8568240638560146E-2"/>
                </c:manualLayout>
              </c:layout>
              <c:tx>
                <c:rich>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fld id="{A64C36F1-E13C-4575-BC33-F7163D21A12C}" type="CATEGORYNAME">
                      <a:rPr lang="en-US">
                        <a:solidFill>
                          <a:srgbClr val="C00000"/>
                        </a:solidFill>
                      </a:rPr>
                      <a:pPr>
                        <a:defRPr sz="1000" b="1">
                          <a:solidFill>
                            <a:srgbClr val="1680C2"/>
                          </a:solidFill>
                        </a:defRPr>
                      </a:pPr>
                      <a:t>[CATEGORY NAME]</a:t>
                    </a:fld>
                    <a:r>
                      <a:rPr lang="en-US" baseline="0">
                        <a:solidFill>
                          <a:srgbClr val="C00000"/>
                        </a:solidFill>
                      </a:rPr>
                      <a:t>
</a:t>
                    </a:r>
                    <a:fld id="{BF235689-A9FA-4A29-85FC-0419F1196861}" type="PERCENTAGE">
                      <a:rPr lang="en-US" baseline="0">
                        <a:solidFill>
                          <a:srgbClr val="C00000"/>
                        </a:solidFill>
                      </a:rPr>
                      <a:pPr>
                        <a:defRPr sz="1000" b="1">
                          <a:solidFill>
                            <a:srgbClr val="1680C2"/>
                          </a:solidFill>
                        </a:defRPr>
                      </a:pPr>
                      <a:t>[PERCENTAGE]</a:t>
                    </a:fld>
                    <a:endParaRPr lang="en-US" baseline="0">
                      <a:solidFill>
                        <a:srgbClr val="C00000"/>
                      </a:solidFill>
                    </a:endParaRPr>
                  </a:p>
                </c:rich>
              </c:tx>
              <c:spPr>
                <a:noFill/>
                <a:ln>
                  <a:noFill/>
                </a:ln>
                <a:effectLst/>
              </c:spPr>
              <c:txPr>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8568698604543782"/>
                      <c:h val="0.33721161188377524"/>
                    </c:manualLayout>
                  </c15:layout>
                  <c15:dlblFieldTable/>
                  <c15:showDataLabelsRange val="0"/>
                </c:ext>
                <c:ext xmlns:c16="http://schemas.microsoft.com/office/drawing/2014/chart" uri="{C3380CC4-5D6E-409C-BE32-E72D297353CC}">
                  <c16:uniqueId val="{00000001-E58F-44A0-B362-B76A10CB7C46}"/>
                </c:ext>
              </c:extLst>
            </c:dLbl>
            <c:dLbl>
              <c:idx val="1"/>
              <c:layout>
                <c:manualLayout>
                  <c:x val="-0.14528042332177848"/>
                  <c:y val="-1.2148120218311987E-2"/>
                </c:manualLayout>
              </c:layout>
              <c:showLegendKey val="0"/>
              <c:showVal val="0"/>
              <c:showCatName val="1"/>
              <c:showSerName val="0"/>
              <c:showPercent val="1"/>
              <c:showBubbleSize val="0"/>
              <c:separator>
</c:separator>
              <c:extLst>
                <c:ext xmlns:c15="http://schemas.microsoft.com/office/drawing/2012/chart" uri="{CE6537A1-D6FC-4f65-9D91-7224C49458BB}">
                  <c15:layout>
                    <c:manualLayout>
                      <c:w val="0.26196083837884826"/>
                      <c:h val="0.32828575968502965"/>
                    </c:manualLayout>
                  </c15:layout>
                </c:ext>
                <c:ext xmlns:c16="http://schemas.microsoft.com/office/drawing/2014/chart" uri="{C3380CC4-5D6E-409C-BE32-E72D297353CC}">
                  <c16:uniqueId val="{00000003-E58F-44A0-B362-B76A10CB7C46}"/>
                </c:ext>
              </c:extLst>
            </c:dLbl>
            <c:dLbl>
              <c:idx val="2"/>
              <c:layout>
                <c:manualLayout>
                  <c:x val="-0.10286796626689346"/>
                  <c:y val="-0.11977064133979246"/>
                </c:manualLayout>
              </c:layout>
              <c:tx>
                <c:rich>
                  <a:bodyPr/>
                  <a:lstStyle/>
                  <a:p>
                    <a:fld id="{337AF735-3745-4288-A5A7-86465DB6FFA9}" type="CATEGORYNAME">
                      <a:rPr lang="en-US"/>
                      <a:pPr/>
                      <a:t>[CATEGORY NAME]</a:t>
                    </a:fld>
                    <a:r>
                      <a:rPr lang="en-US"/>
                      <a:t>
</a:t>
                    </a:r>
                    <a:fld id="{D4A83611-BBFE-4434-AE25-29A621663349}" type="PERCENTAGE">
                      <a:rPr lang="en-US"/>
                      <a:pPr/>
                      <a:t>[PERCENTAGE]</a:t>
                    </a:fld>
                    <a:endParaRPr lang="en-US"/>
                  </a:p>
                </c:rich>
              </c:tx>
              <c:showLegendKey val="0"/>
              <c:showVal val="0"/>
              <c:showCatName val="1"/>
              <c:showSerName val="0"/>
              <c:showPercent val="1"/>
              <c:showBubbleSize val="0"/>
              <c:separator>
</c:separator>
              <c:extLst>
                <c:ext xmlns:c15="http://schemas.microsoft.com/office/drawing/2012/chart" uri="{CE6537A1-D6FC-4f65-9D91-7224C49458BB}">
                  <c15:layout>
                    <c:manualLayout>
                      <c:w val="0.26989596726603382"/>
                      <c:h val="0.34260767499627282"/>
                    </c:manualLayout>
                  </c15:layout>
                  <c15:dlblFieldTable/>
                  <c15:showDataLabelsRange val="0"/>
                </c:ext>
                <c:ext xmlns:c16="http://schemas.microsoft.com/office/drawing/2014/chart" uri="{C3380CC4-5D6E-409C-BE32-E72D297353CC}">
                  <c16:uniqueId val="{00000005-E58F-44A0-B362-B76A10CB7C46}"/>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Sheet1!$A$2:$A$4</c:f>
              <c:strCache>
                <c:ptCount val="3"/>
                <c:pt idx="0">
                  <c:v>DBS</c:v>
                </c:pt>
                <c:pt idx="1">
                  <c:v>UOB</c:v>
                </c:pt>
                <c:pt idx="2">
                  <c:v>MBKE</c:v>
                </c:pt>
              </c:strCache>
            </c:strRef>
          </c:cat>
          <c:val>
            <c:numRef>
              <c:f>Sheet1!$B$2:$B$4</c:f>
              <c:numCache>
                <c:formatCode>0.00%</c:formatCode>
                <c:ptCount val="3"/>
                <c:pt idx="0">
                  <c:v>0.45100000000000001</c:v>
                </c:pt>
                <c:pt idx="1">
                  <c:v>0.30599999999999999</c:v>
                </c:pt>
                <c:pt idx="2">
                  <c:v>0.24299999999999999</c:v>
                </c:pt>
              </c:numCache>
            </c:numRef>
          </c:val>
          <c:extLst>
            <c:ext xmlns:c16="http://schemas.microsoft.com/office/drawing/2014/chart" uri="{C3380CC4-5D6E-409C-BE32-E72D297353CC}">
              <c16:uniqueId val="{00000006-E58F-44A0-B362-B76A10CB7C46}"/>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800">
          <a:latin typeface="+mj-lt"/>
          <a:ea typeface="Open Sans" panose="020B0606030504020204" pitchFamily="34" charset="0"/>
          <a:cs typeface="Open Sans" panose="020B0606030504020204" pitchFamily="34" charset="0"/>
        </a:defRPr>
      </a:pPr>
      <a:endParaRPr lang="en-US"/>
    </a:p>
  </c:txPr>
  <c:externalData r:id="rId4">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163800201437635"/>
          <c:y val="0.22136532766010036"/>
          <c:w val="0.37033918488360973"/>
          <c:h val="0.65374115580351433"/>
        </c:manualLayout>
      </c:layout>
      <c:doughnutChart>
        <c:varyColors val="1"/>
        <c:ser>
          <c:idx val="0"/>
          <c:order val="0"/>
          <c:tx>
            <c:strRef>
              <c:f>Sheet1!$B$1</c:f>
              <c:strCache>
                <c:ptCount val="1"/>
                <c:pt idx="0">
                  <c:v>Breakdown</c:v>
                </c:pt>
              </c:strCache>
            </c:strRef>
          </c:tx>
          <c:dPt>
            <c:idx val="0"/>
            <c:bubble3D val="0"/>
            <c:spPr>
              <a:solidFill>
                <a:srgbClr val="CC0000"/>
              </a:solidFill>
              <a:ln>
                <a:noFill/>
              </a:ln>
              <a:effectLst/>
            </c:spPr>
            <c:extLst>
              <c:ext xmlns:c16="http://schemas.microsoft.com/office/drawing/2014/chart" uri="{C3380CC4-5D6E-409C-BE32-E72D297353CC}">
                <c16:uniqueId val="{00000001-C837-49E9-89F2-DCBCB1A807D6}"/>
              </c:ext>
            </c:extLst>
          </c:dPt>
          <c:dPt>
            <c:idx val="1"/>
            <c:bubble3D val="0"/>
            <c:spPr>
              <a:solidFill>
                <a:sysClr val="windowText" lastClr="000000">
                  <a:lumMod val="50000"/>
                  <a:lumOff val="50000"/>
                </a:sysClr>
              </a:solidFill>
              <a:ln>
                <a:noFill/>
              </a:ln>
              <a:effectLst/>
            </c:spPr>
            <c:extLst>
              <c:ext xmlns:c16="http://schemas.microsoft.com/office/drawing/2014/chart" uri="{C3380CC4-5D6E-409C-BE32-E72D297353CC}">
                <c16:uniqueId val="{00000003-C837-49E9-89F2-DCBCB1A807D6}"/>
              </c:ext>
            </c:extLst>
          </c:dPt>
          <c:dPt>
            <c:idx val="2"/>
            <c:bubble3D val="0"/>
            <c:spPr>
              <a:solidFill>
                <a:srgbClr val="FDBBBC"/>
              </a:solidFill>
              <a:ln>
                <a:noFill/>
              </a:ln>
              <a:effectLst/>
            </c:spPr>
            <c:extLst>
              <c:ext xmlns:c16="http://schemas.microsoft.com/office/drawing/2014/chart" uri="{C3380CC4-5D6E-409C-BE32-E72D297353CC}">
                <c16:uniqueId val="{00000005-C837-49E9-89F2-DCBCB1A807D6}"/>
              </c:ext>
            </c:extLst>
          </c:dPt>
          <c:dLbls>
            <c:dLbl>
              <c:idx val="0"/>
              <c:layout>
                <c:manualLayout>
                  <c:x val="0.15206287297610999"/>
                  <c:y val="8.0786187696079398E-2"/>
                </c:manualLayout>
              </c:layout>
              <c:tx>
                <c:rich>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fld id="{C180B3A1-CB9A-4E43-AE1F-47F9C329E3EF}" type="CATEGORYNAME">
                      <a:rPr lang="en-US" sz="1000" b="1">
                        <a:solidFill>
                          <a:srgbClr val="C00000"/>
                        </a:solidFill>
                      </a:rPr>
                      <a:pPr>
                        <a:defRPr sz="1000" b="1">
                          <a:solidFill>
                            <a:srgbClr val="1680C2"/>
                          </a:solidFill>
                        </a:defRPr>
                      </a:pPr>
                      <a:t>[CATEGORY NAME]</a:t>
                    </a:fld>
                    <a:r>
                      <a:rPr lang="en-US" sz="1000" b="1">
                        <a:solidFill>
                          <a:srgbClr val="C00000"/>
                        </a:solidFill>
                      </a:rPr>
                      <a:t>
</a:t>
                    </a:r>
                    <a:fld id="{01D840BF-A94B-4FFC-8796-069E822C09E2}" type="PERCENTAGE">
                      <a:rPr lang="en-US" sz="1000" b="1">
                        <a:solidFill>
                          <a:srgbClr val="C00000"/>
                        </a:solidFill>
                      </a:rPr>
                      <a:pPr>
                        <a:defRPr sz="1000" b="1">
                          <a:solidFill>
                            <a:srgbClr val="1680C2"/>
                          </a:solidFill>
                        </a:defRPr>
                      </a:pPr>
                      <a:t>[PERCENTAGE]</a:t>
                    </a:fld>
                    <a:endParaRPr lang="en-US" sz="1000" b="1">
                      <a:solidFill>
                        <a:srgbClr val="C00000"/>
                      </a:solidFill>
                    </a:endParaRPr>
                  </a:p>
                </c:rich>
              </c:tx>
              <c:spPr>
                <a:noFill/>
                <a:ln>
                  <a:noFill/>
                </a:ln>
                <a:effectLst/>
              </c:spPr>
              <c:txPr>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8568698604543782"/>
                      <c:h val="0.33721161188377524"/>
                    </c:manualLayout>
                  </c15:layout>
                  <c15:dlblFieldTable/>
                  <c15:showDataLabelsRange val="0"/>
                </c:ext>
                <c:ext xmlns:c16="http://schemas.microsoft.com/office/drawing/2014/chart" uri="{C3380CC4-5D6E-409C-BE32-E72D297353CC}">
                  <c16:uniqueId val="{00000001-C837-49E9-89F2-DCBCB1A807D6}"/>
                </c:ext>
              </c:extLst>
            </c:dLbl>
            <c:dLbl>
              <c:idx val="1"/>
              <c:layout>
                <c:manualLayout>
                  <c:x val="-0.1818457603339052"/>
                  <c:y val="-2.085308844611581E-2"/>
                </c:manualLayout>
              </c:layout>
              <c:tx>
                <c:rich>
                  <a:bodyPr/>
                  <a:lstStyle/>
                  <a:p>
                    <a:fld id="{56327786-8C78-49C0-A184-74C0235A1639}" type="CATEGORYNAME">
                      <a:rPr lang="en-US"/>
                      <a:pPr/>
                      <a:t>[CATEGORY NAME]</a:t>
                    </a:fld>
                    <a:r>
                      <a:rPr lang="en-US"/>
                      <a:t>
</a:t>
                    </a:r>
                    <a:fld id="{837CF25D-2CB5-491F-A244-BDDFB1D1C059}" type="PERCENTAGE">
                      <a:rPr lang="en-US"/>
                      <a:pPr/>
                      <a:t>[PERCENTAGE]</a:t>
                    </a:fld>
                    <a:endParaRPr lang="en-US"/>
                  </a:p>
                </c:rich>
              </c:tx>
              <c:showLegendKey val="0"/>
              <c:showVal val="0"/>
              <c:showCatName val="1"/>
              <c:showSerName val="0"/>
              <c:showPercent val="1"/>
              <c:showBubbleSize val="0"/>
              <c:separator>
</c:separator>
              <c:extLst>
                <c:ext xmlns:c15="http://schemas.microsoft.com/office/drawing/2012/chart" uri="{CE6537A1-D6FC-4f65-9D91-7224C49458BB}">
                  <c15:layout>
                    <c:manualLayout>
                      <c:w val="0.20637674308932683"/>
                      <c:h val="0.32828575968502965"/>
                    </c:manualLayout>
                  </c15:layout>
                  <c15:dlblFieldTable/>
                  <c15:showDataLabelsRange val="0"/>
                </c:ext>
                <c:ext xmlns:c16="http://schemas.microsoft.com/office/drawing/2014/chart" uri="{C3380CC4-5D6E-409C-BE32-E72D297353CC}">
                  <c16:uniqueId val="{00000003-C837-49E9-89F2-DCBCB1A807D6}"/>
                </c:ext>
              </c:extLst>
            </c:dLbl>
            <c:dLbl>
              <c:idx val="2"/>
              <c:layout>
                <c:manualLayout>
                  <c:x val="-0.15683804190229056"/>
                  <c:y val="-8.3097795599509694E-2"/>
                </c:manualLayout>
              </c:layout>
              <c:tx>
                <c:rich>
                  <a:bodyPr rot="0" spcFirstLastPara="1" vertOverflow="ellipsis" vert="horz" wrap="square" anchor="ctr" anchorCtr="0"/>
                  <a:lstStyle/>
                  <a:p>
                    <a:pPr algn="ctr" rtl="0">
                      <a:defRPr lang="en-US" sz="800" b="0" i="0" u="none" strike="noStrike" kern="1200" baseline="0">
                        <a:solidFill>
                          <a:srgbClr val="000000"/>
                        </a:solidFill>
                        <a:latin typeface="+mj-lt"/>
                        <a:ea typeface="Open Sans" panose="020B0606030504020204" pitchFamily="34" charset="0"/>
                        <a:cs typeface="Open Sans" panose="020B0606030504020204" pitchFamily="34" charset="0"/>
                      </a:defRPr>
                    </a:pPr>
                    <a:fld id="{300FD6D6-508B-47B0-B6B0-37350CC05132}" type="CATEGORYNAME">
                      <a:rPr lang="en-US" sz="800" b="0" i="0" u="none" strike="noStrike" kern="1200" baseline="0">
                        <a:solidFill>
                          <a:srgbClr val="000000"/>
                        </a:solidFill>
                        <a:latin typeface="+mj-lt"/>
                        <a:ea typeface="Open Sans" panose="020B0606030504020204" pitchFamily="34" charset="0"/>
                        <a:cs typeface="Open Sans" panose="020B0606030504020204" pitchFamily="34" charset="0"/>
                      </a:rPr>
                      <a:pPr algn="ctr" rtl="0">
                        <a:defRPr lang="en-US">
                          <a:solidFill>
                            <a:srgbClr val="000000"/>
                          </a:solidFill>
                        </a:defRPr>
                      </a:pPr>
                      <a:t>[CATEGORY NAME]</a:t>
                    </a:fld>
                    <a:r>
                      <a:rPr lang="en-US" sz="800" b="0" i="0" u="none" strike="noStrike" kern="1200" baseline="0">
                        <a:solidFill>
                          <a:srgbClr val="000000"/>
                        </a:solidFill>
                        <a:latin typeface="+mj-lt"/>
                        <a:ea typeface="Open Sans" panose="020B0606030504020204" pitchFamily="34" charset="0"/>
                        <a:cs typeface="Open Sans" panose="020B0606030504020204" pitchFamily="34" charset="0"/>
                      </a:rPr>
                      <a:t>
</a:t>
                    </a:r>
                    <a:fld id="{17DA0873-2AD9-4802-9C15-3CA9D872F530}" type="PERCENTAGE">
                      <a:rPr lang="en-US" sz="800" b="0" i="0" u="none" strike="noStrike" kern="1200" baseline="0">
                        <a:solidFill>
                          <a:srgbClr val="000000"/>
                        </a:solidFill>
                        <a:latin typeface="+mj-lt"/>
                        <a:ea typeface="Open Sans" panose="020B0606030504020204" pitchFamily="34" charset="0"/>
                        <a:cs typeface="Open Sans" panose="020B0606030504020204" pitchFamily="34" charset="0"/>
                      </a:rPr>
                      <a:pPr algn="ctr" rtl="0">
                        <a:defRPr lang="en-US">
                          <a:solidFill>
                            <a:srgbClr val="000000"/>
                          </a:solidFill>
                        </a:defRPr>
                      </a:pPr>
                      <a:t>[PERCENTAGE]</a:t>
                    </a:fld>
                    <a:endParaRPr lang="en-US" sz="800" b="0" i="0" u="none" strike="noStrike" kern="1200" baseline="0">
                      <a:solidFill>
                        <a:srgbClr val="000000"/>
                      </a:solidFill>
                      <a:latin typeface="+mj-lt"/>
                      <a:ea typeface="Open Sans" panose="020B0606030504020204" pitchFamily="34" charset="0"/>
                      <a:cs typeface="Open Sans" panose="020B0606030504020204" pitchFamily="34" charset="0"/>
                    </a:endParaRPr>
                  </a:p>
                </c:rich>
              </c:tx>
              <c:spPr>
                <a:noFill/>
                <a:ln>
                  <a:noFill/>
                </a:ln>
                <a:effectLst/>
              </c:spPr>
              <c:txPr>
                <a:bodyPr rot="0" spcFirstLastPara="1" vertOverflow="ellipsis" vert="horz" wrap="square" anchor="ctr" anchorCtr="0"/>
                <a:lstStyle/>
                <a:p>
                  <a:pPr algn="ctr" rtl="0">
                    <a:defRPr lang="en-US" sz="800" b="0" i="0" u="none" strike="noStrike" kern="1200" baseline="0">
                      <a:solidFill>
                        <a:srgbClr val="000000"/>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1554757172454575"/>
                      <c:h val="0.35262578290173507"/>
                    </c:manualLayout>
                  </c15:layout>
                  <c15:dlblFieldTable/>
                  <c15:showDataLabelsRange val="0"/>
                </c:ext>
                <c:ext xmlns:c16="http://schemas.microsoft.com/office/drawing/2014/chart" uri="{C3380CC4-5D6E-409C-BE32-E72D297353CC}">
                  <c16:uniqueId val="{00000005-C837-49E9-89F2-DCBCB1A807D6}"/>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Sheet1!$A$2:$A$4</c:f>
              <c:strCache>
                <c:ptCount val="3"/>
                <c:pt idx="0">
                  <c:v>DBS</c:v>
                </c:pt>
                <c:pt idx="1">
                  <c:v>UOB</c:v>
                </c:pt>
                <c:pt idx="2">
                  <c:v>MBKE</c:v>
                </c:pt>
              </c:strCache>
            </c:strRef>
          </c:cat>
          <c:val>
            <c:numRef>
              <c:f>Sheet1!$B$2:$B$4</c:f>
              <c:numCache>
                <c:formatCode>0.00%</c:formatCode>
                <c:ptCount val="3"/>
                <c:pt idx="0">
                  <c:v>0.42699999999999999</c:v>
                </c:pt>
                <c:pt idx="1">
                  <c:v>0.312</c:v>
                </c:pt>
                <c:pt idx="2">
                  <c:v>0.26100000000000001</c:v>
                </c:pt>
              </c:numCache>
            </c:numRef>
          </c:val>
          <c:extLst>
            <c:ext xmlns:c16="http://schemas.microsoft.com/office/drawing/2014/chart" uri="{C3380CC4-5D6E-409C-BE32-E72D297353CC}">
              <c16:uniqueId val="{00000006-C837-49E9-89F2-DCBCB1A807D6}"/>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800">
          <a:latin typeface="+mj-lt"/>
          <a:ea typeface="Open Sans" panose="020B0606030504020204" pitchFamily="34" charset="0"/>
          <a:cs typeface="Open Sans" panose="020B0606030504020204" pitchFamily="34" charset="0"/>
        </a:defRPr>
      </a:pPr>
      <a:endParaRPr lang="en-US"/>
    </a:p>
  </c:txPr>
  <c:externalData r:id="rId4">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163800201437635"/>
          <c:y val="0.22136532766010036"/>
          <c:w val="0.37033918488360973"/>
          <c:h val="0.65374115580351433"/>
        </c:manualLayout>
      </c:layout>
      <c:doughnutChart>
        <c:varyColors val="1"/>
        <c:ser>
          <c:idx val="0"/>
          <c:order val="0"/>
          <c:tx>
            <c:strRef>
              <c:f>Sheet1!$B$1</c:f>
              <c:strCache>
                <c:ptCount val="1"/>
                <c:pt idx="0">
                  <c:v>Breakdown</c:v>
                </c:pt>
              </c:strCache>
            </c:strRef>
          </c:tx>
          <c:dPt>
            <c:idx val="0"/>
            <c:bubble3D val="0"/>
            <c:spPr>
              <a:solidFill>
                <a:srgbClr val="CC0000"/>
              </a:solidFill>
              <a:ln>
                <a:noFill/>
              </a:ln>
              <a:effectLst/>
            </c:spPr>
            <c:extLst>
              <c:ext xmlns:c16="http://schemas.microsoft.com/office/drawing/2014/chart" uri="{C3380CC4-5D6E-409C-BE32-E72D297353CC}">
                <c16:uniqueId val="{00000001-7873-4F63-ABAD-B875EDE049E2}"/>
              </c:ext>
            </c:extLst>
          </c:dPt>
          <c:dPt>
            <c:idx val="1"/>
            <c:bubble3D val="0"/>
            <c:spPr>
              <a:solidFill>
                <a:sysClr val="windowText" lastClr="000000">
                  <a:lumMod val="50000"/>
                  <a:lumOff val="50000"/>
                </a:sysClr>
              </a:solidFill>
              <a:ln>
                <a:noFill/>
              </a:ln>
              <a:effectLst/>
            </c:spPr>
            <c:extLst>
              <c:ext xmlns:c16="http://schemas.microsoft.com/office/drawing/2014/chart" uri="{C3380CC4-5D6E-409C-BE32-E72D297353CC}">
                <c16:uniqueId val="{00000003-7873-4F63-ABAD-B875EDE049E2}"/>
              </c:ext>
            </c:extLst>
          </c:dPt>
          <c:dPt>
            <c:idx val="2"/>
            <c:bubble3D val="0"/>
            <c:spPr>
              <a:solidFill>
                <a:srgbClr val="FDBBBC"/>
              </a:solidFill>
              <a:ln>
                <a:noFill/>
              </a:ln>
              <a:effectLst/>
            </c:spPr>
            <c:extLst>
              <c:ext xmlns:c16="http://schemas.microsoft.com/office/drawing/2014/chart" uri="{C3380CC4-5D6E-409C-BE32-E72D297353CC}">
                <c16:uniqueId val="{00000005-7873-4F63-ABAD-B875EDE049E2}"/>
              </c:ext>
            </c:extLst>
          </c:dPt>
          <c:dLbls>
            <c:dLbl>
              <c:idx val="0"/>
              <c:layout>
                <c:manualLayout>
                  <c:x val="0.18308315193390678"/>
                  <c:y val="8.5144514552423362E-3"/>
                </c:manualLayout>
              </c:layout>
              <c:tx>
                <c:rich>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fld id="{262869CD-B110-4D6D-8445-792E74CE0703}" type="CATEGORYNAME">
                      <a:rPr lang="en-US">
                        <a:solidFill>
                          <a:srgbClr val="C00000"/>
                        </a:solidFill>
                      </a:rPr>
                      <a:pPr>
                        <a:defRPr sz="1000" b="1">
                          <a:solidFill>
                            <a:srgbClr val="1680C2"/>
                          </a:solidFill>
                        </a:defRPr>
                      </a:pPr>
                      <a:t>[CATEGORY NAME]</a:t>
                    </a:fld>
                    <a:r>
                      <a:rPr lang="en-US" baseline="0">
                        <a:solidFill>
                          <a:srgbClr val="C00000"/>
                        </a:solidFill>
                      </a:rPr>
                      <a:t>
</a:t>
                    </a:r>
                    <a:fld id="{1A07E14C-5F39-4797-AAEE-385E9EA52BA5}" type="PERCENTAGE">
                      <a:rPr lang="en-US" baseline="0">
                        <a:solidFill>
                          <a:srgbClr val="C00000"/>
                        </a:solidFill>
                      </a:rPr>
                      <a:pPr>
                        <a:defRPr sz="1000" b="1">
                          <a:solidFill>
                            <a:srgbClr val="1680C2"/>
                          </a:solidFill>
                        </a:defRPr>
                      </a:pPr>
                      <a:t>[PERCENTAGE]</a:t>
                    </a:fld>
                    <a:endParaRPr lang="en-US" baseline="0">
                      <a:solidFill>
                        <a:srgbClr val="C00000"/>
                      </a:solidFill>
                    </a:endParaRPr>
                  </a:p>
                </c:rich>
              </c:tx>
              <c:spPr>
                <a:noFill/>
                <a:ln>
                  <a:noFill/>
                </a:ln>
                <a:effectLst/>
              </c:spPr>
              <c:txPr>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8568698604543782"/>
                      <c:h val="0.33721161188377524"/>
                    </c:manualLayout>
                  </c15:layout>
                  <c15:dlblFieldTable/>
                  <c15:showDataLabelsRange val="0"/>
                </c:ext>
                <c:ext xmlns:c16="http://schemas.microsoft.com/office/drawing/2014/chart" uri="{C3380CC4-5D6E-409C-BE32-E72D297353CC}">
                  <c16:uniqueId val="{00000001-7873-4F63-ABAD-B875EDE049E2}"/>
                </c:ext>
              </c:extLst>
            </c:dLbl>
            <c:dLbl>
              <c:idx val="1"/>
              <c:layout>
                <c:manualLayout>
                  <c:x val="-0.13907636753021912"/>
                  <c:y val="1.7905668965005873E-2"/>
                </c:manualLayout>
              </c:layout>
              <c:showLegendKey val="0"/>
              <c:showVal val="0"/>
              <c:showCatName val="1"/>
              <c:showSerName val="0"/>
              <c:showPercent val="1"/>
              <c:showBubbleSize val="0"/>
              <c:separator>
</c:separator>
              <c:extLst>
                <c:ext xmlns:c15="http://schemas.microsoft.com/office/drawing/2012/chart" uri="{CE6537A1-D6FC-4f65-9D91-7224C49458BB}">
                  <c15:layout>
                    <c:manualLayout>
                      <c:w val="0.26196083837884826"/>
                      <c:h val="0.32828575968502965"/>
                    </c:manualLayout>
                  </c15:layout>
                </c:ext>
                <c:ext xmlns:c16="http://schemas.microsoft.com/office/drawing/2014/chart" uri="{C3380CC4-5D6E-409C-BE32-E72D297353CC}">
                  <c16:uniqueId val="{00000003-7873-4F63-ABAD-B875EDE049E2}"/>
                </c:ext>
              </c:extLst>
            </c:dLbl>
            <c:dLbl>
              <c:idx val="2"/>
              <c:layout>
                <c:manualLayout>
                  <c:x val="-0.10286796626689346"/>
                  <c:y val="-0.11977064133979246"/>
                </c:manualLayout>
              </c:layout>
              <c:tx>
                <c:rich>
                  <a:bodyPr/>
                  <a:lstStyle/>
                  <a:p>
                    <a:fld id="{337AF735-3745-4288-A5A7-86465DB6FFA9}" type="CATEGORYNAME">
                      <a:rPr lang="en-US"/>
                      <a:pPr/>
                      <a:t>[CATEGORY NAME]</a:t>
                    </a:fld>
                    <a:r>
                      <a:rPr lang="en-US"/>
                      <a:t>
</a:t>
                    </a:r>
                    <a:fld id="{D4A83611-BBFE-4434-AE25-29A621663349}" type="PERCENTAGE">
                      <a:rPr lang="en-US"/>
                      <a:pPr/>
                      <a:t>[PERCENTAGE]</a:t>
                    </a:fld>
                    <a:endParaRPr lang="en-US"/>
                  </a:p>
                </c:rich>
              </c:tx>
              <c:showLegendKey val="0"/>
              <c:showVal val="0"/>
              <c:showCatName val="1"/>
              <c:showSerName val="0"/>
              <c:showPercent val="1"/>
              <c:showBubbleSize val="0"/>
              <c:separator>
</c:separator>
              <c:extLst>
                <c:ext xmlns:c15="http://schemas.microsoft.com/office/drawing/2012/chart" uri="{CE6537A1-D6FC-4f65-9D91-7224C49458BB}">
                  <c15:layout>
                    <c:manualLayout>
                      <c:w val="0.26989596726603382"/>
                      <c:h val="0.34260767499627282"/>
                    </c:manualLayout>
                  </c15:layout>
                  <c15:dlblFieldTable/>
                  <c15:showDataLabelsRange val="0"/>
                </c:ext>
                <c:ext xmlns:c16="http://schemas.microsoft.com/office/drawing/2014/chart" uri="{C3380CC4-5D6E-409C-BE32-E72D297353CC}">
                  <c16:uniqueId val="{00000005-7873-4F63-ABAD-B875EDE049E2}"/>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Sheet1!$A$2:$A$4</c:f>
              <c:strCache>
                <c:ptCount val="3"/>
                <c:pt idx="0">
                  <c:v>DBS</c:v>
                </c:pt>
                <c:pt idx="1">
                  <c:v>CS</c:v>
                </c:pt>
                <c:pt idx="2">
                  <c:v>MS</c:v>
                </c:pt>
              </c:strCache>
            </c:strRef>
          </c:cat>
          <c:val>
            <c:numRef>
              <c:f>Sheet1!$B$2:$B$4</c:f>
              <c:numCache>
                <c:formatCode>0.00%</c:formatCode>
                <c:ptCount val="3"/>
                <c:pt idx="0">
                  <c:v>0.60699999999999998</c:v>
                </c:pt>
                <c:pt idx="1">
                  <c:v>0.22900000000000001</c:v>
                </c:pt>
                <c:pt idx="2">
                  <c:v>0.16400000000000001</c:v>
                </c:pt>
              </c:numCache>
            </c:numRef>
          </c:val>
          <c:extLst>
            <c:ext xmlns:c16="http://schemas.microsoft.com/office/drawing/2014/chart" uri="{C3380CC4-5D6E-409C-BE32-E72D297353CC}">
              <c16:uniqueId val="{00000006-7873-4F63-ABAD-B875EDE049E2}"/>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800">
          <a:latin typeface="+mj-lt"/>
          <a:ea typeface="Open Sans" panose="020B0606030504020204" pitchFamily="34" charset="0"/>
          <a:cs typeface="Open Sans" panose="020B0606030504020204" pitchFamily="34" charset="0"/>
        </a:defRPr>
      </a:pPr>
      <a:endParaRPr lang="en-US"/>
    </a:p>
  </c:txPr>
  <c:externalData r:id="rId4">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163800201437635"/>
          <c:y val="0.22136532766010036"/>
          <c:w val="0.37033918488360973"/>
          <c:h val="0.65374115580351433"/>
        </c:manualLayout>
      </c:layout>
      <c:doughnutChart>
        <c:varyColors val="1"/>
        <c:ser>
          <c:idx val="0"/>
          <c:order val="0"/>
          <c:tx>
            <c:strRef>
              <c:f>Sheet1!$B$1</c:f>
              <c:strCache>
                <c:ptCount val="1"/>
                <c:pt idx="0">
                  <c:v>Breakdown</c:v>
                </c:pt>
              </c:strCache>
            </c:strRef>
          </c:tx>
          <c:dPt>
            <c:idx val="0"/>
            <c:bubble3D val="0"/>
            <c:spPr>
              <a:solidFill>
                <a:srgbClr val="CC0000"/>
              </a:solidFill>
              <a:ln>
                <a:noFill/>
              </a:ln>
              <a:effectLst/>
            </c:spPr>
            <c:extLst>
              <c:ext xmlns:c16="http://schemas.microsoft.com/office/drawing/2014/chart" uri="{C3380CC4-5D6E-409C-BE32-E72D297353CC}">
                <c16:uniqueId val="{00000001-BD72-4647-8522-8D3124A8BBC8}"/>
              </c:ext>
            </c:extLst>
          </c:dPt>
          <c:dPt>
            <c:idx val="1"/>
            <c:bubble3D val="0"/>
            <c:spPr>
              <a:solidFill>
                <a:sysClr val="windowText" lastClr="000000">
                  <a:lumMod val="50000"/>
                  <a:lumOff val="50000"/>
                </a:sysClr>
              </a:solidFill>
              <a:ln>
                <a:noFill/>
              </a:ln>
              <a:effectLst/>
            </c:spPr>
            <c:extLst>
              <c:ext xmlns:c16="http://schemas.microsoft.com/office/drawing/2014/chart" uri="{C3380CC4-5D6E-409C-BE32-E72D297353CC}">
                <c16:uniqueId val="{00000003-BD72-4647-8522-8D3124A8BBC8}"/>
              </c:ext>
            </c:extLst>
          </c:dPt>
          <c:dPt>
            <c:idx val="2"/>
            <c:bubble3D val="0"/>
            <c:spPr>
              <a:solidFill>
                <a:schemeClr val="accent3"/>
              </a:solidFill>
              <a:ln>
                <a:noFill/>
              </a:ln>
              <a:effectLst/>
            </c:spPr>
            <c:extLst>
              <c:ext xmlns:c16="http://schemas.microsoft.com/office/drawing/2014/chart" uri="{C3380CC4-5D6E-409C-BE32-E72D297353CC}">
                <c16:uniqueId val="{00000005-BD72-4647-8522-8D3124A8BBC8}"/>
              </c:ext>
            </c:extLst>
          </c:dPt>
          <c:dLbls>
            <c:dLbl>
              <c:idx val="0"/>
              <c:layout>
                <c:manualLayout>
                  <c:x val="0.30096021197353456"/>
                  <c:y val="-0.11306891608318972"/>
                </c:manualLayout>
              </c:layout>
              <c:tx>
                <c:rich>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fld id="{C180B3A1-CB9A-4E43-AE1F-47F9C329E3EF}" type="CATEGORYNAME">
                      <a:rPr lang="en-US" sz="1000" b="1">
                        <a:solidFill>
                          <a:srgbClr val="C00000"/>
                        </a:solidFill>
                      </a:rPr>
                      <a:pPr>
                        <a:defRPr sz="1000" b="1">
                          <a:solidFill>
                            <a:srgbClr val="1680C2"/>
                          </a:solidFill>
                        </a:defRPr>
                      </a:pPr>
                      <a:t>[CATEGORY NAME]</a:t>
                    </a:fld>
                    <a:r>
                      <a:rPr lang="en-US" sz="1000" b="1">
                        <a:solidFill>
                          <a:srgbClr val="C00000"/>
                        </a:solidFill>
                      </a:rPr>
                      <a:t>
</a:t>
                    </a:r>
                    <a:fld id="{01D840BF-A94B-4FFC-8796-069E822C09E2}" type="PERCENTAGE">
                      <a:rPr lang="en-US" sz="1000" b="1">
                        <a:solidFill>
                          <a:srgbClr val="C00000"/>
                        </a:solidFill>
                      </a:rPr>
                      <a:pPr>
                        <a:defRPr sz="1000" b="1">
                          <a:solidFill>
                            <a:srgbClr val="1680C2"/>
                          </a:solidFill>
                        </a:defRPr>
                      </a:pPr>
                      <a:t>[PERCENTAGE]</a:t>
                    </a:fld>
                    <a:endParaRPr lang="en-US" sz="1000" b="1">
                      <a:solidFill>
                        <a:srgbClr val="C00000"/>
                      </a:solidFill>
                    </a:endParaRPr>
                  </a:p>
                </c:rich>
              </c:tx>
              <c:spPr>
                <a:noFill/>
                <a:ln>
                  <a:noFill/>
                </a:ln>
                <a:effectLst/>
              </c:spPr>
              <c:txPr>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8568698604543782"/>
                      <c:h val="0.33721161188377524"/>
                    </c:manualLayout>
                  </c15:layout>
                  <c15:dlblFieldTable/>
                  <c15:showDataLabelsRange val="0"/>
                </c:ext>
                <c:ext xmlns:c16="http://schemas.microsoft.com/office/drawing/2014/chart" uri="{C3380CC4-5D6E-409C-BE32-E72D297353CC}">
                  <c16:uniqueId val="{00000001-BD72-4647-8522-8D3124A8BBC8}"/>
                </c:ext>
              </c:extLst>
            </c:dLbl>
            <c:dLbl>
              <c:idx val="1"/>
              <c:layout>
                <c:manualLayout>
                  <c:x val="-0.22527415087482072"/>
                  <c:y val="-1.0298560179510087E-2"/>
                </c:manualLayout>
              </c:layout>
              <c:tx>
                <c:rich>
                  <a:bodyPr rot="0" spcFirstLastPara="1" vertOverflow="ellipsis" vert="horz" wrap="square" anchor="ctr" anchorCtr="1"/>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fld id="{56327786-8C78-49C0-A184-74C0235A1639}" type="CATEGORYNAME">
                      <a:rPr lang="en-US"/>
                      <a:pPr>
                        <a:defRPr/>
                      </a:pPr>
                      <a:t>[CATEGORY NAME]</a:t>
                    </a:fld>
                    <a:r>
                      <a:rPr lang="en-US"/>
                      <a:t>
</a:t>
                    </a:r>
                    <a:fld id="{837CF25D-2CB5-491F-A244-BDDFB1D1C059}" type="PERCENTAGE">
                      <a:rPr lang="en-US"/>
                      <a:pPr>
                        <a:defRPr/>
                      </a:pPr>
                      <a:t>[PERCENTAGE]</a:t>
                    </a:fld>
                    <a:endParaRPr lang="en-US"/>
                  </a:p>
                </c:rich>
              </c:tx>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0637674308932683"/>
                      <c:h val="0.32828575968502965"/>
                    </c:manualLayout>
                  </c15:layout>
                  <c15:dlblFieldTable/>
                  <c15:showDataLabelsRange val="0"/>
                </c:ext>
                <c:ext xmlns:c16="http://schemas.microsoft.com/office/drawing/2014/chart" uri="{C3380CC4-5D6E-409C-BE32-E72D297353CC}">
                  <c16:uniqueId val="{00000003-BD72-4647-8522-8D3124A8BBC8}"/>
                </c:ext>
              </c:extLst>
            </c:dLbl>
            <c:dLbl>
              <c:idx val="2"/>
              <c:delete val="1"/>
              <c:extLst>
                <c:ext xmlns:c15="http://schemas.microsoft.com/office/drawing/2012/chart" uri="{CE6537A1-D6FC-4f65-9D91-7224C49458BB}">
                  <c15:layout>
                    <c:manualLayout>
                      <c:w val="0.21554757172454575"/>
                      <c:h val="0.35262578290173507"/>
                    </c:manualLayout>
                  </c15:layout>
                </c:ext>
                <c:ext xmlns:c16="http://schemas.microsoft.com/office/drawing/2014/chart" uri="{C3380CC4-5D6E-409C-BE32-E72D297353CC}">
                  <c16:uniqueId val="{00000005-BD72-4647-8522-8D3124A8BBC8}"/>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Sheet1!$A$2:$A$4</c:f>
              <c:strCache>
                <c:ptCount val="3"/>
                <c:pt idx="0">
                  <c:v>DBS</c:v>
                </c:pt>
                <c:pt idx="1">
                  <c:v>CS</c:v>
                </c:pt>
                <c:pt idx="2">
                  <c:v>MS</c:v>
                </c:pt>
              </c:strCache>
            </c:strRef>
          </c:cat>
          <c:val>
            <c:numRef>
              <c:f>Sheet1!$B$2:$B$4</c:f>
              <c:numCache>
                <c:formatCode>0.00%</c:formatCode>
                <c:ptCount val="3"/>
                <c:pt idx="0">
                  <c:v>0.98199999999999998</c:v>
                </c:pt>
                <c:pt idx="1">
                  <c:v>1.7999999999999999E-2</c:v>
                </c:pt>
                <c:pt idx="2">
                  <c:v>0</c:v>
                </c:pt>
              </c:numCache>
            </c:numRef>
          </c:val>
          <c:extLst>
            <c:ext xmlns:c16="http://schemas.microsoft.com/office/drawing/2014/chart" uri="{C3380CC4-5D6E-409C-BE32-E72D297353CC}">
              <c16:uniqueId val="{00000006-BD72-4647-8522-8D3124A8BBC8}"/>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800">
          <a:latin typeface="+mj-lt"/>
          <a:ea typeface="Open Sans" panose="020B0606030504020204" pitchFamily="34" charset="0"/>
          <a:cs typeface="Open Sans" panose="020B0606030504020204" pitchFamily="34" charset="0"/>
        </a:defRPr>
      </a:pPr>
      <a:endParaRPr lang="en-US"/>
    </a:p>
  </c:txPr>
  <c:externalData r:id="rId4">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163800201437635"/>
          <c:y val="0.22136532766010036"/>
          <c:w val="0.37033918488360973"/>
          <c:h val="0.65374115580351433"/>
        </c:manualLayout>
      </c:layout>
      <c:doughnutChart>
        <c:varyColors val="1"/>
        <c:ser>
          <c:idx val="0"/>
          <c:order val="0"/>
          <c:tx>
            <c:strRef>
              <c:f>Sheet1!$B$1</c:f>
              <c:strCache>
                <c:ptCount val="1"/>
                <c:pt idx="0">
                  <c:v>Breakdown</c:v>
                </c:pt>
              </c:strCache>
            </c:strRef>
          </c:tx>
          <c:dPt>
            <c:idx val="0"/>
            <c:bubble3D val="0"/>
            <c:spPr>
              <a:solidFill>
                <a:srgbClr val="CC0000"/>
              </a:solidFill>
              <a:ln>
                <a:noFill/>
              </a:ln>
              <a:effectLst/>
            </c:spPr>
            <c:extLst>
              <c:ext xmlns:c16="http://schemas.microsoft.com/office/drawing/2014/chart" uri="{C3380CC4-5D6E-409C-BE32-E72D297353CC}">
                <c16:uniqueId val="{00000001-0EFD-4FF3-A9E7-C483A17BF826}"/>
              </c:ext>
            </c:extLst>
          </c:dPt>
          <c:dPt>
            <c:idx val="1"/>
            <c:bubble3D val="0"/>
            <c:spPr>
              <a:solidFill>
                <a:sysClr val="windowText" lastClr="000000">
                  <a:lumMod val="50000"/>
                  <a:lumOff val="50000"/>
                </a:sysClr>
              </a:solidFill>
              <a:ln>
                <a:noFill/>
              </a:ln>
              <a:effectLst/>
            </c:spPr>
            <c:extLst>
              <c:ext xmlns:c16="http://schemas.microsoft.com/office/drawing/2014/chart" uri="{C3380CC4-5D6E-409C-BE32-E72D297353CC}">
                <c16:uniqueId val="{00000003-0EFD-4FF3-A9E7-C483A17BF826}"/>
              </c:ext>
            </c:extLst>
          </c:dPt>
          <c:dPt>
            <c:idx val="2"/>
            <c:bubble3D val="0"/>
            <c:spPr>
              <a:solidFill>
                <a:schemeClr val="accent3"/>
              </a:solidFill>
              <a:ln>
                <a:noFill/>
              </a:ln>
              <a:effectLst/>
            </c:spPr>
            <c:extLst>
              <c:ext xmlns:c16="http://schemas.microsoft.com/office/drawing/2014/chart" uri="{C3380CC4-5D6E-409C-BE32-E72D297353CC}">
                <c16:uniqueId val="{00000005-0EFD-4FF3-A9E7-C483A17BF826}"/>
              </c:ext>
            </c:extLst>
          </c:dPt>
          <c:dPt>
            <c:idx val="3"/>
            <c:bubble3D val="0"/>
            <c:spPr>
              <a:solidFill>
                <a:schemeClr val="accent4"/>
              </a:solidFill>
              <a:ln>
                <a:noFill/>
              </a:ln>
              <a:effectLst/>
            </c:spPr>
            <c:extLst>
              <c:ext xmlns:c16="http://schemas.microsoft.com/office/drawing/2014/chart" uri="{C3380CC4-5D6E-409C-BE32-E72D297353CC}">
                <c16:uniqueId val="{00000006-CC78-435D-9D5E-0B19DB2D6AA2}"/>
              </c:ext>
            </c:extLst>
          </c:dPt>
          <c:dPt>
            <c:idx val="4"/>
            <c:bubble3D val="0"/>
            <c:spPr>
              <a:solidFill>
                <a:schemeClr val="accent5"/>
              </a:solidFill>
              <a:ln>
                <a:noFill/>
              </a:ln>
              <a:effectLst/>
            </c:spPr>
            <c:extLst>
              <c:ext xmlns:c16="http://schemas.microsoft.com/office/drawing/2014/chart" uri="{C3380CC4-5D6E-409C-BE32-E72D297353CC}">
                <c16:uniqueId val="{00000008-CC78-435D-9D5E-0B19DB2D6AA2}"/>
              </c:ext>
            </c:extLst>
          </c:dPt>
          <c:dPt>
            <c:idx val="5"/>
            <c:bubble3D val="0"/>
            <c:spPr>
              <a:solidFill>
                <a:schemeClr val="accent6"/>
              </a:solidFill>
              <a:ln>
                <a:noFill/>
              </a:ln>
              <a:effectLst/>
            </c:spPr>
            <c:extLst>
              <c:ext xmlns:c16="http://schemas.microsoft.com/office/drawing/2014/chart" uri="{C3380CC4-5D6E-409C-BE32-E72D297353CC}">
                <c16:uniqueId val="{00000007-CC78-435D-9D5E-0B19DB2D6AA2}"/>
              </c:ext>
            </c:extLst>
          </c:dPt>
          <c:dLbls>
            <c:dLbl>
              <c:idx val="0"/>
              <c:layout>
                <c:manualLayout>
                  <c:x val="0.18308315193390678"/>
                  <c:y val="8.5144514552423362E-3"/>
                </c:manualLayout>
              </c:layout>
              <c:tx>
                <c:rich>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fld id="{262869CD-B110-4D6D-8445-792E74CE0703}" type="CATEGORYNAME">
                      <a:rPr lang="en-US">
                        <a:solidFill>
                          <a:srgbClr val="C00000"/>
                        </a:solidFill>
                      </a:rPr>
                      <a:pPr>
                        <a:defRPr sz="1000" b="1">
                          <a:solidFill>
                            <a:srgbClr val="1680C2"/>
                          </a:solidFill>
                        </a:defRPr>
                      </a:pPr>
                      <a:t>[CATEGORY NAME]</a:t>
                    </a:fld>
                    <a:r>
                      <a:rPr lang="en-US" baseline="0">
                        <a:solidFill>
                          <a:srgbClr val="C00000"/>
                        </a:solidFill>
                      </a:rPr>
                      <a:t>
</a:t>
                    </a:r>
                    <a:fld id="{1A07E14C-5F39-4797-AAEE-385E9EA52BA5}" type="PERCENTAGE">
                      <a:rPr lang="en-US" baseline="0">
                        <a:solidFill>
                          <a:srgbClr val="C00000"/>
                        </a:solidFill>
                      </a:rPr>
                      <a:pPr>
                        <a:defRPr sz="1000" b="1">
                          <a:solidFill>
                            <a:srgbClr val="1680C2"/>
                          </a:solidFill>
                        </a:defRPr>
                      </a:pPr>
                      <a:t>[PERCENTAGE]</a:t>
                    </a:fld>
                    <a:endParaRPr lang="en-US" baseline="0">
                      <a:solidFill>
                        <a:srgbClr val="C00000"/>
                      </a:solidFill>
                    </a:endParaRPr>
                  </a:p>
                </c:rich>
              </c:tx>
              <c:spPr>
                <a:noFill/>
                <a:ln>
                  <a:noFill/>
                </a:ln>
                <a:effectLst/>
              </c:spPr>
              <c:txPr>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8568698604543782"/>
                      <c:h val="0.33721161188377524"/>
                    </c:manualLayout>
                  </c15:layout>
                  <c15:dlblFieldTable/>
                  <c15:showDataLabelsRange val="0"/>
                </c:ext>
                <c:ext xmlns:c16="http://schemas.microsoft.com/office/drawing/2014/chart" uri="{C3380CC4-5D6E-409C-BE32-E72D297353CC}">
                  <c16:uniqueId val="{00000001-0EFD-4FF3-A9E7-C483A17BF826}"/>
                </c:ext>
              </c:extLst>
            </c:dLbl>
            <c:dLbl>
              <c:idx val="1"/>
              <c:layout>
                <c:manualLayout>
                  <c:x val="0.18973858942242683"/>
                  <c:y val="7.3004282467755283E-2"/>
                </c:manualLayout>
              </c:layout>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6196063795279839"/>
                      <c:h val="0.27819633091351681"/>
                    </c:manualLayout>
                  </c15:layout>
                </c:ext>
                <c:ext xmlns:c16="http://schemas.microsoft.com/office/drawing/2014/chart" uri="{C3380CC4-5D6E-409C-BE32-E72D297353CC}">
                  <c16:uniqueId val="{00000003-0EFD-4FF3-A9E7-C483A17BF826}"/>
                </c:ext>
              </c:extLst>
            </c:dLbl>
            <c:dLbl>
              <c:idx val="2"/>
              <c:layout>
                <c:manualLayout>
                  <c:x val="-0.15870463223138881"/>
                  <c:y val="-2.9609292852483315E-2"/>
                </c:manualLayout>
              </c:layout>
              <c:tx>
                <c:rich>
                  <a:bodyPr/>
                  <a:lstStyle/>
                  <a:p>
                    <a:fld id="{337AF735-3745-4288-A5A7-86465DB6FFA9}" type="CATEGORYNAME">
                      <a:rPr lang="en-US"/>
                      <a:pPr/>
                      <a:t>[CATEGORY NAME]</a:t>
                    </a:fld>
                    <a:r>
                      <a:rPr lang="en-US"/>
                      <a:t>
</a:t>
                    </a:r>
                    <a:fld id="{D4A83611-BBFE-4434-AE25-29A621663349}" type="PERCENTAGE">
                      <a:rPr lang="en-US"/>
                      <a:pPr/>
                      <a:t>[PERCENTAGE]</a:t>
                    </a:fld>
                    <a:endParaRPr lang="en-US"/>
                  </a:p>
                </c:rich>
              </c:tx>
              <c:showLegendKey val="0"/>
              <c:showVal val="0"/>
              <c:showCatName val="1"/>
              <c:showSerName val="0"/>
              <c:showPercent val="1"/>
              <c:showBubbleSize val="0"/>
              <c:separator>
</c:separator>
              <c:extLst>
                <c:ext xmlns:c15="http://schemas.microsoft.com/office/drawing/2012/chart" uri="{CE6537A1-D6FC-4f65-9D91-7224C49458BB}">
                  <c15:layout>
                    <c:manualLayout>
                      <c:w val="0.26989596726603382"/>
                      <c:h val="0.34260767499627282"/>
                    </c:manualLayout>
                  </c15:layout>
                  <c15:dlblFieldTable/>
                  <c15:showDataLabelsRange val="0"/>
                </c:ext>
                <c:ext xmlns:c16="http://schemas.microsoft.com/office/drawing/2014/chart" uri="{C3380CC4-5D6E-409C-BE32-E72D297353CC}">
                  <c16:uniqueId val="{00000005-0EFD-4FF3-A9E7-C483A17BF826}"/>
                </c:ext>
              </c:extLst>
            </c:dLbl>
            <c:dLbl>
              <c:idx val="3"/>
              <c:layout>
                <c:manualLayout>
                  <c:x val="-0.11167300424806846"/>
                  <c:y val="-7.0125508094408345E-2"/>
                </c:manualLayout>
              </c:layou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6-CC78-435D-9D5E-0B19DB2D6AA2}"/>
                </c:ext>
              </c:extLst>
            </c:dLbl>
            <c:dLbl>
              <c:idx val="4"/>
              <c:layout>
                <c:manualLayout>
                  <c:x val="-6.2040557915593576E-2"/>
                  <c:y val="-0.14025101618881669"/>
                </c:manualLayout>
              </c:layou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8-CC78-435D-9D5E-0B19DB2D6AA2}"/>
                </c:ext>
              </c:extLst>
            </c:dLbl>
            <c:dLbl>
              <c:idx val="5"/>
              <c:layout>
                <c:manualLayout>
                  <c:x val="1.8612167374678017E-2"/>
                  <c:y val="-0.17030480537213455"/>
                </c:manualLayout>
              </c:layou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7-CC78-435D-9D5E-0B19DB2D6AA2}"/>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Sheet1!$A$2:$A$7</c:f>
              <c:strCache>
                <c:ptCount val="6"/>
                <c:pt idx="0">
                  <c:v>DBS</c:v>
                </c:pt>
                <c:pt idx="1">
                  <c:v>Citi</c:v>
                </c:pt>
                <c:pt idx="2">
                  <c:v>UOB</c:v>
                </c:pt>
                <c:pt idx="3">
                  <c:v>GS</c:v>
                </c:pt>
                <c:pt idx="4">
                  <c:v>MB</c:v>
                </c:pt>
                <c:pt idx="5">
                  <c:v>CGSI</c:v>
                </c:pt>
              </c:strCache>
            </c:strRef>
          </c:cat>
          <c:val>
            <c:numRef>
              <c:f>Sheet1!$B$2:$B$7</c:f>
              <c:numCache>
                <c:formatCode>0.00%</c:formatCode>
                <c:ptCount val="6"/>
                <c:pt idx="0">
                  <c:v>0.34100000000000003</c:v>
                </c:pt>
                <c:pt idx="1">
                  <c:v>0.27800000000000002</c:v>
                </c:pt>
                <c:pt idx="2">
                  <c:v>0.16500000000000001</c:v>
                </c:pt>
                <c:pt idx="3">
                  <c:v>0.13700000000000001</c:v>
                </c:pt>
                <c:pt idx="4" formatCode="0%">
                  <c:v>5.5E-2</c:v>
                </c:pt>
                <c:pt idx="5" formatCode="0%">
                  <c:v>2.4E-2</c:v>
                </c:pt>
              </c:numCache>
            </c:numRef>
          </c:val>
          <c:extLst>
            <c:ext xmlns:c16="http://schemas.microsoft.com/office/drawing/2014/chart" uri="{C3380CC4-5D6E-409C-BE32-E72D297353CC}">
              <c16:uniqueId val="{00000006-0EFD-4FF3-A9E7-C483A17BF826}"/>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800">
          <a:latin typeface="+mj-lt"/>
          <a:ea typeface="Open Sans" panose="020B0606030504020204" pitchFamily="34" charset="0"/>
          <a:cs typeface="Open Sans" panose="020B0606030504020204" pitchFamily="34" charset="0"/>
        </a:defRPr>
      </a:pPr>
      <a:endParaRPr lang="en-US"/>
    </a:p>
  </c:txPr>
  <c:externalData r:id="rId4">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163800201437635"/>
          <c:y val="0.22136532766010036"/>
          <c:w val="0.37033918488360973"/>
          <c:h val="0.65374115580351433"/>
        </c:manualLayout>
      </c:layout>
      <c:doughnutChart>
        <c:varyColors val="1"/>
        <c:ser>
          <c:idx val="0"/>
          <c:order val="0"/>
          <c:tx>
            <c:strRef>
              <c:f>Sheet1!$B$1</c:f>
              <c:strCache>
                <c:ptCount val="1"/>
                <c:pt idx="0">
                  <c:v>Breakdown</c:v>
                </c:pt>
              </c:strCache>
            </c:strRef>
          </c:tx>
          <c:dPt>
            <c:idx val="0"/>
            <c:bubble3D val="0"/>
            <c:spPr>
              <a:solidFill>
                <a:srgbClr val="CC0000"/>
              </a:solidFill>
              <a:ln>
                <a:noFill/>
              </a:ln>
              <a:effectLst/>
            </c:spPr>
            <c:extLst>
              <c:ext xmlns:c16="http://schemas.microsoft.com/office/drawing/2014/chart" uri="{C3380CC4-5D6E-409C-BE32-E72D297353CC}">
                <c16:uniqueId val="{00000001-AFCD-4920-8135-A47763DEA944}"/>
              </c:ext>
            </c:extLst>
          </c:dPt>
          <c:dPt>
            <c:idx val="1"/>
            <c:bubble3D val="0"/>
            <c:spPr>
              <a:solidFill>
                <a:sysClr val="windowText" lastClr="000000">
                  <a:lumMod val="50000"/>
                  <a:lumOff val="50000"/>
                </a:sysClr>
              </a:solidFill>
              <a:ln>
                <a:noFill/>
              </a:ln>
              <a:effectLst/>
            </c:spPr>
            <c:extLst>
              <c:ext xmlns:c16="http://schemas.microsoft.com/office/drawing/2014/chart" uri="{C3380CC4-5D6E-409C-BE32-E72D297353CC}">
                <c16:uniqueId val="{00000003-AFCD-4920-8135-A47763DEA944}"/>
              </c:ext>
            </c:extLst>
          </c:dPt>
          <c:dPt>
            <c:idx val="2"/>
            <c:bubble3D val="0"/>
            <c:spPr>
              <a:solidFill>
                <a:schemeClr val="accent3"/>
              </a:solidFill>
              <a:ln>
                <a:noFill/>
              </a:ln>
              <a:effectLst/>
            </c:spPr>
            <c:extLst>
              <c:ext xmlns:c16="http://schemas.microsoft.com/office/drawing/2014/chart" uri="{C3380CC4-5D6E-409C-BE32-E72D297353CC}">
                <c16:uniqueId val="{00000005-AFCD-4920-8135-A47763DEA944}"/>
              </c:ext>
            </c:extLst>
          </c:dPt>
          <c:dPt>
            <c:idx val="3"/>
            <c:bubble3D val="0"/>
            <c:spPr>
              <a:solidFill>
                <a:schemeClr val="accent4"/>
              </a:solidFill>
              <a:ln>
                <a:noFill/>
              </a:ln>
              <a:effectLst/>
            </c:spPr>
            <c:extLst>
              <c:ext xmlns:c16="http://schemas.microsoft.com/office/drawing/2014/chart" uri="{C3380CC4-5D6E-409C-BE32-E72D297353CC}">
                <c16:uniqueId val="{00000007-5905-4306-A219-ADF26157B3E3}"/>
              </c:ext>
            </c:extLst>
          </c:dPt>
          <c:dPt>
            <c:idx val="4"/>
            <c:bubble3D val="0"/>
            <c:spPr>
              <a:solidFill>
                <a:schemeClr val="accent5"/>
              </a:solidFill>
              <a:ln>
                <a:noFill/>
              </a:ln>
              <a:effectLst/>
            </c:spPr>
            <c:extLst>
              <c:ext xmlns:c16="http://schemas.microsoft.com/office/drawing/2014/chart" uri="{C3380CC4-5D6E-409C-BE32-E72D297353CC}">
                <c16:uniqueId val="{00000008-5905-4306-A219-ADF26157B3E3}"/>
              </c:ext>
            </c:extLst>
          </c:dPt>
          <c:dPt>
            <c:idx val="5"/>
            <c:bubble3D val="0"/>
            <c:spPr>
              <a:solidFill>
                <a:schemeClr val="accent6"/>
              </a:solidFill>
              <a:ln>
                <a:noFill/>
              </a:ln>
              <a:effectLst/>
            </c:spPr>
            <c:extLst>
              <c:ext xmlns:c16="http://schemas.microsoft.com/office/drawing/2014/chart" uri="{C3380CC4-5D6E-409C-BE32-E72D297353CC}">
                <c16:uniqueId val="{00000006-5905-4306-A219-ADF26157B3E3}"/>
              </c:ext>
            </c:extLst>
          </c:dPt>
          <c:dLbls>
            <c:dLbl>
              <c:idx val="0"/>
              <c:layout>
                <c:manualLayout>
                  <c:x val="0.18308315193390678"/>
                  <c:y val="8.5144514552423362E-3"/>
                </c:manualLayout>
              </c:layout>
              <c:tx>
                <c:rich>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fld id="{262869CD-B110-4D6D-8445-792E74CE0703}" type="CATEGORYNAME">
                      <a:rPr lang="en-US">
                        <a:solidFill>
                          <a:srgbClr val="C00000"/>
                        </a:solidFill>
                      </a:rPr>
                      <a:pPr>
                        <a:defRPr sz="1000" b="1">
                          <a:solidFill>
                            <a:srgbClr val="1680C2"/>
                          </a:solidFill>
                        </a:defRPr>
                      </a:pPr>
                      <a:t>[CATEGORY NAME]</a:t>
                    </a:fld>
                    <a:r>
                      <a:rPr lang="en-US" baseline="0">
                        <a:solidFill>
                          <a:srgbClr val="C00000"/>
                        </a:solidFill>
                      </a:rPr>
                      <a:t>
</a:t>
                    </a:r>
                    <a:fld id="{1A07E14C-5F39-4797-AAEE-385E9EA52BA5}" type="PERCENTAGE">
                      <a:rPr lang="en-US" baseline="0">
                        <a:solidFill>
                          <a:srgbClr val="C00000"/>
                        </a:solidFill>
                      </a:rPr>
                      <a:pPr>
                        <a:defRPr sz="1000" b="1">
                          <a:solidFill>
                            <a:srgbClr val="1680C2"/>
                          </a:solidFill>
                        </a:defRPr>
                      </a:pPr>
                      <a:t>[PERCENTAGE]</a:t>
                    </a:fld>
                    <a:endParaRPr lang="en-US" baseline="0">
                      <a:solidFill>
                        <a:srgbClr val="C00000"/>
                      </a:solidFill>
                    </a:endParaRPr>
                  </a:p>
                </c:rich>
              </c:tx>
              <c:spPr>
                <a:noFill/>
                <a:ln>
                  <a:noFill/>
                </a:ln>
                <a:effectLst/>
              </c:spPr>
              <c:txPr>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8568698604543782"/>
                      <c:h val="0.33721161188377524"/>
                    </c:manualLayout>
                  </c15:layout>
                  <c15:dlblFieldTable/>
                  <c15:showDataLabelsRange val="0"/>
                </c:ext>
                <c:ext xmlns:c16="http://schemas.microsoft.com/office/drawing/2014/chart" uri="{C3380CC4-5D6E-409C-BE32-E72D297353CC}">
                  <c16:uniqueId val="{00000001-AFCD-4920-8135-A47763DEA944}"/>
                </c:ext>
              </c:extLst>
            </c:dLbl>
            <c:dLbl>
              <c:idx val="1"/>
              <c:layout>
                <c:manualLayout>
                  <c:x val="0.12149397571527379"/>
                  <c:y val="8.3022212195527897E-2"/>
                </c:manualLayout>
              </c:layout>
              <c:spPr>
                <a:noFill/>
                <a:ln>
                  <a:noFill/>
                </a:ln>
                <a:effectLst/>
              </c:spPr>
              <c:txPr>
                <a:bodyPr rot="0" spcFirstLastPara="1" vertOverflow="ellipsis" vert="horz" wrap="square" lIns="38100" tIns="19050" rIns="38100" bIns="19050" anchor="ctr" anchorCtr="1">
                  <a:no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26196063795279839"/>
                      <c:h val="0.27819633091351681"/>
                    </c:manualLayout>
                  </c15:layout>
                </c:ext>
                <c:ext xmlns:c16="http://schemas.microsoft.com/office/drawing/2014/chart" uri="{C3380CC4-5D6E-409C-BE32-E72D297353CC}">
                  <c16:uniqueId val="{00000003-AFCD-4920-8135-A47763DEA944}"/>
                </c:ext>
              </c:extLst>
            </c:dLbl>
            <c:dLbl>
              <c:idx val="2"/>
              <c:layout>
                <c:manualLayout>
                  <c:x val="-0.10286813010735461"/>
                  <c:y val="-2.9609292852483177E-2"/>
                </c:manualLayout>
              </c:layout>
              <c:tx>
                <c:rich>
                  <a:bodyPr/>
                  <a:lstStyle/>
                  <a:p>
                    <a:fld id="{337AF735-3745-4288-A5A7-86465DB6FFA9}" type="CATEGORYNAME">
                      <a:rPr lang="en-US"/>
                      <a:pPr/>
                      <a:t>[CATEGORY NAME]</a:t>
                    </a:fld>
                    <a:r>
                      <a:rPr lang="en-US"/>
                      <a:t>
</a:t>
                    </a:r>
                    <a:fld id="{D4A83611-BBFE-4434-AE25-29A621663349}" type="PERCENTAGE">
                      <a:rPr lang="en-US"/>
                      <a:pPr/>
                      <a:t>[PERCENTAGE]</a:t>
                    </a:fld>
                    <a:endParaRPr lang="en-US"/>
                  </a:p>
                </c:rich>
              </c:tx>
              <c:showLegendKey val="0"/>
              <c:showVal val="0"/>
              <c:showCatName val="1"/>
              <c:showSerName val="0"/>
              <c:showPercent val="1"/>
              <c:showBubbleSize val="0"/>
              <c:separator>
</c:separator>
              <c:extLst>
                <c:ext xmlns:c15="http://schemas.microsoft.com/office/drawing/2012/chart" uri="{CE6537A1-D6FC-4f65-9D91-7224C49458BB}">
                  <c15:layout>
                    <c:manualLayout>
                      <c:w val="0.26989596726603382"/>
                      <c:h val="0.34260767499627282"/>
                    </c:manualLayout>
                  </c15:layout>
                  <c15:dlblFieldTable/>
                  <c15:showDataLabelsRange val="0"/>
                </c:ext>
                <c:ext xmlns:c16="http://schemas.microsoft.com/office/drawing/2014/chart" uri="{C3380CC4-5D6E-409C-BE32-E72D297353CC}">
                  <c16:uniqueId val="{00000005-AFCD-4920-8135-A47763DEA944}"/>
                </c:ext>
              </c:extLst>
            </c:dLbl>
            <c:dLbl>
              <c:idx val="3"/>
              <c:layout>
                <c:manualLayout>
                  <c:x val="-9.9264892664949783E-2"/>
                  <c:y val="-0.13023308646104406"/>
                </c:manualLayout>
              </c:layou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7-5905-4306-A219-ADF26157B3E3}"/>
                </c:ext>
              </c:extLst>
            </c:dLbl>
            <c:dLbl>
              <c:idx val="4"/>
              <c:layout>
                <c:manualLayout>
                  <c:x val="-3.1020278957796844E-2"/>
                  <c:y val="-0.15026894591658929"/>
                </c:manualLayout>
              </c:layou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8-5905-4306-A219-ADF26157B3E3}"/>
                </c:ext>
              </c:extLst>
            </c:dLbl>
            <c:dLbl>
              <c:idx val="5"/>
              <c:layout>
                <c:manualLayout>
                  <c:x val="8.0652725290271648E-2"/>
                  <c:y val="-0.16028687564436192"/>
                </c:manualLayout>
              </c:layou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6-5905-4306-A219-ADF26157B3E3}"/>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Sheet1!$A$2:$A$7</c:f>
              <c:strCache>
                <c:ptCount val="6"/>
                <c:pt idx="0">
                  <c:v>DBS</c:v>
                </c:pt>
                <c:pt idx="1">
                  <c:v>Citi</c:v>
                </c:pt>
                <c:pt idx="2">
                  <c:v>UOB</c:v>
                </c:pt>
                <c:pt idx="3">
                  <c:v>GS</c:v>
                </c:pt>
                <c:pt idx="4">
                  <c:v>MB</c:v>
                </c:pt>
                <c:pt idx="5">
                  <c:v>CGSI</c:v>
                </c:pt>
              </c:strCache>
            </c:strRef>
          </c:cat>
          <c:val>
            <c:numRef>
              <c:f>Sheet1!$B$2:$B$7</c:f>
              <c:numCache>
                <c:formatCode>0.00%</c:formatCode>
                <c:ptCount val="6"/>
                <c:pt idx="0">
                  <c:v>0.35599999999999998</c:v>
                </c:pt>
                <c:pt idx="1">
                  <c:v>0.21099999999999999</c:v>
                </c:pt>
                <c:pt idx="2">
                  <c:v>0.29199999999999998</c:v>
                </c:pt>
                <c:pt idx="3">
                  <c:v>0.10299999999999999</c:v>
                </c:pt>
                <c:pt idx="4" formatCode="0%">
                  <c:v>1.2E-2</c:v>
                </c:pt>
                <c:pt idx="5">
                  <c:v>2.5000000000000001E-2</c:v>
                </c:pt>
              </c:numCache>
            </c:numRef>
          </c:val>
          <c:extLst>
            <c:ext xmlns:c16="http://schemas.microsoft.com/office/drawing/2014/chart" uri="{C3380CC4-5D6E-409C-BE32-E72D297353CC}">
              <c16:uniqueId val="{00000006-AFCD-4920-8135-A47763DEA944}"/>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800">
          <a:latin typeface="+mj-lt"/>
          <a:ea typeface="Open Sans" panose="020B0606030504020204" pitchFamily="34" charset="0"/>
          <a:cs typeface="Open Sans" panose="020B0606030504020204" pitchFamily="34" charset="0"/>
        </a:defRPr>
      </a:pPr>
      <a:endParaRPr lang="en-US"/>
    </a:p>
  </c:txPr>
  <c:externalData r:id="rId4">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163800201437635"/>
          <c:y val="0.22136532766010036"/>
          <c:w val="0.37033918488360973"/>
          <c:h val="0.65374115580351433"/>
        </c:manualLayout>
      </c:layout>
      <c:doughnutChart>
        <c:varyColors val="1"/>
        <c:ser>
          <c:idx val="0"/>
          <c:order val="0"/>
          <c:tx>
            <c:strRef>
              <c:f>Sheet1!$B$1</c:f>
              <c:strCache>
                <c:ptCount val="1"/>
                <c:pt idx="0">
                  <c:v>Breakdown</c:v>
                </c:pt>
              </c:strCache>
            </c:strRef>
          </c:tx>
          <c:dPt>
            <c:idx val="0"/>
            <c:bubble3D val="0"/>
            <c:spPr>
              <a:solidFill>
                <a:srgbClr val="CC0000"/>
              </a:solidFill>
              <a:ln>
                <a:noFill/>
              </a:ln>
              <a:effectLst/>
            </c:spPr>
            <c:extLst>
              <c:ext xmlns:c16="http://schemas.microsoft.com/office/drawing/2014/chart" uri="{C3380CC4-5D6E-409C-BE32-E72D297353CC}">
                <c16:uniqueId val="{00000001-720B-4994-B45A-4E14D4D6CD2E}"/>
              </c:ext>
            </c:extLst>
          </c:dPt>
          <c:dPt>
            <c:idx val="1"/>
            <c:bubble3D val="0"/>
            <c:spPr>
              <a:solidFill>
                <a:sysClr val="windowText" lastClr="000000">
                  <a:lumMod val="50000"/>
                  <a:lumOff val="50000"/>
                </a:sysClr>
              </a:solidFill>
              <a:ln>
                <a:noFill/>
              </a:ln>
              <a:effectLst/>
            </c:spPr>
            <c:extLst>
              <c:ext xmlns:c16="http://schemas.microsoft.com/office/drawing/2014/chart" uri="{C3380CC4-5D6E-409C-BE32-E72D297353CC}">
                <c16:uniqueId val="{00000003-720B-4994-B45A-4E14D4D6CD2E}"/>
              </c:ext>
            </c:extLst>
          </c:dPt>
          <c:dPt>
            <c:idx val="2"/>
            <c:bubble3D val="0"/>
            <c:spPr>
              <a:solidFill>
                <a:srgbClr val="FDBBBC"/>
              </a:solidFill>
              <a:ln>
                <a:noFill/>
              </a:ln>
              <a:effectLst/>
            </c:spPr>
            <c:extLst>
              <c:ext xmlns:c16="http://schemas.microsoft.com/office/drawing/2014/chart" uri="{C3380CC4-5D6E-409C-BE32-E72D297353CC}">
                <c16:uniqueId val="{00000005-720B-4994-B45A-4E14D4D6CD2E}"/>
              </c:ext>
            </c:extLst>
          </c:dPt>
          <c:dPt>
            <c:idx val="3"/>
            <c:bubble3D val="0"/>
            <c:spPr>
              <a:solidFill>
                <a:sysClr val="window" lastClr="FFFFFF">
                  <a:lumMod val="75000"/>
                </a:sysClr>
              </a:solidFill>
              <a:ln>
                <a:noFill/>
              </a:ln>
              <a:effectLst/>
            </c:spPr>
            <c:extLst>
              <c:ext xmlns:c16="http://schemas.microsoft.com/office/drawing/2014/chart" uri="{C3380CC4-5D6E-409C-BE32-E72D297353CC}">
                <c16:uniqueId val="{00000007-720B-4994-B45A-4E14D4D6CD2E}"/>
              </c:ext>
            </c:extLst>
          </c:dPt>
          <c:dPt>
            <c:idx val="4"/>
            <c:bubble3D val="0"/>
            <c:spPr>
              <a:solidFill>
                <a:srgbClr val="000000">
                  <a:lumMod val="50000"/>
                  <a:lumOff val="50000"/>
                </a:srgbClr>
              </a:solidFill>
              <a:ln>
                <a:noFill/>
              </a:ln>
              <a:effectLst/>
            </c:spPr>
            <c:extLst>
              <c:ext xmlns:c16="http://schemas.microsoft.com/office/drawing/2014/chart" uri="{C3380CC4-5D6E-409C-BE32-E72D297353CC}">
                <c16:uniqueId val="{00000009-720B-4994-B45A-4E14D4D6CD2E}"/>
              </c:ext>
            </c:extLst>
          </c:dPt>
          <c:dLbls>
            <c:dLbl>
              <c:idx val="0"/>
              <c:layout>
                <c:manualLayout>
                  <c:x val="0.18308315193390678"/>
                  <c:y val="8.5144514552423362E-3"/>
                </c:manualLayout>
              </c:layout>
              <c:tx>
                <c:rich>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fld id="{262869CD-B110-4D6D-8445-792E74CE0703}" type="CATEGORYNAME">
                      <a:rPr lang="en-US">
                        <a:solidFill>
                          <a:srgbClr val="C00000"/>
                        </a:solidFill>
                      </a:rPr>
                      <a:pPr>
                        <a:defRPr sz="1000" b="1">
                          <a:solidFill>
                            <a:srgbClr val="1680C2"/>
                          </a:solidFill>
                        </a:defRPr>
                      </a:pPr>
                      <a:t>[CATEGORY NAME]</a:t>
                    </a:fld>
                    <a:r>
                      <a:rPr lang="en-US" baseline="0">
                        <a:solidFill>
                          <a:srgbClr val="C00000"/>
                        </a:solidFill>
                      </a:rPr>
                      <a:t>
</a:t>
                    </a:r>
                    <a:fld id="{1A07E14C-5F39-4797-AAEE-385E9EA52BA5}" type="PERCENTAGE">
                      <a:rPr lang="en-US" baseline="0">
                        <a:solidFill>
                          <a:srgbClr val="C00000"/>
                        </a:solidFill>
                      </a:rPr>
                      <a:pPr>
                        <a:defRPr sz="1000" b="1">
                          <a:solidFill>
                            <a:srgbClr val="1680C2"/>
                          </a:solidFill>
                        </a:defRPr>
                      </a:pPr>
                      <a:t>[PERCENTAGE]</a:t>
                    </a:fld>
                    <a:endParaRPr lang="en-US" baseline="0">
                      <a:solidFill>
                        <a:srgbClr val="C00000"/>
                      </a:solidFill>
                    </a:endParaRPr>
                  </a:p>
                </c:rich>
              </c:tx>
              <c:spPr>
                <a:noFill/>
                <a:ln>
                  <a:noFill/>
                </a:ln>
                <a:effectLst/>
              </c:spPr>
              <c:txPr>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8568698604543782"/>
                      <c:h val="0.33721161188377524"/>
                    </c:manualLayout>
                  </c15:layout>
                  <c15:dlblFieldTable/>
                  <c15:showDataLabelsRange val="0"/>
                </c:ext>
                <c:ext xmlns:c16="http://schemas.microsoft.com/office/drawing/2014/chart" uri="{C3380CC4-5D6E-409C-BE32-E72D297353CC}">
                  <c16:uniqueId val="{00000001-720B-4994-B45A-4E14D4D6CD2E}"/>
                </c:ext>
              </c:extLst>
            </c:dLbl>
            <c:dLbl>
              <c:idx val="1"/>
              <c:layout>
                <c:manualLayout>
                  <c:x val="-0.13907636753021912"/>
                  <c:y val="1.7905668965005873E-2"/>
                </c:manualLayout>
              </c:layout>
              <c:showLegendKey val="0"/>
              <c:showVal val="0"/>
              <c:showCatName val="1"/>
              <c:showSerName val="0"/>
              <c:showPercent val="1"/>
              <c:showBubbleSize val="0"/>
              <c:separator>
</c:separator>
              <c:extLst>
                <c:ext xmlns:c15="http://schemas.microsoft.com/office/drawing/2012/chart" uri="{CE6537A1-D6FC-4f65-9D91-7224C49458BB}">
                  <c15:layout>
                    <c:manualLayout>
                      <c:w val="0.26196083837884826"/>
                      <c:h val="0.32828575968502965"/>
                    </c:manualLayout>
                  </c15:layout>
                </c:ext>
                <c:ext xmlns:c16="http://schemas.microsoft.com/office/drawing/2014/chart" uri="{C3380CC4-5D6E-409C-BE32-E72D297353CC}">
                  <c16:uniqueId val="{00000003-720B-4994-B45A-4E14D4D6CD2E}"/>
                </c:ext>
              </c:extLst>
            </c:dLbl>
            <c:dLbl>
              <c:idx val="2"/>
              <c:layout>
                <c:manualLayout>
                  <c:x val="-0.10286796626689346"/>
                  <c:y val="-0.11977064133979246"/>
                </c:manualLayout>
              </c:layout>
              <c:tx>
                <c:rich>
                  <a:bodyPr/>
                  <a:lstStyle/>
                  <a:p>
                    <a:fld id="{337AF735-3745-4288-A5A7-86465DB6FFA9}" type="CATEGORYNAME">
                      <a:rPr lang="en-US"/>
                      <a:pPr/>
                      <a:t>[CATEGORY NAME]</a:t>
                    </a:fld>
                    <a:r>
                      <a:rPr lang="en-US"/>
                      <a:t>
</a:t>
                    </a:r>
                    <a:fld id="{D4A83611-BBFE-4434-AE25-29A621663349}" type="PERCENTAGE">
                      <a:rPr lang="en-US"/>
                      <a:pPr/>
                      <a:t>[PERCENTAGE]</a:t>
                    </a:fld>
                    <a:endParaRPr lang="en-US"/>
                  </a:p>
                </c:rich>
              </c:tx>
              <c:showLegendKey val="0"/>
              <c:showVal val="0"/>
              <c:showCatName val="1"/>
              <c:showSerName val="0"/>
              <c:showPercent val="1"/>
              <c:showBubbleSize val="0"/>
              <c:separator>
</c:separator>
              <c:extLst>
                <c:ext xmlns:c15="http://schemas.microsoft.com/office/drawing/2012/chart" uri="{CE6537A1-D6FC-4f65-9D91-7224C49458BB}">
                  <c15:layout>
                    <c:manualLayout>
                      <c:w val="0.26989596726603382"/>
                      <c:h val="0.34260767499627282"/>
                    </c:manualLayout>
                  </c15:layout>
                  <c15:dlblFieldTable/>
                  <c15:showDataLabelsRange val="0"/>
                </c:ext>
                <c:ext xmlns:c16="http://schemas.microsoft.com/office/drawing/2014/chart" uri="{C3380CC4-5D6E-409C-BE32-E72D297353CC}">
                  <c16:uniqueId val="{00000005-720B-4994-B45A-4E14D4D6CD2E}"/>
                </c:ext>
              </c:extLst>
            </c:dLbl>
            <c:dLbl>
              <c:idx val="3"/>
              <c:layout>
                <c:manualLayout>
                  <c:x val="2.7918251062017119E-2"/>
                  <c:y val="-0.16028687564436192"/>
                </c:manualLayout>
              </c:layout>
              <c:showLegendKey val="0"/>
              <c:showVal val="0"/>
              <c:showCatName val="1"/>
              <c:showSerName val="0"/>
              <c:showPercent val="1"/>
              <c:showBubbleSize val="0"/>
              <c:separator>
</c:separator>
              <c:extLst>
                <c:ext xmlns:c15="http://schemas.microsoft.com/office/drawing/2012/chart" uri="{CE6537A1-D6FC-4f65-9D91-7224C49458BB}">
                  <c15:layout>
                    <c:manualLayout>
                      <c:w val="0.22129867008492229"/>
                      <c:h val="0.30639877513060776"/>
                    </c:manualLayout>
                  </c15:layout>
                </c:ext>
                <c:ext xmlns:c16="http://schemas.microsoft.com/office/drawing/2014/chart" uri="{C3380CC4-5D6E-409C-BE32-E72D297353CC}">
                  <c16:uniqueId val="{00000007-720B-4994-B45A-4E14D4D6CD2E}"/>
                </c:ext>
              </c:extLst>
            </c:dLbl>
            <c:dLbl>
              <c:idx val="4"/>
              <c:layout>
                <c:manualLayout>
                  <c:x val="0.14269328320586522"/>
                  <c:y val="-0.12021515673327143"/>
                </c:manualLayout>
              </c:layou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9-720B-4994-B45A-4E14D4D6CD2E}"/>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Sheet1!$A$2:$A$6</c:f>
              <c:strCache>
                <c:ptCount val="5"/>
                <c:pt idx="0">
                  <c:v>DBS</c:v>
                </c:pt>
                <c:pt idx="1">
                  <c:v>UBS</c:v>
                </c:pt>
                <c:pt idx="2">
                  <c:v>MBB</c:v>
                </c:pt>
                <c:pt idx="3">
                  <c:v>UOBKH</c:v>
                </c:pt>
                <c:pt idx="4">
                  <c:v>UOB</c:v>
                </c:pt>
              </c:strCache>
            </c:strRef>
          </c:cat>
          <c:val>
            <c:numRef>
              <c:f>Sheet1!$B$2:$B$6</c:f>
              <c:numCache>
                <c:formatCode>0.00%</c:formatCode>
                <c:ptCount val="5"/>
                <c:pt idx="0">
                  <c:v>0.48599999999999999</c:v>
                </c:pt>
                <c:pt idx="1">
                  <c:v>0.371</c:v>
                </c:pt>
                <c:pt idx="2">
                  <c:v>6.3E-2</c:v>
                </c:pt>
                <c:pt idx="3">
                  <c:v>5.5E-2</c:v>
                </c:pt>
                <c:pt idx="4" formatCode="0.0%">
                  <c:v>2.5000000000000001E-2</c:v>
                </c:pt>
              </c:numCache>
            </c:numRef>
          </c:val>
          <c:extLst>
            <c:ext xmlns:c16="http://schemas.microsoft.com/office/drawing/2014/chart" uri="{C3380CC4-5D6E-409C-BE32-E72D297353CC}">
              <c16:uniqueId val="{0000000A-720B-4994-B45A-4E14D4D6CD2E}"/>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800">
          <a:latin typeface="+mj-lt"/>
          <a:ea typeface="Open Sans" panose="020B0606030504020204" pitchFamily="34" charset="0"/>
          <a:cs typeface="Open Sans" panose="020B0606030504020204" pitchFamily="34" charset="0"/>
        </a:defRPr>
      </a:pPr>
      <a:endParaRPr lang="en-US"/>
    </a:p>
  </c:txPr>
  <c:externalData r:id="rId4">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6163800201437635"/>
          <c:y val="0.22136532766010036"/>
          <c:w val="0.37033918488360973"/>
          <c:h val="0.65374115580351433"/>
        </c:manualLayout>
      </c:layout>
      <c:doughnutChart>
        <c:varyColors val="1"/>
        <c:ser>
          <c:idx val="0"/>
          <c:order val="0"/>
          <c:tx>
            <c:strRef>
              <c:f>Sheet1!$B$1</c:f>
              <c:strCache>
                <c:ptCount val="1"/>
                <c:pt idx="0">
                  <c:v>Breakdown</c:v>
                </c:pt>
              </c:strCache>
            </c:strRef>
          </c:tx>
          <c:dPt>
            <c:idx val="0"/>
            <c:bubble3D val="0"/>
            <c:spPr>
              <a:solidFill>
                <a:srgbClr val="CC0000"/>
              </a:solidFill>
              <a:ln>
                <a:noFill/>
              </a:ln>
              <a:effectLst/>
            </c:spPr>
            <c:extLst>
              <c:ext xmlns:c16="http://schemas.microsoft.com/office/drawing/2014/chart" uri="{C3380CC4-5D6E-409C-BE32-E72D297353CC}">
                <c16:uniqueId val="{00000001-8B0A-4EA9-A15E-0BB6D77FD54F}"/>
              </c:ext>
            </c:extLst>
          </c:dPt>
          <c:dPt>
            <c:idx val="1"/>
            <c:bubble3D val="0"/>
            <c:spPr>
              <a:solidFill>
                <a:sysClr val="windowText" lastClr="000000">
                  <a:lumMod val="50000"/>
                  <a:lumOff val="50000"/>
                </a:sysClr>
              </a:solidFill>
              <a:ln>
                <a:noFill/>
              </a:ln>
              <a:effectLst/>
            </c:spPr>
            <c:extLst>
              <c:ext xmlns:c16="http://schemas.microsoft.com/office/drawing/2014/chart" uri="{C3380CC4-5D6E-409C-BE32-E72D297353CC}">
                <c16:uniqueId val="{00000003-8B0A-4EA9-A15E-0BB6D77FD54F}"/>
              </c:ext>
            </c:extLst>
          </c:dPt>
          <c:dPt>
            <c:idx val="2"/>
            <c:bubble3D val="0"/>
            <c:spPr>
              <a:solidFill>
                <a:srgbClr val="FDBBBC"/>
              </a:solidFill>
              <a:ln>
                <a:noFill/>
              </a:ln>
              <a:effectLst/>
            </c:spPr>
            <c:extLst>
              <c:ext xmlns:c16="http://schemas.microsoft.com/office/drawing/2014/chart" uri="{C3380CC4-5D6E-409C-BE32-E72D297353CC}">
                <c16:uniqueId val="{00000005-8B0A-4EA9-A15E-0BB6D77FD54F}"/>
              </c:ext>
            </c:extLst>
          </c:dPt>
          <c:dPt>
            <c:idx val="3"/>
            <c:bubble3D val="0"/>
            <c:spPr>
              <a:solidFill>
                <a:sysClr val="window" lastClr="FFFFFF">
                  <a:lumMod val="75000"/>
                </a:sysClr>
              </a:solidFill>
              <a:ln>
                <a:noFill/>
              </a:ln>
              <a:effectLst/>
            </c:spPr>
            <c:extLst>
              <c:ext xmlns:c16="http://schemas.microsoft.com/office/drawing/2014/chart" uri="{C3380CC4-5D6E-409C-BE32-E72D297353CC}">
                <c16:uniqueId val="{00000007-8B0A-4EA9-A15E-0BB6D77FD54F}"/>
              </c:ext>
            </c:extLst>
          </c:dPt>
          <c:dPt>
            <c:idx val="4"/>
            <c:bubble3D val="0"/>
            <c:spPr>
              <a:solidFill>
                <a:sysClr val="windowText" lastClr="000000">
                  <a:lumMod val="75000"/>
                  <a:lumOff val="25000"/>
                </a:sysClr>
              </a:solidFill>
              <a:ln>
                <a:noFill/>
              </a:ln>
              <a:effectLst/>
            </c:spPr>
            <c:extLst>
              <c:ext xmlns:c16="http://schemas.microsoft.com/office/drawing/2014/chart" uri="{C3380CC4-5D6E-409C-BE32-E72D297353CC}">
                <c16:uniqueId val="{00000009-8B0A-4EA9-A15E-0BB6D77FD54F}"/>
              </c:ext>
            </c:extLst>
          </c:dPt>
          <c:dLbls>
            <c:dLbl>
              <c:idx val="0"/>
              <c:layout>
                <c:manualLayout>
                  <c:x val="0.18308315193390678"/>
                  <c:y val="8.5144514552423362E-3"/>
                </c:manualLayout>
              </c:layout>
              <c:tx>
                <c:rich>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fld id="{262869CD-B110-4D6D-8445-792E74CE0703}" type="CATEGORYNAME">
                      <a:rPr lang="en-US">
                        <a:solidFill>
                          <a:srgbClr val="C00000"/>
                        </a:solidFill>
                      </a:rPr>
                      <a:pPr>
                        <a:defRPr sz="1000" b="1">
                          <a:solidFill>
                            <a:srgbClr val="1680C2"/>
                          </a:solidFill>
                        </a:defRPr>
                      </a:pPr>
                      <a:t>[CATEGORY NAME]</a:t>
                    </a:fld>
                    <a:r>
                      <a:rPr lang="en-US" baseline="0">
                        <a:solidFill>
                          <a:srgbClr val="C00000"/>
                        </a:solidFill>
                      </a:rPr>
                      <a:t>
</a:t>
                    </a:r>
                    <a:fld id="{1A07E14C-5F39-4797-AAEE-385E9EA52BA5}" type="PERCENTAGE">
                      <a:rPr lang="en-US" baseline="0">
                        <a:solidFill>
                          <a:srgbClr val="C00000"/>
                        </a:solidFill>
                      </a:rPr>
                      <a:pPr>
                        <a:defRPr sz="1000" b="1">
                          <a:solidFill>
                            <a:srgbClr val="1680C2"/>
                          </a:solidFill>
                        </a:defRPr>
                      </a:pPr>
                      <a:t>[PERCENTAGE]</a:t>
                    </a:fld>
                    <a:endParaRPr lang="en-US" baseline="0">
                      <a:solidFill>
                        <a:srgbClr val="C00000"/>
                      </a:solidFill>
                    </a:endParaRPr>
                  </a:p>
                </c:rich>
              </c:tx>
              <c:spPr>
                <a:noFill/>
                <a:ln>
                  <a:noFill/>
                </a:ln>
                <a:effectLst/>
              </c:spPr>
              <c:txPr>
                <a:bodyPr rot="0" spcFirstLastPara="1" vertOverflow="ellipsis" vert="horz" wrap="square" anchor="ctr" anchorCtr="1"/>
                <a:lstStyle/>
                <a:p>
                  <a:pPr>
                    <a:defRPr sz="1000" b="1" i="0" u="none" strike="noStrike" kern="1200" baseline="0">
                      <a:solidFill>
                        <a:srgbClr val="1680C2"/>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extLst>
                <c:ext xmlns:c15="http://schemas.microsoft.com/office/drawing/2012/chart" uri="{CE6537A1-D6FC-4f65-9D91-7224C49458BB}">
                  <c15:layout>
                    <c:manualLayout>
                      <c:w val="0.18568698604543782"/>
                      <c:h val="0.33721161188377524"/>
                    </c:manualLayout>
                  </c15:layout>
                  <c15:dlblFieldTable/>
                  <c15:showDataLabelsRange val="0"/>
                </c:ext>
                <c:ext xmlns:c16="http://schemas.microsoft.com/office/drawing/2014/chart" uri="{C3380CC4-5D6E-409C-BE32-E72D297353CC}">
                  <c16:uniqueId val="{00000001-8B0A-4EA9-A15E-0BB6D77FD54F}"/>
                </c:ext>
              </c:extLst>
            </c:dLbl>
            <c:dLbl>
              <c:idx val="1"/>
              <c:layout>
                <c:manualLayout>
                  <c:x val="-0.19801489755003301"/>
                  <c:y val="1.7905668965005873E-2"/>
                </c:manualLayout>
              </c:layout>
              <c:showLegendKey val="0"/>
              <c:showVal val="0"/>
              <c:showCatName val="1"/>
              <c:showSerName val="0"/>
              <c:showPercent val="1"/>
              <c:showBubbleSize val="0"/>
              <c:separator>
</c:separator>
              <c:extLst>
                <c:ext xmlns:c15="http://schemas.microsoft.com/office/drawing/2012/chart" uri="{CE6537A1-D6FC-4f65-9D91-7224C49458BB}">
                  <c15:layout>
                    <c:manualLayout>
                      <c:w val="0.30538902849371385"/>
                      <c:h val="0.32828597955237993"/>
                    </c:manualLayout>
                  </c15:layout>
                </c:ext>
                <c:ext xmlns:c16="http://schemas.microsoft.com/office/drawing/2014/chart" uri="{C3380CC4-5D6E-409C-BE32-E72D297353CC}">
                  <c16:uniqueId val="{00000003-8B0A-4EA9-A15E-0BB6D77FD54F}"/>
                </c:ext>
              </c:extLst>
            </c:dLbl>
            <c:dLbl>
              <c:idx val="2"/>
              <c:layout>
                <c:manualLayout>
                  <c:x val="-0.10286796626689346"/>
                  <c:y val="-0.11977064133979246"/>
                </c:manualLayout>
              </c:layout>
              <c:tx>
                <c:rich>
                  <a:bodyPr/>
                  <a:lstStyle/>
                  <a:p>
                    <a:fld id="{337AF735-3745-4288-A5A7-86465DB6FFA9}" type="CATEGORYNAME">
                      <a:rPr lang="en-US"/>
                      <a:pPr/>
                      <a:t>[CATEGORY NAME]</a:t>
                    </a:fld>
                    <a:r>
                      <a:rPr lang="en-US"/>
                      <a:t>
</a:t>
                    </a:r>
                    <a:fld id="{D4A83611-BBFE-4434-AE25-29A621663349}" type="PERCENTAGE">
                      <a:rPr lang="en-US"/>
                      <a:pPr/>
                      <a:t>[PERCENTAGE]</a:t>
                    </a:fld>
                    <a:endParaRPr lang="en-US"/>
                  </a:p>
                </c:rich>
              </c:tx>
              <c:showLegendKey val="0"/>
              <c:showVal val="0"/>
              <c:showCatName val="1"/>
              <c:showSerName val="0"/>
              <c:showPercent val="1"/>
              <c:showBubbleSize val="0"/>
              <c:separator>
</c:separator>
              <c:extLst>
                <c:ext xmlns:c15="http://schemas.microsoft.com/office/drawing/2012/chart" uri="{CE6537A1-D6FC-4f65-9D91-7224C49458BB}">
                  <c15:layout>
                    <c:manualLayout>
                      <c:w val="0.26989596726603382"/>
                      <c:h val="0.34260767499627282"/>
                    </c:manualLayout>
                  </c15:layout>
                  <c15:dlblFieldTable/>
                  <c15:showDataLabelsRange val="0"/>
                </c:ext>
                <c:ext xmlns:c16="http://schemas.microsoft.com/office/drawing/2014/chart" uri="{C3380CC4-5D6E-409C-BE32-E72D297353CC}">
                  <c16:uniqueId val="{00000005-8B0A-4EA9-A15E-0BB6D77FD54F}"/>
                </c:ext>
              </c:extLst>
            </c:dLbl>
            <c:dLbl>
              <c:idx val="3"/>
              <c:layout>
                <c:manualLayout>
                  <c:x val="-9.3060836873390361E-3"/>
                  <c:y val="-0.25044824319431552"/>
                </c:manualLayout>
              </c:layout>
              <c:showLegendKey val="0"/>
              <c:showVal val="0"/>
              <c:showCatName val="1"/>
              <c:showSerName val="0"/>
              <c:showPercent val="1"/>
              <c:showBubbleSize val="0"/>
              <c:separator>
</c:separator>
              <c:extLst>
                <c:ext xmlns:c15="http://schemas.microsoft.com/office/drawing/2012/chart" uri="{CE6537A1-D6FC-4f65-9D91-7224C49458BB}">
                  <c15:layout>
                    <c:manualLayout>
                      <c:w val="0.22129867008492229"/>
                      <c:h val="0.30639877513060776"/>
                    </c:manualLayout>
                  </c15:layout>
                </c:ext>
                <c:ext xmlns:c16="http://schemas.microsoft.com/office/drawing/2014/chart" uri="{C3380CC4-5D6E-409C-BE32-E72D297353CC}">
                  <c16:uniqueId val="{00000007-8B0A-4EA9-A15E-0BB6D77FD54F}"/>
                </c:ext>
              </c:extLst>
            </c:dLbl>
            <c:dLbl>
              <c:idx val="4"/>
              <c:layout>
                <c:manualLayout>
                  <c:x val="0.1613054505805433"/>
                  <c:y val="-0.17030480537213455"/>
                </c:manualLayout>
              </c:layou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9-8B0A-4EA9-A15E-0BB6D77FD54F}"/>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mj-lt"/>
                    <a:ea typeface="Open Sans" panose="020B0606030504020204" pitchFamily="34" charset="0"/>
                    <a:cs typeface="Open Sans" panose="020B0606030504020204" pitchFamily="34" charset="0"/>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Sheet1!$A$2:$A$6</c:f>
              <c:strCache>
                <c:ptCount val="5"/>
                <c:pt idx="0">
                  <c:v>DBS</c:v>
                </c:pt>
                <c:pt idx="1">
                  <c:v>UBS</c:v>
                </c:pt>
                <c:pt idx="2">
                  <c:v>MBB</c:v>
                </c:pt>
                <c:pt idx="3">
                  <c:v>UOBKH</c:v>
                </c:pt>
                <c:pt idx="4">
                  <c:v>UOB</c:v>
                </c:pt>
              </c:strCache>
            </c:strRef>
          </c:cat>
          <c:val>
            <c:numRef>
              <c:f>Sheet1!$B$2:$B$6</c:f>
              <c:numCache>
                <c:formatCode>0.00%</c:formatCode>
                <c:ptCount val="5"/>
                <c:pt idx="0">
                  <c:v>0.42</c:v>
                </c:pt>
                <c:pt idx="1">
                  <c:v>0.223</c:v>
                </c:pt>
                <c:pt idx="2">
                  <c:v>8.8999999999999996E-2</c:v>
                </c:pt>
                <c:pt idx="3">
                  <c:v>0.14599999999999999</c:v>
                </c:pt>
                <c:pt idx="4" formatCode="0.0%">
                  <c:v>0.122</c:v>
                </c:pt>
              </c:numCache>
            </c:numRef>
          </c:val>
          <c:extLst>
            <c:ext xmlns:c16="http://schemas.microsoft.com/office/drawing/2014/chart" uri="{C3380CC4-5D6E-409C-BE32-E72D297353CC}">
              <c16:uniqueId val="{0000000A-8B0A-4EA9-A15E-0BB6D77FD54F}"/>
            </c:ext>
          </c:extLst>
        </c:ser>
        <c:dLbls>
          <c:showLegendKey val="0"/>
          <c:showVal val="1"/>
          <c:showCatName val="0"/>
          <c:showSerName val="0"/>
          <c:showPercent val="0"/>
          <c:showBubbleSize val="0"/>
          <c:showLeaderLines val="0"/>
        </c:dLbls>
        <c:firstSliceAng val="0"/>
        <c:holeSize val="58"/>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800">
          <a:latin typeface="+mj-lt"/>
          <a:ea typeface="Open Sans" panose="020B0606030504020204" pitchFamily="34" charset="0"/>
          <a:cs typeface="Open Sans" panose="020B0606030504020204" pitchFamily="34" charset="0"/>
        </a:defRPr>
      </a:pPr>
      <a:endParaRPr lang="en-US"/>
    </a:p>
  </c:txPr>
  <c:externalData r:id="rId4">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Demand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AAF-4BE0-9A18-9F7C0998AF61}"/>
              </c:ext>
            </c:extLst>
          </c:dPt>
          <c:dPt>
            <c:idx val="1"/>
            <c:bubble3D val="0"/>
            <c:spPr>
              <a:solidFill>
                <a:schemeClr val="tx2">
                  <a:lumMod val="40000"/>
                  <a:lumOff val="60000"/>
                </a:schemeClr>
              </a:solidFill>
              <a:ln w="19050">
                <a:solidFill>
                  <a:schemeClr val="lt1"/>
                </a:solidFill>
              </a:ln>
              <a:effectLst/>
            </c:spPr>
            <c:extLst>
              <c:ext xmlns:c16="http://schemas.microsoft.com/office/drawing/2014/chart" uri="{C3380CC4-5D6E-409C-BE32-E72D297353CC}">
                <c16:uniqueId val="{00000002-9AAF-4BE0-9A18-9F7C0998AF61}"/>
              </c:ext>
            </c:extLst>
          </c:dPt>
          <c:dPt>
            <c:idx val="2"/>
            <c:bubble3D val="0"/>
            <c:spPr>
              <a:solidFill>
                <a:schemeClr val="bg1">
                  <a:lumMod val="75000"/>
                </a:schemeClr>
              </a:solidFill>
              <a:ln w="19050">
                <a:solidFill>
                  <a:schemeClr val="lt1"/>
                </a:solidFill>
              </a:ln>
              <a:effectLst/>
            </c:spPr>
            <c:extLst>
              <c:ext xmlns:c16="http://schemas.microsoft.com/office/drawing/2014/chart" uri="{C3380CC4-5D6E-409C-BE32-E72D297353CC}">
                <c16:uniqueId val="{00000003-9AAF-4BE0-9A18-9F7C0998AF61}"/>
              </c:ext>
            </c:extLst>
          </c:dPt>
          <c:dPt>
            <c:idx val="3"/>
            <c:bubble3D val="0"/>
            <c:spPr>
              <a:solidFill>
                <a:schemeClr val="accent4">
                  <a:lumMod val="20000"/>
                  <a:lumOff val="80000"/>
                </a:schemeClr>
              </a:solidFill>
              <a:ln w="19050">
                <a:solidFill>
                  <a:schemeClr val="lt1"/>
                </a:solidFill>
              </a:ln>
              <a:effectLst/>
            </c:spPr>
            <c:extLst>
              <c:ext xmlns:c16="http://schemas.microsoft.com/office/drawing/2014/chart" uri="{C3380CC4-5D6E-409C-BE32-E72D297353CC}">
                <c16:uniqueId val="{00000005-9AAF-4BE0-9A18-9F7C0998AF6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4-9AAF-4BE0-9A18-9F7C0998AF61}"/>
              </c:ext>
            </c:extLst>
          </c:dPt>
          <c:dLbls>
            <c:dLbl>
              <c:idx val="0"/>
              <c:layout>
                <c:manualLayout>
                  <c:x val="0.15017992421124707"/>
                  <c:y val="-0.62495860024395566"/>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9AAF-4BE0-9A18-9F7C0998AF61}"/>
                </c:ext>
              </c:extLst>
            </c:dLbl>
            <c:dLbl>
              <c:idx val="1"/>
              <c:layout>
                <c:manualLayout>
                  <c:x val="-0.14446119859484624"/>
                  <c:y val="-9.1471246354801986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9AAF-4BE0-9A18-9F7C0998AF61}"/>
                </c:ext>
              </c:extLst>
            </c:dLbl>
            <c:dLbl>
              <c:idx val="2"/>
              <c:layout>
                <c:manualLayout>
                  <c:x val="1.3891449566897896E-3"/>
                  <c:y val="-0.13512198791531024"/>
                </c:manualLayout>
              </c:layout>
              <c:numFmt formatCode="0.0%" sourceLinked="0"/>
              <c:spPr>
                <a:noFill/>
                <a:ln>
                  <a:noFill/>
                </a:ln>
                <a:effectLst/>
              </c:spPr>
              <c:txPr>
                <a:bodyPr rot="0" spcFirstLastPara="1" vertOverflow="overflow" horzOverflow="overflow" vert="horz" wrap="square" lIns="38100" tIns="19050" rIns="38100" bIns="19050" anchor="ctr" anchorCtr="1">
                  <a:no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36329587244311723"/>
                      <c:h val="0.11342674868530529"/>
                    </c:manualLayout>
                  </c15:layout>
                </c:ext>
                <c:ext xmlns:c16="http://schemas.microsoft.com/office/drawing/2014/chart" uri="{C3380CC4-5D6E-409C-BE32-E72D297353CC}">
                  <c16:uniqueId val="{00000003-9AAF-4BE0-9A18-9F7C0998AF61}"/>
                </c:ext>
              </c:extLst>
            </c:dLbl>
            <c:dLbl>
              <c:idx val="3"/>
              <c:layout>
                <c:manualLayout>
                  <c:x val="-0.14910087278880882"/>
                  <c:y val="-0.12383247639204155"/>
                </c:manualLayout>
              </c:layout>
              <c:numFmt formatCode="0.0%"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34766746826158512"/>
                      <c:h val="0.10440005349745186"/>
                    </c:manualLayout>
                  </c15:layout>
                </c:ext>
                <c:ext xmlns:c16="http://schemas.microsoft.com/office/drawing/2014/chart" uri="{C3380CC4-5D6E-409C-BE32-E72D297353CC}">
                  <c16:uniqueId val="{00000005-9AAF-4BE0-9A18-9F7C0998AF61}"/>
                </c:ext>
              </c:extLst>
            </c:dLbl>
            <c:dLbl>
              <c:idx val="4"/>
              <c:layout>
                <c:manualLayout>
                  <c:x val="0.11839235330332951"/>
                  <c:y val="-0.11718453385894194"/>
                </c:manualLayout>
              </c:layout>
              <c:numFmt formatCode="0.0%"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extLst>
                <c:ext xmlns:c15="http://schemas.microsoft.com/office/drawing/2012/chart" uri="{CE6537A1-D6FC-4f65-9D91-7224C49458BB}">
                  <c15:layout>
                    <c:manualLayout>
                      <c:w val="0.30998414447684064"/>
                      <c:h val="8.3079416295793893E-2"/>
                    </c:manualLayout>
                  </c15:layout>
                </c:ext>
                <c:ext xmlns:c16="http://schemas.microsoft.com/office/drawing/2014/chart" uri="{C3380CC4-5D6E-409C-BE32-E72D297353CC}">
                  <c16:uniqueId val="{00000004-9AAF-4BE0-9A18-9F7C0998AF61}"/>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showLeaderLines val="0"/>
            <c:extLst>
              <c:ext xmlns:c15="http://schemas.microsoft.com/office/drawing/2012/chart" uri="{CE6537A1-D6FC-4f65-9D91-7224C49458BB}"/>
            </c:extLst>
          </c:dLbls>
          <c:cat>
            <c:strRef>
              <c:f>Sheet1!$A$2:$A$4</c:f>
              <c:strCache>
                <c:ptCount val="2"/>
                <c:pt idx="0">
                  <c:v>DBS</c:v>
                </c:pt>
                <c:pt idx="1">
                  <c:v>Citi</c:v>
                </c:pt>
              </c:strCache>
            </c:strRef>
          </c:cat>
          <c:val>
            <c:numRef>
              <c:f>Sheet1!$B$2:$B$4</c:f>
              <c:numCache>
                <c:formatCode>0.0%</c:formatCode>
                <c:ptCount val="3"/>
                <c:pt idx="0">
                  <c:v>0.85299999999999998</c:v>
                </c:pt>
                <c:pt idx="1">
                  <c:v>0.14499999999999999</c:v>
                </c:pt>
              </c:numCache>
            </c:numRef>
          </c:val>
          <c:extLst>
            <c:ext xmlns:c16="http://schemas.microsoft.com/office/drawing/2014/chart" uri="{C3380CC4-5D6E-409C-BE32-E72D297353CC}">
              <c16:uniqueId val="{00000000-9AAF-4BE0-9A18-9F7C0998AF61}"/>
            </c:ext>
          </c:extLst>
        </c:ser>
        <c:dLbls>
          <c:showLegendKey val="0"/>
          <c:showVal val="0"/>
          <c:showCatName val="0"/>
          <c:showSerName val="0"/>
          <c:showPercent val="0"/>
          <c:showBubbleSize val="0"/>
          <c:showLeaderLines val="0"/>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Demand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AAF-4BE0-9A18-9F7C0998AF61}"/>
              </c:ext>
            </c:extLst>
          </c:dPt>
          <c:dPt>
            <c:idx val="1"/>
            <c:bubble3D val="0"/>
            <c:spPr>
              <a:solidFill>
                <a:schemeClr val="tx2">
                  <a:lumMod val="40000"/>
                  <a:lumOff val="60000"/>
                </a:schemeClr>
              </a:solidFill>
              <a:ln w="19050">
                <a:solidFill>
                  <a:schemeClr val="lt1"/>
                </a:solidFill>
              </a:ln>
              <a:effectLst/>
            </c:spPr>
            <c:extLst>
              <c:ext xmlns:c16="http://schemas.microsoft.com/office/drawing/2014/chart" uri="{C3380CC4-5D6E-409C-BE32-E72D297353CC}">
                <c16:uniqueId val="{00000002-9AAF-4BE0-9A18-9F7C0998AF61}"/>
              </c:ext>
            </c:extLst>
          </c:dPt>
          <c:dPt>
            <c:idx val="2"/>
            <c:bubble3D val="0"/>
            <c:spPr>
              <a:solidFill>
                <a:schemeClr val="bg1">
                  <a:lumMod val="75000"/>
                </a:schemeClr>
              </a:solidFill>
              <a:ln w="19050">
                <a:solidFill>
                  <a:schemeClr val="lt1"/>
                </a:solidFill>
              </a:ln>
              <a:effectLst/>
            </c:spPr>
            <c:extLst>
              <c:ext xmlns:c16="http://schemas.microsoft.com/office/drawing/2014/chart" uri="{C3380CC4-5D6E-409C-BE32-E72D297353CC}">
                <c16:uniqueId val="{00000003-9AAF-4BE0-9A18-9F7C0998AF61}"/>
              </c:ext>
            </c:extLst>
          </c:dPt>
          <c:dPt>
            <c:idx val="3"/>
            <c:bubble3D val="0"/>
            <c:spPr>
              <a:solidFill>
                <a:schemeClr val="accent4">
                  <a:lumMod val="20000"/>
                  <a:lumOff val="80000"/>
                </a:schemeClr>
              </a:solidFill>
              <a:ln w="19050">
                <a:solidFill>
                  <a:schemeClr val="lt1"/>
                </a:solidFill>
              </a:ln>
              <a:effectLst/>
            </c:spPr>
            <c:extLst>
              <c:ext xmlns:c16="http://schemas.microsoft.com/office/drawing/2014/chart" uri="{C3380CC4-5D6E-409C-BE32-E72D297353CC}">
                <c16:uniqueId val="{00000005-9AAF-4BE0-9A18-9F7C0998AF61}"/>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4-9AAF-4BE0-9A18-9F7C0998AF61}"/>
              </c:ext>
            </c:extLst>
          </c:dPt>
          <c:dLbls>
            <c:dLbl>
              <c:idx val="0"/>
              <c:layout>
                <c:manualLayout>
                  <c:x val="0.11882076387951489"/>
                  <c:y val="-0.16971274627806099"/>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C00000"/>
                      </a:solidFill>
                      <a:latin typeface="+mn-lt"/>
                      <a:ea typeface="+mn-ea"/>
                      <a:cs typeface="+mn-cs"/>
                    </a:defRPr>
                  </a:pPr>
                  <a:endParaRPr lang="en-US"/>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9AAF-4BE0-9A18-9F7C0998AF61}"/>
                </c:ext>
              </c:extLst>
            </c:dLbl>
            <c:dLbl>
              <c:idx val="1"/>
              <c:layout>
                <c:manualLayout>
                  <c:x val="-0.13923467187289093"/>
                  <c:y val="0.12653381047393633"/>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9AAF-4BE0-9A18-9F7C0998AF61}"/>
                </c:ext>
              </c:extLst>
            </c:dLbl>
            <c:dLbl>
              <c:idx val="2"/>
              <c:layout>
                <c:manualLayout>
                  <c:x val="-0.15540645093320252"/>
                  <c:y val="4.4411840734128745E-2"/>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9AAF-4BE0-9A18-9F7C0998AF61}"/>
                </c:ext>
              </c:extLst>
            </c:dLbl>
            <c:dLbl>
              <c:idx val="3"/>
              <c:layout>
                <c:manualLayout>
                  <c:x val="-0.1538817043580179"/>
                  <c:y val="-5.0095219438902071E-2"/>
                </c:manualLayout>
              </c:layout>
              <c:numFmt formatCode="0.0%" sourceLinked="0"/>
              <c:spPr>
                <a:noFill/>
                <a:ln>
                  <a:noFill/>
                </a:ln>
                <a:effectLst/>
              </c:spPr>
              <c:txPr>
                <a:bodyPr rot="0" spcFirstLastPara="1" vertOverflow="overflow" horzOverflow="overflow"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5-9AAF-4BE0-9A18-9F7C0998AF61}"/>
                </c:ext>
              </c:extLst>
            </c:dLbl>
            <c:dLbl>
              <c:idx val="4"/>
              <c:layout>
                <c:manualLayout>
                  <c:x val="-6.9762608687063563E-2"/>
                  <c:y val="-0.129053137091758"/>
                </c:manualLayout>
              </c:layout>
              <c:numFmt formatCode="0.0%" sourceLinked="0"/>
              <c:spPr>
                <a:noFill/>
                <a:ln>
                  <a:noFill/>
                </a:ln>
                <a:effectLst/>
              </c:spPr>
              <c:txPr>
                <a:bodyPr rot="0" spcFirstLastPara="1" vertOverflow="overflow" horzOverflow="overflow"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4-9AAF-4BE0-9A18-9F7C0998AF61}"/>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eparator>
</c:separator>
            <c:showLeaderLines val="0"/>
            <c:extLst>
              <c:ext xmlns:c15="http://schemas.microsoft.com/office/drawing/2012/chart" uri="{CE6537A1-D6FC-4f65-9D91-7224C49458BB}"/>
            </c:extLst>
          </c:dLbls>
          <c:cat>
            <c:strRef>
              <c:f>Sheet1!$A$2:$A$6</c:f>
              <c:strCache>
                <c:ptCount val="5"/>
                <c:pt idx="0">
                  <c:v>DBS</c:v>
                </c:pt>
                <c:pt idx="1">
                  <c:v>UBS</c:v>
                </c:pt>
                <c:pt idx="2">
                  <c:v>UOB</c:v>
                </c:pt>
                <c:pt idx="3">
                  <c:v>UOBKH</c:v>
                </c:pt>
                <c:pt idx="4">
                  <c:v>MBB</c:v>
                </c:pt>
              </c:strCache>
            </c:strRef>
          </c:cat>
          <c:val>
            <c:numRef>
              <c:f>Sheet1!$B$2:$B$6</c:f>
              <c:numCache>
                <c:formatCode>0.0%</c:formatCode>
                <c:ptCount val="5"/>
                <c:pt idx="0">
                  <c:v>0.42</c:v>
                </c:pt>
                <c:pt idx="1">
                  <c:v>0.223</c:v>
                </c:pt>
                <c:pt idx="2">
                  <c:v>0.122</c:v>
                </c:pt>
                <c:pt idx="3">
                  <c:v>0.14599999999999999</c:v>
                </c:pt>
                <c:pt idx="4">
                  <c:v>8.8999999999999996E-2</c:v>
                </c:pt>
              </c:numCache>
            </c:numRef>
          </c:val>
          <c:extLst>
            <c:ext xmlns:c16="http://schemas.microsoft.com/office/drawing/2014/chart" uri="{C3380CC4-5D6E-409C-BE32-E72D297353CC}">
              <c16:uniqueId val="{00000000-9AAF-4BE0-9A18-9F7C0998AF61}"/>
            </c:ext>
          </c:extLst>
        </c:ser>
        <c:dLbls>
          <c:showLegendKey val="0"/>
          <c:showVal val="0"/>
          <c:showCatName val="0"/>
          <c:showSerName val="0"/>
          <c:showPercent val="0"/>
          <c:showBubbleSize val="0"/>
          <c:showLeaderLines val="0"/>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0" i="0" u="none" strike="noStrike" kern="1200" spc="0" baseline="0">
                <a:solidFill>
                  <a:schemeClr val="tx1"/>
                </a:solidFill>
                <a:latin typeface="Arial" panose="020B0604020202020204" pitchFamily="34" charset="0"/>
                <a:ea typeface="+mn-ea"/>
                <a:cs typeface="Arial" panose="020B0604020202020204" pitchFamily="34" charset="0"/>
              </a:defRPr>
            </a:pPr>
            <a:r>
              <a:rPr lang="en-SG"/>
              <a:t>No.</a:t>
            </a:r>
            <a:r>
              <a:rPr lang="en-SG" baseline="0"/>
              <a:t> </a:t>
            </a:r>
            <a:r>
              <a:rPr lang="en-SG"/>
              <a:t>of non-deal roadshows</a:t>
            </a:r>
          </a:p>
        </c:rich>
      </c:tx>
      <c:overlay val="0"/>
      <c:spPr>
        <a:noFill/>
        <a:ln>
          <a:noFill/>
        </a:ln>
        <a:effectLst/>
      </c:spPr>
      <c:txPr>
        <a:bodyPr rot="0" spcFirstLastPara="1" vertOverflow="ellipsis" vert="horz" wrap="square" anchor="ctr" anchorCtr="1"/>
        <a:lstStyle/>
        <a:p>
          <a:pPr>
            <a:defRPr sz="108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2.6881481481481482E-2"/>
          <c:y val="0.3534826500074163"/>
          <c:w val="0.95085995370370369"/>
          <c:h val="0.49183199817519385"/>
        </c:manualLayout>
      </c:layout>
      <c:barChart>
        <c:barDir val="col"/>
        <c:grouping val="clustered"/>
        <c:varyColors val="0"/>
        <c:ser>
          <c:idx val="1"/>
          <c:order val="1"/>
          <c:tx>
            <c:strRef>
              <c:f>Sheet1!$F$3</c:f>
              <c:strCache>
                <c:ptCount val="1"/>
                <c:pt idx="0">
                  <c:v>Non-Deal</c:v>
                </c:pt>
              </c:strCache>
            </c:strRef>
          </c:tx>
          <c:spPr>
            <a:solidFill>
              <a:srgbClr val="80848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Sheet1!$D$4:$D$12</c:f>
              <c:numCache>
                <c:formatCode>General</c:formatCode>
                <c:ptCount val="9"/>
                <c:pt idx="0">
                  <c:v>2017</c:v>
                </c:pt>
                <c:pt idx="1">
                  <c:v>2018</c:v>
                </c:pt>
                <c:pt idx="2">
                  <c:v>2019</c:v>
                </c:pt>
                <c:pt idx="3">
                  <c:v>2020</c:v>
                </c:pt>
                <c:pt idx="4">
                  <c:v>2021</c:v>
                </c:pt>
                <c:pt idx="5">
                  <c:v>2022</c:v>
                </c:pt>
                <c:pt idx="6">
                  <c:v>2023</c:v>
                </c:pt>
                <c:pt idx="7">
                  <c:v>2024</c:v>
                </c:pt>
                <c:pt idx="8">
                  <c:v>2025</c:v>
                </c:pt>
              </c:numCache>
            </c:numRef>
          </c:cat>
          <c:val>
            <c:numRef>
              <c:f>Sheet1!$F$4:$F$12</c:f>
              <c:numCache>
                <c:formatCode>#,##0;\(#,##0\);\-</c:formatCode>
                <c:ptCount val="9"/>
                <c:pt idx="0">
                  <c:v>78</c:v>
                </c:pt>
                <c:pt idx="1">
                  <c:v>114</c:v>
                </c:pt>
                <c:pt idx="2">
                  <c:v>114</c:v>
                </c:pt>
                <c:pt idx="3">
                  <c:v>120</c:v>
                </c:pt>
                <c:pt idx="4">
                  <c:v>71</c:v>
                </c:pt>
                <c:pt idx="5">
                  <c:v>144</c:v>
                </c:pt>
                <c:pt idx="6">
                  <c:v>83</c:v>
                </c:pt>
                <c:pt idx="7">
                  <c:v>54</c:v>
                </c:pt>
                <c:pt idx="8">
                  <c:v>115</c:v>
                </c:pt>
              </c:numCache>
            </c:numRef>
          </c:val>
          <c:extLst>
            <c:ext xmlns:c16="http://schemas.microsoft.com/office/drawing/2014/chart" uri="{C3380CC4-5D6E-409C-BE32-E72D297353CC}">
              <c16:uniqueId val="{00000000-E82F-409E-928A-25C32ECD84CD}"/>
            </c:ext>
          </c:extLst>
        </c:ser>
        <c:dLbls>
          <c:dLblPos val="outEnd"/>
          <c:showLegendKey val="0"/>
          <c:showVal val="1"/>
          <c:showCatName val="0"/>
          <c:showSerName val="0"/>
          <c:showPercent val="0"/>
          <c:showBubbleSize val="0"/>
        </c:dLbls>
        <c:gapWidth val="100"/>
        <c:overlap val="-27"/>
        <c:axId val="953667823"/>
        <c:axId val="953664495"/>
        <c:extLst>
          <c:ext xmlns:c15="http://schemas.microsoft.com/office/drawing/2012/chart" uri="{02D57815-91ED-43cb-92C2-25804820EDAC}">
            <c15:filteredBarSeries>
              <c15:ser>
                <c:idx val="0"/>
                <c:order val="0"/>
                <c:tx>
                  <c:strRef>
                    <c:extLst>
                      <c:ext uri="{02D57815-91ED-43cb-92C2-25804820EDAC}">
                        <c15:formulaRef>
                          <c15:sqref>Sheet1!$E$3</c15:sqref>
                        </c15:formulaRef>
                      </c:ext>
                    </c:extLst>
                    <c:strCache>
                      <c:ptCount val="1"/>
                      <c:pt idx="0">
                        <c:v>Deal</c:v>
                      </c:pt>
                    </c:strCache>
                  </c:strRef>
                </c:tx>
                <c:spPr>
                  <a:solidFill>
                    <a:srgbClr val="1680C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ormulaRef>
                          <c15:sqref>Sheet1!$D$4:$D$12</c15:sqref>
                        </c15:formulaRef>
                      </c:ext>
                    </c:extLst>
                    <c:numCache>
                      <c:formatCode>General</c:formatCode>
                      <c:ptCount val="9"/>
                      <c:pt idx="0">
                        <c:v>2017</c:v>
                      </c:pt>
                      <c:pt idx="1">
                        <c:v>2018</c:v>
                      </c:pt>
                      <c:pt idx="2">
                        <c:v>2019</c:v>
                      </c:pt>
                      <c:pt idx="3">
                        <c:v>2020</c:v>
                      </c:pt>
                      <c:pt idx="4">
                        <c:v>2021</c:v>
                      </c:pt>
                      <c:pt idx="5">
                        <c:v>2022</c:v>
                      </c:pt>
                      <c:pt idx="6">
                        <c:v>2023</c:v>
                      </c:pt>
                      <c:pt idx="7">
                        <c:v>2024</c:v>
                      </c:pt>
                      <c:pt idx="8">
                        <c:v>2025</c:v>
                      </c:pt>
                    </c:numCache>
                  </c:numRef>
                </c:cat>
                <c:val>
                  <c:numRef>
                    <c:extLst>
                      <c:ext uri="{02D57815-91ED-43cb-92C2-25804820EDAC}">
                        <c15:formulaRef>
                          <c15:sqref>Sheet1!$E$4:$E$12</c15:sqref>
                        </c15:formulaRef>
                      </c:ext>
                    </c:extLst>
                    <c:numCache>
                      <c:formatCode>#,##0;\(#,##0\);\-</c:formatCode>
                      <c:ptCount val="9"/>
                      <c:pt idx="0">
                        <c:v>18</c:v>
                      </c:pt>
                      <c:pt idx="1">
                        <c:v>18</c:v>
                      </c:pt>
                      <c:pt idx="2">
                        <c:v>19</c:v>
                      </c:pt>
                      <c:pt idx="3">
                        <c:v>6</c:v>
                      </c:pt>
                      <c:pt idx="4">
                        <c:v>13</c:v>
                      </c:pt>
                      <c:pt idx="5">
                        <c:v>20</c:v>
                      </c:pt>
                      <c:pt idx="6">
                        <c:v>4</c:v>
                      </c:pt>
                      <c:pt idx="7">
                        <c:v>0</c:v>
                      </c:pt>
                      <c:pt idx="8">
                        <c:v>6</c:v>
                      </c:pt>
                    </c:numCache>
                  </c:numRef>
                </c:val>
                <c:extLst>
                  <c:ext xmlns:c16="http://schemas.microsoft.com/office/drawing/2014/chart" uri="{C3380CC4-5D6E-409C-BE32-E72D297353CC}">
                    <c16:uniqueId val="{00000001-E82F-409E-928A-25C32ECD84CD}"/>
                  </c:ext>
                </c:extLst>
              </c15:ser>
            </c15:filteredBarSeries>
          </c:ext>
        </c:extLst>
      </c:barChart>
      <c:catAx>
        <c:axId val="953667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53664495"/>
        <c:crosses val="autoZero"/>
        <c:auto val="1"/>
        <c:lblAlgn val="ctr"/>
        <c:lblOffset val="100"/>
        <c:noMultiLvlLbl val="0"/>
      </c:catAx>
      <c:valAx>
        <c:axId val="953664495"/>
        <c:scaling>
          <c:orientation val="minMax"/>
          <c:max val="160"/>
          <c:min val="0"/>
        </c:scaling>
        <c:delete val="0"/>
        <c:axPos val="l"/>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9536678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8999412247509876E-2"/>
          <c:y val="3.8952438709857311E-2"/>
          <c:w val="0.94200117550498019"/>
          <c:h val="0.88321350648626418"/>
        </c:manualLayout>
      </c:layout>
      <c:areaChart>
        <c:grouping val="standard"/>
        <c:varyColors val="0"/>
        <c:ser>
          <c:idx val="0"/>
          <c:order val="0"/>
          <c:spPr>
            <a:gradFill>
              <a:gsLst>
                <a:gs pos="100000">
                  <a:schemeClr val="accent1">
                    <a:lumMod val="5000"/>
                    <a:lumOff val="95000"/>
                  </a:schemeClr>
                </a:gs>
                <a:gs pos="40000">
                  <a:schemeClr val="tx2">
                    <a:lumMod val="25000"/>
                    <a:lumOff val="75000"/>
                  </a:schemeClr>
                </a:gs>
              </a:gsLst>
              <a:lin ang="5400000" scaled="1"/>
            </a:gradFill>
            <a:ln>
              <a:noFill/>
            </a:ln>
            <a:effectLst/>
          </c:spPr>
          <c:cat>
            <c:numRef>
              <c:f>'KDC REIT 2'!$B$7:$B$17</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'KDC REIT 2'!$C$7:$C$17</c:f>
              <c:numCache>
                <c:formatCode>#,##0.0</c:formatCode>
                <c:ptCount val="11"/>
                <c:pt idx="0">
                  <c:v>1.1281859999999999</c:v>
                </c:pt>
                <c:pt idx="1">
                  <c:v>1.211171</c:v>
                </c:pt>
                <c:pt idx="2">
                  <c:v>1.5898219999999998</c:v>
                </c:pt>
                <c:pt idx="3">
                  <c:v>1.763282</c:v>
                </c:pt>
                <c:pt idx="4">
                  <c:v>2.2591439999999996</c:v>
                </c:pt>
                <c:pt idx="5">
                  <c:v>2.927994</c:v>
                </c:pt>
                <c:pt idx="6">
                  <c:v>3.349828</c:v>
                </c:pt>
                <c:pt idx="7">
                  <c:v>3.7801499999999999</c:v>
                </c:pt>
                <c:pt idx="8">
                  <c:v>4.1076629999999996</c:v>
                </c:pt>
                <c:pt idx="9">
                  <c:v>4.006551</c:v>
                </c:pt>
                <c:pt idx="10">
                  <c:v>5.5432329999999999</c:v>
                </c:pt>
              </c:numCache>
            </c:numRef>
          </c:val>
          <c:extLst>
            <c:ext xmlns:c16="http://schemas.microsoft.com/office/drawing/2014/chart" uri="{C3380CC4-5D6E-409C-BE32-E72D297353CC}">
              <c16:uniqueId val="{00000000-2DF8-4653-9F99-FB2DEEA744C4}"/>
            </c:ext>
          </c:extLst>
        </c:ser>
        <c:dLbls>
          <c:showLegendKey val="0"/>
          <c:showVal val="0"/>
          <c:showCatName val="0"/>
          <c:showSerName val="0"/>
          <c:showPercent val="0"/>
          <c:showBubbleSize val="0"/>
        </c:dLbls>
        <c:axId val="269550047"/>
        <c:axId val="269547167"/>
      </c:areaChart>
      <c:lineChart>
        <c:grouping val="standard"/>
        <c:varyColors val="0"/>
        <c:ser>
          <c:idx val="1"/>
          <c:order val="1"/>
          <c:spPr>
            <a:ln w="15875" cap="rnd">
              <a:solidFill>
                <a:schemeClr val="tx2">
                  <a:lumMod val="25000"/>
                  <a:lumOff val="75000"/>
                </a:schemeClr>
              </a:solidFill>
              <a:round/>
            </a:ln>
            <a:effectLst/>
          </c:spPr>
          <c:marker>
            <c:symbol val="none"/>
          </c:marker>
          <c:dLbls>
            <c:dLbl>
              <c:idx val="10"/>
              <c:layout>
                <c:manualLayout>
                  <c:x val="-1.6225142243058464E-2"/>
                  <c:y val="-2.53988303115219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39A-4CB7-AC07-EA71501A1487}"/>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'KDC REIT 2'!$B$7:$B$17</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'KDC REIT 2'!$C$7:$C$17</c:f>
              <c:numCache>
                <c:formatCode>#,##0.0</c:formatCode>
                <c:ptCount val="11"/>
                <c:pt idx="0">
                  <c:v>1.1281859999999999</c:v>
                </c:pt>
                <c:pt idx="1">
                  <c:v>1.211171</c:v>
                </c:pt>
                <c:pt idx="2">
                  <c:v>1.5898219999999998</c:v>
                </c:pt>
                <c:pt idx="3">
                  <c:v>1.763282</c:v>
                </c:pt>
                <c:pt idx="4">
                  <c:v>2.2591439999999996</c:v>
                </c:pt>
                <c:pt idx="5">
                  <c:v>2.927994</c:v>
                </c:pt>
                <c:pt idx="6">
                  <c:v>3.349828</c:v>
                </c:pt>
                <c:pt idx="7">
                  <c:v>3.7801499999999999</c:v>
                </c:pt>
                <c:pt idx="8">
                  <c:v>4.1076629999999996</c:v>
                </c:pt>
                <c:pt idx="9">
                  <c:v>4.006551</c:v>
                </c:pt>
                <c:pt idx="10">
                  <c:v>5.5432329999999999</c:v>
                </c:pt>
              </c:numCache>
            </c:numRef>
          </c:val>
          <c:smooth val="0"/>
          <c:extLst>
            <c:ext xmlns:c16="http://schemas.microsoft.com/office/drawing/2014/chart" uri="{C3380CC4-5D6E-409C-BE32-E72D297353CC}">
              <c16:uniqueId val="{00000001-2DF8-4653-9F99-FB2DEEA744C4}"/>
            </c:ext>
          </c:extLst>
        </c:ser>
        <c:dLbls>
          <c:showLegendKey val="0"/>
          <c:showVal val="0"/>
          <c:showCatName val="0"/>
          <c:showSerName val="0"/>
          <c:showPercent val="0"/>
          <c:showBubbleSize val="0"/>
        </c:dLbls>
        <c:marker val="1"/>
        <c:smooth val="0"/>
        <c:axId val="269550047"/>
        <c:axId val="269547167"/>
      </c:lineChart>
      <c:catAx>
        <c:axId val="26955004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69547167"/>
        <c:crosses val="autoZero"/>
        <c:auto val="1"/>
        <c:lblAlgn val="ctr"/>
        <c:lblOffset val="100"/>
        <c:noMultiLvlLbl val="0"/>
      </c:catAx>
      <c:valAx>
        <c:axId val="269547167"/>
        <c:scaling>
          <c:orientation val="minMax"/>
          <c:min val="1"/>
        </c:scaling>
        <c:delete val="1"/>
        <c:axPos val="l"/>
        <c:numFmt formatCode="#,##0.0" sourceLinked="1"/>
        <c:majorTickMark val="out"/>
        <c:minorTickMark val="none"/>
        <c:tickLblPos val="nextTo"/>
        <c:crossAx val="269550047"/>
        <c:crosses val="autoZero"/>
        <c:crossBetween val="midCat"/>
      </c:valAx>
      <c:spPr>
        <a:noFill/>
        <a:ln>
          <a:noFill/>
        </a:ln>
        <a:effectLst/>
      </c:spPr>
    </c:plotArea>
    <c:plotVisOnly val="1"/>
    <c:dispBlanksAs val="zero"/>
    <c:showDLblsOverMax val="0"/>
  </c:chart>
  <c:spPr>
    <a:noFill/>
    <a:ln>
      <a:noFill/>
    </a:ln>
    <a:effectLst/>
  </c:spPr>
  <c:txPr>
    <a:bodyPr/>
    <a:lstStyle/>
    <a:p>
      <a:pPr>
        <a:defRPr sz="900">
          <a:latin typeface="Arial" panose="020B0604020202020204" pitchFamily="34" charset="0"/>
          <a:cs typeface="Arial" panose="020B0604020202020204" pitchFamily="34" charset="0"/>
        </a:defRPr>
      </a:pPr>
      <a:endParaRPr lang="en-US"/>
    </a:p>
  </c:txPr>
  <c:externalData r:id="rId4">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880781381427001E-2"/>
          <c:y val="2.7705627705627706E-2"/>
          <c:w val="0.942828400469234"/>
          <c:h val="0.79991355626001293"/>
        </c:manualLayout>
      </c:layout>
      <c:lineChart>
        <c:grouping val="standard"/>
        <c:varyColors val="0"/>
        <c:ser>
          <c:idx val="1"/>
          <c:order val="0"/>
          <c:tx>
            <c:strRef>
              <c:f>Sheet1!$C$1</c:f>
              <c:strCache>
                <c:ptCount val="1"/>
                <c:pt idx="0">
                  <c:v>IPO Offer Price</c:v>
                </c:pt>
              </c:strCache>
            </c:strRef>
          </c:tx>
          <c:spPr>
            <a:ln w="15875" cap="rnd">
              <a:solidFill>
                <a:srgbClr val="B4B8B9"/>
              </a:solidFill>
              <a:prstDash val="sysDash"/>
              <a:round/>
            </a:ln>
            <a:effectLst/>
          </c:spPr>
          <c:marker>
            <c:symbol val="none"/>
          </c:marker>
          <c:cat>
            <c:numRef>
              <c:f>Sheet1!$A$2:$A$1107</c:f>
              <c:numCache>
                <c:formatCode>m/d/yyyy</c:formatCode>
                <c:ptCount val="1106"/>
                <c:pt idx="0">
                  <c:v>44536</c:v>
                </c:pt>
                <c:pt idx="1">
                  <c:v>44537</c:v>
                </c:pt>
                <c:pt idx="2">
                  <c:v>44538</c:v>
                </c:pt>
                <c:pt idx="3">
                  <c:v>44539</c:v>
                </c:pt>
                <c:pt idx="4">
                  <c:v>44540</c:v>
                </c:pt>
                <c:pt idx="5">
                  <c:v>44543</c:v>
                </c:pt>
                <c:pt idx="6">
                  <c:v>44544</c:v>
                </c:pt>
                <c:pt idx="7">
                  <c:v>44545</c:v>
                </c:pt>
                <c:pt idx="8">
                  <c:v>44546</c:v>
                </c:pt>
                <c:pt idx="9">
                  <c:v>44547</c:v>
                </c:pt>
                <c:pt idx="10">
                  <c:v>44550</c:v>
                </c:pt>
                <c:pt idx="11">
                  <c:v>44551</c:v>
                </c:pt>
                <c:pt idx="12">
                  <c:v>44552</c:v>
                </c:pt>
                <c:pt idx="13">
                  <c:v>44553</c:v>
                </c:pt>
                <c:pt idx="14">
                  <c:v>44554</c:v>
                </c:pt>
                <c:pt idx="15">
                  <c:v>44557</c:v>
                </c:pt>
                <c:pt idx="16">
                  <c:v>44558</c:v>
                </c:pt>
                <c:pt idx="17">
                  <c:v>44559</c:v>
                </c:pt>
                <c:pt idx="18">
                  <c:v>44560</c:v>
                </c:pt>
                <c:pt idx="19">
                  <c:v>44561</c:v>
                </c:pt>
                <c:pt idx="20">
                  <c:v>44564</c:v>
                </c:pt>
                <c:pt idx="21">
                  <c:v>44565</c:v>
                </c:pt>
                <c:pt idx="22">
                  <c:v>44566</c:v>
                </c:pt>
                <c:pt idx="23">
                  <c:v>44567</c:v>
                </c:pt>
                <c:pt idx="24">
                  <c:v>44568</c:v>
                </c:pt>
                <c:pt idx="25">
                  <c:v>44571</c:v>
                </c:pt>
                <c:pt idx="26">
                  <c:v>44572</c:v>
                </c:pt>
                <c:pt idx="27">
                  <c:v>44573</c:v>
                </c:pt>
                <c:pt idx="28">
                  <c:v>44574</c:v>
                </c:pt>
                <c:pt idx="29">
                  <c:v>44575</c:v>
                </c:pt>
                <c:pt idx="30">
                  <c:v>44578</c:v>
                </c:pt>
                <c:pt idx="31">
                  <c:v>44579</c:v>
                </c:pt>
                <c:pt idx="32">
                  <c:v>44580</c:v>
                </c:pt>
                <c:pt idx="33">
                  <c:v>44581</c:v>
                </c:pt>
                <c:pt idx="34">
                  <c:v>44582</c:v>
                </c:pt>
                <c:pt idx="35">
                  <c:v>44585</c:v>
                </c:pt>
                <c:pt idx="36">
                  <c:v>44586</c:v>
                </c:pt>
                <c:pt idx="37">
                  <c:v>44587</c:v>
                </c:pt>
                <c:pt idx="38">
                  <c:v>44588</c:v>
                </c:pt>
                <c:pt idx="39">
                  <c:v>44589</c:v>
                </c:pt>
                <c:pt idx="40">
                  <c:v>44592</c:v>
                </c:pt>
                <c:pt idx="41">
                  <c:v>44595</c:v>
                </c:pt>
                <c:pt idx="42">
                  <c:v>44596</c:v>
                </c:pt>
                <c:pt idx="43">
                  <c:v>44599</c:v>
                </c:pt>
                <c:pt idx="44">
                  <c:v>44600</c:v>
                </c:pt>
                <c:pt idx="45">
                  <c:v>44601</c:v>
                </c:pt>
                <c:pt idx="46">
                  <c:v>44602</c:v>
                </c:pt>
                <c:pt idx="47">
                  <c:v>44603</c:v>
                </c:pt>
                <c:pt idx="48">
                  <c:v>44606</c:v>
                </c:pt>
                <c:pt idx="49">
                  <c:v>44607</c:v>
                </c:pt>
                <c:pt idx="50">
                  <c:v>44608</c:v>
                </c:pt>
                <c:pt idx="51">
                  <c:v>44609</c:v>
                </c:pt>
                <c:pt idx="52">
                  <c:v>44610</c:v>
                </c:pt>
                <c:pt idx="53">
                  <c:v>44613</c:v>
                </c:pt>
                <c:pt idx="54">
                  <c:v>44614</c:v>
                </c:pt>
                <c:pt idx="55">
                  <c:v>44615</c:v>
                </c:pt>
                <c:pt idx="56">
                  <c:v>44616</c:v>
                </c:pt>
                <c:pt idx="57">
                  <c:v>44617</c:v>
                </c:pt>
                <c:pt idx="58">
                  <c:v>44620</c:v>
                </c:pt>
                <c:pt idx="59">
                  <c:v>44621</c:v>
                </c:pt>
                <c:pt idx="60">
                  <c:v>44622</c:v>
                </c:pt>
                <c:pt idx="61">
                  <c:v>44623</c:v>
                </c:pt>
                <c:pt idx="62">
                  <c:v>44624</c:v>
                </c:pt>
                <c:pt idx="63">
                  <c:v>44627</c:v>
                </c:pt>
                <c:pt idx="64">
                  <c:v>44628</c:v>
                </c:pt>
                <c:pt idx="65">
                  <c:v>44629</c:v>
                </c:pt>
                <c:pt idx="66">
                  <c:v>44630</c:v>
                </c:pt>
                <c:pt idx="67">
                  <c:v>44631</c:v>
                </c:pt>
                <c:pt idx="68">
                  <c:v>44634</c:v>
                </c:pt>
                <c:pt idx="69">
                  <c:v>44635</c:v>
                </c:pt>
                <c:pt idx="70">
                  <c:v>44636</c:v>
                </c:pt>
                <c:pt idx="71">
                  <c:v>44637</c:v>
                </c:pt>
                <c:pt idx="72">
                  <c:v>44638</c:v>
                </c:pt>
                <c:pt idx="73">
                  <c:v>44641</c:v>
                </c:pt>
                <c:pt idx="74">
                  <c:v>44642</c:v>
                </c:pt>
                <c:pt idx="75">
                  <c:v>44643</c:v>
                </c:pt>
                <c:pt idx="76">
                  <c:v>44644</c:v>
                </c:pt>
                <c:pt idx="77">
                  <c:v>44645</c:v>
                </c:pt>
                <c:pt idx="78">
                  <c:v>44648</c:v>
                </c:pt>
                <c:pt idx="79">
                  <c:v>44649</c:v>
                </c:pt>
                <c:pt idx="80">
                  <c:v>44650</c:v>
                </c:pt>
                <c:pt idx="81">
                  <c:v>44651</c:v>
                </c:pt>
                <c:pt idx="82">
                  <c:v>44652</c:v>
                </c:pt>
                <c:pt idx="83">
                  <c:v>44655</c:v>
                </c:pt>
                <c:pt idx="84">
                  <c:v>44656</c:v>
                </c:pt>
                <c:pt idx="85">
                  <c:v>44657</c:v>
                </c:pt>
                <c:pt idx="86">
                  <c:v>44658</c:v>
                </c:pt>
                <c:pt idx="87">
                  <c:v>44659</c:v>
                </c:pt>
                <c:pt idx="88">
                  <c:v>44662</c:v>
                </c:pt>
                <c:pt idx="89">
                  <c:v>44663</c:v>
                </c:pt>
                <c:pt idx="90">
                  <c:v>44664</c:v>
                </c:pt>
                <c:pt idx="91">
                  <c:v>44665</c:v>
                </c:pt>
                <c:pt idx="92">
                  <c:v>44669</c:v>
                </c:pt>
                <c:pt idx="93">
                  <c:v>44670</c:v>
                </c:pt>
                <c:pt idx="94">
                  <c:v>44671</c:v>
                </c:pt>
                <c:pt idx="95">
                  <c:v>44672</c:v>
                </c:pt>
                <c:pt idx="96">
                  <c:v>44673</c:v>
                </c:pt>
                <c:pt idx="97">
                  <c:v>44676</c:v>
                </c:pt>
                <c:pt idx="98">
                  <c:v>44677</c:v>
                </c:pt>
                <c:pt idx="99">
                  <c:v>44678</c:v>
                </c:pt>
                <c:pt idx="100">
                  <c:v>44679</c:v>
                </c:pt>
                <c:pt idx="101">
                  <c:v>44680</c:v>
                </c:pt>
                <c:pt idx="102">
                  <c:v>44685</c:v>
                </c:pt>
                <c:pt idx="103">
                  <c:v>44686</c:v>
                </c:pt>
                <c:pt idx="104">
                  <c:v>44687</c:v>
                </c:pt>
                <c:pt idx="105">
                  <c:v>44690</c:v>
                </c:pt>
                <c:pt idx="106">
                  <c:v>44691</c:v>
                </c:pt>
                <c:pt idx="107">
                  <c:v>44692</c:v>
                </c:pt>
                <c:pt idx="108">
                  <c:v>44693</c:v>
                </c:pt>
                <c:pt idx="109">
                  <c:v>44694</c:v>
                </c:pt>
                <c:pt idx="110">
                  <c:v>44698</c:v>
                </c:pt>
                <c:pt idx="111">
                  <c:v>44699</c:v>
                </c:pt>
                <c:pt idx="112">
                  <c:v>44700</c:v>
                </c:pt>
                <c:pt idx="113">
                  <c:v>44701</c:v>
                </c:pt>
                <c:pt idx="114">
                  <c:v>44704</c:v>
                </c:pt>
                <c:pt idx="115">
                  <c:v>44705</c:v>
                </c:pt>
                <c:pt idx="116">
                  <c:v>44706</c:v>
                </c:pt>
                <c:pt idx="117">
                  <c:v>44707</c:v>
                </c:pt>
                <c:pt idx="118">
                  <c:v>44708</c:v>
                </c:pt>
                <c:pt idx="119">
                  <c:v>44711</c:v>
                </c:pt>
                <c:pt idx="120">
                  <c:v>44712</c:v>
                </c:pt>
                <c:pt idx="121">
                  <c:v>44713</c:v>
                </c:pt>
                <c:pt idx="122">
                  <c:v>44714</c:v>
                </c:pt>
                <c:pt idx="123">
                  <c:v>44715</c:v>
                </c:pt>
                <c:pt idx="124">
                  <c:v>44718</c:v>
                </c:pt>
                <c:pt idx="125">
                  <c:v>44719</c:v>
                </c:pt>
                <c:pt idx="126">
                  <c:v>44720</c:v>
                </c:pt>
                <c:pt idx="127">
                  <c:v>44721</c:v>
                </c:pt>
                <c:pt idx="128">
                  <c:v>44722</c:v>
                </c:pt>
                <c:pt idx="129">
                  <c:v>44725</c:v>
                </c:pt>
                <c:pt idx="130">
                  <c:v>44726</c:v>
                </c:pt>
                <c:pt idx="131">
                  <c:v>44727</c:v>
                </c:pt>
                <c:pt idx="132">
                  <c:v>44728</c:v>
                </c:pt>
                <c:pt idx="133">
                  <c:v>44729</c:v>
                </c:pt>
                <c:pt idx="134">
                  <c:v>44732</c:v>
                </c:pt>
                <c:pt idx="135">
                  <c:v>44733</c:v>
                </c:pt>
                <c:pt idx="136">
                  <c:v>44734</c:v>
                </c:pt>
                <c:pt idx="137">
                  <c:v>44735</c:v>
                </c:pt>
                <c:pt idx="138">
                  <c:v>44736</c:v>
                </c:pt>
                <c:pt idx="139">
                  <c:v>44739</c:v>
                </c:pt>
                <c:pt idx="140">
                  <c:v>44740</c:v>
                </c:pt>
                <c:pt idx="141">
                  <c:v>44741</c:v>
                </c:pt>
                <c:pt idx="142">
                  <c:v>44742</c:v>
                </c:pt>
                <c:pt idx="143">
                  <c:v>44743</c:v>
                </c:pt>
                <c:pt idx="144">
                  <c:v>44746</c:v>
                </c:pt>
                <c:pt idx="145">
                  <c:v>44747</c:v>
                </c:pt>
                <c:pt idx="146">
                  <c:v>44748</c:v>
                </c:pt>
                <c:pt idx="147">
                  <c:v>44749</c:v>
                </c:pt>
                <c:pt idx="148">
                  <c:v>44750</c:v>
                </c:pt>
                <c:pt idx="149">
                  <c:v>44754</c:v>
                </c:pt>
                <c:pt idx="150">
                  <c:v>44755</c:v>
                </c:pt>
                <c:pt idx="151">
                  <c:v>44756</c:v>
                </c:pt>
                <c:pt idx="152">
                  <c:v>44757</c:v>
                </c:pt>
                <c:pt idx="153">
                  <c:v>44760</c:v>
                </c:pt>
                <c:pt idx="154">
                  <c:v>44761</c:v>
                </c:pt>
                <c:pt idx="155">
                  <c:v>44762</c:v>
                </c:pt>
                <c:pt idx="156">
                  <c:v>44763</c:v>
                </c:pt>
                <c:pt idx="157">
                  <c:v>44764</c:v>
                </c:pt>
                <c:pt idx="158">
                  <c:v>44767</c:v>
                </c:pt>
                <c:pt idx="159">
                  <c:v>44768</c:v>
                </c:pt>
                <c:pt idx="160">
                  <c:v>44769</c:v>
                </c:pt>
                <c:pt idx="161">
                  <c:v>44770</c:v>
                </c:pt>
                <c:pt idx="162">
                  <c:v>44771</c:v>
                </c:pt>
                <c:pt idx="163">
                  <c:v>44774</c:v>
                </c:pt>
                <c:pt idx="164">
                  <c:v>44775</c:v>
                </c:pt>
                <c:pt idx="165">
                  <c:v>44776</c:v>
                </c:pt>
                <c:pt idx="166">
                  <c:v>44777</c:v>
                </c:pt>
                <c:pt idx="167">
                  <c:v>44778</c:v>
                </c:pt>
                <c:pt idx="168">
                  <c:v>44781</c:v>
                </c:pt>
                <c:pt idx="169">
                  <c:v>44783</c:v>
                </c:pt>
                <c:pt idx="170">
                  <c:v>44784</c:v>
                </c:pt>
                <c:pt idx="171">
                  <c:v>44785</c:v>
                </c:pt>
                <c:pt idx="172">
                  <c:v>44788</c:v>
                </c:pt>
                <c:pt idx="173">
                  <c:v>44789</c:v>
                </c:pt>
                <c:pt idx="174">
                  <c:v>44790</c:v>
                </c:pt>
                <c:pt idx="175">
                  <c:v>44791</c:v>
                </c:pt>
                <c:pt idx="176">
                  <c:v>44792</c:v>
                </c:pt>
                <c:pt idx="177">
                  <c:v>44795</c:v>
                </c:pt>
                <c:pt idx="178">
                  <c:v>44796</c:v>
                </c:pt>
                <c:pt idx="179">
                  <c:v>44797</c:v>
                </c:pt>
                <c:pt idx="180">
                  <c:v>44798</c:v>
                </c:pt>
                <c:pt idx="181">
                  <c:v>44799</c:v>
                </c:pt>
                <c:pt idx="182">
                  <c:v>44802</c:v>
                </c:pt>
                <c:pt idx="183">
                  <c:v>44803</c:v>
                </c:pt>
                <c:pt idx="184">
                  <c:v>44804</c:v>
                </c:pt>
                <c:pt idx="185">
                  <c:v>44805</c:v>
                </c:pt>
                <c:pt idx="186">
                  <c:v>44806</c:v>
                </c:pt>
                <c:pt idx="187">
                  <c:v>44809</c:v>
                </c:pt>
                <c:pt idx="188">
                  <c:v>44810</c:v>
                </c:pt>
                <c:pt idx="189">
                  <c:v>44811</c:v>
                </c:pt>
                <c:pt idx="190">
                  <c:v>44812</c:v>
                </c:pt>
                <c:pt idx="191">
                  <c:v>44813</c:v>
                </c:pt>
                <c:pt idx="192">
                  <c:v>44816</c:v>
                </c:pt>
                <c:pt idx="193">
                  <c:v>44817</c:v>
                </c:pt>
                <c:pt idx="194">
                  <c:v>44818</c:v>
                </c:pt>
                <c:pt idx="195">
                  <c:v>44819</c:v>
                </c:pt>
                <c:pt idx="196">
                  <c:v>44820</c:v>
                </c:pt>
                <c:pt idx="197">
                  <c:v>44823</c:v>
                </c:pt>
                <c:pt idx="198">
                  <c:v>44824</c:v>
                </c:pt>
                <c:pt idx="199">
                  <c:v>44825</c:v>
                </c:pt>
                <c:pt idx="200">
                  <c:v>44826</c:v>
                </c:pt>
                <c:pt idx="201">
                  <c:v>44827</c:v>
                </c:pt>
                <c:pt idx="202">
                  <c:v>44830</c:v>
                </c:pt>
                <c:pt idx="203">
                  <c:v>44831</c:v>
                </c:pt>
                <c:pt idx="204">
                  <c:v>44832</c:v>
                </c:pt>
                <c:pt idx="205">
                  <c:v>44833</c:v>
                </c:pt>
                <c:pt idx="206">
                  <c:v>44834</c:v>
                </c:pt>
                <c:pt idx="207">
                  <c:v>44837</c:v>
                </c:pt>
                <c:pt idx="208">
                  <c:v>44838</c:v>
                </c:pt>
                <c:pt idx="209">
                  <c:v>44839</c:v>
                </c:pt>
                <c:pt idx="210">
                  <c:v>44840</c:v>
                </c:pt>
                <c:pt idx="211">
                  <c:v>44841</c:v>
                </c:pt>
                <c:pt idx="212">
                  <c:v>44844</c:v>
                </c:pt>
                <c:pt idx="213">
                  <c:v>44845</c:v>
                </c:pt>
                <c:pt idx="214">
                  <c:v>44846</c:v>
                </c:pt>
                <c:pt idx="215">
                  <c:v>44847</c:v>
                </c:pt>
                <c:pt idx="216">
                  <c:v>44848</c:v>
                </c:pt>
                <c:pt idx="217">
                  <c:v>44851</c:v>
                </c:pt>
                <c:pt idx="218">
                  <c:v>44852</c:v>
                </c:pt>
                <c:pt idx="219">
                  <c:v>44853</c:v>
                </c:pt>
                <c:pt idx="220">
                  <c:v>44854</c:v>
                </c:pt>
                <c:pt idx="221">
                  <c:v>44855</c:v>
                </c:pt>
                <c:pt idx="222">
                  <c:v>44859</c:v>
                </c:pt>
                <c:pt idx="223">
                  <c:v>44860</c:v>
                </c:pt>
                <c:pt idx="224">
                  <c:v>44861</c:v>
                </c:pt>
                <c:pt idx="225">
                  <c:v>44862</c:v>
                </c:pt>
                <c:pt idx="226">
                  <c:v>44865</c:v>
                </c:pt>
                <c:pt idx="227">
                  <c:v>44866</c:v>
                </c:pt>
                <c:pt idx="228">
                  <c:v>44867</c:v>
                </c:pt>
                <c:pt idx="229">
                  <c:v>44868</c:v>
                </c:pt>
                <c:pt idx="230">
                  <c:v>44869</c:v>
                </c:pt>
                <c:pt idx="231">
                  <c:v>44872</c:v>
                </c:pt>
                <c:pt idx="232">
                  <c:v>44873</c:v>
                </c:pt>
                <c:pt idx="233">
                  <c:v>44874</c:v>
                </c:pt>
                <c:pt idx="234">
                  <c:v>44875</c:v>
                </c:pt>
                <c:pt idx="235">
                  <c:v>44876</c:v>
                </c:pt>
                <c:pt idx="236">
                  <c:v>44879</c:v>
                </c:pt>
                <c:pt idx="237">
                  <c:v>44880</c:v>
                </c:pt>
                <c:pt idx="238">
                  <c:v>44881</c:v>
                </c:pt>
                <c:pt idx="239">
                  <c:v>44882</c:v>
                </c:pt>
                <c:pt idx="240">
                  <c:v>44883</c:v>
                </c:pt>
                <c:pt idx="241">
                  <c:v>44886</c:v>
                </c:pt>
                <c:pt idx="242">
                  <c:v>44887</c:v>
                </c:pt>
                <c:pt idx="243">
                  <c:v>44888</c:v>
                </c:pt>
                <c:pt idx="244">
                  <c:v>44889</c:v>
                </c:pt>
                <c:pt idx="245">
                  <c:v>44890</c:v>
                </c:pt>
                <c:pt idx="246">
                  <c:v>44893</c:v>
                </c:pt>
                <c:pt idx="247">
                  <c:v>44894</c:v>
                </c:pt>
                <c:pt idx="248">
                  <c:v>44895</c:v>
                </c:pt>
                <c:pt idx="249">
                  <c:v>44896</c:v>
                </c:pt>
                <c:pt idx="250">
                  <c:v>44897</c:v>
                </c:pt>
                <c:pt idx="251">
                  <c:v>44900</c:v>
                </c:pt>
                <c:pt idx="252">
                  <c:v>44901</c:v>
                </c:pt>
                <c:pt idx="253">
                  <c:v>44902</c:v>
                </c:pt>
                <c:pt idx="254">
                  <c:v>44903</c:v>
                </c:pt>
                <c:pt idx="255">
                  <c:v>44904</c:v>
                </c:pt>
                <c:pt idx="256">
                  <c:v>44907</c:v>
                </c:pt>
                <c:pt idx="257">
                  <c:v>44908</c:v>
                </c:pt>
                <c:pt idx="258">
                  <c:v>44909</c:v>
                </c:pt>
                <c:pt idx="259">
                  <c:v>44910</c:v>
                </c:pt>
                <c:pt idx="260">
                  <c:v>44911</c:v>
                </c:pt>
                <c:pt idx="261">
                  <c:v>44914</c:v>
                </c:pt>
                <c:pt idx="262">
                  <c:v>44915</c:v>
                </c:pt>
                <c:pt idx="263">
                  <c:v>44916</c:v>
                </c:pt>
                <c:pt idx="264">
                  <c:v>44917</c:v>
                </c:pt>
                <c:pt idx="265">
                  <c:v>44918</c:v>
                </c:pt>
                <c:pt idx="266">
                  <c:v>44922</c:v>
                </c:pt>
                <c:pt idx="267">
                  <c:v>44923</c:v>
                </c:pt>
                <c:pt idx="268">
                  <c:v>44924</c:v>
                </c:pt>
                <c:pt idx="269">
                  <c:v>44925</c:v>
                </c:pt>
                <c:pt idx="270">
                  <c:v>44929</c:v>
                </c:pt>
                <c:pt idx="271">
                  <c:v>44930</c:v>
                </c:pt>
                <c:pt idx="272">
                  <c:v>44931</c:v>
                </c:pt>
                <c:pt idx="273">
                  <c:v>44932</c:v>
                </c:pt>
                <c:pt idx="274">
                  <c:v>44935</c:v>
                </c:pt>
                <c:pt idx="275">
                  <c:v>44936</c:v>
                </c:pt>
                <c:pt idx="276">
                  <c:v>44937</c:v>
                </c:pt>
                <c:pt idx="277">
                  <c:v>44938</c:v>
                </c:pt>
                <c:pt idx="278">
                  <c:v>44939</c:v>
                </c:pt>
                <c:pt idx="279">
                  <c:v>44942</c:v>
                </c:pt>
                <c:pt idx="280">
                  <c:v>44943</c:v>
                </c:pt>
                <c:pt idx="281">
                  <c:v>44944</c:v>
                </c:pt>
                <c:pt idx="282">
                  <c:v>44945</c:v>
                </c:pt>
                <c:pt idx="283">
                  <c:v>44946</c:v>
                </c:pt>
                <c:pt idx="284">
                  <c:v>44951</c:v>
                </c:pt>
                <c:pt idx="285">
                  <c:v>44952</c:v>
                </c:pt>
                <c:pt idx="286">
                  <c:v>44953</c:v>
                </c:pt>
                <c:pt idx="287">
                  <c:v>44956</c:v>
                </c:pt>
                <c:pt idx="288">
                  <c:v>44957</c:v>
                </c:pt>
                <c:pt idx="289">
                  <c:v>44958</c:v>
                </c:pt>
                <c:pt idx="290">
                  <c:v>44959</c:v>
                </c:pt>
                <c:pt idx="291">
                  <c:v>44960</c:v>
                </c:pt>
                <c:pt idx="292">
                  <c:v>44963</c:v>
                </c:pt>
                <c:pt idx="293">
                  <c:v>44964</c:v>
                </c:pt>
                <c:pt idx="294">
                  <c:v>44965</c:v>
                </c:pt>
                <c:pt idx="295">
                  <c:v>44966</c:v>
                </c:pt>
                <c:pt idx="296">
                  <c:v>44967</c:v>
                </c:pt>
                <c:pt idx="297">
                  <c:v>44970</c:v>
                </c:pt>
                <c:pt idx="298">
                  <c:v>44971</c:v>
                </c:pt>
                <c:pt idx="299">
                  <c:v>44972</c:v>
                </c:pt>
                <c:pt idx="300">
                  <c:v>44973</c:v>
                </c:pt>
                <c:pt idx="301">
                  <c:v>44974</c:v>
                </c:pt>
                <c:pt idx="302">
                  <c:v>44977</c:v>
                </c:pt>
                <c:pt idx="303">
                  <c:v>44978</c:v>
                </c:pt>
                <c:pt idx="304">
                  <c:v>44979</c:v>
                </c:pt>
                <c:pt idx="305">
                  <c:v>44980</c:v>
                </c:pt>
                <c:pt idx="306">
                  <c:v>44981</c:v>
                </c:pt>
                <c:pt idx="307">
                  <c:v>44984</c:v>
                </c:pt>
                <c:pt idx="308">
                  <c:v>44985</c:v>
                </c:pt>
                <c:pt idx="309">
                  <c:v>44986</c:v>
                </c:pt>
                <c:pt idx="310">
                  <c:v>44987</c:v>
                </c:pt>
                <c:pt idx="311">
                  <c:v>44988</c:v>
                </c:pt>
                <c:pt idx="312">
                  <c:v>44991</c:v>
                </c:pt>
                <c:pt idx="313">
                  <c:v>44992</c:v>
                </c:pt>
                <c:pt idx="314">
                  <c:v>44993</c:v>
                </c:pt>
                <c:pt idx="315">
                  <c:v>44994</c:v>
                </c:pt>
                <c:pt idx="316">
                  <c:v>44995</c:v>
                </c:pt>
                <c:pt idx="317">
                  <c:v>44998</c:v>
                </c:pt>
                <c:pt idx="318">
                  <c:v>44999</c:v>
                </c:pt>
                <c:pt idx="319">
                  <c:v>45000</c:v>
                </c:pt>
                <c:pt idx="320">
                  <c:v>45001</c:v>
                </c:pt>
                <c:pt idx="321">
                  <c:v>45002</c:v>
                </c:pt>
                <c:pt idx="322">
                  <c:v>45005</c:v>
                </c:pt>
                <c:pt idx="323">
                  <c:v>45006</c:v>
                </c:pt>
                <c:pt idx="324">
                  <c:v>45007</c:v>
                </c:pt>
                <c:pt idx="325">
                  <c:v>45008</c:v>
                </c:pt>
                <c:pt idx="326">
                  <c:v>45009</c:v>
                </c:pt>
                <c:pt idx="327">
                  <c:v>45012</c:v>
                </c:pt>
                <c:pt idx="328">
                  <c:v>45013</c:v>
                </c:pt>
                <c:pt idx="329">
                  <c:v>45014</c:v>
                </c:pt>
                <c:pt idx="330">
                  <c:v>45015</c:v>
                </c:pt>
                <c:pt idx="331">
                  <c:v>45016</c:v>
                </c:pt>
                <c:pt idx="332">
                  <c:v>45019</c:v>
                </c:pt>
                <c:pt idx="333">
                  <c:v>45020</c:v>
                </c:pt>
                <c:pt idx="334">
                  <c:v>45021</c:v>
                </c:pt>
                <c:pt idx="335">
                  <c:v>45022</c:v>
                </c:pt>
                <c:pt idx="336">
                  <c:v>45026</c:v>
                </c:pt>
                <c:pt idx="337">
                  <c:v>45027</c:v>
                </c:pt>
                <c:pt idx="338">
                  <c:v>45028</c:v>
                </c:pt>
                <c:pt idx="339">
                  <c:v>45029</c:v>
                </c:pt>
                <c:pt idx="340">
                  <c:v>45030</c:v>
                </c:pt>
                <c:pt idx="341">
                  <c:v>45033</c:v>
                </c:pt>
                <c:pt idx="342">
                  <c:v>45034</c:v>
                </c:pt>
                <c:pt idx="343">
                  <c:v>45035</c:v>
                </c:pt>
                <c:pt idx="344">
                  <c:v>45036</c:v>
                </c:pt>
                <c:pt idx="345">
                  <c:v>45037</c:v>
                </c:pt>
                <c:pt idx="346">
                  <c:v>45040</c:v>
                </c:pt>
                <c:pt idx="347">
                  <c:v>45041</c:v>
                </c:pt>
                <c:pt idx="348">
                  <c:v>45042</c:v>
                </c:pt>
                <c:pt idx="349">
                  <c:v>45043</c:v>
                </c:pt>
                <c:pt idx="350">
                  <c:v>45044</c:v>
                </c:pt>
                <c:pt idx="351">
                  <c:v>45048</c:v>
                </c:pt>
                <c:pt idx="352">
                  <c:v>45049</c:v>
                </c:pt>
                <c:pt idx="353">
                  <c:v>45050</c:v>
                </c:pt>
                <c:pt idx="354">
                  <c:v>45051</c:v>
                </c:pt>
                <c:pt idx="355">
                  <c:v>45054</c:v>
                </c:pt>
                <c:pt idx="356">
                  <c:v>45055</c:v>
                </c:pt>
                <c:pt idx="357">
                  <c:v>45056</c:v>
                </c:pt>
                <c:pt idx="358">
                  <c:v>45057</c:v>
                </c:pt>
                <c:pt idx="359">
                  <c:v>45058</c:v>
                </c:pt>
                <c:pt idx="360">
                  <c:v>45061</c:v>
                </c:pt>
                <c:pt idx="361">
                  <c:v>45062</c:v>
                </c:pt>
                <c:pt idx="362">
                  <c:v>45063</c:v>
                </c:pt>
                <c:pt idx="363">
                  <c:v>45064</c:v>
                </c:pt>
                <c:pt idx="364">
                  <c:v>45065</c:v>
                </c:pt>
                <c:pt idx="365">
                  <c:v>45068</c:v>
                </c:pt>
                <c:pt idx="366">
                  <c:v>45069</c:v>
                </c:pt>
                <c:pt idx="367">
                  <c:v>45070</c:v>
                </c:pt>
                <c:pt idx="368">
                  <c:v>45071</c:v>
                </c:pt>
                <c:pt idx="369">
                  <c:v>45072</c:v>
                </c:pt>
                <c:pt idx="370">
                  <c:v>45075</c:v>
                </c:pt>
                <c:pt idx="371">
                  <c:v>45076</c:v>
                </c:pt>
                <c:pt idx="372">
                  <c:v>45077</c:v>
                </c:pt>
                <c:pt idx="373">
                  <c:v>45078</c:v>
                </c:pt>
                <c:pt idx="374">
                  <c:v>45082</c:v>
                </c:pt>
                <c:pt idx="375">
                  <c:v>45083</c:v>
                </c:pt>
                <c:pt idx="376">
                  <c:v>45084</c:v>
                </c:pt>
                <c:pt idx="377">
                  <c:v>45085</c:v>
                </c:pt>
                <c:pt idx="378">
                  <c:v>45086</c:v>
                </c:pt>
                <c:pt idx="379">
                  <c:v>45089</c:v>
                </c:pt>
                <c:pt idx="380">
                  <c:v>45090</c:v>
                </c:pt>
                <c:pt idx="381">
                  <c:v>45091</c:v>
                </c:pt>
                <c:pt idx="382">
                  <c:v>45092</c:v>
                </c:pt>
                <c:pt idx="383">
                  <c:v>45093</c:v>
                </c:pt>
                <c:pt idx="384">
                  <c:v>45096</c:v>
                </c:pt>
                <c:pt idx="385">
                  <c:v>45097</c:v>
                </c:pt>
                <c:pt idx="386">
                  <c:v>45098</c:v>
                </c:pt>
                <c:pt idx="387">
                  <c:v>45099</c:v>
                </c:pt>
                <c:pt idx="388">
                  <c:v>45100</c:v>
                </c:pt>
                <c:pt idx="389">
                  <c:v>45103</c:v>
                </c:pt>
                <c:pt idx="390">
                  <c:v>45104</c:v>
                </c:pt>
                <c:pt idx="391">
                  <c:v>45105</c:v>
                </c:pt>
                <c:pt idx="392">
                  <c:v>45107</c:v>
                </c:pt>
                <c:pt idx="393">
                  <c:v>45110</c:v>
                </c:pt>
                <c:pt idx="394">
                  <c:v>45111</c:v>
                </c:pt>
                <c:pt idx="395">
                  <c:v>45112</c:v>
                </c:pt>
                <c:pt idx="396">
                  <c:v>45113</c:v>
                </c:pt>
                <c:pt idx="397">
                  <c:v>45114</c:v>
                </c:pt>
                <c:pt idx="398">
                  <c:v>45117</c:v>
                </c:pt>
                <c:pt idx="399">
                  <c:v>45118</c:v>
                </c:pt>
                <c:pt idx="400">
                  <c:v>45119</c:v>
                </c:pt>
                <c:pt idx="401">
                  <c:v>45120</c:v>
                </c:pt>
                <c:pt idx="402">
                  <c:v>45121</c:v>
                </c:pt>
                <c:pt idx="403">
                  <c:v>45124</c:v>
                </c:pt>
                <c:pt idx="404">
                  <c:v>45125</c:v>
                </c:pt>
                <c:pt idx="405">
                  <c:v>45126</c:v>
                </c:pt>
                <c:pt idx="406">
                  <c:v>45127</c:v>
                </c:pt>
                <c:pt idx="407">
                  <c:v>45128</c:v>
                </c:pt>
                <c:pt idx="408">
                  <c:v>45131</c:v>
                </c:pt>
                <c:pt idx="409">
                  <c:v>45132</c:v>
                </c:pt>
                <c:pt idx="410">
                  <c:v>45133</c:v>
                </c:pt>
                <c:pt idx="411">
                  <c:v>45134</c:v>
                </c:pt>
                <c:pt idx="412">
                  <c:v>45135</c:v>
                </c:pt>
                <c:pt idx="413">
                  <c:v>45138</c:v>
                </c:pt>
                <c:pt idx="414">
                  <c:v>45139</c:v>
                </c:pt>
                <c:pt idx="415">
                  <c:v>45140</c:v>
                </c:pt>
                <c:pt idx="416">
                  <c:v>45141</c:v>
                </c:pt>
                <c:pt idx="417">
                  <c:v>45142</c:v>
                </c:pt>
                <c:pt idx="418">
                  <c:v>45145</c:v>
                </c:pt>
                <c:pt idx="419">
                  <c:v>45146</c:v>
                </c:pt>
                <c:pt idx="420">
                  <c:v>45148</c:v>
                </c:pt>
                <c:pt idx="421">
                  <c:v>45149</c:v>
                </c:pt>
                <c:pt idx="422">
                  <c:v>45152</c:v>
                </c:pt>
                <c:pt idx="423">
                  <c:v>45153</c:v>
                </c:pt>
                <c:pt idx="424">
                  <c:v>45154</c:v>
                </c:pt>
                <c:pt idx="425">
                  <c:v>45155</c:v>
                </c:pt>
                <c:pt idx="426">
                  <c:v>45156</c:v>
                </c:pt>
                <c:pt idx="427">
                  <c:v>45159</c:v>
                </c:pt>
                <c:pt idx="428">
                  <c:v>45160</c:v>
                </c:pt>
                <c:pt idx="429">
                  <c:v>45161</c:v>
                </c:pt>
                <c:pt idx="430">
                  <c:v>45162</c:v>
                </c:pt>
                <c:pt idx="431">
                  <c:v>45163</c:v>
                </c:pt>
                <c:pt idx="432">
                  <c:v>45166</c:v>
                </c:pt>
                <c:pt idx="433">
                  <c:v>45167</c:v>
                </c:pt>
                <c:pt idx="434">
                  <c:v>45168</c:v>
                </c:pt>
                <c:pt idx="435">
                  <c:v>45169</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45244</c:v>
                </c:pt>
                <c:pt idx="487">
                  <c:v>45245</c:v>
                </c:pt>
                <c:pt idx="488">
                  <c:v>45246</c:v>
                </c:pt>
                <c:pt idx="489">
                  <c:v>45247</c:v>
                </c:pt>
                <c:pt idx="490">
                  <c:v>45250</c:v>
                </c:pt>
                <c:pt idx="491">
                  <c:v>45251</c:v>
                </c:pt>
                <c:pt idx="492">
                  <c:v>45252</c:v>
                </c:pt>
                <c:pt idx="493">
                  <c:v>45253</c:v>
                </c:pt>
                <c:pt idx="494">
                  <c:v>45254</c:v>
                </c:pt>
                <c:pt idx="495">
                  <c:v>45257</c:v>
                </c:pt>
                <c:pt idx="496">
                  <c:v>45258</c:v>
                </c:pt>
                <c:pt idx="497">
                  <c:v>45259</c:v>
                </c:pt>
                <c:pt idx="498">
                  <c:v>45260</c:v>
                </c:pt>
                <c:pt idx="499">
                  <c:v>45261</c:v>
                </c:pt>
                <c:pt idx="500">
                  <c:v>45264</c:v>
                </c:pt>
                <c:pt idx="501">
                  <c:v>45265</c:v>
                </c:pt>
                <c:pt idx="502">
                  <c:v>45266</c:v>
                </c:pt>
                <c:pt idx="503">
                  <c:v>45267</c:v>
                </c:pt>
                <c:pt idx="504">
                  <c:v>45268</c:v>
                </c:pt>
                <c:pt idx="505">
                  <c:v>45271</c:v>
                </c:pt>
                <c:pt idx="506">
                  <c:v>45272</c:v>
                </c:pt>
                <c:pt idx="507">
                  <c:v>45273</c:v>
                </c:pt>
                <c:pt idx="508">
                  <c:v>45274</c:v>
                </c:pt>
                <c:pt idx="509">
                  <c:v>45275</c:v>
                </c:pt>
                <c:pt idx="510">
                  <c:v>45278</c:v>
                </c:pt>
                <c:pt idx="511">
                  <c:v>45279</c:v>
                </c:pt>
                <c:pt idx="512">
                  <c:v>45280</c:v>
                </c:pt>
                <c:pt idx="513">
                  <c:v>45281</c:v>
                </c:pt>
                <c:pt idx="514">
                  <c:v>45282</c:v>
                </c:pt>
                <c:pt idx="515">
                  <c:v>45286</c:v>
                </c:pt>
                <c:pt idx="516">
                  <c:v>45287</c:v>
                </c:pt>
                <c:pt idx="517">
                  <c:v>45288</c:v>
                </c:pt>
                <c:pt idx="518">
                  <c:v>45289</c:v>
                </c:pt>
                <c:pt idx="519">
                  <c:v>45293</c:v>
                </c:pt>
                <c:pt idx="520">
                  <c:v>45294</c:v>
                </c:pt>
                <c:pt idx="521">
                  <c:v>45295</c:v>
                </c:pt>
                <c:pt idx="522">
                  <c:v>45296</c:v>
                </c:pt>
                <c:pt idx="523">
                  <c:v>45299</c:v>
                </c:pt>
                <c:pt idx="524">
                  <c:v>45300</c:v>
                </c:pt>
                <c:pt idx="525">
                  <c:v>45301</c:v>
                </c:pt>
                <c:pt idx="526">
                  <c:v>45302</c:v>
                </c:pt>
                <c:pt idx="527">
                  <c:v>45303</c:v>
                </c:pt>
                <c:pt idx="528">
                  <c:v>45306</c:v>
                </c:pt>
                <c:pt idx="529">
                  <c:v>45307</c:v>
                </c:pt>
                <c:pt idx="530">
                  <c:v>45308</c:v>
                </c:pt>
                <c:pt idx="531">
                  <c:v>45309</c:v>
                </c:pt>
                <c:pt idx="532">
                  <c:v>45310</c:v>
                </c:pt>
                <c:pt idx="533">
                  <c:v>45313</c:v>
                </c:pt>
                <c:pt idx="534">
                  <c:v>45314</c:v>
                </c:pt>
                <c:pt idx="535">
                  <c:v>45315</c:v>
                </c:pt>
                <c:pt idx="536">
                  <c:v>45316</c:v>
                </c:pt>
                <c:pt idx="537">
                  <c:v>45317</c:v>
                </c:pt>
                <c:pt idx="538">
                  <c:v>45320</c:v>
                </c:pt>
                <c:pt idx="539">
                  <c:v>45321</c:v>
                </c:pt>
                <c:pt idx="540">
                  <c:v>45322</c:v>
                </c:pt>
                <c:pt idx="541">
                  <c:v>45323</c:v>
                </c:pt>
                <c:pt idx="542">
                  <c:v>45324</c:v>
                </c:pt>
                <c:pt idx="543">
                  <c:v>45327</c:v>
                </c:pt>
                <c:pt idx="544">
                  <c:v>45328</c:v>
                </c:pt>
                <c:pt idx="545">
                  <c:v>45329</c:v>
                </c:pt>
                <c:pt idx="546">
                  <c:v>45330</c:v>
                </c:pt>
                <c:pt idx="547">
                  <c:v>45331</c:v>
                </c:pt>
                <c:pt idx="548">
                  <c:v>45335</c:v>
                </c:pt>
                <c:pt idx="549">
                  <c:v>45336</c:v>
                </c:pt>
                <c:pt idx="550">
                  <c:v>45337</c:v>
                </c:pt>
                <c:pt idx="551">
                  <c:v>45338</c:v>
                </c:pt>
                <c:pt idx="552">
                  <c:v>45341</c:v>
                </c:pt>
                <c:pt idx="553">
                  <c:v>45342</c:v>
                </c:pt>
                <c:pt idx="554">
                  <c:v>45343</c:v>
                </c:pt>
                <c:pt idx="555">
                  <c:v>45344</c:v>
                </c:pt>
                <c:pt idx="556">
                  <c:v>45345</c:v>
                </c:pt>
                <c:pt idx="557">
                  <c:v>45348</c:v>
                </c:pt>
                <c:pt idx="558">
                  <c:v>45349</c:v>
                </c:pt>
                <c:pt idx="559">
                  <c:v>45350</c:v>
                </c:pt>
                <c:pt idx="560">
                  <c:v>45351</c:v>
                </c:pt>
                <c:pt idx="561">
                  <c:v>45352</c:v>
                </c:pt>
                <c:pt idx="562">
                  <c:v>45355</c:v>
                </c:pt>
                <c:pt idx="563">
                  <c:v>45356</c:v>
                </c:pt>
                <c:pt idx="564">
                  <c:v>45357</c:v>
                </c:pt>
                <c:pt idx="565">
                  <c:v>45358</c:v>
                </c:pt>
                <c:pt idx="566">
                  <c:v>45359</c:v>
                </c:pt>
                <c:pt idx="567">
                  <c:v>45362</c:v>
                </c:pt>
                <c:pt idx="568">
                  <c:v>45363</c:v>
                </c:pt>
                <c:pt idx="569">
                  <c:v>45364</c:v>
                </c:pt>
                <c:pt idx="570">
                  <c:v>45365</c:v>
                </c:pt>
                <c:pt idx="571">
                  <c:v>45366</c:v>
                </c:pt>
                <c:pt idx="572">
                  <c:v>45369</c:v>
                </c:pt>
                <c:pt idx="573">
                  <c:v>45370</c:v>
                </c:pt>
                <c:pt idx="574">
                  <c:v>45371</c:v>
                </c:pt>
                <c:pt idx="575">
                  <c:v>45372</c:v>
                </c:pt>
                <c:pt idx="576">
                  <c:v>45373</c:v>
                </c:pt>
                <c:pt idx="577">
                  <c:v>45376</c:v>
                </c:pt>
                <c:pt idx="578">
                  <c:v>45377</c:v>
                </c:pt>
                <c:pt idx="579">
                  <c:v>45378</c:v>
                </c:pt>
                <c:pt idx="580">
                  <c:v>45379</c:v>
                </c:pt>
                <c:pt idx="581">
                  <c:v>45383</c:v>
                </c:pt>
                <c:pt idx="582">
                  <c:v>45384</c:v>
                </c:pt>
                <c:pt idx="583">
                  <c:v>45385</c:v>
                </c:pt>
                <c:pt idx="584">
                  <c:v>45386</c:v>
                </c:pt>
                <c:pt idx="585">
                  <c:v>45387</c:v>
                </c:pt>
                <c:pt idx="586">
                  <c:v>45390</c:v>
                </c:pt>
                <c:pt idx="587">
                  <c:v>45391</c:v>
                </c:pt>
                <c:pt idx="588">
                  <c:v>45393</c:v>
                </c:pt>
                <c:pt idx="589">
                  <c:v>45394</c:v>
                </c:pt>
                <c:pt idx="590">
                  <c:v>45397</c:v>
                </c:pt>
                <c:pt idx="591">
                  <c:v>45398</c:v>
                </c:pt>
                <c:pt idx="592">
                  <c:v>45399</c:v>
                </c:pt>
                <c:pt idx="593">
                  <c:v>45400</c:v>
                </c:pt>
                <c:pt idx="594">
                  <c:v>45401</c:v>
                </c:pt>
                <c:pt idx="595">
                  <c:v>45404</c:v>
                </c:pt>
                <c:pt idx="596">
                  <c:v>45405</c:v>
                </c:pt>
                <c:pt idx="597">
                  <c:v>45406</c:v>
                </c:pt>
                <c:pt idx="598">
                  <c:v>45407</c:v>
                </c:pt>
                <c:pt idx="599">
                  <c:v>45408</c:v>
                </c:pt>
                <c:pt idx="600">
                  <c:v>45411</c:v>
                </c:pt>
                <c:pt idx="601">
                  <c:v>45412</c:v>
                </c:pt>
                <c:pt idx="602">
                  <c:v>45414</c:v>
                </c:pt>
                <c:pt idx="603">
                  <c:v>45415</c:v>
                </c:pt>
                <c:pt idx="604">
                  <c:v>45418</c:v>
                </c:pt>
                <c:pt idx="605">
                  <c:v>45419</c:v>
                </c:pt>
                <c:pt idx="606">
                  <c:v>45420</c:v>
                </c:pt>
                <c:pt idx="607">
                  <c:v>45421</c:v>
                </c:pt>
                <c:pt idx="608">
                  <c:v>45422</c:v>
                </c:pt>
                <c:pt idx="609">
                  <c:v>45425</c:v>
                </c:pt>
                <c:pt idx="610">
                  <c:v>45426</c:v>
                </c:pt>
                <c:pt idx="611">
                  <c:v>45427</c:v>
                </c:pt>
                <c:pt idx="612">
                  <c:v>45428</c:v>
                </c:pt>
                <c:pt idx="613">
                  <c:v>45429</c:v>
                </c:pt>
                <c:pt idx="614">
                  <c:v>45432</c:v>
                </c:pt>
                <c:pt idx="615">
                  <c:v>45433</c:v>
                </c:pt>
                <c:pt idx="616">
                  <c:v>45435</c:v>
                </c:pt>
                <c:pt idx="617">
                  <c:v>45436</c:v>
                </c:pt>
                <c:pt idx="618">
                  <c:v>45439</c:v>
                </c:pt>
                <c:pt idx="619">
                  <c:v>45440</c:v>
                </c:pt>
                <c:pt idx="620">
                  <c:v>45441</c:v>
                </c:pt>
                <c:pt idx="621">
                  <c:v>45442</c:v>
                </c:pt>
                <c:pt idx="622">
                  <c:v>45443</c:v>
                </c:pt>
                <c:pt idx="623">
                  <c:v>45446</c:v>
                </c:pt>
                <c:pt idx="624">
                  <c:v>45447</c:v>
                </c:pt>
                <c:pt idx="625">
                  <c:v>45448</c:v>
                </c:pt>
                <c:pt idx="626">
                  <c:v>45449</c:v>
                </c:pt>
                <c:pt idx="627">
                  <c:v>45450</c:v>
                </c:pt>
                <c:pt idx="628">
                  <c:v>45453</c:v>
                </c:pt>
                <c:pt idx="629">
                  <c:v>45454</c:v>
                </c:pt>
                <c:pt idx="630">
                  <c:v>45455</c:v>
                </c:pt>
                <c:pt idx="631">
                  <c:v>45456</c:v>
                </c:pt>
                <c:pt idx="632">
                  <c:v>45457</c:v>
                </c:pt>
                <c:pt idx="633">
                  <c:v>45461</c:v>
                </c:pt>
                <c:pt idx="634">
                  <c:v>45462</c:v>
                </c:pt>
                <c:pt idx="635">
                  <c:v>45463</c:v>
                </c:pt>
                <c:pt idx="636">
                  <c:v>45464</c:v>
                </c:pt>
                <c:pt idx="637">
                  <c:v>45467</c:v>
                </c:pt>
                <c:pt idx="638">
                  <c:v>45468</c:v>
                </c:pt>
                <c:pt idx="639">
                  <c:v>45469</c:v>
                </c:pt>
                <c:pt idx="640">
                  <c:v>45470</c:v>
                </c:pt>
                <c:pt idx="641">
                  <c:v>45471</c:v>
                </c:pt>
                <c:pt idx="642">
                  <c:v>45474</c:v>
                </c:pt>
                <c:pt idx="643">
                  <c:v>45475</c:v>
                </c:pt>
                <c:pt idx="644">
                  <c:v>45476</c:v>
                </c:pt>
                <c:pt idx="645">
                  <c:v>45477</c:v>
                </c:pt>
                <c:pt idx="646">
                  <c:v>45478</c:v>
                </c:pt>
                <c:pt idx="647">
                  <c:v>45481</c:v>
                </c:pt>
                <c:pt idx="648">
                  <c:v>45482</c:v>
                </c:pt>
                <c:pt idx="649">
                  <c:v>45483</c:v>
                </c:pt>
                <c:pt idx="650">
                  <c:v>45484</c:v>
                </c:pt>
                <c:pt idx="651">
                  <c:v>45485</c:v>
                </c:pt>
                <c:pt idx="652">
                  <c:v>45488</c:v>
                </c:pt>
                <c:pt idx="653">
                  <c:v>45489</c:v>
                </c:pt>
                <c:pt idx="654">
                  <c:v>45490</c:v>
                </c:pt>
                <c:pt idx="655">
                  <c:v>45491</c:v>
                </c:pt>
                <c:pt idx="656">
                  <c:v>45492</c:v>
                </c:pt>
                <c:pt idx="657">
                  <c:v>45495</c:v>
                </c:pt>
                <c:pt idx="658">
                  <c:v>45496</c:v>
                </c:pt>
                <c:pt idx="659">
                  <c:v>45497</c:v>
                </c:pt>
                <c:pt idx="660">
                  <c:v>45498</c:v>
                </c:pt>
                <c:pt idx="661">
                  <c:v>45499</c:v>
                </c:pt>
                <c:pt idx="662">
                  <c:v>45502</c:v>
                </c:pt>
                <c:pt idx="663">
                  <c:v>45503</c:v>
                </c:pt>
                <c:pt idx="664">
                  <c:v>45504</c:v>
                </c:pt>
                <c:pt idx="665">
                  <c:v>45505</c:v>
                </c:pt>
                <c:pt idx="666">
                  <c:v>45506</c:v>
                </c:pt>
                <c:pt idx="667">
                  <c:v>45509</c:v>
                </c:pt>
                <c:pt idx="668">
                  <c:v>45510</c:v>
                </c:pt>
                <c:pt idx="669">
                  <c:v>45511</c:v>
                </c:pt>
                <c:pt idx="670">
                  <c:v>45512</c:v>
                </c:pt>
                <c:pt idx="671">
                  <c:v>45516</c:v>
                </c:pt>
                <c:pt idx="672">
                  <c:v>45517</c:v>
                </c:pt>
                <c:pt idx="673">
                  <c:v>45518</c:v>
                </c:pt>
                <c:pt idx="674">
                  <c:v>45519</c:v>
                </c:pt>
                <c:pt idx="675">
                  <c:v>45520</c:v>
                </c:pt>
                <c:pt idx="676">
                  <c:v>45523</c:v>
                </c:pt>
                <c:pt idx="677">
                  <c:v>45524</c:v>
                </c:pt>
                <c:pt idx="678">
                  <c:v>45525</c:v>
                </c:pt>
                <c:pt idx="679">
                  <c:v>45526</c:v>
                </c:pt>
                <c:pt idx="680">
                  <c:v>45527</c:v>
                </c:pt>
                <c:pt idx="681">
                  <c:v>45530</c:v>
                </c:pt>
                <c:pt idx="682">
                  <c:v>45531</c:v>
                </c:pt>
                <c:pt idx="683">
                  <c:v>45532</c:v>
                </c:pt>
                <c:pt idx="684">
                  <c:v>45533</c:v>
                </c:pt>
                <c:pt idx="685">
                  <c:v>45534</c:v>
                </c:pt>
                <c:pt idx="686">
                  <c:v>45537</c:v>
                </c:pt>
                <c:pt idx="687">
                  <c:v>45538</c:v>
                </c:pt>
                <c:pt idx="688">
                  <c:v>45539</c:v>
                </c:pt>
                <c:pt idx="689">
                  <c:v>45540</c:v>
                </c:pt>
                <c:pt idx="690">
                  <c:v>45541</c:v>
                </c:pt>
                <c:pt idx="691">
                  <c:v>45544</c:v>
                </c:pt>
                <c:pt idx="692">
                  <c:v>45545</c:v>
                </c:pt>
                <c:pt idx="693">
                  <c:v>45546</c:v>
                </c:pt>
                <c:pt idx="694">
                  <c:v>45547</c:v>
                </c:pt>
                <c:pt idx="695">
                  <c:v>45548</c:v>
                </c:pt>
                <c:pt idx="696">
                  <c:v>45551</c:v>
                </c:pt>
                <c:pt idx="697">
                  <c:v>45552</c:v>
                </c:pt>
                <c:pt idx="698">
                  <c:v>45553</c:v>
                </c:pt>
                <c:pt idx="699">
                  <c:v>45554</c:v>
                </c:pt>
                <c:pt idx="700">
                  <c:v>45555</c:v>
                </c:pt>
                <c:pt idx="701">
                  <c:v>45558</c:v>
                </c:pt>
                <c:pt idx="702">
                  <c:v>45559</c:v>
                </c:pt>
                <c:pt idx="703">
                  <c:v>45560</c:v>
                </c:pt>
                <c:pt idx="704">
                  <c:v>45561</c:v>
                </c:pt>
                <c:pt idx="705">
                  <c:v>45562</c:v>
                </c:pt>
                <c:pt idx="706">
                  <c:v>45565</c:v>
                </c:pt>
                <c:pt idx="707">
                  <c:v>45566</c:v>
                </c:pt>
                <c:pt idx="708">
                  <c:v>45567</c:v>
                </c:pt>
                <c:pt idx="709">
                  <c:v>45568</c:v>
                </c:pt>
                <c:pt idx="710">
                  <c:v>45569</c:v>
                </c:pt>
                <c:pt idx="711">
                  <c:v>45572</c:v>
                </c:pt>
                <c:pt idx="712">
                  <c:v>45573</c:v>
                </c:pt>
                <c:pt idx="713">
                  <c:v>45574</c:v>
                </c:pt>
                <c:pt idx="714">
                  <c:v>45575</c:v>
                </c:pt>
                <c:pt idx="715">
                  <c:v>45576</c:v>
                </c:pt>
                <c:pt idx="716">
                  <c:v>45579</c:v>
                </c:pt>
                <c:pt idx="717">
                  <c:v>45580</c:v>
                </c:pt>
                <c:pt idx="718">
                  <c:v>45581</c:v>
                </c:pt>
                <c:pt idx="719">
                  <c:v>45582</c:v>
                </c:pt>
                <c:pt idx="720">
                  <c:v>45583</c:v>
                </c:pt>
                <c:pt idx="721">
                  <c:v>45586</c:v>
                </c:pt>
                <c:pt idx="722">
                  <c:v>45587</c:v>
                </c:pt>
                <c:pt idx="723">
                  <c:v>45588</c:v>
                </c:pt>
                <c:pt idx="724">
                  <c:v>45589</c:v>
                </c:pt>
                <c:pt idx="725">
                  <c:v>45590</c:v>
                </c:pt>
                <c:pt idx="726">
                  <c:v>45593</c:v>
                </c:pt>
                <c:pt idx="727">
                  <c:v>45594</c:v>
                </c:pt>
                <c:pt idx="728">
                  <c:v>45595</c:v>
                </c:pt>
                <c:pt idx="729">
                  <c:v>45597</c:v>
                </c:pt>
                <c:pt idx="730">
                  <c:v>45600</c:v>
                </c:pt>
                <c:pt idx="731">
                  <c:v>45601</c:v>
                </c:pt>
                <c:pt idx="732">
                  <c:v>45602</c:v>
                </c:pt>
                <c:pt idx="733">
                  <c:v>45603</c:v>
                </c:pt>
                <c:pt idx="734">
                  <c:v>45604</c:v>
                </c:pt>
                <c:pt idx="735">
                  <c:v>45607</c:v>
                </c:pt>
                <c:pt idx="736">
                  <c:v>45608</c:v>
                </c:pt>
                <c:pt idx="737">
                  <c:v>45609</c:v>
                </c:pt>
                <c:pt idx="738">
                  <c:v>45610</c:v>
                </c:pt>
                <c:pt idx="739">
                  <c:v>45611</c:v>
                </c:pt>
                <c:pt idx="740">
                  <c:v>45614</c:v>
                </c:pt>
                <c:pt idx="741">
                  <c:v>45615</c:v>
                </c:pt>
                <c:pt idx="742">
                  <c:v>45616</c:v>
                </c:pt>
                <c:pt idx="743">
                  <c:v>45617</c:v>
                </c:pt>
                <c:pt idx="744">
                  <c:v>45618</c:v>
                </c:pt>
                <c:pt idx="745">
                  <c:v>45621</c:v>
                </c:pt>
                <c:pt idx="746">
                  <c:v>45622</c:v>
                </c:pt>
                <c:pt idx="747">
                  <c:v>45623</c:v>
                </c:pt>
                <c:pt idx="748">
                  <c:v>45624</c:v>
                </c:pt>
                <c:pt idx="749">
                  <c:v>45625</c:v>
                </c:pt>
                <c:pt idx="750">
                  <c:v>45628</c:v>
                </c:pt>
                <c:pt idx="751">
                  <c:v>45629</c:v>
                </c:pt>
                <c:pt idx="752">
                  <c:v>45630</c:v>
                </c:pt>
                <c:pt idx="753">
                  <c:v>45631</c:v>
                </c:pt>
                <c:pt idx="754">
                  <c:v>45632</c:v>
                </c:pt>
                <c:pt idx="755">
                  <c:v>45635</c:v>
                </c:pt>
                <c:pt idx="756">
                  <c:v>45636</c:v>
                </c:pt>
                <c:pt idx="757">
                  <c:v>45637</c:v>
                </c:pt>
                <c:pt idx="758">
                  <c:v>45638</c:v>
                </c:pt>
                <c:pt idx="759">
                  <c:v>45639</c:v>
                </c:pt>
                <c:pt idx="760">
                  <c:v>45642</c:v>
                </c:pt>
                <c:pt idx="761">
                  <c:v>45643</c:v>
                </c:pt>
                <c:pt idx="762">
                  <c:v>45644</c:v>
                </c:pt>
                <c:pt idx="763">
                  <c:v>45645</c:v>
                </c:pt>
                <c:pt idx="764">
                  <c:v>45646</c:v>
                </c:pt>
                <c:pt idx="765">
                  <c:v>45649</c:v>
                </c:pt>
                <c:pt idx="766">
                  <c:v>45650</c:v>
                </c:pt>
                <c:pt idx="767">
                  <c:v>45652</c:v>
                </c:pt>
                <c:pt idx="768">
                  <c:v>45653</c:v>
                </c:pt>
                <c:pt idx="769">
                  <c:v>45656</c:v>
                </c:pt>
                <c:pt idx="770">
                  <c:v>45657</c:v>
                </c:pt>
                <c:pt idx="771">
                  <c:v>45659</c:v>
                </c:pt>
                <c:pt idx="772">
                  <c:v>45660</c:v>
                </c:pt>
                <c:pt idx="773">
                  <c:v>45663</c:v>
                </c:pt>
                <c:pt idx="774">
                  <c:v>45664</c:v>
                </c:pt>
                <c:pt idx="775">
                  <c:v>45665</c:v>
                </c:pt>
                <c:pt idx="776">
                  <c:v>45666</c:v>
                </c:pt>
                <c:pt idx="777">
                  <c:v>45667</c:v>
                </c:pt>
                <c:pt idx="778">
                  <c:v>45670</c:v>
                </c:pt>
                <c:pt idx="779">
                  <c:v>45671</c:v>
                </c:pt>
                <c:pt idx="780">
                  <c:v>45672</c:v>
                </c:pt>
                <c:pt idx="781">
                  <c:v>45673</c:v>
                </c:pt>
                <c:pt idx="782">
                  <c:v>45674</c:v>
                </c:pt>
                <c:pt idx="783">
                  <c:v>45677</c:v>
                </c:pt>
                <c:pt idx="784">
                  <c:v>45678</c:v>
                </c:pt>
                <c:pt idx="785">
                  <c:v>45679</c:v>
                </c:pt>
                <c:pt idx="786">
                  <c:v>45680</c:v>
                </c:pt>
                <c:pt idx="787">
                  <c:v>45681</c:v>
                </c:pt>
                <c:pt idx="788">
                  <c:v>45684</c:v>
                </c:pt>
                <c:pt idx="789">
                  <c:v>45685</c:v>
                </c:pt>
                <c:pt idx="790">
                  <c:v>45688</c:v>
                </c:pt>
                <c:pt idx="791">
                  <c:v>45691</c:v>
                </c:pt>
                <c:pt idx="792">
                  <c:v>45692</c:v>
                </c:pt>
                <c:pt idx="793">
                  <c:v>45693</c:v>
                </c:pt>
                <c:pt idx="794">
                  <c:v>45694</c:v>
                </c:pt>
                <c:pt idx="795">
                  <c:v>45695</c:v>
                </c:pt>
                <c:pt idx="796">
                  <c:v>45698</c:v>
                </c:pt>
                <c:pt idx="797">
                  <c:v>45699</c:v>
                </c:pt>
                <c:pt idx="798">
                  <c:v>45700</c:v>
                </c:pt>
                <c:pt idx="799">
                  <c:v>45701</c:v>
                </c:pt>
                <c:pt idx="800">
                  <c:v>45702</c:v>
                </c:pt>
                <c:pt idx="801">
                  <c:v>45705</c:v>
                </c:pt>
                <c:pt idx="802">
                  <c:v>45706</c:v>
                </c:pt>
                <c:pt idx="803">
                  <c:v>45707</c:v>
                </c:pt>
                <c:pt idx="804">
                  <c:v>45708</c:v>
                </c:pt>
                <c:pt idx="805">
                  <c:v>45709</c:v>
                </c:pt>
                <c:pt idx="806">
                  <c:v>45712</c:v>
                </c:pt>
                <c:pt idx="807">
                  <c:v>45713</c:v>
                </c:pt>
                <c:pt idx="808">
                  <c:v>45714</c:v>
                </c:pt>
                <c:pt idx="809">
                  <c:v>45715</c:v>
                </c:pt>
                <c:pt idx="810">
                  <c:v>45716</c:v>
                </c:pt>
                <c:pt idx="811">
                  <c:v>45719</c:v>
                </c:pt>
                <c:pt idx="812">
                  <c:v>45720</c:v>
                </c:pt>
                <c:pt idx="813">
                  <c:v>45721</c:v>
                </c:pt>
                <c:pt idx="814">
                  <c:v>45722</c:v>
                </c:pt>
                <c:pt idx="815">
                  <c:v>45723</c:v>
                </c:pt>
                <c:pt idx="816">
                  <c:v>45726</c:v>
                </c:pt>
                <c:pt idx="817">
                  <c:v>45727</c:v>
                </c:pt>
                <c:pt idx="818">
                  <c:v>45728</c:v>
                </c:pt>
                <c:pt idx="819">
                  <c:v>45729</c:v>
                </c:pt>
                <c:pt idx="820">
                  <c:v>45730</c:v>
                </c:pt>
                <c:pt idx="821">
                  <c:v>45733</c:v>
                </c:pt>
                <c:pt idx="822">
                  <c:v>45734</c:v>
                </c:pt>
                <c:pt idx="823">
                  <c:v>45735</c:v>
                </c:pt>
                <c:pt idx="824">
                  <c:v>45736</c:v>
                </c:pt>
                <c:pt idx="825">
                  <c:v>45737</c:v>
                </c:pt>
                <c:pt idx="826">
                  <c:v>45740</c:v>
                </c:pt>
                <c:pt idx="827">
                  <c:v>45741</c:v>
                </c:pt>
                <c:pt idx="828">
                  <c:v>45742</c:v>
                </c:pt>
                <c:pt idx="829">
                  <c:v>45743</c:v>
                </c:pt>
                <c:pt idx="830">
                  <c:v>45744</c:v>
                </c:pt>
                <c:pt idx="831">
                  <c:v>45748</c:v>
                </c:pt>
                <c:pt idx="832">
                  <c:v>45749</c:v>
                </c:pt>
                <c:pt idx="833">
                  <c:v>45750</c:v>
                </c:pt>
                <c:pt idx="834">
                  <c:v>45751</c:v>
                </c:pt>
                <c:pt idx="835">
                  <c:v>45754</c:v>
                </c:pt>
                <c:pt idx="836">
                  <c:v>45755</c:v>
                </c:pt>
                <c:pt idx="837">
                  <c:v>45756</c:v>
                </c:pt>
                <c:pt idx="838">
                  <c:v>45757</c:v>
                </c:pt>
                <c:pt idx="839">
                  <c:v>45758</c:v>
                </c:pt>
                <c:pt idx="840">
                  <c:v>45761</c:v>
                </c:pt>
                <c:pt idx="841">
                  <c:v>45762</c:v>
                </c:pt>
                <c:pt idx="842">
                  <c:v>45763</c:v>
                </c:pt>
                <c:pt idx="843">
                  <c:v>45764</c:v>
                </c:pt>
                <c:pt idx="844">
                  <c:v>45768</c:v>
                </c:pt>
                <c:pt idx="845">
                  <c:v>45769</c:v>
                </c:pt>
                <c:pt idx="846">
                  <c:v>45770</c:v>
                </c:pt>
                <c:pt idx="847">
                  <c:v>45771</c:v>
                </c:pt>
                <c:pt idx="848">
                  <c:v>45772</c:v>
                </c:pt>
                <c:pt idx="849">
                  <c:v>45775</c:v>
                </c:pt>
                <c:pt idx="850">
                  <c:v>45776</c:v>
                </c:pt>
                <c:pt idx="851">
                  <c:v>45777</c:v>
                </c:pt>
                <c:pt idx="852">
                  <c:v>45779</c:v>
                </c:pt>
                <c:pt idx="853">
                  <c:v>45782</c:v>
                </c:pt>
                <c:pt idx="854">
                  <c:v>45783</c:v>
                </c:pt>
                <c:pt idx="855">
                  <c:v>45784</c:v>
                </c:pt>
                <c:pt idx="856">
                  <c:v>45785</c:v>
                </c:pt>
                <c:pt idx="857">
                  <c:v>45786</c:v>
                </c:pt>
                <c:pt idx="858">
                  <c:v>45790</c:v>
                </c:pt>
                <c:pt idx="859">
                  <c:v>45791</c:v>
                </c:pt>
                <c:pt idx="860">
                  <c:v>45792</c:v>
                </c:pt>
                <c:pt idx="861">
                  <c:v>45793</c:v>
                </c:pt>
                <c:pt idx="862">
                  <c:v>45796</c:v>
                </c:pt>
                <c:pt idx="863">
                  <c:v>45797</c:v>
                </c:pt>
                <c:pt idx="864">
                  <c:v>45798</c:v>
                </c:pt>
                <c:pt idx="865">
                  <c:v>45799</c:v>
                </c:pt>
                <c:pt idx="866">
                  <c:v>45800</c:v>
                </c:pt>
                <c:pt idx="867">
                  <c:v>45803</c:v>
                </c:pt>
                <c:pt idx="868">
                  <c:v>45804</c:v>
                </c:pt>
                <c:pt idx="869">
                  <c:v>45805</c:v>
                </c:pt>
                <c:pt idx="870">
                  <c:v>45806</c:v>
                </c:pt>
                <c:pt idx="871">
                  <c:v>45807</c:v>
                </c:pt>
                <c:pt idx="872">
                  <c:v>45810</c:v>
                </c:pt>
                <c:pt idx="873">
                  <c:v>45811</c:v>
                </c:pt>
                <c:pt idx="874">
                  <c:v>45812</c:v>
                </c:pt>
                <c:pt idx="875">
                  <c:v>45813</c:v>
                </c:pt>
                <c:pt idx="876">
                  <c:v>45814</c:v>
                </c:pt>
                <c:pt idx="877">
                  <c:v>45817</c:v>
                </c:pt>
                <c:pt idx="878">
                  <c:v>45818</c:v>
                </c:pt>
                <c:pt idx="879">
                  <c:v>45819</c:v>
                </c:pt>
                <c:pt idx="880">
                  <c:v>45820</c:v>
                </c:pt>
                <c:pt idx="881">
                  <c:v>45821</c:v>
                </c:pt>
                <c:pt idx="882">
                  <c:v>45824</c:v>
                </c:pt>
                <c:pt idx="883">
                  <c:v>45825</c:v>
                </c:pt>
                <c:pt idx="884">
                  <c:v>45826</c:v>
                </c:pt>
                <c:pt idx="885">
                  <c:v>45827</c:v>
                </c:pt>
                <c:pt idx="886">
                  <c:v>45828</c:v>
                </c:pt>
                <c:pt idx="887">
                  <c:v>45831</c:v>
                </c:pt>
                <c:pt idx="888">
                  <c:v>45832</c:v>
                </c:pt>
                <c:pt idx="889">
                  <c:v>45833</c:v>
                </c:pt>
                <c:pt idx="890">
                  <c:v>45834</c:v>
                </c:pt>
                <c:pt idx="891">
                  <c:v>45835</c:v>
                </c:pt>
                <c:pt idx="892">
                  <c:v>45838</c:v>
                </c:pt>
                <c:pt idx="893">
                  <c:v>45839</c:v>
                </c:pt>
                <c:pt idx="894">
                  <c:v>45840</c:v>
                </c:pt>
                <c:pt idx="895">
                  <c:v>45841</c:v>
                </c:pt>
                <c:pt idx="896">
                  <c:v>45842</c:v>
                </c:pt>
                <c:pt idx="897">
                  <c:v>45845</c:v>
                </c:pt>
                <c:pt idx="898">
                  <c:v>45846</c:v>
                </c:pt>
                <c:pt idx="899">
                  <c:v>45847</c:v>
                </c:pt>
                <c:pt idx="900">
                  <c:v>45848</c:v>
                </c:pt>
                <c:pt idx="901">
                  <c:v>45849</c:v>
                </c:pt>
                <c:pt idx="902">
                  <c:v>45852</c:v>
                </c:pt>
                <c:pt idx="903">
                  <c:v>45853</c:v>
                </c:pt>
                <c:pt idx="904">
                  <c:v>45854</c:v>
                </c:pt>
                <c:pt idx="905">
                  <c:v>45855</c:v>
                </c:pt>
                <c:pt idx="906">
                  <c:v>45856</c:v>
                </c:pt>
                <c:pt idx="907">
                  <c:v>45859</c:v>
                </c:pt>
                <c:pt idx="908">
                  <c:v>45860</c:v>
                </c:pt>
                <c:pt idx="909">
                  <c:v>45861</c:v>
                </c:pt>
                <c:pt idx="910">
                  <c:v>45862</c:v>
                </c:pt>
                <c:pt idx="911">
                  <c:v>45863</c:v>
                </c:pt>
                <c:pt idx="912">
                  <c:v>45866</c:v>
                </c:pt>
                <c:pt idx="913">
                  <c:v>45867</c:v>
                </c:pt>
                <c:pt idx="914">
                  <c:v>45868</c:v>
                </c:pt>
                <c:pt idx="915">
                  <c:v>45869</c:v>
                </c:pt>
                <c:pt idx="916">
                  <c:v>45870</c:v>
                </c:pt>
                <c:pt idx="917">
                  <c:v>45873</c:v>
                </c:pt>
                <c:pt idx="918">
                  <c:v>45874</c:v>
                </c:pt>
                <c:pt idx="919">
                  <c:v>45875</c:v>
                </c:pt>
                <c:pt idx="920">
                  <c:v>45876</c:v>
                </c:pt>
                <c:pt idx="921">
                  <c:v>45877</c:v>
                </c:pt>
                <c:pt idx="922">
                  <c:v>45880</c:v>
                </c:pt>
                <c:pt idx="923">
                  <c:v>45881</c:v>
                </c:pt>
                <c:pt idx="924">
                  <c:v>45882</c:v>
                </c:pt>
                <c:pt idx="925">
                  <c:v>45883</c:v>
                </c:pt>
                <c:pt idx="926">
                  <c:v>45884</c:v>
                </c:pt>
                <c:pt idx="927">
                  <c:v>45887</c:v>
                </c:pt>
                <c:pt idx="928">
                  <c:v>45888</c:v>
                </c:pt>
                <c:pt idx="929">
                  <c:v>45889</c:v>
                </c:pt>
                <c:pt idx="930">
                  <c:v>45890</c:v>
                </c:pt>
                <c:pt idx="931">
                  <c:v>45891</c:v>
                </c:pt>
                <c:pt idx="932">
                  <c:v>45894</c:v>
                </c:pt>
                <c:pt idx="933">
                  <c:v>45895</c:v>
                </c:pt>
                <c:pt idx="934">
                  <c:v>45896</c:v>
                </c:pt>
                <c:pt idx="935">
                  <c:v>45897</c:v>
                </c:pt>
                <c:pt idx="936">
                  <c:v>45898</c:v>
                </c:pt>
                <c:pt idx="937">
                  <c:v>45901</c:v>
                </c:pt>
                <c:pt idx="938">
                  <c:v>45902</c:v>
                </c:pt>
                <c:pt idx="939">
                  <c:v>45903</c:v>
                </c:pt>
                <c:pt idx="940">
                  <c:v>45904</c:v>
                </c:pt>
                <c:pt idx="941">
                  <c:v>45905</c:v>
                </c:pt>
                <c:pt idx="942">
                  <c:v>45908</c:v>
                </c:pt>
                <c:pt idx="943">
                  <c:v>45909</c:v>
                </c:pt>
                <c:pt idx="944">
                  <c:v>45910</c:v>
                </c:pt>
                <c:pt idx="945">
                  <c:v>45911</c:v>
                </c:pt>
                <c:pt idx="946">
                  <c:v>45912</c:v>
                </c:pt>
                <c:pt idx="947">
                  <c:v>45915</c:v>
                </c:pt>
                <c:pt idx="948">
                  <c:v>45916</c:v>
                </c:pt>
                <c:pt idx="949">
                  <c:v>45917</c:v>
                </c:pt>
                <c:pt idx="950">
                  <c:v>45918</c:v>
                </c:pt>
                <c:pt idx="951">
                  <c:v>45919</c:v>
                </c:pt>
                <c:pt idx="952">
                  <c:v>45922</c:v>
                </c:pt>
                <c:pt idx="953">
                  <c:v>45923</c:v>
                </c:pt>
                <c:pt idx="954">
                  <c:v>45924</c:v>
                </c:pt>
                <c:pt idx="955">
                  <c:v>45925</c:v>
                </c:pt>
                <c:pt idx="956">
                  <c:v>45926</c:v>
                </c:pt>
                <c:pt idx="957">
                  <c:v>45929</c:v>
                </c:pt>
                <c:pt idx="958">
                  <c:v>45930</c:v>
                </c:pt>
                <c:pt idx="959">
                  <c:v>45931</c:v>
                </c:pt>
                <c:pt idx="960">
                  <c:v>45932</c:v>
                </c:pt>
                <c:pt idx="961">
                  <c:v>45933</c:v>
                </c:pt>
                <c:pt idx="962">
                  <c:v>45936</c:v>
                </c:pt>
                <c:pt idx="963">
                  <c:v>45937</c:v>
                </c:pt>
                <c:pt idx="964">
                  <c:v>45938</c:v>
                </c:pt>
                <c:pt idx="965">
                  <c:v>45939</c:v>
                </c:pt>
                <c:pt idx="966">
                  <c:v>45940</c:v>
                </c:pt>
                <c:pt idx="967">
                  <c:v>45943</c:v>
                </c:pt>
                <c:pt idx="968">
                  <c:v>45944</c:v>
                </c:pt>
                <c:pt idx="969">
                  <c:v>45945</c:v>
                </c:pt>
                <c:pt idx="970">
                  <c:v>45946</c:v>
                </c:pt>
                <c:pt idx="971">
                  <c:v>45947</c:v>
                </c:pt>
                <c:pt idx="972">
                  <c:v>45951</c:v>
                </c:pt>
                <c:pt idx="973">
                  <c:v>45952</c:v>
                </c:pt>
                <c:pt idx="974">
                  <c:v>45953</c:v>
                </c:pt>
                <c:pt idx="975">
                  <c:v>45954</c:v>
                </c:pt>
                <c:pt idx="976">
                  <c:v>45957</c:v>
                </c:pt>
                <c:pt idx="977">
                  <c:v>45958</c:v>
                </c:pt>
                <c:pt idx="978">
                  <c:v>45959</c:v>
                </c:pt>
                <c:pt idx="979">
                  <c:v>45960</c:v>
                </c:pt>
                <c:pt idx="980">
                  <c:v>45961</c:v>
                </c:pt>
                <c:pt idx="981">
                  <c:v>45964</c:v>
                </c:pt>
                <c:pt idx="982">
                  <c:v>45965</c:v>
                </c:pt>
                <c:pt idx="983">
                  <c:v>45966</c:v>
                </c:pt>
                <c:pt idx="984">
                  <c:v>45967</c:v>
                </c:pt>
                <c:pt idx="985">
                  <c:v>45968</c:v>
                </c:pt>
                <c:pt idx="986">
                  <c:v>45971</c:v>
                </c:pt>
                <c:pt idx="987">
                  <c:v>45972</c:v>
                </c:pt>
                <c:pt idx="988">
                  <c:v>45973</c:v>
                </c:pt>
                <c:pt idx="989">
                  <c:v>45974</c:v>
                </c:pt>
                <c:pt idx="990">
                  <c:v>45975</c:v>
                </c:pt>
                <c:pt idx="991">
                  <c:v>45978</c:v>
                </c:pt>
                <c:pt idx="992">
                  <c:v>45979</c:v>
                </c:pt>
                <c:pt idx="993">
                  <c:v>45980</c:v>
                </c:pt>
                <c:pt idx="994">
                  <c:v>45981</c:v>
                </c:pt>
                <c:pt idx="995">
                  <c:v>45982</c:v>
                </c:pt>
                <c:pt idx="996">
                  <c:v>45985</c:v>
                </c:pt>
                <c:pt idx="997">
                  <c:v>45986</c:v>
                </c:pt>
                <c:pt idx="998">
                  <c:v>45987</c:v>
                </c:pt>
                <c:pt idx="999">
                  <c:v>45988</c:v>
                </c:pt>
                <c:pt idx="1000">
                  <c:v>45989</c:v>
                </c:pt>
                <c:pt idx="1001">
                  <c:v>45992</c:v>
                </c:pt>
                <c:pt idx="1002">
                  <c:v>45993</c:v>
                </c:pt>
                <c:pt idx="1003">
                  <c:v>45994</c:v>
                </c:pt>
                <c:pt idx="1004">
                  <c:v>45995</c:v>
                </c:pt>
                <c:pt idx="1005">
                  <c:v>45996</c:v>
                </c:pt>
                <c:pt idx="1006">
                  <c:v>45999</c:v>
                </c:pt>
                <c:pt idx="1007">
                  <c:v>46000</c:v>
                </c:pt>
                <c:pt idx="1008">
                  <c:v>46001</c:v>
                </c:pt>
                <c:pt idx="1009">
                  <c:v>46002</c:v>
                </c:pt>
                <c:pt idx="1010">
                  <c:v>46003</c:v>
                </c:pt>
                <c:pt idx="1011">
                  <c:v>46006</c:v>
                </c:pt>
                <c:pt idx="1012">
                  <c:v>46007</c:v>
                </c:pt>
                <c:pt idx="1013">
                  <c:v>46008</c:v>
                </c:pt>
                <c:pt idx="1014">
                  <c:v>46009</c:v>
                </c:pt>
                <c:pt idx="1015">
                  <c:v>46010</c:v>
                </c:pt>
                <c:pt idx="1016">
                  <c:v>46013</c:v>
                </c:pt>
                <c:pt idx="1017">
                  <c:v>46014</c:v>
                </c:pt>
                <c:pt idx="1018">
                  <c:v>46015</c:v>
                </c:pt>
                <c:pt idx="1019">
                  <c:v>46017</c:v>
                </c:pt>
                <c:pt idx="1020">
                  <c:v>46020</c:v>
                </c:pt>
                <c:pt idx="1021">
                  <c:v>46021</c:v>
                </c:pt>
                <c:pt idx="1022">
                  <c:v>46022</c:v>
                </c:pt>
                <c:pt idx="1023">
                  <c:v>46024</c:v>
                </c:pt>
                <c:pt idx="1024">
                  <c:v>46027</c:v>
                </c:pt>
                <c:pt idx="1025">
                  <c:v>46028</c:v>
                </c:pt>
                <c:pt idx="1026">
                  <c:v>46029</c:v>
                </c:pt>
                <c:pt idx="1027">
                  <c:v>46030</c:v>
                </c:pt>
                <c:pt idx="1028">
                  <c:v>46031</c:v>
                </c:pt>
                <c:pt idx="1029">
                  <c:v>46034</c:v>
                </c:pt>
                <c:pt idx="1030">
                  <c:v>46035</c:v>
                </c:pt>
                <c:pt idx="1031">
                  <c:v>46036</c:v>
                </c:pt>
                <c:pt idx="1032">
                  <c:v>46037</c:v>
                </c:pt>
                <c:pt idx="1033">
                  <c:v>46038</c:v>
                </c:pt>
                <c:pt idx="1034">
                  <c:v>46041</c:v>
                </c:pt>
                <c:pt idx="1035">
                  <c:v>46042</c:v>
                </c:pt>
                <c:pt idx="1036">
                  <c:v>46043</c:v>
                </c:pt>
                <c:pt idx="1037">
                  <c:v>46044</c:v>
                </c:pt>
                <c:pt idx="1038">
                  <c:v>46045</c:v>
                </c:pt>
                <c:pt idx="1039">
                  <c:v>46048</c:v>
                </c:pt>
                <c:pt idx="1040">
                  <c:v>46049</c:v>
                </c:pt>
                <c:pt idx="1041">
                  <c:v>46050</c:v>
                </c:pt>
                <c:pt idx="1042">
                  <c:v>46051</c:v>
                </c:pt>
                <c:pt idx="1043">
                  <c:v>46052</c:v>
                </c:pt>
                <c:pt idx="1044">
                  <c:v>46055</c:v>
                </c:pt>
                <c:pt idx="1045">
                  <c:v>46056</c:v>
                </c:pt>
                <c:pt idx="1046">
                  <c:v>46057</c:v>
                </c:pt>
                <c:pt idx="1047">
                  <c:v>46058</c:v>
                </c:pt>
                <c:pt idx="1048">
                  <c:v>46059</c:v>
                </c:pt>
                <c:pt idx="1049">
                  <c:v>46062</c:v>
                </c:pt>
                <c:pt idx="1050">
                  <c:v>46063</c:v>
                </c:pt>
                <c:pt idx="1051">
                  <c:v>46064</c:v>
                </c:pt>
                <c:pt idx="1052">
                  <c:v>46065</c:v>
                </c:pt>
                <c:pt idx="1053">
                  <c:v>46066</c:v>
                </c:pt>
                <c:pt idx="1054">
                  <c:v>46069</c:v>
                </c:pt>
                <c:pt idx="1055">
                  <c:v>46072</c:v>
                </c:pt>
                <c:pt idx="1056">
                  <c:v>46073</c:v>
                </c:pt>
                <c:pt idx="1057">
                  <c:v>46076</c:v>
                </c:pt>
                <c:pt idx="1058">
                  <c:v>46077</c:v>
                </c:pt>
                <c:pt idx="1059">
                  <c:v>46078</c:v>
                </c:pt>
                <c:pt idx="1060">
                  <c:v>46079</c:v>
                </c:pt>
                <c:pt idx="1061">
                  <c:v>46080</c:v>
                </c:pt>
                <c:pt idx="1062">
                  <c:v>46083</c:v>
                </c:pt>
                <c:pt idx="1063">
                  <c:v>46084</c:v>
                </c:pt>
                <c:pt idx="1064">
                  <c:v>46085</c:v>
                </c:pt>
                <c:pt idx="1065">
                  <c:v>46086</c:v>
                </c:pt>
                <c:pt idx="1066">
                  <c:v>46087</c:v>
                </c:pt>
                <c:pt idx="1067">
                  <c:v>46090</c:v>
                </c:pt>
                <c:pt idx="1068">
                  <c:v>46091</c:v>
                </c:pt>
                <c:pt idx="1069">
                  <c:v>46092</c:v>
                </c:pt>
                <c:pt idx="1070">
                  <c:v>46093</c:v>
                </c:pt>
                <c:pt idx="1071">
                  <c:v>46094</c:v>
                </c:pt>
                <c:pt idx="1072">
                  <c:v>46097</c:v>
                </c:pt>
                <c:pt idx="1073">
                  <c:v>46098</c:v>
                </c:pt>
                <c:pt idx="1074">
                  <c:v>46099</c:v>
                </c:pt>
                <c:pt idx="1075">
                  <c:v>46100</c:v>
                </c:pt>
                <c:pt idx="1076">
                  <c:v>46101</c:v>
                </c:pt>
                <c:pt idx="1077">
                  <c:v>46104</c:v>
                </c:pt>
                <c:pt idx="1078">
                  <c:v>46105</c:v>
                </c:pt>
                <c:pt idx="1079">
                  <c:v>46106</c:v>
                </c:pt>
                <c:pt idx="1080">
                  <c:v>46107</c:v>
                </c:pt>
                <c:pt idx="1081">
                  <c:v>46108</c:v>
                </c:pt>
                <c:pt idx="1082">
                  <c:v>46111</c:v>
                </c:pt>
                <c:pt idx="1083">
                  <c:v>46112</c:v>
                </c:pt>
                <c:pt idx="1084">
                  <c:v>46113</c:v>
                </c:pt>
                <c:pt idx="1085">
                  <c:v>46114</c:v>
                </c:pt>
                <c:pt idx="1086">
                  <c:v>46118</c:v>
                </c:pt>
                <c:pt idx="1087">
                  <c:v>46119</c:v>
                </c:pt>
                <c:pt idx="1088">
                  <c:v>46120</c:v>
                </c:pt>
                <c:pt idx="1089">
                  <c:v>46121</c:v>
                </c:pt>
                <c:pt idx="1090">
                  <c:v>46122</c:v>
                </c:pt>
                <c:pt idx="1091">
                  <c:v>46125</c:v>
                </c:pt>
                <c:pt idx="1092">
                  <c:v>46126</c:v>
                </c:pt>
                <c:pt idx="1093">
                  <c:v>46127</c:v>
                </c:pt>
                <c:pt idx="1094">
                  <c:v>46128</c:v>
                </c:pt>
                <c:pt idx="1095">
                  <c:v>46129</c:v>
                </c:pt>
                <c:pt idx="1096">
                  <c:v>46132</c:v>
                </c:pt>
                <c:pt idx="1097">
                  <c:v>46133</c:v>
                </c:pt>
                <c:pt idx="1098">
                  <c:v>46134</c:v>
                </c:pt>
                <c:pt idx="1099">
                  <c:v>46135</c:v>
                </c:pt>
                <c:pt idx="1100">
                  <c:v>46136</c:v>
                </c:pt>
                <c:pt idx="1101">
                  <c:v>46139</c:v>
                </c:pt>
                <c:pt idx="1102">
                  <c:v>46140</c:v>
                </c:pt>
                <c:pt idx="1103">
                  <c:v>46141</c:v>
                </c:pt>
                <c:pt idx="1104">
                  <c:v>46142</c:v>
                </c:pt>
                <c:pt idx="1105">
                  <c:v>46146</c:v>
                </c:pt>
              </c:numCache>
            </c:numRef>
          </c:cat>
          <c:val>
            <c:numRef>
              <c:f>Sheet1!$C$2:$C$1107</c:f>
              <c:numCache>
                <c:formatCode>General</c:formatCode>
                <c:ptCount val="1106"/>
                <c:pt idx="0">
                  <c:v>0.88</c:v>
                </c:pt>
                <c:pt idx="1">
                  <c:v>0.88</c:v>
                </c:pt>
                <c:pt idx="2">
                  <c:v>0.88</c:v>
                </c:pt>
                <c:pt idx="3">
                  <c:v>0.88</c:v>
                </c:pt>
                <c:pt idx="4">
                  <c:v>0.88</c:v>
                </c:pt>
                <c:pt idx="5">
                  <c:v>0.88</c:v>
                </c:pt>
                <c:pt idx="6">
                  <c:v>0.88</c:v>
                </c:pt>
                <c:pt idx="7">
                  <c:v>0.88</c:v>
                </c:pt>
                <c:pt idx="8">
                  <c:v>0.88</c:v>
                </c:pt>
                <c:pt idx="9">
                  <c:v>0.88</c:v>
                </c:pt>
                <c:pt idx="10">
                  <c:v>0.88</c:v>
                </c:pt>
                <c:pt idx="11">
                  <c:v>0.88</c:v>
                </c:pt>
                <c:pt idx="12">
                  <c:v>0.88</c:v>
                </c:pt>
                <c:pt idx="13">
                  <c:v>0.88</c:v>
                </c:pt>
                <c:pt idx="14">
                  <c:v>0.88</c:v>
                </c:pt>
                <c:pt idx="15">
                  <c:v>0.88</c:v>
                </c:pt>
                <c:pt idx="16">
                  <c:v>0.88</c:v>
                </c:pt>
                <c:pt idx="17">
                  <c:v>0.88</c:v>
                </c:pt>
                <c:pt idx="18">
                  <c:v>0.88</c:v>
                </c:pt>
                <c:pt idx="19">
                  <c:v>0.88</c:v>
                </c:pt>
                <c:pt idx="20">
                  <c:v>0.88</c:v>
                </c:pt>
                <c:pt idx="21">
                  <c:v>0.88</c:v>
                </c:pt>
                <c:pt idx="22">
                  <c:v>0.88</c:v>
                </c:pt>
                <c:pt idx="23">
                  <c:v>0.88</c:v>
                </c:pt>
                <c:pt idx="24">
                  <c:v>0.88</c:v>
                </c:pt>
                <c:pt idx="25">
                  <c:v>0.88</c:v>
                </c:pt>
                <c:pt idx="26">
                  <c:v>0.88</c:v>
                </c:pt>
                <c:pt idx="27">
                  <c:v>0.88</c:v>
                </c:pt>
                <c:pt idx="28">
                  <c:v>0.88</c:v>
                </c:pt>
                <c:pt idx="29">
                  <c:v>0.88</c:v>
                </c:pt>
                <c:pt idx="30">
                  <c:v>0.88</c:v>
                </c:pt>
                <c:pt idx="31">
                  <c:v>0.88</c:v>
                </c:pt>
                <c:pt idx="32">
                  <c:v>0.88</c:v>
                </c:pt>
                <c:pt idx="33">
                  <c:v>0.88</c:v>
                </c:pt>
                <c:pt idx="34">
                  <c:v>0.88</c:v>
                </c:pt>
                <c:pt idx="35">
                  <c:v>0.88</c:v>
                </c:pt>
                <c:pt idx="36">
                  <c:v>0.88</c:v>
                </c:pt>
                <c:pt idx="37">
                  <c:v>0.88</c:v>
                </c:pt>
                <c:pt idx="38">
                  <c:v>0.88</c:v>
                </c:pt>
                <c:pt idx="39">
                  <c:v>0.88</c:v>
                </c:pt>
                <c:pt idx="40">
                  <c:v>0.88</c:v>
                </c:pt>
                <c:pt idx="41">
                  <c:v>0.88</c:v>
                </c:pt>
                <c:pt idx="42">
                  <c:v>0.88</c:v>
                </c:pt>
                <c:pt idx="43">
                  <c:v>0.88</c:v>
                </c:pt>
                <c:pt idx="44">
                  <c:v>0.88</c:v>
                </c:pt>
                <c:pt idx="45">
                  <c:v>0.88</c:v>
                </c:pt>
                <c:pt idx="46">
                  <c:v>0.88</c:v>
                </c:pt>
                <c:pt idx="47">
                  <c:v>0.88</c:v>
                </c:pt>
                <c:pt idx="48">
                  <c:v>0.88</c:v>
                </c:pt>
                <c:pt idx="49">
                  <c:v>0.88</c:v>
                </c:pt>
                <c:pt idx="50">
                  <c:v>0.88</c:v>
                </c:pt>
                <c:pt idx="51">
                  <c:v>0.88</c:v>
                </c:pt>
                <c:pt idx="52">
                  <c:v>0.88</c:v>
                </c:pt>
                <c:pt idx="53">
                  <c:v>0.88</c:v>
                </c:pt>
                <c:pt idx="54">
                  <c:v>0.88</c:v>
                </c:pt>
                <c:pt idx="55">
                  <c:v>0.88</c:v>
                </c:pt>
                <c:pt idx="56">
                  <c:v>0.88</c:v>
                </c:pt>
                <c:pt idx="57">
                  <c:v>0.88</c:v>
                </c:pt>
                <c:pt idx="58">
                  <c:v>0.88</c:v>
                </c:pt>
                <c:pt idx="59">
                  <c:v>0.88</c:v>
                </c:pt>
                <c:pt idx="60">
                  <c:v>0.88</c:v>
                </c:pt>
                <c:pt idx="61">
                  <c:v>0.88</c:v>
                </c:pt>
                <c:pt idx="62">
                  <c:v>0.88</c:v>
                </c:pt>
                <c:pt idx="63">
                  <c:v>0.88</c:v>
                </c:pt>
                <c:pt idx="64">
                  <c:v>0.88</c:v>
                </c:pt>
                <c:pt idx="65">
                  <c:v>0.88</c:v>
                </c:pt>
                <c:pt idx="66">
                  <c:v>0.88</c:v>
                </c:pt>
                <c:pt idx="67">
                  <c:v>0.88</c:v>
                </c:pt>
                <c:pt idx="68">
                  <c:v>0.88</c:v>
                </c:pt>
                <c:pt idx="69">
                  <c:v>0.88</c:v>
                </c:pt>
                <c:pt idx="70">
                  <c:v>0.88</c:v>
                </c:pt>
                <c:pt idx="71">
                  <c:v>0.88</c:v>
                </c:pt>
                <c:pt idx="72">
                  <c:v>0.88</c:v>
                </c:pt>
                <c:pt idx="73">
                  <c:v>0.88</c:v>
                </c:pt>
                <c:pt idx="74">
                  <c:v>0.88</c:v>
                </c:pt>
                <c:pt idx="75">
                  <c:v>0.88</c:v>
                </c:pt>
                <c:pt idx="76">
                  <c:v>0.88</c:v>
                </c:pt>
                <c:pt idx="77">
                  <c:v>0.88</c:v>
                </c:pt>
                <c:pt idx="78">
                  <c:v>0.88</c:v>
                </c:pt>
                <c:pt idx="79">
                  <c:v>0.88</c:v>
                </c:pt>
                <c:pt idx="80">
                  <c:v>0.88</c:v>
                </c:pt>
                <c:pt idx="81">
                  <c:v>0.88</c:v>
                </c:pt>
                <c:pt idx="82">
                  <c:v>0.88</c:v>
                </c:pt>
                <c:pt idx="83">
                  <c:v>0.88</c:v>
                </c:pt>
                <c:pt idx="84">
                  <c:v>0.88</c:v>
                </c:pt>
                <c:pt idx="85">
                  <c:v>0.88</c:v>
                </c:pt>
                <c:pt idx="86">
                  <c:v>0.88</c:v>
                </c:pt>
                <c:pt idx="87">
                  <c:v>0.88</c:v>
                </c:pt>
                <c:pt idx="88">
                  <c:v>0.88</c:v>
                </c:pt>
                <c:pt idx="89">
                  <c:v>0.88</c:v>
                </c:pt>
                <c:pt idx="90">
                  <c:v>0.88</c:v>
                </c:pt>
                <c:pt idx="91">
                  <c:v>0.88</c:v>
                </c:pt>
                <c:pt idx="92">
                  <c:v>0.88</c:v>
                </c:pt>
                <c:pt idx="93">
                  <c:v>0.88</c:v>
                </c:pt>
                <c:pt idx="94">
                  <c:v>0.88</c:v>
                </c:pt>
                <c:pt idx="95">
                  <c:v>0.88</c:v>
                </c:pt>
                <c:pt idx="96">
                  <c:v>0.88</c:v>
                </c:pt>
                <c:pt idx="97">
                  <c:v>0.88</c:v>
                </c:pt>
                <c:pt idx="98">
                  <c:v>0.88</c:v>
                </c:pt>
                <c:pt idx="99">
                  <c:v>0.88</c:v>
                </c:pt>
                <c:pt idx="100">
                  <c:v>0.88</c:v>
                </c:pt>
                <c:pt idx="101">
                  <c:v>0.88</c:v>
                </c:pt>
                <c:pt idx="102">
                  <c:v>0.88</c:v>
                </c:pt>
                <c:pt idx="103">
                  <c:v>0.88</c:v>
                </c:pt>
                <c:pt idx="104">
                  <c:v>0.88</c:v>
                </c:pt>
                <c:pt idx="105">
                  <c:v>0.88</c:v>
                </c:pt>
                <c:pt idx="106">
                  <c:v>0.88</c:v>
                </c:pt>
                <c:pt idx="107">
                  <c:v>0.88</c:v>
                </c:pt>
                <c:pt idx="108">
                  <c:v>0.88</c:v>
                </c:pt>
                <c:pt idx="109">
                  <c:v>0.88</c:v>
                </c:pt>
                <c:pt idx="110">
                  <c:v>0.88</c:v>
                </c:pt>
                <c:pt idx="111">
                  <c:v>0.88</c:v>
                </c:pt>
                <c:pt idx="112">
                  <c:v>0.88</c:v>
                </c:pt>
                <c:pt idx="113">
                  <c:v>0.88</c:v>
                </c:pt>
                <c:pt idx="114">
                  <c:v>0.88</c:v>
                </c:pt>
                <c:pt idx="115">
                  <c:v>0.88</c:v>
                </c:pt>
                <c:pt idx="116">
                  <c:v>0.88</c:v>
                </c:pt>
                <c:pt idx="117">
                  <c:v>0.88</c:v>
                </c:pt>
                <c:pt idx="118">
                  <c:v>0.88</c:v>
                </c:pt>
                <c:pt idx="119">
                  <c:v>0.88</c:v>
                </c:pt>
                <c:pt idx="120">
                  <c:v>0.88</c:v>
                </c:pt>
                <c:pt idx="121">
                  <c:v>0.88</c:v>
                </c:pt>
                <c:pt idx="122">
                  <c:v>0.88</c:v>
                </c:pt>
                <c:pt idx="123">
                  <c:v>0.88</c:v>
                </c:pt>
                <c:pt idx="124">
                  <c:v>0.88</c:v>
                </c:pt>
                <c:pt idx="125">
                  <c:v>0.88</c:v>
                </c:pt>
                <c:pt idx="126">
                  <c:v>0.88</c:v>
                </c:pt>
                <c:pt idx="127">
                  <c:v>0.88</c:v>
                </c:pt>
                <c:pt idx="128">
                  <c:v>0.88</c:v>
                </c:pt>
                <c:pt idx="129">
                  <c:v>0.88</c:v>
                </c:pt>
                <c:pt idx="130">
                  <c:v>0.88</c:v>
                </c:pt>
                <c:pt idx="131">
                  <c:v>0.88</c:v>
                </c:pt>
                <c:pt idx="132">
                  <c:v>0.88</c:v>
                </c:pt>
                <c:pt idx="133">
                  <c:v>0.88</c:v>
                </c:pt>
                <c:pt idx="134">
                  <c:v>0.88</c:v>
                </c:pt>
                <c:pt idx="135">
                  <c:v>0.88</c:v>
                </c:pt>
                <c:pt idx="136">
                  <c:v>0.88</c:v>
                </c:pt>
                <c:pt idx="137">
                  <c:v>0.88</c:v>
                </c:pt>
                <c:pt idx="138">
                  <c:v>0.88</c:v>
                </c:pt>
                <c:pt idx="139">
                  <c:v>0.88</c:v>
                </c:pt>
                <c:pt idx="140">
                  <c:v>0.88</c:v>
                </c:pt>
                <c:pt idx="141">
                  <c:v>0.88</c:v>
                </c:pt>
                <c:pt idx="142">
                  <c:v>0.88</c:v>
                </c:pt>
                <c:pt idx="143">
                  <c:v>0.88</c:v>
                </c:pt>
                <c:pt idx="144">
                  <c:v>0.88</c:v>
                </c:pt>
                <c:pt idx="145">
                  <c:v>0.88</c:v>
                </c:pt>
                <c:pt idx="146">
                  <c:v>0.88</c:v>
                </c:pt>
                <c:pt idx="147">
                  <c:v>0.88</c:v>
                </c:pt>
                <c:pt idx="148">
                  <c:v>0.88</c:v>
                </c:pt>
                <c:pt idx="149">
                  <c:v>0.88</c:v>
                </c:pt>
                <c:pt idx="150">
                  <c:v>0.88</c:v>
                </c:pt>
                <c:pt idx="151">
                  <c:v>0.88</c:v>
                </c:pt>
                <c:pt idx="152">
                  <c:v>0.88</c:v>
                </c:pt>
                <c:pt idx="153">
                  <c:v>0.88</c:v>
                </c:pt>
                <c:pt idx="154">
                  <c:v>0.88</c:v>
                </c:pt>
                <c:pt idx="155">
                  <c:v>0.88</c:v>
                </c:pt>
                <c:pt idx="156">
                  <c:v>0.88</c:v>
                </c:pt>
                <c:pt idx="157">
                  <c:v>0.88</c:v>
                </c:pt>
                <c:pt idx="158">
                  <c:v>0.88</c:v>
                </c:pt>
                <c:pt idx="159">
                  <c:v>0.88</c:v>
                </c:pt>
                <c:pt idx="160">
                  <c:v>0.88</c:v>
                </c:pt>
                <c:pt idx="161">
                  <c:v>0.88</c:v>
                </c:pt>
                <c:pt idx="162">
                  <c:v>0.88</c:v>
                </c:pt>
                <c:pt idx="163">
                  <c:v>0.88</c:v>
                </c:pt>
                <c:pt idx="164">
                  <c:v>0.88</c:v>
                </c:pt>
                <c:pt idx="165">
                  <c:v>0.88</c:v>
                </c:pt>
                <c:pt idx="166">
                  <c:v>0.88</c:v>
                </c:pt>
                <c:pt idx="167">
                  <c:v>0.88</c:v>
                </c:pt>
                <c:pt idx="168">
                  <c:v>0.88</c:v>
                </c:pt>
                <c:pt idx="169">
                  <c:v>0.88</c:v>
                </c:pt>
                <c:pt idx="170">
                  <c:v>0.88</c:v>
                </c:pt>
                <c:pt idx="171">
                  <c:v>0.88</c:v>
                </c:pt>
                <c:pt idx="172">
                  <c:v>0.88</c:v>
                </c:pt>
                <c:pt idx="173">
                  <c:v>0.88</c:v>
                </c:pt>
                <c:pt idx="174">
                  <c:v>0.88</c:v>
                </c:pt>
                <c:pt idx="175">
                  <c:v>0.88</c:v>
                </c:pt>
                <c:pt idx="176">
                  <c:v>0.88</c:v>
                </c:pt>
                <c:pt idx="177">
                  <c:v>0.88</c:v>
                </c:pt>
                <c:pt idx="178">
                  <c:v>0.88</c:v>
                </c:pt>
                <c:pt idx="179">
                  <c:v>0.88</c:v>
                </c:pt>
                <c:pt idx="180">
                  <c:v>0.88</c:v>
                </c:pt>
                <c:pt idx="181">
                  <c:v>0.88</c:v>
                </c:pt>
                <c:pt idx="182">
                  <c:v>0.88</c:v>
                </c:pt>
                <c:pt idx="183">
                  <c:v>0.88</c:v>
                </c:pt>
                <c:pt idx="184">
                  <c:v>0.88</c:v>
                </c:pt>
                <c:pt idx="185">
                  <c:v>0.88</c:v>
                </c:pt>
                <c:pt idx="186">
                  <c:v>0.88</c:v>
                </c:pt>
                <c:pt idx="187">
                  <c:v>0.88</c:v>
                </c:pt>
                <c:pt idx="188">
                  <c:v>0.88</c:v>
                </c:pt>
                <c:pt idx="189">
                  <c:v>0.88</c:v>
                </c:pt>
                <c:pt idx="190">
                  <c:v>0.88</c:v>
                </c:pt>
                <c:pt idx="191">
                  <c:v>0.88</c:v>
                </c:pt>
                <c:pt idx="192">
                  <c:v>0.88</c:v>
                </c:pt>
                <c:pt idx="193">
                  <c:v>0.88</c:v>
                </c:pt>
                <c:pt idx="194">
                  <c:v>0.88</c:v>
                </c:pt>
                <c:pt idx="195">
                  <c:v>0.88</c:v>
                </c:pt>
                <c:pt idx="196">
                  <c:v>0.88</c:v>
                </c:pt>
                <c:pt idx="197">
                  <c:v>0.88</c:v>
                </c:pt>
                <c:pt idx="198">
                  <c:v>0.88</c:v>
                </c:pt>
                <c:pt idx="199">
                  <c:v>0.88</c:v>
                </c:pt>
                <c:pt idx="200">
                  <c:v>0.88</c:v>
                </c:pt>
                <c:pt idx="201">
                  <c:v>0.88</c:v>
                </c:pt>
                <c:pt idx="202">
                  <c:v>0.88</c:v>
                </c:pt>
                <c:pt idx="203">
                  <c:v>0.88</c:v>
                </c:pt>
                <c:pt idx="204">
                  <c:v>0.88</c:v>
                </c:pt>
                <c:pt idx="205">
                  <c:v>0.88</c:v>
                </c:pt>
                <c:pt idx="206">
                  <c:v>0.88</c:v>
                </c:pt>
                <c:pt idx="207">
                  <c:v>0.88</c:v>
                </c:pt>
                <c:pt idx="208">
                  <c:v>0.88</c:v>
                </c:pt>
                <c:pt idx="209">
                  <c:v>0.88</c:v>
                </c:pt>
                <c:pt idx="210">
                  <c:v>0.88</c:v>
                </c:pt>
                <c:pt idx="211">
                  <c:v>0.88</c:v>
                </c:pt>
                <c:pt idx="212">
                  <c:v>0.88</c:v>
                </c:pt>
                <c:pt idx="213">
                  <c:v>0.88</c:v>
                </c:pt>
                <c:pt idx="214">
                  <c:v>0.88</c:v>
                </c:pt>
                <c:pt idx="215">
                  <c:v>0.88</c:v>
                </c:pt>
                <c:pt idx="216">
                  <c:v>0.88</c:v>
                </c:pt>
                <c:pt idx="217">
                  <c:v>0.88</c:v>
                </c:pt>
                <c:pt idx="218">
                  <c:v>0.88</c:v>
                </c:pt>
                <c:pt idx="219">
                  <c:v>0.88</c:v>
                </c:pt>
                <c:pt idx="220">
                  <c:v>0.88</c:v>
                </c:pt>
                <c:pt idx="221">
                  <c:v>0.88</c:v>
                </c:pt>
                <c:pt idx="222">
                  <c:v>0.88</c:v>
                </c:pt>
                <c:pt idx="223">
                  <c:v>0.88</c:v>
                </c:pt>
                <c:pt idx="224">
                  <c:v>0.88</c:v>
                </c:pt>
                <c:pt idx="225">
                  <c:v>0.88</c:v>
                </c:pt>
                <c:pt idx="226">
                  <c:v>0.88</c:v>
                </c:pt>
                <c:pt idx="227">
                  <c:v>0.88</c:v>
                </c:pt>
                <c:pt idx="228">
                  <c:v>0.88</c:v>
                </c:pt>
                <c:pt idx="229">
                  <c:v>0.88</c:v>
                </c:pt>
                <c:pt idx="230">
                  <c:v>0.88</c:v>
                </c:pt>
                <c:pt idx="231">
                  <c:v>0.88</c:v>
                </c:pt>
                <c:pt idx="232">
                  <c:v>0.88</c:v>
                </c:pt>
                <c:pt idx="233">
                  <c:v>0.88</c:v>
                </c:pt>
                <c:pt idx="234">
                  <c:v>0.88</c:v>
                </c:pt>
                <c:pt idx="235">
                  <c:v>0.88</c:v>
                </c:pt>
                <c:pt idx="236">
                  <c:v>0.88</c:v>
                </c:pt>
                <c:pt idx="237">
                  <c:v>0.88</c:v>
                </c:pt>
                <c:pt idx="238">
                  <c:v>0.88</c:v>
                </c:pt>
                <c:pt idx="239">
                  <c:v>0.88</c:v>
                </c:pt>
                <c:pt idx="240">
                  <c:v>0.88</c:v>
                </c:pt>
                <c:pt idx="241">
                  <c:v>0.88</c:v>
                </c:pt>
                <c:pt idx="242">
                  <c:v>0.88</c:v>
                </c:pt>
                <c:pt idx="243">
                  <c:v>0.88</c:v>
                </c:pt>
                <c:pt idx="244">
                  <c:v>0.88</c:v>
                </c:pt>
                <c:pt idx="245">
                  <c:v>0.88</c:v>
                </c:pt>
                <c:pt idx="246">
                  <c:v>0.88</c:v>
                </c:pt>
                <c:pt idx="247">
                  <c:v>0.88</c:v>
                </c:pt>
                <c:pt idx="248">
                  <c:v>0.88</c:v>
                </c:pt>
                <c:pt idx="249">
                  <c:v>0.88</c:v>
                </c:pt>
                <c:pt idx="250">
                  <c:v>0.88</c:v>
                </c:pt>
                <c:pt idx="251">
                  <c:v>0.88</c:v>
                </c:pt>
                <c:pt idx="252">
                  <c:v>0.88</c:v>
                </c:pt>
                <c:pt idx="253">
                  <c:v>0.88</c:v>
                </c:pt>
                <c:pt idx="254">
                  <c:v>0.88</c:v>
                </c:pt>
                <c:pt idx="255">
                  <c:v>0.88</c:v>
                </c:pt>
                <c:pt idx="256">
                  <c:v>0.88</c:v>
                </c:pt>
                <c:pt idx="257">
                  <c:v>0.88</c:v>
                </c:pt>
                <c:pt idx="258">
                  <c:v>0.88</c:v>
                </c:pt>
                <c:pt idx="259">
                  <c:v>0.88</c:v>
                </c:pt>
                <c:pt idx="260">
                  <c:v>0.88</c:v>
                </c:pt>
                <c:pt idx="261">
                  <c:v>0.88</c:v>
                </c:pt>
                <c:pt idx="262">
                  <c:v>0.88</c:v>
                </c:pt>
                <c:pt idx="263">
                  <c:v>0.88</c:v>
                </c:pt>
                <c:pt idx="264">
                  <c:v>0.88</c:v>
                </c:pt>
                <c:pt idx="265">
                  <c:v>0.88</c:v>
                </c:pt>
                <c:pt idx="266">
                  <c:v>0.88</c:v>
                </c:pt>
                <c:pt idx="267">
                  <c:v>0.88</c:v>
                </c:pt>
                <c:pt idx="268">
                  <c:v>0.88</c:v>
                </c:pt>
                <c:pt idx="269">
                  <c:v>0.88</c:v>
                </c:pt>
                <c:pt idx="270">
                  <c:v>0.88</c:v>
                </c:pt>
                <c:pt idx="271">
                  <c:v>0.88</c:v>
                </c:pt>
                <c:pt idx="272">
                  <c:v>0.88</c:v>
                </c:pt>
                <c:pt idx="273">
                  <c:v>0.88</c:v>
                </c:pt>
                <c:pt idx="274">
                  <c:v>0.88</c:v>
                </c:pt>
                <c:pt idx="275">
                  <c:v>0.88</c:v>
                </c:pt>
                <c:pt idx="276">
                  <c:v>0.88</c:v>
                </c:pt>
                <c:pt idx="277">
                  <c:v>0.88</c:v>
                </c:pt>
                <c:pt idx="278">
                  <c:v>0.88</c:v>
                </c:pt>
                <c:pt idx="279">
                  <c:v>0.88</c:v>
                </c:pt>
                <c:pt idx="280">
                  <c:v>0.88</c:v>
                </c:pt>
                <c:pt idx="281">
                  <c:v>0.88</c:v>
                </c:pt>
                <c:pt idx="282">
                  <c:v>0.88</c:v>
                </c:pt>
                <c:pt idx="283">
                  <c:v>0.88</c:v>
                </c:pt>
                <c:pt idx="284">
                  <c:v>0.88</c:v>
                </c:pt>
                <c:pt idx="285">
                  <c:v>0.88</c:v>
                </c:pt>
                <c:pt idx="286">
                  <c:v>0.88</c:v>
                </c:pt>
                <c:pt idx="287">
                  <c:v>0.88</c:v>
                </c:pt>
                <c:pt idx="288">
                  <c:v>0.88</c:v>
                </c:pt>
                <c:pt idx="289">
                  <c:v>0.88</c:v>
                </c:pt>
                <c:pt idx="290">
                  <c:v>0.88</c:v>
                </c:pt>
                <c:pt idx="291">
                  <c:v>0.88</c:v>
                </c:pt>
                <c:pt idx="292">
                  <c:v>0.88</c:v>
                </c:pt>
                <c:pt idx="293">
                  <c:v>0.88</c:v>
                </c:pt>
                <c:pt idx="294">
                  <c:v>0.88</c:v>
                </c:pt>
                <c:pt idx="295">
                  <c:v>0.88</c:v>
                </c:pt>
                <c:pt idx="296">
                  <c:v>0.88</c:v>
                </c:pt>
                <c:pt idx="297">
                  <c:v>0.88</c:v>
                </c:pt>
                <c:pt idx="298">
                  <c:v>0.88</c:v>
                </c:pt>
                <c:pt idx="299">
                  <c:v>0.88</c:v>
                </c:pt>
                <c:pt idx="300">
                  <c:v>0.88</c:v>
                </c:pt>
                <c:pt idx="301">
                  <c:v>0.88</c:v>
                </c:pt>
                <c:pt idx="302">
                  <c:v>0.88</c:v>
                </c:pt>
                <c:pt idx="303">
                  <c:v>0.88</c:v>
                </c:pt>
                <c:pt idx="304">
                  <c:v>0.88</c:v>
                </c:pt>
                <c:pt idx="305">
                  <c:v>0.88</c:v>
                </c:pt>
                <c:pt idx="306">
                  <c:v>0.88</c:v>
                </c:pt>
                <c:pt idx="307">
                  <c:v>0.88</c:v>
                </c:pt>
                <c:pt idx="308">
                  <c:v>0.88</c:v>
                </c:pt>
                <c:pt idx="309">
                  <c:v>0.88</c:v>
                </c:pt>
                <c:pt idx="310">
                  <c:v>0.88</c:v>
                </c:pt>
                <c:pt idx="311">
                  <c:v>0.88</c:v>
                </c:pt>
                <c:pt idx="312">
                  <c:v>0.88</c:v>
                </c:pt>
                <c:pt idx="313">
                  <c:v>0.88</c:v>
                </c:pt>
                <c:pt idx="314">
                  <c:v>0.88</c:v>
                </c:pt>
                <c:pt idx="315">
                  <c:v>0.88</c:v>
                </c:pt>
                <c:pt idx="316">
                  <c:v>0.88</c:v>
                </c:pt>
                <c:pt idx="317">
                  <c:v>0.88</c:v>
                </c:pt>
                <c:pt idx="318">
                  <c:v>0.88</c:v>
                </c:pt>
                <c:pt idx="319">
                  <c:v>0.88</c:v>
                </c:pt>
                <c:pt idx="320">
                  <c:v>0.88</c:v>
                </c:pt>
                <c:pt idx="321">
                  <c:v>0.88</c:v>
                </c:pt>
                <c:pt idx="322">
                  <c:v>0.88</c:v>
                </c:pt>
                <c:pt idx="323">
                  <c:v>0.88</c:v>
                </c:pt>
                <c:pt idx="324">
                  <c:v>0.88</c:v>
                </c:pt>
                <c:pt idx="325">
                  <c:v>0.88</c:v>
                </c:pt>
                <c:pt idx="326">
                  <c:v>0.88</c:v>
                </c:pt>
                <c:pt idx="327">
                  <c:v>0.88</c:v>
                </c:pt>
                <c:pt idx="328">
                  <c:v>0.88</c:v>
                </c:pt>
                <c:pt idx="329">
                  <c:v>0.88</c:v>
                </c:pt>
                <c:pt idx="330">
                  <c:v>0.88</c:v>
                </c:pt>
                <c:pt idx="331">
                  <c:v>0.88</c:v>
                </c:pt>
                <c:pt idx="332">
                  <c:v>0.88</c:v>
                </c:pt>
                <c:pt idx="333">
                  <c:v>0.88</c:v>
                </c:pt>
                <c:pt idx="334">
                  <c:v>0.88</c:v>
                </c:pt>
                <c:pt idx="335">
                  <c:v>0.88</c:v>
                </c:pt>
                <c:pt idx="336">
                  <c:v>0.88</c:v>
                </c:pt>
                <c:pt idx="337">
                  <c:v>0.88</c:v>
                </c:pt>
                <c:pt idx="338">
                  <c:v>0.88</c:v>
                </c:pt>
                <c:pt idx="339">
                  <c:v>0.88</c:v>
                </c:pt>
                <c:pt idx="340">
                  <c:v>0.88</c:v>
                </c:pt>
                <c:pt idx="341">
                  <c:v>0.88</c:v>
                </c:pt>
                <c:pt idx="342">
                  <c:v>0.88</c:v>
                </c:pt>
                <c:pt idx="343">
                  <c:v>0.88</c:v>
                </c:pt>
                <c:pt idx="344">
                  <c:v>0.88</c:v>
                </c:pt>
                <c:pt idx="345">
                  <c:v>0.88</c:v>
                </c:pt>
                <c:pt idx="346">
                  <c:v>0.88</c:v>
                </c:pt>
                <c:pt idx="347">
                  <c:v>0.88</c:v>
                </c:pt>
                <c:pt idx="348">
                  <c:v>0.88</c:v>
                </c:pt>
                <c:pt idx="349">
                  <c:v>0.88</c:v>
                </c:pt>
                <c:pt idx="350">
                  <c:v>0.88</c:v>
                </c:pt>
                <c:pt idx="351">
                  <c:v>0.88</c:v>
                </c:pt>
                <c:pt idx="352">
                  <c:v>0.88</c:v>
                </c:pt>
                <c:pt idx="353">
                  <c:v>0.88</c:v>
                </c:pt>
                <c:pt idx="354">
                  <c:v>0.88</c:v>
                </c:pt>
                <c:pt idx="355">
                  <c:v>0.88</c:v>
                </c:pt>
                <c:pt idx="356">
                  <c:v>0.88</c:v>
                </c:pt>
                <c:pt idx="357">
                  <c:v>0.88</c:v>
                </c:pt>
                <c:pt idx="358">
                  <c:v>0.88</c:v>
                </c:pt>
                <c:pt idx="359">
                  <c:v>0.88</c:v>
                </c:pt>
                <c:pt idx="360">
                  <c:v>0.88</c:v>
                </c:pt>
                <c:pt idx="361">
                  <c:v>0.88</c:v>
                </c:pt>
                <c:pt idx="362">
                  <c:v>0.88</c:v>
                </c:pt>
                <c:pt idx="363">
                  <c:v>0.88</c:v>
                </c:pt>
                <c:pt idx="364">
                  <c:v>0.88</c:v>
                </c:pt>
                <c:pt idx="365">
                  <c:v>0.88</c:v>
                </c:pt>
                <c:pt idx="366">
                  <c:v>0.88</c:v>
                </c:pt>
                <c:pt idx="367">
                  <c:v>0.88</c:v>
                </c:pt>
                <c:pt idx="368">
                  <c:v>0.88</c:v>
                </c:pt>
                <c:pt idx="369">
                  <c:v>0.88</c:v>
                </c:pt>
                <c:pt idx="370">
                  <c:v>0.88</c:v>
                </c:pt>
                <c:pt idx="371">
                  <c:v>0.88</c:v>
                </c:pt>
                <c:pt idx="372">
                  <c:v>0.88</c:v>
                </c:pt>
                <c:pt idx="373">
                  <c:v>0.88</c:v>
                </c:pt>
                <c:pt idx="374">
                  <c:v>0.88</c:v>
                </c:pt>
                <c:pt idx="375">
                  <c:v>0.88</c:v>
                </c:pt>
                <c:pt idx="376">
                  <c:v>0.88</c:v>
                </c:pt>
                <c:pt idx="377">
                  <c:v>0.88</c:v>
                </c:pt>
                <c:pt idx="378">
                  <c:v>0.88</c:v>
                </c:pt>
                <c:pt idx="379">
                  <c:v>0.88</c:v>
                </c:pt>
                <c:pt idx="380">
                  <c:v>0.88</c:v>
                </c:pt>
                <c:pt idx="381">
                  <c:v>0.88</c:v>
                </c:pt>
                <c:pt idx="382">
                  <c:v>0.88</c:v>
                </c:pt>
                <c:pt idx="383">
                  <c:v>0.88</c:v>
                </c:pt>
                <c:pt idx="384">
                  <c:v>0.88</c:v>
                </c:pt>
                <c:pt idx="385">
                  <c:v>0.88</c:v>
                </c:pt>
                <c:pt idx="386">
                  <c:v>0.88</c:v>
                </c:pt>
                <c:pt idx="387">
                  <c:v>0.88</c:v>
                </c:pt>
                <c:pt idx="388">
                  <c:v>0.88</c:v>
                </c:pt>
                <c:pt idx="389">
                  <c:v>0.88</c:v>
                </c:pt>
                <c:pt idx="390">
                  <c:v>0.88</c:v>
                </c:pt>
                <c:pt idx="391">
                  <c:v>0.88</c:v>
                </c:pt>
                <c:pt idx="392">
                  <c:v>0.88</c:v>
                </c:pt>
                <c:pt idx="393">
                  <c:v>0.88</c:v>
                </c:pt>
                <c:pt idx="394">
                  <c:v>0.88</c:v>
                </c:pt>
                <c:pt idx="395">
                  <c:v>0.88</c:v>
                </c:pt>
                <c:pt idx="396">
                  <c:v>0.88</c:v>
                </c:pt>
                <c:pt idx="397">
                  <c:v>0.88</c:v>
                </c:pt>
                <c:pt idx="398">
                  <c:v>0.88</c:v>
                </c:pt>
                <c:pt idx="399">
                  <c:v>0.88</c:v>
                </c:pt>
                <c:pt idx="400">
                  <c:v>0.88</c:v>
                </c:pt>
                <c:pt idx="401">
                  <c:v>0.88</c:v>
                </c:pt>
                <c:pt idx="402">
                  <c:v>0.88</c:v>
                </c:pt>
                <c:pt idx="403">
                  <c:v>0.88</c:v>
                </c:pt>
                <c:pt idx="404">
                  <c:v>0.88</c:v>
                </c:pt>
                <c:pt idx="405">
                  <c:v>0.88</c:v>
                </c:pt>
                <c:pt idx="406">
                  <c:v>0.88</c:v>
                </c:pt>
                <c:pt idx="407">
                  <c:v>0.88</c:v>
                </c:pt>
                <c:pt idx="408">
                  <c:v>0.88</c:v>
                </c:pt>
                <c:pt idx="409">
                  <c:v>0.88</c:v>
                </c:pt>
                <c:pt idx="410">
                  <c:v>0.88</c:v>
                </c:pt>
                <c:pt idx="411">
                  <c:v>0.88</c:v>
                </c:pt>
                <c:pt idx="412">
                  <c:v>0.88</c:v>
                </c:pt>
                <c:pt idx="413">
                  <c:v>0.88</c:v>
                </c:pt>
                <c:pt idx="414">
                  <c:v>0.88</c:v>
                </c:pt>
                <c:pt idx="415">
                  <c:v>0.88</c:v>
                </c:pt>
                <c:pt idx="416">
                  <c:v>0.88</c:v>
                </c:pt>
                <c:pt idx="417">
                  <c:v>0.88</c:v>
                </c:pt>
                <c:pt idx="418">
                  <c:v>0.88</c:v>
                </c:pt>
                <c:pt idx="419">
                  <c:v>0.88</c:v>
                </c:pt>
                <c:pt idx="420">
                  <c:v>0.88</c:v>
                </c:pt>
                <c:pt idx="421">
                  <c:v>0.88</c:v>
                </c:pt>
                <c:pt idx="422">
                  <c:v>0.88</c:v>
                </c:pt>
                <c:pt idx="423">
                  <c:v>0.88</c:v>
                </c:pt>
                <c:pt idx="424">
                  <c:v>0.88</c:v>
                </c:pt>
                <c:pt idx="425">
                  <c:v>0.88</c:v>
                </c:pt>
                <c:pt idx="426">
                  <c:v>0.88</c:v>
                </c:pt>
                <c:pt idx="427">
                  <c:v>0.88</c:v>
                </c:pt>
                <c:pt idx="428">
                  <c:v>0.88</c:v>
                </c:pt>
                <c:pt idx="429">
                  <c:v>0.88</c:v>
                </c:pt>
                <c:pt idx="430">
                  <c:v>0.88</c:v>
                </c:pt>
                <c:pt idx="431">
                  <c:v>0.88</c:v>
                </c:pt>
                <c:pt idx="432">
                  <c:v>0.88</c:v>
                </c:pt>
                <c:pt idx="433">
                  <c:v>0.88</c:v>
                </c:pt>
                <c:pt idx="434">
                  <c:v>0.88</c:v>
                </c:pt>
                <c:pt idx="435">
                  <c:v>0.88</c:v>
                </c:pt>
                <c:pt idx="436">
                  <c:v>0.88</c:v>
                </c:pt>
                <c:pt idx="437">
                  <c:v>0.88</c:v>
                </c:pt>
                <c:pt idx="438">
                  <c:v>0.88</c:v>
                </c:pt>
                <c:pt idx="439">
                  <c:v>0.88</c:v>
                </c:pt>
                <c:pt idx="440">
                  <c:v>0.88</c:v>
                </c:pt>
                <c:pt idx="441">
                  <c:v>0.88</c:v>
                </c:pt>
                <c:pt idx="442">
                  <c:v>0.88</c:v>
                </c:pt>
                <c:pt idx="443">
                  <c:v>0.88</c:v>
                </c:pt>
                <c:pt idx="444">
                  <c:v>0.88</c:v>
                </c:pt>
                <c:pt idx="445">
                  <c:v>0.88</c:v>
                </c:pt>
                <c:pt idx="446">
                  <c:v>0.88</c:v>
                </c:pt>
                <c:pt idx="447">
                  <c:v>0.88</c:v>
                </c:pt>
                <c:pt idx="448">
                  <c:v>0.88</c:v>
                </c:pt>
                <c:pt idx="449">
                  <c:v>0.88</c:v>
                </c:pt>
                <c:pt idx="450">
                  <c:v>0.88</c:v>
                </c:pt>
                <c:pt idx="451">
                  <c:v>0.88</c:v>
                </c:pt>
                <c:pt idx="452">
                  <c:v>0.88</c:v>
                </c:pt>
                <c:pt idx="453">
                  <c:v>0.88</c:v>
                </c:pt>
                <c:pt idx="454">
                  <c:v>0.88</c:v>
                </c:pt>
                <c:pt idx="455">
                  <c:v>0.88</c:v>
                </c:pt>
                <c:pt idx="456">
                  <c:v>0.88</c:v>
                </c:pt>
                <c:pt idx="457">
                  <c:v>0.88</c:v>
                </c:pt>
                <c:pt idx="458">
                  <c:v>0.88</c:v>
                </c:pt>
                <c:pt idx="459">
                  <c:v>0.88</c:v>
                </c:pt>
                <c:pt idx="460">
                  <c:v>0.88</c:v>
                </c:pt>
                <c:pt idx="461">
                  <c:v>0.88</c:v>
                </c:pt>
                <c:pt idx="462">
                  <c:v>0.88</c:v>
                </c:pt>
                <c:pt idx="463">
                  <c:v>0.88</c:v>
                </c:pt>
                <c:pt idx="464">
                  <c:v>0.88</c:v>
                </c:pt>
                <c:pt idx="465">
                  <c:v>0.88</c:v>
                </c:pt>
                <c:pt idx="466">
                  <c:v>0.88</c:v>
                </c:pt>
                <c:pt idx="467">
                  <c:v>0.88</c:v>
                </c:pt>
                <c:pt idx="468">
                  <c:v>0.88</c:v>
                </c:pt>
                <c:pt idx="469">
                  <c:v>0.88</c:v>
                </c:pt>
                <c:pt idx="470">
                  <c:v>0.88</c:v>
                </c:pt>
                <c:pt idx="471">
                  <c:v>0.88</c:v>
                </c:pt>
                <c:pt idx="472">
                  <c:v>0.88</c:v>
                </c:pt>
                <c:pt idx="473">
                  <c:v>0.88</c:v>
                </c:pt>
                <c:pt idx="474">
                  <c:v>0.88</c:v>
                </c:pt>
                <c:pt idx="475">
                  <c:v>0.88</c:v>
                </c:pt>
                <c:pt idx="476">
                  <c:v>0.88</c:v>
                </c:pt>
                <c:pt idx="477">
                  <c:v>0.88</c:v>
                </c:pt>
                <c:pt idx="478">
                  <c:v>0.88</c:v>
                </c:pt>
                <c:pt idx="479">
                  <c:v>0.88</c:v>
                </c:pt>
                <c:pt idx="480">
                  <c:v>0.88</c:v>
                </c:pt>
                <c:pt idx="481">
                  <c:v>0.88</c:v>
                </c:pt>
                <c:pt idx="482">
                  <c:v>0.88</c:v>
                </c:pt>
                <c:pt idx="483">
                  <c:v>0.88</c:v>
                </c:pt>
                <c:pt idx="484">
                  <c:v>0.88</c:v>
                </c:pt>
                <c:pt idx="485">
                  <c:v>0.88</c:v>
                </c:pt>
                <c:pt idx="486">
                  <c:v>0.88</c:v>
                </c:pt>
                <c:pt idx="487">
                  <c:v>0.88</c:v>
                </c:pt>
                <c:pt idx="488">
                  <c:v>0.88</c:v>
                </c:pt>
                <c:pt idx="489">
                  <c:v>0.88</c:v>
                </c:pt>
                <c:pt idx="490">
                  <c:v>0.88</c:v>
                </c:pt>
                <c:pt idx="491">
                  <c:v>0.88</c:v>
                </c:pt>
                <c:pt idx="492">
                  <c:v>0.88</c:v>
                </c:pt>
                <c:pt idx="493">
                  <c:v>0.88</c:v>
                </c:pt>
                <c:pt idx="494">
                  <c:v>0.88</c:v>
                </c:pt>
                <c:pt idx="495">
                  <c:v>0.88</c:v>
                </c:pt>
                <c:pt idx="496">
                  <c:v>0.88</c:v>
                </c:pt>
                <c:pt idx="497">
                  <c:v>0.88</c:v>
                </c:pt>
                <c:pt idx="498">
                  <c:v>0.88</c:v>
                </c:pt>
                <c:pt idx="499">
                  <c:v>0.88</c:v>
                </c:pt>
                <c:pt idx="500">
                  <c:v>0.88</c:v>
                </c:pt>
                <c:pt idx="501">
                  <c:v>0.88</c:v>
                </c:pt>
                <c:pt idx="502">
                  <c:v>0.88</c:v>
                </c:pt>
                <c:pt idx="503">
                  <c:v>0.88</c:v>
                </c:pt>
                <c:pt idx="504">
                  <c:v>0.88</c:v>
                </c:pt>
                <c:pt idx="505">
                  <c:v>0.88</c:v>
                </c:pt>
                <c:pt idx="506">
                  <c:v>0.88</c:v>
                </c:pt>
                <c:pt idx="507">
                  <c:v>0.88</c:v>
                </c:pt>
                <c:pt idx="508">
                  <c:v>0.88</c:v>
                </c:pt>
                <c:pt idx="509">
                  <c:v>0.88</c:v>
                </c:pt>
                <c:pt idx="510">
                  <c:v>0.88</c:v>
                </c:pt>
                <c:pt idx="511">
                  <c:v>0.88</c:v>
                </c:pt>
                <c:pt idx="512">
                  <c:v>0.88</c:v>
                </c:pt>
                <c:pt idx="513">
                  <c:v>0.88</c:v>
                </c:pt>
                <c:pt idx="514">
                  <c:v>0.88</c:v>
                </c:pt>
                <c:pt idx="515">
                  <c:v>0.88</c:v>
                </c:pt>
                <c:pt idx="516">
                  <c:v>0.88</c:v>
                </c:pt>
                <c:pt idx="517">
                  <c:v>0.88</c:v>
                </c:pt>
                <c:pt idx="518">
                  <c:v>0.88</c:v>
                </c:pt>
                <c:pt idx="519">
                  <c:v>0.88</c:v>
                </c:pt>
                <c:pt idx="520">
                  <c:v>0.88</c:v>
                </c:pt>
                <c:pt idx="521">
                  <c:v>0.88</c:v>
                </c:pt>
                <c:pt idx="522">
                  <c:v>0.88</c:v>
                </c:pt>
                <c:pt idx="523">
                  <c:v>0.88</c:v>
                </c:pt>
                <c:pt idx="524">
                  <c:v>0.88</c:v>
                </c:pt>
                <c:pt idx="525">
                  <c:v>0.88</c:v>
                </c:pt>
                <c:pt idx="526">
                  <c:v>0.88</c:v>
                </c:pt>
                <c:pt idx="527">
                  <c:v>0.88</c:v>
                </c:pt>
                <c:pt idx="528">
                  <c:v>0.88</c:v>
                </c:pt>
                <c:pt idx="529">
                  <c:v>0.88</c:v>
                </c:pt>
                <c:pt idx="530">
                  <c:v>0.88</c:v>
                </c:pt>
                <c:pt idx="531">
                  <c:v>0.88</c:v>
                </c:pt>
                <c:pt idx="532">
                  <c:v>0.88</c:v>
                </c:pt>
                <c:pt idx="533">
                  <c:v>0.88</c:v>
                </c:pt>
                <c:pt idx="534">
                  <c:v>0.88</c:v>
                </c:pt>
                <c:pt idx="535">
                  <c:v>0.88</c:v>
                </c:pt>
                <c:pt idx="536">
                  <c:v>0.88</c:v>
                </c:pt>
                <c:pt idx="537">
                  <c:v>0.88</c:v>
                </c:pt>
                <c:pt idx="538">
                  <c:v>0.88</c:v>
                </c:pt>
                <c:pt idx="539">
                  <c:v>0.88</c:v>
                </c:pt>
                <c:pt idx="540">
                  <c:v>0.88</c:v>
                </c:pt>
                <c:pt idx="541">
                  <c:v>0.88</c:v>
                </c:pt>
                <c:pt idx="542">
                  <c:v>0.88</c:v>
                </c:pt>
                <c:pt idx="543">
                  <c:v>0.88</c:v>
                </c:pt>
                <c:pt idx="544">
                  <c:v>0.88</c:v>
                </c:pt>
                <c:pt idx="545">
                  <c:v>0.88</c:v>
                </c:pt>
                <c:pt idx="546">
                  <c:v>0.88</c:v>
                </c:pt>
                <c:pt idx="547">
                  <c:v>0.88</c:v>
                </c:pt>
                <c:pt idx="548">
                  <c:v>0.88</c:v>
                </c:pt>
                <c:pt idx="549">
                  <c:v>0.88</c:v>
                </c:pt>
                <c:pt idx="550">
                  <c:v>0.88</c:v>
                </c:pt>
                <c:pt idx="551">
                  <c:v>0.88</c:v>
                </c:pt>
                <c:pt idx="552">
                  <c:v>0.88</c:v>
                </c:pt>
                <c:pt idx="553">
                  <c:v>0.88</c:v>
                </c:pt>
                <c:pt idx="554">
                  <c:v>0.88</c:v>
                </c:pt>
                <c:pt idx="555">
                  <c:v>0.88</c:v>
                </c:pt>
                <c:pt idx="556">
                  <c:v>0.88</c:v>
                </c:pt>
                <c:pt idx="557">
                  <c:v>0.88</c:v>
                </c:pt>
                <c:pt idx="558">
                  <c:v>0.88</c:v>
                </c:pt>
                <c:pt idx="559">
                  <c:v>0.88</c:v>
                </c:pt>
                <c:pt idx="560">
                  <c:v>0.88</c:v>
                </c:pt>
                <c:pt idx="561">
                  <c:v>0.88</c:v>
                </c:pt>
                <c:pt idx="562">
                  <c:v>0.88</c:v>
                </c:pt>
                <c:pt idx="563">
                  <c:v>0.88</c:v>
                </c:pt>
                <c:pt idx="564">
                  <c:v>0.88</c:v>
                </c:pt>
                <c:pt idx="565">
                  <c:v>0.88</c:v>
                </c:pt>
                <c:pt idx="566">
                  <c:v>0.88</c:v>
                </c:pt>
                <c:pt idx="567">
                  <c:v>0.88</c:v>
                </c:pt>
                <c:pt idx="568">
                  <c:v>0.88</c:v>
                </c:pt>
                <c:pt idx="569">
                  <c:v>0.88</c:v>
                </c:pt>
                <c:pt idx="570">
                  <c:v>0.88</c:v>
                </c:pt>
                <c:pt idx="571">
                  <c:v>0.88</c:v>
                </c:pt>
                <c:pt idx="572">
                  <c:v>0.88</c:v>
                </c:pt>
                <c:pt idx="573">
                  <c:v>0.88</c:v>
                </c:pt>
                <c:pt idx="574">
                  <c:v>0.88</c:v>
                </c:pt>
                <c:pt idx="575">
                  <c:v>0.88</c:v>
                </c:pt>
                <c:pt idx="576">
                  <c:v>0.88</c:v>
                </c:pt>
                <c:pt idx="577">
                  <c:v>0.88</c:v>
                </c:pt>
                <c:pt idx="578">
                  <c:v>0.88</c:v>
                </c:pt>
                <c:pt idx="579">
                  <c:v>0.88</c:v>
                </c:pt>
                <c:pt idx="580">
                  <c:v>0.88</c:v>
                </c:pt>
                <c:pt idx="581">
                  <c:v>0.88</c:v>
                </c:pt>
                <c:pt idx="582">
                  <c:v>0.88</c:v>
                </c:pt>
                <c:pt idx="583">
                  <c:v>0.88</c:v>
                </c:pt>
                <c:pt idx="584">
                  <c:v>0.88</c:v>
                </c:pt>
                <c:pt idx="585">
                  <c:v>0.88</c:v>
                </c:pt>
                <c:pt idx="586">
                  <c:v>0.88</c:v>
                </c:pt>
                <c:pt idx="587">
                  <c:v>0.88</c:v>
                </c:pt>
                <c:pt idx="588">
                  <c:v>0.88</c:v>
                </c:pt>
                <c:pt idx="589">
                  <c:v>0.88</c:v>
                </c:pt>
                <c:pt idx="590">
                  <c:v>0.88</c:v>
                </c:pt>
                <c:pt idx="591">
                  <c:v>0.88</c:v>
                </c:pt>
                <c:pt idx="592">
                  <c:v>0.88</c:v>
                </c:pt>
                <c:pt idx="593">
                  <c:v>0.88</c:v>
                </c:pt>
                <c:pt idx="594">
                  <c:v>0.88</c:v>
                </c:pt>
                <c:pt idx="595">
                  <c:v>0.88</c:v>
                </c:pt>
                <c:pt idx="596">
                  <c:v>0.88</c:v>
                </c:pt>
                <c:pt idx="597">
                  <c:v>0.88</c:v>
                </c:pt>
                <c:pt idx="598">
                  <c:v>0.88</c:v>
                </c:pt>
                <c:pt idx="599">
                  <c:v>0.88</c:v>
                </c:pt>
                <c:pt idx="600">
                  <c:v>0.88</c:v>
                </c:pt>
                <c:pt idx="601">
                  <c:v>0.88</c:v>
                </c:pt>
                <c:pt idx="602">
                  <c:v>0.88</c:v>
                </c:pt>
                <c:pt idx="603">
                  <c:v>0.88</c:v>
                </c:pt>
                <c:pt idx="604">
                  <c:v>0.88</c:v>
                </c:pt>
                <c:pt idx="605">
                  <c:v>0.88</c:v>
                </c:pt>
                <c:pt idx="606">
                  <c:v>0.88</c:v>
                </c:pt>
                <c:pt idx="607">
                  <c:v>0.88</c:v>
                </c:pt>
                <c:pt idx="608">
                  <c:v>0.88</c:v>
                </c:pt>
                <c:pt idx="609">
                  <c:v>0.88</c:v>
                </c:pt>
                <c:pt idx="610">
                  <c:v>0.88</c:v>
                </c:pt>
                <c:pt idx="611">
                  <c:v>0.88</c:v>
                </c:pt>
                <c:pt idx="612">
                  <c:v>0.88</c:v>
                </c:pt>
                <c:pt idx="613">
                  <c:v>0.88</c:v>
                </c:pt>
                <c:pt idx="614">
                  <c:v>0.88</c:v>
                </c:pt>
                <c:pt idx="615">
                  <c:v>0.88</c:v>
                </c:pt>
                <c:pt idx="616">
                  <c:v>0.88</c:v>
                </c:pt>
                <c:pt idx="617">
                  <c:v>0.88</c:v>
                </c:pt>
                <c:pt idx="618">
                  <c:v>0.88</c:v>
                </c:pt>
                <c:pt idx="619">
                  <c:v>0.88</c:v>
                </c:pt>
                <c:pt idx="620">
                  <c:v>0.88</c:v>
                </c:pt>
                <c:pt idx="621">
                  <c:v>0.88</c:v>
                </c:pt>
                <c:pt idx="622">
                  <c:v>0.88</c:v>
                </c:pt>
                <c:pt idx="623">
                  <c:v>0.88</c:v>
                </c:pt>
                <c:pt idx="624">
                  <c:v>0.88</c:v>
                </c:pt>
                <c:pt idx="625">
                  <c:v>0.88</c:v>
                </c:pt>
                <c:pt idx="626">
                  <c:v>0.88</c:v>
                </c:pt>
                <c:pt idx="627">
                  <c:v>0.88</c:v>
                </c:pt>
                <c:pt idx="628">
                  <c:v>0.88</c:v>
                </c:pt>
                <c:pt idx="629">
                  <c:v>0.88</c:v>
                </c:pt>
                <c:pt idx="630">
                  <c:v>0.88</c:v>
                </c:pt>
                <c:pt idx="631">
                  <c:v>0.88</c:v>
                </c:pt>
                <c:pt idx="632">
                  <c:v>0.88</c:v>
                </c:pt>
                <c:pt idx="633">
                  <c:v>0.88</c:v>
                </c:pt>
                <c:pt idx="634">
                  <c:v>0.88</c:v>
                </c:pt>
                <c:pt idx="635">
                  <c:v>0.88</c:v>
                </c:pt>
                <c:pt idx="636">
                  <c:v>0.88</c:v>
                </c:pt>
                <c:pt idx="637">
                  <c:v>0.88</c:v>
                </c:pt>
                <c:pt idx="638">
                  <c:v>0.88</c:v>
                </c:pt>
                <c:pt idx="639">
                  <c:v>0.88</c:v>
                </c:pt>
                <c:pt idx="640">
                  <c:v>0.88</c:v>
                </c:pt>
                <c:pt idx="641">
                  <c:v>0.88</c:v>
                </c:pt>
                <c:pt idx="642">
                  <c:v>0.88</c:v>
                </c:pt>
                <c:pt idx="643">
                  <c:v>0.88</c:v>
                </c:pt>
                <c:pt idx="644">
                  <c:v>0.88</c:v>
                </c:pt>
                <c:pt idx="645">
                  <c:v>0.88</c:v>
                </c:pt>
                <c:pt idx="646">
                  <c:v>0.88</c:v>
                </c:pt>
                <c:pt idx="647">
                  <c:v>0.88</c:v>
                </c:pt>
                <c:pt idx="648">
                  <c:v>0.88</c:v>
                </c:pt>
                <c:pt idx="649">
                  <c:v>0.88</c:v>
                </c:pt>
                <c:pt idx="650">
                  <c:v>0.88</c:v>
                </c:pt>
                <c:pt idx="651">
                  <c:v>0.88</c:v>
                </c:pt>
                <c:pt idx="652">
                  <c:v>0.88</c:v>
                </c:pt>
                <c:pt idx="653">
                  <c:v>0.88</c:v>
                </c:pt>
                <c:pt idx="654">
                  <c:v>0.88</c:v>
                </c:pt>
                <c:pt idx="655">
                  <c:v>0.88</c:v>
                </c:pt>
                <c:pt idx="656">
                  <c:v>0.88</c:v>
                </c:pt>
                <c:pt idx="657">
                  <c:v>0.88</c:v>
                </c:pt>
                <c:pt idx="658">
                  <c:v>0.88</c:v>
                </c:pt>
                <c:pt idx="659">
                  <c:v>0.88</c:v>
                </c:pt>
                <c:pt idx="660">
                  <c:v>0.88</c:v>
                </c:pt>
                <c:pt idx="661">
                  <c:v>0.88</c:v>
                </c:pt>
                <c:pt idx="662">
                  <c:v>0.88</c:v>
                </c:pt>
                <c:pt idx="663">
                  <c:v>0.88</c:v>
                </c:pt>
                <c:pt idx="664">
                  <c:v>0.88</c:v>
                </c:pt>
                <c:pt idx="665">
                  <c:v>0.88</c:v>
                </c:pt>
                <c:pt idx="666">
                  <c:v>0.88</c:v>
                </c:pt>
                <c:pt idx="667">
                  <c:v>0.88</c:v>
                </c:pt>
                <c:pt idx="668">
                  <c:v>0.88</c:v>
                </c:pt>
                <c:pt idx="669">
                  <c:v>0.88</c:v>
                </c:pt>
                <c:pt idx="670">
                  <c:v>0.88</c:v>
                </c:pt>
                <c:pt idx="671">
                  <c:v>0.88</c:v>
                </c:pt>
                <c:pt idx="672">
                  <c:v>0.88</c:v>
                </c:pt>
                <c:pt idx="673">
                  <c:v>0.88</c:v>
                </c:pt>
                <c:pt idx="674">
                  <c:v>0.88</c:v>
                </c:pt>
                <c:pt idx="675">
                  <c:v>0.88</c:v>
                </c:pt>
                <c:pt idx="676">
                  <c:v>0.88</c:v>
                </c:pt>
                <c:pt idx="677">
                  <c:v>0.88</c:v>
                </c:pt>
                <c:pt idx="678">
                  <c:v>0.88</c:v>
                </c:pt>
                <c:pt idx="679">
                  <c:v>0.88</c:v>
                </c:pt>
                <c:pt idx="680">
                  <c:v>0.88</c:v>
                </c:pt>
                <c:pt idx="681">
                  <c:v>0.88</c:v>
                </c:pt>
                <c:pt idx="682">
                  <c:v>0.88</c:v>
                </c:pt>
                <c:pt idx="683">
                  <c:v>0.88</c:v>
                </c:pt>
                <c:pt idx="684">
                  <c:v>0.88</c:v>
                </c:pt>
                <c:pt idx="685">
                  <c:v>0.88</c:v>
                </c:pt>
                <c:pt idx="686">
                  <c:v>0.88</c:v>
                </c:pt>
                <c:pt idx="687">
                  <c:v>0.88</c:v>
                </c:pt>
                <c:pt idx="688">
                  <c:v>0.88</c:v>
                </c:pt>
                <c:pt idx="689">
                  <c:v>0.88</c:v>
                </c:pt>
                <c:pt idx="690">
                  <c:v>0.88</c:v>
                </c:pt>
                <c:pt idx="691">
                  <c:v>0.88</c:v>
                </c:pt>
                <c:pt idx="692">
                  <c:v>0.88</c:v>
                </c:pt>
                <c:pt idx="693">
                  <c:v>0.88</c:v>
                </c:pt>
                <c:pt idx="694">
                  <c:v>0.88</c:v>
                </c:pt>
                <c:pt idx="695">
                  <c:v>0.88</c:v>
                </c:pt>
                <c:pt idx="696">
                  <c:v>0.88</c:v>
                </c:pt>
                <c:pt idx="697">
                  <c:v>0.88</c:v>
                </c:pt>
                <c:pt idx="698">
                  <c:v>0.88</c:v>
                </c:pt>
                <c:pt idx="699">
                  <c:v>0.88</c:v>
                </c:pt>
                <c:pt idx="700">
                  <c:v>0.88</c:v>
                </c:pt>
                <c:pt idx="701">
                  <c:v>0.88</c:v>
                </c:pt>
                <c:pt idx="702">
                  <c:v>0.88</c:v>
                </c:pt>
                <c:pt idx="703">
                  <c:v>0.88</c:v>
                </c:pt>
                <c:pt idx="704">
                  <c:v>0.88</c:v>
                </c:pt>
                <c:pt idx="705">
                  <c:v>0.88</c:v>
                </c:pt>
                <c:pt idx="706">
                  <c:v>0.88</c:v>
                </c:pt>
                <c:pt idx="707">
                  <c:v>0.88</c:v>
                </c:pt>
                <c:pt idx="708">
                  <c:v>0.88</c:v>
                </c:pt>
                <c:pt idx="709">
                  <c:v>0.88</c:v>
                </c:pt>
                <c:pt idx="710">
                  <c:v>0.88</c:v>
                </c:pt>
                <c:pt idx="711">
                  <c:v>0.88</c:v>
                </c:pt>
                <c:pt idx="712">
                  <c:v>0.88</c:v>
                </c:pt>
                <c:pt idx="713">
                  <c:v>0.88</c:v>
                </c:pt>
                <c:pt idx="714">
                  <c:v>0.88</c:v>
                </c:pt>
                <c:pt idx="715">
                  <c:v>0.88</c:v>
                </c:pt>
                <c:pt idx="716">
                  <c:v>0.88</c:v>
                </c:pt>
                <c:pt idx="717">
                  <c:v>0.88</c:v>
                </c:pt>
                <c:pt idx="718">
                  <c:v>0.88</c:v>
                </c:pt>
                <c:pt idx="719">
                  <c:v>0.88</c:v>
                </c:pt>
                <c:pt idx="720">
                  <c:v>0.88</c:v>
                </c:pt>
                <c:pt idx="721">
                  <c:v>0.88</c:v>
                </c:pt>
                <c:pt idx="722">
                  <c:v>0.88</c:v>
                </c:pt>
                <c:pt idx="723">
                  <c:v>0.88</c:v>
                </c:pt>
                <c:pt idx="724">
                  <c:v>0.88</c:v>
                </c:pt>
                <c:pt idx="725">
                  <c:v>0.88</c:v>
                </c:pt>
                <c:pt idx="726">
                  <c:v>0.88</c:v>
                </c:pt>
                <c:pt idx="727">
                  <c:v>0.88</c:v>
                </c:pt>
                <c:pt idx="728">
                  <c:v>0.88</c:v>
                </c:pt>
                <c:pt idx="729">
                  <c:v>0.88</c:v>
                </c:pt>
                <c:pt idx="730">
                  <c:v>0.88</c:v>
                </c:pt>
                <c:pt idx="731">
                  <c:v>0.88</c:v>
                </c:pt>
                <c:pt idx="732">
                  <c:v>0.88</c:v>
                </c:pt>
                <c:pt idx="733">
                  <c:v>0.88</c:v>
                </c:pt>
                <c:pt idx="734">
                  <c:v>0.88</c:v>
                </c:pt>
                <c:pt idx="735">
                  <c:v>0.88</c:v>
                </c:pt>
                <c:pt idx="736">
                  <c:v>0.88</c:v>
                </c:pt>
                <c:pt idx="737">
                  <c:v>0.88</c:v>
                </c:pt>
                <c:pt idx="738">
                  <c:v>0.88</c:v>
                </c:pt>
                <c:pt idx="739">
                  <c:v>0.88</c:v>
                </c:pt>
                <c:pt idx="740">
                  <c:v>0.88</c:v>
                </c:pt>
                <c:pt idx="741">
                  <c:v>0.88</c:v>
                </c:pt>
                <c:pt idx="742">
                  <c:v>0.88</c:v>
                </c:pt>
                <c:pt idx="743">
                  <c:v>0.88</c:v>
                </c:pt>
                <c:pt idx="744">
                  <c:v>0.88</c:v>
                </c:pt>
                <c:pt idx="745">
                  <c:v>0.88</c:v>
                </c:pt>
                <c:pt idx="746">
                  <c:v>0.88</c:v>
                </c:pt>
                <c:pt idx="747">
                  <c:v>0.88</c:v>
                </c:pt>
                <c:pt idx="748">
                  <c:v>0.88</c:v>
                </c:pt>
                <c:pt idx="749">
                  <c:v>0.88</c:v>
                </c:pt>
                <c:pt idx="750">
                  <c:v>0.88</c:v>
                </c:pt>
                <c:pt idx="751">
                  <c:v>0.88</c:v>
                </c:pt>
                <c:pt idx="752">
                  <c:v>0.88</c:v>
                </c:pt>
                <c:pt idx="753">
                  <c:v>0.88</c:v>
                </c:pt>
                <c:pt idx="754">
                  <c:v>0.88</c:v>
                </c:pt>
                <c:pt idx="755">
                  <c:v>0.88</c:v>
                </c:pt>
                <c:pt idx="756">
                  <c:v>0.88</c:v>
                </c:pt>
                <c:pt idx="757">
                  <c:v>0.88</c:v>
                </c:pt>
                <c:pt idx="758">
                  <c:v>0.88</c:v>
                </c:pt>
                <c:pt idx="759">
                  <c:v>0.88</c:v>
                </c:pt>
                <c:pt idx="760">
                  <c:v>0.88</c:v>
                </c:pt>
                <c:pt idx="761">
                  <c:v>0.88</c:v>
                </c:pt>
                <c:pt idx="762">
                  <c:v>0.88</c:v>
                </c:pt>
                <c:pt idx="763">
                  <c:v>0.88</c:v>
                </c:pt>
                <c:pt idx="764">
                  <c:v>0.88</c:v>
                </c:pt>
                <c:pt idx="765">
                  <c:v>0.88</c:v>
                </c:pt>
                <c:pt idx="766">
                  <c:v>0.88</c:v>
                </c:pt>
                <c:pt idx="767">
                  <c:v>0.88</c:v>
                </c:pt>
                <c:pt idx="768">
                  <c:v>0.88</c:v>
                </c:pt>
                <c:pt idx="769">
                  <c:v>0.88</c:v>
                </c:pt>
                <c:pt idx="770">
                  <c:v>0.88</c:v>
                </c:pt>
                <c:pt idx="771">
                  <c:v>0.88</c:v>
                </c:pt>
                <c:pt idx="772">
                  <c:v>0.88</c:v>
                </c:pt>
                <c:pt idx="773">
                  <c:v>0.88</c:v>
                </c:pt>
                <c:pt idx="774">
                  <c:v>0.88</c:v>
                </c:pt>
                <c:pt idx="775">
                  <c:v>0.88</c:v>
                </c:pt>
                <c:pt idx="776">
                  <c:v>0.88</c:v>
                </c:pt>
                <c:pt idx="777">
                  <c:v>0.88</c:v>
                </c:pt>
                <c:pt idx="778">
                  <c:v>0.88</c:v>
                </c:pt>
                <c:pt idx="779">
                  <c:v>0.88</c:v>
                </c:pt>
                <c:pt idx="780">
                  <c:v>0.88</c:v>
                </c:pt>
                <c:pt idx="781">
                  <c:v>0.88</c:v>
                </c:pt>
                <c:pt idx="782">
                  <c:v>0.88</c:v>
                </c:pt>
                <c:pt idx="783">
                  <c:v>0.88</c:v>
                </c:pt>
                <c:pt idx="784">
                  <c:v>0.88</c:v>
                </c:pt>
                <c:pt idx="785">
                  <c:v>0.88</c:v>
                </c:pt>
                <c:pt idx="786">
                  <c:v>0.88</c:v>
                </c:pt>
                <c:pt idx="787">
                  <c:v>0.88</c:v>
                </c:pt>
                <c:pt idx="788">
                  <c:v>0.88</c:v>
                </c:pt>
                <c:pt idx="789">
                  <c:v>0.88</c:v>
                </c:pt>
                <c:pt idx="790">
                  <c:v>0.88</c:v>
                </c:pt>
                <c:pt idx="791">
                  <c:v>0.88</c:v>
                </c:pt>
                <c:pt idx="792">
                  <c:v>0.88</c:v>
                </c:pt>
                <c:pt idx="793">
                  <c:v>0.88</c:v>
                </c:pt>
                <c:pt idx="794">
                  <c:v>0.88</c:v>
                </c:pt>
                <c:pt idx="795">
                  <c:v>0.88</c:v>
                </c:pt>
                <c:pt idx="796">
                  <c:v>0.88</c:v>
                </c:pt>
                <c:pt idx="797">
                  <c:v>0.88</c:v>
                </c:pt>
                <c:pt idx="798">
                  <c:v>0.88</c:v>
                </c:pt>
                <c:pt idx="799">
                  <c:v>0.88</c:v>
                </c:pt>
                <c:pt idx="800">
                  <c:v>0.88</c:v>
                </c:pt>
                <c:pt idx="801">
                  <c:v>0.88</c:v>
                </c:pt>
                <c:pt idx="802">
                  <c:v>0.88</c:v>
                </c:pt>
                <c:pt idx="803">
                  <c:v>0.88</c:v>
                </c:pt>
                <c:pt idx="804">
                  <c:v>0.88</c:v>
                </c:pt>
                <c:pt idx="805">
                  <c:v>0.88</c:v>
                </c:pt>
                <c:pt idx="806">
                  <c:v>0.88</c:v>
                </c:pt>
                <c:pt idx="807">
                  <c:v>0.88</c:v>
                </c:pt>
                <c:pt idx="808">
                  <c:v>0.88</c:v>
                </c:pt>
                <c:pt idx="809">
                  <c:v>0.88</c:v>
                </c:pt>
                <c:pt idx="810">
                  <c:v>0.88</c:v>
                </c:pt>
                <c:pt idx="811">
                  <c:v>0.88</c:v>
                </c:pt>
                <c:pt idx="812">
                  <c:v>0.88</c:v>
                </c:pt>
                <c:pt idx="813">
                  <c:v>0.88</c:v>
                </c:pt>
                <c:pt idx="814">
                  <c:v>0.88</c:v>
                </c:pt>
                <c:pt idx="815">
                  <c:v>0.88</c:v>
                </c:pt>
                <c:pt idx="816">
                  <c:v>0.88</c:v>
                </c:pt>
                <c:pt idx="817">
                  <c:v>0.88</c:v>
                </c:pt>
                <c:pt idx="818">
                  <c:v>0.88</c:v>
                </c:pt>
                <c:pt idx="819">
                  <c:v>0.88</c:v>
                </c:pt>
                <c:pt idx="820">
                  <c:v>0.88</c:v>
                </c:pt>
                <c:pt idx="821">
                  <c:v>0.88</c:v>
                </c:pt>
                <c:pt idx="822">
                  <c:v>0.88</c:v>
                </c:pt>
                <c:pt idx="823">
                  <c:v>0.88</c:v>
                </c:pt>
                <c:pt idx="824">
                  <c:v>0.88</c:v>
                </c:pt>
                <c:pt idx="825">
                  <c:v>0.88</c:v>
                </c:pt>
                <c:pt idx="826">
                  <c:v>0.88</c:v>
                </c:pt>
                <c:pt idx="827">
                  <c:v>0.88</c:v>
                </c:pt>
                <c:pt idx="828">
                  <c:v>0.88</c:v>
                </c:pt>
                <c:pt idx="829">
                  <c:v>0.88</c:v>
                </c:pt>
                <c:pt idx="830">
                  <c:v>0.88</c:v>
                </c:pt>
                <c:pt idx="831">
                  <c:v>0.88</c:v>
                </c:pt>
                <c:pt idx="832">
                  <c:v>0.88</c:v>
                </c:pt>
                <c:pt idx="833">
                  <c:v>0.88</c:v>
                </c:pt>
                <c:pt idx="834">
                  <c:v>0.88</c:v>
                </c:pt>
                <c:pt idx="835">
                  <c:v>0.88</c:v>
                </c:pt>
                <c:pt idx="836">
                  <c:v>0.88</c:v>
                </c:pt>
                <c:pt idx="837">
                  <c:v>0.88</c:v>
                </c:pt>
                <c:pt idx="838">
                  <c:v>0.88</c:v>
                </c:pt>
                <c:pt idx="839">
                  <c:v>0.88</c:v>
                </c:pt>
                <c:pt idx="840">
                  <c:v>0.88</c:v>
                </c:pt>
                <c:pt idx="841">
                  <c:v>0.88</c:v>
                </c:pt>
                <c:pt idx="842">
                  <c:v>0.88</c:v>
                </c:pt>
                <c:pt idx="843">
                  <c:v>0.88</c:v>
                </c:pt>
                <c:pt idx="844">
                  <c:v>0.88</c:v>
                </c:pt>
                <c:pt idx="845">
                  <c:v>0.88</c:v>
                </c:pt>
                <c:pt idx="846">
                  <c:v>0.88</c:v>
                </c:pt>
                <c:pt idx="847">
                  <c:v>0.88</c:v>
                </c:pt>
                <c:pt idx="848">
                  <c:v>0.88</c:v>
                </c:pt>
                <c:pt idx="849">
                  <c:v>0.88</c:v>
                </c:pt>
                <c:pt idx="850">
                  <c:v>0.88</c:v>
                </c:pt>
                <c:pt idx="851">
                  <c:v>0.88</c:v>
                </c:pt>
                <c:pt idx="852">
                  <c:v>0.88</c:v>
                </c:pt>
                <c:pt idx="853">
                  <c:v>0.88</c:v>
                </c:pt>
                <c:pt idx="854">
                  <c:v>0.88</c:v>
                </c:pt>
                <c:pt idx="855">
                  <c:v>0.88</c:v>
                </c:pt>
                <c:pt idx="856">
                  <c:v>0.88</c:v>
                </c:pt>
                <c:pt idx="857">
                  <c:v>0.88</c:v>
                </c:pt>
                <c:pt idx="858">
                  <c:v>0.88</c:v>
                </c:pt>
                <c:pt idx="859">
                  <c:v>0.88</c:v>
                </c:pt>
                <c:pt idx="860">
                  <c:v>0.88</c:v>
                </c:pt>
                <c:pt idx="861">
                  <c:v>0.88</c:v>
                </c:pt>
                <c:pt idx="862">
                  <c:v>0.88</c:v>
                </c:pt>
                <c:pt idx="863">
                  <c:v>0.88</c:v>
                </c:pt>
                <c:pt idx="864">
                  <c:v>0.88</c:v>
                </c:pt>
                <c:pt idx="865">
                  <c:v>0.88</c:v>
                </c:pt>
                <c:pt idx="866">
                  <c:v>0.88</c:v>
                </c:pt>
                <c:pt idx="867">
                  <c:v>0.88</c:v>
                </c:pt>
                <c:pt idx="868">
                  <c:v>0.88</c:v>
                </c:pt>
                <c:pt idx="869">
                  <c:v>0.88</c:v>
                </c:pt>
                <c:pt idx="870">
                  <c:v>0.88</c:v>
                </c:pt>
                <c:pt idx="871">
                  <c:v>0.88</c:v>
                </c:pt>
                <c:pt idx="872">
                  <c:v>0.88</c:v>
                </c:pt>
                <c:pt idx="873">
                  <c:v>0.88</c:v>
                </c:pt>
                <c:pt idx="874">
                  <c:v>0.88</c:v>
                </c:pt>
                <c:pt idx="875">
                  <c:v>0.88</c:v>
                </c:pt>
                <c:pt idx="876">
                  <c:v>0.88</c:v>
                </c:pt>
                <c:pt idx="877">
                  <c:v>0.88</c:v>
                </c:pt>
                <c:pt idx="878">
                  <c:v>0.88</c:v>
                </c:pt>
                <c:pt idx="879">
                  <c:v>0.88</c:v>
                </c:pt>
                <c:pt idx="880">
                  <c:v>0.88</c:v>
                </c:pt>
                <c:pt idx="881">
                  <c:v>0.88</c:v>
                </c:pt>
                <c:pt idx="882">
                  <c:v>0.88</c:v>
                </c:pt>
                <c:pt idx="883">
                  <c:v>0.88</c:v>
                </c:pt>
                <c:pt idx="884">
                  <c:v>0.88</c:v>
                </c:pt>
                <c:pt idx="885">
                  <c:v>0.88</c:v>
                </c:pt>
                <c:pt idx="886">
                  <c:v>0.88</c:v>
                </c:pt>
                <c:pt idx="887">
                  <c:v>0.88</c:v>
                </c:pt>
                <c:pt idx="888">
                  <c:v>0.88</c:v>
                </c:pt>
                <c:pt idx="889">
                  <c:v>0.88</c:v>
                </c:pt>
                <c:pt idx="890">
                  <c:v>0.88</c:v>
                </c:pt>
                <c:pt idx="891">
                  <c:v>0.88</c:v>
                </c:pt>
                <c:pt idx="892">
                  <c:v>0.88</c:v>
                </c:pt>
                <c:pt idx="893">
                  <c:v>0.88</c:v>
                </c:pt>
                <c:pt idx="894">
                  <c:v>0.88</c:v>
                </c:pt>
                <c:pt idx="895">
                  <c:v>0.88</c:v>
                </c:pt>
                <c:pt idx="896">
                  <c:v>0.88</c:v>
                </c:pt>
                <c:pt idx="897">
                  <c:v>0.88</c:v>
                </c:pt>
                <c:pt idx="898">
                  <c:v>0.88</c:v>
                </c:pt>
                <c:pt idx="899">
                  <c:v>0.88</c:v>
                </c:pt>
                <c:pt idx="900">
                  <c:v>0.88</c:v>
                </c:pt>
                <c:pt idx="901">
                  <c:v>0.88</c:v>
                </c:pt>
                <c:pt idx="902">
                  <c:v>0.88</c:v>
                </c:pt>
                <c:pt idx="903">
                  <c:v>0.88</c:v>
                </c:pt>
                <c:pt idx="904">
                  <c:v>0.88</c:v>
                </c:pt>
                <c:pt idx="905">
                  <c:v>0.88</c:v>
                </c:pt>
                <c:pt idx="906">
                  <c:v>0.88</c:v>
                </c:pt>
                <c:pt idx="907">
                  <c:v>0.88</c:v>
                </c:pt>
                <c:pt idx="908">
                  <c:v>0.88</c:v>
                </c:pt>
                <c:pt idx="909">
                  <c:v>0.88</c:v>
                </c:pt>
                <c:pt idx="910">
                  <c:v>0.88</c:v>
                </c:pt>
                <c:pt idx="911">
                  <c:v>0.88</c:v>
                </c:pt>
                <c:pt idx="912">
                  <c:v>0.88</c:v>
                </c:pt>
                <c:pt idx="913">
                  <c:v>0.88</c:v>
                </c:pt>
                <c:pt idx="914">
                  <c:v>0.88</c:v>
                </c:pt>
                <c:pt idx="915">
                  <c:v>0.88</c:v>
                </c:pt>
                <c:pt idx="916">
                  <c:v>0.88</c:v>
                </c:pt>
                <c:pt idx="917">
                  <c:v>0.88</c:v>
                </c:pt>
                <c:pt idx="918">
                  <c:v>0.88</c:v>
                </c:pt>
                <c:pt idx="919">
                  <c:v>0.88</c:v>
                </c:pt>
                <c:pt idx="920">
                  <c:v>0.88</c:v>
                </c:pt>
                <c:pt idx="921">
                  <c:v>0.88</c:v>
                </c:pt>
                <c:pt idx="922">
                  <c:v>0.88</c:v>
                </c:pt>
                <c:pt idx="923">
                  <c:v>0.88</c:v>
                </c:pt>
                <c:pt idx="924">
                  <c:v>0.88</c:v>
                </c:pt>
                <c:pt idx="925">
                  <c:v>0.88</c:v>
                </c:pt>
                <c:pt idx="926">
                  <c:v>0.88</c:v>
                </c:pt>
                <c:pt idx="927">
                  <c:v>0.88</c:v>
                </c:pt>
                <c:pt idx="928">
                  <c:v>0.88</c:v>
                </c:pt>
                <c:pt idx="929">
                  <c:v>0.88</c:v>
                </c:pt>
                <c:pt idx="930">
                  <c:v>0.88</c:v>
                </c:pt>
                <c:pt idx="931">
                  <c:v>0.88</c:v>
                </c:pt>
                <c:pt idx="932">
                  <c:v>0.88</c:v>
                </c:pt>
                <c:pt idx="933">
                  <c:v>0.88</c:v>
                </c:pt>
                <c:pt idx="934">
                  <c:v>0.88</c:v>
                </c:pt>
                <c:pt idx="935">
                  <c:v>0.88</c:v>
                </c:pt>
                <c:pt idx="936">
                  <c:v>0.88</c:v>
                </c:pt>
                <c:pt idx="937">
                  <c:v>0.88</c:v>
                </c:pt>
                <c:pt idx="938">
                  <c:v>0.88</c:v>
                </c:pt>
                <c:pt idx="939">
                  <c:v>0.88</c:v>
                </c:pt>
                <c:pt idx="940">
                  <c:v>0.88</c:v>
                </c:pt>
                <c:pt idx="941">
                  <c:v>0.88</c:v>
                </c:pt>
                <c:pt idx="942">
                  <c:v>0.88</c:v>
                </c:pt>
                <c:pt idx="943">
                  <c:v>0.88</c:v>
                </c:pt>
                <c:pt idx="944">
                  <c:v>0.88</c:v>
                </c:pt>
                <c:pt idx="945">
                  <c:v>0.88</c:v>
                </c:pt>
                <c:pt idx="946">
                  <c:v>0.88</c:v>
                </c:pt>
                <c:pt idx="947">
                  <c:v>0.88</c:v>
                </c:pt>
                <c:pt idx="948">
                  <c:v>0.88</c:v>
                </c:pt>
                <c:pt idx="949">
                  <c:v>0.88</c:v>
                </c:pt>
                <c:pt idx="950">
                  <c:v>0.88</c:v>
                </c:pt>
                <c:pt idx="951">
                  <c:v>0.88</c:v>
                </c:pt>
                <c:pt idx="952">
                  <c:v>0.88</c:v>
                </c:pt>
                <c:pt idx="953">
                  <c:v>0.88</c:v>
                </c:pt>
                <c:pt idx="954">
                  <c:v>0.88</c:v>
                </c:pt>
                <c:pt idx="955">
                  <c:v>0.88</c:v>
                </c:pt>
                <c:pt idx="956">
                  <c:v>0.88</c:v>
                </c:pt>
                <c:pt idx="957">
                  <c:v>0.88</c:v>
                </c:pt>
                <c:pt idx="958">
                  <c:v>0.88</c:v>
                </c:pt>
                <c:pt idx="959">
                  <c:v>0.88</c:v>
                </c:pt>
                <c:pt idx="960">
                  <c:v>0.88</c:v>
                </c:pt>
                <c:pt idx="961">
                  <c:v>0.88</c:v>
                </c:pt>
                <c:pt idx="962">
                  <c:v>0.88</c:v>
                </c:pt>
                <c:pt idx="963">
                  <c:v>0.88</c:v>
                </c:pt>
                <c:pt idx="964">
                  <c:v>0.88</c:v>
                </c:pt>
                <c:pt idx="965">
                  <c:v>0.88</c:v>
                </c:pt>
                <c:pt idx="966">
                  <c:v>0.88</c:v>
                </c:pt>
                <c:pt idx="967">
                  <c:v>0.88</c:v>
                </c:pt>
                <c:pt idx="968">
                  <c:v>0.88</c:v>
                </c:pt>
                <c:pt idx="969">
                  <c:v>0.88</c:v>
                </c:pt>
                <c:pt idx="970">
                  <c:v>0.88</c:v>
                </c:pt>
                <c:pt idx="971">
                  <c:v>0.88</c:v>
                </c:pt>
                <c:pt idx="972">
                  <c:v>0.88</c:v>
                </c:pt>
                <c:pt idx="973">
                  <c:v>0.88</c:v>
                </c:pt>
                <c:pt idx="974">
                  <c:v>0.88</c:v>
                </c:pt>
                <c:pt idx="975">
                  <c:v>0.88</c:v>
                </c:pt>
                <c:pt idx="976">
                  <c:v>0.88</c:v>
                </c:pt>
                <c:pt idx="977">
                  <c:v>0.88</c:v>
                </c:pt>
                <c:pt idx="978">
                  <c:v>0.88</c:v>
                </c:pt>
                <c:pt idx="979">
                  <c:v>0.88</c:v>
                </c:pt>
                <c:pt idx="980">
                  <c:v>0.88</c:v>
                </c:pt>
                <c:pt idx="981">
                  <c:v>0.88</c:v>
                </c:pt>
                <c:pt idx="982">
                  <c:v>0.88</c:v>
                </c:pt>
                <c:pt idx="983">
                  <c:v>0.88</c:v>
                </c:pt>
                <c:pt idx="984">
                  <c:v>0.88</c:v>
                </c:pt>
                <c:pt idx="985">
                  <c:v>0.88</c:v>
                </c:pt>
                <c:pt idx="986">
                  <c:v>0.88</c:v>
                </c:pt>
                <c:pt idx="987">
                  <c:v>0.88</c:v>
                </c:pt>
                <c:pt idx="988">
                  <c:v>0.88</c:v>
                </c:pt>
                <c:pt idx="989">
                  <c:v>0.88</c:v>
                </c:pt>
                <c:pt idx="990">
                  <c:v>0.88</c:v>
                </c:pt>
                <c:pt idx="991">
                  <c:v>0.88</c:v>
                </c:pt>
                <c:pt idx="992">
                  <c:v>0.88</c:v>
                </c:pt>
                <c:pt idx="993">
                  <c:v>0.88</c:v>
                </c:pt>
                <c:pt idx="994">
                  <c:v>0.88</c:v>
                </c:pt>
                <c:pt idx="995">
                  <c:v>0.88</c:v>
                </c:pt>
                <c:pt idx="996">
                  <c:v>0.88</c:v>
                </c:pt>
                <c:pt idx="997">
                  <c:v>0.88</c:v>
                </c:pt>
                <c:pt idx="998">
                  <c:v>0.88</c:v>
                </c:pt>
                <c:pt idx="999">
                  <c:v>0.88</c:v>
                </c:pt>
                <c:pt idx="1000">
                  <c:v>0.88</c:v>
                </c:pt>
                <c:pt idx="1001">
                  <c:v>0.88</c:v>
                </c:pt>
                <c:pt idx="1002">
                  <c:v>0.88</c:v>
                </c:pt>
                <c:pt idx="1003">
                  <c:v>0.88</c:v>
                </c:pt>
                <c:pt idx="1004">
                  <c:v>0.88</c:v>
                </c:pt>
                <c:pt idx="1005">
                  <c:v>0.88</c:v>
                </c:pt>
                <c:pt idx="1006">
                  <c:v>0.88</c:v>
                </c:pt>
                <c:pt idx="1007">
                  <c:v>0.88</c:v>
                </c:pt>
                <c:pt idx="1008">
                  <c:v>0.88</c:v>
                </c:pt>
                <c:pt idx="1009">
                  <c:v>0.88</c:v>
                </c:pt>
                <c:pt idx="1010">
                  <c:v>0.88</c:v>
                </c:pt>
                <c:pt idx="1011">
                  <c:v>0.88</c:v>
                </c:pt>
                <c:pt idx="1012">
                  <c:v>0.88</c:v>
                </c:pt>
                <c:pt idx="1013">
                  <c:v>0.88</c:v>
                </c:pt>
                <c:pt idx="1014">
                  <c:v>0.88</c:v>
                </c:pt>
                <c:pt idx="1015">
                  <c:v>0.88</c:v>
                </c:pt>
                <c:pt idx="1016">
                  <c:v>0.88</c:v>
                </c:pt>
                <c:pt idx="1017">
                  <c:v>0.88</c:v>
                </c:pt>
                <c:pt idx="1018">
                  <c:v>0.88</c:v>
                </c:pt>
                <c:pt idx="1019">
                  <c:v>0.88</c:v>
                </c:pt>
                <c:pt idx="1020">
                  <c:v>0.88</c:v>
                </c:pt>
                <c:pt idx="1021">
                  <c:v>0.88</c:v>
                </c:pt>
                <c:pt idx="1022">
                  <c:v>0.88</c:v>
                </c:pt>
                <c:pt idx="1023">
                  <c:v>0.88</c:v>
                </c:pt>
                <c:pt idx="1024">
                  <c:v>0.88</c:v>
                </c:pt>
                <c:pt idx="1025">
                  <c:v>0.88</c:v>
                </c:pt>
                <c:pt idx="1026">
                  <c:v>0.88</c:v>
                </c:pt>
                <c:pt idx="1027">
                  <c:v>0.88</c:v>
                </c:pt>
                <c:pt idx="1028">
                  <c:v>0.88</c:v>
                </c:pt>
                <c:pt idx="1029">
                  <c:v>0.88</c:v>
                </c:pt>
                <c:pt idx="1030">
                  <c:v>0.88</c:v>
                </c:pt>
                <c:pt idx="1031">
                  <c:v>0.88</c:v>
                </c:pt>
                <c:pt idx="1032">
                  <c:v>0.88</c:v>
                </c:pt>
                <c:pt idx="1033">
                  <c:v>0.88</c:v>
                </c:pt>
                <c:pt idx="1034">
                  <c:v>0.88</c:v>
                </c:pt>
                <c:pt idx="1035">
                  <c:v>0.88</c:v>
                </c:pt>
                <c:pt idx="1036">
                  <c:v>0.88</c:v>
                </c:pt>
                <c:pt idx="1037">
                  <c:v>0.88</c:v>
                </c:pt>
                <c:pt idx="1038">
                  <c:v>0.88</c:v>
                </c:pt>
                <c:pt idx="1039">
                  <c:v>0.88</c:v>
                </c:pt>
                <c:pt idx="1040">
                  <c:v>0.88</c:v>
                </c:pt>
                <c:pt idx="1041">
                  <c:v>0.88</c:v>
                </c:pt>
                <c:pt idx="1042">
                  <c:v>0.88</c:v>
                </c:pt>
                <c:pt idx="1043">
                  <c:v>0.88</c:v>
                </c:pt>
                <c:pt idx="1044">
                  <c:v>0.88</c:v>
                </c:pt>
                <c:pt idx="1045">
                  <c:v>0.88</c:v>
                </c:pt>
                <c:pt idx="1046">
                  <c:v>0.88</c:v>
                </c:pt>
                <c:pt idx="1047">
                  <c:v>0.88</c:v>
                </c:pt>
                <c:pt idx="1048">
                  <c:v>0.88</c:v>
                </c:pt>
                <c:pt idx="1049">
                  <c:v>0.88</c:v>
                </c:pt>
                <c:pt idx="1050">
                  <c:v>0.88</c:v>
                </c:pt>
                <c:pt idx="1051">
                  <c:v>0.88</c:v>
                </c:pt>
                <c:pt idx="1052">
                  <c:v>0.88</c:v>
                </c:pt>
                <c:pt idx="1053">
                  <c:v>0.88</c:v>
                </c:pt>
                <c:pt idx="1054">
                  <c:v>0.88</c:v>
                </c:pt>
                <c:pt idx="1055">
                  <c:v>0.88</c:v>
                </c:pt>
                <c:pt idx="1056">
                  <c:v>0.88</c:v>
                </c:pt>
                <c:pt idx="1057">
                  <c:v>0.88</c:v>
                </c:pt>
                <c:pt idx="1058">
                  <c:v>0.88</c:v>
                </c:pt>
                <c:pt idx="1059">
                  <c:v>0.88</c:v>
                </c:pt>
                <c:pt idx="1060">
                  <c:v>0.88</c:v>
                </c:pt>
                <c:pt idx="1061">
                  <c:v>0.88</c:v>
                </c:pt>
                <c:pt idx="1062">
                  <c:v>0.88</c:v>
                </c:pt>
                <c:pt idx="1063">
                  <c:v>0.88</c:v>
                </c:pt>
                <c:pt idx="1064">
                  <c:v>0.88</c:v>
                </c:pt>
                <c:pt idx="1065">
                  <c:v>0.88</c:v>
                </c:pt>
                <c:pt idx="1066">
                  <c:v>0.88</c:v>
                </c:pt>
                <c:pt idx="1067">
                  <c:v>0.88</c:v>
                </c:pt>
                <c:pt idx="1068">
                  <c:v>0.88</c:v>
                </c:pt>
                <c:pt idx="1069">
                  <c:v>0.88</c:v>
                </c:pt>
                <c:pt idx="1070">
                  <c:v>0.88</c:v>
                </c:pt>
                <c:pt idx="1071">
                  <c:v>0.88</c:v>
                </c:pt>
                <c:pt idx="1072">
                  <c:v>0.88</c:v>
                </c:pt>
                <c:pt idx="1073">
                  <c:v>0.88</c:v>
                </c:pt>
                <c:pt idx="1074">
                  <c:v>0.88</c:v>
                </c:pt>
                <c:pt idx="1075">
                  <c:v>0.88</c:v>
                </c:pt>
                <c:pt idx="1076">
                  <c:v>0.88</c:v>
                </c:pt>
                <c:pt idx="1077">
                  <c:v>0.88</c:v>
                </c:pt>
                <c:pt idx="1078">
                  <c:v>0.88</c:v>
                </c:pt>
                <c:pt idx="1079">
                  <c:v>0.88</c:v>
                </c:pt>
                <c:pt idx="1080">
                  <c:v>0.88</c:v>
                </c:pt>
                <c:pt idx="1081">
                  <c:v>0.88</c:v>
                </c:pt>
                <c:pt idx="1082">
                  <c:v>0.88</c:v>
                </c:pt>
                <c:pt idx="1083">
                  <c:v>0.88</c:v>
                </c:pt>
                <c:pt idx="1084">
                  <c:v>0.88</c:v>
                </c:pt>
                <c:pt idx="1085">
                  <c:v>0.88</c:v>
                </c:pt>
                <c:pt idx="1086">
                  <c:v>0.88</c:v>
                </c:pt>
                <c:pt idx="1087">
                  <c:v>0.88</c:v>
                </c:pt>
                <c:pt idx="1088">
                  <c:v>0.88</c:v>
                </c:pt>
                <c:pt idx="1089">
                  <c:v>0.88</c:v>
                </c:pt>
                <c:pt idx="1090">
                  <c:v>0.88</c:v>
                </c:pt>
                <c:pt idx="1091">
                  <c:v>0.88</c:v>
                </c:pt>
                <c:pt idx="1092">
                  <c:v>0.88</c:v>
                </c:pt>
                <c:pt idx="1093">
                  <c:v>0.88</c:v>
                </c:pt>
                <c:pt idx="1094">
                  <c:v>0.88</c:v>
                </c:pt>
                <c:pt idx="1095">
                  <c:v>0.88</c:v>
                </c:pt>
                <c:pt idx="1096">
                  <c:v>0.88</c:v>
                </c:pt>
                <c:pt idx="1097">
                  <c:v>0.88</c:v>
                </c:pt>
                <c:pt idx="1098">
                  <c:v>0.88</c:v>
                </c:pt>
                <c:pt idx="1099">
                  <c:v>0.88</c:v>
                </c:pt>
                <c:pt idx="1100">
                  <c:v>0.88</c:v>
                </c:pt>
                <c:pt idx="1101">
                  <c:v>0.88</c:v>
                </c:pt>
                <c:pt idx="1102">
                  <c:v>0.88</c:v>
                </c:pt>
                <c:pt idx="1103">
                  <c:v>0.88</c:v>
                </c:pt>
                <c:pt idx="1104">
                  <c:v>0.88</c:v>
                </c:pt>
                <c:pt idx="1105">
                  <c:v>0.88</c:v>
                </c:pt>
              </c:numCache>
            </c:numRef>
          </c:val>
          <c:smooth val="0"/>
          <c:extLst>
            <c:ext xmlns:c16="http://schemas.microsoft.com/office/drawing/2014/chart" uri="{C3380CC4-5D6E-409C-BE32-E72D297353CC}">
              <c16:uniqueId val="{00000001-2828-42A8-89CB-54572D2DC00F}"/>
            </c:ext>
          </c:extLst>
        </c:ser>
        <c:ser>
          <c:idx val="0"/>
          <c:order val="1"/>
          <c:tx>
            <c:strRef>
              <c:f>Sheet1!$B$1</c:f>
              <c:strCache>
                <c:ptCount val="1"/>
                <c:pt idx="0">
                  <c:v>DCREIT</c:v>
                </c:pt>
              </c:strCache>
            </c:strRef>
          </c:tx>
          <c:spPr>
            <a:ln w="15875" cap="rnd">
              <a:solidFill>
                <a:srgbClr val="315D90"/>
              </a:solidFill>
              <a:round/>
            </a:ln>
            <a:effectLst/>
          </c:spPr>
          <c:marker>
            <c:symbol val="none"/>
          </c:marker>
          <c:cat>
            <c:numRef>
              <c:f>Sheet1!$A$2:$A$1107</c:f>
              <c:numCache>
                <c:formatCode>m/d/yyyy</c:formatCode>
                <c:ptCount val="1106"/>
                <c:pt idx="0">
                  <c:v>44536</c:v>
                </c:pt>
                <c:pt idx="1">
                  <c:v>44537</c:v>
                </c:pt>
                <c:pt idx="2">
                  <c:v>44538</c:v>
                </c:pt>
                <c:pt idx="3">
                  <c:v>44539</c:v>
                </c:pt>
                <c:pt idx="4">
                  <c:v>44540</c:v>
                </c:pt>
                <c:pt idx="5">
                  <c:v>44543</c:v>
                </c:pt>
                <c:pt idx="6">
                  <c:v>44544</c:v>
                </c:pt>
                <c:pt idx="7">
                  <c:v>44545</c:v>
                </c:pt>
                <c:pt idx="8">
                  <c:v>44546</c:v>
                </c:pt>
                <c:pt idx="9">
                  <c:v>44547</c:v>
                </c:pt>
                <c:pt idx="10">
                  <c:v>44550</c:v>
                </c:pt>
                <c:pt idx="11">
                  <c:v>44551</c:v>
                </c:pt>
                <c:pt idx="12">
                  <c:v>44552</c:v>
                </c:pt>
                <c:pt idx="13">
                  <c:v>44553</c:v>
                </c:pt>
                <c:pt idx="14">
                  <c:v>44554</c:v>
                </c:pt>
                <c:pt idx="15">
                  <c:v>44557</c:v>
                </c:pt>
                <c:pt idx="16">
                  <c:v>44558</c:v>
                </c:pt>
                <c:pt idx="17">
                  <c:v>44559</c:v>
                </c:pt>
                <c:pt idx="18">
                  <c:v>44560</c:v>
                </c:pt>
                <c:pt idx="19">
                  <c:v>44561</c:v>
                </c:pt>
                <c:pt idx="20">
                  <c:v>44564</c:v>
                </c:pt>
                <c:pt idx="21">
                  <c:v>44565</c:v>
                </c:pt>
                <c:pt idx="22">
                  <c:v>44566</c:v>
                </c:pt>
                <c:pt idx="23">
                  <c:v>44567</c:v>
                </c:pt>
                <c:pt idx="24">
                  <c:v>44568</c:v>
                </c:pt>
                <c:pt idx="25">
                  <c:v>44571</c:v>
                </c:pt>
                <c:pt idx="26">
                  <c:v>44572</c:v>
                </c:pt>
                <c:pt idx="27">
                  <c:v>44573</c:v>
                </c:pt>
                <c:pt idx="28">
                  <c:v>44574</c:v>
                </c:pt>
                <c:pt idx="29">
                  <c:v>44575</c:v>
                </c:pt>
                <c:pt idx="30">
                  <c:v>44578</c:v>
                </c:pt>
                <c:pt idx="31">
                  <c:v>44579</c:v>
                </c:pt>
                <c:pt idx="32">
                  <c:v>44580</c:v>
                </c:pt>
                <c:pt idx="33">
                  <c:v>44581</c:v>
                </c:pt>
                <c:pt idx="34">
                  <c:v>44582</c:v>
                </c:pt>
                <c:pt idx="35">
                  <c:v>44585</c:v>
                </c:pt>
                <c:pt idx="36">
                  <c:v>44586</c:v>
                </c:pt>
                <c:pt idx="37">
                  <c:v>44587</c:v>
                </c:pt>
                <c:pt idx="38">
                  <c:v>44588</c:v>
                </c:pt>
                <c:pt idx="39">
                  <c:v>44589</c:v>
                </c:pt>
                <c:pt idx="40">
                  <c:v>44592</c:v>
                </c:pt>
                <c:pt idx="41">
                  <c:v>44595</c:v>
                </c:pt>
                <c:pt idx="42">
                  <c:v>44596</c:v>
                </c:pt>
                <c:pt idx="43">
                  <c:v>44599</c:v>
                </c:pt>
                <c:pt idx="44">
                  <c:v>44600</c:v>
                </c:pt>
                <c:pt idx="45">
                  <c:v>44601</c:v>
                </c:pt>
                <c:pt idx="46">
                  <c:v>44602</c:v>
                </c:pt>
                <c:pt idx="47">
                  <c:v>44603</c:v>
                </c:pt>
                <c:pt idx="48">
                  <c:v>44606</c:v>
                </c:pt>
                <c:pt idx="49">
                  <c:v>44607</c:v>
                </c:pt>
                <c:pt idx="50">
                  <c:v>44608</c:v>
                </c:pt>
                <c:pt idx="51">
                  <c:v>44609</c:v>
                </c:pt>
                <c:pt idx="52">
                  <c:v>44610</c:v>
                </c:pt>
                <c:pt idx="53">
                  <c:v>44613</c:v>
                </c:pt>
                <c:pt idx="54">
                  <c:v>44614</c:v>
                </c:pt>
                <c:pt idx="55">
                  <c:v>44615</c:v>
                </c:pt>
                <c:pt idx="56">
                  <c:v>44616</c:v>
                </c:pt>
                <c:pt idx="57">
                  <c:v>44617</c:v>
                </c:pt>
                <c:pt idx="58">
                  <c:v>44620</c:v>
                </c:pt>
                <c:pt idx="59">
                  <c:v>44621</c:v>
                </c:pt>
                <c:pt idx="60">
                  <c:v>44622</c:v>
                </c:pt>
                <c:pt idx="61">
                  <c:v>44623</c:v>
                </c:pt>
                <c:pt idx="62">
                  <c:v>44624</c:v>
                </c:pt>
                <c:pt idx="63">
                  <c:v>44627</c:v>
                </c:pt>
                <c:pt idx="64">
                  <c:v>44628</c:v>
                </c:pt>
                <c:pt idx="65">
                  <c:v>44629</c:v>
                </c:pt>
                <c:pt idx="66">
                  <c:v>44630</c:v>
                </c:pt>
                <c:pt idx="67">
                  <c:v>44631</c:v>
                </c:pt>
                <c:pt idx="68">
                  <c:v>44634</c:v>
                </c:pt>
                <c:pt idx="69">
                  <c:v>44635</c:v>
                </c:pt>
                <c:pt idx="70">
                  <c:v>44636</c:v>
                </c:pt>
                <c:pt idx="71">
                  <c:v>44637</c:v>
                </c:pt>
                <c:pt idx="72">
                  <c:v>44638</c:v>
                </c:pt>
                <c:pt idx="73">
                  <c:v>44641</c:v>
                </c:pt>
                <c:pt idx="74">
                  <c:v>44642</c:v>
                </c:pt>
                <c:pt idx="75">
                  <c:v>44643</c:v>
                </c:pt>
                <c:pt idx="76">
                  <c:v>44644</c:v>
                </c:pt>
                <c:pt idx="77">
                  <c:v>44645</c:v>
                </c:pt>
                <c:pt idx="78">
                  <c:v>44648</c:v>
                </c:pt>
                <c:pt idx="79">
                  <c:v>44649</c:v>
                </c:pt>
                <c:pt idx="80">
                  <c:v>44650</c:v>
                </c:pt>
                <c:pt idx="81">
                  <c:v>44651</c:v>
                </c:pt>
                <c:pt idx="82">
                  <c:v>44652</c:v>
                </c:pt>
                <c:pt idx="83">
                  <c:v>44655</c:v>
                </c:pt>
                <c:pt idx="84">
                  <c:v>44656</c:v>
                </c:pt>
                <c:pt idx="85">
                  <c:v>44657</c:v>
                </c:pt>
                <c:pt idx="86">
                  <c:v>44658</c:v>
                </c:pt>
                <c:pt idx="87">
                  <c:v>44659</c:v>
                </c:pt>
                <c:pt idx="88">
                  <c:v>44662</c:v>
                </c:pt>
                <c:pt idx="89">
                  <c:v>44663</c:v>
                </c:pt>
                <c:pt idx="90">
                  <c:v>44664</c:v>
                </c:pt>
                <c:pt idx="91">
                  <c:v>44665</c:v>
                </c:pt>
                <c:pt idx="92">
                  <c:v>44669</c:v>
                </c:pt>
                <c:pt idx="93">
                  <c:v>44670</c:v>
                </c:pt>
                <c:pt idx="94">
                  <c:v>44671</c:v>
                </c:pt>
                <c:pt idx="95">
                  <c:v>44672</c:v>
                </c:pt>
                <c:pt idx="96">
                  <c:v>44673</c:v>
                </c:pt>
                <c:pt idx="97">
                  <c:v>44676</c:v>
                </c:pt>
                <c:pt idx="98">
                  <c:v>44677</c:v>
                </c:pt>
                <c:pt idx="99">
                  <c:v>44678</c:v>
                </c:pt>
                <c:pt idx="100">
                  <c:v>44679</c:v>
                </c:pt>
                <c:pt idx="101">
                  <c:v>44680</c:v>
                </c:pt>
                <c:pt idx="102">
                  <c:v>44685</c:v>
                </c:pt>
                <c:pt idx="103">
                  <c:v>44686</c:v>
                </c:pt>
                <c:pt idx="104">
                  <c:v>44687</c:v>
                </c:pt>
                <c:pt idx="105">
                  <c:v>44690</c:v>
                </c:pt>
                <c:pt idx="106">
                  <c:v>44691</c:v>
                </c:pt>
                <c:pt idx="107">
                  <c:v>44692</c:v>
                </c:pt>
                <c:pt idx="108">
                  <c:v>44693</c:v>
                </c:pt>
                <c:pt idx="109">
                  <c:v>44694</c:v>
                </c:pt>
                <c:pt idx="110">
                  <c:v>44698</c:v>
                </c:pt>
                <c:pt idx="111">
                  <c:v>44699</c:v>
                </c:pt>
                <c:pt idx="112">
                  <c:v>44700</c:v>
                </c:pt>
                <c:pt idx="113">
                  <c:v>44701</c:v>
                </c:pt>
                <c:pt idx="114">
                  <c:v>44704</c:v>
                </c:pt>
                <c:pt idx="115">
                  <c:v>44705</c:v>
                </c:pt>
                <c:pt idx="116">
                  <c:v>44706</c:v>
                </c:pt>
                <c:pt idx="117">
                  <c:v>44707</c:v>
                </c:pt>
                <c:pt idx="118">
                  <c:v>44708</c:v>
                </c:pt>
                <c:pt idx="119">
                  <c:v>44711</c:v>
                </c:pt>
                <c:pt idx="120">
                  <c:v>44712</c:v>
                </c:pt>
                <c:pt idx="121">
                  <c:v>44713</c:v>
                </c:pt>
                <c:pt idx="122">
                  <c:v>44714</c:v>
                </c:pt>
                <c:pt idx="123">
                  <c:v>44715</c:v>
                </c:pt>
                <c:pt idx="124">
                  <c:v>44718</c:v>
                </c:pt>
                <c:pt idx="125">
                  <c:v>44719</c:v>
                </c:pt>
                <c:pt idx="126">
                  <c:v>44720</c:v>
                </c:pt>
                <c:pt idx="127">
                  <c:v>44721</c:v>
                </c:pt>
                <c:pt idx="128">
                  <c:v>44722</c:v>
                </c:pt>
                <c:pt idx="129">
                  <c:v>44725</c:v>
                </c:pt>
                <c:pt idx="130">
                  <c:v>44726</c:v>
                </c:pt>
                <c:pt idx="131">
                  <c:v>44727</c:v>
                </c:pt>
                <c:pt idx="132">
                  <c:v>44728</c:v>
                </c:pt>
                <c:pt idx="133">
                  <c:v>44729</c:v>
                </c:pt>
                <c:pt idx="134">
                  <c:v>44732</c:v>
                </c:pt>
                <c:pt idx="135">
                  <c:v>44733</c:v>
                </c:pt>
                <c:pt idx="136">
                  <c:v>44734</c:v>
                </c:pt>
                <c:pt idx="137">
                  <c:v>44735</c:v>
                </c:pt>
                <c:pt idx="138">
                  <c:v>44736</c:v>
                </c:pt>
                <c:pt idx="139">
                  <c:v>44739</c:v>
                </c:pt>
                <c:pt idx="140">
                  <c:v>44740</c:v>
                </c:pt>
                <c:pt idx="141">
                  <c:v>44741</c:v>
                </c:pt>
                <c:pt idx="142">
                  <c:v>44742</c:v>
                </c:pt>
                <c:pt idx="143">
                  <c:v>44743</c:v>
                </c:pt>
                <c:pt idx="144">
                  <c:v>44746</c:v>
                </c:pt>
                <c:pt idx="145">
                  <c:v>44747</c:v>
                </c:pt>
                <c:pt idx="146">
                  <c:v>44748</c:v>
                </c:pt>
                <c:pt idx="147">
                  <c:v>44749</c:v>
                </c:pt>
                <c:pt idx="148">
                  <c:v>44750</c:v>
                </c:pt>
                <c:pt idx="149">
                  <c:v>44754</c:v>
                </c:pt>
                <c:pt idx="150">
                  <c:v>44755</c:v>
                </c:pt>
                <c:pt idx="151">
                  <c:v>44756</c:v>
                </c:pt>
                <c:pt idx="152">
                  <c:v>44757</c:v>
                </c:pt>
                <c:pt idx="153">
                  <c:v>44760</c:v>
                </c:pt>
                <c:pt idx="154">
                  <c:v>44761</c:v>
                </c:pt>
                <c:pt idx="155">
                  <c:v>44762</c:v>
                </c:pt>
                <c:pt idx="156">
                  <c:v>44763</c:v>
                </c:pt>
                <c:pt idx="157">
                  <c:v>44764</c:v>
                </c:pt>
                <c:pt idx="158">
                  <c:v>44767</c:v>
                </c:pt>
                <c:pt idx="159">
                  <c:v>44768</c:v>
                </c:pt>
                <c:pt idx="160">
                  <c:v>44769</c:v>
                </c:pt>
                <c:pt idx="161">
                  <c:v>44770</c:v>
                </c:pt>
                <c:pt idx="162">
                  <c:v>44771</c:v>
                </c:pt>
                <c:pt idx="163">
                  <c:v>44774</c:v>
                </c:pt>
                <c:pt idx="164">
                  <c:v>44775</c:v>
                </c:pt>
                <c:pt idx="165">
                  <c:v>44776</c:v>
                </c:pt>
                <c:pt idx="166">
                  <c:v>44777</c:v>
                </c:pt>
                <c:pt idx="167">
                  <c:v>44778</c:v>
                </c:pt>
                <c:pt idx="168">
                  <c:v>44781</c:v>
                </c:pt>
                <c:pt idx="169">
                  <c:v>44783</c:v>
                </c:pt>
                <c:pt idx="170">
                  <c:v>44784</c:v>
                </c:pt>
                <c:pt idx="171">
                  <c:v>44785</c:v>
                </c:pt>
                <c:pt idx="172">
                  <c:v>44788</c:v>
                </c:pt>
                <c:pt idx="173">
                  <c:v>44789</c:v>
                </c:pt>
                <c:pt idx="174">
                  <c:v>44790</c:v>
                </c:pt>
                <c:pt idx="175">
                  <c:v>44791</c:v>
                </c:pt>
                <c:pt idx="176">
                  <c:v>44792</c:v>
                </c:pt>
                <c:pt idx="177">
                  <c:v>44795</c:v>
                </c:pt>
                <c:pt idx="178">
                  <c:v>44796</c:v>
                </c:pt>
                <c:pt idx="179">
                  <c:v>44797</c:v>
                </c:pt>
                <c:pt idx="180">
                  <c:v>44798</c:v>
                </c:pt>
                <c:pt idx="181">
                  <c:v>44799</c:v>
                </c:pt>
                <c:pt idx="182">
                  <c:v>44802</c:v>
                </c:pt>
                <c:pt idx="183">
                  <c:v>44803</c:v>
                </c:pt>
                <c:pt idx="184">
                  <c:v>44804</c:v>
                </c:pt>
                <c:pt idx="185">
                  <c:v>44805</c:v>
                </c:pt>
                <c:pt idx="186">
                  <c:v>44806</c:v>
                </c:pt>
                <c:pt idx="187">
                  <c:v>44809</c:v>
                </c:pt>
                <c:pt idx="188">
                  <c:v>44810</c:v>
                </c:pt>
                <c:pt idx="189">
                  <c:v>44811</c:v>
                </c:pt>
                <c:pt idx="190">
                  <c:v>44812</c:v>
                </c:pt>
                <c:pt idx="191">
                  <c:v>44813</c:v>
                </c:pt>
                <c:pt idx="192">
                  <c:v>44816</c:v>
                </c:pt>
                <c:pt idx="193">
                  <c:v>44817</c:v>
                </c:pt>
                <c:pt idx="194">
                  <c:v>44818</c:v>
                </c:pt>
                <c:pt idx="195">
                  <c:v>44819</c:v>
                </c:pt>
                <c:pt idx="196">
                  <c:v>44820</c:v>
                </c:pt>
                <c:pt idx="197">
                  <c:v>44823</c:v>
                </c:pt>
                <c:pt idx="198">
                  <c:v>44824</c:v>
                </c:pt>
                <c:pt idx="199">
                  <c:v>44825</c:v>
                </c:pt>
                <c:pt idx="200">
                  <c:v>44826</c:v>
                </c:pt>
                <c:pt idx="201">
                  <c:v>44827</c:v>
                </c:pt>
                <c:pt idx="202">
                  <c:v>44830</c:v>
                </c:pt>
                <c:pt idx="203">
                  <c:v>44831</c:v>
                </c:pt>
                <c:pt idx="204">
                  <c:v>44832</c:v>
                </c:pt>
                <c:pt idx="205">
                  <c:v>44833</c:v>
                </c:pt>
                <c:pt idx="206">
                  <c:v>44834</c:v>
                </c:pt>
                <c:pt idx="207">
                  <c:v>44837</c:v>
                </c:pt>
                <c:pt idx="208">
                  <c:v>44838</c:v>
                </c:pt>
                <c:pt idx="209">
                  <c:v>44839</c:v>
                </c:pt>
                <c:pt idx="210">
                  <c:v>44840</c:v>
                </c:pt>
                <c:pt idx="211">
                  <c:v>44841</c:v>
                </c:pt>
                <c:pt idx="212">
                  <c:v>44844</c:v>
                </c:pt>
                <c:pt idx="213">
                  <c:v>44845</c:v>
                </c:pt>
                <c:pt idx="214">
                  <c:v>44846</c:v>
                </c:pt>
                <c:pt idx="215">
                  <c:v>44847</c:v>
                </c:pt>
                <c:pt idx="216">
                  <c:v>44848</c:v>
                </c:pt>
                <c:pt idx="217">
                  <c:v>44851</c:v>
                </c:pt>
                <c:pt idx="218">
                  <c:v>44852</c:v>
                </c:pt>
                <c:pt idx="219">
                  <c:v>44853</c:v>
                </c:pt>
                <c:pt idx="220">
                  <c:v>44854</c:v>
                </c:pt>
                <c:pt idx="221">
                  <c:v>44855</c:v>
                </c:pt>
                <c:pt idx="222">
                  <c:v>44859</c:v>
                </c:pt>
                <c:pt idx="223">
                  <c:v>44860</c:v>
                </c:pt>
                <c:pt idx="224">
                  <c:v>44861</c:v>
                </c:pt>
                <c:pt idx="225">
                  <c:v>44862</c:v>
                </c:pt>
                <c:pt idx="226">
                  <c:v>44865</c:v>
                </c:pt>
                <c:pt idx="227">
                  <c:v>44866</c:v>
                </c:pt>
                <c:pt idx="228">
                  <c:v>44867</c:v>
                </c:pt>
                <c:pt idx="229">
                  <c:v>44868</c:v>
                </c:pt>
                <c:pt idx="230">
                  <c:v>44869</c:v>
                </c:pt>
                <c:pt idx="231">
                  <c:v>44872</c:v>
                </c:pt>
                <c:pt idx="232">
                  <c:v>44873</c:v>
                </c:pt>
                <c:pt idx="233">
                  <c:v>44874</c:v>
                </c:pt>
                <c:pt idx="234">
                  <c:v>44875</c:v>
                </c:pt>
                <c:pt idx="235">
                  <c:v>44876</c:v>
                </c:pt>
                <c:pt idx="236">
                  <c:v>44879</c:v>
                </c:pt>
                <c:pt idx="237">
                  <c:v>44880</c:v>
                </c:pt>
                <c:pt idx="238">
                  <c:v>44881</c:v>
                </c:pt>
                <c:pt idx="239">
                  <c:v>44882</c:v>
                </c:pt>
                <c:pt idx="240">
                  <c:v>44883</c:v>
                </c:pt>
                <c:pt idx="241">
                  <c:v>44886</c:v>
                </c:pt>
                <c:pt idx="242">
                  <c:v>44887</c:v>
                </c:pt>
                <c:pt idx="243">
                  <c:v>44888</c:v>
                </c:pt>
                <c:pt idx="244">
                  <c:v>44889</c:v>
                </c:pt>
                <c:pt idx="245">
                  <c:v>44890</c:v>
                </c:pt>
                <c:pt idx="246">
                  <c:v>44893</c:v>
                </c:pt>
                <c:pt idx="247">
                  <c:v>44894</c:v>
                </c:pt>
                <c:pt idx="248">
                  <c:v>44895</c:v>
                </c:pt>
                <c:pt idx="249">
                  <c:v>44896</c:v>
                </c:pt>
                <c:pt idx="250">
                  <c:v>44897</c:v>
                </c:pt>
                <c:pt idx="251">
                  <c:v>44900</c:v>
                </c:pt>
                <c:pt idx="252">
                  <c:v>44901</c:v>
                </c:pt>
                <c:pt idx="253">
                  <c:v>44902</c:v>
                </c:pt>
                <c:pt idx="254">
                  <c:v>44903</c:v>
                </c:pt>
                <c:pt idx="255">
                  <c:v>44904</c:v>
                </c:pt>
                <c:pt idx="256">
                  <c:v>44907</c:v>
                </c:pt>
                <c:pt idx="257">
                  <c:v>44908</c:v>
                </c:pt>
                <c:pt idx="258">
                  <c:v>44909</c:v>
                </c:pt>
                <c:pt idx="259">
                  <c:v>44910</c:v>
                </c:pt>
                <c:pt idx="260">
                  <c:v>44911</c:v>
                </c:pt>
                <c:pt idx="261">
                  <c:v>44914</c:v>
                </c:pt>
                <c:pt idx="262">
                  <c:v>44915</c:v>
                </c:pt>
                <c:pt idx="263">
                  <c:v>44916</c:v>
                </c:pt>
                <c:pt idx="264">
                  <c:v>44917</c:v>
                </c:pt>
                <c:pt idx="265">
                  <c:v>44918</c:v>
                </c:pt>
                <c:pt idx="266">
                  <c:v>44922</c:v>
                </c:pt>
                <c:pt idx="267">
                  <c:v>44923</c:v>
                </c:pt>
                <c:pt idx="268">
                  <c:v>44924</c:v>
                </c:pt>
                <c:pt idx="269">
                  <c:v>44925</c:v>
                </c:pt>
                <c:pt idx="270">
                  <c:v>44929</c:v>
                </c:pt>
                <c:pt idx="271">
                  <c:v>44930</c:v>
                </c:pt>
                <c:pt idx="272">
                  <c:v>44931</c:v>
                </c:pt>
                <c:pt idx="273">
                  <c:v>44932</c:v>
                </c:pt>
                <c:pt idx="274">
                  <c:v>44935</c:v>
                </c:pt>
                <c:pt idx="275">
                  <c:v>44936</c:v>
                </c:pt>
                <c:pt idx="276">
                  <c:v>44937</c:v>
                </c:pt>
                <c:pt idx="277">
                  <c:v>44938</c:v>
                </c:pt>
                <c:pt idx="278">
                  <c:v>44939</c:v>
                </c:pt>
                <c:pt idx="279">
                  <c:v>44942</c:v>
                </c:pt>
                <c:pt idx="280">
                  <c:v>44943</c:v>
                </c:pt>
                <c:pt idx="281">
                  <c:v>44944</c:v>
                </c:pt>
                <c:pt idx="282">
                  <c:v>44945</c:v>
                </c:pt>
                <c:pt idx="283">
                  <c:v>44946</c:v>
                </c:pt>
                <c:pt idx="284">
                  <c:v>44951</c:v>
                </c:pt>
                <c:pt idx="285">
                  <c:v>44952</c:v>
                </c:pt>
                <c:pt idx="286">
                  <c:v>44953</c:v>
                </c:pt>
                <c:pt idx="287">
                  <c:v>44956</c:v>
                </c:pt>
                <c:pt idx="288">
                  <c:v>44957</c:v>
                </c:pt>
                <c:pt idx="289">
                  <c:v>44958</c:v>
                </c:pt>
                <c:pt idx="290">
                  <c:v>44959</c:v>
                </c:pt>
                <c:pt idx="291">
                  <c:v>44960</c:v>
                </c:pt>
                <c:pt idx="292">
                  <c:v>44963</c:v>
                </c:pt>
                <c:pt idx="293">
                  <c:v>44964</c:v>
                </c:pt>
                <c:pt idx="294">
                  <c:v>44965</c:v>
                </c:pt>
                <c:pt idx="295">
                  <c:v>44966</c:v>
                </c:pt>
                <c:pt idx="296">
                  <c:v>44967</c:v>
                </c:pt>
                <c:pt idx="297">
                  <c:v>44970</c:v>
                </c:pt>
                <c:pt idx="298">
                  <c:v>44971</c:v>
                </c:pt>
                <c:pt idx="299">
                  <c:v>44972</c:v>
                </c:pt>
                <c:pt idx="300">
                  <c:v>44973</c:v>
                </c:pt>
                <c:pt idx="301">
                  <c:v>44974</c:v>
                </c:pt>
                <c:pt idx="302">
                  <c:v>44977</c:v>
                </c:pt>
                <c:pt idx="303">
                  <c:v>44978</c:v>
                </c:pt>
                <c:pt idx="304">
                  <c:v>44979</c:v>
                </c:pt>
                <c:pt idx="305">
                  <c:v>44980</c:v>
                </c:pt>
                <c:pt idx="306">
                  <c:v>44981</c:v>
                </c:pt>
                <c:pt idx="307">
                  <c:v>44984</c:v>
                </c:pt>
                <c:pt idx="308">
                  <c:v>44985</c:v>
                </c:pt>
                <c:pt idx="309">
                  <c:v>44986</c:v>
                </c:pt>
                <c:pt idx="310">
                  <c:v>44987</c:v>
                </c:pt>
                <c:pt idx="311">
                  <c:v>44988</c:v>
                </c:pt>
                <c:pt idx="312">
                  <c:v>44991</c:v>
                </c:pt>
                <c:pt idx="313">
                  <c:v>44992</c:v>
                </c:pt>
                <c:pt idx="314">
                  <c:v>44993</c:v>
                </c:pt>
                <c:pt idx="315">
                  <c:v>44994</c:v>
                </c:pt>
                <c:pt idx="316">
                  <c:v>44995</c:v>
                </c:pt>
                <c:pt idx="317">
                  <c:v>44998</c:v>
                </c:pt>
                <c:pt idx="318">
                  <c:v>44999</c:v>
                </c:pt>
                <c:pt idx="319">
                  <c:v>45000</c:v>
                </c:pt>
                <c:pt idx="320">
                  <c:v>45001</c:v>
                </c:pt>
                <c:pt idx="321">
                  <c:v>45002</c:v>
                </c:pt>
                <c:pt idx="322">
                  <c:v>45005</c:v>
                </c:pt>
                <c:pt idx="323">
                  <c:v>45006</c:v>
                </c:pt>
                <c:pt idx="324">
                  <c:v>45007</c:v>
                </c:pt>
                <c:pt idx="325">
                  <c:v>45008</c:v>
                </c:pt>
                <c:pt idx="326">
                  <c:v>45009</c:v>
                </c:pt>
                <c:pt idx="327">
                  <c:v>45012</c:v>
                </c:pt>
                <c:pt idx="328">
                  <c:v>45013</c:v>
                </c:pt>
                <c:pt idx="329">
                  <c:v>45014</c:v>
                </c:pt>
                <c:pt idx="330">
                  <c:v>45015</c:v>
                </c:pt>
                <c:pt idx="331">
                  <c:v>45016</c:v>
                </c:pt>
                <c:pt idx="332">
                  <c:v>45019</c:v>
                </c:pt>
                <c:pt idx="333">
                  <c:v>45020</c:v>
                </c:pt>
                <c:pt idx="334">
                  <c:v>45021</c:v>
                </c:pt>
                <c:pt idx="335">
                  <c:v>45022</c:v>
                </c:pt>
                <c:pt idx="336">
                  <c:v>45026</c:v>
                </c:pt>
                <c:pt idx="337">
                  <c:v>45027</c:v>
                </c:pt>
                <c:pt idx="338">
                  <c:v>45028</c:v>
                </c:pt>
                <c:pt idx="339">
                  <c:v>45029</c:v>
                </c:pt>
                <c:pt idx="340">
                  <c:v>45030</c:v>
                </c:pt>
                <c:pt idx="341">
                  <c:v>45033</c:v>
                </c:pt>
                <c:pt idx="342">
                  <c:v>45034</c:v>
                </c:pt>
                <c:pt idx="343">
                  <c:v>45035</c:v>
                </c:pt>
                <c:pt idx="344">
                  <c:v>45036</c:v>
                </c:pt>
                <c:pt idx="345">
                  <c:v>45037</c:v>
                </c:pt>
                <c:pt idx="346">
                  <c:v>45040</c:v>
                </c:pt>
                <c:pt idx="347">
                  <c:v>45041</c:v>
                </c:pt>
                <c:pt idx="348">
                  <c:v>45042</c:v>
                </c:pt>
                <c:pt idx="349">
                  <c:v>45043</c:v>
                </c:pt>
                <c:pt idx="350">
                  <c:v>45044</c:v>
                </c:pt>
                <c:pt idx="351">
                  <c:v>45048</c:v>
                </c:pt>
                <c:pt idx="352">
                  <c:v>45049</c:v>
                </c:pt>
                <c:pt idx="353">
                  <c:v>45050</c:v>
                </c:pt>
                <c:pt idx="354">
                  <c:v>45051</c:v>
                </c:pt>
                <c:pt idx="355">
                  <c:v>45054</c:v>
                </c:pt>
                <c:pt idx="356">
                  <c:v>45055</c:v>
                </c:pt>
                <c:pt idx="357">
                  <c:v>45056</c:v>
                </c:pt>
                <c:pt idx="358">
                  <c:v>45057</c:v>
                </c:pt>
                <c:pt idx="359">
                  <c:v>45058</c:v>
                </c:pt>
                <c:pt idx="360">
                  <c:v>45061</c:v>
                </c:pt>
                <c:pt idx="361">
                  <c:v>45062</c:v>
                </c:pt>
                <c:pt idx="362">
                  <c:v>45063</c:v>
                </c:pt>
                <c:pt idx="363">
                  <c:v>45064</c:v>
                </c:pt>
                <c:pt idx="364">
                  <c:v>45065</c:v>
                </c:pt>
                <c:pt idx="365">
                  <c:v>45068</c:v>
                </c:pt>
                <c:pt idx="366">
                  <c:v>45069</c:v>
                </c:pt>
                <c:pt idx="367">
                  <c:v>45070</c:v>
                </c:pt>
                <c:pt idx="368">
                  <c:v>45071</c:v>
                </c:pt>
                <c:pt idx="369">
                  <c:v>45072</c:v>
                </c:pt>
                <c:pt idx="370">
                  <c:v>45075</c:v>
                </c:pt>
                <c:pt idx="371">
                  <c:v>45076</c:v>
                </c:pt>
                <c:pt idx="372">
                  <c:v>45077</c:v>
                </c:pt>
                <c:pt idx="373">
                  <c:v>45078</c:v>
                </c:pt>
                <c:pt idx="374">
                  <c:v>45082</c:v>
                </c:pt>
                <c:pt idx="375">
                  <c:v>45083</c:v>
                </c:pt>
                <c:pt idx="376">
                  <c:v>45084</c:v>
                </c:pt>
                <c:pt idx="377">
                  <c:v>45085</c:v>
                </c:pt>
                <c:pt idx="378">
                  <c:v>45086</c:v>
                </c:pt>
                <c:pt idx="379">
                  <c:v>45089</c:v>
                </c:pt>
                <c:pt idx="380">
                  <c:v>45090</c:v>
                </c:pt>
                <c:pt idx="381">
                  <c:v>45091</c:v>
                </c:pt>
                <c:pt idx="382">
                  <c:v>45092</c:v>
                </c:pt>
                <c:pt idx="383">
                  <c:v>45093</c:v>
                </c:pt>
                <c:pt idx="384">
                  <c:v>45096</c:v>
                </c:pt>
                <c:pt idx="385">
                  <c:v>45097</c:v>
                </c:pt>
                <c:pt idx="386">
                  <c:v>45098</c:v>
                </c:pt>
                <c:pt idx="387">
                  <c:v>45099</c:v>
                </c:pt>
                <c:pt idx="388">
                  <c:v>45100</c:v>
                </c:pt>
                <c:pt idx="389">
                  <c:v>45103</c:v>
                </c:pt>
                <c:pt idx="390">
                  <c:v>45104</c:v>
                </c:pt>
                <c:pt idx="391">
                  <c:v>45105</c:v>
                </c:pt>
                <c:pt idx="392">
                  <c:v>45107</c:v>
                </c:pt>
                <c:pt idx="393">
                  <c:v>45110</c:v>
                </c:pt>
                <c:pt idx="394">
                  <c:v>45111</c:v>
                </c:pt>
                <c:pt idx="395">
                  <c:v>45112</c:v>
                </c:pt>
                <c:pt idx="396">
                  <c:v>45113</c:v>
                </c:pt>
                <c:pt idx="397">
                  <c:v>45114</c:v>
                </c:pt>
                <c:pt idx="398">
                  <c:v>45117</c:v>
                </c:pt>
                <c:pt idx="399">
                  <c:v>45118</c:v>
                </c:pt>
                <c:pt idx="400">
                  <c:v>45119</c:v>
                </c:pt>
                <c:pt idx="401">
                  <c:v>45120</c:v>
                </c:pt>
                <c:pt idx="402">
                  <c:v>45121</c:v>
                </c:pt>
                <c:pt idx="403">
                  <c:v>45124</c:v>
                </c:pt>
                <c:pt idx="404">
                  <c:v>45125</c:v>
                </c:pt>
                <c:pt idx="405">
                  <c:v>45126</c:v>
                </c:pt>
                <c:pt idx="406">
                  <c:v>45127</c:v>
                </c:pt>
                <c:pt idx="407">
                  <c:v>45128</c:v>
                </c:pt>
                <c:pt idx="408">
                  <c:v>45131</c:v>
                </c:pt>
                <c:pt idx="409">
                  <c:v>45132</c:v>
                </c:pt>
                <c:pt idx="410">
                  <c:v>45133</c:v>
                </c:pt>
                <c:pt idx="411">
                  <c:v>45134</c:v>
                </c:pt>
                <c:pt idx="412">
                  <c:v>45135</c:v>
                </c:pt>
                <c:pt idx="413">
                  <c:v>45138</c:v>
                </c:pt>
                <c:pt idx="414">
                  <c:v>45139</c:v>
                </c:pt>
                <c:pt idx="415">
                  <c:v>45140</c:v>
                </c:pt>
                <c:pt idx="416">
                  <c:v>45141</c:v>
                </c:pt>
                <c:pt idx="417">
                  <c:v>45142</c:v>
                </c:pt>
                <c:pt idx="418">
                  <c:v>45145</c:v>
                </c:pt>
                <c:pt idx="419">
                  <c:v>45146</c:v>
                </c:pt>
                <c:pt idx="420">
                  <c:v>45148</c:v>
                </c:pt>
                <c:pt idx="421">
                  <c:v>45149</c:v>
                </c:pt>
                <c:pt idx="422">
                  <c:v>45152</c:v>
                </c:pt>
                <c:pt idx="423">
                  <c:v>45153</c:v>
                </c:pt>
                <c:pt idx="424">
                  <c:v>45154</c:v>
                </c:pt>
                <c:pt idx="425">
                  <c:v>45155</c:v>
                </c:pt>
                <c:pt idx="426">
                  <c:v>45156</c:v>
                </c:pt>
                <c:pt idx="427">
                  <c:v>45159</c:v>
                </c:pt>
                <c:pt idx="428">
                  <c:v>45160</c:v>
                </c:pt>
                <c:pt idx="429">
                  <c:v>45161</c:v>
                </c:pt>
                <c:pt idx="430">
                  <c:v>45162</c:v>
                </c:pt>
                <c:pt idx="431">
                  <c:v>45163</c:v>
                </c:pt>
                <c:pt idx="432">
                  <c:v>45166</c:v>
                </c:pt>
                <c:pt idx="433">
                  <c:v>45167</c:v>
                </c:pt>
                <c:pt idx="434">
                  <c:v>45168</c:v>
                </c:pt>
                <c:pt idx="435">
                  <c:v>45169</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45244</c:v>
                </c:pt>
                <c:pt idx="487">
                  <c:v>45245</c:v>
                </c:pt>
                <c:pt idx="488">
                  <c:v>45246</c:v>
                </c:pt>
                <c:pt idx="489">
                  <c:v>45247</c:v>
                </c:pt>
                <c:pt idx="490">
                  <c:v>45250</c:v>
                </c:pt>
                <c:pt idx="491">
                  <c:v>45251</c:v>
                </c:pt>
                <c:pt idx="492">
                  <c:v>45252</c:v>
                </c:pt>
                <c:pt idx="493">
                  <c:v>45253</c:v>
                </c:pt>
                <c:pt idx="494">
                  <c:v>45254</c:v>
                </c:pt>
                <c:pt idx="495">
                  <c:v>45257</c:v>
                </c:pt>
                <c:pt idx="496">
                  <c:v>45258</c:v>
                </c:pt>
                <c:pt idx="497">
                  <c:v>45259</c:v>
                </c:pt>
                <c:pt idx="498">
                  <c:v>45260</c:v>
                </c:pt>
                <c:pt idx="499">
                  <c:v>45261</c:v>
                </c:pt>
                <c:pt idx="500">
                  <c:v>45264</c:v>
                </c:pt>
                <c:pt idx="501">
                  <c:v>45265</c:v>
                </c:pt>
                <c:pt idx="502">
                  <c:v>45266</c:v>
                </c:pt>
                <c:pt idx="503">
                  <c:v>45267</c:v>
                </c:pt>
                <c:pt idx="504">
                  <c:v>45268</c:v>
                </c:pt>
                <c:pt idx="505">
                  <c:v>45271</c:v>
                </c:pt>
                <c:pt idx="506">
                  <c:v>45272</c:v>
                </c:pt>
                <c:pt idx="507">
                  <c:v>45273</c:v>
                </c:pt>
                <c:pt idx="508">
                  <c:v>45274</c:v>
                </c:pt>
                <c:pt idx="509">
                  <c:v>45275</c:v>
                </c:pt>
                <c:pt idx="510">
                  <c:v>45278</c:v>
                </c:pt>
                <c:pt idx="511">
                  <c:v>45279</c:v>
                </c:pt>
                <c:pt idx="512">
                  <c:v>45280</c:v>
                </c:pt>
                <c:pt idx="513">
                  <c:v>45281</c:v>
                </c:pt>
                <c:pt idx="514">
                  <c:v>45282</c:v>
                </c:pt>
                <c:pt idx="515">
                  <c:v>45286</c:v>
                </c:pt>
                <c:pt idx="516">
                  <c:v>45287</c:v>
                </c:pt>
                <c:pt idx="517">
                  <c:v>45288</c:v>
                </c:pt>
                <c:pt idx="518">
                  <c:v>45289</c:v>
                </c:pt>
                <c:pt idx="519">
                  <c:v>45293</c:v>
                </c:pt>
                <c:pt idx="520">
                  <c:v>45294</c:v>
                </c:pt>
                <c:pt idx="521">
                  <c:v>45295</c:v>
                </c:pt>
                <c:pt idx="522">
                  <c:v>45296</c:v>
                </c:pt>
                <c:pt idx="523">
                  <c:v>45299</c:v>
                </c:pt>
                <c:pt idx="524">
                  <c:v>45300</c:v>
                </c:pt>
                <c:pt idx="525">
                  <c:v>45301</c:v>
                </c:pt>
                <c:pt idx="526">
                  <c:v>45302</c:v>
                </c:pt>
                <c:pt idx="527">
                  <c:v>45303</c:v>
                </c:pt>
                <c:pt idx="528">
                  <c:v>45306</c:v>
                </c:pt>
                <c:pt idx="529">
                  <c:v>45307</c:v>
                </c:pt>
                <c:pt idx="530">
                  <c:v>45308</c:v>
                </c:pt>
                <c:pt idx="531">
                  <c:v>45309</c:v>
                </c:pt>
                <c:pt idx="532">
                  <c:v>45310</c:v>
                </c:pt>
                <c:pt idx="533">
                  <c:v>45313</c:v>
                </c:pt>
                <c:pt idx="534">
                  <c:v>45314</c:v>
                </c:pt>
                <c:pt idx="535">
                  <c:v>45315</c:v>
                </c:pt>
                <c:pt idx="536">
                  <c:v>45316</c:v>
                </c:pt>
                <c:pt idx="537">
                  <c:v>45317</c:v>
                </c:pt>
                <c:pt idx="538">
                  <c:v>45320</c:v>
                </c:pt>
                <c:pt idx="539">
                  <c:v>45321</c:v>
                </c:pt>
                <c:pt idx="540">
                  <c:v>45322</c:v>
                </c:pt>
                <c:pt idx="541">
                  <c:v>45323</c:v>
                </c:pt>
                <c:pt idx="542">
                  <c:v>45324</c:v>
                </c:pt>
                <c:pt idx="543">
                  <c:v>45327</c:v>
                </c:pt>
                <c:pt idx="544">
                  <c:v>45328</c:v>
                </c:pt>
                <c:pt idx="545">
                  <c:v>45329</c:v>
                </c:pt>
                <c:pt idx="546">
                  <c:v>45330</c:v>
                </c:pt>
                <c:pt idx="547">
                  <c:v>45331</c:v>
                </c:pt>
                <c:pt idx="548">
                  <c:v>45335</c:v>
                </c:pt>
                <c:pt idx="549">
                  <c:v>45336</c:v>
                </c:pt>
                <c:pt idx="550">
                  <c:v>45337</c:v>
                </c:pt>
                <c:pt idx="551">
                  <c:v>45338</c:v>
                </c:pt>
                <c:pt idx="552">
                  <c:v>45341</c:v>
                </c:pt>
                <c:pt idx="553">
                  <c:v>45342</c:v>
                </c:pt>
                <c:pt idx="554">
                  <c:v>45343</c:v>
                </c:pt>
                <c:pt idx="555">
                  <c:v>45344</c:v>
                </c:pt>
                <c:pt idx="556">
                  <c:v>45345</c:v>
                </c:pt>
                <c:pt idx="557">
                  <c:v>45348</c:v>
                </c:pt>
                <c:pt idx="558">
                  <c:v>45349</c:v>
                </c:pt>
                <c:pt idx="559">
                  <c:v>45350</c:v>
                </c:pt>
                <c:pt idx="560">
                  <c:v>45351</c:v>
                </c:pt>
                <c:pt idx="561">
                  <c:v>45352</c:v>
                </c:pt>
                <c:pt idx="562">
                  <c:v>45355</c:v>
                </c:pt>
                <c:pt idx="563">
                  <c:v>45356</c:v>
                </c:pt>
                <c:pt idx="564">
                  <c:v>45357</c:v>
                </c:pt>
                <c:pt idx="565">
                  <c:v>45358</c:v>
                </c:pt>
                <c:pt idx="566">
                  <c:v>45359</c:v>
                </c:pt>
                <c:pt idx="567">
                  <c:v>45362</c:v>
                </c:pt>
                <c:pt idx="568">
                  <c:v>45363</c:v>
                </c:pt>
                <c:pt idx="569">
                  <c:v>45364</c:v>
                </c:pt>
                <c:pt idx="570">
                  <c:v>45365</c:v>
                </c:pt>
                <c:pt idx="571">
                  <c:v>45366</c:v>
                </c:pt>
                <c:pt idx="572">
                  <c:v>45369</c:v>
                </c:pt>
                <c:pt idx="573">
                  <c:v>45370</c:v>
                </c:pt>
                <c:pt idx="574">
                  <c:v>45371</c:v>
                </c:pt>
                <c:pt idx="575">
                  <c:v>45372</c:v>
                </c:pt>
                <c:pt idx="576">
                  <c:v>45373</c:v>
                </c:pt>
                <c:pt idx="577">
                  <c:v>45376</c:v>
                </c:pt>
                <c:pt idx="578">
                  <c:v>45377</c:v>
                </c:pt>
                <c:pt idx="579">
                  <c:v>45378</c:v>
                </c:pt>
                <c:pt idx="580">
                  <c:v>45379</c:v>
                </c:pt>
                <c:pt idx="581">
                  <c:v>45383</c:v>
                </c:pt>
                <c:pt idx="582">
                  <c:v>45384</c:v>
                </c:pt>
                <c:pt idx="583">
                  <c:v>45385</c:v>
                </c:pt>
                <c:pt idx="584">
                  <c:v>45386</c:v>
                </c:pt>
                <c:pt idx="585">
                  <c:v>45387</c:v>
                </c:pt>
                <c:pt idx="586">
                  <c:v>45390</c:v>
                </c:pt>
                <c:pt idx="587">
                  <c:v>45391</c:v>
                </c:pt>
                <c:pt idx="588">
                  <c:v>45393</c:v>
                </c:pt>
                <c:pt idx="589">
                  <c:v>45394</c:v>
                </c:pt>
                <c:pt idx="590">
                  <c:v>45397</c:v>
                </c:pt>
                <c:pt idx="591">
                  <c:v>45398</c:v>
                </c:pt>
                <c:pt idx="592">
                  <c:v>45399</c:v>
                </c:pt>
                <c:pt idx="593">
                  <c:v>45400</c:v>
                </c:pt>
                <c:pt idx="594">
                  <c:v>45401</c:v>
                </c:pt>
                <c:pt idx="595">
                  <c:v>45404</c:v>
                </c:pt>
                <c:pt idx="596">
                  <c:v>45405</c:v>
                </c:pt>
                <c:pt idx="597">
                  <c:v>45406</c:v>
                </c:pt>
                <c:pt idx="598">
                  <c:v>45407</c:v>
                </c:pt>
                <c:pt idx="599">
                  <c:v>45408</c:v>
                </c:pt>
                <c:pt idx="600">
                  <c:v>45411</c:v>
                </c:pt>
                <c:pt idx="601">
                  <c:v>45412</c:v>
                </c:pt>
                <c:pt idx="602">
                  <c:v>45414</c:v>
                </c:pt>
                <c:pt idx="603">
                  <c:v>45415</c:v>
                </c:pt>
                <c:pt idx="604">
                  <c:v>45418</c:v>
                </c:pt>
                <c:pt idx="605">
                  <c:v>45419</c:v>
                </c:pt>
                <c:pt idx="606">
                  <c:v>45420</c:v>
                </c:pt>
                <c:pt idx="607">
                  <c:v>45421</c:v>
                </c:pt>
                <c:pt idx="608">
                  <c:v>45422</c:v>
                </c:pt>
                <c:pt idx="609">
                  <c:v>45425</c:v>
                </c:pt>
                <c:pt idx="610">
                  <c:v>45426</c:v>
                </c:pt>
                <c:pt idx="611">
                  <c:v>45427</c:v>
                </c:pt>
                <c:pt idx="612">
                  <c:v>45428</c:v>
                </c:pt>
                <c:pt idx="613">
                  <c:v>45429</c:v>
                </c:pt>
                <c:pt idx="614">
                  <c:v>45432</c:v>
                </c:pt>
                <c:pt idx="615">
                  <c:v>45433</c:v>
                </c:pt>
                <c:pt idx="616">
                  <c:v>45435</c:v>
                </c:pt>
                <c:pt idx="617">
                  <c:v>45436</c:v>
                </c:pt>
                <c:pt idx="618">
                  <c:v>45439</c:v>
                </c:pt>
                <c:pt idx="619">
                  <c:v>45440</c:v>
                </c:pt>
                <c:pt idx="620">
                  <c:v>45441</c:v>
                </c:pt>
                <c:pt idx="621">
                  <c:v>45442</c:v>
                </c:pt>
                <c:pt idx="622">
                  <c:v>45443</c:v>
                </c:pt>
                <c:pt idx="623">
                  <c:v>45446</c:v>
                </c:pt>
                <c:pt idx="624">
                  <c:v>45447</c:v>
                </c:pt>
                <c:pt idx="625">
                  <c:v>45448</c:v>
                </c:pt>
                <c:pt idx="626">
                  <c:v>45449</c:v>
                </c:pt>
                <c:pt idx="627">
                  <c:v>45450</c:v>
                </c:pt>
                <c:pt idx="628">
                  <c:v>45453</c:v>
                </c:pt>
                <c:pt idx="629">
                  <c:v>45454</c:v>
                </c:pt>
                <c:pt idx="630">
                  <c:v>45455</c:v>
                </c:pt>
                <c:pt idx="631">
                  <c:v>45456</c:v>
                </c:pt>
                <c:pt idx="632">
                  <c:v>45457</c:v>
                </c:pt>
                <c:pt idx="633">
                  <c:v>45461</c:v>
                </c:pt>
                <c:pt idx="634">
                  <c:v>45462</c:v>
                </c:pt>
                <c:pt idx="635">
                  <c:v>45463</c:v>
                </c:pt>
                <c:pt idx="636">
                  <c:v>45464</c:v>
                </c:pt>
                <c:pt idx="637">
                  <c:v>45467</c:v>
                </c:pt>
                <c:pt idx="638">
                  <c:v>45468</c:v>
                </c:pt>
                <c:pt idx="639">
                  <c:v>45469</c:v>
                </c:pt>
                <c:pt idx="640">
                  <c:v>45470</c:v>
                </c:pt>
                <c:pt idx="641">
                  <c:v>45471</c:v>
                </c:pt>
                <c:pt idx="642">
                  <c:v>45474</c:v>
                </c:pt>
                <c:pt idx="643">
                  <c:v>45475</c:v>
                </c:pt>
                <c:pt idx="644">
                  <c:v>45476</c:v>
                </c:pt>
                <c:pt idx="645">
                  <c:v>45477</c:v>
                </c:pt>
                <c:pt idx="646">
                  <c:v>45478</c:v>
                </c:pt>
                <c:pt idx="647">
                  <c:v>45481</c:v>
                </c:pt>
                <c:pt idx="648">
                  <c:v>45482</c:v>
                </c:pt>
                <c:pt idx="649">
                  <c:v>45483</c:v>
                </c:pt>
                <c:pt idx="650">
                  <c:v>45484</c:v>
                </c:pt>
                <c:pt idx="651">
                  <c:v>45485</c:v>
                </c:pt>
                <c:pt idx="652">
                  <c:v>45488</c:v>
                </c:pt>
                <c:pt idx="653">
                  <c:v>45489</c:v>
                </c:pt>
                <c:pt idx="654">
                  <c:v>45490</c:v>
                </c:pt>
                <c:pt idx="655">
                  <c:v>45491</c:v>
                </c:pt>
                <c:pt idx="656">
                  <c:v>45492</c:v>
                </c:pt>
                <c:pt idx="657">
                  <c:v>45495</c:v>
                </c:pt>
                <c:pt idx="658">
                  <c:v>45496</c:v>
                </c:pt>
                <c:pt idx="659">
                  <c:v>45497</c:v>
                </c:pt>
                <c:pt idx="660">
                  <c:v>45498</c:v>
                </c:pt>
                <c:pt idx="661">
                  <c:v>45499</c:v>
                </c:pt>
                <c:pt idx="662">
                  <c:v>45502</c:v>
                </c:pt>
                <c:pt idx="663">
                  <c:v>45503</c:v>
                </c:pt>
                <c:pt idx="664">
                  <c:v>45504</c:v>
                </c:pt>
                <c:pt idx="665">
                  <c:v>45505</c:v>
                </c:pt>
                <c:pt idx="666">
                  <c:v>45506</c:v>
                </c:pt>
                <c:pt idx="667">
                  <c:v>45509</c:v>
                </c:pt>
                <c:pt idx="668">
                  <c:v>45510</c:v>
                </c:pt>
                <c:pt idx="669">
                  <c:v>45511</c:v>
                </c:pt>
                <c:pt idx="670">
                  <c:v>45512</c:v>
                </c:pt>
                <c:pt idx="671">
                  <c:v>45516</c:v>
                </c:pt>
                <c:pt idx="672">
                  <c:v>45517</c:v>
                </c:pt>
                <c:pt idx="673">
                  <c:v>45518</c:v>
                </c:pt>
                <c:pt idx="674">
                  <c:v>45519</c:v>
                </c:pt>
                <c:pt idx="675">
                  <c:v>45520</c:v>
                </c:pt>
                <c:pt idx="676">
                  <c:v>45523</c:v>
                </c:pt>
                <c:pt idx="677">
                  <c:v>45524</c:v>
                </c:pt>
                <c:pt idx="678">
                  <c:v>45525</c:v>
                </c:pt>
                <c:pt idx="679">
                  <c:v>45526</c:v>
                </c:pt>
                <c:pt idx="680">
                  <c:v>45527</c:v>
                </c:pt>
                <c:pt idx="681">
                  <c:v>45530</c:v>
                </c:pt>
                <c:pt idx="682">
                  <c:v>45531</c:v>
                </c:pt>
                <c:pt idx="683">
                  <c:v>45532</c:v>
                </c:pt>
                <c:pt idx="684">
                  <c:v>45533</c:v>
                </c:pt>
                <c:pt idx="685">
                  <c:v>45534</c:v>
                </c:pt>
                <c:pt idx="686">
                  <c:v>45537</c:v>
                </c:pt>
                <c:pt idx="687">
                  <c:v>45538</c:v>
                </c:pt>
                <c:pt idx="688">
                  <c:v>45539</c:v>
                </c:pt>
                <c:pt idx="689">
                  <c:v>45540</c:v>
                </c:pt>
                <c:pt idx="690">
                  <c:v>45541</c:v>
                </c:pt>
                <c:pt idx="691">
                  <c:v>45544</c:v>
                </c:pt>
                <c:pt idx="692">
                  <c:v>45545</c:v>
                </c:pt>
                <c:pt idx="693">
                  <c:v>45546</c:v>
                </c:pt>
                <c:pt idx="694">
                  <c:v>45547</c:v>
                </c:pt>
                <c:pt idx="695">
                  <c:v>45548</c:v>
                </c:pt>
                <c:pt idx="696">
                  <c:v>45551</c:v>
                </c:pt>
                <c:pt idx="697">
                  <c:v>45552</c:v>
                </c:pt>
                <c:pt idx="698">
                  <c:v>45553</c:v>
                </c:pt>
                <c:pt idx="699">
                  <c:v>45554</c:v>
                </c:pt>
                <c:pt idx="700">
                  <c:v>45555</c:v>
                </c:pt>
                <c:pt idx="701">
                  <c:v>45558</c:v>
                </c:pt>
                <c:pt idx="702">
                  <c:v>45559</c:v>
                </c:pt>
                <c:pt idx="703">
                  <c:v>45560</c:v>
                </c:pt>
                <c:pt idx="704">
                  <c:v>45561</c:v>
                </c:pt>
                <c:pt idx="705">
                  <c:v>45562</c:v>
                </c:pt>
                <c:pt idx="706">
                  <c:v>45565</c:v>
                </c:pt>
                <c:pt idx="707">
                  <c:v>45566</c:v>
                </c:pt>
                <c:pt idx="708">
                  <c:v>45567</c:v>
                </c:pt>
                <c:pt idx="709">
                  <c:v>45568</c:v>
                </c:pt>
                <c:pt idx="710">
                  <c:v>45569</c:v>
                </c:pt>
                <c:pt idx="711">
                  <c:v>45572</c:v>
                </c:pt>
                <c:pt idx="712">
                  <c:v>45573</c:v>
                </c:pt>
                <c:pt idx="713">
                  <c:v>45574</c:v>
                </c:pt>
                <c:pt idx="714">
                  <c:v>45575</c:v>
                </c:pt>
                <c:pt idx="715">
                  <c:v>45576</c:v>
                </c:pt>
                <c:pt idx="716">
                  <c:v>45579</c:v>
                </c:pt>
                <c:pt idx="717">
                  <c:v>45580</c:v>
                </c:pt>
                <c:pt idx="718">
                  <c:v>45581</c:v>
                </c:pt>
                <c:pt idx="719">
                  <c:v>45582</c:v>
                </c:pt>
                <c:pt idx="720">
                  <c:v>45583</c:v>
                </c:pt>
                <c:pt idx="721">
                  <c:v>45586</c:v>
                </c:pt>
                <c:pt idx="722">
                  <c:v>45587</c:v>
                </c:pt>
                <c:pt idx="723">
                  <c:v>45588</c:v>
                </c:pt>
                <c:pt idx="724">
                  <c:v>45589</c:v>
                </c:pt>
                <c:pt idx="725">
                  <c:v>45590</c:v>
                </c:pt>
                <c:pt idx="726">
                  <c:v>45593</c:v>
                </c:pt>
                <c:pt idx="727">
                  <c:v>45594</c:v>
                </c:pt>
                <c:pt idx="728">
                  <c:v>45595</c:v>
                </c:pt>
                <c:pt idx="729">
                  <c:v>45597</c:v>
                </c:pt>
                <c:pt idx="730">
                  <c:v>45600</c:v>
                </c:pt>
                <c:pt idx="731">
                  <c:v>45601</c:v>
                </c:pt>
                <c:pt idx="732">
                  <c:v>45602</c:v>
                </c:pt>
                <c:pt idx="733">
                  <c:v>45603</c:v>
                </c:pt>
                <c:pt idx="734">
                  <c:v>45604</c:v>
                </c:pt>
                <c:pt idx="735">
                  <c:v>45607</c:v>
                </c:pt>
                <c:pt idx="736">
                  <c:v>45608</c:v>
                </c:pt>
                <c:pt idx="737">
                  <c:v>45609</c:v>
                </c:pt>
                <c:pt idx="738">
                  <c:v>45610</c:v>
                </c:pt>
                <c:pt idx="739">
                  <c:v>45611</c:v>
                </c:pt>
                <c:pt idx="740">
                  <c:v>45614</c:v>
                </c:pt>
                <c:pt idx="741">
                  <c:v>45615</c:v>
                </c:pt>
                <c:pt idx="742">
                  <c:v>45616</c:v>
                </c:pt>
                <c:pt idx="743">
                  <c:v>45617</c:v>
                </c:pt>
                <c:pt idx="744">
                  <c:v>45618</c:v>
                </c:pt>
                <c:pt idx="745">
                  <c:v>45621</c:v>
                </c:pt>
                <c:pt idx="746">
                  <c:v>45622</c:v>
                </c:pt>
                <c:pt idx="747">
                  <c:v>45623</c:v>
                </c:pt>
                <c:pt idx="748">
                  <c:v>45624</c:v>
                </c:pt>
                <c:pt idx="749">
                  <c:v>45625</c:v>
                </c:pt>
                <c:pt idx="750">
                  <c:v>45628</c:v>
                </c:pt>
                <c:pt idx="751">
                  <c:v>45629</c:v>
                </c:pt>
                <c:pt idx="752">
                  <c:v>45630</c:v>
                </c:pt>
                <c:pt idx="753">
                  <c:v>45631</c:v>
                </c:pt>
                <c:pt idx="754">
                  <c:v>45632</c:v>
                </c:pt>
                <c:pt idx="755">
                  <c:v>45635</c:v>
                </c:pt>
                <c:pt idx="756">
                  <c:v>45636</c:v>
                </c:pt>
                <c:pt idx="757">
                  <c:v>45637</c:v>
                </c:pt>
                <c:pt idx="758">
                  <c:v>45638</c:v>
                </c:pt>
                <c:pt idx="759">
                  <c:v>45639</c:v>
                </c:pt>
                <c:pt idx="760">
                  <c:v>45642</c:v>
                </c:pt>
                <c:pt idx="761">
                  <c:v>45643</c:v>
                </c:pt>
                <c:pt idx="762">
                  <c:v>45644</c:v>
                </c:pt>
                <c:pt idx="763">
                  <c:v>45645</c:v>
                </c:pt>
                <c:pt idx="764">
                  <c:v>45646</c:v>
                </c:pt>
                <c:pt idx="765">
                  <c:v>45649</c:v>
                </c:pt>
                <c:pt idx="766">
                  <c:v>45650</c:v>
                </c:pt>
                <c:pt idx="767">
                  <c:v>45652</c:v>
                </c:pt>
                <c:pt idx="768">
                  <c:v>45653</c:v>
                </c:pt>
                <c:pt idx="769">
                  <c:v>45656</c:v>
                </c:pt>
                <c:pt idx="770">
                  <c:v>45657</c:v>
                </c:pt>
                <c:pt idx="771">
                  <c:v>45659</c:v>
                </c:pt>
                <c:pt idx="772">
                  <c:v>45660</c:v>
                </c:pt>
                <c:pt idx="773">
                  <c:v>45663</c:v>
                </c:pt>
                <c:pt idx="774">
                  <c:v>45664</c:v>
                </c:pt>
                <c:pt idx="775">
                  <c:v>45665</c:v>
                </c:pt>
                <c:pt idx="776">
                  <c:v>45666</c:v>
                </c:pt>
                <c:pt idx="777">
                  <c:v>45667</c:v>
                </c:pt>
                <c:pt idx="778">
                  <c:v>45670</c:v>
                </c:pt>
                <c:pt idx="779">
                  <c:v>45671</c:v>
                </c:pt>
                <c:pt idx="780">
                  <c:v>45672</c:v>
                </c:pt>
                <c:pt idx="781">
                  <c:v>45673</c:v>
                </c:pt>
                <c:pt idx="782">
                  <c:v>45674</c:v>
                </c:pt>
                <c:pt idx="783">
                  <c:v>45677</c:v>
                </c:pt>
                <c:pt idx="784">
                  <c:v>45678</c:v>
                </c:pt>
                <c:pt idx="785">
                  <c:v>45679</c:v>
                </c:pt>
                <c:pt idx="786">
                  <c:v>45680</c:v>
                </c:pt>
                <c:pt idx="787">
                  <c:v>45681</c:v>
                </c:pt>
                <c:pt idx="788">
                  <c:v>45684</c:v>
                </c:pt>
                <c:pt idx="789">
                  <c:v>45685</c:v>
                </c:pt>
                <c:pt idx="790">
                  <c:v>45688</c:v>
                </c:pt>
                <c:pt idx="791">
                  <c:v>45691</c:v>
                </c:pt>
                <c:pt idx="792">
                  <c:v>45692</c:v>
                </c:pt>
                <c:pt idx="793">
                  <c:v>45693</c:v>
                </c:pt>
                <c:pt idx="794">
                  <c:v>45694</c:v>
                </c:pt>
                <c:pt idx="795">
                  <c:v>45695</c:v>
                </c:pt>
                <c:pt idx="796">
                  <c:v>45698</c:v>
                </c:pt>
                <c:pt idx="797">
                  <c:v>45699</c:v>
                </c:pt>
                <c:pt idx="798">
                  <c:v>45700</c:v>
                </c:pt>
                <c:pt idx="799">
                  <c:v>45701</c:v>
                </c:pt>
                <c:pt idx="800">
                  <c:v>45702</c:v>
                </c:pt>
                <c:pt idx="801">
                  <c:v>45705</c:v>
                </c:pt>
                <c:pt idx="802">
                  <c:v>45706</c:v>
                </c:pt>
                <c:pt idx="803">
                  <c:v>45707</c:v>
                </c:pt>
                <c:pt idx="804">
                  <c:v>45708</c:v>
                </c:pt>
                <c:pt idx="805">
                  <c:v>45709</c:v>
                </c:pt>
                <c:pt idx="806">
                  <c:v>45712</c:v>
                </c:pt>
                <c:pt idx="807">
                  <c:v>45713</c:v>
                </c:pt>
                <c:pt idx="808">
                  <c:v>45714</c:v>
                </c:pt>
                <c:pt idx="809">
                  <c:v>45715</c:v>
                </c:pt>
                <c:pt idx="810">
                  <c:v>45716</c:v>
                </c:pt>
                <c:pt idx="811">
                  <c:v>45719</c:v>
                </c:pt>
                <c:pt idx="812">
                  <c:v>45720</c:v>
                </c:pt>
                <c:pt idx="813">
                  <c:v>45721</c:v>
                </c:pt>
                <c:pt idx="814">
                  <c:v>45722</c:v>
                </c:pt>
                <c:pt idx="815">
                  <c:v>45723</c:v>
                </c:pt>
                <c:pt idx="816">
                  <c:v>45726</c:v>
                </c:pt>
                <c:pt idx="817">
                  <c:v>45727</c:v>
                </c:pt>
                <c:pt idx="818">
                  <c:v>45728</c:v>
                </c:pt>
                <c:pt idx="819">
                  <c:v>45729</c:v>
                </c:pt>
                <c:pt idx="820">
                  <c:v>45730</c:v>
                </c:pt>
                <c:pt idx="821">
                  <c:v>45733</c:v>
                </c:pt>
                <c:pt idx="822">
                  <c:v>45734</c:v>
                </c:pt>
                <c:pt idx="823">
                  <c:v>45735</c:v>
                </c:pt>
                <c:pt idx="824">
                  <c:v>45736</c:v>
                </c:pt>
                <c:pt idx="825">
                  <c:v>45737</c:v>
                </c:pt>
                <c:pt idx="826">
                  <c:v>45740</c:v>
                </c:pt>
                <c:pt idx="827">
                  <c:v>45741</c:v>
                </c:pt>
                <c:pt idx="828">
                  <c:v>45742</c:v>
                </c:pt>
                <c:pt idx="829">
                  <c:v>45743</c:v>
                </c:pt>
                <c:pt idx="830">
                  <c:v>45744</c:v>
                </c:pt>
                <c:pt idx="831">
                  <c:v>45748</c:v>
                </c:pt>
                <c:pt idx="832">
                  <c:v>45749</c:v>
                </c:pt>
                <c:pt idx="833">
                  <c:v>45750</c:v>
                </c:pt>
                <c:pt idx="834">
                  <c:v>45751</c:v>
                </c:pt>
                <c:pt idx="835">
                  <c:v>45754</c:v>
                </c:pt>
                <c:pt idx="836">
                  <c:v>45755</c:v>
                </c:pt>
                <c:pt idx="837">
                  <c:v>45756</c:v>
                </c:pt>
                <c:pt idx="838">
                  <c:v>45757</c:v>
                </c:pt>
                <c:pt idx="839">
                  <c:v>45758</c:v>
                </c:pt>
                <c:pt idx="840">
                  <c:v>45761</c:v>
                </c:pt>
                <c:pt idx="841">
                  <c:v>45762</c:v>
                </c:pt>
                <c:pt idx="842">
                  <c:v>45763</c:v>
                </c:pt>
                <c:pt idx="843">
                  <c:v>45764</c:v>
                </c:pt>
                <c:pt idx="844">
                  <c:v>45768</c:v>
                </c:pt>
                <c:pt idx="845">
                  <c:v>45769</c:v>
                </c:pt>
                <c:pt idx="846">
                  <c:v>45770</c:v>
                </c:pt>
                <c:pt idx="847">
                  <c:v>45771</c:v>
                </c:pt>
                <c:pt idx="848">
                  <c:v>45772</c:v>
                </c:pt>
                <c:pt idx="849">
                  <c:v>45775</c:v>
                </c:pt>
                <c:pt idx="850">
                  <c:v>45776</c:v>
                </c:pt>
                <c:pt idx="851">
                  <c:v>45777</c:v>
                </c:pt>
                <c:pt idx="852">
                  <c:v>45779</c:v>
                </c:pt>
                <c:pt idx="853">
                  <c:v>45782</c:v>
                </c:pt>
                <c:pt idx="854">
                  <c:v>45783</c:v>
                </c:pt>
                <c:pt idx="855">
                  <c:v>45784</c:v>
                </c:pt>
                <c:pt idx="856">
                  <c:v>45785</c:v>
                </c:pt>
                <c:pt idx="857">
                  <c:v>45786</c:v>
                </c:pt>
                <c:pt idx="858">
                  <c:v>45790</c:v>
                </c:pt>
                <c:pt idx="859">
                  <c:v>45791</c:v>
                </c:pt>
                <c:pt idx="860">
                  <c:v>45792</c:v>
                </c:pt>
                <c:pt idx="861">
                  <c:v>45793</c:v>
                </c:pt>
                <c:pt idx="862">
                  <c:v>45796</c:v>
                </c:pt>
                <c:pt idx="863">
                  <c:v>45797</c:v>
                </c:pt>
                <c:pt idx="864">
                  <c:v>45798</c:v>
                </c:pt>
                <c:pt idx="865">
                  <c:v>45799</c:v>
                </c:pt>
                <c:pt idx="866">
                  <c:v>45800</c:v>
                </c:pt>
                <c:pt idx="867">
                  <c:v>45803</c:v>
                </c:pt>
                <c:pt idx="868">
                  <c:v>45804</c:v>
                </c:pt>
                <c:pt idx="869">
                  <c:v>45805</c:v>
                </c:pt>
                <c:pt idx="870">
                  <c:v>45806</c:v>
                </c:pt>
                <c:pt idx="871">
                  <c:v>45807</c:v>
                </c:pt>
                <c:pt idx="872">
                  <c:v>45810</c:v>
                </c:pt>
                <c:pt idx="873">
                  <c:v>45811</c:v>
                </c:pt>
                <c:pt idx="874">
                  <c:v>45812</c:v>
                </c:pt>
                <c:pt idx="875">
                  <c:v>45813</c:v>
                </c:pt>
                <c:pt idx="876">
                  <c:v>45814</c:v>
                </c:pt>
                <c:pt idx="877">
                  <c:v>45817</c:v>
                </c:pt>
                <c:pt idx="878">
                  <c:v>45818</c:v>
                </c:pt>
                <c:pt idx="879">
                  <c:v>45819</c:v>
                </c:pt>
                <c:pt idx="880">
                  <c:v>45820</c:v>
                </c:pt>
                <c:pt idx="881">
                  <c:v>45821</c:v>
                </c:pt>
                <c:pt idx="882">
                  <c:v>45824</c:v>
                </c:pt>
                <c:pt idx="883">
                  <c:v>45825</c:v>
                </c:pt>
                <c:pt idx="884">
                  <c:v>45826</c:v>
                </c:pt>
                <c:pt idx="885">
                  <c:v>45827</c:v>
                </c:pt>
                <c:pt idx="886">
                  <c:v>45828</c:v>
                </c:pt>
                <c:pt idx="887">
                  <c:v>45831</c:v>
                </c:pt>
                <c:pt idx="888">
                  <c:v>45832</c:v>
                </c:pt>
                <c:pt idx="889">
                  <c:v>45833</c:v>
                </c:pt>
                <c:pt idx="890">
                  <c:v>45834</c:v>
                </c:pt>
                <c:pt idx="891">
                  <c:v>45835</c:v>
                </c:pt>
                <c:pt idx="892">
                  <c:v>45838</c:v>
                </c:pt>
                <c:pt idx="893">
                  <c:v>45839</c:v>
                </c:pt>
                <c:pt idx="894">
                  <c:v>45840</c:v>
                </c:pt>
                <c:pt idx="895">
                  <c:v>45841</c:v>
                </c:pt>
                <c:pt idx="896">
                  <c:v>45842</c:v>
                </c:pt>
                <c:pt idx="897">
                  <c:v>45845</c:v>
                </c:pt>
                <c:pt idx="898">
                  <c:v>45846</c:v>
                </c:pt>
                <c:pt idx="899">
                  <c:v>45847</c:v>
                </c:pt>
                <c:pt idx="900">
                  <c:v>45848</c:v>
                </c:pt>
                <c:pt idx="901">
                  <c:v>45849</c:v>
                </c:pt>
                <c:pt idx="902">
                  <c:v>45852</c:v>
                </c:pt>
                <c:pt idx="903">
                  <c:v>45853</c:v>
                </c:pt>
                <c:pt idx="904">
                  <c:v>45854</c:v>
                </c:pt>
                <c:pt idx="905">
                  <c:v>45855</c:v>
                </c:pt>
                <c:pt idx="906">
                  <c:v>45856</c:v>
                </c:pt>
                <c:pt idx="907">
                  <c:v>45859</c:v>
                </c:pt>
                <c:pt idx="908">
                  <c:v>45860</c:v>
                </c:pt>
                <c:pt idx="909">
                  <c:v>45861</c:v>
                </c:pt>
                <c:pt idx="910">
                  <c:v>45862</c:v>
                </c:pt>
                <c:pt idx="911">
                  <c:v>45863</c:v>
                </c:pt>
                <c:pt idx="912">
                  <c:v>45866</c:v>
                </c:pt>
                <c:pt idx="913">
                  <c:v>45867</c:v>
                </c:pt>
                <c:pt idx="914">
                  <c:v>45868</c:v>
                </c:pt>
                <c:pt idx="915">
                  <c:v>45869</c:v>
                </c:pt>
                <c:pt idx="916">
                  <c:v>45870</c:v>
                </c:pt>
                <c:pt idx="917">
                  <c:v>45873</c:v>
                </c:pt>
                <c:pt idx="918">
                  <c:v>45874</c:v>
                </c:pt>
                <c:pt idx="919">
                  <c:v>45875</c:v>
                </c:pt>
                <c:pt idx="920">
                  <c:v>45876</c:v>
                </c:pt>
                <c:pt idx="921">
                  <c:v>45877</c:v>
                </c:pt>
                <c:pt idx="922">
                  <c:v>45880</c:v>
                </c:pt>
                <c:pt idx="923">
                  <c:v>45881</c:v>
                </c:pt>
                <c:pt idx="924">
                  <c:v>45882</c:v>
                </c:pt>
                <c:pt idx="925">
                  <c:v>45883</c:v>
                </c:pt>
                <c:pt idx="926">
                  <c:v>45884</c:v>
                </c:pt>
                <c:pt idx="927">
                  <c:v>45887</c:v>
                </c:pt>
                <c:pt idx="928">
                  <c:v>45888</c:v>
                </c:pt>
                <c:pt idx="929">
                  <c:v>45889</c:v>
                </c:pt>
                <c:pt idx="930">
                  <c:v>45890</c:v>
                </c:pt>
                <c:pt idx="931">
                  <c:v>45891</c:v>
                </c:pt>
                <c:pt idx="932">
                  <c:v>45894</c:v>
                </c:pt>
                <c:pt idx="933">
                  <c:v>45895</c:v>
                </c:pt>
                <c:pt idx="934">
                  <c:v>45896</c:v>
                </c:pt>
                <c:pt idx="935">
                  <c:v>45897</c:v>
                </c:pt>
                <c:pt idx="936">
                  <c:v>45898</c:v>
                </c:pt>
                <c:pt idx="937">
                  <c:v>45901</c:v>
                </c:pt>
                <c:pt idx="938">
                  <c:v>45902</c:v>
                </c:pt>
                <c:pt idx="939">
                  <c:v>45903</c:v>
                </c:pt>
                <c:pt idx="940">
                  <c:v>45904</c:v>
                </c:pt>
                <c:pt idx="941">
                  <c:v>45905</c:v>
                </c:pt>
                <c:pt idx="942">
                  <c:v>45908</c:v>
                </c:pt>
                <c:pt idx="943">
                  <c:v>45909</c:v>
                </c:pt>
                <c:pt idx="944">
                  <c:v>45910</c:v>
                </c:pt>
                <c:pt idx="945">
                  <c:v>45911</c:v>
                </c:pt>
                <c:pt idx="946">
                  <c:v>45912</c:v>
                </c:pt>
                <c:pt idx="947">
                  <c:v>45915</c:v>
                </c:pt>
                <c:pt idx="948">
                  <c:v>45916</c:v>
                </c:pt>
                <c:pt idx="949">
                  <c:v>45917</c:v>
                </c:pt>
                <c:pt idx="950">
                  <c:v>45918</c:v>
                </c:pt>
                <c:pt idx="951">
                  <c:v>45919</c:v>
                </c:pt>
                <c:pt idx="952">
                  <c:v>45922</c:v>
                </c:pt>
                <c:pt idx="953">
                  <c:v>45923</c:v>
                </c:pt>
                <c:pt idx="954">
                  <c:v>45924</c:v>
                </c:pt>
                <c:pt idx="955">
                  <c:v>45925</c:v>
                </c:pt>
                <c:pt idx="956">
                  <c:v>45926</c:v>
                </c:pt>
                <c:pt idx="957">
                  <c:v>45929</c:v>
                </c:pt>
                <c:pt idx="958">
                  <c:v>45930</c:v>
                </c:pt>
                <c:pt idx="959">
                  <c:v>45931</c:v>
                </c:pt>
                <c:pt idx="960">
                  <c:v>45932</c:v>
                </c:pt>
                <c:pt idx="961">
                  <c:v>45933</c:v>
                </c:pt>
                <c:pt idx="962">
                  <c:v>45936</c:v>
                </c:pt>
                <c:pt idx="963">
                  <c:v>45937</c:v>
                </c:pt>
                <c:pt idx="964">
                  <c:v>45938</c:v>
                </c:pt>
                <c:pt idx="965">
                  <c:v>45939</c:v>
                </c:pt>
                <c:pt idx="966">
                  <c:v>45940</c:v>
                </c:pt>
                <c:pt idx="967">
                  <c:v>45943</c:v>
                </c:pt>
                <c:pt idx="968">
                  <c:v>45944</c:v>
                </c:pt>
                <c:pt idx="969">
                  <c:v>45945</c:v>
                </c:pt>
                <c:pt idx="970">
                  <c:v>45946</c:v>
                </c:pt>
                <c:pt idx="971">
                  <c:v>45947</c:v>
                </c:pt>
                <c:pt idx="972">
                  <c:v>45951</c:v>
                </c:pt>
                <c:pt idx="973">
                  <c:v>45952</c:v>
                </c:pt>
                <c:pt idx="974">
                  <c:v>45953</c:v>
                </c:pt>
                <c:pt idx="975">
                  <c:v>45954</c:v>
                </c:pt>
                <c:pt idx="976">
                  <c:v>45957</c:v>
                </c:pt>
                <c:pt idx="977">
                  <c:v>45958</c:v>
                </c:pt>
                <c:pt idx="978">
                  <c:v>45959</c:v>
                </c:pt>
                <c:pt idx="979">
                  <c:v>45960</c:v>
                </c:pt>
                <c:pt idx="980">
                  <c:v>45961</c:v>
                </c:pt>
                <c:pt idx="981">
                  <c:v>45964</c:v>
                </c:pt>
                <c:pt idx="982">
                  <c:v>45965</c:v>
                </c:pt>
                <c:pt idx="983">
                  <c:v>45966</c:v>
                </c:pt>
                <c:pt idx="984">
                  <c:v>45967</c:v>
                </c:pt>
                <c:pt idx="985">
                  <c:v>45968</c:v>
                </c:pt>
                <c:pt idx="986">
                  <c:v>45971</c:v>
                </c:pt>
                <c:pt idx="987">
                  <c:v>45972</c:v>
                </c:pt>
                <c:pt idx="988">
                  <c:v>45973</c:v>
                </c:pt>
                <c:pt idx="989">
                  <c:v>45974</c:v>
                </c:pt>
                <c:pt idx="990">
                  <c:v>45975</c:v>
                </c:pt>
                <c:pt idx="991">
                  <c:v>45978</c:v>
                </c:pt>
                <c:pt idx="992">
                  <c:v>45979</c:v>
                </c:pt>
                <c:pt idx="993">
                  <c:v>45980</c:v>
                </c:pt>
                <c:pt idx="994">
                  <c:v>45981</c:v>
                </c:pt>
                <c:pt idx="995">
                  <c:v>45982</c:v>
                </c:pt>
                <c:pt idx="996">
                  <c:v>45985</c:v>
                </c:pt>
                <c:pt idx="997">
                  <c:v>45986</c:v>
                </c:pt>
                <c:pt idx="998">
                  <c:v>45987</c:v>
                </c:pt>
                <c:pt idx="999">
                  <c:v>45988</c:v>
                </c:pt>
                <c:pt idx="1000">
                  <c:v>45989</c:v>
                </c:pt>
                <c:pt idx="1001">
                  <c:v>45992</c:v>
                </c:pt>
                <c:pt idx="1002">
                  <c:v>45993</c:v>
                </c:pt>
                <c:pt idx="1003">
                  <c:v>45994</c:v>
                </c:pt>
                <c:pt idx="1004">
                  <c:v>45995</c:v>
                </c:pt>
                <c:pt idx="1005">
                  <c:v>45996</c:v>
                </c:pt>
                <c:pt idx="1006">
                  <c:v>45999</c:v>
                </c:pt>
                <c:pt idx="1007">
                  <c:v>46000</c:v>
                </c:pt>
                <c:pt idx="1008">
                  <c:v>46001</c:v>
                </c:pt>
                <c:pt idx="1009">
                  <c:v>46002</c:v>
                </c:pt>
                <c:pt idx="1010">
                  <c:v>46003</c:v>
                </c:pt>
                <c:pt idx="1011">
                  <c:v>46006</c:v>
                </c:pt>
                <c:pt idx="1012">
                  <c:v>46007</c:v>
                </c:pt>
                <c:pt idx="1013">
                  <c:v>46008</c:v>
                </c:pt>
                <c:pt idx="1014">
                  <c:v>46009</c:v>
                </c:pt>
                <c:pt idx="1015">
                  <c:v>46010</c:v>
                </c:pt>
                <c:pt idx="1016">
                  <c:v>46013</c:v>
                </c:pt>
                <c:pt idx="1017">
                  <c:v>46014</c:v>
                </c:pt>
                <c:pt idx="1018">
                  <c:v>46015</c:v>
                </c:pt>
                <c:pt idx="1019">
                  <c:v>46017</c:v>
                </c:pt>
                <c:pt idx="1020">
                  <c:v>46020</c:v>
                </c:pt>
                <c:pt idx="1021">
                  <c:v>46021</c:v>
                </c:pt>
                <c:pt idx="1022">
                  <c:v>46022</c:v>
                </c:pt>
                <c:pt idx="1023">
                  <c:v>46024</c:v>
                </c:pt>
                <c:pt idx="1024">
                  <c:v>46027</c:v>
                </c:pt>
                <c:pt idx="1025">
                  <c:v>46028</c:v>
                </c:pt>
                <c:pt idx="1026">
                  <c:v>46029</c:v>
                </c:pt>
                <c:pt idx="1027">
                  <c:v>46030</c:v>
                </c:pt>
                <c:pt idx="1028">
                  <c:v>46031</c:v>
                </c:pt>
                <c:pt idx="1029">
                  <c:v>46034</c:v>
                </c:pt>
                <c:pt idx="1030">
                  <c:v>46035</c:v>
                </c:pt>
                <c:pt idx="1031">
                  <c:v>46036</c:v>
                </c:pt>
                <c:pt idx="1032">
                  <c:v>46037</c:v>
                </c:pt>
                <c:pt idx="1033">
                  <c:v>46038</c:v>
                </c:pt>
                <c:pt idx="1034">
                  <c:v>46041</c:v>
                </c:pt>
                <c:pt idx="1035">
                  <c:v>46042</c:v>
                </c:pt>
                <c:pt idx="1036">
                  <c:v>46043</c:v>
                </c:pt>
                <c:pt idx="1037">
                  <c:v>46044</c:v>
                </c:pt>
                <c:pt idx="1038">
                  <c:v>46045</c:v>
                </c:pt>
                <c:pt idx="1039">
                  <c:v>46048</c:v>
                </c:pt>
                <c:pt idx="1040">
                  <c:v>46049</c:v>
                </c:pt>
                <c:pt idx="1041">
                  <c:v>46050</c:v>
                </c:pt>
                <c:pt idx="1042">
                  <c:v>46051</c:v>
                </c:pt>
                <c:pt idx="1043">
                  <c:v>46052</c:v>
                </c:pt>
                <c:pt idx="1044">
                  <c:v>46055</c:v>
                </c:pt>
                <c:pt idx="1045">
                  <c:v>46056</c:v>
                </c:pt>
                <c:pt idx="1046">
                  <c:v>46057</c:v>
                </c:pt>
                <c:pt idx="1047">
                  <c:v>46058</c:v>
                </c:pt>
                <c:pt idx="1048">
                  <c:v>46059</c:v>
                </c:pt>
                <c:pt idx="1049">
                  <c:v>46062</c:v>
                </c:pt>
                <c:pt idx="1050">
                  <c:v>46063</c:v>
                </c:pt>
                <c:pt idx="1051">
                  <c:v>46064</c:v>
                </c:pt>
                <c:pt idx="1052">
                  <c:v>46065</c:v>
                </c:pt>
                <c:pt idx="1053">
                  <c:v>46066</c:v>
                </c:pt>
                <c:pt idx="1054">
                  <c:v>46069</c:v>
                </c:pt>
                <c:pt idx="1055">
                  <c:v>46072</c:v>
                </c:pt>
                <c:pt idx="1056">
                  <c:v>46073</c:v>
                </c:pt>
                <c:pt idx="1057">
                  <c:v>46076</c:v>
                </c:pt>
                <c:pt idx="1058">
                  <c:v>46077</c:v>
                </c:pt>
                <c:pt idx="1059">
                  <c:v>46078</c:v>
                </c:pt>
                <c:pt idx="1060">
                  <c:v>46079</c:v>
                </c:pt>
                <c:pt idx="1061">
                  <c:v>46080</c:v>
                </c:pt>
                <c:pt idx="1062">
                  <c:v>46083</c:v>
                </c:pt>
                <c:pt idx="1063">
                  <c:v>46084</c:v>
                </c:pt>
                <c:pt idx="1064">
                  <c:v>46085</c:v>
                </c:pt>
                <c:pt idx="1065">
                  <c:v>46086</c:v>
                </c:pt>
                <c:pt idx="1066">
                  <c:v>46087</c:v>
                </c:pt>
                <c:pt idx="1067">
                  <c:v>46090</c:v>
                </c:pt>
                <c:pt idx="1068">
                  <c:v>46091</c:v>
                </c:pt>
                <c:pt idx="1069">
                  <c:v>46092</c:v>
                </c:pt>
                <c:pt idx="1070">
                  <c:v>46093</c:v>
                </c:pt>
                <c:pt idx="1071">
                  <c:v>46094</c:v>
                </c:pt>
                <c:pt idx="1072">
                  <c:v>46097</c:v>
                </c:pt>
                <c:pt idx="1073">
                  <c:v>46098</c:v>
                </c:pt>
                <c:pt idx="1074">
                  <c:v>46099</c:v>
                </c:pt>
                <c:pt idx="1075">
                  <c:v>46100</c:v>
                </c:pt>
                <c:pt idx="1076">
                  <c:v>46101</c:v>
                </c:pt>
                <c:pt idx="1077">
                  <c:v>46104</c:v>
                </c:pt>
                <c:pt idx="1078">
                  <c:v>46105</c:v>
                </c:pt>
                <c:pt idx="1079">
                  <c:v>46106</c:v>
                </c:pt>
                <c:pt idx="1080">
                  <c:v>46107</c:v>
                </c:pt>
                <c:pt idx="1081">
                  <c:v>46108</c:v>
                </c:pt>
                <c:pt idx="1082">
                  <c:v>46111</c:v>
                </c:pt>
                <c:pt idx="1083">
                  <c:v>46112</c:v>
                </c:pt>
                <c:pt idx="1084">
                  <c:v>46113</c:v>
                </c:pt>
                <c:pt idx="1085">
                  <c:v>46114</c:v>
                </c:pt>
                <c:pt idx="1086">
                  <c:v>46118</c:v>
                </c:pt>
                <c:pt idx="1087">
                  <c:v>46119</c:v>
                </c:pt>
                <c:pt idx="1088">
                  <c:v>46120</c:v>
                </c:pt>
                <c:pt idx="1089">
                  <c:v>46121</c:v>
                </c:pt>
                <c:pt idx="1090">
                  <c:v>46122</c:v>
                </c:pt>
                <c:pt idx="1091">
                  <c:v>46125</c:v>
                </c:pt>
                <c:pt idx="1092">
                  <c:v>46126</c:v>
                </c:pt>
                <c:pt idx="1093">
                  <c:v>46127</c:v>
                </c:pt>
                <c:pt idx="1094">
                  <c:v>46128</c:v>
                </c:pt>
                <c:pt idx="1095">
                  <c:v>46129</c:v>
                </c:pt>
                <c:pt idx="1096">
                  <c:v>46132</c:v>
                </c:pt>
                <c:pt idx="1097">
                  <c:v>46133</c:v>
                </c:pt>
                <c:pt idx="1098">
                  <c:v>46134</c:v>
                </c:pt>
                <c:pt idx="1099">
                  <c:v>46135</c:v>
                </c:pt>
                <c:pt idx="1100">
                  <c:v>46136</c:v>
                </c:pt>
                <c:pt idx="1101">
                  <c:v>46139</c:v>
                </c:pt>
                <c:pt idx="1102">
                  <c:v>46140</c:v>
                </c:pt>
                <c:pt idx="1103">
                  <c:v>46141</c:v>
                </c:pt>
                <c:pt idx="1104">
                  <c:v>46142</c:v>
                </c:pt>
                <c:pt idx="1105">
                  <c:v>46146</c:v>
                </c:pt>
              </c:numCache>
            </c:numRef>
          </c:cat>
          <c:val>
            <c:numRef>
              <c:f>Sheet1!$B$2:$B$1107</c:f>
              <c:numCache>
                <c:formatCode>General</c:formatCode>
                <c:ptCount val="1106"/>
                <c:pt idx="0">
                  <c:v>1.01</c:v>
                </c:pt>
                <c:pt idx="1">
                  <c:v>1.1499999999999999</c:v>
                </c:pt>
                <c:pt idx="2">
                  <c:v>1.1299999999999999</c:v>
                </c:pt>
                <c:pt idx="3">
                  <c:v>1.1100000000000001</c:v>
                </c:pt>
                <c:pt idx="4">
                  <c:v>1.1499999999999999</c:v>
                </c:pt>
                <c:pt idx="5">
                  <c:v>1.1200000000000001</c:v>
                </c:pt>
                <c:pt idx="6">
                  <c:v>1.1000000000000001</c:v>
                </c:pt>
                <c:pt idx="7">
                  <c:v>1.1100000000000001</c:v>
                </c:pt>
                <c:pt idx="8">
                  <c:v>1.1399999999999999</c:v>
                </c:pt>
                <c:pt idx="9">
                  <c:v>1.1100000000000001</c:v>
                </c:pt>
                <c:pt idx="10">
                  <c:v>1.1100000000000001</c:v>
                </c:pt>
                <c:pt idx="11">
                  <c:v>1.1299999999999999</c:v>
                </c:pt>
                <c:pt idx="12">
                  <c:v>1.1499999999999999</c:v>
                </c:pt>
                <c:pt idx="13">
                  <c:v>1.1299999999999999</c:v>
                </c:pt>
                <c:pt idx="14">
                  <c:v>1.1499999999999999</c:v>
                </c:pt>
                <c:pt idx="15">
                  <c:v>1.1599999999999999</c:v>
                </c:pt>
                <c:pt idx="16">
                  <c:v>1.18</c:v>
                </c:pt>
                <c:pt idx="17">
                  <c:v>1.1599999999999999</c:v>
                </c:pt>
                <c:pt idx="18">
                  <c:v>1.1599999999999999</c:v>
                </c:pt>
                <c:pt idx="19">
                  <c:v>1.1599999999999999</c:v>
                </c:pt>
                <c:pt idx="20">
                  <c:v>1.18</c:v>
                </c:pt>
                <c:pt idx="21">
                  <c:v>1.18</c:v>
                </c:pt>
                <c:pt idx="22">
                  <c:v>1.18</c:v>
                </c:pt>
                <c:pt idx="23">
                  <c:v>1.17</c:v>
                </c:pt>
                <c:pt idx="24">
                  <c:v>1.17</c:v>
                </c:pt>
                <c:pt idx="25">
                  <c:v>1.1800001</c:v>
                </c:pt>
                <c:pt idx="26">
                  <c:v>1.19</c:v>
                </c:pt>
                <c:pt idx="27">
                  <c:v>1.19</c:v>
                </c:pt>
                <c:pt idx="28">
                  <c:v>1.1800001</c:v>
                </c:pt>
                <c:pt idx="29">
                  <c:v>1.1800001</c:v>
                </c:pt>
                <c:pt idx="30">
                  <c:v>1.2</c:v>
                </c:pt>
                <c:pt idx="31">
                  <c:v>1.17</c:v>
                </c:pt>
                <c:pt idx="32">
                  <c:v>1.19</c:v>
                </c:pt>
                <c:pt idx="33">
                  <c:v>1.1800001</c:v>
                </c:pt>
                <c:pt idx="34">
                  <c:v>1.17</c:v>
                </c:pt>
                <c:pt idx="35">
                  <c:v>1.1800001</c:v>
                </c:pt>
                <c:pt idx="36">
                  <c:v>1.1299999999999999</c:v>
                </c:pt>
                <c:pt idx="37">
                  <c:v>1.17</c:v>
                </c:pt>
                <c:pt idx="38">
                  <c:v>1.1800001</c:v>
                </c:pt>
                <c:pt idx="39">
                  <c:v>1.1499999999999999</c:v>
                </c:pt>
                <c:pt idx="40">
                  <c:v>1.17</c:v>
                </c:pt>
                <c:pt idx="41">
                  <c:v>1.1599999999999999</c:v>
                </c:pt>
                <c:pt idx="42">
                  <c:v>1.1499999999999999</c:v>
                </c:pt>
                <c:pt idx="43">
                  <c:v>1.1399999999999999</c:v>
                </c:pt>
                <c:pt idx="44">
                  <c:v>1.1200000000000001</c:v>
                </c:pt>
                <c:pt idx="45">
                  <c:v>1.1000000000000001</c:v>
                </c:pt>
                <c:pt idx="46">
                  <c:v>1.1200000000000001</c:v>
                </c:pt>
                <c:pt idx="47">
                  <c:v>1.1599999999999999</c:v>
                </c:pt>
                <c:pt idx="48">
                  <c:v>1.1299999999999999</c:v>
                </c:pt>
                <c:pt idx="49">
                  <c:v>1.1200000000000001</c:v>
                </c:pt>
                <c:pt idx="50">
                  <c:v>1.1499999999999999</c:v>
                </c:pt>
                <c:pt idx="51">
                  <c:v>1.1299999999999999</c:v>
                </c:pt>
                <c:pt idx="52">
                  <c:v>1.1599999999999999</c:v>
                </c:pt>
                <c:pt idx="53">
                  <c:v>1.1499999999999999</c:v>
                </c:pt>
                <c:pt idx="54">
                  <c:v>1.1499999999999999</c:v>
                </c:pt>
                <c:pt idx="55">
                  <c:v>1.1499999999999999</c:v>
                </c:pt>
                <c:pt idx="56">
                  <c:v>1.1000000000000001</c:v>
                </c:pt>
                <c:pt idx="57">
                  <c:v>1.0900000000000001</c:v>
                </c:pt>
                <c:pt idx="58">
                  <c:v>1.1200000000000001</c:v>
                </c:pt>
                <c:pt idx="59">
                  <c:v>1.1200000000000001</c:v>
                </c:pt>
                <c:pt idx="60">
                  <c:v>1.1399999999999999</c:v>
                </c:pt>
                <c:pt idx="61">
                  <c:v>1.1200000000000001</c:v>
                </c:pt>
                <c:pt idx="62">
                  <c:v>1.1200000000000001</c:v>
                </c:pt>
                <c:pt idx="63">
                  <c:v>1.1299999999999999</c:v>
                </c:pt>
                <c:pt idx="64">
                  <c:v>1.1200000000000001</c:v>
                </c:pt>
                <c:pt idx="65">
                  <c:v>1.1000000000000001</c:v>
                </c:pt>
                <c:pt idx="66">
                  <c:v>1.1200000000000001</c:v>
                </c:pt>
                <c:pt idx="67">
                  <c:v>1.1000000000000001</c:v>
                </c:pt>
                <c:pt idx="68">
                  <c:v>1.0900000000000001</c:v>
                </c:pt>
                <c:pt idx="69">
                  <c:v>1.07</c:v>
                </c:pt>
                <c:pt idx="70">
                  <c:v>1.06</c:v>
                </c:pt>
                <c:pt idx="71">
                  <c:v>1.0900000000000001</c:v>
                </c:pt>
                <c:pt idx="72">
                  <c:v>1.1599999999999999</c:v>
                </c:pt>
                <c:pt idx="73">
                  <c:v>1.1499999999999999</c:v>
                </c:pt>
                <c:pt idx="74">
                  <c:v>1.1100000000000001</c:v>
                </c:pt>
                <c:pt idx="75">
                  <c:v>1.1100000000000001</c:v>
                </c:pt>
                <c:pt idx="76">
                  <c:v>1.1100000000000001</c:v>
                </c:pt>
                <c:pt idx="77">
                  <c:v>1.1299999999999999</c:v>
                </c:pt>
                <c:pt idx="78">
                  <c:v>1.1100000000000001</c:v>
                </c:pt>
                <c:pt idx="79">
                  <c:v>1.1000000000000001</c:v>
                </c:pt>
                <c:pt idx="80">
                  <c:v>1.1100000000000001</c:v>
                </c:pt>
                <c:pt idx="81">
                  <c:v>1.1100000000000001</c:v>
                </c:pt>
                <c:pt idx="82">
                  <c:v>1.1200000000000001</c:v>
                </c:pt>
                <c:pt idx="83">
                  <c:v>1.1100000000000001</c:v>
                </c:pt>
                <c:pt idx="84">
                  <c:v>1.1000000000000001</c:v>
                </c:pt>
                <c:pt idx="85">
                  <c:v>1.1100000000000001</c:v>
                </c:pt>
                <c:pt idx="86">
                  <c:v>1.1000000000000001</c:v>
                </c:pt>
                <c:pt idx="87">
                  <c:v>1.0900000000000001</c:v>
                </c:pt>
                <c:pt idx="88">
                  <c:v>1.07</c:v>
                </c:pt>
                <c:pt idx="89">
                  <c:v>1.07</c:v>
                </c:pt>
                <c:pt idx="90">
                  <c:v>1.06</c:v>
                </c:pt>
                <c:pt idx="91">
                  <c:v>1.04</c:v>
                </c:pt>
                <c:pt idx="92">
                  <c:v>1.03</c:v>
                </c:pt>
                <c:pt idx="93">
                  <c:v>1.03</c:v>
                </c:pt>
                <c:pt idx="94">
                  <c:v>1.06</c:v>
                </c:pt>
                <c:pt idx="95">
                  <c:v>1.03</c:v>
                </c:pt>
                <c:pt idx="96">
                  <c:v>0.98</c:v>
                </c:pt>
                <c:pt idx="97">
                  <c:v>0.96</c:v>
                </c:pt>
                <c:pt idx="98">
                  <c:v>0.95</c:v>
                </c:pt>
                <c:pt idx="99">
                  <c:v>0.94499999999999995</c:v>
                </c:pt>
                <c:pt idx="100">
                  <c:v>1</c:v>
                </c:pt>
                <c:pt idx="101">
                  <c:v>0.995</c:v>
                </c:pt>
                <c:pt idx="102">
                  <c:v>1.03</c:v>
                </c:pt>
                <c:pt idx="103">
                  <c:v>1.03</c:v>
                </c:pt>
                <c:pt idx="104">
                  <c:v>0.995</c:v>
                </c:pt>
                <c:pt idx="105">
                  <c:v>1</c:v>
                </c:pt>
                <c:pt idx="106">
                  <c:v>0.96</c:v>
                </c:pt>
                <c:pt idx="107">
                  <c:v>0.97499999999999998</c:v>
                </c:pt>
                <c:pt idx="108">
                  <c:v>0.97499999999999998</c:v>
                </c:pt>
                <c:pt idx="109">
                  <c:v>0.96499999999999997</c:v>
                </c:pt>
                <c:pt idx="110">
                  <c:v>1</c:v>
                </c:pt>
                <c:pt idx="111">
                  <c:v>0.98499999999999999</c:v>
                </c:pt>
                <c:pt idx="112">
                  <c:v>0.995</c:v>
                </c:pt>
                <c:pt idx="113">
                  <c:v>1.02</c:v>
                </c:pt>
                <c:pt idx="114">
                  <c:v>1</c:v>
                </c:pt>
                <c:pt idx="115">
                  <c:v>0.99</c:v>
                </c:pt>
                <c:pt idx="116">
                  <c:v>1</c:v>
                </c:pt>
                <c:pt idx="117">
                  <c:v>0.98499999999999999</c:v>
                </c:pt>
                <c:pt idx="118">
                  <c:v>0.98499999999999999</c:v>
                </c:pt>
                <c:pt idx="119">
                  <c:v>0.99</c:v>
                </c:pt>
                <c:pt idx="120">
                  <c:v>0.96499999999999997</c:v>
                </c:pt>
                <c:pt idx="121">
                  <c:v>0.96499999999999997</c:v>
                </c:pt>
                <c:pt idx="122">
                  <c:v>0.97</c:v>
                </c:pt>
                <c:pt idx="123">
                  <c:v>0.96</c:v>
                </c:pt>
                <c:pt idx="124">
                  <c:v>0.97</c:v>
                </c:pt>
                <c:pt idx="125">
                  <c:v>0.96</c:v>
                </c:pt>
                <c:pt idx="126">
                  <c:v>0.95499999999999996</c:v>
                </c:pt>
                <c:pt idx="127">
                  <c:v>0.95499999999999996</c:v>
                </c:pt>
                <c:pt idx="128">
                  <c:v>0.94</c:v>
                </c:pt>
                <c:pt idx="129">
                  <c:v>0.92500000000000004</c:v>
                </c:pt>
                <c:pt idx="130">
                  <c:v>0.85</c:v>
                </c:pt>
                <c:pt idx="131">
                  <c:v>0.83</c:v>
                </c:pt>
                <c:pt idx="132">
                  <c:v>0.83</c:v>
                </c:pt>
                <c:pt idx="133">
                  <c:v>0.88</c:v>
                </c:pt>
                <c:pt idx="134">
                  <c:v>0.87</c:v>
                </c:pt>
                <c:pt idx="135">
                  <c:v>0.89500000000000002</c:v>
                </c:pt>
                <c:pt idx="136">
                  <c:v>0.85499999999999998</c:v>
                </c:pt>
                <c:pt idx="137">
                  <c:v>0.85</c:v>
                </c:pt>
                <c:pt idx="138">
                  <c:v>0.82499999999999996</c:v>
                </c:pt>
                <c:pt idx="139">
                  <c:v>0.84</c:v>
                </c:pt>
                <c:pt idx="140">
                  <c:v>0.84</c:v>
                </c:pt>
                <c:pt idx="141">
                  <c:v>0.82499999999999996</c:v>
                </c:pt>
                <c:pt idx="142">
                  <c:v>0.77</c:v>
                </c:pt>
                <c:pt idx="143">
                  <c:v>0.75</c:v>
                </c:pt>
                <c:pt idx="144">
                  <c:v>0.76</c:v>
                </c:pt>
                <c:pt idx="145">
                  <c:v>0.74</c:v>
                </c:pt>
                <c:pt idx="146">
                  <c:v>0.71499999999999997</c:v>
                </c:pt>
                <c:pt idx="147">
                  <c:v>0.72499999999999998</c:v>
                </c:pt>
                <c:pt idx="148">
                  <c:v>0.755</c:v>
                </c:pt>
                <c:pt idx="149">
                  <c:v>0.73</c:v>
                </c:pt>
                <c:pt idx="150">
                  <c:v>0.73</c:v>
                </c:pt>
                <c:pt idx="151">
                  <c:v>0.71</c:v>
                </c:pt>
                <c:pt idx="152">
                  <c:v>0.75</c:v>
                </c:pt>
                <c:pt idx="153">
                  <c:v>0.75</c:v>
                </c:pt>
                <c:pt idx="154">
                  <c:v>0.73</c:v>
                </c:pt>
                <c:pt idx="155">
                  <c:v>0.73</c:v>
                </c:pt>
                <c:pt idx="156">
                  <c:v>0.75</c:v>
                </c:pt>
                <c:pt idx="157">
                  <c:v>0.78500000000000003</c:v>
                </c:pt>
                <c:pt idx="158">
                  <c:v>0.80500000000000005</c:v>
                </c:pt>
                <c:pt idx="159">
                  <c:v>0.81499999999999995</c:v>
                </c:pt>
                <c:pt idx="160">
                  <c:v>0.82499999999999996</c:v>
                </c:pt>
                <c:pt idx="161">
                  <c:v>0.82499999999999996</c:v>
                </c:pt>
                <c:pt idx="162">
                  <c:v>0.87</c:v>
                </c:pt>
                <c:pt idx="163">
                  <c:v>0.875</c:v>
                </c:pt>
                <c:pt idx="164">
                  <c:v>0.83</c:v>
                </c:pt>
                <c:pt idx="165">
                  <c:v>0.84499999999999997</c:v>
                </c:pt>
                <c:pt idx="166">
                  <c:v>0.86499999999999999</c:v>
                </c:pt>
                <c:pt idx="167">
                  <c:v>0.87</c:v>
                </c:pt>
                <c:pt idx="168">
                  <c:v>0.88</c:v>
                </c:pt>
                <c:pt idx="169">
                  <c:v>0.89</c:v>
                </c:pt>
                <c:pt idx="170">
                  <c:v>0.9</c:v>
                </c:pt>
                <c:pt idx="171">
                  <c:v>0.88500000000000001</c:v>
                </c:pt>
                <c:pt idx="172">
                  <c:v>0.88500000000000001</c:v>
                </c:pt>
                <c:pt idx="173">
                  <c:v>0.87</c:v>
                </c:pt>
                <c:pt idx="174">
                  <c:v>0.85499999999999998</c:v>
                </c:pt>
                <c:pt idx="175">
                  <c:v>0.86</c:v>
                </c:pt>
                <c:pt idx="176">
                  <c:v>0.85</c:v>
                </c:pt>
                <c:pt idx="177">
                  <c:v>0.83</c:v>
                </c:pt>
                <c:pt idx="178">
                  <c:v>0.78</c:v>
                </c:pt>
                <c:pt idx="179">
                  <c:v>0.79</c:v>
                </c:pt>
                <c:pt idx="180">
                  <c:v>0.79500000000000004</c:v>
                </c:pt>
                <c:pt idx="181">
                  <c:v>0.79500000000000004</c:v>
                </c:pt>
                <c:pt idx="182">
                  <c:v>0.78500000000000003</c:v>
                </c:pt>
                <c:pt idx="183">
                  <c:v>0.77500000000000002</c:v>
                </c:pt>
                <c:pt idx="184">
                  <c:v>0.755</c:v>
                </c:pt>
                <c:pt idx="185">
                  <c:v>0.79500000000000004</c:v>
                </c:pt>
                <c:pt idx="186">
                  <c:v>0.8</c:v>
                </c:pt>
                <c:pt idx="187">
                  <c:v>0.78500000000000003</c:v>
                </c:pt>
                <c:pt idx="188">
                  <c:v>0.77</c:v>
                </c:pt>
                <c:pt idx="189">
                  <c:v>0.745</c:v>
                </c:pt>
                <c:pt idx="190">
                  <c:v>0.755</c:v>
                </c:pt>
                <c:pt idx="191">
                  <c:v>0.76500000000000001</c:v>
                </c:pt>
                <c:pt idx="192">
                  <c:v>0.745</c:v>
                </c:pt>
                <c:pt idx="193">
                  <c:v>0.76500000000000001</c:v>
                </c:pt>
                <c:pt idx="194">
                  <c:v>0.76</c:v>
                </c:pt>
                <c:pt idx="195">
                  <c:v>0.78</c:v>
                </c:pt>
                <c:pt idx="196">
                  <c:v>0.81499999999999995</c:v>
                </c:pt>
                <c:pt idx="197">
                  <c:v>0.80500000000000005</c:v>
                </c:pt>
                <c:pt idx="198">
                  <c:v>0.79500000000000004</c:v>
                </c:pt>
                <c:pt idx="199">
                  <c:v>0.8</c:v>
                </c:pt>
                <c:pt idx="200">
                  <c:v>0.79</c:v>
                </c:pt>
                <c:pt idx="201">
                  <c:v>0.77</c:v>
                </c:pt>
                <c:pt idx="202">
                  <c:v>0.71</c:v>
                </c:pt>
                <c:pt idx="203">
                  <c:v>0.71499999999999997</c:v>
                </c:pt>
                <c:pt idx="204">
                  <c:v>0.7</c:v>
                </c:pt>
                <c:pt idx="205">
                  <c:v>0.7</c:v>
                </c:pt>
                <c:pt idx="206">
                  <c:v>0.7</c:v>
                </c:pt>
                <c:pt idx="207">
                  <c:v>0.70499999999999996</c:v>
                </c:pt>
                <c:pt idx="208">
                  <c:v>0.69499999999999995</c:v>
                </c:pt>
                <c:pt idx="209">
                  <c:v>0.7</c:v>
                </c:pt>
                <c:pt idx="210">
                  <c:v>0.70499999999999996</c:v>
                </c:pt>
                <c:pt idx="211">
                  <c:v>0.68500000000000005</c:v>
                </c:pt>
                <c:pt idx="212">
                  <c:v>0.67</c:v>
                </c:pt>
                <c:pt idx="213">
                  <c:v>0.67</c:v>
                </c:pt>
                <c:pt idx="214">
                  <c:v>0.65500000000000003</c:v>
                </c:pt>
                <c:pt idx="215">
                  <c:v>0.62</c:v>
                </c:pt>
                <c:pt idx="216">
                  <c:v>0.65</c:v>
                </c:pt>
                <c:pt idx="217">
                  <c:v>0.63500000000000001</c:v>
                </c:pt>
                <c:pt idx="218">
                  <c:v>0.625</c:v>
                </c:pt>
                <c:pt idx="219">
                  <c:v>0.60499999999999998</c:v>
                </c:pt>
                <c:pt idx="220">
                  <c:v>0.62</c:v>
                </c:pt>
                <c:pt idx="221">
                  <c:v>0.57499999999999996</c:v>
                </c:pt>
                <c:pt idx="222">
                  <c:v>0.56000000000000005</c:v>
                </c:pt>
                <c:pt idx="223">
                  <c:v>0.56999999999999995</c:v>
                </c:pt>
                <c:pt idx="224">
                  <c:v>0.55000000000000004</c:v>
                </c:pt>
                <c:pt idx="225">
                  <c:v>0.55000000000000004</c:v>
                </c:pt>
                <c:pt idx="226">
                  <c:v>0.5</c:v>
                </c:pt>
                <c:pt idx="227">
                  <c:v>0.55000000000000004</c:v>
                </c:pt>
                <c:pt idx="228">
                  <c:v>0.53500000000000003</c:v>
                </c:pt>
                <c:pt idx="229">
                  <c:v>0.52500000000000002</c:v>
                </c:pt>
                <c:pt idx="230">
                  <c:v>0.52</c:v>
                </c:pt>
                <c:pt idx="231">
                  <c:v>0.55500000000000005</c:v>
                </c:pt>
                <c:pt idx="232">
                  <c:v>0.59</c:v>
                </c:pt>
                <c:pt idx="233">
                  <c:v>0.6</c:v>
                </c:pt>
                <c:pt idx="234">
                  <c:v>0.59</c:v>
                </c:pt>
                <c:pt idx="235">
                  <c:v>0.60499999999999998</c:v>
                </c:pt>
                <c:pt idx="236">
                  <c:v>0.57999999999999996</c:v>
                </c:pt>
                <c:pt idx="237">
                  <c:v>0.57999999999999996</c:v>
                </c:pt>
                <c:pt idx="238">
                  <c:v>0.59</c:v>
                </c:pt>
                <c:pt idx="239">
                  <c:v>0.57999999999999996</c:v>
                </c:pt>
                <c:pt idx="240">
                  <c:v>0.58499999999999996</c:v>
                </c:pt>
                <c:pt idx="241">
                  <c:v>0.57999999999999996</c:v>
                </c:pt>
                <c:pt idx="242">
                  <c:v>0.55000000000000004</c:v>
                </c:pt>
                <c:pt idx="243">
                  <c:v>0.54500000000000004</c:v>
                </c:pt>
                <c:pt idx="244">
                  <c:v>0.56999999999999995</c:v>
                </c:pt>
                <c:pt idx="245">
                  <c:v>0.6</c:v>
                </c:pt>
                <c:pt idx="246">
                  <c:v>0.59499999999999997</c:v>
                </c:pt>
                <c:pt idx="247">
                  <c:v>0.59</c:v>
                </c:pt>
                <c:pt idx="248">
                  <c:v>0.61</c:v>
                </c:pt>
                <c:pt idx="249">
                  <c:v>0.61</c:v>
                </c:pt>
                <c:pt idx="250">
                  <c:v>0.57499999999999996</c:v>
                </c:pt>
                <c:pt idx="251">
                  <c:v>0.58499999999999996</c:v>
                </c:pt>
                <c:pt idx="252">
                  <c:v>0.61499999999999999</c:v>
                </c:pt>
                <c:pt idx="253">
                  <c:v>0.59499999999999997</c:v>
                </c:pt>
                <c:pt idx="254">
                  <c:v>0.60499999999999998</c:v>
                </c:pt>
                <c:pt idx="255">
                  <c:v>0.61499999999999999</c:v>
                </c:pt>
                <c:pt idx="256">
                  <c:v>0.61499999999999999</c:v>
                </c:pt>
                <c:pt idx="257">
                  <c:v>0.61499999999999999</c:v>
                </c:pt>
                <c:pt idx="258">
                  <c:v>0.6</c:v>
                </c:pt>
                <c:pt idx="259">
                  <c:v>0.58499999999999996</c:v>
                </c:pt>
                <c:pt idx="260">
                  <c:v>0.59499999999999997</c:v>
                </c:pt>
                <c:pt idx="261">
                  <c:v>0.61</c:v>
                </c:pt>
                <c:pt idx="262">
                  <c:v>0.57499999999999996</c:v>
                </c:pt>
                <c:pt idx="263">
                  <c:v>0.56499999999999995</c:v>
                </c:pt>
                <c:pt idx="264">
                  <c:v>0.55500000000000005</c:v>
                </c:pt>
                <c:pt idx="265">
                  <c:v>0.54</c:v>
                </c:pt>
                <c:pt idx="266">
                  <c:v>0.53</c:v>
                </c:pt>
                <c:pt idx="267">
                  <c:v>0.51500000000000001</c:v>
                </c:pt>
                <c:pt idx="268">
                  <c:v>0.56000000000000005</c:v>
                </c:pt>
                <c:pt idx="269">
                  <c:v>0.55000000000000004</c:v>
                </c:pt>
                <c:pt idx="270">
                  <c:v>0.55000000000000004</c:v>
                </c:pt>
                <c:pt idx="271">
                  <c:v>0.55500000000000005</c:v>
                </c:pt>
                <c:pt idx="272">
                  <c:v>0.56999999999999995</c:v>
                </c:pt>
                <c:pt idx="273">
                  <c:v>0.57499999999999996</c:v>
                </c:pt>
                <c:pt idx="274">
                  <c:v>0.59</c:v>
                </c:pt>
                <c:pt idx="275">
                  <c:v>0.56499999999999995</c:v>
                </c:pt>
                <c:pt idx="276">
                  <c:v>0.56000000000000005</c:v>
                </c:pt>
                <c:pt idx="277">
                  <c:v>0.54500000000000004</c:v>
                </c:pt>
                <c:pt idx="278">
                  <c:v>0.55000000000000004</c:v>
                </c:pt>
                <c:pt idx="279">
                  <c:v>0.55000000000000004</c:v>
                </c:pt>
                <c:pt idx="280">
                  <c:v>0.54</c:v>
                </c:pt>
                <c:pt idx="281">
                  <c:v>0.55000000000000004</c:v>
                </c:pt>
                <c:pt idx="282">
                  <c:v>0.55500000000000005</c:v>
                </c:pt>
                <c:pt idx="283">
                  <c:v>0.57499999999999996</c:v>
                </c:pt>
                <c:pt idx="284">
                  <c:v>0.60499999999999998</c:v>
                </c:pt>
                <c:pt idx="285">
                  <c:v>0.62</c:v>
                </c:pt>
                <c:pt idx="286">
                  <c:v>0.63</c:v>
                </c:pt>
                <c:pt idx="287">
                  <c:v>0.63500000000000001</c:v>
                </c:pt>
                <c:pt idx="288">
                  <c:v>0.63</c:v>
                </c:pt>
                <c:pt idx="289">
                  <c:v>0.65500000000000003</c:v>
                </c:pt>
                <c:pt idx="290">
                  <c:v>0.68500000000000005</c:v>
                </c:pt>
                <c:pt idx="291">
                  <c:v>0.68</c:v>
                </c:pt>
                <c:pt idx="292">
                  <c:v>0.64500000000000002</c:v>
                </c:pt>
                <c:pt idx="293">
                  <c:v>0.64</c:v>
                </c:pt>
                <c:pt idx="294">
                  <c:v>0.63500000000000001</c:v>
                </c:pt>
                <c:pt idx="295">
                  <c:v>0.61</c:v>
                </c:pt>
                <c:pt idx="296">
                  <c:v>0.625</c:v>
                </c:pt>
                <c:pt idx="297">
                  <c:v>0.61</c:v>
                </c:pt>
                <c:pt idx="298">
                  <c:v>0.63</c:v>
                </c:pt>
                <c:pt idx="299">
                  <c:v>0.62</c:v>
                </c:pt>
                <c:pt idx="300">
                  <c:v>0.60499999999999998</c:v>
                </c:pt>
                <c:pt idx="301">
                  <c:v>0.6</c:v>
                </c:pt>
                <c:pt idx="302">
                  <c:v>0.61499999999999999</c:v>
                </c:pt>
                <c:pt idx="303">
                  <c:v>0.60499999999999998</c:v>
                </c:pt>
                <c:pt idx="304">
                  <c:v>0.61499999999999999</c:v>
                </c:pt>
                <c:pt idx="305">
                  <c:v>0.61</c:v>
                </c:pt>
                <c:pt idx="306">
                  <c:v>0.61499999999999999</c:v>
                </c:pt>
                <c:pt idx="307">
                  <c:v>0.6</c:v>
                </c:pt>
                <c:pt idx="308">
                  <c:v>0.61</c:v>
                </c:pt>
                <c:pt idx="309">
                  <c:v>0.59499999999999997</c:v>
                </c:pt>
                <c:pt idx="310">
                  <c:v>0.59499999999999997</c:v>
                </c:pt>
                <c:pt idx="311">
                  <c:v>0.59499999999999997</c:v>
                </c:pt>
                <c:pt idx="312">
                  <c:v>0.59</c:v>
                </c:pt>
                <c:pt idx="313">
                  <c:v>0.57499999999999996</c:v>
                </c:pt>
                <c:pt idx="314">
                  <c:v>0.55500000000000005</c:v>
                </c:pt>
                <c:pt idx="315">
                  <c:v>0.56999999999999995</c:v>
                </c:pt>
                <c:pt idx="316">
                  <c:v>0.55500000000000005</c:v>
                </c:pt>
                <c:pt idx="317">
                  <c:v>0.54</c:v>
                </c:pt>
                <c:pt idx="318">
                  <c:v>0.505</c:v>
                </c:pt>
                <c:pt idx="319">
                  <c:v>0.495</c:v>
                </c:pt>
                <c:pt idx="320">
                  <c:v>0.43</c:v>
                </c:pt>
                <c:pt idx="321">
                  <c:v>0.46500000000000002</c:v>
                </c:pt>
                <c:pt idx="322">
                  <c:v>0.44500000000000001</c:v>
                </c:pt>
                <c:pt idx="323">
                  <c:v>0.435</c:v>
                </c:pt>
                <c:pt idx="324">
                  <c:v>0.42</c:v>
                </c:pt>
                <c:pt idx="325">
                  <c:v>0.41499999999999998</c:v>
                </c:pt>
                <c:pt idx="326">
                  <c:v>0.40500000000000003</c:v>
                </c:pt>
                <c:pt idx="327">
                  <c:v>0.42</c:v>
                </c:pt>
                <c:pt idx="328">
                  <c:v>0.42499999999999999</c:v>
                </c:pt>
                <c:pt idx="329">
                  <c:v>0.44</c:v>
                </c:pt>
                <c:pt idx="330">
                  <c:v>0.44</c:v>
                </c:pt>
                <c:pt idx="331">
                  <c:v>0.44500000000000001</c:v>
                </c:pt>
                <c:pt idx="332">
                  <c:v>0.47</c:v>
                </c:pt>
                <c:pt idx="333">
                  <c:v>0.48</c:v>
                </c:pt>
                <c:pt idx="334">
                  <c:v>0.47</c:v>
                </c:pt>
                <c:pt idx="335">
                  <c:v>0.45500000000000002</c:v>
                </c:pt>
                <c:pt idx="336">
                  <c:v>0.48</c:v>
                </c:pt>
                <c:pt idx="337">
                  <c:v>0.47</c:v>
                </c:pt>
                <c:pt idx="338">
                  <c:v>0.46</c:v>
                </c:pt>
                <c:pt idx="339">
                  <c:v>0.45</c:v>
                </c:pt>
                <c:pt idx="340">
                  <c:v>0.45</c:v>
                </c:pt>
                <c:pt idx="341">
                  <c:v>0.44500000000000001</c:v>
                </c:pt>
                <c:pt idx="342">
                  <c:v>0.45</c:v>
                </c:pt>
                <c:pt idx="343">
                  <c:v>0.44500000000000001</c:v>
                </c:pt>
                <c:pt idx="344">
                  <c:v>0.44</c:v>
                </c:pt>
                <c:pt idx="345">
                  <c:v>0.44500000000000001</c:v>
                </c:pt>
                <c:pt idx="346">
                  <c:v>0.44500000000000001</c:v>
                </c:pt>
                <c:pt idx="347">
                  <c:v>0.45</c:v>
                </c:pt>
                <c:pt idx="348">
                  <c:v>0.44500000000000001</c:v>
                </c:pt>
                <c:pt idx="349">
                  <c:v>0.42</c:v>
                </c:pt>
                <c:pt idx="350">
                  <c:v>0.435</c:v>
                </c:pt>
                <c:pt idx="351">
                  <c:v>0.42499999999999999</c:v>
                </c:pt>
                <c:pt idx="352">
                  <c:v>0.43</c:v>
                </c:pt>
                <c:pt idx="353">
                  <c:v>0.43</c:v>
                </c:pt>
                <c:pt idx="354">
                  <c:v>0.42499999999999999</c:v>
                </c:pt>
                <c:pt idx="355">
                  <c:v>0.42499999999999999</c:v>
                </c:pt>
                <c:pt idx="356">
                  <c:v>0.43</c:v>
                </c:pt>
                <c:pt idx="357">
                  <c:v>0.41499999999999998</c:v>
                </c:pt>
                <c:pt idx="358">
                  <c:v>0.40500000000000003</c:v>
                </c:pt>
                <c:pt idx="359">
                  <c:v>0.41</c:v>
                </c:pt>
                <c:pt idx="360">
                  <c:v>0.42</c:v>
                </c:pt>
                <c:pt idx="361">
                  <c:v>0.42</c:v>
                </c:pt>
                <c:pt idx="362">
                  <c:v>0.41499999999999998</c:v>
                </c:pt>
                <c:pt idx="363">
                  <c:v>0.41499999999999998</c:v>
                </c:pt>
                <c:pt idx="364">
                  <c:v>0.42</c:v>
                </c:pt>
                <c:pt idx="365">
                  <c:v>0.42499999999999999</c:v>
                </c:pt>
                <c:pt idx="366">
                  <c:v>0.435</c:v>
                </c:pt>
                <c:pt idx="367">
                  <c:v>0.42</c:v>
                </c:pt>
                <c:pt idx="368">
                  <c:v>0.42</c:v>
                </c:pt>
                <c:pt idx="369">
                  <c:v>0.41</c:v>
                </c:pt>
                <c:pt idx="370">
                  <c:v>0.41</c:v>
                </c:pt>
                <c:pt idx="371">
                  <c:v>0.41</c:v>
                </c:pt>
                <c:pt idx="372">
                  <c:v>0.42</c:v>
                </c:pt>
                <c:pt idx="373">
                  <c:v>0.41</c:v>
                </c:pt>
                <c:pt idx="374">
                  <c:v>0.41</c:v>
                </c:pt>
                <c:pt idx="375">
                  <c:v>0.43</c:v>
                </c:pt>
                <c:pt idx="376">
                  <c:v>0.47499999999999998</c:v>
                </c:pt>
                <c:pt idx="377">
                  <c:v>0.48499999999999999</c:v>
                </c:pt>
                <c:pt idx="378">
                  <c:v>0.48</c:v>
                </c:pt>
                <c:pt idx="379">
                  <c:v>0.47499999999999998</c:v>
                </c:pt>
                <c:pt idx="380">
                  <c:v>0.46500000000000002</c:v>
                </c:pt>
                <c:pt idx="381">
                  <c:v>0.48</c:v>
                </c:pt>
                <c:pt idx="382">
                  <c:v>0.46500000000000002</c:v>
                </c:pt>
                <c:pt idx="383">
                  <c:v>0.47</c:v>
                </c:pt>
                <c:pt idx="384">
                  <c:v>0.47</c:v>
                </c:pt>
                <c:pt idx="385">
                  <c:v>0.47499999999999998</c:v>
                </c:pt>
                <c:pt idx="386">
                  <c:v>0.47</c:v>
                </c:pt>
                <c:pt idx="387">
                  <c:v>0.47499999999999998</c:v>
                </c:pt>
                <c:pt idx="388">
                  <c:v>0.48</c:v>
                </c:pt>
                <c:pt idx="389">
                  <c:v>0.47499999999999998</c:v>
                </c:pt>
                <c:pt idx="390">
                  <c:v>0.46500000000000002</c:v>
                </c:pt>
                <c:pt idx="391">
                  <c:v>0.46500000000000002</c:v>
                </c:pt>
                <c:pt idx="392">
                  <c:v>0.47499999999999998</c:v>
                </c:pt>
                <c:pt idx="393">
                  <c:v>0.48</c:v>
                </c:pt>
                <c:pt idx="394">
                  <c:v>0.48</c:v>
                </c:pt>
                <c:pt idx="395">
                  <c:v>0.48</c:v>
                </c:pt>
                <c:pt idx="396">
                  <c:v>0.48499999999999999</c:v>
                </c:pt>
                <c:pt idx="397">
                  <c:v>0.48</c:v>
                </c:pt>
                <c:pt idx="398">
                  <c:v>0.48499999999999999</c:v>
                </c:pt>
                <c:pt idx="399">
                  <c:v>0.48499999999999999</c:v>
                </c:pt>
                <c:pt idx="400">
                  <c:v>0.48</c:v>
                </c:pt>
                <c:pt idx="401">
                  <c:v>0.48</c:v>
                </c:pt>
                <c:pt idx="402">
                  <c:v>0.48</c:v>
                </c:pt>
                <c:pt idx="403">
                  <c:v>0.495</c:v>
                </c:pt>
                <c:pt idx="404">
                  <c:v>0.5</c:v>
                </c:pt>
                <c:pt idx="405">
                  <c:v>0.5</c:v>
                </c:pt>
                <c:pt idx="406">
                  <c:v>0.56000000000000005</c:v>
                </c:pt>
                <c:pt idx="407">
                  <c:v>0.56000000000000005</c:v>
                </c:pt>
                <c:pt idx="408">
                  <c:v>0.52</c:v>
                </c:pt>
                <c:pt idx="409">
                  <c:v>0.52500000000000002</c:v>
                </c:pt>
                <c:pt idx="410">
                  <c:v>0.51500000000000001</c:v>
                </c:pt>
                <c:pt idx="411">
                  <c:v>0.52</c:v>
                </c:pt>
                <c:pt idx="412">
                  <c:v>0.505</c:v>
                </c:pt>
                <c:pt idx="413">
                  <c:v>0.5</c:v>
                </c:pt>
                <c:pt idx="414">
                  <c:v>0.505</c:v>
                </c:pt>
                <c:pt idx="415">
                  <c:v>0.51</c:v>
                </c:pt>
                <c:pt idx="416">
                  <c:v>0.505</c:v>
                </c:pt>
                <c:pt idx="417">
                  <c:v>0.5</c:v>
                </c:pt>
                <c:pt idx="418">
                  <c:v>0.5</c:v>
                </c:pt>
                <c:pt idx="419">
                  <c:v>0.51500000000000001</c:v>
                </c:pt>
                <c:pt idx="420">
                  <c:v>0.505</c:v>
                </c:pt>
                <c:pt idx="421">
                  <c:v>0.51500000000000001</c:v>
                </c:pt>
                <c:pt idx="422">
                  <c:v>0.505</c:v>
                </c:pt>
                <c:pt idx="423">
                  <c:v>0.505</c:v>
                </c:pt>
                <c:pt idx="424">
                  <c:v>0.51</c:v>
                </c:pt>
                <c:pt idx="425">
                  <c:v>0.52</c:v>
                </c:pt>
                <c:pt idx="426">
                  <c:v>0.53</c:v>
                </c:pt>
                <c:pt idx="427">
                  <c:v>0.53500000000000003</c:v>
                </c:pt>
                <c:pt idx="428">
                  <c:v>0.53500000000000003</c:v>
                </c:pt>
                <c:pt idx="429">
                  <c:v>0.56000000000000005</c:v>
                </c:pt>
                <c:pt idx="430">
                  <c:v>0.55000000000000004</c:v>
                </c:pt>
                <c:pt idx="431">
                  <c:v>0.55000000000000004</c:v>
                </c:pt>
                <c:pt idx="432">
                  <c:v>0.55000000000000004</c:v>
                </c:pt>
                <c:pt idx="433">
                  <c:v>0.53500000000000003</c:v>
                </c:pt>
                <c:pt idx="434">
                  <c:v>0.54</c:v>
                </c:pt>
                <c:pt idx="435">
                  <c:v>0.55500000000000005</c:v>
                </c:pt>
                <c:pt idx="436">
                  <c:v>0.56499999999999995</c:v>
                </c:pt>
                <c:pt idx="437">
                  <c:v>0.57999999999999996</c:v>
                </c:pt>
                <c:pt idx="438">
                  <c:v>0.56499999999999995</c:v>
                </c:pt>
                <c:pt idx="439">
                  <c:v>0.58499999999999996</c:v>
                </c:pt>
                <c:pt idx="440">
                  <c:v>0.57999999999999996</c:v>
                </c:pt>
                <c:pt idx="441">
                  <c:v>0.57999999999999996</c:v>
                </c:pt>
                <c:pt idx="442">
                  <c:v>0.57999999999999996</c:v>
                </c:pt>
                <c:pt idx="443">
                  <c:v>0.59</c:v>
                </c:pt>
                <c:pt idx="444">
                  <c:v>0.58499999999999996</c:v>
                </c:pt>
                <c:pt idx="445">
                  <c:v>0.56000000000000005</c:v>
                </c:pt>
                <c:pt idx="446">
                  <c:v>0.55000000000000004</c:v>
                </c:pt>
                <c:pt idx="447">
                  <c:v>0.56000000000000005</c:v>
                </c:pt>
                <c:pt idx="448">
                  <c:v>0.55500000000000005</c:v>
                </c:pt>
                <c:pt idx="449">
                  <c:v>0.54500000000000004</c:v>
                </c:pt>
                <c:pt idx="450">
                  <c:v>0.53</c:v>
                </c:pt>
                <c:pt idx="451">
                  <c:v>0.54</c:v>
                </c:pt>
                <c:pt idx="452">
                  <c:v>0.53500000000000003</c:v>
                </c:pt>
                <c:pt idx="453">
                  <c:v>0.53500000000000003</c:v>
                </c:pt>
                <c:pt idx="454">
                  <c:v>0.54</c:v>
                </c:pt>
                <c:pt idx="455">
                  <c:v>0.53</c:v>
                </c:pt>
                <c:pt idx="456">
                  <c:v>0.52500000000000002</c:v>
                </c:pt>
                <c:pt idx="457">
                  <c:v>0.53</c:v>
                </c:pt>
                <c:pt idx="458">
                  <c:v>0.52500000000000002</c:v>
                </c:pt>
                <c:pt idx="459">
                  <c:v>0.52</c:v>
                </c:pt>
                <c:pt idx="460">
                  <c:v>0.505</c:v>
                </c:pt>
                <c:pt idx="461">
                  <c:v>0.51</c:v>
                </c:pt>
                <c:pt idx="462">
                  <c:v>0.51500000000000001</c:v>
                </c:pt>
                <c:pt idx="463">
                  <c:v>0.51500000000000001</c:v>
                </c:pt>
                <c:pt idx="464">
                  <c:v>0.55000000000000004</c:v>
                </c:pt>
                <c:pt idx="465">
                  <c:v>0.54500000000000004</c:v>
                </c:pt>
                <c:pt idx="466">
                  <c:v>0.55000000000000004</c:v>
                </c:pt>
                <c:pt idx="467">
                  <c:v>0.57499999999999996</c:v>
                </c:pt>
                <c:pt idx="468">
                  <c:v>0.55500000000000005</c:v>
                </c:pt>
                <c:pt idx="469">
                  <c:v>0.52500000000000002</c:v>
                </c:pt>
                <c:pt idx="470">
                  <c:v>0.505</c:v>
                </c:pt>
                <c:pt idx="471">
                  <c:v>0.48</c:v>
                </c:pt>
                <c:pt idx="472">
                  <c:v>0.52500000000000002</c:v>
                </c:pt>
                <c:pt idx="473">
                  <c:v>0.51</c:v>
                </c:pt>
                <c:pt idx="474">
                  <c:v>0.48</c:v>
                </c:pt>
                <c:pt idx="475">
                  <c:v>0.5</c:v>
                </c:pt>
                <c:pt idx="476">
                  <c:v>0.505</c:v>
                </c:pt>
                <c:pt idx="477">
                  <c:v>0.505</c:v>
                </c:pt>
                <c:pt idx="478">
                  <c:v>0.5</c:v>
                </c:pt>
                <c:pt idx="479">
                  <c:v>0.55000000000000004</c:v>
                </c:pt>
                <c:pt idx="480">
                  <c:v>0.56999999999999995</c:v>
                </c:pt>
                <c:pt idx="481">
                  <c:v>0.56000000000000005</c:v>
                </c:pt>
                <c:pt idx="482">
                  <c:v>0.58499999999999996</c:v>
                </c:pt>
                <c:pt idx="483">
                  <c:v>0.57499999999999996</c:v>
                </c:pt>
                <c:pt idx="484">
                  <c:v>0.52500000000000002</c:v>
                </c:pt>
                <c:pt idx="485">
                  <c:v>0.52500000000000002</c:v>
                </c:pt>
                <c:pt idx="486">
                  <c:v>0.56000000000000005</c:v>
                </c:pt>
                <c:pt idx="487">
                  <c:v>0.59</c:v>
                </c:pt>
                <c:pt idx="488">
                  <c:v>0.57499999999999996</c:v>
                </c:pt>
                <c:pt idx="489">
                  <c:v>0.56999999999999995</c:v>
                </c:pt>
                <c:pt idx="490">
                  <c:v>0.56999999999999995</c:v>
                </c:pt>
                <c:pt idx="491">
                  <c:v>0.59499999999999997</c:v>
                </c:pt>
                <c:pt idx="492">
                  <c:v>0.59499999999999997</c:v>
                </c:pt>
                <c:pt idx="493">
                  <c:v>0.60499999999999998</c:v>
                </c:pt>
                <c:pt idx="494">
                  <c:v>0.59</c:v>
                </c:pt>
                <c:pt idx="495">
                  <c:v>0.59</c:v>
                </c:pt>
                <c:pt idx="496">
                  <c:v>0.6</c:v>
                </c:pt>
                <c:pt idx="497">
                  <c:v>0.59499999999999997</c:v>
                </c:pt>
                <c:pt idx="498">
                  <c:v>0.61499999999999999</c:v>
                </c:pt>
                <c:pt idx="499">
                  <c:v>0.60499999999999998</c:v>
                </c:pt>
                <c:pt idx="500">
                  <c:v>0.61499999999999999</c:v>
                </c:pt>
                <c:pt idx="501">
                  <c:v>0.61499999999999999</c:v>
                </c:pt>
                <c:pt idx="502">
                  <c:v>0.625</c:v>
                </c:pt>
                <c:pt idx="503">
                  <c:v>0.63</c:v>
                </c:pt>
                <c:pt idx="504">
                  <c:v>0.63500000000000001</c:v>
                </c:pt>
                <c:pt idx="505">
                  <c:v>0.61</c:v>
                </c:pt>
                <c:pt idx="506">
                  <c:v>0.625</c:v>
                </c:pt>
                <c:pt idx="507">
                  <c:v>0.62</c:v>
                </c:pt>
                <c:pt idx="508">
                  <c:v>0.64</c:v>
                </c:pt>
                <c:pt idx="509">
                  <c:v>0.625</c:v>
                </c:pt>
                <c:pt idx="510">
                  <c:v>0.625</c:v>
                </c:pt>
                <c:pt idx="511">
                  <c:v>0.63500000000000001</c:v>
                </c:pt>
                <c:pt idx="512">
                  <c:v>0.63</c:v>
                </c:pt>
                <c:pt idx="513">
                  <c:v>0.64</c:v>
                </c:pt>
                <c:pt idx="514">
                  <c:v>0.63500000000000001</c:v>
                </c:pt>
                <c:pt idx="515">
                  <c:v>0.63500000000000001</c:v>
                </c:pt>
                <c:pt idx="516">
                  <c:v>0.64500000000000002</c:v>
                </c:pt>
                <c:pt idx="517">
                  <c:v>0.64500000000000002</c:v>
                </c:pt>
                <c:pt idx="518">
                  <c:v>0.64500000000000002</c:v>
                </c:pt>
                <c:pt idx="519">
                  <c:v>0.65500000000000003</c:v>
                </c:pt>
                <c:pt idx="520">
                  <c:v>0.67</c:v>
                </c:pt>
                <c:pt idx="521">
                  <c:v>0.66500000000000004</c:v>
                </c:pt>
                <c:pt idx="522">
                  <c:v>0.65500000000000003</c:v>
                </c:pt>
                <c:pt idx="523">
                  <c:v>0.63</c:v>
                </c:pt>
                <c:pt idx="524">
                  <c:v>0.65</c:v>
                </c:pt>
                <c:pt idx="525">
                  <c:v>0.63500000000000001</c:v>
                </c:pt>
                <c:pt idx="526">
                  <c:v>0.65</c:v>
                </c:pt>
                <c:pt idx="527">
                  <c:v>0.65</c:v>
                </c:pt>
                <c:pt idx="528">
                  <c:v>0.66</c:v>
                </c:pt>
                <c:pt idx="529">
                  <c:v>0.65</c:v>
                </c:pt>
                <c:pt idx="530">
                  <c:v>0.64</c:v>
                </c:pt>
                <c:pt idx="531">
                  <c:v>0.65500000000000003</c:v>
                </c:pt>
                <c:pt idx="532">
                  <c:v>0.63500000000000001</c:v>
                </c:pt>
                <c:pt idx="533">
                  <c:v>0.63</c:v>
                </c:pt>
                <c:pt idx="534">
                  <c:v>0.625</c:v>
                </c:pt>
                <c:pt idx="535">
                  <c:v>0.64</c:v>
                </c:pt>
                <c:pt idx="536">
                  <c:v>0.62</c:v>
                </c:pt>
                <c:pt idx="537">
                  <c:v>0.61499999999999999</c:v>
                </c:pt>
                <c:pt idx="538">
                  <c:v>0.6</c:v>
                </c:pt>
                <c:pt idx="539">
                  <c:v>0.63500000000000001</c:v>
                </c:pt>
                <c:pt idx="540">
                  <c:v>0.64500000000000002</c:v>
                </c:pt>
                <c:pt idx="541">
                  <c:v>0.64</c:v>
                </c:pt>
                <c:pt idx="542">
                  <c:v>0.64500000000000002</c:v>
                </c:pt>
                <c:pt idx="543">
                  <c:v>0.65500000000000003</c:v>
                </c:pt>
                <c:pt idx="544">
                  <c:v>0.66500000000000004</c:v>
                </c:pt>
                <c:pt idx="545">
                  <c:v>0.66500000000000004</c:v>
                </c:pt>
                <c:pt idx="546">
                  <c:v>0.65</c:v>
                </c:pt>
                <c:pt idx="547">
                  <c:v>0.66500000000000004</c:v>
                </c:pt>
                <c:pt idx="548">
                  <c:v>0.66500000000000004</c:v>
                </c:pt>
                <c:pt idx="549">
                  <c:v>0.65500000000000003</c:v>
                </c:pt>
                <c:pt idx="550">
                  <c:v>0.64</c:v>
                </c:pt>
                <c:pt idx="551">
                  <c:v>0.62</c:v>
                </c:pt>
                <c:pt idx="552">
                  <c:v>0.61</c:v>
                </c:pt>
                <c:pt idx="553">
                  <c:v>0.56999999999999995</c:v>
                </c:pt>
                <c:pt idx="554">
                  <c:v>0.57499999999999996</c:v>
                </c:pt>
                <c:pt idx="555">
                  <c:v>0.59</c:v>
                </c:pt>
                <c:pt idx="556">
                  <c:v>0.60499999999999998</c:v>
                </c:pt>
                <c:pt idx="557">
                  <c:v>0.62</c:v>
                </c:pt>
                <c:pt idx="558">
                  <c:v>0.61</c:v>
                </c:pt>
                <c:pt idx="559">
                  <c:v>0.6</c:v>
                </c:pt>
                <c:pt idx="560">
                  <c:v>0.57999999999999996</c:v>
                </c:pt>
                <c:pt idx="561">
                  <c:v>0.59499999999999997</c:v>
                </c:pt>
                <c:pt idx="562">
                  <c:v>0.57499999999999996</c:v>
                </c:pt>
                <c:pt idx="563">
                  <c:v>0.59499999999999997</c:v>
                </c:pt>
                <c:pt idx="564">
                  <c:v>0.61</c:v>
                </c:pt>
                <c:pt idx="565">
                  <c:v>0.61499999999999999</c:v>
                </c:pt>
                <c:pt idx="566">
                  <c:v>0.6</c:v>
                </c:pt>
                <c:pt idx="567">
                  <c:v>0.59499999999999997</c:v>
                </c:pt>
                <c:pt idx="568">
                  <c:v>0.59</c:v>
                </c:pt>
                <c:pt idx="569">
                  <c:v>0.56499999999999995</c:v>
                </c:pt>
                <c:pt idx="570">
                  <c:v>0.56499999999999995</c:v>
                </c:pt>
                <c:pt idx="571">
                  <c:v>0.56499999999999995</c:v>
                </c:pt>
                <c:pt idx="572">
                  <c:v>0.57499999999999996</c:v>
                </c:pt>
                <c:pt idx="573">
                  <c:v>0.58499999999999996</c:v>
                </c:pt>
                <c:pt idx="574">
                  <c:v>0.56999999999999995</c:v>
                </c:pt>
                <c:pt idx="575">
                  <c:v>0.57999999999999996</c:v>
                </c:pt>
                <c:pt idx="576">
                  <c:v>0.58499999999999996</c:v>
                </c:pt>
                <c:pt idx="577">
                  <c:v>0.60499999999999998</c:v>
                </c:pt>
                <c:pt idx="578">
                  <c:v>0.59499999999999997</c:v>
                </c:pt>
                <c:pt idx="579">
                  <c:v>0.6</c:v>
                </c:pt>
                <c:pt idx="580">
                  <c:v>0.6</c:v>
                </c:pt>
                <c:pt idx="581">
                  <c:v>0.59499999999999997</c:v>
                </c:pt>
                <c:pt idx="582">
                  <c:v>0.61</c:v>
                </c:pt>
                <c:pt idx="583">
                  <c:v>0.6</c:v>
                </c:pt>
                <c:pt idx="584">
                  <c:v>0.6</c:v>
                </c:pt>
                <c:pt idx="585">
                  <c:v>0.60499999999999998</c:v>
                </c:pt>
                <c:pt idx="586">
                  <c:v>0.60499999999999998</c:v>
                </c:pt>
                <c:pt idx="587">
                  <c:v>0.61</c:v>
                </c:pt>
                <c:pt idx="588">
                  <c:v>0.6</c:v>
                </c:pt>
                <c:pt idx="589">
                  <c:v>0.61499999999999999</c:v>
                </c:pt>
                <c:pt idx="590">
                  <c:v>0.61</c:v>
                </c:pt>
                <c:pt idx="591">
                  <c:v>0.59499999999999997</c:v>
                </c:pt>
                <c:pt idx="592">
                  <c:v>0.59499999999999997</c:v>
                </c:pt>
                <c:pt idx="593">
                  <c:v>0.59499999999999997</c:v>
                </c:pt>
                <c:pt idx="594">
                  <c:v>0.57999999999999996</c:v>
                </c:pt>
                <c:pt idx="595">
                  <c:v>0.59499999999999997</c:v>
                </c:pt>
                <c:pt idx="596">
                  <c:v>0.61</c:v>
                </c:pt>
                <c:pt idx="597">
                  <c:v>0.61</c:v>
                </c:pt>
                <c:pt idx="598">
                  <c:v>0.60499999999999998</c:v>
                </c:pt>
                <c:pt idx="599">
                  <c:v>0.60499999999999998</c:v>
                </c:pt>
                <c:pt idx="600">
                  <c:v>0.61499999999999999</c:v>
                </c:pt>
                <c:pt idx="601">
                  <c:v>0.61</c:v>
                </c:pt>
                <c:pt idx="602">
                  <c:v>0.61499999999999999</c:v>
                </c:pt>
                <c:pt idx="603">
                  <c:v>0.6</c:v>
                </c:pt>
                <c:pt idx="604">
                  <c:v>0.6</c:v>
                </c:pt>
                <c:pt idx="605">
                  <c:v>0.57999999999999996</c:v>
                </c:pt>
                <c:pt idx="606">
                  <c:v>0.60499999999999998</c:v>
                </c:pt>
                <c:pt idx="607">
                  <c:v>0.62</c:v>
                </c:pt>
                <c:pt idx="608">
                  <c:v>0.61499999999999999</c:v>
                </c:pt>
                <c:pt idx="609">
                  <c:v>0.60499999999999998</c:v>
                </c:pt>
                <c:pt idx="610">
                  <c:v>0.60499999999999998</c:v>
                </c:pt>
                <c:pt idx="611">
                  <c:v>0.62</c:v>
                </c:pt>
                <c:pt idx="612">
                  <c:v>0.62</c:v>
                </c:pt>
                <c:pt idx="613">
                  <c:v>0.62</c:v>
                </c:pt>
                <c:pt idx="614">
                  <c:v>0.61</c:v>
                </c:pt>
                <c:pt idx="615">
                  <c:v>0.59499999999999997</c:v>
                </c:pt>
                <c:pt idx="616">
                  <c:v>0.61499999999999999</c:v>
                </c:pt>
                <c:pt idx="617">
                  <c:v>0.60499999999999998</c:v>
                </c:pt>
                <c:pt idx="618">
                  <c:v>0.61</c:v>
                </c:pt>
                <c:pt idx="619">
                  <c:v>0.61</c:v>
                </c:pt>
                <c:pt idx="620">
                  <c:v>0.6</c:v>
                </c:pt>
                <c:pt idx="621">
                  <c:v>0.59</c:v>
                </c:pt>
                <c:pt idx="622">
                  <c:v>0.57999999999999996</c:v>
                </c:pt>
                <c:pt idx="623">
                  <c:v>0.58499999999999996</c:v>
                </c:pt>
                <c:pt idx="624">
                  <c:v>0.57999999999999996</c:v>
                </c:pt>
                <c:pt idx="625">
                  <c:v>0.57999999999999996</c:v>
                </c:pt>
                <c:pt idx="626">
                  <c:v>0.56999999999999995</c:v>
                </c:pt>
                <c:pt idx="627">
                  <c:v>0.56999999999999995</c:v>
                </c:pt>
                <c:pt idx="628">
                  <c:v>0.56999999999999995</c:v>
                </c:pt>
                <c:pt idx="629">
                  <c:v>0.57499999999999996</c:v>
                </c:pt>
                <c:pt idx="630">
                  <c:v>0.54500000000000004</c:v>
                </c:pt>
                <c:pt idx="631">
                  <c:v>0.53500000000000003</c:v>
                </c:pt>
                <c:pt idx="632">
                  <c:v>0.54</c:v>
                </c:pt>
                <c:pt idx="633">
                  <c:v>0.54</c:v>
                </c:pt>
                <c:pt idx="634">
                  <c:v>0.56000000000000005</c:v>
                </c:pt>
                <c:pt idx="635">
                  <c:v>0.57499999999999996</c:v>
                </c:pt>
                <c:pt idx="636">
                  <c:v>0.59499999999999997</c:v>
                </c:pt>
                <c:pt idx="637">
                  <c:v>0.57999999999999996</c:v>
                </c:pt>
                <c:pt idx="638">
                  <c:v>0.57999999999999996</c:v>
                </c:pt>
                <c:pt idx="639">
                  <c:v>0.56000000000000005</c:v>
                </c:pt>
                <c:pt idx="640">
                  <c:v>0.56000000000000005</c:v>
                </c:pt>
                <c:pt idx="641">
                  <c:v>0.56999999999999995</c:v>
                </c:pt>
                <c:pt idx="642">
                  <c:v>0.57999999999999996</c:v>
                </c:pt>
                <c:pt idx="643">
                  <c:v>0.57999999999999996</c:v>
                </c:pt>
                <c:pt idx="644">
                  <c:v>0.61</c:v>
                </c:pt>
                <c:pt idx="645">
                  <c:v>0.60499999999999998</c:v>
                </c:pt>
                <c:pt idx="646">
                  <c:v>0.59499999999999997</c:v>
                </c:pt>
                <c:pt idx="647">
                  <c:v>0.58499999999999996</c:v>
                </c:pt>
                <c:pt idx="648">
                  <c:v>0.57499999999999996</c:v>
                </c:pt>
                <c:pt idx="649">
                  <c:v>0.59</c:v>
                </c:pt>
                <c:pt idx="650">
                  <c:v>0.6</c:v>
                </c:pt>
                <c:pt idx="651">
                  <c:v>0.64</c:v>
                </c:pt>
                <c:pt idx="652">
                  <c:v>0.625</c:v>
                </c:pt>
                <c:pt idx="653">
                  <c:v>0.61499999999999999</c:v>
                </c:pt>
                <c:pt idx="654">
                  <c:v>0.625</c:v>
                </c:pt>
                <c:pt idx="655">
                  <c:v>0.64</c:v>
                </c:pt>
                <c:pt idx="656">
                  <c:v>0.64</c:v>
                </c:pt>
                <c:pt idx="657">
                  <c:v>0.62</c:v>
                </c:pt>
                <c:pt idx="658">
                  <c:v>0.625</c:v>
                </c:pt>
                <c:pt idx="659">
                  <c:v>0.62</c:v>
                </c:pt>
                <c:pt idx="660">
                  <c:v>0.59</c:v>
                </c:pt>
                <c:pt idx="661">
                  <c:v>0.56499999999999995</c:v>
                </c:pt>
                <c:pt idx="662">
                  <c:v>0.57499999999999996</c:v>
                </c:pt>
                <c:pt idx="663">
                  <c:v>0.57999999999999996</c:v>
                </c:pt>
                <c:pt idx="664">
                  <c:v>0.56999999999999995</c:v>
                </c:pt>
                <c:pt idx="665">
                  <c:v>0.57499999999999996</c:v>
                </c:pt>
                <c:pt idx="666">
                  <c:v>0.57999999999999996</c:v>
                </c:pt>
                <c:pt idx="667">
                  <c:v>0.57499999999999996</c:v>
                </c:pt>
                <c:pt idx="668">
                  <c:v>0.56499999999999995</c:v>
                </c:pt>
                <c:pt idx="669">
                  <c:v>0.57499999999999996</c:v>
                </c:pt>
                <c:pt idx="670">
                  <c:v>0.56499999999999995</c:v>
                </c:pt>
                <c:pt idx="671">
                  <c:v>0.57999999999999996</c:v>
                </c:pt>
                <c:pt idx="672">
                  <c:v>0.57999999999999996</c:v>
                </c:pt>
                <c:pt idx="673">
                  <c:v>0.58499999999999996</c:v>
                </c:pt>
                <c:pt idx="674">
                  <c:v>0.58499999999999996</c:v>
                </c:pt>
                <c:pt idx="675">
                  <c:v>0.6</c:v>
                </c:pt>
                <c:pt idx="676">
                  <c:v>0.6</c:v>
                </c:pt>
                <c:pt idx="677">
                  <c:v>0.59499999999999997</c:v>
                </c:pt>
                <c:pt idx="678">
                  <c:v>0.60499999999999998</c:v>
                </c:pt>
                <c:pt idx="679">
                  <c:v>0.61499999999999999</c:v>
                </c:pt>
                <c:pt idx="680">
                  <c:v>0.61499999999999999</c:v>
                </c:pt>
                <c:pt idx="681">
                  <c:v>0.61</c:v>
                </c:pt>
                <c:pt idx="682">
                  <c:v>0.60499999999999998</c:v>
                </c:pt>
                <c:pt idx="683">
                  <c:v>0.60499999999999998</c:v>
                </c:pt>
                <c:pt idx="684">
                  <c:v>0.6</c:v>
                </c:pt>
                <c:pt idx="685">
                  <c:v>0.61</c:v>
                </c:pt>
                <c:pt idx="686">
                  <c:v>0.6</c:v>
                </c:pt>
                <c:pt idx="687">
                  <c:v>0.59</c:v>
                </c:pt>
                <c:pt idx="688">
                  <c:v>0.57999999999999996</c:v>
                </c:pt>
                <c:pt idx="689">
                  <c:v>0.59</c:v>
                </c:pt>
                <c:pt idx="690">
                  <c:v>0.59</c:v>
                </c:pt>
                <c:pt idx="691">
                  <c:v>0.59499999999999997</c:v>
                </c:pt>
                <c:pt idx="692">
                  <c:v>0.59499999999999997</c:v>
                </c:pt>
                <c:pt idx="693">
                  <c:v>0.58499999999999996</c:v>
                </c:pt>
                <c:pt idx="694">
                  <c:v>0.57499999999999996</c:v>
                </c:pt>
                <c:pt idx="695">
                  <c:v>0.56999999999999995</c:v>
                </c:pt>
                <c:pt idx="696">
                  <c:v>0.58499999999999996</c:v>
                </c:pt>
                <c:pt idx="697">
                  <c:v>0.59499999999999997</c:v>
                </c:pt>
                <c:pt idx="698">
                  <c:v>0.6</c:v>
                </c:pt>
                <c:pt idx="699">
                  <c:v>0.625</c:v>
                </c:pt>
                <c:pt idx="700">
                  <c:v>0.61499999999999999</c:v>
                </c:pt>
                <c:pt idx="701">
                  <c:v>0.59499999999999997</c:v>
                </c:pt>
                <c:pt idx="702">
                  <c:v>0.6</c:v>
                </c:pt>
                <c:pt idx="703">
                  <c:v>0.61</c:v>
                </c:pt>
                <c:pt idx="704">
                  <c:v>0.61499999999999999</c:v>
                </c:pt>
                <c:pt idx="705">
                  <c:v>0.61499999999999999</c:v>
                </c:pt>
                <c:pt idx="706">
                  <c:v>0.61499999999999999</c:v>
                </c:pt>
                <c:pt idx="707">
                  <c:v>0.61</c:v>
                </c:pt>
                <c:pt idx="708">
                  <c:v>0.61499999999999999</c:v>
                </c:pt>
                <c:pt idx="709">
                  <c:v>0.61499999999999999</c:v>
                </c:pt>
                <c:pt idx="710">
                  <c:v>0.6</c:v>
                </c:pt>
                <c:pt idx="711">
                  <c:v>0.59499999999999997</c:v>
                </c:pt>
                <c:pt idx="712">
                  <c:v>0.57999999999999996</c:v>
                </c:pt>
                <c:pt idx="713">
                  <c:v>0.6</c:v>
                </c:pt>
                <c:pt idx="714">
                  <c:v>0.59499999999999997</c:v>
                </c:pt>
                <c:pt idx="715">
                  <c:v>0.59499999999999997</c:v>
                </c:pt>
                <c:pt idx="716">
                  <c:v>0.58499999999999996</c:v>
                </c:pt>
                <c:pt idx="717">
                  <c:v>0.57499999999999996</c:v>
                </c:pt>
                <c:pt idx="718">
                  <c:v>0.57999999999999996</c:v>
                </c:pt>
                <c:pt idx="719">
                  <c:v>0.56999999999999995</c:v>
                </c:pt>
                <c:pt idx="720">
                  <c:v>0.57499999999999996</c:v>
                </c:pt>
                <c:pt idx="721">
                  <c:v>0.57999999999999996</c:v>
                </c:pt>
                <c:pt idx="722">
                  <c:v>0.58499999999999996</c:v>
                </c:pt>
                <c:pt idx="723">
                  <c:v>0.59499999999999997</c:v>
                </c:pt>
                <c:pt idx="724">
                  <c:v>0.59499999999999997</c:v>
                </c:pt>
                <c:pt idx="725">
                  <c:v>0.6</c:v>
                </c:pt>
                <c:pt idx="726">
                  <c:v>0.62</c:v>
                </c:pt>
                <c:pt idx="727">
                  <c:v>0.61499999999999999</c:v>
                </c:pt>
                <c:pt idx="728">
                  <c:v>0.625</c:v>
                </c:pt>
                <c:pt idx="729">
                  <c:v>0.60499999999999998</c:v>
                </c:pt>
                <c:pt idx="730">
                  <c:v>0.60499999999999998</c:v>
                </c:pt>
                <c:pt idx="731">
                  <c:v>0.6</c:v>
                </c:pt>
                <c:pt idx="732">
                  <c:v>0.60499999999999998</c:v>
                </c:pt>
                <c:pt idx="733">
                  <c:v>0.59</c:v>
                </c:pt>
                <c:pt idx="734">
                  <c:v>0.57999999999999996</c:v>
                </c:pt>
                <c:pt idx="735">
                  <c:v>0.58499999999999996</c:v>
                </c:pt>
                <c:pt idx="736">
                  <c:v>0.59499999999999997</c:v>
                </c:pt>
                <c:pt idx="737">
                  <c:v>0.59499999999999997</c:v>
                </c:pt>
                <c:pt idx="738">
                  <c:v>0.61</c:v>
                </c:pt>
                <c:pt idx="739">
                  <c:v>0.6</c:v>
                </c:pt>
                <c:pt idx="740">
                  <c:v>0.59499999999999997</c:v>
                </c:pt>
                <c:pt idx="741">
                  <c:v>0.59499999999999997</c:v>
                </c:pt>
                <c:pt idx="742">
                  <c:v>0.60499999999999998</c:v>
                </c:pt>
                <c:pt idx="743">
                  <c:v>0.61</c:v>
                </c:pt>
                <c:pt idx="744">
                  <c:v>0.60499999999999998</c:v>
                </c:pt>
                <c:pt idx="745">
                  <c:v>0.62</c:v>
                </c:pt>
                <c:pt idx="746">
                  <c:v>0.61</c:v>
                </c:pt>
                <c:pt idx="747">
                  <c:v>0.625</c:v>
                </c:pt>
                <c:pt idx="748">
                  <c:v>0.63</c:v>
                </c:pt>
                <c:pt idx="749">
                  <c:v>0.61499999999999999</c:v>
                </c:pt>
                <c:pt idx="750">
                  <c:v>0.59499999999999997</c:v>
                </c:pt>
                <c:pt idx="751">
                  <c:v>0.59499999999999997</c:v>
                </c:pt>
                <c:pt idx="752">
                  <c:v>0.6</c:v>
                </c:pt>
                <c:pt idx="753">
                  <c:v>0.6</c:v>
                </c:pt>
                <c:pt idx="754">
                  <c:v>0.59</c:v>
                </c:pt>
                <c:pt idx="755">
                  <c:v>0.58499999999999996</c:v>
                </c:pt>
                <c:pt idx="756">
                  <c:v>0.57499999999999996</c:v>
                </c:pt>
                <c:pt idx="757">
                  <c:v>0.57499999999999996</c:v>
                </c:pt>
                <c:pt idx="758">
                  <c:v>0.57499999999999996</c:v>
                </c:pt>
                <c:pt idx="759">
                  <c:v>0.58499999999999996</c:v>
                </c:pt>
                <c:pt idx="760">
                  <c:v>0.56999999999999995</c:v>
                </c:pt>
                <c:pt idx="761">
                  <c:v>0.57999999999999996</c:v>
                </c:pt>
                <c:pt idx="762">
                  <c:v>0.57499999999999996</c:v>
                </c:pt>
                <c:pt idx="763">
                  <c:v>0.59499999999999997</c:v>
                </c:pt>
                <c:pt idx="764">
                  <c:v>0.57499999999999996</c:v>
                </c:pt>
                <c:pt idx="765">
                  <c:v>0.57499999999999996</c:v>
                </c:pt>
                <c:pt idx="766">
                  <c:v>0.57999999999999996</c:v>
                </c:pt>
                <c:pt idx="767">
                  <c:v>0.57499999999999996</c:v>
                </c:pt>
                <c:pt idx="768">
                  <c:v>0.57999999999999996</c:v>
                </c:pt>
                <c:pt idx="769">
                  <c:v>0.57999999999999996</c:v>
                </c:pt>
                <c:pt idx="770">
                  <c:v>0.57999999999999996</c:v>
                </c:pt>
                <c:pt idx="771">
                  <c:v>0.57999999999999996</c:v>
                </c:pt>
                <c:pt idx="772">
                  <c:v>0.57999999999999996</c:v>
                </c:pt>
                <c:pt idx="773">
                  <c:v>0.57499999999999996</c:v>
                </c:pt>
                <c:pt idx="774">
                  <c:v>0.54500000000000004</c:v>
                </c:pt>
                <c:pt idx="775">
                  <c:v>0.56000000000000005</c:v>
                </c:pt>
                <c:pt idx="776">
                  <c:v>0.58499999999999996</c:v>
                </c:pt>
                <c:pt idx="777">
                  <c:v>0.57499999999999996</c:v>
                </c:pt>
                <c:pt idx="778">
                  <c:v>0.54</c:v>
                </c:pt>
                <c:pt idx="779">
                  <c:v>0.55500000000000005</c:v>
                </c:pt>
                <c:pt idx="780">
                  <c:v>0.56000000000000005</c:v>
                </c:pt>
                <c:pt idx="781">
                  <c:v>0.58499999999999996</c:v>
                </c:pt>
                <c:pt idx="782">
                  <c:v>0.57999999999999996</c:v>
                </c:pt>
                <c:pt idx="783">
                  <c:v>0.56999999999999995</c:v>
                </c:pt>
                <c:pt idx="784">
                  <c:v>0.56499999999999995</c:v>
                </c:pt>
                <c:pt idx="785">
                  <c:v>0.57999999999999996</c:v>
                </c:pt>
                <c:pt idx="786">
                  <c:v>0.57499999999999996</c:v>
                </c:pt>
                <c:pt idx="787">
                  <c:v>0.57999999999999996</c:v>
                </c:pt>
                <c:pt idx="788">
                  <c:v>0.54500000000000004</c:v>
                </c:pt>
                <c:pt idx="789">
                  <c:v>0.55000000000000004</c:v>
                </c:pt>
                <c:pt idx="790">
                  <c:v>0.55500000000000005</c:v>
                </c:pt>
                <c:pt idx="791">
                  <c:v>0.54</c:v>
                </c:pt>
                <c:pt idx="792">
                  <c:v>0.52</c:v>
                </c:pt>
                <c:pt idx="793">
                  <c:v>0.51</c:v>
                </c:pt>
                <c:pt idx="794">
                  <c:v>0.52</c:v>
                </c:pt>
                <c:pt idx="795">
                  <c:v>0.53</c:v>
                </c:pt>
                <c:pt idx="796">
                  <c:v>0.52</c:v>
                </c:pt>
                <c:pt idx="797">
                  <c:v>0.51</c:v>
                </c:pt>
                <c:pt idx="798">
                  <c:v>0.51500000000000001</c:v>
                </c:pt>
                <c:pt idx="799">
                  <c:v>0.53500000000000003</c:v>
                </c:pt>
                <c:pt idx="800">
                  <c:v>0.56000000000000005</c:v>
                </c:pt>
                <c:pt idx="801">
                  <c:v>0.56000000000000005</c:v>
                </c:pt>
                <c:pt idx="802">
                  <c:v>0.56999999999999995</c:v>
                </c:pt>
                <c:pt idx="803">
                  <c:v>0.56499999999999995</c:v>
                </c:pt>
                <c:pt idx="804">
                  <c:v>0.57999999999999996</c:v>
                </c:pt>
                <c:pt idx="805">
                  <c:v>0.56999999999999995</c:v>
                </c:pt>
                <c:pt idx="806">
                  <c:v>0.55500000000000005</c:v>
                </c:pt>
                <c:pt idx="807">
                  <c:v>0.54500000000000004</c:v>
                </c:pt>
                <c:pt idx="808">
                  <c:v>0.54</c:v>
                </c:pt>
                <c:pt idx="809">
                  <c:v>0.51500000000000001</c:v>
                </c:pt>
                <c:pt idx="810">
                  <c:v>0.56499999999999995</c:v>
                </c:pt>
                <c:pt idx="811">
                  <c:v>0.56000000000000005</c:v>
                </c:pt>
                <c:pt idx="812">
                  <c:v>0.55500000000000005</c:v>
                </c:pt>
                <c:pt idx="813">
                  <c:v>0.55000000000000004</c:v>
                </c:pt>
                <c:pt idx="814">
                  <c:v>0.57499999999999996</c:v>
                </c:pt>
                <c:pt idx="815">
                  <c:v>0.56999999999999995</c:v>
                </c:pt>
                <c:pt idx="816">
                  <c:v>0.56999999999999995</c:v>
                </c:pt>
                <c:pt idx="817">
                  <c:v>0.57499999999999996</c:v>
                </c:pt>
                <c:pt idx="818">
                  <c:v>0.56999999999999995</c:v>
                </c:pt>
                <c:pt idx="819">
                  <c:v>0.55500000000000005</c:v>
                </c:pt>
                <c:pt idx="820">
                  <c:v>0.55500000000000005</c:v>
                </c:pt>
                <c:pt idx="821">
                  <c:v>0.56000000000000005</c:v>
                </c:pt>
                <c:pt idx="822">
                  <c:v>0.56000000000000005</c:v>
                </c:pt>
                <c:pt idx="823">
                  <c:v>0.56000000000000005</c:v>
                </c:pt>
                <c:pt idx="824">
                  <c:v>0.54500000000000004</c:v>
                </c:pt>
                <c:pt idx="825">
                  <c:v>0.55500000000000005</c:v>
                </c:pt>
                <c:pt idx="826">
                  <c:v>0.55000000000000004</c:v>
                </c:pt>
                <c:pt idx="827">
                  <c:v>0.53500000000000003</c:v>
                </c:pt>
                <c:pt idx="828">
                  <c:v>0.54500000000000004</c:v>
                </c:pt>
                <c:pt idx="829">
                  <c:v>0.53500000000000003</c:v>
                </c:pt>
                <c:pt idx="830">
                  <c:v>0.53</c:v>
                </c:pt>
                <c:pt idx="831">
                  <c:v>0.51500000000000001</c:v>
                </c:pt>
                <c:pt idx="832">
                  <c:v>0.52</c:v>
                </c:pt>
                <c:pt idx="833">
                  <c:v>0.52500000000000002</c:v>
                </c:pt>
                <c:pt idx="834">
                  <c:v>0.495</c:v>
                </c:pt>
                <c:pt idx="835">
                  <c:v>0.46</c:v>
                </c:pt>
                <c:pt idx="836">
                  <c:v>0.46500000000000002</c:v>
                </c:pt>
                <c:pt idx="837">
                  <c:v>0.46500000000000002</c:v>
                </c:pt>
                <c:pt idx="838">
                  <c:v>0.48499999999999999</c:v>
                </c:pt>
                <c:pt idx="839">
                  <c:v>0.46</c:v>
                </c:pt>
                <c:pt idx="840">
                  <c:v>0.47499999999999998</c:v>
                </c:pt>
                <c:pt idx="841">
                  <c:v>0.47499999999999998</c:v>
                </c:pt>
                <c:pt idx="842">
                  <c:v>0.47499999999999998</c:v>
                </c:pt>
                <c:pt idx="843">
                  <c:v>0.48</c:v>
                </c:pt>
                <c:pt idx="844">
                  <c:v>0.48</c:v>
                </c:pt>
                <c:pt idx="845">
                  <c:v>0.47</c:v>
                </c:pt>
                <c:pt idx="846">
                  <c:v>0.47499999999999998</c:v>
                </c:pt>
                <c:pt idx="847">
                  <c:v>0.47</c:v>
                </c:pt>
                <c:pt idx="848">
                  <c:v>0.47499999999999998</c:v>
                </c:pt>
                <c:pt idx="849">
                  <c:v>0.48</c:v>
                </c:pt>
                <c:pt idx="850">
                  <c:v>0.47</c:v>
                </c:pt>
                <c:pt idx="851">
                  <c:v>0.5</c:v>
                </c:pt>
                <c:pt idx="852">
                  <c:v>0.52</c:v>
                </c:pt>
                <c:pt idx="853">
                  <c:v>0.53</c:v>
                </c:pt>
                <c:pt idx="854">
                  <c:v>0.53</c:v>
                </c:pt>
                <c:pt idx="855">
                  <c:v>0.51500000000000001</c:v>
                </c:pt>
                <c:pt idx="856">
                  <c:v>0.51500000000000001</c:v>
                </c:pt>
                <c:pt idx="857">
                  <c:v>0.51500000000000001</c:v>
                </c:pt>
                <c:pt idx="858">
                  <c:v>0.54</c:v>
                </c:pt>
                <c:pt idx="859">
                  <c:v>0.52500000000000002</c:v>
                </c:pt>
                <c:pt idx="860">
                  <c:v>0.52</c:v>
                </c:pt>
                <c:pt idx="861">
                  <c:v>0.52</c:v>
                </c:pt>
                <c:pt idx="862">
                  <c:v>0.5</c:v>
                </c:pt>
                <c:pt idx="863">
                  <c:v>0.51500000000000001</c:v>
                </c:pt>
                <c:pt idx="864">
                  <c:v>0.52500000000000002</c:v>
                </c:pt>
                <c:pt idx="865">
                  <c:v>0.51</c:v>
                </c:pt>
                <c:pt idx="866">
                  <c:v>0.505</c:v>
                </c:pt>
                <c:pt idx="867">
                  <c:v>0.495</c:v>
                </c:pt>
                <c:pt idx="868">
                  <c:v>0.48499999999999999</c:v>
                </c:pt>
                <c:pt idx="869">
                  <c:v>0.49</c:v>
                </c:pt>
                <c:pt idx="870">
                  <c:v>0.495</c:v>
                </c:pt>
                <c:pt idx="871">
                  <c:v>0.5</c:v>
                </c:pt>
                <c:pt idx="872">
                  <c:v>0.5</c:v>
                </c:pt>
                <c:pt idx="873">
                  <c:v>0.49</c:v>
                </c:pt>
                <c:pt idx="874">
                  <c:v>0.505</c:v>
                </c:pt>
                <c:pt idx="875">
                  <c:v>0.52</c:v>
                </c:pt>
                <c:pt idx="876">
                  <c:v>0.51</c:v>
                </c:pt>
                <c:pt idx="877">
                  <c:v>0.51</c:v>
                </c:pt>
                <c:pt idx="878">
                  <c:v>0.51</c:v>
                </c:pt>
                <c:pt idx="879">
                  <c:v>0.505</c:v>
                </c:pt>
                <c:pt idx="880">
                  <c:v>0.51500000000000001</c:v>
                </c:pt>
                <c:pt idx="881">
                  <c:v>0.51</c:v>
                </c:pt>
                <c:pt idx="882">
                  <c:v>0.52500000000000002</c:v>
                </c:pt>
                <c:pt idx="883">
                  <c:v>0.51500000000000001</c:v>
                </c:pt>
                <c:pt idx="884">
                  <c:v>0.5</c:v>
                </c:pt>
                <c:pt idx="885">
                  <c:v>0.505</c:v>
                </c:pt>
                <c:pt idx="886">
                  <c:v>0.495</c:v>
                </c:pt>
                <c:pt idx="887">
                  <c:v>0.5</c:v>
                </c:pt>
                <c:pt idx="888">
                  <c:v>0.51500000000000001</c:v>
                </c:pt>
                <c:pt idx="889">
                  <c:v>0.505</c:v>
                </c:pt>
                <c:pt idx="890">
                  <c:v>0.51500000000000001</c:v>
                </c:pt>
                <c:pt idx="891">
                  <c:v>0.53500000000000003</c:v>
                </c:pt>
                <c:pt idx="892">
                  <c:v>0.53</c:v>
                </c:pt>
                <c:pt idx="893">
                  <c:v>0.53500000000000003</c:v>
                </c:pt>
                <c:pt idx="894">
                  <c:v>0.53500000000000003</c:v>
                </c:pt>
                <c:pt idx="895">
                  <c:v>0.52500000000000002</c:v>
                </c:pt>
                <c:pt idx="896">
                  <c:v>0.52</c:v>
                </c:pt>
                <c:pt idx="897">
                  <c:v>0.52500000000000002</c:v>
                </c:pt>
                <c:pt idx="898">
                  <c:v>0.52500000000000002</c:v>
                </c:pt>
                <c:pt idx="899">
                  <c:v>0.52500000000000002</c:v>
                </c:pt>
                <c:pt idx="900">
                  <c:v>0.52500000000000002</c:v>
                </c:pt>
                <c:pt idx="901">
                  <c:v>0.53</c:v>
                </c:pt>
                <c:pt idx="902">
                  <c:v>0.53</c:v>
                </c:pt>
                <c:pt idx="903">
                  <c:v>0.53</c:v>
                </c:pt>
                <c:pt idx="904">
                  <c:v>0.54500000000000004</c:v>
                </c:pt>
                <c:pt idx="905">
                  <c:v>0.55000000000000004</c:v>
                </c:pt>
                <c:pt idx="906">
                  <c:v>0.55000000000000004</c:v>
                </c:pt>
                <c:pt idx="907">
                  <c:v>0.56000000000000005</c:v>
                </c:pt>
                <c:pt idx="908">
                  <c:v>0.56000000000000005</c:v>
                </c:pt>
                <c:pt idx="909">
                  <c:v>0.55500000000000005</c:v>
                </c:pt>
                <c:pt idx="910">
                  <c:v>0.53500000000000003</c:v>
                </c:pt>
                <c:pt idx="911">
                  <c:v>0.53500000000000003</c:v>
                </c:pt>
                <c:pt idx="912">
                  <c:v>0.54</c:v>
                </c:pt>
                <c:pt idx="913">
                  <c:v>0.54500000000000004</c:v>
                </c:pt>
                <c:pt idx="914">
                  <c:v>0.53</c:v>
                </c:pt>
                <c:pt idx="915">
                  <c:v>0.52500000000000002</c:v>
                </c:pt>
                <c:pt idx="916">
                  <c:v>0.51500000000000001</c:v>
                </c:pt>
                <c:pt idx="917">
                  <c:v>0.52</c:v>
                </c:pt>
                <c:pt idx="918">
                  <c:v>0.52</c:v>
                </c:pt>
                <c:pt idx="919">
                  <c:v>0.51500000000000001</c:v>
                </c:pt>
                <c:pt idx="920">
                  <c:v>0.51</c:v>
                </c:pt>
                <c:pt idx="921">
                  <c:v>0.52</c:v>
                </c:pt>
                <c:pt idx="922">
                  <c:v>0.51500000000000001</c:v>
                </c:pt>
                <c:pt idx="923">
                  <c:v>0.51</c:v>
                </c:pt>
                <c:pt idx="924">
                  <c:v>0.51</c:v>
                </c:pt>
                <c:pt idx="925">
                  <c:v>0.5</c:v>
                </c:pt>
                <c:pt idx="926">
                  <c:v>0.5</c:v>
                </c:pt>
                <c:pt idx="927">
                  <c:v>0.5</c:v>
                </c:pt>
                <c:pt idx="928">
                  <c:v>0.5</c:v>
                </c:pt>
                <c:pt idx="929">
                  <c:v>0.5</c:v>
                </c:pt>
                <c:pt idx="930">
                  <c:v>0.505</c:v>
                </c:pt>
                <c:pt idx="931">
                  <c:v>0.505</c:v>
                </c:pt>
                <c:pt idx="932">
                  <c:v>0.51500000000000001</c:v>
                </c:pt>
                <c:pt idx="933">
                  <c:v>0.51500000000000001</c:v>
                </c:pt>
                <c:pt idx="934">
                  <c:v>0.51500000000000001</c:v>
                </c:pt>
                <c:pt idx="935">
                  <c:v>0.51500000000000001</c:v>
                </c:pt>
                <c:pt idx="936">
                  <c:v>0.51</c:v>
                </c:pt>
                <c:pt idx="937">
                  <c:v>0.52</c:v>
                </c:pt>
                <c:pt idx="938">
                  <c:v>0.51500000000000001</c:v>
                </c:pt>
                <c:pt idx="939">
                  <c:v>0.51500000000000001</c:v>
                </c:pt>
                <c:pt idx="940">
                  <c:v>0.51</c:v>
                </c:pt>
                <c:pt idx="941">
                  <c:v>0.505</c:v>
                </c:pt>
                <c:pt idx="942">
                  <c:v>0.51500000000000001</c:v>
                </c:pt>
                <c:pt idx="943">
                  <c:v>0.51500000000000001</c:v>
                </c:pt>
                <c:pt idx="944">
                  <c:v>0.52</c:v>
                </c:pt>
                <c:pt idx="945">
                  <c:v>0.52</c:v>
                </c:pt>
                <c:pt idx="946">
                  <c:v>0.52</c:v>
                </c:pt>
                <c:pt idx="947">
                  <c:v>0.52500000000000002</c:v>
                </c:pt>
                <c:pt idx="948">
                  <c:v>0.52</c:v>
                </c:pt>
                <c:pt idx="949">
                  <c:v>0.52</c:v>
                </c:pt>
                <c:pt idx="950">
                  <c:v>0.51</c:v>
                </c:pt>
                <c:pt idx="951">
                  <c:v>0.505</c:v>
                </c:pt>
                <c:pt idx="952">
                  <c:v>0.495</c:v>
                </c:pt>
                <c:pt idx="953">
                  <c:v>0.5</c:v>
                </c:pt>
                <c:pt idx="954">
                  <c:v>0.49</c:v>
                </c:pt>
                <c:pt idx="955">
                  <c:v>0.48499999999999999</c:v>
                </c:pt>
                <c:pt idx="956">
                  <c:v>0.49</c:v>
                </c:pt>
                <c:pt idx="957">
                  <c:v>0.47499999999999998</c:v>
                </c:pt>
                <c:pt idx="958">
                  <c:v>0.47499999999999998</c:v>
                </c:pt>
                <c:pt idx="959">
                  <c:v>0.47499999999999998</c:v>
                </c:pt>
                <c:pt idx="960">
                  <c:v>0.47499999999999998</c:v>
                </c:pt>
                <c:pt idx="961">
                  <c:v>0.47499999999999998</c:v>
                </c:pt>
                <c:pt idx="962">
                  <c:v>0.47</c:v>
                </c:pt>
                <c:pt idx="963">
                  <c:v>0.47</c:v>
                </c:pt>
                <c:pt idx="964">
                  <c:v>0.46500000000000002</c:v>
                </c:pt>
                <c:pt idx="965">
                  <c:v>0.46500000000000002</c:v>
                </c:pt>
                <c:pt idx="966">
                  <c:v>0.46</c:v>
                </c:pt>
                <c:pt idx="967">
                  <c:v>0.47</c:v>
                </c:pt>
                <c:pt idx="968">
                  <c:v>0.46500000000000002</c:v>
                </c:pt>
                <c:pt idx="969">
                  <c:v>0.47</c:v>
                </c:pt>
                <c:pt idx="970">
                  <c:v>0.47499999999999998</c:v>
                </c:pt>
                <c:pt idx="971">
                  <c:v>0.47499999999999998</c:v>
                </c:pt>
                <c:pt idx="972">
                  <c:v>0.48</c:v>
                </c:pt>
                <c:pt idx="973">
                  <c:v>0.48499999999999999</c:v>
                </c:pt>
                <c:pt idx="974">
                  <c:v>0.51</c:v>
                </c:pt>
                <c:pt idx="975">
                  <c:v>0.505</c:v>
                </c:pt>
                <c:pt idx="976">
                  <c:v>0.52</c:v>
                </c:pt>
                <c:pt idx="977">
                  <c:v>0.54</c:v>
                </c:pt>
                <c:pt idx="978">
                  <c:v>0.52500000000000002</c:v>
                </c:pt>
                <c:pt idx="979">
                  <c:v>0.52</c:v>
                </c:pt>
                <c:pt idx="980">
                  <c:v>0.51500000000000001</c:v>
                </c:pt>
                <c:pt idx="981">
                  <c:v>0.51500000000000001</c:v>
                </c:pt>
                <c:pt idx="982">
                  <c:v>0.505</c:v>
                </c:pt>
                <c:pt idx="983">
                  <c:v>0.5</c:v>
                </c:pt>
                <c:pt idx="984">
                  <c:v>0.51</c:v>
                </c:pt>
                <c:pt idx="985">
                  <c:v>0.505</c:v>
                </c:pt>
                <c:pt idx="986">
                  <c:v>0.505</c:v>
                </c:pt>
                <c:pt idx="987">
                  <c:v>0.51</c:v>
                </c:pt>
                <c:pt idx="988">
                  <c:v>0.5</c:v>
                </c:pt>
                <c:pt idx="989">
                  <c:v>0.505</c:v>
                </c:pt>
                <c:pt idx="990">
                  <c:v>0.495</c:v>
                </c:pt>
                <c:pt idx="991">
                  <c:v>0.5</c:v>
                </c:pt>
                <c:pt idx="992">
                  <c:v>0.495</c:v>
                </c:pt>
                <c:pt idx="993">
                  <c:v>0.49</c:v>
                </c:pt>
                <c:pt idx="994">
                  <c:v>0.49</c:v>
                </c:pt>
                <c:pt idx="995">
                  <c:v>0.49</c:v>
                </c:pt>
                <c:pt idx="996">
                  <c:v>0.49</c:v>
                </c:pt>
                <c:pt idx="997">
                  <c:v>0.49</c:v>
                </c:pt>
                <c:pt idx="998">
                  <c:v>0.49</c:v>
                </c:pt>
                <c:pt idx="999">
                  <c:v>0.51</c:v>
                </c:pt>
                <c:pt idx="1000">
                  <c:v>0.505</c:v>
                </c:pt>
                <c:pt idx="1001">
                  <c:v>0.505</c:v>
                </c:pt>
                <c:pt idx="1002">
                  <c:v>0.505</c:v>
                </c:pt>
                <c:pt idx="1003">
                  <c:v>0.5</c:v>
                </c:pt>
                <c:pt idx="1004">
                  <c:v>0.495</c:v>
                </c:pt>
                <c:pt idx="1005">
                  <c:v>0.495</c:v>
                </c:pt>
                <c:pt idx="1006">
                  <c:v>0.495</c:v>
                </c:pt>
                <c:pt idx="1007">
                  <c:v>0.5</c:v>
                </c:pt>
                <c:pt idx="1008">
                  <c:v>0.505</c:v>
                </c:pt>
                <c:pt idx="1009">
                  <c:v>0.51</c:v>
                </c:pt>
                <c:pt idx="1010">
                  <c:v>0.5</c:v>
                </c:pt>
                <c:pt idx="1011">
                  <c:v>0.5</c:v>
                </c:pt>
                <c:pt idx="1012">
                  <c:v>0.48499999999999999</c:v>
                </c:pt>
                <c:pt idx="1013">
                  <c:v>0.505</c:v>
                </c:pt>
                <c:pt idx="1014">
                  <c:v>0.5</c:v>
                </c:pt>
                <c:pt idx="1015">
                  <c:v>0.49</c:v>
                </c:pt>
                <c:pt idx="1016">
                  <c:v>0.495</c:v>
                </c:pt>
                <c:pt idx="1017">
                  <c:v>0.495</c:v>
                </c:pt>
                <c:pt idx="1018">
                  <c:v>0.5</c:v>
                </c:pt>
                <c:pt idx="1019">
                  <c:v>0.5</c:v>
                </c:pt>
                <c:pt idx="1020">
                  <c:v>0.5</c:v>
                </c:pt>
                <c:pt idx="1021">
                  <c:v>0.5</c:v>
                </c:pt>
                <c:pt idx="1022">
                  <c:v>0.51</c:v>
                </c:pt>
                <c:pt idx="1023">
                  <c:v>0.51</c:v>
                </c:pt>
                <c:pt idx="1024">
                  <c:v>0.54500000000000004</c:v>
                </c:pt>
                <c:pt idx="1025">
                  <c:v>0.53500000000000003</c:v>
                </c:pt>
                <c:pt idx="1026">
                  <c:v>0.54</c:v>
                </c:pt>
                <c:pt idx="1027">
                  <c:v>0.54</c:v>
                </c:pt>
                <c:pt idx="1028">
                  <c:v>0.54</c:v>
                </c:pt>
                <c:pt idx="1029">
                  <c:v>0.54500000000000004</c:v>
                </c:pt>
                <c:pt idx="1030">
                  <c:v>0.55500000000000005</c:v>
                </c:pt>
                <c:pt idx="1031">
                  <c:v>0.55000000000000004</c:v>
                </c:pt>
                <c:pt idx="1032">
                  <c:v>0.55000000000000004</c:v>
                </c:pt>
                <c:pt idx="1033">
                  <c:v>0.55000000000000004</c:v>
                </c:pt>
                <c:pt idx="1034">
                  <c:v>0.55500000000000005</c:v>
                </c:pt>
                <c:pt idx="1035">
                  <c:v>0.55500000000000005</c:v>
                </c:pt>
                <c:pt idx="1036">
                  <c:v>0.54500000000000004</c:v>
                </c:pt>
                <c:pt idx="1037">
                  <c:v>0.54500000000000004</c:v>
                </c:pt>
                <c:pt idx="1038">
                  <c:v>0.55000000000000004</c:v>
                </c:pt>
                <c:pt idx="1039">
                  <c:v>0.55000000000000004</c:v>
                </c:pt>
                <c:pt idx="1040">
                  <c:v>0.54</c:v>
                </c:pt>
                <c:pt idx="1041">
                  <c:v>0.54</c:v>
                </c:pt>
                <c:pt idx="1042">
                  <c:v>0.54</c:v>
                </c:pt>
                <c:pt idx="1043">
                  <c:v>0.54</c:v>
                </c:pt>
                <c:pt idx="1044">
                  <c:v>0.52500000000000002</c:v>
                </c:pt>
                <c:pt idx="1045">
                  <c:v>0.53</c:v>
                </c:pt>
                <c:pt idx="1046">
                  <c:v>0.53</c:v>
                </c:pt>
                <c:pt idx="1047">
                  <c:v>0.52500000000000002</c:v>
                </c:pt>
                <c:pt idx="1048">
                  <c:v>0.52</c:v>
                </c:pt>
                <c:pt idx="1049">
                  <c:v>0.52</c:v>
                </c:pt>
                <c:pt idx="1050">
                  <c:v>0.52500000000000002</c:v>
                </c:pt>
                <c:pt idx="1051">
                  <c:v>0.52</c:v>
                </c:pt>
                <c:pt idx="1052">
                  <c:v>0.52</c:v>
                </c:pt>
                <c:pt idx="1053">
                  <c:v>0.52</c:v>
                </c:pt>
                <c:pt idx="1054">
                  <c:v>0.52</c:v>
                </c:pt>
                <c:pt idx="1055">
                  <c:v>0.52500000000000002</c:v>
                </c:pt>
                <c:pt idx="1056">
                  <c:v>0.52</c:v>
                </c:pt>
                <c:pt idx="1057">
                  <c:v>0.53</c:v>
                </c:pt>
                <c:pt idx="1058">
                  <c:v>0.52500000000000002</c:v>
                </c:pt>
                <c:pt idx="1059">
                  <c:v>0.52500000000000002</c:v>
                </c:pt>
                <c:pt idx="1060">
                  <c:v>0.52500000000000002</c:v>
                </c:pt>
                <c:pt idx="1061">
                  <c:v>0.51500000000000001</c:v>
                </c:pt>
                <c:pt idx="1062">
                  <c:v>0.51</c:v>
                </c:pt>
                <c:pt idx="1063">
                  <c:v>0.5</c:v>
                </c:pt>
                <c:pt idx="1064">
                  <c:v>0.48</c:v>
                </c:pt>
                <c:pt idx="1065">
                  <c:v>0.49</c:v>
                </c:pt>
                <c:pt idx="1066">
                  <c:v>0.49</c:v>
                </c:pt>
                <c:pt idx="1067">
                  <c:v>0.47499999999999998</c:v>
                </c:pt>
                <c:pt idx="1068">
                  <c:v>0.48499999999999999</c:v>
                </c:pt>
                <c:pt idx="1069">
                  <c:v>0.5</c:v>
                </c:pt>
                <c:pt idx="1070">
                  <c:v>0.495</c:v>
                </c:pt>
                <c:pt idx="1071">
                  <c:v>0.48499999999999999</c:v>
                </c:pt>
                <c:pt idx="1072">
                  <c:v>0.49</c:v>
                </c:pt>
                <c:pt idx="1073">
                  <c:v>0.49</c:v>
                </c:pt>
                <c:pt idx="1074">
                  <c:v>0.49</c:v>
                </c:pt>
                <c:pt idx="1075">
                  <c:v>0.48499999999999999</c:v>
                </c:pt>
                <c:pt idx="1076">
                  <c:v>0.48499999999999999</c:v>
                </c:pt>
                <c:pt idx="1077">
                  <c:v>0.48</c:v>
                </c:pt>
                <c:pt idx="1078">
                  <c:v>0.49</c:v>
                </c:pt>
                <c:pt idx="1079">
                  <c:v>0.495</c:v>
                </c:pt>
                <c:pt idx="1080">
                  <c:v>0.49</c:v>
                </c:pt>
                <c:pt idx="1081">
                  <c:v>0.48499999999999999</c:v>
                </c:pt>
                <c:pt idx="1082">
                  <c:v>0.48499999999999999</c:v>
                </c:pt>
                <c:pt idx="1083">
                  <c:v>0.48499999999999999</c:v>
                </c:pt>
                <c:pt idx="1084">
                  <c:v>0.5</c:v>
                </c:pt>
                <c:pt idx="1085">
                  <c:v>0.49</c:v>
                </c:pt>
                <c:pt idx="1086">
                  <c:v>0.495</c:v>
                </c:pt>
                <c:pt idx="1087">
                  <c:v>0.49</c:v>
                </c:pt>
                <c:pt idx="1088">
                  <c:v>0.505</c:v>
                </c:pt>
                <c:pt idx="1089">
                  <c:v>0.505</c:v>
                </c:pt>
                <c:pt idx="1090">
                  <c:v>0.51</c:v>
                </c:pt>
                <c:pt idx="1091">
                  <c:v>0.51500000000000001</c:v>
                </c:pt>
                <c:pt idx="1092">
                  <c:v>0.52</c:v>
                </c:pt>
                <c:pt idx="1093">
                  <c:v>0.53</c:v>
                </c:pt>
                <c:pt idx="1094">
                  <c:v>0.52500000000000002</c:v>
                </c:pt>
                <c:pt idx="1095">
                  <c:v>0.52</c:v>
                </c:pt>
                <c:pt idx="1096">
                  <c:v>0.51</c:v>
                </c:pt>
                <c:pt idx="1097">
                  <c:v>0.52</c:v>
                </c:pt>
                <c:pt idx="1098">
                  <c:v>0.51500000000000001</c:v>
                </c:pt>
                <c:pt idx="1099">
                  <c:v>0.51500000000000001</c:v>
                </c:pt>
                <c:pt idx="1100">
                  <c:v>0.52</c:v>
                </c:pt>
                <c:pt idx="1101">
                  <c:v>0.52</c:v>
                </c:pt>
                <c:pt idx="1102">
                  <c:v>0.53</c:v>
                </c:pt>
                <c:pt idx="1103">
                  <c:v>0.51500000000000001</c:v>
                </c:pt>
                <c:pt idx="1104">
                  <c:v>0.51500000000000001</c:v>
                </c:pt>
                <c:pt idx="1105">
                  <c:v>0.51500000000000001</c:v>
                </c:pt>
              </c:numCache>
            </c:numRef>
          </c:val>
          <c:smooth val="0"/>
          <c:extLst>
            <c:ext xmlns:c16="http://schemas.microsoft.com/office/drawing/2014/chart" uri="{C3380CC4-5D6E-409C-BE32-E72D297353CC}">
              <c16:uniqueId val="{00000000-2828-42A8-89CB-54572D2DC00F}"/>
            </c:ext>
          </c:extLst>
        </c:ser>
        <c:ser>
          <c:idx val="2"/>
          <c:order val="2"/>
          <c:tx>
            <c:strRef>
              <c:f>Sheet1!$D$1</c:f>
              <c:strCache>
                <c:ptCount val="1"/>
                <c:pt idx="0">
                  <c:v>FTSE ST REIT</c:v>
                </c:pt>
              </c:strCache>
            </c:strRef>
          </c:tx>
          <c:spPr>
            <a:ln w="15875" cap="rnd">
              <a:solidFill>
                <a:srgbClr val="0DF3D8"/>
              </a:solidFill>
              <a:round/>
            </a:ln>
            <a:effectLst/>
          </c:spPr>
          <c:marker>
            <c:symbol val="none"/>
          </c:marker>
          <c:cat>
            <c:numRef>
              <c:f>Sheet1!$A$2:$A$1107</c:f>
              <c:numCache>
                <c:formatCode>m/d/yyyy</c:formatCode>
                <c:ptCount val="1106"/>
                <c:pt idx="0">
                  <c:v>44536</c:v>
                </c:pt>
                <c:pt idx="1">
                  <c:v>44537</c:v>
                </c:pt>
                <c:pt idx="2">
                  <c:v>44538</c:v>
                </c:pt>
                <c:pt idx="3">
                  <c:v>44539</c:v>
                </c:pt>
                <c:pt idx="4">
                  <c:v>44540</c:v>
                </c:pt>
                <c:pt idx="5">
                  <c:v>44543</c:v>
                </c:pt>
                <c:pt idx="6">
                  <c:v>44544</c:v>
                </c:pt>
                <c:pt idx="7">
                  <c:v>44545</c:v>
                </c:pt>
                <c:pt idx="8">
                  <c:v>44546</c:v>
                </c:pt>
                <c:pt idx="9">
                  <c:v>44547</c:v>
                </c:pt>
                <c:pt idx="10">
                  <c:v>44550</c:v>
                </c:pt>
                <c:pt idx="11">
                  <c:v>44551</c:v>
                </c:pt>
                <c:pt idx="12">
                  <c:v>44552</c:v>
                </c:pt>
                <c:pt idx="13">
                  <c:v>44553</c:v>
                </c:pt>
                <c:pt idx="14">
                  <c:v>44554</c:v>
                </c:pt>
                <c:pt idx="15">
                  <c:v>44557</c:v>
                </c:pt>
                <c:pt idx="16">
                  <c:v>44558</c:v>
                </c:pt>
                <c:pt idx="17">
                  <c:v>44559</c:v>
                </c:pt>
                <c:pt idx="18">
                  <c:v>44560</c:v>
                </c:pt>
                <c:pt idx="19">
                  <c:v>44561</c:v>
                </c:pt>
                <c:pt idx="20">
                  <c:v>44564</c:v>
                </c:pt>
                <c:pt idx="21">
                  <c:v>44565</c:v>
                </c:pt>
                <c:pt idx="22">
                  <c:v>44566</c:v>
                </c:pt>
                <c:pt idx="23">
                  <c:v>44567</c:v>
                </c:pt>
                <c:pt idx="24">
                  <c:v>44568</c:v>
                </c:pt>
                <c:pt idx="25">
                  <c:v>44571</c:v>
                </c:pt>
                <c:pt idx="26">
                  <c:v>44572</c:v>
                </c:pt>
                <c:pt idx="27">
                  <c:v>44573</c:v>
                </c:pt>
                <c:pt idx="28">
                  <c:v>44574</c:v>
                </c:pt>
                <c:pt idx="29">
                  <c:v>44575</c:v>
                </c:pt>
                <c:pt idx="30">
                  <c:v>44578</c:v>
                </c:pt>
                <c:pt idx="31">
                  <c:v>44579</c:v>
                </c:pt>
                <c:pt idx="32">
                  <c:v>44580</c:v>
                </c:pt>
                <c:pt idx="33">
                  <c:v>44581</c:v>
                </c:pt>
                <c:pt idx="34">
                  <c:v>44582</c:v>
                </c:pt>
                <c:pt idx="35">
                  <c:v>44585</c:v>
                </c:pt>
                <c:pt idx="36">
                  <c:v>44586</c:v>
                </c:pt>
                <c:pt idx="37">
                  <c:v>44587</c:v>
                </c:pt>
                <c:pt idx="38">
                  <c:v>44588</c:v>
                </c:pt>
                <c:pt idx="39">
                  <c:v>44589</c:v>
                </c:pt>
                <c:pt idx="40">
                  <c:v>44592</c:v>
                </c:pt>
                <c:pt idx="41">
                  <c:v>44595</c:v>
                </c:pt>
                <c:pt idx="42">
                  <c:v>44596</c:v>
                </c:pt>
                <c:pt idx="43">
                  <c:v>44599</c:v>
                </c:pt>
                <c:pt idx="44">
                  <c:v>44600</c:v>
                </c:pt>
                <c:pt idx="45">
                  <c:v>44601</c:v>
                </c:pt>
                <c:pt idx="46">
                  <c:v>44602</c:v>
                </c:pt>
                <c:pt idx="47">
                  <c:v>44603</c:v>
                </c:pt>
                <c:pt idx="48">
                  <c:v>44606</c:v>
                </c:pt>
                <c:pt idx="49">
                  <c:v>44607</c:v>
                </c:pt>
                <c:pt idx="50">
                  <c:v>44608</c:v>
                </c:pt>
                <c:pt idx="51">
                  <c:v>44609</c:v>
                </c:pt>
                <c:pt idx="52">
                  <c:v>44610</c:v>
                </c:pt>
                <c:pt idx="53">
                  <c:v>44613</c:v>
                </c:pt>
                <c:pt idx="54">
                  <c:v>44614</c:v>
                </c:pt>
                <c:pt idx="55">
                  <c:v>44615</c:v>
                </c:pt>
                <c:pt idx="56">
                  <c:v>44616</c:v>
                </c:pt>
                <c:pt idx="57">
                  <c:v>44617</c:v>
                </c:pt>
                <c:pt idx="58">
                  <c:v>44620</c:v>
                </c:pt>
                <c:pt idx="59">
                  <c:v>44621</c:v>
                </c:pt>
                <c:pt idx="60">
                  <c:v>44622</c:v>
                </c:pt>
                <c:pt idx="61">
                  <c:v>44623</c:v>
                </c:pt>
                <c:pt idx="62">
                  <c:v>44624</c:v>
                </c:pt>
                <c:pt idx="63">
                  <c:v>44627</c:v>
                </c:pt>
                <c:pt idx="64">
                  <c:v>44628</c:v>
                </c:pt>
                <c:pt idx="65">
                  <c:v>44629</c:v>
                </c:pt>
                <c:pt idx="66">
                  <c:v>44630</c:v>
                </c:pt>
                <c:pt idx="67">
                  <c:v>44631</c:v>
                </c:pt>
                <c:pt idx="68">
                  <c:v>44634</c:v>
                </c:pt>
                <c:pt idx="69">
                  <c:v>44635</c:v>
                </c:pt>
                <c:pt idx="70">
                  <c:v>44636</c:v>
                </c:pt>
                <c:pt idx="71">
                  <c:v>44637</c:v>
                </c:pt>
                <c:pt idx="72">
                  <c:v>44638</c:v>
                </c:pt>
                <c:pt idx="73">
                  <c:v>44641</c:v>
                </c:pt>
                <c:pt idx="74">
                  <c:v>44642</c:v>
                </c:pt>
                <c:pt idx="75">
                  <c:v>44643</c:v>
                </c:pt>
                <c:pt idx="76">
                  <c:v>44644</c:v>
                </c:pt>
                <c:pt idx="77">
                  <c:v>44645</c:v>
                </c:pt>
                <c:pt idx="78">
                  <c:v>44648</c:v>
                </c:pt>
                <c:pt idx="79">
                  <c:v>44649</c:v>
                </c:pt>
                <c:pt idx="80">
                  <c:v>44650</c:v>
                </c:pt>
                <c:pt idx="81">
                  <c:v>44651</c:v>
                </c:pt>
                <c:pt idx="82">
                  <c:v>44652</c:v>
                </c:pt>
                <c:pt idx="83">
                  <c:v>44655</c:v>
                </c:pt>
                <c:pt idx="84">
                  <c:v>44656</c:v>
                </c:pt>
                <c:pt idx="85">
                  <c:v>44657</c:v>
                </c:pt>
                <c:pt idx="86">
                  <c:v>44658</c:v>
                </c:pt>
                <c:pt idx="87">
                  <c:v>44659</c:v>
                </c:pt>
                <c:pt idx="88">
                  <c:v>44662</c:v>
                </c:pt>
                <c:pt idx="89">
                  <c:v>44663</c:v>
                </c:pt>
                <c:pt idx="90">
                  <c:v>44664</c:v>
                </c:pt>
                <c:pt idx="91">
                  <c:v>44665</c:v>
                </c:pt>
                <c:pt idx="92">
                  <c:v>44669</c:v>
                </c:pt>
                <c:pt idx="93">
                  <c:v>44670</c:v>
                </c:pt>
                <c:pt idx="94">
                  <c:v>44671</c:v>
                </c:pt>
                <c:pt idx="95">
                  <c:v>44672</c:v>
                </c:pt>
                <c:pt idx="96">
                  <c:v>44673</c:v>
                </c:pt>
                <c:pt idx="97">
                  <c:v>44676</c:v>
                </c:pt>
                <c:pt idx="98">
                  <c:v>44677</c:v>
                </c:pt>
                <c:pt idx="99">
                  <c:v>44678</c:v>
                </c:pt>
                <c:pt idx="100">
                  <c:v>44679</c:v>
                </c:pt>
                <c:pt idx="101">
                  <c:v>44680</c:v>
                </c:pt>
                <c:pt idx="102">
                  <c:v>44685</c:v>
                </c:pt>
                <c:pt idx="103">
                  <c:v>44686</c:v>
                </c:pt>
                <c:pt idx="104">
                  <c:v>44687</c:v>
                </c:pt>
                <c:pt idx="105">
                  <c:v>44690</c:v>
                </c:pt>
                <c:pt idx="106">
                  <c:v>44691</c:v>
                </c:pt>
                <c:pt idx="107">
                  <c:v>44692</c:v>
                </c:pt>
                <c:pt idx="108">
                  <c:v>44693</c:v>
                </c:pt>
                <c:pt idx="109">
                  <c:v>44694</c:v>
                </c:pt>
                <c:pt idx="110">
                  <c:v>44698</c:v>
                </c:pt>
                <c:pt idx="111">
                  <c:v>44699</c:v>
                </c:pt>
                <c:pt idx="112">
                  <c:v>44700</c:v>
                </c:pt>
                <c:pt idx="113">
                  <c:v>44701</c:v>
                </c:pt>
                <c:pt idx="114">
                  <c:v>44704</c:v>
                </c:pt>
                <c:pt idx="115">
                  <c:v>44705</c:v>
                </c:pt>
                <c:pt idx="116">
                  <c:v>44706</c:v>
                </c:pt>
                <c:pt idx="117">
                  <c:v>44707</c:v>
                </c:pt>
                <c:pt idx="118">
                  <c:v>44708</c:v>
                </c:pt>
                <c:pt idx="119">
                  <c:v>44711</c:v>
                </c:pt>
                <c:pt idx="120">
                  <c:v>44712</c:v>
                </c:pt>
                <c:pt idx="121">
                  <c:v>44713</c:v>
                </c:pt>
                <c:pt idx="122">
                  <c:v>44714</c:v>
                </c:pt>
                <c:pt idx="123">
                  <c:v>44715</c:v>
                </c:pt>
                <c:pt idx="124">
                  <c:v>44718</c:v>
                </c:pt>
                <c:pt idx="125">
                  <c:v>44719</c:v>
                </c:pt>
                <c:pt idx="126">
                  <c:v>44720</c:v>
                </c:pt>
                <c:pt idx="127">
                  <c:v>44721</c:v>
                </c:pt>
                <c:pt idx="128">
                  <c:v>44722</c:v>
                </c:pt>
                <c:pt idx="129">
                  <c:v>44725</c:v>
                </c:pt>
                <c:pt idx="130">
                  <c:v>44726</c:v>
                </c:pt>
                <c:pt idx="131">
                  <c:v>44727</c:v>
                </c:pt>
                <c:pt idx="132">
                  <c:v>44728</c:v>
                </c:pt>
                <c:pt idx="133">
                  <c:v>44729</c:v>
                </c:pt>
                <c:pt idx="134">
                  <c:v>44732</c:v>
                </c:pt>
                <c:pt idx="135">
                  <c:v>44733</c:v>
                </c:pt>
                <c:pt idx="136">
                  <c:v>44734</c:v>
                </c:pt>
                <c:pt idx="137">
                  <c:v>44735</c:v>
                </c:pt>
                <c:pt idx="138">
                  <c:v>44736</c:v>
                </c:pt>
                <c:pt idx="139">
                  <c:v>44739</c:v>
                </c:pt>
                <c:pt idx="140">
                  <c:v>44740</c:v>
                </c:pt>
                <c:pt idx="141">
                  <c:v>44741</c:v>
                </c:pt>
                <c:pt idx="142">
                  <c:v>44742</c:v>
                </c:pt>
                <c:pt idx="143">
                  <c:v>44743</c:v>
                </c:pt>
                <c:pt idx="144">
                  <c:v>44746</c:v>
                </c:pt>
                <c:pt idx="145">
                  <c:v>44747</c:v>
                </c:pt>
                <c:pt idx="146">
                  <c:v>44748</c:v>
                </c:pt>
                <c:pt idx="147">
                  <c:v>44749</c:v>
                </c:pt>
                <c:pt idx="148">
                  <c:v>44750</c:v>
                </c:pt>
                <c:pt idx="149">
                  <c:v>44754</c:v>
                </c:pt>
                <c:pt idx="150">
                  <c:v>44755</c:v>
                </c:pt>
                <c:pt idx="151">
                  <c:v>44756</c:v>
                </c:pt>
                <c:pt idx="152">
                  <c:v>44757</c:v>
                </c:pt>
                <c:pt idx="153">
                  <c:v>44760</c:v>
                </c:pt>
                <c:pt idx="154">
                  <c:v>44761</c:v>
                </c:pt>
                <c:pt idx="155">
                  <c:v>44762</c:v>
                </c:pt>
                <c:pt idx="156">
                  <c:v>44763</c:v>
                </c:pt>
                <c:pt idx="157">
                  <c:v>44764</c:v>
                </c:pt>
                <c:pt idx="158">
                  <c:v>44767</c:v>
                </c:pt>
                <c:pt idx="159">
                  <c:v>44768</c:v>
                </c:pt>
                <c:pt idx="160">
                  <c:v>44769</c:v>
                </c:pt>
                <c:pt idx="161">
                  <c:v>44770</c:v>
                </c:pt>
                <c:pt idx="162">
                  <c:v>44771</c:v>
                </c:pt>
                <c:pt idx="163">
                  <c:v>44774</c:v>
                </c:pt>
                <c:pt idx="164">
                  <c:v>44775</c:v>
                </c:pt>
                <c:pt idx="165">
                  <c:v>44776</c:v>
                </c:pt>
                <c:pt idx="166">
                  <c:v>44777</c:v>
                </c:pt>
                <c:pt idx="167">
                  <c:v>44778</c:v>
                </c:pt>
                <c:pt idx="168">
                  <c:v>44781</c:v>
                </c:pt>
                <c:pt idx="169">
                  <c:v>44783</c:v>
                </c:pt>
                <c:pt idx="170">
                  <c:v>44784</c:v>
                </c:pt>
                <c:pt idx="171">
                  <c:v>44785</c:v>
                </c:pt>
                <c:pt idx="172">
                  <c:v>44788</c:v>
                </c:pt>
                <c:pt idx="173">
                  <c:v>44789</c:v>
                </c:pt>
                <c:pt idx="174">
                  <c:v>44790</c:v>
                </c:pt>
                <c:pt idx="175">
                  <c:v>44791</c:v>
                </c:pt>
                <c:pt idx="176">
                  <c:v>44792</c:v>
                </c:pt>
                <c:pt idx="177">
                  <c:v>44795</c:v>
                </c:pt>
                <c:pt idx="178">
                  <c:v>44796</c:v>
                </c:pt>
                <c:pt idx="179">
                  <c:v>44797</c:v>
                </c:pt>
                <c:pt idx="180">
                  <c:v>44798</c:v>
                </c:pt>
                <c:pt idx="181">
                  <c:v>44799</c:v>
                </c:pt>
                <c:pt idx="182">
                  <c:v>44802</c:v>
                </c:pt>
                <c:pt idx="183">
                  <c:v>44803</c:v>
                </c:pt>
                <c:pt idx="184">
                  <c:v>44804</c:v>
                </c:pt>
                <c:pt idx="185">
                  <c:v>44805</c:v>
                </c:pt>
                <c:pt idx="186">
                  <c:v>44806</c:v>
                </c:pt>
                <c:pt idx="187">
                  <c:v>44809</c:v>
                </c:pt>
                <c:pt idx="188">
                  <c:v>44810</c:v>
                </c:pt>
                <c:pt idx="189">
                  <c:v>44811</c:v>
                </c:pt>
                <c:pt idx="190">
                  <c:v>44812</c:v>
                </c:pt>
                <c:pt idx="191">
                  <c:v>44813</c:v>
                </c:pt>
                <c:pt idx="192">
                  <c:v>44816</c:v>
                </c:pt>
                <c:pt idx="193">
                  <c:v>44817</c:v>
                </c:pt>
                <c:pt idx="194">
                  <c:v>44818</c:v>
                </c:pt>
                <c:pt idx="195">
                  <c:v>44819</c:v>
                </c:pt>
                <c:pt idx="196">
                  <c:v>44820</c:v>
                </c:pt>
                <c:pt idx="197">
                  <c:v>44823</c:v>
                </c:pt>
                <c:pt idx="198">
                  <c:v>44824</c:v>
                </c:pt>
                <c:pt idx="199">
                  <c:v>44825</c:v>
                </c:pt>
                <c:pt idx="200">
                  <c:v>44826</c:v>
                </c:pt>
                <c:pt idx="201">
                  <c:v>44827</c:v>
                </c:pt>
                <c:pt idx="202">
                  <c:v>44830</c:v>
                </c:pt>
                <c:pt idx="203">
                  <c:v>44831</c:v>
                </c:pt>
                <c:pt idx="204">
                  <c:v>44832</c:v>
                </c:pt>
                <c:pt idx="205">
                  <c:v>44833</c:v>
                </c:pt>
                <c:pt idx="206">
                  <c:v>44834</c:v>
                </c:pt>
                <c:pt idx="207">
                  <c:v>44837</c:v>
                </c:pt>
                <c:pt idx="208">
                  <c:v>44838</c:v>
                </c:pt>
                <c:pt idx="209">
                  <c:v>44839</c:v>
                </c:pt>
                <c:pt idx="210">
                  <c:v>44840</c:v>
                </c:pt>
                <c:pt idx="211">
                  <c:v>44841</c:v>
                </c:pt>
                <c:pt idx="212">
                  <c:v>44844</c:v>
                </c:pt>
                <c:pt idx="213">
                  <c:v>44845</c:v>
                </c:pt>
                <c:pt idx="214">
                  <c:v>44846</c:v>
                </c:pt>
                <c:pt idx="215">
                  <c:v>44847</c:v>
                </c:pt>
                <c:pt idx="216">
                  <c:v>44848</c:v>
                </c:pt>
                <c:pt idx="217">
                  <c:v>44851</c:v>
                </c:pt>
                <c:pt idx="218">
                  <c:v>44852</c:v>
                </c:pt>
                <c:pt idx="219">
                  <c:v>44853</c:v>
                </c:pt>
                <c:pt idx="220">
                  <c:v>44854</c:v>
                </c:pt>
                <c:pt idx="221">
                  <c:v>44855</c:v>
                </c:pt>
                <c:pt idx="222">
                  <c:v>44859</c:v>
                </c:pt>
                <c:pt idx="223">
                  <c:v>44860</c:v>
                </c:pt>
                <c:pt idx="224">
                  <c:v>44861</c:v>
                </c:pt>
                <c:pt idx="225">
                  <c:v>44862</c:v>
                </c:pt>
                <c:pt idx="226">
                  <c:v>44865</c:v>
                </c:pt>
                <c:pt idx="227">
                  <c:v>44866</c:v>
                </c:pt>
                <c:pt idx="228">
                  <c:v>44867</c:v>
                </c:pt>
                <c:pt idx="229">
                  <c:v>44868</c:v>
                </c:pt>
                <c:pt idx="230">
                  <c:v>44869</c:v>
                </c:pt>
                <c:pt idx="231">
                  <c:v>44872</c:v>
                </c:pt>
                <c:pt idx="232">
                  <c:v>44873</c:v>
                </c:pt>
                <c:pt idx="233">
                  <c:v>44874</c:v>
                </c:pt>
                <c:pt idx="234">
                  <c:v>44875</c:v>
                </c:pt>
                <c:pt idx="235">
                  <c:v>44876</c:v>
                </c:pt>
                <c:pt idx="236">
                  <c:v>44879</c:v>
                </c:pt>
                <c:pt idx="237">
                  <c:v>44880</c:v>
                </c:pt>
                <c:pt idx="238">
                  <c:v>44881</c:v>
                </c:pt>
                <c:pt idx="239">
                  <c:v>44882</c:v>
                </c:pt>
                <c:pt idx="240">
                  <c:v>44883</c:v>
                </c:pt>
                <c:pt idx="241">
                  <c:v>44886</c:v>
                </c:pt>
                <c:pt idx="242">
                  <c:v>44887</c:v>
                </c:pt>
                <c:pt idx="243">
                  <c:v>44888</c:v>
                </c:pt>
                <c:pt idx="244">
                  <c:v>44889</c:v>
                </c:pt>
                <c:pt idx="245">
                  <c:v>44890</c:v>
                </c:pt>
                <c:pt idx="246">
                  <c:v>44893</c:v>
                </c:pt>
                <c:pt idx="247">
                  <c:v>44894</c:v>
                </c:pt>
                <c:pt idx="248">
                  <c:v>44895</c:v>
                </c:pt>
                <c:pt idx="249">
                  <c:v>44896</c:v>
                </c:pt>
                <c:pt idx="250">
                  <c:v>44897</c:v>
                </c:pt>
                <c:pt idx="251">
                  <c:v>44900</c:v>
                </c:pt>
                <c:pt idx="252">
                  <c:v>44901</c:v>
                </c:pt>
                <c:pt idx="253">
                  <c:v>44902</c:v>
                </c:pt>
                <c:pt idx="254">
                  <c:v>44903</c:v>
                </c:pt>
                <c:pt idx="255">
                  <c:v>44904</c:v>
                </c:pt>
                <c:pt idx="256">
                  <c:v>44907</c:v>
                </c:pt>
                <c:pt idx="257">
                  <c:v>44908</c:v>
                </c:pt>
                <c:pt idx="258">
                  <c:v>44909</c:v>
                </c:pt>
                <c:pt idx="259">
                  <c:v>44910</c:v>
                </c:pt>
                <c:pt idx="260">
                  <c:v>44911</c:v>
                </c:pt>
                <c:pt idx="261">
                  <c:v>44914</c:v>
                </c:pt>
                <c:pt idx="262">
                  <c:v>44915</c:v>
                </c:pt>
                <c:pt idx="263">
                  <c:v>44916</c:v>
                </c:pt>
                <c:pt idx="264">
                  <c:v>44917</c:v>
                </c:pt>
                <c:pt idx="265">
                  <c:v>44918</c:v>
                </c:pt>
                <c:pt idx="266">
                  <c:v>44922</c:v>
                </c:pt>
                <c:pt idx="267">
                  <c:v>44923</c:v>
                </c:pt>
                <c:pt idx="268">
                  <c:v>44924</c:v>
                </c:pt>
                <c:pt idx="269">
                  <c:v>44925</c:v>
                </c:pt>
                <c:pt idx="270">
                  <c:v>44929</c:v>
                </c:pt>
                <c:pt idx="271">
                  <c:v>44930</c:v>
                </c:pt>
                <c:pt idx="272">
                  <c:v>44931</c:v>
                </c:pt>
                <c:pt idx="273">
                  <c:v>44932</c:v>
                </c:pt>
                <c:pt idx="274">
                  <c:v>44935</c:v>
                </c:pt>
                <c:pt idx="275">
                  <c:v>44936</c:v>
                </c:pt>
                <c:pt idx="276">
                  <c:v>44937</c:v>
                </c:pt>
                <c:pt idx="277">
                  <c:v>44938</c:v>
                </c:pt>
                <c:pt idx="278">
                  <c:v>44939</c:v>
                </c:pt>
                <c:pt idx="279">
                  <c:v>44942</c:v>
                </c:pt>
                <c:pt idx="280">
                  <c:v>44943</c:v>
                </c:pt>
                <c:pt idx="281">
                  <c:v>44944</c:v>
                </c:pt>
                <c:pt idx="282">
                  <c:v>44945</c:v>
                </c:pt>
                <c:pt idx="283">
                  <c:v>44946</c:v>
                </c:pt>
                <c:pt idx="284">
                  <c:v>44951</c:v>
                </c:pt>
                <c:pt idx="285">
                  <c:v>44952</c:v>
                </c:pt>
                <c:pt idx="286">
                  <c:v>44953</c:v>
                </c:pt>
                <c:pt idx="287">
                  <c:v>44956</c:v>
                </c:pt>
                <c:pt idx="288">
                  <c:v>44957</c:v>
                </c:pt>
                <c:pt idx="289">
                  <c:v>44958</c:v>
                </c:pt>
                <c:pt idx="290">
                  <c:v>44959</c:v>
                </c:pt>
                <c:pt idx="291">
                  <c:v>44960</c:v>
                </c:pt>
                <c:pt idx="292">
                  <c:v>44963</c:v>
                </c:pt>
                <c:pt idx="293">
                  <c:v>44964</c:v>
                </c:pt>
                <c:pt idx="294">
                  <c:v>44965</c:v>
                </c:pt>
                <c:pt idx="295">
                  <c:v>44966</c:v>
                </c:pt>
                <c:pt idx="296">
                  <c:v>44967</c:v>
                </c:pt>
                <c:pt idx="297">
                  <c:v>44970</c:v>
                </c:pt>
                <c:pt idx="298">
                  <c:v>44971</c:v>
                </c:pt>
                <c:pt idx="299">
                  <c:v>44972</c:v>
                </c:pt>
                <c:pt idx="300">
                  <c:v>44973</c:v>
                </c:pt>
                <c:pt idx="301">
                  <c:v>44974</c:v>
                </c:pt>
                <c:pt idx="302">
                  <c:v>44977</c:v>
                </c:pt>
                <c:pt idx="303">
                  <c:v>44978</c:v>
                </c:pt>
                <c:pt idx="304">
                  <c:v>44979</c:v>
                </c:pt>
                <c:pt idx="305">
                  <c:v>44980</c:v>
                </c:pt>
                <c:pt idx="306">
                  <c:v>44981</c:v>
                </c:pt>
                <c:pt idx="307">
                  <c:v>44984</c:v>
                </c:pt>
                <c:pt idx="308">
                  <c:v>44985</c:v>
                </c:pt>
                <c:pt idx="309">
                  <c:v>44986</c:v>
                </c:pt>
                <c:pt idx="310">
                  <c:v>44987</c:v>
                </c:pt>
                <c:pt idx="311">
                  <c:v>44988</c:v>
                </c:pt>
                <c:pt idx="312">
                  <c:v>44991</c:v>
                </c:pt>
                <c:pt idx="313">
                  <c:v>44992</c:v>
                </c:pt>
                <c:pt idx="314">
                  <c:v>44993</c:v>
                </c:pt>
                <c:pt idx="315">
                  <c:v>44994</c:v>
                </c:pt>
                <c:pt idx="316">
                  <c:v>44995</c:v>
                </c:pt>
                <c:pt idx="317">
                  <c:v>44998</c:v>
                </c:pt>
                <c:pt idx="318">
                  <c:v>44999</c:v>
                </c:pt>
                <c:pt idx="319">
                  <c:v>45000</c:v>
                </c:pt>
                <c:pt idx="320">
                  <c:v>45001</c:v>
                </c:pt>
                <c:pt idx="321">
                  <c:v>45002</c:v>
                </c:pt>
                <c:pt idx="322">
                  <c:v>45005</c:v>
                </c:pt>
                <c:pt idx="323">
                  <c:v>45006</c:v>
                </c:pt>
                <c:pt idx="324">
                  <c:v>45007</c:v>
                </c:pt>
                <c:pt idx="325">
                  <c:v>45008</c:v>
                </c:pt>
                <c:pt idx="326">
                  <c:v>45009</c:v>
                </c:pt>
                <c:pt idx="327">
                  <c:v>45012</c:v>
                </c:pt>
                <c:pt idx="328">
                  <c:v>45013</c:v>
                </c:pt>
                <c:pt idx="329">
                  <c:v>45014</c:v>
                </c:pt>
                <c:pt idx="330">
                  <c:v>45015</c:v>
                </c:pt>
                <c:pt idx="331">
                  <c:v>45016</c:v>
                </c:pt>
                <c:pt idx="332">
                  <c:v>45019</c:v>
                </c:pt>
                <c:pt idx="333">
                  <c:v>45020</c:v>
                </c:pt>
                <c:pt idx="334">
                  <c:v>45021</c:v>
                </c:pt>
                <c:pt idx="335">
                  <c:v>45022</c:v>
                </c:pt>
                <c:pt idx="336">
                  <c:v>45026</c:v>
                </c:pt>
                <c:pt idx="337">
                  <c:v>45027</c:v>
                </c:pt>
                <c:pt idx="338">
                  <c:v>45028</c:v>
                </c:pt>
                <c:pt idx="339">
                  <c:v>45029</c:v>
                </c:pt>
                <c:pt idx="340">
                  <c:v>45030</c:v>
                </c:pt>
                <c:pt idx="341">
                  <c:v>45033</c:v>
                </c:pt>
                <c:pt idx="342">
                  <c:v>45034</c:v>
                </c:pt>
                <c:pt idx="343">
                  <c:v>45035</c:v>
                </c:pt>
                <c:pt idx="344">
                  <c:v>45036</c:v>
                </c:pt>
                <c:pt idx="345">
                  <c:v>45037</c:v>
                </c:pt>
                <c:pt idx="346">
                  <c:v>45040</c:v>
                </c:pt>
                <c:pt idx="347">
                  <c:v>45041</c:v>
                </c:pt>
                <c:pt idx="348">
                  <c:v>45042</c:v>
                </c:pt>
                <c:pt idx="349">
                  <c:v>45043</c:v>
                </c:pt>
                <c:pt idx="350">
                  <c:v>45044</c:v>
                </c:pt>
                <c:pt idx="351">
                  <c:v>45048</c:v>
                </c:pt>
                <c:pt idx="352">
                  <c:v>45049</c:v>
                </c:pt>
                <c:pt idx="353">
                  <c:v>45050</c:v>
                </c:pt>
                <c:pt idx="354">
                  <c:v>45051</c:v>
                </c:pt>
                <c:pt idx="355">
                  <c:v>45054</c:v>
                </c:pt>
                <c:pt idx="356">
                  <c:v>45055</c:v>
                </c:pt>
                <c:pt idx="357">
                  <c:v>45056</c:v>
                </c:pt>
                <c:pt idx="358">
                  <c:v>45057</c:v>
                </c:pt>
                <c:pt idx="359">
                  <c:v>45058</c:v>
                </c:pt>
                <c:pt idx="360">
                  <c:v>45061</c:v>
                </c:pt>
                <c:pt idx="361">
                  <c:v>45062</c:v>
                </c:pt>
                <c:pt idx="362">
                  <c:v>45063</c:v>
                </c:pt>
                <c:pt idx="363">
                  <c:v>45064</c:v>
                </c:pt>
                <c:pt idx="364">
                  <c:v>45065</c:v>
                </c:pt>
                <c:pt idx="365">
                  <c:v>45068</c:v>
                </c:pt>
                <c:pt idx="366">
                  <c:v>45069</c:v>
                </c:pt>
                <c:pt idx="367">
                  <c:v>45070</c:v>
                </c:pt>
                <c:pt idx="368">
                  <c:v>45071</c:v>
                </c:pt>
                <c:pt idx="369">
                  <c:v>45072</c:v>
                </c:pt>
                <c:pt idx="370">
                  <c:v>45075</c:v>
                </c:pt>
                <c:pt idx="371">
                  <c:v>45076</c:v>
                </c:pt>
                <c:pt idx="372">
                  <c:v>45077</c:v>
                </c:pt>
                <c:pt idx="373">
                  <c:v>45078</c:v>
                </c:pt>
                <c:pt idx="374">
                  <c:v>45082</c:v>
                </c:pt>
                <c:pt idx="375">
                  <c:v>45083</c:v>
                </c:pt>
                <c:pt idx="376">
                  <c:v>45084</c:v>
                </c:pt>
                <c:pt idx="377">
                  <c:v>45085</c:v>
                </c:pt>
                <c:pt idx="378">
                  <c:v>45086</c:v>
                </c:pt>
                <c:pt idx="379">
                  <c:v>45089</c:v>
                </c:pt>
                <c:pt idx="380">
                  <c:v>45090</c:v>
                </c:pt>
                <c:pt idx="381">
                  <c:v>45091</c:v>
                </c:pt>
                <c:pt idx="382">
                  <c:v>45092</c:v>
                </c:pt>
                <c:pt idx="383">
                  <c:v>45093</c:v>
                </c:pt>
                <c:pt idx="384">
                  <c:v>45096</c:v>
                </c:pt>
                <c:pt idx="385">
                  <c:v>45097</c:v>
                </c:pt>
                <c:pt idx="386">
                  <c:v>45098</c:v>
                </c:pt>
                <c:pt idx="387">
                  <c:v>45099</c:v>
                </c:pt>
                <c:pt idx="388">
                  <c:v>45100</c:v>
                </c:pt>
                <c:pt idx="389">
                  <c:v>45103</c:v>
                </c:pt>
                <c:pt idx="390">
                  <c:v>45104</c:v>
                </c:pt>
                <c:pt idx="391">
                  <c:v>45105</c:v>
                </c:pt>
                <c:pt idx="392">
                  <c:v>45107</c:v>
                </c:pt>
                <c:pt idx="393">
                  <c:v>45110</c:v>
                </c:pt>
                <c:pt idx="394">
                  <c:v>45111</c:v>
                </c:pt>
                <c:pt idx="395">
                  <c:v>45112</c:v>
                </c:pt>
                <c:pt idx="396">
                  <c:v>45113</c:v>
                </c:pt>
                <c:pt idx="397">
                  <c:v>45114</c:v>
                </c:pt>
                <c:pt idx="398">
                  <c:v>45117</c:v>
                </c:pt>
                <c:pt idx="399">
                  <c:v>45118</c:v>
                </c:pt>
                <c:pt idx="400">
                  <c:v>45119</c:v>
                </c:pt>
                <c:pt idx="401">
                  <c:v>45120</c:v>
                </c:pt>
                <c:pt idx="402">
                  <c:v>45121</c:v>
                </c:pt>
                <c:pt idx="403">
                  <c:v>45124</c:v>
                </c:pt>
                <c:pt idx="404">
                  <c:v>45125</c:v>
                </c:pt>
                <c:pt idx="405">
                  <c:v>45126</c:v>
                </c:pt>
                <c:pt idx="406">
                  <c:v>45127</c:v>
                </c:pt>
                <c:pt idx="407">
                  <c:v>45128</c:v>
                </c:pt>
                <c:pt idx="408">
                  <c:v>45131</c:v>
                </c:pt>
                <c:pt idx="409">
                  <c:v>45132</c:v>
                </c:pt>
                <c:pt idx="410">
                  <c:v>45133</c:v>
                </c:pt>
                <c:pt idx="411">
                  <c:v>45134</c:v>
                </c:pt>
                <c:pt idx="412">
                  <c:v>45135</c:v>
                </c:pt>
                <c:pt idx="413">
                  <c:v>45138</c:v>
                </c:pt>
                <c:pt idx="414">
                  <c:v>45139</c:v>
                </c:pt>
                <c:pt idx="415">
                  <c:v>45140</c:v>
                </c:pt>
                <c:pt idx="416">
                  <c:v>45141</c:v>
                </c:pt>
                <c:pt idx="417">
                  <c:v>45142</c:v>
                </c:pt>
                <c:pt idx="418">
                  <c:v>45145</c:v>
                </c:pt>
                <c:pt idx="419">
                  <c:v>45146</c:v>
                </c:pt>
                <c:pt idx="420">
                  <c:v>45148</c:v>
                </c:pt>
                <c:pt idx="421">
                  <c:v>45149</c:v>
                </c:pt>
                <c:pt idx="422">
                  <c:v>45152</c:v>
                </c:pt>
                <c:pt idx="423">
                  <c:v>45153</c:v>
                </c:pt>
                <c:pt idx="424">
                  <c:v>45154</c:v>
                </c:pt>
                <c:pt idx="425">
                  <c:v>45155</c:v>
                </c:pt>
                <c:pt idx="426">
                  <c:v>45156</c:v>
                </c:pt>
                <c:pt idx="427">
                  <c:v>45159</c:v>
                </c:pt>
                <c:pt idx="428">
                  <c:v>45160</c:v>
                </c:pt>
                <c:pt idx="429">
                  <c:v>45161</c:v>
                </c:pt>
                <c:pt idx="430">
                  <c:v>45162</c:v>
                </c:pt>
                <c:pt idx="431">
                  <c:v>45163</c:v>
                </c:pt>
                <c:pt idx="432">
                  <c:v>45166</c:v>
                </c:pt>
                <c:pt idx="433">
                  <c:v>45167</c:v>
                </c:pt>
                <c:pt idx="434">
                  <c:v>45168</c:v>
                </c:pt>
                <c:pt idx="435">
                  <c:v>45169</c:v>
                </c:pt>
                <c:pt idx="436">
                  <c:v>45173</c:v>
                </c:pt>
                <c:pt idx="437">
                  <c:v>45174</c:v>
                </c:pt>
                <c:pt idx="438">
                  <c:v>45175</c:v>
                </c:pt>
                <c:pt idx="439">
                  <c:v>45176</c:v>
                </c:pt>
                <c:pt idx="440">
                  <c:v>45177</c:v>
                </c:pt>
                <c:pt idx="441">
                  <c:v>45180</c:v>
                </c:pt>
                <c:pt idx="442">
                  <c:v>45181</c:v>
                </c:pt>
                <c:pt idx="443">
                  <c:v>45182</c:v>
                </c:pt>
                <c:pt idx="444">
                  <c:v>45183</c:v>
                </c:pt>
                <c:pt idx="445">
                  <c:v>45184</c:v>
                </c:pt>
                <c:pt idx="446">
                  <c:v>45187</c:v>
                </c:pt>
                <c:pt idx="447">
                  <c:v>45188</c:v>
                </c:pt>
                <c:pt idx="448">
                  <c:v>45189</c:v>
                </c:pt>
                <c:pt idx="449">
                  <c:v>45190</c:v>
                </c:pt>
                <c:pt idx="450">
                  <c:v>45191</c:v>
                </c:pt>
                <c:pt idx="451">
                  <c:v>45194</c:v>
                </c:pt>
                <c:pt idx="452">
                  <c:v>45195</c:v>
                </c:pt>
                <c:pt idx="453">
                  <c:v>45196</c:v>
                </c:pt>
                <c:pt idx="454">
                  <c:v>45197</c:v>
                </c:pt>
                <c:pt idx="455">
                  <c:v>45198</c:v>
                </c:pt>
                <c:pt idx="456">
                  <c:v>45201</c:v>
                </c:pt>
                <c:pt idx="457">
                  <c:v>45202</c:v>
                </c:pt>
                <c:pt idx="458">
                  <c:v>45203</c:v>
                </c:pt>
                <c:pt idx="459">
                  <c:v>45204</c:v>
                </c:pt>
                <c:pt idx="460">
                  <c:v>45205</c:v>
                </c:pt>
                <c:pt idx="461">
                  <c:v>45208</c:v>
                </c:pt>
                <c:pt idx="462">
                  <c:v>45209</c:v>
                </c:pt>
                <c:pt idx="463">
                  <c:v>45210</c:v>
                </c:pt>
                <c:pt idx="464">
                  <c:v>45211</c:v>
                </c:pt>
                <c:pt idx="465">
                  <c:v>45212</c:v>
                </c:pt>
                <c:pt idx="466">
                  <c:v>45215</c:v>
                </c:pt>
                <c:pt idx="467">
                  <c:v>45216</c:v>
                </c:pt>
                <c:pt idx="468">
                  <c:v>45217</c:v>
                </c:pt>
                <c:pt idx="469">
                  <c:v>45218</c:v>
                </c:pt>
                <c:pt idx="470">
                  <c:v>45219</c:v>
                </c:pt>
                <c:pt idx="471">
                  <c:v>45222</c:v>
                </c:pt>
                <c:pt idx="472">
                  <c:v>45223</c:v>
                </c:pt>
                <c:pt idx="473">
                  <c:v>45224</c:v>
                </c:pt>
                <c:pt idx="474">
                  <c:v>45225</c:v>
                </c:pt>
                <c:pt idx="475">
                  <c:v>45226</c:v>
                </c:pt>
                <c:pt idx="476">
                  <c:v>45229</c:v>
                </c:pt>
                <c:pt idx="477">
                  <c:v>45230</c:v>
                </c:pt>
                <c:pt idx="478">
                  <c:v>45231</c:v>
                </c:pt>
                <c:pt idx="479">
                  <c:v>45232</c:v>
                </c:pt>
                <c:pt idx="480">
                  <c:v>45233</c:v>
                </c:pt>
                <c:pt idx="481">
                  <c:v>45236</c:v>
                </c:pt>
                <c:pt idx="482">
                  <c:v>45237</c:v>
                </c:pt>
                <c:pt idx="483">
                  <c:v>45238</c:v>
                </c:pt>
                <c:pt idx="484">
                  <c:v>45239</c:v>
                </c:pt>
                <c:pt idx="485">
                  <c:v>45240</c:v>
                </c:pt>
                <c:pt idx="486">
                  <c:v>45244</c:v>
                </c:pt>
                <c:pt idx="487">
                  <c:v>45245</c:v>
                </c:pt>
                <c:pt idx="488">
                  <c:v>45246</c:v>
                </c:pt>
                <c:pt idx="489">
                  <c:v>45247</c:v>
                </c:pt>
                <c:pt idx="490">
                  <c:v>45250</c:v>
                </c:pt>
                <c:pt idx="491">
                  <c:v>45251</c:v>
                </c:pt>
                <c:pt idx="492">
                  <c:v>45252</c:v>
                </c:pt>
                <c:pt idx="493">
                  <c:v>45253</c:v>
                </c:pt>
                <c:pt idx="494">
                  <c:v>45254</c:v>
                </c:pt>
                <c:pt idx="495">
                  <c:v>45257</c:v>
                </c:pt>
                <c:pt idx="496">
                  <c:v>45258</c:v>
                </c:pt>
                <c:pt idx="497">
                  <c:v>45259</c:v>
                </c:pt>
                <c:pt idx="498">
                  <c:v>45260</c:v>
                </c:pt>
                <c:pt idx="499">
                  <c:v>45261</c:v>
                </c:pt>
                <c:pt idx="500">
                  <c:v>45264</c:v>
                </c:pt>
                <c:pt idx="501">
                  <c:v>45265</c:v>
                </c:pt>
                <c:pt idx="502">
                  <c:v>45266</c:v>
                </c:pt>
                <c:pt idx="503">
                  <c:v>45267</c:v>
                </c:pt>
                <c:pt idx="504">
                  <c:v>45268</c:v>
                </c:pt>
                <c:pt idx="505">
                  <c:v>45271</c:v>
                </c:pt>
                <c:pt idx="506">
                  <c:v>45272</c:v>
                </c:pt>
                <c:pt idx="507">
                  <c:v>45273</c:v>
                </c:pt>
                <c:pt idx="508">
                  <c:v>45274</c:v>
                </c:pt>
                <c:pt idx="509">
                  <c:v>45275</c:v>
                </c:pt>
                <c:pt idx="510">
                  <c:v>45278</c:v>
                </c:pt>
                <c:pt idx="511">
                  <c:v>45279</c:v>
                </c:pt>
                <c:pt idx="512">
                  <c:v>45280</c:v>
                </c:pt>
                <c:pt idx="513">
                  <c:v>45281</c:v>
                </c:pt>
                <c:pt idx="514">
                  <c:v>45282</c:v>
                </c:pt>
                <c:pt idx="515">
                  <c:v>45286</c:v>
                </c:pt>
                <c:pt idx="516">
                  <c:v>45287</c:v>
                </c:pt>
                <c:pt idx="517">
                  <c:v>45288</c:v>
                </c:pt>
                <c:pt idx="518">
                  <c:v>45289</c:v>
                </c:pt>
                <c:pt idx="519">
                  <c:v>45293</c:v>
                </c:pt>
                <c:pt idx="520">
                  <c:v>45294</c:v>
                </c:pt>
                <c:pt idx="521">
                  <c:v>45295</c:v>
                </c:pt>
                <c:pt idx="522">
                  <c:v>45296</c:v>
                </c:pt>
                <c:pt idx="523">
                  <c:v>45299</c:v>
                </c:pt>
                <c:pt idx="524">
                  <c:v>45300</c:v>
                </c:pt>
                <c:pt idx="525">
                  <c:v>45301</c:v>
                </c:pt>
                <c:pt idx="526">
                  <c:v>45302</c:v>
                </c:pt>
                <c:pt idx="527">
                  <c:v>45303</c:v>
                </c:pt>
                <c:pt idx="528">
                  <c:v>45306</c:v>
                </c:pt>
                <c:pt idx="529">
                  <c:v>45307</c:v>
                </c:pt>
                <c:pt idx="530">
                  <c:v>45308</c:v>
                </c:pt>
                <c:pt idx="531">
                  <c:v>45309</c:v>
                </c:pt>
                <c:pt idx="532">
                  <c:v>45310</c:v>
                </c:pt>
                <c:pt idx="533">
                  <c:v>45313</c:v>
                </c:pt>
                <c:pt idx="534">
                  <c:v>45314</c:v>
                </c:pt>
                <c:pt idx="535">
                  <c:v>45315</c:v>
                </c:pt>
                <c:pt idx="536">
                  <c:v>45316</c:v>
                </c:pt>
                <c:pt idx="537">
                  <c:v>45317</c:v>
                </c:pt>
                <c:pt idx="538">
                  <c:v>45320</c:v>
                </c:pt>
                <c:pt idx="539">
                  <c:v>45321</c:v>
                </c:pt>
                <c:pt idx="540">
                  <c:v>45322</c:v>
                </c:pt>
                <c:pt idx="541">
                  <c:v>45323</c:v>
                </c:pt>
                <c:pt idx="542">
                  <c:v>45324</c:v>
                </c:pt>
                <c:pt idx="543">
                  <c:v>45327</c:v>
                </c:pt>
                <c:pt idx="544">
                  <c:v>45328</c:v>
                </c:pt>
                <c:pt idx="545">
                  <c:v>45329</c:v>
                </c:pt>
                <c:pt idx="546">
                  <c:v>45330</c:v>
                </c:pt>
                <c:pt idx="547">
                  <c:v>45331</c:v>
                </c:pt>
                <c:pt idx="548">
                  <c:v>45335</c:v>
                </c:pt>
                <c:pt idx="549">
                  <c:v>45336</c:v>
                </c:pt>
                <c:pt idx="550">
                  <c:v>45337</c:v>
                </c:pt>
                <c:pt idx="551">
                  <c:v>45338</c:v>
                </c:pt>
                <c:pt idx="552">
                  <c:v>45341</c:v>
                </c:pt>
                <c:pt idx="553">
                  <c:v>45342</c:v>
                </c:pt>
                <c:pt idx="554">
                  <c:v>45343</c:v>
                </c:pt>
                <c:pt idx="555">
                  <c:v>45344</c:v>
                </c:pt>
                <c:pt idx="556">
                  <c:v>45345</c:v>
                </c:pt>
                <c:pt idx="557">
                  <c:v>45348</c:v>
                </c:pt>
                <c:pt idx="558">
                  <c:v>45349</c:v>
                </c:pt>
                <c:pt idx="559">
                  <c:v>45350</c:v>
                </c:pt>
                <c:pt idx="560">
                  <c:v>45351</c:v>
                </c:pt>
                <c:pt idx="561">
                  <c:v>45352</c:v>
                </c:pt>
                <c:pt idx="562">
                  <c:v>45355</c:v>
                </c:pt>
                <c:pt idx="563">
                  <c:v>45356</c:v>
                </c:pt>
                <c:pt idx="564">
                  <c:v>45357</c:v>
                </c:pt>
                <c:pt idx="565">
                  <c:v>45358</c:v>
                </c:pt>
                <c:pt idx="566">
                  <c:v>45359</c:v>
                </c:pt>
                <c:pt idx="567">
                  <c:v>45362</c:v>
                </c:pt>
                <c:pt idx="568">
                  <c:v>45363</c:v>
                </c:pt>
                <c:pt idx="569">
                  <c:v>45364</c:v>
                </c:pt>
                <c:pt idx="570">
                  <c:v>45365</c:v>
                </c:pt>
                <c:pt idx="571">
                  <c:v>45366</c:v>
                </c:pt>
                <c:pt idx="572">
                  <c:v>45369</c:v>
                </c:pt>
                <c:pt idx="573">
                  <c:v>45370</c:v>
                </c:pt>
                <c:pt idx="574">
                  <c:v>45371</c:v>
                </c:pt>
                <c:pt idx="575">
                  <c:v>45372</c:v>
                </c:pt>
                <c:pt idx="576">
                  <c:v>45373</c:v>
                </c:pt>
                <c:pt idx="577">
                  <c:v>45376</c:v>
                </c:pt>
                <c:pt idx="578">
                  <c:v>45377</c:v>
                </c:pt>
                <c:pt idx="579">
                  <c:v>45378</c:v>
                </c:pt>
                <c:pt idx="580">
                  <c:v>45379</c:v>
                </c:pt>
                <c:pt idx="581">
                  <c:v>45383</c:v>
                </c:pt>
                <c:pt idx="582">
                  <c:v>45384</c:v>
                </c:pt>
                <c:pt idx="583">
                  <c:v>45385</c:v>
                </c:pt>
                <c:pt idx="584">
                  <c:v>45386</c:v>
                </c:pt>
                <c:pt idx="585">
                  <c:v>45387</c:v>
                </c:pt>
                <c:pt idx="586">
                  <c:v>45390</c:v>
                </c:pt>
                <c:pt idx="587">
                  <c:v>45391</c:v>
                </c:pt>
                <c:pt idx="588">
                  <c:v>45393</c:v>
                </c:pt>
                <c:pt idx="589">
                  <c:v>45394</c:v>
                </c:pt>
                <c:pt idx="590">
                  <c:v>45397</c:v>
                </c:pt>
                <c:pt idx="591">
                  <c:v>45398</c:v>
                </c:pt>
                <c:pt idx="592">
                  <c:v>45399</c:v>
                </c:pt>
                <c:pt idx="593">
                  <c:v>45400</c:v>
                </c:pt>
                <c:pt idx="594">
                  <c:v>45401</c:v>
                </c:pt>
                <c:pt idx="595">
                  <c:v>45404</c:v>
                </c:pt>
                <c:pt idx="596">
                  <c:v>45405</c:v>
                </c:pt>
                <c:pt idx="597">
                  <c:v>45406</c:v>
                </c:pt>
                <c:pt idx="598">
                  <c:v>45407</c:v>
                </c:pt>
                <c:pt idx="599">
                  <c:v>45408</c:v>
                </c:pt>
                <c:pt idx="600">
                  <c:v>45411</c:v>
                </c:pt>
                <c:pt idx="601">
                  <c:v>45412</c:v>
                </c:pt>
                <c:pt idx="602">
                  <c:v>45414</c:v>
                </c:pt>
                <c:pt idx="603">
                  <c:v>45415</c:v>
                </c:pt>
                <c:pt idx="604">
                  <c:v>45418</c:v>
                </c:pt>
                <c:pt idx="605">
                  <c:v>45419</c:v>
                </c:pt>
                <c:pt idx="606">
                  <c:v>45420</c:v>
                </c:pt>
                <c:pt idx="607">
                  <c:v>45421</c:v>
                </c:pt>
                <c:pt idx="608">
                  <c:v>45422</c:v>
                </c:pt>
                <c:pt idx="609">
                  <c:v>45425</c:v>
                </c:pt>
                <c:pt idx="610">
                  <c:v>45426</c:v>
                </c:pt>
                <c:pt idx="611">
                  <c:v>45427</c:v>
                </c:pt>
                <c:pt idx="612">
                  <c:v>45428</c:v>
                </c:pt>
                <c:pt idx="613">
                  <c:v>45429</c:v>
                </c:pt>
                <c:pt idx="614">
                  <c:v>45432</c:v>
                </c:pt>
                <c:pt idx="615">
                  <c:v>45433</c:v>
                </c:pt>
                <c:pt idx="616">
                  <c:v>45435</c:v>
                </c:pt>
                <c:pt idx="617">
                  <c:v>45436</c:v>
                </c:pt>
                <c:pt idx="618">
                  <c:v>45439</c:v>
                </c:pt>
                <c:pt idx="619">
                  <c:v>45440</c:v>
                </c:pt>
                <c:pt idx="620">
                  <c:v>45441</c:v>
                </c:pt>
                <c:pt idx="621">
                  <c:v>45442</c:v>
                </c:pt>
                <c:pt idx="622">
                  <c:v>45443</c:v>
                </c:pt>
                <c:pt idx="623">
                  <c:v>45446</c:v>
                </c:pt>
                <c:pt idx="624">
                  <c:v>45447</c:v>
                </c:pt>
                <c:pt idx="625">
                  <c:v>45448</c:v>
                </c:pt>
                <c:pt idx="626">
                  <c:v>45449</c:v>
                </c:pt>
                <c:pt idx="627">
                  <c:v>45450</c:v>
                </c:pt>
                <c:pt idx="628">
                  <c:v>45453</c:v>
                </c:pt>
                <c:pt idx="629">
                  <c:v>45454</c:v>
                </c:pt>
                <c:pt idx="630">
                  <c:v>45455</c:v>
                </c:pt>
                <c:pt idx="631">
                  <c:v>45456</c:v>
                </c:pt>
                <c:pt idx="632">
                  <c:v>45457</c:v>
                </c:pt>
                <c:pt idx="633">
                  <c:v>45461</c:v>
                </c:pt>
                <c:pt idx="634">
                  <c:v>45462</c:v>
                </c:pt>
                <c:pt idx="635">
                  <c:v>45463</c:v>
                </c:pt>
                <c:pt idx="636">
                  <c:v>45464</c:v>
                </c:pt>
                <c:pt idx="637">
                  <c:v>45467</c:v>
                </c:pt>
                <c:pt idx="638">
                  <c:v>45468</c:v>
                </c:pt>
                <c:pt idx="639">
                  <c:v>45469</c:v>
                </c:pt>
                <c:pt idx="640">
                  <c:v>45470</c:v>
                </c:pt>
                <c:pt idx="641">
                  <c:v>45471</c:v>
                </c:pt>
                <c:pt idx="642">
                  <c:v>45474</c:v>
                </c:pt>
                <c:pt idx="643">
                  <c:v>45475</c:v>
                </c:pt>
                <c:pt idx="644">
                  <c:v>45476</c:v>
                </c:pt>
                <c:pt idx="645">
                  <c:v>45477</c:v>
                </c:pt>
                <c:pt idx="646">
                  <c:v>45478</c:v>
                </c:pt>
                <c:pt idx="647">
                  <c:v>45481</c:v>
                </c:pt>
                <c:pt idx="648">
                  <c:v>45482</c:v>
                </c:pt>
                <c:pt idx="649">
                  <c:v>45483</c:v>
                </c:pt>
                <c:pt idx="650">
                  <c:v>45484</c:v>
                </c:pt>
                <c:pt idx="651">
                  <c:v>45485</c:v>
                </c:pt>
                <c:pt idx="652">
                  <c:v>45488</c:v>
                </c:pt>
                <c:pt idx="653">
                  <c:v>45489</c:v>
                </c:pt>
                <c:pt idx="654">
                  <c:v>45490</c:v>
                </c:pt>
                <c:pt idx="655">
                  <c:v>45491</c:v>
                </c:pt>
                <c:pt idx="656">
                  <c:v>45492</c:v>
                </c:pt>
                <c:pt idx="657">
                  <c:v>45495</c:v>
                </c:pt>
                <c:pt idx="658">
                  <c:v>45496</c:v>
                </c:pt>
                <c:pt idx="659">
                  <c:v>45497</c:v>
                </c:pt>
                <c:pt idx="660">
                  <c:v>45498</c:v>
                </c:pt>
                <c:pt idx="661">
                  <c:v>45499</c:v>
                </c:pt>
                <c:pt idx="662">
                  <c:v>45502</c:v>
                </c:pt>
                <c:pt idx="663">
                  <c:v>45503</c:v>
                </c:pt>
                <c:pt idx="664">
                  <c:v>45504</c:v>
                </c:pt>
                <c:pt idx="665">
                  <c:v>45505</c:v>
                </c:pt>
                <c:pt idx="666">
                  <c:v>45506</c:v>
                </c:pt>
                <c:pt idx="667">
                  <c:v>45509</c:v>
                </c:pt>
                <c:pt idx="668">
                  <c:v>45510</c:v>
                </c:pt>
                <c:pt idx="669">
                  <c:v>45511</c:v>
                </c:pt>
                <c:pt idx="670">
                  <c:v>45512</c:v>
                </c:pt>
                <c:pt idx="671">
                  <c:v>45516</c:v>
                </c:pt>
                <c:pt idx="672">
                  <c:v>45517</c:v>
                </c:pt>
                <c:pt idx="673">
                  <c:v>45518</c:v>
                </c:pt>
                <c:pt idx="674">
                  <c:v>45519</c:v>
                </c:pt>
                <c:pt idx="675">
                  <c:v>45520</c:v>
                </c:pt>
                <c:pt idx="676">
                  <c:v>45523</c:v>
                </c:pt>
                <c:pt idx="677">
                  <c:v>45524</c:v>
                </c:pt>
                <c:pt idx="678">
                  <c:v>45525</c:v>
                </c:pt>
                <c:pt idx="679">
                  <c:v>45526</c:v>
                </c:pt>
                <c:pt idx="680">
                  <c:v>45527</c:v>
                </c:pt>
                <c:pt idx="681">
                  <c:v>45530</c:v>
                </c:pt>
                <c:pt idx="682">
                  <c:v>45531</c:v>
                </c:pt>
                <c:pt idx="683">
                  <c:v>45532</c:v>
                </c:pt>
                <c:pt idx="684">
                  <c:v>45533</c:v>
                </c:pt>
                <c:pt idx="685">
                  <c:v>45534</c:v>
                </c:pt>
                <c:pt idx="686">
                  <c:v>45537</c:v>
                </c:pt>
                <c:pt idx="687">
                  <c:v>45538</c:v>
                </c:pt>
                <c:pt idx="688">
                  <c:v>45539</c:v>
                </c:pt>
                <c:pt idx="689">
                  <c:v>45540</c:v>
                </c:pt>
                <c:pt idx="690">
                  <c:v>45541</c:v>
                </c:pt>
                <c:pt idx="691">
                  <c:v>45544</c:v>
                </c:pt>
                <c:pt idx="692">
                  <c:v>45545</c:v>
                </c:pt>
                <c:pt idx="693">
                  <c:v>45546</c:v>
                </c:pt>
                <c:pt idx="694">
                  <c:v>45547</c:v>
                </c:pt>
                <c:pt idx="695">
                  <c:v>45548</c:v>
                </c:pt>
                <c:pt idx="696">
                  <c:v>45551</c:v>
                </c:pt>
                <c:pt idx="697">
                  <c:v>45552</c:v>
                </c:pt>
                <c:pt idx="698">
                  <c:v>45553</c:v>
                </c:pt>
                <c:pt idx="699">
                  <c:v>45554</c:v>
                </c:pt>
                <c:pt idx="700">
                  <c:v>45555</c:v>
                </c:pt>
                <c:pt idx="701">
                  <c:v>45558</c:v>
                </c:pt>
                <c:pt idx="702">
                  <c:v>45559</c:v>
                </c:pt>
                <c:pt idx="703">
                  <c:v>45560</c:v>
                </c:pt>
                <c:pt idx="704">
                  <c:v>45561</c:v>
                </c:pt>
                <c:pt idx="705">
                  <c:v>45562</c:v>
                </c:pt>
                <c:pt idx="706">
                  <c:v>45565</c:v>
                </c:pt>
                <c:pt idx="707">
                  <c:v>45566</c:v>
                </c:pt>
                <c:pt idx="708">
                  <c:v>45567</c:v>
                </c:pt>
                <c:pt idx="709">
                  <c:v>45568</c:v>
                </c:pt>
                <c:pt idx="710">
                  <c:v>45569</c:v>
                </c:pt>
                <c:pt idx="711">
                  <c:v>45572</c:v>
                </c:pt>
                <c:pt idx="712">
                  <c:v>45573</c:v>
                </c:pt>
                <c:pt idx="713">
                  <c:v>45574</c:v>
                </c:pt>
                <c:pt idx="714">
                  <c:v>45575</c:v>
                </c:pt>
                <c:pt idx="715">
                  <c:v>45576</c:v>
                </c:pt>
                <c:pt idx="716">
                  <c:v>45579</c:v>
                </c:pt>
                <c:pt idx="717">
                  <c:v>45580</c:v>
                </c:pt>
                <c:pt idx="718">
                  <c:v>45581</c:v>
                </c:pt>
                <c:pt idx="719">
                  <c:v>45582</c:v>
                </c:pt>
                <c:pt idx="720">
                  <c:v>45583</c:v>
                </c:pt>
                <c:pt idx="721">
                  <c:v>45586</c:v>
                </c:pt>
                <c:pt idx="722">
                  <c:v>45587</c:v>
                </c:pt>
                <c:pt idx="723">
                  <c:v>45588</c:v>
                </c:pt>
                <c:pt idx="724">
                  <c:v>45589</c:v>
                </c:pt>
                <c:pt idx="725">
                  <c:v>45590</c:v>
                </c:pt>
                <c:pt idx="726">
                  <c:v>45593</c:v>
                </c:pt>
                <c:pt idx="727">
                  <c:v>45594</c:v>
                </c:pt>
                <c:pt idx="728">
                  <c:v>45595</c:v>
                </c:pt>
                <c:pt idx="729">
                  <c:v>45597</c:v>
                </c:pt>
                <c:pt idx="730">
                  <c:v>45600</c:v>
                </c:pt>
                <c:pt idx="731">
                  <c:v>45601</c:v>
                </c:pt>
                <c:pt idx="732">
                  <c:v>45602</c:v>
                </c:pt>
                <c:pt idx="733">
                  <c:v>45603</c:v>
                </c:pt>
                <c:pt idx="734">
                  <c:v>45604</c:v>
                </c:pt>
                <c:pt idx="735">
                  <c:v>45607</c:v>
                </c:pt>
                <c:pt idx="736">
                  <c:v>45608</c:v>
                </c:pt>
                <c:pt idx="737">
                  <c:v>45609</c:v>
                </c:pt>
                <c:pt idx="738">
                  <c:v>45610</c:v>
                </c:pt>
                <c:pt idx="739">
                  <c:v>45611</c:v>
                </c:pt>
                <c:pt idx="740">
                  <c:v>45614</c:v>
                </c:pt>
                <c:pt idx="741">
                  <c:v>45615</c:v>
                </c:pt>
                <c:pt idx="742">
                  <c:v>45616</c:v>
                </c:pt>
                <c:pt idx="743">
                  <c:v>45617</c:v>
                </c:pt>
                <c:pt idx="744">
                  <c:v>45618</c:v>
                </c:pt>
                <c:pt idx="745">
                  <c:v>45621</c:v>
                </c:pt>
                <c:pt idx="746">
                  <c:v>45622</c:v>
                </c:pt>
                <c:pt idx="747">
                  <c:v>45623</c:v>
                </c:pt>
                <c:pt idx="748">
                  <c:v>45624</c:v>
                </c:pt>
                <c:pt idx="749">
                  <c:v>45625</c:v>
                </c:pt>
                <c:pt idx="750">
                  <c:v>45628</c:v>
                </c:pt>
                <c:pt idx="751">
                  <c:v>45629</c:v>
                </c:pt>
                <c:pt idx="752">
                  <c:v>45630</c:v>
                </c:pt>
                <c:pt idx="753">
                  <c:v>45631</c:v>
                </c:pt>
                <c:pt idx="754">
                  <c:v>45632</c:v>
                </c:pt>
                <c:pt idx="755">
                  <c:v>45635</c:v>
                </c:pt>
                <c:pt idx="756">
                  <c:v>45636</c:v>
                </c:pt>
                <c:pt idx="757">
                  <c:v>45637</c:v>
                </c:pt>
                <c:pt idx="758">
                  <c:v>45638</c:v>
                </c:pt>
                <c:pt idx="759">
                  <c:v>45639</c:v>
                </c:pt>
                <c:pt idx="760">
                  <c:v>45642</c:v>
                </c:pt>
                <c:pt idx="761">
                  <c:v>45643</c:v>
                </c:pt>
                <c:pt idx="762">
                  <c:v>45644</c:v>
                </c:pt>
                <c:pt idx="763">
                  <c:v>45645</c:v>
                </c:pt>
                <c:pt idx="764">
                  <c:v>45646</c:v>
                </c:pt>
                <c:pt idx="765">
                  <c:v>45649</c:v>
                </c:pt>
                <c:pt idx="766">
                  <c:v>45650</c:v>
                </c:pt>
                <c:pt idx="767">
                  <c:v>45652</c:v>
                </c:pt>
                <c:pt idx="768">
                  <c:v>45653</c:v>
                </c:pt>
                <c:pt idx="769">
                  <c:v>45656</c:v>
                </c:pt>
                <c:pt idx="770">
                  <c:v>45657</c:v>
                </c:pt>
                <c:pt idx="771">
                  <c:v>45659</c:v>
                </c:pt>
                <c:pt idx="772">
                  <c:v>45660</c:v>
                </c:pt>
                <c:pt idx="773">
                  <c:v>45663</c:v>
                </c:pt>
                <c:pt idx="774">
                  <c:v>45664</c:v>
                </c:pt>
                <c:pt idx="775">
                  <c:v>45665</c:v>
                </c:pt>
                <c:pt idx="776">
                  <c:v>45666</c:v>
                </c:pt>
                <c:pt idx="777">
                  <c:v>45667</c:v>
                </c:pt>
                <c:pt idx="778">
                  <c:v>45670</c:v>
                </c:pt>
                <c:pt idx="779">
                  <c:v>45671</c:v>
                </c:pt>
                <c:pt idx="780">
                  <c:v>45672</c:v>
                </c:pt>
                <c:pt idx="781">
                  <c:v>45673</c:v>
                </c:pt>
                <c:pt idx="782">
                  <c:v>45674</c:v>
                </c:pt>
                <c:pt idx="783">
                  <c:v>45677</c:v>
                </c:pt>
                <c:pt idx="784">
                  <c:v>45678</c:v>
                </c:pt>
                <c:pt idx="785">
                  <c:v>45679</c:v>
                </c:pt>
                <c:pt idx="786">
                  <c:v>45680</c:v>
                </c:pt>
                <c:pt idx="787">
                  <c:v>45681</c:v>
                </c:pt>
                <c:pt idx="788">
                  <c:v>45684</c:v>
                </c:pt>
                <c:pt idx="789">
                  <c:v>45685</c:v>
                </c:pt>
                <c:pt idx="790">
                  <c:v>45688</c:v>
                </c:pt>
                <c:pt idx="791">
                  <c:v>45691</c:v>
                </c:pt>
                <c:pt idx="792">
                  <c:v>45692</c:v>
                </c:pt>
                <c:pt idx="793">
                  <c:v>45693</c:v>
                </c:pt>
                <c:pt idx="794">
                  <c:v>45694</c:v>
                </c:pt>
                <c:pt idx="795">
                  <c:v>45695</c:v>
                </c:pt>
                <c:pt idx="796">
                  <c:v>45698</c:v>
                </c:pt>
                <c:pt idx="797">
                  <c:v>45699</c:v>
                </c:pt>
                <c:pt idx="798">
                  <c:v>45700</c:v>
                </c:pt>
                <c:pt idx="799">
                  <c:v>45701</c:v>
                </c:pt>
                <c:pt idx="800">
                  <c:v>45702</c:v>
                </c:pt>
                <c:pt idx="801">
                  <c:v>45705</c:v>
                </c:pt>
                <c:pt idx="802">
                  <c:v>45706</c:v>
                </c:pt>
                <c:pt idx="803">
                  <c:v>45707</c:v>
                </c:pt>
                <c:pt idx="804">
                  <c:v>45708</c:v>
                </c:pt>
                <c:pt idx="805">
                  <c:v>45709</c:v>
                </c:pt>
                <c:pt idx="806">
                  <c:v>45712</c:v>
                </c:pt>
                <c:pt idx="807">
                  <c:v>45713</c:v>
                </c:pt>
                <c:pt idx="808">
                  <c:v>45714</c:v>
                </c:pt>
                <c:pt idx="809">
                  <c:v>45715</c:v>
                </c:pt>
                <c:pt idx="810">
                  <c:v>45716</c:v>
                </c:pt>
                <c:pt idx="811">
                  <c:v>45719</c:v>
                </c:pt>
                <c:pt idx="812">
                  <c:v>45720</c:v>
                </c:pt>
                <c:pt idx="813">
                  <c:v>45721</c:v>
                </c:pt>
                <c:pt idx="814">
                  <c:v>45722</c:v>
                </c:pt>
                <c:pt idx="815">
                  <c:v>45723</c:v>
                </c:pt>
                <c:pt idx="816">
                  <c:v>45726</c:v>
                </c:pt>
                <c:pt idx="817">
                  <c:v>45727</c:v>
                </c:pt>
                <c:pt idx="818">
                  <c:v>45728</c:v>
                </c:pt>
                <c:pt idx="819">
                  <c:v>45729</c:v>
                </c:pt>
                <c:pt idx="820">
                  <c:v>45730</c:v>
                </c:pt>
                <c:pt idx="821">
                  <c:v>45733</c:v>
                </c:pt>
                <c:pt idx="822">
                  <c:v>45734</c:v>
                </c:pt>
                <c:pt idx="823">
                  <c:v>45735</c:v>
                </c:pt>
                <c:pt idx="824">
                  <c:v>45736</c:v>
                </c:pt>
                <c:pt idx="825">
                  <c:v>45737</c:v>
                </c:pt>
                <c:pt idx="826">
                  <c:v>45740</c:v>
                </c:pt>
                <c:pt idx="827">
                  <c:v>45741</c:v>
                </c:pt>
                <c:pt idx="828">
                  <c:v>45742</c:v>
                </c:pt>
                <c:pt idx="829">
                  <c:v>45743</c:v>
                </c:pt>
                <c:pt idx="830">
                  <c:v>45744</c:v>
                </c:pt>
                <c:pt idx="831">
                  <c:v>45748</c:v>
                </c:pt>
                <c:pt idx="832">
                  <c:v>45749</c:v>
                </c:pt>
                <c:pt idx="833">
                  <c:v>45750</c:v>
                </c:pt>
                <c:pt idx="834">
                  <c:v>45751</c:v>
                </c:pt>
                <c:pt idx="835">
                  <c:v>45754</c:v>
                </c:pt>
                <c:pt idx="836">
                  <c:v>45755</c:v>
                </c:pt>
                <c:pt idx="837">
                  <c:v>45756</c:v>
                </c:pt>
                <c:pt idx="838">
                  <c:v>45757</c:v>
                </c:pt>
                <c:pt idx="839">
                  <c:v>45758</c:v>
                </c:pt>
                <c:pt idx="840">
                  <c:v>45761</c:v>
                </c:pt>
                <c:pt idx="841">
                  <c:v>45762</c:v>
                </c:pt>
                <c:pt idx="842">
                  <c:v>45763</c:v>
                </c:pt>
                <c:pt idx="843">
                  <c:v>45764</c:v>
                </c:pt>
                <c:pt idx="844">
                  <c:v>45768</c:v>
                </c:pt>
                <c:pt idx="845">
                  <c:v>45769</c:v>
                </c:pt>
                <c:pt idx="846">
                  <c:v>45770</c:v>
                </c:pt>
                <c:pt idx="847">
                  <c:v>45771</c:v>
                </c:pt>
                <c:pt idx="848">
                  <c:v>45772</c:v>
                </c:pt>
                <c:pt idx="849">
                  <c:v>45775</c:v>
                </c:pt>
                <c:pt idx="850">
                  <c:v>45776</c:v>
                </c:pt>
                <c:pt idx="851">
                  <c:v>45777</c:v>
                </c:pt>
                <c:pt idx="852">
                  <c:v>45779</c:v>
                </c:pt>
                <c:pt idx="853">
                  <c:v>45782</c:v>
                </c:pt>
                <c:pt idx="854">
                  <c:v>45783</c:v>
                </c:pt>
                <c:pt idx="855">
                  <c:v>45784</c:v>
                </c:pt>
                <c:pt idx="856">
                  <c:v>45785</c:v>
                </c:pt>
                <c:pt idx="857">
                  <c:v>45786</c:v>
                </c:pt>
                <c:pt idx="858">
                  <c:v>45790</c:v>
                </c:pt>
                <c:pt idx="859">
                  <c:v>45791</c:v>
                </c:pt>
                <c:pt idx="860">
                  <c:v>45792</c:v>
                </c:pt>
                <c:pt idx="861">
                  <c:v>45793</c:v>
                </c:pt>
                <c:pt idx="862">
                  <c:v>45796</c:v>
                </c:pt>
                <c:pt idx="863">
                  <c:v>45797</c:v>
                </c:pt>
                <c:pt idx="864">
                  <c:v>45798</c:v>
                </c:pt>
                <c:pt idx="865">
                  <c:v>45799</c:v>
                </c:pt>
                <c:pt idx="866">
                  <c:v>45800</c:v>
                </c:pt>
                <c:pt idx="867">
                  <c:v>45803</c:v>
                </c:pt>
                <c:pt idx="868">
                  <c:v>45804</c:v>
                </c:pt>
                <c:pt idx="869">
                  <c:v>45805</c:v>
                </c:pt>
                <c:pt idx="870">
                  <c:v>45806</c:v>
                </c:pt>
                <c:pt idx="871">
                  <c:v>45807</c:v>
                </c:pt>
                <c:pt idx="872">
                  <c:v>45810</c:v>
                </c:pt>
                <c:pt idx="873">
                  <c:v>45811</c:v>
                </c:pt>
                <c:pt idx="874">
                  <c:v>45812</c:v>
                </c:pt>
                <c:pt idx="875">
                  <c:v>45813</c:v>
                </c:pt>
                <c:pt idx="876">
                  <c:v>45814</c:v>
                </c:pt>
                <c:pt idx="877">
                  <c:v>45817</c:v>
                </c:pt>
                <c:pt idx="878">
                  <c:v>45818</c:v>
                </c:pt>
                <c:pt idx="879">
                  <c:v>45819</c:v>
                </c:pt>
                <c:pt idx="880">
                  <c:v>45820</c:v>
                </c:pt>
                <c:pt idx="881">
                  <c:v>45821</c:v>
                </c:pt>
                <c:pt idx="882">
                  <c:v>45824</c:v>
                </c:pt>
                <c:pt idx="883">
                  <c:v>45825</c:v>
                </c:pt>
                <c:pt idx="884">
                  <c:v>45826</c:v>
                </c:pt>
                <c:pt idx="885">
                  <c:v>45827</c:v>
                </c:pt>
                <c:pt idx="886">
                  <c:v>45828</c:v>
                </c:pt>
                <c:pt idx="887">
                  <c:v>45831</c:v>
                </c:pt>
                <c:pt idx="888">
                  <c:v>45832</c:v>
                </c:pt>
                <c:pt idx="889">
                  <c:v>45833</c:v>
                </c:pt>
                <c:pt idx="890">
                  <c:v>45834</c:v>
                </c:pt>
                <c:pt idx="891">
                  <c:v>45835</c:v>
                </c:pt>
                <c:pt idx="892">
                  <c:v>45838</c:v>
                </c:pt>
                <c:pt idx="893">
                  <c:v>45839</c:v>
                </c:pt>
                <c:pt idx="894">
                  <c:v>45840</c:v>
                </c:pt>
                <c:pt idx="895">
                  <c:v>45841</c:v>
                </c:pt>
                <c:pt idx="896">
                  <c:v>45842</c:v>
                </c:pt>
                <c:pt idx="897">
                  <c:v>45845</c:v>
                </c:pt>
                <c:pt idx="898">
                  <c:v>45846</c:v>
                </c:pt>
                <c:pt idx="899">
                  <c:v>45847</c:v>
                </c:pt>
                <c:pt idx="900">
                  <c:v>45848</c:v>
                </c:pt>
                <c:pt idx="901">
                  <c:v>45849</c:v>
                </c:pt>
                <c:pt idx="902">
                  <c:v>45852</c:v>
                </c:pt>
                <c:pt idx="903">
                  <c:v>45853</c:v>
                </c:pt>
                <c:pt idx="904">
                  <c:v>45854</c:v>
                </c:pt>
                <c:pt idx="905">
                  <c:v>45855</c:v>
                </c:pt>
                <c:pt idx="906">
                  <c:v>45856</c:v>
                </c:pt>
                <c:pt idx="907">
                  <c:v>45859</c:v>
                </c:pt>
                <c:pt idx="908">
                  <c:v>45860</c:v>
                </c:pt>
                <c:pt idx="909">
                  <c:v>45861</c:v>
                </c:pt>
                <c:pt idx="910">
                  <c:v>45862</c:v>
                </c:pt>
                <c:pt idx="911">
                  <c:v>45863</c:v>
                </c:pt>
                <c:pt idx="912">
                  <c:v>45866</c:v>
                </c:pt>
                <c:pt idx="913">
                  <c:v>45867</c:v>
                </c:pt>
                <c:pt idx="914">
                  <c:v>45868</c:v>
                </c:pt>
                <c:pt idx="915">
                  <c:v>45869</c:v>
                </c:pt>
                <c:pt idx="916">
                  <c:v>45870</c:v>
                </c:pt>
                <c:pt idx="917">
                  <c:v>45873</c:v>
                </c:pt>
                <c:pt idx="918">
                  <c:v>45874</c:v>
                </c:pt>
                <c:pt idx="919">
                  <c:v>45875</c:v>
                </c:pt>
                <c:pt idx="920">
                  <c:v>45876</c:v>
                </c:pt>
                <c:pt idx="921">
                  <c:v>45877</c:v>
                </c:pt>
                <c:pt idx="922">
                  <c:v>45880</c:v>
                </c:pt>
                <c:pt idx="923">
                  <c:v>45881</c:v>
                </c:pt>
                <c:pt idx="924">
                  <c:v>45882</c:v>
                </c:pt>
                <c:pt idx="925">
                  <c:v>45883</c:v>
                </c:pt>
                <c:pt idx="926">
                  <c:v>45884</c:v>
                </c:pt>
                <c:pt idx="927">
                  <c:v>45887</c:v>
                </c:pt>
                <c:pt idx="928">
                  <c:v>45888</c:v>
                </c:pt>
                <c:pt idx="929">
                  <c:v>45889</c:v>
                </c:pt>
                <c:pt idx="930">
                  <c:v>45890</c:v>
                </c:pt>
                <c:pt idx="931">
                  <c:v>45891</c:v>
                </c:pt>
                <c:pt idx="932">
                  <c:v>45894</c:v>
                </c:pt>
                <c:pt idx="933">
                  <c:v>45895</c:v>
                </c:pt>
                <c:pt idx="934">
                  <c:v>45896</c:v>
                </c:pt>
                <c:pt idx="935">
                  <c:v>45897</c:v>
                </c:pt>
                <c:pt idx="936">
                  <c:v>45898</c:v>
                </c:pt>
                <c:pt idx="937">
                  <c:v>45901</c:v>
                </c:pt>
                <c:pt idx="938">
                  <c:v>45902</c:v>
                </c:pt>
                <c:pt idx="939">
                  <c:v>45903</c:v>
                </c:pt>
                <c:pt idx="940">
                  <c:v>45904</c:v>
                </c:pt>
                <c:pt idx="941">
                  <c:v>45905</c:v>
                </c:pt>
                <c:pt idx="942">
                  <c:v>45908</c:v>
                </c:pt>
                <c:pt idx="943">
                  <c:v>45909</c:v>
                </c:pt>
                <c:pt idx="944">
                  <c:v>45910</c:v>
                </c:pt>
                <c:pt idx="945">
                  <c:v>45911</c:v>
                </c:pt>
                <c:pt idx="946">
                  <c:v>45912</c:v>
                </c:pt>
                <c:pt idx="947">
                  <c:v>45915</c:v>
                </c:pt>
                <c:pt idx="948">
                  <c:v>45916</c:v>
                </c:pt>
                <c:pt idx="949">
                  <c:v>45917</c:v>
                </c:pt>
                <c:pt idx="950">
                  <c:v>45918</c:v>
                </c:pt>
                <c:pt idx="951">
                  <c:v>45919</c:v>
                </c:pt>
                <c:pt idx="952">
                  <c:v>45922</c:v>
                </c:pt>
                <c:pt idx="953">
                  <c:v>45923</c:v>
                </c:pt>
                <c:pt idx="954">
                  <c:v>45924</c:v>
                </c:pt>
                <c:pt idx="955">
                  <c:v>45925</c:v>
                </c:pt>
                <c:pt idx="956">
                  <c:v>45926</c:v>
                </c:pt>
                <c:pt idx="957">
                  <c:v>45929</c:v>
                </c:pt>
                <c:pt idx="958">
                  <c:v>45930</c:v>
                </c:pt>
                <c:pt idx="959">
                  <c:v>45931</c:v>
                </c:pt>
                <c:pt idx="960">
                  <c:v>45932</c:v>
                </c:pt>
                <c:pt idx="961">
                  <c:v>45933</c:v>
                </c:pt>
                <c:pt idx="962">
                  <c:v>45936</c:v>
                </c:pt>
                <c:pt idx="963">
                  <c:v>45937</c:v>
                </c:pt>
                <c:pt idx="964">
                  <c:v>45938</c:v>
                </c:pt>
                <c:pt idx="965">
                  <c:v>45939</c:v>
                </c:pt>
                <c:pt idx="966">
                  <c:v>45940</c:v>
                </c:pt>
                <c:pt idx="967">
                  <c:v>45943</c:v>
                </c:pt>
                <c:pt idx="968">
                  <c:v>45944</c:v>
                </c:pt>
                <c:pt idx="969">
                  <c:v>45945</c:v>
                </c:pt>
                <c:pt idx="970">
                  <c:v>45946</c:v>
                </c:pt>
                <c:pt idx="971">
                  <c:v>45947</c:v>
                </c:pt>
                <c:pt idx="972">
                  <c:v>45951</c:v>
                </c:pt>
                <c:pt idx="973">
                  <c:v>45952</c:v>
                </c:pt>
                <c:pt idx="974">
                  <c:v>45953</c:v>
                </c:pt>
                <c:pt idx="975">
                  <c:v>45954</c:v>
                </c:pt>
                <c:pt idx="976">
                  <c:v>45957</c:v>
                </c:pt>
                <c:pt idx="977">
                  <c:v>45958</c:v>
                </c:pt>
                <c:pt idx="978">
                  <c:v>45959</c:v>
                </c:pt>
                <c:pt idx="979">
                  <c:v>45960</c:v>
                </c:pt>
                <c:pt idx="980">
                  <c:v>45961</c:v>
                </c:pt>
                <c:pt idx="981">
                  <c:v>45964</c:v>
                </c:pt>
                <c:pt idx="982">
                  <c:v>45965</c:v>
                </c:pt>
                <c:pt idx="983">
                  <c:v>45966</c:v>
                </c:pt>
                <c:pt idx="984">
                  <c:v>45967</c:v>
                </c:pt>
                <c:pt idx="985">
                  <c:v>45968</c:v>
                </c:pt>
                <c:pt idx="986">
                  <c:v>45971</c:v>
                </c:pt>
                <c:pt idx="987">
                  <c:v>45972</c:v>
                </c:pt>
                <c:pt idx="988">
                  <c:v>45973</c:v>
                </c:pt>
                <c:pt idx="989">
                  <c:v>45974</c:v>
                </c:pt>
                <c:pt idx="990">
                  <c:v>45975</c:v>
                </c:pt>
                <c:pt idx="991">
                  <c:v>45978</c:v>
                </c:pt>
                <c:pt idx="992">
                  <c:v>45979</c:v>
                </c:pt>
                <c:pt idx="993">
                  <c:v>45980</c:v>
                </c:pt>
                <c:pt idx="994">
                  <c:v>45981</c:v>
                </c:pt>
                <c:pt idx="995">
                  <c:v>45982</c:v>
                </c:pt>
                <c:pt idx="996">
                  <c:v>45985</c:v>
                </c:pt>
                <c:pt idx="997">
                  <c:v>45986</c:v>
                </c:pt>
                <c:pt idx="998">
                  <c:v>45987</c:v>
                </c:pt>
                <c:pt idx="999">
                  <c:v>45988</c:v>
                </c:pt>
                <c:pt idx="1000">
                  <c:v>45989</c:v>
                </c:pt>
                <c:pt idx="1001">
                  <c:v>45992</c:v>
                </c:pt>
                <c:pt idx="1002">
                  <c:v>45993</c:v>
                </c:pt>
                <c:pt idx="1003">
                  <c:v>45994</c:v>
                </c:pt>
                <c:pt idx="1004">
                  <c:v>45995</c:v>
                </c:pt>
                <c:pt idx="1005">
                  <c:v>45996</c:v>
                </c:pt>
                <c:pt idx="1006">
                  <c:v>45999</c:v>
                </c:pt>
                <c:pt idx="1007">
                  <c:v>46000</c:v>
                </c:pt>
                <c:pt idx="1008">
                  <c:v>46001</c:v>
                </c:pt>
                <c:pt idx="1009">
                  <c:v>46002</c:v>
                </c:pt>
                <c:pt idx="1010">
                  <c:v>46003</c:v>
                </c:pt>
                <c:pt idx="1011">
                  <c:v>46006</c:v>
                </c:pt>
                <c:pt idx="1012">
                  <c:v>46007</c:v>
                </c:pt>
                <c:pt idx="1013">
                  <c:v>46008</c:v>
                </c:pt>
                <c:pt idx="1014">
                  <c:v>46009</c:v>
                </c:pt>
                <c:pt idx="1015">
                  <c:v>46010</c:v>
                </c:pt>
                <c:pt idx="1016">
                  <c:v>46013</c:v>
                </c:pt>
                <c:pt idx="1017">
                  <c:v>46014</c:v>
                </c:pt>
                <c:pt idx="1018">
                  <c:v>46015</c:v>
                </c:pt>
                <c:pt idx="1019">
                  <c:v>46017</c:v>
                </c:pt>
                <c:pt idx="1020">
                  <c:v>46020</c:v>
                </c:pt>
                <c:pt idx="1021">
                  <c:v>46021</c:v>
                </c:pt>
                <c:pt idx="1022">
                  <c:v>46022</c:v>
                </c:pt>
                <c:pt idx="1023">
                  <c:v>46024</c:v>
                </c:pt>
                <c:pt idx="1024">
                  <c:v>46027</c:v>
                </c:pt>
                <c:pt idx="1025">
                  <c:v>46028</c:v>
                </c:pt>
                <c:pt idx="1026">
                  <c:v>46029</c:v>
                </c:pt>
                <c:pt idx="1027">
                  <c:v>46030</c:v>
                </c:pt>
                <c:pt idx="1028">
                  <c:v>46031</c:v>
                </c:pt>
                <c:pt idx="1029">
                  <c:v>46034</c:v>
                </c:pt>
                <c:pt idx="1030">
                  <c:v>46035</c:v>
                </c:pt>
                <c:pt idx="1031">
                  <c:v>46036</c:v>
                </c:pt>
                <c:pt idx="1032">
                  <c:v>46037</c:v>
                </c:pt>
                <c:pt idx="1033">
                  <c:v>46038</c:v>
                </c:pt>
                <c:pt idx="1034">
                  <c:v>46041</c:v>
                </c:pt>
                <c:pt idx="1035">
                  <c:v>46042</c:v>
                </c:pt>
                <c:pt idx="1036">
                  <c:v>46043</c:v>
                </c:pt>
                <c:pt idx="1037">
                  <c:v>46044</c:v>
                </c:pt>
                <c:pt idx="1038">
                  <c:v>46045</c:v>
                </c:pt>
                <c:pt idx="1039">
                  <c:v>46048</c:v>
                </c:pt>
                <c:pt idx="1040">
                  <c:v>46049</c:v>
                </c:pt>
                <c:pt idx="1041">
                  <c:v>46050</c:v>
                </c:pt>
                <c:pt idx="1042">
                  <c:v>46051</c:v>
                </c:pt>
                <c:pt idx="1043">
                  <c:v>46052</c:v>
                </c:pt>
                <c:pt idx="1044">
                  <c:v>46055</c:v>
                </c:pt>
                <c:pt idx="1045">
                  <c:v>46056</c:v>
                </c:pt>
                <c:pt idx="1046">
                  <c:v>46057</c:v>
                </c:pt>
                <c:pt idx="1047">
                  <c:v>46058</c:v>
                </c:pt>
                <c:pt idx="1048">
                  <c:v>46059</c:v>
                </c:pt>
                <c:pt idx="1049">
                  <c:v>46062</c:v>
                </c:pt>
                <c:pt idx="1050">
                  <c:v>46063</c:v>
                </c:pt>
                <c:pt idx="1051">
                  <c:v>46064</c:v>
                </c:pt>
                <c:pt idx="1052">
                  <c:v>46065</c:v>
                </c:pt>
                <c:pt idx="1053">
                  <c:v>46066</c:v>
                </c:pt>
                <c:pt idx="1054">
                  <c:v>46069</c:v>
                </c:pt>
                <c:pt idx="1055">
                  <c:v>46072</c:v>
                </c:pt>
                <c:pt idx="1056">
                  <c:v>46073</c:v>
                </c:pt>
                <c:pt idx="1057">
                  <c:v>46076</c:v>
                </c:pt>
                <c:pt idx="1058">
                  <c:v>46077</c:v>
                </c:pt>
                <c:pt idx="1059">
                  <c:v>46078</c:v>
                </c:pt>
                <c:pt idx="1060">
                  <c:v>46079</c:v>
                </c:pt>
                <c:pt idx="1061">
                  <c:v>46080</c:v>
                </c:pt>
                <c:pt idx="1062">
                  <c:v>46083</c:v>
                </c:pt>
                <c:pt idx="1063">
                  <c:v>46084</c:v>
                </c:pt>
                <c:pt idx="1064">
                  <c:v>46085</c:v>
                </c:pt>
                <c:pt idx="1065">
                  <c:v>46086</c:v>
                </c:pt>
                <c:pt idx="1066">
                  <c:v>46087</c:v>
                </c:pt>
                <c:pt idx="1067">
                  <c:v>46090</c:v>
                </c:pt>
                <c:pt idx="1068">
                  <c:v>46091</c:v>
                </c:pt>
                <c:pt idx="1069">
                  <c:v>46092</c:v>
                </c:pt>
                <c:pt idx="1070">
                  <c:v>46093</c:v>
                </c:pt>
                <c:pt idx="1071">
                  <c:v>46094</c:v>
                </c:pt>
                <c:pt idx="1072">
                  <c:v>46097</c:v>
                </c:pt>
                <c:pt idx="1073">
                  <c:v>46098</c:v>
                </c:pt>
                <c:pt idx="1074">
                  <c:v>46099</c:v>
                </c:pt>
                <c:pt idx="1075">
                  <c:v>46100</c:v>
                </c:pt>
                <c:pt idx="1076">
                  <c:v>46101</c:v>
                </c:pt>
                <c:pt idx="1077">
                  <c:v>46104</c:v>
                </c:pt>
                <c:pt idx="1078">
                  <c:v>46105</c:v>
                </c:pt>
                <c:pt idx="1079">
                  <c:v>46106</c:v>
                </c:pt>
                <c:pt idx="1080">
                  <c:v>46107</c:v>
                </c:pt>
                <c:pt idx="1081">
                  <c:v>46108</c:v>
                </c:pt>
                <c:pt idx="1082">
                  <c:v>46111</c:v>
                </c:pt>
                <c:pt idx="1083">
                  <c:v>46112</c:v>
                </c:pt>
                <c:pt idx="1084">
                  <c:v>46113</c:v>
                </c:pt>
                <c:pt idx="1085">
                  <c:v>46114</c:v>
                </c:pt>
                <c:pt idx="1086">
                  <c:v>46118</c:v>
                </c:pt>
                <c:pt idx="1087">
                  <c:v>46119</c:v>
                </c:pt>
                <c:pt idx="1088">
                  <c:v>46120</c:v>
                </c:pt>
                <c:pt idx="1089">
                  <c:v>46121</c:v>
                </c:pt>
                <c:pt idx="1090">
                  <c:v>46122</c:v>
                </c:pt>
                <c:pt idx="1091">
                  <c:v>46125</c:v>
                </c:pt>
                <c:pt idx="1092">
                  <c:v>46126</c:v>
                </c:pt>
                <c:pt idx="1093">
                  <c:v>46127</c:v>
                </c:pt>
                <c:pt idx="1094">
                  <c:v>46128</c:v>
                </c:pt>
                <c:pt idx="1095">
                  <c:v>46129</c:v>
                </c:pt>
                <c:pt idx="1096">
                  <c:v>46132</c:v>
                </c:pt>
                <c:pt idx="1097">
                  <c:v>46133</c:v>
                </c:pt>
                <c:pt idx="1098">
                  <c:v>46134</c:v>
                </c:pt>
                <c:pt idx="1099">
                  <c:v>46135</c:v>
                </c:pt>
                <c:pt idx="1100">
                  <c:v>46136</c:v>
                </c:pt>
                <c:pt idx="1101">
                  <c:v>46139</c:v>
                </c:pt>
                <c:pt idx="1102">
                  <c:v>46140</c:v>
                </c:pt>
                <c:pt idx="1103">
                  <c:v>46141</c:v>
                </c:pt>
                <c:pt idx="1104">
                  <c:v>46142</c:v>
                </c:pt>
                <c:pt idx="1105">
                  <c:v>46146</c:v>
                </c:pt>
              </c:numCache>
            </c:numRef>
          </c:cat>
          <c:val>
            <c:numRef>
              <c:f>Sheet1!$D$2:$D$1107</c:f>
              <c:numCache>
                <c:formatCode>General</c:formatCode>
                <c:ptCount val="1106"/>
                <c:pt idx="0">
                  <c:v>0.88</c:v>
                </c:pt>
                <c:pt idx="1">
                  <c:v>0.88680915464668419</c:v>
                </c:pt>
                <c:pt idx="2">
                  <c:v>0.88459692869966589</c:v>
                </c:pt>
                <c:pt idx="3">
                  <c:v>0.88794793190064791</c:v>
                </c:pt>
                <c:pt idx="4">
                  <c:v>0.884827021990514</c:v>
                </c:pt>
                <c:pt idx="5">
                  <c:v>0.8828029178069674</c:v>
                </c:pt>
                <c:pt idx="6">
                  <c:v>0.88017418701239447</c:v>
                </c:pt>
                <c:pt idx="7">
                  <c:v>0.87849614413443744</c:v>
                </c:pt>
                <c:pt idx="8">
                  <c:v>0.880826384760512</c:v>
                </c:pt>
                <c:pt idx="9">
                  <c:v>0.87724163194153781</c:v>
                </c:pt>
                <c:pt idx="10">
                  <c:v>0.8674931975488136</c:v>
                </c:pt>
                <c:pt idx="11">
                  <c:v>0.86901013115802705</c:v>
                </c:pt>
                <c:pt idx="12">
                  <c:v>0.86931954416228574</c:v>
                </c:pt>
                <c:pt idx="13">
                  <c:v>0.8722956494265609</c:v>
                </c:pt>
                <c:pt idx="14">
                  <c:v>0.87822693242907501</c:v>
                </c:pt>
                <c:pt idx="15">
                  <c:v>0.8840290980081249</c:v>
                </c:pt>
                <c:pt idx="16">
                  <c:v>0.8902698001808691</c:v>
                </c:pt>
                <c:pt idx="17">
                  <c:v>0.88979708119448153</c:v>
                </c:pt>
                <c:pt idx="18">
                  <c:v>0.8903084687820314</c:v>
                </c:pt>
                <c:pt idx="19">
                  <c:v>0.89110618075307546</c:v>
                </c:pt>
                <c:pt idx="20">
                  <c:v>0.88925313352200386</c:v>
                </c:pt>
                <c:pt idx="21">
                  <c:v>0.88426498074966176</c:v>
                </c:pt>
                <c:pt idx="22">
                  <c:v>0.87456002443666003</c:v>
                </c:pt>
                <c:pt idx="23">
                  <c:v>0.87382758850622078</c:v>
                </c:pt>
                <c:pt idx="24">
                  <c:v>0.86327060805077449</c:v>
                </c:pt>
                <c:pt idx="25">
                  <c:v>0.86248566371988211</c:v>
                </c:pt>
                <c:pt idx="26">
                  <c:v>0.86302454295343378</c:v>
                </c:pt>
                <c:pt idx="27">
                  <c:v>0.87036747395502823</c:v>
                </c:pt>
                <c:pt idx="28">
                  <c:v>0.86646590256017897</c:v>
                </c:pt>
                <c:pt idx="29">
                  <c:v>0.86652864762080328</c:v>
                </c:pt>
                <c:pt idx="30">
                  <c:v>0.86829704275214326</c:v>
                </c:pt>
                <c:pt idx="31">
                  <c:v>0.86771869629371878</c:v>
                </c:pt>
                <c:pt idx="32">
                  <c:v>0.86968949718815702</c:v>
                </c:pt>
                <c:pt idx="33">
                  <c:v>0.86289985284350013</c:v>
                </c:pt>
                <c:pt idx="34">
                  <c:v>0.8573789097291501</c:v>
                </c:pt>
                <c:pt idx="35">
                  <c:v>0.85819567494828697</c:v>
                </c:pt>
                <c:pt idx="36">
                  <c:v>0.84689294949570826</c:v>
                </c:pt>
                <c:pt idx="37">
                  <c:v>0.83595058874350792</c:v>
                </c:pt>
                <c:pt idx="38">
                  <c:v>0.83421611602205004</c:v>
                </c:pt>
                <c:pt idx="39">
                  <c:v>0.83421611602205004</c:v>
                </c:pt>
                <c:pt idx="40">
                  <c:v>0.83421611602205004</c:v>
                </c:pt>
                <c:pt idx="41">
                  <c:v>0.84519318592452397</c:v>
                </c:pt>
                <c:pt idx="42">
                  <c:v>0.85139990527964626</c:v>
                </c:pt>
                <c:pt idx="43">
                  <c:v>0.84507771980524837</c:v>
                </c:pt>
                <c:pt idx="44">
                  <c:v>0.85089861792884625</c:v>
                </c:pt>
                <c:pt idx="45">
                  <c:v>0.85840030923534061</c:v>
                </c:pt>
                <c:pt idx="46">
                  <c:v>0.86513259800613695</c:v>
                </c:pt>
                <c:pt idx="47">
                  <c:v>0.85915148001604635</c:v>
                </c:pt>
                <c:pt idx="48">
                  <c:v>0.84925825557339218</c:v>
                </c:pt>
                <c:pt idx="49">
                  <c:v>0.85663708750007128</c:v>
                </c:pt>
                <c:pt idx="50">
                  <c:v>0.8592153443308943</c:v>
                </c:pt>
                <c:pt idx="51">
                  <c:v>0.86408583961233054</c:v>
                </c:pt>
                <c:pt idx="52">
                  <c:v>0.86549796773296406</c:v>
                </c:pt>
                <c:pt idx="53">
                  <c:v>0.85964008369241007</c:v>
                </c:pt>
                <c:pt idx="54">
                  <c:v>0.86425610173874901</c:v>
                </c:pt>
                <c:pt idx="55">
                  <c:v>0.84746110902862415</c:v>
                </c:pt>
                <c:pt idx="56">
                  <c:v>0.85286543104648682</c:v>
                </c:pt>
                <c:pt idx="57">
                  <c:v>0.85133414479817815</c:v>
                </c:pt>
                <c:pt idx="58">
                  <c:v>0.85728674531659488</c:v>
                </c:pt>
                <c:pt idx="59">
                  <c:v>0.86194534835751579</c:v>
                </c:pt>
                <c:pt idx="60">
                  <c:v>0.86700955141778879</c:v>
                </c:pt>
                <c:pt idx="61">
                  <c:v>0.86373602867624322</c:v>
                </c:pt>
                <c:pt idx="62">
                  <c:v>0.85586702792847624</c:v>
                </c:pt>
                <c:pt idx="63">
                  <c:v>0.85073374064645513</c:v>
                </c:pt>
                <c:pt idx="64">
                  <c:v>0.85315969039875628</c:v>
                </c:pt>
                <c:pt idx="65">
                  <c:v>0.86388115356658968</c:v>
                </c:pt>
                <c:pt idx="66">
                  <c:v>0.87077298050409624</c:v>
                </c:pt>
                <c:pt idx="67">
                  <c:v>0.8623671489920216</c:v>
                </c:pt>
                <c:pt idx="68">
                  <c:v>0.85558718406439105</c:v>
                </c:pt>
                <c:pt idx="69">
                  <c:v>0.85935794743283511</c:v>
                </c:pt>
                <c:pt idx="70">
                  <c:v>0.87326190079751931</c:v>
                </c:pt>
                <c:pt idx="71">
                  <c:v>0.87797835546522185</c:v>
                </c:pt>
                <c:pt idx="72">
                  <c:v>0.88646410515509211</c:v>
                </c:pt>
                <c:pt idx="73">
                  <c:v>0.88357845877064267</c:v>
                </c:pt>
                <c:pt idx="74">
                  <c:v>0.88201972739759549</c:v>
                </c:pt>
                <c:pt idx="75">
                  <c:v>0.89083212724736016</c:v>
                </c:pt>
                <c:pt idx="76">
                  <c:v>0.89376278791479313</c:v>
                </c:pt>
                <c:pt idx="77">
                  <c:v>0.89650830676700466</c:v>
                </c:pt>
                <c:pt idx="78">
                  <c:v>0.89964678123437958</c:v>
                </c:pt>
                <c:pt idx="79">
                  <c:v>0.90389821513620705</c:v>
                </c:pt>
                <c:pt idx="80">
                  <c:v>0.89796584290597647</c:v>
                </c:pt>
                <c:pt idx="81">
                  <c:v>0.90185043661677833</c:v>
                </c:pt>
                <c:pt idx="82">
                  <c:v>0.90435540765364775</c:v>
                </c:pt>
                <c:pt idx="83">
                  <c:v>0.9109045019398424</c:v>
                </c:pt>
                <c:pt idx="84">
                  <c:v>0.90210307355459041</c:v>
                </c:pt>
                <c:pt idx="85">
                  <c:v>0.89825820802175227</c:v>
                </c:pt>
                <c:pt idx="86">
                  <c:v>0.89667985497316727</c:v>
                </c:pt>
                <c:pt idx="87">
                  <c:v>0.89079413043452049</c:v>
                </c:pt>
                <c:pt idx="88">
                  <c:v>0.88990885723548396</c:v>
                </c:pt>
                <c:pt idx="89">
                  <c:v>0.88746478282412333</c:v>
                </c:pt>
                <c:pt idx="90">
                  <c:v>0.89050311485269895</c:v>
                </c:pt>
                <c:pt idx="91">
                  <c:v>0.88852082192300497</c:v>
                </c:pt>
                <c:pt idx="92">
                  <c:v>0.88713874943873205</c:v>
                </c:pt>
                <c:pt idx="93">
                  <c:v>0.88856984555846952</c:v>
                </c:pt>
                <c:pt idx="94">
                  <c:v>0.89648210540529272</c:v>
                </c:pt>
                <c:pt idx="95">
                  <c:v>0.89848183942673587</c:v>
                </c:pt>
                <c:pt idx="96">
                  <c:v>0.89390693342769867</c:v>
                </c:pt>
                <c:pt idx="97">
                  <c:v>0.89422074151759368</c:v>
                </c:pt>
                <c:pt idx="98">
                  <c:v>0.89123828890219869</c:v>
                </c:pt>
                <c:pt idx="99">
                  <c:v>0.89358518475601234</c:v>
                </c:pt>
                <c:pt idx="100">
                  <c:v>0.89053183225416988</c:v>
                </c:pt>
                <c:pt idx="101">
                  <c:v>0.89053183225416988</c:v>
                </c:pt>
                <c:pt idx="102">
                  <c:v>0.89053183225416988</c:v>
                </c:pt>
                <c:pt idx="103">
                  <c:v>0.87950079507823553</c:v>
                </c:pt>
                <c:pt idx="104">
                  <c:v>0.88323539642244031</c:v>
                </c:pt>
                <c:pt idx="105">
                  <c:v>0.87237458561863701</c:v>
                </c:pt>
                <c:pt idx="106">
                  <c:v>0.86784117160967744</c:v>
                </c:pt>
                <c:pt idx="107">
                  <c:v>0.85418733910131384</c:v>
                </c:pt>
                <c:pt idx="108">
                  <c:v>0.85386807402239628</c:v>
                </c:pt>
                <c:pt idx="109">
                  <c:v>0.83614273233746716</c:v>
                </c:pt>
                <c:pt idx="110">
                  <c:v>0.84579572291809801</c:v>
                </c:pt>
                <c:pt idx="111">
                  <c:v>0.84579572291809801</c:v>
                </c:pt>
                <c:pt idx="112">
                  <c:v>0.85124811021671276</c:v>
                </c:pt>
                <c:pt idx="113">
                  <c:v>0.85373417991165446</c:v>
                </c:pt>
                <c:pt idx="114">
                  <c:v>0.84877327491123367</c:v>
                </c:pt>
                <c:pt idx="115">
                  <c:v>0.84928727387635405</c:v>
                </c:pt>
                <c:pt idx="116">
                  <c:v>0.84862633769478502</c:v>
                </c:pt>
                <c:pt idx="117">
                  <c:v>0.84382683853485574</c:v>
                </c:pt>
                <c:pt idx="118">
                  <c:v>0.84070639012316351</c:v>
                </c:pt>
                <c:pt idx="119">
                  <c:v>0.83669480921203587</c:v>
                </c:pt>
                <c:pt idx="120">
                  <c:v>0.84296434990429159</c:v>
                </c:pt>
                <c:pt idx="121">
                  <c:v>0.85337218282512084</c:v>
                </c:pt>
                <c:pt idx="122">
                  <c:v>0.85393525991786945</c:v>
                </c:pt>
                <c:pt idx="123">
                  <c:v>0.85395837754269555</c:v>
                </c:pt>
                <c:pt idx="124">
                  <c:v>0.85623682325780315</c:v>
                </c:pt>
                <c:pt idx="125">
                  <c:v>0.86055771789166002</c:v>
                </c:pt>
                <c:pt idx="126">
                  <c:v>0.85920193500195874</c:v>
                </c:pt>
                <c:pt idx="127">
                  <c:v>0.86541912952871125</c:v>
                </c:pt>
                <c:pt idx="128">
                  <c:v>0.86634126109986409</c:v>
                </c:pt>
                <c:pt idx="129">
                  <c:v>0.85852857019390083</c:v>
                </c:pt>
                <c:pt idx="130">
                  <c:v>0.84787029766419875</c:v>
                </c:pt>
                <c:pt idx="131">
                  <c:v>0.83019791828285627</c:v>
                </c:pt>
                <c:pt idx="132">
                  <c:v>0.83393620565728521</c:v>
                </c:pt>
                <c:pt idx="133">
                  <c:v>0.83429608035594971</c:v>
                </c:pt>
                <c:pt idx="134">
                  <c:v>0.84009013753654138</c:v>
                </c:pt>
                <c:pt idx="135">
                  <c:v>0.83691878474290915</c:v>
                </c:pt>
                <c:pt idx="136">
                  <c:v>0.83582453683027613</c:v>
                </c:pt>
                <c:pt idx="137">
                  <c:v>0.83884237393152672</c:v>
                </c:pt>
                <c:pt idx="138">
                  <c:v>0.85071345604031012</c:v>
                </c:pt>
                <c:pt idx="139">
                  <c:v>0.85462414070959314</c:v>
                </c:pt>
                <c:pt idx="140">
                  <c:v>0.8580665423968048</c:v>
                </c:pt>
                <c:pt idx="141">
                  <c:v>0.85413345628392556</c:v>
                </c:pt>
                <c:pt idx="142">
                  <c:v>0.84565699652200477</c:v>
                </c:pt>
                <c:pt idx="143">
                  <c:v>0.84244548023908783</c:v>
                </c:pt>
                <c:pt idx="144">
                  <c:v>0.8328228761080515</c:v>
                </c:pt>
                <c:pt idx="145">
                  <c:v>0.84001416799049322</c:v>
                </c:pt>
                <c:pt idx="146">
                  <c:v>0.84289541739047935</c:v>
                </c:pt>
                <c:pt idx="147">
                  <c:v>0.8466380011950021</c:v>
                </c:pt>
                <c:pt idx="148">
                  <c:v>0.8466380011950021</c:v>
                </c:pt>
                <c:pt idx="149">
                  <c:v>0.84070022412046141</c:v>
                </c:pt>
                <c:pt idx="150">
                  <c:v>0.84838900561610864</c:v>
                </c:pt>
                <c:pt idx="151">
                  <c:v>0.83639755550338335</c:v>
                </c:pt>
                <c:pt idx="152">
                  <c:v>0.83785858802983459</c:v>
                </c:pt>
                <c:pt idx="153">
                  <c:v>0.84045865179401957</c:v>
                </c:pt>
                <c:pt idx="154">
                  <c:v>0.837224978045918</c:v>
                </c:pt>
                <c:pt idx="155">
                  <c:v>0.83878950811339459</c:v>
                </c:pt>
                <c:pt idx="156">
                  <c:v>0.83919041720568044</c:v>
                </c:pt>
                <c:pt idx="157">
                  <c:v>0.84575656566109403</c:v>
                </c:pt>
                <c:pt idx="158">
                  <c:v>0.84922433857829716</c:v>
                </c:pt>
                <c:pt idx="159">
                  <c:v>0.85853942700890473</c:v>
                </c:pt>
                <c:pt idx="160">
                  <c:v>0.85962292324104128</c:v>
                </c:pt>
                <c:pt idx="161">
                  <c:v>0.86464149338673291</c:v>
                </c:pt>
                <c:pt idx="162">
                  <c:v>0.86999440025904162</c:v>
                </c:pt>
                <c:pt idx="163">
                  <c:v>0.87022590214571205</c:v>
                </c:pt>
                <c:pt idx="164">
                  <c:v>0.86468601568571046</c:v>
                </c:pt>
                <c:pt idx="165">
                  <c:v>0.86497405400059246</c:v>
                </c:pt>
                <c:pt idx="166">
                  <c:v>0.87111328113353026</c:v>
                </c:pt>
                <c:pt idx="167">
                  <c:v>0.86463544811604609</c:v>
                </c:pt>
                <c:pt idx="168">
                  <c:v>0.86337813959773313</c:v>
                </c:pt>
                <c:pt idx="169">
                  <c:v>0.86337813959773313</c:v>
                </c:pt>
                <c:pt idx="170">
                  <c:v>0.86019952874630823</c:v>
                </c:pt>
                <c:pt idx="171">
                  <c:v>0.86683140945117876</c:v>
                </c:pt>
                <c:pt idx="172">
                  <c:v>0.86310685232832529</c:v>
                </c:pt>
                <c:pt idx="173">
                  <c:v>0.86690249971068911</c:v>
                </c:pt>
                <c:pt idx="174">
                  <c:v>0.86528536994256355</c:v>
                </c:pt>
                <c:pt idx="175">
                  <c:v>0.86319655949172902</c:v>
                </c:pt>
                <c:pt idx="176">
                  <c:v>0.86535512017268823</c:v>
                </c:pt>
                <c:pt idx="177">
                  <c:v>0.86149256087890391</c:v>
                </c:pt>
                <c:pt idx="178">
                  <c:v>0.85467966108796189</c:v>
                </c:pt>
                <c:pt idx="179">
                  <c:v>0.84487131305702778</c:v>
                </c:pt>
                <c:pt idx="180">
                  <c:v>0.83946509199300501</c:v>
                </c:pt>
                <c:pt idx="181">
                  <c:v>0.83968951447855666</c:v>
                </c:pt>
                <c:pt idx="182">
                  <c:v>0.84463465551058348</c:v>
                </c:pt>
                <c:pt idx="183">
                  <c:v>0.83661272226073879</c:v>
                </c:pt>
                <c:pt idx="184">
                  <c:v>0.83732354297675082</c:v>
                </c:pt>
                <c:pt idx="185">
                  <c:v>0.82973315182417762</c:v>
                </c:pt>
                <c:pt idx="186">
                  <c:v>0.82947852120141263</c:v>
                </c:pt>
                <c:pt idx="187">
                  <c:v>0.82699774784637725</c:v>
                </c:pt>
                <c:pt idx="188">
                  <c:v>0.83147982622055772</c:v>
                </c:pt>
                <c:pt idx="189">
                  <c:v>0.83000894694033667</c:v>
                </c:pt>
                <c:pt idx="190">
                  <c:v>0.83818608096638547</c:v>
                </c:pt>
                <c:pt idx="191">
                  <c:v>0.84361132392698845</c:v>
                </c:pt>
                <c:pt idx="192">
                  <c:v>0.84685015079961656</c:v>
                </c:pt>
                <c:pt idx="193">
                  <c:v>0.84755649743044004</c:v>
                </c:pt>
                <c:pt idx="194">
                  <c:v>0.8362424445771719</c:v>
                </c:pt>
                <c:pt idx="195">
                  <c:v>0.83410545207815379</c:v>
                </c:pt>
                <c:pt idx="196">
                  <c:v>0.83284390452231682</c:v>
                </c:pt>
                <c:pt idx="197">
                  <c:v>0.83206506623501042</c:v>
                </c:pt>
                <c:pt idx="198">
                  <c:v>0.8323091026129954</c:v>
                </c:pt>
                <c:pt idx="199">
                  <c:v>0.82420963892908949</c:v>
                </c:pt>
                <c:pt idx="200">
                  <c:v>0.82292857640762274</c:v>
                </c:pt>
                <c:pt idx="201">
                  <c:v>0.81072303632898424</c:v>
                </c:pt>
                <c:pt idx="202">
                  <c:v>0.79289875060509563</c:v>
                </c:pt>
                <c:pt idx="203">
                  <c:v>0.78333291043809172</c:v>
                </c:pt>
                <c:pt idx="204">
                  <c:v>0.76286649784075178</c:v>
                </c:pt>
                <c:pt idx="205">
                  <c:v>0.75899400780661597</c:v>
                </c:pt>
                <c:pt idx="206">
                  <c:v>0.76893389290921699</c:v>
                </c:pt>
                <c:pt idx="207">
                  <c:v>0.7562209899843555</c:v>
                </c:pt>
                <c:pt idx="208">
                  <c:v>0.76923239048522751</c:v>
                </c:pt>
                <c:pt idx="209">
                  <c:v>0.77851350552974952</c:v>
                </c:pt>
                <c:pt idx="210">
                  <c:v>0.77735929187592667</c:v>
                </c:pt>
                <c:pt idx="211">
                  <c:v>0.76863155183596632</c:v>
                </c:pt>
                <c:pt idx="212">
                  <c:v>0.75731334373352654</c:v>
                </c:pt>
                <c:pt idx="213">
                  <c:v>0.75674024512188665</c:v>
                </c:pt>
                <c:pt idx="214">
                  <c:v>0.74957993475222873</c:v>
                </c:pt>
                <c:pt idx="215">
                  <c:v>0.7383620449283208</c:v>
                </c:pt>
                <c:pt idx="216">
                  <c:v>0.72868518740605814</c:v>
                </c:pt>
                <c:pt idx="217">
                  <c:v>0.72601656070031972</c:v>
                </c:pt>
                <c:pt idx="218">
                  <c:v>0.72919499715178204</c:v>
                </c:pt>
                <c:pt idx="219">
                  <c:v>0.71503872054177686</c:v>
                </c:pt>
                <c:pt idx="220">
                  <c:v>0.71595059097666902</c:v>
                </c:pt>
                <c:pt idx="221">
                  <c:v>0.69160908379088037</c:v>
                </c:pt>
                <c:pt idx="222">
                  <c:v>0.69160908379088037</c:v>
                </c:pt>
                <c:pt idx="223">
                  <c:v>0.70607697309196771</c:v>
                </c:pt>
                <c:pt idx="224">
                  <c:v>0.73102041275573804</c:v>
                </c:pt>
                <c:pt idx="225">
                  <c:v>0.73316218994423343</c:v>
                </c:pt>
                <c:pt idx="226">
                  <c:v>0.73317424088149941</c:v>
                </c:pt>
                <c:pt idx="227">
                  <c:v>0.7266651484756268</c:v>
                </c:pt>
                <c:pt idx="228">
                  <c:v>0.73287033007295377</c:v>
                </c:pt>
                <c:pt idx="229">
                  <c:v>0.74448169619753224</c:v>
                </c:pt>
                <c:pt idx="230">
                  <c:v>0.71668527917683489</c:v>
                </c:pt>
                <c:pt idx="231">
                  <c:v>0.7180836438790178</c:v>
                </c:pt>
                <c:pt idx="232">
                  <c:v>0.7196290553244985</c:v>
                </c:pt>
                <c:pt idx="233">
                  <c:v>0.71793914832464589</c:v>
                </c:pt>
                <c:pt idx="234">
                  <c:v>0.72690895089099117</c:v>
                </c:pt>
                <c:pt idx="235">
                  <c:v>0.72775343014842497</c:v>
                </c:pt>
                <c:pt idx="236">
                  <c:v>0.76306380509668448</c:v>
                </c:pt>
                <c:pt idx="237">
                  <c:v>0.76835777533990701</c:v>
                </c:pt>
                <c:pt idx="238">
                  <c:v>0.76766622121877137</c:v>
                </c:pt>
                <c:pt idx="239">
                  <c:v>0.76595678757863239</c:v>
                </c:pt>
                <c:pt idx="240">
                  <c:v>0.76874052033595586</c:v>
                </c:pt>
                <c:pt idx="241">
                  <c:v>0.76676600718244037</c:v>
                </c:pt>
                <c:pt idx="242">
                  <c:v>0.75776786259812878</c:v>
                </c:pt>
                <c:pt idx="243">
                  <c:v>0.75474731279288743</c:v>
                </c:pt>
                <c:pt idx="244">
                  <c:v>0.74596280639971091</c:v>
                </c:pt>
                <c:pt idx="245">
                  <c:v>0.75505231397679229</c:v>
                </c:pt>
                <c:pt idx="246">
                  <c:v>0.75518571978641835</c:v>
                </c:pt>
                <c:pt idx="247">
                  <c:v>0.76338485938191969</c:v>
                </c:pt>
                <c:pt idx="248">
                  <c:v>0.76491823608233001</c:v>
                </c:pt>
                <c:pt idx="249">
                  <c:v>0.76641507584448676</c:v>
                </c:pt>
                <c:pt idx="250">
                  <c:v>0.75449856028142881</c:v>
                </c:pt>
                <c:pt idx="251">
                  <c:v>0.76594918728334405</c:v>
                </c:pt>
                <c:pt idx="252">
                  <c:v>0.76661382572906533</c:v>
                </c:pt>
                <c:pt idx="253">
                  <c:v>0.75900591865843692</c:v>
                </c:pt>
                <c:pt idx="254">
                  <c:v>0.76023447186133652</c:v>
                </c:pt>
                <c:pt idx="255">
                  <c:v>0.76011092121457169</c:v>
                </c:pt>
                <c:pt idx="256">
                  <c:v>0.75142088366925575</c:v>
                </c:pt>
                <c:pt idx="257">
                  <c:v>0.75657693222260203</c:v>
                </c:pt>
                <c:pt idx="258">
                  <c:v>0.76619661750171375</c:v>
                </c:pt>
                <c:pt idx="259">
                  <c:v>0.76873359856878276</c:v>
                </c:pt>
                <c:pt idx="260">
                  <c:v>0.76037736303203607</c:v>
                </c:pt>
                <c:pt idx="261">
                  <c:v>0.75404801935519616</c:v>
                </c:pt>
                <c:pt idx="262">
                  <c:v>0.74586405988049864</c:v>
                </c:pt>
                <c:pt idx="263">
                  <c:v>0.74772027835099764</c:v>
                </c:pt>
                <c:pt idx="264">
                  <c:v>0.74800726764739112</c:v>
                </c:pt>
                <c:pt idx="265">
                  <c:v>0.7480234300460421</c:v>
                </c:pt>
                <c:pt idx="266">
                  <c:v>0.75149765000278623</c:v>
                </c:pt>
                <c:pt idx="267">
                  <c:v>0.75234254047104365</c:v>
                </c:pt>
                <c:pt idx="268">
                  <c:v>0.75346984368687653</c:v>
                </c:pt>
                <c:pt idx="269">
                  <c:v>0.75647849051729898</c:v>
                </c:pt>
                <c:pt idx="270">
                  <c:v>0.75547942496287901</c:v>
                </c:pt>
                <c:pt idx="271">
                  <c:v>0.75671626294649141</c:v>
                </c:pt>
                <c:pt idx="272">
                  <c:v>0.76627236208892036</c:v>
                </c:pt>
                <c:pt idx="273">
                  <c:v>0.7546894874471245</c:v>
                </c:pt>
                <c:pt idx="274">
                  <c:v>0.76178577811110859</c:v>
                </c:pt>
                <c:pt idx="275">
                  <c:v>0.7559353265700427</c:v>
                </c:pt>
                <c:pt idx="276">
                  <c:v>0.75754718282591904</c:v>
                </c:pt>
                <c:pt idx="277">
                  <c:v>0.7600440550732297</c:v>
                </c:pt>
                <c:pt idx="278">
                  <c:v>0.76227581183378057</c:v>
                </c:pt>
                <c:pt idx="279">
                  <c:v>0.76910381220345214</c:v>
                </c:pt>
                <c:pt idx="280">
                  <c:v>0.77218708186291007</c:v>
                </c:pt>
                <c:pt idx="281">
                  <c:v>0.77352817848334099</c:v>
                </c:pt>
                <c:pt idx="282">
                  <c:v>0.78142803314688625</c:v>
                </c:pt>
                <c:pt idx="283">
                  <c:v>0.78142803314688625</c:v>
                </c:pt>
                <c:pt idx="284">
                  <c:v>0.78142803314688625</c:v>
                </c:pt>
                <c:pt idx="285">
                  <c:v>0.79594679732506202</c:v>
                </c:pt>
                <c:pt idx="286">
                  <c:v>0.8038396732670553</c:v>
                </c:pt>
                <c:pt idx="287">
                  <c:v>0.81434075313009591</c:v>
                </c:pt>
                <c:pt idx="288">
                  <c:v>0.81252654054322349</c:v>
                </c:pt>
                <c:pt idx="289">
                  <c:v>0.80630394423949703</c:v>
                </c:pt>
                <c:pt idx="290">
                  <c:v>0.80859993030701693</c:v>
                </c:pt>
                <c:pt idx="291">
                  <c:v>0.81661469779041074</c:v>
                </c:pt>
                <c:pt idx="292">
                  <c:v>0.82357429763221446</c:v>
                </c:pt>
                <c:pt idx="293">
                  <c:v>0.81298725476931544</c:v>
                </c:pt>
                <c:pt idx="294">
                  <c:v>0.80530681181622632</c:v>
                </c:pt>
                <c:pt idx="295">
                  <c:v>0.79782773081387204</c:v>
                </c:pt>
                <c:pt idx="296">
                  <c:v>0.78777106908832739</c:v>
                </c:pt>
                <c:pt idx="297">
                  <c:v>0.78082524596719682</c:v>
                </c:pt>
                <c:pt idx="298">
                  <c:v>0.77273953533122453</c:v>
                </c:pt>
                <c:pt idx="299">
                  <c:v>0.77516545444146479</c:v>
                </c:pt>
                <c:pt idx="300">
                  <c:v>0.76483219484453679</c:v>
                </c:pt>
                <c:pt idx="301">
                  <c:v>0.76956138705285204</c:v>
                </c:pt>
                <c:pt idx="302">
                  <c:v>0.7695463787967638</c:v>
                </c:pt>
                <c:pt idx="303">
                  <c:v>0.76945006453939091</c:v>
                </c:pt>
                <c:pt idx="304">
                  <c:v>0.76367507760243758</c:v>
                </c:pt>
                <c:pt idx="305">
                  <c:v>0.7651387099987329</c:v>
                </c:pt>
                <c:pt idx="306">
                  <c:v>0.77314938213990558</c:v>
                </c:pt>
                <c:pt idx="307">
                  <c:v>0.76739248758195144</c:v>
                </c:pt>
                <c:pt idx="308">
                  <c:v>0.77413212192351555</c:v>
                </c:pt>
                <c:pt idx="309">
                  <c:v>0.7712161364245177</c:v>
                </c:pt>
                <c:pt idx="310">
                  <c:v>0.76697394948706898</c:v>
                </c:pt>
                <c:pt idx="311">
                  <c:v>0.76584471101173124</c:v>
                </c:pt>
                <c:pt idx="312">
                  <c:v>0.76124062475647658</c:v>
                </c:pt>
                <c:pt idx="313">
                  <c:v>0.76492093579709142</c:v>
                </c:pt>
                <c:pt idx="314">
                  <c:v>0.75313896325327501</c:v>
                </c:pt>
                <c:pt idx="315">
                  <c:v>0.75064599383633379</c:v>
                </c:pt>
                <c:pt idx="316">
                  <c:v>0.7448893793971042</c:v>
                </c:pt>
                <c:pt idx="317">
                  <c:v>0.73908153426980694</c:v>
                </c:pt>
                <c:pt idx="318">
                  <c:v>0.74907628927730963</c:v>
                </c:pt>
                <c:pt idx="319">
                  <c:v>0.76099259183787671</c:v>
                </c:pt>
                <c:pt idx="320">
                  <c:v>0.76374964155740077</c:v>
                </c:pt>
                <c:pt idx="321">
                  <c:v>0.76783300909678198</c:v>
                </c:pt>
                <c:pt idx="322">
                  <c:v>0.7560110608493309</c:v>
                </c:pt>
                <c:pt idx="323">
                  <c:v>0.75748441580358616</c:v>
                </c:pt>
                <c:pt idx="324">
                  <c:v>0.76098505533065797</c:v>
                </c:pt>
                <c:pt idx="325">
                  <c:v>0.75967105365786891</c:v>
                </c:pt>
                <c:pt idx="326">
                  <c:v>0.7586332695589616</c:v>
                </c:pt>
                <c:pt idx="327">
                  <c:v>0.76474359404002556</c:v>
                </c:pt>
                <c:pt idx="328">
                  <c:v>0.76150073389178197</c:v>
                </c:pt>
                <c:pt idx="329">
                  <c:v>0.76036718670657311</c:v>
                </c:pt>
                <c:pt idx="330">
                  <c:v>0.7593375662912043</c:v>
                </c:pt>
                <c:pt idx="331">
                  <c:v>0.77085463080033434</c:v>
                </c:pt>
                <c:pt idx="332">
                  <c:v>0.78078202655571272</c:v>
                </c:pt>
                <c:pt idx="333">
                  <c:v>0.78732181869677942</c:v>
                </c:pt>
                <c:pt idx="334">
                  <c:v>0.78843124143019372</c:v>
                </c:pt>
                <c:pt idx="335">
                  <c:v>0.77941579904254432</c:v>
                </c:pt>
                <c:pt idx="336">
                  <c:v>0.77868217121209671</c:v>
                </c:pt>
                <c:pt idx="337">
                  <c:v>0.78049520198778366</c:v>
                </c:pt>
                <c:pt idx="338">
                  <c:v>0.77743683522618501</c:v>
                </c:pt>
                <c:pt idx="339">
                  <c:v>0.78245043066406228</c:v>
                </c:pt>
                <c:pt idx="340">
                  <c:v>0.78603383630696644</c:v>
                </c:pt>
                <c:pt idx="341">
                  <c:v>0.78486114437405929</c:v>
                </c:pt>
                <c:pt idx="342">
                  <c:v>0.78367605591736045</c:v>
                </c:pt>
                <c:pt idx="343">
                  <c:v>0.78035903596175804</c:v>
                </c:pt>
                <c:pt idx="344">
                  <c:v>0.78163133714908439</c:v>
                </c:pt>
                <c:pt idx="345">
                  <c:v>0.78156175979568743</c:v>
                </c:pt>
                <c:pt idx="346">
                  <c:v>0.78202422446907205</c:v>
                </c:pt>
                <c:pt idx="347">
                  <c:v>0.77905609492532224</c:v>
                </c:pt>
                <c:pt idx="348">
                  <c:v>0.7788868494017015</c:v>
                </c:pt>
                <c:pt idx="349">
                  <c:v>0.77343428005565029</c:v>
                </c:pt>
                <c:pt idx="350">
                  <c:v>0.77545639988144932</c:v>
                </c:pt>
                <c:pt idx="351">
                  <c:v>0.77545639988144932</c:v>
                </c:pt>
                <c:pt idx="352">
                  <c:v>0.77429507068619452</c:v>
                </c:pt>
                <c:pt idx="353">
                  <c:v>0.77273539383289946</c:v>
                </c:pt>
                <c:pt idx="354">
                  <c:v>0.77743014345704842</c:v>
                </c:pt>
                <c:pt idx="355">
                  <c:v>0.77829633013678612</c:v>
                </c:pt>
                <c:pt idx="356">
                  <c:v>0.77938630831766864</c:v>
                </c:pt>
                <c:pt idx="357">
                  <c:v>0.77166875951895797</c:v>
                </c:pt>
                <c:pt idx="358">
                  <c:v>0.7689139019118153</c:v>
                </c:pt>
                <c:pt idx="359">
                  <c:v>0.76936488606810383</c:v>
                </c:pt>
                <c:pt idx="360">
                  <c:v>0.76718262777498103</c:v>
                </c:pt>
                <c:pt idx="361">
                  <c:v>0.767193845064567</c:v>
                </c:pt>
                <c:pt idx="362">
                  <c:v>0.76243079815729065</c:v>
                </c:pt>
                <c:pt idx="363">
                  <c:v>0.75043779338512262</c:v>
                </c:pt>
                <c:pt idx="364">
                  <c:v>0.75251767839933914</c:v>
                </c:pt>
                <c:pt idx="365">
                  <c:v>0.75178509777201785</c:v>
                </c:pt>
                <c:pt idx="366">
                  <c:v>0.75337534927788219</c:v>
                </c:pt>
                <c:pt idx="367">
                  <c:v>0.75383959091953978</c:v>
                </c:pt>
                <c:pt idx="368">
                  <c:v>0.75099539363462919</c:v>
                </c:pt>
                <c:pt idx="369">
                  <c:v>0.74202587785376939</c:v>
                </c:pt>
                <c:pt idx="370">
                  <c:v>0.74605023488717181</c:v>
                </c:pt>
                <c:pt idx="371">
                  <c:v>0.74337116895188704</c:v>
                </c:pt>
                <c:pt idx="372">
                  <c:v>0.74485706483468905</c:v>
                </c:pt>
                <c:pt idx="373">
                  <c:v>0.74622223345964167</c:v>
                </c:pt>
                <c:pt idx="374">
                  <c:v>0.74622223345964167</c:v>
                </c:pt>
                <c:pt idx="375">
                  <c:v>0.74504548539216253</c:v>
                </c:pt>
                <c:pt idx="376">
                  <c:v>0.73903265293160791</c:v>
                </c:pt>
                <c:pt idx="377">
                  <c:v>0.74034643419439361</c:v>
                </c:pt>
                <c:pt idx="378">
                  <c:v>0.73458255498887792</c:v>
                </c:pt>
                <c:pt idx="379">
                  <c:v>0.73172097153213955</c:v>
                </c:pt>
                <c:pt idx="380">
                  <c:v>0.7347929538749387</c:v>
                </c:pt>
                <c:pt idx="381">
                  <c:v>0.72989987691783176</c:v>
                </c:pt>
                <c:pt idx="382">
                  <c:v>0.73936280157603818</c:v>
                </c:pt>
                <c:pt idx="383">
                  <c:v>0.75097450195677873</c:v>
                </c:pt>
                <c:pt idx="384">
                  <c:v>0.75827617721576823</c:v>
                </c:pt>
                <c:pt idx="385">
                  <c:v>0.7520621185184484</c:v>
                </c:pt>
                <c:pt idx="386">
                  <c:v>0.7520051847032917</c:v>
                </c:pt>
                <c:pt idx="387">
                  <c:v>0.74457166748569381</c:v>
                </c:pt>
                <c:pt idx="388">
                  <c:v>0.73279243204892586</c:v>
                </c:pt>
                <c:pt idx="389">
                  <c:v>0.72945576323951933</c:v>
                </c:pt>
                <c:pt idx="390">
                  <c:v>0.73574934454305152</c:v>
                </c:pt>
                <c:pt idx="391">
                  <c:v>0.74297118898072345</c:v>
                </c:pt>
                <c:pt idx="392">
                  <c:v>0.74297118898072345</c:v>
                </c:pt>
                <c:pt idx="393">
                  <c:v>0.74307416868448206</c:v>
                </c:pt>
                <c:pt idx="394">
                  <c:v>0.74783864718216775</c:v>
                </c:pt>
                <c:pt idx="395">
                  <c:v>0.74328007310947908</c:v>
                </c:pt>
                <c:pt idx="396">
                  <c:v>0.73922521464311353</c:v>
                </c:pt>
                <c:pt idx="397">
                  <c:v>0.7306171946062765</c:v>
                </c:pt>
                <c:pt idx="398">
                  <c:v>0.7311609951405228</c:v>
                </c:pt>
                <c:pt idx="399">
                  <c:v>0.73756805575380069</c:v>
                </c:pt>
                <c:pt idx="400">
                  <c:v>0.74434379669889317</c:v>
                </c:pt>
                <c:pt idx="401">
                  <c:v>0.75737737794123106</c:v>
                </c:pt>
                <c:pt idx="402">
                  <c:v>0.76019105591081815</c:v>
                </c:pt>
                <c:pt idx="403">
                  <c:v>0.76204931259480824</c:v>
                </c:pt>
                <c:pt idx="404">
                  <c:v>0.75915106705459312</c:v>
                </c:pt>
                <c:pt idx="405">
                  <c:v>0.7557692061088791</c:v>
                </c:pt>
                <c:pt idx="406">
                  <c:v>0.75874360770795257</c:v>
                </c:pt>
                <c:pt idx="407">
                  <c:v>0.75748302572654425</c:v>
                </c:pt>
                <c:pt idx="408">
                  <c:v>0.75901426304354003</c:v>
                </c:pt>
                <c:pt idx="409">
                  <c:v>0.76304991948558232</c:v>
                </c:pt>
                <c:pt idx="410">
                  <c:v>0.76309399309798442</c:v>
                </c:pt>
                <c:pt idx="411">
                  <c:v>0.76814769341190225</c:v>
                </c:pt>
                <c:pt idx="412">
                  <c:v>0.76530626917612399</c:v>
                </c:pt>
                <c:pt idx="413">
                  <c:v>0.75799376601229418</c:v>
                </c:pt>
                <c:pt idx="414">
                  <c:v>0.75787265140415672</c:v>
                </c:pt>
                <c:pt idx="415">
                  <c:v>0.74891730453522365</c:v>
                </c:pt>
                <c:pt idx="416">
                  <c:v>0.74290702459903379</c:v>
                </c:pt>
                <c:pt idx="417">
                  <c:v>0.73824094103499305</c:v>
                </c:pt>
                <c:pt idx="418">
                  <c:v>0.74053599718847396</c:v>
                </c:pt>
                <c:pt idx="419">
                  <c:v>0.73867488619181321</c:v>
                </c:pt>
                <c:pt idx="420">
                  <c:v>0.73867488619181321</c:v>
                </c:pt>
                <c:pt idx="421">
                  <c:v>0.74130467260903676</c:v>
                </c:pt>
                <c:pt idx="422">
                  <c:v>0.73307557477031016</c:v>
                </c:pt>
                <c:pt idx="423">
                  <c:v>0.72551092243769555</c:v>
                </c:pt>
                <c:pt idx="424">
                  <c:v>0.72208568579242383</c:v>
                </c:pt>
                <c:pt idx="425">
                  <c:v>0.72176803477910989</c:v>
                </c:pt>
                <c:pt idx="426">
                  <c:v>0.72207523091320358</c:v>
                </c:pt>
                <c:pt idx="427">
                  <c:v>0.71933665391191315</c:v>
                </c:pt>
                <c:pt idx="428">
                  <c:v>0.7123991485505744</c:v>
                </c:pt>
                <c:pt idx="429">
                  <c:v>0.70985945150351637</c:v>
                </c:pt>
                <c:pt idx="430">
                  <c:v>0.7144738254994768</c:v>
                </c:pt>
                <c:pt idx="431">
                  <c:v>0.71512868093776571</c:v>
                </c:pt>
                <c:pt idx="432">
                  <c:v>0.71973471432541103</c:v>
                </c:pt>
                <c:pt idx="433">
                  <c:v>0.72001332917889493</c:v>
                </c:pt>
                <c:pt idx="434">
                  <c:v>0.7200512171013056</c:v>
                </c:pt>
                <c:pt idx="435">
                  <c:v>0.72532967945696014</c:v>
                </c:pt>
                <c:pt idx="436">
                  <c:v>0.7242798845256837</c:v>
                </c:pt>
                <c:pt idx="437">
                  <c:v>0.7242798845256837</c:v>
                </c:pt>
                <c:pt idx="438">
                  <c:v>0.72415264183921979</c:v>
                </c:pt>
                <c:pt idx="439">
                  <c:v>0.72313313241714305</c:v>
                </c:pt>
                <c:pt idx="440">
                  <c:v>0.72016153872424138</c:v>
                </c:pt>
                <c:pt idx="441">
                  <c:v>0.7227046022038891</c:v>
                </c:pt>
                <c:pt idx="442">
                  <c:v>0.72452466296945883</c:v>
                </c:pt>
                <c:pt idx="443">
                  <c:v>0.72328658395629586</c:v>
                </c:pt>
                <c:pt idx="444">
                  <c:v>0.71714358108920451</c:v>
                </c:pt>
                <c:pt idx="445">
                  <c:v>0.72054743855885983</c:v>
                </c:pt>
                <c:pt idx="446">
                  <c:v>0.72761446822474385</c:v>
                </c:pt>
                <c:pt idx="447">
                  <c:v>0.72468856718644425</c:v>
                </c:pt>
                <c:pt idx="448">
                  <c:v>0.72262624489324001</c:v>
                </c:pt>
                <c:pt idx="449">
                  <c:v>0.72333316683736482</c:v>
                </c:pt>
                <c:pt idx="450">
                  <c:v>0.71379745464994615</c:v>
                </c:pt>
                <c:pt idx="451">
                  <c:v>0.70984128944173719</c:v>
                </c:pt>
                <c:pt idx="452">
                  <c:v>0.71115911574869295</c:v>
                </c:pt>
                <c:pt idx="453">
                  <c:v>0.70537440652504069</c:v>
                </c:pt>
                <c:pt idx="454">
                  <c:v>0.69831812777803581</c:v>
                </c:pt>
                <c:pt idx="455">
                  <c:v>0.69243132243119709</c:v>
                </c:pt>
                <c:pt idx="456">
                  <c:v>0.70088628096048022</c:v>
                </c:pt>
                <c:pt idx="457">
                  <c:v>0.68931048200561384</c:v>
                </c:pt>
                <c:pt idx="458">
                  <c:v>0.69131751274997677</c:v>
                </c:pt>
                <c:pt idx="459">
                  <c:v>0.67980200837767535</c:v>
                </c:pt>
                <c:pt idx="460">
                  <c:v>0.68279447423850104</c:v>
                </c:pt>
                <c:pt idx="461">
                  <c:v>0.67445947317005561</c:v>
                </c:pt>
                <c:pt idx="462">
                  <c:v>0.67419374258852438</c:v>
                </c:pt>
                <c:pt idx="463">
                  <c:v>0.68466674281602613</c:v>
                </c:pt>
                <c:pt idx="464">
                  <c:v>0.68430700595968685</c:v>
                </c:pt>
                <c:pt idx="465">
                  <c:v>0.69299665240922603</c:v>
                </c:pt>
                <c:pt idx="466">
                  <c:v>0.68497038259309118</c:v>
                </c:pt>
                <c:pt idx="467">
                  <c:v>0.68101215813822991</c:v>
                </c:pt>
                <c:pt idx="468">
                  <c:v>0.68362340098593077</c:v>
                </c:pt>
                <c:pt idx="469">
                  <c:v>0.67028836596510344</c:v>
                </c:pt>
                <c:pt idx="470">
                  <c:v>0.66106952666836039</c:v>
                </c:pt>
                <c:pt idx="471">
                  <c:v>0.64629446831754778</c:v>
                </c:pt>
                <c:pt idx="472">
                  <c:v>0.64309586412127007</c:v>
                </c:pt>
                <c:pt idx="473">
                  <c:v>0.65411779861238295</c:v>
                </c:pt>
                <c:pt idx="474">
                  <c:v>0.64654183687620359</c:v>
                </c:pt>
                <c:pt idx="475">
                  <c:v>0.64086768830860175</c:v>
                </c:pt>
                <c:pt idx="476">
                  <c:v>0.64437104321054162</c:v>
                </c:pt>
                <c:pt idx="477">
                  <c:v>0.65013438301354054</c:v>
                </c:pt>
                <c:pt idx="478">
                  <c:v>0.65244655928396467</c:v>
                </c:pt>
                <c:pt idx="479">
                  <c:v>0.65113591355848421</c:v>
                </c:pt>
                <c:pt idx="480">
                  <c:v>0.66680732265676701</c:v>
                </c:pt>
                <c:pt idx="481">
                  <c:v>0.67929403776072783</c:v>
                </c:pt>
                <c:pt idx="482">
                  <c:v>0.69050039731201085</c:v>
                </c:pt>
                <c:pt idx="483">
                  <c:v>0.68367437951602406</c:v>
                </c:pt>
                <c:pt idx="484">
                  <c:v>0.67579409777406663</c:v>
                </c:pt>
                <c:pt idx="485">
                  <c:v>0.67464196041460722</c:v>
                </c:pt>
                <c:pt idx="486">
                  <c:v>0.66917236975321881</c:v>
                </c:pt>
                <c:pt idx="487">
                  <c:v>0.66917236975321881</c:v>
                </c:pt>
                <c:pt idx="488">
                  <c:v>0.67549358414450289</c:v>
                </c:pt>
                <c:pt idx="489">
                  <c:v>0.70211388224589943</c:v>
                </c:pt>
                <c:pt idx="490">
                  <c:v>0.69441110319181809</c:v>
                </c:pt>
                <c:pt idx="491">
                  <c:v>0.69689263050639549</c:v>
                </c:pt>
                <c:pt idx="492">
                  <c:v>0.70027745340323533</c:v>
                </c:pt>
                <c:pt idx="493">
                  <c:v>0.70397936946512318</c:v>
                </c:pt>
                <c:pt idx="494">
                  <c:v>0.70355395327608994</c:v>
                </c:pt>
                <c:pt idx="495">
                  <c:v>0.70623540561967046</c:v>
                </c:pt>
                <c:pt idx="496">
                  <c:v>0.70410128101723968</c:v>
                </c:pt>
                <c:pt idx="497">
                  <c:v>0.69395323215669547</c:v>
                </c:pt>
                <c:pt idx="498">
                  <c:v>0.70150590368344812</c:v>
                </c:pt>
                <c:pt idx="499">
                  <c:v>0.69632715645747123</c:v>
                </c:pt>
                <c:pt idx="500">
                  <c:v>0.70075154504336146</c:v>
                </c:pt>
                <c:pt idx="501">
                  <c:v>0.70627334368363548</c:v>
                </c:pt>
                <c:pt idx="502">
                  <c:v>0.70466665860157585</c:v>
                </c:pt>
                <c:pt idx="503">
                  <c:v>0.70869166613974466</c:v>
                </c:pt>
                <c:pt idx="504">
                  <c:v>0.71052610892406343</c:v>
                </c:pt>
                <c:pt idx="505">
                  <c:v>0.71595977461203542</c:v>
                </c:pt>
                <c:pt idx="506">
                  <c:v>0.71539406246897685</c:v>
                </c:pt>
                <c:pt idx="507">
                  <c:v>0.71819657298797179</c:v>
                </c:pt>
                <c:pt idx="508">
                  <c:v>0.71664577801303653</c:v>
                </c:pt>
                <c:pt idx="509">
                  <c:v>0.74501065990221516</c:v>
                </c:pt>
                <c:pt idx="510">
                  <c:v>0.74555648260382068</c:v>
                </c:pt>
                <c:pt idx="511">
                  <c:v>0.73385127042579246</c:v>
                </c:pt>
                <c:pt idx="512">
                  <c:v>0.73499931524953888</c:v>
                </c:pt>
                <c:pt idx="513">
                  <c:v>0.73391031212678726</c:v>
                </c:pt>
                <c:pt idx="514">
                  <c:v>0.73769257678466071</c:v>
                </c:pt>
                <c:pt idx="515">
                  <c:v>0.74126664301534739</c:v>
                </c:pt>
                <c:pt idx="516">
                  <c:v>0.74119933295536389</c:v>
                </c:pt>
                <c:pt idx="517">
                  <c:v>0.74808260625076506</c:v>
                </c:pt>
                <c:pt idx="518">
                  <c:v>0.75410853596489702</c:v>
                </c:pt>
                <c:pt idx="519">
                  <c:v>0.75852811093027994</c:v>
                </c:pt>
                <c:pt idx="520">
                  <c:v>0.75238705126229466</c:v>
                </c:pt>
                <c:pt idx="521">
                  <c:v>0.75091818863031434</c:v>
                </c:pt>
                <c:pt idx="522">
                  <c:v>0.74447460147016631</c:v>
                </c:pt>
                <c:pt idx="523">
                  <c:v>0.74331395096995689</c:v>
                </c:pt>
                <c:pt idx="524">
                  <c:v>0.74274445858563887</c:v>
                </c:pt>
                <c:pt idx="525">
                  <c:v>0.74353578182782609</c:v>
                </c:pt>
                <c:pt idx="526">
                  <c:v>0.73912478625347822</c:v>
                </c:pt>
                <c:pt idx="527">
                  <c:v>0.74971178277247708</c:v>
                </c:pt>
                <c:pt idx="528">
                  <c:v>0.74308356797235076</c:v>
                </c:pt>
                <c:pt idx="529">
                  <c:v>0.74357228383600804</c:v>
                </c:pt>
                <c:pt idx="530">
                  <c:v>0.7305872582308619</c:v>
                </c:pt>
                <c:pt idx="531">
                  <c:v>0.72532718970865284</c:v>
                </c:pt>
                <c:pt idx="532">
                  <c:v>0.72262549866463666</c:v>
                </c:pt>
                <c:pt idx="533">
                  <c:v>0.72836051039874494</c:v>
                </c:pt>
                <c:pt idx="534">
                  <c:v>0.72668603153572375</c:v>
                </c:pt>
                <c:pt idx="535">
                  <c:v>0.73675080877511145</c:v>
                </c:pt>
                <c:pt idx="536">
                  <c:v>0.72160819810009202</c:v>
                </c:pt>
                <c:pt idx="537">
                  <c:v>0.71711265054219109</c:v>
                </c:pt>
                <c:pt idx="538">
                  <c:v>0.71169832757954121</c:v>
                </c:pt>
                <c:pt idx="539">
                  <c:v>0.71876371531296934</c:v>
                </c:pt>
                <c:pt idx="540">
                  <c:v>0.72549779113042834</c:v>
                </c:pt>
                <c:pt idx="541">
                  <c:v>0.71457599234875491</c:v>
                </c:pt>
                <c:pt idx="542">
                  <c:v>0.72373317361120271</c:v>
                </c:pt>
                <c:pt idx="543">
                  <c:v>0.70846419790428172</c:v>
                </c:pt>
                <c:pt idx="544">
                  <c:v>0.70613805298558729</c:v>
                </c:pt>
                <c:pt idx="545">
                  <c:v>0.71029778613295647</c:v>
                </c:pt>
                <c:pt idx="546">
                  <c:v>0.70148417536361329</c:v>
                </c:pt>
                <c:pt idx="547">
                  <c:v>0.70536485103256308</c:v>
                </c:pt>
                <c:pt idx="548">
                  <c:v>0.70536485103256308</c:v>
                </c:pt>
                <c:pt idx="549">
                  <c:v>0.70404907575096431</c:v>
                </c:pt>
                <c:pt idx="550">
                  <c:v>0.69601181667142131</c:v>
                </c:pt>
                <c:pt idx="551">
                  <c:v>0.70093880413422516</c:v>
                </c:pt>
                <c:pt idx="552">
                  <c:v>0.7085600254672384</c:v>
                </c:pt>
                <c:pt idx="553">
                  <c:v>0.70154843941285749</c:v>
                </c:pt>
                <c:pt idx="554">
                  <c:v>0.69807659316730741</c:v>
                </c:pt>
                <c:pt idx="555">
                  <c:v>0.70471353838825246</c:v>
                </c:pt>
                <c:pt idx="556">
                  <c:v>0.69987198252498983</c:v>
                </c:pt>
                <c:pt idx="557">
                  <c:v>0.69869484045089481</c:v>
                </c:pt>
                <c:pt idx="558">
                  <c:v>0.6899659685639401</c:v>
                </c:pt>
                <c:pt idx="559">
                  <c:v>0.68627337180965564</c:v>
                </c:pt>
                <c:pt idx="560">
                  <c:v>0.68826905397410432</c:v>
                </c:pt>
                <c:pt idx="561">
                  <c:v>0.68144647642500122</c:v>
                </c:pt>
                <c:pt idx="562">
                  <c:v>0.67701116919746307</c:v>
                </c:pt>
                <c:pt idx="563">
                  <c:v>0.67400398309714227</c:v>
                </c:pt>
                <c:pt idx="564">
                  <c:v>0.68082319681150139</c:v>
                </c:pt>
                <c:pt idx="565">
                  <c:v>0.67836974966455155</c:v>
                </c:pt>
                <c:pt idx="566">
                  <c:v>0.68600463718980986</c:v>
                </c:pt>
                <c:pt idx="567">
                  <c:v>0.68361303361968562</c:v>
                </c:pt>
                <c:pt idx="568">
                  <c:v>0.68460364655585992</c:v>
                </c:pt>
                <c:pt idx="569">
                  <c:v>0.67962806079485405</c:v>
                </c:pt>
                <c:pt idx="570">
                  <c:v>0.68079944089908717</c:v>
                </c:pt>
                <c:pt idx="571">
                  <c:v>0.6734253596290618</c:v>
                </c:pt>
                <c:pt idx="572">
                  <c:v>0.67165014827194758</c:v>
                </c:pt>
                <c:pt idx="573">
                  <c:v>0.6689356034624091</c:v>
                </c:pt>
                <c:pt idx="574">
                  <c:v>0.67196724737343883</c:v>
                </c:pt>
                <c:pt idx="575">
                  <c:v>0.68692695505467727</c:v>
                </c:pt>
                <c:pt idx="576">
                  <c:v>0.68594031921179011</c:v>
                </c:pt>
                <c:pt idx="577">
                  <c:v>0.68375047287185686</c:v>
                </c:pt>
                <c:pt idx="578">
                  <c:v>0.68855461002122298</c:v>
                </c:pt>
                <c:pt idx="579">
                  <c:v>0.69103757757526274</c:v>
                </c:pt>
                <c:pt idx="580">
                  <c:v>0.69212249058278441</c:v>
                </c:pt>
                <c:pt idx="581">
                  <c:v>0.6969152410087649</c:v>
                </c:pt>
                <c:pt idx="582">
                  <c:v>0.69338318473061999</c:v>
                </c:pt>
                <c:pt idx="583">
                  <c:v>0.69068760731506484</c:v>
                </c:pt>
                <c:pt idx="584">
                  <c:v>0.69368203321404542</c:v>
                </c:pt>
                <c:pt idx="585">
                  <c:v>0.69515289868082131</c:v>
                </c:pt>
                <c:pt idx="586">
                  <c:v>0.69320677658091623</c:v>
                </c:pt>
                <c:pt idx="587">
                  <c:v>0.69874932345413232</c:v>
                </c:pt>
                <c:pt idx="588">
                  <c:v>0.69874932345413232</c:v>
                </c:pt>
                <c:pt idx="589">
                  <c:v>0.6898295011147676</c:v>
                </c:pt>
                <c:pt idx="590">
                  <c:v>0.68554872523299526</c:v>
                </c:pt>
                <c:pt idx="591">
                  <c:v>0.6770195078026201</c:v>
                </c:pt>
                <c:pt idx="592">
                  <c:v>0.66809191248946831</c:v>
                </c:pt>
                <c:pt idx="593">
                  <c:v>0.65905639413712269</c:v>
                </c:pt>
                <c:pt idx="594">
                  <c:v>0.65692120455353642</c:v>
                </c:pt>
                <c:pt idx="595">
                  <c:v>0.65162869828511472</c:v>
                </c:pt>
                <c:pt idx="596">
                  <c:v>0.65359239271493186</c:v>
                </c:pt>
                <c:pt idx="597">
                  <c:v>0.66545724756819069</c:v>
                </c:pt>
                <c:pt idx="598">
                  <c:v>0.67483953063722224</c:v>
                </c:pt>
                <c:pt idx="599">
                  <c:v>0.67265441685248695</c:v>
                </c:pt>
                <c:pt idx="600">
                  <c:v>0.669686764874177</c:v>
                </c:pt>
                <c:pt idx="601">
                  <c:v>0.67114363587072101</c:v>
                </c:pt>
                <c:pt idx="602">
                  <c:v>0.6710017819290891</c:v>
                </c:pt>
                <c:pt idx="603">
                  <c:v>0.6710017819290891</c:v>
                </c:pt>
                <c:pt idx="604">
                  <c:v>0.66878951916360529</c:v>
                </c:pt>
                <c:pt idx="605">
                  <c:v>0.6600554475578293</c:v>
                </c:pt>
                <c:pt idx="606">
                  <c:v>0.6683105450131086</c:v>
                </c:pt>
                <c:pt idx="607">
                  <c:v>0.66499121080463885</c:v>
                </c:pt>
                <c:pt idx="608">
                  <c:v>0.66859461754420069</c:v>
                </c:pt>
                <c:pt idx="609">
                  <c:v>0.66762760612076066</c:v>
                </c:pt>
                <c:pt idx="610">
                  <c:v>0.67220503241626794</c:v>
                </c:pt>
                <c:pt idx="611">
                  <c:v>0.67127804392717749</c:v>
                </c:pt>
                <c:pt idx="612">
                  <c:v>0.67041546428854482</c:v>
                </c:pt>
                <c:pt idx="613">
                  <c:v>0.66585447584681023</c:v>
                </c:pt>
                <c:pt idx="614">
                  <c:v>0.67878442576427978</c:v>
                </c:pt>
                <c:pt idx="615">
                  <c:v>0.6770976352195639</c:v>
                </c:pt>
                <c:pt idx="616">
                  <c:v>0.67654028474928107</c:v>
                </c:pt>
                <c:pt idx="617">
                  <c:v>0.67551341775835361</c:v>
                </c:pt>
                <c:pt idx="618">
                  <c:v>0.67551341775835361</c:v>
                </c:pt>
                <c:pt idx="619">
                  <c:v>0.67649735226934626</c:v>
                </c:pt>
                <c:pt idx="620">
                  <c:v>0.67501555393015256</c:v>
                </c:pt>
                <c:pt idx="621">
                  <c:v>0.66976492900525486</c:v>
                </c:pt>
                <c:pt idx="622">
                  <c:v>0.6676597311969279</c:v>
                </c:pt>
                <c:pt idx="623">
                  <c:v>0.66862600604239653</c:v>
                </c:pt>
                <c:pt idx="624">
                  <c:v>0.66823438283001135</c:v>
                </c:pt>
                <c:pt idx="625">
                  <c:v>0.67110253785596008</c:v>
                </c:pt>
                <c:pt idx="626">
                  <c:v>0.66981622714341593</c:v>
                </c:pt>
                <c:pt idx="627">
                  <c:v>0.67615173979639576</c:v>
                </c:pt>
                <c:pt idx="628">
                  <c:v>0.67455266868743946</c:v>
                </c:pt>
                <c:pt idx="629">
                  <c:v>0.67329058522417939</c:v>
                </c:pt>
                <c:pt idx="630">
                  <c:v>0.66438005445076331</c:v>
                </c:pt>
                <c:pt idx="631">
                  <c:v>0.65944904293521833</c:v>
                </c:pt>
                <c:pt idx="632">
                  <c:v>0.65821307043072219</c:v>
                </c:pt>
                <c:pt idx="633">
                  <c:v>0.66331103623247367</c:v>
                </c:pt>
                <c:pt idx="634">
                  <c:v>0.65918739399722703</c:v>
                </c:pt>
                <c:pt idx="635">
                  <c:v>0.65918739399722703</c:v>
                </c:pt>
                <c:pt idx="636">
                  <c:v>0.66105200190302305</c:v>
                </c:pt>
                <c:pt idx="637">
                  <c:v>0.65595962762532145</c:v>
                </c:pt>
                <c:pt idx="638">
                  <c:v>0.65565763649963893</c:v>
                </c:pt>
                <c:pt idx="639">
                  <c:v>0.65644621755385046</c:v>
                </c:pt>
                <c:pt idx="640">
                  <c:v>0.66127269998535076</c:v>
                </c:pt>
                <c:pt idx="641">
                  <c:v>0.65996766061981083</c:v>
                </c:pt>
                <c:pt idx="642">
                  <c:v>0.65401695637234558</c:v>
                </c:pt>
                <c:pt idx="643">
                  <c:v>0.65626776265636677</c:v>
                </c:pt>
                <c:pt idx="644">
                  <c:v>0.6566885227545074</c:v>
                </c:pt>
                <c:pt idx="645">
                  <c:v>0.65815270837719797</c:v>
                </c:pt>
                <c:pt idx="646">
                  <c:v>0.6569021531729714</c:v>
                </c:pt>
                <c:pt idx="647">
                  <c:v>0.65811894180676578</c:v>
                </c:pt>
                <c:pt idx="648">
                  <c:v>0.65741512134625668</c:v>
                </c:pt>
                <c:pt idx="649">
                  <c:v>0.65574065769471801</c:v>
                </c:pt>
                <c:pt idx="650">
                  <c:v>0.65958557882563007</c:v>
                </c:pt>
                <c:pt idx="651">
                  <c:v>0.67524895821201358</c:v>
                </c:pt>
                <c:pt idx="652">
                  <c:v>0.69796182111105642</c:v>
                </c:pt>
                <c:pt idx="653">
                  <c:v>0.69556725086360516</c:v>
                </c:pt>
                <c:pt idx="654">
                  <c:v>0.69414817933751649</c:v>
                </c:pt>
                <c:pt idx="655">
                  <c:v>0.6957342259534447</c:v>
                </c:pt>
                <c:pt idx="656">
                  <c:v>0.69770946965459057</c:v>
                </c:pt>
                <c:pt idx="657">
                  <c:v>0.69125683424961903</c:v>
                </c:pt>
                <c:pt idx="658">
                  <c:v>0.69108710747766866</c:v>
                </c:pt>
                <c:pt idx="659">
                  <c:v>0.6926009925930614</c:v>
                </c:pt>
                <c:pt idx="660">
                  <c:v>0.68916361491013611</c:v>
                </c:pt>
                <c:pt idx="661">
                  <c:v>0.68133208478101637</c:v>
                </c:pt>
                <c:pt idx="662">
                  <c:v>0.68341758059968094</c:v>
                </c:pt>
                <c:pt idx="663">
                  <c:v>0.68916719493990442</c:v>
                </c:pt>
                <c:pt idx="664">
                  <c:v>0.69056237723922609</c:v>
                </c:pt>
                <c:pt idx="665">
                  <c:v>0.69169304700241296</c:v>
                </c:pt>
                <c:pt idx="666">
                  <c:v>0.70277451377005584</c:v>
                </c:pt>
                <c:pt idx="667">
                  <c:v>0.70105667110122871</c:v>
                </c:pt>
                <c:pt idx="668">
                  <c:v>0.68205895453987686</c:v>
                </c:pt>
                <c:pt idx="669">
                  <c:v>0.67203222453657707</c:v>
                </c:pt>
                <c:pt idx="670">
                  <c:v>0.6779565656568709</c:v>
                </c:pt>
                <c:pt idx="671">
                  <c:v>0.67669597271025794</c:v>
                </c:pt>
                <c:pt idx="672">
                  <c:v>0.67669597271025794</c:v>
                </c:pt>
                <c:pt idx="673">
                  <c:v>0.67609582380471134</c:v>
                </c:pt>
                <c:pt idx="674">
                  <c:v>0.68277901230880789</c:v>
                </c:pt>
                <c:pt idx="675">
                  <c:v>0.6865037778644475</c:v>
                </c:pt>
                <c:pt idx="676">
                  <c:v>0.68467458686019766</c:v>
                </c:pt>
                <c:pt idx="677">
                  <c:v>0.68991058994031484</c:v>
                </c:pt>
                <c:pt idx="678">
                  <c:v>0.69456982621919572</c:v>
                </c:pt>
                <c:pt idx="679">
                  <c:v>0.69624490465251243</c:v>
                </c:pt>
                <c:pt idx="680">
                  <c:v>0.69981855607295029</c:v>
                </c:pt>
                <c:pt idx="681">
                  <c:v>0.70777716070670804</c:v>
                </c:pt>
                <c:pt idx="682">
                  <c:v>0.70693870592676133</c:v>
                </c:pt>
                <c:pt idx="683">
                  <c:v>0.7185547871519351</c:v>
                </c:pt>
                <c:pt idx="684">
                  <c:v>0.71639040115123509</c:v>
                </c:pt>
                <c:pt idx="685">
                  <c:v>0.71622239047032732</c:v>
                </c:pt>
                <c:pt idx="686">
                  <c:v>0.71588775026523954</c:v>
                </c:pt>
                <c:pt idx="687">
                  <c:v>0.7206364266093277</c:v>
                </c:pt>
                <c:pt idx="688">
                  <c:v>0.71724568920004106</c:v>
                </c:pt>
                <c:pt idx="689">
                  <c:v>0.71014128354386952</c:v>
                </c:pt>
                <c:pt idx="690">
                  <c:v>0.72237858056618609</c:v>
                </c:pt>
                <c:pt idx="691">
                  <c:v>0.73343131747521806</c:v>
                </c:pt>
                <c:pt idx="692">
                  <c:v>0.73277719706036626</c:v>
                </c:pt>
                <c:pt idx="693">
                  <c:v>0.73389463716330383</c:v>
                </c:pt>
                <c:pt idx="694">
                  <c:v>0.7376221339521476</c:v>
                </c:pt>
                <c:pt idx="695">
                  <c:v>0.73919872392936969</c:v>
                </c:pt>
                <c:pt idx="696">
                  <c:v>0.74190839356301808</c:v>
                </c:pt>
                <c:pt idx="697">
                  <c:v>0.74998299117796308</c:v>
                </c:pt>
                <c:pt idx="698">
                  <c:v>0.75702390202894698</c:v>
                </c:pt>
                <c:pt idx="699">
                  <c:v>0.74679606227461914</c:v>
                </c:pt>
                <c:pt idx="700">
                  <c:v>0.75945339325022088</c:v>
                </c:pt>
                <c:pt idx="701">
                  <c:v>0.73937692251649889</c:v>
                </c:pt>
                <c:pt idx="702">
                  <c:v>0.73679609765770138</c:v>
                </c:pt>
                <c:pt idx="703">
                  <c:v>0.73990460590051754</c:v>
                </c:pt>
                <c:pt idx="704">
                  <c:v>0.73662445053516823</c:v>
                </c:pt>
                <c:pt idx="705">
                  <c:v>0.74454782351778304</c:v>
                </c:pt>
                <c:pt idx="706">
                  <c:v>0.75144827727526886</c:v>
                </c:pt>
                <c:pt idx="707">
                  <c:v>0.74571527829784923</c:v>
                </c:pt>
                <c:pt idx="708">
                  <c:v>0.75060197677141893</c:v>
                </c:pt>
                <c:pt idx="709">
                  <c:v>0.75358692540542382</c:v>
                </c:pt>
                <c:pt idx="710">
                  <c:v>0.75280821347358207</c:v>
                </c:pt>
                <c:pt idx="711">
                  <c:v>0.74814823295882316</c:v>
                </c:pt>
                <c:pt idx="712">
                  <c:v>0.74292387000160665</c:v>
                </c:pt>
                <c:pt idx="713">
                  <c:v>0.73350526715962583</c:v>
                </c:pt>
                <c:pt idx="714">
                  <c:v>0.7374200995140715</c:v>
                </c:pt>
                <c:pt idx="715">
                  <c:v>0.73419016012238625</c:v>
                </c:pt>
                <c:pt idx="716">
                  <c:v>0.73108059590219365</c:v>
                </c:pt>
                <c:pt idx="717">
                  <c:v>0.73196383244227325</c:v>
                </c:pt>
                <c:pt idx="718">
                  <c:v>0.73012562341793652</c:v>
                </c:pt>
                <c:pt idx="719">
                  <c:v>0.73120186675667243</c:v>
                </c:pt>
                <c:pt idx="720">
                  <c:v>0.73285026080631765</c:v>
                </c:pt>
                <c:pt idx="721">
                  <c:v>0.73624228112368162</c:v>
                </c:pt>
                <c:pt idx="722">
                  <c:v>0.73335256340361055</c:v>
                </c:pt>
                <c:pt idx="723">
                  <c:v>0.72684063870937454</c:v>
                </c:pt>
                <c:pt idx="724">
                  <c:v>0.72378961518152574</c:v>
                </c:pt>
                <c:pt idx="725">
                  <c:v>0.7200280052132787</c:v>
                </c:pt>
                <c:pt idx="726">
                  <c:v>0.71415283450152167</c:v>
                </c:pt>
                <c:pt idx="727">
                  <c:v>0.7146386405900651</c:v>
                </c:pt>
                <c:pt idx="728">
                  <c:v>0.70946648252353173</c:v>
                </c:pt>
                <c:pt idx="729">
                  <c:v>0.70453800325037441</c:v>
                </c:pt>
                <c:pt idx="730">
                  <c:v>0.70453800325037441</c:v>
                </c:pt>
                <c:pt idx="731">
                  <c:v>0.70311248280678418</c:v>
                </c:pt>
                <c:pt idx="732">
                  <c:v>0.70604900029153417</c:v>
                </c:pt>
                <c:pt idx="733">
                  <c:v>0.70272357280961217</c:v>
                </c:pt>
                <c:pt idx="734">
                  <c:v>0.69428208355794763</c:v>
                </c:pt>
                <c:pt idx="735">
                  <c:v>0.67835713175004364</c:v>
                </c:pt>
                <c:pt idx="736">
                  <c:v>0.67808524663180447</c:v>
                </c:pt>
                <c:pt idx="737">
                  <c:v>0.68031974346240853</c:v>
                </c:pt>
                <c:pt idx="738">
                  <c:v>0.68129238453250351</c:v>
                </c:pt>
                <c:pt idx="739">
                  <c:v>0.67955134323613964</c:v>
                </c:pt>
                <c:pt idx="740">
                  <c:v>0.67952304501639316</c:v>
                </c:pt>
                <c:pt idx="741">
                  <c:v>0.67526586553512835</c:v>
                </c:pt>
                <c:pt idx="742">
                  <c:v>0.67405271583647375</c:v>
                </c:pt>
                <c:pt idx="743">
                  <c:v>0.67094679096874554</c:v>
                </c:pt>
                <c:pt idx="744">
                  <c:v>0.6725618043376107</c:v>
                </c:pt>
                <c:pt idx="745">
                  <c:v>0.67013448565619294</c:v>
                </c:pt>
                <c:pt idx="746">
                  <c:v>0.6684059315160974</c:v>
                </c:pt>
                <c:pt idx="747">
                  <c:v>0.67789899130057307</c:v>
                </c:pt>
                <c:pt idx="748">
                  <c:v>0.67564058975002528</c:v>
                </c:pt>
                <c:pt idx="749">
                  <c:v>0.676203521832898</c:v>
                </c:pt>
                <c:pt idx="750">
                  <c:v>0.67780619599750902</c:v>
                </c:pt>
                <c:pt idx="751">
                  <c:v>0.68047630729388486</c:v>
                </c:pt>
                <c:pt idx="752">
                  <c:v>0.67953409629424133</c:v>
                </c:pt>
                <c:pt idx="753">
                  <c:v>0.67776703868833943</c:v>
                </c:pt>
                <c:pt idx="754">
                  <c:v>0.67773980076527929</c:v>
                </c:pt>
                <c:pt idx="755">
                  <c:v>0.67807191403843525</c:v>
                </c:pt>
                <c:pt idx="756">
                  <c:v>0.67524909776536979</c:v>
                </c:pt>
                <c:pt idx="757">
                  <c:v>0.67064354820303385</c:v>
                </c:pt>
                <c:pt idx="758">
                  <c:v>0.67071514309148639</c:v>
                </c:pt>
                <c:pt idx="759">
                  <c:v>0.67009586391015363</c:v>
                </c:pt>
                <c:pt idx="760">
                  <c:v>0.66928116941409643</c:v>
                </c:pt>
                <c:pt idx="761">
                  <c:v>0.66612918454176095</c:v>
                </c:pt>
                <c:pt idx="762">
                  <c:v>0.66735846263754217</c:v>
                </c:pt>
                <c:pt idx="763">
                  <c:v>0.66626041266800451</c:v>
                </c:pt>
                <c:pt idx="764">
                  <c:v>0.66177408360250956</c:v>
                </c:pt>
                <c:pt idx="765">
                  <c:v>0.65725858455741626</c:v>
                </c:pt>
                <c:pt idx="766">
                  <c:v>0.66410229575962321</c:v>
                </c:pt>
                <c:pt idx="767">
                  <c:v>0.66843835854750011</c:v>
                </c:pt>
                <c:pt idx="768">
                  <c:v>0.66791017862020408</c:v>
                </c:pt>
                <c:pt idx="769">
                  <c:v>0.66985624701042945</c:v>
                </c:pt>
                <c:pt idx="770">
                  <c:v>0.67248632217456428</c:v>
                </c:pt>
                <c:pt idx="771">
                  <c:v>0.66888383035665411</c:v>
                </c:pt>
                <c:pt idx="772">
                  <c:v>0.6765624482030741</c:v>
                </c:pt>
                <c:pt idx="773">
                  <c:v>0.68336684429523564</c:v>
                </c:pt>
                <c:pt idx="774">
                  <c:v>0.68516288028699879</c:v>
                </c:pt>
                <c:pt idx="775">
                  <c:v>0.6810396563570944</c:v>
                </c:pt>
                <c:pt idx="776">
                  <c:v>0.67685411635541892</c:v>
                </c:pt>
                <c:pt idx="777">
                  <c:v>0.67297238821461947</c:v>
                </c:pt>
                <c:pt idx="778">
                  <c:v>0.6685598203488633</c:v>
                </c:pt>
                <c:pt idx="779">
                  <c:v>0.66407540427860445</c:v>
                </c:pt>
                <c:pt idx="780">
                  <c:v>0.66533298086539316</c:v>
                </c:pt>
                <c:pt idx="781">
                  <c:v>0.6751867126263722</c:v>
                </c:pt>
                <c:pt idx="782">
                  <c:v>0.675726304806888</c:v>
                </c:pt>
                <c:pt idx="783">
                  <c:v>0.67919331969563412</c:v>
                </c:pt>
                <c:pt idx="784">
                  <c:v>0.6730519080873556</c:v>
                </c:pt>
                <c:pt idx="785">
                  <c:v>0.67294580830816919</c:v>
                </c:pt>
                <c:pt idx="786">
                  <c:v>0.67493660750319029</c:v>
                </c:pt>
                <c:pt idx="787">
                  <c:v>0.66563018054093936</c:v>
                </c:pt>
                <c:pt idx="788">
                  <c:v>0.67188035198689278</c:v>
                </c:pt>
                <c:pt idx="789">
                  <c:v>0.67188035198689278</c:v>
                </c:pt>
                <c:pt idx="790">
                  <c:v>0.67188035198689278</c:v>
                </c:pt>
                <c:pt idx="791">
                  <c:v>0.66997186535929687</c:v>
                </c:pt>
                <c:pt idx="792">
                  <c:v>0.66405997181203014</c:v>
                </c:pt>
                <c:pt idx="793">
                  <c:v>0.66410122956822637</c:v>
                </c:pt>
                <c:pt idx="794">
                  <c:v>0.6633013745308779</c:v>
                </c:pt>
                <c:pt idx="795">
                  <c:v>0.66555710852152716</c:v>
                </c:pt>
                <c:pt idx="796">
                  <c:v>0.67049610866336151</c:v>
                </c:pt>
                <c:pt idx="797">
                  <c:v>0.66754218089585327</c:v>
                </c:pt>
                <c:pt idx="798">
                  <c:v>0.66654705954953952</c:v>
                </c:pt>
                <c:pt idx="799">
                  <c:v>0.66458306588752969</c:v>
                </c:pt>
                <c:pt idx="800">
                  <c:v>0.66027138338187841</c:v>
                </c:pt>
                <c:pt idx="801">
                  <c:v>0.65905619262149218</c:v>
                </c:pt>
                <c:pt idx="802">
                  <c:v>0.65851912092524267</c:v>
                </c:pt>
                <c:pt idx="803">
                  <c:v>0.65514112843278161</c:v>
                </c:pt>
                <c:pt idx="804">
                  <c:v>0.65284014617566211</c:v>
                </c:pt>
                <c:pt idx="805">
                  <c:v>0.65205297049344024</c:v>
                </c:pt>
                <c:pt idx="806">
                  <c:v>0.65468286837807232</c:v>
                </c:pt>
                <c:pt idx="807">
                  <c:v>0.65444488485564922</c:v>
                </c:pt>
                <c:pt idx="808">
                  <c:v>0.65322487723005662</c:v>
                </c:pt>
                <c:pt idx="809">
                  <c:v>0.65258650347505964</c:v>
                </c:pt>
                <c:pt idx="810">
                  <c:v>0.65044813867702889</c:v>
                </c:pt>
                <c:pt idx="811">
                  <c:v>0.65268171011113296</c:v>
                </c:pt>
                <c:pt idx="812">
                  <c:v>0.65193043492623814</c:v>
                </c:pt>
                <c:pt idx="813">
                  <c:v>0.65437983937646904</c:v>
                </c:pt>
                <c:pt idx="814">
                  <c:v>0.65377538625772424</c:v>
                </c:pt>
                <c:pt idx="815">
                  <c:v>0.65206256789574368</c:v>
                </c:pt>
                <c:pt idx="816">
                  <c:v>0.65221163971723972</c:v>
                </c:pt>
                <c:pt idx="817">
                  <c:v>0.65583560791610596</c:v>
                </c:pt>
                <c:pt idx="818">
                  <c:v>0.67072371737029479</c:v>
                </c:pt>
                <c:pt idx="819">
                  <c:v>0.67736842245060047</c:v>
                </c:pt>
                <c:pt idx="820">
                  <c:v>0.68084308615905631</c:v>
                </c:pt>
                <c:pt idx="821">
                  <c:v>0.67993440237330371</c:v>
                </c:pt>
                <c:pt idx="822">
                  <c:v>0.67832335528901777</c:v>
                </c:pt>
                <c:pt idx="823">
                  <c:v>0.67660944531013723</c:v>
                </c:pt>
                <c:pt idx="824">
                  <c:v>0.68021910771459793</c:v>
                </c:pt>
                <c:pt idx="825">
                  <c:v>0.68133647271996833</c:v>
                </c:pt>
                <c:pt idx="826">
                  <c:v>0.68441994324820354</c:v>
                </c:pt>
                <c:pt idx="827">
                  <c:v>0.68367484034674642</c:v>
                </c:pt>
                <c:pt idx="828">
                  <c:v>0.6848101269514445</c:v>
                </c:pt>
                <c:pt idx="829">
                  <c:v>0.68382103806395134</c:v>
                </c:pt>
                <c:pt idx="830">
                  <c:v>0.6816494546531604</c:v>
                </c:pt>
                <c:pt idx="831">
                  <c:v>0.6816494546531604</c:v>
                </c:pt>
                <c:pt idx="832">
                  <c:v>0.68508796062538757</c:v>
                </c:pt>
                <c:pt idx="833">
                  <c:v>0.68206550029755875</c:v>
                </c:pt>
                <c:pt idx="834">
                  <c:v>0.69291720701850323</c:v>
                </c:pt>
                <c:pt idx="835">
                  <c:v>0.68533779119069571</c:v>
                </c:pt>
                <c:pt idx="836">
                  <c:v>0.64681749969002189</c:v>
                </c:pt>
                <c:pt idx="837">
                  <c:v>0.63716841296220572</c:v>
                </c:pt>
                <c:pt idx="838">
                  <c:v>0.61614455263707801</c:v>
                </c:pt>
                <c:pt idx="839">
                  <c:v>0.63631855746806532</c:v>
                </c:pt>
                <c:pt idx="840">
                  <c:v>0.63192440573132291</c:v>
                </c:pt>
                <c:pt idx="841">
                  <c:v>0.63485865985594425</c:v>
                </c:pt>
                <c:pt idx="842">
                  <c:v>0.64806776637686558</c:v>
                </c:pt>
                <c:pt idx="843">
                  <c:v>0.65631429596970281</c:v>
                </c:pt>
                <c:pt idx="844">
                  <c:v>0.65961365700053265</c:v>
                </c:pt>
                <c:pt idx="845">
                  <c:v>0.6593957850510298</c:v>
                </c:pt>
                <c:pt idx="846">
                  <c:v>0.66304090733104026</c:v>
                </c:pt>
                <c:pt idx="847">
                  <c:v>0.67296445968307672</c:v>
                </c:pt>
                <c:pt idx="848">
                  <c:v>0.66822385117349259</c:v>
                </c:pt>
                <c:pt idx="849">
                  <c:v>0.66692287684197249</c:v>
                </c:pt>
                <c:pt idx="850">
                  <c:v>0.66841461176406225</c:v>
                </c:pt>
                <c:pt idx="851">
                  <c:v>0.667980832994572</c:v>
                </c:pt>
                <c:pt idx="852">
                  <c:v>0.67116819546690687</c:v>
                </c:pt>
                <c:pt idx="853">
                  <c:v>0.67116819546690687</c:v>
                </c:pt>
                <c:pt idx="854">
                  <c:v>0.67205619675877981</c:v>
                </c:pt>
                <c:pt idx="855">
                  <c:v>0.67317886395703452</c:v>
                </c:pt>
                <c:pt idx="856">
                  <c:v>0.67176364880265071</c:v>
                </c:pt>
                <c:pt idx="857">
                  <c:v>0.67103610105819711</c:v>
                </c:pt>
                <c:pt idx="858">
                  <c:v>0.66054277085092994</c:v>
                </c:pt>
                <c:pt idx="859">
                  <c:v>0.6626338605828278</c:v>
                </c:pt>
                <c:pt idx="860">
                  <c:v>0.6626338605828278</c:v>
                </c:pt>
                <c:pt idx="861">
                  <c:v>0.66141678093813616</c:v>
                </c:pt>
                <c:pt idx="862">
                  <c:v>0.65769733081500481</c:v>
                </c:pt>
                <c:pt idx="863">
                  <c:v>0.65399376789623032</c:v>
                </c:pt>
                <c:pt idx="864">
                  <c:v>0.65904244043950722</c:v>
                </c:pt>
                <c:pt idx="865">
                  <c:v>0.65272657999979466</c:v>
                </c:pt>
                <c:pt idx="866">
                  <c:v>0.65222506345430808</c:v>
                </c:pt>
                <c:pt idx="867">
                  <c:v>0.65323267886361269</c:v>
                </c:pt>
                <c:pt idx="868">
                  <c:v>0.65117469579714304</c:v>
                </c:pt>
                <c:pt idx="869">
                  <c:v>0.6517448313517471</c:v>
                </c:pt>
                <c:pt idx="870">
                  <c:v>0.65371537339015073</c:v>
                </c:pt>
                <c:pt idx="871">
                  <c:v>0.65484218017747042</c:v>
                </c:pt>
                <c:pt idx="872">
                  <c:v>0.65426250907850592</c:v>
                </c:pt>
                <c:pt idx="873">
                  <c:v>0.65867558439014551</c:v>
                </c:pt>
                <c:pt idx="874">
                  <c:v>0.65641609921446431</c:v>
                </c:pt>
                <c:pt idx="875">
                  <c:v>0.6552740344961635</c:v>
                </c:pt>
                <c:pt idx="876">
                  <c:v>0.65312992154171612</c:v>
                </c:pt>
                <c:pt idx="877">
                  <c:v>0.65640207613662915</c:v>
                </c:pt>
                <c:pt idx="878">
                  <c:v>0.66083288061920964</c:v>
                </c:pt>
                <c:pt idx="879">
                  <c:v>0.65937848225022966</c:v>
                </c:pt>
                <c:pt idx="880">
                  <c:v>0.66167994529662189</c:v>
                </c:pt>
                <c:pt idx="881">
                  <c:v>0.66512561081716304</c:v>
                </c:pt>
                <c:pt idx="882">
                  <c:v>0.6678703915473021</c:v>
                </c:pt>
                <c:pt idx="883">
                  <c:v>0.66644166000978233</c:v>
                </c:pt>
                <c:pt idx="884">
                  <c:v>0.6664021674115721</c:v>
                </c:pt>
                <c:pt idx="885">
                  <c:v>0.67384419692483777</c:v>
                </c:pt>
                <c:pt idx="886">
                  <c:v>0.67504974873825352</c:v>
                </c:pt>
                <c:pt idx="887">
                  <c:v>0.67086476871319911</c:v>
                </c:pt>
                <c:pt idx="888">
                  <c:v>0.669271553993802</c:v>
                </c:pt>
                <c:pt idx="889">
                  <c:v>0.67089830132101069</c:v>
                </c:pt>
                <c:pt idx="890">
                  <c:v>0.67361288097715577</c:v>
                </c:pt>
                <c:pt idx="891">
                  <c:v>0.67896952562794277</c:v>
                </c:pt>
                <c:pt idx="892">
                  <c:v>0.68501176350178572</c:v>
                </c:pt>
                <c:pt idx="893">
                  <c:v>0.68548034100028132</c:v>
                </c:pt>
                <c:pt idx="894">
                  <c:v>0.68520622370649642</c:v>
                </c:pt>
                <c:pt idx="895">
                  <c:v>0.69316039841844446</c:v>
                </c:pt>
                <c:pt idx="896">
                  <c:v>0.69540087824446739</c:v>
                </c:pt>
                <c:pt idx="897">
                  <c:v>0.68709433108915463</c:v>
                </c:pt>
                <c:pt idx="898">
                  <c:v>0.67755504443281833</c:v>
                </c:pt>
                <c:pt idx="899">
                  <c:v>0.679188651773588</c:v>
                </c:pt>
                <c:pt idx="900">
                  <c:v>0.68118260315716717</c:v>
                </c:pt>
                <c:pt idx="901">
                  <c:v>0.6835456288896099</c:v>
                </c:pt>
                <c:pt idx="902">
                  <c:v>0.68871385529907514</c:v>
                </c:pt>
                <c:pt idx="903">
                  <c:v>0.69014351397542517</c:v>
                </c:pt>
                <c:pt idx="904">
                  <c:v>0.69185666603017959</c:v>
                </c:pt>
                <c:pt idx="905">
                  <c:v>0.69181180785790686</c:v>
                </c:pt>
                <c:pt idx="906">
                  <c:v>0.69296687214452224</c:v>
                </c:pt>
                <c:pt idx="907">
                  <c:v>0.70092042882999328</c:v>
                </c:pt>
                <c:pt idx="908">
                  <c:v>0.70253095701283452</c:v>
                </c:pt>
                <c:pt idx="909">
                  <c:v>0.70373804768995596</c:v>
                </c:pt>
                <c:pt idx="910">
                  <c:v>0.70151783362787079</c:v>
                </c:pt>
                <c:pt idx="911">
                  <c:v>0.70315053775294478</c:v>
                </c:pt>
                <c:pt idx="912">
                  <c:v>0.70703419514377452</c:v>
                </c:pt>
                <c:pt idx="913">
                  <c:v>0.70758068972760058</c:v>
                </c:pt>
                <c:pt idx="914">
                  <c:v>0.71388911496564811</c:v>
                </c:pt>
                <c:pt idx="915">
                  <c:v>0.70201550008238811</c:v>
                </c:pt>
                <c:pt idx="916">
                  <c:v>0.69473755693787576</c:v>
                </c:pt>
                <c:pt idx="917">
                  <c:v>0.70547023357677463</c:v>
                </c:pt>
                <c:pt idx="918">
                  <c:v>0.70099136051657751</c:v>
                </c:pt>
                <c:pt idx="919">
                  <c:v>0.69928668475280853</c:v>
                </c:pt>
                <c:pt idx="920">
                  <c:v>0.70381238444295757</c:v>
                </c:pt>
                <c:pt idx="921">
                  <c:v>0.70265795870475789</c:v>
                </c:pt>
                <c:pt idx="922">
                  <c:v>0.70353933466557528</c:v>
                </c:pt>
                <c:pt idx="923">
                  <c:v>0.69569960848939205</c:v>
                </c:pt>
                <c:pt idx="924">
                  <c:v>0.70170918855131192</c:v>
                </c:pt>
                <c:pt idx="925">
                  <c:v>0.70201591877375591</c:v>
                </c:pt>
                <c:pt idx="926">
                  <c:v>0.69823982572116761</c:v>
                </c:pt>
                <c:pt idx="927">
                  <c:v>0.69744982349922924</c:v>
                </c:pt>
                <c:pt idx="928">
                  <c:v>0.70276562508930451</c:v>
                </c:pt>
                <c:pt idx="929">
                  <c:v>0.70303283072560541</c:v>
                </c:pt>
                <c:pt idx="930">
                  <c:v>0.70300901751451972</c:v>
                </c:pt>
                <c:pt idx="931">
                  <c:v>0.70357813692538307</c:v>
                </c:pt>
                <c:pt idx="932">
                  <c:v>0.71523163255557654</c:v>
                </c:pt>
                <c:pt idx="933">
                  <c:v>0.71300352638395592</c:v>
                </c:pt>
                <c:pt idx="934">
                  <c:v>0.71251969298893658</c:v>
                </c:pt>
                <c:pt idx="935">
                  <c:v>0.71353405725738717</c:v>
                </c:pt>
                <c:pt idx="936">
                  <c:v>0.71799720934406042</c:v>
                </c:pt>
                <c:pt idx="937">
                  <c:v>0.72362977536214013</c:v>
                </c:pt>
                <c:pt idx="938">
                  <c:v>0.72123612567022299</c:v>
                </c:pt>
                <c:pt idx="939">
                  <c:v>0.71829500899679344</c:v>
                </c:pt>
                <c:pt idx="940">
                  <c:v>0.72238581259335533</c:v>
                </c:pt>
                <c:pt idx="941">
                  <c:v>0.73212118305587381</c:v>
                </c:pt>
                <c:pt idx="942">
                  <c:v>0.73245757418817758</c:v>
                </c:pt>
                <c:pt idx="943">
                  <c:v>0.73067947522632049</c:v>
                </c:pt>
                <c:pt idx="944">
                  <c:v>0.73430361517513787</c:v>
                </c:pt>
                <c:pt idx="945">
                  <c:v>0.74084791256510973</c:v>
                </c:pt>
                <c:pt idx="946">
                  <c:v>0.74317911562524519</c:v>
                </c:pt>
                <c:pt idx="947">
                  <c:v>0.73901886441108078</c:v>
                </c:pt>
                <c:pt idx="948">
                  <c:v>0.73634286507107261</c:v>
                </c:pt>
                <c:pt idx="949">
                  <c:v>0.73195587187063205</c:v>
                </c:pt>
                <c:pt idx="950">
                  <c:v>0.72916412018925103</c:v>
                </c:pt>
                <c:pt idx="951">
                  <c:v>0.72773438472516905</c:v>
                </c:pt>
                <c:pt idx="952">
                  <c:v>0.7336448316374734</c:v>
                </c:pt>
                <c:pt idx="953">
                  <c:v>0.73208855608424084</c:v>
                </c:pt>
                <c:pt idx="954">
                  <c:v>0.72697474011569319</c:v>
                </c:pt>
                <c:pt idx="955">
                  <c:v>0.7251518517775285</c:v>
                </c:pt>
                <c:pt idx="956">
                  <c:v>0.72789745516927695</c:v>
                </c:pt>
                <c:pt idx="957">
                  <c:v>0.73032802359931792</c:v>
                </c:pt>
                <c:pt idx="958">
                  <c:v>0.73428651559056624</c:v>
                </c:pt>
                <c:pt idx="959">
                  <c:v>0.7413885241236321</c:v>
                </c:pt>
                <c:pt idx="960">
                  <c:v>0.7445177490392153</c:v>
                </c:pt>
                <c:pt idx="961">
                  <c:v>0.74299995247569961</c:v>
                </c:pt>
                <c:pt idx="962">
                  <c:v>0.7448623697923491</c:v>
                </c:pt>
                <c:pt idx="963">
                  <c:v>0.74509338096785382</c:v>
                </c:pt>
                <c:pt idx="964">
                  <c:v>0.74205434100020951</c:v>
                </c:pt>
                <c:pt idx="965">
                  <c:v>0.73913358211079883</c:v>
                </c:pt>
                <c:pt idx="966">
                  <c:v>0.73575018047558394</c:v>
                </c:pt>
                <c:pt idx="967">
                  <c:v>0.73782763883054425</c:v>
                </c:pt>
                <c:pt idx="968">
                  <c:v>0.73853431223698585</c:v>
                </c:pt>
                <c:pt idx="969">
                  <c:v>0.74164792069799867</c:v>
                </c:pt>
                <c:pt idx="970">
                  <c:v>0.74105179212057093</c:v>
                </c:pt>
                <c:pt idx="971">
                  <c:v>0.74105179212057093</c:v>
                </c:pt>
                <c:pt idx="972">
                  <c:v>0.747340680514745</c:v>
                </c:pt>
                <c:pt idx="973">
                  <c:v>0.75013684696905147</c:v>
                </c:pt>
                <c:pt idx="974">
                  <c:v>0.75487319069218195</c:v>
                </c:pt>
                <c:pt idx="975">
                  <c:v>0.75283786644384076</c:v>
                </c:pt>
                <c:pt idx="976">
                  <c:v>0.75507248922301806</c:v>
                </c:pt>
                <c:pt idx="977">
                  <c:v>0.75900090915618157</c:v>
                </c:pt>
                <c:pt idx="978">
                  <c:v>0.76046662457620007</c:v>
                </c:pt>
                <c:pt idx="979">
                  <c:v>0.74966710359073818</c:v>
                </c:pt>
                <c:pt idx="980">
                  <c:v>0.74531880419786734</c:v>
                </c:pt>
                <c:pt idx="981">
                  <c:v>0.74574517740617441</c:v>
                </c:pt>
                <c:pt idx="982">
                  <c:v>0.7381160868434482</c:v>
                </c:pt>
                <c:pt idx="983">
                  <c:v>0.7361604317865954</c:v>
                </c:pt>
                <c:pt idx="984">
                  <c:v>0.73748078613139334</c:v>
                </c:pt>
                <c:pt idx="985">
                  <c:v>0.73899878362628502</c:v>
                </c:pt>
                <c:pt idx="986">
                  <c:v>0.74076336529732512</c:v>
                </c:pt>
                <c:pt idx="987">
                  <c:v>0.745502862429688</c:v>
                </c:pt>
                <c:pt idx="988">
                  <c:v>0.74173593715413011</c:v>
                </c:pt>
                <c:pt idx="989">
                  <c:v>0.74043758963075879</c:v>
                </c:pt>
                <c:pt idx="990">
                  <c:v>0.73560072947292954</c:v>
                </c:pt>
                <c:pt idx="991">
                  <c:v>0.73610932935281959</c:v>
                </c:pt>
                <c:pt idx="992">
                  <c:v>0.73135610561003828</c:v>
                </c:pt>
                <c:pt idx="993">
                  <c:v>0.73298319494521413</c:v>
                </c:pt>
                <c:pt idx="994">
                  <c:v>0.73611679586426493</c:v>
                </c:pt>
                <c:pt idx="995">
                  <c:v>0.72902232859591865</c:v>
                </c:pt>
                <c:pt idx="996">
                  <c:v>0.73600173650087275</c:v>
                </c:pt>
                <c:pt idx="997">
                  <c:v>0.73632976762969915</c:v>
                </c:pt>
                <c:pt idx="998">
                  <c:v>0.7356092497499308</c:v>
                </c:pt>
                <c:pt idx="999">
                  <c:v>0.73963272870101326</c:v>
                </c:pt>
                <c:pt idx="1000">
                  <c:v>0.73376874142338144</c:v>
                </c:pt>
                <c:pt idx="1001">
                  <c:v>0.73828103607260553</c:v>
                </c:pt>
                <c:pt idx="1002">
                  <c:v>0.73780203677829981</c:v>
                </c:pt>
                <c:pt idx="1003">
                  <c:v>0.73359395921216719</c:v>
                </c:pt>
                <c:pt idx="1004">
                  <c:v>0.73254783259568435</c:v>
                </c:pt>
                <c:pt idx="1005">
                  <c:v>0.72690463198796618</c:v>
                </c:pt>
                <c:pt idx="1006">
                  <c:v>0.72885146462478567</c:v>
                </c:pt>
                <c:pt idx="1007">
                  <c:v>0.72581095577877619</c:v>
                </c:pt>
                <c:pt idx="1008">
                  <c:v>0.72836599593277218</c:v>
                </c:pt>
                <c:pt idx="1009">
                  <c:v>0.73105488776602834</c:v>
                </c:pt>
                <c:pt idx="1010">
                  <c:v>0.72963432166481035</c:v>
                </c:pt>
                <c:pt idx="1011">
                  <c:v>0.72971268758277996</c:v>
                </c:pt>
                <c:pt idx="1012">
                  <c:v>0.72890864261658328</c:v>
                </c:pt>
                <c:pt idx="1013">
                  <c:v>0.73085571903358515</c:v>
                </c:pt>
                <c:pt idx="1014">
                  <c:v>0.73496165128439084</c:v>
                </c:pt>
                <c:pt idx="1015">
                  <c:v>0.73285450379799277</c:v>
                </c:pt>
                <c:pt idx="1016">
                  <c:v>0.73357034408421684</c:v>
                </c:pt>
                <c:pt idx="1017">
                  <c:v>0.73568108693706336</c:v>
                </c:pt>
                <c:pt idx="1018">
                  <c:v>0.73657705955711983</c:v>
                </c:pt>
                <c:pt idx="1019">
                  <c:v>0.73987477890588826</c:v>
                </c:pt>
                <c:pt idx="1020">
                  <c:v>0.74077517293433204</c:v>
                </c:pt>
                <c:pt idx="1021">
                  <c:v>0.74461269963619525</c:v>
                </c:pt>
                <c:pt idx="1022">
                  <c:v>0.74340446980889874</c:v>
                </c:pt>
                <c:pt idx="1023">
                  <c:v>0.74376568218949801</c:v>
                </c:pt>
                <c:pt idx="1024">
                  <c:v>0.7451149645282078</c:v>
                </c:pt>
                <c:pt idx="1025">
                  <c:v>0.74760750310963453</c:v>
                </c:pt>
                <c:pt idx="1026">
                  <c:v>0.74874678020374053</c:v>
                </c:pt>
                <c:pt idx="1027">
                  <c:v>0.74939142561760264</c:v>
                </c:pt>
                <c:pt idx="1028">
                  <c:v>0.75258552666203127</c:v>
                </c:pt>
                <c:pt idx="1029">
                  <c:v>0.75627788554127673</c:v>
                </c:pt>
                <c:pt idx="1030">
                  <c:v>0.75626995089592819</c:v>
                </c:pt>
                <c:pt idx="1031">
                  <c:v>0.75195677223974722</c:v>
                </c:pt>
                <c:pt idx="1032">
                  <c:v>0.75266279417114257</c:v>
                </c:pt>
                <c:pt idx="1033">
                  <c:v>0.75650661219829418</c:v>
                </c:pt>
                <c:pt idx="1034">
                  <c:v>0.75196656656711036</c:v>
                </c:pt>
                <c:pt idx="1035">
                  <c:v>0.75082654507019619</c:v>
                </c:pt>
                <c:pt idx="1036">
                  <c:v>0.75113493860255043</c:v>
                </c:pt>
                <c:pt idx="1037">
                  <c:v>0.74889935200170787</c:v>
                </c:pt>
                <c:pt idx="1038">
                  <c:v>0.74937004588903089</c:v>
                </c:pt>
                <c:pt idx="1039">
                  <c:v>0.74856031780646104</c:v>
                </c:pt>
                <c:pt idx="1040">
                  <c:v>0.74907464636414089</c:v>
                </c:pt>
                <c:pt idx="1041">
                  <c:v>0.74955443058347626</c:v>
                </c:pt>
                <c:pt idx="1042">
                  <c:v>0.74719090918413777</c:v>
                </c:pt>
                <c:pt idx="1043">
                  <c:v>0.74687891158411657</c:v>
                </c:pt>
                <c:pt idx="1044">
                  <c:v>0.74730032500396493</c:v>
                </c:pt>
                <c:pt idx="1045">
                  <c:v>0.74541895570304406</c:v>
                </c:pt>
                <c:pt idx="1046">
                  <c:v>0.74460930956216531</c:v>
                </c:pt>
                <c:pt idx="1047">
                  <c:v>0.74869296690220233</c:v>
                </c:pt>
                <c:pt idx="1048">
                  <c:v>0.74945789271313368</c:v>
                </c:pt>
                <c:pt idx="1049">
                  <c:v>0.74919817650983322</c:v>
                </c:pt>
                <c:pt idx="1050">
                  <c:v>0.74013307349283786</c:v>
                </c:pt>
                <c:pt idx="1051">
                  <c:v>0.73488723274619483</c:v>
                </c:pt>
                <c:pt idx="1052">
                  <c:v>0.73662122682760189</c:v>
                </c:pt>
                <c:pt idx="1053">
                  <c:v>0.73662122682760189</c:v>
                </c:pt>
                <c:pt idx="1054">
                  <c:v>0.7350787693832127</c:v>
                </c:pt>
                <c:pt idx="1055">
                  <c:v>0.73665314984561647</c:v>
                </c:pt>
                <c:pt idx="1056">
                  <c:v>0.7399371158856235</c:v>
                </c:pt>
                <c:pt idx="1057">
                  <c:v>0.74402485469183766</c:v>
                </c:pt>
                <c:pt idx="1058">
                  <c:v>0.74427218394894656</c:v>
                </c:pt>
                <c:pt idx="1059">
                  <c:v>0.74242945198114008</c:v>
                </c:pt>
                <c:pt idx="1060">
                  <c:v>0.73566431840568725</c:v>
                </c:pt>
                <c:pt idx="1061">
                  <c:v>0.72983587953902562</c:v>
                </c:pt>
                <c:pt idx="1062">
                  <c:v>0.72449282858076236</c:v>
                </c:pt>
                <c:pt idx="1063">
                  <c:v>0.71362055694715243</c:v>
                </c:pt>
                <c:pt idx="1064">
                  <c:v>0.71441160381610369</c:v>
                </c:pt>
                <c:pt idx="1065">
                  <c:v>0.71377837328460647</c:v>
                </c:pt>
                <c:pt idx="1066">
                  <c:v>0.69441823607308839</c:v>
                </c:pt>
                <c:pt idx="1067">
                  <c:v>0.70186219793501958</c:v>
                </c:pt>
                <c:pt idx="1068">
                  <c:v>0.70221307067016214</c:v>
                </c:pt>
                <c:pt idx="1069">
                  <c:v>0.70102350067902996</c:v>
                </c:pt>
                <c:pt idx="1070">
                  <c:v>0.69846151697351522</c:v>
                </c:pt>
                <c:pt idx="1071">
                  <c:v>0.70120187570057935</c:v>
                </c:pt>
                <c:pt idx="1072">
                  <c:v>0.70922022515430116</c:v>
                </c:pt>
                <c:pt idx="1073">
                  <c:v>0.71373749614933879</c:v>
                </c:pt>
                <c:pt idx="1074">
                  <c:v>0.70851561165179833</c:v>
                </c:pt>
                <c:pt idx="1075">
                  <c:v>0.71078023392674028</c:v>
                </c:pt>
                <c:pt idx="1076">
                  <c:v>0.69334158716784422</c:v>
                </c:pt>
                <c:pt idx="1077">
                  <c:v>0.69301389801568558</c:v>
                </c:pt>
                <c:pt idx="1078">
                  <c:v>0.69393718114198821</c:v>
                </c:pt>
                <c:pt idx="1079">
                  <c:v>0.68711631985085775</c:v>
                </c:pt>
                <c:pt idx="1080">
                  <c:v>0.68838704165225695</c:v>
                </c:pt>
                <c:pt idx="1081">
                  <c:v>0.68824197556295075</c:v>
                </c:pt>
                <c:pt idx="1082">
                  <c:v>0.68508661975091933</c:v>
                </c:pt>
                <c:pt idx="1083">
                  <c:v>0.69376268341054081</c:v>
                </c:pt>
                <c:pt idx="1084">
                  <c:v>0.69154934537684953</c:v>
                </c:pt>
                <c:pt idx="1085">
                  <c:v>0.69421378881006734</c:v>
                </c:pt>
                <c:pt idx="1086">
                  <c:v>0.69234806773255442</c:v>
                </c:pt>
                <c:pt idx="1087">
                  <c:v>0.70838368561271026</c:v>
                </c:pt>
                <c:pt idx="1088">
                  <c:v>0.70341914653898163</c:v>
                </c:pt>
                <c:pt idx="1089">
                  <c:v>0.70678192462742051</c:v>
                </c:pt>
                <c:pt idx="1090">
                  <c:v>0.70833396164391849</c:v>
                </c:pt>
                <c:pt idx="1091">
                  <c:v>0.71368455094562877</c:v>
                </c:pt>
                <c:pt idx="1092">
                  <c:v>0.71746517855374459</c:v>
                </c:pt>
                <c:pt idx="1093">
                  <c:v>0.72168733496271609</c:v>
                </c:pt>
                <c:pt idx="1094">
                  <c:v>0.72002121244114858</c:v>
                </c:pt>
                <c:pt idx="1095">
                  <c:v>0.72048015043971869</c:v>
                </c:pt>
                <c:pt idx="1096">
                  <c:v>0.72694846093337107</c:v>
                </c:pt>
                <c:pt idx="1097">
                  <c:v>0.72586828106530188</c:v>
                </c:pt>
                <c:pt idx="1098">
                  <c:v>0.72456654631614104</c:v>
                </c:pt>
                <c:pt idx="1099">
                  <c:v>0.72381103955339965</c:v>
                </c:pt>
                <c:pt idx="1100">
                  <c:v>0.71849015775584379</c:v>
                </c:pt>
                <c:pt idx="1101">
                  <c:v>0.71397443173831743</c:v>
                </c:pt>
                <c:pt idx="1102">
                  <c:v>0.71060295904594639</c:v>
                </c:pt>
                <c:pt idx="1103">
                  <c:v>0.70676144531846974</c:v>
                </c:pt>
                <c:pt idx="1104">
                  <c:v>0.70676144531846974</c:v>
                </c:pt>
                <c:pt idx="1105">
                  <c:v>0.70872844428120096</c:v>
                </c:pt>
              </c:numCache>
            </c:numRef>
          </c:val>
          <c:smooth val="0"/>
          <c:extLst>
            <c:ext xmlns:c16="http://schemas.microsoft.com/office/drawing/2014/chart" uri="{C3380CC4-5D6E-409C-BE32-E72D297353CC}">
              <c16:uniqueId val="{00000003-2828-42A8-89CB-54572D2DC00F}"/>
            </c:ext>
          </c:extLst>
        </c:ser>
        <c:dLbls>
          <c:showLegendKey val="0"/>
          <c:showVal val="0"/>
          <c:showCatName val="0"/>
          <c:showSerName val="0"/>
          <c:showPercent val="0"/>
          <c:showBubbleSize val="0"/>
        </c:dLbls>
        <c:smooth val="0"/>
        <c:axId val="1630411440"/>
        <c:axId val="1630409040"/>
      </c:lineChart>
      <c:dateAx>
        <c:axId val="1630411440"/>
        <c:scaling>
          <c:orientation val="minMax"/>
        </c:scaling>
        <c:delete val="0"/>
        <c:axPos val="b"/>
        <c:numFmt formatCode="mmm\-yy" sourceLinked="0"/>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crossAx val="1630409040"/>
        <c:crosses val="autoZero"/>
        <c:auto val="1"/>
        <c:lblOffset val="100"/>
        <c:baseTimeUnit val="days"/>
        <c:majorUnit val="3"/>
        <c:majorTimeUnit val="months"/>
      </c:dateAx>
      <c:valAx>
        <c:axId val="1630409040"/>
        <c:scaling>
          <c:orientation val="minMax"/>
        </c:scaling>
        <c:delete val="0"/>
        <c:axPos val="l"/>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630411440"/>
        <c:crosses val="autoZero"/>
        <c:crossBetween val="between"/>
      </c:valAx>
      <c:spPr>
        <a:noFill/>
        <a:ln>
          <a:noFill/>
        </a:ln>
        <a:effectLst/>
      </c:spPr>
    </c:plotArea>
    <c:legend>
      <c:legendPos val="b"/>
      <c:legendEntry>
        <c:idx val="0"/>
        <c:delete val="1"/>
      </c:legendEntry>
      <c:layout>
        <c:manualLayout>
          <c:xMode val="edge"/>
          <c:yMode val="edge"/>
          <c:x val="0.69211861379063955"/>
          <c:y val="0.62229184988240105"/>
          <c:w val="0.18760986066452304"/>
          <c:h val="0.1110414834509322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spPr>
            <a:ln w="12700">
              <a:noFill/>
            </a:ln>
          </c:spPr>
          <c:dPt>
            <c:idx val="0"/>
            <c:bubble3D val="0"/>
            <c:spPr>
              <a:solidFill>
                <a:schemeClr val="accent1"/>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C879-4E1D-8E4F-115F2F861AD5}"/>
              </c:ext>
            </c:extLst>
          </c:dPt>
          <c:dPt>
            <c:idx val="1"/>
            <c:bubble3D val="0"/>
            <c:spPr>
              <a:solidFill>
                <a:schemeClr val="accent2"/>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C879-4E1D-8E4F-115F2F861AD5}"/>
              </c:ext>
            </c:extLst>
          </c:dPt>
          <c:dPt>
            <c:idx val="2"/>
            <c:bubble3D val="0"/>
            <c:spPr>
              <a:solidFill>
                <a:schemeClr val="accent3"/>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C879-4E1D-8E4F-115F2F861AD5}"/>
              </c:ext>
            </c:extLst>
          </c:dPt>
          <c:dPt>
            <c:idx val="3"/>
            <c:bubble3D val="0"/>
            <c:spPr>
              <a:solidFill>
                <a:schemeClr val="accent4"/>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C879-4E1D-8E4F-115F2F861AD5}"/>
              </c:ext>
            </c:extLst>
          </c:dPt>
          <c:dPt>
            <c:idx val="4"/>
            <c:bubble3D val="0"/>
            <c:spPr>
              <a:solidFill>
                <a:schemeClr val="accent5"/>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C879-4E1D-8E4F-115F2F861AD5}"/>
              </c:ext>
            </c:extLst>
          </c:dPt>
          <c:dPt>
            <c:idx val="5"/>
            <c:bubble3D val="0"/>
            <c:spPr>
              <a:solidFill>
                <a:schemeClr val="accent6"/>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C879-4E1D-8E4F-115F2F861AD5}"/>
              </c:ext>
            </c:extLst>
          </c:dPt>
          <c:dPt>
            <c:idx val="6"/>
            <c:bubble3D val="0"/>
            <c:spPr>
              <a:solidFill>
                <a:schemeClr val="accent1">
                  <a:lumMod val="60000"/>
                </a:schemeClr>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C879-4E1D-8E4F-115F2F861AD5}"/>
              </c:ext>
            </c:extLst>
          </c:dPt>
          <c:dPt>
            <c:idx val="7"/>
            <c:bubble3D val="0"/>
            <c:spPr>
              <a:solidFill>
                <a:schemeClr val="accent2">
                  <a:lumMod val="60000"/>
                </a:schemeClr>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C879-4E1D-8E4F-115F2F861AD5}"/>
              </c:ext>
            </c:extLst>
          </c:dPt>
          <c:dLbls>
            <c:dLbl>
              <c:idx val="0"/>
              <c:spPr>
                <a:noFill/>
                <a:ln>
                  <a:noFill/>
                </a:ln>
                <a:effectLst/>
              </c:spPr>
              <c:txPr>
                <a:bodyPr rot="0" spcFirstLastPara="1" vertOverflow="ellipsis" vert="horz" wrap="square" anchor="ctr" anchorCtr="1"/>
                <a:lstStyle/>
                <a:p>
                  <a:pPr>
                    <a:defRPr sz="800" b="1" i="0" u="none" strike="noStrike" kern="1200" spc="0" baseline="0">
                      <a:solidFill>
                        <a:schemeClr val="bg1"/>
                      </a:solidFill>
                      <a:latin typeface="Arial" panose="020B0604020202020204" pitchFamily="34" charset="0"/>
                      <a:ea typeface="+mn-ea"/>
                      <a:cs typeface="Arial" panose="020B0604020202020204" pitchFamily="34" charset="0"/>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879-4E1D-8E4F-115F2F861AD5}"/>
                </c:ext>
              </c:extLst>
            </c:dLbl>
            <c:dLbl>
              <c:idx val="1"/>
              <c:spPr>
                <a:noFill/>
                <a:ln>
                  <a:noFill/>
                </a:ln>
                <a:effectLst/>
              </c:spPr>
              <c:txPr>
                <a:bodyPr rot="0" spcFirstLastPara="1" vertOverflow="ellipsis" vert="horz" wrap="square" anchor="ctr" anchorCtr="1"/>
                <a:lstStyle/>
                <a:p>
                  <a:pPr>
                    <a:defRPr sz="800" b="1" i="0" u="none" strike="noStrike" kern="1200" spc="0" baseline="0">
                      <a:solidFill>
                        <a:schemeClr val="bg1"/>
                      </a:solidFill>
                      <a:latin typeface="Arial" panose="020B0604020202020204" pitchFamily="34" charset="0"/>
                      <a:ea typeface="+mn-ea"/>
                      <a:cs typeface="Arial" panose="020B0604020202020204" pitchFamily="34" charset="0"/>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879-4E1D-8E4F-115F2F861AD5}"/>
                </c:ext>
              </c:extLst>
            </c:dLbl>
            <c:dLbl>
              <c:idx val="2"/>
              <c:spPr>
                <a:noFill/>
                <a:ln>
                  <a:noFill/>
                </a:ln>
                <a:effectLst/>
              </c:spPr>
              <c:txPr>
                <a:bodyPr rot="0" spcFirstLastPara="1" vertOverflow="ellipsis" vert="horz" wrap="square" anchor="ctr" anchorCtr="1"/>
                <a:lstStyle/>
                <a:p>
                  <a:pPr>
                    <a:defRPr sz="800" b="1"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879-4E1D-8E4F-115F2F861AD5}"/>
                </c:ext>
              </c:extLst>
            </c:dLbl>
            <c:spPr>
              <a:noFill/>
              <a:ln>
                <a:noFill/>
              </a:ln>
              <a:effectLst/>
            </c:spPr>
            <c:dLblPos val="bestFit"/>
            <c:showLegendKey val="0"/>
            <c:showVal val="1"/>
            <c:showCatName val="1"/>
            <c:showSerName val="0"/>
            <c:showPercent val="0"/>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Charts!$H$97:$H$99</c:f>
              <c:strCache>
                <c:ptCount val="3"/>
                <c:pt idx="0">
                  <c:v>LO</c:v>
                </c:pt>
                <c:pt idx="1">
                  <c:v>HF</c:v>
                </c:pt>
                <c:pt idx="2">
                  <c:v>PB</c:v>
                </c:pt>
              </c:strCache>
            </c:strRef>
          </c:cat>
          <c:val>
            <c:numRef>
              <c:f>Charts!$O$97:$O$99</c:f>
              <c:numCache>
                <c:formatCode>0.0%_);\(0.0%\);0.0%_);@_)</c:formatCode>
                <c:ptCount val="3"/>
                <c:pt idx="0">
                  <c:v>0.14924467384238146</c:v>
                </c:pt>
                <c:pt idx="1">
                  <c:v>0.77391262614583822</c:v>
                </c:pt>
                <c:pt idx="2">
                  <c:v>7.6842700011780146E-2</c:v>
                </c:pt>
              </c:numCache>
            </c:numRef>
          </c:val>
          <c:extLst>
            <c:ext xmlns:c16="http://schemas.microsoft.com/office/drawing/2014/chart" uri="{C3380CC4-5D6E-409C-BE32-E72D297353CC}">
              <c16:uniqueId val="{00000010-C879-4E1D-8E4F-115F2F861AD5}"/>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sz="800">
          <a:solidFill>
            <a:schemeClr val="tx1"/>
          </a:solidFill>
          <a:latin typeface="Arial" panose="020B0604020202020204" pitchFamily="34" charset="0"/>
          <a:cs typeface="Arial" panose="020B0604020202020204" pitchFamily="34" charset="0"/>
        </a:defRPr>
      </a:pPr>
      <a:endParaRPr lang="en-US"/>
    </a:p>
  </c:txPr>
  <c:externalData r:id="rId4">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spPr>
            <a:ln w="12700">
              <a:noFill/>
            </a:ln>
          </c:spPr>
          <c:dPt>
            <c:idx val="0"/>
            <c:bubble3D val="0"/>
            <c:spPr>
              <a:solidFill>
                <a:schemeClr val="accent1"/>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3474-4A19-8475-E4B8A8F4D4D8}"/>
              </c:ext>
            </c:extLst>
          </c:dPt>
          <c:dPt>
            <c:idx val="1"/>
            <c:bubble3D val="0"/>
            <c:spPr>
              <a:solidFill>
                <a:schemeClr val="accent2"/>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3474-4A19-8475-E4B8A8F4D4D8}"/>
              </c:ext>
            </c:extLst>
          </c:dPt>
          <c:dPt>
            <c:idx val="2"/>
            <c:bubble3D val="0"/>
            <c:spPr>
              <a:solidFill>
                <a:schemeClr val="accent3"/>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3474-4A19-8475-E4B8A8F4D4D8}"/>
              </c:ext>
            </c:extLst>
          </c:dPt>
          <c:dPt>
            <c:idx val="3"/>
            <c:bubble3D val="0"/>
            <c:spPr>
              <a:solidFill>
                <a:schemeClr val="accent4"/>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3474-4A19-8475-E4B8A8F4D4D8}"/>
              </c:ext>
            </c:extLst>
          </c:dPt>
          <c:dPt>
            <c:idx val="4"/>
            <c:bubble3D val="0"/>
            <c:spPr>
              <a:solidFill>
                <a:schemeClr val="accent5"/>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3474-4A19-8475-E4B8A8F4D4D8}"/>
              </c:ext>
            </c:extLst>
          </c:dPt>
          <c:dPt>
            <c:idx val="5"/>
            <c:bubble3D val="0"/>
            <c:spPr>
              <a:solidFill>
                <a:schemeClr val="accent6"/>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3474-4A19-8475-E4B8A8F4D4D8}"/>
              </c:ext>
            </c:extLst>
          </c:dPt>
          <c:dPt>
            <c:idx val="6"/>
            <c:bubble3D val="0"/>
            <c:spPr>
              <a:solidFill>
                <a:schemeClr val="accent1">
                  <a:lumMod val="60000"/>
                </a:schemeClr>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3474-4A19-8475-E4B8A8F4D4D8}"/>
              </c:ext>
            </c:extLst>
          </c:dPt>
          <c:dPt>
            <c:idx val="7"/>
            <c:bubble3D val="0"/>
            <c:spPr>
              <a:solidFill>
                <a:schemeClr val="accent2">
                  <a:lumMod val="60000"/>
                </a:schemeClr>
              </a:solidFill>
              <a:ln w="12700">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3474-4A19-8475-E4B8A8F4D4D8}"/>
              </c:ext>
            </c:extLst>
          </c:dPt>
          <c:dLbls>
            <c:dLbl>
              <c:idx val="0"/>
              <c:spPr>
                <a:noFill/>
                <a:ln>
                  <a:noFill/>
                </a:ln>
                <a:effectLst/>
              </c:spPr>
              <c:txPr>
                <a:bodyPr rot="0" spcFirstLastPara="1" vertOverflow="ellipsis" vert="horz" wrap="square" anchor="ctr" anchorCtr="1"/>
                <a:lstStyle/>
                <a:p>
                  <a:pPr>
                    <a:defRPr sz="800" b="1" i="0" u="none" strike="noStrike" kern="1200" spc="0" baseline="0">
                      <a:solidFill>
                        <a:schemeClr val="bg1"/>
                      </a:solidFill>
                      <a:latin typeface="Arial" panose="020B0604020202020204" pitchFamily="34" charset="0"/>
                      <a:ea typeface="+mn-ea"/>
                      <a:cs typeface="Arial" panose="020B0604020202020204" pitchFamily="34" charset="0"/>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474-4A19-8475-E4B8A8F4D4D8}"/>
                </c:ext>
              </c:extLst>
            </c:dLbl>
            <c:dLbl>
              <c:idx val="1"/>
              <c:spPr>
                <a:noFill/>
                <a:ln>
                  <a:noFill/>
                </a:ln>
                <a:effectLst/>
              </c:spPr>
              <c:txPr>
                <a:bodyPr rot="0" spcFirstLastPara="1" vertOverflow="ellipsis" vert="horz" wrap="square" anchor="ctr" anchorCtr="1"/>
                <a:lstStyle/>
                <a:p>
                  <a:pPr>
                    <a:defRPr sz="800" b="1" i="0" u="none" strike="noStrike" kern="1200" spc="0" baseline="0">
                      <a:solidFill>
                        <a:schemeClr val="bg1"/>
                      </a:solidFill>
                      <a:latin typeface="Arial" panose="020B0604020202020204" pitchFamily="34" charset="0"/>
                      <a:ea typeface="+mn-ea"/>
                      <a:cs typeface="Arial" panose="020B0604020202020204" pitchFamily="34" charset="0"/>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474-4A19-8475-E4B8A8F4D4D8}"/>
                </c:ext>
              </c:extLst>
            </c:dLbl>
            <c:dLbl>
              <c:idx val="2"/>
              <c:spPr>
                <a:noFill/>
                <a:ln>
                  <a:noFill/>
                </a:ln>
                <a:effectLst/>
              </c:spPr>
              <c:txPr>
                <a:bodyPr rot="0" spcFirstLastPara="1" vertOverflow="ellipsis" vert="horz" wrap="square" anchor="ctr" anchorCtr="1"/>
                <a:lstStyle/>
                <a:p>
                  <a:pPr>
                    <a:defRPr sz="800" b="1"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474-4A19-8475-E4B8A8F4D4D8}"/>
                </c:ext>
              </c:extLst>
            </c:dLbl>
            <c:spPr>
              <a:noFill/>
              <a:ln>
                <a:noFill/>
              </a:ln>
              <a:effectLst/>
            </c:spPr>
            <c:dLblPos val="bestFit"/>
            <c:showLegendKey val="0"/>
            <c:showVal val="1"/>
            <c:showCatName val="1"/>
            <c:showSerName val="0"/>
            <c:showPercent val="0"/>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Charts!$Q$97:$Q$99</c:f>
              <c:strCache>
                <c:ptCount val="3"/>
                <c:pt idx="0">
                  <c:v>LO</c:v>
                </c:pt>
                <c:pt idx="1">
                  <c:v>HF</c:v>
                </c:pt>
                <c:pt idx="2">
                  <c:v>PB</c:v>
                </c:pt>
              </c:strCache>
            </c:strRef>
          </c:cat>
          <c:val>
            <c:numRef>
              <c:f>Charts!$X$97:$X$99</c:f>
              <c:numCache>
                <c:formatCode>0.0%_);\(0.0%\);0.0%_);@_)</c:formatCode>
                <c:ptCount val="3"/>
                <c:pt idx="0">
                  <c:v>0.47120514125465551</c:v>
                </c:pt>
                <c:pt idx="1">
                  <c:v>0.31987225705114775</c:v>
                </c:pt>
                <c:pt idx="2">
                  <c:v>0.2089226016941966</c:v>
                </c:pt>
              </c:numCache>
            </c:numRef>
          </c:val>
          <c:extLst>
            <c:ext xmlns:c16="http://schemas.microsoft.com/office/drawing/2014/chart" uri="{C3380CC4-5D6E-409C-BE32-E72D297353CC}">
              <c16:uniqueId val="{00000010-3474-4A19-8475-E4B8A8F4D4D8}"/>
            </c:ext>
          </c:extLst>
        </c:ser>
        <c:dLbls>
          <c:dLblPos val="bestFit"/>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sz="800">
          <a:solidFill>
            <a:schemeClr val="tx1"/>
          </a:solidFill>
          <a:latin typeface="Arial" panose="020B0604020202020204" pitchFamily="34" charset="0"/>
          <a:cs typeface="Arial" panose="020B0604020202020204" pitchFamily="34" charset="0"/>
        </a:defRPr>
      </a:pPr>
      <a:endParaRPr lang="en-US"/>
    </a:p>
  </c:txPr>
  <c:externalData r:id="rId4">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762617787530652E-2"/>
          <c:y val="6.9510268562401265E-2"/>
          <c:w val="0.82647476442493872"/>
          <c:h val="0.70421812975857345"/>
        </c:manualLayout>
      </c:layout>
      <c:barChart>
        <c:barDir val="col"/>
        <c:grouping val="clustered"/>
        <c:varyColors val="0"/>
        <c:ser>
          <c:idx val="1"/>
          <c:order val="1"/>
          <c:tx>
            <c:strRef>
              <c:f>Sheet1!$C$1</c:f>
              <c:strCache>
                <c:ptCount val="1"/>
                <c:pt idx="0">
                  <c:v>Turnover (S$m)</c:v>
                </c:pt>
              </c:strCache>
            </c:strRef>
          </c:tx>
          <c:spPr>
            <a:solidFill>
              <a:schemeClr val="accent2"/>
            </a:solidFill>
            <a:ln>
              <a:noFill/>
            </a:ln>
            <a:effectLst/>
          </c:spPr>
          <c:invertIfNegative val="0"/>
          <c:cat>
            <c:numRef>
              <c:f>Sheet1!$A$2:$A$38</c:f>
              <c:numCache>
                <c:formatCode>d\-mmm\-yy</c:formatCode>
                <c:ptCount val="37"/>
                <c:pt idx="0">
                  <c:v>45924</c:v>
                </c:pt>
                <c:pt idx="1">
                  <c:v>45925</c:v>
                </c:pt>
                <c:pt idx="2">
                  <c:v>45926</c:v>
                </c:pt>
                <c:pt idx="3">
                  <c:v>45929</c:v>
                </c:pt>
                <c:pt idx="4">
                  <c:v>45930</c:v>
                </c:pt>
                <c:pt idx="5">
                  <c:v>45931</c:v>
                </c:pt>
                <c:pt idx="6">
                  <c:v>45932</c:v>
                </c:pt>
                <c:pt idx="7">
                  <c:v>45933</c:v>
                </c:pt>
                <c:pt idx="8">
                  <c:v>45936</c:v>
                </c:pt>
                <c:pt idx="9">
                  <c:v>45937</c:v>
                </c:pt>
                <c:pt idx="10">
                  <c:v>45938</c:v>
                </c:pt>
                <c:pt idx="11">
                  <c:v>45939</c:v>
                </c:pt>
                <c:pt idx="12">
                  <c:v>45940</c:v>
                </c:pt>
                <c:pt idx="13">
                  <c:v>45943</c:v>
                </c:pt>
                <c:pt idx="14">
                  <c:v>45944</c:v>
                </c:pt>
                <c:pt idx="15">
                  <c:v>45945</c:v>
                </c:pt>
                <c:pt idx="16">
                  <c:v>45946</c:v>
                </c:pt>
                <c:pt idx="17">
                  <c:v>45947</c:v>
                </c:pt>
                <c:pt idx="18">
                  <c:v>45951</c:v>
                </c:pt>
                <c:pt idx="19">
                  <c:v>45952</c:v>
                </c:pt>
                <c:pt idx="20">
                  <c:v>45953</c:v>
                </c:pt>
                <c:pt idx="21">
                  <c:v>45954</c:v>
                </c:pt>
                <c:pt idx="22">
                  <c:v>45957</c:v>
                </c:pt>
                <c:pt idx="23">
                  <c:v>45958</c:v>
                </c:pt>
                <c:pt idx="24">
                  <c:v>45959</c:v>
                </c:pt>
                <c:pt idx="25">
                  <c:v>45960</c:v>
                </c:pt>
                <c:pt idx="26">
                  <c:v>45961</c:v>
                </c:pt>
                <c:pt idx="27">
                  <c:v>45964</c:v>
                </c:pt>
                <c:pt idx="28">
                  <c:v>45965</c:v>
                </c:pt>
                <c:pt idx="29">
                  <c:v>45966</c:v>
                </c:pt>
                <c:pt idx="30">
                  <c:v>45967</c:v>
                </c:pt>
                <c:pt idx="31">
                  <c:v>45968</c:v>
                </c:pt>
                <c:pt idx="32">
                  <c:v>45971</c:v>
                </c:pt>
                <c:pt idx="33">
                  <c:v>45972</c:v>
                </c:pt>
                <c:pt idx="34">
                  <c:v>45973</c:v>
                </c:pt>
                <c:pt idx="35">
                  <c:v>45974</c:v>
                </c:pt>
                <c:pt idx="36">
                  <c:v>45975</c:v>
                </c:pt>
              </c:numCache>
            </c:numRef>
          </c:cat>
          <c:val>
            <c:numRef>
              <c:f>Sheet1!$C$2:$C$38</c:f>
              <c:numCache>
                <c:formatCode>#,##0.00</c:formatCode>
                <c:ptCount val="37"/>
                <c:pt idx="0" formatCode="General">
                  <c:v>0</c:v>
                </c:pt>
                <c:pt idx="1">
                  <c:v>79288030</c:v>
                </c:pt>
                <c:pt idx="2">
                  <c:v>22045180</c:v>
                </c:pt>
                <c:pt idx="3">
                  <c:v>23857860</c:v>
                </c:pt>
                <c:pt idx="4">
                  <c:v>17733780</c:v>
                </c:pt>
                <c:pt idx="5">
                  <c:v>5804423</c:v>
                </c:pt>
                <c:pt idx="6">
                  <c:v>16468300</c:v>
                </c:pt>
                <c:pt idx="7">
                  <c:v>12829590</c:v>
                </c:pt>
                <c:pt idx="8">
                  <c:v>6339042</c:v>
                </c:pt>
                <c:pt idx="9">
                  <c:v>9361499</c:v>
                </c:pt>
                <c:pt idx="10">
                  <c:v>2640828</c:v>
                </c:pt>
                <c:pt idx="11">
                  <c:v>2930292</c:v>
                </c:pt>
                <c:pt idx="12">
                  <c:v>4000510</c:v>
                </c:pt>
                <c:pt idx="13">
                  <c:v>13549910</c:v>
                </c:pt>
                <c:pt idx="14">
                  <c:v>11442460</c:v>
                </c:pt>
                <c:pt idx="15">
                  <c:v>4698085</c:v>
                </c:pt>
                <c:pt idx="16">
                  <c:v>9761211</c:v>
                </c:pt>
                <c:pt idx="17">
                  <c:v>5602768</c:v>
                </c:pt>
                <c:pt idx="18">
                  <c:v>5618529</c:v>
                </c:pt>
                <c:pt idx="19">
                  <c:v>8461580</c:v>
                </c:pt>
                <c:pt idx="20">
                  <c:v>5868464</c:v>
                </c:pt>
                <c:pt idx="21">
                  <c:v>3757551</c:v>
                </c:pt>
                <c:pt idx="22">
                  <c:v>7745132.0609999998</c:v>
                </c:pt>
                <c:pt idx="23">
                  <c:v>12049628.140000001</c:v>
                </c:pt>
                <c:pt idx="24">
                  <c:v>5726761.1540000001</c:v>
                </c:pt>
                <c:pt idx="25">
                  <c:v>5663135.4680000003</c:v>
                </c:pt>
                <c:pt idx="26">
                  <c:v>3362814.8059999999</c:v>
                </c:pt>
                <c:pt idx="27">
                  <c:v>4378330.1519999998</c:v>
                </c:pt>
                <c:pt idx="28">
                  <c:v>2218228.2850000001</c:v>
                </c:pt>
                <c:pt idx="29">
                  <c:v>6721300.398</c:v>
                </c:pt>
                <c:pt idx="30">
                  <c:v>13710792.84</c:v>
                </c:pt>
                <c:pt idx="31">
                  <c:v>6793282.7549999999</c:v>
                </c:pt>
                <c:pt idx="32">
                  <c:v>3826528.0809999998</c:v>
                </c:pt>
                <c:pt idx="33">
                  <c:v>5222646.051</c:v>
                </c:pt>
                <c:pt idx="34">
                  <c:v>3664564.3480000002</c:v>
                </c:pt>
                <c:pt idx="35">
                  <c:v>10556271.539999999</c:v>
                </c:pt>
                <c:pt idx="36">
                  <c:v>1894663.852</c:v>
                </c:pt>
              </c:numCache>
            </c:numRef>
          </c:val>
          <c:extLst>
            <c:ext xmlns:c16="http://schemas.microsoft.com/office/drawing/2014/chart" uri="{C3380CC4-5D6E-409C-BE32-E72D297353CC}">
              <c16:uniqueId val="{00000001-E419-43D3-BA32-186F18801D38}"/>
            </c:ext>
          </c:extLst>
        </c:ser>
        <c:dLbls>
          <c:showLegendKey val="0"/>
          <c:showVal val="0"/>
          <c:showCatName val="0"/>
          <c:showSerName val="0"/>
          <c:showPercent val="0"/>
          <c:showBubbleSize val="0"/>
        </c:dLbls>
        <c:gapWidth val="150"/>
        <c:axId val="483815296"/>
        <c:axId val="483812416"/>
      </c:barChart>
      <c:lineChart>
        <c:grouping val="standard"/>
        <c:varyColors val="0"/>
        <c:ser>
          <c:idx val="0"/>
          <c:order val="0"/>
          <c:tx>
            <c:strRef>
              <c:f>Sheet1!$B$1</c:f>
              <c:strCache>
                <c:ptCount val="1"/>
                <c:pt idx="0">
                  <c:v>Price (S$)</c:v>
                </c:pt>
              </c:strCache>
            </c:strRef>
          </c:tx>
          <c:spPr>
            <a:ln w="28575" cap="rnd">
              <a:solidFill>
                <a:schemeClr val="accent1"/>
              </a:solidFill>
              <a:round/>
            </a:ln>
            <a:effectLst/>
          </c:spPr>
          <c:marker>
            <c:symbol val="none"/>
          </c:marker>
          <c:dLbls>
            <c:dLbl>
              <c:idx val="36"/>
              <c:layout>
                <c:manualLayout>
                  <c:x val="-5.7613168724279837E-2"/>
                  <c:y val="-4.4077134986225897E-2"/>
                </c:manualLayout>
              </c:layout>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BCD-40C9-8D1E-2B50436783F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Sheet1!$A$2:$A$38</c:f>
              <c:numCache>
                <c:formatCode>d\-mmm\-yy</c:formatCode>
                <c:ptCount val="37"/>
                <c:pt idx="0">
                  <c:v>45924</c:v>
                </c:pt>
                <c:pt idx="1">
                  <c:v>45925</c:v>
                </c:pt>
                <c:pt idx="2">
                  <c:v>45926</c:v>
                </c:pt>
                <c:pt idx="3">
                  <c:v>45929</c:v>
                </c:pt>
                <c:pt idx="4">
                  <c:v>45930</c:v>
                </c:pt>
                <c:pt idx="5">
                  <c:v>45931</c:v>
                </c:pt>
                <c:pt idx="6">
                  <c:v>45932</c:v>
                </c:pt>
                <c:pt idx="7">
                  <c:v>45933</c:v>
                </c:pt>
                <c:pt idx="8">
                  <c:v>45936</c:v>
                </c:pt>
                <c:pt idx="9">
                  <c:v>45937</c:v>
                </c:pt>
                <c:pt idx="10">
                  <c:v>45938</c:v>
                </c:pt>
                <c:pt idx="11">
                  <c:v>45939</c:v>
                </c:pt>
                <c:pt idx="12">
                  <c:v>45940</c:v>
                </c:pt>
                <c:pt idx="13">
                  <c:v>45943</c:v>
                </c:pt>
                <c:pt idx="14">
                  <c:v>45944</c:v>
                </c:pt>
                <c:pt idx="15">
                  <c:v>45945</c:v>
                </c:pt>
                <c:pt idx="16">
                  <c:v>45946</c:v>
                </c:pt>
                <c:pt idx="17">
                  <c:v>45947</c:v>
                </c:pt>
                <c:pt idx="18">
                  <c:v>45951</c:v>
                </c:pt>
                <c:pt idx="19">
                  <c:v>45952</c:v>
                </c:pt>
                <c:pt idx="20">
                  <c:v>45953</c:v>
                </c:pt>
                <c:pt idx="21">
                  <c:v>45954</c:v>
                </c:pt>
                <c:pt idx="22">
                  <c:v>45957</c:v>
                </c:pt>
                <c:pt idx="23">
                  <c:v>45958</c:v>
                </c:pt>
                <c:pt idx="24">
                  <c:v>45959</c:v>
                </c:pt>
                <c:pt idx="25">
                  <c:v>45960</c:v>
                </c:pt>
                <c:pt idx="26">
                  <c:v>45961</c:v>
                </c:pt>
                <c:pt idx="27">
                  <c:v>45964</c:v>
                </c:pt>
                <c:pt idx="28">
                  <c:v>45965</c:v>
                </c:pt>
                <c:pt idx="29">
                  <c:v>45966</c:v>
                </c:pt>
                <c:pt idx="30">
                  <c:v>45967</c:v>
                </c:pt>
                <c:pt idx="31">
                  <c:v>45968</c:v>
                </c:pt>
                <c:pt idx="32">
                  <c:v>45971</c:v>
                </c:pt>
                <c:pt idx="33">
                  <c:v>45972</c:v>
                </c:pt>
                <c:pt idx="34">
                  <c:v>45973</c:v>
                </c:pt>
                <c:pt idx="35">
                  <c:v>45974</c:v>
                </c:pt>
                <c:pt idx="36">
                  <c:v>45975</c:v>
                </c:pt>
              </c:numCache>
            </c:numRef>
          </c:cat>
          <c:val>
            <c:numRef>
              <c:f>Sheet1!$B$2:$B$38</c:f>
              <c:numCache>
                <c:formatCode>General</c:formatCode>
                <c:ptCount val="37"/>
                <c:pt idx="0">
                  <c:v>0.88</c:v>
                </c:pt>
                <c:pt idx="1">
                  <c:v>0.96</c:v>
                </c:pt>
                <c:pt idx="2">
                  <c:v>0.96499999999999997</c:v>
                </c:pt>
                <c:pt idx="3">
                  <c:v>0.995</c:v>
                </c:pt>
                <c:pt idx="4">
                  <c:v>1.04</c:v>
                </c:pt>
                <c:pt idx="5">
                  <c:v>1.02</c:v>
                </c:pt>
                <c:pt idx="6">
                  <c:v>1.04</c:v>
                </c:pt>
                <c:pt idx="7">
                  <c:v>1.04</c:v>
                </c:pt>
                <c:pt idx="8">
                  <c:v>1.03</c:v>
                </c:pt>
                <c:pt idx="9">
                  <c:v>1.03</c:v>
                </c:pt>
                <c:pt idx="10">
                  <c:v>1.03</c:v>
                </c:pt>
                <c:pt idx="11">
                  <c:v>1.03</c:v>
                </c:pt>
                <c:pt idx="12">
                  <c:v>1.04</c:v>
                </c:pt>
                <c:pt idx="13">
                  <c:v>1.04</c:v>
                </c:pt>
                <c:pt idx="14">
                  <c:v>1.05</c:v>
                </c:pt>
                <c:pt idx="15">
                  <c:v>1.05</c:v>
                </c:pt>
                <c:pt idx="16">
                  <c:v>1.06</c:v>
                </c:pt>
                <c:pt idx="17">
                  <c:v>1.07</c:v>
                </c:pt>
                <c:pt idx="18">
                  <c:v>1.07</c:v>
                </c:pt>
                <c:pt idx="19">
                  <c:v>1.1100000000000001</c:v>
                </c:pt>
                <c:pt idx="20">
                  <c:v>1.08</c:v>
                </c:pt>
                <c:pt idx="21">
                  <c:v>1.08</c:v>
                </c:pt>
                <c:pt idx="22">
                  <c:v>1.05</c:v>
                </c:pt>
                <c:pt idx="23">
                  <c:v>1.06</c:v>
                </c:pt>
                <c:pt idx="24">
                  <c:v>1.08</c:v>
                </c:pt>
                <c:pt idx="25">
                  <c:v>1.06</c:v>
                </c:pt>
                <c:pt idx="26">
                  <c:v>1.06</c:v>
                </c:pt>
                <c:pt idx="27">
                  <c:v>1.05</c:v>
                </c:pt>
                <c:pt idx="28">
                  <c:v>1.05</c:v>
                </c:pt>
                <c:pt idx="29">
                  <c:v>1.04</c:v>
                </c:pt>
                <c:pt idx="30">
                  <c:v>1.04</c:v>
                </c:pt>
                <c:pt idx="31">
                  <c:v>1.03</c:v>
                </c:pt>
                <c:pt idx="32">
                  <c:v>1.03</c:v>
                </c:pt>
                <c:pt idx="33">
                  <c:v>1.03</c:v>
                </c:pt>
                <c:pt idx="34">
                  <c:v>1.04</c:v>
                </c:pt>
                <c:pt idx="35">
                  <c:v>1.06</c:v>
                </c:pt>
                <c:pt idx="36">
                  <c:v>1.06</c:v>
                </c:pt>
              </c:numCache>
            </c:numRef>
          </c:val>
          <c:smooth val="0"/>
          <c:extLst>
            <c:ext xmlns:c16="http://schemas.microsoft.com/office/drawing/2014/chart" uri="{C3380CC4-5D6E-409C-BE32-E72D297353CC}">
              <c16:uniqueId val="{00000000-E419-43D3-BA32-186F18801D38}"/>
            </c:ext>
          </c:extLst>
        </c:ser>
        <c:ser>
          <c:idx val="2"/>
          <c:order val="2"/>
          <c:tx>
            <c:strRef>
              <c:f>Sheet1!$D$1</c:f>
              <c:strCache>
                <c:ptCount val="1"/>
                <c:pt idx="0">
                  <c:v>IPO Baseline</c:v>
                </c:pt>
              </c:strCache>
            </c:strRef>
          </c:tx>
          <c:spPr>
            <a:ln w="12700" cap="rnd">
              <a:solidFill>
                <a:schemeClr val="bg1">
                  <a:lumMod val="65000"/>
                </a:schemeClr>
              </a:solidFill>
              <a:prstDash val="dash"/>
              <a:round/>
            </a:ln>
            <a:effectLst/>
          </c:spPr>
          <c:marker>
            <c:symbol val="none"/>
          </c:marker>
          <c:cat>
            <c:numRef>
              <c:f>Sheet1!$A$2:$A$38</c:f>
              <c:numCache>
                <c:formatCode>d\-mmm\-yy</c:formatCode>
                <c:ptCount val="37"/>
                <c:pt idx="0">
                  <c:v>45924</c:v>
                </c:pt>
                <c:pt idx="1">
                  <c:v>45925</c:v>
                </c:pt>
                <c:pt idx="2">
                  <c:v>45926</c:v>
                </c:pt>
                <c:pt idx="3">
                  <c:v>45929</c:v>
                </c:pt>
                <c:pt idx="4">
                  <c:v>45930</c:v>
                </c:pt>
                <c:pt idx="5">
                  <c:v>45931</c:v>
                </c:pt>
                <c:pt idx="6">
                  <c:v>45932</c:v>
                </c:pt>
                <c:pt idx="7">
                  <c:v>45933</c:v>
                </c:pt>
                <c:pt idx="8">
                  <c:v>45936</c:v>
                </c:pt>
                <c:pt idx="9">
                  <c:v>45937</c:v>
                </c:pt>
                <c:pt idx="10">
                  <c:v>45938</c:v>
                </c:pt>
                <c:pt idx="11">
                  <c:v>45939</c:v>
                </c:pt>
                <c:pt idx="12">
                  <c:v>45940</c:v>
                </c:pt>
                <c:pt idx="13">
                  <c:v>45943</c:v>
                </c:pt>
                <c:pt idx="14">
                  <c:v>45944</c:v>
                </c:pt>
                <c:pt idx="15">
                  <c:v>45945</c:v>
                </c:pt>
                <c:pt idx="16">
                  <c:v>45946</c:v>
                </c:pt>
                <c:pt idx="17">
                  <c:v>45947</c:v>
                </c:pt>
                <c:pt idx="18">
                  <c:v>45951</c:v>
                </c:pt>
                <c:pt idx="19">
                  <c:v>45952</c:v>
                </c:pt>
                <c:pt idx="20">
                  <c:v>45953</c:v>
                </c:pt>
                <c:pt idx="21">
                  <c:v>45954</c:v>
                </c:pt>
                <c:pt idx="22">
                  <c:v>45957</c:v>
                </c:pt>
                <c:pt idx="23">
                  <c:v>45958</c:v>
                </c:pt>
                <c:pt idx="24">
                  <c:v>45959</c:v>
                </c:pt>
                <c:pt idx="25">
                  <c:v>45960</c:v>
                </c:pt>
                <c:pt idx="26">
                  <c:v>45961</c:v>
                </c:pt>
                <c:pt idx="27">
                  <c:v>45964</c:v>
                </c:pt>
                <c:pt idx="28">
                  <c:v>45965</c:v>
                </c:pt>
                <c:pt idx="29">
                  <c:v>45966</c:v>
                </c:pt>
                <c:pt idx="30">
                  <c:v>45967</c:v>
                </c:pt>
                <c:pt idx="31">
                  <c:v>45968</c:v>
                </c:pt>
                <c:pt idx="32">
                  <c:v>45971</c:v>
                </c:pt>
                <c:pt idx="33">
                  <c:v>45972</c:v>
                </c:pt>
                <c:pt idx="34">
                  <c:v>45973</c:v>
                </c:pt>
                <c:pt idx="35">
                  <c:v>45974</c:v>
                </c:pt>
                <c:pt idx="36">
                  <c:v>45975</c:v>
                </c:pt>
              </c:numCache>
            </c:numRef>
          </c:cat>
          <c:val>
            <c:numRef>
              <c:f>Sheet1!$D$2:$D$38</c:f>
              <c:numCache>
                <c:formatCode>General</c:formatCode>
                <c:ptCount val="37"/>
                <c:pt idx="0">
                  <c:v>0.88</c:v>
                </c:pt>
                <c:pt idx="1">
                  <c:v>0.88</c:v>
                </c:pt>
                <c:pt idx="2">
                  <c:v>0.88</c:v>
                </c:pt>
                <c:pt idx="3">
                  <c:v>0.88</c:v>
                </c:pt>
                <c:pt idx="4">
                  <c:v>0.88</c:v>
                </c:pt>
                <c:pt idx="5">
                  <c:v>0.88</c:v>
                </c:pt>
                <c:pt idx="6">
                  <c:v>0.88</c:v>
                </c:pt>
                <c:pt idx="7">
                  <c:v>0.88</c:v>
                </c:pt>
                <c:pt idx="8">
                  <c:v>0.88</c:v>
                </c:pt>
                <c:pt idx="9">
                  <c:v>0.88</c:v>
                </c:pt>
                <c:pt idx="10">
                  <c:v>0.88</c:v>
                </c:pt>
                <c:pt idx="11">
                  <c:v>0.88</c:v>
                </c:pt>
                <c:pt idx="12">
                  <c:v>0.88</c:v>
                </c:pt>
                <c:pt idx="13">
                  <c:v>0.88</c:v>
                </c:pt>
                <c:pt idx="14">
                  <c:v>0.88</c:v>
                </c:pt>
                <c:pt idx="15">
                  <c:v>0.88</c:v>
                </c:pt>
                <c:pt idx="16">
                  <c:v>0.88</c:v>
                </c:pt>
                <c:pt idx="17">
                  <c:v>0.88</c:v>
                </c:pt>
                <c:pt idx="18">
                  <c:v>0.88</c:v>
                </c:pt>
                <c:pt idx="19">
                  <c:v>0.88</c:v>
                </c:pt>
                <c:pt idx="20">
                  <c:v>0.88</c:v>
                </c:pt>
                <c:pt idx="21">
                  <c:v>0.88</c:v>
                </c:pt>
                <c:pt idx="22">
                  <c:v>0.88</c:v>
                </c:pt>
                <c:pt idx="23">
                  <c:v>0.88</c:v>
                </c:pt>
                <c:pt idx="24">
                  <c:v>0.88</c:v>
                </c:pt>
                <c:pt idx="25">
                  <c:v>0.88</c:v>
                </c:pt>
                <c:pt idx="26">
                  <c:v>0.88</c:v>
                </c:pt>
                <c:pt idx="27">
                  <c:v>0.88</c:v>
                </c:pt>
                <c:pt idx="28">
                  <c:v>0.88</c:v>
                </c:pt>
                <c:pt idx="29">
                  <c:v>0.88</c:v>
                </c:pt>
                <c:pt idx="30">
                  <c:v>0.88</c:v>
                </c:pt>
                <c:pt idx="31">
                  <c:v>0.88</c:v>
                </c:pt>
                <c:pt idx="32">
                  <c:v>0.88</c:v>
                </c:pt>
                <c:pt idx="33">
                  <c:v>0.88</c:v>
                </c:pt>
                <c:pt idx="34">
                  <c:v>0.88</c:v>
                </c:pt>
                <c:pt idx="35">
                  <c:v>0.88</c:v>
                </c:pt>
                <c:pt idx="36">
                  <c:v>0.88</c:v>
                </c:pt>
              </c:numCache>
            </c:numRef>
          </c:val>
          <c:smooth val="0"/>
          <c:extLst>
            <c:ext xmlns:c16="http://schemas.microsoft.com/office/drawing/2014/chart" uri="{C3380CC4-5D6E-409C-BE32-E72D297353CC}">
              <c16:uniqueId val="{00000002-E419-43D3-BA32-186F18801D38}"/>
            </c:ext>
          </c:extLst>
        </c:ser>
        <c:dLbls>
          <c:showLegendKey val="0"/>
          <c:showVal val="0"/>
          <c:showCatName val="0"/>
          <c:showSerName val="0"/>
          <c:showPercent val="0"/>
          <c:showBubbleSize val="0"/>
        </c:dLbls>
        <c:marker val="1"/>
        <c:smooth val="0"/>
        <c:axId val="1220142592"/>
        <c:axId val="1220161312"/>
      </c:lineChart>
      <c:catAx>
        <c:axId val="1220142592"/>
        <c:scaling>
          <c:orientation val="minMax"/>
        </c:scaling>
        <c:delete val="0"/>
        <c:axPos val="b"/>
        <c:numFmt formatCode="dd\ mmm"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20161312"/>
        <c:crosses val="autoZero"/>
        <c:auto val="0"/>
        <c:lblAlgn val="ctr"/>
        <c:lblOffset val="100"/>
        <c:tickLblSkip val="3"/>
        <c:noMultiLvlLbl val="0"/>
      </c:catAx>
      <c:valAx>
        <c:axId val="1220161312"/>
        <c:scaling>
          <c:orientation val="minMax"/>
          <c:max val="1.2"/>
          <c:min val="0.8"/>
        </c:scaling>
        <c:delete val="0"/>
        <c:axPos val="l"/>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20142592"/>
        <c:crosses val="autoZero"/>
        <c:crossBetween val="between"/>
        <c:majorUnit val="0.1"/>
      </c:valAx>
      <c:valAx>
        <c:axId val="483812416"/>
        <c:scaling>
          <c:orientation val="minMax"/>
          <c:max val="120000000"/>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83815296"/>
        <c:crosses val="max"/>
        <c:crossBetween val="between"/>
      </c:valAx>
      <c:dateAx>
        <c:axId val="483815296"/>
        <c:scaling>
          <c:orientation val="minMax"/>
        </c:scaling>
        <c:delete val="1"/>
        <c:axPos val="b"/>
        <c:numFmt formatCode="d\-mmm\-yy" sourceLinked="1"/>
        <c:majorTickMark val="out"/>
        <c:minorTickMark val="none"/>
        <c:tickLblPos val="nextTo"/>
        <c:crossAx val="483812416"/>
        <c:crosses val="autoZero"/>
        <c:auto val="1"/>
        <c:lblOffset val="100"/>
        <c:baseTimeUnit val="days"/>
      </c:dateAx>
      <c:spPr>
        <a:noFill/>
        <a:ln>
          <a:noFill/>
        </a:ln>
        <a:effectLst/>
      </c:spPr>
    </c:plotArea>
    <c:legend>
      <c:legendPos val="r"/>
      <c:legendEntry>
        <c:idx val="2"/>
        <c:delete val="1"/>
      </c:legendEntry>
      <c:layout>
        <c:manualLayout>
          <c:xMode val="edge"/>
          <c:yMode val="edge"/>
          <c:x val="0.27982048540228766"/>
          <c:y val="0.91831326869265284"/>
          <c:w val="0.4568050290010045"/>
          <c:h val="8.16867313073469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6">
  <a:schemeClr val="accent3"/>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0.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0.77989</cdr:x>
      <cdr:y>0.66195</cdr:y>
    </cdr:from>
    <cdr:to>
      <cdr:x>0.81364</cdr:x>
      <cdr:y>0.751</cdr:y>
    </cdr:to>
    <cdr:sp macro="" textlink="">
      <cdr:nvSpPr>
        <cdr:cNvPr id="2" name="TextBox 9">
          <a:extLst xmlns:a="http://schemas.openxmlformats.org/drawingml/2006/main">
            <a:ext uri="{FF2B5EF4-FFF2-40B4-BE49-F238E27FC236}">
              <a16:creationId xmlns:a16="http://schemas.microsoft.com/office/drawing/2014/main" id="{868A70A0-74AF-A48E-F6F2-926D0AA88F9C}"/>
            </a:ext>
          </a:extLst>
        </cdr:cNvPr>
        <cdr:cNvSpPr txBox="1"/>
      </cdr:nvSpPr>
      <cdr:spPr>
        <a:xfrm xmlns:a="http://schemas.openxmlformats.org/drawingml/2006/main">
          <a:off x="7042151" y="1569972"/>
          <a:ext cx="304799" cy="211203"/>
        </a:xfrm>
        <a:prstGeom xmlns:a="http://schemas.openxmlformats.org/drawingml/2006/main" prst="rect">
          <a:avLst/>
        </a:prstGeom>
        <a:noFill xmlns:a="http://schemas.openxmlformats.org/drawingml/2006/main"/>
        <a:ln xmlns:a="http://schemas.openxmlformats.org/drawingml/2006/main" w="6350">
          <a:noFill/>
          <a:prstDash val="dash"/>
        </a:ln>
      </cdr:spPr>
      <cdr:txBody>
        <a:bodyPr xmlns:a="http://schemas.openxmlformats.org/drawingml/2006/main" wrap="square" lIns="36000" tIns="36000" rIns="36000" bIns="36000" rtlCol="0" anchor="t">
          <a:spAutoFit/>
        </a:bodyPr>
        <a:lstStyle xmlns:a="http://schemas.openxmlformats.org/drawingml/2006/main">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pPr algn="l">
            <a:spcAft>
              <a:spcPts val="200"/>
            </a:spcAft>
          </a:pPr>
          <a:r>
            <a:rPr lang="en-US" sz="900" b="0" dirty="0">
              <a:solidFill>
                <a:schemeClr val="tx1"/>
              </a:solidFill>
            </a:rPr>
            <a:t>3.75</a:t>
          </a:r>
          <a:endParaRPr lang="en-SG" sz="900" b="0" dirty="0">
            <a:solidFill>
              <a:schemeClr val="tx1"/>
            </a:solidFill>
          </a:endParaRPr>
        </a:p>
      </cdr:txBody>
    </cdr:sp>
  </cdr:relSizeAnchor>
  <cdr:relSizeAnchor xmlns:cdr="http://schemas.openxmlformats.org/drawingml/2006/chartDrawing">
    <cdr:from>
      <cdr:x>0.55415</cdr:x>
      <cdr:y>0.64991</cdr:y>
    </cdr:from>
    <cdr:to>
      <cdr:x>0.5879</cdr:x>
      <cdr:y>0.73896</cdr:y>
    </cdr:to>
    <cdr:sp macro="" textlink="">
      <cdr:nvSpPr>
        <cdr:cNvPr id="3" name="TextBox 9">
          <a:extLst xmlns:a="http://schemas.openxmlformats.org/drawingml/2006/main">
            <a:ext uri="{FF2B5EF4-FFF2-40B4-BE49-F238E27FC236}">
              <a16:creationId xmlns:a16="http://schemas.microsoft.com/office/drawing/2014/main" id="{35EA0599-3401-FACC-7FB7-DBD8AE0A3448}"/>
            </a:ext>
          </a:extLst>
        </cdr:cNvPr>
        <cdr:cNvSpPr txBox="1"/>
      </cdr:nvSpPr>
      <cdr:spPr>
        <a:xfrm xmlns:a="http://schemas.openxmlformats.org/drawingml/2006/main">
          <a:off x="5003801" y="1541397"/>
          <a:ext cx="304799" cy="211203"/>
        </a:xfrm>
        <a:prstGeom xmlns:a="http://schemas.openxmlformats.org/drawingml/2006/main" prst="rect">
          <a:avLst/>
        </a:prstGeom>
        <a:noFill xmlns:a="http://schemas.openxmlformats.org/drawingml/2006/main"/>
        <a:ln xmlns:a="http://schemas.openxmlformats.org/drawingml/2006/main" w="6350">
          <a:noFill/>
          <a:prstDash val="dash"/>
        </a:ln>
      </cdr:spPr>
      <cdr:txBody>
        <a:bodyPr xmlns:a="http://schemas.openxmlformats.org/drawingml/2006/main" wrap="square" lIns="36000" tIns="36000" rIns="36000" bIns="36000" rtlCol="0" anchor="t">
          <a:spAutoFit/>
        </a:bodyPr>
        <a:lstStyle xmlns:a="http://schemas.openxmlformats.org/drawingml/2006/main">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pPr algn="l">
            <a:spcAft>
              <a:spcPts val="200"/>
            </a:spcAft>
          </a:pPr>
          <a:r>
            <a:rPr lang="en-US" sz="900" b="0" dirty="0">
              <a:solidFill>
                <a:schemeClr val="tx1"/>
              </a:solidFill>
            </a:rPr>
            <a:t>4.00</a:t>
          </a:r>
          <a:endParaRPr lang="en-SG" sz="900" b="0" dirty="0">
            <a:solidFill>
              <a:schemeClr val="tx1"/>
            </a:solidFill>
          </a:endParaRPr>
        </a:p>
      </cdr:txBody>
    </cdr:sp>
  </cdr:relSizeAnchor>
  <cdr:relSizeAnchor xmlns:cdr="http://schemas.openxmlformats.org/drawingml/2006/chartDrawing">
    <cdr:from>
      <cdr:x>0.48488</cdr:x>
      <cdr:y>0.63518</cdr:y>
    </cdr:from>
    <cdr:to>
      <cdr:x>0.51864</cdr:x>
      <cdr:y>0.72423</cdr:y>
    </cdr:to>
    <cdr:sp macro="" textlink="">
      <cdr:nvSpPr>
        <cdr:cNvPr id="4" name="TextBox 9">
          <a:extLst xmlns:a="http://schemas.openxmlformats.org/drawingml/2006/main">
            <a:ext uri="{FF2B5EF4-FFF2-40B4-BE49-F238E27FC236}">
              <a16:creationId xmlns:a16="http://schemas.microsoft.com/office/drawing/2014/main" id="{112AF841-3565-9E45-264F-A5DA3E0B5FC5}"/>
            </a:ext>
          </a:extLst>
        </cdr:cNvPr>
        <cdr:cNvSpPr txBox="1"/>
      </cdr:nvSpPr>
      <cdr:spPr>
        <a:xfrm xmlns:a="http://schemas.openxmlformats.org/drawingml/2006/main">
          <a:off x="4378326" y="1506472"/>
          <a:ext cx="304799" cy="211203"/>
        </a:xfrm>
        <a:prstGeom xmlns:a="http://schemas.openxmlformats.org/drawingml/2006/main" prst="rect">
          <a:avLst/>
        </a:prstGeom>
        <a:noFill xmlns:a="http://schemas.openxmlformats.org/drawingml/2006/main"/>
        <a:ln xmlns:a="http://schemas.openxmlformats.org/drawingml/2006/main" w="6350">
          <a:noFill/>
          <a:prstDash val="dash"/>
        </a:ln>
      </cdr:spPr>
      <cdr:txBody>
        <a:bodyPr xmlns:a="http://schemas.openxmlformats.org/drawingml/2006/main" wrap="square" lIns="36000" tIns="36000" rIns="36000" bIns="36000" rtlCol="0" anchor="t">
          <a:spAutoFit/>
        </a:bodyPr>
        <a:lstStyle xmlns:a="http://schemas.openxmlformats.org/drawingml/2006/main">
          <a:defPPr>
            <a:defRPr lang="en-US"/>
          </a:defPPr>
          <a:lvl1pPr marL="0" indent="0" algn="l" rtl="0" fontAlgn="base">
            <a:spcBef>
              <a:spcPct val="0"/>
            </a:spcBef>
            <a:spcAft>
              <a:spcPct val="0"/>
            </a:spcAft>
            <a:defRPr sz="2400" b="1" kern="1200">
              <a:solidFill>
                <a:schemeClr val="bg2"/>
              </a:solidFill>
              <a:latin typeface="Arial" charset="0"/>
              <a:ea typeface="+mn-ea"/>
              <a:cs typeface="Arial" charset="0"/>
            </a:defRPr>
          </a:lvl1pPr>
          <a:lvl2pPr marL="457200" indent="0" algn="l" rtl="0" fontAlgn="base">
            <a:spcBef>
              <a:spcPct val="0"/>
            </a:spcBef>
            <a:spcAft>
              <a:spcPct val="0"/>
            </a:spcAft>
            <a:defRPr sz="2400" b="1" kern="1200">
              <a:solidFill>
                <a:schemeClr val="bg2"/>
              </a:solidFill>
              <a:latin typeface="Arial" charset="0"/>
              <a:ea typeface="+mn-ea"/>
              <a:cs typeface="Arial" charset="0"/>
            </a:defRPr>
          </a:lvl2pPr>
          <a:lvl3pPr marL="914400" indent="0" algn="l" rtl="0" fontAlgn="base">
            <a:spcBef>
              <a:spcPct val="0"/>
            </a:spcBef>
            <a:spcAft>
              <a:spcPct val="0"/>
            </a:spcAft>
            <a:defRPr sz="2400" b="1" kern="1200">
              <a:solidFill>
                <a:schemeClr val="bg2"/>
              </a:solidFill>
              <a:latin typeface="Arial" charset="0"/>
              <a:ea typeface="+mn-ea"/>
              <a:cs typeface="Arial" charset="0"/>
            </a:defRPr>
          </a:lvl3pPr>
          <a:lvl4pPr marL="1371600" indent="0" algn="l" rtl="0" fontAlgn="base">
            <a:spcBef>
              <a:spcPct val="0"/>
            </a:spcBef>
            <a:spcAft>
              <a:spcPct val="0"/>
            </a:spcAft>
            <a:defRPr sz="2400" b="1" kern="1200">
              <a:solidFill>
                <a:schemeClr val="bg2"/>
              </a:solidFill>
              <a:latin typeface="Arial" charset="0"/>
              <a:ea typeface="+mn-ea"/>
              <a:cs typeface="Arial" charset="0"/>
            </a:defRPr>
          </a:lvl4pPr>
          <a:lvl5pPr marL="1828800" indent="0" algn="l" rtl="0" fontAlgn="base">
            <a:spcBef>
              <a:spcPct val="0"/>
            </a:spcBef>
            <a:spcAft>
              <a:spcPct val="0"/>
            </a:spcAft>
            <a:defRPr sz="2400" b="1" kern="1200">
              <a:solidFill>
                <a:schemeClr val="bg2"/>
              </a:solidFill>
              <a:latin typeface="Arial" charset="0"/>
              <a:ea typeface="+mn-ea"/>
              <a:cs typeface="Arial" charset="0"/>
            </a:defRPr>
          </a:lvl5pPr>
          <a:lvl6pPr marL="2286000" indent="0" algn="l" defTabSz="914400" rtl="0" eaLnBrk="1" latinLnBrk="0" hangingPunct="1">
            <a:defRPr sz="2400" b="1" kern="1200">
              <a:solidFill>
                <a:schemeClr val="bg2"/>
              </a:solidFill>
              <a:latin typeface="Arial" charset="0"/>
              <a:ea typeface="+mn-ea"/>
              <a:cs typeface="Arial" charset="0"/>
            </a:defRPr>
          </a:lvl6pPr>
          <a:lvl7pPr marL="2743200" indent="0" algn="l" defTabSz="914400" rtl="0" eaLnBrk="1" latinLnBrk="0" hangingPunct="1">
            <a:defRPr sz="2400" b="1" kern="1200">
              <a:solidFill>
                <a:schemeClr val="bg2"/>
              </a:solidFill>
              <a:latin typeface="Arial" charset="0"/>
              <a:ea typeface="+mn-ea"/>
              <a:cs typeface="Arial" charset="0"/>
            </a:defRPr>
          </a:lvl7pPr>
          <a:lvl8pPr marL="3200400" indent="0" algn="l" defTabSz="914400" rtl="0" eaLnBrk="1" latinLnBrk="0" hangingPunct="1">
            <a:defRPr sz="2400" b="1" kern="1200">
              <a:solidFill>
                <a:schemeClr val="bg2"/>
              </a:solidFill>
              <a:latin typeface="Arial" charset="0"/>
              <a:ea typeface="+mn-ea"/>
              <a:cs typeface="Arial" charset="0"/>
            </a:defRPr>
          </a:lvl8pPr>
          <a:lvl9pPr marL="3657600" indent="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pPr algn="l">
            <a:spcAft>
              <a:spcPts val="200"/>
            </a:spcAft>
          </a:pPr>
          <a:r>
            <a:rPr lang="en-US" sz="900" b="0" dirty="0">
              <a:solidFill>
                <a:schemeClr val="tx1"/>
              </a:solidFill>
            </a:rPr>
            <a:t>4.25</a:t>
          </a:r>
          <a:endParaRPr lang="en-SG" sz="900" b="0" dirty="0">
            <a:solidFill>
              <a:schemeClr val="tx1"/>
            </a:solidFill>
          </a:endParaRPr>
        </a:p>
      </cdr:txBody>
    </cdr:sp>
  </cdr:relSizeAnchor>
  <cdr:relSizeAnchor xmlns:cdr="http://schemas.openxmlformats.org/drawingml/2006/chartDrawing">
    <cdr:from>
      <cdr:x>0.41561</cdr:x>
      <cdr:y>0.62447</cdr:y>
    </cdr:from>
    <cdr:to>
      <cdr:x>0.44937</cdr:x>
      <cdr:y>0.71352</cdr:y>
    </cdr:to>
    <cdr:sp macro="" textlink="">
      <cdr:nvSpPr>
        <cdr:cNvPr id="5" name="TextBox 9">
          <a:extLst xmlns:a="http://schemas.openxmlformats.org/drawingml/2006/main">
            <a:ext uri="{FF2B5EF4-FFF2-40B4-BE49-F238E27FC236}">
              <a16:creationId xmlns:a16="http://schemas.microsoft.com/office/drawing/2014/main" id="{6735104F-094D-BAC7-824E-E9A8477B34CD}"/>
            </a:ext>
          </a:extLst>
        </cdr:cNvPr>
        <cdr:cNvSpPr txBox="1"/>
      </cdr:nvSpPr>
      <cdr:spPr>
        <a:xfrm xmlns:a="http://schemas.openxmlformats.org/drawingml/2006/main">
          <a:off x="3752851" y="1481072"/>
          <a:ext cx="304799" cy="211203"/>
        </a:xfrm>
        <a:prstGeom xmlns:a="http://schemas.openxmlformats.org/drawingml/2006/main" prst="rect">
          <a:avLst/>
        </a:prstGeom>
        <a:noFill xmlns:a="http://schemas.openxmlformats.org/drawingml/2006/main"/>
        <a:ln xmlns:a="http://schemas.openxmlformats.org/drawingml/2006/main" w="6350">
          <a:noFill/>
          <a:prstDash val="dash"/>
        </a:ln>
      </cdr:spPr>
      <cdr:txBody>
        <a:bodyPr xmlns:a="http://schemas.openxmlformats.org/drawingml/2006/main" wrap="square" lIns="36000" tIns="36000" rIns="36000" bIns="36000" rtlCol="0" anchor="t">
          <a:spAutoFit/>
        </a:bodyPr>
        <a:lstStyle xmlns:a="http://schemas.openxmlformats.org/drawingml/2006/main">
          <a:defPPr>
            <a:defRPr lang="en-US"/>
          </a:defPPr>
          <a:lvl1pPr marL="0" indent="0" algn="l" rtl="0" fontAlgn="base">
            <a:spcBef>
              <a:spcPct val="0"/>
            </a:spcBef>
            <a:spcAft>
              <a:spcPct val="0"/>
            </a:spcAft>
            <a:defRPr sz="2400" b="1" kern="1200">
              <a:solidFill>
                <a:schemeClr val="bg2"/>
              </a:solidFill>
              <a:latin typeface="Arial" charset="0"/>
              <a:ea typeface="+mn-ea"/>
              <a:cs typeface="Arial" charset="0"/>
            </a:defRPr>
          </a:lvl1pPr>
          <a:lvl2pPr marL="457200" indent="0" algn="l" rtl="0" fontAlgn="base">
            <a:spcBef>
              <a:spcPct val="0"/>
            </a:spcBef>
            <a:spcAft>
              <a:spcPct val="0"/>
            </a:spcAft>
            <a:defRPr sz="2400" b="1" kern="1200">
              <a:solidFill>
                <a:schemeClr val="bg2"/>
              </a:solidFill>
              <a:latin typeface="Arial" charset="0"/>
              <a:ea typeface="+mn-ea"/>
              <a:cs typeface="Arial" charset="0"/>
            </a:defRPr>
          </a:lvl2pPr>
          <a:lvl3pPr marL="914400" indent="0" algn="l" rtl="0" fontAlgn="base">
            <a:spcBef>
              <a:spcPct val="0"/>
            </a:spcBef>
            <a:spcAft>
              <a:spcPct val="0"/>
            </a:spcAft>
            <a:defRPr sz="2400" b="1" kern="1200">
              <a:solidFill>
                <a:schemeClr val="bg2"/>
              </a:solidFill>
              <a:latin typeface="Arial" charset="0"/>
              <a:ea typeface="+mn-ea"/>
              <a:cs typeface="Arial" charset="0"/>
            </a:defRPr>
          </a:lvl3pPr>
          <a:lvl4pPr marL="1371600" indent="0" algn="l" rtl="0" fontAlgn="base">
            <a:spcBef>
              <a:spcPct val="0"/>
            </a:spcBef>
            <a:spcAft>
              <a:spcPct val="0"/>
            </a:spcAft>
            <a:defRPr sz="2400" b="1" kern="1200">
              <a:solidFill>
                <a:schemeClr val="bg2"/>
              </a:solidFill>
              <a:latin typeface="Arial" charset="0"/>
              <a:ea typeface="+mn-ea"/>
              <a:cs typeface="Arial" charset="0"/>
            </a:defRPr>
          </a:lvl4pPr>
          <a:lvl5pPr marL="1828800" indent="0" algn="l" rtl="0" fontAlgn="base">
            <a:spcBef>
              <a:spcPct val="0"/>
            </a:spcBef>
            <a:spcAft>
              <a:spcPct val="0"/>
            </a:spcAft>
            <a:defRPr sz="2400" b="1" kern="1200">
              <a:solidFill>
                <a:schemeClr val="bg2"/>
              </a:solidFill>
              <a:latin typeface="Arial" charset="0"/>
              <a:ea typeface="+mn-ea"/>
              <a:cs typeface="Arial" charset="0"/>
            </a:defRPr>
          </a:lvl5pPr>
          <a:lvl6pPr marL="2286000" indent="0" algn="l" defTabSz="914400" rtl="0" eaLnBrk="1" latinLnBrk="0" hangingPunct="1">
            <a:defRPr sz="2400" b="1" kern="1200">
              <a:solidFill>
                <a:schemeClr val="bg2"/>
              </a:solidFill>
              <a:latin typeface="Arial" charset="0"/>
              <a:ea typeface="+mn-ea"/>
              <a:cs typeface="Arial" charset="0"/>
            </a:defRPr>
          </a:lvl6pPr>
          <a:lvl7pPr marL="2743200" indent="0" algn="l" defTabSz="914400" rtl="0" eaLnBrk="1" latinLnBrk="0" hangingPunct="1">
            <a:defRPr sz="2400" b="1" kern="1200">
              <a:solidFill>
                <a:schemeClr val="bg2"/>
              </a:solidFill>
              <a:latin typeface="Arial" charset="0"/>
              <a:ea typeface="+mn-ea"/>
              <a:cs typeface="Arial" charset="0"/>
            </a:defRPr>
          </a:lvl7pPr>
          <a:lvl8pPr marL="3200400" indent="0" algn="l" defTabSz="914400" rtl="0" eaLnBrk="1" latinLnBrk="0" hangingPunct="1">
            <a:defRPr sz="2400" b="1" kern="1200">
              <a:solidFill>
                <a:schemeClr val="bg2"/>
              </a:solidFill>
              <a:latin typeface="Arial" charset="0"/>
              <a:ea typeface="+mn-ea"/>
              <a:cs typeface="Arial" charset="0"/>
            </a:defRPr>
          </a:lvl8pPr>
          <a:lvl9pPr marL="3657600" indent="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pPr algn="l">
            <a:spcAft>
              <a:spcPts val="200"/>
            </a:spcAft>
          </a:pPr>
          <a:r>
            <a:rPr lang="en-US" sz="900" b="0" dirty="0">
              <a:solidFill>
                <a:schemeClr val="tx1"/>
              </a:solidFill>
            </a:rPr>
            <a:t>4.50</a:t>
          </a:r>
          <a:endParaRPr lang="en-SG" sz="900" b="0" dirty="0">
            <a:solidFill>
              <a:schemeClr val="tx1"/>
            </a:solidFill>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0</cdr:x>
      <cdr:y>1</cdr:y>
    </cdr:to>
    <cdr:cxnSp macro="">
      <cdr:nvCxnSpPr>
        <cdr:cNvPr id="3" name="Straight Connector 2">
          <a:extLst xmlns:a="http://schemas.openxmlformats.org/drawingml/2006/main">
            <a:ext uri="{FF2B5EF4-FFF2-40B4-BE49-F238E27FC236}">
              <a16:creationId xmlns:a16="http://schemas.microsoft.com/office/drawing/2014/main" id="{2B39D13E-5A8E-4D9C-FFF0-1BB0CF4E2FFC}"/>
            </a:ext>
          </a:extLst>
        </cdr:cNvPr>
        <cdr:cNvCxnSpPr/>
      </cdr:nvCxnSpPr>
      <cdr:spPr bwMode="auto">
        <a:xfrm xmlns:a="http://schemas.openxmlformats.org/drawingml/2006/main">
          <a:off x="-4762" y="57150"/>
          <a:ext cx="0" cy="5219700"/>
        </a:xfrm>
        <a:prstGeom xmlns:a="http://schemas.openxmlformats.org/drawingml/2006/main" prst="line">
          <a:avLst/>
        </a:prstGeom>
        <a:noFill xmlns:a="http://schemas.openxmlformats.org/drawingml/2006/main"/>
        <a:ln xmlns:a="http://schemas.openxmlformats.org/drawingml/2006/main">
          <a:noFill/>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cdr:spPr>
    </cdr:cxnSp>
  </cdr:relSizeAnchor>
</c:userShapes>
</file>

<file path=ppt/drawings/drawing3.xml><?xml version="1.0" encoding="utf-8"?>
<c:userShapes xmlns:c="http://schemas.openxmlformats.org/drawingml/2006/chart">
  <cdr:relSizeAnchor xmlns:cdr="http://schemas.openxmlformats.org/drawingml/2006/chartDrawing">
    <cdr:from>
      <cdr:x>0.28827</cdr:x>
      <cdr:y>0.15035</cdr:y>
    </cdr:from>
    <cdr:to>
      <cdr:x>0.71173</cdr:x>
      <cdr:y>0.15035</cdr:y>
    </cdr:to>
    <cdr:cxnSp macro="">
      <cdr:nvCxnSpPr>
        <cdr:cNvPr id="3" name="Straight Connector 2">
          <a:extLst xmlns:a="http://schemas.openxmlformats.org/drawingml/2006/main">
            <a:ext uri="{FF2B5EF4-FFF2-40B4-BE49-F238E27FC236}">
              <a16:creationId xmlns:a16="http://schemas.microsoft.com/office/drawing/2014/main" id="{15D9AF28-9352-1D86-454B-DA14CA5AEE97}"/>
            </a:ext>
          </a:extLst>
        </cdr:cNvPr>
        <cdr:cNvCxnSpPr>
          <a:cxnSpLocks xmlns:a="http://schemas.openxmlformats.org/drawingml/2006/main"/>
        </cdr:cNvCxnSpPr>
      </cdr:nvCxnSpPr>
      <cdr:spPr bwMode="auto">
        <a:xfrm xmlns:a="http://schemas.openxmlformats.org/drawingml/2006/main">
          <a:off x="612681" y="279466"/>
          <a:ext cx="900000" cy="0"/>
        </a:xfrm>
        <a:prstGeom xmlns:a="http://schemas.openxmlformats.org/drawingml/2006/main" prst="line">
          <a:avLst/>
        </a:prstGeom>
        <a:noFill xmlns:a="http://schemas.openxmlformats.org/drawingml/2006/main"/>
        <a:ln xmlns:a="http://schemas.openxmlformats.org/drawingml/2006/main" w="9525" cap="flat" cmpd="sng" algn="ctr">
          <a:solidFill>
            <a:schemeClr val="tx1"/>
          </a:solidFill>
          <a:prstDash val="dash"/>
          <a:round/>
          <a:headEnd type="none" w="med" len="med"/>
          <a:tailEnd type="none" w="med" len="med"/>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cdr:spPr>
    </cdr:cxnSp>
  </cdr:relSizeAnchor>
  <cdr:relSizeAnchor xmlns:cdr="http://schemas.openxmlformats.org/drawingml/2006/chartDrawing">
    <cdr:from>
      <cdr:x>0.42564</cdr:x>
      <cdr:y>0.0451</cdr:y>
    </cdr:from>
    <cdr:to>
      <cdr:x>0.54531</cdr:x>
      <cdr:y>0.13917</cdr:y>
    </cdr:to>
    <cdr:sp macro="" textlink="">
      <cdr:nvSpPr>
        <cdr:cNvPr id="4" name="TextBox 11">
          <a:extLst xmlns:a="http://schemas.openxmlformats.org/drawingml/2006/main">
            <a:ext uri="{FF2B5EF4-FFF2-40B4-BE49-F238E27FC236}">
              <a16:creationId xmlns:a16="http://schemas.microsoft.com/office/drawing/2014/main" id="{174177C2-B731-7F46-67F4-5E6D099B2E2B}"/>
            </a:ext>
          </a:extLst>
        </cdr:cNvPr>
        <cdr:cNvSpPr txBox="1"/>
      </cdr:nvSpPr>
      <cdr:spPr>
        <a:xfrm xmlns:a="http://schemas.openxmlformats.org/drawingml/2006/main">
          <a:off x="904629" y="83826"/>
          <a:ext cx="254360" cy="174851"/>
        </a:xfrm>
        <a:prstGeom xmlns:a="http://schemas.openxmlformats.org/drawingml/2006/main" prst="rect">
          <a:avLst/>
        </a:prstGeom>
        <a:noFill xmlns:a="http://schemas.openxmlformats.org/drawingml/2006/main"/>
      </cdr:spPr>
      <cdr:txBody>
        <a:bodyPr xmlns:a="http://schemas.openxmlformats.org/drawingml/2006/main" wrap="none" lIns="18000" tIns="18000" rIns="18000" bIns="18000" rtlCol="0" anchor="t">
          <a:spAutoFit/>
        </a:bodyPr>
        <a:lstStyle xmlns:a="http://schemas.openxmlformats.org/drawingml/2006/main">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pPr algn="ctr"/>
          <a:r>
            <a:rPr lang="en-US" sz="900" b="0" dirty="0">
              <a:solidFill>
                <a:schemeClr val="tx1"/>
              </a:solidFill>
            </a:rPr>
            <a:t>1.6x</a:t>
          </a:r>
          <a:endParaRPr lang="en-SG" sz="900" b="0" dirty="0">
            <a:solidFill>
              <a:schemeClr val="tx1"/>
            </a:solidFill>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0.28827</cdr:x>
      <cdr:y>0.21209</cdr:y>
    </cdr:from>
    <cdr:to>
      <cdr:x>0.71173</cdr:x>
      <cdr:y>0.21209</cdr:y>
    </cdr:to>
    <cdr:cxnSp macro="">
      <cdr:nvCxnSpPr>
        <cdr:cNvPr id="3" name="Straight Connector 2">
          <a:extLst xmlns:a="http://schemas.openxmlformats.org/drawingml/2006/main">
            <a:ext uri="{FF2B5EF4-FFF2-40B4-BE49-F238E27FC236}">
              <a16:creationId xmlns:a16="http://schemas.microsoft.com/office/drawing/2014/main" id="{15D9AF28-9352-1D86-454B-DA14CA5AEE97}"/>
            </a:ext>
          </a:extLst>
        </cdr:cNvPr>
        <cdr:cNvCxnSpPr>
          <a:cxnSpLocks xmlns:a="http://schemas.openxmlformats.org/drawingml/2006/main"/>
        </cdr:cNvCxnSpPr>
      </cdr:nvCxnSpPr>
      <cdr:spPr bwMode="auto">
        <a:xfrm xmlns:a="http://schemas.openxmlformats.org/drawingml/2006/main">
          <a:off x="612678" y="431872"/>
          <a:ext cx="900006" cy="0"/>
        </a:xfrm>
        <a:prstGeom xmlns:a="http://schemas.openxmlformats.org/drawingml/2006/main" prst="line">
          <a:avLst/>
        </a:prstGeom>
        <a:noFill xmlns:a="http://schemas.openxmlformats.org/drawingml/2006/main"/>
        <a:ln xmlns:a="http://schemas.openxmlformats.org/drawingml/2006/main" w="9525" cap="flat" cmpd="sng" algn="ctr">
          <a:solidFill>
            <a:schemeClr val="tx1"/>
          </a:solidFill>
          <a:prstDash val="dash"/>
          <a:round/>
          <a:headEnd type="none" w="med" len="med"/>
          <a:tailEnd type="none" w="med" len="med"/>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cdr:spPr>
    </cdr:cxnSp>
  </cdr:relSizeAnchor>
  <cdr:relSizeAnchor xmlns:cdr="http://schemas.openxmlformats.org/drawingml/2006/chartDrawing">
    <cdr:from>
      <cdr:x>0.42564</cdr:x>
      <cdr:y>0.1218</cdr:y>
    </cdr:from>
    <cdr:to>
      <cdr:x>0.54531</cdr:x>
      <cdr:y>0.20767</cdr:y>
    </cdr:to>
    <cdr:sp macro="" textlink="">
      <cdr:nvSpPr>
        <cdr:cNvPr id="4" name="TextBox 11">
          <a:extLst xmlns:a="http://schemas.openxmlformats.org/drawingml/2006/main">
            <a:ext uri="{FF2B5EF4-FFF2-40B4-BE49-F238E27FC236}">
              <a16:creationId xmlns:a16="http://schemas.microsoft.com/office/drawing/2014/main" id="{174177C2-B731-7F46-67F4-5E6D099B2E2B}"/>
            </a:ext>
          </a:extLst>
        </cdr:cNvPr>
        <cdr:cNvSpPr txBox="1"/>
      </cdr:nvSpPr>
      <cdr:spPr>
        <a:xfrm xmlns:a="http://schemas.openxmlformats.org/drawingml/2006/main">
          <a:off x="904630" y="248011"/>
          <a:ext cx="254361" cy="174851"/>
        </a:xfrm>
        <a:prstGeom xmlns:a="http://schemas.openxmlformats.org/drawingml/2006/main" prst="rect">
          <a:avLst/>
        </a:prstGeom>
        <a:noFill xmlns:a="http://schemas.openxmlformats.org/drawingml/2006/main"/>
      </cdr:spPr>
      <cdr:txBody>
        <a:bodyPr xmlns:a="http://schemas.openxmlformats.org/drawingml/2006/main" wrap="none" lIns="18000" tIns="18000" rIns="18000" bIns="18000" rtlCol="0" anchor="t">
          <a:spAutoFit/>
        </a:bodyPr>
        <a:lstStyle xmlns:a="http://schemas.openxmlformats.org/drawingml/2006/main">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pPr algn="ctr"/>
          <a:r>
            <a:rPr lang="en-US" sz="900" b="0" dirty="0">
              <a:solidFill>
                <a:schemeClr val="tx1"/>
              </a:solidFill>
            </a:rPr>
            <a:t>2.0x</a:t>
          </a:r>
          <a:endParaRPr lang="en-SG" sz="900" b="0" dirty="0">
            <a:solidFill>
              <a:schemeClr val="tx1"/>
            </a:solidFill>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0.29145</cdr:x>
      <cdr:y>0.468</cdr:y>
    </cdr:from>
    <cdr:to>
      <cdr:x>0.71491</cdr:x>
      <cdr:y>0.468</cdr:y>
    </cdr:to>
    <cdr:cxnSp macro="">
      <cdr:nvCxnSpPr>
        <cdr:cNvPr id="3" name="Straight Connector 2">
          <a:extLst xmlns:a="http://schemas.openxmlformats.org/drawingml/2006/main">
            <a:ext uri="{FF2B5EF4-FFF2-40B4-BE49-F238E27FC236}">
              <a16:creationId xmlns:a16="http://schemas.microsoft.com/office/drawing/2014/main" id="{15D9AF28-9352-1D86-454B-DA14CA5AEE97}"/>
            </a:ext>
          </a:extLst>
        </cdr:cNvPr>
        <cdr:cNvCxnSpPr>
          <a:cxnSpLocks xmlns:a="http://schemas.openxmlformats.org/drawingml/2006/main"/>
        </cdr:cNvCxnSpPr>
      </cdr:nvCxnSpPr>
      <cdr:spPr bwMode="auto">
        <a:xfrm xmlns:a="http://schemas.openxmlformats.org/drawingml/2006/main">
          <a:off x="619437" y="869912"/>
          <a:ext cx="900006" cy="0"/>
        </a:xfrm>
        <a:prstGeom xmlns:a="http://schemas.openxmlformats.org/drawingml/2006/main" prst="line">
          <a:avLst/>
        </a:prstGeom>
        <a:noFill xmlns:a="http://schemas.openxmlformats.org/drawingml/2006/main"/>
        <a:ln xmlns:a="http://schemas.openxmlformats.org/drawingml/2006/main" w="9525" cap="flat" cmpd="sng" algn="ctr">
          <a:solidFill>
            <a:schemeClr val="tx1"/>
          </a:solidFill>
          <a:prstDash val="dash"/>
          <a:round/>
          <a:headEnd type="none" w="med" len="med"/>
          <a:tailEnd type="none" w="med" len="med"/>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cdr:spPr>
    </cdr:cxnSp>
  </cdr:relSizeAnchor>
  <cdr:relSizeAnchor xmlns:cdr="http://schemas.openxmlformats.org/drawingml/2006/chartDrawing">
    <cdr:from>
      <cdr:x>0.42882</cdr:x>
      <cdr:y>0.36275</cdr:y>
    </cdr:from>
    <cdr:to>
      <cdr:x>0.54849</cdr:x>
      <cdr:y>0.45681</cdr:y>
    </cdr:to>
    <cdr:sp macro="" textlink="">
      <cdr:nvSpPr>
        <cdr:cNvPr id="4" name="TextBox 11">
          <a:extLst xmlns:a="http://schemas.openxmlformats.org/drawingml/2006/main">
            <a:ext uri="{FF2B5EF4-FFF2-40B4-BE49-F238E27FC236}">
              <a16:creationId xmlns:a16="http://schemas.microsoft.com/office/drawing/2014/main" id="{174177C2-B731-7F46-67F4-5E6D099B2E2B}"/>
            </a:ext>
          </a:extLst>
        </cdr:cNvPr>
        <cdr:cNvSpPr txBox="1"/>
      </cdr:nvSpPr>
      <cdr:spPr>
        <a:xfrm xmlns:a="http://schemas.openxmlformats.org/drawingml/2006/main">
          <a:off x="911398" y="674276"/>
          <a:ext cx="254342" cy="174837"/>
        </a:xfrm>
        <a:prstGeom xmlns:a="http://schemas.openxmlformats.org/drawingml/2006/main" prst="rect">
          <a:avLst/>
        </a:prstGeom>
        <a:noFill xmlns:a="http://schemas.openxmlformats.org/drawingml/2006/main"/>
      </cdr:spPr>
      <cdr:txBody>
        <a:bodyPr xmlns:a="http://schemas.openxmlformats.org/drawingml/2006/main" wrap="none" lIns="18000" tIns="18000" rIns="18000" bIns="18000" rtlCol="0" anchor="t">
          <a:spAutoFit/>
        </a:bodyPr>
        <a:lstStyle xmlns:a="http://schemas.openxmlformats.org/drawingml/2006/main">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pPr algn="ctr"/>
          <a:r>
            <a:rPr lang="en-US" sz="900" b="0" dirty="0">
              <a:solidFill>
                <a:schemeClr val="tx1"/>
              </a:solidFill>
            </a:rPr>
            <a:t>0.5x</a:t>
          </a:r>
          <a:endParaRPr lang="en-SG" sz="900" b="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0.28827</cdr:x>
      <cdr:y>0.13447</cdr:y>
    </cdr:from>
    <cdr:to>
      <cdr:x>0.71173</cdr:x>
      <cdr:y>0.13447</cdr:y>
    </cdr:to>
    <cdr:cxnSp macro="">
      <cdr:nvCxnSpPr>
        <cdr:cNvPr id="3" name="Straight Connector 2">
          <a:extLst xmlns:a="http://schemas.openxmlformats.org/drawingml/2006/main">
            <a:ext uri="{FF2B5EF4-FFF2-40B4-BE49-F238E27FC236}">
              <a16:creationId xmlns:a16="http://schemas.microsoft.com/office/drawing/2014/main" id="{15D9AF28-9352-1D86-454B-DA14CA5AEE97}"/>
            </a:ext>
          </a:extLst>
        </cdr:cNvPr>
        <cdr:cNvCxnSpPr>
          <a:cxnSpLocks xmlns:a="http://schemas.openxmlformats.org/drawingml/2006/main"/>
        </cdr:cNvCxnSpPr>
      </cdr:nvCxnSpPr>
      <cdr:spPr bwMode="auto">
        <a:xfrm xmlns:a="http://schemas.openxmlformats.org/drawingml/2006/main">
          <a:off x="612678" y="248033"/>
          <a:ext cx="900006" cy="0"/>
        </a:xfrm>
        <a:prstGeom xmlns:a="http://schemas.openxmlformats.org/drawingml/2006/main" prst="line">
          <a:avLst/>
        </a:prstGeom>
        <a:noFill xmlns:a="http://schemas.openxmlformats.org/drawingml/2006/main"/>
        <a:ln xmlns:a="http://schemas.openxmlformats.org/drawingml/2006/main" w="9525" cap="flat" cmpd="sng" algn="ctr">
          <a:solidFill>
            <a:schemeClr val="tx1"/>
          </a:solidFill>
          <a:prstDash val="dash"/>
          <a:round/>
          <a:headEnd type="none" w="med" len="med"/>
          <a:tailEnd type="none" w="med" len="med"/>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cdr:spPr>
    </cdr:cxnSp>
  </cdr:relSizeAnchor>
  <cdr:relSizeAnchor xmlns:cdr="http://schemas.openxmlformats.org/drawingml/2006/chartDrawing">
    <cdr:from>
      <cdr:x>0.42564</cdr:x>
      <cdr:y>0.02431</cdr:y>
    </cdr:from>
    <cdr:to>
      <cdr:x>0.54531</cdr:x>
      <cdr:y>0.11018</cdr:y>
    </cdr:to>
    <cdr:sp macro="" textlink="">
      <cdr:nvSpPr>
        <cdr:cNvPr id="4" name="TextBox 11">
          <a:extLst xmlns:a="http://schemas.openxmlformats.org/drawingml/2006/main">
            <a:ext uri="{FF2B5EF4-FFF2-40B4-BE49-F238E27FC236}">
              <a16:creationId xmlns:a16="http://schemas.microsoft.com/office/drawing/2014/main" id="{174177C2-B731-7F46-67F4-5E6D099B2E2B}"/>
            </a:ext>
          </a:extLst>
        </cdr:cNvPr>
        <cdr:cNvSpPr txBox="1"/>
      </cdr:nvSpPr>
      <cdr:spPr>
        <a:xfrm xmlns:a="http://schemas.openxmlformats.org/drawingml/2006/main">
          <a:off x="904630" y="42847"/>
          <a:ext cx="254361" cy="151331"/>
        </a:xfrm>
        <a:prstGeom xmlns:a="http://schemas.openxmlformats.org/drawingml/2006/main" prst="rect">
          <a:avLst/>
        </a:prstGeom>
        <a:noFill xmlns:a="http://schemas.openxmlformats.org/drawingml/2006/main"/>
      </cdr:spPr>
      <cdr:txBody>
        <a:bodyPr xmlns:a="http://schemas.openxmlformats.org/drawingml/2006/main" wrap="none" lIns="18000" tIns="18000" rIns="18000" bIns="18000" rtlCol="0" anchor="t">
          <a:spAutoFit/>
        </a:bodyPr>
        <a:lstStyle xmlns:a="http://schemas.openxmlformats.org/drawingml/2006/main">
          <a:defPPr>
            <a:defRPr lang="en-US"/>
          </a:defPPr>
          <a:lvl1pPr algn="l" rtl="0" fontAlgn="base">
            <a:spcBef>
              <a:spcPct val="0"/>
            </a:spcBef>
            <a:spcAft>
              <a:spcPct val="0"/>
            </a:spcAft>
            <a:defRPr sz="2400" b="1" kern="1200">
              <a:solidFill>
                <a:schemeClr val="bg2"/>
              </a:solidFill>
              <a:latin typeface="Arial" charset="0"/>
              <a:ea typeface="+mn-ea"/>
              <a:cs typeface="Arial" charset="0"/>
            </a:defRPr>
          </a:lvl1pPr>
          <a:lvl2pPr marL="457200" algn="l" rtl="0" fontAlgn="base">
            <a:spcBef>
              <a:spcPct val="0"/>
            </a:spcBef>
            <a:spcAft>
              <a:spcPct val="0"/>
            </a:spcAft>
            <a:defRPr sz="2400" b="1" kern="1200">
              <a:solidFill>
                <a:schemeClr val="bg2"/>
              </a:solidFill>
              <a:latin typeface="Arial" charset="0"/>
              <a:ea typeface="+mn-ea"/>
              <a:cs typeface="Arial" charset="0"/>
            </a:defRPr>
          </a:lvl2pPr>
          <a:lvl3pPr marL="914400" algn="l" rtl="0" fontAlgn="base">
            <a:spcBef>
              <a:spcPct val="0"/>
            </a:spcBef>
            <a:spcAft>
              <a:spcPct val="0"/>
            </a:spcAft>
            <a:defRPr sz="2400" b="1" kern="1200">
              <a:solidFill>
                <a:schemeClr val="bg2"/>
              </a:solidFill>
              <a:latin typeface="Arial" charset="0"/>
              <a:ea typeface="+mn-ea"/>
              <a:cs typeface="Arial" charset="0"/>
            </a:defRPr>
          </a:lvl3pPr>
          <a:lvl4pPr marL="1371600" algn="l" rtl="0" fontAlgn="base">
            <a:spcBef>
              <a:spcPct val="0"/>
            </a:spcBef>
            <a:spcAft>
              <a:spcPct val="0"/>
            </a:spcAft>
            <a:defRPr sz="2400" b="1" kern="1200">
              <a:solidFill>
                <a:schemeClr val="bg2"/>
              </a:solidFill>
              <a:latin typeface="Arial" charset="0"/>
              <a:ea typeface="+mn-ea"/>
              <a:cs typeface="Arial" charset="0"/>
            </a:defRPr>
          </a:lvl4pPr>
          <a:lvl5pPr marL="1828800" algn="l" rtl="0" fontAlgn="base">
            <a:spcBef>
              <a:spcPct val="0"/>
            </a:spcBef>
            <a:spcAft>
              <a:spcPct val="0"/>
            </a:spcAft>
            <a:defRPr sz="2400" b="1" kern="1200">
              <a:solidFill>
                <a:schemeClr val="bg2"/>
              </a:solidFill>
              <a:latin typeface="Arial" charset="0"/>
              <a:ea typeface="+mn-ea"/>
              <a:cs typeface="Arial" charset="0"/>
            </a:defRPr>
          </a:lvl5pPr>
          <a:lvl6pPr marL="2286000" algn="l" defTabSz="914400" rtl="0" eaLnBrk="1" latinLnBrk="0" hangingPunct="1">
            <a:defRPr sz="2400" b="1" kern="1200">
              <a:solidFill>
                <a:schemeClr val="bg2"/>
              </a:solidFill>
              <a:latin typeface="Arial" charset="0"/>
              <a:ea typeface="+mn-ea"/>
              <a:cs typeface="Arial" charset="0"/>
            </a:defRPr>
          </a:lvl6pPr>
          <a:lvl7pPr marL="2743200" algn="l" defTabSz="914400" rtl="0" eaLnBrk="1" latinLnBrk="0" hangingPunct="1">
            <a:defRPr sz="2400" b="1" kern="1200">
              <a:solidFill>
                <a:schemeClr val="bg2"/>
              </a:solidFill>
              <a:latin typeface="Arial" charset="0"/>
              <a:ea typeface="+mn-ea"/>
              <a:cs typeface="Arial" charset="0"/>
            </a:defRPr>
          </a:lvl7pPr>
          <a:lvl8pPr marL="3200400" algn="l" defTabSz="914400" rtl="0" eaLnBrk="1" latinLnBrk="0" hangingPunct="1">
            <a:defRPr sz="2400" b="1" kern="1200">
              <a:solidFill>
                <a:schemeClr val="bg2"/>
              </a:solidFill>
              <a:latin typeface="Arial" charset="0"/>
              <a:ea typeface="+mn-ea"/>
              <a:cs typeface="Arial" charset="0"/>
            </a:defRPr>
          </a:lvl8pPr>
          <a:lvl9pPr marL="3657600" algn="l" defTabSz="914400" rtl="0" eaLnBrk="1" latinLnBrk="0" hangingPunct="1">
            <a:defRPr sz="2400" b="1" kern="1200">
              <a:solidFill>
                <a:schemeClr val="bg2"/>
              </a:solidFill>
              <a:latin typeface="Arial" charset="0"/>
              <a:ea typeface="+mn-ea"/>
              <a:cs typeface="Arial" charset="0"/>
            </a:defRPr>
          </a:lvl9pPr>
        </a:lstStyle>
        <a:p xmlns:a="http://schemas.openxmlformats.org/drawingml/2006/main">
          <a:pPr algn="ctr"/>
          <a:r>
            <a:rPr lang="en-US" sz="900" b="0" dirty="0">
              <a:solidFill>
                <a:schemeClr val="tx1"/>
              </a:solidFill>
            </a:rPr>
            <a:t>1.2x</a:t>
          </a:r>
          <a:endParaRPr lang="en-SG" sz="900" b="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0.75563</cdr:x>
      <cdr:y>0.72223</cdr:y>
    </cdr:from>
    <cdr:to>
      <cdr:x>0.8896</cdr:x>
      <cdr:y>0.8008</cdr:y>
    </cdr:to>
    <cdr:sp macro="" textlink="">
      <cdr:nvSpPr>
        <cdr:cNvPr id="2" name="TextBox 1">
          <a:extLst xmlns:a="http://schemas.openxmlformats.org/drawingml/2006/main">
            <a:ext uri="{FF2B5EF4-FFF2-40B4-BE49-F238E27FC236}">
              <a16:creationId xmlns:a16="http://schemas.microsoft.com/office/drawing/2014/main" id="{7C7E6AD3-DC57-DDFA-3FB7-8C1208DFD73E}"/>
            </a:ext>
          </a:extLst>
        </cdr:cNvPr>
        <cdr:cNvSpPr txBox="1"/>
      </cdr:nvSpPr>
      <cdr:spPr>
        <a:xfrm xmlns:a="http://schemas.openxmlformats.org/drawingml/2006/main">
          <a:off x="6715126" y="2648500"/>
          <a:ext cx="1190625" cy="288147"/>
        </a:xfrm>
        <a:prstGeom xmlns:a="http://schemas.openxmlformats.org/drawingml/2006/main" prst="rect">
          <a:avLst/>
        </a:prstGeom>
        <a:noFill xmlns:a="http://schemas.openxmlformats.org/drawingml/2006/main"/>
        <a:ln xmlns:a="http://schemas.openxmlformats.org/drawingml/2006/main" w="6350">
          <a:noFill/>
          <a:prstDash val="dash"/>
        </a:ln>
      </cdr:spPr>
      <cdr:txBody>
        <a:bodyPr xmlns:a="http://schemas.openxmlformats.org/drawingml/2006/main" vertOverflow="clip" wrap="square" lIns="36000" tIns="36000" rIns="36000" bIns="36000" rtlCol="0" anchor="t">
          <a:spAutoFit/>
        </a:bodyPr>
        <a:lstStyle xmlns:a="http://schemas.openxmlformats.org/drawingml/2006/main"/>
        <a:p xmlns:a="http://schemas.openxmlformats.org/drawingml/2006/main">
          <a:pPr algn="l">
            <a:spcAft>
              <a:spcPts val="200"/>
            </a:spcAft>
          </a:pPr>
          <a:r>
            <a:rPr lang="en-US" sz="700" b="0" kern="1200" dirty="0">
              <a:solidFill>
                <a:schemeClr val="tx1"/>
              </a:solidFill>
            </a:rPr>
            <a:t>(Rebased </a:t>
          </a:r>
          <a:r>
            <a:rPr lang="en-US" sz="700" kern="1200" dirty="0">
              <a:solidFill>
                <a:schemeClr val="tx1"/>
              </a:solidFill>
            </a:rPr>
            <a:t>t</a:t>
          </a:r>
          <a:r>
            <a:rPr lang="en-US" sz="700" b="0" kern="1200" dirty="0">
              <a:solidFill>
                <a:schemeClr val="tx1"/>
              </a:solidFill>
            </a:rPr>
            <a:t>o DCREIT IPO Price of US$0.88)</a:t>
          </a:r>
          <a:endParaRPr lang="en-SG" sz="700" b="0" kern="12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0.6857</cdr:x>
      <cdr:y>0.54802</cdr:y>
    </cdr:from>
    <cdr:to>
      <cdr:x>0.90724</cdr:x>
      <cdr:y>0.65311</cdr:y>
    </cdr:to>
    <cdr:sp macro="" textlink="">
      <cdr:nvSpPr>
        <cdr:cNvPr id="3" name="TextBox 1">
          <a:extLst xmlns:a="http://schemas.openxmlformats.org/drawingml/2006/main">
            <a:ext uri="{FF2B5EF4-FFF2-40B4-BE49-F238E27FC236}">
              <a16:creationId xmlns:a16="http://schemas.microsoft.com/office/drawing/2014/main" id="{6E242B13-EC5D-224A-844E-28A93ED9412E}"/>
            </a:ext>
          </a:extLst>
        </cdr:cNvPr>
        <cdr:cNvSpPr txBox="1"/>
      </cdr:nvSpPr>
      <cdr:spPr>
        <a:xfrm xmlns:a="http://schemas.openxmlformats.org/drawingml/2006/main">
          <a:off x="3174187" y="1075302"/>
          <a:ext cx="1025564" cy="206198"/>
        </a:xfrm>
        <a:prstGeom xmlns:a="http://schemas.openxmlformats.org/drawingml/2006/main" prst="rect">
          <a:avLst/>
        </a:prstGeom>
        <a:noFill xmlns:a="http://schemas.openxmlformats.org/drawingml/2006/main"/>
        <a:ln xmlns:a="http://schemas.openxmlformats.org/drawingml/2006/main" w="6350">
          <a:noFill/>
          <a:prstDash val="dash"/>
        </a:ln>
      </cdr:spPr>
      <cdr:txBody>
        <a:bodyPr xmlns:a="http://schemas.openxmlformats.org/drawingml/2006/main" wrap="square" lIns="36000" tIns="36000" rIns="36000" bIns="36000" rtlCol="0" anchor="t">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spcAft>
              <a:spcPts val="200"/>
            </a:spcAft>
          </a:pPr>
          <a:r>
            <a:rPr lang="en-US" sz="900" b="1" kern="1200" dirty="0">
              <a:solidFill>
                <a:schemeClr val="tx1"/>
              </a:solidFill>
            </a:rPr>
            <a:t>IPO Price: S$0.88</a:t>
          </a:r>
          <a:endParaRPr lang="en-SG" sz="900" b="1" kern="1200" dirty="0">
            <a:solidFill>
              <a:schemeClr val="tx1"/>
            </a:solidFill>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13" y="18"/>
            <a:ext cx="4030382" cy="350372"/>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defTabSz="982656">
              <a:defRPr sz="1200" b="0">
                <a:solidFill>
                  <a:schemeClr val="tx1"/>
                </a:solidFill>
              </a:defRPr>
            </a:lvl1pPr>
          </a:lstStyle>
          <a:p>
            <a:endParaRPr lang="en-US"/>
          </a:p>
        </p:txBody>
      </p:sp>
      <p:sp>
        <p:nvSpPr>
          <p:cNvPr id="32771" name="Rectangle 3"/>
          <p:cNvSpPr>
            <a:spLocks noGrp="1" noChangeArrowheads="1"/>
          </p:cNvSpPr>
          <p:nvPr>
            <p:ph type="dt" sz="quarter" idx="1"/>
          </p:nvPr>
        </p:nvSpPr>
        <p:spPr bwMode="auto">
          <a:xfrm>
            <a:off x="5265425" y="18"/>
            <a:ext cx="4030381" cy="350372"/>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algn="r" defTabSz="982656">
              <a:defRPr sz="1200" b="0">
                <a:solidFill>
                  <a:schemeClr val="tx1"/>
                </a:solidFill>
              </a:defRPr>
            </a:lvl1pPr>
          </a:lstStyle>
          <a:p>
            <a:endParaRPr lang="en-US"/>
          </a:p>
        </p:txBody>
      </p:sp>
      <p:sp>
        <p:nvSpPr>
          <p:cNvPr id="32772" name="Rectangle 4"/>
          <p:cNvSpPr>
            <a:spLocks noGrp="1" noChangeArrowheads="1"/>
          </p:cNvSpPr>
          <p:nvPr>
            <p:ph type="ftr" sz="quarter" idx="2"/>
          </p:nvPr>
        </p:nvSpPr>
        <p:spPr bwMode="auto">
          <a:xfrm>
            <a:off x="13" y="6660492"/>
            <a:ext cx="4030382" cy="350372"/>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defTabSz="982656">
              <a:defRPr sz="1200" b="0">
                <a:solidFill>
                  <a:schemeClr val="tx1"/>
                </a:solidFill>
              </a:defRPr>
            </a:lvl1pPr>
          </a:lstStyle>
          <a:p>
            <a:endParaRPr lang="en-US"/>
          </a:p>
        </p:txBody>
      </p:sp>
      <p:sp>
        <p:nvSpPr>
          <p:cNvPr id="32773" name="Rectangle 5"/>
          <p:cNvSpPr>
            <a:spLocks noGrp="1" noChangeArrowheads="1"/>
          </p:cNvSpPr>
          <p:nvPr>
            <p:ph type="sldNum" sz="quarter" idx="3"/>
          </p:nvPr>
        </p:nvSpPr>
        <p:spPr bwMode="auto">
          <a:xfrm>
            <a:off x="5265425" y="6310120"/>
            <a:ext cx="4030381" cy="350372"/>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algn="r" defTabSz="982656">
              <a:defRPr sz="1200" b="0">
                <a:solidFill>
                  <a:schemeClr val="tx1"/>
                </a:solidFill>
              </a:defRPr>
            </a:lvl1pPr>
          </a:lstStyle>
          <a:p>
            <a:fld id="{6BDA94E7-9D81-40A4-AE72-6D574768819A}"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13" y="18"/>
            <a:ext cx="4030382" cy="350372"/>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defTabSz="982656">
              <a:defRPr sz="1200" b="0">
                <a:solidFill>
                  <a:schemeClr val="tx1"/>
                </a:solidFill>
              </a:defRPr>
            </a:lvl1pPr>
          </a:lstStyle>
          <a:p>
            <a:endParaRPr lang="en-US"/>
          </a:p>
        </p:txBody>
      </p:sp>
      <p:sp>
        <p:nvSpPr>
          <p:cNvPr id="20483" name="Rectangle 3"/>
          <p:cNvSpPr>
            <a:spLocks noGrp="1" noChangeArrowheads="1"/>
          </p:cNvSpPr>
          <p:nvPr>
            <p:ph type="dt" idx="1"/>
          </p:nvPr>
        </p:nvSpPr>
        <p:spPr bwMode="auto">
          <a:xfrm>
            <a:off x="5265425" y="18"/>
            <a:ext cx="4030381" cy="350372"/>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lvl1pPr algn="r" defTabSz="982656">
              <a:defRPr sz="1200" b="0">
                <a:solidFill>
                  <a:schemeClr val="tx1"/>
                </a:solidFill>
              </a:defRPr>
            </a:lvl1pPr>
          </a:lstStyle>
          <a:p>
            <a:endParaRPr lang="en-US"/>
          </a:p>
        </p:txBody>
      </p:sp>
      <p:sp>
        <p:nvSpPr>
          <p:cNvPr id="49156" name="Rectangle 4"/>
          <p:cNvSpPr>
            <a:spLocks noGrp="1" noRot="1" noChangeAspect="1" noChangeArrowheads="1" noTextEdit="1"/>
          </p:cNvSpPr>
          <p:nvPr>
            <p:ph type="sldImg" idx="2"/>
          </p:nvPr>
        </p:nvSpPr>
        <p:spPr bwMode="auto">
          <a:xfrm>
            <a:off x="2751138" y="525463"/>
            <a:ext cx="3798887" cy="2632075"/>
          </a:xfrm>
          <a:prstGeom prst="rect">
            <a:avLst/>
          </a:prstGeom>
          <a:noFill/>
          <a:ln w="9525">
            <a:solidFill>
              <a:srgbClr val="000000"/>
            </a:solidFill>
            <a:miter lim="800000"/>
            <a:headEnd/>
            <a:tailEnd/>
          </a:ln>
        </p:spPr>
        <p:txBody>
          <a:bodyPr/>
          <a:lstStyle/>
          <a:p>
            <a:endParaRPr lang="en-SG"/>
          </a:p>
        </p:txBody>
      </p:sp>
      <p:sp>
        <p:nvSpPr>
          <p:cNvPr id="20485" name="Rectangle 5"/>
          <p:cNvSpPr>
            <a:spLocks noGrp="1" noChangeArrowheads="1"/>
          </p:cNvSpPr>
          <p:nvPr>
            <p:ph type="body" sz="quarter" idx="3"/>
          </p:nvPr>
        </p:nvSpPr>
        <p:spPr bwMode="auto">
          <a:xfrm>
            <a:off x="929601" y="3332538"/>
            <a:ext cx="7438835" cy="3153340"/>
          </a:xfrm>
          <a:prstGeom prst="rect">
            <a:avLst/>
          </a:prstGeom>
          <a:noFill/>
          <a:ln w="9525">
            <a:noFill/>
            <a:miter lim="800000"/>
            <a:headEnd/>
            <a:tailEnd/>
          </a:ln>
          <a:effectLst/>
        </p:spPr>
        <p:txBody>
          <a:bodyPr vert="horz" wrap="square" lIns="98230" tIns="49113" rIns="98230" bIns="491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6" name="Rectangle 6"/>
          <p:cNvSpPr>
            <a:spLocks noGrp="1" noChangeArrowheads="1"/>
          </p:cNvSpPr>
          <p:nvPr>
            <p:ph type="ftr" sz="quarter" idx="4"/>
          </p:nvPr>
        </p:nvSpPr>
        <p:spPr bwMode="auto">
          <a:xfrm>
            <a:off x="13" y="6660492"/>
            <a:ext cx="4030382" cy="350372"/>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defTabSz="982656">
              <a:defRPr sz="1200" b="0">
                <a:solidFill>
                  <a:schemeClr val="tx1"/>
                </a:solidFill>
              </a:defRPr>
            </a:lvl1pPr>
          </a:lstStyle>
          <a:p>
            <a:endParaRPr lang="en-US"/>
          </a:p>
        </p:txBody>
      </p:sp>
      <p:sp>
        <p:nvSpPr>
          <p:cNvPr id="20487" name="Rectangle 7"/>
          <p:cNvSpPr>
            <a:spLocks noGrp="1" noChangeArrowheads="1"/>
          </p:cNvSpPr>
          <p:nvPr>
            <p:ph type="sldNum" sz="quarter" idx="5"/>
          </p:nvPr>
        </p:nvSpPr>
        <p:spPr bwMode="auto">
          <a:xfrm>
            <a:off x="5265425" y="6660492"/>
            <a:ext cx="4030381" cy="350372"/>
          </a:xfrm>
          <a:prstGeom prst="rect">
            <a:avLst/>
          </a:prstGeom>
          <a:noFill/>
          <a:ln w="9525">
            <a:noFill/>
            <a:miter lim="800000"/>
            <a:headEnd/>
            <a:tailEnd/>
          </a:ln>
          <a:effectLst/>
        </p:spPr>
        <p:txBody>
          <a:bodyPr vert="horz" wrap="square" lIns="98230" tIns="49113" rIns="98230" bIns="49113" numCol="1" anchor="b" anchorCtr="0" compatLnSpc="1">
            <a:prstTxWarp prst="textNoShape">
              <a:avLst/>
            </a:prstTxWarp>
          </a:bodyPr>
          <a:lstStyle>
            <a:lvl1pPr algn="r" defTabSz="982656">
              <a:defRPr sz="1200" b="0">
                <a:solidFill>
                  <a:schemeClr val="tx1"/>
                </a:solidFill>
              </a:defRPr>
            </a:lvl1pPr>
          </a:lstStyle>
          <a:p>
            <a:fld id="{A4DF32EF-BEE2-467E-A20C-05D0FECFF7E5}"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A4DF32EF-BEE2-467E-A20C-05D0FECFF7E5}" type="slidenum">
              <a:rPr lang="en-US" smtClean="0"/>
              <a:pPr/>
              <a:t>1</a:t>
            </a:fld>
            <a:endParaRPr lang="en-US"/>
          </a:p>
        </p:txBody>
      </p:sp>
    </p:spTree>
    <p:extLst>
      <p:ext uri="{BB962C8B-B14F-4D97-AF65-F5344CB8AC3E}">
        <p14:creationId xmlns:p14="http://schemas.microsoft.com/office/powerpoint/2010/main" val="189361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F5F95-708E-3DE0-C2D2-CA648E184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E4CAA-4025-05B6-6E1C-02FB90079F4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D57F5D3-9969-4ABE-D0EF-EC57288FE5A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596B3B59-6173-E702-9217-410ABCD89BA1}"/>
              </a:ext>
            </a:extLst>
          </p:cNvPr>
          <p:cNvSpPr>
            <a:spLocks noGrp="1"/>
          </p:cNvSpPr>
          <p:nvPr>
            <p:ph type="sldNum" sz="quarter" idx="5"/>
          </p:nvPr>
        </p:nvSpPr>
        <p:spPr/>
        <p:txBody>
          <a:bodyPr/>
          <a:lstStyle/>
          <a:p>
            <a:fld id="{A4DF32EF-BEE2-467E-A20C-05D0FECFF7E5}" type="slidenum">
              <a:rPr lang="en-US" smtClean="0"/>
              <a:pPr/>
              <a:t>3</a:t>
            </a:fld>
            <a:endParaRPr lang="en-US"/>
          </a:p>
        </p:txBody>
      </p:sp>
    </p:spTree>
    <p:extLst>
      <p:ext uri="{BB962C8B-B14F-4D97-AF65-F5344CB8AC3E}">
        <p14:creationId xmlns:p14="http://schemas.microsoft.com/office/powerpoint/2010/main" val="451780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A4DF32EF-BEE2-467E-A20C-05D0FECFF7E5}" type="slidenum">
              <a:rPr lang="en-US" smtClean="0"/>
              <a:pPr/>
              <a:t>4</a:t>
            </a:fld>
            <a:endParaRPr lang="en-US"/>
          </a:p>
        </p:txBody>
      </p:sp>
    </p:spTree>
    <p:extLst>
      <p:ext uri="{BB962C8B-B14F-4D97-AF65-F5344CB8AC3E}">
        <p14:creationId xmlns:p14="http://schemas.microsoft.com/office/powerpoint/2010/main" val="467371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marL="0" marR="0" lvl="0" indent="0" algn="r" defTabSz="795670" rtl="0" eaLnBrk="1" fontAlgn="base" latinLnBrk="0" hangingPunct="1">
              <a:lnSpc>
                <a:spcPct val="100000"/>
              </a:lnSpc>
              <a:spcBef>
                <a:spcPct val="0"/>
              </a:spcBef>
              <a:spcAft>
                <a:spcPct val="0"/>
              </a:spcAft>
              <a:buClrTx/>
              <a:buSzTx/>
              <a:buFontTx/>
              <a:buNone/>
              <a:tabLst/>
              <a:defRPr/>
            </a:pPr>
            <a:fld id="{A4DF32EF-BEE2-467E-A20C-05D0FECFF7E5}" type="slidenum">
              <a:rPr kumimoji="0" lang="en-US" sz="9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795670" rtl="0" eaLnBrk="1" fontAlgn="base" latinLnBrk="0" hangingPunct="1">
                <a:lnSpc>
                  <a:spcPct val="100000"/>
                </a:lnSpc>
                <a:spcBef>
                  <a:spcPct val="0"/>
                </a:spcBef>
                <a:spcAft>
                  <a:spcPct val="0"/>
                </a:spcAft>
                <a:buClrTx/>
                <a:buSzTx/>
                <a:buFontTx/>
                <a:buNone/>
                <a:tabLst/>
                <a:defRPr/>
              </a:pPr>
              <a:t>12</a:t>
            </a:fld>
            <a:endParaRPr kumimoji="0" lang="en-US" sz="9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2919802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marL="0" marR="0" lvl="0" indent="0" algn="r" defTabSz="795670" rtl="0" eaLnBrk="1" fontAlgn="base" latinLnBrk="0" hangingPunct="1">
              <a:lnSpc>
                <a:spcPct val="100000"/>
              </a:lnSpc>
              <a:spcBef>
                <a:spcPct val="0"/>
              </a:spcBef>
              <a:spcAft>
                <a:spcPct val="0"/>
              </a:spcAft>
              <a:buClrTx/>
              <a:buSzTx/>
              <a:buFontTx/>
              <a:buNone/>
              <a:tabLst/>
              <a:defRPr/>
            </a:pPr>
            <a:fld id="{A4DF32EF-BEE2-467E-A20C-05D0FECFF7E5}" type="slidenum">
              <a:rPr kumimoji="0" lang="en-US" sz="9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r" defTabSz="795670" rtl="0" eaLnBrk="1" fontAlgn="base" latinLnBrk="0" hangingPunct="1">
                <a:lnSpc>
                  <a:spcPct val="100000"/>
                </a:lnSpc>
                <a:spcBef>
                  <a:spcPct val="0"/>
                </a:spcBef>
                <a:spcAft>
                  <a:spcPct val="0"/>
                </a:spcAft>
                <a:buClrTx/>
                <a:buSzTx/>
                <a:buFontTx/>
                <a:buNone/>
                <a:tabLst/>
                <a:defRPr/>
              </a:pPr>
              <a:t>13</a:t>
            </a:fld>
            <a:endParaRPr kumimoji="0" lang="en-US" sz="900" b="0" i="0" u="none" strike="noStrike" kern="1200" cap="none" spc="0" normalizeH="0" baseline="0" noProof="0">
              <a:ln>
                <a:noFill/>
              </a:ln>
              <a:solidFill>
                <a:srgbClr val="000000"/>
              </a:solidFill>
              <a:effectLst/>
              <a:uLnTx/>
              <a:uFillTx/>
              <a:latin typeface="Arial" charset="0"/>
              <a:ea typeface="+mn-ea"/>
              <a:cs typeface="Arial" charset="0"/>
            </a:endParaRPr>
          </a:p>
        </p:txBody>
      </p:sp>
    </p:spTree>
    <p:extLst>
      <p:ext uri="{BB962C8B-B14F-4D97-AF65-F5344CB8AC3E}">
        <p14:creationId xmlns:p14="http://schemas.microsoft.com/office/powerpoint/2010/main" val="27989908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24</a:t>
            </a:fld>
            <a:endParaRPr lang="en-US"/>
          </a:p>
        </p:txBody>
      </p:sp>
    </p:spTree>
    <p:extLst>
      <p:ext uri="{BB962C8B-B14F-4D97-AF65-F5344CB8AC3E}">
        <p14:creationId xmlns:p14="http://schemas.microsoft.com/office/powerpoint/2010/main" val="3483492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DF32EF-BEE2-467E-A20C-05D0FECFF7E5}" type="slidenum">
              <a:rPr lang="en-US" smtClean="0"/>
              <a:pPr/>
              <a:t>25</a:t>
            </a:fld>
            <a:endParaRPr lang="en-US"/>
          </a:p>
        </p:txBody>
      </p:sp>
    </p:spTree>
    <p:extLst>
      <p:ext uri="{BB962C8B-B14F-4D97-AF65-F5344CB8AC3E}">
        <p14:creationId xmlns:p14="http://schemas.microsoft.com/office/powerpoint/2010/main" val="3837109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8DAE9-B669-ED67-BBA1-ECD89DFF8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1A5E2-8CAA-BE37-8E8D-642CB3798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BC144-C9CD-7474-864C-63CB2273A5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AB5AE6-5D91-7B1C-96D0-F95D10EE51D9}"/>
              </a:ext>
            </a:extLst>
          </p:cNvPr>
          <p:cNvSpPr>
            <a:spLocks noGrp="1"/>
          </p:cNvSpPr>
          <p:nvPr>
            <p:ph type="sldNum" sz="quarter" idx="5"/>
          </p:nvPr>
        </p:nvSpPr>
        <p:spPr/>
        <p:txBody>
          <a:bodyPr/>
          <a:lstStyle/>
          <a:p>
            <a:fld id="{A4DF32EF-BEE2-467E-A20C-05D0FECFF7E5}" type="slidenum">
              <a:rPr lang="en-US" smtClean="0"/>
              <a:pPr/>
              <a:t>26</a:t>
            </a:fld>
            <a:endParaRPr lang="en-US"/>
          </a:p>
        </p:txBody>
      </p:sp>
    </p:spTree>
    <p:extLst>
      <p:ext uri="{BB962C8B-B14F-4D97-AF65-F5344CB8AC3E}">
        <p14:creationId xmlns:p14="http://schemas.microsoft.com/office/powerpoint/2010/main" val="3773256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p>
        </p:txBody>
      </p:sp>
      <p:sp>
        <p:nvSpPr>
          <p:cNvPr id="4" name="投影片編號版面配置區 3"/>
          <p:cNvSpPr>
            <a:spLocks noGrp="1"/>
          </p:cNvSpPr>
          <p:nvPr>
            <p:ph type="sldNum" sz="quarter" idx="5"/>
          </p:nvPr>
        </p:nvSpPr>
        <p:spPr/>
        <p:txBody>
          <a:bodyPr/>
          <a:lstStyle/>
          <a:p>
            <a:fld id="{A4DF32EF-BEE2-467E-A20C-05D0FECFF7E5}" type="slidenum">
              <a:rPr lang="en-US" smtClean="0"/>
              <a:pPr/>
              <a:t>42</a:t>
            </a:fld>
            <a:endParaRPr lang="en-US"/>
          </a:p>
        </p:txBody>
      </p:sp>
    </p:spTree>
    <p:extLst>
      <p:ext uri="{BB962C8B-B14F-4D97-AF65-F5344CB8AC3E}">
        <p14:creationId xmlns:p14="http://schemas.microsoft.com/office/powerpoint/2010/main" val="384194735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6.jpeg"/><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rojec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60429F-0317-4315-AEBC-0A8A1CE0110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4782" y="2330824"/>
            <a:ext cx="9913258" cy="4541861"/>
          </a:xfrm>
          <a:prstGeom prst="rect">
            <a:avLst/>
          </a:prstGeom>
        </p:spPr>
      </p:pic>
      <p:sp>
        <p:nvSpPr>
          <p:cNvPr id="11" name="Rectangle 10">
            <a:extLst>
              <a:ext uri="{FF2B5EF4-FFF2-40B4-BE49-F238E27FC236}">
                <a16:creationId xmlns:a16="http://schemas.microsoft.com/office/drawing/2014/main" id="{6BADD47B-3C64-45B6-A75B-52C3AA7E0584}"/>
              </a:ext>
            </a:extLst>
          </p:cNvPr>
          <p:cNvSpPr/>
          <p:nvPr userDrawn="1"/>
        </p:nvSpPr>
        <p:spPr bwMode="auto">
          <a:xfrm flipV="1">
            <a:off x="-3638" y="2097088"/>
            <a:ext cx="9913257" cy="869995"/>
          </a:xfrm>
          <a:prstGeom prst="rect">
            <a:avLst/>
          </a:prstGeom>
          <a:gradFill>
            <a:gsLst>
              <a:gs pos="67000">
                <a:srgbClr val="FFFFFF"/>
              </a:gs>
              <a:gs pos="53000">
                <a:schemeClr val="bg1"/>
              </a:gs>
              <a:gs pos="93000">
                <a:srgbClr val="FFFFFF"/>
              </a:gs>
              <a:gs pos="100000">
                <a:srgbClr val="FFFFFF">
                  <a:alpha val="0"/>
                </a:srgbClr>
              </a:gs>
              <a:gs pos="0">
                <a:schemeClr val="bg1">
                  <a:alpha val="0"/>
                </a:schemeClr>
              </a:gs>
            </a:gsLst>
            <a:lin ang="5400000" scaled="0"/>
          </a:gradFill>
          <a:ln w="317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b="1" i="0" u="none" strike="noStrike" cap="none" normalizeH="0" baseline="0">
              <a:ln>
                <a:noFill/>
              </a:ln>
              <a:solidFill>
                <a:srgbClr val="0000FF"/>
              </a:solidFill>
              <a:effectLst/>
              <a:latin typeface="Calibri" pitchFamily="34" charset="0"/>
            </a:endParaRPr>
          </a:p>
        </p:txBody>
      </p:sp>
      <p:sp>
        <p:nvSpPr>
          <p:cNvPr id="7" name="Text Box 67">
            <a:extLst>
              <a:ext uri="{FF2B5EF4-FFF2-40B4-BE49-F238E27FC236}">
                <a16:creationId xmlns:a16="http://schemas.microsoft.com/office/drawing/2014/main" id="{307AF2EA-BDFA-493A-953F-EA8DF1250779}"/>
              </a:ext>
            </a:extLst>
          </p:cNvPr>
          <p:cNvSpPr txBox="1">
            <a:spLocks noChangeArrowheads="1"/>
          </p:cNvSpPr>
          <p:nvPr userDrawn="1"/>
        </p:nvSpPr>
        <p:spPr bwMode="auto">
          <a:xfrm>
            <a:off x="228600" y="6279964"/>
            <a:ext cx="7264400" cy="339004"/>
          </a:xfrm>
          <a:prstGeom prst="rect">
            <a:avLst/>
          </a:prstGeom>
          <a:noFill/>
          <a:ln w="9525">
            <a:noFill/>
            <a:miter lim="800000"/>
            <a:headEnd/>
            <a:tailEnd/>
          </a:ln>
          <a:effectLst/>
        </p:spPr>
        <p:txBody>
          <a:bodyPr>
            <a:spAutoFit/>
          </a:bodyPr>
          <a:lstStyle/>
          <a:p>
            <a:pPr>
              <a:lnSpc>
                <a:spcPct val="120000"/>
              </a:lnSpc>
              <a:spcBef>
                <a:spcPct val="50000"/>
              </a:spcBef>
            </a:pPr>
            <a:r>
              <a:rPr lang="en-US" altLang="en-US" sz="700" b="0">
                <a:solidFill>
                  <a:schemeClr val="bg1"/>
                </a:solidFill>
                <a:latin typeface="+mj-lt"/>
                <a:cs typeface="Calibri" panose="020F0502020204030204" pitchFamily="34" charset="0"/>
              </a:rPr>
              <a:t>Disclaimer: The information contained in this document is intended only for use during the presentation and should not be disseminated or distributed to parties outside the presentation. DBS Bank accepts no liability whatsoever with respect to the use of this document or its contents.  </a:t>
            </a:r>
            <a:endParaRPr lang="en-GB" altLang="en-US" sz="700" b="0">
              <a:solidFill>
                <a:schemeClr val="bg1"/>
              </a:solidFill>
              <a:latin typeface="+mj-lt"/>
              <a:cs typeface="Calibri" panose="020F0502020204030204" pitchFamily="34" charset="0"/>
            </a:endParaRPr>
          </a:p>
        </p:txBody>
      </p:sp>
      <p:pic>
        <p:nvPicPr>
          <p:cNvPr id="12" name="Picture 11" descr="Graphical user interface&#10;&#10;Description automatically generated with low confidence">
            <a:extLst>
              <a:ext uri="{FF2B5EF4-FFF2-40B4-BE49-F238E27FC236}">
                <a16:creationId xmlns:a16="http://schemas.microsoft.com/office/drawing/2014/main" id="{C4D429B0-DF2F-4D75-A816-A5A31BD25297}"/>
              </a:ext>
            </a:extLst>
          </p:cNvPr>
          <p:cNvPicPr>
            <a:picLocks noChangeAspect="1"/>
          </p:cNvPicPr>
          <p:nvPr userDrawn="1"/>
        </p:nvPicPr>
        <p:blipFill>
          <a:blip r:embed="rId4"/>
          <a:stretch>
            <a:fillRect/>
          </a:stretch>
        </p:blipFill>
        <p:spPr>
          <a:xfrm>
            <a:off x="1" y="755650"/>
            <a:ext cx="1620000" cy="539493"/>
          </a:xfrm>
          <a:prstGeom prst="rect">
            <a:avLst/>
          </a:prstGeom>
        </p:spPr>
      </p:pic>
      <p:grpSp>
        <p:nvGrpSpPr>
          <p:cNvPr id="17" name="Group 16">
            <a:extLst>
              <a:ext uri="{FF2B5EF4-FFF2-40B4-BE49-F238E27FC236}">
                <a16:creationId xmlns:a16="http://schemas.microsoft.com/office/drawing/2014/main" id="{389AE05F-B4B2-46D4-9601-22D0CC358F32}"/>
              </a:ext>
            </a:extLst>
          </p:cNvPr>
          <p:cNvGrpSpPr/>
          <p:nvPr userDrawn="1"/>
        </p:nvGrpSpPr>
        <p:grpSpPr>
          <a:xfrm>
            <a:off x="6247747" y="3220800"/>
            <a:ext cx="3669694" cy="3651885"/>
            <a:chOff x="6247747" y="2666366"/>
            <a:chExt cx="3669694" cy="3651885"/>
          </a:xfrm>
        </p:grpSpPr>
        <p:sp>
          <p:nvSpPr>
            <p:cNvPr id="18" name="Freeform 9">
              <a:extLst>
                <a:ext uri="{FF2B5EF4-FFF2-40B4-BE49-F238E27FC236}">
                  <a16:creationId xmlns:a16="http://schemas.microsoft.com/office/drawing/2014/main" id="{333B7633-01F9-459A-BB39-BAF6980C3F73}"/>
                </a:ext>
              </a:extLst>
            </p:cNvPr>
            <p:cNvSpPr/>
            <p:nvPr userDrawn="1"/>
          </p:nvSpPr>
          <p:spPr>
            <a:xfrm>
              <a:off x="6697980" y="2666366"/>
              <a:ext cx="3219461" cy="3651885"/>
            </a:xfrm>
            <a:custGeom>
              <a:avLst/>
              <a:gdLst>
                <a:gd name="connsiteX0" fmla="*/ 3211209 w 3219461"/>
                <a:gd name="connsiteY0" fmla="*/ 0 h 3651885"/>
                <a:gd name="connsiteX1" fmla="*/ 3219461 w 3219461"/>
                <a:gd name="connsiteY1" fmla="*/ 3651885 h 3651885"/>
                <a:gd name="connsiteX2" fmla="*/ 856413 w 3219461"/>
                <a:gd name="connsiteY2" fmla="*/ 3651885 h 3651885"/>
                <a:gd name="connsiteX3" fmla="*/ 0 w 3219461"/>
                <a:gd name="connsiteY3" fmla="*/ 1486535 h 3651885"/>
              </a:gdLst>
              <a:ahLst/>
              <a:cxnLst>
                <a:cxn ang="0">
                  <a:pos x="connsiteX0" y="connsiteY0"/>
                </a:cxn>
                <a:cxn ang="0">
                  <a:pos x="connsiteX1" y="connsiteY1"/>
                </a:cxn>
                <a:cxn ang="0">
                  <a:pos x="connsiteX2" y="connsiteY2"/>
                </a:cxn>
                <a:cxn ang="0">
                  <a:pos x="connsiteX3" y="connsiteY3"/>
                </a:cxn>
              </a:cxnLst>
              <a:rect l="l" t="t" r="r" b="b"/>
              <a:pathLst>
                <a:path w="3219461" h="3651885">
                  <a:moveTo>
                    <a:pt x="3211209" y="0"/>
                  </a:moveTo>
                  <a:lnTo>
                    <a:pt x="3219461" y="3651885"/>
                  </a:lnTo>
                  <a:lnTo>
                    <a:pt x="856413" y="3651885"/>
                  </a:lnTo>
                  <a:lnTo>
                    <a:pt x="0" y="1486535"/>
                  </a:lnTo>
                  <a:close/>
                </a:path>
              </a:pathLst>
            </a:custGeom>
            <a:solidFill>
              <a:srgbClr val="FFFF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19" name="Freeform 9">
              <a:extLst>
                <a:ext uri="{FF2B5EF4-FFF2-40B4-BE49-F238E27FC236}">
                  <a16:creationId xmlns:a16="http://schemas.microsoft.com/office/drawing/2014/main" id="{A30F6731-815E-4776-953D-E81B3A104FD4}"/>
                </a:ext>
              </a:extLst>
            </p:cNvPr>
            <p:cNvSpPr>
              <a:spLocks/>
            </p:cNvSpPr>
            <p:nvPr userDrawn="1"/>
          </p:nvSpPr>
          <p:spPr bwMode="auto">
            <a:xfrm rot="5400000">
              <a:off x="6413515" y="3402068"/>
              <a:ext cx="1383616" cy="1715151"/>
            </a:xfrm>
            <a:custGeom>
              <a:avLst/>
              <a:gdLst>
                <a:gd name="T0" fmla="*/ 15 w 138"/>
                <a:gd name="T1" fmla="*/ 152 h 176"/>
                <a:gd name="T2" fmla="*/ 48 w 138"/>
                <a:gd name="T3" fmla="*/ 140 h 176"/>
                <a:gd name="T4" fmla="*/ 56 w 138"/>
                <a:gd name="T5" fmla="*/ 140 h 176"/>
                <a:gd name="T6" fmla="*/ 62 w 138"/>
                <a:gd name="T7" fmla="*/ 146 h 176"/>
                <a:gd name="T8" fmla="*/ 79 w 138"/>
                <a:gd name="T9" fmla="*/ 176 h 176"/>
                <a:gd name="T10" fmla="*/ 79 w 138"/>
                <a:gd name="T11" fmla="*/ 176 h 176"/>
                <a:gd name="T12" fmla="*/ 67 w 138"/>
                <a:gd name="T13" fmla="*/ 143 h 176"/>
                <a:gd name="T14" fmla="*/ 67 w 138"/>
                <a:gd name="T15" fmla="*/ 135 h 176"/>
                <a:gd name="T16" fmla="*/ 73 w 138"/>
                <a:gd name="T17" fmla="*/ 129 h 176"/>
                <a:gd name="T18" fmla="*/ 138 w 138"/>
                <a:gd name="T19" fmla="*/ 97 h 176"/>
                <a:gd name="T20" fmla="*/ 138 w 138"/>
                <a:gd name="T21" fmla="*/ 97 h 176"/>
                <a:gd name="T22" fmla="*/ 70 w 138"/>
                <a:gd name="T23" fmla="*/ 124 h 176"/>
                <a:gd name="T24" fmla="*/ 62 w 138"/>
                <a:gd name="T25" fmla="*/ 124 h 176"/>
                <a:gd name="T26" fmla="*/ 56 w 138"/>
                <a:gd name="T27" fmla="*/ 118 h 176"/>
                <a:gd name="T28" fmla="*/ 0 w 138"/>
                <a:gd name="T29" fmla="*/ 0 h 176"/>
                <a:gd name="T30" fmla="*/ 0 w 138"/>
                <a:gd name="T31" fmla="*/ 0 h 176"/>
                <a:gd name="T32" fmla="*/ 51 w 138"/>
                <a:gd name="T33" fmla="*/ 121 h 176"/>
                <a:gd name="T34" fmla="*/ 51 w 138"/>
                <a:gd name="T35" fmla="*/ 129 h 176"/>
                <a:gd name="T36" fmla="*/ 45 w 138"/>
                <a:gd name="T37" fmla="*/ 135 h 176"/>
                <a:gd name="T38" fmla="*/ 15 w 138"/>
                <a:gd name="T39" fmla="*/ 152 h 176"/>
                <a:gd name="T40" fmla="*/ 15 w 138"/>
                <a:gd name="T41" fmla="*/ 15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8" h="176">
                  <a:moveTo>
                    <a:pt x="15" y="152"/>
                  </a:moveTo>
                  <a:cubicBezTo>
                    <a:pt x="48" y="140"/>
                    <a:pt x="48" y="140"/>
                    <a:pt x="48" y="140"/>
                  </a:cubicBezTo>
                  <a:cubicBezTo>
                    <a:pt x="48" y="140"/>
                    <a:pt x="52" y="138"/>
                    <a:pt x="56" y="140"/>
                  </a:cubicBezTo>
                  <a:cubicBezTo>
                    <a:pt x="60" y="141"/>
                    <a:pt x="62" y="146"/>
                    <a:pt x="62" y="146"/>
                  </a:cubicBezTo>
                  <a:cubicBezTo>
                    <a:pt x="79" y="176"/>
                    <a:pt x="79" y="176"/>
                    <a:pt x="79" y="176"/>
                  </a:cubicBezTo>
                  <a:cubicBezTo>
                    <a:pt x="79" y="176"/>
                    <a:pt x="79" y="176"/>
                    <a:pt x="79" y="176"/>
                  </a:cubicBezTo>
                  <a:cubicBezTo>
                    <a:pt x="67" y="143"/>
                    <a:pt x="67" y="143"/>
                    <a:pt x="67" y="143"/>
                  </a:cubicBezTo>
                  <a:cubicBezTo>
                    <a:pt x="67" y="143"/>
                    <a:pt x="66" y="139"/>
                    <a:pt x="67" y="135"/>
                  </a:cubicBezTo>
                  <a:cubicBezTo>
                    <a:pt x="68" y="131"/>
                    <a:pt x="73" y="129"/>
                    <a:pt x="73" y="129"/>
                  </a:cubicBezTo>
                  <a:cubicBezTo>
                    <a:pt x="138" y="97"/>
                    <a:pt x="138" y="97"/>
                    <a:pt x="138" y="97"/>
                  </a:cubicBezTo>
                  <a:cubicBezTo>
                    <a:pt x="138" y="97"/>
                    <a:pt x="138" y="97"/>
                    <a:pt x="138" y="97"/>
                  </a:cubicBezTo>
                  <a:cubicBezTo>
                    <a:pt x="70" y="124"/>
                    <a:pt x="70" y="124"/>
                    <a:pt x="70" y="124"/>
                  </a:cubicBezTo>
                  <a:cubicBezTo>
                    <a:pt x="70" y="124"/>
                    <a:pt x="66" y="126"/>
                    <a:pt x="62" y="124"/>
                  </a:cubicBezTo>
                  <a:cubicBezTo>
                    <a:pt x="58" y="123"/>
                    <a:pt x="56" y="118"/>
                    <a:pt x="56" y="118"/>
                  </a:cubicBezTo>
                  <a:cubicBezTo>
                    <a:pt x="0" y="0"/>
                    <a:pt x="0" y="0"/>
                    <a:pt x="0" y="0"/>
                  </a:cubicBezTo>
                  <a:cubicBezTo>
                    <a:pt x="0" y="0"/>
                    <a:pt x="0" y="0"/>
                    <a:pt x="0" y="0"/>
                  </a:cubicBezTo>
                  <a:cubicBezTo>
                    <a:pt x="51" y="121"/>
                    <a:pt x="51" y="121"/>
                    <a:pt x="51" y="121"/>
                  </a:cubicBezTo>
                  <a:cubicBezTo>
                    <a:pt x="51" y="121"/>
                    <a:pt x="53" y="125"/>
                    <a:pt x="51" y="129"/>
                  </a:cubicBezTo>
                  <a:cubicBezTo>
                    <a:pt x="50" y="133"/>
                    <a:pt x="45" y="135"/>
                    <a:pt x="45" y="135"/>
                  </a:cubicBezTo>
                  <a:cubicBezTo>
                    <a:pt x="15" y="152"/>
                    <a:pt x="15" y="152"/>
                    <a:pt x="15" y="152"/>
                  </a:cubicBezTo>
                  <a:cubicBezTo>
                    <a:pt x="15" y="152"/>
                    <a:pt x="15" y="152"/>
                    <a:pt x="15" y="152"/>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mn-ea"/>
                <a:cs typeface="+mn-cs"/>
              </a:endParaRPr>
            </a:p>
          </p:txBody>
        </p:sp>
      </p:grpSp>
      <p:sp>
        <p:nvSpPr>
          <p:cNvPr id="13" name="Rectangle 2">
            <a:extLst>
              <a:ext uri="{FF2B5EF4-FFF2-40B4-BE49-F238E27FC236}">
                <a16:creationId xmlns:a16="http://schemas.microsoft.com/office/drawing/2014/main" id="{4B9BCE56-0D77-46A7-95A7-0B3C13920617}"/>
              </a:ext>
            </a:extLst>
          </p:cNvPr>
          <p:cNvSpPr>
            <a:spLocks noGrp="1" noChangeArrowheads="1"/>
          </p:cNvSpPr>
          <p:nvPr>
            <p:ph type="ctrTitle"/>
          </p:nvPr>
        </p:nvSpPr>
        <p:spPr>
          <a:xfrm>
            <a:off x="1438939" y="1530952"/>
            <a:ext cx="7200000" cy="432000"/>
          </a:xfrm>
          <a:prstGeom prst="rect">
            <a:avLst/>
          </a:prstGeom>
        </p:spPr>
        <p:txBody>
          <a:bodyPr lIns="0" tIns="0" rIns="0" bIns="0" anchor="ctr" anchorCtr="1"/>
          <a:lstStyle>
            <a:lvl1pPr algn="ctr">
              <a:lnSpc>
                <a:spcPct val="100000"/>
              </a:lnSpc>
              <a:defRPr sz="2800" b="1">
                <a:solidFill>
                  <a:srgbClr val="CC0000"/>
                </a:solidFill>
                <a:latin typeface="Arial" panose="020B0604020202020204" pitchFamily="34" charset="0"/>
                <a:cs typeface="Arial" panose="020B0604020202020204" pitchFamily="34" charset="0"/>
              </a:defRPr>
            </a:lvl1pPr>
          </a:lstStyle>
          <a:p>
            <a:pPr lvl="0"/>
            <a:r>
              <a:rPr lang="en-US" altLang="en-US" noProof="0"/>
              <a:t>Click to edit Master title style</a:t>
            </a:r>
            <a:endParaRPr lang="en-GB" altLang="en-US" noProof="0"/>
          </a:p>
        </p:txBody>
      </p:sp>
      <p:sp>
        <p:nvSpPr>
          <p:cNvPr id="14" name="Rectangle 16">
            <a:extLst>
              <a:ext uri="{FF2B5EF4-FFF2-40B4-BE49-F238E27FC236}">
                <a16:creationId xmlns:a16="http://schemas.microsoft.com/office/drawing/2014/main" id="{7BC465F4-ABBA-4B11-8D75-65D36561FAB6}"/>
              </a:ext>
            </a:extLst>
          </p:cNvPr>
          <p:cNvSpPr>
            <a:spLocks noGrp="1" noChangeArrowheads="1"/>
          </p:cNvSpPr>
          <p:nvPr>
            <p:ph type="subTitle" idx="1"/>
          </p:nvPr>
        </p:nvSpPr>
        <p:spPr>
          <a:xfrm>
            <a:off x="1438939" y="1971992"/>
            <a:ext cx="7200000" cy="360000"/>
          </a:xfrm>
          <a:prstGeom prst="rect">
            <a:avLst/>
          </a:prstGeom>
          <a:extLst>
            <a:ext uri="{909E8E84-426E-40DD-AFC4-6F175D3DCCD1}">
              <a14:hiddenFill xmlns:a14="http://schemas.microsoft.com/office/drawing/2010/main">
                <a:solidFill>
                  <a:schemeClr val="accent1"/>
                </a:solidFill>
              </a14:hiddenFill>
            </a:ext>
          </a:extLst>
        </p:spPr>
        <p:txBody>
          <a:bodyPr lIns="0" tIns="0" rIns="0" bIns="0" anchor="ctr" anchorCtr="1"/>
          <a:lstStyle>
            <a:lvl1pPr marL="0" indent="0" algn="ctr">
              <a:lnSpc>
                <a:spcPct val="100000"/>
              </a:lnSpc>
              <a:buFont typeface="Wingdings" panose="05000000000000000000" pitchFamily="2" charset="2"/>
              <a:buNone/>
              <a:defRPr sz="2000" b="1">
                <a:solidFill>
                  <a:schemeClr val="tx1"/>
                </a:solidFill>
                <a:latin typeface="Arial" panose="020B0604020202020204" pitchFamily="34" charset="0"/>
                <a:cs typeface="Arial" panose="020B0604020202020204" pitchFamily="34" charset="0"/>
              </a:defRPr>
            </a:lvl1pPr>
          </a:lstStyle>
          <a:p>
            <a:pPr lvl="0"/>
            <a:r>
              <a:rPr lang="en-US" altLang="en-US" noProof="0"/>
              <a:t>Click to edit Master subtitle style</a:t>
            </a:r>
            <a:endParaRPr lang="en-GB" altLang="en-US" noProof="0"/>
          </a:p>
        </p:txBody>
      </p:sp>
      <p:sp>
        <p:nvSpPr>
          <p:cNvPr id="15" name="Text Placeholder 2">
            <a:extLst>
              <a:ext uri="{FF2B5EF4-FFF2-40B4-BE49-F238E27FC236}">
                <a16:creationId xmlns:a16="http://schemas.microsoft.com/office/drawing/2014/main" id="{06CB6471-BEB5-42B8-A368-4E2D71C31D32}"/>
              </a:ext>
            </a:extLst>
          </p:cNvPr>
          <p:cNvSpPr>
            <a:spLocks noGrp="1"/>
          </p:cNvSpPr>
          <p:nvPr>
            <p:ph type="body" sz="quarter" idx="11" hasCustomPrompt="1"/>
          </p:nvPr>
        </p:nvSpPr>
        <p:spPr>
          <a:xfrm>
            <a:off x="1438939" y="2345070"/>
            <a:ext cx="7200000" cy="216000"/>
          </a:xfrm>
          <a:prstGeom prst="rect">
            <a:avLst/>
          </a:prstGeom>
        </p:spPr>
        <p:txBody>
          <a:bodyPr lIns="0" tIns="0" rIns="0" bIns="0" anchor="ctr" anchorCtr="1"/>
          <a:lstStyle>
            <a:lvl1pPr marL="0" indent="0" algn="ctr">
              <a:lnSpc>
                <a:spcPct val="100000"/>
              </a:lnSpc>
              <a:buNone/>
              <a:defRPr sz="1600">
                <a:latin typeface="Arial" panose="020B0604020202020204" pitchFamily="34" charset="0"/>
                <a:cs typeface="Arial" panose="020B0604020202020204" pitchFamily="34" charset="0"/>
              </a:defRPr>
            </a:lvl1pPr>
            <a:lvl2pPr marL="371475" indent="0">
              <a:buNone/>
              <a:defRPr/>
            </a:lvl2pPr>
            <a:lvl3pPr marL="742950" indent="0">
              <a:buNone/>
              <a:defRPr/>
            </a:lvl3pPr>
            <a:lvl4pPr marL="1114425" indent="0">
              <a:buNone/>
              <a:defRPr/>
            </a:lvl4pPr>
            <a:lvl5pPr marL="1485900" indent="0">
              <a:buNone/>
              <a:defRPr/>
            </a:lvl5pPr>
          </a:lstStyle>
          <a:p>
            <a:pPr lvl="0"/>
            <a:r>
              <a:rPr lang="en-US"/>
              <a:t>[Date]</a:t>
            </a:r>
          </a:p>
        </p:txBody>
      </p:sp>
      <p:sp>
        <p:nvSpPr>
          <p:cNvPr id="2" name="Rectangle 1">
            <a:extLst>
              <a:ext uri="{FF2B5EF4-FFF2-40B4-BE49-F238E27FC236}">
                <a16:creationId xmlns:a16="http://schemas.microsoft.com/office/drawing/2014/main" id="{79501EE0-1F0D-BC91-5BD0-1E4C0FA945E5}"/>
              </a:ext>
            </a:extLst>
          </p:cNvPr>
          <p:cNvSpPr/>
          <p:nvPr userDrawn="1"/>
        </p:nvSpPr>
        <p:spPr bwMode="auto">
          <a:xfrm>
            <a:off x="-1003177" y="0"/>
            <a:ext cx="932156" cy="5042517"/>
          </a:xfrm>
          <a:prstGeom prst="rect">
            <a:avLst/>
          </a:prstGeom>
          <a:solidFill>
            <a:schemeClr val="bg1"/>
          </a:solidFill>
          <a:ln>
            <a:noFill/>
          </a:ln>
          <a:effectLst>
            <a:outerShdw blurRad="50800" dist="38100" dir="2700000" algn="ctr" rotWithShape="0">
              <a:schemeClr val="tx1">
                <a:alpha val="40000"/>
              </a:schemeClr>
            </a:outerShdw>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DD760F9E-903E-CFA2-1D64-44E40036ABB4}"/>
              </a:ext>
            </a:extLst>
          </p:cNvPr>
          <p:cNvSpPr txBox="1"/>
          <p:nvPr userDrawn="1"/>
        </p:nvSpPr>
        <p:spPr>
          <a:xfrm>
            <a:off x="-920974" y="363984"/>
            <a:ext cx="767751" cy="263104"/>
          </a:xfrm>
          <a:prstGeom prst="rect">
            <a:avLst/>
          </a:prstGeom>
          <a:solidFill>
            <a:srgbClr val="089C8B"/>
          </a:solidFill>
          <a:ln w="6350">
            <a:noFill/>
            <a:prstDash val="dash"/>
          </a:ln>
        </p:spPr>
        <p:txBody>
          <a:bodyPr wrap="square" lIns="0" tIns="0" rIns="0" bIns="0" rtlCol="0" anchor="t">
            <a:noAutofit/>
          </a:bodyPr>
          <a:lstStyle/>
          <a:p>
            <a:pPr algn="l">
              <a:spcAft>
                <a:spcPts val="600"/>
              </a:spcAft>
            </a:pPr>
            <a:endParaRPr lang="en-SG" sz="900" b="0"/>
          </a:p>
        </p:txBody>
      </p:sp>
      <p:sp>
        <p:nvSpPr>
          <p:cNvPr id="4" name="TextBox 3">
            <a:extLst>
              <a:ext uri="{FF2B5EF4-FFF2-40B4-BE49-F238E27FC236}">
                <a16:creationId xmlns:a16="http://schemas.microsoft.com/office/drawing/2014/main" id="{9FFE0E4E-9FD3-B36A-50FF-C4BDA3E42FFA}"/>
              </a:ext>
            </a:extLst>
          </p:cNvPr>
          <p:cNvSpPr txBox="1"/>
          <p:nvPr userDrawn="1"/>
        </p:nvSpPr>
        <p:spPr>
          <a:xfrm>
            <a:off x="-920974" y="712514"/>
            <a:ext cx="767751" cy="263104"/>
          </a:xfrm>
          <a:prstGeom prst="rect">
            <a:avLst/>
          </a:prstGeom>
          <a:solidFill>
            <a:srgbClr val="315D90"/>
          </a:solidFill>
          <a:ln w="6350">
            <a:noFill/>
            <a:prstDash val="dash"/>
          </a:ln>
        </p:spPr>
        <p:txBody>
          <a:bodyPr wrap="square" lIns="0" tIns="0" rIns="0" bIns="0" rtlCol="0" anchor="t">
            <a:noAutofit/>
          </a:bodyPr>
          <a:lstStyle/>
          <a:p>
            <a:pPr algn="l">
              <a:spcAft>
                <a:spcPts val="600"/>
              </a:spcAft>
            </a:pPr>
            <a:endParaRPr lang="en-SG" sz="900" b="0"/>
          </a:p>
        </p:txBody>
      </p:sp>
      <p:sp>
        <p:nvSpPr>
          <p:cNvPr id="5" name="TextBox 4">
            <a:extLst>
              <a:ext uri="{FF2B5EF4-FFF2-40B4-BE49-F238E27FC236}">
                <a16:creationId xmlns:a16="http://schemas.microsoft.com/office/drawing/2014/main" id="{9EC6C43A-8E8B-1883-DB18-F5E3935935D2}"/>
              </a:ext>
            </a:extLst>
          </p:cNvPr>
          <p:cNvSpPr txBox="1"/>
          <p:nvPr userDrawn="1"/>
        </p:nvSpPr>
        <p:spPr>
          <a:xfrm>
            <a:off x="-920974" y="1061044"/>
            <a:ext cx="767751" cy="263104"/>
          </a:xfrm>
          <a:prstGeom prst="rect">
            <a:avLst/>
          </a:prstGeom>
          <a:solidFill>
            <a:srgbClr val="B4B8B9"/>
          </a:solidFill>
          <a:ln w="6350">
            <a:noFill/>
            <a:prstDash val="dash"/>
          </a:ln>
        </p:spPr>
        <p:txBody>
          <a:bodyPr wrap="square" lIns="0" tIns="0" rIns="0" bIns="0" rtlCol="0" anchor="t">
            <a:noAutofit/>
          </a:bodyPr>
          <a:lstStyle/>
          <a:p>
            <a:pPr algn="l">
              <a:spcAft>
                <a:spcPts val="600"/>
              </a:spcAft>
            </a:pPr>
            <a:endParaRPr lang="en-SG" sz="900" b="0"/>
          </a:p>
        </p:txBody>
      </p:sp>
      <p:sp>
        <p:nvSpPr>
          <p:cNvPr id="6" name="TextBox 5">
            <a:extLst>
              <a:ext uri="{FF2B5EF4-FFF2-40B4-BE49-F238E27FC236}">
                <a16:creationId xmlns:a16="http://schemas.microsoft.com/office/drawing/2014/main" id="{A96FB7FA-5971-35A3-93F7-FA789BD8D783}"/>
              </a:ext>
            </a:extLst>
          </p:cNvPr>
          <p:cNvSpPr txBox="1"/>
          <p:nvPr userDrawn="1"/>
        </p:nvSpPr>
        <p:spPr>
          <a:xfrm>
            <a:off x="-920974" y="1409573"/>
            <a:ext cx="767751" cy="263104"/>
          </a:xfrm>
          <a:prstGeom prst="rect">
            <a:avLst/>
          </a:prstGeom>
          <a:solidFill>
            <a:srgbClr val="00375E"/>
          </a:solidFill>
          <a:ln w="6350">
            <a:noFill/>
            <a:prstDash val="dash"/>
          </a:ln>
        </p:spPr>
        <p:txBody>
          <a:bodyPr wrap="square" lIns="0" tIns="0" rIns="0" bIns="0" rtlCol="0" anchor="t">
            <a:noAutofit/>
          </a:bodyPr>
          <a:lstStyle/>
          <a:p>
            <a:pPr algn="l">
              <a:spcAft>
                <a:spcPts val="600"/>
              </a:spcAft>
            </a:pPr>
            <a:endParaRPr lang="en-SG" sz="900" b="0"/>
          </a:p>
        </p:txBody>
      </p:sp>
      <p:sp>
        <p:nvSpPr>
          <p:cNvPr id="8" name="TextBox 7">
            <a:extLst>
              <a:ext uri="{FF2B5EF4-FFF2-40B4-BE49-F238E27FC236}">
                <a16:creationId xmlns:a16="http://schemas.microsoft.com/office/drawing/2014/main" id="{0274B99A-EB97-C1B8-82C7-0D277B52A9E2}"/>
              </a:ext>
            </a:extLst>
          </p:cNvPr>
          <p:cNvSpPr txBox="1"/>
          <p:nvPr userDrawn="1"/>
        </p:nvSpPr>
        <p:spPr>
          <a:xfrm>
            <a:off x="-920974" y="1758102"/>
            <a:ext cx="767751" cy="263104"/>
          </a:xfrm>
          <a:prstGeom prst="rect">
            <a:avLst/>
          </a:prstGeom>
          <a:solidFill>
            <a:srgbClr val="001C30"/>
          </a:solidFill>
          <a:ln w="6350">
            <a:noFill/>
            <a:prstDash val="dash"/>
          </a:ln>
        </p:spPr>
        <p:txBody>
          <a:bodyPr wrap="square" lIns="0" tIns="0" rIns="0" bIns="0" rtlCol="0" anchor="t">
            <a:noAutofit/>
          </a:bodyPr>
          <a:lstStyle/>
          <a:p>
            <a:pPr algn="l">
              <a:spcAft>
                <a:spcPts val="600"/>
              </a:spcAft>
            </a:pPr>
            <a:endParaRPr lang="en-SG" sz="900" b="0"/>
          </a:p>
        </p:txBody>
      </p:sp>
      <p:sp>
        <p:nvSpPr>
          <p:cNvPr id="9" name="TextBox 8">
            <a:extLst>
              <a:ext uri="{FF2B5EF4-FFF2-40B4-BE49-F238E27FC236}">
                <a16:creationId xmlns:a16="http://schemas.microsoft.com/office/drawing/2014/main" id="{FB3877CE-34CE-8C5E-3227-06D617A308F0}"/>
              </a:ext>
            </a:extLst>
          </p:cNvPr>
          <p:cNvSpPr txBox="1"/>
          <p:nvPr userDrawn="1"/>
        </p:nvSpPr>
        <p:spPr>
          <a:xfrm>
            <a:off x="-923277" y="17756"/>
            <a:ext cx="772356" cy="318924"/>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800" b="1">
                <a:solidFill>
                  <a:schemeClr val="tx1"/>
                </a:solidFill>
              </a:rPr>
              <a:t>Company Colours</a:t>
            </a:r>
            <a:endParaRPr lang="en-SG" sz="800" b="1">
              <a:solidFill>
                <a:schemeClr val="tx1"/>
              </a:solidFill>
            </a:endParaRPr>
          </a:p>
        </p:txBody>
      </p:sp>
      <p:sp>
        <p:nvSpPr>
          <p:cNvPr id="16" name="TextBox 15">
            <a:extLst>
              <a:ext uri="{FF2B5EF4-FFF2-40B4-BE49-F238E27FC236}">
                <a16:creationId xmlns:a16="http://schemas.microsoft.com/office/drawing/2014/main" id="{617F616D-2531-36E2-5184-14E2BF441F2D}"/>
              </a:ext>
            </a:extLst>
          </p:cNvPr>
          <p:cNvSpPr txBox="1"/>
          <p:nvPr userDrawn="1"/>
        </p:nvSpPr>
        <p:spPr>
          <a:xfrm>
            <a:off x="-920974" y="2682536"/>
            <a:ext cx="767751" cy="263104"/>
          </a:xfrm>
          <a:prstGeom prst="rect">
            <a:avLst/>
          </a:prstGeom>
          <a:solidFill>
            <a:srgbClr val="CC0000"/>
          </a:solidFill>
          <a:ln w="6350">
            <a:noFill/>
            <a:prstDash val="dash"/>
          </a:ln>
        </p:spPr>
        <p:txBody>
          <a:bodyPr wrap="square" lIns="0" tIns="0" rIns="0" bIns="0" rtlCol="0" anchor="t">
            <a:noAutofit/>
          </a:bodyPr>
          <a:lstStyle/>
          <a:p>
            <a:pPr algn="l">
              <a:spcAft>
                <a:spcPts val="600"/>
              </a:spcAft>
            </a:pPr>
            <a:endParaRPr lang="en-SG" sz="900" b="0"/>
          </a:p>
        </p:txBody>
      </p:sp>
      <p:sp>
        <p:nvSpPr>
          <p:cNvPr id="20" name="TextBox 19">
            <a:extLst>
              <a:ext uri="{FF2B5EF4-FFF2-40B4-BE49-F238E27FC236}">
                <a16:creationId xmlns:a16="http://schemas.microsoft.com/office/drawing/2014/main" id="{96E7B777-FDE9-72A6-06B2-21DC0EA23A07}"/>
              </a:ext>
            </a:extLst>
          </p:cNvPr>
          <p:cNvSpPr txBox="1"/>
          <p:nvPr userDrawn="1"/>
        </p:nvSpPr>
        <p:spPr>
          <a:xfrm>
            <a:off x="-920974" y="3032677"/>
            <a:ext cx="767751" cy="263104"/>
          </a:xfrm>
          <a:prstGeom prst="rect">
            <a:avLst/>
          </a:prstGeom>
          <a:solidFill>
            <a:srgbClr val="262626"/>
          </a:solidFill>
          <a:ln w="6350">
            <a:noFill/>
            <a:prstDash val="dash"/>
          </a:ln>
        </p:spPr>
        <p:txBody>
          <a:bodyPr wrap="square" lIns="0" tIns="0" rIns="0" bIns="0" rtlCol="0" anchor="t">
            <a:noAutofit/>
          </a:bodyPr>
          <a:lstStyle/>
          <a:p>
            <a:pPr algn="l">
              <a:spcAft>
                <a:spcPts val="600"/>
              </a:spcAft>
            </a:pPr>
            <a:endParaRPr lang="en-SG" sz="900" b="0"/>
          </a:p>
        </p:txBody>
      </p:sp>
      <p:sp>
        <p:nvSpPr>
          <p:cNvPr id="21" name="TextBox 20">
            <a:extLst>
              <a:ext uri="{FF2B5EF4-FFF2-40B4-BE49-F238E27FC236}">
                <a16:creationId xmlns:a16="http://schemas.microsoft.com/office/drawing/2014/main" id="{9F5CDE19-D15C-FA37-F00D-87F877FA3098}"/>
              </a:ext>
            </a:extLst>
          </p:cNvPr>
          <p:cNvSpPr txBox="1"/>
          <p:nvPr userDrawn="1"/>
        </p:nvSpPr>
        <p:spPr>
          <a:xfrm>
            <a:off x="-920974" y="3382818"/>
            <a:ext cx="767751" cy="263104"/>
          </a:xfrm>
          <a:prstGeom prst="rect">
            <a:avLst/>
          </a:prstGeom>
          <a:solidFill>
            <a:srgbClr val="FDBBBC"/>
          </a:solidFill>
          <a:ln w="6350">
            <a:noFill/>
            <a:prstDash val="dash"/>
          </a:ln>
        </p:spPr>
        <p:txBody>
          <a:bodyPr wrap="square" lIns="0" tIns="0" rIns="0" bIns="0" rtlCol="0" anchor="t">
            <a:noAutofit/>
          </a:bodyPr>
          <a:lstStyle/>
          <a:p>
            <a:pPr algn="l">
              <a:spcAft>
                <a:spcPts val="600"/>
              </a:spcAft>
            </a:pPr>
            <a:endParaRPr lang="en-SG" sz="900" b="0"/>
          </a:p>
        </p:txBody>
      </p:sp>
      <p:sp>
        <p:nvSpPr>
          <p:cNvPr id="22" name="TextBox 21">
            <a:extLst>
              <a:ext uri="{FF2B5EF4-FFF2-40B4-BE49-F238E27FC236}">
                <a16:creationId xmlns:a16="http://schemas.microsoft.com/office/drawing/2014/main" id="{8BED2D31-27D0-7D9B-20CA-3898CD5BC679}"/>
              </a:ext>
            </a:extLst>
          </p:cNvPr>
          <p:cNvSpPr txBox="1"/>
          <p:nvPr userDrawn="1"/>
        </p:nvSpPr>
        <p:spPr>
          <a:xfrm>
            <a:off x="-920974" y="3732959"/>
            <a:ext cx="767751" cy="263104"/>
          </a:xfrm>
          <a:prstGeom prst="rect">
            <a:avLst/>
          </a:prstGeom>
          <a:solidFill>
            <a:srgbClr val="8E0408"/>
          </a:solidFill>
          <a:ln w="6350">
            <a:noFill/>
            <a:prstDash val="dash"/>
          </a:ln>
        </p:spPr>
        <p:txBody>
          <a:bodyPr wrap="square" lIns="0" tIns="0" rIns="0" bIns="0" rtlCol="0" anchor="t">
            <a:noAutofit/>
          </a:bodyPr>
          <a:lstStyle/>
          <a:p>
            <a:pPr algn="l">
              <a:spcAft>
                <a:spcPts val="600"/>
              </a:spcAft>
            </a:pPr>
            <a:endParaRPr lang="en-SG" sz="900" b="0"/>
          </a:p>
        </p:txBody>
      </p:sp>
      <p:sp>
        <p:nvSpPr>
          <p:cNvPr id="23" name="TextBox 22">
            <a:extLst>
              <a:ext uri="{FF2B5EF4-FFF2-40B4-BE49-F238E27FC236}">
                <a16:creationId xmlns:a16="http://schemas.microsoft.com/office/drawing/2014/main" id="{7CE6B140-8F00-A322-F797-B362B83B9C1A}"/>
              </a:ext>
            </a:extLst>
          </p:cNvPr>
          <p:cNvSpPr txBox="1"/>
          <p:nvPr userDrawn="1"/>
        </p:nvSpPr>
        <p:spPr>
          <a:xfrm>
            <a:off x="-920974" y="4083100"/>
            <a:ext cx="767751" cy="263104"/>
          </a:xfrm>
          <a:prstGeom prst="rect">
            <a:avLst/>
          </a:prstGeom>
          <a:solidFill>
            <a:srgbClr val="FBDA97"/>
          </a:solidFill>
          <a:ln w="6350">
            <a:noFill/>
            <a:prstDash val="dash"/>
          </a:ln>
        </p:spPr>
        <p:txBody>
          <a:bodyPr wrap="square" lIns="0" tIns="0" rIns="0" bIns="0" rtlCol="0" anchor="t">
            <a:noAutofit/>
          </a:bodyPr>
          <a:lstStyle/>
          <a:p>
            <a:pPr algn="l">
              <a:spcAft>
                <a:spcPts val="600"/>
              </a:spcAft>
            </a:pPr>
            <a:endParaRPr lang="en-SG" sz="900" b="0"/>
          </a:p>
        </p:txBody>
      </p:sp>
      <p:sp>
        <p:nvSpPr>
          <p:cNvPr id="24" name="TextBox 23">
            <a:extLst>
              <a:ext uri="{FF2B5EF4-FFF2-40B4-BE49-F238E27FC236}">
                <a16:creationId xmlns:a16="http://schemas.microsoft.com/office/drawing/2014/main" id="{73EAE981-7C7F-F7BF-824E-46F67557ECE8}"/>
              </a:ext>
            </a:extLst>
          </p:cNvPr>
          <p:cNvSpPr txBox="1"/>
          <p:nvPr userDrawn="1"/>
        </p:nvSpPr>
        <p:spPr>
          <a:xfrm>
            <a:off x="-923277" y="2469474"/>
            <a:ext cx="772356" cy="195814"/>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800" b="1">
                <a:solidFill>
                  <a:schemeClr val="tx1"/>
                </a:solidFill>
              </a:rPr>
              <a:t>DBS Colours</a:t>
            </a:r>
            <a:endParaRPr lang="en-SG" sz="800" b="1">
              <a:solidFill>
                <a:schemeClr val="tx1"/>
              </a:solidFill>
            </a:endParaRPr>
          </a:p>
        </p:txBody>
      </p:sp>
      <p:cxnSp>
        <p:nvCxnSpPr>
          <p:cNvPr id="25" name="Straight Connector 24">
            <a:extLst>
              <a:ext uri="{FF2B5EF4-FFF2-40B4-BE49-F238E27FC236}">
                <a16:creationId xmlns:a16="http://schemas.microsoft.com/office/drawing/2014/main" id="{98C40123-345E-449D-A4DD-509252983689}"/>
              </a:ext>
            </a:extLst>
          </p:cNvPr>
          <p:cNvCxnSpPr>
            <a:cxnSpLocks/>
          </p:cNvCxnSpPr>
          <p:nvPr userDrawn="1"/>
        </p:nvCxnSpPr>
        <p:spPr bwMode="auto">
          <a:xfrm>
            <a:off x="-914400" y="2299317"/>
            <a:ext cx="75460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B3A6AE96-1343-BF3F-A1D8-E9C505939F11}"/>
              </a:ext>
            </a:extLst>
          </p:cNvPr>
          <p:cNvSpPr txBox="1"/>
          <p:nvPr userDrawn="1"/>
        </p:nvSpPr>
        <p:spPr>
          <a:xfrm>
            <a:off x="-919494" y="4433240"/>
            <a:ext cx="767751" cy="263104"/>
          </a:xfrm>
          <a:prstGeom prst="rect">
            <a:avLst/>
          </a:prstGeom>
          <a:solidFill>
            <a:srgbClr val="717171"/>
          </a:solidFill>
          <a:ln w="6350">
            <a:noFill/>
            <a:prstDash val="dash"/>
          </a:ln>
        </p:spPr>
        <p:txBody>
          <a:bodyPr wrap="square" lIns="0" tIns="0" rIns="0" bIns="0" rtlCol="0" anchor="t">
            <a:noAutofit/>
          </a:bodyPr>
          <a:lstStyle/>
          <a:p>
            <a:pPr algn="l">
              <a:spcAft>
                <a:spcPts val="600"/>
              </a:spcAft>
            </a:pPr>
            <a:endParaRPr lang="en-SG" sz="900" b="0"/>
          </a:p>
        </p:txBody>
      </p:sp>
    </p:spTree>
    <p:extLst>
      <p:ext uri="{BB962C8B-B14F-4D97-AF65-F5344CB8AC3E}">
        <p14:creationId xmlns:p14="http://schemas.microsoft.com/office/powerpoint/2010/main" val="2326092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_Divider">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EA366C9-F8B7-4929-8E6E-FA98B0A571F7}"/>
              </a:ext>
            </a:extLst>
          </p:cNvPr>
          <p:cNvGraphicFramePr>
            <a:graphicFrameLocks noChangeAspect="1"/>
          </p:cNvGraphicFramePr>
          <p:nvPr userDrawn="1">
            <p:custDataLst>
              <p:tags r:id="rId1"/>
            </p:custDataLst>
            <p:extLst>
              <p:ext uri="{D42A27DB-BD31-4B8C-83A1-F6EECF244321}">
                <p14:modId xmlns:p14="http://schemas.microsoft.com/office/powerpoint/2010/main" val="563535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3" name="Object 2" hidden="1">
                        <a:extLst>
                          <a:ext uri="{FF2B5EF4-FFF2-40B4-BE49-F238E27FC236}">
                            <a16:creationId xmlns:a16="http://schemas.microsoft.com/office/drawing/2014/main" id="{1EA366C9-F8B7-4929-8E6E-FA98B0A571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856" name="Rectangle 16"/>
          <p:cNvSpPr>
            <a:spLocks noGrp="1" noChangeArrowheads="1"/>
          </p:cNvSpPr>
          <p:nvPr>
            <p:ph type="subTitle" idx="1" hasCustomPrompt="1"/>
          </p:nvPr>
        </p:nvSpPr>
        <p:spPr>
          <a:xfrm>
            <a:off x="2242944" y="3733535"/>
            <a:ext cx="7200000" cy="360000"/>
          </a:xfrm>
          <a:prstGeom prst="rect">
            <a:avLst/>
          </a:prstGeom>
          <a:extLst>
            <a:ext uri="{909E8E84-426E-40DD-AFC4-6F175D3DCCD1}">
              <a14:hiddenFill xmlns:a14="http://schemas.microsoft.com/office/drawing/2010/main">
                <a:solidFill>
                  <a:schemeClr val="accent1"/>
                </a:solidFill>
              </a14:hiddenFill>
            </a:ext>
          </a:extLst>
        </p:spPr>
        <p:txBody>
          <a:bodyPr wrap="square" lIns="0" tIns="0" rIns="0" bIns="46800" anchor="b" anchorCtr="0"/>
          <a:lstStyle>
            <a:lvl1pPr marL="0" indent="0" algn="l">
              <a:spcBef>
                <a:spcPts val="0"/>
              </a:spcBef>
              <a:buFont typeface="Wingdings" panose="05000000000000000000" pitchFamily="2" charset="2"/>
              <a:buNone/>
              <a:defRPr sz="1800" b="0" baseline="0">
                <a:solidFill>
                  <a:schemeClr val="tx1"/>
                </a:solidFill>
                <a:latin typeface="+mj-lt"/>
                <a:cs typeface="Calibri" panose="020F0502020204030204" pitchFamily="34" charset="0"/>
              </a:defRPr>
            </a:lvl1pPr>
          </a:lstStyle>
          <a:p>
            <a:pPr lvl="0"/>
            <a:r>
              <a:rPr lang="en-US" altLang="en-US" noProof="0"/>
              <a:t>Section [#]</a:t>
            </a:r>
            <a:endParaRPr lang="en-GB" altLang="en-US" noProof="0"/>
          </a:p>
        </p:txBody>
      </p:sp>
      <p:sp>
        <p:nvSpPr>
          <p:cNvPr id="35842" name="Rectangle 2"/>
          <p:cNvSpPr>
            <a:spLocks noGrp="1" noChangeArrowheads="1"/>
          </p:cNvSpPr>
          <p:nvPr>
            <p:ph type="ctrTitle" hasCustomPrompt="1"/>
          </p:nvPr>
        </p:nvSpPr>
        <p:spPr>
          <a:xfrm>
            <a:off x="2242944" y="4131897"/>
            <a:ext cx="7200000" cy="720000"/>
          </a:xfrm>
          <a:prstGeom prst="rect">
            <a:avLst/>
          </a:prstGeom>
        </p:spPr>
        <p:txBody>
          <a:bodyPr vert="horz" wrap="square" lIns="0" tIns="0" rIns="0" bIns="0" anchor="t" anchorCtr="0"/>
          <a:lstStyle>
            <a:lvl1pPr algn="l">
              <a:defRPr sz="2400" b="1" baseline="0">
                <a:solidFill>
                  <a:srgbClr val="315D90"/>
                </a:solidFill>
                <a:latin typeface="+mj-lt"/>
                <a:cs typeface="Calibri" panose="020F0502020204030204" pitchFamily="34" charset="0"/>
              </a:defRPr>
            </a:lvl1pPr>
          </a:lstStyle>
          <a:p>
            <a:pPr lvl="0"/>
            <a:r>
              <a:rPr lang="en-US" altLang="en-US" noProof="0"/>
              <a:t>Section Title – 1</a:t>
            </a:r>
            <a:br>
              <a:rPr lang="en-US" altLang="en-US" noProof="0"/>
            </a:br>
            <a:r>
              <a:rPr lang="en-US" altLang="en-US" noProof="0"/>
              <a:t>Section Title – 2</a:t>
            </a:r>
            <a:endParaRPr lang="en-GB" altLang="en-US" noProof="0"/>
          </a:p>
        </p:txBody>
      </p:sp>
      <p:cxnSp>
        <p:nvCxnSpPr>
          <p:cNvPr id="13" name="Straight Connector 12">
            <a:extLst>
              <a:ext uri="{FF2B5EF4-FFF2-40B4-BE49-F238E27FC236}">
                <a16:creationId xmlns:a16="http://schemas.microsoft.com/office/drawing/2014/main" id="{91B9AEA7-1E6E-446B-91AB-288886B15ECF}"/>
              </a:ext>
            </a:extLst>
          </p:cNvPr>
          <p:cNvCxnSpPr/>
          <p:nvPr userDrawn="1"/>
        </p:nvCxnSpPr>
        <p:spPr>
          <a:xfrm>
            <a:off x="2242944" y="4117243"/>
            <a:ext cx="7200000" cy="0"/>
          </a:xfrm>
          <a:prstGeom prst="line">
            <a:avLst/>
          </a:prstGeom>
          <a:ln w="190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35" name="Slide Number Placeholder 6">
            <a:extLst>
              <a:ext uri="{FF2B5EF4-FFF2-40B4-BE49-F238E27FC236}">
                <a16:creationId xmlns:a16="http://schemas.microsoft.com/office/drawing/2014/main" id="{92A0D0A3-68C4-4417-9E05-B01F5F8E7230}"/>
              </a:ext>
            </a:extLst>
          </p:cNvPr>
          <p:cNvSpPr>
            <a:spLocks noGrp="1"/>
          </p:cNvSpPr>
          <p:nvPr>
            <p:ph type="sldNum" sz="quarter" idx="11"/>
          </p:nvPr>
        </p:nvSpPr>
        <p:spPr>
          <a:xfrm>
            <a:off x="9454758" y="6388883"/>
            <a:ext cx="432000" cy="360000"/>
          </a:xfrm>
          <a:prstGeom prst="rect">
            <a:avLst/>
          </a:prstGeom>
        </p:spPr>
        <p:txBody>
          <a:bodyPr vert="horz" lIns="0" tIns="0" rIns="0" bIns="46800" rtlCol="0" anchor="b" anchorCtr="1"/>
          <a:lstStyle>
            <a:lvl1pPr>
              <a:defRPr lang="en-US" smtClean="0">
                <a:latin typeface="Arial" panose="020B0604020202020204" pitchFamily="34" charset="0"/>
                <a:cs typeface="Arial" panose="020B0604020202020204" pitchFamily="34" charset="0"/>
              </a:defRPr>
            </a:lvl1pPr>
          </a:lstStyle>
          <a:p>
            <a:pPr algn="r"/>
            <a:fld id="{EED7964B-8F50-47E5-B5EE-37748C966AF4}" type="slidenum">
              <a:rPr lang="en-SG" smtClean="0"/>
              <a:pPr algn="r"/>
              <a:t>‹#›</a:t>
            </a:fld>
            <a:endParaRPr lang="en-SG"/>
          </a:p>
        </p:txBody>
      </p:sp>
      <p:sp>
        <p:nvSpPr>
          <p:cNvPr id="2" name="Rectangle 1">
            <a:extLst>
              <a:ext uri="{FF2B5EF4-FFF2-40B4-BE49-F238E27FC236}">
                <a16:creationId xmlns:a16="http://schemas.microsoft.com/office/drawing/2014/main" id="{A6B14327-2A8F-7347-1176-46D2B61066C0}"/>
              </a:ext>
            </a:extLst>
          </p:cNvPr>
          <p:cNvSpPr/>
          <p:nvPr userDrawn="1"/>
        </p:nvSpPr>
        <p:spPr bwMode="auto">
          <a:xfrm>
            <a:off x="-1003177" y="0"/>
            <a:ext cx="932156" cy="5042517"/>
          </a:xfrm>
          <a:prstGeom prst="rect">
            <a:avLst/>
          </a:prstGeom>
          <a:solidFill>
            <a:schemeClr val="bg1"/>
          </a:solidFill>
          <a:ln>
            <a:noFill/>
          </a:ln>
          <a:effectLst>
            <a:outerShdw blurRad="50800" dist="38100" dir="2700000" algn="ctr" rotWithShape="0">
              <a:schemeClr val="tx1">
                <a:alpha val="40000"/>
              </a:schemeClr>
            </a:outerShdw>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1DC8EFBF-3D3A-9895-C3D1-F9F6280C8235}"/>
              </a:ext>
            </a:extLst>
          </p:cNvPr>
          <p:cNvSpPr txBox="1"/>
          <p:nvPr userDrawn="1"/>
        </p:nvSpPr>
        <p:spPr>
          <a:xfrm>
            <a:off x="-920974" y="363984"/>
            <a:ext cx="767751" cy="263104"/>
          </a:xfrm>
          <a:prstGeom prst="rect">
            <a:avLst/>
          </a:prstGeom>
          <a:solidFill>
            <a:srgbClr val="089C8B"/>
          </a:solidFill>
          <a:ln w="6350">
            <a:noFill/>
            <a:prstDash val="dash"/>
          </a:ln>
        </p:spPr>
        <p:txBody>
          <a:bodyPr wrap="square" lIns="0" tIns="0" rIns="0" bIns="0" rtlCol="0" anchor="t">
            <a:noAutofit/>
          </a:bodyPr>
          <a:lstStyle/>
          <a:p>
            <a:pPr algn="l">
              <a:spcAft>
                <a:spcPts val="600"/>
              </a:spcAft>
            </a:pPr>
            <a:endParaRPr lang="en-SG" sz="900" b="0"/>
          </a:p>
        </p:txBody>
      </p:sp>
      <p:sp>
        <p:nvSpPr>
          <p:cNvPr id="5" name="TextBox 4">
            <a:extLst>
              <a:ext uri="{FF2B5EF4-FFF2-40B4-BE49-F238E27FC236}">
                <a16:creationId xmlns:a16="http://schemas.microsoft.com/office/drawing/2014/main" id="{946D56A4-7EBD-850B-351D-E4882560941F}"/>
              </a:ext>
            </a:extLst>
          </p:cNvPr>
          <p:cNvSpPr txBox="1"/>
          <p:nvPr userDrawn="1"/>
        </p:nvSpPr>
        <p:spPr>
          <a:xfrm>
            <a:off x="-920974" y="712514"/>
            <a:ext cx="767751" cy="263104"/>
          </a:xfrm>
          <a:prstGeom prst="rect">
            <a:avLst/>
          </a:prstGeom>
          <a:solidFill>
            <a:srgbClr val="315D90"/>
          </a:solidFill>
          <a:ln w="6350">
            <a:noFill/>
            <a:prstDash val="dash"/>
          </a:ln>
        </p:spPr>
        <p:txBody>
          <a:bodyPr wrap="square" lIns="0" tIns="0" rIns="0" bIns="0" rtlCol="0" anchor="t">
            <a:noAutofit/>
          </a:bodyPr>
          <a:lstStyle/>
          <a:p>
            <a:pPr algn="l">
              <a:spcAft>
                <a:spcPts val="600"/>
              </a:spcAft>
            </a:pPr>
            <a:endParaRPr lang="en-SG" sz="900" b="0"/>
          </a:p>
        </p:txBody>
      </p:sp>
      <p:sp>
        <p:nvSpPr>
          <p:cNvPr id="6" name="TextBox 5">
            <a:extLst>
              <a:ext uri="{FF2B5EF4-FFF2-40B4-BE49-F238E27FC236}">
                <a16:creationId xmlns:a16="http://schemas.microsoft.com/office/drawing/2014/main" id="{51E73948-4949-C764-BCC2-82E333BEE30E}"/>
              </a:ext>
            </a:extLst>
          </p:cNvPr>
          <p:cNvSpPr txBox="1"/>
          <p:nvPr userDrawn="1"/>
        </p:nvSpPr>
        <p:spPr>
          <a:xfrm>
            <a:off x="-920974" y="1061044"/>
            <a:ext cx="767751" cy="263104"/>
          </a:xfrm>
          <a:prstGeom prst="rect">
            <a:avLst/>
          </a:prstGeom>
          <a:solidFill>
            <a:srgbClr val="B4B8B9"/>
          </a:solidFill>
          <a:ln w="6350">
            <a:noFill/>
            <a:prstDash val="dash"/>
          </a:ln>
        </p:spPr>
        <p:txBody>
          <a:bodyPr wrap="square" lIns="0" tIns="0" rIns="0" bIns="0" rtlCol="0" anchor="t">
            <a:noAutofit/>
          </a:bodyPr>
          <a:lstStyle/>
          <a:p>
            <a:pPr algn="l">
              <a:spcAft>
                <a:spcPts val="600"/>
              </a:spcAft>
            </a:pPr>
            <a:endParaRPr lang="en-SG" sz="900" b="0"/>
          </a:p>
        </p:txBody>
      </p:sp>
      <p:sp>
        <p:nvSpPr>
          <p:cNvPr id="7" name="TextBox 6">
            <a:extLst>
              <a:ext uri="{FF2B5EF4-FFF2-40B4-BE49-F238E27FC236}">
                <a16:creationId xmlns:a16="http://schemas.microsoft.com/office/drawing/2014/main" id="{D70DFDAB-7936-EED5-6251-3F5888F5DC96}"/>
              </a:ext>
            </a:extLst>
          </p:cNvPr>
          <p:cNvSpPr txBox="1"/>
          <p:nvPr userDrawn="1"/>
        </p:nvSpPr>
        <p:spPr>
          <a:xfrm>
            <a:off x="-920974" y="1409573"/>
            <a:ext cx="767751" cy="263104"/>
          </a:xfrm>
          <a:prstGeom prst="rect">
            <a:avLst/>
          </a:prstGeom>
          <a:solidFill>
            <a:srgbClr val="00375E"/>
          </a:solidFill>
          <a:ln w="6350">
            <a:noFill/>
            <a:prstDash val="dash"/>
          </a:ln>
        </p:spPr>
        <p:txBody>
          <a:bodyPr wrap="square" lIns="0" tIns="0" rIns="0" bIns="0" rtlCol="0" anchor="t">
            <a:noAutofit/>
          </a:bodyPr>
          <a:lstStyle/>
          <a:p>
            <a:pPr algn="l">
              <a:spcAft>
                <a:spcPts val="600"/>
              </a:spcAft>
            </a:pPr>
            <a:endParaRPr lang="en-SG" sz="900" b="0"/>
          </a:p>
        </p:txBody>
      </p:sp>
      <p:sp>
        <p:nvSpPr>
          <p:cNvPr id="8" name="TextBox 7">
            <a:extLst>
              <a:ext uri="{FF2B5EF4-FFF2-40B4-BE49-F238E27FC236}">
                <a16:creationId xmlns:a16="http://schemas.microsoft.com/office/drawing/2014/main" id="{C23E0B36-AA0C-3313-B0C8-F3AD569813F1}"/>
              </a:ext>
            </a:extLst>
          </p:cNvPr>
          <p:cNvSpPr txBox="1"/>
          <p:nvPr userDrawn="1"/>
        </p:nvSpPr>
        <p:spPr>
          <a:xfrm>
            <a:off x="-920974" y="1758102"/>
            <a:ext cx="767751" cy="263104"/>
          </a:xfrm>
          <a:prstGeom prst="rect">
            <a:avLst/>
          </a:prstGeom>
          <a:solidFill>
            <a:srgbClr val="001C30"/>
          </a:solidFill>
          <a:ln w="6350">
            <a:noFill/>
            <a:prstDash val="dash"/>
          </a:ln>
        </p:spPr>
        <p:txBody>
          <a:bodyPr wrap="square" lIns="0" tIns="0" rIns="0" bIns="0" rtlCol="0" anchor="t">
            <a:noAutofit/>
          </a:bodyPr>
          <a:lstStyle/>
          <a:p>
            <a:pPr algn="l">
              <a:spcAft>
                <a:spcPts val="600"/>
              </a:spcAft>
            </a:pPr>
            <a:endParaRPr lang="en-SG" sz="900" b="0"/>
          </a:p>
        </p:txBody>
      </p:sp>
      <p:sp>
        <p:nvSpPr>
          <p:cNvPr id="9" name="TextBox 8">
            <a:extLst>
              <a:ext uri="{FF2B5EF4-FFF2-40B4-BE49-F238E27FC236}">
                <a16:creationId xmlns:a16="http://schemas.microsoft.com/office/drawing/2014/main" id="{4A409095-8E50-2ADB-B385-F1A2746FCFB5}"/>
              </a:ext>
            </a:extLst>
          </p:cNvPr>
          <p:cNvSpPr txBox="1"/>
          <p:nvPr userDrawn="1"/>
        </p:nvSpPr>
        <p:spPr>
          <a:xfrm>
            <a:off x="-923277" y="17756"/>
            <a:ext cx="772356" cy="318924"/>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800" b="1">
                <a:solidFill>
                  <a:schemeClr val="tx1"/>
                </a:solidFill>
              </a:rPr>
              <a:t>Company Colours</a:t>
            </a:r>
            <a:endParaRPr lang="en-SG" sz="800" b="1">
              <a:solidFill>
                <a:schemeClr val="tx1"/>
              </a:solidFill>
            </a:endParaRPr>
          </a:p>
        </p:txBody>
      </p:sp>
      <p:sp>
        <p:nvSpPr>
          <p:cNvPr id="10" name="TextBox 9">
            <a:extLst>
              <a:ext uri="{FF2B5EF4-FFF2-40B4-BE49-F238E27FC236}">
                <a16:creationId xmlns:a16="http://schemas.microsoft.com/office/drawing/2014/main" id="{906D61FD-A6B8-6C3E-F4F9-5FFE829BD02A}"/>
              </a:ext>
            </a:extLst>
          </p:cNvPr>
          <p:cNvSpPr txBox="1"/>
          <p:nvPr userDrawn="1"/>
        </p:nvSpPr>
        <p:spPr>
          <a:xfrm>
            <a:off x="-920974" y="2682536"/>
            <a:ext cx="767751" cy="263104"/>
          </a:xfrm>
          <a:prstGeom prst="rect">
            <a:avLst/>
          </a:prstGeom>
          <a:solidFill>
            <a:srgbClr val="CC0000"/>
          </a:solidFill>
          <a:ln w="6350">
            <a:noFill/>
            <a:prstDash val="dash"/>
          </a:ln>
        </p:spPr>
        <p:txBody>
          <a:bodyPr wrap="square" lIns="0" tIns="0" rIns="0" bIns="0" rtlCol="0" anchor="t">
            <a:noAutofit/>
          </a:bodyPr>
          <a:lstStyle/>
          <a:p>
            <a:pPr algn="l">
              <a:spcAft>
                <a:spcPts val="600"/>
              </a:spcAft>
            </a:pPr>
            <a:endParaRPr lang="en-SG" sz="900" b="0"/>
          </a:p>
        </p:txBody>
      </p:sp>
      <p:sp>
        <p:nvSpPr>
          <p:cNvPr id="11" name="TextBox 10">
            <a:extLst>
              <a:ext uri="{FF2B5EF4-FFF2-40B4-BE49-F238E27FC236}">
                <a16:creationId xmlns:a16="http://schemas.microsoft.com/office/drawing/2014/main" id="{3276FA00-66A2-ED55-F222-38A56237E6D4}"/>
              </a:ext>
            </a:extLst>
          </p:cNvPr>
          <p:cNvSpPr txBox="1"/>
          <p:nvPr userDrawn="1"/>
        </p:nvSpPr>
        <p:spPr>
          <a:xfrm>
            <a:off x="-920974" y="3032677"/>
            <a:ext cx="767751" cy="263104"/>
          </a:xfrm>
          <a:prstGeom prst="rect">
            <a:avLst/>
          </a:prstGeom>
          <a:solidFill>
            <a:srgbClr val="262626"/>
          </a:solidFill>
          <a:ln w="6350">
            <a:noFill/>
            <a:prstDash val="dash"/>
          </a:ln>
        </p:spPr>
        <p:txBody>
          <a:bodyPr wrap="square" lIns="0" tIns="0" rIns="0" bIns="0" rtlCol="0" anchor="t">
            <a:noAutofit/>
          </a:bodyPr>
          <a:lstStyle/>
          <a:p>
            <a:pPr algn="l">
              <a:spcAft>
                <a:spcPts val="600"/>
              </a:spcAft>
            </a:pPr>
            <a:endParaRPr lang="en-SG" sz="900" b="0"/>
          </a:p>
        </p:txBody>
      </p:sp>
      <p:sp>
        <p:nvSpPr>
          <p:cNvPr id="12" name="TextBox 11">
            <a:extLst>
              <a:ext uri="{FF2B5EF4-FFF2-40B4-BE49-F238E27FC236}">
                <a16:creationId xmlns:a16="http://schemas.microsoft.com/office/drawing/2014/main" id="{22033390-0100-1A22-2CF4-AF6525C839D6}"/>
              </a:ext>
            </a:extLst>
          </p:cNvPr>
          <p:cNvSpPr txBox="1"/>
          <p:nvPr userDrawn="1"/>
        </p:nvSpPr>
        <p:spPr>
          <a:xfrm>
            <a:off x="-920974" y="3382818"/>
            <a:ext cx="767751" cy="263104"/>
          </a:xfrm>
          <a:prstGeom prst="rect">
            <a:avLst/>
          </a:prstGeom>
          <a:solidFill>
            <a:srgbClr val="FDBBBC"/>
          </a:solidFill>
          <a:ln w="6350">
            <a:noFill/>
            <a:prstDash val="dash"/>
          </a:ln>
        </p:spPr>
        <p:txBody>
          <a:bodyPr wrap="square" lIns="0" tIns="0" rIns="0" bIns="0" rtlCol="0" anchor="t">
            <a:noAutofit/>
          </a:bodyPr>
          <a:lstStyle/>
          <a:p>
            <a:pPr algn="l">
              <a:spcAft>
                <a:spcPts val="600"/>
              </a:spcAft>
            </a:pPr>
            <a:endParaRPr lang="en-SG" sz="900" b="0"/>
          </a:p>
        </p:txBody>
      </p:sp>
      <p:sp>
        <p:nvSpPr>
          <p:cNvPr id="14" name="TextBox 13">
            <a:extLst>
              <a:ext uri="{FF2B5EF4-FFF2-40B4-BE49-F238E27FC236}">
                <a16:creationId xmlns:a16="http://schemas.microsoft.com/office/drawing/2014/main" id="{B3714193-D311-6344-F8EF-7EA1E425E2F0}"/>
              </a:ext>
            </a:extLst>
          </p:cNvPr>
          <p:cNvSpPr txBox="1"/>
          <p:nvPr userDrawn="1"/>
        </p:nvSpPr>
        <p:spPr>
          <a:xfrm>
            <a:off x="-920974" y="3732959"/>
            <a:ext cx="767751" cy="263104"/>
          </a:xfrm>
          <a:prstGeom prst="rect">
            <a:avLst/>
          </a:prstGeom>
          <a:solidFill>
            <a:srgbClr val="8E0408"/>
          </a:solidFill>
          <a:ln w="6350">
            <a:noFill/>
            <a:prstDash val="dash"/>
          </a:ln>
        </p:spPr>
        <p:txBody>
          <a:bodyPr wrap="square" lIns="0" tIns="0" rIns="0" bIns="0" rtlCol="0" anchor="t">
            <a:noAutofit/>
          </a:bodyPr>
          <a:lstStyle/>
          <a:p>
            <a:pPr algn="l">
              <a:spcAft>
                <a:spcPts val="600"/>
              </a:spcAft>
            </a:pPr>
            <a:endParaRPr lang="en-SG" sz="900" b="0"/>
          </a:p>
        </p:txBody>
      </p:sp>
      <p:sp>
        <p:nvSpPr>
          <p:cNvPr id="15" name="TextBox 14">
            <a:extLst>
              <a:ext uri="{FF2B5EF4-FFF2-40B4-BE49-F238E27FC236}">
                <a16:creationId xmlns:a16="http://schemas.microsoft.com/office/drawing/2014/main" id="{C2DCAB5A-BDBE-1A68-CA5A-3E5509913295}"/>
              </a:ext>
            </a:extLst>
          </p:cNvPr>
          <p:cNvSpPr txBox="1"/>
          <p:nvPr userDrawn="1"/>
        </p:nvSpPr>
        <p:spPr>
          <a:xfrm>
            <a:off x="-920974" y="4083100"/>
            <a:ext cx="767751" cy="263104"/>
          </a:xfrm>
          <a:prstGeom prst="rect">
            <a:avLst/>
          </a:prstGeom>
          <a:solidFill>
            <a:srgbClr val="FBDA97"/>
          </a:solidFill>
          <a:ln w="6350">
            <a:noFill/>
            <a:prstDash val="dash"/>
          </a:ln>
        </p:spPr>
        <p:txBody>
          <a:bodyPr wrap="square" lIns="0" tIns="0" rIns="0" bIns="0" rtlCol="0" anchor="t">
            <a:noAutofit/>
          </a:bodyPr>
          <a:lstStyle/>
          <a:p>
            <a:pPr algn="l">
              <a:spcAft>
                <a:spcPts val="600"/>
              </a:spcAft>
            </a:pPr>
            <a:endParaRPr lang="en-SG" sz="900" b="0"/>
          </a:p>
        </p:txBody>
      </p:sp>
      <p:sp>
        <p:nvSpPr>
          <p:cNvPr id="16" name="TextBox 15">
            <a:extLst>
              <a:ext uri="{FF2B5EF4-FFF2-40B4-BE49-F238E27FC236}">
                <a16:creationId xmlns:a16="http://schemas.microsoft.com/office/drawing/2014/main" id="{79CB5484-E07F-CA9B-36EC-51AE5BC203BF}"/>
              </a:ext>
            </a:extLst>
          </p:cNvPr>
          <p:cNvSpPr txBox="1"/>
          <p:nvPr userDrawn="1"/>
        </p:nvSpPr>
        <p:spPr>
          <a:xfrm>
            <a:off x="-923277" y="2469474"/>
            <a:ext cx="772356" cy="195814"/>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800" b="1">
                <a:solidFill>
                  <a:schemeClr val="tx1"/>
                </a:solidFill>
              </a:rPr>
              <a:t>DBS Colours</a:t>
            </a:r>
            <a:endParaRPr lang="en-SG" sz="800" b="1">
              <a:solidFill>
                <a:schemeClr val="tx1"/>
              </a:solidFill>
            </a:endParaRPr>
          </a:p>
        </p:txBody>
      </p:sp>
      <p:cxnSp>
        <p:nvCxnSpPr>
          <p:cNvPr id="17" name="Straight Connector 16">
            <a:extLst>
              <a:ext uri="{FF2B5EF4-FFF2-40B4-BE49-F238E27FC236}">
                <a16:creationId xmlns:a16="http://schemas.microsoft.com/office/drawing/2014/main" id="{03E987A0-A01C-03C9-ACE0-16C2F97C5DBC}"/>
              </a:ext>
            </a:extLst>
          </p:cNvPr>
          <p:cNvCxnSpPr>
            <a:cxnSpLocks/>
          </p:cNvCxnSpPr>
          <p:nvPr userDrawn="1"/>
        </p:nvCxnSpPr>
        <p:spPr bwMode="auto">
          <a:xfrm>
            <a:off x="-914400" y="2299317"/>
            <a:ext cx="75460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a:extLst>
              <a:ext uri="{FF2B5EF4-FFF2-40B4-BE49-F238E27FC236}">
                <a16:creationId xmlns:a16="http://schemas.microsoft.com/office/drawing/2014/main" id="{CEAC3E41-039A-E3DE-98E7-F9AFBFE11371}"/>
              </a:ext>
            </a:extLst>
          </p:cNvPr>
          <p:cNvSpPr txBox="1"/>
          <p:nvPr userDrawn="1"/>
        </p:nvSpPr>
        <p:spPr>
          <a:xfrm>
            <a:off x="-919494" y="4433240"/>
            <a:ext cx="767751" cy="263104"/>
          </a:xfrm>
          <a:prstGeom prst="rect">
            <a:avLst/>
          </a:prstGeom>
          <a:solidFill>
            <a:srgbClr val="717171"/>
          </a:solidFill>
          <a:ln w="6350">
            <a:noFill/>
            <a:prstDash val="dash"/>
          </a:ln>
        </p:spPr>
        <p:txBody>
          <a:bodyPr wrap="square" lIns="0" tIns="0" rIns="0" bIns="0" rtlCol="0" anchor="t">
            <a:noAutofit/>
          </a:bodyPr>
          <a:lstStyle/>
          <a:p>
            <a:pPr algn="l">
              <a:spcAft>
                <a:spcPts val="600"/>
              </a:spcAft>
            </a:pPr>
            <a:endParaRPr lang="en-SG" sz="900" b="0"/>
          </a:p>
        </p:txBody>
      </p:sp>
    </p:spTree>
    <p:extLst>
      <p:ext uri="{BB962C8B-B14F-4D97-AF65-F5344CB8AC3E}">
        <p14:creationId xmlns:p14="http://schemas.microsoft.com/office/powerpoint/2010/main" val="1266109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E03B5AF-6EF7-3C40-C9BA-7A4824F72D76}"/>
              </a:ext>
            </a:extLst>
          </p:cNvPr>
          <p:cNvSpPr/>
          <p:nvPr userDrawn="1"/>
        </p:nvSpPr>
        <p:spPr bwMode="auto">
          <a:xfrm>
            <a:off x="-1003177" y="0"/>
            <a:ext cx="932156" cy="5042517"/>
          </a:xfrm>
          <a:prstGeom prst="rect">
            <a:avLst/>
          </a:prstGeom>
          <a:solidFill>
            <a:schemeClr val="bg1"/>
          </a:solidFill>
          <a:ln>
            <a:noFill/>
          </a:ln>
          <a:effectLst>
            <a:outerShdw blurRad="50800" dist="38100" dir="2700000" algn="ctr" rotWithShape="0">
              <a:schemeClr val="tx1">
                <a:alpha val="40000"/>
              </a:schemeClr>
            </a:outerShdw>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graphicFrame>
        <p:nvGraphicFramePr>
          <p:cNvPr id="5" name="Object 4" hidden="1">
            <a:extLst>
              <a:ext uri="{FF2B5EF4-FFF2-40B4-BE49-F238E27FC236}">
                <a16:creationId xmlns:a16="http://schemas.microsoft.com/office/drawing/2014/main" id="{0CA82786-5228-4EAE-89E6-C0DF1C9E8FB3}"/>
              </a:ext>
            </a:extLst>
          </p:cNvPr>
          <p:cNvGraphicFramePr>
            <a:graphicFrameLocks noChangeAspect="1"/>
          </p:cNvGraphicFramePr>
          <p:nvPr userDrawn="1">
            <p:custDataLst>
              <p:tags r:id="rId1"/>
            </p:custDataLst>
            <p:extLst>
              <p:ext uri="{D42A27DB-BD31-4B8C-83A1-F6EECF244321}">
                <p14:modId xmlns:p14="http://schemas.microsoft.com/office/powerpoint/2010/main" val="18404482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5" name="Object 4" hidden="1">
                        <a:extLst>
                          <a:ext uri="{FF2B5EF4-FFF2-40B4-BE49-F238E27FC236}">
                            <a16:creationId xmlns:a16="http://schemas.microsoft.com/office/drawing/2014/main" id="{0CA82786-5228-4EAE-89E6-C0DF1C9E8F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9" name="Title 2">
            <a:extLst>
              <a:ext uri="{FF2B5EF4-FFF2-40B4-BE49-F238E27FC236}">
                <a16:creationId xmlns:a16="http://schemas.microsoft.com/office/drawing/2014/main" id="{82032CFC-E8F3-4522-9B2C-B0C355BDDB4F}"/>
              </a:ext>
            </a:extLst>
          </p:cNvPr>
          <p:cNvSpPr>
            <a:spLocks noGrp="1"/>
          </p:cNvSpPr>
          <p:nvPr>
            <p:ph type="title" hasCustomPrompt="1"/>
          </p:nvPr>
        </p:nvSpPr>
        <p:spPr>
          <a:xfrm>
            <a:off x="453000" y="245697"/>
            <a:ext cx="9000000" cy="576000"/>
          </a:xfrm>
          <a:prstGeom prst="rect">
            <a:avLst/>
          </a:prstGeom>
        </p:spPr>
        <p:txBody>
          <a:bodyPr vert="horz" lIns="0" tIns="0" rIns="0" bIns="46800" anchor="b" anchorCtr="0"/>
          <a:lstStyle>
            <a:lvl1pPr>
              <a:defRPr sz="1800" b="0"/>
            </a:lvl1pPr>
          </a:lstStyle>
          <a:p>
            <a:r>
              <a:rPr lang="en-SG"/>
              <a:t>[Banner Statement]</a:t>
            </a:r>
          </a:p>
        </p:txBody>
      </p:sp>
      <p:sp>
        <p:nvSpPr>
          <p:cNvPr id="50" name="Line 46">
            <a:extLst>
              <a:ext uri="{FF2B5EF4-FFF2-40B4-BE49-F238E27FC236}">
                <a16:creationId xmlns:a16="http://schemas.microsoft.com/office/drawing/2014/main" id="{558BDB1A-3D40-46EE-9539-504DEB8EE789}"/>
              </a:ext>
            </a:extLst>
          </p:cNvPr>
          <p:cNvSpPr>
            <a:spLocks noChangeShapeType="1"/>
          </p:cNvSpPr>
          <p:nvPr userDrawn="1"/>
        </p:nvSpPr>
        <p:spPr bwMode="auto">
          <a:xfrm>
            <a:off x="453000" y="821697"/>
            <a:ext cx="9000000" cy="0"/>
          </a:xfrm>
          <a:prstGeom prst="line">
            <a:avLst/>
          </a:prstGeom>
          <a:noFill/>
          <a:ln w="28575">
            <a:solidFill>
              <a:srgbClr val="089C8B"/>
            </a:solidFill>
            <a:round/>
            <a:headEnd/>
            <a:tailEnd/>
          </a:ln>
          <a:effectLst/>
        </p:spPr>
        <p:txBody>
          <a:bodyPr wrap="none" anchor="ctr"/>
          <a:lstStyle/>
          <a:p>
            <a:pPr fontAlgn="auto">
              <a:spcBef>
                <a:spcPts val="0"/>
              </a:spcBef>
              <a:spcAft>
                <a:spcPts val="0"/>
              </a:spcAft>
              <a:defRPr/>
            </a:pPr>
            <a:endParaRPr lang="en-SG" sz="1800" b="0">
              <a:solidFill>
                <a:srgbClr val="000000"/>
              </a:solidFill>
              <a:latin typeface="Calibri" pitchFamily="34" charset="0"/>
              <a:cs typeface="Calibri" pitchFamily="34" charset="0"/>
            </a:endParaRPr>
          </a:p>
        </p:txBody>
      </p:sp>
      <p:pic>
        <p:nvPicPr>
          <p:cNvPr id="105" name="Picture 104" descr="Shape&#10;&#10;Description automatically generated with medium confidence">
            <a:extLst>
              <a:ext uri="{FF2B5EF4-FFF2-40B4-BE49-F238E27FC236}">
                <a16:creationId xmlns:a16="http://schemas.microsoft.com/office/drawing/2014/main" id="{FF33E27E-B66C-40C1-AE36-0B3AB1CAEA01}"/>
              </a:ext>
            </a:extLst>
          </p:cNvPr>
          <p:cNvPicPr>
            <a:picLocks noChangeAspect="1"/>
          </p:cNvPicPr>
          <p:nvPr userDrawn="1"/>
        </p:nvPicPr>
        <p:blipFill>
          <a:blip r:embed="rId5"/>
          <a:stretch>
            <a:fillRect/>
          </a:stretch>
        </p:blipFill>
        <p:spPr>
          <a:xfrm>
            <a:off x="462525" y="6388883"/>
            <a:ext cx="792000" cy="230908"/>
          </a:xfrm>
          <a:prstGeom prst="rect">
            <a:avLst/>
          </a:prstGeom>
        </p:spPr>
      </p:pic>
      <p:sp>
        <p:nvSpPr>
          <p:cNvPr id="112" name="Slide Number Placeholder 6">
            <a:extLst>
              <a:ext uri="{FF2B5EF4-FFF2-40B4-BE49-F238E27FC236}">
                <a16:creationId xmlns:a16="http://schemas.microsoft.com/office/drawing/2014/main" id="{37CA7032-ACE1-4CD3-8160-9446BA839B79}"/>
              </a:ext>
            </a:extLst>
          </p:cNvPr>
          <p:cNvSpPr>
            <a:spLocks noGrp="1"/>
          </p:cNvSpPr>
          <p:nvPr>
            <p:ph type="sldNum" sz="quarter" idx="11"/>
          </p:nvPr>
        </p:nvSpPr>
        <p:spPr>
          <a:xfrm>
            <a:off x="9454758" y="6388883"/>
            <a:ext cx="432000" cy="360000"/>
          </a:xfrm>
          <a:prstGeom prst="rect">
            <a:avLst/>
          </a:prstGeom>
        </p:spPr>
        <p:txBody>
          <a:bodyPr lIns="0" tIns="0" rIns="0" bIns="46800" anchor="b" anchorCtr="1"/>
          <a:lstStyle>
            <a:lvl1pPr algn="r">
              <a:defRPr sz="700">
                <a:latin typeface="Arial" panose="020B0604020202020204" pitchFamily="34" charset="0"/>
                <a:cs typeface="Arial" panose="020B0604020202020204" pitchFamily="34" charset="0"/>
              </a:defRPr>
            </a:lvl1pPr>
          </a:lstStyle>
          <a:p>
            <a:pPr>
              <a:defRPr/>
            </a:pPr>
            <a:fld id="{EED7964B-8F50-47E5-B5EE-37748C966AF4}" type="slidenum">
              <a:rPr lang="en-US" smtClean="0"/>
              <a:pPr>
                <a:defRPr/>
              </a:pPr>
              <a:t>‹#›</a:t>
            </a:fld>
            <a:endParaRPr lang="en-US"/>
          </a:p>
        </p:txBody>
      </p:sp>
      <p:sp>
        <p:nvSpPr>
          <p:cNvPr id="2" name="Text Placeholder 22">
            <a:extLst>
              <a:ext uri="{FF2B5EF4-FFF2-40B4-BE49-F238E27FC236}">
                <a16:creationId xmlns:a16="http://schemas.microsoft.com/office/drawing/2014/main" id="{FC324623-233C-3724-8AFB-D062459CC56C}"/>
              </a:ext>
            </a:extLst>
          </p:cNvPr>
          <p:cNvSpPr>
            <a:spLocks noGrp="1"/>
          </p:cNvSpPr>
          <p:nvPr>
            <p:ph type="body" sz="quarter" idx="46" hasCustomPrompt="1"/>
          </p:nvPr>
        </p:nvSpPr>
        <p:spPr>
          <a:xfrm>
            <a:off x="1353000" y="6388883"/>
            <a:ext cx="8100000" cy="360000"/>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lvl1pPr marL="228600" marR="0" indent="-228600" algn="l" defTabSz="914400" rtl="0" eaLnBrk="1" fontAlgn="auto" latinLnBrk="0" hangingPunct="1">
              <a:lnSpc>
                <a:spcPct val="100000"/>
              </a:lnSpc>
              <a:spcBef>
                <a:spcPts val="0"/>
              </a:spcBef>
              <a:spcAft>
                <a:spcPts val="0"/>
              </a:spcAft>
              <a:buClrTx/>
              <a:buSzTx/>
              <a:buFont typeface="+mj-lt"/>
              <a:buAutoNum type="arabicParenBoth"/>
              <a:tabLst/>
              <a:defRPr kumimoji="0" lang="en-US" sz="700" b="0" i="0" u="none" strike="noStrike" kern="1200" cap="none" spc="0" normalizeH="0" baseline="0" noProof="0">
                <a:ln>
                  <a:noFill/>
                </a:ln>
                <a:solidFill>
                  <a:schemeClr val="bg1">
                    <a:lumMod val="50000"/>
                  </a:schemeClr>
                </a:solidFill>
                <a:effectLst/>
                <a:uLnTx/>
                <a:uFillTx/>
                <a:latin typeface="Arial" panose="020B0604020202020204" pitchFamily="34" charset="0"/>
                <a:ea typeface="+mn-ea"/>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[Notes/Source]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6" name="TextBox 5">
            <a:extLst>
              <a:ext uri="{FF2B5EF4-FFF2-40B4-BE49-F238E27FC236}">
                <a16:creationId xmlns:a16="http://schemas.microsoft.com/office/drawing/2014/main" id="{5C444931-5679-A50B-A526-210C28D441CB}"/>
              </a:ext>
            </a:extLst>
          </p:cNvPr>
          <p:cNvSpPr txBox="1"/>
          <p:nvPr userDrawn="1"/>
        </p:nvSpPr>
        <p:spPr>
          <a:xfrm>
            <a:off x="-920974" y="363984"/>
            <a:ext cx="767751" cy="263104"/>
          </a:xfrm>
          <a:prstGeom prst="rect">
            <a:avLst/>
          </a:prstGeom>
          <a:solidFill>
            <a:srgbClr val="089C8B"/>
          </a:solidFill>
          <a:ln w="6350">
            <a:noFill/>
            <a:prstDash val="dash"/>
          </a:ln>
        </p:spPr>
        <p:txBody>
          <a:bodyPr wrap="square" lIns="0" tIns="0" rIns="0" bIns="0" rtlCol="0" anchor="t">
            <a:noAutofit/>
          </a:bodyPr>
          <a:lstStyle/>
          <a:p>
            <a:pPr algn="l">
              <a:spcAft>
                <a:spcPts val="600"/>
              </a:spcAft>
            </a:pPr>
            <a:endParaRPr lang="en-SG" sz="900" b="0"/>
          </a:p>
        </p:txBody>
      </p:sp>
      <p:sp>
        <p:nvSpPr>
          <p:cNvPr id="7" name="TextBox 6">
            <a:extLst>
              <a:ext uri="{FF2B5EF4-FFF2-40B4-BE49-F238E27FC236}">
                <a16:creationId xmlns:a16="http://schemas.microsoft.com/office/drawing/2014/main" id="{5F8F8696-25BE-D5FA-70AD-DFDA67BB3FD6}"/>
              </a:ext>
            </a:extLst>
          </p:cNvPr>
          <p:cNvSpPr txBox="1"/>
          <p:nvPr userDrawn="1"/>
        </p:nvSpPr>
        <p:spPr>
          <a:xfrm>
            <a:off x="-920974" y="712514"/>
            <a:ext cx="767751" cy="263104"/>
          </a:xfrm>
          <a:prstGeom prst="rect">
            <a:avLst/>
          </a:prstGeom>
          <a:solidFill>
            <a:srgbClr val="315D90"/>
          </a:solidFill>
          <a:ln w="6350">
            <a:noFill/>
            <a:prstDash val="dash"/>
          </a:ln>
        </p:spPr>
        <p:txBody>
          <a:bodyPr wrap="square" lIns="0" tIns="0" rIns="0" bIns="0" rtlCol="0" anchor="t">
            <a:noAutofit/>
          </a:bodyPr>
          <a:lstStyle/>
          <a:p>
            <a:pPr algn="l">
              <a:spcAft>
                <a:spcPts val="600"/>
              </a:spcAft>
            </a:pPr>
            <a:endParaRPr lang="en-SG" sz="900" b="0"/>
          </a:p>
        </p:txBody>
      </p:sp>
      <p:sp>
        <p:nvSpPr>
          <p:cNvPr id="3" name="TextBox 2">
            <a:extLst>
              <a:ext uri="{FF2B5EF4-FFF2-40B4-BE49-F238E27FC236}">
                <a16:creationId xmlns:a16="http://schemas.microsoft.com/office/drawing/2014/main" id="{8DCB8CFF-8B6C-1B4C-935D-87A8D8C4A06C}"/>
              </a:ext>
            </a:extLst>
          </p:cNvPr>
          <p:cNvSpPr txBox="1"/>
          <p:nvPr userDrawn="1"/>
        </p:nvSpPr>
        <p:spPr>
          <a:xfrm>
            <a:off x="-920974" y="1061044"/>
            <a:ext cx="767751" cy="263104"/>
          </a:xfrm>
          <a:prstGeom prst="rect">
            <a:avLst/>
          </a:prstGeom>
          <a:solidFill>
            <a:srgbClr val="B4B8B9"/>
          </a:solidFill>
          <a:ln w="6350">
            <a:noFill/>
            <a:prstDash val="dash"/>
          </a:ln>
        </p:spPr>
        <p:txBody>
          <a:bodyPr wrap="square" lIns="0" tIns="0" rIns="0" bIns="0" rtlCol="0" anchor="t">
            <a:noAutofit/>
          </a:bodyPr>
          <a:lstStyle/>
          <a:p>
            <a:pPr algn="l">
              <a:spcAft>
                <a:spcPts val="600"/>
              </a:spcAft>
            </a:pPr>
            <a:endParaRPr lang="en-SG" sz="900" b="0"/>
          </a:p>
        </p:txBody>
      </p:sp>
      <p:sp>
        <p:nvSpPr>
          <p:cNvPr id="4" name="TextBox 3">
            <a:extLst>
              <a:ext uri="{FF2B5EF4-FFF2-40B4-BE49-F238E27FC236}">
                <a16:creationId xmlns:a16="http://schemas.microsoft.com/office/drawing/2014/main" id="{C1BC6CFE-EE03-7E4C-4306-AAC1E802D5ED}"/>
              </a:ext>
            </a:extLst>
          </p:cNvPr>
          <p:cNvSpPr txBox="1"/>
          <p:nvPr userDrawn="1"/>
        </p:nvSpPr>
        <p:spPr>
          <a:xfrm>
            <a:off x="-920974" y="1409573"/>
            <a:ext cx="767751" cy="263104"/>
          </a:xfrm>
          <a:prstGeom prst="rect">
            <a:avLst/>
          </a:prstGeom>
          <a:solidFill>
            <a:srgbClr val="00375E"/>
          </a:solidFill>
          <a:ln w="6350">
            <a:noFill/>
            <a:prstDash val="dash"/>
          </a:ln>
        </p:spPr>
        <p:txBody>
          <a:bodyPr wrap="square" lIns="0" tIns="0" rIns="0" bIns="0" rtlCol="0" anchor="t">
            <a:noAutofit/>
          </a:bodyPr>
          <a:lstStyle/>
          <a:p>
            <a:pPr algn="l">
              <a:spcAft>
                <a:spcPts val="600"/>
              </a:spcAft>
            </a:pPr>
            <a:endParaRPr lang="en-SG" sz="900" b="0"/>
          </a:p>
        </p:txBody>
      </p:sp>
      <p:sp>
        <p:nvSpPr>
          <p:cNvPr id="8" name="TextBox 7">
            <a:extLst>
              <a:ext uri="{FF2B5EF4-FFF2-40B4-BE49-F238E27FC236}">
                <a16:creationId xmlns:a16="http://schemas.microsoft.com/office/drawing/2014/main" id="{03B9417E-EDFE-C3FE-B54D-B5C2A0463ACA}"/>
              </a:ext>
            </a:extLst>
          </p:cNvPr>
          <p:cNvSpPr txBox="1"/>
          <p:nvPr userDrawn="1"/>
        </p:nvSpPr>
        <p:spPr>
          <a:xfrm>
            <a:off x="-920974" y="1758102"/>
            <a:ext cx="767751" cy="263104"/>
          </a:xfrm>
          <a:prstGeom prst="rect">
            <a:avLst/>
          </a:prstGeom>
          <a:solidFill>
            <a:srgbClr val="001C30"/>
          </a:solidFill>
          <a:ln w="6350">
            <a:noFill/>
            <a:prstDash val="dash"/>
          </a:ln>
        </p:spPr>
        <p:txBody>
          <a:bodyPr wrap="square" lIns="0" tIns="0" rIns="0" bIns="0" rtlCol="0" anchor="t">
            <a:noAutofit/>
          </a:bodyPr>
          <a:lstStyle/>
          <a:p>
            <a:pPr algn="l">
              <a:spcAft>
                <a:spcPts val="600"/>
              </a:spcAft>
            </a:pPr>
            <a:endParaRPr lang="en-SG" sz="900" b="0"/>
          </a:p>
        </p:txBody>
      </p:sp>
      <p:sp>
        <p:nvSpPr>
          <p:cNvPr id="13" name="TextBox 12">
            <a:extLst>
              <a:ext uri="{FF2B5EF4-FFF2-40B4-BE49-F238E27FC236}">
                <a16:creationId xmlns:a16="http://schemas.microsoft.com/office/drawing/2014/main" id="{D20E3C25-EB93-E7BF-2A7C-CBA6976BCA00}"/>
              </a:ext>
            </a:extLst>
          </p:cNvPr>
          <p:cNvSpPr txBox="1"/>
          <p:nvPr userDrawn="1"/>
        </p:nvSpPr>
        <p:spPr>
          <a:xfrm>
            <a:off x="-923277" y="17756"/>
            <a:ext cx="772356" cy="318924"/>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800" b="1">
                <a:solidFill>
                  <a:schemeClr val="tx1"/>
                </a:solidFill>
              </a:rPr>
              <a:t>Company Colours</a:t>
            </a:r>
            <a:endParaRPr lang="en-SG" sz="800" b="1">
              <a:solidFill>
                <a:schemeClr val="tx1"/>
              </a:solidFill>
            </a:endParaRPr>
          </a:p>
        </p:txBody>
      </p:sp>
      <p:sp>
        <p:nvSpPr>
          <p:cNvPr id="15" name="TextBox 14">
            <a:extLst>
              <a:ext uri="{FF2B5EF4-FFF2-40B4-BE49-F238E27FC236}">
                <a16:creationId xmlns:a16="http://schemas.microsoft.com/office/drawing/2014/main" id="{3A99C15B-5AE3-CAD1-CA6B-0DE92A0DEA51}"/>
              </a:ext>
            </a:extLst>
          </p:cNvPr>
          <p:cNvSpPr txBox="1"/>
          <p:nvPr userDrawn="1"/>
        </p:nvSpPr>
        <p:spPr>
          <a:xfrm>
            <a:off x="-920974" y="2682536"/>
            <a:ext cx="767751" cy="263104"/>
          </a:xfrm>
          <a:prstGeom prst="rect">
            <a:avLst/>
          </a:prstGeom>
          <a:solidFill>
            <a:srgbClr val="CC0000"/>
          </a:solidFill>
          <a:ln w="6350">
            <a:noFill/>
            <a:prstDash val="dash"/>
          </a:ln>
        </p:spPr>
        <p:txBody>
          <a:bodyPr wrap="square" lIns="0" tIns="0" rIns="0" bIns="0" rtlCol="0" anchor="t">
            <a:noAutofit/>
          </a:bodyPr>
          <a:lstStyle/>
          <a:p>
            <a:pPr algn="l">
              <a:spcAft>
                <a:spcPts val="600"/>
              </a:spcAft>
            </a:pPr>
            <a:endParaRPr lang="en-SG" sz="900" b="0"/>
          </a:p>
        </p:txBody>
      </p:sp>
      <p:sp>
        <p:nvSpPr>
          <p:cNvPr id="16" name="TextBox 15">
            <a:extLst>
              <a:ext uri="{FF2B5EF4-FFF2-40B4-BE49-F238E27FC236}">
                <a16:creationId xmlns:a16="http://schemas.microsoft.com/office/drawing/2014/main" id="{D3CDC32D-805A-0906-E03B-8289B12110E2}"/>
              </a:ext>
            </a:extLst>
          </p:cNvPr>
          <p:cNvSpPr txBox="1"/>
          <p:nvPr userDrawn="1"/>
        </p:nvSpPr>
        <p:spPr>
          <a:xfrm>
            <a:off x="-920974" y="3032677"/>
            <a:ext cx="767751" cy="263104"/>
          </a:xfrm>
          <a:prstGeom prst="rect">
            <a:avLst/>
          </a:prstGeom>
          <a:solidFill>
            <a:srgbClr val="262626"/>
          </a:solidFill>
          <a:ln w="6350">
            <a:noFill/>
            <a:prstDash val="dash"/>
          </a:ln>
        </p:spPr>
        <p:txBody>
          <a:bodyPr wrap="square" lIns="0" tIns="0" rIns="0" bIns="0" rtlCol="0" anchor="t">
            <a:noAutofit/>
          </a:bodyPr>
          <a:lstStyle/>
          <a:p>
            <a:pPr algn="l">
              <a:spcAft>
                <a:spcPts val="600"/>
              </a:spcAft>
            </a:pPr>
            <a:endParaRPr lang="en-SG" sz="900" b="0"/>
          </a:p>
        </p:txBody>
      </p:sp>
      <p:sp>
        <p:nvSpPr>
          <p:cNvPr id="17" name="TextBox 16">
            <a:extLst>
              <a:ext uri="{FF2B5EF4-FFF2-40B4-BE49-F238E27FC236}">
                <a16:creationId xmlns:a16="http://schemas.microsoft.com/office/drawing/2014/main" id="{83FFC50C-00A6-B210-9575-2708E8D5A2E4}"/>
              </a:ext>
            </a:extLst>
          </p:cNvPr>
          <p:cNvSpPr txBox="1"/>
          <p:nvPr userDrawn="1"/>
        </p:nvSpPr>
        <p:spPr>
          <a:xfrm>
            <a:off x="-920974" y="3382818"/>
            <a:ext cx="767751" cy="263104"/>
          </a:xfrm>
          <a:prstGeom prst="rect">
            <a:avLst/>
          </a:prstGeom>
          <a:solidFill>
            <a:srgbClr val="FDBBBC"/>
          </a:solidFill>
          <a:ln w="6350">
            <a:noFill/>
            <a:prstDash val="dash"/>
          </a:ln>
        </p:spPr>
        <p:txBody>
          <a:bodyPr wrap="square" lIns="0" tIns="0" rIns="0" bIns="0" rtlCol="0" anchor="t">
            <a:noAutofit/>
          </a:bodyPr>
          <a:lstStyle/>
          <a:p>
            <a:pPr algn="l">
              <a:spcAft>
                <a:spcPts val="600"/>
              </a:spcAft>
            </a:pPr>
            <a:endParaRPr lang="en-SG" sz="900" b="0"/>
          </a:p>
        </p:txBody>
      </p:sp>
      <p:sp>
        <p:nvSpPr>
          <p:cNvPr id="18" name="TextBox 17">
            <a:extLst>
              <a:ext uri="{FF2B5EF4-FFF2-40B4-BE49-F238E27FC236}">
                <a16:creationId xmlns:a16="http://schemas.microsoft.com/office/drawing/2014/main" id="{E8EA0DD5-ED0A-54BC-A2A3-744074DB9173}"/>
              </a:ext>
            </a:extLst>
          </p:cNvPr>
          <p:cNvSpPr txBox="1"/>
          <p:nvPr userDrawn="1"/>
        </p:nvSpPr>
        <p:spPr>
          <a:xfrm>
            <a:off x="-920974" y="3732959"/>
            <a:ext cx="767751" cy="263104"/>
          </a:xfrm>
          <a:prstGeom prst="rect">
            <a:avLst/>
          </a:prstGeom>
          <a:solidFill>
            <a:srgbClr val="8E0408"/>
          </a:solidFill>
          <a:ln w="6350">
            <a:noFill/>
            <a:prstDash val="dash"/>
          </a:ln>
        </p:spPr>
        <p:txBody>
          <a:bodyPr wrap="square" lIns="0" tIns="0" rIns="0" bIns="0" rtlCol="0" anchor="t">
            <a:noAutofit/>
          </a:bodyPr>
          <a:lstStyle/>
          <a:p>
            <a:pPr algn="l">
              <a:spcAft>
                <a:spcPts val="600"/>
              </a:spcAft>
            </a:pPr>
            <a:endParaRPr lang="en-SG" sz="900" b="0"/>
          </a:p>
        </p:txBody>
      </p:sp>
      <p:sp>
        <p:nvSpPr>
          <p:cNvPr id="19" name="TextBox 18">
            <a:extLst>
              <a:ext uri="{FF2B5EF4-FFF2-40B4-BE49-F238E27FC236}">
                <a16:creationId xmlns:a16="http://schemas.microsoft.com/office/drawing/2014/main" id="{8BCFCA1F-8861-79AB-B7F9-DD53B232CFF1}"/>
              </a:ext>
            </a:extLst>
          </p:cNvPr>
          <p:cNvSpPr txBox="1"/>
          <p:nvPr userDrawn="1"/>
        </p:nvSpPr>
        <p:spPr>
          <a:xfrm>
            <a:off x="-920974" y="4083100"/>
            <a:ext cx="767751" cy="263104"/>
          </a:xfrm>
          <a:prstGeom prst="rect">
            <a:avLst/>
          </a:prstGeom>
          <a:solidFill>
            <a:srgbClr val="FBDA97"/>
          </a:solidFill>
          <a:ln w="6350">
            <a:noFill/>
            <a:prstDash val="dash"/>
          </a:ln>
        </p:spPr>
        <p:txBody>
          <a:bodyPr wrap="square" lIns="0" tIns="0" rIns="0" bIns="0" rtlCol="0" anchor="t">
            <a:noAutofit/>
          </a:bodyPr>
          <a:lstStyle/>
          <a:p>
            <a:pPr algn="l">
              <a:spcAft>
                <a:spcPts val="600"/>
              </a:spcAft>
            </a:pPr>
            <a:endParaRPr lang="en-SG" sz="900" b="0"/>
          </a:p>
        </p:txBody>
      </p:sp>
      <p:sp>
        <p:nvSpPr>
          <p:cNvPr id="20" name="TextBox 19">
            <a:extLst>
              <a:ext uri="{FF2B5EF4-FFF2-40B4-BE49-F238E27FC236}">
                <a16:creationId xmlns:a16="http://schemas.microsoft.com/office/drawing/2014/main" id="{237279AF-43EC-1EB9-5FCF-60A67B03D83E}"/>
              </a:ext>
            </a:extLst>
          </p:cNvPr>
          <p:cNvSpPr txBox="1"/>
          <p:nvPr userDrawn="1"/>
        </p:nvSpPr>
        <p:spPr>
          <a:xfrm>
            <a:off x="-923277" y="2469474"/>
            <a:ext cx="772356" cy="195814"/>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800" b="1">
                <a:solidFill>
                  <a:schemeClr val="tx1"/>
                </a:solidFill>
              </a:rPr>
              <a:t>DBS Colours</a:t>
            </a:r>
            <a:endParaRPr lang="en-SG" sz="800" b="1">
              <a:solidFill>
                <a:schemeClr val="tx1"/>
              </a:solidFill>
            </a:endParaRPr>
          </a:p>
        </p:txBody>
      </p:sp>
      <p:cxnSp>
        <p:nvCxnSpPr>
          <p:cNvPr id="22" name="Straight Connector 21">
            <a:extLst>
              <a:ext uri="{FF2B5EF4-FFF2-40B4-BE49-F238E27FC236}">
                <a16:creationId xmlns:a16="http://schemas.microsoft.com/office/drawing/2014/main" id="{30C7863C-9E5F-CEE8-3684-31ED40462D09}"/>
              </a:ext>
            </a:extLst>
          </p:cNvPr>
          <p:cNvCxnSpPr>
            <a:cxnSpLocks/>
          </p:cNvCxnSpPr>
          <p:nvPr userDrawn="1"/>
        </p:nvCxnSpPr>
        <p:spPr bwMode="auto">
          <a:xfrm>
            <a:off x="-914400" y="2299317"/>
            <a:ext cx="754602" cy="0"/>
          </a:xfrm>
          <a:prstGeom prst="line">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Box 24">
            <a:extLst>
              <a:ext uri="{FF2B5EF4-FFF2-40B4-BE49-F238E27FC236}">
                <a16:creationId xmlns:a16="http://schemas.microsoft.com/office/drawing/2014/main" id="{4515E63D-4E03-F189-74DF-CCC5A8B5DF15}"/>
              </a:ext>
            </a:extLst>
          </p:cNvPr>
          <p:cNvSpPr txBox="1"/>
          <p:nvPr userDrawn="1"/>
        </p:nvSpPr>
        <p:spPr>
          <a:xfrm>
            <a:off x="-919494" y="4433240"/>
            <a:ext cx="767751" cy="263104"/>
          </a:xfrm>
          <a:prstGeom prst="rect">
            <a:avLst/>
          </a:prstGeom>
          <a:solidFill>
            <a:srgbClr val="717171"/>
          </a:solidFill>
          <a:ln w="6350">
            <a:noFill/>
            <a:prstDash val="dash"/>
          </a:ln>
        </p:spPr>
        <p:txBody>
          <a:bodyPr wrap="square" lIns="0" tIns="0" rIns="0" bIns="0" rtlCol="0" anchor="t">
            <a:noAutofit/>
          </a:bodyPr>
          <a:lstStyle/>
          <a:p>
            <a:pPr algn="l">
              <a:spcAft>
                <a:spcPts val="600"/>
              </a:spcAft>
            </a:pPr>
            <a:endParaRPr lang="en-SG" sz="900" b="0"/>
          </a:p>
        </p:txBody>
      </p:sp>
    </p:spTree>
    <p:extLst>
      <p:ext uri="{BB962C8B-B14F-4D97-AF65-F5344CB8AC3E}">
        <p14:creationId xmlns:p14="http://schemas.microsoft.com/office/powerpoint/2010/main" val="3424555518"/>
      </p:ext>
    </p:extLst>
  </p:cSld>
  <p:clrMapOvr>
    <a:masterClrMapping/>
  </p:clrMapOvr>
  <p:extLst>
    <p:ext uri="{DCECCB84-F9BA-43D5-87BE-67443E8EF086}">
      <p15:sldGuideLst xmlns:p15="http://schemas.microsoft.com/office/powerpoint/2012/main">
        <p15:guide id="1" pos="28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01AAE62-B708-4FD4-9A0D-46C84F405A2A}"/>
              </a:ext>
            </a:extLst>
          </p:cNvPr>
          <p:cNvGraphicFramePr>
            <a:graphicFrameLocks noChangeAspect="1"/>
          </p:cNvGraphicFramePr>
          <p:nvPr userDrawn="1">
            <p:custDataLst>
              <p:tags r:id="rId1"/>
            </p:custDataLst>
            <p:extLst>
              <p:ext uri="{D42A27DB-BD31-4B8C-83A1-F6EECF244321}">
                <p14:modId xmlns:p14="http://schemas.microsoft.com/office/powerpoint/2010/main" val="1879197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8" imgH="347" progId="TCLayout.ActiveDocument.1">
                  <p:embed/>
                </p:oleObj>
              </mc:Choice>
              <mc:Fallback>
                <p:oleObj name="think-cell Slide" r:id="rId3" imgW="348" imgH="347" progId="TCLayout.ActiveDocument.1">
                  <p:embed/>
                  <p:pic>
                    <p:nvPicPr>
                      <p:cNvPr id="2" name="Object 1" hidden="1">
                        <a:extLst>
                          <a:ext uri="{FF2B5EF4-FFF2-40B4-BE49-F238E27FC236}">
                            <a16:creationId xmlns:a16="http://schemas.microsoft.com/office/drawing/2014/main" id="{801AAE62-B708-4FD4-9A0D-46C84F405A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7">
            <a:extLst>
              <a:ext uri="{FF2B5EF4-FFF2-40B4-BE49-F238E27FC236}">
                <a16:creationId xmlns:a16="http://schemas.microsoft.com/office/drawing/2014/main" id="{568462B2-821D-427D-826E-75DB00D2A303}"/>
              </a:ext>
            </a:extLst>
          </p:cNvPr>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43428" y="1153172"/>
            <a:ext cx="8959595" cy="504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Graphical user interface&#10;&#10;Description automatically generated with low confidence">
            <a:extLst>
              <a:ext uri="{FF2B5EF4-FFF2-40B4-BE49-F238E27FC236}">
                <a16:creationId xmlns:a16="http://schemas.microsoft.com/office/drawing/2014/main" id="{02D298FA-103C-415C-90C6-8511F80E91A5}"/>
              </a:ext>
            </a:extLst>
          </p:cNvPr>
          <p:cNvPicPr>
            <a:picLocks noChangeAspect="1"/>
          </p:cNvPicPr>
          <p:nvPr userDrawn="1"/>
        </p:nvPicPr>
        <p:blipFill>
          <a:blip r:embed="rId6"/>
          <a:stretch>
            <a:fillRect/>
          </a:stretch>
        </p:blipFill>
        <p:spPr>
          <a:xfrm>
            <a:off x="1" y="755650"/>
            <a:ext cx="1620000" cy="539493"/>
          </a:xfrm>
          <a:prstGeom prst="rect">
            <a:avLst/>
          </a:prstGeom>
        </p:spPr>
      </p:pic>
      <p:sp>
        <p:nvSpPr>
          <p:cNvPr id="8" name="Rectangle 11">
            <a:extLst>
              <a:ext uri="{FF2B5EF4-FFF2-40B4-BE49-F238E27FC236}">
                <a16:creationId xmlns:a16="http://schemas.microsoft.com/office/drawing/2014/main" id="{F694BC04-BC56-4926-8D6A-C347FA4E7C1E}"/>
              </a:ext>
            </a:extLst>
          </p:cNvPr>
          <p:cNvSpPr>
            <a:spLocks noChangeArrowheads="1"/>
          </p:cNvSpPr>
          <p:nvPr userDrawn="1"/>
        </p:nvSpPr>
        <p:spPr bwMode="auto">
          <a:xfrm>
            <a:off x="456065" y="3734336"/>
            <a:ext cx="9007023" cy="2387064"/>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Important Notice</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Presentation (the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Presentation</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presented by DBS Bank and its affiliates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DBS</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is partially based on information obtained from market sources. Although the attached Presentation is predicated on market information relating to the company to which DBS provides a copy (the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Company</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DBS has not independently verified any such information or representation and accordingly, cannot and do not warrant, and do not accept responsibility for the accuracy, completeness or adequacy of such information or representations. DBS puts forward this Presentation in good faith as a basis for consideration by the Company.  </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possible that the ideas proposed herein are inappropriate should the market information relating to the Company’s business and/or business environment be incorrect. Any information, as contemplated herein, not be disclosed by the Company publicly or made available to any third parties. You should be aware that DBS is not, and does not hold itself to be an advisor as to legal, taxation, accounting or regulatory matters in any jurisdiction; accordingly, neither DBS, nor any of its directors, officers, employees or agents (each a "</a:t>
            </a:r>
            <a:r>
              <a:rPr kumimoji="0" lang="en-US" altLang="zh-CN" sz="8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Relevant Person</a:t>
            </a: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shall incur any responsibility or liability with respect to any action, omission, recommendation or comment made by them or any Relevant Person in relation to any such matters or anything contained herein, and the Company shall be responsible for obtaining all such advice as it thinks appropriate on such matters.</a:t>
            </a:r>
          </a:p>
          <a:p>
            <a:pPr marL="0" marR="0" lvl="0" indent="0" algn="l" defTabSz="914400" rtl="0" eaLnBrk="1" fontAlgn="auto" latinLnBrk="0" hangingPunct="1">
              <a:lnSpc>
                <a:spcPct val="110000"/>
              </a:lnSpc>
              <a:spcBef>
                <a:spcPts val="300"/>
              </a:spcBef>
              <a:spcAft>
                <a:spcPts val="300"/>
              </a:spcAft>
              <a:buClr>
                <a:srgbClr val="414141"/>
              </a:buClr>
              <a:buSzTx/>
              <a:buFontTx/>
              <a:buNone/>
              <a:tabLst/>
              <a:defRPr/>
            </a:pPr>
            <a:r>
              <a:rPr kumimoji="0" lang="en-US"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Company alone shall be responsible for making its own independent investigation and appraisal of the risks, benefits and suitability of the recommendations contained in this Presentation and DBS shall incur no responsibility or liability whatsoever to the Company in respect thereof. No action, omission, recommendation or comment made by DBS or any Relevant Person in relation to the Presentation shall constitute, or be deemed to constitute, a representation, warranty or undertaking by DBS or any Relevant Person. This Presentation has not been reviewed with appropriate or relevant legal counsel and DBS reserves the right without assuming the obligation to seek such legal opinions as be required to ensure that the views set out by DBS fully complies with all legal and regulatory requirements. Nothing in this Presentation should be construed as an offer or a solicitation of an offer to buy or sell any securities. The reproduction and/or dissemination of the contents herein is prohibited without our prior approval.</a:t>
            </a:r>
            <a:endParaRPr kumimoji="0" lang="en-GB" altLang="zh-CN"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49801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CA82786-5228-4EAE-89E6-C0DF1C9E8FB3}"/>
              </a:ext>
            </a:extLst>
          </p:cNvPr>
          <p:cNvGraphicFramePr>
            <a:graphicFrameLocks noChangeAspect="1"/>
          </p:cNvGraphicFramePr>
          <p:nvPr>
            <p:custDataLst>
              <p:tags r:id="rId1"/>
            </p:custDataLst>
            <p:extLst>
              <p:ext uri="{D42A27DB-BD31-4B8C-83A1-F6EECF244321}">
                <p14:modId xmlns:p14="http://schemas.microsoft.com/office/powerpoint/2010/main" val="18404482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5" name="Object 4" hidden="1">
                        <a:extLst>
                          <a:ext uri="{FF2B5EF4-FFF2-40B4-BE49-F238E27FC236}">
                            <a16:creationId xmlns:a16="http://schemas.microsoft.com/office/drawing/2014/main" id="{0CA82786-5228-4EAE-89E6-C0DF1C9E8F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9" name="Title 2">
            <a:extLst>
              <a:ext uri="{FF2B5EF4-FFF2-40B4-BE49-F238E27FC236}">
                <a16:creationId xmlns:a16="http://schemas.microsoft.com/office/drawing/2014/main" id="{82032CFC-E8F3-4522-9B2C-B0C355BDDB4F}"/>
              </a:ext>
            </a:extLst>
          </p:cNvPr>
          <p:cNvSpPr>
            <a:spLocks noGrp="1"/>
          </p:cNvSpPr>
          <p:nvPr>
            <p:ph type="title" hasCustomPrompt="1"/>
          </p:nvPr>
        </p:nvSpPr>
        <p:spPr>
          <a:xfrm>
            <a:off x="453000" y="245697"/>
            <a:ext cx="9000000" cy="576000"/>
          </a:xfrm>
          <a:prstGeom prst="rect">
            <a:avLst/>
          </a:prstGeom>
        </p:spPr>
        <p:txBody>
          <a:bodyPr vert="horz" lIns="0" tIns="0" rIns="0" bIns="46800" anchor="b" anchorCtr="0"/>
          <a:lstStyle>
            <a:lvl1pPr>
              <a:defRPr sz="1800" b="0"/>
            </a:lvl1pPr>
          </a:lstStyle>
          <a:p>
            <a:r>
              <a:rPr lang="en-SG"/>
              <a:t> s</a:t>
            </a:r>
          </a:p>
        </p:txBody>
      </p:sp>
      <p:sp>
        <p:nvSpPr>
          <p:cNvPr id="50" name="Line 46">
            <a:extLst>
              <a:ext uri="{FF2B5EF4-FFF2-40B4-BE49-F238E27FC236}">
                <a16:creationId xmlns:a16="http://schemas.microsoft.com/office/drawing/2014/main" id="{558BDB1A-3D40-46EE-9539-504DEB8EE789}"/>
              </a:ext>
            </a:extLst>
          </p:cNvPr>
          <p:cNvSpPr>
            <a:spLocks noChangeShapeType="1"/>
          </p:cNvSpPr>
          <p:nvPr/>
        </p:nvSpPr>
        <p:spPr bwMode="auto">
          <a:xfrm>
            <a:off x="453000" y="821697"/>
            <a:ext cx="9000000" cy="0"/>
          </a:xfrm>
          <a:prstGeom prst="line">
            <a:avLst/>
          </a:prstGeom>
          <a:noFill/>
          <a:ln w="12700">
            <a:solidFill>
              <a:srgbClr val="009987"/>
            </a:solidFill>
            <a:round/>
            <a:headEnd/>
            <a:tailEnd/>
          </a:ln>
          <a:effectLst/>
        </p:spPr>
        <p:txBody>
          <a:bodyPr wrap="none" anchor="ctr"/>
          <a:lstStyle/>
          <a:p>
            <a:pPr fontAlgn="auto">
              <a:spcBef>
                <a:spcPts val="0"/>
              </a:spcBef>
              <a:spcAft>
                <a:spcPts val="0"/>
              </a:spcAft>
              <a:defRPr/>
            </a:pPr>
            <a:endParaRPr lang="en-SG" sz="1800" b="0">
              <a:solidFill>
                <a:srgbClr val="000000"/>
              </a:solidFill>
              <a:latin typeface="Calibri" pitchFamily="34" charset="0"/>
              <a:cs typeface="Calibri" pitchFamily="34" charset="0"/>
            </a:endParaRPr>
          </a:p>
        </p:txBody>
      </p:sp>
      <p:sp>
        <p:nvSpPr>
          <p:cNvPr id="103" name="Text Placeholder 22">
            <a:extLst>
              <a:ext uri="{FF2B5EF4-FFF2-40B4-BE49-F238E27FC236}">
                <a16:creationId xmlns:a16="http://schemas.microsoft.com/office/drawing/2014/main" id="{6B058128-A7A0-45BA-9B5D-4378C6053334}"/>
              </a:ext>
            </a:extLst>
          </p:cNvPr>
          <p:cNvSpPr>
            <a:spLocks noGrp="1"/>
          </p:cNvSpPr>
          <p:nvPr>
            <p:ph type="body" sz="quarter" idx="44" hasCustomPrompt="1"/>
          </p:nvPr>
        </p:nvSpPr>
        <p:spPr>
          <a:xfrm>
            <a:off x="1533000" y="6388883"/>
            <a:ext cx="7920000" cy="360000"/>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lvl1pPr marL="228600" marR="0" indent="-228600" algn="l" defTabSz="914400" rtl="0" eaLnBrk="1" fontAlgn="auto" latinLnBrk="0" hangingPunct="1">
              <a:lnSpc>
                <a:spcPct val="100000"/>
              </a:lnSpc>
              <a:spcBef>
                <a:spcPts val="0"/>
              </a:spcBef>
              <a:spcAft>
                <a:spcPts val="0"/>
              </a:spcAft>
              <a:buClrTx/>
              <a:buSzTx/>
              <a:buFont typeface="+mj-lt"/>
              <a:buAutoNum type="arabicParenBoth"/>
              <a:tabLst/>
              <a:defRPr kumimoji="0" lang="en-US" sz="800" b="0" i="0" u="none" strike="noStrike" kern="1200" cap="none" spc="0" normalizeH="0" baseline="0" noProof="0">
                <a:ln>
                  <a:noFill/>
                </a:ln>
                <a:solidFill>
                  <a:schemeClr val="bg1">
                    <a:lumMod val="50000"/>
                  </a:schemeClr>
                </a:solidFill>
                <a:effectLst/>
                <a:uLnTx/>
                <a:uFillTx/>
                <a:latin typeface="+mn-lt"/>
                <a:ea typeface="+mn-ea"/>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[Notes/Source]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pic>
        <p:nvPicPr>
          <p:cNvPr id="105" name="Picture 104" descr="Shape&#10;&#10;Description automatically generated with medium confidence">
            <a:extLst>
              <a:ext uri="{FF2B5EF4-FFF2-40B4-BE49-F238E27FC236}">
                <a16:creationId xmlns:a16="http://schemas.microsoft.com/office/drawing/2014/main" id="{FF33E27E-B66C-40C1-AE36-0B3AB1CAEA01}"/>
              </a:ext>
            </a:extLst>
          </p:cNvPr>
          <p:cNvPicPr>
            <a:picLocks noChangeAspect="1"/>
          </p:cNvPicPr>
          <p:nvPr/>
        </p:nvPicPr>
        <p:blipFill>
          <a:blip r:embed="rId5"/>
          <a:stretch>
            <a:fillRect/>
          </a:stretch>
        </p:blipFill>
        <p:spPr>
          <a:xfrm>
            <a:off x="462525" y="6388883"/>
            <a:ext cx="792000" cy="230908"/>
          </a:xfrm>
          <a:prstGeom prst="rect">
            <a:avLst/>
          </a:prstGeom>
        </p:spPr>
      </p:pic>
      <p:sp>
        <p:nvSpPr>
          <p:cNvPr id="112" name="Slide Number Placeholder 6">
            <a:extLst>
              <a:ext uri="{FF2B5EF4-FFF2-40B4-BE49-F238E27FC236}">
                <a16:creationId xmlns:a16="http://schemas.microsoft.com/office/drawing/2014/main" id="{37CA7032-ACE1-4CD3-8160-9446BA839B79}"/>
              </a:ext>
            </a:extLst>
          </p:cNvPr>
          <p:cNvSpPr>
            <a:spLocks noGrp="1"/>
          </p:cNvSpPr>
          <p:nvPr>
            <p:ph type="sldNum" sz="quarter" idx="11"/>
          </p:nvPr>
        </p:nvSpPr>
        <p:spPr>
          <a:xfrm>
            <a:off x="9454758" y="6388883"/>
            <a:ext cx="432000" cy="360000"/>
          </a:xfrm>
          <a:prstGeom prst="rect">
            <a:avLst/>
          </a:prstGeom>
        </p:spPr>
        <p:txBody>
          <a:bodyPr lIns="0" tIns="0" rIns="0" bIns="46800" anchor="b" anchorCtr="1"/>
          <a:lstStyle>
            <a:lvl1pPr algn="r">
              <a:defRPr sz="800">
                <a:latin typeface="+mj-lt"/>
              </a:defRPr>
            </a:lvl1pPr>
          </a:lstStyle>
          <a:p>
            <a:pPr>
              <a:defRPr/>
            </a:pPr>
            <a:fld id="{EED7964B-8F50-47E5-B5EE-37748C966AF4}" type="slidenum">
              <a:rPr lang="en-US" smtClean="0"/>
              <a:pPr>
                <a:defRPr/>
              </a:pPr>
              <a:t>‹#›</a:t>
            </a:fld>
            <a:endParaRPr lang="en-US"/>
          </a:p>
        </p:txBody>
      </p:sp>
      <p:sp>
        <p:nvSpPr>
          <p:cNvPr id="2" name="Rectangle 1">
            <a:extLst>
              <a:ext uri="{FF2B5EF4-FFF2-40B4-BE49-F238E27FC236}">
                <a16:creationId xmlns:a16="http://schemas.microsoft.com/office/drawing/2014/main" id="{CCEECBF4-40F2-2635-2CC9-5B9BDDE33901}"/>
              </a:ext>
            </a:extLst>
          </p:cNvPr>
          <p:cNvSpPr/>
          <p:nvPr/>
        </p:nvSpPr>
        <p:spPr bwMode="auto">
          <a:xfrm>
            <a:off x="-2284299" y="1921213"/>
            <a:ext cx="2038350" cy="382200"/>
          </a:xfrm>
          <a:prstGeom prst="rect">
            <a:avLst/>
          </a:prstGeom>
          <a:solidFill>
            <a:srgbClr val="FDBBBC"/>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SG" sz="1200" b="1" i="0" u="none" strike="noStrike" cap="none" normalizeH="0" baseline="0">
                <a:ln>
                  <a:noFill/>
                </a:ln>
                <a:solidFill>
                  <a:schemeClr val="tx1"/>
                </a:solidFill>
                <a:effectLst/>
                <a:latin typeface="Arial" panose="020B0604020202020204" pitchFamily="34" charset="0"/>
              </a:rPr>
              <a:t>253  187  188</a:t>
            </a:r>
          </a:p>
        </p:txBody>
      </p:sp>
      <p:sp>
        <p:nvSpPr>
          <p:cNvPr id="3" name="Rectangle 2">
            <a:extLst>
              <a:ext uri="{FF2B5EF4-FFF2-40B4-BE49-F238E27FC236}">
                <a16:creationId xmlns:a16="http://schemas.microsoft.com/office/drawing/2014/main" id="{34D66357-CA85-0573-4490-9F5A6480A37A}"/>
              </a:ext>
            </a:extLst>
          </p:cNvPr>
          <p:cNvSpPr/>
          <p:nvPr/>
        </p:nvSpPr>
        <p:spPr bwMode="auto">
          <a:xfrm>
            <a:off x="-2284299" y="2906827"/>
            <a:ext cx="2038350" cy="382200"/>
          </a:xfrm>
          <a:prstGeom prst="rect">
            <a:avLst/>
          </a:prstGeom>
          <a:solidFill>
            <a:srgbClr val="FBDA97"/>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SG" sz="1200" b="1" i="0" u="none" strike="noStrike" cap="none" normalizeH="0" baseline="0">
                <a:ln>
                  <a:noFill/>
                </a:ln>
                <a:solidFill>
                  <a:schemeClr val="tx1"/>
                </a:solidFill>
                <a:effectLst/>
                <a:latin typeface="Arial" panose="020B0604020202020204" pitchFamily="34" charset="0"/>
              </a:rPr>
              <a:t>251 218 151</a:t>
            </a:r>
          </a:p>
        </p:txBody>
      </p:sp>
      <p:sp>
        <p:nvSpPr>
          <p:cNvPr id="4" name="Rectangle 3">
            <a:extLst>
              <a:ext uri="{FF2B5EF4-FFF2-40B4-BE49-F238E27FC236}">
                <a16:creationId xmlns:a16="http://schemas.microsoft.com/office/drawing/2014/main" id="{37E61C0F-C760-42EF-BC01-8EFE463274E0}"/>
              </a:ext>
            </a:extLst>
          </p:cNvPr>
          <p:cNvSpPr/>
          <p:nvPr/>
        </p:nvSpPr>
        <p:spPr bwMode="auto">
          <a:xfrm>
            <a:off x="-2279650" y="3399635"/>
            <a:ext cx="2038350" cy="382200"/>
          </a:xfrm>
          <a:prstGeom prst="rect">
            <a:avLst/>
          </a:prstGeom>
          <a:solidFill>
            <a:srgbClr val="717171"/>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SG" sz="1200" b="1" i="0" u="none" strike="noStrike" cap="none" normalizeH="0" baseline="0">
                <a:ln>
                  <a:noFill/>
                </a:ln>
                <a:solidFill>
                  <a:schemeClr val="bg1"/>
                </a:solidFill>
                <a:effectLst/>
                <a:latin typeface="Arial" panose="020B0604020202020204" pitchFamily="34" charset="0"/>
              </a:rPr>
              <a:t>113 113 113</a:t>
            </a:r>
          </a:p>
        </p:txBody>
      </p:sp>
      <p:sp>
        <p:nvSpPr>
          <p:cNvPr id="6" name="Rectangle 5">
            <a:extLst>
              <a:ext uri="{FF2B5EF4-FFF2-40B4-BE49-F238E27FC236}">
                <a16:creationId xmlns:a16="http://schemas.microsoft.com/office/drawing/2014/main" id="{7F069FAD-154D-B8EF-BFDE-A74D30AD81D4}"/>
              </a:ext>
            </a:extLst>
          </p:cNvPr>
          <p:cNvSpPr/>
          <p:nvPr/>
        </p:nvSpPr>
        <p:spPr bwMode="auto">
          <a:xfrm>
            <a:off x="-2284299" y="2414020"/>
            <a:ext cx="2038350" cy="382200"/>
          </a:xfrm>
          <a:prstGeom prst="rect">
            <a:avLst/>
          </a:prstGeom>
          <a:solidFill>
            <a:srgbClr val="8E0408"/>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SG" sz="1200" b="1" i="0" u="none" strike="noStrike" cap="none" normalizeH="0" baseline="0">
                <a:ln>
                  <a:noFill/>
                </a:ln>
                <a:solidFill>
                  <a:schemeClr val="bg1"/>
                </a:solidFill>
                <a:effectLst/>
                <a:latin typeface="Arial" panose="020B0604020202020204" pitchFamily="34" charset="0"/>
              </a:rPr>
              <a:t>142  4  8</a:t>
            </a:r>
          </a:p>
        </p:txBody>
      </p:sp>
      <p:sp>
        <p:nvSpPr>
          <p:cNvPr id="7" name="Rectangle 6">
            <a:extLst>
              <a:ext uri="{FF2B5EF4-FFF2-40B4-BE49-F238E27FC236}">
                <a16:creationId xmlns:a16="http://schemas.microsoft.com/office/drawing/2014/main" id="{4CDB051B-69A7-FD79-5D44-6BB5C68FAFB2}"/>
              </a:ext>
            </a:extLst>
          </p:cNvPr>
          <p:cNvSpPr/>
          <p:nvPr/>
        </p:nvSpPr>
        <p:spPr bwMode="auto">
          <a:xfrm>
            <a:off x="-2284299" y="935599"/>
            <a:ext cx="2038350" cy="382200"/>
          </a:xfrm>
          <a:prstGeom prst="rect">
            <a:avLst/>
          </a:prstGeom>
          <a:solidFill>
            <a:schemeClr val="accent1"/>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SG" sz="1200" b="1" i="0" u="none" strike="noStrike" cap="none" normalizeH="0" baseline="0">
                <a:ln>
                  <a:noFill/>
                </a:ln>
                <a:solidFill>
                  <a:schemeClr val="bg1"/>
                </a:solidFill>
                <a:effectLst/>
                <a:latin typeface="Arial" panose="020B0604020202020204" pitchFamily="34" charset="0"/>
              </a:rPr>
              <a:t>204 0 0</a:t>
            </a:r>
          </a:p>
        </p:txBody>
      </p:sp>
      <p:sp>
        <p:nvSpPr>
          <p:cNvPr id="8" name="Rectangle 7">
            <a:extLst>
              <a:ext uri="{FF2B5EF4-FFF2-40B4-BE49-F238E27FC236}">
                <a16:creationId xmlns:a16="http://schemas.microsoft.com/office/drawing/2014/main" id="{CD730140-3A6D-EA8E-5928-239C24ADD6F5}"/>
              </a:ext>
            </a:extLst>
          </p:cNvPr>
          <p:cNvSpPr/>
          <p:nvPr/>
        </p:nvSpPr>
        <p:spPr bwMode="auto">
          <a:xfrm>
            <a:off x="-2284299" y="1428406"/>
            <a:ext cx="2038350" cy="382200"/>
          </a:xfrm>
          <a:prstGeom prst="rect">
            <a:avLst/>
          </a:prstGeom>
          <a:solidFill>
            <a:srgbClr val="262626"/>
          </a:solidFill>
          <a:ln>
            <a:noFill/>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SG" sz="1200" b="1" i="0" u="none" strike="noStrike" cap="none" normalizeH="0" baseline="0">
                <a:ln>
                  <a:noFill/>
                </a:ln>
                <a:solidFill>
                  <a:schemeClr val="bg1"/>
                </a:solidFill>
                <a:effectLst/>
                <a:latin typeface="Arial" panose="020B0604020202020204" pitchFamily="34" charset="0"/>
              </a:rPr>
              <a:t>38 38 38</a:t>
            </a:r>
          </a:p>
        </p:txBody>
      </p:sp>
    </p:spTree>
    <p:extLst>
      <p:ext uri="{BB962C8B-B14F-4D97-AF65-F5344CB8AC3E}">
        <p14:creationId xmlns:p14="http://schemas.microsoft.com/office/powerpoint/2010/main" val="4139637505"/>
      </p:ext>
    </p:extLst>
  </p:cSld>
  <p:clrMapOvr>
    <a:masterClrMapping/>
  </p:clrMapOvr>
  <p:extLst>
    <p:ext uri="{DCECCB84-F9BA-43D5-87BE-67443E8EF086}">
      <p15:sldGuideLst xmlns:p15="http://schemas.microsoft.com/office/powerpoint/2012/main">
        <p15:guide id="1" pos="28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4BF70EC-A221-DC4C-0E75-1ADE0EBABE07}"/>
              </a:ext>
            </a:extLst>
          </p:cNvPr>
          <p:cNvSpPr>
            <a:spLocks noGrp="1" noChangeArrowheads="1"/>
          </p:cNvSpPr>
          <p:nvPr>
            <p:ph type="sldNum" sz="quarter" idx="4"/>
          </p:nvPr>
        </p:nvSpPr>
        <p:spPr bwMode="auto">
          <a:xfrm>
            <a:off x="8555964" y="6370638"/>
            <a:ext cx="1155700" cy="381000"/>
          </a:xfrm>
          <a:prstGeom prst="rect">
            <a:avLst/>
          </a:prstGeom>
          <a:noFill/>
          <a:ln w="9525">
            <a:noFill/>
            <a:miter lim="800000"/>
            <a:headEnd/>
            <a:tailEnd/>
          </a:ln>
          <a:effectLst/>
        </p:spPr>
        <p:txBody>
          <a:bodyPr vert="horz" wrap="none" lIns="45720" tIns="45720" rIns="45720" bIns="45720" numCol="1" anchor="ctr" anchorCtr="0" compatLnSpc="1">
            <a:prstTxWarp prst="textNoShape">
              <a:avLst/>
            </a:prstTxWarp>
          </a:bodyPr>
          <a:lstStyle>
            <a:lvl1pPr algn="r" eaLnBrk="0" hangingPunct="0">
              <a:defRPr sz="900">
                <a:latin typeface="+mn-lt"/>
                <a:ea typeface="DFKaiShu-GB5" pitchFamily="65" charset="-128"/>
                <a:cs typeface="+mn-cs"/>
              </a:defRPr>
            </a:lvl1pPr>
          </a:lstStyle>
          <a:p>
            <a:pPr>
              <a:spcBef>
                <a:spcPct val="0"/>
              </a:spcBef>
              <a:defRPr/>
            </a:pPr>
            <a:fld id="{EFB97E77-A14C-4D4A-B483-93BB0C8192BC}" type="slidenum">
              <a:rPr lang="en-US" altLang="en-US" b="0" smtClean="0">
                <a:solidFill>
                  <a:srgbClr val="000000"/>
                </a:solidFill>
              </a:rPr>
              <a:pPr>
                <a:spcBef>
                  <a:spcPct val="0"/>
                </a:spcBef>
                <a:defRPr/>
              </a:pPr>
              <a:t>‹#›</a:t>
            </a:fld>
            <a:endParaRPr lang="en-US" altLang="en-US" b="0">
              <a:solidFill>
                <a:srgbClr val="000000"/>
              </a:solidFill>
            </a:endParaRPr>
          </a:p>
        </p:txBody>
      </p:sp>
    </p:spTree>
    <p:extLst>
      <p:ext uri="{BB962C8B-B14F-4D97-AF65-F5344CB8AC3E}">
        <p14:creationId xmlns:p14="http://schemas.microsoft.com/office/powerpoint/2010/main" val="1268711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17153" y="429768"/>
            <a:ext cx="8494051" cy="577850"/>
          </a:xfrm>
        </p:spPr>
        <p:txBody>
          <a:bodyPr/>
          <a:lstStyle>
            <a:lvl1pPr>
              <a:defRPr sz="2000">
                <a:latin typeface="+mn-lt"/>
                <a:ea typeface="DFKaiShu-GB5" pitchFamily="65" charset="-128"/>
              </a:defRPr>
            </a:lvl1pPr>
          </a:lstStyle>
          <a:p>
            <a:r>
              <a:rPr lang="en-US"/>
              <a:t>Click to edit Master title style</a:t>
            </a:r>
          </a:p>
        </p:txBody>
      </p:sp>
      <p:sp>
        <p:nvSpPr>
          <p:cNvPr id="3" name="Rectangle 4"/>
          <p:cNvSpPr>
            <a:spLocks noGrp="1" noChangeArrowheads="1"/>
          </p:cNvSpPr>
          <p:nvPr>
            <p:ph type="sldNum" sz="quarter" idx="10"/>
          </p:nvPr>
        </p:nvSpPr>
        <p:spPr>
          <a:ln/>
        </p:spPr>
        <p:txBody>
          <a:bodyPr/>
          <a:lstStyle>
            <a:lvl1pPr>
              <a:defRPr>
                <a:latin typeface="+mn-lt"/>
                <a:ea typeface="DFKaiShu-GB5" pitchFamily="65" charset="-128"/>
              </a:defRPr>
            </a:lvl1pPr>
          </a:lstStyle>
          <a:p>
            <a:pPr>
              <a:defRPr/>
            </a:pPr>
            <a:fld id="{AB28634A-1A9A-44FD-A02A-BFA3EA145BD2}" type="slidenum">
              <a:rPr lang="en-US" altLang="en-US" smtClean="0">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597412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Normal Page_white without spark">
    <p:spTree>
      <p:nvGrpSpPr>
        <p:cNvPr id="1" name=""/>
        <p:cNvGrpSpPr/>
        <p:nvPr/>
      </p:nvGrpSpPr>
      <p:grpSpPr>
        <a:xfrm>
          <a:off x="0" y="0"/>
          <a:ext cx="0" cy="0"/>
          <a:chOff x="0" y="0"/>
          <a:chExt cx="0" cy="0"/>
        </a:xfrm>
      </p:grpSpPr>
      <p:sp>
        <p:nvSpPr>
          <p:cNvPr id="9" name="Title 1"/>
          <p:cNvSpPr>
            <a:spLocks noGrp="1"/>
          </p:cNvSpPr>
          <p:nvPr>
            <p:ph type="title"/>
          </p:nvPr>
        </p:nvSpPr>
        <p:spPr>
          <a:xfrm>
            <a:off x="495300" y="448056"/>
            <a:ext cx="8915400" cy="577850"/>
          </a:xfrm>
          <a:prstGeom prst="rect">
            <a:avLst/>
          </a:prstGeom>
        </p:spPr>
        <p:txBody>
          <a:bodyPr lIns="0" anchor="b" anchorCtr="0"/>
          <a:lstStyle>
            <a:lvl1pPr>
              <a:defRPr sz="1950"/>
            </a:lvl1pPr>
          </a:lstStyle>
          <a:p>
            <a:r>
              <a:rPr lang="en-US"/>
              <a:t>Click to edit Master title style</a:t>
            </a:r>
          </a:p>
        </p:txBody>
      </p:sp>
      <p:sp>
        <p:nvSpPr>
          <p:cNvPr id="6" name="Slide Number Placeholder 6"/>
          <p:cNvSpPr>
            <a:spLocks noGrp="1"/>
          </p:cNvSpPr>
          <p:nvPr>
            <p:ph type="sldNum" sz="quarter" idx="14"/>
          </p:nvPr>
        </p:nvSpPr>
        <p:spPr/>
        <p:txBody>
          <a:bodyPr/>
          <a:lstStyle>
            <a:lvl1pPr>
              <a:defRPr>
                <a:solidFill>
                  <a:schemeClr val="tx2">
                    <a:lumMod val="50000"/>
                  </a:schemeClr>
                </a:solidFill>
              </a:defRPr>
            </a:lvl1pPr>
          </a:lstStyle>
          <a:p>
            <a:pPr>
              <a:defRPr/>
            </a:pPr>
            <a:fld id="{1F16F30C-A594-4D63-A3AB-8699917C4F77}" type="slidenum">
              <a:rPr lang="en-US" smtClean="0"/>
              <a:t>‹#›</a:t>
            </a:fld>
            <a:endParaRPr lang="en-US"/>
          </a:p>
        </p:txBody>
      </p:sp>
    </p:spTree>
    <p:extLst>
      <p:ext uri="{BB962C8B-B14F-4D97-AF65-F5344CB8AC3E}">
        <p14:creationId xmlns:p14="http://schemas.microsoft.com/office/powerpoint/2010/main" val="3021554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Normal Page_white without spark">
    <p:spTree>
      <p:nvGrpSpPr>
        <p:cNvPr id="1" name=""/>
        <p:cNvGrpSpPr/>
        <p:nvPr/>
      </p:nvGrpSpPr>
      <p:grpSpPr>
        <a:xfrm>
          <a:off x="0" y="0"/>
          <a:ext cx="0" cy="0"/>
          <a:chOff x="0" y="0"/>
          <a:chExt cx="0" cy="0"/>
        </a:xfrm>
      </p:grpSpPr>
      <p:sp>
        <p:nvSpPr>
          <p:cNvPr id="9" name="Title 1"/>
          <p:cNvSpPr>
            <a:spLocks noGrp="1"/>
          </p:cNvSpPr>
          <p:nvPr>
            <p:ph type="title"/>
          </p:nvPr>
        </p:nvSpPr>
        <p:spPr>
          <a:xfrm>
            <a:off x="495300" y="448056"/>
            <a:ext cx="8915400" cy="577850"/>
          </a:xfrm>
          <a:prstGeom prst="rect">
            <a:avLst/>
          </a:prstGeom>
        </p:spPr>
        <p:txBody>
          <a:bodyPr lIns="0" anchor="b" anchorCtr="0"/>
          <a:lstStyle>
            <a:lvl1pPr>
              <a:defRPr sz="1950"/>
            </a:lvl1pPr>
          </a:lstStyle>
          <a:p>
            <a:r>
              <a:rPr lang="en-US"/>
              <a:t>Click to edit Master title style</a:t>
            </a:r>
          </a:p>
        </p:txBody>
      </p:sp>
      <p:sp>
        <p:nvSpPr>
          <p:cNvPr id="6" name="Slide Number Placeholder 6"/>
          <p:cNvSpPr>
            <a:spLocks noGrp="1"/>
          </p:cNvSpPr>
          <p:nvPr>
            <p:ph type="sldNum" sz="quarter" idx="14"/>
          </p:nvPr>
        </p:nvSpPr>
        <p:spPr/>
        <p:txBody>
          <a:bodyPr/>
          <a:lstStyle>
            <a:lvl1pPr>
              <a:defRPr>
                <a:solidFill>
                  <a:schemeClr val="tx2">
                    <a:lumMod val="50000"/>
                  </a:schemeClr>
                </a:solidFill>
              </a:defRPr>
            </a:lvl1pPr>
          </a:lstStyle>
          <a:p>
            <a:pPr>
              <a:defRPr/>
            </a:pPr>
            <a:fld id="{1F16F30C-A594-4D63-A3AB-8699917C4F77}" type="slidenum">
              <a:rPr lang="en-US" smtClean="0"/>
              <a:t>‹#›</a:t>
            </a:fld>
            <a:endParaRPr lang="en-US"/>
          </a:p>
        </p:txBody>
      </p:sp>
      <p:sp>
        <p:nvSpPr>
          <p:cNvPr id="3" name="Text Placeholder 2">
            <a:extLst>
              <a:ext uri="{FF2B5EF4-FFF2-40B4-BE49-F238E27FC236}">
                <a16:creationId xmlns:a16="http://schemas.microsoft.com/office/drawing/2014/main" id="{924FDC23-13DB-CAE8-84CA-332BAF0477B8}"/>
              </a:ext>
            </a:extLst>
          </p:cNvPr>
          <p:cNvSpPr>
            <a:spLocks noGrp="1"/>
          </p:cNvSpPr>
          <p:nvPr>
            <p:ph type="body" sz="quarter" idx="15"/>
          </p:nvPr>
        </p:nvSpPr>
        <p:spPr>
          <a:xfrm>
            <a:off x="495300" y="1310710"/>
            <a:ext cx="8915400" cy="1173078"/>
          </a:xfrm>
          <a:prstGeom prst="rect">
            <a:avLst/>
          </a:prstGeom>
        </p:spPr>
        <p:txBody>
          <a:bodyPr>
            <a:spAutoFit/>
          </a:bodyPr>
          <a:lstStyle>
            <a:lvl1pPr>
              <a:spcBef>
                <a:spcPts val="244"/>
              </a:spcBef>
              <a:spcAft>
                <a:spcPts val="244"/>
              </a:spcAft>
              <a:defRPr sz="1138"/>
            </a:lvl1pPr>
            <a:lvl2pPr>
              <a:spcBef>
                <a:spcPts val="244"/>
              </a:spcBef>
              <a:spcAft>
                <a:spcPts val="244"/>
              </a:spcAft>
              <a:defRPr sz="1138"/>
            </a:lvl2pPr>
            <a:lvl3pPr>
              <a:spcBef>
                <a:spcPts val="244"/>
              </a:spcBef>
              <a:spcAft>
                <a:spcPts val="244"/>
              </a:spcAft>
              <a:defRPr sz="1138"/>
            </a:lvl3pPr>
            <a:lvl4pPr>
              <a:spcBef>
                <a:spcPts val="244"/>
              </a:spcBef>
              <a:spcAft>
                <a:spcPts val="244"/>
              </a:spcAft>
              <a:defRPr sz="1138"/>
            </a:lvl4pPr>
            <a:lvl5pPr>
              <a:spcBef>
                <a:spcPts val="244"/>
              </a:spcBef>
              <a:spcAft>
                <a:spcPts val="244"/>
              </a:spcAft>
              <a:defRPr sz="1138"/>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6399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3675FAFA-49FB-4AF9-AB2E-D48B6543F115}"/>
              </a:ext>
            </a:extLst>
          </p:cNvPr>
          <p:cNvGraphicFramePr>
            <a:graphicFrameLocks noChangeAspect="1"/>
          </p:cNvGraphicFramePr>
          <p:nvPr userDrawn="1">
            <p:custDataLst>
              <p:tags r:id="rId11"/>
            </p:custDataLst>
            <p:extLst>
              <p:ext uri="{D42A27DB-BD31-4B8C-83A1-F6EECF244321}">
                <p14:modId xmlns:p14="http://schemas.microsoft.com/office/powerpoint/2010/main" val="39994140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44" imgH="344" progId="TCLayout.ActiveDocument.1">
                  <p:embed/>
                </p:oleObj>
              </mc:Choice>
              <mc:Fallback>
                <p:oleObj name="think-cell Slide" r:id="rId12" imgW="344" imgH="344" progId="TCLayout.ActiveDocument.1">
                  <p:embed/>
                  <p:pic>
                    <p:nvPicPr>
                      <p:cNvPr id="2" name="Object 1" hidden="1">
                        <a:extLst>
                          <a:ext uri="{FF2B5EF4-FFF2-40B4-BE49-F238E27FC236}">
                            <a16:creationId xmlns:a16="http://schemas.microsoft.com/office/drawing/2014/main" id="{3675FAFA-49FB-4AF9-AB2E-D48B6543F115}"/>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4" name="Title Placeholder 3">
            <a:extLst>
              <a:ext uri="{FF2B5EF4-FFF2-40B4-BE49-F238E27FC236}">
                <a16:creationId xmlns:a16="http://schemas.microsoft.com/office/drawing/2014/main" id="{22C7945C-8A5E-DF50-7F41-52058D086075}"/>
              </a:ext>
            </a:extLst>
          </p:cNvPr>
          <p:cNvSpPr>
            <a:spLocks noGrp="1"/>
          </p:cNvSpPr>
          <p:nvPr>
            <p:ph type="title"/>
          </p:nvPr>
        </p:nvSpPr>
        <p:spPr>
          <a:xfrm>
            <a:off x="453000" y="365125"/>
            <a:ext cx="9000000" cy="576000"/>
          </a:xfrm>
          <a:prstGeom prst="rect">
            <a:avLst/>
          </a:prstGeom>
        </p:spPr>
        <p:txBody>
          <a:bodyPr vert="horz" lIns="0" tIns="0" rIns="0" bIns="45720" rtlCol="0" anchor="b">
            <a:noAutofit/>
          </a:bodyPr>
          <a:lstStyle/>
          <a:p>
            <a:r>
              <a:rPr lang="en-US"/>
              <a:t>[Banner Statement]</a:t>
            </a:r>
          </a:p>
        </p:txBody>
      </p:sp>
      <p:sp>
        <p:nvSpPr>
          <p:cNvPr id="5" name="Text Placeholder 4">
            <a:extLst>
              <a:ext uri="{FF2B5EF4-FFF2-40B4-BE49-F238E27FC236}">
                <a16:creationId xmlns:a16="http://schemas.microsoft.com/office/drawing/2014/main" id="{2572FAD9-C25C-9A30-B75A-4787D2A1BAD7}"/>
              </a:ext>
            </a:extLst>
          </p:cNvPr>
          <p:cNvSpPr>
            <a:spLocks noGrp="1"/>
          </p:cNvSpPr>
          <p:nvPr>
            <p:ph type="body" idx="1"/>
          </p:nvPr>
        </p:nvSpPr>
        <p:spPr>
          <a:xfrm>
            <a:off x="453000" y="1825625"/>
            <a:ext cx="9000000" cy="4320000"/>
          </a:xfrm>
          <a:prstGeom prst="rect">
            <a:avLst/>
          </a:prstGeom>
        </p:spPr>
        <p:txBody>
          <a:bodyPr vert="horz" lIns="0" tIns="0" rIns="0" bIns="0" rtlCol="0">
            <a:noAutofit/>
          </a:bodyPr>
          <a:lstStyle/>
          <a:p>
            <a:pPr marL="0" marR="0" lvl="0" indent="-226800" algn="l" defTabSz="914400" rtl="0" eaLnBrk="0" fontAlgn="base" latinLnBrk="0" hangingPunct="0">
              <a:lnSpc>
                <a:spcPct val="110000"/>
              </a:lnSpc>
              <a:spcBef>
                <a:spcPts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457200" marR="0" lvl="1" indent="-226800" algn="l" defTabSz="914400" rtl="0" eaLnBrk="0" fontAlgn="base" latinLnBrk="0" hangingPunct="0">
              <a:lnSpc>
                <a:spcPct val="110000"/>
              </a:lnSpc>
              <a:spcBef>
                <a:spcPts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674370" marR="0" lvl="3" indent="-226800" algn="l" defTabSz="914400" rtl="0" eaLnBrk="0" fontAlgn="base" latinLnBrk="0" hangingPunct="0">
              <a:lnSpc>
                <a:spcPct val="110000"/>
              </a:lnSpc>
              <a:spcBef>
                <a:spcPct val="20000"/>
              </a:spcBef>
              <a:spcAft>
                <a:spcPct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914400" marR="0" lvl="4" indent="-228600" algn="l" defTabSz="914400" rtl="0" eaLnBrk="0" fontAlgn="base" latinLnBrk="0" hangingPunct="0">
              <a:lnSpc>
                <a:spcPct val="110000"/>
              </a:lnSpc>
              <a:spcBef>
                <a:spcPts val="0"/>
              </a:spcBef>
              <a:spcAft>
                <a:spcPct val="0"/>
              </a:spcAft>
              <a:buClrTx/>
              <a:buSzTx/>
              <a:buFont typeface="Wingdings" panose="05000000000000000000" pitchFamily="2" charset="2"/>
              <a:buChar char="ü"/>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
        <p:nvSpPr>
          <p:cNvPr id="7" name="Footer Placeholder 6">
            <a:extLst>
              <a:ext uri="{FF2B5EF4-FFF2-40B4-BE49-F238E27FC236}">
                <a16:creationId xmlns:a16="http://schemas.microsoft.com/office/drawing/2014/main" id="{8D3C85D3-CD2D-773B-FE65-EFBE09B6A67B}"/>
              </a:ext>
            </a:extLst>
          </p:cNvPr>
          <p:cNvSpPr>
            <a:spLocks noGrp="1"/>
          </p:cNvSpPr>
          <p:nvPr>
            <p:ph type="ftr" sz="quarter" idx="3"/>
          </p:nvPr>
        </p:nvSpPr>
        <p:spPr>
          <a:xfrm>
            <a:off x="1353000" y="6356350"/>
            <a:ext cx="8100000" cy="360000"/>
          </a:xfrm>
          <a:prstGeom prst="rect">
            <a:avLst/>
          </a:prstGeom>
        </p:spPr>
        <p:txBody>
          <a:bodyPr vert="horz" lIns="0" tIns="0" rIns="0" bIns="0" rtlCol="0" anchor="t" anchorCtr="0"/>
          <a:lstStyle>
            <a:lvl1pPr algn="l">
              <a:defRPr sz="700" b="0">
                <a:solidFill>
                  <a:schemeClr val="tx1">
                    <a:tint val="75000"/>
                  </a:schemeClr>
                </a:solidFill>
              </a:defRPr>
            </a:lvl1pPr>
          </a:lstStyle>
          <a:p>
            <a:endParaRPr lang="en-US"/>
          </a:p>
        </p:txBody>
      </p:sp>
      <p:sp>
        <p:nvSpPr>
          <p:cNvPr id="8" name="Slide Number Placeholder 7">
            <a:extLst>
              <a:ext uri="{FF2B5EF4-FFF2-40B4-BE49-F238E27FC236}">
                <a16:creationId xmlns:a16="http://schemas.microsoft.com/office/drawing/2014/main" id="{48E6D32D-B2CD-FB44-A557-CD5A10988904}"/>
              </a:ext>
            </a:extLst>
          </p:cNvPr>
          <p:cNvSpPr>
            <a:spLocks noGrp="1"/>
          </p:cNvSpPr>
          <p:nvPr>
            <p:ph type="sldNum" sz="quarter" idx="4"/>
          </p:nvPr>
        </p:nvSpPr>
        <p:spPr>
          <a:xfrm>
            <a:off x="9474000" y="6356350"/>
            <a:ext cx="432000" cy="360000"/>
          </a:xfrm>
          <a:prstGeom prst="rect">
            <a:avLst/>
          </a:prstGeom>
        </p:spPr>
        <p:txBody>
          <a:bodyPr vert="horz" lIns="0" tIns="0" rIns="0" bIns="46800" rtlCol="0" anchor="b" anchorCtr="1"/>
          <a:lstStyle>
            <a:lvl1pPr algn="ctr">
              <a:defRPr sz="700" b="0">
                <a:solidFill>
                  <a:schemeClr val="tx1">
                    <a:tint val="75000"/>
                  </a:schemeClr>
                </a:solidFill>
              </a:defRPr>
            </a:lvl1pPr>
          </a:lstStyle>
          <a:p>
            <a:fld id="{B2B10567-1489-4548-84B4-279BE2166863}" type="slidenum">
              <a:rPr lang="en-US" smtClean="0"/>
              <a:pPr/>
              <a:t>‹#›</a:t>
            </a:fld>
            <a:endParaRPr lang="en-US"/>
          </a:p>
        </p:txBody>
      </p:sp>
    </p:spTree>
    <p:extLst>
      <p:ext uri="{BB962C8B-B14F-4D97-AF65-F5344CB8AC3E}">
        <p14:creationId xmlns:p14="http://schemas.microsoft.com/office/powerpoint/2010/main" val="2281219543"/>
      </p:ext>
    </p:extLst>
  </p:cSld>
  <p:clrMap bg1="lt1" tx1="dk1" bg2="lt2" tx2="dk2" accent1="accent1" accent2="accent2" accent3="accent3" accent4="accent4" accent5="accent5" accent6="accent6" hlink="hlink" folHlink="folHlink"/>
  <p:sldLayoutIdLst>
    <p:sldLayoutId id="2147484143" r:id="rId1"/>
    <p:sldLayoutId id="2147484092" r:id="rId2"/>
    <p:sldLayoutId id="2147484228" r:id="rId3"/>
    <p:sldLayoutId id="2147484137" r:id="rId4"/>
    <p:sldLayoutId id="2147484229" r:id="rId5"/>
    <p:sldLayoutId id="2147484232" r:id="rId6"/>
    <p:sldLayoutId id="2147484233" r:id="rId7"/>
    <p:sldLayoutId id="2147484234" r:id="rId8"/>
    <p:sldLayoutId id="2147484235" r:id="rId9"/>
  </p:sldLayoutIdLst>
  <p:hf hdr="0" ftr="0" dt="0"/>
  <p:txStyles>
    <p:titleStyle>
      <a:lvl1pPr algn="l" rtl="0" eaLnBrk="0" fontAlgn="base" hangingPunct="0">
        <a:spcBef>
          <a:spcPct val="0"/>
        </a:spcBef>
        <a:spcAft>
          <a:spcPct val="0"/>
        </a:spcAft>
        <a:defRPr sz="2000" b="0" kern="1200">
          <a:solidFill>
            <a:schemeClr val="tx1"/>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275" b="1">
          <a:solidFill>
            <a:schemeClr val="tx1"/>
          </a:solidFill>
          <a:latin typeface="Arial" panose="020B0604020202020204" pitchFamily="34" charset="0"/>
        </a:defRPr>
      </a:lvl2pPr>
      <a:lvl3pPr algn="l" rtl="0" eaLnBrk="0" fontAlgn="base" hangingPunct="0">
        <a:spcBef>
          <a:spcPct val="0"/>
        </a:spcBef>
        <a:spcAft>
          <a:spcPct val="0"/>
        </a:spcAft>
        <a:defRPr sz="2275" b="1">
          <a:solidFill>
            <a:schemeClr val="tx1"/>
          </a:solidFill>
          <a:latin typeface="Arial" panose="020B0604020202020204" pitchFamily="34" charset="0"/>
        </a:defRPr>
      </a:lvl3pPr>
      <a:lvl4pPr algn="l" rtl="0" eaLnBrk="0" fontAlgn="base" hangingPunct="0">
        <a:spcBef>
          <a:spcPct val="0"/>
        </a:spcBef>
        <a:spcAft>
          <a:spcPct val="0"/>
        </a:spcAft>
        <a:defRPr sz="2275" b="1">
          <a:solidFill>
            <a:schemeClr val="tx1"/>
          </a:solidFill>
          <a:latin typeface="Arial" panose="020B0604020202020204" pitchFamily="34" charset="0"/>
        </a:defRPr>
      </a:lvl4pPr>
      <a:lvl5pPr algn="l" rtl="0" eaLnBrk="0" fontAlgn="base" hangingPunct="0">
        <a:spcBef>
          <a:spcPct val="0"/>
        </a:spcBef>
        <a:spcAft>
          <a:spcPct val="0"/>
        </a:spcAft>
        <a:defRPr sz="2275" b="1">
          <a:solidFill>
            <a:schemeClr val="tx1"/>
          </a:solidFill>
          <a:latin typeface="Arial" panose="020B0604020202020204" pitchFamily="34" charset="0"/>
        </a:defRPr>
      </a:lvl5pPr>
      <a:lvl6pPr marL="371475" algn="l" rtl="0" eaLnBrk="1" fontAlgn="base" hangingPunct="1">
        <a:spcBef>
          <a:spcPct val="0"/>
        </a:spcBef>
        <a:spcAft>
          <a:spcPct val="0"/>
        </a:spcAft>
        <a:defRPr sz="2275" b="1">
          <a:solidFill>
            <a:schemeClr val="tx1"/>
          </a:solidFill>
          <a:latin typeface="Arial" panose="020B0604020202020204" pitchFamily="34" charset="0"/>
        </a:defRPr>
      </a:lvl6pPr>
      <a:lvl7pPr marL="742950" algn="l" rtl="0" eaLnBrk="1" fontAlgn="base" hangingPunct="1">
        <a:spcBef>
          <a:spcPct val="0"/>
        </a:spcBef>
        <a:spcAft>
          <a:spcPct val="0"/>
        </a:spcAft>
        <a:defRPr sz="2275" b="1">
          <a:solidFill>
            <a:schemeClr val="tx1"/>
          </a:solidFill>
          <a:latin typeface="Arial" panose="020B0604020202020204" pitchFamily="34" charset="0"/>
        </a:defRPr>
      </a:lvl7pPr>
      <a:lvl8pPr marL="1114425" algn="l" rtl="0" eaLnBrk="1" fontAlgn="base" hangingPunct="1">
        <a:spcBef>
          <a:spcPct val="0"/>
        </a:spcBef>
        <a:spcAft>
          <a:spcPct val="0"/>
        </a:spcAft>
        <a:defRPr sz="2275" b="1">
          <a:solidFill>
            <a:schemeClr val="tx1"/>
          </a:solidFill>
          <a:latin typeface="Arial" panose="020B0604020202020204" pitchFamily="34" charset="0"/>
        </a:defRPr>
      </a:lvl8pPr>
      <a:lvl9pPr marL="1485900" algn="l" rtl="0" eaLnBrk="1" fontAlgn="base" hangingPunct="1">
        <a:spcBef>
          <a:spcPct val="0"/>
        </a:spcBef>
        <a:spcAft>
          <a:spcPct val="0"/>
        </a:spcAft>
        <a:defRPr sz="2275" b="1">
          <a:solidFill>
            <a:schemeClr val="tx1"/>
          </a:solidFill>
          <a:latin typeface="Arial" panose="020B0604020202020204" pitchFamily="34" charset="0"/>
        </a:defRPr>
      </a:lvl9pPr>
    </p:titleStyle>
    <p:bodyStyle>
      <a:lvl1pPr marL="0" indent="0" algn="l" rtl="0" eaLnBrk="0" fontAlgn="base" hangingPunct="0">
        <a:lnSpc>
          <a:spcPct val="130000"/>
        </a:lnSpc>
        <a:spcBef>
          <a:spcPts val="0"/>
        </a:spcBef>
        <a:spcAft>
          <a:spcPct val="0"/>
        </a:spcAft>
        <a:buClr>
          <a:schemeClr val="accent1"/>
        </a:buClr>
        <a:buFont typeface="Wingdings" panose="05000000000000000000" pitchFamily="2" charset="2"/>
        <a:buNone/>
        <a:defRPr lang="en-US" sz="1000" kern="1200" dirty="0">
          <a:solidFill>
            <a:srgbClr val="000000"/>
          </a:solidFill>
          <a:latin typeface="Arial" panose="020B0604020202020204" pitchFamily="34" charset="0"/>
          <a:ea typeface="+mn-ea"/>
          <a:cs typeface="Arial" panose="020B0604020202020204" pitchFamily="34" charset="0"/>
        </a:defRPr>
      </a:lvl1pPr>
      <a:lvl2pPr marL="324000" indent="0" algn="l" rtl="0" eaLnBrk="0" fontAlgn="base" hangingPunct="0">
        <a:lnSpc>
          <a:spcPct val="130000"/>
        </a:lnSpc>
        <a:spcBef>
          <a:spcPts val="0"/>
        </a:spcBef>
        <a:spcAft>
          <a:spcPct val="0"/>
        </a:spcAft>
        <a:buFont typeface="Arial" panose="020B0604020202020204" pitchFamily="34" charset="0"/>
        <a:buChar char="•"/>
        <a:defRPr lang="en-US" sz="1000" b="0" strike="noStrike" kern="1200" dirty="0" smtClean="0">
          <a:solidFill>
            <a:srgbClr val="000000"/>
          </a:solidFill>
          <a:latin typeface="Arial" panose="020B0604020202020204" pitchFamily="34" charset="0"/>
          <a:ea typeface="+mn-ea"/>
          <a:cs typeface="Arial" panose="020B0604020202020204" pitchFamily="34" charset="0"/>
        </a:defRPr>
      </a:lvl2pPr>
      <a:lvl3pPr marL="547191" indent="-190797" algn="l" rtl="0" eaLnBrk="0" fontAlgn="base" hangingPunct="0">
        <a:spcBef>
          <a:spcPct val="20000"/>
        </a:spcBef>
        <a:spcAft>
          <a:spcPct val="0"/>
        </a:spcAft>
        <a:buFont typeface="Arial" panose="020B0604020202020204" pitchFamily="34" charset="0"/>
        <a:buChar char="·"/>
        <a:defRPr lang="en-US" sz="900" kern="1200" dirty="0" smtClean="0">
          <a:solidFill>
            <a:srgbClr val="000000"/>
          </a:solidFill>
          <a:latin typeface="Verdana" panose="020B0604030504040204" pitchFamily="34" charset="0"/>
          <a:ea typeface="+mn-ea"/>
          <a:cs typeface="+mn-cs"/>
        </a:defRPr>
      </a:lvl3pPr>
      <a:lvl4pPr marL="502920" indent="1971015" algn="l" rtl="0" eaLnBrk="0" fontAlgn="base" hangingPunct="0">
        <a:lnSpc>
          <a:spcPct val="130000"/>
        </a:lnSpc>
        <a:spcBef>
          <a:spcPct val="20000"/>
        </a:spcBef>
        <a:spcAft>
          <a:spcPct val="0"/>
        </a:spcAft>
        <a:buChar char="–"/>
        <a:defRPr lang="en-US" sz="900" kern="1200" dirty="0" smtClean="0">
          <a:solidFill>
            <a:srgbClr val="000000"/>
          </a:solidFill>
          <a:latin typeface="Verdana" panose="020B0604030504040204" pitchFamily="34" charset="0"/>
          <a:ea typeface="+mn-ea"/>
          <a:cs typeface="+mn-cs"/>
        </a:defRPr>
      </a:lvl4pPr>
      <a:lvl5pPr marL="1671638" indent="-185738" algn="l" rtl="0" eaLnBrk="0" fontAlgn="base" hangingPunct="0">
        <a:lnSpc>
          <a:spcPct val="130000"/>
        </a:lnSpc>
        <a:spcBef>
          <a:spcPct val="20000"/>
        </a:spcBef>
        <a:spcAft>
          <a:spcPct val="0"/>
        </a:spcAft>
        <a:buChar char="»"/>
        <a:defRPr lang="en-US" sz="900" kern="1200" dirty="0">
          <a:solidFill>
            <a:srgbClr val="000000"/>
          </a:solidFill>
          <a:latin typeface="Verdana" panose="020B0604030504040204" pitchFamily="34" charset="0"/>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86BC25"/>
          </p15:clr>
        </p15:guide>
        <p15:guide id="2" orient="horz" pos="4032" userDrawn="1">
          <p15:clr>
            <a:srgbClr val="86BC25"/>
          </p15:clr>
        </p15:guide>
        <p15:guide id="3" orient="horz" pos="518" userDrawn="1">
          <p15:clr>
            <a:srgbClr val="86BC25"/>
          </p15:clr>
        </p15:guide>
        <p15:guide id="4" orient="horz" pos="748" userDrawn="1">
          <p15:clr>
            <a:srgbClr val="86BC25"/>
          </p15:clr>
        </p15:guide>
        <p15:guide id="5" orient="horz" pos="1152" userDrawn="1">
          <p15:clr>
            <a:srgbClr val="046A38"/>
          </p15:clr>
        </p15:guide>
        <p15:guide id="6" orient="horz" pos="2592" userDrawn="1">
          <p15:clr>
            <a:srgbClr val="62B5E5"/>
          </p15:clr>
        </p15:guide>
        <p15:guide id="7" orient="horz" pos="2112" userDrawn="1">
          <p15:clr>
            <a:srgbClr val="012169"/>
          </p15:clr>
        </p15:guide>
        <p15:guide id="8" orient="horz" pos="3072" userDrawn="1">
          <p15:clr>
            <a:srgbClr val="012169"/>
          </p15:clr>
        </p15:guide>
        <p15:guide id="9" pos="288" userDrawn="1">
          <p15:clr>
            <a:srgbClr val="86BC25"/>
          </p15:clr>
        </p15:guide>
        <p15:guide id="10" pos="5952" userDrawn="1">
          <p15:clr>
            <a:srgbClr val="86BC25"/>
          </p15:clr>
        </p15:guide>
        <p15:guide id="11" pos="2976" userDrawn="1">
          <p15:clr>
            <a:srgbClr val="62B5E5"/>
          </p15:clr>
        </p15:guide>
        <p15:guide id="12" pos="3264" userDrawn="1">
          <p15:clr>
            <a:srgbClr val="62B5E5"/>
          </p15:clr>
        </p15:guide>
        <p15:guide id="13" pos="1984" userDrawn="1">
          <p15:clr>
            <a:srgbClr val="012169"/>
          </p15:clr>
        </p15:guide>
        <p15:guide id="14" pos="2400" userDrawn="1">
          <p15:clr>
            <a:srgbClr val="012169"/>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svg"/><Relationship Id="rId2" Type="http://schemas.openxmlformats.org/officeDocument/2006/relationships/slideLayout" Target="../slideLayouts/slideLayout3.xml"/><Relationship Id="rId1" Type="http://schemas.openxmlformats.org/officeDocument/2006/relationships/tags" Target="../tags/tag8.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chart" Target="../charts/chart8.xml"/><Relationship Id="rId5" Type="http://schemas.openxmlformats.org/officeDocument/2006/relationships/slideLayout" Target="../slideLayouts/slideLayout3.xml"/><Relationship Id="rId4" Type="http://schemas.openxmlformats.org/officeDocument/2006/relationships/tags" Target="../tags/tag12.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7" Type="http://schemas.openxmlformats.org/officeDocument/2006/relationships/image" Target="../media/image15.png"/><Relationship Id="rId2" Type="http://schemas.openxmlformats.org/officeDocument/2006/relationships/chart" Target="../charts/chart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chart" Target="../charts/chart1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chart" Target="../charts/chart15.xml"/><Relationship Id="rId5" Type="http://schemas.openxmlformats.org/officeDocument/2006/relationships/chart" Target="../charts/chart14.xml"/><Relationship Id="rId4" Type="http://schemas.openxmlformats.org/officeDocument/2006/relationships/chart" Target="../charts/chart13.xml"/></Relationships>
</file>

<file path=ppt/slides/_rels/slide13.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png"/><Relationship Id="rId2" Type="http://schemas.openxmlformats.org/officeDocument/2006/relationships/image" Target="../media/image17.jpg"/><Relationship Id="rId1" Type="http://schemas.openxmlformats.org/officeDocument/2006/relationships/slideLayout" Target="../slideLayouts/slideLayout3.xml"/><Relationship Id="rId6" Type="http://schemas.openxmlformats.org/officeDocument/2006/relationships/image" Target="../media/image21.jpg"/><Relationship Id="rId11" Type="http://schemas.openxmlformats.org/officeDocument/2006/relationships/image" Target="../media/image26.png"/><Relationship Id="rId5" Type="http://schemas.openxmlformats.org/officeDocument/2006/relationships/image" Target="../media/image20.jp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jp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jpg"/><Relationship Id="rId7" Type="http://schemas.openxmlformats.org/officeDocument/2006/relationships/image" Target="../media/image32.png"/><Relationship Id="rId12" Type="http://schemas.openxmlformats.org/officeDocument/2006/relationships/image" Target="../media/image37.jp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image" Target="../media/image27.png"/><Relationship Id="rId16" Type="http://schemas.openxmlformats.org/officeDocument/2006/relationships/image" Target="../media/image41.png"/><Relationship Id="rId20" Type="http://schemas.openxmlformats.org/officeDocument/2006/relationships/image" Target="../media/image45.jp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10" Type="http://schemas.openxmlformats.org/officeDocument/2006/relationships/image" Target="../media/image35.png"/><Relationship Id="rId19" Type="http://schemas.openxmlformats.org/officeDocument/2006/relationships/image" Target="../media/image44.jp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jpg"/></Relationships>
</file>

<file path=ppt/slides/_rels/slide18.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image" Target="../media/image52.png"/><Relationship Id="rId16" Type="http://schemas.openxmlformats.org/officeDocument/2006/relationships/image" Target="../media/image66.png"/><Relationship Id="rId1" Type="http://schemas.openxmlformats.org/officeDocument/2006/relationships/slideLayout" Target="../slideLayouts/slideLayout3.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5" Type="http://schemas.openxmlformats.org/officeDocument/2006/relationships/image" Target="../media/image6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64.png"/></Relationships>
</file>

<file path=ppt/slides/_rels/slide19.xml.rels><?xml version="1.0" encoding="UTF-8" standalone="yes"?>
<Relationships xmlns="http://schemas.openxmlformats.org/package/2006/relationships"><Relationship Id="rId13" Type="http://schemas.openxmlformats.org/officeDocument/2006/relationships/image" Target="../media/image79.png"/><Relationship Id="rId18" Type="http://schemas.openxmlformats.org/officeDocument/2006/relationships/image" Target="../media/image84.png"/><Relationship Id="rId26" Type="http://schemas.openxmlformats.org/officeDocument/2006/relationships/image" Target="../media/image92.png"/><Relationship Id="rId39" Type="http://schemas.openxmlformats.org/officeDocument/2006/relationships/image" Target="../media/image105.png"/><Relationship Id="rId21" Type="http://schemas.openxmlformats.org/officeDocument/2006/relationships/image" Target="../media/image87.jpg"/><Relationship Id="rId34" Type="http://schemas.openxmlformats.org/officeDocument/2006/relationships/image" Target="../media/image100.png"/><Relationship Id="rId42" Type="http://schemas.openxmlformats.org/officeDocument/2006/relationships/image" Target="../media/image51.png"/><Relationship Id="rId47" Type="http://schemas.openxmlformats.org/officeDocument/2006/relationships/image" Target="../media/image49.png"/><Relationship Id="rId50" Type="http://schemas.openxmlformats.org/officeDocument/2006/relationships/image" Target="../media/image111.png"/><Relationship Id="rId7" Type="http://schemas.openxmlformats.org/officeDocument/2006/relationships/image" Target="../media/image28.png"/><Relationship Id="rId2" Type="http://schemas.openxmlformats.org/officeDocument/2006/relationships/image" Target="../media/image69.png"/><Relationship Id="rId16" Type="http://schemas.openxmlformats.org/officeDocument/2006/relationships/image" Target="../media/image82.png"/><Relationship Id="rId29" Type="http://schemas.openxmlformats.org/officeDocument/2006/relationships/image" Target="../media/image95.png"/><Relationship Id="rId11" Type="http://schemas.openxmlformats.org/officeDocument/2006/relationships/image" Target="../media/image77.png"/><Relationship Id="rId24" Type="http://schemas.openxmlformats.org/officeDocument/2006/relationships/image" Target="../media/image90.jpg"/><Relationship Id="rId32" Type="http://schemas.openxmlformats.org/officeDocument/2006/relationships/image" Target="../media/image98.png"/><Relationship Id="rId37" Type="http://schemas.openxmlformats.org/officeDocument/2006/relationships/image" Target="../media/image103.png"/><Relationship Id="rId40" Type="http://schemas.openxmlformats.org/officeDocument/2006/relationships/image" Target="../media/image106.png"/><Relationship Id="rId45" Type="http://schemas.openxmlformats.org/officeDocument/2006/relationships/image" Target="../media/image35.png"/><Relationship Id="rId5" Type="http://schemas.openxmlformats.org/officeDocument/2006/relationships/image" Target="../media/image72.png"/><Relationship Id="rId15" Type="http://schemas.openxmlformats.org/officeDocument/2006/relationships/image" Target="../media/image81.png"/><Relationship Id="rId23" Type="http://schemas.openxmlformats.org/officeDocument/2006/relationships/image" Target="../media/image89.png"/><Relationship Id="rId28" Type="http://schemas.openxmlformats.org/officeDocument/2006/relationships/image" Target="../media/image94.png"/><Relationship Id="rId36" Type="http://schemas.openxmlformats.org/officeDocument/2006/relationships/image" Target="../media/image102.png"/><Relationship Id="rId49" Type="http://schemas.openxmlformats.org/officeDocument/2006/relationships/image" Target="../media/image110.png"/><Relationship Id="rId10" Type="http://schemas.openxmlformats.org/officeDocument/2006/relationships/image" Target="../media/image76.png"/><Relationship Id="rId19" Type="http://schemas.openxmlformats.org/officeDocument/2006/relationships/image" Target="../media/image85.png"/><Relationship Id="rId31" Type="http://schemas.openxmlformats.org/officeDocument/2006/relationships/image" Target="../media/image97.jpg"/><Relationship Id="rId44" Type="http://schemas.openxmlformats.org/officeDocument/2006/relationships/image" Target="../media/image109.png"/><Relationship Id="rId4" Type="http://schemas.openxmlformats.org/officeDocument/2006/relationships/image" Target="../media/image71.png"/><Relationship Id="rId9" Type="http://schemas.openxmlformats.org/officeDocument/2006/relationships/image" Target="../media/image75.jpg"/><Relationship Id="rId14" Type="http://schemas.openxmlformats.org/officeDocument/2006/relationships/image" Target="../media/image80.png"/><Relationship Id="rId22" Type="http://schemas.openxmlformats.org/officeDocument/2006/relationships/image" Target="../media/image88.jpg"/><Relationship Id="rId27" Type="http://schemas.openxmlformats.org/officeDocument/2006/relationships/image" Target="../media/image93.png"/><Relationship Id="rId30" Type="http://schemas.openxmlformats.org/officeDocument/2006/relationships/image" Target="../media/image96.png"/><Relationship Id="rId35" Type="http://schemas.openxmlformats.org/officeDocument/2006/relationships/image" Target="../media/image101.png"/><Relationship Id="rId43" Type="http://schemas.openxmlformats.org/officeDocument/2006/relationships/image" Target="../media/image108.jpg"/><Relationship Id="rId48" Type="http://schemas.openxmlformats.org/officeDocument/2006/relationships/image" Target="../media/image38.png"/><Relationship Id="rId8" Type="http://schemas.openxmlformats.org/officeDocument/2006/relationships/image" Target="../media/image74.png"/><Relationship Id="rId3" Type="http://schemas.openxmlformats.org/officeDocument/2006/relationships/image" Target="../media/image70.png"/><Relationship Id="rId12" Type="http://schemas.openxmlformats.org/officeDocument/2006/relationships/image" Target="../media/image78.png"/><Relationship Id="rId17" Type="http://schemas.openxmlformats.org/officeDocument/2006/relationships/image" Target="../media/image83.png"/><Relationship Id="rId25" Type="http://schemas.openxmlformats.org/officeDocument/2006/relationships/image" Target="../media/image91.jpg"/><Relationship Id="rId33" Type="http://schemas.openxmlformats.org/officeDocument/2006/relationships/image" Target="../media/image99.png"/><Relationship Id="rId38" Type="http://schemas.openxmlformats.org/officeDocument/2006/relationships/image" Target="../media/image104.png"/><Relationship Id="rId46" Type="http://schemas.openxmlformats.org/officeDocument/2006/relationships/image" Target="../media/image37.jpg"/><Relationship Id="rId20" Type="http://schemas.openxmlformats.org/officeDocument/2006/relationships/image" Target="../media/image86.png"/><Relationship Id="rId41" Type="http://schemas.openxmlformats.org/officeDocument/2006/relationships/image" Target="../media/image107.png"/><Relationship Id="rId1" Type="http://schemas.openxmlformats.org/officeDocument/2006/relationships/slideLayout" Target="../slideLayouts/slideLayout3.xml"/><Relationship Id="rId6" Type="http://schemas.openxmlformats.org/officeDocument/2006/relationships/image" Target="../media/image7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14.png"/><Relationship Id="rId4" Type="http://schemas.openxmlformats.org/officeDocument/2006/relationships/image" Target="../media/image1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tags" Target="../tags/tag16.xml"/><Relationship Id="rId7" Type="http://schemas.openxmlformats.org/officeDocument/2006/relationships/slideLayout" Target="../slideLayouts/slideLayout3.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10" Type="http://schemas.openxmlformats.org/officeDocument/2006/relationships/image" Target="../media/image117.jpeg"/><Relationship Id="rId4" Type="http://schemas.openxmlformats.org/officeDocument/2006/relationships/tags" Target="../tags/tag17.xml"/><Relationship Id="rId9" Type="http://schemas.openxmlformats.org/officeDocument/2006/relationships/image" Target="../media/image116.jpeg"/></Relationships>
</file>

<file path=ppt/slides/_rels/slide29.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3" Type="http://schemas.openxmlformats.org/officeDocument/2006/relationships/image" Target="../media/image119.png"/><Relationship Id="rId7" Type="http://schemas.openxmlformats.org/officeDocument/2006/relationships/image" Target="../media/image123.png"/><Relationship Id="rId12" Type="http://schemas.openxmlformats.org/officeDocument/2006/relationships/image" Target="../media/image128.jpeg"/><Relationship Id="rId2" Type="http://schemas.openxmlformats.org/officeDocument/2006/relationships/image" Target="../media/image118.jpeg"/><Relationship Id="rId1" Type="http://schemas.openxmlformats.org/officeDocument/2006/relationships/slideLayout" Target="../slideLayouts/slideLayout3.xml"/><Relationship Id="rId6" Type="http://schemas.openxmlformats.org/officeDocument/2006/relationships/image" Target="../media/image122.png"/><Relationship Id="rId11" Type="http://schemas.openxmlformats.org/officeDocument/2006/relationships/image" Target="../media/image127.png"/><Relationship Id="rId5" Type="http://schemas.openxmlformats.org/officeDocument/2006/relationships/image" Target="../media/image121.png"/><Relationship Id="rId10" Type="http://schemas.openxmlformats.org/officeDocument/2006/relationships/image" Target="../media/image126.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s>
</file>

<file path=ppt/slides/_rels/slide30.xml.rels><?xml version="1.0" encoding="UTF-8" standalone="yes"?>
<Relationships xmlns="http://schemas.openxmlformats.org/package/2006/relationships"><Relationship Id="rId8" Type="http://schemas.openxmlformats.org/officeDocument/2006/relationships/chart" Target="../charts/chart19.xml"/><Relationship Id="rId3" Type="http://schemas.openxmlformats.org/officeDocument/2006/relationships/image" Target="../media/image131.png"/><Relationship Id="rId7" Type="http://schemas.openxmlformats.org/officeDocument/2006/relationships/chart" Target="../charts/chart18.xml"/><Relationship Id="rId2" Type="http://schemas.openxmlformats.org/officeDocument/2006/relationships/slideLayout" Target="../slideLayouts/slideLayout3.xml"/><Relationship Id="rId1" Type="http://schemas.openxmlformats.org/officeDocument/2006/relationships/tags" Target="../tags/tag20.xml"/><Relationship Id="rId6" Type="http://schemas.openxmlformats.org/officeDocument/2006/relationships/image" Target="../media/image134.jpeg"/><Relationship Id="rId5" Type="http://schemas.openxmlformats.org/officeDocument/2006/relationships/image" Target="../media/image133.png"/><Relationship Id="rId10" Type="http://schemas.openxmlformats.org/officeDocument/2006/relationships/chart" Target="../charts/chart21.xml"/><Relationship Id="rId4" Type="http://schemas.openxmlformats.org/officeDocument/2006/relationships/image" Target="../media/image132.jpg"/><Relationship Id="rId9" Type="http://schemas.openxmlformats.org/officeDocument/2006/relationships/chart" Target="../charts/chart20.xml"/></Relationships>
</file>

<file path=ppt/slides/_rels/slide31.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image" Target="../media/image135.png"/><Relationship Id="rId1" Type="http://schemas.openxmlformats.org/officeDocument/2006/relationships/slideLayout" Target="../slideLayouts/slideLayout3.xml"/><Relationship Id="rId5" Type="http://schemas.openxmlformats.org/officeDocument/2006/relationships/image" Target="../media/image138.png"/><Relationship Id="rId4" Type="http://schemas.openxmlformats.org/officeDocument/2006/relationships/image" Target="../media/image137.png"/></Relationships>
</file>

<file path=ppt/slides/_rels/slide32.xml.rels><?xml version="1.0" encoding="UTF-8" standalone="yes"?>
<Relationships xmlns="http://schemas.openxmlformats.org/package/2006/relationships"><Relationship Id="rId13" Type="http://schemas.openxmlformats.org/officeDocument/2006/relationships/image" Target="../media/image150.png"/><Relationship Id="rId18" Type="http://schemas.openxmlformats.org/officeDocument/2006/relationships/image" Target="../media/image155.png"/><Relationship Id="rId26" Type="http://schemas.openxmlformats.org/officeDocument/2006/relationships/image" Target="../media/image163.png"/><Relationship Id="rId39" Type="http://schemas.openxmlformats.org/officeDocument/2006/relationships/image" Target="../media/image176.png"/><Relationship Id="rId21" Type="http://schemas.openxmlformats.org/officeDocument/2006/relationships/image" Target="../media/image158.png"/><Relationship Id="rId34" Type="http://schemas.openxmlformats.org/officeDocument/2006/relationships/image" Target="../media/image171.png"/><Relationship Id="rId42" Type="http://schemas.openxmlformats.org/officeDocument/2006/relationships/image" Target="../media/image179.png"/><Relationship Id="rId7" Type="http://schemas.openxmlformats.org/officeDocument/2006/relationships/image" Target="../media/image144.png"/><Relationship Id="rId2" Type="http://schemas.openxmlformats.org/officeDocument/2006/relationships/image" Target="../media/image139.png"/><Relationship Id="rId16" Type="http://schemas.openxmlformats.org/officeDocument/2006/relationships/image" Target="../media/image153.png"/><Relationship Id="rId20" Type="http://schemas.openxmlformats.org/officeDocument/2006/relationships/image" Target="../media/image157.png"/><Relationship Id="rId29" Type="http://schemas.openxmlformats.org/officeDocument/2006/relationships/image" Target="../media/image166.png"/><Relationship Id="rId41" Type="http://schemas.openxmlformats.org/officeDocument/2006/relationships/image" Target="../media/image178.png"/><Relationship Id="rId1" Type="http://schemas.openxmlformats.org/officeDocument/2006/relationships/slideLayout" Target="../slideLayouts/slideLayout3.xml"/><Relationship Id="rId6" Type="http://schemas.openxmlformats.org/officeDocument/2006/relationships/image" Target="../media/image143.png"/><Relationship Id="rId11" Type="http://schemas.openxmlformats.org/officeDocument/2006/relationships/image" Target="../media/image148.png"/><Relationship Id="rId24" Type="http://schemas.openxmlformats.org/officeDocument/2006/relationships/image" Target="../media/image161.gif"/><Relationship Id="rId32" Type="http://schemas.openxmlformats.org/officeDocument/2006/relationships/image" Target="../media/image169.png"/><Relationship Id="rId37" Type="http://schemas.openxmlformats.org/officeDocument/2006/relationships/image" Target="../media/image174.png"/><Relationship Id="rId40" Type="http://schemas.openxmlformats.org/officeDocument/2006/relationships/image" Target="../media/image177.png"/><Relationship Id="rId5" Type="http://schemas.openxmlformats.org/officeDocument/2006/relationships/image" Target="../media/image142.png"/><Relationship Id="rId15" Type="http://schemas.openxmlformats.org/officeDocument/2006/relationships/image" Target="../media/image152.jpeg"/><Relationship Id="rId23" Type="http://schemas.openxmlformats.org/officeDocument/2006/relationships/image" Target="../media/image160.jpeg"/><Relationship Id="rId28" Type="http://schemas.openxmlformats.org/officeDocument/2006/relationships/image" Target="../media/image165.png"/><Relationship Id="rId36" Type="http://schemas.openxmlformats.org/officeDocument/2006/relationships/image" Target="../media/image173.png"/><Relationship Id="rId10" Type="http://schemas.openxmlformats.org/officeDocument/2006/relationships/image" Target="../media/image147.png"/><Relationship Id="rId19" Type="http://schemas.openxmlformats.org/officeDocument/2006/relationships/image" Target="../media/image156.png"/><Relationship Id="rId31" Type="http://schemas.openxmlformats.org/officeDocument/2006/relationships/image" Target="../media/image168.png"/><Relationship Id="rId4" Type="http://schemas.openxmlformats.org/officeDocument/2006/relationships/image" Target="../media/image141.png"/><Relationship Id="rId9" Type="http://schemas.openxmlformats.org/officeDocument/2006/relationships/image" Target="../media/image146.png"/><Relationship Id="rId14" Type="http://schemas.openxmlformats.org/officeDocument/2006/relationships/image" Target="../media/image151.jpeg"/><Relationship Id="rId22" Type="http://schemas.openxmlformats.org/officeDocument/2006/relationships/image" Target="../media/image159.png"/><Relationship Id="rId27" Type="http://schemas.openxmlformats.org/officeDocument/2006/relationships/image" Target="../media/image164.png"/><Relationship Id="rId30" Type="http://schemas.openxmlformats.org/officeDocument/2006/relationships/image" Target="../media/image167.png"/><Relationship Id="rId35" Type="http://schemas.openxmlformats.org/officeDocument/2006/relationships/image" Target="../media/image172.png"/><Relationship Id="rId8" Type="http://schemas.openxmlformats.org/officeDocument/2006/relationships/image" Target="../media/image145.png"/><Relationship Id="rId3" Type="http://schemas.openxmlformats.org/officeDocument/2006/relationships/image" Target="../media/image140.png"/><Relationship Id="rId12" Type="http://schemas.openxmlformats.org/officeDocument/2006/relationships/image" Target="../media/image149.jpeg"/><Relationship Id="rId17" Type="http://schemas.openxmlformats.org/officeDocument/2006/relationships/image" Target="../media/image154.png"/><Relationship Id="rId25" Type="http://schemas.openxmlformats.org/officeDocument/2006/relationships/image" Target="../media/image162.jpeg"/><Relationship Id="rId33" Type="http://schemas.openxmlformats.org/officeDocument/2006/relationships/image" Target="../media/image170.png"/><Relationship Id="rId38" Type="http://schemas.openxmlformats.org/officeDocument/2006/relationships/image" Target="../media/image175.png"/></Relationships>
</file>

<file path=ppt/slides/_rels/slide33.xml.rels><?xml version="1.0" encoding="UTF-8" standalone="yes"?>
<Relationships xmlns="http://schemas.openxmlformats.org/package/2006/relationships"><Relationship Id="rId13" Type="http://schemas.openxmlformats.org/officeDocument/2006/relationships/image" Target="../media/image185.png"/><Relationship Id="rId18" Type="http://schemas.openxmlformats.org/officeDocument/2006/relationships/image" Target="../media/image189.png"/><Relationship Id="rId26" Type="http://schemas.openxmlformats.org/officeDocument/2006/relationships/image" Target="../media/image197.png"/><Relationship Id="rId21" Type="http://schemas.openxmlformats.org/officeDocument/2006/relationships/image" Target="../media/image192.png"/><Relationship Id="rId34" Type="http://schemas.openxmlformats.org/officeDocument/2006/relationships/image" Target="../media/image205.png"/><Relationship Id="rId7" Type="http://schemas.openxmlformats.org/officeDocument/2006/relationships/image" Target="../media/image182.png"/><Relationship Id="rId12" Type="http://schemas.microsoft.com/office/2007/relationships/hdphoto" Target="../media/hdphoto5.wdp"/><Relationship Id="rId17" Type="http://schemas.openxmlformats.org/officeDocument/2006/relationships/image" Target="../media/image188.png"/><Relationship Id="rId25" Type="http://schemas.openxmlformats.org/officeDocument/2006/relationships/image" Target="../media/image196.png"/><Relationship Id="rId33" Type="http://schemas.openxmlformats.org/officeDocument/2006/relationships/image" Target="../media/image204.png"/><Relationship Id="rId38" Type="http://schemas.openxmlformats.org/officeDocument/2006/relationships/image" Target="../media/image209.png"/><Relationship Id="rId2" Type="http://schemas.openxmlformats.org/officeDocument/2006/relationships/tags" Target="../tags/tag22.xml"/><Relationship Id="rId16" Type="http://schemas.openxmlformats.org/officeDocument/2006/relationships/image" Target="../media/image187.png"/><Relationship Id="rId20" Type="http://schemas.openxmlformats.org/officeDocument/2006/relationships/image" Target="../media/image191.png"/><Relationship Id="rId29" Type="http://schemas.openxmlformats.org/officeDocument/2006/relationships/image" Target="../media/image200.png"/><Relationship Id="rId1" Type="http://schemas.openxmlformats.org/officeDocument/2006/relationships/tags" Target="../tags/tag21.xml"/><Relationship Id="rId6" Type="http://schemas.microsoft.com/office/2007/relationships/hdphoto" Target="../media/hdphoto2.wdp"/><Relationship Id="rId11" Type="http://schemas.openxmlformats.org/officeDocument/2006/relationships/image" Target="../media/image184.png"/><Relationship Id="rId24" Type="http://schemas.openxmlformats.org/officeDocument/2006/relationships/image" Target="../media/image195.png"/><Relationship Id="rId32" Type="http://schemas.openxmlformats.org/officeDocument/2006/relationships/image" Target="../media/image203.png"/><Relationship Id="rId37" Type="http://schemas.openxmlformats.org/officeDocument/2006/relationships/image" Target="../media/image208.png"/><Relationship Id="rId5" Type="http://schemas.openxmlformats.org/officeDocument/2006/relationships/image" Target="../media/image181.png"/><Relationship Id="rId15" Type="http://schemas.openxmlformats.org/officeDocument/2006/relationships/image" Target="../media/image186.png"/><Relationship Id="rId23" Type="http://schemas.openxmlformats.org/officeDocument/2006/relationships/image" Target="../media/image194.png"/><Relationship Id="rId28" Type="http://schemas.openxmlformats.org/officeDocument/2006/relationships/image" Target="../media/image199.png"/><Relationship Id="rId36" Type="http://schemas.openxmlformats.org/officeDocument/2006/relationships/image" Target="../media/image207.png"/><Relationship Id="rId10" Type="http://schemas.microsoft.com/office/2007/relationships/hdphoto" Target="../media/hdphoto4.wdp"/><Relationship Id="rId19" Type="http://schemas.openxmlformats.org/officeDocument/2006/relationships/image" Target="../media/image190.png"/><Relationship Id="rId31" Type="http://schemas.openxmlformats.org/officeDocument/2006/relationships/image" Target="../media/image202.png"/><Relationship Id="rId4" Type="http://schemas.openxmlformats.org/officeDocument/2006/relationships/image" Target="../media/image180.png"/><Relationship Id="rId9" Type="http://schemas.openxmlformats.org/officeDocument/2006/relationships/image" Target="../media/image183.png"/><Relationship Id="rId14" Type="http://schemas.microsoft.com/office/2007/relationships/hdphoto" Target="../media/hdphoto6.wdp"/><Relationship Id="rId22" Type="http://schemas.openxmlformats.org/officeDocument/2006/relationships/image" Target="../media/image193.png"/><Relationship Id="rId27" Type="http://schemas.openxmlformats.org/officeDocument/2006/relationships/image" Target="../media/image198.png"/><Relationship Id="rId30" Type="http://schemas.openxmlformats.org/officeDocument/2006/relationships/image" Target="../media/image201.png"/><Relationship Id="rId35" Type="http://schemas.openxmlformats.org/officeDocument/2006/relationships/image" Target="../media/image206.png"/><Relationship Id="rId8" Type="http://schemas.microsoft.com/office/2007/relationships/hdphoto" Target="../media/hdphoto3.wdp"/><Relationship Id="rId3"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chart" Target="../charts/chart24.xml"/><Relationship Id="rId13" Type="http://schemas.openxmlformats.org/officeDocument/2006/relationships/chart" Target="../charts/chart27.xml"/><Relationship Id="rId3" Type="http://schemas.openxmlformats.org/officeDocument/2006/relationships/tags" Target="../tags/tag25.xml"/><Relationship Id="rId7" Type="http://schemas.openxmlformats.org/officeDocument/2006/relationships/chart" Target="../charts/chart23.xml"/><Relationship Id="rId12" Type="http://schemas.openxmlformats.org/officeDocument/2006/relationships/chart" Target="../charts/chart26.xml"/><Relationship Id="rId2" Type="http://schemas.openxmlformats.org/officeDocument/2006/relationships/tags" Target="../tags/tag24.xml"/><Relationship Id="rId16" Type="http://schemas.openxmlformats.org/officeDocument/2006/relationships/image" Target="../media/image213.png"/><Relationship Id="rId1" Type="http://schemas.openxmlformats.org/officeDocument/2006/relationships/tags" Target="../tags/tag23.xml"/><Relationship Id="rId6" Type="http://schemas.openxmlformats.org/officeDocument/2006/relationships/chart" Target="../charts/chart22.xml"/><Relationship Id="rId11" Type="http://schemas.openxmlformats.org/officeDocument/2006/relationships/image" Target="../media/image212.png"/><Relationship Id="rId5" Type="http://schemas.openxmlformats.org/officeDocument/2006/relationships/image" Target="../media/image210.png"/><Relationship Id="rId15" Type="http://schemas.openxmlformats.org/officeDocument/2006/relationships/chart" Target="../charts/chart29.xml"/><Relationship Id="rId10" Type="http://schemas.openxmlformats.org/officeDocument/2006/relationships/image" Target="../media/image211.png"/><Relationship Id="rId4" Type="http://schemas.openxmlformats.org/officeDocument/2006/relationships/slideLayout" Target="../slideLayouts/slideLayout3.xml"/><Relationship Id="rId9" Type="http://schemas.openxmlformats.org/officeDocument/2006/relationships/chart" Target="../charts/chart25.xml"/><Relationship Id="rId14" Type="http://schemas.openxmlformats.org/officeDocument/2006/relationships/chart" Target="../charts/chart28.xml"/></Relationships>
</file>

<file path=ppt/slides/_rels/slide35.xml.rels><?xml version="1.0" encoding="UTF-8" standalone="yes"?>
<Relationships xmlns="http://schemas.openxmlformats.org/package/2006/relationships"><Relationship Id="rId8" Type="http://schemas.openxmlformats.org/officeDocument/2006/relationships/chart" Target="../charts/chart30.xml"/><Relationship Id="rId3" Type="http://schemas.openxmlformats.org/officeDocument/2006/relationships/image" Target="../media/image215.png"/><Relationship Id="rId7" Type="http://schemas.openxmlformats.org/officeDocument/2006/relationships/image" Target="../media/image219.png"/><Relationship Id="rId12" Type="http://schemas.openxmlformats.org/officeDocument/2006/relationships/image" Target="../media/image222.png"/><Relationship Id="rId2" Type="http://schemas.openxmlformats.org/officeDocument/2006/relationships/image" Target="../media/image214.png"/><Relationship Id="rId1" Type="http://schemas.openxmlformats.org/officeDocument/2006/relationships/slideLayout" Target="../slideLayouts/slideLayout3.xml"/><Relationship Id="rId6" Type="http://schemas.openxmlformats.org/officeDocument/2006/relationships/image" Target="../media/image218.png"/><Relationship Id="rId11" Type="http://schemas.openxmlformats.org/officeDocument/2006/relationships/image" Target="../media/image221.png"/><Relationship Id="rId5" Type="http://schemas.openxmlformats.org/officeDocument/2006/relationships/image" Target="../media/image217.png"/><Relationship Id="rId10" Type="http://schemas.openxmlformats.org/officeDocument/2006/relationships/chart" Target="../charts/chart31.xml"/><Relationship Id="rId4" Type="http://schemas.openxmlformats.org/officeDocument/2006/relationships/image" Target="../media/image216.png"/><Relationship Id="rId9" Type="http://schemas.openxmlformats.org/officeDocument/2006/relationships/image" Target="../media/image220.png"/></Relationships>
</file>

<file path=ppt/slides/_rels/slide36.xml.rels><?xml version="1.0" encoding="UTF-8" standalone="yes"?>
<Relationships xmlns="http://schemas.openxmlformats.org/package/2006/relationships"><Relationship Id="rId8" Type="http://schemas.openxmlformats.org/officeDocument/2006/relationships/image" Target="../media/image228.png"/><Relationship Id="rId13" Type="http://schemas.openxmlformats.org/officeDocument/2006/relationships/image" Target="../media/image233.png"/><Relationship Id="rId18" Type="http://schemas.openxmlformats.org/officeDocument/2006/relationships/image" Target="../media/image238.png"/><Relationship Id="rId3" Type="http://schemas.openxmlformats.org/officeDocument/2006/relationships/image" Target="../media/image224.png"/><Relationship Id="rId7" Type="http://schemas.openxmlformats.org/officeDocument/2006/relationships/image" Target="../media/image150.png"/><Relationship Id="rId12" Type="http://schemas.openxmlformats.org/officeDocument/2006/relationships/image" Target="../media/image232.jpeg"/><Relationship Id="rId17" Type="http://schemas.openxmlformats.org/officeDocument/2006/relationships/image" Target="../media/image237.png"/><Relationship Id="rId2" Type="http://schemas.openxmlformats.org/officeDocument/2006/relationships/image" Target="../media/image223.png"/><Relationship Id="rId16" Type="http://schemas.openxmlformats.org/officeDocument/2006/relationships/image" Target="../media/image236.png"/><Relationship Id="rId1" Type="http://schemas.openxmlformats.org/officeDocument/2006/relationships/slideLayout" Target="../slideLayouts/slideLayout3.xml"/><Relationship Id="rId6" Type="http://schemas.openxmlformats.org/officeDocument/2006/relationships/image" Target="../media/image227.png"/><Relationship Id="rId11" Type="http://schemas.openxmlformats.org/officeDocument/2006/relationships/image" Target="../media/image231.png"/><Relationship Id="rId5" Type="http://schemas.openxmlformats.org/officeDocument/2006/relationships/image" Target="../media/image226.png"/><Relationship Id="rId15" Type="http://schemas.openxmlformats.org/officeDocument/2006/relationships/image" Target="../media/image235.png"/><Relationship Id="rId10" Type="http://schemas.openxmlformats.org/officeDocument/2006/relationships/image" Target="../media/image230.png"/><Relationship Id="rId19" Type="http://schemas.openxmlformats.org/officeDocument/2006/relationships/image" Target="../media/image213.png"/><Relationship Id="rId4" Type="http://schemas.openxmlformats.org/officeDocument/2006/relationships/image" Target="../media/image225.png"/><Relationship Id="rId9" Type="http://schemas.openxmlformats.org/officeDocument/2006/relationships/image" Target="../media/image229.png"/><Relationship Id="rId14" Type="http://schemas.openxmlformats.org/officeDocument/2006/relationships/image" Target="../media/image234.png"/></Relationships>
</file>

<file path=ppt/slides/_rels/slide37.xml.rels><?xml version="1.0" encoding="UTF-8" standalone="yes"?>
<Relationships xmlns="http://schemas.openxmlformats.org/package/2006/relationships"><Relationship Id="rId8" Type="http://schemas.openxmlformats.org/officeDocument/2006/relationships/image" Target="../media/image244.png"/><Relationship Id="rId13" Type="http://schemas.openxmlformats.org/officeDocument/2006/relationships/image" Target="../media/image200.png"/><Relationship Id="rId18" Type="http://schemas.openxmlformats.org/officeDocument/2006/relationships/image" Target="../media/image251.png"/><Relationship Id="rId3" Type="http://schemas.openxmlformats.org/officeDocument/2006/relationships/image" Target="../media/image240.png"/><Relationship Id="rId21" Type="http://schemas.openxmlformats.org/officeDocument/2006/relationships/image" Target="../media/image254.png"/><Relationship Id="rId7" Type="http://schemas.openxmlformats.org/officeDocument/2006/relationships/image" Target="../media/image243.png"/><Relationship Id="rId12" Type="http://schemas.openxmlformats.org/officeDocument/2006/relationships/image" Target="../media/image196.png"/><Relationship Id="rId17" Type="http://schemas.openxmlformats.org/officeDocument/2006/relationships/image" Target="../media/image209.png"/><Relationship Id="rId2" Type="http://schemas.openxmlformats.org/officeDocument/2006/relationships/image" Target="../media/image239.png"/><Relationship Id="rId16" Type="http://schemas.openxmlformats.org/officeDocument/2006/relationships/image" Target="../media/image250.png"/><Relationship Id="rId20" Type="http://schemas.openxmlformats.org/officeDocument/2006/relationships/image" Target="../media/image253.png"/><Relationship Id="rId1" Type="http://schemas.openxmlformats.org/officeDocument/2006/relationships/slideLayout" Target="../slideLayouts/slideLayout3.xml"/><Relationship Id="rId6" Type="http://schemas.openxmlformats.org/officeDocument/2006/relationships/image" Target="../media/image242.png"/><Relationship Id="rId11" Type="http://schemas.openxmlformats.org/officeDocument/2006/relationships/image" Target="../media/image247.png"/><Relationship Id="rId5" Type="http://schemas.openxmlformats.org/officeDocument/2006/relationships/image" Target="../media/image189.png"/><Relationship Id="rId15" Type="http://schemas.openxmlformats.org/officeDocument/2006/relationships/image" Target="../media/image249.png"/><Relationship Id="rId23" Type="http://schemas.openxmlformats.org/officeDocument/2006/relationships/image" Target="../media/image256.png"/><Relationship Id="rId10" Type="http://schemas.openxmlformats.org/officeDocument/2006/relationships/image" Target="../media/image246.png"/><Relationship Id="rId19" Type="http://schemas.openxmlformats.org/officeDocument/2006/relationships/image" Target="../media/image252.png"/><Relationship Id="rId4" Type="http://schemas.openxmlformats.org/officeDocument/2006/relationships/image" Target="../media/image241.png"/><Relationship Id="rId9" Type="http://schemas.openxmlformats.org/officeDocument/2006/relationships/image" Target="../media/image245.png"/><Relationship Id="rId14" Type="http://schemas.openxmlformats.org/officeDocument/2006/relationships/image" Target="../media/image248.png"/><Relationship Id="rId22" Type="http://schemas.openxmlformats.org/officeDocument/2006/relationships/image" Target="../media/image255.png"/></Relationships>
</file>

<file path=ppt/slides/_rels/slide38.xml.rels><?xml version="1.0" encoding="UTF-8" standalone="yes"?>
<Relationships xmlns="http://schemas.openxmlformats.org/package/2006/relationships"><Relationship Id="rId8" Type="http://schemas.openxmlformats.org/officeDocument/2006/relationships/image" Target="../media/image263.png"/><Relationship Id="rId13" Type="http://schemas.openxmlformats.org/officeDocument/2006/relationships/image" Target="../media/image268.png"/><Relationship Id="rId3" Type="http://schemas.openxmlformats.org/officeDocument/2006/relationships/image" Target="../media/image258.png"/><Relationship Id="rId7" Type="http://schemas.openxmlformats.org/officeDocument/2006/relationships/image" Target="../media/image262.png"/><Relationship Id="rId12" Type="http://schemas.openxmlformats.org/officeDocument/2006/relationships/image" Target="../media/image267.png"/><Relationship Id="rId2" Type="http://schemas.openxmlformats.org/officeDocument/2006/relationships/image" Target="../media/image257.png"/><Relationship Id="rId1" Type="http://schemas.openxmlformats.org/officeDocument/2006/relationships/slideLayout" Target="../slideLayouts/slideLayout3.xml"/><Relationship Id="rId6" Type="http://schemas.openxmlformats.org/officeDocument/2006/relationships/image" Target="../media/image261.png"/><Relationship Id="rId11" Type="http://schemas.openxmlformats.org/officeDocument/2006/relationships/image" Target="../media/image266.png"/><Relationship Id="rId5" Type="http://schemas.openxmlformats.org/officeDocument/2006/relationships/image" Target="../media/image260.png"/><Relationship Id="rId10" Type="http://schemas.openxmlformats.org/officeDocument/2006/relationships/image" Target="../media/image265.png"/><Relationship Id="rId4" Type="http://schemas.openxmlformats.org/officeDocument/2006/relationships/image" Target="../media/image259.png"/><Relationship Id="rId9" Type="http://schemas.openxmlformats.org/officeDocument/2006/relationships/image" Target="../media/image264.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chart" Target="../charts/chart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chart" Target="../charts/chart33.xml"/><Relationship Id="rId1" Type="http://schemas.openxmlformats.org/officeDocument/2006/relationships/slideLayout" Target="../slideLayouts/slideLayout3.xml"/><Relationship Id="rId5" Type="http://schemas.openxmlformats.org/officeDocument/2006/relationships/image" Target="../media/image271.png"/><Relationship Id="rId4" Type="http://schemas.openxmlformats.org/officeDocument/2006/relationships/image" Target="../media/image270.png"/></Relationships>
</file>

<file path=ppt/slides/_rels/slide42.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slideLayout" Target="../slideLayouts/slideLayout3.xml"/><Relationship Id="rId1" Type="http://schemas.openxmlformats.org/officeDocument/2006/relationships/tags" Target="../tags/tag28.xml"/><Relationship Id="rId5" Type="http://schemas.openxmlformats.org/officeDocument/2006/relationships/chart" Target="../charts/chart36.xml"/><Relationship Id="rId4" Type="http://schemas.openxmlformats.org/officeDocument/2006/relationships/chart" Target="../charts/chart35.xml"/></Relationships>
</file>

<file path=ppt/slides/_rels/slide44.xml.rels><?xml version="1.0" encoding="UTF-8" standalone="yes"?>
<Relationships xmlns="http://schemas.openxmlformats.org/package/2006/relationships"><Relationship Id="rId3" Type="http://schemas.openxmlformats.org/officeDocument/2006/relationships/image" Target="../media/image273.svg"/><Relationship Id="rId2" Type="http://schemas.openxmlformats.org/officeDocument/2006/relationships/slideLayout" Target="../slideLayouts/slideLayout3.xml"/><Relationship Id="rId1" Type="http://schemas.openxmlformats.org/officeDocument/2006/relationships/tags" Target="../tags/tag29.xml"/><Relationship Id="rId6" Type="http://schemas.openxmlformats.org/officeDocument/2006/relationships/chart" Target="../charts/chart37.xml"/><Relationship Id="rId5" Type="http://schemas.openxmlformats.org/officeDocument/2006/relationships/image" Target="../media/image275.svg"/><Relationship Id="rId4" Type="http://schemas.openxmlformats.org/officeDocument/2006/relationships/image" Target="../media/image274.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9507578-C288-40E5-9D38-47D6FF0128A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8" name="Object 7" hidden="1">
                        <a:extLst>
                          <a:ext uri="{FF2B5EF4-FFF2-40B4-BE49-F238E27FC236}">
                            <a16:creationId xmlns:a16="http://schemas.microsoft.com/office/drawing/2014/main" id="{E9507578-C288-40E5-9D38-47D6FF0128A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Subtitle 9">
            <a:extLst>
              <a:ext uri="{FF2B5EF4-FFF2-40B4-BE49-F238E27FC236}">
                <a16:creationId xmlns:a16="http://schemas.microsoft.com/office/drawing/2014/main" id="{4A0C2DFE-56FF-6122-167D-7D55D2374A44}"/>
              </a:ext>
            </a:extLst>
          </p:cNvPr>
          <p:cNvSpPr>
            <a:spLocks noGrp="1"/>
          </p:cNvSpPr>
          <p:nvPr>
            <p:ph type="subTitle" idx="1"/>
          </p:nvPr>
        </p:nvSpPr>
        <p:spPr>
          <a:xfrm>
            <a:off x="1438939" y="1468800"/>
            <a:ext cx="7200000" cy="360000"/>
          </a:xfrm>
        </p:spPr>
        <p:txBody>
          <a:bodyPr/>
          <a:lstStyle/>
          <a:p>
            <a:r>
              <a:rPr lang="en-SG" sz="2400"/>
              <a:t>Establishing a Data Centre REIT on SGX</a:t>
            </a:r>
          </a:p>
        </p:txBody>
      </p:sp>
      <p:sp>
        <p:nvSpPr>
          <p:cNvPr id="11" name="Text Placeholder 10">
            <a:extLst>
              <a:ext uri="{FF2B5EF4-FFF2-40B4-BE49-F238E27FC236}">
                <a16:creationId xmlns:a16="http://schemas.microsoft.com/office/drawing/2014/main" id="{2AD040C3-356F-20A4-F2F8-252B5E025805}"/>
              </a:ext>
            </a:extLst>
          </p:cNvPr>
          <p:cNvSpPr>
            <a:spLocks noGrp="1"/>
          </p:cNvSpPr>
          <p:nvPr>
            <p:ph type="body" sz="quarter" idx="11"/>
          </p:nvPr>
        </p:nvSpPr>
        <p:spPr>
          <a:xfrm>
            <a:off x="1438939" y="2118900"/>
            <a:ext cx="7200000" cy="216000"/>
          </a:xfrm>
        </p:spPr>
        <p:txBody>
          <a:bodyPr/>
          <a:lstStyle/>
          <a:p>
            <a:r>
              <a:rPr lang="en-US" sz="1200" b="1"/>
              <a:t>May 2026</a:t>
            </a:r>
          </a:p>
        </p:txBody>
      </p:sp>
      <p:sp>
        <p:nvSpPr>
          <p:cNvPr id="2" name="TextBox 1">
            <a:extLst>
              <a:ext uri="{FF2B5EF4-FFF2-40B4-BE49-F238E27FC236}">
                <a16:creationId xmlns:a16="http://schemas.microsoft.com/office/drawing/2014/main" id="{7D26F9D4-00AC-BAA2-4CE9-B9536C5A083A}"/>
              </a:ext>
            </a:extLst>
          </p:cNvPr>
          <p:cNvSpPr txBox="1"/>
          <p:nvPr/>
        </p:nvSpPr>
        <p:spPr>
          <a:xfrm>
            <a:off x="7338951" y="332509"/>
            <a:ext cx="2109849" cy="216000"/>
          </a:xfrm>
          <a:prstGeom prst="rect">
            <a:avLst/>
          </a:prstGeom>
          <a:noFill/>
        </p:spPr>
        <p:txBody>
          <a:bodyPr wrap="square" lIns="18000" tIns="18000" rIns="18000" bIns="18000" rtlCol="0" anchor="t">
            <a:noAutofit/>
          </a:bodyPr>
          <a:lstStyle/>
          <a:p>
            <a:pPr algn="r"/>
            <a:r>
              <a:rPr lang="en-SG" sz="1000">
                <a:solidFill>
                  <a:schemeClr val="tx1"/>
                </a:solidFill>
              </a:rPr>
              <a:t>Private and Confidential</a:t>
            </a:r>
          </a:p>
        </p:txBody>
      </p:sp>
      <p:sp>
        <p:nvSpPr>
          <p:cNvPr id="3" name="Subtitle 9">
            <a:extLst>
              <a:ext uri="{FF2B5EF4-FFF2-40B4-BE49-F238E27FC236}">
                <a16:creationId xmlns:a16="http://schemas.microsoft.com/office/drawing/2014/main" id="{E9FCD94C-BE61-513F-7CDB-5E866B0ACEF4}"/>
              </a:ext>
            </a:extLst>
          </p:cNvPr>
          <p:cNvSpPr txBox="1">
            <a:spLocks/>
          </p:cNvSpPr>
          <p:nvPr/>
        </p:nvSpPr>
        <p:spPr>
          <a:xfrm>
            <a:off x="1438939" y="1847850"/>
            <a:ext cx="7200000" cy="360000"/>
          </a:xfrm>
          <a:prstGeom prst="rect">
            <a:avLst/>
          </a:prstGeom>
          <a:extLst>
            <a:ext uri="{909E8E84-426E-40DD-AFC4-6F175D3DCCD1}">
              <a14:hiddenFill xmlns:a14="http://schemas.microsoft.com/office/drawing/2010/main">
                <a:solidFill>
                  <a:schemeClr val="accent1"/>
                </a:solidFill>
              </a14:hiddenFill>
            </a:ext>
          </a:extLst>
        </p:spPr>
        <p:txBody>
          <a:bodyPr vert="horz" lIns="0" tIns="0" rIns="0" bIns="0" rtlCol="0" anchor="ctr" anchorCtr="1">
            <a:noAutofit/>
          </a:bodyPr>
          <a:lstStyle>
            <a:lvl1pPr marL="0" indent="0" algn="ctr" rtl="0" eaLnBrk="0" fontAlgn="base" hangingPunct="0">
              <a:lnSpc>
                <a:spcPct val="100000"/>
              </a:lnSpc>
              <a:spcBef>
                <a:spcPts val="0"/>
              </a:spcBef>
              <a:spcAft>
                <a:spcPct val="0"/>
              </a:spcAft>
              <a:buClr>
                <a:schemeClr val="accent1"/>
              </a:buClr>
              <a:buFont typeface="Wingdings" panose="05000000000000000000" pitchFamily="2" charset="2"/>
              <a:buNone/>
              <a:defRPr lang="en-US" sz="2000" b="1" kern="1200">
                <a:solidFill>
                  <a:schemeClr val="tx1"/>
                </a:solidFill>
                <a:latin typeface="Arial" panose="020B0604020202020204" pitchFamily="34" charset="0"/>
                <a:ea typeface="+mn-ea"/>
                <a:cs typeface="Arial" panose="020B0604020202020204" pitchFamily="34" charset="0"/>
              </a:defRPr>
            </a:lvl1pPr>
            <a:lvl2pPr marL="324000" indent="0" algn="l" rtl="0" eaLnBrk="0" fontAlgn="base" hangingPunct="0">
              <a:lnSpc>
                <a:spcPct val="130000"/>
              </a:lnSpc>
              <a:spcBef>
                <a:spcPts val="0"/>
              </a:spcBef>
              <a:spcAft>
                <a:spcPct val="0"/>
              </a:spcAft>
              <a:buFont typeface="Arial" panose="020B0604020202020204" pitchFamily="34" charset="0"/>
              <a:buChar char="•"/>
              <a:defRPr lang="en-US" sz="1000" b="0" strike="noStrike" kern="1200" dirty="0" smtClean="0">
                <a:solidFill>
                  <a:srgbClr val="000000"/>
                </a:solidFill>
                <a:latin typeface="Arial" panose="020B0604020202020204" pitchFamily="34" charset="0"/>
                <a:ea typeface="+mn-ea"/>
                <a:cs typeface="Arial" panose="020B0604020202020204" pitchFamily="34" charset="0"/>
              </a:defRPr>
            </a:lvl2pPr>
            <a:lvl3pPr marL="547191" indent="-190797" algn="l" rtl="0" eaLnBrk="0" fontAlgn="base" hangingPunct="0">
              <a:spcBef>
                <a:spcPct val="20000"/>
              </a:spcBef>
              <a:spcAft>
                <a:spcPct val="0"/>
              </a:spcAft>
              <a:buFont typeface="Arial" panose="020B0604020202020204" pitchFamily="34" charset="0"/>
              <a:buChar char="·"/>
              <a:defRPr lang="en-US" sz="900" kern="1200" dirty="0" smtClean="0">
                <a:solidFill>
                  <a:srgbClr val="000000"/>
                </a:solidFill>
                <a:latin typeface="Verdana" panose="020B0604030504040204" pitchFamily="34" charset="0"/>
                <a:ea typeface="+mn-ea"/>
                <a:cs typeface="+mn-cs"/>
              </a:defRPr>
            </a:lvl3pPr>
            <a:lvl4pPr marL="502920" indent="1971015" algn="l" rtl="0" eaLnBrk="0" fontAlgn="base" hangingPunct="0">
              <a:lnSpc>
                <a:spcPct val="130000"/>
              </a:lnSpc>
              <a:spcBef>
                <a:spcPct val="20000"/>
              </a:spcBef>
              <a:spcAft>
                <a:spcPct val="0"/>
              </a:spcAft>
              <a:buChar char="–"/>
              <a:defRPr lang="en-US" sz="900" kern="1200" dirty="0" smtClean="0">
                <a:solidFill>
                  <a:srgbClr val="000000"/>
                </a:solidFill>
                <a:latin typeface="Verdana" panose="020B0604030504040204" pitchFamily="34" charset="0"/>
                <a:ea typeface="+mn-ea"/>
                <a:cs typeface="+mn-cs"/>
              </a:defRPr>
            </a:lvl4pPr>
            <a:lvl5pPr marL="1671638" indent="-185738" algn="l" rtl="0" eaLnBrk="0" fontAlgn="base" hangingPunct="0">
              <a:lnSpc>
                <a:spcPct val="130000"/>
              </a:lnSpc>
              <a:spcBef>
                <a:spcPct val="20000"/>
              </a:spcBef>
              <a:spcAft>
                <a:spcPct val="0"/>
              </a:spcAft>
              <a:buChar char="»"/>
              <a:defRPr lang="en-US" sz="900" kern="1200" dirty="0">
                <a:solidFill>
                  <a:srgbClr val="000000"/>
                </a:solidFill>
                <a:latin typeface="Verdana" panose="020B0604030504040204" pitchFamily="34" charset="0"/>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endParaRPr lang="en-SG" sz="1800" b="0"/>
          </a:p>
        </p:txBody>
      </p:sp>
    </p:spTree>
    <p:extLst>
      <p:ext uri="{BB962C8B-B14F-4D97-AF65-F5344CB8AC3E}">
        <p14:creationId xmlns:p14="http://schemas.microsoft.com/office/powerpoint/2010/main" val="1745426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8C9F8-93DE-592C-305F-70D05CEA879E}"/>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7ED1B159-0F4C-7AB4-AB2C-49C186213436}"/>
              </a:ext>
            </a:extLst>
          </p:cNvPr>
          <p:cNvSpPr>
            <a:spLocks noGrp="1"/>
          </p:cNvSpPr>
          <p:nvPr>
            <p:ph type="subTitle" idx="1"/>
          </p:nvPr>
        </p:nvSpPr>
        <p:spPr/>
        <p:txBody>
          <a:bodyPr/>
          <a:lstStyle/>
          <a:p>
            <a:r>
              <a:rPr lang="en-US"/>
              <a:t>Section 1</a:t>
            </a:r>
            <a:endParaRPr lang="en-SG"/>
          </a:p>
        </p:txBody>
      </p:sp>
      <p:sp>
        <p:nvSpPr>
          <p:cNvPr id="5" name="Title 4">
            <a:extLst>
              <a:ext uri="{FF2B5EF4-FFF2-40B4-BE49-F238E27FC236}">
                <a16:creationId xmlns:a16="http://schemas.microsoft.com/office/drawing/2014/main" id="{9092E65A-4248-BE37-FDA8-0E25E9E3D8FB}"/>
              </a:ext>
            </a:extLst>
          </p:cNvPr>
          <p:cNvSpPr>
            <a:spLocks noGrp="1"/>
          </p:cNvSpPr>
          <p:nvPr>
            <p:ph type="ctrTitle"/>
          </p:nvPr>
        </p:nvSpPr>
        <p:spPr/>
        <p:txBody>
          <a:bodyPr/>
          <a:lstStyle/>
          <a:p>
            <a:r>
              <a:rPr lang="en-US"/>
              <a:t>Equity and REIT Market Update</a:t>
            </a:r>
            <a:endParaRPr lang="en-SG"/>
          </a:p>
        </p:txBody>
      </p:sp>
      <p:sp>
        <p:nvSpPr>
          <p:cNvPr id="10" name="Slide Number Placeholder 9">
            <a:extLst>
              <a:ext uri="{FF2B5EF4-FFF2-40B4-BE49-F238E27FC236}">
                <a16:creationId xmlns:a16="http://schemas.microsoft.com/office/drawing/2014/main" id="{AF67A937-8731-6D81-9042-07A1DF533107}"/>
              </a:ext>
            </a:extLst>
          </p:cNvPr>
          <p:cNvSpPr>
            <a:spLocks noGrp="1"/>
          </p:cNvSpPr>
          <p:nvPr>
            <p:ph type="sldNum" sz="quarter" idx="11"/>
          </p:nvPr>
        </p:nvSpPr>
        <p:spPr/>
        <p:txBody>
          <a:bodyPr/>
          <a:lstStyle/>
          <a:p>
            <a:pPr>
              <a:defRPr/>
            </a:pPr>
            <a:fld id="{EED7964B-8F50-47E5-B5EE-37748C966AF4}" type="slidenum">
              <a:rPr lang="en-US" smtClean="0"/>
              <a:pPr>
                <a:defRPr/>
              </a:pPr>
              <a:t>2</a:t>
            </a:fld>
            <a:endParaRPr lang="en-US"/>
          </a:p>
        </p:txBody>
      </p:sp>
    </p:spTree>
    <p:extLst>
      <p:ext uri="{BB962C8B-B14F-4D97-AF65-F5344CB8AC3E}">
        <p14:creationId xmlns:p14="http://schemas.microsoft.com/office/powerpoint/2010/main" val="385249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54363-550E-22FE-8853-B578385DDC39}"/>
            </a:ext>
          </a:extLst>
        </p:cNvPr>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3150CB0D-DCA3-4F5A-AA9E-7F4D9D98E5B7}"/>
              </a:ext>
            </a:extLst>
          </p:cNvPr>
          <p:cNvGraphicFramePr>
            <a:graphicFrameLocks/>
          </p:cNvGraphicFramePr>
          <p:nvPr>
            <p:extLst>
              <p:ext uri="{D42A27DB-BD31-4B8C-83A1-F6EECF244321}">
                <p14:modId xmlns:p14="http://schemas.microsoft.com/office/powerpoint/2010/main" val="1783218634"/>
              </p:ext>
            </p:extLst>
          </p:nvPr>
        </p:nvGraphicFramePr>
        <p:xfrm>
          <a:off x="441960" y="1424941"/>
          <a:ext cx="8999220" cy="2461260"/>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322FD58B-5AC1-F2BD-98A3-531AC488B1BA}"/>
              </a:ext>
            </a:extLst>
          </p:cNvPr>
          <p:cNvSpPr>
            <a:spLocks noGrp="1"/>
          </p:cNvSpPr>
          <p:nvPr>
            <p:ph type="title"/>
          </p:nvPr>
        </p:nvSpPr>
        <p:spPr/>
        <p:txBody>
          <a:bodyPr/>
          <a:lstStyle/>
          <a:p>
            <a:r>
              <a:rPr lang="en-US"/>
              <a:t>2026 – Markets once again demonstrate resilience and momentum, prevailing above geopolitical uncertainties</a:t>
            </a:r>
            <a:endParaRPr lang="en-US">
              <a:solidFill>
                <a:srgbClr val="FF0000"/>
              </a:solidFill>
            </a:endParaRPr>
          </a:p>
        </p:txBody>
      </p:sp>
      <p:sp>
        <p:nvSpPr>
          <p:cNvPr id="4" name="Slide Number Placeholder 3">
            <a:extLst>
              <a:ext uri="{FF2B5EF4-FFF2-40B4-BE49-F238E27FC236}">
                <a16:creationId xmlns:a16="http://schemas.microsoft.com/office/drawing/2014/main" id="{3331610A-B12F-7C24-6DAD-21F0657ED8DF}"/>
              </a:ext>
            </a:extLst>
          </p:cNvPr>
          <p:cNvSpPr>
            <a:spLocks noGrp="1"/>
          </p:cNvSpPr>
          <p:nvPr>
            <p:ph type="sldNum" sz="quarter" idx="11"/>
          </p:nvPr>
        </p:nvSpPr>
        <p:spPr/>
        <p:txBody>
          <a:bodyPr/>
          <a:lstStyle/>
          <a:p>
            <a:pPr>
              <a:defRPr/>
            </a:pPr>
            <a:fld id="{EED7964B-8F50-47E5-B5EE-37748C966AF4}" type="slidenum">
              <a:rPr lang="en-US" smtClean="0"/>
              <a:pPr>
                <a:defRPr/>
              </a:pPr>
              <a:t>3</a:t>
            </a:fld>
            <a:r>
              <a:rPr lang="en-US"/>
              <a:t> </a:t>
            </a:r>
          </a:p>
        </p:txBody>
      </p:sp>
      <p:sp>
        <p:nvSpPr>
          <p:cNvPr id="7" name="Text Placeholder 6">
            <a:extLst>
              <a:ext uri="{FF2B5EF4-FFF2-40B4-BE49-F238E27FC236}">
                <a16:creationId xmlns:a16="http://schemas.microsoft.com/office/drawing/2014/main" id="{0EA743C4-3675-C335-0B09-A7222132F081}"/>
              </a:ext>
            </a:extLst>
          </p:cNvPr>
          <p:cNvSpPr>
            <a:spLocks noGrp="1"/>
          </p:cNvSpPr>
          <p:nvPr>
            <p:ph type="body" sz="quarter" idx="46"/>
          </p:nvPr>
        </p:nvSpPr>
        <p:spPr/>
        <p:txBody>
          <a:bodyPr/>
          <a:lstStyle/>
          <a:p>
            <a:pPr marL="0" indent="0">
              <a:buNone/>
            </a:pPr>
            <a:r>
              <a:rPr lang="en-SG" sz="800"/>
              <a:t>Source: Bloomberg, </a:t>
            </a:r>
            <a:r>
              <a:rPr lang="en-SG" sz="800" err="1"/>
              <a:t>Factset</a:t>
            </a:r>
            <a:r>
              <a:rPr lang="en-SG" sz="800"/>
              <a:t> as at 04 May 2026</a:t>
            </a:r>
          </a:p>
        </p:txBody>
      </p:sp>
      <p:sp>
        <p:nvSpPr>
          <p:cNvPr id="12" name="TextBox 11">
            <a:extLst>
              <a:ext uri="{FF2B5EF4-FFF2-40B4-BE49-F238E27FC236}">
                <a16:creationId xmlns:a16="http://schemas.microsoft.com/office/drawing/2014/main" id="{F5B09946-2867-E656-3220-43B1579801D0}"/>
              </a:ext>
            </a:extLst>
          </p:cNvPr>
          <p:cNvSpPr txBox="1"/>
          <p:nvPr/>
        </p:nvSpPr>
        <p:spPr>
          <a:xfrm>
            <a:off x="453000" y="932378"/>
            <a:ext cx="8999992" cy="431842"/>
          </a:xfrm>
          <a:prstGeom prst="roundRect">
            <a:avLst/>
          </a:prstGeom>
          <a:solidFill>
            <a:schemeClr val="bg2"/>
          </a:solidFill>
          <a:ln>
            <a:solidFill>
              <a:schemeClr val="bg1">
                <a:lumMod val="65000"/>
              </a:schemeClr>
            </a:solidFill>
          </a:ln>
        </p:spPr>
        <p:txBody>
          <a:bodyPr wrap="square" lIns="36000" tIns="36000" rIns="36000" bIns="36000" rtlCol="0" anchor="ctr">
            <a:noAutofit/>
          </a:bodyPr>
          <a:lstStyle/>
          <a:p>
            <a:pPr algn="ctr"/>
            <a:r>
              <a:rPr lang="en-US" sz="1000">
                <a:solidFill>
                  <a:schemeClr val="tx1"/>
                </a:solidFill>
              </a:rPr>
              <a:t>Markets are navigating significant uncertainty from geopolitical conflicts, inflation risks, tariff threats, and disruptive effects of AI in 2026.</a:t>
            </a:r>
          </a:p>
          <a:p>
            <a:pPr algn="ctr"/>
            <a:r>
              <a:rPr lang="en-US" sz="1000">
                <a:solidFill>
                  <a:schemeClr val="tx1"/>
                </a:solidFill>
              </a:rPr>
              <a:t>Despite the downside macro risks, markets continue to remain resilient underpinned by sustained growth, having walked a similar path in 2025.</a:t>
            </a:r>
          </a:p>
        </p:txBody>
      </p:sp>
      <p:cxnSp>
        <p:nvCxnSpPr>
          <p:cNvPr id="16" name="Straight Connector 15">
            <a:extLst>
              <a:ext uri="{FF2B5EF4-FFF2-40B4-BE49-F238E27FC236}">
                <a16:creationId xmlns:a16="http://schemas.microsoft.com/office/drawing/2014/main" id="{B0D5FE1C-2C54-EEC0-9D68-2ECB0D9D9898}"/>
              </a:ext>
            </a:extLst>
          </p:cNvPr>
          <p:cNvCxnSpPr>
            <a:cxnSpLocks/>
          </p:cNvCxnSpPr>
          <p:nvPr/>
        </p:nvCxnSpPr>
        <p:spPr bwMode="auto">
          <a:xfrm>
            <a:off x="2006336" y="1550070"/>
            <a:ext cx="0" cy="1830670"/>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Box 33">
            <a:extLst>
              <a:ext uri="{FF2B5EF4-FFF2-40B4-BE49-F238E27FC236}">
                <a16:creationId xmlns:a16="http://schemas.microsoft.com/office/drawing/2014/main" id="{F37D1290-99AF-8F7C-18BC-4725AE1B6A8D}"/>
              </a:ext>
            </a:extLst>
          </p:cNvPr>
          <p:cNvSpPr txBox="1"/>
          <p:nvPr/>
        </p:nvSpPr>
        <p:spPr>
          <a:xfrm>
            <a:off x="2013957" y="1550070"/>
            <a:ext cx="619932" cy="369332"/>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800">
                <a:solidFill>
                  <a:schemeClr val="tx1"/>
                </a:solidFill>
                <a:latin typeface="Arial" panose="020B0604020202020204" pitchFamily="34" charset="0"/>
              </a:rPr>
              <a:t>2 Apr:</a:t>
            </a:r>
            <a:r>
              <a:rPr lang="en-US" sz="800" b="0">
                <a:solidFill>
                  <a:schemeClr val="tx1"/>
                </a:solidFill>
                <a:latin typeface="Arial" panose="020B0604020202020204" pitchFamily="34" charset="0"/>
              </a:rPr>
              <a:t> Liberation Day tariffs</a:t>
            </a:r>
            <a:endParaRPr lang="en-SG" sz="800" b="0">
              <a:solidFill>
                <a:schemeClr val="tx1"/>
              </a:solidFill>
              <a:latin typeface="Arial" panose="020B0604020202020204" pitchFamily="34" charset="0"/>
            </a:endParaRPr>
          </a:p>
        </p:txBody>
      </p:sp>
      <p:cxnSp>
        <p:nvCxnSpPr>
          <p:cNvPr id="22" name="Straight Connector 21">
            <a:extLst>
              <a:ext uri="{FF2B5EF4-FFF2-40B4-BE49-F238E27FC236}">
                <a16:creationId xmlns:a16="http://schemas.microsoft.com/office/drawing/2014/main" id="{A1C4F0AD-384D-5EBF-8A19-BBFEA2FB4FDD}"/>
              </a:ext>
            </a:extLst>
          </p:cNvPr>
          <p:cNvCxnSpPr>
            <a:cxnSpLocks/>
          </p:cNvCxnSpPr>
          <p:nvPr/>
        </p:nvCxnSpPr>
        <p:spPr bwMode="auto">
          <a:xfrm>
            <a:off x="2557689" y="1550070"/>
            <a:ext cx="0" cy="1830670"/>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TextBox 33">
            <a:extLst>
              <a:ext uri="{FF2B5EF4-FFF2-40B4-BE49-F238E27FC236}">
                <a16:creationId xmlns:a16="http://schemas.microsoft.com/office/drawing/2014/main" id="{0313F718-BDB7-8783-BDA0-591C1DDE3FDB}"/>
              </a:ext>
            </a:extLst>
          </p:cNvPr>
          <p:cNvSpPr txBox="1"/>
          <p:nvPr/>
        </p:nvSpPr>
        <p:spPr>
          <a:xfrm>
            <a:off x="2572928" y="1550070"/>
            <a:ext cx="772251" cy="369332"/>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800">
                <a:solidFill>
                  <a:schemeClr val="tx1"/>
                </a:solidFill>
                <a:latin typeface="Arial" panose="020B0604020202020204" pitchFamily="34" charset="0"/>
              </a:rPr>
              <a:t>12 May:</a:t>
            </a:r>
            <a:r>
              <a:rPr lang="en-US" sz="800" b="0">
                <a:solidFill>
                  <a:schemeClr val="tx1"/>
                </a:solidFill>
                <a:latin typeface="Arial" panose="020B0604020202020204" pitchFamily="34" charset="0"/>
              </a:rPr>
              <a:t> 90-day pause in tariffs</a:t>
            </a:r>
            <a:endParaRPr lang="en-SG" sz="800" b="0">
              <a:solidFill>
                <a:schemeClr val="tx1"/>
              </a:solidFill>
              <a:latin typeface="Arial" panose="020B0604020202020204" pitchFamily="34" charset="0"/>
            </a:endParaRPr>
          </a:p>
        </p:txBody>
      </p:sp>
      <p:cxnSp>
        <p:nvCxnSpPr>
          <p:cNvPr id="24" name="Straight Connector 23">
            <a:extLst>
              <a:ext uri="{FF2B5EF4-FFF2-40B4-BE49-F238E27FC236}">
                <a16:creationId xmlns:a16="http://schemas.microsoft.com/office/drawing/2014/main" id="{8D128D87-FB84-BD55-8E15-32B17F8D4726}"/>
              </a:ext>
            </a:extLst>
          </p:cNvPr>
          <p:cNvCxnSpPr>
            <a:cxnSpLocks/>
          </p:cNvCxnSpPr>
          <p:nvPr/>
        </p:nvCxnSpPr>
        <p:spPr bwMode="auto">
          <a:xfrm>
            <a:off x="6413414" y="1550070"/>
            <a:ext cx="0" cy="1830670"/>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5" name="TextBox 33">
            <a:extLst>
              <a:ext uri="{FF2B5EF4-FFF2-40B4-BE49-F238E27FC236}">
                <a16:creationId xmlns:a16="http://schemas.microsoft.com/office/drawing/2014/main" id="{22B1E7BA-4531-D1C2-D46F-221F59E6ED70}"/>
              </a:ext>
            </a:extLst>
          </p:cNvPr>
          <p:cNvSpPr txBox="1"/>
          <p:nvPr/>
        </p:nvSpPr>
        <p:spPr>
          <a:xfrm>
            <a:off x="5492839" y="1527210"/>
            <a:ext cx="920576" cy="246221"/>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algn="r" eaLnBrk="0" hangingPunct="0"/>
            <a:r>
              <a:rPr lang="en-US" sz="800">
                <a:solidFill>
                  <a:schemeClr val="tx1"/>
                </a:solidFill>
                <a:latin typeface="Arial" panose="020B0604020202020204" pitchFamily="34" charset="0"/>
              </a:rPr>
              <a:t>28 Feb:</a:t>
            </a:r>
            <a:r>
              <a:rPr lang="en-US" sz="800" b="0">
                <a:solidFill>
                  <a:schemeClr val="tx1"/>
                </a:solidFill>
                <a:latin typeface="Arial" panose="020B0604020202020204" pitchFamily="34" charset="0"/>
              </a:rPr>
              <a:t> Middle East Conflict</a:t>
            </a:r>
            <a:endParaRPr lang="en-SG" sz="800" b="0">
              <a:solidFill>
                <a:schemeClr val="tx1"/>
              </a:solidFill>
              <a:latin typeface="Arial" panose="020B0604020202020204" pitchFamily="34" charset="0"/>
            </a:endParaRPr>
          </a:p>
        </p:txBody>
      </p:sp>
      <p:cxnSp>
        <p:nvCxnSpPr>
          <p:cNvPr id="33" name="Straight Connector 32">
            <a:extLst>
              <a:ext uri="{FF2B5EF4-FFF2-40B4-BE49-F238E27FC236}">
                <a16:creationId xmlns:a16="http://schemas.microsoft.com/office/drawing/2014/main" id="{EDD9C4EB-FC60-9DF8-1106-05EAD4761CD6}"/>
              </a:ext>
            </a:extLst>
          </p:cNvPr>
          <p:cNvCxnSpPr>
            <a:cxnSpLocks/>
          </p:cNvCxnSpPr>
          <p:nvPr/>
        </p:nvCxnSpPr>
        <p:spPr bwMode="auto">
          <a:xfrm>
            <a:off x="5003633" y="1550070"/>
            <a:ext cx="0" cy="1830670"/>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4" name="TextBox 33">
            <a:extLst>
              <a:ext uri="{FF2B5EF4-FFF2-40B4-BE49-F238E27FC236}">
                <a16:creationId xmlns:a16="http://schemas.microsoft.com/office/drawing/2014/main" id="{BA9AE3EB-A848-A1AB-7BA4-8C3DCF6FC769}"/>
              </a:ext>
            </a:extLst>
          </p:cNvPr>
          <p:cNvSpPr txBox="1"/>
          <p:nvPr/>
        </p:nvSpPr>
        <p:spPr>
          <a:xfrm>
            <a:off x="4996013" y="1550070"/>
            <a:ext cx="741847" cy="369332"/>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800">
                <a:solidFill>
                  <a:schemeClr val="tx1"/>
                </a:solidFill>
                <a:latin typeface="Arial" panose="020B0604020202020204" pitchFamily="34" charset="0"/>
              </a:rPr>
              <a:t>Nov</a:t>
            </a:r>
            <a:r>
              <a:rPr lang="en-US" sz="800" b="0">
                <a:solidFill>
                  <a:schemeClr val="tx1"/>
                </a:solidFill>
                <a:latin typeface="Arial" panose="020B0604020202020204" pitchFamily="34" charset="0"/>
              </a:rPr>
              <a:t>: Concerns over AI valuations</a:t>
            </a:r>
          </a:p>
        </p:txBody>
      </p:sp>
      <p:cxnSp>
        <p:nvCxnSpPr>
          <p:cNvPr id="28" name="Straight Connector 27">
            <a:extLst>
              <a:ext uri="{FF2B5EF4-FFF2-40B4-BE49-F238E27FC236}">
                <a16:creationId xmlns:a16="http://schemas.microsoft.com/office/drawing/2014/main" id="{68C96827-2D32-C54C-A272-D75419436FE6}"/>
              </a:ext>
            </a:extLst>
          </p:cNvPr>
          <p:cNvCxnSpPr>
            <a:cxnSpLocks/>
          </p:cNvCxnSpPr>
          <p:nvPr/>
        </p:nvCxnSpPr>
        <p:spPr bwMode="auto">
          <a:xfrm>
            <a:off x="7075633" y="1550070"/>
            <a:ext cx="0" cy="1830670"/>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TextBox 33">
            <a:extLst>
              <a:ext uri="{FF2B5EF4-FFF2-40B4-BE49-F238E27FC236}">
                <a16:creationId xmlns:a16="http://schemas.microsoft.com/office/drawing/2014/main" id="{058990DA-E911-B923-8266-809DD5C6122C}"/>
              </a:ext>
            </a:extLst>
          </p:cNvPr>
          <p:cNvSpPr txBox="1"/>
          <p:nvPr/>
        </p:nvSpPr>
        <p:spPr>
          <a:xfrm>
            <a:off x="7093617" y="1496730"/>
            <a:ext cx="1509363" cy="123111"/>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800">
                <a:solidFill>
                  <a:schemeClr val="tx1"/>
                </a:solidFill>
                <a:latin typeface="Arial" panose="020B0604020202020204" pitchFamily="34" charset="0"/>
              </a:rPr>
              <a:t>7 Apr:</a:t>
            </a:r>
            <a:r>
              <a:rPr lang="en-US" sz="800" b="0">
                <a:solidFill>
                  <a:schemeClr val="tx1"/>
                </a:solidFill>
                <a:latin typeface="Arial" panose="020B0604020202020204" pitchFamily="34" charset="0"/>
              </a:rPr>
              <a:t> Temporary Ceasefire</a:t>
            </a:r>
            <a:endParaRPr lang="en-SG" sz="800" b="0">
              <a:solidFill>
                <a:schemeClr val="tx1"/>
              </a:solidFill>
              <a:latin typeface="Arial" panose="020B0604020202020204" pitchFamily="34" charset="0"/>
            </a:endParaRPr>
          </a:p>
        </p:txBody>
      </p:sp>
      <p:sp>
        <p:nvSpPr>
          <p:cNvPr id="30" name="TextBox 29">
            <a:extLst>
              <a:ext uri="{FF2B5EF4-FFF2-40B4-BE49-F238E27FC236}">
                <a16:creationId xmlns:a16="http://schemas.microsoft.com/office/drawing/2014/main" id="{01B74AE5-3205-E979-2CF4-2A6FEA1C8A48}"/>
              </a:ext>
            </a:extLst>
          </p:cNvPr>
          <p:cNvSpPr txBox="1"/>
          <p:nvPr/>
        </p:nvSpPr>
        <p:spPr>
          <a:xfrm>
            <a:off x="5133002" y="4207781"/>
            <a:ext cx="4320000" cy="2066293"/>
          </a:xfrm>
          <a:prstGeom prst="roundRect">
            <a:avLst>
              <a:gd name="adj" fmla="val 4634"/>
            </a:avLst>
          </a:prstGeom>
          <a:noFill/>
          <a:ln>
            <a:solidFill>
              <a:schemeClr val="bg1">
                <a:lumMod val="75000"/>
              </a:schemeClr>
            </a:solidFill>
            <a:prstDash val="sysDash"/>
          </a:ln>
        </p:spPr>
        <p:txBody>
          <a:bodyPr wrap="square" lIns="36000" tIns="36000" rIns="36000" bIns="36000" rtlCol="0" anchor="t">
            <a:noAutofit/>
          </a:bodyPr>
          <a:lstStyle/>
          <a:p>
            <a:pPr marL="171450" indent="-171450">
              <a:spcAft>
                <a:spcPts val="600"/>
              </a:spcAft>
              <a:buFont typeface="Arial" panose="020B0604020202020204" pitchFamily="34" charset="0"/>
              <a:buChar char="•"/>
            </a:pPr>
            <a:r>
              <a:rPr lang="en-US" sz="1000">
                <a:solidFill>
                  <a:schemeClr val="tx1"/>
                </a:solidFill>
              </a:rPr>
              <a:t>Geopolitical Conflicts</a:t>
            </a:r>
            <a:r>
              <a:rPr lang="en-US" sz="1000" b="0">
                <a:solidFill>
                  <a:schemeClr val="tx1"/>
                </a:solidFill>
              </a:rPr>
              <a:t> have taken center stage with recent military action involving US and Iran, resulting in heightened volatility and moderating expectations of global economic growth</a:t>
            </a:r>
          </a:p>
          <a:p>
            <a:pPr marL="171450" indent="-171450">
              <a:spcAft>
                <a:spcPts val="600"/>
              </a:spcAft>
              <a:buFont typeface="Arial" panose="020B0604020202020204" pitchFamily="34" charset="0"/>
              <a:buChar char="•"/>
            </a:pPr>
            <a:r>
              <a:rPr lang="en-US" sz="1000">
                <a:solidFill>
                  <a:schemeClr val="tx1"/>
                </a:solidFill>
              </a:rPr>
              <a:t>AI as Market Driver</a:t>
            </a:r>
            <a:r>
              <a:rPr lang="en-US" sz="1000" b="0">
                <a:solidFill>
                  <a:schemeClr val="tx1"/>
                </a:solidFill>
              </a:rPr>
              <a:t>: Sustained AI capex (</a:t>
            </a:r>
            <a:r>
              <a:rPr lang="en-US" sz="1000" b="0" err="1">
                <a:solidFill>
                  <a:schemeClr val="tx1"/>
                </a:solidFill>
              </a:rPr>
              <a:t>eg</a:t>
            </a:r>
            <a:r>
              <a:rPr lang="en-US" sz="1000" b="0">
                <a:solidFill>
                  <a:schemeClr val="tx1"/>
                </a:solidFill>
              </a:rPr>
              <a:t> tech giants committing US$650 billion in 2026) to underpin growth, earnings, and equity markets globally, possibly competing against traditional macro factors</a:t>
            </a:r>
          </a:p>
          <a:p>
            <a:pPr marL="171450" indent="-171450">
              <a:spcAft>
                <a:spcPts val="600"/>
              </a:spcAft>
              <a:buFont typeface="Arial" panose="020B0604020202020204" pitchFamily="34" charset="0"/>
              <a:buChar char="•"/>
            </a:pPr>
            <a:r>
              <a:rPr lang="en-US" sz="1000">
                <a:solidFill>
                  <a:schemeClr val="tx1"/>
                </a:solidFill>
              </a:rPr>
              <a:t>Rate Cut Trajectory</a:t>
            </a:r>
            <a:r>
              <a:rPr lang="en-US" sz="1000" b="0">
                <a:solidFill>
                  <a:schemeClr val="tx1"/>
                </a:solidFill>
              </a:rPr>
              <a:t>: Fed expected to hold rates steady due to renewed inflation risk as concerns around energy prices mount</a:t>
            </a:r>
          </a:p>
          <a:p>
            <a:pPr marL="171450" indent="-171450">
              <a:spcAft>
                <a:spcPts val="600"/>
              </a:spcAft>
              <a:buFont typeface="Arial" panose="020B0604020202020204" pitchFamily="34" charset="0"/>
              <a:buChar char="•"/>
            </a:pPr>
            <a:r>
              <a:rPr lang="en-US" sz="1000">
                <a:solidFill>
                  <a:schemeClr val="tx1"/>
                </a:solidFill>
              </a:rPr>
              <a:t>Underlying Economic Health</a:t>
            </a:r>
            <a:r>
              <a:rPr lang="en-US" sz="1000" b="0">
                <a:solidFill>
                  <a:schemeClr val="tx1"/>
                </a:solidFill>
              </a:rPr>
              <a:t>: Softening labor market and overall growth projections, potentially offset by strong balance sheets and sector specific growth (</a:t>
            </a:r>
            <a:r>
              <a:rPr lang="en-US" sz="1000" b="0" err="1">
                <a:solidFill>
                  <a:schemeClr val="tx1"/>
                </a:solidFill>
              </a:rPr>
              <a:t>eg</a:t>
            </a:r>
            <a:r>
              <a:rPr lang="en-US" sz="1000" b="0">
                <a:solidFill>
                  <a:schemeClr val="tx1"/>
                </a:solidFill>
              </a:rPr>
              <a:t> AI)</a:t>
            </a:r>
          </a:p>
        </p:txBody>
      </p:sp>
      <p:sp>
        <p:nvSpPr>
          <p:cNvPr id="31" name="TextBox 30">
            <a:extLst>
              <a:ext uri="{FF2B5EF4-FFF2-40B4-BE49-F238E27FC236}">
                <a16:creationId xmlns:a16="http://schemas.microsoft.com/office/drawing/2014/main" id="{D9B49DAD-336C-D219-9E75-382F40882835}"/>
              </a:ext>
            </a:extLst>
          </p:cNvPr>
          <p:cNvSpPr txBox="1"/>
          <p:nvPr/>
        </p:nvSpPr>
        <p:spPr>
          <a:xfrm>
            <a:off x="453000" y="3932949"/>
            <a:ext cx="4320000" cy="233671"/>
          </a:xfrm>
          <a:prstGeom prst="roundRect">
            <a:avLst/>
          </a:prstGeom>
          <a:solidFill>
            <a:srgbClr val="089C8B"/>
          </a:solidFill>
          <a:ln>
            <a:noFill/>
          </a:ln>
        </p:spPr>
        <p:txBody>
          <a:bodyPr wrap="square" lIns="36000" tIns="36000" rIns="36000" bIns="36000" rtlCol="0" anchor="ctr">
            <a:noAutofit/>
          </a:bodyPr>
          <a:lstStyle>
            <a:defPPr>
              <a:defRPr lang="en-US"/>
            </a:defPPr>
            <a:lvl1pPr>
              <a:defRPr sz="900">
                <a:solidFill>
                  <a:schemeClr val="tx1"/>
                </a:solidFill>
              </a:defRPr>
            </a:lvl1pPr>
          </a:lstStyle>
          <a:p>
            <a:pPr algn="ctr"/>
            <a:r>
              <a:rPr lang="en-US" sz="1000">
                <a:solidFill>
                  <a:schemeClr val="bg1"/>
                </a:solidFill>
              </a:rPr>
              <a:t>Key Market Movers in 2025</a:t>
            </a:r>
          </a:p>
        </p:txBody>
      </p:sp>
      <p:sp>
        <p:nvSpPr>
          <p:cNvPr id="32" name="TextBox 31">
            <a:extLst>
              <a:ext uri="{FF2B5EF4-FFF2-40B4-BE49-F238E27FC236}">
                <a16:creationId xmlns:a16="http://schemas.microsoft.com/office/drawing/2014/main" id="{886C9D4C-D5AD-626F-DE5A-D92D683995C7}"/>
              </a:ext>
            </a:extLst>
          </p:cNvPr>
          <p:cNvSpPr txBox="1"/>
          <p:nvPr/>
        </p:nvSpPr>
        <p:spPr>
          <a:xfrm>
            <a:off x="5132992" y="3932949"/>
            <a:ext cx="4320000" cy="233671"/>
          </a:xfrm>
          <a:prstGeom prst="roundRect">
            <a:avLst/>
          </a:prstGeom>
          <a:solidFill>
            <a:srgbClr val="089C8B"/>
          </a:solidFill>
          <a:ln>
            <a:noFill/>
          </a:ln>
        </p:spPr>
        <p:txBody>
          <a:bodyPr wrap="square" lIns="36000" tIns="36000" rIns="36000" bIns="36000" rtlCol="0" anchor="ctr">
            <a:noAutofit/>
          </a:bodyPr>
          <a:lstStyle>
            <a:defPPr>
              <a:defRPr lang="en-US"/>
            </a:defPPr>
            <a:lvl1pPr algn="ctr">
              <a:defRPr sz="900">
                <a:solidFill>
                  <a:schemeClr val="tx1"/>
                </a:solidFill>
              </a:defRPr>
            </a:lvl1pPr>
          </a:lstStyle>
          <a:p>
            <a:r>
              <a:rPr lang="en-US" sz="1000">
                <a:solidFill>
                  <a:schemeClr val="bg1"/>
                </a:solidFill>
              </a:rPr>
              <a:t>Key Factors to Watch in 2026</a:t>
            </a:r>
          </a:p>
        </p:txBody>
      </p:sp>
      <p:sp>
        <p:nvSpPr>
          <p:cNvPr id="35" name="TextBox 34">
            <a:extLst>
              <a:ext uri="{FF2B5EF4-FFF2-40B4-BE49-F238E27FC236}">
                <a16:creationId xmlns:a16="http://schemas.microsoft.com/office/drawing/2014/main" id="{9C9FBD8D-97B9-5F10-AFAB-633CD85687A0}"/>
              </a:ext>
            </a:extLst>
          </p:cNvPr>
          <p:cNvSpPr txBox="1"/>
          <p:nvPr/>
        </p:nvSpPr>
        <p:spPr>
          <a:xfrm>
            <a:off x="453000" y="4207781"/>
            <a:ext cx="4320000" cy="2066293"/>
          </a:xfrm>
          <a:prstGeom prst="roundRect">
            <a:avLst>
              <a:gd name="adj" fmla="val 4634"/>
            </a:avLst>
          </a:prstGeom>
          <a:noFill/>
          <a:ln>
            <a:solidFill>
              <a:schemeClr val="bg1">
                <a:lumMod val="75000"/>
              </a:schemeClr>
            </a:solidFill>
            <a:prstDash val="sysDash"/>
          </a:ln>
        </p:spPr>
        <p:txBody>
          <a:bodyPr wrap="square" lIns="36000" tIns="36000" rIns="36000" bIns="36000" rtlCol="0" anchor="t">
            <a:noAutofit/>
          </a:bodyPr>
          <a:lstStyle/>
          <a:p>
            <a:pPr marL="171450" indent="-171450">
              <a:spcAft>
                <a:spcPts val="600"/>
              </a:spcAft>
              <a:buFont typeface="Arial" panose="020B0604020202020204" pitchFamily="34" charset="0"/>
              <a:buChar char="•"/>
            </a:pPr>
            <a:r>
              <a:rPr lang="en-US" sz="1000">
                <a:solidFill>
                  <a:schemeClr val="tx1"/>
                </a:solidFill>
              </a:rPr>
              <a:t>Tariff War </a:t>
            </a:r>
            <a:r>
              <a:rPr lang="en-US" sz="1000" b="0">
                <a:solidFill>
                  <a:schemeClr val="tx1"/>
                </a:solidFill>
              </a:rPr>
              <a:t>since Liberation Day sparked market volatility, supply chain disruptions and geopolitical tension, but markets adapted with subsequent tariff pauses and trade negotiations</a:t>
            </a:r>
          </a:p>
          <a:p>
            <a:pPr marL="171450" indent="-171450">
              <a:spcAft>
                <a:spcPts val="600"/>
              </a:spcAft>
              <a:buFont typeface="Arial" panose="020B0604020202020204" pitchFamily="34" charset="0"/>
              <a:buChar char="•"/>
            </a:pPr>
            <a:r>
              <a:rPr lang="en-US" sz="1000">
                <a:solidFill>
                  <a:schemeClr val="tx1"/>
                </a:solidFill>
              </a:rPr>
              <a:t>AI – the Hottest Investment Theme</a:t>
            </a:r>
            <a:r>
              <a:rPr lang="en-US" sz="1000" b="0">
                <a:solidFill>
                  <a:schemeClr val="tx1"/>
                </a:solidFill>
              </a:rPr>
              <a:t>: AI-driven capex and tech sector spending fueled strong equity gains globally</a:t>
            </a:r>
          </a:p>
          <a:p>
            <a:pPr marL="171450" indent="-171450">
              <a:spcAft>
                <a:spcPts val="600"/>
              </a:spcAft>
              <a:buFont typeface="Arial" panose="020B0604020202020204" pitchFamily="34" charset="0"/>
              <a:buChar char="•"/>
            </a:pPr>
            <a:r>
              <a:rPr lang="en-US" sz="1000">
                <a:solidFill>
                  <a:schemeClr val="tx1"/>
                </a:solidFill>
              </a:rPr>
              <a:t>Inflation &amp; Monetary Policy</a:t>
            </a:r>
            <a:r>
              <a:rPr lang="en-US" sz="1000" b="0">
                <a:solidFill>
                  <a:schemeClr val="tx1"/>
                </a:solidFill>
              </a:rPr>
              <a:t>: Persistent inflation and recession fears created volatility, with expectations of rate cut decisions at each FOMC meeting driving markets</a:t>
            </a:r>
          </a:p>
          <a:p>
            <a:pPr marL="171450" indent="-171450">
              <a:spcAft>
                <a:spcPts val="600"/>
              </a:spcAft>
              <a:buFont typeface="Arial" panose="020B0604020202020204" pitchFamily="34" charset="0"/>
              <a:buChar char="•"/>
            </a:pPr>
            <a:r>
              <a:rPr lang="en-US" sz="1000" b="0">
                <a:solidFill>
                  <a:schemeClr val="tx1"/>
                </a:solidFill>
              </a:rPr>
              <a:t>Closer to home, </a:t>
            </a:r>
            <a:r>
              <a:rPr lang="en-US" sz="1000">
                <a:solidFill>
                  <a:schemeClr val="tx1"/>
                </a:solidFill>
              </a:rPr>
              <a:t>MAS Equities Market Review Group</a:t>
            </a:r>
            <a:r>
              <a:rPr lang="en-US" sz="1000" b="0">
                <a:solidFill>
                  <a:schemeClr val="tx1"/>
                </a:solidFill>
              </a:rPr>
              <a:t> announced support measures to enhance SGX equities market, reviving market vibrancy</a:t>
            </a:r>
          </a:p>
        </p:txBody>
      </p:sp>
      <p:sp>
        <p:nvSpPr>
          <p:cNvPr id="6" name="TextBox 5">
            <a:extLst>
              <a:ext uri="{FF2B5EF4-FFF2-40B4-BE49-F238E27FC236}">
                <a16:creationId xmlns:a16="http://schemas.microsoft.com/office/drawing/2014/main" id="{B16CFE76-19AA-48FF-FE6E-0CA05B60B587}"/>
              </a:ext>
            </a:extLst>
          </p:cNvPr>
          <p:cNvSpPr txBox="1"/>
          <p:nvPr/>
        </p:nvSpPr>
        <p:spPr>
          <a:xfrm>
            <a:off x="4000501" y="2828925"/>
            <a:ext cx="342900" cy="211203"/>
          </a:xfrm>
          <a:prstGeom prst="rect">
            <a:avLst/>
          </a:prstGeom>
          <a:noFill/>
          <a:ln w="6350">
            <a:noFill/>
            <a:prstDash val="dash"/>
          </a:ln>
        </p:spPr>
        <p:txBody>
          <a:bodyPr wrap="square" lIns="36000" tIns="36000" rIns="36000" bIns="36000" rtlCol="0" anchor="t">
            <a:spAutoFit/>
          </a:bodyPr>
          <a:lstStyle/>
          <a:p>
            <a:pPr algn="l">
              <a:spcAft>
                <a:spcPts val="200"/>
              </a:spcAft>
            </a:pPr>
            <a:r>
              <a:rPr lang="en-US" sz="900" b="0">
                <a:solidFill>
                  <a:schemeClr val="tx1"/>
                </a:solidFill>
              </a:rPr>
              <a:t>4.50</a:t>
            </a:r>
            <a:endParaRPr lang="en-SG" sz="900" b="0">
              <a:solidFill>
                <a:schemeClr val="tx1"/>
              </a:solidFill>
            </a:endParaRPr>
          </a:p>
        </p:txBody>
      </p:sp>
      <p:sp>
        <p:nvSpPr>
          <p:cNvPr id="8" name="TextBox 7">
            <a:extLst>
              <a:ext uri="{FF2B5EF4-FFF2-40B4-BE49-F238E27FC236}">
                <a16:creationId xmlns:a16="http://schemas.microsoft.com/office/drawing/2014/main" id="{8C340283-3A09-2882-EB7E-9064DCE10E82}"/>
              </a:ext>
            </a:extLst>
          </p:cNvPr>
          <p:cNvSpPr txBox="1"/>
          <p:nvPr/>
        </p:nvSpPr>
        <p:spPr>
          <a:xfrm>
            <a:off x="4619626" y="2905125"/>
            <a:ext cx="342900" cy="211203"/>
          </a:xfrm>
          <a:prstGeom prst="rect">
            <a:avLst/>
          </a:prstGeom>
          <a:noFill/>
          <a:ln w="6350">
            <a:noFill/>
            <a:prstDash val="dash"/>
          </a:ln>
        </p:spPr>
        <p:txBody>
          <a:bodyPr wrap="square" lIns="36000" tIns="36000" rIns="36000" bIns="36000" rtlCol="0" anchor="t">
            <a:spAutoFit/>
          </a:bodyPr>
          <a:lstStyle/>
          <a:p>
            <a:pPr algn="l">
              <a:spcAft>
                <a:spcPts val="200"/>
              </a:spcAft>
            </a:pPr>
            <a:r>
              <a:rPr lang="en-US" sz="900" b="0">
                <a:solidFill>
                  <a:schemeClr val="tx1"/>
                </a:solidFill>
              </a:rPr>
              <a:t>4.25</a:t>
            </a:r>
            <a:endParaRPr lang="en-SG" sz="900" b="0">
              <a:solidFill>
                <a:schemeClr val="tx1"/>
              </a:solidFill>
            </a:endParaRPr>
          </a:p>
        </p:txBody>
      </p:sp>
      <p:sp>
        <p:nvSpPr>
          <p:cNvPr id="9" name="TextBox 8">
            <a:extLst>
              <a:ext uri="{FF2B5EF4-FFF2-40B4-BE49-F238E27FC236}">
                <a16:creationId xmlns:a16="http://schemas.microsoft.com/office/drawing/2014/main" id="{E17C3671-D885-9587-AE44-EED94CA8E340}"/>
              </a:ext>
            </a:extLst>
          </p:cNvPr>
          <p:cNvSpPr txBox="1"/>
          <p:nvPr/>
        </p:nvSpPr>
        <p:spPr>
          <a:xfrm>
            <a:off x="5181601" y="2943225"/>
            <a:ext cx="342900" cy="211203"/>
          </a:xfrm>
          <a:prstGeom prst="rect">
            <a:avLst/>
          </a:prstGeom>
          <a:noFill/>
          <a:ln w="6350">
            <a:noFill/>
            <a:prstDash val="dash"/>
          </a:ln>
        </p:spPr>
        <p:txBody>
          <a:bodyPr wrap="square" lIns="36000" tIns="36000" rIns="36000" bIns="36000" rtlCol="0" anchor="t">
            <a:spAutoFit/>
          </a:bodyPr>
          <a:lstStyle/>
          <a:p>
            <a:pPr algn="l">
              <a:spcAft>
                <a:spcPts val="200"/>
              </a:spcAft>
            </a:pPr>
            <a:r>
              <a:rPr lang="en-US" sz="900" b="0">
                <a:solidFill>
                  <a:schemeClr val="tx1"/>
                </a:solidFill>
              </a:rPr>
              <a:t>4.00</a:t>
            </a:r>
            <a:endParaRPr lang="en-SG" sz="900" b="0">
              <a:solidFill>
                <a:schemeClr val="tx1"/>
              </a:solidFill>
            </a:endParaRPr>
          </a:p>
        </p:txBody>
      </p:sp>
      <p:sp>
        <p:nvSpPr>
          <p:cNvPr id="10" name="TextBox 9">
            <a:extLst>
              <a:ext uri="{FF2B5EF4-FFF2-40B4-BE49-F238E27FC236}">
                <a16:creationId xmlns:a16="http://schemas.microsoft.com/office/drawing/2014/main" id="{868A70A0-74AF-A48E-F6F2-926D0AA88F9C}"/>
              </a:ext>
            </a:extLst>
          </p:cNvPr>
          <p:cNvSpPr txBox="1"/>
          <p:nvPr/>
        </p:nvSpPr>
        <p:spPr>
          <a:xfrm>
            <a:off x="6410326" y="3009900"/>
            <a:ext cx="304799" cy="211203"/>
          </a:xfrm>
          <a:prstGeom prst="rect">
            <a:avLst/>
          </a:prstGeom>
          <a:noFill/>
          <a:ln w="6350">
            <a:noFill/>
            <a:prstDash val="dash"/>
          </a:ln>
        </p:spPr>
        <p:txBody>
          <a:bodyPr wrap="square" lIns="36000" tIns="36000" rIns="36000" bIns="36000" rtlCol="0" anchor="t">
            <a:spAutoFit/>
          </a:bodyPr>
          <a:lstStyle/>
          <a:p>
            <a:pPr algn="l">
              <a:spcAft>
                <a:spcPts val="200"/>
              </a:spcAft>
            </a:pPr>
            <a:r>
              <a:rPr lang="en-US" sz="900" b="0">
                <a:solidFill>
                  <a:schemeClr val="tx1"/>
                </a:solidFill>
              </a:rPr>
              <a:t>3.75</a:t>
            </a:r>
            <a:endParaRPr lang="en-SG" sz="900" b="0">
              <a:solidFill>
                <a:schemeClr val="tx1"/>
              </a:solidFill>
            </a:endParaRPr>
          </a:p>
        </p:txBody>
      </p:sp>
      <p:sp>
        <p:nvSpPr>
          <p:cNvPr id="13" name="Rectangle 12">
            <a:extLst>
              <a:ext uri="{FF2B5EF4-FFF2-40B4-BE49-F238E27FC236}">
                <a16:creationId xmlns:a16="http://schemas.microsoft.com/office/drawing/2014/main" id="{5DBB990D-40F3-8A96-3839-E729FB31CBDC}"/>
              </a:ext>
            </a:extLst>
          </p:cNvPr>
          <p:cNvSpPr/>
          <p:nvPr/>
        </p:nvSpPr>
        <p:spPr bwMode="auto">
          <a:xfrm>
            <a:off x="666750" y="3038475"/>
            <a:ext cx="123825" cy="333375"/>
          </a:xfrm>
          <a:prstGeom prst="rect">
            <a:avLst/>
          </a:prstGeom>
          <a:solidFill>
            <a:schemeClr val="bg1"/>
          </a:solidFill>
          <a:ln>
            <a:noFill/>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0668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2523750-DB29-BA2E-4E03-D91325144A1F}"/>
              </a:ext>
            </a:extLst>
          </p:cNvPr>
          <p:cNvCxnSpPr/>
          <p:nvPr/>
        </p:nvCxnSpPr>
        <p:spPr bwMode="auto">
          <a:xfrm>
            <a:off x="381000" y="263769"/>
            <a:ext cx="844062" cy="0"/>
          </a:xfrm>
          <a:prstGeom prst="line">
            <a:avLst/>
          </a:prstGeom>
          <a:noFill/>
          <a:ln w="0" cap="flat" cmpd="sng" algn="ctr">
            <a:solidFill>
              <a:srgbClr val="FB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algn="ctr" rotWithShape="0">
                    <a:schemeClr val="bg2"/>
                  </a:outerShdw>
                </a:effectLst>
              </a14:hiddenEffects>
            </a:ext>
          </a:extLst>
        </p:spPr>
      </p:cxnSp>
      <p:sp>
        <p:nvSpPr>
          <p:cNvPr id="3" name="Title 2">
            <a:extLst>
              <a:ext uri="{FF2B5EF4-FFF2-40B4-BE49-F238E27FC236}">
                <a16:creationId xmlns:a16="http://schemas.microsoft.com/office/drawing/2014/main" id="{C590B817-665E-87F6-819E-4825FB17D9F0}"/>
              </a:ext>
            </a:extLst>
          </p:cNvPr>
          <p:cNvSpPr>
            <a:spLocks noGrp="1"/>
          </p:cNvSpPr>
          <p:nvPr>
            <p:ph type="title"/>
          </p:nvPr>
        </p:nvSpPr>
        <p:spPr/>
        <p:txBody>
          <a:bodyPr/>
          <a:lstStyle/>
          <a:p>
            <a:r>
              <a:rPr lang="en-SG"/>
              <a:t>Global macro overview and outlook</a:t>
            </a:r>
          </a:p>
        </p:txBody>
      </p:sp>
      <p:sp>
        <p:nvSpPr>
          <p:cNvPr id="12" name="Slide Number Placeholder 11">
            <a:extLst>
              <a:ext uri="{FF2B5EF4-FFF2-40B4-BE49-F238E27FC236}">
                <a16:creationId xmlns:a16="http://schemas.microsoft.com/office/drawing/2014/main" id="{5BAABB5E-C767-D871-EA7C-DDA69A1DC7B5}"/>
              </a:ext>
            </a:extLst>
          </p:cNvPr>
          <p:cNvSpPr>
            <a:spLocks noGrp="1"/>
          </p:cNvSpPr>
          <p:nvPr>
            <p:ph type="sldNum" sz="quarter" idx="11"/>
          </p:nvPr>
        </p:nvSpPr>
        <p:spPr/>
        <p:txBody>
          <a:bodyPr/>
          <a:lstStyle/>
          <a:p>
            <a:pPr>
              <a:defRPr/>
            </a:pPr>
            <a:fld id="{EED7964B-8F50-47E5-B5EE-37748C966AF4}" type="slidenum">
              <a:rPr lang="en-US" smtClean="0"/>
              <a:pPr>
                <a:defRPr/>
              </a:pPr>
              <a:t>4</a:t>
            </a:fld>
            <a:endParaRPr lang="en-US"/>
          </a:p>
        </p:txBody>
      </p:sp>
      <p:sp>
        <p:nvSpPr>
          <p:cNvPr id="2" name="Text Placeholder 1">
            <a:extLst>
              <a:ext uri="{FF2B5EF4-FFF2-40B4-BE49-F238E27FC236}">
                <a16:creationId xmlns:a16="http://schemas.microsoft.com/office/drawing/2014/main" id="{F7ED840E-34AF-E764-30FA-89CE098FD04F}"/>
              </a:ext>
            </a:extLst>
          </p:cNvPr>
          <p:cNvSpPr>
            <a:spLocks noGrp="1"/>
          </p:cNvSpPr>
          <p:nvPr>
            <p:ph type="body" sz="quarter" idx="46"/>
          </p:nvPr>
        </p:nvSpPr>
        <p:spPr/>
        <p:txBody>
          <a:bodyPr/>
          <a:lstStyle/>
          <a:p>
            <a:pPr marL="0" indent="0">
              <a:buNone/>
            </a:pPr>
            <a:r>
              <a:rPr lang="en-SG" sz="800"/>
              <a:t>Source: Bloomberg, </a:t>
            </a:r>
            <a:r>
              <a:rPr lang="en-SG" sz="800" err="1"/>
              <a:t>Factset</a:t>
            </a:r>
            <a:r>
              <a:rPr lang="en-SG" sz="800"/>
              <a:t> as at 04 May 2026</a:t>
            </a:r>
          </a:p>
        </p:txBody>
      </p:sp>
      <p:sp>
        <p:nvSpPr>
          <p:cNvPr id="18" name="TextBox 17">
            <a:extLst>
              <a:ext uri="{FF2B5EF4-FFF2-40B4-BE49-F238E27FC236}">
                <a16:creationId xmlns:a16="http://schemas.microsoft.com/office/drawing/2014/main" id="{C7C863B2-42CE-9447-AAD1-12C177F06889}"/>
              </a:ext>
            </a:extLst>
          </p:cNvPr>
          <p:cNvSpPr txBox="1"/>
          <p:nvPr/>
        </p:nvSpPr>
        <p:spPr>
          <a:xfrm>
            <a:off x="453000" y="1157337"/>
            <a:ext cx="4320000" cy="415498"/>
          </a:xfrm>
          <a:prstGeom prst="rect">
            <a:avLst/>
          </a:prstGeom>
          <a:noFill/>
        </p:spPr>
        <p:txBody>
          <a:bodyPr wrap="square" lIns="0" tIns="0" rIns="0" bIns="0" rtlCol="0">
            <a:spAutoFit/>
          </a:bodyPr>
          <a:lstStyle/>
          <a:p>
            <a:pPr defTabSz="844083"/>
            <a:r>
              <a:rPr lang="en-US" sz="900" b="0">
                <a:solidFill>
                  <a:schemeClr val="tx1"/>
                </a:solidFill>
              </a:rPr>
              <a:t>Inflation has moderated globally, generally moving closer to respective central bank targets. However, upside risk has heightened back with the ongoing conflicts leading to energy price surge</a:t>
            </a:r>
            <a:endParaRPr lang="en-SG" sz="900" b="0">
              <a:solidFill>
                <a:schemeClr val="tx1"/>
              </a:solidFill>
            </a:endParaRPr>
          </a:p>
        </p:txBody>
      </p:sp>
      <p:sp>
        <p:nvSpPr>
          <p:cNvPr id="19" name="TextBox 18">
            <a:extLst>
              <a:ext uri="{FF2B5EF4-FFF2-40B4-BE49-F238E27FC236}">
                <a16:creationId xmlns:a16="http://schemas.microsoft.com/office/drawing/2014/main" id="{F33D2BB5-1AEE-3D17-2B03-A306D210E4C0}"/>
              </a:ext>
            </a:extLst>
          </p:cNvPr>
          <p:cNvSpPr txBox="1"/>
          <p:nvPr/>
        </p:nvSpPr>
        <p:spPr>
          <a:xfrm>
            <a:off x="453000" y="966474"/>
            <a:ext cx="1109278" cy="138499"/>
          </a:xfrm>
          <a:prstGeom prst="rect">
            <a:avLst/>
          </a:prstGeom>
          <a:noFill/>
        </p:spPr>
        <p:txBody>
          <a:bodyPr wrap="none" lIns="0" tIns="0" rIns="0" bIns="0" rtlCol="0">
            <a:spAutoFit/>
          </a:bodyPr>
          <a:lstStyle/>
          <a:p>
            <a:pPr defTabSz="844083"/>
            <a:r>
              <a:rPr lang="en-SG" sz="900">
                <a:solidFill>
                  <a:srgbClr val="000000"/>
                </a:solidFill>
              </a:rPr>
              <a:t>US Inflation Outlook</a:t>
            </a:r>
            <a:endParaRPr lang="en-SG" sz="900" baseline="30000">
              <a:solidFill>
                <a:srgbClr val="000000"/>
              </a:solidFill>
            </a:endParaRPr>
          </a:p>
        </p:txBody>
      </p:sp>
      <p:sp>
        <p:nvSpPr>
          <p:cNvPr id="37" name="TextBox 36">
            <a:extLst>
              <a:ext uri="{FF2B5EF4-FFF2-40B4-BE49-F238E27FC236}">
                <a16:creationId xmlns:a16="http://schemas.microsoft.com/office/drawing/2014/main" id="{E1C2404C-66D0-4864-D67F-AD17A3DA632C}"/>
              </a:ext>
            </a:extLst>
          </p:cNvPr>
          <p:cNvSpPr txBox="1"/>
          <p:nvPr/>
        </p:nvSpPr>
        <p:spPr>
          <a:xfrm>
            <a:off x="453000" y="3650461"/>
            <a:ext cx="2224968" cy="138499"/>
          </a:xfrm>
          <a:prstGeom prst="rect">
            <a:avLst/>
          </a:prstGeom>
          <a:noFill/>
        </p:spPr>
        <p:txBody>
          <a:bodyPr wrap="none" lIns="0" tIns="0" rIns="0" bIns="0" rtlCol="0">
            <a:spAutoFit/>
          </a:bodyPr>
          <a:lstStyle/>
          <a:p>
            <a:pPr defTabSz="844083"/>
            <a:r>
              <a:rPr lang="en-SG" sz="900">
                <a:solidFill>
                  <a:srgbClr val="000000"/>
                </a:solidFill>
              </a:rPr>
              <a:t>Market Expectations of Fed Funds Rate</a:t>
            </a:r>
            <a:endParaRPr lang="en-SG" sz="900" baseline="30000">
              <a:solidFill>
                <a:srgbClr val="000000"/>
              </a:solidFill>
            </a:endParaRPr>
          </a:p>
        </p:txBody>
      </p:sp>
      <p:sp>
        <p:nvSpPr>
          <p:cNvPr id="38" name="Rectangle: Rounded Corners 37">
            <a:extLst>
              <a:ext uri="{FF2B5EF4-FFF2-40B4-BE49-F238E27FC236}">
                <a16:creationId xmlns:a16="http://schemas.microsoft.com/office/drawing/2014/main" id="{69E3A377-212C-82A4-0222-85D2B13DC4C1}"/>
              </a:ext>
            </a:extLst>
          </p:cNvPr>
          <p:cNvSpPr/>
          <p:nvPr/>
        </p:nvSpPr>
        <p:spPr bwMode="auto">
          <a:xfrm>
            <a:off x="453000" y="4226255"/>
            <a:ext cx="4320000" cy="238507"/>
          </a:xfrm>
          <a:prstGeom prst="roundRect">
            <a:avLst/>
          </a:prstGeom>
          <a:solidFill>
            <a:schemeClr val="bg1">
              <a:lumMod val="95000"/>
            </a:schemeClr>
          </a:solidFill>
          <a:ln>
            <a:solidFill>
              <a:schemeClr val="bg1">
                <a:lumMod val="75000"/>
              </a:schemeClr>
            </a:solidFill>
          </a:ln>
          <a:effectLst/>
        </p:spPr>
        <p:txBody>
          <a:bodyPr vert="horz" wrap="square" lIns="72000" tIns="36000" rIns="72000" bIns="36000" numCol="1" rtlCol="0" anchor="ctr" anchorCtr="0" compatLnSpc="1">
            <a:prstTxWarp prst="textNoShape">
              <a:avLst/>
            </a:prstTxWarp>
          </a:bodyPr>
          <a:lstStyle/>
          <a:p>
            <a:pPr algn="ctr" defTabSz="844083" eaLnBrk="0" hangingPunct="0"/>
            <a:r>
              <a:rPr lang="en-SG" sz="900" b="0">
                <a:solidFill>
                  <a:schemeClr val="tx1"/>
                </a:solidFill>
                <a:latin typeface="Arial" panose="020B0604020202020204" pitchFamily="34" charset="0"/>
              </a:rPr>
              <a:t>Current Fed Funds Rate Target Range: </a:t>
            </a:r>
            <a:r>
              <a:rPr lang="en-SG" sz="900">
                <a:solidFill>
                  <a:schemeClr val="tx1"/>
                </a:solidFill>
                <a:latin typeface="Arial" panose="020B0604020202020204" pitchFamily="34" charset="0"/>
              </a:rPr>
              <a:t>3.50% - 3.75%</a:t>
            </a:r>
          </a:p>
        </p:txBody>
      </p:sp>
      <p:sp>
        <p:nvSpPr>
          <p:cNvPr id="47" name="TextBox 46">
            <a:extLst>
              <a:ext uri="{FF2B5EF4-FFF2-40B4-BE49-F238E27FC236}">
                <a16:creationId xmlns:a16="http://schemas.microsoft.com/office/drawing/2014/main" id="{4FAD8F87-B66D-FEB4-80C3-2B19EFFB6747}"/>
              </a:ext>
            </a:extLst>
          </p:cNvPr>
          <p:cNvSpPr txBox="1"/>
          <p:nvPr/>
        </p:nvSpPr>
        <p:spPr>
          <a:xfrm>
            <a:off x="5133563" y="3650461"/>
            <a:ext cx="1474763" cy="138499"/>
          </a:xfrm>
          <a:prstGeom prst="rect">
            <a:avLst/>
          </a:prstGeom>
          <a:noFill/>
        </p:spPr>
        <p:txBody>
          <a:bodyPr wrap="none" lIns="0" tIns="0" rIns="0" bIns="0" rtlCol="0">
            <a:spAutoFit/>
          </a:bodyPr>
          <a:lstStyle/>
          <a:p>
            <a:pPr defTabSz="844083"/>
            <a:r>
              <a:rPr lang="en-SG" sz="900">
                <a:solidFill>
                  <a:srgbClr val="000000"/>
                </a:solidFill>
              </a:rPr>
              <a:t>US 10-year Treasury yields</a:t>
            </a:r>
            <a:endParaRPr lang="en-SG" sz="900" baseline="30000">
              <a:solidFill>
                <a:srgbClr val="000000"/>
              </a:solidFill>
            </a:endParaRPr>
          </a:p>
        </p:txBody>
      </p:sp>
      <p:sp>
        <p:nvSpPr>
          <p:cNvPr id="50" name="TextBox 49">
            <a:extLst>
              <a:ext uri="{FF2B5EF4-FFF2-40B4-BE49-F238E27FC236}">
                <a16:creationId xmlns:a16="http://schemas.microsoft.com/office/drawing/2014/main" id="{C282C5B0-4588-D7D5-FA74-F9E3B934FE82}"/>
              </a:ext>
            </a:extLst>
          </p:cNvPr>
          <p:cNvSpPr txBox="1"/>
          <p:nvPr/>
        </p:nvSpPr>
        <p:spPr>
          <a:xfrm>
            <a:off x="5133563" y="3868003"/>
            <a:ext cx="4320000" cy="276999"/>
          </a:xfrm>
          <a:prstGeom prst="rect">
            <a:avLst/>
          </a:prstGeom>
          <a:noFill/>
        </p:spPr>
        <p:txBody>
          <a:bodyPr wrap="square" lIns="0" tIns="0" rIns="0" bIns="0" rtlCol="0">
            <a:spAutoFit/>
          </a:bodyPr>
          <a:lstStyle/>
          <a:p>
            <a:pPr defTabSz="844083"/>
            <a:r>
              <a:rPr lang="en-US" sz="900" b="0">
                <a:solidFill>
                  <a:schemeClr val="tx1"/>
                </a:solidFill>
              </a:rPr>
              <a:t>US 10Y yield inched up from the 4.0% level before the conflict to current 4.3% in view of inflation risk</a:t>
            </a:r>
            <a:endParaRPr lang="en-SG" sz="900" b="0">
              <a:solidFill>
                <a:schemeClr val="tx1"/>
              </a:solidFill>
            </a:endParaRPr>
          </a:p>
        </p:txBody>
      </p:sp>
      <p:graphicFrame>
        <p:nvGraphicFramePr>
          <p:cNvPr id="10" name="Table 9">
            <a:extLst>
              <a:ext uri="{FF2B5EF4-FFF2-40B4-BE49-F238E27FC236}">
                <a16:creationId xmlns:a16="http://schemas.microsoft.com/office/drawing/2014/main" id="{8BD6DC1E-6B45-6650-918E-5FAB8FBAAF02}"/>
              </a:ext>
            </a:extLst>
          </p:cNvPr>
          <p:cNvGraphicFramePr>
            <a:graphicFrameLocks noGrp="1"/>
          </p:cNvGraphicFramePr>
          <p:nvPr>
            <p:extLst>
              <p:ext uri="{D42A27DB-BD31-4B8C-83A1-F6EECF244321}">
                <p14:modId xmlns:p14="http://schemas.microsoft.com/office/powerpoint/2010/main" val="2855939528"/>
              </p:ext>
            </p:extLst>
          </p:nvPr>
        </p:nvGraphicFramePr>
        <p:xfrm>
          <a:off x="452438" y="4501785"/>
          <a:ext cx="4320000" cy="1756138"/>
        </p:xfrm>
        <a:graphic>
          <a:graphicData uri="http://schemas.openxmlformats.org/drawingml/2006/table">
            <a:tbl>
              <a:tblPr/>
              <a:tblGrid>
                <a:gridCol w="2160000">
                  <a:extLst>
                    <a:ext uri="{9D8B030D-6E8A-4147-A177-3AD203B41FA5}">
                      <a16:colId xmlns:a16="http://schemas.microsoft.com/office/drawing/2014/main" val="1012004404"/>
                    </a:ext>
                  </a:extLst>
                </a:gridCol>
                <a:gridCol w="2160000">
                  <a:extLst>
                    <a:ext uri="{9D8B030D-6E8A-4147-A177-3AD203B41FA5}">
                      <a16:colId xmlns:a16="http://schemas.microsoft.com/office/drawing/2014/main" val="294689551"/>
                    </a:ext>
                  </a:extLst>
                </a:gridCol>
              </a:tblGrid>
              <a:tr h="253490">
                <a:tc>
                  <a:txBody>
                    <a:bodyPr/>
                    <a:lstStyle/>
                    <a:p>
                      <a:pPr algn="ctr" fontAlgn="b">
                        <a:buNone/>
                      </a:pPr>
                      <a:r>
                        <a:rPr lang="en-SG" sz="900" b="1" i="0" u="none" strike="noStrike">
                          <a:solidFill>
                            <a:schemeClr val="tx1"/>
                          </a:solidFill>
                          <a:effectLst/>
                          <a:latin typeface="Arial" panose="020B0604020202020204" pitchFamily="34" charset="0"/>
                        </a:rPr>
                        <a:t>Period</a:t>
                      </a:r>
                    </a:p>
                  </a:txBody>
                  <a:tcPr marL="18000" marR="18000" marT="18000" marB="18000" anchor="ctr">
                    <a:lnL>
                      <a:noFill/>
                    </a:lnL>
                    <a:lnR>
                      <a:noFill/>
                    </a:lnR>
                    <a:lnT>
                      <a:noFill/>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SG" sz="900" b="1" i="0" u="none" strike="noStrike">
                          <a:solidFill>
                            <a:schemeClr val="tx1"/>
                          </a:solidFill>
                          <a:effectLst/>
                          <a:latin typeface="Arial" panose="020B0604020202020204" pitchFamily="34" charset="0"/>
                        </a:rPr>
                        <a:t>Expected # Hikes / (Cuts)</a:t>
                      </a:r>
                    </a:p>
                  </a:txBody>
                  <a:tcPr marL="18000" marR="18000" marT="18000" marB="18000" anchor="ctr">
                    <a:lnL>
                      <a:noFill/>
                    </a:lnL>
                    <a:lnR>
                      <a:noFill/>
                    </a:lnR>
                    <a:lnT>
                      <a:noFill/>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290872"/>
                  </a:ext>
                </a:extLst>
              </a:tr>
              <a:tr h="214664">
                <a:tc>
                  <a:txBody>
                    <a:bodyPr/>
                    <a:lstStyle/>
                    <a:p>
                      <a:pPr algn="ctr" fontAlgn="b">
                        <a:buNone/>
                      </a:pPr>
                      <a:r>
                        <a:rPr lang="en-SG" sz="900" b="0" i="0" u="none" strike="noStrike">
                          <a:solidFill>
                            <a:srgbClr val="000000"/>
                          </a:solidFill>
                          <a:effectLst/>
                          <a:latin typeface="Arial" panose="020B0604020202020204" pitchFamily="34" charset="0"/>
                        </a:rPr>
                        <a:t>Jun 2026</a:t>
                      </a:r>
                    </a:p>
                  </a:txBody>
                  <a:tcPr marL="18000" marR="18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en-SG" sz="900" b="0" i="0" u="none" strike="noStrike">
                          <a:solidFill>
                            <a:srgbClr val="000000"/>
                          </a:solidFill>
                          <a:effectLst/>
                          <a:latin typeface="Arial" panose="020B0604020202020204" pitchFamily="34" charset="0"/>
                        </a:rPr>
                        <a:t>(0.0)</a:t>
                      </a:r>
                    </a:p>
                  </a:txBody>
                  <a:tcPr marL="0" marR="0" marT="0" marB="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27909157"/>
                  </a:ext>
                </a:extLst>
              </a:tr>
              <a:tr h="214664">
                <a:tc>
                  <a:txBody>
                    <a:bodyPr/>
                    <a:lstStyle/>
                    <a:p>
                      <a:pPr algn="ctr" fontAlgn="b">
                        <a:buNone/>
                      </a:pPr>
                      <a:r>
                        <a:rPr lang="en-SG" sz="900" b="0" i="0" u="none" strike="noStrike">
                          <a:solidFill>
                            <a:srgbClr val="000000"/>
                          </a:solidFill>
                          <a:effectLst/>
                          <a:latin typeface="Arial" panose="020B0604020202020204" pitchFamily="34" charset="0"/>
                        </a:rPr>
                        <a:t>Jul 2026</a:t>
                      </a:r>
                    </a:p>
                  </a:txBody>
                  <a:tcPr marL="18000" marR="18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en-SG" sz="900" b="0" i="0" u="none" strike="noStrike">
                          <a:solidFill>
                            <a:srgbClr val="000000"/>
                          </a:solidFill>
                          <a:effectLst/>
                          <a:latin typeface="Arial" panose="020B0604020202020204" pitchFamily="34" charset="0"/>
                        </a:rPr>
                        <a:t>(0.1)</a:t>
                      </a:r>
                    </a:p>
                  </a:txBody>
                  <a:tcPr marL="0" marR="0" marT="0" marB="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2330549"/>
                  </a:ext>
                </a:extLst>
              </a:tr>
              <a:tr h="214664">
                <a:tc>
                  <a:txBody>
                    <a:bodyPr/>
                    <a:lstStyle/>
                    <a:p>
                      <a:pPr algn="ctr" fontAlgn="b">
                        <a:buNone/>
                      </a:pPr>
                      <a:r>
                        <a:rPr lang="en-SG" sz="900" b="0" i="0" u="none" strike="noStrike">
                          <a:solidFill>
                            <a:srgbClr val="000000"/>
                          </a:solidFill>
                          <a:effectLst/>
                          <a:latin typeface="Arial" panose="020B0604020202020204" pitchFamily="34" charset="0"/>
                        </a:rPr>
                        <a:t>Sep 2026</a:t>
                      </a:r>
                    </a:p>
                  </a:txBody>
                  <a:tcPr marL="18000" marR="18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en-SG" sz="900" b="0" i="0" u="none" strike="noStrike">
                          <a:solidFill>
                            <a:srgbClr val="000000"/>
                          </a:solidFill>
                          <a:effectLst/>
                          <a:latin typeface="Arial" panose="020B0604020202020204" pitchFamily="34" charset="0"/>
                        </a:rPr>
                        <a:t>(0.0)</a:t>
                      </a:r>
                    </a:p>
                  </a:txBody>
                  <a:tcPr marL="0" marR="0" marT="0" marB="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33760655"/>
                  </a:ext>
                </a:extLst>
              </a:tr>
              <a:tr h="214664">
                <a:tc>
                  <a:txBody>
                    <a:bodyPr/>
                    <a:lstStyle/>
                    <a:p>
                      <a:pPr algn="ctr" fontAlgn="b">
                        <a:buNone/>
                      </a:pPr>
                      <a:r>
                        <a:rPr lang="en-SG" sz="900" b="0" i="0" u="none" strike="noStrike">
                          <a:solidFill>
                            <a:srgbClr val="000000"/>
                          </a:solidFill>
                          <a:effectLst/>
                          <a:latin typeface="Arial" panose="020B0604020202020204" pitchFamily="34" charset="0"/>
                        </a:rPr>
                        <a:t>Oct 2026</a:t>
                      </a:r>
                    </a:p>
                  </a:txBody>
                  <a:tcPr marL="18000" marR="18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en-SG" sz="900" b="0" i="0" u="none" strike="noStrike">
                          <a:solidFill>
                            <a:srgbClr val="000000"/>
                          </a:solidFill>
                          <a:effectLst/>
                          <a:latin typeface="Arial" panose="020B0604020202020204" pitchFamily="34" charset="0"/>
                        </a:rPr>
                        <a:t>0.1 </a:t>
                      </a:r>
                    </a:p>
                  </a:txBody>
                  <a:tcPr marL="0" marR="0" marT="0" marB="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14152908"/>
                  </a:ext>
                </a:extLst>
              </a:tr>
              <a:tr h="214664">
                <a:tc>
                  <a:txBody>
                    <a:bodyPr/>
                    <a:lstStyle/>
                    <a:p>
                      <a:pPr algn="ctr" fontAlgn="b">
                        <a:buNone/>
                      </a:pPr>
                      <a:r>
                        <a:rPr lang="en-SG" sz="900" b="0" i="0" u="none" strike="noStrike">
                          <a:solidFill>
                            <a:srgbClr val="000000"/>
                          </a:solidFill>
                          <a:effectLst/>
                          <a:latin typeface="Arial" panose="020B0604020202020204" pitchFamily="34" charset="0"/>
                        </a:rPr>
                        <a:t>Dec 2026</a:t>
                      </a:r>
                    </a:p>
                  </a:txBody>
                  <a:tcPr marL="18000" marR="18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en-SG" sz="900" b="0" i="0" u="none" strike="noStrike">
                          <a:solidFill>
                            <a:srgbClr val="000000"/>
                          </a:solidFill>
                          <a:effectLst/>
                          <a:latin typeface="Arial" panose="020B0604020202020204" pitchFamily="34" charset="0"/>
                        </a:rPr>
                        <a:t>0.3 </a:t>
                      </a:r>
                    </a:p>
                  </a:txBody>
                  <a:tcPr marL="0" marR="0" marT="0" marB="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89888618"/>
                  </a:ext>
                </a:extLst>
              </a:tr>
              <a:tr h="214664">
                <a:tc>
                  <a:txBody>
                    <a:bodyPr/>
                    <a:lstStyle/>
                    <a:p>
                      <a:pPr algn="ctr" fontAlgn="b">
                        <a:buNone/>
                      </a:pPr>
                      <a:r>
                        <a:rPr lang="en-US" sz="900" b="0" i="0" u="none" strike="noStrike">
                          <a:solidFill>
                            <a:srgbClr val="000000"/>
                          </a:solidFill>
                          <a:effectLst/>
                          <a:latin typeface="Arial" panose="020B0604020202020204" pitchFamily="34" charset="0"/>
                        </a:rPr>
                        <a:t>Jan 2027</a:t>
                      </a:r>
                      <a:endParaRPr lang="en-SG" sz="900" b="0" i="0" u="none" strike="noStrike">
                        <a:solidFill>
                          <a:srgbClr val="000000"/>
                        </a:solidFill>
                        <a:effectLst/>
                        <a:latin typeface="Arial" panose="020B0604020202020204" pitchFamily="34" charset="0"/>
                      </a:endParaRPr>
                    </a:p>
                  </a:txBody>
                  <a:tcPr marL="18000" marR="18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en-SG" sz="900" b="0" i="0" u="none" strike="noStrike">
                          <a:solidFill>
                            <a:srgbClr val="000000"/>
                          </a:solidFill>
                          <a:effectLst/>
                          <a:latin typeface="Arial" panose="020B0604020202020204" pitchFamily="34" charset="0"/>
                        </a:rPr>
                        <a:t>0.5 </a:t>
                      </a:r>
                    </a:p>
                  </a:txBody>
                  <a:tcPr marL="0" marR="0" marT="0" marB="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1174704"/>
                  </a:ext>
                </a:extLst>
              </a:tr>
              <a:tr h="214664">
                <a:tc>
                  <a:txBody>
                    <a:bodyPr/>
                    <a:lstStyle/>
                    <a:p>
                      <a:pPr algn="ctr" fontAlgn="b">
                        <a:buNone/>
                      </a:pPr>
                      <a:r>
                        <a:rPr lang="en-US" sz="900" b="0" i="0" u="none" strike="noStrike">
                          <a:solidFill>
                            <a:srgbClr val="000000"/>
                          </a:solidFill>
                          <a:effectLst/>
                          <a:latin typeface="Arial" panose="020B0604020202020204" pitchFamily="34" charset="0"/>
                        </a:rPr>
                        <a:t>Mar 2027</a:t>
                      </a:r>
                      <a:endParaRPr lang="en-SG" sz="900" b="0" i="0" u="none" strike="noStrike">
                        <a:solidFill>
                          <a:srgbClr val="000000"/>
                        </a:solidFill>
                        <a:effectLst/>
                        <a:latin typeface="Arial" panose="020B0604020202020204" pitchFamily="34" charset="0"/>
                      </a:endParaRPr>
                    </a:p>
                  </a:txBody>
                  <a:tcPr marL="18000" marR="18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fontAlgn="b">
                        <a:buNone/>
                      </a:pPr>
                      <a:r>
                        <a:rPr lang="en-SG" sz="900" b="0" i="0" u="none" strike="noStrike">
                          <a:solidFill>
                            <a:srgbClr val="000000"/>
                          </a:solidFill>
                          <a:effectLst/>
                          <a:latin typeface="Arial" panose="020B0604020202020204" pitchFamily="34" charset="0"/>
                        </a:rPr>
                        <a:t>0.6 </a:t>
                      </a:r>
                    </a:p>
                  </a:txBody>
                  <a:tcPr marL="0" marR="0" marT="0" marB="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35392053"/>
                  </a:ext>
                </a:extLst>
              </a:tr>
            </a:tbl>
          </a:graphicData>
        </a:graphic>
      </p:graphicFrame>
      <p:sp>
        <p:nvSpPr>
          <p:cNvPr id="4" name="TextBox 3">
            <a:extLst>
              <a:ext uri="{FF2B5EF4-FFF2-40B4-BE49-F238E27FC236}">
                <a16:creationId xmlns:a16="http://schemas.microsoft.com/office/drawing/2014/main" id="{6F202829-3634-D0B0-CAA5-A398ECF02557}"/>
              </a:ext>
            </a:extLst>
          </p:cNvPr>
          <p:cNvSpPr txBox="1"/>
          <p:nvPr/>
        </p:nvSpPr>
        <p:spPr>
          <a:xfrm>
            <a:off x="453000" y="3868003"/>
            <a:ext cx="4320000" cy="276999"/>
          </a:xfrm>
          <a:prstGeom prst="rect">
            <a:avLst/>
          </a:prstGeom>
          <a:noFill/>
        </p:spPr>
        <p:txBody>
          <a:bodyPr wrap="square" lIns="0" tIns="0" rIns="0" bIns="0" rtlCol="0">
            <a:spAutoFit/>
          </a:bodyPr>
          <a:lstStyle/>
          <a:p>
            <a:pPr defTabSz="844083"/>
            <a:r>
              <a:rPr lang="en-US" sz="900" b="0">
                <a:solidFill>
                  <a:schemeClr val="tx1"/>
                </a:solidFill>
              </a:rPr>
              <a:t>Rates are expected to remain “higher-for-longer” on war-driven inflation risks, as energy prices remain elevated</a:t>
            </a:r>
            <a:endParaRPr lang="en-SG" sz="900" b="0">
              <a:solidFill>
                <a:schemeClr val="tx1"/>
              </a:solidFill>
            </a:endParaRPr>
          </a:p>
        </p:txBody>
      </p:sp>
      <p:cxnSp>
        <p:nvCxnSpPr>
          <p:cNvPr id="14" name="Straight Connector 13">
            <a:extLst>
              <a:ext uri="{FF2B5EF4-FFF2-40B4-BE49-F238E27FC236}">
                <a16:creationId xmlns:a16="http://schemas.microsoft.com/office/drawing/2014/main" id="{A3FD01B5-F478-F5D8-B321-C2949AED88B7}"/>
              </a:ext>
            </a:extLst>
          </p:cNvPr>
          <p:cNvCxnSpPr>
            <a:cxnSpLocks/>
          </p:cNvCxnSpPr>
          <p:nvPr/>
        </p:nvCxnSpPr>
        <p:spPr bwMode="auto">
          <a:xfrm>
            <a:off x="453000" y="1128836"/>
            <a:ext cx="4320000" cy="0"/>
          </a:xfrm>
          <a:prstGeom prst="line">
            <a:avLst/>
          </a:prstGeom>
          <a:ln w="6350">
            <a:solidFill>
              <a:schemeClr val="tx1"/>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92D9B0C1-DA4F-A1D4-AECA-27A31F0595F1}"/>
              </a:ext>
            </a:extLst>
          </p:cNvPr>
          <p:cNvCxnSpPr>
            <a:cxnSpLocks/>
          </p:cNvCxnSpPr>
          <p:nvPr/>
        </p:nvCxnSpPr>
        <p:spPr bwMode="auto">
          <a:xfrm>
            <a:off x="453000" y="3830979"/>
            <a:ext cx="4320000"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628E08C4-CA86-E683-F689-040C2F51B095}"/>
              </a:ext>
            </a:extLst>
          </p:cNvPr>
          <p:cNvCxnSpPr>
            <a:cxnSpLocks/>
          </p:cNvCxnSpPr>
          <p:nvPr/>
        </p:nvCxnSpPr>
        <p:spPr bwMode="auto">
          <a:xfrm>
            <a:off x="5133563" y="3830979"/>
            <a:ext cx="4320000"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D89778D-F160-612F-9641-91F8F37E0461}"/>
              </a:ext>
            </a:extLst>
          </p:cNvPr>
          <p:cNvSpPr txBox="1"/>
          <p:nvPr/>
        </p:nvSpPr>
        <p:spPr>
          <a:xfrm>
            <a:off x="5133563" y="1157337"/>
            <a:ext cx="4320000" cy="276999"/>
          </a:xfrm>
          <a:prstGeom prst="rect">
            <a:avLst/>
          </a:prstGeom>
          <a:noFill/>
        </p:spPr>
        <p:txBody>
          <a:bodyPr wrap="square" lIns="0" tIns="0" rIns="0" bIns="0" rtlCol="0">
            <a:spAutoFit/>
          </a:bodyPr>
          <a:lstStyle/>
          <a:p>
            <a:pPr defTabSz="844083"/>
            <a:r>
              <a:rPr lang="en-US" sz="900" b="0">
                <a:solidFill>
                  <a:schemeClr val="tx1"/>
                </a:solidFill>
              </a:rPr>
              <a:t>Market volatility normalizes as diplomacy overtakes military action in the Strait of Hormuz, while worries of protracted peace negotiations linger</a:t>
            </a:r>
            <a:endParaRPr lang="en-SG" sz="900" b="0">
              <a:solidFill>
                <a:schemeClr val="tx1"/>
              </a:solidFill>
            </a:endParaRPr>
          </a:p>
        </p:txBody>
      </p:sp>
      <p:sp>
        <p:nvSpPr>
          <p:cNvPr id="15" name="TextBox 14">
            <a:extLst>
              <a:ext uri="{FF2B5EF4-FFF2-40B4-BE49-F238E27FC236}">
                <a16:creationId xmlns:a16="http://schemas.microsoft.com/office/drawing/2014/main" id="{BBF2162E-9212-8A1D-3373-F05CF0845949}"/>
              </a:ext>
            </a:extLst>
          </p:cNvPr>
          <p:cNvSpPr txBox="1"/>
          <p:nvPr/>
        </p:nvSpPr>
        <p:spPr>
          <a:xfrm>
            <a:off x="5133563" y="966474"/>
            <a:ext cx="1198248" cy="138499"/>
          </a:xfrm>
          <a:prstGeom prst="rect">
            <a:avLst/>
          </a:prstGeom>
          <a:noFill/>
        </p:spPr>
        <p:txBody>
          <a:bodyPr wrap="square" lIns="0" tIns="0" rIns="0" bIns="0" rtlCol="0">
            <a:spAutoFit/>
          </a:bodyPr>
          <a:lstStyle/>
          <a:p>
            <a:pPr defTabSz="844083"/>
            <a:r>
              <a:rPr lang="en-SG" sz="900">
                <a:solidFill>
                  <a:srgbClr val="000000"/>
                </a:solidFill>
              </a:rPr>
              <a:t>Volatility index</a:t>
            </a:r>
            <a:endParaRPr lang="en-SG" sz="900" baseline="30000">
              <a:solidFill>
                <a:srgbClr val="000000"/>
              </a:solidFill>
            </a:endParaRPr>
          </a:p>
        </p:txBody>
      </p:sp>
      <p:cxnSp>
        <p:nvCxnSpPr>
          <p:cNvPr id="16" name="Straight Connector 15">
            <a:extLst>
              <a:ext uri="{FF2B5EF4-FFF2-40B4-BE49-F238E27FC236}">
                <a16:creationId xmlns:a16="http://schemas.microsoft.com/office/drawing/2014/main" id="{ACCFD636-8197-B5A8-3A2C-6B6DEFDA450F}"/>
              </a:ext>
            </a:extLst>
          </p:cNvPr>
          <p:cNvCxnSpPr>
            <a:cxnSpLocks/>
          </p:cNvCxnSpPr>
          <p:nvPr/>
        </p:nvCxnSpPr>
        <p:spPr bwMode="auto">
          <a:xfrm>
            <a:off x="5133563" y="1128836"/>
            <a:ext cx="4320000" cy="0"/>
          </a:xfrm>
          <a:prstGeom prst="line">
            <a:avLst/>
          </a:prstGeom>
          <a:ln w="6350">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7" name="Chart 6">
            <a:extLst>
              <a:ext uri="{FF2B5EF4-FFF2-40B4-BE49-F238E27FC236}">
                <a16:creationId xmlns:a16="http://schemas.microsoft.com/office/drawing/2014/main" id="{C4845478-7521-4709-A094-82C4B4554623}"/>
              </a:ext>
            </a:extLst>
          </p:cNvPr>
          <p:cNvGraphicFramePr>
            <a:graphicFrameLocks/>
          </p:cNvGraphicFramePr>
          <p:nvPr>
            <p:extLst>
              <p:ext uri="{D42A27DB-BD31-4B8C-83A1-F6EECF244321}">
                <p14:modId xmlns:p14="http://schemas.microsoft.com/office/powerpoint/2010/main" val="982684517"/>
              </p:ext>
            </p:extLst>
          </p:nvPr>
        </p:nvGraphicFramePr>
        <p:xfrm>
          <a:off x="257175" y="1714499"/>
          <a:ext cx="4657725" cy="17976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ECA27A2D-104C-4AEA-848E-1068AD2B21E0}"/>
              </a:ext>
            </a:extLst>
          </p:cNvPr>
          <p:cNvGraphicFramePr>
            <a:graphicFrameLocks/>
          </p:cNvGraphicFramePr>
          <p:nvPr>
            <p:extLst>
              <p:ext uri="{D42A27DB-BD31-4B8C-83A1-F6EECF244321}">
                <p14:modId xmlns:p14="http://schemas.microsoft.com/office/powerpoint/2010/main" val="999785713"/>
              </p:ext>
            </p:extLst>
          </p:nvPr>
        </p:nvGraphicFramePr>
        <p:xfrm>
          <a:off x="5038724" y="1504951"/>
          <a:ext cx="4438651" cy="21526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5848E874-026D-4777-BF7C-E950912AFE46}"/>
              </a:ext>
            </a:extLst>
          </p:cNvPr>
          <p:cNvGraphicFramePr>
            <a:graphicFrameLocks/>
          </p:cNvGraphicFramePr>
          <p:nvPr>
            <p:extLst>
              <p:ext uri="{D42A27DB-BD31-4B8C-83A1-F6EECF244321}">
                <p14:modId xmlns:p14="http://schemas.microsoft.com/office/powerpoint/2010/main" val="597551438"/>
              </p:ext>
            </p:extLst>
          </p:nvPr>
        </p:nvGraphicFramePr>
        <p:xfrm>
          <a:off x="5181600" y="4238625"/>
          <a:ext cx="4295775" cy="204787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057247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E9AE4-D267-8355-1396-9E69855A3251}"/>
            </a:ext>
          </a:extLst>
        </p:cNvPr>
        <p:cNvGrpSpPr/>
        <p:nvPr/>
      </p:nvGrpSpPr>
      <p:grpSpPr>
        <a:xfrm>
          <a:off x="0" y="0"/>
          <a:ext cx="0" cy="0"/>
          <a:chOff x="0" y="0"/>
          <a:chExt cx="0" cy="0"/>
        </a:xfrm>
      </p:grpSpPr>
      <p:graphicFrame>
        <p:nvGraphicFramePr>
          <p:cNvPr id="16" name="Chart 15">
            <a:extLst>
              <a:ext uri="{FF2B5EF4-FFF2-40B4-BE49-F238E27FC236}">
                <a16:creationId xmlns:a16="http://schemas.microsoft.com/office/drawing/2014/main" id="{E4B13F9B-36ED-80C1-40F7-88E814B6E3F5}"/>
              </a:ext>
            </a:extLst>
          </p:cNvPr>
          <p:cNvGraphicFramePr>
            <a:graphicFrameLocks/>
          </p:cNvGraphicFramePr>
          <p:nvPr>
            <p:extLst>
              <p:ext uri="{D42A27DB-BD31-4B8C-83A1-F6EECF244321}">
                <p14:modId xmlns:p14="http://schemas.microsoft.com/office/powerpoint/2010/main" val="1300325458"/>
              </p:ext>
            </p:extLst>
          </p:nvPr>
        </p:nvGraphicFramePr>
        <p:xfrm>
          <a:off x="400050" y="1514475"/>
          <a:ext cx="9029700" cy="2371725"/>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89AE0CE5-A53A-B05E-6168-DAE19AB5AF6B}"/>
              </a:ext>
            </a:extLst>
          </p:cNvPr>
          <p:cNvSpPr>
            <a:spLocks noGrp="1"/>
          </p:cNvSpPr>
          <p:nvPr>
            <p:ph type="title"/>
          </p:nvPr>
        </p:nvSpPr>
        <p:spPr/>
        <p:txBody>
          <a:bodyPr/>
          <a:lstStyle/>
          <a:p>
            <a:r>
              <a:rPr lang="en-US"/>
              <a:t>Singapore equity market gained momentum in 2025 - YTD 2026 supported by whole-of-ecosystem market initiatives, with both deal volume and trading liquidity up significantly</a:t>
            </a:r>
          </a:p>
        </p:txBody>
      </p:sp>
      <p:sp>
        <p:nvSpPr>
          <p:cNvPr id="4" name="Slide Number Placeholder 3">
            <a:extLst>
              <a:ext uri="{FF2B5EF4-FFF2-40B4-BE49-F238E27FC236}">
                <a16:creationId xmlns:a16="http://schemas.microsoft.com/office/drawing/2014/main" id="{CD572CA4-5342-5944-562C-9BB43D0EA157}"/>
              </a:ext>
            </a:extLst>
          </p:cNvPr>
          <p:cNvSpPr>
            <a:spLocks noGrp="1"/>
          </p:cNvSpPr>
          <p:nvPr>
            <p:ph type="sldNum" sz="quarter" idx="11"/>
          </p:nvPr>
        </p:nvSpPr>
        <p:spPr/>
        <p:txBody>
          <a:bodyPr/>
          <a:lstStyle/>
          <a:p>
            <a:fld id="{EED7964B-8F50-47E5-B5EE-37748C966AF4}" type="slidenum">
              <a:rPr lang="en-US" smtClean="0"/>
              <a:pPr/>
              <a:t>5</a:t>
            </a:fld>
            <a:r>
              <a:rPr lang="en-US"/>
              <a:t> </a:t>
            </a:r>
          </a:p>
        </p:txBody>
      </p:sp>
      <p:sp>
        <p:nvSpPr>
          <p:cNvPr id="23" name="Text Placeholder 22">
            <a:extLst>
              <a:ext uri="{FF2B5EF4-FFF2-40B4-BE49-F238E27FC236}">
                <a16:creationId xmlns:a16="http://schemas.microsoft.com/office/drawing/2014/main" id="{3859C70D-509F-DBE4-0212-85C8B66A606C}"/>
              </a:ext>
            </a:extLst>
          </p:cNvPr>
          <p:cNvSpPr>
            <a:spLocks noGrp="1"/>
          </p:cNvSpPr>
          <p:nvPr>
            <p:ph type="body" sz="quarter" idx="46"/>
          </p:nvPr>
        </p:nvSpPr>
        <p:spPr/>
        <p:txBody>
          <a:bodyPr/>
          <a:lstStyle/>
          <a:p>
            <a:pPr marL="0" indent="0">
              <a:buNone/>
            </a:pPr>
            <a:r>
              <a:rPr lang="en-SG" sz="800"/>
              <a:t>Source: Bloomberg, </a:t>
            </a:r>
            <a:r>
              <a:rPr lang="en-SG" sz="800" err="1"/>
              <a:t>Factset</a:t>
            </a:r>
            <a:r>
              <a:rPr lang="en-SG" sz="800"/>
              <a:t> as at 04 May 2026</a:t>
            </a:r>
          </a:p>
        </p:txBody>
      </p:sp>
      <p:graphicFrame>
        <p:nvGraphicFramePr>
          <p:cNvPr id="9" name="Chart 8">
            <a:extLst>
              <a:ext uri="{FF2B5EF4-FFF2-40B4-BE49-F238E27FC236}">
                <a16:creationId xmlns:a16="http://schemas.microsoft.com/office/drawing/2014/main" id="{EB7B3127-E2FB-3284-57A6-3374BBF883E5}"/>
              </a:ext>
            </a:extLst>
          </p:cNvPr>
          <p:cNvGraphicFramePr/>
          <p:nvPr>
            <p:extLst>
              <p:ext uri="{D42A27DB-BD31-4B8C-83A1-F6EECF244321}">
                <p14:modId xmlns:p14="http://schemas.microsoft.com/office/powerpoint/2010/main" val="2207688674"/>
              </p:ext>
            </p:extLst>
          </p:nvPr>
        </p:nvGraphicFramePr>
        <p:xfrm>
          <a:off x="4937160" y="4546881"/>
          <a:ext cx="4540216" cy="1997279"/>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75D939F6-2AD5-BD09-3CEB-DCD2D1468AF4}"/>
              </a:ext>
            </a:extLst>
          </p:cNvPr>
          <p:cNvSpPr txBox="1"/>
          <p:nvPr/>
        </p:nvSpPr>
        <p:spPr>
          <a:xfrm>
            <a:off x="5488938" y="5193149"/>
            <a:ext cx="1440276" cy="211203"/>
          </a:xfrm>
          <a:prstGeom prst="rect">
            <a:avLst/>
          </a:prstGeom>
          <a:solidFill>
            <a:schemeClr val="bg1">
              <a:lumMod val="85000"/>
              <a:alpha val="20000"/>
            </a:schemeClr>
          </a:solidFill>
          <a:ln w="6350">
            <a:solidFill>
              <a:schemeClr val="bg1">
                <a:lumMod val="75000"/>
              </a:schemeClr>
            </a:solidFill>
            <a:prstDash val="dash"/>
          </a:ln>
        </p:spPr>
        <p:txBody>
          <a:bodyPr wrap="square" lIns="36000" tIns="36000" rIns="36000" bIns="36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685817">
              <a:defRPr/>
            </a:pPr>
            <a:r>
              <a:rPr lang="en-US" sz="900">
                <a:solidFill>
                  <a:srgbClr val="000000"/>
                </a:solidFill>
                <a:latin typeface="Arial" panose="020B0604020202020204" pitchFamily="34" charset="0"/>
                <a:ea typeface="DFKaiShu-GB5"/>
                <a:cs typeface="Arial" panose="020B0604020202020204" pitchFamily="34" charset="0"/>
              </a:rPr>
              <a:t>2024 Turnover: </a:t>
            </a:r>
            <a:r>
              <a:rPr lang="en-US" sz="900" b="0">
                <a:solidFill>
                  <a:srgbClr val="000000"/>
                </a:solidFill>
                <a:latin typeface="Arial" panose="020B0604020202020204" pitchFamily="34" charset="0"/>
                <a:ea typeface="DFKaiShu-GB5"/>
                <a:cs typeface="Arial" panose="020B0604020202020204" pitchFamily="34" charset="0"/>
              </a:rPr>
              <a:t>S$1.2bn</a:t>
            </a:r>
          </a:p>
        </p:txBody>
      </p:sp>
      <p:cxnSp>
        <p:nvCxnSpPr>
          <p:cNvPr id="11" name="Straight Connector 10">
            <a:extLst>
              <a:ext uri="{FF2B5EF4-FFF2-40B4-BE49-F238E27FC236}">
                <a16:creationId xmlns:a16="http://schemas.microsoft.com/office/drawing/2014/main" id="{1C0ACCF8-D4FD-8E5C-6E78-EE819046D102}"/>
              </a:ext>
            </a:extLst>
          </p:cNvPr>
          <p:cNvCxnSpPr>
            <a:cxnSpLocks/>
          </p:cNvCxnSpPr>
          <p:nvPr/>
        </p:nvCxnSpPr>
        <p:spPr bwMode="auto">
          <a:xfrm>
            <a:off x="5344586" y="5724346"/>
            <a:ext cx="1684869" cy="0"/>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a:extLst>
              <a:ext uri="{FF2B5EF4-FFF2-40B4-BE49-F238E27FC236}">
                <a16:creationId xmlns:a16="http://schemas.microsoft.com/office/drawing/2014/main" id="{893150C5-EBDD-BB30-944B-FD27182E2EA7}"/>
              </a:ext>
            </a:extLst>
          </p:cNvPr>
          <p:cNvCxnSpPr>
            <a:cxnSpLocks/>
          </p:cNvCxnSpPr>
          <p:nvPr/>
        </p:nvCxnSpPr>
        <p:spPr bwMode="auto">
          <a:xfrm>
            <a:off x="7046119" y="5523466"/>
            <a:ext cx="1675904" cy="0"/>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Box 35">
            <a:extLst>
              <a:ext uri="{FF2B5EF4-FFF2-40B4-BE49-F238E27FC236}">
                <a16:creationId xmlns:a16="http://schemas.microsoft.com/office/drawing/2014/main" id="{8805B38D-88DB-C881-3595-E9E33A0A7BF9}"/>
              </a:ext>
            </a:extLst>
          </p:cNvPr>
          <p:cNvSpPr txBox="1"/>
          <p:nvPr/>
        </p:nvSpPr>
        <p:spPr>
          <a:xfrm>
            <a:off x="4937159" y="4018568"/>
            <a:ext cx="4524341" cy="520274"/>
          </a:xfrm>
          <a:prstGeom prst="roundRect">
            <a:avLst/>
          </a:prstGeom>
          <a:solidFill>
            <a:srgbClr val="089C8B"/>
          </a:solidFill>
          <a:ln>
            <a:noFill/>
          </a:ln>
        </p:spPr>
        <p:txBody>
          <a:bodyPr wrap="square" lIns="36000" tIns="36000" rIns="36000" bIns="36000" rtlCol="0" anchor="ctr">
            <a:noAutofit/>
          </a:bodyPr>
          <a:lstStyle>
            <a:defPPr>
              <a:defRPr lang="en-US"/>
            </a:defPPr>
            <a:lvl1pPr algn="ctr">
              <a:defRPr sz="1000">
                <a:solidFill>
                  <a:schemeClr val="bg1"/>
                </a:solidFill>
              </a:defRPr>
            </a:lvl1pPr>
          </a:lstStyle>
          <a:p>
            <a:r>
              <a:rPr lang="en-US"/>
              <a:t>SGX average monthly turnover (</a:t>
            </a:r>
            <a:r>
              <a:rPr lang="en-US" err="1"/>
              <a:t>S$’bn</a:t>
            </a:r>
            <a:r>
              <a:rPr lang="en-US"/>
              <a:t>) rose 34% between 2025 and </a:t>
            </a:r>
            <a:br>
              <a:rPr lang="en-US"/>
            </a:br>
            <a:r>
              <a:rPr lang="en-US"/>
              <a:t>YTD 2026 as investor sentiment strengthened</a:t>
            </a:r>
          </a:p>
        </p:txBody>
      </p:sp>
      <p:sp>
        <p:nvSpPr>
          <p:cNvPr id="7" name="TextBox 6">
            <a:extLst>
              <a:ext uri="{FF2B5EF4-FFF2-40B4-BE49-F238E27FC236}">
                <a16:creationId xmlns:a16="http://schemas.microsoft.com/office/drawing/2014/main" id="{ADE28ED7-F505-C5F7-7EAE-ADFF741AF126}"/>
              </a:ext>
            </a:extLst>
          </p:cNvPr>
          <p:cNvSpPr txBox="1"/>
          <p:nvPr/>
        </p:nvSpPr>
        <p:spPr>
          <a:xfrm>
            <a:off x="453000" y="4018568"/>
            <a:ext cx="4213268" cy="520274"/>
          </a:xfrm>
          <a:prstGeom prst="roundRect">
            <a:avLst/>
          </a:prstGeom>
          <a:solidFill>
            <a:srgbClr val="089C8B"/>
          </a:solidFill>
          <a:ln>
            <a:noFill/>
          </a:ln>
        </p:spPr>
        <p:txBody>
          <a:bodyPr wrap="square" lIns="36000" tIns="36000" rIns="36000" bIns="36000" rtlCol="0" anchor="ctr">
            <a:noAutofit/>
          </a:bodyPr>
          <a:lstStyle>
            <a:defPPr>
              <a:defRPr lang="en-US"/>
            </a:defPPr>
            <a:lvl1pPr algn="ctr">
              <a:defRPr sz="1000">
                <a:solidFill>
                  <a:schemeClr val="bg1"/>
                </a:solidFill>
              </a:defRPr>
            </a:lvl1pPr>
          </a:lstStyle>
          <a:p>
            <a:r>
              <a:rPr lang="en-US"/>
              <a:t>Singapore 2025 ECM deal volume nearly doubled to US$4.3b. YTD 2026 deal volume closing in on 2025 full-year volume driven by a resurgence in both primary and secondary offerings</a:t>
            </a:r>
          </a:p>
        </p:txBody>
      </p:sp>
      <p:graphicFrame>
        <p:nvGraphicFramePr>
          <p:cNvPr id="38" name="Chart 37">
            <a:extLst>
              <a:ext uri="{FF2B5EF4-FFF2-40B4-BE49-F238E27FC236}">
                <a16:creationId xmlns:a16="http://schemas.microsoft.com/office/drawing/2014/main" id="{14F5A4FF-EEB5-D143-9F7A-486880DA03F6}"/>
              </a:ext>
            </a:extLst>
          </p:cNvPr>
          <p:cNvGraphicFramePr/>
          <p:nvPr>
            <p:extLst>
              <p:ext uri="{D42A27DB-BD31-4B8C-83A1-F6EECF244321}">
                <p14:modId xmlns:p14="http://schemas.microsoft.com/office/powerpoint/2010/main" val="1894801955"/>
              </p:ext>
            </p:extLst>
          </p:nvPr>
        </p:nvGraphicFramePr>
        <p:xfrm>
          <a:off x="452999" y="4489362"/>
          <a:ext cx="4213267" cy="1920718"/>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a:extLst>
              <a:ext uri="{FF2B5EF4-FFF2-40B4-BE49-F238E27FC236}">
                <a16:creationId xmlns:a16="http://schemas.microsoft.com/office/drawing/2014/main" id="{7DD22566-CF39-3EE0-A772-880289E71CF0}"/>
              </a:ext>
            </a:extLst>
          </p:cNvPr>
          <p:cNvSpPr txBox="1"/>
          <p:nvPr/>
        </p:nvSpPr>
        <p:spPr>
          <a:xfrm>
            <a:off x="453000" y="932378"/>
            <a:ext cx="8999992" cy="431842"/>
          </a:xfrm>
          <a:prstGeom prst="roundRect">
            <a:avLst/>
          </a:prstGeom>
          <a:solidFill>
            <a:schemeClr val="bg2"/>
          </a:solidFill>
          <a:ln>
            <a:solidFill>
              <a:schemeClr val="bg1">
                <a:lumMod val="65000"/>
              </a:schemeClr>
            </a:solidFill>
          </a:ln>
        </p:spPr>
        <p:txBody>
          <a:bodyPr wrap="square" lIns="36000" tIns="36000" rIns="36000" bIns="36000" rtlCol="0" anchor="ctr">
            <a:noAutofit/>
          </a:bodyPr>
          <a:lstStyle/>
          <a:p>
            <a:pPr algn="ctr"/>
            <a:r>
              <a:rPr lang="en-US" sz="1000">
                <a:solidFill>
                  <a:schemeClr val="tx1"/>
                </a:solidFill>
              </a:rPr>
              <a:t>SGX saw a strong recovery supported by multiple measures from MAS / SGX encompassing major structural and regulatory reviews in 2025.</a:t>
            </a:r>
          </a:p>
          <a:p>
            <a:pPr algn="ctr"/>
            <a:r>
              <a:rPr lang="en-US" sz="1000">
                <a:solidFill>
                  <a:schemeClr val="tx1"/>
                </a:solidFill>
              </a:rPr>
              <a:t>Singapore indices have remained resilient, and the STI has outperformed the S&amp;P500 since 2025 to date</a:t>
            </a:r>
          </a:p>
        </p:txBody>
      </p:sp>
      <p:grpSp>
        <p:nvGrpSpPr>
          <p:cNvPr id="26" name="Group 25">
            <a:extLst>
              <a:ext uri="{FF2B5EF4-FFF2-40B4-BE49-F238E27FC236}">
                <a16:creationId xmlns:a16="http://schemas.microsoft.com/office/drawing/2014/main" id="{B00B23F8-BD52-C285-6729-6ABA42F68E60}"/>
              </a:ext>
            </a:extLst>
          </p:cNvPr>
          <p:cNvGrpSpPr/>
          <p:nvPr/>
        </p:nvGrpSpPr>
        <p:grpSpPr>
          <a:xfrm>
            <a:off x="1364442" y="1761231"/>
            <a:ext cx="1011726" cy="1830670"/>
            <a:chOff x="1545417" y="1846956"/>
            <a:chExt cx="1011726" cy="1830670"/>
          </a:xfrm>
        </p:grpSpPr>
        <p:cxnSp>
          <p:nvCxnSpPr>
            <p:cNvPr id="20" name="Straight Connector 19">
              <a:extLst>
                <a:ext uri="{FF2B5EF4-FFF2-40B4-BE49-F238E27FC236}">
                  <a16:creationId xmlns:a16="http://schemas.microsoft.com/office/drawing/2014/main" id="{E39352DD-0BFE-3D72-1CD8-74B130B0B1B4}"/>
                </a:ext>
              </a:extLst>
            </p:cNvPr>
            <p:cNvCxnSpPr>
              <a:cxnSpLocks/>
            </p:cNvCxnSpPr>
            <p:nvPr/>
          </p:nvCxnSpPr>
          <p:spPr bwMode="auto">
            <a:xfrm>
              <a:off x="1545417" y="1846956"/>
              <a:ext cx="0" cy="1830670"/>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TextBox 33">
              <a:extLst>
                <a:ext uri="{FF2B5EF4-FFF2-40B4-BE49-F238E27FC236}">
                  <a16:creationId xmlns:a16="http://schemas.microsoft.com/office/drawing/2014/main" id="{20978796-7E64-6FC2-7538-5880FF6B175A}"/>
                </a:ext>
              </a:extLst>
            </p:cNvPr>
            <p:cNvSpPr txBox="1"/>
            <p:nvPr/>
          </p:nvSpPr>
          <p:spPr>
            <a:xfrm>
              <a:off x="1545417" y="1846956"/>
              <a:ext cx="1011726" cy="492443"/>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800">
                  <a:solidFill>
                    <a:schemeClr val="tx1"/>
                  </a:solidFill>
                  <a:latin typeface="Arial" panose="020B0604020202020204" pitchFamily="34" charset="0"/>
                </a:rPr>
                <a:t>21 Feb:</a:t>
              </a:r>
              <a:r>
                <a:rPr lang="en-US" sz="800" b="0">
                  <a:solidFill>
                    <a:schemeClr val="tx1"/>
                  </a:solidFill>
                  <a:latin typeface="Arial" panose="020B0604020202020204" pitchFamily="34" charset="0"/>
                </a:rPr>
                <a:t> 1</a:t>
              </a:r>
              <a:r>
                <a:rPr lang="en-US" sz="800" b="0" baseline="30000">
                  <a:solidFill>
                    <a:schemeClr val="tx1"/>
                  </a:solidFill>
                  <a:latin typeface="Arial" panose="020B0604020202020204" pitchFamily="34" charset="0"/>
                </a:rPr>
                <a:t>st</a:t>
              </a:r>
              <a:r>
                <a:rPr lang="en-US" sz="800" b="0">
                  <a:solidFill>
                    <a:schemeClr val="tx1"/>
                  </a:solidFill>
                  <a:latin typeface="Arial" panose="020B0604020202020204" pitchFamily="34" charset="0"/>
                </a:rPr>
                <a:t> set of measures announced by MAS Review Group</a:t>
              </a:r>
              <a:endParaRPr lang="en-SG" sz="800" b="0">
                <a:solidFill>
                  <a:schemeClr val="tx1"/>
                </a:solidFill>
                <a:latin typeface="Arial" panose="020B0604020202020204" pitchFamily="34" charset="0"/>
              </a:endParaRPr>
            </a:p>
          </p:txBody>
        </p:sp>
      </p:grpSp>
      <p:grpSp>
        <p:nvGrpSpPr>
          <p:cNvPr id="35" name="Group 34">
            <a:extLst>
              <a:ext uri="{FF2B5EF4-FFF2-40B4-BE49-F238E27FC236}">
                <a16:creationId xmlns:a16="http://schemas.microsoft.com/office/drawing/2014/main" id="{8D09272B-456E-0E1E-8A2F-F3BAB988FE8D}"/>
              </a:ext>
            </a:extLst>
          </p:cNvPr>
          <p:cNvGrpSpPr/>
          <p:nvPr/>
        </p:nvGrpSpPr>
        <p:grpSpPr>
          <a:xfrm>
            <a:off x="3685970" y="1761231"/>
            <a:ext cx="886135" cy="1830670"/>
            <a:chOff x="3524045" y="1846956"/>
            <a:chExt cx="886135" cy="1830670"/>
          </a:xfrm>
        </p:grpSpPr>
        <p:cxnSp>
          <p:nvCxnSpPr>
            <p:cNvPr id="22" name="Straight Connector 21">
              <a:extLst>
                <a:ext uri="{FF2B5EF4-FFF2-40B4-BE49-F238E27FC236}">
                  <a16:creationId xmlns:a16="http://schemas.microsoft.com/office/drawing/2014/main" id="{0DB8B3CF-EF41-E6C6-4CC3-9B43F68229D1}"/>
                </a:ext>
              </a:extLst>
            </p:cNvPr>
            <p:cNvCxnSpPr>
              <a:cxnSpLocks/>
            </p:cNvCxnSpPr>
            <p:nvPr/>
          </p:nvCxnSpPr>
          <p:spPr bwMode="auto">
            <a:xfrm>
              <a:off x="3524045" y="1846956"/>
              <a:ext cx="0" cy="1830670"/>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5" name="TextBox 33">
              <a:extLst>
                <a:ext uri="{FF2B5EF4-FFF2-40B4-BE49-F238E27FC236}">
                  <a16:creationId xmlns:a16="http://schemas.microsoft.com/office/drawing/2014/main" id="{1DE04E8C-9DC8-C9EA-C4A3-9AF5A6457CB7}"/>
                </a:ext>
              </a:extLst>
            </p:cNvPr>
            <p:cNvSpPr txBox="1"/>
            <p:nvPr/>
          </p:nvSpPr>
          <p:spPr>
            <a:xfrm>
              <a:off x="3524045" y="1846956"/>
              <a:ext cx="886135" cy="615553"/>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800">
                  <a:solidFill>
                    <a:schemeClr val="tx1"/>
                  </a:solidFill>
                  <a:latin typeface="Arial" panose="020B0604020202020204" pitchFamily="34" charset="0"/>
                </a:rPr>
                <a:t>21 Jul</a:t>
              </a:r>
              <a:r>
                <a:rPr lang="en-US" sz="800" b="0">
                  <a:solidFill>
                    <a:schemeClr val="tx1"/>
                  </a:solidFill>
                  <a:latin typeface="Arial" panose="020B0604020202020204" pitchFamily="34" charset="0"/>
                </a:rPr>
                <a:t>: MAS appoints 1</a:t>
              </a:r>
              <a:r>
                <a:rPr lang="en-US" sz="800" b="0" baseline="30000">
                  <a:solidFill>
                    <a:schemeClr val="tx1"/>
                  </a:solidFill>
                  <a:latin typeface="Arial" panose="020B0604020202020204" pitchFamily="34" charset="0"/>
                </a:rPr>
                <a:t>st</a:t>
              </a:r>
              <a:r>
                <a:rPr lang="en-US" sz="800" b="0">
                  <a:solidFill>
                    <a:schemeClr val="tx1"/>
                  </a:solidFill>
                  <a:latin typeface="Arial" panose="020B0604020202020204" pitchFamily="34" charset="0"/>
                </a:rPr>
                <a:t> batch of fund managers under S$5.0bn EQDP</a:t>
              </a:r>
            </a:p>
          </p:txBody>
        </p:sp>
      </p:grpSp>
      <p:cxnSp>
        <p:nvCxnSpPr>
          <p:cNvPr id="30" name="Straight Connector 29">
            <a:extLst>
              <a:ext uri="{FF2B5EF4-FFF2-40B4-BE49-F238E27FC236}">
                <a16:creationId xmlns:a16="http://schemas.microsoft.com/office/drawing/2014/main" id="{25499024-8FCD-9FBA-7834-80851E48EC4D}"/>
              </a:ext>
            </a:extLst>
          </p:cNvPr>
          <p:cNvCxnSpPr>
            <a:cxnSpLocks/>
          </p:cNvCxnSpPr>
          <p:nvPr/>
        </p:nvCxnSpPr>
        <p:spPr bwMode="auto">
          <a:xfrm>
            <a:off x="5433699" y="2294976"/>
            <a:ext cx="0" cy="1315975"/>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TextBox 33">
            <a:extLst>
              <a:ext uri="{FF2B5EF4-FFF2-40B4-BE49-F238E27FC236}">
                <a16:creationId xmlns:a16="http://schemas.microsoft.com/office/drawing/2014/main" id="{F9FDCB2B-38C0-4DC9-4ED6-406EEE670B01}"/>
              </a:ext>
            </a:extLst>
          </p:cNvPr>
          <p:cNvSpPr txBox="1"/>
          <p:nvPr/>
        </p:nvSpPr>
        <p:spPr>
          <a:xfrm>
            <a:off x="4593900" y="1556312"/>
            <a:ext cx="1607919" cy="738664"/>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algn="ctr" eaLnBrk="0" hangingPunct="0"/>
            <a:r>
              <a:rPr lang="en-US" sz="800">
                <a:solidFill>
                  <a:schemeClr val="tx1"/>
                </a:solidFill>
                <a:latin typeface="Arial" panose="020B0604020202020204" pitchFamily="34" charset="0"/>
              </a:rPr>
              <a:t>19 Nov</a:t>
            </a:r>
            <a:r>
              <a:rPr lang="en-US" sz="800" b="0">
                <a:solidFill>
                  <a:schemeClr val="tx1"/>
                </a:solidFill>
                <a:latin typeface="Arial" panose="020B0604020202020204" pitchFamily="34" charset="0"/>
              </a:rPr>
              <a:t>: Completion of review. </a:t>
            </a:r>
          </a:p>
          <a:p>
            <a:pPr algn="ctr" eaLnBrk="0" hangingPunct="0"/>
            <a:r>
              <a:rPr lang="en-US" sz="800" b="0">
                <a:solidFill>
                  <a:schemeClr val="tx1"/>
                </a:solidFill>
                <a:latin typeface="Arial" panose="020B0604020202020204" pitchFamily="34" charset="0"/>
              </a:rPr>
              <a:t>2</a:t>
            </a:r>
            <a:r>
              <a:rPr lang="en-US" sz="800" b="0" baseline="30000">
                <a:solidFill>
                  <a:schemeClr val="tx1"/>
                </a:solidFill>
                <a:latin typeface="Arial" panose="020B0604020202020204" pitchFamily="34" charset="0"/>
              </a:rPr>
              <a:t>nd</a:t>
            </a:r>
            <a:r>
              <a:rPr lang="en-US" sz="800" b="0">
                <a:solidFill>
                  <a:schemeClr val="tx1"/>
                </a:solidFill>
                <a:latin typeface="Arial" panose="020B0604020202020204" pitchFamily="34" charset="0"/>
              </a:rPr>
              <a:t> batch of fund managers under EQDP. Major new initiatives launched: SGX-Nasdaq Dual Listing Bridge and a S$30m Value Unlock" Package.</a:t>
            </a:r>
          </a:p>
        </p:txBody>
      </p:sp>
      <p:grpSp>
        <p:nvGrpSpPr>
          <p:cNvPr id="31" name="Group 30">
            <a:extLst>
              <a:ext uri="{FF2B5EF4-FFF2-40B4-BE49-F238E27FC236}">
                <a16:creationId xmlns:a16="http://schemas.microsoft.com/office/drawing/2014/main" id="{0FF58BB0-ED31-C36D-ADA5-F2A881CAD46E}"/>
              </a:ext>
            </a:extLst>
          </p:cNvPr>
          <p:cNvGrpSpPr/>
          <p:nvPr/>
        </p:nvGrpSpPr>
        <p:grpSpPr>
          <a:xfrm>
            <a:off x="2695059" y="1751706"/>
            <a:ext cx="863309" cy="1859245"/>
            <a:chOff x="2637909" y="1818381"/>
            <a:chExt cx="863309" cy="1859245"/>
          </a:xfrm>
        </p:grpSpPr>
        <p:cxnSp>
          <p:nvCxnSpPr>
            <p:cNvPr id="33" name="Straight Connector 32">
              <a:extLst>
                <a:ext uri="{FF2B5EF4-FFF2-40B4-BE49-F238E27FC236}">
                  <a16:creationId xmlns:a16="http://schemas.microsoft.com/office/drawing/2014/main" id="{E4FFC075-DA3E-4518-AD41-EFA65B8EA2A6}"/>
                </a:ext>
              </a:extLst>
            </p:cNvPr>
            <p:cNvCxnSpPr>
              <a:cxnSpLocks/>
            </p:cNvCxnSpPr>
            <p:nvPr/>
          </p:nvCxnSpPr>
          <p:spPr bwMode="auto">
            <a:xfrm>
              <a:off x="2637910" y="1846956"/>
              <a:ext cx="0" cy="1830670"/>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4" name="TextBox 33">
              <a:extLst>
                <a:ext uri="{FF2B5EF4-FFF2-40B4-BE49-F238E27FC236}">
                  <a16:creationId xmlns:a16="http://schemas.microsoft.com/office/drawing/2014/main" id="{B08EA2A6-3051-93B3-97CA-6172CE377F6F}"/>
                </a:ext>
              </a:extLst>
            </p:cNvPr>
            <p:cNvSpPr txBox="1"/>
            <p:nvPr/>
          </p:nvSpPr>
          <p:spPr>
            <a:xfrm>
              <a:off x="2637909" y="1818381"/>
              <a:ext cx="863309" cy="861774"/>
            </a:xfrm>
            <a:prstGeom prst="rect">
              <a:avLst/>
            </a:prstGeom>
            <a:solidFill>
              <a:srgbClr val="FFFFFF">
                <a:alpha val="20000"/>
              </a:srgbClr>
            </a:solidFill>
          </p:spPr>
          <p:txBody>
            <a:bodyPr wrap="square" lIns="36000" tIns="0" rIns="36000" bIns="0" rtlCol="0">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800">
                  <a:solidFill>
                    <a:schemeClr val="tx1"/>
                  </a:solidFill>
                  <a:latin typeface="Arial" panose="020B0604020202020204" pitchFamily="34" charset="0"/>
                </a:rPr>
                <a:t>15 May</a:t>
              </a:r>
              <a:r>
                <a:rPr lang="en-US" sz="800" b="0">
                  <a:solidFill>
                    <a:schemeClr val="tx1"/>
                  </a:solidFill>
                  <a:latin typeface="Arial" panose="020B0604020202020204" pitchFamily="34" charset="0"/>
                </a:rPr>
                <a:t>: Consultation launched to streamline prospectus disclosure requirements</a:t>
              </a:r>
            </a:p>
          </p:txBody>
        </p:sp>
      </p:grpSp>
      <p:sp>
        <p:nvSpPr>
          <p:cNvPr id="5" name="TextBox 33">
            <a:extLst>
              <a:ext uri="{FF2B5EF4-FFF2-40B4-BE49-F238E27FC236}">
                <a16:creationId xmlns:a16="http://schemas.microsoft.com/office/drawing/2014/main" id="{85504BF7-E6A0-46B6-B839-2BB93FC60A93}"/>
              </a:ext>
            </a:extLst>
          </p:cNvPr>
          <p:cNvSpPr txBox="1"/>
          <p:nvPr/>
        </p:nvSpPr>
        <p:spPr>
          <a:xfrm>
            <a:off x="453000" y="4569715"/>
            <a:ext cx="835013" cy="138499"/>
          </a:xfrm>
          <a:prstGeom prst="rect">
            <a:avLst/>
          </a:prstGeom>
          <a:solidFill>
            <a:srgbClr val="FFFFFF">
              <a:alpha val="20000"/>
            </a:srgbClr>
          </a:solidFill>
        </p:spPr>
        <p:txBody>
          <a:bodyPr wrap="square" lIns="36000" tIns="0" rIns="36000" bIns="0" rtlCol="0" anchor="ctr">
            <a:sp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900">
                <a:solidFill>
                  <a:schemeClr val="tx1"/>
                </a:solidFill>
                <a:latin typeface="Arial" panose="020B0604020202020204" pitchFamily="34" charset="0"/>
              </a:rPr>
              <a:t>(USD billion)</a:t>
            </a:r>
            <a:endParaRPr lang="en-US" sz="900" b="0">
              <a:solidFill>
                <a:schemeClr val="tx1"/>
              </a:solidFill>
              <a:latin typeface="Arial" panose="020B0604020202020204" pitchFamily="34" charset="0"/>
            </a:endParaRPr>
          </a:p>
        </p:txBody>
      </p:sp>
      <p:cxnSp>
        <p:nvCxnSpPr>
          <p:cNvPr id="27" name="Straight Connector 26">
            <a:extLst>
              <a:ext uri="{FF2B5EF4-FFF2-40B4-BE49-F238E27FC236}">
                <a16:creationId xmlns:a16="http://schemas.microsoft.com/office/drawing/2014/main" id="{EDB35A82-8F38-4907-6956-3A57A50421C6}"/>
              </a:ext>
            </a:extLst>
          </p:cNvPr>
          <p:cNvCxnSpPr>
            <a:cxnSpLocks/>
          </p:cNvCxnSpPr>
          <p:nvPr/>
        </p:nvCxnSpPr>
        <p:spPr bwMode="auto">
          <a:xfrm>
            <a:off x="8804275" y="5168522"/>
            <a:ext cx="557183" cy="0"/>
          </a:xfrm>
          <a:prstGeom prst="line">
            <a:avLst/>
          </a:prstGeom>
          <a:noFill/>
          <a:ln w="952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9" name="Group 38">
            <a:extLst>
              <a:ext uri="{FF2B5EF4-FFF2-40B4-BE49-F238E27FC236}">
                <a16:creationId xmlns:a16="http://schemas.microsoft.com/office/drawing/2014/main" id="{08840C94-1DC8-1C08-8DFD-F93BBD8C54D7}"/>
              </a:ext>
            </a:extLst>
          </p:cNvPr>
          <p:cNvGrpSpPr/>
          <p:nvPr/>
        </p:nvGrpSpPr>
        <p:grpSpPr>
          <a:xfrm>
            <a:off x="7059137" y="4623442"/>
            <a:ext cx="2149633" cy="216868"/>
            <a:chOff x="6831827" y="4643325"/>
            <a:chExt cx="2149633" cy="216868"/>
          </a:xfrm>
        </p:grpSpPr>
        <p:sp>
          <p:nvSpPr>
            <p:cNvPr id="40" name="TextBox 39">
              <a:extLst>
                <a:ext uri="{FF2B5EF4-FFF2-40B4-BE49-F238E27FC236}">
                  <a16:creationId xmlns:a16="http://schemas.microsoft.com/office/drawing/2014/main" id="{F1B54C82-0284-660C-B91A-F91AB8428F30}"/>
                </a:ext>
              </a:extLst>
            </p:cNvPr>
            <p:cNvSpPr txBox="1"/>
            <p:nvPr/>
          </p:nvSpPr>
          <p:spPr>
            <a:xfrm>
              <a:off x="6831827" y="4643325"/>
              <a:ext cx="2149633" cy="216868"/>
            </a:xfrm>
            <a:prstGeom prst="rect">
              <a:avLst/>
            </a:prstGeom>
            <a:solidFill>
              <a:schemeClr val="bg1">
                <a:lumMod val="85000"/>
                <a:alpha val="20000"/>
              </a:schemeClr>
            </a:solidFill>
            <a:ln w="6350">
              <a:solidFill>
                <a:schemeClr val="bg1">
                  <a:lumMod val="75000"/>
                </a:schemeClr>
              </a:solidFill>
              <a:prstDash val="dash"/>
            </a:ln>
          </p:spPr>
          <p:txBody>
            <a:bodyPr wrap="square" lIns="0" tIns="36000" rIns="0" bIns="36000"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685817">
                <a:defRPr/>
              </a:pPr>
              <a:r>
                <a:rPr lang="en-US" sz="900">
                  <a:solidFill>
                    <a:srgbClr val="000000"/>
                  </a:solidFill>
                  <a:latin typeface="Arial" panose="020B0604020202020204" pitchFamily="34" charset="0"/>
                  <a:ea typeface="DFKaiShu-GB5"/>
                  <a:cs typeface="Arial" panose="020B0604020202020204" pitchFamily="34" charset="0"/>
                </a:rPr>
                <a:t>YTD 2026 Turnover: </a:t>
              </a:r>
              <a:r>
                <a:rPr lang="en-US" sz="900" b="0">
                  <a:solidFill>
                    <a:srgbClr val="000000"/>
                  </a:solidFill>
                  <a:latin typeface="Arial" panose="020B0604020202020204" pitchFamily="34" charset="0"/>
                  <a:ea typeface="DFKaiShu-GB5"/>
                  <a:cs typeface="Arial" panose="020B0604020202020204" pitchFamily="34" charset="0"/>
                </a:rPr>
                <a:t>S$2.0bn (    +34%)</a:t>
              </a:r>
            </a:p>
          </p:txBody>
        </p:sp>
        <p:sp>
          <p:nvSpPr>
            <p:cNvPr id="41" name="Isosceles Triangle 40">
              <a:extLst>
                <a:ext uri="{FF2B5EF4-FFF2-40B4-BE49-F238E27FC236}">
                  <a16:creationId xmlns:a16="http://schemas.microsoft.com/office/drawing/2014/main" id="{4B7D9628-AFBC-73EF-8468-C88469D687EE}"/>
                </a:ext>
              </a:extLst>
            </p:cNvPr>
            <p:cNvSpPr/>
            <p:nvPr/>
          </p:nvSpPr>
          <p:spPr bwMode="auto">
            <a:xfrm>
              <a:off x="8506905" y="4707309"/>
              <a:ext cx="108458" cy="88900"/>
            </a:xfrm>
            <a:prstGeom prst="triangle">
              <a:avLst/>
            </a:prstGeom>
            <a:solidFill>
              <a:srgbClr val="92D050"/>
            </a:solidFill>
            <a:ln>
              <a:noFill/>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900" b="0" i="0" u="none" strike="noStrike" cap="none" normalizeH="0" baseline="0">
                <a:ln>
                  <a:noFill/>
                </a:ln>
                <a:solidFill>
                  <a:schemeClr val="tx1"/>
                </a:solidFill>
                <a:effectLst/>
                <a:latin typeface="Arial" panose="020B0604020202020204" pitchFamily="34" charset="0"/>
              </a:endParaRPr>
            </a:p>
          </p:txBody>
        </p:sp>
      </p:grpSp>
      <p:cxnSp>
        <p:nvCxnSpPr>
          <p:cNvPr id="44" name="Connector: Elbow 43">
            <a:extLst>
              <a:ext uri="{FF2B5EF4-FFF2-40B4-BE49-F238E27FC236}">
                <a16:creationId xmlns:a16="http://schemas.microsoft.com/office/drawing/2014/main" id="{21627E4F-E75E-A063-731D-F2E03D054356}"/>
              </a:ext>
            </a:extLst>
          </p:cNvPr>
          <p:cNvCxnSpPr>
            <a:cxnSpLocks/>
          </p:cNvCxnSpPr>
          <p:nvPr/>
        </p:nvCxnSpPr>
        <p:spPr bwMode="auto">
          <a:xfrm>
            <a:off x="8611592" y="5002961"/>
            <a:ext cx="80803" cy="520505"/>
          </a:xfrm>
          <a:prstGeom prst="bentConnector2">
            <a:avLst/>
          </a:prstGeom>
          <a:noFill/>
          <a:ln w="6350" cap="flat" cmpd="sng" algn="ctr">
            <a:solidFill>
              <a:schemeClr val="tx1"/>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Connector: Elbow 47">
            <a:extLst>
              <a:ext uri="{FF2B5EF4-FFF2-40B4-BE49-F238E27FC236}">
                <a16:creationId xmlns:a16="http://schemas.microsoft.com/office/drawing/2014/main" id="{F00AE126-5466-B366-DAAE-BD5C09A0A261}"/>
              </a:ext>
            </a:extLst>
          </p:cNvPr>
          <p:cNvCxnSpPr>
            <a:cxnSpLocks/>
          </p:cNvCxnSpPr>
          <p:nvPr/>
        </p:nvCxnSpPr>
        <p:spPr bwMode="auto">
          <a:xfrm>
            <a:off x="9123045" y="4750926"/>
            <a:ext cx="169026" cy="379519"/>
          </a:xfrm>
          <a:prstGeom prst="bentConnector2">
            <a:avLst/>
          </a:prstGeom>
          <a:noFill/>
          <a:ln w="6350" cap="flat" cmpd="sng" algn="ctr">
            <a:solidFill>
              <a:schemeClr val="tx1"/>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7" name="Group 36">
            <a:extLst>
              <a:ext uri="{FF2B5EF4-FFF2-40B4-BE49-F238E27FC236}">
                <a16:creationId xmlns:a16="http://schemas.microsoft.com/office/drawing/2014/main" id="{2BE9CF7D-C9AC-4ACD-1652-DAF8F14F5B40}"/>
              </a:ext>
            </a:extLst>
          </p:cNvPr>
          <p:cNvGrpSpPr/>
          <p:nvPr/>
        </p:nvGrpSpPr>
        <p:grpSpPr>
          <a:xfrm>
            <a:off x="6618720" y="1556312"/>
            <a:ext cx="1599110" cy="2054639"/>
            <a:chOff x="6228195" y="1622987"/>
            <a:chExt cx="1599110" cy="2054639"/>
          </a:xfrm>
        </p:grpSpPr>
        <p:cxnSp>
          <p:nvCxnSpPr>
            <p:cNvPr id="28" name="Straight Connector 27">
              <a:extLst>
                <a:ext uri="{FF2B5EF4-FFF2-40B4-BE49-F238E27FC236}">
                  <a16:creationId xmlns:a16="http://schemas.microsoft.com/office/drawing/2014/main" id="{A0FAAC25-95CD-8955-C9FD-565A30C7FF0D}"/>
                </a:ext>
              </a:extLst>
            </p:cNvPr>
            <p:cNvCxnSpPr>
              <a:cxnSpLocks/>
            </p:cNvCxnSpPr>
            <p:nvPr/>
          </p:nvCxnSpPr>
          <p:spPr bwMode="auto">
            <a:xfrm>
              <a:off x="6228195" y="1681414"/>
              <a:ext cx="0" cy="1996212"/>
            </a:xfrm>
            <a:prstGeom prst="line">
              <a:avLst/>
            </a:prstGeom>
            <a:solidFill>
              <a:srgbClr val="FFFFFF">
                <a:alpha val="20000"/>
              </a:srgbClr>
            </a:solidFill>
            <a:ln w="6350" cap="flat" cmpd="sng" algn="ctr">
              <a:solidFill>
                <a:schemeClr val="tx1">
                  <a:lumMod val="85000"/>
                  <a:lumOff val="1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TextBox 33">
              <a:extLst>
                <a:ext uri="{FF2B5EF4-FFF2-40B4-BE49-F238E27FC236}">
                  <a16:creationId xmlns:a16="http://schemas.microsoft.com/office/drawing/2014/main" id="{F0E40ED6-E669-7899-7476-7FAE776D7BD4}"/>
                </a:ext>
              </a:extLst>
            </p:cNvPr>
            <p:cNvSpPr txBox="1"/>
            <p:nvPr/>
          </p:nvSpPr>
          <p:spPr>
            <a:xfrm>
              <a:off x="6240352" y="1622987"/>
              <a:ext cx="1586953" cy="476626"/>
            </a:xfrm>
            <a:prstGeom prst="rect">
              <a:avLst/>
            </a:prstGeom>
            <a:solidFill>
              <a:schemeClr val="bg1"/>
            </a:solidFill>
          </p:spPr>
          <p:txBody>
            <a:bodyPr wrap="square" lIns="36000" tIns="0" rIns="36000" bIns="0" rtlCol="0">
              <a:noAutofit/>
            </a:bodyPr>
            <a:lstStyle>
              <a:defPPr>
                <a:defRPr lang="en-US"/>
              </a:defPPr>
              <a:lvl1pPr marL="0" indent="0" algn="l" rtl="0" fontAlgn="base">
                <a:spcBef>
                  <a:spcPct val="0"/>
                </a:spcBef>
                <a:spcAft>
                  <a:spcPct val="0"/>
                </a:spcAft>
                <a:defRPr sz="1100" b="1" kern="1200">
                  <a:solidFill>
                    <a:schemeClr val="bg2"/>
                  </a:solidFill>
                  <a:latin typeface="+mn-lt"/>
                  <a:ea typeface="+mn-ea"/>
                  <a:cs typeface="+mn-cs"/>
                </a:defRPr>
              </a:lvl1pPr>
              <a:lvl2pPr marL="457200" indent="0" algn="l" rtl="0" fontAlgn="base">
                <a:spcBef>
                  <a:spcPct val="0"/>
                </a:spcBef>
                <a:spcAft>
                  <a:spcPct val="0"/>
                </a:spcAft>
                <a:defRPr sz="1100" b="1" kern="1200">
                  <a:solidFill>
                    <a:schemeClr val="bg2"/>
                  </a:solidFill>
                  <a:latin typeface="+mn-lt"/>
                  <a:ea typeface="+mn-ea"/>
                  <a:cs typeface="+mn-cs"/>
                </a:defRPr>
              </a:lvl2pPr>
              <a:lvl3pPr marL="914400" indent="0" algn="l" rtl="0" fontAlgn="base">
                <a:spcBef>
                  <a:spcPct val="0"/>
                </a:spcBef>
                <a:spcAft>
                  <a:spcPct val="0"/>
                </a:spcAft>
                <a:defRPr sz="1100" b="1" kern="1200">
                  <a:solidFill>
                    <a:schemeClr val="bg2"/>
                  </a:solidFill>
                  <a:latin typeface="+mn-lt"/>
                  <a:ea typeface="+mn-ea"/>
                  <a:cs typeface="+mn-cs"/>
                </a:defRPr>
              </a:lvl3pPr>
              <a:lvl4pPr marL="1371600" indent="0" algn="l" rtl="0" fontAlgn="base">
                <a:spcBef>
                  <a:spcPct val="0"/>
                </a:spcBef>
                <a:spcAft>
                  <a:spcPct val="0"/>
                </a:spcAft>
                <a:defRPr sz="1100" b="1" kern="1200">
                  <a:solidFill>
                    <a:schemeClr val="bg2"/>
                  </a:solidFill>
                  <a:latin typeface="+mn-lt"/>
                  <a:ea typeface="+mn-ea"/>
                  <a:cs typeface="+mn-cs"/>
                </a:defRPr>
              </a:lvl4pPr>
              <a:lvl5pPr marL="1828800" indent="0" algn="l" rtl="0" fontAlgn="base">
                <a:spcBef>
                  <a:spcPct val="0"/>
                </a:spcBef>
                <a:spcAft>
                  <a:spcPct val="0"/>
                </a:spcAft>
                <a:defRPr sz="1100" b="1" kern="1200">
                  <a:solidFill>
                    <a:schemeClr val="bg2"/>
                  </a:solidFill>
                  <a:latin typeface="+mn-lt"/>
                  <a:ea typeface="+mn-ea"/>
                  <a:cs typeface="+mn-cs"/>
                </a:defRPr>
              </a:lvl5pPr>
              <a:lvl6pPr marL="2286000" indent="0" algn="l" defTabSz="914400" rtl="0" eaLnBrk="1" latinLnBrk="0" hangingPunct="1">
                <a:defRPr sz="1100" b="1" kern="1200">
                  <a:solidFill>
                    <a:schemeClr val="bg2"/>
                  </a:solidFill>
                  <a:latin typeface="+mn-lt"/>
                  <a:ea typeface="+mn-ea"/>
                  <a:cs typeface="+mn-cs"/>
                </a:defRPr>
              </a:lvl6pPr>
              <a:lvl7pPr marL="2743200" indent="0" algn="l" defTabSz="914400" rtl="0" eaLnBrk="1" latinLnBrk="0" hangingPunct="1">
                <a:defRPr sz="1100" b="1" kern="1200">
                  <a:solidFill>
                    <a:schemeClr val="bg2"/>
                  </a:solidFill>
                  <a:latin typeface="+mn-lt"/>
                  <a:ea typeface="+mn-ea"/>
                  <a:cs typeface="+mn-cs"/>
                </a:defRPr>
              </a:lvl7pPr>
              <a:lvl8pPr marL="3200400" indent="0" algn="l" defTabSz="914400" rtl="0" eaLnBrk="1" latinLnBrk="0" hangingPunct="1">
                <a:defRPr sz="1100" b="1" kern="1200">
                  <a:solidFill>
                    <a:schemeClr val="bg2"/>
                  </a:solidFill>
                  <a:latin typeface="+mn-lt"/>
                  <a:ea typeface="+mn-ea"/>
                  <a:cs typeface="+mn-cs"/>
                </a:defRPr>
              </a:lvl8pPr>
              <a:lvl9pPr marL="3657600" indent="0" algn="l" defTabSz="914400" rtl="0" eaLnBrk="1" latinLnBrk="0" hangingPunct="1">
                <a:defRPr sz="1100" b="1" kern="1200">
                  <a:solidFill>
                    <a:schemeClr val="bg2"/>
                  </a:solidFill>
                  <a:latin typeface="+mn-lt"/>
                  <a:ea typeface="+mn-ea"/>
                  <a:cs typeface="+mn-cs"/>
                </a:defRPr>
              </a:lvl9pPr>
            </a:lstStyle>
            <a:p>
              <a:pPr eaLnBrk="0" hangingPunct="0"/>
              <a:r>
                <a:rPr lang="en-US" sz="800">
                  <a:solidFill>
                    <a:schemeClr val="tx1"/>
                  </a:solidFill>
                  <a:latin typeface="Arial" panose="020B0604020202020204" pitchFamily="34" charset="0"/>
                </a:rPr>
                <a:t>12 Feb</a:t>
              </a:r>
              <a:r>
                <a:rPr lang="en-US" sz="800" b="0">
                  <a:solidFill>
                    <a:schemeClr val="tx1"/>
                  </a:solidFill>
                  <a:latin typeface="Arial" panose="020B0604020202020204" pitchFamily="34" charset="0"/>
                </a:rPr>
                <a:t>: EQDP program budget increased from S$5.0bn to S$6.5bn following Budget 2026</a:t>
              </a:r>
            </a:p>
          </p:txBody>
        </p:sp>
      </p:grpSp>
      <p:grpSp>
        <p:nvGrpSpPr>
          <p:cNvPr id="19" name="Group 18">
            <a:extLst>
              <a:ext uri="{FF2B5EF4-FFF2-40B4-BE49-F238E27FC236}">
                <a16:creationId xmlns:a16="http://schemas.microsoft.com/office/drawing/2014/main" id="{4B896739-88A4-D57F-38C0-BB9C531FEC8A}"/>
              </a:ext>
            </a:extLst>
          </p:cNvPr>
          <p:cNvGrpSpPr/>
          <p:nvPr/>
        </p:nvGrpSpPr>
        <p:grpSpPr>
          <a:xfrm>
            <a:off x="6739592" y="4894527"/>
            <a:ext cx="1872000" cy="216868"/>
            <a:chOff x="7109460" y="4643325"/>
            <a:chExt cx="1872000" cy="216868"/>
          </a:xfrm>
        </p:grpSpPr>
        <p:sp>
          <p:nvSpPr>
            <p:cNvPr id="15" name="Isosceles Triangle 14">
              <a:extLst>
                <a:ext uri="{FF2B5EF4-FFF2-40B4-BE49-F238E27FC236}">
                  <a16:creationId xmlns:a16="http://schemas.microsoft.com/office/drawing/2014/main" id="{2CAE5566-4E02-E87B-5693-46BAA84E652E}"/>
                </a:ext>
              </a:extLst>
            </p:cNvPr>
            <p:cNvSpPr/>
            <p:nvPr/>
          </p:nvSpPr>
          <p:spPr bwMode="auto">
            <a:xfrm>
              <a:off x="8506905" y="4707309"/>
              <a:ext cx="108458" cy="88900"/>
            </a:xfrm>
            <a:prstGeom prst="triangle">
              <a:avLst/>
            </a:prstGeom>
            <a:solidFill>
              <a:srgbClr val="92D050"/>
            </a:solidFill>
            <a:ln>
              <a:noFill/>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900" b="0" i="0" u="none" strike="noStrike" cap="none" normalizeH="0" baseline="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47075C0E-4271-0B12-F103-CD1FB80D0BC0}"/>
                </a:ext>
              </a:extLst>
            </p:cNvPr>
            <p:cNvSpPr txBox="1"/>
            <p:nvPr/>
          </p:nvSpPr>
          <p:spPr>
            <a:xfrm>
              <a:off x="7109460" y="4643325"/>
              <a:ext cx="1872000" cy="216868"/>
            </a:xfrm>
            <a:prstGeom prst="rect">
              <a:avLst/>
            </a:prstGeom>
            <a:solidFill>
              <a:schemeClr val="bg1">
                <a:lumMod val="85000"/>
                <a:alpha val="20000"/>
              </a:schemeClr>
            </a:solidFill>
            <a:ln w="6350">
              <a:solidFill>
                <a:schemeClr val="bg1">
                  <a:lumMod val="75000"/>
                </a:schemeClr>
              </a:solidFill>
              <a:prstDash val="dash"/>
            </a:ln>
          </p:spPr>
          <p:txBody>
            <a:bodyPr wrap="square" lIns="0" tIns="36000" rIns="0" bIns="36000"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685817">
                <a:defRPr/>
              </a:pPr>
              <a:r>
                <a:rPr lang="en-US" sz="900">
                  <a:solidFill>
                    <a:srgbClr val="000000"/>
                  </a:solidFill>
                  <a:latin typeface="Arial" panose="020B0604020202020204" pitchFamily="34" charset="0"/>
                  <a:ea typeface="DFKaiShu-GB5"/>
                  <a:cs typeface="Arial" panose="020B0604020202020204" pitchFamily="34" charset="0"/>
                </a:rPr>
                <a:t>2025 Turnover: </a:t>
              </a:r>
              <a:r>
                <a:rPr lang="en-US" sz="900" b="0">
                  <a:solidFill>
                    <a:srgbClr val="000000"/>
                  </a:solidFill>
                  <a:latin typeface="Arial" panose="020B0604020202020204" pitchFamily="34" charset="0"/>
                  <a:ea typeface="DFKaiShu-GB5"/>
                  <a:cs typeface="Arial" panose="020B0604020202020204" pitchFamily="34" charset="0"/>
                </a:rPr>
                <a:t>S$1.5bn (    +18%)</a:t>
              </a:r>
            </a:p>
          </p:txBody>
        </p:sp>
      </p:grpSp>
    </p:spTree>
    <p:extLst>
      <p:ext uri="{BB962C8B-B14F-4D97-AF65-F5344CB8AC3E}">
        <p14:creationId xmlns:p14="http://schemas.microsoft.com/office/powerpoint/2010/main" val="2967334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53">
            <a:extLst>
              <a:ext uri="{FF2B5EF4-FFF2-40B4-BE49-F238E27FC236}">
                <a16:creationId xmlns:a16="http://schemas.microsoft.com/office/drawing/2014/main" id="{6DA93BD5-72D1-DC70-EC67-5DACF5740A97}"/>
              </a:ext>
            </a:extLst>
          </p:cNvPr>
          <p:cNvGraphicFramePr>
            <a:graphicFrameLocks noGrp="1"/>
          </p:cNvGraphicFramePr>
          <p:nvPr>
            <p:custDataLst>
              <p:tags r:id="rId1"/>
            </p:custDataLst>
          </p:nvPr>
        </p:nvGraphicFramePr>
        <p:xfrm>
          <a:off x="451167" y="1429576"/>
          <a:ext cx="3042533" cy="4762880"/>
        </p:xfrm>
        <a:graphic>
          <a:graphicData uri="http://schemas.openxmlformats.org/drawingml/2006/table">
            <a:tbl>
              <a:tblPr>
                <a:effectLst/>
              </a:tblPr>
              <a:tblGrid>
                <a:gridCol w="504814">
                  <a:extLst>
                    <a:ext uri="{9D8B030D-6E8A-4147-A177-3AD203B41FA5}">
                      <a16:colId xmlns:a16="http://schemas.microsoft.com/office/drawing/2014/main" val="1784362795"/>
                    </a:ext>
                  </a:extLst>
                </a:gridCol>
                <a:gridCol w="1534600">
                  <a:extLst>
                    <a:ext uri="{9D8B030D-6E8A-4147-A177-3AD203B41FA5}">
                      <a16:colId xmlns:a16="http://schemas.microsoft.com/office/drawing/2014/main" val="20000"/>
                    </a:ext>
                  </a:extLst>
                </a:gridCol>
                <a:gridCol w="620979">
                  <a:extLst>
                    <a:ext uri="{9D8B030D-6E8A-4147-A177-3AD203B41FA5}">
                      <a16:colId xmlns:a16="http://schemas.microsoft.com/office/drawing/2014/main" val="20002"/>
                    </a:ext>
                  </a:extLst>
                </a:gridCol>
                <a:gridCol w="382140">
                  <a:extLst>
                    <a:ext uri="{9D8B030D-6E8A-4147-A177-3AD203B41FA5}">
                      <a16:colId xmlns:a16="http://schemas.microsoft.com/office/drawing/2014/main" val="20003"/>
                    </a:ext>
                  </a:extLst>
                </a:gridCol>
              </a:tblGrid>
              <a:tr h="238144">
                <a:tc>
                  <a:txBody>
                    <a:bodyPr/>
                    <a:lstStyle/>
                    <a:p>
                      <a:pPr marL="0" marR="0" lvl="0" indent="0" algn="ctr"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Date</a:t>
                      </a:r>
                    </a:p>
                  </a:txBody>
                  <a:tcPr marL="18000" marR="18000" marT="18000" marB="18000" anchor="ctr" horzOverflow="overflow">
                    <a:lnL w="6350" cap="flat" cmpd="sng" algn="ctr">
                      <a:noFill/>
                      <a:prstDash val="sysDot"/>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bg1">
                        <a:lumMod val="85000"/>
                        <a:alpha val="8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Trusts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bg1">
                        <a:lumMod val="85000"/>
                        <a:alpha val="8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Proceeds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bg1">
                        <a:lumMod val="85000"/>
                        <a:alpha val="8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DBS</a:t>
                      </a:r>
                    </a:p>
                  </a:txBody>
                  <a:tcPr marL="18000" marR="18000" marT="18000" marB="18000" anchor="ctr" horzOverflow="overflow">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bg1">
                        <a:lumMod val="85000"/>
                        <a:alpha val="80000"/>
                      </a:schemeClr>
                    </a:solidFill>
                  </a:tcPr>
                </a:tc>
                <a:extLst>
                  <a:ext uri="{0D108BD9-81ED-4DB2-BD59-A6C34878D82A}">
                    <a16:rowId xmlns:a16="http://schemas.microsoft.com/office/drawing/2014/main" val="10000"/>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2026</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UI Boustead REIT</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S$974m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7298680"/>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2025</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Centurion Accommodation</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S$771m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2638932"/>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2025</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NTT DC</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US$773m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19544338"/>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2021</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Digital Core</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US$600m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6161816"/>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2021</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Daiwa House Logistics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S$464m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13355481"/>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2020</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United Hampshire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US$310m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None/>
                        <a:tabLst/>
                        <a:defRPr/>
                      </a:pPr>
                      <a:r>
                        <a:rPr kumimoji="0" lang="en-US" altLang="zh-CN"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9144518"/>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2020</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Elite Commercial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£131m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None/>
                        <a:tabLst/>
                        <a:defRPr/>
                      </a:pPr>
                      <a:r>
                        <a:rPr kumimoji="0" lang="en-US" altLang="zh-CN"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92613719"/>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2019</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Lendlease Global Comm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S$740m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0134988"/>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2019</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Prime US</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US$628m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07921476"/>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2019</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Eagle Hospitality</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US$566m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79253208"/>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2019</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ARA US Hospitality</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US$451m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6031793"/>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2018</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err="1">
                          <a:ln>
                            <a:noFill/>
                          </a:ln>
                          <a:solidFill>
                            <a:schemeClr val="tx1"/>
                          </a:solidFill>
                          <a:effectLst/>
                          <a:latin typeface="Arial" panose="020B0604020202020204" pitchFamily="34" charset="0"/>
                          <a:ea typeface="MS PGothic" pitchFamily="34" charset="-128"/>
                          <a:cs typeface="Arial" panose="020B0604020202020204" pitchFamily="34" charset="0"/>
                        </a:rPr>
                        <a:t>Sasseur</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S$396m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3004866"/>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2017</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Cromwell European</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€866m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4265181"/>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2017</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Keppel-KBS US</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US$476m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2775732"/>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2017</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err="1">
                          <a:ln>
                            <a:noFill/>
                          </a:ln>
                          <a:solidFill>
                            <a:schemeClr val="tx1"/>
                          </a:solidFill>
                          <a:effectLst/>
                          <a:latin typeface="Arial" panose="020B0604020202020204" pitchFamily="34" charset="0"/>
                          <a:ea typeface="MS PGothic" pitchFamily="34" charset="-128"/>
                          <a:cs typeface="Arial" panose="020B0604020202020204" pitchFamily="34" charset="0"/>
                        </a:rPr>
                        <a:t>NetLink</a:t>
                      </a: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 NBN</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S$2,374m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8144">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2017</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err="1">
                          <a:ln>
                            <a:noFill/>
                          </a:ln>
                          <a:solidFill>
                            <a:schemeClr val="tx1"/>
                          </a:solidFill>
                          <a:effectLst/>
                          <a:latin typeface="Arial" panose="020B0604020202020204" pitchFamily="34" charset="0"/>
                          <a:ea typeface="MS PGothic" pitchFamily="34" charset="-128"/>
                          <a:cs typeface="Arial" panose="020B0604020202020204" pitchFamily="34" charset="0"/>
                        </a:rPr>
                        <a:t>Dasin</a:t>
                      </a: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 Retail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S$154m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8144">
                <a:tc>
                  <a:txBody>
                    <a:bodyPr/>
                    <a:lstStyle/>
                    <a:p>
                      <a:pPr marL="0" marR="0" lvl="0" indent="0" algn="ctr" defTabSz="914400" rtl="0" eaLnBrk="1" fontAlgn="base" latinLnBrk="0" hangingPunct="1">
                        <a:lnSpc>
                          <a:spcPct val="100000"/>
                        </a:lnSpc>
                        <a:spcBef>
                          <a:spcPts val="300"/>
                        </a:spcBef>
                        <a:spcAft>
                          <a:spcPct val="0"/>
                        </a:spcAft>
                        <a:buClr>
                          <a:srgbClr val="CC0000"/>
                        </a:buClr>
                        <a:buSzTx/>
                        <a:buFont typeface="HelveticaNeue LT 46 LightIt"/>
                        <a:buNone/>
                        <a:tabLst>
                          <a:tab pos="855663" algn="l"/>
                        </a:tabLst>
                        <a:defRPr/>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2016</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EC World</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S$364m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3837621"/>
                  </a:ext>
                </a:extLst>
              </a:tr>
              <a:tr h="238144">
                <a:tc>
                  <a:txBody>
                    <a:bodyPr/>
                    <a:lstStyle/>
                    <a:p>
                      <a:pPr marL="0" marR="0" lvl="0" indent="0" algn="ctr" defTabSz="914400" rtl="0" eaLnBrk="1" fontAlgn="base" latinLnBrk="0" hangingPunct="1">
                        <a:lnSpc>
                          <a:spcPct val="100000"/>
                        </a:lnSpc>
                        <a:spcBef>
                          <a:spcPts val="300"/>
                        </a:spcBef>
                        <a:spcAft>
                          <a:spcPct val="0"/>
                        </a:spcAft>
                        <a:buClr>
                          <a:srgbClr val="CC0000"/>
                        </a:buClr>
                        <a:buSzTx/>
                        <a:buFont typeface="HelveticaNeue LT 46 LightIt"/>
                        <a:buNone/>
                        <a:tabLst>
                          <a:tab pos="855663" algn="l"/>
                        </a:tabLst>
                        <a:defRPr/>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2016</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Frasers Logistics &amp; Industrial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S$928m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3237529"/>
                  </a:ext>
                </a:extLst>
              </a:tr>
              <a:tr h="238144">
                <a:tc>
                  <a:txBody>
                    <a:bodyPr/>
                    <a:lstStyle/>
                    <a:p>
                      <a:pPr marL="0" marR="0" lvl="0" indent="0" algn="ctr" defTabSz="914400" rtl="0" eaLnBrk="1" fontAlgn="base" latinLnBrk="0" hangingPunct="1">
                        <a:lnSpc>
                          <a:spcPct val="100000"/>
                        </a:lnSpc>
                        <a:spcBef>
                          <a:spcPts val="300"/>
                        </a:spcBef>
                        <a:spcAft>
                          <a:spcPct val="0"/>
                        </a:spcAft>
                        <a:buClr>
                          <a:srgbClr val="CC0000"/>
                        </a:buClr>
                        <a:buSzTx/>
                        <a:buFont typeface="HelveticaNeue LT 46 LightIt"/>
                        <a:buNone/>
                        <a:tabLst>
                          <a:tab pos="855663" algn="l"/>
                        </a:tabLst>
                        <a:defRPr/>
                      </a:pPr>
                      <a:r>
                        <a:rPr kumimoji="0" lang="en-SG" sz="900" b="0" i="0" u="none" strike="noStrike" kern="1200" cap="none" spc="0" normalizeH="0" baseline="0" noProof="0">
                          <a:ln>
                            <a:noFill/>
                          </a:ln>
                          <a:solidFill>
                            <a:srgbClr val="000000"/>
                          </a:solidFill>
                          <a:effectLst/>
                          <a:uLnTx/>
                          <a:uFillTx/>
                          <a:latin typeface="Arial" panose="020B0604020202020204" pitchFamily="34" charset="0"/>
                          <a:ea typeface="MS PGothic" pitchFamily="34" charset="-128"/>
                          <a:cs typeface="Arial" panose="020B0604020202020204" pitchFamily="34" charset="0"/>
                        </a:rPr>
                        <a:t>2016</a:t>
                      </a:r>
                    </a:p>
                  </a:txBody>
                  <a:tcPr marL="18000" marR="18000" marT="18000" marB="18000" anchor="ctr" horzOverflow="overflow">
                    <a:lnL w="6350" cap="flat" cmpd="sng" algn="ctr">
                      <a:noFill/>
                      <a:prstDash val="sys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Manulife US</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US$470m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30531357"/>
                  </a:ext>
                </a:extLst>
              </a:tr>
            </a:tbl>
          </a:graphicData>
        </a:graphic>
      </p:graphicFrame>
      <p:sp>
        <p:nvSpPr>
          <p:cNvPr id="16" name="Rectangle 15">
            <a:extLst>
              <a:ext uri="{FF2B5EF4-FFF2-40B4-BE49-F238E27FC236}">
                <a16:creationId xmlns:a16="http://schemas.microsoft.com/office/drawing/2014/main" id="{35ACF119-C558-5AEE-256C-97E3E68A62B2}"/>
              </a:ext>
            </a:extLst>
          </p:cNvPr>
          <p:cNvSpPr/>
          <p:nvPr/>
        </p:nvSpPr>
        <p:spPr bwMode="auto">
          <a:xfrm>
            <a:off x="451166" y="1661875"/>
            <a:ext cx="3042533" cy="710105"/>
          </a:xfrm>
          <a:prstGeom prst="rect">
            <a:avLst/>
          </a:prstGeom>
          <a:solidFill>
            <a:srgbClr val="92D050">
              <a:alpha val="20000"/>
            </a:srgbClr>
          </a:solidFill>
          <a:ln>
            <a:solidFill>
              <a:schemeClr val="bg1">
                <a:lumMod val="75000"/>
              </a:schemeClr>
            </a:solidFill>
            <a:prstDash val="dash"/>
          </a:ln>
          <a:effectLst/>
        </p:spPr>
        <p:txBody>
          <a:bodyPr vert="horz" wrap="square" lIns="91440" tIns="45720" rIns="91440" bIns="45720" numCol="1" rtlCol="0"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SG" sz="2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3EEA2930-1365-DFB0-0760-32A8BB62484F}"/>
              </a:ext>
            </a:extLst>
          </p:cNvPr>
          <p:cNvSpPr>
            <a:spLocks noGrp="1"/>
          </p:cNvSpPr>
          <p:nvPr>
            <p:ph type="title"/>
          </p:nvPr>
        </p:nvSpPr>
        <p:spPr/>
        <p:txBody>
          <a:bodyPr/>
          <a:lstStyle/>
          <a:p>
            <a:r>
              <a:rPr lang="en-SG"/>
              <a:t>Resurgence of S-REIT IPO market activity in 2025 and 2026, after a hiatus of three years …</a:t>
            </a:r>
          </a:p>
        </p:txBody>
      </p:sp>
      <p:sp>
        <p:nvSpPr>
          <p:cNvPr id="3" name="Slide Number Placeholder 2">
            <a:extLst>
              <a:ext uri="{FF2B5EF4-FFF2-40B4-BE49-F238E27FC236}">
                <a16:creationId xmlns:a16="http://schemas.microsoft.com/office/drawing/2014/main" id="{2E082DCD-8B52-4FA0-B95F-82139C6CC60C}"/>
              </a:ext>
            </a:extLst>
          </p:cNvPr>
          <p:cNvSpPr>
            <a:spLocks noGrp="1"/>
          </p:cNvSpPr>
          <p:nvPr>
            <p:ph type="sldNum" sz="quarter" idx="11"/>
          </p:nvPr>
        </p:nvSpPr>
        <p:spPr/>
        <p:txBody>
          <a:bodyPr/>
          <a:lstStyle/>
          <a:p>
            <a:pPr>
              <a:defRPr/>
            </a:pPr>
            <a:fld id="{EED7964B-8F50-47E5-B5EE-37748C966AF4}" type="slidenum">
              <a:rPr lang="en-US" smtClean="0"/>
              <a:pPr>
                <a:defRPr/>
              </a:pPr>
              <a:t>6</a:t>
            </a:fld>
            <a:endParaRPr lang="en-US"/>
          </a:p>
        </p:txBody>
      </p:sp>
      <p:sp>
        <p:nvSpPr>
          <p:cNvPr id="8" name="Text Placeholder 7">
            <a:extLst>
              <a:ext uri="{FF2B5EF4-FFF2-40B4-BE49-F238E27FC236}">
                <a16:creationId xmlns:a16="http://schemas.microsoft.com/office/drawing/2014/main" id="{D7414C3B-EB3F-73C0-089C-77AA76D4CB27}"/>
              </a:ext>
            </a:extLst>
          </p:cNvPr>
          <p:cNvSpPr>
            <a:spLocks noGrp="1"/>
          </p:cNvSpPr>
          <p:nvPr>
            <p:ph type="body" sz="quarter" idx="46"/>
          </p:nvPr>
        </p:nvSpPr>
        <p:spPr/>
        <p:txBody>
          <a:bodyPr/>
          <a:lstStyle/>
          <a:p>
            <a:endParaRPr lang="en-SG"/>
          </a:p>
        </p:txBody>
      </p:sp>
      <p:pic>
        <p:nvPicPr>
          <p:cNvPr id="5" name="Picture 4">
            <a:extLst>
              <a:ext uri="{FF2B5EF4-FFF2-40B4-BE49-F238E27FC236}">
                <a16:creationId xmlns:a16="http://schemas.microsoft.com/office/drawing/2014/main" id="{6DA6ECF2-1AA8-85EE-F74B-74A3688EEAE1}"/>
              </a:ext>
            </a:extLst>
          </p:cNvPr>
          <p:cNvPicPr>
            <a:picLocks noChangeAspect="1"/>
          </p:cNvPicPr>
          <p:nvPr/>
        </p:nvPicPr>
        <p:blipFill>
          <a:blip r:embed="rId3"/>
          <a:stretch>
            <a:fillRect/>
          </a:stretch>
        </p:blipFill>
        <p:spPr>
          <a:xfrm>
            <a:off x="6297105" y="4720826"/>
            <a:ext cx="3155895" cy="1857376"/>
          </a:xfrm>
          <a:prstGeom prst="rect">
            <a:avLst/>
          </a:prstGeom>
        </p:spPr>
      </p:pic>
      <p:pic>
        <p:nvPicPr>
          <p:cNvPr id="6" name="Picture 5">
            <a:extLst>
              <a:ext uri="{FF2B5EF4-FFF2-40B4-BE49-F238E27FC236}">
                <a16:creationId xmlns:a16="http://schemas.microsoft.com/office/drawing/2014/main" id="{250A96D7-FE28-4F4B-47EE-5E6328293BDE}"/>
              </a:ext>
            </a:extLst>
          </p:cNvPr>
          <p:cNvPicPr>
            <a:picLocks noChangeAspect="1"/>
          </p:cNvPicPr>
          <p:nvPr/>
        </p:nvPicPr>
        <p:blipFill>
          <a:blip r:embed="rId4"/>
          <a:stretch>
            <a:fillRect/>
          </a:stretch>
        </p:blipFill>
        <p:spPr>
          <a:xfrm>
            <a:off x="6410369" y="3042830"/>
            <a:ext cx="2934210" cy="1575386"/>
          </a:xfrm>
          <a:prstGeom prst="rect">
            <a:avLst/>
          </a:prstGeom>
        </p:spPr>
      </p:pic>
      <p:sp>
        <p:nvSpPr>
          <p:cNvPr id="19" name="TextBox 18">
            <a:extLst>
              <a:ext uri="{FF2B5EF4-FFF2-40B4-BE49-F238E27FC236}">
                <a16:creationId xmlns:a16="http://schemas.microsoft.com/office/drawing/2014/main" id="{9D3A1BC6-C49C-3D0D-6DE8-2F3EE5F6F614}"/>
              </a:ext>
            </a:extLst>
          </p:cNvPr>
          <p:cNvSpPr txBox="1">
            <a:spLocks noChangeArrowheads="1"/>
          </p:cNvSpPr>
          <p:nvPr/>
        </p:nvSpPr>
        <p:spPr bwMode="auto">
          <a:xfrm>
            <a:off x="451167" y="1006345"/>
            <a:ext cx="3042533" cy="247066"/>
          </a:xfrm>
          <a:prstGeom prst="roundRect">
            <a:avLst>
              <a:gd name="adj" fmla="val 50000"/>
            </a:avLst>
          </a:prstGeom>
          <a:solidFill>
            <a:srgbClr val="089C8B"/>
          </a:solidFill>
          <a:ln w="6350" cap="flat" cmpd="sng" algn="ctr">
            <a:noFill/>
            <a:prstDash val="solid"/>
            <a:miter lim="800000"/>
            <a:headEnd/>
            <a:tailEnd/>
          </a:ln>
          <a:effectLst>
            <a:outerShdw blurRad="50800" dist="38100" dir="5400000" algn="t" rotWithShape="0">
              <a:prstClr val="black">
                <a:alpha val="40000"/>
              </a:prstClr>
            </a:outerShdw>
          </a:effectLst>
        </p:spPr>
        <p:txBody>
          <a:bodyPr lIns="0" tIns="10800" rIns="0" bIns="10800" anchor="ctr" anchorCtr="0">
            <a:spAutoFit/>
          </a:bodyPr>
          <a:lstStyle/>
          <a:p>
            <a:pPr lvl="0" algn="ctr">
              <a:defRPr/>
            </a:pPr>
            <a:r>
              <a:rPr lang="en-SG" sz="1000" kern="0">
                <a:solidFill>
                  <a:srgbClr val="FFFFFF"/>
                </a:solidFill>
                <a:latin typeface="Arial" panose="020B0604020202020204" pitchFamily="34" charset="0"/>
                <a:cs typeface="Arial" panose="020B0604020202020204" pitchFamily="34" charset="0"/>
              </a:rPr>
              <a:t>SGX S-REIT Initial Public Offerings</a:t>
            </a:r>
            <a:endParaRPr lang="en-SG" sz="1000" kern="0" baseline="30000">
              <a:solidFill>
                <a:srgbClr val="FFFFFF"/>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9846127F-1625-05A6-A2A4-C481C4CD1B99}"/>
              </a:ext>
            </a:extLst>
          </p:cNvPr>
          <p:cNvCxnSpPr>
            <a:cxnSpLocks/>
          </p:cNvCxnSpPr>
          <p:nvPr/>
        </p:nvCxnSpPr>
        <p:spPr bwMode="auto">
          <a:xfrm>
            <a:off x="4498713" y="4720826"/>
            <a:ext cx="4896000" cy="0"/>
          </a:xfrm>
          <a:prstGeom prst="line">
            <a:avLst/>
          </a:prstGeom>
          <a:ln w="6350">
            <a:solidFill>
              <a:schemeClr val="bg1">
                <a:lumMod val="75000"/>
              </a:schemeClr>
            </a:solidFill>
            <a:prstDash val="dash"/>
          </a:ln>
        </p:spPr>
        <p:style>
          <a:lnRef idx="1">
            <a:schemeClr val="dk1"/>
          </a:lnRef>
          <a:fillRef idx="0">
            <a:schemeClr val="dk1"/>
          </a:fillRef>
          <a:effectRef idx="0">
            <a:schemeClr val="dk1"/>
          </a:effectRef>
          <a:fontRef idx="minor">
            <a:schemeClr val="tx1"/>
          </a:fontRef>
        </p:style>
      </p:cxnSp>
      <p:grpSp>
        <p:nvGrpSpPr>
          <p:cNvPr id="100" name="Group 99">
            <a:extLst>
              <a:ext uri="{FF2B5EF4-FFF2-40B4-BE49-F238E27FC236}">
                <a16:creationId xmlns:a16="http://schemas.microsoft.com/office/drawing/2014/main" id="{71F96EE8-E252-E7C3-FDD2-212FC90ACE2D}"/>
              </a:ext>
            </a:extLst>
          </p:cNvPr>
          <p:cNvGrpSpPr/>
          <p:nvPr/>
        </p:nvGrpSpPr>
        <p:grpSpPr>
          <a:xfrm>
            <a:off x="8484243" y="2318524"/>
            <a:ext cx="987354" cy="598242"/>
            <a:chOff x="8683404" y="2183139"/>
            <a:chExt cx="987354" cy="598242"/>
          </a:xfrm>
        </p:grpSpPr>
        <p:grpSp>
          <p:nvGrpSpPr>
            <p:cNvPr id="99" name="Group 98">
              <a:extLst>
                <a:ext uri="{FF2B5EF4-FFF2-40B4-BE49-F238E27FC236}">
                  <a16:creationId xmlns:a16="http://schemas.microsoft.com/office/drawing/2014/main" id="{FBFF323F-BCC6-F215-603F-5979EFA70FB5}"/>
                </a:ext>
              </a:extLst>
            </p:cNvPr>
            <p:cNvGrpSpPr/>
            <p:nvPr/>
          </p:nvGrpSpPr>
          <p:grpSpPr>
            <a:xfrm>
              <a:off x="8683404" y="2673659"/>
              <a:ext cx="987354" cy="107722"/>
              <a:chOff x="8683404" y="2843455"/>
              <a:chExt cx="987354" cy="107722"/>
            </a:xfrm>
          </p:grpSpPr>
          <p:sp>
            <p:nvSpPr>
              <p:cNvPr id="29" name="TextBox 28">
                <a:extLst>
                  <a:ext uri="{FF2B5EF4-FFF2-40B4-BE49-F238E27FC236}">
                    <a16:creationId xmlns:a16="http://schemas.microsoft.com/office/drawing/2014/main" id="{BAC0C7F3-A515-AA8B-D5C5-7741B271D4FD}"/>
                  </a:ext>
                </a:extLst>
              </p:cNvPr>
              <p:cNvSpPr txBox="1"/>
              <p:nvPr/>
            </p:nvSpPr>
            <p:spPr>
              <a:xfrm>
                <a:off x="8885287" y="2843455"/>
                <a:ext cx="785471" cy="107722"/>
              </a:xfrm>
              <a:prstGeom prst="rect">
                <a:avLst/>
              </a:prstGeom>
              <a:noFill/>
              <a:ln>
                <a:noFill/>
              </a:ln>
            </p:spPr>
            <p:txBody>
              <a:bodyPr wrap="none" lIns="0" tIns="0" rIns="0" bIns="0" rtlCol="0">
                <a:spAutoFit/>
              </a:bodyPr>
              <a:lstStyle/>
              <a:p>
                <a:pPr marR="0" lvl="0" indent="0" defTabSz="457200" eaLnBrk="1" fontAlgn="auto" latinLnBrk="0" hangingPunct="1">
                  <a:lnSpc>
                    <a:spcPct val="100000"/>
                  </a:lnSpc>
                  <a:spcBef>
                    <a:spcPts val="0"/>
                  </a:spcBef>
                  <a:spcAft>
                    <a:spcPts val="0"/>
                  </a:spcAft>
                  <a:buClrTx/>
                  <a:buSzTx/>
                  <a:buFontTx/>
                  <a:buNone/>
                  <a:tabLst/>
                  <a:defRPr/>
                </a:pPr>
                <a:r>
                  <a:rPr kumimoji="0" lang="en-US" altLang="zh-CN" sz="700" b="0" i="0" u="none" strike="noStrike" kern="0" cap="none" spc="0" normalizeH="0" baseline="0" noProof="0">
                    <a:ln>
                      <a:noFill/>
                    </a:ln>
                    <a:solidFill>
                      <a:srgbClr val="000000"/>
                    </a:solidFill>
                    <a:effectLst/>
                    <a:uLnTx/>
                    <a:uFillTx/>
                    <a:latin typeface="Roboto" panose="02000000000000000000" pitchFamily="2" charset="0"/>
                  </a:rPr>
                  <a:t>Major Expressways</a:t>
                </a:r>
              </a:p>
            </p:txBody>
          </p:sp>
          <p:cxnSp>
            <p:nvCxnSpPr>
              <p:cNvPr id="30" name="Straight Connector 29">
                <a:extLst>
                  <a:ext uri="{FF2B5EF4-FFF2-40B4-BE49-F238E27FC236}">
                    <a16:creationId xmlns:a16="http://schemas.microsoft.com/office/drawing/2014/main" id="{8AFE886D-1228-7410-E682-4C06063E9DD9}"/>
                  </a:ext>
                </a:extLst>
              </p:cNvPr>
              <p:cNvCxnSpPr>
                <a:cxnSpLocks/>
              </p:cNvCxnSpPr>
              <p:nvPr/>
            </p:nvCxnSpPr>
            <p:spPr bwMode="auto">
              <a:xfrm>
                <a:off x="8683404" y="2897316"/>
                <a:ext cx="125882" cy="0"/>
              </a:xfrm>
              <a:prstGeom prst="line">
                <a:avLst/>
              </a:prstGeom>
              <a:solidFill>
                <a:srgbClr val="245BE2"/>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3" name="Oval 72">
              <a:extLst>
                <a:ext uri="{FF2B5EF4-FFF2-40B4-BE49-F238E27FC236}">
                  <a16:creationId xmlns:a16="http://schemas.microsoft.com/office/drawing/2014/main" id="{8D06144F-3D29-73A4-0A10-1972FBCC8FB6}"/>
                </a:ext>
              </a:extLst>
            </p:cNvPr>
            <p:cNvSpPr>
              <a:spLocks noChangeAspect="1"/>
            </p:cNvSpPr>
            <p:nvPr/>
          </p:nvSpPr>
          <p:spPr bwMode="auto">
            <a:xfrm>
              <a:off x="8696117" y="2183139"/>
              <a:ext cx="95694" cy="95694"/>
            </a:xfrm>
            <a:prstGeom prst="ellipse">
              <a:avLst/>
            </a:prstGeom>
            <a:solidFill>
              <a:srgbClr val="1A2B3B"/>
            </a:solidFill>
            <a:ln w="6350" cap="flat" cmpd="sng" algn="ctr">
              <a:solidFill>
                <a:srgbClr val="FFFFFF"/>
              </a:solidFill>
              <a:prstDash val="solid"/>
              <a:round/>
              <a:headEnd type="none" w="med" len="med"/>
              <a:tailEnd type="none" w="med" len="med"/>
            </a:ln>
            <a:effectLst/>
          </p:spPr>
          <p:txBody>
            <a:bodyPr vert="horz" wrap="none" lIns="274320" tIns="0" rIns="0" bIns="0" numCol="1" rtlCol="0" anchor="ctr" anchorCtr="0" compatLnSpc="1">
              <a:prstTxWarp prst="textNoShape">
                <a:avLst/>
              </a:prstTxWarp>
            </a:bodyPr>
            <a:lstStyle/>
            <a:p>
              <a:pPr marL="0" marR="0" lvl="0" indent="0" defTabSz="914324"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000000"/>
                  </a:solidFill>
                  <a:effectLst/>
                  <a:uLnTx/>
                  <a:uFillTx/>
                  <a:latin typeface="Roboto" panose="02000000000000000000" pitchFamily="2" charset="0"/>
                </a:rPr>
                <a:t>Logistics</a:t>
              </a:r>
            </a:p>
          </p:txBody>
        </p:sp>
        <p:sp>
          <p:nvSpPr>
            <p:cNvPr id="74" name="Oval 73">
              <a:extLst>
                <a:ext uri="{FF2B5EF4-FFF2-40B4-BE49-F238E27FC236}">
                  <a16:creationId xmlns:a16="http://schemas.microsoft.com/office/drawing/2014/main" id="{76434C65-40C8-2BA2-BA69-C1E9755A5E4D}"/>
                </a:ext>
              </a:extLst>
            </p:cNvPr>
            <p:cNvSpPr>
              <a:spLocks noChangeAspect="1"/>
            </p:cNvSpPr>
            <p:nvPr/>
          </p:nvSpPr>
          <p:spPr bwMode="auto">
            <a:xfrm>
              <a:off x="8696117" y="2308052"/>
              <a:ext cx="95694" cy="95694"/>
            </a:xfrm>
            <a:prstGeom prst="ellipse">
              <a:avLst/>
            </a:prstGeom>
            <a:solidFill>
              <a:srgbClr val="1F6191"/>
            </a:solidFill>
            <a:ln w="6350" cap="flat" cmpd="sng" algn="ctr">
              <a:solidFill>
                <a:srgbClr val="FFFFFF"/>
              </a:solidFill>
              <a:prstDash val="solid"/>
              <a:round/>
              <a:headEnd type="none" w="med" len="med"/>
              <a:tailEnd type="none" w="med" len="med"/>
            </a:ln>
            <a:effectLst/>
          </p:spPr>
          <p:txBody>
            <a:bodyPr vert="horz" wrap="none" lIns="274320" tIns="0" rIns="0" bIns="0" numCol="1" rtlCol="0" anchor="ctr" anchorCtr="0" compatLnSpc="1">
              <a:prstTxWarp prst="textNoShape">
                <a:avLst/>
              </a:prstTxWarp>
            </a:bodyPr>
            <a:lstStyle/>
            <a:p>
              <a:pPr marL="0" marR="0" lvl="0" indent="0" defTabSz="914324"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000000"/>
                  </a:solidFill>
                  <a:effectLst/>
                  <a:uLnTx/>
                  <a:uFillTx/>
                  <a:latin typeface="Roboto" panose="02000000000000000000" pitchFamily="2" charset="0"/>
                </a:rPr>
                <a:t>Business Space</a:t>
              </a:r>
            </a:p>
          </p:txBody>
        </p:sp>
        <p:sp>
          <p:nvSpPr>
            <p:cNvPr id="75" name="Oval 74">
              <a:extLst>
                <a:ext uri="{FF2B5EF4-FFF2-40B4-BE49-F238E27FC236}">
                  <a16:creationId xmlns:a16="http://schemas.microsoft.com/office/drawing/2014/main" id="{48C32DB7-C715-10A0-580B-7E31A6CF568C}"/>
                </a:ext>
              </a:extLst>
            </p:cNvPr>
            <p:cNvSpPr>
              <a:spLocks noChangeAspect="1"/>
            </p:cNvSpPr>
            <p:nvPr/>
          </p:nvSpPr>
          <p:spPr bwMode="auto">
            <a:xfrm>
              <a:off x="8696117" y="2432965"/>
              <a:ext cx="95694" cy="95694"/>
            </a:xfrm>
            <a:prstGeom prst="ellipse">
              <a:avLst/>
            </a:prstGeom>
            <a:solidFill>
              <a:srgbClr val="DBA31D"/>
            </a:solidFill>
            <a:ln w="6350" cap="flat" cmpd="sng" algn="ctr">
              <a:solidFill>
                <a:srgbClr val="FFFFFF"/>
              </a:solidFill>
              <a:prstDash val="solid"/>
              <a:round/>
              <a:headEnd type="none" w="med" len="med"/>
              <a:tailEnd type="none" w="med" len="med"/>
            </a:ln>
            <a:effectLst/>
          </p:spPr>
          <p:txBody>
            <a:bodyPr vert="horz" wrap="none" lIns="274320" tIns="0" rIns="0" bIns="0" numCol="1" rtlCol="0" anchor="ctr" anchorCtr="0" compatLnSpc="1">
              <a:prstTxWarp prst="textNoShape">
                <a:avLst/>
              </a:prstTxWarp>
            </a:bodyPr>
            <a:lstStyle/>
            <a:p>
              <a:pPr marL="0" marR="0" lvl="0" indent="0" defTabSz="914324"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000000"/>
                  </a:solidFill>
                  <a:effectLst/>
                  <a:uLnTx/>
                  <a:uFillTx/>
                  <a:latin typeface="Roboto" panose="02000000000000000000" pitchFamily="2" charset="0"/>
                </a:rPr>
                <a:t>Hi-Specs Industrial</a:t>
              </a:r>
            </a:p>
          </p:txBody>
        </p:sp>
        <p:sp>
          <p:nvSpPr>
            <p:cNvPr id="76" name="Oval 75">
              <a:extLst>
                <a:ext uri="{FF2B5EF4-FFF2-40B4-BE49-F238E27FC236}">
                  <a16:creationId xmlns:a16="http://schemas.microsoft.com/office/drawing/2014/main" id="{91136AAF-4248-CA09-773F-8394601D39F0}"/>
                </a:ext>
              </a:extLst>
            </p:cNvPr>
            <p:cNvSpPr>
              <a:spLocks noChangeAspect="1"/>
            </p:cNvSpPr>
            <p:nvPr/>
          </p:nvSpPr>
          <p:spPr bwMode="auto">
            <a:xfrm>
              <a:off x="8696117" y="2557878"/>
              <a:ext cx="95694" cy="95694"/>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vert="horz" wrap="none" lIns="274320" tIns="0" rIns="0" bIns="0" numCol="1" rtlCol="0" anchor="ctr" anchorCtr="0" compatLnSpc="1">
              <a:prstTxWarp prst="textNoShape">
                <a:avLst/>
              </a:prstTxWarp>
            </a:bodyPr>
            <a:lstStyle/>
            <a:p>
              <a:pPr marL="0" marR="0" lvl="0" indent="0" defTabSz="914324"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000000"/>
                  </a:solidFill>
                  <a:effectLst/>
                  <a:uLnTx/>
                  <a:uFillTx/>
                  <a:latin typeface="Roboto" panose="02000000000000000000" pitchFamily="2" charset="0"/>
                </a:rPr>
                <a:t>General Industrial</a:t>
              </a:r>
            </a:p>
          </p:txBody>
        </p:sp>
      </p:grpSp>
      <p:grpSp>
        <p:nvGrpSpPr>
          <p:cNvPr id="82" name="Group 81">
            <a:extLst>
              <a:ext uri="{FF2B5EF4-FFF2-40B4-BE49-F238E27FC236}">
                <a16:creationId xmlns:a16="http://schemas.microsoft.com/office/drawing/2014/main" id="{E8909F5D-7090-B86D-2616-243A1452EF1F}"/>
              </a:ext>
            </a:extLst>
          </p:cNvPr>
          <p:cNvGrpSpPr/>
          <p:nvPr/>
        </p:nvGrpSpPr>
        <p:grpSpPr>
          <a:xfrm>
            <a:off x="6646071" y="1013086"/>
            <a:ext cx="2806929" cy="1840882"/>
            <a:chOff x="10683061" y="917513"/>
            <a:chExt cx="4588894" cy="3009556"/>
          </a:xfrm>
        </p:grpSpPr>
        <p:grpSp>
          <p:nvGrpSpPr>
            <p:cNvPr id="31" name="Group 30">
              <a:extLst>
                <a:ext uri="{FF2B5EF4-FFF2-40B4-BE49-F238E27FC236}">
                  <a16:creationId xmlns:a16="http://schemas.microsoft.com/office/drawing/2014/main" id="{B0CBAEDA-A35C-D641-984A-8B15330204E7}"/>
                </a:ext>
              </a:extLst>
            </p:cNvPr>
            <p:cNvGrpSpPr/>
            <p:nvPr/>
          </p:nvGrpSpPr>
          <p:grpSpPr>
            <a:xfrm>
              <a:off x="10683061" y="917513"/>
              <a:ext cx="4588894" cy="3009556"/>
              <a:chOff x="2685000" y="1087756"/>
              <a:chExt cx="4536000" cy="2974866"/>
            </a:xfrm>
          </p:grpSpPr>
          <p:sp>
            <p:nvSpPr>
              <p:cNvPr id="32" name="Freeform: Shape 31">
                <a:extLst>
                  <a:ext uri="{FF2B5EF4-FFF2-40B4-BE49-F238E27FC236}">
                    <a16:creationId xmlns:a16="http://schemas.microsoft.com/office/drawing/2014/main" id="{247FF625-9D52-1FBD-3856-BDFCC66CF9D4}"/>
                  </a:ext>
                </a:extLst>
              </p:cNvPr>
              <p:cNvSpPr/>
              <p:nvPr/>
            </p:nvSpPr>
            <p:spPr>
              <a:xfrm>
                <a:off x="2685000" y="1087756"/>
                <a:ext cx="4536000" cy="2974866"/>
              </a:xfrm>
              <a:custGeom>
                <a:avLst/>
                <a:gdLst>
                  <a:gd name="connsiteX0" fmla="*/ 3102102 w 7143371"/>
                  <a:gd name="connsiteY0" fmla="*/ 476 h 4684871"/>
                  <a:gd name="connsiteX1" fmla="*/ 3038570 w 7143371"/>
                  <a:gd name="connsiteY1" fmla="*/ 10668 h 4684871"/>
                  <a:gd name="connsiteX2" fmla="*/ 3020092 w 7143371"/>
                  <a:gd name="connsiteY2" fmla="*/ 5334 h 4684871"/>
                  <a:gd name="connsiteX3" fmla="*/ 2929890 w 7143371"/>
                  <a:gd name="connsiteY3" fmla="*/ 19431 h 4684871"/>
                  <a:gd name="connsiteX4" fmla="*/ 2890647 w 7143371"/>
                  <a:gd name="connsiteY4" fmla="*/ 40767 h 4684871"/>
                  <a:gd name="connsiteX5" fmla="*/ 2878455 w 7143371"/>
                  <a:gd name="connsiteY5" fmla="*/ 57245 h 4684871"/>
                  <a:gd name="connsiteX6" fmla="*/ 2863596 w 7143371"/>
                  <a:gd name="connsiteY6" fmla="*/ 62008 h 4684871"/>
                  <a:gd name="connsiteX7" fmla="*/ 2808923 w 7143371"/>
                  <a:gd name="connsiteY7" fmla="*/ 93726 h 4684871"/>
                  <a:gd name="connsiteX8" fmla="*/ 2762917 w 7143371"/>
                  <a:gd name="connsiteY8" fmla="*/ 126492 h 4684871"/>
                  <a:gd name="connsiteX9" fmla="*/ 2721102 w 7143371"/>
                  <a:gd name="connsiteY9" fmla="*/ 150876 h 4684871"/>
                  <a:gd name="connsiteX10" fmla="*/ 2644997 w 7143371"/>
                  <a:gd name="connsiteY10" fmla="*/ 205550 h 4684871"/>
                  <a:gd name="connsiteX11" fmla="*/ 2580132 w 7143371"/>
                  <a:gd name="connsiteY11" fmla="*/ 260318 h 4684871"/>
                  <a:gd name="connsiteX12" fmla="*/ 2510219 w 7143371"/>
                  <a:gd name="connsiteY12" fmla="*/ 286893 h 4684871"/>
                  <a:gd name="connsiteX13" fmla="*/ 2448116 w 7143371"/>
                  <a:gd name="connsiteY13" fmla="*/ 327946 h 4684871"/>
                  <a:gd name="connsiteX14" fmla="*/ 2413349 w 7143371"/>
                  <a:gd name="connsiteY14" fmla="*/ 346996 h 4684871"/>
                  <a:gd name="connsiteX15" fmla="*/ 2385536 w 7143371"/>
                  <a:gd name="connsiteY15" fmla="*/ 377000 h 4684871"/>
                  <a:gd name="connsiteX16" fmla="*/ 2383441 w 7143371"/>
                  <a:gd name="connsiteY16" fmla="*/ 401098 h 4684871"/>
                  <a:gd name="connsiteX17" fmla="*/ 2361819 w 7143371"/>
                  <a:gd name="connsiteY17" fmla="*/ 402717 h 4684871"/>
                  <a:gd name="connsiteX18" fmla="*/ 2352104 w 7143371"/>
                  <a:gd name="connsiteY18" fmla="*/ 413576 h 4684871"/>
                  <a:gd name="connsiteX19" fmla="*/ 2347913 w 7143371"/>
                  <a:gd name="connsiteY19" fmla="*/ 441103 h 4684871"/>
                  <a:gd name="connsiteX20" fmla="*/ 2332387 w 7143371"/>
                  <a:gd name="connsiteY20" fmla="*/ 448913 h 4684871"/>
                  <a:gd name="connsiteX21" fmla="*/ 2302002 w 7143371"/>
                  <a:gd name="connsiteY21" fmla="*/ 484346 h 4684871"/>
                  <a:gd name="connsiteX22" fmla="*/ 2189702 w 7143371"/>
                  <a:gd name="connsiteY22" fmla="*/ 487680 h 4684871"/>
                  <a:gd name="connsiteX23" fmla="*/ 2175034 w 7143371"/>
                  <a:gd name="connsiteY23" fmla="*/ 501682 h 4684871"/>
                  <a:gd name="connsiteX24" fmla="*/ 2164175 w 7143371"/>
                  <a:gd name="connsiteY24" fmla="*/ 500634 h 4684871"/>
                  <a:gd name="connsiteX25" fmla="*/ 2177320 w 7143371"/>
                  <a:gd name="connsiteY25" fmla="*/ 548831 h 4684871"/>
                  <a:gd name="connsiteX26" fmla="*/ 2174748 w 7143371"/>
                  <a:gd name="connsiteY26" fmla="*/ 571214 h 4684871"/>
                  <a:gd name="connsiteX27" fmla="*/ 2160937 w 7143371"/>
                  <a:gd name="connsiteY27" fmla="*/ 602456 h 4684871"/>
                  <a:gd name="connsiteX28" fmla="*/ 2158651 w 7143371"/>
                  <a:gd name="connsiteY28" fmla="*/ 635032 h 4684871"/>
                  <a:gd name="connsiteX29" fmla="*/ 2172367 w 7143371"/>
                  <a:gd name="connsiteY29" fmla="*/ 727043 h 4684871"/>
                  <a:gd name="connsiteX30" fmla="*/ 2179130 w 7143371"/>
                  <a:gd name="connsiteY30" fmla="*/ 745331 h 4684871"/>
                  <a:gd name="connsiteX31" fmla="*/ 2187226 w 7143371"/>
                  <a:gd name="connsiteY31" fmla="*/ 802005 h 4684871"/>
                  <a:gd name="connsiteX32" fmla="*/ 2202656 w 7143371"/>
                  <a:gd name="connsiteY32" fmla="*/ 867442 h 4684871"/>
                  <a:gd name="connsiteX33" fmla="*/ 2201799 w 7143371"/>
                  <a:gd name="connsiteY33" fmla="*/ 917734 h 4684871"/>
                  <a:gd name="connsiteX34" fmla="*/ 2190369 w 7143371"/>
                  <a:gd name="connsiteY34" fmla="*/ 969740 h 4684871"/>
                  <a:gd name="connsiteX35" fmla="*/ 2172462 w 7143371"/>
                  <a:gd name="connsiteY35" fmla="*/ 1019175 h 4684871"/>
                  <a:gd name="connsiteX36" fmla="*/ 2160461 w 7143371"/>
                  <a:gd name="connsiteY36" fmla="*/ 1078325 h 4684871"/>
                  <a:gd name="connsiteX37" fmla="*/ 2182178 w 7143371"/>
                  <a:gd name="connsiteY37" fmla="*/ 1202912 h 4684871"/>
                  <a:gd name="connsiteX38" fmla="*/ 2173319 w 7143371"/>
                  <a:gd name="connsiteY38" fmla="*/ 1204627 h 4684871"/>
                  <a:gd name="connsiteX39" fmla="*/ 2157032 w 7143371"/>
                  <a:gd name="connsiteY39" fmla="*/ 1108710 h 4684871"/>
                  <a:gd name="connsiteX40" fmla="*/ 2156174 w 7143371"/>
                  <a:gd name="connsiteY40" fmla="*/ 1039940 h 4684871"/>
                  <a:gd name="connsiteX41" fmla="*/ 2156174 w 7143371"/>
                  <a:gd name="connsiteY41" fmla="*/ 1000697 h 4684871"/>
                  <a:gd name="connsiteX42" fmla="*/ 2117884 w 7143371"/>
                  <a:gd name="connsiteY42" fmla="*/ 982408 h 4684871"/>
                  <a:gd name="connsiteX43" fmla="*/ 2033588 w 7143371"/>
                  <a:gd name="connsiteY43" fmla="*/ 969740 h 4684871"/>
                  <a:gd name="connsiteX44" fmla="*/ 1997678 w 7143371"/>
                  <a:gd name="connsiteY44" fmla="*/ 920115 h 4684871"/>
                  <a:gd name="connsiteX45" fmla="*/ 2006822 w 7143371"/>
                  <a:gd name="connsiteY45" fmla="*/ 870490 h 4684871"/>
                  <a:gd name="connsiteX46" fmla="*/ 2003393 w 7143371"/>
                  <a:gd name="connsiteY46" fmla="*/ 845153 h 4684871"/>
                  <a:gd name="connsiteX47" fmla="*/ 1986629 w 7143371"/>
                  <a:gd name="connsiteY47" fmla="*/ 797147 h 4684871"/>
                  <a:gd name="connsiteX48" fmla="*/ 1947196 w 7143371"/>
                  <a:gd name="connsiteY48" fmla="*/ 829628 h 4684871"/>
                  <a:gd name="connsiteX49" fmla="*/ 1917859 w 7143371"/>
                  <a:gd name="connsiteY49" fmla="*/ 833628 h 4684871"/>
                  <a:gd name="connsiteX50" fmla="*/ 1905953 w 7143371"/>
                  <a:gd name="connsiteY50" fmla="*/ 854393 h 4684871"/>
                  <a:gd name="connsiteX51" fmla="*/ 1874330 w 7143371"/>
                  <a:gd name="connsiteY51" fmla="*/ 869347 h 4684871"/>
                  <a:gd name="connsiteX52" fmla="*/ 1870329 w 7143371"/>
                  <a:gd name="connsiteY52" fmla="*/ 882872 h 4684871"/>
                  <a:gd name="connsiteX53" fmla="*/ 1876139 w 7143371"/>
                  <a:gd name="connsiteY53" fmla="*/ 888778 h 4684871"/>
                  <a:gd name="connsiteX54" fmla="*/ 1865948 w 7143371"/>
                  <a:gd name="connsiteY54" fmla="*/ 900303 h 4684871"/>
                  <a:gd name="connsiteX55" fmla="*/ 1864709 w 7143371"/>
                  <a:gd name="connsiteY55" fmla="*/ 904494 h 4684871"/>
                  <a:gd name="connsiteX56" fmla="*/ 1836039 w 7143371"/>
                  <a:gd name="connsiteY56" fmla="*/ 914876 h 4684871"/>
                  <a:gd name="connsiteX57" fmla="*/ 1834610 w 7143371"/>
                  <a:gd name="connsiteY57" fmla="*/ 925544 h 4684871"/>
                  <a:gd name="connsiteX58" fmla="*/ 1845088 w 7143371"/>
                  <a:gd name="connsiteY58" fmla="*/ 948881 h 4684871"/>
                  <a:gd name="connsiteX59" fmla="*/ 1881759 w 7143371"/>
                  <a:gd name="connsiteY59" fmla="*/ 1026319 h 4684871"/>
                  <a:gd name="connsiteX60" fmla="*/ 1882331 w 7143371"/>
                  <a:gd name="connsiteY60" fmla="*/ 1028319 h 4684871"/>
                  <a:gd name="connsiteX61" fmla="*/ 1882331 w 7143371"/>
                  <a:gd name="connsiteY61" fmla="*/ 1028414 h 4684871"/>
                  <a:gd name="connsiteX62" fmla="*/ 1890046 w 7143371"/>
                  <a:gd name="connsiteY62" fmla="*/ 1034796 h 4684871"/>
                  <a:gd name="connsiteX63" fmla="*/ 1888046 w 7143371"/>
                  <a:gd name="connsiteY63" fmla="*/ 1045178 h 4684871"/>
                  <a:gd name="connsiteX64" fmla="*/ 1892141 w 7143371"/>
                  <a:gd name="connsiteY64" fmla="*/ 1055370 h 4684871"/>
                  <a:gd name="connsiteX65" fmla="*/ 1902714 w 7143371"/>
                  <a:gd name="connsiteY65" fmla="*/ 1069467 h 4684871"/>
                  <a:gd name="connsiteX66" fmla="*/ 1908620 w 7143371"/>
                  <a:gd name="connsiteY66" fmla="*/ 1070229 h 4684871"/>
                  <a:gd name="connsiteX67" fmla="*/ 1924907 w 7143371"/>
                  <a:gd name="connsiteY67" fmla="*/ 1088517 h 4684871"/>
                  <a:gd name="connsiteX68" fmla="*/ 1926622 w 7143371"/>
                  <a:gd name="connsiteY68" fmla="*/ 1106138 h 4684871"/>
                  <a:gd name="connsiteX69" fmla="*/ 1933289 w 7143371"/>
                  <a:gd name="connsiteY69" fmla="*/ 1113187 h 4684871"/>
                  <a:gd name="connsiteX70" fmla="*/ 1933956 w 7143371"/>
                  <a:gd name="connsiteY70" fmla="*/ 1121093 h 4684871"/>
                  <a:gd name="connsiteX71" fmla="*/ 1928146 w 7143371"/>
                  <a:gd name="connsiteY71" fmla="*/ 1128332 h 4684871"/>
                  <a:gd name="connsiteX72" fmla="*/ 1929575 w 7143371"/>
                  <a:gd name="connsiteY72" fmla="*/ 1132237 h 4684871"/>
                  <a:gd name="connsiteX73" fmla="*/ 1919383 w 7143371"/>
                  <a:gd name="connsiteY73" fmla="*/ 1143191 h 4684871"/>
                  <a:gd name="connsiteX74" fmla="*/ 1916525 w 7143371"/>
                  <a:gd name="connsiteY74" fmla="*/ 1154716 h 4684871"/>
                  <a:gd name="connsiteX75" fmla="*/ 1931765 w 7143371"/>
                  <a:gd name="connsiteY75" fmla="*/ 1147191 h 4684871"/>
                  <a:gd name="connsiteX76" fmla="*/ 1928336 w 7143371"/>
                  <a:gd name="connsiteY76" fmla="*/ 1169099 h 4684871"/>
                  <a:gd name="connsiteX77" fmla="*/ 1905762 w 7143371"/>
                  <a:gd name="connsiteY77" fmla="*/ 1207770 h 4684871"/>
                  <a:gd name="connsiteX78" fmla="*/ 1957769 w 7143371"/>
                  <a:gd name="connsiteY78" fmla="*/ 1219295 h 4684871"/>
                  <a:gd name="connsiteX79" fmla="*/ 1958340 w 7143371"/>
                  <a:gd name="connsiteY79" fmla="*/ 1230249 h 4684871"/>
                  <a:gd name="connsiteX80" fmla="*/ 1918240 w 7143371"/>
                  <a:gd name="connsiteY80" fmla="*/ 1230821 h 4684871"/>
                  <a:gd name="connsiteX81" fmla="*/ 1952149 w 7143371"/>
                  <a:gd name="connsiteY81" fmla="*/ 1282732 h 4684871"/>
                  <a:gd name="connsiteX82" fmla="*/ 1939766 w 7143371"/>
                  <a:gd name="connsiteY82" fmla="*/ 1284446 h 4684871"/>
                  <a:gd name="connsiteX83" fmla="*/ 1896809 w 7143371"/>
                  <a:gd name="connsiteY83" fmla="*/ 1229678 h 4684871"/>
                  <a:gd name="connsiteX84" fmla="*/ 1875377 w 7143371"/>
                  <a:gd name="connsiteY84" fmla="*/ 1370362 h 4684871"/>
                  <a:gd name="connsiteX85" fmla="*/ 1862423 w 7143371"/>
                  <a:gd name="connsiteY85" fmla="*/ 1372076 h 4684871"/>
                  <a:gd name="connsiteX86" fmla="*/ 1878235 w 7143371"/>
                  <a:gd name="connsiteY86" fmla="*/ 1212914 h 4684871"/>
                  <a:gd name="connsiteX87" fmla="*/ 1874234 w 7143371"/>
                  <a:gd name="connsiteY87" fmla="*/ 1143667 h 4684871"/>
                  <a:gd name="connsiteX88" fmla="*/ 1858994 w 7143371"/>
                  <a:gd name="connsiteY88" fmla="*/ 1091756 h 4684871"/>
                  <a:gd name="connsiteX89" fmla="*/ 1811560 w 7143371"/>
                  <a:gd name="connsiteY89" fmla="*/ 1013936 h 4684871"/>
                  <a:gd name="connsiteX90" fmla="*/ 1789271 w 7143371"/>
                  <a:gd name="connsiteY90" fmla="*/ 1048988 h 4684871"/>
                  <a:gd name="connsiteX91" fmla="*/ 1792224 w 7143371"/>
                  <a:gd name="connsiteY91" fmla="*/ 1063562 h 4684871"/>
                  <a:gd name="connsiteX92" fmla="*/ 1792224 w 7143371"/>
                  <a:gd name="connsiteY92" fmla="*/ 1110710 h 4684871"/>
                  <a:gd name="connsiteX93" fmla="*/ 1790795 w 7143371"/>
                  <a:gd name="connsiteY93" fmla="*/ 1112139 h 4684871"/>
                  <a:gd name="connsiteX94" fmla="*/ 1787843 w 7143371"/>
                  <a:gd name="connsiteY94" fmla="*/ 1125855 h 4684871"/>
                  <a:gd name="connsiteX95" fmla="*/ 1748314 w 7143371"/>
                  <a:gd name="connsiteY95" fmla="*/ 1176623 h 4684871"/>
                  <a:gd name="connsiteX96" fmla="*/ 1702022 w 7143371"/>
                  <a:gd name="connsiteY96" fmla="*/ 1195673 h 4684871"/>
                  <a:gd name="connsiteX97" fmla="*/ 1703737 w 7143371"/>
                  <a:gd name="connsiteY97" fmla="*/ 1271207 h 4684871"/>
                  <a:gd name="connsiteX98" fmla="*/ 1681163 w 7143371"/>
                  <a:gd name="connsiteY98" fmla="*/ 1303496 h 4684871"/>
                  <a:gd name="connsiteX99" fmla="*/ 1688497 w 7143371"/>
                  <a:gd name="connsiteY99" fmla="*/ 1354836 h 4684871"/>
                  <a:gd name="connsiteX100" fmla="*/ 1627442 w 7143371"/>
                  <a:gd name="connsiteY100" fmla="*/ 1373315 h 4684871"/>
                  <a:gd name="connsiteX101" fmla="*/ 1667542 w 7143371"/>
                  <a:gd name="connsiteY101" fmla="*/ 1350264 h 4684871"/>
                  <a:gd name="connsiteX102" fmla="*/ 1665256 w 7143371"/>
                  <a:gd name="connsiteY102" fmla="*/ 1299496 h 4684871"/>
                  <a:gd name="connsiteX103" fmla="*/ 1683925 w 7143371"/>
                  <a:gd name="connsiteY103" fmla="*/ 1256824 h 4684871"/>
                  <a:gd name="connsiteX104" fmla="*/ 1676019 w 7143371"/>
                  <a:gd name="connsiteY104" fmla="*/ 1196245 h 4684871"/>
                  <a:gd name="connsiteX105" fmla="*/ 1664113 w 7143371"/>
                  <a:gd name="connsiteY105" fmla="*/ 1196245 h 4684871"/>
                  <a:gd name="connsiteX106" fmla="*/ 1595152 w 7143371"/>
                  <a:gd name="connsiteY106" fmla="*/ 1248156 h 4684871"/>
                  <a:gd name="connsiteX107" fmla="*/ 1571435 w 7143371"/>
                  <a:gd name="connsiteY107" fmla="*/ 1240060 h 4684871"/>
                  <a:gd name="connsiteX108" fmla="*/ 1589532 w 7143371"/>
                  <a:gd name="connsiteY108" fmla="*/ 1223296 h 4684871"/>
                  <a:gd name="connsiteX109" fmla="*/ 1594580 w 7143371"/>
                  <a:gd name="connsiteY109" fmla="*/ 1210628 h 4684871"/>
                  <a:gd name="connsiteX110" fmla="*/ 1646015 w 7143371"/>
                  <a:gd name="connsiteY110" fmla="*/ 1176052 h 4684871"/>
                  <a:gd name="connsiteX111" fmla="*/ 1605344 w 7143371"/>
                  <a:gd name="connsiteY111" fmla="*/ 1114330 h 4684871"/>
                  <a:gd name="connsiteX112" fmla="*/ 1619440 w 7143371"/>
                  <a:gd name="connsiteY112" fmla="*/ 1112615 h 4684871"/>
                  <a:gd name="connsiteX113" fmla="*/ 1678210 w 7143371"/>
                  <a:gd name="connsiteY113" fmla="*/ 1173194 h 4684871"/>
                  <a:gd name="connsiteX114" fmla="*/ 1701927 w 7143371"/>
                  <a:gd name="connsiteY114" fmla="*/ 1161098 h 4684871"/>
                  <a:gd name="connsiteX115" fmla="*/ 1707547 w 7143371"/>
                  <a:gd name="connsiteY115" fmla="*/ 1138047 h 4684871"/>
                  <a:gd name="connsiteX116" fmla="*/ 1714214 w 7143371"/>
                  <a:gd name="connsiteY116" fmla="*/ 1137857 h 4684871"/>
                  <a:gd name="connsiteX117" fmla="*/ 1713833 w 7143371"/>
                  <a:gd name="connsiteY117" fmla="*/ 1133285 h 4684871"/>
                  <a:gd name="connsiteX118" fmla="*/ 1738694 w 7143371"/>
                  <a:gd name="connsiteY118" fmla="*/ 1123379 h 4684871"/>
                  <a:gd name="connsiteX119" fmla="*/ 1743170 w 7143371"/>
                  <a:gd name="connsiteY119" fmla="*/ 1104614 h 4684871"/>
                  <a:gd name="connsiteX120" fmla="*/ 1716596 w 7143371"/>
                  <a:gd name="connsiteY120" fmla="*/ 1086707 h 4684871"/>
                  <a:gd name="connsiteX121" fmla="*/ 1737455 w 7143371"/>
                  <a:gd name="connsiteY121" fmla="*/ 1063085 h 4684871"/>
                  <a:gd name="connsiteX122" fmla="*/ 1739170 w 7143371"/>
                  <a:gd name="connsiteY122" fmla="*/ 1037177 h 4684871"/>
                  <a:gd name="connsiteX123" fmla="*/ 1748790 w 7143371"/>
                  <a:gd name="connsiteY123" fmla="*/ 1000887 h 4684871"/>
                  <a:gd name="connsiteX124" fmla="*/ 1769174 w 7143371"/>
                  <a:gd name="connsiteY124" fmla="*/ 976694 h 4684871"/>
                  <a:gd name="connsiteX125" fmla="*/ 1766888 w 7143371"/>
                  <a:gd name="connsiteY125" fmla="*/ 931164 h 4684871"/>
                  <a:gd name="connsiteX126" fmla="*/ 1748219 w 7143371"/>
                  <a:gd name="connsiteY126" fmla="*/ 931164 h 4684871"/>
                  <a:gd name="connsiteX127" fmla="*/ 1725073 w 7143371"/>
                  <a:gd name="connsiteY127" fmla="*/ 964597 h 4684871"/>
                  <a:gd name="connsiteX128" fmla="*/ 1716596 w 7143371"/>
                  <a:gd name="connsiteY128" fmla="*/ 961739 h 4684871"/>
                  <a:gd name="connsiteX129" fmla="*/ 1720596 w 7143371"/>
                  <a:gd name="connsiteY129" fmla="*/ 922496 h 4684871"/>
                  <a:gd name="connsiteX130" fmla="*/ 1657922 w 7143371"/>
                  <a:gd name="connsiteY130" fmla="*/ 936879 h 4684871"/>
                  <a:gd name="connsiteX131" fmla="*/ 1624013 w 7143371"/>
                  <a:gd name="connsiteY131" fmla="*/ 944975 h 4684871"/>
                  <a:gd name="connsiteX132" fmla="*/ 1612106 w 7143371"/>
                  <a:gd name="connsiteY132" fmla="*/ 920210 h 4684871"/>
                  <a:gd name="connsiteX133" fmla="*/ 1590104 w 7143371"/>
                  <a:gd name="connsiteY133" fmla="*/ 885635 h 4684871"/>
                  <a:gd name="connsiteX134" fmla="*/ 1547717 w 7143371"/>
                  <a:gd name="connsiteY134" fmla="*/ 942689 h 4684871"/>
                  <a:gd name="connsiteX135" fmla="*/ 1557338 w 7143371"/>
                  <a:gd name="connsiteY135" fmla="*/ 965740 h 4684871"/>
                  <a:gd name="connsiteX136" fmla="*/ 1534192 w 7143371"/>
                  <a:gd name="connsiteY136" fmla="*/ 991076 h 4684871"/>
                  <a:gd name="connsiteX137" fmla="*/ 1494663 w 7143371"/>
                  <a:gd name="connsiteY137" fmla="*/ 964502 h 4684871"/>
                  <a:gd name="connsiteX138" fmla="*/ 1468660 w 7143371"/>
                  <a:gd name="connsiteY138" fmla="*/ 966216 h 4684871"/>
                  <a:gd name="connsiteX139" fmla="*/ 1463040 w 7143371"/>
                  <a:gd name="connsiteY139" fmla="*/ 940880 h 4684871"/>
                  <a:gd name="connsiteX140" fmla="*/ 1499711 w 7143371"/>
                  <a:gd name="connsiteY140" fmla="*/ 936308 h 4684871"/>
                  <a:gd name="connsiteX141" fmla="*/ 1539811 w 7143371"/>
                  <a:gd name="connsiteY141" fmla="*/ 914400 h 4684871"/>
                  <a:gd name="connsiteX142" fmla="*/ 1511522 w 7143371"/>
                  <a:gd name="connsiteY142" fmla="*/ 895922 h 4684871"/>
                  <a:gd name="connsiteX143" fmla="*/ 1435227 w 7143371"/>
                  <a:gd name="connsiteY143" fmla="*/ 912114 h 4684871"/>
                  <a:gd name="connsiteX144" fmla="*/ 1443133 w 7143371"/>
                  <a:gd name="connsiteY144" fmla="*/ 860774 h 4684871"/>
                  <a:gd name="connsiteX145" fmla="*/ 1454849 w 7143371"/>
                  <a:gd name="connsiteY145" fmla="*/ 866966 h 4684871"/>
                  <a:gd name="connsiteX146" fmla="*/ 1454849 w 7143371"/>
                  <a:gd name="connsiteY146" fmla="*/ 853154 h 4684871"/>
                  <a:gd name="connsiteX147" fmla="*/ 1476851 w 7143371"/>
                  <a:gd name="connsiteY147" fmla="*/ 869918 h 4684871"/>
                  <a:gd name="connsiteX148" fmla="*/ 1488567 w 7143371"/>
                  <a:gd name="connsiteY148" fmla="*/ 873919 h 4684871"/>
                  <a:gd name="connsiteX149" fmla="*/ 1488853 w 7143371"/>
                  <a:gd name="connsiteY149" fmla="*/ 873919 h 4684871"/>
                  <a:gd name="connsiteX150" fmla="*/ 1513999 w 7143371"/>
                  <a:gd name="connsiteY150" fmla="*/ 872204 h 4684871"/>
                  <a:gd name="connsiteX151" fmla="*/ 1520095 w 7143371"/>
                  <a:gd name="connsiteY151" fmla="*/ 869918 h 4684871"/>
                  <a:gd name="connsiteX152" fmla="*/ 1542955 w 7143371"/>
                  <a:gd name="connsiteY152" fmla="*/ 863537 h 4684871"/>
                  <a:gd name="connsiteX153" fmla="*/ 1560005 w 7143371"/>
                  <a:gd name="connsiteY153" fmla="*/ 853916 h 4684871"/>
                  <a:gd name="connsiteX154" fmla="*/ 1575245 w 7143371"/>
                  <a:gd name="connsiteY154" fmla="*/ 862108 h 4684871"/>
                  <a:gd name="connsiteX155" fmla="*/ 1596676 w 7143371"/>
                  <a:gd name="connsiteY155" fmla="*/ 838295 h 4684871"/>
                  <a:gd name="connsiteX156" fmla="*/ 1624394 w 7143371"/>
                  <a:gd name="connsiteY156" fmla="*/ 831914 h 4684871"/>
                  <a:gd name="connsiteX157" fmla="*/ 1634109 w 7143371"/>
                  <a:gd name="connsiteY157" fmla="*/ 842296 h 4684871"/>
                  <a:gd name="connsiteX158" fmla="*/ 1644301 w 7143371"/>
                  <a:gd name="connsiteY158" fmla="*/ 845915 h 4684871"/>
                  <a:gd name="connsiteX159" fmla="*/ 1657826 w 7143371"/>
                  <a:gd name="connsiteY159" fmla="*/ 861822 h 4684871"/>
                  <a:gd name="connsiteX160" fmla="*/ 1672685 w 7143371"/>
                  <a:gd name="connsiteY160" fmla="*/ 872204 h 4684871"/>
                  <a:gd name="connsiteX161" fmla="*/ 1690021 w 7143371"/>
                  <a:gd name="connsiteY161" fmla="*/ 880967 h 4684871"/>
                  <a:gd name="connsiteX162" fmla="*/ 1690307 w 7143371"/>
                  <a:gd name="connsiteY162" fmla="*/ 881158 h 4684871"/>
                  <a:gd name="connsiteX163" fmla="*/ 1746980 w 7143371"/>
                  <a:gd name="connsiteY163" fmla="*/ 873538 h 4684871"/>
                  <a:gd name="connsiteX164" fmla="*/ 1734026 w 7143371"/>
                  <a:gd name="connsiteY164" fmla="*/ 846963 h 4684871"/>
                  <a:gd name="connsiteX165" fmla="*/ 1716500 w 7143371"/>
                  <a:gd name="connsiteY165" fmla="*/ 823913 h 4684871"/>
                  <a:gd name="connsiteX166" fmla="*/ 1749838 w 7143371"/>
                  <a:gd name="connsiteY166" fmla="*/ 834866 h 4684871"/>
                  <a:gd name="connsiteX167" fmla="*/ 1766221 w 7143371"/>
                  <a:gd name="connsiteY167" fmla="*/ 828485 h 4684871"/>
                  <a:gd name="connsiteX168" fmla="*/ 1779175 w 7143371"/>
                  <a:gd name="connsiteY168" fmla="*/ 840010 h 4684871"/>
                  <a:gd name="connsiteX169" fmla="*/ 1797844 w 7143371"/>
                  <a:gd name="connsiteY169" fmla="*/ 843439 h 4684871"/>
                  <a:gd name="connsiteX170" fmla="*/ 1904619 w 7143371"/>
                  <a:gd name="connsiteY170" fmla="*/ 749999 h 4684871"/>
                  <a:gd name="connsiteX171" fmla="*/ 1908048 w 7143371"/>
                  <a:gd name="connsiteY171" fmla="*/ 716566 h 4684871"/>
                  <a:gd name="connsiteX172" fmla="*/ 1883188 w 7143371"/>
                  <a:gd name="connsiteY172" fmla="*/ 715423 h 4684871"/>
                  <a:gd name="connsiteX173" fmla="*/ 1914811 w 7143371"/>
                  <a:gd name="connsiteY173" fmla="*/ 685991 h 4684871"/>
                  <a:gd name="connsiteX174" fmla="*/ 1923288 w 7143371"/>
                  <a:gd name="connsiteY174" fmla="*/ 655987 h 4684871"/>
                  <a:gd name="connsiteX175" fmla="*/ 1939671 w 7143371"/>
                  <a:gd name="connsiteY175" fmla="*/ 624269 h 4684871"/>
                  <a:gd name="connsiteX176" fmla="*/ 1911382 w 7143371"/>
                  <a:gd name="connsiteY176" fmla="*/ 619697 h 4684871"/>
                  <a:gd name="connsiteX177" fmla="*/ 1903476 w 7143371"/>
                  <a:gd name="connsiteY177" fmla="*/ 600647 h 4684871"/>
                  <a:gd name="connsiteX178" fmla="*/ 1922717 w 7143371"/>
                  <a:gd name="connsiteY178" fmla="*/ 574739 h 4684871"/>
                  <a:gd name="connsiteX179" fmla="*/ 1945862 w 7143371"/>
                  <a:gd name="connsiteY179" fmla="*/ 571881 h 4684871"/>
                  <a:gd name="connsiteX180" fmla="*/ 1935575 w 7143371"/>
                  <a:gd name="connsiteY180" fmla="*/ 540639 h 4684871"/>
                  <a:gd name="connsiteX181" fmla="*/ 1944338 w 7143371"/>
                  <a:gd name="connsiteY181" fmla="*/ 540639 h 4684871"/>
                  <a:gd name="connsiteX182" fmla="*/ 1936052 w 7143371"/>
                  <a:gd name="connsiteY182" fmla="*/ 529685 h 4684871"/>
                  <a:gd name="connsiteX183" fmla="*/ 1931956 w 7143371"/>
                  <a:gd name="connsiteY183" fmla="*/ 520446 h 4684871"/>
                  <a:gd name="connsiteX184" fmla="*/ 1934909 w 7143371"/>
                  <a:gd name="connsiteY184" fmla="*/ 508921 h 4684871"/>
                  <a:gd name="connsiteX185" fmla="*/ 1934909 w 7143371"/>
                  <a:gd name="connsiteY185" fmla="*/ 508349 h 4684871"/>
                  <a:gd name="connsiteX186" fmla="*/ 2022729 w 7143371"/>
                  <a:gd name="connsiteY186" fmla="*/ 508064 h 4684871"/>
                  <a:gd name="connsiteX187" fmla="*/ 2033302 w 7143371"/>
                  <a:gd name="connsiteY187" fmla="*/ 534162 h 4684871"/>
                  <a:gd name="connsiteX188" fmla="*/ 2036826 w 7143371"/>
                  <a:gd name="connsiteY188" fmla="*/ 540639 h 4684871"/>
                  <a:gd name="connsiteX189" fmla="*/ 2042446 w 7143371"/>
                  <a:gd name="connsiteY189" fmla="*/ 540639 h 4684871"/>
                  <a:gd name="connsiteX190" fmla="*/ 2080260 w 7143371"/>
                  <a:gd name="connsiteY190" fmla="*/ 648081 h 4684871"/>
                  <a:gd name="connsiteX191" fmla="*/ 2078546 w 7143371"/>
                  <a:gd name="connsiteY191" fmla="*/ 650367 h 4684871"/>
                  <a:gd name="connsiteX192" fmla="*/ 2078546 w 7143371"/>
                  <a:gd name="connsiteY192" fmla="*/ 650558 h 4684871"/>
                  <a:gd name="connsiteX193" fmla="*/ 2075021 w 7143371"/>
                  <a:gd name="connsiteY193" fmla="*/ 656749 h 4684871"/>
                  <a:gd name="connsiteX194" fmla="*/ 2050733 w 7143371"/>
                  <a:gd name="connsiteY194" fmla="*/ 686753 h 4684871"/>
                  <a:gd name="connsiteX195" fmla="*/ 2049018 w 7143371"/>
                  <a:gd name="connsiteY195" fmla="*/ 690944 h 4684871"/>
                  <a:gd name="connsiteX196" fmla="*/ 2045780 w 7143371"/>
                  <a:gd name="connsiteY196" fmla="*/ 701040 h 4684871"/>
                  <a:gd name="connsiteX197" fmla="*/ 2040446 w 7143371"/>
                  <a:gd name="connsiteY197" fmla="*/ 706850 h 4684871"/>
                  <a:gd name="connsiteX198" fmla="*/ 1999107 w 7143371"/>
                  <a:gd name="connsiteY198" fmla="*/ 751427 h 4684871"/>
                  <a:gd name="connsiteX199" fmla="*/ 1996631 w 7143371"/>
                  <a:gd name="connsiteY199" fmla="*/ 754094 h 4684871"/>
                  <a:gd name="connsiteX200" fmla="*/ 1996250 w 7143371"/>
                  <a:gd name="connsiteY200" fmla="*/ 754094 h 4684871"/>
                  <a:gd name="connsiteX201" fmla="*/ 1993678 w 7143371"/>
                  <a:gd name="connsiteY201" fmla="*/ 757142 h 4684871"/>
                  <a:gd name="connsiteX202" fmla="*/ 1993678 w 7143371"/>
                  <a:gd name="connsiteY202" fmla="*/ 757333 h 4684871"/>
                  <a:gd name="connsiteX203" fmla="*/ 1992725 w 7143371"/>
                  <a:gd name="connsiteY203" fmla="*/ 759619 h 4684871"/>
                  <a:gd name="connsiteX204" fmla="*/ 1991868 w 7143371"/>
                  <a:gd name="connsiteY204" fmla="*/ 768668 h 4684871"/>
                  <a:gd name="connsiteX205" fmla="*/ 2023682 w 7143371"/>
                  <a:gd name="connsiteY205" fmla="*/ 870776 h 4684871"/>
                  <a:gd name="connsiteX206" fmla="*/ 2017205 w 7143371"/>
                  <a:gd name="connsiteY206" fmla="*/ 910876 h 4684871"/>
                  <a:gd name="connsiteX207" fmla="*/ 2028635 w 7143371"/>
                  <a:gd name="connsiteY207" fmla="*/ 944499 h 4684871"/>
                  <a:gd name="connsiteX208" fmla="*/ 2074259 w 7143371"/>
                  <a:gd name="connsiteY208" fmla="*/ 962120 h 4684871"/>
                  <a:gd name="connsiteX209" fmla="*/ 2122456 w 7143371"/>
                  <a:gd name="connsiteY209" fmla="*/ 966692 h 4684871"/>
                  <a:gd name="connsiteX210" fmla="*/ 2169890 w 7143371"/>
                  <a:gd name="connsiteY210" fmla="*/ 984314 h 4684871"/>
                  <a:gd name="connsiteX211" fmla="*/ 2185321 w 7143371"/>
                  <a:gd name="connsiteY211" fmla="*/ 941927 h 4684871"/>
                  <a:gd name="connsiteX212" fmla="*/ 2189512 w 7143371"/>
                  <a:gd name="connsiteY212" fmla="*/ 891731 h 4684871"/>
                  <a:gd name="connsiteX213" fmla="*/ 2158460 w 7143371"/>
                  <a:gd name="connsiteY213" fmla="*/ 740664 h 4684871"/>
                  <a:gd name="connsiteX214" fmla="*/ 2141125 w 7143371"/>
                  <a:gd name="connsiteY214" fmla="*/ 623126 h 4684871"/>
                  <a:gd name="connsiteX215" fmla="*/ 2146173 w 7143371"/>
                  <a:gd name="connsiteY215" fmla="*/ 600932 h 4684871"/>
                  <a:gd name="connsiteX216" fmla="*/ 2146173 w 7143371"/>
                  <a:gd name="connsiteY216" fmla="*/ 592265 h 4684871"/>
                  <a:gd name="connsiteX217" fmla="*/ 2160175 w 7143371"/>
                  <a:gd name="connsiteY217" fmla="*/ 556927 h 4684871"/>
                  <a:gd name="connsiteX218" fmla="*/ 2160175 w 7143371"/>
                  <a:gd name="connsiteY218" fmla="*/ 541020 h 4684871"/>
                  <a:gd name="connsiteX219" fmla="*/ 2149126 w 7143371"/>
                  <a:gd name="connsiteY219" fmla="*/ 499491 h 4684871"/>
                  <a:gd name="connsiteX220" fmla="*/ 2143506 w 7143371"/>
                  <a:gd name="connsiteY220" fmla="*/ 499015 h 4684871"/>
                  <a:gd name="connsiteX221" fmla="*/ 2134648 w 7143371"/>
                  <a:gd name="connsiteY221" fmla="*/ 511874 h 4684871"/>
                  <a:gd name="connsiteX222" fmla="*/ 2109692 w 7143371"/>
                  <a:gd name="connsiteY222" fmla="*/ 492252 h 4684871"/>
                  <a:gd name="connsiteX223" fmla="*/ 2097024 w 7143371"/>
                  <a:gd name="connsiteY223" fmla="*/ 489776 h 4684871"/>
                  <a:gd name="connsiteX224" fmla="*/ 2068544 w 7143371"/>
                  <a:gd name="connsiteY224" fmla="*/ 466154 h 4684871"/>
                  <a:gd name="connsiteX225" fmla="*/ 2056257 w 7143371"/>
                  <a:gd name="connsiteY225" fmla="*/ 464820 h 4684871"/>
                  <a:gd name="connsiteX226" fmla="*/ 2047494 w 7143371"/>
                  <a:gd name="connsiteY226" fmla="*/ 455486 h 4684871"/>
                  <a:gd name="connsiteX227" fmla="*/ 2037779 w 7143371"/>
                  <a:gd name="connsiteY227" fmla="*/ 459105 h 4684871"/>
                  <a:gd name="connsiteX228" fmla="*/ 2023967 w 7143371"/>
                  <a:gd name="connsiteY228" fmla="*/ 478155 h 4684871"/>
                  <a:gd name="connsiteX229" fmla="*/ 2023396 w 7143371"/>
                  <a:gd name="connsiteY229" fmla="*/ 493300 h 4684871"/>
                  <a:gd name="connsiteX230" fmla="*/ 1930718 w 7143371"/>
                  <a:gd name="connsiteY230" fmla="*/ 493300 h 4684871"/>
                  <a:gd name="connsiteX231" fmla="*/ 1931384 w 7143371"/>
                  <a:gd name="connsiteY231" fmla="*/ 486251 h 4684871"/>
                  <a:gd name="connsiteX232" fmla="*/ 1947863 w 7143371"/>
                  <a:gd name="connsiteY232" fmla="*/ 443675 h 4684871"/>
                  <a:gd name="connsiteX233" fmla="*/ 1944148 w 7143371"/>
                  <a:gd name="connsiteY233" fmla="*/ 441103 h 4684871"/>
                  <a:gd name="connsiteX234" fmla="*/ 1931575 w 7143371"/>
                  <a:gd name="connsiteY234" fmla="*/ 431006 h 4684871"/>
                  <a:gd name="connsiteX235" fmla="*/ 1903476 w 7143371"/>
                  <a:gd name="connsiteY235" fmla="*/ 413576 h 4684871"/>
                  <a:gd name="connsiteX236" fmla="*/ 1945291 w 7143371"/>
                  <a:gd name="connsiteY236" fmla="*/ 415004 h 4684871"/>
                  <a:gd name="connsiteX237" fmla="*/ 1892236 w 7143371"/>
                  <a:gd name="connsiteY237" fmla="*/ 376809 h 4684871"/>
                  <a:gd name="connsiteX238" fmla="*/ 1849755 w 7143371"/>
                  <a:gd name="connsiteY238" fmla="*/ 321278 h 4684871"/>
                  <a:gd name="connsiteX239" fmla="*/ 1831372 w 7143371"/>
                  <a:gd name="connsiteY239" fmla="*/ 316802 h 4684871"/>
                  <a:gd name="connsiteX240" fmla="*/ 1809750 w 7143371"/>
                  <a:gd name="connsiteY240" fmla="*/ 306610 h 4684871"/>
                  <a:gd name="connsiteX241" fmla="*/ 1800035 w 7143371"/>
                  <a:gd name="connsiteY241" fmla="*/ 316135 h 4684871"/>
                  <a:gd name="connsiteX242" fmla="*/ 1776032 w 7143371"/>
                  <a:gd name="connsiteY242" fmla="*/ 330137 h 4684871"/>
                  <a:gd name="connsiteX243" fmla="*/ 1749171 w 7143371"/>
                  <a:gd name="connsiteY243" fmla="*/ 339662 h 4684871"/>
                  <a:gd name="connsiteX244" fmla="*/ 1724311 w 7143371"/>
                  <a:gd name="connsiteY244" fmla="*/ 345472 h 4684871"/>
                  <a:gd name="connsiteX245" fmla="*/ 1721168 w 7143371"/>
                  <a:gd name="connsiteY245" fmla="*/ 342710 h 4684871"/>
                  <a:gd name="connsiteX246" fmla="*/ 1732217 w 7143371"/>
                  <a:gd name="connsiteY246" fmla="*/ 312896 h 4684871"/>
                  <a:gd name="connsiteX247" fmla="*/ 1727740 w 7143371"/>
                  <a:gd name="connsiteY247" fmla="*/ 296990 h 4684871"/>
                  <a:gd name="connsiteX248" fmla="*/ 1705547 w 7143371"/>
                  <a:gd name="connsiteY248" fmla="*/ 289465 h 4684871"/>
                  <a:gd name="connsiteX249" fmla="*/ 1588770 w 7143371"/>
                  <a:gd name="connsiteY249" fmla="*/ 316611 h 4684871"/>
                  <a:gd name="connsiteX250" fmla="*/ 1544098 w 7143371"/>
                  <a:gd name="connsiteY250" fmla="*/ 348806 h 4684871"/>
                  <a:gd name="connsiteX251" fmla="*/ 1484662 w 7143371"/>
                  <a:gd name="connsiteY251" fmla="*/ 394526 h 4684871"/>
                  <a:gd name="connsiteX252" fmla="*/ 1448181 w 7143371"/>
                  <a:gd name="connsiteY252" fmla="*/ 429863 h 4684871"/>
                  <a:gd name="connsiteX253" fmla="*/ 1397032 w 7143371"/>
                  <a:gd name="connsiteY253" fmla="*/ 470916 h 4684871"/>
                  <a:gd name="connsiteX254" fmla="*/ 1300829 w 7143371"/>
                  <a:gd name="connsiteY254" fmla="*/ 554831 h 4684871"/>
                  <a:gd name="connsiteX255" fmla="*/ 1225582 w 7143371"/>
                  <a:gd name="connsiteY255" fmla="*/ 571691 h 4684871"/>
                  <a:gd name="connsiteX256" fmla="*/ 1189673 w 7143371"/>
                  <a:gd name="connsiteY256" fmla="*/ 586073 h 4684871"/>
                  <a:gd name="connsiteX257" fmla="*/ 1186815 w 7143371"/>
                  <a:gd name="connsiteY257" fmla="*/ 608267 h 4684871"/>
                  <a:gd name="connsiteX258" fmla="*/ 1147096 w 7143371"/>
                  <a:gd name="connsiteY258" fmla="*/ 593884 h 4684871"/>
                  <a:gd name="connsiteX259" fmla="*/ 1106710 w 7143371"/>
                  <a:gd name="connsiteY259" fmla="*/ 627031 h 4684871"/>
                  <a:gd name="connsiteX260" fmla="*/ 1073944 w 7143371"/>
                  <a:gd name="connsiteY260" fmla="*/ 623030 h 4684871"/>
                  <a:gd name="connsiteX261" fmla="*/ 1043178 w 7143371"/>
                  <a:gd name="connsiteY261" fmla="*/ 666179 h 4684871"/>
                  <a:gd name="connsiteX262" fmla="*/ 1024795 w 7143371"/>
                  <a:gd name="connsiteY262" fmla="*/ 671798 h 4684871"/>
                  <a:gd name="connsiteX263" fmla="*/ 1005745 w 7143371"/>
                  <a:gd name="connsiteY263" fmla="*/ 738569 h 4684871"/>
                  <a:gd name="connsiteX264" fmla="*/ 982599 w 7143371"/>
                  <a:gd name="connsiteY264" fmla="*/ 773430 h 4684871"/>
                  <a:gd name="connsiteX265" fmla="*/ 994601 w 7143371"/>
                  <a:gd name="connsiteY265" fmla="*/ 789146 h 4684871"/>
                  <a:gd name="connsiteX266" fmla="*/ 979170 w 7143371"/>
                  <a:gd name="connsiteY266" fmla="*/ 806196 h 4684871"/>
                  <a:gd name="connsiteX267" fmla="*/ 975170 w 7143371"/>
                  <a:gd name="connsiteY267" fmla="*/ 836867 h 4684871"/>
                  <a:gd name="connsiteX268" fmla="*/ 994505 w 7143371"/>
                  <a:gd name="connsiteY268" fmla="*/ 857345 h 4684871"/>
                  <a:gd name="connsiteX269" fmla="*/ 954500 w 7143371"/>
                  <a:gd name="connsiteY269" fmla="*/ 873347 h 4684871"/>
                  <a:gd name="connsiteX270" fmla="*/ 963644 w 7143371"/>
                  <a:gd name="connsiteY270" fmla="*/ 889635 h 4684871"/>
                  <a:gd name="connsiteX271" fmla="*/ 914686 w 7143371"/>
                  <a:gd name="connsiteY271" fmla="*/ 930878 h 4684871"/>
                  <a:gd name="connsiteX272" fmla="*/ 879348 w 7143371"/>
                  <a:gd name="connsiteY272" fmla="*/ 927259 h 4684871"/>
                  <a:gd name="connsiteX273" fmla="*/ 875348 w 7143371"/>
                  <a:gd name="connsiteY273" fmla="*/ 955929 h 4684871"/>
                  <a:gd name="connsiteX274" fmla="*/ 843439 w 7143371"/>
                  <a:gd name="connsiteY274" fmla="*/ 964406 h 4684871"/>
                  <a:gd name="connsiteX275" fmla="*/ 853631 w 7143371"/>
                  <a:gd name="connsiteY275" fmla="*/ 1022699 h 4684871"/>
                  <a:gd name="connsiteX276" fmla="*/ 840105 w 7143371"/>
                  <a:gd name="connsiteY276" fmla="*/ 1177385 h 4684871"/>
                  <a:gd name="connsiteX277" fmla="*/ 825722 w 7143371"/>
                  <a:gd name="connsiteY277" fmla="*/ 1225868 h 4684871"/>
                  <a:gd name="connsiteX278" fmla="*/ 779812 w 7143371"/>
                  <a:gd name="connsiteY278" fmla="*/ 1274921 h 4684871"/>
                  <a:gd name="connsiteX279" fmla="*/ 763715 w 7143371"/>
                  <a:gd name="connsiteY279" fmla="*/ 1322165 h 4684871"/>
                  <a:gd name="connsiteX280" fmla="*/ 713327 w 7143371"/>
                  <a:gd name="connsiteY280" fmla="*/ 1423226 h 4684871"/>
                  <a:gd name="connsiteX281" fmla="*/ 695516 w 7143371"/>
                  <a:gd name="connsiteY281" fmla="*/ 1436370 h 4684871"/>
                  <a:gd name="connsiteX282" fmla="*/ 687610 w 7143371"/>
                  <a:gd name="connsiteY282" fmla="*/ 1427702 h 4684871"/>
                  <a:gd name="connsiteX283" fmla="*/ 670846 w 7143371"/>
                  <a:gd name="connsiteY283" fmla="*/ 1432846 h 4684871"/>
                  <a:gd name="connsiteX284" fmla="*/ 674656 w 7143371"/>
                  <a:gd name="connsiteY284" fmla="*/ 1452848 h 4684871"/>
                  <a:gd name="connsiteX285" fmla="*/ 651320 w 7143371"/>
                  <a:gd name="connsiteY285" fmla="*/ 1459040 h 4684871"/>
                  <a:gd name="connsiteX286" fmla="*/ 641699 w 7143371"/>
                  <a:gd name="connsiteY286" fmla="*/ 1514570 h 4684871"/>
                  <a:gd name="connsiteX287" fmla="*/ 615982 w 7143371"/>
                  <a:gd name="connsiteY287" fmla="*/ 1560576 h 4684871"/>
                  <a:gd name="connsiteX288" fmla="*/ 573596 w 7143371"/>
                  <a:gd name="connsiteY288" fmla="*/ 1639538 h 4684871"/>
                  <a:gd name="connsiteX289" fmla="*/ 547592 w 7143371"/>
                  <a:gd name="connsiteY289" fmla="*/ 1682401 h 4684871"/>
                  <a:gd name="connsiteX290" fmla="*/ 513588 w 7143371"/>
                  <a:gd name="connsiteY290" fmla="*/ 1700403 h 4684871"/>
                  <a:gd name="connsiteX291" fmla="*/ 495395 w 7143371"/>
                  <a:gd name="connsiteY291" fmla="*/ 1767173 h 4684871"/>
                  <a:gd name="connsiteX292" fmla="*/ 482441 w 7143371"/>
                  <a:gd name="connsiteY292" fmla="*/ 1802797 h 4684871"/>
                  <a:gd name="connsiteX293" fmla="*/ 432911 w 7143371"/>
                  <a:gd name="connsiteY293" fmla="*/ 1802035 h 4684871"/>
                  <a:gd name="connsiteX294" fmla="*/ 457200 w 7143371"/>
                  <a:gd name="connsiteY294" fmla="*/ 1881664 h 4684871"/>
                  <a:gd name="connsiteX295" fmla="*/ 445484 w 7143371"/>
                  <a:gd name="connsiteY295" fmla="*/ 1897190 h 4684871"/>
                  <a:gd name="connsiteX296" fmla="*/ 445770 w 7143371"/>
                  <a:gd name="connsiteY296" fmla="*/ 1913096 h 4684871"/>
                  <a:gd name="connsiteX297" fmla="*/ 424720 w 7143371"/>
                  <a:gd name="connsiteY297" fmla="*/ 1933099 h 4684871"/>
                  <a:gd name="connsiteX298" fmla="*/ 426530 w 7143371"/>
                  <a:gd name="connsiteY298" fmla="*/ 1964531 h 4684871"/>
                  <a:gd name="connsiteX299" fmla="*/ 196596 w 7143371"/>
                  <a:gd name="connsiteY299" fmla="*/ 2606421 h 4684871"/>
                  <a:gd name="connsiteX300" fmla="*/ 181070 w 7143371"/>
                  <a:gd name="connsiteY300" fmla="*/ 2614803 h 4684871"/>
                  <a:gd name="connsiteX301" fmla="*/ 175165 w 7143371"/>
                  <a:gd name="connsiteY301" fmla="*/ 2650141 h 4684871"/>
                  <a:gd name="connsiteX302" fmla="*/ 194215 w 7143371"/>
                  <a:gd name="connsiteY302" fmla="*/ 2683002 h 4684871"/>
                  <a:gd name="connsiteX303" fmla="*/ 167545 w 7143371"/>
                  <a:gd name="connsiteY303" fmla="*/ 2866073 h 4684871"/>
                  <a:gd name="connsiteX304" fmla="*/ 94679 w 7143371"/>
                  <a:gd name="connsiteY304" fmla="*/ 2896457 h 4684871"/>
                  <a:gd name="connsiteX305" fmla="*/ 92869 w 7143371"/>
                  <a:gd name="connsiteY305" fmla="*/ 2917984 h 4684871"/>
                  <a:gd name="connsiteX306" fmla="*/ 90297 w 7143371"/>
                  <a:gd name="connsiteY306" fmla="*/ 2947130 h 4684871"/>
                  <a:gd name="connsiteX307" fmla="*/ 21050 w 7143371"/>
                  <a:gd name="connsiteY307" fmla="*/ 3072289 h 4684871"/>
                  <a:gd name="connsiteX308" fmla="*/ 2953 w 7143371"/>
                  <a:gd name="connsiteY308" fmla="*/ 3117247 h 4684871"/>
                  <a:gd name="connsiteX309" fmla="*/ 23051 w 7143371"/>
                  <a:gd name="connsiteY309" fmla="*/ 3160681 h 4684871"/>
                  <a:gd name="connsiteX310" fmla="*/ 60293 w 7143371"/>
                  <a:gd name="connsiteY310" fmla="*/ 3160395 h 4684871"/>
                  <a:gd name="connsiteX311" fmla="*/ 60293 w 7143371"/>
                  <a:gd name="connsiteY311" fmla="*/ 3227546 h 4684871"/>
                  <a:gd name="connsiteX312" fmla="*/ 98870 w 7143371"/>
                  <a:gd name="connsiteY312" fmla="*/ 3227546 h 4684871"/>
                  <a:gd name="connsiteX313" fmla="*/ 98870 w 7143371"/>
                  <a:gd name="connsiteY313" fmla="*/ 3269647 h 4684871"/>
                  <a:gd name="connsiteX314" fmla="*/ 45815 w 7143371"/>
                  <a:gd name="connsiteY314" fmla="*/ 3269647 h 4684871"/>
                  <a:gd name="connsiteX315" fmla="*/ 40195 w 7143371"/>
                  <a:gd name="connsiteY315" fmla="*/ 3277743 h 4684871"/>
                  <a:gd name="connsiteX316" fmla="*/ 40195 w 7143371"/>
                  <a:gd name="connsiteY316" fmla="*/ 3309176 h 4684871"/>
                  <a:gd name="connsiteX317" fmla="*/ 43720 w 7143371"/>
                  <a:gd name="connsiteY317" fmla="*/ 3312890 h 4684871"/>
                  <a:gd name="connsiteX318" fmla="*/ 43720 w 7143371"/>
                  <a:gd name="connsiteY318" fmla="*/ 3316510 h 4684871"/>
                  <a:gd name="connsiteX319" fmla="*/ 40195 w 7143371"/>
                  <a:gd name="connsiteY319" fmla="*/ 3322034 h 4684871"/>
                  <a:gd name="connsiteX320" fmla="*/ 40195 w 7143371"/>
                  <a:gd name="connsiteY320" fmla="*/ 3355658 h 4684871"/>
                  <a:gd name="connsiteX321" fmla="*/ 56483 w 7143371"/>
                  <a:gd name="connsiteY321" fmla="*/ 3369469 h 4684871"/>
                  <a:gd name="connsiteX322" fmla="*/ 103918 w 7143371"/>
                  <a:gd name="connsiteY322" fmla="*/ 3369469 h 4684871"/>
                  <a:gd name="connsiteX323" fmla="*/ 103918 w 7143371"/>
                  <a:gd name="connsiteY323" fmla="*/ 3409950 h 4684871"/>
                  <a:gd name="connsiteX324" fmla="*/ 35719 w 7143371"/>
                  <a:gd name="connsiteY324" fmla="*/ 3405188 h 4684871"/>
                  <a:gd name="connsiteX325" fmla="*/ 667 w 7143371"/>
                  <a:gd name="connsiteY325" fmla="*/ 3405473 h 4684871"/>
                  <a:gd name="connsiteX326" fmla="*/ 667 w 7143371"/>
                  <a:gd name="connsiteY326" fmla="*/ 3453479 h 4684871"/>
                  <a:gd name="connsiteX327" fmla="*/ 24098 w 7143371"/>
                  <a:gd name="connsiteY327" fmla="*/ 3453479 h 4684871"/>
                  <a:gd name="connsiteX328" fmla="*/ 85344 w 7143371"/>
                  <a:gd name="connsiteY328" fmla="*/ 3453479 h 4684871"/>
                  <a:gd name="connsiteX329" fmla="*/ 102870 w 7143371"/>
                  <a:gd name="connsiteY329" fmla="*/ 3508439 h 4684871"/>
                  <a:gd name="connsiteX330" fmla="*/ 127825 w 7143371"/>
                  <a:gd name="connsiteY330" fmla="*/ 3497961 h 4684871"/>
                  <a:gd name="connsiteX331" fmla="*/ 147638 w 7143371"/>
                  <a:gd name="connsiteY331" fmla="*/ 3499294 h 4684871"/>
                  <a:gd name="connsiteX332" fmla="*/ 178022 w 7143371"/>
                  <a:gd name="connsiteY332" fmla="*/ 3554349 h 4684871"/>
                  <a:gd name="connsiteX333" fmla="*/ 179451 w 7143371"/>
                  <a:gd name="connsiteY333" fmla="*/ 3643027 h 4684871"/>
                  <a:gd name="connsiteX334" fmla="*/ 176784 w 7143371"/>
                  <a:gd name="connsiteY334" fmla="*/ 3653695 h 4684871"/>
                  <a:gd name="connsiteX335" fmla="*/ 161544 w 7143371"/>
                  <a:gd name="connsiteY335" fmla="*/ 3655409 h 4684871"/>
                  <a:gd name="connsiteX336" fmla="*/ 123825 w 7143371"/>
                  <a:gd name="connsiteY336" fmla="*/ 3689128 h 4684871"/>
                  <a:gd name="connsiteX337" fmla="*/ 101918 w 7143371"/>
                  <a:gd name="connsiteY337" fmla="*/ 3693890 h 4684871"/>
                  <a:gd name="connsiteX338" fmla="*/ 65246 w 7143371"/>
                  <a:gd name="connsiteY338" fmla="*/ 3732943 h 4684871"/>
                  <a:gd name="connsiteX339" fmla="*/ 58769 w 7143371"/>
                  <a:gd name="connsiteY339" fmla="*/ 3753422 h 4684871"/>
                  <a:gd name="connsiteX340" fmla="*/ 52292 w 7143371"/>
                  <a:gd name="connsiteY340" fmla="*/ 3762375 h 4684871"/>
                  <a:gd name="connsiteX341" fmla="*/ 36481 w 7143371"/>
                  <a:gd name="connsiteY341" fmla="*/ 3763994 h 4684871"/>
                  <a:gd name="connsiteX342" fmla="*/ 12097 w 7143371"/>
                  <a:gd name="connsiteY342" fmla="*/ 3731800 h 4684871"/>
                  <a:gd name="connsiteX343" fmla="*/ 18193 w 7143371"/>
                  <a:gd name="connsiteY343" fmla="*/ 3726275 h 4684871"/>
                  <a:gd name="connsiteX344" fmla="*/ 13430 w 7143371"/>
                  <a:gd name="connsiteY344" fmla="*/ 3722561 h 4684871"/>
                  <a:gd name="connsiteX345" fmla="*/ 9049 w 7143371"/>
                  <a:gd name="connsiteY345" fmla="*/ 3722084 h 4684871"/>
                  <a:gd name="connsiteX346" fmla="*/ 0 w 7143371"/>
                  <a:gd name="connsiteY346" fmla="*/ 3721799 h 4684871"/>
                  <a:gd name="connsiteX347" fmla="*/ 14668 w 7143371"/>
                  <a:gd name="connsiteY347" fmla="*/ 3758851 h 4684871"/>
                  <a:gd name="connsiteX348" fmla="*/ 39910 w 7143371"/>
                  <a:gd name="connsiteY348" fmla="*/ 3775139 h 4684871"/>
                  <a:gd name="connsiteX349" fmla="*/ 539877 w 7143371"/>
                  <a:gd name="connsiteY349" fmla="*/ 3912394 h 4684871"/>
                  <a:gd name="connsiteX350" fmla="*/ 552164 w 7143371"/>
                  <a:gd name="connsiteY350" fmla="*/ 3911632 h 4684871"/>
                  <a:gd name="connsiteX351" fmla="*/ 561023 w 7143371"/>
                  <a:gd name="connsiteY351" fmla="*/ 3907727 h 4684871"/>
                  <a:gd name="connsiteX352" fmla="*/ 546735 w 7143371"/>
                  <a:gd name="connsiteY352" fmla="*/ 3879628 h 4684871"/>
                  <a:gd name="connsiteX353" fmla="*/ 537115 w 7143371"/>
                  <a:gd name="connsiteY353" fmla="*/ 3896678 h 4684871"/>
                  <a:gd name="connsiteX354" fmla="*/ 533591 w 7143371"/>
                  <a:gd name="connsiteY354" fmla="*/ 3897154 h 4684871"/>
                  <a:gd name="connsiteX355" fmla="*/ 521303 w 7143371"/>
                  <a:gd name="connsiteY355" fmla="*/ 3894868 h 4684871"/>
                  <a:gd name="connsiteX356" fmla="*/ 113157 w 7143371"/>
                  <a:gd name="connsiteY356" fmla="*/ 3783140 h 4684871"/>
                  <a:gd name="connsiteX357" fmla="*/ 73914 w 7143371"/>
                  <a:gd name="connsiteY357" fmla="*/ 3739039 h 4684871"/>
                  <a:gd name="connsiteX358" fmla="*/ 106299 w 7143371"/>
                  <a:gd name="connsiteY358" fmla="*/ 3703606 h 4684871"/>
                  <a:gd name="connsiteX359" fmla="*/ 134017 w 7143371"/>
                  <a:gd name="connsiteY359" fmla="*/ 3698081 h 4684871"/>
                  <a:gd name="connsiteX360" fmla="*/ 166592 w 7143371"/>
                  <a:gd name="connsiteY360" fmla="*/ 3665887 h 4684871"/>
                  <a:gd name="connsiteX361" fmla="*/ 186690 w 7143371"/>
                  <a:gd name="connsiteY361" fmla="*/ 3663982 h 4684871"/>
                  <a:gd name="connsiteX362" fmla="*/ 191643 w 7143371"/>
                  <a:gd name="connsiteY362" fmla="*/ 3650171 h 4684871"/>
                  <a:gd name="connsiteX363" fmla="*/ 190500 w 7143371"/>
                  <a:gd name="connsiteY363" fmla="*/ 3553873 h 4684871"/>
                  <a:gd name="connsiteX364" fmla="*/ 172022 w 7143371"/>
                  <a:gd name="connsiteY364" fmla="*/ 3514820 h 4684871"/>
                  <a:gd name="connsiteX365" fmla="*/ 185166 w 7143371"/>
                  <a:gd name="connsiteY365" fmla="*/ 3502533 h 4684871"/>
                  <a:gd name="connsiteX366" fmla="*/ 227838 w 7143371"/>
                  <a:gd name="connsiteY366" fmla="*/ 3502533 h 4684871"/>
                  <a:gd name="connsiteX367" fmla="*/ 237839 w 7143371"/>
                  <a:gd name="connsiteY367" fmla="*/ 3472529 h 4684871"/>
                  <a:gd name="connsiteX368" fmla="*/ 152972 w 7143371"/>
                  <a:gd name="connsiteY368" fmla="*/ 3305270 h 4684871"/>
                  <a:gd name="connsiteX369" fmla="*/ 179356 w 7143371"/>
                  <a:gd name="connsiteY369" fmla="*/ 3236690 h 4684871"/>
                  <a:gd name="connsiteX370" fmla="*/ 336233 w 7143371"/>
                  <a:gd name="connsiteY370" fmla="*/ 3157538 h 4684871"/>
                  <a:gd name="connsiteX371" fmla="*/ 332042 w 7143371"/>
                  <a:gd name="connsiteY371" fmla="*/ 3149632 h 4684871"/>
                  <a:gd name="connsiteX372" fmla="*/ 239078 w 7143371"/>
                  <a:gd name="connsiteY372" fmla="*/ 3196304 h 4684871"/>
                  <a:gd name="connsiteX373" fmla="*/ 241078 w 7143371"/>
                  <a:gd name="connsiteY373" fmla="*/ 3136487 h 4684871"/>
                  <a:gd name="connsiteX374" fmla="*/ 498920 w 7143371"/>
                  <a:gd name="connsiteY374" fmla="*/ 3014091 h 4684871"/>
                  <a:gd name="connsiteX375" fmla="*/ 495491 w 7143371"/>
                  <a:gd name="connsiteY375" fmla="*/ 3067050 h 4684871"/>
                  <a:gd name="connsiteX376" fmla="*/ 414814 w 7143371"/>
                  <a:gd name="connsiteY376" fmla="*/ 3108293 h 4684871"/>
                  <a:gd name="connsiteX377" fmla="*/ 418910 w 7143371"/>
                  <a:gd name="connsiteY377" fmla="*/ 3116485 h 4684871"/>
                  <a:gd name="connsiteX378" fmla="*/ 506063 w 7143371"/>
                  <a:gd name="connsiteY378" fmla="*/ 3071622 h 4684871"/>
                  <a:gd name="connsiteX379" fmla="*/ 520160 w 7143371"/>
                  <a:gd name="connsiteY379" fmla="*/ 2870454 h 4684871"/>
                  <a:gd name="connsiteX380" fmla="*/ 649796 w 7143371"/>
                  <a:gd name="connsiteY380" fmla="*/ 2760917 h 4684871"/>
                  <a:gd name="connsiteX381" fmla="*/ 553212 w 7143371"/>
                  <a:gd name="connsiteY381" fmla="*/ 2592800 h 4684871"/>
                  <a:gd name="connsiteX382" fmla="*/ 549021 w 7143371"/>
                  <a:gd name="connsiteY382" fmla="*/ 2575369 h 4684871"/>
                  <a:gd name="connsiteX383" fmla="*/ 516160 w 7143371"/>
                  <a:gd name="connsiteY383" fmla="*/ 2520125 h 4684871"/>
                  <a:gd name="connsiteX384" fmla="*/ 512731 w 7143371"/>
                  <a:gd name="connsiteY384" fmla="*/ 2502789 h 4684871"/>
                  <a:gd name="connsiteX385" fmla="*/ 486918 w 7143371"/>
                  <a:gd name="connsiteY385" fmla="*/ 2452211 h 4684871"/>
                  <a:gd name="connsiteX386" fmla="*/ 467297 w 7143371"/>
                  <a:gd name="connsiteY386" fmla="*/ 2426589 h 4684871"/>
                  <a:gd name="connsiteX387" fmla="*/ 452057 w 7143371"/>
                  <a:gd name="connsiteY387" fmla="*/ 2409539 h 4684871"/>
                  <a:gd name="connsiteX388" fmla="*/ 438912 w 7143371"/>
                  <a:gd name="connsiteY388" fmla="*/ 2380012 h 4684871"/>
                  <a:gd name="connsiteX389" fmla="*/ 472821 w 7143371"/>
                  <a:gd name="connsiteY389" fmla="*/ 2316385 h 4684871"/>
                  <a:gd name="connsiteX390" fmla="*/ 557403 w 7143371"/>
                  <a:gd name="connsiteY390" fmla="*/ 2400681 h 4684871"/>
                  <a:gd name="connsiteX391" fmla="*/ 582549 w 7143371"/>
                  <a:gd name="connsiteY391" fmla="*/ 2379821 h 4684871"/>
                  <a:gd name="connsiteX392" fmla="*/ 586931 w 7143371"/>
                  <a:gd name="connsiteY392" fmla="*/ 2370582 h 4684871"/>
                  <a:gd name="connsiteX393" fmla="*/ 655320 w 7143371"/>
                  <a:gd name="connsiteY393" fmla="*/ 2300954 h 4684871"/>
                  <a:gd name="connsiteX394" fmla="*/ 685133 w 7143371"/>
                  <a:gd name="connsiteY394" fmla="*/ 2332387 h 4684871"/>
                  <a:gd name="connsiteX395" fmla="*/ 597884 w 7143371"/>
                  <a:gd name="connsiteY395" fmla="*/ 2432590 h 4684871"/>
                  <a:gd name="connsiteX396" fmla="*/ 651986 w 7143371"/>
                  <a:gd name="connsiteY396" fmla="*/ 2497360 h 4684871"/>
                  <a:gd name="connsiteX397" fmla="*/ 750284 w 7143371"/>
                  <a:gd name="connsiteY397" fmla="*/ 2390775 h 4684871"/>
                  <a:gd name="connsiteX398" fmla="*/ 767525 w 7143371"/>
                  <a:gd name="connsiteY398" fmla="*/ 2409920 h 4684871"/>
                  <a:gd name="connsiteX399" fmla="*/ 654082 w 7143371"/>
                  <a:gd name="connsiteY399" fmla="*/ 2539556 h 4684871"/>
                  <a:gd name="connsiteX400" fmla="*/ 675704 w 7143371"/>
                  <a:gd name="connsiteY400" fmla="*/ 2565654 h 4684871"/>
                  <a:gd name="connsiteX401" fmla="*/ 706946 w 7143371"/>
                  <a:gd name="connsiteY401" fmla="*/ 2538698 h 4684871"/>
                  <a:gd name="connsiteX402" fmla="*/ 746665 w 7143371"/>
                  <a:gd name="connsiteY402" fmla="*/ 2585942 h 4684871"/>
                  <a:gd name="connsiteX403" fmla="*/ 754761 w 7143371"/>
                  <a:gd name="connsiteY403" fmla="*/ 2578989 h 4684871"/>
                  <a:gd name="connsiteX404" fmla="*/ 768287 w 7143371"/>
                  <a:gd name="connsiteY404" fmla="*/ 2594991 h 4684871"/>
                  <a:gd name="connsiteX405" fmla="*/ 748189 w 7143371"/>
                  <a:gd name="connsiteY405" fmla="*/ 2612327 h 4684871"/>
                  <a:gd name="connsiteX406" fmla="*/ 759047 w 7143371"/>
                  <a:gd name="connsiteY406" fmla="*/ 2625281 h 4684871"/>
                  <a:gd name="connsiteX407" fmla="*/ 781336 w 7143371"/>
                  <a:gd name="connsiteY407" fmla="*/ 2605659 h 4684871"/>
                  <a:gd name="connsiteX408" fmla="*/ 795052 w 7143371"/>
                  <a:gd name="connsiteY408" fmla="*/ 2622137 h 4684871"/>
                  <a:gd name="connsiteX409" fmla="*/ 783146 w 7143371"/>
                  <a:gd name="connsiteY409" fmla="*/ 2632043 h 4684871"/>
                  <a:gd name="connsiteX410" fmla="*/ 868490 w 7143371"/>
                  <a:gd name="connsiteY410" fmla="*/ 2676620 h 4684871"/>
                  <a:gd name="connsiteX411" fmla="*/ 886968 w 7143371"/>
                  <a:gd name="connsiteY411" fmla="*/ 2708053 h 4684871"/>
                  <a:gd name="connsiteX412" fmla="*/ 908304 w 7143371"/>
                  <a:gd name="connsiteY412" fmla="*/ 2731389 h 4684871"/>
                  <a:gd name="connsiteX413" fmla="*/ 1020413 w 7143371"/>
                  <a:gd name="connsiteY413" fmla="*/ 2631377 h 4684871"/>
                  <a:gd name="connsiteX414" fmla="*/ 943737 w 7143371"/>
                  <a:gd name="connsiteY414" fmla="*/ 2551367 h 4684871"/>
                  <a:gd name="connsiteX415" fmla="*/ 937355 w 7143371"/>
                  <a:gd name="connsiteY415" fmla="*/ 2467928 h 4684871"/>
                  <a:gd name="connsiteX416" fmla="*/ 995648 w 7143371"/>
                  <a:gd name="connsiteY416" fmla="*/ 2461451 h 4684871"/>
                  <a:gd name="connsiteX417" fmla="*/ 999839 w 7143371"/>
                  <a:gd name="connsiteY417" fmla="*/ 2527173 h 4684871"/>
                  <a:gd name="connsiteX418" fmla="*/ 1078516 w 7143371"/>
                  <a:gd name="connsiteY418" fmla="*/ 2611469 h 4684871"/>
                  <a:gd name="connsiteX419" fmla="*/ 1127474 w 7143371"/>
                  <a:gd name="connsiteY419" fmla="*/ 2590705 h 4684871"/>
                  <a:gd name="connsiteX420" fmla="*/ 1114616 w 7143371"/>
                  <a:gd name="connsiteY420" fmla="*/ 2429256 h 4684871"/>
                  <a:gd name="connsiteX421" fmla="*/ 1127855 w 7143371"/>
                  <a:gd name="connsiteY421" fmla="*/ 2417540 h 4684871"/>
                  <a:gd name="connsiteX422" fmla="*/ 1144619 w 7143371"/>
                  <a:gd name="connsiteY422" fmla="*/ 2440496 h 4684871"/>
                  <a:gd name="connsiteX423" fmla="*/ 1153478 w 7143371"/>
                  <a:gd name="connsiteY423" fmla="*/ 2576132 h 4684871"/>
                  <a:gd name="connsiteX424" fmla="*/ 1205198 w 7143371"/>
                  <a:gd name="connsiteY424" fmla="*/ 2566607 h 4684871"/>
                  <a:gd name="connsiteX425" fmla="*/ 1271969 w 7143371"/>
                  <a:gd name="connsiteY425" fmla="*/ 2566416 h 4684871"/>
                  <a:gd name="connsiteX426" fmla="*/ 1304735 w 7143371"/>
                  <a:gd name="connsiteY426" fmla="*/ 2547652 h 4684871"/>
                  <a:gd name="connsiteX427" fmla="*/ 1305687 w 7143371"/>
                  <a:gd name="connsiteY427" fmla="*/ 2512505 h 4684871"/>
                  <a:gd name="connsiteX428" fmla="*/ 1301496 w 7143371"/>
                  <a:gd name="connsiteY428" fmla="*/ 2485644 h 4684871"/>
                  <a:gd name="connsiteX429" fmla="*/ 1310545 w 7143371"/>
                  <a:gd name="connsiteY429" fmla="*/ 2463451 h 4684871"/>
                  <a:gd name="connsiteX430" fmla="*/ 1314640 w 7143371"/>
                  <a:gd name="connsiteY430" fmla="*/ 2456783 h 4684871"/>
                  <a:gd name="connsiteX431" fmla="*/ 1326261 w 7143371"/>
                  <a:gd name="connsiteY431" fmla="*/ 2468785 h 4684871"/>
                  <a:gd name="connsiteX432" fmla="*/ 1316355 w 7143371"/>
                  <a:gd name="connsiteY432" fmla="*/ 2480691 h 4684871"/>
                  <a:gd name="connsiteX433" fmla="*/ 1323975 w 7143371"/>
                  <a:gd name="connsiteY433" fmla="*/ 2500598 h 4684871"/>
                  <a:gd name="connsiteX434" fmla="*/ 1330357 w 7143371"/>
                  <a:gd name="connsiteY434" fmla="*/ 2528888 h 4684871"/>
                  <a:gd name="connsiteX435" fmla="*/ 1330357 w 7143371"/>
                  <a:gd name="connsiteY435" fmla="*/ 2567559 h 4684871"/>
                  <a:gd name="connsiteX436" fmla="*/ 1392460 w 7143371"/>
                  <a:gd name="connsiteY436" fmla="*/ 2567559 h 4684871"/>
                  <a:gd name="connsiteX437" fmla="*/ 1392460 w 7143371"/>
                  <a:gd name="connsiteY437" fmla="*/ 2510504 h 4684871"/>
                  <a:gd name="connsiteX438" fmla="*/ 1341215 w 7143371"/>
                  <a:gd name="connsiteY438" fmla="*/ 2456021 h 4684871"/>
                  <a:gd name="connsiteX439" fmla="*/ 1335310 w 7143371"/>
                  <a:gd name="connsiteY439" fmla="*/ 2460784 h 4684871"/>
                  <a:gd name="connsiteX440" fmla="*/ 1323404 w 7143371"/>
                  <a:gd name="connsiteY440" fmla="*/ 2448497 h 4684871"/>
                  <a:gd name="connsiteX441" fmla="*/ 1326356 w 7143371"/>
                  <a:gd name="connsiteY441" fmla="*/ 2445068 h 4684871"/>
                  <a:gd name="connsiteX442" fmla="*/ 1361789 w 7143371"/>
                  <a:gd name="connsiteY442" fmla="*/ 2445068 h 4684871"/>
                  <a:gd name="connsiteX443" fmla="*/ 1362932 w 7143371"/>
                  <a:gd name="connsiteY443" fmla="*/ 2460308 h 4684871"/>
                  <a:gd name="connsiteX444" fmla="*/ 1430465 w 7143371"/>
                  <a:gd name="connsiteY444" fmla="*/ 2499551 h 4684871"/>
                  <a:gd name="connsiteX445" fmla="*/ 1430465 w 7143371"/>
                  <a:gd name="connsiteY445" fmla="*/ 2533555 h 4684871"/>
                  <a:gd name="connsiteX446" fmla="*/ 1521143 w 7143371"/>
                  <a:gd name="connsiteY446" fmla="*/ 2533555 h 4684871"/>
                  <a:gd name="connsiteX447" fmla="*/ 1521143 w 7143371"/>
                  <a:gd name="connsiteY447" fmla="*/ 2450211 h 4684871"/>
                  <a:gd name="connsiteX448" fmla="*/ 1561719 w 7143371"/>
                  <a:gd name="connsiteY448" fmla="*/ 2430875 h 4684871"/>
                  <a:gd name="connsiteX449" fmla="*/ 1561719 w 7143371"/>
                  <a:gd name="connsiteY449" fmla="*/ 2688336 h 4684871"/>
                  <a:gd name="connsiteX450" fmla="*/ 1541621 w 7143371"/>
                  <a:gd name="connsiteY450" fmla="*/ 2677478 h 4684871"/>
                  <a:gd name="connsiteX451" fmla="*/ 1504760 w 7143371"/>
                  <a:gd name="connsiteY451" fmla="*/ 2673286 h 4684871"/>
                  <a:gd name="connsiteX452" fmla="*/ 1481614 w 7143371"/>
                  <a:gd name="connsiteY452" fmla="*/ 2674620 h 4684871"/>
                  <a:gd name="connsiteX453" fmla="*/ 1465517 w 7143371"/>
                  <a:gd name="connsiteY453" fmla="*/ 2693670 h 4684871"/>
                  <a:gd name="connsiteX454" fmla="*/ 1450848 w 7143371"/>
                  <a:gd name="connsiteY454" fmla="*/ 2698528 h 4684871"/>
                  <a:gd name="connsiteX455" fmla="*/ 1446657 w 7143371"/>
                  <a:gd name="connsiteY455" fmla="*/ 2704719 h 4684871"/>
                  <a:gd name="connsiteX456" fmla="*/ 1445990 w 7143371"/>
                  <a:gd name="connsiteY456" fmla="*/ 2717673 h 4684871"/>
                  <a:gd name="connsiteX457" fmla="*/ 1471422 w 7143371"/>
                  <a:gd name="connsiteY457" fmla="*/ 2738723 h 4684871"/>
                  <a:gd name="connsiteX458" fmla="*/ 1475518 w 7143371"/>
                  <a:gd name="connsiteY458" fmla="*/ 2744819 h 4684871"/>
                  <a:gd name="connsiteX459" fmla="*/ 1488377 w 7143371"/>
                  <a:gd name="connsiteY459" fmla="*/ 2746439 h 4684871"/>
                  <a:gd name="connsiteX460" fmla="*/ 1500092 w 7143371"/>
                  <a:gd name="connsiteY460" fmla="*/ 2768918 h 4684871"/>
                  <a:gd name="connsiteX461" fmla="*/ 1503521 w 7143371"/>
                  <a:gd name="connsiteY461" fmla="*/ 2784919 h 4684871"/>
                  <a:gd name="connsiteX462" fmla="*/ 1493044 w 7143371"/>
                  <a:gd name="connsiteY462" fmla="*/ 2792540 h 4684871"/>
                  <a:gd name="connsiteX463" fmla="*/ 1490663 w 7143371"/>
                  <a:gd name="connsiteY463" fmla="*/ 2805398 h 4684871"/>
                  <a:gd name="connsiteX464" fmla="*/ 1500854 w 7143371"/>
                  <a:gd name="connsiteY464" fmla="*/ 2820257 h 4684871"/>
                  <a:gd name="connsiteX465" fmla="*/ 1498759 w 7143371"/>
                  <a:gd name="connsiteY465" fmla="*/ 2836450 h 4684871"/>
                  <a:gd name="connsiteX466" fmla="*/ 1522762 w 7143371"/>
                  <a:gd name="connsiteY466" fmla="*/ 2878550 h 4684871"/>
                  <a:gd name="connsiteX467" fmla="*/ 1544955 w 7143371"/>
                  <a:gd name="connsiteY467" fmla="*/ 2883884 h 4684871"/>
                  <a:gd name="connsiteX468" fmla="*/ 1545241 w 7143371"/>
                  <a:gd name="connsiteY468" fmla="*/ 2896743 h 4684871"/>
                  <a:gd name="connsiteX469" fmla="*/ 1530001 w 7143371"/>
                  <a:gd name="connsiteY469" fmla="*/ 2911126 h 4684871"/>
                  <a:gd name="connsiteX470" fmla="*/ 1528286 w 7143371"/>
                  <a:gd name="connsiteY470" fmla="*/ 2927033 h 4684871"/>
                  <a:gd name="connsiteX471" fmla="*/ 1512570 w 7143371"/>
                  <a:gd name="connsiteY471" fmla="*/ 2921984 h 4684871"/>
                  <a:gd name="connsiteX472" fmla="*/ 1513999 w 7143371"/>
                  <a:gd name="connsiteY472" fmla="*/ 2891981 h 4684871"/>
                  <a:gd name="connsiteX473" fmla="*/ 1507522 w 7143371"/>
                  <a:gd name="connsiteY473" fmla="*/ 2882932 h 4684871"/>
                  <a:gd name="connsiteX474" fmla="*/ 1495901 w 7143371"/>
                  <a:gd name="connsiteY474" fmla="*/ 2876741 h 4684871"/>
                  <a:gd name="connsiteX475" fmla="*/ 1478566 w 7143371"/>
                  <a:gd name="connsiteY475" fmla="*/ 2895886 h 4684871"/>
                  <a:gd name="connsiteX476" fmla="*/ 1464278 w 7143371"/>
                  <a:gd name="connsiteY476" fmla="*/ 2890838 h 4684871"/>
                  <a:gd name="connsiteX477" fmla="*/ 1457897 w 7143371"/>
                  <a:gd name="connsiteY477" fmla="*/ 2863310 h 4684871"/>
                  <a:gd name="connsiteX478" fmla="*/ 1403795 w 7143371"/>
                  <a:gd name="connsiteY478" fmla="*/ 2787873 h 4684871"/>
                  <a:gd name="connsiteX479" fmla="*/ 1327976 w 7143371"/>
                  <a:gd name="connsiteY479" fmla="*/ 2868740 h 4684871"/>
                  <a:gd name="connsiteX480" fmla="*/ 1340930 w 7143371"/>
                  <a:gd name="connsiteY480" fmla="*/ 2892933 h 4684871"/>
                  <a:gd name="connsiteX481" fmla="*/ 1301782 w 7143371"/>
                  <a:gd name="connsiteY481" fmla="*/ 2920175 h 4684871"/>
                  <a:gd name="connsiteX482" fmla="*/ 1280922 w 7143371"/>
                  <a:gd name="connsiteY482" fmla="*/ 2907316 h 4684871"/>
                  <a:gd name="connsiteX483" fmla="*/ 1250728 w 7143371"/>
                  <a:gd name="connsiteY483" fmla="*/ 2947797 h 4684871"/>
                  <a:gd name="connsiteX484" fmla="*/ 1222915 w 7143371"/>
                  <a:gd name="connsiteY484" fmla="*/ 2977515 h 4684871"/>
                  <a:gd name="connsiteX485" fmla="*/ 1158050 w 7143371"/>
                  <a:gd name="connsiteY485" fmla="*/ 2920175 h 4684871"/>
                  <a:gd name="connsiteX486" fmla="*/ 1259586 w 7143371"/>
                  <a:gd name="connsiteY486" fmla="*/ 2820543 h 4684871"/>
                  <a:gd name="connsiteX487" fmla="*/ 1266825 w 7143371"/>
                  <a:gd name="connsiteY487" fmla="*/ 2794444 h 4684871"/>
                  <a:gd name="connsiteX488" fmla="*/ 1334453 w 7143371"/>
                  <a:gd name="connsiteY488" fmla="*/ 2714244 h 4684871"/>
                  <a:gd name="connsiteX489" fmla="*/ 1325023 w 7143371"/>
                  <a:gd name="connsiteY489" fmla="*/ 2701100 h 4684871"/>
                  <a:gd name="connsiteX490" fmla="*/ 1230440 w 7143371"/>
                  <a:gd name="connsiteY490" fmla="*/ 2702243 h 4684871"/>
                  <a:gd name="connsiteX491" fmla="*/ 1157383 w 7143371"/>
                  <a:gd name="connsiteY491" fmla="*/ 2719388 h 4684871"/>
                  <a:gd name="connsiteX492" fmla="*/ 753332 w 7143371"/>
                  <a:gd name="connsiteY492" fmla="*/ 3004852 h 4684871"/>
                  <a:gd name="connsiteX493" fmla="*/ 773240 w 7143371"/>
                  <a:gd name="connsiteY493" fmla="*/ 3040856 h 4684871"/>
                  <a:gd name="connsiteX494" fmla="*/ 817626 w 7143371"/>
                  <a:gd name="connsiteY494" fmla="*/ 3101721 h 4684871"/>
                  <a:gd name="connsiteX495" fmla="*/ 818198 w 7143371"/>
                  <a:gd name="connsiteY495" fmla="*/ 3145727 h 4684871"/>
                  <a:gd name="connsiteX496" fmla="*/ 853535 w 7143371"/>
                  <a:gd name="connsiteY496" fmla="*/ 3214021 h 4684871"/>
                  <a:gd name="connsiteX497" fmla="*/ 864108 w 7143371"/>
                  <a:gd name="connsiteY497" fmla="*/ 3232499 h 4684871"/>
                  <a:gd name="connsiteX498" fmla="*/ 947452 w 7143371"/>
                  <a:gd name="connsiteY498" fmla="*/ 3382137 h 4684871"/>
                  <a:gd name="connsiteX499" fmla="*/ 884587 w 7143371"/>
                  <a:gd name="connsiteY499" fmla="*/ 3418618 h 4684871"/>
                  <a:gd name="connsiteX500" fmla="*/ 892874 w 7143371"/>
                  <a:gd name="connsiteY500" fmla="*/ 3436049 h 4684871"/>
                  <a:gd name="connsiteX501" fmla="*/ 939451 w 7143371"/>
                  <a:gd name="connsiteY501" fmla="*/ 3539966 h 4684871"/>
                  <a:gd name="connsiteX502" fmla="*/ 949166 w 7143371"/>
                  <a:gd name="connsiteY502" fmla="*/ 3544443 h 4684871"/>
                  <a:gd name="connsiteX503" fmla="*/ 1003364 w 7143371"/>
                  <a:gd name="connsiteY503" fmla="*/ 3547777 h 4684871"/>
                  <a:gd name="connsiteX504" fmla="*/ 1048798 w 7143371"/>
                  <a:gd name="connsiteY504" fmla="*/ 3648456 h 4684871"/>
                  <a:gd name="connsiteX505" fmla="*/ 994601 w 7143371"/>
                  <a:gd name="connsiteY505" fmla="*/ 3701510 h 4684871"/>
                  <a:gd name="connsiteX506" fmla="*/ 988124 w 7143371"/>
                  <a:gd name="connsiteY506" fmla="*/ 3700463 h 4684871"/>
                  <a:gd name="connsiteX507" fmla="*/ 966502 w 7143371"/>
                  <a:gd name="connsiteY507" fmla="*/ 3653885 h 4684871"/>
                  <a:gd name="connsiteX508" fmla="*/ 961168 w 7143371"/>
                  <a:gd name="connsiteY508" fmla="*/ 3633978 h 4684871"/>
                  <a:gd name="connsiteX509" fmla="*/ 955643 w 7143371"/>
                  <a:gd name="connsiteY509" fmla="*/ 3632835 h 4684871"/>
                  <a:gd name="connsiteX510" fmla="*/ 958882 w 7143371"/>
                  <a:gd name="connsiteY510" fmla="*/ 3652742 h 4684871"/>
                  <a:gd name="connsiteX511" fmla="*/ 982790 w 7143371"/>
                  <a:gd name="connsiteY511" fmla="*/ 3705987 h 4684871"/>
                  <a:gd name="connsiteX512" fmla="*/ 1004507 w 7143371"/>
                  <a:gd name="connsiteY512" fmla="*/ 3720370 h 4684871"/>
                  <a:gd name="connsiteX513" fmla="*/ 1021747 w 7143371"/>
                  <a:gd name="connsiteY513" fmla="*/ 3714750 h 4684871"/>
                  <a:gd name="connsiteX514" fmla="*/ 1148525 w 7143371"/>
                  <a:gd name="connsiteY514" fmla="*/ 3581115 h 4684871"/>
                  <a:gd name="connsiteX515" fmla="*/ 1142048 w 7143371"/>
                  <a:gd name="connsiteY515" fmla="*/ 3564350 h 4684871"/>
                  <a:gd name="connsiteX516" fmla="*/ 1210247 w 7143371"/>
                  <a:gd name="connsiteY516" fmla="*/ 3500152 h 4684871"/>
                  <a:gd name="connsiteX517" fmla="*/ 1223201 w 7143371"/>
                  <a:gd name="connsiteY517" fmla="*/ 3504438 h 4684871"/>
                  <a:gd name="connsiteX518" fmla="*/ 1254538 w 7143371"/>
                  <a:gd name="connsiteY518" fmla="*/ 3464814 h 4684871"/>
                  <a:gd name="connsiteX519" fmla="*/ 1254538 w 7143371"/>
                  <a:gd name="connsiteY519" fmla="*/ 3432524 h 4684871"/>
                  <a:gd name="connsiteX520" fmla="*/ 1194911 w 7143371"/>
                  <a:gd name="connsiteY520" fmla="*/ 3220307 h 4684871"/>
                  <a:gd name="connsiteX521" fmla="*/ 1183005 w 7143371"/>
                  <a:gd name="connsiteY521" fmla="*/ 3194780 h 4684871"/>
                  <a:gd name="connsiteX522" fmla="*/ 1101090 w 7143371"/>
                  <a:gd name="connsiteY522" fmla="*/ 3116675 h 4684871"/>
                  <a:gd name="connsiteX523" fmla="*/ 1173956 w 7143371"/>
                  <a:gd name="connsiteY523" fmla="*/ 3037999 h 4684871"/>
                  <a:gd name="connsiteX524" fmla="*/ 1281970 w 7143371"/>
                  <a:gd name="connsiteY524" fmla="*/ 3130677 h 4684871"/>
                  <a:gd name="connsiteX525" fmla="*/ 1308068 w 7143371"/>
                  <a:gd name="connsiteY525" fmla="*/ 3167444 h 4684871"/>
                  <a:gd name="connsiteX526" fmla="*/ 1341215 w 7143371"/>
                  <a:gd name="connsiteY526" fmla="*/ 3296507 h 4684871"/>
                  <a:gd name="connsiteX527" fmla="*/ 1435513 w 7143371"/>
                  <a:gd name="connsiteY527" fmla="*/ 3270885 h 4684871"/>
                  <a:gd name="connsiteX528" fmla="*/ 1550480 w 7143371"/>
                  <a:gd name="connsiteY528" fmla="*/ 3216688 h 4684871"/>
                  <a:gd name="connsiteX529" fmla="*/ 1605725 w 7143371"/>
                  <a:gd name="connsiteY529" fmla="*/ 3182493 h 4684871"/>
                  <a:gd name="connsiteX530" fmla="*/ 1602486 w 7143371"/>
                  <a:gd name="connsiteY530" fmla="*/ 3161443 h 4684871"/>
                  <a:gd name="connsiteX531" fmla="*/ 1469708 w 7143371"/>
                  <a:gd name="connsiteY531" fmla="*/ 3078671 h 4684871"/>
                  <a:gd name="connsiteX532" fmla="*/ 1489234 w 7143371"/>
                  <a:gd name="connsiteY532" fmla="*/ 3035523 h 4684871"/>
                  <a:gd name="connsiteX533" fmla="*/ 1531620 w 7143371"/>
                  <a:gd name="connsiteY533" fmla="*/ 3053144 h 4684871"/>
                  <a:gd name="connsiteX534" fmla="*/ 1548860 w 7143371"/>
                  <a:gd name="connsiteY534" fmla="*/ 3022283 h 4684871"/>
                  <a:gd name="connsiteX535" fmla="*/ 1553242 w 7143371"/>
                  <a:gd name="connsiteY535" fmla="*/ 3020092 h 4684871"/>
                  <a:gd name="connsiteX536" fmla="*/ 1556480 w 7143371"/>
                  <a:gd name="connsiteY536" fmla="*/ 3037808 h 4684871"/>
                  <a:gd name="connsiteX537" fmla="*/ 1556480 w 7143371"/>
                  <a:gd name="connsiteY537" fmla="*/ 3044476 h 4684871"/>
                  <a:gd name="connsiteX538" fmla="*/ 1562957 w 7143371"/>
                  <a:gd name="connsiteY538" fmla="*/ 3057716 h 4684871"/>
                  <a:gd name="connsiteX539" fmla="*/ 1579245 w 7143371"/>
                  <a:gd name="connsiteY539" fmla="*/ 3067526 h 4684871"/>
                  <a:gd name="connsiteX540" fmla="*/ 1652397 w 7143371"/>
                  <a:gd name="connsiteY540" fmla="*/ 3117152 h 4684871"/>
                  <a:gd name="connsiteX541" fmla="*/ 1699546 w 7143371"/>
                  <a:gd name="connsiteY541" fmla="*/ 3147536 h 4684871"/>
                  <a:gd name="connsiteX542" fmla="*/ 1734407 w 7143371"/>
                  <a:gd name="connsiteY542" fmla="*/ 3156204 h 4684871"/>
                  <a:gd name="connsiteX543" fmla="*/ 1762125 w 7143371"/>
                  <a:gd name="connsiteY543" fmla="*/ 3152299 h 4684871"/>
                  <a:gd name="connsiteX544" fmla="*/ 1786128 w 7143371"/>
                  <a:gd name="connsiteY544" fmla="*/ 3146203 h 4684871"/>
                  <a:gd name="connsiteX545" fmla="*/ 1818513 w 7143371"/>
                  <a:gd name="connsiteY545" fmla="*/ 3129153 h 4684871"/>
                  <a:gd name="connsiteX546" fmla="*/ 1835468 w 7143371"/>
                  <a:gd name="connsiteY546" fmla="*/ 3123057 h 4684871"/>
                  <a:gd name="connsiteX547" fmla="*/ 1849755 w 7143371"/>
                  <a:gd name="connsiteY547" fmla="*/ 3109627 h 4684871"/>
                  <a:gd name="connsiteX548" fmla="*/ 1831562 w 7143371"/>
                  <a:gd name="connsiteY548" fmla="*/ 3091053 h 4684871"/>
                  <a:gd name="connsiteX549" fmla="*/ 1832515 w 7143371"/>
                  <a:gd name="connsiteY549" fmla="*/ 3080099 h 4684871"/>
                  <a:gd name="connsiteX550" fmla="*/ 1840992 w 7143371"/>
                  <a:gd name="connsiteY550" fmla="*/ 3074194 h 4684871"/>
                  <a:gd name="connsiteX551" fmla="*/ 1840706 w 7143371"/>
                  <a:gd name="connsiteY551" fmla="*/ 3059621 h 4684871"/>
                  <a:gd name="connsiteX552" fmla="*/ 1826990 w 7143371"/>
                  <a:gd name="connsiteY552" fmla="*/ 3050096 h 4684871"/>
                  <a:gd name="connsiteX553" fmla="*/ 1749076 w 7143371"/>
                  <a:gd name="connsiteY553" fmla="*/ 3022092 h 4684871"/>
                  <a:gd name="connsiteX554" fmla="*/ 1783652 w 7143371"/>
                  <a:gd name="connsiteY554" fmla="*/ 2989898 h 4684871"/>
                  <a:gd name="connsiteX555" fmla="*/ 1853946 w 7143371"/>
                  <a:gd name="connsiteY555" fmla="*/ 3008471 h 4684871"/>
                  <a:gd name="connsiteX556" fmla="*/ 1872044 w 7143371"/>
                  <a:gd name="connsiteY556" fmla="*/ 3011615 h 4684871"/>
                  <a:gd name="connsiteX557" fmla="*/ 1884331 w 7143371"/>
                  <a:gd name="connsiteY557" fmla="*/ 3026569 h 4684871"/>
                  <a:gd name="connsiteX558" fmla="*/ 1903667 w 7143371"/>
                  <a:gd name="connsiteY558" fmla="*/ 3017234 h 4684871"/>
                  <a:gd name="connsiteX559" fmla="*/ 1929765 w 7143371"/>
                  <a:gd name="connsiteY559" fmla="*/ 3016091 h 4684871"/>
                  <a:gd name="connsiteX560" fmla="*/ 1945862 w 7143371"/>
                  <a:gd name="connsiteY560" fmla="*/ 3009615 h 4684871"/>
                  <a:gd name="connsiteX561" fmla="*/ 1987772 w 7143371"/>
                  <a:gd name="connsiteY561" fmla="*/ 2961418 h 4684871"/>
                  <a:gd name="connsiteX562" fmla="*/ 1979009 w 7143371"/>
                  <a:gd name="connsiteY562" fmla="*/ 2945892 h 4684871"/>
                  <a:gd name="connsiteX563" fmla="*/ 1911953 w 7143371"/>
                  <a:gd name="connsiteY563" fmla="*/ 2884075 h 4684871"/>
                  <a:gd name="connsiteX564" fmla="*/ 1865376 w 7143371"/>
                  <a:gd name="connsiteY564" fmla="*/ 2880646 h 4684871"/>
                  <a:gd name="connsiteX565" fmla="*/ 1792796 w 7143371"/>
                  <a:gd name="connsiteY565" fmla="*/ 2802255 h 4684871"/>
                  <a:gd name="connsiteX566" fmla="*/ 1788605 w 7143371"/>
                  <a:gd name="connsiteY566" fmla="*/ 2782348 h 4684871"/>
                  <a:gd name="connsiteX567" fmla="*/ 1775651 w 7143371"/>
                  <a:gd name="connsiteY567" fmla="*/ 2748058 h 4684871"/>
                  <a:gd name="connsiteX568" fmla="*/ 1757172 w 7143371"/>
                  <a:gd name="connsiteY568" fmla="*/ 2718054 h 4684871"/>
                  <a:gd name="connsiteX569" fmla="*/ 1708309 w 7143371"/>
                  <a:gd name="connsiteY569" fmla="*/ 2695956 h 4684871"/>
                  <a:gd name="connsiteX570" fmla="*/ 1683449 w 7143371"/>
                  <a:gd name="connsiteY570" fmla="*/ 2713673 h 4684871"/>
                  <a:gd name="connsiteX571" fmla="*/ 1678115 w 7143371"/>
                  <a:gd name="connsiteY571" fmla="*/ 2713673 h 4684871"/>
                  <a:gd name="connsiteX572" fmla="*/ 1691069 w 7143371"/>
                  <a:gd name="connsiteY572" fmla="*/ 2691575 h 4684871"/>
                  <a:gd name="connsiteX573" fmla="*/ 1669447 w 7143371"/>
                  <a:gd name="connsiteY573" fmla="*/ 2683764 h 4684871"/>
                  <a:gd name="connsiteX574" fmla="*/ 1662970 w 7143371"/>
                  <a:gd name="connsiteY574" fmla="*/ 2707958 h 4684871"/>
                  <a:gd name="connsiteX575" fmla="*/ 1648873 w 7143371"/>
                  <a:gd name="connsiteY575" fmla="*/ 2703671 h 4684871"/>
                  <a:gd name="connsiteX576" fmla="*/ 1627156 w 7143371"/>
                  <a:gd name="connsiteY576" fmla="*/ 2697004 h 4684871"/>
                  <a:gd name="connsiteX577" fmla="*/ 1576483 w 7143371"/>
                  <a:gd name="connsiteY577" fmla="*/ 2693575 h 4684871"/>
                  <a:gd name="connsiteX578" fmla="*/ 1572482 w 7143371"/>
                  <a:gd name="connsiteY578" fmla="*/ 2692146 h 4684871"/>
                  <a:gd name="connsiteX579" fmla="*/ 1572482 w 7143371"/>
                  <a:gd name="connsiteY579" fmla="*/ 2569274 h 4684871"/>
                  <a:gd name="connsiteX580" fmla="*/ 1732502 w 7143371"/>
                  <a:gd name="connsiteY580" fmla="*/ 2569274 h 4684871"/>
                  <a:gd name="connsiteX581" fmla="*/ 1732502 w 7143371"/>
                  <a:gd name="connsiteY581" fmla="*/ 2562797 h 4684871"/>
                  <a:gd name="connsiteX582" fmla="*/ 1700689 w 7143371"/>
                  <a:gd name="connsiteY582" fmla="*/ 2562797 h 4684871"/>
                  <a:gd name="connsiteX583" fmla="*/ 1706213 w 7143371"/>
                  <a:gd name="connsiteY583" fmla="*/ 2550986 h 4684871"/>
                  <a:gd name="connsiteX584" fmla="*/ 1697165 w 7143371"/>
                  <a:gd name="connsiteY584" fmla="*/ 2537555 h 4684871"/>
                  <a:gd name="connsiteX585" fmla="*/ 1611630 w 7143371"/>
                  <a:gd name="connsiteY585" fmla="*/ 2464594 h 4684871"/>
                  <a:gd name="connsiteX586" fmla="*/ 1572482 w 7143371"/>
                  <a:gd name="connsiteY586" fmla="*/ 2464594 h 4684871"/>
                  <a:gd name="connsiteX587" fmla="*/ 1572482 w 7143371"/>
                  <a:gd name="connsiteY587" fmla="*/ 2429256 h 4684871"/>
                  <a:gd name="connsiteX588" fmla="*/ 1584770 w 7143371"/>
                  <a:gd name="connsiteY588" fmla="*/ 2429256 h 4684871"/>
                  <a:gd name="connsiteX589" fmla="*/ 1585151 w 7143371"/>
                  <a:gd name="connsiteY589" fmla="*/ 2436590 h 4684871"/>
                  <a:gd name="connsiteX590" fmla="*/ 1629347 w 7143371"/>
                  <a:gd name="connsiteY590" fmla="*/ 2436590 h 4684871"/>
                  <a:gd name="connsiteX591" fmla="*/ 1728216 w 7143371"/>
                  <a:gd name="connsiteY591" fmla="*/ 2519744 h 4684871"/>
                  <a:gd name="connsiteX592" fmla="*/ 1806988 w 7143371"/>
                  <a:gd name="connsiteY592" fmla="*/ 2561940 h 4684871"/>
                  <a:gd name="connsiteX593" fmla="*/ 1814894 w 7143371"/>
                  <a:gd name="connsiteY593" fmla="*/ 2559368 h 4684871"/>
                  <a:gd name="connsiteX594" fmla="*/ 1787081 w 7143371"/>
                  <a:gd name="connsiteY594" fmla="*/ 2470976 h 4684871"/>
                  <a:gd name="connsiteX595" fmla="*/ 1754886 w 7143371"/>
                  <a:gd name="connsiteY595" fmla="*/ 2491835 h 4684871"/>
                  <a:gd name="connsiteX596" fmla="*/ 1740884 w 7143371"/>
                  <a:gd name="connsiteY596" fmla="*/ 2479834 h 4684871"/>
                  <a:gd name="connsiteX597" fmla="*/ 1780985 w 7143371"/>
                  <a:gd name="connsiteY597" fmla="*/ 2403824 h 4684871"/>
                  <a:gd name="connsiteX598" fmla="*/ 1770412 w 7143371"/>
                  <a:gd name="connsiteY598" fmla="*/ 2396300 h 4684871"/>
                  <a:gd name="connsiteX599" fmla="*/ 1786700 w 7143371"/>
                  <a:gd name="connsiteY599" fmla="*/ 2368201 h 4684871"/>
                  <a:gd name="connsiteX600" fmla="*/ 1814513 w 7143371"/>
                  <a:gd name="connsiteY600" fmla="*/ 2314670 h 4684871"/>
                  <a:gd name="connsiteX601" fmla="*/ 1863661 w 7143371"/>
                  <a:gd name="connsiteY601" fmla="*/ 2223992 h 4684871"/>
                  <a:gd name="connsiteX602" fmla="*/ 1877378 w 7143371"/>
                  <a:gd name="connsiteY602" fmla="*/ 2187416 h 4684871"/>
                  <a:gd name="connsiteX603" fmla="*/ 1856994 w 7143371"/>
                  <a:gd name="connsiteY603" fmla="*/ 2141411 h 4684871"/>
                  <a:gd name="connsiteX604" fmla="*/ 1834134 w 7143371"/>
                  <a:gd name="connsiteY604" fmla="*/ 2140553 h 4684871"/>
                  <a:gd name="connsiteX605" fmla="*/ 1810512 w 7143371"/>
                  <a:gd name="connsiteY605" fmla="*/ 2140553 h 4684871"/>
                  <a:gd name="connsiteX606" fmla="*/ 1800606 w 7143371"/>
                  <a:gd name="connsiteY606" fmla="*/ 2128742 h 4684871"/>
                  <a:gd name="connsiteX607" fmla="*/ 1805369 w 7143371"/>
                  <a:gd name="connsiteY607" fmla="*/ 2099596 h 4684871"/>
                  <a:gd name="connsiteX608" fmla="*/ 1816799 w 7143371"/>
                  <a:gd name="connsiteY608" fmla="*/ 2074831 h 4684871"/>
                  <a:gd name="connsiteX609" fmla="*/ 1816799 w 7143371"/>
                  <a:gd name="connsiteY609" fmla="*/ 2060543 h 4684871"/>
                  <a:gd name="connsiteX610" fmla="*/ 1815275 w 7143371"/>
                  <a:gd name="connsiteY610" fmla="*/ 2047970 h 4684871"/>
                  <a:gd name="connsiteX611" fmla="*/ 1813846 w 7143371"/>
                  <a:gd name="connsiteY611" fmla="*/ 2029682 h 4684871"/>
                  <a:gd name="connsiteX612" fmla="*/ 1803940 w 7143371"/>
                  <a:gd name="connsiteY612" fmla="*/ 2016157 h 4684871"/>
                  <a:gd name="connsiteX613" fmla="*/ 1793367 w 7143371"/>
                  <a:gd name="connsiteY613" fmla="*/ 2005298 h 4684871"/>
                  <a:gd name="connsiteX614" fmla="*/ 1795463 w 7143371"/>
                  <a:gd name="connsiteY614" fmla="*/ 1990439 h 4684871"/>
                  <a:gd name="connsiteX615" fmla="*/ 1794034 w 7143371"/>
                  <a:gd name="connsiteY615" fmla="*/ 1976152 h 4684871"/>
                  <a:gd name="connsiteX616" fmla="*/ 1780032 w 7143371"/>
                  <a:gd name="connsiteY616" fmla="*/ 1969484 h 4684871"/>
                  <a:gd name="connsiteX617" fmla="*/ 1765459 w 7143371"/>
                  <a:gd name="connsiteY617" fmla="*/ 1952149 h 4684871"/>
                  <a:gd name="connsiteX618" fmla="*/ 1751457 w 7143371"/>
                  <a:gd name="connsiteY618" fmla="*/ 1951101 h 4684871"/>
                  <a:gd name="connsiteX619" fmla="*/ 1724501 w 7143371"/>
                  <a:gd name="connsiteY619" fmla="*/ 1948529 h 4684871"/>
                  <a:gd name="connsiteX620" fmla="*/ 1722120 w 7143371"/>
                  <a:gd name="connsiteY620" fmla="*/ 1921955 h 4684871"/>
                  <a:gd name="connsiteX621" fmla="*/ 1744599 w 7143371"/>
                  <a:gd name="connsiteY621" fmla="*/ 1909096 h 4684871"/>
                  <a:gd name="connsiteX622" fmla="*/ 1748314 w 7143371"/>
                  <a:gd name="connsiteY622" fmla="*/ 1909382 h 4684871"/>
                  <a:gd name="connsiteX623" fmla="*/ 1771079 w 7143371"/>
                  <a:gd name="connsiteY623" fmla="*/ 1915192 h 4684871"/>
                  <a:gd name="connsiteX624" fmla="*/ 1791557 w 7143371"/>
                  <a:gd name="connsiteY624" fmla="*/ 1927765 h 4684871"/>
                  <a:gd name="connsiteX625" fmla="*/ 1803940 w 7143371"/>
                  <a:gd name="connsiteY625" fmla="*/ 1921955 h 4684871"/>
                  <a:gd name="connsiteX626" fmla="*/ 1803940 w 7143371"/>
                  <a:gd name="connsiteY626" fmla="*/ 1913477 h 4684871"/>
                  <a:gd name="connsiteX627" fmla="*/ 1811274 w 7143371"/>
                  <a:gd name="connsiteY627" fmla="*/ 1915192 h 4684871"/>
                  <a:gd name="connsiteX628" fmla="*/ 1812798 w 7143371"/>
                  <a:gd name="connsiteY628" fmla="*/ 1921097 h 4684871"/>
                  <a:gd name="connsiteX629" fmla="*/ 1832420 w 7143371"/>
                  <a:gd name="connsiteY629" fmla="*/ 1933670 h 4684871"/>
                  <a:gd name="connsiteX630" fmla="*/ 1846993 w 7143371"/>
                  <a:gd name="connsiteY630" fmla="*/ 1954244 h 4684871"/>
                  <a:gd name="connsiteX631" fmla="*/ 1852898 w 7143371"/>
                  <a:gd name="connsiteY631" fmla="*/ 1968532 h 4684871"/>
                  <a:gd name="connsiteX632" fmla="*/ 1861757 w 7143371"/>
                  <a:gd name="connsiteY632" fmla="*/ 1976057 h 4684871"/>
                  <a:gd name="connsiteX633" fmla="*/ 1867376 w 7143371"/>
                  <a:gd name="connsiteY633" fmla="*/ 1986153 h 4684871"/>
                  <a:gd name="connsiteX634" fmla="*/ 1874711 w 7143371"/>
                  <a:gd name="connsiteY634" fmla="*/ 1999583 h 4684871"/>
                  <a:gd name="connsiteX635" fmla="*/ 1880330 w 7143371"/>
                  <a:gd name="connsiteY635" fmla="*/ 2008632 h 4684871"/>
                  <a:gd name="connsiteX636" fmla="*/ 1886140 w 7143371"/>
                  <a:gd name="connsiteY636" fmla="*/ 2024634 h 4684871"/>
                  <a:gd name="connsiteX637" fmla="*/ 1890236 w 7143371"/>
                  <a:gd name="connsiteY637" fmla="*/ 2036921 h 4684871"/>
                  <a:gd name="connsiteX638" fmla="*/ 1894999 w 7143371"/>
                  <a:gd name="connsiteY638" fmla="*/ 2038636 h 4684871"/>
                  <a:gd name="connsiteX639" fmla="*/ 1904714 w 7143371"/>
                  <a:gd name="connsiteY639" fmla="*/ 2036159 h 4684871"/>
                  <a:gd name="connsiteX640" fmla="*/ 1909096 w 7143371"/>
                  <a:gd name="connsiteY640" fmla="*/ 2099405 h 4684871"/>
                  <a:gd name="connsiteX641" fmla="*/ 1899190 w 7143371"/>
                  <a:gd name="connsiteY641" fmla="*/ 2100453 h 4684871"/>
                  <a:gd name="connsiteX642" fmla="*/ 1893570 w 7143371"/>
                  <a:gd name="connsiteY642" fmla="*/ 2113693 h 4684871"/>
                  <a:gd name="connsiteX643" fmla="*/ 1885283 w 7143371"/>
                  <a:gd name="connsiteY643" fmla="*/ 2132171 h 4684871"/>
                  <a:gd name="connsiteX644" fmla="*/ 1883855 w 7143371"/>
                  <a:gd name="connsiteY644" fmla="*/ 2148745 h 4684871"/>
                  <a:gd name="connsiteX645" fmla="*/ 1896713 w 7143371"/>
                  <a:gd name="connsiteY645" fmla="*/ 2177129 h 4684871"/>
                  <a:gd name="connsiteX646" fmla="*/ 1894142 w 7143371"/>
                  <a:gd name="connsiteY646" fmla="*/ 2202942 h 4684871"/>
                  <a:gd name="connsiteX647" fmla="*/ 1879568 w 7143371"/>
                  <a:gd name="connsiteY647" fmla="*/ 2259711 h 4684871"/>
                  <a:gd name="connsiteX648" fmla="*/ 1861661 w 7143371"/>
                  <a:gd name="connsiteY648" fmla="*/ 2298097 h 4684871"/>
                  <a:gd name="connsiteX649" fmla="*/ 1808607 w 7143371"/>
                  <a:gd name="connsiteY649" fmla="*/ 2381536 h 4684871"/>
                  <a:gd name="connsiteX650" fmla="*/ 1802225 w 7143371"/>
                  <a:gd name="connsiteY650" fmla="*/ 2392966 h 4684871"/>
                  <a:gd name="connsiteX651" fmla="*/ 1804226 w 7143371"/>
                  <a:gd name="connsiteY651" fmla="*/ 2437638 h 4684871"/>
                  <a:gd name="connsiteX652" fmla="*/ 1828610 w 7143371"/>
                  <a:gd name="connsiteY652" fmla="*/ 2524316 h 4684871"/>
                  <a:gd name="connsiteX653" fmla="*/ 1849088 w 7143371"/>
                  <a:gd name="connsiteY653" fmla="*/ 2544794 h 4684871"/>
                  <a:gd name="connsiteX654" fmla="*/ 1998345 w 7143371"/>
                  <a:gd name="connsiteY654" fmla="*/ 2581275 h 4684871"/>
                  <a:gd name="connsiteX655" fmla="*/ 2037017 w 7143371"/>
                  <a:gd name="connsiteY655" fmla="*/ 2542794 h 4684871"/>
                  <a:gd name="connsiteX656" fmla="*/ 2056829 w 7143371"/>
                  <a:gd name="connsiteY656" fmla="*/ 2549176 h 4684871"/>
                  <a:gd name="connsiteX657" fmla="*/ 2036731 w 7143371"/>
                  <a:gd name="connsiteY657" fmla="*/ 2577751 h 4684871"/>
                  <a:gd name="connsiteX658" fmla="*/ 2129123 w 7143371"/>
                  <a:gd name="connsiteY658" fmla="*/ 2612327 h 4684871"/>
                  <a:gd name="connsiteX659" fmla="*/ 2228945 w 7143371"/>
                  <a:gd name="connsiteY659" fmla="*/ 2595563 h 4684871"/>
                  <a:gd name="connsiteX660" fmla="*/ 2170367 w 7143371"/>
                  <a:gd name="connsiteY660" fmla="*/ 2458117 h 4684871"/>
                  <a:gd name="connsiteX661" fmla="*/ 2115122 w 7143371"/>
                  <a:gd name="connsiteY661" fmla="*/ 2497741 h 4684871"/>
                  <a:gd name="connsiteX662" fmla="*/ 2017300 w 7143371"/>
                  <a:gd name="connsiteY662" fmla="*/ 2475929 h 4684871"/>
                  <a:gd name="connsiteX663" fmla="*/ 1919478 w 7143371"/>
                  <a:gd name="connsiteY663" fmla="*/ 2383060 h 4684871"/>
                  <a:gd name="connsiteX664" fmla="*/ 1944338 w 7143371"/>
                  <a:gd name="connsiteY664" fmla="*/ 2261807 h 4684871"/>
                  <a:gd name="connsiteX665" fmla="*/ 2136553 w 7143371"/>
                  <a:gd name="connsiteY665" fmla="*/ 2304764 h 4684871"/>
                  <a:gd name="connsiteX666" fmla="*/ 2110169 w 7143371"/>
                  <a:gd name="connsiteY666" fmla="*/ 2357723 h 4684871"/>
                  <a:gd name="connsiteX667" fmla="*/ 2114645 w 7143371"/>
                  <a:gd name="connsiteY667" fmla="*/ 2410968 h 4684871"/>
                  <a:gd name="connsiteX668" fmla="*/ 2144459 w 7143371"/>
                  <a:gd name="connsiteY668" fmla="*/ 2411825 h 4684871"/>
                  <a:gd name="connsiteX669" fmla="*/ 2168462 w 7143371"/>
                  <a:gd name="connsiteY669" fmla="*/ 2421350 h 4684871"/>
                  <a:gd name="connsiteX670" fmla="*/ 2180844 w 7143371"/>
                  <a:gd name="connsiteY670" fmla="*/ 2433447 h 4684871"/>
                  <a:gd name="connsiteX671" fmla="*/ 2187512 w 7143371"/>
                  <a:gd name="connsiteY671" fmla="*/ 2443639 h 4684871"/>
                  <a:gd name="connsiteX672" fmla="*/ 2206752 w 7143371"/>
                  <a:gd name="connsiteY672" fmla="*/ 2470309 h 4684871"/>
                  <a:gd name="connsiteX673" fmla="*/ 2250948 w 7143371"/>
                  <a:gd name="connsiteY673" fmla="*/ 2439734 h 4684871"/>
                  <a:gd name="connsiteX674" fmla="*/ 2253329 w 7143371"/>
                  <a:gd name="connsiteY674" fmla="*/ 2444020 h 4684871"/>
                  <a:gd name="connsiteX675" fmla="*/ 2208562 w 7143371"/>
                  <a:gd name="connsiteY675" fmla="*/ 2475738 h 4684871"/>
                  <a:gd name="connsiteX676" fmla="*/ 2209991 w 7143371"/>
                  <a:gd name="connsiteY676" fmla="*/ 2492788 h 4684871"/>
                  <a:gd name="connsiteX677" fmla="*/ 2217325 w 7143371"/>
                  <a:gd name="connsiteY677" fmla="*/ 2511076 h 4684871"/>
                  <a:gd name="connsiteX678" fmla="*/ 2230755 w 7143371"/>
                  <a:gd name="connsiteY678" fmla="*/ 2535174 h 4684871"/>
                  <a:gd name="connsiteX679" fmla="*/ 2249234 w 7143371"/>
                  <a:gd name="connsiteY679" fmla="*/ 2561368 h 4684871"/>
                  <a:gd name="connsiteX680" fmla="*/ 2329910 w 7143371"/>
                  <a:gd name="connsiteY680" fmla="*/ 2637092 h 4684871"/>
                  <a:gd name="connsiteX681" fmla="*/ 2300002 w 7143371"/>
                  <a:gd name="connsiteY681" fmla="*/ 2698052 h 4684871"/>
                  <a:gd name="connsiteX682" fmla="*/ 2467642 w 7143371"/>
                  <a:gd name="connsiteY682" fmla="*/ 2803112 h 4684871"/>
                  <a:gd name="connsiteX683" fmla="*/ 2417350 w 7143371"/>
                  <a:gd name="connsiteY683" fmla="*/ 2886742 h 4684871"/>
                  <a:gd name="connsiteX684" fmla="*/ 2230946 w 7143371"/>
                  <a:gd name="connsiteY684" fmla="*/ 2769965 h 4684871"/>
                  <a:gd name="connsiteX685" fmla="*/ 2184083 w 7143371"/>
                  <a:gd name="connsiteY685" fmla="*/ 2781681 h 4684871"/>
                  <a:gd name="connsiteX686" fmla="*/ 2144649 w 7143371"/>
                  <a:gd name="connsiteY686" fmla="*/ 2847118 h 4684871"/>
                  <a:gd name="connsiteX687" fmla="*/ 2360009 w 7143371"/>
                  <a:gd name="connsiteY687" fmla="*/ 2982182 h 4684871"/>
                  <a:gd name="connsiteX688" fmla="*/ 2443734 w 7143371"/>
                  <a:gd name="connsiteY688" fmla="*/ 3034760 h 4684871"/>
                  <a:gd name="connsiteX689" fmla="*/ 2501075 w 7143371"/>
                  <a:gd name="connsiteY689" fmla="*/ 2939320 h 4684871"/>
                  <a:gd name="connsiteX690" fmla="*/ 2551367 w 7143371"/>
                  <a:gd name="connsiteY690" fmla="*/ 2855595 h 4684871"/>
                  <a:gd name="connsiteX691" fmla="*/ 2557177 w 7143371"/>
                  <a:gd name="connsiteY691" fmla="*/ 2846070 h 4684871"/>
                  <a:gd name="connsiteX692" fmla="*/ 2591086 w 7143371"/>
                  <a:gd name="connsiteY692" fmla="*/ 2867406 h 4684871"/>
                  <a:gd name="connsiteX693" fmla="*/ 2578894 w 7143371"/>
                  <a:gd name="connsiteY693" fmla="*/ 2887694 h 4684871"/>
                  <a:gd name="connsiteX694" fmla="*/ 2686050 w 7143371"/>
                  <a:gd name="connsiteY694" fmla="*/ 2954846 h 4684871"/>
                  <a:gd name="connsiteX695" fmla="*/ 2554700 w 7143371"/>
                  <a:gd name="connsiteY695" fmla="*/ 3172873 h 4684871"/>
                  <a:gd name="connsiteX696" fmla="*/ 2585371 w 7143371"/>
                  <a:gd name="connsiteY696" fmla="*/ 3192018 h 4684871"/>
                  <a:gd name="connsiteX697" fmla="*/ 2623090 w 7143371"/>
                  <a:gd name="connsiteY697" fmla="*/ 3215831 h 4684871"/>
                  <a:gd name="connsiteX698" fmla="*/ 2657285 w 7143371"/>
                  <a:gd name="connsiteY698" fmla="*/ 3237167 h 4684871"/>
                  <a:gd name="connsiteX699" fmla="*/ 2722817 w 7143371"/>
                  <a:gd name="connsiteY699" fmla="*/ 3128486 h 4684871"/>
                  <a:gd name="connsiteX700" fmla="*/ 2759488 w 7143371"/>
                  <a:gd name="connsiteY700" fmla="*/ 3067526 h 4684871"/>
                  <a:gd name="connsiteX701" fmla="*/ 2751011 w 7143371"/>
                  <a:gd name="connsiteY701" fmla="*/ 3062192 h 4684871"/>
                  <a:gd name="connsiteX702" fmla="*/ 2714149 w 7143371"/>
                  <a:gd name="connsiteY702" fmla="*/ 3123152 h 4684871"/>
                  <a:gd name="connsiteX703" fmla="*/ 2688431 w 7143371"/>
                  <a:gd name="connsiteY703" fmla="*/ 3107150 h 4684871"/>
                  <a:gd name="connsiteX704" fmla="*/ 2729008 w 7143371"/>
                  <a:gd name="connsiteY704" fmla="*/ 3039999 h 4684871"/>
                  <a:gd name="connsiteX705" fmla="*/ 2746248 w 7143371"/>
                  <a:gd name="connsiteY705" fmla="*/ 3028188 h 4684871"/>
                  <a:gd name="connsiteX706" fmla="*/ 2745677 w 7143371"/>
                  <a:gd name="connsiteY706" fmla="*/ 3012281 h 4684871"/>
                  <a:gd name="connsiteX707" fmla="*/ 2754249 w 7143371"/>
                  <a:gd name="connsiteY707" fmla="*/ 2997708 h 4684871"/>
                  <a:gd name="connsiteX708" fmla="*/ 2763012 w 7143371"/>
                  <a:gd name="connsiteY708" fmla="*/ 2983325 h 4684871"/>
                  <a:gd name="connsiteX709" fmla="*/ 2772632 w 7143371"/>
                  <a:gd name="connsiteY709" fmla="*/ 2986754 h 4684871"/>
                  <a:gd name="connsiteX710" fmla="*/ 2798731 w 7143371"/>
                  <a:gd name="connsiteY710" fmla="*/ 3005042 h 4684871"/>
                  <a:gd name="connsiteX711" fmla="*/ 2811590 w 7143371"/>
                  <a:gd name="connsiteY711" fmla="*/ 2985707 h 4684871"/>
                  <a:gd name="connsiteX712" fmla="*/ 2815971 w 7143371"/>
                  <a:gd name="connsiteY712" fmla="*/ 2989040 h 4684871"/>
                  <a:gd name="connsiteX713" fmla="*/ 2805113 w 7143371"/>
                  <a:gd name="connsiteY713" fmla="*/ 3005519 h 4684871"/>
                  <a:gd name="connsiteX714" fmla="*/ 2967228 w 7143371"/>
                  <a:gd name="connsiteY714" fmla="*/ 3123724 h 4684871"/>
                  <a:gd name="connsiteX715" fmla="*/ 2971895 w 7143371"/>
                  <a:gd name="connsiteY715" fmla="*/ 3119438 h 4684871"/>
                  <a:gd name="connsiteX716" fmla="*/ 2971514 w 7143371"/>
                  <a:gd name="connsiteY716" fmla="*/ 3109913 h 4684871"/>
                  <a:gd name="connsiteX717" fmla="*/ 2965895 w 7143371"/>
                  <a:gd name="connsiteY717" fmla="*/ 3091053 h 4684871"/>
                  <a:gd name="connsiteX718" fmla="*/ 2977610 w 7143371"/>
                  <a:gd name="connsiteY718" fmla="*/ 3075337 h 4684871"/>
                  <a:gd name="connsiteX719" fmla="*/ 2956275 w 7143371"/>
                  <a:gd name="connsiteY719" fmla="*/ 3056192 h 4684871"/>
                  <a:gd name="connsiteX720" fmla="*/ 2960656 w 7143371"/>
                  <a:gd name="connsiteY720" fmla="*/ 3050858 h 4684871"/>
                  <a:gd name="connsiteX721" fmla="*/ 2993136 w 7143371"/>
                  <a:gd name="connsiteY721" fmla="*/ 3080671 h 4684871"/>
                  <a:gd name="connsiteX722" fmla="*/ 3017044 w 7143371"/>
                  <a:gd name="connsiteY722" fmla="*/ 3089053 h 4684871"/>
                  <a:gd name="connsiteX723" fmla="*/ 3019996 w 7143371"/>
                  <a:gd name="connsiteY723" fmla="*/ 3092101 h 4684871"/>
                  <a:gd name="connsiteX724" fmla="*/ 3029617 w 7143371"/>
                  <a:gd name="connsiteY724" fmla="*/ 3082481 h 4684871"/>
                  <a:gd name="connsiteX725" fmla="*/ 3035808 w 7143371"/>
                  <a:gd name="connsiteY725" fmla="*/ 3075527 h 4684871"/>
                  <a:gd name="connsiteX726" fmla="*/ 3044285 w 7143371"/>
                  <a:gd name="connsiteY726" fmla="*/ 3067431 h 4684871"/>
                  <a:gd name="connsiteX727" fmla="*/ 3057525 w 7143371"/>
                  <a:gd name="connsiteY727" fmla="*/ 3065240 h 4684871"/>
                  <a:gd name="connsiteX728" fmla="*/ 3076480 w 7143371"/>
                  <a:gd name="connsiteY728" fmla="*/ 3074003 h 4684871"/>
                  <a:gd name="connsiteX729" fmla="*/ 3092958 w 7143371"/>
                  <a:gd name="connsiteY729" fmla="*/ 3088386 h 4684871"/>
                  <a:gd name="connsiteX730" fmla="*/ 3071336 w 7143371"/>
                  <a:gd name="connsiteY730" fmla="*/ 3110579 h 4684871"/>
                  <a:gd name="connsiteX731" fmla="*/ 3062573 w 7143371"/>
                  <a:gd name="connsiteY731" fmla="*/ 3097911 h 4684871"/>
                  <a:gd name="connsiteX732" fmla="*/ 3059716 w 7143371"/>
                  <a:gd name="connsiteY732" fmla="*/ 3097054 h 4684871"/>
                  <a:gd name="connsiteX733" fmla="*/ 3058763 w 7143371"/>
                  <a:gd name="connsiteY733" fmla="*/ 3091720 h 4684871"/>
                  <a:gd name="connsiteX734" fmla="*/ 3042000 w 7143371"/>
                  <a:gd name="connsiteY734" fmla="*/ 3093911 h 4684871"/>
                  <a:gd name="connsiteX735" fmla="*/ 3027426 w 7143371"/>
                  <a:gd name="connsiteY735" fmla="*/ 3104579 h 4684871"/>
                  <a:gd name="connsiteX736" fmla="*/ 3025902 w 7143371"/>
                  <a:gd name="connsiteY736" fmla="*/ 3110198 h 4684871"/>
                  <a:gd name="connsiteX737" fmla="*/ 3028760 w 7143371"/>
                  <a:gd name="connsiteY737" fmla="*/ 3117152 h 4684871"/>
                  <a:gd name="connsiteX738" fmla="*/ 3040190 w 7143371"/>
                  <a:gd name="connsiteY738" fmla="*/ 3119057 h 4684871"/>
                  <a:gd name="connsiteX739" fmla="*/ 3040190 w 7143371"/>
                  <a:gd name="connsiteY739" fmla="*/ 3120390 h 4684871"/>
                  <a:gd name="connsiteX740" fmla="*/ 3041713 w 7143371"/>
                  <a:gd name="connsiteY740" fmla="*/ 3120581 h 4684871"/>
                  <a:gd name="connsiteX741" fmla="*/ 3042095 w 7143371"/>
                  <a:gd name="connsiteY741" fmla="*/ 3124772 h 4684871"/>
                  <a:gd name="connsiteX742" fmla="*/ 3044476 w 7143371"/>
                  <a:gd name="connsiteY742" fmla="*/ 3124486 h 4684871"/>
                  <a:gd name="connsiteX743" fmla="*/ 3045619 w 7143371"/>
                  <a:gd name="connsiteY743" fmla="*/ 3122771 h 4684871"/>
                  <a:gd name="connsiteX744" fmla="*/ 3073622 w 7143371"/>
                  <a:gd name="connsiteY744" fmla="*/ 3118866 h 4684871"/>
                  <a:gd name="connsiteX745" fmla="*/ 3074861 w 7143371"/>
                  <a:gd name="connsiteY745" fmla="*/ 3115818 h 4684871"/>
                  <a:gd name="connsiteX746" fmla="*/ 3073622 w 7143371"/>
                  <a:gd name="connsiteY746" fmla="*/ 3113913 h 4684871"/>
                  <a:gd name="connsiteX747" fmla="*/ 3095816 w 7143371"/>
                  <a:gd name="connsiteY747" fmla="*/ 3091148 h 4684871"/>
                  <a:gd name="connsiteX748" fmla="*/ 3113627 w 7143371"/>
                  <a:gd name="connsiteY748" fmla="*/ 3106865 h 4684871"/>
                  <a:gd name="connsiteX749" fmla="*/ 3137345 w 7143371"/>
                  <a:gd name="connsiteY749" fmla="*/ 3060287 h 4684871"/>
                  <a:gd name="connsiteX750" fmla="*/ 3141345 w 7143371"/>
                  <a:gd name="connsiteY750" fmla="*/ 3062573 h 4684871"/>
                  <a:gd name="connsiteX751" fmla="*/ 3122676 w 7143371"/>
                  <a:gd name="connsiteY751" fmla="*/ 3099435 h 4684871"/>
                  <a:gd name="connsiteX752" fmla="*/ 3121152 w 7143371"/>
                  <a:gd name="connsiteY752" fmla="*/ 3109913 h 4684871"/>
                  <a:gd name="connsiteX753" fmla="*/ 3136868 w 7143371"/>
                  <a:gd name="connsiteY753" fmla="*/ 3112103 h 4684871"/>
                  <a:gd name="connsiteX754" fmla="*/ 3138011 w 7143371"/>
                  <a:gd name="connsiteY754" fmla="*/ 3104483 h 4684871"/>
                  <a:gd name="connsiteX755" fmla="*/ 3163824 w 7143371"/>
                  <a:gd name="connsiteY755" fmla="*/ 3103626 h 4684871"/>
                  <a:gd name="connsiteX756" fmla="*/ 3165348 w 7143371"/>
                  <a:gd name="connsiteY756" fmla="*/ 3115151 h 4684871"/>
                  <a:gd name="connsiteX757" fmla="*/ 3225356 w 7143371"/>
                  <a:gd name="connsiteY757" fmla="*/ 3115437 h 4684871"/>
                  <a:gd name="connsiteX758" fmla="*/ 3224213 w 7143371"/>
                  <a:gd name="connsiteY758" fmla="*/ 3209735 h 4684871"/>
                  <a:gd name="connsiteX759" fmla="*/ 3223641 w 7143371"/>
                  <a:gd name="connsiteY759" fmla="*/ 3209258 h 4684871"/>
                  <a:gd name="connsiteX760" fmla="*/ 3218879 w 7143371"/>
                  <a:gd name="connsiteY760" fmla="*/ 3200210 h 4684871"/>
                  <a:gd name="connsiteX761" fmla="*/ 3212116 w 7143371"/>
                  <a:gd name="connsiteY761" fmla="*/ 3195161 h 4684871"/>
                  <a:gd name="connsiteX762" fmla="*/ 3198400 w 7143371"/>
                  <a:gd name="connsiteY762" fmla="*/ 3191732 h 4684871"/>
                  <a:gd name="connsiteX763" fmla="*/ 3180302 w 7143371"/>
                  <a:gd name="connsiteY763" fmla="*/ 3179350 h 4684871"/>
                  <a:gd name="connsiteX764" fmla="*/ 3146870 w 7143371"/>
                  <a:gd name="connsiteY764" fmla="*/ 3164396 h 4684871"/>
                  <a:gd name="connsiteX765" fmla="*/ 3106769 w 7143371"/>
                  <a:gd name="connsiteY765" fmla="*/ 3171730 h 4684871"/>
                  <a:gd name="connsiteX766" fmla="*/ 3086291 w 7143371"/>
                  <a:gd name="connsiteY766" fmla="*/ 3179350 h 4684871"/>
                  <a:gd name="connsiteX767" fmla="*/ 3017615 w 7143371"/>
                  <a:gd name="connsiteY767" fmla="*/ 3165062 h 4684871"/>
                  <a:gd name="connsiteX768" fmla="*/ 3000566 w 7143371"/>
                  <a:gd name="connsiteY768" fmla="*/ 3164300 h 4684871"/>
                  <a:gd name="connsiteX769" fmla="*/ 2985040 w 7143371"/>
                  <a:gd name="connsiteY769" fmla="*/ 3161824 h 4684871"/>
                  <a:gd name="connsiteX770" fmla="*/ 2981230 w 7143371"/>
                  <a:gd name="connsiteY770" fmla="*/ 3160776 h 4684871"/>
                  <a:gd name="connsiteX771" fmla="*/ 2975991 w 7143371"/>
                  <a:gd name="connsiteY771" fmla="*/ 3167539 h 4684871"/>
                  <a:gd name="connsiteX772" fmla="*/ 2993898 w 7143371"/>
                  <a:gd name="connsiteY772" fmla="*/ 3185827 h 4684871"/>
                  <a:gd name="connsiteX773" fmla="*/ 3002947 w 7143371"/>
                  <a:gd name="connsiteY773" fmla="*/ 3195066 h 4684871"/>
                  <a:gd name="connsiteX774" fmla="*/ 3006185 w 7143371"/>
                  <a:gd name="connsiteY774" fmla="*/ 3205925 h 4684871"/>
                  <a:gd name="connsiteX775" fmla="*/ 3013520 w 7143371"/>
                  <a:gd name="connsiteY775" fmla="*/ 3221069 h 4684871"/>
                  <a:gd name="connsiteX776" fmla="*/ 3031427 w 7143371"/>
                  <a:gd name="connsiteY776" fmla="*/ 3232785 h 4684871"/>
                  <a:gd name="connsiteX777" fmla="*/ 3043714 w 7143371"/>
                  <a:gd name="connsiteY777" fmla="*/ 3243644 h 4684871"/>
                  <a:gd name="connsiteX778" fmla="*/ 3091148 w 7143371"/>
                  <a:gd name="connsiteY778" fmla="*/ 3281267 h 4684871"/>
                  <a:gd name="connsiteX779" fmla="*/ 3136011 w 7143371"/>
                  <a:gd name="connsiteY779" fmla="*/ 3310414 h 4684871"/>
                  <a:gd name="connsiteX780" fmla="*/ 3158014 w 7143371"/>
                  <a:gd name="connsiteY780" fmla="*/ 3325368 h 4684871"/>
                  <a:gd name="connsiteX781" fmla="*/ 3187542 w 7143371"/>
                  <a:gd name="connsiteY781" fmla="*/ 3339656 h 4684871"/>
                  <a:gd name="connsiteX782" fmla="*/ 3208020 w 7143371"/>
                  <a:gd name="connsiteY782" fmla="*/ 3357277 h 4684871"/>
                  <a:gd name="connsiteX783" fmla="*/ 3250502 w 7143371"/>
                  <a:gd name="connsiteY783" fmla="*/ 3404902 h 4684871"/>
                  <a:gd name="connsiteX784" fmla="*/ 3324225 w 7143371"/>
                  <a:gd name="connsiteY784" fmla="*/ 3467291 h 4684871"/>
                  <a:gd name="connsiteX785" fmla="*/ 3347847 w 7143371"/>
                  <a:gd name="connsiteY785" fmla="*/ 3487484 h 4684871"/>
                  <a:gd name="connsiteX786" fmla="*/ 3373279 w 7143371"/>
                  <a:gd name="connsiteY786" fmla="*/ 3486626 h 4684871"/>
                  <a:gd name="connsiteX787" fmla="*/ 3392900 w 7143371"/>
                  <a:gd name="connsiteY787" fmla="*/ 3470719 h 4684871"/>
                  <a:gd name="connsiteX788" fmla="*/ 3411665 w 7143371"/>
                  <a:gd name="connsiteY788" fmla="*/ 3474911 h 4684871"/>
                  <a:gd name="connsiteX789" fmla="*/ 3410807 w 7143371"/>
                  <a:gd name="connsiteY789" fmla="*/ 3479959 h 4684871"/>
                  <a:gd name="connsiteX790" fmla="*/ 3421380 w 7143371"/>
                  <a:gd name="connsiteY790" fmla="*/ 3479102 h 4684871"/>
                  <a:gd name="connsiteX791" fmla="*/ 3451765 w 7143371"/>
                  <a:gd name="connsiteY791" fmla="*/ 3454908 h 4684871"/>
                  <a:gd name="connsiteX792" fmla="*/ 3459099 w 7143371"/>
                  <a:gd name="connsiteY792" fmla="*/ 3452432 h 4684871"/>
                  <a:gd name="connsiteX793" fmla="*/ 3470434 w 7143371"/>
                  <a:gd name="connsiteY793" fmla="*/ 3434810 h 4684871"/>
                  <a:gd name="connsiteX794" fmla="*/ 3461385 w 7143371"/>
                  <a:gd name="connsiteY794" fmla="*/ 3428143 h 4684871"/>
                  <a:gd name="connsiteX795" fmla="*/ 3454146 w 7143371"/>
                  <a:gd name="connsiteY795" fmla="*/ 3420618 h 4684871"/>
                  <a:gd name="connsiteX796" fmla="*/ 3459766 w 7143371"/>
                  <a:gd name="connsiteY796" fmla="*/ 3407950 h 4684871"/>
                  <a:gd name="connsiteX797" fmla="*/ 3463862 w 7143371"/>
                  <a:gd name="connsiteY797" fmla="*/ 3389662 h 4684871"/>
                  <a:gd name="connsiteX798" fmla="*/ 3464719 w 7143371"/>
                  <a:gd name="connsiteY798" fmla="*/ 3361373 h 4684871"/>
                  <a:gd name="connsiteX799" fmla="*/ 3472053 w 7143371"/>
                  <a:gd name="connsiteY799" fmla="*/ 3347085 h 4684871"/>
                  <a:gd name="connsiteX800" fmla="*/ 3483674 w 7143371"/>
                  <a:gd name="connsiteY800" fmla="*/ 3344513 h 4684871"/>
                  <a:gd name="connsiteX801" fmla="*/ 3488627 w 7143371"/>
                  <a:gd name="connsiteY801" fmla="*/ 3356324 h 4684871"/>
                  <a:gd name="connsiteX802" fmla="*/ 3485198 w 7143371"/>
                  <a:gd name="connsiteY802" fmla="*/ 3368040 h 4684871"/>
                  <a:gd name="connsiteX803" fmla="*/ 3486721 w 7143371"/>
                  <a:gd name="connsiteY803" fmla="*/ 3383947 h 4684871"/>
                  <a:gd name="connsiteX804" fmla="*/ 3487579 w 7143371"/>
                  <a:gd name="connsiteY804" fmla="*/ 3398901 h 4684871"/>
                  <a:gd name="connsiteX805" fmla="*/ 3485198 w 7143371"/>
                  <a:gd name="connsiteY805" fmla="*/ 3411474 h 4684871"/>
                  <a:gd name="connsiteX806" fmla="*/ 3491675 w 7143371"/>
                  <a:gd name="connsiteY806" fmla="*/ 3415665 h 4684871"/>
                  <a:gd name="connsiteX807" fmla="*/ 3516249 w 7143371"/>
                  <a:gd name="connsiteY807" fmla="*/ 3392138 h 4684871"/>
                  <a:gd name="connsiteX808" fmla="*/ 3583210 w 7143371"/>
                  <a:gd name="connsiteY808" fmla="*/ 3287078 h 4684871"/>
                  <a:gd name="connsiteX809" fmla="*/ 3577590 w 7143371"/>
                  <a:gd name="connsiteY809" fmla="*/ 3272790 h 4684871"/>
                  <a:gd name="connsiteX810" fmla="*/ 3557111 w 7143371"/>
                  <a:gd name="connsiteY810" fmla="*/ 3261932 h 4684871"/>
                  <a:gd name="connsiteX811" fmla="*/ 3536728 w 7143371"/>
                  <a:gd name="connsiteY811" fmla="*/ 3265361 h 4684871"/>
                  <a:gd name="connsiteX812" fmla="*/ 3523583 w 7143371"/>
                  <a:gd name="connsiteY812" fmla="*/ 3272695 h 4684871"/>
                  <a:gd name="connsiteX813" fmla="*/ 3511296 w 7143371"/>
                  <a:gd name="connsiteY813" fmla="*/ 3275267 h 4684871"/>
                  <a:gd name="connsiteX814" fmla="*/ 3499104 w 7143371"/>
                  <a:gd name="connsiteY814" fmla="*/ 3278600 h 4684871"/>
                  <a:gd name="connsiteX815" fmla="*/ 3490817 w 7143371"/>
                  <a:gd name="connsiteY815" fmla="*/ 3276886 h 4684871"/>
                  <a:gd name="connsiteX816" fmla="*/ 3489293 w 7143371"/>
                  <a:gd name="connsiteY816" fmla="*/ 3265361 h 4684871"/>
                  <a:gd name="connsiteX817" fmla="*/ 3486055 w 7143371"/>
                  <a:gd name="connsiteY817" fmla="*/ 3253645 h 4684871"/>
                  <a:gd name="connsiteX818" fmla="*/ 3467291 w 7143371"/>
                  <a:gd name="connsiteY818" fmla="*/ 3257645 h 4684871"/>
                  <a:gd name="connsiteX819" fmla="*/ 3453289 w 7143371"/>
                  <a:gd name="connsiteY819" fmla="*/ 3249263 h 4684871"/>
                  <a:gd name="connsiteX820" fmla="*/ 3432810 w 7143371"/>
                  <a:gd name="connsiteY820" fmla="*/ 3252597 h 4684871"/>
                  <a:gd name="connsiteX821" fmla="*/ 3400235 w 7143371"/>
                  <a:gd name="connsiteY821" fmla="*/ 3261836 h 4684871"/>
                  <a:gd name="connsiteX822" fmla="*/ 3357753 w 7143371"/>
                  <a:gd name="connsiteY822" fmla="*/ 3243548 h 4684871"/>
                  <a:gd name="connsiteX823" fmla="*/ 3288316 w 7143371"/>
                  <a:gd name="connsiteY823" fmla="*/ 3241834 h 4684871"/>
                  <a:gd name="connsiteX824" fmla="*/ 3228689 w 7143371"/>
                  <a:gd name="connsiteY824" fmla="*/ 3214402 h 4684871"/>
                  <a:gd name="connsiteX825" fmla="*/ 3231356 w 7143371"/>
                  <a:gd name="connsiteY825" fmla="*/ 3214402 h 4684871"/>
                  <a:gd name="connsiteX826" fmla="*/ 3232500 w 7143371"/>
                  <a:gd name="connsiteY826" fmla="*/ 3115342 h 4684871"/>
                  <a:gd name="connsiteX827" fmla="*/ 3232500 w 7143371"/>
                  <a:gd name="connsiteY827" fmla="*/ 3160300 h 4684871"/>
                  <a:gd name="connsiteX828" fmla="*/ 3242786 w 7143371"/>
                  <a:gd name="connsiteY828" fmla="*/ 3174111 h 4684871"/>
                  <a:gd name="connsiteX829" fmla="*/ 3268218 w 7143371"/>
                  <a:gd name="connsiteY829" fmla="*/ 3190875 h 4684871"/>
                  <a:gd name="connsiteX830" fmla="*/ 3286125 w 7143371"/>
                  <a:gd name="connsiteY830" fmla="*/ 3198400 h 4684871"/>
                  <a:gd name="connsiteX831" fmla="*/ 3323273 w 7143371"/>
                  <a:gd name="connsiteY831" fmla="*/ 3210211 h 4684871"/>
                  <a:gd name="connsiteX832" fmla="*/ 3333179 w 7143371"/>
                  <a:gd name="connsiteY832" fmla="*/ 3205639 h 4684871"/>
                  <a:gd name="connsiteX833" fmla="*/ 3345085 w 7143371"/>
                  <a:gd name="connsiteY833" fmla="*/ 3211163 h 4684871"/>
                  <a:gd name="connsiteX834" fmla="*/ 3341846 w 7143371"/>
                  <a:gd name="connsiteY834" fmla="*/ 3216974 h 4684871"/>
                  <a:gd name="connsiteX835" fmla="*/ 3413760 w 7143371"/>
                  <a:gd name="connsiteY835" fmla="*/ 3241358 h 4684871"/>
                  <a:gd name="connsiteX836" fmla="*/ 3499866 w 7143371"/>
                  <a:gd name="connsiteY836" fmla="*/ 3194685 h 4684871"/>
                  <a:gd name="connsiteX837" fmla="*/ 3413760 w 7143371"/>
                  <a:gd name="connsiteY837" fmla="*/ 3103436 h 4684871"/>
                  <a:gd name="connsiteX838" fmla="*/ 3333274 w 7143371"/>
                  <a:gd name="connsiteY838" fmla="*/ 3106769 h 4684871"/>
                  <a:gd name="connsiteX839" fmla="*/ 3239738 w 7143371"/>
                  <a:gd name="connsiteY839" fmla="*/ 3156394 h 4684871"/>
                  <a:gd name="connsiteX840" fmla="*/ 3239738 w 7143371"/>
                  <a:gd name="connsiteY840" fmla="*/ 3115628 h 4684871"/>
                  <a:gd name="connsiteX841" fmla="*/ 3239453 w 7143371"/>
                  <a:gd name="connsiteY841" fmla="*/ 3115628 h 4684871"/>
                  <a:gd name="connsiteX842" fmla="*/ 3350133 w 7143371"/>
                  <a:gd name="connsiteY842" fmla="*/ 3050572 h 4684871"/>
                  <a:gd name="connsiteX843" fmla="*/ 3465767 w 7143371"/>
                  <a:gd name="connsiteY843" fmla="*/ 3048667 h 4684871"/>
                  <a:gd name="connsiteX844" fmla="*/ 3551873 w 7143371"/>
                  <a:gd name="connsiteY844" fmla="*/ 3137630 h 4684871"/>
                  <a:gd name="connsiteX845" fmla="*/ 3567970 w 7143371"/>
                  <a:gd name="connsiteY845" fmla="*/ 3121628 h 4684871"/>
                  <a:gd name="connsiteX846" fmla="*/ 3527679 w 7143371"/>
                  <a:gd name="connsiteY846" fmla="*/ 3079242 h 4684871"/>
                  <a:gd name="connsiteX847" fmla="*/ 3546729 w 7143371"/>
                  <a:gd name="connsiteY847" fmla="*/ 3061621 h 4684871"/>
                  <a:gd name="connsiteX848" fmla="*/ 3631025 w 7143371"/>
                  <a:gd name="connsiteY848" fmla="*/ 3151727 h 4684871"/>
                  <a:gd name="connsiteX849" fmla="*/ 3644265 w 7143371"/>
                  <a:gd name="connsiteY849" fmla="*/ 3139726 h 4684871"/>
                  <a:gd name="connsiteX850" fmla="*/ 3622358 w 7143371"/>
                  <a:gd name="connsiteY850" fmla="*/ 3114961 h 4684871"/>
                  <a:gd name="connsiteX851" fmla="*/ 3629406 w 7143371"/>
                  <a:gd name="connsiteY851" fmla="*/ 3107341 h 4684871"/>
                  <a:gd name="connsiteX852" fmla="*/ 3640550 w 7143371"/>
                  <a:gd name="connsiteY852" fmla="*/ 3107341 h 4684871"/>
                  <a:gd name="connsiteX853" fmla="*/ 3644075 w 7143371"/>
                  <a:gd name="connsiteY853" fmla="*/ 2965323 h 4684871"/>
                  <a:gd name="connsiteX854" fmla="*/ 3676650 w 7143371"/>
                  <a:gd name="connsiteY854" fmla="*/ 2990279 h 4684871"/>
                  <a:gd name="connsiteX855" fmla="*/ 3711797 w 7143371"/>
                  <a:gd name="connsiteY855" fmla="*/ 3010472 h 4684871"/>
                  <a:gd name="connsiteX856" fmla="*/ 3731133 w 7143371"/>
                  <a:gd name="connsiteY856" fmla="*/ 3013901 h 4684871"/>
                  <a:gd name="connsiteX857" fmla="*/ 3743706 w 7143371"/>
                  <a:gd name="connsiteY857" fmla="*/ 3054001 h 4684871"/>
                  <a:gd name="connsiteX858" fmla="*/ 3762946 w 7143371"/>
                  <a:gd name="connsiteY858" fmla="*/ 3045048 h 4684871"/>
                  <a:gd name="connsiteX859" fmla="*/ 3777901 w 7143371"/>
                  <a:gd name="connsiteY859" fmla="*/ 3032189 h 4684871"/>
                  <a:gd name="connsiteX860" fmla="*/ 3810000 w 7143371"/>
                  <a:gd name="connsiteY860" fmla="*/ 3016473 h 4684871"/>
                  <a:gd name="connsiteX861" fmla="*/ 3829336 w 7143371"/>
                  <a:gd name="connsiteY861" fmla="*/ 2990374 h 4684871"/>
                  <a:gd name="connsiteX862" fmla="*/ 3853625 w 7143371"/>
                  <a:gd name="connsiteY862" fmla="*/ 2979134 h 4684871"/>
                  <a:gd name="connsiteX863" fmla="*/ 3920585 w 7143371"/>
                  <a:gd name="connsiteY863" fmla="*/ 2922175 h 4684871"/>
                  <a:gd name="connsiteX864" fmla="*/ 3944017 w 7143371"/>
                  <a:gd name="connsiteY864" fmla="*/ 2880932 h 4684871"/>
                  <a:gd name="connsiteX865" fmla="*/ 3992880 w 7143371"/>
                  <a:gd name="connsiteY865" fmla="*/ 2839593 h 4684871"/>
                  <a:gd name="connsiteX866" fmla="*/ 4037362 w 7143371"/>
                  <a:gd name="connsiteY866" fmla="*/ 2824163 h 4684871"/>
                  <a:gd name="connsiteX867" fmla="*/ 4081272 w 7143371"/>
                  <a:gd name="connsiteY867" fmla="*/ 2782919 h 4684871"/>
                  <a:gd name="connsiteX868" fmla="*/ 4121372 w 7143371"/>
                  <a:gd name="connsiteY868" fmla="*/ 2755487 h 4684871"/>
                  <a:gd name="connsiteX869" fmla="*/ 4138041 w 7143371"/>
                  <a:gd name="connsiteY869" fmla="*/ 2755011 h 4684871"/>
                  <a:gd name="connsiteX870" fmla="*/ 4185761 w 7143371"/>
                  <a:gd name="connsiteY870" fmla="*/ 2703100 h 4684871"/>
                  <a:gd name="connsiteX871" fmla="*/ 4212622 w 7143371"/>
                  <a:gd name="connsiteY871" fmla="*/ 2701481 h 4684871"/>
                  <a:gd name="connsiteX872" fmla="*/ 4231577 w 7143371"/>
                  <a:gd name="connsiteY872" fmla="*/ 2681192 h 4684871"/>
                  <a:gd name="connsiteX873" fmla="*/ 4256818 w 7143371"/>
                  <a:gd name="connsiteY873" fmla="*/ 2661190 h 4684871"/>
                  <a:gd name="connsiteX874" fmla="*/ 4289870 w 7143371"/>
                  <a:gd name="connsiteY874" fmla="*/ 2651665 h 4684871"/>
                  <a:gd name="connsiteX875" fmla="*/ 4305300 w 7143371"/>
                  <a:gd name="connsiteY875" fmla="*/ 2663761 h 4684871"/>
                  <a:gd name="connsiteX876" fmla="*/ 4339495 w 7143371"/>
                  <a:gd name="connsiteY876" fmla="*/ 2635186 h 4684871"/>
                  <a:gd name="connsiteX877" fmla="*/ 4462939 w 7143371"/>
                  <a:gd name="connsiteY877" fmla="*/ 2592610 h 4684871"/>
                  <a:gd name="connsiteX878" fmla="*/ 4538377 w 7143371"/>
                  <a:gd name="connsiteY878" fmla="*/ 2573846 h 4684871"/>
                  <a:gd name="connsiteX879" fmla="*/ 4642485 w 7143371"/>
                  <a:gd name="connsiteY879" fmla="*/ 2534793 h 4684871"/>
                  <a:gd name="connsiteX880" fmla="*/ 4751261 w 7143371"/>
                  <a:gd name="connsiteY880" fmla="*/ 2507837 h 4684871"/>
                  <a:gd name="connsiteX881" fmla="*/ 4852702 w 7143371"/>
                  <a:gd name="connsiteY881" fmla="*/ 2481453 h 4684871"/>
                  <a:gd name="connsiteX882" fmla="*/ 5058347 w 7143371"/>
                  <a:gd name="connsiteY882" fmla="*/ 2401253 h 4684871"/>
                  <a:gd name="connsiteX883" fmla="*/ 5124450 w 7143371"/>
                  <a:gd name="connsiteY883" fmla="*/ 2397633 h 4684871"/>
                  <a:gd name="connsiteX884" fmla="*/ 5199126 w 7143371"/>
                  <a:gd name="connsiteY884" fmla="*/ 2380488 h 4684871"/>
                  <a:gd name="connsiteX885" fmla="*/ 5273421 w 7143371"/>
                  <a:gd name="connsiteY885" fmla="*/ 2342960 h 4684871"/>
                  <a:gd name="connsiteX886" fmla="*/ 5294186 w 7143371"/>
                  <a:gd name="connsiteY886" fmla="*/ 2358676 h 4684871"/>
                  <a:gd name="connsiteX887" fmla="*/ 5391627 w 7143371"/>
                  <a:gd name="connsiteY887" fmla="*/ 2322100 h 4684871"/>
                  <a:gd name="connsiteX888" fmla="*/ 5468589 w 7143371"/>
                  <a:gd name="connsiteY888" fmla="*/ 2318385 h 4684871"/>
                  <a:gd name="connsiteX889" fmla="*/ 5512117 w 7143371"/>
                  <a:gd name="connsiteY889" fmla="*/ 2320004 h 4684871"/>
                  <a:gd name="connsiteX890" fmla="*/ 5526405 w 7143371"/>
                  <a:gd name="connsiteY890" fmla="*/ 2308860 h 4684871"/>
                  <a:gd name="connsiteX891" fmla="*/ 5581746 w 7143371"/>
                  <a:gd name="connsiteY891" fmla="*/ 2308860 h 4684871"/>
                  <a:gd name="connsiteX892" fmla="*/ 5602320 w 7143371"/>
                  <a:gd name="connsiteY892" fmla="*/ 2316671 h 4684871"/>
                  <a:gd name="connsiteX893" fmla="*/ 5606034 w 7143371"/>
                  <a:gd name="connsiteY893" fmla="*/ 2335721 h 4684871"/>
                  <a:gd name="connsiteX894" fmla="*/ 5612797 w 7143371"/>
                  <a:gd name="connsiteY894" fmla="*/ 2353437 h 4684871"/>
                  <a:gd name="connsiteX895" fmla="*/ 5610797 w 7143371"/>
                  <a:gd name="connsiteY895" fmla="*/ 2367534 h 4684871"/>
                  <a:gd name="connsiteX896" fmla="*/ 5592032 w 7143371"/>
                  <a:gd name="connsiteY896" fmla="*/ 2381917 h 4684871"/>
                  <a:gd name="connsiteX897" fmla="*/ 5602605 w 7143371"/>
                  <a:gd name="connsiteY897" fmla="*/ 2383631 h 4684871"/>
                  <a:gd name="connsiteX898" fmla="*/ 5672233 w 7143371"/>
                  <a:gd name="connsiteY898" fmla="*/ 2357438 h 4684871"/>
                  <a:gd name="connsiteX899" fmla="*/ 5703761 w 7143371"/>
                  <a:gd name="connsiteY899" fmla="*/ 2355723 h 4684871"/>
                  <a:gd name="connsiteX900" fmla="*/ 5768055 w 7143371"/>
                  <a:gd name="connsiteY900" fmla="*/ 2376202 h 4684871"/>
                  <a:gd name="connsiteX901" fmla="*/ 5811012 w 7143371"/>
                  <a:gd name="connsiteY901" fmla="*/ 2405444 h 4684871"/>
                  <a:gd name="connsiteX902" fmla="*/ 5851684 w 7143371"/>
                  <a:gd name="connsiteY902" fmla="*/ 2410301 h 4684871"/>
                  <a:gd name="connsiteX903" fmla="*/ 5962364 w 7143371"/>
                  <a:gd name="connsiteY903" fmla="*/ 2349341 h 4684871"/>
                  <a:gd name="connsiteX904" fmla="*/ 6067902 w 7143371"/>
                  <a:gd name="connsiteY904" fmla="*/ 2325148 h 4684871"/>
                  <a:gd name="connsiteX905" fmla="*/ 6168771 w 7143371"/>
                  <a:gd name="connsiteY905" fmla="*/ 2325148 h 4684871"/>
                  <a:gd name="connsiteX906" fmla="*/ 6169152 w 7143371"/>
                  <a:gd name="connsiteY906" fmla="*/ 2262473 h 4684871"/>
                  <a:gd name="connsiteX907" fmla="*/ 6263640 w 7143371"/>
                  <a:gd name="connsiteY907" fmla="*/ 2262473 h 4684871"/>
                  <a:gd name="connsiteX908" fmla="*/ 6263640 w 7143371"/>
                  <a:gd name="connsiteY908" fmla="*/ 2284286 h 4684871"/>
                  <a:gd name="connsiteX909" fmla="*/ 6257163 w 7143371"/>
                  <a:gd name="connsiteY909" fmla="*/ 2284286 h 4684871"/>
                  <a:gd name="connsiteX910" fmla="*/ 6257163 w 7143371"/>
                  <a:gd name="connsiteY910" fmla="*/ 2332577 h 4684871"/>
                  <a:gd name="connsiteX911" fmla="*/ 6319171 w 7143371"/>
                  <a:gd name="connsiteY911" fmla="*/ 2332577 h 4684871"/>
                  <a:gd name="connsiteX912" fmla="*/ 6319171 w 7143371"/>
                  <a:gd name="connsiteY912" fmla="*/ 2189988 h 4684871"/>
                  <a:gd name="connsiteX913" fmla="*/ 6257163 w 7143371"/>
                  <a:gd name="connsiteY913" fmla="*/ 2189988 h 4684871"/>
                  <a:gd name="connsiteX914" fmla="*/ 6201061 w 7143371"/>
                  <a:gd name="connsiteY914" fmla="*/ 2189131 h 4684871"/>
                  <a:gd name="connsiteX915" fmla="*/ 6155055 w 7143371"/>
                  <a:gd name="connsiteY915" fmla="*/ 2175415 h 4684871"/>
                  <a:gd name="connsiteX916" fmla="*/ 6159246 w 7143371"/>
                  <a:gd name="connsiteY916" fmla="*/ 2110931 h 4684871"/>
                  <a:gd name="connsiteX917" fmla="*/ 6166295 w 7143371"/>
                  <a:gd name="connsiteY917" fmla="*/ 2063020 h 4684871"/>
                  <a:gd name="connsiteX918" fmla="*/ 6133243 w 7143371"/>
                  <a:gd name="connsiteY918" fmla="*/ 2040065 h 4684871"/>
                  <a:gd name="connsiteX919" fmla="*/ 5994178 w 7143371"/>
                  <a:gd name="connsiteY919" fmla="*/ 1980914 h 4684871"/>
                  <a:gd name="connsiteX920" fmla="*/ 5997321 w 7143371"/>
                  <a:gd name="connsiteY920" fmla="*/ 1973390 h 4684871"/>
                  <a:gd name="connsiteX921" fmla="*/ 6136672 w 7143371"/>
                  <a:gd name="connsiteY921" fmla="*/ 2034064 h 4684871"/>
                  <a:gd name="connsiteX922" fmla="*/ 6173248 w 7143371"/>
                  <a:gd name="connsiteY922" fmla="*/ 2036921 h 4684871"/>
                  <a:gd name="connsiteX923" fmla="*/ 6154198 w 7143371"/>
                  <a:gd name="connsiteY923" fmla="*/ 2049780 h 4684871"/>
                  <a:gd name="connsiteX924" fmla="*/ 6172105 w 7143371"/>
                  <a:gd name="connsiteY924" fmla="*/ 2053685 h 4684871"/>
                  <a:gd name="connsiteX925" fmla="*/ 6186773 w 7143371"/>
                  <a:gd name="connsiteY925" fmla="*/ 2049494 h 4684871"/>
                  <a:gd name="connsiteX926" fmla="*/ 6258973 w 7143371"/>
                  <a:gd name="connsiteY926" fmla="*/ 1860518 h 4684871"/>
                  <a:gd name="connsiteX927" fmla="*/ 6301169 w 7143371"/>
                  <a:gd name="connsiteY927" fmla="*/ 1807940 h 4684871"/>
                  <a:gd name="connsiteX928" fmla="*/ 6319076 w 7143371"/>
                  <a:gd name="connsiteY928" fmla="*/ 1796415 h 4684871"/>
                  <a:gd name="connsiteX929" fmla="*/ 6319076 w 7143371"/>
                  <a:gd name="connsiteY929" fmla="*/ 1767459 h 4684871"/>
                  <a:gd name="connsiteX930" fmla="*/ 6306789 w 7143371"/>
                  <a:gd name="connsiteY930" fmla="*/ 1756220 h 4684871"/>
                  <a:gd name="connsiteX931" fmla="*/ 6309646 w 7143371"/>
                  <a:gd name="connsiteY931" fmla="*/ 1739646 h 4684871"/>
                  <a:gd name="connsiteX932" fmla="*/ 6315266 w 7143371"/>
                  <a:gd name="connsiteY932" fmla="*/ 1726121 h 4684871"/>
                  <a:gd name="connsiteX933" fmla="*/ 6307170 w 7143371"/>
                  <a:gd name="connsiteY933" fmla="*/ 1706690 h 4684871"/>
                  <a:gd name="connsiteX934" fmla="*/ 6311551 w 7143371"/>
                  <a:gd name="connsiteY934" fmla="*/ 1686401 h 4684871"/>
                  <a:gd name="connsiteX935" fmla="*/ 6371749 w 7143371"/>
                  <a:gd name="connsiteY935" fmla="*/ 1703165 h 4684871"/>
                  <a:gd name="connsiteX936" fmla="*/ 6397562 w 7143371"/>
                  <a:gd name="connsiteY936" fmla="*/ 1714691 h 4684871"/>
                  <a:gd name="connsiteX937" fmla="*/ 6438234 w 7143371"/>
                  <a:gd name="connsiteY937" fmla="*/ 1747552 h 4684871"/>
                  <a:gd name="connsiteX938" fmla="*/ 6434995 w 7143371"/>
                  <a:gd name="connsiteY938" fmla="*/ 1750409 h 4684871"/>
                  <a:gd name="connsiteX939" fmla="*/ 6434614 w 7143371"/>
                  <a:gd name="connsiteY939" fmla="*/ 1756886 h 4684871"/>
                  <a:gd name="connsiteX940" fmla="*/ 6455665 w 7143371"/>
                  <a:gd name="connsiteY940" fmla="*/ 1781366 h 4684871"/>
                  <a:gd name="connsiteX941" fmla="*/ 6464427 w 7143371"/>
                  <a:gd name="connsiteY941" fmla="*/ 1780223 h 4684871"/>
                  <a:gd name="connsiteX942" fmla="*/ 6479382 w 7143371"/>
                  <a:gd name="connsiteY942" fmla="*/ 1767554 h 4684871"/>
                  <a:gd name="connsiteX943" fmla="*/ 6480525 w 7143371"/>
                  <a:gd name="connsiteY943" fmla="*/ 1758601 h 4684871"/>
                  <a:gd name="connsiteX944" fmla="*/ 6459950 w 7143371"/>
                  <a:gd name="connsiteY944" fmla="*/ 1735265 h 4684871"/>
                  <a:gd name="connsiteX945" fmla="*/ 6452902 w 7143371"/>
                  <a:gd name="connsiteY945" fmla="*/ 1734503 h 4684871"/>
                  <a:gd name="connsiteX946" fmla="*/ 6444425 w 7143371"/>
                  <a:gd name="connsiteY946" fmla="*/ 1742408 h 4684871"/>
                  <a:gd name="connsiteX947" fmla="*/ 6385560 w 7143371"/>
                  <a:gd name="connsiteY947" fmla="*/ 1690688 h 4684871"/>
                  <a:gd name="connsiteX948" fmla="*/ 6308027 w 7143371"/>
                  <a:gd name="connsiteY948" fmla="*/ 1647730 h 4684871"/>
                  <a:gd name="connsiteX949" fmla="*/ 6256211 w 7143371"/>
                  <a:gd name="connsiteY949" fmla="*/ 1609630 h 4684871"/>
                  <a:gd name="connsiteX950" fmla="*/ 6234875 w 7143371"/>
                  <a:gd name="connsiteY950" fmla="*/ 1605058 h 4684871"/>
                  <a:gd name="connsiteX951" fmla="*/ 6171057 w 7143371"/>
                  <a:gd name="connsiteY951" fmla="*/ 1569434 h 4684871"/>
                  <a:gd name="connsiteX952" fmla="*/ 6025039 w 7143371"/>
                  <a:gd name="connsiteY952" fmla="*/ 1512951 h 4684871"/>
                  <a:gd name="connsiteX953" fmla="*/ 5930551 w 7143371"/>
                  <a:gd name="connsiteY953" fmla="*/ 1516380 h 4684871"/>
                  <a:gd name="connsiteX954" fmla="*/ 5932075 w 7143371"/>
                  <a:gd name="connsiteY954" fmla="*/ 1481233 h 4684871"/>
                  <a:gd name="connsiteX955" fmla="*/ 5959792 w 7143371"/>
                  <a:gd name="connsiteY955" fmla="*/ 1480376 h 4684871"/>
                  <a:gd name="connsiteX956" fmla="*/ 5968270 w 7143371"/>
                  <a:gd name="connsiteY956" fmla="*/ 1471613 h 4684871"/>
                  <a:gd name="connsiteX957" fmla="*/ 5969127 w 7143371"/>
                  <a:gd name="connsiteY957" fmla="*/ 1458182 h 4684871"/>
                  <a:gd name="connsiteX958" fmla="*/ 5933789 w 7143371"/>
                  <a:gd name="connsiteY958" fmla="*/ 1457611 h 4684871"/>
                  <a:gd name="connsiteX959" fmla="*/ 5862923 w 7143371"/>
                  <a:gd name="connsiteY959" fmla="*/ 1297686 h 4684871"/>
                  <a:gd name="connsiteX960" fmla="*/ 5853494 w 7143371"/>
                  <a:gd name="connsiteY960" fmla="*/ 1295686 h 4684871"/>
                  <a:gd name="connsiteX961" fmla="*/ 5820728 w 7143371"/>
                  <a:gd name="connsiteY961" fmla="*/ 1230059 h 4684871"/>
                  <a:gd name="connsiteX962" fmla="*/ 5773865 w 7143371"/>
                  <a:gd name="connsiteY962" fmla="*/ 1200817 h 4684871"/>
                  <a:gd name="connsiteX963" fmla="*/ 5729097 w 7143371"/>
                  <a:gd name="connsiteY963" fmla="*/ 1178147 h 4684871"/>
                  <a:gd name="connsiteX964" fmla="*/ 5659850 w 7143371"/>
                  <a:gd name="connsiteY964" fmla="*/ 1167003 h 4684871"/>
                  <a:gd name="connsiteX965" fmla="*/ 5649564 w 7143371"/>
                  <a:gd name="connsiteY965" fmla="*/ 1157478 h 4684871"/>
                  <a:gd name="connsiteX966" fmla="*/ 5644611 w 7143371"/>
                  <a:gd name="connsiteY966" fmla="*/ 1157002 h 4684871"/>
                  <a:gd name="connsiteX967" fmla="*/ 5639372 w 7143371"/>
                  <a:gd name="connsiteY967" fmla="*/ 1157859 h 4684871"/>
                  <a:gd name="connsiteX968" fmla="*/ 5636228 w 7143371"/>
                  <a:gd name="connsiteY968" fmla="*/ 1175766 h 4684871"/>
                  <a:gd name="connsiteX969" fmla="*/ 5649658 w 7143371"/>
                  <a:gd name="connsiteY969" fmla="*/ 1177671 h 4684871"/>
                  <a:gd name="connsiteX970" fmla="*/ 5656041 w 7143371"/>
                  <a:gd name="connsiteY970" fmla="*/ 1186910 h 4684871"/>
                  <a:gd name="connsiteX971" fmla="*/ 5653088 w 7143371"/>
                  <a:gd name="connsiteY971" fmla="*/ 1192530 h 4684871"/>
                  <a:gd name="connsiteX972" fmla="*/ 5620893 w 7143371"/>
                  <a:gd name="connsiteY972" fmla="*/ 1177862 h 4684871"/>
                  <a:gd name="connsiteX973" fmla="*/ 5590509 w 7143371"/>
                  <a:gd name="connsiteY973" fmla="*/ 1174718 h 4684871"/>
                  <a:gd name="connsiteX974" fmla="*/ 5579459 w 7143371"/>
                  <a:gd name="connsiteY974" fmla="*/ 1170242 h 4684871"/>
                  <a:gd name="connsiteX975" fmla="*/ 5564220 w 7143371"/>
                  <a:gd name="connsiteY975" fmla="*/ 1169765 h 4684871"/>
                  <a:gd name="connsiteX976" fmla="*/ 5555457 w 7143371"/>
                  <a:gd name="connsiteY976" fmla="*/ 1174528 h 4684871"/>
                  <a:gd name="connsiteX977" fmla="*/ 5485162 w 7143371"/>
                  <a:gd name="connsiteY977" fmla="*/ 1173671 h 4684871"/>
                  <a:gd name="connsiteX978" fmla="*/ 5428488 w 7143371"/>
                  <a:gd name="connsiteY978" fmla="*/ 1228154 h 4684871"/>
                  <a:gd name="connsiteX979" fmla="*/ 5442204 w 7143371"/>
                  <a:gd name="connsiteY979" fmla="*/ 1232059 h 4684871"/>
                  <a:gd name="connsiteX980" fmla="*/ 5485543 w 7143371"/>
                  <a:gd name="connsiteY980" fmla="*/ 1254443 h 4684871"/>
                  <a:gd name="connsiteX981" fmla="*/ 5439061 w 7143371"/>
                  <a:gd name="connsiteY981" fmla="*/ 1248823 h 4684871"/>
                  <a:gd name="connsiteX982" fmla="*/ 5413820 w 7143371"/>
                  <a:gd name="connsiteY982" fmla="*/ 1258634 h 4684871"/>
                  <a:gd name="connsiteX983" fmla="*/ 5393055 w 7143371"/>
                  <a:gd name="connsiteY983" fmla="*/ 1275207 h 4684871"/>
                  <a:gd name="connsiteX984" fmla="*/ 5386673 w 7143371"/>
                  <a:gd name="connsiteY984" fmla="*/ 1286637 h 4684871"/>
                  <a:gd name="connsiteX985" fmla="*/ 5366290 w 7143371"/>
                  <a:gd name="connsiteY985" fmla="*/ 1301306 h 4684871"/>
                  <a:gd name="connsiteX986" fmla="*/ 5345525 w 7143371"/>
                  <a:gd name="connsiteY986" fmla="*/ 1316165 h 4684871"/>
                  <a:gd name="connsiteX987" fmla="*/ 5353812 w 7143371"/>
                  <a:gd name="connsiteY987" fmla="*/ 1334453 h 4684871"/>
                  <a:gd name="connsiteX988" fmla="*/ 5329428 w 7143371"/>
                  <a:gd name="connsiteY988" fmla="*/ 1338167 h 4684871"/>
                  <a:gd name="connsiteX989" fmla="*/ 5317999 w 7143371"/>
                  <a:gd name="connsiteY989" fmla="*/ 1329785 h 4684871"/>
                  <a:gd name="connsiteX990" fmla="*/ 5302473 w 7143371"/>
                  <a:gd name="connsiteY990" fmla="*/ 1327880 h 4684871"/>
                  <a:gd name="connsiteX991" fmla="*/ 5270945 w 7143371"/>
                  <a:gd name="connsiteY991" fmla="*/ 1339406 h 4684871"/>
                  <a:gd name="connsiteX992" fmla="*/ 5223510 w 7143371"/>
                  <a:gd name="connsiteY992" fmla="*/ 1341596 h 4684871"/>
                  <a:gd name="connsiteX993" fmla="*/ 5193602 w 7143371"/>
                  <a:gd name="connsiteY993" fmla="*/ 1333691 h 4684871"/>
                  <a:gd name="connsiteX994" fmla="*/ 5167218 w 7143371"/>
                  <a:gd name="connsiteY994" fmla="*/ 1335310 h 4684871"/>
                  <a:gd name="connsiteX995" fmla="*/ 5140071 w 7143371"/>
                  <a:gd name="connsiteY995" fmla="*/ 1333405 h 4684871"/>
                  <a:gd name="connsiteX996" fmla="*/ 5122831 w 7143371"/>
                  <a:gd name="connsiteY996" fmla="*/ 1319308 h 4684871"/>
                  <a:gd name="connsiteX997" fmla="*/ 5101114 w 7143371"/>
                  <a:gd name="connsiteY997" fmla="*/ 1305211 h 4684871"/>
                  <a:gd name="connsiteX998" fmla="*/ 5056442 w 7143371"/>
                  <a:gd name="connsiteY998" fmla="*/ 1301496 h 4684871"/>
                  <a:gd name="connsiteX999" fmla="*/ 5030153 w 7143371"/>
                  <a:gd name="connsiteY999" fmla="*/ 1287399 h 4684871"/>
                  <a:gd name="connsiteX1000" fmla="*/ 4997577 w 7143371"/>
                  <a:gd name="connsiteY1000" fmla="*/ 1256729 h 4684871"/>
                  <a:gd name="connsiteX1001" fmla="*/ 4950715 w 7143371"/>
                  <a:gd name="connsiteY1001" fmla="*/ 1230535 h 4684871"/>
                  <a:gd name="connsiteX1002" fmla="*/ 4921663 w 7143371"/>
                  <a:gd name="connsiteY1002" fmla="*/ 1212342 h 4684871"/>
                  <a:gd name="connsiteX1003" fmla="*/ 4897660 w 7143371"/>
                  <a:gd name="connsiteY1003" fmla="*/ 1181195 h 4684871"/>
                  <a:gd name="connsiteX1004" fmla="*/ 4873943 w 7143371"/>
                  <a:gd name="connsiteY1004" fmla="*/ 1124426 h 4684871"/>
                  <a:gd name="connsiteX1005" fmla="*/ 4848797 w 7143371"/>
                  <a:gd name="connsiteY1005" fmla="*/ 1092708 h 4684871"/>
                  <a:gd name="connsiteX1006" fmla="*/ 4818126 w 7143371"/>
                  <a:gd name="connsiteY1006" fmla="*/ 1072229 h 4684871"/>
                  <a:gd name="connsiteX1007" fmla="*/ 4803172 w 7143371"/>
                  <a:gd name="connsiteY1007" fmla="*/ 1072515 h 4684871"/>
                  <a:gd name="connsiteX1008" fmla="*/ 4798695 w 7143371"/>
                  <a:gd name="connsiteY1008" fmla="*/ 1037939 h 4684871"/>
                  <a:gd name="connsiteX1009" fmla="*/ 4807458 w 7143371"/>
                  <a:gd name="connsiteY1009" fmla="*/ 1034034 h 4684871"/>
                  <a:gd name="connsiteX1010" fmla="*/ 4812411 w 7143371"/>
                  <a:gd name="connsiteY1010" fmla="*/ 1006888 h 4684871"/>
                  <a:gd name="connsiteX1011" fmla="*/ 4789265 w 7143371"/>
                  <a:gd name="connsiteY1011" fmla="*/ 983266 h 4684871"/>
                  <a:gd name="connsiteX1012" fmla="*/ 4772597 w 7143371"/>
                  <a:gd name="connsiteY1012" fmla="*/ 967073 h 4684871"/>
                  <a:gd name="connsiteX1013" fmla="*/ 4759452 w 7143371"/>
                  <a:gd name="connsiteY1013" fmla="*/ 953643 h 4684871"/>
                  <a:gd name="connsiteX1014" fmla="*/ 4734592 w 7143371"/>
                  <a:gd name="connsiteY1014" fmla="*/ 930021 h 4684871"/>
                  <a:gd name="connsiteX1015" fmla="*/ 4714018 w 7143371"/>
                  <a:gd name="connsiteY1015" fmla="*/ 907923 h 4684871"/>
                  <a:gd name="connsiteX1016" fmla="*/ 4680014 w 7143371"/>
                  <a:gd name="connsiteY1016" fmla="*/ 880110 h 4684871"/>
                  <a:gd name="connsiteX1017" fmla="*/ 4665917 w 7143371"/>
                  <a:gd name="connsiteY1017" fmla="*/ 872490 h 4684871"/>
                  <a:gd name="connsiteX1018" fmla="*/ 4653629 w 7143371"/>
                  <a:gd name="connsiteY1018" fmla="*/ 864870 h 4684871"/>
                  <a:gd name="connsiteX1019" fmla="*/ 4635532 w 7143371"/>
                  <a:gd name="connsiteY1019" fmla="*/ 848963 h 4684871"/>
                  <a:gd name="connsiteX1020" fmla="*/ 4630484 w 7143371"/>
                  <a:gd name="connsiteY1020" fmla="*/ 832676 h 4684871"/>
                  <a:gd name="connsiteX1021" fmla="*/ 4616387 w 7143371"/>
                  <a:gd name="connsiteY1021" fmla="*/ 827627 h 4684871"/>
                  <a:gd name="connsiteX1022" fmla="*/ 4608100 w 7143371"/>
                  <a:gd name="connsiteY1022" fmla="*/ 820007 h 4684871"/>
                  <a:gd name="connsiteX1023" fmla="*/ 4600575 w 7143371"/>
                  <a:gd name="connsiteY1023" fmla="*/ 810768 h 4684871"/>
                  <a:gd name="connsiteX1024" fmla="*/ 4588669 w 7143371"/>
                  <a:gd name="connsiteY1024" fmla="*/ 801815 h 4684871"/>
                  <a:gd name="connsiteX1025" fmla="*/ 4587526 w 7143371"/>
                  <a:gd name="connsiteY1025" fmla="*/ 801815 h 4684871"/>
                  <a:gd name="connsiteX1026" fmla="*/ 4586383 w 7143371"/>
                  <a:gd name="connsiteY1026" fmla="*/ 802100 h 4684871"/>
                  <a:gd name="connsiteX1027" fmla="*/ 4575620 w 7143371"/>
                  <a:gd name="connsiteY1027" fmla="*/ 809054 h 4684871"/>
                  <a:gd name="connsiteX1028" fmla="*/ 4573334 w 7143371"/>
                  <a:gd name="connsiteY1028" fmla="*/ 816578 h 4684871"/>
                  <a:gd name="connsiteX1029" fmla="*/ 4566095 w 7143371"/>
                  <a:gd name="connsiteY1029" fmla="*/ 817912 h 4684871"/>
                  <a:gd name="connsiteX1030" fmla="*/ 4560189 w 7143371"/>
                  <a:gd name="connsiteY1030" fmla="*/ 780574 h 4684871"/>
                  <a:gd name="connsiteX1031" fmla="*/ 4540949 w 7143371"/>
                  <a:gd name="connsiteY1031" fmla="*/ 740759 h 4684871"/>
                  <a:gd name="connsiteX1032" fmla="*/ 4510754 w 7143371"/>
                  <a:gd name="connsiteY1032" fmla="*/ 738569 h 4684871"/>
                  <a:gd name="connsiteX1033" fmla="*/ 4487323 w 7143371"/>
                  <a:gd name="connsiteY1033" fmla="*/ 741617 h 4684871"/>
                  <a:gd name="connsiteX1034" fmla="*/ 4464844 w 7143371"/>
                  <a:gd name="connsiteY1034" fmla="*/ 744379 h 4684871"/>
                  <a:gd name="connsiteX1035" fmla="*/ 4452557 w 7143371"/>
                  <a:gd name="connsiteY1035" fmla="*/ 758666 h 4684871"/>
                  <a:gd name="connsiteX1036" fmla="*/ 4438174 w 7143371"/>
                  <a:gd name="connsiteY1036" fmla="*/ 756190 h 4684871"/>
                  <a:gd name="connsiteX1037" fmla="*/ 4325017 w 7143371"/>
                  <a:gd name="connsiteY1037" fmla="*/ 843153 h 4684871"/>
                  <a:gd name="connsiteX1038" fmla="*/ 4323493 w 7143371"/>
                  <a:gd name="connsiteY1038" fmla="*/ 846487 h 4684871"/>
                  <a:gd name="connsiteX1039" fmla="*/ 4302633 w 7143371"/>
                  <a:gd name="connsiteY1039" fmla="*/ 834200 h 4684871"/>
                  <a:gd name="connsiteX1040" fmla="*/ 4309587 w 7143371"/>
                  <a:gd name="connsiteY1040" fmla="*/ 826580 h 4684871"/>
                  <a:gd name="connsiteX1041" fmla="*/ 4320731 w 7143371"/>
                  <a:gd name="connsiteY1041" fmla="*/ 801624 h 4684871"/>
                  <a:gd name="connsiteX1042" fmla="*/ 4321874 w 7143371"/>
                  <a:gd name="connsiteY1042" fmla="*/ 767906 h 4684871"/>
                  <a:gd name="connsiteX1043" fmla="*/ 4284155 w 7143371"/>
                  <a:gd name="connsiteY1043" fmla="*/ 735140 h 4684871"/>
                  <a:gd name="connsiteX1044" fmla="*/ 4188238 w 7143371"/>
                  <a:gd name="connsiteY1044" fmla="*/ 681038 h 4684871"/>
                  <a:gd name="connsiteX1045" fmla="*/ 4176046 w 7143371"/>
                  <a:gd name="connsiteY1045" fmla="*/ 699326 h 4684871"/>
                  <a:gd name="connsiteX1046" fmla="*/ 4168235 w 7143371"/>
                  <a:gd name="connsiteY1046" fmla="*/ 694849 h 4684871"/>
                  <a:gd name="connsiteX1047" fmla="*/ 4181380 w 7143371"/>
                  <a:gd name="connsiteY1047" fmla="*/ 675418 h 4684871"/>
                  <a:gd name="connsiteX1048" fmla="*/ 4139470 w 7143371"/>
                  <a:gd name="connsiteY1048" fmla="*/ 649510 h 4684871"/>
                  <a:gd name="connsiteX1049" fmla="*/ 4087463 w 7143371"/>
                  <a:gd name="connsiteY1049" fmla="*/ 613505 h 4684871"/>
                  <a:gd name="connsiteX1050" fmla="*/ 4025742 w 7143371"/>
                  <a:gd name="connsiteY1050" fmla="*/ 582930 h 4684871"/>
                  <a:gd name="connsiteX1051" fmla="*/ 4012311 w 7143371"/>
                  <a:gd name="connsiteY1051" fmla="*/ 581787 h 4684871"/>
                  <a:gd name="connsiteX1052" fmla="*/ 3959447 w 7143371"/>
                  <a:gd name="connsiteY1052" fmla="*/ 597789 h 4684871"/>
                  <a:gd name="connsiteX1053" fmla="*/ 3899726 w 7143371"/>
                  <a:gd name="connsiteY1053" fmla="*/ 647224 h 4684871"/>
                  <a:gd name="connsiteX1054" fmla="*/ 3899059 w 7143371"/>
                  <a:gd name="connsiteY1054" fmla="*/ 659797 h 4684871"/>
                  <a:gd name="connsiteX1055" fmla="*/ 3877056 w 7143371"/>
                  <a:gd name="connsiteY1055" fmla="*/ 682276 h 4684871"/>
                  <a:gd name="connsiteX1056" fmla="*/ 3876770 w 7143371"/>
                  <a:gd name="connsiteY1056" fmla="*/ 682276 h 4684871"/>
                  <a:gd name="connsiteX1057" fmla="*/ 3847148 w 7143371"/>
                  <a:gd name="connsiteY1057" fmla="*/ 703040 h 4684871"/>
                  <a:gd name="connsiteX1058" fmla="*/ 3827336 w 7143371"/>
                  <a:gd name="connsiteY1058" fmla="*/ 699421 h 4684871"/>
                  <a:gd name="connsiteX1059" fmla="*/ 3823907 w 7143371"/>
                  <a:gd name="connsiteY1059" fmla="*/ 699992 h 4684871"/>
                  <a:gd name="connsiteX1060" fmla="*/ 3744278 w 7143371"/>
                  <a:gd name="connsiteY1060" fmla="*/ 641128 h 4684871"/>
                  <a:gd name="connsiteX1061" fmla="*/ 3763328 w 7143371"/>
                  <a:gd name="connsiteY1061" fmla="*/ 627602 h 4684871"/>
                  <a:gd name="connsiteX1062" fmla="*/ 3767042 w 7143371"/>
                  <a:gd name="connsiteY1062" fmla="*/ 603409 h 4684871"/>
                  <a:gd name="connsiteX1063" fmla="*/ 3800094 w 7143371"/>
                  <a:gd name="connsiteY1063" fmla="*/ 567785 h 4684871"/>
                  <a:gd name="connsiteX1064" fmla="*/ 3799427 w 7143371"/>
                  <a:gd name="connsiteY1064" fmla="*/ 529971 h 4684871"/>
                  <a:gd name="connsiteX1065" fmla="*/ 3752088 w 7143371"/>
                  <a:gd name="connsiteY1065" fmla="*/ 481679 h 4684871"/>
                  <a:gd name="connsiteX1066" fmla="*/ 3706463 w 7143371"/>
                  <a:gd name="connsiteY1066" fmla="*/ 434245 h 4684871"/>
                  <a:gd name="connsiteX1067" fmla="*/ 3693795 w 7143371"/>
                  <a:gd name="connsiteY1067" fmla="*/ 444151 h 4684871"/>
                  <a:gd name="connsiteX1068" fmla="*/ 3685032 w 7143371"/>
                  <a:gd name="connsiteY1068" fmla="*/ 436626 h 4684871"/>
                  <a:gd name="connsiteX1069" fmla="*/ 3712274 w 7143371"/>
                  <a:gd name="connsiteY1069" fmla="*/ 410051 h 4684871"/>
                  <a:gd name="connsiteX1070" fmla="*/ 3702272 w 7143371"/>
                  <a:gd name="connsiteY1070" fmla="*/ 360140 h 4684871"/>
                  <a:gd name="connsiteX1071" fmla="*/ 3691414 w 7143371"/>
                  <a:gd name="connsiteY1071" fmla="*/ 341662 h 4684871"/>
                  <a:gd name="connsiteX1072" fmla="*/ 3616452 w 7143371"/>
                  <a:gd name="connsiteY1072" fmla="*/ 341948 h 4684871"/>
                  <a:gd name="connsiteX1073" fmla="*/ 3591020 w 7143371"/>
                  <a:gd name="connsiteY1073" fmla="*/ 344805 h 4684871"/>
                  <a:gd name="connsiteX1074" fmla="*/ 3554730 w 7143371"/>
                  <a:gd name="connsiteY1074" fmla="*/ 316992 h 4684871"/>
                  <a:gd name="connsiteX1075" fmla="*/ 3556826 w 7143371"/>
                  <a:gd name="connsiteY1075" fmla="*/ 271463 h 4684871"/>
                  <a:gd name="connsiteX1076" fmla="*/ 3560636 w 7143371"/>
                  <a:gd name="connsiteY1076" fmla="*/ 266129 h 4684871"/>
                  <a:gd name="connsiteX1077" fmla="*/ 3568827 w 7143371"/>
                  <a:gd name="connsiteY1077" fmla="*/ 308991 h 4684871"/>
                  <a:gd name="connsiteX1078" fmla="*/ 3584829 w 7143371"/>
                  <a:gd name="connsiteY1078" fmla="*/ 326422 h 4684871"/>
                  <a:gd name="connsiteX1079" fmla="*/ 3606832 w 7143371"/>
                  <a:gd name="connsiteY1079" fmla="*/ 320326 h 4684871"/>
                  <a:gd name="connsiteX1080" fmla="*/ 3619786 w 7143371"/>
                  <a:gd name="connsiteY1080" fmla="*/ 305467 h 4684871"/>
                  <a:gd name="connsiteX1081" fmla="*/ 3645313 w 7143371"/>
                  <a:gd name="connsiteY1081" fmla="*/ 300419 h 4684871"/>
                  <a:gd name="connsiteX1082" fmla="*/ 3647027 w 7143371"/>
                  <a:gd name="connsiteY1082" fmla="*/ 264986 h 4684871"/>
                  <a:gd name="connsiteX1083" fmla="*/ 3632645 w 7143371"/>
                  <a:gd name="connsiteY1083" fmla="*/ 236411 h 4684871"/>
                  <a:gd name="connsiteX1084" fmla="*/ 3610166 w 7143371"/>
                  <a:gd name="connsiteY1084" fmla="*/ 216122 h 4684871"/>
                  <a:gd name="connsiteX1085" fmla="*/ 3548444 w 7143371"/>
                  <a:gd name="connsiteY1085" fmla="*/ 188405 h 4684871"/>
                  <a:gd name="connsiteX1086" fmla="*/ 3534632 w 7143371"/>
                  <a:gd name="connsiteY1086" fmla="*/ 167831 h 4684871"/>
                  <a:gd name="connsiteX1087" fmla="*/ 3451575 w 7143371"/>
                  <a:gd name="connsiteY1087" fmla="*/ 112776 h 4684871"/>
                  <a:gd name="connsiteX1088" fmla="*/ 3393377 w 7143371"/>
                  <a:gd name="connsiteY1088" fmla="*/ 104966 h 4684871"/>
                  <a:gd name="connsiteX1089" fmla="*/ 3359182 w 7143371"/>
                  <a:gd name="connsiteY1089" fmla="*/ 169545 h 4684871"/>
                  <a:gd name="connsiteX1090" fmla="*/ 3344228 w 7143371"/>
                  <a:gd name="connsiteY1090" fmla="*/ 161449 h 4684871"/>
                  <a:gd name="connsiteX1091" fmla="*/ 3382232 w 7143371"/>
                  <a:gd name="connsiteY1091" fmla="*/ 90107 h 4684871"/>
                  <a:gd name="connsiteX1092" fmla="*/ 3278696 w 7143371"/>
                  <a:gd name="connsiteY1092" fmla="*/ 33909 h 4684871"/>
                  <a:gd name="connsiteX1093" fmla="*/ 3239262 w 7143371"/>
                  <a:gd name="connsiteY1093" fmla="*/ 112871 h 4684871"/>
                  <a:gd name="connsiteX1094" fmla="*/ 3219450 w 7143371"/>
                  <a:gd name="connsiteY1094" fmla="*/ 102394 h 4684871"/>
                  <a:gd name="connsiteX1095" fmla="*/ 3230023 w 7143371"/>
                  <a:gd name="connsiteY1095" fmla="*/ 83534 h 4684871"/>
                  <a:gd name="connsiteX1096" fmla="*/ 3183446 w 7143371"/>
                  <a:gd name="connsiteY1096" fmla="*/ 65627 h 4684871"/>
                  <a:gd name="connsiteX1097" fmla="*/ 3151632 w 7143371"/>
                  <a:gd name="connsiteY1097" fmla="*/ 102965 h 4684871"/>
                  <a:gd name="connsiteX1098" fmla="*/ 3145250 w 7143371"/>
                  <a:gd name="connsiteY1098" fmla="*/ 82963 h 4684871"/>
                  <a:gd name="connsiteX1099" fmla="*/ 3205258 w 7143371"/>
                  <a:gd name="connsiteY1099" fmla="*/ 30194 h 4684871"/>
                  <a:gd name="connsiteX1100" fmla="*/ 3181826 w 7143371"/>
                  <a:gd name="connsiteY1100" fmla="*/ 17621 h 4684871"/>
                  <a:gd name="connsiteX1101" fmla="*/ 3109246 w 7143371"/>
                  <a:gd name="connsiteY1101" fmla="*/ 0 h 4684871"/>
                  <a:gd name="connsiteX1102" fmla="*/ 3102007 w 7143371"/>
                  <a:gd name="connsiteY1102" fmla="*/ 0 h 4684871"/>
                  <a:gd name="connsiteX1103" fmla="*/ 1761554 w 7143371"/>
                  <a:gd name="connsiteY1103" fmla="*/ 300990 h 4684871"/>
                  <a:gd name="connsiteX1104" fmla="*/ 1749361 w 7143371"/>
                  <a:gd name="connsiteY1104" fmla="*/ 302133 h 4684871"/>
                  <a:gd name="connsiteX1105" fmla="*/ 1738789 w 7143371"/>
                  <a:gd name="connsiteY1105" fmla="*/ 306991 h 4684871"/>
                  <a:gd name="connsiteX1106" fmla="*/ 1736789 w 7143371"/>
                  <a:gd name="connsiteY1106" fmla="*/ 317087 h 4684871"/>
                  <a:gd name="connsiteX1107" fmla="*/ 1734693 w 7143371"/>
                  <a:gd name="connsiteY1107" fmla="*/ 326993 h 4684871"/>
                  <a:gd name="connsiteX1108" fmla="*/ 1730597 w 7143371"/>
                  <a:gd name="connsiteY1108" fmla="*/ 333661 h 4684871"/>
                  <a:gd name="connsiteX1109" fmla="*/ 1743837 w 7143371"/>
                  <a:gd name="connsiteY1109" fmla="*/ 334709 h 4684871"/>
                  <a:gd name="connsiteX1110" fmla="*/ 1761458 w 7143371"/>
                  <a:gd name="connsiteY1110" fmla="*/ 328041 h 4684871"/>
                  <a:gd name="connsiteX1111" fmla="*/ 1777270 w 7143371"/>
                  <a:gd name="connsiteY1111" fmla="*/ 321659 h 4684871"/>
                  <a:gd name="connsiteX1112" fmla="*/ 1789462 w 7143371"/>
                  <a:gd name="connsiteY1112" fmla="*/ 314992 h 4684871"/>
                  <a:gd name="connsiteX1113" fmla="*/ 1797939 w 7143371"/>
                  <a:gd name="connsiteY1113" fmla="*/ 311087 h 4684871"/>
                  <a:gd name="connsiteX1114" fmla="*/ 1796510 w 7143371"/>
                  <a:gd name="connsiteY1114" fmla="*/ 304133 h 4684871"/>
                  <a:gd name="connsiteX1115" fmla="*/ 1775936 w 7143371"/>
                  <a:gd name="connsiteY1115" fmla="*/ 301943 h 4684871"/>
                  <a:gd name="connsiteX1116" fmla="*/ 1761554 w 7143371"/>
                  <a:gd name="connsiteY1116" fmla="*/ 300800 h 4684871"/>
                  <a:gd name="connsiteX1117" fmla="*/ 3735419 w 7143371"/>
                  <a:gd name="connsiteY1117" fmla="*/ 341948 h 4684871"/>
                  <a:gd name="connsiteX1118" fmla="*/ 3733705 w 7143371"/>
                  <a:gd name="connsiteY1118" fmla="*/ 342138 h 4684871"/>
                  <a:gd name="connsiteX1119" fmla="*/ 3723227 w 7143371"/>
                  <a:gd name="connsiteY1119" fmla="*/ 349949 h 4684871"/>
                  <a:gd name="connsiteX1120" fmla="*/ 3738658 w 7143371"/>
                  <a:gd name="connsiteY1120" fmla="*/ 353282 h 4684871"/>
                  <a:gd name="connsiteX1121" fmla="*/ 3753326 w 7143371"/>
                  <a:gd name="connsiteY1121" fmla="*/ 376238 h 4684871"/>
                  <a:gd name="connsiteX1122" fmla="*/ 3764661 w 7143371"/>
                  <a:gd name="connsiteY1122" fmla="*/ 403955 h 4684871"/>
                  <a:gd name="connsiteX1123" fmla="*/ 3764090 w 7143371"/>
                  <a:gd name="connsiteY1123" fmla="*/ 431959 h 4684871"/>
                  <a:gd name="connsiteX1124" fmla="*/ 3785235 w 7143371"/>
                  <a:gd name="connsiteY1124" fmla="*/ 453485 h 4684871"/>
                  <a:gd name="connsiteX1125" fmla="*/ 3795522 w 7143371"/>
                  <a:gd name="connsiteY1125" fmla="*/ 472916 h 4684871"/>
                  <a:gd name="connsiteX1126" fmla="*/ 3821621 w 7143371"/>
                  <a:gd name="connsiteY1126" fmla="*/ 506349 h 4684871"/>
                  <a:gd name="connsiteX1127" fmla="*/ 3835718 w 7143371"/>
                  <a:gd name="connsiteY1127" fmla="*/ 515588 h 4684871"/>
                  <a:gd name="connsiteX1128" fmla="*/ 3853529 w 7143371"/>
                  <a:gd name="connsiteY1128" fmla="*/ 498253 h 4684871"/>
                  <a:gd name="connsiteX1129" fmla="*/ 3848767 w 7143371"/>
                  <a:gd name="connsiteY1129" fmla="*/ 482346 h 4684871"/>
                  <a:gd name="connsiteX1130" fmla="*/ 3816287 w 7143371"/>
                  <a:gd name="connsiteY1130" fmla="*/ 427387 h 4684871"/>
                  <a:gd name="connsiteX1131" fmla="*/ 3804095 w 7143371"/>
                  <a:gd name="connsiteY1131" fmla="*/ 407099 h 4684871"/>
                  <a:gd name="connsiteX1132" fmla="*/ 3750755 w 7143371"/>
                  <a:gd name="connsiteY1132" fmla="*/ 344805 h 4684871"/>
                  <a:gd name="connsiteX1133" fmla="*/ 3737038 w 7143371"/>
                  <a:gd name="connsiteY1133" fmla="*/ 342233 h 4684871"/>
                  <a:gd name="connsiteX1134" fmla="*/ 3735324 w 7143371"/>
                  <a:gd name="connsiteY1134" fmla="*/ 342043 h 4684871"/>
                  <a:gd name="connsiteX1135" fmla="*/ 6402039 w 7143371"/>
                  <a:gd name="connsiteY1135" fmla="*/ 452533 h 4684871"/>
                  <a:gd name="connsiteX1136" fmla="*/ 6308789 w 7143371"/>
                  <a:gd name="connsiteY1136" fmla="*/ 474440 h 4684871"/>
                  <a:gd name="connsiteX1137" fmla="*/ 6192107 w 7143371"/>
                  <a:gd name="connsiteY1137" fmla="*/ 505111 h 4684871"/>
                  <a:gd name="connsiteX1138" fmla="*/ 6116003 w 7143371"/>
                  <a:gd name="connsiteY1138" fmla="*/ 569595 h 4684871"/>
                  <a:gd name="connsiteX1139" fmla="*/ 6128957 w 7143371"/>
                  <a:gd name="connsiteY1139" fmla="*/ 569309 h 4684871"/>
                  <a:gd name="connsiteX1140" fmla="*/ 6179820 w 7143371"/>
                  <a:gd name="connsiteY1140" fmla="*/ 527399 h 4684871"/>
                  <a:gd name="connsiteX1141" fmla="*/ 6198490 w 7143371"/>
                  <a:gd name="connsiteY1141" fmla="*/ 539972 h 4684871"/>
                  <a:gd name="connsiteX1142" fmla="*/ 6228017 w 7143371"/>
                  <a:gd name="connsiteY1142" fmla="*/ 541592 h 4684871"/>
                  <a:gd name="connsiteX1143" fmla="*/ 6265545 w 7143371"/>
                  <a:gd name="connsiteY1143" fmla="*/ 538544 h 4684871"/>
                  <a:gd name="connsiteX1144" fmla="*/ 6312884 w 7143371"/>
                  <a:gd name="connsiteY1144" fmla="*/ 517684 h 4684871"/>
                  <a:gd name="connsiteX1145" fmla="*/ 6368130 w 7143371"/>
                  <a:gd name="connsiteY1145" fmla="*/ 505111 h 4684871"/>
                  <a:gd name="connsiteX1146" fmla="*/ 6397466 w 7143371"/>
                  <a:gd name="connsiteY1146" fmla="*/ 525399 h 4684871"/>
                  <a:gd name="connsiteX1147" fmla="*/ 6436138 w 7143371"/>
                  <a:gd name="connsiteY1147" fmla="*/ 534924 h 4684871"/>
                  <a:gd name="connsiteX1148" fmla="*/ 6449664 w 7143371"/>
                  <a:gd name="connsiteY1148" fmla="*/ 530733 h 4684871"/>
                  <a:gd name="connsiteX1149" fmla="*/ 6481191 w 7143371"/>
                  <a:gd name="connsiteY1149" fmla="*/ 526828 h 4684871"/>
                  <a:gd name="connsiteX1150" fmla="*/ 6502813 w 7143371"/>
                  <a:gd name="connsiteY1150" fmla="*/ 528161 h 4684871"/>
                  <a:gd name="connsiteX1151" fmla="*/ 6520053 w 7143371"/>
                  <a:gd name="connsiteY1151" fmla="*/ 547307 h 4684871"/>
                  <a:gd name="connsiteX1152" fmla="*/ 6556534 w 7143371"/>
                  <a:gd name="connsiteY1152" fmla="*/ 559689 h 4684871"/>
                  <a:gd name="connsiteX1153" fmla="*/ 6590443 w 7143371"/>
                  <a:gd name="connsiteY1153" fmla="*/ 558070 h 4684871"/>
                  <a:gd name="connsiteX1154" fmla="*/ 6610255 w 7143371"/>
                  <a:gd name="connsiteY1154" fmla="*/ 565595 h 4684871"/>
                  <a:gd name="connsiteX1155" fmla="*/ 6637973 w 7143371"/>
                  <a:gd name="connsiteY1155" fmla="*/ 578263 h 4684871"/>
                  <a:gd name="connsiteX1156" fmla="*/ 6632162 w 7143371"/>
                  <a:gd name="connsiteY1156" fmla="*/ 558927 h 4684871"/>
                  <a:gd name="connsiteX1157" fmla="*/ 6600254 w 7143371"/>
                  <a:gd name="connsiteY1157" fmla="*/ 549021 h 4684871"/>
                  <a:gd name="connsiteX1158" fmla="*/ 6548819 w 7143371"/>
                  <a:gd name="connsiteY1158" fmla="*/ 542258 h 4684871"/>
                  <a:gd name="connsiteX1159" fmla="*/ 6510814 w 7143371"/>
                  <a:gd name="connsiteY1159" fmla="*/ 523685 h 4684871"/>
                  <a:gd name="connsiteX1160" fmla="*/ 6482715 w 7143371"/>
                  <a:gd name="connsiteY1160" fmla="*/ 472916 h 4684871"/>
                  <a:gd name="connsiteX1161" fmla="*/ 6406325 w 7143371"/>
                  <a:gd name="connsiteY1161" fmla="*/ 452723 h 4684871"/>
                  <a:gd name="connsiteX1162" fmla="*/ 6402133 w 7143371"/>
                  <a:gd name="connsiteY1162" fmla="*/ 452533 h 4684871"/>
                  <a:gd name="connsiteX1163" fmla="*/ 1180433 w 7143371"/>
                  <a:gd name="connsiteY1163" fmla="*/ 536829 h 4684871"/>
                  <a:gd name="connsiteX1164" fmla="*/ 1167575 w 7143371"/>
                  <a:gd name="connsiteY1164" fmla="*/ 543497 h 4684871"/>
                  <a:gd name="connsiteX1165" fmla="*/ 1164336 w 7143371"/>
                  <a:gd name="connsiteY1165" fmla="*/ 552260 h 4684871"/>
                  <a:gd name="connsiteX1166" fmla="*/ 1172909 w 7143371"/>
                  <a:gd name="connsiteY1166" fmla="*/ 558737 h 4684871"/>
                  <a:gd name="connsiteX1167" fmla="*/ 1180433 w 7143371"/>
                  <a:gd name="connsiteY1167" fmla="*/ 557594 h 4684871"/>
                  <a:gd name="connsiteX1168" fmla="*/ 1184624 w 7143371"/>
                  <a:gd name="connsiteY1168" fmla="*/ 549974 h 4684871"/>
                  <a:gd name="connsiteX1169" fmla="*/ 1185767 w 7143371"/>
                  <a:gd name="connsiteY1169" fmla="*/ 544449 h 4684871"/>
                  <a:gd name="connsiteX1170" fmla="*/ 1180433 w 7143371"/>
                  <a:gd name="connsiteY1170" fmla="*/ 536829 h 4684871"/>
                  <a:gd name="connsiteX1171" fmla="*/ 6659880 w 7143371"/>
                  <a:gd name="connsiteY1171" fmla="*/ 583692 h 4684871"/>
                  <a:gd name="connsiteX1172" fmla="*/ 6649022 w 7143371"/>
                  <a:gd name="connsiteY1172" fmla="*/ 585978 h 4684871"/>
                  <a:gd name="connsiteX1173" fmla="*/ 6645783 w 7143371"/>
                  <a:gd name="connsiteY1173" fmla="*/ 595503 h 4684871"/>
                  <a:gd name="connsiteX1174" fmla="*/ 6629305 w 7143371"/>
                  <a:gd name="connsiteY1174" fmla="*/ 615696 h 4684871"/>
                  <a:gd name="connsiteX1175" fmla="*/ 6581013 w 7143371"/>
                  <a:gd name="connsiteY1175" fmla="*/ 631889 h 4684871"/>
                  <a:gd name="connsiteX1176" fmla="*/ 6538341 w 7143371"/>
                  <a:gd name="connsiteY1176" fmla="*/ 614458 h 4684871"/>
                  <a:gd name="connsiteX1177" fmla="*/ 6528626 w 7143371"/>
                  <a:gd name="connsiteY1177" fmla="*/ 621506 h 4684871"/>
                  <a:gd name="connsiteX1178" fmla="*/ 6515100 w 7143371"/>
                  <a:gd name="connsiteY1178" fmla="*/ 616744 h 4684871"/>
                  <a:gd name="connsiteX1179" fmla="*/ 6503099 w 7143371"/>
                  <a:gd name="connsiteY1179" fmla="*/ 614458 h 4684871"/>
                  <a:gd name="connsiteX1180" fmla="*/ 6491955 w 7143371"/>
                  <a:gd name="connsiteY1180" fmla="*/ 605409 h 4684871"/>
                  <a:gd name="connsiteX1181" fmla="*/ 6479953 w 7143371"/>
                  <a:gd name="connsiteY1181" fmla="*/ 596360 h 4684871"/>
                  <a:gd name="connsiteX1182" fmla="*/ 6463665 w 7143371"/>
                  <a:gd name="connsiteY1182" fmla="*/ 589883 h 4684871"/>
                  <a:gd name="connsiteX1183" fmla="*/ 6464903 w 7143371"/>
                  <a:gd name="connsiteY1183" fmla="*/ 612839 h 4684871"/>
                  <a:gd name="connsiteX1184" fmla="*/ 6449473 w 7143371"/>
                  <a:gd name="connsiteY1184" fmla="*/ 627507 h 4684871"/>
                  <a:gd name="connsiteX1185" fmla="*/ 6445091 w 7143371"/>
                  <a:gd name="connsiteY1185" fmla="*/ 637604 h 4684871"/>
                  <a:gd name="connsiteX1186" fmla="*/ 6435090 w 7143371"/>
                  <a:gd name="connsiteY1186" fmla="*/ 656654 h 4684871"/>
                  <a:gd name="connsiteX1187" fmla="*/ 6397657 w 7143371"/>
                  <a:gd name="connsiteY1187" fmla="*/ 683895 h 4684871"/>
                  <a:gd name="connsiteX1188" fmla="*/ 6353271 w 7143371"/>
                  <a:gd name="connsiteY1188" fmla="*/ 692849 h 4684871"/>
                  <a:gd name="connsiteX1189" fmla="*/ 6321362 w 7143371"/>
                  <a:gd name="connsiteY1189" fmla="*/ 688277 h 4684871"/>
                  <a:gd name="connsiteX1190" fmla="*/ 6297168 w 7143371"/>
                  <a:gd name="connsiteY1190" fmla="*/ 688277 h 4684871"/>
                  <a:gd name="connsiteX1191" fmla="*/ 6275832 w 7143371"/>
                  <a:gd name="connsiteY1191" fmla="*/ 673894 h 4684871"/>
                  <a:gd name="connsiteX1192" fmla="*/ 6256782 w 7143371"/>
                  <a:gd name="connsiteY1192" fmla="*/ 687896 h 4684871"/>
                  <a:gd name="connsiteX1193" fmla="*/ 6258021 w 7143371"/>
                  <a:gd name="connsiteY1193" fmla="*/ 749903 h 4684871"/>
                  <a:gd name="connsiteX1194" fmla="*/ 6269450 w 7143371"/>
                  <a:gd name="connsiteY1194" fmla="*/ 790004 h 4684871"/>
                  <a:gd name="connsiteX1195" fmla="*/ 6284691 w 7143371"/>
                  <a:gd name="connsiteY1195" fmla="*/ 812483 h 4684871"/>
                  <a:gd name="connsiteX1196" fmla="*/ 6292596 w 7143371"/>
                  <a:gd name="connsiteY1196" fmla="*/ 839153 h 4684871"/>
                  <a:gd name="connsiteX1197" fmla="*/ 6292311 w 7143371"/>
                  <a:gd name="connsiteY1197" fmla="*/ 854583 h 4684871"/>
                  <a:gd name="connsiteX1198" fmla="*/ 6288596 w 7143371"/>
                  <a:gd name="connsiteY1198" fmla="*/ 873347 h 4684871"/>
                  <a:gd name="connsiteX1199" fmla="*/ 6281928 w 7143371"/>
                  <a:gd name="connsiteY1199" fmla="*/ 861060 h 4684871"/>
                  <a:gd name="connsiteX1200" fmla="*/ 6275546 w 7143371"/>
                  <a:gd name="connsiteY1200" fmla="*/ 858488 h 4684871"/>
                  <a:gd name="connsiteX1201" fmla="*/ 6269070 w 7143371"/>
                  <a:gd name="connsiteY1201" fmla="*/ 860965 h 4684871"/>
                  <a:gd name="connsiteX1202" fmla="*/ 6257735 w 7143371"/>
                  <a:gd name="connsiteY1202" fmla="*/ 867061 h 4684871"/>
                  <a:gd name="connsiteX1203" fmla="*/ 6236875 w 7143371"/>
                  <a:gd name="connsiteY1203" fmla="*/ 865632 h 4684871"/>
                  <a:gd name="connsiteX1204" fmla="*/ 6226969 w 7143371"/>
                  <a:gd name="connsiteY1204" fmla="*/ 815912 h 4684871"/>
                  <a:gd name="connsiteX1205" fmla="*/ 6204776 w 7143371"/>
                  <a:gd name="connsiteY1205" fmla="*/ 770192 h 4684871"/>
                  <a:gd name="connsiteX1206" fmla="*/ 6178487 w 7143371"/>
                  <a:gd name="connsiteY1206" fmla="*/ 752189 h 4684871"/>
                  <a:gd name="connsiteX1207" fmla="*/ 6151245 w 7143371"/>
                  <a:gd name="connsiteY1207" fmla="*/ 742950 h 4684871"/>
                  <a:gd name="connsiteX1208" fmla="*/ 6121623 w 7143371"/>
                  <a:gd name="connsiteY1208" fmla="*/ 704469 h 4684871"/>
                  <a:gd name="connsiteX1209" fmla="*/ 6102667 w 7143371"/>
                  <a:gd name="connsiteY1209" fmla="*/ 676085 h 4684871"/>
                  <a:gd name="connsiteX1210" fmla="*/ 6103525 w 7143371"/>
                  <a:gd name="connsiteY1210" fmla="*/ 650748 h 4684871"/>
                  <a:gd name="connsiteX1211" fmla="*/ 6083332 w 7143371"/>
                  <a:gd name="connsiteY1211" fmla="*/ 628269 h 4684871"/>
                  <a:gd name="connsiteX1212" fmla="*/ 6042755 w 7143371"/>
                  <a:gd name="connsiteY1212" fmla="*/ 627793 h 4684871"/>
                  <a:gd name="connsiteX1213" fmla="*/ 5978748 w 7143371"/>
                  <a:gd name="connsiteY1213" fmla="*/ 686467 h 4684871"/>
                  <a:gd name="connsiteX1214" fmla="*/ 5963793 w 7143371"/>
                  <a:gd name="connsiteY1214" fmla="*/ 752380 h 4684871"/>
                  <a:gd name="connsiteX1215" fmla="*/ 6005322 w 7143371"/>
                  <a:gd name="connsiteY1215" fmla="*/ 894398 h 4684871"/>
                  <a:gd name="connsiteX1216" fmla="*/ 6053328 w 7143371"/>
                  <a:gd name="connsiteY1216" fmla="*/ 928307 h 4684871"/>
                  <a:gd name="connsiteX1217" fmla="*/ 6154483 w 7143371"/>
                  <a:gd name="connsiteY1217" fmla="*/ 934974 h 4684871"/>
                  <a:gd name="connsiteX1218" fmla="*/ 6197441 w 7143371"/>
                  <a:gd name="connsiteY1218" fmla="*/ 919734 h 4684871"/>
                  <a:gd name="connsiteX1219" fmla="*/ 6222302 w 7143371"/>
                  <a:gd name="connsiteY1219" fmla="*/ 887730 h 4684871"/>
                  <a:gd name="connsiteX1220" fmla="*/ 6252210 w 7143371"/>
                  <a:gd name="connsiteY1220" fmla="*/ 880967 h 4684871"/>
                  <a:gd name="connsiteX1221" fmla="*/ 6270308 w 7143371"/>
                  <a:gd name="connsiteY1221" fmla="*/ 898017 h 4684871"/>
                  <a:gd name="connsiteX1222" fmla="*/ 6251258 w 7143371"/>
                  <a:gd name="connsiteY1222" fmla="*/ 934212 h 4684871"/>
                  <a:gd name="connsiteX1223" fmla="*/ 6253830 w 7143371"/>
                  <a:gd name="connsiteY1223" fmla="*/ 963930 h 4684871"/>
                  <a:gd name="connsiteX1224" fmla="*/ 6262878 w 7143371"/>
                  <a:gd name="connsiteY1224" fmla="*/ 974027 h 4684871"/>
                  <a:gd name="connsiteX1225" fmla="*/ 6267069 w 7143371"/>
                  <a:gd name="connsiteY1225" fmla="*/ 991743 h 4684871"/>
                  <a:gd name="connsiteX1226" fmla="*/ 6252972 w 7143371"/>
                  <a:gd name="connsiteY1226" fmla="*/ 1017080 h 4684871"/>
                  <a:gd name="connsiteX1227" fmla="*/ 6175153 w 7143371"/>
                  <a:gd name="connsiteY1227" fmla="*/ 1036510 h 4684871"/>
                  <a:gd name="connsiteX1228" fmla="*/ 6083237 w 7143371"/>
                  <a:gd name="connsiteY1228" fmla="*/ 1031367 h 4684871"/>
                  <a:gd name="connsiteX1229" fmla="*/ 6061234 w 7143371"/>
                  <a:gd name="connsiteY1229" fmla="*/ 1048417 h 4684871"/>
                  <a:gd name="connsiteX1230" fmla="*/ 6076664 w 7143371"/>
                  <a:gd name="connsiteY1230" fmla="*/ 1099185 h 4684871"/>
                  <a:gd name="connsiteX1231" fmla="*/ 6122099 w 7143371"/>
                  <a:gd name="connsiteY1231" fmla="*/ 1195483 h 4684871"/>
                  <a:gd name="connsiteX1232" fmla="*/ 6218682 w 7143371"/>
                  <a:gd name="connsiteY1232" fmla="*/ 1304068 h 4684871"/>
                  <a:gd name="connsiteX1233" fmla="*/ 6227159 w 7143371"/>
                  <a:gd name="connsiteY1233" fmla="*/ 1291209 h 4684871"/>
                  <a:gd name="connsiteX1234" fmla="*/ 6111812 w 7143371"/>
                  <a:gd name="connsiteY1234" fmla="*/ 1156716 h 4684871"/>
                  <a:gd name="connsiteX1235" fmla="*/ 6083999 w 7143371"/>
                  <a:gd name="connsiteY1235" fmla="*/ 1091946 h 4684871"/>
                  <a:gd name="connsiteX1236" fmla="*/ 6070283 w 7143371"/>
                  <a:gd name="connsiteY1236" fmla="*/ 1043654 h 4684871"/>
                  <a:gd name="connsiteX1237" fmla="*/ 6081332 w 7143371"/>
                  <a:gd name="connsiteY1237" fmla="*/ 1044988 h 4684871"/>
                  <a:gd name="connsiteX1238" fmla="*/ 6094191 w 7143371"/>
                  <a:gd name="connsiteY1238" fmla="*/ 1067943 h 4684871"/>
                  <a:gd name="connsiteX1239" fmla="*/ 6120575 w 7143371"/>
                  <a:gd name="connsiteY1239" fmla="*/ 1083659 h 4684871"/>
                  <a:gd name="connsiteX1240" fmla="*/ 6135243 w 7143371"/>
                  <a:gd name="connsiteY1240" fmla="*/ 1077849 h 4684871"/>
                  <a:gd name="connsiteX1241" fmla="*/ 6156389 w 7143371"/>
                  <a:gd name="connsiteY1241" fmla="*/ 1077278 h 4684871"/>
                  <a:gd name="connsiteX1242" fmla="*/ 6159056 w 7143371"/>
                  <a:gd name="connsiteY1242" fmla="*/ 1100614 h 4684871"/>
                  <a:gd name="connsiteX1243" fmla="*/ 6174486 w 7143371"/>
                  <a:gd name="connsiteY1243" fmla="*/ 1116521 h 4684871"/>
                  <a:gd name="connsiteX1244" fmla="*/ 6188488 w 7143371"/>
                  <a:gd name="connsiteY1244" fmla="*/ 1120712 h 4684871"/>
                  <a:gd name="connsiteX1245" fmla="*/ 6190012 w 7143371"/>
                  <a:gd name="connsiteY1245" fmla="*/ 1108139 h 4684871"/>
                  <a:gd name="connsiteX1246" fmla="*/ 6170105 w 7143371"/>
                  <a:gd name="connsiteY1246" fmla="*/ 1077849 h 4684871"/>
                  <a:gd name="connsiteX1247" fmla="*/ 6190584 w 7143371"/>
                  <a:gd name="connsiteY1247" fmla="*/ 1055751 h 4684871"/>
                  <a:gd name="connsiteX1248" fmla="*/ 6201632 w 7143371"/>
                  <a:gd name="connsiteY1248" fmla="*/ 1059942 h 4684871"/>
                  <a:gd name="connsiteX1249" fmla="*/ 6214015 w 7143371"/>
                  <a:gd name="connsiteY1249" fmla="*/ 1063371 h 4684871"/>
                  <a:gd name="connsiteX1250" fmla="*/ 6295263 w 7143371"/>
                  <a:gd name="connsiteY1250" fmla="*/ 1010031 h 4684871"/>
                  <a:gd name="connsiteX1251" fmla="*/ 6331173 w 7143371"/>
                  <a:gd name="connsiteY1251" fmla="*/ 1016222 h 4684871"/>
                  <a:gd name="connsiteX1252" fmla="*/ 6346699 w 7143371"/>
                  <a:gd name="connsiteY1252" fmla="*/ 1020794 h 4684871"/>
                  <a:gd name="connsiteX1253" fmla="*/ 6359081 w 7143371"/>
                  <a:gd name="connsiteY1253" fmla="*/ 1031272 h 4684871"/>
                  <a:gd name="connsiteX1254" fmla="*/ 6381369 w 7143371"/>
                  <a:gd name="connsiteY1254" fmla="*/ 1063752 h 4684871"/>
                  <a:gd name="connsiteX1255" fmla="*/ 6393275 w 7143371"/>
                  <a:gd name="connsiteY1255" fmla="*/ 1095470 h 4684871"/>
                  <a:gd name="connsiteX1256" fmla="*/ 6393275 w 7143371"/>
                  <a:gd name="connsiteY1256" fmla="*/ 1127474 h 4684871"/>
                  <a:gd name="connsiteX1257" fmla="*/ 6420136 w 7143371"/>
                  <a:gd name="connsiteY1257" fmla="*/ 1130332 h 4684871"/>
                  <a:gd name="connsiteX1258" fmla="*/ 6433661 w 7143371"/>
                  <a:gd name="connsiteY1258" fmla="*/ 1140809 h 4684871"/>
                  <a:gd name="connsiteX1259" fmla="*/ 6457950 w 7143371"/>
                  <a:gd name="connsiteY1259" fmla="*/ 1137095 h 4684871"/>
                  <a:gd name="connsiteX1260" fmla="*/ 6507671 w 7143371"/>
                  <a:gd name="connsiteY1260" fmla="*/ 1139000 h 4684871"/>
                  <a:gd name="connsiteX1261" fmla="*/ 6534531 w 7143371"/>
                  <a:gd name="connsiteY1261" fmla="*/ 1142429 h 4684871"/>
                  <a:gd name="connsiteX1262" fmla="*/ 6621399 w 7143371"/>
                  <a:gd name="connsiteY1262" fmla="*/ 1100804 h 4684871"/>
                  <a:gd name="connsiteX1263" fmla="*/ 6645021 w 7143371"/>
                  <a:gd name="connsiteY1263" fmla="*/ 1096518 h 4684871"/>
                  <a:gd name="connsiteX1264" fmla="*/ 6685788 w 7143371"/>
                  <a:gd name="connsiteY1264" fmla="*/ 1098709 h 4684871"/>
                  <a:gd name="connsiteX1265" fmla="*/ 6710363 w 7143371"/>
                  <a:gd name="connsiteY1265" fmla="*/ 1093089 h 4684871"/>
                  <a:gd name="connsiteX1266" fmla="*/ 6717983 w 7143371"/>
                  <a:gd name="connsiteY1266" fmla="*/ 1077944 h 4684871"/>
                  <a:gd name="connsiteX1267" fmla="*/ 6770561 w 7143371"/>
                  <a:gd name="connsiteY1267" fmla="*/ 1060323 h 4684871"/>
                  <a:gd name="connsiteX1268" fmla="*/ 6868192 w 7143371"/>
                  <a:gd name="connsiteY1268" fmla="*/ 1025271 h 4684871"/>
                  <a:gd name="connsiteX1269" fmla="*/ 6924961 w 7143371"/>
                  <a:gd name="connsiteY1269" fmla="*/ 984790 h 4684871"/>
                  <a:gd name="connsiteX1270" fmla="*/ 6946392 w 7143371"/>
                  <a:gd name="connsiteY1270" fmla="*/ 968312 h 4684871"/>
                  <a:gd name="connsiteX1271" fmla="*/ 7022497 w 7143371"/>
                  <a:gd name="connsiteY1271" fmla="*/ 945356 h 4684871"/>
                  <a:gd name="connsiteX1272" fmla="*/ 7053548 w 7143371"/>
                  <a:gd name="connsiteY1272" fmla="*/ 940880 h 4684871"/>
                  <a:gd name="connsiteX1273" fmla="*/ 7065265 w 7143371"/>
                  <a:gd name="connsiteY1273" fmla="*/ 938689 h 4684871"/>
                  <a:gd name="connsiteX1274" fmla="*/ 7070599 w 7143371"/>
                  <a:gd name="connsiteY1274" fmla="*/ 954596 h 4684871"/>
                  <a:gd name="connsiteX1275" fmla="*/ 7059835 w 7143371"/>
                  <a:gd name="connsiteY1275" fmla="*/ 958501 h 4684871"/>
                  <a:gd name="connsiteX1276" fmla="*/ 7032975 w 7143371"/>
                  <a:gd name="connsiteY1276" fmla="*/ 962787 h 4684871"/>
                  <a:gd name="connsiteX1277" fmla="*/ 6984778 w 7143371"/>
                  <a:gd name="connsiteY1277" fmla="*/ 974789 h 4684871"/>
                  <a:gd name="connsiteX1278" fmla="*/ 6959061 w 7143371"/>
                  <a:gd name="connsiteY1278" fmla="*/ 983742 h 4684871"/>
                  <a:gd name="connsiteX1279" fmla="*/ 6940677 w 7143371"/>
                  <a:gd name="connsiteY1279" fmla="*/ 995744 h 4684871"/>
                  <a:gd name="connsiteX1280" fmla="*/ 6906482 w 7143371"/>
                  <a:gd name="connsiteY1280" fmla="*/ 1016508 h 4684871"/>
                  <a:gd name="connsiteX1281" fmla="*/ 6872193 w 7143371"/>
                  <a:gd name="connsiteY1281" fmla="*/ 1047083 h 4684871"/>
                  <a:gd name="connsiteX1282" fmla="*/ 6797231 w 7143371"/>
                  <a:gd name="connsiteY1282" fmla="*/ 1072420 h 4684871"/>
                  <a:gd name="connsiteX1283" fmla="*/ 6752177 w 7143371"/>
                  <a:gd name="connsiteY1283" fmla="*/ 1082231 h 4684871"/>
                  <a:gd name="connsiteX1284" fmla="*/ 6729603 w 7143371"/>
                  <a:gd name="connsiteY1284" fmla="*/ 1100804 h 4684871"/>
                  <a:gd name="connsiteX1285" fmla="*/ 6709125 w 7143371"/>
                  <a:gd name="connsiteY1285" fmla="*/ 1109567 h 4684871"/>
                  <a:gd name="connsiteX1286" fmla="*/ 6681407 w 7143371"/>
                  <a:gd name="connsiteY1286" fmla="*/ 1115092 h 4684871"/>
                  <a:gd name="connsiteX1287" fmla="*/ 6656546 w 7143371"/>
                  <a:gd name="connsiteY1287" fmla="*/ 1118426 h 4684871"/>
                  <a:gd name="connsiteX1288" fmla="*/ 6647117 w 7143371"/>
                  <a:gd name="connsiteY1288" fmla="*/ 1112806 h 4684871"/>
                  <a:gd name="connsiteX1289" fmla="*/ 6640640 w 7143371"/>
                  <a:gd name="connsiteY1289" fmla="*/ 1110615 h 4684871"/>
                  <a:gd name="connsiteX1290" fmla="*/ 6629781 w 7143371"/>
                  <a:gd name="connsiteY1290" fmla="*/ 1117283 h 4684871"/>
                  <a:gd name="connsiteX1291" fmla="*/ 6609588 w 7143371"/>
                  <a:gd name="connsiteY1291" fmla="*/ 1127093 h 4684871"/>
                  <a:gd name="connsiteX1292" fmla="*/ 6549581 w 7143371"/>
                  <a:gd name="connsiteY1292" fmla="*/ 1165289 h 4684871"/>
                  <a:gd name="connsiteX1293" fmla="*/ 6529102 w 7143371"/>
                  <a:gd name="connsiteY1293" fmla="*/ 1169765 h 4684871"/>
                  <a:gd name="connsiteX1294" fmla="*/ 6498050 w 7143371"/>
                  <a:gd name="connsiteY1294" fmla="*/ 1154525 h 4684871"/>
                  <a:gd name="connsiteX1295" fmla="*/ 6439853 w 7143371"/>
                  <a:gd name="connsiteY1295" fmla="*/ 1158716 h 4684871"/>
                  <a:gd name="connsiteX1296" fmla="*/ 6438710 w 7143371"/>
                  <a:gd name="connsiteY1296" fmla="*/ 1171099 h 4684871"/>
                  <a:gd name="connsiteX1297" fmla="*/ 6478810 w 7143371"/>
                  <a:gd name="connsiteY1297" fmla="*/ 1216343 h 4684871"/>
                  <a:gd name="connsiteX1298" fmla="*/ 6517100 w 7143371"/>
                  <a:gd name="connsiteY1298" fmla="*/ 1273969 h 4684871"/>
                  <a:gd name="connsiteX1299" fmla="*/ 6500432 w 7143371"/>
                  <a:gd name="connsiteY1299" fmla="*/ 1302639 h 4684871"/>
                  <a:gd name="connsiteX1300" fmla="*/ 6530816 w 7143371"/>
                  <a:gd name="connsiteY1300" fmla="*/ 1306640 h 4684871"/>
                  <a:gd name="connsiteX1301" fmla="*/ 6553391 w 7143371"/>
                  <a:gd name="connsiteY1301" fmla="*/ 1316831 h 4684871"/>
                  <a:gd name="connsiteX1302" fmla="*/ 6549390 w 7143371"/>
                  <a:gd name="connsiteY1302" fmla="*/ 1325594 h 4684871"/>
                  <a:gd name="connsiteX1303" fmla="*/ 6570250 w 7143371"/>
                  <a:gd name="connsiteY1303" fmla="*/ 1337882 h 4684871"/>
                  <a:gd name="connsiteX1304" fmla="*/ 6570917 w 7143371"/>
                  <a:gd name="connsiteY1304" fmla="*/ 1354455 h 4684871"/>
                  <a:gd name="connsiteX1305" fmla="*/ 6593396 w 7143371"/>
                  <a:gd name="connsiteY1305" fmla="*/ 1368552 h 4684871"/>
                  <a:gd name="connsiteX1306" fmla="*/ 6609493 w 7143371"/>
                  <a:gd name="connsiteY1306" fmla="*/ 1397699 h 4684871"/>
                  <a:gd name="connsiteX1307" fmla="*/ 6599492 w 7143371"/>
                  <a:gd name="connsiteY1307" fmla="*/ 1415891 h 4684871"/>
                  <a:gd name="connsiteX1308" fmla="*/ 6622542 w 7143371"/>
                  <a:gd name="connsiteY1308" fmla="*/ 1423226 h 4684871"/>
                  <a:gd name="connsiteX1309" fmla="*/ 6625400 w 7143371"/>
                  <a:gd name="connsiteY1309" fmla="*/ 1409224 h 4684871"/>
                  <a:gd name="connsiteX1310" fmla="*/ 6802755 w 7143371"/>
                  <a:gd name="connsiteY1310" fmla="*/ 1346930 h 4684871"/>
                  <a:gd name="connsiteX1311" fmla="*/ 6835236 w 7143371"/>
                  <a:gd name="connsiteY1311" fmla="*/ 1334357 h 4684871"/>
                  <a:gd name="connsiteX1312" fmla="*/ 6868002 w 7143371"/>
                  <a:gd name="connsiteY1312" fmla="*/ 1327023 h 4684871"/>
                  <a:gd name="connsiteX1313" fmla="*/ 6890576 w 7143371"/>
                  <a:gd name="connsiteY1313" fmla="*/ 1296924 h 4684871"/>
                  <a:gd name="connsiteX1314" fmla="*/ 6928866 w 7143371"/>
                  <a:gd name="connsiteY1314" fmla="*/ 1292352 h 4684871"/>
                  <a:gd name="connsiteX1315" fmla="*/ 6948488 w 7143371"/>
                  <a:gd name="connsiteY1315" fmla="*/ 1284446 h 4684871"/>
                  <a:gd name="connsiteX1316" fmla="*/ 6967157 w 7143371"/>
                  <a:gd name="connsiteY1316" fmla="*/ 1270063 h 4684871"/>
                  <a:gd name="connsiteX1317" fmla="*/ 6989445 w 7143371"/>
                  <a:gd name="connsiteY1317" fmla="*/ 1264253 h 4684871"/>
                  <a:gd name="connsiteX1318" fmla="*/ 6998875 w 7143371"/>
                  <a:gd name="connsiteY1318" fmla="*/ 1260348 h 4684871"/>
                  <a:gd name="connsiteX1319" fmla="*/ 7012305 w 7143371"/>
                  <a:gd name="connsiteY1319" fmla="*/ 1261777 h 4684871"/>
                  <a:gd name="connsiteX1320" fmla="*/ 7024878 w 7143371"/>
                  <a:gd name="connsiteY1320" fmla="*/ 1238536 h 4684871"/>
                  <a:gd name="connsiteX1321" fmla="*/ 7026307 w 7143371"/>
                  <a:gd name="connsiteY1321" fmla="*/ 1210151 h 4684871"/>
                  <a:gd name="connsiteX1322" fmla="*/ 7018211 w 7143371"/>
                  <a:gd name="connsiteY1322" fmla="*/ 1199960 h 4684871"/>
                  <a:gd name="connsiteX1323" fmla="*/ 7022592 w 7143371"/>
                  <a:gd name="connsiteY1323" fmla="*/ 1159288 h 4684871"/>
                  <a:gd name="connsiteX1324" fmla="*/ 7030689 w 7143371"/>
                  <a:gd name="connsiteY1324" fmla="*/ 1133475 h 4684871"/>
                  <a:gd name="connsiteX1325" fmla="*/ 7043833 w 7143371"/>
                  <a:gd name="connsiteY1325" fmla="*/ 1086231 h 4684871"/>
                  <a:gd name="connsiteX1326" fmla="*/ 7048024 w 7143371"/>
                  <a:gd name="connsiteY1326" fmla="*/ 1048417 h 4684871"/>
                  <a:gd name="connsiteX1327" fmla="*/ 7064407 w 7143371"/>
                  <a:gd name="connsiteY1327" fmla="*/ 994315 h 4684871"/>
                  <a:gd name="connsiteX1328" fmla="*/ 7076599 w 7143371"/>
                  <a:gd name="connsiteY1328" fmla="*/ 965740 h 4684871"/>
                  <a:gd name="connsiteX1329" fmla="*/ 7105269 w 7143371"/>
                  <a:gd name="connsiteY1329" fmla="*/ 971645 h 4684871"/>
                  <a:gd name="connsiteX1330" fmla="*/ 7111651 w 7143371"/>
                  <a:gd name="connsiteY1330" fmla="*/ 1142619 h 4684871"/>
                  <a:gd name="connsiteX1331" fmla="*/ 7106031 w 7143371"/>
                  <a:gd name="connsiteY1331" fmla="*/ 1156430 h 4684871"/>
                  <a:gd name="connsiteX1332" fmla="*/ 7081647 w 7143371"/>
                  <a:gd name="connsiteY1332" fmla="*/ 1201007 h 4684871"/>
                  <a:gd name="connsiteX1333" fmla="*/ 6981349 w 7143371"/>
                  <a:gd name="connsiteY1333" fmla="*/ 1381982 h 4684871"/>
                  <a:gd name="connsiteX1334" fmla="*/ 6957346 w 7143371"/>
                  <a:gd name="connsiteY1334" fmla="*/ 1458944 h 4684871"/>
                  <a:gd name="connsiteX1335" fmla="*/ 6940677 w 7143371"/>
                  <a:gd name="connsiteY1335" fmla="*/ 1546193 h 4684871"/>
                  <a:gd name="connsiteX1336" fmla="*/ 6924199 w 7143371"/>
                  <a:gd name="connsiteY1336" fmla="*/ 1611249 h 4684871"/>
                  <a:gd name="connsiteX1337" fmla="*/ 6924104 w 7143371"/>
                  <a:gd name="connsiteY1337" fmla="*/ 1651349 h 4684871"/>
                  <a:gd name="connsiteX1338" fmla="*/ 6927818 w 7143371"/>
                  <a:gd name="connsiteY1338" fmla="*/ 1700498 h 4684871"/>
                  <a:gd name="connsiteX1339" fmla="*/ 6952488 w 7143371"/>
                  <a:gd name="connsiteY1339" fmla="*/ 1764792 h 4684871"/>
                  <a:gd name="connsiteX1340" fmla="*/ 7002208 w 7143371"/>
                  <a:gd name="connsiteY1340" fmla="*/ 1859756 h 4684871"/>
                  <a:gd name="connsiteX1341" fmla="*/ 7066312 w 7143371"/>
                  <a:gd name="connsiteY1341" fmla="*/ 1948815 h 4684871"/>
                  <a:gd name="connsiteX1342" fmla="*/ 7073646 w 7143371"/>
                  <a:gd name="connsiteY1342" fmla="*/ 1963388 h 4684871"/>
                  <a:gd name="connsiteX1343" fmla="*/ 7070408 w 7143371"/>
                  <a:gd name="connsiteY1343" fmla="*/ 1982153 h 4684871"/>
                  <a:gd name="connsiteX1344" fmla="*/ 7055167 w 7143371"/>
                  <a:gd name="connsiteY1344" fmla="*/ 1992630 h 4684871"/>
                  <a:gd name="connsiteX1345" fmla="*/ 7037356 w 7143371"/>
                  <a:gd name="connsiteY1345" fmla="*/ 1991011 h 4684871"/>
                  <a:gd name="connsiteX1346" fmla="*/ 6903434 w 7143371"/>
                  <a:gd name="connsiteY1346" fmla="*/ 1878711 h 4684871"/>
                  <a:gd name="connsiteX1347" fmla="*/ 6897053 w 7143371"/>
                  <a:gd name="connsiteY1347" fmla="*/ 1885950 h 4684871"/>
                  <a:gd name="connsiteX1348" fmla="*/ 7032879 w 7143371"/>
                  <a:gd name="connsiteY1348" fmla="*/ 1997964 h 4684871"/>
                  <a:gd name="connsiteX1349" fmla="*/ 7067646 w 7143371"/>
                  <a:gd name="connsiteY1349" fmla="*/ 2004632 h 4684871"/>
                  <a:gd name="connsiteX1350" fmla="*/ 7027641 w 7143371"/>
                  <a:gd name="connsiteY1350" fmla="*/ 1870234 h 4684871"/>
                  <a:gd name="connsiteX1351" fmla="*/ 6975062 w 7143371"/>
                  <a:gd name="connsiteY1351" fmla="*/ 1780413 h 4684871"/>
                  <a:gd name="connsiteX1352" fmla="*/ 6936962 w 7143371"/>
                  <a:gd name="connsiteY1352" fmla="*/ 1666684 h 4684871"/>
                  <a:gd name="connsiteX1353" fmla="*/ 6937534 w 7143371"/>
                  <a:gd name="connsiteY1353" fmla="*/ 1613059 h 4684871"/>
                  <a:gd name="connsiteX1354" fmla="*/ 7023640 w 7143371"/>
                  <a:gd name="connsiteY1354" fmla="*/ 1304544 h 4684871"/>
                  <a:gd name="connsiteX1355" fmla="*/ 7137750 w 7143371"/>
                  <a:gd name="connsiteY1355" fmla="*/ 1091470 h 4684871"/>
                  <a:gd name="connsiteX1356" fmla="*/ 7120700 w 7143371"/>
                  <a:gd name="connsiteY1356" fmla="*/ 974217 h 4684871"/>
                  <a:gd name="connsiteX1357" fmla="*/ 7097554 w 7143371"/>
                  <a:gd name="connsiteY1357" fmla="*/ 958977 h 4684871"/>
                  <a:gd name="connsiteX1358" fmla="*/ 7075361 w 7143371"/>
                  <a:gd name="connsiteY1358" fmla="*/ 955262 h 4684871"/>
                  <a:gd name="connsiteX1359" fmla="*/ 7076885 w 7143371"/>
                  <a:gd name="connsiteY1359" fmla="*/ 936689 h 4684871"/>
                  <a:gd name="connsiteX1360" fmla="*/ 7093553 w 7143371"/>
                  <a:gd name="connsiteY1360" fmla="*/ 909161 h 4684871"/>
                  <a:gd name="connsiteX1361" fmla="*/ 7068883 w 7143371"/>
                  <a:gd name="connsiteY1361" fmla="*/ 851630 h 4684871"/>
                  <a:gd name="connsiteX1362" fmla="*/ 7048310 w 7143371"/>
                  <a:gd name="connsiteY1362" fmla="*/ 813530 h 4684871"/>
                  <a:gd name="connsiteX1363" fmla="*/ 7009734 w 7143371"/>
                  <a:gd name="connsiteY1363" fmla="*/ 768287 h 4684871"/>
                  <a:gd name="connsiteX1364" fmla="*/ 6972586 w 7143371"/>
                  <a:gd name="connsiteY1364" fmla="*/ 743903 h 4684871"/>
                  <a:gd name="connsiteX1365" fmla="*/ 6941058 w 7143371"/>
                  <a:gd name="connsiteY1365" fmla="*/ 714089 h 4684871"/>
                  <a:gd name="connsiteX1366" fmla="*/ 6904577 w 7143371"/>
                  <a:gd name="connsiteY1366" fmla="*/ 684657 h 4684871"/>
                  <a:gd name="connsiteX1367" fmla="*/ 6879908 w 7143371"/>
                  <a:gd name="connsiteY1367" fmla="*/ 667798 h 4684871"/>
                  <a:gd name="connsiteX1368" fmla="*/ 6843427 w 7143371"/>
                  <a:gd name="connsiteY1368" fmla="*/ 650748 h 4684871"/>
                  <a:gd name="connsiteX1369" fmla="*/ 6792564 w 7143371"/>
                  <a:gd name="connsiteY1369" fmla="*/ 627126 h 4684871"/>
                  <a:gd name="connsiteX1370" fmla="*/ 6753987 w 7143371"/>
                  <a:gd name="connsiteY1370" fmla="*/ 613696 h 4684871"/>
                  <a:gd name="connsiteX1371" fmla="*/ 6727317 w 7143371"/>
                  <a:gd name="connsiteY1371" fmla="*/ 600742 h 4684871"/>
                  <a:gd name="connsiteX1372" fmla="*/ 6705981 w 7143371"/>
                  <a:gd name="connsiteY1372" fmla="*/ 590836 h 4684871"/>
                  <a:gd name="connsiteX1373" fmla="*/ 6674358 w 7143371"/>
                  <a:gd name="connsiteY1373" fmla="*/ 584930 h 4684871"/>
                  <a:gd name="connsiteX1374" fmla="*/ 6659690 w 7143371"/>
                  <a:gd name="connsiteY1374" fmla="*/ 584168 h 4684871"/>
                  <a:gd name="connsiteX1375" fmla="*/ 1147001 w 7143371"/>
                  <a:gd name="connsiteY1375" fmla="*/ 619411 h 4684871"/>
                  <a:gd name="connsiteX1376" fmla="*/ 1151668 w 7143371"/>
                  <a:gd name="connsiteY1376" fmla="*/ 620554 h 4684871"/>
                  <a:gd name="connsiteX1377" fmla="*/ 1155859 w 7143371"/>
                  <a:gd name="connsiteY1377" fmla="*/ 625697 h 4684871"/>
                  <a:gd name="connsiteX1378" fmla="*/ 1160812 w 7143371"/>
                  <a:gd name="connsiteY1378" fmla="*/ 632651 h 4684871"/>
                  <a:gd name="connsiteX1379" fmla="*/ 1171289 w 7143371"/>
                  <a:gd name="connsiteY1379" fmla="*/ 634365 h 4684871"/>
                  <a:gd name="connsiteX1380" fmla="*/ 1177957 w 7143371"/>
                  <a:gd name="connsiteY1380" fmla="*/ 629222 h 4684871"/>
                  <a:gd name="connsiteX1381" fmla="*/ 1184720 w 7143371"/>
                  <a:gd name="connsiteY1381" fmla="*/ 624935 h 4684871"/>
                  <a:gd name="connsiteX1382" fmla="*/ 1188911 w 7143371"/>
                  <a:gd name="connsiteY1382" fmla="*/ 621506 h 4684871"/>
                  <a:gd name="connsiteX1383" fmla="*/ 1196531 w 7143371"/>
                  <a:gd name="connsiteY1383" fmla="*/ 630174 h 4684871"/>
                  <a:gd name="connsiteX1384" fmla="*/ 1207580 w 7143371"/>
                  <a:gd name="connsiteY1384" fmla="*/ 638937 h 4684871"/>
                  <a:gd name="connsiteX1385" fmla="*/ 1211009 w 7143371"/>
                  <a:gd name="connsiteY1385" fmla="*/ 644843 h 4684871"/>
                  <a:gd name="connsiteX1386" fmla="*/ 1217962 w 7143371"/>
                  <a:gd name="connsiteY1386" fmla="*/ 649986 h 4684871"/>
                  <a:gd name="connsiteX1387" fmla="*/ 1227106 w 7143371"/>
                  <a:gd name="connsiteY1387" fmla="*/ 643033 h 4684871"/>
                  <a:gd name="connsiteX1388" fmla="*/ 1233869 w 7143371"/>
                  <a:gd name="connsiteY1388" fmla="*/ 640461 h 4684871"/>
                  <a:gd name="connsiteX1389" fmla="*/ 1241489 w 7143371"/>
                  <a:gd name="connsiteY1389" fmla="*/ 644081 h 4684871"/>
                  <a:gd name="connsiteX1390" fmla="*/ 1247585 w 7143371"/>
                  <a:gd name="connsiteY1390" fmla="*/ 653415 h 4684871"/>
                  <a:gd name="connsiteX1391" fmla="*/ 1250156 w 7143371"/>
                  <a:gd name="connsiteY1391" fmla="*/ 655130 h 4684871"/>
                  <a:gd name="connsiteX1392" fmla="*/ 1261491 w 7143371"/>
                  <a:gd name="connsiteY1392" fmla="*/ 652082 h 4684871"/>
                  <a:gd name="connsiteX1393" fmla="*/ 1269397 w 7143371"/>
                  <a:gd name="connsiteY1393" fmla="*/ 648462 h 4684871"/>
                  <a:gd name="connsiteX1394" fmla="*/ 1280732 w 7143371"/>
                  <a:gd name="connsiteY1394" fmla="*/ 641509 h 4684871"/>
                  <a:gd name="connsiteX1395" fmla="*/ 1287494 w 7143371"/>
                  <a:gd name="connsiteY1395" fmla="*/ 638080 h 4684871"/>
                  <a:gd name="connsiteX1396" fmla="*/ 1294257 w 7143371"/>
                  <a:gd name="connsiteY1396" fmla="*/ 650748 h 4684871"/>
                  <a:gd name="connsiteX1397" fmla="*/ 1280732 w 7143371"/>
                  <a:gd name="connsiteY1397" fmla="*/ 657701 h 4684871"/>
                  <a:gd name="connsiteX1398" fmla="*/ 1271683 w 7143371"/>
                  <a:gd name="connsiteY1398" fmla="*/ 668083 h 4684871"/>
                  <a:gd name="connsiteX1399" fmla="*/ 1283970 w 7143371"/>
                  <a:gd name="connsiteY1399" fmla="*/ 682085 h 4684871"/>
                  <a:gd name="connsiteX1400" fmla="*/ 1293019 w 7143371"/>
                  <a:gd name="connsiteY1400" fmla="*/ 687705 h 4684871"/>
                  <a:gd name="connsiteX1401" fmla="*/ 1305592 w 7143371"/>
                  <a:gd name="connsiteY1401" fmla="*/ 692277 h 4684871"/>
                  <a:gd name="connsiteX1402" fmla="*/ 1312355 w 7143371"/>
                  <a:gd name="connsiteY1402" fmla="*/ 706279 h 4684871"/>
                  <a:gd name="connsiteX1403" fmla="*/ 1300925 w 7143371"/>
                  <a:gd name="connsiteY1403" fmla="*/ 717804 h 4684871"/>
                  <a:gd name="connsiteX1404" fmla="*/ 1291876 w 7143371"/>
                  <a:gd name="connsiteY1404" fmla="*/ 723424 h 4684871"/>
                  <a:gd name="connsiteX1405" fmla="*/ 1285208 w 7143371"/>
                  <a:gd name="connsiteY1405" fmla="*/ 707422 h 4684871"/>
                  <a:gd name="connsiteX1406" fmla="*/ 1274921 w 7143371"/>
                  <a:gd name="connsiteY1406" fmla="*/ 704945 h 4684871"/>
                  <a:gd name="connsiteX1407" fmla="*/ 1271683 w 7143371"/>
                  <a:gd name="connsiteY1407" fmla="*/ 695706 h 4684871"/>
                  <a:gd name="connsiteX1408" fmla="*/ 1262539 w 7143371"/>
                  <a:gd name="connsiteY1408" fmla="*/ 687610 h 4684871"/>
                  <a:gd name="connsiteX1409" fmla="*/ 1256919 w 7143371"/>
                  <a:gd name="connsiteY1409" fmla="*/ 685324 h 4684871"/>
                  <a:gd name="connsiteX1410" fmla="*/ 1256919 w 7143371"/>
                  <a:gd name="connsiteY1410" fmla="*/ 696849 h 4684871"/>
                  <a:gd name="connsiteX1411" fmla="*/ 1259300 w 7143371"/>
                  <a:gd name="connsiteY1411" fmla="*/ 704945 h 4684871"/>
                  <a:gd name="connsiteX1412" fmla="*/ 1249013 w 7143371"/>
                  <a:gd name="connsiteY1412" fmla="*/ 704945 h 4684871"/>
                  <a:gd name="connsiteX1413" fmla="*/ 1241203 w 7143371"/>
                  <a:gd name="connsiteY1413" fmla="*/ 690086 h 4684871"/>
                  <a:gd name="connsiteX1414" fmla="*/ 1232154 w 7143371"/>
                  <a:gd name="connsiteY1414" fmla="*/ 679704 h 4684871"/>
                  <a:gd name="connsiteX1415" fmla="*/ 1221867 w 7143371"/>
                  <a:gd name="connsiteY1415" fmla="*/ 676085 h 4684871"/>
                  <a:gd name="connsiteX1416" fmla="*/ 1209485 w 7143371"/>
                  <a:gd name="connsiteY1416" fmla="*/ 673799 h 4684871"/>
                  <a:gd name="connsiteX1417" fmla="*/ 1199293 w 7143371"/>
                  <a:gd name="connsiteY1417" fmla="*/ 667988 h 4684871"/>
                  <a:gd name="connsiteX1418" fmla="*/ 1190244 w 7143371"/>
                  <a:gd name="connsiteY1418" fmla="*/ 665702 h 4684871"/>
                  <a:gd name="connsiteX1419" fmla="*/ 1183481 w 7143371"/>
                  <a:gd name="connsiteY1419" fmla="*/ 666845 h 4684871"/>
                  <a:gd name="connsiteX1420" fmla="*/ 1179005 w 7143371"/>
                  <a:gd name="connsiteY1420" fmla="*/ 674942 h 4684871"/>
                  <a:gd name="connsiteX1421" fmla="*/ 1179005 w 7143371"/>
                  <a:gd name="connsiteY1421" fmla="*/ 686467 h 4684871"/>
                  <a:gd name="connsiteX1422" fmla="*/ 1183481 w 7143371"/>
                  <a:gd name="connsiteY1422" fmla="*/ 698183 h 4684871"/>
                  <a:gd name="connsiteX1423" fmla="*/ 1179005 w 7143371"/>
                  <a:gd name="connsiteY1423" fmla="*/ 709708 h 4684871"/>
                  <a:gd name="connsiteX1424" fmla="*/ 1188053 w 7143371"/>
                  <a:gd name="connsiteY1424" fmla="*/ 725900 h 4684871"/>
                  <a:gd name="connsiteX1425" fmla="*/ 1188053 w 7143371"/>
                  <a:gd name="connsiteY1425" fmla="*/ 738569 h 4684871"/>
                  <a:gd name="connsiteX1426" fmla="*/ 1180148 w 7143371"/>
                  <a:gd name="connsiteY1426" fmla="*/ 746665 h 4684871"/>
                  <a:gd name="connsiteX1427" fmla="*/ 1171099 w 7143371"/>
                  <a:gd name="connsiteY1427" fmla="*/ 735140 h 4684871"/>
                  <a:gd name="connsiteX1428" fmla="*/ 1167670 w 7143371"/>
                  <a:gd name="connsiteY1428" fmla="*/ 724757 h 4684871"/>
                  <a:gd name="connsiteX1429" fmla="*/ 1163193 w 7143371"/>
                  <a:gd name="connsiteY1429" fmla="*/ 710946 h 4684871"/>
                  <a:gd name="connsiteX1430" fmla="*/ 1163193 w 7143371"/>
                  <a:gd name="connsiteY1430" fmla="*/ 702755 h 4684871"/>
                  <a:gd name="connsiteX1431" fmla="*/ 1154144 w 7143371"/>
                  <a:gd name="connsiteY1431" fmla="*/ 694658 h 4684871"/>
                  <a:gd name="connsiteX1432" fmla="*/ 1140428 w 7143371"/>
                  <a:gd name="connsiteY1432" fmla="*/ 703898 h 4684871"/>
                  <a:gd name="connsiteX1433" fmla="*/ 1147382 w 7143371"/>
                  <a:gd name="connsiteY1433" fmla="*/ 714280 h 4684871"/>
                  <a:gd name="connsiteX1434" fmla="*/ 1150620 w 7143371"/>
                  <a:gd name="connsiteY1434" fmla="*/ 722376 h 4684871"/>
                  <a:gd name="connsiteX1435" fmla="*/ 1150620 w 7143371"/>
                  <a:gd name="connsiteY1435" fmla="*/ 731615 h 4684871"/>
                  <a:gd name="connsiteX1436" fmla="*/ 1158716 w 7143371"/>
                  <a:gd name="connsiteY1436" fmla="*/ 745617 h 4684871"/>
                  <a:gd name="connsiteX1437" fmla="*/ 1171099 w 7143371"/>
                  <a:gd name="connsiteY1437" fmla="*/ 757142 h 4684871"/>
                  <a:gd name="connsiteX1438" fmla="*/ 1172242 w 7143371"/>
                  <a:gd name="connsiteY1438" fmla="*/ 765239 h 4684871"/>
                  <a:gd name="connsiteX1439" fmla="*/ 1155287 w 7143371"/>
                  <a:gd name="connsiteY1439" fmla="*/ 767525 h 4684871"/>
                  <a:gd name="connsiteX1440" fmla="*/ 1149477 w 7143371"/>
                  <a:gd name="connsiteY1440" fmla="*/ 755999 h 4684871"/>
                  <a:gd name="connsiteX1441" fmla="*/ 1138333 w 7143371"/>
                  <a:gd name="connsiteY1441" fmla="*/ 747903 h 4684871"/>
                  <a:gd name="connsiteX1442" fmla="*/ 1125950 w 7143371"/>
                  <a:gd name="connsiteY1442" fmla="*/ 740855 h 4684871"/>
                  <a:gd name="connsiteX1443" fmla="*/ 1113377 w 7143371"/>
                  <a:gd name="connsiteY1443" fmla="*/ 743331 h 4684871"/>
                  <a:gd name="connsiteX1444" fmla="*/ 1103186 w 7143371"/>
                  <a:gd name="connsiteY1444" fmla="*/ 740855 h 4684871"/>
                  <a:gd name="connsiteX1445" fmla="*/ 1099947 w 7143371"/>
                  <a:gd name="connsiteY1445" fmla="*/ 728282 h 4684871"/>
                  <a:gd name="connsiteX1446" fmla="*/ 1086231 w 7143371"/>
                  <a:gd name="connsiteY1446" fmla="*/ 714280 h 4684871"/>
                  <a:gd name="connsiteX1447" fmla="*/ 1079564 w 7143371"/>
                  <a:gd name="connsiteY1447" fmla="*/ 707517 h 4684871"/>
                  <a:gd name="connsiteX1448" fmla="*/ 1068134 w 7143371"/>
                  <a:gd name="connsiteY1448" fmla="*/ 706374 h 4684871"/>
                  <a:gd name="connsiteX1449" fmla="*/ 1059085 w 7143371"/>
                  <a:gd name="connsiteY1449" fmla="*/ 695897 h 4684871"/>
                  <a:gd name="connsiteX1450" fmla="*/ 1057942 w 7143371"/>
                  <a:gd name="connsiteY1450" fmla="*/ 687800 h 4684871"/>
                  <a:gd name="connsiteX1451" fmla="*/ 1060228 w 7143371"/>
                  <a:gd name="connsiteY1451" fmla="*/ 678561 h 4684871"/>
                  <a:gd name="connsiteX1452" fmla="*/ 1064895 w 7143371"/>
                  <a:gd name="connsiteY1452" fmla="*/ 675132 h 4684871"/>
                  <a:gd name="connsiteX1453" fmla="*/ 1074896 w 7143371"/>
                  <a:gd name="connsiteY1453" fmla="*/ 676275 h 4684871"/>
                  <a:gd name="connsiteX1454" fmla="*/ 1078325 w 7143371"/>
                  <a:gd name="connsiteY1454" fmla="*/ 669322 h 4684871"/>
                  <a:gd name="connsiteX1455" fmla="*/ 1079564 w 7143371"/>
                  <a:gd name="connsiteY1455" fmla="*/ 661416 h 4684871"/>
                  <a:gd name="connsiteX1456" fmla="*/ 1089755 w 7143371"/>
                  <a:gd name="connsiteY1456" fmla="*/ 665893 h 4684871"/>
                  <a:gd name="connsiteX1457" fmla="*/ 1102138 w 7143371"/>
                  <a:gd name="connsiteY1457" fmla="*/ 682181 h 4684871"/>
                  <a:gd name="connsiteX1458" fmla="*/ 1114425 w 7143371"/>
                  <a:gd name="connsiteY1458" fmla="*/ 689134 h 4684871"/>
                  <a:gd name="connsiteX1459" fmla="*/ 1130427 w 7143371"/>
                  <a:gd name="connsiteY1459" fmla="*/ 678656 h 4684871"/>
                  <a:gd name="connsiteX1460" fmla="*/ 1137190 w 7143371"/>
                  <a:gd name="connsiteY1460" fmla="*/ 671894 h 4684871"/>
                  <a:gd name="connsiteX1461" fmla="*/ 1139000 w 7143371"/>
                  <a:gd name="connsiteY1461" fmla="*/ 657892 h 4684871"/>
                  <a:gd name="connsiteX1462" fmla="*/ 1132332 w 7143371"/>
                  <a:gd name="connsiteY1462" fmla="*/ 650081 h 4684871"/>
                  <a:gd name="connsiteX1463" fmla="*/ 1125569 w 7143371"/>
                  <a:gd name="connsiteY1463" fmla="*/ 645795 h 4684871"/>
                  <a:gd name="connsiteX1464" fmla="*/ 1119664 w 7143371"/>
                  <a:gd name="connsiteY1464" fmla="*/ 639699 h 4684871"/>
                  <a:gd name="connsiteX1465" fmla="*/ 1124712 w 7143371"/>
                  <a:gd name="connsiteY1465" fmla="*/ 634556 h 4684871"/>
                  <a:gd name="connsiteX1466" fmla="*/ 1139000 w 7143371"/>
                  <a:gd name="connsiteY1466" fmla="*/ 627602 h 4684871"/>
                  <a:gd name="connsiteX1467" fmla="*/ 1145096 w 7143371"/>
                  <a:gd name="connsiteY1467" fmla="*/ 620649 h 4684871"/>
                  <a:gd name="connsiteX1468" fmla="*/ 1147191 w 7143371"/>
                  <a:gd name="connsiteY1468" fmla="*/ 619506 h 4684871"/>
                  <a:gd name="connsiteX1469" fmla="*/ 4849273 w 7143371"/>
                  <a:gd name="connsiteY1469" fmla="*/ 645985 h 4684871"/>
                  <a:gd name="connsiteX1470" fmla="*/ 4841653 w 7143371"/>
                  <a:gd name="connsiteY1470" fmla="*/ 667798 h 4684871"/>
                  <a:gd name="connsiteX1471" fmla="*/ 4814412 w 7143371"/>
                  <a:gd name="connsiteY1471" fmla="*/ 669417 h 4684871"/>
                  <a:gd name="connsiteX1472" fmla="*/ 4784598 w 7143371"/>
                  <a:gd name="connsiteY1472" fmla="*/ 696087 h 4684871"/>
                  <a:gd name="connsiteX1473" fmla="*/ 4743641 w 7143371"/>
                  <a:gd name="connsiteY1473" fmla="*/ 720281 h 4684871"/>
                  <a:gd name="connsiteX1474" fmla="*/ 4764120 w 7143371"/>
                  <a:gd name="connsiteY1474" fmla="*/ 753428 h 4684871"/>
                  <a:gd name="connsiteX1475" fmla="*/ 4775169 w 7143371"/>
                  <a:gd name="connsiteY1475" fmla="*/ 749522 h 4684871"/>
                  <a:gd name="connsiteX1476" fmla="*/ 4790313 w 7143371"/>
                  <a:gd name="connsiteY1476" fmla="*/ 769525 h 4684871"/>
                  <a:gd name="connsiteX1477" fmla="*/ 4812030 w 7143371"/>
                  <a:gd name="connsiteY1477" fmla="*/ 795052 h 4684871"/>
                  <a:gd name="connsiteX1478" fmla="*/ 4826127 w 7143371"/>
                  <a:gd name="connsiteY1478" fmla="*/ 804958 h 4684871"/>
                  <a:gd name="connsiteX1479" fmla="*/ 4852226 w 7143371"/>
                  <a:gd name="connsiteY1479" fmla="*/ 812768 h 4684871"/>
                  <a:gd name="connsiteX1480" fmla="*/ 4889087 w 7143371"/>
                  <a:gd name="connsiteY1480" fmla="*/ 832676 h 4684871"/>
                  <a:gd name="connsiteX1481" fmla="*/ 4918425 w 7143371"/>
                  <a:gd name="connsiteY1481" fmla="*/ 845915 h 4684871"/>
                  <a:gd name="connsiteX1482" fmla="*/ 4936808 w 7143371"/>
                  <a:gd name="connsiteY1482" fmla="*/ 853726 h 4684871"/>
                  <a:gd name="connsiteX1483" fmla="*/ 4957953 w 7143371"/>
                  <a:gd name="connsiteY1483" fmla="*/ 873443 h 4684871"/>
                  <a:gd name="connsiteX1484" fmla="*/ 4990338 w 7143371"/>
                  <a:gd name="connsiteY1484" fmla="*/ 883539 h 4684871"/>
                  <a:gd name="connsiteX1485" fmla="*/ 5030724 w 7143371"/>
                  <a:gd name="connsiteY1485" fmla="*/ 900017 h 4684871"/>
                  <a:gd name="connsiteX1486" fmla="*/ 5047679 w 7143371"/>
                  <a:gd name="connsiteY1486" fmla="*/ 913543 h 4684871"/>
                  <a:gd name="connsiteX1487" fmla="*/ 5074634 w 7143371"/>
                  <a:gd name="connsiteY1487" fmla="*/ 917734 h 4684871"/>
                  <a:gd name="connsiteX1488" fmla="*/ 5106257 w 7143371"/>
                  <a:gd name="connsiteY1488" fmla="*/ 971360 h 4684871"/>
                  <a:gd name="connsiteX1489" fmla="*/ 5131975 w 7143371"/>
                  <a:gd name="connsiteY1489" fmla="*/ 972788 h 4684871"/>
                  <a:gd name="connsiteX1490" fmla="*/ 5155121 w 7143371"/>
                  <a:gd name="connsiteY1490" fmla="*/ 982694 h 4684871"/>
                  <a:gd name="connsiteX1491" fmla="*/ 5168932 w 7143371"/>
                  <a:gd name="connsiteY1491" fmla="*/ 1001173 h 4684871"/>
                  <a:gd name="connsiteX1492" fmla="*/ 5201698 w 7143371"/>
                  <a:gd name="connsiteY1492" fmla="*/ 1043369 h 4684871"/>
                  <a:gd name="connsiteX1493" fmla="*/ 5218176 w 7143371"/>
                  <a:gd name="connsiteY1493" fmla="*/ 1061276 h 4684871"/>
                  <a:gd name="connsiteX1494" fmla="*/ 5228082 w 7143371"/>
                  <a:gd name="connsiteY1494" fmla="*/ 1068896 h 4684871"/>
                  <a:gd name="connsiteX1495" fmla="*/ 5266944 w 7143371"/>
                  <a:gd name="connsiteY1495" fmla="*/ 1064419 h 4684871"/>
                  <a:gd name="connsiteX1496" fmla="*/ 5315807 w 7143371"/>
                  <a:gd name="connsiteY1496" fmla="*/ 1052132 h 4684871"/>
                  <a:gd name="connsiteX1497" fmla="*/ 5335048 w 7143371"/>
                  <a:gd name="connsiteY1497" fmla="*/ 1048131 h 4684871"/>
                  <a:gd name="connsiteX1498" fmla="*/ 5362861 w 7143371"/>
                  <a:gd name="connsiteY1498" fmla="*/ 1043273 h 4684871"/>
                  <a:gd name="connsiteX1499" fmla="*/ 5385340 w 7143371"/>
                  <a:gd name="connsiteY1499" fmla="*/ 1027843 h 4684871"/>
                  <a:gd name="connsiteX1500" fmla="*/ 5406771 w 7143371"/>
                  <a:gd name="connsiteY1500" fmla="*/ 1029462 h 4684871"/>
                  <a:gd name="connsiteX1501" fmla="*/ 5449157 w 7143371"/>
                  <a:gd name="connsiteY1501" fmla="*/ 1006507 h 4684871"/>
                  <a:gd name="connsiteX1502" fmla="*/ 5445157 w 7143371"/>
                  <a:gd name="connsiteY1502" fmla="*/ 973741 h 4684871"/>
                  <a:gd name="connsiteX1503" fmla="*/ 5484591 w 7143371"/>
                  <a:gd name="connsiteY1503" fmla="*/ 957548 h 4684871"/>
                  <a:gd name="connsiteX1504" fmla="*/ 5512403 w 7143371"/>
                  <a:gd name="connsiteY1504" fmla="*/ 943737 h 4684871"/>
                  <a:gd name="connsiteX1505" fmla="*/ 5553075 w 7143371"/>
                  <a:gd name="connsiteY1505" fmla="*/ 960215 h 4684871"/>
                  <a:gd name="connsiteX1506" fmla="*/ 5578316 w 7143371"/>
                  <a:gd name="connsiteY1506" fmla="*/ 948404 h 4684871"/>
                  <a:gd name="connsiteX1507" fmla="*/ 5599938 w 7143371"/>
                  <a:gd name="connsiteY1507" fmla="*/ 961263 h 4684871"/>
                  <a:gd name="connsiteX1508" fmla="*/ 5639753 w 7143371"/>
                  <a:gd name="connsiteY1508" fmla="*/ 936212 h 4684871"/>
                  <a:gd name="connsiteX1509" fmla="*/ 5689474 w 7143371"/>
                  <a:gd name="connsiteY1509" fmla="*/ 944594 h 4684871"/>
                  <a:gd name="connsiteX1510" fmla="*/ 5712333 w 7143371"/>
                  <a:gd name="connsiteY1510" fmla="*/ 935546 h 4684871"/>
                  <a:gd name="connsiteX1511" fmla="*/ 5707571 w 7143371"/>
                  <a:gd name="connsiteY1511" fmla="*/ 924306 h 4684871"/>
                  <a:gd name="connsiteX1512" fmla="*/ 5696998 w 7143371"/>
                  <a:gd name="connsiteY1512" fmla="*/ 904018 h 4684871"/>
                  <a:gd name="connsiteX1513" fmla="*/ 5705571 w 7143371"/>
                  <a:gd name="connsiteY1513" fmla="*/ 855726 h 4684871"/>
                  <a:gd name="connsiteX1514" fmla="*/ 5716333 w 7143371"/>
                  <a:gd name="connsiteY1514" fmla="*/ 845344 h 4684871"/>
                  <a:gd name="connsiteX1515" fmla="*/ 5700903 w 7143371"/>
                  <a:gd name="connsiteY1515" fmla="*/ 809625 h 4684871"/>
                  <a:gd name="connsiteX1516" fmla="*/ 5675948 w 7143371"/>
                  <a:gd name="connsiteY1516" fmla="*/ 791337 h 4684871"/>
                  <a:gd name="connsiteX1517" fmla="*/ 5646420 w 7143371"/>
                  <a:gd name="connsiteY1517" fmla="*/ 789337 h 4684871"/>
                  <a:gd name="connsiteX1518" fmla="*/ 5618893 w 7143371"/>
                  <a:gd name="connsiteY1518" fmla="*/ 780860 h 4684871"/>
                  <a:gd name="connsiteX1519" fmla="*/ 5593747 w 7143371"/>
                  <a:gd name="connsiteY1519" fmla="*/ 792956 h 4684871"/>
                  <a:gd name="connsiteX1520" fmla="*/ 5570030 w 7143371"/>
                  <a:gd name="connsiteY1520" fmla="*/ 798576 h 4684871"/>
                  <a:gd name="connsiteX1521" fmla="*/ 5553647 w 7143371"/>
                  <a:gd name="connsiteY1521" fmla="*/ 795242 h 4684871"/>
                  <a:gd name="connsiteX1522" fmla="*/ 5524310 w 7143371"/>
                  <a:gd name="connsiteY1522" fmla="*/ 799529 h 4684871"/>
                  <a:gd name="connsiteX1523" fmla="*/ 5501545 w 7143371"/>
                  <a:gd name="connsiteY1523" fmla="*/ 795242 h 4684871"/>
                  <a:gd name="connsiteX1524" fmla="*/ 5478780 w 7143371"/>
                  <a:gd name="connsiteY1524" fmla="*/ 789623 h 4684871"/>
                  <a:gd name="connsiteX1525" fmla="*/ 5458206 w 7143371"/>
                  <a:gd name="connsiteY1525" fmla="*/ 789623 h 4684871"/>
                  <a:gd name="connsiteX1526" fmla="*/ 5447157 w 7143371"/>
                  <a:gd name="connsiteY1526" fmla="*/ 784098 h 4684871"/>
                  <a:gd name="connsiteX1527" fmla="*/ 5404771 w 7143371"/>
                  <a:gd name="connsiteY1527" fmla="*/ 767239 h 4684871"/>
                  <a:gd name="connsiteX1528" fmla="*/ 5366957 w 7143371"/>
                  <a:gd name="connsiteY1528" fmla="*/ 770668 h 4684871"/>
                  <a:gd name="connsiteX1529" fmla="*/ 5339811 w 7143371"/>
                  <a:gd name="connsiteY1529" fmla="*/ 777335 h 4684871"/>
                  <a:gd name="connsiteX1530" fmla="*/ 5313521 w 7143371"/>
                  <a:gd name="connsiteY1530" fmla="*/ 780669 h 4684871"/>
                  <a:gd name="connsiteX1531" fmla="*/ 5297424 w 7143371"/>
                  <a:gd name="connsiteY1531" fmla="*/ 786194 h 4684871"/>
                  <a:gd name="connsiteX1532" fmla="*/ 5285232 w 7143371"/>
                  <a:gd name="connsiteY1532" fmla="*/ 792861 h 4684871"/>
                  <a:gd name="connsiteX1533" fmla="*/ 5264658 w 7143371"/>
                  <a:gd name="connsiteY1533" fmla="*/ 794004 h 4684871"/>
                  <a:gd name="connsiteX1534" fmla="*/ 5240941 w 7143371"/>
                  <a:gd name="connsiteY1534" fmla="*/ 796290 h 4684871"/>
                  <a:gd name="connsiteX1535" fmla="*/ 5201698 w 7143371"/>
                  <a:gd name="connsiteY1535" fmla="*/ 796290 h 4684871"/>
                  <a:gd name="connsiteX1536" fmla="*/ 5180267 w 7143371"/>
                  <a:gd name="connsiteY1536" fmla="*/ 792004 h 4684871"/>
                  <a:gd name="connsiteX1537" fmla="*/ 5175314 w 7143371"/>
                  <a:gd name="connsiteY1537" fmla="*/ 778574 h 4684871"/>
                  <a:gd name="connsiteX1538" fmla="*/ 5146358 w 7143371"/>
                  <a:gd name="connsiteY1538" fmla="*/ 768668 h 4684871"/>
                  <a:gd name="connsiteX1539" fmla="*/ 5136357 w 7143371"/>
                  <a:gd name="connsiteY1539" fmla="*/ 780764 h 4684871"/>
                  <a:gd name="connsiteX1540" fmla="*/ 5099114 w 7143371"/>
                  <a:gd name="connsiteY1540" fmla="*/ 765524 h 4684871"/>
                  <a:gd name="connsiteX1541" fmla="*/ 5074730 w 7143371"/>
                  <a:gd name="connsiteY1541" fmla="*/ 755142 h 4684871"/>
                  <a:gd name="connsiteX1542" fmla="*/ 5077016 w 7143371"/>
                  <a:gd name="connsiteY1542" fmla="*/ 731044 h 4684871"/>
                  <a:gd name="connsiteX1543" fmla="*/ 4969669 w 7143371"/>
                  <a:gd name="connsiteY1543" fmla="*/ 687800 h 4684871"/>
                  <a:gd name="connsiteX1544" fmla="*/ 4934903 w 7143371"/>
                  <a:gd name="connsiteY1544" fmla="*/ 672275 h 4684871"/>
                  <a:gd name="connsiteX1545" fmla="*/ 4897946 w 7143371"/>
                  <a:gd name="connsiteY1545" fmla="*/ 654558 h 4684871"/>
                  <a:gd name="connsiteX1546" fmla="*/ 4869656 w 7143371"/>
                  <a:gd name="connsiteY1546" fmla="*/ 648938 h 4684871"/>
                  <a:gd name="connsiteX1547" fmla="*/ 4849368 w 7143371"/>
                  <a:gd name="connsiteY1547" fmla="*/ 646367 h 4684871"/>
                  <a:gd name="connsiteX1548" fmla="*/ 3733705 w 7143371"/>
                  <a:gd name="connsiteY1548" fmla="*/ 654463 h 4684871"/>
                  <a:gd name="connsiteX1549" fmla="*/ 3816287 w 7143371"/>
                  <a:gd name="connsiteY1549" fmla="*/ 715137 h 4684871"/>
                  <a:gd name="connsiteX1550" fmla="*/ 3818287 w 7143371"/>
                  <a:gd name="connsiteY1550" fmla="*/ 718566 h 4684871"/>
                  <a:gd name="connsiteX1551" fmla="*/ 3806285 w 7143371"/>
                  <a:gd name="connsiteY1551" fmla="*/ 716280 h 4684871"/>
                  <a:gd name="connsiteX1552" fmla="*/ 3801046 w 7143371"/>
                  <a:gd name="connsiteY1552" fmla="*/ 738188 h 4684871"/>
                  <a:gd name="connsiteX1553" fmla="*/ 3774758 w 7143371"/>
                  <a:gd name="connsiteY1553" fmla="*/ 778383 h 4684871"/>
                  <a:gd name="connsiteX1554" fmla="*/ 3773043 w 7143371"/>
                  <a:gd name="connsiteY1554" fmla="*/ 791813 h 4684871"/>
                  <a:gd name="connsiteX1555" fmla="*/ 3771519 w 7143371"/>
                  <a:gd name="connsiteY1555" fmla="*/ 800291 h 4684871"/>
                  <a:gd name="connsiteX1556" fmla="*/ 3757708 w 7143371"/>
                  <a:gd name="connsiteY1556" fmla="*/ 806958 h 4684871"/>
                  <a:gd name="connsiteX1557" fmla="*/ 3738086 w 7143371"/>
                  <a:gd name="connsiteY1557" fmla="*/ 837057 h 4684871"/>
                  <a:gd name="connsiteX1558" fmla="*/ 3694462 w 7143371"/>
                  <a:gd name="connsiteY1558" fmla="*/ 875443 h 4684871"/>
                  <a:gd name="connsiteX1559" fmla="*/ 3684556 w 7143371"/>
                  <a:gd name="connsiteY1559" fmla="*/ 877157 h 4684871"/>
                  <a:gd name="connsiteX1560" fmla="*/ 3638645 w 7143371"/>
                  <a:gd name="connsiteY1560" fmla="*/ 925163 h 4684871"/>
                  <a:gd name="connsiteX1561" fmla="*/ 3623786 w 7143371"/>
                  <a:gd name="connsiteY1561" fmla="*/ 950785 h 4684871"/>
                  <a:gd name="connsiteX1562" fmla="*/ 3547491 w 7143371"/>
                  <a:gd name="connsiteY1562" fmla="*/ 1010317 h 4684871"/>
                  <a:gd name="connsiteX1563" fmla="*/ 3535204 w 7143371"/>
                  <a:gd name="connsiteY1563" fmla="*/ 1025462 h 4684871"/>
                  <a:gd name="connsiteX1564" fmla="*/ 3541871 w 7143371"/>
                  <a:gd name="connsiteY1564" fmla="*/ 1044797 h 4684871"/>
                  <a:gd name="connsiteX1565" fmla="*/ 3538442 w 7143371"/>
                  <a:gd name="connsiteY1565" fmla="*/ 1056513 h 4684871"/>
                  <a:gd name="connsiteX1566" fmla="*/ 3525298 w 7143371"/>
                  <a:gd name="connsiteY1566" fmla="*/ 1054894 h 4684871"/>
                  <a:gd name="connsiteX1567" fmla="*/ 3512344 w 7143371"/>
                  <a:gd name="connsiteY1567" fmla="*/ 1051465 h 4684871"/>
                  <a:gd name="connsiteX1568" fmla="*/ 3501771 w 7143371"/>
                  <a:gd name="connsiteY1568" fmla="*/ 1044797 h 4684871"/>
                  <a:gd name="connsiteX1569" fmla="*/ 3495104 w 7143371"/>
                  <a:gd name="connsiteY1569" fmla="*/ 1029557 h 4684871"/>
                  <a:gd name="connsiteX1570" fmla="*/ 3482721 w 7143371"/>
                  <a:gd name="connsiteY1570" fmla="*/ 1046417 h 4684871"/>
                  <a:gd name="connsiteX1571" fmla="*/ 3473672 w 7143371"/>
                  <a:gd name="connsiteY1571" fmla="*/ 1073277 h 4684871"/>
                  <a:gd name="connsiteX1572" fmla="*/ 3454051 w 7143371"/>
                  <a:gd name="connsiteY1572" fmla="*/ 1092422 h 4684871"/>
                  <a:gd name="connsiteX1573" fmla="*/ 3463767 w 7143371"/>
                  <a:gd name="connsiteY1573" fmla="*/ 1114330 h 4684871"/>
                  <a:gd name="connsiteX1574" fmla="*/ 3455670 w 7143371"/>
                  <a:gd name="connsiteY1574" fmla="*/ 1115949 h 4684871"/>
                  <a:gd name="connsiteX1575" fmla="*/ 3444050 w 7143371"/>
                  <a:gd name="connsiteY1575" fmla="*/ 1095089 h 4684871"/>
                  <a:gd name="connsiteX1576" fmla="*/ 3415379 w 7143371"/>
                  <a:gd name="connsiteY1576" fmla="*/ 1095947 h 4684871"/>
                  <a:gd name="connsiteX1577" fmla="*/ 3384137 w 7143371"/>
                  <a:gd name="connsiteY1577" fmla="*/ 1138809 h 4684871"/>
                  <a:gd name="connsiteX1578" fmla="*/ 3380994 w 7143371"/>
                  <a:gd name="connsiteY1578" fmla="*/ 1134523 h 4684871"/>
                  <a:gd name="connsiteX1579" fmla="*/ 3409664 w 7143371"/>
                  <a:gd name="connsiteY1579" fmla="*/ 1093470 h 4684871"/>
                  <a:gd name="connsiteX1580" fmla="*/ 3380137 w 7143371"/>
                  <a:gd name="connsiteY1580" fmla="*/ 1074134 h 4684871"/>
                  <a:gd name="connsiteX1581" fmla="*/ 3352324 w 7143371"/>
                  <a:gd name="connsiteY1581" fmla="*/ 1116044 h 4684871"/>
                  <a:gd name="connsiteX1582" fmla="*/ 3379280 w 7143371"/>
                  <a:gd name="connsiteY1582" fmla="*/ 1056608 h 4684871"/>
                  <a:gd name="connsiteX1583" fmla="*/ 3386519 w 7143371"/>
                  <a:gd name="connsiteY1583" fmla="*/ 1054037 h 4684871"/>
                  <a:gd name="connsiteX1584" fmla="*/ 3393472 w 7143371"/>
                  <a:gd name="connsiteY1584" fmla="*/ 1043178 h 4684871"/>
                  <a:gd name="connsiteX1585" fmla="*/ 3384137 w 7143371"/>
                  <a:gd name="connsiteY1585" fmla="*/ 1032224 h 4684871"/>
                  <a:gd name="connsiteX1586" fmla="*/ 3373374 w 7143371"/>
                  <a:gd name="connsiteY1586" fmla="*/ 1028224 h 4684871"/>
                  <a:gd name="connsiteX1587" fmla="*/ 3371088 w 7143371"/>
                  <a:gd name="connsiteY1587" fmla="*/ 1016413 h 4684871"/>
                  <a:gd name="connsiteX1588" fmla="*/ 3373374 w 7143371"/>
                  <a:gd name="connsiteY1588" fmla="*/ 1002125 h 4684871"/>
                  <a:gd name="connsiteX1589" fmla="*/ 3386519 w 7143371"/>
                  <a:gd name="connsiteY1589" fmla="*/ 987838 h 4684871"/>
                  <a:gd name="connsiteX1590" fmla="*/ 3400616 w 7143371"/>
                  <a:gd name="connsiteY1590" fmla="*/ 980313 h 4684871"/>
                  <a:gd name="connsiteX1591" fmla="*/ 3405378 w 7143371"/>
                  <a:gd name="connsiteY1591" fmla="*/ 965359 h 4684871"/>
                  <a:gd name="connsiteX1592" fmla="*/ 3374327 w 7143371"/>
                  <a:gd name="connsiteY1592" fmla="*/ 962025 h 4684871"/>
                  <a:gd name="connsiteX1593" fmla="*/ 3322796 w 7143371"/>
                  <a:gd name="connsiteY1593" fmla="*/ 982885 h 4684871"/>
                  <a:gd name="connsiteX1594" fmla="*/ 3314319 w 7143371"/>
                  <a:gd name="connsiteY1594" fmla="*/ 1004697 h 4684871"/>
                  <a:gd name="connsiteX1595" fmla="*/ 3309557 w 7143371"/>
                  <a:gd name="connsiteY1595" fmla="*/ 1017270 h 4684871"/>
                  <a:gd name="connsiteX1596" fmla="*/ 3289935 w 7143371"/>
                  <a:gd name="connsiteY1596" fmla="*/ 1023938 h 4684871"/>
                  <a:gd name="connsiteX1597" fmla="*/ 3291459 w 7143371"/>
                  <a:gd name="connsiteY1597" fmla="*/ 990314 h 4684871"/>
                  <a:gd name="connsiteX1598" fmla="*/ 3302318 w 7143371"/>
                  <a:gd name="connsiteY1598" fmla="*/ 970312 h 4684871"/>
                  <a:gd name="connsiteX1599" fmla="*/ 3309557 w 7143371"/>
                  <a:gd name="connsiteY1599" fmla="*/ 950976 h 4684871"/>
                  <a:gd name="connsiteX1600" fmla="*/ 3309557 w 7143371"/>
                  <a:gd name="connsiteY1600" fmla="*/ 930974 h 4684871"/>
                  <a:gd name="connsiteX1601" fmla="*/ 3319463 w 7143371"/>
                  <a:gd name="connsiteY1601" fmla="*/ 921068 h 4684871"/>
                  <a:gd name="connsiteX1602" fmla="*/ 3335846 w 7143371"/>
                  <a:gd name="connsiteY1602" fmla="*/ 919353 h 4684871"/>
                  <a:gd name="connsiteX1603" fmla="*/ 3353086 w 7143371"/>
                  <a:gd name="connsiteY1603" fmla="*/ 916019 h 4684871"/>
                  <a:gd name="connsiteX1604" fmla="*/ 3372898 w 7143371"/>
                  <a:gd name="connsiteY1604" fmla="*/ 899255 h 4684871"/>
                  <a:gd name="connsiteX1605" fmla="*/ 3388424 w 7143371"/>
                  <a:gd name="connsiteY1605" fmla="*/ 895636 h 4684871"/>
                  <a:gd name="connsiteX1606" fmla="*/ 3403950 w 7143371"/>
                  <a:gd name="connsiteY1606" fmla="*/ 912685 h 4684871"/>
                  <a:gd name="connsiteX1607" fmla="*/ 3455670 w 7143371"/>
                  <a:gd name="connsiteY1607" fmla="*/ 920210 h 4684871"/>
                  <a:gd name="connsiteX1608" fmla="*/ 3486055 w 7143371"/>
                  <a:gd name="connsiteY1608" fmla="*/ 937641 h 4684871"/>
                  <a:gd name="connsiteX1609" fmla="*/ 3508248 w 7143371"/>
                  <a:gd name="connsiteY1609" fmla="*/ 945452 h 4684871"/>
                  <a:gd name="connsiteX1610" fmla="*/ 3551777 w 7143371"/>
                  <a:gd name="connsiteY1610" fmla="*/ 928402 h 4684871"/>
                  <a:gd name="connsiteX1611" fmla="*/ 3593402 w 7143371"/>
                  <a:gd name="connsiteY1611" fmla="*/ 898303 h 4684871"/>
                  <a:gd name="connsiteX1612" fmla="*/ 3599307 w 7143371"/>
                  <a:gd name="connsiteY1612" fmla="*/ 882587 h 4684871"/>
                  <a:gd name="connsiteX1613" fmla="*/ 3601021 w 7143371"/>
                  <a:gd name="connsiteY1613" fmla="*/ 870014 h 4684871"/>
                  <a:gd name="connsiteX1614" fmla="*/ 3622929 w 7143371"/>
                  <a:gd name="connsiteY1614" fmla="*/ 845534 h 4684871"/>
                  <a:gd name="connsiteX1615" fmla="*/ 3641027 w 7143371"/>
                  <a:gd name="connsiteY1615" fmla="*/ 820579 h 4684871"/>
                  <a:gd name="connsiteX1616" fmla="*/ 3640455 w 7143371"/>
                  <a:gd name="connsiteY1616" fmla="*/ 807149 h 4684871"/>
                  <a:gd name="connsiteX1617" fmla="*/ 3660077 w 7143371"/>
                  <a:gd name="connsiteY1617" fmla="*/ 778574 h 4684871"/>
                  <a:gd name="connsiteX1618" fmla="*/ 3673031 w 7143371"/>
                  <a:gd name="connsiteY1618" fmla="*/ 765143 h 4684871"/>
                  <a:gd name="connsiteX1619" fmla="*/ 3689509 w 7143371"/>
                  <a:gd name="connsiteY1619" fmla="*/ 752475 h 4684871"/>
                  <a:gd name="connsiteX1620" fmla="*/ 3700082 w 7143371"/>
                  <a:gd name="connsiteY1620" fmla="*/ 738378 h 4684871"/>
                  <a:gd name="connsiteX1621" fmla="*/ 3705892 w 7143371"/>
                  <a:gd name="connsiteY1621" fmla="*/ 720947 h 4684871"/>
                  <a:gd name="connsiteX1622" fmla="*/ 3704939 w 7143371"/>
                  <a:gd name="connsiteY1622" fmla="*/ 709136 h 4684871"/>
                  <a:gd name="connsiteX1623" fmla="*/ 3718179 w 7143371"/>
                  <a:gd name="connsiteY1623" fmla="*/ 676370 h 4684871"/>
                  <a:gd name="connsiteX1624" fmla="*/ 3723799 w 7143371"/>
                  <a:gd name="connsiteY1624" fmla="*/ 664655 h 4684871"/>
                  <a:gd name="connsiteX1625" fmla="*/ 3732086 w 7143371"/>
                  <a:gd name="connsiteY1625" fmla="*/ 659511 h 4684871"/>
                  <a:gd name="connsiteX1626" fmla="*/ 3733514 w 7143371"/>
                  <a:gd name="connsiteY1626" fmla="*/ 654653 h 4684871"/>
                  <a:gd name="connsiteX1627" fmla="*/ 3903440 w 7143371"/>
                  <a:gd name="connsiteY1627" fmla="*/ 665702 h 4684871"/>
                  <a:gd name="connsiteX1628" fmla="*/ 3911918 w 7143371"/>
                  <a:gd name="connsiteY1628" fmla="*/ 674656 h 4684871"/>
                  <a:gd name="connsiteX1629" fmla="*/ 3939445 w 7143371"/>
                  <a:gd name="connsiteY1629" fmla="*/ 690372 h 4684871"/>
                  <a:gd name="connsiteX1630" fmla="*/ 3966020 w 7143371"/>
                  <a:gd name="connsiteY1630" fmla="*/ 710660 h 4684871"/>
                  <a:gd name="connsiteX1631" fmla="*/ 4006787 w 7143371"/>
                  <a:gd name="connsiteY1631" fmla="*/ 753523 h 4684871"/>
                  <a:gd name="connsiteX1632" fmla="*/ 4065270 w 7143371"/>
                  <a:gd name="connsiteY1632" fmla="*/ 789718 h 4684871"/>
                  <a:gd name="connsiteX1633" fmla="*/ 4101846 w 7143371"/>
                  <a:gd name="connsiteY1633" fmla="*/ 793052 h 4684871"/>
                  <a:gd name="connsiteX1634" fmla="*/ 4163949 w 7143371"/>
                  <a:gd name="connsiteY1634" fmla="*/ 701231 h 4684871"/>
                  <a:gd name="connsiteX1635" fmla="*/ 4171855 w 7143371"/>
                  <a:gd name="connsiteY1635" fmla="*/ 705993 h 4684871"/>
                  <a:gd name="connsiteX1636" fmla="*/ 4113848 w 7143371"/>
                  <a:gd name="connsiteY1636" fmla="*/ 794195 h 4684871"/>
                  <a:gd name="connsiteX1637" fmla="*/ 4151376 w 7143371"/>
                  <a:gd name="connsiteY1637" fmla="*/ 804291 h 4684871"/>
                  <a:gd name="connsiteX1638" fmla="*/ 4194429 w 7143371"/>
                  <a:gd name="connsiteY1638" fmla="*/ 827913 h 4684871"/>
                  <a:gd name="connsiteX1639" fmla="*/ 4242054 w 7143371"/>
                  <a:gd name="connsiteY1639" fmla="*/ 835819 h 4684871"/>
                  <a:gd name="connsiteX1640" fmla="*/ 4282726 w 7143371"/>
                  <a:gd name="connsiteY1640" fmla="*/ 838010 h 4684871"/>
                  <a:gd name="connsiteX1641" fmla="*/ 4292918 w 7143371"/>
                  <a:gd name="connsiteY1641" fmla="*/ 837438 h 4684871"/>
                  <a:gd name="connsiteX1642" fmla="*/ 4320350 w 7143371"/>
                  <a:gd name="connsiteY1642" fmla="*/ 853631 h 4684871"/>
                  <a:gd name="connsiteX1643" fmla="*/ 4301300 w 7143371"/>
                  <a:gd name="connsiteY1643" fmla="*/ 895445 h 4684871"/>
                  <a:gd name="connsiteX1644" fmla="*/ 4297585 w 7143371"/>
                  <a:gd name="connsiteY1644" fmla="*/ 891445 h 4684871"/>
                  <a:gd name="connsiteX1645" fmla="*/ 4283012 w 7143371"/>
                  <a:gd name="connsiteY1645" fmla="*/ 918877 h 4684871"/>
                  <a:gd name="connsiteX1646" fmla="*/ 4271105 w 7143371"/>
                  <a:gd name="connsiteY1646" fmla="*/ 928973 h 4684871"/>
                  <a:gd name="connsiteX1647" fmla="*/ 4256532 w 7143371"/>
                  <a:gd name="connsiteY1647" fmla="*/ 946690 h 4684871"/>
                  <a:gd name="connsiteX1648" fmla="*/ 4212622 w 7143371"/>
                  <a:gd name="connsiteY1648" fmla="*/ 981742 h 4684871"/>
                  <a:gd name="connsiteX1649" fmla="*/ 4176332 w 7143371"/>
                  <a:gd name="connsiteY1649" fmla="*/ 1016318 h 4684871"/>
                  <a:gd name="connsiteX1650" fmla="*/ 4169378 w 7143371"/>
                  <a:gd name="connsiteY1650" fmla="*/ 1040511 h 4684871"/>
                  <a:gd name="connsiteX1651" fmla="*/ 4166140 w 7143371"/>
                  <a:gd name="connsiteY1651" fmla="*/ 1063562 h 4684871"/>
                  <a:gd name="connsiteX1652" fmla="*/ 4156710 w 7143371"/>
                  <a:gd name="connsiteY1652" fmla="*/ 1090803 h 4684871"/>
                  <a:gd name="connsiteX1653" fmla="*/ 4148423 w 7143371"/>
                  <a:gd name="connsiteY1653" fmla="*/ 1114901 h 4684871"/>
                  <a:gd name="connsiteX1654" fmla="*/ 4136041 w 7143371"/>
                  <a:gd name="connsiteY1654" fmla="*/ 1138809 h 4684871"/>
                  <a:gd name="connsiteX1655" fmla="*/ 4116515 w 7143371"/>
                  <a:gd name="connsiteY1655" fmla="*/ 1153382 h 4684871"/>
                  <a:gd name="connsiteX1656" fmla="*/ 4100703 w 7143371"/>
                  <a:gd name="connsiteY1656" fmla="*/ 1164527 h 4684871"/>
                  <a:gd name="connsiteX1657" fmla="*/ 4091559 w 7143371"/>
                  <a:gd name="connsiteY1657" fmla="*/ 1169575 h 4684871"/>
                  <a:gd name="connsiteX1658" fmla="*/ 4088130 w 7143371"/>
                  <a:gd name="connsiteY1658" fmla="*/ 1218629 h 4684871"/>
                  <a:gd name="connsiteX1659" fmla="*/ 4083177 w 7143371"/>
                  <a:gd name="connsiteY1659" fmla="*/ 1233011 h 4684871"/>
                  <a:gd name="connsiteX1660" fmla="*/ 4070509 w 7143371"/>
                  <a:gd name="connsiteY1660" fmla="*/ 1240822 h 4684871"/>
                  <a:gd name="connsiteX1661" fmla="*/ 4061365 w 7143371"/>
                  <a:gd name="connsiteY1661" fmla="*/ 1239203 h 4684871"/>
                  <a:gd name="connsiteX1662" fmla="*/ 4073081 w 7143371"/>
                  <a:gd name="connsiteY1662" fmla="*/ 1226249 h 4684871"/>
                  <a:gd name="connsiteX1663" fmla="*/ 4075462 w 7143371"/>
                  <a:gd name="connsiteY1663" fmla="*/ 1194530 h 4684871"/>
                  <a:gd name="connsiteX1664" fmla="*/ 4073081 w 7143371"/>
                  <a:gd name="connsiteY1664" fmla="*/ 1166432 h 4684871"/>
                  <a:gd name="connsiteX1665" fmla="*/ 4091559 w 7143371"/>
                  <a:gd name="connsiteY1665" fmla="*/ 1146810 h 4684871"/>
                  <a:gd name="connsiteX1666" fmla="*/ 4126040 w 7143371"/>
                  <a:gd name="connsiteY1666" fmla="*/ 1120902 h 4684871"/>
                  <a:gd name="connsiteX1667" fmla="*/ 4133564 w 7143371"/>
                  <a:gd name="connsiteY1667" fmla="*/ 1090041 h 4684871"/>
                  <a:gd name="connsiteX1668" fmla="*/ 4142708 w 7143371"/>
                  <a:gd name="connsiteY1668" fmla="*/ 1060228 h 4684871"/>
                  <a:gd name="connsiteX1669" fmla="*/ 4146137 w 7143371"/>
                  <a:gd name="connsiteY1669" fmla="*/ 1025747 h 4684871"/>
                  <a:gd name="connsiteX1670" fmla="*/ 4161949 w 7143371"/>
                  <a:gd name="connsiteY1670" fmla="*/ 990886 h 4684871"/>
                  <a:gd name="connsiteX1671" fmla="*/ 4207574 w 7143371"/>
                  <a:gd name="connsiteY1671" fmla="*/ 968502 h 4684871"/>
                  <a:gd name="connsiteX1672" fmla="*/ 4269962 w 7143371"/>
                  <a:gd name="connsiteY1672" fmla="*/ 903351 h 4684871"/>
                  <a:gd name="connsiteX1673" fmla="*/ 4273392 w 7143371"/>
                  <a:gd name="connsiteY1673" fmla="*/ 863822 h 4684871"/>
                  <a:gd name="connsiteX1674" fmla="*/ 4247960 w 7143371"/>
                  <a:gd name="connsiteY1674" fmla="*/ 850678 h 4684871"/>
                  <a:gd name="connsiteX1675" fmla="*/ 4203764 w 7143371"/>
                  <a:gd name="connsiteY1675" fmla="*/ 848201 h 4684871"/>
                  <a:gd name="connsiteX1676" fmla="*/ 4131850 w 7143371"/>
                  <a:gd name="connsiteY1676" fmla="*/ 811149 h 4684871"/>
                  <a:gd name="connsiteX1677" fmla="*/ 4100798 w 7143371"/>
                  <a:gd name="connsiteY1677" fmla="*/ 806672 h 4684871"/>
                  <a:gd name="connsiteX1678" fmla="*/ 4082320 w 7143371"/>
                  <a:gd name="connsiteY1678" fmla="*/ 814483 h 4684871"/>
                  <a:gd name="connsiteX1679" fmla="*/ 4076414 w 7143371"/>
                  <a:gd name="connsiteY1679" fmla="*/ 833533 h 4684871"/>
                  <a:gd name="connsiteX1680" fmla="*/ 4029551 w 7143371"/>
                  <a:gd name="connsiteY1680" fmla="*/ 809911 h 4684871"/>
                  <a:gd name="connsiteX1681" fmla="*/ 3985070 w 7143371"/>
                  <a:gd name="connsiteY1681" fmla="*/ 768572 h 4684871"/>
                  <a:gd name="connsiteX1682" fmla="*/ 3977831 w 7143371"/>
                  <a:gd name="connsiteY1682" fmla="*/ 739140 h 4684871"/>
                  <a:gd name="connsiteX1683" fmla="*/ 3945255 w 7143371"/>
                  <a:gd name="connsiteY1683" fmla="*/ 701516 h 4684871"/>
                  <a:gd name="connsiteX1684" fmla="*/ 3912108 w 7143371"/>
                  <a:gd name="connsiteY1684" fmla="*/ 688277 h 4684871"/>
                  <a:gd name="connsiteX1685" fmla="*/ 3887534 w 7143371"/>
                  <a:gd name="connsiteY1685" fmla="*/ 682466 h 4684871"/>
                  <a:gd name="connsiteX1686" fmla="*/ 3903631 w 7143371"/>
                  <a:gd name="connsiteY1686" fmla="*/ 665893 h 4684871"/>
                  <a:gd name="connsiteX1687" fmla="*/ 1214247 w 7143371"/>
                  <a:gd name="connsiteY1687" fmla="*/ 684276 h 4684871"/>
                  <a:gd name="connsiteX1688" fmla="*/ 1216533 w 7143371"/>
                  <a:gd name="connsiteY1688" fmla="*/ 688277 h 4684871"/>
                  <a:gd name="connsiteX1689" fmla="*/ 1216533 w 7143371"/>
                  <a:gd name="connsiteY1689" fmla="*/ 694658 h 4684871"/>
                  <a:gd name="connsiteX1690" fmla="*/ 1217105 w 7143371"/>
                  <a:gd name="connsiteY1690" fmla="*/ 705803 h 4684871"/>
                  <a:gd name="connsiteX1691" fmla="*/ 1209866 w 7143371"/>
                  <a:gd name="connsiteY1691" fmla="*/ 713899 h 4684871"/>
                  <a:gd name="connsiteX1692" fmla="*/ 1206341 w 7143371"/>
                  <a:gd name="connsiteY1692" fmla="*/ 706850 h 4684871"/>
                  <a:gd name="connsiteX1693" fmla="*/ 1207484 w 7143371"/>
                  <a:gd name="connsiteY1693" fmla="*/ 698754 h 4684871"/>
                  <a:gd name="connsiteX1694" fmla="*/ 1210913 w 7143371"/>
                  <a:gd name="connsiteY1694" fmla="*/ 694754 h 4684871"/>
                  <a:gd name="connsiteX1695" fmla="*/ 1211485 w 7143371"/>
                  <a:gd name="connsiteY1695" fmla="*/ 690277 h 4684871"/>
                  <a:gd name="connsiteX1696" fmla="*/ 1214342 w 7143371"/>
                  <a:gd name="connsiteY1696" fmla="*/ 684371 h 4684871"/>
                  <a:gd name="connsiteX1697" fmla="*/ 6485096 w 7143371"/>
                  <a:gd name="connsiteY1697" fmla="*/ 709898 h 4684871"/>
                  <a:gd name="connsiteX1698" fmla="*/ 6489287 w 7143371"/>
                  <a:gd name="connsiteY1698" fmla="*/ 714375 h 4684871"/>
                  <a:gd name="connsiteX1699" fmla="*/ 6490811 w 7143371"/>
                  <a:gd name="connsiteY1699" fmla="*/ 728186 h 4684871"/>
                  <a:gd name="connsiteX1700" fmla="*/ 6484334 w 7143371"/>
                  <a:gd name="connsiteY1700" fmla="*/ 742188 h 4684871"/>
                  <a:gd name="connsiteX1701" fmla="*/ 6482334 w 7143371"/>
                  <a:gd name="connsiteY1701" fmla="*/ 756476 h 4684871"/>
                  <a:gd name="connsiteX1702" fmla="*/ 6488145 w 7143371"/>
                  <a:gd name="connsiteY1702" fmla="*/ 770287 h 4684871"/>
                  <a:gd name="connsiteX1703" fmla="*/ 6497193 w 7143371"/>
                  <a:gd name="connsiteY1703" fmla="*/ 774002 h 4684871"/>
                  <a:gd name="connsiteX1704" fmla="*/ 6504242 w 7143371"/>
                  <a:gd name="connsiteY1704" fmla="*/ 768668 h 4684871"/>
                  <a:gd name="connsiteX1705" fmla="*/ 6508052 w 7143371"/>
                  <a:gd name="connsiteY1705" fmla="*/ 759143 h 4684871"/>
                  <a:gd name="connsiteX1706" fmla="*/ 6515005 w 7143371"/>
                  <a:gd name="connsiteY1706" fmla="*/ 767906 h 4684871"/>
                  <a:gd name="connsiteX1707" fmla="*/ 6526721 w 7143371"/>
                  <a:gd name="connsiteY1707" fmla="*/ 770192 h 4684871"/>
                  <a:gd name="connsiteX1708" fmla="*/ 6543961 w 7143371"/>
                  <a:gd name="connsiteY1708" fmla="*/ 766763 h 4684871"/>
                  <a:gd name="connsiteX1709" fmla="*/ 6557772 w 7143371"/>
                  <a:gd name="connsiteY1709" fmla="*/ 772954 h 4684871"/>
                  <a:gd name="connsiteX1710" fmla="*/ 6572346 w 7143371"/>
                  <a:gd name="connsiteY1710" fmla="*/ 773430 h 4684871"/>
                  <a:gd name="connsiteX1711" fmla="*/ 6580823 w 7143371"/>
                  <a:gd name="connsiteY1711" fmla="*/ 774573 h 4684871"/>
                  <a:gd name="connsiteX1712" fmla="*/ 6580442 w 7143371"/>
                  <a:gd name="connsiteY1712" fmla="*/ 783336 h 4684871"/>
                  <a:gd name="connsiteX1713" fmla="*/ 6568726 w 7143371"/>
                  <a:gd name="connsiteY1713" fmla="*/ 785336 h 4684871"/>
                  <a:gd name="connsiteX1714" fmla="*/ 6564916 w 7143371"/>
                  <a:gd name="connsiteY1714" fmla="*/ 794099 h 4684871"/>
                  <a:gd name="connsiteX1715" fmla="*/ 6559582 w 7143371"/>
                  <a:gd name="connsiteY1715" fmla="*/ 792099 h 4684871"/>
                  <a:gd name="connsiteX1716" fmla="*/ 6549390 w 7143371"/>
                  <a:gd name="connsiteY1716" fmla="*/ 795814 h 4684871"/>
                  <a:gd name="connsiteX1717" fmla="*/ 6547295 w 7143371"/>
                  <a:gd name="connsiteY1717" fmla="*/ 802291 h 4684871"/>
                  <a:gd name="connsiteX1718" fmla="*/ 6537675 w 7143371"/>
                  <a:gd name="connsiteY1718" fmla="*/ 805625 h 4684871"/>
                  <a:gd name="connsiteX1719" fmla="*/ 6529102 w 7143371"/>
                  <a:gd name="connsiteY1719" fmla="*/ 801338 h 4684871"/>
                  <a:gd name="connsiteX1720" fmla="*/ 6510909 w 7143371"/>
                  <a:gd name="connsiteY1720" fmla="*/ 804101 h 4684871"/>
                  <a:gd name="connsiteX1721" fmla="*/ 6503861 w 7143371"/>
                  <a:gd name="connsiteY1721" fmla="*/ 816197 h 4684871"/>
                  <a:gd name="connsiteX1722" fmla="*/ 6503290 w 7143371"/>
                  <a:gd name="connsiteY1722" fmla="*/ 829342 h 4684871"/>
                  <a:gd name="connsiteX1723" fmla="*/ 6499099 w 7143371"/>
                  <a:gd name="connsiteY1723" fmla="*/ 840200 h 4684871"/>
                  <a:gd name="connsiteX1724" fmla="*/ 6491002 w 7143371"/>
                  <a:gd name="connsiteY1724" fmla="*/ 847439 h 4684871"/>
                  <a:gd name="connsiteX1725" fmla="*/ 6494717 w 7143371"/>
                  <a:gd name="connsiteY1725" fmla="*/ 861536 h 4684871"/>
                  <a:gd name="connsiteX1726" fmla="*/ 6516339 w 7143371"/>
                  <a:gd name="connsiteY1726" fmla="*/ 879729 h 4684871"/>
                  <a:gd name="connsiteX1727" fmla="*/ 6528054 w 7143371"/>
                  <a:gd name="connsiteY1727" fmla="*/ 885825 h 4684871"/>
                  <a:gd name="connsiteX1728" fmla="*/ 6546818 w 7143371"/>
                  <a:gd name="connsiteY1728" fmla="*/ 884682 h 4684871"/>
                  <a:gd name="connsiteX1729" fmla="*/ 6557010 w 7143371"/>
                  <a:gd name="connsiteY1729" fmla="*/ 887825 h 4684871"/>
                  <a:gd name="connsiteX1730" fmla="*/ 6559106 w 7143371"/>
                  <a:gd name="connsiteY1730" fmla="*/ 898303 h 4684871"/>
                  <a:gd name="connsiteX1731" fmla="*/ 6556439 w 7143371"/>
                  <a:gd name="connsiteY1731" fmla="*/ 905923 h 4684871"/>
                  <a:gd name="connsiteX1732" fmla="*/ 6546247 w 7143371"/>
                  <a:gd name="connsiteY1732" fmla="*/ 903160 h 4684871"/>
                  <a:gd name="connsiteX1733" fmla="*/ 6539770 w 7143371"/>
                  <a:gd name="connsiteY1733" fmla="*/ 905923 h 4684871"/>
                  <a:gd name="connsiteX1734" fmla="*/ 6537770 w 7143371"/>
                  <a:gd name="connsiteY1734" fmla="*/ 910400 h 4684871"/>
                  <a:gd name="connsiteX1735" fmla="*/ 6529578 w 7143371"/>
                  <a:gd name="connsiteY1735" fmla="*/ 912019 h 4684871"/>
                  <a:gd name="connsiteX1736" fmla="*/ 6523101 w 7143371"/>
                  <a:gd name="connsiteY1736" fmla="*/ 903827 h 4684871"/>
                  <a:gd name="connsiteX1737" fmla="*/ 6510243 w 7143371"/>
                  <a:gd name="connsiteY1737" fmla="*/ 898970 h 4684871"/>
                  <a:gd name="connsiteX1738" fmla="*/ 6497003 w 7143371"/>
                  <a:gd name="connsiteY1738" fmla="*/ 903256 h 4684871"/>
                  <a:gd name="connsiteX1739" fmla="*/ 6491669 w 7143371"/>
                  <a:gd name="connsiteY1739" fmla="*/ 908114 h 4684871"/>
                  <a:gd name="connsiteX1740" fmla="*/ 6487287 w 7143371"/>
                  <a:gd name="connsiteY1740" fmla="*/ 909733 h 4684871"/>
                  <a:gd name="connsiteX1741" fmla="*/ 6486906 w 7143371"/>
                  <a:gd name="connsiteY1741" fmla="*/ 898874 h 4684871"/>
                  <a:gd name="connsiteX1742" fmla="*/ 6484620 w 7143371"/>
                  <a:gd name="connsiteY1742" fmla="*/ 891254 h 4684871"/>
                  <a:gd name="connsiteX1743" fmla="*/ 6477286 w 7143371"/>
                  <a:gd name="connsiteY1743" fmla="*/ 885063 h 4684871"/>
                  <a:gd name="connsiteX1744" fmla="*/ 6469761 w 7143371"/>
                  <a:gd name="connsiteY1744" fmla="*/ 881920 h 4684871"/>
                  <a:gd name="connsiteX1745" fmla="*/ 6461189 w 7143371"/>
                  <a:gd name="connsiteY1745" fmla="*/ 887825 h 4684871"/>
                  <a:gd name="connsiteX1746" fmla="*/ 6454712 w 7143371"/>
                  <a:gd name="connsiteY1746" fmla="*/ 896207 h 4684871"/>
                  <a:gd name="connsiteX1747" fmla="*/ 6444520 w 7143371"/>
                  <a:gd name="connsiteY1747" fmla="*/ 893445 h 4684871"/>
                  <a:gd name="connsiteX1748" fmla="*/ 6437567 w 7143371"/>
                  <a:gd name="connsiteY1748" fmla="*/ 888587 h 4684871"/>
                  <a:gd name="connsiteX1749" fmla="*/ 6428232 w 7143371"/>
                  <a:gd name="connsiteY1749" fmla="*/ 886968 h 4684871"/>
                  <a:gd name="connsiteX1750" fmla="*/ 6419755 w 7143371"/>
                  <a:gd name="connsiteY1750" fmla="*/ 876491 h 4684871"/>
                  <a:gd name="connsiteX1751" fmla="*/ 6415564 w 7143371"/>
                  <a:gd name="connsiteY1751" fmla="*/ 871633 h 4684871"/>
                  <a:gd name="connsiteX1752" fmla="*/ 6408040 w 7143371"/>
                  <a:gd name="connsiteY1752" fmla="*/ 864584 h 4684871"/>
                  <a:gd name="connsiteX1753" fmla="*/ 6413374 w 7143371"/>
                  <a:gd name="connsiteY1753" fmla="*/ 855345 h 4684871"/>
                  <a:gd name="connsiteX1754" fmla="*/ 6413754 w 7143371"/>
                  <a:gd name="connsiteY1754" fmla="*/ 841534 h 4684871"/>
                  <a:gd name="connsiteX1755" fmla="*/ 6413374 w 7143371"/>
                  <a:gd name="connsiteY1755" fmla="*/ 827246 h 4684871"/>
                  <a:gd name="connsiteX1756" fmla="*/ 6414516 w 7143371"/>
                  <a:gd name="connsiteY1756" fmla="*/ 819626 h 4684871"/>
                  <a:gd name="connsiteX1757" fmla="*/ 6410706 w 7143371"/>
                  <a:gd name="connsiteY1757" fmla="*/ 802577 h 4684871"/>
                  <a:gd name="connsiteX1758" fmla="*/ 6409563 w 7143371"/>
                  <a:gd name="connsiteY1758" fmla="*/ 789432 h 4684871"/>
                  <a:gd name="connsiteX1759" fmla="*/ 6409563 w 7143371"/>
                  <a:gd name="connsiteY1759" fmla="*/ 774764 h 4684871"/>
                  <a:gd name="connsiteX1760" fmla="*/ 6411849 w 7143371"/>
                  <a:gd name="connsiteY1760" fmla="*/ 768858 h 4684871"/>
                  <a:gd name="connsiteX1761" fmla="*/ 6415564 w 7143371"/>
                  <a:gd name="connsiteY1761" fmla="*/ 770477 h 4684871"/>
                  <a:gd name="connsiteX1762" fmla="*/ 6422041 w 7143371"/>
                  <a:gd name="connsiteY1762" fmla="*/ 782860 h 4684871"/>
                  <a:gd name="connsiteX1763" fmla="*/ 6428232 w 7143371"/>
                  <a:gd name="connsiteY1763" fmla="*/ 794004 h 4684871"/>
                  <a:gd name="connsiteX1764" fmla="*/ 6431661 w 7143371"/>
                  <a:gd name="connsiteY1764" fmla="*/ 806006 h 4684871"/>
                  <a:gd name="connsiteX1765" fmla="*/ 6432042 w 7143371"/>
                  <a:gd name="connsiteY1765" fmla="*/ 819150 h 4684871"/>
                  <a:gd name="connsiteX1766" fmla="*/ 6441758 w 7143371"/>
                  <a:gd name="connsiteY1766" fmla="*/ 816578 h 4684871"/>
                  <a:gd name="connsiteX1767" fmla="*/ 6449282 w 7143371"/>
                  <a:gd name="connsiteY1767" fmla="*/ 809339 h 4684871"/>
                  <a:gd name="connsiteX1768" fmla="*/ 6452426 w 7143371"/>
                  <a:gd name="connsiteY1768" fmla="*/ 801148 h 4684871"/>
                  <a:gd name="connsiteX1769" fmla="*/ 6455855 w 7143371"/>
                  <a:gd name="connsiteY1769" fmla="*/ 790766 h 4684871"/>
                  <a:gd name="connsiteX1770" fmla="*/ 6462808 w 7143371"/>
                  <a:gd name="connsiteY1770" fmla="*/ 795623 h 4684871"/>
                  <a:gd name="connsiteX1771" fmla="*/ 6469190 w 7143371"/>
                  <a:gd name="connsiteY1771" fmla="*/ 802672 h 4684871"/>
                  <a:gd name="connsiteX1772" fmla="*/ 6474524 w 7143371"/>
                  <a:gd name="connsiteY1772" fmla="*/ 807149 h 4684871"/>
                  <a:gd name="connsiteX1773" fmla="*/ 6476810 w 7143371"/>
                  <a:gd name="connsiteY1773" fmla="*/ 798385 h 4684871"/>
                  <a:gd name="connsiteX1774" fmla="*/ 6471476 w 7143371"/>
                  <a:gd name="connsiteY1774" fmla="*/ 784098 h 4684871"/>
                  <a:gd name="connsiteX1775" fmla="*/ 6471857 w 7143371"/>
                  <a:gd name="connsiteY1775" fmla="*/ 772097 h 4684871"/>
                  <a:gd name="connsiteX1776" fmla="*/ 6467666 w 7143371"/>
                  <a:gd name="connsiteY1776" fmla="*/ 759428 h 4684871"/>
                  <a:gd name="connsiteX1777" fmla="*/ 6461760 w 7143371"/>
                  <a:gd name="connsiteY1777" fmla="*/ 751237 h 4684871"/>
                  <a:gd name="connsiteX1778" fmla="*/ 6457950 w 7143371"/>
                  <a:gd name="connsiteY1778" fmla="*/ 746379 h 4684871"/>
                  <a:gd name="connsiteX1779" fmla="*/ 6466142 w 7143371"/>
                  <a:gd name="connsiteY1779" fmla="*/ 744188 h 4684871"/>
                  <a:gd name="connsiteX1780" fmla="*/ 6476714 w 7143371"/>
                  <a:gd name="connsiteY1780" fmla="*/ 740855 h 4684871"/>
                  <a:gd name="connsiteX1781" fmla="*/ 6479382 w 7143371"/>
                  <a:gd name="connsiteY1781" fmla="*/ 732187 h 4684871"/>
                  <a:gd name="connsiteX1782" fmla="*/ 6480905 w 7143371"/>
                  <a:gd name="connsiteY1782" fmla="*/ 719519 h 4684871"/>
                  <a:gd name="connsiteX1783" fmla="*/ 6481572 w 7143371"/>
                  <a:gd name="connsiteY1783" fmla="*/ 711422 h 4684871"/>
                  <a:gd name="connsiteX1784" fmla="*/ 6485382 w 7143371"/>
                  <a:gd name="connsiteY1784" fmla="*/ 710089 h 4684871"/>
                  <a:gd name="connsiteX1785" fmla="*/ 4575239 w 7143371"/>
                  <a:gd name="connsiteY1785" fmla="*/ 824103 h 4684871"/>
                  <a:gd name="connsiteX1786" fmla="*/ 4584573 w 7143371"/>
                  <a:gd name="connsiteY1786" fmla="*/ 841534 h 4684871"/>
                  <a:gd name="connsiteX1787" fmla="*/ 4592860 w 7143371"/>
                  <a:gd name="connsiteY1787" fmla="*/ 861822 h 4684871"/>
                  <a:gd name="connsiteX1788" fmla="*/ 4597622 w 7143371"/>
                  <a:gd name="connsiteY1788" fmla="*/ 893826 h 4684871"/>
                  <a:gd name="connsiteX1789" fmla="*/ 4624197 w 7143371"/>
                  <a:gd name="connsiteY1789" fmla="*/ 932783 h 4684871"/>
                  <a:gd name="connsiteX1790" fmla="*/ 4645819 w 7143371"/>
                  <a:gd name="connsiteY1790" fmla="*/ 947928 h 4684871"/>
                  <a:gd name="connsiteX1791" fmla="*/ 4666393 w 7143371"/>
                  <a:gd name="connsiteY1791" fmla="*/ 959072 h 4684871"/>
                  <a:gd name="connsiteX1792" fmla="*/ 4681252 w 7143371"/>
                  <a:gd name="connsiteY1792" fmla="*/ 970026 h 4684871"/>
                  <a:gd name="connsiteX1793" fmla="*/ 4693825 w 7143371"/>
                  <a:gd name="connsiteY1793" fmla="*/ 986028 h 4684871"/>
                  <a:gd name="connsiteX1794" fmla="*/ 4703731 w 7143371"/>
                  <a:gd name="connsiteY1794" fmla="*/ 993648 h 4684871"/>
                  <a:gd name="connsiteX1795" fmla="*/ 4721067 w 7143371"/>
                  <a:gd name="connsiteY1795" fmla="*/ 1007174 h 4684871"/>
                  <a:gd name="connsiteX1796" fmla="*/ 4743545 w 7143371"/>
                  <a:gd name="connsiteY1796" fmla="*/ 1007174 h 4684871"/>
                  <a:gd name="connsiteX1797" fmla="*/ 4763357 w 7143371"/>
                  <a:gd name="connsiteY1797" fmla="*/ 1011460 h 4684871"/>
                  <a:gd name="connsiteX1798" fmla="*/ 4778788 w 7143371"/>
                  <a:gd name="connsiteY1798" fmla="*/ 1035272 h 4684871"/>
                  <a:gd name="connsiteX1799" fmla="*/ 4791170 w 7143371"/>
                  <a:gd name="connsiteY1799" fmla="*/ 1038035 h 4684871"/>
                  <a:gd name="connsiteX1800" fmla="*/ 4795933 w 7143371"/>
                  <a:gd name="connsiteY1800" fmla="*/ 1073182 h 4684871"/>
                  <a:gd name="connsiteX1801" fmla="*/ 4787361 w 7143371"/>
                  <a:gd name="connsiteY1801" fmla="*/ 1073372 h 4684871"/>
                  <a:gd name="connsiteX1802" fmla="*/ 4747832 w 7143371"/>
                  <a:gd name="connsiteY1802" fmla="*/ 1086231 h 4684871"/>
                  <a:gd name="connsiteX1803" fmla="*/ 4694492 w 7143371"/>
                  <a:gd name="connsiteY1803" fmla="*/ 1116902 h 4684871"/>
                  <a:gd name="connsiteX1804" fmla="*/ 4693635 w 7143371"/>
                  <a:gd name="connsiteY1804" fmla="*/ 1117949 h 4684871"/>
                  <a:gd name="connsiteX1805" fmla="*/ 4677823 w 7143371"/>
                  <a:gd name="connsiteY1805" fmla="*/ 1101662 h 4684871"/>
                  <a:gd name="connsiteX1806" fmla="*/ 4726781 w 7143371"/>
                  <a:gd name="connsiteY1806" fmla="*/ 1071372 h 4684871"/>
                  <a:gd name="connsiteX1807" fmla="*/ 4733544 w 7143371"/>
                  <a:gd name="connsiteY1807" fmla="*/ 1057370 h 4684871"/>
                  <a:gd name="connsiteX1808" fmla="*/ 4716495 w 7143371"/>
                  <a:gd name="connsiteY1808" fmla="*/ 1047274 h 4684871"/>
                  <a:gd name="connsiteX1809" fmla="*/ 4715828 w 7143371"/>
                  <a:gd name="connsiteY1809" fmla="*/ 1012984 h 4684871"/>
                  <a:gd name="connsiteX1810" fmla="*/ 4659154 w 7143371"/>
                  <a:gd name="connsiteY1810" fmla="*/ 986123 h 4684871"/>
                  <a:gd name="connsiteX1811" fmla="*/ 4614005 w 7143371"/>
                  <a:gd name="connsiteY1811" fmla="*/ 940880 h 4684871"/>
                  <a:gd name="connsiteX1812" fmla="*/ 4604576 w 7143371"/>
                  <a:gd name="connsiteY1812" fmla="*/ 935831 h 4684871"/>
                  <a:gd name="connsiteX1813" fmla="*/ 4574191 w 7143371"/>
                  <a:gd name="connsiteY1813" fmla="*/ 870490 h 4684871"/>
                  <a:gd name="connsiteX1814" fmla="*/ 4566952 w 7143371"/>
                  <a:gd name="connsiteY1814" fmla="*/ 825341 h 4684871"/>
                  <a:gd name="connsiteX1815" fmla="*/ 4575239 w 7143371"/>
                  <a:gd name="connsiteY1815" fmla="*/ 824008 h 4684871"/>
                  <a:gd name="connsiteX1816" fmla="*/ 2888933 w 7143371"/>
                  <a:gd name="connsiteY1816" fmla="*/ 828389 h 4684871"/>
                  <a:gd name="connsiteX1817" fmla="*/ 2893981 w 7143371"/>
                  <a:gd name="connsiteY1817" fmla="*/ 830580 h 4684871"/>
                  <a:gd name="connsiteX1818" fmla="*/ 2901506 w 7143371"/>
                  <a:gd name="connsiteY1818" fmla="*/ 838962 h 4684871"/>
                  <a:gd name="connsiteX1819" fmla="*/ 2898648 w 7143371"/>
                  <a:gd name="connsiteY1819" fmla="*/ 856012 h 4684871"/>
                  <a:gd name="connsiteX1820" fmla="*/ 2906744 w 7143371"/>
                  <a:gd name="connsiteY1820" fmla="*/ 870014 h 4684871"/>
                  <a:gd name="connsiteX1821" fmla="*/ 2912364 w 7143371"/>
                  <a:gd name="connsiteY1821" fmla="*/ 871347 h 4684871"/>
                  <a:gd name="connsiteX1822" fmla="*/ 2915221 w 7143371"/>
                  <a:gd name="connsiteY1822" fmla="*/ 878015 h 4684871"/>
                  <a:gd name="connsiteX1823" fmla="*/ 2905506 w 7143371"/>
                  <a:gd name="connsiteY1823" fmla="*/ 884777 h 4684871"/>
                  <a:gd name="connsiteX1824" fmla="*/ 2904935 w 7143371"/>
                  <a:gd name="connsiteY1824" fmla="*/ 899351 h 4684871"/>
                  <a:gd name="connsiteX1825" fmla="*/ 2907887 w 7143371"/>
                  <a:gd name="connsiteY1825" fmla="*/ 910876 h 4684871"/>
                  <a:gd name="connsiteX1826" fmla="*/ 2915412 w 7143371"/>
                  <a:gd name="connsiteY1826" fmla="*/ 916400 h 4684871"/>
                  <a:gd name="connsiteX1827" fmla="*/ 2925699 w 7143371"/>
                  <a:gd name="connsiteY1827" fmla="*/ 912114 h 4684871"/>
                  <a:gd name="connsiteX1828" fmla="*/ 2928938 w 7143371"/>
                  <a:gd name="connsiteY1828" fmla="*/ 915162 h 4684871"/>
                  <a:gd name="connsiteX1829" fmla="*/ 2937034 w 7143371"/>
                  <a:gd name="connsiteY1829" fmla="*/ 925544 h 4684871"/>
                  <a:gd name="connsiteX1830" fmla="*/ 2943416 w 7143371"/>
                  <a:gd name="connsiteY1830" fmla="*/ 929735 h 4684871"/>
                  <a:gd name="connsiteX1831" fmla="*/ 2946368 w 7143371"/>
                  <a:gd name="connsiteY1831" fmla="*/ 941832 h 4684871"/>
                  <a:gd name="connsiteX1832" fmla="*/ 2950369 w 7143371"/>
                  <a:gd name="connsiteY1832" fmla="*/ 954119 h 4684871"/>
                  <a:gd name="connsiteX1833" fmla="*/ 2955988 w 7143371"/>
                  <a:gd name="connsiteY1833" fmla="*/ 962025 h 4684871"/>
                  <a:gd name="connsiteX1834" fmla="*/ 2958846 w 7143371"/>
                  <a:gd name="connsiteY1834" fmla="*/ 968121 h 4684871"/>
                  <a:gd name="connsiteX1835" fmla="*/ 2958465 w 7143371"/>
                  <a:gd name="connsiteY1835" fmla="*/ 972026 h 4684871"/>
                  <a:gd name="connsiteX1836" fmla="*/ 2962656 w 7143371"/>
                  <a:gd name="connsiteY1836" fmla="*/ 990314 h 4684871"/>
                  <a:gd name="connsiteX1837" fmla="*/ 2967704 w 7143371"/>
                  <a:gd name="connsiteY1837" fmla="*/ 993934 h 4684871"/>
                  <a:gd name="connsiteX1838" fmla="*/ 2980658 w 7143371"/>
                  <a:gd name="connsiteY1838" fmla="*/ 1003173 h 4684871"/>
                  <a:gd name="connsiteX1839" fmla="*/ 2959894 w 7143371"/>
                  <a:gd name="connsiteY1839" fmla="*/ 1044131 h 4684871"/>
                  <a:gd name="connsiteX1840" fmla="*/ 2952274 w 7143371"/>
                  <a:gd name="connsiteY1840" fmla="*/ 1056989 h 4684871"/>
                  <a:gd name="connsiteX1841" fmla="*/ 2936748 w 7143371"/>
                  <a:gd name="connsiteY1841" fmla="*/ 1068800 h 4684871"/>
                  <a:gd name="connsiteX1842" fmla="*/ 2934176 w 7143371"/>
                  <a:gd name="connsiteY1842" fmla="*/ 1079659 h 4684871"/>
                  <a:gd name="connsiteX1843" fmla="*/ 2922175 w 7143371"/>
                  <a:gd name="connsiteY1843" fmla="*/ 1088898 h 4684871"/>
                  <a:gd name="connsiteX1844" fmla="*/ 2911888 w 7143371"/>
                  <a:gd name="connsiteY1844" fmla="*/ 1104329 h 4684871"/>
                  <a:gd name="connsiteX1845" fmla="*/ 2903315 w 7143371"/>
                  <a:gd name="connsiteY1845" fmla="*/ 1115473 h 4684871"/>
                  <a:gd name="connsiteX1846" fmla="*/ 2902649 w 7143371"/>
                  <a:gd name="connsiteY1846" fmla="*/ 1120997 h 4684871"/>
                  <a:gd name="connsiteX1847" fmla="*/ 2887790 w 7143371"/>
                  <a:gd name="connsiteY1847" fmla="*/ 1123760 h 4684871"/>
                  <a:gd name="connsiteX1848" fmla="*/ 2876645 w 7143371"/>
                  <a:gd name="connsiteY1848" fmla="*/ 1133666 h 4684871"/>
                  <a:gd name="connsiteX1849" fmla="*/ 2872454 w 7143371"/>
                  <a:gd name="connsiteY1849" fmla="*/ 1141857 h 4684871"/>
                  <a:gd name="connsiteX1850" fmla="*/ 2870740 w 7143371"/>
                  <a:gd name="connsiteY1850" fmla="*/ 1146334 h 4684871"/>
                  <a:gd name="connsiteX1851" fmla="*/ 2848261 w 7143371"/>
                  <a:gd name="connsiteY1851" fmla="*/ 1148334 h 4684871"/>
                  <a:gd name="connsiteX1852" fmla="*/ 2841498 w 7143371"/>
                  <a:gd name="connsiteY1852" fmla="*/ 1147286 h 4684871"/>
                  <a:gd name="connsiteX1853" fmla="*/ 2835402 w 7143371"/>
                  <a:gd name="connsiteY1853" fmla="*/ 1139095 h 4684871"/>
                  <a:gd name="connsiteX1854" fmla="*/ 2826925 w 7143371"/>
                  <a:gd name="connsiteY1854" fmla="*/ 1131761 h 4684871"/>
                  <a:gd name="connsiteX1855" fmla="*/ 2813971 w 7143371"/>
                  <a:gd name="connsiteY1855" fmla="*/ 1139952 h 4684871"/>
                  <a:gd name="connsiteX1856" fmla="*/ 2804541 w 7143371"/>
                  <a:gd name="connsiteY1856" fmla="*/ 1148334 h 4684871"/>
                  <a:gd name="connsiteX1857" fmla="*/ 2792540 w 7143371"/>
                  <a:gd name="connsiteY1857" fmla="*/ 1160907 h 4684871"/>
                  <a:gd name="connsiteX1858" fmla="*/ 2779681 w 7143371"/>
                  <a:gd name="connsiteY1858" fmla="*/ 1195673 h 4684871"/>
                  <a:gd name="connsiteX1859" fmla="*/ 2773585 w 7143371"/>
                  <a:gd name="connsiteY1859" fmla="*/ 1213009 h 4684871"/>
                  <a:gd name="connsiteX1860" fmla="*/ 2773585 w 7143371"/>
                  <a:gd name="connsiteY1860" fmla="*/ 1226725 h 4684871"/>
                  <a:gd name="connsiteX1861" fmla="*/ 2781395 w 7143371"/>
                  <a:gd name="connsiteY1861" fmla="*/ 1244156 h 4684871"/>
                  <a:gd name="connsiteX1862" fmla="*/ 2785777 w 7143371"/>
                  <a:gd name="connsiteY1862" fmla="*/ 1256729 h 4684871"/>
                  <a:gd name="connsiteX1863" fmla="*/ 2789968 w 7143371"/>
                  <a:gd name="connsiteY1863" fmla="*/ 1261491 h 4684871"/>
                  <a:gd name="connsiteX1864" fmla="*/ 2782919 w 7143371"/>
                  <a:gd name="connsiteY1864" fmla="*/ 1268730 h 4684871"/>
                  <a:gd name="connsiteX1865" fmla="*/ 2782253 w 7143371"/>
                  <a:gd name="connsiteY1865" fmla="*/ 1279684 h 4684871"/>
                  <a:gd name="connsiteX1866" fmla="*/ 2781395 w 7143371"/>
                  <a:gd name="connsiteY1866" fmla="*/ 1282446 h 4684871"/>
                  <a:gd name="connsiteX1867" fmla="*/ 2772632 w 7143371"/>
                  <a:gd name="connsiteY1867" fmla="*/ 1277874 h 4684871"/>
                  <a:gd name="connsiteX1868" fmla="*/ 2773585 w 7143371"/>
                  <a:gd name="connsiteY1868" fmla="*/ 1261586 h 4684871"/>
                  <a:gd name="connsiteX1869" fmla="*/ 2769394 w 7143371"/>
                  <a:gd name="connsiteY1869" fmla="*/ 1242251 h 4684871"/>
                  <a:gd name="connsiteX1870" fmla="*/ 2764155 w 7143371"/>
                  <a:gd name="connsiteY1870" fmla="*/ 1230440 h 4684871"/>
                  <a:gd name="connsiteX1871" fmla="*/ 2759774 w 7143371"/>
                  <a:gd name="connsiteY1871" fmla="*/ 1225963 h 4684871"/>
                  <a:gd name="connsiteX1872" fmla="*/ 2747772 w 7143371"/>
                  <a:gd name="connsiteY1872" fmla="*/ 1222343 h 4684871"/>
                  <a:gd name="connsiteX1873" fmla="*/ 2754725 w 7143371"/>
                  <a:gd name="connsiteY1873" fmla="*/ 1210342 h 4684871"/>
                  <a:gd name="connsiteX1874" fmla="*/ 2763298 w 7143371"/>
                  <a:gd name="connsiteY1874" fmla="*/ 1199388 h 4684871"/>
                  <a:gd name="connsiteX1875" fmla="*/ 2769394 w 7143371"/>
                  <a:gd name="connsiteY1875" fmla="*/ 1181100 h 4684871"/>
                  <a:gd name="connsiteX1876" fmla="*/ 2770061 w 7143371"/>
                  <a:gd name="connsiteY1876" fmla="*/ 1155764 h 4684871"/>
                  <a:gd name="connsiteX1877" fmla="*/ 2771870 w 7143371"/>
                  <a:gd name="connsiteY1877" fmla="*/ 1139285 h 4684871"/>
                  <a:gd name="connsiteX1878" fmla="*/ 2779681 w 7143371"/>
                  <a:gd name="connsiteY1878" fmla="*/ 1129189 h 4684871"/>
                  <a:gd name="connsiteX1879" fmla="*/ 2772632 w 7143371"/>
                  <a:gd name="connsiteY1879" fmla="*/ 1112711 h 4684871"/>
                  <a:gd name="connsiteX1880" fmla="*/ 2758059 w 7143371"/>
                  <a:gd name="connsiteY1880" fmla="*/ 1119188 h 4684871"/>
                  <a:gd name="connsiteX1881" fmla="*/ 2753868 w 7143371"/>
                  <a:gd name="connsiteY1881" fmla="*/ 1126427 h 4684871"/>
                  <a:gd name="connsiteX1882" fmla="*/ 2745296 w 7143371"/>
                  <a:gd name="connsiteY1882" fmla="*/ 1133761 h 4684871"/>
                  <a:gd name="connsiteX1883" fmla="*/ 2727198 w 7143371"/>
                  <a:gd name="connsiteY1883" fmla="*/ 1129189 h 4684871"/>
                  <a:gd name="connsiteX1884" fmla="*/ 2715196 w 7143371"/>
                  <a:gd name="connsiteY1884" fmla="*/ 1131951 h 4684871"/>
                  <a:gd name="connsiteX1885" fmla="*/ 2704910 w 7143371"/>
                  <a:gd name="connsiteY1885" fmla="*/ 1142048 h 4684871"/>
                  <a:gd name="connsiteX1886" fmla="*/ 2704052 w 7143371"/>
                  <a:gd name="connsiteY1886" fmla="*/ 1153001 h 4684871"/>
                  <a:gd name="connsiteX1887" fmla="*/ 2701481 w 7143371"/>
                  <a:gd name="connsiteY1887" fmla="*/ 1160336 h 4684871"/>
                  <a:gd name="connsiteX1888" fmla="*/ 2694527 w 7143371"/>
                  <a:gd name="connsiteY1888" fmla="*/ 1153859 h 4684871"/>
                  <a:gd name="connsiteX1889" fmla="*/ 2678144 w 7143371"/>
                  <a:gd name="connsiteY1889" fmla="*/ 1148525 h 4684871"/>
                  <a:gd name="connsiteX1890" fmla="*/ 2661095 w 7143371"/>
                  <a:gd name="connsiteY1890" fmla="*/ 1160336 h 4684871"/>
                  <a:gd name="connsiteX1891" fmla="*/ 2654142 w 7143371"/>
                  <a:gd name="connsiteY1891" fmla="*/ 1169289 h 4684871"/>
                  <a:gd name="connsiteX1892" fmla="*/ 2652427 w 7143371"/>
                  <a:gd name="connsiteY1892" fmla="*/ 1180433 h 4684871"/>
                  <a:gd name="connsiteX1893" fmla="*/ 2658523 w 7143371"/>
                  <a:gd name="connsiteY1893" fmla="*/ 1192244 h 4684871"/>
                  <a:gd name="connsiteX1894" fmla="*/ 2654142 w 7143371"/>
                  <a:gd name="connsiteY1894" fmla="*/ 1208532 h 4684871"/>
                  <a:gd name="connsiteX1895" fmla="*/ 2650712 w 7143371"/>
                  <a:gd name="connsiteY1895" fmla="*/ 1225963 h 4684871"/>
                  <a:gd name="connsiteX1896" fmla="*/ 2655951 w 7143371"/>
                  <a:gd name="connsiteY1896" fmla="*/ 1238631 h 4684871"/>
                  <a:gd name="connsiteX1897" fmla="*/ 2650712 w 7143371"/>
                  <a:gd name="connsiteY1897" fmla="*/ 1253204 h 4684871"/>
                  <a:gd name="connsiteX1898" fmla="*/ 2649855 w 7143371"/>
                  <a:gd name="connsiteY1898" fmla="*/ 1268730 h 4684871"/>
                  <a:gd name="connsiteX1899" fmla="*/ 2656618 w 7143371"/>
                  <a:gd name="connsiteY1899" fmla="*/ 1284161 h 4684871"/>
                  <a:gd name="connsiteX1900" fmla="*/ 2665190 w 7143371"/>
                  <a:gd name="connsiteY1900" fmla="*/ 1289685 h 4684871"/>
                  <a:gd name="connsiteX1901" fmla="*/ 2655856 w 7143371"/>
                  <a:gd name="connsiteY1901" fmla="*/ 1304258 h 4684871"/>
                  <a:gd name="connsiteX1902" fmla="*/ 2645569 w 7143371"/>
                  <a:gd name="connsiteY1902" fmla="*/ 1286923 h 4684871"/>
                  <a:gd name="connsiteX1903" fmla="*/ 2640235 w 7143371"/>
                  <a:gd name="connsiteY1903" fmla="*/ 1264253 h 4684871"/>
                  <a:gd name="connsiteX1904" fmla="*/ 2640235 w 7143371"/>
                  <a:gd name="connsiteY1904" fmla="*/ 1237679 h 4684871"/>
                  <a:gd name="connsiteX1905" fmla="*/ 2636806 w 7143371"/>
                  <a:gd name="connsiteY1905" fmla="*/ 1216819 h 4684871"/>
                  <a:gd name="connsiteX1906" fmla="*/ 2625662 w 7143371"/>
                  <a:gd name="connsiteY1906" fmla="*/ 1203960 h 4684871"/>
                  <a:gd name="connsiteX1907" fmla="*/ 2611088 w 7143371"/>
                  <a:gd name="connsiteY1907" fmla="*/ 1205675 h 4684871"/>
                  <a:gd name="connsiteX1908" fmla="*/ 2602516 w 7143371"/>
                  <a:gd name="connsiteY1908" fmla="*/ 1223010 h 4684871"/>
                  <a:gd name="connsiteX1909" fmla="*/ 2594705 w 7143371"/>
                  <a:gd name="connsiteY1909" fmla="*/ 1246918 h 4684871"/>
                  <a:gd name="connsiteX1910" fmla="*/ 2591181 w 7143371"/>
                  <a:gd name="connsiteY1910" fmla="*/ 1261491 h 4684871"/>
                  <a:gd name="connsiteX1911" fmla="*/ 2590514 w 7143371"/>
                  <a:gd name="connsiteY1911" fmla="*/ 1271397 h 4684871"/>
                  <a:gd name="connsiteX1912" fmla="*/ 2580894 w 7143371"/>
                  <a:gd name="connsiteY1912" fmla="*/ 1281303 h 4684871"/>
                  <a:gd name="connsiteX1913" fmla="*/ 2580227 w 7143371"/>
                  <a:gd name="connsiteY1913" fmla="*/ 1293305 h 4684871"/>
                  <a:gd name="connsiteX1914" fmla="*/ 2580894 w 7143371"/>
                  <a:gd name="connsiteY1914" fmla="*/ 1303401 h 4684871"/>
                  <a:gd name="connsiteX1915" fmla="*/ 2580894 w 7143371"/>
                  <a:gd name="connsiteY1915" fmla="*/ 1308735 h 4684871"/>
                  <a:gd name="connsiteX1916" fmla="*/ 2568893 w 7143371"/>
                  <a:gd name="connsiteY1916" fmla="*/ 1306830 h 4684871"/>
                  <a:gd name="connsiteX1917" fmla="*/ 2568893 w 7143371"/>
                  <a:gd name="connsiteY1917" fmla="*/ 1287780 h 4684871"/>
                  <a:gd name="connsiteX1918" fmla="*/ 2572417 w 7143371"/>
                  <a:gd name="connsiteY1918" fmla="*/ 1273207 h 4684871"/>
                  <a:gd name="connsiteX1919" fmla="*/ 2569845 w 7143371"/>
                  <a:gd name="connsiteY1919" fmla="*/ 1261396 h 4684871"/>
                  <a:gd name="connsiteX1920" fmla="*/ 2576608 w 7143371"/>
                  <a:gd name="connsiteY1920" fmla="*/ 1243108 h 4684871"/>
                  <a:gd name="connsiteX1921" fmla="*/ 2580132 w 7143371"/>
                  <a:gd name="connsiteY1921" fmla="*/ 1225772 h 4684871"/>
                  <a:gd name="connsiteX1922" fmla="*/ 2567940 w 7143371"/>
                  <a:gd name="connsiteY1922" fmla="*/ 1212914 h 4684871"/>
                  <a:gd name="connsiteX1923" fmla="*/ 2547366 w 7143371"/>
                  <a:gd name="connsiteY1923" fmla="*/ 1206532 h 4684871"/>
                  <a:gd name="connsiteX1924" fmla="*/ 2539556 w 7143371"/>
                  <a:gd name="connsiteY1924" fmla="*/ 1211009 h 4684871"/>
                  <a:gd name="connsiteX1925" fmla="*/ 2529269 w 7143371"/>
                  <a:gd name="connsiteY1925" fmla="*/ 1212056 h 4684871"/>
                  <a:gd name="connsiteX1926" fmla="*/ 2521458 w 7143371"/>
                  <a:gd name="connsiteY1926" fmla="*/ 1205579 h 4684871"/>
                  <a:gd name="connsiteX1927" fmla="*/ 2514695 w 7143371"/>
                  <a:gd name="connsiteY1927" fmla="*/ 1210151 h 4684871"/>
                  <a:gd name="connsiteX1928" fmla="*/ 2506123 w 7143371"/>
                  <a:gd name="connsiteY1928" fmla="*/ 1205579 h 4684871"/>
                  <a:gd name="connsiteX1929" fmla="*/ 2512886 w 7143371"/>
                  <a:gd name="connsiteY1929" fmla="*/ 1198340 h 4684871"/>
                  <a:gd name="connsiteX1930" fmla="*/ 2522506 w 7143371"/>
                  <a:gd name="connsiteY1930" fmla="*/ 1199198 h 4684871"/>
                  <a:gd name="connsiteX1931" fmla="*/ 2536317 w 7143371"/>
                  <a:gd name="connsiteY1931" fmla="*/ 1198340 h 4684871"/>
                  <a:gd name="connsiteX1932" fmla="*/ 2539556 w 7143371"/>
                  <a:gd name="connsiteY1932" fmla="*/ 1192816 h 4684871"/>
                  <a:gd name="connsiteX1933" fmla="*/ 2563749 w 7143371"/>
                  <a:gd name="connsiteY1933" fmla="*/ 1197388 h 4684871"/>
                  <a:gd name="connsiteX1934" fmla="*/ 2583371 w 7143371"/>
                  <a:gd name="connsiteY1934" fmla="*/ 1184529 h 4684871"/>
                  <a:gd name="connsiteX1935" fmla="*/ 2601468 w 7143371"/>
                  <a:gd name="connsiteY1935" fmla="*/ 1174623 h 4684871"/>
                  <a:gd name="connsiteX1936" fmla="*/ 2613660 w 7143371"/>
                  <a:gd name="connsiteY1936" fmla="*/ 1163479 h 4684871"/>
                  <a:gd name="connsiteX1937" fmla="*/ 2610136 w 7143371"/>
                  <a:gd name="connsiteY1937" fmla="*/ 1147191 h 4684871"/>
                  <a:gd name="connsiteX1938" fmla="*/ 2595563 w 7143371"/>
                  <a:gd name="connsiteY1938" fmla="*/ 1145286 h 4684871"/>
                  <a:gd name="connsiteX1939" fmla="*/ 2586133 w 7143371"/>
                  <a:gd name="connsiteY1939" fmla="*/ 1148906 h 4684871"/>
                  <a:gd name="connsiteX1940" fmla="*/ 2568035 w 7143371"/>
                  <a:gd name="connsiteY1940" fmla="*/ 1145286 h 4684871"/>
                  <a:gd name="connsiteX1941" fmla="*/ 2556986 w 7143371"/>
                  <a:gd name="connsiteY1941" fmla="*/ 1146143 h 4684871"/>
                  <a:gd name="connsiteX1942" fmla="*/ 2549176 w 7143371"/>
                  <a:gd name="connsiteY1942" fmla="*/ 1150906 h 4684871"/>
                  <a:gd name="connsiteX1943" fmla="*/ 2530221 w 7143371"/>
                  <a:gd name="connsiteY1943" fmla="*/ 1155383 h 4684871"/>
                  <a:gd name="connsiteX1944" fmla="*/ 2519934 w 7143371"/>
                  <a:gd name="connsiteY1944" fmla="*/ 1157097 h 4684871"/>
                  <a:gd name="connsiteX1945" fmla="*/ 2512124 w 7143371"/>
                  <a:gd name="connsiteY1945" fmla="*/ 1158145 h 4684871"/>
                  <a:gd name="connsiteX1946" fmla="*/ 2499932 w 7143371"/>
                  <a:gd name="connsiteY1946" fmla="*/ 1160050 h 4684871"/>
                  <a:gd name="connsiteX1947" fmla="*/ 2495741 w 7143371"/>
                  <a:gd name="connsiteY1947" fmla="*/ 1151001 h 4684871"/>
                  <a:gd name="connsiteX1948" fmla="*/ 2512124 w 7143371"/>
                  <a:gd name="connsiteY1948" fmla="*/ 1146239 h 4684871"/>
                  <a:gd name="connsiteX1949" fmla="*/ 2525935 w 7143371"/>
                  <a:gd name="connsiteY1949" fmla="*/ 1139857 h 4684871"/>
                  <a:gd name="connsiteX1950" fmla="*/ 2537841 w 7143371"/>
                  <a:gd name="connsiteY1950" fmla="*/ 1133475 h 4684871"/>
                  <a:gd name="connsiteX1951" fmla="*/ 2547271 w 7143371"/>
                  <a:gd name="connsiteY1951" fmla="*/ 1131570 h 4684871"/>
                  <a:gd name="connsiteX1952" fmla="*/ 2556891 w 7143371"/>
                  <a:gd name="connsiteY1952" fmla="*/ 1127951 h 4684871"/>
                  <a:gd name="connsiteX1953" fmla="*/ 2556891 w 7143371"/>
                  <a:gd name="connsiteY1953" fmla="*/ 1125188 h 4684871"/>
                  <a:gd name="connsiteX1954" fmla="*/ 2566226 w 7143371"/>
                  <a:gd name="connsiteY1954" fmla="*/ 1127951 h 4684871"/>
                  <a:gd name="connsiteX1955" fmla="*/ 2581751 w 7143371"/>
                  <a:gd name="connsiteY1955" fmla="*/ 1127951 h 4684871"/>
                  <a:gd name="connsiteX1956" fmla="*/ 2592896 w 7143371"/>
                  <a:gd name="connsiteY1956" fmla="*/ 1126046 h 4684871"/>
                  <a:gd name="connsiteX1957" fmla="*/ 2609183 w 7143371"/>
                  <a:gd name="connsiteY1957" fmla="*/ 1127093 h 4684871"/>
                  <a:gd name="connsiteX1958" fmla="*/ 2626424 w 7143371"/>
                  <a:gd name="connsiteY1958" fmla="*/ 1124236 h 4684871"/>
                  <a:gd name="connsiteX1959" fmla="*/ 2630615 w 7143371"/>
                  <a:gd name="connsiteY1959" fmla="*/ 1114330 h 4684871"/>
                  <a:gd name="connsiteX1960" fmla="*/ 2625567 w 7143371"/>
                  <a:gd name="connsiteY1960" fmla="*/ 1105281 h 4684871"/>
                  <a:gd name="connsiteX1961" fmla="*/ 2629757 w 7143371"/>
                  <a:gd name="connsiteY1961" fmla="*/ 1100709 h 4684871"/>
                  <a:gd name="connsiteX1962" fmla="*/ 2637663 w 7143371"/>
                  <a:gd name="connsiteY1962" fmla="*/ 1106329 h 4684871"/>
                  <a:gd name="connsiteX1963" fmla="*/ 2643569 w 7143371"/>
                  <a:gd name="connsiteY1963" fmla="*/ 1110806 h 4684871"/>
                  <a:gd name="connsiteX1964" fmla="*/ 2655761 w 7143371"/>
                  <a:gd name="connsiteY1964" fmla="*/ 1102614 h 4684871"/>
                  <a:gd name="connsiteX1965" fmla="*/ 2646140 w 7143371"/>
                  <a:gd name="connsiteY1965" fmla="*/ 1093565 h 4684871"/>
                  <a:gd name="connsiteX1966" fmla="*/ 2640044 w 7143371"/>
                  <a:gd name="connsiteY1966" fmla="*/ 1086898 h 4684871"/>
                  <a:gd name="connsiteX1967" fmla="*/ 2630900 w 7143371"/>
                  <a:gd name="connsiteY1967" fmla="*/ 1078992 h 4684871"/>
                  <a:gd name="connsiteX1968" fmla="*/ 2623566 w 7143371"/>
                  <a:gd name="connsiteY1968" fmla="*/ 1071658 h 4684871"/>
                  <a:gd name="connsiteX1969" fmla="*/ 2611374 w 7143371"/>
                  <a:gd name="connsiteY1969" fmla="*/ 1067372 h 4684871"/>
                  <a:gd name="connsiteX1970" fmla="*/ 2599468 w 7143371"/>
                  <a:gd name="connsiteY1970" fmla="*/ 1066800 h 4684871"/>
                  <a:gd name="connsiteX1971" fmla="*/ 2594229 w 7143371"/>
                  <a:gd name="connsiteY1971" fmla="*/ 1062038 h 4684871"/>
                  <a:gd name="connsiteX1972" fmla="*/ 2598706 w 7143371"/>
                  <a:gd name="connsiteY1972" fmla="*/ 1055846 h 4684871"/>
                  <a:gd name="connsiteX1973" fmla="*/ 2608421 w 7143371"/>
                  <a:gd name="connsiteY1973" fmla="*/ 1058323 h 4684871"/>
                  <a:gd name="connsiteX1974" fmla="*/ 2615946 w 7143371"/>
                  <a:gd name="connsiteY1974" fmla="*/ 1056608 h 4684871"/>
                  <a:gd name="connsiteX1975" fmla="*/ 2621185 w 7143371"/>
                  <a:gd name="connsiteY1975" fmla="*/ 1050989 h 4684871"/>
                  <a:gd name="connsiteX1976" fmla="*/ 2625185 w 7143371"/>
                  <a:gd name="connsiteY1976" fmla="*/ 1054703 h 4684871"/>
                  <a:gd name="connsiteX1977" fmla="*/ 2629662 w 7143371"/>
                  <a:gd name="connsiteY1977" fmla="*/ 1058894 h 4684871"/>
                  <a:gd name="connsiteX1978" fmla="*/ 2637187 w 7143371"/>
                  <a:gd name="connsiteY1978" fmla="*/ 1060037 h 4684871"/>
                  <a:gd name="connsiteX1979" fmla="*/ 2642235 w 7143371"/>
                  <a:gd name="connsiteY1979" fmla="*/ 1057561 h 4684871"/>
                  <a:gd name="connsiteX1980" fmla="*/ 2648617 w 7143371"/>
                  <a:gd name="connsiteY1980" fmla="*/ 1063752 h 4684871"/>
                  <a:gd name="connsiteX1981" fmla="*/ 2653856 w 7143371"/>
                  <a:gd name="connsiteY1981" fmla="*/ 1069848 h 4684871"/>
                  <a:gd name="connsiteX1982" fmla="*/ 2660047 w 7143371"/>
                  <a:gd name="connsiteY1982" fmla="*/ 1073563 h 4684871"/>
                  <a:gd name="connsiteX1983" fmla="*/ 2665952 w 7143371"/>
                  <a:gd name="connsiteY1983" fmla="*/ 1074134 h 4684871"/>
                  <a:gd name="connsiteX1984" fmla="*/ 2672715 w 7143371"/>
                  <a:gd name="connsiteY1984" fmla="*/ 1080230 h 4684871"/>
                  <a:gd name="connsiteX1985" fmla="*/ 2677192 w 7143371"/>
                  <a:gd name="connsiteY1985" fmla="*/ 1091184 h 4684871"/>
                  <a:gd name="connsiteX1986" fmla="*/ 2683574 w 7143371"/>
                  <a:gd name="connsiteY1986" fmla="*/ 1100804 h 4684871"/>
                  <a:gd name="connsiteX1987" fmla="*/ 2691098 w 7143371"/>
                  <a:gd name="connsiteY1987" fmla="*/ 1102709 h 4684871"/>
                  <a:gd name="connsiteX1988" fmla="*/ 2698433 w 7143371"/>
                  <a:gd name="connsiteY1988" fmla="*/ 1100804 h 4684871"/>
                  <a:gd name="connsiteX1989" fmla="*/ 2696909 w 7143371"/>
                  <a:gd name="connsiteY1989" fmla="*/ 1090422 h 4684871"/>
                  <a:gd name="connsiteX1990" fmla="*/ 2689384 w 7143371"/>
                  <a:gd name="connsiteY1990" fmla="*/ 1084898 h 4684871"/>
                  <a:gd name="connsiteX1991" fmla="*/ 2688146 w 7143371"/>
                  <a:gd name="connsiteY1991" fmla="*/ 1078230 h 4684871"/>
                  <a:gd name="connsiteX1992" fmla="*/ 2695099 w 7143371"/>
                  <a:gd name="connsiteY1992" fmla="*/ 1075182 h 4684871"/>
                  <a:gd name="connsiteX1993" fmla="*/ 2706529 w 7143371"/>
                  <a:gd name="connsiteY1993" fmla="*/ 1077659 h 4684871"/>
                  <a:gd name="connsiteX1994" fmla="*/ 2714625 w 7143371"/>
                  <a:gd name="connsiteY1994" fmla="*/ 1083183 h 4684871"/>
                  <a:gd name="connsiteX1995" fmla="*/ 2730056 w 7143371"/>
                  <a:gd name="connsiteY1995" fmla="*/ 1080707 h 4684871"/>
                  <a:gd name="connsiteX1996" fmla="*/ 2733008 w 7143371"/>
                  <a:gd name="connsiteY1996" fmla="*/ 1069753 h 4684871"/>
                  <a:gd name="connsiteX1997" fmla="*/ 2733580 w 7143371"/>
                  <a:gd name="connsiteY1997" fmla="*/ 1055180 h 4684871"/>
                  <a:gd name="connsiteX1998" fmla="*/ 2727960 w 7143371"/>
                  <a:gd name="connsiteY1998" fmla="*/ 1042892 h 4684871"/>
                  <a:gd name="connsiteX1999" fmla="*/ 2723293 w 7143371"/>
                  <a:gd name="connsiteY1999" fmla="*/ 1031462 h 4684871"/>
                  <a:gd name="connsiteX2000" fmla="*/ 2711292 w 7143371"/>
                  <a:gd name="connsiteY2000" fmla="*/ 1023557 h 4684871"/>
                  <a:gd name="connsiteX2001" fmla="*/ 2705481 w 7143371"/>
                  <a:gd name="connsiteY2001" fmla="*/ 1019270 h 4684871"/>
                  <a:gd name="connsiteX2002" fmla="*/ 2715196 w 7143371"/>
                  <a:gd name="connsiteY2002" fmla="*/ 1018699 h 4684871"/>
                  <a:gd name="connsiteX2003" fmla="*/ 2726627 w 7143371"/>
                  <a:gd name="connsiteY2003" fmla="*/ 1024223 h 4684871"/>
                  <a:gd name="connsiteX2004" fmla="*/ 2740343 w 7143371"/>
                  <a:gd name="connsiteY2004" fmla="*/ 1032891 h 4684871"/>
                  <a:gd name="connsiteX2005" fmla="*/ 2746153 w 7143371"/>
                  <a:gd name="connsiteY2005" fmla="*/ 1042511 h 4684871"/>
                  <a:gd name="connsiteX2006" fmla="*/ 2751392 w 7143371"/>
                  <a:gd name="connsiteY2006" fmla="*/ 1052132 h 4684871"/>
                  <a:gd name="connsiteX2007" fmla="*/ 2754821 w 7143371"/>
                  <a:gd name="connsiteY2007" fmla="*/ 1062323 h 4684871"/>
                  <a:gd name="connsiteX2008" fmla="*/ 2764536 w 7143371"/>
                  <a:gd name="connsiteY2008" fmla="*/ 1064800 h 4684871"/>
                  <a:gd name="connsiteX2009" fmla="*/ 2769584 w 7143371"/>
                  <a:gd name="connsiteY2009" fmla="*/ 1058704 h 4684871"/>
                  <a:gd name="connsiteX2010" fmla="*/ 2774252 w 7143371"/>
                  <a:gd name="connsiteY2010" fmla="*/ 1053179 h 4684871"/>
                  <a:gd name="connsiteX2011" fmla="*/ 2781776 w 7143371"/>
                  <a:gd name="connsiteY2011" fmla="*/ 1053179 h 4684871"/>
                  <a:gd name="connsiteX2012" fmla="*/ 2788158 w 7143371"/>
                  <a:gd name="connsiteY2012" fmla="*/ 1058704 h 4684871"/>
                  <a:gd name="connsiteX2013" fmla="*/ 2796064 w 7143371"/>
                  <a:gd name="connsiteY2013" fmla="*/ 1056989 h 4684871"/>
                  <a:gd name="connsiteX2014" fmla="*/ 2799017 w 7143371"/>
                  <a:gd name="connsiteY2014" fmla="*/ 1046607 h 4684871"/>
                  <a:gd name="connsiteX2015" fmla="*/ 2800160 w 7143371"/>
                  <a:gd name="connsiteY2015" fmla="*/ 1036225 h 4684871"/>
                  <a:gd name="connsiteX2016" fmla="*/ 2809780 w 7143371"/>
                  <a:gd name="connsiteY2016" fmla="*/ 1028319 h 4684871"/>
                  <a:gd name="connsiteX2017" fmla="*/ 2816828 w 7143371"/>
                  <a:gd name="connsiteY2017" fmla="*/ 1020413 h 4684871"/>
                  <a:gd name="connsiteX2018" fmla="*/ 2816162 w 7143371"/>
                  <a:gd name="connsiteY2018" fmla="*/ 1015079 h 4684871"/>
                  <a:gd name="connsiteX2019" fmla="*/ 2803493 w 7143371"/>
                  <a:gd name="connsiteY2019" fmla="*/ 1010793 h 4684871"/>
                  <a:gd name="connsiteX2020" fmla="*/ 2795016 w 7143371"/>
                  <a:gd name="connsiteY2020" fmla="*/ 1017556 h 4684871"/>
                  <a:gd name="connsiteX2021" fmla="*/ 2787110 w 7143371"/>
                  <a:gd name="connsiteY2021" fmla="*/ 1022414 h 4684871"/>
                  <a:gd name="connsiteX2022" fmla="*/ 2777776 w 7143371"/>
                  <a:gd name="connsiteY2022" fmla="*/ 1025271 h 4684871"/>
                  <a:gd name="connsiteX2023" fmla="*/ 2771585 w 7143371"/>
                  <a:gd name="connsiteY2023" fmla="*/ 1015079 h 4684871"/>
                  <a:gd name="connsiteX2024" fmla="*/ 2781300 w 7143371"/>
                  <a:gd name="connsiteY2024" fmla="*/ 1007174 h 4684871"/>
                  <a:gd name="connsiteX2025" fmla="*/ 2789206 w 7143371"/>
                  <a:gd name="connsiteY2025" fmla="*/ 998125 h 4684871"/>
                  <a:gd name="connsiteX2026" fmla="*/ 2781871 w 7143371"/>
                  <a:gd name="connsiteY2026" fmla="*/ 982218 h 4684871"/>
                  <a:gd name="connsiteX2027" fmla="*/ 2768156 w 7143371"/>
                  <a:gd name="connsiteY2027" fmla="*/ 980504 h 4684871"/>
                  <a:gd name="connsiteX2028" fmla="*/ 2750344 w 7143371"/>
                  <a:gd name="connsiteY2028" fmla="*/ 975646 h 4684871"/>
                  <a:gd name="connsiteX2029" fmla="*/ 2741581 w 7143371"/>
                  <a:gd name="connsiteY2029" fmla="*/ 981742 h 4684871"/>
                  <a:gd name="connsiteX2030" fmla="*/ 2739485 w 7143371"/>
                  <a:gd name="connsiteY2030" fmla="*/ 990981 h 4684871"/>
                  <a:gd name="connsiteX2031" fmla="*/ 2738342 w 7143371"/>
                  <a:gd name="connsiteY2031" fmla="*/ 997649 h 4684871"/>
                  <a:gd name="connsiteX2032" fmla="*/ 2730151 w 7143371"/>
                  <a:gd name="connsiteY2032" fmla="*/ 988981 h 4684871"/>
                  <a:gd name="connsiteX2033" fmla="*/ 2723388 w 7143371"/>
                  <a:gd name="connsiteY2033" fmla="*/ 986123 h 4684871"/>
                  <a:gd name="connsiteX2034" fmla="*/ 2715292 w 7143371"/>
                  <a:gd name="connsiteY2034" fmla="*/ 987266 h 4684871"/>
                  <a:gd name="connsiteX2035" fmla="*/ 2716435 w 7143371"/>
                  <a:gd name="connsiteY2035" fmla="*/ 977456 h 4684871"/>
                  <a:gd name="connsiteX2036" fmla="*/ 2721674 w 7143371"/>
                  <a:gd name="connsiteY2036" fmla="*/ 972693 h 4684871"/>
                  <a:gd name="connsiteX2037" fmla="*/ 2733104 w 7143371"/>
                  <a:gd name="connsiteY2037" fmla="*/ 969074 h 4684871"/>
                  <a:gd name="connsiteX2038" fmla="*/ 2739485 w 7143371"/>
                  <a:gd name="connsiteY2038" fmla="*/ 962311 h 4684871"/>
                  <a:gd name="connsiteX2039" fmla="*/ 2733104 w 7143371"/>
                  <a:gd name="connsiteY2039" fmla="*/ 955643 h 4684871"/>
                  <a:gd name="connsiteX2040" fmla="*/ 2719388 w 7143371"/>
                  <a:gd name="connsiteY2040" fmla="*/ 955643 h 4684871"/>
                  <a:gd name="connsiteX2041" fmla="*/ 2709482 w 7143371"/>
                  <a:gd name="connsiteY2041" fmla="*/ 954881 h 4684871"/>
                  <a:gd name="connsiteX2042" fmla="*/ 2696337 w 7143371"/>
                  <a:gd name="connsiteY2042" fmla="*/ 953167 h 4684871"/>
                  <a:gd name="connsiteX2043" fmla="*/ 2686050 w 7143371"/>
                  <a:gd name="connsiteY2043" fmla="*/ 962216 h 4684871"/>
                  <a:gd name="connsiteX2044" fmla="*/ 2682526 w 7143371"/>
                  <a:gd name="connsiteY2044" fmla="*/ 968312 h 4684871"/>
                  <a:gd name="connsiteX2045" fmla="*/ 2682526 w 7143371"/>
                  <a:gd name="connsiteY2045" fmla="*/ 974979 h 4684871"/>
                  <a:gd name="connsiteX2046" fmla="*/ 2675192 w 7143371"/>
                  <a:gd name="connsiteY2046" fmla="*/ 978122 h 4684871"/>
                  <a:gd name="connsiteX2047" fmla="*/ 2670143 w 7143371"/>
                  <a:gd name="connsiteY2047" fmla="*/ 971360 h 4684871"/>
                  <a:gd name="connsiteX2048" fmla="*/ 2663190 w 7143371"/>
                  <a:gd name="connsiteY2048" fmla="*/ 971360 h 4684871"/>
                  <a:gd name="connsiteX2049" fmla="*/ 2657380 w 7143371"/>
                  <a:gd name="connsiteY2049" fmla="*/ 976884 h 4684871"/>
                  <a:gd name="connsiteX2050" fmla="*/ 2651570 w 7143371"/>
                  <a:gd name="connsiteY2050" fmla="*/ 983647 h 4684871"/>
                  <a:gd name="connsiteX2051" fmla="*/ 2651188 w 7143371"/>
                  <a:gd name="connsiteY2051" fmla="*/ 992029 h 4684871"/>
                  <a:gd name="connsiteX2052" fmla="*/ 2651570 w 7143371"/>
                  <a:gd name="connsiteY2052" fmla="*/ 997649 h 4684871"/>
                  <a:gd name="connsiteX2053" fmla="*/ 2645474 w 7143371"/>
                  <a:gd name="connsiteY2053" fmla="*/ 1001078 h 4684871"/>
                  <a:gd name="connsiteX2054" fmla="*/ 2644235 w 7143371"/>
                  <a:gd name="connsiteY2054" fmla="*/ 990981 h 4684871"/>
                  <a:gd name="connsiteX2055" fmla="*/ 2640806 w 7143371"/>
                  <a:gd name="connsiteY2055" fmla="*/ 980599 h 4684871"/>
                  <a:gd name="connsiteX2056" fmla="*/ 2631662 w 7143371"/>
                  <a:gd name="connsiteY2056" fmla="*/ 972693 h 4684871"/>
                  <a:gd name="connsiteX2057" fmla="*/ 2623566 w 7143371"/>
                  <a:gd name="connsiteY2057" fmla="*/ 968407 h 4684871"/>
                  <a:gd name="connsiteX2058" fmla="*/ 2620137 w 7143371"/>
                  <a:gd name="connsiteY2058" fmla="*/ 962311 h 4684871"/>
                  <a:gd name="connsiteX2059" fmla="*/ 2630900 w 7143371"/>
                  <a:gd name="connsiteY2059" fmla="*/ 956215 h 4684871"/>
                  <a:gd name="connsiteX2060" fmla="*/ 2649379 w 7143371"/>
                  <a:gd name="connsiteY2060" fmla="*/ 956786 h 4684871"/>
                  <a:gd name="connsiteX2061" fmla="*/ 2658999 w 7143371"/>
                  <a:gd name="connsiteY2061" fmla="*/ 956786 h 4684871"/>
                  <a:gd name="connsiteX2062" fmla="*/ 2671191 w 7143371"/>
                  <a:gd name="connsiteY2062" fmla="*/ 945261 h 4684871"/>
                  <a:gd name="connsiteX2063" fmla="*/ 2670048 w 7143371"/>
                  <a:gd name="connsiteY2063" fmla="*/ 937927 h 4684871"/>
                  <a:gd name="connsiteX2064" fmla="*/ 2667667 w 7143371"/>
                  <a:gd name="connsiteY2064" fmla="*/ 925830 h 4684871"/>
                  <a:gd name="connsiteX2065" fmla="*/ 2674049 w 7143371"/>
                  <a:gd name="connsiteY2065" fmla="*/ 920306 h 4684871"/>
                  <a:gd name="connsiteX2066" fmla="*/ 2678049 w 7143371"/>
                  <a:gd name="connsiteY2066" fmla="*/ 914781 h 4684871"/>
                  <a:gd name="connsiteX2067" fmla="*/ 2681573 w 7143371"/>
                  <a:gd name="connsiteY2067" fmla="*/ 906971 h 4684871"/>
                  <a:gd name="connsiteX2068" fmla="*/ 2696432 w 7143371"/>
                  <a:gd name="connsiteY2068" fmla="*/ 909257 h 4684871"/>
                  <a:gd name="connsiteX2069" fmla="*/ 2702243 w 7143371"/>
                  <a:gd name="connsiteY2069" fmla="*/ 916019 h 4684871"/>
                  <a:gd name="connsiteX2070" fmla="*/ 2712530 w 7143371"/>
                  <a:gd name="connsiteY2070" fmla="*/ 921925 h 4684871"/>
                  <a:gd name="connsiteX2071" fmla="*/ 2717006 w 7143371"/>
                  <a:gd name="connsiteY2071" fmla="*/ 915257 h 4684871"/>
                  <a:gd name="connsiteX2072" fmla="*/ 2716435 w 7143371"/>
                  <a:gd name="connsiteY2072" fmla="*/ 905637 h 4684871"/>
                  <a:gd name="connsiteX2073" fmla="*/ 2713577 w 7143371"/>
                  <a:gd name="connsiteY2073" fmla="*/ 895255 h 4684871"/>
                  <a:gd name="connsiteX2074" fmla="*/ 2717006 w 7143371"/>
                  <a:gd name="connsiteY2074" fmla="*/ 888587 h 4684871"/>
                  <a:gd name="connsiteX2075" fmla="*/ 2724531 w 7143371"/>
                  <a:gd name="connsiteY2075" fmla="*/ 893350 h 4684871"/>
                  <a:gd name="connsiteX2076" fmla="*/ 2729198 w 7143371"/>
                  <a:gd name="connsiteY2076" fmla="*/ 903732 h 4684871"/>
                  <a:gd name="connsiteX2077" fmla="*/ 2742343 w 7143371"/>
                  <a:gd name="connsiteY2077" fmla="*/ 903732 h 4684871"/>
                  <a:gd name="connsiteX2078" fmla="*/ 2746343 w 7143371"/>
                  <a:gd name="connsiteY2078" fmla="*/ 894112 h 4684871"/>
                  <a:gd name="connsiteX2079" fmla="*/ 2746343 w 7143371"/>
                  <a:gd name="connsiteY2079" fmla="*/ 885063 h 4684871"/>
                  <a:gd name="connsiteX2080" fmla="*/ 2744629 w 7143371"/>
                  <a:gd name="connsiteY2080" fmla="*/ 877157 h 4684871"/>
                  <a:gd name="connsiteX2081" fmla="*/ 2751011 w 7143371"/>
                  <a:gd name="connsiteY2081" fmla="*/ 875824 h 4684871"/>
                  <a:gd name="connsiteX2082" fmla="*/ 2756250 w 7143371"/>
                  <a:gd name="connsiteY2082" fmla="*/ 880682 h 4684871"/>
                  <a:gd name="connsiteX2083" fmla="*/ 2760726 w 7143371"/>
                  <a:gd name="connsiteY2083" fmla="*/ 875824 h 4684871"/>
                  <a:gd name="connsiteX2084" fmla="*/ 2766917 w 7143371"/>
                  <a:gd name="connsiteY2084" fmla="*/ 880682 h 4684871"/>
                  <a:gd name="connsiteX2085" fmla="*/ 2760726 w 7143371"/>
                  <a:gd name="connsiteY2085" fmla="*/ 891064 h 4684871"/>
                  <a:gd name="connsiteX2086" fmla="*/ 2761298 w 7143371"/>
                  <a:gd name="connsiteY2086" fmla="*/ 900017 h 4684871"/>
                  <a:gd name="connsiteX2087" fmla="*/ 2761869 w 7143371"/>
                  <a:gd name="connsiteY2087" fmla="*/ 904875 h 4684871"/>
                  <a:gd name="connsiteX2088" fmla="*/ 2771585 w 7143371"/>
                  <a:gd name="connsiteY2088" fmla="*/ 909161 h 4684871"/>
                  <a:gd name="connsiteX2089" fmla="*/ 2776823 w 7143371"/>
                  <a:gd name="connsiteY2089" fmla="*/ 910304 h 4684871"/>
                  <a:gd name="connsiteX2090" fmla="*/ 2771585 w 7143371"/>
                  <a:gd name="connsiteY2090" fmla="*/ 916972 h 4684871"/>
                  <a:gd name="connsiteX2091" fmla="*/ 2768632 w 7143371"/>
                  <a:gd name="connsiteY2091" fmla="*/ 926878 h 4684871"/>
                  <a:gd name="connsiteX2092" fmla="*/ 2774442 w 7143371"/>
                  <a:gd name="connsiteY2092" fmla="*/ 943166 h 4684871"/>
                  <a:gd name="connsiteX2093" fmla="*/ 2787110 w 7143371"/>
                  <a:gd name="connsiteY2093" fmla="*/ 953548 h 4684871"/>
                  <a:gd name="connsiteX2094" fmla="*/ 2796159 w 7143371"/>
                  <a:gd name="connsiteY2094" fmla="*/ 956596 h 4684871"/>
                  <a:gd name="connsiteX2095" fmla="*/ 2812256 w 7143371"/>
                  <a:gd name="connsiteY2095" fmla="*/ 953548 h 4684871"/>
                  <a:gd name="connsiteX2096" fmla="*/ 2818067 w 7143371"/>
                  <a:gd name="connsiteY2096" fmla="*/ 941832 h 4684871"/>
                  <a:gd name="connsiteX2097" fmla="*/ 2827211 w 7143371"/>
                  <a:gd name="connsiteY2097" fmla="*/ 935927 h 4684871"/>
                  <a:gd name="connsiteX2098" fmla="*/ 2833973 w 7143371"/>
                  <a:gd name="connsiteY2098" fmla="*/ 929259 h 4684871"/>
                  <a:gd name="connsiteX2099" fmla="*/ 2838641 w 7143371"/>
                  <a:gd name="connsiteY2099" fmla="*/ 923068 h 4684871"/>
                  <a:gd name="connsiteX2100" fmla="*/ 2843689 w 7143371"/>
                  <a:gd name="connsiteY2100" fmla="*/ 924211 h 4684871"/>
                  <a:gd name="connsiteX2101" fmla="*/ 2843689 w 7143371"/>
                  <a:gd name="connsiteY2101" fmla="*/ 935927 h 4684871"/>
                  <a:gd name="connsiteX2102" fmla="*/ 2839021 w 7143371"/>
                  <a:gd name="connsiteY2102" fmla="*/ 945547 h 4684871"/>
                  <a:gd name="connsiteX2103" fmla="*/ 2839593 w 7143371"/>
                  <a:gd name="connsiteY2103" fmla="*/ 946976 h 4684871"/>
                  <a:gd name="connsiteX2104" fmla="*/ 2837879 w 7143371"/>
                  <a:gd name="connsiteY2104" fmla="*/ 951548 h 4684871"/>
                  <a:gd name="connsiteX2105" fmla="*/ 2833878 w 7143371"/>
                  <a:gd name="connsiteY2105" fmla="*/ 961930 h 4684871"/>
                  <a:gd name="connsiteX2106" fmla="*/ 2833878 w 7143371"/>
                  <a:gd name="connsiteY2106" fmla="*/ 969835 h 4684871"/>
                  <a:gd name="connsiteX2107" fmla="*/ 2841784 w 7143371"/>
                  <a:gd name="connsiteY2107" fmla="*/ 974598 h 4684871"/>
                  <a:gd name="connsiteX2108" fmla="*/ 2852833 w 7143371"/>
                  <a:gd name="connsiteY2108" fmla="*/ 969074 h 4684871"/>
                  <a:gd name="connsiteX2109" fmla="*/ 2856833 w 7143371"/>
                  <a:gd name="connsiteY2109" fmla="*/ 961835 h 4684871"/>
                  <a:gd name="connsiteX2110" fmla="*/ 2863215 w 7143371"/>
                  <a:gd name="connsiteY2110" fmla="*/ 953929 h 4684871"/>
                  <a:gd name="connsiteX2111" fmla="*/ 2867216 w 7143371"/>
                  <a:gd name="connsiteY2111" fmla="*/ 961835 h 4684871"/>
                  <a:gd name="connsiteX2112" fmla="*/ 2871311 w 7143371"/>
                  <a:gd name="connsiteY2112" fmla="*/ 982599 h 4684871"/>
                  <a:gd name="connsiteX2113" fmla="*/ 2889123 w 7143371"/>
                  <a:gd name="connsiteY2113" fmla="*/ 981837 h 4684871"/>
                  <a:gd name="connsiteX2114" fmla="*/ 2898172 w 7143371"/>
                  <a:gd name="connsiteY2114" fmla="*/ 970883 h 4684871"/>
                  <a:gd name="connsiteX2115" fmla="*/ 2899886 w 7143371"/>
                  <a:gd name="connsiteY2115" fmla="*/ 955167 h 4684871"/>
                  <a:gd name="connsiteX2116" fmla="*/ 2894267 w 7143371"/>
                  <a:gd name="connsiteY2116" fmla="*/ 939927 h 4684871"/>
                  <a:gd name="connsiteX2117" fmla="*/ 2881694 w 7143371"/>
                  <a:gd name="connsiteY2117" fmla="*/ 929545 h 4684871"/>
                  <a:gd name="connsiteX2118" fmla="*/ 2869692 w 7143371"/>
                  <a:gd name="connsiteY2118" fmla="*/ 923639 h 4684871"/>
                  <a:gd name="connsiteX2119" fmla="*/ 2874169 w 7143371"/>
                  <a:gd name="connsiteY2119" fmla="*/ 916686 h 4684871"/>
                  <a:gd name="connsiteX2120" fmla="*/ 2878836 w 7143371"/>
                  <a:gd name="connsiteY2120" fmla="*/ 906590 h 4684871"/>
                  <a:gd name="connsiteX2121" fmla="*/ 2875979 w 7143371"/>
                  <a:gd name="connsiteY2121" fmla="*/ 895445 h 4684871"/>
                  <a:gd name="connsiteX2122" fmla="*/ 2870740 w 7143371"/>
                  <a:gd name="connsiteY2122" fmla="*/ 887063 h 4684871"/>
                  <a:gd name="connsiteX2123" fmla="*/ 2880360 w 7143371"/>
                  <a:gd name="connsiteY2123" fmla="*/ 879729 h 4684871"/>
                  <a:gd name="connsiteX2124" fmla="*/ 2883218 w 7143371"/>
                  <a:gd name="connsiteY2124" fmla="*/ 869918 h 4684871"/>
                  <a:gd name="connsiteX2125" fmla="*/ 2889123 w 7143371"/>
                  <a:gd name="connsiteY2125" fmla="*/ 861441 h 4684871"/>
                  <a:gd name="connsiteX2126" fmla="*/ 2889504 w 7143371"/>
                  <a:gd name="connsiteY2126" fmla="*/ 850487 h 4684871"/>
                  <a:gd name="connsiteX2127" fmla="*/ 2883122 w 7143371"/>
                  <a:gd name="connsiteY2127" fmla="*/ 842105 h 4684871"/>
                  <a:gd name="connsiteX2128" fmla="*/ 2875883 w 7143371"/>
                  <a:gd name="connsiteY2128" fmla="*/ 835343 h 4684871"/>
                  <a:gd name="connsiteX2129" fmla="*/ 2881503 w 7143371"/>
                  <a:gd name="connsiteY2129" fmla="*/ 830580 h 4684871"/>
                  <a:gd name="connsiteX2130" fmla="*/ 2887409 w 7143371"/>
                  <a:gd name="connsiteY2130" fmla="*/ 828580 h 4684871"/>
                  <a:gd name="connsiteX2131" fmla="*/ 2888933 w 7143371"/>
                  <a:gd name="connsiteY2131" fmla="*/ 828389 h 4684871"/>
                  <a:gd name="connsiteX2132" fmla="*/ 2888933 w 7143371"/>
                  <a:gd name="connsiteY2132" fmla="*/ 828389 h 4684871"/>
                  <a:gd name="connsiteX2133" fmla="*/ 1083088 w 7143371"/>
                  <a:gd name="connsiteY2133" fmla="*/ 903351 h 4684871"/>
                  <a:gd name="connsiteX2134" fmla="*/ 1085374 w 7143371"/>
                  <a:gd name="connsiteY2134" fmla="*/ 903827 h 4684871"/>
                  <a:gd name="connsiteX2135" fmla="*/ 1099947 w 7143371"/>
                  <a:gd name="connsiteY2135" fmla="*/ 926783 h 4684871"/>
                  <a:gd name="connsiteX2136" fmla="*/ 1111949 w 7143371"/>
                  <a:gd name="connsiteY2136" fmla="*/ 952691 h 4684871"/>
                  <a:gd name="connsiteX2137" fmla="*/ 1125093 w 7143371"/>
                  <a:gd name="connsiteY2137" fmla="*/ 954596 h 4684871"/>
                  <a:gd name="connsiteX2138" fmla="*/ 1137476 w 7143371"/>
                  <a:gd name="connsiteY2138" fmla="*/ 947833 h 4684871"/>
                  <a:gd name="connsiteX2139" fmla="*/ 1149763 w 7143371"/>
                  <a:gd name="connsiteY2139" fmla="*/ 968597 h 4684871"/>
                  <a:gd name="connsiteX2140" fmla="*/ 1129570 w 7143371"/>
                  <a:gd name="connsiteY2140" fmla="*/ 984599 h 4684871"/>
                  <a:gd name="connsiteX2141" fmla="*/ 1116425 w 7143371"/>
                  <a:gd name="connsiteY2141" fmla="*/ 981837 h 4684871"/>
                  <a:gd name="connsiteX2142" fmla="*/ 1107948 w 7143371"/>
                  <a:gd name="connsiteY2142" fmla="*/ 992791 h 4684871"/>
                  <a:gd name="connsiteX2143" fmla="*/ 1105091 w 7143371"/>
                  <a:gd name="connsiteY2143" fmla="*/ 998410 h 4684871"/>
                  <a:gd name="connsiteX2144" fmla="*/ 1095661 w 7143371"/>
                  <a:gd name="connsiteY2144" fmla="*/ 999839 h 4684871"/>
                  <a:gd name="connsiteX2145" fmla="*/ 1094518 w 7143371"/>
                  <a:gd name="connsiteY2145" fmla="*/ 1012984 h 4684871"/>
                  <a:gd name="connsiteX2146" fmla="*/ 1074896 w 7143371"/>
                  <a:gd name="connsiteY2146" fmla="*/ 1022795 h 4684871"/>
                  <a:gd name="connsiteX2147" fmla="*/ 1063847 w 7143371"/>
                  <a:gd name="connsiteY2147" fmla="*/ 1017175 h 4684871"/>
                  <a:gd name="connsiteX2148" fmla="*/ 1060323 w 7143371"/>
                  <a:gd name="connsiteY2148" fmla="*/ 1023366 h 4684871"/>
                  <a:gd name="connsiteX2149" fmla="*/ 1050893 w 7143371"/>
                  <a:gd name="connsiteY2149" fmla="*/ 1019366 h 4684871"/>
                  <a:gd name="connsiteX2150" fmla="*/ 1048322 w 7143371"/>
                  <a:gd name="connsiteY2150" fmla="*/ 1042130 h 4684871"/>
                  <a:gd name="connsiteX2151" fmla="*/ 1059942 w 7143371"/>
                  <a:gd name="connsiteY2151" fmla="*/ 1048322 h 4684871"/>
                  <a:gd name="connsiteX2152" fmla="*/ 1070134 w 7143371"/>
                  <a:gd name="connsiteY2152" fmla="*/ 1041273 h 4684871"/>
                  <a:gd name="connsiteX2153" fmla="*/ 1077659 w 7143371"/>
                  <a:gd name="connsiteY2153" fmla="*/ 1052703 h 4684871"/>
                  <a:gd name="connsiteX2154" fmla="*/ 1085850 w 7143371"/>
                  <a:gd name="connsiteY2154" fmla="*/ 1062038 h 4684871"/>
                  <a:gd name="connsiteX2155" fmla="*/ 1089374 w 7143371"/>
                  <a:gd name="connsiteY2155" fmla="*/ 1076420 h 4684871"/>
                  <a:gd name="connsiteX2156" fmla="*/ 1091660 w 7143371"/>
                  <a:gd name="connsiteY2156" fmla="*/ 1089565 h 4684871"/>
                  <a:gd name="connsiteX2157" fmla="*/ 1079087 w 7143371"/>
                  <a:gd name="connsiteY2157" fmla="*/ 1092422 h 4684871"/>
                  <a:gd name="connsiteX2158" fmla="*/ 1076230 w 7143371"/>
                  <a:gd name="connsiteY2158" fmla="*/ 1104233 h 4684871"/>
                  <a:gd name="connsiteX2159" fmla="*/ 1083564 w 7143371"/>
                  <a:gd name="connsiteY2159" fmla="*/ 1127760 h 4684871"/>
                  <a:gd name="connsiteX2160" fmla="*/ 1061847 w 7143371"/>
                  <a:gd name="connsiteY2160" fmla="*/ 1117283 h 4684871"/>
                  <a:gd name="connsiteX2161" fmla="*/ 1044797 w 7143371"/>
                  <a:gd name="connsiteY2161" fmla="*/ 1127379 h 4684871"/>
                  <a:gd name="connsiteX2162" fmla="*/ 1061180 w 7143371"/>
                  <a:gd name="connsiteY2162" fmla="*/ 1141762 h 4684871"/>
                  <a:gd name="connsiteX2163" fmla="*/ 1054418 w 7143371"/>
                  <a:gd name="connsiteY2163" fmla="*/ 1154430 h 4684871"/>
                  <a:gd name="connsiteX2164" fmla="*/ 1064324 w 7143371"/>
                  <a:gd name="connsiteY2164" fmla="*/ 1171194 h 4684871"/>
                  <a:gd name="connsiteX2165" fmla="*/ 1073372 w 7143371"/>
                  <a:gd name="connsiteY2165" fmla="*/ 1178243 h 4684871"/>
                  <a:gd name="connsiteX2166" fmla="*/ 1083374 w 7143371"/>
                  <a:gd name="connsiteY2166" fmla="*/ 1198817 h 4684871"/>
                  <a:gd name="connsiteX2167" fmla="*/ 1073087 w 7143371"/>
                  <a:gd name="connsiteY2167" fmla="*/ 1204627 h 4684871"/>
                  <a:gd name="connsiteX2168" fmla="*/ 1063085 w 7143371"/>
                  <a:gd name="connsiteY2168" fmla="*/ 1198721 h 4684871"/>
                  <a:gd name="connsiteX2169" fmla="*/ 1044321 w 7143371"/>
                  <a:gd name="connsiteY2169" fmla="*/ 1195388 h 4684871"/>
                  <a:gd name="connsiteX2170" fmla="*/ 1024414 w 7143371"/>
                  <a:gd name="connsiteY2170" fmla="*/ 1199960 h 4684871"/>
                  <a:gd name="connsiteX2171" fmla="*/ 1036320 w 7143371"/>
                  <a:gd name="connsiteY2171" fmla="*/ 1176338 h 4684871"/>
                  <a:gd name="connsiteX2172" fmla="*/ 1024033 w 7143371"/>
                  <a:gd name="connsiteY2172" fmla="*/ 1158431 h 4684871"/>
                  <a:gd name="connsiteX2173" fmla="*/ 1018223 w 7143371"/>
                  <a:gd name="connsiteY2173" fmla="*/ 1148048 h 4684871"/>
                  <a:gd name="connsiteX2174" fmla="*/ 1013460 w 7143371"/>
                  <a:gd name="connsiteY2174" fmla="*/ 1136333 h 4684871"/>
                  <a:gd name="connsiteX2175" fmla="*/ 1003745 w 7143371"/>
                  <a:gd name="connsiteY2175" fmla="*/ 1138904 h 4684871"/>
                  <a:gd name="connsiteX2176" fmla="*/ 1002030 w 7143371"/>
                  <a:gd name="connsiteY2176" fmla="*/ 1164527 h 4684871"/>
                  <a:gd name="connsiteX2177" fmla="*/ 992315 w 7143371"/>
                  <a:gd name="connsiteY2177" fmla="*/ 1170432 h 4684871"/>
                  <a:gd name="connsiteX2178" fmla="*/ 981742 w 7143371"/>
                  <a:gd name="connsiteY2178" fmla="*/ 1175290 h 4684871"/>
                  <a:gd name="connsiteX2179" fmla="*/ 973836 w 7143371"/>
                  <a:gd name="connsiteY2179" fmla="*/ 1183767 h 4684871"/>
                  <a:gd name="connsiteX2180" fmla="*/ 978218 w 7143371"/>
                  <a:gd name="connsiteY2180" fmla="*/ 1192816 h 4684871"/>
                  <a:gd name="connsiteX2181" fmla="*/ 967454 w 7143371"/>
                  <a:gd name="connsiteY2181" fmla="*/ 1198626 h 4684871"/>
                  <a:gd name="connsiteX2182" fmla="*/ 962406 w 7143371"/>
                  <a:gd name="connsiteY2182" fmla="*/ 1187672 h 4684871"/>
                  <a:gd name="connsiteX2183" fmla="*/ 959549 w 7143371"/>
                  <a:gd name="connsiteY2183" fmla="*/ 1169670 h 4684871"/>
                  <a:gd name="connsiteX2184" fmla="*/ 969835 w 7143371"/>
                  <a:gd name="connsiteY2184" fmla="*/ 1162431 h 4684871"/>
                  <a:gd name="connsiteX2185" fmla="*/ 977170 w 7143371"/>
                  <a:gd name="connsiteY2185" fmla="*/ 1154335 h 4684871"/>
                  <a:gd name="connsiteX2186" fmla="*/ 980980 w 7143371"/>
                  <a:gd name="connsiteY2186" fmla="*/ 1134618 h 4684871"/>
                  <a:gd name="connsiteX2187" fmla="*/ 974884 w 7143371"/>
                  <a:gd name="connsiteY2187" fmla="*/ 1116330 h 4684871"/>
                  <a:gd name="connsiteX2188" fmla="*/ 983933 w 7143371"/>
                  <a:gd name="connsiteY2188" fmla="*/ 1117378 h 4684871"/>
                  <a:gd name="connsiteX2189" fmla="*/ 992410 w 7143371"/>
                  <a:gd name="connsiteY2189" fmla="*/ 1119664 h 4684871"/>
                  <a:gd name="connsiteX2190" fmla="*/ 987933 w 7143371"/>
                  <a:gd name="connsiteY2190" fmla="*/ 1105091 h 4684871"/>
                  <a:gd name="connsiteX2191" fmla="*/ 987362 w 7143371"/>
                  <a:gd name="connsiteY2191" fmla="*/ 1096613 h 4684871"/>
                  <a:gd name="connsiteX2192" fmla="*/ 991553 w 7143371"/>
                  <a:gd name="connsiteY2192" fmla="*/ 1090708 h 4684871"/>
                  <a:gd name="connsiteX2193" fmla="*/ 990600 w 7143371"/>
                  <a:gd name="connsiteY2193" fmla="*/ 1081469 h 4684871"/>
                  <a:gd name="connsiteX2194" fmla="*/ 976884 w 7143371"/>
                  <a:gd name="connsiteY2194" fmla="*/ 1078992 h 4684871"/>
                  <a:gd name="connsiteX2195" fmla="*/ 968121 w 7143371"/>
                  <a:gd name="connsiteY2195" fmla="*/ 1086326 h 4684871"/>
                  <a:gd name="connsiteX2196" fmla="*/ 964597 w 7143371"/>
                  <a:gd name="connsiteY2196" fmla="*/ 1098137 h 4684871"/>
                  <a:gd name="connsiteX2197" fmla="*/ 954024 w 7143371"/>
                  <a:gd name="connsiteY2197" fmla="*/ 1082231 h 4684871"/>
                  <a:gd name="connsiteX2198" fmla="*/ 968407 w 7143371"/>
                  <a:gd name="connsiteY2198" fmla="*/ 1063943 h 4684871"/>
                  <a:gd name="connsiteX2199" fmla="*/ 964692 w 7143371"/>
                  <a:gd name="connsiteY2199" fmla="*/ 1051370 h 4684871"/>
                  <a:gd name="connsiteX2200" fmla="*/ 953834 w 7143371"/>
                  <a:gd name="connsiteY2200" fmla="*/ 1055275 h 4684871"/>
                  <a:gd name="connsiteX2201" fmla="*/ 956215 w 7143371"/>
                  <a:gd name="connsiteY2201" fmla="*/ 1042892 h 4684871"/>
                  <a:gd name="connsiteX2202" fmla="*/ 954405 w 7143371"/>
                  <a:gd name="connsiteY2202" fmla="*/ 1030224 h 4684871"/>
                  <a:gd name="connsiteX2203" fmla="*/ 942975 w 7143371"/>
                  <a:gd name="connsiteY2203" fmla="*/ 1023271 h 4684871"/>
                  <a:gd name="connsiteX2204" fmla="*/ 940880 w 7143371"/>
                  <a:gd name="connsiteY2204" fmla="*/ 1010888 h 4684871"/>
                  <a:gd name="connsiteX2205" fmla="*/ 927926 w 7143371"/>
                  <a:gd name="connsiteY2205" fmla="*/ 995458 h 4684871"/>
                  <a:gd name="connsiteX2206" fmla="*/ 938498 w 7143371"/>
                  <a:gd name="connsiteY2206" fmla="*/ 982599 h 4684871"/>
                  <a:gd name="connsiteX2207" fmla="*/ 960787 w 7143371"/>
                  <a:gd name="connsiteY2207" fmla="*/ 962406 h 4684871"/>
                  <a:gd name="connsiteX2208" fmla="*/ 969074 w 7143371"/>
                  <a:gd name="connsiteY2208" fmla="*/ 955453 h 4684871"/>
                  <a:gd name="connsiteX2209" fmla="*/ 975265 w 7143371"/>
                  <a:gd name="connsiteY2209" fmla="*/ 939927 h 4684871"/>
                  <a:gd name="connsiteX2210" fmla="*/ 980885 w 7143371"/>
                  <a:gd name="connsiteY2210" fmla="*/ 931450 h 4684871"/>
                  <a:gd name="connsiteX2211" fmla="*/ 988981 w 7143371"/>
                  <a:gd name="connsiteY2211" fmla="*/ 924401 h 4684871"/>
                  <a:gd name="connsiteX2212" fmla="*/ 1003078 w 7143371"/>
                  <a:gd name="connsiteY2212" fmla="*/ 918591 h 4684871"/>
                  <a:gd name="connsiteX2213" fmla="*/ 1020032 w 7143371"/>
                  <a:gd name="connsiteY2213" fmla="*/ 936498 h 4684871"/>
                  <a:gd name="connsiteX2214" fmla="*/ 1030034 w 7143371"/>
                  <a:gd name="connsiteY2214" fmla="*/ 945833 h 4684871"/>
                  <a:gd name="connsiteX2215" fmla="*/ 1043559 w 7143371"/>
                  <a:gd name="connsiteY2215" fmla="*/ 952310 h 4684871"/>
                  <a:gd name="connsiteX2216" fmla="*/ 1053275 w 7143371"/>
                  <a:gd name="connsiteY2216" fmla="*/ 960120 h 4684871"/>
                  <a:gd name="connsiteX2217" fmla="*/ 1082612 w 7143371"/>
                  <a:gd name="connsiteY2217" fmla="*/ 950881 h 4684871"/>
                  <a:gd name="connsiteX2218" fmla="*/ 1082231 w 7143371"/>
                  <a:gd name="connsiteY2218" fmla="*/ 923068 h 4684871"/>
                  <a:gd name="connsiteX2219" fmla="*/ 1083183 w 7143371"/>
                  <a:gd name="connsiteY2219" fmla="*/ 903160 h 4684871"/>
                  <a:gd name="connsiteX2220" fmla="*/ 1083183 w 7143371"/>
                  <a:gd name="connsiteY2220" fmla="*/ 903160 h 4684871"/>
                  <a:gd name="connsiteX2221" fmla="*/ 5025486 w 7143371"/>
                  <a:gd name="connsiteY2221" fmla="*/ 943832 h 4684871"/>
                  <a:gd name="connsiteX2222" fmla="*/ 5024057 w 7143371"/>
                  <a:gd name="connsiteY2222" fmla="*/ 944404 h 4684871"/>
                  <a:gd name="connsiteX2223" fmla="*/ 5023961 w 7143371"/>
                  <a:gd name="connsiteY2223" fmla="*/ 952310 h 4684871"/>
                  <a:gd name="connsiteX2224" fmla="*/ 5032153 w 7143371"/>
                  <a:gd name="connsiteY2224" fmla="*/ 962406 h 4684871"/>
                  <a:gd name="connsiteX2225" fmla="*/ 5043202 w 7143371"/>
                  <a:gd name="connsiteY2225" fmla="*/ 972026 h 4684871"/>
                  <a:gd name="connsiteX2226" fmla="*/ 5051299 w 7143371"/>
                  <a:gd name="connsiteY2226" fmla="*/ 984314 h 4684871"/>
                  <a:gd name="connsiteX2227" fmla="*/ 5063014 w 7143371"/>
                  <a:gd name="connsiteY2227" fmla="*/ 997458 h 4684871"/>
                  <a:gd name="connsiteX2228" fmla="*/ 5084921 w 7143371"/>
                  <a:gd name="connsiteY2228" fmla="*/ 1022223 h 4684871"/>
                  <a:gd name="connsiteX2229" fmla="*/ 5107115 w 7143371"/>
                  <a:gd name="connsiteY2229" fmla="*/ 1040702 h 4684871"/>
                  <a:gd name="connsiteX2230" fmla="*/ 5127689 w 7143371"/>
                  <a:gd name="connsiteY2230" fmla="*/ 1060418 h 4684871"/>
                  <a:gd name="connsiteX2231" fmla="*/ 5138547 w 7143371"/>
                  <a:gd name="connsiteY2231" fmla="*/ 1071372 h 4684871"/>
                  <a:gd name="connsiteX2232" fmla="*/ 5150740 w 7143371"/>
                  <a:gd name="connsiteY2232" fmla="*/ 1065276 h 4684871"/>
                  <a:gd name="connsiteX2233" fmla="*/ 5151692 w 7143371"/>
                  <a:gd name="connsiteY2233" fmla="*/ 1052322 h 4684871"/>
                  <a:gd name="connsiteX2234" fmla="*/ 5148548 w 7143371"/>
                  <a:gd name="connsiteY2234" fmla="*/ 1032891 h 4684871"/>
                  <a:gd name="connsiteX2235" fmla="*/ 5139786 w 7143371"/>
                  <a:gd name="connsiteY2235" fmla="*/ 1015556 h 4684871"/>
                  <a:gd name="connsiteX2236" fmla="*/ 5118926 w 7143371"/>
                  <a:gd name="connsiteY2236" fmla="*/ 1007935 h 4684871"/>
                  <a:gd name="connsiteX2237" fmla="*/ 5086446 w 7143371"/>
                  <a:gd name="connsiteY2237" fmla="*/ 991362 h 4684871"/>
                  <a:gd name="connsiteX2238" fmla="*/ 5076159 w 7143371"/>
                  <a:gd name="connsiteY2238" fmla="*/ 976789 h 4684871"/>
                  <a:gd name="connsiteX2239" fmla="*/ 5065967 w 7143371"/>
                  <a:gd name="connsiteY2239" fmla="*/ 958025 h 4684871"/>
                  <a:gd name="connsiteX2240" fmla="*/ 5050727 w 7143371"/>
                  <a:gd name="connsiteY2240" fmla="*/ 949833 h 4684871"/>
                  <a:gd name="connsiteX2241" fmla="*/ 5034058 w 7143371"/>
                  <a:gd name="connsiteY2241" fmla="*/ 945261 h 4684871"/>
                  <a:gd name="connsiteX2242" fmla="*/ 5025581 w 7143371"/>
                  <a:gd name="connsiteY2242" fmla="*/ 943832 h 4684871"/>
                  <a:gd name="connsiteX2243" fmla="*/ 5654040 w 7143371"/>
                  <a:gd name="connsiteY2243" fmla="*/ 975741 h 4684871"/>
                  <a:gd name="connsiteX2244" fmla="*/ 5649658 w 7143371"/>
                  <a:gd name="connsiteY2244" fmla="*/ 976027 h 4684871"/>
                  <a:gd name="connsiteX2245" fmla="*/ 5649658 w 7143371"/>
                  <a:gd name="connsiteY2245" fmla="*/ 980599 h 4684871"/>
                  <a:gd name="connsiteX2246" fmla="*/ 5653373 w 7143371"/>
                  <a:gd name="connsiteY2246" fmla="*/ 987552 h 4684871"/>
                  <a:gd name="connsiteX2247" fmla="*/ 5653373 w 7143371"/>
                  <a:gd name="connsiteY2247" fmla="*/ 994029 h 4684871"/>
                  <a:gd name="connsiteX2248" fmla="*/ 5646040 w 7143371"/>
                  <a:gd name="connsiteY2248" fmla="*/ 1001078 h 4684871"/>
                  <a:gd name="connsiteX2249" fmla="*/ 5646420 w 7143371"/>
                  <a:gd name="connsiteY2249" fmla="*/ 1004126 h 4684871"/>
                  <a:gd name="connsiteX2250" fmla="*/ 5648135 w 7143371"/>
                  <a:gd name="connsiteY2250" fmla="*/ 1005554 h 4684871"/>
                  <a:gd name="connsiteX2251" fmla="*/ 5652516 w 7143371"/>
                  <a:gd name="connsiteY2251" fmla="*/ 1006126 h 4684871"/>
                  <a:gd name="connsiteX2252" fmla="*/ 5656231 w 7143371"/>
                  <a:gd name="connsiteY2252" fmla="*/ 1005364 h 4684871"/>
                  <a:gd name="connsiteX2253" fmla="*/ 5661184 w 7143371"/>
                  <a:gd name="connsiteY2253" fmla="*/ 1001458 h 4684871"/>
                  <a:gd name="connsiteX2254" fmla="*/ 5667852 w 7143371"/>
                  <a:gd name="connsiteY2254" fmla="*/ 1000982 h 4684871"/>
                  <a:gd name="connsiteX2255" fmla="*/ 5670137 w 7143371"/>
                  <a:gd name="connsiteY2255" fmla="*/ 999839 h 4684871"/>
                  <a:gd name="connsiteX2256" fmla="*/ 5671376 w 7143371"/>
                  <a:gd name="connsiteY2256" fmla="*/ 995839 h 4684871"/>
                  <a:gd name="connsiteX2257" fmla="*/ 5672328 w 7143371"/>
                  <a:gd name="connsiteY2257" fmla="*/ 996410 h 4684871"/>
                  <a:gd name="connsiteX2258" fmla="*/ 5675852 w 7143371"/>
                  <a:gd name="connsiteY2258" fmla="*/ 993362 h 4684871"/>
                  <a:gd name="connsiteX2259" fmla="*/ 5677377 w 7143371"/>
                  <a:gd name="connsiteY2259" fmla="*/ 989076 h 4684871"/>
                  <a:gd name="connsiteX2260" fmla="*/ 5659755 w 7143371"/>
                  <a:gd name="connsiteY2260" fmla="*/ 989648 h 4684871"/>
                  <a:gd name="connsiteX2261" fmla="*/ 5657755 w 7143371"/>
                  <a:gd name="connsiteY2261" fmla="*/ 987457 h 4684871"/>
                  <a:gd name="connsiteX2262" fmla="*/ 5654516 w 7143371"/>
                  <a:gd name="connsiteY2262" fmla="*/ 980789 h 4684871"/>
                  <a:gd name="connsiteX2263" fmla="*/ 5653945 w 7143371"/>
                  <a:gd name="connsiteY2263" fmla="*/ 978503 h 4684871"/>
                  <a:gd name="connsiteX2264" fmla="*/ 5653945 w 7143371"/>
                  <a:gd name="connsiteY2264" fmla="*/ 975646 h 4684871"/>
                  <a:gd name="connsiteX2265" fmla="*/ 883063 w 7143371"/>
                  <a:gd name="connsiteY2265" fmla="*/ 1006983 h 4684871"/>
                  <a:gd name="connsiteX2266" fmla="*/ 890016 w 7143371"/>
                  <a:gd name="connsiteY2266" fmla="*/ 1008698 h 4684871"/>
                  <a:gd name="connsiteX2267" fmla="*/ 898303 w 7143371"/>
                  <a:gd name="connsiteY2267" fmla="*/ 1009269 h 4684871"/>
                  <a:gd name="connsiteX2268" fmla="*/ 904113 w 7143371"/>
                  <a:gd name="connsiteY2268" fmla="*/ 1014889 h 4684871"/>
                  <a:gd name="connsiteX2269" fmla="*/ 904494 w 7143371"/>
                  <a:gd name="connsiteY2269" fmla="*/ 1023652 h 4684871"/>
                  <a:gd name="connsiteX2270" fmla="*/ 904494 w 7143371"/>
                  <a:gd name="connsiteY2270" fmla="*/ 1036320 h 4684871"/>
                  <a:gd name="connsiteX2271" fmla="*/ 910114 w 7143371"/>
                  <a:gd name="connsiteY2271" fmla="*/ 1043845 h 4684871"/>
                  <a:gd name="connsiteX2272" fmla="*/ 906875 w 7143371"/>
                  <a:gd name="connsiteY2272" fmla="*/ 1057656 h 4684871"/>
                  <a:gd name="connsiteX2273" fmla="*/ 896684 w 7143371"/>
                  <a:gd name="connsiteY2273" fmla="*/ 1061276 h 4684871"/>
                  <a:gd name="connsiteX2274" fmla="*/ 891445 w 7143371"/>
                  <a:gd name="connsiteY2274" fmla="*/ 1057275 h 4684871"/>
                  <a:gd name="connsiteX2275" fmla="*/ 882968 w 7143371"/>
                  <a:gd name="connsiteY2275" fmla="*/ 1054799 h 4684871"/>
                  <a:gd name="connsiteX2276" fmla="*/ 877919 w 7143371"/>
                  <a:gd name="connsiteY2276" fmla="*/ 1061276 h 4684871"/>
                  <a:gd name="connsiteX2277" fmla="*/ 870014 w 7143371"/>
                  <a:gd name="connsiteY2277" fmla="*/ 1057656 h 4684871"/>
                  <a:gd name="connsiteX2278" fmla="*/ 867156 w 7143371"/>
                  <a:gd name="connsiteY2278" fmla="*/ 1051274 h 4684871"/>
                  <a:gd name="connsiteX2279" fmla="*/ 870680 w 7143371"/>
                  <a:gd name="connsiteY2279" fmla="*/ 1035749 h 4684871"/>
                  <a:gd name="connsiteX2280" fmla="*/ 873347 w 7143371"/>
                  <a:gd name="connsiteY2280" fmla="*/ 1023652 h 4684871"/>
                  <a:gd name="connsiteX2281" fmla="*/ 875729 w 7143371"/>
                  <a:gd name="connsiteY2281" fmla="*/ 1013270 h 4684871"/>
                  <a:gd name="connsiteX2282" fmla="*/ 882968 w 7143371"/>
                  <a:gd name="connsiteY2282" fmla="*/ 1006888 h 4684871"/>
                  <a:gd name="connsiteX2283" fmla="*/ 882968 w 7143371"/>
                  <a:gd name="connsiteY2283" fmla="*/ 1006888 h 4684871"/>
                  <a:gd name="connsiteX2284" fmla="*/ 1113663 w 7143371"/>
                  <a:gd name="connsiteY2284" fmla="*/ 1025462 h 4684871"/>
                  <a:gd name="connsiteX2285" fmla="*/ 1120426 w 7143371"/>
                  <a:gd name="connsiteY2285" fmla="*/ 1036320 h 4684871"/>
                  <a:gd name="connsiteX2286" fmla="*/ 1125474 w 7143371"/>
                  <a:gd name="connsiteY2286" fmla="*/ 1050893 h 4684871"/>
                  <a:gd name="connsiteX2287" fmla="*/ 1135666 w 7143371"/>
                  <a:gd name="connsiteY2287" fmla="*/ 1043654 h 4684871"/>
                  <a:gd name="connsiteX2288" fmla="*/ 1139666 w 7143371"/>
                  <a:gd name="connsiteY2288" fmla="*/ 1037558 h 4684871"/>
                  <a:gd name="connsiteX2289" fmla="*/ 1146334 w 7143371"/>
                  <a:gd name="connsiteY2289" fmla="*/ 1041178 h 4684871"/>
                  <a:gd name="connsiteX2290" fmla="*/ 1154430 w 7143371"/>
                  <a:gd name="connsiteY2290" fmla="*/ 1042607 h 4684871"/>
                  <a:gd name="connsiteX2291" fmla="*/ 1149953 w 7143371"/>
                  <a:gd name="connsiteY2291" fmla="*/ 1051655 h 4684871"/>
                  <a:gd name="connsiteX2292" fmla="*/ 1153478 w 7143371"/>
                  <a:gd name="connsiteY2292" fmla="*/ 1063181 h 4684871"/>
                  <a:gd name="connsiteX2293" fmla="*/ 1147286 w 7143371"/>
                  <a:gd name="connsiteY2293" fmla="*/ 1074420 h 4684871"/>
                  <a:gd name="connsiteX2294" fmla="*/ 1136999 w 7143371"/>
                  <a:gd name="connsiteY2294" fmla="*/ 1071372 h 4684871"/>
                  <a:gd name="connsiteX2295" fmla="*/ 1126236 w 7143371"/>
                  <a:gd name="connsiteY2295" fmla="*/ 1077754 h 4684871"/>
                  <a:gd name="connsiteX2296" fmla="*/ 1120140 w 7143371"/>
                  <a:gd name="connsiteY2296" fmla="*/ 1095470 h 4684871"/>
                  <a:gd name="connsiteX2297" fmla="*/ 1111377 w 7143371"/>
                  <a:gd name="connsiteY2297" fmla="*/ 1100233 h 4684871"/>
                  <a:gd name="connsiteX2298" fmla="*/ 1100804 w 7143371"/>
                  <a:gd name="connsiteY2298" fmla="*/ 1090898 h 4684871"/>
                  <a:gd name="connsiteX2299" fmla="*/ 1091470 w 7143371"/>
                  <a:gd name="connsiteY2299" fmla="*/ 1071277 h 4684871"/>
                  <a:gd name="connsiteX2300" fmla="*/ 1089660 w 7143371"/>
                  <a:gd name="connsiteY2300" fmla="*/ 1049655 h 4684871"/>
                  <a:gd name="connsiteX2301" fmla="*/ 1103662 w 7143371"/>
                  <a:gd name="connsiteY2301" fmla="*/ 1034510 h 4684871"/>
                  <a:gd name="connsiteX2302" fmla="*/ 1105186 w 7143371"/>
                  <a:gd name="connsiteY2302" fmla="*/ 1034320 h 4684871"/>
                  <a:gd name="connsiteX2303" fmla="*/ 1111568 w 7143371"/>
                  <a:gd name="connsiteY2303" fmla="*/ 1028510 h 4684871"/>
                  <a:gd name="connsiteX2304" fmla="*/ 1109853 w 7143371"/>
                  <a:gd name="connsiteY2304" fmla="*/ 1028510 h 4684871"/>
                  <a:gd name="connsiteX2305" fmla="*/ 1113854 w 7143371"/>
                  <a:gd name="connsiteY2305" fmla="*/ 1025366 h 4684871"/>
                  <a:gd name="connsiteX2306" fmla="*/ 821722 w 7143371"/>
                  <a:gd name="connsiteY2306" fmla="*/ 1077373 h 4684871"/>
                  <a:gd name="connsiteX2307" fmla="*/ 819722 w 7143371"/>
                  <a:gd name="connsiteY2307" fmla="*/ 1079659 h 4684871"/>
                  <a:gd name="connsiteX2308" fmla="*/ 812768 w 7143371"/>
                  <a:gd name="connsiteY2308" fmla="*/ 1101471 h 4684871"/>
                  <a:gd name="connsiteX2309" fmla="*/ 815150 w 7143371"/>
                  <a:gd name="connsiteY2309" fmla="*/ 1109377 h 4684871"/>
                  <a:gd name="connsiteX2310" fmla="*/ 822960 w 7143371"/>
                  <a:gd name="connsiteY2310" fmla="*/ 1108043 h 4684871"/>
                  <a:gd name="connsiteX2311" fmla="*/ 830771 w 7143371"/>
                  <a:gd name="connsiteY2311" fmla="*/ 1087755 h 4684871"/>
                  <a:gd name="connsiteX2312" fmla="*/ 822484 w 7143371"/>
                  <a:gd name="connsiteY2312" fmla="*/ 1077373 h 4684871"/>
                  <a:gd name="connsiteX2313" fmla="*/ 821817 w 7143371"/>
                  <a:gd name="connsiteY2313" fmla="*/ 1077373 h 4684871"/>
                  <a:gd name="connsiteX2314" fmla="*/ 4677632 w 7143371"/>
                  <a:gd name="connsiteY2314" fmla="*/ 1110806 h 4684871"/>
                  <a:gd name="connsiteX2315" fmla="*/ 4689253 w 7143371"/>
                  <a:gd name="connsiteY2315" fmla="*/ 1122617 h 4684871"/>
                  <a:gd name="connsiteX2316" fmla="*/ 4649534 w 7143371"/>
                  <a:gd name="connsiteY2316" fmla="*/ 1163574 h 4684871"/>
                  <a:gd name="connsiteX2317" fmla="*/ 4619149 w 7143371"/>
                  <a:gd name="connsiteY2317" fmla="*/ 1200341 h 4684871"/>
                  <a:gd name="connsiteX2318" fmla="*/ 4603909 w 7143371"/>
                  <a:gd name="connsiteY2318" fmla="*/ 1226915 h 4684871"/>
                  <a:gd name="connsiteX2319" fmla="*/ 4596384 w 7143371"/>
                  <a:gd name="connsiteY2319" fmla="*/ 1246632 h 4684871"/>
                  <a:gd name="connsiteX2320" fmla="*/ 4576287 w 7143371"/>
                  <a:gd name="connsiteY2320" fmla="*/ 1284446 h 4684871"/>
                  <a:gd name="connsiteX2321" fmla="*/ 4547902 w 7143371"/>
                  <a:gd name="connsiteY2321" fmla="*/ 1301591 h 4684871"/>
                  <a:gd name="connsiteX2322" fmla="*/ 4486752 w 7143371"/>
                  <a:gd name="connsiteY2322" fmla="*/ 1294352 h 4684871"/>
                  <a:gd name="connsiteX2323" fmla="*/ 4445508 w 7143371"/>
                  <a:gd name="connsiteY2323" fmla="*/ 1312831 h 4684871"/>
                  <a:gd name="connsiteX2324" fmla="*/ 4437603 w 7143371"/>
                  <a:gd name="connsiteY2324" fmla="*/ 1354074 h 4684871"/>
                  <a:gd name="connsiteX2325" fmla="*/ 4443794 w 7143371"/>
                  <a:gd name="connsiteY2325" fmla="*/ 1411700 h 4684871"/>
                  <a:gd name="connsiteX2326" fmla="*/ 4420077 w 7143371"/>
                  <a:gd name="connsiteY2326" fmla="*/ 1463040 h 4684871"/>
                  <a:gd name="connsiteX2327" fmla="*/ 4389406 w 7143371"/>
                  <a:gd name="connsiteY2327" fmla="*/ 1498473 h 4684871"/>
                  <a:gd name="connsiteX2328" fmla="*/ 4368642 w 7143371"/>
                  <a:gd name="connsiteY2328" fmla="*/ 1540574 h 4684871"/>
                  <a:gd name="connsiteX2329" fmla="*/ 4358736 w 7143371"/>
                  <a:gd name="connsiteY2329" fmla="*/ 1566482 h 4684871"/>
                  <a:gd name="connsiteX2330" fmla="*/ 4301109 w 7143371"/>
                  <a:gd name="connsiteY2330" fmla="*/ 1617821 h 4684871"/>
                  <a:gd name="connsiteX2331" fmla="*/ 4297109 w 7143371"/>
                  <a:gd name="connsiteY2331" fmla="*/ 1639348 h 4684871"/>
                  <a:gd name="connsiteX2332" fmla="*/ 4292061 w 7143371"/>
                  <a:gd name="connsiteY2332" fmla="*/ 1640491 h 4684871"/>
                  <a:gd name="connsiteX2333" fmla="*/ 4292632 w 7143371"/>
                  <a:gd name="connsiteY2333" fmla="*/ 1617155 h 4684871"/>
                  <a:gd name="connsiteX2334" fmla="*/ 4331208 w 7143371"/>
                  <a:gd name="connsiteY2334" fmla="*/ 1580579 h 4684871"/>
                  <a:gd name="connsiteX2335" fmla="*/ 4349115 w 7143371"/>
                  <a:gd name="connsiteY2335" fmla="*/ 1548098 h 4684871"/>
                  <a:gd name="connsiteX2336" fmla="*/ 4383881 w 7143371"/>
                  <a:gd name="connsiteY2336" fmla="*/ 1481804 h 4684871"/>
                  <a:gd name="connsiteX2337" fmla="*/ 4411885 w 7143371"/>
                  <a:gd name="connsiteY2337" fmla="*/ 1451705 h 4684871"/>
                  <a:gd name="connsiteX2338" fmla="*/ 4423601 w 7143371"/>
                  <a:gd name="connsiteY2338" fmla="*/ 1421892 h 4684871"/>
                  <a:gd name="connsiteX2339" fmla="*/ 4420077 w 7143371"/>
                  <a:gd name="connsiteY2339" fmla="*/ 1367790 h 4684871"/>
                  <a:gd name="connsiteX2340" fmla="*/ 4425982 w 7143371"/>
                  <a:gd name="connsiteY2340" fmla="*/ 1306068 h 4684871"/>
                  <a:gd name="connsiteX2341" fmla="*/ 4482370 w 7143371"/>
                  <a:gd name="connsiteY2341" fmla="*/ 1276255 h 4684871"/>
                  <a:gd name="connsiteX2342" fmla="*/ 4541711 w 7143371"/>
                  <a:gd name="connsiteY2342" fmla="*/ 1279874 h 4684871"/>
                  <a:gd name="connsiteX2343" fmla="*/ 4568667 w 7143371"/>
                  <a:gd name="connsiteY2343" fmla="*/ 1260443 h 4684871"/>
                  <a:gd name="connsiteX2344" fmla="*/ 4591527 w 7143371"/>
                  <a:gd name="connsiteY2344" fmla="*/ 1205675 h 4684871"/>
                  <a:gd name="connsiteX2345" fmla="*/ 4627436 w 7143371"/>
                  <a:gd name="connsiteY2345" fmla="*/ 1161955 h 4684871"/>
                  <a:gd name="connsiteX2346" fmla="*/ 4654677 w 7143371"/>
                  <a:gd name="connsiteY2346" fmla="*/ 1131284 h 4684871"/>
                  <a:gd name="connsiteX2347" fmla="*/ 4671441 w 7143371"/>
                  <a:gd name="connsiteY2347" fmla="*/ 1116997 h 4684871"/>
                  <a:gd name="connsiteX2348" fmla="*/ 4677537 w 7143371"/>
                  <a:gd name="connsiteY2348" fmla="*/ 1110901 h 4684871"/>
                  <a:gd name="connsiteX2349" fmla="*/ 1152716 w 7143371"/>
                  <a:gd name="connsiteY2349" fmla="*/ 1120902 h 4684871"/>
                  <a:gd name="connsiteX2350" fmla="*/ 1160621 w 7143371"/>
                  <a:gd name="connsiteY2350" fmla="*/ 1124807 h 4684871"/>
                  <a:gd name="connsiteX2351" fmla="*/ 1161574 w 7143371"/>
                  <a:gd name="connsiteY2351" fmla="*/ 1136237 h 4684871"/>
                  <a:gd name="connsiteX2352" fmla="*/ 1165574 w 7143371"/>
                  <a:gd name="connsiteY2352" fmla="*/ 1143762 h 4684871"/>
                  <a:gd name="connsiteX2353" fmla="*/ 1162336 w 7143371"/>
                  <a:gd name="connsiteY2353" fmla="*/ 1156430 h 4684871"/>
                  <a:gd name="connsiteX2354" fmla="*/ 1159383 w 7143371"/>
                  <a:gd name="connsiteY2354" fmla="*/ 1170813 h 4684871"/>
                  <a:gd name="connsiteX2355" fmla="*/ 1138904 w 7143371"/>
                  <a:gd name="connsiteY2355" fmla="*/ 1170337 h 4684871"/>
                  <a:gd name="connsiteX2356" fmla="*/ 1125474 w 7143371"/>
                  <a:gd name="connsiteY2356" fmla="*/ 1177576 h 4684871"/>
                  <a:gd name="connsiteX2357" fmla="*/ 1114711 w 7143371"/>
                  <a:gd name="connsiteY2357" fmla="*/ 1169194 h 4684871"/>
                  <a:gd name="connsiteX2358" fmla="*/ 1113854 w 7143371"/>
                  <a:gd name="connsiteY2358" fmla="*/ 1151287 h 4684871"/>
                  <a:gd name="connsiteX2359" fmla="*/ 1114806 w 7143371"/>
                  <a:gd name="connsiteY2359" fmla="*/ 1134999 h 4684871"/>
                  <a:gd name="connsiteX2360" fmla="*/ 1125855 w 7143371"/>
                  <a:gd name="connsiteY2360" fmla="*/ 1126522 h 4684871"/>
                  <a:gd name="connsiteX2361" fmla="*/ 1131094 w 7143371"/>
                  <a:gd name="connsiteY2361" fmla="*/ 1144810 h 4684871"/>
                  <a:gd name="connsiteX2362" fmla="*/ 1145191 w 7143371"/>
                  <a:gd name="connsiteY2362" fmla="*/ 1135475 h 4684871"/>
                  <a:gd name="connsiteX2363" fmla="*/ 1149858 w 7143371"/>
                  <a:gd name="connsiteY2363" fmla="*/ 1121759 h 4684871"/>
                  <a:gd name="connsiteX2364" fmla="*/ 1152716 w 7143371"/>
                  <a:gd name="connsiteY2364" fmla="*/ 1120902 h 4684871"/>
                  <a:gd name="connsiteX2365" fmla="*/ 1196245 w 7143371"/>
                  <a:gd name="connsiteY2365" fmla="*/ 1149191 h 4684871"/>
                  <a:gd name="connsiteX2366" fmla="*/ 1197388 w 7143371"/>
                  <a:gd name="connsiteY2366" fmla="*/ 1149191 h 4684871"/>
                  <a:gd name="connsiteX2367" fmla="*/ 1196531 w 7143371"/>
                  <a:gd name="connsiteY2367" fmla="*/ 1166908 h 4684871"/>
                  <a:gd name="connsiteX2368" fmla="*/ 1201198 w 7143371"/>
                  <a:gd name="connsiteY2368" fmla="*/ 1174242 h 4684871"/>
                  <a:gd name="connsiteX2369" fmla="*/ 1199102 w 7143371"/>
                  <a:gd name="connsiteY2369" fmla="*/ 1183481 h 4684871"/>
                  <a:gd name="connsiteX2370" fmla="*/ 1190244 w 7143371"/>
                  <a:gd name="connsiteY2370" fmla="*/ 1187196 h 4684871"/>
                  <a:gd name="connsiteX2371" fmla="*/ 1182148 w 7143371"/>
                  <a:gd name="connsiteY2371" fmla="*/ 1182338 h 4684871"/>
                  <a:gd name="connsiteX2372" fmla="*/ 1169289 w 7143371"/>
                  <a:gd name="connsiteY2372" fmla="*/ 1172528 h 4684871"/>
                  <a:gd name="connsiteX2373" fmla="*/ 1172813 w 7143371"/>
                  <a:gd name="connsiteY2373" fmla="*/ 1163574 h 4684871"/>
                  <a:gd name="connsiteX2374" fmla="*/ 1175766 w 7143371"/>
                  <a:gd name="connsiteY2374" fmla="*/ 1153954 h 4684871"/>
                  <a:gd name="connsiteX2375" fmla="*/ 1179957 w 7143371"/>
                  <a:gd name="connsiteY2375" fmla="*/ 1154430 h 4684871"/>
                  <a:gd name="connsiteX2376" fmla="*/ 1179957 w 7143371"/>
                  <a:gd name="connsiteY2376" fmla="*/ 1154906 h 4684871"/>
                  <a:gd name="connsiteX2377" fmla="*/ 1190530 w 7143371"/>
                  <a:gd name="connsiteY2377" fmla="*/ 1153859 h 4684871"/>
                  <a:gd name="connsiteX2378" fmla="*/ 1196150 w 7143371"/>
                  <a:gd name="connsiteY2378" fmla="*/ 1149287 h 4684871"/>
                  <a:gd name="connsiteX2379" fmla="*/ 1090422 w 7143371"/>
                  <a:gd name="connsiteY2379" fmla="*/ 1153763 h 4684871"/>
                  <a:gd name="connsiteX2380" fmla="*/ 1103281 w 7143371"/>
                  <a:gd name="connsiteY2380" fmla="*/ 1168146 h 4684871"/>
                  <a:gd name="connsiteX2381" fmla="*/ 1109091 w 7143371"/>
                  <a:gd name="connsiteY2381" fmla="*/ 1171194 h 4684871"/>
                  <a:gd name="connsiteX2382" fmla="*/ 1114997 w 7143371"/>
                  <a:gd name="connsiteY2382" fmla="*/ 1192054 h 4684871"/>
                  <a:gd name="connsiteX2383" fmla="*/ 1090613 w 7143371"/>
                  <a:gd name="connsiteY2383" fmla="*/ 1194626 h 4684871"/>
                  <a:gd name="connsiteX2384" fmla="*/ 1084707 w 7143371"/>
                  <a:gd name="connsiteY2384" fmla="*/ 1183767 h 4684871"/>
                  <a:gd name="connsiteX2385" fmla="*/ 1083850 w 7143371"/>
                  <a:gd name="connsiteY2385" fmla="*/ 1169384 h 4684871"/>
                  <a:gd name="connsiteX2386" fmla="*/ 1086136 w 7143371"/>
                  <a:gd name="connsiteY2386" fmla="*/ 1155383 h 4684871"/>
                  <a:gd name="connsiteX2387" fmla="*/ 1090517 w 7143371"/>
                  <a:gd name="connsiteY2387" fmla="*/ 1153668 h 4684871"/>
                  <a:gd name="connsiteX2388" fmla="*/ 6232112 w 7143371"/>
                  <a:gd name="connsiteY2388" fmla="*/ 1166908 h 4684871"/>
                  <a:gd name="connsiteX2389" fmla="*/ 6227445 w 7143371"/>
                  <a:gd name="connsiteY2389" fmla="*/ 1170527 h 4684871"/>
                  <a:gd name="connsiteX2390" fmla="*/ 6228112 w 7143371"/>
                  <a:gd name="connsiteY2390" fmla="*/ 1180910 h 4684871"/>
                  <a:gd name="connsiteX2391" fmla="*/ 6229922 w 7143371"/>
                  <a:gd name="connsiteY2391" fmla="*/ 1184910 h 4684871"/>
                  <a:gd name="connsiteX2392" fmla="*/ 6232875 w 7143371"/>
                  <a:gd name="connsiteY2392" fmla="*/ 1190530 h 4684871"/>
                  <a:gd name="connsiteX2393" fmla="*/ 6235541 w 7143371"/>
                  <a:gd name="connsiteY2393" fmla="*/ 1193673 h 4684871"/>
                  <a:gd name="connsiteX2394" fmla="*/ 6232875 w 7143371"/>
                  <a:gd name="connsiteY2394" fmla="*/ 1195864 h 4684871"/>
                  <a:gd name="connsiteX2395" fmla="*/ 6229922 w 7143371"/>
                  <a:gd name="connsiteY2395" fmla="*/ 1199579 h 4684871"/>
                  <a:gd name="connsiteX2396" fmla="*/ 6226207 w 7143371"/>
                  <a:gd name="connsiteY2396" fmla="*/ 1203770 h 4684871"/>
                  <a:gd name="connsiteX2397" fmla="*/ 6220968 w 7143371"/>
                  <a:gd name="connsiteY2397" fmla="*/ 1210818 h 4684871"/>
                  <a:gd name="connsiteX2398" fmla="*/ 6216777 w 7143371"/>
                  <a:gd name="connsiteY2398" fmla="*/ 1217009 h 4684871"/>
                  <a:gd name="connsiteX2399" fmla="*/ 6215634 w 7143371"/>
                  <a:gd name="connsiteY2399" fmla="*/ 1226534 h 4684871"/>
                  <a:gd name="connsiteX2400" fmla="*/ 6217444 w 7143371"/>
                  <a:gd name="connsiteY2400" fmla="*/ 1229297 h 4684871"/>
                  <a:gd name="connsiteX2401" fmla="*/ 6220016 w 7143371"/>
                  <a:gd name="connsiteY2401" fmla="*/ 1233773 h 4684871"/>
                  <a:gd name="connsiteX2402" fmla="*/ 6222587 w 7143371"/>
                  <a:gd name="connsiteY2402" fmla="*/ 1239298 h 4684871"/>
                  <a:gd name="connsiteX2403" fmla="*/ 6229827 w 7143371"/>
                  <a:gd name="connsiteY2403" fmla="*/ 1245108 h 4684871"/>
                  <a:gd name="connsiteX2404" fmla="*/ 6237446 w 7143371"/>
                  <a:gd name="connsiteY2404" fmla="*/ 1248156 h 4684871"/>
                  <a:gd name="connsiteX2405" fmla="*/ 6238304 w 7143371"/>
                  <a:gd name="connsiteY2405" fmla="*/ 1251204 h 4684871"/>
                  <a:gd name="connsiteX2406" fmla="*/ 6250305 w 7143371"/>
                  <a:gd name="connsiteY2406" fmla="*/ 1248728 h 4684871"/>
                  <a:gd name="connsiteX2407" fmla="*/ 6254973 w 7143371"/>
                  <a:gd name="connsiteY2407" fmla="*/ 1238822 h 4684871"/>
                  <a:gd name="connsiteX2408" fmla="*/ 6250305 w 7143371"/>
                  <a:gd name="connsiteY2408" fmla="*/ 1227963 h 4684871"/>
                  <a:gd name="connsiteX2409" fmla="*/ 6243352 w 7143371"/>
                  <a:gd name="connsiteY2409" fmla="*/ 1224058 h 4684871"/>
                  <a:gd name="connsiteX2410" fmla="*/ 6240399 w 7143371"/>
                  <a:gd name="connsiteY2410" fmla="*/ 1222058 h 4684871"/>
                  <a:gd name="connsiteX2411" fmla="*/ 6246781 w 7143371"/>
                  <a:gd name="connsiteY2411" fmla="*/ 1211390 h 4684871"/>
                  <a:gd name="connsiteX2412" fmla="*/ 6257354 w 7143371"/>
                  <a:gd name="connsiteY2412" fmla="*/ 1195864 h 4684871"/>
                  <a:gd name="connsiteX2413" fmla="*/ 6243257 w 7143371"/>
                  <a:gd name="connsiteY2413" fmla="*/ 1175290 h 4684871"/>
                  <a:gd name="connsiteX2414" fmla="*/ 6236494 w 7143371"/>
                  <a:gd name="connsiteY2414" fmla="*/ 1170432 h 4684871"/>
                  <a:gd name="connsiteX2415" fmla="*/ 6232112 w 7143371"/>
                  <a:gd name="connsiteY2415" fmla="*/ 1167098 h 4684871"/>
                  <a:gd name="connsiteX2416" fmla="*/ 944023 w 7143371"/>
                  <a:gd name="connsiteY2416" fmla="*/ 1303401 h 4684871"/>
                  <a:gd name="connsiteX2417" fmla="*/ 955739 w 7143371"/>
                  <a:gd name="connsiteY2417" fmla="*/ 1306830 h 4684871"/>
                  <a:gd name="connsiteX2418" fmla="*/ 963263 w 7143371"/>
                  <a:gd name="connsiteY2418" fmla="*/ 1313593 h 4684871"/>
                  <a:gd name="connsiteX2419" fmla="*/ 972312 w 7143371"/>
                  <a:gd name="connsiteY2419" fmla="*/ 1311021 h 4684871"/>
                  <a:gd name="connsiteX2420" fmla="*/ 1009460 w 7143371"/>
                  <a:gd name="connsiteY2420" fmla="*/ 1320356 h 4684871"/>
                  <a:gd name="connsiteX2421" fmla="*/ 1012031 w 7143371"/>
                  <a:gd name="connsiteY2421" fmla="*/ 1363313 h 4684871"/>
                  <a:gd name="connsiteX2422" fmla="*/ 1005078 w 7143371"/>
                  <a:gd name="connsiteY2422" fmla="*/ 1402937 h 4684871"/>
                  <a:gd name="connsiteX2423" fmla="*/ 995458 w 7143371"/>
                  <a:gd name="connsiteY2423" fmla="*/ 1418082 h 4684871"/>
                  <a:gd name="connsiteX2424" fmla="*/ 980789 w 7143371"/>
                  <a:gd name="connsiteY2424" fmla="*/ 1429322 h 4684871"/>
                  <a:gd name="connsiteX2425" fmla="*/ 967264 w 7143371"/>
                  <a:gd name="connsiteY2425" fmla="*/ 1439132 h 4684871"/>
                  <a:gd name="connsiteX2426" fmla="*/ 976694 w 7143371"/>
                  <a:gd name="connsiteY2426" fmla="*/ 1453229 h 4684871"/>
                  <a:gd name="connsiteX2427" fmla="*/ 1003649 w 7143371"/>
                  <a:gd name="connsiteY2427" fmla="*/ 1476280 h 4684871"/>
                  <a:gd name="connsiteX2428" fmla="*/ 1007078 w 7143371"/>
                  <a:gd name="connsiteY2428" fmla="*/ 1484662 h 4684871"/>
                  <a:gd name="connsiteX2429" fmla="*/ 1002697 w 7143371"/>
                  <a:gd name="connsiteY2429" fmla="*/ 1493044 h 4684871"/>
                  <a:gd name="connsiteX2430" fmla="*/ 1014603 w 7143371"/>
                  <a:gd name="connsiteY2430" fmla="*/ 1501712 h 4684871"/>
                  <a:gd name="connsiteX2431" fmla="*/ 1025366 w 7143371"/>
                  <a:gd name="connsiteY2431" fmla="*/ 1513427 h 4684871"/>
                  <a:gd name="connsiteX2432" fmla="*/ 1019747 w 7143371"/>
                  <a:gd name="connsiteY2432" fmla="*/ 1529620 h 4684871"/>
                  <a:gd name="connsiteX2433" fmla="*/ 1014412 w 7143371"/>
                  <a:gd name="connsiteY2433" fmla="*/ 1566482 h 4684871"/>
                  <a:gd name="connsiteX2434" fmla="*/ 994886 w 7143371"/>
                  <a:gd name="connsiteY2434" fmla="*/ 1571054 h 4684871"/>
                  <a:gd name="connsiteX2435" fmla="*/ 977551 w 7143371"/>
                  <a:gd name="connsiteY2435" fmla="*/ 1572673 h 4684871"/>
                  <a:gd name="connsiteX2436" fmla="*/ 965264 w 7143371"/>
                  <a:gd name="connsiteY2436" fmla="*/ 1561433 h 4684871"/>
                  <a:gd name="connsiteX2437" fmla="*/ 962597 w 7143371"/>
                  <a:gd name="connsiteY2437" fmla="*/ 1552384 h 4684871"/>
                  <a:gd name="connsiteX2438" fmla="*/ 966026 w 7143371"/>
                  <a:gd name="connsiteY2438" fmla="*/ 1544765 h 4684871"/>
                  <a:gd name="connsiteX2439" fmla="*/ 946785 w 7143371"/>
                  <a:gd name="connsiteY2439" fmla="*/ 1528001 h 4684871"/>
                  <a:gd name="connsiteX2440" fmla="*/ 955834 w 7143371"/>
                  <a:gd name="connsiteY2440" fmla="*/ 1517523 h 4684871"/>
                  <a:gd name="connsiteX2441" fmla="*/ 957834 w 7143371"/>
                  <a:gd name="connsiteY2441" fmla="*/ 1501521 h 4684871"/>
                  <a:gd name="connsiteX2442" fmla="*/ 953357 w 7143371"/>
                  <a:gd name="connsiteY2442" fmla="*/ 1482662 h 4684871"/>
                  <a:gd name="connsiteX2443" fmla="*/ 933831 w 7143371"/>
                  <a:gd name="connsiteY2443" fmla="*/ 1479233 h 4684871"/>
                  <a:gd name="connsiteX2444" fmla="*/ 917353 w 7143371"/>
                  <a:gd name="connsiteY2444" fmla="*/ 1468088 h 4684871"/>
                  <a:gd name="connsiteX2445" fmla="*/ 894779 w 7143371"/>
                  <a:gd name="connsiteY2445" fmla="*/ 1468088 h 4684871"/>
                  <a:gd name="connsiteX2446" fmla="*/ 875252 w 7143371"/>
                  <a:gd name="connsiteY2446" fmla="*/ 1464469 h 4684871"/>
                  <a:gd name="connsiteX2447" fmla="*/ 858488 w 7143371"/>
                  <a:gd name="connsiteY2447" fmla="*/ 1467041 h 4684871"/>
                  <a:gd name="connsiteX2448" fmla="*/ 845534 w 7143371"/>
                  <a:gd name="connsiteY2448" fmla="*/ 1472946 h 4684871"/>
                  <a:gd name="connsiteX2449" fmla="*/ 836962 w 7143371"/>
                  <a:gd name="connsiteY2449" fmla="*/ 1481328 h 4684871"/>
                  <a:gd name="connsiteX2450" fmla="*/ 805053 w 7143371"/>
                  <a:gd name="connsiteY2450" fmla="*/ 1484757 h 4684871"/>
                  <a:gd name="connsiteX2451" fmla="*/ 782765 w 7143371"/>
                  <a:gd name="connsiteY2451" fmla="*/ 1487329 h 4684871"/>
                  <a:gd name="connsiteX2452" fmla="*/ 766286 w 7143371"/>
                  <a:gd name="connsiteY2452" fmla="*/ 1486567 h 4684871"/>
                  <a:gd name="connsiteX2453" fmla="*/ 753999 w 7143371"/>
                  <a:gd name="connsiteY2453" fmla="*/ 1477232 h 4684871"/>
                  <a:gd name="connsiteX2454" fmla="*/ 742379 w 7143371"/>
                  <a:gd name="connsiteY2454" fmla="*/ 1489043 h 4684871"/>
                  <a:gd name="connsiteX2455" fmla="*/ 734092 w 7143371"/>
                  <a:gd name="connsiteY2455" fmla="*/ 1501616 h 4684871"/>
                  <a:gd name="connsiteX2456" fmla="*/ 732377 w 7143371"/>
                  <a:gd name="connsiteY2456" fmla="*/ 1514284 h 4684871"/>
                  <a:gd name="connsiteX2457" fmla="*/ 722471 w 7143371"/>
                  <a:gd name="connsiteY2457" fmla="*/ 1527810 h 4684871"/>
                  <a:gd name="connsiteX2458" fmla="*/ 710851 w 7143371"/>
                  <a:gd name="connsiteY2458" fmla="*/ 1537907 h 4684871"/>
                  <a:gd name="connsiteX2459" fmla="*/ 701802 w 7143371"/>
                  <a:gd name="connsiteY2459" fmla="*/ 1553147 h 4684871"/>
                  <a:gd name="connsiteX2460" fmla="*/ 709994 w 7143371"/>
                  <a:gd name="connsiteY2460" fmla="*/ 1573340 h 4684871"/>
                  <a:gd name="connsiteX2461" fmla="*/ 721614 w 7143371"/>
                  <a:gd name="connsiteY2461" fmla="*/ 1586770 h 4684871"/>
                  <a:gd name="connsiteX2462" fmla="*/ 731520 w 7143371"/>
                  <a:gd name="connsiteY2462" fmla="*/ 1599438 h 4684871"/>
                  <a:gd name="connsiteX2463" fmla="*/ 730663 w 7143371"/>
                  <a:gd name="connsiteY2463" fmla="*/ 1619631 h 4684871"/>
                  <a:gd name="connsiteX2464" fmla="*/ 734854 w 7143371"/>
                  <a:gd name="connsiteY2464" fmla="*/ 1636681 h 4684871"/>
                  <a:gd name="connsiteX2465" fmla="*/ 751332 w 7143371"/>
                  <a:gd name="connsiteY2465" fmla="*/ 1640872 h 4684871"/>
                  <a:gd name="connsiteX2466" fmla="*/ 768572 w 7143371"/>
                  <a:gd name="connsiteY2466" fmla="*/ 1640872 h 4684871"/>
                  <a:gd name="connsiteX2467" fmla="*/ 778574 w 7143371"/>
                  <a:gd name="connsiteY2467" fmla="*/ 1640872 h 4684871"/>
                  <a:gd name="connsiteX2468" fmla="*/ 786098 w 7143371"/>
                  <a:gd name="connsiteY2468" fmla="*/ 1650111 h 4684871"/>
                  <a:gd name="connsiteX2469" fmla="*/ 773716 w 7143371"/>
                  <a:gd name="connsiteY2469" fmla="*/ 1661922 h 4684871"/>
                  <a:gd name="connsiteX2470" fmla="*/ 748856 w 7143371"/>
                  <a:gd name="connsiteY2470" fmla="*/ 1670399 h 4684871"/>
                  <a:gd name="connsiteX2471" fmla="*/ 747141 w 7143371"/>
                  <a:gd name="connsiteY2471" fmla="*/ 1683830 h 4684871"/>
                  <a:gd name="connsiteX2472" fmla="*/ 755428 w 7143371"/>
                  <a:gd name="connsiteY2472" fmla="*/ 1695641 h 4684871"/>
                  <a:gd name="connsiteX2473" fmla="*/ 757142 w 7143371"/>
                  <a:gd name="connsiteY2473" fmla="*/ 1705832 h 4684871"/>
                  <a:gd name="connsiteX2474" fmla="*/ 739807 w 7143371"/>
                  <a:gd name="connsiteY2474" fmla="*/ 1710881 h 4684871"/>
                  <a:gd name="connsiteX2475" fmla="*/ 729044 w 7143371"/>
                  <a:gd name="connsiteY2475" fmla="*/ 1704784 h 4684871"/>
                  <a:gd name="connsiteX2476" fmla="*/ 719042 w 7143371"/>
                  <a:gd name="connsiteY2476" fmla="*/ 1704784 h 4684871"/>
                  <a:gd name="connsiteX2477" fmla="*/ 713423 w 7143371"/>
                  <a:gd name="connsiteY2477" fmla="*/ 1714976 h 4684871"/>
                  <a:gd name="connsiteX2478" fmla="*/ 718376 w 7143371"/>
                  <a:gd name="connsiteY2478" fmla="*/ 1724216 h 4684871"/>
                  <a:gd name="connsiteX2479" fmla="*/ 718376 w 7143371"/>
                  <a:gd name="connsiteY2479" fmla="*/ 1730978 h 4684871"/>
                  <a:gd name="connsiteX2480" fmla="*/ 723329 w 7143371"/>
                  <a:gd name="connsiteY2480" fmla="*/ 1741837 h 4684871"/>
                  <a:gd name="connsiteX2481" fmla="*/ 712470 w 7143371"/>
                  <a:gd name="connsiteY2481" fmla="*/ 1762125 h 4684871"/>
                  <a:gd name="connsiteX2482" fmla="*/ 704279 w 7143371"/>
                  <a:gd name="connsiteY2482" fmla="*/ 1766411 h 4684871"/>
                  <a:gd name="connsiteX2483" fmla="*/ 701897 w 7143371"/>
                  <a:gd name="connsiteY2483" fmla="*/ 1751267 h 4684871"/>
                  <a:gd name="connsiteX2484" fmla="*/ 700183 w 7143371"/>
                  <a:gd name="connsiteY2484" fmla="*/ 1741742 h 4684871"/>
                  <a:gd name="connsiteX2485" fmla="*/ 695230 w 7143371"/>
                  <a:gd name="connsiteY2485" fmla="*/ 1731836 h 4684871"/>
                  <a:gd name="connsiteX2486" fmla="*/ 700183 w 7143371"/>
                  <a:gd name="connsiteY2486" fmla="*/ 1717453 h 4684871"/>
                  <a:gd name="connsiteX2487" fmla="*/ 707517 w 7143371"/>
                  <a:gd name="connsiteY2487" fmla="*/ 1707356 h 4684871"/>
                  <a:gd name="connsiteX2488" fmla="*/ 707517 w 7143371"/>
                  <a:gd name="connsiteY2488" fmla="*/ 1698974 h 4684871"/>
                  <a:gd name="connsiteX2489" fmla="*/ 709327 w 7143371"/>
                  <a:gd name="connsiteY2489" fmla="*/ 1690497 h 4684871"/>
                  <a:gd name="connsiteX2490" fmla="*/ 709422 w 7143371"/>
                  <a:gd name="connsiteY2490" fmla="*/ 1681448 h 4684871"/>
                  <a:gd name="connsiteX2491" fmla="*/ 702183 w 7143371"/>
                  <a:gd name="connsiteY2491" fmla="*/ 1677543 h 4684871"/>
                  <a:gd name="connsiteX2492" fmla="*/ 695706 w 7143371"/>
                  <a:gd name="connsiteY2492" fmla="*/ 1679829 h 4684871"/>
                  <a:gd name="connsiteX2493" fmla="*/ 689515 w 7143371"/>
                  <a:gd name="connsiteY2493" fmla="*/ 1679258 h 4684871"/>
                  <a:gd name="connsiteX2494" fmla="*/ 685800 w 7143371"/>
                  <a:gd name="connsiteY2494" fmla="*/ 1671923 h 4684871"/>
                  <a:gd name="connsiteX2495" fmla="*/ 680180 w 7143371"/>
                  <a:gd name="connsiteY2495" fmla="*/ 1668018 h 4684871"/>
                  <a:gd name="connsiteX2496" fmla="*/ 675227 w 7143371"/>
                  <a:gd name="connsiteY2496" fmla="*/ 1672590 h 4684871"/>
                  <a:gd name="connsiteX2497" fmla="*/ 677894 w 7143371"/>
                  <a:gd name="connsiteY2497" fmla="*/ 1682115 h 4684871"/>
                  <a:gd name="connsiteX2498" fmla="*/ 683514 w 7143371"/>
                  <a:gd name="connsiteY2498" fmla="*/ 1688783 h 4684871"/>
                  <a:gd name="connsiteX2499" fmla="*/ 686372 w 7143371"/>
                  <a:gd name="connsiteY2499" fmla="*/ 1696307 h 4684871"/>
                  <a:gd name="connsiteX2500" fmla="*/ 685229 w 7143371"/>
                  <a:gd name="connsiteY2500" fmla="*/ 1705070 h 4684871"/>
                  <a:gd name="connsiteX2501" fmla="*/ 679704 w 7143371"/>
                  <a:gd name="connsiteY2501" fmla="*/ 1716500 h 4684871"/>
                  <a:gd name="connsiteX2502" fmla="*/ 673608 w 7143371"/>
                  <a:gd name="connsiteY2502" fmla="*/ 1722692 h 4684871"/>
                  <a:gd name="connsiteX2503" fmla="*/ 665798 w 7143371"/>
                  <a:gd name="connsiteY2503" fmla="*/ 1727740 h 4684871"/>
                  <a:gd name="connsiteX2504" fmla="*/ 658749 w 7143371"/>
                  <a:gd name="connsiteY2504" fmla="*/ 1718691 h 4684871"/>
                  <a:gd name="connsiteX2505" fmla="*/ 655320 w 7143371"/>
                  <a:gd name="connsiteY2505" fmla="*/ 1708595 h 4684871"/>
                  <a:gd name="connsiteX2506" fmla="*/ 660845 w 7143371"/>
                  <a:gd name="connsiteY2506" fmla="*/ 1700689 h 4684871"/>
                  <a:gd name="connsiteX2507" fmla="*/ 666464 w 7143371"/>
                  <a:gd name="connsiteY2507" fmla="*/ 1694498 h 4684871"/>
                  <a:gd name="connsiteX2508" fmla="*/ 670274 w 7143371"/>
                  <a:gd name="connsiteY2508" fmla="*/ 1686687 h 4684871"/>
                  <a:gd name="connsiteX2509" fmla="*/ 669131 w 7143371"/>
                  <a:gd name="connsiteY2509" fmla="*/ 1679924 h 4684871"/>
                  <a:gd name="connsiteX2510" fmla="*/ 671227 w 7143371"/>
                  <a:gd name="connsiteY2510" fmla="*/ 1669256 h 4684871"/>
                  <a:gd name="connsiteX2511" fmla="*/ 677704 w 7143371"/>
                  <a:gd name="connsiteY2511" fmla="*/ 1656302 h 4684871"/>
                  <a:gd name="connsiteX2512" fmla="*/ 685610 w 7143371"/>
                  <a:gd name="connsiteY2512" fmla="*/ 1647349 h 4684871"/>
                  <a:gd name="connsiteX2513" fmla="*/ 696087 w 7143371"/>
                  <a:gd name="connsiteY2513" fmla="*/ 1641729 h 4684871"/>
                  <a:gd name="connsiteX2514" fmla="*/ 700850 w 7143371"/>
                  <a:gd name="connsiteY2514" fmla="*/ 1632680 h 4684871"/>
                  <a:gd name="connsiteX2515" fmla="*/ 696468 w 7143371"/>
                  <a:gd name="connsiteY2515" fmla="*/ 1625441 h 4684871"/>
                  <a:gd name="connsiteX2516" fmla="*/ 686562 w 7143371"/>
                  <a:gd name="connsiteY2516" fmla="*/ 1625441 h 4684871"/>
                  <a:gd name="connsiteX2517" fmla="*/ 673989 w 7143371"/>
                  <a:gd name="connsiteY2517" fmla="*/ 1631061 h 4684871"/>
                  <a:gd name="connsiteX2518" fmla="*/ 665702 w 7143371"/>
                  <a:gd name="connsiteY2518" fmla="*/ 1634966 h 4684871"/>
                  <a:gd name="connsiteX2519" fmla="*/ 657511 w 7143371"/>
                  <a:gd name="connsiteY2519" fmla="*/ 1638300 h 4684871"/>
                  <a:gd name="connsiteX2520" fmla="*/ 653034 w 7143371"/>
                  <a:gd name="connsiteY2520" fmla="*/ 1642205 h 4684871"/>
                  <a:gd name="connsiteX2521" fmla="*/ 644271 w 7143371"/>
                  <a:gd name="connsiteY2521" fmla="*/ 1642967 h 4684871"/>
                  <a:gd name="connsiteX2522" fmla="*/ 636080 w 7143371"/>
                  <a:gd name="connsiteY2522" fmla="*/ 1638395 h 4684871"/>
                  <a:gd name="connsiteX2523" fmla="*/ 630555 w 7143371"/>
                  <a:gd name="connsiteY2523" fmla="*/ 1636776 h 4684871"/>
                  <a:gd name="connsiteX2524" fmla="*/ 622268 w 7143371"/>
                  <a:gd name="connsiteY2524" fmla="*/ 1644587 h 4684871"/>
                  <a:gd name="connsiteX2525" fmla="*/ 616363 w 7143371"/>
                  <a:gd name="connsiteY2525" fmla="*/ 1650778 h 4684871"/>
                  <a:gd name="connsiteX2526" fmla="*/ 607505 w 7143371"/>
                  <a:gd name="connsiteY2526" fmla="*/ 1655255 h 4684871"/>
                  <a:gd name="connsiteX2527" fmla="*/ 598742 w 7143371"/>
                  <a:gd name="connsiteY2527" fmla="*/ 1656017 h 4684871"/>
                  <a:gd name="connsiteX2528" fmla="*/ 590931 w 7143371"/>
                  <a:gd name="connsiteY2528" fmla="*/ 1656017 h 4684871"/>
                  <a:gd name="connsiteX2529" fmla="*/ 593598 w 7143371"/>
                  <a:gd name="connsiteY2529" fmla="*/ 1666684 h 4684871"/>
                  <a:gd name="connsiteX2530" fmla="*/ 597027 w 7143371"/>
                  <a:gd name="connsiteY2530" fmla="*/ 1678972 h 4684871"/>
                  <a:gd name="connsiteX2531" fmla="*/ 596456 w 7143371"/>
                  <a:gd name="connsiteY2531" fmla="*/ 1690211 h 4684871"/>
                  <a:gd name="connsiteX2532" fmla="*/ 601409 w 7143371"/>
                  <a:gd name="connsiteY2532" fmla="*/ 1698593 h 4684871"/>
                  <a:gd name="connsiteX2533" fmla="*/ 601409 w 7143371"/>
                  <a:gd name="connsiteY2533" fmla="*/ 1706499 h 4684871"/>
                  <a:gd name="connsiteX2534" fmla="*/ 592074 w 7143371"/>
                  <a:gd name="connsiteY2534" fmla="*/ 1711547 h 4684871"/>
                  <a:gd name="connsiteX2535" fmla="*/ 584835 w 7143371"/>
                  <a:gd name="connsiteY2535" fmla="*/ 1711071 h 4684871"/>
                  <a:gd name="connsiteX2536" fmla="*/ 578168 w 7143371"/>
                  <a:gd name="connsiteY2536" fmla="*/ 1704308 h 4684871"/>
                  <a:gd name="connsiteX2537" fmla="*/ 565023 w 7143371"/>
                  <a:gd name="connsiteY2537" fmla="*/ 1700879 h 4684871"/>
                  <a:gd name="connsiteX2538" fmla="*/ 555593 w 7143371"/>
                  <a:gd name="connsiteY2538" fmla="*/ 1706499 h 4684871"/>
                  <a:gd name="connsiteX2539" fmla="*/ 548926 w 7143371"/>
                  <a:gd name="connsiteY2539" fmla="*/ 1710404 h 4684871"/>
                  <a:gd name="connsiteX2540" fmla="*/ 539210 w 7143371"/>
                  <a:gd name="connsiteY2540" fmla="*/ 1712309 h 4684871"/>
                  <a:gd name="connsiteX2541" fmla="*/ 534734 w 7143371"/>
                  <a:gd name="connsiteY2541" fmla="*/ 1718405 h 4684871"/>
                  <a:gd name="connsiteX2542" fmla="*/ 553784 w 7143371"/>
                  <a:gd name="connsiteY2542" fmla="*/ 1750409 h 4684871"/>
                  <a:gd name="connsiteX2543" fmla="*/ 562832 w 7143371"/>
                  <a:gd name="connsiteY2543" fmla="*/ 1769745 h 4684871"/>
                  <a:gd name="connsiteX2544" fmla="*/ 570357 w 7143371"/>
                  <a:gd name="connsiteY2544" fmla="*/ 1782699 h 4684871"/>
                  <a:gd name="connsiteX2545" fmla="*/ 578549 w 7143371"/>
                  <a:gd name="connsiteY2545" fmla="*/ 1787462 h 4684871"/>
                  <a:gd name="connsiteX2546" fmla="*/ 581978 w 7143371"/>
                  <a:gd name="connsiteY2546" fmla="*/ 1795844 h 4684871"/>
                  <a:gd name="connsiteX2547" fmla="*/ 580739 w 7143371"/>
                  <a:gd name="connsiteY2547" fmla="*/ 1804797 h 4684871"/>
                  <a:gd name="connsiteX2548" fmla="*/ 682657 w 7143371"/>
                  <a:gd name="connsiteY2548" fmla="*/ 1889570 h 4684871"/>
                  <a:gd name="connsiteX2549" fmla="*/ 703040 w 7143371"/>
                  <a:gd name="connsiteY2549" fmla="*/ 1911477 h 4684871"/>
                  <a:gd name="connsiteX2550" fmla="*/ 706755 w 7143371"/>
                  <a:gd name="connsiteY2550" fmla="*/ 1920716 h 4684871"/>
                  <a:gd name="connsiteX2551" fmla="*/ 708755 w 7143371"/>
                  <a:gd name="connsiteY2551" fmla="*/ 1952434 h 4684871"/>
                  <a:gd name="connsiteX2552" fmla="*/ 710470 w 7143371"/>
                  <a:gd name="connsiteY2552" fmla="*/ 1967579 h 4684871"/>
                  <a:gd name="connsiteX2553" fmla="*/ 718376 w 7143371"/>
                  <a:gd name="connsiteY2553" fmla="*/ 1980248 h 4684871"/>
                  <a:gd name="connsiteX2554" fmla="*/ 731520 w 7143371"/>
                  <a:gd name="connsiteY2554" fmla="*/ 1981581 h 4684871"/>
                  <a:gd name="connsiteX2555" fmla="*/ 743522 w 7143371"/>
                  <a:gd name="connsiteY2555" fmla="*/ 1974818 h 4684871"/>
                  <a:gd name="connsiteX2556" fmla="*/ 751427 w 7143371"/>
                  <a:gd name="connsiteY2556" fmla="*/ 1969199 h 4684871"/>
                  <a:gd name="connsiteX2557" fmla="*/ 763429 w 7143371"/>
                  <a:gd name="connsiteY2557" fmla="*/ 1977390 h 4684871"/>
                  <a:gd name="connsiteX2558" fmla="*/ 770763 w 7143371"/>
                  <a:gd name="connsiteY2558" fmla="*/ 1984153 h 4684871"/>
                  <a:gd name="connsiteX2559" fmla="*/ 773716 w 7143371"/>
                  <a:gd name="connsiteY2559" fmla="*/ 1992535 h 4684871"/>
                  <a:gd name="connsiteX2560" fmla="*/ 768382 w 7143371"/>
                  <a:gd name="connsiteY2560" fmla="*/ 2000441 h 4684871"/>
                  <a:gd name="connsiteX2561" fmla="*/ 757523 w 7143371"/>
                  <a:gd name="connsiteY2561" fmla="*/ 2004632 h 4684871"/>
                  <a:gd name="connsiteX2562" fmla="*/ 752189 w 7143371"/>
                  <a:gd name="connsiteY2562" fmla="*/ 2011585 h 4684871"/>
                  <a:gd name="connsiteX2563" fmla="*/ 750189 w 7143371"/>
                  <a:gd name="connsiteY2563" fmla="*/ 2018633 h 4684871"/>
                  <a:gd name="connsiteX2564" fmla="*/ 745998 w 7143371"/>
                  <a:gd name="connsiteY2564" fmla="*/ 2021205 h 4684871"/>
                  <a:gd name="connsiteX2565" fmla="*/ 734949 w 7143371"/>
                  <a:gd name="connsiteY2565" fmla="*/ 2020157 h 4684871"/>
                  <a:gd name="connsiteX2566" fmla="*/ 725900 w 7143371"/>
                  <a:gd name="connsiteY2566" fmla="*/ 2029111 h 4684871"/>
                  <a:gd name="connsiteX2567" fmla="*/ 715042 w 7143371"/>
                  <a:gd name="connsiteY2567" fmla="*/ 2033873 h 4684871"/>
                  <a:gd name="connsiteX2568" fmla="*/ 695992 w 7143371"/>
                  <a:gd name="connsiteY2568" fmla="*/ 2024348 h 4684871"/>
                  <a:gd name="connsiteX2569" fmla="*/ 683419 w 7143371"/>
                  <a:gd name="connsiteY2569" fmla="*/ 2017681 h 4684871"/>
                  <a:gd name="connsiteX2570" fmla="*/ 675323 w 7143371"/>
                  <a:gd name="connsiteY2570" fmla="*/ 2010156 h 4684871"/>
                  <a:gd name="connsiteX2571" fmla="*/ 674656 w 7143371"/>
                  <a:gd name="connsiteY2571" fmla="*/ 1999012 h 4684871"/>
                  <a:gd name="connsiteX2572" fmla="*/ 670560 w 7143371"/>
                  <a:gd name="connsiteY2572" fmla="*/ 1986439 h 4684871"/>
                  <a:gd name="connsiteX2573" fmla="*/ 661511 w 7143371"/>
                  <a:gd name="connsiteY2573" fmla="*/ 1980533 h 4684871"/>
                  <a:gd name="connsiteX2574" fmla="*/ 656844 w 7143371"/>
                  <a:gd name="connsiteY2574" fmla="*/ 1967960 h 4684871"/>
                  <a:gd name="connsiteX2575" fmla="*/ 660273 w 7143371"/>
                  <a:gd name="connsiteY2575" fmla="*/ 1951387 h 4684871"/>
                  <a:gd name="connsiteX2576" fmla="*/ 666369 w 7143371"/>
                  <a:gd name="connsiteY2576" fmla="*/ 1943481 h 4684871"/>
                  <a:gd name="connsiteX2577" fmla="*/ 674180 w 7143371"/>
                  <a:gd name="connsiteY2577" fmla="*/ 1935385 h 4684871"/>
                  <a:gd name="connsiteX2578" fmla="*/ 675037 w 7143371"/>
                  <a:gd name="connsiteY2578" fmla="*/ 1924907 h 4684871"/>
                  <a:gd name="connsiteX2579" fmla="*/ 663131 w 7143371"/>
                  <a:gd name="connsiteY2579" fmla="*/ 1918526 h 4684871"/>
                  <a:gd name="connsiteX2580" fmla="*/ 616363 w 7143371"/>
                  <a:gd name="connsiteY2580" fmla="*/ 1919288 h 4684871"/>
                  <a:gd name="connsiteX2581" fmla="*/ 604742 w 7143371"/>
                  <a:gd name="connsiteY2581" fmla="*/ 1917287 h 4684871"/>
                  <a:gd name="connsiteX2582" fmla="*/ 582168 w 7143371"/>
                  <a:gd name="connsiteY2582" fmla="*/ 1895666 h 4684871"/>
                  <a:gd name="connsiteX2583" fmla="*/ 577215 w 7143371"/>
                  <a:gd name="connsiteY2583" fmla="*/ 1882235 h 4684871"/>
                  <a:gd name="connsiteX2584" fmla="*/ 572167 w 7143371"/>
                  <a:gd name="connsiteY2584" fmla="*/ 1874615 h 4684871"/>
                  <a:gd name="connsiteX2585" fmla="*/ 567785 w 7143371"/>
                  <a:gd name="connsiteY2585" fmla="*/ 1866709 h 4684871"/>
                  <a:gd name="connsiteX2586" fmla="*/ 562261 w 7143371"/>
                  <a:gd name="connsiteY2586" fmla="*/ 1860518 h 4684871"/>
                  <a:gd name="connsiteX2587" fmla="*/ 552355 w 7143371"/>
                  <a:gd name="connsiteY2587" fmla="*/ 1856232 h 4684871"/>
                  <a:gd name="connsiteX2588" fmla="*/ 536543 w 7143371"/>
                  <a:gd name="connsiteY2588" fmla="*/ 1854518 h 4684871"/>
                  <a:gd name="connsiteX2589" fmla="*/ 529590 w 7143371"/>
                  <a:gd name="connsiteY2589" fmla="*/ 1850327 h 4684871"/>
                  <a:gd name="connsiteX2590" fmla="*/ 523113 w 7143371"/>
                  <a:gd name="connsiteY2590" fmla="*/ 1844802 h 4684871"/>
                  <a:gd name="connsiteX2591" fmla="*/ 515874 w 7143371"/>
                  <a:gd name="connsiteY2591" fmla="*/ 1836896 h 4684871"/>
                  <a:gd name="connsiteX2592" fmla="*/ 500634 w 7143371"/>
                  <a:gd name="connsiteY2592" fmla="*/ 1836039 h 4684871"/>
                  <a:gd name="connsiteX2593" fmla="*/ 487109 w 7143371"/>
                  <a:gd name="connsiteY2593" fmla="*/ 1834991 h 4684871"/>
                  <a:gd name="connsiteX2594" fmla="*/ 523113 w 7143371"/>
                  <a:gd name="connsiteY2594" fmla="*/ 1724311 h 4684871"/>
                  <a:gd name="connsiteX2595" fmla="*/ 524256 w 7143371"/>
                  <a:gd name="connsiteY2595" fmla="*/ 1714976 h 4684871"/>
                  <a:gd name="connsiteX2596" fmla="*/ 528066 w 7143371"/>
                  <a:gd name="connsiteY2596" fmla="*/ 1711262 h 4684871"/>
                  <a:gd name="connsiteX2597" fmla="*/ 530447 w 7143371"/>
                  <a:gd name="connsiteY2597" fmla="*/ 1703165 h 4684871"/>
                  <a:gd name="connsiteX2598" fmla="*/ 538353 w 7143371"/>
                  <a:gd name="connsiteY2598" fmla="*/ 1695545 h 4684871"/>
                  <a:gd name="connsiteX2599" fmla="*/ 552736 w 7143371"/>
                  <a:gd name="connsiteY2599" fmla="*/ 1685449 h 4684871"/>
                  <a:gd name="connsiteX2600" fmla="*/ 565595 w 7143371"/>
                  <a:gd name="connsiteY2600" fmla="*/ 1677067 h 4684871"/>
                  <a:gd name="connsiteX2601" fmla="*/ 573786 w 7143371"/>
                  <a:gd name="connsiteY2601" fmla="*/ 1663065 h 4684871"/>
                  <a:gd name="connsiteX2602" fmla="*/ 592455 w 7143371"/>
                  <a:gd name="connsiteY2602" fmla="*/ 1623822 h 4684871"/>
                  <a:gd name="connsiteX2603" fmla="*/ 602171 w 7143371"/>
                  <a:gd name="connsiteY2603" fmla="*/ 1605248 h 4684871"/>
                  <a:gd name="connsiteX2604" fmla="*/ 608362 w 7143371"/>
                  <a:gd name="connsiteY2604" fmla="*/ 1589246 h 4684871"/>
                  <a:gd name="connsiteX2605" fmla="*/ 616649 w 7143371"/>
                  <a:gd name="connsiteY2605" fmla="*/ 1575245 h 4684871"/>
                  <a:gd name="connsiteX2606" fmla="*/ 622459 w 7143371"/>
                  <a:gd name="connsiteY2606" fmla="*/ 1566577 h 4684871"/>
                  <a:gd name="connsiteX2607" fmla="*/ 632365 w 7143371"/>
                  <a:gd name="connsiteY2607" fmla="*/ 1550384 h 4684871"/>
                  <a:gd name="connsiteX2608" fmla="*/ 639032 w 7143371"/>
                  <a:gd name="connsiteY2608" fmla="*/ 1530191 h 4684871"/>
                  <a:gd name="connsiteX2609" fmla="*/ 643700 w 7143371"/>
                  <a:gd name="connsiteY2609" fmla="*/ 1520381 h 4684871"/>
                  <a:gd name="connsiteX2610" fmla="*/ 648938 w 7143371"/>
                  <a:gd name="connsiteY2610" fmla="*/ 1511141 h 4684871"/>
                  <a:gd name="connsiteX2611" fmla="*/ 653987 w 7143371"/>
                  <a:gd name="connsiteY2611" fmla="*/ 1503045 h 4684871"/>
                  <a:gd name="connsiteX2612" fmla="*/ 658940 w 7143371"/>
                  <a:gd name="connsiteY2612" fmla="*/ 1496282 h 4684871"/>
                  <a:gd name="connsiteX2613" fmla="*/ 668369 w 7143371"/>
                  <a:gd name="connsiteY2613" fmla="*/ 1498568 h 4684871"/>
                  <a:gd name="connsiteX2614" fmla="*/ 676561 w 7143371"/>
                  <a:gd name="connsiteY2614" fmla="*/ 1507808 h 4684871"/>
                  <a:gd name="connsiteX2615" fmla="*/ 688562 w 7143371"/>
                  <a:gd name="connsiteY2615" fmla="*/ 1514475 h 4684871"/>
                  <a:gd name="connsiteX2616" fmla="*/ 700183 w 7143371"/>
                  <a:gd name="connsiteY2616" fmla="*/ 1514475 h 4684871"/>
                  <a:gd name="connsiteX2617" fmla="*/ 702183 w 7143371"/>
                  <a:gd name="connsiteY2617" fmla="*/ 1506569 h 4684871"/>
                  <a:gd name="connsiteX2618" fmla="*/ 703421 w 7143371"/>
                  <a:gd name="connsiteY2618" fmla="*/ 1498092 h 4684871"/>
                  <a:gd name="connsiteX2619" fmla="*/ 710089 w 7143371"/>
                  <a:gd name="connsiteY2619" fmla="*/ 1496092 h 4684871"/>
                  <a:gd name="connsiteX2620" fmla="*/ 717899 w 7143371"/>
                  <a:gd name="connsiteY2620" fmla="*/ 1499807 h 4684871"/>
                  <a:gd name="connsiteX2621" fmla="*/ 725996 w 7143371"/>
                  <a:gd name="connsiteY2621" fmla="*/ 1493139 h 4684871"/>
                  <a:gd name="connsiteX2622" fmla="*/ 732092 w 7143371"/>
                  <a:gd name="connsiteY2622" fmla="*/ 1483614 h 4684871"/>
                  <a:gd name="connsiteX2623" fmla="*/ 732473 w 7143371"/>
                  <a:gd name="connsiteY2623" fmla="*/ 1474946 h 4684871"/>
                  <a:gd name="connsiteX2624" fmla="*/ 730377 w 7143371"/>
                  <a:gd name="connsiteY2624" fmla="*/ 1464755 h 4684871"/>
                  <a:gd name="connsiteX2625" fmla="*/ 726281 w 7143371"/>
                  <a:gd name="connsiteY2625" fmla="*/ 1457706 h 4684871"/>
                  <a:gd name="connsiteX2626" fmla="*/ 720471 w 7143371"/>
                  <a:gd name="connsiteY2626" fmla="*/ 1453991 h 4684871"/>
                  <a:gd name="connsiteX2627" fmla="*/ 719804 w 7143371"/>
                  <a:gd name="connsiteY2627" fmla="*/ 1445895 h 4684871"/>
                  <a:gd name="connsiteX2628" fmla="*/ 739140 w 7143371"/>
                  <a:gd name="connsiteY2628" fmla="*/ 1405414 h 4684871"/>
                  <a:gd name="connsiteX2629" fmla="*/ 742569 w 7143371"/>
                  <a:gd name="connsiteY2629" fmla="*/ 1397794 h 4684871"/>
                  <a:gd name="connsiteX2630" fmla="*/ 746665 w 7143371"/>
                  <a:gd name="connsiteY2630" fmla="*/ 1391412 h 4684871"/>
                  <a:gd name="connsiteX2631" fmla="*/ 757809 w 7143371"/>
                  <a:gd name="connsiteY2631" fmla="*/ 1365218 h 4684871"/>
                  <a:gd name="connsiteX2632" fmla="*/ 773906 w 7143371"/>
                  <a:gd name="connsiteY2632" fmla="*/ 1337501 h 4684871"/>
                  <a:gd name="connsiteX2633" fmla="*/ 783050 w 7143371"/>
                  <a:gd name="connsiteY2633" fmla="*/ 1327595 h 4684871"/>
                  <a:gd name="connsiteX2634" fmla="*/ 789718 w 7143371"/>
                  <a:gd name="connsiteY2634" fmla="*/ 1315784 h 4684871"/>
                  <a:gd name="connsiteX2635" fmla="*/ 815816 w 7143371"/>
                  <a:gd name="connsiteY2635" fmla="*/ 1322546 h 4684871"/>
                  <a:gd name="connsiteX2636" fmla="*/ 825818 w 7143371"/>
                  <a:gd name="connsiteY2636" fmla="*/ 1335786 h 4684871"/>
                  <a:gd name="connsiteX2637" fmla="*/ 833152 w 7143371"/>
                  <a:gd name="connsiteY2637" fmla="*/ 1334738 h 4684871"/>
                  <a:gd name="connsiteX2638" fmla="*/ 840962 w 7143371"/>
                  <a:gd name="connsiteY2638" fmla="*/ 1330547 h 4684871"/>
                  <a:gd name="connsiteX2639" fmla="*/ 845725 w 7143371"/>
                  <a:gd name="connsiteY2639" fmla="*/ 1337310 h 4684871"/>
                  <a:gd name="connsiteX2640" fmla="*/ 857917 w 7143371"/>
                  <a:gd name="connsiteY2640" fmla="*/ 1339882 h 4684871"/>
                  <a:gd name="connsiteX2641" fmla="*/ 876967 w 7143371"/>
                  <a:gd name="connsiteY2641" fmla="*/ 1331405 h 4684871"/>
                  <a:gd name="connsiteX2642" fmla="*/ 885539 w 7143371"/>
                  <a:gd name="connsiteY2642" fmla="*/ 1315688 h 4684871"/>
                  <a:gd name="connsiteX2643" fmla="*/ 903446 w 7143371"/>
                  <a:gd name="connsiteY2643" fmla="*/ 1319022 h 4684871"/>
                  <a:gd name="connsiteX2644" fmla="*/ 924592 w 7143371"/>
                  <a:gd name="connsiteY2644" fmla="*/ 1316450 h 4684871"/>
                  <a:gd name="connsiteX2645" fmla="*/ 937451 w 7143371"/>
                  <a:gd name="connsiteY2645" fmla="*/ 1305592 h 4684871"/>
                  <a:gd name="connsiteX2646" fmla="*/ 944499 w 7143371"/>
                  <a:gd name="connsiteY2646" fmla="*/ 1303592 h 4684871"/>
                  <a:gd name="connsiteX2647" fmla="*/ 944499 w 7143371"/>
                  <a:gd name="connsiteY2647" fmla="*/ 1303592 h 4684871"/>
                  <a:gd name="connsiteX2648" fmla="*/ 6336602 w 7143371"/>
                  <a:gd name="connsiteY2648" fmla="*/ 1366266 h 4684871"/>
                  <a:gd name="connsiteX2649" fmla="*/ 6327172 w 7143371"/>
                  <a:gd name="connsiteY2649" fmla="*/ 1377506 h 4684871"/>
                  <a:gd name="connsiteX2650" fmla="*/ 6328982 w 7143371"/>
                  <a:gd name="connsiteY2650" fmla="*/ 1382268 h 4684871"/>
                  <a:gd name="connsiteX2651" fmla="*/ 6330982 w 7143371"/>
                  <a:gd name="connsiteY2651" fmla="*/ 1389317 h 4684871"/>
                  <a:gd name="connsiteX2652" fmla="*/ 6350223 w 7143371"/>
                  <a:gd name="connsiteY2652" fmla="*/ 1410176 h 4684871"/>
                  <a:gd name="connsiteX2653" fmla="*/ 6369558 w 7143371"/>
                  <a:gd name="connsiteY2653" fmla="*/ 1428083 h 4684871"/>
                  <a:gd name="connsiteX2654" fmla="*/ 6373558 w 7143371"/>
                  <a:gd name="connsiteY2654" fmla="*/ 1432084 h 4684871"/>
                  <a:gd name="connsiteX2655" fmla="*/ 6387275 w 7143371"/>
                  <a:gd name="connsiteY2655" fmla="*/ 1443323 h 4684871"/>
                  <a:gd name="connsiteX2656" fmla="*/ 6405944 w 7143371"/>
                  <a:gd name="connsiteY2656" fmla="*/ 1459325 h 4684871"/>
                  <a:gd name="connsiteX2657" fmla="*/ 6418802 w 7143371"/>
                  <a:gd name="connsiteY2657" fmla="*/ 1469993 h 4684871"/>
                  <a:gd name="connsiteX2658" fmla="*/ 6425565 w 7143371"/>
                  <a:gd name="connsiteY2658" fmla="*/ 1475804 h 4684871"/>
                  <a:gd name="connsiteX2659" fmla="*/ 6436900 w 7143371"/>
                  <a:gd name="connsiteY2659" fmla="*/ 1485138 h 4684871"/>
                  <a:gd name="connsiteX2660" fmla="*/ 6453664 w 7143371"/>
                  <a:gd name="connsiteY2660" fmla="*/ 1499426 h 4684871"/>
                  <a:gd name="connsiteX2661" fmla="*/ 6490240 w 7143371"/>
                  <a:gd name="connsiteY2661" fmla="*/ 1530382 h 4684871"/>
                  <a:gd name="connsiteX2662" fmla="*/ 6498432 w 7143371"/>
                  <a:gd name="connsiteY2662" fmla="*/ 1536573 h 4684871"/>
                  <a:gd name="connsiteX2663" fmla="*/ 6510719 w 7143371"/>
                  <a:gd name="connsiteY2663" fmla="*/ 1522571 h 4684871"/>
                  <a:gd name="connsiteX2664" fmla="*/ 6503384 w 7143371"/>
                  <a:gd name="connsiteY2664" fmla="*/ 1511427 h 4684871"/>
                  <a:gd name="connsiteX2665" fmla="*/ 6449568 w 7143371"/>
                  <a:gd name="connsiteY2665" fmla="*/ 1467041 h 4684871"/>
                  <a:gd name="connsiteX2666" fmla="*/ 6431947 w 7143371"/>
                  <a:gd name="connsiteY2666" fmla="*/ 1450277 h 4684871"/>
                  <a:gd name="connsiteX2667" fmla="*/ 6413278 w 7143371"/>
                  <a:gd name="connsiteY2667" fmla="*/ 1430846 h 4684871"/>
                  <a:gd name="connsiteX2668" fmla="*/ 6380512 w 7143371"/>
                  <a:gd name="connsiteY2668" fmla="*/ 1409509 h 4684871"/>
                  <a:gd name="connsiteX2669" fmla="*/ 6375845 w 7143371"/>
                  <a:gd name="connsiteY2669" fmla="*/ 1406747 h 4684871"/>
                  <a:gd name="connsiteX2670" fmla="*/ 6366796 w 7143371"/>
                  <a:gd name="connsiteY2670" fmla="*/ 1399508 h 4684871"/>
                  <a:gd name="connsiteX2671" fmla="*/ 6348413 w 7143371"/>
                  <a:gd name="connsiteY2671" fmla="*/ 1385221 h 4684871"/>
                  <a:gd name="connsiteX2672" fmla="*/ 6342793 w 7143371"/>
                  <a:gd name="connsiteY2672" fmla="*/ 1375601 h 4684871"/>
                  <a:gd name="connsiteX2673" fmla="*/ 6336697 w 7143371"/>
                  <a:gd name="connsiteY2673" fmla="*/ 1366076 h 4684871"/>
                  <a:gd name="connsiteX2674" fmla="*/ 2778919 w 7143371"/>
                  <a:gd name="connsiteY2674" fmla="*/ 1381125 h 4684871"/>
                  <a:gd name="connsiteX2675" fmla="*/ 2781871 w 7143371"/>
                  <a:gd name="connsiteY2675" fmla="*/ 1381601 h 4684871"/>
                  <a:gd name="connsiteX2676" fmla="*/ 2788634 w 7143371"/>
                  <a:gd name="connsiteY2676" fmla="*/ 1392555 h 4684871"/>
                  <a:gd name="connsiteX2677" fmla="*/ 2791016 w 7143371"/>
                  <a:gd name="connsiteY2677" fmla="*/ 1409414 h 4684871"/>
                  <a:gd name="connsiteX2678" fmla="*/ 2784348 w 7143371"/>
                  <a:gd name="connsiteY2678" fmla="*/ 1429322 h 4684871"/>
                  <a:gd name="connsiteX2679" fmla="*/ 2771680 w 7143371"/>
                  <a:gd name="connsiteY2679" fmla="*/ 1468088 h 4684871"/>
                  <a:gd name="connsiteX2680" fmla="*/ 2796064 w 7143371"/>
                  <a:gd name="connsiteY2680" fmla="*/ 1450372 h 4684871"/>
                  <a:gd name="connsiteX2681" fmla="*/ 2797778 w 7143371"/>
                  <a:gd name="connsiteY2681" fmla="*/ 1465612 h 4684871"/>
                  <a:gd name="connsiteX2682" fmla="*/ 2809399 w 7143371"/>
                  <a:gd name="connsiteY2682" fmla="*/ 1465326 h 4684871"/>
                  <a:gd name="connsiteX2683" fmla="*/ 2822067 w 7143371"/>
                  <a:gd name="connsiteY2683" fmla="*/ 1457801 h 4684871"/>
                  <a:gd name="connsiteX2684" fmla="*/ 2824163 w 7143371"/>
                  <a:gd name="connsiteY2684" fmla="*/ 1441895 h 4684871"/>
                  <a:gd name="connsiteX2685" fmla="*/ 2835021 w 7143371"/>
                  <a:gd name="connsiteY2685" fmla="*/ 1461326 h 4684871"/>
                  <a:gd name="connsiteX2686" fmla="*/ 2839784 w 7143371"/>
                  <a:gd name="connsiteY2686" fmla="*/ 1493330 h 4684871"/>
                  <a:gd name="connsiteX2687" fmla="*/ 2845118 w 7143371"/>
                  <a:gd name="connsiteY2687" fmla="*/ 1475708 h 4684871"/>
                  <a:gd name="connsiteX2688" fmla="*/ 2861120 w 7143371"/>
                  <a:gd name="connsiteY2688" fmla="*/ 1475232 h 4684871"/>
                  <a:gd name="connsiteX2689" fmla="*/ 2857691 w 7143371"/>
                  <a:gd name="connsiteY2689" fmla="*/ 1507808 h 4684871"/>
                  <a:gd name="connsiteX2690" fmla="*/ 2887313 w 7143371"/>
                  <a:gd name="connsiteY2690" fmla="*/ 1503521 h 4684871"/>
                  <a:gd name="connsiteX2691" fmla="*/ 2895219 w 7143371"/>
                  <a:gd name="connsiteY2691" fmla="*/ 1516952 h 4684871"/>
                  <a:gd name="connsiteX2692" fmla="*/ 2909221 w 7143371"/>
                  <a:gd name="connsiteY2692" fmla="*/ 1507903 h 4684871"/>
                  <a:gd name="connsiteX2693" fmla="*/ 2923604 w 7143371"/>
                  <a:gd name="connsiteY2693" fmla="*/ 1490472 h 4684871"/>
                  <a:gd name="connsiteX2694" fmla="*/ 2927318 w 7143371"/>
                  <a:gd name="connsiteY2694" fmla="*/ 1507046 h 4684871"/>
                  <a:gd name="connsiteX2695" fmla="*/ 2925318 w 7143371"/>
                  <a:gd name="connsiteY2695" fmla="*/ 1524762 h 4684871"/>
                  <a:gd name="connsiteX2696" fmla="*/ 2935605 w 7143371"/>
                  <a:gd name="connsiteY2696" fmla="*/ 1538478 h 4684871"/>
                  <a:gd name="connsiteX2697" fmla="*/ 2949131 w 7143371"/>
                  <a:gd name="connsiteY2697" fmla="*/ 1530953 h 4684871"/>
                  <a:gd name="connsiteX2698" fmla="*/ 2963513 w 7143371"/>
                  <a:gd name="connsiteY2698" fmla="*/ 1519809 h 4684871"/>
                  <a:gd name="connsiteX2699" fmla="*/ 2977896 w 7143371"/>
                  <a:gd name="connsiteY2699" fmla="*/ 1507998 h 4684871"/>
                  <a:gd name="connsiteX2700" fmla="*/ 2983802 w 7143371"/>
                  <a:gd name="connsiteY2700" fmla="*/ 1490948 h 4684871"/>
                  <a:gd name="connsiteX2701" fmla="*/ 2965990 w 7143371"/>
                  <a:gd name="connsiteY2701" fmla="*/ 1484852 h 4684871"/>
                  <a:gd name="connsiteX2702" fmla="*/ 2956275 w 7143371"/>
                  <a:gd name="connsiteY2702" fmla="*/ 1481423 h 4684871"/>
                  <a:gd name="connsiteX2703" fmla="*/ 2961608 w 7143371"/>
                  <a:gd name="connsiteY2703" fmla="*/ 1471232 h 4684871"/>
                  <a:gd name="connsiteX2704" fmla="*/ 2971895 w 7143371"/>
                  <a:gd name="connsiteY2704" fmla="*/ 1447609 h 4684871"/>
                  <a:gd name="connsiteX2705" fmla="*/ 2981230 w 7143371"/>
                  <a:gd name="connsiteY2705" fmla="*/ 1453515 h 4684871"/>
                  <a:gd name="connsiteX2706" fmla="*/ 2990374 w 7143371"/>
                  <a:gd name="connsiteY2706" fmla="*/ 1443323 h 4684871"/>
                  <a:gd name="connsiteX2707" fmla="*/ 2995613 w 7143371"/>
                  <a:gd name="connsiteY2707" fmla="*/ 1432179 h 4684871"/>
                  <a:gd name="connsiteX2708" fmla="*/ 3004090 w 7143371"/>
                  <a:gd name="connsiteY2708" fmla="*/ 1423797 h 4684871"/>
                  <a:gd name="connsiteX2709" fmla="*/ 3009900 w 7143371"/>
                  <a:gd name="connsiteY2709" fmla="*/ 1422940 h 4684871"/>
                  <a:gd name="connsiteX2710" fmla="*/ 3025331 w 7143371"/>
                  <a:gd name="connsiteY2710" fmla="*/ 1421225 h 4684871"/>
                  <a:gd name="connsiteX2711" fmla="*/ 3033808 w 7143371"/>
                  <a:gd name="connsiteY2711" fmla="*/ 1426369 h 4684871"/>
                  <a:gd name="connsiteX2712" fmla="*/ 3033808 w 7143371"/>
                  <a:gd name="connsiteY2712" fmla="*/ 1443228 h 4684871"/>
                  <a:gd name="connsiteX2713" fmla="*/ 3036380 w 7143371"/>
                  <a:gd name="connsiteY2713" fmla="*/ 1451038 h 4684871"/>
                  <a:gd name="connsiteX2714" fmla="*/ 3045714 w 7143371"/>
                  <a:gd name="connsiteY2714" fmla="*/ 1456087 h 4684871"/>
                  <a:gd name="connsiteX2715" fmla="*/ 3051620 w 7143371"/>
                  <a:gd name="connsiteY2715" fmla="*/ 1460373 h 4684871"/>
                  <a:gd name="connsiteX2716" fmla="*/ 3055811 w 7143371"/>
                  <a:gd name="connsiteY2716" fmla="*/ 1473803 h 4684871"/>
                  <a:gd name="connsiteX2717" fmla="*/ 3058382 w 7143371"/>
                  <a:gd name="connsiteY2717" fmla="*/ 1480757 h 4684871"/>
                  <a:gd name="connsiteX2718" fmla="*/ 3054858 w 7143371"/>
                  <a:gd name="connsiteY2718" fmla="*/ 1489234 h 4684871"/>
                  <a:gd name="connsiteX2719" fmla="*/ 3046571 w 7143371"/>
                  <a:gd name="connsiteY2719" fmla="*/ 1494282 h 4684871"/>
                  <a:gd name="connsiteX2720" fmla="*/ 3039904 w 7143371"/>
                  <a:gd name="connsiteY2720" fmla="*/ 1502759 h 4684871"/>
                  <a:gd name="connsiteX2721" fmla="*/ 3037332 w 7143371"/>
                  <a:gd name="connsiteY2721" fmla="*/ 1515428 h 4684871"/>
                  <a:gd name="connsiteX2722" fmla="*/ 3037999 w 7143371"/>
                  <a:gd name="connsiteY2722" fmla="*/ 1528286 h 4684871"/>
                  <a:gd name="connsiteX2723" fmla="*/ 3052286 w 7143371"/>
                  <a:gd name="connsiteY2723" fmla="*/ 1540288 h 4684871"/>
                  <a:gd name="connsiteX2724" fmla="*/ 3063335 w 7143371"/>
                  <a:gd name="connsiteY2724" fmla="*/ 1547622 h 4684871"/>
                  <a:gd name="connsiteX2725" fmla="*/ 3052286 w 7143371"/>
                  <a:gd name="connsiteY2725" fmla="*/ 1558862 h 4684871"/>
                  <a:gd name="connsiteX2726" fmla="*/ 3049905 w 7143371"/>
                  <a:gd name="connsiteY2726" fmla="*/ 1572387 h 4684871"/>
                  <a:gd name="connsiteX2727" fmla="*/ 3049905 w 7143371"/>
                  <a:gd name="connsiteY2727" fmla="*/ 1581626 h 4684871"/>
                  <a:gd name="connsiteX2728" fmla="*/ 3035522 w 7143371"/>
                  <a:gd name="connsiteY2728" fmla="*/ 1584388 h 4684871"/>
                  <a:gd name="connsiteX2729" fmla="*/ 3026188 w 7143371"/>
                  <a:gd name="connsiteY2729" fmla="*/ 1571720 h 4684871"/>
                  <a:gd name="connsiteX2730" fmla="*/ 3012472 w 7143371"/>
                  <a:gd name="connsiteY2730" fmla="*/ 1567244 h 4684871"/>
                  <a:gd name="connsiteX2731" fmla="*/ 3005804 w 7143371"/>
                  <a:gd name="connsiteY2731" fmla="*/ 1574292 h 4684871"/>
                  <a:gd name="connsiteX2732" fmla="*/ 3014282 w 7143371"/>
                  <a:gd name="connsiteY2732" fmla="*/ 1585246 h 4684871"/>
                  <a:gd name="connsiteX2733" fmla="*/ 3005423 w 7143371"/>
                  <a:gd name="connsiteY2733" fmla="*/ 1598105 h 4684871"/>
                  <a:gd name="connsiteX2734" fmla="*/ 2990755 w 7143371"/>
                  <a:gd name="connsiteY2734" fmla="*/ 1597057 h 4684871"/>
                  <a:gd name="connsiteX2735" fmla="*/ 2983802 w 7143371"/>
                  <a:gd name="connsiteY2735" fmla="*/ 1590294 h 4684871"/>
                  <a:gd name="connsiteX2736" fmla="*/ 2987897 w 7143371"/>
                  <a:gd name="connsiteY2736" fmla="*/ 1571816 h 4684871"/>
                  <a:gd name="connsiteX2737" fmla="*/ 2982087 w 7143371"/>
                  <a:gd name="connsiteY2737" fmla="*/ 1575721 h 4684871"/>
                  <a:gd name="connsiteX2738" fmla="*/ 2961894 w 7143371"/>
                  <a:gd name="connsiteY2738" fmla="*/ 1566672 h 4684871"/>
                  <a:gd name="connsiteX2739" fmla="*/ 2960370 w 7143371"/>
                  <a:gd name="connsiteY2739" fmla="*/ 1575149 h 4684871"/>
                  <a:gd name="connsiteX2740" fmla="*/ 2954179 w 7143371"/>
                  <a:gd name="connsiteY2740" fmla="*/ 1579436 h 4684871"/>
                  <a:gd name="connsiteX2741" fmla="*/ 2965037 w 7143371"/>
                  <a:gd name="connsiteY2741" fmla="*/ 1583627 h 4684871"/>
                  <a:gd name="connsiteX2742" fmla="*/ 2966276 w 7143371"/>
                  <a:gd name="connsiteY2742" fmla="*/ 1596866 h 4684871"/>
                  <a:gd name="connsiteX2743" fmla="*/ 2975325 w 7143371"/>
                  <a:gd name="connsiteY2743" fmla="*/ 1605629 h 4684871"/>
                  <a:gd name="connsiteX2744" fmla="*/ 2971800 w 7143371"/>
                  <a:gd name="connsiteY2744" fmla="*/ 1615440 h 4684871"/>
                  <a:gd name="connsiteX2745" fmla="*/ 2967800 w 7143371"/>
                  <a:gd name="connsiteY2745" fmla="*/ 1625822 h 4684871"/>
                  <a:gd name="connsiteX2746" fmla="*/ 2960275 w 7143371"/>
                  <a:gd name="connsiteY2746" fmla="*/ 1620488 h 4684871"/>
                  <a:gd name="connsiteX2747" fmla="*/ 2950655 w 7143371"/>
                  <a:gd name="connsiteY2747" fmla="*/ 1623251 h 4684871"/>
                  <a:gd name="connsiteX2748" fmla="*/ 2941320 w 7143371"/>
                  <a:gd name="connsiteY2748" fmla="*/ 1607249 h 4684871"/>
                  <a:gd name="connsiteX2749" fmla="*/ 2932843 w 7143371"/>
                  <a:gd name="connsiteY2749" fmla="*/ 1619917 h 4684871"/>
                  <a:gd name="connsiteX2750" fmla="*/ 2931033 w 7143371"/>
                  <a:gd name="connsiteY2750" fmla="*/ 1637824 h 4684871"/>
                  <a:gd name="connsiteX2751" fmla="*/ 2925413 w 7143371"/>
                  <a:gd name="connsiteY2751" fmla="*/ 1655826 h 4684871"/>
                  <a:gd name="connsiteX2752" fmla="*/ 2914079 w 7143371"/>
                  <a:gd name="connsiteY2752" fmla="*/ 1644015 h 4684871"/>
                  <a:gd name="connsiteX2753" fmla="*/ 2889695 w 7143371"/>
                  <a:gd name="connsiteY2753" fmla="*/ 1660017 h 4684871"/>
                  <a:gd name="connsiteX2754" fmla="*/ 2902553 w 7143371"/>
                  <a:gd name="connsiteY2754" fmla="*/ 1630013 h 4684871"/>
                  <a:gd name="connsiteX2755" fmla="*/ 2908078 w 7143371"/>
                  <a:gd name="connsiteY2755" fmla="*/ 1615154 h 4684871"/>
                  <a:gd name="connsiteX2756" fmla="*/ 2909316 w 7143371"/>
                  <a:gd name="connsiteY2756" fmla="*/ 1608392 h 4684871"/>
                  <a:gd name="connsiteX2757" fmla="*/ 2915126 w 7143371"/>
                  <a:gd name="connsiteY2757" fmla="*/ 1601057 h 4684871"/>
                  <a:gd name="connsiteX2758" fmla="*/ 2918555 w 7143371"/>
                  <a:gd name="connsiteY2758" fmla="*/ 1574483 h 4684871"/>
                  <a:gd name="connsiteX2759" fmla="*/ 2892171 w 7143371"/>
                  <a:gd name="connsiteY2759" fmla="*/ 1598581 h 4684871"/>
                  <a:gd name="connsiteX2760" fmla="*/ 2898077 w 7143371"/>
                  <a:gd name="connsiteY2760" fmla="*/ 1617345 h 4684871"/>
                  <a:gd name="connsiteX2761" fmla="*/ 2877026 w 7143371"/>
                  <a:gd name="connsiteY2761" fmla="*/ 1608963 h 4684871"/>
                  <a:gd name="connsiteX2762" fmla="*/ 2865882 w 7143371"/>
                  <a:gd name="connsiteY2762" fmla="*/ 1628013 h 4684871"/>
                  <a:gd name="connsiteX2763" fmla="*/ 2878741 w 7143371"/>
                  <a:gd name="connsiteY2763" fmla="*/ 1649540 h 4684871"/>
                  <a:gd name="connsiteX2764" fmla="*/ 2865882 w 7143371"/>
                  <a:gd name="connsiteY2764" fmla="*/ 1650683 h 4684871"/>
                  <a:gd name="connsiteX2765" fmla="*/ 2859500 w 7143371"/>
                  <a:gd name="connsiteY2765" fmla="*/ 1642872 h 4684871"/>
                  <a:gd name="connsiteX2766" fmla="*/ 2848356 w 7143371"/>
                  <a:gd name="connsiteY2766" fmla="*/ 1640396 h 4684871"/>
                  <a:gd name="connsiteX2767" fmla="*/ 2850071 w 7143371"/>
                  <a:gd name="connsiteY2767" fmla="*/ 1651254 h 4684871"/>
                  <a:gd name="connsiteX2768" fmla="*/ 2841879 w 7143371"/>
                  <a:gd name="connsiteY2768" fmla="*/ 1667447 h 4684871"/>
                  <a:gd name="connsiteX2769" fmla="*/ 2825592 w 7143371"/>
                  <a:gd name="connsiteY2769" fmla="*/ 1654207 h 4684871"/>
                  <a:gd name="connsiteX2770" fmla="*/ 2823210 w 7143371"/>
                  <a:gd name="connsiteY2770" fmla="*/ 1675829 h 4684871"/>
                  <a:gd name="connsiteX2771" fmla="*/ 2812066 w 7143371"/>
                  <a:gd name="connsiteY2771" fmla="*/ 1692307 h 4684871"/>
                  <a:gd name="connsiteX2772" fmla="*/ 2798350 w 7143371"/>
                  <a:gd name="connsiteY2772" fmla="*/ 1677924 h 4684871"/>
                  <a:gd name="connsiteX2773" fmla="*/ 2794159 w 7143371"/>
                  <a:gd name="connsiteY2773" fmla="*/ 1688021 h 4684871"/>
                  <a:gd name="connsiteX2774" fmla="*/ 2795873 w 7143371"/>
                  <a:gd name="connsiteY2774" fmla="*/ 1715167 h 4684871"/>
                  <a:gd name="connsiteX2775" fmla="*/ 2774537 w 7143371"/>
                  <a:gd name="connsiteY2775" fmla="*/ 1698974 h 4684871"/>
                  <a:gd name="connsiteX2776" fmla="*/ 2766917 w 7143371"/>
                  <a:gd name="connsiteY2776" fmla="*/ 1714214 h 4684871"/>
                  <a:gd name="connsiteX2777" fmla="*/ 2759393 w 7143371"/>
                  <a:gd name="connsiteY2777" fmla="*/ 1710214 h 4684871"/>
                  <a:gd name="connsiteX2778" fmla="*/ 2752058 w 7143371"/>
                  <a:gd name="connsiteY2778" fmla="*/ 1708499 h 4684871"/>
                  <a:gd name="connsiteX2779" fmla="*/ 2744819 w 7143371"/>
                  <a:gd name="connsiteY2779" fmla="*/ 1711071 h 4684871"/>
                  <a:gd name="connsiteX2780" fmla="*/ 2739771 w 7143371"/>
                  <a:gd name="connsiteY2780" fmla="*/ 1704118 h 4684871"/>
                  <a:gd name="connsiteX2781" fmla="*/ 2720435 w 7143371"/>
                  <a:gd name="connsiteY2781" fmla="*/ 1699641 h 4684871"/>
                  <a:gd name="connsiteX2782" fmla="*/ 2705195 w 7143371"/>
                  <a:gd name="connsiteY2782" fmla="*/ 1707547 h 4684871"/>
                  <a:gd name="connsiteX2783" fmla="*/ 2696718 w 7143371"/>
                  <a:gd name="connsiteY2783" fmla="*/ 1694307 h 4684871"/>
                  <a:gd name="connsiteX2784" fmla="*/ 2730627 w 7143371"/>
                  <a:gd name="connsiteY2784" fmla="*/ 1675733 h 4684871"/>
                  <a:gd name="connsiteX2785" fmla="*/ 2757869 w 7143371"/>
                  <a:gd name="connsiteY2785" fmla="*/ 1669352 h 4684871"/>
                  <a:gd name="connsiteX2786" fmla="*/ 2771966 w 7143371"/>
                  <a:gd name="connsiteY2786" fmla="*/ 1660112 h 4684871"/>
                  <a:gd name="connsiteX2787" fmla="*/ 2756154 w 7143371"/>
                  <a:gd name="connsiteY2787" fmla="*/ 1660874 h 4684871"/>
                  <a:gd name="connsiteX2788" fmla="*/ 2761964 w 7143371"/>
                  <a:gd name="connsiteY2788" fmla="*/ 1644110 h 4684871"/>
                  <a:gd name="connsiteX2789" fmla="*/ 2772823 w 7143371"/>
                  <a:gd name="connsiteY2789" fmla="*/ 1642967 h 4684871"/>
                  <a:gd name="connsiteX2790" fmla="*/ 2780443 w 7143371"/>
                  <a:gd name="connsiteY2790" fmla="*/ 1637824 h 4684871"/>
                  <a:gd name="connsiteX2791" fmla="*/ 2765298 w 7143371"/>
                  <a:gd name="connsiteY2791" fmla="*/ 1628775 h 4684871"/>
                  <a:gd name="connsiteX2792" fmla="*/ 2754440 w 7143371"/>
                  <a:gd name="connsiteY2792" fmla="*/ 1615059 h 4684871"/>
                  <a:gd name="connsiteX2793" fmla="*/ 2764155 w 7143371"/>
                  <a:gd name="connsiteY2793" fmla="*/ 1600676 h 4684871"/>
                  <a:gd name="connsiteX2794" fmla="*/ 2777014 w 7143371"/>
                  <a:gd name="connsiteY2794" fmla="*/ 1606582 h 4684871"/>
                  <a:gd name="connsiteX2795" fmla="*/ 2803588 w 7143371"/>
                  <a:gd name="connsiteY2795" fmla="*/ 1628489 h 4684871"/>
                  <a:gd name="connsiteX2796" fmla="*/ 2818733 w 7143371"/>
                  <a:gd name="connsiteY2796" fmla="*/ 1620107 h 4684871"/>
                  <a:gd name="connsiteX2797" fmla="*/ 2798826 w 7143371"/>
                  <a:gd name="connsiteY2797" fmla="*/ 1598009 h 4684871"/>
                  <a:gd name="connsiteX2798" fmla="*/ 2836545 w 7143371"/>
                  <a:gd name="connsiteY2798" fmla="*/ 1603153 h 4684871"/>
                  <a:gd name="connsiteX2799" fmla="*/ 2849118 w 7143371"/>
                  <a:gd name="connsiteY2799" fmla="*/ 1591723 h 4684871"/>
                  <a:gd name="connsiteX2800" fmla="*/ 2861691 w 7143371"/>
                  <a:gd name="connsiteY2800" fmla="*/ 1571244 h 4684871"/>
                  <a:gd name="connsiteX2801" fmla="*/ 2859596 w 7143371"/>
                  <a:gd name="connsiteY2801" fmla="*/ 1553528 h 4684871"/>
                  <a:gd name="connsiteX2802" fmla="*/ 2853214 w 7143371"/>
                  <a:gd name="connsiteY2802" fmla="*/ 1548765 h 4684871"/>
                  <a:gd name="connsiteX2803" fmla="*/ 2845022 w 7143371"/>
                  <a:gd name="connsiteY2803" fmla="*/ 1552194 h 4684871"/>
                  <a:gd name="connsiteX2804" fmla="*/ 2826925 w 7143371"/>
                  <a:gd name="connsiteY2804" fmla="*/ 1556195 h 4684871"/>
                  <a:gd name="connsiteX2805" fmla="*/ 2818067 w 7143371"/>
                  <a:gd name="connsiteY2805" fmla="*/ 1570863 h 4684871"/>
                  <a:gd name="connsiteX2806" fmla="*/ 2807494 w 7143371"/>
                  <a:gd name="connsiteY2806" fmla="*/ 1567434 h 4684871"/>
                  <a:gd name="connsiteX2807" fmla="*/ 2792349 w 7143371"/>
                  <a:gd name="connsiteY2807" fmla="*/ 1560671 h 4684871"/>
                  <a:gd name="connsiteX2808" fmla="*/ 2802636 w 7143371"/>
                  <a:gd name="connsiteY2808" fmla="*/ 1534859 h 4684871"/>
                  <a:gd name="connsiteX2809" fmla="*/ 2786348 w 7143371"/>
                  <a:gd name="connsiteY2809" fmla="*/ 1531525 h 4684871"/>
                  <a:gd name="connsiteX2810" fmla="*/ 2776347 w 7143371"/>
                  <a:gd name="connsiteY2810" fmla="*/ 1541621 h 4684871"/>
                  <a:gd name="connsiteX2811" fmla="*/ 2753487 w 7143371"/>
                  <a:gd name="connsiteY2811" fmla="*/ 1525619 h 4684871"/>
                  <a:gd name="connsiteX2812" fmla="*/ 2739962 w 7143371"/>
                  <a:gd name="connsiteY2812" fmla="*/ 1549432 h 4684871"/>
                  <a:gd name="connsiteX2813" fmla="*/ 2733008 w 7143371"/>
                  <a:gd name="connsiteY2813" fmla="*/ 1561433 h 4684871"/>
                  <a:gd name="connsiteX2814" fmla="*/ 2733961 w 7143371"/>
                  <a:gd name="connsiteY2814" fmla="*/ 1577435 h 4684871"/>
                  <a:gd name="connsiteX2815" fmla="*/ 2715292 w 7143371"/>
                  <a:gd name="connsiteY2815" fmla="*/ 1591818 h 4684871"/>
                  <a:gd name="connsiteX2816" fmla="*/ 2726912 w 7143371"/>
                  <a:gd name="connsiteY2816" fmla="*/ 1614773 h 4684871"/>
                  <a:gd name="connsiteX2817" fmla="*/ 2715292 w 7143371"/>
                  <a:gd name="connsiteY2817" fmla="*/ 1614011 h 4684871"/>
                  <a:gd name="connsiteX2818" fmla="*/ 2707767 w 7143371"/>
                  <a:gd name="connsiteY2818" fmla="*/ 1620965 h 4684871"/>
                  <a:gd name="connsiteX2819" fmla="*/ 2698623 w 7143371"/>
                  <a:gd name="connsiteY2819" fmla="*/ 1603629 h 4684871"/>
                  <a:gd name="connsiteX2820" fmla="*/ 2665286 w 7143371"/>
                  <a:gd name="connsiteY2820" fmla="*/ 1647920 h 4684871"/>
                  <a:gd name="connsiteX2821" fmla="*/ 2655094 w 7143371"/>
                  <a:gd name="connsiteY2821" fmla="*/ 1602677 h 4684871"/>
                  <a:gd name="connsiteX2822" fmla="*/ 2634615 w 7143371"/>
                  <a:gd name="connsiteY2822" fmla="*/ 1609630 h 4684871"/>
                  <a:gd name="connsiteX2823" fmla="*/ 2626424 w 7143371"/>
                  <a:gd name="connsiteY2823" fmla="*/ 1630109 h 4684871"/>
                  <a:gd name="connsiteX2824" fmla="*/ 2615089 w 7143371"/>
                  <a:gd name="connsiteY2824" fmla="*/ 1619250 h 4684871"/>
                  <a:gd name="connsiteX2825" fmla="*/ 2606231 w 7143371"/>
                  <a:gd name="connsiteY2825" fmla="*/ 1602391 h 4684871"/>
                  <a:gd name="connsiteX2826" fmla="*/ 2619661 w 7143371"/>
                  <a:gd name="connsiteY2826" fmla="*/ 1592866 h 4684871"/>
                  <a:gd name="connsiteX2827" fmla="*/ 2610517 w 7143371"/>
                  <a:gd name="connsiteY2827" fmla="*/ 1578293 h 4684871"/>
                  <a:gd name="connsiteX2828" fmla="*/ 2624042 w 7143371"/>
                  <a:gd name="connsiteY2828" fmla="*/ 1571244 h 4684871"/>
                  <a:gd name="connsiteX2829" fmla="*/ 2638330 w 7143371"/>
                  <a:gd name="connsiteY2829" fmla="*/ 1583531 h 4684871"/>
                  <a:gd name="connsiteX2830" fmla="*/ 2657666 w 7143371"/>
                  <a:gd name="connsiteY2830" fmla="*/ 1576864 h 4684871"/>
                  <a:gd name="connsiteX2831" fmla="*/ 2685669 w 7143371"/>
                  <a:gd name="connsiteY2831" fmla="*/ 1570673 h 4684871"/>
                  <a:gd name="connsiteX2832" fmla="*/ 2700052 w 7143371"/>
                  <a:gd name="connsiteY2832" fmla="*/ 1560481 h 4684871"/>
                  <a:gd name="connsiteX2833" fmla="*/ 2708338 w 7143371"/>
                  <a:gd name="connsiteY2833" fmla="*/ 1543431 h 4684871"/>
                  <a:gd name="connsiteX2834" fmla="*/ 2709482 w 7143371"/>
                  <a:gd name="connsiteY2834" fmla="*/ 1522381 h 4684871"/>
                  <a:gd name="connsiteX2835" fmla="*/ 2694051 w 7143371"/>
                  <a:gd name="connsiteY2835" fmla="*/ 1513046 h 4684871"/>
                  <a:gd name="connsiteX2836" fmla="*/ 2675287 w 7143371"/>
                  <a:gd name="connsiteY2836" fmla="*/ 1511141 h 4684871"/>
                  <a:gd name="connsiteX2837" fmla="*/ 2658237 w 7143371"/>
                  <a:gd name="connsiteY2837" fmla="*/ 1518666 h 4684871"/>
                  <a:gd name="connsiteX2838" fmla="*/ 2650998 w 7143371"/>
                  <a:gd name="connsiteY2838" fmla="*/ 1497616 h 4684871"/>
                  <a:gd name="connsiteX2839" fmla="*/ 2656904 w 7143371"/>
                  <a:gd name="connsiteY2839" fmla="*/ 1478185 h 4684871"/>
                  <a:gd name="connsiteX2840" fmla="*/ 2671286 w 7143371"/>
                  <a:gd name="connsiteY2840" fmla="*/ 1469803 h 4684871"/>
                  <a:gd name="connsiteX2841" fmla="*/ 2699957 w 7143371"/>
                  <a:gd name="connsiteY2841" fmla="*/ 1461897 h 4684871"/>
                  <a:gd name="connsiteX2842" fmla="*/ 2711958 w 7143371"/>
                  <a:gd name="connsiteY2842" fmla="*/ 1477328 h 4684871"/>
                  <a:gd name="connsiteX2843" fmla="*/ 2732056 w 7143371"/>
                  <a:gd name="connsiteY2843" fmla="*/ 1479804 h 4684871"/>
                  <a:gd name="connsiteX2844" fmla="*/ 2721197 w 7143371"/>
                  <a:gd name="connsiteY2844" fmla="*/ 1450277 h 4684871"/>
                  <a:gd name="connsiteX2845" fmla="*/ 2730532 w 7143371"/>
                  <a:gd name="connsiteY2845" fmla="*/ 1448372 h 4684871"/>
                  <a:gd name="connsiteX2846" fmla="*/ 2739867 w 7143371"/>
                  <a:gd name="connsiteY2846" fmla="*/ 1440752 h 4684871"/>
                  <a:gd name="connsiteX2847" fmla="*/ 2763584 w 7143371"/>
                  <a:gd name="connsiteY2847" fmla="*/ 1432274 h 4684871"/>
                  <a:gd name="connsiteX2848" fmla="*/ 2761298 w 7143371"/>
                  <a:gd name="connsiteY2848" fmla="*/ 1416082 h 4684871"/>
                  <a:gd name="connsiteX2849" fmla="*/ 2755202 w 7143371"/>
                  <a:gd name="connsiteY2849" fmla="*/ 1411034 h 4684871"/>
                  <a:gd name="connsiteX2850" fmla="*/ 2755202 w 7143371"/>
                  <a:gd name="connsiteY2850" fmla="*/ 1401985 h 4684871"/>
                  <a:gd name="connsiteX2851" fmla="*/ 2776252 w 7143371"/>
                  <a:gd name="connsiteY2851" fmla="*/ 1390745 h 4684871"/>
                  <a:gd name="connsiteX2852" fmla="*/ 2778538 w 7143371"/>
                  <a:gd name="connsiteY2852" fmla="*/ 1381125 h 4684871"/>
                  <a:gd name="connsiteX2853" fmla="*/ 2778538 w 7143371"/>
                  <a:gd name="connsiteY2853" fmla="*/ 1381125 h 4684871"/>
                  <a:gd name="connsiteX2854" fmla="*/ 3240691 w 7143371"/>
                  <a:gd name="connsiteY2854" fmla="*/ 1432274 h 4684871"/>
                  <a:gd name="connsiteX2855" fmla="*/ 3241548 w 7143371"/>
                  <a:gd name="connsiteY2855" fmla="*/ 1437418 h 4684871"/>
                  <a:gd name="connsiteX2856" fmla="*/ 3238119 w 7143371"/>
                  <a:gd name="connsiteY2856" fmla="*/ 1443323 h 4684871"/>
                  <a:gd name="connsiteX2857" fmla="*/ 3239834 w 7143371"/>
                  <a:gd name="connsiteY2857" fmla="*/ 1450277 h 4684871"/>
                  <a:gd name="connsiteX2858" fmla="*/ 3244025 w 7143371"/>
                  <a:gd name="connsiteY2858" fmla="*/ 1452182 h 4684871"/>
                  <a:gd name="connsiteX2859" fmla="*/ 3239834 w 7143371"/>
                  <a:gd name="connsiteY2859" fmla="*/ 1457992 h 4684871"/>
                  <a:gd name="connsiteX2860" fmla="*/ 3237262 w 7143371"/>
                  <a:gd name="connsiteY2860" fmla="*/ 1462278 h 4684871"/>
                  <a:gd name="connsiteX2861" fmla="*/ 3237262 w 7143371"/>
                  <a:gd name="connsiteY2861" fmla="*/ 1478280 h 4684871"/>
                  <a:gd name="connsiteX2862" fmla="*/ 3248311 w 7143371"/>
                  <a:gd name="connsiteY2862" fmla="*/ 1489424 h 4684871"/>
                  <a:gd name="connsiteX2863" fmla="*/ 3263551 w 7143371"/>
                  <a:gd name="connsiteY2863" fmla="*/ 1506284 h 4684871"/>
                  <a:gd name="connsiteX2864" fmla="*/ 3264408 w 7143371"/>
                  <a:gd name="connsiteY2864" fmla="*/ 1515618 h 4684871"/>
                  <a:gd name="connsiteX2865" fmla="*/ 3260217 w 7143371"/>
                  <a:gd name="connsiteY2865" fmla="*/ 1529144 h 4684871"/>
                  <a:gd name="connsiteX2866" fmla="*/ 3254312 w 7143371"/>
                  <a:gd name="connsiteY2866" fmla="*/ 1546193 h 4684871"/>
                  <a:gd name="connsiteX2867" fmla="*/ 3243453 w 7143371"/>
                  <a:gd name="connsiteY2867" fmla="*/ 1551337 h 4684871"/>
                  <a:gd name="connsiteX2868" fmla="*/ 3234023 w 7143371"/>
                  <a:gd name="connsiteY2868" fmla="*/ 1554766 h 4684871"/>
                  <a:gd name="connsiteX2869" fmla="*/ 3222117 w 7143371"/>
                  <a:gd name="connsiteY2869" fmla="*/ 1556385 h 4684871"/>
                  <a:gd name="connsiteX2870" fmla="*/ 3220403 w 7143371"/>
                  <a:gd name="connsiteY2870" fmla="*/ 1549622 h 4684871"/>
                  <a:gd name="connsiteX2871" fmla="*/ 3219545 w 7143371"/>
                  <a:gd name="connsiteY2871" fmla="*/ 1538478 h 4684871"/>
                  <a:gd name="connsiteX2872" fmla="*/ 3216021 w 7143371"/>
                  <a:gd name="connsiteY2872" fmla="*/ 1540383 h 4684871"/>
                  <a:gd name="connsiteX2873" fmla="*/ 3206020 w 7143371"/>
                  <a:gd name="connsiteY2873" fmla="*/ 1546193 h 4684871"/>
                  <a:gd name="connsiteX2874" fmla="*/ 3197543 w 7143371"/>
                  <a:gd name="connsiteY2874" fmla="*/ 1554004 h 4684871"/>
                  <a:gd name="connsiteX2875" fmla="*/ 3177159 w 7143371"/>
                  <a:gd name="connsiteY2875" fmla="*/ 1569149 h 4684871"/>
                  <a:gd name="connsiteX2876" fmla="*/ 3166967 w 7143371"/>
                  <a:gd name="connsiteY2876" fmla="*/ 1579245 h 4684871"/>
                  <a:gd name="connsiteX2877" fmla="*/ 3163538 w 7143371"/>
                  <a:gd name="connsiteY2877" fmla="*/ 1598867 h 4684871"/>
                  <a:gd name="connsiteX2878" fmla="*/ 3161157 w 7143371"/>
                  <a:gd name="connsiteY2878" fmla="*/ 1616012 h 4684871"/>
                  <a:gd name="connsiteX2879" fmla="*/ 3153346 w 7143371"/>
                  <a:gd name="connsiteY2879" fmla="*/ 1624489 h 4684871"/>
                  <a:gd name="connsiteX2880" fmla="*/ 3145727 w 7143371"/>
                  <a:gd name="connsiteY2880" fmla="*/ 1621917 h 4684871"/>
                  <a:gd name="connsiteX2881" fmla="*/ 3153346 w 7143371"/>
                  <a:gd name="connsiteY2881" fmla="*/ 1611725 h 4684871"/>
                  <a:gd name="connsiteX2882" fmla="*/ 3154013 w 7143371"/>
                  <a:gd name="connsiteY2882" fmla="*/ 1603343 h 4684871"/>
                  <a:gd name="connsiteX2883" fmla="*/ 3152585 w 7143371"/>
                  <a:gd name="connsiteY2883" fmla="*/ 1594676 h 4684871"/>
                  <a:gd name="connsiteX2884" fmla="*/ 3139059 w 7143371"/>
                  <a:gd name="connsiteY2884" fmla="*/ 1588770 h 4684871"/>
                  <a:gd name="connsiteX2885" fmla="*/ 3139726 w 7143371"/>
                  <a:gd name="connsiteY2885" fmla="*/ 1580293 h 4684871"/>
                  <a:gd name="connsiteX2886" fmla="*/ 3146679 w 7143371"/>
                  <a:gd name="connsiteY2886" fmla="*/ 1572673 h 4684871"/>
                  <a:gd name="connsiteX2887" fmla="*/ 3152585 w 7143371"/>
                  <a:gd name="connsiteY2887" fmla="*/ 1568387 h 4684871"/>
                  <a:gd name="connsiteX2888" fmla="*/ 3153251 w 7143371"/>
                  <a:gd name="connsiteY2888" fmla="*/ 1558195 h 4684871"/>
                  <a:gd name="connsiteX2889" fmla="*/ 3167634 w 7143371"/>
                  <a:gd name="connsiteY2889" fmla="*/ 1553147 h 4684871"/>
                  <a:gd name="connsiteX2890" fmla="*/ 3174397 w 7143371"/>
                  <a:gd name="connsiteY2890" fmla="*/ 1548956 h 4684871"/>
                  <a:gd name="connsiteX2891" fmla="*/ 3182969 w 7143371"/>
                  <a:gd name="connsiteY2891" fmla="*/ 1539621 h 4684871"/>
                  <a:gd name="connsiteX2892" fmla="*/ 3186113 w 7143371"/>
                  <a:gd name="connsiteY2892" fmla="*/ 1519142 h 4684871"/>
                  <a:gd name="connsiteX2893" fmla="*/ 3176969 w 7143371"/>
                  <a:gd name="connsiteY2893" fmla="*/ 1510760 h 4684871"/>
                  <a:gd name="connsiteX2894" fmla="*/ 3161729 w 7143371"/>
                  <a:gd name="connsiteY2894" fmla="*/ 1504093 h 4684871"/>
                  <a:gd name="connsiteX2895" fmla="*/ 3143060 w 7143371"/>
                  <a:gd name="connsiteY2895" fmla="*/ 1502378 h 4684871"/>
                  <a:gd name="connsiteX2896" fmla="*/ 3126962 w 7143371"/>
                  <a:gd name="connsiteY2896" fmla="*/ 1495330 h 4684871"/>
                  <a:gd name="connsiteX2897" fmla="*/ 3116104 w 7143371"/>
                  <a:gd name="connsiteY2897" fmla="*/ 1486948 h 4684871"/>
                  <a:gd name="connsiteX2898" fmla="*/ 3097340 w 7143371"/>
                  <a:gd name="connsiteY2898" fmla="*/ 1484376 h 4684871"/>
                  <a:gd name="connsiteX2899" fmla="*/ 3075337 w 7143371"/>
                  <a:gd name="connsiteY2899" fmla="*/ 1482947 h 4684871"/>
                  <a:gd name="connsiteX2900" fmla="*/ 3068669 w 7143371"/>
                  <a:gd name="connsiteY2900" fmla="*/ 1465802 h 4684871"/>
                  <a:gd name="connsiteX2901" fmla="*/ 3067812 w 7143371"/>
                  <a:gd name="connsiteY2901" fmla="*/ 1454658 h 4684871"/>
                  <a:gd name="connsiteX2902" fmla="*/ 3073718 w 7143371"/>
                  <a:gd name="connsiteY2902" fmla="*/ 1447133 h 4684871"/>
                  <a:gd name="connsiteX2903" fmla="*/ 3080480 w 7143371"/>
                  <a:gd name="connsiteY2903" fmla="*/ 1451324 h 4684871"/>
                  <a:gd name="connsiteX2904" fmla="*/ 3084576 w 7143371"/>
                  <a:gd name="connsiteY2904" fmla="*/ 1457230 h 4684871"/>
                  <a:gd name="connsiteX2905" fmla="*/ 3094006 w 7143371"/>
                  <a:gd name="connsiteY2905" fmla="*/ 1458944 h 4684871"/>
                  <a:gd name="connsiteX2906" fmla="*/ 3107436 w 7143371"/>
                  <a:gd name="connsiteY2906" fmla="*/ 1457230 h 4684871"/>
                  <a:gd name="connsiteX2907" fmla="*/ 3116009 w 7143371"/>
                  <a:gd name="connsiteY2907" fmla="*/ 1451324 h 4684871"/>
                  <a:gd name="connsiteX2908" fmla="*/ 3125153 w 7143371"/>
                  <a:gd name="connsiteY2908" fmla="*/ 1458944 h 4684871"/>
                  <a:gd name="connsiteX2909" fmla="*/ 3134487 w 7143371"/>
                  <a:gd name="connsiteY2909" fmla="*/ 1458944 h 4684871"/>
                  <a:gd name="connsiteX2910" fmla="*/ 3138011 w 7143371"/>
                  <a:gd name="connsiteY2910" fmla="*/ 1451324 h 4684871"/>
                  <a:gd name="connsiteX2911" fmla="*/ 3141440 w 7143371"/>
                  <a:gd name="connsiteY2911" fmla="*/ 1442657 h 4684871"/>
                  <a:gd name="connsiteX2912" fmla="*/ 3147251 w 7143371"/>
                  <a:gd name="connsiteY2912" fmla="*/ 1437608 h 4684871"/>
                  <a:gd name="connsiteX2913" fmla="*/ 3153156 w 7143371"/>
                  <a:gd name="connsiteY2913" fmla="*/ 1438656 h 4684871"/>
                  <a:gd name="connsiteX2914" fmla="*/ 3153156 w 7143371"/>
                  <a:gd name="connsiteY2914" fmla="*/ 1449800 h 4684871"/>
                  <a:gd name="connsiteX2915" fmla="*/ 3156585 w 7143371"/>
                  <a:gd name="connsiteY2915" fmla="*/ 1460754 h 4684871"/>
                  <a:gd name="connsiteX2916" fmla="*/ 3166777 w 7143371"/>
                  <a:gd name="connsiteY2916" fmla="*/ 1473422 h 4684871"/>
                  <a:gd name="connsiteX2917" fmla="*/ 3179445 w 7143371"/>
                  <a:gd name="connsiteY2917" fmla="*/ 1483614 h 4684871"/>
                  <a:gd name="connsiteX2918" fmla="*/ 3199829 w 7143371"/>
                  <a:gd name="connsiteY2918" fmla="*/ 1486091 h 4684871"/>
                  <a:gd name="connsiteX2919" fmla="*/ 3203925 w 7143371"/>
                  <a:gd name="connsiteY2919" fmla="*/ 1472660 h 4684871"/>
                  <a:gd name="connsiteX2920" fmla="*/ 3208306 w 7143371"/>
                  <a:gd name="connsiteY2920" fmla="*/ 1469041 h 4684871"/>
                  <a:gd name="connsiteX2921" fmla="*/ 3213545 w 7143371"/>
                  <a:gd name="connsiteY2921" fmla="*/ 1478375 h 4684871"/>
                  <a:gd name="connsiteX2922" fmla="*/ 3225927 w 7143371"/>
                  <a:gd name="connsiteY2922" fmla="*/ 1471613 h 4684871"/>
                  <a:gd name="connsiteX2923" fmla="*/ 3225927 w 7143371"/>
                  <a:gd name="connsiteY2923" fmla="*/ 1454563 h 4684871"/>
                  <a:gd name="connsiteX2924" fmla="*/ 3231166 w 7143371"/>
                  <a:gd name="connsiteY2924" fmla="*/ 1441895 h 4684871"/>
                  <a:gd name="connsiteX2925" fmla="*/ 3236119 w 7143371"/>
                  <a:gd name="connsiteY2925" fmla="*/ 1437608 h 4684871"/>
                  <a:gd name="connsiteX2926" fmla="*/ 3240500 w 7143371"/>
                  <a:gd name="connsiteY2926" fmla="*/ 1432465 h 4684871"/>
                  <a:gd name="connsiteX2927" fmla="*/ 4670584 w 7143371"/>
                  <a:gd name="connsiteY2927" fmla="*/ 1743551 h 4684871"/>
                  <a:gd name="connsiteX2928" fmla="*/ 4708303 w 7143371"/>
                  <a:gd name="connsiteY2928" fmla="*/ 1748123 h 4684871"/>
                  <a:gd name="connsiteX2929" fmla="*/ 4736973 w 7143371"/>
                  <a:gd name="connsiteY2929" fmla="*/ 1767840 h 4684871"/>
                  <a:gd name="connsiteX2930" fmla="*/ 4727067 w 7143371"/>
                  <a:gd name="connsiteY2930" fmla="*/ 1801844 h 4684871"/>
                  <a:gd name="connsiteX2931" fmla="*/ 4701350 w 7143371"/>
                  <a:gd name="connsiteY2931" fmla="*/ 1817846 h 4684871"/>
                  <a:gd name="connsiteX2932" fmla="*/ 4668203 w 7143371"/>
                  <a:gd name="connsiteY2932" fmla="*/ 1819561 h 4684871"/>
                  <a:gd name="connsiteX2933" fmla="*/ 4642104 w 7143371"/>
                  <a:gd name="connsiteY2933" fmla="*/ 1792319 h 4684871"/>
                  <a:gd name="connsiteX2934" fmla="*/ 4670584 w 7143371"/>
                  <a:gd name="connsiteY2934" fmla="*/ 1743456 h 4684871"/>
                  <a:gd name="connsiteX2935" fmla="*/ 6791230 w 7143371"/>
                  <a:gd name="connsiteY2935" fmla="*/ 1780794 h 4684871"/>
                  <a:gd name="connsiteX2936" fmla="*/ 6790277 w 7143371"/>
                  <a:gd name="connsiteY2936" fmla="*/ 1780984 h 4684871"/>
                  <a:gd name="connsiteX2937" fmla="*/ 6787991 w 7143371"/>
                  <a:gd name="connsiteY2937" fmla="*/ 1785842 h 4684871"/>
                  <a:gd name="connsiteX2938" fmla="*/ 6792468 w 7143371"/>
                  <a:gd name="connsiteY2938" fmla="*/ 1795367 h 4684871"/>
                  <a:gd name="connsiteX2939" fmla="*/ 6799231 w 7143371"/>
                  <a:gd name="connsiteY2939" fmla="*/ 1801749 h 4684871"/>
                  <a:gd name="connsiteX2940" fmla="*/ 6817042 w 7143371"/>
                  <a:gd name="connsiteY2940" fmla="*/ 1816322 h 4684871"/>
                  <a:gd name="connsiteX2941" fmla="*/ 6835426 w 7143371"/>
                  <a:gd name="connsiteY2941" fmla="*/ 1831181 h 4684871"/>
                  <a:gd name="connsiteX2942" fmla="*/ 6843236 w 7143371"/>
                  <a:gd name="connsiteY2942" fmla="*/ 1837849 h 4684871"/>
                  <a:gd name="connsiteX2943" fmla="*/ 6852095 w 7143371"/>
                  <a:gd name="connsiteY2943" fmla="*/ 1844231 h 4684871"/>
                  <a:gd name="connsiteX2944" fmla="*/ 6861525 w 7143371"/>
                  <a:gd name="connsiteY2944" fmla="*/ 1842326 h 4684871"/>
                  <a:gd name="connsiteX2945" fmla="*/ 6854476 w 7143371"/>
                  <a:gd name="connsiteY2945" fmla="*/ 1832515 h 4684871"/>
                  <a:gd name="connsiteX2946" fmla="*/ 6845141 w 7143371"/>
                  <a:gd name="connsiteY2946" fmla="*/ 1824990 h 4684871"/>
                  <a:gd name="connsiteX2947" fmla="*/ 6828854 w 7143371"/>
                  <a:gd name="connsiteY2947" fmla="*/ 1810703 h 4684871"/>
                  <a:gd name="connsiteX2948" fmla="*/ 6815138 w 7143371"/>
                  <a:gd name="connsiteY2948" fmla="*/ 1798415 h 4684871"/>
                  <a:gd name="connsiteX2949" fmla="*/ 6803517 w 7143371"/>
                  <a:gd name="connsiteY2949" fmla="*/ 1788605 h 4684871"/>
                  <a:gd name="connsiteX2950" fmla="*/ 6791135 w 7143371"/>
                  <a:gd name="connsiteY2950" fmla="*/ 1780794 h 4684871"/>
                  <a:gd name="connsiteX2951" fmla="*/ 3301937 w 7143371"/>
                  <a:gd name="connsiteY2951" fmla="*/ 1800987 h 4684871"/>
                  <a:gd name="connsiteX2952" fmla="*/ 3322034 w 7143371"/>
                  <a:gd name="connsiteY2952" fmla="*/ 1808607 h 4684871"/>
                  <a:gd name="connsiteX2953" fmla="*/ 3315938 w 7143371"/>
                  <a:gd name="connsiteY2953" fmla="*/ 1817942 h 4684871"/>
                  <a:gd name="connsiteX2954" fmla="*/ 3309176 w 7143371"/>
                  <a:gd name="connsiteY2954" fmla="*/ 1822513 h 4684871"/>
                  <a:gd name="connsiteX2955" fmla="*/ 3314129 w 7143371"/>
                  <a:gd name="connsiteY2955" fmla="*/ 1832991 h 4684871"/>
                  <a:gd name="connsiteX2956" fmla="*/ 3316415 w 7143371"/>
                  <a:gd name="connsiteY2956" fmla="*/ 1836992 h 4684871"/>
                  <a:gd name="connsiteX2957" fmla="*/ 3334321 w 7143371"/>
                  <a:gd name="connsiteY2957" fmla="*/ 1856613 h 4684871"/>
                  <a:gd name="connsiteX2958" fmla="*/ 3318320 w 7143371"/>
                  <a:gd name="connsiteY2958" fmla="*/ 1856804 h 4684871"/>
                  <a:gd name="connsiteX2959" fmla="*/ 3331559 w 7143371"/>
                  <a:gd name="connsiteY2959" fmla="*/ 1862138 h 4684871"/>
                  <a:gd name="connsiteX2960" fmla="*/ 3352610 w 7143371"/>
                  <a:gd name="connsiteY2960" fmla="*/ 1864995 h 4684871"/>
                  <a:gd name="connsiteX2961" fmla="*/ 3354896 w 7143371"/>
                  <a:gd name="connsiteY2961" fmla="*/ 1856804 h 4684871"/>
                  <a:gd name="connsiteX2962" fmla="*/ 3366516 w 7143371"/>
                  <a:gd name="connsiteY2962" fmla="*/ 1847183 h 4684871"/>
                  <a:gd name="connsiteX2963" fmla="*/ 3374803 w 7143371"/>
                  <a:gd name="connsiteY2963" fmla="*/ 1862042 h 4684871"/>
                  <a:gd name="connsiteX2964" fmla="*/ 3385090 w 7143371"/>
                  <a:gd name="connsiteY2964" fmla="*/ 1870234 h 4684871"/>
                  <a:gd name="connsiteX2965" fmla="*/ 3376232 w 7143371"/>
                  <a:gd name="connsiteY2965" fmla="*/ 1872520 h 4684871"/>
                  <a:gd name="connsiteX2966" fmla="*/ 3373565 w 7143371"/>
                  <a:gd name="connsiteY2966" fmla="*/ 1879759 h 4684871"/>
                  <a:gd name="connsiteX2967" fmla="*/ 3380518 w 7143371"/>
                  <a:gd name="connsiteY2967" fmla="*/ 1894427 h 4684871"/>
                  <a:gd name="connsiteX2968" fmla="*/ 3359468 w 7143371"/>
                  <a:gd name="connsiteY2968" fmla="*/ 1908429 h 4684871"/>
                  <a:gd name="connsiteX2969" fmla="*/ 3343085 w 7143371"/>
                  <a:gd name="connsiteY2969" fmla="*/ 1909286 h 4684871"/>
                  <a:gd name="connsiteX2970" fmla="*/ 3338036 w 7143371"/>
                  <a:gd name="connsiteY2970" fmla="*/ 1920240 h 4684871"/>
                  <a:gd name="connsiteX2971" fmla="*/ 3325178 w 7143371"/>
                  <a:gd name="connsiteY2971" fmla="*/ 1904524 h 4684871"/>
                  <a:gd name="connsiteX2972" fmla="*/ 3299365 w 7143371"/>
                  <a:gd name="connsiteY2972" fmla="*/ 1904714 h 4684871"/>
                  <a:gd name="connsiteX2973" fmla="*/ 3293555 w 7143371"/>
                  <a:gd name="connsiteY2973" fmla="*/ 1906334 h 4684871"/>
                  <a:gd name="connsiteX2974" fmla="*/ 3285363 w 7143371"/>
                  <a:gd name="connsiteY2974" fmla="*/ 1901762 h 4684871"/>
                  <a:gd name="connsiteX2975" fmla="*/ 3275933 w 7143371"/>
                  <a:gd name="connsiteY2975" fmla="*/ 1896618 h 4684871"/>
                  <a:gd name="connsiteX2976" fmla="*/ 3267075 w 7143371"/>
                  <a:gd name="connsiteY2976" fmla="*/ 1889284 h 4684871"/>
                  <a:gd name="connsiteX2977" fmla="*/ 3248025 w 7143371"/>
                  <a:gd name="connsiteY2977" fmla="*/ 1886998 h 4684871"/>
                  <a:gd name="connsiteX2978" fmla="*/ 3236309 w 7143371"/>
                  <a:gd name="connsiteY2978" fmla="*/ 1886998 h 4684871"/>
                  <a:gd name="connsiteX2979" fmla="*/ 3225260 w 7143371"/>
                  <a:gd name="connsiteY2979" fmla="*/ 1889284 h 4684871"/>
                  <a:gd name="connsiteX2980" fmla="*/ 3214973 w 7143371"/>
                  <a:gd name="connsiteY2980" fmla="*/ 1888427 h 4684871"/>
                  <a:gd name="connsiteX2981" fmla="*/ 3187160 w 7143371"/>
                  <a:gd name="connsiteY2981" fmla="*/ 1898904 h 4684871"/>
                  <a:gd name="connsiteX2982" fmla="*/ 3180683 w 7143371"/>
                  <a:gd name="connsiteY2982" fmla="*/ 1913192 h 4684871"/>
                  <a:gd name="connsiteX2983" fmla="*/ 3176969 w 7143371"/>
                  <a:gd name="connsiteY2983" fmla="*/ 1942624 h 4684871"/>
                  <a:gd name="connsiteX2984" fmla="*/ 3164777 w 7143371"/>
                  <a:gd name="connsiteY2984" fmla="*/ 1952720 h 4684871"/>
                  <a:gd name="connsiteX2985" fmla="*/ 3157252 w 7143371"/>
                  <a:gd name="connsiteY2985" fmla="*/ 1953292 h 4684871"/>
                  <a:gd name="connsiteX2986" fmla="*/ 3128677 w 7143371"/>
                  <a:gd name="connsiteY2986" fmla="*/ 1978533 h 4684871"/>
                  <a:gd name="connsiteX2987" fmla="*/ 3145727 w 7143371"/>
                  <a:gd name="connsiteY2987" fmla="*/ 1919097 h 4684871"/>
                  <a:gd name="connsiteX2988" fmla="*/ 3115056 w 7143371"/>
                  <a:gd name="connsiteY2988" fmla="*/ 1919669 h 4684871"/>
                  <a:gd name="connsiteX2989" fmla="*/ 3111627 w 7143371"/>
                  <a:gd name="connsiteY2989" fmla="*/ 1938719 h 4684871"/>
                  <a:gd name="connsiteX2990" fmla="*/ 3096673 w 7143371"/>
                  <a:gd name="connsiteY2990" fmla="*/ 1944529 h 4684871"/>
                  <a:gd name="connsiteX2991" fmla="*/ 3097244 w 7143371"/>
                  <a:gd name="connsiteY2991" fmla="*/ 1899285 h 4684871"/>
                  <a:gd name="connsiteX2992" fmla="*/ 3066574 w 7143371"/>
                  <a:gd name="connsiteY2992" fmla="*/ 1896713 h 4684871"/>
                  <a:gd name="connsiteX2993" fmla="*/ 3068098 w 7143371"/>
                  <a:gd name="connsiteY2993" fmla="*/ 1874044 h 4684871"/>
                  <a:gd name="connsiteX2994" fmla="*/ 3047238 w 7143371"/>
                  <a:gd name="connsiteY2994" fmla="*/ 1841754 h 4684871"/>
                  <a:gd name="connsiteX2995" fmla="*/ 3060192 w 7143371"/>
                  <a:gd name="connsiteY2995" fmla="*/ 1831658 h 4684871"/>
                  <a:gd name="connsiteX2996" fmla="*/ 3100864 w 7143371"/>
                  <a:gd name="connsiteY2996" fmla="*/ 1864805 h 4684871"/>
                  <a:gd name="connsiteX2997" fmla="*/ 3110484 w 7143371"/>
                  <a:gd name="connsiteY2997" fmla="*/ 1841183 h 4684871"/>
                  <a:gd name="connsiteX2998" fmla="*/ 3113627 w 7143371"/>
                  <a:gd name="connsiteY2998" fmla="*/ 1824323 h 4684871"/>
                  <a:gd name="connsiteX2999" fmla="*/ 3129344 w 7143371"/>
                  <a:gd name="connsiteY2999" fmla="*/ 1824609 h 4684871"/>
                  <a:gd name="connsiteX3000" fmla="*/ 3133058 w 7143371"/>
                  <a:gd name="connsiteY3000" fmla="*/ 1858328 h 4684871"/>
                  <a:gd name="connsiteX3001" fmla="*/ 3161348 w 7143371"/>
                  <a:gd name="connsiteY3001" fmla="*/ 1887284 h 4684871"/>
                  <a:gd name="connsiteX3002" fmla="*/ 3187732 w 7143371"/>
                  <a:gd name="connsiteY3002" fmla="*/ 1872615 h 4684871"/>
                  <a:gd name="connsiteX3003" fmla="*/ 3196495 w 7143371"/>
                  <a:gd name="connsiteY3003" fmla="*/ 1858518 h 4684871"/>
                  <a:gd name="connsiteX3004" fmla="*/ 3207544 w 7143371"/>
                  <a:gd name="connsiteY3004" fmla="*/ 1852708 h 4684871"/>
                  <a:gd name="connsiteX3005" fmla="*/ 3215735 w 7143371"/>
                  <a:gd name="connsiteY3005" fmla="*/ 1854041 h 4684871"/>
                  <a:gd name="connsiteX3006" fmla="*/ 3222975 w 7143371"/>
                  <a:gd name="connsiteY3006" fmla="*/ 1851279 h 4684871"/>
                  <a:gd name="connsiteX3007" fmla="*/ 3233452 w 7143371"/>
                  <a:gd name="connsiteY3007" fmla="*/ 1860613 h 4684871"/>
                  <a:gd name="connsiteX3008" fmla="*/ 3248978 w 7143371"/>
                  <a:gd name="connsiteY3008" fmla="*/ 1856994 h 4684871"/>
                  <a:gd name="connsiteX3009" fmla="*/ 3259169 w 7143371"/>
                  <a:gd name="connsiteY3009" fmla="*/ 1844326 h 4684871"/>
                  <a:gd name="connsiteX3010" fmla="*/ 3267932 w 7143371"/>
                  <a:gd name="connsiteY3010" fmla="*/ 1855756 h 4684871"/>
                  <a:gd name="connsiteX3011" fmla="*/ 3274314 w 7143371"/>
                  <a:gd name="connsiteY3011" fmla="*/ 1859471 h 4684871"/>
                  <a:gd name="connsiteX3012" fmla="*/ 3277267 w 7143371"/>
                  <a:gd name="connsiteY3012" fmla="*/ 1865376 h 4684871"/>
                  <a:gd name="connsiteX3013" fmla="*/ 3295174 w 7143371"/>
                  <a:gd name="connsiteY3013" fmla="*/ 1869662 h 4684871"/>
                  <a:gd name="connsiteX3014" fmla="*/ 3305366 w 7143371"/>
                  <a:gd name="connsiteY3014" fmla="*/ 1858423 h 4684871"/>
                  <a:gd name="connsiteX3015" fmla="*/ 3297460 w 7143371"/>
                  <a:gd name="connsiteY3015" fmla="*/ 1830896 h 4684871"/>
                  <a:gd name="connsiteX3016" fmla="*/ 3286411 w 7143371"/>
                  <a:gd name="connsiteY3016" fmla="*/ 1806988 h 4684871"/>
                  <a:gd name="connsiteX3017" fmla="*/ 3294317 w 7143371"/>
                  <a:gd name="connsiteY3017" fmla="*/ 1808417 h 4684871"/>
                  <a:gd name="connsiteX3018" fmla="*/ 3302127 w 7143371"/>
                  <a:gd name="connsiteY3018" fmla="*/ 1801082 h 4684871"/>
                  <a:gd name="connsiteX3019" fmla="*/ 3302127 w 7143371"/>
                  <a:gd name="connsiteY3019" fmla="*/ 1801082 h 4684871"/>
                  <a:gd name="connsiteX3020" fmla="*/ 4735926 w 7143371"/>
                  <a:gd name="connsiteY3020" fmla="*/ 1859661 h 4684871"/>
                  <a:gd name="connsiteX3021" fmla="*/ 4748594 w 7143371"/>
                  <a:gd name="connsiteY3021" fmla="*/ 1867186 h 4684871"/>
                  <a:gd name="connsiteX3022" fmla="*/ 4750975 w 7143371"/>
                  <a:gd name="connsiteY3022" fmla="*/ 1877663 h 4684871"/>
                  <a:gd name="connsiteX3023" fmla="*/ 4748594 w 7143371"/>
                  <a:gd name="connsiteY3023" fmla="*/ 1885759 h 4684871"/>
                  <a:gd name="connsiteX3024" fmla="*/ 4756690 w 7143371"/>
                  <a:gd name="connsiteY3024" fmla="*/ 1888236 h 4684871"/>
                  <a:gd name="connsiteX3025" fmla="*/ 4769263 w 7143371"/>
                  <a:gd name="connsiteY3025" fmla="*/ 1882331 h 4684871"/>
                  <a:gd name="connsiteX3026" fmla="*/ 4778312 w 7143371"/>
                  <a:gd name="connsiteY3026" fmla="*/ 1889379 h 4684871"/>
                  <a:gd name="connsiteX3027" fmla="*/ 4789742 w 7143371"/>
                  <a:gd name="connsiteY3027" fmla="*/ 1890522 h 4684871"/>
                  <a:gd name="connsiteX3028" fmla="*/ 4800029 w 7143371"/>
                  <a:gd name="connsiteY3028" fmla="*/ 1897475 h 4684871"/>
                  <a:gd name="connsiteX3029" fmla="*/ 4805648 w 7143371"/>
                  <a:gd name="connsiteY3029" fmla="*/ 1909191 h 4684871"/>
                  <a:gd name="connsiteX3030" fmla="*/ 4814793 w 7143371"/>
                  <a:gd name="connsiteY3030" fmla="*/ 1917383 h 4684871"/>
                  <a:gd name="connsiteX3031" fmla="*/ 4815936 w 7143371"/>
                  <a:gd name="connsiteY3031" fmla="*/ 1931384 h 4684871"/>
                  <a:gd name="connsiteX3032" fmla="*/ 4821746 w 7143371"/>
                  <a:gd name="connsiteY3032" fmla="*/ 1932432 h 4684871"/>
                  <a:gd name="connsiteX3033" fmla="*/ 4830890 w 7143371"/>
                  <a:gd name="connsiteY3033" fmla="*/ 1930241 h 4684871"/>
                  <a:gd name="connsiteX3034" fmla="*/ 4843463 w 7143371"/>
                  <a:gd name="connsiteY3034" fmla="*/ 1940719 h 4684871"/>
                  <a:gd name="connsiteX3035" fmla="*/ 4852512 w 7143371"/>
                  <a:gd name="connsiteY3035" fmla="*/ 1956911 h 4684871"/>
                  <a:gd name="connsiteX3036" fmla="*/ 4851369 w 7143371"/>
                  <a:gd name="connsiteY3036" fmla="*/ 1977962 h 4684871"/>
                  <a:gd name="connsiteX3037" fmla="*/ 4821746 w 7143371"/>
                  <a:gd name="connsiteY3037" fmla="*/ 1979105 h 4684871"/>
                  <a:gd name="connsiteX3038" fmla="*/ 4772502 w 7143371"/>
                  <a:gd name="connsiteY3038" fmla="*/ 1965103 h 4684871"/>
                  <a:gd name="connsiteX3039" fmla="*/ 4745260 w 7143371"/>
                  <a:gd name="connsiteY3039" fmla="*/ 1977962 h 4684871"/>
                  <a:gd name="connsiteX3040" fmla="*/ 4723543 w 7143371"/>
                  <a:gd name="connsiteY3040" fmla="*/ 1976819 h 4684871"/>
                  <a:gd name="connsiteX3041" fmla="*/ 4669917 w 7143371"/>
                  <a:gd name="connsiteY3041" fmla="*/ 1958245 h 4684871"/>
                  <a:gd name="connsiteX3042" fmla="*/ 4651725 w 7143371"/>
                  <a:gd name="connsiteY3042" fmla="*/ 1926717 h 4684871"/>
                  <a:gd name="connsiteX3043" fmla="*/ 4652868 w 7143371"/>
                  <a:gd name="connsiteY3043" fmla="*/ 1913858 h 4684871"/>
                  <a:gd name="connsiteX3044" fmla="*/ 4641437 w 7143371"/>
                  <a:gd name="connsiteY3044" fmla="*/ 1905762 h 4684871"/>
                  <a:gd name="connsiteX3045" fmla="*/ 4659630 w 7143371"/>
                  <a:gd name="connsiteY3045" fmla="*/ 1882426 h 4684871"/>
                  <a:gd name="connsiteX3046" fmla="*/ 4684776 w 7143371"/>
                  <a:gd name="connsiteY3046" fmla="*/ 1873091 h 4684871"/>
                  <a:gd name="connsiteX3047" fmla="*/ 4732782 w 7143371"/>
                  <a:gd name="connsiteY3047" fmla="*/ 1860233 h 4684871"/>
                  <a:gd name="connsiteX3048" fmla="*/ 4736021 w 7143371"/>
                  <a:gd name="connsiteY3048" fmla="*/ 1859756 h 4684871"/>
                  <a:gd name="connsiteX3049" fmla="*/ 1842421 w 7143371"/>
                  <a:gd name="connsiteY3049" fmla="*/ 1971294 h 4684871"/>
                  <a:gd name="connsiteX3050" fmla="*/ 1838420 w 7143371"/>
                  <a:gd name="connsiteY3050" fmla="*/ 1972723 h 4684871"/>
                  <a:gd name="connsiteX3051" fmla="*/ 1827562 w 7143371"/>
                  <a:gd name="connsiteY3051" fmla="*/ 1976342 h 4684871"/>
                  <a:gd name="connsiteX3052" fmla="*/ 1818799 w 7143371"/>
                  <a:gd name="connsiteY3052" fmla="*/ 1989868 h 4684871"/>
                  <a:gd name="connsiteX3053" fmla="*/ 1814798 w 7143371"/>
                  <a:gd name="connsiteY3053" fmla="*/ 2001012 h 4684871"/>
                  <a:gd name="connsiteX3054" fmla="*/ 1828229 w 7143371"/>
                  <a:gd name="connsiteY3054" fmla="*/ 2009204 h 4684871"/>
                  <a:gd name="connsiteX3055" fmla="*/ 1841659 w 7143371"/>
                  <a:gd name="connsiteY3055" fmla="*/ 2003679 h 4684871"/>
                  <a:gd name="connsiteX3056" fmla="*/ 1848326 w 7143371"/>
                  <a:gd name="connsiteY3056" fmla="*/ 1998821 h 4684871"/>
                  <a:gd name="connsiteX3057" fmla="*/ 1852327 w 7143371"/>
                  <a:gd name="connsiteY3057" fmla="*/ 1996916 h 4684871"/>
                  <a:gd name="connsiteX3058" fmla="*/ 1855851 w 7143371"/>
                  <a:gd name="connsiteY3058" fmla="*/ 1998250 h 4684871"/>
                  <a:gd name="connsiteX3059" fmla="*/ 1853851 w 7143371"/>
                  <a:gd name="connsiteY3059" fmla="*/ 2003012 h 4684871"/>
                  <a:gd name="connsiteX3060" fmla="*/ 1863757 w 7143371"/>
                  <a:gd name="connsiteY3060" fmla="*/ 2011109 h 4684871"/>
                  <a:gd name="connsiteX3061" fmla="*/ 1871282 w 7143371"/>
                  <a:gd name="connsiteY3061" fmla="*/ 2017300 h 4684871"/>
                  <a:gd name="connsiteX3062" fmla="*/ 1877949 w 7143371"/>
                  <a:gd name="connsiteY3062" fmla="*/ 2015395 h 4684871"/>
                  <a:gd name="connsiteX3063" fmla="*/ 1865281 w 7143371"/>
                  <a:gd name="connsiteY3063" fmla="*/ 2000250 h 4684871"/>
                  <a:gd name="connsiteX3064" fmla="*/ 1863281 w 7143371"/>
                  <a:gd name="connsiteY3064" fmla="*/ 1994154 h 4684871"/>
                  <a:gd name="connsiteX3065" fmla="*/ 1862042 w 7143371"/>
                  <a:gd name="connsiteY3065" fmla="*/ 1985772 h 4684871"/>
                  <a:gd name="connsiteX3066" fmla="*/ 1853946 w 7143371"/>
                  <a:gd name="connsiteY3066" fmla="*/ 1980248 h 4684871"/>
                  <a:gd name="connsiteX3067" fmla="*/ 1850517 w 7143371"/>
                  <a:gd name="connsiteY3067" fmla="*/ 1976819 h 4684871"/>
                  <a:gd name="connsiteX3068" fmla="*/ 1846421 w 7143371"/>
                  <a:gd name="connsiteY3068" fmla="*/ 1971294 h 4684871"/>
                  <a:gd name="connsiteX3069" fmla="*/ 1842421 w 7143371"/>
                  <a:gd name="connsiteY3069" fmla="*/ 1971104 h 4684871"/>
                  <a:gd name="connsiteX3070" fmla="*/ 1856804 w 7143371"/>
                  <a:gd name="connsiteY3070" fmla="*/ 2010061 h 4684871"/>
                  <a:gd name="connsiteX3071" fmla="*/ 1855661 w 7143371"/>
                  <a:gd name="connsiteY3071" fmla="*/ 2010347 h 4684871"/>
                  <a:gd name="connsiteX3072" fmla="*/ 1842421 w 7143371"/>
                  <a:gd name="connsiteY3072" fmla="*/ 2015871 h 4684871"/>
                  <a:gd name="connsiteX3073" fmla="*/ 1835468 w 7143371"/>
                  <a:gd name="connsiteY3073" fmla="*/ 2024825 h 4684871"/>
                  <a:gd name="connsiteX3074" fmla="*/ 1834896 w 7143371"/>
                  <a:gd name="connsiteY3074" fmla="*/ 2034350 h 4684871"/>
                  <a:gd name="connsiteX3075" fmla="*/ 1843659 w 7143371"/>
                  <a:gd name="connsiteY3075" fmla="*/ 2043303 h 4684871"/>
                  <a:gd name="connsiteX3076" fmla="*/ 1864424 w 7143371"/>
                  <a:gd name="connsiteY3076" fmla="*/ 2045494 h 4684871"/>
                  <a:gd name="connsiteX3077" fmla="*/ 1877092 w 7143371"/>
                  <a:gd name="connsiteY3077" fmla="*/ 2058353 h 4684871"/>
                  <a:gd name="connsiteX3078" fmla="*/ 1889951 w 7143371"/>
                  <a:gd name="connsiteY3078" fmla="*/ 2060543 h 4684871"/>
                  <a:gd name="connsiteX3079" fmla="*/ 1889951 w 7143371"/>
                  <a:gd name="connsiteY3079" fmla="*/ 2046827 h 4684871"/>
                  <a:gd name="connsiteX3080" fmla="*/ 1880521 w 7143371"/>
                  <a:gd name="connsiteY3080" fmla="*/ 2028254 h 4684871"/>
                  <a:gd name="connsiteX3081" fmla="*/ 1867090 w 7143371"/>
                  <a:gd name="connsiteY3081" fmla="*/ 2016728 h 4684871"/>
                  <a:gd name="connsiteX3082" fmla="*/ 1856804 w 7143371"/>
                  <a:gd name="connsiteY3082" fmla="*/ 2010251 h 4684871"/>
                  <a:gd name="connsiteX3083" fmla="*/ 1880807 w 7143371"/>
                  <a:gd name="connsiteY3083" fmla="*/ 2063591 h 4684871"/>
                  <a:gd name="connsiteX3084" fmla="*/ 1873472 w 7143371"/>
                  <a:gd name="connsiteY3084" fmla="*/ 2069783 h 4684871"/>
                  <a:gd name="connsiteX3085" fmla="*/ 1874711 w 7143371"/>
                  <a:gd name="connsiteY3085" fmla="*/ 2082737 h 4684871"/>
                  <a:gd name="connsiteX3086" fmla="*/ 1873472 w 7143371"/>
                  <a:gd name="connsiteY3086" fmla="*/ 2095881 h 4684871"/>
                  <a:gd name="connsiteX3087" fmla="*/ 1871091 w 7143371"/>
                  <a:gd name="connsiteY3087" fmla="*/ 2100739 h 4684871"/>
                  <a:gd name="connsiteX3088" fmla="*/ 1869567 w 7143371"/>
                  <a:gd name="connsiteY3088" fmla="*/ 2099024 h 4684871"/>
                  <a:gd name="connsiteX3089" fmla="*/ 1854708 w 7143371"/>
                  <a:gd name="connsiteY3089" fmla="*/ 2093500 h 4684871"/>
                  <a:gd name="connsiteX3090" fmla="*/ 1849374 w 7143371"/>
                  <a:gd name="connsiteY3090" fmla="*/ 2088928 h 4684871"/>
                  <a:gd name="connsiteX3091" fmla="*/ 1844040 w 7143371"/>
                  <a:gd name="connsiteY3091" fmla="*/ 2084070 h 4684871"/>
                  <a:gd name="connsiteX3092" fmla="*/ 1824704 w 7143371"/>
                  <a:gd name="connsiteY3092" fmla="*/ 2080070 h 4684871"/>
                  <a:gd name="connsiteX3093" fmla="*/ 1815084 w 7143371"/>
                  <a:gd name="connsiteY3093" fmla="*/ 2095786 h 4684871"/>
                  <a:gd name="connsiteX3094" fmla="*/ 1809845 w 7143371"/>
                  <a:gd name="connsiteY3094" fmla="*/ 2110740 h 4684871"/>
                  <a:gd name="connsiteX3095" fmla="*/ 1805178 w 7143371"/>
                  <a:gd name="connsiteY3095" fmla="*/ 2124551 h 4684871"/>
                  <a:gd name="connsiteX3096" fmla="*/ 1820609 w 7143371"/>
                  <a:gd name="connsiteY3096" fmla="*/ 2130076 h 4684871"/>
                  <a:gd name="connsiteX3097" fmla="*/ 1843373 w 7143371"/>
                  <a:gd name="connsiteY3097" fmla="*/ 2126456 h 4684871"/>
                  <a:gd name="connsiteX3098" fmla="*/ 1856899 w 7143371"/>
                  <a:gd name="connsiteY3098" fmla="*/ 2125885 h 4684871"/>
                  <a:gd name="connsiteX3099" fmla="*/ 1866233 w 7143371"/>
                  <a:gd name="connsiteY3099" fmla="*/ 2117693 h 4684871"/>
                  <a:gd name="connsiteX3100" fmla="*/ 1870234 w 7143371"/>
                  <a:gd name="connsiteY3100" fmla="*/ 2106740 h 4684871"/>
                  <a:gd name="connsiteX3101" fmla="*/ 1872044 w 7143371"/>
                  <a:gd name="connsiteY3101" fmla="*/ 2103406 h 4684871"/>
                  <a:gd name="connsiteX3102" fmla="*/ 1874901 w 7143371"/>
                  <a:gd name="connsiteY3102" fmla="*/ 2104835 h 4684871"/>
                  <a:gd name="connsiteX3103" fmla="*/ 1887760 w 7143371"/>
                  <a:gd name="connsiteY3103" fmla="*/ 2104835 h 4684871"/>
                  <a:gd name="connsiteX3104" fmla="*/ 1898333 w 7143371"/>
                  <a:gd name="connsiteY3104" fmla="*/ 2098643 h 4684871"/>
                  <a:gd name="connsiteX3105" fmla="*/ 1898333 w 7143371"/>
                  <a:gd name="connsiteY3105" fmla="*/ 2088261 h 4684871"/>
                  <a:gd name="connsiteX3106" fmla="*/ 1893856 w 7143371"/>
                  <a:gd name="connsiteY3106" fmla="*/ 2082165 h 4684871"/>
                  <a:gd name="connsiteX3107" fmla="*/ 1890332 w 7143371"/>
                  <a:gd name="connsiteY3107" fmla="*/ 2073783 h 4684871"/>
                  <a:gd name="connsiteX3108" fmla="*/ 1885093 w 7143371"/>
                  <a:gd name="connsiteY3108" fmla="*/ 2067687 h 4684871"/>
                  <a:gd name="connsiteX3109" fmla="*/ 1880997 w 7143371"/>
                  <a:gd name="connsiteY3109" fmla="*/ 2063496 h 4684871"/>
                  <a:gd name="connsiteX3110" fmla="*/ 3880200 w 7143371"/>
                  <a:gd name="connsiteY3110" fmla="*/ 2207514 h 4684871"/>
                  <a:gd name="connsiteX3111" fmla="*/ 3907441 w 7143371"/>
                  <a:gd name="connsiteY3111" fmla="*/ 2324576 h 4684871"/>
                  <a:gd name="connsiteX3112" fmla="*/ 3938111 w 7143371"/>
                  <a:gd name="connsiteY3112" fmla="*/ 2307241 h 4684871"/>
                  <a:gd name="connsiteX3113" fmla="*/ 3951827 w 7143371"/>
                  <a:gd name="connsiteY3113" fmla="*/ 2279428 h 4684871"/>
                  <a:gd name="connsiteX3114" fmla="*/ 3997547 w 7143371"/>
                  <a:gd name="connsiteY3114" fmla="*/ 2265998 h 4684871"/>
                  <a:gd name="connsiteX3115" fmla="*/ 3957542 w 7143371"/>
                  <a:gd name="connsiteY3115" fmla="*/ 2292858 h 4684871"/>
                  <a:gd name="connsiteX3116" fmla="*/ 3914489 w 7143371"/>
                  <a:gd name="connsiteY3116" fmla="*/ 2342007 h 4684871"/>
                  <a:gd name="connsiteX3117" fmla="*/ 3907441 w 7143371"/>
                  <a:gd name="connsiteY3117" fmla="*/ 2374202 h 4684871"/>
                  <a:gd name="connsiteX3118" fmla="*/ 3923443 w 7143371"/>
                  <a:gd name="connsiteY3118" fmla="*/ 2401634 h 4684871"/>
                  <a:gd name="connsiteX3119" fmla="*/ 3925443 w 7143371"/>
                  <a:gd name="connsiteY3119" fmla="*/ 2454116 h 4684871"/>
                  <a:gd name="connsiteX3120" fmla="*/ 3900488 w 7143371"/>
                  <a:gd name="connsiteY3120" fmla="*/ 2492502 h 4684871"/>
                  <a:gd name="connsiteX3121" fmla="*/ 3942017 w 7143371"/>
                  <a:gd name="connsiteY3121" fmla="*/ 2497074 h 4684871"/>
                  <a:gd name="connsiteX3122" fmla="*/ 3957257 w 7143371"/>
                  <a:gd name="connsiteY3122" fmla="*/ 2546509 h 4684871"/>
                  <a:gd name="connsiteX3123" fmla="*/ 4019550 w 7143371"/>
                  <a:gd name="connsiteY3123" fmla="*/ 2563082 h 4684871"/>
                  <a:gd name="connsiteX3124" fmla="*/ 4104704 w 7143371"/>
                  <a:gd name="connsiteY3124" fmla="*/ 2489549 h 4684871"/>
                  <a:gd name="connsiteX3125" fmla="*/ 4111276 w 7143371"/>
                  <a:gd name="connsiteY3125" fmla="*/ 2483168 h 4684871"/>
                  <a:gd name="connsiteX3126" fmla="*/ 4096417 w 7143371"/>
                  <a:gd name="connsiteY3126" fmla="*/ 2503265 h 4684871"/>
                  <a:gd name="connsiteX3127" fmla="*/ 4035362 w 7143371"/>
                  <a:gd name="connsiteY3127" fmla="*/ 2571655 h 4684871"/>
                  <a:gd name="connsiteX3128" fmla="*/ 3940302 w 7143371"/>
                  <a:gd name="connsiteY3128" fmla="*/ 2586133 h 4684871"/>
                  <a:gd name="connsiteX3129" fmla="*/ 3860673 w 7143371"/>
                  <a:gd name="connsiteY3129" fmla="*/ 2592229 h 4684871"/>
                  <a:gd name="connsiteX3130" fmla="*/ 3860673 w 7143371"/>
                  <a:gd name="connsiteY3130" fmla="*/ 2630138 h 4684871"/>
                  <a:gd name="connsiteX3131" fmla="*/ 3907250 w 7143371"/>
                  <a:gd name="connsiteY3131" fmla="*/ 2757773 h 4684871"/>
                  <a:gd name="connsiteX3132" fmla="*/ 3938207 w 7143371"/>
                  <a:gd name="connsiteY3132" fmla="*/ 2802350 h 4684871"/>
                  <a:gd name="connsiteX3133" fmla="*/ 3968687 w 7143371"/>
                  <a:gd name="connsiteY3133" fmla="*/ 2828544 h 4684871"/>
                  <a:gd name="connsiteX3134" fmla="*/ 3978593 w 7143371"/>
                  <a:gd name="connsiteY3134" fmla="*/ 2834450 h 4684871"/>
                  <a:gd name="connsiteX3135" fmla="*/ 3940588 w 7143371"/>
                  <a:gd name="connsiteY3135" fmla="*/ 2866358 h 4684871"/>
                  <a:gd name="connsiteX3136" fmla="*/ 3880866 w 7143371"/>
                  <a:gd name="connsiteY3136" fmla="*/ 2807113 h 4684871"/>
                  <a:gd name="connsiteX3137" fmla="*/ 3827621 w 7143371"/>
                  <a:gd name="connsiteY3137" fmla="*/ 2783205 h 4684871"/>
                  <a:gd name="connsiteX3138" fmla="*/ 3758946 w 7143371"/>
                  <a:gd name="connsiteY3138" fmla="*/ 2758535 h 4684871"/>
                  <a:gd name="connsiteX3139" fmla="*/ 3755136 w 7143371"/>
                  <a:gd name="connsiteY3139" fmla="*/ 2787110 h 4684871"/>
                  <a:gd name="connsiteX3140" fmla="*/ 3711512 w 7143371"/>
                  <a:gd name="connsiteY3140" fmla="*/ 2853976 h 4684871"/>
                  <a:gd name="connsiteX3141" fmla="*/ 3688461 w 7143371"/>
                  <a:gd name="connsiteY3141" fmla="*/ 2842260 h 4684871"/>
                  <a:gd name="connsiteX3142" fmla="*/ 3686937 w 7143371"/>
                  <a:gd name="connsiteY3142" fmla="*/ 2826544 h 4684871"/>
                  <a:gd name="connsiteX3143" fmla="*/ 3673221 w 7143371"/>
                  <a:gd name="connsiteY3143" fmla="*/ 2822639 h 4684871"/>
                  <a:gd name="connsiteX3144" fmla="*/ 3681413 w 7143371"/>
                  <a:gd name="connsiteY3144" fmla="*/ 2751106 h 4684871"/>
                  <a:gd name="connsiteX3145" fmla="*/ 3644837 w 7143371"/>
                  <a:gd name="connsiteY3145" fmla="*/ 2773490 h 4684871"/>
                  <a:gd name="connsiteX3146" fmla="*/ 3611118 w 7143371"/>
                  <a:gd name="connsiteY3146" fmla="*/ 2741200 h 4684871"/>
                  <a:gd name="connsiteX3147" fmla="*/ 3601688 w 7143371"/>
                  <a:gd name="connsiteY3147" fmla="*/ 2721769 h 4684871"/>
                  <a:gd name="connsiteX3148" fmla="*/ 3552539 w 7143371"/>
                  <a:gd name="connsiteY3148" fmla="*/ 2726817 h 4684871"/>
                  <a:gd name="connsiteX3149" fmla="*/ 3533489 w 7143371"/>
                  <a:gd name="connsiteY3149" fmla="*/ 2704433 h 4684871"/>
                  <a:gd name="connsiteX3150" fmla="*/ 3487769 w 7143371"/>
                  <a:gd name="connsiteY3150" fmla="*/ 2713958 h 4684871"/>
                  <a:gd name="connsiteX3151" fmla="*/ 3411188 w 7143371"/>
                  <a:gd name="connsiteY3151" fmla="*/ 2705005 h 4684871"/>
                  <a:gd name="connsiteX3152" fmla="*/ 3416142 w 7143371"/>
                  <a:gd name="connsiteY3152" fmla="*/ 2678811 h 4684871"/>
                  <a:gd name="connsiteX3153" fmla="*/ 3388138 w 7143371"/>
                  <a:gd name="connsiteY3153" fmla="*/ 2665000 h 4684871"/>
                  <a:gd name="connsiteX3154" fmla="*/ 3425952 w 7143371"/>
                  <a:gd name="connsiteY3154" fmla="*/ 2661094 h 4684871"/>
                  <a:gd name="connsiteX3155" fmla="*/ 3431762 w 7143371"/>
                  <a:gd name="connsiteY3155" fmla="*/ 2696147 h 4684871"/>
                  <a:gd name="connsiteX3156" fmla="*/ 3460813 w 7143371"/>
                  <a:gd name="connsiteY3156" fmla="*/ 2707291 h 4684871"/>
                  <a:gd name="connsiteX3157" fmla="*/ 3492342 w 7143371"/>
                  <a:gd name="connsiteY3157" fmla="*/ 2691289 h 4684871"/>
                  <a:gd name="connsiteX3158" fmla="*/ 3541109 w 7143371"/>
                  <a:gd name="connsiteY3158" fmla="*/ 2682811 h 4684871"/>
                  <a:gd name="connsiteX3159" fmla="*/ 3558064 w 7143371"/>
                  <a:gd name="connsiteY3159" fmla="*/ 2705767 h 4684871"/>
                  <a:gd name="connsiteX3160" fmla="*/ 3621500 w 7143371"/>
                  <a:gd name="connsiteY3160" fmla="*/ 2713006 h 4684871"/>
                  <a:gd name="connsiteX3161" fmla="*/ 3654076 w 7143371"/>
                  <a:gd name="connsiteY3161" fmla="*/ 2750534 h 4684871"/>
                  <a:gd name="connsiteX3162" fmla="*/ 3684746 w 7143371"/>
                  <a:gd name="connsiteY3162" fmla="*/ 2715768 h 4684871"/>
                  <a:gd name="connsiteX3163" fmla="*/ 3819716 w 7143371"/>
                  <a:gd name="connsiteY3163" fmla="*/ 2721959 h 4684871"/>
                  <a:gd name="connsiteX3164" fmla="*/ 3833432 w 7143371"/>
                  <a:gd name="connsiteY3164" fmla="*/ 2702909 h 4684871"/>
                  <a:gd name="connsiteX3165" fmla="*/ 3826193 w 7143371"/>
                  <a:gd name="connsiteY3165" fmla="*/ 2585847 h 4684871"/>
                  <a:gd name="connsiteX3166" fmla="*/ 3880295 w 7143371"/>
                  <a:gd name="connsiteY3166" fmla="*/ 2511743 h 4684871"/>
                  <a:gd name="connsiteX3167" fmla="*/ 3847529 w 7143371"/>
                  <a:gd name="connsiteY3167" fmla="*/ 2479453 h 4684871"/>
                  <a:gd name="connsiteX3168" fmla="*/ 3874199 w 7143371"/>
                  <a:gd name="connsiteY3168" fmla="*/ 2476595 h 4684871"/>
                  <a:gd name="connsiteX3169" fmla="*/ 3901631 w 7143371"/>
                  <a:gd name="connsiteY3169" fmla="*/ 2440972 h 4684871"/>
                  <a:gd name="connsiteX3170" fmla="*/ 3902774 w 7143371"/>
                  <a:gd name="connsiteY3170" fmla="*/ 2408492 h 4684871"/>
                  <a:gd name="connsiteX3171" fmla="*/ 3894487 w 7143371"/>
                  <a:gd name="connsiteY3171" fmla="*/ 2343341 h 4684871"/>
                  <a:gd name="connsiteX3172" fmla="*/ 3861911 w 7143371"/>
                  <a:gd name="connsiteY3172" fmla="*/ 2286381 h 4684871"/>
                  <a:gd name="connsiteX3173" fmla="*/ 3833908 w 7143371"/>
                  <a:gd name="connsiteY3173" fmla="*/ 2260283 h 4684871"/>
                  <a:gd name="connsiteX3174" fmla="*/ 3866769 w 7143371"/>
                  <a:gd name="connsiteY3174" fmla="*/ 2270760 h 4684871"/>
                  <a:gd name="connsiteX3175" fmla="*/ 3880295 w 7143371"/>
                  <a:gd name="connsiteY3175" fmla="*/ 2207800 h 4684871"/>
                  <a:gd name="connsiteX3176" fmla="*/ 1460183 w 7143371"/>
                  <a:gd name="connsiteY3176" fmla="*/ 2782919 h 4684871"/>
                  <a:gd name="connsiteX3177" fmla="*/ 1445324 w 7143371"/>
                  <a:gd name="connsiteY3177" fmla="*/ 2800541 h 4684871"/>
                  <a:gd name="connsiteX3178" fmla="*/ 1462278 w 7143371"/>
                  <a:gd name="connsiteY3178" fmla="*/ 2825020 h 4684871"/>
                  <a:gd name="connsiteX3179" fmla="*/ 1468374 w 7143371"/>
                  <a:gd name="connsiteY3179" fmla="*/ 2827782 h 4684871"/>
                  <a:gd name="connsiteX3180" fmla="*/ 1468374 w 7143371"/>
                  <a:gd name="connsiteY3180" fmla="*/ 2790540 h 4684871"/>
                  <a:gd name="connsiteX3181" fmla="*/ 1460183 w 7143371"/>
                  <a:gd name="connsiteY3181" fmla="*/ 2782919 h 4684871"/>
                  <a:gd name="connsiteX3182" fmla="*/ 3087338 w 7143371"/>
                  <a:gd name="connsiteY3182" fmla="*/ 3158395 h 4684871"/>
                  <a:gd name="connsiteX3183" fmla="*/ 3075718 w 7143371"/>
                  <a:gd name="connsiteY3183" fmla="*/ 3159443 h 4684871"/>
                  <a:gd name="connsiteX3184" fmla="*/ 3070384 w 7143371"/>
                  <a:gd name="connsiteY3184" fmla="*/ 3163348 h 4684871"/>
                  <a:gd name="connsiteX3185" fmla="*/ 3080290 w 7143371"/>
                  <a:gd name="connsiteY3185" fmla="*/ 3169158 h 4684871"/>
                  <a:gd name="connsiteX3186" fmla="*/ 3089434 w 7143371"/>
                  <a:gd name="connsiteY3186" fmla="*/ 3168396 h 4684871"/>
                  <a:gd name="connsiteX3187" fmla="*/ 3093815 w 7143371"/>
                  <a:gd name="connsiteY3187" fmla="*/ 3164110 h 4684871"/>
                  <a:gd name="connsiteX3188" fmla="*/ 3087338 w 7143371"/>
                  <a:gd name="connsiteY3188" fmla="*/ 3158490 h 4684871"/>
                  <a:gd name="connsiteX3189" fmla="*/ 3090005 w 7143371"/>
                  <a:gd name="connsiteY3189" fmla="*/ 3307937 h 4684871"/>
                  <a:gd name="connsiteX3190" fmla="*/ 3089434 w 7143371"/>
                  <a:gd name="connsiteY3190" fmla="*/ 3308128 h 4684871"/>
                  <a:gd name="connsiteX3191" fmla="*/ 3089053 w 7143371"/>
                  <a:gd name="connsiteY3191" fmla="*/ 3308699 h 4684871"/>
                  <a:gd name="connsiteX3192" fmla="*/ 3085243 w 7143371"/>
                  <a:gd name="connsiteY3192" fmla="*/ 3312128 h 4684871"/>
                  <a:gd name="connsiteX3193" fmla="*/ 3090577 w 7143371"/>
                  <a:gd name="connsiteY3193" fmla="*/ 3322606 h 4684871"/>
                  <a:gd name="connsiteX3194" fmla="*/ 3099911 w 7143371"/>
                  <a:gd name="connsiteY3194" fmla="*/ 3326511 h 4684871"/>
                  <a:gd name="connsiteX3195" fmla="*/ 3109627 w 7143371"/>
                  <a:gd name="connsiteY3195" fmla="*/ 3330988 h 4684871"/>
                  <a:gd name="connsiteX3196" fmla="*/ 3114389 w 7143371"/>
                  <a:gd name="connsiteY3196" fmla="*/ 3327654 h 4684871"/>
                  <a:gd name="connsiteX3197" fmla="*/ 3110198 w 7143371"/>
                  <a:gd name="connsiteY3197" fmla="*/ 3323749 h 4684871"/>
                  <a:gd name="connsiteX3198" fmla="*/ 3102007 w 7143371"/>
                  <a:gd name="connsiteY3198" fmla="*/ 3316510 h 4684871"/>
                  <a:gd name="connsiteX3199" fmla="*/ 3095530 w 7143371"/>
                  <a:gd name="connsiteY3199" fmla="*/ 3313176 h 4684871"/>
                  <a:gd name="connsiteX3200" fmla="*/ 3090005 w 7143371"/>
                  <a:gd name="connsiteY3200" fmla="*/ 3307842 h 4684871"/>
                  <a:gd name="connsiteX3201" fmla="*/ 3090005 w 7143371"/>
                  <a:gd name="connsiteY3201" fmla="*/ 3307842 h 4684871"/>
                  <a:gd name="connsiteX3202" fmla="*/ 662273 w 7143371"/>
                  <a:gd name="connsiteY3202" fmla="*/ 3433763 h 4684871"/>
                  <a:gd name="connsiteX3203" fmla="*/ 658082 w 7143371"/>
                  <a:gd name="connsiteY3203" fmla="*/ 3434906 h 4684871"/>
                  <a:gd name="connsiteX3204" fmla="*/ 658368 w 7143371"/>
                  <a:gd name="connsiteY3204" fmla="*/ 3436620 h 4684871"/>
                  <a:gd name="connsiteX3205" fmla="*/ 656939 w 7143371"/>
                  <a:gd name="connsiteY3205" fmla="*/ 3437954 h 4684871"/>
                  <a:gd name="connsiteX3206" fmla="*/ 655225 w 7143371"/>
                  <a:gd name="connsiteY3206" fmla="*/ 3438240 h 4684871"/>
                  <a:gd name="connsiteX3207" fmla="*/ 653987 w 7143371"/>
                  <a:gd name="connsiteY3207" fmla="*/ 3439097 h 4684871"/>
                  <a:gd name="connsiteX3208" fmla="*/ 653320 w 7143371"/>
                  <a:gd name="connsiteY3208" fmla="*/ 3440430 h 4684871"/>
                  <a:gd name="connsiteX3209" fmla="*/ 653701 w 7143371"/>
                  <a:gd name="connsiteY3209" fmla="*/ 3442049 h 4684871"/>
                  <a:gd name="connsiteX3210" fmla="*/ 656844 w 7143371"/>
                  <a:gd name="connsiteY3210" fmla="*/ 3444050 h 4684871"/>
                  <a:gd name="connsiteX3211" fmla="*/ 657987 w 7143371"/>
                  <a:gd name="connsiteY3211" fmla="*/ 3446526 h 4684871"/>
                  <a:gd name="connsiteX3212" fmla="*/ 664369 w 7143371"/>
                  <a:gd name="connsiteY3212" fmla="*/ 3446717 h 4684871"/>
                  <a:gd name="connsiteX3213" fmla="*/ 667607 w 7143371"/>
                  <a:gd name="connsiteY3213" fmla="*/ 3447288 h 4684871"/>
                  <a:gd name="connsiteX3214" fmla="*/ 670846 w 7143371"/>
                  <a:gd name="connsiteY3214" fmla="*/ 3446717 h 4684871"/>
                  <a:gd name="connsiteX3215" fmla="*/ 676656 w 7143371"/>
                  <a:gd name="connsiteY3215" fmla="*/ 3445002 h 4684871"/>
                  <a:gd name="connsiteX3216" fmla="*/ 680466 w 7143371"/>
                  <a:gd name="connsiteY3216" fmla="*/ 3441573 h 4684871"/>
                  <a:gd name="connsiteX3217" fmla="*/ 680466 w 7143371"/>
                  <a:gd name="connsiteY3217" fmla="*/ 3440240 h 4684871"/>
                  <a:gd name="connsiteX3218" fmla="*/ 678942 w 7143371"/>
                  <a:gd name="connsiteY3218" fmla="*/ 3437477 h 4684871"/>
                  <a:gd name="connsiteX3219" fmla="*/ 676085 w 7143371"/>
                  <a:gd name="connsiteY3219" fmla="*/ 3435858 h 4684871"/>
                  <a:gd name="connsiteX3220" fmla="*/ 674942 w 7143371"/>
                  <a:gd name="connsiteY3220" fmla="*/ 3436715 h 4684871"/>
                  <a:gd name="connsiteX3221" fmla="*/ 666750 w 7143371"/>
                  <a:gd name="connsiteY3221" fmla="*/ 3435573 h 4684871"/>
                  <a:gd name="connsiteX3222" fmla="*/ 665226 w 7143371"/>
                  <a:gd name="connsiteY3222" fmla="*/ 3434239 h 4684871"/>
                  <a:gd name="connsiteX3223" fmla="*/ 662369 w 7143371"/>
                  <a:gd name="connsiteY3223" fmla="*/ 3433763 h 4684871"/>
                  <a:gd name="connsiteX3224" fmla="*/ 2312289 w 7143371"/>
                  <a:gd name="connsiteY3224" fmla="*/ 3454623 h 4684871"/>
                  <a:gd name="connsiteX3225" fmla="*/ 2312289 w 7143371"/>
                  <a:gd name="connsiteY3225" fmla="*/ 3454813 h 4684871"/>
                  <a:gd name="connsiteX3226" fmla="*/ 2301145 w 7143371"/>
                  <a:gd name="connsiteY3226" fmla="*/ 3457099 h 4684871"/>
                  <a:gd name="connsiteX3227" fmla="*/ 2282381 w 7143371"/>
                  <a:gd name="connsiteY3227" fmla="*/ 3473958 h 4684871"/>
                  <a:gd name="connsiteX3228" fmla="*/ 2280095 w 7143371"/>
                  <a:gd name="connsiteY3228" fmla="*/ 3498723 h 4684871"/>
                  <a:gd name="connsiteX3229" fmla="*/ 2287905 w 7143371"/>
                  <a:gd name="connsiteY3229" fmla="*/ 3525679 h 4684871"/>
                  <a:gd name="connsiteX3230" fmla="*/ 2289715 w 7143371"/>
                  <a:gd name="connsiteY3230" fmla="*/ 3541395 h 4684871"/>
                  <a:gd name="connsiteX3231" fmla="*/ 2262569 w 7143371"/>
                  <a:gd name="connsiteY3231" fmla="*/ 3557397 h 4684871"/>
                  <a:gd name="connsiteX3232" fmla="*/ 2249424 w 7143371"/>
                  <a:gd name="connsiteY3232" fmla="*/ 3513963 h 4684871"/>
                  <a:gd name="connsiteX3233" fmla="*/ 2240661 w 7143371"/>
                  <a:gd name="connsiteY3233" fmla="*/ 3505295 h 4684871"/>
                  <a:gd name="connsiteX3234" fmla="*/ 2224278 w 7143371"/>
                  <a:gd name="connsiteY3234" fmla="*/ 3513963 h 4684871"/>
                  <a:gd name="connsiteX3235" fmla="*/ 2204657 w 7143371"/>
                  <a:gd name="connsiteY3235" fmla="*/ 3536347 h 4684871"/>
                  <a:gd name="connsiteX3236" fmla="*/ 2190083 w 7143371"/>
                  <a:gd name="connsiteY3236" fmla="*/ 3555778 h 4684871"/>
                  <a:gd name="connsiteX3237" fmla="*/ 2197037 w 7143371"/>
                  <a:gd name="connsiteY3237" fmla="*/ 3571208 h 4684871"/>
                  <a:gd name="connsiteX3238" fmla="*/ 2216944 w 7143371"/>
                  <a:gd name="connsiteY3238" fmla="*/ 3601498 h 4684871"/>
                  <a:gd name="connsiteX3239" fmla="*/ 2237137 w 7143371"/>
                  <a:gd name="connsiteY3239" fmla="*/ 3636264 h 4684871"/>
                  <a:gd name="connsiteX3240" fmla="*/ 2265807 w 7143371"/>
                  <a:gd name="connsiteY3240" fmla="*/ 3605689 h 4684871"/>
                  <a:gd name="connsiteX3241" fmla="*/ 2266760 w 7143371"/>
                  <a:gd name="connsiteY3241" fmla="*/ 3606165 h 4684871"/>
                  <a:gd name="connsiteX3242" fmla="*/ 2278475 w 7143371"/>
                  <a:gd name="connsiteY3242" fmla="*/ 3585401 h 4684871"/>
                  <a:gd name="connsiteX3243" fmla="*/ 2265617 w 7143371"/>
                  <a:gd name="connsiteY3243" fmla="*/ 3569208 h 4684871"/>
                  <a:gd name="connsiteX3244" fmla="*/ 2264664 w 7143371"/>
                  <a:gd name="connsiteY3244" fmla="*/ 3565589 h 4684871"/>
                  <a:gd name="connsiteX3245" fmla="*/ 2290763 w 7143371"/>
                  <a:gd name="connsiteY3245" fmla="*/ 3550349 h 4684871"/>
                  <a:gd name="connsiteX3246" fmla="*/ 2292287 w 7143371"/>
                  <a:gd name="connsiteY3246" fmla="*/ 3555968 h 4684871"/>
                  <a:gd name="connsiteX3247" fmla="*/ 2314194 w 7143371"/>
                  <a:gd name="connsiteY3247" fmla="*/ 3579590 h 4684871"/>
                  <a:gd name="connsiteX3248" fmla="*/ 2357152 w 7143371"/>
                  <a:gd name="connsiteY3248" fmla="*/ 3591878 h 4684871"/>
                  <a:gd name="connsiteX3249" fmla="*/ 2376392 w 7143371"/>
                  <a:gd name="connsiteY3249" fmla="*/ 3592640 h 4684871"/>
                  <a:gd name="connsiteX3250" fmla="*/ 2371439 w 7143371"/>
                  <a:gd name="connsiteY3250" fmla="*/ 3610928 h 4684871"/>
                  <a:gd name="connsiteX3251" fmla="*/ 2348675 w 7143371"/>
                  <a:gd name="connsiteY3251" fmla="*/ 3613976 h 4684871"/>
                  <a:gd name="connsiteX3252" fmla="*/ 2302669 w 7143371"/>
                  <a:gd name="connsiteY3252" fmla="*/ 3603498 h 4684871"/>
                  <a:gd name="connsiteX3253" fmla="*/ 2292382 w 7143371"/>
                  <a:gd name="connsiteY3253" fmla="*/ 3597116 h 4684871"/>
                  <a:gd name="connsiteX3254" fmla="*/ 2281238 w 7143371"/>
                  <a:gd name="connsiteY3254" fmla="*/ 3616548 h 4684871"/>
                  <a:gd name="connsiteX3255" fmla="*/ 2281238 w 7143371"/>
                  <a:gd name="connsiteY3255" fmla="*/ 3619024 h 4684871"/>
                  <a:gd name="connsiteX3256" fmla="*/ 2270665 w 7143371"/>
                  <a:gd name="connsiteY3256" fmla="*/ 3635502 h 4684871"/>
                  <a:gd name="connsiteX3257" fmla="*/ 2270665 w 7143371"/>
                  <a:gd name="connsiteY3257" fmla="*/ 3635693 h 4684871"/>
                  <a:gd name="connsiteX3258" fmla="*/ 2252282 w 7143371"/>
                  <a:gd name="connsiteY3258" fmla="*/ 3657029 h 4684871"/>
                  <a:gd name="connsiteX3259" fmla="*/ 2309432 w 7143371"/>
                  <a:gd name="connsiteY3259" fmla="*/ 3677603 h 4684871"/>
                  <a:gd name="connsiteX3260" fmla="*/ 2410968 w 7143371"/>
                  <a:gd name="connsiteY3260" fmla="*/ 3685985 h 4684871"/>
                  <a:gd name="connsiteX3261" fmla="*/ 2443163 w 7143371"/>
                  <a:gd name="connsiteY3261" fmla="*/ 3658838 h 4684871"/>
                  <a:gd name="connsiteX3262" fmla="*/ 2407444 w 7143371"/>
                  <a:gd name="connsiteY3262" fmla="*/ 3618929 h 4684871"/>
                  <a:gd name="connsiteX3263" fmla="*/ 2379917 w 7143371"/>
                  <a:gd name="connsiteY3263" fmla="*/ 3611404 h 4684871"/>
                  <a:gd name="connsiteX3264" fmla="*/ 2384584 w 7143371"/>
                  <a:gd name="connsiteY3264" fmla="*/ 3593687 h 4684871"/>
                  <a:gd name="connsiteX3265" fmla="*/ 2404491 w 7143371"/>
                  <a:gd name="connsiteY3265" fmla="*/ 3599879 h 4684871"/>
                  <a:gd name="connsiteX3266" fmla="*/ 2436400 w 7143371"/>
                  <a:gd name="connsiteY3266" fmla="*/ 3613309 h 4684871"/>
                  <a:gd name="connsiteX3267" fmla="*/ 2466023 w 7143371"/>
                  <a:gd name="connsiteY3267" fmla="*/ 3643598 h 4684871"/>
                  <a:gd name="connsiteX3268" fmla="*/ 2494026 w 7143371"/>
                  <a:gd name="connsiteY3268" fmla="*/ 3691223 h 4684871"/>
                  <a:gd name="connsiteX3269" fmla="*/ 2518886 w 7143371"/>
                  <a:gd name="connsiteY3269" fmla="*/ 3685318 h 4684871"/>
                  <a:gd name="connsiteX3270" fmla="*/ 2537651 w 7143371"/>
                  <a:gd name="connsiteY3270" fmla="*/ 3689890 h 4684871"/>
                  <a:gd name="connsiteX3271" fmla="*/ 2555177 w 7143371"/>
                  <a:gd name="connsiteY3271" fmla="*/ 3698653 h 4684871"/>
                  <a:gd name="connsiteX3272" fmla="*/ 2558606 w 7143371"/>
                  <a:gd name="connsiteY3272" fmla="*/ 3686366 h 4684871"/>
                  <a:gd name="connsiteX3273" fmla="*/ 2548604 w 7143371"/>
                  <a:gd name="connsiteY3273" fmla="*/ 3669506 h 4684871"/>
                  <a:gd name="connsiteX3274" fmla="*/ 2539842 w 7143371"/>
                  <a:gd name="connsiteY3274" fmla="*/ 3656076 h 4684871"/>
                  <a:gd name="connsiteX3275" fmla="*/ 2529935 w 7143371"/>
                  <a:gd name="connsiteY3275" fmla="*/ 3649313 h 4684871"/>
                  <a:gd name="connsiteX3276" fmla="*/ 2545652 w 7143371"/>
                  <a:gd name="connsiteY3276" fmla="*/ 3639122 h 4684871"/>
                  <a:gd name="connsiteX3277" fmla="*/ 2493645 w 7143371"/>
                  <a:gd name="connsiteY3277" fmla="*/ 3586544 h 4684871"/>
                  <a:gd name="connsiteX3278" fmla="*/ 2488121 w 7143371"/>
                  <a:gd name="connsiteY3278" fmla="*/ 3589687 h 4684871"/>
                  <a:gd name="connsiteX3279" fmla="*/ 2478405 w 7143371"/>
                  <a:gd name="connsiteY3279" fmla="*/ 3578543 h 4684871"/>
                  <a:gd name="connsiteX3280" fmla="*/ 2481548 w 7143371"/>
                  <a:gd name="connsiteY3280" fmla="*/ 3571780 h 4684871"/>
                  <a:gd name="connsiteX3281" fmla="*/ 2473928 w 7143371"/>
                  <a:gd name="connsiteY3281" fmla="*/ 3563969 h 4684871"/>
                  <a:gd name="connsiteX3282" fmla="*/ 2467261 w 7143371"/>
                  <a:gd name="connsiteY3282" fmla="*/ 3568446 h 4684871"/>
                  <a:gd name="connsiteX3283" fmla="*/ 2461736 w 7143371"/>
                  <a:gd name="connsiteY3283" fmla="*/ 3558254 h 4684871"/>
                  <a:gd name="connsiteX3284" fmla="*/ 2458498 w 7143371"/>
                  <a:gd name="connsiteY3284" fmla="*/ 3548348 h 4684871"/>
                  <a:gd name="connsiteX3285" fmla="*/ 2454117 w 7143371"/>
                  <a:gd name="connsiteY3285" fmla="*/ 3544919 h 4684871"/>
                  <a:gd name="connsiteX3286" fmla="*/ 2449640 w 7143371"/>
                  <a:gd name="connsiteY3286" fmla="*/ 3555016 h 4684871"/>
                  <a:gd name="connsiteX3287" fmla="*/ 2436495 w 7143371"/>
                  <a:gd name="connsiteY3287" fmla="*/ 3547205 h 4684871"/>
                  <a:gd name="connsiteX3288" fmla="*/ 2423351 w 7143371"/>
                  <a:gd name="connsiteY3288" fmla="*/ 3523583 h 4684871"/>
                  <a:gd name="connsiteX3289" fmla="*/ 2371535 w 7143371"/>
                  <a:gd name="connsiteY3289" fmla="*/ 3478721 h 4684871"/>
                  <a:gd name="connsiteX3290" fmla="*/ 2332006 w 7143371"/>
                  <a:gd name="connsiteY3290" fmla="*/ 3458432 h 4684871"/>
                  <a:gd name="connsiteX3291" fmla="*/ 2312384 w 7143371"/>
                  <a:gd name="connsiteY3291" fmla="*/ 3454813 h 4684871"/>
                  <a:gd name="connsiteX3292" fmla="*/ 2312384 w 7143371"/>
                  <a:gd name="connsiteY3292" fmla="*/ 3454813 h 4684871"/>
                  <a:gd name="connsiteX3293" fmla="*/ 2077307 w 7143371"/>
                  <a:gd name="connsiteY3293" fmla="*/ 3499485 h 4684871"/>
                  <a:gd name="connsiteX3294" fmla="*/ 2059496 w 7143371"/>
                  <a:gd name="connsiteY3294" fmla="*/ 3503390 h 4684871"/>
                  <a:gd name="connsiteX3295" fmla="*/ 2031683 w 7143371"/>
                  <a:gd name="connsiteY3295" fmla="*/ 3506819 h 4684871"/>
                  <a:gd name="connsiteX3296" fmla="*/ 2007489 w 7143371"/>
                  <a:gd name="connsiteY3296" fmla="*/ 3524536 h 4684871"/>
                  <a:gd name="connsiteX3297" fmla="*/ 1985582 w 7143371"/>
                  <a:gd name="connsiteY3297" fmla="*/ 3533870 h 4684871"/>
                  <a:gd name="connsiteX3298" fmla="*/ 1976247 w 7143371"/>
                  <a:gd name="connsiteY3298" fmla="*/ 3550349 h 4684871"/>
                  <a:gd name="connsiteX3299" fmla="*/ 1986725 w 7143371"/>
                  <a:gd name="connsiteY3299" fmla="*/ 3571685 h 4684871"/>
                  <a:gd name="connsiteX3300" fmla="*/ 2023586 w 7143371"/>
                  <a:gd name="connsiteY3300" fmla="*/ 3589306 h 4684871"/>
                  <a:gd name="connsiteX3301" fmla="*/ 2065115 w 7143371"/>
                  <a:gd name="connsiteY3301" fmla="*/ 3589306 h 4684871"/>
                  <a:gd name="connsiteX3302" fmla="*/ 2149983 w 7143371"/>
                  <a:gd name="connsiteY3302" fmla="*/ 3556730 h 4684871"/>
                  <a:gd name="connsiteX3303" fmla="*/ 2159032 w 7143371"/>
                  <a:gd name="connsiteY3303" fmla="*/ 3555968 h 4684871"/>
                  <a:gd name="connsiteX3304" fmla="*/ 2151126 w 7143371"/>
                  <a:gd name="connsiteY3304" fmla="*/ 3532632 h 4684871"/>
                  <a:gd name="connsiteX3305" fmla="*/ 2132743 w 7143371"/>
                  <a:gd name="connsiteY3305" fmla="*/ 3509105 h 4684871"/>
                  <a:gd name="connsiteX3306" fmla="*/ 2101977 w 7143371"/>
                  <a:gd name="connsiteY3306" fmla="*/ 3501009 h 4684871"/>
                  <a:gd name="connsiteX3307" fmla="*/ 2083784 w 7143371"/>
                  <a:gd name="connsiteY3307" fmla="*/ 3499390 h 4684871"/>
                  <a:gd name="connsiteX3308" fmla="*/ 2077307 w 7143371"/>
                  <a:gd name="connsiteY3308" fmla="*/ 3499390 h 4684871"/>
                  <a:gd name="connsiteX3309" fmla="*/ 3410617 w 7143371"/>
                  <a:gd name="connsiteY3309" fmla="*/ 3532251 h 4684871"/>
                  <a:gd name="connsiteX3310" fmla="*/ 3409664 w 7143371"/>
                  <a:gd name="connsiteY3310" fmla="*/ 3532442 h 4684871"/>
                  <a:gd name="connsiteX3311" fmla="*/ 3405473 w 7143371"/>
                  <a:gd name="connsiteY3311" fmla="*/ 3537585 h 4684871"/>
                  <a:gd name="connsiteX3312" fmla="*/ 3400996 w 7143371"/>
                  <a:gd name="connsiteY3312" fmla="*/ 3560350 h 4684871"/>
                  <a:gd name="connsiteX3313" fmla="*/ 3405473 w 7143371"/>
                  <a:gd name="connsiteY3313" fmla="*/ 3583115 h 4684871"/>
                  <a:gd name="connsiteX3314" fmla="*/ 3411950 w 7143371"/>
                  <a:gd name="connsiteY3314" fmla="*/ 3595973 h 4684871"/>
                  <a:gd name="connsiteX3315" fmla="*/ 3417856 w 7143371"/>
                  <a:gd name="connsiteY3315" fmla="*/ 3609213 h 4684871"/>
                  <a:gd name="connsiteX3316" fmla="*/ 3429286 w 7143371"/>
                  <a:gd name="connsiteY3316" fmla="*/ 3623215 h 4684871"/>
                  <a:gd name="connsiteX3317" fmla="*/ 3439573 w 7143371"/>
                  <a:gd name="connsiteY3317" fmla="*/ 3627120 h 4684871"/>
                  <a:gd name="connsiteX3318" fmla="*/ 3450622 w 7143371"/>
                  <a:gd name="connsiteY3318" fmla="*/ 3636074 h 4684871"/>
                  <a:gd name="connsiteX3319" fmla="*/ 3467957 w 7143371"/>
                  <a:gd name="connsiteY3319" fmla="*/ 3642169 h 4684871"/>
                  <a:gd name="connsiteX3320" fmla="*/ 3475196 w 7143371"/>
                  <a:gd name="connsiteY3320" fmla="*/ 3625596 h 4684871"/>
                  <a:gd name="connsiteX3321" fmla="*/ 3470243 w 7143371"/>
                  <a:gd name="connsiteY3321" fmla="*/ 3601117 h 4684871"/>
                  <a:gd name="connsiteX3322" fmla="*/ 3461480 w 7143371"/>
                  <a:gd name="connsiteY3322" fmla="*/ 3583210 h 4684871"/>
                  <a:gd name="connsiteX3323" fmla="*/ 3453860 w 7143371"/>
                  <a:gd name="connsiteY3323" fmla="*/ 3568256 h 4684871"/>
                  <a:gd name="connsiteX3324" fmla="*/ 3443383 w 7143371"/>
                  <a:gd name="connsiteY3324" fmla="*/ 3559778 h 4684871"/>
                  <a:gd name="connsiteX3325" fmla="*/ 3438716 w 7143371"/>
                  <a:gd name="connsiteY3325" fmla="*/ 3549301 h 4684871"/>
                  <a:gd name="connsiteX3326" fmla="*/ 3431477 w 7143371"/>
                  <a:gd name="connsiteY3326" fmla="*/ 3542252 h 4684871"/>
                  <a:gd name="connsiteX3327" fmla="*/ 3422142 w 7143371"/>
                  <a:gd name="connsiteY3327" fmla="*/ 3538823 h 4684871"/>
                  <a:gd name="connsiteX3328" fmla="*/ 3417189 w 7143371"/>
                  <a:gd name="connsiteY3328" fmla="*/ 3534347 h 4684871"/>
                  <a:gd name="connsiteX3329" fmla="*/ 3411569 w 7143371"/>
                  <a:gd name="connsiteY3329" fmla="*/ 3532442 h 4684871"/>
                  <a:gd name="connsiteX3330" fmla="*/ 3410617 w 7143371"/>
                  <a:gd name="connsiteY3330" fmla="*/ 3532442 h 4684871"/>
                  <a:gd name="connsiteX3331" fmla="*/ 3551396 w 7143371"/>
                  <a:gd name="connsiteY3331" fmla="*/ 3572447 h 4684871"/>
                  <a:gd name="connsiteX3332" fmla="*/ 3549682 w 7143371"/>
                  <a:gd name="connsiteY3332" fmla="*/ 3574352 h 4684871"/>
                  <a:gd name="connsiteX3333" fmla="*/ 3552539 w 7143371"/>
                  <a:gd name="connsiteY3333" fmla="*/ 3582162 h 4684871"/>
                  <a:gd name="connsiteX3334" fmla="*/ 3563398 w 7143371"/>
                  <a:gd name="connsiteY3334" fmla="*/ 3584924 h 4684871"/>
                  <a:gd name="connsiteX3335" fmla="*/ 3571018 w 7143371"/>
                  <a:gd name="connsiteY3335" fmla="*/ 3587686 h 4684871"/>
                  <a:gd name="connsiteX3336" fmla="*/ 3576542 w 7143371"/>
                  <a:gd name="connsiteY3336" fmla="*/ 3592163 h 4684871"/>
                  <a:gd name="connsiteX3337" fmla="*/ 3571018 w 7143371"/>
                  <a:gd name="connsiteY3337" fmla="*/ 3597688 h 4684871"/>
                  <a:gd name="connsiteX3338" fmla="*/ 3571970 w 7143371"/>
                  <a:gd name="connsiteY3338" fmla="*/ 3603498 h 4684871"/>
                  <a:gd name="connsiteX3339" fmla="*/ 3578733 w 7143371"/>
                  <a:gd name="connsiteY3339" fmla="*/ 3606641 h 4684871"/>
                  <a:gd name="connsiteX3340" fmla="*/ 3580733 w 7143371"/>
                  <a:gd name="connsiteY3340" fmla="*/ 3600450 h 4684871"/>
                  <a:gd name="connsiteX3341" fmla="*/ 3583400 w 7143371"/>
                  <a:gd name="connsiteY3341" fmla="*/ 3597307 h 4684871"/>
                  <a:gd name="connsiteX3342" fmla="*/ 3602069 w 7143371"/>
                  <a:gd name="connsiteY3342" fmla="*/ 3612261 h 4684871"/>
                  <a:gd name="connsiteX3343" fmla="*/ 3602641 w 7143371"/>
                  <a:gd name="connsiteY3343" fmla="*/ 3617119 h 4684871"/>
                  <a:gd name="connsiteX3344" fmla="*/ 3595021 w 7143371"/>
                  <a:gd name="connsiteY3344" fmla="*/ 3631692 h 4684871"/>
                  <a:gd name="connsiteX3345" fmla="*/ 3581495 w 7143371"/>
                  <a:gd name="connsiteY3345" fmla="*/ 3643979 h 4684871"/>
                  <a:gd name="connsiteX3346" fmla="*/ 3569303 w 7143371"/>
                  <a:gd name="connsiteY3346" fmla="*/ 3653885 h 4684871"/>
                  <a:gd name="connsiteX3347" fmla="*/ 3569970 w 7143371"/>
                  <a:gd name="connsiteY3347" fmla="*/ 3661219 h 4684871"/>
                  <a:gd name="connsiteX3348" fmla="*/ 3582543 w 7143371"/>
                  <a:gd name="connsiteY3348" fmla="*/ 3660648 h 4684871"/>
                  <a:gd name="connsiteX3349" fmla="*/ 3589496 w 7143371"/>
                  <a:gd name="connsiteY3349" fmla="*/ 3649980 h 4684871"/>
                  <a:gd name="connsiteX3350" fmla="*/ 3595592 w 7143371"/>
                  <a:gd name="connsiteY3350" fmla="*/ 3641789 h 4684871"/>
                  <a:gd name="connsiteX3351" fmla="*/ 3597021 w 7143371"/>
                  <a:gd name="connsiteY3351" fmla="*/ 3640074 h 4684871"/>
                  <a:gd name="connsiteX3352" fmla="*/ 3600545 w 7143371"/>
                  <a:gd name="connsiteY3352" fmla="*/ 3638360 h 4684871"/>
                  <a:gd name="connsiteX3353" fmla="*/ 3610832 w 7143371"/>
                  <a:gd name="connsiteY3353" fmla="*/ 3631121 h 4684871"/>
                  <a:gd name="connsiteX3354" fmla="*/ 3615214 w 7143371"/>
                  <a:gd name="connsiteY3354" fmla="*/ 3623310 h 4684871"/>
                  <a:gd name="connsiteX3355" fmla="*/ 3615595 w 7143371"/>
                  <a:gd name="connsiteY3355" fmla="*/ 3615500 h 4684871"/>
                  <a:gd name="connsiteX3356" fmla="*/ 3612452 w 7143371"/>
                  <a:gd name="connsiteY3356" fmla="*/ 3609308 h 4684871"/>
                  <a:gd name="connsiteX3357" fmla="*/ 3606356 w 7143371"/>
                  <a:gd name="connsiteY3357" fmla="*/ 3610070 h 4684871"/>
                  <a:gd name="connsiteX3358" fmla="*/ 3589401 w 7143371"/>
                  <a:gd name="connsiteY3358" fmla="*/ 3596640 h 4684871"/>
                  <a:gd name="connsiteX3359" fmla="*/ 3589401 w 7143371"/>
                  <a:gd name="connsiteY3359" fmla="*/ 3591020 h 4684871"/>
                  <a:gd name="connsiteX3360" fmla="*/ 3581781 w 7143371"/>
                  <a:gd name="connsiteY3360" fmla="*/ 3583210 h 4684871"/>
                  <a:gd name="connsiteX3361" fmla="*/ 3569208 w 7143371"/>
                  <a:gd name="connsiteY3361" fmla="*/ 3576542 h 4684871"/>
                  <a:gd name="connsiteX3362" fmla="*/ 3558350 w 7143371"/>
                  <a:gd name="connsiteY3362" fmla="*/ 3574352 h 4684871"/>
                  <a:gd name="connsiteX3363" fmla="*/ 3552158 w 7143371"/>
                  <a:gd name="connsiteY3363" fmla="*/ 3572447 h 4684871"/>
                  <a:gd name="connsiteX3364" fmla="*/ 3551301 w 7143371"/>
                  <a:gd name="connsiteY3364" fmla="*/ 3572447 h 4684871"/>
                  <a:gd name="connsiteX3365" fmla="*/ 3711797 w 7143371"/>
                  <a:gd name="connsiteY3365" fmla="*/ 3579495 h 4684871"/>
                  <a:gd name="connsiteX3366" fmla="*/ 3705130 w 7143371"/>
                  <a:gd name="connsiteY3366" fmla="*/ 3579781 h 4684871"/>
                  <a:gd name="connsiteX3367" fmla="*/ 3671792 w 7143371"/>
                  <a:gd name="connsiteY3367" fmla="*/ 3583686 h 4684871"/>
                  <a:gd name="connsiteX3368" fmla="*/ 3639217 w 7143371"/>
                  <a:gd name="connsiteY3368" fmla="*/ 3587591 h 4684871"/>
                  <a:gd name="connsiteX3369" fmla="*/ 3633692 w 7143371"/>
                  <a:gd name="connsiteY3369" fmla="*/ 3593687 h 4684871"/>
                  <a:gd name="connsiteX3370" fmla="*/ 3637502 w 7143371"/>
                  <a:gd name="connsiteY3370" fmla="*/ 3601022 h 4684871"/>
                  <a:gd name="connsiteX3371" fmla="*/ 3640741 w 7143371"/>
                  <a:gd name="connsiteY3371" fmla="*/ 3605308 h 4684871"/>
                  <a:gd name="connsiteX3372" fmla="*/ 3638455 w 7143371"/>
                  <a:gd name="connsiteY3372" fmla="*/ 3611499 h 4684871"/>
                  <a:gd name="connsiteX3373" fmla="*/ 3630835 w 7143371"/>
                  <a:gd name="connsiteY3373" fmla="*/ 3613118 h 4684871"/>
                  <a:gd name="connsiteX3374" fmla="*/ 3621215 w 7143371"/>
                  <a:gd name="connsiteY3374" fmla="*/ 3614261 h 4684871"/>
                  <a:gd name="connsiteX3375" fmla="*/ 3617786 w 7143371"/>
                  <a:gd name="connsiteY3375" fmla="*/ 3620453 h 4684871"/>
                  <a:gd name="connsiteX3376" fmla="*/ 3616643 w 7143371"/>
                  <a:gd name="connsiteY3376" fmla="*/ 3631597 h 4684871"/>
                  <a:gd name="connsiteX3377" fmla="*/ 3621119 w 7143371"/>
                  <a:gd name="connsiteY3377" fmla="*/ 3640931 h 4684871"/>
                  <a:gd name="connsiteX3378" fmla="*/ 3632550 w 7143371"/>
                  <a:gd name="connsiteY3378" fmla="*/ 3640931 h 4684871"/>
                  <a:gd name="connsiteX3379" fmla="*/ 3644456 w 7143371"/>
                  <a:gd name="connsiteY3379" fmla="*/ 3642074 h 4684871"/>
                  <a:gd name="connsiteX3380" fmla="*/ 3648266 w 7143371"/>
                  <a:gd name="connsiteY3380" fmla="*/ 3653790 h 4684871"/>
                  <a:gd name="connsiteX3381" fmla="*/ 3649409 w 7143371"/>
                  <a:gd name="connsiteY3381" fmla="*/ 3662267 h 4684871"/>
                  <a:gd name="connsiteX3382" fmla="*/ 3642360 w 7143371"/>
                  <a:gd name="connsiteY3382" fmla="*/ 3668363 h 4684871"/>
                  <a:gd name="connsiteX3383" fmla="*/ 3635693 w 7143371"/>
                  <a:gd name="connsiteY3383" fmla="*/ 3662744 h 4684871"/>
                  <a:gd name="connsiteX3384" fmla="*/ 3629787 w 7143371"/>
                  <a:gd name="connsiteY3384" fmla="*/ 3659600 h 4684871"/>
                  <a:gd name="connsiteX3385" fmla="*/ 3624263 w 7143371"/>
                  <a:gd name="connsiteY3385" fmla="*/ 3663315 h 4684871"/>
                  <a:gd name="connsiteX3386" fmla="*/ 3621977 w 7143371"/>
                  <a:gd name="connsiteY3386" fmla="*/ 3670554 h 4684871"/>
                  <a:gd name="connsiteX3387" fmla="*/ 3634550 w 7143371"/>
                  <a:gd name="connsiteY3387" fmla="*/ 3680651 h 4684871"/>
                  <a:gd name="connsiteX3388" fmla="*/ 3642836 w 7143371"/>
                  <a:gd name="connsiteY3388" fmla="*/ 3692938 h 4684871"/>
                  <a:gd name="connsiteX3389" fmla="*/ 3644932 w 7143371"/>
                  <a:gd name="connsiteY3389" fmla="*/ 3704654 h 4684871"/>
                  <a:gd name="connsiteX3390" fmla="*/ 3652552 w 7143371"/>
                  <a:gd name="connsiteY3390" fmla="*/ 3715798 h 4684871"/>
                  <a:gd name="connsiteX3391" fmla="*/ 3657505 w 7143371"/>
                  <a:gd name="connsiteY3391" fmla="*/ 3728085 h 4684871"/>
                  <a:gd name="connsiteX3392" fmla="*/ 3669411 w 7143371"/>
                  <a:gd name="connsiteY3392" fmla="*/ 3741896 h 4684871"/>
                  <a:gd name="connsiteX3393" fmla="*/ 3686461 w 7143371"/>
                  <a:gd name="connsiteY3393" fmla="*/ 3760375 h 4684871"/>
                  <a:gd name="connsiteX3394" fmla="*/ 3718655 w 7143371"/>
                  <a:gd name="connsiteY3394" fmla="*/ 3784854 h 4684871"/>
                  <a:gd name="connsiteX3395" fmla="*/ 3732752 w 7143371"/>
                  <a:gd name="connsiteY3395" fmla="*/ 3778186 h 4684871"/>
                  <a:gd name="connsiteX3396" fmla="*/ 3747421 w 7143371"/>
                  <a:gd name="connsiteY3396" fmla="*/ 3756946 h 4684871"/>
                  <a:gd name="connsiteX3397" fmla="*/ 3741325 w 7143371"/>
                  <a:gd name="connsiteY3397" fmla="*/ 3740182 h 4684871"/>
                  <a:gd name="connsiteX3398" fmla="*/ 3733133 w 7143371"/>
                  <a:gd name="connsiteY3398" fmla="*/ 3728942 h 4684871"/>
                  <a:gd name="connsiteX3399" fmla="*/ 3710845 w 7143371"/>
                  <a:gd name="connsiteY3399" fmla="*/ 3705701 h 4684871"/>
                  <a:gd name="connsiteX3400" fmla="*/ 3702272 w 7143371"/>
                  <a:gd name="connsiteY3400" fmla="*/ 3688271 h 4684871"/>
                  <a:gd name="connsiteX3401" fmla="*/ 3699415 w 7143371"/>
                  <a:gd name="connsiteY3401" fmla="*/ 3669411 h 4684871"/>
                  <a:gd name="connsiteX3402" fmla="*/ 3692938 w 7143371"/>
                  <a:gd name="connsiteY3402" fmla="*/ 3663886 h 4684871"/>
                  <a:gd name="connsiteX3403" fmla="*/ 3682651 w 7143371"/>
                  <a:gd name="connsiteY3403" fmla="*/ 3663886 h 4684871"/>
                  <a:gd name="connsiteX3404" fmla="*/ 3672745 w 7143371"/>
                  <a:gd name="connsiteY3404" fmla="*/ 3660458 h 4684871"/>
                  <a:gd name="connsiteX3405" fmla="*/ 3666649 w 7143371"/>
                  <a:gd name="connsiteY3405" fmla="*/ 3643313 h 4684871"/>
                  <a:gd name="connsiteX3406" fmla="*/ 3667792 w 7143371"/>
                  <a:gd name="connsiteY3406" fmla="*/ 3634359 h 4684871"/>
                  <a:gd name="connsiteX3407" fmla="*/ 3673126 w 7143371"/>
                  <a:gd name="connsiteY3407" fmla="*/ 3625977 h 4684871"/>
                  <a:gd name="connsiteX3408" fmla="*/ 3684175 w 7143371"/>
                  <a:gd name="connsiteY3408" fmla="*/ 3628263 h 4684871"/>
                  <a:gd name="connsiteX3409" fmla="*/ 3698843 w 7143371"/>
                  <a:gd name="connsiteY3409" fmla="*/ 3624929 h 4684871"/>
                  <a:gd name="connsiteX3410" fmla="*/ 3717893 w 7143371"/>
                  <a:gd name="connsiteY3410" fmla="*/ 3612071 h 4684871"/>
                  <a:gd name="connsiteX3411" fmla="*/ 3728942 w 7143371"/>
                  <a:gd name="connsiteY3411" fmla="*/ 3589306 h 4684871"/>
                  <a:gd name="connsiteX3412" fmla="*/ 3711607 w 7143371"/>
                  <a:gd name="connsiteY3412" fmla="*/ 3579495 h 4684871"/>
                  <a:gd name="connsiteX3413" fmla="*/ 2097024 w 7143371"/>
                  <a:gd name="connsiteY3413" fmla="*/ 3637026 h 4684871"/>
                  <a:gd name="connsiteX3414" fmla="*/ 2091500 w 7143371"/>
                  <a:gd name="connsiteY3414" fmla="*/ 3638645 h 4684871"/>
                  <a:gd name="connsiteX3415" fmla="*/ 2083213 w 7143371"/>
                  <a:gd name="connsiteY3415" fmla="*/ 3654838 h 4684871"/>
                  <a:gd name="connsiteX3416" fmla="*/ 2099882 w 7143371"/>
                  <a:gd name="connsiteY3416" fmla="*/ 3676745 h 4684871"/>
                  <a:gd name="connsiteX3417" fmla="*/ 2105120 w 7143371"/>
                  <a:gd name="connsiteY3417" fmla="*/ 3711226 h 4684871"/>
                  <a:gd name="connsiteX3418" fmla="*/ 2132076 w 7143371"/>
                  <a:gd name="connsiteY3418" fmla="*/ 3723894 h 4684871"/>
                  <a:gd name="connsiteX3419" fmla="*/ 2143792 w 7143371"/>
                  <a:gd name="connsiteY3419" fmla="*/ 3705701 h 4684871"/>
                  <a:gd name="connsiteX3420" fmla="*/ 2130362 w 7143371"/>
                  <a:gd name="connsiteY3420" fmla="*/ 3693033 h 4684871"/>
                  <a:gd name="connsiteX3421" fmla="*/ 2130362 w 7143371"/>
                  <a:gd name="connsiteY3421" fmla="*/ 3676745 h 4684871"/>
                  <a:gd name="connsiteX3422" fmla="*/ 2138839 w 7143371"/>
                  <a:gd name="connsiteY3422" fmla="*/ 3664077 h 4684871"/>
                  <a:gd name="connsiteX3423" fmla="*/ 2133886 w 7143371"/>
                  <a:gd name="connsiteY3423" fmla="*/ 3644075 h 4684871"/>
                  <a:gd name="connsiteX3424" fmla="*/ 2116836 w 7143371"/>
                  <a:gd name="connsiteY3424" fmla="*/ 3640455 h 4684871"/>
                  <a:gd name="connsiteX3425" fmla="*/ 2097024 w 7143371"/>
                  <a:gd name="connsiteY3425" fmla="*/ 3637121 h 4684871"/>
                  <a:gd name="connsiteX3426" fmla="*/ 2166080 w 7143371"/>
                  <a:gd name="connsiteY3426" fmla="*/ 3665315 h 4684871"/>
                  <a:gd name="connsiteX3427" fmla="*/ 2162556 w 7143371"/>
                  <a:gd name="connsiteY3427" fmla="*/ 3681508 h 4684871"/>
                  <a:gd name="connsiteX3428" fmla="*/ 2172748 w 7143371"/>
                  <a:gd name="connsiteY3428" fmla="*/ 3696081 h 4684871"/>
                  <a:gd name="connsiteX3429" fmla="*/ 2189702 w 7143371"/>
                  <a:gd name="connsiteY3429" fmla="*/ 3712369 h 4684871"/>
                  <a:gd name="connsiteX3430" fmla="*/ 2196465 w 7143371"/>
                  <a:gd name="connsiteY3430" fmla="*/ 3712369 h 4684871"/>
                  <a:gd name="connsiteX3431" fmla="*/ 2204752 w 7143371"/>
                  <a:gd name="connsiteY3431" fmla="*/ 3694176 h 4684871"/>
                  <a:gd name="connsiteX3432" fmla="*/ 2179511 w 7143371"/>
                  <a:gd name="connsiteY3432" fmla="*/ 3670649 h 4684871"/>
                  <a:gd name="connsiteX3433" fmla="*/ 2166080 w 7143371"/>
                  <a:gd name="connsiteY3433" fmla="*/ 3665315 h 4684871"/>
                  <a:gd name="connsiteX3434" fmla="*/ 3741611 w 7143371"/>
                  <a:gd name="connsiteY3434" fmla="*/ 3671697 h 4684871"/>
                  <a:gd name="connsiteX3435" fmla="*/ 3730276 w 7143371"/>
                  <a:gd name="connsiteY3435" fmla="*/ 3678936 h 4684871"/>
                  <a:gd name="connsiteX3436" fmla="*/ 3742658 w 7143371"/>
                  <a:gd name="connsiteY3436" fmla="*/ 3699510 h 4684871"/>
                  <a:gd name="connsiteX3437" fmla="*/ 3767804 w 7143371"/>
                  <a:gd name="connsiteY3437" fmla="*/ 3725704 h 4684871"/>
                  <a:gd name="connsiteX3438" fmla="*/ 3777520 w 7143371"/>
                  <a:gd name="connsiteY3438" fmla="*/ 3737419 h 4684871"/>
                  <a:gd name="connsiteX3439" fmla="*/ 3788950 w 7143371"/>
                  <a:gd name="connsiteY3439" fmla="*/ 3739706 h 4684871"/>
                  <a:gd name="connsiteX3440" fmla="*/ 3798856 w 7143371"/>
                  <a:gd name="connsiteY3440" fmla="*/ 3726847 h 4684871"/>
                  <a:gd name="connsiteX3441" fmla="*/ 3791617 w 7143371"/>
                  <a:gd name="connsiteY3441" fmla="*/ 3707225 h 4684871"/>
                  <a:gd name="connsiteX3442" fmla="*/ 3786854 w 7143371"/>
                  <a:gd name="connsiteY3442" fmla="*/ 3693224 h 4684871"/>
                  <a:gd name="connsiteX3443" fmla="*/ 3773710 w 7143371"/>
                  <a:gd name="connsiteY3443" fmla="*/ 3680555 h 4684871"/>
                  <a:gd name="connsiteX3444" fmla="*/ 3757898 w 7143371"/>
                  <a:gd name="connsiteY3444" fmla="*/ 3672745 h 4684871"/>
                  <a:gd name="connsiteX3445" fmla="*/ 3741515 w 7143371"/>
                  <a:gd name="connsiteY3445" fmla="*/ 3671602 h 4684871"/>
                  <a:gd name="connsiteX3446" fmla="*/ 3543205 w 7143371"/>
                  <a:gd name="connsiteY3446" fmla="*/ 3702558 h 4684871"/>
                  <a:gd name="connsiteX3447" fmla="*/ 3536252 w 7143371"/>
                  <a:gd name="connsiteY3447" fmla="*/ 3705130 h 4684871"/>
                  <a:gd name="connsiteX3448" fmla="*/ 3517583 w 7143371"/>
                  <a:gd name="connsiteY3448" fmla="*/ 3716274 h 4684871"/>
                  <a:gd name="connsiteX3449" fmla="*/ 3515296 w 7143371"/>
                  <a:gd name="connsiteY3449" fmla="*/ 3727418 h 4684871"/>
                  <a:gd name="connsiteX3450" fmla="*/ 3533204 w 7143371"/>
                  <a:gd name="connsiteY3450" fmla="*/ 3741801 h 4684871"/>
                  <a:gd name="connsiteX3451" fmla="*/ 3566065 w 7143371"/>
                  <a:gd name="connsiteY3451" fmla="*/ 3779330 h 4684871"/>
                  <a:gd name="connsiteX3452" fmla="*/ 3597593 w 7143371"/>
                  <a:gd name="connsiteY3452" fmla="*/ 3822002 h 4684871"/>
                  <a:gd name="connsiteX3453" fmla="*/ 3615119 w 7143371"/>
                  <a:gd name="connsiteY3453" fmla="*/ 3837527 h 4684871"/>
                  <a:gd name="connsiteX3454" fmla="*/ 3632645 w 7143371"/>
                  <a:gd name="connsiteY3454" fmla="*/ 3850958 h 4684871"/>
                  <a:gd name="connsiteX3455" fmla="*/ 3640265 w 7143371"/>
                  <a:gd name="connsiteY3455" fmla="*/ 3841052 h 4684871"/>
                  <a:gd name="connsiteX3456" fmla="*/ 3635312 w 7143371"/>
                  <a:gd name="connsiteY3456" fmla="*/ 3808762 h 4684871"/>
                  <a:gd name="connsiteX3457" fmla="*/ 3634645 w 7143371"/>
                  <a:gd name="connsiteY3457" fmla="*/ 3785235 h 4684871"/>
                  <a:gd name="connsiteX3458" fmla="*/ 3635788 w 7143371"/>
                  <a:gd name="connsiteY3458" fmla="*/ 3757517 h 4684871"/>
                  <a:gd name="connsiteX3459" fmla="*/ 3630454 w 7143371"/>
                  <a:gd name="connsiteY3459" fmla="*/ 3743706 h 4684871"/>
                  <a:gd name="connsiteX3460" fmla="*/ 3615595 w 7143371"/>
                  <a:gd name="connsiteY3460" fmla="*/ 3735229 h 4684871"/>
                  <a:gd name="connsiteX3461" fmla="*/ 3595021 w 7143371"/>
                  <a:gd name="connsiteY3461" fmla="*/ 3725323 h 4684871"/>
                  <a:gd name="connsiteX3462" fmla="*/ 3586448 w 7143371"/>
                  <a:gd name="connsiteY3462" fmla="*/ 3721418 h 4684871"/>
                  <a:gd name="connsiteX3463" fmla="*/ 3575018 w 7143371"/>
                  <a:gd name="connsiteY3463" fmla="*/ 3719132 h 4684871"/>
                  <a:gd name="connsiteX3464" fmla="*/ 3563398 w 7143371"/>
                  <a:gd name="connsiteY3464" fmla="*/ 3711321 h 4684871"/>
                  <a:gd name="connsiteX3465" fmla="*/ 3550444 w 7143371"/>
                  <a:gd name="connsiteY3465" fmla="*/ 3704082 h 4684871"/>
                  <a:gd name="connsiteX3466" fmla="*/ 3543205 w 7143371"/>
                  <a:gd name="connsiteY3466" fmla="*/ 3702653 h 4684871"/>
                  <a:gd name="connsiteX3467" fmla="*/ 1493234 w 7143371"/>
                  <a:gd name="connsiteY3467" fmla="*/ 3797427 h 4684871"/>
                  <a:gd name="connsiteX3468" fmla="*/ 1491139 w 7143371"/>
                  <a:gd name="connsiteY3468" fmla="*/ 3799713 h 4684871"/>
                  <a:gd name="connsiteX3469" fmla="*/ 1489139 w 7143371"/>
                  <a:gd name="connsiteY3469" fmla="*/ 3806095 h 4684871"/>
                  <a:gd name="connsiteX3470" fmla="*/ 1495615 w 7143371"/>
                  <a:gd name="connsiteY3470" fmla="*/ 3818668 h 4684871"/>
                  <a:gd name="connsiteX3471" fmla="*/ 1506474 w 7143371"/>
                  <a:gd name="connsiteY3471" fmla="*/ 3819811 h 4684871"/>
                  <a:gd name="connsiteX3472" fmla="*/ 1507617 w 7143371"/>
                  <a:gd name="connsiteY3472" fmla="*/ 3812000 h 4684871"/>
                  <a:gd name="connsiteX3473" fmla="*/ 1502093 w 7143371"/>
                  <a:gd name="connsiteY3473" fmla="*/ 3806095 h 4684871"/>
                  <a:gd name="connsiteX3474" fmla="*/ 1493234 w 7143371"/>
                  <a:gd name="connsiteY3474" fmla="*/ 3797427 h 4684871"/>
                  <a:gd name="connsiteX3475" fmla="*/ 2260664 w 7143371"/>
                  <a:gd name="connsiteY3475" fmla="*/ 3798284 h 4684871"/>
                  <a:gd name="connsiteX3476" fmla="*/ 2260378 w 7143371"/>
                  <a:gd name="connsiteY3476" fmla="*/ 3814572 h 4684871"/>
                  <a:gd name="connsiteX3477" fmla="*/ 2263616 w 7143371"/>
                  <a:gd name="connsiteY3477" fmla="*/ 3832003 h 4684871"/>
                  <a:gd name="connsiteX3478" fmla="*/ 2267045 w 7143371"/>
                  <a:gd name="connsiteY3478" fmla="*/ 3845433 h 4684871"/>
                  <a:gd name="connsiteX3479" fmla="*/ 2268569 w 7143371"/>
                  <a:gd name="connsiteY3479" fmla="*/ 3856387 h 4684871"/>
                  <a:gd name="connsiteX3480" fmla="*/ 2268474 w 7143371"/>
                  <a:gd name="connsiteY3480" fmla="*/ 3885057 h 4684871"/>
                  <a:gd name="connsiteX3481" fmla="*/ 2261426 w 7143371"/>
                  <a:gd name="connsiteY3481" fmla="*/ 3909251 h 4684871"/>
                  <a:gd name="connsiteX3482" fmla="*/ 2251996 w 7143371"/>
                  <a:gd name="connsiteY3482" fmla="*/ 3922967 h 4684871"/>
                  <a:gd name="connsiteX3483" fmla="*/ 2249043 w 7143371"/>
                  <a:gd name="connsiteY3483" fmla="*/ 3939731 h 4684871"/>
                  <a:gd name="connsiteX3484" fmla="*/ 2249996 w 7143371"/>
                  <a:gd name="connsiteY3484" fmla="*/ 3977831 h 4684871"/>
                  <a:gd name="connsiteX3485" fmla="*/ 2253139 w 7143371"/>
                  <a:gd name="connsiteY3485" fmla="*/ 3993261 h 4684871"/>
                  <a:gd name="connsiteX3486" fmla="*/ 2259616 w 7143371"/>
                  <a:gd name="connsiteY3486" fmla="*/ 4018312 h 4684871"/>
                  <a:gd name="connsiteX3487" fmla="*/ 2265521 w 7143371"/>
                  <a:gd name="connsiteY3487" fmla="*/ 4047268 h 4684871"/>
                  <a:gd name="connsiteX3488" fmla="*/ 2280952 w 7143371"/>
                  <a:gd name="connsiteY3488" fmla="*/ 4068318 h 4684871"/>
                  <a:gd name="connsiteX3489" fmla="*/ 2287619 w 7143371"/>
                  <a:gd name="connsiteY3489" fmla="*/ 4090797 h 4684871"/>
                  <a:gd name="connsiteX3490" fmla="*/ 2278190 w 7143371"/>
                  <a:gd name="connsiteY3490" fmla="*/ 4104799 h 4684871"/>
                  <a:gd name="connsiteX3491" fmla="*/ 2280476 w 7143371"/>
                  <a:gd name="connsiteY3491" fmla="*/ 4135946 h 4684871"/>
                  <a:gd name="connsiteX3492" fmla="*/ 2298287 w 7143371"/>
                  <a:gd name="connsiteY3492" fmla="*/ 4143280 h 4684871"/>
                  <a:gd name="connsiteX3493" fmla="*/ 2323529 w 7143371"/>
                  <a:gd name="connsiteY3493" fmla="*/ 4175284 h 4684871"/>
                  <a:gd name="connsiteX3494" fmla="*/ 2339531 w 7143371"/>
                  <a:gd name="connsiteY3494" fmla="*/ 4183952 h 4684871"/>
                  <a:gd name="connsiteX3495" fmla="*/ 2351532 w 7143371"/>
                  <a:gd name="connsiteY3495" fmla="*/ 4198335 h 4684871"/>
                  <a:gd name="connsiteX3496" fmla="*/ 2378488 w 7143371"/>
                  <a:gd name="connsiteY3496" fmla="*/ 4221671 h 4684871"/>
                  <a:gd name="connsiteX3497" fmla="*/ 2410301 w 7143371"/>
                  <a:gd name="connsiteY3497" fmla="*/ 4230910 h 4684871"/>
                  <a:gd name="connsiteX3498" fmla="*/ 2462594 w 7143371"/>
                  <a:gd name="connsiteY3498" fmla="*/ 4207002 h 4684871"/>
                  <a:gd name="connsiteX3499" fmla="*/ 2489740 w 7143371"/>
                  <a:gd name="connsiteY3499" fmla="*/ 4180142 h 4684871"/>
                  <a:gd name="connsiteX3500" fmla="*/ 2504313 w 7143371"/>
                  <a:gd name="connsiteY3500" fmla="*/ 4143375 h 4684871"/>
                  <a:gd name="connsiteX3501" fmla="*/ 2513457 w 7143371"/>
                  <a:gd name="connsiteY3501" fmla="*/ 4102418 h 4684871"/>
                  <a:gd name="connsiteX3502" fmla="*/ 2554224 w 7143371"/>
                  <a:gd name="connsiteY3502" fmla="*/ 4082510 h 4684871"/>
                  <a:gd name="connsiteX3503" fmla="*/ 2600420 w 7143371"/>
                  <a:gd name="connsiteY3503" fmla="*/ 4008692 h 4684871"/>
                  <a:gd name="connsiteX3504" fmla="*/ 2599563 w 7143371"/>
                  <a:gd name="connsiteY3504" fmla="*/ 3956399 h 4684871"/>
                  <a:gd name="connsiteX3505" fmla="*/ 2595372 w 7143371"/>
                  <a:gd name="connsiteY3505" fmla="*/ 3926396 h 4684871"/>
                  <a:gd name="connsiteX3506" fmla="*/ 2568131 w 7143371"/>
                  <a:gd name="connsiteY3506" fmla="*/ 3900488 h 4684871"/>
                  <a:gd name="connsiteX3507" fmla="*/ 2539651 w 7143371"/>
                  <a:gd name="connsiteY3507" fmla="*/ 3893820 h 4684871"/>
                  <a:gd name="connsiteX3508" fmla="*/ 2501265 w 7143371"/>
                  <a:gd name="connsiteY3508" fmla="*/ 3897821 h 4684871"/>
                  <a:gd name="connsiteX3509" fmla="*/ 2479929 w 7143371"/>
                  <a:gd name="connsiteY3509" fmla="*/ 3907917 h 4684871"/>
                  <a:gd name="connsiteX3510" fmla="*/ 2437448 w 7143371"/>
                  <a:gd name="connsiteY3510" fmla="*/ 3932968 h 4684871"/>
                  <a:gd name="connsiteX3511" fmla="*/ 2409920 w 7143371"/>
                  <a:gd name="connsiteY3511" fmla="*/ 3934682 h 4684871"/>
                  <a:gd name="connsiteX3512" fmla="*/ 2382679 w 7143371"/>
                  <a:gd name="connsiteY3512" fmla="*/ 3922586 h 4684871"/>
                  <a:gd name="connsiteX3513" fmla="*/ 2365343 w 7143371"/>
                  <a:gd name="connsiteY3513" fmla="*/ 3918585 h 4684871"/>
                  <a:gd name="connsiteX3514" fmla="*/ 2344769 w 7143371"/>
                  <a:gd name="connsiteY3514" fmla="*/ 3901726 h 4684871"/>
                  <a:gd name="connsiteX3515" fmla="*/ 2317528 w 7143371"/>
                  <a:gd name="connsiteY3515" fmla="*/ 3896582 h 4684871"/>
                  <a:gd name="connsiteX3516" fmla="*/ 2311051 w 7143371"/>
                  <a:gd name="connsiteY3516" fmla="*/ 3883343 h 4684871"/>
                  <a:gd name="connsiteX3517" fmla="*/ 2298478 w 7143371"/>
                  <a:gd name="connsiteY3517" fmla="*/ 3867150 h 4684871"/>
                  <a:gd name="connsiteX3518" fmla="*/ 2292001 w 7143371"/>
                  <a:gd name="connsiteY3518" fmla="*/ 3853720 h 4684871"/>
                  <a:gd name="connsiteX3519" fmla="*/ 2284381 w 7143371"/>
                  <a:gd name="connsiteY3519" fmla="*/ 3847910 h 4684871"/>
                  <a:gd name="connsiteX3520" fmla="*/ 2276094 w 7143371"/>
                  <a:gd name="connsiteY3520" fmla="*/ 3833051 h 4684871"/>
                  <a:gd name="connsiteX3521" fmla="*/ 2274094 w 7143371"/>
                  <a:gd name="connsiteY3521" fmla="*/ 3822668 h 4684871"/>
                  <a:gd name="connsiteX3522" fmla="*/ 2269998 w 7143371"/>
                  <a:gd name="connsiteY3522" fmla="*/ 3803523 h 4684871"/>
                  <a:gd name="connsiteX3523" fmla="*/ 2261902 w 7143371"/>
                  <a:gd name="connsiteY3523" fmla="*/ 3798189 h 4684871"/>
                  <a:gd name="connsiteX3524" fmla="*/ 2261235 w 7143371"/>
                  <a:gd name="connsiteY3524" fmla="*/ 3798189 h 4684871"/>
                  <a:gd name="connsiteX3525" fmla="*/ 3356801 w 7143371"/>
                  <a:gd name="connsiteY3525" fmla="*/ 3801618 h 4684871"/>
                  <a:gd name="connsiteX3526" fmla="*/ 3352610 w 7143371"/>
                  <a:gd name="connsiteY3526" fmla="*/ 3804761 h 4684871"/>
                  <a:gd name="connsiteX3527" fmla="*/ 3343846 w 7143371"/>
                  <a:gd name="connsiteY3527" fmla="*/ 3818477 h 4684871"/>
                  <a:gd name="connsiteX3528" fmla="*/ 3348038 w 7143371"/>
                  <a:gd name="connsiteY3528" fmla="*/ 3829622 h 4684871"/>
                  <a:gd name="connsiteX3529" fmla="*/ 3356801 w 7143371"/>
                  <a:gd name="connsiteY3529" fmla="*/ 3837432 h 4684871"/>
                  <a:gd name="connsiteX3530" fmla="*/ 3370898 w 7143371"/>
                  <a:gd name="connsiteY3530" fmla="*/ 3829622 h 4684871"/>
                  <a:gd name="connsiteX3531" fmla="*/ 3376422 w 7143371"/>
                  <a:gd name="connsiteY3531" fmla="*/ 3821811 h 4684871"/>
                  <a:gd name="connsiteX3532" fmla="*/ 3365563 w 7143371"/>
                  <a:gd name="connsiteY3532" fmla="*/ 3804761 h 4684871"/>
                  <a:gd name="connsiteX3533" fmla="*/ 3358039 w 7143371"/>
                  <a:gd name="connsiteY3533" fmla="*/ 3801618 h 4684871"/>
                  <a:gd name="connsiteX3534" fmla="*/ 3356801 w 7143371"/>
                  <a:gd name="connsiteY3534" fmla="*/ 3801618 h 4684871"/>
                  <a:gd name="connsiteX3535" fmla="*/ 3394234 w 7143371"/>
                  <a:gd name="connsiteY3535" fmla="*/ 3826859 h 4684871"/>
                  <a:gd name="connsiteX3536" fmla="*/ 3390519 w 7143371"/>
                  <a:gd name="connsiteY3536" fmla="*/ 3832479 h 4684871"/>
                  <a:gd name="connsiteX3537" fmla="*/ 3380804 w 7143371"/>
                  <a:gd name="connsiteY3537" fmla="*/ 3844861 h 4684871"/>
                  <a:gd name="connsiteX3538" fmla="*/ 3374327 w 7143371"/>
                  <a:gd name="connsiteY3538" fmla="*/ 3854673 h 4684871"/>
                  <a:gd name="connsiteX3539" fmla="*/ 3373184 w 7143371"/>
                  <a:gd name="connsiteY3539" fmla="*/ 3862578 h 4684871"/>
                  <a:gd name="connsiteX3540" fmla="*/ 3387471 w 7143371"/>
                  <a:gd name="connsiteY3540" fmla="*/ 3875818 h 4684871"/>
                  <a:gd name="connsiteX3541" fmla="*/ 3400425 w 7143371"/>
                  <a:gd name="connsiteY3541" fmla="*/ 3865912 h 4684871"/>
                  <a:gd name="connsiteX3542" fmla="*/ 3406902 w 7143371"/>
                  <a:gd name="connsiteY3542" fmla="*/ 3856958 h 4684871"/>
                  <a:gd name="connsiteX3543" fmla="*/ 3414522 w 7143371"/>
                  <a:gd name="connsiteY3543" fmla="*/ 3844861 h 4684871"/>
                  <a:gd name="connsiteX3544" fmla="*/ 3409188 w 7143371"/>
                  <a:gd name="connsiteY3544" fmla="*/ 3836956 h 4684871"/>
                  <a:gd name="connsiteX3545" fmla="*/ 3395948 w 7143371"/>
                  <a:gd name="connsiteY3545" fmla="*/ 3827050 h 4684871"/>
                  <a:gd name="connsiteX3546" fmla="*/ 3394234 w 7143371"/>
                  <a:gd name="connsiteY3546" fmla="*/ 3826859 h 4684871"/>
                  <a:gd name="connsiteX3547" fmla="*/ 2673668 w 7143371"/>
                  <a:gd name="connsiteY3547" fmla="*/ 3828860 h 4684871"/>
                  <a:gd name="connsiteX3548" fmla="*/ 2672810 w 7143371"/>
                  <a:gd name="connsiteY3548" fmla="*/ 3831146 h 4684871"/>
                  <a:gd name="connsiteX3549" fmla="*/ 2673096 w 7143371"/>
                  <a:gd name="connsiteY3549" fmla="*/ 3836194 h 4684871"/>
                  <a:gd name="connsiteX3550" fmla="*/ 2681383 w 7143371"/>
                  <a:gd name="connsiteY3550" fmla="*/ 3843242 h 4684871"/>
                  <a:gd name="connsiteX3551" fmla="*/ 2689288 w 7143371"/>
                  <a:gd name="connsiteY3551" fmla="*/ 3840671 h 4684871"/>
                  <a:gd name="connsiteX3552" fmla="*/ 2687574 w 7143371"/>
                  <a:gd name="connsiteY3552" fmla="*/ 3834765 h 4684871"/>
                  <a:gd name="connsiteX3553" fmla="*/ 2682050 w 7143371"/>
                  <a:gd name="connsiteY3553" fmla="*/ 3832289 h 4684871"/>
                  <a:gd name="connsiteX3554" fmla="*/ 2674239 w 7143371"/>
                  <a:gd name="connsiteY3554" fmla="*/ 3828860 h 4684871"/>
                  <a:gd name="connsiteX3555" fmla="*/ 2673572 w 7143371"/>
                  <a:gd name="connsiteY3555" fmla="*/ 3828860 h 4684871"/>
                  <a:gd name="connsiteX3556" fmla="*/ 2673572 w 7143371"/>
                  <a:gd name="connsiteY3556" fmla="*/ 3828860 h 4684871"/>
                  <a:gd name="connsiteX3557" fmla="*/ 1724120 w 7143371"/>
                  <a:gd name="connsiteY3557" fmla="*/ 3856863 h 4684871"/>
                  <a:gd name="connsiteX3558" fmla="*/ 1713929 w 7143371"/>
                  <a:gd name="connsiteY3558" fmla="*/ 3857625 h 4684871"/>
                  <a:gd name="connsiteX3559" fmla="*/ 1683830 w 7143371"/>
                  <a:gd name="connsiteY3559" fmla="*/ 3869150 h 4684871"/>
                  <a:gd name="connsiteX3560" fmla="*/ 1656017 w 7143371"/>
                  <a:gd name="connsiteY3560" fmla="*/ 3878199 h 4684871"/>
                  <a:gd name="connsiteX3561" fmla="*/ 1614773 w 7143371"/>
                  <a:gd name="connsiteY3561" fmla="*/ 3886105 h 4684871"/>
                  <a:gd name="connsiteX3562" fmla="*/ 1591151 w 7143371"/>
                  <a:gd name="connsiteY3562" fmla="*/ 3896297 h 4684871"/>
                  <a:gd name="connsiteX3563" fmla="*/ 1577911 w 7143371"/>
                  <a:gd name="connsiteY3563" fmla="*/ 3916871 h 4684871"/>
                  <a:gd name="connsiteX3564" fmla="*/ 1566577 w 7143371"/>
                  <a:gd name="connsiteY3564" fmla="*/ 3932777 h 4684871"/>
                  <a:gd name="connsiteX3565" fmla="*/ 1548765 w 7143371"/>
                  <a:gd name="connsiteY3565" fmla="*/ 3947636 h 4684871"/>
                  <a:gd name="connsiteX3566" fmla="*/ 1529810 w 7143371"/>
                  <a:gd name="connsiteY3566" fmla="*/ 3957828 h 4684871"/>
                  <a:gd name="connsiteX3567" fmla="*/ 1504283 w 7143371"/>
                  <a:gd name="connsiteY3567" fmla="*/ 3974973 h 4684871"/>
                  <a:gd name="connsiteX3568" fmla="*/ 1505426 w 7143371"/>
                  <a:gd name="connsiteY3568" fmla="*/ 3995452 h 4684871"/>
                  <a:gd name="connsiteX3569" fmla="*/ 1562195 w 7143371"/>
                  <a:gd name="connsiteY3569" fmla="*/ 4006882 h 4684871"/>
                  <a:gd name="connsiteX3570" fmla="*/ 1601153 w 7143371"/>
                  <a:gd name="connsiteY3570" fmla="*/ 4014788 h 4684871"/>
                  <a:gd name="connsiteX3571" fmla="*/ 1632395 w 7143371"/>
                  <a:gd name="connsiteY3571" fmla="*/ 4020598 h 4684871"/>
                  <a:gd name="connsiteX3572" fmla="*/ 1680401 w 7143371"/>
                  <a:gd name="connsiteY3572" fmla="*/ 4016026 h 4684871"/>
                  <a:gd name="connsiteX3573" fmla="*/ 1713833 w 7143371"/>
                  <a:gd name="connsiteY3573" fmla="*/ 4009263 h 4684871"/>
                  <a:gd name="connsiteX3574" fmla="*/ 1748409 w 7143371"/>
                  <a:gd name="connsiteY3574" fmla="*/ 4010406 h 4684871"/>
                  <a:gd name="connsiteX3575" fmla="*/ 1777365 w 7143371"/>
                  <a:gd name="connsiteY3575" fmla="*/ 4020598 h 4684871"/>
                  <a:gd name="connsiteX3576" fmla="*/ 1816513 w 7143371"/>
                  <a:gd name="connsiteY3576" fmla="*/ 4018312 h 4684871"/>
                  <a:gd name="connsiteX3577" fmla="*/ 1839944 w 7143371"/>
                  <a:gd name="connsiteY3577" fmla="*/ 4013740 h 4684871"/>
                  <a:gd name="connsiteX3578" fmla="*/ 1874520 w 7143371"/>
                  <a:gd name="connsiteY3578" fmla="*/ 4011549 h 4684871"/>
                  <a:gd name="connsiteX3579" fmla="*/ 1887760 w 7143371"/>
                  <a:gd name="connsiteY3579" fmla="*/ 3992118 h 4684871"/>
                  <a:gd name="connsiteX3580" fmla="*/ 1863376 w 7143371"/>
                  <a:gd name="connsiteY3580" fmla="*/ 3961257 h 4684871"/>
                  <a:gd name="connsiteX3581" fmla="*/ 1845469 w 7143371"/>
                  <a:gd name="connsiteY3581" fmla="*/ 3938588 h 4684871"/>
                  <a:gd name="connsiteX3582" fmla="*/ 1839944 w 7143371"/>
                  <a:gd name="connsiteY3582" fmla="*/ 3916966 h 4684871"/>
                  <a:gd name="connsiteX3583" fmla="*/ 1826705 w 7143371"/>
                  <a:gd name="connsiteY3583" fmla="*/ 3891915 h 4684871"/>
                  <a:gd name="connsiteX3584" fmla="*/ 1775270 w 7143371"/>
                  <a:gd name="connsiteY3584" fmla="*/ 3871436 h 4684871"/>
                  <a:gd name="connsiteX3585" fmla="*/ 1747266 w 7143371"/>
                  <a:gd name="connsiteY3585" fmla="*/ 3862197 h 4684871"/>
                  <a:gd name="connsiteX3586" fmla="*/ 1723930 w 7143371"/>
                  <a:gd name="connsiteY3586" fmla="*/ 3856863 h 4684871"/>
                  <a:gd name="connsiteX3587" fmla="*/ 1723930 w 7143371"/>
                  <a:gd name="connsiteY3587" fmla="*/ 3856863 h 4684871"/>
                  <a:gd name="connsiteX3588" fmla="*/ 2759393 w 7143371"/>
                  <a:gd name="connsiteY3588" fmla="*/ 3891153 h 4684871"/>
                  <a:gd name="connsiteX3589" fmla="*/ 2751868 w 7143371"/>
                  <a:gd name="connsiteY3589" fmla="*/ 3898773 h 4684871"/>
                  <a:gd name="connsiteX3590" fmla="*/ 2753106 w 7143371"/>
                  <a:gd name="connsiteY3590" fmla="*/ 3921252 h 4684871"/>
                  <a:gd name="connsiteX3591" fmla="*/ 2771585 w 7143371"/>
                  <a:gd name="connsiteY3591" fmla="*/ 3977354 h 4684871"/>
                  <a:gd name="connsiteX3592" fmla="*/ 2799683 w 7143371"/>
                  <a:gd name="connsiteY3592" fmla="*/ 4012216 h 4684871"/>
                  <a:gd name="connsiteX3593" fmla="*/ 2833878 w 7143371"/>
                  <a:gd name="connsiteY3593" fmla="*/ 4032218 h 4684871"/>
                  <a:gd name="connsiteX3594" fmla="*/ 2863120 w 7143371"/>
                  <a:gd name="connsiteY3594" fmla="*/ 4049649 h 4684871"/>
                  <a:gd name="connsiteX3595" fmla="*/ 2888837 w 7143371"/>
                  <a:gd name="connsiteY3595" fmla="*/ 4057269 h 4684871"/>
                  <a:gd name="connsiteX3596" fmla="*/ 2902268 w 7143371"/>
                  <a:gd name="connsiteY3596" fmla="*/ 4042124 h 4684871"/>
                  <a:gd name="connsiteX3597" fmla="*/ 2885218 w 7143371"/>
                  <a:gd name="connsiteY3597" fmla="*/ 4018502 h 4684871"/>
                  <a:gd name="connsiteX3598" fmla="*/ 2858357 w 7143371"/>
                  <a:gd name="connsiteY3598" fmla="*/ 3990975 h 4684871"/>
                  <a:gd name="connsiteX3599" fmla="*/ 2846165 w 7143371"/>
                  <a:gd name="connsiteY3599" fmla="*/ 3972401 h 4684871"/>
                  <a:gd name="connsiteX3600" fmla="*/ 2833878 w 7143371"/>
                  <a:gd name="connsiteY3600" fmla="*/ 3946208 h 4684871"/>
                  <a:gd name="connsiteX3601" fmla="*/ 2814257 w 7143371"/>
                  <a:gd name="connsiteY3601" fmla="*/ 3931253 h 4684871"/>
                  <a:gd name="connsiteX3602" fmla="*/ 2791111 w 7143371"/>
                  <a:gd name="connsiteY3602" fmla="*/ 3916299 h 4684871"/>
                  <a:gd name="connsiteX3603" fmla="*/ 2775300 w 7143371"/>
                  <a:gd name="connsiteY3603" fmla="*/ 3898868 h 4684871"/>
                  <a:gd name="connsiteX3604" fmla="*/ 2759297 w 7143371"/>
                  <a:gd name="connsiteY3604" fmla="*/ 3891248 h 4684871"/>
                  <a:gd name="connsiteX3605" fmla="*/ 2375154 w 7143371"/>
                  <a:gd name="connsiteY3605" fmla="*/ 4028123 h 4684871"/>
                  <a:gd name="connsiteX3606" fmla="*/ 2411063 w 7143371"/>
                  <a:gd name="connsiteY3606" fmla="*/ 4048601 h 4684871"/>
                  <a:gd name="connsiteX3607" fmla="*/ 2494788 w 7143371"/>
                  <a:gd name="connsiteY3607" fmla="*/ 4117372 h 4684871"/>
                  <a:gd name="connsiteX3608" fmla="*/ 2493550 w 7143371"/>
                  <a:gd name="connsiteY3608" fmla="*/ 4157567 h 4684871"/>
                  <a:gd name="connsiteX3609" fmla="*/ 2468309 w 7143371"/>
                  <a:gd name="connsiteY3609" fmla="*/ 4192715 h 4684871"/>
                  <a:gd name="connsiteX3610" fmla="*/ 2422684 w 7143371"/>
                  <a:gd name="connsiteY3610" fmla="*/ 4214908 h 4684871"/>
                  <a:gd name="connsiteX3611" fmla="*/ 2386489 w 7143371"/>
                  <a:gd name="connsiteY3611" fmla="*/ 4215479 h 4684871"/>
                  <a:gd name="connsiteX3612" fmla="*/ 2345531 w 7143371"/>
                  <a:gd name="connsiteY3612" fmla="*/ 4170521 h 4684871"/>
                  <a:gd name="connsiteX3613" fmla="*/ 2302574 w 7143371"/>
                  <a:gd name="connsiteY3613" fmla="*/ 4132326 h 4684871"/>
                  <a:gd name="connsiteX3614" fmla="*/ 2291715 w 7143371"/>
                  <a:gd name="connsiteY3614" fmla="*/ 4119944 h 4684871"/>
                  <a:gd name="connsiteX3615" fmla="*/ 2299526 w 7143371"/>
                  <a:gd name="connsiteY3615" fmla="*/ 4093083 h 4684871"/>
                  <a:gd name="connsiteX3616" fmla="*/ 2340483 w 7143371"/>
                  <a:gd name="connsiteY3616" fmla="*/ 4050411 h 4684871"/>
                  <a:gd name="connsiteX3617" fmla="*/ 2375249 w 7143371"/>
                  <a:gd name="connsiteY3617" fmla="*/ 4028027 h 4684871"/>
                  <a:gd name="connsiteX3618" fmla="*/ 1803083 w 7143371"/>
                  <a:gd name="connsiteY3618" fmla="*/ 4177951 h 4684871"/>
                  <a:gd name="connsiteX3619" fmla="*/ 1799939 w 7143371"/>
                  <a:gd name="connsiteY3619" fmla="*/ 4178141 h 4684871"/>
                  <a:gd name="connsiteX3620" fmla="*/ 1781842 w 7143371"/>
                  <a:gd name="connsiteY3620" fmla="*/ 4181190 h 4684871"/>
                  <a:gd name="connsiteX3621" fmla="*/ 1757648 w 7143371"/>
                  <a:gd name="connsiteY3621" fmla="*/ 4191286 h 4684871"/>
                  <a:gd name="connsiteX3622" fmla="*/ 1742980 w 7143371"/>
                  <a:gd name="connsiteY3622" fmla="*/ 4201097 h 4684871"/>
                  <a:gd name="connsiteX3623" fmla="*/ 1735931 w 7143371"/>
                  <a:gd name="connsiteY3623" fmla="*/ 4222337 h 4684871"/>
                  <a:gd name="connsiteX3624" fmla="*/ 1718405 w 7143371"/>
                  <a:gd name="connsiteY3624" fmla="*/ 4240816 h 4684871"/>
                  <a:gd name="connsiteX3625" fmla="*/ 1704880 w 7143371"/>
                  <a:gd name="connsiteY3625" fmla="*/ 4252532 h 4684871"/>
                  <a:gd name="connsiteX3626" fmla="*/ 1686211 w 7143371"/>
                  <a:gd name="connsiteY3626" fmla="*/ 4251960 h 4684871"/>
                  <a:gd name="connsiteX3627" fmla="*/ 1674781 w 7143371"/>
                  <a:gd name="connsiteY3627" fmla="*/ 4252532 h 4684871"/>
                  <a:gd name="connsiteX3628" fmla="*/ 1662875 w 7143371"/>
                  <a:gd name="connsiteY3628" fmla="*/ 4253675 h 4684871"/>
                  <a:gd name="connsiteX3629" fmla="*/ 1653540 w 7143371"/>
                  <a:gd name="connsiteY3629" fmla="*/ 4265771 h 4684871"/>
                  <a:gd name="connsiteX3630" fmla="*/ 1660589 w 7143371"/>
                  <a:gd name="connsiteY3630" fmla="*/ 4274249 h 4684871"/>
                  <a:gd name="connsiteX3631" fmla="*/ 1666685 w 7143371"/>
                  <a:gd name="connsiteY3631" fmla="*/ 4288632 h 4684871"/>
                  <a:gd name="connsiteX3632" fmla="*/ 1669352 w 7143371"/>
                  <a:gd name="connsiteY3632" fmla="*/ 4304824 h 4684871"/>
                  <a:gd name="connsiteX3633" fmla="*/ 1674686 w 7143371"/>
                  <a:gd name="connsiteY3633" fmla="*/ 4325874 h 4684871"/>
                  <a:gd name="connsiteX3634" fmla="*/ 1679639 w 7143371"/>
                  <a:gd name="connsiteY3634" fmla="*/ 4344353 h 4684871"/>
                  <a:gd name="connsiteX3635" fmla="*/ 1682306 w 7143371"/>
                  <a:gd name="connsiteY3635" fmla="*/ 4357211 h 4684871"/>
                  <a:gd name="connsiteX3636" fmla="*/ 1692783 w 7143371"/>
                  <a:gd name="connsiteY3636" fmla="*/ 4354926 h 4684871"/>
                  <a:gd name="connsiteX3637" fmla="*/ 1708023 w 7143371"/>
                  <a:gd name="connsiteY3637" fmla="*/ 4346162 h 4684871"/>
                  <a:gd name="connsiteX3638" fmla="*/ 1723263 w 7143371"/>
                  <a:gd name="connsiteY3638" fmla="*/ 4336637 h 4684871"/>
                  <a:gd name="connsiteX3639" fmla="*/ 1738503 w 7143371"/>
                  <a:gd name="connsiteY3639" fmla="*/ 4324826 h 4684871"/>
                  <a:gd name="connsiteX3640" fmla="*/ 1763649 w 7143371"/>
                  <a:gd name="connsiteY3640" fmla="*/ 4320921 h 4684871"/>
                  <a:gd name="connsiteX3641" fmla="*/ 1782128 w 7143371"/>
                  <a:gd name="connsiteY3641" fmla="*/ 4313111 h 4684871"/>
                  <a:gd name="connsiteX3642" fmla="*/ 1799082 w 7143371"/>
                  <a:gd name="connsiteY3642" fmla="*/ 4309968 h 4684871"/>
                  <a:gd name="connsiteX3643" fmla="*/ 1814798 w 7143371"/>
                  <a:gd name="connsiteY3643" fmla="*/ 4306538 h 4684871"/>
                  <a:gd name="connsiteX3644" fmla="*/ 1822037 w 7143371"/>
                  <a:gd name="connsiteY3644" fmla="*/ 4292156 h 4684871"/>
                  <a:gd name="connsiteX3645" fmla="*/ 1831943 w 7143371"/>
                  <a:gd name="connsiteY3645" fmla="*/ 4265962 h 4684871"/>
                  <a:gd name="connsiteX3646" fmla="*/ 1853660 w 7143371"/>
                  <a:gd name="connsiteY3646" fmla="*/ 4264343 h 4684871"/>
                  <a:gd name="connsiteX3647" fmla="*/ 1860709 w 7143371"/>
                  <a:gd name="connsiteY3647" fmla="*/ 4258151 h 4684871"/>
                  <a:gd name="connsiteX3648" fmla="*/ 1860709 w 7143371"/>
                  <a:gd name="connsiteY3648" fmla="*/ 4242721 h 4684871"/>
                  <a:gd name="connsiteX3649" fmla="*/ 1858042 w 7143371"/>
                  <a:gd name="connsiteY3649" fmla="*/ 4229195 h 4684871"/>
                  <a:gd name="connsiteX3650" fmla="*/ 1848136 w 7143371"/>
                  <a:gd name="connsiteY3650" fmla="*/ 4209860 h 4684871"/>
                  <a:gd name="connsiteX3651" fmla="*/ 1831848 w 7143371"/>
                  <a:gd name="connsiteY3651" fmla="*/ 4191953 h 4684871"/>
                  <a:gd name="connsiteX3652" fmla="*/ 1812036 w 7143371"/>
                  <a:gd name="connsiteY3652" fmla="*/ 4180713 h 4684871"/>
                  <a:gd name="connsiteX3653" fmla="*/ 1802892 w 7143371"/>
                  <a:gd name="connsiteY3653" fmla="*/ 4178236 h 4684871"/>
                  <a:gd name="connsiteX3654" fmla="*/ 1961102 w 7143371"/>
                  <a:gd name="connsiteY3654" fmla="*/ 4196810 h 4684871"/>
                  <a:gd name="connsiteX3655" fmla="*/ 1960150 w 7143371"/>
                  <a:gd name="connsiteY3655" fmla="*/ 4197001 h 4684871"/>
                  <a:gd name="connsiteX3656" fmla="*/ 1953197 w 7143371"/>
                  <a:gd name="connsiteY3656" fmla="*/ 4200430 h 4684871"/>
                  <a:gd name="connsiteX3657" fmla="*/ 1945005 w 7143371"/>
                  <a:gd name="connsiteY3657" fmla="*/ 4207669 h 4684871"/>
                  <a:gd name="connsiteX3658" fmla="*/ 1940052 w 7143371"/>
                  <a:gd name="connsiteY3658" fmla="*/ 4214336 h 4684871"/>
                  <a:gd name="connsiteX3659" fmla="*/ 1937766 w 7143371"/>
                  <a:gd name="connsiteY3659" fmla="*/ 4218242 h 4684871"/>
                  <a:gd name="connsiteX3660" fmla="*/ 1932432 w 7143371"/>
                  <a:gd name="connsiteY3660" fmla="*/ 4224909 h 4684871"/>
                  <a:gd name="connsiteX3661" fmla="*/ 1929003 w 7143371"/>
                  <a:gd name="connsiteY3661" fmla="*/ 4228815 h 4684871"/>
                  <a:gd name="connsiteX3662" fmla="*/ 1937766 w 7143371"/>
                  <a:gd name="connsiteY3662" fmla="*/ 4233863 h 4684871"/>
                  <a:gd name="connsiteX3663" fmla="*/ 1949768 w 7143371"/>
                  <a:gd name="connsiteY3663" fmla="*/ 4228338 h 4684871"/>
                  <a:gd name="connsiteX3664" fmla="*/ 1952435 w 7143371"/>
                  <a:gd name="connsiteY3664" fmla="*/ 4219385 h 4684871"/>
                  <a:gd name="connsiteX3665" fmla="*/ 1960055 w 7143371"/>
                  <a:gd name="connsiteY3665" fmla="*/ 4207669 h 4684871"/>
                  <a:gd name="connsiteX3666" fmla="*/ 1962722 w 7143371"/>
                  <a:gd name="connsiteY3666" fmla="*/ 4204335 h 4684871"/>
                  <a:gd name="connsiteX3667" fmla="*/ 1961769 w 7143371"/>
                  <a:gd name="connsiteY3667" fmla="*/ 4197001 h 4684871"/>
                  <a:gd name="connsiteX3668" fmla="*/ 1961102 w 7143371"/>
                  <a:gd name="connsiteY3668" fmla="*/ 4196810 h 4684871"/>
                  <a:gd name="connsiteX3669" fmla="*/ 1875092 w 7143371"/>
                  <a:gd name="connsiteY3669" fmla="*/ 4417505 h 4684871"/>
                  <a:gd name="connsiteX3670" fmla="*/ 1862138 w 7143371"/>
                  <a:gd name="connsiteY3670" fmla="*/ 4420076 h 4684871"/>
                  <a:gd name="connsiteX3671" fmla="*/ 1839087 w 7143371"/>
                  <a:gd name="connsiteY3671" fmla="*/ 4432650 h 4684871"/>
                  <a:gd name="connsiteX3672" fmla="*/ 1823657 w 7143371"/>
                  <a:gd name="connsiteY3672" fmla="*/ 4448556 h 4684871"/>
                  <a:gd name="connsiteX3673" fmla="*/ 1826038 w 7143371"/>
                  <a:gd name="connsiteY3673" fmla="*/ 4470178 h 4684871"/>
                  <a:gd name="connsiteX3674" fmla="*/ 1845659 w 7143371"/>
                  <a:gd name="connsiteY3674" fmla="*/ 4476084 h 4684871"/>
                  <a:gd name="connsiteX3675" fmla="*/ 1863566 w 7143371"/>
                  <a:gd name="connsiteY3675" fmla="*/ 4485323 h 4684871"/>
                  <a:gd name="connsiteX3676" fmla="*/ 1870901 w 7143371"/>
                  <a:gd name="connsiteY3676" fmla="*/ 4500277 h 4684871"/>
                  <a:gd name="connsiteX3677" fmla="*/ 1869377 w 7143371"/>
                  <a:gd name="connsiteY3677" fmla="*/ 4517041 h 4684871"/>
                  <a:gd name="connsiteX3678" fmla="*/ 1880807 w 7143371"/>
                  <a:gd name="connsiteY3678" fmla="*/ 4528757 h 4684871"/>
                  <a:gd name="connsiteX3679" fmla="*/ 1897094 w 7143371"/>
                  <a:gd name="connsiteY3679" fmla="*/ 4551236 h 4684871"/>
                  <a:gd name="connsiteX3680" fmla="*/ 1912620 w 7143371"/>
                  <a:gd name="connsiteY3680" fmla="*/ 4557046 h 4684871"/>
                  <a:gd name="connsiteX3681" fmla="*/ 1924050 w 7143371"/>
                  <a:gd name="connsiteY3681" fmla="*/ 4550378 h 4684871"/>
                  <a:gd name="connsiteX3682" fmla="*/ 1943005 w 7143371"/>
                  <a:gd name="connsiteY3682" fmla="*/ 4562951 h 4684871"/>
                  <a:gd name="connsiteX3683" fmla="*/ 1967579 w 7143371"/>
                  <a:gd name="connsiteY3683" fmla="*/ 4566380 h 4684871"/>
                  <a:gd name="connsiteX3684" fmla="*/ 1983962 w 7143371"/>
                  <a:gd name="connsiteY3684" fmla="*/ 4555427 h 4684871"/>
                  <a:gd name="connsiteX3685" fmla="*/ 1985486 w 7143371"/>
                  <a:gd name="connsiteY3685" fmla="*/ 4532948 h 4684871"/>
                  <a:gd name="connsiteX3686" fmla="*/ 1985486 w 7143371"/>
                  <a:gd name="connsiteY3686" fmla="*/ 4512945 h 4684871"/>
                  <a:gd name="connsiteX3687" fmla="*/ 1988915 w 7143371"/>
                  <a:gd name="connsiteY3687" fmla="*/ 4493800 h 4684871"/>
                  <a:gd name="connsiteX3688" fmla="*/ 1996154 w 7143371"/>
                  <a:gd name="connsiteY3688" fmla="*/ 4483894 h 4684871"/>
                  <a:gd name="connsiteX3689" fmla="*/ 2006918 w 7143371"/>
                  <a:gd name="connsiteY3689" fmla="*/ 4472940 h 4684871"/>
                  <a:gd name="connsiteX3690" fmla="*/ 2013395 w 7143371"/>
                  <a:gd name="connsiteY3690" fmla="*/ 4455319 h 4684871"/>
                  <a:gd name="connsiteX3691" fmla="*/ 2004536 w 7143371"/>
                  <a:gd name="connsiteY3691" fmla="*/ 4444460 h 4684871"/>
                  <a:gd name="connsiteX3692" fmla="*/ 1989011 w 7143371"/>
                  <a:gd name="connsiteY3692" fmla="*/ 4438555 h 4684871"/>
                  <a:gd name="connsiteX3693" fmla="*/ 1963579 w 7143371"/>
                  <a:gd name="connsiteY3693" fmla="*/ 4427696 h 4684871"/>
                  <a:gd name="connsiteX3694" fmla="*/ 1947196 w 7143371"/>
                  <a:gd name="connsiteY3694" fmla="*/ 4428459 h 4684871"/>
                  <a:gd name="connsiteX3695" fmla="*/ 1924145 w 7143371"/>
                  <a:gd name="connsiteY3695" fmla="*/ 4434364 h 4684871"/>
                  <a:gd name="connsiteX3696" fmla="*/ 1905476 w 7143371"/>
                  <a:gd name="connsiteY3696" fmla="*/ 4426173 h 4684871"/>
                  <a:gd name="connsiteX3697" fmla="*/ 1890617 w 7143371"/>
                  <a:gd name="connsiteY3697" fmla="*/ 4419505 h 4684871"/>
                  <a:gd name="connsiteX3698" fmla="*/ 1875092 w 7143371"/>
                  <a:gd name="connsiteY3698" fmla="*/ 4417600 h 4684871"/>
                  <a:gd name="connsiteX3699" fmla="*/ 2017300 w 7143371"/>
                  <a:gd name="connsiteY3699" fmla="*/ 4573334 h 4684871"/>
                  <a:gd name="connsiteX3700" fmla="*/ 2016633 w 7143371"/>
                  <a:gd name="connsiteY3700" fmla="*/ 4574191 h 4684871"/>
                  <a:gd name="connsiteX3701" fmla="*/ 2015204 w 7143371"/>
                  <a:gd name="connsiteY3701" fmla="*/ 4583811 h 4684871"/>
                  <a:gd name="connsiteX3702" fmla="*/ 2019014 w 7143371"/>
                  <a:gd name="connsiteY3702" fmla="*/ 4590479 h 4684871"/>
                  <a:gd name="connsiteX3703" fmla="*/ 2019395 w 7143371"/>
                  <a:gd name="connsiteY3703" fmla="*/ 4598289 h 4684871"/>
                  <a:gd name="connsiteX3704" fmla="*/ 2025586 w 7143371"/>
                  <a:gd name="connsiteY3704" fmla="*/ 4595432 h 4684871"/>
                  <a:gd name="connsiteX3705" fmla="*/ 2026158 w 7143371"/>
                  <a:gd name="connsiteY3705" fmla="*/ 4587812 h 4684871"/>
                  <a:gd name="connsiteX3706" fmla="*/ 2024158 w 7143371"/>
                  <a:gd name="connsiteY3706" fmla="*/ 4582478 h 4684871"/>
                  <a:gd name="connsiteX3707" fmla="*/ 2020729 w 7143371"/>
                  <a:gd name="connsiteY3707" fmla="*/ 4576858 h 4684871"/>
                  <a:gd name="connsiteX3708" fmla="*/ 2017205 w 7143371"/>
                  <a:gd name="connsiteY3708" fmla="*/ 4573429 h 4684871"/>
                  <a:gd name="connsiteX3709" fmla="*/ 2003584 w 7143371"/>
                  <a:gd name="connsiteY3709" fmla="*/ 4648295 h 4684871"/>
                  <a:gd name="connsiteX3710" fmla="*/ 2000631 w 7143371"/>
                  <a:gd name="connsiteY3710" fmla="*/ 4650296 h 4684871"/>
                  <a:gd name="connsiteX3711" fmla="*/ 1995869 w 7143371"/>
                  <a:gd name="connsiteY3711" fmla="*/ 4656487 h 4684871"/>
                  <a:gd name="connsiteX3712" fmla="*/ 1993202 w 7143371"/>
                  <a:gd name="connsiteY3712" fmla="*/ 4664298 h 4684871"/>
                  <a:gd name="connsiteX3713" fmla="*/ 1993202 w 7143371"/>
                  <a:gd name="connsiteY3713" fmla="*/ 4673346 h 4684871"/>
                  <a:gd name="connsiteX3714" fmla="*/ 1993583 w 7143371"/>
                  <a:gd name="connsiteY3714" fmla="*/ 4682395 h 4684871"/>
                  <a:gd name="connsiteX3715" fmla="*/ 1995869 w 7143371"/>
                  <a:gd name="connsiteY3715" fmla="*/ 4684871 h 4684871"/>
                  <a:gd name="connsiteX3716" fmla="*/ 2000060 w 7143371"/>
                  <a:gd name="connsiteY3716" fmla="*/ 4681157 h 4684871"/>
                  <a:gd name="connsiteX3717" fmla="*/ 1999679 w 7143371"/>
                  <a:gd name="connsiteY3717" fmla="*/ 4674775 h 4684871"/>
                  <a:gd name="connsiteX3718" fmla="*/ 2001107 w 7143371"/>
                  <a:gd name="connsiteY3718" fmla="*/ 4666965 h 4684871"/>
                  <a:gd name="connsiteX3719" fmla="*/ 2003965 w 7143371"/>
                  <a:gd name="connsiteY3719" fmla="*/ 4662393 h 4684871"/>
                  <a:gd name="connsiteX3720" fmla="*/ 2003108 w 7143371"/>
                  <a:gd name="connsiteY3720" fmla="*/ 4655630 h 4684871"/>
                  <a:gd name="connsiteX3721" fmla="*/ 2005489 w 7143371"/>
                  <a:gd name="connsiteY3721" fmla="*/ 4653629 h 4684871"/>
                  <a:gd name="connsiteX3722" fmla="*/ 2005489 w 7143371"/>
                  <a:gd name="connsiteY3722" fmla="*/ 4648295 h 4684871"/>
                  <a:gd name="connsiteX3723" fmla="*/ 2003679 w 7143371"/>
                  <a:gd name="connsiteY3723" fmla="*/ 4648295 h 468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Lst>
                <a:rect l="l" t="t" r="r" b="b"/>
                <a:pathLst>
                  <a:path w="7143371" h="4684871">
                    <a:moveTo>
                      <a:pt x="3102102" y="476"/>
                    </a:moveTo>
                    <a:cubicBezTo>
                      <a:pt x="3084671" y="1048"/>
                      <a:pt x="3064002" y="4096"/>
                      <a:pt x="3038570" y="10668"/>
                    </a:cubicBezTo>
                    <a:lnTo>
                      <a:pt x="3020092" y="5334"/>
                    </a:lnTo>
                    <a:lnTo>
                      <a:pt x="2929890" y="19431"/>
                    </a:lnTo>
                    <a:lnTo>
                      <a:pt x="2890647" y="40767"/>
                    </a:lnTo>
                    <a:lnTo>
                      <a:pt x="2878455" y="57245"/>
                    </a:lnTo>
                    <a:lnTo>
                      <a:pt x="2863596" y="62008"/>
                    </a:lnTo>
                    <a:lnTo>
                      <a:pt x="2808923" y="93726"/>
                    </a:lnTo>
                    <a:lnTo>
                      <a:pt x="2762917" y="126492"/>
                    </a:lnTo>
                    <a:lnTo>
                      <a:pt x="2721102" y="150876"/>
                    </a:lnTo>
                    <a:lnTo>
                      <a:pt x="2644997" y="205550"/>
                    </a:lnTo>
                    <a:lnTo>
                      <a:pt x="2580132" y="260318"/>
                    </a:lnTo>
                    <a:lnTo>
                      <a:pt x="2510219" y="286893"/>
                    </a:lnTo>
                    <a:lnTo>
                      <a:pt x="2448116" y="327946"/>
                    </a:lnTo>
                    <a:lnTo>
                      <a:pt x="2413349" y="346996"/>
                    </a:lnTo>
                    <a:lnTo>
                      <a:pt x="2385536" y="377000"/>
                    </a:lnTo>
                    <a:lnTo>
                      <a:pt x="2383441" y="401098"/>
                    </a:lnTo>
                    <a:cubicBezTo>
                      <a:pt x="2383441" y="401098"/>
                      <a:pt x="2366391" y="398050"/>
                      <a:pt x="2361819" y="402717"/>
                    </a:cubicBezTo>
                    <a:cubicBezTo>
                      <a:pt x="2359343" y="405194"/>
                      <a:pt x="2352104" y="413576"/>
                      <a:pt x="2352104" y="413576"/>
                    </a:cubicBezTo>
                    <a:cubicBezTo>
                      <a:pt x="2352104" y="413576"/>
                      <a:pt x="2353342" y="431197"/>
                      <a:pt x="2347913" y="441103"/>
                    </a:cubicBezTo>
                    <a:cubicBezTo>
                      <a:pt x="2344484" y="447389"/>
                      <a:pt x="2334578" y="446627"/>
                      <a:pt x="2332387" y="448913"/>
                    </a:cubicBezTo>
                    <a:cubicBezTo>
                      <a:pt x="2311337" y="470345"/>
                      <a:pt x="2302002" y="484346"/>
                      <a:pt x="2302002" y="484346"/>
                    </a:cubicBezTo>
                    <a:lnTo>
                      <a:pt x="2189702" y="487680"/>
                    </a:lnTo>
                    <a:lnTo>
                      <a:pt x="2175034" y="501682"/>
                    </a:lnTo>
                    <a:lnTo>
                      <a:pt x="2164175" y="500634"/>
                    </a:lnTo>
                    <a:cubicBezTo>
                      <a:pt x="2169986" y="522065"/>
                      <a:pt x="2176367" y="545687"/>
                      <a:pt x="2177320" y="548831"/>
                    </a:cubicBezTo>
                    <a:cubicBezTo>
                      <a:pt x="2179796" y="556832"/>
                      <a:pt x="2174748" y="571214"/>
                      <a:pt x="2174748" y="571214"/>
                    </a:cubicBezTo>
                    <a:cubicBezTo>
                      <a:pt x="2174748" y="571214"/>
                      <a:pt x="2164175" y="588931"/>
                      <a:pt x="2160937" y="602456"/>
                    </a:cubicBezTo>
                    <a:cubicBezTo>
                      <a:pt x="2157698" y="615982"/>
                      <a:pt x="2158651" y="632651"/>
                      <a:pt x="2158651" y="635032"/>
                    </a:cubicBezTo>
                    <a:cubicBezTo>
                      <a:pt x="2158651" y="637413"/>
                      <a:pt x="2170748" y="718185"/>
                      <a:pt x="2172367" y="727043"/>
                    </a:cubicBezTo>
                    <a:cubicBezTo>
                      <a:pt x="2173986" y="735806"/>
                      <a:pt x="2178368" y="737330"/>
                      <a:pt x="2179130" y="745331"/>
                    </a:cubicBezTo>
                    <a:cubicBezTo>
                      <a:pt x="2179987" y="753332"/>
                      <a:pt x="2187226" y="795623"/>
                      <a:pt x="2187226" y="802005"/>
                    </a:cubicBezTo>
                    <a:cubicBezTo>
                      <a:pt x="2187226" y="808387"/>
                      <a:pt x="2198561" y="851440"/>
                      <a:pt x="2202656" y="867442"/>
                    </a:cubicBezTo>
                    <a:cubicBezTo>
                      <a:pt x="2206752" y="883444"/>
                      <a:pt x="2203418" y="909733"/>
                      <a:pt x="2201799" y="917734"/>
                    </a:cubicBezTo>
                    <a:cubicBezTo>
                      <a:pt x="2200180" y="925735"/>
                      <a:pt x="2195227" y="954596"/>
                      <a:pt x="2190369" y="969740"/>
                    </a:cubicBezTo>
                    <a:cubicBezTo>
                      <a:pt x="2185511" y="984885"/>
                      <a:pt x="2178177" y="1003173"/>
                      <a:pt x="2172462" y="1019175"/>
                    </a:cubicBezTo>
                    <a:cubicBezTo>
                      <a:pt x="2166747" y="1035177"/>
                      <a:pt x="2160461" y="1066324"/>
                      <a:pt x="2160461" y="1078325"/>
                    </a:cubicBezTo>
                    <a:cubicBezTo>
                      <a:pt x="2160461" y="1090327"/>
                      <a:pt x="2182178" y="1202912"/>
                      <a:pt x="2182178" y="1202912"/>
                    </a:cubicBezTo>
                    <a:lnTo>
                      <a:pt x="2173319" y="1204627"/>
                    </a:lnTo>
                    <a:cubicBezTo>
                      <a:pt x="2173319" y="1204627"/>
                      <a:pt x="2159508" y="1123093"/>
                      <a:pt x="2157032" y="1108710"/>
                    </a:cubicBezTo>
                    <a:cubicBezTo>
                      <a:pt x="2154555" y="1094327"/>
                      <a:pt x="2151317" y="1058323"/>
                      <a:pt x="2156174" y="1039940"/>
                    </a:cubicBezTo>
                    <a:cubicBezTo>
                      <a:pt x="2161032" y="1021556"/>
                      <a:pt x="2160270" y="1011936"/>
                      <a:pt x="2156174" y="1000697"/>
                    </a:cubicBezTo>
                    <a:cubicBezTo>
                      <a:pt x="2152079" y="989552"/>
                      <a:pt x="2132552" y="983171"/>
                      <a:pt x="2117884" y="982408"/>
                    </a:cubicBezTo>
                    <a:cubicBezTo>
                      <a:pt x="2103215" y="981647"/>
                      <a:pt x="2051495" y="977741"/>
                      <a:pt x="2033588" y="969740"/>
                    </a:cubicBezTo>
                    <a:cubicBezTo>
                      <a:pt x="2015681" y="961739"/>
                      <a:pt x="2000155" y="936879"/>
                      <a:pt x="1997678" y="920115"/>
                    </a:cubicBezTo>
                    <a:cubicBezTo>
                      <a:pt x="1995202" y="903351"/>
                      <a:pt x="2003584" y="888873"/>
                      <a:pt x="2006822" y="870490"/>
                    </a:cubicBezTo>
                    <a:cubicBezTo>
                      <a:pt x="2010061" y="852107"/>
                      <a:pt x="2003393" y="845153"/>
                      <a:pt x="2003393" y="845153"/>
                    </a:cubicBezTo>
                    <a:lnTo>
                      <a:pt x="1986629" y="797147"/>
                    </a:lnTo>
                    <a:cubicBezTo>
                      <a:pt x="1969865" y="802577"/>
                      <a:pt x="1954244" y="812387"/>
                      <a:pt x="1947196" y="829628"/>
                    </a:cubicBezTo>
                    <a:cubicBezTo>
                      <a:pt x="1937004" y="830771"/>
                      <a:pt x="1927384" y="831342"/>
                      <a:pt x="1917859" y="833628"/>
                    </a:cubicBezTo>
                    <a:cubicBezTo>
                      <a:pt x="1911668" y="838772"/>
                      <a:pt x="1909953" y="847439"/>
                      <a:pt x="1905953" y="854393"/>
                    </a:cubicBezTo>
                    <a:cubicBezTo>
                      <a:pt x="1895189" y="858393"/>
                      <a:pt x="1881092" y="858393"/>
                      <a:pt x="1874330" y="869347"/>
                    </a:cubicBezTo>
                    <a:cubicBezTo>
                      <a:pt x="1872615" y="873824"/>
                      <a:pt x="1871472" y="878300"/>
                      <a:pt x="1870329" y="882872"/>
                    </a:cubicBezTo>
                    <a:cubicBezTo>
                      <a:pt x="1872234" y="884873"/>
                      <a:pt x="1874425" y="886587"/>
                      <a:pt x="1876139" y="888778"/>
                    </a:cubicBezTo>
                    <a:cubicBezTo>
                      <a:pt x="1880616" y="894588"/>
                      <a:pt x="1875473" y="895445"/>
                      <a:pt x="1865948" y="900303"/>
                    </a:cubicBezTo>
                    <a:cubicBezTo>
                      <a:pt x="1865567" y="901732"/>
                      <a:pt x="1865186" y="903065"/>
                      <a:pt x="1864709" y="904494"/>
                    </a:cubicBezTo>
                    <a:cubicBezTo>
                      <a:pt x="1855756" y="908590"/>
                      <a:pt x="1843754" y="908304"/>
                      <a:pt x="1836039" y="914876"/>
                    </a:cubicBezTo>
                    <a:cubicBezTo>
                      <a:pt x="1835658" y="917543"/>
                      <a:pt x="1835468" y="920877"/>
                      <a:pt x="1834610" y="925544"/>
                    </a:cubicBezTo>
                    <a:cubicBezTo>
                      <a:pt x="1832134" y="939927"/>
                      <a:pt x="1840992" y="941737"/>
                      <a:pt x="1845088" y="948881"/>
                    </a:cubicBezTo>
                    <a:cubicBezTo>
                      <a:pt x="1849184" y="956024"/>
                      <a:pt x="1879378" y="1015937"/>
                      <a:pt x="1881759" y="1026319"/>
                    </a:cubicBezTo>
                    <a:cubicBezTo>
                      <a:pt x="1881854" y="1026890"/>
                      <a:pt x="1882140" y="1027652"/>
                      <a:pt x="1882331" y="1028319"/>
                    </a:cubicBezTo>
                    <a:cubicBezTo>
                      <a:pt x="1882331" y="1028319"/>
                      <a:pt x="1882331" y="1028414"/>
                      <a:pt x="1882331" y="1028414"/>
                    </a:cubicBezTo>
                    <a:cubicBezTo>
                      <a:pt x="1884712" y="1030700"/>
                      <a:pt x="1887284" y="1032891"/>
                      <a:pt x="1890046" y="1034796"/>
                    </a:cubicBezTo>
                    <a:cubicBezTo>
                      <a:pt x="1889665" y="1037177"/>
                      <a:pt x="1888808" y="1041273"/>
                      <a:pt x="1888046" y="1045178"/>
                    </a:cubicBezTo>
                    <a:cubicBezTo>
                      <a:pt x="1889951" y="1050322"/>
                      <a:pt x="1890903" y="1052227"/>
                      <a:pt x="1892141" y="1055370"/>
                    </a:cubicBezTo>
                    <a:cubicBezTo>
                      <a:pt x="1896047" y="1059847"/>
                      <a:pt x="1899571" y="1064514"/>
                      <a:pt x="1902714" y="1069467"/>
                    </a:cubicBezTo>
                    <a:lnTo>
                      <a:pt x="1908620" y="1070229"/>
                    </a:lnTo>
                    <a:lnTo>
                      <a:pt x="1924907" y="1088517"/>
                    </a:lnTo>
                    <a:cubicBezTo>
                      <a:pt x="1924907" y="1088517"/>
                      <a:pt x="1926622" y="1101281"/>
                      <a:pt x="1926622" y="1106138"/>
                    </a:cubicBezTo>
                    <a:cubicBezTo>
                      <a:pt x="1926622" y="1110996"/>
                      <a:pt x="1933289" y="1113187"/>
                      <a:pt x="1933289" y="1113187"/>
                    </a:cubicBezTo>
                    <a:lnTo>
                      <a:pt x="1933956" y="1121093"/>
                    </a:lnTo>
                    <a:cubicBezTo>
                      <a:pt x="1933956" y="1121093"/>
                      <a:pt x="1931194" y="1124617"/>
                      <a:pt x="1928146" y="1128332"/>
                    </a:cubicBezTo>
                    <a:cubicBezTo>
                      <a:pt x="1928622" y="1129665"/>
                      <a:pt x="1929098" y="1130903"/>
                      <a:pt x="1929575" y="1132237"/>
                    </a:cubicBezTo>
                    <a:cubicBezTo>
                      <a:pt x="1926717" y="1135094"/>
                      <a:pt x="1921669" y="1140333"/>
                      <a:pt x="1919383" y="1143191"/>
                    </a:cubicBezTo>
                    <a:cubicBezTo>
                      <a:pt x="1918811" y="1146048"/>
                      <a:pt x="1917097" y="1151858"/>
                      <a:pt x="1916525" y="1154716"/>
                    </a:cubicBezTo>
                    <a:cubicBezTo>
                      <a:pt x="1920526" y="1153001"/>
                      <a:pt x="1927860" y="1148906"/>
                      <a:pt x="1931765" y="1147191"/>
                    </a:cubicBezTo>
                    <a:cubicBezTo>
                      <a:pt x="1931765" y="1154716"/>
                      <a:pt x="1939100" y="1166241"/>
                      <a:pt x="1928336" y="1169099"/>
                    </a:cubicBezTo>
                    <a:cubicBezTo>
                      <a:pt x="1911382" y="1174242"/>
                      <a:pt x="1910810" y="1193864"/>
                      <a:pt x="1905762" y="1207770"/>
                    </a:cubicBezTo>
                    <a:cubicBezTo>
                      <a:pt x="1921002" y="1218724"/>
                      <a:pt x="1939671" y="1218724"/>
                      <a:pt x="1957769" y="1219295"/>
                    </a:cubicBezTo>
                    <a:cubicBezTo>
                      <a:pt x="1958340" y="1222153"/>
                      <a:pt x="1958340" y="1227392"/>
                      <a:pt x="1958340" y="1230249"/>
                    </a:cubicBezTo>
                    <a:cubicBezTo>
                      <a:pt x="1945386" y="1231392"/>
                      <a:pt x="1931765" y="1231392"/>
                      <a:pt x="1918240" y="1230821"/>
                    </a:cubicBezTo>
                    <a:cubicBezTo>
                      <a:pt x="1930146" y="1247584"/>
                      <a:pt x="1949291" y="1261396"/>
                      <a:pt x="1952149" y="1282732"/>
                    </a:cubicBezTo>
                    <a:cubicBezTo>
                      <a:pt x="1949291" y="1283303"/>
                      <a:pt x="1943100" y="1284446"/>
                      <a:pt x="1939766" y="1284446"/>
                    </a:cubicBezTo>
                    <a:cubicBezTo>
                      <a:pt x="1921097" y="1270635"/>
                      <a:pt x="1911001" y="1247584"/>
                      <a:pt x="1896809" y="1229678"/>
                    </a:cubicBezTo>
                    <a:cubicBezTo>
                      <a:pt x="1885474" y="1275779"/>
                      <a:pt x="1878140" y="1322546"/>
                      <a:pt x="1875377" y="1370362"/>
                    </a:cubicBezTo>
                    <a:cubicBezTo>
                      <a:pt x="1871948" y="1370362"/>
                      <a:pt x="1865757" y="1371505"/>
                      <a:pt x="1862423" y="1372076"/>
                    </a:cubicBezTo>
                    <a:cubicBezTo>
                      <a:pt x="1855089" y="1318451"/>
                      <a:pt x="1866900" y="1265396"/>
                      <a:pt x="1878235" y="1212914"/>
                    </a:cubicBezTo>
                    <a:cubicBezTo>
                      <a:pt x="1884998" y="1189863"/>
                      <a:pt x="1873758" y="1167384"/>
                      <a:pt x="1874234" y="1143667"/>
                    </a:cubicBezTo>
                    <a:cubicBezTo>
                      <a:pt x="1874234" y="1125188"/>
                      <a:pt x="1860709" y="1110234"/>
                      <a:pt x="1858994" y="1091756"/>
                    </a:cubicBezTo>
                    <a:cubicBezTo>
                      <a:pt x="1843183" y="1065848"/>
                      <a:pt x="1827943" y="1039273"/>
                      <a:pt x="1811560" y="1013936"/>
                    </a:cubicBezTo>
                    <a:cubicBezTo>
                      <a:pt x="1804035" y="1024985"/>
                      <a:pt x="1794320" y="1035939"/>
                      <a:pt x="1789271" y="1048988"/>
                    </a:cubicBezTo>
                    <a:cubicBezTo>
                      <a:pt x="1788986" y="1058799"/>
                      <a:pt x="1792224" y="1063562"/>
                      <a:pt x="1792224" y="1063562"/>
                    </a:cubicBezTo>
                    <a:lnTo>
                      <a:pt x="1792224" y="1110710"/>
                    </a:lnTo>
                    <a:lnTo>
                      <a:pt x="1790795" y="1112139"/>
                    </a:lnTo>
                    <a:cubicBezTo>
                      <a:pt x="1790319" y="1116711"/>
                      <a:pt x="1789367" y="1121378"/>
                      <a:pt x="1787843" y="1125855"/>
                    </a:cubicBezTo>
                    <a:cubicBezTo>
                      <a:pt x="1775460" y="1143191"/>
                      <a:pt x="1762982" y="1161002"/>
                      <a:pt x="1748314" y="1176623"/>
                    </a:cubicBezTo>
                    <a:cubicBezTo>
                      <a:pt x="1732502" y="1181195"/>
                      <a:pt x="1709928" y="1177766"/>
                      <a:pt x="1702022" y="1195673"/>
                    </a:cubicBezTo>
                    <a:cubicBezTo>
                      <a:pt x="1697546" y="1221010"/>
                      <a:pt x="1706023" y="1245870"/>
                      <a:pt x="1703737" y="1271207"/>
                    </a:cubicBezTo>
                    <a:cubicBezTo>
                      <a:pt x="1697546" y="1282732"/>
                      <a:pt x="1686782" y="1291400"/>
                      <a:pt x="1681163" y="1303496"/>
                    </a:cubicBezTo>
                    <a:cubicBezTo>
                      <a:pt x="1679448" y="1320832"/>
                      <a:pt x="1684592" y="1338072"/>
                      <a:pt x="1688497" y="1354836"/>
                    </a:cubicBezTo>
                    <a:cubicBezTo>
                      <a:pt x="1671542" y="1369219"/>
                      <a:pt x="1650111" y="1377887"/>
                      <a:pt x="1627442" y="1373315"/>
                    </a:cubicBezTo>
                    <a:cubicBezTo>
                      <a:pt x="1637062" y="1359503"/>
                      <a:pt x="1653445" y="1355979"/>
                      <a:pt x="1667542" y="1350264"/>
                    </a:cubicBezTo>
                    <a:cubicBezTo>
                      <a:pt x="1670399" y="1333500"/>
                      <a:pt x="1661922" y="1316831"/>
                      <a:pt x="1665256" y="1299496"/>
                    </a:cubicBezTo>
                    <a:cubicBezTo>
                      <a:pt x="1668685" y="1283970"/>
                      <a:pt x="1686115" y="1274159"/>
                      <a:pt x="1683925" y="1256824"/>
                    </a:cubicBezTo>
                    <a:cubicBezTo>
                      <a:pt x="1682782" y="1236631"/>
                      <a:pt x="1678305" y="1216438"/>
                      <a:pt x="1676019" y="1196245"/>
                    </a:cubicBezTo>
                    <a:lnTo>
                      <a:pt x="1664113" y="1196245"/>
                    </a:lnTo>
                    <a:cubicBezTo>
                      <a:pt x="1631347" y="1192244"/>
                      <a:pt x="1612678" y="1225677"/>
                      <a:pt x="1595152" y="1248156"/>
                    </a:cubicBezTo>
                    <a:cubicBezTo>
                      <a:pt x="1587246" y="1245299"/>
                      <a:pt x="1579340" y="1242346"/>
                      <a:pt x="1571435" y="1240060"/>
                    </a:cubicBezTo>
                    <a:cubicBezTo>
                      <a:pt x="1577626" y="1234250"/>
                      <a:pt x="1583817" y="1229106"/>
                      <a:pt x="1589532" y="1223296"/>
                    </a:cubicBezTo>
                    <a:cubicBezTo>
                      <a:pt x="1591247" y="1219295"/>
                      <a:pt x="1592961" y="1214628"/>
                      <a:pt x="1594580" y="1210628"/>
                    </a:cubicBezTo>
                    <a:cubicBezTo>
                      <a:pt x="1610963" y="1197959"/>
                      <a:pt x="1625060" y="1181195"/>
                      <a:pt x="1646015" y="1176052"/>
                    </a:cubicBezTo>
                    <a:cubicBezTo>
                      <a:pt x="1631918" y="1156430"/>
                      <a:pt x="1610963" y="1139190"/>
                      <a:pt x="1605344" y="1114330"/>
                    </a:cubicBezTo>
                    <a:cubicBezTo>
                      <a:pt x="1608773" y="1113758"/>
                      <a:pt x="1615535" y="1113187"/>
                      <a:pt x="1619440" y="1112615"/>
                    </a:cubicBezTo>
                    <a:cubicBezTo>
                      <a:pt x="1643729" y="1126998"/>
                      <a:pt x="1649921" y="1162241"/>
                      <a:pt x="1678210" y="1173194"/>
                    </a:cubicBezTo>
                    <a:lnTo>
                      <a:pt x="1701927" y="1161098"/>
                    </a:lnTo>
                    <a:cubicBezTo>
                      <a:pt x="1703642" y="1153001"/>
                      <a:pt x="1705928" y="1145572"/>
                      <a:pt x="1707547" y="1138047"/>
                    </a:cubicBezTo>
                    <a:cubicBezTo>
                      <a:pt x="1709738" y="1138047"/>
                      <a:pt x="1711928" y="1138047"/>
                      <a:pt x="1714214" y="1137857"/>
                    </a:cubicBezTo>
                    <a:lnTo>
                      <a:pt x="1713833" y="1133285"/>
                    </a:lnTo>
                    <a:cubicBezTo>
                      <a:pt x="1713833" y="1133285"/>
                      <a:pt x="1727549" y="1128998"/>
                      <a:pt x="1738694" y="1123379"/>
                    </a:cubicBezTo>
                    <a:cubicBezTo>
                      <a:pt x="1740408" y="1117092"/>
                      <a:pt x="1741932" y="1110901"/>
                      <a:pt x="1743170" y="1104614"/>
                    </a:cubicBezTo>
                    <a:cubicBezTo>
                      <a:pt x="1734122" y="1099471"/>
                      <a:pt x="1721739" y="1097661"/>
                      <a:pt x="1716596" y="1086707"/>
                    </a:cubicBezTo>
                    <a:cubicBezTo>
                      <a:pt x="1723358" y="1078611"/>
                      <a:pt x="1730693" y="1070515"/>
                      <a:pt x="1737455" y="1063085"/>
                    </a:cubicBezTo>
                    <a:cubicBezTo>
                      <a:pt x="1736884" y="1054418"/>
                      <a:pt x="1731836" y="1044035"/>
                      <a:pt x="1739170" y="1037177"/>
                    </a:cubicBezTo>
                    <a:cubicBezTo>
                      <a:pt x="1748790" y="1027367"/>
                      <a:pt x="1746504" y="1012984"/>
                      <a:pt x="1748790" y="1000887"/>
                    </a:cubicBezTo>
                    <a:cubicBezTo>
                      <a:pt x="1754981" y="992219"/>
                      <a:pt x="1764030" y="985933"/>
                      <a:pt x="1769174" y="976694"/>
                    </a:cubicBezTo>
                    <a:cubicBezTo>
                      <a:pt x="1771460" y="961739"/>
                      <a:pt x="1769174" y="946118"/>
                      <a:pt x="1766888" y="931164"/>
                    </a:cubicBezTo>
                    <a:lnTo>
                      <a:pt x="1748219" y="931164"/>
                    </a:lnTo>
                    <a:cubicBezTo>
                      <a:pt x="1740884" y="942118"/>
                      <a:pt x="1734122" y="954215"/>
                      <a:pt x="1725073" y="964597"/>
                    </a:cubicBezTo>
                    <a:lnTo>
                      <a:pt x="1716596" y="961739"/>
                    </a:lnTo>
                    <a:cubicBezTo>
                      <a:pt x="1716024" y="948500"/>
                      <a:pt x="1718882" y="935831"/>
                      <a:pt x="1720596" y="922496"/>
                    </a:cubicBezTo>
                    <a:cubicBezTo>
                      <a:pt x="1699165" y="924782"/>
                      <a:pt x="1677067" y="926497"/>
                      <a:pt x="1657922" y="936879"/>
                    </a:cubicBezTo>
                    <a:cubicBezTo>
                      <a:pt x="1647158" y="940880"/>
                      <a:pt x="1636490" y="949547"/>
                      <a:pt x="1624013" y="944975"/>
                    </a:cubicBezTo>
                    <a:cubicBezTo>
                      <a:pt x="1618964" y="937451"/>
                      <a:pt x="1615535" y="928783"/>
                      <a:pt x="1612106" y="920210"/>
                    </a:cubicBezTo>
                    <a:cubicBezTo>
                      <a:pt x="1624489" y="904018"/>
                      <a:pt x="1609249" y="879824"/>
                      <a:pt x="1590104" y="885635"/>
                    </a:cubicBezTo>
                    <a:cubicBezTo>
                      <a:pt x="1574864" y="904113"/>
                      <a:pt x="1568672" y="929450"/>
                      <a:pt x="1547717" y="942689"/>
                    </a:cubicBezTo>
                    <a:cubicBezTo>
                      <a:pt x="1551146" y="950214"/>
                      <a:pt x="1554480" y="957644"/>
                      <a:pt x="1557338" y="965740"/>
                    </a:cubicBezTo>
                    <a:cubicBezTo>
                      <a:pt x="1555052" y="977837"/>
                      <a:pt x="1549432" y="996315"/>
                      <a:pt x="1534192" y="991076"/>
                    </a:cubicBezTo>
                    <a:cubicBezTo>
                      <a:pt x="1516094" y="991648"/>
                      <a:pt x="1509903" y="970312"/>
                      <a:pt x="1494663" y="964502"/>
                    </a:cubicBezTo>
                    <a:cubicBezTo>
                      <a:pt x="1486186" y="964502"/>
                      <a:pt x="1477137" y="965073"/>
                      <a:pt x="1468660" y="966216"/>
                    </a:cubicBezTo>
                    <a:cubicBezTo>
                      <a:pt x="1466945" y="957548"/>
                      <a:pt x="1464659" y="948881"/>
                      <a:pt x="1463040" y="940880"/>
                    </a:cubicBezTo>
                    <a:cubicBezTo>
                      <a:pt x="1475423" y="939737"/>
                      <a:pt x="1487329" y="939165"/>
                      <a:pt x="1499711" y="936308"/>
                    </a:cubicBezTo>
                    <a:cubicBezTo>
                      <a:pt x="1513808" y="930497"/>
                      <a:pt x="1526286" y="921353"/>
                      <a:pt x="1539811" y="914400"/>
                    </a:cubicBezTo>
                    <a:cubicBezTo>
                      <a:pt x="1532477" y="905732"/>
                      <a:pt x="1524572" y="894779"/>
                      <a:pt x="1511522" y="895922"/>
                    </a:cubicBezTo>
                    <a:cubicBezTo>
                      <a:pt x="1484376" y="890111"/>
                      <a:pt x="1461230" y="909733"/>
                      <a:pt x="1435227" y="912114"/>
                    </a:cubicBezTo>
                    <a:cubicBezTo>
                      <a:pt x="1438085" y="894779"/>
                      <a:pt x="1441418" y="878110"/>
                      <a:pt x="1443133" y="860774"/>
                    </a:cubicBezTo>
                    <a:cubicBezTo>
                      <a:pt x="1446943" y="863346"/>
                      <a:pt x="1450848" y="865251"/>
                      <a:pt x="1454849" y="866966"/>
                    </a:cubicBezTo>
                    <a:lnTo>
                      <a:pt x="1454849" y="853154"/>
                    </a:lnTo>
                    <a:cubicBezTo>
                      <a:pt x="1454849" y="853154"/>
                      <a:pt x="1472851" y="867442"/>
                      <a:pt x="1476851" y="869918"/>
                    </a:cubicBezTo>
                    <a:cubicBezTo>
                      <a:pt x="1479614" y="871538"/>
                      <a:pt x="1483328" y="873062"/>
                      <a:pt x="1488567" y="873919"/>
                    </a:cubicBezTo>
                    <a:cubicBezTo>
                      <a:pt x="1488567" y="873919"/>
                      <a:pt x="1488758" y="873919"/>
                      <a:pt x="1488853" y="873919"/>
                    </a:cubicBezTo>
                    <a:cubicBezTo>
                      <a:pt x="1497140" y="874014"/>
                      <a:pt x="1505522" y="873347"/>
                      <a:pt x="1513999" y="872204"/>
                    </a:cubicBezTo>
                    <a:cubicBezTo>
                      <a:pt x="1516761" y="871347"/>
                      <a:pt x="1519142" y="870490"/>
                      <a:pt x="1520095" y="869918"/>
                    </a:cubicBezTo>
                    <a:cubicBezTo>
                      <a:pt x="1522571" y="868299"/>
                      <a:pt x="1536478" y="866775"/>
                      <a:pt x="1542955" y="863537"/>
                    </a:cubicBezTo>
                    <a:cubicBezTo>
                      <a:pt x="1549527" y="860393"/>
                      <a:pt x="1553528" y="861060"/>
                      <a:pt x="1560005" y="853916"/>
                    </a:cubicBezTo>
                    <a:cubicBezTo>
                      <a:pt x="1565624" y="847725"/>
                      <a:pt x="1569625" y="856869"/>
                      <a:pt x="1575245" y="862108"/>
                    </a:cubicBezTo>
                    <a:cubicBezTo>
                      <a:pt x="1584865" y="857726"/>
                      <a:pt x="1589246" y="845534"/>
                      <a:pt x="1596676" y="838295"/>
                    </a:cubicBezTo>
                    <a:cubicBezTo>
                      <a:pt x="1605153" y="834295"/>
                      <a:pt x="1614773" y="833723"/>
                      <a:pt x="1624394" y="831914"/>
                    </a:cubicBezTo>
                    <a:cubicBezTo>
                      <a:pt x="1627727" y="835343"/>
                      <a:pt x="1630966" y="838772"/>
                      <a:pt x="1634109" y="842296"/>
                    </a:cubicBezTo>
                    <a:cubicBezTo>
                      <a:pt x="1637633" y="842963"/>
                      <a:pt x="1641158" y="844010"/>
                      <a:pt x="1644301" y="845915"/>
                    </a:cubicBezTo>
                    <a:cubicBezTo>
                      <a:pt x="1650873" y="849916"/>
                      <a:pt x="1652969" y="857822"/>
                      <a:pt x="1657826" y="861822"/>
                    </a:cubicBezTo>
                    <a:cubicBezTo>
                      <a:pt x="1662684" y="865823"/>
                      <a:pt x="1667732" y="868204"/>
                      <a:pt x="1672685" y="872204"/>
                    </a:cubicBezTo>
                    <a:cubicBezTo>
                      <a:pt x="1676876" y="875633"/>
                      <a:pt x="1680686" y="879062"/>
                      <a:pt x="1690021" y="880967"/>
                    </a:cubicBezTo>
                    <a:cubicBezTo>
                      <a:pt x="1690116" y="880967"/>
                      <a:pt x="1690211" y="881063"/>
                      <a:pt x="1690307" y="881158"/>
                    </a:cubicBezTo>
                    <a:cubicBezTo>
                      <a:pt x="1709071" y="882301"/>
                      <a:pt x="1728502" y="877157"/>
                      <a:pt x="1746980" y="873538"/>
                    </a:cubicBezTo>
                    <a:cubicBezTo>
                      <a:pt x="1744694" y="864299"/>
                      <a:pt x="1744123" y="851630"/>
                      <a:pt x="1734026" y="846963"/>
                    </a:cubicBezTo>
                    <a:cubicBezTo>
                      <a:pt x="1727835" y="839438"/>
                      <a:pt x="1709738" y="837152"/>
                      <a:pt x="1716500" y="823913"/>
                    </a:cubicBezTo>
                    <a:cubicBezTo>
                      <a:pt x="1728407" y="823341"/>
                      <a:pt x="1739075" y="829723"/>
                      <a:pt x="1749838" y="834866"/>
                    </a:cubicBezTo>
                    <a:cubicBezTo>
                      <a:pt x="1754886" y="832580"/>
                      <a:pt x="1760601" y="830866"/>
                      <a:pt x="1766221" y="828485"/>
                    </a:cubicBezTo>
                    <a:cubicBezTo>
                      <a:pt x="1770698" y="831914"/>
                      <a:pt x="1774698" y="836009"/>
                      <a:pt x="1779175" y="840010"/>
                    </a:cubicBezTo>
                    <a:lnTo>
                      <a:pt x="1797844" y="843439"/>
                    </a:lnTo>
                    <a:cubicBezTo>
                      <a:pt x="1839087" y="819817"/>
                      <a:pt x="1870710" y="782860"/>
                      <a:pt x="1904619" y="749999"/>
                    </a:cubicBezTo>
                    <a:cubicBezTo>
                      <a:pt x="1905762" y="739045"/>
                      <a:pt x="1906905" y="727520"/>
                      <a:pt x="1908048" y="716566"/>
                    </a:cubicBezTo>
                    <a:cubicBezTo>
                      <a:pt x="1899571" y="717709"/>
                      <a:pt x="1891094" y="717137"/>
                      <a:pt x="1883188" y="715423"/>
                    </a:cubicBezTo>
                    <a:cubicBezTo>
                      <a:pt x="1891094" y="703326"/>
                      <a:pt x="1904048" y="695230"/>
                      <a:pt x="1914811" y="685991"/>
                    </a:cubicBezTo>
                    <a:cubicBezTo>
                      <a:pt x="1917668" y="676180"/>
                      <a:pt x="1920431" y="665798"/>
                      <a:pt x="1923288" y="655987"/>
                    </a:cubicBezTo>
                    <a:cubicBezTo>
                      <a:pt x="1927289" y="644462"/>
                      <a:pt x="1932908" y="634079"/>
                      <a:pt x="1939671" y="624269"/>
                    </a:cubicBezTo>
                    <a:cubicBezTo>
                      <a:pt x="1930051" y="622554"/>
                      <a:pt x="1920431" y="621411"/>
                      <a:pt x="1911382" y="619697"/>
                    </a:cubicBezTo>
                    <a:cubicBezTo>
                      <a:pt x="1908524" y="613315"/>
                      <a:pt x="1906334" y="607028"/>
                      <a:pt x="1903476" y="600647"/>
                    </a:cubicBezTo>
                    <a:cubicBezTo>
                      <a:pt x="1909667" y="591979"/>
                      <a:pt x="1916430" y="583311"/>
                      <a:pt x="1922717" y="574739"/>
                    </a:cubicBezTo>
                    <a:cubicBezTo>
                      <a:pt x="1930622" y="573596"/>
                      <a:pt x="1937957" y="573024"/>
                      <a:pt x="1945862" y="571881"/>
                    </a:cubicBezTo>
                    <a:cubicBezTo>
                      <a:pt x="1936718" y="563023"/>
                      <a:pt x="1932432" y="552164"/>
                      <a:pt x="1935575" y="540639"/>
                    </a:cubicBezTo>
                    <a:lnTo>
                      <a:pt x="1944338" y="540639"/>
                    </a:lnTo>
                    <a:cubicBezTo>
                      <a:pt x="1940052" y="534638"/>
                      <a:pt x="1936528" y="530066"/>
                      <a:pt x="1936052" y="529685"/>
                    </a:cubicBezTo>
                    <a:cubicBezTo>
                      <a:pt x="1934432" y="528542"/>
                      <a:pt x="1932813" y="524447"/>
                      <a:pt x="1931956" y="520446"/>
                    </a:cubicBezTo>
                    <a:cubicBezTo>
                      <a:pt x="1931099" y="516445"/>
                      <a:pt x="1934909" y="508921"/>
                      <a:pt x="1934909" y="508921"/>
                    </a:cubicBezTo>
                    <a:lnTo>
                      <a:pt x="1934909" y="508349"/>
                    </a:lnTo>
                    <a:cubicBezTo>
                      <a:pt x="1934909" y="508349"/>
                      <a:pt x="2022729" y="508064"/>
                      <a:pt x="2022729" y="508064"/>
                    </a:cubicBezTo>
                    <a:cubicBezTo>
                      <a:pt x="2022729" y="508064"/>
                      <a:pt x="2032254" y="530924"/>
                      <a:pt x="2033302" y="534162"/>
                    </a:cubicBezTo>
                    <a:cubicBezTo>
                      <a:pt x="2033397" y="534543"/>
                      <a:pt x="2035683" y="538448"/>
                      <a:pt x="2036826" y="540639"/>
                    </a:cubicBezTo>
                    <a:lnTo>
                      <a:pt x="2042446" y="540639"/>
                    </a:lnTo>
                    <a:cubicBezTo>
                      <a:pt x="2061877" y="574358"/>
                      <a:pt x="2086261" y="607409"/>
                      <a:pt x="2080260" y="648081"/>
                    </a:cubicBezTo>
                    <a:cubicBezTo>
                      <a:pt x="2079784" y="648938"/>
                      <a:pt x="2079117" y="649605"/>
                      <a:pt x="2078546" y="650367"/>
                    </a:cubicBezTo>
                    <a:lnTo>
                      <a:pt x="2078546" y="650558"/>
                    </a:lnTo>
                    <a:cubicBezTo>
                      <a:pt x="2077307" y="654558"/>
                      <a:pt x="2075783" y="653606"/>
                      <a:pt x="2075021" y="656749"/>
                    </a:cubicBezTo>
                    <a:cubicBezTo>
                      <a:pt x="2074259" y="659702"/>
                      <a:pt x="2053495" y="683514"/>
                      <a:pt x="2050733" y="686753"/>
                    </a:cubicBezTo>
                    <a:cubicBezTo>
                      <a:pt x="2050161" y="688181"/>
                      <a:pt x="2049685" y="689515"/>
                      <a:pt x="2049018" y="690944"/>
                    </a:cubicBezTo>
                    <a:cubicBezTo>
                      <a:pt x="2048923" y="693706"/>
                      <a:pt x="2048351" y="698468"/>
                      <a:pt x="2045780" y="701040"/>
                    </a:cubicBezTo>
                    <a:cubicBezTo>
                      <a:pt x="2045399" y="701421"/>
                      <a:pt x="2041589" y="705517"/>
                      <a:pt x="2040446" y="706850"/>
                    </a:cubicBezTo>
                    <a:cubicBezTo>
                      <a:pt x="2029206" y="723710"/>
                      <a:pt x="2013680" y="737426"/>
                      <a:pt x="1999107" y="751427"/>
                    </a:cubicBezTo>
                    <a:cubicBezTo>
                      <a:pt x="1998821" y="751713"/>
                      <a:pt x="1996631" y="754094"/>
                      <a:pt x="1996631" y="754094"/>
                    </a:cubicBezTo>
                    <a:lnTo>
                      <a:pt x="1996250" y="754094"/>
                    </a:lnTo>
                    <a:cubicBezTo>
                      <a:pt x="1995297" y="755142"/>
                      <a:pt x="1994345" y="756095"/>
                      <a:pt x="1993678" y="757142"/>
                    </a:cubicBezTo>
                    <a:lnTo>
                      <a:pt x="1993678" y="757333"/>
                    </a:lnTo>
                    <a:lnTo>
                      <a:pt x="1992725" y="759619"/>
                    </a:lnTo>
                    <a:lnTo>
                      <a:pt x="1991868" y="768668"/>
                    </a:lnTo>
                    <a:cubicBezTo>
                      <a:pt x="1991868" y="768668"/>
                      <a:pt x="2022824" y="861155"/>
                      <a:pt x="2023682" y="870776"/>
                    </a:cubicBezTo>
                    <a:cubicBezTo>
                      <a:pt x="2024539" y="880396"/>
                      <a:pt x="2019586" y="896493"/>
                      <a:pt x="2017205" y="910876"/>
                    </a:cubicBezTo>
                    <a:cubicBezTo>
                      <a:pt x="2014728" y="925258"/>
                      <a:pt x="2022920" y="937260"/>
                      <a:pt x="2028635" y="944499"/>
                    </a:cubicBezTo>
                    <a:cubicBezTo>
                      <a:pt x="2034350" y="951643"/>
                      <a:pt x="2061210" y="962120"/>
                      <a:pt x="2074259" y="962120"/>
                    </a:cubicBezTo>
                    <a:cubicBezTo>
                      <a:pt x="2087309" y="962120"/>
                      <a:pt x="2111788" y="964311"/>
                      <a:pt x="2122456" y="966692"/>
                    </a:cubicBezTo>
                    <a:cubicBezTo>
                      <a:pt x="2133029" y="969074"/>
                      <a:pt x="2169890" y="984314"/>
                      <a:pt x="2169890" y="984314"/>
                    </a:cubicBezTo>
                    <a:cubicBezTo>
                      <a:pt x="2169890" y="984314"/>
                      <a:pt x="2181225" y="955548"/>
                      <a:pt x="2185321" y="941927"/>
                    </a:cubicBezTo>
                    <a:cubicBezTo>
                      <a:pt x="2189417" y="928402"/>
                      <a:pt x="2189512" y="891731"/>
                      <a:pt x="2189512" y="891731"/>
                    </a:cubicBezTo>
                    <a:lnTo>
                      <a:pt x="2158460" y="740664"/>
                    </a:lnTo>
                    <a:lnTo>
                      <a:pt x="2141125" y="623126"/>
                    </a:lnTo>
                    <a:lnTo>
                      <a:pt x="2146173" y="600932"/>
                    </a:lnTo>
                    <a:lnTo>
                      <a:pt x="2146173" y="592265"/>
                    </a:lnTo>
                    <a:lnTo>
                      <a:pt x="2160175" y="556927"/>
                    </a:lnTo>
                    <a:cubicBezTo>
                      <a:pt x="2160175" y="556927"/>
                      <a:pt x="2162651" y="547497"/>
                      <a:pt x="2160175" y="541020"/>
                    </a:cubicBezTo>
                    <a:cubicBezTo>
                      <a:pt x="2159222" y="538448"/>
                      <a:pt x="2154269" y="519779"/>
                      <a:pt x="2149126" y="499491"/>
                    </a:cubicBezTo>
                    <a:lnTo>
                      <a:pt x="2143506" y="499015"/>
                    </a:lnTo>
                    <a:lnTo>
                      <a:pt x="2134648" y="511874"/>
                    </a:lnTo>
                    <a:lnTo>
                      <a:pt x="2109692" y="492252"/>
                    </a:lnTo>
                    <a:lnTo>
                      <a:pt x="2097024" y="489776"/>
                    </a:lnTo>
                    <a:lnTo>
                      <a:pt x="2068544" y="466154"/>
                    </a:lnTo>
                    <a:lnTo>
                      <a:pt x="2056257" y="464820"/>
                    </a:lnTo>
                    <a:lnTo>
                      <a:pt x="2047494" y="455486"/>
                    </a:lnTo>
                    <a:lnTo>
                      <a:pt x="2037779" y="459105"/>
                    </a:lnTo>
                    <a:lnTo>
                      <a:pt x="2023967" y="478155"/>
                    </a:lnTo>
                    <a:cubicBezTo>
                      <a:pt x="2023777" y="484823"/>
                      <a:pt x="2023586" y="487394"/>
                      <a:pt x="2023396" y="493300"/>
                    </a:cubicBezTo>
                    <a:lnTo>
                      <a:pt x="1930718" y="493300"/>
                    </a:lnTo>
                    <a:cubicBezTo>
                      <a:pt x="1930527" y="491109"/>
                      <a:pt x="1930718" y="488823"/>
                      <a:pt x="1931384" y="486251"/>
                    </a:cubicBezTo>
                    <a:cubicBezTo>
                      <a:pt x="1931003" y="470440"/>
                      <a:pt x="1942148" y="457676"/>
                      <a:pt x="1947863" y="443675"/>
                    </a:cubicBezTo>
                    <a:cubicBezTo>
                      <a:pt x="1946720" y="442913"/>
                      <a:pt x="1945481" y="442151"/>
                      <a:pt x="1944148" y="441103"/>
                    </a:cubicBezTo>
                    <a:cubicBezTo>
                      <a:pt x="1938433" y="436340"/>
                      <a:pt x="1939766" y="435769"/>
                      <a:pt x="1931575" y="431006"/>
                    </a:cubicBezTo>
                    <a:cubicBezTo>
                      <a:pt x="1923383" y="426244"/>
                      <a:pt x="1903476" y="413576"/>
                      <a:pt x="1903476" y="413576"/>
                    </a:cubicBezTo>
                    <a:lnTo>
                      <a:pt x="1945291" y="415004"/>
                    </a:lnTo>
                    <a:cubicBezTo>
                      <a:pt x="1931194" y="398336"/>
                      <a:pt x="1903762" y="396526"/>
                      <a:pt x="1892236" y="376809"/>
                    </a:cubicBezTo>
                    <a:cubicBezTo>
                      <a:pt x="1879949" y="356807"/>
                      <a:pt x="1862042" y="341281"/>
                      <a:pt x="1849755" y="321278"/>
                    </a:cubicBezTo>
                    <a:cubicBezTo>
                      <a:pt x="1846421" y="312706"/>
                      <a:pt x="1838135" y="315087"/>
                      <a:pt x="1831372" y="316802"/>
                    </a:cubicBezTo>
                    <a:cubicBezTo>
                      <a:pt x="1824323" y="313182"/>
                      <a:pt x="1809750" y="306610"/>
                      <a:pt x="1809750" y="306610"/>
                    </a:cubicBezTo>
                    <a:lnTo>
                      <a:pt x="1800035" y="316135"/>
                    </a:lnTo>
                    <a:lnTo>
                      <a:pt x="1776032" y="330137"/>
                    </a:lnTo>
                    <a:cubicBezTo>
                      <a:pt x="1767745" y="337852"/>
                      <a:pt x="1758315" y="337566"/>
                      <a:pt x="1749171" y="339662"/>
                    </a:cubicBezTo>
                    <a:cubicBezTo>
                      <a:pt x="1749171" y="339662"/>
                      <a:pt x="1732407" y="344615"/>
                      <a:pt x="1724311" y="345472"/>
                    </a:cubicBezTo>
                    <a:cubicBezTo>
                      <a:pt x="1719167" y="345948"/>
                      <a:pt x="1721549" y="342329"/>
                      <a:pt x="1721168" y="342710"/>
                    </a:cubicBezTo>
                    <a:cubicBezTo>
                      <a:pt x="1717834" y="346710"/>
                      <a:pt x="1733264" y="311372"/>
                      <a:pt x="1732217" y="312896"/>
                    </a:cubicBezTo>
                    <a:cubicBezTo>
                      <a:pt x="1728788" y="309944"/>
                      <a:pt x="1731455" y="299847"/>
                      <a:pt x="1727740" y="296990"/>
                    </a:cubicBezTo>
                    <a:cubicBezTo>
                      <a:pt x="1721263" y="292132"/>
                      <a:pt x="1714119" y="288417"/>
                      <a:pt x="1705547" y="289465"/>
                    </a:cubicBezTo>
                    <a:cubicBezTo>
                      <a:pt x="1665827" y="292894"/>
                      <a:pt x="1626775" y="304610"/>
                      <a:pt x="1588770" y="316611"/>
                    </a:cubicBezTo>
                    <a:cubicBezTo>
                      <a:pt x="1570863" y="321755"/>
                      <a:pt x="1556957" y="335661"/>
                      <a:pt x="1544098" y="348806"/>
                    </a:cubicBezTo>
                    <a:cubicBezTo>
                      <a:pt x="1522857" y="370523"/>
                      <a:pt x="1508093" y="375666"/>
                      <a:pt x="1484662" y="394526"/>
                    </a:cubicBezTo>
                    <a:cubicBezTo>
                      <a:pt x="1472375" y="404813"/>
                      <a:pt x="1458849" y="417862"/>
                      <a:pt x="1448181" y="429863"/>
                    </a:cubicBezTo>
                    <a:cubicBezTo>
                      <a:pt x="1434179" y="447008"/>
                      <a:pt x="1411605" y="455009"/>
                      <a:pt x="1397032" y="470916"/>
                    </a:cubicBezTo>
                    <a:cubicBezTo>
                      <a:pt x="1370743" y="497205"/>
                      <a:pt x="1335500" y="539401"/>
                      <a:pt x="1300829" y="554831"/>
                    </a:cubicBezTo>
                    <a:cubicBezTo>
                      <a:pt x="1274064" y="558260"/>
                      <a:pt x="1225201" y="570452"/>
                      <a:pt x="1225582" y="571691"/>
                    </a:cubicBezTo>
                    <a:cubicBezTo>
                      <a:pt x="1225582" y="571691"/>
                      <a:pt x="1197959" y="573024"/>
                      <a:pt x="1189673" y="586073"/>
                    </a:cubicBezTo>
                    <a:cubicBezTo>
                      <a:pt x="1186339" y="591407"/>
                      <a:pt x="1189292" y="603028"/>
                      <a:pt x="1186815" y="608267"/>
                    </a:cubicBezTo>
                    <a:cubicBezTo>
                      <a:pt x="1175099" y="606552"/>
                      <a:pt x="1158907" y="595027"/>
                      <a:pt x="1147096" y="593884"/>
                    </a:cubicBezTo>
                    <a:cubicBezTo>
                      <a:pt x="1135380" y="605885"/>
                      <a:pt x="1124045" y="622459"/>
                      <a:pt x="1106710" y="627031"/>
                    </a:cubicBezTo>
                    <a:cubicBezTo>
                      <a:pt x="1095566" y="626459"/>
                      <a:pt x="1085088" y="623602"/>
                      <a:pt x="1073944" y="623030"/>
                    </a:cubicBezTo>
                    <a:cubicBezTo>
                      <a:pt x="1058894" y="635032"/>
                      <a:pt x="1052036" y="649033"/>
                      <a:pt x="1043178" y="666179"/>
                    </a:cubicBezTo>
                    <a:cubicBezTo>
                      <a:pt x="1036987" y="667893"/>
                      <a:pt x="1030986" y="669512"/>
                      <a:pt x="1024795" y="671798"/>
                    </a:cubicBezTo>
                    <a:cubicBezTo>
                      <a:pt x="1014698" y="692944"/>
                      <a:pt x="1009079" y="715137"/>
                      <a:pt x="1005745" y="738569"/>
                    </a:cubicBezTo>
                    <a:cubicBezTo>
                      <a:pt x="1001840" y="753618"/>
                      <a:pt x="1006983" y="768001"/>
                      <a:pt x="982599" y="773430"/>
                    </a:cubicBezTo>
                    <a:cubicBezTo>
                      <a:pt x="980504" y="779050"/>
                      <a:pt x="994601" y="789146"/>
                      <a:pt x="994601" y="789146"/>
                    </a:cubicBezTo>
                    <a:cubicBezTo>
                      <a:pt x="994601" y="789146"/>
                      <a:pt x="979170" y="793433"/>
                      <a:pt x="979170" y="806196"/>
                    </a:cubicBezTo>
                    <a:cubicBezTo>
                      <a:pt x="979170" y="812387"/>
                      <a:pt x="972598" y="830294"/>
                      <a:pt x="975170" y="836867"/>
                    </a:cubicBezTo>
                    <a:cubicBezTo>
                      <a:pt x="979456" y="847820"/>
                      <a:pt x="994601" y="852488"/>
                      <a:pt x="994505" y="857345"/>
                    </a:cubicBezTo>
                    <a:cubicBezTo>
                      <a:pt x="982028" y="858298"/>
                      <a:pt x="949547" y="856583"/>
                      <a:pt x="954500" y="873347"/>
                    </a:cubicBezTo>
                    <a:cubicBezTo>
                      <a:pt x="957072" y="882110"/>
                      <a:pt x="963644" y="889635"/>
                      <a:pt x="963644" y="889635"/>
                    </a:cubicBezTo>
                    <a:cubicBezTo>
                      <a:pt x="963644" y="889635"/>
                      <a:pt x="927449" y="924020"/>
                      <a:pt x="914686" y="930878"/>
                    </a:cubicBezTo>
                    <a:cubicBezTo>
                      <a:pt x="911638" y="917067"/>
                      <a:pt x="892874" y="914114"/>
                      <a:pt x="879348" y="927259"/>
                    </a:cubicBezTo>
                    <a:cubicBezTo>
                      <a:pt x="873157" y="938689"/>
                      <a:pt x="881539" y="944499"/>
                      <a:pt x="875348" y="955929"/>
                    </a:cubicBezTo>
                    <a:cubicBezTo>
                      <a:pt x="865251" y="959930"/>
                      <a:pt x="854012" y="962120"/>
                      <a:pt x="843439" y="964406"/>
                    </a:cubicBezTo>
                    <a:cubicBezTo>
                      <a:pt x="842296" y="984409"/>
                      <a:pt x="848011" y="1003268"/>
                      <a:pt x="853631" y="1022699"/>
                    </a:cubicBezTo>
                    <a:cubicBezTo>
                      <a:pt x="836295" y="1072325"/>
                      <a:pt x="848487" y="1126046"/>
                      <a:pt x="840105" y="1177385"/>
                    </a:cubicBezTo>
                    <a:cubicBezTo>
                      <a:pt x="835628" y="1193959"/>
                      <a:pt x="830771" y="1209866"/>
                      <a:pt x="825722" y="1225868"/>
                    </a:cubicBezTo>
                    <a:cubicBezTo>
                      <a:pt x="809530" y="1241298"/>
                      <a:pt x="798862" y="1262348"/>
                      <a:pt x="779812" y="1274921"/>
                    </a:cubicBezTo>
                    <a:cubicBezTo>
                      <a:pt x="764762" y="1285780"/>
                      <a:pt x="765905" y="1305687"/>
                      <a:pt x="763715" y="1322165"/>
                    </a:cubicBezTo>
                    <a:cubicBezTo>
                      <a:pt x="741331" y="1352931"/>
                      <a:pt x="733997" y="1391317"/>
                      <a:pt x="713327" y="1423226"/>
                    </a:cubicBezTo>
                    <a:cubicBezTo>
                      <a:pt x="707708" y="1427798"/>
                      <a:pt x="701707" y="1431798"/>
                      <a:pt x="695516" y="1436370"/>
                    </a:cubicBezTo>
                    <a:cubicBezTo>
                      <a:pt x="692753" y="1433513"/>
                      <a:pt x="689801" y="1430560"/>
                      <a:pt x="687610" y="1427702"/>
                    </a:cubicBezTo>
                    <a:cubicBezTo>
                      <a:pt x="681990" y="1429417"/>
                      <a:pt x="676370" y="1431227"/>
                      <a:pt x="670846" y="1432846"/>
                    </a:cubicBezTo>
                    <a:cubicBezTo>
                      <a:pt x="671989" y="1439704"/>
                      <a:pt x="673513" y="1446086"/>
                      <a:pt x="674656" y="1452848"/>
                    </a:cubicBezTo>
                    <a:cubicBezTo>
                      <a:pt x="666845" y="1454563"/>
                      <a:pt x="659130" y="1455611"/>
                      <a:pt x="651320" y="1459040"/>
                    </a:cubicBezTo>
                    <a:cubicBezTo>
                      <a:pt x="646271" y="1475613"/>
                      <a:pt x="652367" y="1500283"/>
                      <a:pt x="641699" y="1514570"/>
                    </a:cubicBezTo>
                    <a:cubicBezTo>
                      <a:pt x="631698" y="1529429"/>
                      <a:pt x="622173" y="1542859"/>
                      <a:pt x="615982" y="1560576"/>
                    </a:cubicBezTo>
                    <a:cubicBezTo>
                      <a:pt x="605314" y="1589151"/>
                      <a:pt x="589788" y="1613916"/>
                      <a:pt x="573596" y="1639538"/>
                    </a:cubicBezTo>
                    <a:cubicBezTo>
                      <a:pt x="563499" y="1654397"/>
                      <a:pt x="547592" y="1682401"/>
                      <a:pt x="547592" y="1682401"/>
                    </a:cubicBezTo>
                    <a:cubicBezTo>
                      <a:pt x="547592" y="1682401"/>
                      <a:pt x="516350" y="1688973"/>
                      <a:pt x="513588" y="1700403"/>
                    </a:cubicBezTo>
                    <a:cubicBezTo>
                      <a:pt x="509111" y="1723263"/>
                      <a:pt x="495395" y="1767173"/>
                      <a:pt x="495395" y="1767173"/>
                    </a:cubicBezTo>
                    <a:lnTo>
                      <a:pt x="482441" y="1802797"/>
                    </a:lnTo>
                    <a:cubicBezTo>
                      <a:pt x="476631" y="1771459"/>
                      <a:pt x="440722" y="1782413"/>
                      <a:pt x="432911" y="1802035"/>
                    </a:cubicBezTo>
                    <a:cubicBezTo>
                      <a:pt x="405384" y="1870996"/>
                      <a:pt x="432721" y="1880616"/>
                      <a:pt x="457200" y="1881664"/>
                    </a:cubicBezTo>
                    <a:lnTo>
                      <a:pt x="445484" y="1897190"/>
                    </a:lnTo>
                    <a:lnTo>
                      <a:pt x="445770" y="1913096"/>
                    </a:lnTo>
                    <a:lnTo>
                      <a:pt x="424720" y="1933099"/>
                    </a:lnTo>
                    <a:lnTo>
                      <a:pt x="426530" y="1964531"/>
                    </a:lnTo>
                    <a:lnTo>
                      <a:pt x="196596" y="2606421"/>
                    </a:lnTo>
                    <a:cubicBezTo>
                      <a:pt x="190881" y="2601944"/>
                      <a:pt x="184404" y="2607088"/>
                      <a:pt x="181070" y="2614803"/>
                    </a:cubicBezTo>
                    <a:lnTo>
                      <a:pt x="175165" y="2650141"/>
                    </a:lnTo>
                    <a:cubicBezTo>
                      <a:pt x="178403" y="2660809"/>
                      <a:pt x="194215" y="2683002"/>
                      <a:pt x="194215" y="2683002"/>
                    </a:cubicBezTo>
                    <a:cubicBezTo>
                      <a:pt x="232505" y="2752058"/>
                      <a:pt x="221837" y="2809685"/>
                      <a:pt x="167545" y="2866073"/>
                    </a:cubicBezTo>
                    <a:cubicBezTo>
                      <a:pt x="148400" y="2885980"/>
                      <a:pt x="121158" y="2891219"/>
                      <a:pt x="94679" y="2896457"/>
                    </a:cubicBezTo>
                    <a:lnTo>
                      <a:pt x="92869" y="2917984"/>
                    </a:lnTo>
                    <a:lnTo>
                      <a:pt x="90297" y="2947130"/>
                    </a:lnTo>
                    <a:cubicBezTo>
                      <a:pt x="90297" y="2947130"/>
                      <a:pt x="41529" y="3029236"/>
                      <a:pt x="21050" y="3072289"/>
                    </a:cubicBezTo>
                    <a:cubicBezTo>
                      <a:pt x="14097" y="3086957"/>
                      <a:pt x="4858" y="3101340"/>
                      <a:pt x="2953" y="3117247"/>
                    </a:cubicBezTo>
                    <a:cubicBezTo>
                      <a:pt x="0" y="3142488"/>
                      <a:pt x="-4953" y="3160967"/>
                      <a:pt x="23051" y="3160681"/>
                    </a:cubicBezTo>
                    <a:lnTo>
                      <a:pt x="60293" y="3160395"/>
                    </a:lnTo>
                    <a:lnTo>
                      <a:pt x="60293" y="3227546"/>
                    </a:lnTo>
                    <a:lnTo>
                      <a:pt x="98870" y="3227546"/>
                    </a:lnTo>
                    <a:lnTo>
                      <a:pt x="98870" y="3269647"/>
                    </a:lnTo>
                    <a:lnTo>
                      <a:pt x="45815" y="3269647"/>
                    </a:lnTo>
                    <a:lnTo>
                      <a:pt x="40195" y="3277743"/>
                    </a:lnTo>
                    <a:lnTo>
                      <a:pt x="40195" y="3309176"/>
                    </a:lnTo>
                    <a:lnTo>
                      <a:pt x="43720" y="3312890"/>
                    </a:lnTo>
                    <a:lnTo>
                      <a:pt x="43720" y="3316510"/>
                    </a:lnTo>
                    <a:cubicBezTo>
                      <a:pt x="43720" y="3316510"/>
                      <a:pt x="40195" y="3322034"/>
                      <a:pt x="40195" y="3322034"/>
                    </a:cubicBezTo>
                    <a:lnTo>
                      <a:pt x="40195" y="3355658"/>
                    </a:lnTo>
                    <a:lnTo>
                      <a:pt x="56483" y="3369469"/>
                    </a:lnTo>
                    <a:lnTo>
                      <a:pt x="103918" y="3369469"/>
                    </a:lnTo>
                    <a:lnTo>
                      <a:pt x="103918" y="3409950"/>
                    </a:lnTo>
                    <a:cubicBezTo>
                      <a:pt x="79915" y="3401949"/>
                      <a:pt x="58103" y="3406045"/>
                      <a:pt x="35719" y="3405188"/>
                    </a:cubicBezTo>
                    <a:cubicBezTo>
                      <a:pt x="32004" y="3387661"/>
                      <a:pt x="4382" y="3383280"/>
                      <a:pt x="667" y="3405473"/>
                    </a:cubicBezTo>
                    <a:lnTo>
                      <a:pt x="667" y="3453479"/>
                    </a:lnTo>
                    <a:cubicBezTo>
                      <a:pt x="11335" y="3447002"/>
                      <a:pt x="17050" y="3452527"/>
                      <a:pt x="24098" y="3453479"/>
                    </a:cubicBezTo>
                    <a:cubicBezTo>
                      <a:pt x="48482" y="3456813"/>
                      <a:pt x="69818" y="3456146"/>
                      <a:pt x="85344" y="3453479"/>
                    </a:cubicBezTo>
                    <a:lnTo>
                      <a:pt x="102870" y="3508439"/>
                    </a:lnTo>
                    <a:lnTo>
                      <a:pt x="127825" y="3497961"/>
                    </a:lnTo>
                    <a:lnTo>
                      <a:pt x="147638" y="3499294"/>
                    </a:lnTo>
                    <a:lnTo>
                      <a:pt x="178022" y="3554349"/>
                    </a:lnTo>
                    <a:lnTo>
                      <a:pt x="179451" y="3643027"/>
                    </a:lnTo>
                    <a:lnTo>
                      <a:pt x="176784" y="3653695"/>
                    </a:lnTo>
                    <a:lnTo>
                      <a:pt x="161544" y="3655409"/>
                    </a:lnTo>
                    <a:lnTo>
                      <a:pt x="123825" y="3689128"/>
                    </a:lnTo>
                    <a:lnTo>
                      <a:pt x="101918" y="3693890"/>
                    </a:lnTo>
                    <a:cubicBezTo>
                      <a:pt x="101918" y="3693890"/>
                      <a:pt x="77438" y="3719894"/>
                      <a:pt x="65246" y="3732943"/>
                    </a:cubicBezTo>
                    <a:cubicBezTo>
                      <a:pt x="59245" y="3739325"/>
                      <a:pt x="58769" y="3745325"/>
                      <a:pt x="58769" y="3753422"/>
                    </a:cubicBezTo>
                    <a:cubicBezTo>
                      <a:pt x="58769" y="3759613"/>
                      <a:pt x="57912" y="3761804"/>
                      <a:pt x="52292" y="3762375"/>
                    </a:cubicBezTo>
                    <a:cubicBezTo>
                      <a:pt x="46958" y="3762851"/>
                      <a:pt x="36481" y="3763994"/>
                      <a:pt x="36481" y="3763994"/>
                    </a:cubicBezTo>
                    <a:cubicBezTo>
                      <a:pt x="25718" y="3755422"/>
                      <a:pt x="16002" y="3747326"/>
                      <a:pt x="12097" y="3731800"/>
                    </a:cubicBezTo>
                    <a:cubicBezTo>
                      <a:pt x="16383" y="3730466"/>
                      <a:pt x="18669" y="3730561"/>
                      <a:pt x="18193" y="3726275"/>
                    </a:cubicBezTo>
                    <a:cubicBezTo>
                      <a:pt x="17907" y="3723894"/>
                      <a:pt x="16193" y="3723132"/>
                      <a:pt x="13430" y="3722561"/>
                    </a:cubicBezTo>
                    <a:cubicBezTo>
                      <a:pt x="11906" y="3722180"/>
                      <a:pt x="10573" y="3722180"/>
                      <a:pt x="9049" y="3722084"/>
                    </a:cubicBezTo>
                    <a:cubicBezTo>
                      <a:pt x="6001" y="3722084"/>
                      <a:pt x="0" y="3721799"/>
                      <a:pt x="0" y="3721799"/>
                    </a:cubicBezTo>
                    <a:cubicBezTo>
                      <a:pt x="1238" y="3736562"/>
                      <a:pt x="5239" y="3746659"/>
                      <a:pt x="14668" y="3758851"/>
                    </a:cubicBezTo>
                    <a:cubicBezTo>
                      <a:pt x="21431" y="3767519"/>
                      <a:pt x="29527" y="3772281"/>
                      <a:pt x="39910" y="3775139"/>
                    </a:cubicBezTo>
                    <a:cubicBezTo>
                      <a:pt x="206026" y="3821430"/>
                      <a:pt x="539877" y="3912394"/>
                      <a:pt x="539877" y="3912394"/>
                    </a:cubicBezTo>
                    <a:lnTo>
                      <a:pt x="552164" y="3911632"/>
                    </a:lnTo>
                    <a:lnTo>
                      <a:pt x="561023" y="3907727"/>
                    </a:lnTo>
                    <a:cubicBezTo>
                      <a:pt x="583502" y="3888581"/>
                      <a:pt x="567690" y="3866865"/>
                      <a:pt x="546735" y="3879628"/>
                    </a:cubicBezTo>
                    <a:cubicBezTo>
                      <a:pt x="539687" y="3883914"/>
                      <a:pt x="539020" y="3888581"/>
                      <a:pt x="537115" y="3896678"/>
                    </a:cubicBezTo>
                    <a:lnTo>
                      <a:pt x="533591" y="3897154"/>
                    </a:lnTo>
                    <a:lnTo>
                      <a:pt x="521303" y="3894868"/>
                    </a:lnTo>
                    <a:cubicBezTo>
                      <a:pt x="521303" y="3894868"/>
                      <a:pt x="213741" y="3810572"/>
                      <a:pt x="113157" y="3783140"/>
                    </a:cubicBezTo>
                    <a:cubicBezTo>
                      <a:pt x="94774" y="3778091"/>
                      <a:pt x="56769" y="3757708"/>
                      <a:pt x="73914" y="3739039"/>
                    </a:cubicBezTo>
                    <a:lnTo>
                      <a:pt x="106299" y="3703606"/>
                    </a:lnTo>
                    <a:lnTo>
                      <a:pt x="134017" y="3698081"/>
                    </a:lnTo>
                    <a:lnTo>
                      <a:pt x="166592" y="3665887"/>
                    </a:lnTo>
                    <a:lnTo>
                      <a:pt x="186690" y="3663982"/>
                    </a:lnTo>
                    <a:lnTo>
                      <a:pt x="191643" y="3650171"/>
                    </a:lnTo>
                    <a:lnTo>
                      <a:pt x="190500" y="3553873"/>
                    </a:lnTo>
                    <a:lnTo>
                      <a:pt x="172022" y="3514820"/>
                    </a:lnTo>
                    <a:lnTo>
                      <a:pt x="185166" y="3502533"/>
                    </a:lnTo>
                    <a:cubicBezTo>
                      <a:pt x="185166" y="3502533"/>
                      <a:pt x="213551" y="3503105"/>
                      <a:pt x="227838" y="3502533"/>
                    </a:cubicBezTo>
                    <a:cubicBezTo>
                      <a:pt x="241935" y="3501961"/>
                      <a:pt x="238887" y="3482721"/>
                      <a:pt x="237839" y="3472529"/>
                    </a:cubicBezTo>
                    <a:cubicBezTo>
                      <a:pt x="236887" y="3462623"/>
                      <a:pt x="179927" y="3358420"/>
                      <a:pt x="152972" y="3305270"/>
                    </a:cubicBezTo>
                    <a:cubicBezTo>
                      <a:pt x="136684" y="3273076"/>
                      <a:pt x="148019" y="3252502"/>
                      <a:pt x="179356" y="3236690"/>
                    </a:cubicBezTo>
                    <a:lnTo>
                      <a:pt x="336233" y="3157538"/>
                    </a:lnTo>
                    <a:lnTo>
                      <a:pt x="332042" y="3149632"/>
                    </a:lnTo>
                    <a:lnTo>
                      <a:pt x="239078" y="3196304"/>
                    </a:lnTo>
                    <a:lnTo>
                      <a:pt x="241078" y="3136487"/>
                    </a:lnTo>
                    <a:lnTo>
                      <a:pt x="498920" y="3014091"/>
                    </a:lnTo>
                    <a:lnTo>
                      <a:pt x="495491" y="3067050"/>
                    </a:lnTo>
                    <a:lnTo>
                      <a:pt x="414814" y="3108293"/>
                    </a:lnTo>
                    <a:lnTo>
                      <a:pt x="418910" y="3116485"/>
                    </a:lnTo>
                    <a:lnTo>
                      <a:pt x="506063" y="3071622"/>
                    </a:lnTo>
                    <a:lnTo>
                      <a:pt x="520160" y="2870454"/>
                    </a:lnTo>
                    <a:cubicBezTo>
                      <a:pt x="610934" y="2894457"/>
                      <a:pt x="691896" y="2855405"/>
                      <a:pt x="649796" y="2760917"/>
                    </a:cubicBezTo>
                    <a:lnTo>
                      <a:pt x="553212" y="2592800"/>
                    </a:lnTo>
                    <a:lnTo>
                      <a:pt x="549021" y="2575369"/>
                    </a:lnTo>
                    <a:lnTo>
                      <a:pt x="516160" y="2520125"/>
                    </a:lnTo>
                    <a:lnTo>
                      <a:pt x="512731" y="2502789"/>
                    </a:lnTo>
                    <a:lnTo>
                      <a:pt x="486918" y="2452211"/>
                    </a:lnTo>
                    <a:lnTo>
                      <a:pt x="467297" y="2426589"/>
                    </a:lnTo>
                    <a:lnTo>
                      <a:pt x="452057" y="2409539"/>
                    </a:lnTo>
                    <a:cubicBezTo>
                      <a:pt x="438817" y="2401919"/>
                      <a:pt x="433959" y="2393537"/>
                      <a:pt x="438912" y="2380012"/>
                    </a:cubicBezTo>
                    <a:cubicBezTo>
                      <a:pt x="447199" y="2357438"/>
                      <a:pt x="472821" y="2316385"/>
                      <a:pt x="472821" y="2316385"/>
                    </a:cubicBezTo>
                    <a:lnTo>
                      <a:pt x="557403" y="2400681"/>
                    </a:lnTo>
                    <a:lnTo>
                      <a:pt x="582549" y="2379821"/>
                    </a:lnTo>
                    <a:lnTo>
                      <a:pt x="586931" y="2370582"/>
                    </a:lnTo>
                    <a:lnTo>
                      <a:pt x="655320" y="2300954"/>
                    </a:lnTo>
                    <a:lnTo>
                      <a:pt x="685133" y="2332387"/>
                    </a:lnTo>
                    <a:lnTo>
                      <a:pt x="597884" y="2432590"/>
                    </a:lnTo>
                    <a:lnTo>
                      <a:pt x="651986" y="2497360"/>
                    </a:lnTo>
                    <a:lnTo>
                      <a:pt x="750284" y="2390775"/>
                    </a:lnTo>
                    <a:lnTo>
                      <a:pt x="767525" y="2409920"/>
                    </a:lnTo>
                    <a:lnTo>
                      <a:pt x="654082" y="2539556"/>
                    </a:lnTo>
                    <a:lnTo>
                      <a:pt x="675704" y="2565654"/>
                    </a:lnTo>
                    <a:lnTo>
                      <a:pt x="706946" y="2538698"/>
                    </a:lnTo>
                    <a:lnTo>
                      <a:pt x="746665" y="2585942"/>
                    </a:lnTo>
                    <a:lnTo>
                      <a:pt x="754761" y="2578989"/>
                    </a:lnTo>
                    <a:lnTo>
                      <a:pt x="768287" y="2594991"/>
                    </a:lnTo>
                    <a:lnTo>
                      <a:pt x="748189" y="2612327"/>
                    </a:lnTo>
                    <a:lnTo>
                      <a:pt x="759047" y="2625281"/>
                    </a:lnTo>
                    <a:lnTo>
                      <a:pt x="781336" y="2605659"/>
                    </a:lnTo>
                    <a:lnTo>
                      <a:pt x="795052" y="2622137"/>
                    </a:lnTo>
                    <a:lnTo>
                      <a:pt x="783146" y="2632043"/>
                    </a:lnTo>
                    <a:lnTo>
                      <a:pt x="868490" y="2676620"/>
                    </a:lnTo>
                    <a:cubicBezTo>
                      <a:pt x="881539" y="2686145"/>
                      <a:pt x="884968" y="2692051"/>
                      <a:pt x="886968" y="2708053"/>
                    </a:cubicBezTo>
                    <a:cubicBezTo>
                      <a:pt x="888778" y="2722340"/>
                      <a:pt x="895636" y="2727674"/>
                      <a:pt x="908304" y="2731389"/>
                    </a:cubicBezTo>
                    <a:lnTo>
                      <a:pt x="1020413" y="2631377"/>
                    </a:lnTo>
                    <a:lnTo>
                      <a:pt x="943737" y="2551367"/>
                    </a:lnTo>
                    <a:lnTo>
                      <a:pt x="937355" y="2467928"/>
                    </a:lnTo>
                    <a:lnTo>
                      <a:pt x="995648" y="2461451"/>
                    </a:lnTo>
                    <a:lnTo>
                      <a:pt x="999839" y="2527173"/>
                    </a:lnTo>
                    <a:lnTo>
                      <a:pt x="1078516" y="2611469"/>
                    </a:lnTo>
                    <a:lnTo>
                      <a:pt x="1127474" y="2590705"/>
                    </a:lnTo>
                    <a:lnTo>
                      <a:pt x="1114616" y="2429256"/>
                    </a:lnTo>
                    <a:lnTo>
                      <a:pt x="1127855" y="2417540"/>
                    </a:lnTo>
                    <a:lnTo>
                      <a:pt x="1144619" y="2440496"/>
                    </a:lnTo>
                    <a:lnTo>
                      <a:pt x="1153478" y="2576132"/>
                    </a:lnTo>
                    <a:lnTo>
                      <a:pt x="1205198" y="2566607"/>
                    </a:lnTo>
                    <a:lnTo>
                      <a:pt x="1271969" y="2566416"/>
                    </a:lnTo>
                    <a:lnTo>
                      <a:pt x="1304735" y="2547652"/>
                    </a:lnTo>
                    <a:lnTo>
                      <a:pt x="1305687" y="2512505"/>
                    </a:lnTo>
                    <a:lnTo>
                      <a:pt x="1301496" y="2485644"/>
                    </a:lnTo>
                    <a:lnTo>
                      <a:pt x="1310545" y="2463451"/>
                    </a:lnTo>
                    <a:lnTo>
                      <a:pt x="1314640" y="2456783"/>
                    </a:lnTo>
                    <a:lnTo>
                      <a:pt x="1326261" y="2468785"/>
                    </a:lnTo>
                    <a:cubicBezTo>
                      <a:pt x="1318451" y="2475071"/>
                      <a:pt x="1316355" y="2475929"/>
                      <a:pt x="1316355" y="2480691"/>
                    </a:cubicBezTo>
                    <a:cubicBezTo>
                      <a:pt x="1316355" y="2487168"/>
                      <a:pt x="1318641" y="2487644"/>
                      <a:pt x="1323975" y="2500598"/>
                    </a:cubicBezTo>
                    <a:cubicBezTo>
                      <a:pt x="1329309" y="2513552"/>
                      <a:pt x="1330357" y="2528888"/>
                      <a:pt x="1330357" y="2528888"/>
                    </a:cubicBezTo>
                    <a:lnTo>
                      <a:pt x="1330357" y="2567559"/>
                    </a:lnTo>
                    <a:lnTo>
                      <a:pt x="1392460" y="2567559"/>
                    </a:lnTo>
                    <a:lnTo>
                      <a:pt x="1392460" y="2510504"/>
                    </a:lnTo>
                    <a:lnTo>
                      <a:pt x="1341215" y="2456021"/>
                    </a:lnTo>
                    <a:cubicBezTo>
                      <a:pt x="1339691" y="2457355"/>
                      <a:pt x="1337405" y="2459069"/>
                      <a:pt x="1335310" y="2460784"/>
                    </a:cubicBezTo>
                    <a:lnTo>
                      <a:pt x="1323404" y="2448497"/>
                    </a:lnTo>
                    <a:lnTo>
                      <a:pt x="1326356" y="2445068"/>
                    </a:lnTo>
                    <a:lnTo>
                      <a:pt x="1361789" y="2445068"/>
                    </a:lnTo>
                    <a:lnTo>
                      <a:pt x="1362932" y="2460308"/>
                    </a:lnTo>
                    <a:cubicBezTo>
                      <a:pt x="1381220" y="2485454"/>
                      <a:pt x="1401032" y="2495931"/>
                      <a:pt x="1430465" y="2499551"/>
                    </a:cubicBezTo>
                    <a:lnTo>
                      <a:pt x="1430465" y="2533555"/>
                    </a:lnTo>
                    <a:lnTo>
                      <a:pt x="1521143" y="2533555"/>
                    </a:lnTo>
                    <a:lnTo>
                      <a:pt x="1521143" y="2450211"/>
                    </a:lnTo>
                    <a:lnTo>
                      <a:pt x="1561719" y="2430875"/>
                    </a:lnTo>
                    <a:lnTo>
                      <a:pt x="1561719" y="2688336"/>
                    </a:lnTo>
                    <a:cubicBezTo>
                      <a:pt x="1558290" y="2686622"/>
                      <a:pt x="1548098" y="2681288"/>
                      <a:pt x="1541621" y="2677478"/>
                    </a:cubicBezTo>
                    <a:cubicBezTo>
                      <a:pt x="1536859" y="2674715"/>
                      <a:pt x="1520095" y="2673382"/>
                      <a:pt x="1504760" y="2673286"/>
                    </a:cubicBezTo>
                    <a:cubicBezTo>
                      <a:pt x="1495615" y="2673286"/>
                      <a:pt x="1486853" y="2673763"/>
                      <a:pt x="1481614" y="2674620"/>
                    </a:cubicBezTo>
                    <a:lnTo>
                      <a:pt x="1465517" y="2693670"/>
                    </a:lnTo>
                    <a:lnTo>
                      <a:pt x="1450848" y="2698528"/>
                    </a:lnTo>
                    <a:lnTo>
                      <a:pt x="1446657" y="2704719"/>
                    </a:lnTo>
                    <a:lnTo>
                      <a:pt x="1445990" y="2717673"/>
                    </a:lnTo>
                    <a:lnTo>
                      <a:pt x="1471422" y="2738723"/>
                    </a:lnTo>
                    <a:lnTo>
                      <a:pt x="1475518" y="2744819"/>
                    </a:lnTo>
                    <a:lnTo>
                      <a:pt x="1488377" y="2746439"/>
                    </a:lnTo>
                    <a:lnTo>
                      <a:pt x="1500092" y="2768918"/>
                    </a:lnTo>
                    <a:lnTo>
                      <a:pt x="1503521" y="2784919"/>
                    </a:lnTo>
                    <a:lnTo>
                      <a:pt x="1493044" y="2792540"/>
                    </a:lnTo>
                    <a:lnTo>
                      <a:pt x="1490663" y="2805398"/>
                    </a:lnTo>
                    <a:lnTo>
                      <a:pt x="1500854" y="2820257"/>
                    </a:lnTo>
                    <a:lnTo>
                      <a:pt x="1498759" y="2836450"/>
                    </a:lnTo>
                    <a:lnTo>
                      <a:pt x="1522762" y="2878550"/>
                    </a:lnTo>
                    <a:lnTo>
                      <a:pt x="1544955" y="2883884"/>
                    </a:lnTo>
                    <a:lnTo>
                      <a:pt x="1545241" y="2896743"/>
                    </a:lnTo>
                    <a:lnTo>
                      <a:pt x="1530001" y="2911126"/>
                    </a:lnTo>
                    <a:lnTo>
                      <a:pt x="1528286" y="2927033"/>
                    </a:lnTo>
                    <a:lnTo>
                      <a:pt x="1512570" y="2921984"/>
                    </a:lnTo>
                    <a:lnTo>
                      <a:pt x="1513999" y="2891981"/>
                    </a:lnTo>
                    <a:lnTo>
                      <a:pt x="1507522" y="2882932"/>
                    </a:lnTo>
                    <a:lnTo>
                      <a:pt x="1495901" y="2876741"/>
                    </a:lnTo>
                    <a:lnTo>
                      <a:pt x="1478566" y="2895886"/>
                    </a:lnTo>
                    <a:lnTo>
                      <a:pt x="1464278" y="2890838"/>
                    </a:lnTo>
                    <a:lnTo>
                      <a:pt x="1457897" y="2863310"/>
                    </a:lnTo>
                    <a:cubicBezTo>
                      <a:pt x="1457897" y="2863310"/>
                      <a:pt x="1409986" y="2781395"/>
                      <a:pt x="1403795" y="2787873"/>
                    </a:cubicBezTo>
                    <a:cubicBezTo>
                      <a:pt x="1363980" y="2830259"/>
                      <a:pt x="1327976" y="2868740"/>
                      <a:pt x="1327976" y="2868740"/>
                    </a:cubicBezTo>
                    <a:lnTo>
                      <a:pt x="1340930" y="2892933"/>
                    </a:lnTo>
                    <a:lnTo>
                      <a:pt x="1301782" y="2920175"/>
                    </a:lnTo>
                    <a:lnTo>
                      <a:pt x="1280922" y="2907316"/>
                    </a:lnTo>
                    <a:lnTo>
                      <a:pt x="1250728" y="2947797"/>
                    </a:lnTo>
                    <a:lnTo>
                      <a:pt x="1222915" y="2977515"/>
                    </a:lnTo>
                    <a:lnTo>
                      <a:pt x="1158050" y="2920175"/>
                    </a:lnTo>
                    <a:lnTo>
                      <a:pt x="1259586" y="2820543"/>
                    </a:lnTo>
                    <a:lnTo>
                      <a:pt x="1266825" y="2794444"/>
                    </a:lnTo>
                    <a:cubicBezTo>
                      <a:pt x="1266825" y="2794444"/>
                      <a:pt x="1316736" y="2739200"/>
                      <a:pt x="1334453" y="2714244"/>
                    </a:cubicBezTo>
                    <a:cubicBezTo>
                      <a:pt x="1338072" y="2709196"/>
                      <a:pt x="1325023" y="2701100"/>
                      <a:pt x="1325023" y="2701100"/>
                    </a:cubicBezTo>
                    <a:cubicBezTo>
                      <a:pt x="1325023" y="2701100"/>
                      <a:pt x="1247965" y="2702909"/>
                      <a:pt x="1230440" y="2702243"/>
                    </a:cubicBezTo>
                    <a:cubicBezTo>
                      <a:pt x="1200150" y="2701100"/>
                      <a:pt x="1157383" y="2719388"/>
                      <a:pt x="1157383" y="2719388"/>
                    </a:cubicBezTo>
                    <a:lnTo>
                      <a:pt x="753332" y="3004852"/>
                    </a:lnTo>
                    <a:lnTo>
                      <a:pt x="773240" y="3040856"/>
                    </a:lnTo>
                    <a:lnTo>
                      <a:pt x="817626" y="3101721"/>
                    </a:lnTo>
                    <a:lnTo>
                      <a:pt x="818198" y="3145727"/>
                    </a:lnTo>
                    <a:lnTo>
                      <a:pt x="853535" y="3214021"/>
                    </a:lnTo>
                    <a:lnTo>
                      <a:pt x="864108" y="3232499"/>
                    </a:lnTo>
                    <a:lnTo>
                      <a:pt x="947452" y="3382137"/>
                    </a:lnTo>
                    <a:lnTo>
                      <a:pt x="884587" y="3418618"/>
                    </a:lnTo>
                    <a:lnTo>
                      <a:pt x="892874" y="3436049"/>
                    </a:lnTo>
                    <a:cubicBezTo>
                      <a:pt x="892874" y="3436049"/>
                      <a:pt x="937260" y="3533394"/>
                      <a:pt x="939451" y="3539966"/>
                    </a:cubicBezTo>
                    <a:cubicBezTo>
                      <a:pt x="941642" y="3546634"/>
                      <a:pt x="949166" y="3544443"/>
                      <a:pt x="949166" y="3544443"/>
                    </a:cubicBezTo>
                    <a:lnTo>
                      <a:pt x="1003364" y="3547777"/>
                    </a:lnTo>
                    <a:lnTo>
                      <a:pt x="1048798" y="3648456"/>
                    </a:lnTo>
                    <a:lnTo>
                      <a:pt x="994601" y="3701510"/>
                    </a:lnTo>
                    <a:lnTo>
                      <a:pt x="988124" y="3700463"/>
                    </a:lnTo>
                    <a:lnTo>
                      <a:pt x="966502" y="3653885"/>
                    </a:lnTo>
                    <a:lnTo>
                      <a:pt x="961168" y="3633978"/>
                    </a:lnTo>
                    <a:lnTo>
                      <a:pt x="955643" y="3632835"/>
                    </a:lnTo>
                    <a:lnTo>
                      <a:pt x="958882" y="3652742"/>
                    </a:lnTo>
                    <a:lnTo>
                      <a:pt x="982790" y="3705987"/>
                    </a:lnTo>
                    <a:cubicBezTo>
                      <a:pt x="982790" y="3705987"/>
                      <a:pt x="999173" y="3719322"/>
                      <a:pt x="1004507" y="3720370"/>
                    </a:cubicBezTo>
                    <a:cubicBezTo>
                      <a:pt x="1009936" y="3721418"/>
                      <a:pt x="1021747" y="3714750"/>
                      <a:pt x="1021747" y="3714750"/>
                    </a:cubicBezTo>
                    <a:lnTo>
                      <a:pt x="1148525" y="3581115"/>
                    </a:lnTo>
                    <a:lnTo>
                      <a:pt x="1142048" y="3564350"/>
                    </a:lnTo>
                    <a:lnTo>
                      <a:pt x="1210247" y="3500152"/>
                    </a:lnTo>
                    <a:lnTo>
                      <a:pt x="1223201" y="3504438"/>
                    </a:lnTo>
                    <a:cubicBezTo>
                      <a:pt x="1223201" y="3504438"/>
                      <a:pt x="1250252" y="3479197"/>
                      <a:pt x="1254538" y="3464814"/>
                    </a:cubicBezTo>
                    <a:cubicBezTo>
                      <a:pt x="1258824" y="3450431"/>
                      <a:pt x="1254538" y="3432524"/>
                      <a:pt x="1254538" y="3432524"/>
                    </a:cubicBezTo>
                    <a:cubicBezTo>
                      <a:pt x="1254538" y="3432524"/>
                      <a:pt x="1199293" y="3234690"/>
                      <a:pt x="1194911" y="3220307"/>
                    </a:cubicBezTo>
                    <a:cubicBezTo>
                      <a:pt x="1190625" y="3205925"/>
                      <a:pt x="1183005" y="3194780"/>
                      <a:pt x="1183005" y="3194780"/>
                    </a:cubicBezTo>
                    <a:lnTo>
                      <a:pt x="1101090" y="3116675"/>
                    </a:lnTo>
                    <a:lnTo>
                      <a:pt x="1173956" y="3037999"/>
                    </a:lnTo>
                    <a:lnTo>
                      <a:pt x="1281970" y="3130677"/>
                    </a:lnTo>
                    <a:lnTo>
                      <a:pt x="1308068" y="3167444"/>
                    </a:lnTo>
                    <a:lnTo>
                      <a:pt x="1341215" y="3296507"/>
                    </a:lnTo>
                    <a:lnTo>
                      <a:pt x="1435513" y="3270885"/>
                    </a:lnTo>
                    <a:cubicBezTo>
                      <a:pt x="1435513" y="3270885"/>
                      <a:pt x="1535335" y="3226689"/>
                      <a:pt x="1550480" y="3216688"/>
                    </a:cubicBezTo>
                    <a:cubicBezTo>
                      <a:pt x="1565624" y="3206782"/>
                      <a:pt x="1597057" y="3192494"/>
                      <a:pt x="1605725" y="3182493"/>
                    </a:cubicBezTo>
                    <a:cubicBezTo>
                      <a:pt x="1614392" y="3172587"/>
                      <a:pt x="1602486" y="3161443"/>
                      <a:pt x="1602486" y="3161443"/>
                    </a:cubicBezTo>
                    <a:cubicBezTo>
                      <a:pt x="1561529" y="3132392"/>
                      <a:pt x="1530382" y="3098768"/>
                      <a:pt x="1469708" y="3078671"/>
                    </a:cubicBezTo>
                    <a:cubicBezTo>
                      <a:pt x="1469708" y="3078671"/>
                      <a:pt x="1488091" y="3038856"/>
                      <a:pt x="1489234" y="3035523"/>
                    </a:cubicBezTo>
                    <a:cubicBezTo>
                      <a:pt x="1490282" y="3032189"/>
                      <a:pt x="1531620" y="3053144"/>
                      <a:pt x="1531620" y="3053144"/>
                    </a:cubicBezTo>
                    <a:lnTo>
                      <a:pt x="1548860" y="3022283"/>
                    </a:lnTo>
                    <a:lnTo>
                      <a:pt x="1553242" y="3020092"/>
                    </a:lnTo>
                    <a:cubicBezTo>
                      <a:pt x="1553242" y="3020092"/>
                      <a:pt x="1556480" y="3028950"/>
                      <a:pt x="1556480" y="3037808"/>
                    </a:cubicBezTo>
                    <a:lnTo>
                      <a:pt x="1556480" y="3044476"/>
                    </a:lnTo>
                    <a:cubicBezTo>
                      <a:pt x="1556480" y="3051143"/>
                      <a:pt x="1559719" y="3053334"/>
                      <a:pt x="1562957" y="3057716"/>
                    </a:cubicBezTo>
                    <a:cubicBezTo>
                      <a:pt x="1566196" y="3062192"/>
                      <a:pt x="1573816" y="3064193"/>
                      <a:pt x="1579245" y="3067526"/>
                    </a:cubicBezTo>
                    <a:cubicBezTo>
                      <a:pt x="1584674" y="3070860"/>
                      <a:pt x="1644777" y="3112675"/>
                      <a:pt x="1652397" y="3117152"/>
                    </a:cubicBezTo>
                    <a:cubicBezTo>
                      <a:pt x="1660017" y="3121533"/>
                      <a:pt x="1699546" y="3147536"/>
                      <a:pt x="1699546" y="3147536"/>
                    </a:cubicBezTo>
                    <a:lnTo>
                      <a:pt x="1734407" y="3156204"/>
                    </a:lnTo>
                    <a:lnTo>
                      <a:pt x="1762125" y="3152299"/>
                    </a:lnTo>
                    <a:lnTo>
                      <a:pt x="1786128" y="3146203"/>
                    </a:lnTo>
                    <a:lnTo>
                      <a:pt x="1818513" y="3129153"/>
                    </a:lnTo>
                    <a:cubicBezTo>
                      <a:pt x="1824133" y="3127153"/>
                      <a:pt x="1830610" y="3126486"/>
                      <a:pt x="1835468" y="3123057"/>
                    </a:cubicBezTo>
                    <a:cubicBezTo>
                      <a:pt x="1844421" y="3118580"/>
                      <a:pt x="1851470" y="3114104"/>
                      <a:pt x="1849755" y="3109627"/>
                    </a:cubicBezTo>
                    <a:cubicBezTo>
                      <a:pt x="1847564" y="3104007"/>
                      <a:pt x="1834706" y="3098102"/>
                      <a:pt x="1831562" y="3091053"/>
                    </a:cubicBezTo>
                    <a:cubicBezTo>
                      <a:pt x="1830038" y="3087624"/>
                      <a:pt x="1831562" y="3084100"/>
                      <a:pt x="1832515" y="3080099"/>
                    </a:cubicBezTo>
                    <a:cubicBezTo>
                      <a:pt x="1833848" y="3076575"/>
                      <a:pt x="1839563" y="3077718"/>
                      <a:pt x="1840992" y="3074194"/>
                    </a:cubicBezTo>
                    <a:cubicBezTo>
                      <a:pt x="1843183" y="3068955"/>
                      <a:pt x="1840706" y="3059621"/>
                      <a:pt x="1840706" y="3059621"/>
                    </a:cubicBezTo>
                    <a:lnTo>
                      <a:pt x="1826990" y="3050096"/>
                    </a:lnTo>
                    <a:cubicBezTo>
                      <a:pt x="1802606" y="3040666"/>
                      <a:pt x="1794701" y="3030474"/>
                      <a:pt x="1749076" y="3022092"/>
                    </a:cubicBezTo>
                    <a:lnTo>
                      <a:pt x="1783652" y="2989898"/>
                    </a:lnTo>
                    <a:lnTo>
                      <a:pt x="1853946" y="3008471"/>
                    </a:lnTo>
                    <a:lnTo>
                      <a:pt x="1872044" y="3011615"/>
                    </a:lnTo>
                    <a:lnTo>
                      <a:pt x="1884331" y="3026569"/>
                    </a:lnTo>
                    <a:lnTo>
                      <a:pt x="1903667" y="3017234"/>
                    </a:lnTo>
                    <a:cubicBezTo>
                      <a:pt x="1903667" y="3017234"/>
                      <a:pt x="1914620" y="3016091"/>
                      <a:pt x="1929765" y="3016091"/>
                    </a:cubicBezTo>
                    <a:cubicBezTo>
                      <a:pt x="1944910" y="3016091"/>
                      <a:pt x="1936147" y="3014091"/>
                      <a:pt x="1945862" y="3009615"/>
                    </a:cubicBezTo>
                    <a:cubicBezTo>
                      <a:pt x="1955578" y="3005233"/>
                      <a:pt x="1982438" y="2971419"/>
                      <a:pt x="1987772" y="2961418"/>
                    </a:cubicBezTo>
                    <a:cubicBezTo>
                      <a:pt x="1993202" y="2951417"/>
                      <a:pt x="1979009" y="2945892"/>
                      <a:pt x="1979009" y="2945892"/>
                    </a:cubicBezTo>
                    <a:lnTo>
                      <a:pt x="1911953" y="2884075"/>
                    </a:lnTo>
                    <a:lnTo>
                      <a:pt x="1865376" y="2880646"/>
                    </a:lnTo>
                    <a:lnTo>
                      <a:pt x="1792796" y="2802255"/>
                    </a:lnTo>
                    <a:cubicBezTo>
                      <a:pt x="1792796" y="2802255"/>
                      <a:pt x="1788605" y="2793397"/>
                      <a:pt x="1788605" y="2782348"/>
                    </a:cubicBezTo>
                    <a:cubicBezTo>
                      <a:pt x="1788605" y="2771299"/>
                      <a:pt x="1783175" y="2757964"/>
                      <a:pt x="1775651" y="2748058"/>
                    </a:cubicBezTo>
                    <a:cubicBezTo>
                      <a:pt x="1768031" y="2738152"/>
                      <a:pt x="1765840" y="2728055"/>
                      <a:pt x="1757172" y="2718054"/>
                    </a:cubicBezTo>
                    <a:cubicBezTo>
                      <a:pt x="1748504" y="2708148"/>
                      <a:pt x="1708309" y="2695956"/>
                      <a:pt x="1708309" y="2695956"/>
                    </a:cubicBezTo>
                    <a:lnTo>
                      <a:pt x="1683449" y="2713673"/>
                    </a:lnTo>
                    <a:lnTo>
                      <a:pt x="1678115" y="2713673"/>
                    </a:lnTo>
                    <a:lnTo>
                      <a:pt x="1691069" y="2691575"/>
                    </a:lnTo>
                    <a:lnTo>
                      <a:pt x="1669447" y="2683764"/>
                    </a:lnTo>
                    <a:lnTo>
                      <a:pt x="1662970" y="2707958"/>
                    </a:lnTo>
                    <a:lnTo>
                      <a:pt x="1648873" y="2703671"/>
                    </a:lnTo>
                    <a:cubicBezTo>
                      <a:pt x="1648873" y="2703671"/>
                      <a:pt x="1634681" y="2698147"/>
                      <a:pt x="1627156" y="2697004"/>
                    </a:cubicBezTo>
                    <a:lnTo>
                      <a:pt x="1576483" y="2693575"/>
                    </a:lnTo>
                    <a:lnTo>
                      <a:pt x="1572482" y="2692146"/>
                    </a:lnTo>
                    <a:lnTo>
                      <a:pt x="1572482" y="2569274"/>
                    </a:lnTo>
                    <a:lnTo>
                      <a:pt x="1732502" y="2569274"/>
                    </a:lnTo>
                    <a:lnTo>
                      <a:pt x="1732502" y="2562797"/>
                    </a:lnTo>
                    <a:lnTo>
                      <a:pt x="1700689" y="2562797"/>
                    </a:lnTo>
                    <a:lnTo>
                      <a:pt x="1706213" y="2550986"/>
                    </a:lnTo>
                    <a:lnTo>
                      <a:pt x="1697165" y="2537555"/>
                    </a:lnTo>
                    <a:lnTo>
                      <a:pt x="1611630" y="2464594"/>
                    </a:lnTo>
                    <a:lnTo>
                      <a:pt x="1572482" y="2464594"/>
                    </a:lnTo>
                    <a:lnTo>
                      <a:pt x="1572482" y="2429256"/>
                    </a:lnTo>
                    <a:lnTo>
                      <a:pt x="1584770" y="2429256"/>
                    </a:lnTo>
                    <a:lnTo>
                      <a:pt x="1585151" y="2436590"/>
                    </a:lnTo>
                    <a:lnTo>
                      <a:pt x="1629347" y="2436590"/>
                    </a:lnTo>
                    <a:lnTo>
                      <a:pt x="1728216" y="2519744"/>
                    </a:lnTo>
                    <a:lnTo>
                      <a:pt x="1806988" y="2561940"/>
                    </a:lnTo>
                    <a:lnTo>
                      <a:pt x="1814894" y="2559368"/>
                    </a:lnTo>
                    <a:lnTo>
                      <a:pt x="1787081" y="2470976"/>
                    </a:lnTo>
                    <a:lnTo>
                      <a:pt x="1754886" y="2491835"/>
                    </a:lnTo>
                    <a:lnTo>
                      <a:pt x="1740884" y="2479834"/>
                    </a:lnTo>
                    <a:lnTo>
                      <a:pt x="1780985" y="2403824"/>
                    </a:lnTo>
                    <a:lnTo>
                      <a:pt x="1770412" y="2396300"/>
                    </a:lnTo>
                    <a:lnTo>
                      <a:pt x="1786700" y="2368201"/>
                    </a:lnTo>
                    <a:lnTo>
                      <a:pt x="1814513" y="2314670"/>
                    </a:lnTo>
                    <a:cubicBezTo>
                      <a:pt x="1814513" y="2314670"/>
                      <a:pt x="1860423" y="2232374"/>
                      <a:pt x="1863661" y="2223992"/>
                    </a:cubicBezTo>
                    <a:cubicBezTo>
                      <a:pt x="1866900" y="2215610"/>
                      <a:pt x="1877378" y="2199037"/>
                      <a:pt x="1877378" y="2187416"/>
                    </a:cubicBezTo>
                    <a:cubicBezTo>
                      <a:pt x="1877378" y="2175796"/>
                      <a:pt x="1863566" y="2151412"/>
                      <a:pt x="1856994" y="2141411"/>
                    </a:cubicBezTo>
                    <a:cubicBezTo>
                      <a:pt x="1850422" y="2131409"/>
                      <a:pt x="1834134" y="2140553"/>
                      <a:pt x="1834134" y="2140553"/>
                    </a:cubicBezTo>
                    <a:cubicBezTo>
                      <a:pt x="1829276" y="2142173"/>
                      <a:pt x="1817084" y="2143030"/>
                      <a:pt x="1810512" y="2140553"/>
                    </a:cubicBezTo>
                    <a:cubicBezTo>
                      <a:pt x="1803940" y="2138077"/>
                      <a:pt x="1800606" y="2139601"/>
                      <a:pt x="1800606" y="2128742"/>
                    </a:cubicBezTo>
                    <a:cubicBezTo>
                      <a:pt x="1800606" y="2117884"/>
                      <a:pt x="1798892" y="2116265"/>
                      <a:pt x="1805369" y="2099596"/>
                    </a:cubicBezTo>
                    <a:cubicBezTo>
                      <a:pt x="1811941" y="2082927"/>
                      <a:pt x="1814322" y="2083975"/>
                      <a:pt x="1816799" y="2074831"/>
                    </a:cubicBezTo>
                    <a:cubicBezTo>
                      <a:pt x="1819275" y="2065687"/>
                      <a:pt x="1817656" y="2063877"/>
                      <a:pt x="1816799" y="2060543"/>
                    </a:cubicBezTo>
                    <a:cubicBezTo>
                      <a:pt x="1815941" y="2057209"/>
                      <a:pt x="1815275" y="2047970"/>
                      <a:pt x="1815275" y="2047970"/>
                    </a:cubicBezTo>
                    <a:cubicBezTo>
                      <a:pt x="1815275" y="2047970"/>
                      <a:pt x="1814703" y="2036350"/>
                      <a:pt x="1813846" y="2029682"/>
                    </a:cubicBezTo>
                    <a:cubicBezTo>
                      <a:pt x="1812989" y="2023015"/>
                      <a:pt x="1809655" y="2019491"/>
                      <a:pt x="1803940" y="2016157"/>
                    </a:cubicBezTo>
                    <a:cubicBezTo>
                      <a:pt x="1798225" y="2012823"/>
                      <a:pt x="1794129" y="2009489"/>
                      <a:pt x="1793367" y="2005298"/>
                    </a:cubicBezTo>
                    <a:cubicBezTo>
                      <a:pt x="1792510" y="2001107"/>
                      <a:pt x="1794701" y="1998821"/>
                      <a:pt x="1795463" y="1990439"/>
                    </a:cubicBezTo>
                    <a:cubicBezTo>
                      <a:pt x="1796320" y="1982057"/>
                      <a:pt x="1798987" y="1977866"/>
                      <a:pt x="1794034" y="1976152"/>
                    </a:cubicBezTo>
                    <a:cubicBezTo>
                      <a:pt x="1789176" y="1974533"/>
                      <a:pt x="1783271" y="1972056"/>
                      <a:pt x="1780032" y="1969484"/>
                    </a:cubicBezTo>
                    <a:cubicBezTo>
                      <a:pt x="1776794" y="1967008"/>
                      <a:pt x="1768793" y="1953006"/>
                      <a:pt x="1765459" y="1952149"/>
                    </a:cubicBezTo>
                    <a:cubicBezTo>
                      <a:pt x="1762220" y="1951292"/>
                      <a:pt x="1753934" y="1951101"/>
                      <a:pt x="1751457" y="1951101"/>
                    </a:cubicBezTo>
                    <a:cubicBezTo>
                      <a:pt x="1748981" y="1951101"/>
                      <a:pt x="1729359" y="1956054"/>
                      <a:pt x="1724501" y="1948529"/>
                    </a:cubicBezTo>
                    <a:cubicBezTo>
                      <a:pt x="1719644" y="1941005"/>
                      <a:pt x="1714786" y="1930337"/>
                      <a:pt x="1722120" y="1921955"/>
                    </a:cubicBezTo>
                    <a:cubicBezTo>
                      <a:pt x="1728597" y="1914620"/>
                      <a:pt x="1736598" y="1909286"/>
                      <a:pt x="1744599" y="1909096"/>
                    </a:cubicBezTo>
                    <a:cubicBezTo>
                      <a:pt x="1745742" y="1909096"/>
                      <a:pt x="1747171" y="1909096"/>
                      <a:pt x="1748314" y="1909382"/>
                    </a:cubicBezTo>
                    <a:cubicBezTo>
                      <a:pt x="1757267" y="1911096"/>
                      <a:pt x="1762030" y="1905095"/>
                      <a:pt x="1771079" y="1915192"/>
                    </a:cubicBezTo>
                    <a:cubicBezTo>
                      <a:pt x="1780032" y="1925193"/>
                      <a:pt x="1782604" y="1930241"/>
                      <a:pt x="1791557" y="1927765"/>
                    </a:cubicBezTo>
                    <a:cubicBezTo>
                      <a:pt x="1800511" y="1925288"/>
                      <a:pt x="1803940" y="1924526"/>
                      <a:pt x="1803940" y="1921955"/>
                    </a:cubicBezTo>
                    <a:lnTo>
                      <a:pt x="1803940" y="1913477"/>
                    </a:lnTo>
                    <a:lnTo>
                      <a:pt x="1811274" y="1915192"/>
                    </a:lnTo>
                    <a:lnTo>
                      <a:pt x="1812798" y="1921097"/>
                    </a:lnTo>
                    <a:cubicBezTo>
                      <a:pt x="1812798" y="1921097"/>
                      <a:pt x="1827562" y="1929479"/>
                      <a:pt x="1832420" y="1933670"/>
                    </a:cubicBezTo>
                    <a:cubicBezTo>
                      <a:pt x="1837373" y="1937861"/>
                      <a:pt x="1844516" y="1946815"/>
                      <a:pt x="1846993" y="1954244"/>
                    </a:cubicBezTo>
                    <a:cubicBezTo>
                      <a:pt x="1849469" y="1961769"/>
                      <a:pt x="1848040" y="1964341"/>
                      <a:pt x="1852898" y="1968532"/>
                    </a:cubicBezTo>
                    <a:cubicBezTo>
                      <a:pt x="1857756" y="1972723"/>
                      <a:pt x="1858518" y="1971866"/>
                      <a:pt x="1861757" y="1976057"/>
                    </a:cubicBezTo>
                    <a:cubicBezTo>
                      <a:pt x="1864995" y="1980248"/>
                      <a:pt x="1865757" y="1980343"/>
                      <a:pt x="1867376" y="1986153"/>
                    </a:cubicBezTo>
                    <a:cubicBezTo>
                      <a:pt x="1868996" y="1991963"/>
                      <a:pt x="1868996" y="1990344"/>
                      <a:pt x="1874711" y="1999583"/>
                    </a:cubicBezTo>
                    <a:cubicBezTo>
                      <a:pt x="1880426" y="2008727"/>
                      <a:pt x="1875473" y="2000345"/>
                      <a:pt x="1880330" y="2008632"/>
                    </a:cubicBezTo>
                    <a:cubicBezTo>
                      <a:pt x="1885188" y="2017014"/>
                      <a:pt x="1884521" y="2015490"/>
                      <a:pt x="1886140" y="2024634"/>
                    </a:cubicBezTo>
                    <a:cubicBezTo>
                      <a:pt x="1887760" y="2033778"/>
                      <a:pt x="1890236" y="2036921"/>
                      <a:pt x="1890236" y="2036921"/>
                    </a:cubicBezTo>
                    <a:cubicBezTo>
                      <a:pt x="1890236" y="2036921"/>
                      <a:pt x="1888522" y="2040350"/>
                      <a:pt x="1894999" y="2038636"/>
                    </a:cubicBezTo>
                    <a:cubicBezTo>
                      <a:pt x="1901571" y="2037017"/>
                      <a:pt x="1904714" y="2036159"/>
                      <a:pt x="1904714" y="2036159"/>
                    </a:cubicBezTo>
                    <a:lnTo>
                      <a:pt x="1909096" y="2099405"/>
                    </a:lnTo>
                    <a:cubicBezTo>
                      <a:pt x="1909096" y="2099405"/>
                      <a:pt x="1902524" y="2095405"/>
                      <a:pt x="1899190" y="2100453"/>
                    </a:cubicBezTo>
                    <a:cubicBezTo>
                      <a:pt x="1895951" y="2105501"/>
                      <a:pt x="1894332" y="2111216"/>
                      <a:pt x="1893570" y="2113693"/>
                    </a:cubicBezTo>
                    <a:cubicBezTo>
                      <a:pt x="1892713" y="2116169"/>
                      <a:pt x="1885283" y="2132171"/>
                      <a:pt x="1885283" y="2132171"/>
                    </a:cubicBezTo>
                    <a:cubicBezTo>
                      <a:pt x="1885283" y="2132171"/>
                      <a:pt x="1879759" y="2140363"/>
                      <a:pt x="1883855" y="2148745"/>
                    </a:cubicBezTo>
                    <a:cubicBezTo>
                      <a:pt x="1887950" y="2157127"/>
                      <a:pt x="1894237" y="2171319"/>
                      <a:pt x="1896713" y="2177129"/>
                    </a:cubicBezTo>
                    <a:cubicBezTo>
                      <a:pt x="1899190" y="2182940"/>
                      <a:pt x="1901476" y="2181225"/>
                      <a:pt x="1894142" y="2202942"/>
                    </a:cubicBezTo>
                    <a:cubicBezTo>
                      <a:pt x="1886807" y="2224659"/>
                      <a:pt x="1881188" y="2253901"/>
                      <a:pt x="1879568" y="2259711"/>
                    </a:cubicBezTo>
                    <a:cubicBezTo>
                      <a:pt x="1877949" y="2265521"/>
                      <a:pt x="1864138" y="2292191"/>
                      <a:pt x="1861661" y="2298097"/>
                    </a:cubicBezTo>
                    <a:cubicBezTo>
                      <a:pt x="1859185" y="2303907"/>
                      <a:pt x="1808607" y="2381536"/>
                      <a:pt x="1808607" y="2381536"/>
                    </a:cubicBezTo>
                    <a:lnTo>
                      <a:pt x="1802225" y="2392966"/>
                    </a:lnTo>
                    <a:lnTo>
                      <a:pt x="1804226" y="2437638"/>
                    </a:lnTo>
                    <a:lnTo>
                      <a:pt x="1828610" y="2524316"/>
                    </a:lnTo>
                    <a:lnTo>
                      <a:pt x="1849088" y="2544794"/>
                    </a:lnTo>
                    <a:lnTo>
                      <a:pt x="1998345" y="2581275"/>
                    </a:lnTo>
                    <a:lnTo>
                      <a:pt x="2037017" y="2542794"/>
                    </a:lnTo>
                    <a:lnTo>
                      <a:pt x="2056829" y="2549176"/>
                    </a:lnTo>
                    <a:lnTo>
                      <a:pt x="2036731" y="2577751"/>
                    </a:lnTo>
                    <a:cubicBezTo>
                      <a:pt x="2060639" y="2607183"/>
                      <a:pt x="2093309" y="2610803"/>
                      <a:pt x="2129123" y="2612327"/>
                    </a:cubicBezTo>
                    <a:cubicBezTo>
                      <a:pt x="2163699" y="2613851"/>
                      <a:pt x="2197894" y="2611565"/>
                      <a:pt x="2228945" y="2595563"/>
                    </a:cubicBezTo>
                    <a:lnTo>
                      <a:pt x="2170367" y="2458117"/>
                    </a:lnTo>
                    <a:cubicBezTo>
                      <a:pt x="2170367" y="2458117"/>
                      <a:pt x="2134362" y="2484977"/>
                      <a:pt x="2115122" y="2497741"/>
                    </a:cubicBezTo>
                    <a:cubicBezTo>
                      <a:pt x="2080355" y="2526887"/>
                      <a:pt x="2041779" y="2504027"/>
                      <a:pt x="2017300" y="2475929"/>
                    </a:cubicBezTo>
                    <a:cubicBezTo>
                      <a:pt x="1982057" y="2435543"/>
                      <a:pt x="1957864" y="2401538"/>
                      <a:pt x="1919478" y="2383060"/>
                    </a:cubicBezTo>
                    <a:cubicBezTo>
                      <a:pt x="1914239" y="2337245"/>
                      <a:pt x="1929479" y="2303907"/>
                      <a:pt x="1944338" y="2261807"/>
                    </a:cubicBezTo>
                    <a:lnTo>
                      <a:pt x="2136553" y="2304764"/>
                    </a:lnTo>
                    <a:lnTo>
                      <a:pt x="2110169" y="2357723"/>
                    </a:lnTo>
                    <a:cubicBezTo>
                      <a:pt x="2097596" y="2388108"/>
                      <a:pt x="2101596" y="2398395"/>
                      <a:pt x="2114645" y="2410968"/>
                    </a:cubicBezTo>
                    <a:lnTo>
                      <a:pt x="2144459" y="2411825"/>
                    </a:lnTo>
                    <a:lnTo>
                      <a:pt x="2168462" y="2421350"/>
                    </a:lnTo>
                    <a:lnTo>
                      <a:pt x="2180844" y="2433447"/>
                    </a:lnTo>
                    <a:lnTo>
                      <a:pt x="2187512" y="2443639"/>
                    </a:lnTo>
                    <a:lnTo>
                      <a:pt x="2206752" y="2470309"/>
                    </a:lnTo>
                    <a:lnTo>
                      <a:pt x="2250948" y="2439734"/>
                    </a:lnTo>
                    <a:lnTo>
                      <a:pt x="2253329" y="2444020"/>
                    </a:lnTo>
                    <a:lnTo>
                      <a:pt x="2208562" y="2475738"/>
                    </a:lnTo>
                    <a:lnTo>
                      <a:pt x="2209991" y="2492788"/>
                    </a:lnTo>
                    <a:lnTo>
                      <a:pt x="2217325" y="2511076"/>
                    </a:lnTo>
                    <a:lnTo>
                      <a:pt x="2230755" y="2535174"/>
                    </a:lnTo>
                    <a:lnTo>
                      <a:pt x="2249234" y="2561368"/>
                    </a:lnTo>
                    <a:lnTo>
                      <a:pt x="2329910" y="2637092"/>
                    </a:lnTo>
                    <a:lnTo>
                      <a:pt x="2300002" y="2698052"/>
                    </a:lnTo>
                    <a:lnTo>
                      <a:pt x="2467642" y="2803112"/>
                    </a:lnTo>
                    <a:lnTo>
                      <a:pt x="2417350" y="2886742"/>
                    </a:lnTo>
                    <a:lnTo>
                      <a:pt x="2230946" y="2769965"/>
                    </a:lnTo>
                    <a:lnTo>
                      <a:pt x="2184083" y="2781681"/>
                    </a:lnTo>
                    <a:lnTo>
                      <a:pt x="2144649" y="2847118"/>
                    </a:lnTo>
                    <a:lnTo>
                      <a:pt x="2360009" y="2982182"/>
                    </a:lnTo>
                    <a:lnTo>
                      <a:pt x="2443734" y="3034760"/>
                    </a:lnTo>
                    <a:lnTo>
                      <a:pt x="2501075" y="2939320"/>
                    </a:lnTo>
                    <a:lnTo>
                      <a:pt x="2551367" y="2855595"/>
                    </a:lnTo>
                    <a:lnTo>
                      <a:pt x="2557177" y="2846070"/>
                    </a:lnTo>
                    <a:lnTo>
                      <a:pt x="2591086" y="2867406"/>
                    </a:lnTo>
                    <a:lnTo>
                      <a:pt x="2578894" y="2887694"/>
                    </a:lnTo>
                    <a:lnTo>
                      <a:pt x="2686050" y="2954846"/>
                    </a:lnTo>
                    <a:lnTo>
                      <a:pt x="2554700" y="3172873"/>
                    </a:lnTo>
                    <a:lnTo>
                      <a:pt x="2585371" y="3192018"/>
                    </a:lnTo>
                    <a:lnTo>
                      <a:pt x="2623090" y="3215831"/>
                    </a:lnTo>
                    <a:lnTo>
                      <a:pt x="2657285" y="3237167"/>
                    </a:lnTo>
                    <a:lnTo>
                      <a:pt x="2722817" y="3128486"/>
                    </a:lnTo>
                    <a:lnTo>
                      <a:pt x="2759488" y="3067526"/>
                    </a:lnTo>
                    <a:lnTo>
                      <a:pt x="2751011" y="3062192"/>
                    </a:lnTo>
                    <a:lnTo>
                      <a:pt x="2714149" y="3123152"/>
                    </a:lnTo>
                    <a:lnTo>
                      <a:pt x="2688431" y="3107150"/>
                    </a:lnTo>
                    <a:lnTo>
                      <a:pt x="2729008" y="3039999"/>
                    </a:lnTo>
                    <a:lnTo>
                      <a:pt x="2746248" y="3028188"/>
                    </a:lnTo>
                    <a:lnTo>
                      <a:pt x="2745677" y="3012281"/>
                    </a:lnTo>
                    <a:lnTo>
                      <a:pt x="2754249" y="2997708"/>
                    </a:lnTo>
                    <a:lnTo>
                      <a:pt x="2763012" y="2983325"/>
                    </a:lnTo>
                    <a:lnTo>
                      <a:pt x="2772632" y="2986754"/>
                    </a:lnTo>
                    <a:lnTo>
                      <a:pt x="2798731" y="3005042"/>
                    </a:lnTo>
                    <a:lnTo>
                      <a:pt x="2811590" y="2985707"/>
                    </a:lnTo>
                    <a:lnTo>
                      <a:pt x="2815971" y="2989040"/>
                    </a:lnTo>
                    <a:lnTo>
                      <a:pt x="2805113" y="3005519"/>
                    </a:lnTo>
                    <a:lnTo>
                      <a:pt x="2967228" y="3123724"/>
                    </a:lnTo>
                    <a:lnTo>
                      <a:pt x="2971895" y="3119438"/>
                    </a:lnTo>
                    <a:cubicBezTo>
                      <a:pt x="2973324" y="3116104"/>
                      <a:pt x="2973896" y="3114580"/>
                      <a:pt x="2971514" y="3109913"/>
                    </a:cubicBezTo>
                    <a:lnTo>
                      <a:pt x="2965895" y="3091053"/>
                    </a:lnTo>
                    <a:lnTo>
                      <a:pt x="2977610" y="3075337"/>
                    </a:lnTo>
                    <a:lnTo>
                      <a:pt x="2956275" y="3056192"/>
                    </a:lnTo>
                    <a:lnTo>
                      <a:pt x="2960656" y="3050858"/>
                    </a:lnTo>
                    <a:cubicBezTo>
                      <a:pt x="2960656" y="3050858"/>
                      <a:pt x="2981325" y="3069812"/>
                      <a:pt x="2993136" y="3080671"/>
                    </a:cubicBezTo>
                    <a:cubicBezTo>
                      <a:pt x="2999327" y="3086291"/>
                      <a:pt x="3008186" y="3090482"/>
                      <a:pt x="3017044" y="3089053"/>
                    </a:cubicBezTo>
                    <a:cubicBezTo>
                      <a:pt x="3019330" y="3088672"/>
                      <a:pt x="3018092" y="3093244"/>
                      <a:pt x="3019996" y="3092101"/>
                    </a:cubicBezTo>
                    <a:cubicBezTo>
                      <a:pt x="3021616" y="3091053"/>
                      <a:pt x="3028474" y="3084100"/>
                      <a:pt x="3029617" y="3082481"/>
                    </a:cubicBezTo>
                    <a:cubicBezTo>
                      <a:pt x="3029617" y="3082481"/>
                      <a:pt x="3031427" y="3081052"/>
                      <a:pt x="3035808" y="3075527"/>
                    </a:cubicBezTo>
                    <a:cubicBezTo>
                      <a:pt x="3039046" y="3071527"/>
                      <a:pt x="3040571" y="3068955"/>
                      <a:pt x="3044285" y="3067431"/>
                    </a:cubicBezTo>
                    <a:cubicBezTo>
                      <a:pt x="3048381" y="3065812"/>
                      <a:pt x="3051715" y="3064955"/>
                      <a:pt x="3057525" y="3065240"/>
                    </a:cubicBezTo>
                    <a:cubicBezTo>
                      <a:pt x="3066383" y="3065717"/>
                      <a:pt x="3069241" y="3067717"/>
                      <a:pt x="3076480" y="3074003"/>
                    </a:cubicBezTo>
                    <a:lnTo>
                      <a:pt x="3092958" y="3088386"/>
                    </a:lnTo>
                    <a:lnTo>
                      <a:pt x="3071336" y="3110579"/>
                    </a:lnTo>
                    <a:lnTo>
                      <a:pt x="3062573" y="3097911"/>
                    </a:lnTo>
                    <a:lnTo>
                      <a:pt x="3059716" y="3097054"/>
                    </a:lnTo>
                    <a:cubicBezTo>
                      <a:pt x="3059716" y="3097054"/>
                      <a:pt x="3059525" y="3093434"/>
                      <a:pt x="3058763" y="3091720"/>
                    </a:cubicBezTo>
                    <a:cubicBezTo>
                      <a:pt x="3054953" y="3083433"/>
                      <a:pt x="3042000" y="3086005"/>
                      <a:pt x="3042000" y="3093911"/>
                    </a:cubicBezTo>
                    <a:cubicBezTo>
                      <a:pt x="3039332" y="3105150"/>
                      <a:pt x="3033046" y="3100483"/>
                      <a:pt x="3027426" y="3104579"/>
                    </a:cubicBezTo>
                    <a:cubicBezTo>
                      <a:pt x="3025235" y="3106198"/>
                      <a:pt x="3025712" y="3107627"/>
                      <a:pt x="3025902" y="3110198"/>
                    </a:cubicBezTo>
                    <a:cubicBezTo>
                      <a:pt x="3026093" y="3113056"/>
                      <a:pt x="3026950" y="3115247"/>
                      <a:pt x="3028760" y="3117152"/>
                    </a:cubicBezTo>
                    <a:cubicBezTo>
                      <a:pt x="3032570" y="3121152"/>
                      <a:pt x="3036380" y="3119438"/>
                      <a:pt x="3040190" y="3119057"/>
                    </a:cubicBezTo>
                    <a:lnTo>
                      <a:pt x="3040190" y="3120390"/>
                    </a:lnTo>
                    <a:cubicBezTo>
                      <a:pt x="3040190" y="3120390"/>
                      <a:pt x="3041713" y="3120581"/>
                      <a:pt x="3041713" y="3120581"/>
                    </a:cubicBezTo>
                    <a:lnTo>
                      <a:pt x="3042095" y="3124772"/>
                    </a:lnTo>
                    <a:lnTo>
                      <a:pt x="3044476" y="3124486"/>
                    </a:lnTo>
                    <a:lnTo>
                      <a:pt x="3045619" y="3122771"/>
                    </a:lnTo>
                    <a:lnTo>
                      <a:pt x="3073622" y="3118866"/>
                    </a:lnTo>
                    <a:cubicBezTo>
                      <a:pt x="3076194" y="3118676"/>
                      <a:pt x="3076194" y="3117723"/>
                      <a:pt x="3074861" y="3115818"/>
                    </a:cubicBezTo>
                    <a:lnTo>
                      <a:pt x="3073622" y="3113913"/>
                    </a:lnTo>
                    <a:lnTo>
                      <a:pt x="3095816" y="3091148"/>
                    </a:lnTo>
                    <a:lnTo>
                      <a:pt x="3113627" y="3106865"/>
                    </a:lnTo>
                    <a:lnTo>
                      <a:pt x="3137345" y="3060287"/>
                    </a:lnTo>
                    <a:lnTo>
                      <a:pt x="3141345" y="3062573"/>
                    </a:lnTo>
                    <a:lnTo>
                      <a:pt x="3122676" y="3099435"/>
                    </a:lnTo>
                    <a:lnTo>
                      <a:pt x="3121152" y="3109913"/>
                    </a:lnTo>
                    <a:lnTo>
                      <a:pt x="3136868" y="3112103"/>
                    </a:lnTo>
                    <a:lnTo>
                      <a:pt x="3138011" y="3104483"/>
                    </a:lnTo>
                    <a:lnTo>
                      <a:pt x="3163824" y="3103626"/>
                    </a:lnTo>
                    <a:lnTo>
                      <a:pt x="3165348" y="3115151"/>
                    </a:lnTo>
                    <a:lnTo>
                      <a:pt x="3225356" y="3115437"/>
                    </a:lnTo>
                    <a:lnTo>
                      <a:pt x="3224213" y="3209735"/>
                    </a:lnTo>
                    <a:lnTo>
                      <a:pt x="3223641" y="3209258"/>
                    </a:lnTo>
                    <a:lnTo>
                      <a:pt x="3218879" y="3200210"/>
                    </a:lnTo>
                    <a:lnTo>
                      <a:pt x="3212116" y="3195161"/>
                    </a:lnTo>
                    <a:cubicBezTo>
                      <a:pt x="3205544" y="3190208"/>
                      <a:pt x="3207449" y="3194209"/>
                      <a:pt x="3198400" y="3191732"/>
                    </a:cubicBezTo>
                    <a:cubicBezTo>
                      <a:pt x="3189446" y="3189256"/>
                      <a:pt x="3192590" y="3188494"/>
                      <a:pt x="3180302" y="3179350"/>
                    </a:cubicBezTo>
                    <a:cubicBezTo>
                      <a:pt x="3168015" y="3170206"/>
                      <a:pt x="3159919" y="3168491"/>
                      <a:pt x="3146870" y="3164396"/>
                    </a:cubicBezTo>
                    <a:cubicBezTo>
                      <a:pt x="3133820" y="3160205"/>
                      <a:pt x="3114104" y="3162586"/>
                      <a:pt x="3106769" y="3171730"/>
                    </a:cubicBezTo>
                    <a:cubicBezTo>
                      <a:pt x="3099435" y="3180969"/>
                      <a:pt x="3088767" y="3179350"/>
                      <a:pt x="3086291" y="3179350"/>
                    </a:cubicBezTo>
                    <a:cubicBezTo>
                      <a:pt x="3083814" y="3179350"/>
                      <a:pt x="3028283" y="3168396"/>
                      <a:pt x="3017615" y="3165062"/>
                    </a:cubicBezTo>
                    <a:cubicBezTo>
                      <a:pt x="3006947" y="3161729"/>
                      <a:pt x="3005423" y="3160967"/>
                      <a:pt x="3000566" y="3164300"/>
                    </a:cubicBezTo>
                    <a:cubicBezTo>
                      <a:pt x="2995613" y="3167634"/>
                      <a:pt x="2991612" y="3164300"/>
                      <a:pt x="2985040" y="3161824"/>
                    </a:cubicBezTo>
                    <a:cubicBezTo>
                      <a:pt x="2983421" y="3161157"/>
                      <a:pt x="2982087" y="3160871"/>
                      <a:pt x="2981230" y="3160776"/>
                    </a:cubicBezTo>
                    <a:cubicBezTo>
                      <a:pt x="2978563" y="3160776"/>
                      <a:pt x="2978468" y="3163157"/>
                      <a:pt x="2975991" y="3167539"/>
                    </a:cubicBezTo>
                    <a:cubicBezTo>
                      <a:pt x="2972753" y="3173349"/>
                      <a:pt x="2993898" y="3185827"/>
                      <a:pt x="2993898" y="3185827"/>
                    </a:cubicBezTo>
                    <a:cubicBezTo>
                      <a:pt x="2993898" y="3185827"/>
                      <a:pt x="2997994" y="3190875"/>
                      <a:pt x="3002947" y="3195066"/>
                    </a:cubicBezTo>
                    <a:cubicBezTo>
                      <a:pt x="3007805" y="3199257"/>
                      <a:pt x="3006185" y="3201734"/>
                      <a:pt x="3006185" y="3205925"/>
                    </a:cubicBezTo>
                    <a:cubicBezTo>
                      <a:pt x="3006185" y="3210116"/>
                      <a:pt x="3008662" y="3215259"/>
                      <a:pt x="3013520" y="3221069"/>
                    </a:cubicBezTo>
                    <a:cubicBezTo>
                      <a:pt x="3018473" y="3226880"/>
                      <a:pt x="3026569" y="3229451"/>
                      <a:pt x="3031427" y="3232785"/>
                    </a:cubicBezTo>
                    <a:cubicBezTo>
                      <a:pt x="3036284" y="3236119"/>
                      <a:pt x="3040475" y="3238595"/>
                      <a:pt x="3043714" y="3243644"/>
                    </a:cubicBezTo>
                    <a:cubicBezTo>
                      <a:pt x="3046952" y="3248692"/>
                      <a:pt x="3079718" y="3274600"/>
                      <a:pt x="3091148" y="3281267"/>
                    </a:cubicBezTo>
                    <a:cubicBezTo>
                      <a:pt x="3102578" y="3287935"/>
                      <a:pt x="3136011" y="3310414"/>
                      <a:pt x="3136011" y="3310414"/>
                    </a:cubicBezTo>
                    <a:cubicBezTo>
                      <a:pt x="3136011" y="3310414"/>
                      <a:pt x="3150680" y="3321273"/>
                      <a:pt x="3158014" y="3325368"/>
                    </a:cubicBezTo>
                    <a:cubicBezTo>
                      <a:pt x="3165348" y="3329559"/>
                      <a:pt x="3171158" y="3332988"/>
                      <a:pt x="3187542" y="3339656"/>
                    </a:cubicBezTo>
                    <a:cubicBezTo>
                      <a:pt x="3203925" y="3346323"/>
                      <a:pt x="3200686" y="3349752"/>
                      <a:pt x="3208020" y="3357277"/>
                    </a:cubicBezTo>
                    <a:cubicBezTo>
                      <a:pt x="3215354" y="3364802"/>
                      <a:pt x="3238310" y="3387376"/>
                      <a:pt x="3250502" y="3404902"/>
                    </a:cubicBezTo>
                    <a:cubicBezTo>
                      <a:pt x="3262789" y="3422428"/>
                      <a:pt x="3314414" y="3462338"/>
                      <a:pt x="3324225" y="3467291"/>
                    </a:cubicBezTo>
                    <a:cubicBezTo>
                      <a:pt x="3334036" y="3472244"/>
                      <a:pt x="3337179" y="3479102"/>
                      <a:pt x="3347847" y="3487484"/>
                    </a:cubicBezTo>
                    <a:cubicBezTo>
                      <a:pt x="3358515" y="3495770"/>
                      <a:pt x="3373279" y="3486626"/>
                      <a:pt x="3373279" y="3486626"/>
                    </a:cubicBezTo>
                    <a:lnTo>
                      <a:pt x="3392900" y="3470719"/>
                    </a:lnTo>
                    <a:lnTo>
                      <a:pt x="3411665" y="3474911"/>
                    </a:lnTo>
                    <a:lnTo>
                      <a:pt x="3410807" y="3479959"/>
                    </a:lnTo>
                    <a:lnTo>
                      <a:pt x="3421380" y="3479102"/>
                    </a:lnTo>
                    <a:cubicBezTo>
                      <a:pt x="3421380" y="3479102"/>
                      <a:pt x="3449288" y="3457385"/>
                      <a:pt x="3451765" y="3454908"/>
                    </a:cubicBezTo>
                    <a:cubicBezTo>
                      <a:pt x="3454242" y="3452432"/>
                      <a:pt x="3459099" y="3452432"/>
                      <a:pt x="3459099" y="3452432"/>
                    </a:cubicBezTo>
                    <a:cubicBezTo>
                      <a:pt x="3459099" y="3452432"/>
                      <a:pt x="3468815" y="3441478"/>
                      <a:pt x="3470434" y="3434810"/>
                    </a:cubicBezTo>
                    <a:cubicBezTo>
                      <a:pt x="3472053" y="3428143"/>
                      <a:pt x="3466338" y="3430715"/>
                      <a:pt x="3461385" y="3428143"/>
                    </a:cubicBezTo>
                    <a:cubicBezTo>
                      <a:pt x="3456432" y="3425666"/>
                      <a:pt x="3457480" y="3426524"/>
                      <a:pt x="3454146" y="3420618"/>
                    </a:cubicBezTo>
                    <a:cubicBezTo>
                      <a:pt x="3450908" y="3414808"/>
                      <a:pt x="3457385" y="3413760"/>
                      <a:pt x="3459766" y="3407950"/>
                    </a:cubicBezTo>
                    <a:cubicBezTo>
                      <a:pt x="3462242" y="3402140"/>
                      <a:pt x="3463004" y="3396329"/>
                      <a:pt x="3463862" y="3389662"/>
                    </a:cubicBezTo>
                    <a:cubicBezTo>
                      <a:pt x="3464719" y="3382994"/>
                      <a:pt x="3463862" y="3372326"/>
                      <a:pt x="3464719" y="3361373"/>
                    </a:cubicBezTo>
                    <a:cubicBezTo>
                      <a:pt x="3465576" y="3350514"/>
                      <a:pt x="3468815" y="3352991"/>
                      <a:pt x="3472053" y="3347085"/>
                    </a:cubicBezTo>
                    <a:cubicBezTo>
                      <a:pt x="3475292" y="3341275"/>
                      <a:pt x="3479578" y="3343656"/>
                      <a:pt x="3483674" y="3344513"/>
                    </a:cubicBezTo>
                    <a:cubicBezTo>
                      <a:pt x="3487769" y="3345371"/>
                      <a:pt x="3487769" y="3349657"/>
                      <a:pt x="3488627" y="3356324"/>
                    </a:cubicBezTo>
                    <a:cubicBezTo>
                      <a:pt x="3489484" y="3362992"/>
                      <a:pt x="3486055" y="3362135"/>
                      <a:pt x="3485198" y="3368040"/>
                    </a:cubicBezTo>
                    <a:cubicBezTo>
                      <a:pt x="3484340" y="3373946"/>
                      <a:pt x="3485198" y="3377184"/>
                      <a:pt x="3486721" y="3383947"/>
                    </a:cubicBezTo>
                    <a:cubicBezTo>
                      <a:pt x="3488341" y="3390615"/>
                      <a:pt x="3487579" y="3392329"/>
                      <a:pt x="3487579" y="3398901"/>
                    </a:cubicBezTo>
                    <a:cubicBezTo>
                      <a:pt x="3487579" y="3405473"/>
                      <a:pt x="3485198" y="3406426"/>
                      <a:pt x="3485198" y="3411474"/>
                    </a:cubicBezTo>
                    <a:cubicBezTo>
                      <a:pt x="3485198" y="3416523"/>
                      <a:pt x="3488436" y="3416523"/>
                      <a:pt x="3491675" y="3415665"/>
                    </a:cubicBezTo>
                    <a:cubicBezTo>
                      <a:pt x="3494913" y="3414808"/>
                      <a:pt x="3507296" y="3402997"/>
                      <a:pt x="3516249" y="3392138"/>
                    </a:cubicBezTo>
                    <a:cubicBezTo>
                      <a:pt x="3525203" y="3381280"/>
                      <a:pt x="3580733" y="3299555"/>
                      <a:pt x="3583210" y="3287078"/>
                    </a:cubicBezTo>
                    <a:cubicBezTo>
                      <a:pt x="3585686" y="3274600"/>
                      <a:pt x="3580829" y="3274505"/>
                      <a:pt x="3577590" y="3272790"/>
                    </a:cubicBezTo>
                    <a:cubicBezTo>
                      <a:pt x="3574352" y="3271171"/>
                      <a:pt x="3566160" y="3266980"/>
                      <a:pt x="3557111" y="3261932"/>
                    </a:cubicBezTo>
                    <a:cubicBezTo>
                      <a:pt x="3548158" y="3256979"/>
                      <a:pt x="3549015" y="3257074"/>
                      <a:pt x="3536728" y="3265361"/>
                    </a:cubicBezTo>
                    <a:cubicBezTo>
                      <a:pt x="3524441" y="3273743"/>
                      <a:pt x="3528536" y="3270218"/>
                      <a:pt x="3523583" y="3272695"/>
                    </a:cubicBezTo>
                    <a:cubicBezTo>
                      <a:pt x="3518726" y="3275267"/>
                      <a:pt x="3515392" y="3274505"/>
                      <a:pt x="3511296" y="3275267"/>
                    </a:cubicBezTo>
                    <a:cubicBezTo>
                      <a:pt x="3507200" y="3276124"/>
                      <a:pt x="3503200" y="3276886"/>
                      <a:pt x="3499104" y="3278600"/>
                    </a:cubicBezTo>
                    <a:cubicBezTo>
                      <a:pt x="3495008" y="3280219"/>
                      <a:pt x="3494818" y="3281077"/>
                      <a:pt x="3490817" y="3276886"/>
                    </a:cubicBezTo>
                    <a:cubicBezTo>
                      <a:pt x="3486721" y="3272695"/>
                      <a:pt x="3490055" y="3272885"/>
                      <a:pt x="3489293" y="3265361"/>
                    </a:cubicBezTo>
                    <a:cubicBezTo>
                      <a:pt x="3488436" y="3257836"/>
                      <a:pt x="3492627" y="3253645"/>
                      <a:pt x="3486055" y="3253645"/>
                    </a:cubicBezTo>
                    <a:cubicBezTo>
                      <a:pt x="3479483" y="3253645"/>
                      <a:pt x="3477101" y="3257645"/>
                      <a:pt x="3467291" y="3257645"/>
                    </a:cubicBezTo>
                    <a:cubicBezTo>
                      <a:pt x="3457480" y="3257645"/>
                      <a:pt x="3463100" y="3250978"/>
                      <a:pt x="3453289" y="3249263"/>
                    </a:cubicBezTo>
                    <a:cubicBezTo>
                      <a:pt x="3443478" y="3247644"/>
                      <a:pt x="3441763" y="3247549"/>
                      <a:pt x="3432810" y="3252597"/>
                    </a:cubicBezTo>
                    <a:cubicBezTo>
                      <a:pt x="3423857" y="3257550"/>
                      <a:pt x="3420618" y="3258503"/>
                      <a:pt x="3400235" y="3261836"/>
                    </a:cubicBezTo>
                    <a:cubicBezTo>
                      <a:pt x="3379756" y="3265170"/>
                      <a:pt x="3368326" y="3255264"/>
                      <a:pt x="3357753" y="3243548"/>
                    </a:cubicBezTo>
                    <a:cubicBezTo>
                      <a:pt x="3347085" y="3231833"/>
                      <a:pt x="3316034" y="3237643"/>
                      <a:pt x="3288316" y="3241834"/>
                    </a:cubicBezTo>
                    <a:cubicBezTo>
                      <a:pt x="3260693" y="3246025"/>
                      <a:pt x="3229166" y="3214973"/>
                      <a:pt x="3228689" y="3214402"/>
                    </a:cubicBezTo>
                    <a:lnTo>
                      <a:pt x="3231356" y="3214402"/>
                    </a:lnTo>
                    <a:lnTo>
                      <a:pt x="3232500" y="3115342"/>
                    </a:lnTo>
                    <a:lnTo>
                      <a:pt x="3232500" y="3160300"/>
                    </a:lnTo>
                    <a:cubicBezTo>
                      <a:pt x="3234785" y="3166205"/>
                      <a:pt x="3238595" y="3171730"/>
                      <a:pt x="3242786" y="3174111"/>
                    </a:cubicBezTo>
                    <a:cubicBezTo>
                      <a:pt x="3245263" y="3179159"/>
                      <a:pt x="3264122" y="3188303"/>
                      <a:pt x="3268218" y="3190875"/>
                    </a:cubicBezTo>
                    <a:cubicBezTo>
                      <a:pt x="3272314" y="3193352"/>
                      <a:pt x="3279648" y="3196685"/>
                      <a:pt x="3286125" y="3198400"/>
                    </a:cubicBezTo>
                    <a:cubicBezTo>
                      <a:pt x="3292697" y="3200115"/>
                      <a:pt x="3323273" y="3210211"/>
                      <a:pt x="3323273" y="3210211"/>
                    </a:cubicBezTo>
                    <a:lnTo>
                      <a:pt x="3333179" y="3205639"/>
                    </a:lnTo>
                    <a:lnTo>
                      <a:pt x="3345085" y="3211163"/>
                    </a:lnTo>
                    <a:lnTo>
                      <a:pt x="3341846" y="3216974"/>
                    </a:lnTo>
                    <a:lnTo>
                      <a:pt x="3413760" y="3241358"/>
                    </a:lnTo>
                    <a:lnTo>
                      <a:pt x="3499866" y="3194685"/>
                    </a:lnTo>
                    <a:lnTo>
                      <a:pt x="3413760" y="3103436"/>
                    </a:lnTo>
                    <a:lnTo>
                      <a:pt x="3333274" y="3106769"/>
                    </a:lnTo>
                    <a:lnTo>
                      <a:pt x="3239738" y="3156394"/>
                    </a:lnTo>
                    <a:lnTo>
                      <a:pt x="3239738" y="3115628"/>
                    </a:lnTo>
                    <a:lnTo>
                      <a:pt x="3239453" y="3115628"/>
                    </a:lnTo>
                    <a:lnTo>
                      <a:pt x="3350133" y="3050572"/>
                    </a:lnTo>
                    <a:lnTo>
                      <a:pt x="3465767" y="3048667"/>
                    </a:lnTo>
                    <a:lnTo>
                      <a:pt x="3551873" y="3137630"/>
                    </a:lnTo>
                    <a:lnTo>
                      <a:pt x="3567970" y="3121628"/>
                    </a:lnTo>
                    <a:lnTo>
                      <a:pt x="3527679" y="3079242"/>
                    </a:lnTo>
                    <a:lnTo>
                      <a:pt x="3546729" y="3061621"/>
                    </a:lnTo>
                    <a:lnTo>
                      <a:pt x="3631025" y="3151727"/>
                    </a:lnTo>
                    <a:lnTo>
                      <a:pt x="3644265" y="3139726"/>
                    </a:lnTo>
                    <a:lnTo>
                      <a:pt x="3622358" y="3114961"/>
                    </a:lnTo>
                    <a:lnTo>
                      <a:pt x="3629406" y="3107341"/>
                    </a:lnTo>
                    <a:lnTo>
                      <a:pt x="3640550" y="3107341"/>
                    </a:lnTo>
                    <a:lnTo>
                      <a:pt x="3644075" y="2965323"/>
                    </a:lnTo>
                    <a:lnTo>
                      <a:pt x="3676650" y="2990279"/>
                    </a:lnTo>
                    <a:lnTo>
                      <a:pt x="3711797" y="3010472"/>
                    </a:lnTo>
                    <a:lnTo>
                      <a:pt x="3731133" y="3013901"/>
                    </a:lnTo>
                    <a:cubicBezTo>
                      <a:pt x="3725323" y="3039904"/>
                      <a:pt x="3732848" y="3045048"/>
                      <a:pt x="3743706" y="3054001"/>
                    </a:cubicBezTo>
                    <a:cubicBezTo>
                      <a:pt x="3750469" y="3053144"/>
                      <a:pt x="3756946" y="3048857"/>
                      <a:pt x="3762946" y="3045048"/>
                    </a:cubicBezTo>
                    <a:cubicBezTo>
                      <a:pt x="3768471" y="3041523"/>
                      <a:pt x="3774281" y="3039618"/>
                      <a:pt x="3777901" y="3032189"/>
                    </a:cubicBezTo>
                    <a:lnTo>
                      <a:pt x="3810000" y="3016473"/>
                    </a:lnTo>
                    <a:lnTo>
                      <a:pt x="3829336" y="2990374"/>
                    </a:lnTo>
                    <a:lnTo>
                      <a:pt x="3853625" y="2979134"/>
                    </a:lnTo>
                    <a:cubicBezTo>
                      <a:pt x="3853625" y="2979134"/>
                      <a:pt x="3905345" y="2935034"/>
                      <a:pt x="3920585" y="2922175"/>
                    </a:cubicBezTo>
                    <a:cubicBezTo>
                      <a:pt x="3938207" y="2907316"/>
                      <a:pt x="3944588" y="2893790"/>
                      <a:pt x="3944017" y="2880932"/>
                    </a:cubicBezTo>
                    <a:lnTo>
                      <a:pt x="3992880" y="2839593"/>
                    </a:lnTo>
                    <a:cubicBezTo>
                      <a:pt x="4007549" y="2843117"/>
                      <a:pt x="4022598" y="2839784"/>
                      <a:pt x="4037362" y="2824163"/>
                    </a:cubicBezTo>
                    <a:lnTo>
                      <a:pt x="4081272" y="2782919"/>
                    </a:lnTo>
                    <a:lnTo>
                      <a:pt x="4121372" y="2755487"/>
                    </a:lnTo>
                    <a:lnTo>
                      <a:pt x="4138041" y="2755011"/>
                    </a:lnTo>
                    <a:lnTo>
                      <a:pt x="4185761" y="2703100"/>
                    </a:lnTo>
                    <a:lnTo>
                      <a:pt x="4212622" y="2701481"/>
                    </a:lnTo>
                    <a:lnTo>
                      <a:pt x="4231577" y="2681192"/>
                    </a:lnTo>
                    <a:lnTo>
                      <a:pt x="4256818" y="2661190"/>
                    </a:lnTo>
                    <a:lnTo>
                      <a:pt x="4289870" y="2651665"/>
                    </a:lnTo>
                    <a:lnTo>
                      <a:pt x="4305300" y="2663761"/>
                    </a:lnTo>
                    <a:lnTo>
                      <a:pt x="4339495" y="2635186"/>
                    </a:lnTo>
                    <a:lnTo>
                      <a:pt x="4462939" y="2592610"/>
                    </a:lnTo>
                    <a:lnTo>
                      <a:pt x="4538377" y="2573846"/>
                    </a:lnTo>
                    <a:lnTo>
                      <a:pt x="4642485" y="2534793"/>
                    </a:lnTo>
                    <a:lnTo>
                      <a:pt x="4751261" y="2507837"/>
                    </a:lnTo>
                    <a:lnTo>
                      <a:pt x="4852702" y="2481453"/>
                    </a:lnTo>
                    <a:lnTo>
                      <a:pt x="5058347" y="2401253"/>
                    </a:lnTo>
                    <a:lnTo>
                      <a:pt x="5124450" y="2397633"/>
                    </a:lnTo>
                    <a:cubicBezTo>
                      <a:pt x="5124450" y="2397633"/>
                      <a:pt x="5176933" y="2388680"/>
                      <a:pt x="5199126" y="2380488"/>
                    </a:cubicBezTo>
                    <a:cubicBezTo>
                      <a:pt x="5226558" y="2370392"/>
                      <a:pt x="5273421" y="2342960"/>
                      <a:pt x="5273421" y="2342960"/>
                    </a:cubicBezTo>
                    <a:lnTo>
                      <a:pt x="5294186" y="2358676"/>
                    </a:lnTo>
                    <a:lnTo>
                      <a:pt x="5391627" y="2322100"/>
                    </a:lnTo>
                    <a:lnTo>
                      <a:pt x="5468589" y="2318385"/>
                    </a:lnTo>
                    <a:lnTo>
                      <a:pt x="5512117" y="2320004"/>
                    </a:lnTo>
                    <a:lnTo>
                      <a:pt x="5526405" y="2308860"/>
                    </a:lnTo>
                    <a:lnTo>
                      <a:pt x="5581746" y="2308860"/>
                    </a:lnTo>
                    <a:cubicBezTo>
                      <a:pt x="5581746" y="2308860"/>
                      <a:pt x="5598509" y="2312289"/>
                      <a:pt x="5602320" y="2316671"/>
                    </a:cubicBezTo>
                    <a:cubicBezTo>
                      <a:pt x="5606511" y="2321338"/>
                      <a:pt x="5606034" y="2335721"/>
                      <a:pt x="5606034" y="2335721"/>
                    </a:cubicBezTo>
                    <a:lnTo>
                      <a:pt x="5612797" y="2353437"/>
                    </a:lnTo>
                    <a:lnTo>
                      <a:pt x="5610797" y="2367534"/>
                    </a:lnTo>
                    <a:lnTo>
                      <a:pt x="5592032" y="2381917"/>
                    </a:lnTo>
                    <a:lnTo>
                      <a:pt x="5602605" y="2383631"/>
                    </a:lnTo>
                    <a:lnTo>
                      <a:pt x="5672233" y="2357438"/>
                    </a:lnTo>
                    <a:lnTo>
                      <a:pt x="5703761" y="2355723"/>
                    </a:lnTo>
                    <a:lnTo>
                      <a:pt x="5768055" y="2376202"/>
                    </a:lnTo>
                    <a:lnTo>
                      <a:pt x="5811012" y="2405444"/>
                    </a:lnTo>
                    <a:lnTo>
                      <a:pt x="5851684" y="2410301"/>
                    </a:lnTo>
                    <a:cubicBezTo>
                      <a:pt x="5894546" y="2396395"/>
                      <a:pt x="5929598" y="2383060"/>
                      <a:pt x="5962364" y="2349341"/>
                    </a:cubicBezTo>
                    <a:cubicBezTo>
                      <a:pt x="5997988" y="2333244"/>
                      <a:pt x="6027611" y="2321719"/>
                      <a:pt x="6067902" y="2325148"/>
                    </a:cubicBezTo>
                    <a:lnTo>
                      <a:pt x="6168771" y="2325148"/>
                    </a:lnTo>
                    <a:lnTo>
                      <a:pt x="6169152" y="2262473"/>
                    </a:lnTo>
                    <a:lnTo>
                      <a:pt x="6263640" y="2262473"/>
                    </a:lnTo>
                    <a:lnTo>
                      <a:pt x="6263640" y="2284286"/>
                    </a:lnTo>
                    <a:lnTo>
                      <a:pt x="6257163" y="2284286"/>
                    </a:lnTo>
                    <a:lnTo>
                      <a:pt x="6257163" y="2332577"/>
                    </a:lnTo>
                    <a:lnTo>
                      <a:pt x="6319171" y="2332577"/>
                    </a:lnTo>
                    <a:lnTo>
                      <a:pt x="6319171" y="2189988"/>
                    </a:lnTo>
                    <a:lnTo>
                      <a:pt x="6257163" y="2189988"/>
                    </a:lnTo>
                    <a:lnTo>
                      <a:pt x="6201061" y="2189131"/>
                    </a:lnTo>
                    <a:cubicBezTo>
                      <a:pt x="6182773" y="2187702"/>
                      <a:pt x="6165818" y="2191417"/>
                      <a:pt x="6155055" y="2175415"/>
                    </a:cubicBezTo>
                    <a:cubicBezTo>
                      <a:pt x="6140291" y="2153507"/>
                      <a:pt x="6146483" y="2135124"/>
                      <a:pt x="6159246" y="2110931"/>
                    </a:cubicBezTo>
                    <a:lnTo>
                      <a:pt x="6166295" y="2063020"/>
                    </a:lnTo>
                    <a:lnTo>
                      <a:pt x="6133243" y="2040065"/>
                    </a:lnTo>
                    <a:lnTo>
                      <a:pt x="5994178" y="1980914"/>
                    </a:lnTo>
                    <a:lnTo>
                      <a:pt x="5997321" y="1973390"/>
                    </a:lnTo>
                    <a:lnTo>
                      <a:pt x="6136672" y="2034064"/>
                    </a:lnTo>
                    <a:cubicBezTo>
                      <a:pt x="6147626" y="2030254"/>
                      <a:pt x="6163152" y="2029587"/>
                      <a:pt x="6173248" y="2036921"/>
                    </a:cubicBezTo>
                    <a:cubicBezTo>
                      <a:pt x="6168200" y="2046637"/>
                      <a:pt x="6165724" y="2048542"/>
                      <a:pt x="6154198" y="2049780"/>
                    </a:cubicBezTo>
                    <a:lnTo>
                      <a:pt x="6172105" y="2053685"/>
                    </a:lnTo>
                    <a:lnTo>
                      <a:pt x="6186773" y="2049494"/>
                    </a:lnTo>
                    <a:lnTo>
                      <a:pt x="6258973" y="1860518"/>
                    </a:lnTo>
                    <a:lnTo>
                      <a:pt x="6301169" y="1807940"/>
                    </a:lnTo>
                    <a:lnTo>
                      <a:pt x="6319076" y="1796415"/>
                    </a:lnTo>
                    <a:lnTo>
                      <a:pt x="6319076" y="1767459"/>
                    </a:lnTo>
                    <a:lnTo>
                      <a:pt x="6306789" y="1756220"/>
                    </a:lnTo>
                    <a:lnTo>
                      <a:pt x="6309646" y="1739646"/>
                    </a:lnTo>
                    <a:cubicBezTo>
                      <a:pt x="6309646" y="1739646"/>
                      <a:pt x="6315552" y="1729740"/>
                      <a:pt x="6315266" y="1726121"/>
                    </a:cubicBezTo>
                    <a:cubicBezTo>
                      <a:pt x="6314694" y="1718786"/>
                      <a:pt x="6307170" y="1706690"/>
                      <a:pt x="6307170" y="1706690"/>
                    </a:cubicBezTo>
                    <a:lnTo>
                      <a:pt x="6311551" y="1686401"/>
                    </a:lnTo>
                    <a:cubicBezTo>
                      <a:pt x="6334697" y="1682877"/>
                      <a:pt x="6350508" y="1691259"/>
                      <a:pt x="6371749" y="1703165"/>
                    </a:cubicBezTo>
                    <a:lnTo>
                      <a:pt x="6397562" y="1714691"/>
                    </a:lnTo>
                    <a:lnTo>
                      <a:pt x="6438234" y="1747552"/>
                    </a:lnTo>
                    <a:lnTo>
                      <a:pt x="6434995" y="1750409"/>
                    </a:lnTo>
                    <a:cubicBezTo>
                      <a:pt x="6432328" y="1753553"/>
                      <a:pt x="6431375" y="1753838"/>
                      <a:pt x="6434614" y="1756886"/>
                    </a:cubicBezTo>
                    <a:lnTo>
                      <a:pt x="6455665" y="1781366"/>
                    </a:lnTo>
                    <a:cubicBezTo>
                      <a:pt x="6459570" y="1785938"/>
                      <a:pt x="6459855" y="1784223"/>
                      <a:pt x="6464427" y="1780223"/>
                    </a:cubicBezTo>
                    <a:lnTo>
                      <a:pt x="6479382" y="1767554"/>
                    </a:lnTo>
                    <a:cubicBezTo>
                      <a:pt x="6484240" y="1763459"/>
                      <a:pt x="6485477" y="1763363"/>
                      <a:pt x="6480525" y="1758601"/>
                    </a:cubicBezTo>
                    <a:lnTo>
                      <a:pt x="6459950" y="1735265"/>
                    </a:lnTo>
                    <a:cubicBezTo>
                      <a:pt x="6456617" y="1731455"/>
                      <a:pt x="6456521" y="1730407"/>
                      <a:pt x="6452902" y="1734503"/>
                    </a:cubicBezTo>
                    <a:lnTo>
                      <a:pt x="6444425" y="1742408"/>
                    </a:lnTo>
                    <a:lnTo>
                      <a:pt x="6385560" y="1690688"/>
                    </a:lnTo>
                    <a:cubicBezTo>
                      <a:pt x="6361176" y="1675448"/>
                      <a:pt x="6337174" y="1650302"/>
                      <a:pt x="6308027" y="1647730"/>
                    </a:cubicBezTo>
                    <a:lnTo>
                      <a:pt x="6256211" y="1609630"/>
                    </a:lnTo>
                    <a:lnTo>
                      <a:pt x="6234875" y="1605058"/>
                    </a:lnTo>
                    <a:lnTo>
                      <a:pt x="6171057" y="1569434"/>
                    </a:lnTo>
                    <a:lnTo>
                      <a:pt x="6025039" y="1512951"/>
                    </a:lnTo>
                    <a:cubicBezTo>
                      <a:pt x="5983796" y="1540574"/>
                      <a:pt x="5975318" y="1540859"/>
                      <a:pt x="5930551" y="1516380"/>
                    </a:cubicBezTo>
                    <a:cubicBezTo>
                      <a:pt x="5919502" y="1501521"/>
                      <a:pt x="5923598" y="1497330"/>
                      <a:pt x="5932075" y="1481233"/>
                    </a:cubicBezTo>
                    <a:lnTo>
                      <a:pt x="5959792" y="1480376"/>
                    </a:lnTo>
                    <a:lnTo>
                      <a:pt x="5968270" y="1471613"/>
                    </a:lnTo>
                    <a:lnTo>
                      <a:pt x="5969127" y="1458182"/>
                    </a:lnTo>
                    <a:lnTo>
                      <a:pt x="5933789" y="1457611"/>
                    </a:lnTo>
                    <a:cubicBezTo>
                      <a:pt x="5907215" y="1435322"/>
                      <a:pt x="5884736" y="1355503"/>
                      <a:pt x="5862923" y="1297686"/>
                    </a:cubicBezTo>
                    <a:lnTo>
                      <a:pt x="5853494" y="1295686"/>
                    </a:lnTo>
                    <a:lnTo>
                      <a:pt x="5820728" y="1230059"/>
                    </a:lnTo>
                    <a:lnTo>
                      <a:pt x="5773865" y="1200817"/>
                    </a:lnTo>
                    <a:lnTo>
                      <a:pt x="5729097" y="1178147"/>
                    </a:lnTo>
                    <a:lnTo>
                      <a:pt x="5659850" y="1167003"/>
                    </a:lnTo>
                    <a:lnTo>
                      <a:pt x="5649564" y="1157478"/>
                    </a:lnTo>
                    <a:lnTo>
                      <a:pt x="5644611" y="1157002"/>
                    </a:lnTo>
                    <a:lnTo>
                      <a:pt x="5639372" y="1157859"/>
                    </a:lnTo>
                    <a:cubicBezTo>
                      <a:pt x="5631657" y="1161764"/>
                      <a:pt x="5629371" y="1169289"/>
                      <a:pt x="5636228" y="1175766"/>
                    </a:cubicBezTo>
                    <a:lnTo>
                      <a:pt x="5649658" y="1177671"/>
                    </a:lnTo>
                    <a:lnTo>
                      <a:pt x="5656041" y="1186910"/>
                    </a:lnTo>
                    <a:lnTo>
                      <a:pt x="5653088" y="1192530"/>
                    </a:lnTo>
                    <a:lnTo>
                      <a:pt x="5620893" y="1177862"/>
                    </a:lnTo>
                    <a:lnTo>
                      <a:pt x="5590509" y="1174718"/>
                    </a:lnTo>
                    <a:lnTo>
                      <a:pt x="5579459" y="1170242"/>
                    </a:lnTo>
                    <a:lnTo>
                      <a:pt x="5564220" y="1169765"/>
                    </a:lnTo>
                    <a:lnTo>
                      <a:pt x="5555457" y="1174528"/>
                    </a:lnTo>
                    <a:lnTo>
                      <a:pt x="5485162" y="1173671"/>
                    </a:lnTo>
                    <a:cubicBezTo>
                      <a:pt x="5465731" y="1188625"/>
                      <a:pt x="5440014" y="1205389"/>
                      <a:pt x="5428488" y="1228154"/>
                    </a:cubicBezTo>
                    <a:cubicBezTo>
                      <a:pt x="5431155" y="1232059"/>
                      <a:pt x="5439252" y="1229011"/>
                      <a:pt x="5442204" y="1232059"/>
                    </a:cubicBezTo>
                    <a:cubicBezTo>
                      <a:pt x="5453730" y="1243965"/>
                      <a:pt x="5462493" y="1255967"/>
                      <a:pt x="5485543" y="1254443"/>
                    </a:cubicBezTo>
                    <a:cubicBezTo>
                      <a:pt x="5473065" y="1267873"/>
                      <a:pt x="5454587" y="1267968"/>
                      <a:pt x="5439061" y="1248823"/>
                    </a:cubicBezTo>
                    <a:lnTo>
                      <a:pt x="5413820" y="1258634"/>
                    </a:lnTo>
                    <a:lnTo>
                      <a:pt x="5393055" y="1275207"/>
                    </a:lnTo>
                    <a:lnTo>
                      <a:pt x="5386673" y="1286637"/>
                    </a:lnTo>
                    <a:lnTo>
                      <a:pt x="5366290" y="1301306"/>
                    </a:lnTo>
                    <a:lnTo>
                      <a:pt x="5345525" y="1316165"/>
                    </a:lnTo>
                    <a:lnTo>
                      <a:pt x="5353812" y="1334453"/>
                    </a:lnTo>
                    <a:cubicBezTo>
                      <a:pt x="5352384" y="1346930"/>
                      <a:pt x="5335524" y="1342073"/>
                      <a:pt x="5329428" y="1338167"/>
                    </a:cubicBezTo>
                    <a:lnTo>
                      <a:pt x="5317999" y="1329785"/>
                    </a:lnTo>
                    <a:lnTo>
                      <a:pt x="5302473" y="1327880"/>
                    </a:lnTo>
                    <a:lnTo>
                      <a:pt x="5270945" y="1339406"/>
                    </a:lnTo>
                    <a:lnTo>
                      <a:pt x="5223510" y="1341596"/>
                    </a:lnTo>
                    <a:lnTo>
                      <a:pt x="5193602" y="1333691"/>
                    </a:lnTo>
                    <a:lnTo>
                      <a:pt x="5167218" y="1335310"/>
                    </a:lnTo>
                    <a:lnTo>
                      <a:pt x="5140071" y="1333405"/>
                    </a:lnTo>
                    <a:lnTo>
                      <a:pt x="5122831" y="1319308"/>
                    </a:lnTo>
                    <a:lnTo>
                      <a:pt x="5101114" y="1305211"/>
                    </a:lnTo>
                    <a:lnTo>
                      <a:pt x="5056442" y="1301496"/>
                    </a:lnTo>
                    <a:lnTo>
                      <a:pt x="5030153" y="1287399"/>
                    </a:lnTo>
                    <a:lnTo>
                      <a:pt x="4997577" y="1256729"/>
                    </a:lnTo>
                    <a:lnTo>
                      <a:pt x="4950715" y="1230535"/>
                    </a:lnTo>
                    <a:lnTo>
                      <a:pt x="4921663" y="1212342"/>
                    </a:lnTo>
                    <a:cubicBezTo>
                      <a:pt x="4907947" y="1203770"/>
                      <a:pt x="4902137" y="1198150"/>
                      <a:pt x="4897660" y="1181195"/>
                    </a:cubicBezTo>
                    <a:lnTo>
                      <a:pt x="4873943" y="1124426"/>
                    </a:lnTo>
                    <a:lnTo>
                      <a:pt x="4848797" y="1092708"/>
                    </a:lnTo>
                    <a:lnTo>
                      <a:pt x="4818126" y="1072229"/>
                    </a:lnTo>
                    <a:lnTo>
                      <a:pt x="4803172" y="1072515"/>
                    </a:lnTo>
                    <a:lnTo>
                      <a:pt x="4798695" y="1037939"/>
                    </a:lnTo>
                    <a:cubicBezTo>
                      <a:pt x="4802886" y="1037558"/>
                      <a:pt x="4806029" y="1036225"/>
                      <a:pt x="4807458" y="1034034"/>
                    </a:cubicBezTo>
                    <a:cubicBezTo>
                      <a:pt x="4810792" y="1028986"/>
                      <a:pt x="4817364" y="1017937"/>
                      <a:pt x="4812411" y="1006888"/>
                    </a:cubicBezTo>
                    <a:cubicBezTo>
                      <a:pt x="4807458" y="995934"/>
                      <a:pt x="4793361" y="989171"/>
                      <a:pt x="4789265" y="983266"/>
                    </a:cubicBezTo>
                    <a:cubicBezTo>
                      <a:pt x="4785170" y="977360"/>
                      <a:pt x="4777550" y="970502"/>
                      <a:pt x="4772597" y="967073"/>
                    </a:cubicBezTo>
                    <a:cubicBezTo>
                      <a:pt x="4767644" y="963740"/>
                      <a:pt x="4766882" y="963835"/>
                      <a:pt x="4759452" y="953643"/>
                    </a:cubicBezTo>
                    <a:cubicBezTo>
                      <a:pt x="4752023" y="943451"/>
                      <a:pt x="4743736" y="940975"/>
                      <a:pt x="4734592" y="930021"/>
                    </a:cubicBezTo>
                    <a:cubicBezTo>
                      <a:pt x="4725448" y="919067"/>
                      <a:pt x="4723924" y="915543"/>
                      <a:pt x="4714018" y="907923"/>
                    </a:cubicBezTo>
                    <a:cubicBezTo>
                      <a:pt x="4704112" y="900303"/>
                      <a:pt x="4684110" y="883444"/>
                      <a:pt x="4680014" y="880110"/>
                    </a:cubicBezTo>
                    <a:cubicBezTo>
                      <a:pt x="4675823" y="876681"/>
                      <a:pt x="4665917" y="872490"/>
                      <a:pt x="4665917" y="872490"/>
                    </a:cubicBezTo>
                    <a:cubicBezTo>
                      <a:pt x="4665917" y="872490"/>
                      <a:pt x="4657820" y="865727"/>
                      <a:pt x="4653629" y="864870"/>
                    </a:cubicBezTo>
                    <a:cubicBezTo>
                      <a:pt x="4646010" y="862679"/>
                      <a:pt x="4636199" y="853726"/>
                      <a:pt x="4635532" y="848963"/>
                    </a:cubicBezTo>
                    <a:cubicBezTo>
                      <a:pt x="4634579" y="842201"/>
                      <a:pt x="4635437" y="835247"/>
                      <a:pt x="4630484" y="832676"/>
                    </a:cubicBezTo>
                    <a:cubicBezTo>
                      <a:pt x="4625531" y="830104"/>
                      <a:pt x="4616387" y="827627"/>
                      <a:pt x="4616387" y="827627"/>
                    </a:cubicBezTo>
                    <a:cubicBezTo>
                      <a:pt x="4616387" y="827627"/>
                      <a:pt x="4610577" y="825056"/>
                      <a:pt x="4608100" y="820007"/>
                    </a:cubicBezTo>
                    <a:cubicBezTo>
                      <a:pt x="4605623" y="814959"/>
                      <a:pt x="4603147" y="812483"/>
                      <a:pt x="4600575" y="810768"/>
                    </a:cubicBezTo>
                    <a:cubicBezTo>
                      <a:pt x="4598385" y="809244"/>
                      <a:pt x="4593717" y="801910"/>
                      <a:pt x="4588669" y="801815"/>
                    </a:cubicBezTo>
                    <a:cubicBezTo>
                      <a:pt x="4588288" y="801815"/>
                      <a:pt x="4587907" y="801815"/>
                      <a:pt x="4587526" y="801815"/>
                    </a:cubicBezTo>
                    <a:cubicBezTo>
                      <a:pt x="4587145" y="801815"/>
                      <a:pt x="4586764" y="801910"/>
                      <a:pt x="4586383" y="802100"/>
                    </a:cubicBezTo>
                    <a:cubicBezTo>
                      <a:pt x="4580573" y="804672"/>
                      <a:pt x="4577334" y="804767"/>
                      <a:pt x="4575620" y="809054"/>
                    </a:cubicBezTo>
                    <a:cubicBezTo>
                      <a:pt x="4574572" y="811816"/>
                      <a:pt x="4573524" y="814102"/>
                      <a:pt x="4573334" y="816578"/>
                    </a:cubicBezTo>
                    <a:lnTo>
                      <a:pt x="4566095" y="817912"/>
                    </a:lnTo>
                    <a:lnTo>
                      <a:pt x="4560189" y="780574"/>
                    </a:lnTo>
                    <a:lnTo>
                      <a:pt x="4540949" y="740759"/>
                    </a:lnTo>
                    <a:lnTo>
                      <a:pt x="4510754" y="738569"/>
                    </a:lnTo>
                    <a:lnTo>
                      <a:pt x="4487323" y="741617"/>
                    </a:lnTo>
                    <a:lnTo>
                      <a:pt x="4464844" y="744379"/>
                    </a:lnTo>
                    <a:lnTo>
                      <a:pt x="4452557" y="758666"/>
                    </a:lnTo>
                    <a:lnTo>
                      <a:pt x="4438174" y="756190"/>
                    </a:lnTo>
                    <a:cubicBezTo>
                      <a:pt x="4371689" y="761333"/>
                      <a:pt x="4348734" y="807720"/>
                      <a:pt x="4325017" y="843153"/>
                    </a:cubicBezTo>
                    <a:lnTo>
                      <a:pt x="4323493" y="846487"/>
                    </a:lnTo>
                    <a:lnTo>
                      <a:pt x="4302633" y="834200"/>
                    </a:lnTo>
                    <a:cubicBezTo>
                      <a:pt x="4305586" y="832580"/>
                      <a:pt x="4307967" y="830199"/>
                      <a:pt x="4309587" y="826580"/>
                    </a:cubicBezTo>
                    <a:cubicBezTo>
                      <a:pt x="4313968" y="816388"/>
                      <a:pt x="4318540" y="808387"/>
                      <a:pt x="4320731" y="801624"/>
                    </a:cubicBezTo>
                    <a:cubicBezTo>
                      <a:pt x="4322921" y="794861"/>
                      <a:pt x="4327398" y="776859"/>
                      <a:pt x="4321874" y="767906"/>
                    </a:cubicBezTo>
                    <a:cubicBezTo>
                      <a:pt x="4316349" y="758857"/>
                      <a:pt x="4290822" y="739712"/>
                      <a:pt x="4284155" y="735140"/>
                    </a:cubicBezTo>
                    <a:cubicBezTo>
                      <a:pt x="4277487" y="730663"/>
                      <a:pt x="4188238" y="681038"/>
                      <a:pt x="4188238" y="681038"/>
                    </a:cubicBezTo>
                    <a:lnTo>
                      <a:pt x="4176046" y="699326"/>
                    </a:lnTo>
                    <a:lnTo>
                      <a:pt x="4168235" y="694849"/>
                    </a:lnTo>
                    <a:lnTo>
                      <a:pt x="4181380" y="675418"/>
                    </a:lnTo>
                    <a:cubicBezTo>
                      <a:pt x="4181380" y="675418"/>
                      <a:pt x="4151567" y="658463"/>
                      <a:pt x="4139470" y="649510"/>
                    </a:cubicBezTo>
                    <a:cubicBezTo>
                      <a:pt x="4127373" y="640461"/>
                      <a:pt x="4104037" y="627031"/>
                      <a:pt x="4087463" y="613505"/>
                    </a:cubicBezTo>
                    <a:cubicBezTo>
                      <a:pt x="4070890" y="599980"/>
                      <a:pt x="4047839" y="588550"/>
                      <a:pt x="4025742" y="582930"/>
                    </a:cubicBezTo>
                    <a:cubicBezTo>
                      <a:pt x="4021646" y="581882"/>
                      <a:pt x="4017074" y="581501"/>
                      <a:pt x="4012311" y="581787"/>
                    </a:cubicBezTo>
                    <a:cubicBezTo>
                      <a:pt x="3991737" y="582835"/>
                      <a:pt x="3967544" y="594170"/>
                      <a:pt x="3959447" y="597789"/>
                    </a:cubicBezTo>
                    <a:cubicBezTo>
                      <a:pt x="3949542" y="602266"/>
                      <a:pt x="3907441" y="634841"/>
                      <a:pt x="3899726" y="647224"/>
                    </a:cubicBezTo>
                    <a:cubicBezTo>
                      <a:pt x="3896487" y="652463"/>
                      <a:pt x="3896963" y="656368"/>
                      <a:pt x="3899059" y="659797"/>
                    </a:cubicBezTo>
                    <a:lnTo>
                      <a:pt x="3877056" y="682276"/>
                    </a:lnTo>
                    <a:lnTo>
                      <a:pt x="3876770" y="682276"/>
                    </a:lnTo>
                    <a:cubicBezTo>
                      <a:pt x="3865055" y="684943"/>
                      <a:pt x="3847148" y="703040"/>
                      <a:pt x="3847148" y="703040"/>
                    </a:cubicBezTo>
                    <a:lnTo>
                      <a:pt x="3827336" y="699421"/>
                    </a:lnTo>
                    <a:lnTo>
                      <a:pt x="3823907" y="699992"/>
                    </a:lnTo>
                    <a:lnTo>
                      <a:pt x="3744278" y="641128"/>
                    </a:lnTo>
                    <a:lnTo>
                      <a:pt x="3763328" y="627602"/>
                    </a:lnTo>
                    <a:lnTo>
                      <a:pt x="3767042" y="603409"/>
                    </a:lnTo>
                    <a:lnTo>
                      <a:pt x="3800094" y="567785"/>
                    </a:lnTo>
                    <a:cubicBezTo>
                      <a:pt x="3807143" y="555212"/>
                      <a:pt x="3801237" y="542639"/>
                      <a:pt x="3799427" y="529971"/>
                    </a:cubicBezTo>
                    <a:cubicBezTo>
                      <a:pt x="3773805" y="492062"/>
                      <a:pt x="3763709" y="488633"/>
                      <a:pt x="3752088" y="481679"/>
                    </a:cubicBezTo>
                    <a:cubicBezTo>
                      <a:pt x="3745897" y="460153"/>
                      <a:pt x="3731324" y="431959"/>
                      <a:pt x="3706463" y="434245"/>
                    </a:cubicBezTo>
                    <a:cubicBezTo>
                      <a:pt x="3699605" y="436531"/>
                      <a:pt x="3693795" y="444151"/>
                      <a:pt x="3693795" y="444151"/>
                    </a:cubicBezTo>
                    <a:lnTo>
                      <a:pt x="3685032" y="436626"/>
                    </a:lnTo>
                    <a:lnTo>
                      <a:pt x="3712274" y="410051"/>
                    </a:lnTo>
                    <a:cubicBezTo>
                      <a:pt x="3712274" y="410051"/>
                      <a:pt x="3708178" y="375666"/>
                      <a:pt x="3702272" y="360140"/>
                    </a:cubicBezTo>
                    <a:cubicBezTo>
                      <a:pt x="3699701" y="353473"/>
                      <a:pt x="3691414" y="341662"/>
                      <a:pt x="3691414" y="341662"/>
                    </a:cubicBezTo>
                    <a:cubicBezTo>
                      <a:pt x="3673888" y="312134"/>
                      <a:pt x="3644265" y="321278"/>
                      <a:pt x="3616452" y="341948"/>
                    </a:cubicBezTo>
                    <a:lnTo>
                      <a:pt x="3591020" y="344805"/>
                    </a:lnTo>
                    <a:lnTo>
                      <a:pt x="3554730" y="316992"/>
                    </a:lnTo>
                    <a:lnTo>
                      <a:pt x="3556826" y="271463"/>
                    </a:lnTo>
                    <a:lnTo>
                      <a:pt x="3560636" y="266129"/>
                    </a:lnTo>
                    <a:lnTo>
                      <a:pt x="3568827" y="308991"/>
                    </a:lnTo>
                    <a:lnTo>
                      <a:pt x="3584829" y="326422"/>
                    </a:lnTo>
                    <a:lnTo>
                      <a:pt x="3606832" y="320326"/>
                    </a:lnTo>
                    <a:lnTo>
                      <a:pt x="3619786" y="305467"/>
                    </a:lnTo>
                    <a:lnTo>
                      <a:pt x="3645313" y="300419"/>
                    </a:lnTo>
                    <a:lnTo>
                      <a:pt x="3647027" y="264986"/>
                    </a:lnTo>
                    <a:lnTo>
                      <a:pt x="3632645" y="236411"/>
                    </a:lnTo>
                    <a:lnTo>
                      <a:pt x="3610166" y="216122"/>
                    </a:lnTo>
                    <a:lnTo>
                      <a:pt x="3548444" y="188405"/>
                    </a:lnTo>
                    <a:lnTo>
                      <a:pt x="3534632" y="167831"/>
                    </a:lnTo>
                    <a:lnTo>
                      <a:pt x="3451575" y="112776"/>
                    </a:lnTo>
                    <a:cubicBezTo>
                      <a:pt x="3435477" y="102108"/>
                      <a:pt x="3403283" y="86297"/>
                      <a:pt x="3393377" y="104966"/>
                    </a:cubicBezTo>
                    <a:cubicBezTo>
                      <a:pt x="3380899" y="128492"/>
                      <a:pt x="3359182" y="169545"/>
                      <a:pt x="3359182" y="169545"/>
                    </a:cubicBezTo>
                    <a:lnTo>
                      <a:pt x="3344228" y="161449"/>
                    </a:lnTo>
                    <a:lnTo>
                      <a:pt x="3382232" y="90107"/>
                    </a:lnTo>
                    <a:lnTo>
                      <a:pt x="3278696" y="33909"/>
                    </a:lnTo>
                    <a:lnTo>
                      <a:pt x="3239262" y="112871"/>
                    </a:lnTo>
                    <a:lnTo>
                      <a:pt x="3219450" y="102394"/>
                    </a:lnTo>
                    <a:lnTo>
                      <a:pt x="3230023" y="83534"/>
                    </a:lnTo>
                    <a:cubicBezTo>
                      <a:pt x="3214497" y="63246"/>
                      <a:pt x="3198971" y="58769"/>
                      <a:pt x="3183446" y="65627"/>
                    </a:cubicBezTo>
                    <a:lnTo>
                      <a:pt x="3151632" y="102965"/>
                    </a:lnTo>
                    <a:cubicBezTo>
                      <a:pt x="3138678" y="101346"/>
                      <a:pt x="3141440" y="92297"/>
                      <a:pt x="3145250" y="82963"/>
                    </a:cubicBezTo>
                    <a:lnTo>
                      <a:pt x="3205258" y="30194"/>
                    </a:lnTo>
                    <a:lnTo>
                      <a:pt x="3181826" y="17621"/>
                    </a:lnTo>
                    <a:cubicBezTo>
                      <a:pt x="3161443" y="8954"/>
                      <a:pt x="3140774" y="286"/>
                      <a:pt x="3109246" y="0"/>
                    </a:cubicBezTo>
                    <a:cubicBezTo>
                      <a:pt x="3106865" y="0"/>
                      <a:pt x="3104483" y="0"/>
                      <a:pt x="3102007" y="0"/>
                    </a:cubicBezTo>
                    <a:close/>
                    <a:moveTo>
                      <a:pt x="1761554" y="300990"/>
                    </a:moveTo>
                    <a:cubicBezTo>
                      <a:pt x="1758506" y="300990"/>
                      <a:pt x="1749361" y="302133"/>
                      <a:pt x="1749361" y="302133"/>
                    </a:cubicBezTo>
                    <a:cubicBezTo>
                      <a:pt x="1745552" y="303181"/>
                      <a:pt x="1739741" y="303848"/>
                      <a:pt x="1738789" y="306991"/>
                    </a:cubicBezTo>
                    <a:cubicBezTo>
                      <a:pt x="1737741" y="310134"/>
                      <a:pt x="1737170" y="312134"/>
                      <a:pt x="1736789" y="317087"/>
                    </a:cubicBezTo>
                    <a:cubicBezTo>
                      <a:pt x="1736408" y="322040"/>
                      <a:pt x="1736027" y="324231"/>
                      <a:pt x="1734693" y="326993"/>
                    </a:cubicBezTo>
                    <a:cubicBezTo>
                      <a:pt x="1733264" y="329851"/>
                      <a:pt x="1728216" y="329089"/>
                      <a:pt x="1730597" y="333661"/>
                    </a:cubicBezTo>
                    <a:cubicBezTo>
                      <a:pt x="1732979" y="338233"/>
                      <a:pt x="1738027" y="336804"/>
                      <a:pt x="1743837" y="334709"/>
                    </a:cubicBezTo>
                    <a:cubicBezTo>
                      <a:pt x="1749647" y="332613"/>
                      <a:pt x="1751171" y="331565"/>
                      <a:pt x="1761458" y="328041"/>
                    </a:cubicBezTo>
                    <a:cubicBezTo>
                      <a:pt x="1771840" y="324517"/>
                      <a:pt x="1769364" y="326993"/>
                      <a:pt x="1777270" y="321659"/>
                    </a:cubicBezTo>
                    <a:cubicBezTo>
                      <a:pt x="1785176" y="316420"/>
                      <a:pt x="1785652" y="317468"/>
                      <a:pt x="1789462" y="314992"/>
                    </a:cubicBezTo>
                    <a:cubicBezTo>
                      <a:pt x="1793272" y="312515"/>
                      <a:pt x="1793081" y="313563"/>
                      <a:pt x="1797939" y="311087"/>
                    </a:cubicBezTo>
                    <a:cubicBezTo>
                      <a:pt x="1802797" y="308610"/>
                      <a:pt x="1802702" y="305943"/>
                      <a:pt x="1796510" y="304133"/>
                    </a:cubicBezTo>
                    <a:cubicBezTo>
                      <a:pt x="1790319" y="302419"/>
                      <a:pt x="1781080" y="302324"/>
                      <a:pt x="1775936" y="301943"/>
                    </a:cubicBezTo>
                    <a:cubicBezTo>
                      <a:pt x="1770793" y="301562"/>
                      <a:pt x="1764602" y="300800"/>
                      <a:pt x="1761554" y="300800"/>
                    </a:cubicBezTo>
                    <a:close/>
                    <a:moveTo>
                      <a:pt x="3735419" y="341948"/>
                    </a:moveTo>
                    <a:cubicBezTo>
                      <a:pt x="3734848" y="341948"/>
                      <a:pt x="3734276" y="341948"/>
                      <a:pt x="3733705" y="342138"/>
                    </a:cubicBezTo>
                    <a:cubicBezTo>
                      <a:pt x="3730276" y="342614"/>
                      <a:pt x="3726752" y="344710"/>
                      <a:pt x="3723227" y="349949"/>
                    </a:cubicBezTo>
                    <a:lnTo>
                      <a:pt x="3738658" y="353282"/>
                    </a:lnTo>
                    <a:lnTo>
                      <a:pt x="3753326" y="376238"/>
                    </a:lnTo>
                    <a:lnTo>
                      <a:pt x="3764661" y="403955"/>
                    </a:lnTo>
                    <a:lnTo>
                      <a:pt x="3764090" y="431959"/>
                    </a:lnTo>
                    <a:lnTo>
                      <a:pt x="3785235" y="453485"/>
                    </a:lnTo>
                    <a:lnTo>
                      <a:pt x="3795522" y="472916"/>
                    </a:lnTo>
                    <a:lnTo>
                      <a:pt x="3821621" y="506349"/>
                    </a:lnTo>
                    <a:cubicBezTo>
                      <a:pt x="3821621" y="506349"/>
                      <a:pt x="3831908" y="518922"/>
                      <a:pt x="3835718" y="515588"/>
                    </a:cubicBezTo>
                    <a:cubicBezTo>
                      <a:pt x="3838099" y="513493"/>
                      <a:pt x="3851053" y="505396"/>
                      <a:pt x="3853529" y="498253"/>
                    </a:cubicBezTo>
                    <a:cubicBezTo>
                      <a:pt x="3856482" y="489871"/>
                      <a:pt x="3848767" y="482346"/>
                      <a:pt x="3848767" y="482346"/>
                    </a:cubicBezTo>
                    <a:lnTo>
                      <a:pt x="3816287" y="427387"/>
                    </a:lnTo>
                    <a:lnTo>
                      <a:pt x="3804095" y="407099"/>
                    </a:lnTo>
                    <a:cubicBezTo>
                      <a:pt x="3787521" y="386429"/>
                      <a:pt x="3776663" y="366522"/>
                      <a:pt x="3750755" y="344805"/>
                    </a:cubicBezTo>
                    <a:cubicBezTo>
                      <a:pt x="3746183" y="344900"/>
                      <a:pt x="3741706" y="342614"/>
                      <a:pt x="3737038" y="342233"/>
                    </a:cubicBezTo>
                    <a:cubicBezTo>
                      <a:pt x="3736467" y="342233"/>
                      <a:pt x="3735896" y="342138"/>
                      <a:pt x="3735324" y="342043"/>
                    </a:cubicBezTo>
                    <a:close/>
                    <a:moveTo>
                      <a:pt x="6402039" y="452533"/>
                    </a:moveTo>
                    <a:cubicBezTo>
                      <a:pt x="6378036" y="453009"/>
                      <a:pt x="6327458" y="468059"/>
                      <a:pt x="6308789" y="474440"/>
                    </a:cubicBezTo>
                    <a:cubicBezTo>
                      <a:pt x="6288882" y="481203"/>
                      <a:pt x="6192107" y="505111"/>
                      <a:pt x="6192107" y="505111"/>
                    </a:cubicBezTo>
                    <a:cubicBezTo>
                      <a:pt x="6160103" y="519970"/>
                      <a:pt x="6133624" y="537115"/>
                      <a:pt x="6116003" y="569595"/>
                    </a:cubicBezTo>
                    <a:lnTo>
                      <a:pt x="6128957" y="569309"/>
                    </a:lnTo>
                    <a:lnTo>
                      <a:pt x="6179820" y="527399"/>
                    </a:lnTo>
                    <a:lnTo>
                      <a:pt x="6198490" y="539972"/>
                    </a:lnTo>
                    <a:lnTo>
                      <a:pt x="6228017" y="541592"/>
                    </a:lnTo>
                    <a:cubicBezTo>
                      <a:pt x="6227921" y="533972"/>
                      <a:pt x="6265545" y="538544"/>
                      <a:pt x="6265545" y="538544"/>
                    </a:cubicBezTo>
                    <a:lnTo>
                      <a:pt x="6312884" y="517684"/>
                    </a:lnTo>
                    <a:cubicBezTo>
                      <a:pt x="6332982" y="508826"/>
                      <a:pt x="6348698" y="513017"/>
                      <a:pt x="6368130" y="505111"/>
                    </a:cubicBezTo>
                    <a:cubicBezTo>
                      <a:pt x="6390132" y="496253"/>
                      <a:pt x="6394133" y="507873"/>
                      <a:pt x="6397466" y="525399"/>
                    </a:cubicBezTo>
                    <a:cubicBezTo>
                      <a:pt x="6401181" y="544544"/>
                      <a:pt x="6421183" y="539496"/>
                      <a:pt x="6436138" y="534924"/>
                    </a:cubicBezTo>
                    <a:cubicBezTo>
                      <a:pt x="6440710" y="533495"/>
                      <a:pt x="6449664" y="530733"/>
                      <a:pt x="6449664" y="530733"/>
                    </a:cubicBezTo>
                    <a:cubicBezTo>
                      <a:pt x="6449664" y="530733"/>
                      <a:pt x="6464617" y="526828"/>
                      <a:pt x="6481191" y="526828"/>
                    </a:cubicBezTo>
                    <a:cubicBezTo>
                      <a:pt x="6487764" y="526828"/>
                      <a:pt x="6497479" y="526161"/>
                      <a:pt x="6502813" y="528161"/>
                    </a:cubicBezTo>
                    <a:cubicBezTo>
                      <a:pt x="6512719" y="531876"/>
                      <a:pt x="6514148" y="543497"/>
                      <a:pt x="6520053" y="547307"/>
                    </a:cubicBezTo>
                    <a:cubicBezTo>
                      <a:pt x="6536627" y="549593"/>
                      <a:pt x="6545485" y="554069"/>
                      <a:pt x="6556534" y="559689"/>
                    </a:cubicBezTo>
                    <a:cubicBezTo>
                      <a:pt x="6563202" y="563118"/>
                      <a:pt x="6580251" y="554069"/>
                      <a:pt x="6590443" y="558070"/>
                    </a:cubicBezTo>
                    <a:cubicBezTo>
                      <a:pt x="6597206" y="560737"/>
                      <a:pt x="6606540" y="563975"/>
                      <a:pt x="6610255" y="565595"/>
                    </a:cubicBezTo>
                    <a:cubicBezTo>
                      <a:pt x="6627019" y="572643"/>
                      <a:pt x="6622828" y="582644"/>
                      <a:pt x="6637973" y="578263"/>
                    </a:cubicBezTo>
                    <a:cubicBezTo>
                      <a:pt x="6647402" y="575501"/>
                      <a:pt x="6635306" y="562166"/>
                      <a:pt x="6632162" y="558927"/>
                    </a:cubicBezTo>
                    <a:cubicBezTo>
                      <a:pt x="6623876" y="550450"/>
                      <a:pt x="6610160" y="550640"/>
                      <a:pt x="6600254" y="549021"/>
                    </a:cubicBezTo>
                    <a:cubicBezTo>
                      <a:pt x="6590348" y="547307"/>
                      <a:pt x="6560440" y="545592"/>
                      <a:pt x="6548819" y="542258"/>
                    </a:cubicBezTo>
                    <a:cubicBezTo>
                      <a:pt x="6537199" y="538829"/>
                      <a:pt x="6520815" y="540544"/>
                      <a:pt x="6510814" y="523685"/>
                    </a:cubicBezTo>
                    <a:cubicBezTo>
                      <a:pt x="6500908" y="506730"/>
                      <a:pt x="6500908" y="488156"/>
                      <a:pt x="6482715" y="472916"/>
                    </a:cubicBezTo>
                    <a:cubicBezTo>
                      <a:pt x="6464523" y="457676"/>
                      <a:pt x="6427851" y="454438"/>
                      <a:pt x="6406325" y="452723"/>
                    </a:cubicBezTo>
                    <a:cubicBezTo>
                      <a:pt x="6404991" y="452628"/>
                      <a:pt x="6403658" y="452533"/>
                      <a:pt x="6402133" y="452533"/>
                    </a:cubicBezTo>
                    <a:close/>
                    <a:moveTo>
                      <a:pt x="1180433" y="536829"/>
                    </a:moveTo>
                    <a:cubicBezTo>
                      <a:pt x="1176147" y="539020"/>
                      <a:pt x="1167575" y="543497"/>
                      <a:pt x="1167575" y="543497"/>
                    </a:cubicBezTo>
                    <a:cubicBezTo>
                      <a:pt x="1167575" y="543497"/>
                      <a:pt x="1161098" y="546830"/>
                      <a:pt x="1164336" y="552260"/>
                    </a:cubicBezTo>
                    <a:cubicBezTo>
                      <a:pt x="1167575" y="557689"/>
                      <a:pt x="1168622" y="555498"/>
                      <a:pt x="1172909" y="558737"/>
                    </a:cubicBezTo>
                    <a:cubicBezTo>
                      <a:pt x="1177195" y="561975"/>
                      <a:pt x="1180433" y="557594"/>
                      <a:pt x="1180433" y="557594"/>
                    </a:cubicBezTo>
                    <a:lnTo>
                      <a:pt x="1184624" y="549974"/>
                    </a:lnTo>
                    <a:lnTo>
                      <a:pt x="1185767" y="544449"/>
                    </a:lnTo>
                    <a:lnTo>
                      <a:pt x="1180433" y="536829"/>
                    </a:lnTo>
                    <a:close/>
                    <a:moveTo>
                      <a:pt x="6659880" y="583692"/>
                    </a:moveTo>
                    <a:cubicBezTo>
                      <a:pt x="6659880" y="583692"/>
                      <a:pt x="6653118" y="584264"/>
                      <a:pt x="6649022" y="585978"/>
                    </a:cubicBezTo>
                    <a:cubicBezTo>
                      <a:pt x="6644831" y="587693"/>
                      <a:pt x="6645783" y="595503"/>
                      <a:pt x="6645783" y="595503"/>
                    </a:cubicBezTo>
                    <a:cubicBezTo>
                      <a:pt x="6645783" y="601123"/>
                      <a:pt x="6629305" y="615696"/>
                      <a:pt x="6629305" y="615696"/>
                    </a:cubicBezTo>
                    <a:cubicBezTo>
                      <a:pt x="6617017" y="635984"/>
                      <a:pt x="6601968" y="635889"/>
                      <a:pt x="6581013" y="631889"/>
                    </a:cubicBezTo>
                    <a:cubicBezTo>
                      <a:pt x="6567202" y="629222"/>
                      <a:pt x="6543771" y="609314"/>
                      <a:pt x="6538341" y="614458"/>
                    </a:cubicBezTo>
                    <a:cubicBezTo>
                      <a:pt x="6531483" y="620935"/>
                      <a:pt x="6537389" y="620363"/>
                      <a:pt x="6528626" y="621506"/>
                    </a:cubicBezTo>
                    <a:cubicBezTo>
                      <a:pt x="6519768" y="622649"/>
                      <a:pt x="6519482" y="619030"/>
                      <a:pt x="6515100" y="616744"/>
                    </a:cubicBezTo>
                    <a:cubicBezTo>
                      <a:pt x="6510719" y="614458"/>
                      <a:pt x="6507480" y="616744"/>
                      <a:pt x="6503099" y="614458"/>
                    </a:cubicBezTo>
                    <a:cubicBezTo>
                      <a:pt x="6498717" y="612172"/>
                      <a:pt x="6497479" y="609886"/>
                      <a:pt x="6491955" y="605409"/>
                    </a:cubicBezTo>
                    <a:cubicBezTo>
                      <a:pt x="6486430" y="600932"/>
                      <a:pt x="6483287" y="598551"/>
                      <a:pt x="6479953" y="596360"/>
                    </a:cubicBezTo>
                    <a:cubicBezTo>
                      <a:pt x="6476619" y="594074"/>
                      <a:pt x="6463665" y="589883"/>
                      <a:pt x="6463665" y="589883"/>
                    </a:cubicBezTo>
                    <a:cubicBezTo>
                      <a:pt x="6463665" y="589883"/>
                      <a:pt x="6466046" y="609410"/>
                      <a:pt x="6464903" y="612839"/>
                    </a:cubicBezTo>
                    <a:cubicBezTo>
                      <a:pt x="6463856" y="616172"/>
                      <a:pt x="6451759" y="624173"/>
                      <a:pt x="6449473" y="627507"/>
                    </a:cubicBezTo>
                    <a:cubicBezTo>
                      <a:pt x="6447282" y="630841"/>
                      <a:pt x="6448425" y="626364"/>
                      <a:pt x="6445091" y="637604"/>
                    </a:cubicBezTo>
                    <a:cubicBezTo>
                      <a:pt x="6441758" y="648843"/>
                      <a:pt x="6440615" y="651034"/>
                      <a:pt x="6435090" y="656654"/>
                    </a:cubicBezTo>
                    <a:cubicBezTo>
                      <a:pt x="6429566" y="662273"/>
                      <a:pt x="6412040" y="681609"/>
                      <a:pt x="6397657" y="683895"/>
                    </a:cubicBezTo>
                    <a:cubicBezTo>
                      <a:pt x="6383274" y="686181"/>
                      <a:pt x="6368796" y="696182"/>
                      <a:pt x="6353271" y="692849"/>
                    </a:cubicBezTo>
                    <a:cubicBezTo>
                      <a:pt x="6337840" y="689420"/>
                      <a:pt x="6329077" y="689324"/>
                      <a:pt x="6321362" y="688277"/>
                    </a:cubicBezTo>
                    <a:cubicBezTo>
                      <a:pt x="6313646" y="687133"/>
                      <a:pt x="6297168" y="688277"/>
                      <a:pt x="6297168" y="688277"/>
                    </a:cubicBezTo>
                    <a:cubicBezTo>
                      <a:pt x="6297168" y="688277"/>
                      <a:pt x="6284309" y="673703"/>
                      <a:pt x="6275832" y="673894"/>
                    </a:cubicBezTo>
                    <a:cubicBezTo>
                      <a:pt x="6268022" y="673989"/>
                      <a:pt x="6256782" y="677704"/>
                      <a:pt x="6256782" y="687896"/>
                    </a:cubicBezTo>
                    <a:cubicBezTo>
                      <a:pt x="6256782" y="698087"/>
                      <a:pt x="6255830" y="735235"/>
                      <a:pt x="6258021" y="749903"/>
                    </a:cubicBezTo>
                    <a:cubicBezTo>
                      <a:pt x="6260211" y="764572"/>
                      <a:pt x="6263926" y="780955"/>
                      <a:pt x="6269450" y="790004"/>
                    </a:cubicBezTo>
                    <a:cubicBezTo>
                      <a:pt x="6271165" y="792766"/>
                      <a:pt x="6281643" y="806482"/>
                      <a:pt x="6284691" y="812483"/>
                    </a:cubicBezTo>
                    <a:cubicBezTo>
                      <a:pt x="6291548" y="826008"/>
                      <a:pt x="6292596" y="839153"/>
                      <a:pt x="6292596" y="839153"/>
                    </a:cubicBezTo>
                    <a:lnTo>
                      <a:pt x="6292311" y="854583"/>
                    </a:lnTo>
                    <a:lnTo>
                      <a:pt x="6288596" y="873347"/>
                    </a:lnTo>
                    <a:cubicBezTo>
                      <a:pt x="6285071" y="871823"/>
                      <a:pt x="6281928" y="861060"/>
                      <a:pt x="6281928" y="861060"/>
                    </a:cubicBezTo>
                    <a:lnTo>
                      <a:pt x="6275546" y="858488"/>
                    </a:lnTo>
                    <a:lnTo>
                      <a:pt x="6269070" y="860965"/>
                    </a:lnTo>
                    <a:lnTo>
                      <a:pt x="6257735" y="867061"/>
                    </a:lnTo>
                    <a:lnTo>
                      <a:pt x="6236875" y="865632"/>
                    </a:lnTo>
                    <a:lnTo>
                      <a:pt x="6226969" y="815912"/>
                    </a:lnTo>
                    <a:lnTo>
                      <a:pt x="6204776" y="770192"/>
                    </a:lnTo>
                    <a:lnTo>
                      <a:pt x="6178487" y="752189"/>
                    </a:lnTo>
                    <a:lnTo>
                      <a:pt x="6151245" y="742950"/>
                    </a:lnTo>
                    <a:lnTo>
                      <a:pt x="6121623" y="704469"/>
                    </a:lnTo>
                    <a:lnTo>
                      <a:pt x="6102667" y="676085"/>
                    </a:lnTo>
                    <a:lnTo>
                      <a:pt x="6103525" y="650748"/>
                    </a:lnTo>
                    <a:lnTo>
                      <a:pt x="6083332" y="628269"/>
                    </a:lnTo>
                    <a:cubicBezTo>
                      <a:pt x="6083332" y="628269"/>
                      <a:pt x="6053900" y="617696"/>
                      <a:pt x="6042755" y="627793"/>
                    </a:cubicBezTo>
                    <a:cubicBezTo>
                      <a:pt x="6008751" y="658940"/>
                      <a:pt x="5978748" y="686467"/>
                      <a:pt x="5978748" y="686467"/>
                    </a:cubicBezTo>
                    <a:cubicBezTo>
                      <a:pt x="5978748" y="686467"/>
                      <a:pt x="5957126" y="725329"/>
                      <a:pt x="5963793" y="752380"/>
                    </a:cubicBezTo>
                    <a:cubicBezTo>
                      <a:pt x="5970366" y="779431"/>
                      <a:pt x="6005322" y="894398"/>
                      <a:pt x="6005322" y="894398"/>
                    </a:cubicBezTo>
                    <a:cubicBezTo>
                      <a:pt x="6005322" y="894398"/>
                      <a:pt x="6021896" y="928307"/>
                      <a:pt x="6053328" y="928307"/>
                    </a:cubicBezTo>
                    <a:cubicBezTo>
                      <a:pt x="6084761" y="928307"/>
                      <a:pt x="6154483" y="934974"/>
                      <a:pt x="6154483" y="934974"/>
                    </a:cubicBezTo>
                    <a:cubicBezTo>
                      <a:pt x="6154483" y="934974"/>
                      <a:pt x="6187440" y="931545"/>
                      <a:pt x="6197441" y="919734"/>
                    </a:cubicBezTo>
                    <a:cubicBezTo>
                      <a:pt x="6207348" y="907923"/>
                      <a:pt x="6212396" y="894493"/>
                      <a:pt x="6222302" y="887730"/>
                    </a:cubicBezTo>
                    <a:cubicBezTo>
                      <a:pt x="6232208" y="880967"/>
                      <a:pt x="6237351" y="877538"/>
                      <a:pt x="6252210" y="880967"/>
                    </a:cubicBezTo>
                    <a:cubicBezTo>
                      <a:pt x="6267069" y="884396"/>
                      <a:pt x="6276880" y="889540"/>
                      <a:pt x="6270308" y="898017"/>
                    </a:cubicBezTo>
                    <a:cubicBezTo>
                      <a:pt x="6263640" y="906494"/>
                      <a:pt x="6258687" y="924020"/>
                      <a:pt x="6251258" y="934212"/>
                    </a:cubicBezTo>
                    <a:cubicBezTo>
                      <a:pt x="6243828" y="944404"/>
                      <a:pt x="6249639" y="958882"/>
                      <a:pt x="6253830" y="963930"/>
                    </a:cubicBezTo>
                    <a:cubicBezTo>
                      <a:pt x="6257925" y="968978"/>
                      <a:pt x="6259545" y="963073"/>
                      <a:pt x="6262878" y="974027"/>
                    </a:cubicBezTo>
                    <a:cubicBezTo>
                      <a:pt x="6266212" y="984980"/>
                      <a:pt x="6267069" y="991743"/>
                      <a:pt x="6267069" y="991743"/>
                    </a:cubicBezTo>
                    <a:cubicBezTo>
                      <a:pt x="6267069" y="991743"/>
                      <a:pt x="6264592" y="1012031"/>
                      <a:pt x="6252972" y="1017080"/>
                    </a:cubicBezTo>
                    <a:cubicBezTo>
                      <a:pt x="6241352" y="1022128"/>
                      <a:pt x="6204966" y="1038225"/>
                      <a:pt x="6175153" y="1036510"/>
                    </a:cubicBezTo>
                    <a:cubicBezTo>
                      <a:pt x="6145340" y="1034796"/>
                      <a:pt x="6088190" y="1032129"/>
                      <a:pt x="6083237" y="1031367"/>
                    </a:cubicBezTo>
                    <a:cubicBezTo>
                      <a:pt x="6078283" y="1030510"/>
                      <a:pt x="6060377" y="1032320"/>
                      <a:pt x="6061234" y="1048417"/>
                    </a:cubicBezTo>
                    <a:cubicBezTo>
                      <a:pt x="6062091" y="1064514"/>
                      <a:pt x="6072473" y="1080516"/>
                      <a:pt x="6076664" y="1099185"/>
                    </a:cubicBezTo>
                    <a:cubicBezTo>
                      <a:pt x="6084951" y="1136428"/>
                      <a:pt x="6113050" y="1182815"/>
                      <a:pt x="6122099" y="1195483"/>
                    </a:cubicBezTo>
                    <a:cubicBezTo>
                      <a:pt x="6131242" y="1208151"/>
                      <a:pt x="6198013" y="1283780"/>
                      <a:pt x="6218682" y="1304068"/>
                    </a:cubicBezTo>
                    <a:cubicBezTo>
                      <a:pt x="6220587" y="1302163"/>
                      <a:pt x="6232970" y="1292924"/>
                      <a:pt x="6227159" y="1291209"/>
                    </a:cubicBezTo>
                    <a:cubicBezTo>
                      <a:pt x="6203824" y="1284542"/>
                      <a:pt x="6142387" y="1212056"/>
                      <a:pt x="6111812" y="1156716"/>
                    </a:cubicBezTo>
                    <a:cubicBezTo>
                      <a:pt x="6094952" y="1126236"/>
                      <a:pt x="6083999" y="1091946"/>
                      <a:pt x="6083999" y="1091946"/>
                    </a:cubicBezTo>
                    <a:lnTo>
                      <a:pt x="6070283" y="1043654"/>
                    </a:lnTo>
                    <a:lnTo>
                      <a:pt x="6081332" y="1044988"/>
                    </a:lnTo>
                    <a:lnTo>
                      <a:pt x="6094191" y="1067943"/>
                    </a:lnTo>
                    <a:lnTo>
                      <a:pt x="6120575" y="1083659"/>
                    </a:lnTo>
                    <a:lnTo>
                      <a:pt x="6135243" y="1077849"/>
                    </a:lnTo>
                    <a:lnTo>
                      <a:pt x="6156389" y="1077278"/>
                    </a:lnTo>
                    <a:lnTo>
                      <a:pt x="6159056" y="1100614"/>
                    </a:lnTo>
                    <a:lnTo>
                      <a:pt x="6174486" y="1116521"/>
                    </a:lnTo>
                    <a:lnTo>
                      <a:pt x="6188488" y="1120712"/>
                    </a:lnTo>
                    <a:lnTo>
                      <a:pt x="6190012" y="1108139"/>
                    </a:lnTo>
                    <a:lnTo>
                      <a:pt x="6170105" y="1077849"/>
                    </a:lnTo>
                    <a:lnTo>
                      <a:pt x="6190584" y="1055751"/>
                    </a:lnTo>
                    <a:lnTo>
                      <a:pt x="6201632" y="1059942"/>
                    </a:lnTo>
                    <a:lnTo>
                      <a:pt x="6214015" y="1063371"/>
                    </a:lnTo>
                    <a:cubicBezTo>
                      <a:pt x="6246495" y="1051084"/>
                      <a:pt x="6280976" y="1040892"/>
                      <a:pt x="6295263" y="1010031"/>
                    </a:cubicBezTo>
                    <a:lnTo>
                      <a:pt x="6331173" y="1016222"/>
                    </a:lnTo>
                    <a:lnTo>
                      <a:pt x="6346699" y="1020794"/>
                    </a:lnTo>
                    <a:lnTo>
                      <a:pt x="6359081" y="1031272"/>
                    </a:lnTo>
                    <a:lnTo>
                      <a:pt x="6381369" y="1063752"/>
                    </a:lnTo>
                    <a:lnTo>
                      <a:pt x="6393275" y="1095470"/>
                    </a:lnTo>
                    <a:lnTo>
                      <a:pt x="6393275" y="1127474"/>
                    </a:lnTo>
                    <a:lnTo>
                      <a:pt x="6420136" y="1130332"/>
                    </a:lnTo>
                    <a:lnTo>
                      <a:pt x="6433661" y="1140809"/>
                    </a:lnTo>
                    <a:lnTo>
                      <a:pt x="6457950" y="1137095"/>
                    </a:lnTo>
                    <a:lnTo>
                      <a:pt x="6507671" y="1139000"/>
                    </a:lnTo>
                    <a:cubicBezTo>
                      <a:pt x="6507671" y="1139000"/>
                      <a:pt x="6516243" y="1150144"/>
                      <a:pt x="6534531" y="1142429"/>
                    </a:cubicBezTo>
                    <a:cubicBezTo>
                      <a:pt x="6552724" y="1134809"/>
                      <a:pt x="6621399" y="1100804"/>
                      <a:pt x="6621399" y="1100804"/>
                    </a:cubicBezTo>
                    <a:cubicBezTo>
                      <a:pt x="6621399" y="1100804"/>
                      <a:pt x="6635306" y="1093184"/>
                      <a:pt x="6645021" y="1096518"/>
                    </a:cubicBezTo>
                    <a:cubicBezTo>
                      <a:pt x="6654641" y="1099852"/>
                      <a:pt x="6671882" y="1098709"/>
                      <a:pt x="6685788" y="1098709"/>
                    </a:cubicBezTo>
                    <a:cubicBezTo>
                      <a:pt x="6699695" y="1098709"/>
                      <a:pt x="6707124" y="1097471"/>
                      <a:pt x="6710363" y="1093089"/>
                    </a:cubicBezTo>
                    <a:cubicBezTo>
                      <a:pt x="6713601" y="1088708"/>
                      <a:pt x="6717983" y="1077944"/>
                      <a:pt x="6717983" y="1077944"/>
                    </a:cubicBezTo>
                    <a:cubicBezTo>
                      <a:pt x="6717983" y="1077944"/>
                      <a:pt x="6734080" y="1070229"/>
                      <a:pt x="6770561" y="1060323"/>
                    </a:cubicBezTo>
                    <a:cubicBezTo>
                      <a:pt x="6807041" y="1050512"/>
                      <a:pt x="6856381" y="1035177"/>
                      <a:pt x="6868192" y="1025271"/>
                    </a:cubicBezTo>
                    <a:cubicBezTo>
                      <a:pt x="6880003" y="1015365"/>
                      <a:pt x="6924961" y="984790"/>
                      <a:pt x="6924961" y="984790"/>
                    </a:cubicBezTo>
                    <a:cubicBezTo>
                      <a:pt x="6924961" y="984790"/>
                      <a:pt x="6933534" y="974884"/>
                      <a:pt x="6946392" y="968312"/>
                    </a:cubicBezTo>
                    <a:cubicBezTo>
                      <a:pt x="6959251" y="961739"/>
                      <a:pt x="7012877" y="946499"/>
                      <a:pt x="7022497" y="945356"/>
                    </a:cubicBezTo>
                    <a:cubicBezTo>
                      <a:pt x="7032117" y="944308"/>
                      <a:pt x="7053548" y="940880"/>
                      <a:pt x="7053548" y="940880"/>
                    </a:cubicBezTo>
                    <a:lnTo>
                      <a:pt x="7065265" y="938689"/>
                    </a:lnTo>
                    <a:lnTo>
                      <a:pt x="7070599" y="954596"/>
                    </a:lnTo>
                    <a:cubicBezTo>
                      <a:pt x="7070599" y="954596"/>
                      <a:pt x="7064121" y="959549"/>
                      <a:pt x="7059835" y="958501"/>
                    </a:cubicBezTo>
                    <a:cubicBezTo>
                      <a:pt x="7055549" y="957453"/>
                      <a:pt x="7051262" y="957358"/>
                      <a:pt x="7032975" y="962787"/>
                    </a:cubicBezTo>
                    <a:cubicBezTo>
                      <a:pt x="7014782" y="968216"/>
                      <a:pt x="7006209" y="971455"/>
                      <a:pt x="6984778" y="974789"/>
                    </a:cubicBezTo>
                    <a:cubicBezTo>
                      <a:pt x="6963347" y="978027"/>
                      <a:pt x="6967633" y="977170"/>
                      <a:pt x="6959061" y="983742"/>
                    </a:cubicBezTo>
                    <a:cubicBezTo>
                      <a:pt x="6950488" y="990314"/>
                      <a:pt x="6950392" y="991362"/>
                      <a:pt x="6940677" y="995744"/>
                    </a:cubicBezTo>
                    <a:cubicBezTo>
                      <a:pt x="6931057" y="1000125"/>
                      <a:pt x="6908674" y="1013174"/>
                      <a:pt x="6906482" y="1016508"/>
                    </a:cubicBezTo>
                    <a:cubicBezTo>
                      <a:pt x="6904292" y="1019747"/>
                      <a:pt x="6879622" y="1045940"/>
                      <a:pt x="6872193" y="1047083"/>
                    </a:cubicBezTo>
                    <a:cubicBezTo>
                      <a:pt x="6864667" y="1048226"/>
                      <a:pt x="6815423" y="1066991"/>
                      <a:pt x="6797231" y="1072420"/>
                    </a:cubicBezTo>
                    <a:cubicBezTo>
                      <a:pt x="6779038" y="1077944"/>
                      <a:pt x="6763989" y="1074515"/>
                      <a:pt x="6752177" y="1082231"/>
                    </a:cubicBezTo>
                    <a:cubicBezTo>
                      <a:pt x="6740366" y="1089851"/>
                      <a:pt x="6739223" y="1096423"/>
                      <a:pt x="6729603" y="1100804"/>
                    </a:cubicBezTo>
                    <a:cubicBezTo>
                      <a:pt x="6719983" y="1105186"/>
                      <a:pt x="6720936" y="1109567"/>
                      <a:pt x="6709125" y="1109567"/>
                    </a:cubicBezTo>
                    <a:cubicBezTo>
                      <a:pt x="6697314" y="1109567"/>
                      <a:pt x="6691122" y="1111758"/>
                      <a:pt x="6681407" y="1115092"/>
                    </a:cubicBezTo>
                    <a:cubicBezTo>
                      <a:pt x="6671786" y="1118426"/>
                      <a:pt x="6660833" y="1118426"/>
                      <a:pt x="6656546" y="1118426"/>
                    </a:cubicBezTo>
                    <a:cubicBezTo>
                      <a:pt x="6652260" y="1118426"/>
                      <a:pt x="6647117" y="1112806"/>
                      <a:pt x="6647117" y="1112806"/>
                    </a:cubicBezTo>
                    <a:cubicBezTo>
                      <a:pt x="6647117" y="1112806"/>
                      <a:pt x="6642735" y="1107377"/>
                      <a:pt x="6640640" y="1110615"/>
                    </a:cubicBezTo>
                    <a:cubicBezTo>
                      <a:pt x="6638544" y="1113949"/>
                      <a:pt x="6640449" y="1117283"/>
                      <a:pt x="6629781" y="1117283"/>
                    </a:cubicBezTo>
                    <a:cubicBezTo>
                      <a:pt x="6619113" y="1117283"/>
                      <a:pt x="6613875" y="1123855"/>
                      <a:pt x="6609588" y="1127093"/>
                    </a:cubicBezTo>
                    <a:cubicBezTo>
                      <a:pt x="6605302" y="1130427"/>
                      <a:pt x="6549581" y="1165289"/>
                      <a:pt x="6549581" y="1165289"/>
                    </a:cubicBezTo>
                    <a:cubicBezTo>
                      <a:pt x="6549581" y="1165289"/>
                      <a:pt x="6534436" y="1174147"/>
                      <a:pt x="6529102" y="1169765"/>
                    </a:cubicBezTo>
                    <a:cubicBezTo>
                      <a:pt x="6523768" y="1165384"/>
                      <a:pt x="6507671" y="1158907"/>
                      <a:pt x="6498050" y="1154525"/>
                    </a:cubicBezTo>
                    <a:cubicBezTo>
                      <a:pt x="6491955" y="1151763"/>
                      <a:pt x="6462141" y="1155478"/>
                      <a:pt x="6439853" y="1158716"/>
                    </a:cubicBezTo>
                    <a:lnTo>
                      <a:pt x="6438710" y="1171099"/>
                    </a:lnTo>
                    <a:lnTo>
                      <a:pt x="6478810" y="1216343"/>
                    </a:lnTo>
                    <a:lnTo>
                      <a:pt x="6517100" y="1273969"/>
                    </a:lnTo>
                    <a:lnTo>
                      <a:pt x="6500432" y="1302639"/>
                    </a:lnTo>
                    <a:lnTo>
                      <a:pt x="6530816" y="1306640"/>
                    </a:lnTo>
                    <a:lnTo>
                      <a:pt x="6553391" y="1316831"/>
                    </a:lnTo>
                    <a:lnTo>
                      <a:pt x="6549390" y="1325594"/>
                    </a:lnTo>
                    <a:lnTo>
                      <a:pt x="6570250" y="1337882"/>
                    </a:lnTo>
                    <a:lnTo>
                      <a:pt x="6570917" y="1354455"/>
                    </a:lnTo>
                    <a:lnTo>
                      <a:pt x="6593396" y="1368552"/>
                    </a:lnTo>
                    <a:lnTo>
                      <a:pt x="6609493" y="1397699"/>
                    </a:lnTo>
                    <a:lnTo>
                      <a:pt x="6599492" y="1415891"/>
                    </a:lnTo>
                    <a:lnTo>
                      <a:pt x="6622542" y="1423226"/>
                    </a:lnTo>
                    <a:lnTo>
                      <a:pt x="6625400" y="1409224"/>
                    </a:lnTo>
                    <a:lnTo>
                      <a:pt x="6802755" y="1346930"/>
                    </a:lnTo>
                    <a:lnTo>
                      <a:pt x="6835236" y="1334357"/>
                    </a:lnTo>
                    <a:lnTo>
                      <a:pt x="6868002" y="1327023"/>
                    </a:lnTo>
                    <a:lnTo>
                      <a:pt x="6890576" y="1296924"/>
                    </a:lnTo>
                    <a:lnTo>
                      <a:pt x="6928866" y="1292352"/>
                    </a:lnTo>
                    <a:lnTo>
                      <a:pt x="6948488" y="1284446"/>
                    </a:lnTo>
                    <a:lnTo>
                      <a:pt x="6967157" y="1270063"/>
                    </a:lnTo>
                    <a:lnTo>
                      <a:pt x="6989445" y="1264253"/>
                    </a:lnTo>
                    <a:lnTo>
                      <a:pt x="6998875" y="1260348"/>
                    </a:lnTo>
                    <a:lnTo>
                      <a:pt x="7012305" y="1261777"/>
                    </a:lnTo>
                    <a:lnTo>
                      <a:pt x="7024878" y="1238536"/>
                    </a:lnTo>
                    <a:lnTo>
                      <a:pt x="7026307" y="1210151"/>
                    </a:lnTo>
                    <a:lnTo>
                      <a:pt x="7018211" y="1199960"/>
                    </a:lnTo>
                    <a:lnTo>
                      <a:pt x="7022592" y="1159288"/>
                    </a:lnTo>
                    <a:lnTo>
                      <a:pt x="7030689" y="1133475"/>
                    </a:lnTo>
                    <a:lnTo>
                      <a:pt x="7043833" y="1086231"/>
                    </a:lnTo>
                    <a:lnTo>
                      <a:pt x="7048024" y="1048417"/>
                    </a:lnTo>
                    <a:lnTo>
                      <a:pt x="7064407" y="994315"/>
                    </a:lnTo>
                    <a:lnTo>
                      <a:pt x="7076599" y="965740"/>
                    </a:lnTo>
                    <a:lnTo>
                      <a:pt x="7105269" y="971645"/>
                    </a:lnTo>
                    <a:cubicBezTo>
                      <a:pt x="7157847" y="1008983"/>
                      <a:pt x="7125843" y="1106519"/>
                      <a:pt x="7111651" y="1142619"/>
                    </a:cubicBezTo>
                    <a:cubicBezTo>
                      <a:pt x="7108222" y="1151192"/>
                      <a:pt x="7106031" y="1156430"/>
                      <a:pt x="7106031" y="1156430"/>
                    </a:cubicBezTo>
                    <a:cubicBezTo>
                      <a:pt x="7106031" y="1156430"/>
                      <a:pt x="7099745" y="1175195"/>
                      <a:pt x="7081647" y="1201007"/>
                    </a:cubicBezTo>
                    <a:cubicBezTo>
                      <a:pt x="7058502" y="1233869"/>
                      <a:pt x="7013067" y="1280255"/>
                      <a:pt x="6981349" y="1381982"/>
                    </a:cubicBezTo>
                    <a:cubicBezTo>
                      <a:pt x="6973348" y="1407700"/>
                      <a:pt x="6964585" y="1432941"/>
                      <a:pt x="6957346" y="1458944"/>
                    </a:cubicBezTo>
                    <a:cubicBezTo>
                      <a:pt x="6949345" y="1487710"/>
                      <a:pt x="6947916" y="1517237"/>
                      <a:pt x="6940677" y="1546193"/>
                    </a:cubicBezTo>
                    <a:cubicBezTo>
                      <a:pt x="6935248" y="1567910"/>
                      <a:pt x="6926961" y="1588961"/>
                      <a:pt x="6924199" y="1611249"/>
                    </a:cubicBezTo>
                    <a:cubicBezTo>
                      <a:pt x="6922484" y="1624489"/>
                      <a:pt x="6923627" y="1638014"/>
                      <a:pt x="6924104" y="1651349"/>
                    </a:cubicBezTo>
                    <a:cubicBezTo>
                      <a:pt x="6924675" y="1667828"/>
                      <a:pt x="6924104" y="1684401"/>
                      <a:pt x="6927818" y="1700498"/>
                    </a:cubicBezTo>
                    <a:cubicBezTo>
                      <a:pt x="6932867" y="1722882"/>
                      <a:pt x="6942296" y="1742980"/>
                      <a:pt x="6952488" y="1764792"/>
                    </a:cubicBezTo>
                    <a:cubicBezTo>
                      <a:pt x="6967157" y="1796034"/>
                      <a:pt x="7002208" y="1859756"/>
                      <a:pt x="7002208" y="1859756"/>
                    </a:cubicBezTo>
                    <a:lnTo>
                      <a:pt x="7066312" y="1948815"/>
                    </a:lnTo>
                    <a:lnTo>
                      <a:pt x="7073646" y="1963388"/>
                    </a:lnTo>
                    <a:lnTo>
                      <a:pt x="7070408" y="1982153"/>
                    </a:lnTo>
                    <a:lnTo>
                      <a:pt x="7055167" y="1992630"/>
                    </a:lnTo>
                    <a:lnTo>
                      <a:pt x="7037356" y="1991011"/>
                    </a:lnTo>
                    <a:lnTo>
                      <a:pt x="6903434" y="1878711"/>
                    </a:lnTo>
                    <a:lnTo>
                      <a:pt x="6897053" y="1885950"/>
                    </a:lnTo>
                    <a:lnTo>
                      <a:pt x="7032879" y="1997964"/>
                    </a:lnTo>
                    <a:cubicBezTo>
                      <a:pt x="7032879" y="1997964"/>
                      <a:pt x="7049357" y="2016443"/>
                      <a:pt x="7067646" y="2004632"/>
                    </a:cubicBezTo>
                    <a:cubicBezTo>
                      <a:pt x="7111365" y="1982248"/>
                      <a:pt x="7062978" y="1922812"/>
                      <a:pt x="7027641" y="1870234"/>
                    </a:cubicBezTo>
                    <a:cubicBezTo>
                      <a:pt x="7004018" y="1834991"/>
                      <a:pt x="6988398" y="1800987"/>
                      <a:pt x="6975062" y="1780413"/>
                    </a:cubicBezTo>
                    <a:cubicBezTo>
                      <a:pt x="6965157" y="1765173"/>
                      <a:pt x="6943630" y="1716977"/>
                      <a:pt x="6936962" y="1666684"/>
                    </a:cubicBezTo>
                    <a:cubicBezTo>
                      <a:pt x="6934772" y="1650016"/>
                      <a:pt x="6934677" y="1626965"/>
                      <a:pt x="6937534" y="1613059"/>
                    </a:cubicBezTo>
                    <a:cubicBezTo>
                      <a:pt x="6949155" y="1557242"/>
                      <a:pt x="6987255" y="1356932"/>
                      <a:pt x="7023640" y="1304544"/>
                    </a:cubicBezTo>
                    <a:cubicBezTo>
                      <a:pt x="7052596" y="1260158"/>
                      <a:pt x="7118604" y="1175099"/>
                      <a:pt x="7137750" y="1091470"/>
                    </a:cubicBezTo>
                    <a:cubicBezTo>
                      <a:pt x="7146989" y="1051084"/>
                      <a:pt x="7147084" y="999458"/>
                      <a:pt x="7120700" y="974217"/>
                    </a:cubicBezTo>
                    <a:cubicBezTo>
                      <a:pt x="7109079" y="965740"/>
                      <a:pt x="7105841" y="962311"/>
                      <a:pt x="7097554" y="958977"/>
                    </a:cubicBezTo>
                    <a:cubicBezTo>
                      <a:pt x="7089267" y="955548"/>
                      <a:pt x="7082028" y="968788"/>
                      <a:pt x="7075361" y="955262"/>
                    </a:cubicBezTo>
                    <a:cubicBezTo>
                      <a:pt x="7068693" y="941737"/>
                      <a:pt x="7070312" y="943451"/>
                      <a:pt x="7076885" y="936689"/>
                    </a:cubicBezTo>
                    <a:cubicBezTo>
                      <a:pt x="7083552" y="929926"/>
                      <a:pt x="7095173" y="917639"/>
                      <a:pt x="7093553" y="909161"/>
                    </a:cubicBezTo>
                    <a:cubicBezTo>
                      <a:pt x="7091934" y="900684"/>
                      <a:pt x="7075456" y="866870"/>
                      <a:pt x="7068883" y="851630"/>
                    </a:cubicBezTo>
                    <a:cubicBezTo>
                      <a:pt x="7062216" y="836390"/>
                      <a:pt x="7054882" y="830485"/>
                      <a:pt x="7048310" y="813530"/>
                    </a:cubicBezTo>
                    <a:cubicBezTo>
                      <a:pt x="7041642" y="796576"/>
                      <a:pt x="7026307" y="775049"/>
                      <a:pt x="7009734" y="768287"/>
                    </a:cubicBezTo>
                    <a:cubicBezTo>
                      <a:pt x="6993160" y="761524"/>
                      <a:pt x="6987540" y="750665"/>
                      <a:pt x="6972586" y="743903"/>
                    </a:cubicBezTo>
                    <a:cubicBezTo>
                      <a:pt x="6957632" y="737140"/>
                      <a:pt x="6957632" y="727615"/>
                      <a:pt x="6941058" y="714089"/>
                    </a:cubicBezTo>
                    <a:cubicBezTo>
                      <a:pt x="6924485" y="700564"/>
                      <a:pt x="6916198" y="691420"/>
                      <a:pt x="6904577" y="684657"/>
                    </a:cubicBezTo>
                    <a:cubicBezTo>
                      <a:pt x="6892957" y="677894"/>
                      <a:pt x="6898100" y="674560"/>
                      <a:pt x="6879908" y="667798"/>
                    </a:cubicBezTo>
                    <a:cubicBezTo>
                      <a:pt x="6861715" y="661035"/>
                      <a:pt x="6868287" y="659225"/>
                      <a:pt x="6843427" y="650748"/>
                    </a:cubicBezTo>
                    <a:cubicBezTo>
                      <a:pt x="6818567" y="642271"/>
                      <a:pt x="6807517" y="635603"/>
                      <a:pt x="6792564" y="627126"/>
                    </a:cubicBezTo>
                    <a:cubicBezTo>
                      <a:pt x="6777609" y="618649"/>
                      <a:pt x="6767227" y="615410"/>
                      <a:pt x="6753987" y="613696"/>
                    </a:cubicBezTo>
                    <a:cubicBezTo>
                      <a:pt x="6740748" y="611981"/>
                      <a:pt x="6738843" y="609219"/>
                      <a:pt x="6727317" y="600742"/>
                    </a:cubicBezTo>
                    <a:cubicBezTo>
                      <a:pt x="6715697" y="592265"/>
                      <a:pt x="6719221" y="597599"/>
                      <a:pt x="6705981" y="590836"/>
                    </a:cubicBezTo>
                    <a:cubicBezTo>
                      <a:pt x="6692741" y="584073"/>
                      <a:pt x="6689217" y="583216"/>
                      <a:pt x="6674358" y="584930"/>
                    </a:cubicBezTo>
                    <a:lnTo>
                      <a:pt x="6659690" y="584168"/>
                    </a:lnTo>
                    <a:close/>
                    <a:moveTo>
                      <a:pt x="1147001" y="619411"/>
                    </a:moveTo>
                    <a:cubicBezTo>
                      <a:pt x="1149287" y="619030"/>
                      <a:pt x="1151668" y="620554"/>
                      <a:pt x="1151668" y="620554"/>
                    </a:cubicBezTo>
                    <a:lnTo>
                      <a:pt x="1155859" y="625697"/>
                    </a:lnTo>
                    <a:cubicBezTo>
                      <a:pt x="1155859" y="625697"/>
                      <a:pt x="1155764" y="629983"/>
                      <a:pt x="1160812" y="632651"/>
                    </a:cubicBezTo>
                    <a:cubicBezTo>
                      <a:pt x="1165860" y="635222"/>
                      <a:pt x="1168718" y="635222"/>
                      <a:pt x="1171289" y="634365"/>
                    </a:cubicBezTo>
                    <a:cubicBezTo>
                      <a:pt x="1173861" y="633508"/>
                      <a:pt x="1177957" y="629222"/>
                      <a:pt x="1177957" y="629222"/>
                    </a:cubicBezTo>
                    <a:lnTo>
                      <a:pt x="1184720" y="624935"/>
                    </a:lnTo>
                    <a:cubicBezTo>
                      <a:pt x="1184720" y="624935"/>
                      <a:pt x="1183862" y="617982"/>
                      <a:pt x="1188911" y="621506"/>
                    </a:cubicBezTo>
                    <a:cubicBezTo>
                      <a:pt x="1193959" y="624935"/>
                      <a:pt x="1193102" y="624935"/>
                      <a:pt x="1196531" y="630174"/>
                    </a:cubicBezTo>
                    <a:cubicBezTo>
                      <a:pt x="1199960" y="635318"/>
                      <a:pt x="1207580" y="638937"/>
                      <a:pt x="1207580" y="638937"/>
                    </a:cubicBezTo>
                    <a:cubicBezTo>
                      <a:pt x="1207580" y="638937"/>
                      <a:pt x="1210151" y="639699"/>
                      <a:pt x="1211009" y="644843"/>
                    </a:cubicBezTo>
                    <a:cubicBezTo>
                      <a:pt x="1211866" y="650081"/>
                      <a:pt x="1213676" y="650939"/>
                      <a:pt x="1217962" y="649986"/>
                    </a:cubicBezTo>
                    <a:cubicBezTo>
                      <a:pt x="1222153" y="649129"/>
                      <a:pt x="1227106" y="643033"/>
                      <a:pt x="1227106" y="643033"/>
                    </a:cubicBezTo>
                    <a:cubicBezTo>
                      <a:pt x="1227106" y="643033"/>
                      <a:pt x="1227963" y="640461"/>
                      <a:pt x="1233869" y="640461"/>
                    </a:cubicBezTo>
                    <a:cubicBezTo>
                      <a:pt x="1239774" y="640461"/>
                      <a:pt x="1240631" y="637985"/>
                      <a:pt x="1241489" y="644081"/>
                    </a:cubicBezTo>
                    <a:cubicBezTo>
                      <a:pt x="1242346" y="650177"/>
                      <a:pt x="1245013" y="651701"/>
                      <a:pt x="1247585" y="653415"/>
                    </a:cubicBezTo>
                    <a:lnTo>
                      <a:pt x="1250156" y="655130"/>
                    </a:lnTo>
                    <a:lnTo>
                      <a:pt x="1261491" y="652082"/>
                    </a:lnTo>
                    <a:lnTo>
                      <a:pt x="1269397" y="648462"/>
                    </a:lnTo>
                    <a:lnTo>
                      <a:pt x="1280732" y="641509"/>
                    </a:lnTo>
                    <a:cubicBezTo>
                      <a:pt x="1280732" y="641509"/>
                      <a:pt x="1284161" y="634556"/>
                      <a:pt x="1287494" y="638080"/>
                    </a:cubicBezTo>
                    <a:cubicBezTo>
                      <a:pt x="1290923" y="641509"/>
                      <a:pt x="1296543" y="646176"/>
                      <a:pt x="1294257" y="650748"/>
                    </a:cubicBezTo>
                    <a:cubicBezTo>
                      <a:pt x="1291971" y="655415"/>
                      <a:pt x="1280732" y="657701"/>
                      <a:pt x="1280732" y="657701"/>
                    </a:cubicBezTo>
                    <a:cubicBezTo>
                      <a:pt x="1280732" y="657701"/>
                      <a:pt x="1271683" y="664655"/>
                      <a:pt x="1271683" y="668083"/>
                    </a:cubicBezTo>
                    <a:cubicBezTo>
                      <a:pt x="1271683" y="671513"/>
                      <a:pt x="1280541" y="680942"/>
                      <a:pt x="1283970" y="682085"/>
                    </a:cubicBezTo>
                    <a:cubicBezTo>
                      <a:pt x="1287304" y="683228"/>
                      <a:pt x="1285113" y="685419"/>
                      <a:pt x="1293019" y="687705"/>
                    </a:cubicBezTo>
                    <a:cubicBezTo>
                      <a:pt x="1300925" y="689991"/>
                      <a:pt x="1303306" y="688848"/>
                      <a:pt x="1305592" y="692277"/>
                    </a:cubicBezTo>
                    <a:cubicBezTo>
                      <a:pt x="1307878" y="695706"/>
                      <a:pt x="1314640" y="700469"/>
                      <a:pt x="1312355" y="706279"/>
                    </a:cubicBezTo>
                    <a:cubicBezTo>
                      <a:pt x="1310069" y="712089"/>
                      <a:pt x="1300925" y="717804"/>
                      <a:pt x="1300925" y="717804"/>
                    </a:cubicBezTo>
                    <a:cubicBezTo>
                      <a:pt x="1300925" y="717804"/>
                      <a:pt x="1294162" y="728091"/>
                      <a:pt x="1291876" y="723424"/>
                    </a:cubicBezTo>
                    <a:cubicBezTo>
                      <a:pt x="1289590" y="718757"/>
                      <a:pt x="1288637" y="708565"/>
                      <a:pt x="1285208" y="707422"/>
                    </a:cubicBezTo>
                    <a:cubicBezTo>
                      <a:pt x="1281779" y="706279"/>
                      <a:pt x="1274921" y="704945"/>
                      <a:pt x="1274921" y="704945"/>
                    </a:cubicBezTo>
                    <a:lnTo>
                      <a:pt x="1271683" y="695706"/>
                    </a:lnTo>
                    <a:lnTo>
                      <a:pt x="1262539" y="687610"/>
                    </a:lnTo>
                    <a:cubicBezTo>
                      <a:pt x="1262539" y="687610"/>
                      <a:pt x="1256919" y="679514"/>
                      <a:pt x="1256919" y="685324"/>
                    </a:cubicBezTo>
                    <a:cubicBezTo>
                      <a:pt x="1256919" y="691134"/>
                      <a:pt x="1254633" y="693420"/>
                      <a:pt x="1256919" y="696849"/>
                    </a:cubicBezTo>
                    <a:cubicBezTo>
                      <a:pt x="1259205" y="700278"/>
                      <a:pt x="1265015" y="702659"/>
                      <a:pt x="1259300" y="704945"/>
                    </a:cubicBezTo>
                    <a:cubicBezTo>
                      <a:pt x="1253681" y="707231"/>
                      <a:pt x="1249013" y="704945"/>
                      <a:pt x="1249013" y="704945"/>
                    </a:cubicBezTo>
                    <a:lnTo>
                      <a:pt x="1241203" y="690086"/>
                    </a:lnTo>
                    <a:lnTo>
                      <a:pt x="1232154" y="679704"/>
                    </a:lnTo>
                    <a:cubicBezTo>
                      <a:pt x="1232154" y="679704"/>
                      <a:pt x="1225201" y="676085"/>
                      <a:pt x="1221867" y="676085"/>
                    </a:cubicBezTo>
                    <a:cubicBezTo>
                      <a:pt x="1218533" y="676085"/>
                      <a:pt x="1213961" y="677228"/>
                      <a:pt x="1209485" y="673799"/>
                    </a:cubicBezTo>
                    <a:cubicBezTo>
                      <a:pt x="1205008" y="670370"/>
                      <a:pt x="1199293" y="667988"/>
                      <a:pt x="1199293" y="667988"/>
                    </a:cubicBezTo>
                    <a:lnTo>
                      <a:pt x="1190244" y="665702"/>
                    </a:lnTo>
                    <a:cubicBezTo>
                      <a:pt x="1190244" y="665702"/>
                      <a:pt x="1184624" y="663416"/>
                      <a:pt x="1183481" y="666845"/>
                    </a:cubicBezTo>
                    <a:cubicBezTo>
                      <a:pt x="1182338" y="670274"/>
                      <a:pt x="1179005" y="670274"/>
                      <a:pt x="1179005" y="674942"/>
                    </a:cubicBezTo>
                    <a:cubicBezTo>
                      <a:pt x="1179005" y="679609"/>
                      <a:pt x="1175576" y="680657"/>
                      <a:pt x="1179005" y="686467"/>
                    </a:cubicBezTo>
                    <a:cubicBezTo>
                      <a:pt x="1182434" y="692277"/>
                      <a:pt x="1182434" y="692372"/>
                      <a:pt x="1183481" y="698183"/>
                    </a:cubicBezTo>
                    <a:cubicBezTo>
                      <a:pt x="1184624" y="703993"/>
                      <a:pt x="1176719" y="703993"/>
                      <a:pt x="1179005" y="709708"/>
                    </a:cubicBezTo>
                    <a:cubicBezTo>
                      <a:pt x="1181291" y="715518"/>
                      <a:pt x="1183481" y="718947"/>
                      <a:pt x="1188053" y="725900"/>
                    </a:cubicBezTo>
                    <a:cubicBezTo>
                      <a:pt x="1192530" y="732854"/>
                      <a:pt x="1189196" y="730472"/>
                      <a:pt x="1188053" y="738569"/>
                    </a:cubicBezTo>
                    <a:cubicBezTo>
                      <a:pt x="1186910" y="746665"/>
                      <a:pt x="1180148" y="746665"/>
                      <a:pt x="1180148" y="746665"/>
                    </a:cubicBezTo>
                    <a:lnTo>
                      <a:pt x="1171099" y="735140"/>
                    </a:lnTo>
                    <a:lnTo>
                      <a:pt x="1167670" y="724757"/>
                    </a:lnTo>
                    <a:lnTo>
                      <a:pt x="1163193" y="710946"/>
                    </a:lnTo>
                    <a:lnTo>
                      <a:pt x="1163193" y="702755"/>
                    </a:lnTo>
                    <a:cubicBezTo>
                      <a:pt x="1163193" y="699326"/>
                      <a:pt x="1158716" y="691229"/>
                      <a:pt x="1154144" y="694658"/>
                    </a:cubicBezTo>
                    <a:cubicBezTo>
                      <a:pt x="1149668" y="698087"/>
                      <a:pt x="1140428" y="703898"/>
                      <a:pt x="1140428" y="703898"/>
                    </a:cubicBezTo>
                    <a:lnTo>
                      <a:pt x="1147382" y="714280"/>
                    </a:lnTo>
                    <a:cubicBezTo>
                      <a:pt x="1147382" y="714280"/>
                      <a:pt x="1150620" y="713137"/>
                      <a:pt x="1150620" y="722376"/>
                    </a:cubicBezTo>
                    <a:cubicBezTo>
                      <a:pt x="1150620" y="731615"/>
                      <a:pt x="1146143" y="723519"/>
                      <a:pt x="1150620" y="731615"/>
                    </a:cubicBezTo>
                    <a:cubicBezTo>
                      <a:pt x="1155192" y="739712"/>
                      <a:pt x="1153001" y="743236"/>
                      <a:pt x="1158716" y="745617"/>
                    </a:cubicBezTo>
                    <a:cubicBezTo>
                      <a:pt x="1164336" y="747903"/>
                      <a:pt x="1171099" y="757142"/>
                      <a:pt x="1171099" y="757142"/>
                    </a:cubicBezTo>
                    <a:cubicBezTo>
                      <a:pt x="1171099" y="757142"/>
                      <a:pt x="1179005" y="762953"/>
                      <a:pt x="1172242" y="765239"/>
                    </a:cubicBezTo>
                    <a:cubicBezTo>
                      <a:pt x="1165479" y="767525"/>
                      <a:pt x="1155287" y="767525"/>
                      <a:pt x="1155287" y="767525"/>
                    </a:cubicBezTo>
                    <a:cubicBezTo>
                      <a:pt x="1155287" y="767525"/>
                      <a:pt x="1152906" y="757142"/>
                      <a:pt x="1149477" y="755999"/>
                    </a:cubicBezTo>
                    <a:cubicBezTo>
                      <a:pt x="1146048" y="754856"/>
                      <a:pt x="1141667" y="752570"/>
                      <a:pt x="1138333" y="747903"/>
                    </a:cubicBezTo>
                    <a:cubicBezTo>
                      <a:pt x="1134904" y="743236"/>
                      <a:pt x="1125950" y="740855"/>
                      <a:pt x="1125950" y="740855"/>
                    </a:cubicBezTo>
                    <a:lnTo>
                      <a:pt x="1113377" y="743331"/>
                    </a:lnTo>
                    <a:lnTo>
                      <a:pt x="1103186" y="740855"/>
                    </a:lnTo>
                    <a:cubicBezTo>
                      <a:pt x="1103186" y="740855"/>
                      <a:pt x="1101090" y="732949"/>
                      <a:pt x="1099947" y="728282"/>
                    </a:cubicBezTo>
                    <a:cubicBezTo>
                      <a:pt x="1098804" y="723614"/>
                      <a:pt x="1088517" y="717804"/>
                      <a:pt x="1086231" y="714280"/>
                    </a:cubicBezTo>
                    <a:cubicBezTo>
                      <a:pt x="1083945" y="710851"/>
                      <a:pt x="1082993" y="707517"/>
                      <a:pt x="1079564" y="707517"/>
                    </a:cubicBezTo>
                    <a:cubicBezTo>
                      <a:pt x="1076135" y="707517"/>
                      <a:pt x="1068134" y="706374"/>
                      <a:pt x="1068134" y="706374"/>
                    </a:cubicBezTo>
                    <a:cubicBezTo>
                      <a:pt x="1068134" y="706374"/>
                      <a:pt x="1059085" y="699326"/>
                      <a:pt x="1059085" y="695897"/>
                    </a:cubicBezTo>
                    <a:cubicBezTo>
                      <a:pt x="1059085" y="692468"/>
                      <a:pt x="1057942" y="687800"/>
                      <a:pt x="1057942" y="687800"/>
                    </a:cubicBezTo>
                    <a:cubicBezTo>
                      <a:pt x="1057942" y="687800"/>
                      <a:pt x="1055656" y="682085"/>
                      <a:pt x="1060228" y="678561"/>
                    </a:cubicBezTo>
                    <a:lnTo>
                      <a:pt x="1064895" y="675132"/>
                    </a:lnTo>
                    <a:cubicBezTo>
                      <a:pt x="1064895" y="675132"/>
                      <a:pt x="1071563" y="678561"/>
                      <a:pt x="1074896" y="676275"/>
                    </a:cubicBezTo>
                    <a:cubicBezTo>
                      <a:pt x="1078325" y="673989"/>
                      <a:pt x="1078325" y="669322"/>
                      <a:pt x="1078325" y="669322"/>
                    </a:cubicBezTo>
                    <a:lnTo>
                      <a:pt x="1079564" y="661416"/>
                    </a:lnTo>
                    <a:cubicBezTo>
                      <a:pt x="1079564" y="661416"/>
                      <a:pt x="1085183" y="658940"/>
                      <a:pt x="1089755" y="665893"/>
                    </a:cubicBezTo>
                    <a:cubicBezTo>
                      <a:pt x="1094232" y="672846"/>
                      <a:pt x="1098804" y="675227"/>
                      <a:pt x="1102138" y="682181"/>
                    </a:cubicBezTo>
                    <a:cubicBezTo>
                      <a:pt x="1105567" y="689134"/>
                      <a:pt x="1106519" y="690277"/>
                      <a:pt x="1114425" y="689134"/>
                    </a:cubicBezTo>
                    <a:cubicBezTo>
                      <a:pt x="1122331" y="687991"/>
                      <a:pt x="1130427" y="678656"/>
                      <a:pt x="1130427" y="678656"/>
                    </a:cubicBezTo>
                    <a:lnTo>
                      <a:pt x="1137190" y="671894"/>
                    </a:lnTo>
                    <a:cubicBezTo>
                      <a:pt x="1137190" y="671894"/>
                      <a:pt x="1142429" y="663131"/>
                      <a:pt x="1139000" y="657892"/>
                    </a:cubicBezTo>
                    <a:cubicBezTo>
                      <a:pt x="1135571" y="652653"/>
                      <a:pt x="1134904" y="651796"/>
                      <a:pt x="1132332" y="650081"/>
                    </a:cubicBezTo>
                    <a:cubicBezTo>
                      <a:pt x="1129760" y="648367"/>
                      <a:pt x="1125569" y="645795"/>
                      <a:pt x="1125569" y="645795"/>
                    </a:cubicBezTo>
                    <a:cubicBezTo>
                      <a:pt x="1125569" y="645795"/>
                      <a:pt x="1119664" y="643223"/>
                      <a:pt x="1119664" y="639699"/>
                    </a:cubicBezTo>
                    <a:cubicBezTo>
                      <a:pt x="1119664" y="636175"/>
                      <a:pt x="1122236" y="636270"/>
                      <a:pt x="1124712" y="634556"/>
                    </a:cubicBezTo>
                    <a:cubicBezTo>
                      <a:pt x="1127284" y="632841"/>
                      <a:pt x="1139000" y="627602"/>
                      <a:pt x="1139000" y="627602"/>
                    </a:cubicBezTo>
                    <a:cubicBezTo>
                      <a:pt x="1139000" y="627602"/>
                      <a:pt x="1142524" y="623316"/>
                      <a:pt x="1145096" y="620649"/>
                    </a:cubicBezTo>
                    <a:cubicBezTo>
                      <a:pt x="1145762" y="619982"/>
                      <a:pt x="1146429" y="619601"/>
                      <a:pt x="1147191" y="619506"/>
                    </a:cubicBezTo>
                    <a:close/>
                    <a:moveTo>
                      <a:pt x="4849273" y="645985"/>
                    </a:moveTo>
                    <a:lnTo>
                      <a:pt x="4841653" y="667798"/>
                    </a:lnTo>
                    <a:lnTo>
                      <a:pt x="4814412" y="669417"/>
                    </a:lnTo>
                    <a:lnTo>
                      <a:pt x="4784598" y="696087"/>
                    </a:lnTo>
                    <a:lnTo>
                      <a:pt x="4743641" y="720281"/>
                    </a:lnTo>
                    <a:lnTo>
                      <a:pt x="4764120" y="753428"/>
                    </a:lnTo>
                    <a:lnTo>
                      <a:pt x="4775169" y="749522"/>
                    </a:lnTo>
                    <a:cubicBezTo>
                      <a:pt x="4775169" y="749522"/>
                      <a:pt x="4778312" y="750665"/>
                      <a:pt x="4790313" y="769525"/>
                    </a:cubicBezTo>
                    <a:cubicBezTo>
                      <a:pt x="4802220" y="788384"/>
                      <a:pt x="4806601" y="788384"/>
                      <a:pt x="4812030" y="795052"/>
                    </a:cubicBezTo>
                    <a:cubicBezTo>
                      <a:pt x="4817460" y="801719"/>
                      <a:pt x="4814221" y="801719"/>
                      <a:pt x="4826127" y="804958"/>
                    </a:cubicBezTo>
                    <a:cubicBezTo>
                      <a:pt x="4838034" y="808292"/>
                      <a:pt x="4843558" y="806101"/>
                      <a:pt x="4852226" y="812768"/>
                    </a:cubicBezTo>
                    <a:cubicBezTo>
                      <a:pt x="4860894" y="819436"/>
                      <a:pt x="4879277" y="827151"/>
                      <a:pt x="4889087" y="832676"/>
                    </a:cubicBezTo>
                    <a:cubicBezTo>
                      <a:pt x="4898899" y="838200"/>
                      <a:pt x="4907566" y="840391"/>
                      <a:pt x="4918425" y="845915"/>
                    </a:cubicBezTo>
                    <a:cubicBezTo>
                      <a:pt x="4929283" y="851440"/>
                      <a:pt x="4936808" y="853726"/>
                      <a:pt x="4936808" y="853726"/>
                    </a:cubicBezTo>
                    <a:lnTo>
                      <a:pt x="4957953" y="873443"/>
                    </a:lnTo>
                    <a:lnTo>
                      <a:pt x="4990338" y="883539"/>
                    </a:lnTo>
                    <a:cubicBezTo>
                      <a:pt x="4990338" y="883539"/>
                      <a:pt x="5025295" y="897731"/>
                      <a:pt x="5030724" y="900017"/>
                    </a:cubicBezTo>
                    <a:cubicBezTo>
                      <a:pt x="5036153" y="902208"/>
                      <a:pt x="5047679" y="913543"/>
                      <a:pt x="5047679" y="913543"/>
                    </a:cubicBezTo>
                    <a:lnTo>
                      <a:pt x="5074634" y="917734"/>
                    </a:lnTo>
                    <a:cubicBezTo>
                      <a:pt x="5072348" y="955262"/>
                      <a:pt x="5093113" y="957644"/>
                      <a:pt x="5106257" y="971360"/>
                    </a:cubicBezTo>
                    <a:lnTo>
                      <a:pt x="5131975" y="972788"/>
                    </a:lnTo>
                    <a:cubicBezTo>
                      <a:pt x="5131975" y="972788"/>
                      <a:pt x="5144262" y="979456"/>
                      <a:pt x="5155121" y="982694"/>
                    </a:cubicBezTo>
                    <a:cubicBezTo>
                      <a:pt x="5165979" y="986028"/>
                      <a:pt x="5165027" y="987838"/>
                      <a:pt x="5168932" y="1001173"/>
                    </a:cubicBezTo>
                    <a:cubicBezTo>
                      <a:pt x="5172932" y="1014508"/>
                      <a:pt x="5191887" y="1028986"/>
                      <a:pt x="5201698" y="1043369"/>
                    </a:cubicBezTo>
                    <a:cubicBezTo>
                      <a:pt x="5211508" y="1057751"/>
                      <a:pt x="5218176" y="1061276"/>
                      <a:pt x="5218176" y="1061276"/>
                    </a:cubicBezTo>
                    <a:lnTo>
                      <a:pt x="5228082" y="1068896"/>
                    </a:lnTo>
                    <a:cubicBezTo>
                      <a:pt x="5242179" y="1073372"/>
                      <a:pt x="5253895" y="1067753"/>
                      <a:pt x="5266944" y="1064419"/>
                    </a:cubicBezTo>
                    <a:cubicBezTo>
                      <a:pt x="5279993" y="1061085"/>
                      <a:pt x="5307140" y="1055465"/>
                      <a:pt x="5315807" y="1052132"/>
                    </a:cubicBezTo>
                    <a:cubicBezTo>
                      <a:pt x="5324475" y="1048798"/>
                      <a:pt x="5326380" y="1048131"/>
                      <a:pt x="5335048" y="1048131"/>
                    </a:cubicBezTo>
                    <a:cubicBezTo>
                      <a:pt x="5343716" y="1048131"/>
                      <a:pt x="5354193" y="1047655"/>
                      <a:pt x="5362861" y="1043273"/>
                    </a:cubicBezTo>
                    <a:cubicBezTo>
                      <a:pt x="5371529" y="1038797"/>
                      <a:pt x="5380959" y="1028986"/>
                      <a:pt x="5385340" y="1027843"/>
                    </a:cubicBezTo>
                    <a:cubicBezTo>
                      <a:pt x="5389721" y="1026700"/>
                      <a:pt x="5391627" y="1031653"/>
                      <a:pt x="5406771" y="1029462"/>
                    </a:cubicBezTo>
                    <a:cubicBezTo>
                      <a:pt x="5422011" y="1027271"/>
                      <a:pt x="5449157" y="1006507"/>
                      <a:pt x="5449157" y="1006507"/>
                    </a:cubicBezTo>
                    <a:cubicBezTo>
                      <a:pt x="5449157" y="1006507"/>
                      <a:pt x="5469732" y="995553"/>
                      <a:pt x="5445157" y="973741"/>
                    </a:cubicBezTo>
                    <a:cubicBezTo>
                      <a:pt x="5441537" y="970598"/>
                      <a:pt x="5490305" y="961263"/>
                      <a:pt x="5484591" y="957548"/>
                    </a:cubicBezTo>
                    <a:cubicBezTo>
                      <a:pt x="5496021" y="954691"/>
                      <a:pt x="5500973" y="944308"/>
                      <a:pt x="5512403" y="943737"/>
                    </a:cubicBezTo>
                    <a:cubicBezTo>
                      <a:pt x="5522595" y="943166"/>
                      <a:pt x="5542598" y="959644"/>
                      <a:pt x="5553075" y="960215"/>
                    </a:cubicBezTo>
                    <a:cubicBezTo>
                      <a:pt x="5559552" y="960596"/>
                      <a:pt x="5572125" y="948404"/>
                      <a:pt x="5578316" y="948404"/>
                    </a:cubicBezTo>
                    <a:cubicBezTo>
                      <a:pt x="5588603" y="948404"/>
                      <a:pt x="5590604" y="961835"/>
                      <a:pt x="5599938" y="961263"/>
                    </a:cubicBezTo>
                    <a:cubicBezTo>
                      <a:pt x="5613845" y="960406"/>
                      <a:pt x="5625846" y="944308"/>
                      <a:pt x="5639753" y="936212"/>
                    </a:cubicBezTo>
                    <a:cubicBezTo>
                      <a:pt x="5644706" y="933355"/>
                      <a:pt x="5672233" y="941642"/>
                      <a:pt x="5689474" y="944594"/>
                    </a:cubicBezTo>
                    <a:cubicBezTo>
                      <a:pt x="5703666" y="946690"/>
                      <a:pt x="5711666" y="942594"/>
                      <a:pt x="5712333" y="935546"/>
                    </a:cubicBezTo>
                    <a:cubicBezTo>
                      <a:pt x="5712619" y="932593"/>
                      <a:pt x="5710333" y="928592"/>
                      <a:pt x="5707571" y="924306"/>
                    </a:cubicBezTo>
                    <a:cubicBezTo>
                      <a:pt x="5702046" y="916019"/>
                      <a:pt x="5694141" y="906971"/>
                      <a:pt x="5696998" y="904018"/>
                    </a:cubicBezTo>
                    <a:lnTo>
                      <a:pt x="5705571" y="855726"/>
                    </a:lnTo>
                    <a:lnTo>
                      <a:pt x="5716333" y="845344"/>
                    </a:lnTo>
                    <a:lnTo>
                      <a:pt x="5700903" y="809625"/>
                    </a:lnTo>
                    <a:lnTo>
                      <a:pt x="5675948" y="791337"/>
                    </a:lnTo>
                    <a:cubicBezTo>
                      <a:pt x="5672423" y="788765"/>
                      <a:pt x="5667089" y="789337"/>
                      <a:pt x="5646420" y="789337"/>
                    </a:cubicBezTo>
                    <a:cubicBezTo>
                      <a:pt x="5625751" y="789337"/>
                      <a:pt x="5626513" y="773049"/>
                      <a:pt x="5618893" y="780860"/>
                    </a:cubicBezTo>
                    <a:cubicBezTo>
                      <a:pt x="5611273" y="788575"/>
                      <a:pt x="5600319" y="790766"/>
                      <a:pt x="5593747" y="792956"/>
                    </a:cubicBezTo>
                    <a:cubicBezTo>
                      <a:pt x="5587270" y="795147"/>
                      <a:pt x="5575459" y="798576"/>
                      <a:pt x="5570030" y="798576"/>
                    </a:cubicBezTo>
                    <a:cubicBezTo>
                      <a:pt x="5564600" y="798576"/>
                      <a:pt x="5563457" y="791908"/>
                      <a:pt x="5553647" y="795242"/>
                    </a:cubicBezTo>
                    <a:cubicBezTo>
                      <a:pt x="5543836" y="798576"/>
                      <a:pt x="5532977" y="799529"/>
                      <a:pt x="5524310" y="799529"/>
                    </a:cubicBezTo>
                    <a:cubicBezTo>
                      <a:pt x="5515642" y="799529"/>
                      <a:pt x="5514594" y="798481"/>
                      <a:pt x="5501545" y="795242"/>
                    </a:cubicBezTo>
                    <a:cubicBezTo>
                      <a:pt x="5488496" y="791908"/>
                      <a:pt x="5489639" y="789623"/>
                      <a:pt x="5478780" y="789623"/>
                    </a:cubicBezTo>
                    <a:lnTo>
                      <a:pt x="5458206" y="789623"/>
                    </a:lnTo>
                    <a:cubicBezTo>
                      <a:pt x="5458206" y="789623"/>
                      <a:pt x="5454777" y="785241"/>
                      <a:pt x="5447157" y="784098"/>
                    </a:cubicBezTo>
                    <a:cubicBezTo>
                      <a:pt x="5439537" y="782955"/>
                      <a:pt x="5426488" y="765048"/>
                      <a:pt x="5404771" y="767239"/>
                    </a:cubicBezTo>
                    <a:cubicBezTo>
                      <a:pt x="5383054" y="769430"/>
                      <a:pt x="5374482" y="767334"/>
                      <a:pt x="5366957" y="770668"/>
                    </a:cubicBezTo>
                    <a:cubicBezTo>
                      <a:pt x="5359337" y="774002"/>
                      <a:pt x="5350669" y="776192"/>
                      <a:pt x="5339811" y="777335"/>
                    </a:cubicBezTo>
                    <a:cubicBezTo>
                      <a:pt x="5328952" y="778478"/>
                      <a:pt x="5321141" y="778478"/>
                      <a:pt x="5313521" y="780669"/>
                    </a:cubicBezTo>
                    <a:cubicBezTo>
                      <a:pt x="5305902" y="782860"/>
                      <a:pt x="5301806" y="781717"/>
                      <a:pt x="5297424" y="786194"/>
                    </a:cubicBezTo>
                    <a:cubicBezTo>
                      <a:pt x="5293042" y="790670"/>
                      <a:pt x="5291805" y="792861"/>
                      <a:pt x="5285232" y="792861"/>
                    </a:cubicBezTo>
                    <a:cubicBezTo>
                      <a:pt x="5278660" y="792861"/>
                      <a:pt x="5269992" y="794004"/>
                      <a:pt x="5264658" y="794004"/>
                    </a:cubicBezTo>
                    <a:cubicBezTo>
                      <a:pt x="5259324" y="794004"/>
                      <a:pt x="5256086" y="796290"/>
                      <a:pt x="5240941" y="796290"/>
                    </a:cubicBezTo>
                    <a:lnTo>
                      <a:pt x="5201698" y="796290"/>
                    </a:lnTo>
                    <a:lnTo>
                      <a:pt x="5180267" y="792004"/>
                    </a:lnTo>
                    <a:cubicBezTo>
                      <a:pt x="5180267" y="792004"/>
                      <a:pt x="5182743" y="784765"/>
                      <a:pt x="5175314" y="778574"/>
                    </a:cubicBezTo>
                    <a:cubicBezTo>
                      <a:pt x="5170361" y="774478"/>
                      <a:pt x="5151406" y="770001"/>
                      <a:pt x="5146358" y="768668"/>
                    </a:cubicBezTo>
                    <a:cubicBezTo>
                      <a:pt x="5142357" y="767620"/>
                      <a:pt x="5140262" y="781907"/>
                      <a:pt x="5136357" y="780764"/>
                    </a:cubicBezTo>
                    <a:cubicBezTo>
                      <a:pt x="5117497" y="775240"/>
                      <a:pt x="5100257" y="769049"/>
                      <a:pt x="5099114" y="765524"/>
                    </a:cubicBezTo>
                    <a:cubicBezTo>
                      <a:pt x="5096923" y="758857"/>
                      <a:pt x="5076825" y="762953"/>
                      <a:pt x="5074730" y="755142"/>
                    </a:cubicBezTo>
                    <a:cubicBezTo>
                      <a:pt x="5072539" y="747427"/>
                      <a:pt x="5084636" y="735521"/>
                      <a:pt x="5077016" y="731044"/>
                    </a:cubicBezTo>
                    <a:cubicBezTo>
                      <a:pt x="5069396" y="726567"/>
                      <a:pt x="4980527" y="693325"/>
                      <a:pt x="4969669" y="687800"/>
                    </a:cubicBezTo>
                    <a:cubicBezTo>
                      <a:pt x="4958811" y="682276"/>
                      <a:pt x="4947952" y="677799"/>
                      <a:pt x="4934903" y="672275"/>
                    </a:cubicBezTo>
                    <a:cubicBezTo>
                      <a:pt x="4921853" y="666750"/>
                      <a:pt x="4913091" y="655701"/>
                      <a:pt x="4897946" y="654558"/>
                    </a:cubicBezTo>
                    <a:cubicBezTo>
                      <a:pt x="4882706" y="653415"/>
                      <a:pt x="4869656" y="648938"/>
                      <a:pt x="4869656" y="648938"/>
                    </a:cubicBezTo>
                    <a:lnTo>
                      <a:pt x="4849368" y="646367"/>
                    </a:lnTo>
                    <a:close/>
                    <a:moveTo>
                      <a:pt x="3733705" y="654463"/>
                    </a:moveTo>
                    <a:lnTo>
                      <a:pt x="3816287" y="715137"/>
                    </a:lnTo>
                    <a:lnTo>
                      <a:pt x="3818287" y="718566"/>
                    </a:lnTo>
                    <a:lnTo>
                      <a:pt x="3806285" y="716280"/>
                    </a:lnTo>
                    <a:cubicBezTo>
                      <a:pt x="3800761" y="723424"/>
                      <a:pt x="3797332" y="731234"/>
                      <a:pt x="3801046" y="738188"/>
                    </a:cubicBezTo>
                    <a:cubicBezTo>
                      <a:pt x="3801046" y="738188"/>
                      <a:pt x="3774758" y="775907"/>
                      <a:pt x="3774758" y="778383"/>
                    </a:cubicBezTo>
                    <a:cubicBezTo>
                      <a:pt x="3774758" y="780860"/>
                      <a:pt x="3773043" y="791813"/>
                      <a:pt x="3773043" y="791813"/>
                    </a:cubicBezTo>
                    <a:lnTo>
                      <a:pt x="3771519" y="800291"/>
                    </a:lnTo>
                    <a:lnTo>
                      <a:pt x="3757708" y="806958"/>
                    </a:lnTo>
                    <a:lnTo>
                      <a:pt x="3738086" y="837057"/>
                    </a:lnTo>
                    <a:lnTo>
                      <a:pt x="3694462" y="875443"/>
                    </a:lnTo>
                    <a:lnTo>
                      <a:pt x="3684556" y="877157"/>
                    </a:lnTo>
                    <a:lnTo>
                      <a:pt x="3638645" y="925163"/>
                    </a:lnTo>
                    <a:lnTo>
                      <a:pt x="3623786" y="950785"/>
                    </a:lnTo>
                    <a:lnTo>
                      <a:pt x="3547491" y="1010317"/>
                    </a:lnTo>
                    <a:cubicBezTo>
                      <a:pt x="3547491" y="1010317"/>
                      <a:pt x="3532727" y="1012889"/>
                      <a:pt x="3535204" y="1025462"/>
                    </a:cubicBezTo>
                    <a:cubicBezTo>
                      <a:pt x="3537680" y="1038035"/>
                      <a:pt x="3541871" y="1044797"/>
                      <a:pt x="3541871" y="1044797"/>
                    </a:cubicBezTo>
                    <a:cubicBezTo>
                      <a:pt x="3541871" y="1044797"/>
                      <a:pt x="3544253" y="1053941"/>
                      <a:pt x="3538442" y="1056513"/>
                    </a:cubicBezTo>
                    <a:cubicBezTo>
                      <a:pt x="3532727" y="1058990"/>
                      <a:pt x="3528536" y="1057466"/>
                      <a:pt x="3525298" y="1054894"/>
                    </a:cubicBezTo>
                    <a:cubicBezTo>
                      <a:pt x="3522059" y="1052417"/>
                      <a:pt x="3517202" y="1051465"/>
                      <a:pt x="3512344" y="1051465"/>
                    </a:cubicBezTo>
                    <a:cubicBezTo>
                      <a:pt x="3507486" y="1051465"/>
                      <a:pt x="3500914" y="1051465"/>
                      <a:pt x="3501771" y="1044797"/>
                    </a:cubicBezTo>
                    <a:cubicBezTo>
                      <a:pt x="3502628" y="1038130"/>
                      <a:pt x="3500914" y="1029557"/>
                      <a:pt x="3495104" y="1029557"/>
                    </a:cubicBezTo>
                    <a:cubicBezTo>
                      <a:pt x="3489293" y="1029557"/>
                      <a:pt x="3482721" y="1043940"/>
                      <a:pt x="3482721" y="1046417"/>
                    </a:cubicBezTo>
                    <a:cubicBezTo>
                      <a:pt x="3482721" y="1048893"/>
                      <a:pt x="3479387" y="1064038"/>
                      <a:pt x="3473672" y="1073277"/>
                    </a:cubicBezTo>
                    <a:cubicBezTo>
                      <a:pt x="3467957" y="1082516"/>
                      <a:pt x="3458146" y="1091660"/>
                      <a:pt x="3454051" y="1092422"/>
                    </a:cubicBezTo>
                    <a:cubicBezTo>
                      <a:pt x="3449955" y="1093280"/>
                      <a:pt x="3463767" y="1114330"/>
                      <a:pt x="3463767" y="1114330"/>
                    </a:cubicBezTo>
                    <a:lnTo>
                      <a:pt x="3455670" y="1115949"/>
                    </a:lnTo>
                    <a:lnTo>
                      <a:pt x="3444050" y="1095089"/>
                    </a:lnTo>
                    <a:lnTo>
                      <a:pt x="3415379" y="1095947"/>
                    </a:lnTo>
                    <a:lnTo>
                      <a:pt x="3384137" y="1138809"/>
                    </a:lnTo>
                    <a:lnTo>
                      <a:pt x="3380994" y="1134523"/>
                    </a:lnTo>
                    <a:lnTo>
                      <a:pt x="3409664" y="1093470"/>
                    </a:lnTo>
                    <a:cubicBezTo>
                      <a:pt x="3409664" y="1093470"/>
                      <a:pt x="3383471" y="1084993"/>
                      <a:pt x="3380137" y="1074134"/>
                    </a:cubicBezTo>
                    <a:lnTo>
                      <a:pt x="3352324" y="1116044"/>
                    </a:lnTo>
                    <a:lnTo>
                      <a:pt x="3379280" y="1056608"/>
                    </a:lnTo>
                    <a:cubicBezTo>
                      <a:pt x="3379280" y="1056608"/>
                      <a:pt x="3381566" y="1055656"/>
                      <a:pt x="3386519" y="1054037"/>
                    </a:cubicBezTo>
                    <a:cubicBezTo>
                      <a:pt x="3391471" y="1052322"/>
                      <a:pt x="3394234" y="1051560"/>
                      <a:pt x="3393472" y="1043178"/>
                    </a:cubicBezTo>
                    <a:cubicBezTo>
                      <a:pt x="3392615" y="1034796"/>
                      <a:pt x="3389852" y="1033939"/>
                      <a:pt x="3384137" y="1032224"/>
                    </a:cubicBezTo>
                    <a:cubicBezTo>
                      <a:pt x="3378422" y="1030510"/>
                      <a:pt x="3374993" y="1035749"/>
                      <a:pt x="3373374" y="1028224"/>
                    </a:cubicBezTo>
                    <a:cubicBezTo>
                      <a:pt x="3371755" y="1020699"/>
                      <a:pt x="3371945" y="1021461"/>
                      <a:pt x="3371088" y="1016413"/>
                    </a:cubicBezTo>
                    <a:cubicBezTo>
                      <a:pt x="3370231" y="1011365"/>
                      <a:pt x="3368421" y="1008031"/>
                      <a:pt x="3373374" y="1002125"/>
                    </a:cubicBezTo>
                    <a:cubicBezTo>
                      <a:pt x="3378327" y="996220"/>
                      <a:pt x="3379089" y="993743"/>
                      <a:pt x="3386519" y="987838"/>
                    </a:cubicBezTo>
                    <a:cubicBezTo>
                      <a:pt x="3393853" y="982028"/>
                      <a:pt x="3393281" y="985361"/>
                      <a:pt x="3400616" y="980313"/>
                    </a:cubicBezTo>
                    <a:cubicBezTo>
                      <a:pt x="3407950" y="975265"/>
                      <a:pt x="3411188" y="970312"/>
                      <a:pt x="3405378" y="965359"/>
                    </a:cubicBezTo>
                    <a:cubicBezTo>
                      <a:pt x="3399663" y="960310"/>
                      <a:pt x="3386614" y="959549"/>
                      <a:pt x="3374327" y="962025"/>
                    </a:cubicBezTo>
                    <a:cubicBezTo>
                      <a:pt x="3362039" y="964502"/>
                      <a:pt x="3327750" y="975360"/>
                      <a:pt x="3322796" y="982885"/>
                    </a:cubicBezTo>
                    <a:cubicBezTo>
                      <a:pt x="3317843" y="990410"/>
                      <a:pt x="3314319" y="998792"/>
                      <a:pt x="3314319" y="1004697"/>
                    </a:cubicBezTo>
                    <a:cubicBezTo>
                      <a:pt x="3314319" y="1010603"/>
                      <a:pt x="3309557" y="1017270"/>
                      <a:pt x="3309557" y="1017270"/>
                    </a:cubicBezTo>
                    <a:lnTo>
                      <a:pt x="3289935" y="1023938"/>
                    </a:lnTo>
                    <a:cubicBezTo>
                      <a:pt x="3289935" y="1023938"/>
                      <a:pt x="3289840" y="1000411"/>
                      <a:pt x="3291459" y="990314"/>
                    </a:cubicBezTo>
                    <a:cubicBezTo>
                      <a:pt x="3293078" y="980218"/>
                      <a:pt x="3296603" y="982028"/>
                      <a:pt x="3302318" y="970312"/>
                    </a:cubicBezTo>
                    <a:cubicBezTo>
                      <a:pt x="3308033" y="958596"/>
                      <a:pt x="3309557" y="960215"/>
                      <a:pt x="3309557" y="950976"/>
                    </a:cubicBezTo>
                    <a:lnTo>
                      <a:pt x="3309557" y="930974"/>
                    </a:lnTo>
                    <a:cubicBezTo>
                      <a:pt x="3309557" y="928497"/>
                      <a:pt x="3315367" y="923544"/>
                      <a:pt x="3319463" y="921068"/>
                    </a:cubicBezTo>
                    <a:cubicBezTo>
                      <a:pt x="3323558" y="918591"/>
                      <a:pt x="3326797" y="919353"/>
                      <a:pt x="3335846" y="919353"/>
                    </a:cubicBezTo>
                    <a:cubicBezTo>
                      <a:pt x="3344894" y="919353"/>
                      <a:pt x="3340799" y="923544"/>
                      <a:pt x="3353086" y="916019"/>
                    </a:cubicBezTo>
                    <a:cubicBezTo>
                      <a:pt x="3365373" y="908495"/>
                      <a:pt x="3372898" y="899255"/>
                      <a:pt x="3372898" y="899255"/>
                    </a:cubicBezTo>
                    <a:lnTo>
                      <a:pt x="3388424" y="895636"/>
                    </a:lnTo>
                    <a:cubicBezTo>
                      <a:pt x="3388424" y="895636"/>
                      <a:pt x="3389186" y="911828"/>
                      <a:pt x="3403950" y="912685"/>
                    </a:cubicBezTo>
                    <a:cubicBezTo>
                      <a:pt x="3418713" y="913543"/>
                      <a:pt x="3444145" y="915162"/>
                      <a:pt x="3455670" y="920210"/>
                    </a:cubicBezTo>
                    <a:cubicBezTo>
                      <a:pt x="3467195" y="925258"/>
                      <a:pt x="3479483" y="928402"/>
                      <a:pt x="3486055" y="937641"/>
                    </a:cubicBezTo>
                    <a:cubicBezTo>
                      <a:pt x="3492627" y="946880"/>
                      <a:pt x="3496723" y="948785"/>
                      <a:pt x="3508248" y="945452"/>
                    </a:cubicBezTo>
                    <a:cubicBezTo>
                      <a:pt x="3519773" y="942118"/>
                      <a:pt x="3537013" y="936022"/>
                      <a:pt x="3551777" y="928402"/>
                    </a:cubicBezTo>
                    <a:cubicBezTo>
                      <a:pt x="3566541" y="920877"/>
                      <a:pt x="3590163" y="904113"/>
                      <a:pt x="3593402" y="898303"/>
                    </a:cubicBezTo>
                    <a:cubicBezTo>
                      <a:pt x="3596735" y="892397"/>
                      <a:pt x="3600164" y="890111"/>
                      <a:pt x="3599307" y="882587"/>
                    </a:cubicBezTo>
                    <a:cubicBezTo>
                      <a:pt x="3598450" y="875062"/>
                      <a:pt x="3601021" y="870014"/>
                      <a:pt x="3601021" y="870014"/>
                    </a:cubicBezTo>
                    <a:cubicBezTo>
                      <a:pt x="3601021" y="870014"/>
                      <a:pt x="3608927" y="854678"/>
                      <a:pt x="3622929" y="845534"/>
                    </a:cubicBezTo>
                    <a:cubicBezTo>
                      <a:pt x="3636836" y="836295"/>
                      <a:pt x="3641027" y="826484"/>
                      <a:pt x="3641027" y="820579"/>
                    </a:cubicBezTo>
                    <a:cubicBezTo>
                      <a:pt x="3641027" y="814673"/>
                      <a:pt x="3640455" y="807149"/>
                      <a:pt x="3640455" y="807149"/>
                    </a:cubicBezTo>
                    <a:cubicBezTo>
                      <a:pt x="3640455" y="807149"/>
                      <a:pt x="3656838" y="783622"/>
                      <a:pt x="3660077" y="778574"/>
                    </a:cubicBezTo>
                    <a:cubicBezTo>
                      <a:pt x="3663315" y="773525"/>
                      <a:pt x="3666554" y="770192"/>
                      <a:pt x="3673031" y="765143"/>
                    </a:cubicBezTo>
                    <a:cubicBezTo>
                      <a:pt x="3679603" y="760095"/>
                      <a:pt x="3688747" y="754952"/>
                      <a:pt x="3689509" y="752475"/>
                    </a:cubicBezTo>
                    <a:cubicBezTo>
                      <a:pt x="3690366" y="749999"/>
                      <a:pt x="3694367" y="747522"/>
                      <a:pt x="3700082" y="738378"/>
                    </a:cubicBezTo>
                    <a:cubicBezTo>
                      <a:pt x="3705796" y="729139"/>
                      <a:pt x="3706654" y="732663"/>
                      <a:pt x="3705892" y="720947"/>
                    </a:cubicBezTo>
                    <a:cubicBezTo>
                      <a:pt x="3705035" y="709232"/>
                      <a:pt x="3699129" y="719138"/>
                      <a:pt x="3704939" y="709136"/>
                    </a:cubicBezTo>
                    <a:cubicBezTo>
                      <a:pt x="3710654" y="699040"/>
                      <a:pt x="3718179" y="676370"/>
                      <a:pt x="3718179" y="676370"/>
                    </a:cubicBezTo>
                    <a:lnTo>
                      <a:pt x="3723799" y="664655"/>
                    </a:lnTo>
                    <a:lnTo>
                      <a:pt x="3732086" y="659511"/>
                    </a:lnTo>
                    <a:lnTo>
                      <a:pt x="3733514" y="654653"/>
                    </a:lnTo>
                    <a:close/>
                    <a:moveTo>
                      <a:pt x="3903440" y="665702"/>
                    </a:moveTo>
                    <a:cubicBezTo>
                      <a:pt x="3906107" y="668369"/>
                      <a:pt x="3909251" y="671227"/>
                      <a:pt x="3911918" y="674656"/>
                    </a:cubicBezTo>
                    <a:cubicBezTo>
                      <a:pt x="3919633" y="684752"/>
                      <a:pt x="3931730" y="685895"/>
                      <a:pt x="3939445" y="690372"/>
                    </a:cubicBezTo>
                    <a:cubicBezTo>
                      <a:pt x="3947160" y="694849"/>
                      <a:pt x="3958304" y="702850"/>
                      <a:pt x="3966020" y="710660"/>
                    </a:cubicBezTo>
                    <a:cubicBezTo>
                      <a:pt x="3973735" y="718566"/>
                      <a:pt x="4003548" y="750094"/>
                      <a:pt x="4006787" y="753523"/>
                    </a:cubicBezTo>
                    <a:cubicBezTo>
                      <a:pt x="4010120" y="756857"/>
                      <a:pt x="4053078" y="784098"/>
                      <a:pt x="4065270" y="789718"/>
                    </a:cubicBezTo>
                    <a:cubicBezTo>
                      <a:pt x="4077462" y="795338"/>
                      <a:pt x="4101846" y="793052"/>
                      <a:pt x="4101846" y="793052"/>
                    </a:cubicBezTo>
                    <a:lnTo>
                      <a:pt x="4163949" y="701231"/>
                    </a:lnTo>
                    <a:lnTo>
                      <a:pt x="4171855" y="705993"/>
                    </a:lnTo>
                    <a:lnTo>
                      <a:pt x="4113848" y="794195"/>
                    </a:lnTo>
                    <a:cubicBezTo>
                      <a:pt x="4113848" y="794195"/>
                      <a:pt x="4143661" y="797528"/>
                      <a:pt x="4151376" y="804291"/>
                    </a:cubicBezTo>
                    <a:cubicBezTo>
                      <a:pt x="4159092" y="811054"/>
                      <a:pt x="4170140" y="823436"/>
                      <a:pt x="4194429" y="827913"/>
                    </a:cubicBezTo>
                    <a:cubicBezTo>
                      <a:pt x="4218718" y="832390"/>
                      <a:pt x="4228814" y="835819"/>
                      <a:pt x="4242054" y="835819"/>
                    </a:cubicBezTo>
                    <a:cubicBezTo>
                      <a:pt x="4255294" y="835819"/>
                      <a:pt x="4271677" y="838010"/>
                      <a:pt x="4282726" y="838010"/>
                    </a:cubicBezTo>
                    <a:cubicBezTo>
                      <a:pt x="4286155" y="838010"/>
                      <a:pt x="4289679" y="837914"/>
                      <a:pt x="4292918" y="837438"/>
                    </a:cubicBezTo>
                    <a:lnTo>
                      <a:pt x="4320350" y="853631"/>
                    </a:lnTo>
                    <a:lnTo>
                      <a:pt x="4301300" y="895445"/>
                    </a:lnTo>
                    <a:lnTo>
                      <a:pt x="4297585" y="891445"/>
                    </a:lnTo>
                    <a:cubicBezTo>
                      <a:pt x="4290632" y="904780"/>
                      <a:pt x="4283678" y="918877"/>
                      <a:pt x="4283012" y="918877"/>
                    </a:cubicBezTo>
                    <a:cubicBezTo>
                      <a:pt x="4276820" y="922877"/>
                      <a:pt x="4271105" y="928973"/>
                      <a:pt x="4271105" y="928973"/>
                    </a:cubicBezTo>
                    <a:cubicBezTo>
                      <a:pt x="4271105" y="928973"/>
                      <a:pt x="4269105" y="932117"/>
                      <a:pt x="4256532" y="946690"/>
                    </a:cubicBezTo>
                    <a:cubicBezTo>
                      <a:pt x="4243959" y="961263"/>
                      <a:pt x="4230243" y="976598"/>
                      <a:pt x="4212622" y="981742"/>
                    </a:cubicBezTo>
                    <a:cubicBezTo>
                      <a:pt x="4195001" y="986885"/>
                      <a:pt x="4183856" y="1002602"/>
                      <a:pt x="4176332" y="1016318"/>
                    </a:cubicBezTo>
                    <a:cubicBezTo>
                      <a:pt x="4168807" y="1030033"/>
                      <a:pt x="4170236" y="1028510"/>
                      <a:pt x="4169378" y="1040511"/>
                    </a:cubicBezTo>
                    <a:cubicBezTo>
                      <a:pt x="4168521" y="1052513"/>
                      <a:pt x="4169378" y="1054989"/>
                      <a:pt x="4166140" y="1063562"/>
                    </a:cubicBezTo>
                    <a:cubicBezTo>
                      <a:pt x="4162806" y="1072134"/>
                      <a:pt x="4161758" y="1077087"/>
                      <a:pt x="4156710" y="1090803"/>
                    </a:cubicBezTo>
                    <a:cubicBezTo>
                      <a:pt x="4151662" y="1104519"/>
                      <a:pt x="4150043" y="1107186"/>
                      <a:pt x="4148423" y="1114901"/>
                    </a:cubicBezTo>
                    <a:cubicBezTo>
                      <a:pt x="4146709" y="1122617"/>
                      <a:pt x="4144423" y="1130237"/>
                      <a:pt x="4136041" y="1138809"/>
                    </a:cubicBezTo>
                    <a:cubicBezTo>
                      <a:pt x="4127659" y="1147382"/>
                      <a:pt x="4123277" y="1147382"/>
                      <a:pt x="4116515" y="1153382"/>
                    </a:cubicBezTo>
                    <a:cubicBezTo>
                      <a:pt x="4109847" y="1159383"/>
                      <a:pt x="4106609" y="1161955"/>
                      <a:pt x="4100703" y="1164527"/>
                    </a:cubicBezTo>
                    <a:cubicBezTo>
                      <a:pt x="4094798" y="1167098"/>
                      <a:pt x="4091559" y="1169575"/>
                      <a:pt x="4091559" y="1169575"/>
                    </a:cubicBezTo>
                    <a:cubicBezTo>
                      <a:pt x="4091559" y="1169575"/>
                      <a:pt x="4088130" y="1215200"/>
                      <a:pt x="4088130" y="1218629"/>
                    </a:cubicBezTo>
                    <a:cubicBezTo>
                      <a:pt x="4088130" y="1222058"/>
                      <a:pt x="4087368" y="1229582"/>
                      <a:pt x="4083177" y="1233011"/>
                    </a:cubicBezTo>
                    <a:cubicBezTo>
                      <a:pt x="4078986" y="1236440"/>
                      <a:pt x="4070509" y="1240822"/>
                      <a:pt x="4070509" y="1240822"/>
                    </a:cubicBezTo>
                    <a:lnTo>
                      <a:pt x="4061365" y="1239203"/>
                    </a:lnTo>
                    <a:cubicBezTo>
                      <a:pt x="4061365" y="1239203"/>
                      <a:pt x="4071461" y="1233107"/>
                      <a:pt x="4073081" y="1226249"/>
                    </a:cubicBezTo>
                    <a:cubicBezTo>
                      <a:pt x="4074795" y="1219391"/>
                      <a:pt x="4076319" y="1207389"/>
                      <a:pt x="4075462" y="1194530"/>
                    </a:cubicBezTo>
                    <a:cubicBezTo>
                      <a:pt x="4074605" y="1181672"/>
                      <a:pt x="4065556" y="1180148"/>
                      <a:pt x="4073081" y="1166432"/>
                    </a:cubicBezTo>
                    <a:cubicBezTo>
                      <a:pt x="4080605" y="1152716"/>
                      <a:pt x="4084892" y="1152811"/>
                      <a:pt x="4091559" y="1146810"/>
                    </a:cubicBezTo>
                    <a:cubicBezTo>
                      <a:pt x="4098227" y="1140809"/>
                      <a:pt x="4122706" y="1141381"/>
                      <a:pt x="4126040" y="1120902"/>
                    </a:cubicBezTo>
                    <a:cubicBezTo>
                      <a:pt x="4129373" y="1100328"/>
                      <a:pt x="4128516" y="1108043"/>
                      <a:pt x="4133564" y="1090041"/>
                    </a:cubicBezTo>
                    <a:cubicBezTo>
                      <a:pt x="4138613" y="1072039"/>
                      <a:pt x="4142708" y="1076516"/>
                      <a:pt x="4142708" y="1060228"/>
                    </a:cubicBezTo>
                    <a:cubicBezTo>
                      <a:pt x="4142708" y="1043940"/>
                      <a:pt x="4144423" y="1034320"/>
                      <a:pt x="4146137" y="1025747"/>
                    </a:cubicBezTo>
                    <a:cubicBezTo>
                      <a:pt x="4147852" y="1017175"/>
                      <a:pt x="4152710" y="999458"/>
                      <a:pt x="4161949" y="990886"/>
                    </a:cubicBezTo>
                    <a:cubicBezTo>
                      <a:pt x="4171188" y="982313"/>
                      <a:pt x="4196620" y="974503"/>
                      <a:pt x="4207574" y="968502"/>
                    </a:cubicBezTo>
                    <a:cubicBezTo>
                      <a:pt x="4211860" y="966121"/>
                      <a:pt x="4248912" y="924401"/>
                      <a:pt x="4269962" y="903351"/>
                    </a:cubicBezTo>
                    <a:cubicBezTo>
                      <a:pt x="4284536" y="888778"/>
                      <a:pt x="4286631" y="878967"/>
                      <a:pt x="4273392" y="863822"/>
                    </a:cubicBezTo>
                    <a:lnTo>
                      <a:pt x="4247960" y="850678"/>
                    </a:lnTo>
                    <a:lnTo>
                      <a:pt x="4203764" y="848201"/>
                    </a:lnTo>
                    <a:lnTo>
                      <a:pt x="4131850" y="811149"/>
                    </a:lnTo>
                    <a:lnTo>
                      <a:pt x="4100798" y="806672"/>
                    </a:lnTo>
                    <a:lnTo>
                      <a:pt x="4082320" y="814483"/>
                    </a:lnTo>
                    <a:lnTo>
                      <a:pt x="4076414" y="833533"/>
                    </a:lnTo>
                    <a:lnTo>
                      <a:pt x="4029551" y="809911"/>
                    </a:lnTo>
                    <a:lnTo>
                      <a:pt x="3985070" y="768572"/>
                    </a:lnTo>
                    <a:lnTo>
                      <a:pt x="3977831" y="739140"/>
                    </a:lnTo>
                    <a:lnTo>
                      <a:pt x="3945255" y="701516"/>
                    </a:lnTo>
                    <a:lnTo>
                      <a:pt x="3912108" y="688277"/>
                    </a:lnTo>
                    <a:cubicBezTo>
                      <a:pt x="3912108" y="688277"/>
                      <a:pt x="3898963" y="683705"/>
                      <a:pt x="3887534" y="682466"/>
                    </a:cubicBezTo>
                    <a:lnTo>
                      <a:pt x="3903631" y="665893"/>
                    </a:lnTo>
                    <a:close/>
                    <a:moveTo>
                      <a:pt x="1214247" y="684276"/>
                    </a:moveTo>
                    <a:lnTo>
                      <a:pt x="1216533" y="688277"/>
                    </a:lnTo>
                    <a:lnTo>
                      <a:pt x="1216533" y="694658"/>
                    </a:lnTo>
                    <a:cubicBezTo>
                      <a:pt x="1216533" y="697516"/>
                      <a:pt x="1217105" y="705803"/>
                      <a:pt x="1217105" y="705803"/>
                    </a:cubicBezTo>
                    <a:cubicBezTo>
                      <a:pt x="1217105" y="705803"/>
                      <a:pt x="1213866" y="713899"/>
                      <a:pt x="1209866" y="713899"/>
                    </a:cubicBezTo>
                    <a:cubicBezTo>
                      <a:pt x="1205865" y="713899"/>
                      <a:pt x="1206913" y="709708"/>
                      <a:pt x="1206341" y="706850"/>
                    </a:cubicBezTo>
                    <a:cubicBezTo>
                      <a:pt x="1205770" y="703993"/>
                      <a:pt x="1206913" y="704564"/>
                      <a:pt x="1207484" y="698754"/>
                    </a:cubicBezTo>
                    <a:cubicBezTo>
                      <a:pt x="1207484" y="698754"/>
                      <a:pt x="1210247" y="696468"/>
                      <a:pt x="1210913" y="694754"/>
                    </a:cubicBezTo>
                    <a:cubicBezTo>
                      <a:pt x="1211485" y="693039"/>
                      <a:pt x="1211485" y="690277"/>
                      <a:pt x="1211485" y="690277"/>
                    </a:cubicBezTo>
                    <a:lnTo>
                      <a:pt x="1214342" y="684371"/>
                    </a:lnTo>
                    <a:close/>
                    <a:moveTo>
                      <a:pt x="6485096" y="709898"/>
                    </a:moveTo>
                    <a:cubicBezTo>
                      <a:pt x="6486906" y="709708"/>
                      <a:pt x="6488335" y="710565"/>
                      <a:pt x="6489287" y="714375"/>
                    </a:cubicBezTo>
                    <a:cubicBezTo>
                      <a:pt x="6490907" y="720376"/>
                      <a:pt x="6493002" y="721614"/>
                      <a:pt x="6490811" y="728186"/>
                    </a:cubicBezTo>
                    <a:cubicBezTo>
                      <a:pt x="6488621" y="734758"/>
                      <a:pt x="6486430" y="732854"/>
                      <a:pt x="6484334" y="742188"/>
                    </a:cubicBezTo>
                    <a:cubicBezTo>
                      <a:pt x="6482144" y="751523"/>
                      <a:pt x="6480239" y="747713"/>
                      <a:pt x="6482334" y="756476"/>
                    </a:cubicBezTo>
                    <a:cubicBezTo>
                      <a:pt x="6484525" y="765239"/>
                      <a:pt x="6483287" y="766477"/>
                      <a:pt x="6488145" y="770287"/>
                    </a:cubicBezTo>
                    <a:cubicBezTo>
                      <a:pt x="6493002" y="774097"/>
                      <a:pt x="6493478" y="775145"/>
                      <a:pt x="6497193" y="774002"/>
                    </a:cubicBezTo>
                    <a:cubicBezTo>
                      <a:pt x="6500908" y="772858"/>
                      <a:pt x="6504242" y="778002"/>
                      <a:pt x="6504242" y="768668"/>
                    </a:cubicBezTo>
                    <a:cubicBezTo>
                      <a:pt x="6504242" y="759333"/>
                      <a:pt x="6505956" y="756380"/>
                      <a:pt x="6508052" y="759143"/>
                    </a:cubicBezTo>
                    <a:cubicBezTo>
                      <a:pt x="6510243" y="761905"/>
                      <a:pt x="6509100" y="763524"/>
                      <a:pt x="6515005" y="767906"/>
                    </a:cubicBezTo>
                    <a:cubicBezTo>
                      <a:pt x="6520911" y="772287"/>
                      <a:pt x="6519768" y="773525"/>
                      <a:pt x="6526721" y="770192"/>
                    </a:cubicBezTo>
                    <a:cubicBezTo>
                      <a:pt x="6533674" y="766858"/>
                      <a:pt x="6538627" y="763429"/>
                      <a:pt x="6543961" y="766763"/>
                    </a:cubicBezTo>
                    <a:cubicBezTo>
                      <a:pt x="6549295" y="770096"/>
                      <a:pt x="6547580" y="771335"/>
                      <a:pt x="6557772" y="772954"/>
                    </a:cubicBezTo>
                    <a:cubicBezTo>
                      <a:pt x="6567964" y="774573"/>
                      <a:pt x="6569107" y="773906"/>
                      <a:pt x="6572346" y="773430"/>
                    </a:cubicBezTo>
                    <a:cubicBezTo>
                      <a:pt x="6575584" y="772858"/>
                      <a:pt x="6580823" y="774573"/>
                      <a:pt x="6580823" y="774573"/>
                    </a:cubicBezTo>
                    <a:cubicBezTo>
                      <a:pt x="6583014" y="779526"/>
                      <a:pt x="6585204" y="782288"/>
                      <a:pt x="6580442" y="783336"/>
                    </a:cubicBezTo>
                    <a:cubicBezTo>
                      <a:pt x="6575584" y="784479"/>
                      <a:pt x="6569774" y="780955"/>
                      <a:pt x="6568726" y="785336"/>
                    </a:cubicBezTo>
                    <a:cubicBezTo>
                      <a:pt x="6567678" y="789718"/>
                      <a:pt x="6567583" y="793623"/>
                      <a:pt x="6564916" y="794099"/>
                    </a:cubicBezTo>
                    <a:cubicBezTo>
                      <a:pt x="6562249" y="794671"/>
                      <a:pt x="6564916" y="792099"/>
                      <a:pt x="6559582" y="792099"/>
                    </a:cubicBezTo>
                    <a:cubicBezTo>
                      <a:pt x="6554248" y="792099"/>
                      <a:pt x="6551009" y="792575"/>
                      <a:pt x="6549390" y="795814"/>
                    </a:cubicBezTo>
                    <a:cubicBezTo>
                      <a:pt x="6547771" y="799148"/>
                      <a:pt x="6552057" y="797909"/>
                      <a:pt x="6547295" y="802291"/>
                    </a:cubicBezTo>
                    <a:cubicBezTo>
                      <a:pt x="6542437" y="806672"/>
                      <a:pt x="6540913" y="806672"/>
                      <a:pt x="6537675" y="805625"/>
                    </a:cubicBezTo>
                    <a:cubicBezTo>
                      <a:pt x="6534436" y="804577"/>
                      <a:pt x="6540341" y="801338"/>
                      <a:pt x="6529102" y="801338"/>
                    </a:cubicBezTo>
                    <a:cubicBezTo>
                      <a:pt x="6517862" y="801338"/>
                      <a:pt x="6515196" y="799148"/>
                      <a:pt x="6510909" y="804101"/>
                    </a:cubicBezTo>
                    <a:cubicBezTo>
                      <a:pt x="6506623" y="809054"/>
                      <a:pt x="6504337" y="810197"/>
                      <a:pt x="6503861" y="816197"/>
                    </a:cubicBezTo>
                    <a:cubicBezTo>
                      <a:pt x="6503290" y="822198"/>
                      <a:pt x="6502813" y="824960"/>
                      <a:pt x="6503290" y="829342"/>
                    </a:cubicBezTo>
                    <a:cubicBezTo>
                      <a:pt x="6503861" y="833723"/>
                      <a:pt x="6504432" y="836867"/>
                      <a:pt x="6499099" y="840200"/>
                    </a:cubicBezTo>
                    <a:cubicBezTo>
                      <a:pt x="6493765" y="843534"/>
                      <a:pt x="6491573" y="841343"/>
                      <a:pt x="6491002" y="847439"/>
                    </a:cubicBezTo>
                    <a:cubicBezTo>
                      <a:pt x="6490430" y="853440"/>
                      <a:pt x="6488240" y="856107"/>
                      <a:pt x="6494717" y="861536"/>
                    </a:cubicBezTo>
                    <a:cubicBezTo>
                      <a:pt x="6501194" y="866966"/>
                      <a:pt x="6512528" y="876395"/>
                      <a:pt x="6516339" y="879729"/>
                    </a:cubicBezTo>
                    <a:cubicBezTo>
                      <a:pt x="6520053" y="882968"/>
                      <a:pt x="6520053" y="885825"/>
                      <a:pt x="6528054" y="885825"/>
                    </a:cubicBezTo>
                    <a:cubicBezTo>
                      <a:pt x="6536055" y="885825"/>
                      <a:pt x="6540437" y="884682"/>
                      <a:pt x="6546818" y="884682"/>
                    </a:cubicBezTo>
                    <a:cubicBezTo>
                      <a:pt x="6553200" y="884682"/>
                      <a:pt x="6554820" y="881253"/>
                      <a:pt x="6557010" y="887825"/>
                    </a:cubicBezTo>
                    <a:cubicBezTo>
                      <a:pt x="6559106" y="894398"/>
                      <a:pt x="6559106" y="896207"/>
                      <a:pt x="6559106" y="898303"/>
                    </a:cubicBezTo>
                    <a:cubicBezTo>
                      <a:pt x="6559106" y="900398"/>
                      <a:pt x="6561296" y="905923"/>
                      <a:pt x="6556439" y="905923"/>
                    </a:cubicBezTo>
                    <a:cubicBezTo>
                      <a:pt x="6551581" y="905923"/>
                      <a:pt x="6550057" y="902113"/>
                      <a:pt x="6546247" y="903160"/>
                    </a:cubicBezTo>
                    <a:cubicBezTo>
                      <a:pt x="6542532" y="904208"/>
                      <a:pt x="6541866" y="904304"/>
                      <a:pt x="6539770" y="905923"/>
                    </a:cubicBezTo>
                    <a:cubicBezTo>
                      <a:pt x="6537579" y="907542"/>
                      <a:pt x="6540437" y="906590"/>
                      <a:pt x="6537770" y="910400"/>
                    </a:cubicBezTo>
                    <a:cubicBezTo>
                      <a:pt x="6535103" y="914210"/>
                      <a:pt x="6529578" y="912019"/>
                      <a:pt x="6529578" y="912019"/>
                    </a:cubicBezTo>
                    <a:cubicBezTo>
                      <a:pt x="6529578" y="912019"/>
                      <a:pt x="6524721" y="905447"/>
                      <a:pt x="6523101" y="903827"/>
                    </a:cubicBezTo>
                    <a:cubicBezTo>
                      <a:pt x="6521482" y="902208"/>
                      <a:pt x="6517196" y="896779"/>
                      <a:pt x="6510243" y="898970"/>
                    </a:cubicBezTo>
                    <a:cubicBezTo>
                      <a:pt x="6503290" y="901160"/>
                      <a:pt x="6499099" y="901637"/>
                      <a:pt x="6497003" y="903256"/>
                    </a:cubicBezTo>
                    <a:cubicBezTo>
                      <a:pt x="6494812" y="904875"/>
                      <a:pt x="6492145" y="905447"/>
                      <a:pt x="6491669" y="908114"/>
                    </a:cubicBezTo>
                    <a:cubicBezTo>
                      <a:pt x="6491097" y="910876"/>
                      <a:pt x="6487858" y="912400"/>
                      <a:pt x="6487287" y="909733"/>
                    </a:cubicBezTo>
                    <a:cubicBezTo>
                      <a:pt x="6486716" y="906971"/>
                      <a:pt x="6486906" y="900589"/>
                      <a:pt x="6486906" y="898874"/>
                    </a:cubicBezTo>
                    <a:cubicBezTo>
                      <a:pt x="6486906" y="897160"/>
                      <a:pt x="6486239" y="892874"/>
                      <a:pt x="6484620" y="891254"/>
                    </a:cubicBezTo>
                    <a:cubicBezTo>
                      <a:pt x="6483001" y="889635"/>
                      <a:pt x="6479382" y="886682"/>
                      <a:pt x="6477286" y="885063"/>
                    </a:cubicBezTo>
                    <a:cubicBezTo>
                      <a:pt x="6475095" y="883444"/>
                      <a:pt x="6475191" y="879158"/>
                      <a:pt x="6469761" y="881920"/>
                    </a:cubicBezTo>
                    <a:cubicBezTo>
                      <a:pt x="6464427" y="884682"/>
                      <a:pt x="6462713" y="884015"/>
                      <a:pt x="6461189" y="887825"/>
                    </a:cubicBezTo>
                    <a:cubicBezTo>
                      <a:pt x="6459570" y="891635"/>
                      <a:pt x="6460617" y="896207"/>
                      <a:pt x="6454712" y="896207"/>
                    </a:cubicBezTo>
                    <a:cubicBezTo>
                      <a:pt x="6448806" y="896207"/>
                      <a:pt x="6446140" y="896207"/>
                      <a:pt x="6444520" y="893445"/>
                    </a:cubicBezTo>
                    <a:cubicBezTo>
                      <a:pt x="6442901" y="890683"/>
                      <a:pt x="6442425" y="888016"/>
                      <a:pt x="6437567" y="888587"/>
                    </a:cubicBezTo>
                    <a:cubicBezTo>
                      <a:pt x="6432709" y="889159"/>
                      <a:pt x="6432042" y="891921"/>
                      <a:pt x="6428232" y="886968"/>
                    </a:cubicBezTo>
                    <a:cubicBezTo>
                      <a:pt x="6424518" y="882015"/>
                      <a:pt x="6419755" y="876491"/>
                      <a:pt x="6419755" y="876491"/>
                    </a:cubicBezTo>
                    <a:cubicBezTo>
                      <a:pt x="6419755" y="876491"/>
                      <a:pt x="6420327" y="874300"/>
                      <a:pt x="6415564" y="871633"/>
                    </a:cubicBezTo>
                    <a:cubicBezTo>
                      <a:pt x="6410706" y="868871"/>
                      <a:pt x="6406991" y="870585"/>
                      <a:pt x="6408040" y="864584"/>
                    </a:cubicBezTo>
                    <a:cubicBezTo>
                      <a:pt x="6409087" y="858583"/>
                      <a:pt x="6411278" y="860298"/>
                      <a:pt x="6413374" y="855345"/>
                    </a:cubicBezTo>
                    <a:cubicBezTo>
                      <a:pt x="6415564" y="850392"/>
                      <a:pt x="6414326" y="845915"/>
                      <a:pt x="6413754" y="841534"/>
                    </a:cubicBezTo>
                    <a:cubicBezTo>
                      <a:pt x="6413183" y="837152"/>
                      <a:pt x="6413374" y="830580"/>
                      <a:pt x="6413374" y="827246"/>
                    </a:cubicBezTo>
                    <a:cubicBezTo>
                      <a:pt x="6413374" y="823913"/>
                      <a:pt x="6412897" y="827818"/>
                      <a:pt x="6414516" y="819626"/>
                    </a:cubicBezTo>
                    <a:cubicBezTo>
                      <a:pt x="6416136" y="811435"/>
                      <a:pt x="6411754" y="809720"/>
                      <a:pt x="6410706" y="802577"/>
                    </a:cubicBezTo>
                    <a:cubicBezTo>
                      <a:pt x="6409659" y="795433"/>
                      <a:pt x="6408516" y="795433"/>
                      <a:pt x="6409563" y="789432"/>
                    </a:cubicBezTo>
                    <a:cubicBezTo>
                      <a:pt x="6410611" y="783431"/>
                      <a:pt x="6409563" y="777431"/>
                      <a:pt x="6409563" y="774764"/>
                    </a:cubicBezTo>
                    <a:cubicBezTo>
                      <a:pt x="6409563" y="772097"/>
                      <a:pt x="6410230" y="768858"/>
                      <a:pt x="6411849" y="768858"/>
                    </a:cubicBezTo>
                    <a:cubicBezTo>
                      <a:pt x="6413468" y="768858"/>
                      <a:pt x="6415564" y="764381"/>
                      <a:pt x="6415564" y="770477"/>
                    </a:cubicBezTo>
                    <a:cubicBezTo>
                      <a:pt x="6415564" y="776573"/>
                      <a:pt x="6418326" y="778478"/>
                      <a:pt x="6422041" y="782860"/>
                    </a:cubicBezTo>
                    <a:cubicBezTo>
                      <a:pt x="6425756" y="787241"/>
                      <a:pt x="6427184" y="789051"/>
                      <a:pt x="6428232" y="794004"/>
                    </a:cubicBezTo>
                    <a:cubicBezTo>
                      <a:pt x="6429280" y="798957"/>
                      <a:pt x="6431661" y="795052"/>
                      <a:pt x="6431661" y="806006"/>
                    </a:cubicBezTo>
                    <a:cubicBezTo>
                      <a:pt x="6431661" y="816959"/>
                      <a:pt x="6427280" y="817435"/>
                      <a:pt x="6432042" y="819150"/>
                    </a:cubicBezTo>
                    <a:cubicBezTo>
                      <a:pt x="6436900" y="820769"/>
                      <a:pt x="6439091" y="818769"/>
                      <a:pt x="6441758" y="816578"/>
                    </a:cubicBezTo>
                    <a:cubicBezTo>
                      <a:pt x="6444425" y="814388"/>
                      <a:pt x="6446520" y="811054"/>
                      <a:pt x="6449282" y="809339"/>
                    </a:cubicBezTo>
                    <a:cubicBezTo>
                      <a:pt x="6451950" y="807720"/>
                      <a:pt x="6452426" y="805529"/>
                      <a:pt x="6452426" y="801148"/>
                    </a:cubicBezTo>
                    <a:cubicBezTo>
                      <a:pt x="6452426" y="796766"/>
                      <a:pt x="6450997" y="790766"/>
                      <a:pt x="6455855" y="790766"/>
                    </a:cubicBezTo>
                    <a:cubicBezTo>
                      <a:pt x="6460712" y="790766"/>
                      <a:pt x="6461665" y="790766"/>
                      <a:pt x="6462808" y="795623"/>
                    </a:cubicBezTo>
                    <a:cubicBezTo>
                      <a:pt x="6463856" y="800576"/>
                      <a:pt x="6466523" y="799910"/>
                      <a:pt x="6469190" y="802672"/>
                    </a:cubicBezTo>
                    <a:cubicBezTo>
                      <a:pt x="6471857" y="805434"/>
                      <a:pt x="6470809" y="809339"/>
                      <a:pt x="6474524" y="807149"/>
                    </a:cubicBezTo>
                    <a:cubicBezTo>
                      <a:pt x="6478239" y="804958"/>
                      <a:pt x="6478429" y="805434"/>
                      <a:pt x="6476810" y="798385"/>
                    </a:cubicBezTo>
                    <a:cubicBezTo>
                      <a:pt x="6475191" y="791242"/>
                      <a:pt x="6471476" y="790670"/>
                      <a:pt x="6471476" y="784098"/>
                    </a:cubicBezTo>
                    <a:cubicBezTo>
                      <a:pt x="6471476" y="777526"/>
                      <a:pt x="6471857" y="776002"/>
                      <a:pt x="6471857" y="772097"/>
                    </a:cubicBezTo>
                    <a:cubicBezTo>
                      <a:pt x="6471857" y="768191"/>
                      <a:pt x="6469761" y="762191"/>
                      <a:pt x="6467666" y="759428"/>
                    </a:cubicBezTo>
                    <a:cubicBezTo>
                      <a:pt x="6465475" y="756666"/>
                      <a:pt x="6464427" y="752285"/>
                      <a:pt x="6461760" y="751237"/>
                    </a:cubicBezTo>
                    <a:cubicBezTo>
                      <a:pt x="6459093" y="750189"/>
                      <a:pt x="6456902" y="748570"/>
                      <a:pt x="6457950" y="746379"/>
                    </a:cubicBezTo>
                    <a:cubicBezTo>
                      <a:pt x="6458998" y="744188"/>
                      <a:pt x="6461855" y="743712"/>
                      <a:pt x="6466142" y="744188"/>
                    </a:cubicBezTo>
                    <a:cubicBezTo>
                      <a:pt x="6470428" y="744760"/>
                      <a:pt x="6474619" y="744665"/>
                      <a:pt x="6476714" y="740855"/>
                    </a:cubicBezTo>
                    <a:cubicBezTo>
                      <a:pt x="6478810" y="737045"/>
                      <a:pt x="6479382" y="737140"/>
                      <a:pt x="6479382" y="732187"/>
                    </a:cubicBezTo>
                    <a:cubicBezTo>
                      <a:pt x="6479382" y="727234"/>
                      <a:pt x="6482048" y="723900"/>
                      <a:pt x="6480905" y="719519"/>
                    </a:cubicBezTo>
                    <a:cubicBezTo>
                      <a:pt x="6479858" y="715137"/>
                      <a:pt x="6477857" y="713042"/>
                      <a:pt x="6481572" y="711422"/>
                    </a:cubicBezTo>
                    <a:cubicBezTo>
                      <a:pt x="6483001" y="710851"/>
                      <a:pt x="6484240" y="710279"/>
                      <a:pt x="6485382" y="710089"/>
                    </a:cubicBezTo>
                    <a:close/>
                    <a:moveTo>
                      <a:pt x="4575239" y="824103"/>
                    </a:moveTo>
                    <a:cubicBezTo>
                      <a:pt x="4577620" y="828866"/>
                      <a:pt x="4581811" y="836009"/>
                      <a:pt x="4584573" y="841534"/>
                    </a:cubicBezTo>
                    <a:cubicBezTo>
                      <a:pt x="4587907" y="848297"/>
                      <a:pt x="4592860" y="850011"/>
                      <a:pt x="4592860" y="861822"/>
                    </a:cubicBezTo>
                    <a:cubicBezTo>
                      <a:pt x="4592860" y="873633"/>
                      <a:pt x="4591907" y="882872"/>
                      <a:pt x="4597622" y="893826"/>
                    </a:cubicBezTo>
                    <a:cubicBezTo>
                      <a:pt x="4603433" y="904780"/>
                      <a:pt x="4614196" y="924306"/>
                      <a:pt x="4624197" y="932783"/>
                    </a:cubicBezTo>
                    <a:cubicBezTo>
                      <a:pt x="4634103" y="941260"/>
                      <a:pt x="4631722" y="942023"/>
                      <a:pt x="4645819" y="947928"/>
                    </a:cubicBezTo>
                    <a:cubicBezTo>
                      <a:pt x="4659916" y="953833"/>
                      <a:pt x="4657344" y="948023"/>
                      <a:pt x="4666393" y="959072"/>
                    </a:cubicBezTo>
                    <a:cubicBezTo>
                      <a:pt x="4675537" y="970026"/>
                      <a:pt x="4674585" y="964121"/>
                      <a:pt x="4681252" y="970026"/>
                    </a:cubicBezTo>
                    <a:cubicBezTo>
                      <a:pt x="4687920" y="975932"/>
                      <a:pt x="4693825" y="986028"/>
                      <a:pt x="4693825" y="986028"/>
                    </a:cubicBezTo>
                    <a:lnTo>
                      <a:pt x="4703731" y="993648"/>
                    </a:lnTo>
                    <a:cubicBezTo>
                      <a:pt x="4707827" y="997839"/>
                      <a:pt x="4709541" y="1007174"/>
                      <a:pt x="4721067" y="1007174"/>
                    </a:cubicBezTo>
                    <a:lnTo>
                      <a:pt x="4743545" y="1007174"/>
                    </a:lnTo>
                    <a:cubicBezTo>
                      <a:pt x="4752689" y="1007174"/>
                      <a:pt x="4752499" y="997077"/>
                      <a:pt x="4763357" y="1011460"/>
                    </a:cubicBezTo>
                    <a:cubicBezTo>
                      <a:pt x="4774121" y="1025843"/>
                      <a:pt x="4767168" y="1030986"/>
                      <a:pt x="4778788" y="1035272"/>
                    </a:cubicBezTo>
                    <a:cubicBezTo>
                      <a:pt x="4782788" y="1036701"/>
                      <a:pt x="4787170" y="1037654"/>
                      <a:pt x="4791170" y="1038035"/>
                    </a:cubicBezTo>
                    <a:lnTo>
                      <a:pt x="4795933" y="1073182"/>
                    </a:lnTo>
                    <a:lnTo>
                      <a:pt x="4787361" y="1073372"/>
                    </a:lnTo>
                    <a:lnTo>
                      <a:pt x="4747832" y="1086231"/>
                    </a:lnTo>
                    <a:lnTo>
                      <a:pt x="4694492" y="1116902"/>
                    </a:lnTo>
                    <a:cubicBezTo>
                      <a:pt x="4694492" y="1116902"/>
                      <a:pt x="4693920" y="1117568"/>
                      <a:pt x="4693635" y="1117949"/>
                    </a:cubicBezTo>
                    <a:lnTo>
                      <a:pt x="4677823" y="1101662"/>
                    </a:lnTo>
                    <a:lnTo>
                      <a:pt x="4726781" y="1071372"/>
                    </a:lnTo>
                    <a:cubicBezTo>
                      <a:pt x="4734306" y="1066705"/>
                      <a:pt x="4738212" y="1066514"/>
                      <a:pt x="4733544" y="1057370"/>
                    </a:cubicBezTo>
                    <a:cubicBezTo>
                      <a:pt x="4731068" y="1052227"/>
                      <a:pt x="4726210" y="1046607"/>
                      <a:pt x="4716495" y="1047274"/>
                    </a:cubicBezTo>
                    <a:lnTo>
                      <a:pt x="4715828" y="1012984"/>
                    </a:lnTo>
                    <a:lnTo>
                      <a:pt x="4659154" y="986123"/>
                    </a:lnTo>
                    <a:lnTo>
                      <a:pt x="4614005" y="940880"/>
                    </a:lnTo>
                    <a:lnTo>
                      <a:pt x="4604576" y="935831"/>
                    </a:lnTo>
                    <a:lnTo>
                      <a:pt x="4574191" y="870490"/>
                    </a:lnTo>
                    <a:lnTo>
                      <a:pt x="4566952" y="825341"/>
                    </a:lnTo>
                    <a:lnTo>
                      <a:pt x="4575239" y="824008"/>
                    </a:lnTo>
                    <a:close/>
                    <a:moveTo>
                      <a:pt x="2888933" y="828389"/>
                    </a:moveTo>
                    <a:cubicBezTo>
                      <a:pt x="2890552" y="828389"/>
                      <a:pt x="2892267" y="829151"/>
                      <a:pt x="2893981" y="830580"/>
                    </a:cubicBezTo>
                    <a:cubicBezTo>
                      <a:pt x="2898553" y="834200"/>
                      <a:pt x="2903792" y="830390"/>
                      <a:pt x="2901506" y="838962"/>
                    </a:cubicBezTo>
                    <a:cubicBezTo>
                      <a:pt x="2899220" y="847439"/>
                      <a:pt x="2895791" y="849249"/>
                      <a:pt x="2898648" y="856012"/>
                    </a:cubicBezTo>
                    <a:cubicBezTo>
                      <a:pt x="2901506" y="862679"/>
                      <a:pt x="2904935" y="870014"/>
                      <a:pt x="2906744" y="870014"/>
                    </a:cubicBezTo>
                    <a:cubicBezTo>
                      <a:pt x="2908554" y="870014"/>
                      <a:pt x="2909507" y="868299"/>
                      <a:pt x="2912364" y="871347"/>
                    </a:cubicBezTo>
                    <a:cubicBezTo>
                      <a:pt x="2915221" y="874395"/>
                      <a:pt x="2920365" y="873728"/>
                      <a:pt x="2915221" y="878015"/>
                    </a:cubicBezTo>
                    <a:cubicBezTo>
                      <a:pt x="2910078" y="882301"/>
                      <a:pt x="2906078" y="880491"/>
                      <a:pt x="2905506" y="884777"/>
                    </a:cubicBezTo>
                    <a:cubicBezTo>
                      <a:pt x="2904935" y="889064"/>
                      <a:pt x="2903792" y="892016"/>
                      <a:pt x="2904935" y="899351"/>
                    </a:cubicBezTo>
                    <a:cubicBezTo>
                      <a:pt x="2906078" y="906685"/>
                      <a:pt x="2904458" y="906018"/>
                      <a:pt x="2907887" y="910876"/>
                    </a:cubicBezTo>
                    <a:cubicBezTo>
                      <a:pt x="2911317" y="915733"/>
                      <a:pt x="2910745" y="916972"/>
                      <a:pt x="2915412" y="916400"/>
                    </a:cubicBezTo>
                    <a:cubicBezTo>
                      <a:pt x="2919984" y="915829"/>
                      <a:pt x="2925699" y="912114"/>
                      <a:pt x="2925699" y="912114"/>
                    </a:cubicBezTo>
                    <a:cubicBezTo>
                      <a:pt x="2925699" y="912114"/>
                      <a:pt x="2926652" y="906018"/>
                      <a:pt x="2928938" y="915162"/>
                    </a:cubicBezTo>
                    <a:cubicBezTo>
                      <a:pt x="2931224" y="924306"/>
                      <a:pt x="2932938" y="923735"/>
                      <a:pt x="2937034" y="925544"/>
                    </a:cubicBezTo>
                    <a:cubicBezTo>
                      <a:pt x="2941034" y="927354"/>
                      <a:pt x="2941701" y="925544"/>
                      <a:pt x="2943416" y="929735"/>
                    </a:cubicBezTo>
                    <a:cubicBezTo>
                      <a:pt x="2945130" y="934022"/>
                      <a:pt x="2944654" y="933926"/>
                      <a:pt x="2946368" y="941832"/>
                    </a:cubicBezTo>
                    <a:cubicBezTo>
                      <a:pt x="2948083" y="949738"/>
                      <a:pt x="2946845" y="950405"/>
                      <a:pt x="2950369" y="954119"/>
                    </a:cubicBezTo>
                    <a:cubicBezTo>
                      <a:pt x="2953798" y="957739"/>
                      <a:pt x="2954846" y="962025"/>
                      <a:pt x="2955988" y="962025"/>
                    </a:cubicBezTo>
                    <a:cubicBezTo>
                      <a:pt x="2957132" y="962025"/>
                      <a:pt x="2958846" y="968121"/>
                      <a:pt x="2958846" y="968121"/>
                    </a:cubicBezTo>
                    <a:lnTo>
                      <a:pt x="2958465" y="972026"/>
                    </a:lnTo>
                    <a:cubicBezTo>
                      <a:pt x="2959322" y="983837"/>
                      <a:pt x="2957513" y="986695"/>
                      <a:pt x="2962656" y="990314"/>
                    </a:cubicBezTo>
                    <a:cubicBezTo>
                      <a:pt x="2967800" y="993934"/>
                      <a:pt x="2962656" y="992981"/>
                      <a:pt x="2967704" y="993934"/>
                    </a:cubicBezTo>
                    <a:cubicBezTo>
                      <a:pt x="2972848" y="994886"/>
                      <a:pt x="2982373" y="997649"/>
                      <a:pt x="2980658" y="1003173"/>
                    </a:cubicBezTo>
                    <a:cubicBezTo>
                      <a:pt x="2978944" y="1008602"/>
                      <a:pt x="2959894" y="1041368"/>
                      <a:pt x="2959894" y="1044131"/>
                    </a:cubicBezTo>
                    <a:cubicBezTo>
                      <a:pt x="2959894" y="1046893"/>
                      <a:pt x="2956560" y="1051465"/>
                      <a:pt x="2952274" y="1056989"/>
                    </a:cubicBezTo>
                    <a:cubicBezTo>
                      <a:pt x="2947988" y="1062419"/>
                      <a:pt x="2937605" y="1066038"/>
                      <a:pt x="2936748" y="1068800"/>
                    </a:cubicBezTo>
                    <a:cubicBezTo>
                      <a:pt x="2935891" y="1071563"/>
                      <a:pt x="2937605" y="1073277"/>
                      <a:pt x="2934176" y="1079659"/>
                    </a:cubicBezTo>
                    <a:cubicBezTo>
                      <a:pt x="2930747" y="1086041"/>
                      <a:pt x="2925604" y="1083374"/>
                      <a:pt x="2922175" y="1088898"/>
                    </a:cubicBezTo>
                    <a:cubicBezTo>
                      <a:pt x="2918746" y="1094327"/>
                      <a:pt x="2916174" y="1096137"/>
                      <a:pt x="2911888" y="1104329"/>
                    </a:cubicBezTo>
                    <a:cubicBezTo>
                      <a:pt x="2907602" y="1112520"/>
                      <a:pt x="2904173" y="1109948"/>
                      <a:pt x="2903315" y="1115473"/>
                    </a:cubicBezTo>
                    <a:cubicBezTo>
                      <a:pt x="2902458" y="1120902"/>
                      <a:pt x="2910364" y="1119188"/>
                      <a:pt x="2902649" y="1120997"/>
                    </a:cubicBezTo>
                    <a:cubicBezTo>
                      <a:pt x="2894933" y="1122807"/>
                      <a:pt x="2893790" y="1118235"/>
                      <a:pt x="2887790" y="1123760"/>
                    </a:cubicBezTo>
                    <a:cubicBezTo>
                      <a:pt x="2881789" y="1129189"/>
                      <a:pt x="2880075" y="1130046"/>
                      <a:pt x="2876645" y="1133666"/>
                    </a:cubicBezTo>
                    <a:cubicBezTo>
                      <a:pt x="2873217" y="1137285"/>
                      <a:pt x="2874169" y="1137285"/>
                      <a:pt x="2872454" y="1141857"/>
                    </a:cubicBezTo>
                    <a:cubicBezTo>
                      <a:pt x="2870740" y="1146429"/>
                      <a:pt x="2875883" y="1144524"/>
                      <a:pt x="2870740" y="1146334"/>
                    </a:cubicBezTo>
                    <a:cubicBezTo>
                      <a:pt x="2865596" y="1148144"/>
                      <a:pt x="2848261" y="1148334"/>
                      <a:pt x="2848261" y="1148334"/>
                    </a:cubicBezTo>
                    <a:cubicBezTo>
                      <a:pt x="2848261" y="1148334"/>
                      <a:pt x="2844070" y="1151001"/>
                      <a:pt x="2841498" y="1147286"/>
                    </a:cubicBezTo>
                    <a:cubicBezTo>
                      <a:pt x="2838926" y="1143667"/>
                      <a:pt x="2837974" y="1144524"/>
                      <a:pt x="2835402" y="1139095"/>
                    </a:cubicBezTo>
                    <a:cubicBezTo>
                      <a:pt x="2832830" y="1133666"/>
                      <a:pt x="2833783" y="1128998"/>
                      <a:pt x="2826925" y="1131761"/>
                    </a:cubicBezTo>
                    <a:cubicBezTo>
                      <a:pt x="2820067" y="1134523"/>
                      <a:pt x="2817400" y="1136333"/>
                      <a:pt x="2813971" y="1139952"/>
                    </a:cubicBezTo>
                    <a:cubicBezTo>
                      <a:pt x="2810542" y="1143572"/>
                      <a:pt x="2810542" y="1141952"/>
                      <a:pt x="2804541" y="1148334"/>
                    </a:cubicBezTo>
                    <a:cubicBezTo>
                      <a:pt x="2798540" y="1154716"/>
                      <a:pt x="2794254" y="1158145"/>
                      <a:pt x="2792540" y="1160907"/>
                    </a:cubicBezTo>
                    <a:cubicBezTo>
                      <a:pt x="2790825" y="1163669"/>
                      <a:pt x="2782253" y="1186529"/>
                      <a:pt x="2779681" y="1195673"/>
                    </a:cubicBezTo>
                    <a:cubicBezTo>
                      <a:pt x="2777109" y="1204817"/>
                      <a:pt x="2773585" y="1207484"/>
                      <a:pt x="2773585" y="1213009"/>
                    </a:cubicBezTo>
                    <a:cubicBezTo>
                      <a:pt x="2773585" y="1218533"/>
                      <a:pt x="2771013" y="1218533"/>
                      <a:pt x="2773585" y="1226725"/>
                    </a:cubicBezTo>
                    <a:cubicBezTo>
                      <a:pt x="2776157" y="1234916"/>
                      <a:pt x="2778728" y="1236917"/>
                      <a:pt x="2781395" y="1244156"/>
                    </a:cubicBezTo>
                    <a:cubicBezTo>
                      <a:pt x="2783967" y="1251490"/>
                      <a:pt x="2785777" y="1256729"/>
                      <a:pt x="2785777" y="1256729"/>
                    </a:cubicBezTo>
                    <a:cubicBezTo>
                      <a:pt x="2785777" y="1256729"/>
                      <a:pt x="2789968" y="1255967"/>
                      <a:pt x="2789968" y="1261491"/>
                    </a:cubicBezTo>
                    <a:cubicBezTo>
                      <a:pt x="2789968" y="1267016"/>
                      <a:pt x="2783777" y="1265968"/>
                      <a:pt x="2782919" y="1268730"/>
                    </a:cubicBezTo>
                    <a:cubicBezTo>
                      <a:pt x="2782062" y="1271492"/>
                      <a:pt x="2783110" y="1276922"/>
                      <a:pt x="2782253" y="1279684"/>
                    </a:cubicBezTo>
                    <a:cubicBezTo>
                      <a:pt x="2781395" y="1282446"/>
                      <a:pt x="2786539" y="1280636"/>
                      <a:pt x="2781395" y="1282446"/>
                    </a:cubicBezTo>
                    <a:cubicBezTo>
                      <a:pt x="2776252" y="1284256"/>
                      <a:pt x="2771775" y="1281494"/>
                      <a:pt x="2772632" y="1277874"/>
                    </a:cubicBezTo>
                    <a:cubicBezTo>
                      <a:pt x="2773490" y="1274255"/>
                      <a:pt x="2773585" y="1267968"/>
                      <a:pt x="2773585" y="1261586"/>
                    </a:cubicBezTo>
                    <a:cubicBezTo>
                      <a:pt x="2773585" y="1255205"/>
                      <a:pt x="2771966" y="1247775"/>
                      <a:pt x="2769394" y="1242251"/>
                    </a:cubicBezTo>
                    <a:cubicBezTo>
                      <a:pt x="2766822" y="1236821"/>
                      <a:pt x="2764155" y="1230440"/>
                      <a:pt x="2764155" y="1230440"/>
                    </a:cubicBezTo>
                    <a:cubicBezTo>
                      <a:pt x="2764155" y="1230440"/>
                      <a:pt x="2764917" y="1225963"/>
                      <a:pt x="2759774" y="1225963"/>
                    </a:cubicBezTo>
                    <a:cubicBezTo>
                      <a:pt x="2754630" y="1225963"/>
                      <a:pt x="2746058" y="1228725"/>
                      <a:pt x="2747772" y="1222343"/>
                    </a:cubicBezTo>
                    <a:cubicBezTo>
                      <a:pt x="2749487" y="1215962"/>
                      <a:pt x="2750439" y="1214914"/>
                      <a:pt x="2754725" y="1210342"/>
                    </a:cubicBezTo>
                    <a:cubicBezTo>
                      <a:pt x="2759012" y="1205770"/>
                      <a:pt x="2759869" y="1206627"/>
                      <a:pt x="2763298" y="1199388"/>
                    </a:cubicBezTo>
                    <a:cubicBezTo>
                      <a:pt x="2766727" y="1192054"/>
                      <a:pt x="2767679" y="1195673"/>
                      <a:pt x="2769394" y="1181100"/>
                    </a:cubicBezTo>
                    <a:cubicBezTo>
                      <a:pt x="2771108" y="1166527"/>
                      <a:pt x="2772632" y="1160240"/>
                      <a:pt x="2770061" y="1155764"/>
                    </a:cubicBezTo>
                    <a:cubicBezTo>
                      <a:pt x="2767489" y="1151192"/>
                      <a:pt x="2767584" y="1144810"/>
                      <a:pt x="2771870" y="1139285"/>
                    </a:cubicBezTo>
                    <a:cubicBezTo>
                      <a:pt x="2776157" y="1133856"/>
                      <a:pt x="2778824" y="1136523"/>
                      <a:pt x="2779681" y="1129189"/>
                    </a:cubicBezTo>
                    <a:cubicBezTo>
                      <a:pt x="2780538" y="1121855"/>
                      <a:pt x="2779490" y="1110044"/>
                      <a:pt x="2772632" y="1112711"/>
                    </a:cubicBezTo>
                    <a:cubicBezTo>
                      <a:pt x="2765775" y="1115473"/>
                      <a:pt x="2759774" y="1115568"/>
                      <a:pt x="2758059" y="1119188"/>
                    </a:cubicBezTo>
                    <a:cubicBezTo>
                      <a:pt x="2756345" y="1122807"/>
                      <a:pt x="2754725" y="1123664"/>
                      <a:pt x="2753868" y="1126427"/>
                    </a:cubicBezTo>
                    <a:cubicBezTo>
                      <a:pt x="2753011" y="1129189"/>
                      <a:pt x="2754725" y="1137380"/>
                      <a:pt x="2745296" y="1133761"/>
                    </a:cubicBezTo>
                    <a:cubicBezTo>
                      <a:pt x="2735866" y="1130141"/>
                      <a:pt x="2732342" y="1129189"/>
                      <a:pt x="2727198" y="1129189"/>
                    </a:cubicBezTo>
                    <a:cubicBezTo>
                      <a:pt x="2722055" y="1129189"/>
                      <a:pt x="2720340" y="1128236"/>
                      <a:pt x="2715196" y="1131951"/>
                    </a:cubicBezTo>
                    <a:cubicBezTo>
                      <a:pt x="2710053" y="1135571"/>
                      <a:pt x="2705767" y="1137476"/>
                      <a:pt x="2704910" y="1142048"/>
                    </a:cubicBezTo>
                    <a:cubicBezTo>
                      <a:pt x="2704052" y="1146620"/>
                      <a:pt x="2704052" y="1150239"/>
                      <a:pt x="2704052" y="1153001"/>
                    </a:cubicBezTo>
                    <a:cubicBezTo>
                      <a:pt x="2704052" y="1155764"/>
                      <a:pt x="2705767" y="1160336"/>
                      <a:pt x="2701481" y="1160336"/>
                    </a:cubicBezTo>
                    <a:cubicBezTo>
                      <a:pt x="2697194" y="1160336"/>
                      <a:pt x="2701481" y="1156621"/>
                      <a:pt x="2694527" y="1153859"/>
                    </a:cubicBezTo>
                    <a:cubicBezTo>
                      <a:pt x="2687669" y="1151096"/>
                      <a:pt x="2687574" y="1143953"/>
                      <a:pt x="2678144" y="1148525"/>
                    </a:cubicBezTo>
                    <a:cubicBezTo>
                      <a:pt x="2668715" y="1153097"/>
                      <a:pt x="2666238" y="1156716"/>
                      <a:pt x="2661095" y="1160336"/>
                    </a:cubicBezTo>
                    <a:cubicBezTo>
                      <a:pt x="2655951" y="1163955"/>
                      <a:pt x="2655856" y="1162907"/>
                      <a:pt x="2654142" y="1169289"/>
                    </a:cubicBezTo>
                    <a:cubicBezTo>
                      <a:pt x="2652427" y="1175671"/>
                      <a:pt x="2649855" y="1174909"/>
                      <a:pt x="2652427" y="1180433"/>
                    </a:cubicBezTo>
                    <a:cubicBezTo>
                      <a:pt x="2654999" y="1185863"/>
                      <a:pt x="2659380" y="1184910"/>
                      <a:pt x="2658523" y="1192244"/>
                    </a:cubicBezTo>
                    <a:cubicBezTo>
                      <a:pt x="2657666" y="1199579"/>
                      <a:pt x="2657570" y="1199388"/>
                      <a:pt x="2654142" y="1208532"/>
                    </a:cubicBezTo>
                    <a:cubicBezTo>
                      <a:pt x="2650712" y="1217676"/>
                      <a:pt x="2647283" y="1219581"/>
                      <a:pt x="2650712" y="1225963"/>
                    </a:cubicBezTo>
                    <a:cubicBezTo>
                      <a:pt x="2654142" y="1232345"/>
                      <a:pt x="2658523" y="1227677"/>
                      <a:pt x="2655951" y="1238631"/>
                    </a:cubicBezTo>
                    <a:cubicBezTo>
                      <a:pt x="2653379" y="1249585"/>
                      <a:pt x="2652427" y="1244060"/>
                      <a:pt x="2650712" y="1253204"/>
                    </a:cubicBezTo>
                    <a:cubicBezTo>
                      <a:pt x="2648998" y="1262348"/>
                      <a:pt x="2647283" y="1261491"/>
                      <a:pt x="2649855" y="1268730"/>
                    </a:cubicBezTo>
                    <a:cubicBezTo>
                      <a:pt x="2652427" y="1276064"/>
                      <a:pt x="2648045" y="1278636"/>
                      <a:pt x="2656618" y="1284161"/>
                    </a:cubicBezTo>
                    <a:cubicBezTo>
                      <a:pt x="2665190" y="1289590"/>
                      <a:pt x="2665190" y="1282351"/>
                      <a:pt x="2665190" y="1289685"/>
                    </a:cubicBezTo>
                    <a:cubicBezTo>
                      <a:pt x="2665190" y="1297019"/>
                      <a:pt x="2661000" y="1308830"/>
                      <a:pt x="2655856" y="1304258"/>
                    </a:cubicBezTo>
                    <a:cubicBezTo>
                      <a:pt x="2650712" y="1299686"/>
                      <a:pt x="2647283" y="1293305"/>
                      <a:pt x="2645569" y="1286923"/>
                    </a:cubicBezTo>
                    <a:cubicBezTo>
                      <a:pt x="2643854" y="1280541"/>
                      <a:pt x="2640235" y="1272445"/>
                      <a:pt x="2640235" y="1264253"/>
                    </a:cubicBezTo>
                    <a:lnTo>
                      <a:pt x="2640235" y="1237679"/>
                    </a:lnTo>
                    <a:cubicBezTo>
                      <a:pt x="2640235" y="1230344"/>
                      <a:pt x="2638520" y="1222248"/>
                      <a:pt x="2636806" y="1216819"/>
                    </a:cubicBezTo>
                    <a:cubicBezTo>
                      <a:pt x="2635092" y="1211390"/>
                      <a:pt x="2630805" y="1204913"/>
                      <a:pt x="2625662" y="1203960"/>
                    </a:cubicBezTo>
                    <a:cubicBezTo>
                      <a:pt x="2620518" y="1203008"/>
                      <a:pt x="2615375" y="1199293"/>
                      <a:pt x="2611088" y="1205675"/>
                    </a:cubicBezTo>
                    <a:cubicBezTo>
                      <a:pt x="2606802" y="1212056"/>
                      <a:pt x="2605088" y="1215676"/>
                      <a:pt x="2602516" y="1223010"/>
                    </a:cubicBezTo>
                    <a:cubicBezTo>
                      <a:pt x="2599944" y="1230344"/>
                      <a:pt x="2596515" y="1240536"/>
                      <a:pt x="2594705" y="1246918"/>
                    </a:cubicBezTo>
                    <a:cubicBezTo>
                      <a:pt x="2592991" y="1253300"/>
                      <a:pt x="2590324" y="1258729"/>
                      <a:pt x="2591181" y="1261491"/>
                    </a:cubicBezTo>
                    <a:cubicBezTo>
                      <a:pt x="2592038" y="1264253"/>
                      <a:pt x="2594801" y="1268730"/>
                      <a:pt x="2590514" y="1271397"/>
                    </a:cubicBezTo>
                    <a:cubicBezTo>
                      <a:pt x="2586228" y="1274159"/>
                      <a:pt x="2580894" y="1278636"/>
                      <a:pt x="2580894" y="1281303"/>
                    </a:cubicBezTo>
                    <a:cubicBezTo>
                      <a:pt x="2580894" y="1283970"/>
                      <a:pt x="2580227" y="1290542"/>
                      <a:pt x="2580227" y="1293305"/>
                    </a:cubicBezTo>
                    <a:cubicBezTo>
                      <a:pt x="2580227" y="1296067"/>
                      <a:pt x="2580894" y="1297877"/>
                      <a:pt x="2580894" y="1303401"/>
                    </a:cubicBezTo>
                    <a:cubicBezTo>
                      <a:pt x="2580894" y="1308926"/>
                      <a:pt x="2589467" y="1305116"/>
                      <a:pt x="2580894" y="1308735"/>
                    </a:cubicBezTo>
                    <a:cubicBezTo>
                      <a:pt x="2572321" y="1312355"/>
                      <a:pt x="2568893" y="1314164"/>
                      <a:pt x="2568893" y="1306830"/>
                    </a:cubicBezTo>
                    <a:cubicBezTo>
                      <a:pt x="2568893" y="1299496"/>
                      <a:pt x="2567178" y="1293209"/>
                      <a:pt x="2568893" y="1287780"/>
                    </a:cubicBezTo>
                    <a:cubicBezTo>
                      <a:pt x="2570607" y="1282256"/>
                      <a:pt x="2572417" y="1276826"/>
                      <a:pt x="2572417" y="1273207"/>
                    </a:cubicBezTo>
                    <a:cubicBezTo>
                      <a:pt x="2572417" y="1269587"/>
                      <a:pt x="2568988" y="1268635"/>
                      <a:pt x="2569845" y="1261396"/>
                    </a:cubicBezTo>
                    <a:cubicBezTo>
                      <a:pt x="2570702" y="1254062"/>
                      <a:pt x="2572321" y="1246727"/>
                      <a:pt x="2576608" y="1243108"/>
                    </a:cubicBezTo>
                    <a:cubicBezTo>
                      <a:pt x="2580894" y="1239488"/>
                      <a:pt x="2582704" y="1233964"/>
                      <a:pt x="2580132" y="1225772"/>
                    </a:cubicBezTo>
                    <a:cubicBezTo>
                      <a:pt x="2577560" y="1217581"/>
                      <a:pt x="2580132" y="1218438"/>
                      <a:pt x="2567940" y="1212914"/>
                    </a:cubicBezTo>
                    <a:cubicBezTo>
                      <a:pt x="2555938" y="1207484"/>
                      <a:pt x="2549938" y="1205675"/>
                      <a:pt x="2547366" y="1206532"/>
                    </a:cubicBezTo>
                    <a:cubicBezTo>
                      <a:pt x="2544794" y="1207484"/>
                      <a:pt x="2543842" y="1209199"/>
                      <a:pt x="2539556" y="1211009"/>
                    </a:cubicBezTo>
                    <a:cubicBezTo>
                      <a:pt x="2535269" y="1212818"/>
                      <a:pt x="2533555" y="1214723"/>
                      <a:pt x="2529269" y="1212056"/>
                    </a:cubicBezTo>
                    <a:cubicBezTo>
                      <a:pt x="2524982" y="1209294"/>
                      <a:pt x="2524982" y="1202817"/>
                      <a:pt x="2521458" y="1205579"/>
                    </a:cubicBezTo>
                    <a:cubicBezTo>
                      <a:pt x="2518029" y="1208342"/>
                      <a:pt x="2518125" y="1209294"/>
                      <a:pt x="2514695" y="1210151"/>
                    </a:cubicBezTo>
                    <a:cubicBezTo>
                      <a:pt x="2511267" y="1211104"/>
                      <a:pt x="2505266" y="1209199"/>
                      <a:pt x="2506123" y="1205579"/>
                    </a:cubicBezTo>
                    <a:cubicBezTo>
                      <a:pt x="2506980" y="1201960"/>
                      <a:pt x="2510314" y="1199293"/>
                      <a:pt x="2512886" y="1198340"/>
                    </a:cubicBezTo>
                    <a:cubicBezTo>
                      <a:pt x="2515457" y="1197388"/>
                      <a:pt x="2513933" y="1199198"/>
                      <a:pt x="2522506" y="1199198"/>
                    </a:cubicBezTo>
                    <a:cubicBezTo>
                      <a:pt x="2531078" y="1199198"/>
                      <a:pt x="2532888" y="1203770"/>
                      <a:pt x="2536317" y="1198340"/>
                    </a:cubicBezTo>
                    <a:cubicBezTo>
                      <a:pt x="2539746" y="1192911"/>
                      <a:pt x="2530983" y="1191006"/>
                      <a:pt x="2539556" y="1192816"/>
                    </a:cubicBezTo>
                    <a:cubicBezTo>
                      <a:pt x="2548128" y="1194626"/>
                      <a:pt x="2557653" y="1198340"/>
                      <a:pt x="2563749" y="1197388"/>
                    </a:cubicBezTo>
                    <a:cubicBezTo>
                      <a:pt x="2569750" y="1196435"/>
                      <a:pt x="2573084" y="1189101"/>
                      <a:pt x="2583371" y="1184529"/>
                    </a:cubicBezTo>
                    <a:cubicBezTo>
                      <a:pt x="2593658" y="1179957"/>
                      <a:pt x="2592896" y="1180052"/>
                      <a:pt x="2601468" y="1174623"/>
                    </a:cubicBezTo>
                    <a:cubicBezTo>
                      <a:pt x="2610041" y="1169194"/>
                      <a:pt x="2610993" y="1171766"/>
                      <a:pt x="2613660" y="1163479"/>
                    </a:cubicBezTo>
                    <a:cubicBezTo>
                      <a:pt x="2616232" y="1155287"/>
                      <a:pt x="2615279" y="1149001"/>
                      <a:pt x="2610136" y="1147191"/>
                    </a:cubicBezTo>
                    <a:cubicBezTo>
                      <a:pt x="2604992" y="1145381"/>
                      <a:pt x="2600801" y="1143476"/>
                      <a:pt x="2595563" y="1145286"/>
                    </a:cubicBezTo>
                    <a:cubicBezTo>
                      <a:pt x="2590419" y="1147096"/>
                      <a:pt x="2592134" y="1150715"/>
                      <a:pt x="2586133" y="1148906"/>
                    </a:cubicBezTo>
                    <a:cubicBezTo>
                      <a:pt x="2580132" y="1147096"/>
                      <a:pt x="2575751" y="1145286"/>
                      <a:pt x="2568035" y="1145286"/>
                    </a:cubicBezTo>
                    <a:cubicBezTo>
                      <a:pt x="2560320" y="1145286"/>
                      <a:pt x="2559558" y="1144334"/>
                      <a:pt x="2556986" y="1146143"/>
                    </a:cubicBezTo>
                    <a:cubicBezTo>
                      <a:pt x="2554415" y="1147953"/>
                      <a:pt x="2562130" y="1149096"/>
                      <a:pt x="2549176" y="1150906"/>
                    </a:cubicBezTo>
                    <a:cubicBezTo>
                      <a:pt x="2536317" y="1152716"/>
                      <a:pt x="2532793" y="1155383"/>
                      <a:pt x="2530221" y="1155383"/>
                    </a:cubicBezTo>
                    <a:cubicBezTo>
                      <a:pt x="2527650" y="1155383"/>
                      <a:pt x="2519934" y="1157097"/>
                      <a:pt x="2519934" y="1157097"/>
                    </a:cubicBezTo>
                    <a:cubicBezTo>
                      <a:pt x="2519934" y="1157097"/>
                      <a:pt x="2515648" y="1158145"/>
                      <a:pt x="2512124" y="1158145"/>
                    </a:cubicBezTo>
                    <a:cubicBezTo>
                      <a:pt x="2508600" y="1158145"/>
                      <a:pt x="2503456" y="1160907"/>
                      <a:pt x="2499932" y="1160050"/>
                    </a:cubicBezTo>
                    <a:cubicBezTo>
                      <a:pt x="2496503" y="1159097"/>
                      <a:pt x="2495741" y="1151001"/>
                      <a:pt x="2495741" y="1151001"/>
                    </a:cubicBezTo>
                    <a:cubicBezTo>
                      <a:pt x="2495741" y="1151001"/>
                      <a:pt x="2504408" y="1149858"/>
                      <a:pt x="2512124" y="1146239"/>
                    </a:cubicBezTo>
                    <a:cubicBezTo>
                      <a:pt x="2519839" y="1142619"/>
                      <a:pt x="2519077" y="1140809"/>
                      <a:pt x="2525935" y="1139857"/>
                    </a:cubicBezTo>
                    <a:cubicBezTo>
                      <a:pt x="2532793" y="1138904"/>
                      <a:pt x="2533460" y="1135380"/>
                      <a:pt x="2537841" y="1133475"/>
                    </a:cubicBezTo>
                    <a:cubicBezTo>
                      <a:pt x="2542127" y="1131665"/>
                      <a:pt x="2539556" y="1131570"/>
                      <a:pt x="2547271" y="1131570"/>
                    </a:cubicBezTo>
                    <a:cubicBezTo>
                      <a:pt x="2554986" y="1131570"/>
                      <a:pt x="2556891" y="1130713"/>
                      <a:pt x="2556891" y="1127951"/>
                    </a:cubicBezTo>
                    <a:cubicBezTo>
                      <a:pt x="2556891" y="1125188"/>
                      <a:pt x="2550033" y="1127951"/>
                      <a:pt x="2556891" y="1125188"/>
                    </a:cubicBezTo>
                    <a:cubicBezTo>
                      <a:pt x="2563749" y="1122426"/>
                      <a:pt x="2555938" y="1127951"/>
                      <a:pt x="2566226" y="1127951"/>
                    </a:cubicBezTo>
                    <a:cubicBezTo>
                      <a:pt x="2576513" y="1127951"/>
                      <a:pt x="2577465" y="1129760"/>
                      <a:pt x="2581751" y="1127951"/>
                    </a:cubicBezTo>
                    <a:cubicBezTo>
                      <a:pt x="2586038" y="1126141"/>
                      <a:pt x="2576608" y="1125188"/>
                      <a:pt x="2592896" y="1126046"/>
                    </a:cubicBezTo>
                    <a:cubicBezTo>
                      <a:pt x="2609183" y="1126998"/>
                      <a:pt x="2595372" y="1127093"/>
                      <a:pt x="2609183" y="1127093"/>
                    </a:cubicBezTo>
                    <a:cubicBezTo>
                      <a:pt x="2622995" y="1127093"/>
                      <a:pt x="2622995" y="1126903"/>
                      <a:pt x="2626424" y="1124236"/>
                    </a:cubicBezTo>
                    <a:cubicBezTo>
                      <a:pt x="2629853" y="1121474"/>
                      <a:pt x="2630615" y="1116997"/>
                      <a:pt x="2630615" y="1114330"/>
                    </a:cubicBezTo>
                    <a:cubicBezTo>
                      <a:pt x="2630615" y="1111663"/>
                      <a:pt x="2625567" y="1105281"/>
                      <a:pt x="2625567" y="1105281"/>
                    </a:cubicBezTo>
                    <a:lnTo>
                      <a:pt x="2629757" y="1100709"/>
                    </a:lnTo>
                    <a:lnTo>
                      <a:pt x="2637663" y="1106329"/>
                    </a:lnTo>
                    <a:cubicBezTo>
                      <a:pt x="2637663" y="1106329"/>
                      <a:pt x="2633282" y="1110806"/>
                      <a:pt x="2643569" y="1110806"/>
                    </a:cubicBezTo>
                    <a:cubicBezTo>
                      <a:pt x="2653856" y="1110806"/>
                      <a:pt x="2660047" y="1105281"/>
                      <a:pt x="2655761" y="1102614"/>
                    </a:cubicBezTo>
                    <a:cubicBezTo>
                      <a:pt x="2651475" y="1099852"/>
                      <a:pt x="2646140" y="1093565"/>
                      <a:pt x="2646140" y="1093565"/>
                    </a:cubicBezTo>
                    <a:cubicBezTo>
                      <a:pt x="2646140" y="1093565"/>
                      <a:pt x="2644617" y="1091756"/>
                      <a:pt x="2640044" y="1086898"/>
                    </a:cubicBezTo>
                    <a:cubicBezTo>
                      <a:pt x="2635472" y="1082040"/>
                      <a:pt x="2632615" y="1081373"/>
                      <a:pt x="2630900" y="1078992"/>
                    </a:cubicBezTo>
                    <a:cubicBezTo>
                      <a:pt x="2629186" y="1076516"/>
                      <a:pt x="2627567" y="1074039"/>
                      <a:pt x="2623566" y="1071658"/>
                    </a:cubicBezTo>
                    <a:cubicBezTo>
                      <a:pt x="2619566" y="1069181"/>
                      <a:pt x="2614327" y="1067943"/>
                      <a:pt x="2611374" y="1067372"/>
                    </a:cubicBezTo>
                    <a:cubicBezTo>
                      <a:pt x="2608517" y="1066800"/>
                      <a:pt x="2601849" y="1068038"/>
                      <a:pt x="2599468" y="1066800"/>
                    </a:cubicBezTo>
                    <a:cubicBezTo>
                      <a:pt x="2597182" y="1065562"/>
                      <a:pt x="2593658" y="1066324"/>
                      <a:pt x="2594229" y="1062038"/>
                    </a:cubicBezTo>
                    <a:cubicBezTo>
                      <a:pt x="2594801" y="1057751"/>
                      <a:pt x="2595848" y="1056418"/>
                      <a:pt x="2598706" y="1055846"/>
                    </a:cubicBezTo>
                    <a:cubicBezTo>
                      <a:pt x="2601563" y="1055275"/>
                      <a:pt x="2603850" y="1058323"/>
                      <a:pt x="2608421" y="1058323"/>
                    </a:cubicBezTo>
                    <a:cubicBezTo>
                      <a:pt x="2612993" y="1058323"/>
                      <a:pt x="2613660" y="1059656"/>
                      <a:pt x="2615946" y="1056608"/>
                    </a:cubicBezTo>
                    <a:cubicBezTo>
                      <a:pt x="2618232" y="1053560"/>
                      <a:pt x="2618327" y="1050417"/>
                      <a:pt x="2621185" y="1050989"/>
                    </a:cubicBezTo>
                    <a:cubicBezTo>
                      <a:pt x="2624042" y="1051560"/>
                      <a:pt x="2623376" y="1051655"/>
                      <a:pt x="2625185" y="1054703"/>
                    </a:cubicBezTo>
                    <a:cubicBezTo>
                      <a:pt x="2626900" y="1057751"/>
                      <a:pt x="2622233" y="1057656"/>
                      <a:pt x="2629662" y="1058894"/>
                    </a:cubicBezTo>
                    <a:cubicBezTo>
                      <a:pt x="2637092" y="1060133"/>
                      <a:pt x="2632043" y="1062514"/>
                      <a:pt x="2637187" y="1060037"/>
                    </a:cubicBezTo>
                    <a:cubicBezTo>
                      <a:pt x="2642330" y="1057561"/>
                      <a:pt x="2636520" y="1055180"/>
                      <a:pt x="2642235" y="1057561"/>
                    </a:cubicBezTo>
                    <a:cubicBezTo>
                      <a:pt x="2647950" y="1060037"/>
                      <a:pt x="2645759" y="1059466"/>
                      <a:pt x="2648617" y="1063752"/>
                    </a:cubicBezTo>
                    <a:cubicBezTo>
                      <a:pt x="2651475" y="1068038"/>
                      <a:pt x="2653856" y="1069848"/>
                      <a:pt x="2653856" y="1069848"/>
                    </a:cubicBezTo>
                    <a:cubicBezTo>
                      <a:pt x="2653856" y="1069848"/>
                      <a:pt x="2657189" y="1072991"/>
                      <a:pt x="2660047" y="1073563"/>
                    </a:cubicBezTo>
                    <a:cubicBezTo>
                      <a:pt x="2662904" y="1074134"/>
                      <a:pt x="2661380" y="1069848"/>
                      <a:pt x="2665952" y="1074134"/>
                    </a:cubicBezTo>
                    <a:cubicBezTo>
                      <a:pt x="2670525" y="1078421"/>
                      <a:pt x="2670429" y="1075373"/>
                      <a:pt x="2672715" y="1080230"/>
                    </a:cubicBezTo>
                    <a:cubicBezTo>
                      <a:pt x="2675001" y="1085088"/>
                      <a:pt x="2675477" y="1086326"/>
                      <a:pt x="2677192" y="1091184"/>
                    </a:cubicBezTo>
                    <a:cubicBezTo>
                      <a:pt x="2678906" y="1096042"/>
                      <a:pt x="2680716" y="1098995"/>
                      <a:pt x="2683574" y="1100804"/>
                    </a:cubicBezTo>
                    <a:cubicBezTo>
                      <a:pt x="2686431" y="1102614"/>
                      <a:pt x="2691098" y="1102709"/>
                      <a:pt x="2691098" y="1102709"/>
                    </a:cubicBezTo>
                    <a:cubicBezTo>
                      <a:pt x="2691098" y="1102709"/>
                      <a:pt x="2696146" y="1106329"/>
                      <a:pt x="2698433" y="1100804"/>
                    </a:cubicBezTo>
                    <a:cubicBezTo>
                      <a:pt x="2700719" y="1095375"/>
                      <a:pt x="2699195" y="1092899"/>
                      <a:pt x="2696909" y="1090422"/>
                    </a:cubicBezTo>
                    <a:cubicBezTo>
                      <a:pt x="2694623" y="1087946"/>
                      <a:pt x="2690622" y="1086803"/>
                      <a:pt x="2689384" y="1084898"/>
                    </a:cubicBezTo>
                    <a:cubicBezTo>
                      <a:pt x="2688241" y="1083088"/>
                      <a:pt x="2684717" y="1081278"/>
                      <a:pt x="2688146" y="1078230"/>
                    </a:cubicBezTo>
                    <a:cubicBezTo>
                      <a:pt x="2691575" y="1075182"/>
                      <a:pt x="2693384" y="1075182"/>
                      <a:pt x="2695099" y="1075182"/>
                    </a:cubicBezTo>
                    <a:cubicBezTo>
                      <a:pt x="2696813" y="1075182"/>
                      <a:pt x="2701385" y="1074611"/>
                      <a:pt x="2706529" y="1077659"/>
                    </a:cubicBezTo>
                    <a:cubicBezTo>
                      <a:pt x="2711672" y="1080707"/>
                      <a:pt x="2707100" y="1083755"/>
                      <a:pt x="2714625" y="1083183"/>
                    </a:cubicBezTo>
                    <a:cubicBezTo>
                      <a:pt x="2722055" y="1082612"/>
                      <a:pt x="2727103" y="1084993"/>
                      <a:pt x="2730056" y="1080707"/>
                    </a:cubicBezTo>
                    <a:cubicBezTo>
                      <a:pt x="2732913" y="1076420"/>
                      <a:pt x="2732437" y="1075182"/>
                      <a:pt x="2733008" y="1069753"/>
                    </a:cubicBezTo>
                    <a:cubicBezTo>
                      <a:pt x="2733580" y="1064324"/>
                      <a:pt x="2734723" y="1059466"/>
                      <a:pt x="2733580" y="1055180"/>
                    </a:cubicBezTo>
                    <a:cubicBezTo>
                      <a:pt x="2732437" y="1050893"/>
                      <a:pt x="2730246" y="1049655"/>
                      <a:pt x="2727960" y="1042892"/>
                    </a:cubicBezTo>
                    <a:cubicBezTo>
                      <a:pt x="2725674" y="1036225"/>
                      <a:pt x="2727960" y="1033367"/>
                      <a:pt x="2723293" y="1031462"/>
                    </a:cubicBezTo>
                    <a:cubicBezTo>
                      <a:pt x="2718721" y="1029653"/>
                      <a:pt x="2714720" y="1023557"/>
                      <a:pt x="2711292" y="1023557"/>
                    </a:cubicBezTo>
                    <a:cubicBezTo>
                      <a:pt x="2707862" y="1023557"/>
                      <a:pt x="2702624" y="1021652"/>
                      <a:pt x="2705481" y="1019270"/>
                    </a:cubicBezTo>
                    <a:cubicBezTo>
                      <a:pt x="2708338" y="1016794"/>
                      <a:pt x="2711768" y="1016889"/>
                      <a:pt x="2715196" y="1018699"/>
                    </a:cubicBezTo>
                    <a:cubicBezTo>
                      <a:pt x="2718626" y="1020508"/>
                      <a:pt x="2721483" y="1022985"/>
                      <a:pt x="2726627" y="1024223"/>
                    </a:cubicBezTo>
                    <a:cubicBezTo>
                      <a:pt x="2731770" y="1025462"/>
                      <a:pt x="2737485" y="1028605"/>
                      <a:pt x="2740343" y="1032891"/>
                    </a:cubicBezTo>
                    <a:cubicBezTo>
                      <a:pt x="2743200" y="1037177"/>
                      <a:pt x="2743295" y="1036415"/>
                      <a:pt x="2746153" y="1042511"/>
                    </a:cubicBezTo>
                    <a:cubicBezTo>
                      <a:pt x="2749010" y="1048607"/>
                      <a:pt x="2749677" y="1045464"/>
                      <a:pt x="2751392" y="1052132"/>
                    </a:cubicBezTo>
                    <a:cubicBezTo>
                      <a:pt x="2753106" y="1058799"/>
                      <a:pt x="2751392" y="1059942"/>
                      <a:pt x="2754821" y="1062323"/>
                    </a:cubicBezTo>
                    <a:cubicBezTo>
                      <a:pt x="2758250" y="1064800"/>
                      <a:pt x="2761107" y="1065371"/>
                      <a:pt x="2764536" y="1064800"/>
                    </a:cubicBezTo>
                    <a:cubicBezTo>
                      <a:pt x="2767965" y="1064228"/>
                      <a:pt x="2769584" y="1058704"/>
                      <a:pt x="2769584" y="1058704"/>
                    </a:cubicBezTo>
                    <a:lnTo>
                      <a:pt x="2774252" y="1053179"/>
                    </a:lnTo>
                    <a:cubicBezTo>
                      <a:pt x="2774252" y="1053179"/>
                      <a:pt x="2778347" y="1049560"/>
                      <a:pt x="2781776" y="1053179"/>
                    </a:cubicBezTo>
                    <a:cubicBezTo>
                      <a:pt x="2785205" y="1056799"/>
                      <a:pt x="2784158" y="1058704"/>
                      <a:pt x="2788158" y="1058704"/>
                    </a:cubicBezTo>
                    <a:cubicBezTo>
                      <a:pt x="2792159" y="1058704"/>
                      <a:pt x="2793778" y="1061276"/>
                      <a:pt x="2796064" y="1056989"/>
                    </a:cubicBezTo>
                    <a:cubicBezTo>
                      <a:pt x="2798350" y="1052703"/>
                      <a:pt x="2799588" y="1050227"/>
                      <a:pt x="2799017" y="1046607"/>
                    </a:cubicBezTo>
                    <a:cubicBezTo>
                      <a:pt x="2798445" y="1042988"/>
                      <a:pt x="2798445" y="1036796"/>
                      <a:pt x="2800160" y="1036225"/>
                    </a:cubicBezTo>
                    <a:cubicBezTo>
                      <a:pt x="2801874" y="1035653"/>
                      <a:pt x="2806351" y="1030700"/>
                      <a:pt x="2809780" y="1028319"/>
                    </a:cubicBezTo>
                    <a:cubicBezTo>
                      <a:pt x="2813209" y="1025843"/>
                      <a:pt x="2816828" y="1020413"/>
                      <a:pt x="2816828" y="1020413"/>
                    </a:cubicBezTo>
                    <a:cubicBezTo>
                      <a:pt x="2816828" y="1020413"/>
                      <a:pt x="2821305" y="1018699"/>
                      <a:pt x="2816162" y="1015079"/>
                    </a:cubicBezTo>
                    <a:cubicBezTo>
                      <a:pt x="2811018" y="1011460"/>
                      <a:pt x="2806351" y="1007745"/>
                      <a:pt x="2803493" y="1010793"/>
                    </a:cubicBezTo>
                    <a:cubicBezTo>
                      <a:pt x="2800636" y="1013841"/>
                      <a:pt x="2800160" y="1015746"/>
                      <a:pt x="2795016" y="1017556"/>
                    </a:cubicBezTo>
                    <a:cubicBezTo>
                      <a:pt x="2789873" y="1019366"/>
                      <a:pt x="2793397" y="1019461"/>
                      <a:pt x="2787110" y="1022414"/>
                    </a:cubicBezTo>
                    <a:cubicBezTo>
                      <a:pt x="2780824" y="1025462"/>
                      <a:pt x="2781205" y="1028986"/>
                      <a:pt x="2777776" y="1025271"/>
                    </a:cubicBezTo>
                    <a:cubicBezTo>
                      <a:pt x="2774347" y="1021652"/>
                      <a:pt x="2769299" y="1018699"/>
                      <a:pt x="2771585" y="1015079"/>
                    </a:cubicBezTo>
                    <a:cubicBezTo>
                      <a:pt x="2773871" y="1011460"/>
                      <a:pt x="2778443" y="1010222"/>
                      <a:pt x="2781300" y="1007174"/>
                    </a:cubicBezTo>
                    <a:cubicBezTo>
                      <a:pt x="2784158" y="1004126"/>
                      <a:pt x="2789206" y="1006031"/>
                      <a:pt x="2789206" y="998125"/>
                    </a:cubicBezTo>
                    <a:cubicBezTo>
                      <a:pt x="2789206" y="990219"/>
                      <a:pt x="2783586" y="982885"/>
                      <a:pt x="2781871" y="982218"/>
                    </a:cubicBezTo>
                    <a:cubicBezTo>
                      <a:pt x="2780157" y="981647"/>
                      <a:pt x="2771585" y="983552"/>
                      <a:pt x="2768156" y="980504"/>
                    </a:cubicBezTo>
                    <a:cubicBezTo>
                      <a:pt x="2764727" y="977456"/>
                      <a:pt x="2752058" y="973169"/>
                      <a:pt x="2750344" y="975646"/>
                    </a:cubicBezTo>
                    <a:cubicBezTo>
                      <a:pt x="2748629" y="978122"/>
                      <a:pt x="2743867" y="978694"/>
                      <a:pt x="2741581" y="981742"/>
                    </a:cubicBezTo>
                    <a:cubicBezTo>
                      <a:pt x="2739295" y="984790"/>
                      <a:pt x="2738914" y="986695"/>
                      <a:pt x="2739485" y="990981"/>
                    </a:cubicBezTo>
                    <a:cubicBezTo>
                      <a:pt x="2740057" y="995267"/>
                      <a:pt x="2741771" y="998220"/>
                      <a:pt x="2738342" y="997649"/>
                    </a:cubicBezTo>
                    <a:cubicBezTo>
                      <a:pt x="2734913" y="997077"/>
                      <a:pt x="2733008" y="991457"/>
                      <a:pt x="2730151" y="988981"/>
                    </a:cubicBezTo>
                    <a:cubicBezTo>
                      <a:pt x="2727293" y="986504"/>
                      <a:pt x="2725674" y="986123"/>
                      <a:pt x="2723388" y="986123"/>
                    </a:cubicBezTo>
                    <a:cubicBezTo>
                      <a:pt x="2721102" y="986123"/>
                      <a:pt x="2718245" y="992696"/>
                      <a:pt x="2715292" y="987266"/>
                    </a:cubicBezTo>
                    <a:cubicBezTo>
                      <a:pt x="2712434" y="981837"/>
                      <a:pt x="2716435" y="977456"/>
                      <a:pt x="2716435" y="977456"/>
                    </a:cubicBezTo>
                    <a:cubicBezTo>
                      <a:pt x="2716435" y="977456"/>
                      <a:pt x="2715959" y="972693"/>
                      <a:pt x="2721674" y="972693"/>
                    </a:cubicBezTo>
                    <a:cubicBezTo>
                      <a:pt x="2727388" y="972693"/>
                      <a:pt x="2730246" y="975741"/>
                      <a:pt x="2733104" y="969074"/>
                    </a:cubicBezTo>
                    <a:cubicBezTo>
                      <a:pt x="2735961" y="962406"/>
                      <a:pt x="2738914" y="966502"/>
                      <a:pt x="2739485" y="962311"/>
                    </a:cubicBezTo>
                    <a:cubicBezTo>
                      <a:pt x="2740057" y="958025"/>
                      <a:pt x="2737676" y="955643"/>
                      <a:pt x="2733104" y="955643"/>
                    </a:cubicBezTo>
                    <a:lnTo>
                      <a:pt x="2719388" y="955643"/>
                    </a:lnTo>
                    <a:cubicBezTo>
                      <a:pt x="2715387" y="955643"/>
                      <a:pt x="2713482" y="954310"/>
                      <a:pt x="2709482" y="954881"/>
                    </a:cubicBezTo>
                    <a:cubicBezTo>
                      <a:pt x="2705481" y="955453"/>
                      <a:pt x="2702624" y="950690"/>
                      <a:pt x="2696337" y="953167"/>
                    </a:cubicBezTo>
                    <a:cubicBezTo>
                      <a:pt x="2690051" y="955643"/>
                      <a:pt x="2688336" y="962216"/>
                      <a:pt x="2686050" y="962216"/>
                    </a:cubicBezTo>
                    <a:cubicBezTo>
                      <a:pt x="2683764" y="962216"/>
                      <a:pt x="2682526" y="965264"/>
                      <a:pt x="2682526" y="968312"/>
                    </a:cubicBezTo>
                    <a:cubicBezTo>
                      <a:pt x="2682526" y="971360"/>
                      <a:pt x="2687669" y="970693"/>
                      <a:pt x="2682526" y="974979"/>
                    </a:cubicBezTo>
                    <a:cubicBezTo>
                      <a:pt x="2677382" y="979265"/>
                      <a:pt x="2678049" y="982408"/>
                      <a:pt x="2675192" y="978122"/>
                    </a:cubicBezTo>
                    <a:cubicBezTo>
                      <a:pt x="2672334" y="973836"/>
                      <a:pt x="2671858" y="972598"/>
                      <a:pt x="2670143" y="971360"/>
                    </a:cubicBezTo>
                    <a:cubicBezTo>
                      <a:pt x="2668429" y="970121"/>
                      <a:pt x="2665476" y="969550"/>
                      <a:pt x="2663190" y="971360"/>
                    </a:cubicBezTo>
                    <a:cubicBezTo>
                      <a:pt x="2660904" y="973169"/>
                      <a:pt x="2661380" y="972598"/>
                      <a:pt x="2657380" y="976884"/>
                    </a:cubicBezTo>
                    <a:cubicBezTo>
                      <a:pt x="2653379" y="981170"/>
                      <a:pt x="2652141" y="980599"/>
                      <a:pt x="2651570" y="983647"/>
                    </a:cubicBezTo>
                    <a:cubicBezTo>
                      <a:pt x="2650998" y="986695"/>
                      <a:pt x="2650522" y="986504"/>
                      <a:pt x="2651188" y="992029"/>
                    </a:cubicBezTo>
                    <a:cubicBezTo>
                      <a:pt x="2651760" y="997458"/>
                      <a:pt x="2653284" y="994601"/>
                      <a:pt x="2651570" y="997649"/>
                    </a:cubicBezTo>
                    <a:cubicBezTo>
                      <a:pt x="2649855" y="1000697"/>
                      <a:pt x="2646045" y="1002887"/>
                      <a:pt x="2645474" y="1001078"/>
                    </a:cubicBezTo>
                    <a:cubicBezTo>
                      <a:pt x="2644902" y="999268"/>
                      <a:pt x="2644235" y="994601"/>
                      <a:pt x="2644235" y="990981"/>
                    </a:cubicBezTo>
                    <a:cubicBezTo>
                      <a:pt x="2644235" y="987362"/>
                      <a:pt x="2641950" y="982408"/>
                      <a:pt x="2640806" y="980599"/>
                    </a:cubicBezTo>
                    <a:cubicBezTo>
                      <a:pt x="2639663" y="978789"/>
                      <a:pt x="2633948" y="973836"/>
                      <a:pt x="2631662" y="972693"/>
                    </a:cubicBezTo>
                    <a:cubicBezTo>
                      <a:pt x="2629376" y="971455"/>
                      <a:pt x="2624804" y="970217"/>
                      <a:pt x="2623566" y="968407"/>
                    </a:cubicBezTo>
                    <a:cubicBezTo>
                      <a:pt x="2622423" y="966597"/>
                      <a:pt x="2618423" y="969074"/>
                      <a:pt x="2620137" y="962311"/>
                    </a:cubicBezTo>
                    <a:cubicBezTo>
                      <a:pt x="2621852" y="955643"/>
                      <a:pt x="2626900" y="956215"/>
                      <a:pt x="2630900" y="956215"/>
                    </a:cubicBezTo>
                    <a:cubicBezTo>
                      <a:pt x="2634901" y="956215"/>
                      <a:pt x="2647664" y="956786"/>
                      <a:pt x="2649379" y="956786"/>
                    </a:cubicBezTo>
                    <a:cubicBezTo>
                      <a:pt x="2651093" y="956786"/>
                      <a:pt x="2650998" y="961073"/>
                      <a:pt x="2658999" y="956786"/>
                    </a:cubicBezTo>
                    <a:cubicBezTo>
                      <a:pt x="2667000" y="952500"/>
                      <a:pt x="2670525" y="947642"/>
                      <a:pt x="2671191" y="945261"/>
                    </a:cubicBezTo>
                    <a:cubicBezTo>
                      <a:pt x="2671763" y="942785"/>
                      <a:pt x="2672334" y="939737"/>
                      <a:pt x="2670048" y="937927"/>
                    </a:cubicBezTo>
                    <a:cubicBezTo>
                      <a:pt x="2667762" y="936117"/>
                      <a:pt x="2665952" y="928878"/>
                      <a:pt x="2667667" y="925830"/>
                    </a:cubicBezTo>
                    <a:cubicBezTo>
                      <a:pt x="2669381" y="922782"/>
                      <a:pt x="2671763" y="922210"/>
                      <a:pt x="2674049" y="920306"/>
                    </a:cubicBezTo>
                    <a:cubicBezTo>
                      <a:pt x="2676335" y="918496"/>
                      <a:pt x="2678049" y="919734"/>
                      <a:pt x="2678049" y="914781"/>
                    </a:cubicBezTo>
                    <a:cubicBezTo>
                      <a:pt x="2678049" y="909828"/>
                      <a:pt x="2676430" y="907637"/>
                      <a:pt x="2681573" y="906971"/>
                    </a:cubicBezTo>
                    <a:cubicBezTo>
                      <a:pt x="2686717" y="906399"/>
                      <a:pt x="2694718" y="906875"/>
                      <a:pt x="2696432" y="909257"/>
                    </a:cubicBezTo>
                    <a:cubicBezTo>
                      <a:pt x="2698147" y="911733"/>
                      <a:pt x="2698813" y="910590"/>
                      <a:pt x="2702243" y="916019"/>
                    </a:cubicBezTo>
                    <a:cubicBezTo>
                      <a:pt x="2705671" y="921449"/>
                      <a:pt x="2709101" y="923735"/>
                      <a:pt x="2712530" y="921925"/>
                    </a:cubicBezTo>
                    <a:cubicBezTo>
                      <a:pt x="2715959" y="920115"/>
                      <a:pt x="2717006" y="921353"/>
                      <a:pt x="2717006" y="915257"/>
                    </a:cubicBezTo>
                    <a:cubicBezTo>
                      <a:pt x="2717006" y="909161"/>
                      <a:pt x="2717578" y="912876"/>
                      <a:pt x="2716435" y="905637"/>
                    </a:cubicBezTo>
                    <a:cubicBezTo>
                      <a:pt x="2715292" y="898303"/>
                      <a:pt x="2713577" y="899541"/>
                      <a:pt x="2713577" y="895255"/>
                    </a:cubicBezTo>
                    <a:cubicBezTo>
                      <a:pt x="2713577" y="890969"/>
                      <a:pt x="2713577" y="889254"/>
                      <a:pt x="2717006" y="888587"/>
                    </a:cubicBezTo>
                    <a:cubicBezTo>
                      <a:pt x="2720435" y="888016"/>
                      <a:pt x="2722245" y="886016"/>
                      <a:pt x="2724531" y="893350"/>
                    </a:cubicBezTo>
                    <a:cubicBezTo>
                      <a:pt x="2726817" y="900684"/>
                      <a:pt x="2722912" y="901351"/>
                      <a:pt x="2729198" y="903732"/>
                    </a:cubicBezTo>
                    <a:cubicBezTo>
                      <a:pt x="2735485" y="906208"/>
                      <a:pt x="2740628" y="906208"/>
                      <a:pt x="2742343" y="903732"/>
                    </a:cubicBezTo>
                    <a:cubicBezTo>
                      <a:pt x="2744057" y="901351"/>
                      <a:pt x="2746343" y="898303"/>
                      <a:pt x="2746343" y="894112"/>
                    </a:cubicBezTo>
                    <a:cubicBezTo>
                      <a:pt x="2746343" y="889921"/>
                      <a:pt x="2747486" y="888111"/>
                      <a:pt x="2746343" y="885063"/>
                    </a:cubicBezTo>
                    <a:cubicBezTo>
                      <a:pt x="2745200" y="882015"/>
                      <a:pt x="2740628" y="879539"/>
                      <a:pt x="2744629" y="877157"/>
                    </a:cubicBezTo>
                    <a:cubicBezTo>
                      <a:pt x="2748629" y="874681"/>
                      <a:pt x="2749296" y="871633"/>
                      <a:pt x="2751011" y="875824"/>
                    </a:cubicBezTo>
                    <a:cubicBezTo>
                      <a:pt x="2752725" y="880110"/>
                      <a:pt x="2755106" y="882587"/>
                      <a:pt x="2756250" y="880682"/>
                    </a:cubicBezTo>
                    <a:cubicBezTo>
                      <a:pt x="2757392" y="878872"/>
                      <a:pt x="2757297" y="875824"/>
                      <a:pt x="2760726" y="875824"/>
                    </a:cubicBezTo>
                    <a:cubicBezTo>
                      <a:pt x="2764155" y="875824"/>
                      <a:pt x="2768060" y="874681"/>
                      <a:pt x="2766917" y="880682"/>
                    </a:cubicBezTo>
                    <a:cubicBezTo>
                      <a:pt x="2765775" y="886778"/>
                      <a:pt x="2761298" y="884396"/>
                      <a:pt x="2760726" y="891064"/>
                    </a:cubicBezTo>
                    <a:cubicBezTo>
                      <a:pt x="2760155" y="897731"/>
                      <a:pt x="2760726" y="895160"/>
                      <a:pt x="2761298" y="900017"/>
                    </a:cubicBezTo>
                    <a:cubicBezTo>
                      <a:pt x="2761869" y="904875"/>
                      <a:pt x="2756726" y="901922"/>
                      <a:pt x="2761869" y="904875"/>
                    </a:cubicBezTo>
                    <a:cubicBezTo>
                      <a:pt x="2767013" y="907923"/>
                      <a:pt x="2769870" y="909828"/>
                      <a:pt x="2771585" y="909161"/>
                    </a:cubicBezTo>
                    <a:cubicBezTo>
                      <a:pt x="2773299" y="908590"/>
                      <a:pt x="2777967" y="905447"/>
                      <a:pt x="2776823" y="910304"/>
                    </a:cubicBezTo>
                    <a:cubicBezTo>
                      <a:pt x="2775680" y="915162"/>
                      <a:pt x="2773871" y="911447"/>
                      <a:pt x="2771585" y="916972"/>
                    </a:cubicBezTo>
                    <a:cubicBezTo>
                      <a:pt x="2769299" y="922401"/>
                      <a:pt x="2766917" y="918972"/>
                      <a:pt x="2768632" y="926878"/>
                    </a:cubicBezTo>
                    <a:cubicBezTo>
                      <a:pt x="2770346" y="934783"/>
                      <a:pt x="2769203" y="935831"/>
                      <a:pt x="2774442" y="943166"/>
                    </a:cubicBezTo>
                    <a:cubicBezTo>
                      <a:pt x="2779586" y="950500"/>
                      <a:pt x="2781395" y="950500"/>
                      <a:pt x="2787110" y="953548"/>
                    </a:cubicBezTo>
                    <a:cubicBezTo>
                      <a:pt x="2792825" y="956596"/>
                      <a:pt x="2785301" y="955929"/>
                      <a:pt x="2796159" y="956596"/>
                    </a:cubicBezTo>
                    <a:cubicBezTo>
                      <a:pt x="2807018" y="957167"/>
                      <a:pt x="2808256" y="958406"/>
                      <a:pt x="2812256" y="953548"/>
                    </a:cubicBezTo>
                    <a:cubicBezTo>
                      <a:pt x="2816257" y="948690"/>
                      <a:pt x="2816352" y="944880"/>
                      <a:pt x="2818067" y="941832"/>
                    </a:cubicBezTo>
                    <a:cubicBezTo>
                      <a:pt x="2819781" y="938784"/>
                      <a:pt x="2822638" y="939546"/>
                      <a:pt x="2827211" y="935927"/>
                    </a:cubicBezTo>
                    <a:cubicBezTo>
                      <a:pt x="2831783" y="932307"/>
                      <a:pt x="2832259" y="932307"/>
                      <a:pt x="2833973" y="929259"/>
                    </a:cubicBezTo>
                    <a:cubicBezTo>
                      <a:pt x="2835688" y="926211"/>
                      <a:pt x="2836926" y="923639"/>
                      <a:pt x="2838641" y="923068"/>
                    </a:cubicBezTo>
                    <a:cubicBezTo>
                      <a:pt x="2840355" y="922496"/>
                      <a:pt x="2841975" y="918115"/>
                      <a:pt x="2843689" y="924211"/>
                    </a:cubicBezTo>
                    <a:cubicBezTo>
                      <a:pt x="2845403" y="930307"/>
                      <a:pt x="2847118" y="931640"/>
                      <a:pt x="2843689" y="935927"/>
                    </a:cubicBezTo>
                    <a:cubicBezTo>
                      <a:pt x="2840260" y="940213"/>
                      <a:pt x="2840165" y="939546"/>
                      <a:pt x="2839021" y="945547"/>
                    </a:cubicBezTo>
                    <a:cubicBezTo>
                      <a:pt x="2838450" y="948595"/>
                      <a:pt x="2839212" y="947547"/>
                      <a:pt x="2839593" y="946976"/>
                    </a:cubicBezTo>
                    <a:cubicBezTo>
                      <a:pt x="2839498" y="947357"/>
                      <a:pt x="2839021" y="948595"/>
                      <a:pt x="2837879" y="951548"/>
                    </a:cubicBezTo>
                    <a:cubicBezTo>
                      <a:pt x="2833878" y="961835"/>
                      <a:pt x="2835593" y="961930"/>
                      <a:pt x="2833878" y="961930"/>
                    </a:cubicBezTo>
                    <a:cubicBezTo>
                      <a:pt x="2832163" y="961930"/>
                      <a:pt x="2831592" y="965645"/>
                      <a:pt x="2833878" y="969835"/>
                    </a:cubicBezTo>
                    <a:cubicBezTo>
                      <a:pt x="2836164" y="974122"/>
                      <a:pt x="2837783" y="975170"/>
                      <a:pt x="2841784" y="974598"/>
                    </a:cubicBezTo>
                    <a:cubicBezTo>
                      <a:pt x="2845784" y="974027"/>
                      <a:pt x="2850547" y="976408"/>
                      <a:pt x="2852833" y="969074"/>
                    </a:cubicBezTo>
                    <a:cubicBezTo>
                      <a:pt x="2855119" y="961739"/>
                      <a:pt x="2853309" y="966692"/>
                      <a:pt x="2856833" y="961835"/>
                    </a:cubicBezTo>
                    <a:cubicBezTo>
                      <a:pt x="2860262" y="956977"/>
                      <a:pt x="2859786" y="953262"/>
                      <a:pt x="2863215" y="953929"/>
                    </a:cubicBezTo>
                    <a:cubicBezTo>
                      <a:pt x="2866644" y="954500"/>
                      <a:pt x="2867216" y="950881"/>
                      <a:pt x="2867216" y="961835"/>
                    </a:cubicBezTo>
                    <a:cubicBezTo>
                      <a:pt x="2867216" y="972788"/>
                      <a:pt x="2863882" y="978980"/>
                      <a:pt x="2871311" y="982599"/>
                    </a:cubicBezTo>
                    <a:cubicBezTo>
                      <a:pt x="2878741" y="986219"/>
                      <a:pt x="2883980" y="986123"/>
                      <a:pt x="2889123" y="981837"/>
                    </a:cubicBezTo>
                    <a:cubicBezTo>
                      <a:pt x="2894267" y="977551"/>
                      <a:pt x="2896457" y="980027"/>
                      <a:pt x="2898172" y="970883"/>
                    </a:cubicBezTo>
                    <a:cubicBezTo>
                      <a:pt x="2899886" y="961739"/>
                      <a:pt x="2900458" y="963644"/>
                      <a:pt x="2899886" y="955167"/>
                    </a:cubicBezTo>
                    <a:cubicBezTo>
                      <a:pt x="2899315" y="946690"/>
                      <a:pt x="2897124" y="942308"/>
                      <a:pt x="2894267" y="939927"/>
                    </a:cubicBezTo>
                    <a:cubicBezTo>
                      <a:pt x="2891409" y="937451"/>
                      <a:pt x="2890266" y="931355"/>
                      <a:pt x="2881694" y="929545"/>
                    </a:cubicBezTo>
                    <a:cubicBezTo>
                      <a:pt x="2873121" y="927735"/>
                      <a:pt x="2868549" y="929069"/>
                      <a:pt x="2869692" y="923639"/>
                    </a:cubicBezTo>
                    <a:cubicBezTo>
                      <a:pt x="2870835" y="918115"/>
                      <a:pt x="2870168" y="919163"/>
                      <a:pt x="2874169" y="916686"/>
                    </a:cubicBezTo>
                    <a:cubicBezTo>
                      <a:pt x="2878169" y="914210"/>
                      <a:pt x="2879408" y="913257"/>
                      <a:pt x="2878836" y="906590"/>
                    </a:cubicBezTo>
                    <a:cubicBezTo>
                      <a:pt x="2878265" y="899922"/>
                      <a:pt x="2878836" y="896683"/>
                      <a:pt x="2875979" y="895445"/>
                    </a:cubicBezTo>
                    <a:cubicBezTo>
                      <a:pt x="2873121" y="894207"/>
                      <a:pt x="2868454" y="890778"/>
                      <a:pt x="2870740" y="887063"/>
                    </a:cubicBezTo>
                    <a:cubicBezTo>
                      <a:pt x="2873026" y="883444"/>
                      <a:pt x="2879788" y="881539"/>
                      <a:pt x="2880360" y="879729"/>
                    </a:cubicBezTo>
                    <a:cubicBezTo>
                      <a:pt x="2880932" y="877919"/>
                      <a:pt x="2879217" y="873538"/>
                      <a:pt x="2883218" y="869918"/>
                    </a:cubicBezTo>
                    <a:cubicBezTo>
                      <a:pt x="2887218" y="866299"/>
                      <a:pt x="2888552" y="868108"/>
                      <a:pt x="2889123" y="861441"/>
                    </a:cubicBezTo>
                    <a:cubicBezTo>
                      <a:pt x="2889695" y="854774"/>
                      <a:pt x="2890647" y="855917"/>
                      <a:pt x="2889504" y="850487"/>
                    </a:cubicBezTo>
                    <a:cubicBezTo>
                      <a:pt x="2888361" y="845058"/>
                      <a:pt x="2885980" y="843915"/>
                      <a:pt x="2883122" y="842105"/>
                    </a:cubicBezTo>
                    <a:cubicBezTo>
                      <a:pt x="2880265" y="840296"/>
                      <a:pt x="2874740" y="838962"/>
                      <a:pt x="2875883" y="835343"/>
                    </a:cubicBezTo>
                    <a:cubicBezTo>
                      <a:pt x="2877026" y="831723"/>
                      <a:pt x="2878074" y="831818"/>
                      <a:pt x="2881503" y="830580"/>
                    </a:cubicBezTo>
                    <a:cubicBezTo>
                      <a:pt x="2883218" y="830008"/>
                      <a:pt x="2885313" y="828866"/>
                      <a:pt x="2887409" y="828580"/>
                    </a:cubicBezTo>
                    <a:cubicBezTo>
                      <a:pt x="2887980" y="828580"/>
                      <a:pt x="2888456" y="828389"/>
                      <a:pt x="2888933" y="828389"/>
                    </a:cubicBezTo>
                    <a:lnTo>
                      <a:pt x="2888933" y="828389"/>
                    </a:lnTo>
                    <a:close/>
                    <a:moveTo>
                      <a:pt x="1083088" y="903351"/>
                    </a:moveTo>
                    <a:cubicBezTo>
                      <a:pt x="1083755" y="903351"/>
                      <a:pt x="1084517" y="903637"/>
                      <a:pt x="1085374" y="903827"/>
                    </a:cubicBezTo>
                    <a:cubicBezTo>
                      <a:pt x="1094613" y="905828"/>
                      <a:pt x="1098328" y="919067"/>
                      <a:pt x="1099947" y="926783"/>
                    </a:cubicBezTo>
                    <a:cubicBezTo>
                      <a:pt x="1102138" y="937451"/>
                      <a:pt x="1101185" y="947261"/>
                      <a:pt x="1111949" y="952691"/>
                    </a:cubicBezTo>
                    <a:cubicBezTo>
                      <a:pt x="1116425" y="954977"/>
                      <a:pt x="1120712" y="956596"/>
                      <a:pt x="1125093" y="954596"/>
                    </a:cubicBezTo>
                    <a:cubicBezTo>
                      <a:pt x="1129094" y="952786"/>
                      <a:pt x="1132904" y="947642"/>
                      <a:pt x="1137476" y="947833"/>
                    </a:cubicBezTo>
                    <a:cubicBezTo>
                      <a:pt x="1145381" y="948119"/>
                      <a:pt x="1149096" y="961835"/>
                      <a:pt x="1149763" y="968597"/>
                    </a:cubicBezTo>
                    <a:cubicBezTo>
                      <a:pt x="1150906" y="980123"/>
                      <a:pt x="1141190" y="989267"/>
                      <a:pt x="1129570" y="984599"/>
                    </a:cubicBezTo>
                    <a:cubicBezTo>
                      <a:pt x="1123283" y="982028"/>
                      <a:pt x="1122998" y="977551"/>
                      <a:pt x="1116425" y="981837"/>
                    </a:cubicBezTo>
                    <a:cubicBezTo>
                      <a:pt x="1111758" y="984885"/>
                      <a:pt x="1109948" y="988314"/>
                      <a:pt x="1107948" y="992791"/>
                    </a:cubicBezTo>
                    <a:cubicBezTo>
                      <a:pt x="1106996" y="994982"/>
                      <a:pt x="1107281" y="996791"/>
                      <a:pt x="1105091" y="998410"/>
                    </a:cubicBezTo>
                    <a:cubicBezTo>
                      <a:pt x="1102519" y="1000316"/>
                      <a:pt x="1097756" y="998220"/>
                      <a:pt x="1095661" y="999839"/>
                    </a:cubicBezTo>
                    <a:cubicBezTo>
                      <a:pt x="1091470" y="1002983"/>
                      <a:pt x="1093946" y="1008983"/>
                      <a:pt x="1094518" y="1012984"/>
                    </a:cubicBezTo>
                    <a:cubicBezTo>
                      <a:pt x="1096232" y="1024604"/>
                      <a:pt x="1082802" y="1031843"/>
                      <a:pt x="1074896" y="1022795"/>
                    </a:cubicBezTo>
                    <a:cubicBezTo>
                      <a:pt x="1072515" y="1020032"/>
                      <a:pt x="1068705" y="1012889"/>
                      <a:pt x="1063847" y="1017175"/>
                    </a:cubicBezTo>
                    <a:cubicBezTo>
                      <a:pt x="1061276" y="1019461"/>
                      <a:pt x="1064228" y="1021937"/>
                      <a:pt x="1060323" y="1023366"/>
                    </a:cubicBezTo>
                    <a:cubicBezTo>
                      <a:pt x="1057180" y="1024509"/>
                      <a:pt x="1052703" y="1021271"/>
                      <a:pt x="1050893" y="1019366"/>
                    </a:cubicBezTo>
                    <a:cubicBezTo>
                      <a:pt x="1051179" y="1019651"/>
                      <a:pt x="1046798" y="1038320"/>
                      <a:pt x="1048322" y="1042130"/>
                    </a:cubicBezTo>
                    <a:cubicBezTo>
                      <a:pt x="1050322" y="1047083"/>
                      <a:pt x="1054989" y="1051560"/>
                      <a:pt x="1059942" y="1048322"/>
                    </a:cubicBezTo>
                    <a:cubicBezTo>
                      <a:pt x="1063181" y="1046131"/>
                      <a:pt x="1065848" y="1040321"/>
                      <a:pt x="1070134" y="1041273"/>
                    </a:cubicBezTo>
                    <a:cubicBezTo>
                      <a:pt x="1074801" y="1042321"/>
                      <a:pt x="1075563" y="1049655"/>
                      <a:pt x="1077659" y="1052703"/>
                    </a:cubicBezTo>
                    <a:cubicBezTo>
                      <a:pt x="1080135" y="1056323"/>
                      <a:pt x="1083755" y="1057656"/>
                      <a:pt x="1085850" y="1062038"/>
                    </a:cubicBezTo>
                    <a:cubicBezTo>
                      <a:pt x="1088041" y="1066514"/>
                      <a:pt x="1088612" y="1071753"/>
                      <a:pt x="1089374" y="1076420"/>
                    </a:cubicBezTo>
                    <a:cubicBezTo>
                      <a:pt x="1089851" y="1079278"/>
                      <a:pt x="1093280" y="1086803"/>
                      <a:pt x="1091660" y="1089565"/>
                    </a:cubicBezTo>
                    <a:cubicBezTo>
                      <a:pt x="1089279" y="1093470"/>
                      <a:pt x="1082421" y="1090136"/>
                      <a:pt x="1079087" y="1092422"/>
                    </a:cubicBezTo>
                    <a:cubicBezTo>
                      <a:pt x="1075944" y="1094518"/>
                      <a:pt x="1074896" y="1100995"/>
                      <a:pt x="1076230" y="1104233"/>
                    </a:cubicBezTo>
                    <a:cubicBezTo>
                      <a:pt x="1077849" y="1108139"/>
                      <a:pt x="1094423" y="1124236"/>
                      <a:pt x="1083564" y="1127760"/>
                    </a:cubicBezTo>
                    <a:cubicBezTo>
                      <a:pt x="1078040" y="1129570"/>
                      <a:pt x="1066991" y="1119188"/>
                      <a:pt x="1061847" y="1117283"/>
                    </a:cubicBezTo>
                    <a:cubicBezTo>
                      <a:pt x="1053370" y="1114044"/>
                      <a:pt x="1043559" y="1116235"/>
                      <a:pt x="1044797" y="1127379"/>
                    </a:cubicBezTo>
                    <a:cubicBezTo>
                      <a:pt x="1046035" y="1139285"/>
                      <a:pt x="1059275" y="1131951"/>
                      <a:pt x="1061180" y="1141762"/>
                    </a:cubicBezTo>
                    <a:cubicBezTo>
                      <a:pt x="1062609" y="1149382"/>
                      <a:pt x="1056513" y="1149668"/>
                      <a:pt x="1054418" y="1154430"/>
                    </a:cubicBezTo>
                    <a:cubicBezTo>
                      <a:pt x="1050322" y="1163669"/>
                      <a:pt x="1056704" y="1169289"/>
                      <a:pt x="1064324" y="1171194"/>
                    </a:cubicBezTo>
                    <a:cubicBezTo>
                      <a:pt x="1069277" y="1172432"/>
                      <a:pt x="1070324" y="1173766"/>
                      <a:pt x="1073372" y="1178243"/>
                    </a:cubicBezTo>
                    <a:cubicBezTo>
                      <a:pt x="1076897" y="1183481"/>
                      <a:pt x="1084993" y="1192435"/>
                      <a:pt x="1083374" y="1198817"/>
                    </a:cubicBezTo>
                    <a:cubicBezTo>
                      <a:pt x="1082135" y="1203960"/>
                      <a:pt x="1077563" y="1204532"/>
                      <a:pt x="1073087" y="1204627"/>
                    </a:cubicBezTo>
                    <a:cubicBezTo>
                      <a:pt x="1067086" y="1204722"/>
                      <a:pt x="1066419" y="1202912"/>
                      <a:pt x="1063085" y="1198721"/>
                    </a:cubicBezTo>
                    <a:cubicBezTo>
                      <a:pt x="1056608" y="1190625"/>
                      <a:pt x="1051560" y="1187101"/>
                      <a:pt x="1044321" y="1195388"/>
                    </a:cubicBezTo>
                    <a:cubicBezTo>
                      <a:pt x="1040035" y="1200341"/>
                      <a:pt x="1028605" y="1209199"/>
                      <a:pt x="1024414" y="1199960"/>
                    </a:cubicBezTo>
                    <a:cubicBezTo>
                      <a:pt x="1020032" y="1190339"/>
                      <a:pt x="1035844" y="1185863"/>
                      <a:pt x="1036320" y="1176338"/>
                    </a:cubicBezTo>
                    <a:cubicBezTo>
                      <a:pt x="1036796" y="1166813"/>
                      <a:pt x="1030986" y="1162717"/>
                      <a:pt x="1024033" y="1158431"/>
                    </a:cubicBezTo>
                    <a:cubicBezTo>
                      <a:pt x="1018794" y="1155192"/>
                      <a:pt x="1018604" y="1154906"/>
                      <a:pt x="1018223" y="1148048"/>
                    </a:cubicBezTo>
                    <a:cubicBezTo>
                      <a:pt x="1018032" y="1143857"/>
                      <a:pt x="1017365" y="1138714"/>
                      <a:pt x="1013460" y="1136333"/>
                    </a:cubicBezTo>
                    <a:cubicBezTo>
                      <a:pt x="1009936" y="1134332"/>
                      <a:pt x="1005840" y="1136047"/>
                      <a:pt x="1003745" y="1138904"/>
                    </a:cubicBezTo>
                    <a:cubicBezTo>
                      <a:pt x="1000982" y="1147477"/>
                      <a:pt x="1003840" y="1156145"/>
                      <a:pt x="1002030" y="1164527"/>
                    </a:cubicBezTo>
                    <a:cubicBezTo>
                      <a:pt x="1000792" y="1170337"/>
                      <a:pt x="997172" y="1169956"/>
                      <a:pt x="992315" y="1170432"/>
                    </a:cubicBezTo>
                    <a:cubicBezTo>
                      <a:pt x="986885" y="1171004"/>
                      <a:pt x="985552" y="1171670"/>
                      <a:pt x="981742" y="1175290"/>
                    </a:cubicBezTo>
                    <a:cubicBezTo>
                      <a:pt x="979646" y="1177195"/>
                      <a:pt x="974598" y="1181005"/>
                      <a:pt x="973836" y="1183767"/>
                    </a:cubicBezTo>
                    <a:cubicBezTo>
                      <a:pt x="972503" y="1188720"/>
                      <a:pt x="978027" y="1188244"/>
                      <a:pt x="978218" y="1192816"/>
                    </a:cubicBezTo>
                    <a:cubicBezTo>
                      <a:pt x="978408" y="1197007"/>
                      <a:pt x="971550" y="1199769"/>
                      <a:pt x="967454" y="1198626"/>
                    </a:cubicBezTo>
                    <a:cubicBezTo>
                      <a:pt x="962120" y="1197102"/>
                      <a:pt x="963359" y="1192149"/>
                      <a:pt x="962406" y="1187672"/>
                    </a:cubicBezTo>
                    <a:cubicBezTo>
                      <a:pt x="960977" y="1181005"/>
                      <a:pt x="951833" y="1175861"/>
                      <a:pt x="959549" y="1169670"/>
                    </a:cubicBezTo>
                    <a:cubicBezTo>
                      <a:pt x="963168" y="1166813"/>
                      <a:pt x="966502" y="1165670"/>
                      <a:pt x="969835" y="1162431"/>
                    </a:cubicBezTo>
                    <a:cubicBezTo>
                      <a:pt x="972407" y="1159955"/>
                      <a:pt x="974884" y="1157192"/>
                      <a:pt x="977170" y="1154335"/>
                    </a:cubicBezTo>
                    <a:cubicBezTo>
                      <a:pt x="982028" y="1148334"/>
                      <a:pt x="985171" y="1142619"/>
                      <a:pt x="980980" y="1134618"/>
                    </a:cubicBezTo>
                    <a:cubicBezTo>
                      <a:pt x="978122" y="1129284"/>
                      <a:pt x="970312" y="1123093"/>
                      <a:pt x="974884" y="1116330"/>
                    </a:cubicBezTo>
                    <a:cubicBezTo>
                      <a:pt x="978408" y="1116140"/>
                      <a:pt x="980885" y="1116140"/>
                      <a:pt x="983933" y="1117378"/>
                    </a:cubicBezTo>
                    <a:cubicBezTo>
                      <a:pt x="987076" y="1118616"/>
                      <a:pt x="988790" y="1122045"/>
                      <a:pt x="992410" y="1119664"/>
                    </a:cubicBezTo>
                    <a:cubicBezTo>
                      <a:pt x="999077" y="1115282"/>
                      <a:pt x="991362" y="1108043"/>
                      <a:pt x="987933" y="1105091"/>
                    </a:cubicBezTo>
                    <a:cubicBezTo>
                      <a:pt x="987076" y="1102424"/>
                      <a:pt x="987266" y="1099471"/>
                      <a:pt x="987362" y="1096613"/>
                    </a:cubicBezTo>
                    <a:cubicBezTo>
                      <a:pt x="987362" y="1096613"/>
                      <a:pt x="991267" y="1092327"/>
                      <a:pt x="991553" y="1090708"/>
                    </a:cubicBezTo>
                    <a:cubicBezTo>
                      <a:pt x="992219" y="1087946"/>
                      <a:pt x="991838" y="1084040"/>
                      <a:pt x="990600" y="1081469"/>
                    </a:cubicBezTo>
                    <a:cubicBezTo>
                      <a:pt x="987647" y="1075373"/>
                      <a:pt x="982028" y="1075468"/>
                      <a:pt x="976884" y="1078992"/>
                    </a:cubicBezTo>
                    <a:cubicBezTo>
                      <a:pt x="974122" y="1080897"/>
                      <a:pt x="970026" y="1083374"/>
                      <a:pt x="968121" y="1086326"/>
                    </a:cubicBezTo>
                    <a:cubicBezTo>
                      <a:pt x="965740" y="1090041"/>
                      <a:pt x="967264" y="1094518"/>
                      <a:pt x="964597" y="1098137"/>
                    </a:cubicBezTo>
                    <a:cubicBezTo>
                      <a:pt x="956310" y="1109282"/>
                      <a:pt x="952595" y="1088422"/>
                      <a:pt x="954024" y="1082231"/>
                    </a:cubicBezTo>
                    <a:cubicBezTo>
                      <a:pt x="956024" y="1073849"/>
                      <a:pt x="965645" y="1072515"/>
                      <a:pt x="968407" y="1063943"/>
                    </a:cubicBezTo>
                    <a:cubicBezTo>
                      <a:pt x="969455" y="1060609"/>
                      <a:pt x="969169" y="1052894"/>
                      <a:pt x="964692" y="1051370"/>
                    </a:cubicBezTo>
                    <a:cubicBezTo>
                      <a:pt x="959168" y="1049560"/>
                      <a:pt x="958025" y="1058990"/>
                      <a:pt x="953834" y="1055275"/>
                    </a:cubicBezTo>
                    <a:cubicBezTo>
                      <a:pt x="949452" y="1051465"/>
                      <a:pt x="955072" y="1046226"/>
                      <a:pt x="956215" y="1042892"/>
                    </a:cubicBezTo>
                    <a:cubicBezTo>
                      <a:pt x="957453" y="1039178"/>
                      <a:pt x="956691" y="1033367"/>
                      <a:pt x="954405" y="1030224"/>
                    </a:cubicBezTo>
                    <a:cubicBezTo>
                      <a:pt x="951548" y="1026414"/>
                      <a:pt x="945737" y="1026319"/>
                      <a:pt x="942975" y="1023271"/>
                    </a:cubicBezTo>
                    <a:cubicBezTo>
                      <a:pt x="939546" y="1019461"/>
                      <a:pt x="942404" y="1015175"/>
                      <a:pt x="940880" y="1010888"/>
                    </a:cubicBezTo>
                    <a:cubicBezTo>
                      <a:pt x="937927" y="1002602"/>
                      <a:pt x="926402" y="1007459"/>
                      <a:pt x="927926" y="995458"/>
                    </a:cubicBezTo>
                    <a:cubicBezTo>
                      <a:pt x="928687" y="989171"/>
                      <a:pt x="934117" y="986219"/>
                      <a:pt x="938498" y="982599"/>
                    </a:cubicBezTo>
                    <a:cubicBezTo>
                      <a:pt x="946309" y="976217"/>
                      <a:pt x="952310" y="968216"/>
                      <a:pt x="960787" y="962406"/>
                    </a:cubicBezTo>
                    <a:cubicBezTo>
                      <a:pt x="964216" y="960120"/>
                      <a:pt x="962311" y="964121"/>
                      <a:pt x="969074" y="955453"/>
                    </a:cubicBezTo>
                    <a:cubicBezTo>
                      <a:pt x="975836" y="946785"/>
                      <a:pt x="975265" y="941642"/>
                      <a:pt x="975265" y="939927"/>
                    </a:cubicBezTo>
                    <a:cubicBezTo>
                      <a:pt x="975265" y="938213"/>
                      <a:pt x="978122" y="934307"/>
                      <a:pt x="980885" y="931450"/>
                    </a:cubicBezTo>
                    <a:cubicBezTo>
                      <a:pt x="983742" y="928592"/>
                      <a:pt x="985552" y="927259"/>
                      <a:pt x="988981" y="924401"/>
                    </a:cubicBezTo>
                    <a:cubicBezTo>
                      <a:pt x="992410" y="921544"/>
                      <a:pt x="994601" y="916877"/>
                      <a:pt x="1003078" y="918591"/>
                    </a:cubicBezTo>
                    <a:cubicBezTo>
                      <a:pt x="1015270" y="921068"/>
                      <a:pt x="1014317" y="926021"/>
                      <a:pt x="1020032" y="936498"/>
                    </a:cubicBezTo>
                    <a:cubicBezTo>
                      <a:pt x="1022128" y="940308"/>
                      <a:pt x="1026795" y="943547"/>
                      <a:pt x="1030034" y="945833"/>
                    </a:cubicBezTo>
                    <a:cubicBezTo>
                      <a:pt x="1034129" y="948785"/>
                      <a:pt x="1039273" y="949928"/>
                      <a:pt x="1043559" y="952310"/>
                    </a:cubicBezTo>
                    <a:cubicBezTo>
                      <a:pt x="1047274" y="954405"/>
                      <a:pt x="1049560" y="958310"/>
                      <a:pt x="1053275" y="960120"/>
                    </a:cubicBezTo>
                    <a:cubicBezTo>
                      <a:pt x="1062800" y="964787"/>
                      <a:pt x="1076325" y="958310"/>
                      <a:pt x="1082612" y="950881"/>
                    </a:cubicBezTo>
                    <a:cubicBezTo>
                      <a:pt x="1088898" y="943451"/>
                      <a:pt x="1085945" y="930688"/>
                      <a:pt x="1082231" y="923068"/>
                    </a:cubicBezTo>
                    <a:cubicBezTo>
                      <a:pt x="1079945" y="918401"/>
                      <a:pt x="1073468" y="902780"/>
                      <a:pt x="1083183" y="903160"/>
                    </a:cubicBezTo>
                    <a:lnTo>
                      <a:pt x="1083183" y="903160"/>
                    </a:lnTo>
                    <a:close/>
                    <a:moveTo>
                      <a:pt x="5025486" y="943832"/>
                    </a:moveTo>
                    <a:cubicBezTo>
                      <a:pt x="5025486" y="943832"/>
                      <a:pt x="5024628" y="944023"/>
                      <a:pt x="5024057" y="944404"/>
                    </a:cubicBezTo>
                    <a:cubicBezTo>
                      <a:pt x="5021961" y="945833"/>
                      <a:pt x="5021866" y="948690"/>
                      <a:pt x="5023961" y="952310"/>
                    </a:cubicBezTo>
                    <a:lnTo>
                      <a:pt x="5032153" y="962406"/>
                    </a:lnTo>
                    <a:cubicBezTo>
                      <a:pt x="5032153" y="962406"/>
                      <a:pt x="5038344" y="967645"/>
                      <a:pt x="5043202" y="972026"/>
                    </a:cubicBezTo>
                    <a:cubicBezTo>
                      <a:pt x="5048060" y="976408"/>
                      <a:pt x="5049965" y="979265"/>
                      <a:pt x="5051299" y="984314"/>
                    </a:cubicBezTo>
                    <a:cubicBezTo>
                      <a:pt x="5052632" y="989362"/>
                      <a:pt x="5058252" y="992315"/>
                      <a:pt x="5063014" y="997458"/>
                    </a:cubicBezTo>
                    <a:cubicBezTo>
                      <a:pt x="5067777" y="1002602"/>
                      <a:pt x="5081493" y="1018604"/>
                      <a:pt x="5084921" y="1022223"/>
                    </a:cubicBezTo>
                    <a:cubicBezTo>
                      <a:pt x="5088350" y="1025843"/>
                      <a:pt x="5100923" y="1033367"/>
                      <a:pt x="5107115" y="1040702"/>
                    </a:cubicBezTo>
                    <a:cubicBezTo>
                      <a:pt x="5113306" y="1048036"/>
                      <a:pt x="5117307" y="1054513"/>
                      <a:pt x="5127689" y="1060418"/>
                    </a:cubicBezTo>
                    <a:cubicBezTo>
                      <a:pt x="5138071" y="1066324"/>
                      <a:pt x="5133689" y="1068419"/>
                      <a:pt x="5138547" y="1071372"/>
                    </a:cubicBezTo>
                    <a:cubicBezTo>
                      <a:pt x="5143405" y="1074325"/>
                      <a:pt x="5147120" y="1069562"/>
                      <a:pt x="5150740" y="1065276"/>
                    </a:cubicBezTo>
                    <a:cubicBezTo>
                      <a:pt x="5154358" y="1061085"/>
                      <a:pt x="5152359" y="1057275"/>
                      <a:pt x="5151692" y="1052322"/>
                    </a:cubicBezTo>
                    <a:cubicBezTo>
                      <a:pt x="5151120" y="1047274"/>
                      <a:pt x="5149787" y="1040797"/>
                      <a:pt x="5148548" y="1032891"/>
                    </a:cubicBezTo>
                    <a:cubicBezTo>
                      <a:pt x="5147310" y="1024985"/>
                      <a:pt x="5145977" y="1022890"/>
                      <a:pt x="5139786" y="1015556"/>
                    </a:cubicBezTo>
                    <a:cubicBezTo>
                      <a:pt x="5133594" y="1008221"/>
                      <a:pt x="5128641" y="1010983"/>
                      <a:pt x="5118926" y="1007935"/>
                    </a:cubicBezTo>
                    <a:cubicBezTo>
                      <a:pt x="5109210" y="1004888"/>
                      <a:pt x="5095399" y="998030"/>
                      <a:pt x="5086446" y="991362"/>
                    </a:cubicBezTo>
                    <a:cubicBezTo>
                      <a:pt x="5077492" y="984695"/>
                      <a:pt x="5078064" y="984028"/>
                      <a:pt x="5076159" y="976789"/>
                    </a:cubicBezTo>
                    <a:cubicBezTo>
                      <a:pt x="5074158" y="969550"/>
                      <a:pt x="5071396" y="966788"/>
                      <a:pt x="5065967" y="958025"/>
                    </a:cubicBezTo>
                    <a:cubicBezTo>
                      <a:pt x="5060537" y="949262"/>
                      <a:pt x="5057680" y="952786"/>
                      <a:pt x="5050727" y="949833"/>
                    </a:cubicBezTo>
                    <a:cubicBezTo>
                      <a:pt x="5043773" y="946785"/>
                      <a:pt x="5041107" y="945356"/>
                      <a:pt x="5034058" y="945261"/>
                    </a:cubicBezTo>
                    <a:cubicBezTo>
                      <a:pt x="5028819" y="945166"/>
                      <a:pt x="5027009" y="943832"/>
                      <a:pt x="5025581" y="943832"/>
                    </a:cubicBezTo>
                    <a:close/>
                    <a:moveTo>
                      <a:pt x="5654040" y="975741"/>
                    </a:moveTo>
                    <a:lnTo>
                      <a:pt x="5649658" y="976027"/>
                    </a:lnTo>
                    <a:lnTo>
                      <a:pt x="5649658" y="980599"/>
                    </a:lnTo>
                    <a:lnTo>
                      <a:pt x="5653373" y="987552"/>
                    </a:lnTo>
                    <a:lnTo>
                      <a:pt x="5653373" y="994029"/>
                    </a:lnTo>
                    <a:cubicBezTo>
                      <a:pt x="5652326" y="994029"/>
                      <a:pt x="5647659" y="998220"/>
                      <a:pt x="5646040" y="1001078"/>
                    </a:cubicBezTo>
                    <a:cubicBezTo>
                      <a:pt x="5644991" y="1002887"/>
                      <a:pt x="5646420" y="1004126"/>
                      <a:pt x="5646420" y="1004126"/>
                    </a:cubicBezTo>
                    <a:lnTo>
                      <a:pt x="5648135" y="1005554"/>
                    </a:lnTo>
                    <a:lnTo>
                      <a:pt x="5652516" y="1006126"/>
                    </a:lnTo>
                    <a:lnTo>
                      <a:pt x="5656231" y="1005364"/>
                    </a:lnTo>
                    <a:lnTo>
                      <a:pt x="5661184" y="1001458"/>
                    </a:lnTo>
                    <a:lnTo>
                      <a:pt x="5667852" y="1000982"/>
                    </a:lnTo>
                    <a:lnTo>
                      <a:pt x="5670137" y="999839"/>
                    </a:lnTo>
                    <a:lnTo>
                      <a:pt x="5671376" y="995839"/>
                    </a:lnTo>
                    <a:lnTo>
                      <a:pt x="5672328" y="996410"/>
                    </a:lnTo>
                    <a:lnTo>
                      <a:pt x="5675852" y="993362"/>
                    </a:lnTo>
                    <a:cubicBezTo>
                      <a:pt x="5676996" y="992219"/>
                      <a:pt x="5677472" y="990791"/>
                      <a:pt x="5677377" y="989076"/>
                    </a:cubicBezTo>
                    <a:lnTo>
                      <a:pt x="5659755" y="989648"/>
                    </a:lnTo>
                    <a:lnTo>
                      <a:pt x="5657755" y="987457"/>
                    </a:lnTo>
                    <a:lnTo>
                      <a:pt x="5654516" y="980789"/>
                    </a:lnTo>
                    <a:lnTo>
                      <a:pt x="5653945" y="978503"/>
                    </a:lnTo>
                    <a:lnTo>
                      <a:pt x="5653945" y="975646"/>
                    </a:lnTo>
                    <a:close/>
                    <a:moveTo>
                      <a:pt x="883063" y="1006983"/>
                    </a:moveTo>
                    <a:lnTo>
                      <a:pt x="890016" y="1008698"/>
                    </a:lnTo>
                    <a:cubicBezTo>
                      <a:pt x="890016" y="1008698"/>
                      <a:pt x="894398" y="1008698"/>
                      <a:pt x="898303" y="1009269"/>
                    </a:cubicBezTo>
                    <a:cubicBezTo>
                      <a:pt x="902303" y="1009841"/>
                      <a:pt x="902970" y="1010888"/>
                      <a:pt x="904113" y="1014889"/>
                    </a:cubicBezTo>
                    <a:cubicBezTo>
                      <a:pt x="905256" y="1018889"/>
                      <a:pt x="904494" y="1019080"/>
                      <a:pt x="904494" y="1023652"/>
                    </a:cubicBezTo>
                    <a:lnTo>
                      <a:pt x="904494" y="1036320"/>
                    </a:lnTo>
                    <a:cubicBezTo>
                      <a:pt x="904494" y="1043845"/>
                      <a:pt x="908971" y="1039749"/>
                      <a:pt x="910114" y="1043845"/>
                    </a:cubicBezTo>
                    <a:cubicBezTo>
                      <a:pt x="911257" y="1047845"/>
                      <a:pt x="909733" y="1053084"/>
                      <a:pt x="906875" y="1057656"/>
                    </a:cubicBezTo>
                    <a:cubicBezTo>
                      <a:pt x="904018" y="1062228"/>
                      <a:pt x="901256" y="1061276"/>
                      <a:pt x="896684" y="1061276"/>
                    </a:cubicBezTo>
                    <a:cubicBezTo>
                      <a:pt x="892112" y="1061276"/>
                      <a:pt x="892588" y="1058990"/>
                      <a:pt x="891445" y="1057275"/>
                    </a:cubicBezTo>
                    <a:cubicBezTo>
                      <a:pt x="890302" y="1055561"/>
                      <a:pt x="886968" y="1054227"/>
                      <a:pt x="882968" y="1054799"/>
                    </a:cubicBezTo>
                    <a:cubicBezTo>
                      <a:pt x="878967" y="1055370"/>
                      <a:pt x="880682" y="1060133"/>
                      <a:pt x="877919" y="1061276"/>
                    </a:cubicBezTo>
                    <a:cubicBezTo>
                      <a:pt x="875062" y="1062419"/>
                      <a:pt x="872871" y="1059942"/>
                      <a:pt x="870014" y="1057656"/>
                    </a:cubicBezTo>
                    <a:cubicBezTo>
                      <a:pt x="867156" y="1055370"/>
                      <a:pt x="868299" y="1053656"/>
                      <a:pt x="867156" y="1051274"/>
                    </a:cubicBezTo>
                    <a:cubicBezTo>
                      <a:pt x="866013" y="1048988"/>
                      <a:pt x="870109" y="1042607"/>
                      <a:pt x="870680" y="1035749"/>
                    </a:cubicBezTo>
                    <a:cubicBezTo>
                      <a:pt x="871252" y="1028795"/>
                      <a:pt x="872776" y="1028224"/>
                      <a:pt x="873347" y="1023652"/>
                    </a:cubicBezTo>
                    <a:cubicBezTo>
                      <a:pt x="873919" y="1019080"/>
                      <a:pt x="875729" y="1014984"/>
                      <a:pt x="875729" y="1013270"/>
                    </a:cubicBezTo>
                    <a:cubicBezTo>
                      <a:pt x="875729" y="1011555"/>
                      <a:pt x="880110" y="1008698"/>
                      <a:pt x="882968" y="1006888"/>
                    </a:cubicBezTo>
                    <a:lnTo>
                      <a:pt x="882968" y="1006888"/>
                    </a:lnTo>
                    <a:close/>
                    <a:moveTo>
                      <a:pt x="1113663" y="1025462"/>
                    </a:moveTo>
                    <a:cubicBezTo>
                      <a:pt x="1117378" y="1025176"/>
                      <a:pt x="1120331" y="1032510"/>
                      <a:pt x="1120426" y="1036320"/>
                    </a:cubicBezTo>
                    <a:cubicBezTo>
                      <a:pt x="1120521" y="1041273"/>
                      <a:pt x="1121283" y="1047845"/>
                      <a:pt x="1125474" y="1050893"/>
                    </a:cubicBezTo>
                    <a:cubicBezTo>
                      <a:pt x="1131380" y="1055180"/>
                      <a:pt x="1133951" y="1048417"/>
                      <a:pt x="1135666" y="1043654"/>
                    </a:cubicBezTo>
                    <a:cubicBezTo>
                      <a:pt x="1136523" y="1041273"/>
                      <a:pt x="1136333" y="1038035"/>
                      <a:pt x="1139666" y="1037558"/>
                    </a:cubicBezTo>
                    <a:cubicBezTo>
                      <a:pt x="1142333" y="1037177"/>
                      <a:pt x="1143667" y="1040702"/>
                      <a:pt x="1146334" y="1041178"/>
                    </a:cubicBezTo>
                    <a:cubicBezTo>
                      <a:pt x="1148429" y="1035939"/>
                      <a:pt x="1152716" y="1038797"/>
                      <a:pt x="1154430" y="1042607"/>
                    </a:cubicBezTo>
                    <a:cubicBezTo>
                      <a:pt x="1157383" y="1049369"/>
                      <a:pt x="1151954" y="1047274"/>
                      <a:pt x="1149953" y="1051655"/>
                    </a:cubicBezTo>
                    <a:cubicBezTo>
                      <a:pt x="1147667" y="1056513"/>
                      <a:pt x="1152906" y="1059561"/>
                      <a:pt x="1153478" y="1063181"/>
                    </a:cubicBezTo>
                    <a:cubicBezTo>
                      <a:pt x="1153954" y="1066514"/>
                      <a:pt x="1150334" y="1072801"/>
                      <a:pt x="1147286" y="1074420"/>
                    </a:cubicBezTo>
                    <a:cubicBezTo>
                      <a:pt x="1142238" y="1077087"/>
                      <a:pt x="1141476" y="1072325"/>
                      <a:pt x="1136999" y="1071372"/>
                    </a:cubicBezTo>
                    <a:cubicBezTo>
                      <a:pt x="1132999" y="1070515"/>
                      <a:pt x="1128046" y="1074515"/>
                      <a:pt x="1126236" y="1077754"/>
                    </a:cubicBezTo>
                    <a:cubicBezTo>
                      <a:pt x="1123093" y="1083469"/>
                      <a:pt x="1122140" y="1089374"/>
                      <a:pt x="1120140" y="1095470"/>
                    </a:cubicBezTo>
                    <a:cubicBezTo>
                      <a:pt x="1118616" y="1100233"/>
                      <a:pt x="1116521" y="1100900"/>
                      <a:pt x="1111377" y="1100233"/>
                    </a:cubicBezTo>
                    <a:cubicBezTo>
                      <a:pt x="1105853" y="1099471"/>
                      <a:pt x="1102709" y="1096328"/>
                      <a:pt x="1100804" y="1090898"/>
                    </a:cubicBezTo>
                    <a:cubicBezTo>
                      <a:pt x="1098233" y="1083755"/>
                      <a:pt x="1093280" y="1078516"/>
                      <a:pt x="1091470" y="1071277"/>
                    </a:cubicBezTo>
                    <a:cubicBezTo>
                      <a:pt x="1089755" y="1064324"/>
                      <a:pt x="1086517" y="1056513"/>
                      <a:pt x="1089660" y="1049655"/>
                    </a:cubicBezTo>
                    <a:cubicBezTo>
                      <a:pt x="1092613" y="1043178"/>
                      <a:pt x="1099757" y="1039749"/>
                      <a:pt x="1103662" y="1034510"/>
                    </a:cubicBezTo>
                    <a:lnTo>
                      <a:pt x="1105186" y="1034320"/>
                    </a:lnTo>
                    <a:cubicBezTo>
                      <a:pt x="1105567" y="1031272"/>
                      <a:pt x="1108520" y="1028891"/>
                      <a:pt x="1111568" y="1028510"/>
                    </a:cubicBezTo>
                    <a:lnTo>
                      <a:pt x="1109853" y="1028510"/>
                    </a:lnTo>
                    <a:cubicBezTo>
                      <a:pt x="1111187" y="1026414"/>
                      <a:pt x="1112520" y="1025462"/>
                      <a:pt x="1113854" y="1025366"/>
                    </a:cubicBezTo>
                    <a:close/>
                    <a:moveTo>
                      <a:pt x="821722" y="1077373"/>
                    </a:moveTo>
                    <a:cubicBezTo>
                      <a:pt x="820960" y="1077659"/>
                      <a:pt x="820198" y="1078516"/>
                      <a:pt x="819722" y="1079659"/>
                    </a:cubicBezTo>
                    <a:cubicBezTo>
                      <a:pt x="818102" y="1083850"/>
                      <a:pt x="814864" y="1097661"/>
                      <a:pt x="812768" y="1101471"/>
                    </a:cubicBezTo>
                    <a:cubicBezTo>
                      <a:pt x="810673" y="1105281"/>
                      <a:pt x="815150" y="1109377"/>
                      <a:pt x="815150" y="1109377"/>
                    </a:cubicBezTo>
                    <a:lnTo>
                      <a:pt x="822960" y="1108043"/>
                    </a:lnTo>
                    <a:cubicBezTo>
                      <a:pt x="822960" y="1108043"/>
                      <a:pt x="836485" y="1098995"/>
                      <a:pt x="830771" y="1087755"/>
                    </a:cubicBezTo>
                    <a:cubicBezTo>
                      <a:pt x="827151" y="1080707"/>
                      <a:pt x="824389" y="1077563"/>
                      <a:pt x="822484" y="1077373"/>
                    </a:cubicBezTo>
                    <a:cubicBezTo>
                      <a:pt x="822198" y="1077373"/>
                      <a:pt x="822008" y="1077373"/>
                      <a:pt x="821817" y="1077373"/>
                    </a:cubicBezTo>
                    <a:close/>
                    <a:moveTo>
                      <a:pt x="4677632" y="1110806"/>
                    </a:moveTo>
                    <a:lnTo>
                      <a:pt x="4689253" y="1122617"/>
                    </a:lnTo>
                    <a:cubicBezTo>
                      <a:pt x="4677537" y="1135952"/>
                      <a:pt x="4664393" y="1149763"/>
                      <a:pt x="4649534" y="1163574"/>
                    </a:cubicBezTo>
                    <a:cubicBezTo>
                      <a:pt x="4645343" y="1167860"/>
                      <a:pt x="4625912" y="1195197"/>
                      <a:pt x="4619149" y="1200341"/>
                    </a:cubicBezTo>
                    <a:cubicBezTo>
                      <a:pt x="4612481" y="1205484"/>
                      <a:pt x="4609719" y="1215771"/>
                      <a:pt x="4603909" y="1226915"/>
                    </a:cubicBezTo>
                    <a:cubicBezTo>
                      <a:pt x="4598003" y="1238059"/>
                      <a:pt x="4602576" y="1231202"/>
                      <a:pt x="4596384" y="1246632"/>
                    </a:cubicBezTo>
                    <a:cubicBezTo>
                      <a:pt x="4590193" y="1262063"/>
                      <a:pt x="4581906" y="1275874"/>
                      <a:pt x="4576287" y="1284446"/>
                    </a:cubicBezTo>
                    <a:cubicBezTo>
                      <a:pt x="4570667" y="1293019"/>
                      <a:pt x="4560761" y="1302163"/>
                      <a:pt x="4547902" y="1301591"/>
                    </a:cubicBezTo>
                    <a:cubicBezTo>
                      <a:pt x="4535043" y="1301020"/>
                      <a:pt x="4501896" y="1292638"/>
                      <a:pt x="4486752" y="1294352"/>
                    </a:cubicBezTo>
                    <a:cubicBezTo>
                      <a:pt x="4471607" y="1296067"/>
                      <a:pt x="4453319" y="1300829"/>
                      <a:pt x="4445508" y="1312831"/>
                    </a:cubicBezTo>
                    <a:cubicBezTo>
                      <a:pt x="4437698" y="1324832"/>
                      <a:pt x="4433697" y="1335786"/>
                      <a:pt x="4437603" y="1354074"/>
                    </a:cubicBezTo>
                    <a:cubicBezTo>
                      <a:pt x="4441508" y="1372362"/>
                      <a:pt x="4448842" y="1394651"/>
                      <a:pt x="4443794" y="1411700"/>
                    </a:cubicBezTo>
                    <a:cubicBezTo>
                      <a:pt x="4438745" y="1428845"/>
                      <a:pt x="4430173" y="1451610"/>
                      <a:pt x="4420077" y="1463040"/>
                    </a:cubicBezTo>
                    <a:cubicBezTo>
                      <a:pt x="4409980" y="1474470"/>
                      <a:pt x="4395597" y="1487615"/>
                      <a:pt x="4389406" y="1498473"/>
                    </a:cubicBezTo>
                    <a:cubicBezTo>
                      <a:pt x="4383215" y="1509332"/>
                      <a:pt x="4371499" y="1531430"/>
                      <a:pt x="4368642" y="1540574"/>
                    </a:cubicBezTo>
                    <a:cubicBezTo>
                      <a:pt x="4365879" y="1549718"/>
                      <a:pt x="4362641" y="1561338"/>
                      <a:pt x="4358736" y="1566482"/>
                    </a:cubicBezTo>
                    <a:cubicBezTo>
                      <a:pt x="4354830" y="1571625"/>
                      <a:pt x="4301109" y="1617821"/>
                      <a:pt x="4301109" y="1617821"/>
                    </a:cubicBezTo>
                    <a:lnTo>
                      <a:pt x="4297109" y="1639348"/>
                    </a:lnTo>
                    <a:lnTo>
                      <a:pt x="4292061" y="1640491"/>
                    </a:lnTo>
                    <a:lnTo>
                      <a:pt x="4292632" y="1617155"/>
                    </a:lnTo>
                    <a:lnTo>
                      <a:pt x="4331208" y="1580579"/>
                    </a:lnTo>
                    <a:cubicBezTo>
                      <a:pt x="4331208" y="1580579"/>
                      <a:pt x="4339590" y="1575530"/>
                      <a:pt x="4349115" y="1548098"/>
                    </a:cubicBezTo>
                    <a:cubicBezTo>
                      <a:pt x="4358640" y="1520666"/>
                      <a:pt x="4375976" y="1490377"/>
                      <a:pt x="4383881" y="1481804"/>
                    </a:cubicBezTo>
                    <a:cubicBezTo>
                      <a:pt x="4391692" y="1473232"/>
                      <a:pt x="4406837" y="1458563"/>
                      <a:pt x="4411885" y="1451705"/>
                    </a:cubicBezTo>
                    <a:cubicBezTo>
                      <a:pt x="4416933" y="1444847"/>
                      <a:pt x="4423029" y="1433322"/>
                      <a:pt x="4423601" y="1421892"/>
                    </a:cubicBezTo>
                    <a:cubicBezTo>
                      <a:pt x="4424172" y="1410462"/>
                      <a:pt x="4421791" y="1386078"/>
                      <a:pt x="4420077" y="1367790"/>
                    </a:cubicBezTo>
                    <a:cubicBezTo>
                      <a:pt x="4418362" y="1349502"/>
                      <a:pt x="4415409" y="1318070"/>
                      <a:pt x="4425982" y="1306068"/>
                    </a:cubicBezTo>
                    <a:cubicBezTo>
                      <a:pt x="4436650" y="1294067"/>
                      <a:pt x="4452652" y="1275112"/>
                      <a:pt x="4482370" y="1276255"/>
                    </a:cubicBezTo>
                    <a:cubicBezTo>
                      <a:pt x="4511993" y="1277398"/>
                      <a:pt x="4534948" y="1282160"/>
                      <a:pt x="4541711" y="1279874"/>
                    </a:cubicBezTo>
                    <a:cubicBezTo>
                      <a:pt x="4548473" y="1277588"/>
                      <a:pt x="4563618" y="1274159"/>
                      <a:pt x="4568667" y="1260443"/>
                    </a:cubicBezTo>
                    <a:cubicBezTo>
                      <a:pt x="4573715" y="1246727"/>
                      <a:pt x="4587050" y="1213104"/>
                      <a:pt x="4591527" y="1205675"/>
                    </a:cubicBezTo>
                    <a:cubicBezTo>
                      <a:pt x="4596003" y="1198245"/>
                      <a:pt x="4627436" y="1161955"/>
                      <a:pt x="4627436" y="1161955"/>
                    </a:cubicBezTo>
                    <a:cubicBezTo>
                      <a:pt x="4627436" y="1161955"/>
                      <a:pt x="4649629" y="1135856"/>
                      <a:pt x="4654677" y="1131284"/>
                    </a:cubicBezTo>
                    <a:cubicBezTo>
                      <a:pt x="4659726" y="1126712"/>
                      <a:pt x="4668107" y="1120426"/>
                      <a:pt x="4671441" y="1116997"/>
                    </a:cubicBezTo>
                    <a:cubicBezTo>
                      <a:pt x="4673822" y="1114616"/>
                      <a:pt x="4676109" y="1112520"/>
                      <a:pt x="4677537" y="1110901"/>
                    </a:cubicBezTo>
                    <a:close/>
                    <a:moveTo>
                      <a:pt x="1152716" y="1120902"/>
                    </a:moveTo>
                    <a:cubicBezTo>
                      <a:pt x="1155764" y="1120712"/>
                      <a:pt x="1159002" y="1122140"/>
                      <a:pt x="1160621" y="1124807"/>
                    </a:cubicBezTo>
                    <a:cubicBezTo>
                      <a:pt x="1162717" y="1128427"/>
                      <a:pt x="1160621" y="1132332"/>
                      <a:pt x="1161574" y="1136237"/>
                    </a:cubicBezTo>
                    <a:cubicBezTo>
                      <a:pt x="1162336" y="1139095"/>
                      <a:pt x="1164717" y="1141000"/>
                      <a:pt x="1165574" y="1143762"/>
                    </a:cubicBezTo>
                    <a:cubicBezTo>
                      <a:pt x="1167670" y="1150334"/>
                      <a:pt x="1163860" y="1151477"/>
                      <a:pt x="1162336" y="1156430"/>
                    </a:cubicBezTo>
                    <a:cubicBezTo>
                      <a:pt x="1160717" y="1161860"/>
                      <a:pt x="1163003" y="1166241"/>
                      <a:pt x="1159383" y="1170813"/>
                    </a:cubicBezTo>
                    <a:cubicBezTo>
                      <a:pt x="1153382" y="1171861"/>
                      <a:pt x="1145286" y="1169956"/>
                      <a:pt x="1138904" y="1170337"/>
                    </a:cubicBezTo>
                    <a:cubicBezTo>
                      <a:pt x="1130999" y="1170813"/>
                      <a:pt x="1131665" y="1174623"/>
                      <a:pt x="1125474" y="1177576"/>
                    </a:cubicBezTo>
                    <a:cubicBezTo>
                      <a:pt x="1117854" y="1181195"/>
                      <a:pt x="1116616" y="1175004"/>
                      <a:pt x="1114711" y="1169194"/>
                    </a:cubicBezTo>
                    <a:cubicBezTo>
                      <a:pt x="1112044" y="1160907"/>
                      <a:pt x="1110425" y="1158812"/>
                      <a:pt x="1113854" y="1151287"/>
                    </a:cubicBezTo>
                    <a:cubicBezTo>
                      <a:pt x="1116521" y="1145572"/>
                      <a:pt x="1114044" y="1141000"/>
                      <a:pt x="1114806" y="1134999"/>
                    </a:cubicBezTo>
                    <a:cubicBezTo>
                      <a:pt x="1115568" y="1129760"/>
                      <a:pt x="1120140" y="1120140"/>
                      <a:pt x="1125855" y="1126522"/>
                    </a:cubicBezTo>
                    <a:cubicBezTo>
                      <a:pt x="1130237" y="1131380"/>
                      <a:pt x="1122998" y="1142619"/>
                      <a:pt x="1131094" y="1144810"/>
                    </a:cubicBezTo>
                    <a:cubicBezTo>
                      <a:pt x="1135571" y="1146048"/>
                      <a:pt x="1143286" y="1139095"/>
                      <a:pt x="1145191" y="1135475"/>
                    </a:cubicBezTo>
                    <a:cubicBezTo>
                      <a:pt x="1147191" y="1131475"/>
                      <a:pt x="1144810" y="1124331"/>
                      <a:pt x="1149858" y="1121759"/>
                    </a:cubicBezTo>
                    <a:cubicBezTo>
                      <a:pt x="1150715" y="1121283"/>
                      <a:pt x="1151668" y="1120997"/>
                      <a:pt x="1152716" y="1120902"/>
                    </a:cubicBezTo>
                    <a:close/>
                    <a:moveTo>
                      <a:pt x="1196245" y="1149191"/>
                    </a:moveTo>
                    <a:cubicBezTo>
                      <a:pt x="1196245" y="1149191"/>
                      <a:pt x="1197007" y="1149096"/>
                      <a:pt x="1197388" y="1149191"/>
                    </a:cubicBezTo>
                    <a:cubicBezTo>
                      <a:pt x="1206341" y="1151477"/>
                      <a:pt x="1196912" y="1163860"/>
                      <a:pt x="1196531" y="1166908"/>
                    </a:cubicBezTo>
                    <a:cubicBezTo>
                      <a:pt x="1196150" y="1171099"/>
                      <a:pt x="1199483" y="1171575"/>
                      <a:pt x="1201198" y="1174242"/>
                    </a:cubicBezTo>
                    <a:cubicBezTo>
                      <a:pt x="1203293" y="1177576"/>
                      <a:pt x="1201198" y="1180814"/>
                      <a:pt x="1199102" y="1183481"/>
                    </a:cubicBezTo>
                    <a:cubicBezTo>
                      <a:pt x="1196816" y="1186244"/>
                      <a:pt x="1193959" y="1189387"/>
                      <a:pt x="1190244" y="1187196"/>
                    </a:cubicBezTo>
                    <a:cubicBezTo>
                      <a:pt x="1186434" y="1185005"/>
                      <a:pt x="1187482" y="1182053"/>
                      <a:pt x="1182148" y="1182338"/>
                    </a:cubicBezTo>
                    <a:cubicBezTo>
                      <a:pt x="1174433" y="1182719"/>
                      <a:pt x="1164717" y="1183577"/>
                      <a:pt x="1169289" y="1172528"/>
                    </a:cubicBezTo>
                    <a:cubicBezTo>
                      <a:pt x="1170718" y="1169099"/>
                      <a:pt x="1172242" y="1167575"/>
                      <a:pt x="1172813" y="1163574"/>
                    </a:cubicBezTo>
                    <a:cubicBezTo>
                      <a:pt x="1173290" y="1160145"/>
                      <a:pt x="1173766" y="1156716"/>
                      <a:pt x="1175766" y="1153954"/>
                    </a:cubicBezTo>
                    <a:cubicBezTo>
                      <a:pt x="1177195" y="1153954"/>
                      <a:pt x="1178624" y="1154144"/>
                      <a:pt x="1179957" y="1154430"/>
                    </a:cubicBezTo>
                    <a:lnTo>
                      <a:pt x="1179957" y="1154906"/>
                    </a:lnTo>
                    <a:cubicBezTo>
                      <a:pt x="1183386" y="1154906"/>
                      <a:pt x="1187577" y="1155573"/>
                      <a:pt x="1190530" y="1153859"/>
                    </a:cubicBezTo>
                    <a:cubicBezTo>
                      <a:pt x="1192340" y="1152811"/>
                      <a:pt x="1193768" y="1149572"/>
                      <a:pt x="1196150" y="1149287"/>
                    </a:cubicBezTo>
                    <a:close/>
                    <a:moveTo>
                      <a:pt x="1090422" y="1153763"/>
                    </a:moveTo>
                    <a:cubicBezTo>
                      <a:pt x="1096232" y="1153954"/>
                      <a:pt x="1100042" y="1165289"/>
                      <a:pt x="1103281" y="1168146"/>
                    </a:cubicBezTo>
                    <a:cubicBezTo>
                      <a:pt x="1104995" y="1169670"/>
                      <a:pt x="1107186" y="1169861"/>
                      <a:pt x="1109091" y="1171194"/>
                    </a:cubicBezTo>
                    <a:cubicBezTo>
                      <a:pt x="1114235" y="1174814"/>
                      <a:pt x="1120902" y="1187006"/>
                      <a:pt x="1114997" y="1192054"/>
                    </a:cubicBezTo>
                    <a:cubicBezTo>
                      <a:pt x="1110234" y="1196150"/>
                      <a:pt x="1095566" y="1199864"/>
                      <a:pt x="1090613" y="1194626"/>
                    </a:cubicBezTo>
                    <a:cubicBezTo>
                      <a:pt x="1088803" y="1192721"/>
                      <a:pt x="1085755" y="1186339"/>
                      <a:pt x="1084707" y="1183767"/>
                    </a:cubicBezTo>
                    <a:cubicBezTo>
                      <a:pt x="1082612" y="1179005"/>
                      <a:pt x="1083374" y="1174528"/>
                      <a:pt x="1083850" y="1169384"/>
                    </a:cubicBezTo>
                    <a:cubicBezTo>
                      <a:pt x="1084231" y="1166051"/>
                      <a:pt x="1083469" y="1157764"/>
                      <a:pt x="1086136" y="1155383"/>
                    </a:cubicBezTo>
                    <a:cubicBezTo>
                      <a:pt x="1087660" y="1153954"/>
                      <a:pt x="1089184" y="1153573"/>
                      <a:pt x="1090517" y="1153668"/>
                    </a:cubicBezTo>
                    <a:close/>
                    <a:moveTo>
                      <a:pt x="6232112" y="1166908"/>
                    </a:moveTo>
                    <a:cubicBezTo>
                      <a:pt x="6230683" y="1166908"/>
                      <a:pt x="6229064" y="1168146"/>
                      <a:pt x="6227445" y="1170527"/>
                    </a:cubicBezTo>
                    <a:cubicBezTo>
                      <a:pt x="6224683" y="1174528"/>
                      <a:pt x="6224873" y="1178147"/>
                      <a:pt x="6228112" y="1180910"/>
                    </a:cubicBezTo>
                    <a:cubicBezTo>
                      <a:pt x="6229064" y="1181767"/>
                      <a:pt x="6229922" y="1183481"/>
                      <a:pt x="6229922" y="1184910"/>
                    </a:cubicBezTo>
                    <a:cubicBezTo>
                      <a:pt x="6229922" y="1184910"/>
                      <a:pt x="6231350" y="1188815"/>
                      <a:pt x="6232875" y="1190530"/>
                    </a:cubicBezTo>
                    <a:lnTo>
                      <a:pt x="6235541" y="1193673"/>
                    </a:lnTo>
                    <a:lnTo>
                      <a:pt x="6232875" y="1195864"/>
                    </a:lnTo>
                    <a:cubicBezTo>
                      <a:pt x="6231350" y="1197102"/>
                      <a:pt x="6229922" y="1198912"/>
                      <a:pt x="6229922" y="1199579"/>
                    </a:cubicBezTo>
                    <a:cubicBezTo>
                      <a:pt x="6229922" y="1199579"/>
                      <a:pt x="6228302" y="1202246"/>
                      <a:pt x="6226207" y="1203770"/>
                    </a:cubicBezTo>
                    <a:cubicBezTo>
                      <a:pt x="6224207" y="1205294"/>
                      <a:pt x="6221730" y="1208437"/>
                      <a:pt x="6220968" y="1210818"/>
                    </a:cubicBezTo>
                    <a:cubicBezTo>
                      <a:pt x="6220206" y="1213199"/>
                      <a:pt x="6218396" y="1215866"/>
                      <a:pt x="6216777" y="1217009"/>
                    </a:cubicBezTo>
                    <a:cubicBezTo>
                      <a:pt x="6213349" y="1219295"/>
                      <a:pt x="6212777" y="1224153"/>
                      <a:pt x="6215634" y="1226534"/>
                    </a:cubicBezTo>
                    <a:cubicBezTo>
                      <a:pt x="6216682" y="1227392"/>
                      <a:pt x="6217444" y="1228630"/>
                      <a:pt x="6217444" y="1229297"/>
                    </a:cubicBezTo>
                    <a:cubicBezTo>
                      <a:pt x="6217444" y="1229297"/>
                      <a:pt x="6218587" y="1231963"/>
                      <a:pt x="6220016" y="1233773"/>
                    </a:cubicBezTo>
                    <a:cubicBezTo>
                      <a:pt x="6221349" y="1235583"/>
                      <a:pt x="6222587" y="1237964"/>
                      <a:pt x="6222587" y="1239298"/>
                    </a:cubicBezTo>
                    <a:cubicBezTo>
                      <a:pt x="6222587" y="1241965"/>
                      <a:pt x="6227921" y="1246251"/>
                      <a:pt x="6229827" y="1245108"/>
                    </a:cubicBezTo>
                    <a:cubicBezTo>
                      <a:pt x="6232017" y="1243679"/>
                      <a:pt x="6237446" y="1245870"/>
                      <a:pt x="6237446" y="1248156"/>
                    </a:cubicBezTo>
                    <a:cubicBezTo>
                      <a:pt x="6237446" y="1249394"/>
                      <a:pt x="6237827" y="1250728"/>
                      <a:pt x="6238304" y="1251204"/>
                    </a:cubicBezTo>
                    <a:cubicBezTo>
                      <a:pt x="6240114" y="1253014"/>
                      <a:pt x="6245924" y="1251776"/>
                      <a:pt x="6250305" y="1248728"/>
                    </a:cubicBezTo>
                    <a:cubicBezTo>
                      <a:pt x="6254687" y="1245680"/>
                      <a:pt x="6254973" y="1245299"/>
                      <a:pt x="6254973" y="1238822"/>
                    </a:cubicBezTo>
                    <a:cubicBezTo>
                      <a:pt x="6254973" y="1232345"/>
                      <a:pt x="6254591" y="1231678"/>
                      <a:pt x="6250305" y="1227963"/>
                    </a:cubicBezTo>
                    <a:cubicBezTo>
                      <a:pt x="6247734" y="1225772"/>
                      <a:pt x="6244590" y="1224058"/>
                      <a:pt x="6243352" y="1224058"/>
                    </a:cubicBezTo>
                    <a:cubicBezTo>
                      <a:pt x="6242114" y="1224058"/>
                      <a:pt x="6240780" y="1223105"/>
                      <a:pt x="6240399" y="1222058"/>
                    </a:cubicBezTo>
                    <a:cubicBezTo>
                      <a:pt x="6238875" y="1218152"/>
                      <a:pt x="6241066" y="1214438"/>
                      <a:pt x="6246781" y="1211390"/>
                    </a:cubicBezTo>
                    <a:cubicBezTo>
                      <a:pt x="6252782" y="1208151"/>
                      <a:pt x="6257449" y="1201388"/>
                      <a:pt x="6257354" y="1195864"/>
                    </a:cubicBezTo>
                    <a:cubicBezTo>
                      <a:pt x="6257354" y="1191006"/>
                      <a:pt x="6247924" y="1177195"/>
                      <a:pt x="6243257" y="1175290"/>
                    </a:cubicBezTo>
                    <a:cubicBezTo>
                      <a:pt x="6240971" y="1174337"/>
                      <a:pt x="6237923" y="1172242"/>
                      <a:pt x="6236494" y="1170432"/>
                    </a:cubicBezTo>
                    <a:cubicBezTo>
                      <a:pt x="6234780" y="1168241"/>
                      <a:pt x="6233541" y="1167003"/>
                      <a:pt x="6232112" y="1167098"/>
                    </a:cubicBezTo>
                    <a:close/>
                    <a:moveTo>
                      <a:pt x="944023" y="1303401"/>
                    </a:moveTo>
                    <a:cubicBezTo>
                      <a:pt x="948214" y="1303211"/>
                      <a:pt x="952405" y="1304449"/>
                      <a:pt x="955739" y="1306830"/>
                    </a:cubicBezTo>
                    <a:cubicBezTo>
                      <a:pt x="958787" y="1309021"/>
                      <a:pt x="959263" y="1312736"/>
                      <a:pt x="963263" y="1313593"/>
                    </a:cubicBezTo>
                    <a:cubicBezTo>
                      <a:pt x="965740" y="1314164"/>
                      <a:pt x="969645" y="1311402"/>
                      <a:pt x="972312" y="1311021"/>
                    </a:cubicBezTo>
                    <a:cubicBezTo>
                      <a:pt x="984695" y="1309307"/>
                      <a:pt x="1003840" y="1307497"/>
                      <a:pt x="1009460" y="1320356"/>
                    </a:cubicBezTo>
                    <a:cubicBezTo>
                      <a:pt x="1014603" y="1332071"/>
                      <a:pt x="1010793" y="1350740"/>
                      <a:pt x="1012031" y="1363313"/>
                    </a:cubicBezTo>
                    <a:cubicBezTo>
                      <a:pt x="1013460" y="1379030"/>
                      <a:pt x="1014032" y="1390269"/>
                      <a:pt x="1005078" y="1402937"/>
                    </a:cubicBezTo>
                    <a:cubicBezTo>
                      <a:pt x="1001649" y="1407795"/>
                      <a:pt x="999458" y="1414272"/>
                      <a:pt x="995458" y="1418082"/>
                    </a:cubicBezTo>
                    <a:cubicBezTo>
                      <a:pt x="991076" y="1422368"/>
                      <a:pt x="985457" y="1424940"/>
                      <a:pt x="980789" y="1429322"/>
                    </a:cubicBezTo>
                    <a:cubicBezTo>
                      <a:pt x="976884" y="1433036"/>
                      <a:pt x="969455" y="1434560"/>
                      <a:pt x="967264" y="1439132"/>
                    </a:cubicBezTo>
                    <a:cubicBezTo>
                      <a:pt x="963644" y="1446562"/>
                      <a:pt x="970883" y="1450086"/>
                      <a:pt x="976694" y="1453229"/>
                    </a:cubicBezTo>
                    <a:cubicBezTo>
                      <a:pt x="988409" y="1459611"/>
                      <a:pt x="998315" y="1463231"/>
                      <a:pt x="1003649" y="1476280"/>
                    </a:cubicBezTo>
                    <a:cubicBezTo>
                      <a:pt x="1004887" y="1479233"/>
                      <a:pt x="1007174" y="1480947"/>
                      <a:pt x="1007078" y="1484662"/>
                    </a:cubicBezTo>
                    <a:cubicBezTo>
                      <a:pt x="1006888" y="1489615"/>
                      <a:pt x="1003745" y="1489234"/>
                      <a:pt x="1002697" y="1493044"/>
                    </a:cubicBezTo>
                    <a:cubicBezTo>
                      <a:pt x="1000506" y="1501426"/>
                      <a:pt x="1006602" y="1502093"/>
                      <a:pt x="1014603" y="1501712"/>
                    </a:cubicBezTo>
                    <a:cubicBezTo>
                      <a:pt x="1023747" y="1501331"/>
                      <a:pt x="1027081" y="1501712"/>
                      <a:pt x="1025366" y="1513427"/>
                    </a:cubicBezTo>
                    <a:cubicBezTo>
                      <a:pt x="1024223" y="1521047"/>
                      <a:pt x="1019747" y="1521714"/>
                      <a:pt x="1019747" y="1529620"/>
                    </a:cubicBezTo>
                    <a:cubicBezTo>
                      <a:pt x="1019747" y="1541240"/>
                      <a:pt x="1026605" y="1559052"/>
                      <a:pt x="1014412" y="1566482"/>
                    </a:cubicBezTo>
                    <a:cubicBezTo>
                      <a:pt x="1008317" y="1570196"/>
                      <a:pt x="1001459" y="1568958"/>
                      <a:pt x="994886" y="1571054"/>
                    </a:cubicBezTo>
                    <a:cubicBezTo>
                      <a:pt x="988409" y="1573149"/>
                      <a:pt x="984314" y="1576197"/>
                      <a:pt x="977551" y="1572673"/>
                    </a:cubicBezTo>
                    <a:cubicBezTo>
                      <a:pt x="973455" y="1570482"/>
                      <a:pt x="967740" y="1565338"/>
                      <a:pt x="965264" y="1561433"/>
                    </a:cubicBezTo>
                    <a:cubicBezTo>
                      <a:pt x="963454" y="1558481"/>
                      <a:pt x="962216" y="1556004"/>
                      <a:pt x="962597" y="1552384"/>
                    </a:cubicBezTo>
                    <a:cubicBezTo>
                      <a:pt x="962882" y="1549527"/>
                      <a:pt x="965930" y="1546955"/>
                      <a:pt x="966026" y="1544765"/>
                    </a:cubicBezTo>
                    <a:cubicBezTo>
                      <a:pt x="966407" y="1530382"/>
                      <a:pt x="946690" y="1540002"/>
                      <a:pt x="946785" y="1528001"/>
                    </a:cubicBezTo>
                    <a:cubicBezTo>
                      <a:pt x="938403" y="1522667"/>
                      <a:pt x="953072" y="1519619"/>
                      <a:pt x="955834" y="1517523"/>
                    </a:cubicBezTo>
                    <a:cubicBezTo>
                      <a:pt x="962787" y="1511999"/>
                      <a:pt x="960215" y="1507236"/>
                      <a:pt x="957834" y="1501521"/>
                    </a:cubicBezTo>
                    <a:cubicBezTo>
                      <a:pt x="955643" y="1496378"/>
                      <a:pt x="956215" y="1486662"/>
                      <a:pt x="953357" y="1482662"/>
                    </a:cubicBezTo>
                    <a:cubicBezTo>
                      <a:pt x="949071" y="1476851"/>
                      <a:pt x="940022" y="1481804"/>
                      <a:pt x="933831" y="1479233"/>
                    </a:cubicBezTo>
                    <a:cubicBezTo>
                      <a:pt x="928497" y="1476947"/>
                      <a:pt x="924116" y="1469803"/>
                      <a:pt x="917353" y="1468088"/>
                    </a:cubicBezTo>
                    <a:cubicBezTo>
                      <a:pt x="910590" y="1466469"/>
                      <a:pt x="901827" y="1468469"/>
                      <a:pt x="894779" y="1468088"/>
                    </a:cubicBezTo>
                    <a:cubicBezTo>
                      <a:pt x="887825" y="1467707"/>
                      <a:pt x="881920" y="1466374"/>
                      <a:pt x="875252" y="1464469"/>
                    </a:cubicBezTo>
                    <a:cubicBezTo>
                      <a:pt x="867537" y="1462278"/>
                      <a:pt x="865918" y="1463612"/>
                      <a:pt x="858488" y="1467041"/>
                    </a:cubicBezTo>
                    <a:cubicBezTo>
                      <a:pt x="854202" y="1469041"/>
                      <a:pt x="849630" y="1469898"/>
                      <a:pt x="845534" y="1472946"/>
                    </a:cubicBezTo>
                    <a:cubicBezTo>
                      <a:pt x="842582" y="1475137"/>
                      <a:pt x="840772" y="1479328"/>
                      <a:pt x="836962" y="1481328"/>
                    </a:cubicBezTo>
                    <a:cubicBezTo>
                      <a:pt x="827723" y="1486091"/>
                      <a:pt x="814673" y="1482566"/>
                      <a:pt x="805053" y="1484757"/>
                    </a:cubicBezTo>
                    <a:cubicBezTo>
                      <a:pt x="797624" y="1486472"/>
                      <a:pt x="789337" y="1488186"/>
                      <a:pt x="782765" y="1487329"/>
                    </a:cubicBezTo>
                    <a:cubicBezTo>
                      <a:pt x="776192" y="1486472"/>
                      <a:pt x="768668" y="1489138"/>
                      <a:pt x="766286" y="1486567"/>
                    </a:cubicBezTo>
                    <a:cubicBezTo>
                      <a:pt x="763810" y="1483995"/>
                      <a:pt x="760571" y="1472089"/>
                      <a:pt x="753999" y="1477232"/>
                    </a:cubicBezTo>
                    <a:cubicBezTo>
                      <a:pt x="747427" y="1482281"/>
                      <a:pt x="745712" y="1482281"/>
                      <a:pt x="742379" y="1489043"/>
                    </a:cubicBezTo>
                    <a:cubicBezTo>
                      <a:pt x="739045" y="1495806"/>
                      <a:pt x="734092" y="1495711"/>
                      <a:pt x="734092" y="1501616"/>
                    </a:cubicBezTo>
                    <a:cubicBezTo>
                      <a:pt x="734092" y="1507522"/>
                      <a:pt x="736568" y="1508379"/>
                      <a:pt x="732377" y="1514284"/>
                    </a:cubicBezTo>
                    <a:cubicBezTo>
                      <a:pt x="728282" y="1520190"/>
                      <a:pt x="728282" y="1522762"/>
                      <a:pt x="722471" y="1527810"/>
                    </a:cubicBezTo>
                    <a:cubicBezTo>
                      <a:pt x="716661" y="1532858"/>
                      <a:pt x="715804" y="1533716"/>
                      <a:pt x="710851" y="1537907"/>
                    </a:cubicBezTo>
                    <a:cubicBezTo>
                      <a:pt x="705898" y="1542098"/>
                      <a:pt x="699326" y="1543050"/>
                      <a:pt x="701802" y="1553147"/>
                    </a:cubicBezTo>
                    <a:cubicBezTo>
                      <a:pt x="704279" y="1563243"/>
                      <a:pt x="705898" y="1568291"/>
                      <a:pt x="709994" y="1573340"/>
                    </a:cubicBezTo>
                    <a:cubicBezTo>
                      <a:pt x="714089" y="1578388"/>
                      <a:pt x="715804" y="1580007"/>
                      <a:pt x="721614" y="1586770"/>
                    </a:cubicBezTo>
                    <a:cubicBezTo>
                      <a:pt x="727424" y="1593533"/>
                      <a:pt x="733139" y="1586008"/>
                      <a:pt x="731520" y="1599438"/>
                    </a:cubicBezTo>
                    <a:cubicBezTo>
                      <a:pt x="729901" y="1612963"/>
                      <a:pt x="729044" y="1613726"/>
                      <a:pt x="730663" y="1619631"/>
                    </a:cubicBezTo>
                    <a:cubicBezTo>
                      <a:pt x="732282" y="1625537"/>
                      <a:pt x="729996" y="1631537"/>
                      <a:pt x="734854" y="1636681"/>
                    </a:cubicBezTo>
                    <a:cubicBezTo>
                      <a:pt x="739807" y="1641729"/>
                      <a:pt x="748094" y="1640872"/>
                      <a:pt x="751332" y="1640872"/>
                    </a:cubicBezTo>
                    <a:lnTo>
                      <a:pt x="768572" y="1640872"/>
                    </a:lnTo>
                    <a:cubicBezTo>
                      <a:pt x="771906" y="1640872"/>
                      <a:pt x="773621" y="1638395"/>
                      <a:pt x="778574" y="1640872"/>
                    </a:cubicBezTo>
                    <a:cubicBezTo>
                      <a:pt x="783527" y="1643444"/>
                      <a:pt x="789337" y="1642491"/>
                      <a:pt x="786098" y="1650111"/>
                    </a:cubicBezTo>
                    <a:cubicBezTo>
                      <a:pt x="782765" y="1657731"/>
                      <a:pt x="784384" y="1657731"/>
                      <a:pt x="773716" y="1661922"/>
                    </a:cubicBezTo>
                    <a:cubicBezTo>
                      <a:pt x="762953" y="1666113"/>
                      <a:pt x="752189" y="1664494"/>
                      <a:pt x="748856" y="1670399"/>
                    </a:cubicBezTo>
                    <a:cubicBezTo>
                      <a:pt x="745522" y="1676305"/>
                      <a:pt x="743045" y="1675352"/>
                      <a:pt x="747141" y="1683830"/>
                    </a:cubicBezTo>
                    <a:cubicBezTo>
                      <a:pt x="751237" y="1692307"/>
                      <a:pt x="752189" y="1693164"/>
                      <a:pt x="755428" y="1695641"/>
                    </a:cubicBezTo>
                    <a:cubicBezTo>
                      <a:pt x="758762" y="1698212"/>
                      <a:pt x="763715" y="1701641"/>
                      <a:pt x="757142" y="1705832"/>
                    </a:cubicBezTo>
                    <a:cubicBezTo>
                      <a:pt x="750570" y="1710023"/>
                      <a:pt x="745522" y="1712595"/>
                      <a:pt x="739807" y="1710881"/>
                    </a:cubicBezTo>
                    <a:cubicBezTo>
                      <a:pt x="733997" y="1709166"/>
                      <a:pt x="733997" y="1706499"/>
                      <a:pt x="729044" y="1704784"/>
                    </a:cubicBezTo>
                    <a:cubicBezTo>
                      <a:pt x="724091" y="1703070"/>
                      <a:pt x="723995" y="1699736"/>
                      <a:pt x="719042" y="1704784"/>
                    </a:cubicBezTo>
                    <a:cubicBezTo>
                      <a:pt x="714089" y="1709833"/>
                      <a:pt x="709232" y="1709071"/>
                      <a:pt x="713423" y="1714976"/>
                    </a:cubicBezTo>
                    <a:cubicBezTo>
                      <a:pt x="717518" y="1720882"/>
                      <a:pt x="718376" y="1717453"/>
                      <a:pt x="718376" y="1724216"/>
                    </a:cubicBezTo>
                    <a:cubicBezTo>
                      <a:pt x="718376" y="1730978"/>
                      <a:pt x="709327" y="1725073"/>
                      <a:pt x="718376" y="1730978"/>
                    </a:cubicBezTo>
                    <a:cubicBezTo>
                      <a:pt x="727424" y="1736884"/>
                      <a:pt x="725805" y="1739265"/>
                      <a:pt x="723329" y="1741837"/>
                    </a:cubicBezTo>
                    <a:cubicBezTo>
                      <a:pt x="720852" y="1744409"/>
                      <a:pt x="712470" y="1762125"/>
                      <a:pt x="712470" y="1762125"/>
                    </a:cubicBezTo>
                    <a:cubicBezTo>
                      <a:pt x="712470" y="1762125"/>
                      <a:pt x="705898" y="1769840"/>
                      <a:pt x="704279" y="1766411"/>
                    </a:cubicBezTo>
                    <a:cubicBezTo>
                      <a:pt x="702659" y="1763078"/>
                      <a:pt x="703517" y="1756315"/>
                      <a:pt x="701897" y="1751267"/>
                    </a:cubicBezTo>
                    <a:cubicBezTo>
                      <a:pt x="700278" y="1746218"/>
                      <a:pt x="700183" y="1741742"/>
                      <a:pt x="700183" y="1741742"/>
                    </a:cubicBezTo>
                    <a:lnTo>
                      <a:pt x="695230" y="1731836"/>
                    </a:lnTo>
                    <a:cubicBezTo>
                      <a:pt x="695230" y="1731836"/>
                      <a:pt x="698564" y="1719929"/>
                      <a:pt x="700183" y="1717453"/>
                    </a:cubicBezTo>
                    <a:cubicBezTo>
                      <a:pt x="701802" y="1714976"/>
                      <a:pt x="707517" y="1707356"/>
                      <a:pt x="707517" y="1707356"/>
                    </a:cubicBezTo>
                    <a:cubicBezTo>
                      <a:pt x="707517" y="1707356"/>
                      <a:pt x="711613" y="1701546"/>
                      <a:pt x="707517" y="1698974"/>
                    </a:cubicBezTo>
                    <a:cubicBezTo>
                      <a:pt x="703421" y="1696498"/>
                      <a:pt x="708565" y="1693831"/>
                      <a:pt x="709327" y="1690497"/>
                    </a:cubicBezTo>
                    <a:cubicBezTo>
                      <a:pt x="710184" y="1687068"/>
                      <a:pt x="712756" y="1683639"/>
                      <a:pt x="709422" y="1681448"/>
                    </a:cubicBezTo>
                    <a:cubicBezTo>
                      <a:pt x="706088" y="1679162"/>
                      <a:pt x="703898" y="1677543"/>
                      <a:pt x="702183" y="1677543"/>
                    </a:cubicBezTo>
                    <a:cubicBezTo>
                      <a:pt x="700469" y="1677543"/>
                      <a:pt x="695706" y="1679829"/>
                      <a:pt x="695706" y="1679829"/>
                    </a:cubicBezTo>
                    <a:cubicBezTo>
                      <a:pt x="695706" y="1679829"/>
                      <a:pt x="691134" y="1682591"/>
                      <a:pt x="689515" y="1679258"/>
                    </a:cubicBezTo>
                    <a:cubicBezTo>
                      <a:pt x="687896" y="1675924"/>
                      <a:pt x="688086" y="1674686"/>
                      <a:pt x="685800" y="1671923"/>
                    </a:cubicBezTo>
                    <a:cubicBezTo>
                      <a:pt x="683609" y="1669161"/>
                      <a:pt x="681800" y="1668018"/>
                      <a:pt x="680180" y="1668018"/>
                    </a:cubicBezTo>
                    <a:cubicBezTo>
                      <a:pt x="678561" y="1668018"/>
                      <a:pt x="675799" y="1668685"/>
                      <a:pt x="675227" y="1672590"/>
                    </a:cubicBezTo>
                    <a:cubicBezTo>
                      <a:pt x="674656" y="1676495"/>
                      <a:pt x="674084" y="1678210"/>
                      <a:pt x="677894" y="1682115"/>
                    </a:cubicBezTo>
                    <a:cubicBezTo>
                      <a:pt x="681704" y="1686020"/>
                      <a:pt x="682466" y="1685925"/>
                      <a:pt x="683514" y="1688783"/>
                    </a:cubicBezTo>
                    <a:cubicBezTo>
                      <a:pt x="684657" y="1691640"/>
                      <a:pt x="685800" y="1691831"/>
                      <a:pt x="686372" y="1696307"/>
                    </a:cubicBezTo>
                    <a:cubicBezTo>
                      <a:pt x="686943" y="1700784"/>
                      <a:pt x="686372" y="1700594"/>
                      <a:pt x="685229" y="1705070"/>
                    </a:cubicBezTo>
                    <a:cubicBezTo>
                      <a:pt x="684181" y="1709547"/>
                      <a:pt x="682466" y="1712500"/>
                      <a:pt x="679704" y="1716500"/>
                    </a:cubicBezTo>
                    <a:cubicBezTo>
                      <a:pt x="676942" y="1720406"/>
                      <a:pt x="677513" y="1719929"/>
                      <a:pt x="673608" y="1722692"/>
                    </a:cubicBezTo>
                    <a:cubicBezTo>
                      <a:pt x="669798" y="1725454"/>
                      <a:pt x="669131" y="1731074"/>
                      <a:pt x="665798" y="1727740"/>
                    </a:cubicBezTo>
                    <a:cubicBezTo>
                      <a:pt x="662464" y="1724406"/>
                      <a:pt x="660940" y="1722596"/>
                      <a:pt x="658749" y="1718691"/>
                    </a:cubicBezTo>
                    <a:cubicBezTo>
                      <a:pt x="656558" y="1714786"/>
                      <a:pt x="653701" y="1713643"/>
                      <a:pt x="655320" y="1708595"/>
                    </a:cubicBezTo>
                    <a:cubicBezTo>
                      <a:pt x="656939" y="1703546"/>
                      <a:pt x="660845" y="1700689"/>
                      <a:pt x="660845" y="1700689"/>
                    </a:cubicBezTo>
                    <a:cubicBezTo>
                      <a:pt x="660845" y="1700689"/>
                      <a:pt x="663226" y="1697260"/>
                      <a:pt x="666464" y="1694498"/>
                    </a:cubicBezTo>
                    <a:cubicBezTo>
                      <a:pt x="669798" y="1691640"/>
                      <a:pt x="670274" y="1686687"/>
                      <a:pt x="670274" y="1686687"/>
                    </a:cubicBezTo>
                    <a:cubicBezTo>
                      <a:pt x="670274" y="1686687"/>
                      <a:pt x="670274" y="1683830"/>
                      <a:pt x="669131" y="1679924"/>
                    </a:cubicBezTo>
                    <a:cubicBezTo>
                      <a:pt x="667988" y="1676019"/>
                      <a:pt x="669131" y="1675448"/>
                      <a:pt x="671227" y="1669256"/>
                    </a:cubicBezTo>
                    <a:cubicBezTo>
                      <a:pt x="673418" y="1663065"/>
                      <a:pt x="674370" y="1659636"/>
                      <a:pt x="677704" y="1656302"/>
                    </a:cubicBezTo>
                    <a:cubicBezTo>
                      <a:pt x="681037" y="1652969"/>
                      <a:pt x="682847" y="1649635"/>
                      <a:pt x="685610" y="1647349"/>
                    </a:cubicBezTo>
                    <a:cubicBezTo>
                      <a:pt x="688372" y="1645063"/>
                      <a:pt x="692753" y="1646206"/>
                      <a:pt x="696087" y="1641729"/>
                    </a:cubicBezTo>
                    <a:cubicBezTo>
                      <a:pt x="699421" y="1637252"/>
                      <a:pt x="701421" y="1638872"/>
                      <a:pt x="700850" y="1632680"/>
                    </a:cubicBezTo>
                    <a:cubicBezTo>
                      <a:pt x="700278" y="1626489"/>
                      <a:pt x="698659" y="1626584"/>
                      <a:pt x="696468" y="1625441"/>
                    </a:cubicBezTo>
                    <a:cubicBezTo>
                      <a:pt x="694277" y="1624298"/>
                      <a:pt x="692658" y="1622679"/>
                      <a:pt x="686562" y="1625441"/>
                    </a:cubicBezTo>
                    <a:cubicBezTo>
                      <a:pt x="680466" y="1628299"/>
                      <a:pt x="677323" y="1628775"/>
                      <a:pt x="673989" y="1631061"/>
                    </a:cubicBezTo>
                    <a:cubicBezTo>
                      <a:pt x="670655" y="1633347"/>
                      <a:pt x="671132" y="1632680"/>
                      <a:pt x="665702" y="1634966"/>
                    </a:cubicBezTo>
                    <a:cubicBezTo>
                      <a:pt x="660178" y="1637252"/>
                      <a:pt x="660273" y="1636586"/>
                      <a:pt x="657511" y="1638300"/>
                    </a:cubicBezTo>
                    <a:cubicBezTo>
                      <a:pt x="654749" y="1640015"/>
                      <a:pt x="659035" y="1639919"/>
                      <a:pt x="653034" y="1642205"/>
                    </a:cubicBezTo>
                    <a:cubicBezTo>
                      <a:pt x="646938" y="1644491"/>
                      <a:pt x="647605" y="1645158"/>
                      <a:pt x="644271" y="1642967"/>
                    </a:cubicBezTo>
                    <a:cubicBezTo>
                      <a:pt x="640937" y="1640681"/>
                      <a:pt x="636080" y="1638395"/>
                      <a:pt x="636080" y="1638395"/>
                    </a:cubicBezTo>
                    <a:cubicBezTo>
                      <a:pt x="636080" y="1638395"/>
                      <a:pt x="634937" y="1633442"/>
                      <a:pt x="630555" y="1636776"/>
                    </a:cubicBezTo>
                    <a:cubicBezTo>
                      <a:pt x="626174" y="1640110"/>
                      <a:pt x="625507" y="1640586"/>
                      <a:pt x="622268" y="1644587"/>
                    </a:cubicBezTo>
                    <a:cubicBezTo>
                      <a:pt x="618935" y="1648492"/>
                      <a:pt x="621887" y="1647444"/>
                      <a:pt x="616363" y="1650778"/>
                    </a:cubicBezTo>
                    <a:cubicBezTo>
                      <a:pt x="610838" y="1654207"/>
                      <a:pt x="611886" y="1654683"/>
                      <a:pt x="607505" y="1655255"/>
                    </a:cubicBezTo>
                    <a:cubicBezTo>
                      <a:pt x="603123" y="1655826"/>
                      <a:pt x="602647" y="1657064"/>
                      <a:pt x="598742" y="1656017"/>
                    </a:cubicBezTo>
                    <a:cubicBezTo>
                      <a:pt x="594932" y="1654874"/>
                      <a:pt x="591503" y="1651540"/>
                      <a:pt x="590931" y="1656017"/>
                    </a:cubicBezTo>
                    <a:cubicBezTo>
                      <a:pt x="590360" y="1660493"/>
                      <a:pt x="590931" y="1662208"/>
                      <a:pt x="593598" y="1666684"/>
                    </a:cubicBezTo>
                    <a:cubicBezTo>
                      <a:pt x="596360" y="1671161"/>
                      <a:pt x="597503" y="1672781"/>
                      <a:pt x="597027" y="1678972"/>
                    </a:cubicBezTo>
                    <a:cubicBezTo>
                      <a:pt x="596456" y="1685163"/>
                      <a:pt x="594265" y="1686306"/>
                      <a:pt x="596456" y="1690211"/>
                    </a:cubicBezTo>
                    <a:cubicBezTo>
                      <a:pt x="598646" y="1694117"/>
                      <a:pt x="600266" y="1694593"/>
                      <a:pt x="601409" y="1698593"/>
                    </a:cubicBezTo>
                    <a:cubicBezTo>
                      <a:pt x="602552" y="1702499"/>
                      <a:pt x="605219" y="1703737"/>
                      <a:pt x="601409" y="1706499"/>
                    </a:cubicBezTo>
                    <a:cubicBezTo>
                      <a:pt x="597503" y="1709261"/>
                      <a:pt x="595408" y="1710976"/>
                      <a:pt x="592074" y="1711547"/>
                    </a:cubicBezTo>
                    <a:cubicBezTo>
                      <a:pt x="588740" y="1712119"/>
                      <a:pt x="588740" y="1715072"/>
                      <a:pt x="584835" y="1711071"/>
                    </a:cubicBezTo>
                    <a:cubicBezTo>
                      <a:pt x="581025" y="1707166"/>
                      <a:pt x="581501" y="1708213"/>
                      <a:pt x="578168" y="1704308"/>
                    </a:cubicBezTo>
                    <a:cubicBezTo>
                      <a:pt x="574834" y="1700403"/>
                      <a:pt x="567785" y="1698593"/>
                      <a:pt x="565023" y="1700879"/>
                    </a:cubicBezTo>
                    <a:cubicBezTo>
                      <a:pt x="562261" y="1703165"/>
                      <a:pt x="557784" y="1703737"/>
                      <a:pt x="555593" y="1706499"/>
                    </a:cubicBezTo>
                    <a:cubicBezTo>
                      <a:pt x="553403" y="1709261"/>
                      <a:pt x="552260" y="1709833"/>
                      <a:pt x="548926" y="1710404"/>
                    </a:cubicBezTo>
                    <a:cubicBezTo>
                      <a:pt x="545592" y="1710976"/>
                      <a:pt x="541401" y="1711166"/>
                      <a:pt x="539210" y="1712309"/>
                    </a:cubicBezTo>
                    <a:cubicBezTo>
                      <a:pt x="537020" y="1713452"/>
                      <a:pt x="534162" y="1715548"/>
                      <a:pt x="534734" y="1718405"/>
                    </a:cubicBezTo>
                    <a:cubicBezTo>
                      <a:pt x="535305" y="1721168"/>
                      <a:pt x="553784" y="1750409"/>
                      <a:pt x="553784" y="1750409"/>
                    </a:cubicBezTo>
                    <a:cubicBezTo>
                      <a:pt x="553784" y="1750409"/>
                      <a:pt x="559975" y="1762982"/>
                      <a:pt x="562832" y="1769745"/>
                    </a:cubicBezTo>
                    <a:cubicBezTo>
                      <a:pt x="565690" y="1776508"/>
                      <a:pt x="567881" y="1781461"/>
                      <a:pt x="570357" y="1782699"/>
                    </a:cubicBezTo>
                    <a:cubicBezTo>
                      <a:pt x="572834" y="1783937"/>
                      <a:pt x="576453" y="1785747"/>
                      <a:pt x="578549" y="1787462"/>
                    </a:cubicBezTo>
                    <a:cubicBezTo>
                      <a:pt x="580644" y="1789176"/>
                      <a:pt x="582359" y="1792034"/>
                      <a:pt x="581978" y="1795844"/>
                    </a:cubicBezTo>
                    <a:cubicBezTo>
                      <a:pt x="581597" y="1799654"/>
                      <a:pt x="578644" y="1802225"/>
                      <a:pt x="580739" y="1804797"/>
                    </a:cubicBezTo>
                    <a:cubicBezTo>
                      <a:pt x="582835" y="1807369"/>
                      <a:pt x="682657" y="1889570"/>
                      <a:pt x="682657" y="1889570"/>
                    </a:cubicBezTo>
                    <a:cubicBezTo>
                      <a:pt x="682657" y="1889570"/>
                      <a:pt x="699230" y="1907286"/>
                      <a:pt x="703040" y="1911477"/>
                    </a:cubicBezTo>
                    <a:cubicBezTo>
                      <a:pt x="706755" y="1915668"/>
                      <a:pt x="706279" y="1915668"/>
                      <a:pt x="706755" y="1920716"/>
                    </a:cubicBezTo>
                    <a:cubicBezTo>
                      <a:pt x="707136" y="1925765"/>
                      <a:pt x="707898" y="1943195"/>
                      <a:pt x="708755" y="1952434"/>
                    </a:cubicBezTo>
                    <a:cubicBezTo>
                      <a:pt x="709612" y="1961674"/>
                      <a:pt x="706755" y="1961198"/>
                      <a:pt x="710470" y="1967579"/>
                    </a:cubicBezTo>
                    <a:cubicBezTo>
                      <a:pt x="714185" y="1973866"/>
                      <a:pt x="713804" y="1975676"/>
                      <a:pt x="718376" y="1980248"/>
                    </a:cubicBezTo>
                    <a:cubicBezTo>
                      <a:pt x="722948" y="1984915"/>
                      <a:pt x="724091" y="1985296"/>
                      <a:pt x="731520" y="1981581"/>
                    </a:cubicBezTo>
                    <a:cubicBezTo>
                      <a:pt x="738950" y="1977771"/>
                      <a:pt x="741045" y="1977771"/>
                      <a:pt x="743522" y="1974818"/>
                    </a:cubicBezTo>
                    <a:cubicBezTo>
                      <a:pt x="745998" y="1971866"/>
                      <a:pt x="746855" y="1967484"/>
                      <a:pt x="751427" y="1969199"/>
                    </a:cubicBezTo>
                    <a:cubicBezTo>
                      <a:pt x="755999" y="1970913"/>
                      <a:pt x="760095" y="1972818"/>
                      <a:pt x="763429" y="1977390"/>
                    </a:cubicBezTo>
                    <a:cubicBezTo>
                      <a:pt x="766762" y="1982057"/>
                      <a:pt x="767906" y="1980819"/>
                      <a:pt x="770763" y="1984153"/>
                    </a:cubicBezTo>
                    <a:cubicBezTo>
                      <a:pt x="773621" y="1987487"/>
                      <a:pt x="776192" y="1987487"/>
                      <a:pt x="773716" y="1992535"/>
                    </a:cubicBezTo>
                    <a:cubicBezTo>
                      <a:pt x="771239" y="1997583"/>
                      <a:pt x="771620" y="1997488"/>
                      <a:pt x="768382" y="2000441"/>
                    </a:cubicBezTo>
                    <a:cubicBezTo>
                      <a:pt x="765048" y="2003393"/>
                      <a:pt x="761238" y="2001203"/>
                      <a:pt x="757523" y="2004632"/>
                    </a:cubicBezTo>
                    <a:cubicBezTo>
                      <a:pt x="753809" y="2007965"/>
                      <a:pt x="752951" y="2007775"/>
                      <a:pt x="752189" y="2011585"/>
                    </a:cubicBezTo>
                    <a:cubicBezTo>
                      <a:pt x="751332" y="2015395"/>
                      <a:pt x="751046" y="2017014"/>
                      <a:pt x="750189" y="2018633"/>
                    </a:cubicBezTo>
                    <a:cubicBezTo>
                      <a:pt x="749332" y="2020348"/>
                      <a:pt x="748856" y="2021205"/>
                      <a:pt x="745998" y="2021205"/>
                    </a:cubicBezTo>
                    <a:cubicBezTo>
                      <a:pt x="743141" y="2021205"/>
                      <a:pt x="738664" y="2016824"/>
                      <a:pt x="734949" y="2020157"/>
                    </a:cubicBezTo>
                    <a:cubicBezTo>
                      <a:pt x="731234" y="2023491"/>
                      <a:pt x="729615" y="2024920"/>
                      <a:pt x="725900" y="2029111"/>
                    </a:cubicBezTo>
                    <a:cubicBezTo>
                      <a:pt x="722185" y="2033302"/>
                      <a:pt x="719137" y="2036445"/>
                      <a:pt x="715042" y="2033873"/>
                    </a:cubicBezTo>
                    <a:cubicBezTo>
                      <a:pt x="710946" y="2031302"/>
                      <a:pt x="701802" y="2026063"/>
                      <a:pt x="695992" y="2024348"/>
                    </a:cubicBezTo>
                    <a:cubicBezTo>
                      <a:pt x="690182" y="2022634"/>
                      <a:pt x="685514" y="2019014"/>
                      <a:pt x="683419" y="2017681"/>
                    </a:cubicBezTo>
                    <a:cubicBezTo>
                      <a:pt x="681323" y="2016443"/>
                      <a:pt x="676180" y="2015204"/>
                      <a:pt x="675323" y="2010156"/>
                    </a:cubicBezTo>
                    <a:cubicBezTo>
                      <a:pt x="674465" y="2005108"/>
                      <a:pt x="674180" y="2004155"/>
                      <a:pt x="674656" y="1999012"/>
                    </a:cubicBezTo>
                    <a:cubicBezTo>
                      <a:pt x="675037" y="1993963"/>
                      <a:pt x="673418" y="1989011"/>
                      <a:pt x="670560" y="1986439"/>
                    </a:cubicBezTo>
                    <a:cubicBezTo>
                      <a:pt x="667703" y="1983962"/>
                      <a:pt x="664845" y="1985963"/>
                      <a:pt x="661511" y="1980533"/>
                    </a:cubicBezTo>
                    <a:cubicBezTo>
                      <a:pt x="658178" y="1975009"/>
                      <a:pt x="656844" y="1973866"/>
                      <a:pt x="656844" y="1967960"/>
                    </a:cubicBezTo>
                    <a:cubicBezTo>
                      <a:pt x="656844" y="1962055"/>
                      <a:pt x="657797" y="1956054"/>
                      <a:pt x="660273" y="1951387"/>
                    </a:cubicBezTo>
                    <a:cubicBezTo>
                      <a:pt x="662750" y="1946720"/>
                      <a:pt x="661416" y="1948053"/>
                      <a:pt x="666369" y="1943481"/>
                    </a:cubicBezTo>
                    <a:cubicBezTo>
                      <a:pt x="671322" y="1938814"/>
                      <a:pt x="672941" y="1938338"/>
                      <a:pt x="674180" y="1935385"/>
                    </a:cubicBezTo>
                    <a:cubicBezTo>
                      <a:pt x="675418" y="1932432"/>
                      <a:pt x="677132" y="1928622"/>
                      <a:pt x="675037" y="1924907"/>
                    </a:cubicBezTo>
                    <a:cubicBezTo>
                      <a:pt x="672941" y="1921097"/>
                      <a:pt x="667703" y="1918526"/>
                      <a:pt x="663131" y="1918526"/>
                    </a:cubicBezTo>
                    <a:cubicBezTo>
                      <a:pt x="658559" y="1918526"/>
                      <a:pt x="616363" y="1919288"/>
                      <a:pt x="616363" y="1919288"/>
                    </a:cubicBezTo>
                    <a:cubicBezTo>
                      <a:pt x="616363" y="1919288"/>
                      <a:pt x="609695" y="1920621"/>
                      <a:pt x="604742" y="1917287"/>
                    </a:cubicBezTo>
                    <a:cubicBezTo>
                      <a:pt x="599789" y="1913954"/>
                      <a:pt x="583787" y="1899857"/>
                      <a:pt x="582168" y="1895666"/>
                    </a:cubicBezTo>
                    <a:cubicBezTo>
                      <a:pt x="580549" y="1891475"/>
                      <a:pt x="579692" y="1887760"/>
                      <a:pt x="577215" y="1882235"/>
                    </a:cubicBezTo>
                    <a:cubicBezTo>
                      <a:pt x="574739" y="1876711"/>
                      <a:pt x="574167" y="1877568"/>
                      <a:pt x="572167" y="1874615"/>
                    </a:cubicBezTo>
                    <a:cubicBezTo>
                      <a:pt x="570071" y="1871663"/>
                      <a:pt x="569881" y="1868805"/>
                      <a:pt x="567785" y="1866709"/>
                    </a:cubicBezTo>
                    <a:cubicBezTo>
                      <a:pt x="565690" y="1864614"/>
                      <a:pt x="565214" y="1861757"/>
                      <a:pt x="562261" y="1860518"/>
                    </a:cubicBezTo>
                    <a:cubicBezTo>
                      <a:pt x="559403" y="1859280"/>
                      <a:pt x="556546" y="1856232"/>
                      <a:pt x="552355" y="1856232"/>
                    </a:cubicBezTo>
                    <a:cubicBezTo>
                      <a:pt x="548164" y="1856232"/>
                      <a:pt x="540258" y="1854899"/>
                      <a:pt x="536543" y="1854518"/>
                    </a:cubicBezTo>
                    <a:cubicBezTo>
                      <a:pt x="532829" y="1854041"/>
                      <a:pt x="530066" y="1851565"/>
                      <a:pt x="529590" y="1850327"/>
                    </a:cubicBezTo>
                    <a:cubicBezTo>
                      <a:pt x="529209" y="1849088"/>
                      <a:pt x="523113" y="1844802"/>
                      <a:pt x="523113" y="1844802"/>
                    </a:cubicBezTo>
                    <a:cubicBezTo>
                      <a:pt x="523113" y="1844802"/>
                      <a:pt x="519208" y="1837754"/>
                      <a:pt x="515874" y="1836896"/>
                    </a:cubicBezTo>
                    <a:cubicBezTo>
                      <a:pt x="512540" y="1836039"/>
                      <a:pt x="501872" y="1836039"/>
                      <a:pt x="500634" y="1836039"/>
                    </a:cubicBezTo>
                    <a:cubicBezTo>
                      <a:pt x="499396" y="1836039"/>
                      <a:pt x="487109" y="1834991"/>
                      <a:pt x="487109" y="1834991"/>
                    </a:cubicBezTo>
                    <a:lnTo>
                      <a:pt x="523113" y="1724311"/>
                    </a:lnTo>
                    <a:lnTo>
                      <a:pt x="524256" y="1714976"/>
                    </a:lnTo>
                    <a:cubicBezTo>
                      <a:pt x="524256" y="1714976"/>
                      <a:pt x="527685" y="1712881"/>
                      <a:pt x="528066" y="1711262"/>
                    </a:cubicBezTo>
                    <a:cubicBezTo>
                      <a:pt x="528447" y="1709547"/>
                      <a:pt x="530066" y="1704404"/>
                      <a:pt x="530447" y="1703165"/>
                    </a:cubicBezTo>
                    <a:cubicBezTo>
                      <a:pt x="530828" y="1701927"/>
                      <a:pt x="538353" y="1695545"/>
                      <a:pt x="538353" y="1695545"/>
                    </a:cubicBezTo>
                    <a:cubicBezTo>
                      <a:pt x="538353" y="1695545"/>
                      <a:pt x="546164" y="1688402"/>
                      <a:pt x="552736" y="1685449"/>
                    </a:cubicBezTo>
                    <a:cubicBezTo>
                      <a:pt x="559308" y="1682496"/>
                      <a:pt x="560261" y="1684211"/>
                      <a:pt x="565595" y="1677067"/>
                    </a:cubicBezTo>
                    <a:cubicBezTo>
                      <a:pt x="570929" y="1669923"/>
                      <a:pt x="572929" y="1665161"/>
                      <a:pt x="573786" y="1663065"/>
                    </a:cubicBezTo>
                    <a:cubicBezTo>
                      <a:pt x="574643" y="1660970"/>
                      <a:pt x="589121" y="1629347"/>
                      <a:pt x="592455" y="1623822"/>
                    </a:cubicBezTo>
                    <a:cubicBezTo>
                      <a:pt x="595789" y="1618298"/>
                      <a:pt x="598932" y="1612392"/>
                      <a:pt x="602171" y="1605248"/>
                    </a:cubicBezTo>
                    <a:cubicBezTo>
                      <a:pt x="605504" y="1598105"/>
                      <a:pt x="605885" y="1593056"/>
                      <a:pt x="608362" y="1589246"/>
                    </a:cubicBezTo>
                    <a:cubicBezTo>
                      <a:pt x="610838" y="1585436"/>
                      <a:pt x="612934" y="1581150"/>
                      <a:pt x="616649" y="1575245"/>
                    </a:cubicBezTo>
                    <a:cubicBezTo>
                      <a:pt x="620363" y="1569339"/>
                      <a:pt x="617887" y="1572482"/>
                      <a:pt x="622459" y="1566577"/>
                    </a:cubicBezTo>
                    <a:cubicBezTo>
                      <a:pt x="627031" y="1560671"/>
                      <a:pt x="631984" y="1555528"/>
                      <a:pt x="632365" y="1550384"/>
                    </a:cubicBezTo>
                    <a:cubicBezTo>
                      <a:pt x="632746" y="1545336"/>
                      <a:pt x="637318" y="1533620"/>
                      <a:pt x="639032" y="1530191"/>
                    </a:cubicBezTo>
                    <a:cubicBezTo>
                      <a:pt x="640652" y="1526858"/>
                      <a:pt x="641604" y="1522952"/>
                      <a:pt x="643700" y="1520381"/>
                    </a:cubicBezTo>
                    <a:cubicBezTo>
                      <a:pt x="645795" y="1517809"/>
                      <a:pt x="647319" y="1513237"/>
                      <a:pt x="648938" y="1511141"/>
                    </a:cubicBezTo>
                    <a:cubicBezTo>
                      <a:pt x="650558" y="1509046"/>
                      <a:pt x="653606" y="1504379"/>
                      <a:pt x="653987" y="1503045"/>
                    </a:cubicBezTo>
                    <a:cubicBezTo>
                      <a:pt x="654368" y="1501807"/>
                      <a:pt x="656082" y="1497140"/>
                      <a:pt x="658940" y="1496282"/>
                    </a:cubicBezTo>
                    <a:cubicBezTo>
                      <a:pt x="661797" y="1495425"/>
                      <a:pt x="665512" y="1494377"/>
                      <a:pt x="668369" y="1498568"/>
                    </a:cubicBezTo>
                    <a:cubicBezTo>
                      <a:pt x="671227" y="1502759"/>
                      <a:pt x="672465" y="1503998"/>
                      <a:pt x="676561" y="1507808"/>
                    </a:cubicBezTo>
                    <a:cubicBezTo>
                      <a:pt x="680657" y="1511618"/>
                      <a:pt x="681514" y="1513999"/>
                      <a:pt x="688562" y="1514475"/>
                    </a:cubicBezTo>
                    <a:cubicBezTo>
                      <a:pt x="695611" y="1514856"/>
                      <a:pt x="697230" y="1517428"/>
                      <a:pt x="700183" y="1514475"/>
                    </a:cubicBezTo>
                    <a:cubicBezTo>
                      <a:pt x="703040" y="1511522"/>
                      <a:pt x="702945" y="1508188"/>
                      <a:pt x="702183" y="1506569"/>
                    </a:cubicBezTo>
                    <a:cubicBezTo>
                      <a:pt x="701326" y="1504855"/>
                      <a:pt x="700564" y="1499330"/>
                      <a:pt x="703421" y="1498092"/>
                    </a:cubicBezTo>
                    <a:cubicBezTo>
                      <a:pt x="706279" y="1496854"/>
                      <a:pt x="707136" y="1491901"/>
                      <a:pt x="710089" y="1496092"/>
                    </a:cubicBezTo>
                    <a:cubicBezTo>
                      <a:pt x="712946" y="1500283"/>
                      <a:pt x="713708" y="1502759"/>
                      <a:pt x="717899" y="1499807"/>
                    </a:cubicBezTo>
                    <a:cubicBezTo>
                      <a:pt x="721995" y="1496854"/>
                      <a:pt x="725996" y="1493139"/>
                      <a:pt x="725996" y="1493139"/>
                    </a:cubicBezTo>
                    <a:cubicBezTo>
                      <a:pt x="725996" y="1493139"/>
                      <a:pt x="732473" y="1485709"/>
                      <a:pt x="732092" y="1483614"/>
                    </a:cubicBezTo>
                    <a:cubicBezTo>
                      <a:pt x="731710" y="1481519"/>
                      <a:pt x="732949" y="1479137"/>
                      <a:pt x="732473" y="1474946"/>
                    </a:cubicBezTo>
                    <a:cubicBezTo>
                      <a:pt x="732092" y="1470755"/>
                      <a:pt x="731139" y="1466850"/>
                      <a:pt x="730377" y="1464755"/>
                    </a:cubicBezTo>
                    <a:cubicBezTo>
                      <a:pt x="729520" y="1462659"/>
                      <a:pt x="729615" y="1458944"/>
                      <a:pt x="726281" y="1457706"/>
                    </a:cubicBezTo>
                    <a:cubicBezTo>
                      <a:pt x="722948" y="1456468"/>
                      <a:pt x="722185" y="1456468"/>
                      <a:pt x="720471" y="1453991"/>
                    </a:cubicBezTo>
                    <a:cubicBezTo>
                      <a:pt x="718852" y="1451420"/>
                      <a:pt x="717328" y="1449705"/>
                      <a:pt x="719804" y="1445895"/>
                    </a:cubicBezTo>
                    <a:cubicBezTo>
                      <a:pt x="722281" y="1442085"/>
                      <a:pt x="738759" y="1407509"/>
                      <a:pt x="739140" y="1405414"/>
                    </a:cubicBezTo>
                    <a:cubicBezTo>
                      <a:pt x="739521" y="1403318"/>
                      <a:pt x="742569" y="1397794"/>
                      <a:pt x="742569" y="1397794"/>
                    </a:cubicBezTo>
                    <a:lnTo>
                      <a:pt x="746665" y="1391412"/>
                    </a:lnTo>
                    <a:cubicBezTo>
                      <a:pt x="757809" y="1384078"/>
                      <a:pt x="753618" y="1376553"/>
                      <a:pt x="757809" y="1365218"/>
                    </a:cubicBezTo>
                    <a:cubicBezTo>
                      <a:pt x="761238" y="1355884"/>
                      <a:pt x="769620" y="1346645"/>
                      <a:pt x="773906" y="1337501"/>
                    </a:cubicBezTo>
                    <a:cubicBezTo>
                      <a:pt x="776859" y="1331214"/>
                      <a:pt x="778764" y="1331595"/>
                      <a:pt x="783050" y="1327595"/>
                    </a:cubicBezTo>
                    <a:cubicBezTo>
                      <a:pt x="786860" y="1324070"/>
                      <a:pt x="786479" y="1319498"/>
                      <a:pt x="789718" y="1315784"/>
                    </a:cubicBezTo>
                    <a:cubicBezTo>
                      <a:pt x="796004" y="1308449"/>
                      <a:pt x="807720" y="1320070"/>
                      <a:pt x="815816" y="1322546"/>
                    </a:cubicBezTo>
                    <a:cubicBezTo>
                      <a:pt x="818198" y="1330071"/>
                      <a:pt x="816007" y="1334453"/>
                      <a:pt x="825818" y="1335786"/>
                    </a:cubicBezTo>
                    <a:cubicBezTo>
                      <a:pt x="831152" y="1336548"/>
                      <a:pt x="828675" y="1337024"/>
                      <a:pt x="833152" y="1334738"/>
                    </a:cubicBezTo>
                    <a:cubicBezTo>
                      <a:pt x="837152" y="1332738"/>
                      <a:pt x="835152" y="1328452"/>
                      <a:pt x="840962" y="1330547"/>
                    </a:cubicBezTo>
                    <a:cubicBezTo>
                      <a:pt x="843058" y="1331309"/>
                      <a:pt x="843820" y="1335881"/>
                      <a:pt x="845725" y="1337310"/>
                    </a:cubicBezTo>
                    <a:cubicBezTo>
                      <a:pt x="849154" y="1339882"/>
                      <a:pt x="853631" y="1340358"/>
                      <a:pt x="857917" y="1339882"/>
                    </a:cubicBezTo>
                    <a:cubicBezTo>
                      <a:pt x="863251" y="1339310"/>
                      <a:pt x="872966" y="1335024"/>
                      <a:pt x="876967" y="1331405"/>
                    </a:cubicBezTo>
                    <a:cubicBezTo>
                      <a:pt x="882015" y="1326737"/>
                      <a:pt x="879920" y="1319689"/>
                      <a:pt x="885539" y="1315688"/>
                    </a:cubicBezTo>
                    <a:cubicBezTo>
                      <a:pt x="892778" y="1310735"/>
                      <a:pt x="896207" y="1318070"/>
                      <a:pt x="903446" y="1319022"/>
                    </a:cubicBezTo>
                    <a:cubicBezTo>
                      <a:pt x="908876" y="1319784"/>
                      <a:pt x="919544" y="1318070"/>
                      <a:pt x="924592" y="1316450"/>
                    </a:cubicBezTo>
                    <a:cubicBezTo>
                      <a:pt x="930497" y="1314450"/>
                      <a:pt x="932593" y="1308449"/>
                      <a:pt x="937451" y="1305592"/>
                    </a:cubicBezTo>
                    <a:cubicBezTo>
                      <a:pt x="939546" y="1304354"/>
                      <a:pt x="942023" y="1303687"/>
                      <a:pt x="944499" y="1303592"/>
                    </a:cubicBezTo>
                    <a:lnTo>
                      <a:pt x="944499" y="1303592"/>
                    </a:lnTo>
                    <a:close/>
                    <a:moveTo>
                      <a:pt x="6336602" y="1366266"/>
                    </a:moveTo>
                    <a:cubicBezTo>
                      <a:pt x="6334887" y="1366266"/>
                      <a:pt x="6327172" y="1375505"/>
                      <a:pt x="6327172" y="1377506"/>
                    </a:cubicBezTo>
                    <a:cubicBezTo>
                      <a:pt x="6327172" y="1377506"/>
                      <a:pt x="6328029" y="1380268"/>
                      <a:pt x="6328982" y="1382268"/>
                    </a:cubicBezTo>
                    <a:cubicBezTo>
                      <a:pt x="6330030" y="1384268"/>
                      <a:pt x="6330982" y="1387507"/>
                      <a:pt x="6330982" y="1389317"/>
                    </a:cubicBezTo>
                    <a:cubicBezTo>
                      <a:pt x="6330982" y="1391984"/>
                      <a:pt x="6334602" y="1396079"/>
                      <a:pt x="6350223" y="1410176"/>
                    </a:cubicBezTo>
                    <a:cubicBezTo>
                      <a:pt x="6360795" y="1419797"/>
                      <a:pt x="6369558" y="1428083"/>
                      <a:pt x="6369558" y="1428083"/>
                    </a:cubicBezTo>
                    <a:cubicBezTo>
                      <a:pt x="6369558" y="1429131"/>
                      <a:pt x="6371273" y="1430655"/>
                      <a:pt x="6373558" y="1432084"/>
                    </a:cubicBezTo>
                    <a:cubicBezTo>
                      <a:pt x="6375750" y="1433513"/>
                      <a:pt x="6382036" y="1438561"/>
                      <a:pt x="6387275" y="1443323"/>
                    </a:cubicBezTo>
                    <a:cubicBezTo>
                      <a:pt x="6392514" y="1448086"/>
                      <a:pt x="6400896" y="1455325"/>
                      <a:pt x="6405944" y="1459325"/>
                    </a:cubicBezTo>
                    <a:cubicBezTo>
                      <a:pt x="6410992" y="1463326"/>
                      <a:pt x="6416707" y="1467993"/>
                      <a:pt x="6418802" y="1469993"/>
                    </a:cubicBezTo>
                    <a:cubicBezTo>
                      <a:pt x="6420898" y="1471994"/>
                      <a:pt x="6423851" y="1474565"/>
                      <a:pt x="6425565" y="1475804"/>
                    </a:cubicBezTo>
                    <a:cubicBezTo>
                      <a:pt x="6427280" y="1476947"/>
                      <a:pt x="6432424" y="1481138"/>
                      <a:pt x="6436900" y="1485138"/>
                    </a:cubicBezTo>
                    <a:cubicBezTo>
                      <a:pt x="6441377" y="1489138"/>
                      <a:pt x="6448902" y="1495520"/>
                      <a:pt x="6453664" y="1499426"/>
                    </a:cubicBezTo>
                    <a:cubicBezTo>
                      <a:pt x="6466046" y="1509522"/>
                      <a:pt x="6482525" y="1523333"/>
                      <a:pt x="6490240" y="1530382"/>
                    </a:cubicBezTo>
                    <a:cubicBezTo>
                      <a:pt x="6493859" y="1533716"/>
                      <a:pt x="6497479" y="1536573"/>
                      <a:pt x="6498432" y="1536573"/>
                    </a:cubicBezTo>
                    <a:cubicBezTo>
                      <a:pt x="6500336" y="1536573"/>
                      <a:pt x="6508624" y="1527048"/>
                      <a:pt x="6510719" y="1522571"/>
                    </a:cubicBezTo>
                    <a:cubicBezTo>
                      <a:pt x="6511957" y="1519809"/>
                      <a:pt x="6511290" y="1519047"/>
                      <a:pt x="6503384" y="1511427"/>
                    </a:cubicBezTo>
                    <a:cubicBezTo>
                      <a:pt x="6481286" y="1490282"/>
                      <a:pt x="6468523" y="1479709"/>
                      <a:pt x="6449568" y="1467041"/>
                    </a:cubicBezTo>
                    <a:cubicBezTo>
                      <a:pt x="6437471" y="1458944"/>
                      <a:pt x="6435186" y="1456849"/>
                      <a:pt x="6431947" y="1450277"/>
                    </a:cubicBezTo>
                    <a:cubicBezTo>
                      <a:pt x="6428994" y="1444276"/>
                      <a:pt x="6420327" y="1435132"/>
                      <a:pt x="6413278" y="1430846"/>
                    </a:cubicBezTo>
                    <a:cubicBezTo>
                      <a:pt x="6402324" y="1424083"/>
                      <a:pt x="6383655" y="1412081"/>
                      <a:pt x="6380512" y="1409509"/>
                    </a:cubicBezTo>
                    <a:cubicBezTo>
                      <a:pt x="6378702" y="1408081"/>
                      <a:pt x="6376607" y="1406747"/>
                      <a:pt x="6375845" y="1406747"/>
                    </a:cubicBezTo>
                    <a:cubicBezTo>
                      <a:pt x="6375083" y="1406747"/>
                      <a:pt x="6370987" y="1403604"/>
                      <a:pt x="6366796" y="1399508"/>
                    </a:cubicBezTo>
                    <a:cubicBezTo>
                      <a:pt x="6358033" y="1391126"/>
                      <a:pt x="6350413" y="1385221"/>
                      <a:pt x="6348413" y="1385221"/>
                    </a:cubicBezTo>
                    <a:cubicBezTo>
                      <a:pt x="6347651" y="1385221"/>
                      <a:pt x="6345174" y="1380839"/>
                      <a:pt x="6342793" y="1375601"/>
                    </a:cubicBezTo>
                    <a:cubicBezTo>
                      <a:pt x="6340412" y="1370362"/>
                      <a:pt x="6337650" y="1366076"/>
                      <a:pt x="6336697" y="1366076"/>
                    </a:cubicBezTo>
                    <a:close/>
                    <a:moveTo>
                      <a:pt x="2778919" y="1381125"/>
                    </a:moveTo>
                    <a:cubicBezTo>
                      <a:pt x="2779681" y="1381125"/>
                      <a:pt x="2780824" y="1381411"/>
                      <a:pt x="2781871" y="1381601"/>
                    </a:cubicBezTo>
                    <a:cubicBezTo>
                      <a:pt x="2786539" y="1382363"/>
                      <a:pt x="2788920" y="1388650"/>
                      <a:pt x="2788634" y="1392555"/>
                    </a:cubicBezTo>
                    <a:cubicBezTo>
                      <a:pt x="2797683" y="1395794"/>
                      <a:pt x="2793397" y="1404080"/>
                      <a:pt x="2791016" y="1409414"/>
                    </a:cubicBezTo>
                    <a:cubicBezTo>
                      <a:pt x="2788253" y="1415796"/>
                      <a:pt x="2787492" y="1423035"/>
                      <a:pt x="2784348" y="1429322"/>
                    </a:cubicBezTo>
                    <a:cubicBezTo>
                      <a:pt x="2778728" y="1440561"/>
                      <a:pt x="2769965" y="1454277"/>
                      <a:pt x="2771680" y="1468088"/>
                    </a:cubicBezTo>
                    <a:cubicBezTo>
                      <a:pt x="2786539" y="1470374"/>
                      <a:pt x="2782157" y="1447133"/>
                      <a:pt x="2796064" y="1450372"/>
                    </a:cubicBezTo>
                    <a:cubicBezTo>
                      <a:pt x="2806256" y="1452753"/>
                      <a:pt x="2797397" y="1460754"/>
                      <a:pt x="2797778" y="1465612"/>
                    </a:cubicBezTo>
                    <a:cubicBezTo>
                      <a:pt x="2798540" y="1476089"/>
                      <a:pt x="2805017" y="1468279"/>
                      <a:pt x="2809399" y="1465326"/>
                    </a:cubicBezTo>
                    <a:cubicBezTo>
                      <a:pt x="2812161" y="1463421"/>
                      <a:pt x="2820638" y="1460945"/>
                      <a:pt x="2822067" y="1457801"/>
                    </a:cubicBezTo>
                    <a:cubicBezTo>
                      <a:pt x="2825115" y="1451420"/>
                      <a:pt x="2817019" y="1445514"/>
                      <a:pt x="2824163" y="1441895"/>
                    </a:cubicBezTo>
                    <a:cubicBezTo>
                      <a:pt x="2837593" y="1435132"/>
                      <a:pt x="2848261" y="1453039"/>
                      <a:pt x="2835021" y="1461326"/>
                    </a:cubicBezTo>
                    <a:cubicBezTo>
                      <a:pt x="2832545" y="1469708"/>
                      <a:pt x="2820353" y="1497044"/>
                      <a:pt x="2839784" y="1493330"/>
                    </a:cubicBezTo>
                    <a:cubicBezTo>
                      <a:pt x="2842927" y="1488281"/>
                      <a:pt x="2841784" y="1479328"/>
                      <a:pt x="2845118" y="1475708"/>
                    </a:cubicBezTo>
                    <a:cubicBezTo>
                      <a:pt x="2849404" y="1471232"/>
                      <a:pt x="2857119" y="1471708"/>
                      <a:pt x="2861120" y="1475232"/>
                    </a:cubicBezTo>
                    <a:cubicBezTo>
                      <a:pt x="2874550" y="1487424"/>
                      <a:pt x="2852547" y="1494949"/>
                      <a:pt x="2857691" y="1507808"/>
                    </a:cubicBezTo>
                    <a:cubicBezTo>
                      <a:pt x="2865311" y="1526667"/>
                      <a:pt x="2877217" y="1499997"/>
                      <a:pt x="2887313" y="1503521"/>
                    </a:cubicBezTo>
                    <a:cubicBezTo>
                      <a:pt x="2894171" y="1505807"/>
                      <a:pt x="2890647" y="1513332"/>
                      <a:pt x="2895219" y="1516952"/>
                    </a:cubicBezTo>
                    <a:cubicBezTo>
                      <a:pt x="2902649" y="1522857"/>
                      <a:pt x="2908078" y="1513999"/>
                      <a:pt x="2909221" y="1507903"/>
                    </a:cubicBezTo>
                    <a:cubicBezTo>
                      <a:pt x="2910935" y="1498663"/>
                      <a:pt x="2908745" y="1478566"/>
                      <a:pt x="2923604" y="1490472"/>
                    </a:cubicBezTo>
                    <a:cubicBezTo>
                      <a:pt x="2925318" y="1496854"/>
                      <a:pt x="2928176" y="1500283"/>
                      <a:pt x="2927318" y="1507046"/>
                    </a:cubicBezTo>
                    <a:cubicBezTo>
                      <a:pt x="2926461" y="1513332"/>
                      <a:pt x="2923413" y="1517904"/>
                      <a:pt x="2925318" y="1524762"/>
                    </a:cubicBezTo>
                    <a:cubicBezTo>
                      <a:pt x="2926652" y="1529620"/>
                      <a:pt x="2930652" y="1536573"/>
                      <a:pt x="2935605" y="1538478"/>
                    </a:cubicBezTo>
                    <a:cubicBezTo>
                      <a:pt x="2944082" y="1541717"/>
                      <a:pt x="2945797" y="1535716"/>
                      <a:pt x="2949131" y="1530953"/>
                    </a:cubicBezTo>
                    <a:cubicBezTo>
                      <a:pt x="2953417" y="1524857"/>
                      <a:pt x="2957036" y="1522286"/>
                      <a:pt x="2963513" y="1519809"/>
                    </a:cubicBezTo>
                    <a:cubicBezTo>
                      <a:pt x="2971895" y="1516666"/>
                      <a:pt x="2972657" y="1514951"/>
                      <a:pt x="2977896" y="1507998"/>
                    </a:cubicBezTo>
                    <a:cubicBezTo>
                      <a:pt x="2981230" y="1503521"/>
                      <a:pt x="2986754" y="1497425"/>
                      <a:pt x="2983802" y="1490948"/>
                    </a:cubicBezTo>
                    <a:cubicBezTo>
                      <a:pt x="2980658" y="1484090"/>
                      <a:pt x="2972562" y="1485519"/>
                      <a:pt x="2965990" y="1484852"/>
                    </a:cubicBezTo>
                    <a:cubicBezTo>
                      <a:pt x="2961894" y="1484471"/>
                      <a:pt x="2958084" y="1485614"/>
                      <a:pt x="2956275" y="1481423"/>
                    </a:cubicBezTo>
                    <a:cubicBezTo>
                      <a:pt x="2953703" y="1475708"/>
                      <a:pt x="2959894" y="1474089"/>
                      <a:pt x="2961608" y="1471232"/>
                    </a:cubicBezTo>
                    <a:cubicBezTo>
                      <a:pt x="2964466" y="1466564"/>
                      <a:pt x="2965323" y="1437704"/>
                      <a:pt x="2971895" y="1447609"/>
                    </a:cubicBezTo>
                    <a:cubicBezTo>
                      <a:pt x="2975325" y="1452753"/>
                      <a:pt x="2976944" y="1456087"/>
                      <a:pt x="2981230" y="1453515"/>
                    </a:cubicBezTo>
                    <a:cubicBezTo>
                      <a:pt x="2985421" y="1450943"/>
                      <a:pt x="2987897" y="1450943"/>
                      <a:pt x="2990374" y="1443323"/>
                    </a:cubicBezTo>
                    <a:cubicBezTo>
                      <a:pt x="2992946" y="1435703"/>
                      <a:pt x="2990564" y="1437323"/>
                      <a:pt x="2995613" y="1432179"/>
                    </a:cubicBezTo>
                    <a:cubicBezTo>
                      <a:pt x="3000661" y="1427036"/>
                      <a:pt x="3001518" y="1425512"/>
                      <a:pt x="3004090" y="1423797"/>
                    </a:cubicBezTo>
                    <a:cubicBezTo>
                      <a:pt x="3006662" y="1422083"/>
                      <a:pt x="3002280" y="1424654"/>
                      <a:pt x="3009900" y="1422940"/>
                    </a:cubicBezTo>
                    <a:cubicBezTo>
                      <a:pt x="3017520" y="1421225"/>
                      <a:pt x="3020187" y="1422083"/>
                      <a:pt x="3025331" y="1421225"/>
                    </a:cubicBezTo>
                    <a:cubicBezTo>
                      <a:pt x="3030379" y="1420368"/>
                      <a:pt x="3033808" y="1417034"/>
                      <a:pt x="3033808" y="1426369"/>
                    </a:cubicBezTo>
                    <a:cubicBezTo>
                      <a:pt x="3033808" y="1435703"/>
                      <a:pt x="3031236" y="1435608"/>
                      <a:pt x="3033808" y="1443228"/>
                    </a:cubicBezTo>
                    <a:cubicBezTo>
                      <a:pt x="3036380" y="1450848"/>
                      <a:pt x="3030379" y="1445895"/>
                      <a:pt x="3036380" y="1451038"/>
                    </a:cubicBezTo>
                    <a:cubicBezTo>
                      <a:pt x="3042285" y="1456182"/>
                      <a:pt x="3041428" y="1455230"/>
                      <a:pt x="3045714" y="1456087"/>
                    </a:cubicBezTo>
                    <a:cubicBezTo>
                      <a:pt x="3049905" y="1456944"/>
                      <a:pt x="3048286" y="1452753"/>
                      <a:pt x="3051620" y="1460373"/>
                    </a:cubicBezTo>
                    <a:cubicBezTo>
                      <a:pt x="3055049" y="1467993"/>
                      <a:pt x="3053334" y="1470374"/>
                      <a:pt x="3055811" y="1473803"/>
                    </a:cubicBezTo>
                    <a:cubicBezTo>
                      <a:pt x="3058382" y="1477232"/>
                      <a:pt x="3057525" y="1474756"/>
                      <a:pt x="3058382" y="1480757"/>
                    </a:cubicBezTo>
                    <a:cubicBezTo>
                      <a:pt x="3059240" y="1486662"/>
                      <a:pt x="3059906" y="1486757"/>
                      <a:pt x="3054858" y="1489234"/>
                    </a:cubicBezTo>
                    <a:cubicBezTo>
                      <a:pt x="3049810" y="1491806"/>
                      <a:pt x="3049905" y="1489234"/>
                      <a:pt x="3046571" y="1494282"/>
                    </a:cubicBezTo>
                    <a:cubicBezTo>
                      <a:pt x="3043142" y="1499426"/>
                      <a:pt x="3042476" y="1494282"/>
                      <a:pt x="3039904" y="1502759"/>
                    </a:cubicBezTo>
                    <a:cubicBezTo>
                      <a:pt x="3037332" y="1511237"/>
                      <a:pt x="3037332" y="1507808"/>
                      <a:pt x="3037332" y="1515428"/>
                    </a:cubicBezTo>
                    <a:cubicBezTo>
                      <a:pt x="3037332" y="1523048"/>
                      <a:pt x="3030379" y="1518952"/>
                      <a:pt x="3037999" y="1528286"/>
                    </a:cubicBezTo>
                    <a:cubicBezTo>
                      <a:pt x="3045619" y="1537621"/>
                      <a:pt x="3047143" y="1536859"/>
                      <a:pt x="3052286" y="1540288"/>
                    </a:cubicBezTo>
                    <a:cubicBezTo>
                      <a:pt x="3057335" y="1543717"/>
                      <a:pt x="3065812" y="1545908"/>
                      <a:pt x="3063335" y="1547622"/>
                    </a:cubicBezTo>
                    <a:cubicBezTo>
                      <a:pt x="3060763" y="1549337"/>
                      <a:pt x="3054001" y="1550384"/>
                      <a:pt x="3052286" y="1558862"/>
                    </a:cubicBezTo>
                    <a:cubicBezTo>
                      <a:pt x="3050572" y="1567339"/>
                      <a:pt x="3048191" y="1567339"/>
                      <a:pt x="3049905" y="1572387"/>
                    </a:cubicBezTo>
                    <a:cubicBezTo>
                      <a:pt x="3051620" y="1577531"/>
                      <a:pt x="3058382" y="1577340"/>
                      <a:pt x="3049905" y="1581626"/>
                    </a:cubicBezTo>
                    <a:cubicBezTo>
                      <a:pt x="3041428" y="1585913"/>
                      <a:pt x="3039713" y="1590294"/>
                      <a:pt x="3035522" y="1584388"/>
                    </a:cubicBezTo>
                    <a:cubicBezTo>
                      <a:pt x="3031331" y="1578483"/>
                      <a:pt x="3029617" y="1572578"/>
                      <a:pt x="3026188" y="1571720"/>
                    </a:cubicBezTo>
                    <a:cubicBezTo>
                      <a:pt x="3022759" y="1570863"/>
                      <a:pt x="3015901" y="1562957"/>
                      <a:pt x="3012472" y="1567244"/>
                    </a:cubicBezTo>
                    <a:cubicBezTo>
                      <a:pt x="3009138" y="1571530"/>
                      <a:pt x="3002471" y="1569244"/>
                      <a:pt x="3005804" y="1574292"/>
                    </a:cubicBezTo>
                    <a:cubicBezTo>
                      <a:pt x="3009233" y="1579340"/>
                      <a:pt x="3013425" y="1582674"/>
                      <a:pt x="3014282" y="1585246"/>
                    </a:cubicBezTo>
                    <a:cubicBezTo>
                      <a:pt x="3015615" y="1589246"/>
                      <a:pt x="3008948" y="1596676"/>
                      <a:pt x="3005423" y="1598105"/>
                    </a:cubicBezTo>
                    <a:cubicBezTo>
                      <a:pt x="3000089" y="1600200"/>
                      <a:pt x="2996279" y="1596104"/>
                      <a:pt x="2990755" y="1597057"/>
                    </a:cubicBezTo>
                    <a:cubicBezTo>
                      <a:pt x="2988945" y="1606963"/>
                      <a:pt x="2983135" y="1595533"/>
                      <a:pt x="2983802" y="1590294"/>
                    </a:cubicBezTo>
                    <a:cubicBezTo>
                      <a:pt x="2984659" y="1583055"/>
                      <a:pt x="2988278" y="1580007"/>
                      <a:pt x="2987897" y="1571816"/>
                    </a:cubicBezTo>
                    <a:cubicBezTo>
                      <a:pt x="2984373" y="1570958"/>
                      <a:pt x="2982373" y="1572197"/>
                      <a:pt x="2982087" y="1575721"/>
                    </a:cubicBezTo>
                    <a:cubicBezTo>
                      <a:pt x="2971229" y="1578483"/>
                      <a:pt x="2971514" y="1563815"/>
                      <a:pt x="2961894" y="1566672"/>
                    </a:cubicBezTo>
                    <a:cubicBezTo>
                      <a:pt x="2961513" y="1568958"/>
                      <a:pt x="2961513" y="1573340"/>
                      <a:pt x="2960370" y="1575149"/>
                    </a:cubicBezTo>
                    <a:cubicBezTo>
                      <a:pt x="2959132" y="1576959"/>
                      <a:pt x="2954941" y="1577340"/>
                      <a:pt x="2954179" y="1579436"/>
                    </a:cubicBezTo>
                    <a:cubicBezTo>
                      <a:pt x="2950750" y="1588865"/>
                      <a:pt x="2960656" y="1582865"/>
                      <a:pt x="2965037" y="1583627"/>
                    </a:cubicBezTo>
                    <a:cubicBezTo>
                      <a:pt x="2966561" y="1587437"/>
                      <a:pt x="2964466" y="1593437"/>
                      <a:pt x="2966276" y="1596866"/>
                    </a:cubicBezTo>
                    <a:cubicBezTo>
                      <a:pt x="2968467" y="1600867"/>
                      <a:pt x="2973324" y="1600486"/>
                      <a:pt x="2975325" y="1605629"/>
                    </a:cubicBezTo>
                    <a:cubicBezTo>
                      <a:pt x="2977896" y="1612297"/>
                      <a:pt x="2974277" y="1610582"/>
                      <a:pt x="2971800" y="1615440"/>
                    </a:cubicBezTo>
                    <a:cubicBezTo>
                      <a:pt x="2969895" y="1619155"/>
                      <a:pt x="2971514" y="1623346"/>
                      <a:pt x="2967800" y="1625822"/>
                    </a:cubicBezTo>
                    <a:cubicBezTo>
                      <a:pt x="2965418" y="1624775"/>
                      <a:pt x="2962466" y="1620965"/>
                      <a:pt x="2960275" y="1620488"/>
                    </a:cubicBezTo>
                    <a:cubicBezTo>
                      <a:pt x="2955798" y="1619536"/>
                      <a:pt x="2954465" y="1622965"/>
                      <a:pt x="2950655" y="1623251"/>
                    </a:cubicBezTo>
                    <a:cubicBezTo>
                      <a:pt x="2939796" y="1623917"/>
                      <a:pt x="2941701" y="1615154"/>
                      <a:pt x="2941320" y="1607249"/>
                    </a:cubicBezTo>
                    <a:cubicBezTo>
                      <a:pt x="2932557" y="1604867"/>
                      <a:pt x="2932652" y="1614773"/>
                      <a:pt x="2932843" y="1619917"/>
                    </a:cubicBezTo>
                    <a:cubicBezTo>
                      <a:pt x="2933129" y="1627061"/>
                      <a:pt x="2933129" y="1631156"/>
                      <a:pt x="2931033" y="1637824"/>
                    </a:cubicBezTo>
                    <a:cubicBezTo>
                      <a:pt x="2929795" y="1641824"/>
                      <a:pt x="2928938" y="1654683"/>
                      <a:pt x="2925413" y="1655826"/>
                    </a:cubicBezTo>
                    <a:cubicBezTo>
                      <a:pt x="2920460" y="1657445"/>
                      <a:pt x="2915888" y="1648016"/>
                      <a:pt x="2914079" y="1644015"/>
                    </a:cubicBezTo>
                    <a:cubicBezTo>
                      <a:pt x="2899696" y="1636490"/>
                      <a:pt x="2906649" y="1672209"/>
                      <a:pt x="2889695" y="1660017"/>
                    </a:cubicBezTo>
                    <a:cubicBezTo>
                      <a:pt x="2875788" y="1650016"/>
                      <a:pt x="2897410" y="1636109"/>
                      <a:pt x="2902553" y="1630013"/>
                    </a:cubicBezTo>
                    <a:cubicBezTo>
                      <a:pt x="2906840" y="1624965"/>
                      <a:pt x="2907221" y="1621441"/>
                      <a:pt x="2908078" y="1615154"/>
                    </a:cubicBezTo>
                    <a:cubicBezTo>
                      <a:pt x="2908554" y="1611821"/>
                      <a:pt x="2907697" y="1611821"/>
                      <a:pt x="2909316" y="1608392"/>
                    </a:cubicBezTo>
                    <a:cubicBezTo>
                      <a:pt x="2910554" y="1605820"/>
                      <a:pt x="2913888" y="1603629"/>
                      <a:pt x="2915126" y="1601057"/>
                    </a:cubicBezTo>
                    <a:cubicBezTo>
                      <a:pt x="2917508" y="1596009"/>
                      <a:pt x="2924842" y="1578864"/>
                      <a:pt x="2918555" y="1574483"/>
                    </a:cubicBezTo>
                    <a:cubicBezTo>
                      <a:pt x="2907983" y="1567339"/>
                      <a:pt x="2896267" y="1593342"/>
                      <a:pt x="2892171" y="1598581"/>
                    </a:cubicBezTo>
                    <a:cubicBezTo>
                      <a:pt x="2894552" y="1602962"/>
                      <a:pt x="2904935" y="1611821"/>
                      <a:pt x="2898077" y="1617345"/>
                    </a:cubicBezTo>
                    <a:cubicBezTo>
                      <a:pt x="2889504" y="1624298"/>
                      <a:pt x="2886361" y="1606010"/>
                      <a:pt x="2877026" y="1608963"/>
                    </a:cubicBezTo>
                    <a:cubicBezTo>
                      <a:pt x="2871311" y="1610773"/>
                      <a:pt x="2865311" y="1623346"/>
                      <a:pt x="2865882" y="1628013"/>
                    </a:cubicBezTo>
                    <a:cubicBezTo>
                      <a:pt x="2867025" y="1636776"/>
                      <a:pt x="2880932" y="1640681"/>
                      <a:pt x="2878741" y="1649540"/>
                    </a:cubicBezTo>
                    <a:cubicBezTo>
                      <a:pt x="2875883" y="1650587"/>
                      <a:pt x="2868930" y="1651921"/>
                      <a:pt x="2865882" y="1650683"/>
                    </a:cubicBezTo>
                    <a:cubicBezTo>
                      <a:pt x="2862263" y="1649159"/>
                      <a:pt x="2862453" y="1645444"/>
                      <a:pt x="2859500" y="1642872"/>
                    </a:cubicBezTo>
                    <a:cubicBezTo>
                      <a:pt x="2856833" y="1640586"/>
                      <a:pt x="2851690" y="1637157"/>
                      <a:pt x="2848356" y="1640396"/>
                    </a:cubicBezTo>
                    <a:cubicBezTo>
                      <a:pt x="2844927" y="1643825"/>
                      <a:pt x="2848928" y="1647634"/>
                      <a:pt x="2850071" y="1651254"/>
                    </a:cubicBezTo>
                    <a:cubicBezTo>
                      <a:pt x="2852071" y="1657350"/>
                      <a:pt x="2853881" y="1674019"/>
                      <a:pt x="2841879" y="1667447"/>
                    </a:cubicBezTo>
                    <a:cubicBezTo>
                      <a:pt x="2835212" y="1663732"/>
                      <a:pt x="2836831" y="1651445"/>
                      <a:pt x="2825592" y="1654207"/>
                    </a:cubicBezTo>
                    <a:cubicBezTo>
                      <a:pt x="2818162" y="1663446"/>
                      <a:pt x="2819210" y="1665351"/>
                      <a:pt x="2823210" y="1675829"/>
                    </a:cubicBezTo>
                    <a:cubicBezTo>
                      <a:pt x="2825115" y="1680972"/>
                      <a:pt x="2820543" y="1697069"/>
                      <a:pt x="2812066" y="1692307"/>
                    </a:cubicBezTo>
                    <a:cubicBezTo>
                      <a:pt x="2808161" y="1690116"/>
                      <a:pt x="2810066" y="1667351"/>
                      <a:pt x="2798350" y="1677924"/>
                    </a:cubicBezTo>
                    <a:cubicBezTo>
                      <a:pt x="2797588" y="1678591"/>
                      <a:pt x="2794730" y="1686401"/>
                      <a:pt x="2794159" y="1688021"/>
                    </a:cubicBezTo>
                    <a:cubicBezTo>
                      <a:pt x="2789777" y="1699451"/>
                      <a:pt x="2797397" y="1704499"/>
                      <a:pt x="2795873" y="1715167"/>
                    </a:cubicBezTo>
                    <a:cubicBezTo>
                      <a:pt x="2787968" y="1722977"/>
                      <a:pt x="2777681" y="1725644"/>
                      <a:pt x="2774537" y="1698974"/>
                    </a:cubicBezTo>
                    <a:cubicBezTo>
                      <a:pt x="2771013" y="1702689"/>
                      <a:pt x="2773490" y="1713167"/>
                      <a:pt x="2766917" y="1714214"/>
                    </a:cubicBezTo>
                    <a:cubicBezTo>
                      <a:pt x="2763012" y="1714881"/>
                      <a:pt x="2762250" y="1711452"/>
                      <a:pt x="2759393" y="1710214"/>
                    </a:cubicBezTo>
                    <a:cubicBezTo>
                      <a:pt x="2754916" y="1708118"/>
                      <a:pt x="2755583" y="1708213"/>
                      <a:pt x="2752058" y="1708499"/>
                    </a:cubicBezTo>
                    <a:cubicBezTo>
                      <a:pt x="2749010" y="1708785"/>
                      <a:pt x="2749487" y="1712595"/>
                      <a:pt x="2744819" y="1711071"/>
                    </a:cubicBezTo>
                    <a:cubicBezTo>
                      <a:pt x="2742057" y="1710119"/>
                      <a:pt x="2741771" y="1705928"/>
                      <a:pt x="2739771" y="1704118"/>
                    </a:cubicBezTo>
                    <a:cubicBezTo>
                      <a:pt x="2735580" y="1700594"/>
                      <a:pt x="2726341" y="1698308"/>
                      <a:pt x="2720435" y="1699641"/>
                    </a:cubicBezTo>
                    <a:cubicBezTo>
                      <a:pt x="2713958" y="1701070"/>
                      <a:pt x="2712434" y="1708976"/>
                      <a:pt x="2705195" y="1707547"/>
                    </a:cubicBezTo>
                    <a:cubicBezTo>
                      <a:pt x="2695956" y="1705737"/>
                      <a:pt x="2691098" y="1697927"/>
                      <a:pt x="2696718" y="1694307"/>
                    </a:cubicBezTo>
                    <a:cubicBezTo>
                      <a:pt x="2708338" y="1686782"/>
                      <a:pt x="2718721" y="1683544"/>
                      <a:pt x="2730627" y="1675733"/>
                    </a:cubicBezTo>
                    <a:cubicBezTo>
                      <a:pt x="2736533" y="1671828"/>
                      <a:pt x="2751582" y="1671447"/>
                      <a:pt x="2757869" y="1669352"/>
                    </a:cubicBezTo>
                    <a:cubicBezTo>
                      <a:pt x="2763774" y="1667447"/>
                      <a:pt x="2769489" y="1666494"/>
                      <a:pt x="2771966" y="1660112"/>
                    </a:cubicBezTo>
                    <a:cubicBezTo>
                      <a:pt x="2766727" y="1660303"/>
                      <a:pt x="2760631" y="1657541"/>
                      <a:pt x="2756154" y="1660874"/>
                    </a:cubicBezTo>
                    <a:cubicBezTo>
                      <a:pt x="2754154" y="1653921"/>
                      <a:pt x="2754154" y="1646777"/>
                      <a:pt x="2761964" y="1644110"/>
                    </a:cubicBezTo>
                    <a:cubicBezTo>
                      <a:pt x="2765393" y="1642967"/>
                      <a:pt x="2769489" y="1644206"/>
                      <a:pt x="2772823" y="1642967"/>
                    </a:cubicBezTo>
                    <a:cubicBezTo>
                      <a:pt x="2775490" y="1641920"/>
                      <a:pt x="2777871" y="1639443"/>
                      <a:pt x="2780443" y="1637824"/>
                    </a:cubicBezTo>
                    <a:cubicBezTo>
                      <a:pt x="2783967" y="1635538"/>
                      <a:pt x="2766155" y="1629061"/>
                      <a:pt x="2765298" y="1628775"/>
                    </a:cubicBezTo>
                    <a:cubicBezTo>
                      <a:pt x="2758726" y="1626108"/>
                      <a:pt x="2753582" y="1623251"/>
                      <a:pt x="2754440" y="1615059"/>
                    </a:cubicBezTo>
                    <a:cubicBezTo>
                      <a:pt x="2764727" y="1612678"/>
                      <a:pt x="2758535" y="1606296"/>
                      <a:pt x="2764155" y="1600676"/>
                    </a:cubicBezTo>
                    <a:cubicBezTo>
                      <a:pt x="2769870" y="1594961"/>
                      <a:pt x="2773109" y="1601819"/>
                      <a:pt x="2777014" y="1606582"/>
                    </a:cubicBezTo>
                    <a:cubicBezTo>
                      <a:pt x="2785396" y="1617059"/>
                      <a:pt x="2789111" y="1626299"/>
                      <a:pt x="2803588" y="1628489"/>
                    </a:cubicBezTo>
                    <a:cubicBezTo>
                      <a:pt x="2809780" y="1629442"/>
                      <a:pt x="2819305" y="1628204"/>
                      <a:pt x="2818733" y="1620107"/>
                    </a:cubicBezTo>
                    <a:cubicBezTo>
                      <a:pt x="2818352" y="1615250"/>
                      <a:pt x="2791873" y="1604105"/>
                      <a:pt x="2798826" y="1598009"/>
                    </a:cubicBezTo>
                    <a:cubicBezTo>
                      <a:pt x="2803303" y="1594104"/>
                      <a:pt x="2830925" y="1604582"/>
                      <a:pt x="2836545" y="1603153"/>
                    </a:cubicBezTo>
                    <a:cubicBezTo>
                      <a:pt x="2842070" y="1601724"/>
                      <a:pt x="2845784" y="1596676"/>
                      <a:pt x="2849118" y="1591723"/>
                    </a:cubicBezTo>
                    <a:cubicBezTo>
                      <a:pt x="2853309" y="1585627"/>
                      <a:pt x="2854452" y="1574387"/>
                      <a:pt x="2861691" y="1571244"/>
                    </a:cubicBezTo>
                    <a:cubicBezTo>
                      <a:pt x="2863215" y="1565053"/>
                      <a:pt x="2863692" y="1558766"/>
                      <a:pt x="2859596" y="1553528"/>
                    </a:cubicBezTo>
                    <a:cubicBezTo>
                      <a:pt x="2857595" y="1550956"/>
                      <a:pt x="2856452" y="1549337"/>
                      <a:pt x="2853214" y="1548765"/>
                    </a:cubicBezTo>
                    <a:cubicBezTo>
                      <a:pt x="2847785" y="1547813"/>
                      <a:pt x="2848261" y="1551337"/>
                      <a:pt x="2845022" y="1552194"/>
                    </a:cubicBezTo>
                    <a:cubicBezTo>
                      <a:pt x="2838069" y="1554099"/>
                      <a:pt x="2833021" y="1552194"/>
                      <a:pt x="2826925" y="1556195"/>
                    </a:cubicBezTo>
                    <a:cubicBezTo>
                      <a:pt x="2819876" y="1560862"/>
                      <a:pt x="2822258" y="1565053"/>
                      <a:pt x="2818067" y="1570863"/>
                    </a:cubicBezTo>
                    <a:cubicBezTo>
                      <a:pt x="2811875" y="1579340"/>
                      <a:pt x="2811494" y="1571434"/>
                      <a:pt x="2807494" y="1567434"/>
                    </a:cubicBezTo>
                    <a:cubicBezTo>
                      <a:pt x="2803208" y="1563053"/>
                      <a:pt x="2794254" y="1566005"/>
                      <a:pt x="2792349" y="1560671"/>
                    </a:cubicBezTo>
                    <a:cubicBezTo>
                      <a:pt x="2789111" y="1551337"/>
                      <a:pt x="2823305" y="1546670"/>
                      <a:pt x="2802636" y="1534859"/>
                    </a:cubicBezTo>
                    <a:cubicBezTo>
                      <a:pt x="2800350" y="1533525"/>
                      <a:pt x="2788825" y="1530572"/>
                      <a:pt x="2786348" y="1531525"/>
                    </a:cubicBezTo>
                    <a:cubicBezTo>
                      <a:pt x="2781871" y="1533334"/>
                      <a:pt x="2782538" y="1539907"/>
                      <a:pt x="2776347" y="1541621"/>
                    </a:cubicBezTo>
                    <a:cubicBezTo>
                      <a:pt x="2761298" y="1545812"/>
                      <a:pt x="2767203" y="1525715"/>
                      <a:pt x="2753487" y="1525619"/>
                    </a:cubicBezTo>
                    <a:cubicBezTo>
                      <a:pt x="2738342" y="1525619"/>
                      <a:pt x="2743200" y="1539907"/>
                      <a:pt x="2739962" y="1549432"/>
                    </a:cubicBezTo>
                    <a:cubicBezTo>
                      <a:pt x="2738342" y="1554099"/>
                      <a:pt x="2733866" y="1556099"/>
                      <a:pt x="2733008" y="1561433"/>
                    </a:cubicBezTo>
                    <a:cubicBezTo>
                      <a:pt x="2732056" y="1567434"/>
                      <a:pt x="2736247" y="1571911"/>
                      <a:pt x="2733961" y="1577435"/>
                    </a:cubicBezTo>
                    <a:cubicBezTo>
                      <a:pt x="2724531" y="1578007"/>
                      <a:pt x="2715863" y="1580388"/>
                      <a:pt x="2715292" y="1591818"/>
                    </a:cubicBezTo>
                    <a:cubicBezTo>
                      <a:pt x="2714816" y="1602391"/>
                      <a:pt x="2727770" y="1604867"/>
                      <a:pt x="2726912" y="1614773"/>
                    </a:cubicBezTo>
                    <a:cubicBezTo>
                      <a:pt x="2723102" y="1615345"/>
                      <a:pt x="2718721" y="1613249"/>
                      <a:pt x="2715292" y="1614011"/>
                    </a:cubicBezTo>
                    <a:cubicBezTo>
                      <a:pt x="2709672" y="1615345"/>
                      <a:pt x="2711387" y="1619822"/>
                      <a:pt x="2707767" y="1620965"/>
                    </a:cubicBezTo>
                    <a:cubicBezTo>
                      <a:pt x="2700242" y="1623251"/>
                      <a:pt x="2702719" y="1607249"/>
                      <a:pt x="2698623" y="1603629"/>
                    </a:cubicBezTo>
                    <a:cubicBezTo>
                      <a:pt x="2688431" y="1599724"/>
                      <a:pt x="2685098" y="1663827"/>
                      <a:pt x="2665286" y="1647920"/>
                    </a:cubicBezTo>
                    <a:cubicBezTo>
                      <a:pt x="2659475" y="1642872"/>
                      <a:pt x="2662047" y="1606010"/>
                      <a:pt x="2655094" y="1602677"/>
                    </a:cubicBezTo>
                    <a:cubicBezTo>
                      <a:pt x="2646617" y="1598581"/>
                      <a:pt x="2639187" y="1603534"/>
                      <a:pt x="2634615" y="1609630"/>
                    </a:cubicBezTo>
                    <a:cubicBezTo>
                      <a:pt x="2630996" y="1614488"/>
                      <a:pt x="2630615" y="1626965"/>
                      <a:pt x="2626424" y="1630109"/>
                    </a:cubicBezTo>
                    <a:cubicBezTo>
                      <a:pt x="2618994" y="1635824"/>
                      <a:pt x="2615660" y="1625156"/>
                      <a:pt x="2615089" y="1619250"/>
                    </a:cubicBezTo>
                    <a:cubicBezTo>
                      <a:pt x="2608707" y="1618488"/>
                      <a:pt x="2605088" y="1608392"/>
                      <a:pt x="2606231" y="1602391"/>
                    </a:cubicBezTo>
                    <a:cubicBezTo>
                      <a:pt x="2611565" y="1599629"/>
                      <a:pt x="2619089" y="1599819"/>
                      <a:pt x="2619661" y="1592866"/>
                    </a:cubicBezTo>
                    <a:cubicBezTo>
                      <a:pt x="2620232" y="1586008"/>
                      <a:pt x="2612231" y="1584579"/>
                      <a:pt x="2610517" y="1578293"/>
                    </a:cubicBezTo>
                    <a:cubicBezTo>
                      <a:pt x="2608231" y="1570006"/>
                      <a:pt x="2617184" y="1566101"/>
                      <a:pt x="2624042" y="1571244"/>
                    </a:cubicBezTo>
                    <a:cubicBezTo>
                      <a:pt x="2630234" y="1575816"/>
                      <a:pt x="2627567" y="1583341"/>
                      <a:pt x="2638330" y="1583531"/>
                    </a:cubicBezTo>
                    <a:cubicBezTo>
                      <a:pt x="2645093" y="1583531"/>
                      <a:pt x="2651284" y="1579245"/>
                      <a:pt x="2657666" y="1576864"/>
                    </a:cubicBezTo>
                    <a:cubicBezTo>
                      <a:pt x="2666905" y="1573530"/>
                      <a:pt x="2676049" y="1573340"/>
                      <a:pt x="2685669" y="1570673"/>
                    </a:cubicBezTo>
                    <a:cubicBezTo>
                      <a:pt x="2691765" y="1568958"/>
                      <a:pt x="2697671" y="1566577"/>
                      <a:pt x="2700052" y="1560481"/>
                    </a:cubicBezTo>
                    <a:cubicBezTo>
                      <a:pt x="2702814" y="1553528"/>
                      <a:pt x="2700052" y="1547908"/>
                      <a:pt x="2708338" y="1543431"/>
                    </a:cubicBezTo>
                    <a:cubicBezTo>
                      <a:pt x="2709863" y="1538954"/>
                      <a:pt x="2711292" y="1527143"/>
                      <a:pt x="2709482" y="1522381"/>
                    </a:cubicBezTo>
                    <a:cubicBezTo>
                      <a:pt x="2707196" y="1516380"/>
                      <a:pt x="2700242" y="1514856"/>
                      <a:pt x="2694051" y="1513046"/>
                    </a:cubicBezTo>
                    <a:cubicBezTo>
                      <a:pt x="2689288" y="1511618"/>
                      <a:pt x="2680335" y="1508474"/>
                      <a:pt x="2675287" y="1511141"/>
                    </a:cubicBezTo>
                    <a:cubicBezTo>
                      <a:pt x="2669572" y="1514189"/>
                      <a:pt x="2666905" y="1529715"/>
                      <a:pt x="2658237" y="1518666"/>
                    </a:cubicBezTo>
                    <a:cubicBezTo>
                      <a:pt x="2653094" y="1512189"/>
                      <a:pt x="2661857" y="1500188"/>
                      <a:pt x="2650998" y="1497616"/>
                    </a:cubicBezTo>
                    <a:cubicBezTo>
                      <a:pt x="2649950" y="1491806"/>
                      <a:pt x="2654713" y="1483328"/>
                      <a:pt x="2656904" y="1478185"/>
                    </a:cubicBezTo>
                    <a:cubicBezTo>
                      <a:pt x="2661190" y="1468279"/>
                      <a:pt x="2661952" y="1471803"/>
                      <a:pt x="2671286" y="1469803"/>
                    </a:cubicBezTo>
                    <a:cubicBezTo>
                      <a:pt x="2680907" y="1467803"/>
                      <a:pt x="2688717" y="1449134"/>
                      <a:pt x="2699957" y="1461897"/>
                    </a:cubicBezTo>
                    <a:cubicBezTo>
                      <a:pt x="2704719" y="1467326"/>
                      <a:pt x="2704719" y="1473327"/>
                      <a:pt x="2711958" y="1477328"/>
                    </a:cubicBezTo>
                    <a:cubicBezTo>
                      <a:pt x="2717578" y="1480376"/>
                      <a:pt x="2726436" y="1484186"/>
                      <a:pt x="2732056" y="1479804"/>
                    </a:cubicBezTo>
                    <a:cubicBezTo>
                      <a:pt x="2742724" y="1471422"/>
                      <a:pt x="2724150" y="1459135"/>
                      <a:pt x="2721197" y="1450277"/>
                    </a:cubicBezTo>
                    <a:cubicBezTo>
                      <a:pt x="2717483" y="1439323"/>
                      <a:pt x="2726531" y="1440275"/>
                      <a:pt x="2730532" y="1448372"/>
                    </a:cubicBezTo>
                    <a:cubicBezTo>
                      <a:pt x="2736056" y="1449515"/>
                      <a:pt x="2737200" y="1444085"/>
                      <a:pt x="2739867" y="1440752"/>
                    </a:cubicBezTo>
                    <a:cubicBezTo>
                      <a:pt x="2746058" y="1450562"/>
                      <a:pt x="2759964" y="1441037"/>
                      <a:pt x="2763584" y="1432274"/>
                    </a:cubicBezTo>
                    <a:cubicBezTo>
                      <a:pt x="2765965" y="1426655"/>
                      <a:pt x="2764536" y="1420844"/>
                      <a:pt x="2761298" y="1416082"/>
                    </a:cubicBezTo>
                    <a:cubicBezTo>
                      <a:pt x="2759393" y="1413320"/>
                      <a:pt x="2756821" y="1414367"/>
                      <a:pt x="2755202" y="1411034"/>
                    </a:cubicBezTo>
                    <a:cubicBezTo>
                      <a:pt x="2754154" y="1408843"/>
                      <a:pt x="2755011" y="1404271"/>
                      <a:pt x="2755202" y="1401985"/>
                    </a:cubicBezTo>
                    <a:cubicBezTo>
                      <a:pt x="2765679" y="1396746"/>
                      <a:pt x="2775395" y="1407605"/>
                      <a:pt x="2776252" y="1390745"/>
                    </a:cubicBezTo>
                    <a:cubicBezTo>
                      <a:pt x="2776442" y="1387316"/>
                      <a:pt x="2773299" y="1381506"/>
                      <a:pt x="2778538" y="1381125"/>
                    </a:cubicBezTo>
                    <a:lnTo>
                      <a:pt x="2778538" y="1381125"/>
                    </a:lnTo>
                    <a:close/>
                    <a:moveTo>
                      <a:pt x="3240691" y="1432274"/>
                    </a:moveTo>
                    <a:lnTo>
                      <a:pt x="3241548" y="1437418"/>
                    </a:lnTo>
                    <a:lnTo>
                      <a:pt x="3238119" y="1443323"/>
                    </a:lnTo>
                    <a:cubicBezTo>
                      <a:pt x="3238119" y="1443323"/>
                      <a:pt x="3238119" y="1447705"/>
                      <a:pt x="3239834" y="1450277"/>
                    </a:cubicBezTo>
                    <a:cubicBezTo>
                      <a:pt x="3241548" y="1452848"/>
                      <a:pt x="3244025" y="1452182"/>
                      <a:pt x="3244025" y="1452182"/>
                    </a:cubicBezTo>
                    <a:cubicBezTo>
                      <a:pt x="3244025" y="1452182"/>
                      <a:pt x="3242310" y="1455420"/>
                      <a:pt x="3239834" y="1457992"/>
                    </a:cubicBezTo>
                    <a:cubicBezTo>
                      <a:pt x="3237262" y="1460563"/>
                      <a:pt x="3237262" y="1462278"/>
                      <a:pt x="3237262" y="1462278"/>
                    </a:cubicBezTo>
                    <a:lnTo>
                      <a:pt x="3237262" y="1478280"/>
                    </a:lnTo>
                    <a:cubicBezTo>
                      <a:pt x="3237262" y="1487615"/>
                      <a:pt x="3243167" y="1485995"/>
                      <a:pt x="3248311" y="1489424"/>
                    </a:cubicBezTo>
                    <a:cubicBezTo>
                      <a:pt x="3253359" y="1492853"/>
                      <a:pt x="3260979" y="1499521"/>
                      <a:pt x="3263551" y="1506284"/>
                    </a:cubicBezTo>
                    <a:cubicBezTo>
                      <a:pt x="3266123" y="1513046"/>
                      <a:pt x="3265265" y="1513142"/>
                      <a:pt x="3264408" y="1515618"/>
                    </a:cubicBezTo>
                    <a:cubicBezTo>
                      <a:pt x="3263551" y="1518190"/>
                      <a:pt x="3262694" y="1523238"/>
                      <a:pt x="3260217" y="1529144"/>
                    </a:cubicBezTo>
                    <a:cubicBezTo>
                      <a:pt x="3257645" y="1535049"/>
                      <a:pt x="3257645" y="1540193"/>
                      <a:pt x="3254312" y="1546193"/>
                    </a:cubicBezTo>
                    <a:cubicBezTo>
                      <a:pt x="3250883" y="1552099"/>
                      <a:pt x="3251073" y="1553051"/>
                      <a:pt x="3243453" y="1551337"/>
                    </a:cubicBezTo>
                    <a:cubicBezTo>
                      <a:pt x="3243453" y="1551337"/>
                      <a:pt x="3239929" y="1551337"/>
                      <a:pt x="3234023" y="1554766"/>
                    </a:cubicBezTo>
                    <a:cubicBezTo>
                      <a:pt x="3228118" y="1558195"/>
                      <a:pt x="3230594" y="1556385"/>
                      <a:pt x="3222117" y="1556385"/>
                    </a:cubicBezTo>
                    <a:cubicBezTo>
                      <a:pt x="3213640" y="1556385"/>
                      <a:pt x="3220403" y="1552194"/>
                      <a:pt x="3220403" y="1549622"/>
                    </a:cubicBezTo>
                    <a:cubicBezTo>
                      <a:pt x="3220403" y="1547051"/>
                      <a:pt x="3222975" y="1546193"/>
                      <a:pt x="3219545" y="1538478"/>
                    </a:cubicBezTo>
                    <a:cubicBezTo>
                      <a:pt x="3216117" y="1530858"/>
                      <a:pt x="3219450" y="1538669"/>
                      <a:pt x="3216021" y="1540383"/>
                    </a:cubicBezTo>
                    <a:cubicBezTo>
                      <a:pt x="3212592" y="1542098"/>
                      <a:pt x="3211925" y="1541907"/>
                      <a:pt x="3206020" y="1546193"/>
                    </a:cubicBezTo>
                    <a:cubicBezTo>
                      <a:pt x="3200114" y="1550480"/>
                      <a:pt x="3200114" y="1551432"/>
                      <a:pt x="3197543" y="1554004"/>
                    </a:cubicBezTo>
                    <a:cubicBezTo>
                      <a:pt x="3194971" y="1556576"/>
                      <a:pt x="3184017" y="1564005"/>
                      <a:pt x="3177159" y="1569149"/>
                    </a:cubicBezTo>
                    <a:cubicBezTo>
                      <a:pt x="3170396" y="1574292"/>
                      <a:pt x="3170396" y="1575816"/>
                      <a:pt x="3166967" y="1579245"/>
                    </a:cubicBezTo>
                    <a:cubicBezTo>
                      <a:pt x="3163538" y="1582674"/>
                      <a:pt x="3164396" y="1588675"/>
                      <a:pt x="3163538" y="1598867"/>
                    </a:cubicBezTo>
                    <a:cubicBezTo>
                      <a:pt x="3162681" y="1609058"/>
                      <a:pt x="3162871" y="1610963"/>
                      <a:pt x="3161157" y="1616012"/>
                    </a:cubicBezTo>
                    <a:cubicBezTo>
                      <a:pt x="3159443" y="1621060"/>
                      <a:pt x="3153346" y="1624489"/>
                      <a:pt x="3153346" y="1624489"/>
                    </a:cubicBezTo>
                    <a:cubicBezTo>
                      <a:pt x="3153346" y="1624489"/>
                      <a:pt x="3148298" y="1624489"/>
                      <a:pt x="3145727" y="1621917"/>
                    </a:cubicBezTo>
                    <a:cubicBezTo>
                      <a:pt x="3143155" y="1619345"/>
                      <a:pt x="3145727" y="1621917"/>
                      <a:pt x="3153346" y="1611725"/>
                    </a:cubicBezTo>
                    <a:cubicBezTo>
                      <a:pt x="3160967" y="1601534"/>
                      <a:pt x="3153156" y="1611821"/>
                      <a:pt x="3154013" y="1603343"/>
                    </a:cubicBezTo>
                    <a:cubicBezTo>
                      <a:pt x="3154871" y="1594866"/>
                      <a:pt x="3156871" y="1597247"/>
                      <a:pt x="3152585" y="1594676"/>
                    </a:cubicBezTo>
                    <a:cubicBezTo>
                      <a:pt x="3148298" y="1592104"/>
                      <a:pt x="3145822" y="1594676"/>
                      <a:pt x="3139059" y="1588770"/>
                    </a:cubicBezTo>
                    <a:cubicBezTo>
                      <a:pt x="3132296" y="1582865"/>
                      <a:pt x="3139726" y="1585341"/>
                      <a:pt x="3139726" y="1580293"/>
                    </a:cubicBezTo>
                    <a:cubicBezTo>
                      <a:pt x="3139726" y="1575245"/>
                      <a:pt x="3142393" y="1576864"/>
                      <a:pt x="3146679" y="1572673"/>
                    </a:cubicBezTo>
                    <a:cubicBezTo>
                      <a:pt x="3150965" y="1568387"/>
                      <a:pt x="3146679" y="1572673"/>
                      <a:pt x="3152585" y="1568387"/>
                    </a:cubicBezTo>
                    <a:cubicBezTo>
                      <a:pt x="3158490" y="1564100"/>
                      <a:pt x="3153251" y="1563243"/>
                      <a:pt x="3153251" y="1558195"/>
                    </a:cubicBezTo>
                    <a:cubicBezTo>
                      <a:pt x="3153251" y="1553147"/>
                      <a:pt x="3156680" y="1555718"/>
                      <a:pt x="3167634" y="1553147"/>
                    </a:cubicBezTo>
                    <a:cubicBezTo>
                      <a:pt x="3178683" y="1550575"/>
                      <a:pt x="3167634" y="1553147"/>
                      <a:pt x="3174397" y="1548956"/>
                    </a:cubicBezTo>
                    <a:cubicBezTo>
                      <a:pt x="3181160" y="1544669"/>
                      <a:pt x="3180493" y="1543812"/>
                      <a:pt x="3182969" y="1539621"/>
                    </a:cubicBezTo>
                    <a:cubicBezTo>
                      <a:pt x="3185541" y="1535335"/>
                      <a:pt x="3186875" y="1529334"/>
                      <a:pt x="3186113" y="1519142"/>
                    </a:cubicBezTo>
                    <a:cubicBezTo>
                      <a:pt x="3185255" y="1508951"/>
                      <a:pt x="3182017" y="1513332"/>
                      <a:pt x="3176969" y="1510760"/>
                    </a:cubicBezTo>
                    <a:cubicBezTo>
                      <a:pt x="3171920" y="1508188"/>
                      <a:pt x="3167634" y="1507522"/>
                      <a:pt x="3161729" y="1504093"/>
                    </a:cubicBezTo>
                    <a:cubicBezTo>
                      <a:pt x="3155823" y="1500664"/>
                      <a:pt x="3151537" y="1501521"/>
                      <a:pt x="3143060" y="1502378"/>
                    </a:cubicBezTo>
                    <a:cubicBezTo>
                      <a:pt x="3134582" y="1503236"/>
                      <a:pt x="3137154" y="1501235"/>
                      <a:pt x="3126962" y="1495330"/>
                    </a:cubicBezTo>
                    <a:cubicBezTo>
                      <a:pt x="3116771" y="1489424"/>
                      <a:pt x="3122867" y="1492949"/>
                      <a:pt x="3116104" y="1486948"/>
                    </a:cubicBezTo>
                    <a:cubicBezTo>
                      <a:pt x="3109341" y="1481042"/>
                      <a:pt x="3110008" y="1483519"/>
                      <a:pt x="3097340" y="1484376"/>
                    </a:cubicBezTo>
                    <a:cubicBezTo>
                      <a:pt x="3084671" y="1485233"/>
                      <a:pt x="3085433" y="1487138"/>
                      <a:pt x="3075337" y="1482947"/>
                    </a:cubicBezTo>
                    <a:cubicBezTo>
                      <a:pt x="3065145" y="1478661"/>
                      <a:pt x="3072956" y="1475994"/>
                      <a:pt x="3068669" y="1465802"/>
                    </a:cubicBezTo>
                    <a:cubicBezTo>
                      <a:pt x="3064478" y="1455611"/>
                      <a:pt x="3067812" y="1459802"/>
                      <a:pt x="3067812" y="1454658"/>
                    </a:cubicBezTo>
                    <a:cubicBezTo>
                      <a:pt x="3067812" y="1449515"/>
                      <a:pt x="3071241" y="1450562"/>
                      <a:pt x="3073718" y="1447133"/>
                    </a:cubicBezTo>
                    <a:cubicBezTo>
                      <a:pt x="3076289" y="1443704"/>
                      <a:pt x="3078004" y="1451324"/>
                      <a:pt x="3080480" y="1451324"/>
                    </a:cubicBezTo>
                    <a:lnTo>
                      <a:pt x="3084576" y="1457230"/>
                    </a:lnTo>
                    <a:cubicBezTo>
                      <a:pt x="3084576" y="1457230"/>
                      <a:pt x="3090672" y="1458944"/>
                      <a:pt x="3094006" y="1458944"/>
                    </a:cubicBezTo>
                    <a:cubicBezTo>
                      <a:pt x="3097340" y="1458944"/>
                      <a:pt x="3102293" y="1458944"/>
                      <a:pt x="3107436" y="1457230"/>
                    </a:cubicBezTo>
                    <a:cubicBezTo>
                      <a:pt x="3112484" y="1455515"/>
                      <a:pt x="3111818" y="1452182"/>
                      <a:pt x="3116009" y="1451324"/>
                    </a:cubicBezTo>
                    <a:cubicBezTo>
                      <a:pt x="3120295" y="1450467"/>
                      <a:pt x="3120104" y="1455611"/>
                      <a:pt x="3125153" y="1458944"/>
                    </a:cubicBezTo>
                    <a:cubicBezTo>
                      <a:pt x="3130201" y="1462373"/>
                      <a:pt x="3129344" y="1458944"/>
                      <a:pt x="3134487" y="1458944"/>
                    </a:cubicBezTo>
                    <a:cubicBezTo>
                      <a:pt x="3139631" y="1458944"/>
                      <a:pt x="3138011" y="1456373"/>
                      <a:pt x="3138011" y="1451324"/>
                    </a:cubicBezTo>
                    <a:cubicBezTo>
                      <a:pt x="3138011" y="1446276"/>
                      <a:pt x="3139726" y="1446943"/>
                      <a:pt x="3141440" y="1442657"/>
                    </a:cubicBezTo>
                    <a:cubicBezTo>
                      <a:pt x="3143155" y="1438370"/>
                      <a:pt x="3144679" y="1438466"/>
                      <a:pt x="3147251" y="1437608"/>
                    </a:cubicBezTo>
                    <a:cubicBezTo>
                      <a:pt x="3149822" y="1436751"/>
                      <a:pt x="3153156" y="1438656"/>
                      <a:pt x="3153156" y="1438656"/>
                    </a:cubicBezTo>
                    <a:lnTo>
                      <a:pt x="3153156" y="1449800"/>
                    </a:lnTo>
                    <a:cubicBezTo>
                      <a:pt x="3153156" y="1449800"/>
                      <a:pt x="3154871" y="1457325"/>
                      <a:pt x="3156585" y="1460754"/>
                    </a:cubicBezTo>
                    <a:cubicBezTo>
                      <a:pt x="3158300" y="1464183"/>
                      <a:pt x="3161633" y="1467517"/>
                      <a:pt x="3166777" y="1473422"/>
                    </a:cubicBezTo>
                    <a:cubicBezTo>
                      <a:pt x="3171825" y="1479328"/>
                      <a:pt x="3172682" y="1479423"/>
                      <a:pt x="3179445" y="1483614"/>
                    </a:cubicBezTo>
                    <a:cubicBezTo>
                      <a:pt x="3186208" y="1487900"/>
                      <a:pt x="3189637" y="1487710"/>
                      <a:pt x="3199829" y="1486091"/>
                    </a:cubicBezTo>
                    <a:cubicBezTo>
                      <a:pt x="3210020" y="1484376"/>
                      <a:pt x="3202210" y="1481138"/>
                      <a:pt x="3203925" y="1472660"/>
                    </a:cubicBezTo>
                    <a:cubicBezTo>
                      <a:pt x="3205639" y="1464183"/>
                      <a:pt x="3204115" y="1472470"/>
                      <a:pt x="3208306" y="1469041"/>
                    </a:cubicBezTo>
                    <a:cubicBezTo>
                      <a:pt x="3212497" y="1465612"/>
                      <a:pt x="3210116" y="1474184"/>
                      <a:pt x="3213545" y="1478375"/>
                    </a:cubicBezTo>
                    <a:cubicBezTo>
                      <a:pt x="3216878" y="1482662"/>
                      <a:pt x="3219164" y="1477518"/>
                      <a:pt x="3225927" y="1471613"/>
                    </a:cubicBezTo>
                    <a:cubicBezTo>
                      <a:pt x="3232690" y="1465707"/>
                      <a:pt x="3225927" y="1467326"/>
                      <a:pt x="3225927" y="1454563"/>
                    </a:cubicBezTo>
                    <a:cubicBezTo>
                      <a:pt x="3225927" y="1441799"/>
                      <a:pt x="3230309" y="1447800"/>
                      <a:pt x="3231166" y="1441895"/>
                    </a:cubicBezTo>
                    <a:cubicBezTo>
                      <a:pt x="3232023" y="1435989"/>
                      <a:pt x="3234404" y="1440085"/>
                      <a:pt x="3236119" y="1437608"/>
                    </a:cubicBezTo>
                    <a:cubicBezTo>
                      <a:pt x="3237833" y="1435037"/>
                      <a:pt x="3240500" y="1432465"/>
                      <a:pt x="3240500" y="1432465"/>
                    </a:cubicBezTo>
                    <a:close/>
                    <a:moveTo>
                      <a:pt x="4670584" y="1743551"/>
                    </a:moveTo>
                    <a:lnTo>
                      <a:pt x="4708303" y="1748123"/>
                    </a:lnTo>
                    <a:lnTo>
                      <a:pt x="4736973" y="1767840"/>
                    </a:lnTo>
                    <a:cubicBezTo>
                      <a:pt x="4736973" y="1767840"/>
                      <a:pt x="4728210" y="1798320"/>
                      <a:pt x="4727067" y="1801844"/>
                    </a:cubicBezTo>
                    <a:cubicBezTo>
                      <a:pt x="4725924" y="1805369"/>
                      <a:pt x="4708208" y="1815560"/>
                      <a:pt x="4701350" y="1817846"/>
                    </a:cubicBezTo>
                    <a:cubicBezTo>
                      <a:pt x="4694492" y="1820228"/>
                      <a:pt x="4668203" y="1819561"/>
                      <a:pt x="4668203" y="1819561"/>
                    </a:cubicBezTo>
                    <a:lnTo>
                      <a:pt x="4642104" y="1792319"/>
                    </a:lnTo>
                    <a:lnTo>
                      <a:pt x="4670584" y="1743456"/>
                    </a:lnTo>
                    <a:close/>
                    <a:moveTo>
                      <a:pt x="6791230" y="1780794"/>
                    </a:moveTo>
                    <a:cubicBezTo>
                      <a:pt x="6791230" y="1780794"/>
                      <a:pt x="6790563" y="1780794"/>
                      <a:pt x="6790277" y="1780984"/>
                    </a:cubicBezTo>
                    <a:cubicBezTo>
                      <a:pt x="6788944" y="1781461"/>
                      <a:pt x="6788277" y="1783080"/>
                      <a:pt x="6787991" y="1785842"/>
                    </a:cubicBezTo>
                    <a:cubicBezTo>
                      <a:pt x="6787706" y="1789557"/>
                      <a:pt x="6788563" y="1791176"/>
                      <a:pt x="6792468" y="1795367"/>
                    </a:cubicBezTo>
                    <a:cubicBezTo>
                      <a:pt x="6795040" y="1798130"/>
                      <a:pt x="6798088" y="1800987"/>
                      <a:pt x="6799231" y="1801749"/>
                    </a:cubicBezTo>
                    <a:cubicBezTo>
                      <a:pt x="6800374" y="1802416"/>
                      <a:pt x="6808280" y="1808988"/>
                      <a:pt x="6817042" y="1816322"/>
                    </a:cubicBezTo>
                    <a:cubicBezTo>
                      <a:pt x="6825711" y="1823657"/>
                      <a:pt x="6833997" y="1830419"/>
                      <a:pt x="6835426" y="1831181"/>
                    </a:cubicBezTo>
                    <a:cubicBezTo>
                      <a:pt x="6836759" y="1831943"/>
                      <a:pt x="6840283" y="1834896"/>
                      <a:pt x="6843236" y="1837849"/>
                    </a:cubicBezTo>
                    <a:cubicBezTo>
                      <a:pt x="6846094" y="1840706"/>
                      <a:pt x="6850095" y="1843659"/>
                      <a:pt x="6852095" y="1844231"/>
                    </a:cubicBezTo>
                    <a:cubicBezTo>
                      <a:pt x="6856381" y="1845374"/>
                      <a:pt x="6859524" y="1844802"/>
                      <a:pt x="6861525" y="1842326"/>
                    </a:cubicBezTo>
                    <a:cubicBezTo>
                      <a:pt x="6863334" y="1840135"/>
                      <a:pt x="6861525" y="1837849"/>
                      <a:pt x="6854476" y="1832515"/>
                    </a:cubicBezTo>
                    <a:cubicBezTo>
                      <a:pt x="6851714" y="1830515"/>
                      <a:pt x="6847523" y="1827276"/>
                      <a:pt x="6845141" y="1824990"/>
                    </a:cubicBezTo>
                    <a:cubicBezTo>
                      <a:pt x="6842760" y="1822799"/>
                      <a:pt x="6835426" y="1816322"/>
                      <a:pt x="6828854" y="1810703"/>
                    </a:cubicBezTo>
                    <a:cubicBezTo>
                      <a:pt x="6822377" y="1805083"/>
                      <a:pt x="6816281" y="1799463"/>
                      <a:pt x="6815138" y="1798415"/>
                    </a:cubicBezTo>
                    <a:cubicBezTo>
                      <a:pt x="6813995" y="1797368"/>
                      <a:pt x="6808756" y="1792986"/>
                      <a:pt x="6803517" y="1788605"/>
                    </a:cubicBezTo>
                    <a:cubicBezTo>
                      <a:pt x="6797421" y="1783461"/>
                      <a:pt x="6793421" y="1780889"/>
                      <a:pt x="6791135" y="1780794"/>
                    </a:cubicBezTo>
                    <a:close/>
                    <a:moveTo>
                      <a:pt x="3301937" y="1800987"/>
                    </a:moveTo>
                    <a:cubicBezTo>
                      <a:pt x="3309652" y="1800320"/>
                      <a:pt x="3320606" y="1804226"/>
                      <a:pt x="3322034" y="1808607"/>
                    </a:cubicBezTo>
                    <a:cubicBezTo>
                      <a:pt x="3322796" y="1810893"/>
                      <a:pt x="3315938" y="1817942"/>
                      <a:pt x="3315938" y="1817942"/>
                    </a:cubicBezTo>
                    <a:cubicBezTo>
                      <a:pt x="3315938" y="1817942"/>
                      <a:pt x="3308795" y="1820037"/>
                      <a:pt x="3309176" y="1822513"/>
                    </a:cubicBezTo>
                    <a:cubicBezTo>
                      <a:pt x="3310033" y="1828038"/>
                      <a:pt x="3310890" y="1828800"/>
                      <a:pt x="3314129" y="1832991"/>
                    </a:cubicBezTo>
                    <a:cubicBezTo>
                      <a:pt x="3315176" y="1834420"/>
                      <a:pt x="3315081" y="1837373"/>
                      <a:pt x="3316415" y="1836992"/>
                    </a:cubicBezTo>
                    <a:cubicBezTo>
                      <a:pt x="3331274" y="1833372"/>
                      <a:pt x="3336131" y="1854422"/>
                      <a:pt x="3334321" y="1856613"/>
                    </a:cubicBezTo>
                    <a:cubicBezTo>
                      <a:pt x="3334321" y="1856613"/>
                      <a:pt x="3322130" y="1854137"/>
                      <a:pt x="3318320" y="1856804"/>
                    </a:cubicBezTo>
                    <a:cubicBezTo>
                      <a:pt x="3320034" y="1861566"/>
                      <a:pt x="3328797" y="1874520"/>
                      <a:pt x="3331559" y="1862138"/>
                    </a:cubicBezTo>
                    <a:cubicBezTo>
                      <a:pt x="3339465" y="1861185"/>
                      <a:pt x="3344894" y="1880045"/>
                      <a:pt x="3352610" y="1864995"/>
                    </a:cubicBezTo>
                    <a:cubicBezTo>
                      <a:pt x="3354229" y="1861852"/>
                      <a:pt x="3353657" y="1859947"/>
                      <a:pt x="3354896" y="1856804"/>
                    </a:cubicBezTo>
                    <a:cubicBezTo>
                      <a:pt x="3356515" y="1852327"/>
                      <a:pt x="3360611" y="1845945"/>
                      <a:pt x="3366516" y="1847183"/>
                    </a:cubicBezTo>
                    <a:cubicBezTo>
                      <a:pt x="3366611" y="1855280"/>
                      <a:pt x="3366802" y="1860709"/>
                      <a:pt x="3374803" y="1862042"/>
                    </a:cubicBezTo>
                    <a:cubicBezTo>
                      <a:pt x="3378613" y="1862709"/>
                      <a:pt x="3391186" y="1863185"/>
                      <a:pt x="3385090" y="1870234"/>
                    </a:cubicBezTo>
                    <a:cubicBezTo>
                      <a:pt x="3384233" y="1871282"/>
                      <a:pt x="3378137" y="1870805"/>
                      <a:pt x="3376232" y="1872520"/>
                    </a:cubicBezTo>
                    <a:cubicBezTo>
                      <a:pt x="3373565" y="1874901"/>
                      <a:pt x="3373088" y="1875758"/>
                      <a:pt x="3373565" y="1879759"/>
                    </a:cubicBezTo>
                    <a:cubicBezTo>
                      <a:pt x="3373946" y="1882521"/>
                      <a:pt x="3378613" y="1893284"/>
                      <a:pt x="3380518" y="1894427"/>
                    </a:cubicBezTo>
                    <a:cubicBezTo>
                      <a:pt x="3381470" y="1898237"/>
                      <a:pt x="3363944" y="1907381"/>
                      <a:pt x="3359468" y="1908429"/>
                    </a:cubicBezTo>
                    <a:cubicBezTo>
                      <a:pt x="3354419" y="1909667"/>
                      <a:pt x="3347942" y="1907477"/>
                      <a:pt x="3343085" y="1909286"/>
                    </a:cubicBezTo>
                    <a:cubicBezTo>
                      <a:pt x="3336893" y="1911572"/>
                      <a:pt x="3338417" y="1913096"/>
                      <a:pt x="3338036" y="1920240"/>
                    </a:cubicBezTo>
                    <a:cubicBezTo>
                      <a:pt x="3321939" y="1926431"/>
                      <a:pt x="3331083" y="1913954"/>
                      <a:pt x="3325178" y="1904524"/>
                    </a:cubicBezTo>
                    <a:cubicBezTo>
                      <a:pt x="3320987" y="1897856"/>
                      <a:pt x="3302222" y="1896904"/>
                      <a:pt x="3299365" y="1904714"/>
                    </a:cubicBezTo>
                    <a:lnTo>
                      <a:pt x="3293555" y="1906334"/>
                    </a:lnTo>
                    <a:cubicBezTo>
                      <a:pt x="3293555" y="1906334"/>
                      <a:pt x="3289078" y="1906238"/>
                      <a:pt x="3285363" y="1901762"/>
                    </a:cubicBezTo>
                    <a:cubicBezTo>
                      <a:pt x="3281744" y="1897285"/>
                      <a:pt x="3285363" y="1897285"/>
                      <a:pt x="3275933" y="1896618"/>
                    </a:cubicBezTo>
                    <a:cubicBezTo>
                      <a:pt x="3266408" y="1895856"/>
                      <a:pt x="3272219" y="1894523"/>
                      <a:pt x="3267075" y="1889284"/>
                    </a:cubicBezTo>
                    <a:cubicBezTo>
                      <a:pt x="3261932" y="1884045"/>
                      <a:pt x="3259741" y="1888522"/>
                      <a:pt x="3248025" y="1886998"/>
                    </a:cubicBezTo>
                    <a:cubicBezTo>
                      <a:pt x="3236309" y="1885474"/>
                      <a:pt x="3242215" y="1886998"/>
                      <a:pt x="3236309" y="1886998"/>
                    </a:cubicBezTo>
                    <a:cubicBezTo>
                      <a:pt x="3230404" y="1886998"/>
                      <a:pt x="3231166" y="1890046"/>
                      <a:pt x="3225260" y="1889284"/>
                    </a:cubicBezTo>
                    <a:cubicBezTo>
                      <a:pt x="3219355" y="1888522"/>
                      <a:pt x="3221546" y="1887665"/>
                      <a:pt x="3214973" y="1888427"/>
                    </a:cubicBezTo>
                    <a:cubicBezTo>
                      <a:pt x="3208401" y="1889188"/>
                      <a:pt x="3201067" y="1893665"/>
                      <a:pt x="3187160" y="1898904"/>
                    </a:cubicBezTo>
                    <a:cubicBezTo>
                      <a:pt x="3173254" y="1904143"/>
                      <a:pt x="3180683" y="1913192"/>
                      <a:pt x="3180683" y="1913192"/>
                    </a:cubicBezTo>
                    <a:lnTo>
                      <a:pt x="3176969" y="1942624"/>
                    </a:lnTo>
                    <a:lnTo>
                      <a:pt x="3164777" y="1952720"/>
                    </a:lnTo>
                    <a:lnTo>
                      <a:pt x="3157252" y="1953292"/>
                    </a:lnTo>
                    <a:cubicBezTo>
                      <a:pt x="3157252" y="1953292"/>
                      <a:pt x="3139535" y="1998821"/>
                      <a:pt x="3128677" y="1978533"/>
                    </a:cubicBezTo>
                    <a:cubicBezTo>
                      <a:pt x="3126962" y="1975295"/>
                      <a:pt x="3148013" y="1919383"/>
                      <a:pt x="3145727" y="1919097"/>
                    </a:cubicBezTo>
                    <a:cubicBezTo>
                      <a:pt x="3131630" y="1917383"/>
                      <a:pt x="3122771" y="1910239"/>
                      <a:pt x="3115056" y="1919669"/>
                    </a:cubicBezTo>
                    <a:lnTo>
                      <a:pt x="3111627" y="1938719"/>
                    </a:lnTo>
                    <a:lnTo>
                      <a:pt x="3096673" y="1944529"/>
                    </a:lnTo>
                    <a:lnTo>
                      <a:pt x="3097244" y="1899285"/>
                    </a:lnTo>
                    <a:lnTo>
                      <a:pt x="3066574" y="1896713"/>
                    </a:lnTo>
                    <a:lnTo>
                      <a:pt x="3068098" y="1874044"/>
                    </a:lnTo>
                    <a:cubicBezTo>
                      <a:pt x="3064955" y="1862900"/>
                      <a:pt x="3060954" y="1851755"/>
                      <a:pt x="3047238" y="1841754"/>
                    </a:cubicBezTo>
                    <a:cubicBezTo>
                      <a:pt x="3047238" y="1841754"/>
                      <a:pt x="3052858" y="1827752"/>
                      <a:pt x="3060192" y="1831658"/>
                    </a:cubicBezTo>
                    <a:cubicBezTo>
                      <a:pt x="3076670" y="1840421"/>
                      <a:pt x="3100864" y="1864805"/>
                      <a:pt x="3100864" y="1864805"/>
                    </a:cubicBezTo>
                    <a:lnTo>
                      <a:pt x="3110484" y="1841183"/>
                    </a:lnTo>
                    <a:lnTo>
                      <a:pt x="3113627" y="1824323"/>
                    </a:lnTo>
                    <a:lnTo>
                      <a:pt x="3129344" y="1824609"/>
                    </a:lnTo>
                    <a:lnTo>
                      <a:pt x="3133058" y="1858328"/>
                    </a:lnTo>
                    <a:lnTo>
                      <a:pt x="3161348" y="1887284"/>
                    </a:lnTo>
                    <a:cubicBezTo>
                      <a:pt x="3161348" y="1887284"/>
                      <a:pt x="3184303" y="1874139"/>
                      <a:pt x="3187732" y="1872615"/>
                    </a:cubicBezTo>
                    <a:cubicBezTo>
                      <a:pt x="3194304" y="1869662"/>
                      <a:pt x="3193733" y="1863566"/>
                      <a:pt x="3196495" y="1858518"/>
                    </a:cubicBezTo>
                    <a:cubicBezTo>
                      <a:pt x="3199924" y="1852136"/>
                      <a:pt x="3201448" y="1852232"/>
                      <a:pt x="3207544" y="1852708"/>
                    </a:cubicBezTo>
                    <a:cubicBezTo>
                      <a:pt x="3210116" y="1852898"/>
                      <a:pt x="3212497" y="1854613"/>
                      <a:pt x="3215735" y="1854041"/>
                    </a:cubicBezTo>
                    <a:cubicBezTo>
                      <a:pt x="3218974" y="1853470"/>
                      <a:pt x="3219164" y="1850422"/>
                      <a:pt x="3222975" y="1851279"/>
                    </a:cubicBezTo>
                    <a:cubicBezTo>
                      <a:pt x="3227737" y="1852327"/>
                      <a:pt x="3228689" y="1858709"/>
                      <a:pt x="3233452" y="1860613"/>
                    </a:cubicBezTo>
                    <a:cubicBezTo>
                      <a:pt x="3240024" y="1863281"/>
                      <a:pt x="3243644" y="1860042"/>
                      <a:pt x="3248978" y="1856994"/>
                    </a:cubicBezTo>
                    <a:cubicBezTo>
                      <a:pt x="3256598" y="1852613"/>
                      <a:pt x="3255550" y="1852422"/>
                      <a:pt x="3259169" y="1844326"/>
                    </a:cubicBezTo>
                    <a:cubicBezTo>
                      <a:pt x="3264789" y="1842897"/>
                      <a:pt x="3264980" y="1852708"/>
                      <a:pt x="3267932" y="1855756"/>
                    </a:cubicBezTo>
                    <a:cubicBezTo>
                      <a:pt x="3269837" y="1857756"/>
                      <a:pt x="3272123" y="1857280"/>
                      <a:pt x="3274314" y="1859471"/>
                    </a:cubicBezTo>
                    <a:cubicBezTo>
                      <a:pt x="3275933" y="1861185"/>
                      <a:pt x="3275552" y="1863566"/>
                      <a:pt x="3277267" y="1865376"/>
                    </a:cubicBezTo>
                    <a:cubicBezTo>
                      <a:pt x="3281648" y="1870138"/>
                      <a:pt x="3289078" y="1870424"/>
                      <a:pt x="3295174" y="1869662"/>
                    </a:cubicBezTo>
                    <a:cubicBezTo>
                      <a:pt x="3302794" y="1868805"/>
                      <a:pt x="3304889" y="1866233"/>
                      <a:pt x="3305366" y="1858423"/>
                    </a:cubicBezTo>
                    <a:cubicBezTo>
                      <a:pt x="3306032" y="1846040"/>
                      <a:pt x="3306413" y="1839182"/>
                      <a:pt x="3297460" y="1830896"/>
                    </a:cubicBezTo>
                    <a:cubicBezTo>
                      <a:pt x="3289650" y="1823657"/>
                      <a:pt x="3275076" y="1820513"/>
                      <a:pt x="3286411" y="1806988"/>
                    </a:cubicBezTo>
                    <a:cubicBezTo>
                      <a:pt x="3288316" y="1809655"/>
                      <a:pt x="3291459" y="1810036"/>
                      <a:pt x="3294317" y="1808417"/>
                    </a:cubicBezTo>
                    <a:cubicBezTo>
                      <a:pt x="3293936" y="1803749"/>
                      <a:pt x="3297460" y="1801463"/>
                      <a:pt x="3302127" y="1801082"/>
                    </a:cubicBezTo>
                    <a:lnTo>
                      <a:pt x="3302127" y="1801082"/>
                    </a:lnTo>
                    <a:close/>
                    <a:moveTo>
                      <a:pt x="4735926" y="1859661"/>
                    </a:moveTo>
                    <a:cubicBezTo>
                      <a:pt x="4742784" y="1859471"/>
                      <a:pt x="4745641" y="1865090"/>
                      <a:pt x="4748594" y="1867186"/>
                    </a:cubicBezTo>
                    <a:cubicBezTo>
                      <a:pt x="4752023" y="1869472"/>
                      <a:pt x="4750975" y="1877663"/>
                      <a:pt x="4750975" y="1877663"/>
                    </a:cubicBezTo>
                    <a:lnTo>
                      <a:pt x="4748594" y="1885759"/>
                    </a:lnTo>
                    <a:lnTo>
                      <a:pt x="4756690" y="1888236"/>
                    </a:lnTo>
                    <a:cubicBezTo>
                      <a:pt x="4756690" y="1888236"/>
                      <a:pt x="4765834" y="1883474"/>
                      <a:pt x="4769263" y="1882331"/>
                    </a:cubicBezTo>
                    <a:cubicBezTo>
                      <a:pt x="4772692" y="1881188"/>
                      <a:pt x="4774883" y="1888236"/>
                      <a:pt x="4778312" y="1889379"/>
                    </a:cubicBezTo>
                    <a:cubicBezTo>
                      <a:pt x="4781741" y="1890522"/>
                      <a:pt x="4785170" y="1891665"/>
                      <a:pt x="4789742" y="1890522"/>
                    </a:cubicBezTo>
                    <a:cubicBezTo>
                      <a:pt x="4794314" y="1889379"/>
                      <a:pt x="4796600" y="1892808"/>
                      <a:pt x="4800029" y="1897475"/>
                    </a:cubicBezTo>
                    <a:cubicBezTo>
                      <a:pt x="4803458" y="1902143"/>
                      <a:pt x="4805648" y="1909191"/>
                      <a:pt x="4805648" y="1909191"/>
                    </a:cubicBezTo>
                    <a:cubicBezTo>
                      <a:pt x="4805648" y="1909191"/>
                      <a:pt x="4812506" y="1913954"/>
                      <a:pt x="4814793" y="1917383"/>
                    </a:cubicBezTo>
                    <a:cubicBezTo>
                      <a:pt x="4817078" y="1920907"/>
                      <a:pt x="4815936" y="1922050"/>
                      <a:pt x="4815936" y="1931384"/>
                    </a:cubicBezTo>
                    <a:cubicBezTo>
                      <a:pt x="4815936" y="1940719"/>
                      <a:pt x="4821746" y="1932432"/>
                      <a:pt x="4821746" y="1932432"/>
                    </a:cubicBezTo>
                    <a:lnTo>
                      <a:pt x="4830890" y="1930241"/>
                    </a:lnTo>
                    <a:cubicBezTo>
                      <a:pt x="4830890" y="1930241"/>
                      <a:pt x="4838891" y="1936147"/>
                      <a:pt x="4843463" y="1940719"/>
                    </a:cubicBezTo>
                    <a:cubicBezTo>
                      <a:pt x="4848035" y="1945386"/>
                      <a:pt x="4847939" y="1947577"/>
                      <a:pt x="4852512" y="1956911"/>
                    </a:cubicBezTo>
                    <a:cubicBezTo>
                      <a:pt x="4857084" y="1966246"/>
                      <a:pt x="4855940" y="1972151"/>
                      <a:pt x="4851369" y="1977962"/>
                    </a:cubicBezTo>
                    <a:cubicBezTo>
                      <a:pt x="4846796" y="1983772"/>
                      <a:pt x="4838795" y="1980248"/>
                      <a:pt x="4821746" y="1979105"/>
                    </a:cubicBezTo>
                    <a:cubicBezTo>
                      <a:pt x="4804601" y="1977962"/>
                      <a:pt x="4779264" y="1966341"/>
                      <a:pt x="4772502" y="1965103"/>
                    </a:cubicBezTo>
                    <a:cubicBezTo>
                      <a:pt x="4765644" y="1963960"/>
                      <a:pt x="4755547" y="1974437"/>
                      <a:pt x="4745260" y="1977962"/>
                    </a:cubicBezTo>
                    <a:cubicBezTo>
                      <a:pt x="4734973" y="1981486"/>
                      <a:pt x="4731544" y="1976819"/>
                      <a:pt x="4723543" y="1976819"/>
                    </a:cubicBezTo>
                    <a:cubicBezTo>
                      <a:pt x="4715542" y="1976819"/>
                      <a:pt x="4677918" y="1965198"/>
                      <a:pt x="4669917" y="1958245"/>
                    </a:cubicBezTo>
                    <a:cubicBezTo>
                      <a:pt x="4661916" y="1951292"/>
                      <a:pt x="4651725" y="1926717"/>
                      <a:pt x="4651725" y="1926717"/>
                    </a:cubicBezTo>
                    <a:cubicBezTo>
                      <a:pt x="4651725" y="1926717"/>
                      <a:pt x="4650581" y="1919764"/>
                      <a:pt x="4652868" y="1913858"/>
                    </a:cubicBezTo>
                    <a:cubicBezTo>
                      <a:pt x="4655153" y="1908048"/>
                      <a:pt x="4644867" y="1906905"/>
                      <a:pt x="4641437" y="1905762"/>
                    </a:cubicBezTo>
                    <a:cubicBezTo>
                      <a:pt x="4641437" y="1905762"/>
                      <a:pt x="4651629" y="1890522"/>
                      <a:pt x="4659630" y="1882426"/>
                    </a:cubicBezTo>
                    <a:cubicBezTo>
                      <a:pt x="4667631" y="1874234"/>
                      <a:pt x="4669917" y="1878902"/>
                      <a:pt x="4684776" y="1873091"/>
                    </a:cubicBezTo>
                    <a:cubicBezTo>
                      <a:pt x="4699635" y="1867281"/>
                      <a:pt x="4723638" y="1862614"/>
                      <a:pt x="4732782" y="1860233"/>
                    </a:cubicBezTo>
                    <a:cubicBezTo>
                      <a:pt x="4733925" y="1859947"/>
                      <a:pt x="4735068" y="1859852"/>
                      <a:pt x="4736021" y="1859756"/>
                    </a:cubicBezTo>
                    <a:close/>
                    <a:moveTo>
                      <a:pt x="1842421" y="1971294"/>
                    </a:moveTo>
                    <a:cubicBezTo>
                      <a:pt x="1841373" y="1971294"/>
                      <a:pt x="1840516" y="1971675"/>
                      <a:pt x="1838420" y="1972723"/>
                    </a:cubicBezTo>
                    <a:cubicBezTo>
                      <a:pt x="1834420" y="1974818"/>
                      <a:pt x="1830229" y="1972247"/>
                      <a:pt x="1827562" y="1976342"/>
                    </a:cubicBezTo>
                    <a:cubicBezTo>
                      <a:pt x="1824895" y="1980438"/>
                      <a:pt x="1818799" y="1989868"/>
                      <a:pt x="1818799" y="1989868"/>
                    </a:cubicBezTo>
                    <a:cubicBezTo>
                      <a:pt x="1817465" y="1992630"/>
                      <a:pt x="1813465" y="1996821"/>
                      <a:pt x="1814798" y="2001012"/>
                    </a:cubicBezTo>
                    <a:cubicBezTo>
                      <a:pt x="1816132" y="2005108"/>
                      <a:pt x="1818799" y="2012633"/>
                      <a:pt x="1828229" y="2009204"/>
                    </a:cubicBezTo>
                    <a:cubicBezTo>
                      <a:pt x="1837658" y="2005775"/>
                      <a:pt x="1839659" y="2005108"/>
                      <a:pt x="1841659" y="2003679"/>
                    </a:cubicBezTo>
                    <a:cubicBezTo>
                      <a:pt x="1843659" y="2002346"/>
                      <a:pt x="1848326" y="1998821"/>
                      <a:pt x="1848326" y="1998821"/>
                    </a:cubicBezTo>
                    <a:lnTo>
                      <a:pt x="1852327" y="1996916"/>
                    </a:lnTo>
                    <a:lnTo>
                      <a:pt x="1855851" y="1998250"/>
                    </a:lnTo>
                    <a:lnTo>
                      <a:pt x="1853851" y="2003012"/>
                    </a:lnTo>
                    <a:cubicBezTo>
                      <a:pt x="1853851" y="2003012"/>
                      <a:pt x="1861757" y="2009013"/>
                      <a:pt x="1863757" y="2011109"/>
                    </a:cubicBezTo>
                    <a:cubicBezTo>
                      <a:pt x="1865757" y="2013204"/>
                      <a:pt x="1867853" y="2015204"/>
                      <a:pt x="1871282" y="2017300"/>
                    </a:cubicBezTo>
                    <a:cubicBezTo>
                      <a:pt x="1874615" y="2019395"/>
                      <a:pt x="1881950" y="2018824"/>
                      <a:pt x="1877949" y="2015395"/>
                    </a:cubicBezTo>
                    <a:cubicBezTo>
                      <a:pt x="1873949" y="2011966"/>
                      <a:pt x="1866614" y="2003012"/>
                      <a:pt x="1865281" y="2000250"/>
                    </a:cubicBezTo>
                    <a:cubicBezTo>
                      <a:pt x="1863947" y="1997488"/>
                      <a:pt x="1863281" y="1996250"/>
                      <a:pt x="1863281" y="1994154"/>
                    </a:cubicBezTo>
                    <a:cubicBezTo>
                      <a:pt x="1863281" y="1992059"/>
                      <a:pt x="1865376" y="1989868"/>
                      <a:pt x="1862042" y="1985772"/>
                    </a:cubicBezTo>
                    <a:cubicBezTo>
                      <a:pt x="1858709" y="1981676"/>
                      <a:pt x="1853946" y="1980248"/>
                      <a:pt x="1853946" y="1980248"/>
                    </a:cubicBezTo>
                    <a:cubicBezTo>
                      <a:pt x="1853946" y="1980248"/>
                      <a:pt x="1851184" y="1980248"/>
                      <a:pt x="1850517" y="1976819"/>
                    </a:cubicBezTo>
                    <a:cubicBezTo>
                      <a:pt x="1849850" y="1973390"/>
                      <a:pt x="1850517" y="1971294"/>
                      <a:pt x="1846421" y="1971294"/>
                    </a:cubicBezTo>
                    <a:cubicBezTo>
                      <a:pt x="1844421" y="1971294"/>
                      <a:pt x="1843469" y="1971104"/>
                      <a:pt x="1842421" y="1971104"/>
                    </a:cubicBezTo>
                    <a:close/>
                    <a:moveTo>
                      <a:pt x="1856804" y="2010061"/>
                    </a:moveTo>
                    <a:cubicBezTo>
                      <a:pt x="1856804" y="2010061"/>
                      <a:pt x="1856042" y="2010156"/>
                      <a:pt x="1855661" y="2010347"/>
                    </a:cubicBezTo>
                    <a:cubicBezTo>
                      <a:pt x="1853756" y="2011299"/>
                      <a:pt x="1843754" y="2013776"/>
                      <a:pt x="1842421" y="2015871"/>
                    </a:cubicBezTo>
                    <a:cubicBezTo>
                      <a:pt x="1841087" y="2017967"/>
                      <a:pt x="1835468" y="2019967"/>
                      <a:pt x="1835468" y="2024825"/>
                    </a:cubicBezTo>
                    <a:cubicBezTo>
                      <a:pt x="1835468" y="2029682"/>
                      <a:pt x="1832229" y="2028158"/>
                      <a:pt x="1834896" y="2034350"/>
                    </a:cubicBezTo>
                    <a:cubicBezTo>
                      <a:pt x="1837563" y="2040541"/>
                      <a:pt x="1835563" y="2045303"/>
                      <a:pt x="1843659" y="2043303"/>
                    </a:cubicBezTo>
                    <a:cubicBezTo>
                      <a:pt x="1851755" y="2041208"/>
                      <a:pt x="1859756" y="2042065"/>
                      <a:pt x="1864424" y="2045494"/>
                    </a:cubicBezTo>
                    <a:cubicBezTo>
                      <a:pt x="1869091" y="2048923"/>
                      <a:pt x="1873091" y="2051495"/>
                      <a:pt x="1877092" y="2058353"/>
                    </a:cubicBezTo>
                    <a:cubicBezTo>
                      <a:pt x="1881092" y="2065211"/>
                      <a:pt x="1889284" y="2062544"/>
                      <a:pt x="1889951" y="2060543"/>
                    </a:cubicBezTo>
                    <a:cubicBezTo>
                      <a:pt x="1890617" y="2058448"/>
                      <a:pt x="1890617" y="2053019"/>
                      <a:pt x="1889951" y="2046827"/>
                    </a:cubicBezTo>
                    <a:cubicBezTo>
                      <a:pt x="1889284" y="2040636"/>
                      <a:pt x="1885188" y="2032349"/>
                      <a:pt x="1880521" y="2028254"/>
                    </a:cubicBezTo>
                    <a:cubicBezTo>
                      <a:pt x="1875854" y="2024158"/>
                      <a:pt x="1869758" y="2020824"/>
                      <a:pt x="1867090" y="2016728"/>
                    </a:cubicBezTo>
                    <a:cubicBezTo>
                      <a:pt x="1864709" y="2013109"/>
                      <a:pt x="1859756" y="2010061"/>
                      <a:pt x="1856804" y="2010251"/>
                    </a:cubicBezTo>
                    <a:close/>
                    <a:moveTo>
                      <a:pt x="1880807" y="2063591"/>
                    </a:moveTo>
                    <a:cubicBezTo>
                      <a:pt x="1876806" y="2064925"/>
                      <a:pt x="1873472" y="2065020"/>
                      <a:pt x="1873472" y="2069783"/>
                    </a:cubicBezTo>
                    <a:cubicBezTo>
                      <a:pt x="1873472" y="2074545"/>
                      <a:pt x="1874711" y="2078641"/>
                      <a:pt x="1874711" y="2082737"/>
                    </a:cubicBezTo>
                    <a:cubicBezTo>
                      <a:pt x="1874711" y="2086832"/>
                      <a:pt x="1874711" y="2092452"/>
                      <a:pt x="1873472" y="2095881"/>
                    </a:cubicBezTo>
                    <a:cubicBezTo>
                      <a:pt x="1872806" y="2097596"/>
                      <a:pt x="1871377" y="2099215"/>
                      <a:pt x="1871091" y="2100739"/>
                    </a:cubicBezTo>
                    <a:cubicBezTo>
                      <a:pt x="1870710" y="2100263"/>
                      <a:pt x="1870234" y="2099501"/>
                      <a:pt x="1869567" y="2099024"/>
                    </a:cubicBezTo>
                    <a:cubicBezTo>
                      <a:pt x="1864900" y="2095595"/>
                      <a:pt x="1857470" y="2095595"/>
                      <a:pt x="1854708" y="2093500"/>
                    </a:cubicBezTo>
                    <a:cubicBezTo>
                      <a:pt x="1852041" y="2091404"/>
                      <a:pt x="1849374" y="2088928"/>
                      <a:pt x="1849374" y="2088928"/>
                    </a:cubicBezTo>
                    <a:lnTo>
                      <a:pt x="1844040" y="2084070"/>
                    </a:lnTo>
                    <a:cubicBezTo>
                      <a:pt x="1838039" y="2079308"/>
                      <a:pt x="1830038" y="2077307"/>
                      <a:pt x="1824704" y="2080070"/>
                    </a:cubicBezTo>
                    <a:cubicBezTo>
                      <a:pt x="1819370" y="2082832"/>
                      <a:pt x="1817084" y="2086832"/>
                      <a:pt x="1815084" y="2095786"/>
                    </a:cubicBezTo>
                    <a:cubicBezTo>
                      <a:pt x="1813084" y="2104739"/>
                      <a:pt x="1813179" y="2103215"/>
                      <a:pt x="1809845" y="2110740"/>
                    </a:cubicBezTo>
                    <a:cubicBezTo>
                      <a:pt x="1806511" y="2118265"/>
                      <a:pt x="1801844" y="2117027"/>
                      <a:pt x="1805178" y="2124551"/>
                    </a:cubicBezTo>
                    <a:cubicBezTo>
                      <a:pt x="1808512" y="2132076"/>
                      <a:pt x="1809845" y="2133505"/>
                      <a:pt x="1820609" y="2130076"/>
                    </a:cubicBezTo>
                    <a:cubicBezTo>
                      <a:pt x="1831372" y="2126647"/>
                      <a:pt x="1838611" y="2126456"/>
                      <a:pt x="1843373" y="2126456"/>
                    </a:cubicBezTo>
                    <a:cubicBezTo>
                      <a:pt x="1848136" y="2126456"/>
                      <a:pt x="1854232" y="2128647"/>
                      <a:pt x="1856899" y="2125885"/>
                    </a:cubicBezTo>
                    <a:cubicBezTo>
                      <a:pt x="1859566" y="2123123"/>
                      <a:pt x="1864233" y="2121122"/>
                      <a:pt x="1866233" y="2117693"/>
                    </a:cubicBezTo>
                    <a:cubicBezTo>
                      <a:pt x="1868234" y="2114264"/>
                      <a:pt x="1869472" y="2108740"/>
                      <a:pt x="1870234" y="2106740"/>
                    </a:cubicBezTo>
                    <a:cubicBezTo>
                      <a:pt x="1870615" y="2105692"/>
                      <a:pt x="1871758" y="2104644"/>
                      <a:pt x="1872044" y="2103406"/>
                    </a:cubicBezTo>
                    <a:cubicBezTo>
                      <a:pt x="1872615" y="2103977"/>
                      <a:pt x="1873472" y="2104454"/>
                      <a:pt x="1874901" y="2104835"/>
                    </a:cubicBezTo>
                    <a:cubicBezTo>
                      <a:pt x="1881569" y="2106930"/>
                      <a:pt x="1883759" y="2106930"/>
                      <a:pt x="1887760" y="2104835"/>
                    </a:cubicBezTo>
                    <a:cubicBezTo>
                      <a:pt x="1891760" y="2102739"/>
                      <a:pt x="1895665" y="2102739"/>
                      <a:pt x="1898333" y="2098643"/>
                    </a:cubicBezTo>
                    <a:cubicBezTo>
                      <a:pt x="1901000" y="2094548"/>
                      <a:pt x="1899666" y="2090357"/>
                      <a:pt x="1898333" y="2088261"/>
                    </a:cubicBezTo>
                    <a:cubicBezTo>
                      <a:pt x="1896999" y="2086166"/>
                      <a:pt x="1893856" y="2082165"/>
                      <a:pt x="1893856" y="2082165"/>
                    </a:cubicBezTo>
                    <a:lnTo>
                      <a:pt x="1890332" y="2073783"/>
                    </a:lnTo>
                    <a:lnTo>
                      <a:pt x="1885093" y="2067687"/>
                    </a:lnTo>
                    <a:lnTo>
                      <a:pt x="1880997" y="2063496"/>
                    </a:lnTo>
                    <a:close/>
                    <a:moveTo>
                      <a:pt x="3880200" y="2207514"/>
                    </a:moveTo>
                    <a:cubicBezTo>
                      <a:pt x="3882390" y="2247614"/>
                      <a:pt x="3871436" y="2296668"/>
                      <a:pt x="3907441" y="2324576"/>
                    </a:cubicBezTo>
                    <a:cubicBezTo>
                      <a:pt x="3918395" y="2319528"/>
                      <a:pt x="3928301" y="2313432"/>
                      <a:pt x="3938111" y="2307241"/>
                    </a:cubicBezTo>
                    <a:cubicBezTo>
                      <a:pt x="3940874" y="2297716"/>
                      <a:pt x="3939254" y="2282762"/>
                      <a:pt x="3951827" y="2279428"/>
                    </a:cubicBezTo>
                    <a:cubicBezTo>
                      <a:pt x="3967163" y="2274380"/>
                      <a:pt x="3982307" y="2269903"/>
                      <a:pt x="3997547" y="2265998"/>
                    </a:cubicBezTo>
                    <a:cubicBezTo>
                      <a:pt x="3994309" y="2287143"/>
                      <a:pt x="3973449" y="2287238"/>
                      <a:pt x="3957542" y="2292858"/>
                    </a:cubicBezTo>
                    <a:cubicBezTo>
                      <a:pt x="3952589" y="2316861"/>
                      <a:pt x="3933063" y="2330291"/>
                      <a:pt x="3914489" y="2342007"/>
                    </a:cubicBezTo>
                    <a:cubicBezTo>
                      <a:pt x="3911727" y="2352580"/>
                      <a:pt x="3908488" y="2362962"/>
                      <a:pt x="3907441" y="2374202"/>
                    </a:cubicBezTo>
                    <a:cubicBezTo>
                      <a:pt x="3909632" y="2384774"/>
                      <a:pt x="3919061" y="2391537"/>
                      <a:pt x="3923443" y="2401634"/>
                    </a:cubicBezTo>
                    <a:cubicBezTo>
                      <a:pt x="3924491" y="2418874"/>
                      <a:pt x="3926491" y="2436781"/>
                      <a:pt x="3925443" y="2454116"/>
                    </a:cubicBezTo>
                    <a:cubicBezTo>
                      <a:pt x="3916204" y="2466404"/>
                      <a:pt x="3903726" y="2476310"/>
                      <a:pt x="3900488" y="2492502"/>
                    </a:cubicBezTo>
                    <a:cubicBezTo>
                      <a:pt x="3914108" y="2494217"/>
                      <a:pt x="3928872" y="2492693"/>
                      <a:pt x="3942017" y="2497074"/>
                    </a:cubicBezTo>
                    <a:cubicBezTo>
                      <a:pt x="3945255" y="2514315"/>
                      <a:pt x="3944684" y="2533174"/>
                      <a:pt x="3957257" y="2546509"/>
                    </a:cubicBezTo>
                    <a:cubicBezTo>
                      <a:pt x="3972592" y="2562701"/>
                      <a:pt x="3997167" y="2573084"/>
                      <a:pt x="4019550" y="2563082"/>
                    </a:cubicBezTo>
                    <a:cubicBezTo>
                      <a:pt x="4053935" y="2546318"/>
                      <a:pt x="4072509" y="2509076"/>
                      <a:pt x="4104704" y="2489549"/>
                    </a:cubicBezTo>
                    <a:lnTo>
                      <a:pt x="4111276" y="2483168"/>
                    </a:lnTo>
                    <a:lnTo>
                      <a:pt x="4096417" y="2503265"/>
                    </a:lnTo>
                    <a:cubicBezTo>
                      <a:pt x="4072414" y="2531174"/>
                      <a:pt x="4062127" y="2546033"/>
                      <a:pt x="4035362" y="2571655"/>
                    </a:cubicBezTo>
                    <a:cubicBezTo>
                      <a:pt x="4008025" y="2595086"/>
                      <a:pt x="3971449" y="2587848"/>
                      <a:pt x="3940302" y="2586133"/>
                    </a:cubicBezTo>
                    <a:cubicBezTo>
                      <a:pt x="3915156" y="2597277"/>
                      <a:pt x="3887438" y="2595563"/>
                      <a:pt x="3860673" y="2592229"/>
                    </a:cubicBezTo>
                    <a:cubicBezTo>
                      <a:pt x="3860102" y="2605088"/>
                      <a:pt x="3859054" y="2617851"/>
                      <a:pt x="3860673" y="2630138"/>
                    </a:cubicBezTo>
                    <a:cubicBezTo>
                      <a:pt x="3872675" y="2697575"/>
                      <a:pt x="3907250" y="2757773"/>
                      <a:pt x="3907250" y="2757773"/>
                    </a:cubicBezTo>
                    <a:lnTo>
                      <a:pt x="3938207" y="2802350"/>
                    </a:lnTo>
                    <a:cubicBezTo>
                      <a:pt x="3946112" y="2807780"/>
                      <a:pt x="3955828" y="2819686"/>
                      <a:pt x="3968687" y="2828544"/>
                    </a:cubicBezTo>
                    <a:cubicBezTo>
                      <a:pt x="3971925" y="2830735"/>
                      <a:pt x="3975259" y="2832735"/>
                      <a:pt x="3978593" y="2834450"/>
                    </a:cubicBezTo>
                    <a:lnTo>
                      <a:pt x="3940588" y="2866358"/>
                    </a:lnTo>
                    <a:cubicBezTo>
                      <a:pt x="3930777" y="2845308"/>
                      <a:pt x="3904298" y="2826258"/>
                      <a:pt x="3880866" y="2807113"/>
                    </a:cubicBezTo>
                    <a:cubicBezTo>
                      <a:pt x="3866960" y="2795778"/>
                      <a:pt x="3849529" y="2787968"/>
                      <a:pt x="3827621" y="2783205"/>
                    </a:cubicBezTo>
                    <a:cubicBezTo>
                      <a:pt x="3827621" y="2783205"/>
                      <a:pt x="3799427" y="2768060"/>
                      <a:pt x="3758946" y="2758535"/>
                    </a:cubicBezTo>
                    <a:cubicBezTo>
                      <a:pt x="3757898" y="2768060"/>
                      <a:pt x="3760565" y="2778157"/>
                      <a:pt x="3755136" y="2787110"/>
                    </a:cubicBezTo>
                    <a:cubicBezTo>
                      <a:pt x="3740944" y="2809970"/>
                      <a:pt x="3726752" y="2832259"/>
                      <a:pt x="3711512" y="2853976"/>
                    </a:cubicBezTo>
                    <a:lnTo>
                      <a:pt x="3688461" y="2842260"/>
                    </a:lnTo>
                    <a:cubicBezTo>
                      <a:pt x="3687890" y="2838355"/>
                      <a:pt x="3686937" y="2830449"/>
                      <a:pt x="3686937" y="2826544"/>
                    </a:cubicBezTo>
                    <a:cubicBezTo>
                      <a:pt x="3683127" y="2825973"/>
                      <a:pt x="3676555" y="2823782"/>
                      <a:pt x="3673221" y="2822639"/>
                    </a:cubicBezTo>
                    <a:cubicBezTo>
                      <a:pt x="3673221" y="2798636"/>
                      <a:pt x="3677603" y="2775109"/>
                      <a:pt x="3681413" y="2751106"/>
                    </a:cubicBezTo>
                    <a:cubicBezTo>
                      <a:pt x="3669983" y="2758916"/>
                      <a:pt x="3659600" y="2771204"/>
                      <a:pt x="3644837" y="2773490"/>
                    </a:cubicBezTo>
                    <a:cubicBezTo>
                      <a:pt x="3627406" y="2775680"/>
                      <a:pt x="3611118" y="2759011"/>
                      <a:pt x="3611118" y="2741200"/>
                    </a:cubicBezTo>
                    <a:cubicBezTo>
                      <a:pt x="3608927" y="2734532"/>
                      <a:pt x="3610356" y="2724531"/>
                      <a:pt x="3601688" y="2721769"/>
                    </a:cubicBezTo>
                    <a:cubicBezTo>
                      <a:pt x="3585877" y="2711196"/>
                      <a:pt x="3568922" y="2725674"/>
                      <a:pt x="3552539" y="2726817"/>
                    </a:cubicBezTo>
                    <a:cubicBezTo>
                      <a:pt x="3542157" y="2723483"/>
                      <a:pt x="3538347" y="2712815"/>
                      <a:pt x="3533489" y="2704433"/>
                    </a:cubicBezTo>
                    <a:cubicBezTo>
                      <a:pt x="3517678" y="2705005"/>
                      <a:pt x="3500342" y="2702243"/>
                      <a:pt x="3487769" y="2713958"/>
                    </a:cubicBezTo>
                    <a:cubicBezTo>
                      <a:pt x="3465386" y="2735104"/>
                      <a:pt x="3432525" y="2720626"/>
                      <a:pt x="3411188" y="2705005"/>
                    </a:cubicBezTo>
                    <a:cubicBezTo>
                      <a:pt x="3412808" y="2696051"/>
                      <a:pt x="3414522" y="2687669"/>
                      <a:pt x="3416142" y="2678811"/>
                    </a:cubicBezTo>
                    <a:cubicBezTo>
                      <a:pt x="3405759" y="2677097"/>
                      <a:pt x="3374517" y="2683955"/>
                      <a:pt x="3388138" y="2665000"/>
                    </a:cubicBezTo>
                    <a:cubicBezTo>
                      <a:pt x="3400711" y="2662238"/>
                      <a:pt x="3413379" y="2661666"/>
                      <a:pt x="3425952" y="2661094"/>
                    </a:cubicBezTo>
                    <a:cubicBezTo>
                      <a:pt x="3428143" y="2672810"/>
                      <a:pt x="3430143" y="2684431"/>
                      <a:pt x="3431762" y="2696147"/>
                    </a:cubicBezTo>
                    <a:cubicBezTo>
                      <a:pt x="3441002" y="2700052"/>
                      <a:pt x="3450431" y="2705005"/>
                      <a:pt x="3460813" y="2707291"/>
                    </a:cubicBezTo>
                    <a:cubicBezTo>
                      <a:pt x="3472244" y="2704529"/>
                      <a:pt x="3480245" y="2693003"/>
                      <a:pt x="3492342" y="2691289"/>
                    </a:cubicBezTo>
                    <a:cubicBezTo>
                      <a:pt x="3508725" y="2687955"/>
                      <a:pt x="3524631" y="2684431"/>
                      <a:pt x="3541109" y="2682811"/>
                    </a:cubicBezTo>
                    <a:cubicBezTo>
                      <a:pt x="3549872" y="2687860"/>
                      <a:pt x="3552635" y="2697956"/>
                      <a:pt x="3558064" y="2705767"/>
                    </a:cubicBezTo>
                    <a:cubicBezTo>
                      <a:pt x="3578828" y="2700147"/>
                      <a:pt x="3604546" y="2696242"/>
                      <a:pt x="3621500" y="2713006"/>
                    </a:cubicBezTo>
                    <a:cubicBezTo>
                      <a:pt x="3632454" y="2725293"/>
                      <a:pt x="3641027" y="2739866"/>
                      <a:pt x="3654076" y="2750534"/>
                    </a:cubicBezTo>
                    <a:cubicBezTo>
                      <a:pt x="3663315" y="2738247"/>
                      <a:pt x="3668840" y="2720816"/>
                      <a:pt x="3684746" y="2715768"/>
                    </a:cubicBezTo>
                    <a:cubicBezTo>
                      <a:pt x="3730085" y="2707386"/>
                      <a:pt x="3774948" y="2721959"/>
                      <a:pt x="3819716" y="2721959"/>
                    </a:cubicBezTo>
                    <a:cubicBezTo>
                      <a:pt x="3831717" y="2724722"/>
                      <a:pt x="3834479" y="2712434"/>
                      <a:pt x="3833432" y="2702909"/>
                    </a:cubicBezTo>
                    <a:cubicBezTo>
                      <a:pt x="3830669" y="2664428"/>
                      <a:pt x="3820192" y="2624900"/>
                      <a:pt x="3826193" y="2585847"/>
                    </a:cubicBezTo>
                    <a:cubicBezTo>
                      <a:pt x="3837146" y="2555748"/>
                      <a:pt x="3874865" y="2545747"/>
                      <a:pt x="3880295" y="2511743"/>
                    </a:cubicBezTo>
                    <a:cubicBezTo>
                      <a:pt x="3865531" y="2507266"/>
                      <a:pt x="3845338" y="2498979"/>
                      <a:pt x="3847529" y="2479453"/>
                    </a:cubicBezTo>
                    <a:cubicBezTo>
                      <a:pt x="3856292" y="2476119"/>
                      <a:pt x="3865436" y="2477167"/>
                      <a:pt x="3874199" y="2476595"/>
                    </a:cubicBezTo>
                    <a:cubicBezTo>
                      <a:pt x="3882390" y="2463736"/>
                      <a:pt x="3891248" y="2452116"/>
                      <a:pt x="3901631" y="2440972"/>
                    </a:cubicBezTo>
                    <a:cubicBezTo>
                      <a:pt x="3901631" y="2430399"/>
                      <a:pt x="3902202" y="2419731"/>
                      <a:pt x="3902774" y="2408492"/>
                    </a:cubicBezTo>
                    <a:cubicBezTo>
                      <a:pt x="3883628" y="2391728"/>
                      <a:pt x="3886771" y="2365058"/>
                      <a:pt x="3894487" y="2343341"/>
                    </a:cubicBezTo>
                    <a:cubicBezTo>
                      <a:pt x="3882485" y="2324957"/>
                      <a:pt x="3870579" y="2306479"/>
                      <a:pt x="3861911" y="2286381"/>
                    </a:cubicBezTo>
                    <a:cubicBezTo>
                      <a:pt x="3850958" y="2279714"/>
                      <a:pt x="3835051" y="2276475"/>
                      <a:pt x="3833908" y="2260283"/>
                    </a:cubicBezTo>
                    <a:cubicBezTo>
                      <a:pt x="3844862" y="2263616"/>
                      <a:pt x="3855911" y="2266950"/>
                      <a:pt x="3866769" y="2270760"/>
                    </a:cubicBezTo>
                    <a:cubicBezTo>
                      <a:pt x="3867341" y="2249615"/>
                      <a:pt x="3854672" y="2217230"/>
                      <a:pt x="3880295" y="2207800"/>
                    </a:cubicBezTo>
                    <a:close/>
                    <a:moveTo>
                      <a:pt x="1460183" y="2782919"/>
                    </a:moveTo>
                    <a:cubicBezTo>
                      <a:pt x="1450277" y="2782348"/>
                      <a:pt x="1436084" y="2791397"/>
                      <a:pt x="1445324" y="2800541"/>
                    </a:cubicBezTo>
                    <a:cubicBezTo>
                      <a:pt x="1450277" y="2805398"/>
                      <a:pt x="1462278" y="2825020"/>
                      <a:pt x="1462278" y="2825020"/>
                    </a:cubicBezTo>
                    <a:lnTo>
                      <a:pt x="1468374" y="2827782"/>
                    </a:lnTo>
                    <a:lnTo>
                      <a:pt x="1468374" y="2790540"/>
                    </a:lnTo>
                    <a:cubicBezTo>
                      <a:pt x="1468374" y="2785396"/>
                      <a:pt x="1464659" y="2783205"/>
                      <a:pt x="1460183" y="2782919"/>
                    </a:cubicBezTo>
                    <a:close/>
                    <a:moveTo>
                      <a:pt x="3087338" y="3158395"/>
                    </a:moveTo>
                    <a:cubicBezTo>
                      <a:pt x="3084576" y="3158395"/>
                      <a:pt x="3075718" y="3159443"/>
                      <a:pt x="3075718" y="3159443"/>
                    </a:cubicBezTo>
                    <a:cubicBezTo>
                      <a:pt x="3072956" y="3160586"/>
                      <a:pt x="3070384" y="3157728"/>
                      <a:pt x="3070384" y="3163348"/>
                    </a:cubicBezTo>
                    <a:cubicBezTo>
                      <a:pt x="3070384" y="3168968"/>
                      <a:pt x="3075337" y="3169158"/>
                      <a:pt x="3080290" y="3169158"/>
                    </a:cubicBezTo>
                    <a:cubicBezTo>
                      <a:pt x="3085243" y="3169158"/>
                      <a:pt x="3087243" y="3170111"/>
                      <a:pt x="3089434" y="3168396"/>
                    </a:cubicBezTo>
                    <a:cubicBezTo>
                      <a:pt x="3091625" y="3166777"/>
                      <a:pt x="3094387" y="3167920"/>
                      <a:pt x="3093815" y="3164110"/>
                    </a:cubicBezTo>
                    <a:cubicBezTo>
                      <a:pt x="3093244" y="3160205"/>
                      <a:pt x="3090005" y="3158490"/>
                      <a:pt x="3087338" y="3158490"/>
                    </a:cubicBezTo>
                    <a:close/>
                    <a:moveTo>
                      <a:pt x="3090005" y="3307937"/>
                    </a:moveTo>
                    <a:cubicBezTo>
                      <a:pt x="3090005" y="3307937"/>
                      <a:pt x="3089625" y="3307937"/>
                      <a:pt x="3089434" y="3308128"/>
                    </a:cubicBezTo>
                    <a:cubicBezTo>
                      <a:pt x="3089243" y="3308223"/>
                      <a:pt x="3089148" y="3308318"/>
                      <a:pt x="3089053" y="3308699"/>
                    </a:cubicBezTo>
                    <a:cubicBezTo>
                      <a:pt x="3088005" y="3311461"/>
                      <a:pt x="3083052" y="3307747"/>
                      <a:pt x="3085243" y="3312128"/>
                    </a:cubicBezTo>
                    <a:cubicBezTo>
                      <a:pt x="3087434" y="3316605"/>
                      <a:pt x="3086767" y="3319844"/>
                      <a:pt x="3090577" y="3322606"/>
                    </a:cubicBezTo>
                    <a:cubicBezTo>
                      <a:pt x="3094387" y="3325368"/>
                      <a:pt x="3097149" y="3323749"/>
                      <a:pt x="3099911" y="3326511"/>
                    </a:cubicBezTo>
                    <a:cubicBezTo>
                      <a:pt x="3102674" y="3329273"/>
                      <a:pt x="3104769" y="3330988"/>
                      <a:pt x="3109627" y="3330988"/>
                    </a:cubicBezTo>
                    <a:cubicBezTo>
                      <a:pt x="3114485" y="3330988"/>
                      <a:pt x="3115532" y="3330416"/>
                      <a:pt x="3114389" y="3327654"/>
                    </a:cubicBezTo>
                    <a:cubicBezTo>
                      <a:pt x="3113342" y="3324892"/>
                      <a:pt x="3111818" y="3326035"/>
                      <a:pt x="3110198" y="3323749"/>
                    </a:cubicBezTo>
                    <a:cubicBezTo>
                      <a:pt x="3108579" y="3321558"/>
                      <a:pt x="3102007" y="3316510"/>
                      <a:pt x="3102007" y="3316510"/>
                    </a:cubicBezTo>
                    <a:cubicBezTo>
                      <a:pt x="3099816" y="3314891"/>
                      <a:pt x="3097721" y="3315462"/>
                      <a:pt x="3095530" y="3313176"/>
                    </a:cubicBezTo>
                    <a:cubicBezTo>
                      <a:pt x="3093815" y="3311461"/>
                      <a:pt x="3091529" y="3308033"/>
                      <a:pt x="3090005" y="3307842"/>
                    </a:cubicBezTo>
                    <a:lnTo>
                      <a:pt x="3090005" y="3307842"/>
                    </a:lnTo>
                    <a:close/>
                    <a:moveTo>
                      <a:pt x="662273" y="3433763"/>
                    </a:moveTo>
                    <a:lnTo>
                      <a:pt x="658082" y="3434906"/>
                    </a:lnTo>
                    <a:lnTo>
                      <a:pt x="658368" y="3436620"/>
                    </a:lnTo>
                    <a:lnTo>
                      <a:pt x="656939" y="3437954"/>
                    </a:lnTo>
                    <a:lnTo>
                      <a:pt x="655225" y="3438240"/>
                    </a:lnTo>
                    <a:lnTo>
                      <a:pt x="653987" y="3439097"/>
                    </a:lnTo>
                    <a:lnTo>
                      <a:pt x="653320" y="3440430"/>
                    </a:lnTo>
                    <a:lnTo>
                      <a:pt x="653701" y="3442049"/>
                    </a:lnTo>
                    <a:lnTo>
                      <a:pt x="656844" y="3444050"/>
                    </a:lnTo>
                    <a:lnTo>
                      <a:pt x="657987" y="3446526"/>
                    </a:lnTo>
                    <a:lnTo>
                      <a:pt x="664369" y="3446717"/>
                    </a:lnTo>
                    <a:cubicBezTo>
                      <a:pt x="664369" y="3446717"/>
                      <a:pt x="666560" y="3447098"/>
                      <a:pt x="667607" y="3447288"/>
                    </a:cubicBezTo>
                    <a:cubicBezTo>
                      <a:pt x="669036" y="3447479"/>
                      <a:pt x="669608" y="3447574"/>
                      <a:pt x="670846" y="3446717"/>
                    </a:cubicBezTo>
                    <a:cubicBezTo>
                      <a:pt x="670846" y="3446717"/>
                      <a:pt x="674656" y="3445574"/>
                      <a:pt x="676656" y="3445002"/>
                    </a:cubicBezTo>
                    <a:cubicBezTo>
                      <a:pt x="677799" y="3444716"/>
                      <a:pt x="680371" y="3443573"/>
                      <a:pt x="680466" y="3441573"/>
                    </a:cubicBezTo>
                    <a:lnTo>
                      <a:pt x="680466" y="3440240"/>
                    </a:lnTo>
                    <a:lnTo>
                      <a:pt x="678942" y="3437477"/>
                    </a:lnTo>
                    <a:lnTo>
                      <a:pt x="676085" y="3435858"/>
                    </a:lnTo>
                    <a:lnTo>
                      <a:pt x="674942" y="3436715"/>
                    </a:lnTo>
                    <a:lnTo>
                      <a:pt x="666750" y="3435573"/>
                    </a:lnTo>
                    <a:lnTo>
                      <a:pt x="665226" y="3434239"/>
                    </a:lnTo>
                    <a:lnTo>
                      <a:pt x="662369" y="3433763"/>
                    </a:lnTo>
                    <a:close/>
                    <a:moveTo>
                      <a:pt x="2312289" y="3454623"/>
                    </a:moveTo>
                    <a:lnTo>
                      <a:pt x="2312289" y="3454813"/>
                    </a:lnTo>
                    <a:cubicBezTo>
                      <a:pt x="2308193" y="3454908"/>
                      <a:pt x="2304383" y="3455480"/>
                      <a:pt x="2301145" y="3457099"/>
                    </a:cubicBezTo>
                    <a:cubicBezTo>
                      <a:pt x="2292287" y="3461576"/>
                      <a:pt x="2284571" y="3459385"/>
                      <a:pt x="2282381" y="3473958"/>
                    </a:cubicBezTo>
                    <a:cubicBezTo>
                      <a:pt x="2280190" y="3488531"/>
                      <a:pt x="2275713" y="3483007"/>
                      <a:pt x="2280095" y="3498723"/>
                    </a:cubicBezTo>
                    <a:cubicBezTo>
                      <a:pt x="2284476" y="3514440"/>
                      <a:pt x="2283428" y="3509963"/>
                      <a:pt x="2287905" y="3525679"/>
                    </a:cubicBezTo>
                    <a:cubicBezTo>
                      <a:pt x="2290286" y="3534251"/>
                      <a:pt x="2289810" y="3537490"/>
                      <a:pt x="2289715" y="3541395"/>
                    </a:cubicBezTo>
                    <a:lnTo>
                      <a:pt x="2262569" y="3557397"/>
                    </a:lnTo>
                    <a:cubicBezTo>
                      <a:pt x="2258854" y="3544443"/>
                      <a:pt x="2252663" y="3524726"/>
                      <a:pt x="2249424" y="3513963"/>
                    </a:cubicBezTo>
                    <a:cubicBezTo>
                      <a:pt x="2247424" y="3507296"/>
                      <a:pt x="2244376" y="3505105"/>
                      <a:pt x="2240661" y="3505295"/>
                    </a:cubicBezTo>
                    <a:cubicBezTo>
                      <a:pt x="2235899" y="3505581"/>
                      <a:pt x="2230088" y="3509963"/>
                      <a:pt x="2224278" y="3513963"/>
                    </a:cubicBezTo>
                    <a:cubicBezTo>
                      <a:pt x="2213896" y="3521011"/>
                      <a:pt x="2204657" y="3536347"/>
                      <a:pt x="2204657" y="3536347"/>
                    </a:cubicBezTo>
                    <a:cubicBezTo>
                      <a:pt x="2204657" y="3536347"/>
                      <a:pt x="2194941" y="3549301"/>
                      <a:pt x="2190083" y="3555778"/>
                    </a:cubicBezTo>
                    <a:cubicBezTo>
                      <a:pt x="2178653" y="3571018"/>
                      <a:pt x="2188559" y="3564731"/>
                      <a:pt x="2197037" y="3571208"/>
                    </a:cubicBezTo>
                    <a:cubicBezTo>
                      <a:pt x="2206562" y="3578448"/>
                      <a:pt x="2212753" y="3583115"/>
                      <a:pt x="2216944" y="3601498"/>
                    </a:cubicBezTo>
                    <a:cubicBezTo>
                      <a:pt x="2217039" y="3601212"/>
                      <a:pt x="2225421" y="3618262"/>
                      <a:pt x="2237137" y="3636264"/>
                    </a:cubicBezTo>
                    <a:cubicBezTo>
                      <a:pt x="2239328" y="3639693"/>
                      <a:pt x="2263426" y="3602355"/>
                      <a:pt x="2265807" y="3605689"/>
                    </a:cubicBezTo>
                    <a:cubicBezTo>
                      <a:pt x="2265807" y="3605784"/>
                      <a:pt x="2266569" y="3605975"/>
                      <a:pt x="2266760" y="3606165"/>
                    </a:cubicBezTo>
                    <a:lnTo>
                      <a:pt x="2278475" y="3585401"/>
                    </a:lnTo>
                    <a:cubicBezTo>
                      <a:pt x="2271522" y="3578638"/>
                      <a:pt x="2266188" y="3572161"/>
                      <a:pt x="2265617" y="3569208"/>
                    </a:cubicBezTo>
                    <a:cubicBezTo>
                      <a:pt x="2265521" y="3568636"/>
                      <a:pt x="2264950" y="3566732"/>
                      <a:pt x="2264664" y="3565589"/>
                    </a:cubicBezTo>
                    <a:lnTo>
                      <a:pt x="2290763" y="3550349"/>
                    </a:lnTo>
                    <a:cubicBezTo>
                      <a:pt x="2291144" y="3551968"/>
                      <a:pt x="2291620" y="3553873"/>
                      <a:pt x="2292287" y="3555968"/>
                    </a:cubicBezTo>
                    <a:cubicBezTo>
                      <a:pt x="2297811" y="3572828"/>
                      <a:pt x="2297716" y="3569494"/>
                      <a:pt x="2314194" y="3579590"/>
                    </a:cubicBezTo>
                    <a:cubicBezTo>
                      <a:pt x="2330672" y="3589687"/>
                      <a:pt x="2331815" y="3591878"/>
                      <a:pt x="2357152" y="3591878"/>
                    </a:cubicBezTo>
                    <a:cubicBezTo>
                      <a:pt x="2365724" y="3591878"/>
                      <a:pt x="2371535" y="3592163"/>
                      <a:pt x="2376392" y="3592640"/>
                    </a:cubicBezTo>
                    <a:lnTo>
                      <a:pt x="2371439" y="3610928"/>
                    </a:lnTo>
                    <a:cubicBezTo>
                      <a:pt x="2363057" y="3610928"/>
                      <a:pt x="2355247" y="3612071"/>
                      <a:pt x="2348675" y="3613976"/>
                    </a:cubicBezTo>
                    <a:cubicBezTo>
                      <a:pt x="2332482" y="3618738"/>
                      <a:pt x="2317623" y="3610451"/>
                      <a:pt x="2302669" y="3603498"/>
                    </a:cubicBezTo>
                    <a:cubicBezTo>
                      <a:pt x="2299430" y="3601974"/>
                      <a:pt x="2295906" y="3599688"/>
                      <a:pt x="2292382" y="3597116"/>
                    </a:cubicBezTo>
                    <a:lnTo>
                      <a:pt x="2281238" y="3616548"/>
                    </a:lnTo>
                    <a:cubicBezTo>
                      <a:pt x="2281428" y="3617309"/>
                      <a:pt x="2281523" y="3618167"/>
                      <a:pt x="2281238" y="3619024"/>
                    </a:cubicBezTo>
                    <a:cubicBezTo>
                      <a:pt x="2279618" y="3624072"/>
                      <a:pt x="2275427" y="3629882"/>
                      <a:pt x="2270665" y="3635502"/>
                    </a:cubicBezTo>
                    <a:lnTo>
                      <a:pt x="2270665" y="3635693"/>
                    </a:lnTo>
                    <a:cubicBezTo>
                      <a:pt x="2261616" y="3646075"/>
                      <a:pt x="2251139" y="3655600"/>
                      <a:pt x="2252282" y="3657029"/>
                    </a:cubicBezTo>
                    <a:cubicBezTo>
                      <a:pt x="2274189" y="3672364"/>
                      <a:pt x="2282952" y="3671792"/>
                      <a:pt x="2309432" y="3677603"/>
                    </a:cubicBezTo>
                    <a:cubicBezTo>
                      <a:pt x="2335911" y="3683508"/>
                      <a:pt x="2390204" y="3690652"/>
                      <a:pt x="2410968" y="3685985"/>
                    </a:cubicBezTo>
                    <a:cubicBezTo>
                      <a:pt x="2431733" y="3681317"/>
                      <a:pt x="2435066" y="3675317"/>
                      <a:pt x="2443163" y="3658838"/>
                    </a:cubicBezTo>
                    <a:cubicBezTo>
                      <a:pt x="2451259" y="3642360"/>
                      <a:pt x="2425922" y="3628358"/>
                      <a:pt x="2407444" y="3618929"/>
                    </a:cubicBezTo>
                    <a:cubicBezTo>
                      <a:pt x="2399062" y="3614642"/>
                      <a:pt x="2389442" y="3612261"/>
                      <a:pt x="2379917" y="3611404"/>
                    </a:cubicBezTo>
                    <a:lnTo>
                      <a:pt x="2384584" y="3593687"/>
                    </a:lnTo>
                    <a:cubicBezTo>
                      <a:pt x="2390204" y="3594830"/>
                      <a:pt x="2395442" y="3596831"/>
                      <a:pt x="2404491" y="3599879"/>
                    </a:cubicBezTo>
                    <a:cubicBezTo>
                      <a:pt x="2424303" y="3606641"/>
                      <a:pt x="2418779" y="3597593"/>
                      <a:pt x="2436400" y="3613309"/>
                    </a:cubicBezTo>
                    <a:cubicBezTo>
                      <a:pt x="2454021" y="3629025"/>
                      <a:pt x="2457260" y="3617690"/>
                      <a:pt x="2466023" y="3643598"/>
                    </a:cubicBezTo>
                    <a:cubicBezTo>
                      <a:pt x="2474786" y="3669411"/>
                      <a:pt x="2469737" y="3686651"/>
                      <a:pt x="2494026" y="3691223"/>
                    </a:cubicBezTo>
                    <a:cubicBezTo>
                      <a:pt x="2518220" y="3695700"/>
                      <a:pt x="2508980" y="3683032"/>
                      <a:pt x="2518886" y="3685318"/>
                    </a:cubicBezTo>
                    <a:cubicBezTo>
                      <a:pt x="2528792" y="3687509"/>
                      <a:pt x="2531078" y="3685413"/>
                      <a:pt x="2537651" y="3689890"/>
                    </a:cubicBezTo>
                    <a:cubicBezTo>
                      <a:pt x="2544223" y="3694367"/>
                      <a:pt x="2548604" y="3702082"/>
                      <a:pt x="2555177" y="3698653"/>
                    </a:cubicBezTo>
                    <a:cubicBezTo>
                      <a:pt x="2561844" y="3695319"/>
                      <a:pt x="2562987" y="3694271"/>
                      <a:pt x="2558606" y="3686366"/>
                    </a:cubicBezTo>
                    <a:cubicBezTo>
                      <a:pt x="2554224" y="3678460"/>
                      <a:pt x="2551843" y="3676269"/>
                      <a:pt x="2548604" y="3669506"/>
                    </a:cubicBezTo>
                    <a:cubicBezTo>
                      <a:pt x="2545271" y="3662744"/>
                      <a:pt x="2546413" y="3658362"/>
                      <a:pt x="2539842" y="3656076"/>
                    </a:cubicBezTo>
                    <a:cubicBezTo>
                      <a:pt x="2533269" y="3653790"/>
                      <a:pt x="2529935" y="3656076"/>
                      <a:pt x="2529935" y="3649313"/>
                    </a:cubicBezTo>
                    <a:cubicBezTo>
                      <a:pt x="2529935" y="3642551"/>
                      <a:pt x="2545652" y="3639122"/>
                      <a:pt x="2545652" y="3639122"/>
                    </a:cubicBezTo>
                    <a:lnTo>
                      <a:pt x="2493645" y="3586544"/>
                    </a:lnTo>
                    <a:lnTo>
                      <a:pt x="2488121" y="3589687"/>
                    </a:lnTo>
                    <a:lnTo>
                      <a:pt x="2478405" y="3578543"/>
                    </a:lnTo>
                    <a:lnTo>
                      <a:pt x="2481548" y="3571780"/>
                    </a:lnTo>
                    <a:lnTo>
                      <a:pt x="2473928" y="3563969"/>
                    </a:lnTo>
                    <a:lnTo>
                      <a:pt x="2467261" y="3568446"/>
                    </a:lnTo>
                    <a:lnTo>
                      <a:pt x="2461736" y="3558254"/>
                    </a:lnTo>
                    <a:lnTo>
                      <a:pt x="2458498" y="3548348"/>
                    </a:lnTo>
                    <a:lnTo>
                      <a:pt x="2454117" y="3544919"/>
                    </a:lnTo>
                    <a:lnTo>
                      <a:pt x="2449640" y="3555016"/>
                    </a:lnTo>
                    <a:cubicBezTo>
                      <a:pt x="2449640" y="3555016"/>
                      <a:pt x="2440877" y="3557302"/>
                      <a:pt x="2436495" y="3547205"/>
                    </a:cubicBezTo>
                    <a:cubicBezTo>
                      <a:pt x="2432114" y="3537109"/>
                      <a:pt x="2423351" y="3523583"/>
                      <a:pt x="2423351" y="3523583"/>
                    </a:cubicBezTo>
                    <a:cubicBezTo>
                      <a:pt x="2423351" y="3523583"/>
                      <a:pt x="2381441" y="3485483"/>
                      <a:pt x="2371535" y="3478721"/>
                    </a:cubicBezTo>
                    <a:cubicBezTo>
                      <a:pt x="2361629" y="3471958"/>
                      <a:pt x="2332006" y="3458432"/>
                      <a:pt x="2332006" y="3458432"/>
                    </a:cubicBezTo>
                    <a:cubicBezTo>
                      <a:pt x="2326481" y="3456337"/>
                      <a:pt x="2319147" y="3454718"/>
                      <a:pt x="2312384" y="3454813"/>
                    </a:cubicBezTo>
                    <a:lnTo>
                      <a:pt x="2312384" y="3454813"/>
                    </a:lnTo>
                    <a:close/>
                    <a:moveTo>
                      <a:pt x="2077307" y="3499485"/>
                    </a:moveTo>
                    <a:cubicBezTo>
                      <a:pt x="2071116" y="3499866"/>
                      <a:pt x="2065496" y="3501200"/>
                      <a:pt x="2059496" y="3503390"/>
                    </a:cubicBezTo>
                    <a:cubicBezTo>
                      <a:pt x="2046827" y="3508153"/>
                      <a:pt x="2048923" y="3504533"/>
                      <a:pt x="2031683" y="3506819"/>
                    </a:cubicBezTo>
                    <a:cubicBezTo>
                      <a:pt x="2014442" y="3509201"/>
                      <a:pt x="2020157" y="3513963"/>
                      <a:pt x="2007489" y="3524536"/>
                    </a:cubicBezTo>
                    <a:cubicBezTo>
                      <a:pt x="1994821" y="3535109"/>
                      <a:pt x="1997107" y="3530346"/>
                      <a:pt x="1985582" y="3533870"/>
                    </a:cubicBezTo>
                    <a:cubicBezTo>
                      <a:pt x="1974056" y="3537394"/>
                      <a:pt x="1976247" y="3537394"/>
                      <a:pt x="1976247" y="3550349"/>
                    </a:cubicBezTo>
                    <a:cubicBezTo>
                      <a:pt x="1976247" y="3563303"/>
                      <a:pt x="1978628" y="3559874"/>
                      <a:pt x="1986725" y="3571685"/>
                    </a:cubicBezTo>
                    <a:cubicBezTo>
                      <a:pt x="1994821" y="3583496"/>
                      <a:pt x="1997107" y="3581019"/>
                      <a:pt x="2023586" y="3589306"/>
                    </a:cubicBezTo>
                    <a:cubicBezTo>
                      <a:pt x="2050066" y="3597593"/>
                      <a:pt x="2043208" y="3589306"/>
                      <a:pt x="2065115" y="3589306"/>
                    </a:cubicBezTo>
                    <a:cubicBezTo>
                      <a:pt x="2087023" y="3589306"/>
                      <a:pt x="2126933" y="3554349"/>
                      <a:pt x="2149983" y="3556730"/>
                    </a:cubicBezTo>
                    <a:cubicBezTo>
                      <a:pt x="2152364" y="3556921"/>
                      <a:pt x="2156460" y="3555016"/>
                      <a:pt x="2159032" y="3555968"/>
                    </a:cubicBezTo>
                    <a:lnTo>
                      <a:pt x="2151126" y="3532632"/>
                    </a:lnTo>
                    <a:cubicBezTo>
                      <a:pt x="2149126" y="3531013"/>
                      <a:pt x="2146364" y="3514535"/>
                      <a:pt x="2132743" y="3509105"/>
                    </a:cubicBezTo>
                    <a:cubicBezTo>
                      <a:pt x="2117789" y="3503200"/>
                      <a:pt x="2120360" y="3503390"/>
                      <a:pt x="2101977" y="3501009"/>
                    </a:cubicBezTo>
                    <a:cubicBezTo>
                      <a:pt x="2095024" y="3500152"/>
                      <a:pt x="2089214" y="3499485"/>
                      <a:pt x="2083784" y="3499390"/>
                    </a:cubicBezTo>
                    <a:cubicBezTo>
                      <a:pt x="2081498" y="3499390"/>
                      <a:pt x="2079403" y="3499294"/>
                      <a:pt x="2077307" y="3499390"/>
                    </a:cubicBezTo>
                    <a:close/>
                    <a:moveTo>
                      <a:pt x="3410617" y="3532251"/>
                    </a:moveTo>
                    <a:cubicBezTo>
                      <a:pt x="3410617" y="3532251"/>
                      <a:pt x="3409950" y="3532251"/>
                      <a:pt x="3409664" y="3532442"/>
                    </a:cubicBezTo>
                    <a:cubicBezTo>
                      <a:pt x="3408140" y="3532823"/>
                      <a:pt x="3406617" y="3534251"/>
                      <a:pt x="3405473" y="3537585"/>
                    </a:cubicBezTo>
                    <a:cubicBezTo>
                      <a:pt x="3402235" y="3546443"/>
                      <a:pt x="3399854" y="3549777"/>
                      <a:pt x="3400996" y="3560350"/>
                    </a:cubicBezTo>
                    <a:cubicBezTo>
                      <a:pt x="3402044" y="3570923"/>
                      <a:pt x="3402806" y="3577019"/>
                      <a:pt x="3405473" y="3583115"/>
                    </a:cubicBezTo>
                    <a:cubicBezTo>
                      <a:pt x="3408236" y="3589211"/>
                      <a:pt x="3409188" y="3588734"/>
                      <a:pt x="3411950" y="3595973"/>
                    </a:cubicBezTo>
                    <a:cubicBezTo>
                      <a:pt x="3414617" y="3603212"/>
                      <a:pt x="3414617" y="3604260"/>
                      <a:pt x="3417856" y="3609213"/>
                    </a:cubicBezTo>
                    <a:cubicBezTo>
                      <a:pt x="3421094" y="3614166"/>
                      <a:pt x="3422713" y="3619881"/>
                      <a:pt x="3429286" y="3623215"/>
                    </a:cubicBezTo>
                    <a:cubicBezTo>
                      <a:pt x="3435858" y="3626549"/>
                      <a:pt x="3432525" y="3624358"/>
                      <a:pt x="3439573" y="3627120"/>
                    </a:cubicBezTo>
                    <a:cubicBezTo>
                      <a:pt x="3446621" y="3629882"/>
                      <a:pt x="3439192" y="3630454"/>
                      <a:pt x="3450622" y="3636074"/>
                    </a:cubicBezTo>
                    <a:cubicBezTo>
                      <a:pt x="3462052" y="3641693"/>
                      <a:pt x="3463671" y="3645980"/>
                      <a:pt x="3467957" y="3642169"/>
                    </a:cubicBezTo>
                    <a:cubicBezTo>
                      <a:pt x="3472339" y="3638265"/>
                      <a:pt x="3475673" y="3632264"/>
                      <a:pt x="3475196" y="3625596"/>
                    </a:cubicBezTo>
                    <a:cubicBezTo>
                      <a:pt x="3474625" y="3618929"/>
                      <a:pt x="3470815" y="3605022"/>
                      <a:pt x="3470243" y="3601117"/>
                    </a:cubicBezTo>
                    <a:cubicBezTo>
                      <a:pt x="3469672" y="3597211"/>
                      <a:pt x="3463100" y="3586544"/>
                      <a:pt x="3461480" y="3583210"/>
                    </a:cubicBezTo>
                    <a:cubicBezTo>
                      <a:pt x="3459861" y="3579876"/>
                      <a:pt x="3456527" y="3571590"/>
                      <a:pt x="3453860" y="3568256"/>
                    </a:cubicBezTo>
                    <a:cubicBezTo>
                      <a:pt x="3451098" y="3564922"/>
                      <a:pt x="3445574" y="3564827"/>
                      <a:pt x="3443383" y="3559778"/>
                    </a:cubicBezTo>
                    <a:cubicBezTo>
                      <a:pt x="3441192" y="3554825"/>
                      <a:pt x="3439763" y="3552063"/>
                      <a:pt x="3438716" y="3549301"/>
                    </a:cubicBezTo>
                    <a:cubicBezTo>
                      <a:pt x="3437668" y="3546539"/>
                      <a:pt x="3435382" y="3542824"/>
                      <a:pt x="3431477" y="3542252"/>
                    </a:cubicBezTo>
                    <a:cubicBezTo>
                      <a:pt x="3427667" y="3541681"/>
                      <a:pt x="3422142" y="3538823"/>
                      <a:pt x="3422142" y="3538823"/>
                    </a:cubicBezTo>
                    <a:lnTo>
                      <a:pt x="3417189" y="3534347"/>
                    </a:lnTo>
                    <a:cubicBezTo>
                      <a:pt x="3415379" y="3534061"/>
                      <a:pt x="3413475" y="3532823"/>
                      <a:pt x="3411569" y="3532442"/>
                    </a:cubicBezTo>
                    <a:cubicBezTo>
                      <a:pt x="3411284" y="3532442"/>
                      <a:pt x="3410903" y="3532442"/>
                      <a:pt x="3410617" y="3532442"/>
                    </a:cubicBezTo>
                    <a:close/>
                    <a:moveTo>
                      <a:pt x="3551396" y="3572447"/>
                    </a:moveTo>
                    <a:cubicBezTo>
                      <a:pt x="3550634" y="3572542"/>
                      <a:pt x="3549968" y="3573209"/>
                      <a:pt x="3549682" y="3574352"/>
                    </a:cubicBezTo>
                    <a:cubicBezTo>
                      <a:pt x="3548634" y="3578257"/>
                      <a:pt x="3547015" y="3579305"/>
                      <a:pt x="3552539" y="3582162"/>
                    </a:cubicBezTo>
                    <a:cubicBezTo>
                      <a:pt x="3557969" y="3584924"/>
                      <a:pt x="3559017" y="3584353"/>
                      <a:pt x="3563398" y="3584924"/>
                    </a:cubicBezTo>
                    <a:cubicBezTo>
                      <a:pt x="3567779" y="3585496"/>
                      <a:pt x="3568827" y="3587115"/>
                      <a:pt x="3571018" y="3587686"/>
                    </a:cubicBezTo>
                    <a:cubicBezTo>
                      <a:pt x="3573209" y="3588258"/>
                      <a:pt x="3578162" y="3588830"/>
                      <a:pt x="3576542" y="3592163"/>
                    </a:cubicBezTo>
                    <a:cubicBezTo>
                      <a:pt x="3574923" y="3595497"/>
                      <a:pt x="3572161" y="3592640"/>
                      <a:pt x="3571018" y="3597688"/>
                    </a:cubicBezTo>
                    <a:cubicBezTo>
                      <a:pt x="3569970" y="3602641"/>
                      <a:pt x="3569303" y="3601212"/>
                      <a:pt x="3571970" y="3603498"/>
                    </a:cubicBezTo>
                    <a:cubicBezTo>
                      <a:pt x="3574733" y="3605689"/>
                      <a:pt x="3576542" y="3608927"/>
                      <a:pt x="3578733" y="3606641"/>
                    </a:cubicBezTo>
                    <a:cubicBezTo>
                      <a:pt x="3580924" y="3604451"/>
                      <a:pt x="3580733" y="3602641"/>
                      <a:pt x="3580733" y="3600450"/>
                    </a:cubicBezTo>
                    <a:cubicBezTo>
                      <a:pt x="3580733" y="3598259"/>
                      <a:pt x="3580733" y="3595116"/>
                      <a:pt x="3583400" y="3597307"/>
                    </a:cubicBezTo>
                    <a:cubicBezTo>
                      <a:pt x="3586163" y="3599498"/>
                      <a:pt x="3602069" y="3612261"/>
                      <a:pt x="3602069" y="3612261"/>
                    </a:cubicBezTo>
                    <a:cubicBezTo>
                      <a:pt x="3602069" y="3612261"/>
                      <a:pt x="3604832" y="3613214"/>
                      <a:pt x="3602641" y="3617119"/>
                    </a:cubicBezTo>
                    <a:cubicBezTo>
                      <a:pt x="3600450" y="3621024"/>
                      <a:pt x="3600450" y="3625025"/>
                      <a:pt x="3595021" y="3631692"/>
                    </a:cubicBezTo>
                    <a:cubicBezTo>
                      <a:pt x="3589592" y="3638360"/>
                      <a:pt x="3589687" y="3638931"/>
                      <a:pt x="3581495" y="3643979"/>
                    </a:cubicBezTo>
                    <a:cubicBezTo>
                      <a:pt x="3573304" y="3649028"/>
                      <a:pt x="3570446" y="3649504"/>
                      <a:pt x="3569303" y="3653885"/>
                    </a:cubicBezTo>
                    <a:cubicBezTo>
                      <a:pt x="3568256" y="3658362"/>
                      <a:pt x="3565112" y="3659029"/>
                      <a:pt x="3569970" y="3661219"/>
                    </a:cubicBezTo>
                    <a:cubicBezTo>
                      <a:pt x="3574828" y="3663410"/>
                      <a:pt x="3577114" y="3665125"/>
                      <a:pt x="3582543" y="3660648"/>
                    </a:cubicBezTo>
                    <a:cubicBezTo>
                      <a:pt x="3587972" y="3656171"/>
                      <a:pt x="3586163" y="3655028"/>
                      <a:pt x="3589496" y="3649980"/>
                    </a:cubicBezTo>
                    <a:cubicBezTo>
                      <a:pt x="3592735" y="3644932"/>
                      <a:pt x="3590639" y="3645123"/>
                      <a:pt x="3595592" y="3641789"/>
                    </a:cubicBezTo>
                    <a:cubicBezTo>
                      <a:pt x="3598069" y="3640074"/>
                      <a:pt x="3597307" y="3640074"/>
                      <a:pt x="3597021" y="3640074"/>
                    </a:cubicBezTo>
                    <a:cubicBezTo>
                      <a:pt x="3597212" y="3639979"/>
                      <a:pt x="3598069" y="3639407"/>
                      <a:pt x="3600545" y="3638360"/>
                    </a:cubicBezTo>
                    <a:cubicBezTo>
                      <a:pt x="3608165" y="3635026"/>
                      <a:pt x="3607022" y="3636740"/>
                      <a:pt x="3610832" y="3631121"/>
                    </a:cubicBezTo>
                    <a:cubicBezTo>
                      <a:pt x="3614642" y="3625596"/>
                      <a:pt x="3615214" y="3623310"/>
                      <a:pt x="3615214" y="3623310"/>
                    </a:cubicBezTo>
                    <a:cubicBezTo>
                      <a:pt x="3615214" y="3623310"/>
                      <a:pt x="3615595" y="3618357"/>
                      <a:pt x="3615595" y="3615500"/>
                    </a:cubicBezTo>
                    <a:cubicBezTo>
                      <a:pt x="3615595" y="3612642"/>
                      <a:pt x="3612452" y="3609308"/>
                      <a:pt x="3612452" y="3609308"/>
                    </a:cubicBezTo>
                    <a:cubicBezTo>
                      <a:pt x="3609213" y="3608737"/>
                      <a:pt x="3606356" y="3610070"/>
                      <a:pt x="3606356" y="3610070"/>
                    </a:cubicBezTo>
                    <a:lnTo>
                      <a:pt x="3589401" y="3596640"/>
                    </a:lnTo>
                    <a:cubicBezTo>
                      <a:pt x="3589401" y="3596640"/>
                      <a:pt x="3591020" y="3594926"/>
                      <a:pt x="3589401" y="3591020"/>
                    </a:cubicBezTo>
                    <a:cubicBezTo>
                      <a:pt x="3587782" y="3587115"/>
                      <a:pt x="3581781" y="3583210"/>
                      <a:pt x="3581781" y="3583210"/>
                    </a:cubicBezTo>
                    <a:cubicBezTo>
                      <a:pt x="3581781" y="3583210"/>
                      <a:pt x="3574161" y="3578828"/>
                      <a:pt x="3569208" y="3576542"/>
                    </a:cubicBezTo>
                    <a:cubicBezTo>
                      <a:pt x="3564255" y="3574352"/>
                      <a:pt x="3561017" y="3574352"/>
                      <a:pt x="3558350" y="3574352"/>
                    </a:cubicBezTo>
                    <a:cubicBezTo>
                      <a:pt x="3556635" y="3574352"/>
                      <a:pt x="3554063" y="3572637"/>
                      <a:pt x="3552158" y="3572447"/>
                    </a:cubicBezTo>
                    <a:cubicBezTo>
                      <a:pt x="3551873" y="3572447"/>
                      <a:pt x="3551587" y="3572447"/>
                      <a:pt x="3551301" y="3572447"/>
                    </a:cubicBezTo>
                    <a:close/>
                    <a:moveTo>
                      <a:pt x="3711797" y="3579495"/>
                    </a:moveTo>
                    <a:cubicBezTo>
                      <a:pt x="3709130" y="3579590"/>
                      <a:pt x="3706844" y="3579781"/>
                      <a:pt x="3705130" y="3579781"/>
                    </a:cubicBezTo>
                    <a:cubicBezTo>
                      <a:pt x="3698558" y="3579781"/>
                      <a:pt x="3679984" y="3583686"/>
                      <a:pt x="3671792" y="3583686"/>
                    </a:cubicBezTo>
                    <a:cubicBezTo>
                      <a:pt x="3663601" y="3583686"/>
                      <a:pt x="3641312" y="3587591"/>
                      <a:pt x="3639217" y="3587591"/>
                    </a:cubicBezTo>
                    <a:cubicBezTo>
                      <a:pt x="3637121" y="3587591"/>
                      <a:pt x="3634835" y="3589782"/>
                      <a:pt x="3633692" y="3593687"/>
                    </a:cubicBezTo>
                    <a:cubicBezTo>
                      <a:pt x="3632645" y="3597593"/>
                      <a:pt x="3635312" y="3599402"/>
                      <a:pt x="3637502" y="3601022"/>
                    </a:cubicBezTo>
                    <a:cubicBezTo>
                      <a:pt x="3639693" y="3602736"/>
                      <a:pt x="3639693" y="3603117"/>
                      <a:pt x="3640741" y="3605308"/>
                    </a:cubicBezTo>
                    <a:cubicBezTo>
                      <a:pt x="3641788" y="3607499"/>
                      <a:pt x="3639598" y="3609308"/>
                      <a:pt x="3638455" y="3611499"/>
                    </a:cubicBezTo>
                    <a:cubicBezTo>
                      <a:pt x="3637407" y="3613690"/>
                      <a:pt x="3630835" y="3613118"/>
                      <a:pt x="3630835" y="3613118"/>
                    </a:cubicBezTo>
                    <a:cubicBezTo>
                      <a:pt x="3630835" y="3613118"/>
                      <a:pt x="3623977" y="3613690"/>
                      <a:pt x="3621215" y="3614261"/>
                    </a:cubicBezTo>
                    <a:cubicBezTo>
                      <a:pt x="3618452" y="3614833"/>
                      <a:pt x="3617786" y="3618262"/>
                      <a:pt x="3617786" y="3620453"/>
                    </a:cubicBezTo>
                    <a:cubicBezTo>
                      <a:pt x="3617786" y="3622643"/>
                      <a:pt x="3617214" y="3627120"/>
                      <a:pt x="3616643" y="3631597"/>
                    </a:cubicBezTo>
                    <a:cubicBezTo>
                      <a:pt x="3616071" y="3636074"/>
                      <a:pt x="3617309" y="3638169"/>
                      <a:pt x="3621119" y="3640931"/>
                    </a:cubicBezTo>
                    <a:cubicBezTo>
                      <a:pt x="3624929" y="3643694"/>
                      <a:pt x="3629311" y="3640931"/>
                      <a:pt x="3632550" y="3640931"/>
                    </a:cubicBezTo>
                    <a:cubicBezTo>
                      <a:pt x="3635788" y="3640931"/>
                      <a:pt x="3640550" y="3640931"/>
                      <a:pt x="3644456" y="3642074"/>
                    </a:cubicBezTo>
                    <a:cubicBezTo>
                      <a:pt x="3648266" y="3643217"/>
                      <a:pt x="3647694" y="3650456"/>
                      <a:pt x="3648266" y="3653790"/>
                    </a:cubicBezTo>
                    <a:cubicBezTo>
                      <a:pt x="3648837" y="3657124"/>
                      <a:pt x="3649980" y="3660077"/>
                      <a:pt x="3649409" y="3662267"/>
                    </a:cubicBezTo>
                    <a:cubicBezTo>
                      <a:pt x="3648837" y="3664458"/>
                      <a:pt x="3646742" y="3666649"/>
                      <a:pt x="3642360" y="3668363"/>
                    </a:cubicBezTo>
                    <a:cubicBezTo>
                      <a:pt x="3637979" y="3670078"/>
                      <a:pt x="3639026" y="3666077"/>
                      <a:pt x="3635693" y="3662744"/>
                    </a:cubicBezTo>
                    <a:cubicBezTo>
                      <a:pt x="3632454" y="3659410"/>
                      <a:pt x="3632454" y="3659600"/>
                      <a:pt x="3629787" y="3659600"/>
                    </a:cubicBezTo>
                    <a:cubicBezTo>
                      <a:pt x="3627120" y="3659600"/>
                      <a:pt x="3625882" y="3661124"/>
                      <a:pt x="3624263" y="3663315"/>
                    </a:cubicBezTo>
                    <a:cubicBezTo>
                      <a:pt x="3622643" y="3665506"/>
                      <a:pt x="3621500" y="3665506"/>
                      <a:pt x="3621977" y="3670554"/>
                    </a:cubicBezTo>
                    <a:cubicBezTo>
                      <a:pt x="3622548" y="3675602"/>
                      <a:pt x="3630740" y="3677888"/>
                      <a:pt x="3634550" y="3680651"/>
                    </a:cubicBezTo>
                    <a:cubicBezTo>
                      <a:pt x="3638360" y="3683413"/>
                      <a:pt x="3642836" y="3692938"/>
                      <a:pt x="3642836" y="3692938"/>
                    </a:cubicBezTo>
                    <a:cubicBezTo>
                      <a:pt x="3642836" y="3692938"/>
                      <a:pt x="3644360" y="3698462"/>
                      <a:pt x="3644932" y="3704654"/>
                    </a:cubicBezTo>
                    <a:cubicBezTo>
                      <a:pt x="3645503" y="3710750"/>
                      <a:pt x="3648742" y="3710750"/>
                      <a:pt x="3652552" y="3715798"/>
                    </a:cubicBezTo>
                    <a:cubicBezTo>
                      <a:pt x="3656362" y="3720846"/>
                      <a:pt x="3655886" y="3724180"/>
                      <a:pt x="3657505" y="3728085"/>
                    </a:cubicBezTo>
                    <a:cubicBezTo>
                      <a:pt x="3659124" y="3731990"/>
                      <a:pt x="3666649" y="3739134"/>
                      <a:pt x="3669411" y="3741896"/>
                    </a:cubicBezTo>
                    <a:cubicBezTo>
                      <a:pt x="3672173" y="3744659"/>
                      <a:pt x="3679984" y="3755327"/>
                      <a:pt x="3686461" y="3760375"/>
                    </a:cubicBezTo>
                    <a:cubicBezTo>
                      <a:pt x="3693033" y="3765328"/>
                      <a:pt x="3711035" y="3780949"/>
                      <a:pt x="3718655" y="3784854"/>
                    </a:cubicBezTo>
                    <a:cubicBezTo>
                      <a:pt x="3726275" y="3788759"/>
                      <a:pt x="3729514" y="3784378"/>
                      <a:pt x="3732752" y="3778186"/>
                    </a:cubicBezTo>
                    <a:cubicBezTo>
                      <a:pt x="3735991" y="3772091"/>
                      <a:pt x="3743039" y="3764756"/>
                      <a:pt x="3747421" y="3756946"/>
                    </a:cubicBezTo>
                    <a:cubicBezTo>
                      <a:pt x="3751802" y="3749135"/>
                      <a:pt x="3747897" y="3746944"/>
                      <a:pt x="3741325" y="3740182"/>
                    </a:cubicBezTo>
                    <a:cubicBezTo>
                      <a:pt x="3734753" y="3733515"/>
                      <a:pt x="3736372" y="3735610"/>
                      <a:pt x="3733133" y="3728942"/>
                    </a:cubicBezTo>
                    <a:cubicBezTo>
                      <a:pt x="3729895" y="3722275"/>
                      <a:pt x="3715703" y="3712369"/>
                      <a:pt x="3710845" y="3705701"/>
                    </a:cubicBezTo>
                    <a:cubicBezTo>
                      <a:pt x="3705987" y="3699034"/>
                      <a:pt x="3703892" y="3692748"/>
                      <a:pt x="3702272" y="3688271"/>
                    </a:cubicBezTo>
                    <a:cubicBezTo>
                      <a:pt x="3700653" y="3683794"/>
                      <a:pt x="3701129" y="3679984"/>
                      <a:pt x="3699415" y="3669411"/>
                    </a:cubicBezTo>
                    <a:cubicBezTo>
                      <a:pt x="3697796" y="3658838"/>
                      <a:pt x="3696748" y="3665030"/>
                      <a:pt x="3692938" y="3663886"/>
                    </a:cubicBezTo>
                    <a:cubicBezTo>
                      <a:pt x="3689128" y="3662744"/>
                      <a:pt x="3687032" y="3663886"/>
                      <a:pt x="3682651" y="3663886"/>
                    </a:cubicBezTo>
                    <a:cubicBezTo>
                      <a:pt x="3678269" y="3663886"/>
                      <a:pt x="3676555" y="3662648"/>
                      <a:pt x="3672745" y="3660458"/>
                    </a:cubicBezTo>
                    <a:cubicBezTo>
                      <a:pt x="3668935" y="3658267"/>
                      <a:pt x="3666649" y="3649409"/>
                      <a:pt x="3666649" y="3643313"/>
                    </a:cubicBezTo>
                    <a:cubicBezTo>
                      <a:pt x="3666649" y="3643313"/>
                      <a:pt x="3667792" y="3637121"/>
                      <a:pt x="3667792" y="3634359"/>
                    </a:cubicBezTo>
                    <a:cubicBezTo>
                      <a:pt x="3667792" y="3631597"/>
                      <a:pt x="3670459" y="3629311"/>
                      <a:pt x="3673126" y="3625977"/>
                    </a:cubicBezTo>
                    <a:cubicBezTo>
                      <a:pt x="3675888" y="3622643"/>
                      <a:pt x="3677031" y="3625977"/>
                      <a:pt x="3684175" y="3628263"/>
                    </a:cubicBezTo>
                    <a:cubicBezTo>
                      <a:pt x="3691223" y="3630454"/>
                      <a:pt x="3690176" y="3627692"/>
                      <a:pt x="3698843" y="3624929"/>
                    </a:cubicBezTo>
                    <a:cubicBezTo>
                      <a:pt x="3707511" y="3622167"/>
                      <a:pt x="3709226" y="3620453"/>
                      <a:pt x="3717893" y="3612071"/>
                    </a:cubicBezTo>
                    <a:cubicBezTo>
                      <a:pt x="3726656" y="3603689"/>
                      <a:pt x="3727228" y="3602069"/>
                      <a:pt x="3728942" y="3589306"/>
                    </a:cubicBezTo>
                    <a:cubicBezTo>
                      <a:pt x="3730181" y="3579686"/>
                      <a:pt x="3719608" y="3579114"/>
                      <a:pt x="3711607" y="3579495"/>
                    </a:cubicBezTo>
                    <a:close/>
                    <a:moveTo>
                      <a:pt x="2097024" y="3637026"/>
                    </a:moveTo>
                    <a:cubicBezTo>
                      <a:pt x="2094833" y="3637121"/>
                      <a:pt x="2092738" y="3637693"/>
                      <a:pt x="2091500" y="3638645"/>
                    </a:cubicBezTo>
                    <a:cubicBezTo>
                      <a:pt x="2086451" y="3642265"/>
                      <a:pt x="2076450" y="3642169"/>
                      <a:pt x="2083213" y="3654838"/>
                    </a:cubicBezTo>
                    <a:cubicBezTo>
                      <a:pt x="2089976" y="3667506"/>
                      <a:pt x="2094833" y="3660458"/>
                      <a:pt x="2099882" y="3676745"/>
                    </a:cubicBezTo>
                    <a:cubicBezTo>
                      <a:pt x="2104930" y="3693033"/>
                      <a:pt x="2091595" y="3700367"/>
                      <a:pt x="2105120" y="3711226"/>
                    </a:cubicBezTo>
                    <a:cubicBezTo>
                      <a:pt x="2118646" y="3722084"/>
                      <a:pt x="2116836" y="3732943"/>
                      <a:pt x="2132076" y="3723894"/>
                    </a:cubicBezTo>
                    <a:cubicBezTo>
                      <a:pt x="2147316" y="3714845"/>
                      <a:pt x="2143792" y="3705701"/>
                      <a:pt x="2143792" y="3705701"/>
                    </a:cubicBezTo>
                    <a:cubicBezTo>
                      <a:pt x="2143792" y="3705701"/>
                      <a:pt x="2130362" y="3702082"/>
                      <a:pt x="2130362" y="3693033"/>
                    </a:cubicBezTo>
                    <a:cubicBezTo>
                      <a:pt x="2130362" y="3683984"/>
                      <a:pt x="2123599" y="3680365"/>
                      <a:pt x="2130362" y="3676745"/>
                    </a:cubicBezTo>
                    <a:cubicBezTo>
                      <a:pt x="2137124" y="3673126"/>
                      <a:pt x="2140553" y="3674936"/>
                      <a:pt x="2138839" y="3664077"/>
                    </a:cubicBezTo>
                    <a:cubicBezTo>
                      <a:pt x="2137124" y="3653219"/>
                      <a:pt x="2133886" y="3644075"/>
                      <a:pt x="2133886" y="3644075"/>
                    </a:cubicBezTo>
                    <a:lnTo>
                      <a:pt x="2116836" y="3640455"/>
                    </a:lnTo>
                    <a:cubicBezTo>
                      <a:pt x="2113026" y="3639026"/>
                      <a:pt x="2103692" y="3636740"/>
                      <a:pt x="2097024" y="3637121"/>
                    </a:cubicBezTo>
                    <a:close/>
                    <a:moveTo>
                      <a:pt x="2166080" y="3665315"/>
                    </a:moveTo>
                    <a:cubicBezTo>
                      <a:pt x="2166080" y="3665315"/>
                      <a:pt x="2157508" y="3674269"/>
                      <a:pt x="2162556" y="3681508"/>
                    </a:cubicBezTo>
                    <a:cubicBezTo>
                      <a:pt x="2167604" y="3688747"/>
                      <a:pt x="2167700" y="3683413"/>
                      <a:pt x="2172748" y="3696081"/>
                    </a:cubicBezTo>
                    <a:cubicBezTo>
                      <a:pt x="2177796" y="3708749"/>
                      <a:pt x="2182940" y="3712369"/>
                      <a:pt x="2189702" y="3712369"/>
                    </a:cubicBezTo>
                    <a:lnTo>
                      <a:pt x="2196465" y="3712369"/>
                    </a:lnTo>
                    <a:lnTo>
                      <a:pt x="2204752" y="3694176"/>
                    </a:lnTo>
                    <a:cubicBezTo>
                      <a:pt x="2208943" y="3684937"/>
                      <a:pt x="2179511" y="3670649"/>
                      <a:pt x="2179511" y="3670649"/>
                    </a:cubicBezTo>
                    <a:lnTo>
                      <a:pt x="2166080" y="3665315"/>
                    </a:lnTo>
                    <a:close/>
                    <a:moveTo>
                      <a:pt x="3741611" y="3671697"/>
                    </a:moveTo>
                    <a:cubicBezTo>
                      <a:pt x="3736753" y="3671697"/>
                      <a:pt x="3730276" y="3673888"/>
                      <a:pt x="3730276" y="3678936"/>
                    </a:cubicBezTo>
                    <a:cubicBezTo>
                      <a:pt x="3730276" y="3683984"/>
                      <a:pt x="3737801" y="3694557"/>
                      <a:pt x="3742658" y="3699510"/>
                    </a:cubicBezTo>
                    <a:cubicBezTo>
                      <a:pt x="3747611" y="3704463"/>
                      <a:pt x="3764471" y="3721323"/>
                      <a:pt x="3767804" y="3725704"/>
                    </a:cubicBezTo>
                    <a:cubicBezTo>
                      <a:pt x="3771043" y="3730181"/>
                      <a:pt x="3773710" y="3734562"/>
                      <a:pt x="3777520" y="3737419"/>
                    </a:cubicBezTo>
                    <a:cubicBezTo>
                      <a:pt x="3781330" y="3740182"/>
                      <a:pt x="3784568" y="3743611"/>
                      <a:pt x="3788950" y="3739706"/>
                    </a:cubicBezTo>
                    <a:cubicBezTo>
                      <a:pt x="3793331" y="3735800"/>
                      <a:pt x="3798856" y="3732467"/>
                      <a:pt x="3798856" y="3726847"/>
                    </a:cubicBezTo>
                    <a:cubicBezTo>
                      <a:pt x="3798856" y="3721227"/>
                      <a:pt x="3792188" y="3711131"/>
                      <a:pt x="3791617" y="3707225"/>
                    </a:cubicBezTo>
                    <a:cubicBezTo>
                      <a:pt x="3791045" y="3703320"/>
                      <a:pt x="3790664" y="3697700"/>
                      <a:pt x="3786854" y="3693224"/>
                    </a:cubicBezTo>
                    <a:cubicBezTo>
                      <a:pt x="3783044" y="3688747"/>
                      <a:pt x="3780758" y="3684365"/>
                      <a:pt x="3773710" y="3680555"/>
                    </a:cubicBezTo>
                    <a:cubicBezTo>
                      <a:pt x="3766661" y="3676650"/>
                      <a:pt x="3762280" y="3673316"/>
                      <a:pt x="3757898" y="3672745"/>
                    </a:cubicBezTo>
                    <a:cubicBezTo>
                      <a:pt x="3753517" y="3672173"/>
                      <a:pt x="3749707" y="3671602"/>
                      <a:pt x="3741515" y="3671602"/>
                    </a:cubicBezTo>
                    <a:close/>
                    <a:moveTo>
                      <a:pt x="3543205" y="3702558"/>
                    </a:moveTo>
                    <a:cubicBezTo>
                      <a:pt x="3541014" y="3702558"/>
                      <a:pt x="3539014" y="3703511"/>
                      <a:pt x="3536252" y="3705130"/>
                    </a:cubicBezTo>
                    <a:cubicBezTo>
                      <a:pt x="3530822" y="3708464"/>
                      <a:pt x="3520345" y="3712274"/>
                      <a:pt x="3517583" y="3716274"/>
                    </a:cubicBezTo>
                    <a:cubicBezTo>
                      <a:pt x="3514820" y="3720179"/>
                      <a:pt x="3512630" y="3723990"/>
                      <a:pt x="3515296" y="3727418"/>
                    </a:cubicBezTo>
                    <a:cubicBezTo>
                      <a:pt x="3518059" y="3730752"/>
                      <a:pt x="3528917" y="3737896"/>
                      <a:pt x="3533204" y="3741801"/>
                    </a:cubicBezTo>
                    <a:cubicBezTo>
                      <a:pt x="3537585" y="3745706"/>
                      <a:pt x="3561207" y="3770948"/>
                      <a:pt x="3566065" y="3779330"/>
                    </a:cubicBezTo>
                    <a:cubicBezTo>
                      <a:pt x="3571018" y="3787711"/>
                      <a:pt x="3591592" y="3814191"/>
                      <a:pt x="3597593" y="3822002"/>
                    </a:cubicBezTo>
                    <a:cubicBezTo>
                      <a:pt x="3603593" y="3829812"/>
                      <a:pt x="3608546" y="3829241"/>
                      <a:pt x="3615119" y="3837527"/>
                    </a:cubicBezTo>
                    <a:cubicBezTo>
                      <a:pt x="3621691" y="3845909"/>
                      <a:pt x="3625501" y="3850958"/>
                      <a:pt x="3632645" y="3850958"/>
                    </a:cubicBezTo>
                    <a:cubicBezTo>
                      <a:pt x="3639788" y="3850958"/>
                      <a:pt x="3640265" y="3849338"/>
                      <a:pt x="3640265" y="3841052"/>
                    </a:cubicBezTo>
                    <a:cubicBezTo>
                      <a:pt x="3640265" y="3832765"/>
                      <a:pt x="3635883" y="3822668"/>
                      <a:pt x="3635312" y="3808762"/>
                    </a:cubicBezTo>
                    <a:cubicBezTo>
                      <a:pt x="3634740" y="3794855"/>
                      <a:pt x="3632454" y="3793046"/>
                      <a:pt x="3634645" y="3785235"/>
                    </a:cubicBezTo>
                    <a:cubicBezTo>
                      <a:pt x="3636836" y="3777425"/>
                      <a:pt x="3636359" y="3762566"/>
                      <a:pt x="3635788" y="3757517"/>
                    </a:cubicBezTo>
                    <a:cubicBezTo>
                      <a:pt x="3635217" y="3752469"/>
                      <a:pt x="3634740" y="3748183"/>
                      <a:pt x="3630454" y="3743706"/>
                    </a:cubicBezTo>
                    <a:cubicBezTo>
                      <a:pt x="3626072" y="3739229"/>
                      <a:pt x="3618929" y="3737991"/>
                      <a:pt x="3615595" y="3735229"/>
                    </a:cubicBezTo>
                    <a:cubicBezTo>
                      <a:pt x="3612356" y="3732467"/>
                      <a:pt x="3597688" y="3726371"/>
                      <a:pt x="3595021" y="3725323"/>
                    </a:cubicBezTo>
                    <a:cubicBezTo>
                      <a:pt x="3592259" y="3724180"/>
                      <a:pt x="3591306" y="3721418"/>
                      <a:pt x="3586448" y="3721418"/>
                    </a:cubicBezTo>
                    <a:cubicBezTo>
                      <a:pt x="3581591" y="3721418"/>
                      <a:pt x="3579876" y="3722465"/>
                      <a:pt x="3575018" y="3719132"/>
                    </a:cubicBezTo>
                    <a:cubicBezTo>
                      <a:pt x="3570161" y="3715798"/>
                      <a:pt x="3565588" y="3713036"/>
                      <a:pt x="3563398" y="3711321"/>
                    </a:cubicBezTo>
                    <a:cubicBezTo>
                      <a:pt x="3561207" y="3709607"/>
                      <a:pt x="3550444" y="3704082"/>
                      <a:pt x="3550444" y="3704082"/>
                    </a:cubicBezTo>
                    <a:cubicBezTo>
                      <a:pt x="3547682" y="3703225"/>
                      <a:pt x="3545396" y="3702558"/>
                      <a:pt x="3543205" y="3702653"/>
                    </a:cubicBezTo>
                    <a:close/>
                    <a:moveTo>
                      <a:pt x="1493234" y="3797427"/>
                    </a:moveTo>
                    <a:cubicBezTo>
                      <a:pt x="1492472" y="3797523"/>
                      <a:pt x="1491710" y="3798189"/>
                      <a:pt x="1491139" y="3799713"/>
                    </a:cubicBezTo>
                    <a:lnTo>
                      <a:pt x="1489139" y="3806095"/>
                    </a:lnTo>
                    <a:lnTo>
                      <a:pt x="1495615" y="3818668"/>
                    </a:lnTo>
                    <a:lnTo>
                      <a:pt x="1506474" y="3819811"/>
                    </a:lnTo>
                    <a:lnTo>
                      <a:pt x="1507617" y="3812000"/>
                    </a:lnTo>
                    <a:lnTo>
                      <a:pt x="1502093" y="3806095"/>
                    </a:lnTo>
                    <a:cubicBezTo>
                      <a:pt x="1498854" y="3802190"/>
                      <a:pt x="1495520" y="3797141"/>
                      <a:pt x="1493234" y="3797427"/>
                    </a:cubicBezTo>
                    <a:close/>
                    <a:moveTo>
                      <a:pt x="2260664" y="3798284"/>
                    </a:moveTo>
                    <a:cubicBezTo>
                      <a:pt x="2258282" y="3799427"/>
                      <a:pt x="2261140" y="3809143"/>
                      <a:pt x="2260378" y="3814572"/>
                    </a:cubicBezTo>
                    <a:cubicBezTo>
                      <a:pt x="2259521" y="3820382"/>
                      <a:pt x="2261140" y="3822859"/>
                      <a:pt x="2263616" y="3832003"/>
                    </a:cubicBezTo>
                    <a:cubicBezTo>
                      <a:pt x="2266093" y="3841147"/>
                      <a:pt x="2264569" y="3838766"/>
                      <a:pt x="2267045" y="3845433"/>
                    </a:cubicBezTo>
                    <a:cubicBezTo>
                      <a:pt x="2269522" y="3852101"/>
                      <a:pt x="2269427" y="3853053"/>
                      <a:pt x="2268569" y="3856387"/>
                    </a:cubicBezTo>
                    <a:cubicBezTo>
                      <a:pt x="2267807" y="3859721"/>
                      <a:pt x="2270855" y="3876675"/>
                      <a:pt x="2268474" y="3885057"/>
                    </a:cubicBezTo>
                    <a:cubicBezTo>
                      <a:pt x="2265998" y="3893439"/>
                      <a:pt x="2263902" y="3901726"/>
                      <a:pt x="2261426" y="3909251"/>
                    </a:cubicBezTo>
                    <a:cubicBezTo>
                      <a:pt x="2258949" y="3916775"/>
                      <a:pt x="2255234" y="3915442"/>
                      <a:pt x="2251996" y="3922967"/>
                    </a:cubicBezTo>
                    <a:cubicBezTo>
                      <a:pt x="2248757" y="3930491"/>
                      <a:pt x="2249043" y="3929634"/>
                      <a:pt x="2249043" y="3939731"/>
                    </a:cubicBezTo>
                    <a:cubicBezTo>
                      <a:pt x="2249043" y="3949827"/>
                      <a:pt x="2246757" y="3963638"/>
                      <a:pt x="2249996" y="3977831"/>
                    </a:cubicBezTo>
                    <a:cubicBezTo>
                      <a:pt x="2253234" y="3992023"/>
                      <a:pt x="2252282" y="3986594"/>
                      <a:pt x="2253139" y="3993261"/>
                    </a:cubicBezTo>
                    <a:cubicBezTo>
                      <a:pt x="2253996" y="3999929"/>
                      <a:pt x="2259616" y="4018312"/>
                      <a:pt x="2259616" y="4018312"/>
                    </a:cubicBezTo>
                    <a:lnTo>
                      <a:pt x="2265521" y="4047268"/>
                    </a:lnTo>
                    <a:lnTo>
                      <a:pt x="2280952" y="4068318"/>
                    </a:lnTo>
                    <a:lnTo>
                      <a:pt x="2287619" y="4090797"/>
                    </a:lnTo>
                    <a:cubicBezTo>
                      <a:pt x="2287619" y="4090797"/>
                      <a:pt x="2277332" y="4097846"/>
                      <a:pt x="2278190" y="4104799"/>
                    </a:cubicBezTo>
                    <a:cubicBezTo>
                      <a:pt x="2278666" y="4108609"/>
                      <a:pt x="2277142" y="4130231"/>
                      <a:pt x="2280476" y="4135946"/>
                    </a:cubicBezTo>
                    <a:cubicBezTo>
                      <a:pt x="2285619" y="4144994"/>
                      <a:pt x="2296478" y="4138517"/>
                      <a:pt x="2298287" y="4143280"/>
                    </a:cubicBezTo>
                    <a:cubicBezTo>
                      <a:pt x="2303240" y="4156615"/>
                      <a:pt x="2314575" y="4169474"/>
                      <a:pt x="2323529" y="4175284"/>
                    </a:cubicBezTo>
                    <a:cubicBezTo>
                      <a:pt x="2332482" y="4181094"/>
                      <a:pt x="2337054" y="4180618"/>
                      <a:pt x="2339531" y="4183952"/>
                    </a:cubicBezTo>
                    <a:cubicBezTo>
                      <a:pt x="2342007" y="4187285"/>
                      <a:pt x="2345817" y="4188333"/>
                      <a:pt x="2351532" y="4198335"/>
                    </a:cubicBezTo>
                    <a:cubicBezTo>
                      <a:pt x="2357247" y="4208336"/>
                      <a:pt x="2369534" y="4216718"/>
                      <a:pt x="2378488" y="4221671"/>
                    </a:cubicBezTo>
                    <a:cubicBezTo>
                      <a:pt x="2387537" y="4226719"/>
                      <a:pt x="2388203" y="4230053"/>
                      <a:pt x="2410301" y="4230910"/>
                    </a:cubicBezTo>
                    <a:cubicBezTo>
                      <a:pt x="2432399" y="4231767"/>
                      <a:pt x="2452688" y="4211193"/>
                      <a:pt x="2462594" y="4207002"/>
                    </a:cubicBezTo>
                    <a:cubicBezTo>
                      <a:pt x="2472404" y="4202811"/>
                      <a:pt x="2472500" y="4199382"/>
                      <a:pt x="2489740" y="4180142"/>
                    </a:cubicBezTo>
                    <a:cubicBezTo>
                      <a:pt x="2506885" y="4160901"/>
                      <a:pt x="2504313" y="4162616"/>
                      <a:pt x="2504313" y="4143375"/>
                    </a:cubicBezTo>
                    <a:cubicBezTo>
                      <a:pt x="2504313" y="4124135"/>
                      <a:pt x="2507742" y="4114133"/>
                      <a:pt x="2513457" y="4102418"/>
                    </a:cubicBezTo>
                    <a:cubicBezTo>
                      <a:pt x="2519172" y="4090702"/>
                      <a:pt x="2537079" y="4088416"/>
                      <a:pt x="2554224" y="4082510"/>
                    </a:cubicBezTo>
                    <a:cubicBezTo>
                      <a:pt x="2591848" y="4068318"/>
                      <a:pt x="2595563" y="4043744"/>
                      <a:pt x="2600420" y="4008692"/>
                    </a:cubicBezTo>
                    <a:cubicBezTo>
                      <a:pt x="2600420" y="4008692"/>
                      <a:pt x="2602040" y="3963829"/>
                      <a:pt x="2599563" y="3956399"/>
                    </a:cubicBezTo>
                    <a:cubicBezTo>
                      <a:pt x="2597087" y="3948875"/>
                      <a:pt x="2596992" y="3936397"/>
                      <a:pt x="2595372" y="3926396"/>
                    </a:cubicBezTo>
                    <a:cubicBezTo>
                      <a:pt x="2593753" y="3916394"/>
                      <a:pt x="2574703" y="3907917"/>
                      <a:pt x="2568131" y="3900488"/>
                    </a:cubicBezTo>
                    <a:cubicBezTo>
                      <a:pt x="2561558" y="3892963"/>
                      <a:pt x="2550224" y="3894677"/>
                      <a:pt x="2539651" y="3893820"/>
                    </a:cubicBezTo>
                    <a:cubicBezTo>
                      <a:pt x="2528983" y="3892963"/>
                      <a:pt x="2518410" y="3893725"/>
                      <a:pt x="2501265" y="3897821"/>
                    </a:cubicBezTo>
                    <a:cubicBezTo>
                      <a:pt x="2484120" y="3902011"/>
                      <a:pt x="2490597" y="3900392"/>
                      <a:pt x="2479929" y="3907917"/>
                    </a:cubicBezTo>
                    <a:cubicBezTo>
                      <a:pt x="2469261" y="3915442"/>
                      <a:pt x="2447258" y="3927158"/>
                      <a:pt x="2437448" y="3932968"/>
                    </a:cubicBezTo>
                    <a:cubicBezTo>
                      <a:pt x="2427637" y="3938778"/>
                      <a:pt x="2422970" y="3935540"/>
                      <a:pt x="2409920" y="3934682"/>
                    </a:cubicBezTo>
                    <a:cubicBezTo>
                      <a:pt x="2396871" y="3933825"/>
                      <a:pt x="2382679" y="3922586"/>
                      <a:pt x="2382679" y="3922586"/>
                    </a:cubicBezTo>
                    <a:lnTo>
                      <a:pt x="2365343" y="3918585"/>
                    </a:lnTo>
                    <a:cubicBezTo>
                      <a:pt x="2365343" y="3918585"/>
                      <a:pt x="2348008" y="3908393"/>
                      <a:pt x="2344769" y="3901726"/>
                    </a:cubicBezTo>
                    <a:cubicBezTo>
                      <a:pt x="2341531" y="3895058"/>
                      <a:pt x="2321624" y="3899059"/>
                      <a:pt x="2317528" y="3896582"/>
                    </a:cubicBezTo>
                    <a:cubicBezTo>
                      <a:pt x="2313432" y="3894106"/>
                      <a:pt x="2311051" y="3883343"/>
                      <a:pt x="2311051" y="3883343"/>
                    </a:cubicBezTo>
                    <a:lnTo>
                      <a:pt x="2298478" y="3867150"/>
                    </a:lnTo>
                    <a:cubicBezTo>
                      <a:pt x="2298478" y="3859625"/>
                      <a:pt x="2297716" y="3859625"/>
                      <a:pt x="2292001" y="3853720"/>
                    </a:cubicBezTo>
                    <a:cubicBezTo>
                      <a:pt x="2286286" y="3847815"/>
                      <a:pt x="2289239" y="3847910"/>
                      <a:pt x="2284381" y="3847910"/>
                    </a:cubicBezTo>
                    <a:cubicBezTo>
                      <a:pt x="2279523" y="3847910"/>
                      <a:pt x="2276094" y="3833051"/>
                      <a:pt x="2276094" y="3833051"/>
                    </a:cubicBezTo>
                    <a:cubicBezTo>
                      <a:pt x="2276094" y="3833051"/>
                      <a:pt x="2276570" y="3831050"/>
                      <a:pt x="2274094" y="3822668"/>
                    </a:cubicBezTo>
                    <a:cubicBezTo>
                      <a:pt x="2271617" y="3814286"/>
                      <a:pt x="2270855" y="3808476"/>
                      <a:pt x="2269998" y="3803523"/>
                    </a:cubicBezTo>
                    <a:cubicBezTo>
                      <a:pt x="2269141" y="3798475"/>
                      <a:pt x="2265236" y="3798189"/>
                      <a:pt x="2261902" y="3798189"/>
                    </a:cubicBezTo>
                    <a:cubicBezTo>
                      <a:pt x="2261711" y="3798189"/>
                      <a:pt x="2261330" y="3798189"/>
                      <a:pt x="2261235" y="3798189"/>
                    </a:cubicBezTo>
                    <a:close/>
                    <a:moveTo>
                      <a:pt x="3356801" y="3801618"/>
                    </a:moveTo>
                    <a:cubicBezTo>
                      <a:pt x="3355467" y="3801904"/>
                      <a:pt x="3354134" y="3802761"/>
                      <a:pt x="3352610" y="3804761"/>
                    </a:cubicBezTo>
                    <a:cubicBezTo>
                      <a:pt x="3347180" y="3811810"/>
                      <a:pt x="3343846" y="3818477"/>
                      <a:pt x="3343846" y="3818477"/>
                    </a:cubicBezTo>
                    <a:cubicBezTo>
                      <a:pt x="3343846" y="3818477"/>
                      <a:pt x="3345942" y="3825145"/>
                      <a:pt x="3348038" y="3829622"/>
                    </a:cubicBezTo>
                    <a:cubicBezTo>
                      <a:pt x="3350228" y="3834098"/>
                      <a:pt x="3351371" y="3837432"/>
                      <a:pt x="3356801" y="3837432"/>
                    </a:cubicBezTo>
                    <a:cubicBezTo>
                      <a:pt x="3362230" y="3837432"/>
                      <a:pt x="3370898" y="3829622"/>
                      <a:pt x="3370898" y="3829622"/>
                    </a:cubicBezTo>
                    <a:lnTo>
                      <a:pt x="3376422" y="3821811"/>
                    </a:lnTo>
                    <a:lnTo>
                      <a:pt x="3365563" y="3804761"/>
                    </a:lnTo>
                    <a:cubicBezTo>
                      <a:pt x="3363563" y="3804761"/>
                      <a:pt x="3360992" y="3801904"/>
                      <a:pt x="3358039" y="3801618"/>
                    </a:cubicBezTo>
                    <a:cubicBezTo>
                      <a:pt x="3357658" y="3801618"/>
                      <a:pt x="3357182" y="3801618"/>
                      <a:pt x="3356801" y="3801618"/>
                    </a:cubicBezTo>
                    <a:close/>
                    <a:moveTo>
                      <a:pt x="3394234" y="3826859"/>
                    </a:moveTo>
                    <a:cubicBezTo>
                      <a:pt x="3392996" y="3826859"/>
                      <a:pt x="3392996" y="3827431"/>
                      <a:pt x="3390519" y="3832479"/>
                    </a:cubicBezTo>
                    <a:cubicBezTo>
                      <a:pt x="3387281" y="3839147"/>
                      <a:pt x="3380804" y="3844861"/>
                      <a:pt x="3380804" y="3844861"/>
                    </a:cubicBezTo>
                    <a:cubicBezTo>
                      <a:pt x="3380804" y="3844861"/>
                      <a:pt x="3375375" y="3846862"/>
                      <a:pt x="3374327" y="3854673"/>
                    </a:cubicBezTo>
                    <a:cubicBezTo>
                      <a:pt x="3373184" y="3862483"/>
                      <a:pt x="3368802" y="3854768"/>
                      <a:pt x="3373184" y="3862578"/>
                    </a:cubicBezTo>
                    <a:cubicBezTo>
                      <a:pt x="3377565" y="3870389"/>
                      <a:pt x="3379851" y="3879247"/>
                      <a:pt x="3387471" y="3875818"/>
                    </a:cubicBezTo>
                    <a:cubicBezTo>
                      <a:pt x="3395091" y="3872484"/>
                      <a:pt x="3398330" y="3870293"/>
                      <a:pt x="3400425" y="3865912"/>
                    </a:cubicBezTo>
                    <a:cubicBezTo>
                      <a:pt x="3402616" y="3861435"/>
                      <a:pt x="3401473" y="3860292"/>
                      <a:pt x="3406902" y="3856958"/>
                    </a:cubicBezTo>
                    <a:cubicBezTo>
                      <a:pt x="3412331" y="3853625"/>
                      <a:pt x="3415665" y="3848195"/>
                      <a:pt x="3414522" y="3844861"/>
                    </a:cubicBezTo>
                    <a:cubicBezTo>
                      <a:pt x="3413475" y="3841528"/>
                      <a:pt x="3411379" y="3840290"/>
                      <a:pt x="3409188" y="3836956"/>
                    </a:cubicBezTo>
                    <a:cubicBezTo>
                      <a:pt x="3406997" y="3833622"/>
                      <a:pt x="3395948" y="3827050"/>
                      <a:pt x="3395948" y="3827050"/>
                    </a:cubicBezTo>
                    <a:cubicBezTo>
                      <a:pt x="3395091" y="3827050"/>
                      <a:pt x="3394710" y="3826859"/>
                      <a:pt x="3394234" y="3826859"/>
                    </a:cubicBezTo>
                    <a:close/>
                    <a:moveTo>
                      <a:pt x="2673668" y="3828860"/>
                    </a:moveTo>
                    <a:cubicBezTo>
                      <a:pt x="2673001" y="3829050"/>
                      <a:pt x="2672715" y="3829717"/>
                      <a:pt x="2672810" y="3831146"/>
                    </a:cubicBezTo>
                    <a:lnTo>
                      <a:pt x="2673096" y="3836194"/>
                    </a:lnTo>
                    <a:lnTo>
                      <a:pt x="2681383" y="3843242"/>
                    </a:lnTo>
                    <a:lnTo>
                      <a:pt x="2689288" y="3840671"/>
                    </a:lnTo>
                    <a:lnTo>
                      <a:pt x="2687574" y="3834765"/>
                    </a:lnTo>
                    <a:lnTo>
                      <a:pt x="2682050" y="3832289"/>
                    </a:lnTo>
                    <a:cubicBezTo>
                      <a:pt x="2679192" y="3830860"/>
                      <a:pt x="2676144" y="3828955"/>
                      <a:pt x="2674239" y="3828860"/>
                    </a:cubicBezTo>
                    <a:cubicBezTo>
                      <a:pt x="2673953" y="3828860"/>
                      <a:pt x="2673763" y="3828860"/>
                      <a:pt x="2673572" y="3828860"/>
                    </a:cubicBezTo>
                    <a:lnTo>
                      <a:pt x="2673572" y="3828860"/>
                    </a:lnTo>
                    <a:close/>
                    <a:moveTo>
                      <a:pt x="1724120" y="3856863"/>
                    </a:moveTo>
                    <a:cubicBezTo>
                      <a:pt x="1720786" y="3856863"/>
                      <a:pt x="1717262" y="3857054"/>
                      <a:pt x="1713929" y="3857625"/>
                    </a:cubicBezTo>
                    <a:cubicBezTo>
                      <a:pt x="1700498" y="3859911"/>
                      <a:pt x="1697260" y="3864578"/>
                      <a:pt x="1683830" y="3869150"/>
                    </a:cubicBezTo>
                    <a:cubicBezTo>
                      <a:pt x="1670495" y="3873627"/>
                      <a:pt x="1670495" y="3878199"/>
                      <a:pt x="1656017" y="3878199"/>
                    </a:cubicBezTo>
                    <a:cubicBezTo>
                      <a:pt x="1641539" y="3878199"/>
                      <a:pt x="1614773" y="3886105"/>
                      <a:pt x="1614773" y="3886105"/>
                    </a:cubicBezTo>
                    <a:cubicBezTo>
                      <a:pt x="1605820" y="3886105"/>
                      <a:pt x="1594580" y="3890582"/>
                      <a:pt x="1591151" y="3896297"/>
                    </a:cubicBezTo>
                    <a:cubicBezTo>
                      <a:pt x="1587818" y="3902011"/>
                      <a:pt x="1581245" y="3912394"/>
                      <a:pt x="1577911" y="3916871"/>
                    </a:cubicBezTo>
                    <a:cubicBezTo>
                      <a:pt x="1574578" y="3921443"/>
                      <a:pt x="1568863" y="3929348"/>
                      <a:pt x="1566577" y="3932777"/>
                    </a:cubicBezTo>
                    <a:cubicBezTo>
                      <a:pt x="1564386" y="3936206"/>
                      <a:pt x="1556576" y="3943065"/>
                      <a:pt x="1548765" y="3947636"/>
                    </a:cubicBezTo>
                    <a:cubicBezTo>
                      <a:pt x="1540955" y="3952208"/>
                      <a:pt x="1540955" y="3952113"/>
                      <a:pt x="1529810" y="3957828"/>
                    </a:cubicBezTo>
                    <a:cubicBezTo>
                      <a:pt x="1518666" y="3963543"/>
                      <a:pt x="1508760" y="3964781"/>
                      <a:pt x="1504283" y="3974973"/>
                    </a:cubicBezTo>
                    <a:cubicBezTo>
                      <a:pt x="1499807" y="3985260"/>
                      <a:pt x="1491996" y="3989737"/>
                      <a:pt x="1505426" y="3995452"/>
                    </a:cubicBezTo>
                    <a:cubicBezTo>
                      <a:pt x="1518857" y="4001167"/>
                      <a:pt x="1538764" y="4005644"/>
                      <a:pt x="1562195" y="4006882"/>
                    </a:cubicBezTo>
                    <a:cubicBezTo>
                      <a:pt x="1585627" y="4008025"/>
                      <a:pt x="1586675" y="4010216"/>
                      <a:pt x="1601153" y="4014788"/>
                    </a:cubicBezTo>
                    <a:cubicBezTo>
                      <a:pt x="1615631" y="4019360"/>
                      <a:pt x="1608963" y="4020598"/>
                      <a:pt x="1632395" y="4020598"/>
                    </a:cubicBezTo>
                    <a:cubicBezTo>
                      <a:pt x="1655826" y="4020598"/>
                      <a:pt x="1667065" y="4021646"/>
                      <a:pt x="1680401" y="4016026"/>
                    </a:cubicBezTo>
                    <a:cubicBezTo>
                      <a:pt x="1693736" y="4010311"/>
                      <a:pt x="1699355" y="4009263"/>
                      <a:pt x="1713833" y="4009263"/>
                    </a:cubicBezTo>
                    <a:cubicBezTo>
                      <a:pt x="1728311" y="4009263"/>
                      <a:pt x="1733931" y="4003548"/>
                      <a:pt x="1748409" y="4010406"/>
                    </a:cubicBezTo>
                    <a:cubicBezTo>
                      <a:pt x="1762887" y="4017264"/>
                      <a:pt x="1761744" y="4020598"/>
                      <a:pt x="1777365" y="4020598"/>
                    </a:cubicBezTo>
                    <a:cubicBezTo>
                      <a:pt x="1792986" y="4020598"/>
                      <a:pt x="1804226" y="4021741"/>
                      <a:pt x="1816513" y="4018312"/>
                    </a:cubicBezTo>
                    <a:cubicBezTo>
                      <a:pt x="1828800" y="4014883"/>
                      <a:pt x="1824323" y="4013740"/>
                      <a:pt x="1839944" y="4013740"/>
                    </a:cubicBezTo>
                    <a:cubicBezTo>
                      <a:pt x="1855565" y="4013740"/>
                      <a:pt x="1858899" y="4012692"/>
                      <a:pt x="1874520" y="4011549"/>
                    </a:cubicBezTo>
                    <a:cubicBezTo>
                      <a:pt x="1890141" y="4010406"/>
                      <a:pt x="1892236" y="3998976"/>
                      <a:pt x="1887760" y="3992118"/>
                    </a:cubicBezTo>
                    <a:cubicBezTo>
                      <a:pt x="1883283" y="3985260"/>
                      <a:pt x="1867757" y="3966972"/>
                      <a:pt x="1863376" y="3961257"/>
                    </a:cubicBezTo>
                    <a:cubicBezTo>
                      <a:pt x="1858899" y="3955542"/>
                      <a:pt x="1846517" y="3942017"/>
                      <a:pt x="1845469" y="3938588"/>
                    </a:cubicBezTo>
                    <a:cubicBezTo>
                      <a:pt x="1844326" y="3935159"/>
                      <a:pt x="1842230" y="3928396"/>
                      <a:pt x="1839944" y="3916966"/>
                    </a:cubicBezTo>
                    <a:cubicBezTo>
                      <a:pt x="1837754" y="3905631"/>
                      <a:pt x="1842326" y="3897535"/>
                      <a:pt x="1826705" y="3891915"/>
                    </a:cubicBezTo>
                    <a:cubicBezTo>
                      <a:pt x="1811084" y="3886200"/>
                      <a:pt x="1790890" y="3877151"/>
                      <a:pt x="1775270" y="3871436"/>
                    </a:cubicBezTo>
                    <a:cubicBezTo>
                      <a:pt x="1759649" y="3865721"/>
                      <a:pt x="1752886" y="3866769"/>
                      <a:pt x="1747266" y="3862197"/>
                    </a:cubicBezTo>
                    <a:cubicBezTo>
                      <a:pt x="1743075" y="3858768"/>
                      <a:pt x="1733931" y="3856768"/>
                      <a:pt x="1723930" y="3856863"/>
                    </a:cubicBezTo>
                    <a:lnTo>
                      <a:pt x="1723930" y="3856863"/>
                    </a:lnTo>
                    <a:close/>
                    <a:moveTo>
                      <a:pt x="2759393" y="3891153"/>
                    </a:moveTo>
                    <a:cubicBezTo>
                      <a:pt x="2755106" y="3891153"/>
                      <a:pt x="2753296" y="3894582"/>
                      <a:pt x="2751868" y="3898773"/>
                    </a:cubicBezTo>
                    <a:cubicBezTo>
                      <a:pt x="2749392" y="3906298"/>
                      <a:pt x="2750725" y="3916299"/>
                      <a:pt x="2753106" y="3921252"/>
                    </a:cubicBezTo>
                    <a:cubicBezTo>
                      <a:pt x="2755583" y="3926205"/>
                      <a:pt x="2767965" y="3967353"/>
                      <a:pt x="2771585" y="3977354"/>
                    </a:cubicBezTo>
                    <a:cubicBezTo>
                      <a:pt x="2775300" y="3987356"/>
                      <a:pt x="2778919" y="3998500"/>
                      <a:pt x="2799683" y="4012216"/>
                    </a:cubicBezTo>
                    <a:cubicBezTo>
                      <a:pt x="2820448" y="4025932"/>
                      <a:pt x="2821591" y="4023551"/>
                      <a:pt x="2833878" y="4032218"/>
                    </a:cubicBezTo>
                    <a:cubicBezTo>
                      <a:pt x="2846070" y="4040981"/>
                      <a:pt x="2852166" y="4045934"/>
                      <a:pt x="2863120" y="4049649"/>
                    </a:cubicBezTo>
                    <a:cubicBezTo>
                      <a:pt x="2874169" y="4053364"/>
                      <a:pt x="2877788" y="4062317"/>
                      <a:pt x="2888837" y="4057269"/>
                    </a:cubicBezTo>
                    <a:cubicBezTo>
                      <a:pt x="2899886" y="4052316"/>
                      <a:pt x="2905887" y="4053364"/>
                      <a:pt x="2902268" y="4042124"/>
                    </a:cubicBezTo>
                    <a:cubicBezTo>
                      <a:pt x="2898553" y="4030885"/>
                      <a:pt x="2893695" y="4023455"/>
                      <a:pt x="2885218" y="4018502"/>
                    </a:cubicBezTo>
                    <a:cubicBezTo>
                      <a:pt x="2876645" y="4013549"/>
                      <a:pt x="2865692" y="3999738"/>
                      <a:pt x="2858357" y="3990975"/>
                    </a:cubicBezTo>
                    <a:cubicBezTo>
                      <a:pt x="2851023" y="3982212"/>
                      <a:pt x="2849880" y="3981069"/>
                      <a:pt x="2846165" y="3972401"/>
                    </a:cubicBezTo>
                    <a:cubicBezTo>
                      <a:pt x="2842451" y="3963638"/>
                      <a:pt x="2838736" y="3951161"/>
                      <a:pt x="2833878" y="3946208"/>
                    </a:cubicBezTo>
                    <a:cubicBezTo>
                      <a:pt x="2829020" y="3941159"/>
                      <a:pt x="2824067" y="3936206"/>
                      <a:pt x="2814257" y="3931253"/>
                    </a:cubicBezTo>
                    <a:cubicBezTo>
                      <a:pt x="2804446" y="3926300"/>
                      <a:pt x="2791111" y="3916299"/>
                      <a:pt x="2791111" y="3916299"/>
                    </a:cubicBezTo>
                    <a:lnTo>
                      <a:pt x="2775300" y="3898868"/>
                    </a:lnTo>
                    <a:cubicBezTo>
                      <a:pt x="2767775" y="3893439"/>
                      <a:pt x="2762726" y="3891248"/>
                      <a:pt x="2759297" y="3891248"/>
                    </a:cubicBezTo>
                    <a:close/>
                    <a:moveTo>
                      <a:pt x="2375154" y="4028123"/>
                    </a:moveTo>
                    <a:cubicBezTo>
                      <a:pt x="2385155" y="4028313"/>
                      <a:pt x="2395347" y="4035648"/>
                      <a:pt x="2411063" y="4048601"/>
                    </a:cubicBezTo>
                    <a:lnTo>
                      <a:pt x="2494788" y="4117372"/>
                    </a:lnTo>
                    <a:lnTo>
                      <a:pt x="2493550" y="4157567"/>
                    </a:lnTo>
                    <a:lnTo>
                      <a:pt x="2468309" y="4192715"/>
                    </a:lnTo>
                    <a:lnTo>
                      <a:pt x="2422684" y="4214908"/>
                    </a:lnTo>
                    <a:lnTo>
                      <a:pt x="2386489" y="4215479"/>
                    </a:lnTo>
                    <a:lnTo>
                      <a:pt x="2345531" y="4170521"/>
                    </a:lnTo>
                    <a:lnTo>
                      <a:pt x="2302574" y="4132326"/>
                    </a:lnTo>
                    <a:lnTo>
                      <a:pt x="2291715" y="4119944"/>
                    </a:lnTo>
                    <a:lnTo>
                      <a:pt x="2299526" y="4093083"/>
                    </a:lnTo>
                    <a:lnTo>
                      <a:pt x="2340483" y="4050411"/>
                    </a:lnTo>
                    <a:cubicBezTo>
                      <a:pt x="2355342" y="4034885"/>
                      <a:pt x="2365248" y="4027932"/>
                      <a:pt x="2375249" y="4028027"/>
                    </a:cubicBezTo>
                    <a:close/>
                    <a:moveTo>
                      <a:pt x="1803083" y="4177951"/>
                    </a:moveTo>
                    <a:cubicBezTo>
                      <a:pt x="1802035" y="4177951"/>
                      <a:pt x="1801082" y="4177951"/>
                      <a:pt x="1799939" y="4178141"/>
                    </a:cubicBezTo>
                    <a:cubicBezTo>
                      <a:pt x="1795463" y="4178523"/>
                      <a:pt x="1790033" y="4179761"/>
                      <a:pt x="1781842" y="4181190"/>
                    </a:cubicBezTo>
                    <a:cubicBezTo>
                      <a:pt x="1765459" y="4183952"/>
                      <a:pt x="1766983" y="4185761"/>
                      <a:pt x="1757648" y="4191286"/>
                    </a:cubicBezTo>
                    <a:cubicBezTo>
                      <a:pt x="1748409" y="4196810"/>
                      <a:pt x="1747838" y="4195572"/>
                      <a:pt x="1742980" y="4201097"/>
                    </a:cubicBezTo>
                    <a:cubicBezTo>
                      <a:pt x="1738027" y="4206717"/>
                      <a:pt x="1736503" y="4208907"/>
                      <a:pt x="1735931" y="4222337"/>
                    </a:cubicBezTo>
                    <a:cubicBezTo>
                      <a:pt x="1735360" y="4235673"/>
                      <a:pt x="1724978" y="4234720"/>
                      <a:pt x="1718405" y="4240816"/>
                    </a:cubicBezTo>
                    <a:cubicBezTo>
                      <a:pt x="1711833" y="4246912"/>
                      <a:pt x="1706499" y="4251960"/>
                      <a:pt x="1704880" y="4252532"/>
                    </a:cubicBezTo>
                    <a:cubicBezTo>
                      <a:pt x="1704880" y="4252532"/>
                      <a:pt x="1693831" y="4251960"/>
                      <a:pt x="1686211" y="4251960"/>
                    </a:cubicBezTo>
                    <a:cubicBezTo>
                      <a:pt x="1678591" y="4251960"/>
                      <a:pt x="1679162" y="4252532"/>
                      <a:pt x="1674781" y="4252532"/>
                    </a:cubicBezTo>
                    <a:cubicBezTo>
                      <a:pt x="1670399" y="4252532"/>
                      <a:pt x="1664589" y="4253103"/>
                      <a:pt x="1662875" y="4253675"/>
                    </a:cubicBezTo>
                    <a:cubicBezTo>
                      <a:pt x="1661255" y="4254246"/>
                      <a:pt x="1656302" y="4257961"/>
                      <a:pt x="1653540" y="4265771"/>
                    </a:cubicBezTo>
                    <a:cubicBezTo>
                      <a:pt x="1650778" y="4273582"/>
                      <a:pt x="1657350" y="4269296"/>
                      <a:pt x="1660589" y="4274249"/>
                    </a:cubicBezTo>
                    <a:cubicBezTo>
                      <a:pt x="1663827" y="4279202"/>
                      <a:pt x="1665542" y="4279773"/>
                      <a:pt x="1666685" y="4288632"/>
                    </a:cubicBezTo>
                    <a:cubicBezTo>
                      <a:pt x="1667732" y="4297585"/>
                      <a:pt x="1667732" y="4297013"/>
                      <a:pt x="1669352" y="4304824"/>
                    </a:cubicBezTo>
                    <a:cubicBezTo>
                      <a:pt x="1670971" y="4312635"/>
                      <a:pt x="1673638" y="4320826"/>
                      <a:pt x="1674686" y="4325874"/>
                    </a:cubicBezTo>
                    <a:cubicBezTo>
                      <a:pt x="1675733" y="4330923"/>
                      <a:pt x="1678496" y="4335971"/>
                      <a:pt x="1679639" y="4344353"/>
                    </a:cubicBezTo>
                    <a:cubicBezTo>
                      <a:pt x="1680686" y="4352735"/>
                      <a:pt x="1680686" y="4352163"/>
                      <a:pt x="1682306" y="4357211"/>
                    </a:cubicBezTo>
                    <a:cubicBezTo>
                      <a:pt x="1683925" y="4362165"/>
                      <a:pt x="1687830" y="4357688"/>
                      <a:pt x="1692783" y="4354926"/>
                    </a:cubicBezTo>
                    <a:cubicBezTo>
                      <a:pt x="1697736" y="4352163"/>
                      <a:pt x="1701451" y="4352259"/>
                      <a:pt x="1708023" y="4346162"/>
                    </a:cubicBezTo>
                    <a:cubicBezTo>
                      <a:pt x="1714595" y="4340067"/>
                      <a:pt x="1715643" y="4341686"/>
                      <a:pt x="1723263" y="4336637"/>
                    </a:cubicBezTo>
                    <a:cubicBezTo>
                      <a:pt x="1730883" y="4331589"/>
                      <a:pt x="1731931" y="4330351"/>
                      <a:pt x="1738503" y="4324826"/>
                    </a:cubicBezTo>
                    <a:cubicBezTo>
                      <a:pt x="1745075" y="4319207"/>
                      <a:pt x="1752219" y="4323112"/>
                      <a:pt x="1763649" y="4320921"/>
                    </a:cubicBezTo>
                    <a:cubicBezTo>
                      <a:pt x="1775079" y="4318635"/>
                      <a:pt x="1775079" y="4317016"/>
                      <a:pt x="1782128" y="4313111"/>
                    </a:cubicBezTo>
                    <a:cubicBezTo>
                      <a:pt x="1789271" y="4309205"/>
                      <a:pt x="1793081" y="4311015"/>
                      <a:pt x="1799082" y="4309968"/>
                    </a:cubicBezTo>
                    <a:cubicBezTo>
                      <a:pt x="1805083" y="4308825"/>
                      <a:pt x="1809274" y="4309872"/>
                      <a:pt x="1814798" y="4306538"/>
                    </a:cubicBezTo>
                    <a:cubicBezTo>
                      <a:pt x="1820228" y="4303205"/>
                      <a:pt x="1822037" y="4295490"/>
                      <a:pt x="1822037" y="4292156"/>
                    </a:cubicBezTo>
                    <a:cubicBezTo>
                      <a:pt x="1822037" y="4288822"/>
                      <a:pt x="1830800" y="4270915"/>
                      <a:pt x="1831943" y="4265962"/>
                    </a:cubicBezTo>
                    <a:cubicBezTo>
                      <a:pt x="1832991" y="4260914"/>
                      <a:pt x="1847660" y="4265010"/>
                      <a:pt x="1853660" y="4264343"/>
                    </a:cubicBezTo>
                    <a:cubicBezTo>
                      <a:pt x="1859661" y="4263771"/>
                      <a:pt x="1860709" y="4260342"/>
                      <a:pt x="1860709" y="4258151"/>
                    </a:cubicBezTo>
                    <a:lnTo>
                      <a:pt x="1860709" y="4242721"/>
                    </a:lnTo>
                    <a:cubicBezTo>
                      <a:pt x="1860709" y="4233291"/>
                      <a:pt x="1859661" y="4234720"/>
                      <a:pt x="1858042" y="4229195"/>
                    </a:cubicBezTo>
                    <a:cubicBezTo>
                      <a:pt x="1856423" y="4223671"/>
                      <a:pt x="1852517" y="4216527"/>
                      <a:pt x="1848136" y="4209860"/>
                    </a:cubicBezTo>
                    <a:cubicBezTo>
                      <a:pt x="1843754" y="4203192"/>
                      <a:pt x="1837373" y="4198620"/>
                      <a:pt x="1831848" y="4191953"/>
                    </a:cubicBezTo>
                    <a:cubicBezTo>
                      <a:pt x="1826419" y="4185285"/>
                      <a:pt x="1820799" y="4185190"/>
                      <a:pt x="1812036" y="4180713"/>
                    </a:cubicBezTo>
                    <a:cubicBezTo>
                      <a:pt x="1808798" y="4178999"/>
                      <a:pt x="1805940" y="4178332"/>
                      <a:pt x="1802892" y="4178236"/>
                    </a:cubicBezTo>
                    <a:close/>
                    <a:moveTo>
                      <a:pt x="1961102" y="4196810"/>
                    </a:moveTo>
                    <a:cubicBezTo>
                      <a:pt x="1961102" y="4196810"/>
                      <a:pt x="1960436" y="4196810"/>
                      <a:pt x="1960150" y="4197001"/>
                    </a:cubicBezTo>
                    <a:cubicBezTo>
                      <a:pt x="1958150" y="4197477"/>
                      <a:pt x="1955292" y="4199192"/>
                      <a:pt x="1953197" y="4200430"/>
                    </a:cubicBezTo>
                    <a:cubicBezTo>
                      <a:pt x="1950434" y="4202144"/>
                      <a:pt x="1946624" y="4205383"/>
                      <a:pt x="1945005" y="4207669"/>
                    </a:cubicBezTo>
                    <a:cubicBezTo>
                      <a:pt x="1943386" y="4209860"/>
                      <a:pt x="1940052" y="4214336"/>
                      <a:pt x="1940052" y="4214336"/>
                    </a:cubicBezTo>
                    <a:lnTo>
                      <a:pt x="1937766" y="4218242"/>
                    </a:lnTo>
                    <a:cubicBezTo>
                      <a:pt x="1937766" y="4221576"/>
                      <a:pt x="1934623" y="4224909"/>
                      <a:pt x="1932432" y="4224909"/>
                    </a:cubicBezTo>
                    <a:cubicBezTo>
                      <a:pt x="1930241" y="4224909"/>
                      <a:pt x="1927955" y="4226528"/>
                      <a:pt x="1929003" y="4228815"/>
                    </a:cubicBezTo>
                    <a:cubicBezTo>
                      <a:pt x="1930051" y="4231005"/>
                      <a:pt x="1930146" y="4234434"/>
                      <a:pt x="1937766" y="4233863"/>
                    </a:cubicBezTo>
                    <a:cubicBezTo>
                      <a:pt x="1945386" y="4233291"/>
                      <a:pt x="1948148" y="4232339"/>
                      <a:pt x="1949768" y="4228338"/>
                    </a:cubicBezTo>
                    <a:cubicBezTo>
                      <a:pt x="1951387" y="4224433"/>
                      <a:pt x="1949196" y="4223861"/>
                      <a:pt x="1952435" y="4219385"/>
                    </a:cubicBezTo>
                    <a:cubicBezTo>
                      <a:pt x="1955673" y="4214908"/>
                      <a:pt x="1960055" y="4207669"/>
                      <a:pt x="1960055" y="4207669"/>
                    </a:cubicBezTo>
                    <a:cubicBezTo>
                      <a:pt x="1960055" y="4207669"/>
                      <a:pt x="1960531" y="4209955"/>
                      <a:pt x="1962722" y="4204335"/>
                    </a:cubicBezTo>
                    <a:cubicBezTo>
                      <a:pt x="1964912" y="4198716"/>
                      <a:pt x="1963388" y="4197573"/>
                      <a:pt x="1961769" y="4197001"/>
                    </a:cubicBezTo>
                    <a:cubicBezTo>
                      <a:pt x="1961579" y="4197001"/>
                      <a:pt x="1961293" y="4196810"/>
                      <a:pt x="1961102" y="4196810"/>
                    </a:cubicBezTo>
                    <a:close/>
                    <a:moveTo>
                      <a:pt x="1875092" y="4417505"/>
                    </a:moveTo>
                    <a:cubicBezTo>
                      <a:pt x="1871472" y="4417695"/>
                      <a:pt x="1867281" y="4418552"/>
                      <a:pt x="1862138" y="4420076"/>
                    </a:cubicBezTo>
                    <a:cubicBezTo>
                      <a:pt x="1848231" y="4424268"/>
                      <a:pt x="1848898" y="4427601"/>
                      <a:pt x="1839087" y="4432650"/>
                    </a:cubicBezTo>
                    <a:cubicBezTo>
                      <a:pt x="1829276" y="4437698"/>
                      <a:pt x="1830229" y="4439317"/>
                      <a:pt x="1823657" y="4448556"/>
                    </a:cubicBezTo>
                    <a:cubicBezTo>
                      <a:pt x="1817084" y="4457700"/>
                      <a:pt x="1820323" y="4459319"/>
                      <a:pt x="1826038" y="4470178"/>
                    </a:cubicBezTo>
                    <a:cubicBezTo>
                      <a:pt x="1831753" y="4481036"/>
                      <a:pt x="1839944" y="4473607"/>
                      <a:pt x="1845659" y="4476084"/>
                    </a:cubicBezTo>
                    <a:cubicBezTo>
                      <a:pt x="1851374" y="4478560"/>
                      <a:pt x="1859471" y="4482751"/>
                      <a:pt x="1863566" y="4485323"/>
                    </a:cubicBezTo>
                    <a:cubicBezTo>
                      <a:pt x="1867662" y="4487799"/>
                      <a:pt x="1870901" y="4490276"/>
                      <a:pt x="1870901" y="4500277"/>
                    </a:cubicBezTo>
                    <a:cubicBezTo>
                      <a:pt x="1870901" y="4510278"/>
                      <a:pt x="1869377" y="4517041"/>
                      <a:pt x="1869377" y="4517041"/>
                    </a:cubicBezTo>
                    <a:cubicBezTo>
                      <a:pt x="1869377" y="4517041"/>
                      <a:pt x="1874234" y="4524566"/>
                      <a:pt x="1880807" y="4528757"/>
                    </a:cubicBezTo>
                    <a:cubicBezTo>
                      <a:pt x="1887379" y="4532948"/>
                      <a:pt x="1889665" y="4541235"/>
                      <a:pt x="1897094" y="4551236"/>
                    </a:cubicBezTo>
                    <a:cubicBezTo>
                      <a:pt x="1904429" y="4561237"/>
                      <a:pt x="1905286" y="4561142"/>
                      <a:pt x="1912620" y="4557046"/>
                    </a:cubicBezTo>
                    <a:cubicBezTo>
                      <a:pt x="1919954" y="4552855"/>
                      <a:pt x="1918335" y="4553808"/>
                      <a:pt x="1924050" y="4550378"/>
                    </a:cubicBezTo>
                    <a:cubicBezTo>
                      <a:pt x="1929765" y="4547045"/>
                      <a:pt x="1934813" y="4559618"/>
                      <a:pt x="1943005" y="4562951"/>
                    </a:cubicBezTo>
                    <a:cubicBezTo>
                      <a:pt x="1951196" y="4566285"/>
                      <a:pt x="1956149" y="4567238"/>
                      <a:pt x="1967579" y="4566380"/>
                    </a:cubicBezTo>
                    <a:cubicBezTo>
                      <a:pt x="1979009" y="4565523"/>
                      <a:pt x="1974152" y="4563809"/>
                      <a:pt x="1983962" y="4555427"/>
                    </a:cubicBezTo>
                    <a:cubicBezTo>
                      <a:pt x="1993773" y="4547045"/>
                      <a:pt x="1987106" y="4540473"/>
                      <a:pt x="1985486" y="4532948"/>
                    </a:cubicBezTo>
                    <a:cubicBezTo>
                      <a:pt x="1983867" y="4525423"/>
                      <a:pt x="1985486" y="4519613"/>
                      <a:pt x="1985486" y="4512945"/>
                    </a:cubicBezTo>
                    <a:cubicBezTo>
                      <a:pt x="1985486" y="4506278"/>
                      <a:pt x="1988058" y="4503801"/>
                      <a:pt x="1988915" y="4493800"/>
                    </a:cubicBezTo>
                    <a:cubicBezTo>
                      <a:pt x="1989773" y="4483799"/>
                      <a:pt x="1991201" y="4490561"/>
                      <a:pt x="1996154" y="4483894"/>
                    </a:cubicBezTo>
                    <a:cubicBezTo>
                      <a:pt x="2001107" y="4477226"/>
                      <a:pt x="2001203" y="4479608"/>
                      <a:pt x="2006918" y="4472940"/>
                    </a:cubicBezTo>
                    <a:cubicBezTo>
                      <a:pt x="2012633" y="4466273"/>
                      <a:pt x="2014252" y="4464558"/>
                      <a:pt x="2013395" y="4455319"/>
                    </a:cubicBezTo>
                    <a:cubicBezTo>
                      <a:pt x="2012537" y="4446080"/>
                      <a:pt x="2009394" y="4446175"/>
                      <a:pt x="2004536" y="4444460"/>
                    </a:cubicBezTo>
                    <a:cubicBezTo>
                      <a:pt x="2004536" y="4444460"/>
                      <a:pt x="1991392" y="4438555"/>
                      <a:pt x="1989011" y="4438555"/>
                    </a:cubicBezTo>
                    <a:cubicBezTo>
                      <a:pt x="1986629" y="4438555"/>
                      <a:pt x="1971770" y="4431126"/>
                      <a:pt x="1963579" y="4427696"/>
                    </a:cubicBezTo>
                    <a:cubicBezTo>
                      <a:pt x="1955387" y="4424363"/>
                      <a:pt x="1957007" y="4425887"/>
                      <a:pt x="1947196" y="4428459"/>
                    </a:cubicBezTo>
                    <a:cubicBezTo>
                      <a:pt x="1937385" y="4430935"/>
                      <a:pt x="1931480" y="4431887"/>
                      <a:pt x="1924145" y="4434364"/>
                    </a:cubicBezTo>
                    <a:cubicBezTo>
                      <a:pt x="1916811" y="4436841"/>
                      <a:pt x="1914525" y="4431983"/>
                      <a:pt x="1905476" y="4426173"/>
                    </a:cubicBezTo>
                    <a:cubicBezTo>
                      <a:pt x="1896523" y="4420362"/>
                      <a:pt x="1898809" y="4421219"/>
                      <a:pt x="1890617" y="4419505"/>
                    </a:cubicBezTo>
                    <a:cubicBezTo>
                      <a:pt x="1885474" y="4418457"/>
                      <a:pt x="1881092" y="4417219"/>
                      <a:pt x="1875092" y="4417600"/>
                    </a:cubicBezTo>
                    <a:close/>
                    <a:moveTo>
                      <a:pt x="2017300" y="4573334"/>
                    </a:moveTo>
                    <a:cubicBezTo>
                      <a:pt x="2017300" y="4573334"/>
                      <a:pt x="2016728" y="4573810"/>
                      <a:pt x="2016633" y="4574191"/>
                    </a:cubicBezTo>
                    <a:cubicBezTo>
                      <a:pt x="2015204" y="4577525"/>
                      <a:pt x="2012823" y="4580954"/>
                      <a:pt x="2015204" y="4583811"/>
                    </a:cubicBezTo>
                    <a:cubicBezTo>
                      <a:pt x="2017586" y="4586669"/>
                      <a:pt x="2018538" y="4585621"/>
                      <a:pt x="2019014" y="4590479"/>
                    </a:cubicBezTo>
                    <a:cubicBezTo>
                      <a:pt x="2019490" y="4595336"/>
                      <a:pt x="2014728" y="4598289"/>
                      <a:pt x="2019395" y="4598289"/>
                    </a:cubicBezTo>
                    <a:cubicBezTo>
                      <a:pt x="2024063" y="4598289"/>
                      <a:pt x="2025110" y="4597337"/>
                      <a:pt x="2025586" y="4595432"/>
                    </a:cubicBezTo>
                    <a:cubicBezTo>
                      <a:pt x="2026063" y="4593527"/>
                      <a:pt x="2026634" y="4589717"/>
                      <a:pt x="2026158" y="4587812"/>
                    </a:cubicBezTo>
                    <a:cubicBezTo>
                      <a:pt x="2025682" y="4585907"/>
                      <a:pt x="2025110" y="4584383"/>
                      <a:pt x="2024158" y="4582478"/>
                    </a:cubicBezTo>
                    <a:cubicBezTo>
                      <a:pt x="2023301" y="4580763"/>
                      <a:pt x="2021015" y="4576858"/>
                      <a:pt x="2020729" y="4576858"/>
                    </a:cubicBezTo>
                    <a:cubicBezTo>
                      <a:pt x="2020157" y="4575810"/>
                      <a:pt x="2018348" y="4572858"/>
                      <a:pt x="2017205" y="4573429"/>
                    </a:cubicBezTo>
                    <a:close/>
                    <a:moveTo>
                      <a:pt x="2003584" y="4648295"/>
                    </a:moveTo>
                    <a:cubicBezTo>
                      <a:pt x="2002631" y="4648486"/>
                      <a:pt x="2001584" y="4649058"/>
                      <a:pt x="2000631" y="4650296"/>
                    </a:cubicBezTo>
                    <a:cubicBezTo>
                      <a:pt x="1998726" y="4652677"/>
                      <a:pt x="1996250" y="4654106"/>
                      <a:pt x="1995869" y="4656487"/>
                    </a:cubicBezTo>
                    <a:cubicBezTo>
                      <a:pt x="1995392" y="4658868"/>
                      <a:pt x="1993202" y="4658487"/>
                      <a:pt x="1993202" y="4664298"/>
                    </a:cubicBezTo>
                    <a:cubicBezTo>
                      <a:pt x="1993202" y="4670108"/>
                      <a:pt x="1992725" y="4669060"/>
                      <a:pt x="1993202" y="4673346"/>
                    </a:cubicBezTo>
                    <a:cubicBezTo>
                      <a:pt x="1993678" y="4677728"/>
                      <a:pt x="1993202" y="4680966"/>
                      <a:pt x="1993583" y="4682395"/>
                    </a:cubicBezTo>
                    <a:cubicBezTo>
                      <a:pt x="1994059" y="4683824"/>
                      <a:pt x="1994440" y="4684871"/>
                      <a:pt x="1995869" y="4684871"/>
                    </a:cubicBezTo>
                    <a:cubicBezTo>
                      <a:pt x="1997297" y="4684871"/>
                      <a:pt x="2000060" y="4681157"/>
                      <a:pt x="2000060" y="4681157"/>
                    </a:cubicBezTo>
                    <a:cubicBezTo>
                      <a:pt x="2000060" y="4681157"/>
                      <a:pt x="1999679" y="4678204"/>
                      <a:pt x="1999679" y="4674775"/>
                    </a:cubicBezTo>
                    <a:cubicBezTo>
                      <a:pt x="1999679" y="4671346"/>
                      <a:pt x="1998250" y="4668869"/>
                      <a:pt x="2001107" y="4666965"/>
                    </a:cubicBezTo>
                    <a:cubicBezTo>
                      <a:pt x="2003965" y="4665060"/>
                      <a:pt x="2003965" y="4664774"/>
                      <a:pt x="2003965" y="4662393"/>
                    </a:cubicBezTo>
                    <a:cubicBezTo>
                      <a:pt x="2003965" y="4660011"/>
                      <a:pt x="2003108" y="4655630"/>
                      <a:pt x="2003108" y="4655630"/>
                    </a:cubicBezTo>
                    <a:cubicBezTo>
                      <a:pt x="2003108" y="4655630"/>
                      <a:pt x="2004536" y="4655630"/>
                      <a:pt x="2005489" y="4653629"/>
                    </a:cubicBezTo>
                    <a:cubicBezTo>
                      <a:pt x="2006441" y="4651725"/>
                      <a:pt x="2004060" y="4648772"/>
                      <a:pt x="2005489" y="4648295"/>
                    </a:cubicBezTo>
                    <a:cubicBezTo>
                      <a:pt x="2005489" y="4648295"/>
                      <a:pt x="2004632" y="4648105"/>
                      <a:pt x="2003679" y="4648295"/>
                    </a:cubicBezTo>
                    <a:close/>
                  </a:path>
                </a:pathLst>
              </a:custGeom>
              <a:solidFill>
                <a:srgbClr val="E6EBED"/>
              </a:solidFill>
              <a:ln w="6350" cap="rnd">
                <a:solidFill>
                  <a:srgbClr val="BCC5C9"/>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grpSp>
            <p:nvGrpSpPr>
              <p:cNvPr id="33" name="Group 32">
                <a:extLst>
                  <a:ext uri="{FF2B5EF4-FFF2-40B4-BE49-F238E27FC236}">
                    <a16:creationId xmlns:a16="http://schemas.microsoft.com/office/drawing/2014/main" id="{5408A181-C00A-1FBF-0526-2467EE9CAAFC}"/>
                  </a:ext>
                </a:extLst>
              </p:cNvPr>
              <p:cNvGrpSpPr/>
              <p:nvPr/>
            </p:nvGrpSpPr>
            <p:grpSpPr>
              <a:xfrm>
                <a:off x="2976106" y="1356482"/>
                <a:ext cx="3250065" cy="1628022"/>
                <a:chOff x="2976106" y="1356482"/>
                <a:chExt cx="3250065" cy="1628022"/>
              </a:xfrm>
            </p:grpSpPr>
            <p:sp>
              <p:nvSpPr>
                <p:cNvPr id="34" name="Freeform: Shape 33">
                  <a:extLst>
                    <a:ext uri="{FF2B5EF4-FFF2-40B4-BE49-F238E27FC236}">
                      <a16:creationId xmlns:a16="http://schemas.microsoft.com/office/drawing/2014/main" id="{7E617CDD-9282-BAC2-90E0-772AB830C99D}"/>
                    </a:ext>
                  </a:extLst>
                </p:cNvPr>
                <p:cNvSpPr/>
                <p:nvPr/>
              </p:nvSpPr>
              <p:spPr>
                <a:xfrm>
                  <a:off x="4760845" y="1761418"/>
                  <a:ext cx="330339" cy="1159644"/>
                </a:xfrm>
                <a:custGeom>
                  <a:avLst/>
                  <a:gdLst>
                    <a:gd name="connsiteX0" fmla="*/ 421672 w 520223"/>
                    <a:gd name="connsiteY0" fmla="*/ 0 h 1826228"/>
                    <a:gd name="connsiteX1" fmla="*/ 454723 w 520223"/>
                    <a:gd name="connsiteY1" fmla="*/ 48101 h 1826228"/>
                    <a:gd name="connsiteX2" fmla="*/ 464344 w 520223"/>
                    <a:gd name="connsiteY2" fmla="*/ 329660 h 1826228"/>
                    <a:gd name="connsiteX3" fmla="*/ 488442 w 520223"/>
                    <a:gd name="connsiteY3" fmla="*/ 397002 h 1826228"/>
                    <a:gd name="connsiteX4" fmla="*/ 495681 w 520223"/>
                    <a:gd name="connsiteY4" fmla="*/ 488442 h 1826228"/>
                    <a:gd name="connsiteX5" fmla="*/ 442722 w 520223"/>
                    <a:gd name="connsiteY5" fmla="*/ 654463 h 1826228"/>
                    <a:gd name="connsiteX6" fmla="*/ 500443 w 520223"/>
                    <a:gd name="connsiteY6" fmla="*/ 854202 h 1826228"/>
                    <a:gd name="connsiteX7" fmla="*/ 517303 w 520223"/>
                    <a:gd name="connsiteY7" fmla="*/ 1058704 h 1826228"/>
                    <a:gd name="connsiteX8" fmla="*/ 399383 w 520223"/>
                    <a:gd name="connsiteY8" fmla="*/ 1193483 h 1826228"/>
                    <a:gd name="connsiteX9" fmla="*/ 293465 w 520223"/>
                    <a:gd name="connsiteY9" fmla="*/ 1246442 h 1826228"/>
                    <a:gd name="connsiteX10" fmla="*/ 252603 w 520223"/>
                    <a:gd name="connsiteY10" fmla="*/ 1330643 h 1826228"/>
                    <a:gd name="connsiteX11" fmla="*/ 197263 w 520223"/>
                    <a:gd name="connsiteY11" fmla="*/ 1393222 h 1826228"/>
                    <a:gd name="connsiteX12" fmla="*/ 230981 w 520223"/>
                    <a:gd name="connsiteY12" fmla="*/ 1450943 h 1826228"/>
                    <a:gd name="connsiteX13" fmla="*/ 255079 w 520223"/>
                    <a:gd name="connsiteY13" fmla="*/ 1554385 h 1826228"/>
                    <a:gd name="connsiteX14" fmla="*/ 209359 w 520223"/>
                    <a:gd name="connsiteY14" fmla="*/ 1662684 h 1826228"/>
                    <a:gd name="connsiteX15" fmla="*/ 163639 w 520223"/>
                    <a:gd name="connsiteY15" fmla="*/ 1691545 h 1826228"/>
                    <a:gd name="connsiteX16" fmla="*/ 139541 w 520223"/>
                    <a:gd name="connsiteY16" fmla="*/ 1732407 h 1826228"/>
                    <a:gd name="connsiteX17" fmla="*/ 67342 w 520223"/>
                    <a:gd name="connsiteY17" fmla="*/ 1761268 h 1826228"/>
                    <a:gd name="connsiteX18" fmla="*/ 0 w 520223"/>
                    <a:gd name="connsiteY18" fmla="*/ 1826228 h 1826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0223" h="1826228">
                      <a:moveTo>
                        <a:pt x="421672" y="0"/>
                      </a:moveTo>
                      <a:lnTo>
                        <a:pt x="454723" y="48101"/>
                      </a:lnTo>
                      <a:cubicBezTo>
                        <a:pt x="454723" y="48101"/>
                        <a:pt x="464344" y="305562"/>
                        <a:pt x="464344" y="329660"/>
                      </a:cubicBezTo>
                      <a:cubicBezTo>
                        <a:pt x="464344" y="353759"/>
                        <a:pt x="476345" y="375380"/>
                        <a:pt x="488442" y="397002"/>
                      </a:cubicBezTo>
                      <a:cubicBezTo>
                        <a:pt x="500539" y="418624"/>
                        <a:pt x="507682" y="459581"/>
                        <a:pt x="495681" y="488442"/>
                      </a:cubicBezTo>
                      <a:cubicBezTo>
                        <a:pt x="483680" y="517303"/>
                        <a:pt x="442722" y="603980"/>
                        <a:pt x="442722" y="654463"/>
                      </a:cubicBezTo>
                      <a:cubicBezTo>
                        <a:pt x="442722" y="704945"/>
                        <a:pt x="500443" y="827722"/>
                        <a:pt x="500443" y="854202"/>
                      </a:cubicBezTo>
                      <a:cubicBezTo>
                        <a:pt x="500443" y="880681"/>
                        <a:pt x="529304" y="1027462"/>
                        <a:pt x="517303" y="1058704"/>
                      </a:cubicBezTo>
                      <a:cubicBezTo>
                        <a:pt x="505301" y="1089946"/>
                        <a:pt x="423481" y="1181386"/>
                        <a:pt x="399383" y="1193483"/>
                      </a:cubicBezTo>
                      <a:cubicBezTo>
                        <a:pt x="375285" y="1205579"/>
                        <a:pt x="310324" y="1222343"/>
                        <a:pt x="293465" y="1246442"/>
                      </a:cubicBezTo>
                      <a:cubicBezTo>
                        <a:pt x="276606" y="1270540"/>
                        <a:pt x="269367" y="1313783"/>
                        <a:pt x="252603" y="1330643"/>
                      </a:cubicBezTo>
                      <a:cubicBezTo>
                        <a:pt x="235839" y="1347502"/>
                        <a:pt x="199644" y="1371505"/>
                        <a:pt x="197263" y="1393222"/>
                      </a:cubicBezTo>
                      <a:cubicBezTo>
                        <a:pt x="194881" y="1414939"/>
                        <a:pt x="204502" y="1424464"/>
                        <a:pt x="230981" y="1450943"/>
                      </a:cubicBezTo>
                      <a:cubicBezTo>
                        <a:pt x="257461" y="1477423"/>
                        <a:pt x="262223" y="1527905"/>
                        <a:pt x="255079" y="1554385"/>
                      </a:cubicBezTo>
                      <a:cubicBezTo>
                        <a:pt x="247936" y="1580864"/>
                        <a:pt x="226219" y="1650683"/>
                        <a:pt x="209359" y="1662684"/>
                      </a:cubicBezTo>
                      <a:cubicBezTo>
                        <a:pt x="192500" y="1674685"/>
                        <a:pt x="175641" y="1679543"/>
                        <a:pt x="163639" y="1691545"/>
                      </a:cubicBezTo>
                      <a:cubicBezTo>
                        <a:pt x="151638" y="1703546"/>
                        <a:pt x="158782" y="1725263"/>
                        <a:pt x="139541" y="1732407"/>
                      </a:cubicBezTo>
                      <a:cubicBezTo>
                        <a:pt x="120301" y="1739551"/>
                        <a:pt x="81820" y="1749266"/>
                        <a:pt x="67342" y="1761268"/>
                      </a:cubicBezTo>
                      <a:cubicBezTo>
                        <a:pt x="52864" y="1773269"/>
                        <a:pt x="0" y="1826228"/>
                        <a:pt x="0" y="1826228"/>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35" name="Freeform: Shape 34">
                  <a:extLst>
                    <a:ext uri="{FF2B5EF4-FFF2-40B4-BE49-F238E27FC236}">
                      <a16:creationId xmlns:a16="http://schemas.microsoft.com/office/drawing/2014/main" id="{5DCEFAE1-73EE-121B-38A0-7F3D2C92942B}"/>
                    </a:ext>
                  </a:extLst>
                </p:cNvPr>
                <p:cNvSpPr/>
                <p:nvPr/>
              </p:nvSpPr>
              <p:spPr>
                <a:xfrm>
                  <a:off x="5208945" y="1922968"/>
                  <a:ext cx="401809" cy="822752"/>
                </a:xfrm>
                <a:custGeom>
                  <a:avLst/>
                  <a:gdLst>
                    <a:gd name="connsiteX0" fmla="*/ 632777 w 632776"/>
                    <a:gd name="connsiteY0" fmla="*/ 0 h 1295685"/>
                    <a:gd name="connsiteX1" fmla="*/ 533526 w 632776"/>
                    <a:gd name="connsiteY1" fmla="*/ 75152 h 1295685"/>
                    <a:gd name="connsiteX2" fmla="*/ 473328 w 632776"/>
                    <a:gd name="connsiteY2" fmla="*/ 248412 h 1295685"/>
                    <a:gd name="connsiteX3" fmla="*/ 355409 w 632776"/>
                    <a:gd name="connsiteY3" fmla="*/ 486632 h 1295685"/>
                    <a:gd name="connsiteX4" fmla="*/ 365029 w 632776"/>
                    <a:gd name="connsiteY4" fmla="*/ 578072 h 1295685"/>
                    <a:gd name="connsiteX5" fmla="*/ 288067 w 632776"/>
                    <a:gd name="connsiteY5" fmla="*/ 695992 h 1295685"/>
                    <a:gd name="connsiteX6" fmla="*/ 165385 w 632776"/>
                    <a:gd name="connsiteY6" fmla="*/ 772954 h 1295685"/>
                    <a:gd name="connsiteX7" fmla="*/ 141287 w 632776"/>
                    <a:gd name="connsiteY7" fmla="*/ 859536 h 1295685"/>
                    <a:gd name="connsiteX8" fmla="*/ 23367 w 632776"/>
                    <a:gd name="connsiteY8" fmla="*/ 931736 h 1295685"/>
                    <a:gd name="connsiteX9" fmla="*/ 1745 w 632776"/>
                    <a:gd name="connsiteY9" fmla="*/ 1054418 h 1295685"/>
                    <a:gd name="connsiteX10" fmla="*/ 45084 w 632776"/>
                    <a:gd name="connsiteY10" fmla="*/ 1160335 h 1295685"/>
                    <a:gd name="connsiteX11" fmla="*/ 22796 w 632776"/>
                    <a:gd name="connsiteY11" fmla="*/ 1295686 h 129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2776" h="1295685">
                      <a:moveTo>
                        <a:pt x="632777" y="0"/>
                      </a:moveTo>
                      <a:cubicBezTo>
                        <a:pt x="620775" y="12002"/>
                        <a:pt x="550385" y="53531"/>
                        <a:pt x="533526" y="75152"/>
                      </a:cubicBezTo>
                      <a:cubicBezTo>
                        <a:pt x="516667" y="96774"/>
                        <a:pt x="480567" y="233934"/>
                        <a:pt x="473328" y="248412"/>
                      </a:cubicBezTo>
                      <a:cubicBezTo>
                        <a:pt x="466089" y="262890"/>
                        <a:pt x="362648" y="467392"/>
                        <a:pt x="355409" y="486632"/>
                      </a:cubicBezTo>
                      <a:cubicBezTo>
                        <a:pt x="348170" y="505873"/>
                        <a:pt x="372268" y="553974"/>
                        <a:pt x="365029" y="578072"/>
                      </a:cubicBezTo>
                      <a:cubicBezTo>
                        <a:pt x="357790" y="602171"/>
                        <a:pt x="328929" y="676751"/>
                        <a:pt x="288067" y="695992"/>
                      </a:cubicBezTo>
                      <a:cubicBezTo>
                        <a:pt x="247205" y="715232"/>
                        <a:pt x="179768" y="753713"/>
                        <a:pt x="165385" y="772954"/>
                      </a:cubicBezTo>
                      <a:cubicBezTo>
                        <a:pt x="151002" y="792194"/>
                        <a:pt x="160527" y="840296"/>
                        <a:pt x="141287" y="859536"/>
                      </a:cubicBezTo>
                      <a:cubicBezTo>
                        <a:pt x="122046" y="878777"/>
                        <a:pt x="35369" y="912495"/>
                        <a:pt x="23367" y="931736"/>
                      </a:cubicBezTo>
                      <a:cubicBezTo>
                        <a:pt x="11366" y="950976"/>
                        <a:pt x="-5494" y="1028033"/>
                        <a:pt x="1745" y="1054418"/>
                      </a:cubicBezTo>
                      <a:cubicBezTo>
                        <a:pt x="8984" y="1080802"/>
                        <a:pt x="45084" y="1133856"/>
                        <a:pt x="45084" y="1160335"/>
                      </a:cubicBezTo>
                      <a:cubicBezTo>
                        <a:pt x="45084" y="1186815"/>
                        <a:pt x="34893" y="1276445"/>
                        <a:pt x="22796" y="1295686"/>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36" name="Freeform: Shape 35">
                  <a:extLst>
                    <a:ext uri="{FF2B5EF4-FFF2-40B4-BE49-F238E27FC236}">
                      <a16:creationId xmlns:a16="http://schemas.microsoft.com/office/drawing/2014/main" id="{A4AD5006-D3A7-EAAB-64E0-208893F310C6}"/>
                    </a:ext>
                  </a:extLst>
                </p:cNvPr>
                <p:cNvSpPr/>
                <p:nvPr/>
              </p:nvSpPr>
              <p:spPr>
                <a:xfrm>
                  <a:off x="3608639" y="1837277"/>
                  <a:ext cx="652130" cy="269499"/>
                </a:xfrm>
                <a:custGeom>
                  <a:avLst/>
                  <a:gdLst>
                    <a:gd name="connsiteX0" fmla="*/ 1026985 w 1026985"/>
                    <a:gd name="connsiteY0" fmla="*/ 3217 h 424412"/>
                    <a:gd name="connsiteX1" fmla="*/ 890397 w 1026985"/>
                    <a:gd name="connsiteY1" fmla="*/ 3217 h 424412"/>
                    <a:gd name="connsiteX2" fmla="*/ 784479 w 1026985"/>
                    <a:gd name="connsiteY2" fmla="*/ 36936 h 424412"/>
                    <a:gd name="connsiteX3" fmla="*/ 613601 w 1026985"/>
                    <a:gd name="connsiteY3" fmla="*/ 24934 h 424412"/>
                    <a:gd name="connsiteX4" fmla="*/ 348901 w 1026985"/>
                    <a:gd name="connsiteY4" fmla="*/ 231913 h 424412"/>
                    <a:gd name="connsiteX5" fmla="*/ 281559 w 1026985"/>
                    <a:gd name="connsiteY5" fmla="*/ 287253 h 424412"/>
                    <a:gd name="connsiteX6" fmla="*/ 139541 w 1026985"/>
                    <a:gd name="connsiteY6" fmla="*/ 340212 h 424412"/>
                    <a:gd name="connsiteX7" fmla="*/ 0 w 1026985"/>
                    <a:gd name="connsiteY7" fmla="*/ 424413 h 42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6985" h="424412">
                      <a:moveTo>
                        <a:pt x="1026985" y="3217"/>
                      </a:moveTo>
                      <a:cubicBezTo>
                        <a:pt x="1026985" y="3217"/>
                        <a:pt x="914495" y="-4022"/>
                        <a:pt x="890397" y="3217"/>
                      </a:cubicBezTo>
                      <a:cubicBezTo>
                        <a:pt x="866299" y="10456"/>
                        <a:pt x="815816" y="32078"/>
                        <a:pt x="784479" y="36936"/>
                      </a:cubicBezTo>
                      <a:cubicBezTo>
                        <a:pt x="753142" y="41794"/>
                        <a:pt x="644938" y="12838"/>
                        <a:pt x="613601" y="24934"/>
                      </a:cubicBezTo>
                      <a:cubicBezTo>
                        <a:pt x="582263" y="37031"/>
                        <a:pt x="370523" y="219816"/>
                        <a:pt x="348901" y="231913"/>
                      </a:cubicBezTo>
                      <a:cubicBezTo>
                        <a:pt x="327279" y="244009"/>
                        <a:pt x="310420" y="272775"/>
                        <a:pt x="281559" y="287253"/>
                      </a:cubicBezTo>
                      <a:cubicBezTo>
                        <a:pt x="252698" y="301731"/>
                        <a:pt x="167640" y="332592"/>
                        <a:pt x="139541" y="340212"/>
                      </a:cubicBezTo>
                      <a:cubicBezTo>
                        <a:pt x="108299" y="348594"/>
                        <a:pt x="26479" y="375073"/>
                        <a:pt x="0" y="424413"/>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37" name="Freeform: Shape 36">
                  <a:extLst>
                    <a:ext uri="{FF2B5EF4-FFF2-40B4-BE49-F238E27FC236}">
                      <a16:creationId xmlns:a16="http://schemas.microsoft.com/office/drawing/2014/main" id="{7AC6ECE8-EFEB-110B-2841-F25431DE9151}"/>
                    </a:ext>
                  </a:extLst>
                </p:cNvPr>
                <p:cNvSpPr/>
                <p:nvPr/>
              </p:nvSpPr>
              <p:spPr>
                <a:xfrm>
                  <a:off x="4942597" y="2747536"/>
                  <a:ext cx="298978" cy="236968"/>
                </a:xfrm>
                <a:custGeom>
                  <a:avLst/>
                  <a:gdLst>
                    <a:gd name="connsiteX0" fmla="*/ 439484 w 470835"/>
                    <a:gd name="connsiteY0" fmla="*/ 0 h 373182"/>
                    <a:gd name="connsiteX1" fmla="*/ 433197 w 470835"/>
                    <a:gd name="connsiteY1" fmla="*/ 78486 h 373182"/>
                    <a:gd name="connsiteX2" fmla="*/ 469297 w 470835"/>
                    <a:gd name="connsiteY2" fmla="*/ 136208 h 373182"/>
                    <a:gd name="connsiteX3" fmla="*/ 450056 w 470835"/>
                    <a:gd name="connsiteY3" fmla="*/ 186785 h 373182"/>
                    <a:gd name="connsiteX4" fmla="*/ 250317 w 470835"/>
                    <a:gd name="connsiteY4" fmla="*/ 355187 h 373182"/>
                    <a:gd name="connsiteX5" fmla="*/ 170879 w 470835"/>
                    <a:gd name="connsiteY5" fmla="*/ 367189 h 373182"/>
                    <a:gd name="connsiteX6" fmla="*/ 108299 w 470835"/>
                    <a:gd name="connsiteY6" fmla="*/ 338328 h 373182"/>
                    <a:gd name="connsiteX7" fmla="*/ 0 w 470835"/>
                    <a:gd name="connsiteY7" fmla="*/ 335947 h 37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835" h="373182">
                      <a:moveTo>
                        <a:pt x="439484" y="0"/>
                      </a:moveTo>
                      <a:cubicBezTo>
                        <a:pt x="440341" y="9906"/>
                        <a:pt x="425958" y="62294"/>
                        <a:pt x="433197" y="78486"/>
                      </a:cubicBezTo>
                      <a:cubicBezTo>
                        <a:pt x="443294" y="101155"/>
                        <a:pt x="469297" y="124206"/>
                        <a:pt x="469297" y="136208"/>
                      </a:cubicBezTo>
                      <a:cubicBezTo>
                        <a:pt x="469297" y="148209"/>
                        <a:pt x="478917" y="165068"/>
                        <a:pt x="450056" y="186785"/>
                      </a:cubicBezTo>
                      <a:cubicBezTo>
                        <a:pt x="421196" y="208502"/>
                        <a:pt x="276796" y="338423"/>
                        <a:pt x="250317" y="355187"/>
                      </a:cubicBezTo>
                      <a:cubicBezTo>
                        <a:pt x="223838" y="371951"/>
                        <a:pt x="194977" y="379286"/>
                        <a:pt x="170879" y="367189"/>
                      </a:cubicBezTo>
                      <a:cubicBezTo>
                        <a:pt x="146780" y="355092"/>
                        <a:pt x="137255" y="338995"/>
                        <a:pt x="108299" y="338328"/>
                      </a:cubicBezTo>
                      <a:cubicBezTo>
                        <a:pt x="72199" y="337471"/>
                        <a:pt x="0" y="335947"/>
                        <a:pt x="0" y="335947"/>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38" name="Freeform: Shape 37">
                  <a:extLst>
                    <a:ext uri="{FF2B5EF4-FFF2-40B4-BE49-F238E27FC236}">
                      <a16:creationId xmlns:a16="http://schemas.microsoft.com/office/drawing/2014/main" id="{588A1EF2-CD5E-6305-7CD2-203AE59A42E1}"/>
                    </a:ext>
                  </a:extLst>
                </p:cNvPr>
                <p:cNvSpPr/>
                <p:nvPr/>
              </p:nvSpPr>
              <p:spPr>
                <a:xfrm>
                  <a:off x="5028603" y="1737345"/>
                  <a:ext cx="1022227" cy="488159"/>
                </a:xfrm>
                <a:custGeom>
                  <a:avLst/>
                  <a:gdLst>
                    <a:gd name="connsiteX0" fmla="*/ 0 w 1609820"/>
                    <a:gd name="connsiteY0" fmla="*/ 37910 h 768762"/>
                    <a:gd name="connsiteX1" fmla="*/ 57721 w 1609820"/>
                    <a:gd name="connsiteY1" fmla="*/ 12668 h 768762"/>
                    <a:gd name="connsiteX2" fmla="*/ 438531 w 1609820"/>
                    <a:gd name="connsiteY2" fmla="*/ 0 h 768762"/>
                    <a:gd name="connsiteX3" fmla="*/ 637032 w 1609820"/>
                    <a:gd name="connsiteY3" fmla="*/ 32480 h 768762"/>
                    <a:gd name="connsiteX4" fmla="*/ 720090 w 1609820"/>
                    <a:gd name="connsiteY4" fmla="*/ 77629 h 768762"/>
                    <a:gd name="connsiteX5" fmla="*/ 887921 w 1609820"/>
                    <a:gd name="connsiteY5" fmla="*/ 258127 h 768762"/>
                    <a:gd name="connsiteX6" fmla="*/ 956501 w 1609820"/>
                    <a:gd name="connsiteY6" fmla="*/ 317659 h 768762"/>
                    <a:gd name="connsiteX7" fmla="*/ 1021461 w 1609820"/>
                    <a:gd name="connsiteY7" fmla="*/ 348329 h 768762"/>
                    <a:gd name="connsiteX8" fmla="*/ 1093661 w 1609820"/>
                    <a:gd name="connsiteY8" fmla="*/ 368141 h 768762"/>
                    <a:gd name="connsiteX9" fmla="*/ 1219962 w 1609820"/>
                    <a:gd name="connsiteY9" fmla="*/ 431292 h 768762"/>
                    <a:gd name="connsiteX10" fmla="*/ 1328261 w 1609820"/>
                    <a:gd name="connsiteY10" fmla="*/ 501682 h 768762"/>
                    <a:gd name="connsiteX11" fmla="*/ 1395032 w 1609820"/>
                    <a:gd name="connsiteY11" fmla="*/ 521494 h 768762"/>
                    <a:gd name="connsiteX12" fmla="*/ 1512380 w 1609820"/>
                    <a:gd name="connsiteY12" fmla="*/ 564832 h 768762"/>
                    <a:gd name="connsiteX13" fmla="*/ 1590008 w 1609820"/>
                    <a:gd name="connsiteY13" fmla="*/ 664083 h 768762"/>
                    <a:gd name="connsiteX14" fmla="*/ 1609820 w 1609820"/>
                    <a:gd name="connsiteY14" fmla="*/ 768763 h 76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09820" h="768762">
                      <a:moveTo>
                        <a:pt x="0" y="37910"/>
                      </a:moveTo>
                      <a:cubicBezTo>
                        <a:pt x="0" y="37910"/>
                        <a:pt x="48768" y="12668"/>
                        <a:pt x="57721" y="12668"/>
                      </a:cubicBezTo>
                      <a:cubicBezTo>
                        <a:pt x="66675" y="12668"/>
                        <a:pt x="375380" y="0"/>
                        <a:pt x="438531" y="0"/>
                      </a:cubicBezTo>
                      <a:cubicBezTo>
                        <a:pt x="501682" y="0"/>
                        <a:pt x="591979" y="10858"/>
                        <a:pt x="637032" y="32480"/>
                      </a:cubicBezTo>
                      <a:cubicBezTo>
                        <a:pt x="637032" y="32480"/>
                        <a:pt x="694754" y="55912"/>
                        <a:pt x="720090" y="77629"/>
                      </a:cubicBezTo>
                      <a:cubicBezTo>
                        <a:pt x="745427" y="99346"/>
                        <a:pt x="875252" y="238220"/>
                        <a:pt x="887921" y="258127"/>
                      </a:cubicBezTo>
                      <a:cubicBezTo>
                        <a:pt x="900589" y="278035"/>
                        <a:pt x="933069" y="303276"/>
                        <a:pt x="956501" y="317659"/>
                      </a:cubicBezTo>
                      <a:cubicBezTo>
                        <a:pt x="979932" y="332042"/>
                        <a:pt x="1005269" y="346519"/>
                        <a:pt x="1021461" y="348329"/>
                      </a:cubicBezTo>
                      <a:cubicBezTo>
                        <a:pt x="1037654" y="350139"/>
                        <a:pt x="1068419" y="359188"/>
                        <a:pt x="1093661" y="368141"/>
                      </a:cubicBezTo>
                      <a:cubicBezTo>
                        <a:pt x="1118902" y="377095"/>
                        <a:pt x="1200150" y="418719"/>
                        <a:pt x="1219962" y="431292"/>
                      </a:cubicBezTo>
                      <a:cubicBezTo>
                        <a:pt x="1239774" y="443865"/>
                        <a:pt x="1306544" y="489014"/>
                        <a:pt x="1328261" y="501682"/>
                      </a:cubicBezTo>
                      <a:cubicBezTo>
                        <a:pt x="1349978" y="514350"/>
                        <a:pt x="1373410" y="519684"/>
                        <a:pt x="1395032" y="521494"/>
                      </a:cubicBezTo>
                      <a:cubicBezTo>
                        <a:pt x="1416653" y="523303"/>
                        <a:pt x="1487043" y="539496"/>
                        <a:pt x="1512380" y="564832"/>
                      </a:cubicBezTo>
                      <a:cubicBezTo>
                        <a:pt x="1537716" y="590169"/>
                        <a:pt x="1575530" y="620744"/>
                        <a:pt x="1590008" y="664083"/>
                      </a:cubicBezTo>
                      <a:cubicBezTo>
                        <a:pt x="1604486" y="707422"/>
                        <a:pt x="1609820" y="738092"/>
                        <a:pt x="1609820" y="768763"/>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39" name="Freeform: Shape 38">
                  <a:extLst>
                    <a:ext uri="{FF2B5EF4-FFF2-40B4-BE49-F238E27FC236}">
                      <a16:creationId xmlns:a16="http://schemas.microsoft.com/office/drawing/2014/main" id="{C357741E-E908-12CD-83D1-CA0DF2D29657}"/>
                    </a:ext>
                  </a:extLst>
                </p:cNvPr>
                <p:cNvSpPr/>
                <p:nvPr/>
              </p:nvSpPr>
              <p:spPr>
                <a:xfrm>
                  <a:off x="4236697" y="1495446"/>
                  <a:ext cx="791967" cy="326154"/>
                </a:xfrm>
                <a:custGeom>
                  <a:avLst/>
                  <a:gdLst>
                    <a:gd name="connsiteX0" fmla="*/ 0 w 1247203"/>
                    <a:gd name="connsiteY0" fmla="*/ 77766 h 513633"/>
                    <a:gd name="connsiteX1" fmla="*/ 77629 w 1247203"/>
                    <a:gd name="connsiteY1" fmla="*/ 30807 h 513633"/>
                    <a:gd name="connsiteX2" fmla="*/ 178689 w 1247203"/>
                    <a:gd name="connsiteY2" fmla="*/ 137 h 513633"/>
                    <a:gd name="connsiteX3" fmla="*/ 306800 w 1247203"/>
                    <a:gd name="connsiteY3" fmla="*/ 39856 h 513633"/>
                    <a:gd name="connsiteX4" fmla="*/ 427672 w 1247203"/>
                    <a:gd name="connsiteY4" fmla="*/ 110246 h 513633"/>
                    <a:gd name="connsiteX5" fmla="*/ 510730 w 1247203"/>
                    <a:gd name="connsiteY5" fmla="*/ 191494 h 513633"/>
                    <a:gd name="connsiteX6" fmla="*/ 545021 w 1247203"/>
                    <a:gd name="connsiteY6" fmla="*/ 283506 h 513633"/>
                    <a:gd name="connsiteX7" fmla="*/ 590169 w 1247203"/>
                    <a:gd name="connsiteY7" fmla="*/ 346656 h 513633"/>
                    <a:gd name="connsiteX8" fmla="*/ 619030 w 1247203"/>
                    <a:gd name="connsiteY8" fmla="*/ 404378 h 513633"/>
                    <a:gd name="connsiteX9" fmla="*/ 653320 w 1247203"/>
                    <a:gd name="connsiteY9" fmla="*/ 467529 h 513633"/>
                    <a:gd name="connsiteX10" fmla="*/ 761619 w 1247203"/>
                    <a:gd name="connsiteY10" fmla="*/ 507248 h 513633"/>
                    <a:gd name="connsiteX11" fmla="*/ 842867 w 1247203"/>
                    <a:gd name="connsiteY11" fmla="*/ 510867 h 513633"/>
                    <a:gd name="connsiteX12" fmla="*/ 920496 w 1247203"/>
                    <a:gd name="connsiteY12" fmla="*/ 489246 h 513633"/>
                    <a:gd name="connsiteX13" fmla="*/ 985456 w 1247203"/>
                    <a:gd name="connsiteY13" fmla="*/ 478387 h 513633"/>
                    <a:gd name="connsiteX14" fmla="*/ 1064895 w 1247203"/>
                    <a:gd name="connsiteY14" fmla="*/ 458575 h 513633"/>
                    <a:gd name="connsiteX15" fmla="*/ 1164146 w 1247203"/>
                    <a:gd name="connsiteY15" fmla="*/ 456765 h 513633"/>
                    <a:gd name="connsiteX16" fmla="*/ 1205674 w 1247203"/>
                    <a:gd name="connsiteY16" fmla="*/ 444097 h 513633"/>
                    <a:gd name="connsiteX17" fmla="*/ 1247204 w 1247203"/>
                    <a:gd name="connsiteY17" fmla="*/ 418856 h 51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47203" h="513633">
                      <a:moveTo>
                        <a:pt x="0" y="77766"/>
                      </a:moveTo>
                      <a:cubicBezTo>
                        <a:pt x="0" y="77766"/>
                        <a:pt x="55912" y="41666"/>
                        <a:pt x="77629" y="30807"/>
                      </a:cubicBezTo>
                      <a:cubicBezTo>
                        <a:pt x="99346" y="19949"/>
                        <a:pt x="144399" y="1947"/>
                        <a:pt x="178689" y="137"/>
                      </a:cubicBezTo>
                      <a:cubicBezTo>
                        <a:pt x="212979" y="-1673"/>
                        <a:pt x="270700" y="14615"/>
                        <a:pt x="306800" y="39856"/>
                      </a:cubicBezTo>
                      <a:cubicBezTo>
                        <a:pt x="342900" y="65097"/>
                        <a:pt x="407861" y="95768"/>
                        <a:pt x="427672" y="110246"/>
                      </a:cubicBezTo>
                      <a:cubicBezTo>
                        <a:pt x="447484" y="124724"/>
                        <a:pt x="496253" y="162538"/>
                        <a:pt x="510730" y="191494"/>
                      </a:cubicBezTo>
                      <a:cubicBezTo>
                        <a:pt x="525208" y="220450"/>
                        <a:pt x="534162" y="265503"/>
                        <a:pt x="545021" y="283506"/>
                      </a:cubicBezTo>
                      <a:cubicBezTo>
                        <a:pt x="555879" y="301508"/>
                        <a:pt x="572072" y="328654"/>
                        <a:pt x="590169" y="346656"/>
                      </a:cubicBezTo>
                      <a:cubicBezTo>
                        <a:pt x="608266" y="364659"/>
                        <a:pt x="611791" y="377327"/>
                        <a:pt x="619030" y="404378"/>
                      </a:cubicBezTo>
                      <a:cubicBezTo>
                        <a:pt x="626269" y="431429"/>
                        <a:pt x="633508" y="453146"/>
                        <a:pt x="653320" y="467529"/>
                      </a:cubicBezTo>
                      <a:cubicBezTo>
                        <a:pt x="673132" y="481911"/>
                        <a:pt x="743522" y="505438"/>
                        <a:pt x="761619" y="507248"/>
                      </a:cubicBezTo>
                      <a:cubicBezTo>
                        <a:pt x="779716" y="509058"/>
                        <a:pt x="815721" y="518106"/>
                        <a:pt x="842867" y="510867"/>
                      </a:cubicBezTo>
                      <a:cubicBezTo>
                        <a:pt x="870013" y="503628"/>
                        <a:pt x="909638" y="489246"/>
                        <a:pt x="920496" y="489246"/>
                      </a:cubicBezTo>
                      <a:cubicBezTo>
                        <a:pt x="931355" y="489246"/>
                        <a:pt x="965645" y="487436"/>
                        <a:pt x="985456" y="478387"/>
                      </a:cubicBezTo>
                      <a:cubicBezTo>
                        <a:pt x="1005268" y="469338"/>
                        <a:pt x="1044988" y="458575"/>
                        <a:pt x="1064895" y="458575"/>
                      </a:cubicBezTo>
                      <a:cubicBezTo>
                        <a:pt x="1084802" y="458575"/>
                        <a:pt x="1146143" y="454956"/>
                        <a:pt x="1164146" y="456765"/>
                      </a:cubicBezTo>
                      <a:cubicBezTo>
                        <a:pt x="1182148" y="458575"/>
                        <a:pt x="1193006" y="451336"/>
                        <a:pt x="1205674" y="444097"/>
                      </a:cubicBezTo>
                      <a:cubicBezTo>
                        <a:pt x="1218343" y="436858"/>
                        <a:pt x="1247204" y="418856"/>
                        <a:pt x="1247204" y="418856"/>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40" name="Freeform: Shape 39">
                  <a:extLst>
                    <a:ext uri="{FF2B5EF4-FFF2-40B4-BE49-F238E27FC236}">
                      <a16:creationId xmlns:a16="http://schemas.microsoft.com/office/drawing/2014/main" id="{F383200D-FA39-123F-B63B-B2B2F82FFCFC}"/>
                    </a:ext>
                  </a:extLst>
                </p:cNvPr>
                <p:cNvSpPr/>
                <p:nvPr/>
              </p:nvSpPr>
              <p:spPr>
                <a:xfrm>
                  <a:off x="4207665" y="1356482"/>
                  <a:ext cx="215804" cy="874647"/>
                </a:xfrm>
                <a:custGeom>
                  <a:avLst/>
                  <a:gdLst>
                    <a:gd name="connsiteX0" fmla="*/ 0 w 339852"/>
                    <a:gd name="connsiteY0" fmla="*/ 0 h 1377410"/>
                    <a:gd name="connsiteX1" fmla="*/ 2381 w 339852"/>
                    <a:gd name="connsiteY1" fmla="*/ 122682 h 1377410"/>
                    <a:gd name="connsiteX2" fmla="*/ 40862 w 339852"/>
                    <a:gd name="connsiteY2" fmla="*/ 254984 h 1377410"/>
                    <a:gd name="connsiteX3" fmla="*/ 50483 w 339852"/>
                    <a:gd name="connsiteY3" fmla="*/ 485966 h 1377410"/>
                    <a:gd name="connsiteX4" fmla="*/ 81725 w 339852"/>
                    <a:gd name="connsiteY4" fmla="*/ 608648 h 1377410"/>
                    <a:gd name="connsiteX5" fmla="*/ 86582 w 339852"/>
                    <a:gd name="connsiteY5" fmla="*/ 810768 h 1377410"/>
                    <a:gd name="connsiteX6" fmla="*/ 158782 w 339852"/>
                    <a:gd name="connsiteY6" fmla="*/ 1082707 h 1377410"/>
                    <a:gd name="connsiteX7" fmla="*/ 170783 w 339852"/>
                    <a:gd name="connsiteY7" fmla="*/ 1195769 h 1377410"/>
                    <a:gd name="connsiteX8" fmla="*/ 252603 w 339852"/>
                    <a:gd name="connsiteY8" fmla="*/ 1299210 h 1377410"/>
                    <a:gd name="connsiteX9" fmla="*/ 317563 w 339852"/>
                    <a:gd name="connsiteY9" fmla="*/ 1344930 h 1377410"/>
                    <a:gd name="connsiteX10" fmla="*/ 339852 w 339852"/>
                    <a:gd name="connsiteY10" fmla="*/ 1377410 h 1377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9852" h="1377410">
                      <a:moveTo>
                        <a:pt x="0" y="0"/>
                      </a:moveTo>
                      <a:lnTo>
                        <a:pt x="2381" y="122682"/>
                      </a:lnTo>
                      <a:lnTo>
                        <a:pt x="40862" y="254984"/>
                      </a:lnTo>
                      <a:lnTo>
                        <a:pt x="50483" y="485966"/>
                      </a:lnTo>
                      <a:lnTo>
                        <a:pt x="81725" y="608648"/>
                      </a:lnTo>
                      <a:lnTo>
                        <a:pt x="86582" y="810768"/>
                      </a:lnTo>
                      <a:lnTo>
                        <a:pt x="158782" y="1082707"/>
                      </a:lnTo>
                      <a:cubicBezTo>
                        <a:pt x="158782" y="1082707"/>
                        <a:pt x="156400" y="1171765"/>
                        <a:pt x="170783" y="1195769"/>
                      </a:cubicBezTo>
                      <a:cubicBezTo>
                        <a:pt x="185166" y="1219772"/>
                        <a:pt x="228505" y="1282351"/>
                        <a:pt x="252603" y="1299210"/>
                      </a:cubicBezTo>
                      <a:cubicBezTo>
                        <a:pt x="276701" y="1316069"/>
                        <a:pt x="312801" y="1337691"/>
                        <a:pt x="317563" y="1344930"/>
                      </a:cubicBezTo>
                      <a:cubicBezTo>
                        <a:pt x="322326" y="1352169"/>
                        <a:pt x="339852" y="1377410"/>
                        <a:pt x="339852" y="1377410"/>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41" name="Freeform: Shape 40">
                  <a:extLst>
                    <a:ext uri="{FF2B5EF4-FFF2-40B4-BE49-F238E27FC236}">
                      <a16:creationId xmlns:a16="http://schemas.microsoft.com/office/drawing/2014/main" id="{EAC91BED-1C34-BD90-3B86-8411AB49B3DB}"/>
                    </a:ext>
                  </a:extLst>
                </p:cNvPr>
                <p:cNvSpPr/>
                <p:nvPr/>
              </p:nvSpPr>
              <p:spPr>
                <a:xfrm>
                  <a:off x="3215982" y="2105110"/>
                  <a:ext cx="2988415" cy="408027"/>
                </a:xfrm>
                <a:custGeom>
                  <a:avLst/>
                  <a:gdLst>
                    <a:gd name="connsiteX0" fmla="*/ 0 w 4706207"/>
                    <a:gd name="connsiteY0" fmla="*/ 592126 h 642568"/>
                    <a:gd name="connsiteX1" fmla="*/ 55340 w 4706207"/>
                    <a:gd name="connsiteY1" fmla="*/ 531928 h 642568"/>
                    <a:gd name="connsiteX2" fmla="*/ 105918 w 4706207"/>
                    <a:gd name="connsiteY2" fmla="*/ 498210 h 642568"/>
                    <a:gd name="connsiteX3" fmla="*/ 163640 w 4706207"/>
                    <a:gd name="connsiteY3" fmla="*/ 474112 h 642568"/>
                    <a:gd name="connsiteX4" fmla="*/ 204502 w 4706207"/>
                    <a:gd name="connsiteY4" fmla="*/ 392292 h 642568"/>
                    <a:gd name="connsiteX5" fmla="*/ 228600 w 4706207"/>
                    <a:gd name="connsiteY5" fmla="*/ 351430 h 642568"/>
                    <a:gd name="connsiteX6" fmla="*/ 286322 w 4706207"/>
                    <a:gd name="connsiteY6" fmla="*/ 344191 h 642568"/>
                    <a:gd name="connsiteX7" fmla="*/ 437959 w 4706207"/>
                    <a:gd name="connsiteY7" fmla="*/ 228652 h 642568"/>
                    <a:gd name="connsiteX8" fmla="*/ 529400 w 4706207"/>
                    <a:gd name="connsiteY8" fmla="*/ 96350 h 642568"/>
                    <a:gd name="connsiteX9" fmla="*/ 630460 w 4706207"/>
                    <a:gd name="connsiteY9" fmla="*/ 52 h 642568"/>
                    <a:gd name="connsiteX10" fmla="*/ 707422 w 4706207"/>
                    <a:gd name="connsiteY10" fmla="*/ 31294 h 642568"/>
                    <a:gd name="connsiteX11" fmla="*/ 818102 w 4706207"/>
                    <a:gd name="connsiteY11" fmla="*/ 103494 h 642568"/>
                    <a:gd name="connsiteX12" fmla="*/ 979361 w 4706207"/>
                    <a:gd name="connsiteY12" fmla="*/ 137212 h 642568"/>
                    <a:gd name="connsiteX13" fmla="*/ 1102043 w 4706207"/>
                    <a:gd name="connsiteY13" fmla="*/ 255132 h 642568"/>
                    <a:gd name="connsiteX14" fmla="*/ 1212723 w 4706207"/>
                    <a:gd name="connsiteY14" fmla="*/ 274372 h 642568"/>
                    <a:gd name="connsiteX15" fmla="*/ 1484662 w 4706207"/>
                    <a:gd name="connsiteY15" fmla="*/ 435631 h 642568"/>
                    <a:gd name="connsiteX16" fmla="*/ 1609820 w 4706207"/>
                    <a:gd name="connsiteY16" fmla="*/ 433249 h 642568"/>
                    <a:gd name="connsiteX17" fmla="*/ 1698879 w 4706207"/>
                    <a:gd name="connsiteY17" fmla="*/ 375528 h 642568"/>
                    <a:gd name="connsiteX18" fmla="*/ 1742218 w 4706207"/>
                    <a:gd name="connsiteY18" fmla="*/ 315330 h 642568"/>
                    <a:gd name="connsiteX19" fmla="*/ 1824038 w 4706207"/>
                    <a:gd name="connsiteY19" fmla="*/ 286469 h 642568"/>
                    <a:gd name="connsiteX20" fmla="*/ 1896237 w 4706207"/>
                    <a:gd name="connsiteY20" fmla="*/ 202268 h 642568"/>
                    <a:gd name="connsiteX21" fmla="*/ 1997297 w 4706207"/>
                    <a:gd name="connsiteY21" fmla="*/ 219127 h 642568"/>
                    <a:gd name="connsiteX22" fmla="*/ 2180178 w 4706207"/>
                    <a:gd name="connsiteY22" fmla="*/ 409246 h 642568"/>
                    <a:gd name="connsiteX23" fmla="*/ 2281238 w 4706207"/>
                    <a:gd name="connsiteY23" fmla="*/ 457348 h 642568"/>
                    <a:gd name="connsiteX24" fmla="*/ 2382298 w 4706207"/>
                    <a:gd name="connsiteY24" fmla="*/ 505449 h 642568"/>
                    <a:gd name="connsiteX25" fmla="*/ 2435257 w 4706207"/>
                    <a:gd name="connsiteY25" fmla="*/ 546311 h 642568"/>
                    <a:gd name="connsiteX26" fmla="*/ 2490597 w 4706207"/>
                    <a:gd name="connsiteY26" fmla="*/ 541453 h 642568"/>
                    <a:gd name="connsiteX27" fmla="*/ 2555558 w 4706207"/>
                    <a:gd name="connsiteY27" fmla="*/ 546311 h 642568"/>
                    <a:gd name="connsiteX28" fmla="*/ 2687860 w 4706207"/>
                    <a:gd name="connsiteY28" fmla="*/ 498210 h 642568"/>
                    <a:gd name="connsiteX29" fmla="*/ 2851499 w 4706207"/>
                    <a:gd name="connsiteY29" fmla="*/ 507830 h 642568"/>
                    <a:gd name="connsiteX30" fmla="*/ 2952560 w 4706207"/>
                    <a:gd name="connsiteY30" fmla="*/ 486208 h 642568"/>
                    <a:gd name="connsiteX31" fmla="*/ 3003137 w 4706207"/>
                    <a:gd name="connsiteY31" fmla="*/ 507830 h 642568"/>
                    <a:gd name="connsiteX32" fmla="*/ 3060859 w 4706207"/>
                    <a:gd name="connsiteY32" fmla="*/ 539072 h 642568"/>
                    <a:gd name="connsiteX33" fmla="*/ 3133058 w 4706207"/>
                    <a:gd name="connsiteY33" fmla="*/ 620892 h 642568"/>
                    <a:gd name="connsiteX34" fmla="*/ 3205258 w 4706207"/>
                    <a:gd name="connsiteY34" fmla="*/ 640132 h 642568"/>
                    <a:gd name="connsiteX35" fmla="*/ 3571018 w 4706207"/>
                    <a:gd name="connsiteY35" fmla="*/ 553550 h 642568"/>
                    <a:gd name="connsiteX36" fmla="*/ 3679317 w 4706207"/>
                    <a:gd name="connsiteY36" fmla="*/ 519832 h 642568"/>
                    <a:gd name="connsiteX37" fmla="*/ 3912775 w 4706207"/>
                    <a:gd name="connsiteY37" fmla="*/ 404293 h 642568"/>
                    <a:gd name="connsiteX38" fmla="*/ 4066794 w 4706207"/>
                    <a:gd name="connsiteY38" fmla="*/ 413914 h 642568"/>
                    <a:gd name="connsiteX39" fmla="*/ 4141375 w 4706207"/>
                    <a:gd name="connsiteY39" fmla="*/ 377814 h 642568"/>
                    <a:gd name="connsiteX40" fmla="*/ 4297776 w 4706207"/>
                    <a:gd name="connsiteY40" fmla="*/ 245512 h 642568"/>
                    <a:gd name="connsiteX41" fmla="*/ 4420458 w 4706207"/>
                    <a:gd name="connsiteY41" fmla="*/ 185314 h 642568"/>
                    <a:gd name="connsiteX42" fmla="*/ 4528757 w 4706207"/>
                    <a:gd name="connsiteY42" fmla="*/ 271896 h 642568"/>
                    <a:gd name="connsiteX43" fmla="*/ 4591336 w 4706207"/>
                    <a:gd name="connsiteY43" fmla="*/ 336856 h 642568"/>
                    <a:gd name="connsiteX44" fmla="*/ 4706208 w 4706207"/>
                    <a:gd name="connsiteY44" fmla="*/ 393435 h 642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706207" h="642568">
                      <a:moveTo>
                        <a:pt x="0" y="592126"/>
                      </a:moveTo>
                      <a:cubicBezTo>
                        <a:pt x="0" y="592126"/>
                        <a:pt x="33719" y="546406"/>
                        <a:pt x="55340" y="531928"/>
                      </a:cubicBezTo>
                      <a:cubicBezTo>
                        <a:pt x="76962" y="517450"/>
                        <a:pt x="86582" y="498210"/>
                        <a:pt x="105918" y="498210"/>
                      </a:cubicBezTo>
                      <a:cubicBezTo>
                        <a:pt x="125254" y="498210"/>
                        <a:pt x="146780" y="490971"/>
                        <a:pt x="163640" y="474112"/>
                      </a:cubicBezTo>
                      <a:cubicBezTo>
                        <a:pt x="180499" y="457252"/>
                        <a:pt x="199739" y="421153"/>
                        <a:pt x="204502" y="392292"/>
                      </a:cubicBezTo>
                      <a:cubicBezTo>
                        <a:pt x="204502" y="392292"/>
                        <a:pt x="216503" y="356192"/>
                        <a:pt x="228600" y="351430"/>
                      </a:cubicBezTo>
                      <a:cubicBezTo>
                        <a:pt x="240697" y="346667"/>
                        <a:pt x="267081" y="358669"/>
                        <a:pt x="286322" y="344191"/>
                      </a:cubicBezTo>
                      <a:cubicBezTo>
                        <a:pt x="305562" y="329713"/>
                        <a:pt x="433102" y="238273"/>
                        <a:pt x="437959" y="228652"/>
                      </a:cubicBezTo>
                      <a:cubicBezTo>
                        <a:pt x="442817" y="219032"/>
                        <a:pt x="507778" y="115591"/>
                        <a:pt x="529400" y="96350"/>
                      </a:cubicBezTo>
                      <a:cubicBezTo>
                        <a:pt x="551021" y="77110"/>
                        <a:pt x="601599" y="-2329"/>
                        <a:pt x="630460" y="52"/>
                      </a:cubicBezTo>
                      <a:cubicBezTo>
                        <a:pt x="659321" y="2434"/>
                        <a:pt x="695420" y="12054"/>
                        <a:pt x="707422" y="31294"/>
                      </a:cubicBezTo>
                      <a:cubicBezTo>
                        <a:pt x="719423" y="50535"/>
                        <a:pt x="760381" y="101113"/>
                        <a:pt x="818102" y="103494"/>
                      </a:cubicBezTo>
                      <a:cubicBezTo>
                        <a:pt x="875824" y="105875"/>
                        <a:pt x="948023" y="110733"/>
                        <a:pt x="979361" y="137212"/>
                      </a:cubicBezTo>
                      <a:cubicBezTo>
                        <a:pt x="1010698" y="163692"/>
                        <a:pt x="1070801" y="245512"/>
                        <a:pt x="1102043" y="255132"/>
                      </a:cubicBezTo>
                      <a:cubicBezTo>
                        <a:pt x="1133285" y="264752"/>
                        <a:pt x="1198340" y="264752"/>
                        <a:pt x="1212723" y="274372"/>
                      </a:cubicBezTo>
                      <a:cubicBezTo>
                        <a:pt x="1227106" y="283993"/>
                        <a:pt x="1465421" y="426010"/>
                        <a:pt x="1484662" y="435631"/>
                      </a:cubicBezTo>
                      <a:cubicBezTo>
                        <a:pt x="1503902" y="445251"/>
                        <a:pt x="1559243" y="457252"/>
                        <a:pt x="1609820" y="433249"/>
                      </a:cubicBezTo>
                      <a:cubicBezTo>
                        <a:pt x="1660398" y="409246"/>
                        <a:pt x="1691640" y="404389"/>
                        <a:pt x="1698879" y="375528"/>
                      </a:cubicBezTo>
                      <a:cubicBezTo>
                        <a:pt x="1706118" y="346667"/>
                        <a:pt x="1727740" y="322569"/>
                        <a:pt x="1742218" y="315330"/>
                      </a:cubicBezTo>
                      <a:cubicBezTo>
                        <a:pt x="1756696" y="308091"/>
                        <a:pt x="1804797" y="300852"/>
                        <a:pt x="1824038" y="286469"/>
                      </a:cubicBezTo>
                      <a:cubicBezTo>
                        <a:pt x="1843278" y="272086"/>
                        <a:pt x="1879378" y="204649"/>
                        <a:pt x="1896237" y="202268"/>
                      </a:cubicBezTo>
                      <a:cubicBezTo>
                        <a:pt x="1913096" y="199887"/>
                        <a:pt x="1978057" y="199887"/>
                        <a:pt x="1997297" y="219127"/>
                      </a:cubicBezTo>
                      <a:cubicBezTo>
                        <a:pt x="2016538" y="238368"/>
                        <a:pt x="2165699" y="399626"/>
                        <a:pt x="2180178" y="409246"/>
                      </a:cubicBezTo>
                      <a:cubicBezTo>
                        <a:pt x="2194655" y="418867"/>
                        <a:pt x="2254758" y="450109"/>
                        <a:pt x="2281238" y="457348"/>
                      </a:cubicBezTo>
                      <a:cubicBezTo>
                        <a:pt x="2307717" y="464587"/>
                        <a:pt x="2377536" y="495829"/>
                        <a:pt x="2382298" y="505449"/>
                      </a:cubicBezTo>
                      <a:cubicBezTo>
                        <a:pt x="2387061" y="515069"/>
                        <a:pt x="2408778" y="556027"/>
                        <a:pt x="2435257" y="546311"/>
                      </a:cubicBezTo>
                      <a:cubicBezTo>
                        <a:pt x="2461736" y="536596"/>
                        <a:pt x="2480977" y="531833"/>
                        <a:pt x="2490597" y="541453"/>
                      </a:cubicBezTo>
                      <a:cubicBezTo>
                        <a:pt x="2500217" y="551074"/>
                        <a:pt x="2524316" y="563075"/>
                        <a:pt x="2555558" y="546311"/>
                      </a:cubicBezTo>
                      <a:cubicBezTo>
                        <a:pt x="2586800" y="529547"/>
                        <a:pt x="2668620" y="498210"/>
                        <a:pt x="2687860" y="498210"/>
                      </a:cubicBezTo>
                      <a:cubicBezTo>
                        <a:pt x="2707100" y="498210"/>
                        <a:pt x="2827401" y="515069"/>
                        <a:pt x="2851499" y="507830"/>
                      </a:cubicBezTo>
                      <a:cubicBezTo>
                        <a:pt x="2875598" y="500591"/>
                        <a:pt x="2933319" y="481351"/>
                        <a:pt x="2952560" y="486208"/>
                      </a:cubicBezTo>
                      <a:cubicBezTo>
                        <a:pt x="2971800" y="491066"/>
                        <a:pt x="2981420" y="503068"/>
                        <a:pt x="3003137" y="507830"/>
                      </a:cubicBezTo>
                      <a:cubicBezTo>
                        <a:pt x="3024854" y="512593"/>
                        <a:pt x="3048857" y="522308"/>
                        <a:pt x="3060859" y="539072"/>
                      </a:cubicBezTo>
                      <a:cubicBezTo>
                        <a:pt x="3072861" y="555836"/>
                        <a:pt x="3121057" y="604033"/>
                        <a:pt x="3133058" y="620892"/>
                      </a:cubicBezTo>
                      <a:cubicBezTo>
                        <a:pt x="3145060" y="637751"/>
                        <a:pt x="3171539" y="647371"/>
                        <a:pt x="3205258" y="640132"/>
                      </a:cubicBezTo>
                      <a:cubicBezTo>
                        <a:pt x="3238976" y="632893"/>
                        <a:pt x="3549396" y="555931"/>
                        <a:pt x="3571018" y="553550"/>
                      </a:cubicBezTo>
                      <a:cubicBezTo>
                        <a:pt x="3592640" y="551169"/>
                        <a:pt x="3635978" y="546311"/>
                        <a:pt x="3679317" y="519832"/>
                      </a:cubicBezTo>
                      <a:cubicBezTo>
                        <a:pt x="3722656" y="493352"/>
                        <a:pt x="3898297" y="411532"/>
                        <a:pt x="3912775" y="404293"/>
                      </a:cubicBezTo>
                      <a:cubicBezTo>
                        <a:pt x="3927253" y="397054"/>
                        <a:pt x="4040315" y="413914"/>
                        <a:pt x="4066794" y="413914"/>
                      </a:cubicBezTo>
                      <a:cubicBezTo>
                        <a:pt x="4093274" y="413914"/>
                        <a:pt x="4107656" y="406675"/>
                        <a:pt x="4141375" y="377814"/>
                      </a:cubicBezTo>
                      <a:cubicBezTo>
                        <a:pt x="4175094" y="348953"/>
                        <a:pt x="4273677" y="264752"/>
                        <a:pt x="4297776" y="245512"/>
                      </a:cubicBezTo>
                      <a:cubicBezTo>
                        <a:pt x="4321874" y="226271"/>
                        <a:pt x="4360355" y="180551"/>
                        <a:pt x="4420458" y="185314"/>
                      </a:cubicBezTo>
                      <a:cubicBezTo>
                        <a:pt x="4480560" y="190076"/>
                        <a:pt x="4509516" y="231034"/>
                        <a:pt x="4528757" y="271896"/>
                      </a:cubicBezTo>
                      <a:cubicBezTo>
                        <a:pt x="4547997" y="312758"/>
                        <a:pt x="4576858" y="332094"/>
                        <a:pt x="4591336" y="336856"/>
                      </a:cubicBezTo>
                      <a:cubicBezTo>
                        <a:pt x="4605814" y="341619"/>
                        <a:pt x="4706208" y="393435"/>
                        <a:pt x="4706208" y="393435"/>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42" name="Freeform: Shape 41">
                  <a:extLst>
                    <a:ext uri="{FF2B5EF4-FFF2-40B4-BE49-F238E27FC236}">
                      <a16:creationId xmlns:a16="http://schemas.microsoft.com/office/drawing/2014/main" id="{6F2093C6-578C-341B-A010-DB1635971B1B}"/>
                    </a:ext>
                  </a:extLst>
                </p:cNvPr>
                <p:cNvSpPr/>
                <p:nvPr/>
              </p:nvSpPr>
              <p:spPr>
                <a:xfrm>
                  <a:off x="5084804" y="2302319"/>
                  <a:ext cx="1141367" cy="553179"/>
                </a:xfrm>
                <a:custGeom>
                  <a:avLst/>
                  <a:gdLst>
                    <a:gd name="connsiteX0" fmla="*/ 1797445 w 1797445"/>
                    <a:gd name="connsiteY0" fmla="*/ 0 h 871156"/>
                    <a:gd name="connsiteX1" fmla="*/ 1761346 w 1797445"/>
                    <a:gd name="connsiteY1" fmla="*/ 89059 h 871156"/>
                    <a:gd name="connsiteX2" fmla="*/ 1604945 w 1797445"/>
                    <a:gd name="connsiteY2" fmla="*/ 320040 h 871156"/>
                    <a:gd name="connsiteX3" fmla="*/ 1539984 w 1797445"/>
                    <a:gd name="connsiteY3" fmla="*/ 363379 h 871156"/>
                    <a:gd name="connsiteX4" fmla="*/ 1349866 w 1797445"/>
                    <a:gd name="connsiteY4" fmla="*/ 449961 h 871156"/>
                    <a:gd name="connsiteX5" fmla="*/ 1203085 w 1797445"/>
                    <a:gd name="connsiteY5" fmla="*/ 457200 h 871156"/>
                    <a:gd name="connsiteX6" fmla="*/ 1000965 w 1797445"/>
                    <a:gd name="connsiteY6" fmla="*/ 519779 h 871156"/>
                    <a:gd name="connsiteX7" fmla="*/ 945625 w 1797445"/>
                    <a:gd name="connsiteY7" fmla="*/ 548640 h 871156"/>
                    <a:gd name="connsiteX8" fmla="*/ 630442 w 1797445"/>
                    <a:gd name="connsiteY8" fmla="*/ 635222 h 871156"/>
                    <a:gd name="connsiteX9" fmla="*/ 507760 w 1797445"/>
                    <a:gd name="connsiteY9" fmla="*/ 680942 h 871156"/>
                    <a:gd name="connsiteX10" fmla="*/ 430798 w 1797445"/>
                    <a:gd name="connsiteY10" fmla="*/ 690563 h 871156"/>
                    <a:gd name="connsiteX11" fmla="*/ 110758 w 1797445"/>
                    <a:gd name="connsiteY11" fmla="*/ 707422 h 871156"/>
                    <a:gd name="connsiteX12" fmla="*/ 19318 w 1797445"/>
                    <a:gd name="connsiteY12" fmla="*/ 731520 h 871156"/>
                    <a:gd name="connsiteX13" fmla="*/ 78 w 1797445"/>
                    <a:gd name="connsiteY13" fmla="*/ 782098 h 871156"/>
                    <a:gd name="connsiteX14" fmla="*/ 78 w 1797445"/>
                    <a:gd name="connsiteY14" fmla="*/ 871157 h 87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97445" h="871156">
                      <a:moveTo>
                        <a:pt x="1797445" y="0"/>
                      </a:moveTo>
                      <a:cubicBezTo>
                        <a:pt x="1797445" y="0"/>
                        <a:pt x="1773347" y="74581"/>
                        <a:pt x="1761346" y="89059"/>
                      </a:cubicBezTo>
                      <a:cubicBezTo>
                        <a:pt x="1749344" y="103537"/>
                        <a:pt x="1616946" y="308039"/>
                        <a:pt x="1604945" y="320040"/>
                      </a:cubicBezTo>
                      <a:cubicBezTo>
                        <a:pt x="1592944" y="332042"/>
                        <a:pt x="1564083" y="348901"/>
                        <a:pt x="1539984" y="363379"/>
                      </a:cubicBezTo>
                      <a:cubicBezTo>
                        <a:pt x="1515886" y="377857"/>
                        <a:pt x="1381203" y="447580"/>
                        <a:pt x="1349866" y="449961"/>
                      </a:cubicBezTo>
                      <a:cubicBezTo>
                        <a:pt x="1318528" y="452342"/>
                        <a:pt x="1236804" y="452342"/>
                        <a:pt x="1203085" y="457200"/>
                      </a:cubicBezTo>
                      <a:cubicBezTo>
                        <a:pt x="1169367" y="462058"/>
                        <a:pt x="1012966" y="512540"/>
                        <a:pt x="1000965" y="519779"/>
                      </a:cubicBezTo>
                      <a:cubicBezTo>
                        <a:pt x="988963" y="527018"/>
                        <a:pt x="960102" y="546259"/>
                        <a:pt x="945625" y="548640"/>
                      </a:cubicBezTo>
                      <a:cubicBezTo>
                        <a:pt x="931146" y="551021"/>
                        <a:pt x="656826" y="625602"/>
                        <a:pt x="630442" y="635222"/>
                      </a:cubicBezTo>
                      <a:cubicBezTo>
                        <a:pt x="604058" y="644843"/>
                        <a:pt x="536621" y="676084"/>
                        <a:pt x="507760" y="680942"/>
                      </a:cubicBezTo>
                      <a:cubicBezTo>
                        <a:pt x="478900" y="685800"/>
                        <a:pt x="471660" y="690563"/>
                        <a:pt x="430798" y="690563"/>
                      </a:cubicBezTo>
                      <a:cubicBezTo>
                        <a:pt x="389936" y="690563"/>
                        <a:pt x="144477" y="702564"/>
                        <a:pt x="110758" y="707422"/>
                      </a:cubicBezTo>
                      <a:cubicBezTo>
                        <a:pt x="77040" y="712280"/>
                        <a:pt x="40940" y="717042"/>
                        <a:pt x="19318" y="731520"/>
                      </a:cubicBezTo>
                      <a:cubicBezTo>
                        <a:pt x="-2304" y="745998"/>
                        <a:pt x="78" y="767620"/>
                        <a:pt x="78" y="782098"/>
                      </a:cubicBezTo>
                      <a:lnTo>
                        <a:pt x="78" y="871157"/>
                      </a:ln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sp>
              <p:nvSpPr>
                <p:cNvPr id="43" name="Freeform: Shape 42">
                  <a:extLst>
                    <a:ext uri="{FF2B5EF4-FFF2-40B4-BE49-F238E27FC236}">
                      <a16:creationId xmlns:a16="http://schemas.microsoft.com/office/drawing/2014/main" id="{411097AD-2E7B-D213-DDD3-1A3E692B7740}"/>
                    </a:ext>
                  </a:extLst>
                </p:cNvPr>
                <p:cNvSpPr/>
                <p:nvPr/>
              </p:nvSpPr>
              <p:spPr>
                <a:xfrm>
                  <a:off x="2976106" y="2254960"/>
                  <a:ext cx="1966490" cy="711961"/>
                </a:xfrm>
                <a:custGeom>
                  <a:avLst/>
                  <a:gdLst>
                    <a:gd name="connsiteX0" fmla="*/ 0 w 3096863"/>
                    <a:gd name="connsiteY0" fmla="*/ 0 h 1121208"/>
                    <a:gd name="connsiteX1" fmla="*/ 389858 w 3096863"/>
                    <a:gd name="connsiteY1" fmla="*/ 372999 h 1121208"/>
                    <a:gd name="connsiteX2" fmla="*/ 603980 w 3096863"/>
                    <a:gd name="connsiteY2" fmla="*/ 360998 h 1121208"/>
                    <a:gd name="connsiteX3" fmla="*/ 895160 w 3096863"/>
                    <a:gd name="connsiteY3" fmla="*/ 363379 h 1121208"/>
                    <a:gd name="connsiteX4" fmla="*/ 1070801 w 3096863"/>
                    <a:gd name="connsiteY4" fmla="*/ 377857 h 1121208"/>
                    <a:gd name="connsiteX5" fmla="*/ 1482281 w 3096863"/>
                    <a:gd name="connsiteY5" fmla="*/ 293656 h 1121208"/>
                    <a:gd name="connsiteX6" fmla="*/ 1576102 w 3096863"/>
                    <a:gd name="connsiteY6" fmla="*/ 348996 h 1121208"/>
                    <a:gd name="connsiteX7" fmla="*/ 1720501 w 3096863"/>
                    <a:gd name="connsiteY7" fmla="*/ 382715 h 1121208"/>
                    <a:gd name="connsiteX8" fmla="*/ 1925003 w 3096863"/>
                    <a:gd name="connsiteY8" fmla="*/ 608933 h 1121208"/>
                    <a:gd name="connsiteX9" fmla="*/ 2141601 w 3096863"/>
                    <a:gd name="connsiteY9" fmla="*/ 736473 h 1121208"/>
                    <a:gd name="connsiteX10" fmla="*/ 2213801 w 3096863"/>
                    <a:gd name="connsiteY10" fmla="*/ 803815 h 1121208"/>
                    <a:gd name="connsiteX11" fmla="*/ 2415921 w 3096863"/>
                    <a:gd name="connsiteY11" fmla="*/ 945833 h 1121208"/>
                    <a:gd name="connsiteX12" fmla="*/ 2608421 w 3096863"/>
                    <a:gd name="connsiteY12" fmla="*/ 955453 h 1121208"/>
                    <a:gd name="connsiteX13" fmla="*/ 2687860 w 3096863"/>
                    <a:gd name="connsiteY13" fmla="*/ 1013174 h 1121208"/>
                    <a:gd name="connsiteX14" fmla="*/ 2774442 w 3096863"/>
                    <a:gd name="connsiteY14" fmla="*/ 1025176 h 1121208"/>
                    <a:gd name="connsiteX15" fmla="*/ 2887504 w 3096863"/>
                    <a:gd name="connsiteY15" fmla="*/ 1118997 h 1121208"/>
                    <a:gd name="connsiteX16" fmla="*/ 3096863 w 3096863"/>
                    <a:gd name="connsiteY16" fmla="*/ 1111758 h 112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96863" h="1121208">
                      <a:moveTo>
                        <a:pt x="0" y="0"/>
                      </a:moveTo>
                      <a:cubicBezTo>
                        <a:pt x="0" y="0"/>
                        <a:pt x="344900" y="352997"/>
                        <a:pt x="389858" y="372999"/>
                      </a:cubicBezTo>
                      <a:cubicBezTo>
                        <a:pt x="400717" y="377857"/>
                        <a:pt x="550450" y="362236"/>
                        <a:pt x="603980" y="360998"/>
                      </a:cubicBezTo>
                      <a:cubicBezTo>
                        <a:pt x="676751" y="359283"/>
                        <a:pt x="822389" y="360140"/>
                        <a:pt x="895160" y="363379"/>
                      </a:cubicBezTo>
                      <a:cubicBezTo>
                        <a:pt x="939165" y="365379"/>
                        <a:pt x="1027081" y="383000"/>
                        <a:pt x="1070801" y="377857"/>
                      </a:cubicBezTo>
                      <a:cubicBezTo>
                        <a:pt x="1175099" y="365474"/>
                        <a:pt x="1436561" y="285845"/>
                        <a:pt x="1482281" y="293656"/>
                      </a:cubicBezTo>
                      <a:cubicBezTo>
                        <a:pt x="1509141" y="298228"/>
                        <a:pt x="1550861" y="338900"/>
                        <a:pt x="1576102" y="348996"/>
                      </a:cubicBezTo>
                      <a:cubicBezTo>
                        <a:pt x="1610487" y="362807"/>
                        <a:pt x="1688592" y="363855"/>
                        <a:pt x="1720501" y="382715"/>
                      </a:cubicBezTo>
                      <a:cubicBezTo>
                        <a:pt x="1786223" y="421386"/>
                        <a:pt x="1865948" y="560737"/>
                        <a:pt x="1925003" y="608933"/>
                      </a:cubicBezTo>
                      <a:cubicBezTo>
                        <a:pt x="1973675" y="648653"/>
                        <a:pt x="2091214" y="698849"/>
                        <a:pt x="2141601" y="736473"/>
                      </a:cubicBezTo>
                      <a:cubicBezTo>
                        <a:pt x="2161413" y="751237"/>
                        <a:pt x="2195322" y="787432"/>
                        <a:pt x="2213801" y="803815"/>
                      </a:cubicBezTo>
                      <a:cubicBezTo>
                        <a:pt x="2259902" y="844868"/>
                        <a:pt x="2357533" y="925735"/>
                        <a:pt x="2415921" y="945833"/>
                      </a:cubicBezTo>
                      <a:cubicBezTo>
                        <a:pt x="2461451" y="961454"/>
                        <a:pt x="2562987" y="939451"/>
                        <a:pt x="2608421" y="955453"/>
                      </a:cubicBezTo>
                      <a:cubicBezTo>
                        <a:pt x="2631567" y="963644"/>
                        <a:pt x="2665095" y="1004030"/>
                        <a:pt x="2687860" y="1013174"/>
                      </a:cubicBezTo>
                      <a:cubicBezTo>
                        <a:pt x="2708148" y="1021366"/>
                        <a:pt x="2754439" y="1016413"/>
                        <a:pt x="2774442" y="1025176"/>
                      </a:cubicBezTo>
                      <a:cubicBezTo>
                        <a:pt x="2808065" y="1040035"/>
                        <a:pt x="2871311" y="1112425"/>
                        <a:pt x="2887504" y="1118997"/>
                      </a:cubicBezTo>
                      <a:cubicBezTo>
                        <a:pt x="2906459" y="1126712"/>
                        <a:pt x="3096863" y="1111758"/>
                        <a:pt x="3096863" y="1111758"/>
                      </a:cubicBezTo>
                    </a:path>
                  </a:pathLst>
                </a:custGeom>
                <a:noFill/>
                <a:ln w="19050" cap="flat">
                  <a:solidFill>
                    <a:srgbClr val="000000"/>
                  </a:solidFill>
                  <a:prstDash val="solid"/>
                  <a:round/>
                </a:ln>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Roboto" panose="02000000000000000000" pitchFamily="2" charset="0"/>
                  </a:endParaRPr>
                </a:p>
              </p:txBody>
            </p:sp>
          </p:grpSp>
        </p:grpSp>
        <p:sp>
          <p:nvSpPr>
            <p:cNvPr id="44" name="Oval 43">
              <a:extLst>
                <a:ext uri="{FF2B5EF4-FFF2-40B4-BE49-F238E27FC236}">
                  <a16:creationId xmlns:a16="http://schemas.microsoft.com/office/drawing/2014/main" id="{9814033E-4EF0-B48C-93D4-01636C819DF4}"/>
                </a:ext>
              </a:extLst>
            </p:cNvPr>
            <p:cNvSpPr>
              <a:spLocks noChangeAspect="1"/>
            </p:cNvSpPr>
            <p:nvPr/>
          </p:nvSpPr>
          <p:spPr bwMode="auto">
            <a:xfrm>
              <a:off x="12520882" y="2661365"/>
              <a:ext cx="127469" cy="127469"/>
            </a:xfrm>
            <a:prstGeom prst="ellipse">
              <a:avLst/>
            </a:prstGeom>
            <a:solidFill>
              <a:srgbClr val="1F6191"/>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45" name="Oval 44">
              <a:extLst>
                <a:ext uri="{FF2B5EF4-FFF2-40B4-BE49-F238E27FC236}">
                  <a16:creationId xmlns:a16="http://schemas.microsoft.com/office/drawing/2014/main" id="{133AA0A3-2DA3-AFD6-9337-ED231EA2872C}"/>
                </a:ext>
              </a:extLst>
            </p:cNvPr>
            <p:cNvSpPr>
              <a:spLocks noChangeAspect="1"/>
            </p:cNvSpPr>
            <p:nvPr/>
          </p:nvSpPr>
          <p:spPr bwMode="auto">
            <a:xfrm>
              <a:off x="12403412" y="2558639"/>
              <a:ext cx="127469" cy="127469"/>
            </a:xfrm>
            <a:prstGeom prst="ellipse">
              <a:avLst/>
            </a:prstGeom>
            <a:solidFill>
              <a:srgbClr val="1F6191"/>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46" name="Oval 45">
              <a:extLst>
                <a:ext uri="{FF2B5EF4-FFF2-40B4-BE49-F238E27FC236}">
                  <a16:creationId xmlns:a16="http://schemas.microsoft.com/office/drawing/2014/main" id="{B866659E-1B5D-4F5A-5369-7FFB298D0B36}"/>
                </a:ext>
              </a:extLst>
            </p:cNvPr>
            <p:cNvSpPr>
              <a:spLocks noChangeAspect="1"/>
            </p:cNvSpPr>
            <p:nvPr/>
          </p:nvSpPr>
          <p:spPr bwMode="auto">
            <a:xfrm>
              <a:off x="12446814" y="2627741"/>
              <a:ext cx="127469" cy="127469"/>
            </a:xfrm>
            <a:prstGeom prst="ellipse">
              <a:avLst/>
            </a:prstGeom>
            <a:solidFill>
              <a:srgbClr val="1F6191"/>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47" name="Oval 46">
              <a:extLst>
                <a:ext uri="{FF2B5EF4-FFF2-40B4-BE49-F238E27FC236}">
                  <a16:creationId xmlns:a16="http://schemas.microsoft.com/office/drawing/2014/main" id="{BD29900D-3B1E-D27A-2C8A-964541AE62F7}"/>
                </a:ext>
              </a:extLst>
            </p:cNvPr>
            <p:cNvSpPr>
              <a:spLocks noChangeAspect="1"/>
            </p:cNvSpPr>
            <p:nvPr/>
          </p:nvSpPr>
          <p:spPr bwMode="auto">
            <a:xfrm>
              <a:off x="14170226" y="2114903"/>
              <a:ext cx="127469" cy="127469"/>
            </a:xfrm>
            <a:prstGeom prst="ellipse">
              <a:avLst/>
            </a:prstGeom>
            <a:solidFill>
              <a:srgbClr val="1A2B3B"/>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48" name="Oval 47">
              <a:extLst>
                <a:ext uri="{FF2B5EF4-FFF2-40B4-BE49-F238E27FC236}">
                  <a16:creationId xmlns:a16="http://schemas.microsoft.com/office/drawing/2014/main" id="{367AB2F3-6323-DDB0-5E4E-92B3775B8771}"/>
                </a:ext>
              </a:extLst>
            </p:cNvPr>
            <p:cNvSpPr>
              <a:spLocks noChangeAspect="1"/>
            </p:cNvSpPr>
            <p:nvPr/>
          </p:nvSpPr>
          <p:spPr bwMode="auto">
            <a:xfrm>
              <a:off x="14117365" y="2028500"/>
              <a:ext cx="127469" cy="127469"/>
            </a:xfrm>
            <a:prstGeom prst="ellipse">
              <a:avLst/>
            </a:prstGeom>
            <a:solidFill>
              <a:srgbClr val="1A2B3B"/>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49" name="Oval 48">
              <a:extLst>
                <a:ext uri="{FF2B5EF4-FFF2-40B4-BE49-F238E27FC236}">
                  <a16:creationId xmlns:a16="http://schemas.microsoft.com/office/drawing/2014/main" id="{6799278F-22A4-FE3E-78CC-CF2E50018FEE}"/>
                </a:ext>
              </a:extLst>
            </p:cNvPr>
            <p:cNvSpPr>
              <a:spLocks noChangeAspect="1"/>
            </p:cNvSpPr>
            <p:nvPr/>
          </p:nvSpPr>
          <p:spPr bwMode="auto">
            <a:xfrm>
              <a:off x="14206295" y="2016176"/>
              <a:ext cx="127469" cy="127469"/>
            </a:xfrm>
            <a:prstGeom prst="ellipse">
              <a:avLst/>
            </a:prstGeom>
            <a:solidFill>
              <a:srgbClr val="1A2B3B"/>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0" name="Oval 49">
              <a:extLst>
                <a:ext uri="{FF2B5EF4-FFF2-40B4-BE49-F238E27FC236}">
                  <a16:creationId xmlns:a16="http://schemas.microsoft.com/office/drawing/2014/main" id="{6FD58BBC-00C3-31B1-ABC7-DBE2036CC031}"/>
                </a:ext>
              </a:extLst>
            </p:cNvPr>
            <p:cNvSpPr>
              <a:spLocks noChangeAspect="1"/>
            </p:cNvSpPr>
            <p:nvPr/>
          </p:nvSpPr>
          <p:spPr bwMode="auto">
            <a:xfrm>
              <a:off x="13441743" y="2218486"/>
              <a:ext cx="127469" cy="127469"/>
            </a:xfrm>
            <a:prstGeom prst="ellipse">
              <a:avLst/>
            </a:prstGeom>
            <a:solidFill>
              <a:srgbClr val="DBA31D"/>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1" name="Oval 50">
              <a:extLst>
                <a:ext uri="{FF2B5EF4-FFF2-40B4-BE49-F238E27FC236}">
                  <a16:creationId xmlns:a16="http://schemas.microsoft.com/office/drawing/2014/main" id="{AB1D97EA-B500-F687-0DB6-590A220FA0A2}"/>
                </a:ext>
              </a:extLst>
            </p:cNvPr>
            <p:cNvSpPr>
              <a:spLocks noChangeAspect="1"/>
            </p:cNvSpPr>
            <p:nvPr/>
          </p:nvSpPr>
          <p:spPr bwMode="auto">
            <a:xfrm>
              <a:off x="13120557" y="2375418"/>
              <a:ext cx="127469" cy="127469"/>
            </a:xfrm>
            <a:prstGeom prst="ellipse">
              <a:avLst/>
            </a:prstGeom>
            <a:solidFill>
              <a:srgbClr val="DBA31D"/>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2" name="Oval 51">
              <a:extLst>
                <a:ext uri="{FF2B5EF4-FFF2-40B4-BE49-F238E27FC236}">
                  <a16:creationId xmlns:a16="http://schemas.microsoft.com/office/drawing/2014/main" id="{67AAB21B-3651-77EA-5DC7-0B604B34E05C}"/>
                </a:ext>
              </a:extLst>
            </p:cNvPr>
            <p:cNvSpPr>
              <a:spLocks noChangeAspect="1"/>
            </p:cNvSpPr>
            <p:nvPr/>
          </p:nvSpPr>
          <p:spPr bwMode="auto">
            <a:xfrm>
              <a:off x="13121900" y="2287619"/>
              <a:ext cx="127469" cy="127469"/>
            </a:xfrm>
            <a:prstGeom prst="ellipse">
              <a:avLst/>
            </a:prstGeom>
            <a:solidFill>
              <a:srgbClr val="DBA31D"/>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3" name="Oval 52">
              <a:extLst>
                <a:ext uri="{FF2B5EF4-FFF2-40B4-BE49-F238E27FC236}">
                  <a16:creationId xmlns:a16="http://schemas.microsoft.com/office/drawing/2014/main" id="{E988DDB6-B135-E077-4156-09F7315BF305}"/>
                </a:ext>
              </a:extLst>
            </p:cNvPr>
            <p:cNvSpPr>
              <a:spLocks noChangeAspect="1"/>
            </p:cNvSpPr>
            <p:nvPr/>
          </p:nvSpPr>
          <p:spPr bwMode="auto">
            <a:xfrm>
              <a:off x="12942907" y="2078374"/>
              <a:ext cx="127469" cy="127469"/>
            </a:xfrm>
            <a:prstGeom prst="ellipse">
              <a:avLst/>
            </a:prstGeom>
            <a:solidFill>
              <a:srgbClr val="DBA31D"/>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4" name="Oval 53">
              <a:extLst>
                <a:ext uri="{FF2B5EF4-FFF2-40B4-BE49-F238E27FC236}">
                  <a16:creationId xmlns:a16="http://schemas.microsoft.com/office/drawing/2014/main" id="{68887242-2F6D-6074-DFDD-8C4D94076F20}"/>
                </a:ext>
              </a:extLst>
            </p:cNvPr>
            <p:cNvSpPr>
              <a:spLocks noChangeAspect="1"/>
            </p:cNvSpPr>
            <p:nvPr/>
          </p:nvSpPr>
          <p:spPr bwMode="auto">
            <a:xfrm>
              <a:off x="13382275" y="2148672"/>
              <a:ext cx="127469" cy="127469"/>
            </a:xfrm>
            <a:prstGeom prst="ellipse">
              <a:avLst/>
            </a:prstGeom>
            <a:solidFill>
              <a:srgbClr val="DBA31D"/>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5" name="Oval 54">
              <a:extLst>
                <a:ext uri="{FF2B5EF4-FFF2-40B4-BE49-F238E27FC236}">
                  <a16:creationId xmlns:a16="http://schemas.microsoft.com/office/drawing/2014/main" id="{CB182AA6-3B69-E652-D388-5220D3221BB4}"/>
                </a:ext>
              </a:extLst>
            </p:cNvPr>
            <p:cNvSpPr>
              <a:spLocks noChangeAspect="1"/>
            </p:cNvSpPr>
            <p:nvPr/>
          </p:nvSpPr>
          <p:spPr bwMode="auto">
            <a:xfrm>
              <a:off x="13055851" y="1420560"/>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6" name="Oval 55">
              <a:extLst>
                <a:ext uri="{FF2B5EF4-FFF2-40B4-BE49-F238E27FC236}">
                  <a16:creationId xmlns:a16="http://schemas.microsoft.com/office/drawing/2014/main" id="{D87731C7-D093-7674-17F4-335CCCA1F5C7}"/>
                </a:ext>
              </a:extLst>
            </p:cNvPr>
            <p:cNvSpPr>
              <a:spLocks noChangeAspect="1"/>
            </p:cNvSpPr>
            <p:nvPr/>
          </p:nvSpPr>
          <p:spPr bwMode="auto">
            <a:xfrm>
              <a:off x="13131383" y="1476028"/>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7" name="Oval 56">
              <a:extLst>
                <a:ext uri="{FF2B5EF4-FFF2-40B4-BE49-F238E27FC236}">
                  <a16:creationId xmlns:a16="http://schemas.microsoft.com/office/drawing/2014/main" id="{D6A295DC-BA3E-3BC3-8B69-FA30ECDBE393}"/>
                </a:ext>
              </a:extLst>
            </p:cNvPr>
            <p:cNvSpPr>
              <a:spLocks noChangeAspect="1"/>
            </p:cNvSpPr>
            <p:nvPr/>
          </p:nvSpPr>
          <p:spPr bwMode="auto">
            <a:xfrm>
              <a:off x="13028941" y="1518534"/>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8" name="Oval 57">
              <a:extLst>
                <a:ext uri="{FF2B5EF4-FFF2-40B4-BE49-F238E27FC236}">
                  <a16:creationId xmlns:a16="http://schemas.microsoft.com/office/drawing/2014/main" id="{A2F11CC3-8D6A-61CC-5B3E-A36BBDD9AC6E}"/>
                </a:ext>
              </a:extLst>
            </p:cNvPr>
            <p:cNvSpPr>
              <a:spLocks noChangeAspect="1"/>
            </p:cNvSpPr>
            <p:nvPr/>
          </p:nvSpPr>
          <p:spPr bwMode="auto">
            <a:xfrm>
              <a:off x="14088538" y="2113695"/>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59" name="Oval 58">
              <a:extLst>
                <a:ext uri="{FF2B5EF4-FFF2-40B4-BE49-F238E27FC236}">
                  <a16:creationId xmlns:a16="http://schemas.microsoft.com/office/drawing/2014/main" id="{39CB292E-D7BD-7778-9271-B011469C4342}"/>
                </a:ext>
              </a:extLst>
            </p:cNvPr>
            <p:cNvSpPr>
              <a:spLocks noChangeAspect="1"/>
            </p:cNvSpPr>
            <p:nvPr/>
          </p:nvSpPr>
          <p:spPr bwMode="auto">
            <a:xfrm>
              <a:off x="11670410" y="2285390"/>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60" name="Oval 59">
              <a:extLst>
                <a:ext uri="{FF2B5EF4-FFF2-40B4-BE49-F238E27FC236}">
                  <a16:creationId xmlns:a16="http://schemas.microsoft.com/office/drawing/2014/main" id="{4D96A382-E2D4-4684-86B8-D599FE454D2A}"/>
                </a:ext>
              </a:extLst>
            </p:cNvPr>
            <p:cNvSpPr>
              <a:spLocks noChangeAspect="1"/>
            </p:cNvSpPr>
            <p:nvPr/>
          </p:nvSpPr>
          <p:spPr bwMode="auto">
            <a:xfrm>
              <a:off x="13814566" y="1716314"/>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61" name="Oval 60">
              <a:extLst>
                <a:ext uri="{FF2B5EF4-FFF2-40B4-BE49-F238E27FC236}">
                  <a16:creationId xmlns:a16="http://schemas.microsoft.com/office/drawing/2014/main" id="{FC348147-1E34-3131-6C03-CE7343CA961A}"/>
                </a:ext>
              </a:extLst>
            </p:cNvPr>
            <p:cNvSpPr>
              <a:spLocks noChangeAspect="1"/>
            </p:cNvSpPr>
            <p:nvPr/>
          </p:nvSpPr>
          <p:spPr bwMode="auto">
            <a:xfrm>
              <a:off x="10847121" y="2387878"/>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62" name="Oval 61">
              <a:extLst>
                <a:ext uri="{FF2B5EF4-FFF2-40B4-BE49-F238E27FC236}">
                  <a16:creationId xmlns:a16="http://schemas.microsoft.com/office/drawing/2014/main" id="{B1894586-5200-59E0-F5D2-A34B353FD00C}"/>
                </a:ext>
              </a:extLst>
            </p:cNvPr>
            <p:cNvSpPr>
              <a:spLocks noChangeAspect="1"/>
            </p:cNvSpPr>
            <p:nvPr/>
          </p:nvSpPr>
          <p:spPr bwMode="auto">
            <a:xfrm>
              <a:off x="13766337" y="1781898"/>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63" name="Oval 62">
              <a:extLst>
                <a:ext uri="{FF2B5EF4-FFF2-40B4-BE49-F238E27FC236}">
                  <a16:creationId xmlns:a16="http://schemas.microsoft.com/office/drawing/2014/main" id="{3AC556A5-866C-8524-B58A-621F6C4AD1AE}"/>
                </a:ext>
              </a:extLst>
            </p:cNvPr>
            <p:cNvSpPr>
              <a:spLocks noChangeAspect="1"/>
            </p:cNvSpPr>
            <p:nvPr/>
          </p:nvSpPr>
          <p:spPr bwMode="auto">
            <a:xfrm>
              <a:off x="10975308" y="2270950"/>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64" name="Oval 63">
              <a:extLst>
                <a:ext uri="{FF2B5EF4-FFF2-40B4-BE49-F238E27FC236}">
                  <a16:creationId xmlns:a16="http://schemas.microsoft.com/office/drawing/2014/main" id="{1337745B-2E0D-C012-77DB-FBDA8820AAA1}"/>
                </a:ext>
              </a:extLst>
            </p:cNvPr>
            <p:cNvSpPr>
              <a:spLocks noChangeAspect="1"/>
            </p:cNvSpPr>
            <p:nvPr/>
          </p:nvSpPr>
          <p:spPr bwMode="auto">
            <a:xfrm>
              <a:off x="10883442" y="2286654"/>
              <a:ext cx="127469" cy="127469"/>
            </a:xfrm>
            <a:prstGeom prst="ellipse">
              <a:avLst/>
            </a:prstGeom>
            <a:solidFill>
              <a:srgbClr val="A4ACAF"/>
            </a:solidFill>
            <a:ln w="63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600" b="1" i="0" u="none" strike="noStrike" kern="0" cap="none" spc="-30" normalizeH="0" baseline="0" noProof="0">
                <a:ln>
                  <a:noFill/>
                </a:ln>
                <a:solidFill>
                  <a:srgbClr val="FFFFFF"/>
                </a:solidFill>
                <a:effectLst/>
                <a:uLnTx/>
                <a:uFillTx/>
                <a:latin typeface="Roboto" panose="02000000000000000000" pitchFamily="2" charset="0"/>
              </a:endParaRPr>
            </a:p>
          </p:txBody>
        </p:sp>
        <p:sp>
          <p:nvSpPr>
            <p:cNvPr id="65" name="TextBox 64">
              <a:extLst>
                <a:ext uri="{FF2B5EF4-FFF2-40B4-BE49-F238E27FC236}">
                  <a16:creationId xmlns:a16="http://schemas.microsoft.com/office/drawing/2014/main" id="{755139C0-E6FB-2CFB-8923-1D28FB507E9D}"/>
                </a:ext>
              </a:extLst>
            </p:cNvPr>
            <p:cNvSpPr txBox="1"/>
            <p:nvPr/>
          </p:nvSpPr>
          <p:spPr>
            <a:xfrm>
              <a:off x="14624805" y="2059848"/>
              <a:ext cx="535171" cy="352217"/>
            </a:xfrm>
            <a:prstGeom prst="rect">
              <a:avLst/>
            </a:prstGeom>
            <a:noFill/>
          </p:spPr>
          <p:txBody>
            <a:bodyPr wrap="square" lIns="0" tIns="0" rIns="0" bIns="0" rtlCol="0">
              <a:spAutoFit/>
            </a:bodyPr>
            <a:lstStyle/>
            <a:p>
              <a:pPr algn="ctr" defTabSz="457200">
                <a:defRPr/>
              </a:pPr>
              <a:r>
                <a:rPr lang="en-US" sz="700" b="1">
                  <a:solidFill>
                    <a:srgbClr val="000000"/>
                  </a:solidFill>
                  <a:latin typeface="Roboto" panose="02000000000000000000" pitchFamily="2" charset="0"/>
                </a:rPr>
                <a:t>Changi Airport</a:t>
              </a:r>
            </a:p>
          </p:txBody>
        </p:sp>
        <p:sp>
          <p:nvSpPr>
            <p:cNvPr id="66" name="TextBox 65">
              <a:extLst>
                <a:ext uri="{FF2B5EF4-FFF2-40B4-BE49-F238E27FC236}">
                  <a16:creationId xmlns:a16="http://schemas.microsoft.com/office/drawing/2014/main" id="{B3BE61E0-7DE1-9162-0A32-36ED57768347}"/>
                </a:ext>
              </a:extLst>
            </p:cNvPr>
            <p:cNvSpPr txBox="1"/>
            <p:nvPr/>
          </p:nvSpPr>
          <p:spPr>
            <a:xfrm>
              <a:off x="10975308" y="2777015"/>
              <a:ext cx="688054" cy="352217"/>
            </a:xfrm>
            <a:prstGeom prst="rect">
              <a:avLst/>
            </a:prstGeom>
            <a:noFill/>
          </p:spPr>
          <p:txBody>
            <a:bodyPr wrap="square" lIns="0" tIns="0" rIns="0" bIns="0" rtlCol="0">
              <a:spAutoFit/>
            </a:bodyPr>
            <a:lstStyle/>
            <a:p>
              <a:pPr defTabSz="457200">
                <a:defRPr/>
              </a:pPr>
              <a:r>
                <a:rPr lang="en-US" sz="700" b="1">
                  <a:solidFill>
                    <a:srgbClr val="000000"/>
                  </a:solidFill>
                  <a:latin typeface="Roboto" panose="02000000000000000000" pitchFamily="2" charset="0"/>
                </a:rPr>
                <a:t>Tuas Mega Port</a:t>
              </a:r>
            </a:p>
          </p:txBody>
        </p:sp>
        <p:sp>
          <p:nvSpPr>
            <p:cNvPr id="67" name="TextBox 66">
              <a:extLst>
                <a:ext uri="{FF2B5EF4-FFF2-40B4-BE49-F238E27FC236}">
                  <a16:creationId xmlns:a16="http://schemas.microsoft.com/office/drawing/2014/main" id="{B2057832-04DB-876B-44D2-985EEC945E8A}"/>
                </a:ext>
              </a:extLst>
            </p:cNvPr>
            <p:cNvSpPr txBox="1"/>
            <p:nvPr/>
          </p:nvSpPr>
          <p:spPr>
            <a:xfrm>
              <a:off x="12667150" y="2916145"/>
              <a:ext cx="644407" cy="528325"/>
            </a:xfrm>
            <a:prstGeom prst="rect">
              <a:avLst/>
            </a:prstGeom>
            <a:noFill/>
          </p:spPr>
          <p:txBody>
            <a:bodyPr wrap="square" lIns="0" tIns="0" rIns="0" bIns="0" rtlCol="0">
              <a:spAutoFit/>
            </a:bodyPr>
            <a:lstStyle/>
            <a:p>
              <a:pPr algn="ctr" defTabSz="457200">
                <a:defRPr/>
              </a:pPr>
              <a:r>
                <a:rPr lang="en-US" sz="700" b="1">
                  <a:solidFill>
                    <a:srgbClr val="000000"/>
                  </a:solidFill>
                  <a:latin typeface="Roboto" panose="02000000000000000000" pitchFamily="2" charset="0"/>
                </a:rPr>
                <a:t>Central Business District</a:t>
              </a:r>
            </a:p>
          </p:txBody>
        </p:sp>
        <p:pic>
          <p:nvPicPr>
            <p:cNvPr id="77" name="Graphic 76" descr="City with solid fill">
              <a:extLst>
                <a:ext uri="{FF2B5EF4-FFF2-40B4-BE49-F238E27FC236}">
                  <a16:creationId xmlns:a16="http://schemas.microsoft.com/office/drawing/2014/main" id="{11E62B01-FC4B-796C-FDC4-6C3C9555AF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989354" y="2658728"/>
              <a:ext cx="193966" cy="193966"/>
            </a:xfrm>
            <a:prstGeom prst="rect">
              <a:avLst/>
            </a:prstGeom>
          </p:spPr>
        </p:pic>
        <p:pic>
          <p:nvPicPr>
            <p:cNvPr id="78" name="Graphic 77" descr="Airplane with solid fill">
              <a:extLst>
                <a:ext uri="{FF2B5EF4-FFF2-40B4-BE49-F238E27FC236}">
                  <a16:creationId xmlns:a16="http://schemas.microsoft.com/office/drawing/2014/main" id="{9F7045CF-A09A-87FF-C46D-32813BB0D2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434985" y="1992619"/>
              <a:ext cx="193966" cy="193966"/>
            </a:xfrm>
            <a:prstGeom prst="rect">
              <a:avLst/>
            </a:prstGeom>
          </p:spPr>
        </p:pic>
        <p:pic>
          <p:nvPicPr>
            <p:cNvPr id="79" name="Graphic 78" descr="Freight with solid fill">
              <a:extLst>
                <a:ext uri="{FF2B5EF4-FFF2-40B4-BE49-F238E27FC236}">
                  <a16:creationId xmlns:a16="http://schemas.microsoft.com/office/drawing/2014/main" id="{D8E13E73-FAE9-6D8B-EA27-A4869E537C8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29160" y="2784945"/>
              <a:ext cx="193966" cy="193966"/>
            </a:xfrm>
            <a:prstGeom prst="rect">
              <a:avLst/>
            </a:prstGeom>
          </p:spPr>
        </p:pic>
        <p:sp>
          <p:nvSpPr>
            <p:cNvPr id="80" name="TextBox 79">
              <a:extLst>
                <a:ext uri="{FF2B5EF4-FFF2-40B4-BE49-F238E27FC236}">
                  <a16:creationId xmlns:a16="http://schemas.microsoft.com/office/drawing/2014/main" id="{E4B16877-AD94-7B6E-1581-214E52055220}"/>
                </a:ext>
              </a:extLst>
            </p:cNvPr>
            <p:cNvSpPr txBox="1"/>
            <p:nvPr/>
          </p:nvSpPr>
          <p:spPr>
            <a:xfrm>
              <a:off x="13367826" y="1020256"/>
              <a:ext cx="749539" cy="528325"/>
            </a:xfrm>
            <a:prstGeom prst="rect">
              <a:avLst/>
            </a:prstGeom>
            <a:noFill/>
          </p:spPr>
          <p:txBody>
            <a:bodyPr wrap="square" lIns="0" tIns="0" rIns="0" bIns="0" rtlCol="0">
              <a:spAutoFit/>
            </a:bodyPr>
            <a:lstStyle/>
            <a:p>
              <a:pPr algn="ctr" defTabSz="457200">
                <a:defRPr/>
              </a:pPr>
              <a:r>
                <a:rPr lang="en-US" sz="700" b="1">
                  <a:solidFill>
                    <a:srgbClr val="000000"/>
                  </a:solidFill>
                  <a:latin typeface="Roboto" panose="02000000000000000000" pitchFamily="2" charset="0"/>
                </a:rPr>
                <a:t>Seletar Aerospace Park</a:t>
              </a:r>
            </a:p>
          </p:txBody>
        </p:sp>
        <p:pic>
          <p:nvPicPr>
            <p:cNvPr id="81" name="Graphic 80">
              <a:extLst>
                <a:ext uri="{FF2B5EF4-FFF2-40B4-BE49-F238E27FC236}">
                  <a16:creationId xmlns:a16="http://schemas.microsoft.com/office/drawing/2014/main" id="{BE0D6BED-143A-B284-A49F-FFE1CE7F1C5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146398" y="1256304"/>
              <a:ext cx="215637" cy="179980"/>
            </a:xfrm>
            <a:prstGeom prst="rect">
              <a:avLst/>
            </a:prstGeom>
          </p:spPr>
        </p:pic>
      </p:grpSp>
      <p:sp>
        <p:nvSpPr>
          <p:cNvPr id="87" name="Trapezoid 86">
            <a:extLst>
              <a:ext uri="{FF2B5EF4-FFF2-40B4-BE49-F238E27FC236}">
                <a16:creationId xmlns:a16="http://schemas.microsoft.com/office/drawing/2014/main" id="{BE7BDBA0-9B18-58BC-F071-FB74791299C8}"/>
              </a:ext>
            </a:extLst>
          </p:cNvPr>
          <p:cNvSpPr/>
          <p:nvPr/>
        </p:nvSpPr>
        <p:spPr bwMode="auto">
          <a:xfrm rot="16200000">
            <a:off x="1408514" y="3095912"/>
            <a:ext cx="5124830" cy="1055568"/>
          </a:xfrm>
          <a:custGeom>
            <a:avLst/>
            <a:gdLst>
              <a:gd name="csX0" fmla="*/ 0 w 4762880"/>
              <a:gd name="csY0" fmla="*/ 896778 h 896778"/>
              <a:gd name="csX1" fmla="*/ 224195 w 4762880"/>
              <a:gd name="csY1" fmla="*/ 0 h 896778"/>
              <a:gd name="csX2" fmla="*/ 4538686 w 4762880"/>
              <a:gd name="csY2" fmla="*/ 0 h 896778"/>
              <a:gd name="csX3" fmla="*/ 4762880 w 4762880"/>
              <a:gd name="csY3" fmla="*/ 896778 h 896778"/>
              <a:gd name="csX4" fmla="*/ 0 w 4762880"/>
              <a:gd name="csY4" fmla="*/ 896778 h 896778"/>
              <a:gd name="csX0" fmla="*/ 0 w 4762880"/>
              <a:gd name="csY0" fmla="*/ 896778 h 896778"/>
              <a:gd name="csX1" fmla="*/ 3836075 w 4762880"/>
              <a:gd name="csY1" fmla="*/ 0 h 896778"/>
              <a:gd name="csX2" fmla="*/ 4538686 w 4762880"/>
              <a:gd name="csY2" fmla="*/ 0 h 896778"/>
              <a:gd name="csX3" fmla="*/ 4762880 w 4762880"/>
              <a:gd name="csY3" fmla="*/ 896778 h 896778"/>
              <a:gd name="csX4" fmla="*/ 0 w 4762880"/>
              <a:gd name="csY4" fmla="*/ 896778 h 896778"/>
              <a:gd name="csX0" fmla="*/ 0 w 5124830"/>
              <a:gd name="csY0" fmla="*/ 896778 h 896781"/>
              <a:gd name="csX1" fmla="*/ 3836075 w 5124830"/>
              <a:gd name="csY1" fmla="*/ 0 h 896781"/>
              <a:gd name="csX2" fmla="*/ 4538686 w 5124830"/>
              <a:gd name="csY2" fmla="*/ 0 h 896781"/>
              <a:gd name="csX3" fmla="*/ 5124830 w 5124830"/>
              <a:gd name="csY3" fmla="*/ 896781 h 896781"/>
              <a:gd name="csX4" fmla="*/ 0 w 5124830"/>
              <a:gd name="csY4" fmla="*/ 896778 h 896781"/>
            </a:gdLst>
            <a:ahLst/>
            <a:cxnLst>
              <a:cxn ang="0">
                <a:pos x="csX0" y="csY0"/>
              </a:cxn>
              <a:cxn ang="0">
                <a:pos x="csX1" y="csY1"/>
              </a:cxn>
              <a:cxn ang="0">
                <a:pos x="csX2" y="csY2"/>
              </a:cxn>
              <a:cxn ang="0">
                <a:pos x="csX3" y="csY3"/>
              </a:cxn>
              <a:cxn ang="0">
                <a:pos x="csX4" y="csY4"/>
              </a:cxn>
            </a:cxnLst>
            <a:rect l="l" t="t" r="r" b="b"/>
            <a:pathLst>
              <a:path w="5124830" h="896781">
                <a:moveTo>
                  <a:pt x="0" y="896778"/>
                </a:moveTo>
                <a:lnTo>
                  <a:pt x="3836075" y="0"/>
                </a:lnTo>
                <a:lnTo>
                  <a:pt x="4538686" y="0"/>
                </a:lnTo>
                <a:lnTo>
                  <a:pt x="5124830" y="896781"/>
                </a:lnTo>
                <a:lnTo>
                  <a:pt x="0" y="896778"/>
                </a:lnTo>
                <a:close/>
              </a:path>
            </a:pathLst>
          </a:custGeom>
          <a:gradFill>
            <a:gsLst>
              <a:gs pos="0">
                <a:srgbClr val="E9F6DC"/>
              </a:gs>
              <a:gs pos="50000">
                <a:srgbClr val="E9F6DC">
                  <a:lumMod val="50000"/>
                  <a:lumOff val="50000"/>
                </a:srgbClr>
              </a:gs>
              <a:gs pos="100000">
                <a:srgbClr val="E9F6DC">
                  <a:lumMod val="0"/>
                  <a:lumOff val="100000"/>
                </a:srgbClr>
              </a:gs>
            </a:gsLst>
            <a:lin ang="5400000" scaled="1"/>
          </a:gradFill>
          <a:ln>
            <a:noFill/>
          </a:ln>
          <a:effectLst>
            <a:softEdge rad="25400"/>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grpSp>
        <p:nvGrpSpPr>
          <p:cNvPr id="92" name="Group 91">
            <a:extLst>
              <a:ext uri="{FF2B5EF4-FFF2-40B4-BE49-F238E27FC236}">
                <a16:creationId xmlns:a16="http://schemas.microsoft.com/office/drawing/2014/main" id="{7BF6D0D9-B6B6-8E01-78FF-2ED939922A09}"/>
              </a:ext>
            </a:extLst>
          </p:cNvPr>
          <p:cNvGrpSpPr/>
          <p:nvPr/>
        </p:nvGrpSpPr>
        <p:grpSpPr>
          <a:xfrm>
            <a:off x="4498713" y="3347839"/>
            <a:ext cx="1412751" cy="965369"/>
            <a:chOff x="4145479" y="3180119"/>
            <a:chExt cx="1412751" cy="965369"/>
          </a:xfrm>
        </p:grpSpPr>
        <p:sp>
          <p:nvSpPr>
            <p:cNvPr id="9" name="TextBox 8">
              <a:extLst>
                <a:ext uri="{FF2B5EF4-FFF2-40B4-BE49-F238E27FC236}">
                  <a16:creationId xmlns:a16="http://schemas.microsoft.com/office/drawing/2014/main" id="{D54890FE-7695-BED0-EF22-0CA1AFA4AC7A}"/>
                </a:ext>
              </a:extLst>
            </p:cNvPr>
            <p:cNvSpPr txBox="1"/>
            <p:nvPr/>
          </p:nvSpPr>
          <p:spPr>
            <a:xfrm>
              <a:off x="4145479" y="3611120"/>
              <a:ext cx="1412751" cy="534368"/>
            </a:xfrm>
            <a:prstGeom prst="rect">
              <a:avLst/>
            </a:prstGeom>
            <a:noFill/>
            <a:ln>
              <a:noFill/>
            </a:ln>
          </p:spPr>
          <p:txBody>
            <a:bodyPr wrap="square" lIns="36000" tIns="36000" rIns="36000" bIns="36000"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100" i="0" u="none" strike="noStrike" cap="none" spc="0" normalizeH="0" baseline="0">
                  <a:ln>
                    <a:noFill/>
                  </a:ln>
                  <a:solidFill>
                    <a:srgbClr val="000000"/>
                  </a:solidFill>
                  <a:effectLst/>
                  <a:uLnTx/>
                  <a:uFillTx/>
                  <a:latin typeface="+mj-lt"/>
                  <a:cs typeface="+mn-cs"/>
                </a:defRPr>
              </a:lvl1pPr>
            </a:lstStyle>
            <a:p>
              <a:pPr algn="ctr"/>
              <a:r>
                <a:rPr lang="en-SG" sz="1000"/>
                <a:t>14 PBWA and PBSA across SG, UK and AU, valued at S$1.8bn</a:t>
              </a:r>
            </a:p>
          </p:txBody>
        </p:sp>
        <p:sp>
          <p:nvSpPr>
            <p:cNvPr id="88" name="Rectangle: Rounded Corners 87">
              <a:extLst>
                <a:ext uri="{FF2B5EF4-FFF2-40B4-BE49-F238E27FC236}">
                  <a16:creationId xmlns:a16="http://schemas.microsoft.com/office/drawing/2014/main" id="{96D55224-3B69-8431-9DC8-1DFFFB152F2F}"/>
                </a:ext>
              </a:extLst>
            </p:cNvPr>
            <p:cNvSpPr/>
            <p:nvPr/>
          </p:nvSpPr>
          <p:spPr bwMode="auto">
            <a:xfrm>
              <a:off x="4145479" y="3180119"/>
              <a:ext cx="1412751" cy="340519"/>
            </a:xfrm>
            <a:prstGeom prst="roundRect">
              <a:avLst/>
            </a:prstGeom>
            <a:solidFill>
              <a:srgbClr val="089C8B"/>
            </a:solidFill>
            <a:ln>
              <a:noFill/>
            </a:ln>
            <a:effectLst/>
          </p:spPr>
          <p:txBody>
            <a:bodyPr vert="horz" wrap="square" lIns="0" tIns="0" rIns="0" bIns="0" numCol="1" rtlCol="0" anchor="ctr" anchorCtr="0" compatLnSpc="1">
              <a:prstTxWarp prst="textNoShape">
                <a:avLst/>
              </a:prstTxWarp>
              <a:noAutofit/>
            </a:bodyPr>
            <a:lstStyle/>
            <a:p>
              <a:pPr lvl="0" algn="ctr">
                <a:defRPr/>
              </a:pPr>
              <a:r>
                <a:rPr lang="en-SG" sz="1000" kern="0">
                  <a:solidFill>
                    <a:srgbClr val="FFFFFF"/>
                  </a:solidFill>
                  <a:latin typeface="Arial" panose="020B0604020202020204" pitchFamily="34" charset="0"/>
                  <a:cs typeface="Arial" panose="020B0604020202020204" pitchFamily="34" charset="0"/>
                </a:rPr>
                <a:t>Centurion Accommodation REIT</a:t>
              </a:r>
            </a:p>
          </p:txBody>
        </p:sp>
      </p:grpSp>
      <p:grpSp>
        <p:nvGrpSpPr>
          <p:cNvPr id="93" name="Group 92">
            <a:extLst>
              <a:ext uri="{FF2B5EF4-FFF2-40B4-BE49-F238E27FC236}">
                <a16:creationId xmlns:a16="http://schemas.microsoft.com/office/drawing/2014/main" id="{D9945CDB-8EB4-0A33-E8B4-A4E77A7AEE10}"/>
              </a:ext>
            </a:extLst>
          </p:cNvPr>
          <p:cNvGrpSpPr/>
          <p:nvPr/>
        </p:nvGrpSpPr>
        <p:grpSpPr>
          <a:xfrm>
            <a:off x="4498713" y="5166830"/>
            <a:ext cx="1412751" cy="965369"/>
            <a:chOff x="4145479" y="5104119"/>
            <a:chExt cx="1412751" cy="965369"/>
          </a:xfrm>
        </p:grpSpPr>
        <p:sp>
          <p:nvSpPr>
            <p:cNvPr id="89" name="TextBox 88">
              <a:extLst>
                <a:ext uri="{FF2B5EF4-FFF2-40B4-BE49-F238E27FC236}">
                  <a16:creationId xmlns:a16="http://schemas.microsoft.com/office/drawing/2014/main" id="{91B99241-D62E-7313-4CC1-D3F77336B353}"/>
                </a:ext>
              </a:extLst>
            </p:cNvPr>
            <p:cNvSpPr txBox="1"/>
            <p:nvPr/>
          </p:nvSpPr>
          <p:spPr>
            <a:xfrm>
              <a:off x="4145479" y="5535120"/>
              <a:ext cx="1412751" cy="534368"/>
            </a:xfrm>
            <a:prstGeom prst="rect">
              <a:avLst/>
            </a:prstGeom>
            <a:noFill/>
            <a:ln>
              <a:noFill/>
            </a:ln>
          </p:spPr>
          <p:txBody>
            <a:bodyPr wrap="square" lIns="36000" tIns="36000" rIns="36000" bIns="36000"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100" i="0" u="none" strike="noStrike" cap="none" spc="0" normalizeH="0" baseline="0">
                  <a:ln>
                    <a:noFill/>
                  </a:ln>
                  <a:solidFill>
                    <a:srgbClr val="000000"/>
                  </a:solidFill>
                  <a:effectLst/>
                  <a:uLnTx/>
                  <a:uFillTx/>
                  <a:latin typeface="+mj-lt"/>
                  <a:cs typeface="+mn-cs"/>
                </a:defRPr>
              </a:lvl1pPr>
            </a:lstStyle>
            <a:p>
              <a:pPr algn="ctr"/>
              <a:r>
                <a:rPr lang="en-US" sz="1000"/>
                <a:t>6 data </a:t>
              </a:r>
              <a:r>
                <a:rPr lang="en-US" sz="1000" err="1"/>
                <a:t>centres</a:t>
              </a:r>
              <a:r>
                <a:rPr lang="en-US" sz="1000"/>
                <a:t> across US, EU and SG valued at US$1.6bn</a:t>
              </a:r>
            </a:p>
          </p:txBody>
        </p:sp>
        <p:sp>
          <p:nvSpPr>
            <p:cNvPr id="90" name="Rectangle: Rounded Corners 89">
              <a:extLst>
                <a:ext uri="{FF2B5EF4-FFF2-40B4-BE49-F238E27FC236}">
                  <a16:creationId xmlns:a16="http://schemas.microsoft.com/office/drawing/2014/main" id="{FECCAE35-4373-5CD4-D9E4-3888EAAB90E0}"/>
                </a:ext>
              </a:extLst>
            </p:cNvPr>
            <p:cNvSpPr/>
            <p:nvPr/>
          </p:nvSpPr>
          <p:spPr bwMode="auto">
            <a:xfrm>
              <a:off x="4145479" y="5104119"/>
              <a:ext cx="1412751" cy="340519"/>
            </a:xfrm>
            <a:prstGeom prst="roundRect">
              <a:avLst/>
            </a:prstGeom>
            <a:solidFill>
              <a:srgbClr val="089C8B"/>
            </a:solidFill>
            <a:ln>
              <a:noFill/>
            </a:ln>
            <a:effectLst/>
          </p:spPr>
          <p:txBody>
            <a:bodyPr vert="horz" wrap="square" lIns="0" tIns="0" rIns="0" bIns="0" numCol="1" rtlCol="0" anchor="ctr" anchorCtr="0" compatLnSpc="1">
              <a:prstTxWarp prst="textNoShape">
                <a:avLst/>
              </a:prstTxWarp>
              <a:noAutofit/>
            </a:bodyPr>
            <a:lstStyle/>
            <a:p>
              <a:pPr lvl="0" algn="ctr">
                <a:defRPr/>
              </a:pPr>
              <a:r>
                <a:rPr lang="en-SG" sz="1000" kern="0">
                  <a:solidFill>
                    <a:srgbClr val="FFFFFF"/>
                  </a:solidFill>
                  <a:latin typeface="Arial" panose="020B0604020202020204" pitchFamily="34" charset="0"/>
                  <a:cs typeface="Arial" panose="020B0604020202020204" pitchFamily="34" charset="0"/>
                </a:rPr>
                <a:t>NTT DC REIT</a:t>
              </a:r>
            </a:p>
          </p:txBody>
        </p:sp>
      </p:grpSp>
      <p:cxnSp>
        <p:nvCxnSpPr>
          <p:cNvPr id="94" name="Straight Connector 93">
            <a:extLst>
              <a:ext uri="{FF2B5EF4-FFF2-40B4-BE49-F238E27FC236}">
                <a16:creationId xmlns:a16="http://schemas.microsoft.com/office/drawing/2014/main" id="{2A362254-9C0C-BBA4-E234-3DC49523834A}"/>
              </a:ext>
            </a:extLst>
          </p:cNvPr>
          <p:cNvCxnSpPr>
            <a:cxnSpLocks/>
          </p:cNvCxnSpPr>
          <p:nvPr/>
        </p:nvCxnSpPr>
        <p:spPr bwMode="auto">
          <a:xfrm>
            <a:off x="4498713" y="2942018"/>
            <a:ext cx="4896000" cy="0"/>
          </a:xfrm>
          <a:prstGeom prst="line">
            <a:avLst/>
          </a:prstGeom>
          <a:ln w="6350">
            <a:solidFill>
              <a:schemeClr val="bg1">
                <a:lumMod val="75000"/>
              </a:schemeClr>
            </a:solidFill>
            <a:prstDash val="dash"/>
          </a:ln>
        </p:spPr>
        <p:style>
          <a:lnRef idx="1">
            <a:schemeClr val="dk1"/>
          </a:lnRef>
          <a:fillRef idx="0">
            <a:schemeClr val="dk1"/>
          </a:fillRef>
          <a:effectRef idx="0">
            <a:schemeClr val="dk1"/>
          </a:effectRef>
          <a:fontRef idx="minor">
            <a:schemeClr val="tx1"/>
          </a:fontRef>
        </p:style>
      </p:cxnSp>
      <p:grpSp>
        <p:nvGrpSpPr>
          <p:cNvPr id="101" name="Group 100">
            <a:extLst>
              <a:ext uri="{FF2B5EF4-FFF2-40B4-BE49-F238E27FC236}">
                <a16:creationId xmlns:a16="http://schemas.microsoft.com/office/drawing/2014/main" id="{DEA992D7-75BB-2958-32B7-3004141797AC}"/>
              </a:ext>
            </a:extLst>
          </p:cNvPr>
          <p:cNvGrpSpPr/>
          <p:nvPr/>
        </p:nvGrpSpPr>
        <p:grpSpPr>
          <a:xfrm>
            <a:off x="4498713" y="1397255"/>
            <a:ext cx="1412751" cy="1119257"/>
            <a:chOff x="4145479" y="3180119"/>
            <a:chExt cx="1412751" cy="1119257"/>
          </a:xfrm>
        </p:grpSpPr>
        <p:sp>
          <p:nvSpPr>
            <p:cNvPr id="102" name="TextBox 101">
              <a:extLst>
                <a:ext uri="{FF2B5EF4-FFF2-40B4-BE49-F238E27FC236}">
                  <a16:creationId xmlns:a16="http://schemas.microsoft.com/office/drawing/2014/main" id="{2F1ECCC9-4095-8169-49B5-12F74A7FA2CE}"/>
                </a:ext>
              </a:extLst>
            </p:cNvPr>
            <p:cNvSpPr txBox="1"/>
            <p:nvPr/>
          </p:nvSpPr>
          <p:spPr>
            <a:xfrm>
              <a:off x="4145479" y="3611120"/>
              <a:ext cx="1412751" cy="688256"/>
            </a:xfrm>
            <a:prstGeom prst="rect">
              <a:avLst/>
            </a:prstGeom>
            <a:noFill/>
            <a:ln>
              <a:noFill/>
            </a:ln>
          </p:spPr>
          <p:txBody>
            <a:bodyPr wrap="square" lIns="36000" tIns="36000" rIns="36000" bIns="36000"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100" i="0" u="none" strike="noStrike" cap="none" spc="0" normalizeH="0" baseline="0">
                  <a:ln>
                    <a:noFill/>
                  </a:ln>
                  <a:solidFill>
                    <a:srgbClr val="000000"/>
                  </a:solidFill>
                  <a:effectLst/>
                  <a:uLnTx/>
                  <a:uFillTx/>
                  <a:latin typeface="+mj-lt"/>
                  <a:cs typeface="+mn-cs"/>
                </a:defRPr>
              </a:lvl1pPr>
            </a:lstStyle>
            <a:p>
              <a:pPr algn="ctr"/>
              <a:r>
                <a:rPr lang="en-SG" sz="1000"/>
                <a:t>23 logistics and industrial assets across SG and JP, </a:t>
              </a:r>
            </a:p>
            <a:p>
              <a:pPr algn="ctr"/>
              <a:r>
                <a:rPr lang="en-SG" sz="1000"/>
                <a:t>valued at S$1.9bn</a:t>
              </a:r>
            </a:p>
          </p:txBody>
        </p:sp>
        <p:sp>
          <p:nvSpPr>
            <p:cNvPr id="103" name="Rectangle: Rounded Corners 102">
              <a:extLst>
                <a:ext uri="{FF2B5EF4-FFF2-40B4-BE49-F238E27FC236}">
                  <a16:creationId xmlns:a16="http://schemas.microsoft.com/office/drawing/2014/main" id="{88ED8675-99BA-AEAE-41A8-917E7A227EFA}"/>
                </a:ext>
              </a:extLst>
            </p:cNvPr>
            <p:cNvSpPr/>
            <p:nvPr/>
          </p:nvSpPr>
          <p:spPr bwMode="auto">
            <a:xfrm>
              <a:off x="4145479" y="3180119"/>
              <a:ext cx="1412751" cy="340519"/>
            </a:xfrm>
            <a:prstGeom prst="roundRect">
              <a:avLst/>
            </a:prstGeom>
            <a:solidFill>
              <a:srgbClr val="089C8B"/>
            </a:solidFill>
            <a:ln>
              <a:noFill/>
            </a:ln>
            <a:effectLst/>
          </p:spPr>
          <p:txBody>
            <a:bodyPr vert="horz" wrap="square" lIns="0" tIns="0" rIns="0" bIns="0" numCol="1" rtlCol="0" anchor="ctr" anchorCtr="0" compatLnSpc="1">
              <a:prstTxWarp prst="textNoShape">
                <a:avLst/>
              </a:prstTxWarp>
              <a:noAutofit/>
            </a:bodyPr>
            <a:lstStyle/>
            <a:p>
              <a:pPr lvl="0" algn="ctr">
                <a:defRPr/>
              </a:pPr>
              <a:r>
                <a:rPr lang="en-SG" sz="1000" kern="0">
                  <a:solidFill>
                    <a:srgbClr val="FFFFFF"/>
                  </a:solidFill>
                  <a:latin typeface="Arial" panose="020B0604020202020204" pitchFamily="34" charset="0"/>
                  <a:cs typeface="Arial" panose="020B0604020202020204" pitchFamily="34" charset="0"/>
                </a:rPr>
                <a:t>UI Boustead REIT</a:t>
              </a:r>
            </a:p>
          </p:txBody>
        </p:sp>
      </p:grpSp>
      <p:sp>
        <p:nvSpPr>
          <p:cNvPr id="105" name="TextBox 104">
            <a:extLst>
              <a:ext uri="{FF2B5EF4-FFF2-40B4-BE49-F238E27FC236}">
                <a16:creationId xmlns:a16="http://schemas.microsoft.com/office/drawing/2014/main" id="{E1FEE57F-62DC-83F7-377A-B7D60D82B824}"/>
              </a:ext>
            </a:extLst>
          </p:cNvPr>
          <p:cNvSpPr txBox="1"/>
          <p:nvPr/>
        </p:nvSpPr>
        <p:spPr>
          <a:xfrm>
            <a:off x="6122917" y="1642461"/>
            <a:ext cx="332911" cy="246221"/>
          </a:xfrm>
          <a:prstGeom prst="rect">
            <a:avLst/>
          </a:prstGeom>
          <a:noFill/>
          <a:ln>
            <a:noFill/>
          </a:ln>
        </p:spPr>
        <p:txBody>
          <a:bodyPr wrap="square" lIns="0" tIns="0" rIns="0" bIns="0"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100" i="0" u="none" strike="noStrike" cap="none" spc="0" normalizeH="0" baseline="0">
                <a:ln>
                  <a:noFill/>
                </a:ln>
                <a:solidFill>
                  <a:srgbClr val="000000"/>
                </a:solidFill>
                <a:effectLst/>
                <a:uLnTx/>
                <a:uFillTx/>
                <a:latin typeface="+mj-lt"/>
                <a:cs typeface="+mn-cs"/>
              </a:defRPr>
            </a:lvl1pPr>
          </a:lstStyle>
          <a:p>
            <a:pPr algn="ctr"/>
            <a:r>
              <a:rPr lang="en-SG" sz="800"/>
              <a:t>21 assets</a:t>
            </a:r>
          </a:p>
        </p:txBody>
      </p:sp>
      <p:sp>
        <p:nvSpPr>
          <p:cNvPr id="106" name="TextBox 105">
            <a:extLst>
              <a:ext uri="{FF2B5EF4-FFF2-40B4-BE49-F238E27FC236}">
                <a16:creationId xmlns:a16="http://schemas.microsoft.com/office/drawing/2014/main" id="{5473BC43-0C50-91F6-A6B5-AA471BBCC90D}"/>
              </a:ext>
            </a:extLst>
          </p:cNvPr>
          <p:cNvSpPr txBox="1"/>
          <p:nvPr/>
        </p:nvSpPr>
        <p:spPr>
          <a:xfrm>
            <a:off x="6122917" y="2226538"/>
            <a:ext cx="332911" cy="246221"/>
          </a:xfrm>
          <a:prstGeom prst="rect">
            <a:avLst/>
          </a:prstGeom>
          <a:noFill/>
          <a:ln>
            <a:noFill/>
          </a:ln>
        </p:spPr>
        <p:txBody>
          <a:bodyPr wrap="square" lIns="0" tIns="0" rIns="0" bIns="0" rtlCol="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100" i="0" u="none" strike="noStrike" cap="none" spc="0" normalizeH="0" baseline="0">
                <a:ln>
                  <a:noFill/>
                </a:ln>
                <a:solidFill>
                  <a:srgbClr val="000000"/>
                </a:solidFill>
                <a:effectLst/>
                <a:uLnTx/>
                <a:uFillTx/>
                <a:latin typeface="+mj-lt"/>
                <a:cs typeface="+mn-cs"/>
              </a:defRPr>
            </a:lvl1pPr>
          </a:lstStyle>
          <a:p>
            <a:pPr algn="ctr"/>
            <a:r>
              <a:rPr lang="en-SG" sz="800"/>
              <a:t>2 assets</a:t>
            </a:r>
          </a:p>
        </p:txBody>
      </p:sp>
      <p:sp>
        <p:nvSpPr>
          <p:cNvPr id="10" name="TextBox 9">
            <a:extLst>
              <a:ext uri="{FF2B5EF4-FFF2-40B4-BE49-F238E27FC236}">
                <a16:creationId xmlns:a16="http://schemas.microsoft.com/office/drawing/2014/main" id="{9F397C83-97CE-BCD1-EE9F-CCB4470688F2}"/>
              </a:ext>
            </a:extLst>
          </p:cNvPr>
          <p:cNvSpPr txBox="1"/>
          <p:nvPr/>
        </p:nvSpPr>
        <p:spPr>
          <a:xfrm>
            <a:off x="5915025" y="1409700"/>
            <a:ext cx="733425" cy="211203"/>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900">
                <a:solidFill>
                  <a:srgbClr val="315D90"/>
                </a:solidFill>
              </a:rPr>
              <a:t>Singapore</a:t>
            </a:r>
            <a:endParaRPr lang="en-SG" sz="900">
              <a:solidFill>
                <a:srgbClr val="315D90"/>
              </a:solidFill>
            </a:endParaRPr>
          </a:p>
        </p:txBody>
      </p:sp>
      <p:sp>
        <p:nvSpPr>
          <p:cNvPr id="11" name="TextBox 10">
            <a:extLst>
              <a:ext uri="{FF2B5EF4-FFF2-40B4-BE49-F238E27FC236}">
                <a16:creationId xmlns:a16="http://schemas.microsoft.com/office/drawing/2014/main" id="{E0E4A3D1-FC6A-4766-2CAF-208295D78436}"/>
              </a:ext>
            </a:extLst>
          </p:cNvPr>
          <p:cNvSpPr txBox="1"/>
          <p:nvPr/>
        </p:nvSpPr>
        <p:spPr>
          <a:xfrm>
            <a:off x="5915025" y="2000250"/>
            <a:ext cx="733425" cy="211203"/>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900">
                <a:solidFill>
                  <a:srgbClr val="315D90"/>
                </a:solidFill>
              </a:rPr>
              <a:t>Japan</a:t>
            </a:r>
            <a:endParaRPr lang="en-SG" sz="900">
              <a:solidFill>
                <a:srgbClr val="315D90"/>
              </a:solidFill>
            </a:endParaRPr>
          </a:p>
        </p:txBody>
      </p:sp>
    </p:spTree>
    <p:extLst>
      <p:ext uri="{BB962C8B-B14F-4D97-AF65-F5344CB8AC3E}">
        <p14:creationId xmlns:p14="http://schemas.microsoft.com/office/powerpoint/2010/main" val="1699079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6CA7D-31FA-0770-FF89-E02146BD4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A7B8FE-82D8-798E-DBAD-4B3E4FDFD505}"/>
              </a:ext>
            </a:extLst>
          </p:cNvPr>
          <p:cNvSpPr>
            <a:spLocks noGrp="1"/>
          </p:cNvSpPr>
          <p:nvPr>
            <p:ph type="title"/>
          </p:nvPr>
        </p:nvSpPr>
        <p:spPr/>
        <p:txBody>
          <a:bodyPr/>
          <a:lstStyle/>
          <a:p>
            <a:r>
              <a:rPr lang="en-US"/>
              <a:t>… while momentum continues in S-REIT </a:t>
            </a:r>
            <a:r>
              <a:rPr lang="en-SG"/>
              <a:t>market activity</a:t>
            </a:r>
            <a:endParaRPr lang="en-US"/>
          </a:p>
        </p:txBody>
      </p:sp>
      <p:sp>
        <p:nvSpPr>
          <p:cNvPr id="3" name="Slide Number Placeholder 2">
            <a:extLst>
              <a:ext uri="{FF2B5EF4-FFF2-40B4-BE49-F238E27FC236}">
                <a16:creationId xmlns:a16="http://schemas.microsoft.com/office/drawing/2014/main" id="{198B1D36-6ACE-DE80-2D69-48E464D5BAA5}"/>
              </a:ext>
            </a:extLst>
          </p:cNvPr>
          <p:cNvSpPr>
            <a:spLocks noGrp="1"/>
          </p:cNvSpPr>
          <p:nvPr>
            <p:ph type="sldNum" sz="quarter" idx="11"/>
          </p:nvPr>
        </p:nvSpPr>
        <p:spPr/>
        <p:txBody>
          <a:bodyPr/>
          <a:lstStyle/>
          <a:p>
            <a:fld id="{EED7964B-8F50-47E5-B5EE-37748C966AF4}" type="slidenum">
              <a:rPr lang="en-US" smtClean="0"/>
              <a:pPr/>
              <a:t>7</a:t>
            </a:fld>
            <a:endParaRPr lang="en-US"/>
          </a:p>
        </p:txBody>
      </p:sp>
      <p:sp>
        <p:nvSpPr>
          <p:cNvPr id="4" name="Text Placeholder 3">
            <a:extLst>
              <a:ext uri="{FF2B5EF4-FFF2-40B4-BE49-F238E27FC236}">
                <a16:creationId xmlns:a16="http://schemas.microsoft.com/office/drawing/2014/main" id="{1EA92EBB-E969-A1B8-C2BA-0AD550D00E64}"/>
              </a:ext>
            </a:extLst>
          </p:cNvPr>
          <p:cNvSpPr>
            <a:spLocks noGrp="1"/>
          </p:cNvSpPr>
          <p:nvPr>
            <p:ph type="body" sz="quarter" idx="46"/>
          </p:nvPr>
        </p:nvSpPr>
        <p:spPr/>
        <p:txBody>
          <a:bodyPr/>
          <a:lstStyle/>
          <a:p>
            <a:pPr marL="0" indent="0">
              <a:buNone/>
            </a:pPr>
            <a:r>
              <a:rPr lang="en-US" sz="800"/>
              <a:t>Note: Based on GBPSGD of 1.810, USDSGD of 1.29 and EURSGD of 1.543 for transactions denominated in a foreign currency</a:t>
            </a:r>
          </a:p>
        </p:txBody>
      </p:sp>
      <p:graphicFrame>
        <p:nvGraphicFramePr>
          <p:cNvPr id="6" name="Group 53">
            <a:extLst>
              <a:ext uri="{FF2B5EF4-FFF2-40B4-BE49-F238E27FC236}">
                <a16:creationId xmlns:a16="http://schemas.microsoft.com/office/drawing/2014/main" id="{49AC35EB-B865-A371-038B-0E01CA1F7B69}"/>
              </a:ext>
            </a:extLst>
          </p:cNvPr>
          <p:cNvGraphicFramePr>
            <a:graphicFrameLocks noGrp="1"/>
          </p:cNvGraphicFramePr>
          <p:nvPr>
            <p:custDataLst>
              <p:tags r:id="rId1"/>
            </p:custDataLst>
          </p:nvPr>
        </p:nvGraphicFramePr>
        <p:xfrm>
          <a:off x="10117649" y="0"/>
          <a:ext cx="4298859" cy="2085968"/>
        </p:xfrm>
        <a:graphic>
          <a:graphicData uri="http://schemas.openxmlformats.org/drawingml/2006/table">
            <a:tbl>
              <a:tblPr>
                <a:effectLst/>
              </a:tblPr>
              <a:tblGrid>
                <a:gridCol w="280415">
                  <a:extLst>
                    <a:ext uri="{9D8B030D-6E8A-4147-A177-3AD203B41FA5}">
                      <a16:colId xmlns:a16="http://schemas.microsoft.com/office/drawing/2014/main" val="2739300979"/>
                    </a:ext>
                  </a:extLst>
                </a:gridCol>
                <a:gridCol w="1524108">
                  <a:extLst>
                    <a:ext uri="{9D8B030D-6E8A-4147-A177-3AD203B41FA5}">
                      <a16:colId xmlns:a16="http://schemas.microsoft.com/office/drawing/2014/main" val="20000"/>
                    </a:ext>
                  </a:extLst>
                </a:gridCol>
                <a:gridCol w="1108093">
                  <a:extLst>
                    <a:ext uri="{9D8B030D-6E8A-4147-A177-3AD203B41FA5}">
                      <a16:colId xmlns:a16="http://schemas.microsoft.com/office/drawing/2014/main" val="20001"/>
                    </a:ext>
                  </a:extLst>
                </a:gridCol>
                <a:gridCol w="854696">
                  <a:extLst>
                    <a:ext uri="{9D8B030D-6E8A-4147-A177-3AD203B41FA5}">
                      <a16:colId xmlns:a16="http://schemas.microsoft.com/office/drawing/2014/main" val="20002"/>
                    </a:ext>
                  </a:extLst>
                </a:gridCol>
                <a:gridCol w="531547">
                  <a:extLst>
                    <a:ext uri="{9D8B030D-6E8A-4147-A177-3AD203B41FA5}">
                      <a16:colId xmlns:a16="http://schemas.microsoft.com/office/drawing/2014/main" val="810136741"/>
                    </a:ext>
                  </a:extLst>
                </a:gridCol>
              </a:tblGrid>
              <a:tr h="144000">
                <a:tc rowSpan="11">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1" i="0" u="none" strike="noStrike" kern="1200" cap="none" normalizeH="0" baseline="0">
                          <a:ln>
                            <a:noFill/>
                          </a:ln>
                          <a:solidFill>
                            <a:sysClr val="windowText" lastClr="000000"/>
                          </a:solidFill>
                          <a:effectLst/>
                          <a:latin typeface="Arial" panose="020B0604020202020204" pitchFamily="34" charset="0"/>
                          <a:ea typeface="MS PGothic" pitchFamily="34" charset="-128"/>
                          <a:cs typeface="Arial" panose="020B0604020202020204" pitchFamily="34" charset="0"/>
                        </a:rPr>
                        <a:t>2023</a:t>
                      </a:r>
                    </a:p>
                  </a:txBody>
                  <a:tcPr marL="18000" marR="18000" marT="18000" marB="18000" vert="vert270" anchor="ctr" horzOverflow="overflow">
                    <a:lnL w="63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85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Trusts</a:t>
                      </a:r>
                    </a:p>
                  </a:txBody>
                  <a:tcPr marL="18000" marR="18000" marT="18000" marB="18000" anchor="ctr" horzOverflow="overflow">
                    <a:lnL w="190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tx1">
                        <a:alpha val="8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EFRs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tx1">
                        <a:alpha val="80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Proceeds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tx1">
                        <a:alpha val="80000"/>
                      </a:schemeClr>
                    </a:solid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DBS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tx1">
                        <a:alpha val="80000"/>
                      </a:schemeClr>
                    </a:solidFill>
                  </a:tcPr>
                </a:tc>
                <a:extLst>
                  <a:ext uri="{0D108BD9-81ED-4DB2-BD59-A6C34878D82A}">
                    <a16:rowId xmlns:a16="http://schemas.microsoft.com/office/drawing/2014/main" val="10000"/>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Elite Commercial</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Preferential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£28m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None/>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658639084"/>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Ascott</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 + 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S$303m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5757479"/>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IREIT Global REIT</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Preferential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S$76m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None/>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2205125403"/>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India</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Preferential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S$150m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1829853"/>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AIMS APAC REIT</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 + 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S$100m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3526135790"/>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Mapletree Industrial</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S$205m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7090878"/>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Ascendas</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S$500m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675625697"/>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Keppel Infrastructure</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 + 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S$300m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63603629"/>
                  </a:ext>
                </a:extLst>
              </a:tr>
              <a:tr h="144000">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Mapletree Logistics</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S$200m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80921162"/>
                  </a:ext>
                </a:extLst>
              </a:tr>
              <a:tr h="144000">
                <a:tc vMerge="1">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endParaRPr kumimoji="0" lang="en-SG" sz="600" b="1" i="0" u="none" strike="noStrike" kern="1200" cap="none" normalizeH="0" baseline="0">
                        <a:ln>
                          <a:noFill/>
                        </a:ln>
                        <a:solidFill>
                          <a:schemeClr val="tx1"/>
                        </a:solidFill>
                        <a:effectLst/>
                        <a:latin typeface="+mj-lt"/>
                        <a:ea typeface="MS PGothic" pitchFamily="34" charset="-128"/>
                        <a:cs typeface="Calibri" panose="020F0502020204030204" pitchFamily="34" charset="0"/>
                      </a:endParaRPr>
                    </a:p>
                  </a:txBody>
                  <a:tcPr marL="69004" marR="69004" marT="18288" marB="18288" vert="vert27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2C2"/>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E</a:t>
                      </a: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SR-Logos</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 + 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S$300m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72802931"/>
                  </a:ext>
                </a:extLst>
              </a:tr>
              <a:tr h="181208">
                <a:tc>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US"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gridSpan="2">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Total: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US" sz="900" b="1" i="0" u="none" strike="noStrike" kern="1200" cap="none" normalizeH="0" baseline="0">
                        <a:ln>
                          <a:noFill/>
                        </a:ln>
                        <a:solidFill>
                          <a:schemeClr val="tx1"/>
                        </a:solidFill>
                        <a:effectLst/>
                        <a:latin typeface="+mj-lt"/>
                        <a:ea typeface="MS PGothic" pitchFamily="34" charset="-128"/>
                        <a:cs typeface="Calibri" panose="020F0502020204030204" pitchFamily="34" charset="0"/>
                      </a:endParaRPr>
                    </a:p>
                  </a:txBody>
                  <a:tcPr marL="69004" marR="69004" marT="18288" marB="18288"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 S$2,183m</a:t>
                      </a:r>
                      <a:endPar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58643024"/>
                  </a:ext>
                </a:extLst>
              </a:tr>
            </a:tbl>
          </a:graphicData>
        </a:graphic>
      </p:graphicFrame>
      <p:graphicFrame>
        <p:nvGraphicFramePr>
          <p:cNvPr id="9" name="Group 53">
            <a:extLst>
              <a:ext uri="{FF2B5EF4-FFF2-40B4-BE49-F238E27FC236}">
                <a16:creationId xmlns:a16="http://schemas.microsoft.com/office/drawing/2014/main" id="{F7B16E19-BB56-0202-D5AC-12A2B4D19A28}"/>
              </a:ext>
            </a:extLst>
          </p:cNvPr>
          <p:cNvGraphicFramePr>
            <a:graphicFrameLocks noGrp="1"/>
          </p:cNvGraphicFramePr>
          <p:nvPr>
            <p:custDataLst>
              <p:tags r:id="rId2"/>
            </p:custDataLst>
            <p:extLst>
              <p:ext uri="{D42A27DB-BD31-4B8C-83A1-F6EECF244321}">
                <p14:modId xmlns:p14="http://schemas.microsoft.com/office/powerpoint/2010/main" val="3684381514"/>
              </p:ext>
            </p:extLst>
          </p:nvPr>
        </p:nvGraphicFramePr>
        <p:xfrm>
          <a:off x="5153281" y="4709813"/>
          <a:ext cx="4302606" cy="1385280"/>
        </p:xfrm>
        <a:graphic>
          <a:graphicData uri="http://schemas.openxmlformats.org/drawingml/2006/table">
            <a:tbl>
              <a:tblPr>
                <a:effectLst/>
              </a:tblPr>
              <a:tblGrid>
                <a:gridCol w="282888">
                  <a:extLst>
                    <a:ext uri="{9D8B030D-6E8A-4147-A177-3AD203B41FA5}">
                      <a16:colId xmlns:a16="http://schemas.microsoft.com/office/drawing/2014/main" val="2739300979"/>
                    </a:ext>
                  </a:extLst>
                </a:gridCol>
                <a:gridCol w="1537542">
                  <a:extLst>
                    <a:ext uri="{9D8B030D-6E8A-4147-A177-3AD203B41FA5}">
                      <a16:colId xmlns:a16="http://schemas.microsoft.com/office/drawing/2014/main" val="20000"/>
                    </a:ext>
                  </a:extLst>
                </a:gridCol>
                <a:gridCol w="1152010">
                  <a:extLst>
                    <a:ext uri="{9D8B030D-6E8A-4147-A177-3AD203B41FA5}">
                      <a16:colId xmlns:a16="http://schemas.microsoft.com/office/drawing/2014/main" val="20001"/>
                    </a:ext>
                  </a:extLst>
                </a:gridCol>
                <a:gridCol w="887734">
                  <a:extLst>
                    <a:ext uri="{9D8B030D-6E8A-4147-A177-3AD203B41FA5}">
                      <a16:colId xmlns:a16="http://schemas.microsoft.com/office/drawing/2014/main" val="20002"/>
                    </a:ext>
                  </a:extLst>
                </a:gridCol>
                <a:gridCol w="442432">
                  <a:extLst>
                    <a:ext uri="{9D8B030D-6E8A-4147-A177-3AD203B41FA5}">
                      <a16:colId xmlns:a16="http://schemas.microsoft.com/office/drawing/2014/main" val="2382606659"/>
                    </a:ext>
                  </a:extLst>
                </a:gridCol>
              </a:tblGrid>
              <a:tr h="148364">
                <a:tc rowSpan="7">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2024</a:t>
                      </a:r>
                    </a:p>
                  </a:txBody>
                  <a:tcPr marL="18000" marR="18000" marT="18000" marB="18000" vert="vert270" anchor="ctr" horzOverflow="overflow">
                    <a:lnL w="63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85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Trusts</a:t>
                      </a:r>
                    </a:p>
                  </a:txBody>
                  <a:tcPr marL="18000" marR="18000" marT="18000" marB="18000" anchor="ctr" horzOverflow="overflow">
                    <a:lnL w="190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EFRs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Proceeds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DBS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extLst>
                  <a:ext uri="{0D108BD9-81ED-4DB2-BD59-A6C34878D82A}">
                    <a16:rowId xmlns:a16="http://schemas.microsoft.com/office/drawing/2014/main" val="10000"/>
                  </a:ext>
                </a:extLst>
              </a:tr>
              <a:tr h="123513">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Keppel DC REIT</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 + 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S$1,086m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634945069"/>
                  </a:ext>
                </a:extLst>
              </a:tr>
              <a:tr h="123513">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Parkway Life REIT</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S$180m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085001"/>
                  </a:ext>
                </a:extLst>
              </a:tr>
              <a:tr h="123513">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Int Comm</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FFFF">
                        <a:lumMod val="95000"/>
                      </a:srgb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 + 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FFFF">
                        <a:lumMod val="95000"/>
                      </a:srgb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S$1,107m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FFFF">
                        <a:lumMod val="95000"/>
                      </a:srgb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None/>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3666661425"/>
                  </a:ext>
                </a:extLst>
              </a:tr>
              <a:tr h="123513">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Keppel Infra Trust</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S$200m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0093768"/>
                  </a:ext>
                </a:extLst>
              </a:tr>
              <a:tr h="123513">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Digital Core</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FFFF">
                        <a:lumMod val="95000"/>
                      </a:srgb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FFFF">
                        <a:lumMod val="95000"/>
                      </a:srgb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US$120m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FFFF">
                        <a:lumMod val="95000"/>
                      </a:srgb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FFFFF">
                        <a:lumMod val="95000"/>
                      </a:srgbClr>
                    </a:solidFill>
                  </a:tcPr>
                </a:tc>
                <a:extLst>
                  <a:ext uri="{0D108BD9-81ED-4DB2-BD59-A6C34878D82A}">
                    <a16:rowId xmlns:a16="http://schemas.microsoft.com/office/drawing/2014/main" val="436355484"/>
                  </a:ext>
                </a:extLst>
              </a:tr>
              <a:tr h="123513">
                <a:tc vMerge="1">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endParaRPr kumimoji="0" lang="en-SG" sz="600" b="1" i="0" u="none" strike="noStrike" kern="1200" cap="none" normalizeH="0" baseline="0">
                        <a:ln>
                          <a:noFill/>
                        </a:ln>
                        <a:solidFill>
                          <a:schemeClr val="tx1"/>
                        </a:solidFill>
                        <a:effectLst/>
                        <a:latin typeface="+mj-lt"/>
                        <a:ea typeface="MS PGothic" pitchFamily="34" charset="-128"/>
                        <a:cs typeface="Calibri" panose="020F0502020204030204" pitchFamily="34" charset="0"/>
                      </a:endParaRPr>
                    </a:p>
                  </a:txBody>
                  <a:tcPr marL="69004" marR="69004" marT="18288" marB="18288" vert="vert27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2C2"/>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Frasers Centrepoint</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S$200m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72802931"/>
                  </a:ext>
                </a:extLst>
              </a:tr>
              <a:tr h="123513">
                <a:tc>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US"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gridSpan="2">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Total: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US" sz="900" b="1" i="0" u="none" strike="noStrike" kern="1200" cap="none" normalizeH="0" baseline="0">
                        <a:ln>
                          <a:noFill/>
                        </a:ln>
                        <a:solidFill>
                          <a:schemeClr val="tx1"/>
                        </a:solidFill>
                        <a:effectLst/>
                        <a:latin typeface="+mj-lt"/>
                        <a:ea typeface="MS PGothic" pitchFamily="34" charset="-128"/>
                        <a:cs typeface="Calibri" panose="020F0502020204030204" pitchFamily="34" charset="0"/>
                      </a:endParaRPr>
                    </a:p>
                  </a:txBody>
                  <a:tcPr marL="69004" marR="69004" marT="18288" marB="18288"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   S$2,928m</a:t>
                      </a:r>
                      <a:endPar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58643024"/>
                  </a:ext>
                </a:extLst>
              </a:tr>
            </a:tbl>
          </a:graphicData>
        </a:graphic>
      </p:graphicFrame>
      <p:graphicFrame>
        <p:nvGraphicFramePr>
          <p:cNvPr id="14" name="Group 53">
            <a:extLst>
              <a:ext uri="{FF2B5EF4-FFF2-40B4-BE49-F238E27FC236}">
                <a16:creationId xmlns:a16="http://schemas.microsoft.com/office/drawing/2014/main" id="{B7D6FABE-0414-AB79-1E70-FB3C29042CF5}"/>
              </a:ext>
            </a:extLst>
          </p:cNvPr>
          <p:cNvGraphicFramePr>
            <a:graphicFrameLocks noGrp="1"/>
          </p:cNvGraphicFramePr>
          <p:nvPr>
            <p:custDataLst>
              <p:tags r:id="rId3"/>
            </p:custDataLst>
            <p:extLst>
              <p:ext uri="{D42A27DB-BD31-4B8C-83A1-F6EECF244321}">
                <p14:modId xmlns:p14="http://schemas.microsoft.com/office/powerpoint/2010/main" val="1323860081"/>
              </p:ext>
            </p:extLst>
          </p:nvPr>
        </p:nvGraphicFramePr>
        <p:xfrm>
          <a:off x="5153281" y="2597329"/>
          <a:ext cx="4298862" cy="2093160"/>
        </p:xfrm>
        <a:graphic>
          <a:graphicData uri="http://schemas.openxmlformats.org/drawingml/2006/table">
            <a:tbl>
              <a:tblPr>
                <a:effectLst/>
              </a:tblPr>
              <a:tblGrid>
                <a:gridCol w="282641">
                  <a:extLst>
                    <a:ext uri="{9D8B030D-6E8A-4147-A177-3AD203B41FA5}">
                      <a16:colId xmlns:a16="http://schemas.microsoft.com/office/drawing/2014/main" val="2739300979"/>
                    </a:ext>
                  </a:extLst>
                </a:gridCol>
                <a:gridCol w="1536205">
                  <a:extLst>
                    <a:ext uri="{9D8B030D-6E8A-4147-A177-3AD203B41FA5}">
                      <a16:colId xmlns:a16="http://schemas.microsoft.com/office/drawing/2014/main" val="20000"/>
                    </a:ext>
                  </a:extLst>
                </a:gridCol>
                <a:gridCol w="1036445">
                  <a:extLst>
                    <a:ext uri="{9D8B030D-6E8A-4147-A177-3AD203B41FA5}">
                      <a16:colId xmlns:a16="http://schemas.microsoft.com/office/drawing/2014/main" val="20001"/>
                    </a:ext>
                  </a:extLst>
                </a:gridCol>
                <a:gridCol w="915767">
                  <a:extLst>
                    <a:ext uri="{9D8B030D-6E8A-4147-A177-3AD203B41FA5}">
                      <a16:colId xmlns:a16="http://schemas.microsoft.com/office/drawing/2014/main" val="20002"/>
                    </a:ext>
                  </a:extLst>
                </a:gridCol>
                <a:gridCol w="527804">
                  <a:extLst>
                    <a:ext uri="{9D8B030D-6E8A-4147-A177-3AD203B41FA5}">
                      <a16:colId xmlns:a16="http://schemas.microsoft.com/office/drawing/2014/main" val="3289524780"/>
                    </a:ext>
                  </a:extLst>
                </a:gridCol>
              </a:tblGrid>
              <a:tr h="71787">
                <a:tc rowSpan="11">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2025</a:t>
                      </a:r>
                    </a:p>
                  </a:txBody>
                  <a:tcPr marL="18000" marR="18000" marT="18000" marB="18000" vert="vert270" anchor="ctr" horzOverflow="overflow">
                    <a:lnL w="63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85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Trusts</a:t>
                      </a:r>
                    </a:p>
                  </a:txBody>
                  <a:tcPr marL="18000" marR="18000" marT="18000" marB="18000" anchor="ctr" horzOverflow="overflow">
                    <a:lnL w="190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EFRs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Proceeds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DBS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extLst>
                  <a:ext uri="{0D108BD9-81ED-4DB2-BD59-A6C34878D82A}">
                    <a16:rowId xmlns:a16="http://schemas.microsoft.com/office/drawing/2014/main" val="10000"/>
                  </a:ext>
                </a:extLst>
              </a:tr>
              <a:tr h="71787">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defRPr/>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Centurion Accommodation</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IPO</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S$771m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720129985"/>
                  </a:ext>
                </a:extLst>
              </a:tr>
              <a:tr h="71787">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NTT DC</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IPO</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US$773m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8897309"/>
                  </a:ext>
                </a:extLst>
              </a:tr>
              <a:tr h="71787">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Lendlease Global</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S$280m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542227364"/>
                  </a:ext>
                </a:extLst>
              </a:tr>
              <a:tr h="71787">
                <a:tc vMerge="1">
                  <a:txBody>
                    <a:bodyPr/>
                    <a:lstStyle/>
                    <a:p>
                      <a:endParaRPr lang="en-SG"/>
                    </a:p>
                  </a:txBody>
                  <a:tcPr>
                    <a:lnT w="12700" cmpd="sng">
                      <a:noFill/>
                      <a:prstDash val="solid"/>
                    </a:lnT>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Keppel REIT</a:t>
                      </a:r>
                    </a:p>
                  </a:txBody>
                  <a:tcPr marL="18000" marR="18000" marT="18000" marB="18000" anchor="ctr" horzOverflow="overflow">
                    <a:lnL w="12700" cmpd="sng">
                      <a:noFill/>
                      <a:prstDash val="soli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S$113m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8498936"/>
                  </a:ext>
                </a:extLst>
              </a:tr>
              <a:tr h="71787">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Prime US REIT</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US$25m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282983398"/>
                  </a:ext>
                </a:extLst>
              </a:tr>
              <a:tr h="71787">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Keppel DC REIT</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S$405m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7169783"/>
                  </a:ext>
                </a:extLst>
              </a:tr>
              <a:tr h="141414">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Int Comm</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S$600m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754699184"/>
                  </a:ext>
                </a:extLst>
              </a:tr>
              <a:tr h="78105">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Elite UK</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£4.0m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None/>
                        <a:tabLst/>
                        <a:defRPr/>
                      </a:pPr>
                      <a:r>
                        <a:rPr kumimoji="0" lang="en-AU" sz="10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55097448"/>
                  </a:ext>
                </a:extLst>
              </a:tr>
              <a:tr h="71787">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Ascendas</a:t>
                      </a: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S$500m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796090470"/>
                  </a:ext>
                </a:extLst>
              </a:tr>
              <a:tr h="71787">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Fraser Centrepoint </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90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 + 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S$421m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36355484"/>
                  </a:ext>
                </a:extLst>
              </a:tr>
              <a:tr h="71787">
                <a:tc>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US"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gridSpan="2">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Total: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US" sz="900" b="1" i="0" u="none" strike="noStrike" kern="1200" cap="none" normalizeH="0" baseline="0">
                        <a:ln>
                          <a:noFill/>
                        </a:ln>
                        <a:solidFill>
                          <a:schemeClr val="tx1"/>
                        </a:solidFill>
                        <a:effectLst/>
                        <a:latin typeface="+mj-lt"/>
                        <a:ea typeface="MS PGothic" pitchFamily="34" charset="-128"/>
                        <a:cs typeface="Calibri" panose="020F0502020204030204" pitchFamily="34" charset="0"/>
                      </a:endParaRPr>
                    </a:p>
                  </a:txBody>
                  <a:tcPr marL="69004" marR="69004" marT="18288" marB="18288"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   S$4,128m</a:t>
                      </a:r>
                      <a:endPar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58643024"/>
                  </a:ext>
                </a:extLst>
              </a:tr>
            </a:tbl>
          </a:graphicData>
        </a:graphic>
      </p:graphicFrame>
      <p:sp>
        <p:nvSpPr>
          <p:cNvPr id="16" name="Rectangle: Rounded Corners 15">
            <a:extLst>
              <a:ext uri="{FF2B5EF4-FFF2-40B4-BE49-F238E27FC236}">
                <a16:creationId xmlns:a16="http://schemas.microsoft.com/office/drawing/2014/main" id="{D30FC741-C49D-FB4A-8096-6EEA38B15134}"/>
              </a:ext>
            </a:extLst>
          </p:cNvPr>
          <p:cNvSpPr/>
          <p:nvPr/>
        </p:nvSpPr>
        <p:spPr bwMode="auto">
          <a:xfrm>
            <a:off x="450113" y="1021156"/>
            <a:ext cx="4455262" cy="247066"/>
          </a:xfrm>
          <a:prstGeom prst="roundRect">
            <a:avLst>
              <a:gd name="adj" fmla="val 50000"/>
            </a:avLst>
          </a:prstGeom>
          <a:solidFill>
            <a:srgbClr val="089C8B"/>
          </a:solidFill>
          <a:ln>
            <a:noFill/>
          </a:ln>
          <a:effectLst>
            <a:outerShdw blurRad="50800" dist="38100" dir="2700000" algn="ctr" rotWithShape="0">
              <a:schemeClr val="tx1">
                <a:alpha val="40000"/>
              </a:schemeClr>
            </a:outerShdw>
          </a:effectLst>
        </p:spPr>
        <p:txBody>
          <a:bodyPr vert="horz" wrap="square" lIns="36000" tIns="10800" rIns="36000" bIns="10800" numCol="1" rtlCol="0" anchor="ctr" anchorCtr="0" compatLnSpc="1">
            <a:prstTxWarp prst="textNoShape">
              <a:avLst/>
            </a:prstTxWarp>
            <a:spAutoFit/>
          </a:bodyPr>
          <a:lstStyle/>
          <a:p>
            <a:pPr lvl="0" algn="ctr">
              <a:defRPr/>
            </a:pPr>
            <a:r>
              <a:rPr lang="en-SG" sz="1000" kern="0">
                <a:solidFill>
                  <a:srgbClr val="FFFFFF"/>
                </a:solidFill>
                <a:latin typeface="Arial" panose="020B0604020202020204" pitchFamily="34" charset="0"/>
                <a:cs typeface="Arial" panose="020B0604020202020204" pitchFamily="34" charset="0"/>
              </a:rPr>
              <a:t>SGX S-REIT Equity Fund Raisings</a:t>
            </a:r>
            <a:endParaRPr lang="en-SG" sz="1000" kern="0" baseline="30000">
              <a:solidFill>
                <a:srgbClr val="FFFFFF"/>
              </a:solidFill>
              <a:latin typeface="Arial" panose="020B0604020202020204" pitchFamily="34" charset="0"/>
              <a:cs typeface="Arial" panose="020B0604020202020204" pitchFamily="34" charset="0"/>
            </a:endParaRPr>
          </a:p>
        </p:txBody>
      </p:sp>
      <p:sp>
        <p:nvSpPr>
          <p:cNvPr id="17" name="TextBox 1">
            <a:extLst>
              <a:ext uri="{FF2B5EF4-FFF2-40B4-BE49-F238E27FC236}">
                <a16:creationId xmlns:a16="http://schemas.microsoft.com/office/drawing/2014/main" id="{A1CA6470-A920-39B1-5B18-5DD991E0354B}"/>
              </a:ext>
            </a:extLst>
          </p:cNvPr>
          <p:cNvSpPr txBox="1"/>
          <p:nvPr/>
        </p:nvSpPr>
        <p:spPr>
          <a:xfrm>
            <a:off x="450112" y="1419226"/>
            <a:ext cx="1625744" cy="211203"/>
          </a:xfrm>
          <a:prstGeom prst="rect">
            <a:avLst/>
          </a:prstGeom>
          <a:noFill/>
          <a:ln w="6350">
            <a:noFill/>
            <a:prstDash val="dash"/>
          </a:ln>
        </p:spPr>
        <p:txBody>
          <a:bodyPr wrap="square" lIns="36000" tIns="36000" rIns="36000" bIns="36000" rtlCol="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spcAft>
                <a:spcPts val="200"/>
              </a:spcAft>
            </a:pPr>
            <a:r>
              <a:rPr lang="en-US" sz="900" b="0" i="1" kern="1200">
                <a:solidFill>
                  <a:schemeClr val="tx1"/>
                </a:solidFill>
              </a:rPr>
              <a:t>(S$ bn)</a:t>
            </a:r>
            <a:endParaRPr lang="en-SG" sz="900" b="0" i="1" kern="1200">
              <a:solidFill>
                <a:schemeClr val="tx1"/>
              </a:solidFill>
            </a:endParaRPr>
          </a:p>
        </p:txBody>
      </p:sp>
      <p:graphicFrame>
        <p:nvGraphicFramePr>
          <p:cNvPr id="5" name="Group 53">
            <a:extLst>
              <a:ext uri="{FF2B5EF4-FFF2-40B4-BE49-F238E27FC236}">
                <a16:creationId xmlns:a16="http://schemas.microsoft.com/office/drawing/2014/main" id="{5A962A75-2632-CC2B-FF1A-E5584ED40742}"/>
              </a:ext>
            </a:extLst>
          </p:cNvPr>
          <p:cNvGraphicFramePr>
            <a:graphicFrameLocks noGrp="1"/>
          </p:cNvGraphicFramePr>
          <p:nvPr>
            <p:custDataLst>
              <p:tags r:id="rId4"/>
            </p:custDataLst>
            <p:extLst>
              <p:ext uri="{D42A27DB-BD31-4B8C-83A1-F6EECF244321}">
                <p14:modId xmlns:p14="http://schemas.microsoft.com/office/powerpoint/2010/main" val="2142146891"/>
              </p:ext>
            </p:extLst>
          </p:nvPr>
        </p:nvGraphicFramePr>
        <p:xfrm>
          <a:off x="5153281" y="1078905"/>
          <a:ext cx="4298862" cy="1522288"/>
        </p:xfrm>
        <a:graphic>
          <a:graphicData uri="http://schemas.openxmlformats.org/drawingml/2006/table">
            <a:tbl>
              <a:tblPr firstRow="1" bandRow="1">
                <a:effectLst/>
              </a:tblPr>
              <a:tblGrid>
                <a:gridCol w="282641">
                  <a:extLst>
                    <a:ext uri="{9D8B030D-6E8A-4147-A177-3AD203B41FA5}">
                      <a16:colId xmlns:a16="http://schemas.microsoft.com/office/drawing/2014/main" val="2739300979"/>
                    </a:ext>
                  </a:extLst>
                </a:gridCol>
                <a:gridCol w="1536205">
                  <a:extLst>
                    <a:ext uri="{9D8B030D-6E8A-4147-A177-3AD203B41FA5}">
                      <a16:colId xmlns:a16="http://schemas.microsoft.com/office/drawing/2014/main" val="20000"/>
                    </a:ext>
                  </a:extLst>
                </a:gridCol>
                <a:gridCol w="1036445">
                  <a:extLst>
                    <a:ext uri="{9D8B030D-6E8A-4147-A177-3AD203B41FA5}">
                      <a16:colId xmlns:a16="http://schemas.microsoft.com/office/drawing/2014/main" val="20001"/>
                    </a:ext>
                  </a:extLst>
                </a:gridCol>
                <a:gridCol w="915767">
                  <a:extLst>
                    <a:ext uri="{9D8B030D-6E8A-4147-A177-3AD203B41FA5}">
                      <a16:colId xmlns:a16="http://schemas.microsoft.com/office/drawing/2014/main" val="20002"/>
                    </a:ext>
                  </a:extLst>
                </a:gridCol>
                <a:gridCol w="527804">
                  <a:extLst>
                    <a:ext uri="{9D8B030D-6E8A-4147-A177-3AD203B41FA5}">
                      <a16:colId xmlns:a16="http://schemas.microsoft.com/office/drawing/2014/main" val="3289524780"/>
                    </a:ext>
                  </a:extLst>
                </a:gridCol>
              </a:tblGrid>
              <a:tr h="190286">
                <a:tc rowSpan="7">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2026</a:t>
                      </a:r>
                    </a:p>
                  </a:txBody>
                  <a:tcPr marL="18000" marR="18000" marT="18000" marB="18000" vert="vert270" anchor="ctr" horzOverflow="overflow">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85000"/>
                      </a:scheme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Trusts</a:t>
                      </a:r>
                    </a:p>
                  </a:txBody>
                  <a:tcPr marL="18000" marR="18000" marT="18000" marB="18000" anchor="ctr" horzOverflow="overflow">
                    <a:lnL w="1270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75000"/>
                        </a:spcBef>
                        <a:spcAft>
                          <a:spcPct val="0"/>
                        </a:spcAft>
                        <a:buClr>
                          <a:schemeClr val="accent1"/>
                        </a:buClr>
                        <a:buSzTx/>
                        <a:buFont typeface="HelveticaNeue LT 45 L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EFRs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defPPr>
                        <a:defRPr lang="en-U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Proceeds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bg1"/>
                          </a:solidFill>
                          <a:effectLst/>
                          <a:latin typeface="Arial" panose="020B0604020202020204" pitchFamily="34" charset="0"/>
                          <a:ea typeface="MS PGothic" pitchFamily="34" charset="-128"/>
                          <a:cs typeface="Arial" panose="020B0604020202020204" pitchFamily="34" charset="0"/>
                        </a:rPr>
                        <a:t>DBS</a:t>
                      </a:r>
                    </a:p>
                  </a:txBody>
                  <a:tcPr marL="18000" marR="18000" marT="18000" marB="180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000000">
                        <a:alpha val="80000"/>
                      </a:srgbClr>
                    </a:solidFill>
                  </a:tcPr>
                </a:tc>
                <a:extLst>
                  <a:ext uri="{0D108BD9-81ED-4DB2-BD59-A6C34878D82A}">
                    <a16:rowId xmlns:a16="http://schemas.microsoft.com/office/drawing/2014/main" val="10000"/>
                  </a:ext>
                </a:extLst>
              </a:tr>
              <a:tr h="190286">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UI Boustead REIT</a:t>
                      </a:r>
                    </a:p>
                  </a:txBody>
                  <a:tcPr marL="18000" marR="18000" marT="18000" marB="1800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IPO</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S$974m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079902481"/>
                  </a:ext>
                </a:extLst>
              </a:tr>
              <a:tr h="190286">
                <a:tc vMerge="1">
                  <a:txBody>
                    <a:bodyPr/>
                    <a:lstStyle/>
                    <a:p>
                      <a:endParaRPr lang="en-SG"/>
                    </a:p>
                  </a:txBody>
                  <a:tcPr>
                    <a:lnT w="12700" cmpd="sng">
                      <a:noFill/>
                      <a:prstDash val="solid"/>
                    </a:lnT>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Int Comm</a:t>
                      </a:r>
                    </a:p>
                  </a:txBody>
                  <a:tcPr marL="18000" marR="18000" marT="18000" marB="1800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S$750m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tcPr>
                </a:tc>
                <a:extLst>
                  <a:ext uri="{0D108BD9-81ED-4DB2-BD59-A6C34878D82A}">
                    <a16:rowId xmlns:a16="http://schemas.microsoft.com/office/drawing/2014/main" val="3237169783"/>
                  </a:ext>
                </a:extLst>
              </a:tr>
              <a:tr h="190286">
                <a:tc vMerge="1">
                  <a:txBody>
                    <a:bodyPr/>
                    <a:lstStyle/>
                    <a:p>
                      <a:endParaRPr lang="en-SG"/>
                    </a:p>
                  </a:txBody>
                  <a:tcPr>
                    <a:lnT w="12700" cmpd="sng">
                      <a:noFill/>
                      <a:prstDash val="solid"/>
                    </a:lnT>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defRPr/>
                      </a:pPr>
                      <a:r>
                        <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a:t>
                      </a:r>
                      <a:r>
                        <a:rPr kumimoji="0" lang="en-SG" sz="900" b="0" i="0" u="none" strike="noStrike" kern="1200" cap="none" normalizeH="0" baseline="0" err="1">
                          <a:ln>
                            <a:noFill/>
                          </a:ln>
                          <a:solidFill>
                            <a:schemeClr val="tx1"/>
                          </a:solidFill>
                          <a:effectLst/>
                          <a:latin typeface="Arial" panose="020B0604020202020204" pitchFamily="34" charset="0"/>
                          <a:ea typeface="MS PGothic" pitchFamily="34" charset="-128"/>
                          <a:cs typeface="Arial" panose="020B0604020202020204" pitchFamily="34" charset="0"/>
                        </a:rPr>
                        <a:t>Ascendas</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 + 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S$904m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3323961212"/>
                  </a:ext>
                </a:extLst>
              </a:tr>
              <a:tr h="190286">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Lendlease Global</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S$197m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rPr>
                        <a:t> </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tcPr>
                </a:tc>
                <a:extLst>
                  <a:ext uri="{0D108BD9-81ED-4DB2-BD59-A6C34878D82A}">
                    <a16:rowId xmlns:a16="http://schemas.microsoft.com/office/drawing/2014/main" val="3754699184"/>
                  </a:ext>
                </a:extLst>
              </a:tr>
              <a:tr h="190286">
                <a:tc vMerge="1">
                  <a:txBody>
                    <a:bodyPr/>
                    <a:lstStyle/>
                    <a:p>
                      <a:endParaRPr lang="en-SG"/>
                    </a:p>
                  </a:txBody>
                  <a:tcPr>
                    <a:lnT w="12700" cmpd="sng">
                      <a:noFill/>
                      <a:prstDash val="solid"/>
                    </a:lnT>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CapitaLand India</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Placement</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S$150m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796090470"/>
                  </a:ext>
                </a:extLst>
              </a:tr>
              <a:tr h="190286">
                <a:tc vMerge="1">
                  <a:txBody>
                    <a:bodyPr/>
                    <a:lstStyle/>
                    <a:p>
                      <a:endParaRPr lang="en-SG"/>
                    </a:p>
                  </a:txBody>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tab pos="855663" algn="l"/>
                        </a:tabLst>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Keppel REIT</a:t>
                      </a:r>
                      <a:endParaRPr kumimoji="0" lang="en-SG"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tc>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Pref</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tc>
                  <a:txBody>
                    <a:bodyPr/>
                    <a:lstStyle/>
                    <a:p>
                      <a:pPr marL="0" marR="0" lvl="0" indent="0" algn="r" defTabSz="742950" rtl="0" eaLnBrk="1" fontAlgn="ctr" latinLnBrk="0" hangingPunct="1">
                        <a:lnSpc>
                          <a:spcPct val="100000"/>
                        </a:lnSpc>
                        <a:spcBef>
                          <a:spcPts val="300"/>
                        </a:spcBef>
                        <a:spcAft>
                          <a:spcPct val="0"/>
                        </a:spcAft>
                        <a:buClr>
                          <a:schemeClr val="accent1"/>
                        </a:buClr>
                        <a:buSzTx/>
                        <a:buFont typeface="HelveticaNeue LT 46 LightIt"/>
                        <a:buNone/>
                        <a:tabLst/>
                        <a:defRPr/>
                      </a:pPr>
                      <a:r>
                        <a:rPr lang="en-AU" sz="900" b="0" i="0" u="none" strike="noStrike" kern="1200">
                          <a:solidFill>
                            <a:srgbClr val="000000"/>
                          </a:solidFill>
                          <a:effectLst/>
                          <a:latin typeface="Arial" panose="020B0604020202020204" pitchFamily="34" charset="0"/>
                          <a:ea typeface="+mn-ea"/>
                          <a:cs typeface="Arial" panose="020B0604020202020204" pitchFamily="34" charset="0"/>
                        </a:rPr>
                        <a:t>S$886m</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tc>
                  <a:txBody>
                    <a:bodyPr/>
                    <a:lstStyle/>
                    <a:p>
                      <a:pPr marL="0" marR="0" lvl="0" indent="0" algn="ctr" defTabSz="914400" rtl="0" eaLnBrk="1" fontAlgn="base" latinLnBrk="0" hangingPunct="1">
                        <a:lnSpc>
                          <a:spcPct val="100000"/>
                        </a:lnSpc>
                        <a:spcBef>
                          <a:spcPts val="300"/>
                        </a:spcBef>
                        <a:spcAft>
                          <a:spcPct val="0"/>
                        </a:spcAft>
                        <a:buClr>
                          <a:srgbClr val="008000"/>
                        </a:buClr>
                        <a:buSzPct val="120000"/>
                        <a:buFont typeface="Wingdings" pitchFamily="2" charset="2"/>
                        <a:buChar char="ü"/>
                        <a:tabLst/>
                        <a:defRPr/>
                      </a:pPr>
                      <a:r>
                        <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sym typeface="Wingdings" panose="05000000000000000000" pitchFamily="2" charset="2"/>
                        </a:rPr>
                        <a:t> </a:t>
                      </a:r>
                      <a:endParaRPr kumimoji="0" lang="en-AU" sz="900" b="1" i="0" u="none" strike="noStrike" kern="1200" cap="none" normalizeH="0" baseline="0">
                        <a:ln>
                          <a:noFill/>
                        </a:ln>
                        <a:solidFill>
                          <a:srgbClr val="C00000"/>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tcPr>
                </a:tc>
                <a:extLst>
                  <a:ext uri="{0D108BD9-81ED-4DB2-BD59-A6C34878D82A}">
                    <a16:rowId xmlns:a16="http://schemas.microsoft.com/office/drawing/2014/main" val="436355484"/>
                  </a:ext>
                </a:extLst>
              </a:tr>
              <a:tr h="190286">
                <a:tc>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US"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gridSpan="2">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US"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Total:</a:t>
                      </a: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US" sz="900" b="1" i="0" u="none" strike="noStrike" kern="1200" cap="none" normalizeH="0" baseline="0">
                        <a:ln>
                          <a:noFill/>
                        </a:ln>
                        <a:solidFill>
                          <a:schemeClr val="tx1"/>
                        </a:solidFill>
                        <a:effectLst/>
                        <a:latin typeface="+mj-lt"/>
                        <a:ea typeface="MS PGothic" pitchFamily="34" charset="-128"/>
                        <a:cs typeface="Calibri" panose="020F0502020204030204" pitchFamily="34" charset="0"/>
                      </a:endParaRPr>
                    </a:p>
                  </a:txBody>
                  <a:tcPr marL="69004" marR="69004" marT="18288" marB="18288"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   S$3,861m</a:t>
                      </a:r>
                      <a:endPar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ts val="300"/>
                        </a:spcBef>
                        <a:spcAft>
                          <a:spcPct val="0"/>
                        </a:spcAft>
                        <a:buClr>
                          <a:schemeClr val="accent1"/>
                        </a:buClr>
                        <a:buSzTx/>
                        <a:buFont typeface="HelveticaNeue LT 46 LightIt"/>
                        <a:buNone/>
                        <a:tabLst/>
                        <a:defRPr/>
                      </a:pPr>
                      <a:endParaRPr kumimoji="0" lang="en-AU" sz="900" b="0"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endParaRPr>
                    </a:p>
                  </a:txBody>
                  <a:tcPr marL="18000" marR="18000" marT="18000" marB="1800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58643024"/>
                  </a:ext>
                </a:extLst>
              </a:tr>
            </a:tbl>
          </a:graphicData>
        </a:graphic>
      </p:graphicFrame>
      <p:graphicFrame>
        <p:nvGraphicFramePr>
          <p:cNvPr id="10" name="Chart 9">
            <a:extLst>
              <a:ext uri="{FF2B5EF4-FFF2-40B4-BE49-F238E27FC236}">
                <a16:creationId xmlns:a16="http://schemas.microsoft.com/office/drawing/2014/main" id="{FC0E8713-10A8-01CC-339C-9539E302BF19}"/>
              </a:ext>
            </a:extLst>
          </p:cNvPr>
          <p:cNvGraphicFramePr/>
          <p:nvPr>
            <p:extLst>
              <p:ext uri="{D42A27DB-BD31-4B8C-83A1-F6EECF244321}">
                <p14:modId xmlns:p14="http://schemas.microsoft.com/office/powerpoint/2010/main" val="3776502033"/>
              </p:ext>
            </p:extLst>
          </p:nvPr>
        </p:nvGraphicFramePr>
        <p:xfrm>
          <a:off x="450113" y="1715818"/>
          <a:ext cx="4454701" cy="440266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593044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D7B28-A676-BCD1-C3EF-7F3109973B60}"/>
            </a:ext>
          </a:extLst>
        </p:cNvPr>
        <p:cNvGrpSpPr/>
        <p:nvPr/>
      </p:nvGrpSpPr>
      <p:grpSpPr>
        <a:xfrm>
          <a:off x="0" y="0"/>
          <a:ext cx="0" cy="0"/>
          <a:chOff x="0" y="0"/>
          <a:chExt cx="0" cy="0"/>
        </a:xfrm>
      </p:grpSpPr>
      <p:graphicFrame>
        <p:nvGraphicFramePr>
          <p:cNvPr id="54" name="Chart 53">
            <a:extLst>
              <a:ext uri="{FF2B5EF4-FFF2-40B4-BE49-F238E27FC236}">
                <a16:creationId xmlns:a16="http://schemas.microsoft.com/office/drawing/2014/main" id="{7185C624-E47C-8057-D28C-F3DB67FDF1CF}"/>
              </a:ext>
            </a:extLst>
          </p:cNvPr>
          <p:cNvGraphicFramePr/>
          <p:nvPr>
            <p:extLst>
              <p:ext uri="{D42A27DB-BD31-4B8C-83A1-F6EECF244321}">
                <p14:modId xmlns:p14="http://schemas.microsoft.com/office/powerpoint/2010/main" val="4067635513"/>
              </p:ext>
            </p:extLst>
          </p:nvPr>
        </p:nvGraphicFramePr>
        <p:xfrm>
          <a:off x="455224" y="1776760"/>
          <a:ext cx="2880000" cy="3428267"/>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0F09E34C-EFC8-1760-AA8C-B1A4B598AC8B}"/>
              </a:ext>
            </a:extLst>
          </p:cNvPr>
          <p:cNvSpPr>
            <a:spLocks noGrp="1"/>
          </p:cNvSpPr>
          <p:nvPr>
            <p:ph type="title"/>
          </p:nvPr>
        </p:nvSpPr>
        <p:spPr/>
        <p:txBody>
          <a:bodyPr/>
          <a:lstStyle/>
          <a:p>
            <a:r>
              <a:rPr lang="en-US"/>
              <a:t>Comparing Singapore-listed data centre REITs</a:t>
            </a:r>
            <a:endParaRPr lang="en-SG"/>
          </a:p>
        </p:txBody>
      </p:sp>
      <p:sp>
        <p:nvSpPr>
          <p:cNvPr id="4" name="Text Placeholder 3">
            <a:extLst>
              <a:ext uri="{FF2B5EF4-FFF2-40B4-BE49-F238E27FC236}">
                <a16:creationId xmlns:a16="http://schemas.microsoft.com/office/drawing/2014/main" id="{FF7CF990-1E2C-BC14-AF42-38A669715953}"/>
              </a:ext>
            </a:extLst>
          </p:cNvPr>
          <p:cNvSpPr>
            <a:spLocks noGrp="1"/>
          </p:cNvSpPr>
          <p:nvPr>
            <p:ph type="body" sz="quarter" idx="46"/>
          </p:nvPr>
        </p:nvSpPr>
        <p:spPr/>
        <p:txBody>
          <a:bodyPr/>
          <a:lstStyle/>
          <a:p>
            <a:pPr marL="0" indent="0">
              <a:buNone/>
            </a:pPr>
            <a:r>
              <a:rPr lang="en-US" sz="800"/>
              <a:t>Source: Bloomberg as at 04 May 2026</a:t>
            </a:r>
            <a:br>
              <a:rPr lang="en-US" sz="800"/>
            </a:br>
            <a:r>
              <a:rPr lang="en-US" sz="800"/>
              <a:t>(1) Assuming USDSGD of 1 : 1.32</a:t>
            </a:r>
            <a:endParaRPr lang="en-SG" sz="800"/>
          </a:p>
        </p:txBody>
      </p:sp>
      <p:graphicFrame>
        <p:nvGraphicFramePr>
          <p:cNvPr id="15" name="Chart 14">
            <a:extLst>
              <a:ext uri="{FF2B5EF4-FFF2-40B4-BE49-F238E27FC236}">
                <a16:creationId xmlns:a16="http://schemas.microsoft.com/office/drawing/2014/main" id="{EE1F5869-0B60-A47C-55A1-9CEA7B73B748}"/>
              </a:ext>
            </a:extLst>
          </p:cNvPr>
          <p:cNvGraphicFramePr/>
          <p:nvPr>
            <p:extLst>
              <p:ext uri="{D42A27DB-BD31-4B8C-83A1-F6EECF244321}">
                <p14:modId xmlns:p14="http://schemas.microsoft.com/office/powerpoint/2010/main" val="1296615761"/>
              </p:ext>
            </p:extLst>
          </p:nvPr>
        </p:nvGraphicFramePr>
        <p:xfrm>
          <a:off x="6568801" y="1776760"/>
          <a:ext cx="2880000" cy="3428267"/>
        </p:xfrm>
        <a:graphic>
          <a:graphicData uri="http://schemas.openxmlformats.org/drawingml/2006/chart">
            <c:chart xmlns:c="http://schemas.openxmlformats.org/drawingml/2006/chart" xmlns:r="http://schemas.openxmlformats.org/officeDocument/2006/relationships" r:id="rId3"/>
          </a:graphicData>
        </a:graphic>
      </p:graphicFrame>
      <p:cxnSp>
        <p:nvCxnSpPr>
          <p:cNvPr id="33" name="Straight Connector 32">
            <a:extLst>
              <a:ext uri="{FF2B5EF4-FFF2-40B4-BE49-F238E27FC236}">
                <a16:creationId xmlns:a16="http://schemas.microsoft.com/office/drawing/2014/main" id="{1EDE73EB-90FE-F2BE-D685-A3F888356290}"/>
              </a:ext>
            </a:extLst>
          </p:cNvPr>
          <p:cNvCxnSpPr/>
          <p:nvPr/>
        </p:nvCxnSpPr>
        <p:spPr bwMode="auto">
          <a:xfrm flipV="1">
            <a:off x="3423618" y="1379872"/>
            <a:ext cx="0" cy="346365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a:extLst>
              <a:ext uri="{FF2B5EF4-FFF2-40B4-BE49-F238E27FC236}">
                <a16:creationId xmlns:a16="http://schemas.microsoft.com/office/drawing/2014/main" id="{45034755-3FF6-D8A9-4849-853A3699FC9D}"/>
              </a:ext>
            </a:extLst>
          </p:cNvPr>
          <p:cNvCxnSpPr/>
          <p:nvPr/>
        </p:nvCxnSpPr>
        <p:spPr bwMode="auto">
          <a:xfrm flipV="1">
            <a:off x="6480406" y="1379872"/>
            <a:ext cx="0" cy="346365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3" name="Chart 12">
            <a:extLst>
              <a:ext uri="{FF2B5EF4-FFF2-40B4-BE49-F238E27FC236}">
                <a16:creationId xmlns:a16="http://schemas.microsoft.com/office/drawing/2014/main" id="{D2427228-2EFF-89A3-0EC3-63066448694B}"/>
              </a:ext>
            </a:extLst>
          </p:cNvPr>
          <p:cNvGraphicFramePr/>
          <p:nvPr>
            <p:extLst>
              <p:ext uri="{D42A27DB-BD31-4B8C-83A1-F6EECF244321}">
                <p14:modId xmlns:p14="http://schemas.microsoft.com/office/powerpoint/2010/main" val="573669852"/>
              </p:ext>
            </p:extLst>
          </p:nvPr>
        </p:nvGraphicFramePr>
        <p:xfrm>
          <a:off x="3512012" y="1776760"/>
          <a:ext cx="2880000" cy="3428267"/>
        </p:xfrm>
        <a:graphic>
          <a:graphicData uri="http://schemas.openxmlformats.org/drawingml/2006/chart">
            <c:chart xmlns:c="http://schemas.openxmlformats.org/drawingml/2006/chart" xmlns:r="http://schemas.openxmlformats.org/officeDocument/2006/relationships" r:id="rId4"/>
          </a:graphicData>
        </a:graphic>
      </p:graphicFrame>
      <p:sp>
        <p:nvSpPr>
          <p:cNvPr id="36" name="TextBox 35">
            <a:extLst>
              <a:ext uri="{FF2B5EF4-FFF2-40B4-BE49-F238E27FC236}">
                <a16:creationId xmlns:a16="http://schemas.microsoft.com/office/drawing/2014/main" id="{56CAD1CE-822A-2703-7D58-61ACB20E387A}"/>
              </a:ext>
            </a:extLst>
          </p:cNvPr>
          <p:cNvSpPr txBox="1"/>
          <p:nvPr/>
        </p:nvSpPr>
        <p:spPr>
          <a:xfrm>
            <a:off x="3512598" y="1265888"/>
            <a:ext cx="2880000" cy="72757"/>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18000" rIns="36000" bIns="18000" rtlCol="0" anchor="ctr">
            <a:spAutoFit/>
          </a:bodyPr>
          <a:lstStyle/>
          <a:p>
            <a:pPr algn="ctr">
              <a:spcAft>
                <a:spcPts val="0"/>
              </a:spcAft>
            </a:pPr>
            <a:endParaRPr lang="en-SG" sz="100" b="0" i="1">
              <a:solidFill>
                <a:schemeClr val="bg1"/>
              </a:solidFill>
            </a:endParaRPr>
          </a:p>
        </p:txBody>
      </p:sp>
      <p:sp>
        <p:nvSpPr>
          <p:cNvPr id="38" name="TextBox 37">
            <a:extLst>
              <a:ext uri="{FF2B5EF4-FFF2-40B4-BE49-F238E27FC236}">
                <a16:creationId xmlns:a16="http://schemas.microsoft.com/office/drawing/2014/main" id="{1A0273A4-F584-27DC-057C-5E2117659A0F}"/>
              </a:ext>
            </a:extLst>
          </p:cNvPr>
          <p:cNvSpPr txBox="1"/>
          <p:nvPr/>
        </p:nvSpPr>
        <p:spPr>
          <a:xfrm>
            <a:off x="13151974" y="210642"/>
            <a:ext cx="2543175" cy="383044"/>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1050">
                <a:solidFill>
                  <a:srgbClr val="000000"/>
                </a:solidFill>
              </a:rPr>
              <a:t>NTT DC REIT</a:t>
            </a:r>
          </a:p>
          <a:p>
            <a:pPr algn="ctr" rtl="0"/>
            <a:r>
              <a:rPr lang="en-US" sz="800" b="0" i="1" u="none" strike="noStrike" kern="1200" baseline="0">
                <a:solidFill>
                  <a:srgbClr val="000000"/>
                </a:solidFill>
                <a:latin typeface="Arial" panose="020B0604020202020204" pitchFamily="34" charset="0"/>
              </a:rPr>
              <a:t>(Rebased to 100 as at IPO on 14 Jul 2025)</a:t>
            </a:r>
            <a:endParaRPr lang="en-SG" sz="800" b="1" i="0" u="none" strike="noStrike" kern="1200" baseline="0">
              <a:solidFill>
                <a:srgbClr val="000000"/>
              </a:solidFill>
              <a:latin typeface="Arial" panose="020B0604020202020204" pitchFamily="34" charset="0"/>
            </a:endParaRPr>
          </a:p>
        </p:txBody>
      </p:sp>
      <p:grpSp>
        <p:nvGrpSpPr>
          <p:cNvPr id="7" name="Group 6">
            <a:extLst>
              <a:ext uri="{FF2B5EF4-FFF2-40B4-BE49-F238E27FC236}">
                <a16:creationId xmlns:a16="http://schemas.microsoft.com/office/drawing/2014/main" id="{CAD13AF7-F9F8-E661-08A6-665662AA8B79}"/>
              </a:ext>
            </a:extLst>
          </p:cNvPr>
          <p:cNvGrpSpPr/>
          <p:nvPr/>
        </p:nvGrpSpPr>
        <p:grpSpPr>
          <a:xfrm>
            <a:off x="2486827" y="2045200"/>
            <a:ext cx="595313" cy="717251"/>
            <a:chOff x="2514600" y="3021247"/>
            <a:chExt cx="595313" cy="717251"/>
          </a:xfrm>
        </p:grpSpPr>
        <p:sp>
          <p:nvSpPr>
            <p:cNvPr id="42" name="Rectangle 41">
              <a:extLst>
                <a:ext uri="{FF2B5EF4-FFF2-40B4-BE49-F238E27FC236}">
                  <a16:creationId xmlns:a16="http://schemas.microsoft.com/office/drawing/2014/main" id="{8D351D21-8C65-163D-E867-CC3045F8EE26}"/>
                </a:ext>
              </a:extLst>
            </p:cNvPr>
            <p:cNvSpPr/>
            <p:nvPr/>
          </p:nvSpPr>
          <p:spPr bwMode="auto">
            <a:xfrm>
              <a:off x="2514600" y="3024253"/>
              <a:ext cx="576000" cy="323850"/>
            </a:xfrm>
            <a:prstGeom prst="rect">
              <a:avLst/>
            </a:prstGeom>
            <a:solidFill>
              <a:schemeClr val="bg1"/>
            </a:solidFill>
            <a:ln>
              <a:solidFill>
                <a:srgbClr val="000000"/>
              </a:solidFill>
              <a:prstDash val="sysDash"/>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cxnSp>
          <p:nvCxnSpPr>
            <p:cNvPr id="40" name="Straight Connector 39">
              <a:extLst>
                <a:ext uri="{FF2B5EF4-FFF2-40B4-BE49-F238E27FC236}">
                  <a16:creationId xmlns:a16="http://schemas.microsoft.com/office/drawing/2014/main" id="{C559BD41-9396-A832-918A-D75C250BE03E}"/>
                </a:ext>
              </a:extLst>
            </p:cNvPr>
            <p:cNvCxnSpPr/>
            <p:nvPr/>
          </p:nvCxnSpPr>
          <p:spPr bwMode="auto">
            <a:xfrm>
              <a:off x="3050106" y="3343862"/>
              <a:ext cx="0" cy="394636"/>
            </a:xfrm>
            <a:prstGeom prst="line">
              <a:avLst/>
            </a:prstGeom>
            <a:noFill/>
            <a:ln w="9525"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Isosceles Triangle 42">
              <a:extLst>
                <a:ext uri="{FF2B5EF4-FFF2-40B4-BE49-F238E27FC236}">
                  <a16:creationId xmlns:a16="http://schemas.microsoft.com/office/drawing/2014/main" id="{3B035FCD-1AA6-89A0-61D0-ACEBF6CF44AF}"/>
                </a:ext>
              </a:extLst>
            </p:cNvPr>
            <p:cNvSpPr/>
            <p:nvPr/>
          </p:nvSpPr>
          <p:spPr bwMode="auto">
            <a:xfrm>
              <a:off x="2540795" y="3193322"/>
              <a:ext cx="124097" cy="114300"/>
            </a:xfrm>
            <a:prstGeom prst="triangle">
              <a:avLst/>
            </a:prstGeom>
            <a:solidFill>
              <a:srgbClr val="92D050"/>
            </a:solidFill>
            <a:ln>
              <a:noFill/>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44" name="TextBox 43">
              <a:extLst>
                <a:ext uri="{FF2B5EF4-FFF2-40B4-BE49-F238E27FC236}">
                  <a16:creationId xmlns:a16="http://schemas.microsoft.com/office/drawing/2014/main" id="{8BD02281-2D33-28EE-B70E-C7785527D5A7}"/>
                </a:ext>
              </a:extLst>
            </p:cNvPr>
            <p:cNvSpPr txBox="1"/>
            <p:nvPr/>
          </p:nvSpPr>
          <p:spPr>
            <a:xfrm>
              <a:off x="2640808" y="3021247"/>
              <a:ext cx="469105" cy="349702"/>
            </a:xfrm>
            <a:prstGeom prst="rect">
              <a:avLst/>
            </a:prstGeom>
            <a:noFill/>
            <a:ln w="6350">
              <a:noFill/>
              <a:prstDash val="dash"/>
            </a:ln>
          </p:spPr>
          <p:txBody>
            <a:bodyPr wrap="square" lIns="36000" tIns="36000" rIns="36000" bIns="36000" rtlCol="0" anchor="t">
              <a:spAutoFit/>
            </a:bodyPr>
            <a:lstStyle/>
            <a:p>
              <a:pPr algn="l">
                <a:spcAft>
                  <a:spcPts val="200"/>
                </a:spcAft>
              </a:pPr>
              <a:r>
                <a:rPr lang="en-US" sz="900">
                  <a:solidFill>
                    <a:schemeClr val="tx1"/>
                  </a:solidFill>
                </a:rPr>
                <a:t>YTD</a:t>
              </a:r>
              <a:br>
                <a:rPr lang="en-US" sz="900" b="0">
                  <a:solidFill>
                    <a:schemeClr val="tx1"/>
                  </a:solidFill>
                </a:rPr>
              </a:br>
              <a:r>
                <a:rPr lang="en-US" sz="900" b="0">
                  <a:solidFill>
                    <a:schemeClr val="tx1"/>
                  </a:solidFill>
                </a:rPr>
                <a:t>+7.8%</a:t>
              </a:r>
              <a:endParaRPr lang="en-SG" sz="900" b="0">
                <a:solidFill>
                  <a:schemeClr val="tx1"/>
                </a:solidFill>
              </a:endParaRPr>
            </a:p>
          </p:txBody>
        </p:sp>
      </p:grpSp>
      <p:cxnSp>
        <p:nvCxnSpPr>
          <p:cNvPr id="50" name="Straight Connector 49">
            <a:extLst>
              <a:ext uri="{FF2B5EF4-FFF2-40B4-BE49-F238E27FC236}">
                <a16:creationId xmlns:a16="http://schemas.microsoft.com/office/drawing/2014/main" id="{4E06095B-F1E2-B4E9-2AB0-0379832C0838}"/>
              </a:ext>
            </a:extLst>
          </p:cNvPr>
          <p:cNvCxnSpPr/>
          <p:nvPr/>
        </p:nvCxnSpPr>
        <p:spPr bwMode="auto">
          <a:xfrm>
            <a:off x="9083375" y="3429602"/>
            <a:ext cx="0" cy="574508"/>
          </a:xfrm>
          <a:prstGeom prst="line">
            <a:avLst/>
          </a:prstGeom>
          <a:noFill/>
          <a:ln w="9525"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tangle: Rounded Corners 11">
            <a:extLst>
              <a:ext uri="{FF2B5EF4-FFF2-40B4-BE49-F238E27FC236}">
                <a16:creationId xmlns:a16="http://schemas.microsoft.com/office/drawing/2014/main" id="{2A132DB0-54B1-A4B8-C1A3-7993695CF6FA}"/>
              </a:ext>
            </a:extLst>
          </p:cNvPr>
          <p:cNvSpPr/>
          <p:nvPr/>
        </p:nvSpPr>
        <p:spPr bwMode="auto">
          <a:xfrm>
            <a:off x="479326" y="5268105"/>
            <a:ext cx="8959850" cy="1017191"/>
          </a:xfrm>
          <a:prstGeom prst="roundRect">
            <a:avLst>
              <a:gd name="adj" fmla="val 10983"/>
            </a:avLst>
          </a:prstGeom>
          <a:solidFill>
            <a:schemeClr val="bg1">
              <a:lumMod val="95000"/>
            </a:schemeClr>
          </a:solidFill>
          <a:ln>
            <a:noFill/>
          </a:ln>
          <a:effectLst>
            <a:outerShdw blurRad="50800" dist="38100" dir="2700000" algn="ctr" rotWithShape="0">
              <a:schemeClr val="tx1">
                <a:alpha val="40000"/>
              </a:schemeClr>
            </a:outerShdw>
          </a:effectLst>
        </p:spPr>
        <p:txBody>
          <a:bodyPr vert="horz" wrap="square" lIns="36000" tIns="36000" rIns="36000" bIns="36000" numCol="1" rtlCol="0" anchor="ctr" anchorCtr="0" compatLnSpc="1">
            <a:prstTxWarp prst="textNoShape">
              <a:avLst/>
            </a:prstTxWarp>
          </a:bodyPr>
          <a:lstStyle/>
          <a:p>
            <a:pPr marL="171450" marR="0" indent="-171450" algn="l" defTabSz="914400" rtl="0" eaLnBrk="0" fontAlgn="base" latinLnBrk="0" hangingPunct="0">
              <a:lnSpc>
                <a:spcPct val="110000"/>
              </a:lnSpc>
              <a:spcBef>
                <a:spcPct val="0"/>
              </a:spcBef>
              <a:spcAft>
                <a:spcPts val="600"/>
              </a:spcAft>
              <a:buClrTx/>
              <a:buSzTx/>
              <a:buFont typeface="Arial" panose="020B0604020202020204" pitchFamily="34" charset="0"/>
              <a:buChar char="•"/>
              <a:tabLst/>
            </a:pPr>
            <a:r>
              <a:rPr kumimoji="0" lang="en-US" sz="1000" b="0" i="0" u="none" strike="noStrike" cap="none" normalizeH="0" baseline="0">
                <a:ln>
                  <a:noFill/>
                </a:ln>
                <a:solidFill>
                  <a:schemeClr val="tx1"/>
                </a:solidFill>
                <a:effectLst/>
                <a:latin typeface="Arial" panose="020B0604020202020204" pitchFamily="34" charset="0"/>
              </a:rPr>
              <a:t>Keppel DC REIT has traded mostly in line with the wider FTSE ST REIT Index, while NTT DC REIT and Digital Core REIT have underperformed the index due to stock-specific reasons. Notwithstanding adjustments to the Fed rate cut cycle given the ongoing conflict in Iran, momentum for the REIT sector,</a:t>
            </a:r>
            <a:r>
              <a:rPr lang="en-US" sz="1000" b="0">
                <a:solidFill>
                  <a:schemeClr val="tx1"/>
                </a:solidFill>
                <a:latin typeface="Arial" panose="020B0604020202020204" pitchFamily="34" charset="0"/>
              </a:rPr>
              <a:t> and data centers in particular,</a:t>
            </a:r>
            <a:r>
              <a:rPr kumimoji="0" lang="en-US" sz="1000" b="0" i="0" u="none" strike="noStrike" cap="none" normalizeH="0" baseline="0">
                <a:ln>
                  <a:noFill/>
                </a:ln>
                <a:solidFill>
                  <a:schemeClr val="tx1"/>
                </a:solidFill>
                <a:effectLst/>
                <a:latin typeface="Arial" panose="020B0604020202020204" pitchFamily="34" charset="0"/>
              </a:rPr>
              <a:t> has been positive</a:t>
            </a:r>
          </a:p>
          <a:p>
            <a:pPr marL="171450" marR="0" indent="-171450" algn="l" defTabSz="914400" rtl="0" eaLnBrk="0" fontAlgn="base" latinLnBrk="0" hangingPunct="0">
              <a:lnSpc>
                <a:spcPct val="110000"/>
              </a:lnSpc>
              <a:spcBef>
                <a:spcPct val="0"/>
              </a:spcBef>
              <a:spcAft>
                <a:spcPts val="600"/>
              </a:spcAft>
              <a:buClrTx/>
              <a:buSzTx/>
              <a:buFont typeface="Arial" panose="020B0604020202020204" pitchFamily="34" charset="0"/>
              <a:buChar char="•"/>
              <a:tabLst/>
            </a:pPr>
            <a:r>
              <a:rPr lang="en-SG" sz="1000" b="0">
                <a:solidFill>
                  <a:schemeClr val="tx1"/>
                </a:solidFill>
                <a:latin typeface="Arial" panose="020B0604020202020204" pitchFamily="34" charset="0"/>
              </a:rPr>
              <a:t>Market liquidity and activity continues to remain healthy. We expect data centre REITs continuing to register healthy daily average turnovers as attention continues to be focused on the broader AI sector</a:t>
            </a:r>
            <a:endParaRPr kumimoji="0" lang="en-SG" sz="1000" b="0" i="0" u="none" strike="noStrike" cap="none" normalizeH="0" baseline="0">
              <a:ln>
                <a:noFill/>
              </a:ln>
              <a:solidFill>
                <a:schemeClr val="tx1"/>
              </a:solidFill>
              <a:effectLst/>
              <a:latin typeface="Arial" panose="020B0604020202020204" pitchFamily="34" charset="0"/>
            </a:endParaRPr>
          </a:p>
        </p:txBody>
      </p:sp>
      <p:grpSp>
        <p:nvGrpSpPr>
          <p:cNvPr id="8" name="Group 7">
            <a:extLst>
              <a:ext uri="{FF2B5EF4-FFF2-40B4-BE49-F238E27FC236}">
                <a16:creationId xmlns:a16="http://schemas.microsoft.com/office/drawing/2014/main" id="{36A4F10E-AB10-7489-33B0-C5635AF2C891}"/>
              </a:ext>
            </a:extLst>
          </p:cNvPr>
          <p:cNvGrpSpPr/>
          <p:nvPr/>
        </p:nvGrpSpPr>
        <p:grpSpPr>
          <a:xfrm>
            <a:off x="5533322" y="3561346"/>
            <a:ext cx="623807" cy="740325"/>
            <a:chOff x="5716270" y="2544504"/>
            <a:chExt cx="623807" cy="740325"/>
          </a:xfrm>
        </p:grpSpPr>
        <p:sp>
          <p:nvSpPr>
            <p:cNvPr id="46" name="Rectangle 45">
              <a:extLst>
                <a:ext uri="{FF2B5EF4-FFF2-40B4-BE49-F238E27FC236}">
                  <a16:creationId xmlns:a16="http://schemas.microsoft.com/office/drawing/2014/main" id="{2CCB568C-50D7-7FBA-0A56-29C434569A7B}"/>
                </a:ext>
              </a:extLst>
            </p:cNvPr>
            <p:cNvSpPr/>
            <p:nvPr/>
          </p:nvSpPr>
          <p:spPr bwMode="auto">
            <a:xfrm>
              <a:off x="5716270" y="2925828"/>
              <a:ext cx="576000" cy="343853"/>
            </a:xfrm>
            <a:prstGeom prst="rect">
              <a:avLst/>
            </a:prstGeom>
            <a:solidFill>
              <a:schemeClr val="bg1"/>
            </a:solidFill>
            <a:ln>
              <a:solidFill>
                <a:srgbClr val="000000"/>
              </a:solidFill>
              <a:prstDash val="sysDash"/>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cxnSp>
          <p:nvCxnSpPr>
            <p:cNvPr id="45" name="Straight Connector 44">
              <a:extLst>
                <a:ext uri="{FF2B5EF4-FFF2-40B4-BE49-F238E27FC236}">
                  <a16:creationId xmlns:a16="http://schemas.microsoft.com/office/drawing/2014/main" id="{FFD0813B-9942-6982-0A2D-8CA933F54A58}"/>
                </a:ext>
              </a:extLst>
            </p:cNvPr>
            <p:cNvCxnSpPr/>
            <p:nvPr/>
          </p:nvCxnSpPr>
          <p:spPr bwMode="auto">
            <a:xfrm>
              <a:off x="6263540" y="2544504"/>
              <a:ext cx="0" cy="365761"/>
            </a:xfrm>
            <a:prstGeom prst="line">
              <a:avLst/>
            </a:prstGeom>
            <a:noFill/>
            <a:ln w="9525" cap="flat" cmpd="sng" algn="ctr">
              <a:solidFill>
                <a:schemeClr val="tx1"/>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Isosceles Triangle 46">
              <a:extLst>
                <a:ext uri="{FF2B5EF4-FFF2-40B4-BE49-F238E27FC236}">
                  <a16:creationId xmlns:a16="http://schemas.microsoft.com/office/drawing/2014/main" id="{691B41E4-ADA1-9FD1-7B60-E0586FA19A31}"/>
                </a:ext>
              </a:extLst>
            </p:cNvPr>
            <p:cNvSpPr/>
            <p:nvPr/>
          </p:nvSpPr>
          <p:spPr bwMode="auto">
            <a:xfrm flipV="1">
              <a:off x="5783581" y="3132362"/>
              <a:ext cx="124097" cy="114300"/>
            </a:xfrm>
            <a:prstGeom prst="triangle">
              <a:avLst/>
            </a:prstGeom>
            <a:solidFill>
              <a:srgbClr val="FF0000"/>
            </a:solidFill>
            <a:ln>
              <a:noFill/>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16" name="TextBox 43">
              <a:extLst>
                <a:ext uri="{FF2B5EF4-FFF2-40B4-BE49-F238E27FC236}">
                  <a16:creationId xmlns:a16="http://schemas.microsoft.com/office/drawing/2014/main" id="{749A2FC8-F8F9-F6A5-D87C-2D3315E01813}"/>
                </a:ext>
              </a:extLst>
            </p:cNvPr>
            <p:cNvSpPr txBox="1"/>
            <p:nvPr/>
          </p:nvSpPr>
          <p:spPr>
            <a:xfrm>
              <a:off x="5870972" y="2935127"/>
              <a:ext cx="469105" cy="349702"/>
            </a:xfrm>
            <a:prstGeom prst="rect">
              <a:avLst/>
            </a:prstGeom>
            <a:noFill/>
            <a:ln w="6350">
              <a:noFill/>
              <a:prstDash val="dash"/>
            </a:ln>
          </p:spPr>
          <p:txBody>
            <a:bodyPr wrap="square" lIns="36000" tIns="36000" rIns="36000" bIns="36000" rtlCol="0" anchor="t">
              <a:spAutoFit/>
            </a:bodyPr>
            <a:lstStyle>
              <a:defPPr>
                <a:defRPr lang="en-US"/>
              </a:defPPr>
              <a:lvl1pPr marL="0" indent="0" algn="l" rtl="0" fontAlgn="base">
                <a:spcBef>
                  <a:spcPct val="0"/>
                </a:spcBef>
                <a:spcAft>
                  <a:spcPct val="0"/>
                </a:spcAft>
                <a:defRPr sz="2400" b="1" kern="1200">
                  <a:solidFill>
                    <a:schemeClr val="bg2"/>
                  </a:solidFill>
                  <a:latin typeface="Arial" charset="0"/>
                  <a:ea typeface="+mn-ea"/>
                  <a:cs typeface="Arial" charset="0"/>
                </a:defRPr>
              </a:lvl1pPr>
              <a:lvl2pPr marL="457200" indent="0" algn="l" rtl="0" fontAlgn="base">
                <a:spcBef>
                  <a:spcPct val="0"/>
                </a:spcBef>
                <a:spcAft>
                  <a:spcPct val="0"/>
                </a:spcAft>
                <a:defRPr sz="2400" b="1" kern="1200">
                  <a:solidFill>
                    <a:schemeClr val="bg2"/>
                  </a:solidFill>
                  <a:latin typeface="Arial" charset="0"/>
                  <a:ea typeface="+mn-ea"/>
                  <a:cs typeface="Arial" charset="0"/>
                </a:defRPr>
              </a:lvl2pPr>
              <a:lvl3pPr marL="914400" indent="0" algn="l" rtl="0" fontAlgn="base">
                <a:spcBef>
                  <a:spcPct val="0"/>
                </a:spcBef>
                <a:spcAft>
                  <a:spcPct val="0"/>
                </a:spcAft>
                <a:defRPr sz="2400" b="1" kern="1200">
                  <a:solidFill>
                    <a:schemeClr val="bg2"/>
                  </a:solidFill>
                  <a:latin typeface="Arial" charset="0"/>
                  <a:ea typeface="+mn-ea"/>
                  <a:cs typeface="Arial" charset="0"/>
                </a:defRPr>
              </a:lvl3pPr>
              <a:lvl4pPr marL="1371600" indent="0" algn="l" rtl="0" fontAlgn="base">
                <a:spcBef>
                  <a:spcPct val="0"/>
                </a:spcBef>
                <a:spcAft>
                  <a:spcPct val="0"/>
                </a:spcAft>
                <a:defRPr sz="2400" b="1" kern="1200">
                  <a:solidFill>
                    <a:schemeClr val="bg2"/>
                  </a:solidFill>
                  <a:latin typeface="Arial" charset="0"/>
                  <a:ea typeface="+mn-ea"/>
                  <a:cs typeface="Arial" charset="0"/>
                </a:defRPr>
              </a:lvl4pPr>
              <a:lvl5pPr marL="1828800" indent="0" algn="l" rtl="0" fontAlgn="base">
                <a:spcBef>
                  <a:spcPct val="0"/>
                </a:spcBef>
                <a:spcAft>
                  <a:spcPct val="0"/>
                </a:spcAft>
                <a:defRPr sz="2400" b="1" kern="1200">
                  <a:solidFill>
                    <a:schemeClr val="bg2"/>
                  </a:solidFill>
                  <a:latin typeface="Arial" charset="0"/>
                  <a:ea typeface="+mn-ea"/>
                  <a:cs typeface="Arial" charset="0"/>
                </a:defRPr>
              </a:lvl5pPr>
              <a:lvl6pPr marL="2286000" indent="0" algn="l" defTabSz="914400" rtl="0" eaLnBrk="1" latinLnBrk="0" hangingPunct="1">
                <a:defRPr sz="2400" b="1" kern="1200">
                  <a:solidFill>
                    <a:schemeClr val="bg2"/>
                  </a:solidFill>
                  <a:latin typeface="Arial" charset="0"/>
                  <a:ea typeface="+mn-ea"/>
                  <a:cs typeface="Arial" charset="0"/>
                </a:defRPr>
              </a:lvl6pPr>
              <a:lvl7pPr marL="2743200" indent="0" algn="l" defTabSz="914400" rtl="0" eaLnBrk="1" latinLnBrk="0" hangingPunct="1">
                <a:defRPr sz="2400" b="1" kern="1200">
                  <a:solidFill>
                    <a:schemeClr val="bg2"/>
                  </a:solidFill>
                  <a:latin typeface="Arial" charset="0"/>
                  <a:ea typeface="+mn-ea"/>
                  <a:cs typeface="Arial" charset="0"/>
                </a:defRPr>
              </a:lvl7pPr>
              <a:lvl8pPr marL="3200400" indent="0" algn="l" defTabSz="914400" rtl="0" eaLnBrk="1" latinLnBrk="0" hangingPunct="1">
                <a:defRPr sz="2400" b="1" kern="1200">
                  <a:solidFill>
                    <a:schemeClr val="bg2"/>
                  </a:solidFill>
                  <a:latin typeface="Arial" charset="0"/>
                  <a:ea typeface="+mn-ea"/>
                  <a:cs typeface="Arial" charset="0"/>
                </a:defRPr>
              </a:lvl8pPr>
              <a:lvl9pPr marL="3657600" indent="0" algn="l" defTabSz="914400" rtl="0" eaLnBrk="1" latinLnBrk="0" hangingPunct="1">
                <a:defRPr sz="2400" b="1" kern="1200">
                  <a:solidFill>
                    <a:schemeClr val="bg2"/>
                  </a:solidFill>
                  <a:latin typeface="Arial" charset="0"/>
                  <a:ea typeface="+mn-ea"/>
                  <a:cs typeface="Arial" charset="0"/>
                </a:defRPr>
              </a:lvl9pPr>
            </a:lstStyle>
            <a:p>
              <a:pPr algn="l">
                <a:spcAft>
                  <a:spcPts val="200"/>
                </a:spcAft>
              </a:pPr>
              <a:r>
                <a:rPr lang="en-US" sz="900">
                  <a:solidFill>
                    <a:schemeClr val="tx1"/>
                  </a:solidFill>
                </a:rPr>
                <a:t>YTD</a:t>
              </a:r>
              <a:br>
                <a:rPr lang="en-US" sz="900" b="0">
                  <a:solidFill>
                    <a:schemeClr val="tx1"/>
                  </a:solidFill>
                </a:rPr>
              </a:br>
              <a:r>
                <a:rPr lang="en-US" sz="900" b="0">
                  <a:solidFill>
                    <a:schemeClr val="tx1"/>
                  </a:solidFill>
                </a:rPr>
                <a:t>-11.2%</a:t>
              </a:r>
              <a:endParaRPr lang="en-SG" sz="900" b="0">
                <a:solidFill>
                  <a:schemeClr val="tx1"/>
                </a:solidFill>
              </a:endParaRPr>
            </a:p>
          </p:txBody>
        </p:sp>
      </p:grpSp>
      <p:sp>
        <p:nvSpPr>
          <p:cNvPr id="19" name="TextBox 18">
            <a:extLst>
              <a:ext uri="{FF2B5EF4-FFF2-40B4-BE49-F238E27FC236}">
                <a16:creationId xmlns:a16="http://schemas.microsoft.com/office/drawing/2014/main" id="{EDFA5B21-F8D4-426D-007C-305C1834373D}"/>
              </a:ext>
            </a:extLst>
          </p:cNvPr>
          <p:cNvSpPr txBox="1"/>
          <p:nvPr/>
        </p:nvSpPr>
        <p:spPr>
          <a:xfrm>
            <a:off x="455223" y="1393296"/>
            <a:ext cx="2183201" cy="488201"/>
          </a:xfrm>
          <a:prstGeom prst="rect">
            <a:avLst/>
          </a:prstGeom>
          <a:noFill/>
          <a:ln w="6350">
            <a:noFill/>
            <a:prstDash val="dash"/>
          </a:ln>
        </p:spPr>
        <p:txBody>
          <a:bodyPr wrap="square" lIns="36000" tIns="36000" rIns="36000" bIns="36000" rtlCol="0" anchor="t">
            <a:spAutoFit/>
          </a:bodyPr>
          <a:lstStyle/>
          <a:p>
            <a:pPr algn="l">
              <a:spcAft>
                <a:spcPts val="0"/>
              </a:spcAft>
            </a:pPr>
            <a:r>
              <a:rPr lang="en-US" sz="900" b="0" i="1">
                <a:solidFill>
                  <a:schemeClr val="tx1"/>
                </a:solidFill>
              </a:rPr>
              <a:t>Price</a:t>
            </a:r>
            <a:br>
              <a:rPr lang="en-US" sz="900" b="0" i="1">
                <a:solidFill>
                  <a:schemeClr val="tx1"/>
                </a:solidFill>
              </a:rPr>
            </a:br>
            <a:r>
              <a:rPr lang="en-US" sz="900" b="0" i="1">
                <a:solidFill>
                  <a:schemeClr val="tx1"/>
                </a:solidFill>
              </a:rPr>
              <a:t>(Rebased to 100 </a:t>
            </a:r>
            <a:br>
              <a:rPr lang="en-US" sz="900" b="0" i="1">
                <a:solidFill>
                  <a:schemeClr val="tx1"/>
                </a:solidFill>
              </a:rPr>
            </a:br>
            <a:r>
              <a:rPr lang="en-US" sz="900" b="0" i="1">
                <a:solidFill>
                  <a:schemeClr val="tx1"/>
                </a:solidFill>
              </a:rPr>
              <a:t>as at 1 Jan 2025)</a:t>
            </a:r>
            <a:endParaRPr lang="en-SG" sz="900" b="0" i="1">
              <a:solidFill>
                <a:schemeClr val="tx1"/>
              </a:solidFill>
            </a:endParaRPr>
          </a:p>
        </p:txBody>
      </p:sp>
      <p:sp>
        <p:nvSpPr>
          <p:cNvPr id="21" name="TextBox 20">
            <a:extLst>
              <a:ext uri="{FF2B5EF4-FFF2-40B4-BE49-F238E27FC236}">
                <a16:creationId xmlns:a16="http://schemas.microsoft.com/office/drawing/2014/main" id="{7AA74F7C-C87F-A967-A843-397DD6D46BD2}"/>
              </a:ext>
            </a:extLst>
          </p:cNvPr>
          <p:cNvSpPr txBox="1"/>
          <p:nvPr/>
        </p:nvSpPr>
        <p:spPr>
          <a:xfrm>
            <a:off x="3512999" y="1393296"/>
            <a:ext cx="2040075" cy="488201"/>
          </a:xfrm>
          <a:prstGeom prst="rect">
            <a:avLst/>
          </a:prstGeom>
          <a:noFill/>
          <a:ln w="6350">
            <a:noFill/>
            <a:prstDash val="dash"/>
          </a:ln>
        </p:spPr>
        <p:txBody>
          <a:bodyPr wrap="square" lIns="36000" tIns="36000" rIns="36000" bIns="36000" rtlCol="0" anchor="t">
            <a:spAutoFit/>
          </a:bodyPr>
          <a:lstStyle/>
          <a:p>
            <a:pPr>
              <a:spcAft>
                <a:spcPts val="0"/>
              </a:spcAft>
            </a:pPr>
            <a:r>
              <a:rPr lang="en-US" sz="900" b="0" i="1">
                <a:solidFill>
                  <a:schemeClr val="tx1"/>
                </a:solidFill>
              </a:rPr>
              <a:t>Price</a:t>
            </a:r>
            <a:br>
              <a:rPr lang="en-US" sz="900" b="0" i="1">
                <a:solidFill>
                  <a:schemeClr val="tx1"/>
                </a:solidFill>
              </a:rPr>
            </a:br>
            <a:r>
              <a:rPr lang="en-US" sz="900" b="0" i="1">
                <a:solidFill>
                  <a:schemeClr val="tx1"/>
                </a:solidFill>
              </a:rPr>
              <a:t>(Rebased to 100 </a:t>
            </a:r>
            <a:br>
              <a:rPr lang="en-US" sz="900" b="0" i="1">
                <a:solidFill>
                  <a:schemeClr val="tx1"/>
                </a:solidFill>
              </a:rPr>
            </a:br>
            <a:r>
              <a:rPr lang="en-US" sz="900" b="0" i="1">
                <a:solidFill>
                  <a:schemeClr val="tx1"/>
                </a:solidFill>
              </a:rPr>
              <a:t>as at 1 Jan 2025)</a:t>
            </a:r>
            <a:endParaRPr lang="en-SG" sz="900" b="0" i="1">
              <a:solidFill>
                <a:schemeClr val="tx1"/>
              </a:solidFill>
            </a:endParaRPr>
          </a:p>
        </p:txBody>
      </p:sp>
      <p:sp>
        <p:nvSpPr>
          <p:cNvPr id="23" name="TextBox 22">
            <a:extLst>
              <a:ext uri="{FF2B5EF4-FFF2-40B4-BE49-F238E27FC236}">
                <a16:creationId xmlns:a16="http://schemas.microsoft.com/office/drawing/2014/main" id="{0B40E190-F5DE-C9F9-1866-81A9BF7321C4}"/>
              </a:ext>
            </a:extLst>
          </p:cNvPr>
          <p:cNvSpPr txBox="1"/>
          <p:nvPr/>
        </p:nvSpPr>
        <p:spPr>
          <a:xfrm>
            <a:off x="6568801" y="1393296"/>
            <a:ext cx="1994174" cy="488201"/>
          </a:xfrm>
          <a:prstGeom prst="rect">
            <a:avLst/>
          </a:prstGeom>
          <a:noFill/>
          <a:ln w="6350">
            <a:noFill/>
            <a:prstDash val="dash"/>
          </a:ln>
        </p:spPr>
        <p:txBody>
          <a:bodyPr wrap="square" lIns="36000" tIns="36000" rIns="36000" bIns="36000" rtlCol="0" anchor="t">
            <a:spAutoFit/>
          </a:bodyPr>
          <a:lstStyle/>
          <a:p>
            <a:pPr>
              <a:spcAft>
                <a:spcPts val="0"/>
              </a:spcAft>
            </a:pPr>
            <a:r>
              <a:rPr lang="en-US" sz="900" b="0" i="1">
                <a:solidFill>
                  <a:schemeClr val="tx1"/>
                </a:solidFill>
              </a:rPr>
              <a:t>Price</a:t>
            </a:r>
            <a:br>
              <a:rPr lang="en-US" sz="900" b="0" i="1">
                <a:solidFill>
                  <a:schemeClr val="tx1"/>
                </a:solidFill>
              </a:rPr>
            </a:br>
            <a:r>
              <a:rPr lang="en-US" sz="900" b="0" i="1">
                <a:solidFill>
                  <a:schemeClr val="tx1"/>
                </a:solidFill>
              </a:rPr>
              <a:t>(Rebased to 100 </a:t>
            </a:r>
            <a:br>
              <a:rPr lang="en-US" sz="900" b="0" i="1">
                <a:solidFill>
                  <a:schemeClr val="tx1"/>
                </a:solidFill>
              </a:rPr>
            </a:br>
            <a:r>
              <a:rPr lang="en-US" sz="900" b="0" i="1">
                <a:solidFill>
                  <a:schemeClr val="tx1"/>
                </a:solidFill>
              </a:rPr>
              <a:t>from IPO as at 14 Jul 2025)</a:t>
            </a:r>
            <a:endParaRPr lang="en-SG" sz="900" b="0" i="1">
              <a:solidFill>
                <a:schemeClr val="tx1"/>
              </a:solidFill>
            </a:endParaRPr>
          </a:p>
        </p:txBody>
      </p:sp>
      <p:sp>
        <p:nvSpPr>
          <p:cNvPr id="31" name="TextBox 30">
            <a:extLst>
              <a:ext uri="{FF2B5EF4-FFF2-40B4-BE49-F238E27FC236}">
                <a16:creationId xmlns:a16="http://schemas.microsoft.com/office/drawing/2014/main" id="{8A84858F-F7FB-5A88-6C12-4EAB5187756E}"/>
              </a:ext>
            </a:extLst>
          </p:cNvPr>
          <p:cNvSpPr txBox="1"/>
          <p:nvPr/>
        </p:nvSpPr>
        <p:spPr>
          <a:xfrm>
            <a:off x="450451" y="4963425"/>
            <a:ext cx="2846272" cy="211203"/>
          </a:xfrm>
          <a:prstGeom prst="rect">
            <a:avLst/>
          </a:prstGeom>
          <a:noFill/>
          <a:ln w="9525">
            <a:solidFill>
              <a:schemeClr val="bg1">
                <a:lumMod val="50000"/>
              </a:schemeClr>
            </a:solidFill>
            <a:prstDash val="sysDash"/>
          </a:ln>
        </p:spPr>
        <p:txBody>
          <a:bodyPr wrap="square" lIns="36000" tIns="36000" rIns="36000" bIns="36000" rtlCol="0" anchor="t">
            <a:spAutoFit/>
          </a:bodyPr>
          <a:lstStyle/>
          <a:p>
            <a:pPr algn="ctr">
              <a:spcAft>
                <a:spcPts val="200"/>
              </a:spcAft>
            </a:pPr>
            <a:r>
              <a:rPr lang="en-SG" sz="900">
                <a:solidFill>
                  <a:schemeClr val="tx1"/>
                </a:solidFill>
              </a:rPr>
              <a:t> Market Cap: S$5.7b | ADT (1m): S$26.0m</a:t>
            </a:r>
          </a:p>
        </p:txBody>
      </p:sp>
      <p:sp>
        <p:nvSpPr>
          <p:cNvPr id="32" name="TextBox 31">
            <a:extLst>
              <a:ext uri="{FF2B5EF4-FFF2-40B4-BE49-F238E27FC236}">
                <a16:creationId xmlns:a16="http://schemas.microsoft.com/office/drawing/2014/main" id="{D29AA80D-7F73-B6E7-07AD-14D591B7AEAD}"/>
              </a:ext>
            </a:extLst>
          </p:cNvPr>
          <p:cNvSpPr txBox="1"/>
          <p:nvPr/>
        </p:nvSpPr>
        <p:spPr>
          <a:xfrm>
            <a:off x="3511024" y="4963425"/>
            <a:ext cx="2846272" cy="211203"/>
          </a:xfrm>
          <a:prstGeom prst="rect">
            <a:avLst/>
          </a:prstGeom>
          <a:noFill/>
          <a:ln w="9525">
            <a:solidFill>
              <a:schemeClr val="bg1">
                <a:lumMod val="50000"/>
              </a:schemeClr>
            </a:solidFill>
            <a:prstDash val="sysDash"/>
          </a:ln>
        </p:spPr>
        <p:txBody>
          <a:bodyPr wrap="square" lIns="36000" tIns="36000" rIns="36000" bIns="36000" rtlCol="0" anchor="t">
            <a:spAutoFit/>
          </a:bodyPr>
          <a:lstStyle/>
          <a:p>
            <a:pPr algn="ctr">
              <a:spcAft>
                <a:spcPts val="200"/>
              </a:spcAft>
            </a:pPr>
            <a:r>
              <a:rPr lang="en-SG" sz="900">
                <a:solidFill>
                  <a:schemeClr val="tx1"/>
                </a:solidFill>
              </a:rPr>
              <a:t> Market Cap: US$667m | ADT(1m): US$1.3m</a:t>
            </a:r>
          </a:p>
        </p:txBody>
      </p:sp>
      <p:sp>
        <p:nvSpPr>
          <p:cNvPr id="34" name="TextBox 33">
            <a:extLst>
              <a:ext uri="{FF2B5EF4-FFF2-40B4-BE49-F238E27FC236}">
                <a16:creationId xmlns:a16="http://schemas.microsoft.com/office/drawing/2014/main" id="{8AA057B9-1959-E8CA-BAD7-BB9DCE03FADE}"/>
              </a:ext>
            </a:extLst>
          </p:cNvPr>
          <p:cNvSpPr txBox="1"/>
          <p:nvPr/>
        </p:nvSpPr>
        <p:spPr>
          <a:xfrm>
            <a:off x="6568800" y="4963425"/>
            <a:ext cx="2846272" cy="211203"/>
          </a:xfrm>
          <a:prstGeom prst="rect">
            <a:avLst/>
          </a:prstGeom>
          <a:noFill/>
          <a:ln w="9525">
            <a:solidFill>
              <a:schemeClr val="bg1">
                <a:lumMod val="50000"/>
              </a:schemeClr>
            </a:solidFill>
            <a:prstDash val="sysDash"/>
          </a:ln>
        </p:spPr>
        <p:txBody>
          <a:bodyPr wrap="square" lIns="36000" tIns="36000" rIns="36000" bIns="36000" rtlCol="0" anchor="t">
            <a:spAutoFit/>
          </a:bodyPr>
          <a:lstStyle/>
          <a:p>
            <a:pPr algn="ctr">
              <a:spcAft>
                <a:spcPts val="200"/>
              </a:spcAft>
            </a:pPr>
            <a:r>
              <a:rPr lang="en-SG" sz="900">
                <a:solidFill>
                  <a:schemeClr val="tx1"/>
                </a:solidFill>
              </a:rPr>
              <a:t> Market Cap: US$1.0b | ADT(1m): US$3.2m</a:t>
            </a:r>
          </a:p>
        </p:txBody>
      </p:sp>
      <p:sp>
        <p:nvSpPr>
          <p:cNvPr id="17" name="TextBox 16">
            <a:extLst>
              <a:ext uri="{FF2B5EF4-FFF2-40B4-BE49-F238E27FC236}">
                <a16:creationId xmlns:a16="http://schemas.microsoft.com/office/drawing/2014/main" id="{F9E3B7F3-D9C0-3791-97D6-F1E451D359F4}"/>
              </a:ext>
            </a:extLst>
          </p:cNvPr>
          <p:cNvSpPr txBox="1"/>
          <p:nvPr/>
        </p:nvSpPr>
        <p:spPr>
          <a:xfrm>
            <a:off x="2734697" y="1531795"/>
            <a:ext cx="600527" cy="349702"/>
          </a:xfrm>
          <a:prstGeom prst="rect">
            <a:avLst/>
          </a:prstGeom>
          <a:noFill/>
          <a:ln w="6350">
            <a:noFill/>
            <a:prstDash val="dash"/>
          </a:ln>
        </p:spPr>
        <p:txBody>
          <a:bodyPr wrap="square" lIns="36000" tIns="36000" rIns="36000" bIns="36000" rtlCol="0" anchor="t">
            <a:spAutoFit/>
          </a:bodyPr>
          <a:lstStyle/>
          <a:p>
            <a:pPr algn="r">
              <a:spcAft>
                <a:spcPts val="0"/>
              </a:spcAft>
            </a:pPr>
            <a:r>
              <a:rPr lang="en-US" sz="900" b="0" i="1">
                <a:solidFill>
                  <a:schemeClr val="tx1"/>
                </a:solidFill>
              </a:rPr>
              <a:t>Turnover</a:t>
            </a:r>
          </a:p>
          <a:p>
            <a:pPr algn="r">
              <a:spcAft>
                <a:spcPts val="0"/>
              </a:spcAft>
            </a:pPr>
            <a:r>
              <a:rPr lang="en-US" sz="900" b="0" i="1">
                <a:solidFill>
                  <a:schemeClr val="tx1"/>
                </a:solidFill>
              </a:rPr>
              <a:t>(</a:t>
            </a:r>
            <a:r>
              <a:rPr lang="en-US" sz="900" b="0" i="1" err="1">
                <a:solidFill>
                  <a:schemeClr val="tx1"/>
                </a:solidFill>
              </a:rPr>
              <a:t>S$m</a:t>
            </a:r>
            <a:r>
              <a:rPr lang="en-US" sz="900" b="0" i="1">
                <a:solidFill>
                  <a:schemeClr val="tx1"/>
                </a:solidFill>
              </a:rPr>
              <a:t>)</a:t>
            </a:r>
            <a:endParaRPr lang="en-SG" sz="900" b="0" i="1">
              <a:solidFill>
                <a:schemeClr val="tx1"/>
              </a:solidFill>
            </a:endParaRPr>
          </a:p>
        </p:txBody>
      </p:sp>
      <p:sp>
        <p:nvSpPr>
          <p:cNvPr id="18" name="TextBox 17">
            <a:extLst>
              <a:ext uri="{FF2B5EF4-FFF2-40B4-BE49-F238E27FC236}">
                <a16:creationId xmlns:a16="http://schemas.microsoft.com/office/drawing/2014/main" id="{832BF528-5E5A-15DE-E1C0-AC67677D7EEF}"/>
              </a:ext>
            </a:extLst>
          </p:cNvPr>
          <p:cNvSpPr txBox="1"/>
          <p:nvPr/>
        </p:nvSpPr>
        <p:spPr>
          <a:xfrm>
            <a:off x="5792473" y="1531795"/>
            <a:ext cx="600527" cy="349702"/>
          </a:xfrm>
          <a:prstGeom prst="rect">
            <a:avLst/>
          </a:prstGeom>
          <a:noFill/>
          <a:ln w="6350">
            <a:noFill/>
            <a:prstDash val="dash"/>
          </a:ln>
        </p:spPr>
        <p:txBody>
          <a:bodyPr wrap="square" lIns="36000" tIns="36000" rIns="36000" bIns="36000" rtlCol="0" anchor="t">
            <a:spAutoFit/>
          </a:bodyPr>
          <a:lstStyle/>
          <a:p>
            <a:pPr algn="r">
              <a:spcAft>
                <a:spcPts val="0"/>
              </a:spcAft>
            </a:pPr>
            <a:r>
              <a:rPr lang="en-US" sz="900" b="0" i="1">
                <a:solidFill>
                  <a:schemeClr val="tx1"/>
                </a:solidFill>
              </a:rPr>
              <a:t>Turnover</a:t>
            </a:r>
          </a:p>
          <a:p>
            <a:pPr algn="r">
              <a:spcAft>
                <a:spcPts val="0"/>
              </a:spcAft>
            </a:pPr>
            <a:r>
              <a:rPr lang="en-US" sz="900" b="0" i="1">
                <a:solidFill>
                  <a:schemeClr val="tx1"/>
                </a:solidFill>
              </a:rPr>
              <a:t>(</a:t>
            </a:r>
            <a:r>
              <a:rPr lang="en-US" sz="900" b="0" i="1" err="1">
                <a:solidFill>
                  <a:schemeClr val="tx1"/>
                </a:solidFill>
              </a:rPr>
              <a:t>S$m</a:t>
            </a:r>
            <a:r>
              <a:rPr lang="en-US" sz="900" b="0" i="1">
                <a:solidFill>
                  <a:schemeClr val="tx1"/>
                </a:solidFill>
              </a:rPr>
              <a:t>)</a:t>
            </a:r>
            <a:r>
              <a:rPr lang="en-US" sz="900" b="0" i="1" baseline="30000">
                <a:solidFill>
                  <a:schemeClr val="tx1"/>
                </a:solidFill>
              </a:rPr>
              <a:t>(1)</a:t>
            </a:r>
            <a:endParaRPr lang="en-SG" sz="900" b="0" i="1">
              <a:solidFill>
                <a:schemeClr val="tx1"/>
              </a:solidFill>
            </a:endParaRPr>
          </a:p>
        </p:txBody>
      </p:sp>
      <p:sp>
        <p:nvSpPr>
          <p:cNvPr id="30" name="TextBox 29">
            <a:extLst>
              <a:ext uri="{FF2B5EF4-FFF2-40B4-BE49-F238E27FC236}">
                <a16:creationId xmlns:a16="http://schemas.microsoft.com/office/drawing/2014/main" id="{798FA73E-54F9-FDD6-A7E0-90B1CF08C1EF}"/>
              </a:ext>
            </a:extLst>
          </p:cNvPr>
          <p:cNvSpPr txBox="1"/>
          <p:nvPr/>
        </p:nvSpPr>
        <p:spPr>
          <a:xfrm>
            <a:off x="8848274" y="1531795"/>
            <a:ext cx="600527" cy="349702"/>
          </a:xfrm>
          <a:prstGeom prst="rect">
            <a:avLst/>
          </a:prstGeom>
          <a:noFill/>
          <a:ln w="6350">
            <a:noFill/>
            <a:prstDash val="dash"/>
          </a:ln>
        </p:spPr>
        <p:txBody>
          <a:bodyPr wrap="square" lIns="36000" tIns="36000" rIns="36000" bIns="36000" rtlCol="0" anchor="t">
            <a:spAutoFit/>
          </a:bodyPr>
          <a:lstStyle/>
          <a:p>
            <a:pPr algn="r">
              <a:spcAft>
                <a:spcPts val="0"/>
              </a:spcAft>
            </a:pPr>
            <a:r>
              <a:rPr lang="en-US" sz="900" b="0" i="1">
                <a:solidFill>
                  <a:schemeClr val="tx1"/>
                </a:solidFill>
              </a:rPr>
              <a:t>Turnover</a:t>
            </a:r>
          </a:p>
          <a:p>
            <a:pPr algn="r">
              <a:spcAft>
                <a:spcPts val="0"/>
              </a:spcAft>
            </a:pPr>
            <a:r>
              <a:rPr lang="en-US" sz="900" b="0" i="1">
                <a:solidFill>
                  <a:schemeClr val="tx1"/>
                </a:solidFill>
              </a:rPr>
              <a:t>(</a:t>
            </a:r>
            <a:r>
              <a:rPr lang="en-US" sz="900" b="0" i="1" err="1">
                <a:solidFill>
                  <a:schemeClr val="tx1"/>
                </a:solidFill>
              </a:rPr>
              <a:t>S$m</a:t>
            </a:r>
            <a:r>
              <a:rPr lang="en-US" sz="900" b="0" i="1">
                <a:solidFill>
                  <a:schemeClr val="tx1"/>
                </a:solidFill>
              </a:rPr>
              <a:t>)</a:t>
            </a:r>
            <a:r>
              <a:rPr lang="en-US" sz="900" b="0" i="1" baseline="30000">
                <a:solidFill>
                  <a:schemeClr val="tx1"/>
                </a:solidFill>
              </a:rPr>
              <a:t>(1)</a:t>
            </a:r>
            <a:endParaRPr lang="en-SG" sz="900" b="0" i="1">
              <a:solidFill>
                <a:schemeClr val="tx1"/>
              </a:solidFill>
            </a:endParaRPr>
          </a:p>
        </p:txBody>
      </p:sp>
      <p:pic>
        <p:nvPicPr>
          <p:cNvPr id="41" name="Picture 40">
            <a:extLst>
              <a:ext uri="{FF2B5EF4-FFF2-40B4-BE49-F238E27FC236}">
                <a16:creationId xmlns:a16="http://schemas.microsoft.com/office/drawing/2014/main" id="{8FF7C8CF-F089-52EB-5B8F-E7297AD195E0}"/>
              </a:ext>
            </a:extLst>
          </p:cNvPr>
          <p:cNvPicPr>
            <a:picLocks noChangeAspect="1"/>
          </p:cNvPicPr>
          <p:nvPr/>
        </p:nvPicPr>
        <p:blipFill>
          <a:blip r:embed="rId5"/>
          <a:stretch>
            <a:fillRect/>
          </a:stretch>
        </p:blipFill>
        <p:spPr>
          <a:xfrm>
            <a:off x="894984" y="862740"/>
            <a:ext cx="2070563" cy="373231"/>
          </a:xfrm>
          <a:prstGeom prst="rect">
            <a:avLst/>
          </a:prstGeom>
        </p:spPr>
      </p:pic>
      <p:pic>
        <p:nvPicPr>
          <p:cNvPr id="48" name="Picture 47">
            <a:extLst>
              <a:ext uri="{FF2B5EF4-FFF2-40B4-BE49-F238E27FC236}">
                <a16:creationId xmlns:a16="http://schemas.microsoft.com/office/drawing/2014/main" id="{5BC8774E-2E50-039C-BBC4-F27794F6117C}"/>
              </a:ext>
            </a:extLst>
          </p:cNvPr>
          <p:cNvPicPr>
            <a:picLocks noChangeAspect="1"/>
          </p:cNvPicPr>
          <p:nvPr/>
        </p:nvPicPr>
        <p:blipFill>
          <a:blip r:embed="rId6"/>
          <a:stretch>
            <a:fillRect/>
          </a:stretch>
        </p:blipFill>
        <p:spPr>
          <a:xfrm>
            <a:off x="4334070" y="875675"/>
            <a:ext cx="1237057" cy="385460"/>
          </a:xfrm>
          <a:prstGeom prst="rect">
            <a:avLst/>
          </a:prstGeom>
        </p:spPr>
      </p:pic>
      <p:pic>
        <p:nvPicPr>
          <p:cNvPr id="49" name="Picture 48">
            <a:extLst>
              <a:ext uri="{FF2B5EF4-FFF2-40B4-BE49-F238E27FC236}">
                <a16:creationId xmlns:a16="http://schemas.microsoft.com/office/drawing/2014/main" id="{C91D8F50-71EF-CEC7-0376-B180103A1DEF}"/>
              </a:ext>
            </a:extLst>
          </p:cNvPr>
          <p:cNvPicPr>
            <a:picLocks noChangeAspect="1"/>
          </p:cNvPicPr>
          <p:nvPr/>
        </p:nvPicPr>
        <p:blipFill>
          <a:blip r:embed="rId7">
            <a:clrChange>
              <a:clrFrom>
                <a:srgbClr val="000000">
                  <a:alpha val="0"/>
                </a:srgbClr>
              </a:clrFrom>
              <a:clrTo>
                <a:srgbClr val="000000">
                  <a:alpha val="0"/>
                </a:srgbClr>
              </a:clrTo>
            </a:clrChange>
          </a:blip>
          <a:stretch>
            <a:fillRect/>
          </a:stretch>
        </p:blipFill>
        <p:spPr>
          <a:xfrm>
            <a:off x="7100773" y="858164"/>
            <a:ext cx="1748316" cy="420482"/>
          </a:xfrm>
          <a:prstGeom prst="rect">
            <a:avLst/>
          </a:prstGeom>
        </p:spPr>
      </p:pic>
      <p:sp>
        <p:nvSpPr>
          <p:cNvPr id="55" name="TextBox 54">
            <a:extLst>
              <a:ext uri="{FF2B5EF4-FFF2-40B4-BE49-F238E27FC236}">
                <a16:creationId xmlns:a16="http://schemas.microsoft.com/office/drawing/2014/main" id="{D6D76BCF-D95B-031A-FEF3-9B502BFAEAA5}"/>
              </a:ext>
            </a:extLst>
          </p:cNvPr>
          <p:cNvSpPr txBox="1"/>
          <p:nvPr/>
        </p:nvSpPr>
        <p:spPr>
          <a:xfrm>
            <a:off x="6534931" y="1265888"/>
            <a:ext cx="2880000" cy="72757"/>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18000" rIns="36000" bIns="18000" rtlCol="0" anchor="ctr">
            <a:spAutoFit/>
          </a:bodyPr>
          <a:lstStyle/>
          <a:p>
            <a:pPr algn="ctr">
              <a:spcAft>
                <a:spcPts val="0"/>
              </a:spcAft>
            </a:pPr>
            <a:endParaRPr lang="en-SG" sz="100" b="0" i="1">
              <a:solidFill>
                <a:schemeClr val="bg1"/>
              </a:solidFill>
            </a:endParaRPr>
          </a:p>
        </p:txBody>
      </p:sp>
      <p:sp>
        <p:nvSpPr>
          <p:cNvPr id="56" name="TextBox 55">
            <a:extLst>
              <a:ext uri="{FF2B5EF4-FFF2-40B4-BE49-F238E27FC236}">
                <a16:creationId xmlns:a16="http://schemas.microsoft.com/office/drawing/2014/main" id="{95FD3B79-FE67-536A-E34C-565EDCE1A77A}"/>
              </a:ext>
            </a:extLst>
          </p:cNvPr>
          <p:cNvSpPr txBox="1"/>
          <p:nvPr/>
        </p:nvSpPr>
        <p:spPr>
          <a:xfrm>
            <a:off x="490265" y="1265888"/>
            <a:ext cx="2880000" cy="72757"/>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18000" rIns="36000" bIns="18000" rtlCol="0" anchor="ctr">
            <a:spAutoFit/>
          </a:bodyPr>
          <a:lstStyle/>
          <a:p>
            <a:pPr algn="ctr">
              <a:spcAft>
                <a:spcPts val="0"/>
              </a:spcAft>
            </a:pPr>
            <a:endParaRPr lang="en-SG" sz="100" b="0" i="1">
              <a:solidFill>
                <a:schemeClr val="bg1"/>
              </a:solidFill>
            </a:endParaRPr>
          </a:p>
        </p:txBody>
      </p:sp>
      <p:grpSp>
        <p:nvGrpSpPr>
          <p:cNvPr id="25" name="Group 24">
            <a:extLst>
              <a:ext uri="{FF2B5EF4-FFF2-40B4-BE49-F238E27FC236}">
                <a16:creationId xmlns:a16="http://schemas.microsoft.com/office/drawing/2014/main" id="{A5E876A8-4571-CA17-6753-8554FABABE3B}"/>
              </a:ext>
            </a:extLst>
          </p:cNvPr>
          <p:cNvGrpSpPr/>
          <p:nvPr/>
        </p:nvGrpSpPr>
        <p:grpSpPr>
          <a:xfrm>
            <a:off x="8398923" y="3984517"/>
            <a:ext cx="739876" cy="349702"/>
            <a:chOff x="8379672" y="3753511"/>
            <a:chExt cx="739876" cy="349702"/>
          </a:xfrm>
        </p:grpSpPr>
        <p:sp>
          <p:nvSpPr>
            <p:cNvPr id="51" name="Rectangle 50">
              <a:extLst>
                <a:ext uri="{FF2B5EF4-FFF2-40B4-BE49-F238E27FC236}">
                  <a16:creationId xmlns:a16="http://schemas.microsoft.com/office/drawing/2014/main" id="{23C4F50A-228C-C21D-D8E9-8FAA813C183E}"/>
                </a:ext>
              </a:extLst>
            </p:cNvPr>
            <p:cNvSpPr/>
            <p:nvPr/>
          </p:nvSpPr>
          <p:spPr bwMode="auto">
            <a:xfrm>
              <a:off x="8379672" y="3769419"/>
              <a:ext cx="715700" cy="323850"/>
            </a:xfrm>
            <a:prstGeom prst="rect">
              <a:avLst/>
            </a:prstGeom>
            <a:solidFill>
              <a:schemeClr val="bg1"/>
            </a:solidFill>
            <a:ln>
              <a:solidFill>
                <a:srgbClr val="000000"/>
              </a:solidFill>
              <a:prstDash val="sysDash"/>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grpSp>
          <p:nvGrpSpPr>
            <p:cNvPr id="24" name="Group 23">
              <a:extLst>
                <a:ext uri="{FF2B5EF4-FFF2-40B4-BE49-F238E27FC236}">
                  <a16:creationId xmlns:a16="http://schemas.microsoft.com/office/drawing/2014/main" id="{EEFD354D-61ED-AAEF-64A8-E589875CA057}"/>
                </a:ext>
              </a:extLst>
            </p:cNvPr>
            <p:cNvGrpSpPr/>
            <p:nvPr/>
          </p:nvGrpSpPr>
          <p:grpSpPr>
            <a:xfrm>
              <a:off x="8411522" y="3753511"/>
              <a:ext cx="708026" cy="349702"/>
              <a:chOff x="8411522" y="3695760"/>
              <a:chExt cx="708026" cy="349702"/>
            </a:xfrm>
          </p:grpSpPr>
          <p:sp>
            <p:nvSpPr>
              <p:cNvPr id="53" name="TextBox 52">
                <a:extLst>
                  <a:ext uri="{FF2B5EF4-FFF2-40B4-BE49-F238E27FC236}">
                    <a16:creationId xmlns:a16="http://schemas.microsoft.com/office/drawing/2014/main" id="{168780AA-2D3B-7A3E-01C4-631089B00C8B}"/>
                  </a:ext>
                </a:extLst>
              </p:cNvPr>
              <p:cNvSpPr txBox="1"/>
              <p:nvPr/>
            </p:nvSpPr>
            <p:spPr>
              <a:xfrm>
                <a:off x="8411522" y="3695760"/>
                <a:ext cx="708026" cy="349702"/>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900" b="0">
                    <a:solidFill>
                      <a:schemeClr val="tx1"/>
                    </a:solidFill>
                  </a:rPr>
                  <a:t>IPO till date</a:t>
                </a:r>
                <a:br>
                  <a:rPr lang="en-US" sz="900" b="0">
                    <a:solidFill>
                      <a:schemeClr val="tx1"/>
                    </a:solidFill>
                  </a:rPr>
                </a:br>
                <a:r>
                  <a:rPr lang="en-US" sz="900" b="0">
                    <a:solidFill>
                      <a:schemeClr val="tx1"/>
                    </a:solidFill>
                  </a:rPr>
                  <a:t>-1.0%</a:t>
                </a:r>
                <a:endParaRPr lang="en-SG" sz="900" b="0">
                  <a:solidFill>
                    <a:schemeClr val="tx1"/>
                  </a:solidFill>
                </a:endParaRPr>
              </a:p>
            </p:txBody>
          </p:sp>
          <p:sp>
            <p:nvSpPr>
              <p:cNvPr id="5" name="Isosceles Triangle 4">
                <a:extLst>
                  <a:ext uri="{FF2B5EF4-FFF2-40B4-BE49-F238E27FC236}">
                    <a16:creationId xmlns:a16="http://schemas.microsoft.com/office/drawing/2014/main" id="{145D58E8-4DA1-674D-759B-B32F1F9066DF}"/>
                  </a:ext>
                </a:extLst>
              </p:cNvPr>
              <p:cNvSpPr/>
              <p:nvPr/>
            </p:nvSpPr>
            <p:spPr bwMode="auto">
              <a:xfrm flipV="1">
                <a:off x="8451383" y="3904028"/>
                <a:ext cx="124097" cy="114300"/>
              </a:xfrm>
              <a:prstGeom prst="triangle">
                <a:avLst/>
              </a:prstGeom>
              <a:solidFill>
                <a:srgbClr val="FF0000"/>
              </a:solidFill>
              <a:ln>
                <a:noFill/>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grpSp>
      </p:grpSp>
      <p:sp>
        <p:nvSpPr>
          <p:cNvPr id="6" name="Slide Number Placeholder 5">
            <a:extLst>
              <a:ext uri="{FF2B5EF4-FFF2-40B4-BE49-F238E27FC236}">
                <a16:creationId xmlns:a16="http://schemas.microsoft.com/office/drawing/2014/main" id="{475F9046-6EEB-3F36-D851-9028740A9D45}"/>
              </a:ext>
            </a:extLst>
          </p:cNvPr>
          <p:cNvSpPr>
            <a:spLocks noGrp="1"/>
          </p:cNvSpPr>
          <p:nvPr>
            <p:ph type="sldNum" sz="quarter" idx="11"/>
          </p:nvPr>
        </p:nvSpPr>
        <p:spPr/>
        <p:txBody>
          <a:bodyPr/>
          <a:lstStyle/>
          <a:p>
            <a:pPr>
              <a:defRPr/>
            </a:pPr>
            <a:fld id="{EED7964B-8F50-47E5-B5EE-37748C966AF4}" type="slidenum">
              <a:rPr lang="en-US" smtClean="0"/>
              <a:pPr>
                <a:defRPr/>
              </a:pPr>
              <a:t>8</a:t>
            </a:fld>
            <a:endParaRPr lang="en-US"/>
          </a:p>
        </p:txBody>
      </p:sp>
    </p:spTree>
    <p:extLst>
      <p:ext uri="{BB962C8B-B14F-4D97-AF65-F5344CB8AC3E}">
        <p14:creationId xmlns:p14="http://schemas.microsoft.com/office/powerpoint/2010/main" val="3094556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5DB25-B326-B720-A54B-3AEAEDE8C021}"/>
              </a:ext>
            </a:extLst>
          </p:cNvPr>
          <p:cNvSpPr>
            <a:spLocks noGrp="1"/>
          </p:cNvSpPr>
          <p:nvPr>
            <p:ph type="title"/>
          </p:nvPr>
        </p:nvSpPr>
        <p:spPr/>
        <p:txBody>
          <a:bodyPr/>
          <a:lstStyle/>
          <a:p>
            <a:r>
              <a:rPr lang="en-US"/>
              <a:t>Analysts remain bullish on the data </a:t>
            </a:r>
            <a:r>
              <a:rPr lang="en-US" err="1"/>
              <a:t>centre</a:t>
            </a:r>
            <a:r>
              <a:rPr lang="en-US"/>
              <a:t> REITs backed by strong rental growth, accretive acquisitions and lowering funding costs</a:t>
            </a:r>
            <a:endParaRPr lang="en-SG"/>
          </a:p>
        </p:txBody>
      </p:sp>
      <p:sp>
        <p:nvSpPr>
          <p:cNvPr id="3" name="Slide Number Placeholder 2">
            <a:extLst>
              <a:ext uri="{FF2B5EF4-FFF2-40B4-BE49-F238E27FC236}">
                <a16:creationId xmlns:a16="http://schemas.microsoft.com/office/drawing/2014/main" id="{F125EF68-4018-2E07-758B-FF4063ACBEBF}"/>
              </a:ext>
            </a:extLst>
          </p:cNvPr>
          <p:cNvSpPr>
            <a:spLocks noGrp="1"/>
          </p:cNvSpPr>
          <p:nvPr>
            <p:ph type="sldNum" sz="quarter" idx="11"/>
          </p:nvPr>
        </p:nvSpPr>
        <p:spPr/>
        <p:txBody>
          <a:bodyPr/>
          <a:lstStyle/>
          <a:p>
            <a:pPr>
              <a:defRPr/>
            </a:pPr>
            <a:fld id="{EED7964B-8F50-47E5-B5EE-37748C966AF4}" type="slidenum">
              <a:rPr lang="en-US" smtClean="0"/>
              <a:pPr>
                <a:defRPr/>
              </a:pPr>
              <a:t>9</a:t>
            </a:fld>
            <a:endParaRPr lang="en-US"/>
          </a:p>
        </p:txBody>
      </p:sp>
      <p:sp>
        <p:nvSpPr>
          <p:cNvPr id="4" name="Text Placeholder 3">
            <a:extLst>
              <a:ext uri="{FF2B5EF4-FFF2-40B4-BE49-F238E27FC236}">
                <a16:creationId xmlns:a16="http://schemas.microsoft.com/office/drawing/2014/main" id="{28630349-B22C-893E-C9A5-C31651C230AE}"/>
              </a:ext>
            </a:extLst>
          </p:cNvPr>
          <p:cNvSpPr>
            <a:spLocks noGrp="1"/>
          </p:cNvSpPr>
          <p:nvPr>
            <p:ph type="body" sz="quarter" idx="46"/>
          </p:nvPr>
        </p:nvSpPr>
        <p:spPr/>
        <p:txBody>
          <a:bodyPr/>
          <a:lstStyle/>
          <a:p>
            <a:pPr marL="0" indent="0">
              <a:buNone/>
            </a:pPr>
            <a:r>
              <a:rPr lang="en-US" sz="800"/>
              <a:t>Source: Bloomberg and latest analyst reports as at 04 May 2026</a:t>
            </a:r>
            <a:endParaRPr lang="en-SG" sz="800"/>
          </a:p>
        </p:txBody>
      </p:sp>
      <p:graphicFrame>
        <p:nvGraphicFramePr>
          <p:cNvPr id="7" name="Group 60">
            <a:extLst>
              <a:ext uri="{FF2B5EF4-FFF2-40B4-BE49-F238E27FC236}">
                <a16:creationId xmlns:a16="http://schemas.microsoft.com/office/drawing/2014/main" id="{6A9E593E-ACA6-0C45-D04D-DC448A8613B2}"/>
              </a:ext>
            </a:extLst>
          </p:cNvPr>
          <p:cNvGraphicFramePr>
            <a:graphicFrameLocks noGrp="1"/>
          </p:cNvGraphicFramePr>
          <p:nvPr>
            <p:custDataLst>
              <p:tags r:id="rId1"/>
            </p:custDataLst>
            <p:extLst>
              <p:ext uri="{D42A27DB-BD31-4B8C-83A1-F6EECF244321}">
                <p14:modId xmlns:p14="http://schemas.microsoft.com/office/powerpoint/2010/main" val="1970541721"/>
              </p:ext>
            </p:extLst>
          </p:nvPr>
        </p:nvGraphicFramePr>
        <p:xfrm>
          <a:off x="453000" y="1377620"/>
          <a:ext cx="8964000" cy="764640"/>
        </p:xfrm>
        <a:graphic>
          <a:graphicData uri="http://schemas.openxmlformats.org/drawingml/2006/table">
            <a:tbl>
              <a:tblPr/>
              <a:tblGrid>
                <a:gridCol w="1836000">
                  <a:extLst>
                    <a:ext uri="{9D8B030D-6E8A-4147-A177-3AD203B41FA5}">
                      <a16:colId xmlns:a16="http://schemas.microsoft.com/office/drawing/2014/main" val="20000"/>
                    </a:ext>
                  </a:extLst>
                </a:gridCol>
                <a:gridCol w="2376000">
                  <a:extLst>
                    <a:ext uri="{9D8B030D-6E8A-4147-A177-3AD203B41FA5}">
                      <a16:colId xmlns:a16="http://schemas.microsoft.com/office/drawing/2014/main" val="2901519044"/>
                    </a:ext>
                  </a:extLst>
                </a:gridCol>
                <a:gridCol w="2376000">
                  <a:extLst>
                    <a:ext uri="{9D8B030D-6E8A-4147-A177-3AD203B41FA5}">
                      <a16:colId xmlns:a16="http://schemas.microsoft.com/office/drawing/2014/main" val="3663212557"/>
                    </a:ext>
                  </a:extLst>
                </a:gridCol>
                <a:gridCol w="2376000">
                  <a:extLst>
                    <a:ext uri="{9D8B030D-6E8A-4147-A177-3AD203B41FA5}">
                      <a16:colId xmlns:a16="http://schemas.microsoft.com/office/drawing/2014/main" val="4086563358"/>
                    </a:ext>
                  </a:extLst>
                </a:gridCol>
              </a:tblGrid>
              <a:tr h="144000">
                <a:tc>
                  <a:txBody>
                    <a:bodyPr/>
                    <a:lstStyle/>
                    <a:p>
                      <a:pPr marL="0" marR="0" lvl="0" indent="0" algn="l" defTabSz="914400" rtl="0" eaLnBrk="1" fontAlgn="base" latinLnBrk="0" hangingPunct="1">
                        <a:lnSpc>
                          <a:spcPct val="100000"/>
                        </a:lnSpc>
                        <a:spcBef>
                          <a:spcPts val="200"/>
                        </a:spcBef>
                        <a:spcAft>
                          <a:spcPts val="400"/>
                        </a:spcAft>
                        <a:buClr>
                          <a:schemeClr val="accent1"/>
                        </a:buClr>
                        <a:buSzTx/>
                        <a:buFont typeface="HelveticaNeue LT 45 Lt"/>
                        <a:buNone/>
                        <a:tabLst/>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Current Price</a:t>
                      </a:r>
                    </a:p>
                  </a:txBody>
                  <a:tcPr marL="36000" marR="36000" marT="36000" marB="36000" anchor="ctr" horzOverflow="overflow">
                    <a:lnL>
                      <a:noFill/>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schemeClr val="tx1"/>
                          </a:solidFill>
                          <a:effectLst/>
                          <a:uLnTx/>
                          <a:uFillTx/>
                          <a:latin typeface="Arial" panose="020B0604020202020204" pitchFamily="34" charset="0"/>
                          <a:ea typeface="MS PGothic" pitchFamily="34" charset="-128"/>
                          <a:cs typeface="Arial" panose="020B0604020202020204" pitchFamily="34" charset="0"/>
                        </a:rPr>
                        <a:t>S$2.35</a:t>
                      </a:r>
                    </a:p>
                  </a:txBody>
                  <a:tcPr marL="36000" marR="36000" marT="36000" marB="36000" anchor="ctr" horzOverflow="overflow">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prstClr val="black"/>
                          </a:solidFill>
                          <a:effectLst/>
                          <a:uLnTx/>
                          <a:uFillTx/>
                          <a:latin typeface="Arial" panose="020B0604020202020204" pitchFamily="34" charset="0"/>
                          <a:ea typeface="MS PGothic" pitchFamily="34" charset="-128"/>
                          <a:cs typeface="Arial" panose="020B0604020202020204" pitchFamily="34" charset="0"/>
                        </a:rPr>
                        <a:t>US$0.51</a:t>
                      </a:r>
                    </a:p>
                  </a:txBody>
                  <a:tcPr marL="36000" marR="36000" marT="36000" marB="36000" anchor="ctr" horzOverflow="overflow">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schemeClr val="tx1"/>
                          </a:solidFill>
                          <a:effectLst/>
                          <a:uLnTx/>
                          <a:uFillTx/>
                          <a:latin typeface="Arial" panose="020B0604020202020204" pitchFamily="34" charset="0"/>
                          <a:ea typeface="MS PGothic" pitchFamily="34" charset="-128"/>
                          <a:cs typeface="Arial" panose="020B0604020202020204" pitchFamily="34" charset="0"/>
                        </a:rPr>
                        <a:t>US$0.98</a:t>
                      </a:r>
                    </a:p>
                  </a:txBody>
                  <a:tcPr marL="36000" marR="36000" marT="36000" marB="36000" anchor="ctr" horzOverflow="overflow">
                    <a:lnL w="12700" cap="flat" cmpd="sng" algn="ctr">
                      <a:noFill/>
                      <a:prstDash val="sysDot"/>
                      <a:round/>
                      <a:headEnd type="none" w="med" len="med"/>
                      <a:tailEnd type="none" w="med" len="med"/>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5463517"/>
                  </a:ext>
                </a:extLst>
              </a:tr>
              <a:tr h="144000">
                <a:tc>
                  <a:txBody>
                    <a:bodyPr/>
                    <a:lstStyle/>
                    <a:p>
                      <a:pPr marL="0" marR="0" lvl="0" indent="0" algn="l" defTabSz="914400" rtl="0" eaLnBrk="1" fontAlgn="base" latinLnBrk="0" hangingPunct="1">
                        <a:lnSpc>
                          <a:spcPct val="100000"/>
                        </a:lnSpc>
                        <a:spcBef>
                          <a:spcPts val="200"/>
                        </a:spcBef>
                        <a:spcAft>
                          <a:spcPts val="400"/>
                        </a:spcAft>
                        <a:buClr>
                          <a:schemeClr val="accent1"/>
                        </a:buClr>
                        <a:buSzTx/>
                        <a:buFont typeface="HelveticaNeue LT 45 Lt"/>
                        <a:buNone/>
                        <a:tabLst/>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Bloomberg 12M Target Price</a:t>
                      </a:r>
                    </a:p>
                  </a:txBody>
                  <a:tcPr marL="36000" marR="36000" marT="36000" marB="36000" anchor="ctr" horzOverflow="overflow">
                    <a:lnL>
                      <a:noFill/>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schemeClr val="tx1"/>
                          </a:solidFill>
                          <a:effectLst/>
                          <a:uLnTx/>
                          <a:uFillTx/>
                          <a:latin typeface="Arial" panose="020B0604020202020204" pitchFamily="34" charset="0"/>
                          <a:ea typeface="MS PGothic" pitchFamily="34" charset="-128"/>
                          <a:cs typeface="Arial" panose="020B0604020202020204" pitchFamily="34" charset="0"/>
                        </a:rPr>
                        <a:t>S$2.64</a:t>
                      </a:r>
                    </a:p>
                  </a:txBody>
                  <a:tcPr marL="36000" marR="36000" marT="36000" marB="36000" anchor="ctr" horzOverflow="overflow">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prstClr val="black"/>
                          </a:solidFill>
                          <a:effectLst/>
                          <a:uLnTx/>
                          <a:uFillTx/>
                          <a:latin typeface="Arial" panose="020B0604020202020204" pitchFamily="34" charset="0"/>
                          <a:ea typeface="MS PGothic" pitchFamily="34" charset="-128"/>
                          <a:cs typeface="Arial" panose="020B0604020202020204" pitchFamily="34" charset="0"/>
                        </a:rPr>
                        <a:t>US$0.71</a:t>
                      </a:r>
                    </a:p>
                  </a:txBody>
                  <a:tcPr marL="36000" marR="36000" marT="36000" marB="36000" anchor="ctr" horzOverflow="overflow">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schemeClr val="tx1"/>
                          </a:solidFill>
                          <a:effectLst/>
                          <a:uLnTx/>
                          <a:uFillTx/>
                          <a:latin typeface="Arial" panose="020B0604020202020204" pitchFamily="34" charset="0"/>
                          <a:ea typeface="MS PGothic" pitchFamily="34" charset="-128"/>
                          <a:cs typeface="Arial" panose="020B0604020202020204" pitchFamily="34" charset="0"/>
                        </a:rPr>
                        <a:t>US$1.27</a:t>
                      </a:r>
                    </a:p>
                  </a:txBody>
                  <a:tcPr marL="36000" marR="36000" marT="36000" marB="36000" anchor="ctr" horzOverflow="overflow">
                    <a:lnL w="12700" cap="flat" cmpd="sng" algn="ctr">
                      <a:noFill/>
                      <a:prstDash val="sysDot"/>
                      <a:round/>
                      <a:headEnd type="none" w="med" len="med"/>
                      <a:tailEnd type="none" w="med" len="med"/>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9663573"/>
                  </a:ext>
                </a:extLst>
              </a:tr>
              <a:tr h="144000">
                <a:tc>
                  <a:txBody>
                    <a:bodyPr/>
                    <a:lstStyle/>
                    <a:p>
                      <a:pPr marL="0" marR="0" lvl="0" indent="0" algn="l" defTabSz="914400" rtl="0" eaLnBrk="1" fontAlgn="base" latinLnBrk="0" hangingPunct="1">
                        <a:lnSpc>
                          <a:spcPct val="100000"/>
                        </a:lnSpc>
                        <a:spcBef>
                          <a:spcPts val="200"/>
                        </a:spcBef>
                        <a:spcAft>
                          <a:spcPts val="400"/>
                        </a:spcAft>
                        <a:buClr>
                          <a:schemeClr val="accent1"/>
                        </a:buClr>
                        <a:buSzTx/>
                        <a:buFont typeface="HelveticaNeue LT 45 Lt"/>
                        <a:buNone/>
                        <a:tabLst/>
                      </a:pPr>
                      <a:r>
                        <a:rPr kumimoji="0" lang="en-AU" sz="900" b="1" i="0" u="none" strike="noStrike" kern="1200" cap="none" normalizeH="0" baseline="0">
                          <a:ln>
                            <a:noFill/>
                          </a:ln>
                          <a:solidFill>
                            <a:schemeClr val="tx1"/>
                          </a:solidFill>
                          <a:effectLst/>
                          <a:latin typeface="Arial" panose="020B0604020202020204" pitchFamily="34" charset="0"/>
                          <a:ea typeface="MS PGothic" pitchFamily="34" charset="-128"/>
                          <a:cs typeface="Arial" panose="020B0604020202020204" pitchFamily="34" charset="0"/>
                        </a:rPr>
                        <a:t>Bloomberg Consensus Rating (Buy / Hold / Sell)</a:t>
                      </a:r>
                    </a:p>
                  </a:txBody>
                  <a:tcPr marL="36000" marR="36000" marT="36000" marB="36000" anchor="ctr" horzOverflow="overflow">
                    <a:lnL>
                      <a:noFill/>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schemeClr val="tx1"/>
                          </a:solidFill>
                          <a:effectLst/>
                          <a:uLnTx/>
                          <a:uFillTx/>
                          <a:latin typeface="Arial" panose="020B0604020202020204" pitchFamily="34" charset="0"/>
                          <a:ea typeface="MS PGothic" pitchFamily="34" charset="-128"/>
                          <a:cs typeface="Arial" panose="020B0604020202020204" pitchFamily="34" charset="0"/>
                        </a:rPr>
                        <a:t>15 / 1 / 0</a:t>
                      </a:r>
                    </a:p>
                  </a:txBody>
                  <a:tcPr marL="36000" marR="36000" marT="36000" marB="36000" anchor="ctr" horzOverflow="overflow">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schemeClr val="tx1"/>
                          </a:solidFill>
                          <a:effectLst/>
                          <a:uLnTx/>
                          <a:uFillTx/>
                          <a:latin typeface="Arial" panose="020B0604020202020204" pitchFamily="34" charset="0"/>
                          <a:ea typeface="MS PGothic" pitchFamily="34" charset="-128"/>
                          <a:cs typeface="Arial" panose="020B0604020202020204" pitchFamily="34" charset="0"/>
                        </a:rPr>
                        <a:t>5 / 0 / 0</a:t>
                      </a:r>
                    </a:p>
                  </a:txBody>
                  <a:tcPr marL="36000" marR="36000" marT="36000" marB="36000" anchor="ctr" horzOverflow="overflow">
                    <a:lnL w="12700" cap="flat" cmpd="sng" algn="ctr">
                      <a:noFill/>
                      <a:prstDash val="sysDot"/>
                      <a:round/>
                      <a:headEnd type="none" w="med" len="med"/>
                      <a:tailEnd type="none" w="med" len="med"/>
                    </a:lnL>
                    <a:lnR w="12700" cap="flat" cmpd="sng" algn="ctr">
                      <a:noFill/>
                      <a:prstDash val="sysDot"/>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ts val="400"/>
                        </a:spcAft>
                        <a:buClr>
                          <a:srgbClr val="BE050A"/>
                        </a:buClr>
                        <a:buSzTx/>
                        <a:buFont typeface="Arial" panose="020B0604020202020204" pitchFamily="34" charset="0"/>
                        <a:buNone/>
                        <a:tabLst/>
                        <a:defRPr/>
                      </a:pPr>
                      <a:r>
                        <a:rPr kumimoji="0" lang="en-AU" sz="900" b="1" i="0" u="none" strike="noStrike" kern="1200" cap="none" spc="0" normalizeH="0" baseline="0" noProof="0">
                          <a:ln>
                            <a:noFill/>
                          </a:ln>
                          <a:solidFill>
                            <a:schemeClr val="tx1"/>
                          </a:solidFill>
                          <a:effectLst/>
                          <a:uLnTx/>
                          <a:uFillTx/>
                          <a:latin typeface="Arial" panose="020B0604020202020204" pitchFamily="34" charset="0"/>
                          <a:ea typeface="MS PGothic" pitchFamily="34" charset="-128"/>
                          <a:cs typeface="Arial" panose="020B0604020202020204" pitchFamily="34" charset="0"/>
                        </a:rPr>
                        <a:t>4 / 0 / 0</a:t>
                      </a:r>
                    </a:p>
                  </a:txBody>
                  <a:tcPr marL="36000" marR="36000" marT="36000" marB="36000" anchor="ctr" horzOverflow="overflow">
                    <a:lnL w="12700" cap="flat" cmpd="sng" algn="ctr">
                      <a:noFill/>
                      <a:prstDash val="sysDot"/>
                      <a:round/>
                      <a:headEnd type="none" w="med" len="med"/>
                      <a:tailEnd type="none" w="med" len="med"/>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73615029"/>
                  </a:ext>
                </a:extLst>
              </a:tr>
            </a:tbl>
          </a:graphicData>
        </a:graphic>
      </p:graphicFrame>
      <p:pic>
        <p:nvPicPr>
          <p:cNvPr id="8" name="Picture 7">
            <a:extLst>
              <a:ext uri="{FF2B5EF4-FFF2-40B4-BE49-F238E27FC236}">
                <a16:creationId xmlns:a16="http://schemas.microsoft.com/office/drawing/2014/main" id="{F2B29318-F066-146A-DDE9-1D09BC29D68A}"/>
              </a:ext>
            </a:extLst>
          </p:cNvPr>
          <p:cNvPicPr>
            <a:picLocks noChangeAspect="1"/>
          </p:cNvPicPr>
          <p:nvPr/>
        </p:nvPicPr>
        <p:blipFill>
          <a:blip r:embed="rId3"/>
          <a:stretch>
            <a:fillRect/>
          </a:stretch>
        </p:blipFill>
        <p:spPr>
          <a:xfrm>
            <a:off x="2704469" y="971041"/>
            <a:ext cx="1587244" cy="286110"/>
          </a:xfrm>
          <a:prstGeom prst="rect">
            <a:avLst/>
          </a:prstGeom>
        </p:spPr>
      </p:pic>
      <p:pic>
        <p:nvPicPr>
          <p:cNvPr id="9" name="Picture 8">
            <a:extLst>
              <a:ext uri="{FF2B5EF4-FFF2-40B4-BE49-F238E27FC236}">
                <a16:creationId xmlns:a16="http://schemas.microsoft.com/office/drawing/2014/main" id="{E7E03E34-888B-45F8-315F-48EC41804CDF}"/>
              </a:ext>
            </a:extLst>
          </p:cNvPr>
          <p:cNvPicPr>
            <a:picLocks noChangeAspect="1"/>
          </p:cNvPicPr>
          <p:nvPr/>
        </p:nvPicPr>
        <p:blipFill>
          <a:blip r:embed="rId4"/>
          <a:stretch>
            <a:fillRect/>
          </a:stretch>
        </p:blipFill>
        <p:spPr>
          <a:xfrm>
            <a:off x="5355415" y="954405"/>
            <a:ext cx="1024992" cy="319382"/>
          </a:xfrm>
          <a:prstGeom prst="rect">
            <a:avLst/>
          </a:prstGeom>
        </p:spPr>
      </p:pic>
      <p:pic>
        <p:nvPicPr>
          <p:cNvPr id="10" name="Picture 9">
            <a:extLst>
              <a:ext uri="{FF2B5EF4-FFF2-40B4-BE49-F238E27FC236}">
                <a16:creationId xmlns:a16="http://schemas.microsoft.com/office/drawing/2014/main" id="{C65E8C19-16D0-E56C-3E69-EC00AC35BF77}"/>
              </a:ext>
            </a:extLst>
          </p:cNvPr>
          <p:cNvPicPr>
            <a:picLocks noChangeAspect="1"/>
          </p:cNvPicPr>
          <p:nvPr/>
        </p:nvPicPr>
        <p:blipFill>
          <a:blip r:embed="rId5"/>
          <a:stretch>
            <a:fillRect/>
          </a:stretch>
        </p:blipFill>
        <p:spPr>
          <a:xfrm>
            <a:off x="7433359" y="920639"/>
            <a:ext cx="1608744" cy="386914"/>
          </a:xfrm>
          <a:prstGeom prst="rect">
            <a:avLst/>
          </a:prstGeom>
        </p:spPr>
      </p:pic>
      <p:sp>
        <p:nvSpPr>
          <p:cNvPr id="6" name="TextBox 5">
            <a:extLst>
              <a:ext uri="{FF2B5EF4-FFF2-40B4-BE49-F238E27FC236}">
                <a16:creationId xmlns:a16="http://schemas.microsoft.com/office/drawing/2014/main" id="{4082D0BE-DA7D-445F-9091-482147C5031D}"/>
              </a:ext>
            </a:extLst>
          </p:cNvPr>
          <p:cNvSpPr txBox="1"/>
          <p:nvPr/>
        </p:nvSpPr>
        <p:spPr>
          <a:xfrm>
            <a:off x="453001" y="2335409"/>
            <a:ext cx="1810140" cy="3683254"/>
          </a:xfrm>
          <a:prstGeom prst="homePlate">
            <a:avLst>
              <a:gd name="adj" fmla="val 18711"/>
            </a:avLst>
          </a:prstGeom>
          <a:noFill/>
          <a:ln w="19050">
            <a:solidFill>
              <a:schemeClr val="bg1">
                <a:lumMod val="85000"/>
              </a:schemeClr>
            </a:solidFill>
            <a:prstDash val="solid"/>
          </a:ln>
        </p:spPr>
        <p:txBody>
          <a:bodyPr wrap="square" lIns="36000" tIns="36000" rIns="36000" bIns="36000" rtlCol="0" anchor="ctr">
            <a:noAutofit/>
          </a:bodyPr>
          <a:lstStyle/>
          <a:p>
            <a:pPr algn="ctr">
              <a:spcAft>
                <a:spcPts val="600"/>
              </a:spcAft>
            </a:pPr>
            <a:r>
              <a:rPr lang="en-US" sz="900">
                <a:solidFill>
                  <a:schemeClr val="tx1"/>
                </a:solidFill>
              </a:rPr>
              <a:t>Latest Analyst Commentary on Operating Performance</a:t>
            </a:r>
          </a:p>
        </p:txBody>
      </p:sp>
      <p:sp>
        <p:nvSpPr>
          <p:cNvPr id="12" name="Rectangle: Rounded Corners 11">
            <a:extLst>
              <a:ext uri="{FF2B5EF4-FFF2-40B4-BE49-F238E27FC236}">
                <a16:creationId xmlns:a16="http://schemas.microsoft.com/office/drawing/2014/main" id="{74B3C4F7-99DF-B4B7-CBEA-40AA6424E3C7}"/>
              </a:ext>
            </a:extLst>
          </p:cNvPr>
          <p:cNvSpPr/>
          <p:nvPr/>
        </p:nvSpPr>
        <p:spPr bwMode="auto">
          <a:xfrm>
            <a:off x="2472091" y="2335409"/>
            <a:ext cx="2052000" cy="774000"/>
          </a:xfrm>
          <a:prstGeom prst="roundRect">
            <a:avLst/>
          </a:prstGeom>
          <a:solidFill>
            <a:schemeClr val="bg1">
              <a:lumMod val="95000"/>
            </a:schemeClr>
          </a:solidFill>
          <a:ln w="19050">
            <a:solidFill>
              <a:srgbClr val="C40C2C"/>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Strong 1Q26 update with 13.2% DPU increase, reinforcing the its </a:t>
            </a:r>
            <a:r>
              <a:rPr lang="en-US" sz="900">
                <a:solidFill>
                  <a:schemeClr val="tx1"/>
                </a:solidFill>
              </a:rPr>
              <a:t>positioning as a high-quality, structurally supported</a:t>
            </a:r>
          </a:p>
        </p:txBody>
      </p:sp>
      <p:sp>
        <p:nvSpPr>
          <p:cNvPr id="14" name="Rectangle: Rounded Corners 13">
            <a:extLst>
              <a:ext uri="{FF2B5EF4-FFF2-40B4-BE49-F238E27FC236}">
                <a16:creationId xmlns:a16="http://schemas.microsoft.com/office/drawing/2014/main" id="{F7895894-325F-DA25-B797-03481442065D}"/>
              </a:ext>
            </a:extLst>
          </p:cNvPr>
          <p:cNvSpPr/>
          <p:nvPr/>
        </p:nvSpPr>
        <p:spPr bwMode="auto">
          <a:xfrm>
            <a:off x="2472091" y="3305160"/>
            <a:ext cx="2052000" cy="774000"/>
          </a:xfrm>
          <a:prstGeom prst="roundRect">
            <a:avLst/>
          </a:prstGeom>
          <a:solidFill>
            <a:schemeClr val="bg1">
              <a:lumMod val="95000"/>
            </a:schemeClr>
          </a:solidFill>
          <a:ln w="19050">
            <a:solidFill>
              <a:srgbClr val="C40C2C"/>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Strong positive </a:t>
            </a:r>
            <a:r>
              <a:rPr lang="en-US" sz="900">
                <a:solidFill>
                  <a:schemeClr val="tx1"/>
                </a:solidFill>
              </a:rPr>
              <a:t>rental reversions of +51%</a:t>
            </a:r>
            <a:r>
              <a:rPr lang="en-US" sz="900" b="0">
                <a:solidFill>
                  <a:schemeClr val="tx1"/>
                </a:solidFill>
              </a:rPr>
              <a:t>, indicating positive leasing spreads – to continue to </a:t>
            </a:r>
            <a:r>
              <a:rPr lang="en-US" sz="900">
                <a:solidFill>
                  <a:schemeClr val="tx1"/>
                </a:solidFill>
              </a:rPr>
              <a:t>support near-term earnings</a:t>
            </a:r>
          </a:p>
        </p:txBody>
      </p:sp>
      <p:sp>
        <p:nvSpPr>
          <p:cNvPr id="15" name="Rectangle: Rounded Corners 14">
            <a:extLst>
              <a:ext uri="{FF2B5EF4-FFF2-40B4-BE49-F238E27FC236}">
                <a16:creationId xmlns:a16="http://schemas.microsoft.com/office/drawing/2014/main" id="{17FA8FAA-215D-4E8F-C77F-DC4F99FD07A5}"/>
              </a:ext>
            </a:extLst>
          </p:cNvPr>
          <p:cNvSpPr/>
          <p:nvPr/>
        </p:nvSpPr>
        <p:spPr bwMode="auto">
          <a:xfrm>
            <a:off x="2472091" y="4274911"/>
            <a:ext cx="2052000" cy="774000"/>
          </a:xfrm>
          <a:prstGeom prst="roundRect">
            <a:avLst/>
          </a:prstGeom>
          <a:solidFill>
            <a:schemeClr val="bg1">
              <a:lumMod val="95000"/>
            </a:schemeClr>
          </a:solidFill>
          <a:ln w="19050">
            <a:solidFill>
              <a:srgbClr val="C40C2C"/>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Further uplift to analyst’s projections to come from accretive acquisitions given KDCREIT’s </a:t>
            </a:r>
            <a:r>
              <a:rPr lang="en-US" sz="900">
                <a:solidFill>
                  <a:schemeClr val="tx1"/>
                </a:solidFill>
              </a:rPr>
              <a:t>low gearing and low WACC</a:t>
            </a:r>
          </a:p>
        </p:txBody>
      </p:sp>
      <p:sp>
        <p:nvSpPr>
          <p:cNvPr id="16" name="Rectangle: Rounded Corners 15">
            <a:extLst>
              <a:ext uri="{FF2B5EF4-FFF2-40B4-BE49-F238E27FC236}">
                <a16:creationId xmlns:a16="http://schemas.microsoft.com/office/drawing/2014/main" id="{4E91E09A-EB68-DE43-0549-43789EE3255D}"/>
              </a:ext>
            </a:extLst>
          </p:cNvPr>
          <p:cNvSpPr/>
          <p:nvPr/>
        </p:nvSpPr>
        <p:spPr bwMode="auto">
          <a:xfrm>
            <a:off x="2472091" y="5244663"/>
            <a:ext cx="2052000" cy="774000"/>
          </a:xfrm>
          <a:prstGeom prst="roundRect">
            <a:avLst/>
          </a:prstGeom>
          <a:solidFill>
            <a:schemeClr val="bg1">
              <a:lumMod val="95000"/>
            </a:schemeClr>
          </a:solidFill>
          <a:ln w="19050">
            <a:solidFill>
              <a:srgbClr val="C40C2C"/>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KDCREIT may face higher barriers to entry and </a:t>
            </a:r>
            <a:r>
              <a:rPr lang="en-US" sz="900">
                <a:solidFill>
                  <a:schemeClr val="tx1"/>
                </a:solidFill>
              </a:rPr>
              <a:t>stiffer competition</a:t>
            </a:r>
            <a:r>
              <a:rPr lang="en-US" sz="900" b="0">
                <a:solidFill>
                  <a:schemeClr val="tx1"/>
                </a:solidFill>
              </a:rPr>
              <a:t> from international operators/funds seeking data centre assets</a:t>
            </a:r>
            <a:endParaRPr lang="en-US" sz="900">
              <a:solidFill>
                <a:schemeClr val="tx1"/>
              </a:solidFill>
            </a:endParaRPr>
          </a:p>
        </p:txBody>
      </p:sp>
      <p:sp>
        <p:nvSpPr>
          <p:cNvPr id="17" name="Rectangle: Rounded Corners 16">
            <a:extLst>
              <a:ext uri="{FF2B5EF4-FFF2-40B4-BE49-F238E27FC236}">
                <a16:creationId xmlns:a16="http://schemas.microsoft.com/office/drawing/2014/main" id="{F450DC90-2245-D7E6-EE8D-320244E9C233}"/>
              </a:ext>
            </a:extLst>
          </p:cNvPr>
          <p:cNvSpPr/>
          <p:nvPr/>
        </p:nvSpPr>
        <p:spPr bwMode="auto">
          <a:xfrm>
            <a:off x="4841911" y="2335409"/>
            <a:ext cx="2052000" cy="774000"/>
          </a:xfrm>
          <a:prstGeom prst="roundRect">
            <a:avLst/>
          </a:prstGeom>
          <a:solidFill>
            <a:schemeClr val="bg1">
              <a:lumMod val="95000"/>
            </a:schemeClr>
          </a:solidFill>
          <a:ln w="19050">
            <a:solidFill>
              <a:srgbClr val="192758"/>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Steady 1Q26, with </a:t>
            </a:r>
            <a:r>
              <a:rPr lang="en-US" sz="900">
                <a:solidFill>
                  <a:schemeClr val="tx1"/>
                </a:solidFill>
              </a:rPr>
              <a:t>flat distributable income </a:t>
            </a:r>
            <a:r>
              <a:rPr lang="en-US" sz="900" b="0">
                <a:solidFill>
                  <a:schemeClr val="tx1"/>
                </a:solidFill>
              </a:rPr>
              <a:t>with the absence of income from Linton Hall since 2H25, offset by acquisitions, lower interest rate and rental reversions</a:t>
            </a:r>
          </a:p>
        </p:txBody>
      </p:sp>
      <p:sp>
        <p:nvSpPr>
          <p:cNvPr id="18" name="Rectangle: Rounded Corners 17">
            <a:extLst>
              <a:ext uri="{FF2B5EF4-FFF2-40B4-BE49-F238E27FC236}">
                <a16:creationId xmlns:a16="http://schemas.microsoft.com/office/drawing/2014/main" id="{F0F67B9E-72EC-3304-EFF9-B7392CEDD172}"/>
              </a:ext>
            </a:extLst>
          </p:cNvPr>
          <p:cNvSpPr/>
          <p:nvPr/>
        </p:nvSpPr>
        <p:spPr bwMode="auto">
          <a:xfrm>
            <a:off x="4841911" y="3305160"/>
            <a:ext cx="2052000" cy="774000"/>
          </a:xfrm>
          <a:prstGeom prst="roundRect">
            <a:avLst/>
          </a:prstGeom>
          <a:solidFill>
            <a:schemeClr val="bg1">
              <a:lumMod val="95000"/>
            </a:schemeClr>
          </a:solidFill>
          <a:ln w="19050">
            <a:solidFill>
              <a:srgbClr val="192758"/>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Encouraging Leasing momentum with USD3.0m of </a:t>
            </a:r>
            <a:r>
              <a:rPr lang="en-US" sz="900" b="0" err="1">
                <a:solidFill>
                  <a:schemeClr val="tx1"/>
                </a:solidFill>
              </a:rPr>
              <a:t>annualised</a:t>
            </a:r>
            <a:r>
              <a:rPr lang="en-US" sz="900" b="0">
                <a:solidFill>
                  <a:schemeClr val="tx1"/>
                </a:solidFill>
              </a:rPr>
              <a:t> rent signed at </a:t>
            </a:r>
            <a:r>
              <a:rPr lang="en-US" sz="900">
                <a:solidFill>
                  <a:schemeClr val="tx1"/>
                </a:solidFill>
              </a:rPr>
              <a:t>+44% cash rental reversion</a:t>
            </a:r>
            <a:endParaRPr lang="en-US" sz="900" b="0">
              <a:solidFill>
                <a:schemeClr val="tx1"/>
              </a:solidFill>
            </a:endParaRPr>
          </a:p>
        </p:txBody>
      </p:sp>
      <p:sp>
        <p:nvSpPr>
          <p:cNvPr id="19" name="Rectangle: Rounded Corners 18">
            <a:extLst>
              <a:ext uri="{FF2B5EF4-FFF2-40B4-BE49-F238E27FC236}">
                <a16:creationId xmlns:a16="http://schemas.microsoft.com/office/drawing/2014/main" id="{F8F2C88D-DF85-3F18-08FA-3F2E44902698}"/>
              </a:ext>
            </a:extLst>
          </p:cNvPr>
          <p:cNvSpPr/>
          <p:nvPr/>
        </p:nvSpPr>
        <p:spPr bwMode="auto">
          <a:xfrm>
            <a:off x="4841911" y="4274911"/>
            <a:ext cx="2052000" cy="774000"/>
          </a:xfrm>
          <a:prstGeom prst="roundRect">
            <a:avLst/>
          </a:prstGeom>
          <a:solidFill>
            <a:schemeClr val="bg1">
              <a:lumMod val="95000"/>
            </a:schemeClr>
          </a:solidFill>
          <a:ln w="19050">
            <a:solidFill>
              <a:srgbClr val="192758"/>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Linton Hall remains a meaningful </a:t>
            </a:r>
            <a:r>
              <a:rPr lang="en-US" sz="900">
                <a:solidFill>
                  <a:schemeClr val="tx1"/>
                </a:solidFill>
              </a:rPr>
              <a:t>embedded earnings re-rating catalyst</a:t>
            </a:r>
            <a:r>
              <a:rPr lang="en-US" sz="900" b="0">
                <a:solidFill>
                  <a:schemeClr val="tx1"/>
                </a:solidFill>
              </a:rPr>
              <a:t> ahead of its expected lease commencement in December 2026.</a:t>
            </a:r>
          </a:p>
        </p:txBody>
      </p:sp>
      <p:sp>
        <p:nvSpPr>
          <p:cNvPr id="20" name="Rectangle: Rounded Corners 19">
            <a:extLst>
              <a:ext uri="{FF2B5EF4-FFF2-40B4-BE49-F238E27FC236}">
                <a16:creationId xmlns:a16="http://schemas.microsoft.com/office/drawing/2014/main" id="{6D331A43-2C0B-3293-FE3C-6A7AAA3D6425}"/>
              </a:ext>
            </a:extLst>
          </p:cNvPr>
          <p:cNvSpPr/>
          <p:nvPr/>
        </p:nvSpPr>
        <p:spPr bwMode="auto">
          <a:xfrm>
            <a:off x="4841911" y="5244663"/>
            <a:ext cx="2052000" cy="774000"/>
          </a:xfrm>
          <a:prstGeom prst="roundRect">
            <a:avLst/>
          </a:prstGeom>
          <a:solidFill>
            <a:schemeClr val="bg1">
              <a:lumMod val="95000"/>
            </a:schemeClr>
          </a:solidFill>
          <a:ln w="19050">
            <a:solidFill>
              <a:srgbClr val="192758"/>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Near-term earnings </a:t>
            </a:r>
            <a:r>
              <a:rPr lang="en-US" sz="900">
                <a:solidFill>
                  <a:schemeClr val="tx1"/>
                </a:solidFill>
              </a:rPr>
              <a:t>outlook looks stable</a:t>
            </a:r>
            <a:r>
              <a:rPr lang="en-US" sz="900" b="0">
                <a:solidFill>
                  <a:schemeClr val="tx1"/>
                </a:solidFill>
              </a:rPr>
              <a:t> with the bulk of lease expiring in FY26 already renewed.</a:t>
            </a:r>
          </a:p>
        </p:txBody>
      </p:sp>
      <p:sp>
        <p:nvSpPr>
          <p:cNvPr id="21" name="Rectangle: Rounded Corners 20">
            <a:extLst>
              <a:ext uri="{FF2B5EF4-FFF2-40B4-BE49-F238E27FC236}">
                <a16:creationId xmlns:a16="http://schemas.microsoft.com/office/drawing/2014/main" id="{4B18F0B1-BAF9-84FB-B9F1-525330A621E6}"/>
              </a:ext>
            </a:extLst>
          </p:cNvPr>
          <p:cNvSpPr/>
          <p:nvPr/>
        </p:nvSpPr>
        <p:spPr bwMode="auto">
          <a:xfrm>
            <a:off x="7211731" y="2335409"/>
            <a:ext cx="2052000" cy="774000"/>
          </a:xfrm>
          <a:prstGeom prst="roundRect">
            <a:avLst/>
          </a:prstGeom>
          <a:solidFill>
            <a:schemeClr val="bg1">
              <a:lumMod val="95000"/>
            </a:schemeClr>
          </a:solidFill>
          <a:ln w="19050">
            <a:solidFill>
              <a:srgbClr val="0D73BB"/>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Next key catalyst will be the anticipated </a:t>
            </a:r>
            <a:r>
              <a:rPr lang="en-US" sz="900">
                <a:solidFill>
                  <a:schemeClr val="tx1"/>
                </a:solidFill>
              </a:rPr>
              <a:t>enhancement to the management fee structure</a:t>
            </a:r>
            <a:r>
              <a:rPr lang="en-US" sz="900" b="0">
                <a:solidFill>
                  <a:schemeClr val="tx1"/>
                </a:solidFill>
              </a:rPr>
              <a:t>, targeted in next 2 quarters</a:t>
            </a:r>
          </a:p>
        </p:txBody>
      </p:sp>
      <p:sp>
        <p:nvSpPr>
          <p:cNvPr id="22" name="Rectangle: Rounded Corners 21">
            <a:extLst>
              <a:ext uri="{FF2B5EF4-FFF2-40B4-BE49-F238E27FC236}">
                <a16:creationId xmlns:a16="http://schemas.microsoft.com/office/drawing/2014/main" id="{13985F63-329E-D9BC-19E7-9A2BCC5B7428}"/>
              </a:ext>
            </a:extLst>
          </p:cNvPr>
          <p:cNvSpPr/>
          <p:nvPr/>
        </p:nvSpPr>
        <p:spPr bwMode="auto">
          <a:xfrm>
            <a:off x="7211731" y="3305160"/>
            <a:ext cx="2052000" cy="774000"/>
          </a:xfrm>
          <a:prstGeom prst="roundRect">
            <a:avLst/>
          </a:prstGeom>
          <a:solidFill>
            <a:schemeClr val="bg1">
              <a:lumMod val="95000"/>
            </a:schemeClr>
          </a:solidFill>
          <a:ln w="19050">
            <a:solidFill>
              <a:srgbClr val="0D73BB"/>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Renewed lease with its Sponsor at SG1 at </a:t>
            </a:r>
            <a:r>
              <a:rPr lang="en-US" sz="900">
                <a:solidFill>
                  <a:schemeClr val="tx1"/>
                </a:solidFill>
              </a:rPr>
              <a:t>impressive 23% reversion</a:t>
            </a:r>
            <a:r>
              <a:rPr lang="en-US" sz="900" b="0">
                <a:solidFill>
                  <a:schemeClr val="tx1"/>
                </a:solidFill>
              </a:rPr>
              <a:t>, and </a:t>
            </a:r>
            <a:r>
              <a:rPr lang="en-US" sz="900">
                <a:solidFill>
                  <a:schemeClr val="tx1"/>
                </a:solidFill>
              </a:rPr>
              <a:t>further fixed 5% annual </a:t>
            </a:r>
            <a:r>
              <a:rPr lang="en-US" sz="900" b="0">
                <a:solidFill>
                  <a:schemeClr val="tx1"/>
                </a:solidFill>
              </a:rPr>
              <a:t>escalation over next 2 years</a:t>
            </a:r>
          </a:p>
        </p:txBody>
      </p:sp>
      <p:sp>
        <p:nvSpPr>
          <p:cNvPr id="23" name="Rectangle: Rounded Corners 22">
            <a:extLst>
              <a:ext uri="{FF2B5EF4-FFF2-40B4-BE49-F238E27FC236}">
                <a16:creationId xmlns:a16="http://schemas.microsoft.com/office/drawing/2014/main" id="{9FDE5770-AEBF-B438-D228-A85F556C4C0A}"/>
              </a:ext>
            </a:extLst>
          </p:cNvPr>
          <p:cNvSpPr/>
          <p:nvPr/>
        </p:nvSpPr>
        <p:spPr bwMode="auto">
          <a:xfrm>
            <a:off x="7211731" y="4274911"/>
            <a:ext cx="2052000" cy="774000"/>
          </a:xfrm>
          <a:prstGeom prst="roundRect">
            <a:avLst/>
          </a:prstGeom>
          <a:solidFill>
            <a:schemeClr val="bg1">
              <a:lumMod val="95000"/>
            </a:schemeClr>
          </a:solidFill>
          <a:ln w="19050">
            <a:solidFill>
              <a:srgbClr val="0D73BB"/>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Successful backfilling at CA1 and CA3 assets, and new leasing incentive scheme demonstrate </a:t>
            </a:r>
            <a:r>
              <a:rPr lang="en-US" sz="900">
                <a:solidFill>
                  <a:schemeClr val="tx1"/>
                </a:solidFill>
              </a:rPr>
              <a:t>proactive asset management</a:t>
            </a:r>
          </a:p>
        </p:txBody>
      </p:sp>
      <p:sp>
        <p:nvSpPr>
          <p:cNvPr id="24" name="Rectangle: Rounded Corners 23">
            <a:extLst>
              <a:ext uri="{FF2B5EF4-FFF2-40B4-BE49-F238E27FC236}">
                <a16:creationId xmlns:a16="http://schemas.microsoft.com/office/drawing/2014/main" id="{B2B68229-B464-14AA-C508-720C7193693B}"/>
              </a:ext>
            </a:extLst>
          </p:cNvPr>
          <p:cNvSpPr/>
          <p:nvPr/>
        </p:nvSpPr>
        <p:spPr bwMode="auto">
          <a:xfrm>
            <a:off x="7211731" y="5244663"/>
            <a:ext cx="2052000" cy="774000"/>
          </a:xfrm>
          <a:prstGeom prst="roundRect">
            <a:avLst/>
          </a:prstGeom>
          <a:solidFill>
            <a:schemeClr val="bg1">
              <a:lumMod val="95000"/>
            </a:schemeClr>
          </a:solidFill>
          <a:ln w="19050">
            <a:solidFill>
              <a:srgbClr val="0D73BB"/>
            </a:solidFill>
            <a:prstDash val="solid"/>
          </a:ln>
          <a:effectLst>
            <a:outerShdw blurRad="50800" dist="38100" dir="2700000" algn="tl" rotWithShape="0">
              <a:prstClr val="black">
                <a:alpha val="40000"/>
              </a:prstClr>
            </a:outerShdw>
          </a:effectLst>
        </p:spPr>
        <p:txBody>
          <a:bodyPr wrap="square" lIns="36000" tIns="36000" rIns="36000" bIns="36000" rtlCol="0" anchor="ctr">
            <a:noAutofit/>
          </a:bodyPr>
          <a:lstStyle/>
          <a:p>
            <a:pPr algn="ctr">
              <a:spcAft>
                <a:spcPts val="600"/>
              </a:spcAft>
            </a:pPr>
            <a:r>
              <a:rPr lang="en-US" sz="900" b="0">
                <a:solidFill>
                  <a:schemeClr val="tx1"/>
                </a:solidFill>
              </a:rPr>
              <a:t>Solid fundamentals, healthy leasing momentum, and positive rental reversions</a:t>
            </a:r>
          </a:p>
        </p:txBody>
      </p:sp>
    </p:spTree>
    <p:extLst>
      <p:ext uri="{BB962C8B-B14F-4D97-AF65-F5344CB8AC3E}">
        <p14:creationId xmlns:p14="http://schemas.microsoft.com/office/powerpoint/2010/main" val="3191015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24040-970D-930A-E4D9-EF52F3DF7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4DCE5-E7D1-7015-9F24-3BF43BBE89EC}"/>
              </a:ext>
            </a:extLst>
          </p:cNvPr>
          <p:cNvSpPr>
            <a:spLocks noGrp="1"/>
          </p:cNvSpPr>
          <p:nvPr>
            <p:ph type="title"/>
          </p:nvPr>
        </p:nvSpPr>
        <p:spPr>
          <a:xfrm>
            <a:off x="452437" y="244800"/>
            <a:ext cx="9093899" cy="576000"/>
          </a:xfrm>
        </p:spPr>
        <p:txBody>
          <a:bodyPr/>
          <a:lstStyle/>
          <a:p>
            <a:r>
              <a:rPr lang="en-US"/>
              <a:t>[ ]</a:t>
            </a:r>
            <a:endParaRPr lang="en-SG"/>
          </a:p>
        </p:txBody>
      </p:sp>
      <p:sp>
        <p:nvSpPr>
          <p:cNvPr id="4" name="Text Placeholder 3">
            <a:extLst>
              <a:ext uri="{FF2B5EF4-FFF2-40B4-BE49-F238E27FC236}">
                <a16:creationId xmlns:a16="http://schemas.microsoft.com/office/drawing/2014/main" id="{D572EA27-34C2-E927-EA4B-1452B2CAC80F}"/>
              </a:ext>
            </a:extLst>
          </p:cNvPr>
          <p:cNvSpPr>
            <a:spLocks noGrp="1"/>
          </p:cNvSpPr>
          <p:nvPr>
            <p:ph type="body" sz="quarter" idx="46"/>
          </p:nvPr>
        </p:nvSpPr>
        <p:spPr/>
        <p:txBody>
          <a:bodyPr/>
          <a:lstStyle/>
          <a:p>
            <a:pPr marL="0" indent="0">
              <a:buNone/>
            </a:pPr>
            <a:r>
              <a:rPr lang="en-US" sz="800"/>
              <a:t>Source: Bloomberg as at 24 April 2026. Latest analyst reports as at 30 April 2026</a:t>
            </a:r>
          </a:p>
          <a:p>
            <a:pPr marL="0" indent="0">
              <a:buNone/>
            </a:pPr>
            <a:r>
              <a:rPr lang="en-US" sz="800"/>
              <a:t>Note: Chart not to exact scale</a:t>
            </a:r>
            <a:endParaRPr lang="en-SG" sz="800"/>
          </a:p>
        </p:txBody>
      </p:sp>
      <p:sp>
        <p:nvSpPr>
          <p:cNvPr id="25" name="TextBox 24">
            <a:extLst>
              <a:ext uri="{FF2B5EF4-FFF2-40B4-BE49-F238E27FC236}">
                <a16:creationId xmlns:a16="http://schemas.microsoft.com/office/drawing/2014/main" id="{66265C79-0D44-CDCE-4CE5-56F56CFCBE41}"/>
              </a:ext>
            </a:extLst>
          </p:cNvPr>
          <p:cNvSpPr txBox="1"/>
          <p:nvPr/>
        </p:nvSpPr>
        <p:spPr>
          <a:xfrm>
            <a:off x="453001" y="2048984"/>
            <a:ext cx="3500232" cy="1836000"/>
          </a:xfrm>
          <a:prstGeom prst="rect">
            <a:avLst/>
          </a:prstGeom>
          <a:noFill/>
          <a:ln w="6350">
            <a:solidFill>
              <a:schemeClr val="bg1">
                <a:lumMod val="75000"/>
              </a:schemeClr>
            </a:solidFill>
            <a:prstDash val="dash"/>
          </a:ln>
        </p:spPr>
        <p:txBody>
          <a:bodyPr wrap="square" lIns="36000" tIns="72000" rIns="36000" bIns="36000" rtlCol="0" anchor="t">
            <a:noAutofit/>
          </a:bodyPr>
          <a:lstStyle/>
          <a:p>
            <a:pPr marL="171450" indent="-171450" algn="l">
              <a:spcAft>
                <a:spcPts val="600"/>
              </a:spcAft>
              <a:buFont typeface="Wingdings" panose="05000000000000000000" pitchFamily="2" charset="2"/>
              <a:buChar char="ü"/>
            </a:pPr>
            <a:r>
              <a:rPr lang="en-US" sz="1000" b="0">
                <a:solidFill>
                  <a:schemeClr val="tx1"/>
                </a:solidFill>
              </a:rPr>
              <a:t>Asia focus – 66% of portfolio anchored by assets in</a:t>
            </a:r>
            <a:r>
              <a:rPr lang="en-US" sz="1000">
                <a:solidFill>
                  <a:schemeClr val="tx1"/>
                </a:solidFill>
              </a:rPr>
              <a:t> Singapore</a:t>
            </a:r>
            <a:endParaRPr lang="en-US" sz="1000" b="0">
              <a:solidFill>
                <a:schemeClr val="tx1"/>
              </a:solidFill>
            </a:endParaRPr>
          </a:p>
          <a:p>
            <a:pPr marL="171450" indent="-171450" algn="l">
              <a:spcAft>
                <a:spcPts val="600"/>
              </a:spcAft>
              <a:buFont typeface="Wingdings" panose="05000000000000000000" pitchFamily="2" charset="2"/>
              <a:buChar char="ü"/>
            </a:pPr>
            <a:r>
              <a:rPr lang="en-US" sz="1000" b="0">
                <a:solidFill>
                  <a:schemeClr val="tx1"/>
                </a:solidFill>
              </a:rPr>
              <a:t>Strong </a:t>
            </a:r>
            <a:r>
              <a:rPr lang="en-US" sz="1000">
                <a:solidFill>
                  <a:schemeClr val="tx1"/>
                </a:solidFill>
              </a:rPr>
              <a:t>rental reversions of +51%</a:t>
            </a:r>
            <a:r>
              <a:rPr lang="en-US" sz="1000" b="0">
                <a:solidFill>
                  <a:schemeClr val="tx1"/>
                </a:solidFill>
              </a:rPr>
              <a:t> in 1Q26</a:t>
            </a:r>
          </a:p>
          <a:p>
            <a:pPr marL="171450" indent="-171450" algn="l">
              <a:spcAft>
                <a:spcPts val="600"/>
              </a:spcAft>
              <a:buFont typeface="Wingdings" panose="05000000000000000000" pitchFamily="2" charset="2"/>
              <a:buChar char="ü"/>
            </a:pPr>
            <a:r>
              <a:rPr lang="en-US" sz="1000" b="0">
                <a:solidFill>
                  <a:schemeClr val="tx1"/>
                </a:solidFill>
              </a:rPr>
              <a:t>Access to </a:t>
            </a:r>
            <a:r>
              <a:rPr lang="en-US" sz="1000">
                <a:solidFill>
                  <a:schemeClr val="tx1"/>
                </a:solidFill>
              </a:rPr>
              <a:t>Sponsor’s pipeline</a:t>
            </a:r>
            <a:r>
              <a:rPr lang="en-US" sz="1000" b="0">
                <a:solidFill>
                  <a:schemeClr val="tx1"/>
                </a:solidFill>
              </a:rPr>
              <a:t> and track record of successful execution </a:t>
            </a:r>
          </a:p>
          <a:p>
            <a:pPr marL="171450" indent="-171450">
              <a:spcAft>
                <a:spcPts val="600"/>
              </a:spcAft>
              <a:buFont typeface="Wingdings" panose="05000000000000000000" pitchFamily="2" charset="2"/>
              <a:buChar char="ü"/>
            </a:pPr>
            <a:r>
              <a:rPr lang="en-US" sz="1000" b="0">
                <a:solidFill>
                  <a:schemeClr val="tx1"/>
                </a:solidFill>
              </a:rPr>
              <a:t>Significant </a:t>
            </a:r>
            <a:r>
              <a:rPr lang="en-US" sz="1000">
                <a:solidFill>
                  <a:schemeClr val="tx1"/>
                </a:solidFill>
              </a:rPr>
              <a:t>debt headroom with low WACC</a:t>
            </a:r>
            <a:r>
              <a:rPr lang="en-US" sz="1000" b="0">
                <a:solidFill>
                  <a:schemeClr val="tx1"/>
                </a:solidFill>
              </a:rPr>
              <a:t>, positioned for further accretive acquisitions</a:t>
            </a:r>
            <a:endParaRPr lang="en-US" sz="1000">
              <a:solidFill>
                <a:schemeClr val="tx1"/>
              </a:solidFill>
            </a:endParaRPr>
          </a:p>
          <a:p>
            <a:pPr marL="171450" indent="-171450" algn="l">
              <a:spcAft>
                <a:spcPts val="600"/>
              </a:spcAft>
              <a:buFont typeface="Wingdings" panose="05000000000000000000" pitchFamily="2" charset="2"/>
              <a:buChar char="ü"/>
            </a:pPr>
            <a:r>
              <a:rPr lang="en-US" sz="1000">
                <a:solidFill>
                  <a:schemeClr val="tx1"/>
                </a:solidFill>
              </a:rPr>
              <a:t>Size, scale and index inclusion </a:t>
            </a:r>
            <a:r>
              <a:rPr lang="en-US" sz="1000" b="0">
                <a:solidFill>
                  <a:schemeClr val="tx1"/>
                </a:solidFill>
              </a:rPr>
              <a:t>given KDC REIT is an STI Index constituent</a:t>
            </a:r>
          </a:p>
        </p:txBody>
      </p:sp>
      <p:sp>
        <p:nvSpPr>
          <p:cNvPr id="26" name="TextBox 25">
            <a:extLst>
              <a:ext uri="{FF2B5EF4-FFF2-40B4-BE49-F238E27FC236}">
                <a16:creationId xmlns:a16="http://schemas.microsoft.com/office/drawing/2014/main" id="{BA7D2611-17F8-B4FD-07AC-B7FDA4637171}"/>
              </a:ext>
            </a:extLst>
          </p:cNvPr>
          <p:cNvSpPr txBox="1"/>
          <p:nvPr/>
        </p:nvSpPr>
        <p:spPr>
          <a:xfrm>
            <a:off x="6338656" y="2067153"/>
            <a:ext cx="1532243" cy="1836000"/>
          </a:xfrm>
          <a:prstGeom prst="rect">
            <a:avLst/>
          </a:prstGeom>
          <a:noFill/>
          <a:ln w="6350">
            <a:solidFill>
              <a:schemeClr val="bg1">
                <a:lumMod val="75000"/>
              </a:schemeClr>
            </a:solidFill>
            <a:prstDash val="dash"/>
          </a:ln>
        </p:spPr>
        <p:txBody>
          <a:bodyPr wrap="square" lIns="36000" tIns="36000" rIns="36000" bIns="36000" rtlCol="0" anchor="t">
            <a:noAutofit/>
          </a:bodyPr>
          <a:lstStyle/>
          <a:p>
            <a:pPr marL="171450" indent="-171450">
              <a:spcAft>
                <a:spcPts val="600"/>
              </a:spcAft>
              <a:buFont typeface="Wingdings" panose="05000000000000000000" pitchFamily="2" charset="2"/>
              <a:buChar char="û"/>
            </a:pPr>
            <a:r>
              <a:rPr lang="en-US" sz="1000">
                <a:solidFill>
                  <a:schemeClr val="tx1"/>
                </a:solidFill>
              </a:rPr>
              <a:t>Earnings drag</a:t>
            </a:r>
            <a:r>
              <a:rPr lang="en-US" sz="1000" b="0">
                <a:solidFill>
                  <a:schemeClr val="tx1"/>
                </a:solidFill>
              </a:rPr>
              <a:t> due to major refurbishment of Linton Hall</a:t>
            </a:r>
          </a:p>
          <a:p>
            <a:pPr marL="171450" indent="-171450">
              <a:spcAft>
                <a:spcPts val="600"/>
              </a:spcAft>
              <a:buFont typeface="Wingdings" panose="05000000000000000000" pitchFamily="2" charset="2"/>
              <a:buChar char="ü"/>
            </a:pPr>
            <a:r>
              <a:rPr lang="en-US" sz="1000" b="0">
                <a:solidFill>
                  <a:schemeClr val="tx1"/>
                </a:solidFill>
              </a:rPr>
              <a:t>Potential for re-rating when lease commences in Dec 2026</a:t>
            </a:r>
          </a:p>
          <a:p>
            <a:pPr marL="171450" indent="-171450">
              <a:spcAft>
                <a:spcPts val="600"/>
              </a:spcAft>
              <a:buFont typeface="Wingdings" panose="05000000000000000000" pitchFamily="2" charset="2"/>
              <a:buChar char="ü"/>
            </a:pPr>
            <a:r>
              <a:rPr lang="en-US" sz="1000" b="0">
                <a:solidFill>
                  <a:schemeClr val="tx1"/>
                </a:solidFill>
              </a:rPr>
              <a:t>Healthy debt for further accretive acquisitions</a:t>
            </a:r>
          </a:p>
        </p:txBody>
      </p:sp>
      <p:sp>
        <p:nvSpPr>
          <p:cNvPr id="27" name="TextBox 26">
            <a:extLst>
              <a:ext uri="{FF2B5EF4-FFF2-40B4-BE49-F238E27FC236}">
                <a16:creationId xmlns:a16="http://schemas.microsoft.com/office/drawing/2014/main" id="{8AE3EB72-6A54-7F3E-48CA-43E00DD3BED1}"/>
              </a:ext>
            </a:extLst>
          </p:cNvPr>
          <p:cNvSpPr txBox="1"/>
          <p:nvPr/>
        </p:nvSpPr>
        <p:spPr>
          <a:xfrm>
            <a:off x="453001" y="1024228"/>
            <a:ext cx="9000000" cy="488201"/>
          </a:xfrm>
          <a:prstGeom prst="rect">
            <a:avLst/>
          </a:prstGeom>
          <a:solidFill>
            <a:schemeClr val="bg1">
              <a:lumMod val="95000"/>
            </a:schemeClr>
          </a:solidFill>
          <a:ln w="6350">
            <a:noFill/>
            <a:prstDash val="dash"/>
          </a:ln>
        </p:spPr>
        <p:txBody>
          <a:bodyPr wrap="square" lIns="36000" tIns="36000" rIns="36000" bIns="36000" rtlCol="0" anchor="ctr">
            <a:spAutoFit/>
          </a:bodyPr>
          <a:lstStyle/>
          <a:p>
            <a:pPr marL="171450" indent="-171450" algn="l">
              <a:spcAft>
                <a:spcPts val="600"/>
              </a:spcAft>
              <a:buFont typeface="Arial" panose="020B0604020202020204" pitchFamily="34" charset="0"/>
              <a:buChar char="•"/>
            </a:pPr>
            <a:r>
              <a:rPr lang="en-US" sz="1100">
                <a:solidFill>
                  <a:schemeClr val="tx1"/>
                </a:solidFill>
              </a:rPr>
              <a:t>A ‘two-tier’ market for data </a:t>
            </a:r>
            <a:r>
              <a:rPr lang="en-US" sz="1100" err="1">
                <a:solidFill>
                  <a:schemeClr val="tx1"/>
                </a:solidFill>
              </a:rPr>
              <a:t>centre</a:t>
            </a:r>
            <a:r>
              <a:rPr lang="en-US" sz="1100">
                <a:solidFill>
                  <a:schemeClr val="tx1"/>
                </a:solidFill>
              </a:rPr>
              <a:t> REITs, as investors become discerning of data </a:t>
            </a:r>
            <a:r>
              <a:rPr lang="en-US" sz="1100" err="1">
                <a:solidFill>
                  <a:schemeClr val="tx1"/>
                </a:solidFill>
              </a:rPr>
              <a:t>centre</a:t>
            </a:r>
            <a:r>
              <a:rPr lang="en-US" sz="1100">
                <a:solidFill>
                  <a:schemeClr val="tx1"/>
                </a:solidFill>
              </a:rPr>
              <a:t> location, quality and leasing performance</a:t>
            </a:r>
          </a:p>
          <a:p>
            <a:pPr marL="171450" indent="-171450" algn="l">
              <a:spcAft>
                <a:spcPts val="600"/>
              </a:spcAft>
              <a:buFont typeface="Arial" panose="020B0604020202020204" pitchFamily="34" charset="0"/>
              <a:buChar char="•"/>
            </a:pPr>
            <a:r>
              <a:rPr lang="en-SG" sz="1100">
                <a:solidFill>
                  <a:schemeClr val="tx1"/>
                </a:solidFill>
              </a:rPr>
              <a:t>High-specs data centres designed to hyperscale requirements will command premium valuations</a:t>
            </a:r>
            <a:endParaRPr lang="en-SG" sz="1100">
              <a:solidFill>
                <a:schemeClr val="tx1"/>
              </a:solidFill>
              <a:highlight>
                <a:srgbClr val="FFFF00"/>
              </a:highlight>
            </a:endParaRPr>
          </a:p>
        </p:txBody>
      </p:sp>
      <p:sp>
        <p:nvSpPr>
          <p:cNvPr id="14" name="TextBox 13">
            <a:extLst>
              <a:ext uri="{FF2B5EF4-FFF2-40B4-BE49-F238E27FC236}">
                <a16:creationId xmlns:a16="http://schemas.microsoft.com/office/drawing/2014/main" id="{854DF0F0-B928-8AC6-3AFD-7B69CBCF8839}"/>
              </a:ext>
            </a:extLst>
          </p:cNvPr>
          <p:cNvSpPr txBox="1"/>
          <p:nvPr/>
        </p:nvSpPr>
        <p:spPr>
          <a:xfrm>
            <a:off x="7899317" y="2067153"/>
            <a:ext cx="1548695" cy="1836000"/>
          </a:xfrm>
          <a:prstGeom prst="rect">
            <a:avLst/>
          </a:prstGeom>
          <a:noFill/>
          <a:ln w="6350">
            <a:solidFill>
              <a:schemeClr val="bg1">
                <a:lumMod val="75000"/>
              </a:schemeClr>
            </a:solidFill>
            <a:prstDash val="dash"/>
          </a:ln>
        </p:spPr>
        <p:txBody>
          <a:bodyPr wrap="square" lIns="36000" tIns="36000" rIns="36000" bIns="36000" rtlCol="0" anchor="t">
            <a:noAutofit/>
          </a:bodyPr>
          <a:lstStyle/>
          <a:p>
            <a:pPr marL="171450" indent="-171450">
              <a:spcAft>
                <a:spcPts val="600"/>
              </a:spcAft>
              <a:buFont typeface="Wingdings" panose="05000000000000000000" pitchFamily="2" charset="2"/>
              <a:buChar char="û"/>
            </a:pPr>
            <a:r>
              <a:rPr lang="en-US" sz="1000" b="0">
                <a:solidFill>
                  <a:schemeClr val="tx1"/>
                </a:solidFill>
              </a:rPr>
              <a:t>Certain hyperscale and non-hyperscale </a:t>
            </a:r>
            <a:r>
              <a:rPr lang="en-US" sz="1000">
                <a:solidFill>
                  <a:schemeClr val="tx1"/>
                </a:solidFill>
              </a:rPr>
              <a:t>rents remain significantly below market</a:t>
            </a:r>
          </a:p>
          <a:p>
            <a:pPr marL="171450" indent="-171450">
              <a:spcAft>
                <a:spcPts val="600"/>
              </a:spcAft>
              <a:buFont typeface="Wingdings" panose="05000000000000000000" pitchFamily="2" charset="2"/>
              <a:buChar char="û"/>
            </a:pPr>
            <a:r>
              <a:rPr lang="en-US" sz="1000" b="0">
                <a:solidFill>
                  <a:schemeClr val="tx1"/>
                </a:solidFill>
              </a:rPr>
              <a:t>Pending realignment of </a:t>
            </a:r>
            <a:r>
              <a:rPr lang="en-US" sz="1000">
                <a:solidFill>
                  <a:schemeClr val="tx1"/>
                </a:solidFill>
              </a:rPr>
              <a:t>management fees</a:t>
            </a:r>
          </a:p>
          <a:p>
            <a:pPr marL="171450" indent="-171450">
              <a:spcAft>
                <a:spcPts val="600"/>
              </a:spcAft>
              <a:buFont typeface="Wingdings" panose="05000000000000000000" pitchFamily="2" charset="2"/>
              <a:buChar char="ü"/>
            </a:pPr>
            <a:r>
              <a:rPr lang="en-US" sz="1000" b="0">
                <a:solidFill>
                  <a:schemeClr val="tx1"/>
                </a:solidFill>
              </a:rPr>
              <a:t>Healthy leasing momentum</a:t>
            </a:r>
          </a:p>
          <a:p>
            <a:pPr marL="171450" indent="-171450">
              <a:spcAft>
                <a:spcPts val="600"/>
              </a:spcAft>
              <a:buFont typeface="Wingdings" panose="05000000000000000000" pitchFamily="2" charset="2"/>
              <a:buChar char="ü"/>
            </a:pPr>
            <a:r>
              <a:rPr lang="en-US" sz="1000" b="0">
                <a:solidFill>
                  <a:schemeClr val="tx1"/>
                </a:solidFill>
              </a:rPr>
              <a:t>Positive rental reversions</a:t>
            </a:r>
          </a:p>
        </p:txBody>
      </p:sp>
      <p:sp>
        <p:nvSpPr>
          <p:cNvPr id="15" name="Rectangle: Rounded Corners 14">
            <a:extLst>
              <a:ext uri="{FF2B5EF4-FFF2-40B4-BE49-F238E27FC236}">
                <a16:creationId xmlns:a16="http://schemas.microsoft.com/office/drawing/2014/main" id="{7F1A4EB1-3E08-003F-88A1-4FFCDF638E39}"/>
              </a:ext>
            </a:extLst>
          </p:cNvPr>
          <p:cNvSpPr/>
          <p:nvPr/>
        </p:nvSpPr>
        <p:spPr bwMode="auto">
          <a:xfrm>
            <a:off x="453000" y="1719161"/>
            <a:ext cx="3500231" cy="237511"/>
          </a:xfrm>
          <a:prstGeom prst="roundRect">
            <a:avLst>
              <a:gd name="adj" fmla="val 50000"/>
            </a:avLst>
          </a:prstGeom>
          <a:solidFill>
            <a:srgbClr val="089C8B"/>
          </a:solidFill>
          <a:ln>
            <a:noFill/>
          </a:ln>
          <a:effectLst>
            <a:outerShdw blurRad="50800" dist="38100" dir="2700000" algn="ctr" rotWithShape="0">
              <a:schemeClr val="tx1">
                <a:alpha val="40000"/>
              </a:schemeClr>
            </a:outerShdw>
          </a:effectLst>
        </p:spPr>
        <p:txBody>
          <a:bodyPr vert="horz" wrap="square" lIns="36000" tIns="36000" rIns="36000" bIns="36000" numCol="1" rtlCol="0" anchor="ctr" anchorCtr="0" compatLnSpc="1">
            <a:prstTxWarp prst="textNoShape">
              <a:avLst/>
            </a:prstTxWarp>
          </a:bodyPr>
          <a:lstStyle/>
          <a:p>
            <a:pPr marR="0" algn="ctr" defTabSz="914400" rtl="0" eaLnBrk="0" fontAlgn="base" latinLnBrk="0" hangingPunct="0">
              <a:lnSpc>
                <a:spcPct val="110000"/>
              </a:lnSpc>
              <a:spcBef>
                <a:spcPct val="0"/>
              </a:spcBef>
              <a:spcAft>
                <a:spcPct val="0"/>
              </a:spcAft>
              <a:buClrTx/>
              <a:buSzTx/>
              <a:tabLst/>
            </a:pPr>
            <a:r>
              <a:rPr kumimoji="0" lang="en-US" sz="1000" i="0" u="none" strike="noStrike" cap="none" normalizeH="0" baseline="0">
                <a:ln>
                  <a:noFill/>
                </a:ln>
                <a:solidFill>
                  <a:schemeClr val="bg1"/>
                </a:solidFill>
                <a:effectLst/>
                <a:latin typeface="Arial" panose="020B0604020202020204" pitchFamily="34" charset="0"/>
              </a:rPr>
              <a:t>Reasons for Keppel DC REIT’s premium valuation</a:t>
            </a:r>
          </a:p>
        </p:txBody>
      </p:sp>
      <p:sp>
        <p:nvSpPr>
          <p:cNvPr id="28" name="Rectangle: Rounded Corners 27">
            <a:extLst>
              <a:ext uri="{FF2B5EF4-FFF2-40B4-BE49-F238E27FC236}">
                <a16:creationId xmlns:a16="http://schemas.microsoft.com/office/drawing/2014/main" id="{6066A5F9-BEB2-3355-268D-B7681CA3FC9B}"/>
              </a:ext>
            </a:extLst>
          </p:cNvPr>
          <p:cNvSpPr/>
          <p:nvPr/>
        </p:nvSpPr>
        <p:spPr bwMode="auto">
          <a:xfrm>
            <a:off x="4714875" y="1747736"/>
            <a:ext cx="4733138" cy="237511"/>
          </a:xfrm>
          <a:prstGeom prst="roundRect">
            <a:avLst>
              <a:gd name="adj" fmla="val 50000"/>
            </a:avLst>
          </a:prstGeom>
          <a:solidFill>
            <a:srgbClr val="089C8B"/>
          </a:solidFill>
          <a:ln>
            <a:noFill/>
          </a:ln>
          <a:effectLst>
            <a:outerShdw blurRad="50800" dist="38100" dir="2700000" algn="ctr" rotWithShape="0">
              <a:schemeClr val="tx1">
                <a:alpha val="40000"/>
              </a:schemeClr>
            </a:outerShdw>
          </a:effectLst>
        </p:spPr>
        <p:txBody>
          <a:bodyPr vert="horz" wrap="square" lIns="36000" tIns="36000" rIns="36000" bIns="36000" numCol="1" rtlCol="0" anchor="ctr" anchorCtr="0" compatLnSpc="1">
            <a:prstTxWarp prst="textNoShape">
              <a:avLst/>
            </a:prstTxWarp>
          </a:bodyPr>
          <a:lstStyle/>
          <a:p>
            <a:pPr algn="ctr" eaLnBrk="0" hangingPunct="0">
              <a:lnSpc>
                <a:spcPct val="110000"/>
              </a:lnSpc>
            </a:pPr>
            <a:r>
              <a:rPr lang="en-US" sz="900">
                <a:solidFill>
                  <a:schemeClr val="bg1"/>
                </a:solidFill>
                <a:latin typeface="Arial" panose="020B0604020202020204" pitchFamily="34" charset="0"/>
              </a:rPr>
              <a:t>Comparison against other DC REITs</a:t>
            </a:r>
          </a:p>
        </p:txBody>
      </p:sp>
      <p:sp>
        <p:nvSpPr>
          <p:cNvPr id="9" name="Slide Number Placeholder 8">
            <a:extLst>
              <a:ext uri="{FF2B5EF4-FFF2-40B4-BE49-F238E27FC236}">
                <a16:creationId xmlns:a16="http://schemas.microsoft.com/office/drawing/2014/main" id="{4318AC30-7A9D-AF48-8D7C-5FB25D31E058}"/>
              </a:ext>
            </a:extLst>
          </p:cNvPr>
          <p:cNvSpPr>
            <a:spLocks noGrp="1"/>
          </p:cNvSpPr>
          <p:nvPr>
            <p:ph type="sldNum" sz="quarter" idx="11"/>
          </p:nvPr>
        </p:nvSpPr>
        <p:spPr/>
        <p:txBody>
          <a:bodyPr/>
          <a:lstStyle/>
          <a:p>
            <a:pPr>
              <a:defRPr/>
            </a:pPr>
            <a:fld id="{EED7964B-8F50-47E5-B5EE-37748C966AF4}" type="slidenum">
              <a:rPr lang="en-US" smtClean="0"/>
              <a:pPr>
                <a:defRPr/>
              </a:pPr>
              <a:t>10</a:t>
            </a:fld>
            <a:endParaRPr lang="en-US"/>
          </a:p>
        </p:txBody>
      </p:sp>
      <p:sp>
        <p:nvSpPr>
          <p:cNvPr id="3" name="TextBox 2">
            <a:extLst>
              <a:ext uri="{FF2B5EF4-FFF2-40B4-BE49-F238E27FC236}">
                <a16:creationId xmlns:a16="http://schemas.microsoft.com/office/drawing/2014/main" id="{A40A2D94-E282-0459-D4DB-70E63A06E1C9}"/>
              </a:ext>
            </a:extLst>
          </p:cNvPr>
          <p:cNvSpPr txBox="1"/>
          <p:nvPr/>
        </p:nvSpPr>
        <p:spPr>
          <a:xfrm>
            <a:off x="4763333" y="2071604"/>
            <a:ext cx="1532243" cy="1836000"/>
          </a:xfrm>
          <a:prstGeom prst="rect">
            <a:avLst/>
          </a:prstGeom>
          <a:noFill/>
          <a:ln w="6350">
            <a:solidFill>
              <a:schemeClr val="bg1">
                <a:lumMod val="75000"/>
              </a:schemeClr>
            </a:solidFill>
            <a:prstDash val="dash"/>
          </a:ln>
        </p:spPr>
        <p:txBody>
          <a:bodyPr wrap="square" lIns="36000" tIns="36000" rIns="36000" bIns="36000" rtlCol="0" anchor="t">
            <a:noAutofit/>
          </a:bodyPr>
          <a:lstStyle/>
          <a:p>
            <a:pPr marL="171450" indent="-171450">
              <a:spcAft>
                <a:spcPts val="600"/>
              </a:spcAft>
              <a:buFont typeface="Wingdings" panose="05000000000000000000" pitchFamily="2" charset="2"/>
              <a:buChar char="û"/>
            </a:pPr>
            <a:r>
              <a:rPr lang="en-US" sz="1000">
                <a:solidFill>
                  <a:schemeClr val="tx1"/>
                </a:solidFill>
              </a:rPr>
              <a:t>Higher vacancies </a:t>
            </a:r>
            <a:r>
              <a:rPr lang="en-US" sz="1000" b="0">
                <a:solidFill>
                  <a:schemeClr val="tx1"/>
                </a:solidFill>
              </a:rPr>
              <a:t>in US data center assets</a:t>
            </a:r>
          </a:p>
          <a:p>
            <a:pPr marL="171450" indent="-171450">
              <a:spcAft>
                <a:spcPts val="600"/>
              </a:spcAft>
              <a:buFont typeface="Wingdings" panose="05000000000000000000" pitchFamily="2" charset="2"/>
              <a:buChar char="ü"/>
            </a:pPr>
            <a:r>
              <a:rPr lang="en-US" sz="1000" b="0">
                <a:solidFill>
                  <a:schemeClr val="tx1"/>
                </a:solidFill>
              </a:rPr>
              <a:t>A diversified REIT with industrial and data center assets</a:t>
            </a:r>
          </a:p>
          <a:p>
            <a:pPr marL="171450" indent="-171450">
              <a:spcAft>
                <a:spcPts val="600"/>
              </a:spcAft>
              <a:buFont typeface="Wingdings" panose="05000000000000000000" pitchFamily="2" charset="2"/>
              <a:buChar char="ü"/>
            </a:pPr>
            <a:r>
              <a:rPr lang="en-US" sz="1000" b="0">
                <a:solidFill>
                  <a:schemeClr val="tx1"/>
                </a:solidFill>
              </a:rPr>
              <a:t>Singapore industrial assets supports earnings visibility</a:t>
            </a:r>
          </a:p>
        </p:txBody>
      </p:sp>
      <p:sp>
        <p:nvSpPr>
          <p:cNvPr id="82" name="Rectangle 81">
            <a:extLst>
              <a:ext uri="{FF2B5EF4-FFF2-40B4-BE49-F238E27FC236}">
                <a16:creationId xmlns:a16="http://schemas.microsoft.com/office/drawing/2014/main" id="{EE2DC0E5-EE7E-7EE0-7BC3-18B65349B829}"/>
              </a:ext>
            </a:extLst>
          </p:cNvPr>
          <p:cNvSpPr/>
          <p:nvPr/>
        </p:nvSpPr>
        <p:spPr bwMode="auto">
          <a:xfrm>
            <a:off x="1320800" y="5515428"/>
            <a:ext cx="6889750" cy="618671"/>
          </a:xfrm>
          <a:prstGeom prst="rect">
            <a:avLst/>
          </a:prstGeom>
          <a:solidFill>
            <a:srgbClr val="C0FCF5"/>
          </a:solidFill>
          <a:ln w="19050">
            <a:solidFill>
              <a:schemeClr val="bg1">
                <a:lumMod val="50000"/>
              </a:schemeClr>
            </a:solidFill>
            <a:prstDash val="sysDash"/>
          </a:ln>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pic>
        <p:nvPicPr>
          <p:cNvPr id="84" name="Picture 83">
            <a:extLst>
              <a:ext uri="{FF2B5EF4-FFF2-40B4-BE49-F238E27FC236}">
                <a16:creationId xmlns:a16="http://schemas.microsoft.com/office/drawing/2014/main" id="{E97EE2B2-EB55-5FB4-8D2E-75DC1C201A15}"/>
              </a:ext>
            </a:extLst>
          </p:cNvPr>
          <p:cNvPicPr>
            <a:picLocks noChangeAspect="1"/>
          </p:cNvPicPr>
          <p:nvPr/>
        </p:nvPicPr>
        <p:blipFill>
          <a:blip r:embed="rId2"/>
          <a:stretch>
            <a:fillRect/>
          </a:stretch>
        </p:blipFill>
        <p:spPr>
          <a:xfrm>
            <a:off x="1480754" y="4023624"/>
            <a:ext cx="1587244" cy="286110"/>
          </a:xfrm>
          <a:prstGeom prst="rect">
            <a:avLst/>
          </a:prstGeom>
        </p:spPr>
      </p:pic>
      <p:sp>
        <p:nvSpPr>
          <p:cNvPr id="85" name="Arrow: Left-Right 84">
            <a:extLst>
              <a:ext uri="{FF2B5EF4-FFF2-40B4-BE49-F238E27FC236}">
                <a16:creationId xmlns:a16="http://schemas.microsoft.com/office/drawing/2014/main" id="{E4943CED-34DD-95DB-6C81-E030574F0B8E}"/>
              </a:ext>
            </a:extLst>
          </p:cNvPr>
          <p:cNvSpPr/>
          <p:nvPr/>
        </p:nvSpPr>
        <p:spPr bwMode="auto">
          <a:xfrm>
            <a:off x="453000" y="4961450"/>
            <a:ext cx="9000000" cy="576000"/>
          </a:xfrm>
          <a:prstGeom prst="leftRightArrow">
            <a:avLst/>
          </a:prstGeom>
          <a:solidFill>
            <a:schemeClr val="bg1">
              <a:lumMod val="95000"/>
            </a:schemeClr>
          </a:solidFill>
          <a:ln>
            <a:noFill/>
          </a:ln>
          <a:effectLst>
            <a:outerShdw blurRad="50800" dist="38100" dir="2700000" algn="ctr" rotWithShape="0">
              <a:schemeClr val="tx1">
                <a:alpha val="40000"/>
              </a:schemeClr>
            </a:outerShdw>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cxnSp>
        <p:nvCxnSpPr>
          <p:cNvPr id="86" name="Straight Connector 85">
            <a:extLst>
              <a:ext uri="{FF2B5EF4-FFF2-40B4-BE49-F238E27FC236}">
                <a16:creationId xmlns:a16="http://schemas.microsoft.com/office/drawing/2014/main" id="{078A047D-46FE-7467-C1F2-437378396AAA}"/>
              </a:ext>
            </a:extLst>
          </p:cNvPr>
          <p:cNvCxnSpPr>
            <a:cxnSpLocks/>
          </p:cNvCxnSpPr>
          <p:nvPr/>
        </p:nvCxnSpPr>
        <p:spPr bwMode="auto">
          <a:xfrm>
            <a:off x="2296033" y="4346042"/>
            <a:ext cx="0" cy="903408"/>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sp>
        <p:nvSpPr>
          <p:cNvPr id="87" name="TextBox 86">
            <a:extLst>
              <a:ext uri="{FF2B5EF4-FFF2-40B4-BE49-F238E27FC236}">
                <a16:creationId xmlns:a16="http://schemas.microsoft.com/office/drawing/2014/main" id="{F4BCC030-7E66-3899-E053-6B8A29250868}"/>
              </a:ext>
            </a:extLst>
          </p:cNvPr>
          <p:cNvSpPr txBox="1"/>
          <p:nvPr/>
        </p:nvSpPr>
        <p:spPr>
          <a:xfrm>
            <a:off x="2054288" y="4869138"/>
            <a:ext cx="483489" cy="174851"/>
          </a:xfrm>
          <a:prstGeom prst="rect">
            <a:avLst/>
          </a:prstGeom>
          <a:solidFill>
            <a:schemeClr val="bg1"/>
          </a:solidFill>
          <a:ln w="6350">
            <a:solidFill>
              <a:schemeClr val="bg1">
                <a:lumMod val="65000"/>
              </a:schemeClr>
            </a:solidFill>
            <a:prstDash val="dash"/>
          </a:ln>
        </p:spPr>
        <p:txBody>
          <a:bodyPr wrap="square" lIns="0" tIns="18000" rIns="0" bIns="18000" rtlCol="0" anchor="t">
            <a:spAutoFit/>
          </a:bodyPr>
          <a:lstStyle/>
          <a:p>
            <a:pPr algn="ctr">
              <a:spcAft>
                <a:spcPts val="200"/>
              </a:spcAft>
            </a:pPr>
            <a:r>
              <a:rPr lang="en-US" sz="900">
                <a:solidFill>
                  <a:schemeClr val="tx1"/>
                </a:solidFill>
              </a:rPr>
              <a:t>4.6%</a:t>
            </a:r>
            <a:endParaRPr lang="en-SG" sz="900">
              <a:solidFill>
                <a:schemeClr val="tx1"/>
              </a:solidFill>
            </a:endParaRPr>
          </a:p>
        </p:txBody>
      </p:sp>
      <p:sp>
        <p:nvSpPr>
          <p:cNvPr id="88" name="TextBox 87">
            <a:extLst>
              <a:ext uri="{FF2B5EF4-FFF2-40B4-BE49-F238E27FC236}">
                <a16:creationId xmlns:a16="http://schemas.microsoft.com/office/drawing/2014/main" id="{FCEB3BB0-C98D-BC00-0B07-F5DC394C4C4A}"/>
              </a:ext>
            </a:extLst>
          </p:cNvPr>
          <p:cNvSpPr txBox="1"/>
          <p:nvPr/>
        </p:nvSpPr>
        <p:spPr>
          <a:xfrm>
            <a:off x="722979" y="5172506"/>
            <a:ext cx="1159588" cy="153888"/>
          </a:xfrm>
          <a:prstGeom prst="rect">
            <a:avLst/>
          </a:prstGeom>
          <a:noFill/>
          <a:ln w="6350">
            <a:noFill/>
            <a:prstDash val="dash"/>
          </a:ln>
        </p:spPr>
        <p:txBody>
          <a:bodyPr wrap="square" lIns="0" tIns="0" rIns="0" bIns="0" rtlCol="0" anchor="t">
            <a:spAutoFit/>
          </a:bodyPr>
          <a:lstStyle/>
          <a:p>
            <a:pPr algn="ctr">
              <a:spcAft>
                <a:spcPts val="200"/>
              </a:spcAft>
            </a:pPr>
            <a:r>
              <a:rPr lang="en-US" sz="1000">
                <a:solidFill>
                  <a:schemeClr val="tx1"/>
                </a:solidFill>
              </a:rPr>
              <a:t>CY2026 DPU Yield</a:t>
            </a:r>
            <a:endParaRPr lang="en-SG" sz="1000">
              <a:solidFill>
                <a:schemeClr val="tx1"/>
              </a:solidFill>
            </a:endParaRPr>
          </a:p>
        </p:txBody>
      </p:sp>
      <p:pic>
        <p:nvPicPr>
          <p:cNvPr id="89" name="Picture 88">
            <a:extLst>
              <a:ext uri="{FF2B5EF4-FFF2-40B4-BE49-F238E27FC236}">
                <a16:creationId xmlns:a16="http://schemas.microsoft.com/office/drawing/2014/main" id="{D29CC08C-4FD6-4ABD-B917-53714635E69D}"/>
              </a:ext>
            </a:extLst>
          </p:cNvPr>
          <p:cNvPicPr>
            <a:picLocks noChangeAspect="1"/>
          </p:cNvPicPr>
          <p:nvPr/>
        </p:nvPicPr>
        <p:blipFill>
          <a:blip r:embed="rId3"/>
          <a:stretch>
            <a:fillRect/>
          </a:stretch>
        </p:blipFill>
        <p:spPr>
          <a:xfrm>
            <a:off x="6735855" y="4006988"/>
            <a:ext cx="1024992" cy="319382"/>
          </a:xfrm>
          <a:prstGeom prst="rect">
            <a:avLst/>
          </a:prstGeom>
        </p:spPr>
      </p:pic>
      <p:cxnSp>
        <p:nvCxnSpPr>
          <p:cNvPr id="90" name="Straight Connector 89">
            <a:extLst>
              <a:ext uri="{FF2B5EF4-FFF2-40B4-BE49-F238E27FC236}">
                <a16:creationId xmlns:a16="http://schemas.microsoft.com/office/drawing/2014/main" id="{ECEC254C-89F4-A7C1-8C6A-D91253D57C3A}"/>
              </a:ext>
            </a:extLst>
          </p:cNvPr>
          <p:cNvCxnSpPr>
            <a:cxnSpLocks/>
            <a:stCxn id="91" idx="2"/>
          </p:cNvCxnSpPr>
          <p:nvPr/>
        </p:nvCxnSpPr>
        <p:spPr bwMode="auto">
          <a:xfrm flipH="1">
            <a:off x="7868302" y="5043989"/>
            <a:ext cx="1" cy="205461"/>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EF913232-4E2B-5C3B-2164-A07E34317CD2}"/>
              </a:ext>
            </a:extLst>
          </p:cNvPr>
          <p:cNvSpPr txBox="1"/>
          <p:nvPr/>
        </p:nvSpPr>
        <p:spPr>
          <a:xfrm>
            <a:off x="7626558" y="4869138"/>
            <a:ext cx="483489" cy="174851"/>
          </a:xfrm>
          <a:prstGeom prst="rect">
            <a:avLst/>
          </a:prstGeom>
          <a:solidFill>
            <a:schemeClr val="bg1"/>
          </a:solidFill>
          <a:ln w="6350">
            <a:solidFill>
              <a:schemeClr val="bg1">
                <a:lumMod val="65000"/>
              </a:schemeClr>
            </a:solidFill>
            <a:prstDash val="dash"/>
          </a:ln>
        </p:spPr>
        <p:txBody>
          <a:bodyPr wrap="square" lIns="0" tIns="18000" rIns="0" bIns="18000" rtlCol="0" anchor="t">
            <a:spAutoFit/>
          </a:bodyPr>
          <a:lstStyle/>
          <a:p>
            <a:pPr algn="ctr">
              <a:spcAft>
                <a:spcPts val="200"/>
              </a:spcAft>
            </a:pPr>
            <a:r>
              <a:rPr lang="en-US" sz="900">
                <a:solidFill>
                  <a:schemeClr val="tx1"/>
                </a:solidFill>
              </a:rPr>
              <a:t>6.9%</a:t>
            </a:r>
            <a:endParaRPr lang="en-SG" sz="900">
              <a:solidFill>
                <a:schemeClr val="tx1"/>
              </a:solidFill>
            </a:endParaRPr>
          </a:p>
        </p:txBody>
      </p:sp>
      <p:pic>
        <p:nvPicPr>
          <p:cNvPr id="92" name="Picture 91">
            <a:extLst>
              <a:ext uri="{FF2B5EF4-FFF2-40B4-BE49-F238E27FC236}">
                <a16:creationId xmlns:a16="http://schemas.microsoft.com/office/drawing/2014/main" id="{4CD10FFE-C49C-BB81-7B20-0D90C8CEFE60}"/>
              </a:ext>
            </a:extLst>
          </p:cNvPr>
          <p:cNvPicPr>
            <a:picLocks noChangeAspect="1"/>
          </p:cNvPicPr>
          <p:nvPr/>
        </p:nvPicPr>
        <p:blipFill>
          <a:blip r:embed="rId4"/>
          <a:stretch>
            <a:fillRect/>
          </a:stretch>
        </p:blipFill>
        <p:spPr>
          <a:xfrm>
            <a:off x="7899318" y="3987316"/>
            <a:ext cx="1491544" cy="358726"/>
          </a:xfrm>
          <a:prstGeom prst="rect">
            <a:avLst/>
          </a:prstGeom>
        </p:spPr>
      </p:pic>
      <p:cxnSp>
        <p:nvCxnSpPr>
          <p:cNvPr id="93" name="Straight Connector 92">
            <a:extLst>
              <a:ext uri="{FF2B5EF4-FFF2-40B4-BE49-F238E27FC236}">
                <a16:creationId xmlns:a16="http://schemas.microsoft.com/office/drawing/2014/main" id="{47B3C384-C4C5-D602-E7B0-6650F960EDB8}"/>
              </a:ext>
            </a:extLst>
          </p:cNvPr>
          <p:cNvCxnSpPr>
            <a:cxnSpLocks/>
          </p:cNvCxnSpPr>
          <p:nvPr/>
        </p:nvCxnSpPr>
        <p:spPr bwMode="auto">
          <a:xfrm>
            <a:off x="8558707" y="4346042"/>
            <a:ext cx="0" cy="903408"/>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sp>
        <p:nvSpPr>
          <p:cNvPr id="94" name="TextBox 93">
            <a:extLst>
              <a:ext uri="{FF2B5EF4-FFF2-40B4-BE49-F238E27FC236}">
                <a16:creationId xmlns:a16="http://schemas.microsoft.com/office/drawing/2014/main" id="{119E54EE-2A48-60B9-4670-63A9E063804F}"/>
              </a:ext>
            </a:extLst>
          </p:cNvPr>
          <p:cNvSpPr txBox="1"/>
          <p:nvPr/>
        </p:nvSpPr>
        <p:spPr>
          <a:xfrm>
            <a:off x="8316963" y="4869138"/>
            <a:ext cx="483489" cy="174851"/>
          </a:xfrm>
          <a:prstGeom prst="rect">
            <a:avLst/>
          </a:prstGeom>
          <a:solidFill>
            <a:schemeClr val="bg1"/>
          </a:solidFill>
          <a:ln w="6350">
            <a:solidFill>
              <a:schemeClr val="bg1">
                <a:lumMod val="65000"/>
              </a:schemeClr>
            </a:solidFill>
            <a:prstDash val="dash"/>
          </a:ln>
        </p:spPr>
        <p:txBody>
          <a:bodyPr wrap="square" lIns="0" tIns="18000" rIns="0" bIns="18000" rtlCol="0" anchor="t">
            <a:spAutoFit/>
          </a:bodyPr>
          <a:lstStyle/>
          <a:p>
            <a:pPr algn="ctr">
              <a:spcAft>
                <a:spcPts val="200"/>
              </a:spcAft>
            </a:pPr>
            <a:r>
              <a:rPr lang="en-US" sz="900">
                <a:solidFill>
                  <a:schemeClr val="tx1"/>
                </a:solidFill>
              </a:rPr>
              <a:t>7.6%</a:t>
            </a:r>
            <a:endParaRPr lang="en-SG" sz="900">
              <a:solidFill>
                <a:schemeClr val="tx1"/>
              </a:solidFill>
            </a:endParaRPr>
          </a:p>
        </p:txBody>
      </p:sp>
      <p:cxnSp>
        <p:nvCxnSpPr>
          <p:cNvPr id="95" name="Straight Connector 94">
            <a:extLst>
              <a:ext uri="{FF2B5EF4-FFF2-40B4-BE49-F238E27FC236}">
                <a16:creationId xmlns:a16="http://schemas.microsoft.com/office/drawing/2014/main" id="{CA2CB0A4-F1D1-571A-A86E-980D41B716FF}"/>
              </a:ext>
            </a:extLst>
          </p:cNvPr>
          <p:cNvCxnSpPr>
            <a:cxnSpLocks/>
          </p:cNvCxnSpPr>
          <p:nvPr/>
        </p:nvCxnSpPr>
        <p:spPr bwMode="auto">
          <a:xfrm flipV="1">
            <a:off x="6323141" y="5249450"/>
            <a:ext cx="0" cy="428935"/>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sp>
        <p:nvSpPr>
          <p:cNvPr id="96" name="TextBox 95">
            <a:extLst>
              <a:ext uri="{FF2B5EF4-FFF2-40B4-BE49-F238E27FC236}">
                <a16:creationId xmlns:a16="http://schemas.microsoft.com/office/drawing/2014/main" id="{6B761749-D1C3-4DBC-D9FB-3CAEC9270D1F}"/>
              </a:ext>
            </a:extLst>
          </p:cNvPr>
          <p:cNvSpPr txBox="1"/>
          <p:nvPr/>
        </p:nvSpPr>
        <p:spPr>
          <a:xfrm>
            <a:off x="6410708" y="5543835"/>
            <a:ext cx="1675287" cy="211203"/>
          </a:xfrm>
          <a:prstGeom prst="rect">
            <a:avLst/>
          </a:prstGeom>
          <a:noFill/>
          <a:ln w="6350">
            <a:noFill/>
            <a:prstDash val="dash"/>
          </a:ln>
        </p:spPr>
        <p:txBody>
          <a:bodyPr wrap="square" lIns="0" tIns="36000" rIns="0" bIns="36000" rtlCol="0" anchor="t">
            <a:spAutoFit/>
          </a:bodyPr>
          <a:lstStyle/>
          <a:p>
            <a:pPr>
              <a:spcAft>
                <a:spcPts val="200"/>
              </a:spcAft>
            </a:pPr>
            <a:r>
              <a:rPr lang="en-US" sz="900">
                <a:solidFill>
                  <a:schemeClr val="tx1"/>
                </a:solidFill>
              </a:rPr>
              <a:t>6.4% (Industrial, Hospitality)</a:t>
            </a:r>
            <a:endParaRPr lang="en-SG" sz="900">
              <a:solidFill>
                <a:schemeClr val="tx1"/>
              </a:solidFill>
            </a:endParaRPr>
          </a:p>
        </p:txBody>
      </p:sp>
      <p:cxnSp>
        <p:nvCxnSpPr>
          <p:cNvPr id="97" name="Straight Connector 96">
            <a:extLst>
              <a:ext uri="{FF2B5EF4-FFF2-40B4-BE49-F238E27FC236}">
                <a16:creationId xmlns:a16="http://schemas.microsoft.com/office/drawing/2014/main" id="{7A754B5C-3718-B9AA-0F0D-5CB21B732CB0}"/>
              </a:ext>
            </a:extLst>
          </p:cNvPr>
          <p:cNvCxnSpPr>
            <a:cxnSpLocks/>
          </p:cNvCxnSpPr>
          <p:nvPr/>
        </p:nvCxnSpPr>
        <p:spPr bwMode="auto">
          <a:xfrm flipV="1">
            <a:off x="5065054" y="5249450"/>
            <a:ext cx="0" cy="633190"/>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sp>
        <p:nvSpPr>
          <p:cNvPr id="98" name="TextBox 97">
            <a:extLst>
              <a:ext uri="{FF2B5EF4-FFF2-40B4-BE49-F238E27FC236}">
                <a16:creationId xmlns:a16="http://schemas.microsoft.com/office/drawing/2014/main" id="{F5418339-39F6-255A-1390-5D43CC98CD95}"/>
              </a:ext>
            </a:extLst>
          </p:cNvPr>
          <p:cNvSpPr txBox="1"/>
          <p:nvPr/>
        </p:nvSpPr>
        <p:spPr>
          <a:xfrm>
            <a:off x="4324542" y="5543835"/>
            <a:ext cx="740512" cy="211203"/>
          </a:xfrm>
          <a:prstGeom prst="rect">
            <a:avLst/>
          </a:prstGeom>
          <a:noFill/>
          <a:ln w="6350">
            <a:noFill/>
            <a:prstDash val="dash"/>
          </a:ln>
        </p:spPr>
        <p:txBody>
          <a:bodyPr wrap="square" lIns="0" tIns="36000" rIns="0" bIns="36000" rtlCol="0" anchor="t">
            <a:spAutoFit/>
          </a:bodyPr>
          <a:lstStyle/>
          <a:p>
            <a:pPr>
              <a:spcAft>
                <a:spcPts val="200"/>
              </a:spcAft>
            </a:pPr>
            <a:r>
              <a:rPr lang="en-US" sz="900">
                <a:solidFill>
                  <a:schemeClr val="tx1"/>
                </a:solidFill>
              </a:rPr>
              <a:t>5.9% (Retail)</a:t>
            </a:r>
            <a:endParaRPr lang="en-SG" sz="900">
              <a:solidFill>
                <a:schemeClr val="tx1"/>
              </a:solidFill>
            </a:endParaRPr>
          </a:p>
        </p:txBody>
      </p:sp>
      <p:cxnSp>
        <p:nvCxnSpPr>
          <p:cNvPr id="99" name="Straight Connector 98">
            <a:extLst>
              <a:ext uri="{FF2B5EF4-FFF2-40B4-BE49-F238E27FC236}">
                <a16:creationId xmlns:a16="http://schemas.microsoft.com/office/drawing/2014/main" id="{C71305C6-A330-4D2F-7FFE-CADAFBF99BCA}"/>
              </a:ext>
            </a:extLst>
          </p:cNvPr>
          <p:cNvCxnSpPr>
            <a:cxnSpLocks/>
          </p:cNvCxnSpPr>
          <p:nvPr/>
        </p:nvCxnSpPr>
        <p:spPr bwMode="auto">
          <a:xfrm flipV="1">
            <a:off x="4069774" y="5249450"/>
            <a:ext cx="0" cy="798925"/>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45E1EE94-EB84-8FB6-18C6-F5FD68A94A29}"/>
              </a:ext>
            </a:extLst>
          </p:cNvPr>
          <p:cNvCxnSpPr>
            <a:cxnSpLocks/>
          </p:cNvCxnSpPr>
          <p:nvPr/>
        </p:nvCxnSpPr>
        <p:spPr bwMode="auto">
          <a:xfrm flipV="1">
            <a:off x="5628941" y="5249450"/>
            <a:ext cx="0" cy="833967"/>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8029AC13-1E60-9804-F46B-70D8CA264367}"/>
              </a:ext>
            </a:extLst>
          </p:cNvPr>
          <p:cNvSpPr txBox="1"/>
          <p:nvPr/>
        </p:nvSpPr>
        <p:spPr>
          <a:xfrm>
            <a:off x="5685755" y="5916531"/>
            <a:ext cx="1368657" cy="211203"/>
          </a:xfrm>
          <a:prstGeom prst="rect">
            <a:avLst/>
          </a:prstGeom>
          <a:noFill/>
          <a:ln w="6350">
            <a:noFill/>
            <a:prstDash val="dash"/>
          </a:ln>
        </p:spPr>
        <p:txBody>
          <a:bodyPr wrap="square" lIns="0" tIns="36000" rIns="0" bIns="36000" rtlCol="0" anchor="t">
            <a:spAutoFit/>
          </a:bodyPr>
          <a:lstStyle/>
          <a:p>
            <a:pPr>
              <a:spcAft>
                <a:spcPts val="200"/>
              </a:spcAft>
            </a:pPr>
            <a:r>
              <a:rPr lang="en-US" sz="900">
                <a:solidFill>
                  <a:schemeClr val="tx1"/>
                </a:solidFill>
              </a:rPr>
              <a:t>6.1% (Living)</a:t>
            </a:r>
            <a:endParaRPr lang="en-SG" sz="900">
              <a:solidFill>
                <a:schemeClr val="tx1"/>
              </a:solidFill>
            </a:endParaRPr>
          </a:p>
        </p:txBody>
      </p:sp>
      <p:sp>
        <p:nvSpPr>
          <p:cNvPr id="102" name="TextBox 101">
            <a:extLst>
              <a:ext uri="{FF2B5EF4-FFF2-40B4-BE49-F238E27FC236}">
                <a16:creationId xmlns:a16="http://schemas.microsoft.com/office/drawing/2014/main" id="{2FA7F026-B5A5-94E6-CB4F-24EE227E8175}"/>
              </a:ext>
            </a:extLst>
          </p:cNvPr>
          <p:cNvSpPr txBox="1"/>
          <p:nvPr/>
        </p:nvSpPr>
        <p:spPr>
          <a:xfrm>
            <a:off x="4124936" y="5916531"/>
            <a:ext cx="716012" cy="211203"/>
          </a:xfrm>
          <a:prstGeom prst="rect">
            <a:avLst/>
          </a:prstGeom>
          <a:noFill/>
          <a:ln w="6350">
            <a:noFill/>
            <a:prstDash val="dash"/>
          </a:ln>
        </p:spPr>
        <p:txBody>
          <a:bodyPr wrap="square" lIns="0" tIns="36000" rIns="0" bIns="36000" rtlCol="0" anchor="t">
            <a:spAutoFit/>
          </a:bodyPr>
          <a:lstStyle/>
          <a:p>
            <a:pPr>
              <a:spcAft>
                <a:spcPts val="200"/>
              </a:spcAft>
            </a:pPr>
            <a:r>
              <a:rPr lang="en-US" sz="900">
                <a:solidFill>
                  <a:schemeClr val="tx1"/>
                </a:solidFill>
              </a:rPr>
              <a:t>5.5% (Mixed)</a:t>
            </a:r>
            <a:endParaRPr lang="en-SG" sz="900">
              <a:solidFill>
                <a:schemeClr val="tx1"/>
              </a:solidFill>
            </a:endParaRPr>
          </a:p>
        </p:txBody>
      </p:sp>
      <p:cxnSp>
        <p:nvCxnSpPr>
          <p:cNvPr id="103" name="Straight Connector 102">
            <a:extLst>
              <a:ext uri="{FF2B5EF4-FFF2-40B4-BE49-F238E27FC236}">
                <a16:creationId xmlns:a16="http://schemas.microsoft.com/office/drawing/2014/main" id="{20F3CEF4-FED8-B1F2-FFDB-2F5BA718C11A}"/>
              </a:ext>
            </a:extLst>
          </p:cNvPr>
          <p:cNvCxnSpPr>
            <a:cxnSpLocks/>
          </p:cNvCxnSpPr>
          <p:nvPr/>
        </p:nvCxnSpPr>
        <p:spPr bwMode="auto">
          <a:xfrm flipV="1">
            <a:off x="3408767" y="5249450"/>
            <a:ext cx="0" cy="821342"/>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sp>
        <p:nvSpPr>
          <p:cNvPr id="104" name="TextBox 103">
            <a:extLst>
              <a:ext uri="{FF2B5EF4-FFF2-40B4-BE49-F238E27FC236}">
                <a16:creationId xmlns:a16="http://schemas.microsoft.com/office/drawing/2014/main" id="{84E127BC-D130-22C2-AE13-D8E5657E8E04}"/>
              </a:ext>
            </a:extLst>
          </p:cNvPr>
          <p:cNvSpPr txBox="1"/>
          <p:nvPr/>
        </p:nvSpPr>
        <p:spPr>
          <a:xfrm>
            <a:off x="2016891" y="5916531"/>
            <a:ext cx="1345783" cy="211203"/>
          </a:xfrm>
          <a:prstGeom prst="rect">
            <a:avLst/>
          </a:prstGeom>
          <a:noFill/>
          <a:ln w="6350">
            <a:noFill/>
            <a:prstDash val="dash"/>
          </a:ln>
        </p:spPr>
        <p:txBody>
          <a:bodyPr wrap="square" lIns="0" tIns="36000" rIns="0" bIns="36000" rtlCol="0" anchor="t">
            <a:spAutoFit/>
          </a:bodyPr>
          <a:lstStyle/>
          <a:p>
            <a:pPr algn="r">
              <a:spcAft>
                <a:spcPts val="200"/>
              </a:spcAft>
            </a:pPr>
            <a:r>
              <a:rPr lang="en-US" sz="900">
                <a:solidFill>
                  <a:schemeClr val="tx1"/>
                </a:solidFill>
              </a:rPr>
              <a:t>5.2% (Healthcare)</a:t>
            </a:r>
            <a:endParaRPr lang="en-SG" sz="900">
              <a:solidFill>
                <a:schemeClr val="tx1"/>
              </a:solidFill>
            </a:endParaRPr>
          </a:p>
        </p:txBody>
      </p:sp>
      <p:sp>
        <p:nvSpPr>
          <p:cNvPr id="105" name="TextBox 104">
            <a:extLst>
              <a:ext uri="{FF2B5EF4-FFF2-40B4-BE49-F238E27FC236}">
                <a16:creationId xmlns:a16="http://schemas.microsoft.com/office/drawing/2014/main" id="{9B323BB0-9669-78E0-7908-A1B85EF6E08F}"/>
              </a:ext>
            </a:extLst>
          </p:cNvPr>
          <p:cNvSpPr txBox="1"/>
          <p:nvPr/>
        </p:nvSpPr>
        <p:spPr>
          <a:xfrm>
            <a:off x="1408113" y="5581705"/>
            <a:ext cx="633248" cy="488201"/>
          </a:xfrm>
          <a:prstGeom prst="rect">
            <a:avLst/>
          </a:prstGeom>
          <a:noFill/>
          <a:ln w="6350">
            <a:noFill/>
            <a:prstDash val="dash"/>
          </a:ln>
        </p:spPr>
        <p:txBody>
          <a:bodyPr wrap="square" lIns="0" tIns="36000" rIns="0" bIns="36000" rtlCol="0" anchor="t">
            <a:spAutoFit/>
          </a:bodyPr>
          <a:lstStyle/>
          <a:p>
            <a:pPr>
              <a:spcAft>
                <a:spcPts val="200"/>
              </a:spcAft>
            </a:pPr>
            <a:r>
              <a:rPr lang="en-US" sz="900">
                <a:solidFill>
                  <a:schemeClr val="tx1"/>
                </a:solidFill>
              </a:rPr>
              <a:t>S-REIT Sector Averages:</a:t>
            </a:r>
            <a:endParaRPr lang="en-SG" sz="900">
              <a:solidFill>
                <a:schemeClr val="tx1"/>
              </a:solidFill>
            </a:endParaRPr>
          </a:p>
        </p:txBody>
      </p:sp>
      <p:cxnSp>
        <p:nvCxnSpPr>
          <p:cNvPr id="106" name="Connector: Elbow 105">
            <a:extLst>
              <a:ext uri="{FF2B5EF4-FFF2-40B4-BE49-F238E27FC236}">
                <a16:creationId xmlns:a16="http://schemas.microsoft.com/office/drawing/2014/main" id="{2D0C60F0-B81D-D773-7BCB-6B49EE978DC9}"/>
              </a:ext>
            </a:extLst>
          </p:cNvPr>
          <p:cNvCxnSpPr>
            <a:stCxn id="89" idx="2"/>
            <a:endCxn id="91" idx="0"/>
          </p:cNvCxnSpPr>
          <p:nvPr/>
        </p:nvCxnSpPr>
        <p:spPr bwMode="auto">
          <a:xfrm rot="16200000" flipH="1">
            <a:off x="7286943" y="4287778"/>
            <a:ext cx="542768" cy="619952"/>
          </a:xfrm>
          <a:prstGeom prst="bentConnector3">
            <a:avLst/>
          </a:prstGeom>
          <a:ln w="12700">
            <a:solidFill>
              <a:schemeClr val="bg1">
                <a:lumMod val="50000"/>
              </a:schemeClr>
            </a:solidFill>
            <a:prstDash val="dash"/>
            <a:tailEnd type="none" w="lg" len="lg"/>
          </a:ln>
        </p:spPr>
        <p:style>
          <a:lnRef idx="1">
            <a:schemeClr val="dk1"/>
          </a:lnRef>
          <a:fillRef idx="0">
            <a:schemeClr val="dk1"/>
          </a:fillRef>
          <a:effectRef idx="0">
            <a:schemeClr val="dk1"/>
          </a:effectRef>
          <a:fontRef idx="minor">
            <a:schemeClr val="tx1"/>
          </a:fontRef>
        </p:style>
      </p:cxnSp>
      <p:sp>
        <p:nvSpPr>
          <p:cNvPr id="107" name="TextBox 106">
            <a:extLst>
              <a:ext uri="{FF2B5EF4-FFF2-40B4-BE49-F238E27FC236}">
                <a16:creationId xmlns:a16="http://schemas.microsoft.com/office/drawing/2014/main" id="{1F96844A-484E-EEA2-4EF7-AF79D4C660BD}"/>
              </a:ext>
            </a:extLst>
          </p:cNvPr>
          <p:cNvSpPr txBox="1"/>
          <p:nvPr/>
        </p:nvSpPr>
        <p:spPr>
          <a:xfrm>
            <a:off x="447675" y="4061126"/>
            <a:ext cx="990600" cy="775015"/>
          </a:xfrm>
          <a:prstGeom prst="homePlate">
            <a:avLst>
              <a:gd name="adj" fmla="val 9987"/>
            </a:avLst>
          </a:prstGeom>
          <a:solidFill>
            <a:schemeClr val="tx2">
              <a:lumMod val="20000"/>
              <a:lumOff val="80000"/>
            </a:schemeClr>
          </a:solidFill>
          <a:ln w="6350">
            <a:noFill/>
            <a:prstDash val="dash"/>
          </a:ln>
        </p:spPr>
        <p:txBody>
          <a:bodyPr wrap="square" lIns="18000" tIns="18000" rIns="18000" bIns="18000" rtlCol="0" anchor="t">
            <a:spAutoFit/>
          </a:bodyPr>
          <a:lstStyle/>
          <a:p>
            <a:pPr algn="ctr">
              <a:spcAft>
                <a:spcPts val="300"/>
              </a:spcAft>
            </a:pPr>
            <a:r>
              <a:rPr lang="en-US" sz="1600">
                <a:solidFill>
                  <a:schemeClr val="tx1"/>
                </a:solidFill>
              </a:rPr>
              <a:t>5.4% </a:t>
            </a:r>
          </a:p>
          <a:p>
            <a:pPr algn="ctr">
              <a:spcAft>
                <a:spcPts val="300"/>
              </a:spcAft>
            </a:pPr>
            <a:r>
              <a:rPr lang="en-US" sz="900" b="0">
                <a:solidFill>
                  <a:schemeClr val="tx1"/>
                </a:solidFill>
              </a:rPr>
              <a:t>Average for DC pure-plays</a:t>
            </a:r>
          </a:p>
          <a:p>
            <a:pPr algn="ctr">
              <a:spcAft>
                <a:spcPts val="300"/>
              </a:spcAft>
            </a:pPr>
            <a:r>
              <a:rPr lang="en-US" sz="900" b="0">
                <a:solidFill>
                  <a:schemeClr val="tx1"/>
                </a:solidFill>
              </a:rPr>
              <a:t>(KDC, DC, NTT)</a:t>
            </a:r>
          </a:p>
        </p:txBody>
      </p:sp>
      <p:sp>
        <p:nvSpPr>
          <p:cNvPr id="111" name="TextBox 110">
            <a:extLst>
              <a:ext uri="{FF2B5EF4-FFF2-40B4-BE49-F238E27FC236}">
                <a16:creationId xmlns:a16="http://schemas.microsoft.com/office/drawing/2014/main" id="{EAEC6421-B31E-35E5-5360-4EE4997D3FAB}"/>
              </a:ext>
            </a:extLst>
          </p:cNvPr>
          <p:cNvSpPr txBox="1"/>
          <p:nvPr/>
        </p:nvSpPr>
        <p:spPr>
          <a:xfrm>
            <a:off x="4324542" y="5726887"/>
            <a:ext cx="740512" cy="211203"/>
          </a:xfrm>
          <a:prstGeom prst="rect">
            <a:avLst/>
          </a:prstGeom>
          <a:noFill/>
          <a:ln w="6350">
            <a:noFill/>
            <a:prstDash val="dash"/>
          </a:ln>
        </p:spPr>
        <p:txBody>
          <a:bodyPr wrap="square" lIns="0" tIns="36000" rIns="0" bIns="36000" rtlCol="0" anchor="t">
            <a:spAutoFit/>
          </a:bodyPr>
          <a:lstStyle/>
          <a:p>
            <a:pPr>
              <a:spcAft>
                <a:spcPts val="200"/>
              </a:spcAft>
            </a:pPr>
            <a:r>
              <a:rPr lang="en-US" sz="900">
                <a:solidFill>
                  <a:schemeClr val="tx1"/>
                </a:solidFill>
              </a:rPr>
              <a:t>5.9% (Office)</a:t>
            </a:r>
            <a:endParaRPr lang="en-SG" sz="900">
              <a:solidFill>
                <a:schemeClr val="tx1"/>
              </a:solidFill>
            </a:endParaRPr>
          </a:p>
        </p:txBody>
      </p:sp>
      <p:pic>
        <p:nvPicPr>
          <p:cNvPr id="112" name="Picture 111">
            <a:extLst>
              <a:ext uri="{FF2B5EF4-FFF2-40B4-BE49-F238E27FC236}">
                <a16:creationId xmlns:a16="http://schemas.microsoft.com/office/drawing/2014/main" id="{2680F964-8E60-6787-66DE-45D93E484317}"/>
              </a:ext>
            </a:extLst>
          </p:cNvPr>
          <p:cNvPicPr>
            <a:picLocks noChangeAspect="1"/>
          </p:cNvPicPr>
          <p:nvPr/>
        </p:nvPicPr>
        <p:blipFill>
          <a:blip r:embed="rId5"/>
          <a:stretch>
            <a:fillRect/>
          </a:stretch>
        </p:blipFill>
        <p:spPr>
          <a:xfrm>
            <a:off x="5067248" y="4007322"/>
            <a:ext cx="1106650" cy="318715"/>
          </a:xfrm>
          <a:prstGeom prst="rect">
            <a:avLst/>
          </a:prstGeom>
        </p:spPr>
      </p:pic>
      <p:cxnSp>
        <p:nvCxnSpPr>
          <p:cNvPr id="113" name="Straight Connector 112">
            <a:extLst>
              <a:ext uri="{FF2B5EF4-FFF2-40B4-BE49-F238E27FC236}">
                <a16:creationId xmlns:a16="http://schemas.microsoft.com/office/drawing/2014/main" id="{9F54B2B8-1A8B-2514-ED92-62215A05CC6B}"/>
              </a:ext>
            </a:extLst>
          </p:cNvPr>
          <p:cNvCxnSpPr>
            <a:cxnSpLocks/>
            <a:stCxn id="114" idx="2"/>
          </p:cNvCxnSpPr>
          <p:nvPr/>
        </p:nvCxnSpPr>
        <p:spPr bwMode="auto">
          <a:xfrm flipH="1">
            <a:off x="5620424" y="5043989"/>
            <a:ext cx="1" cy="205461"/>
          </a:xfrm>
          <a:prstGeom prst="line">
            <a:avLst/>
          </a:prstGeom>
          <a:ln w="12700">
            <a:solidFill>
              <a:schemeClr val="bg1">
                <a:lumMod val="50000"/>
              </a:schemeClr>
            </a:solidFill>
            <a:prstDash val="dash"/>
            <a:tailEnd type="oval" w="lg" len="lg"/>
          </a:ln>
        </p:spPr>
        <p:style>
          <a:lnRef idx="1">
            <a:schemeClr val="dk1"/>
          </a:lnRef>
          <a:fillRef idx="0">
            <a:schemeClr val="dk1"/>
          </a:fillRef>
          <a:effectRef idx="0">
            <a:schemeClr val="dk1"/>
          </a:effectRef>
          <a:fontRef idx="minor">
            <a:schemeClr val="tx1"/>
          </a:fontRef>
        </p:style>
      </p:cxnSp>
      <p:sp>
        <p:nvSpPr>
          <p:cNvPr id="114" name="TextBox 113">
            <a:extLst>
              <a:ext uri="{FF2B5EF4-FFF2-40B4-BE49-F238E27FC236}">
                <a16:creationId xmlns:a16="http://schemas.microsoft.com/office/drawing/2014/main" id="{5B213763-034C-896C-1031-446236AC66EA}"/>
              </a:ext>
            </a:extLst>
          </p:cNvPr>
          <p:cNvSpPr txBox="1"/>
          <p:nvPr/>
        </p:nvSpPr>
        <p:spPr>
          <a:xfrm>
            <a:off x="5378680" y="4869138"/>
            <a:ext cx="483489" cy="174851"/>
          </a:xfrm>
          <a:prstGeom prst="rect">
            <a:avLst/>
          </a:prstGeom>
          <a:solidFill>
            <a:schemeClr val="bg1"/>
          </a:solidFill>
          <a:ln w="6350">
            <a:solidFill>
              <a:schemeClr val="bg1">
                <a:lumMod val="65000"/>
              </a:schemeClr>
            </a:solidFill>
            <a:prstDash val="dash"/>
          </a:ln>
        </p:spPr>
        <p:txBody>
          <a:bodyPr wrap="square" lIns="0" tIns="18000" rIns="0" bIns="18000" rtlCol="0" anchor="t">
            <a:spAutoFit/>
          </a:bodyPr>
          <a:lstStyle/>
          <a:p>
            <a:pPr algn="ctr">
              <a:spcAft>
                <a:spcPts val="200"/>
              </a:spcAft>
            </a:pPr>
            <a:r>
              <a:rPr lang="en-US" sz="900">
                <a:solidFill>
                  <a:schemeClr val="tx1"/>
                </a:solidFill>
              </a:rPr>
              <a:t>6.1%</a:t>
            </a:r>
            <a:endParaRPr lang="en-SG" sz="900">
              <a:solidFill>
                <a:schemeClr val="tx1"/>
              </a:solidFill>
            </a:endParaRPr>
          </a:p>
        </p:txBody>
      </p:sp>
      <p:cxnSp>
        <p:nvCxnSpPr>
          <p:cNvPr id="115" name="Connector: Elbow 114">
            <a:extLst>
              <a:ext uri="{FF2B5EF4-FFF2-40B4-BE49-F238E27FC236}">
                <a16:creationId xmlns:a16="http://schemas.microsoft.com/office/drawing/2014/main" id="{281E2162-F655-081C-0375-AA2195D966A8}"/>
              </a:ext>
            </a:extLst>
          </p:cNvPr>
          <p:cNvCxnSpPr>
            <a:cxnSpLocks/>
            <a:stCxn id="112" idx="2"/>
            <a:endCxn id="114" idx="0"/>
          </p:cNvCxnSpPr>
          <p:nvPr/>
        </p:nvCxnSpPr>
        <p:spPr bwMode="auto">
          <a:xfrm rot="5400000">
            <a:off x="5348949" y="4597513"/>
            <a:ext cx="543101" cy="148"/>
          </a:xfrm>
          <a:prstGeom prst="bentConnector3">
            <a:avLst/>
          </a:prstGeom>
          <a:ln w="12700">
            <a:solidFill>
              <a:schemeClr val="bg1">
                <a:lumMod val="50000"/>
              </a:schemeClr>
            </a:solidFill>
            <a:prstDash val="dash"/>
            <a:tailEnd type="none" w="lg" len="lg"/>
          </a:ln>
        </p:spPr>
        <p:style>
          <a:lnRef idx="1">
            <a:schemeClr val="dk1"/>
          </a:lnRef>
          <a:fillRef idx="0">
            <a:schemeClr val="dk1"/>
          </a:fillRef>
          <a:effectRef idx="0">
            <a:schemeClr val="dk1"/>
          </a:effectRef>
          <a:fontRef idx="minor">
            <a:schemeClr val="tx1"/>
          </a:fontRef>
        </p:style>
      </p:cxnSp>
      <p:sp>
        <p:nvSpPr>
          <p:cNvPr id="116" name="TextBox 115">
            <a:extLst>
              <a:ext uri="{FF2B5EF4-FFF2-40B4-BE49-F238E27FC236}">
                <a16:creationId xmlns:a16="http://schemas.microsoft.com/office/drawing/2014/main" id="{A28A7955-747A-9B47-B8F2-DA2D163305AA}"/>
              </a:ext>
            </a:extLst>
          </p:cNvPr>
          <p:cNvSpPr txBox="1"/>
          <p:nvPr/>
        </p:nvSpPr>
        <p:spPr>
          <a:xfrm>
            <a:off x="5250317" y="4373751"/>
            <a:ext cx="740512" cy="138499"/>
          </a:xfrm>
          <a:prstGeom prst="rect">
            <a:avLst/>
          </a:prstGeom>
          <a:solidFill>
            <a:schemeClr val="bg1"/>
          </a:solidFill>
          <a:ln w="6350">
            <a:noFill/>
            <a:prstDash val="dash"/>
          </a:ln>
        </p:spPr>
        <p:txBody>
          <a:bodyPr wrap="square" lIns="0" tIns="0" rIns="0" bIns="0" rtlCol="0" anchor="t">
            <a:spAutoFit/>
          </a:bodyPr>
          <a:lstStyle/>
          <a:p>
            <a:pPr algn="ctr">
              <a:spcAft>
                <a:spcPts val="200"/>
              </a:spcAft>
            </a:pPr>
            <a:r>
              <a:rPr lang="en-US" sz="900" b="0">
                <a:solidFill>
                  <a:schemeClr val="tx1"/>
                </a:solidFill>
              </a:rPr>
              <a:t>(for reference)</a:t>
            </a:r>
            <a:endParaRPr lang="en-SG" sz="900" b="0">
              <a:solidFill>
                <a:schemeClr val="tx1"/>
              </a:solidFill>
            </a:endParaRPr>
          </a:p>
        </p:txBody>
      </p:sp>
    </p:spTree>
    <p:extLst>
      <p:ext uri="{BB962C8B-B14F-4D97-AF65-F5344CB8AC3E}">
        <p14:creationId xmlns:p14="http://schemas.microsoft.com/office/powerpoint/2010/main" val="2366553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D8F0D-F8F2-9CE7-CEAC-BCB656AAC289}"/>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B910FBEF-4826-F685-9637-4018931B4C3C}"/>
              </a:ext>
            </a:extLst>
          </p:cNvPr>
          <p:cNvSpPr>
            <a:spLocks noGrp="1"/>
          </p:cNvSpPr>
          <p:nvPr>
            <p:ph type="subTitle" idx="1"/>
          </p:nvPr>
        </p:nvSpPr>
        <p:spPr/>
        <p:txBody>
          <a:bodyPr/>
          <a:lstStyle/>
          <a:p>
            <a:r>
              <a:rPr lang="en-US"/>
              <a:t>Section [ ]</a:t>
            </a:r>
            <a:endParaRPr lang="en-SG"/>
          </a:p>
        </p:txBody>
      </p:sp>
      <p:sp>
        <p:nvSpPr>
          <p:cNvPr id="5" name="Title 4">
            <a:extLst>
              <a:ext uri="{FF2B5EF4-FFF2-40B4-BE49-F238E27FC236}">
                <a16:creationId xmlns:a16="http://schemas.microsoft.com/office/drawing/2014/main" id="{53AA5A25-67B7-BBC5-D631-2E1ADEB1A0D7}"/>
              </a:ext>
            </a:extLst>
          </p:cNvPr>
          <p:cNvSpPr>
            <a:spLocks noGrp="1"/>
          </p:cNvSpPr>
          <p:nvPr>
            <p:ph type="ctrTitle"/>
          </p:nvPr>
        </p:nvSpPr>
        <p:spPr/>
        <p:txBody>
          <a:bodyPr/>
          <a:lstStyle/>
          <a:p>
            <a:r>
              <a:rPr lang="en-US"/>
              <a:t>[Hong Kong Equity Capital Market Update]</a:t>
            </a:r>
            <a:endParaRPr lang="en-SG"/>
          </a:p>
        </p:txBody>
      </p:sp>
      <p:sp>
        <p:nvSpPr>
          <p:cNvPr id="2" name="Slide Number Placeholder 1">
            <a:extLst>
              <a:ext uri="{FF2B5EF4-FFF2-40B4-BE49-F238E27FC236}">
                <a16:creationId xmlns:a16="http://schemas.microsoft.com/office/drawing/2014/main" id="{00177931-C1D6-488F-A4FA-18E38D0152BC}"/>
              </a:ext>
            </a:extLst>
          </p:cNvPr>
          <p:cNvSpPr>
            <a:spLocks noGrp="1"/>
          </p:cNvSpPr>
          <p:nvPr>
            <p:ph type="sldNum" sz="quarter" idx="11"/>
          </p:nvPr>
        </p:nvSpPr>
        <p:spPr/>
        <p:txBody>
          <a:bodyPr/>
          <a:lstStyle/>
          <a:p>
            <a:pPr>
              <a:defRPr/>
            </a:pPr>
            <a:fld id="{EED7964B-8F50-47E5-B5EE-37748C966AF4}" type="slidenum">
              <a:rPr lang="en-US" smtClean="0"/>
              <a:pPr>
                <a:defRPr/>
              </a:pPr>
              <a:t>11</a:t>
            </a:fld>
            <a:endParaRPr lang="en-US"/>
          </a:p>
        </p:txBody>
      </p:sp>
    </p:spTree>
    <p:extLst>
      <p:ext uri="{BB962C8B-B14F-4D97-AF65-F5344CB8AC3E}">
        <p14:creationId xmlns:p14="http://schemas.microsoft.com/office/powerpoint/2010/main" val="1106072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 name="Chart 93">
            <a:extLst>
              <a:ext uri="{FF2B5EF4-FFF2-40B4-BE49-F238E27FC236}">
                <a16:creationId xmlns:a16="http://schemas.microsoft.com/office/drawing/2014/main" id="{F1892D96-CD77-6040-CCD7-24A119196FBA}"/>
              </a:ext>
            </a:extLst>
          </p:cNvPr>
          <p:cNvGraphicFramePr/>
          <p:nvPr>
            <p:extLst>
              <p:ext uri="{D42A27DB-BD31-4B8C-83A1-F6EECF244321}">
                <p14:modId xmlns:p14="http://schemas.microsoft.com/office/powerpoint/2010/main" val="72380619"/>
              </p:ext>
            </p:extLst>
          </p:nvPr>
        </p:nvGraphicFramePr>
        <p:xfrm>
          <a:off x="4803215" y="1235507"/>
          <a:ext cx="4261311" cy="2240440"/>
        </p:xfrm>
        <a:graphic>
          <a:graphicData uri="http://schemas.openxmlformats.org/drawingml/2006/chart">
            <c:chart xmlns:c="http://schemas.openxmlformats.org/drawingml/2006/chart" xmlns:r="http://schemas.openxmlformats.org/officeDocument/2006/relationships" r:id="rId3"/>
          </a:graphicData>
        </a:graphic>
      </p:graphicFrame>
      <p:grpSp>
        <p:nvGrpSpPr>
          <p:cNvPr id="13" name="Group 12">
            <a:extLst>
              <a:ext uri="{FF2B5EF4-FFF2-40B4-BE49-F238E27FC236}">
                <a16:creationId xmlns:a16="http://schemas.microsoft.com/office/drawing/2014/main" id="{D3BD3AD3-DD4E-2BD0-C63F-90718EF0ECB3}"/>
              </a:ext>
            </a:extLst>
          </p:cNvPr>
          <p:cNvGrpSpPr/>
          <p:nvPr/>
        </p:nvGrpSpPr>
        <p:grpSpPr>
          <a:xfrm>
            <a:off x="3487928" y="-26334763"/>
            <a:ext cx="961399" cy="20363"/>
            <a:chOff x="5212080" y="6058079"/>
            <a:chExt cx="721175" cy="20363"/>
          </a:xfrm>
        </p:grpSpPr>
        <p:cxnSp>
          <p:nvCxnSpPr>
            <p:cNvPr id="16" name="Straight Connector 15">
              <a:extLst>
                <a:ext uri="{FF2B5EF4-FFF2-40B4-BE49-F238E27FC236}">
                  <a16:creationId xmlns:a16="http://schemas.microsoft.com/office/drawing/2014/main" id="{1B6AA97C-AB80-BEE9-C082-F41BC4E624FD}"/>
                </a:ext>
              </a:extLst>
            </p:cNvPr>
            <p:cNvCxnSpPr>
              <a:cxnSpLocks/>
            </p:cNvCxnSpPr>
            <p:nvPr/>
          </p:nvCxnSpPr>
          <p:spPr bwMode="auto">
            <a:xfrm>
              <a:off x="5212080" y="6068259"/>
              <a:ext cx="721175" cy="0"/>
            </a:xfrm>
            <a:prstGeom prst="line">
              <a:avLst/>
            </a:prstGeom>
            <a:noFill/>
            <a:ln w="9525" cap="flat" cmpd="sng" algn="ctr">
              <a:solidFill>
                <a:schemeClr val="tx1">
                  <a:lumMod val="85000"/>
                  <a:lumOff val="15000"/>
                </a:schemeClr>
              </a:solidFill>
              <a:prstDash val="solid"/>
              <a:round/>
              <a:headEnd type="arrow" w="sm" len="sm"/>
              <a:tailEnd type="arrow"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68">
              <a:extLst>
                <a:ext uri="{FF2B5EF4-FFF2-40B4-BE49-F238E27FC236}">
                  <a16:creationId xmlns:a16="http://schemas.microsoft.com/office/drawing/2014/main" id="{4913CEEE-4A6D-355A-F96C-1BAE7DF52CFD}"/>
                </a:ext>
              </a:extLst>
            </p:cNvPr>
            <p:cNvSpPr txBox="1"/>
            <p:nvPr/>
          </p:nvSpPr>
          <p:spPr>
            <a:xfrm>
              <a:off x="5434421" y="6058079"/>
              <a:ext cx="222977" cy="20363"/>
            </a:xfrm>
            <a:prstGeom prst="rect">
              <a:avLst/>
            </a:prstGeom>
            <a:solidFill>
              <a:schemeClr val="bg1"/>
            </a:solidFill>
          </p:spPr>
          <p:txBody>
            <a:bodyPr wrap="square" lIns="27432" tIns="0" rIns="27432" bIns="0" rtlCol="0" anchor="ctr" anchorCtr="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sz="800">
                  <a:solidFill>
                    <a:srgbClr val="000000"/>
                  </a:solidFill>
                  <a:latin typeface="Arial" panose="020B0604020202020204" pitchFamily="34" charset="0"/>
                  <a:ea typeface="DFKaiShu-GB5"/>
                  <a:cs typeface="Arial" panose="020B0604020202020204" pitchFamily="34" charset="0"/>
                </a:defRPr>
              </a:lvl1pPr>
              <a:lvl2pPr indent="0">
                <a:defRPr sz="1100">
                  <a:latin typeface="+mn-lt"/>
                </a:defRPr>
              </a:lvl2pPr>
              <a:lvl3pPr indent="0">
                <a:defRPr sz="1100">
                  <a:latin typeface="+mn-lt"/>
                </a:defRPr>
              </a:lvl3pPr>
              <a:lvl4pPr indent="0">
                <a:defRPr sz="1100">
                  <a:latin typeface="+mn-lt"/>
                </a:defRPr>
              </a:lvl4pPr>
              <a:lvl5pPr indent="0">
                <a:defRPr sz="1100">
                  <a:latin typeface="+mn-lt"/>
                </a:defRPr>
              </a:lvl5pPr>
              <a:lvl6pPr indent="0">
                <a:defRPr sz="1100">
                  <a:latin typeface="+mn-lt"/>
                </a:defRPr>
              </a:lvl6pPr>
              <a:lvl7pPr indent="0">
                <a:defRPr sz="1100">
                  <a:latin typeface="+mn-lt"/>
                </a:defRPr>
              </a:lvl7pPr>
              <a:lvl8pPr indent="0">
                <a:defRPr sz="1100">
                  <a:latin typeface="+mn-lt"/>
                </a:defRPr>
              </a:lvl8pPr>
              <a:lvl9pPr indent="0">
                <a:defRPr sz="1100">
                  <a:latin typeface="+mn-lt"/>
                </a:defRPr>
              </a:lvl9pPr>
            </a:lstStyle>
            <a:p>
              <a:pPr algn="ctr"/>
              <a:r>
                <a:rPr lang="en-US" sz="600">
                  <a:latin typeface="+mj-lt"/>
                </a:rPr>
                <a:t>2026</a:t>
              </a:r>
            </a:p>
          </p:txBody>
        </p:sp>
      </p:grpSp>
      <p:grpSp>
        <p:nvGrpSpPr>
          <p:cNvPr id="3" name="Group 2">
            <a:extLst>
              <a:ext uri="{FF2B5EF4-FFF2-40B4-BE49-F238E27FC236}">
                <a16:creationId xmlns:a16="http://schemas.microsoft.com/office/drawing/2014/main" id="{89673FE6-494F-847A-7A7E-EDB8550C0547}"/>
              </a:ext>
            </a:extLst>
          </p:cNvPr>
          <p:cNvGrpSpPr/>
          <p:nvPr/>
        </p:nvGrpSpPr>
        <p:grpSpPr>
          <a:xfrm>
            <a:off x="873007" y="-81445005"/>
            <a:ext cx="2570399" cy="12066"/>
            <a:chOff x="964768" y="6062225"/>
            <a:chExt cx="4116069" cy="12066"/>
          </a:xfrm>
        </p:grpSpPr>
        <p:cxnSp>
          <p:nvCxnSpPr>
            <p:cNvPr id="9" name="Straight Connector 8">
              <a:extLst>
                <a:ext uri="{FF2B5EF4-FFF2-40B4-BE49-F238E27FC236}">
                  <a16:creationId xmlns:a16="http://schemas.microsoft.com/office/drawing/2014/main" id="{B4720F11-5886-51C5-DB8F-BD1C5DFC2761}"/>
                </a:ext>
              </a:extLst>
            </p:cNvPr>
            <p:cNvCxnSpPr>
              <a:cxnSpLocks/>
            </p:cNvCxnSpPr>
            <p:nvPr/>
          </p:nvCxnSpPr>
          <p:spPr bwMode="auto">
            <a:xfrm>
              <a:off x="964768" y="6068259"/>
              <a:ext cx="4116069" cy="0"/>
            </a:xfrm>
            <a:prstGeom prst="line">
              <a:avLst/>
            </a:prstGeom>
            <a:noFill/>
            <a:ln w="9525" cap="flat" cmpd="sng" algn="ctr">
              <a:solidFill>
                <a:schemeClr val="tx1">
                  <a:lumMod val="85000"/>
                  <a:lumOff val="15000"/>
                </a:schemeClr>
              </a:solidFill>
              <a:prstDash val="solid"/>
              <a:round/>
              <a:headEnd type="arrow" w="sm" len="sm"/>
              <a:tailEnd type="arrow"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68">
              <a:extLst>
                <a:ext uri="{FF2B5EF4-FFF2-40B4-BE49-F238E27FC236}">
                  <a16:creationId xmlns:a16="http://schemas.microsoft.com/office/drawing/2014/main" id="{EAAFAB50-91D8-DD22-A8F5-DD2D365A685C}"/>
                </a:ext>
              </a:extLst>
            </p:cNvPr>
            <p:cNvSpPr txBox="1"/>
            <p:nvPr/>
          </p:nvSpPr>
          <p:spPr>
            <a:xfrm>
              <a:off x="2914142" y="6062225"/>
              <a:ext cx="445906" cy="12066"/>
            </a:xfrm>
            <a:prstGeom prst="rect">
              <a:avLst/>
            </a:prstGeom>
            <a:solidFill>
              <a:schemeClr val="bg1"/>
            </a:solidFill>
          </p:spPr>
          <p:txBody>
            <a:bodyPr wrap="none" lIns="27432" tIns="0" rIns="27432" bIns="0" rtlCol="0" anchor="ctr"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
                  <a:solidFill>
                    <a:srgbClr val="000000"/>
                  </a:solidFill>
                  <a:latin typeface="+mj-lt"/>
                  <a:ea typeface="DFKaiShu-GB5"/>
                  <a:cs typeface="Arial" panose="020B0604020202020204" pitchFamily="34" charset="0"/>
                </a:rPr>
                <a:t>2025</a:t>
              </a:r>
              <a:endParaRPr lang="en-US" sz="500">
                <a:solidFill>
                  <a:srgbClr val="000000"/>
                </a:solidFill>
                <a:latin typeface="+mj-lt"/>
                <a:ea typeface="DFKaiShu-GB5"/>
                <a:cs typeface="Arial" panose="020B0604020202020204" pitchFamily="34" charset="0"/>
              </a:endParaRPr>
            </a:p>
          </p:txBody>
        </p:sp>
      </p:grpSp>
      <p:sp>
        <p:nvSpPr>
          <p:cNvPr id="6" name="Title 5"/>
          <p:cNvSpPr>
            <a:spLocks noGrp="1"/>
          </p:cNvSpPr>
          <p:nvPr>
            <p:ph type="title"/>
          </p:nvPr>
        </p:nvSpPr>
        <p:spPr/>
        <p:txBody>
          <a:bodyPr/>
          <a:lstStyle/>
          <a:p>
            <a:r>
              <a:rPr lang="en-US" altLang="zh-CN">
                <a:solidFill>
                  <a:srgbClr val="000000"/>
                </a:solidFill>
                <a:ea typeface="SimSun" pitchFamily="2" charset="-122"/>
              </a:rPr>
              <a:t>Hong Kong Equity Capital Markets Recap – </a:t>
            </a:r>
            <a:r>
              <a:rPr lang="en-GB" altLang="zh-CN">
                <a:solidFill>
                  <a:srgbClr val="000000"/>
                </a:solidFill>
                <a:latin typeface="+mn-lt"/>
                <a:ea typeface="SimSun" pitchFamily="2" charset="-122"/>
              </a:rPr>
              <a:t>2026YTD</a:t>
            </a:r>
            <a:endParaRPr lang="en-US">
              <a:latin typeface="+mn-lt"/>
            </a:endParaRPr>
          </a:p>
        </p:txBody>
      </p:sp>
      <p:sp>
        <p:nvSpPr>
          <p:cNvPr id="2" name="Text Placeholder 1">
            <a:extLst>
              <a:ext uri="{FF2B5EF4-FFF2-40B4-BE49-F238E27FC236}">
                <a16:creationId xmlns:a16="http://schemas.microsoft.com/office/drawing/2014/main" id="{533A8E03-8AC6-20D5-2489-DC45C7B54713}"/>
              </a:ext>
            </a:extLst>
          </p:cNvPr>
          <p:cNvSpPr>
            <a:spLocks noGrp="1"/>
          </p:cNvSpPr>
          <p:nvPr>
            <p:ph type="body" sz="quarter" idx="46"/>
          </p:nvPr>
        </p:nvSpPr>
        <p:spPr/>
        <p:txBody>
          <a:bodyPr/>
          <a:lstStyle/>
          <a:p>
            <a:pPr marL="0" indent="0">
              <a:buNone/>
            </a:pPr>
            <a:r>
              <a:rPr lang="en-US" sz="800"/>
              <a:t>Source: Bloomberg, Dealogic, as of 20 May 2026</a:t>
            </a:r>
          </a:p>
          <a:p>
            <a:r>
              <a:rPr lang="en-US" sz="800"/>
              <a:t>QoQ Comparison: 1Q 2026 vs 2QTD 2026</a:t>
            </a:r>
          </a:p>
          <a:p>
            <a:r>
              <a:rPr lang="en-US" sz="800"/>
              <a:t>Exchanges have stopped releasing daily Northbound data since 19 August 2024</a:t>
            </a:r>
          </a:p>
          <a:p>
            <a:endParaRPr lang="en-GB" sz="800"/>
          </a:p>
        </p:txBody>
      </p:sp>
      <p:sp>
        <p:nvSpPr>
          <p:cNvPr id="47" name="TextBox 7">
            <a:extLst>
              <a:ext uri="{FF2B5EF4-FFF2-40B4-BE49-F238E27FC236}">
                <a16:creationId xmlns:a16="http://schemas.microsoft.com/office/drawing/2014/main" id="{B58B3EF5-429E-495B-A3F3-725C54A049AD}"/>
              </a:ext>
            </a:extLst>
          </p:cNvPr>
          <p:cNvSpPr txBox="1">
            <a:spLocks noChangeArrowheads="1"/>
          </p:cNvSpPr>
          <p:nvPr/>
        </p:nvSpPr>
        <p:spPr bwMode="auto">
          <a:xfrm>
            <a:off x="540658" y="886599"/>
            <a:ext cx="4002849" cy="270584"/>
          </a:xfrm>
          <a:prstGeom prst="rect">
            <a:avLst/>
          </a:prstGeom>
          <a:solidFill>
            <a:srgbClr val="089C8B"/>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Regional ECM deal volume</a:t>
            </a:r>
            <a:r>
              <a:rPr kumimoji="0" lang="en-US" sz="1200" b="1" i="0" u="none" strike="noStrike" kern="1200" cap="none" spc="0" normalizeH="0" baseline="30000" noProof="0">
                <a:ln>
                  <a:noFill/>
                </a:ln>
                <a:solidFill>
                  <a:schemeClr val="bg1"/>
                </a:solidFill>
                <a:effectLst/>
                <a:uLnTx/>
                <a:uFillTx/>
                <a:latin typeface="Calibri" panose="020F0502020204030204" pitchFamily="34" charset="0"/>
                <a:ea typeface="DFKaiShu-GB5"/>
                <a:cs typeface="Calibri" panose="020F0502020204030204" pitchFamily="34" charset="0"/>
              </a:rPr>
              <a:t>1</a:t>
            </a:r>
          </a:p>
        </p:txBody>
      </p:sp>
      <p:sp>
        <p:nvSpPr>
          <p:cNvPr id="61" name="TextBox 7">
            <a:extLst>
              <a:ext uri="{FF2B5EF4-FFF2-40B4-BE49-F238E27FC236}">
                <a16:creationId xmlns:a16="http://schemas.microsoft.com/office/drawing/2014/main" id="{6AF70896-83F7-4AB3-A545-1BCE99DF775D}"/>
              </a:ext>
            </a:extLst>
          </p:cNvPr>
          <p:cNvSpPr txBox="1">
            <a:spLocks noChangeArrowheads="1"/>
          </p:cNvSpPr>
          <p:nvPr/>
        </p:nvSpPr>
        <p:spPr bwMode="auto">
          <a:xfrm>
            <a:off x="5002143" y="886299"/>
            <a:ext cx="4062383" cy="270583"/>
          </a:xfrm>
          <a:prstGeom prst="rect">
            <a:avLst/>
          </a:prstGeom>
          <a:solidFill>
            <a:srgbClr val="089C8B"/>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HK ECM deal volume </a:t>
            </a:r>
            <a:r>
              <a:rPr lang="en-US" sz="1200" b="1">
                <a:solidFill>
                  <a:schemeClr val="bg1"/>
                </a:solidFill>
                <a:latin typeface="Calibri" panose="020F0502020204030204" pitchFamily="34" charset="0"/>
                <a:ea typeface="DFKaiShu-GB5"/>
                <a:cs typeface="Calibri" panose="020F0502020204030204" pitchFamily="34" charset="0"/>
              </a:rPr>
              <a:t>2021 </a:t>
            </a: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 2026YTD</a:t>
            </a:r>
          </a:p>
        </p:txBody>
      </p:sp>
      <p:sp>
        <p:nvSpPr>
          <p:cNvPr id="70" name="TextBox 69">
            <a:extLst>
              <a:ext uri="{FF2B5EF4-FFF2-40B4-BE49-F238E27FC236}">
                <a16:creationId xmlns:a16="http://schemas.microsoft.com/office/drawing/2014/main" id="{956EFC67-938E-47B8-ABDA-A64CA58C7C1E}"/>
              </a:ext>
            </a:extLst>
          </p:cNvPr>
          <p:cNvSpPr txBox="1"/>
          <p:nvPr/>
        </p:nvSpPr>
        <p:spPr>
          <a:xfrm>
            <a:off x="4982985" y="1126475"/>
            <a:ext cx="575434" cy="2460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rgbClr val="000000"/>
                </a:solidFill>
                <a:effectLst/>
                <a:uLnTx/>
                <a:uFillTx/>
                <a:latin typeface="Calibri"/>
                <a:ea typeface="DFKaiShu-GB5"/>
                <a:cs typeface="Calibri" panose="020F0502020204030204" pitchFamily="34" charset="0"/>
              </a:rPr>
              <a:t>US$’bn</a:t>
            </a:r>
            <a:endParaRPr kumimoji="0" lang="en-US" sz="1000" b="1" i="0" u="none" strike="noStrike" kern="1200" cap="none" spc="0" normalizeH="0" baseline="0" noProof="0">
              <a:ln>
                <a:noFill/>
              </a:ln>
              <a:solidFill>
                <a:srgbClr val="000000"/>
              </a:solidFill>
              <a:effectLst/>
              <a:uLnTx/>
              <a:uFillTx/>
              <a:latin typeface="Calibri"/>
              <a:ea typeface="DFKaiShu-GB5"/>
              <a:cs typeface="Calibri" panose="020F0502020204030204" pitchFamily="34" charset="0"/>
            </a:endParaRPr>
          </a:p>
        </p:txBody>
      </p:sp>
      <p:sp>
        <p:nvSpPr>
          <p:cNvPr id="75" name="TextBox 7">
            <a:extLst>
              <a:ext uri="{FF2B5EF4-FFF2-40B4-BE49-F238E27FC236}">
                <a16:creationId xmlns:a16="http://schemas.microsoft.com/office/drawing/2014/main" id="{2EA912D9-B0FD-467B-A434-8ADB5F03C479}"/>
              </a:ext>
            </a:extLst>
          </p:cNvPr>
          <p:cNvSpPr txBox="1">
            <a:spLocks noChangeArrowheads="1"/>
          </p:cNvSpPr>
          <p:nvPr/>
        </p:nvSpPr>
        <p:spPr bwMode="auto">
          <a:xfrm>
            <a:off x="5002143" y="3381107"/>
            <a:ext cx="4062383" cy="274320"/>
          </a:xfrm>
          <a:prstGeom prst="rect">
            <a:avLst/>
          </a:prstGeom>
          <a:solidFill>
            <a:srgbClr val="089C8B"/>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nl-NL" sz="1200" b="1">
                <a:solidFill>
                  <a:schemeClr val="bg1"/>
                </a:solidFill>
                <a:latin typeface="Calibri" panose="020F0502020204030204" pitchFamily="34" charset="0"/>
                <a:ea typeface="DFKaiShu-GB5"/>
                <a:cs typeface="Calibri" panose="020F0502020204030204" pitchFamily="34" charset="0"/>
              </a:rPr>
              <a:t>Hong Kong Market Liquidity </a:t>
            </a:r>
            <a:r>
              <a:rPr kumimoji="0" lang="nl-NL"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2021 – 2026YTD</a:t>
            </a:r>
          </a:p>
        </p:txBody>
      </p:sp>
      <p:sp>
        <p:nvSpPr>
          <p:cNvPr id="65" name="TextBox 7">
            <a:extLst>
              <a:ext uri="{FF2B5EF4-FFF2-40B4-BE49-F238E27FC236}">
                <a16:creationId xmlns:a16="http://schemas.microsoft.com/office/drawing/2014/main" id="{B8DC0B55-8331-4875-92D2-BA03D49FB454}"/>
              </a:ext>
            </a:extLst>
          </p:cNvPr>
          <p:cNvSpPr txBox="1">
            <a:spLocks noChangeArrowheads="1"/>
          </p:cNvSpPr>
          <p:nvPr/>
        </p:nvSpPr>
        <p:spPr bwMode="auto">
          <a:xfrm>
            <a:off x="540658" y="3384844"/>
            <a:ext cx="4062383" cy="270583"/>
          </a:xfrm>
          <a:prstGeom prst="rect">
            <a:avLst/>
          </a:prstGeom>
          <a:solidFill>
            <a:srgbClr val="089C8B"/>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Calibri" panose="020F0502020204030204" pitchFamily="34" charset="0"/>
                <a:ea typeface="DFKaiShu-GB5"/>
                <a:cs typeface="Calibri" panose="020F0502020204030204" pitchFamily="34" charset="0"/>
              </a:rPr>
              <a:t>Northbound vs Southbound Monthly Inflow</a:t>
            </a:r>
            <a:r>
              <a:rPr lang="en-US" sz="1200" b="1" baseline="30000">
                <a:solidFill>
                  <a:schemeClr val="bg1"/>
                </a:solidFill>
                <a:latin typeface="Calibri" panose="020F0502020204030204" pitchFamily="34" charset="0"/>
                <a:ea typeface="DFKaiShu-GB5"/>
                <a:cs typeface="Calibri" panose="020F0502020204030204" pitchFamily="34" charset="0"/>
              </a:rPr>
              <a:t>3</a:t>
            </a:r>
            <a:endPar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endParaRPr>
          </a:p>
        </p:txBody>
      </p:sp>
      <p:sp>
        <p:nvSpPr>
          <p:cNvPr id="81" name="TextBox 80">
            <a:extLst>
              <a:ext uri="{FF2B5EF4-FFF2-40B4-BE49-F238E27FC236}">
                <a16:creationId xmlns:a16="http://schemas.microsoft.com/office/drawing/2014/main" id="{595AFB7B-6950-485C-96EE-261CA5B1DA0C}"/>
              </a:ext>
            </a:extLst>
          </p:cNvPr>
          <p:cNvSpPr txBox="1"/>
          <p:nvPr/>
        </p:nvSpPr>
        <p:spPr>
          <a:xfrm>
            <a:off x="4982985" y="3655427"/>
            <a:ext cx="575434" cy="2460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rgbClr val="000000"/>
                </a:solidFill>
                <a:effectLst/>
                <a:uLnTx/>
                <a:uFillTx/>
                <a:latin typeface="Calibri"/>
                <a:ea typeface="DFKaiShu-GB5"/>
                <a:cs typeface="Calibri" panose="020F0502020204030204" pitchFamily="34" charset="0"/>
              </a:rPr>
              <a:t>US$’bn</a:t>
            </a:r>
            <a:endParaRPr kumimoji="0" lang="en-US" sz="1000" b="1" i="0" u="none" strike="noStrike" kern="1200" cap="none" spc="0" normalizeH="0" baseline="0" noProof="0">
              <a:ln>
                <a:noFill/>
              </a:ln>
              <a:solidFill>
                <a:srgbClr val="000000"/>
              </a:solidFill>
              <a:effectLst/>
              <a:uLnTx/>
              <a:uFillTx/>
              <a:latin typeface="Calibri"/>
              <a:ea typeface="DFKaiShu-GB5"/>
              <a:cs typeface="Calibri" panose="020F0502020204030204" pitchFamily="34" charset="0"/>
            </a:endParaRPr>
          </a:p>
        </p:txBody>
      </p:sp>
      <p:sp>
        <p:nvSpPr>
          <p:cNvPr id="64" name="Rectangle 63">
            <a:extLst>
              <a:ext uri="{FF2B5EF4-FFF2-40B4-BE49-F238E27FC236}">
                <a16:creationId xmlns:a16="http://schemas.microsoft.com/office/drawing/2014/main" id="{5DEC1AE3-C5AC-429F-ACA7-A4F9039653FA}"/>
              </a:ext>
            </a:extLst>
          </p:cNvPr>
          <p:cNvSpPr/>
          <p:nvPr/>
        </p:nvSpPr>
        <p:spPr>
          <a:xfrm>
            <a:off x="8032136" y="1625176"/>
            <a:ext cx="955480" cy="1127374"/>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b="1" u="sng">
                <a:solidFill>
                  <a:srgbClr val="000000"/>
                </a:solidFill>
                <a:latin typeface="Calibri"/>
                <a:ea typeface="DFKaiShu-GB5"/>
              </a:rPr>
              <a:t>2026YTD</a:t>
            </a:r>
            <a:endParaRPr kumimoji="0" lang="en-US" sz="700" b="1" i="0" u="sng" strike="noStrike" kern="1200" cap="none" spc="0" normalizeH="0" baseline="0" noProof="0">
              <a:ln>
                <a:noFill/>
              </a:ln>
              <a:solidFill>
                <a:srgbClr val="000000"/>
              </a:solidFill>
              <a:effectLst/>
              <a:uLnTx/>
              <a:uFillTx/>
              <a:latin typeface="Calibri"/>
              <a:ea typeface="DFKaiShu-GB5"/>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Calibri"/>
                <a:ea typeface="DFKaiShu-GB5"/>
                <a:cs typeface="+mn-cs"/>
              </a:rPr>
              <a:t>IPO</a:t>
            </a:r>
            <a:r>
              <a:rPr kumimoji="0" lang="en-US" sz="700" b="0" i="0" u="none" strike="noStrike" kern="1200" cap="none" spc="0" normalizeH="0" baseline="0" noProof="0">
                <a:ln>
                  <a:noFill/>
                </a:ln>
                <a:solidFill>
                  <a:srgbClr val="000000"/>
                </a:solidFill>
                <a:effectLst/>
                <a:uLnTx/>
                <a:uFillTx/>
                <a:latin typeface="Calibri"/>
                <a:ea typeface="DFKaiShu-GB5"/>
                <a:cs typeface="+mn-cs"/>
              </a:rPr>
              <a:t>: 20.9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Calibri"/>
                <a:ea typeface="DFKaiShu-GB5"/>
                <a:cs typeface="+mn-cs"/>
              </a:rPr>
              <a:t>Placement: </a:t>
            </a:r>
            <a:r>
              <a:rPr kumimoji="0" lang="en-US" sz="700" i="0" u="none" strike="noStrike" kern="1200" cap="none" spc="0" normalizeH="0" baseline="0" noProof="0">
                <a:ln>
                  <a:noFill/>
                </a:ln>
                <a:solidFill>
                  <a:srgbClr val="000000"/>
                </a:solidFill>
                <a:effectLst/>
                <a:uLnTx/>
                <a:uFillTx/>
                <a:latin typeface="Calibri"/>
                <a:ea typeface="DFKaiShu-GB5"/>
                <a:cs typeface="+mn-cs"/>
              </a:rPr>
              <a:t>14.7</a:t>
            </a:r>
            <a:endParaRPr lang="en-US" sz="700">
              <a:solidFill>
                <a:srgbClr val="000000"/>
              </a:solidFill>
              <a:latin typeface="Calibri"/>
              <a:ea typeface="DFKaiShu-GB5"/>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b="1">
                <a:solidFill>
                  <a:srgbClr val="000000"/>
                </a:solidFill>
                <a:latin typeface="Calibri"/>
                <a:ea typeface="DFKaiShu-GB5"/>
              </a:rPr>
              <a:t>Rights Issue</a:t>
            </a:r>
            <a:r>
              <a:rPr kumimoji="0" lang="en-US" sz="700" b="1" i="0" u="none" strike="noStrike" kern="1200" cap="none" spc="0" normalizeH="0" baseline="0" noProof="0">
                <a:ln>
                  <a:noFill/>
                </a:ln>
                <a:solidFill>
                  <a:srgbClr val="000000"/>
                </a:solidFill>
                <a:effectLst/>
                <a:uLnTx/>
                <a:uFillTx/>
                <a:latin typeface="Calibri"/>
                <a:ea typeface="DFKaiShu-GB5"/>
                <a:cs typeface="+mn-cs"/>
              </a:rPr>
              <a:t>:</a:t>
            </a:r>
            <a:r>
              <a:rPr kumimoji="0" lang="en-US" sz="700" b="0" i="0" u="none" strike="noStrike" kern="1200" cap="none" spc="0" normalizeH="0" baseline="0" noProof="0">
                <a:ln>
                  <a:noFill/>
                </a:ln>
                <a:solidFill>
                  <a:srgbClr val="000000"/>
                </a:solidFill>
                <a:effectLst/>
                <a:uLnTx/>
                <a:uFillTx/>
                <a:latin typeface="Calibri"/>
                <a:ea typeface="DFKaiShu-GB5"/>
                <a:cs typeface="+mn-cs"/>
              </a:rPr>
              <a:t> </a:t>
            </a:r>
            <a:r>
              <a:rPr lang="en-US" sz="700">
                <a:solidFill>
                  <a:srgbClr val="000000"/>
                </a:solidFill>
                <a:latin typeface="Calibri"/>
                <a:ea typeface="DFKaiShu-GB5"/>
              </a:rPr>
              <a:t>0.4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Calibri"/>
              <a:ea typeface="DFKaiShu-GB5"/>
              <a:cs typeface="+mn-cs"/>
            </a:endParaRPr>
          </a:p>
          <a:p>
            <a:pPr eaLnBrk="1" fontAlgn="auto" hangingPunct="1">
              <a:spcBef>
                <a:spcPts val="0"/>
              </a:spcBef>
              <a:spcAft>
                <a:spcPts val="0"/>
              </a:spcAft>
              <a:defRPr/>
            </a:pPr>
            <a:r>
              <a:rPr lang="en-US" sz="700" b="1" u="sng">
                <a:solidFill>
                  <a:srgbClr val="000000"/>
                </a:solidFill>
                <a:latin typeface="Calibri"/>
                <a:ea typeface="DFKaiShu-GB5"/>
              </a:rPr>
              <a:t>2025 Same Period</a:t>
            </a:r>
          </a:p>
          <a:p>
            <a:pPr lvl="0" eaLnBrk="1" fontAlgn="auto" hangingPunct="1">
              <a:spcBef>
                <a:spcPts val="0"/>
              </a:spcBef>
              <a:spcAft>
                <a:spcPts val="0"/>
              </a:spcAft>
              <a:defRPr/>
            </a:pPr>
            <a:r>
              <a:rPr lang="en-US" sz="700" b="1">
                <a:solidFill>
                  <a:srgbClr val="000000"/>
                </a:solidFill>
              </a:rPr>
              <a:t>IPO</a:t>
            </a:r>
            <a:r>
              <a:rPr lang="en-US" sz="700">
                <a:solidFill>
                  <a:srgbClr val="000000"/>
                </a:solidFill>
              </a:rPr>
              <a:t>: 8.4</a:t>
            </a:r>
          </a:p>
          <a:p>
            <a:pPr lvl="0" eaLnBrk="1" fontAlgn="auto" hangingPunct="1">
              <a:spcBef>
                <a:spcPts val="0"/>
              </a:spcBef>
              <a:spcAft>
                <a:spcPts val="0"/>
              </a:spcAft>
              <a:defRPr/>
            </a:pPr>
            <a:r>
              <a:rPr lang="en-US" sz="700" b="1">
                <a:solidFill>
                  <a:srgbClr val="000000"/>
                </a:solidFill>
              </a:rPr>
              <a:t>Placement: </a:t>
            </a:r>
            <a:r>
              <a:rPr lang="en-US" sz="700">
                <a:solidFill>
                  <a:srgbClr val="000000"/>
                </a:solidFill>
              </a:rPr>
              <a:t>16.1</a:t>
            </a:r>
          </a:p>
          <a:p>
            <a:pPr lvl="0" eaLnBrk="1" fontAlgn="auto" hangingPunct="1">
              <a:spcBef>
                <a:spcPts val="0"/>
              </a:spcBef>
              <a:spcAft>
                <a:spcPts val="0"/>
              </a:spcAft>
              <a:defRPr/>
            </a:pPr>
            <a:r>
              <a:rPr lang="en-US" sz="700" b="1">
                <a:solidFill>
                  <a:srgbClr val="000000"/>
                </a:solidFill>
              </a:rPr>
              <a:t>Rights Issue:</a:t>
            </a:r>
            <a:r>
              <a:rPr lang="en-US" sz="700">
                <a:solidFill>
                  <a:srgbClr val="000000"/>
                </a:solidFill>
              </a:rPr>
              <a:t> 0.5</a:t>
            </a:r>
          </a:p>
        </p:txBody>
      </p:sp>
      <p:graphicFrame>
        <p:nvGraphicFramePr>
          <p:cNvPr id="7" name="Chart 6">
            <a:extLst>
              <a:ext uri="{FF2B5EF4-FFF2-40B4-BE49-F238E27FC236}">
                <a16:creationId xmlns:a16="http://schemas.microsoft.com/office/drawing/2014/main" id="{6947DCF0-71B3-4F24-B2C1-2326101A2303}"/>
              </a:ext>
            </a:extLst>
          </p:cNvPr>
          <p:cNvGraphicFramePr/>
          <p:nvPr>
            <p:extLst>
              <p:ext uri="{D42A27DB-BD31-4B8C-83A1-F6EECF244321}">
                <p14:modId xmlns:p14="http://schemas.microsoft.com/office/powerpoint/2010/main" val="1420951328"/>
              </p:ext>
            </p:extLst>
          </p:nvPr>
        </p:nvGraphicFramePr>
        <p:xfrm>
          <a:off x="463348" y="3677429"/>
          <a:ext cx="4114766" cy="2427909"/>
        </p:xfrm>
        <a:graphic>
          <a:graphicData uri="http://schemas.openxmlformats.org/drawingml/2006/chart">
            <c:chart xmlns:c="http://schemas.openxmlformats.org/drawingml/2006/chart" xmlns:r="http://schemas.openxmlformats.org/officeDocument/2006/relationships" r:id="rId4"/>
          </a:graphicData>
        </a:graphic>
      </p:graphicFrame>
      <p:sp>
        <p:nvSpPr>
          <p:cNvPr id="69" name="TextBox 68">
            <a:extLst>
              <a:ext uri="{FF2B5EF4-FFF2-40B4-BE49-F238E27FC236}">
                <a16:creationId xmlns:a16="http://schemas.microsoft.com/office/drawing/2014/main" id="{D7CC85CC-27D0-4E01-B4F9-77B3A7ECFA21}"/>
              </a:ext>
            </a:extLst>
          </p:cNvPr>
          <p:cNvSpPr txBox="1"/>
          <p:nvPr/>
        </p:nvSpPr>
        <p:spPr>
          <a:xfrm>
            <a:off x="473654" y="3633717"/>
            <a:ext cx="575434" cy="2460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rgbClr val="000000"/>
                </a:solidFill>
                <a:latin typeface="Calibri"/>
                <a:ea typeface="DFKaiShu-GB5"/>
                <a:cs typeface="Calibri" panose="020F0502020204030204" pitchFamily="34" charset="0"/>
              </a:rPr>
              <a:t>HK</a:t>
            </a:r>
            <a:r>
              <a:rPr kumimoji="0" lang="en-US" sz="1000" b="1" i="0" u="none" strike="noStrike" kern="1200" cap="none" spc="0" normalizeH="0" baseline="0" noProof="0">
                <a:ln>
                  <a:noFill/>
                </a:ln>
                <a:solidFill>
                  <a:srgbClr val="000000"/>
                </a:solidFill>
                <a:effectLst/>
                <a:uLnTx/>
                <a:uFillTx/>
                <a:latin typeface="Calibri"/>
                <a:ea typeface="DFKaiShu-GB5"/>
                <a:cs typeface="Calibri" panose="020F0502020204030204" pitchFamily="34" charset="0"/>
              </a:rPr>
              <a:t>$’bn</a:t>
            </a:r>
          </a:p>
        </p:txBody>
      </p:sp>
      <p:cxnSp>
        <p:nvCxnSpPr>
          <p:cNvPr id="12" name="Straight Connector 11">
            <a:extLst>
              <a:ext uri="{FF2B5EF4-FFF2-40B4-BE49-F238E27FC236}">
                <a16:creationId xmlns:a16="http://schemas.microsoft.com/office/drawing/2014/main" id="{E268E3DB-B3BD-6932-13EA-D43BCA173956}"/>
              </a:ext>
            </a:extLst>
          </p:cNvPr>
          <p:cNvCxnSpPr>
            <a:cxnSpLocks/>
          </p:cNvCxnSpPr>
          <p:nvPr/>
        </p:nvCxnSpPr>
        <p:spPr bwMode="auto">
          <a:xfrm>
            <a:off x="7955226" y="1560516"/>
            <a:ext cx="0" cy="1501734"/>
          </a:xfrm>
          <a:prstGeom prst="line">
            <a:avLst/>
          </a:prstGeom>
          <a:ln>
            <a:solidFill>
              <a:schemeClr val="tx1">
                <a:lumMod val="85000"/>
                <a:lumOff val="15000"/>
              </a:schemeClr>
            </a:solidFill>
            <a:prstDash val="sysDash"/>
            <a:headEnd type="none" w="med" len="med"/>
            <a:tailEnd type="none" w="med" len="med"/>
          </a:ln>
        </p:spPr>
        <p:style>
          <a:lnRef idx="1">
            <a:schemeClr val="accent4"/>
          </a:lnRef>
          <a:fillRef idx="0">
            <a:schemeClr val="accent4"/>
          </a:fillRef>
          <a:effectRef idx="0">
            <a:schemeClr val="accent4"/>
          </a:effectRef>
          <a:fontRef idx="minor">
            <a:schemeClr val="tx1"/>
          </a:fontRef>
        </p:style>
      </p:cxnSp>
      <p:graphicFrame>
        <p:nvGraphicFramePr>
          <p:cNvPr id="67" name="Table 66">
            <a:extLst>
              <a:ext uri="{FF2B5EF4-FFF2-40B4-BE49-F238E27FC236}">
                <a16:creationId xmlns:a16="http://schemas.microsoft.com/office/drawing/2014/main" id="{11F8C1EF-1669-5FEB-0E00-499FFF1E6490}"/>
              </a:ext>
            </a:extLst>
          </p:cNvPr>
          <p:cNvGraphicFramePr>
            <a:graphicFrameLocks noGrp="1"/>
          </p:cNvGraphicFramePr>
          <p:nvPr>
            <p:extLst>
              <p:ext uri="{D42A27DB-BD31-4B8C-83A1-F6EECF244321}">
                <p14:modId xmlns:p14="http://schemas.microsoft.com/office/powerpoint/2010/main" val="181279180"/>
              </p:ext>
            </p:extLst>
          </p:nvPr>
        </p:nvGraphicFramePr>
        <p:xfrm>
          <a:off x="5153720" y="1463347"/>
          <a:ext cx="3910809" cy="190500"/>
        </p:xfrm>
        <a:graphic>
          <a:graphicData uri="http://schemas.openxmlformats.org/drawingml/2006/table">
            <a:tbl>
              <a:tblPr>
                <a:tableStyleId>{5C22544A-7EE6-4342-B048-85BDC9FD1C3A}</a:tableStyleId>
              </a:tblPr>
              <a:tblGrid>
                <a:gridCol w="558687">
                  <a:extLst>
                    <a:ext uri="{9D8B030D-6E8A-4147-A177-3AD203B41FA5}">
                      <a16:colId xmlns:a16="http://schemas.microsoft.com/office/drawing/2014/main" val="4077783810"/>
                    </a:ext>
                  </a:extLst>
                </a:gridCol>
                <a:gridCol w="558687">
                  <a:extLst>
                    <a:ext uri="{9D8B030D-6E8A-4147-A177-3AD203B41FA5}">
                      <a16:colId xmlns:a16="http://schemas.microsoft.com/office/drawing/2014/main" val="3314379642"/>
                    </a:ext>
                  </a:extLst>
                </a:gridCol>
                <a:gridCol w="558687">
                  <a:extLst>
                    <a:ext uri="{9D8B030D-6E8A-4147-A177-3AD203B41FA5}">
                      <a16:colId xmlns:a16="http://schemas.microsoft.com/office/drawing/2014/main" val="1047351390"/>
                    </a:ext>
                  </a:extLst>
                </a:gridCol>
                <a:gridCol w="558687">
                  <a:extLst>
                    <a:ext uri="{9D8B030D-6E8A-4147-A177-3AD203B41FA5}">
                      <a16:colId xmlns:a16="http://schemas.microsoft.com/office/drawing/2014/main" val="457805657"/>
                    </a:ext>
                  </a:extLst>
                </a:gridCol>
                <a:gridCol w="558687">
                  <a:extLst>
                    <a:ext uri="{9D8B030D-6E8A-4147-A177-3AD203B41FA5}">
                      <a16:colId xmlns:a16="http://schemas.microsoft.com/office/drawing/2014/main" val="1666367389"/>
                    </a:ext>
                  </a:extLst>
                </a:gridCol>
                <a:gridCol w="558687">
                  <a:extLst>
                    <a:ext uri="{9D8B030D-6E8A-4147-A177-3AD203B41FA5}">
                      <a16:colId xmlns:a16="http://schemas.microsoft.com/office/drawing/2014/main" val="591188646"/>
                    </a:ext>
                  </a:extLst>
                </a:gridCol>
                <a:gridCol w="558687">
                  <a:extLst>
                    <a:ext uri="{9D8B030D-6E8A-4147-A177-3AD203B41FA5}">
                      <a16:colId xmlns:a16="http://schemas.microsoft.com/office/drawing/2014/main" val="973111768"/>
                    </a:ext>
                  </a:extLst>
                </a:gridCol>
              </a:tblGrid>
              <a:tr h="190500">
                <a:tc>
                  <a:txBody>
                    <a:bodyPr/>
                    <a:lstStyle/>
                    <a:p>
                      <a:pPr algn="ctr" fontAlgn="b"/>
                      <a:r>
                        <a:rPr lang="en-US" sz="900" b="1" u="none" strike="noStrike">
                          <a:effectLst/>
                        </a:rPr>
                        <a:t>112.5</a:t>
                      </a:r>
                      <a:endParaRPr lang="en-US" sz="900" b="1" i="0"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b"/>
                      <a:r>
                        <a:rPr lang="en-US" sz="900" b="1" u="none" strike="noStrike">
                          <a:effectLst/>
                        </a:rPr>
                        <a:t>23.2</a:t>
                      </a:r>
                      <a:endParaRPr lang="en-US" sz="900" b="1" i="0"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b"/>
                      <a:r>
                        <a:rPr lang="en-US" sz="900" b="1" u="none" strike="noStrike">
                          <a:effectLst/>
                        </a:rPr>
                        <a:t>17.8</a:t>
                      </a:r>
                      <a:endParaRPr lang="en-US" sz="900" b="1" i="0" u="none" strike="noStrike">
                        <a:solidFill>
                          <a:srgbClr val="000000"/>
                        </a:solidFill>
                        <a:effectLst/>
                        <a:latin typeface="Calibri" panose="020F0502020204030204" pitchFamily="34" charset="0"/>
                      </a:endParaRPr>
                    </a:p>
                  </a:txBody>
                  <a:tcPr marL="9525" marR="9525" marT="9525" marB="0" anchor="ctr">
                    <a:noFill/>
                  </a:tcPr>
                </a:tc>
                <a:tc>
                  <a:txBody>
                    <a:bodyPr/>
                    <a:lstStyle/>
                    <a:p>
                      <a:pPr algn="ctr" fontAlgn="b"/>
                      <a:r>
                        <a:rPr lang="en-US" sz="900" b="1" i="0" u="none" strike="noStrike">
                          <a:solidFill>
                            <a:srgbClr val="000000"/>
                          </a:solidFill>
                          <a:effectLst/>
                          <a:latin typeface="Calibri" panose="020F0502020204030204" pitchFamily="34" charset="0"/>
                        </a:rPr>
                        <a:t>18.8</a:t>
                      </a:r>
                    </a:p>
                  </a:txBody>
                  <a:tcPr marL="9525" marR="9525" marT="9525" marB="0" anchor="ctr">
                    <a:noFill/>
                  </a:tcPr>
                </a:tc>
                <a:tc>
                  <a:txBody>
                    <a:bodyPr/>
                    <a:lstStyle/>
                    <a:p>
                      <a:pPr algn="ctr" fontAlgn="b"/>
                      <a:r>
                        <a:rPr lang="en-US" sz="900" b="1" i="0" u="none" strike="noStrike">
                          <a:solidFill>
                            <a:srgbClr val="000000"/>
                          </a:solidFill>
                          <a:effectLst/>
                          <a:latin typeface="Calibri" panose="020F0502020204030204" pitchFamily="34" charset="0"/>
                        </a:rPr>
                        <a:t>82.2</a:t>
                      </a:r>
                    </a:p>
                  </a:txBody>
                  <a:tcPr marL="9525" marR="9525" marT="9525" marB="0" anchor="ctr">
                    <a:noFill/>
                  </a:tcPr>
                </a:tc>
                <a:tc>
                  <a:txBody>
                    <a:bodyPr/>
                    <a:lstStyle/>
                    <a:p>
                      <a:pPr algn="ctr" fontAlgn="b"/>
                      <a:r>
                        <a:rPr lang="en-US" sz="900" b="1" i="0" u="none" strike="noStrike">
                          <a:solidFill>
                            <a:srgbClr val="000000"/>
                          </a:solidFill>
                          <a:effectLst/>
                          <a:latin typeface="Calibri" panose="020F0502020204030204" pitchFamily="34" charset="0"/>
                        </a:rPr>
                        <a:t>3.1</a:t>
                      </a:r>
                    </a:p>
                  </a:txBody>
                  <a:tcPr marL="9525" marR="9525" marT="9525" marB="0" anchor="ctr">
                    <a:noFill/>
                  </a:tcPr>
                </a:tc>
                <a:tc>
                  <a:txBody>
                    <a:bodyPr/>
                    <a:lstStyle/>
                    <a:p>
                      <a:pPr algn="ctr" fontAlgn="b"/>
                      <a:r>
                        <a:rPr lang="en-US" sz="900" b="1" i="0" u="none" strike="noStrike">
                          <a:solidFill>
                            <a:srgbClr val="000000"/>
                          </a:solidFill>
                          <a:effectLst/>
                          <a:latin typeface="Calibri" panose="020F0502020204030204" pitchFamily="34" charset="0"/>
                        </a:rPr>
                        <a:t>16.7</a:t>
                      </a:r>
                    </a:p>
                  </a:txBody>
                  <a:tcPr marL="9525" marR="9525" marT="9525" marB="0" anchor="ctr">
                    <a:noFill/>
                  </a:tcPr>
                </a:tc>
                <a:extLst>
                  <a:ext uri="{0D108BD9-81ED-4DB2-BD59-A6C34878D82A}">
                    <a16:rowId xmlns:a16="http://schemas.microsoft.com/office/drawing/2014/main" val="907917622"/>
                  </a:ext>
                </a:extLst>
              </a:tr>
            </a:tbl>
          </a:graphicData>
        </a:graphic>
      </p:graphicFrame>
      <p:graphicFrame>
        <p:nvGraphicFramePr>
          <p:cNvPr id="14" name="Chart 13">
            <a:extLst>
              <a:ext uri="{FF2B5EF4-FFF2-40B4-BE49-F238E27FC236}">
                <a16:creationId xmlns:a16="http://schemas.microsoft.com/office/drawing/2014/main" id="{779D6726-228A-56B9-7D1F-BAEB108BE6C9}"/>
              </a:ext>
            </a:extLst>
          </p:cNvPr>
          <p:cNvGraphicFramePr>
            <a:graphicFrameLocks/>
          </p:cNvGraphicFramePr>
          <p:nvPr>
            <p:extLst>
              <p:ext uri="{D42A27DB-BD31-4B8C-83A1-F6EECF244321}">
                <p14:modId xmlns:p14="http://schemas.microsoft.com/office/powerpoint/2010/main" val="1476916119"/>
              </p:ext>
            </p:extLst>
          </p:nvPr>
        </p:nvGraphicFramePr>
        <p:xfrm>
          <a:off x="4953188" y="3903709"/>
          <a:ext cx="4231511" cy="2346054"/>
        </p:xfrm>
        <a:graphic>
          <a:graphicData uri="http://schemas.openxmlformats.org/drawingml/2006/chart">
            <c:chart xmlns:c="http://schemas.openxmlformats.org/drawingml/2006/chart" xmlns:r="http://schemas.openxmlformats.org/officeDocument/2006/relationships" r:id="rId5"/>
          </a:graphicData>
        </a:graphic>
      </p:graphicFrame>
      <p:grpSp>
        <p:nvGrpSpPr>
          <p:cNvPr id="62" name="Group 61">
            <a:extLst>
              <a:ext uri="{FF2B5EF4-FFF2-40B4-BE49-F238E27FC236}">
                <a16:creationId xmlns:a16="http://schemas.microsoft.com/office/drawing/2014/main" id="{2FB3A026-9B64-CC5A-87C4-4459001EB30D}"/>
              </a:ext>
            </a:extLst>
          </p:cNvPr>
          <p:cNvGrpSpPr/>
          <p:nvPr/>
        </p:nvGrpSpPr>
        <p:grpSpPr>
          <a:xfrm>
            <a:off x="5197839" y="3904693"/>
            <a:ext cx="2349058" cy="883823"/>
            <a:chOff x="5062623" y="4091712"/>
            <a:chExt cx="3383592" cy="883823"/>
          </a:xfrm>
        </p:grpSpPr>
        <p:sp>
          <p:nvSpPr>
            <p:cNvPr id="63" name="TextBox 62">
              <a:extLst>
                <a:ext uri="{FF2B5EF4-FFF2-40B4-BE49-F238E27FC236}">
                  <a16:creationId xmlns:a16="http://schemas.microsoft.com/office/drawing/2014/main" id="{A006F178-E579-DB1D-8D6A-C782EA24C22A}"/>
                </a:ext>
              </a:extLst>
            </p:cNvPr>
            <p:cNvSpPr txBox="1"/>
            <p:nvPr/>
          </p:nvSpPr>
          <p:spPr>
            <a:xfrm>
              <a:off x="7127331" y="4674559"/>
              <a:ext cx="131888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Calibri"/>
                  <a:ea typeface="DFKaiShu-GB5"/>
                  <a:cs typeface="+mn-cs"/>
                </a:rPr>
                <a:t>2023 Avg: </a:t>
              </a:r>
              <a:r>
                <a:rPr kumimoji="0" lang="en-US" sz="700" b="1" i="0" u="none" strike="noStrike" kern="1200" cap="none" spc="0" normalizeH="0" baseline="0" noProof="0">
                  <a:ln>
                    <a:noFill/>
                  </a:ln>
                  <a:solidFill>
                    <a:srgbClr val="000000"/>
                  </a:solidFill>
                  <a:effectLst/>
                  <a:uLnTx/>
                  <a:uFillTx/>
                  <a:latin typeface="Calibri"/>
                  <a:ea typeface="DFKaiShu-GB5"/>
                  <a:cs typeface="+mn-cs"/>
                </a:rPr>
                <a:t>US$13.4b</a:t>
              </a:r>
            </a:p>
          </p:txBody>
        </p:sp>
        <p:sp>
          <p:nvSpPr>
            <p:cNvPr id="66" name="TextBox 65">
              <a:extLst>
                <a:ext uri="{FF2B5EF4-FFF2-40B4-BE49-F238E27FC236}">
                  <a16:creationId xmlns:a16="http://schemas.microsoft.com/office/drawing/2014/main" id="{3E2393AF-8A22-CC60-F5EE-26E3FE23C3E5}"/>
                </a:ext>
              </a:extLst>
            </p:cNvPr>
            <p:cNvSpPr txBox="1"/>
            <p:nvPr/>
          </p:nvSpPr>
          <p:spPr>
            <a:xfrm>
              <a:off x="5062623" y="4091712"/>
              <a:ext cx="131888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Calibri"/>
                  <a:ea typeface="DFKaiShu-GB5"/>
                  <a:cs typeface="+mn-cs"/>
                </a:rPr>
                <a:t>2021 </a:t>
              </a:r>
              <a:r>
                <a:rPr lang="en-US" sz="700">
                  <a:solidFill>
                    <a:srgbClr val="000000"/>
                  </a:solidFill>
                  <a:latin typeface="Calibri"/>
                  <a:ea typeface="DFKaiShu-GB5"/>
                </a:rPr>
                <a:t>Avg</a:t>
              </a:r>
              <a:r>
                <a:rPr kumimoji="0" lang="en-US" sz="700" i="0" u="none" strike="noStrike" kern="1200" cap="none" spc="0" normalizeH="0" baseline="0" noProof="0">
                  <a:ln>
                    <a:noFill/>
                  </a:ln>
                  <a:solidFill>
                    <a:srgbClr val="000000"/>
                  </a:solidFill>
                  <a:effectLst/>
                  <a:uLnTx/>
                  <a:uFillTx/>
                  <a:latin typeface="Calibri"/>
                  <a:ea typeface="DFKaiShu-GB5"/>
                  <a:cs typeface="+mn-cs"/>
                </a:rPr>
                <a:t>: </a:t>
              </a:r>
              <a:r>
                <a:rPr kumimoji="0" lang="en-US" sz="700" b="1" i="0" u="none" strike="noStrike" kern="1200" cap="none" spc="0" normalizeH="0" baseline="0" noProof="0">
                  <a:ln>
                    <a:noFill/>
                  </a:ln>
                  <a:solidFill>
                    <a:srgbClr val="000000"/>
                  </a:solidFill>
                  <a:effectLst/>
                  <a:uLnTx/>
                  <a:uFillTx/>
                  <a:latin typeface="Calibri"/>
                  <a:ea typeface="DFKaiShu-GB5"/>
                  <a:cs typeface="+mn-cs"/>
                </a:rPr>
                <a:t>US$21.4b</a:t>
              </a:r>
            </a:p>
          </p:txBody>
        </p:sp>
        <p:sp>
          <p:nvSpPr>
            <p:cNvPr id="68" name="TextBox 67">
              <a:extLst>
                <a:ext uri="{FF2B5EF4-FFF2-40B4-BE49-F238E27FC236}">
                  <a16:creationId xmlns:a16="http://schemas.microsoft.com/office/drawing/2014/main" id="{5DFAB03F-E8F2-347F-2E8F-89B6FF5B9DF4}"/>
                </a:ext>
              </a:extLst>
            </p:cNvPr>
            <p:cNvSpPr txBox="1"/>
            <p:nvPr/>
          </p:nvSpPr>
          <p:spPr>
            <a:xfrm>
              <a:off x="6083047" y="4530556"/>
              <a:ext cx="131888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Calibri"/>
                  <a:ea typeface="DFKaiShu-GB5"/>
                  <a:cs typeface="+mn-cs"/>
                </a:rPr>
                <a:t>2022 </a:t>
              </a:r>
              <a:r>
                <a:rPr lang="en-US" sz="700">
                  <a:solidFill>
                    <a:srgbClr val="000000"/>
                  </a:solidFill>
                  <a:latin typeface="Calibri"/>
                  <a:ea typeface="DFKaiShu-GB5"/>
                </a:rPr>
                <a:t>Avg</a:t>
              </a:r>
              <a:r>
                <a:rPr kumimoji="0" lang="en-US" sz="700" i="0" u="none" strike="noStrike" kern="1200" cap="none" spc="0" normalizeH="0" baseline="0" noProof="0">
                  <a:ln>
                    <a:noFill/>
                  </a:ln>
                  <a:solidFill>
                    <a:srgbClr val="000000"/>
                  </a:solidFill>
                  <a:effectLst/>
                  <a:uLnTx/>
                  <a:uFillTx/>
                  <a:latin typeface="Calibri"/>
                  <a:ea typeface="DFKaiShu-GB5"/>
                  <a:cs typeface="+mn-cs"/>
                </a:rPr>
                <a:t>: </a:t>
              </a:r>
              <a:r>
                <a:rPr kumimoji="0" lang="en-US" sz="700" b="1" i="0" u="none" strike="noStrike" kern="1200" cap="none" spc="0" normalizeH="0" baseline="0" noProof="0">
                  <a:ln>
                    <a:noFill/>
                  </a:ln>
                  <a:solidFill>
                    <a:srgbClr val="000000"/>
                  </a:solidFill>
                  <a:effectLst/>
                  <a:uLnTx/>
                  <a:uFillTx/>
                  <a:latin typeface="Calibri"/>
                  <a:ea typeface="DFKaiShu-GB5"/>
                  <a:cs typeface="+mn-cs"/>
                </a:rPr>
                <a:t>US$</a:t>
              </a:r>
              <a:r>
                <a:rPr lang="en-US" sz="700" b="1">
                  <a:solidFill>
                    <a:srgbClr val="000000"/>
                  </a:solidFill>
                  <a:latin typeface="Calibri"/>
                  <a:ea typeface="DFKaiShu-GB5"/>
                </a:rPr>
                <a:t>15.9</a:t>
              </a:r>
              <a:r>
                <a:rPr kumimoji="0" lang="en-US" sz="700" b="1" i="0" u="none" strike="noStrike" kern="1200" cap="none" spc="0" normalizeH="0" baseline="0" noProof="0">
                  <a:ln>
                    <a:noFill/>
                  </a:ln>
                  <a:solidFill>
                    <a:srgbClr val="000000"/>
                  </a:solidFill>
                  <a:effectLst/>
                  <a:uLnTx/>
                  <a:uFillTx/>
                  <a:latin typeface="Calibri"/>
                  <a:ea typeface="DFKaiShu-GB5"/>
                  <a:cs typeface="+mn-cs"/>
                </a:rPr>
                <a:t>b</a:t>
              </a:r>
            </a:p>
          </p:txBody>
        </p:sp>
        <p:sp>
          <p:nvSpPr>
            <p:cNvPr id="71" name="Left Brace 70">
              <a:extLst>
                <a:ext uri="{FF2B5EF4-FFF2-40B4-BE49-F238E27FC236}">
                  <a16:creationId xmlns:a16="http://schemas.microsoft.com/office/drawing/2014/main" id="{2A53E6AE-CF02-E8C7-BCB2-73D6AC5A6B39}"/>
                </a:ext>
              </a:extLst>
            </p:cNvPr>
            <p:cNvSpPr/>
            <p:nvPr/>
          </p:nvSpPr>
          <p:spPr>
            <a:xfrm rot="5400000">
              <a:off x="5592793" y="3896357"/>
              <a:ext cx="108610" cy="8647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sp>
          <p:nvSpPr>
            <p:cNvPr id="72" name="Left Brace 71">
              <a:extLst>
                <a:ext uri="{FF2B5EF4-FFF2-40B4-BE49-F238E27FC236}">
                  <a16:creationId xmlns:a16="http://schemas.microsoft.com/office/drawing/2014/main" id="{2CC73019-AA49-B20E-B639-D6977F4ADC86}"/>
                </a:ext>
              </a:extLst>
            </p:cNvPr>
            <p:cNvSpPr/>
            <p:nvPr/>
          </p:nvSpPr>
          <p:spPr>
            <a:xfrm rot="5400000">
              <a:off x="6628898" y="4324801"/>
              <a:ext cx="120736" cy="9331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sp>
          <p:nvSpPr>
            <p:cNvPr id="74" name="Left Brace 73">
              <a:extLst>
                <a:ext uri="{FF2B5EF4-FFF2-40B4-BE49-F238E27FC236}">
                  <a16:creationId xmlns:a16="http://schemas.microsoft.com/office/drawing/2014/main" id="{0D5E5C00-C69D-4479-CFD3-DD63DFDAB989}"/>
                </a:ext>
              </a:extLst>
            </p:cNvPr>
            <p:cNvSpPr/>
            <p:nvPr/>
          </p:nvSpPr>
          <p:spPr>
            <a:xfrm rot="5400000">
              <a:off x="7701671" y="4448612"/>
              <a:ext cx="120736" cy="93310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grpSp>
      <p:grpSp>
        <p:nvGrpSpPr>
          <p:cNvPr id="22" name="Group 21">
            <a:extLst>
              <a:ext uri="{FF2B5EF4-FFF2-40B4-BE49-F238E27FC236}">
                <a16:creationId xmlns:a16="http://schemas.microsoft.com/office/drawing/2014/main" id="{2C5CB86B-839F-BC9D-D734-E2966123F101}"/>
              </a:ext>
            </a:extLst>
          </p:cNvPr>
          <p:cNvGrpSpPr/>
          <p:nvPr/>
        </p:nvGrpSpPr>
        <p:grpSpPr>
          <a:xfrm>
            <a:off x="7268292" y="4093135"/>
            <a:ext cx="915635" cy="342664"/>
            <a:chOff x="7663738" y="4308076"/>
            <a:chExt cx="1040297" cy="342664"/>
          </a:xfrm>
        </p:grpSpPr>
        <p:sp>
          <p:nvSpPr>
            <p:cNvPr id="8" name="Left Brace 7">
              <a:extLst>
                <a:ext uri="{FF2B5EF4-FFF2-40B4-BE49-F238E27FC236}">
                  <a16:creationId xmlns:a16="http://schemas.microsoft.com/office/drawing/2014/main" id="{F61B1E1E-C6BA-F592-C9B5-C30ED2E6ECC8}"/>
                </a:ext>
              </a:extLst>
            </p:cNvPr>
            <p:cNvSpPr/>
            <p:nvPr/>
          </p:nvSpPr>
          <p:spPr>
            <a:xfrm rot="5400000">
              <a:off x="8141927" y="4195647"/>
              <a:ext cx="120736" cy="7894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sp>
          <p:nvSpPr>
            <p:cNvPr id="20" name="TextBox 19">
              <a:extLst>
                <a:ext uri="{FF2B5EF4-FFF2-40B4-BE49-F238E27FC236}">
                  <a16:creationId xmlns:a16="http://schemas.microsoft.com/office/drawing/2014/main" id="{F10742FF-40D0-7A05-4D0D-16D90688E555}"/>
                </a:ext>
              </a:extLst>
            </p:cNvPr>
            <p:cNvSpPr txBox="1"/>
            <p:nvPr/>
          </p:nvSpPr>
          <p:spPr>
            <a:xfrm>
              <a:off x="7663738" y="4308076"/>
              <a:ext cx="104029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Calibri"/>
                  <a:ea typeface="DFKaiShu-GB5"/>
                  <a:cs typeface="+mn-cs"/>
                </a:rPr>
                <a:t>2024 Avg: </a:t>
              </a:r>
              <a:r>
                <a:rPr kumimoji="0" lang="en-US" sz="700" b="1" i="0" u="none" strike="noStrike" kern="1200" cap="none" spc="0" normalizeH="0" baseline="0" noProof="0">
                  <a:ln>
                    <a:noFill/>
                  </a:ln>
                  <a:solidFill>
                    <a:srgbClr val="000000"/>
                  </a:solidFill>
                  <a:effectLst/>
                  <a:uLnTx/>
                  <a:uFillTx/>
                  <a:latin typeface="Calibri"/>
                  <a:ea typeface="DFKaiShu-GB5"/>
                  <a:cs typeface="+mn-cs"/>
                </a:rPr>
                <a:t>US$16.9b</a:t>
              </a:r>
            </a:p>
          </p:txBody>
        </p:sp>
      </p:grpSp>
      <p:grpSp>
        <p:nvGrpSpPr>
          <p:cNvPr id="19" name="Group 18">
            <a:extLst>
              <a:ext uri="{FF2B5EF4-FFF2-40B4-BE49-F238E27FC236}">
                <a16:creationId xmlns:a16="http://schemas.microsoft.com/office/drawing/2014/main" id="{830805C3-28BC-F39B-43FB-10FBA46D014A}"/>
              </a:ext>
            </a:extLst>
          </p:cNvPr>
          <p:cNvGrpSpPr/>
          <p:nvPr/>
        </p:nvGrpSpPr>
        <p:grpSpPr>
          <a:xfrm>
            <a:off x="7992172" y="3710908"/>
            <a:ext cx="915635" cy="342664"/>
            <a:chOff x="7663738" y="4308076"/>
            <a:chExt cx="1040298" cy="342664"/>
          </a:xfrm>
        </p:grpSpPr>
        <p:sp>
          <p:nvSpPr>
            <p:cNvPr id="21" name="Left Brace 20">
              <a:extLst>
                <a:ext uri="{FF2B5EF4-FFF2-40B4-BE49-F238E27FC236}">
                  <a16:creationId xmlns:a16="http://schemas.microsoft.com/office/drawing/2014/main" id="{9BD6448B-203D-5150-9460-4BA28595EC2E}"/>
                </a:ext>
              </a:extLst>
            </p:cNvPr>
            <p:cNvSpPr/>
            <p:nvPr/>
          </p:nvSpPr>
          <p:spPr>
            <a:xfrm rot="5400000">
              <a:off x="8141927" y="4195647"/>
              <a:ext cx="120736" cy="7894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700"/>
            </a:p>
          </p:txBody>
        </p:sp>
        <p:sp>
          <p:nvSpPr>
            <p:cNvPr id="26" name="TextBox 25">
              <a:extLst>
                <a:ext uri="{FF2B5EF4-FFF2-40B4-BE49-F238E27FC236}">
                  <a16:creationId xmlns:a16="http://schemas.microsoft.com/office/drawing/2014/main" id="{ED8D9572-1E6A-CB86-8629-9BD52ED83D19}"/>
                </a:ext>
              </a:extLst>
            </p:cNvPr>
            <p:cNvSpPr txBox="1"/>
            <p:nvPr/>
          </p:nvSpPr>
          <p:spPr>
            <a:xfrm>
              <a:off x="7663738" y="4308076"/>
              <a:ext cx="1040298"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i="0" u="none" strike="noStrike" kern="1200" cap="none" spc="0" normalizeH="0" baseline="0" noProof="0">
                  <a:ln>
                    <a:noFill/>
                  </a:ln>
                  <a:solidFill>
                    <a:srgbClr val="000000"/>
                  </a:solidFill>
                  <a:effectLst/>
                  <a:uLnTx/>
                  <a:uFillTx/>
                  <a:latin typeface="Calibri"/>
                  <a:ea typeface="DFKaiShu-GB5"/>
                  <a:cs typeface="+mn-cs"/>
                </a:rPr>
                <a:t>2025 Avg: </a:t>
              </a:r>
              <a:r>
                <a:rPr kumimoji="0" lang="en-US" sz="700" b="1" i="0" u="none" strike="noStrike" kern="1200" cap="none" spc="0" normalizeH="0" baseline="0" noProof="0">
                  <a:ln>
                    <a:noFill/>
                  </a:ln>
                  <a:solidFill>
                    <a:srgbClr val="000000"/>
                  </a:solidFill>
                  <a:effectLst/>
                  <a:uLnTx/>
                  <a:uFillTx/>
                  <a:latin typeface="Calibri"/>
                  <a:ea typeface="DFKaiShu-GB5"/>
                  <a:cs typeface="+mn-cs"/>
                </a:rPr>
                <a:t>US$</a:t>
              </a:r>
              <a:r>
                <a:rPr lang="en-US" sz="700" b="1">
                  <a:solidFill>
                    <a:srgbClr val="000000"/>
                  </a:solidFill>
                  <a:latin typeface="Calibri"/>
                  <a:ea typeface="DFKaiShu-GB5"/>
                  <a:cs typeface="+mn-cs"/>
                </a:rPr>
                <a:t>32.0</a:t>
              </a:r>
              <a:r>
                <a:rPr kumimoji="0" lang="en-US" sz="700" b="1" i="0" u="none" strike="noStrike" kern="1200" cap="none" spc="0" normalizeH="0" baseline="0" noProof="0">
                  <a:ln>
                    <a:noFill/>
                  </a:ln>
                  <a:solidFill>
                    <a:srgbClr val="000000"/>
                  </a:solidFill>
                  <a:effectLst/>
                  <a:uLnTx/>
                  <a:uFillTx/>
                  <a:latin typeface="Calibri"/>
                  <a:ea typeface="DFKaiShu-GB5"/>
                  <a:cs typeface="+mn-cs"/>
                </a:rPr>
                <a:t>b</a:t>
              </a:r>
            </a:p>
          </p:txBody>
        </p:sp>
      </p:grpSp>
      <p:grpSp>
        <p:nvGrpSpPr>
          <p:cNvPr id="57" name="Group 56">
            <a:extLst>
              <a:ext uri="{FF2B5EF4-FFF2-40B4-BE49-F238E27FC236}">
                <a16:creationId xmlns:a16="http://schemas.microsoft.com/office/drawing/2014/main" id="{3E6AF932-3BE1-4F8B-1504-AF5655493111}"/>
              </a:ext>
            </a:extLst>
          </p:cNvPr>
          <p:cNvGrpSpPr/>
          <p:nvPr/>
        </p:nvGrpSpPr>
        <p:grpSpPr>
          <a:xfrm>
            <a:off x="548614" y="1143057"/>
            <a:ext cx="3994893" cy="2257289"/>
            <a:chOff x="530085" y="1838139"/>
            <a:chExt cx="3950001" cy="1962966"/>
          </a:xfrm>
        </p:grpSpPr>
        <p:graphicFrame>
          <p:nvGraphicFramePr>
            <p:cNvPr id="79" name="Chart 14">
              <a:extLst>
                <a:ext uri="{FF2B5EF4-FFF2-40B4-BE49-F238E27FC236}">
                  <a16:creationId xmlns:a16="http://schemas.microsoft.com/office/drawing/2014/main" id="{94E4F024-43F7-852B-A580-77A1D11971BE}"/>
                </a:ext>
              </a:extLst>
            </p:cNvPr>
            <p:cNvGraphicFramePr>
              <a:graphicFrameLocks/>
            </p:cNvGraphicFramePr>
            <p:nvPr>
              <p:extLst>
                <p:ext uri="{D42A27DB-BD31-4B8C-83A1-F6EECF244321}">
                  <p14:modId xmlns:p14="http://schemas.microsoft.com/office/powerpoint/2010/main" val="662144281"/>
                </p:ext>
              </p:extLst>
            </p:nvPr>
          </p:nvGraphicFramePr>
          <p:xfrm>
            <a:off x="530085" y="2003404"/>
            <a:ext cx="3950001" cy="1797701"/>
          </p:xfrm>
          <a:graphic>
            <a:graphicData uri="http://schemas.openxmlformats.org/drawingml/2006/chart">
              <c:chart xmlns:c="http://schemas.openxmlformats.org/drawingml/2006/chart" xmlns:r="http://schemas.openxmlformats.org/officeDocument/2006/relationships" r:id="rId6"/>
            </a:graphicData>
          </a:graphic>
        </p:graphicFrame>
        <p:sp>
          <p:nvSpPr>
            <p:cNvPr id="80" name="TextBox 79">
              <a:extLst>
                <a:ext uri="{FF2B5EF4-FFF2-40B4-BE49-F238E27FC236}">
                  <a16:creationId xmlns:a16="http://schemas.microsoft.com/office/drawing/2014/main" id="{4336DB3E-2B14-B3F3-5682-776136F5354D}"/>
                </a:ext>
              </a:extLst>
            </p:cNvPr>
            <p:cNvSpPr txBox="1"/>
            <p:nvPr/>
          </p:nvSpPr>
          <p:spPr>
            <a:xfrm>
              <a:off x="530085" y="1838139"/>
              <a:ext cx="594854" cy="2141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rgbClr val="000000"/>
                  </a:solidFill>
                  <a:effectLst/>
                  <a:uLnTx/>
                  <a:uFillTx/>
                  <a:latin typeface="Calibri"/>
                  <a:ea typeface="DFKaiShu-GB5"/>
                  <a:cs typeface="Calibri" panose="020F0502020204030204" pitchFamily="34" charset="0"/>
                </a:rPr>
                <a:t>US$’bn</a:t>
              </a:r>
              <a:endParaRPr kumimoji="0" lang="en-US" sz="1000" b="1" i="0" u="none" strike="noStrike" kern="1200" cap="none" spc="0" normalizeH="0" baseline="0" noProof="0">
                <a:ln>
                  <a:noFill/>
                </a:ln>
                <a:solidFill>
                  <a:srgbClr val="000000"/>
                </a:solidFill>
                <a:effectLst/>
                <a:uLnTx/>
                <a:uFillTx/>
                <a:latin typeface="Calibri"/>
                <a:ea typeface="DFKaiShu-GB5"/>
                <a:cs typeface="Calibri" panose="020F0502020204030204" pitchFamily="34" charset="0"/>
              </a:endParaRPr>
            </a:p>
          </p:txBody>
        </p:sp>
      </p:grpSp>
      <p:sp>
        <p:nvSpPr>
          <p:cNvPr id="82" name="Arrow: Right 81">
            <a:extLst>
              <a:ext uri="{FF2B5EF4-FFF2-40B4-BE49-F238E27FC236}">
                <a16:creationId xmlns:a16="http://schemas.microsoft.com/office/drawing/2014/main" id="{B74AACC7-361E-E46C-8DAA-49BF3C5E31F5}"/>
              </a:ext>
            </a:extLst>
          </p:cNvPr>
          <p:cNvSpPr/>
          <p:nvPr/>
        </p:nvSpPr>
        <p:spPr bwMode="auto">
          <a:xfrm rot="20509946">
            <a:off x="1009389" y="1282220"/>
            <a:ext cx="502050"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a:solidFill>
                  <a:srgbClr val="00B050"/>
                </a:solidFill>
                <a:latin typeface="Arial" panose="020B0604020202020204" pitchFamily="34" charset="0"/>
              </a:rPr>
              <a:t>57</a:t>
            </a:r>
            <a:r>
              <a:rPr lang="en-SG" sz="700" b="1">
                <a:solidFill>
                  <a:srgbClr val="00B050"/>
                </a:solidFill>
                <a:latin typeface="Arial" panose="020B0604020202020204" pitchFamily="34" charset="0"/>
              </a:rPr>
              <a:t>%</a:t>
            </a:r>
            <a:endParaRPr kumimoji="0" lang="en-SG" sz="700" b="1" i="0" u="none" strike="noStrike" cap="none" normalizeH="0" baseline="0">
              <a:ln>
                <a:noFill/>
              </a:ln>
              <a:solidFill>
                <a:srgbClr val="00B050"/>
              </a:solidFill>
              <a:effectLst/>
              <a:latin typeface="Arial" panose="020B0604020202020204" pitchFamily="34" charset="0"/>
            </a:endParaRPr>
          </a:p>
        </p:txBody>
      </p:sp>
      <p:sp>
        <p:nvSpPr>
          <p:cNvPr id="86" name="Arrow: Right 85">
            <a:extLst>
              <a:ext uri="{FF2B5EF4-FFF2-40B4-BE49-F238E27FC236}">
                <a16:creationId xmlns:a16="http://schemas.microsoft.com/office/drawing/2014/main" id="{1F25667D-F380-825E-992F-6275B2E78CC2}"/>
              </a:ext>
            </a:extLst>
          </p:cNvPr>
          <p:cNvSpPr/>
          <p:nvPr/>
        </p:nvSpPr>
        <p:spPr bwMode="auto">
          <a:xfrm rot="1440862">
            <a:off x="4079092" y="2512362"/>
            <a:ext cx="502920" cy="210312"/>
          </a:xfrm>
          <a:prstGeom prst="rightArrow">
            <a:avLst>
              <a:gd name="adj1" fmla="val 60561"/>
              <a:gd name="adj2" fmla="val 59964"/>
            </a:avLst>
          </a:prstGeom>
          <a:solidFill>
            <a:srgbClr val="FE9999"/>
          </a:solidFill>
          <a:ln>
            <a:solidFill>
              <a:srgbClr val="C00000"/>
            </a:solidFill>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700" b="1" i="0" u="none" strike="noStrike" kern="0" cap="none" spc="0" normalizeH="0" baseline="0" noProof="0">
                <a:ln>
                  <a:noFill/>
                </a:ln>
                <a:solidFill>
                  <a:srgbClr val="C00000"/>
                </a:solidFill>
                <a:effectLst/>
                <a:uLnTx/>
                <a:uFillTx/>
                <a:latin typeface="Arial" panose="020B0604020202020204" pitchFamily="34" charset="0"/>
                <a:ea typeface="+mn-ea"/>
                <a:cs typeface="+mn-cs"/>
              </a:rPr>
              <a:t>20</a:t>
            </a:r>
            <a:r>
              <a:rPr kumimoji="0" lang="en-SG" sz="700" b="1" i="0" u="none" strike="noStrike" kern="0" cap="none" spc="0" normalizeH="0" baseline="0" noProof="0">
                <a:ln>
                  <a:noFill/>
                </a:ln>
                <a:solidFill>
                  <a:srgbClr val="C00000"/>
                </a:solidFill>
                <a:effectLst/>
                <a:uLnTx/>
                <a:uFillTx/>
                <a:latin typeface="Arial" panose="020B0604020202020204" pitchFamily="34" charset="0"/>
                <a:ea typeface="+mn-ea"/>
                <a:cs typeface="+mn-cs"/>
              </a:rPr>
              <a:t>%</a:t>
            </a:r>
          </a:p>
        </p:txBody>
      </p:sp>
      <p:sp>
        <p:nvSpPr>
          <p:cNvPr id="87" name="Arrow: Right 86">
            <a:extLst>
              <a:ext uri="{FF2B5EF4-FFF2-40B4-BE49-F238E27FC236}">
                <a16:creationId xmlns:a16="http://schemas.microsoft.com/office/drawing/2014/main" id="{F11CD0F3-3799-AF8D-183D-CA1BC5C4D517}"/>
              </a:ext>
            </a:extLst>
          </p:cNvPr>
          <p:cNvSpPr/>
          <p:nvPr/>
        </p:nvSpPr>
        <p:spPr bwMode="auto">
          <a:xfrm rot="20315387">
            <a:off x="1456286" y="2380822"/>
            <a:ext cx="502050"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700" b="1">
                <a:solidFill>
                  <a:srgbClr val="00B050"/>
                </a:solidFill>
                <a:latin typeface="Arial" panose="020B0604020202020204" pitchFamily="34" charset="0"/>
              </a:rPr>
              <a:t>85</a:t>
            </a:r>
            <a:r>
              <a:rPr lang="en-SG" sz="700" b="1">
                <a:solidFill>
                  <a:srgbClr val="00B050"/>
                </a:solidFill>
                <a:latin typeface="Arial" panose="020B0604020202020204" pitchFamily="34" charset="0"/>
              </a:rPr>
              <a:t>%</a:t>
            </a:r>
            <a:endParaRPr kumimoji="0" lang="en-SG" sz="700" b="1" i="0" u="none" strike="noStrike" cap="none" normalizeH="0" baseline="0">
              <a:ln>
                <a:noFill/>
              </a:ln>
              <a:solidFill>
                <a:srgbClr val="00B050"/>
              </a:solidFill>
              <a:effectLst/>
              <a:latin typeface="Arial" panose="020B0604020202020204" pitchFamily="34" charset="0"/>
            </a:endParaRPr>
          </a:p>
        </p:txBody>
      </p:sp>
      <p:sp>
        <p:nvSpPr>
          <p:cNvPr id="88" name="Arrow: Right 87">
            <a:extLst>
              <a:ext uri="{FF2B5EF4-FFF2-40B4-BE49-F238E27FC236}">
                <a16:creationId xmlns:a16="http://schemas.microsoft.com/office/drawing/2014/main" id="{DAA28441-7580-299F-92C5-3EAE6AB6F3B4}"/>
              </a:ext>
            </a:extLst>
          </p:cNvPr>
          <p:cNvSpPr/>
          <p:nvPr/>
        </p:nvSpPr>
        <p:spPr bwMode="auto">
          <a:xfrm rot="19636097">
            <a:off x="1981493" y="2423709"/>
            <a:ext cx="502050"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SG" sz="700" b="1">
                <a:solidFill>
                  <a:srgbClr val="00B050"/>
                </a:solidFill>
                <a:latin typeface="Arial" panose="020B0604020202020204" pitchFamily="34" charset="0"/>
              </a:rPr>
              <a:t>44%</a:t>
            </a:r>
            <a:endParaRPr kumimoji="0" lang="en-SG" sz="700" b="1" i="0" u="none" strike="noStrike" cap="none" normalizeH="0" baseline="0">
              <a:ln>
                <a:noFill/>
              </a:ln>
              <a:solidFill>
                <a:srgbClr val="00B050"/>
              </a:solidFill>
              <a:effectLst/>
              <a:latin typeface="Arial" panose="020B0604020202020204" pitchFamily="34" charset="0"/>
            </a:endParaRPr>
          </a:p>
        </p:txBody>
      </p:sp>
      <p:sp>
        <p:nvSpPr>
          <p:cNvPr id="89" name="Arrow: Right 88">
            <a:extLst>
              <a:ext uri="{FF2B5EF4-FFF2-40B4-BE49-F238E27FC236}">
                <a16:creationId xmlns:a16="http://schemas.microsoft.com/office/drawing/2014/main" id="{9C08B8AE-4D2C-3752-FE77-83F5DDAFD5A9}"/>
              </a:ext>
            </a:extLst>
          </p:cNvPr>
          <p:cNvSpPr/>
          <p:nvPr/>
        </p:nvSpPr>
        <p:spPr bwMode="auto">
          <a:xfrm rot="20081783">
            <a:off x="2511036" y="2562517"/>
            <a:ext cx="502050"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SG" sz="700" b="1">
                <a:solidFill>
                  <a:srgbClr val="00B050"/>
                </a:solidFill>
                <a:latin typeface="Arial" panose="020B0604020202020204" pitchFamily="34" charset="0"/>
              </a:rPr>
              <a:t>596%</a:t>
            </a:r>
            <a:endParaRPr kumimoji="0" lang="en-SG" sz="700" b="1" i="0" u="none" strike="noStrike" cap="none" normalizeH="0" baseline="0">
              <a:ln>
                <a:noFill/>
              </a:ln>
              <a:solidFill>
                <a:srgbClr val="00B050"/>
              </a:solidFill>
              <a:effectLst/>
              <a:latin typeface="Arial" panose="020B0604020202020204" pitchFamily="34" charset="0"/>
            </a:endParaRPr>
          </a:p>
        </p:txBody>
      </p:sp>
      <p:sp>
        <p:nvSpPr>
          <p:cNvPr id="91" name="Arrow: Right 90">
            <a:extLst>
              <a:ext uri="{FF2B5EF4-FFF2-40B4-BE49-F238E27FC236}">
                <a16:creationId xmlns:a16="http://schemas.microsoft.com/office/drawing/2014/main" id="{F421B666-F87A-F929-D001-3AFA97B27EBF}"/>
              </a:ext>
            </a:extLst>
          </p:cNvPr>
          <p:cNvSpPr/>
          <p:nvPr/>
        </p:nvSpPr>
        <p:spPr bwMode="auto">
          <a:xfrm rot="1369312">
            <a:off x="3041398" y="2486644"/>
            <a:ext cx="480507" cy="210312"/>
          </a:xfrm>
          <a:prstGeom prst="rightArrow">
            <a:avLst>
              <a:gd name="adj1" fmla="val 60561"/>
              <a:gd name="adj2" fmla="val 59964"/>
            </a:avLst>
          </a:prstGeom>
          <a:solidFill>
            <a:srgbClr val="FE9999"/>
          </a:solidFill>
          <a:ln>
            <a:solidFill>
              <a:srgbClr val="C00000"/>
            </a:solidFill>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700" b="1" i="0" u="none" strike="noStrike" kern="0" cap="none" spc="0" normalizeH="0" baseline="0" noProof="0">
                <a:ln>
                  <a:noFill/>
                </a:ln>
                <a:solidFill>
                  <a:srgbClr val="C00000"/>
                </a:solidFill>
                <a:effectLst/>
                <a:uLnTx/>
                <a:uFillTx/>
                <a:latin typeface="Arial" panose="020B0604020202020204" pitchFamily="34" charset="0"/>
                <a:ea typeface="+mn-ea"/>
                <a:cs typeface="+mn-cs"/>
              </a:rPr>
              <a:t>24%</a:t>
            </a:r>
          </a:p>
        </p:txBody>
      </p:sp>
      <p:sp>
        <p:nvSpPr>
          <p:cNvPr id="93" name="Arrow: Right 92">
            <a:extLst>
              <a:ext uri="{FF2B5EF4-FFF2-40B4-BE49-F238E27FC236}">
                <a16:creationId xmlns:a16="http://schemas.microsoft.com/office/drawing/2014/main" id="{060B36C7-F102-6324-D50F-F3BFD1BFDEBD}"/>
              </a:ext>
            </a:extLst>
          </p:cNvPr>
          <p:cNvSpPr/>
          <p:nvPr/>
        </p:nvSpPr>
        <p:spPr bwMode="auto">
          <a:xfrm rot="1912843">
            <a:off x="3578007" y="2517018"/>
            <a:ext cx="502920" cy="210312"/>
          </a:xfrm>
          <a:prstGeom prst="rightArrow">
            <a:avLst>
              <a:gd name="adj1" fmla="val 60561"/>
              <a:gd name="adj2" fmla="val 59964"/>
            </a:avLst>
          </a:prstGeom>
          <a:solidFill>
            <a:srgbClr val="FE9999"/>
          </a:solidFill>
          <a:ln>
            <a:solidFill>
              <a:srgbClr val="C00000"/>
            </a:solidFill>
          </a:ln>
          <a:effectLst/>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700" b="1" i="0" u="none" strike="noStrike" kern="0" cap="none" spc="0" normalizeH="0" baseline="0" noProof="0">
                <a:ln>
                  <a:noFill/>
                </a:ln>
                <a:solidFill>
                  <a:srgbClr val="C00000"/>
                </a:solidFill>
                <a:effectLst/>
                <a:uLnTx/>
                <a:uFillTx/>
                <a:latin typeface="Arial" panose="020B0604020202020204" pitchFamily="34" charset="0"/>
                <a:ea typeface="+mn-ea"/>
                <a:cs typeface="+mn-cs"/>
              </a:rPr>
              <a:t>63%</a:t>
            </a:r>
          </a:p>
        </p:txBody>
      </p:sp>
      <p:sp>
        <p:nvSpPr>
          <p:cNvPr id="97" name="Arrow: Right 96">
            <a:extLst>
              <a:ext uri="{FF2B5EF4-FFF2-40B4-BE49-F238E27FC236}">
                <a16:creationId xmlns:a16="http://schemas.microsoft.com/office/drawing/2014/main" id="{C6488988-A66A-330C-DEB7-32476DDB7A0F}"/>
              </a:ext>
            </a:extLst>
          </p:cNvPr>
          <p:cNvSpPr/>
          <p:nvPr/>
        </p:nvSpPr>
        <p:spPr bwMode="auto">
          <a:xfrm rot="19881007">
            <a:off x="8960078" y="2552340"/>
            <a:ext cx="609241" cy="209764"/>
          </a:xfrm>
          <a:prstGeom prst="rightArrow">
            <a:avLst>
              <a:gd name="adj1" fmla="val 57918"/>
              <a:gd name="adj2" fmla="val 61241"/>
            </a:avLst>
          </a:prstGeom>
          <a:solidFill>
            <a:srgbClr val="99FFCC"/>
          </a:solidFill>
          <a:ln>
            <a:solidFill>
              <a:srgbClr val="00CC66"/>
            </a:solid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700" b="1">
                <a:solidFill>
                  <a:srgbClr val="00B050"/>
                </a:solidFill>
                <a:latin typeface="Arial" panose="020B0604020202020204" pitchFamily="34" charset="0"/>
              </a:rPr>
              <a:t>43.7</a:t>
            </a:r>
            <a:r>
              <a:rPr lang="en-SG" sz="700" b="1">
                <a:solidFill>
                  <a:srgbClr val="00B050"/>
                </a:solidFill>
                <a:latin typeface="Arial" panose="020B0604020202020204" pitchFamily="34" charset="0"/>
              </a:rPr>
              <a:t>%</a:t>
            </a:r>
            <a:endParaRPr kumimoji="0" lang="en-SG" sz="700" b="1" i="0" u="none" strike="noStrike" cap="none" normalizeH="0" baseline="0">
              <a:ln>
                <a:noFill/>
              </a:ln>
              <a:solidFill>
                <a:srgbClr val="00B050"/>
              </a:solidFill>
              <a:effectLst/>
              <a:latin typeface="Arial" panose="020B0604020202020204" pitchFamily="34" charset="0"/>
            </a:endParaRPr>
          </a:p>
        </p:txBody>
      </p:sp>
      <p:sp>
        <p:nvSpPr>
          <p:cNvPr id="98" name="Arrow: Right 97">
            <a:extLst>
              <a:ext uri="{FF2B5EF4-FFF2-40B4-BE49-F238E27FC236}">
                <a16:creationId xmlns:a16="http://schemas.microsoft.com/office/drawing/2014/main" id="{FA2998FA-738C-9097-D683-D906E107CAC8}"/>
              </a:ext>
            </a:extLst>
          </p:cNvPr>
          <p:cNvSpPr/>
          <p:nvPr/>
        </p:nvSpPr>
        <p:spPr bwMode="auto">
          <a:xfrm rot="1299446">
            <a:off x="8870318" y="4112371"/>
            <a:ext cx="628761" cy="237230"/>
          </a:xfrm>
          <a:prstGeom prst="rightArrow">
            <a:avLst>
              <a:gd name="adj1" fmla="val 51773"/>
              <a:gd name="adj2" fmla="val 61241"/>
            </a:avLst>
          </a:prstGeom>
          <a:solidFill>
            <a:srgbClr val="FE9999"/>
          </a:solidFill>
          <a:ln>
            <a:solidFill>
              <a:schemeClr val="accent1"/>
            </a:solidFill>
          </a:ln>
          <a:effectLst/>
        </p:spPr>
        <p:txBody>
          <a:bodyPr vert="horz" wrap="square" lIns="91440" tIns="45720" rIns="91440" bIns="45720" numCol="1" rtlCol="0" anchor="ctr" anchorCtr="0" compatLnSpc="1">
            <a:prstTxWarp prst="textNoShape">
              <a:avLst/>
            </a:prstTxWarp>
          </a:bodyPr>
          <a:lstStyle/>
          <a:p>
            <a:r>
              <a:rPr lang="en-US" altLang="zh-CN" sz="600" b="1" kern="0">
                <a:solidFill>
                  <a:srgbClr val="BC0000"/>
                </a:solidFill>
                <a:latin typeface="+mn-lt"/>
              </a:rPr>
              <a:t>-</a:t>
            </a:r>
            <a:r>
              <a:rPr lang="en-US" altLang="zh-CN" sz="600" b="1" kern="0">
                <a:solidFill>
                  <a:srgbClr val="BC0000"/>
                </a:solidFill>
                <a:latin typeface="Arial" panose="020B0604020202020204" pitchFamily="34" charset="0"/>
              </a:rPr>
              <a:t>6</a:t>
            </a:r>
            <a:r>
              <a:rPr lang="en-SG" sz="600" b="1" kern="0">
                <a:solidFill>
                  <a:srgbClr val="BC0000"/>
                </a:solidFill>
                <a:latin typeface="Arial" panose="020B0604020202020204" pitchFamily="34" charset="0"/>
              </a:rPr>
              <a:t>%</a:t>
            </a:r>
            <a:r>
              <a:rPr kumimoji="0" lang="en-US" sz="600" b="1" i="0" u="none" strike="noStrike" cap="none" normalizeH="0" baseline="0">
                <a:ln>
                  <a:noFill/>
                </a:ln>
                <a:solidFill>
                  <a:srgbClr val="BC0000"/>
                </a:solidFill>
                <a:effectLst/>
                <a:latin typeface="+mn-lt"/>
              </a:rPr>
              <a:t> </a:t>
            </a:r>
            <a:r>
              <a:rPr lang="en-US" sz="600" b="1">
                <a:solidFill>
                  <a:srgbClr val="BC0000"/>
                </a:solidFill>
                <a:latin typeface="+mn-lt"/>
              </a:rPr>
              <a:t>QoQ</a:t>
            </a:r>
            <a:r>
              <a:rPr lang="en-US" sz="600" b="1" baseline="30000">
                <a:solidFill>
                  <a:srgbClr val="BC0000"/>
                </a:solidFill>
                <a:latin typeface="+mn-lt"/>
              </a:rPr>
              <a:t>2</a:t>
            </a:r>
            <a:endParaRPr kumimoji="0" lang="en-SG" sz="600" b="1" i="0" u="none" cap="none" normalizeH="0" baseline="30000">
              <a:ln>
                <a:noFill/>
              </a:ln>
              <a:solidFill>
                <a:srgbClr val="BC0000"/>
              </a:solidFill>
              <a:effectLst/>
              <a:latin typeface="+mn-lt"/>
            </a:endParaRPr>
          </a:p>
        </p:txBody>
      </p:sp>
      <p:sp>
        <p:nvSpPr>
          <p:cNvPr id="5" name="TextBox 4">
            <a:extLst>
              <a:ext uri="{FF2B5EF4-FFF2-40B4-BE49-F238E27FC236}">
                <a16:creationId xmlns:a16="http://schemas.microsoft.com/office/drawing/2014/main" id="{6D64D4A3-B395-4B08-A166-238FF965E5EB}"/>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
        <p:nvSpPr>
          <p:cNvPr id="10" name="Slide Number Placeholder 1">
            <a:extLst>
              <a:ext uri="{FF2B5EF4-FFF2-40B4-BE49-F238E27FC236}">
                <a16:creationId xmlns:a16="http://schemas.microsoft.com/office/drawing/2014/main" id="{ABFAECE4-555C-864D-F37E-A1EC6397C047}"/>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12</a:t>
            </a:fld>
            <a:endParaRPr lang="en-US"/>
          </a:p>
        </p:txBody>
      </p:sp>
    </p:spTree>
    <p:extLst>
      <p:ext uri="{BB962C8B-B14F-4D97-AF65-F5344CB8AC3E}">
        <p14:creationId xmlns:p14="http://schemas.microsoft.com/office/powerpoint/2010/main" val="3710258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587E9698-6B92-0D52-C6E4-C03436B9880E}"/>
              </a:ext>
            </a:extLst>
          </p:cNvPr>
          <p:cNvGraphicFramePr>
            <a:graphicFrameLocks/>
          </p:cNvGraphicFramePr>
          <p:nvPr>
            <p:extLst>
              <p:ext uri="{D42A27DB-BD31-4B8C-83A1-F6EECF244321}">
                <p14:modId xmlns:p14="http://schemas.microsoft.com/office/powerpoint/2010/main" val="1542932058"/>
              </p:ext>
            </p:extLst>
          </p:nvPr>
        </p:nvGraphicFramePr>
        <p:xfrm>
          <a:off x="-753539" y="4091465"/>
          <a:ext cx="4333208" cy="22907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93E484E4-71B6-4B16-54A0-BA88B68EF4EE}"/>
              </a:ext>
            </a:extLst>
          </p:cNvPr>
          <p:cNvGraphicFramePr>
            <a:graphicFrameLocks/>
          </p:cNvGraphicFramePr>
          <p:nvPr>
            <p:extLst>
              <p:ext uri="{D42A27DB-BD31-4B8C-83A1-F6EECF244321}">
                <p14:modId xmlns:p14="http://schemas.microsoft.com/office/powerpoint/2010/main" val="2684350287"/>
              </p:ext>
            </p:extLst>
          </p:nvPr>
        </p:nvGraphicFramePr>
        <p:xfrm>
          <a:off x="1669143" y="4091464"/>
          <a:ext cx="3691361" cy="2299653"/>
        </p:xfrm>
        <a:graphic>
          <a:graphicData uri="http://schemas.openxmlformats.org/drawingml/2006/chart">
            <c:chart xmlns:c="http://schemas.openxmlformats.org/drawingml/2006/chart" xmlns:r="http://schemas.openxmlformats.org/officeDocument/2006/relationships" r:id="rId4"/>
          </a:graphicData>
        </a:graphic>
      </p:graphicFrame>
      <p:sp>
        <p:nvSpPr>
          <p:cNvPr id="6" name="Title 5"/>
          <p:cNvSpPr>
            <a:spLocks noGrp="1"/>
          </p:cNvSpPr>
          <p:nvPr>
            <p:ph type="title"/>
          </p:nvPr>
        </p:nvSpPr>
        <p:spPr/>
        <p:txBody>
          <a:bodyPr/>
          <a:lstStyle/>
          <a:p>
            <a:r>
              <a:rPr lang="en-US" altLang="zh-CN">
                <a:solidFill>
                  <a:srgbClr val="000000"/>
                </a:solidFill>
                <a:ea typeface="SimSun" pitchFamily="2" charset="-122"/>
              </a:rPr>
              <a:t>Hong Kong IPO Trends – 2026 YTD</a:t>
            </a:r>
            <a:endParaRPr lang="en-US"/>
          </a:p>
        </p:txBody>
      </p:sp>
      <p:sp>
        <p:nvSpPr>
          <p:cNvPr id="2" name="Text Placeholder 1">
            <a:extLst>
              <a:ext uri="{FF2B5EF4-FFF2-40B4-BE49-F238E27FC236}">
                <a16:creationId xmlns:a16="http://schemas.microsoft.com/office/drawing/2014/main" id="{976E2019-7B3A-58E9-9B91-39659D1C0ACA}"/>
              </a:ext>
            </a:extLst>
          </p:cNvPr>
          <p:cNvSpPr>
            <a:spLocks noGrp="1"/>
          </p:cNvSpPr>
          <p:nvPr>
            <p:ph type="body" sz="quarter" idx="46"/>
          </p:nvPr>
        </p:nvSpPr>
        <p:spPr/>
        <p:txBody>
          <a:bodyPr/>
          <a:lstStyle/>
          <a:p>
            <a:pPr marL="0" indent="0">
              <a:buNone/>
            </a:pPr>
            <a:r>
              <a:rPr lang="en-US" sz="800"/>
              <a:t>Source: Bloomberg, as of 20 May 2026</a:t>
            </a:r>
          </a:p>
          <a:p>
            <a:r>
              <a:rPr lang="en-US" sz="800"/>
              <a:t>ECM deal volume includes IPO that have been priced but pending trading, and secondaries that have been announced but pending completion</a:t>
            </a:r>
          </a:p>
          <a:p>
            <a:endParaRPr lang="en-GB" sz="800"/>
          </a:p>
        </p:txBody>
      </p:sp>
      <p:sp>
        <p:nvSpPr>
          <p:cNvPr id="47" name="TextBox 7">
            <a:extLst>
              <a:ext uri="{FF2B5EF4-FFF2-40B4-BE49-F238E27FC236}">
                <a16:creationId xmlns:a16="http://schemas.microsoft.com/office/drawing/2014/main" id="{B58B3EF5-429E-495B-A3F3-725C54A049AD}"/>
              </a:ext>
            </a:extLst>
          </p:cNvPr>
          <p:cNvSpPr txBox="1">
            <a:spLocks noChangeArrowheads="1"/>
          </p:cNvSpPr>
          <p:nvPr/>
        </p:nvSpPr>
        <p:spPr bwMode="auto">
          <a:xfrm>
            <a:off x="452998" y="1006879"/>
            <a:ext cx="3995177" cy="270584"/>
          </a:xfrm>
          <a:prstGeom prst="rect">
            <a:avLst/>
          </a:prstGeom>
          <a:solidFill>
            <a:srgbClr val="089C8B"/>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Next 12-Month Indices Forecast</a:t>
            </a:r>
          </a:p>
        </p:txBody>
      </p:sp>
      <p:sp>
        <p:nvSpPr>
          <p:cNvPr id="75" name="TextBox 7">
            <a:extLst>
              <a:ext uri="{FF2B5EF4-FFF2-40B4-BE49-F238E27FC236}">
                <a16:creationId xmlns:a16="http://schemas.microsoft.com/office/drawing/2014/main" id="{2EA912D9-B0FD-467B-A434-8ADB5F03C479}"/>
              </a:ext>
            </a:extLst>
          </p:cNvPr>
          <p:cNvSpPr txBox="1">
            <a:spLocks noChangeArrowheads="1"/>
          </p:cNvSpPr>
          <p:nvPr/>
        </p:nvSpPr>
        <p:spPr bwMode="auto">
          <a:xfrm>
            <a:off x="4594860" y="1007079"/>
            <a:ext cx="4849425" cy="270384"/>
          </a:xfrm>
          <a:prstGeom prst="rect">
            <a:avLst/>
          </a:prstGeom>
          <a:solidFill>
            <a:srgbClr val="089C8B"/>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202</a:t>
            </a:r>
            <a:r>
              <a:rPr kumimoji="0" lang="en-US" altLang="zh-CN"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6</a:t>
            </a: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YTD</a:t>
            </a:r>
            <a:r>
              <a:rPr kumimoji="0" lang="en-US" altLang="zh-CN"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 </a:t>
            </a:r>
            <a:r>
              <a:rPr kumimoji="0" lang="nl-NL"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IPO Performance</a:t>
            </a:r>
          </a:p>
        </p:txBody>
      </p:sp>
      <p:sp>
        <p:nvSpPr>
          <p:cNvPr id="65" name="TextBox 7">
            <a:extLst>
              <a:ext uri="{FF2B5EF4-FFF2-40B4-BE49-F238E27FC236}">
                <a16:creationId xmlns:a16="http://schemas.microsoft.com/office/drawing/2014/main" id="{B8DC0B55-8331-4875-92D2-BA03D49FB454}"/>
              </a:ext>
            </a:extLst>
          </p:cNvPr>
          <p:cNvSpPr txBox="1">
            <a:spLocks noChangeArrowheads="1"/>
          </p:cNvSpPr>
          <p:nvPr/>
        </p:nvSpPr>
        <p:spPr bwMode="auto">
          <a:xfrm>
            <a:off x="452998" y="3719969"/>
            <a:ext cx="3995177" cy="270583"/>
          </a:xfrm>
          <a:prstGeom prst="rect">
            <a:avLst/>
          </a:prstGeom>
          <a:solidFill>
            <a:srgbClr val="089C8B"/>
          </a:solidFill>
          <a:ln>
            <a:noFill/>
            <a:headEnd/>
            <a:tailEnd/>
          </a:ln>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ECM</a:t>
            </a:r>
            <a:r>
              <a:rPr kumimoji="0" lang="en-US" sz="1200" b="1" i="0" u="none" strike="noStrike" kern="1200" cap="none" spc="0" normalizeH="0" baseline="30000" noProof="0">
                <a:ln>
                  <a:noFill/>
                </a:ln>
                <a:solidFill>
                  <a:schemeClr val="bg1"/>
                </a:solidFill>
                <a:effectLst/>
                <a:uLnTx/>
                <a:uFillTx/>
                <a:latin typeface="Calibri" panose="020F0502020204030204" pitchFamily="34" charset="0"/>
                <a:ea typeface="DFKaiShu-GB5"/>
                <a:cs typeface="Calibri" panose="020F0502020204030204" pitchFamily="34" charset="0"/>
              </a:rPr>
              <a:t>1</a:t>
            </a: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 Activity 202</a:t>
            </a:r>
            <a:r>
              <a:rPr kumimoji="0" lang="en-US" altLang="zh-CN"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6</a:t>
            </a: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YTD vs. 202</a:t>
            </a:r>
            <a:r>
              <a:rPr kumimoji="0" lang="en-US" altLang="zh-CN"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rPr>
              <a:t>5</a:t>
            </a:r>
            <a:r>
              <a:rPr lang="en-US" sz="1200" b="1">
                <a:solidFill>
                  <a:schemeClr val="bg1"/>
                </a:solidFill>
                <a:latin typeface="Calibri" panose="020F0502020204030204" pitchFamily="34" charset="0"/>
                <a:ea typeface="DFKaiShu-GB5"/>
                <a:cs typeface="Calibri" panose="020F0502020204030204" pitchFamily="34" charset="0"/>
              </a:rPr>
              <a:t> Same Period</a:t>
            </a:r>
            <a:endParaRPr kumimoji="0" lang="en-US" sz="1200" b="1" i="0" u="none" strike="noStrike" kern="1200" cap="none" spc="0" normalizeH="0" baseline="0" noProof="0">
              <a:ln>
                <a:noFill/>
              </a:ln>
              <a:solidFill>
                <a:schemeClr val="bg1"/>
              </a:solidFill>
              <a:effectLst/>
              <a:uLnTx/>
              <a:uFillTx/>
              <a:latin typeface="Calibri" panose="020F0502020204030204" pitchFamily="34" charset="0"/>
              <a:ea typeface="DFKaiShu-GB5"/>
              <a:cs typeface="Calibri" panose="020F0502020204030204" pitchFamily="34" charset="0"/>
            </a:endParaRPr>
          </a:p>
        </p:txBody>
      </p:sp>
      <p:graphicFrame>
        <p:nvGraphicFramePr>
          <p:cNvPr id="72" name="Table 4">
            <a:extLst>
              <a:ext uri="{FF2B5EF4-FFF2-40B4-BE49-F238E27FC236}">
                <a16:creationId xmlns:a16="http://schemas.microsoft.com/office/drawing/2014/main" id="{BCEAE837-FE51-4A8A-B77C-A1589230E8FB}"/>
              </a:ext>
            </a:extLst>
          </p:cNvPr>
          <p:cNvGraphicFramePr>
            <a:graphicFrameLocks noGrp="1"/>
          </p:cNvGraphicFramePr>
          <p:nvPr>
            <p:extLst>
              <p:ext uri="{D42A27DB-BD31-4B8C-83A1-F6EECF244321}">
                <p14:modId xmlns:p14="http://schemas.microsoft.com/office/powerpoint/2010/main" val="2089107558"/>
              </p:ext>
            </p:extLst>
          </p:nvPr>
        </p:nvGraphicFramePr>
        <p:xfrm>
          <a:off x="453000" y="1349320"/>
          <a:ext cx="3995174" cy="2204164"/>
        </p:xfrm>
        <a:graphic>
          <a:graphicData uri="http://schemas.openxmlformats.org/drawingml/2006/table">
            <a:tbl>
              <a:tblPr firstRow="1" bandRow="1">
                <a:tableStyleId>{7E9639D4-E3E2-4D34-9284-5A2195B3D0D7}</a:tableStyleId>
              </a:tblPr>
              <a:tblGrid>
                <a:gridCol w="1251449">
                  <a:extLst>
                    <a:ext uri="{9D8B030D-6E8A-4147-A177-3AD203B41FA5}">
                      <a16:colId xmlns:a16="http://schemas.microsoft.com/office/drawing/2014/main" val="1082423738"/>
                    </a:ext>
                  </a:extLst>
                </a:gridCol>
                <a:gridCol w="620493">
                  <a:extLst>
                    <a:ext uri="{9D8B030D-6E8A-4147-A177-3AD203B41FA5}">
                      <a16:colId xmlns:a16="http://schemas.microsoft.com/office/drawing/2014/main" val="2782378124"/>
                    </a:ext>
                  </a:extLst>
                </a:gridCol>
                <a:gridCol w="707744">
                  <a:extLst>
                    <a:ext uri="{9D8B030D-6E8A-4147-A177-3AD203B41FA5}">
                      <a16:colId xmlns:a16="http://schemas.microsoft.com/office/drawing/2014/main" val="2676260073"/>
                    </a:ext>
                  </a:extLst>
                </a:gridCol>
                <a:gridCol w="707744">
                  <a:extLst>
                    <a:ext uri="{9D8B030D-6E8A-4147-A177-3AD203B41FA5}">
                      <a16:colId xmlns:a16="http://schemas.microsoft.com/office/drawing/2014/main" val="1201224616"/>
                    </a:ext>
                  </a:extLst>
                </a:gridCol>
                <a:gridCol w="707744">
                  <a:extLst>
                    <a:ext uri="{9D8B030D-6E8A-4147-A177-3AD203B41FA5}">
                      <a16:colId xmlns:a16="http://schemas.microsoft.com/office/drawing/2014/main" val="180136882"/>
                    </a:ext>
                  </a:extLst>
                </a:gridCol>
              </a:tblGrid>
              <a:tr h="525264">
                <a:tc>
                  <a:txBody>
                    <a:bodyPr/>
                    <a:lstStyle/>
                    <a:p>
                      <a:pPr algn="ctr"/>
                      <a:r>
                        <a:rPr lang="en-US" sz="800">
                          <a:solidFill>
                            <a:schemeClr val="tx1"/>
                          </a:solidFill>
                          <a:latin typeface="Calibri" panose="020F0502020204030204" pitchFamily="34" charset="0"/>
                          <a:cs typeface="Calibri" panose="020F0502020204030204" pitchFamily="34" charset="0"/>
                        </a:rPr>
                        <a:t>Index</a:t>
                      </a:r>
                    </a:p>
                  </a:txBody>
                  <a:tcPr anchor="ctr">
                    <a:solidFill>
                      <a:srgbClr val="C0FC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latin typeface="Calibri" panose="020F0502020204030204" pitchFamily="34" charset="0"/>
                          <a:cs typeface="Calibri" panose="020F0502020204030204" pitchFamily="34" charset="0"/>
                        </a:rPr>
                        <a:t>YTD Return %</a:t>
                      </a:r>
                    </a:p>
                  </a:txBody>
                  <a:tcPr anchor="ctr">
                    <a:solidFill>
                      <a:srgbClr val="C0FCF5"/>
                    </a:solidFill>
                  </a:tcPr>
                </a:tc>
                <a:tc>
                  <a:txBody>
                    <a:bodyPr/>
                    <a:lstStyle/>
                    <a:p>
                      <a:pPr algn="ctr"/>
                      <a:r>
                        <a:rPr lang="en-US" altLang="zh-CN" sz="800">
                          <a:solidFill>
                            <a:schemeClr val="tx1"/>
                          </a:solidFill>
                          <a:latin typeface="Calibri" panose="020F0502020204030204" pitchFamily="34" charset="0"/>
                          <a:cs typeface="Calibri" panose="020F0502020204030204" pitchFamily="34" charset="0"/>
                        </a:rPr>
                        <a:t>May 20</a:t>
                      </a:r>
                    </a:p>
                    <a:p>
                      <a:pPr algn="ctr"/>
                      <a:r>
                        <a:rPr lang="en-US" sz="800">
                          <a:solidFill>
                            <a:schemeClr val="tx1"/>
                          </a:solidFill>
                          <a:latin typeface="Calibri" panose="020F0502020204030204" pitchFamily="34" charset="0"/>
                          <a:cs typeface="Calibri" panose="020F0502020204030204" pitchFamily="34" charset="0"/>
                        </a:rPr>
                        <a:t>Close Price</a:t>
                      </a:r>
                    </a:p>
                  </a:txBody>
                  <a:tcPr anchor="ctr">
                    <a:solidFill>
                      <a:srgbClr val="C0FCF5"/>
                    </a:solidFill>
                  </a:tcPr>
                </a:tc>
                <a:tc>
                  <a:txBody>
                    <a:bodyPr/>
                    <a:lstStyle/>
                    <a:p>
                      <a:pPr algn="ctr"/>
                      <a:r>
                        <a:rPr lang="en-US" sz="800">
                          <a:solidFill>
                            <a:schemeClr val="tx1"/>
                          </a:solidFill>
                          <a:latin typeface="Calibri" panose="020F0502020204030204" pitchFamily="34" charset="0"/>
                          <a:cs typeface="Calibri" panose="020F0502020204030204" pitchFamily="34" charset="0"/>
                        </a:rPr>
                        <a:t>Analyst 12M Target</a:t>
                      </a:r>
                      <a:endParaRPr lang="en-US" sz="800" baseline="30000">
                        <a:solidFill>
                          <a:schemeClr val="tx1"/>
                        </a:solidFill>
                        <a:latin typeface="Calibri" panose="020F0502020204030204" pitchFamily="34" charset="0"/>
                        <a:cs typeface="Calibri" panose="020F0502020204030204" pitchFamily="34" charset="0"/>
                      </a:endParaRPr>
                    </a:p>
                  </a:txBody>
                  <a:tcPr anchor="ctr">
                    <a:solidFill>
                      <a:srgbClr val="C0FCF5"/>
                    </a:solidFill>
                  </a:tcPr>
                </a:tc>
                <a:tc>
                  <a:txBody>
                    <a:bodyPr/>
                    <a:lstStyle/>
                    <a:p>
                      <a:pPr algn="ctr"/>
                      <a:r>
                        <a:rPr lang="en-US" sz="800">
                          <a:solidFill>
                            <a:schemeClr val="tx1"/>
                          </a:solidFill>
                          <a:latin typeface="Calibri" panose="020F0502020204030204" pitchFamily="34" charset="0"/>
                          <a:cs typeface="Calibri" panose="020F0502020204030204" pitchFamily="34" charset="0"/>
                        </a:rPr>
                        <a:t>Further Upside %</a:t>
                      </a:r>
                    </a:p>
                  </a:txBody>
                  <a:tcPr anchor="ctr">
                    <a:solidFill>
                      <a:srgbClr val="C0FCF5"/>
                    </a:solidFill>
                  </a:tcPr>
                </a:tc>
                <a:extLst>
                  <a:ext uri="{0D108BD9-81ED-4DB2-BD59-A6C34878D82A}">
                    <a16:rowId xmlns:a16="http://schemas.microsoft.com/office/drawing/2014/main" val="2020473036"/>
                  </a:ext>
                </a:extLst>
              </a:tr>
              <a:tr h="320665">
                <a:tc>
                  <a:txBody>
                    <a:bodyPr/>
                    <a:lstStyle/>
                    <a:p>
                      <a:pPr algn="ctr"/>
                      <a:r>
                        <a:rPr lang="en-US" sz="1000" b="1">
                          <a:solidFill>
                            <a:schemeClr val="tx1"/>
                          </a:solidFill>
                          <a:latin typeface="Calibri" panose="020F0502020204030204" pitchFamily="34" charset="0"/>
                          <a:cs typeface="Calibri" panose="020F0502020204030204" pitchFamily="34" charset="0"/>
                        </a:rPr>
                        <a:t>S&amp;P 500</a:t>
                      </a:r>
                    </a:p>
                  </a:txBody>
                  <a:tcPr anchor="ctr"/>
                </a:tc>
                <a:tc>
                  <a:txBody>
                    <a:bodyPr/>
                    <a:lstStyle/>
                    <a:p>
                      <a:pPr algn="ctr" rtl="0" fontAlgn="ctr"/>
                      <a:r>
                        <a:rPr lang="en-US" altLang="zh-CN" sz="1000" b="1" i="0" u="none" strike="noStrike" kern="1200">
                          <a:solidFill>
                            <a:schemeClr val="tx1"/>
                          </a:solidFill>
                          <a:effectLst/>
                          <a:latin typeface="+mn-lt"/>
                          <a:ea typeface="+mn-ea"/>
                          <a:cs typeface="Calibri" panose="020F0502020204030204" pitchFamily="34" charset="0"/>
                        </a:rPr>
                        <a:t>8.6</a:t>
                      </a:r>
                      <a:r>
                        <a:rPr lang="en-US" sz="1000" b="1" i="0" u="none" strike="noStrike" kern="1200">
                          <a:solidFill>
                            <a:schemeClr val="tx1"/>
                          </a:solidFill>
                          <a:effectLst/>
                          <a:latin typeface="+mn-lt"/>
                          <a:ea typeface="+mn-ea"/>
                          <a:cs typeface="Calibri" panose="020F0502020204030204" pitchFamily="34" charset="0"/>
                        </a:rPr>
                        <a:t>%</a:t>
                      </a:r>
                    </a:p>
                  </a:txBody>
                  <a:tcPr marL="9525" marR="9525" marT="9525" marB="0" anchor="ctr"/>
                </a:tc>
                <a:tc>
                  <a:txBody>
                    <a:bodyPr/>
                    <a:lstStyle/>
                    <a:p>
                      <a:pPr algn="ctr" rtl="0" fontAlgn="ctr"/>
                      <a:r>
                        <a:rPr lang="en-US" altLang="zh-CN" sz="1000" b="0" i="0" u="none" strike="noStrike">
                          <a:solidFill>
                            <a:schemeClr val="tx1"/>
                          </a:solidFill>
                          <a:effectLst/>
                          <a:latin typeface="+mn-lt"/>
                          <a:cs typeface="Calibri" panose="020F0502020204030204" pitchFamily="34" charset="0"/>
                        </a:rPr>
                        <a:t>7</a:t>
                      </a:r>
                      <a:r>
                        <a:rPr lang="en-US" sz="1000" b="0" i="0" u="none" strike="noStrike">
                          <a:solidFill>
                            <a:schemeClr val="tx1"/>
                          </a:solidFill>
                          <a:effectLst/>
                          <a:latin typeface="+mn-lt"/>
                          <a:cs typeface="Calibri" panose="020F0502020204030204" pitchFamily="34" charset="0"/>
                        </a:rPr>
                        <a:t>,</a:t>
                      </a:r>
                      <a:r>
                        <a:rPr lang="en-US" altLang="zh-CN" sz="1000" b="0" i="0" u="none" strike="noStrike">
                          <a:solidFill>
                            <a:schemeClr val="tx1"/>
                          </a:solidFill>
                          <a:effectLst/>
                          <a:latin typeface="+mn-lt"/>
                          <a:cs typeface="Calibri" panose="020F0502020204030204" pitchFamily="34" charset="0"/>
                        </a:rPr>
                        <a:t>433</a:t>
                      </a:r>
                      <a:endParaRPr lang="en-US" sz="1000" b="0" i="0" u="none" strike="noStrike">
                        <a:solidFill>
                          <a:schemeClr val="tx1"/>
                        </a:solidFill>
                        <a:effectLst/>
                        <a:latin typeface="+mn-lt"/>
                        <a:cs typeface="Calibri" panose="020F0502020204030204" pitchFamily="34" charset="0"/>
                      </a:endParaRPr>
                    </a:p>
                  </a:txBody>
                  <a:tcPr marL="9525" marR="9525" marT="9525" marB="0" anchor="ctr"/>
                </a:tc>
                <a:tc>
                  <a:txBody>
                    <a:bodyPr/>
                    <a:lstStyle/>
                    <a:p>
                      <a:pPr algn="ctr" rtl="0" fontAlgn="ctr"/>
                      <a:r>
                        <a:rPr lang="en-US" sz="1000" b="0" i="0" u="none" strike="noStrike">
                          <a:solidFill>
                            <a:schemeClr val="tx1"/>
                          </a:solidFill>
                          <a:effectLst/>
                          <a:latin typeface="+mn-lt"/>
                          <a:cs typeface="Calibri" panose="020F0502020204030204" pitchFamily="34" charset="0"/>
                        </a:rPr>
                        <a:t>8,609</a:t>
                      </a:r>
                    </a:p>
                  </a:txBody>
                  <a:tcPr marL="9525" marR="9525" marT="9525" marB="0" anchor="ctr"/>
                </a:tc>
                <a:tc>
                  <a:txBody>
                    <a:bodyPr/>
                    <a:lstStyle/>
                    <a:p>
                      <a:pPr algn="ctr" fontAlgn="b">
                        <a:buNone/>
                      </a:pPr>
                      <a:r>
                        <a:rPr lang="en-US" sz="1000" b="0" i="0" u="none" strike="noStrike">
                          <a:solidFill>
                            <a:schemeClr val="tx1"/>
                          </a:solidFill>
                          <a:effectLst/>
                          <a:latin typeface="+mn-lt"/>
                        </a:rPr>
                        <a:t>15.8%</a:t>
                      </a:r>
                    </a:p>
                  </a:txBody>
                  <a:tcPr marL="7620" marR="7620" marT="7620" marB="0" anchor="ctr"/>
                </a:tc>
                <a:extLst>
                  <a:ext uri="{0D108BD9-81ED-4DB2-BD59-A6C34878D82A}">
                    <a16:rowId xmlns:a16="http://schemas.microsoft.com/office/drawing/2014/main" val="1667350149"/>
                  </a:ext>
                </a:extLst>
              </a:tr>
              <a:tr h="320665">
                <a:tc>
                  <a:txBody>
                    <a:bodyPr/>
                    <a:lstStyle/>
                    <a:p>
                      <a:pPr algn="ctr"/>
                      <a:r>
                        <a:rPr lang="en-US" sz="1000" b="1">
                          <a:solidFill>
                            <a:schemeClr val="tx1"/>
                          </a:solidFill>
                          <a:latin typeface="Calibri" panose="020F0502020204030204" pitchFamily="34" charset="0"/>
                          <a:cs typeface="Calibri" panose="020F0502020204030204" pitchFamily="34" charset="0"/>
                        </a:rPr>
                        <a:t>Straits Times</a:t>
                      </a:r>
                    </a:p>
                  </a:txBody>
                  <a:tcPr anchor="ctr"/>
                </a:tc>
                <a:tc>
                  <a:txBody>
                    <a:bodyPr/>
                    <a:lstStyle/>
                    <a:p>
                      <a:pPr algn="ctr" rtl="0" fontAlgn="ctr"/>
                      <a:r>
                        <a:rPr lang="en-US" altLang="zh-CN" sz="1000" b="1" i="0" u="none" strike="noStrike">
                          <a:solidFill>
                            <a:schemeClr val="tx1"/>
                          </a:solidFill>
                          <a:effectLst/>
                          <a:latin typeface="+mn-lt"/>
                          <a:cs typeface="Calibri" panose="020F0502020204030204" pitchFamily="34" charset="0"/>
                        </a:rPr>
                        <a:t>8.6</a:t>
                      </a:r>
                      <a:r>
                        <a:rPr lang="en-US" sz="1000" b="1" i="0" u="none" strike="noStrike">
                          <a:solidFill>
                            <a:schemeClr val="tx1"/>
                          </a:solidFill>
                          <a:effectLst/>
                          <a:latin typeface="+mn-lt"/>
                          <a:cs typeface="Calibri" panose="020F0502020204030204" pitchFamily="34" charset="0"/>
                        </a:rPr>
                        <a:t>%</a:t>
                      </a:r>
                    </a:p>
                  </a:txBody>
                  <a:tcPr marL="9525" marR="9525" marT="9525" marB="0" anchor="ctr"/>
                </a:tc>
                <a:tc>
                  <a:txBody>
                    <a:bodyPr/>
                    <a:lstStyle/>
                    <a:p>
                      <a:pPr algn="ctr" rtl="0" fontAlgn="ctr"/>
                      <a:r>
                        <a:rPr lang="en-US" altLang="zh-CN" sz="1000" b="0" i="0" u="none" strike="noStrike">
                          <a:solidFill>
                            <a:schemeClr val="tx1"/>
                          </a:solidFill>
                          <a:effectLst/>
                          <a:latin typeface="+mn-lt"/>
                          <a:cs typeface="Calibri" panose="020F0502020204030204" pitchFamily="34" charset="0"/>
                        </a:rPr>
                        <a:t>5</a:t>
                      </a:r>
                      <a:r>
                        <a:rPr lang="en-US" sz="1000" b="0" i="0" u="none" strike="noStrike">
                          <a:solidFill>
                            <a:schemeClr val="tx1"/>
                          </a:solidFill>
                          <a:effectLst/>
                          <a:latin typeface="+mn-lt"/>
                          <a:cs typeface="Calibri" panose="020F0502020204030204" pitchFamily="34" charset="0"/>
                        </a:rPr>
                        <a:t>,</a:t>
                      </a:r>
                      <a:r>
                        <a:rPr lang="en-US" altLang="zh-CN" sz="1000" b="0" i="0" u="none" strike="noStrike">
                          <a:solidFill>
                            <a:schemeClr val="tx1"/>
                          </a:solidFill>
                          <a:effectLst/>
                          <a:latin typeface="+mn-lt"/>
                          <a:cs typeface="Calibri" panose="020F0502020204030204" pitchFamily="34" charset="0"/>
                        </a:rPr>
                        <a:t>045</a:t>
                      </a:r>
                      <a:endParaRPr lang="en-US" sz="1000" b="0" i="0" u="none" strike="noStrike">
                        <a:solidFill>
                          <a:schemeClr val="tx1"/>
                        </a:solidFill>
                        <a:effectLst/>
                        <a:latin typeface="+mn-lt"/>
                        <a:cs typeface="Calibri" panose="020F0502020204030204" pitchFamily="34" charset="0"/>
                      </a:endParaRPr>
                    </a:p>
                  </a:txBody>
                  <a:tcPr marL="9525" marR="9525" marT="9525" marB="0" anchor="ctr"/>
                </a:tc>
                <a:tc>
                  <a:txBody>
                    <a:bodyPr/>
                    <a:lstStyle/>
                    <a:p>
                      <a:pPr algn="ctr" rtl="0" fontAlgn="ctr"/>
                      <a:r>
                        <a:rPr lang="en-US" sz="1000" b="0" i="0" u="none" strike="noStrike" kern="1200">
                          <a:solidFill>
                            <a:schemeClr val="tx1"/>
                          </a:solidFill>
                          <a:effectLst/>
                          <a:latin typeface="+mn-lt"/>
                          <a:ea typeface="+mn-ea"/>
                          <a:cs typeface="Calibri" panose="020F0502020204030204" pitchFamily="34" charset="0"/>
                        </a:rPr>
                        <a:t>5,428</a:t>
                      </a:r>
                    </a:p>
                  </a:txBody>
                  <a:tcPr marL="9525" marR="9525" marT="9525" marB="0" anchor="ctr"/>
                </a:tc>
                <a:tc>
                  <a:txBody>
                    <a:bodyPr/>
                    <a:lstStyle/>
                    <a:p>
                      <a:pPr algn="ctr" fontAlgn="b">
                        <a:buNone/>
                      </a:pPr>
                      <a:r>
                        <a:rPr lang="en-US" sz="1000" b="0" i="0" u="none" strike="noStrike">
                          <a:solidFill>
                            <a:schemeClr val="tx1"/>
                          </a:solidFill>
                          <a:effectLst/>
                          <a:latin typeface="+mn-lt"/>
                        </a:rPr>
                        <a:t>7.6%</a:t>
                      </a:r>
                    </a:p>
                  </a:txBody>
                  <a:tcPr marL="7620" marR="7620" marT="7620" marB="0" anchor="ctr"/>
                </a:tc>
                <a:extLst>
                  <a:ext uri="{0D108BD9-81ED-4DB2-BD59-A6C34878D82A}">
                    <a16:rowId xmlns:a16="http://schemas.microsoft.com/office/drawing/2014/main" val="792337932"/>
                  </a:ext>
                </a:extLst>
              </a:tr>
              <a:tr h="3206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Shanghai Comp</a:t>
                      </a:r>
                    </a:p>
                  </a:txBody>
                  <a:tcPr anchor="ctr"/>
                </a:tc>
                <a:tc>
                  <a:txBody>
                    <a:bodyPr/>
                    <a:lstStyle/>
                    <a:p>
                      <a:pPr marL="0" algn="ctr" defTabSz="990570" rtl="0" eaLnBrk="1" fontAlgn="ctr" latinLnBrk="0" hangingPunct="1"/>
                      <a:r>
                        <a:rPr lang="en-US" altLang="zh-CN" sz="1000" b="1" i="0" u="none" strike="noStrike" kern="1200">
                          <a:solidFill>
                            <a:schemeClr val="tx1"/>
                          </a:solidFill>
                          <a:effectLst/>
                          <a:latin typeface="+mn-lt"/>
                          <a:ea typeface="+mn-ea"/>
                          <a:cs typeface="Calibri" panose="020F0502020204030204" pitchFamily="34" charset="0"/>
                        </a:rPr>
                        <a:t>4.9</a:t>
                      </a:r>
                      <a:r>
                        <a:rPr lang="en-US" sz="1000" b="1" i="0" u="none" strike="noStrike" kern="1200">
                          <a:solidFill>
                            <a:schemeClr val="tx1"/>
                          </a:solidFill>
                          <a:effectLst/>
                          <a:latin typeface="+mn-lt"/>
                          <a:ea typeface="+mn-ea"/>
                          <a:cs typeface="Calibri" panose="020F0502020204030204" pitchFamily="34" charset="0"/>
                        </a:rPr>
                        <a:t>%</a:t>
                      </a:r>
                    </a:p>
                  </a:txBody>
                  <a:tcPr marL="9525" marR="9525" marT="9525" marB="0" anchor="ctr"/>
                </a:tc>
                <a:tc>
                  <a:txBody>
                    <a:bodyPr/>
                    <a:lstStyle/>
                    <a:p>
                      <a:pPr marL="0" algn="ctr" defTabSz="990570" rtl="0" eaLnBrk="1" fontAlgn="ctr" latinLnBrk="0" hangingPunct="1"/>
                      <a:r>
                        <a:rPr lang="en-US" altLang="zh-CN" sz="1000" b="0" i="0" u="none" strike="noStrike" kern="1200">
                          <a:solidFill>
                            <a:schemeClr val="tx1"/>
                          </a:solidFill>
                          <a:effectLst/>
                          <a:latin typeface="+mn-lt"/>
                          <a:ea typeface="+mn-ea"/>
                          <a:cs typeface="Calibri" panose="020F0502020204030204" pitchFamily="34" charset="0"/>
                        </a:rPr>
                        <a:t>4</a:t>
                      </a:r>
                      <a:r>
                        <a:rPr lang="en-US" sz="1000" b="0" i="0" u="none" strike="noStrike" kern="1200">
                          <a:solidFill>
                            <a:schemeClr val="tx1"/>
                          </a:solidFill>
                          <a:effectLst/>
                          <a:latin typeface="+mn-lt"/>
                          <a:ea typeface="+mn-ea"/>
                          <a:cs typeface="Calibri" panose="020F0502020204030204" pitchFamily="34" charset="0"/>
                        </a:rPr>
                        <a:t>,</a:t>
                      </a:r>
                      <a:r>
                        <a:rPr lang="en-US" altLang="zh-CN" sz="1000" b="0" i="0" u="none" strike="noStrike" kern="1200">
                          <a:solidFill>
                            <a:schemeClr val="tx1"/>
                          </a:solidFill>
                          <a:effectLst/>
                          <a:latin typeface="+mn-lt"/>
                          <a:ea typeface="+mn-ea"/>
                          <a:cs typeface="Calibri" panose="020F0502020204030204" pitchFamily="34" charset="0"/>
                        </a:rPr>
                        <a:t>162</a:t>
                      </a:r>
                      <a:endParaRPr lang="en-US" sz="1000" b="0" i="0" u="none" strike="noStrike" kern="1200">
                        <a:solidFill>
                          <a:schemeClr val="tx1"/>
                        </a:solidFill>
                        <a:effectLst/>
                        <a:latin typeface="+mn-lt"/>
                        <a:ea typeface="+mn-ea"/>
                        <a:cs typeface="Calibri" panose="020F0502020204030204" pitchFamily="34" charset="0"/>
                      </a:endParaRPr>
                    </a:p>
                  </a:txBody>
                  <a:tcPr marL="9525" marR="9525" marT="9525" marB="0" anchor="ctr"/>
                </a:tc>
                <a:tc>
                  <a:txBody>
                    <a:bodyPr/>
                    <a:lstStyle/>
                    <a:p>
                      <a:pPr algn="ctr" rtl="0" fontAlgn="ctr"/>
                      <a:r>
                        <a:rPr lang="en-US" sz="1000" b="0" i="0" u="none" strike="noStrike" kern="1200">
                          <a:solidFill>
                            <a:schemeClr val="tx1"/>
                          </a:solidFill>
                          <a:effectLst/>
                          <a:latin typeface="+mn-lt"/>
                          <a:ea typeface="+mn-ea"/>
                          <a:cs typeface="Calibri" panose="020F0502020204030204" pitchFamily="34" charset="0"/>
                        </a:rPr>
                        <a:t>5,027</a:t>
                      </a:r>
                    </a:p>
                  </a:txBody>
                  <a:tcPr marL="9525" marR="9525" marT="9525" marB="0" anchor="ctr"/>
                </a:tc>
                <a:tc>
                  <a:txBody>
                    <a:bodyPr/>
                    <a:lstStyle/>
                    <a:p>
                      <a:pPr algn="ctr" fontAlgn="b">
                        <a:buNone/>
                      </a:pPr>
                      <a:r>
                        <a:rPr lang="en-US" sz="1000" b="0" i="0" u="none" strike="noStrike">
                          <a:solidFill>
                            <a:schemeClr val="tx1"/>
                          </a:solidFill>
                          <a:effectLst/>
                          <a:latin typeface="+mn-lt"/>
                        </a:rPr>
                        <a:t>20.8%</a:t>
                      </a:r>
                    </a:p>
                  </a:txBody>
                  <a:tcPr marL="7620" marR="7620" marT="7620" marB="0" anchor="ctr"/>
                </a:tc>
                <a:extLst>
                  <a:ext uri="{0D108BD9-81ED-4DB2-BD59-A6C34878D82A}">
                    <a16:rowId xmlns:a16="http://schemas.microsoft.com/office/drawing/2014/main" val="831172971"/>
                  </a:ext>
                </a:extLst>
              </a:tr>
              <a:tr h="3206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Hang Seng</a:t>
                      </a:r>
                    </a:p>
                  </a:txBody>
                  <a:tcPr anchor="ctr"/>
                </a:tc>
                <a:tc>
                  <a:txBody>
                    <a:bodyPr/>
                    <a:lstStyle/>
                    <a:p>
                      <a:pPr algn="ctr" rtl="0" fontAlgn="ctr"/>
                      <a:r>
                        <a:rPr lang="en-US" altLang="zh-CN" sz="1000" b="1" i="0" u="none" strike="noStrike" kern="1200">
                          <a:solidFill>
                            <a:schemeClr val="tx1"/>
                          </a:solidFill>
                          <a:effectLst/>
                          <a:latin typeface="+mn-lt"/>
                          <a:ea typeface="+mn-ea"/>
                          <a:cs typeface="Calibri" panose="020F0502020204030204" pitchFamily="34" charset="0"/>
                        </a:rPr>
                        <a:t>0.1</a:t>
                      </a:r>
                      <a:r>
                        <a:rPr lang="en-US" sz="1000" b="1" i="0" u="none" strike="noStrike" kern="1200">
                          <a:solidFill>
                            <a:schemeClr val="tx1"/>
                          </a:solidFill>
                          <a:effectLst/>
                          <a:latin typeface="+mn-lt"/>
                          <a:ea typeface="+mn-ea"/>
                          <a:cs typeface="Calibri" panose="020F0502020204030204" pitchFamily="34" charset="0"/>
                        </a:rPr>
                        <a:t>%</a:t>
                      </a:r>
                    </a:p>
                  </a:txBody>
                  <a:tcPr marL="9525" marR="9525" marT="9525" marB="0" anchor="ctr"/>
                </a:tc>
                <a:tc>
                  <a:txBody>
                    <a:bodyPr/>
                    <a:lstStyle/>
                    <a:p>
                      <a:pPr marL="0" algn="ctr" defTabSz="990570" rtl="0" eaLnBrk="1" fontAlgn="ctr" latinLnBrk="0" hangingPunct="1"/>
                      <a:r>
                        <a:rPr lang="en-US" altLang="zh-CN" sz="1000" b="0" i="0" u="none" strike="noStrike" kern="1200">
                          <a:solidFill>
                            <a:schemeClr val="tx1"/>
                          </a:solidFill>
                          <a:effectLst/>
                          <a:latin typeface="+mn-lt"/>
                          <a:ea typeface="+mn-ea"/>
                          <a:cs typeface="Calibri" panose="020F0502020204030204" pitchFamily="34" charset="0"/>
                        </a:rPr>
                        <a:t>25</a:t>
                      </a:r>
                      <a:r>
                        <a:rPr lang="en-US" sz="1000" b="0" i="0" u="none" strike="noStrike" kern="1200">
                          <a:solidFill>
                            <a:schemeClr val="tx1"/>
                          </a:solidFill>
                          <a:effectLst/>
                          <a:latin typeface="+mn-lt"/>
                          <a:ea typeface="+mn-ea"/>
                          <a:cs typeface="Calibri" panose="020F0502020204030204" pitchFamily="34" charset="0"/>
                        </a:rPr>
                        <a:t>,</a:t>
                      </a:r>
                      <a:r>
                        <a:rPr lang="en-US" altLang="zh-CN" sz="1000" b="0" i="0" u="none" strike="noStrike" kern="1200">
                          <a:solidFill>
                            <a:schemeClr val="tx1"/>
                          </a:solidFill>
                          <a:effectLst/>
                          <a:latin typeface="+mn-lt"/>
                          <a:ea typeface="+mn-ea"/>
                          <a:cs typeface="Calibri" panose="020F0502020204030204" pitchFamily="34" charset="0"/>
                        </a:rPr>
                        <a:t>651</a:t>
                      </a:r>
                      <a:endParaRPr lang="en-US" sz="1000" b="0" i="0" u="none" strike="noStrike" kern="1200">
                        <a:solidFill>
                          <a:schemeClr val="tx1"/>
                        </a:solidFill>
                        <a:effectLst/>
                        <a:latin typeface="+mn-lt"/>
                        <a:ea typeface="+mn-ea"/>
                        <a:cs typeface="Calibri" panose="020F0502020204030204" pitchFamily="34" charset="0"/>
                      </a:endParaRPr>
                    </a:p>
                  </a:txBody>
                  <a:tcPr marL="9525" marR="9525" marT="9525" marB="0" anchor="ctr"/>
                </a:tc>
                <a:tc>
                  <a:txBody>
                    <a:bodyPr/>
                    <a:lstStyle/>
                    <a:p>
                      <a:pPr algn="ctr" rtl="0" fontAlgn="ctr"/>
                      <a:r>
                        <a:rPr lang="en-US" sz="1000" b="0" i="0" u="none" strike="noStrike" kern="1200">
                          <a:solidFill>
                            <a:schemeClr val="tx1"/>
                          </a:solidFill>
                          <a:effectLst/>
                          <a:latin typeface="+mn-lt"/>
                          <a:ea typeface="+mn-ea"/>
                          <a:cs typeface="Calibri" panose="020F0502020204030204" pitchFamily="34" charset="0"/>
                        </a:rPr>
                        <a:t>32,488</a:t>
                      </a:r>
                    </a:p>
                  </a:txBody>
                  <a:tcPr marL="9525" marR="9525" marT="9525" marB="0" anchor="ctr"/>
                </a:tc>
                <a:tc>
                  <a:txBody>
                    <a:bodyPr/>
                    <a:lstStyle/>
                    <a:p>
                      <a:pPr algn="ctr" fontAlgn="b">
                        <a:buNone/>
                      </a:pPr>
                      <a:r>
                        <a:rPr lang="en-US" sz="1000" b="0" i="0" u="none" strike="noStrike">
                          <a:solidFill>
                            <a:schemeClr val="tx1"/>
                          </a:solidFill>
                          <a:effectLst/>
                          <a:latin typeface="+mn-lt"/>
                        </a:rPr>
                        <a:t>26.7%</a:t>
                      </a:r>
                    </a:p>
                  </a:txBody>
                  <a:tcPr marL="7620" marR="7620" marT="7620" marB="0" anchor="ctr"/>
                </a:tc>
                <a:extLst>
                  <a:ext uri="{0D108BD9-81ED-4DB2-BD59-A6C34878D82A}">
                    <a16:rowId xmlns:a16="http://schemas.microsoft.com/office/drawing/2014/main" val="1840566693"/>
                  </a:ext>
                </a:extLst>
              </a:tr>
              <a:tr h="3206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HS China Enterprises</a:t>
                      </a:r>
                    </a:p>
                  </a:txBody>
                  <a:tcPr anchor="ctr"/>
                </a:tc>
                <a:tc>
                  <a:txBody>
                    <a:bodyPr/>
                    <a:lstStyle/>
                    <a:p>
                      <a:pPr algn="ctr" rtl="0" fontAlgn="ctr"/>
                      <a:r>
                        <a:rPr lang="en-US" altLang="zh-CN" sz="1000" b="1" i="0" u="none" strike="noStrike" kern="1200">
                          <a:solidFill>
                            <a:schemeClr val="tx1"/>
                          </a:solidFill>
                          <a:effectLst/>
                          <a:latin typeface="+mn-lt"/>
                          <a:ea typeface="+mn-ea"/>
                          <a:cs typeface="Calibri" panose="020F0502020204030204" pitchFamily="34" charset="0"/>
                        </a:rPr>
                        <a:t>-3.5</a:t>
                      </a:r>
                      <a:r>
                        <a:rPr lang="en-US" sz="1000" b="1" i="0" u="none" strike="noStrike" kern="1200">
                          <a:solidFill>
                            <a:schemeClr val="tx1"/>
                          </a:solidFill>
                          <a:effectLst/>
                          <a:latin typeface="+mn-lt"/>
                          <a:ea typeface="+mn-ea"/>
                          <a:cs typeface="Calibri" panose="020F0502020204030204" pitchFamily="34" charset="0"/>
                        </a:rPr>
                        <a:t>%</a:t>
                      </a:r>
                    </a:p>
                  </a:txBody>
                  <a:tcPr marL="9525" marR="9525" marT="9525" marB="0" anchor="ctr"/>
                </a:tc>
                <a:tc>
                  <a:txBody>
                    <a:bodyPr/>
                    <a:lstStyle/>
                    <a:p>
                      <a:pPr algn="ctr" rtl="0" fontAlgn="ctr"/>
                      <a:r>
                        <a:rPr lang="en-US" altLang="zh-CN" sz="1000" b="0" i="0" u="none" strike="noStrike">
                          <a:solidFill>
                            <a:schemeClr val="tx1"/>
                          </a:solidFill>
                          <a:effectLst/>
                          <a:latin typeface="+mn-lt"/>
                          <a:cs typeface="Calibri" panose="020F0502020204030204" pitchFamily="34" charset="0"/>
                        </a:rPr>
                        <a:t>8</a:t>
                      </a:r>
                      <a:r>
                        <a:rPr lang="en-US" sz="1000" b="0" i="0" u="none" strike="noStrike">
                          <a:solidFill>
                            <a:schemeClr val="tx1"/>
                          </a:solidFill>
                          <a:effectLst/>
                          <a:latin typeface="+mn-lt"/>
                          <a:cs typeface="Calibri" panose="020F0502020204030204" pitchFamily="34" charset="0"/>
                        </a:rPr>
                        <a:t>,</a:t>
                      </a:r>
                      <a:r>
                        <a:rPr lang="en-US" altLang="zh-CN" sz="1000" b="0" i="0" u="none" strike="noStrike">
                          <a:solidFill>
                            <a:schemeClr val="tx1"/>
                          </a:solidFill>
                          <a:effectLst/>
                          <a:latin typeface="+mn-lt"/>
                          <a:cs typeface="Calibri" panose="020F0502020204030204" pitchFamily="34" charset="0"/>
                        </a:rPr>
                        <a:t>605</a:t>
                      </a:r>
                      <a:endParaRPr lang="en-US" sz="1000" b="0" i="0" u="none" strike="noStrike">
                        <a:solidFill>
                          <a:schemeClr val="tx1"/>
                        </a:solidFill>
                        <a:effectLst/>
                        <a:latin typeface="+mn-lt"/>
                        <a:cs typeface="Calibri" panose="020F0502020204030204" pitchFamily="34" charset="0"/>
                      </a:endParaRPr>
                    </a:p>
                  </a:txBody>
                  <a:tcPr marL="9525" marR="9525" marT="9525" marB="0" anchor="ctr"/>
                </a:tc>
                <a:tc>
                  <a:txBody>
                    <a:bodyPr/>
                    <a:lstStyle/>
                    <a:p>
                      <a:pPr algn="ctr" rtl="0" fontAlgn="ctr"/>
                      <a:r>
                        <a:rPr lang="en-US" sz="1000" b="0" i="0" u="none" strike="noStrike" kern="1200">
                          <a:solidFill>
                            <a:schemeClr val="tx1"/>
                          </a:solidFill>
                          <a:effectLst/>
                          <a:latin typeface="+mn-lt"/>
                          <a:ea typeface="+mn-ea"/>
                          <a:cs typeface="Calibri" panose="020F0502020204030204" pitchFamily="34" charset="0"/>
                        </a:rPr>
                        <a:t>11,162</a:t>
                      </a:r>
                    </a:p>
                  </a:txBody>
                  <a:tcPr marL="9525" marR="9525" marT="9525" marB="0" anchor="ctr"/>
                </a:tc>
                <a:tc>
                  <a:txBody>
                    <a:bodyPr/>
                    <a:lstStyle/>
                    <a:p>
                      <a:pPr algn="ctr" fontAlgn="b">
                        <a:buNone/>
                      </a:pPr>
                      <a:r>
                        <a:rPr lang="en-US" sz="1000" b="0" i="0" u="none" strike="noStrike">
                          <a:solidFill>
                            <a:schemeClr val="tx1"/>
                          </a:solidFill>
                          <a:effectLst/>
                          <a:latin typeface="+mn-lt"/>
                        </a:rPr>
                        <a:t>29.7%</a:t>
                      </a:r>
                    </a:p>
                  </a:txBody>
                  <a:tcPr marL="7620" marR="7620" marT="7620" marB="0" anchor="ctr"/>
                </a:tc>
                <a:extLst>
                  <a:ext uri="{0D108BD9-81ED-4DB2-BD59-A6C34878D82A}">
                    <a16:rowId xmlns:a16="http://schemas.microsoft.com/office/drawing/2014/main" val="487902419"/>
                  </a:ext>
                </a:extLst>
              </a:tr>
            </a:tbl>
          </a:graphicData>
        </a:graphic>
      </p:graphicFrame>
      <p:grpSp>
        <p:nvGrpSpPr>
          <p:cNvPr id="7" name="Group 6">
            <a:extLst>
              <a:ext uri="{FF2B5EF4-FFF2-40B4-BE49-F238E27FC236}">
                <a16:creationId xmlns:a16="http://schemas.microsoft.com/office/drawing/2014/main" id="{44B8B383-13E6-CB96-77C2-64C20C220335}"/>
              </a:ext>
            </a:extLst>
          </p:cNvPr>
          <p:cNvGrpSpPr/>
          <p:nvPr/>
        </p:nvGrpSpPr>
        <p:grpSpPr>
          <a:xfrm>
            <a:off x="817144" y="5041824"/>
            <a:ext cx="3266883" cy="396700"/>
            <a:chOff x="690910" y="4916040"/>
            <a:chExt cx="3359333" cy="396700"/>
          </a:xfrm>
        </p:grpSpPr>
        <p:sp>
          <p:nvSpPr>
            <p:cNvPr id="17" name="TextBox 16">
              <a:extLst>
                <a:ext uri="{FF2B5EF4-FFF2-40B4-BE49-F238E27FC236}">
                  <a16:creationId xmlns:a16="http://schemas.microsoft.com/office/drawing/2014/main" id="{B74ED673-7C24-48A9-BE69-925819B65FBA}"/>
                </a:ext>
              </a:extLst>
            </p:cNvPr>
            <p:cNvSpPr txBox="1"/>
            <p:nvPr/>
          </p:nvSpPr>
          <p:spPr>
            <a:xfrm>
              <a:off x="2814551" y="4927630"/>
              <a:ext cx="1235692" cy="385110"/>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lvl="0">
                <a:buClr>
                  <a:srgbClr val="C00000"/>
                </a:buClr>
                <a:defRPr/>
              </a:pPr>
              <a:r>
                <a:rPr kumimoji="0" lang="en-US" sz="1000" b="1" i="0" u="none" strike="noStrike" kern="0" cap="none" spc="0" normalizeH="0" baseline="0" noProof="0">
                  <a:ln>
                    <a:noFill/>
                  </a:ln>
                  <a:solidFill>
                    <a:srgbClr val="000000"/>
                  </a:solidFill>
                  <a:effectLst/>
                  <a:uLnTx/>
                  <a:uFillTx/>
                  <a:latin typeface="+mj-lt"/>
                  <a:ea typeface="DFKaiShu-GB5"/>
                  <a:cs typeface="+mn-cs"/>
                </a:rPr>
                <a:t>2025 Same P. </a:t>
              </a:r>
            </a:p>
            <a:p>
              <a:pPr lvl="0">
                <a:buClr>
                  <a:srgbClr val="C00000"/>
                </a:buClr>
                <a:defRPr/>
              </a:pPr>
              <a:r>
                <a:rPr kumimoji="0" lang="en-US" sz="1000" b="1" i="0" u="none" strike="noStrike" kern="0" cap="none" spc="0" normalizeH="0" baseline="0" noProof="0">
                  <a:ln>
                    <a:noFill/>
                  </a:ln>
                  <a:solidFill>
                    <a:srgbClr val="000000"/>
                  </a:solidFill>
                  <a:effectLst/>
                  <a:uLnTx/>
                  <a:uFillTx/>
                  <a:latin typeface="+mj-lt"/>
                  <a:ea typeface="DFKaiShu-GB5"/>
                  <a:cs typeface="+mn-cs"/>
                </a:rPr>
                <a:t>ECM </a:t>
              </a:r>
              <a:r>
                <a:rPr kumimoji="0" lang="en-US" sz="1000" b="1" i="0" strike="noStrike" kern="0" cap="none" spc="0" normalizeH="0" baseline="0" noProof="0">
                  <a:ln>
                    <a:noFill/>
                  </a:ln>
                  <a:solidFill>
                    <a:srgbClr val="000000"/>
                  </a:solidFill>
                  <a:effectLst/>
                  <a:uLnTx/>
                  <a:uFillTx/>
                  <a:latin typeface="+mj-lt"/>
                  <a:ea typeface="DFKaiShu-GB5"/>
                  <a:cs typeface="+mn-cs"/>
                </a:rPr>
                <a:t>Volume: </a:t>
              </a:r>
              <a:r>
                <a:rPr kumimoji="0" lang="en-US" sz="1000" b="1" i="0" u="none" strike="noStrike" kern="0" cap="none" spc="0" normalizeH="0" baseline="0" noProof="0">
                  <a:ln>
                    <a:noFill/>
                  </a:ln>
                  <a:solidFill>
                    <a:srgbClr val="000000"/>
                  </a:solidFill>
                  <a:effectLst/>
                  <a:uLnTx/>
                  <a:uFillTx/>
                  <a:latin typeface="+mj-lt"/>
                  <a:ea typeface="DFKaiShu-GB5"/>
                  <a:cs typeface="+mn-cs"/>
                </a:rPr>
                <a:t>US</a:t>
              </a:r>
              <a:r>
                <a:rPr lang="en-US" sz="1000" b="1">
                  <a:solidFill>
                    <a:srgbClr val="000000"/>
                  </a:solidFill>
                  <a:latin typeface="+mj-lt"/>
                </a:rPr>
                <a:t>$25.0B</a:t>
              </a:r>
              <a:endParaRPr kumimoji="0" lang="en-US" sz="1000" b="1" i="0" u="none" strike="noStrike" kern="0" cap="none" spc="0" normalizeH="0" baseline="0" noProof="0">
                <a:ln>
                  <a:noFill/>
                </a:ln>
                <a:solidFill>
                  <a:srgbClr val="000000"/>
                </a:solidFill>
                <a:effectLst/>
                <a:uLnTx/>
                <a:uFillTx/>
                <a:latin typeface="+mj-lt"/>
                <a:ea typeface="DFKaiShu-GB5"/>
                <a:cs typeface="+mn-cs"/>
              </a:endParaRPr>
            </a:p>
          </p:txBody>
        </p:sp>
        <p:sp>
          <p:nvSpPr>
            <p:cNvPr id="10" name="TextBox 9">
              <a:extLst>
                <a:ext uri="{FF2B5EF4-FFF2-40B4-BE49-F238E27FC236}">
                  <a16:creationId xmlns:a16="http://schemas.microsoft.com/office/drawing/2014/main" id="{788C05EE-7CBE-42F1-BB53-25491D38FD6E}"/>
                </a:ext>
              </a:extLst>
            </p:cNvPr>
            <p:cNvSpPr txBox="1"/>
            <p:nvPr/>
          </p:nvSpPr>
          <p:spPr>
            <a:xfrm>
              <a:off x="690910" y="4916040"/>
              <a:ext cx="1235692" cy="377811"/>
            </a:xfrm>
            <a:prstGeom prst="rect">
              <a:avLst/>
            </a:prstGeom>
            <a:noFill/>
            <a:ln>
              <a:noFill/>
              <a:headEnd/>
              <a:tailEnd/>
            </a:ln>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marR="0" lvl="0" indent="0" algn="ctr" defTabSz="844083" eaLnBrk="1" fontAlgn="auto" latinLnBrk="0" hangingPunct="1">
                <a:lnSpc>
                  <a:spcPct val="120000"/>
                </a:lnSpc>
                <a:spcBef>
                  <a:spcPts val="0"/>
                </a:spcBef>
                <a:spcAft>
                  <a:spcPts val="0"/>
                </a:spcAft>
                <a:buClrTx/>
                <a:buSzTx/>
                <a:buFontTx/>
                <a:buNone/>
                <a:tabLst/>
                <a:defRPr kumimoji="0" sz="1015" i="0" u="none" strike="noStrike" kern="0" cap="none" spc="0" normalizeH="0" baseline="0">
                  <a:ln>
                    <a:noFill/>
                  </a:ln>
                  <a:solidFill>
                    <a:srgbClr val="FFFFFF"/>
                  </a:solidFill>
                  <a:effectLst/>
                  <a:uLnTx/>
                  <a:uFillTx/>
                  <a:latin typeface="+mn-lt"/>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pPr lvl="0">
                <a:buClr>
                  <a:srgbClr val="C00000"/>
                </a:buClr>
                <a:defRPr/>
              </a:pPr>
              <a:r>
                <a:rPr kumimoji="0" lang="en-US" sz="1000" b="1" i="0" u="none" strike="noStrike" kern="0" cap="none" spc="0" normalizeH="0" baseline="0" noProof="0">
                  <a:ln>
                    <a:noFill/>
                  </a:ln>
                  <a:solidFill>
                    <a:srgbClr val="000000"/>
                  </a:solidFill>
                  <a:effectLst/>
                  <a:uLnTx/>
                  <a:uFillTx/>
                  <a:latin typeface="+mj-lt"/>
                  <a:ea typeface="DFKaiShu-GB5"/>
                  <a:cs typeface="+mn-cs"/>
                </a:rPr>
                <a:t>2026YTD </a:t>
              </a:r>
            </a:p>
            <a:p>
              <a:pPr lvl="0">
                <a:buClr>
                  <a:srgbClr val="C00000"/>
                </a:buClr>
                <a:defRPr/>
              </a:pPr>
              <a:r>
                <a:rPr kumimoji="0" lang="en-US" sz="1000" b="1" i="0" u="none" strike="noStrike" kern="0" cap="none" spc="0" normalizeH="0" baseline="0" noProof="0">
                  <a:ln>
                    <a:noFill/>
                  </a:ln>
                  <a:solidFill>
                    <a:srgbClr val="000000"/>
                  </a:solidFill>
                  <a:effectLst/>
                  <a:uLnTx/>
                  <a:uFillTx/>
                  <a:latin typeface="+mj-lt"/>
                  <a:ea typeface="DFKaiShu-GB5"/>
                  <a:cs typeface="+mn-cs"/>
                </a:rPr>
                <a:t>ECM </a:t>
              </a:r>
              <a:r>
                <a:rPr kumimoji="0" lang="en-US" sz="1000" b="1" i="0" strike="noStrike" kern="0" cap="none" spc="0" normalizeH="0" baseline="0" noProof="0">
                  <a:ln>
                    <a:noFill/>
                  </a:ln>
                  <a:solidFill>
                    <a:srgbClr val="000000"/>
                  </a:solidFill>
                  <a:effectLst/>
                  <a:uLnTx/>
                  <a:uFillTx/>
                  <a:latin typeface="+mj-lt"/>
                  <a:ea typeface="DFKaiShu-GB5"/>
                  <a:cs typeface="+mn-cs"/>
                </a:rPr>
                <a:t>Volume: </a:t>
              </a:r>
              <a:r>
                <a:rPr kumimoji="0" lang="en-US" sz="1000" b="1" i="0" u="none" strike="noStrike" kern="0" cap="none" spc="0" normalizeH="0" baseline="0" noProof="0">
                  <a:ln>
                    <a:noFill/>
                  </a:ln>
                  <a:solidFill>
                    <a:srgbClr val="000000"/>
                  </a:solidFill>
                  <a:effectLst/>
                  <a:uLnTx/>
                  <a:uFillTx/>
                  <a:latin typeface="+mj-lt"/>
                  <a:ea typeface="DFKaiShu-GB5"/>
                  <a:cs typeface="+mn-cs"/>
                </a:rPr>
                <a:t>US</a:t>
              </a:r>
              <a:r>
                <a:rPr lang="en-US" sz="1000" b="1">
                  <a:solidFill>
                    <a:srgbClr val="000000"/>
                  </a:solidFill>
                  <a:latin typeface="+mj-lt"/>
                </a:rPr>
                <a:t>$36.0B</a:t>
              </a:r>
              <a:endParaRPr kumimoji="0" lang="en-US" sz="1000" b="1" i="0" u="none" strike="noStrike" kern="0" cap="none" spc="0" normalizeH="0" baseline="0" noProof="0">
                <a:ln>
                  <a:noFill/>
                </a:ln>
                <a:solidFill>
                  <a:srgbClr val="000000"/>
                </a:solidFill>
                <a:effectLst/>
                <a:uLnTx/>
                <a:uFillTx/>
                <a:latin typeface="+mj-lt"/>
                <a:ea typeface="DFKaiShu-GB5"/>
                <a:cs typeface="+mn-cs"/>
              </a:endParaRPr>
            </a:p>
          </p:txBody>
        </p:sp>
      </p:grpSp>
      <p:graphicFrame>
        <p:nvGraphicFramePr>
          <p:cNvPr id="9" name="Table 8">
            <a:extLst>
              <a:ext uri="{FF2B5EF4-FFF2-40B4-BE49-F238E27FC236}">
                <a16:creationId xmlns:a16="http://schemas.microsoft.com/office/drawing/2014/main" id="{0DED6F1A-5052-9844-6255-8BF8DDB06DB9}"/>
              </a:ext>
            </a:extLst>
          </p:cNvPr>
          <p:cNvGraphicFramePr>
            <a:graphicFrameLocks noGrp="1"/>
          </p:cNvGraphicFramePr>
          <p:nvPr>
            <p:extLst>
              <p:ext uri="{D42A27DB-BD31-4B8C-83A1-F6EECF244321}">
                <p14:modId xmlns:p14="http://schemas.microsoft.com/office/powerpoint/2010/main" val="3803974531"/>
              </p:ext>
            </p:extLst>
          </p:nvPr>
        </p:nvGraphicFramePr>
        <p:xfrm>
          <a:off x="4594860" y="1349319"/>
          <a:ext cx="4889078" cy="5032934"/>
        </p:xfrm>
        <a:graphic>
          <a:graphicData uri="http://schemas.openxmlformats.org/drawingml/2006/table">
            <a:tbl>
              <a:tblPr>
                <a:tableStyleId>{5FD0F851-EC5A-4D38-B0AD-8093EC10F338}</a:tableStyleId>
              </a:tblPr>
              <a:tblGrid>
                <a:gridCol w="166480">
                  <a:extLst>
                    <a:ext uri="{9D8B030D-6E8A-4147-A177-3AD203B41FA5}">
                      <a16:colId xmlns:a16="http://schemas.microsoft.com/office/drawing/2014/main" val="953951278"/>
                    </a:ext>
                  </a:extLst>
                </a:gridCol>
                <a:gridCol w="561188">
                  <a:extLst>
                    <a:ext uri="{9D8B030D-6E8A-4147-A177-3AD203B41FA5}">
                      <a16:colId xmlns:a16="http://schemas.microsoft.com/office/drawing/2014/main" val="703069288"/>
                    </a:ext>
                  </a:extLst>
                </a:gridCol>
                <a:gridCol w="308838">
                  <a:extLst>
                    <a:ext uri="{9D8B030D-6E8A-4147-A177-3AD203B41FA5}">
                      <a16:colId xmlns:a16="http://schemas.microsoft.com/office/drawing/2014/main" val="1072402543"/>
                    </a:ext>
                  </a:extLst>
                </a:gridCol>
                <a:gridCol w="1378138">
                  <a:extLst>
                    <a:ext uri="{9D8B030D-6E8A-4147-A177-3AD203B41FA5}">
                      <a16:colId xmlns:a16="http://schemas.microsoft.com/office/drawing/2014/main" val="1732231612"/>
                    </a:ext>
                  </a:extLst>
                </a:gridCol>
                <a:gridCol w="519656">
                  <a:extLst>
                    <a:ext uri="{9D8B030D-6E8A-4147-A177-3AD203B41FA5}">
                      <a16:colId xmlns:a16="http://schemas.microsoft.com/office/drawing/2014/main" val="752218670"/>
                    </a:ext>
                  </a:extLst>
                </a:gridCol>
                <a:gridCol w="666884">
                  <a:extLst>
                    <a:ext uri="{9D8B030D-6E8A-4147-A177-3AD203B41FA5}">
                      <a16:colId xmlns:a16="http://schemas.microsoft.com/office/drawing/2014/main" val="3784288677"/>
                    </a:ext>
                  </a:extLst>
                </a:gridCol>
                <a:gridCol w="643947">
                  <a:extLst>
                    <a:ext uri="{9D8B030D-6E8A-4147-A177-3AD203B41FA5}">
                      <a16:colId xmlns:a16="http://schemas.microsoft.com/office/drawing/2014/main" val="1981406090"/>
                    </a:ext>
                  </a:extLst>
                </a:gridCol>
                <a:gridCol w="643947">
                  <a:extLst>
                    <a:ext uri="{9D8B030D-6E8A-4147-A177-3AD203B41FA5}">
                      <a16:colId xmlns:a16="http://schemas.microsoft.com/office/drawing/2014/main" val="2274803678"/>
                    </a:ext>
                  </a:extLst>
                </a:gridCol>
              </a:tblGrid>
              <a:tr h="293320">
                <a:tc>
                  <a:txBody>
                    <a:bodyPr/>
                    <a:lstStyle/>
                    <a:p>
                      <a:pPr algn="ctr" rtl="0" fontAlgn="b"/>
                      <a:r>
                        <a:rPr lang="en-US" sz="900" b="1" i="0" u="none" strike="noStrike">
                          <a:solidFill>
                            <a:schemeClr val="tx1"/>
                          </a:solidFill>
                          <a:effectLst/>
                          <a:latin typeface="+mj-lt"/>
                        </a:rPr>
                        <a:t>#</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FCF5"/>
                    </a:solidFill>
                  </a:tcPr>
                </a:tc>
                <a:tc>
                  <a:txBody>
                    <a:bodyPr/>
                    <a:lstStyle/>
                    <a:p>
                      <a:pPr algn="ctr" rtl="0" fontAlgn="b"/>
                      <a:r>
                        <a:rPr lang="en-US" sz="800" b="1" i="0" u="none" strike="noStrike">
                          <a:solidFill>
                            <a:schemeClr val="tx1"/>
                          </a:solidFill>
                          <a:effectLst/>
                          <a:latin typeface="+mj-lt"/>
                        </a:rPr>
                        <a:t>Listing</a:t>
                      </a:r>
                    </a:p>
                    <a:p>
                      <a:pPr algn="ctr" rtl="0" fontAlgn="b"/>
                      <a:r>
                        <a:rPr lang="en-US" sz="800" b="1" i="0" u="none" strike="noStrike">
                          <a:solidFill>
                            <a:schemeClr val="tx1"/>
                          </a:solidFill>
                          <a:effectLst/>
                          <a:latin typeface="+mj-lt"/>
                        </a:rPr>
                        <a:t>Date</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FCF5"/>
                    </a:solidFill>
                  </a:tcPr>
                </a:tc>
                <a:tc>
                  <a:txBody>
                    <a:bodyPr/>
                    <a:lstStyle/>
                    <a:p>
                      <a:pPr algn="ctr" rtl="0" fontAlgn="b"/>
                      <a:r>
                        <a:rPr lang="en-US" sz="800" b="1" i="0" u="none" strike="noStrike">
                          <a:solidFill>
                            <a:schemeClr val="tx1"/>
                          </a:solidFill>
                          <a:effectLst/>
                          <a:latin typeface="+mj-lt"/>
                        </a:rPr>
                        <a:t>Ticker</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FCF5"/>
                    </a:solidFill>
                  </a:tcPr>
                </a:tc>
                <a:tc>
                  <a:txBody>
                    <a:bodyPr/>
                    <a:lstStyle/>
                    <a:p>
                      <a:pPr algn="ctr" rtl="0" fontAlgn="b"/>
                      <a:r>
                        <a:rPr lang="en-US" sz="800" b="1" i="0" u="none" strike="noStrike">
                          <a:solidFill>
                            <a:schemeClr val="tx1"/>
                          </a:solidFill>
                          <a:effectLst/>
                          <a:latin typeface="+mj-lt"/>
                        </a:rPr>
                        <a:t>Name</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FCF5"/>
                    </a:solidFill>
                  </a:tcPr>
                </a:tc>
                <a:tc>
                  <a:txBody>
                    <a:bodyPr/>
                    <a:lstStyle/>
                    <a:p>
                      <a:pPr algn="ctr" rtl="0" fontAlgn="b"/>
                      <a:r>
                        <a:rPr lang="en-US" sz="800" b="1" i="0" u="none" strike="noStrike">
                          <a:solidFill>
                            <a:schemeClr val="tx1"/>
                          </a:solidFill>
                          <a:effectLst/>
                          <a:latin typeface="+mj-lt"/>
                        </a:rPr>
                        <a:t>Deal Size</a:t>
                      </a:r>
                    </a:p>
                    <a:p>
                      <a:pPr algn="ctr" rtl="0" fontAlgn="b"/>
                      <a:r>
                        <a:rPr lang="en-US" sz="800" b="1" i="0" u="none" strike="noStrike">
                          <a:solidFill>
                            <a:schemeClr val="tx1"/>
                          </a:solidFill>
                          <a:effectLst/>
                          <a:latin typeface="+mj-lt"/>
                        </a:rPr>
                        <a:t>(US$’mn)</a:t>
                      </a:r>
                    </a:p>
                  </a:txBody>
                  <a:tcPr marL="0" marR="0" marT="0" marB="0" anchor="ctr">
                    <a:lnL>
                      <a:noFill/>
                    </a:lnL>
                    <a:lnR>
                      <a:noFill/>
                    </a:lnR>
                    <a:lnT w="12700" cap="flat" cmpd="sng" algn="ctr">
                      <a:noFill/>
                      <a:prstDash val="solid"/>
                      <a:round/>
                      <a:headEnd type="none" w="med" len="med"/>
                      <a:tailEnd type="none" w="med" len="med"/>
                    </a:lnT>
                    <a:lnTlToBr w="12700" cmpd="sng">
                      <a:noFill/>
                      <a:prstDash val="solid"/>
                    </a:lnTlToBr>
                    <a:lnBlToTr w="12700" cmpd="sng">
                      <a:noFill/>
                      <a:prstDash val="solid"/>
                    </a:lnBlToTr>
                    <a:solidFill>
                      <a:srgbClr val="C0FCF5"/>
                    </a:solidFill>
                  </a:tcPr>
                </a:tc>
                <a:tc>
                  <a:txBody>
                    <a:bodyPr/>
                    <a:lstStyle/>
                    <a:p>
                      <a:pPr algn="ctr" rtl="0" fontAlgn="b"/>
                      <a:r>
                        <a:rPr lang="en-US" sz="800" b="1" i="0" u="none" strike="noStrike" kern="1200">
                          <a:solidFill>
                            <a:schemeClr val="tx1"/>
                          </a:solidFill>
                          <a:effectLst/>
                          <a:latin typeface="+mj-lt"/>
                          <a:ea typeface="+mn-ea"/>
                          <a:cs typeface="+mn-cs"/>
                        </a:rPr>
                        <a:t>Sector</a:t>
                      </a:r>
                    </a:p>
                  </a:txBody>
                  <a:tcPr marL="0" marR="0" marT="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FCF5"/>
                    </a:solidFill>
                  </a:tcPr>
                </a:tc>
                <a:tc>
                  <a:txBody>
                    <a:bodyPr/>
                    <a:lstStyle/>
                    <a:p>
                      <a:pPr algn="ctr" rtl="0" fontAlgn="b"/>
                      <a:r>
                        <a:rPr lang="en-US" sz="800" b="1" i="0" u="none" strike="noStrike">
                          <a:solidFill>
                            <a:schemeClr val="tx1"/>
                          </a:solidFill>
                          <a:effectLst/>
                          <a:latin typeface="+mj-lt"/>
                        </a:rPr>
                        <a:t>1</a:t>
                      </a:r>
                      <a:r>
                        <a:rPr lang="en-US" sz="800" b="1" i="0" u="none" strike="noStrike" baseline="30000">
                          <a:solidFill>
                            <a:schemeClr val="tx1"/>
                          </a:solidFill>
                          <a:effectLst/>
                          <a:latin typeface="+mj-lt"/>
                        </a:rPr>
                        <a:t>st</a:t>
                      </a:r>
                      <a:r>
                        <a:rPr lang="en-US" sz="800" b="1" i="0" u="none" strike="noStrike">
                          <a:solidFill>
                            <a:schemeClr val="tx1"/>
                          </a:solidFill>
                          <a:effectLst/>
                          <a:latin typeface="+mj-lt"/>
                        </a:rPr>
                        <a:t> Day</a:t>
                      </a:r>
                    </a:p>
                    <a:p>
                      <a:pPr algn="ctr" rtl="0" fontAlgn="b"/>
                      <a:r>
                        <a:rPr lang="en-US" sz="800" b="1" i="0" u="none" strike="noStrike">
                          <a:solidFill>
                            <a:schemeClr val="tx1"/>
                          </a:solidFill>
                          <a:effectLst/>
                          <a:latin typeface="+mj-lt"/>
                        </a:rPr>
                        <a:t>Return</a:t>
                      </a:r>
                    </a:p>
                  </a:txBody>
                  <a:tcPr marL="0" marR="0" marT="0" marB="0" anchor="ctr">
                    <a:lnL>
                      <a:noFill/>
                    </a:lnL>
                    <a:lnR>
                      <a:noFill/>
                    </a:lnR>
                    <a:lnT w="12700" cap="flat" cmpd="sng" algn="ctr">
                      <a:noFill/>
                      <a:prstDash val="solid"/>
                      <a:round/>
                      <a:headEnd type="none" w="med" len="med"/>
                      <a:tailEnd type="none" w="med" len="med"/>
                    </a:lnT>
                    <a:lnTlToBr w="12700" cmpd="sng">
                      <a:noFill/>
                      <a:prstDash val="solid"/>
                    </a:lnTlToBr>
                    <a:lnBlToTr w="12700" cmpd="sng">
                      <a:noFill/>
                      <a:prstDash val="solid"/>
                    </a:lnBlToTr>
                    <a:solidFill>
                      <a:srgbClr val="C0FCF5"/>
                    </a:solidFill>
                  </a:tcPr>
                </a:tc>
                <a:tc>
                  <a:txBody>
                    <a:bodyPr/>
                    <a:lstStyle/>
                    <a:p>
                      <a:pPr algn="ctr" rtl="0" fontAlgn="b"/>
                      <a:r>
                        <a:rPr lang="en-US" sz="800" b="1" i="0" u="none" strike="noStrike">
                          <a:solidFill>
                            <a:schemeClr val="tx1"/>
                          </a:solidFill>
                          <a:effectLst/>
                          <a:latin typeface="+mj-lt"/>
                        </a:rPr>
                        <a:t>Offer to Date </a:t>
                      </a:r>
                    </a:p>
                    <a:p>
                      <a:pPr algn="ctr" rtl="0" fontAlgn="b"/>
                      <a:r>
                        <a:rPr lang="en-US" sz="800" b="1" i="0" u="none" strike="noStrike">
                          <a:solidFill>
                            <a:schemeClr val="tx1"/>
                          </a:solidFill>
                          <a:effectLst/>
                          <a:latin typeface="+mj-lt"/>
                        </a:rPr>
                        <a:t>Return</a:t>
                      </a:r>
                    </a:p>
                  </a:txBody>
                  <a:tcPr marL="0" marR="0" marT="0" marB="0" anchor="ctr">
                    <a:lnL>
                      <a:noFill/>
                    </a:lnL>
                    <a:lnR>
                      <a:noFill/>
                    </a:lnR>
                    <a:lnT w="12700" cap="flat" cmpd="sng" algn="ctr">
                      <a:noFill/>
                      <a:prstDash val="solid"/>
                      <a:round/>
                      <a:headEnd type="none" w="med" len="med"/>
                      <a:tailEnd type="none" w="med" len="med"/>
                    </a:lnT>
                    <a:lnTlToBr w="12700" cmpd="sng">
                      <a:noFill/>
                      <a:prstDash val="solid"/>
                    </a:lnTlToBr>
                    <a:lnBlToTr w="12700" cmpd="sng">
                      <a:noFill/>
                      <a:prstDash val="solid"/>
                    </a:lnBlToTr>
                    <a:solidFill>
                      <a:srgbClr val="C0FCF5"/>
                    </a:solidFill>
                  </a:tcPr>
                </a:tc>
                <a:extLst>
                  <a:ext uri="{0D108BD9-81ED-4DB2-BD59-A6C34878D82A}">
                    <a16:rowId xmlns:a16="http://schemas.microsoft.com/office/drawing/2014/main" val="2729343995"/>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a:t>
                      </a:r>
                    </a:p>
                  </a:txBody>
                  <a:tcPr marL="7620" marR="7620" marT="7620" marB="0" anchor="ctr">
                    <a:lnT w="12700" cap="flat" cmpd="sng" algn="ctr">
                      <a:noFill/>
                      <a:prstDash val="solid"/>
                      <a:round/>
                      <a:headEnd type="none" w="med" len="med"/>
                      <a:tailEnd type="none" w="med" len="med"/>
                    </a:lnT>
                    <a:lnB>
                      <a:noFill/>
                    </a:lnB>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31-Mar-26</a:t>
                      </a:r>
                    </a:p>
                  </a:txBody>
                  <a:tcPr marL="7620" marR="7620" marT="7620" marB="0" anchor="ctr">
                    <a:lnT w="12700" cap="flat" cmpd="sng" algn="ctr">
                      <a:noFill/>
                      <a:prstDash val="solid"/>
                      <a:round/>
                      <a:headEnd type="none" w="med" len="med"/>
                      <a:tailEnd type="none" w="med" len="med"/>
                    </a:lnT>
                    <a:lnB>
                      <a:noFill/>
                    </a:lnB>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0664</a:t>
                      </a:r>
                    </a:p>
                  </a:txBody>
                  <a:tcPr marL="7620" marR="7620" marT="7620" marB="0" anchor="ctr">
                    <a:lnT w="12700" cap="flat" cmpd="sng" algn="ctr">
                      <a:noFill/>
                      <a:prstDash val="solid"/>
                      <a:round/>
                      <a:headEnd type="none" w="med" len="med"/>
                      <a:tailEnd type="none" w="med" len="med"/>
                    </a:lnT>
                    <a:lnB>
                      <a:noFill/>
                    </a:lnB>
                    <a:noFill/>
                  </a:tcPr>
                </a:tc>
                <a:tc>
                  <a:txBody>
                    <a:bodyPr/>
                    <a:lstStyle/>
                    <a:p>
                      <a:pPr algn="ctr" fontAlgn="ctr">
                        <a:buNone/>
                      </a:pPr>
                      <a:r>
                        <a:rPr lang="en-US" sz="900" b="0" i="0" u="none" strike="noStrike" kern="1200" err="1">
                          <a:solidFill>
                            <a:schemeClr val="tx1"/>
                          </a:solidFill>
                          <a:effectLst/>
                          <a:latin typeface="Calibri" panose="020F0502020204030204" pitchFamily="34" charset="0"/>
                          <a:ea typeface="+mn-ea"/>
                          <a:cs typeface="+mn-cs"/>
                        </a:rPr>
                        <a:t>Tonghifu</a:t>
                      </a:r>
                      <a:endParaRPr lang="en-US" sz="900" b="0" i="0" u="none" strike="noStrike" kern="1200">
                        <a:solidFill>
                          <a:schemeClr val="tx1"/>
                        </a:solidFill>
                        <a:effectLst/>
                        <a:latin typeface="Calibri" panose="020F0502020204030204" pitchFamily="34" charset="0"/>
                        <a:ea typeface="+mn-ea"/>
                        <a:cs typeface="+mn-cs"/>
                      </a:endParaRPr>
                    </a:p>
                  </a:txBody>
                  <a:tcPr marL="7620" marR="7620" marT="7620" marB="0" anchor="ctr">
                    <a:lnT w="12700" cap="flat" cmpd="sng" algn="ctr">
                      <a:noFill/>
                      <a:prstDash val="solid"/>
                      <a:round/>
                      <a:headEnd type="none" w="med" len="med"/>
                      <a:tailEnd type="none" w="med" len="med"/>
                    </a:lnT>
                    <a:lnB>
                      <a:noFill/>
                    </a:lnB>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57</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Consumer</a:t>
                      </a:r>
                    </a:p>
                  </a:txBody>
                  <a:tcPr marL="7620" marR="7620" marT="7620" marB="0" anchor="ctr">
                    <a:lnT w="12700" cap="flat" cmpd="sng" algn="ctr">
                      <a:noFill/>
                      <a:prstDash val="solid"/>
                      <a:round/>
                      <a:headEnd type="none" w="med" len="med"/>
                      <a:tailEnd type="none" w="med" len="med"/>
                    </a:lnT>
                    <a:lnB>
                      <a:noFill/>
                    </a:lnB>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-49.</a:t>
                      </a:r>
                      <a:r>
                        <a:rPr lang="en-US" altLang="zh-CN" sz="900" b="0" i="0" u="none" strike="noStrike" kern="1200">
                          <a:solidFill>
                            <a:schemeClr val="tx1"/>
                          </a:solidFill>
                          <a:effectLst/>
                          <a:latin typeface="Calibri" panose="020F0502020204030204" pitchFamily="34" charset="0"/>
                          <a:ea typeface="+mn-ea"/>
                          <a:cs typeface="+mn-cs"/>
                        </a:rPr>
                        <a:t>2</a:t>
                      </a:r>
                      <a:r>
                        <a:rPr lang="en-US" sz="900" b="0" i="0" u="none" strike="noStrike" kern="1200">
                          <a:solidFill>
                            <a:schemeClr val="tx1"/>
                          </a:solidFill>
                          <a:effectLst/>
                          <a:latin typeface="Calibri" panose="020F0502020204030204" pitchFamily="34" charset="0"/>
                          <a:ea typeface="+mn-ea"/>
                          <a:cs typeface="+mn-cs"/>
                        </a:rPr>
                        <a:t>%</a:t>
                      </a:r>
                    </a:p>
                  </a:txBody>
                  <a:tcPr marL="7620" marR="7620" marT="7620" marB="0" anchor="ctr">
                    <a:no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-68.5%</a:t>
                      </a:r>
                    </a:p>
                  </a:txBody>
                  <a:tcPr marL="7620" marR="7620" marT="7620" marB="0" anchor="ctr">
                    <a:noFill/>
                  </a:tcPr>
                </a:tc>
                <a:extLst>
                  <a:ext uri="{0D108BD9-81ED-4DB2-BD59-A6C34878D82A}">
                    <a16:rowId xmlns:a16="http://schemas.microsoft.com/office/drawing/2014/main" val="3485756157"/>
                  </a:ext>
                </a:extLst>
              </a:tr>
              <a:tr h="215437">
                <a:tc>
                  <a:txBody>
                    <a:bodyPr/>
                    <a:lstStyle/>
                    <a:p>
                      <a:pPr algn="ctr" fontAlgn="b"/>
                      <a:r>
                        <a:rPr lang="en-US" sz="900" b="0" i="0" u="none" strike="noStrike" kern="1200">
                          <a:solidFill>
                            <a:schemeClr val="tx1"/>
                          </a:solidFill>
                          <a:effectLst/>
                          <a:latin typeface="+mj-lt"/>
                          <a:ea typeface="+mn-ea"/>
                          <a:cs typeface="+mn-cs"/>
                        </a:rPr>
                        <a:t>2</a:t>
                      </a: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31-Mar-26</a:t>
                      </a: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3625</a:t>
                      </a: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Shanghai </a:t>
                      </a:r>
                      <a:r>
                        <a:rPr lang="en-US" sz="900" b="0" i="0" u="none" strike="noStrike" kern="1200" err="1">
                          <a:solidFill>
                            <a:schemeClr val="tx1"/>
                          </a:solidFill>
                          <a:effectLst/>
                          <a:latin typeface="Calibri" panose="020F0502020204030204" pitchFamily="34" charset="0"/>
                          <a:ea typeface="+mn-ea"/>
                          <a:cs typeface="+mn-cs"/>
                        </a:rPr>
                        <a:t>FourSemi</a:t>
                      </a:r>
                      <a:endParaRPr lang="en-US" sz="900" b="0" i="0" u="none" strike="noStrike" kern="1200">
                        <a:solidFill>
                          <a:schemeClr val="tx1"/>
                        </a:solidFill>
                        <a:effectLst/>
                        <a:latin typeface="Calibri" panose="020F0502020204030204" pitchFamily="34" charset="0"/>
                        <a:ea typeface="+mn-ea"/>
                        <a:cs typeface="+mn-cs"/>
                      </a:endParaRP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61</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lnT w="12700" cap="flat" cmpd="sng" algn="ctr">
                      <a:noFill/>
                      <a:prstDash val="solid"/>
                      <a:round/>
                      <a:headEnd type="none" w="med" len="med"/>
                      <a:tailEnd type="none" w="med" len="med"/>
                    </a:lnT>
                    <a:lnB>
                      <a:noFill/>
                    </a:lnB>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100.0%</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196.8%</a:t>
                      </a:r>
                    </a:p>
                  </a:txBody>
                  <a:tcPr marL="7620" marR="7620" marT="7620" marB="0" anchor="ctr">
                    <a:solidFill>
                      <a:srgbClr val="F0F0F0"/>
                    </a:solidFill>
                  </a:tcPr>
                </a:tc>
                <a:extLst>
                  <a:ext uri="{0D108BD9-81ED-4DB2-BD59-A6C34878D82A}">
                    <a16:rowId xmlns:a16="http://schemas.microsoft.com/office/drawing/2014/main" val="780406940"/>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3</a:t>
                      </a:r>
                    </a:p>
                  </a:txBody>
                  <a:tcPr marL="7620" marR="7620" marT="7620" marB="0" anchor="ctr">
                    <a:lnT w="12700" cap="flat" cmpd="sng" algn="ctr">
                      <a:noFill/>
                      <a:prstDash val="solid"/>
                      <a:round/>
                      <a:headEnd type="none" w="med" len="med"/>
                      <a:tailEnd type="none" w="med" len="med"/>
                    </a:lnT>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30-Mar-26</a:t>
                      </a:r>
                    </a:p>
                  </a:txBody>
                  <a:tcPr marL="7620" marR="7620" marT="7620" marB="0" anchor="ctr">
                    <a:lnT w="12700" cap="flat" cmpd="sng" algn="ctr">
                      <a:noFill/>
                      <a:prstDash val="solid"/>
                      <a:round/>
                      <a:headEnd type="none" w="med" len="med"/>
                      <a:tailEnd type="none" w="med" len="med"/>
                    </a:lnT>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2726</a:t>
                      </a:r>
                    </a:p>
                  </a:txBody>
                  <a:tcPr marL="7620" marR="7620" marT="7620" marB="0" anchor="ctr">
                    <a:lnT w="12700" cap="flat" cmpd="sng" algn="ctr">
                      <a:noFill/>
                      <a:prstDash val="solid"/>
                      <a:round/>
                      <a:headEnd type="none" w="med" len="med"/>
                      <a:tailEnd type="none" w="med" len="med"/>
                    </a:lnT>
                  </a:tcPr>
                </a:tc>
                <a:tc>
                  <a:txBody>
                    <a:bodyPr/>
                    <a:lstStyle/>
                    <a:p>
                      <a:pPr algn="ctr" fontAlgn="ctr">
                        <a:buNone/>
                      </a:pPr>
                      <a:r>
                        <a:rPr lang="en-US" sz="900" b="0" i="0" u="none" strike="noStrike" kern="1200" err="1">
                          <a:solidFill>
                            <a:schemeClr val="tx1"/>
                          </a:solidFill>
                          <a:effectLst/>
                          <a:latin typeface="Calibri" panose="020F0502020204030204" pitchFamily="34" charset="0"/>
                          <a:ea typeface="+mn-ea"/>
                          <a:cs typeface="+mn-cs"/>
                        </a:rPr>
                        <a:t>Epiworld</a:t>
                      </a:r>
                      <a:r>
                        <a:rPr lang="en-US" sz="900" b="0" i="0" u="none" strike="noStrike" kern="1200">
                          <a:solidFill>
                            <a:schemeClr val="tx1"/>
                          </a:solidFill>
                          <a:effectLst/>
                          <a:latin typeface="Calibri" panose="020F0502020204030204" pitchFamily="34" charset="0"/>
                          <a:ea typeface="+mn-ea"/>
                          <a:cs typeface="+mn-cs"/>
                        </a:rPr>
                        <a:t> International</a:t>
                      </a:r>
                    </a:p>
                  </a:txBody>
                  <a:tcPr marL="7620" marR="7620" marT="7620" marB="0" anchor="ctr">
                    <a:lnT w="12700" cap="flat" cmpd="sng" algn="ctr">
                      <a:noFill/>
                      <a:prstDash val="solid"/>
                      <a:round/>
                      <a:headEnd type="none" w="med" len="med"/>
                      <a:tailEnd type="none" w="med" len="med"/>
                    </a:lnT>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209</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lnT w="12700" cap="flat" cmpd="sng" algn="ctr">
                      <a:noFill/>
                      <a:prstDash val="solid"/>
                      <a:round/>
                      <a:headEnd type="none" w="med" len="med"/>
                      <a:tailEnd type="none" w="med" len="med"/>
                    </a:lnT>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35.</a:t>
                      </a:r>
                      <a:r>
                        <a:rPr lang="en-US" altLang="zh-CN" sz="900" b="0" i="0" u="none" strike="noStrike" kern="1200">
                          <a:solidFill>
                            <a:schemeClr val="tx1"/>
                          </a:solidFill>
                          <a:effectLst/>
                          <a:latin typeface="Calibri" panose="020F0502020204030204" pitchFamily="34" charset="0"/>
                          <a:ea typeface="+mn-ea"/>
                          <a:cs typeface="+mn-cs"/>
                        </a:rPr>
                        <a:t>1</a:t>
                      </a:r>
                      <a:r>
                        <a:rPr lang="en-US" sz="900" b="0" i="0" u="none" strike="noStrike" kern="1200">
                          <a:solidFill>
                            <a:schemeClr val="tx1"/>
                          </a:solidFill>
                          <a:effectLst/>
                          <a:latin typeface="Calibri" panose="020F0502020204030204" pitchFamily="34" charset="0"/>
                          <a:ea typeface="+mn-ea"/>
                          <a:cs typeface="+mn-cs"/>
                        </a:rPr>
                        <a:t>%</a:t>
                      </a:r>
                    </a:p>
                  </a:txBody>
                  <a:tcPr marL="7620" marR="7620" marT="7620" marB="0" anchor="ct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37.8%</a:t>
                      </a:r>
                    </a:p>
                  </a:txBody>
                  <a:tcPr marL="7620" marR="7620" marT="7620" marB="0" anchor="ctr"/>
                </a:tc>
                <a:extLst>
                  <a:ext uri="{0D108BD9-81ED-4DB2-BD59-A6C34878D82A}">
                    <a16:rowId xmlns:a16="http://schemas.microsoft.com/office/drawing/2014/main" val="2574300797"/>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4</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30-Mar-26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6636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Shandong Extreme Vision</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64</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150.0%</a:t>
                      </a:r>
                    </a:p>
                  </a:txBody>
                  <a:tcPr marL="7620" marR="7620" marT="7620" marB="0" anchor="ctr">
                    <a:solidFill>
                      <a:schemeClr val="bg2">
                        <a:lumMod val="20000"/>
                        <a:lumOff val="80000"/>
                      </a:schemeClr>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144.6%</a:t>
                      </a:r>
                    </a:p>
                  </a:txBody>
                  <a:tcPr marL="7620" marR="7620" marT="7620" marB="0" anchor="ctr">
                    <a:solidFill>
                      <a:schemeClr val="bg2">
                        <a:lumMod val="20000"/>
                        <a:lumOff val="80000"/>
                      </a:schemeClr>
                    </a:solidFill>
                  </a:tcPr>
                </a:tc>
                <a:extLst>
                  <a:ext uri="{0D108BD9-81ED-4DB2-BD59-A6C34878D82A}">
                    <a16:rowId xmlns:a16="http://schemas.microsoft.com/office/drawing/2014/main" val="158687809"/>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5</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30-Mar-26</a:t>
                      </a:r>
                    </a:p>
                  </a:txBody>
                  <a:tcPr marL="7620" marR="7620" marT="7620" marB="0" anchor="ct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2526</a:t>
                      </a:r>
                    </a:p>
                  </a:txBody>
                  <a:tcPr marL="7620" marR="7620" marT="7620" marB="0" anchor="ctr"/>
                </a:tc>
                <a:tc>
                  <a:txBody>
                    <a:bodyPr/>
                    <a:lstStyle/>
                    <a:p>
                      <a:pPr algn="ctr" fontAlgn="ctr">
                        <a:buNone/>
                      </a:pPr>
                      <a:r>
                        <a:rPr lang="en-US" sz="900" b="0" i="0" u="none" strike="noStrike" kern="1200" err="1">
                          <a:solidFill>
                            <a:schemeClr val="tx1"/>
                          </a:solidFill>
                          <a:effectLst/>
                          <a:latin typeface="Calibri" panose="020F0502020204030204" pitchFamily="34" charset="0"/>
                          <a:ea typeface="+mn-ea"/>
                          <a:cs typeface="+mn-cs"/>
                        </a:rPr>
                        <a:t>Diagens</a:t>
                      </a:r>
                      <a:r>
                        <a:rPr lang="en-US" sz="900" b="0" i="0" u="none" strike="noStrike" kern="1200">
                          <a:solidFill>
                            <a:schemeClr val="tx1"/>
                          </a:solidFill>
                          <a:effectLst/>
                          <a:latin typeface="Calibri" panose="020F0502020204030204" pitchFamily="34" charset="0"/>
                          <a:ea typeface="+mn-ea"/>
                          <a:cs typeface="+mn-cs"/>
                        </a:rPr>
                        <a:t> Biotechnology</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101</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Healthcare</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111.7%</a:t>
                      </a:r>
                    </a:p>
                  </a:txBody>
                  <a:tcPr marL="7620" marR="7620" marT="7620" marB="0" anchor="ct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215.0%</a:t>
                      </a:r>
                    </a:p>
                  </a:txBody>
                  <a:tcPr marL="7620" marR="7620" marT="7620" marB="0" anchor="ctr"/>
                </a:tc>
                <a:extLst>
                  <a:ext uri="{0D108BD9-81ED-4DB2-BD59-A6C34878D82A}">
                    <a16:rowId xmlns:a16="http://schemas.microsoft.com/office/drawing/2014/main" val="610609314"/>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6</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30-Mar-26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1021</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err="1">
                          <a:solidFill>
                            <a:schemeClr val="tx1"/>
                          </a:solidFill>
                          <a:effectLst/>
                          <a:latin typeface="Calibri" panose="020F0502020204030204" pitchFamily="34" charset="0"/>
                          <a:ea typeface="+mn-ea"/>
                          <a:cs typeface="+mn-cs"/>
                        </a:rPr>
                        <a:t>Huayan</a:t>
                      </a:r>
                      <a:r>
                        <a:rPr lang="en-US" sz="900" b="0" i="0" u="none" strike="noStrike" kern="1200">
                          <a:solidFill>
                            <a:schemeClr val="tx1"/>
                          </a:solidFill>
                          <a:effectLst/>
                          <a:latin typeface="Calibri" panose="020F0502020204030204" pitchFamily="34" charset="0"/>
                          <a:ea typeface="+mn-ea"/>
                          <a:cs typeface="+mn-cs"/>
                        </a:rPr>
                        <a:t> Robotics</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202</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Industrials</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8.2%</a:t>
                      </a:r>
                    </a:p>
                  </a:txBody>
                  <a:tcPr marL="7620" marR="7620" marT="7620" marB="0" anchor="ctr">
                    <a:solidFill>
                      <a:schemeClr val="bg2">
                        <a:lumMod val="20000"/>
                        <a:lumOff val="80000"/>
                      </a:schemeClr>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4.6%</a:t>
                      </a:r>
                    </a:p>
                  </a:txBody>
                  <a:tcPr marL="7620" marR="7620" marT="7620" marB="0" anchor="ctr">
                    <a:solidFill>
                      <a:schemeClr val="bg2">
                        <a:lumMod val="20000"/>
                        <a:lumOff val="80000"/>
                      </a:schemeClr>
                    </a:solidFill>
                  </a:tcPr>
                </a:tc>
                <a:extLst>
                  <a:ext uri="{0D108BD9-81ED-4DB2-BD59-A6C34878D82A}">
                    <a16:rowId xmlns:a16="http://schemas.microsoft.com/office/drawing/2014/main" val="3044871248"/>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7</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24-Mar-26</a:t>
                      </a:r>
                    </a:p>
                  </a:txBody>
                  <a:tcPr marL="7620" marR="7620" marT="7620" marB="0" anchor="ct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2632</a:t>
                      </a:r>
                    </a:p>
                  </a:txBody>
                  <a:tcPr marL="7620" marR="7620" marT="7620" marB="0" anchor="ct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Jiangsu New Vision</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92</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Consumer</a:t>
                      </a:r>
                    </a:p>
                  </a:txBody>
                  <a:tcPr marL="7620" marR="7620" marT="7620" marB="0" anchor="ct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-36.9%</a:t>
                      </a:r>
                    </a:p>
                  </a:txBody>
                  <a:tcPr marL="7620" marR="7620" marT="7620" marB="0" anchor="ct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170.4%</a:t>
                      </a:r>
                    </a:p>
                  </a:txBody>
                  <a:tcPr marL="7620" marR="7620" marT="7620" marB="0" anchor="ctr"/>
                </a:tc>
                <a:extLst>
                  <a:ext uri="{0D108BD9-81ED-4DB2-BD59-A6C34878D82A}">
                    <a16:rowId xmlns:a16="http://schemas.microsoft.com/office/drawing/2014/main" val="554230434"/>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8</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24-Mar-26</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2729</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Zhejiang </a:t>
                      </a:r>
                      <a:r>
                        <a:rPr lang="en-US" sz="900" b="0" i="0" u="none" strike="noStrike" kern="1200" err="1">
                          <a:solidFill>
                            <a:schemeClr val="tx1"/>
                          </a:solidFill>
                          <a:effectLst/>
                          <a:latin typeface="Calibri" panose="020F0502020204030204" pitchFamily="34" charset="0"/>
                          <a:ea typeface="+mn-ea"/>
                          <a:cs typeface="+mn-cs"/>
                        </a:rPr>
                        <a:t>Galaxis</a:t>
                      </a:r>
                      <a:r>
                        <a:rPr lang="en-US" sz="900" b="0" i="0" u="none" strike="noStrike" kern="1200">
                          <a:solidFill>
                            <a:schemeClr val="tx1"/>
                          </a:solidFill>
                          <a:effectLst/>
                          <a:latin typeface="Calibri" panose="020F0502020204030204" pitchFamily="34" charset="0"/>
                          <a:ea typeface="+mn-ea"/>
                          <a:cs typeface="+mn-cs"/>
                        </a:rPr>
                        <a:t> Technology</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78</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84.</a:t>
                      </a:r>
                      <a:r>
                        <a:rPr lang="en-US" altLang="zh-CN" sz="900" b="0" i="0" u="none" strike="noStrike" kern="1200">
                          <a:solidFill>
                            <a:schemeClr val="tx1"/>
                          </a:solidFill>
                          <a:effectLst/>
                          <a:latin typeface="Calibri" panose="020F0502020204030204" pitchFamily="34" charset="0"/>
                          <a:ea typeface="+mn-ea"/>
                          <a:cs typeface="+mn-cs"/>
                        </a:rPr>
                        <a:t>3</a:t>
                      </a:r>
                      <a:r>
                        <a:rPr lang="en-US" sz="900" b="0" i="0" u="none" strike="noStrike" kern="1200">
                          <a:solidFill>
                            <a:schemeClr val="tx1"/>
                          </a:solidFill>
                          <a:effectLst/>
                          <a:latin typeface="Calibri" panose="020F0502020204030204" pitchFamily="34" charset="0"/>
                          <a:ea typeface="+mn-ea"/>
                          <a:cs typeface="+mn-cs"/>
                        </a:rPr>
                        <a:t>%</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95.1%</a:t>
                      </a:r>
                    </a:p>
                  </a:txBody>
                  <a:tcPr marL="7620" marR="7620" marT="7620" marB="0" anchor="ctr">
                    <a:solidFill>
                      <a:srgbClr val="F0F0F0"/>
                    </a:solidFill>
                  </a:tcPr>
                </a:tc>
                <a:extLst>
                  <a:ext uri="{0D108BD9-81ED-4DB2-BD59-A6C34878D82A}">
                    <a16:rowId xmlns:a16="http://schemas.microsoft.com/office/drawing/2014/main" val="2122495327"/>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9</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23-Mar-26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2701</a:t>
                      </a:r>
                    </a:p>
                  </a:txBody>
                  <a:tcPr marL="7620" marR="7620" marT="7620" marB="0" anchor="ctr">
                    <a:noFill/>
                  </a:tcPr>
                </a:tc>
                <a:tc>
                  <a:txBody>
                    <a:bodyPr/>
                    <a:lstStyle/>
                    <a:p>
                      <a:pPr algn="ctr" fontAlgn="ctr">
                        <a:buNone/>
                      </a:pPr>
                      <a:r>
                        <a:rPr lang="en-US" sz="900" b="0" i="0" u="none" strike="noStrike" kern="1200" err="1">
                          <a:solidFill>
                            <a:schemeClr val="tx1"/>
                          </a:solidFill>
                          <a:effectLst/>
                          <a:latin typeface="Calibri" panose="020F0502020204030204" pitchFamily="34" charset="0"/>
                          <a:ea typeface="+mn-ea"/>
                          <a:cs typeface="+mn-cs"/>
                        </a:rPr>
                        <a:t>Nsing</a:t>
                      </a:r>
                      <a:r>
                        <a:rPr lang="en-US" sz="900" b="0" i="0" u="none" strike="noStrike" kern="1200">
                          <a:solidFill>
                            <a:schemeClr val="tx1"/>
                          </a:solidFill>
                          <a:effectLst/>
                          <a:latin typeface="Calibri" panose="020F0502020204030204" pitchFamily="34" charset="0"/>
                          <a:ea typeface="+mn-ea"/>
                          <a:cs typeface="+mn-cs"/>
                        </a:rPr>
                        <a:t> Technologies</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131</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4.</a:t>
                      </a:r>
                      <a:r>
                        <a:rPr lang="en-US" altLang="zh-CN" sz="900" b="0" i="0" u="none" strike="noStrike" kern="1200">
                          <a:solidFill>
                            <a:schemeClr val="tx1"/>
                          </a:solidFill>
                          <a:effectLst/>
                          <a:latin typeface="Calibri" panose="020F0502020204030204" pitchFamily="34" charset="0"/>
                          <a:ea typeface="+mn-ea"/>
                          <a:cs typeface="+mn-cs"/>
                        </a:rPr>
                        <a:t>2</a:t>
                      </a:r>
                      <a:r>
                        <a:rPr lang="en-US" sz="900" b="0" i="0" u="none" strike="noStrike" kern="1200">
                          <a:solidFill>
                            <a:schemeClr val="tx1"/>
                          </a:solidFill>
                          <a:effectLst/>
                          <a:latin typeface="Calibri" panose="020F0502020204030204" pitchFamily="34" charset="0"/>
                          <a:ea typeface="+mn-ea"/>
                          <a:cs typeface="+mn-cs"/>
                        </a:rPr>
                        <a:t>%</a:t>
                      </a:r>
                    </a:p>
                  </a:txBody>
                  <a:tcPr marL="7620" marR="7620" marT="7620" marB="0" anchor="ctr">
                    <a:no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38.0%</a:t>
                      </a:r>
                    </a:p>
                  </a:txBody>
                  <a:tcPr marL="7620" marR="7620" marT="7620" marB="0" anchor="ctr">
                    <a:noFill/>
                  </a:tcPr>
                </a:tc>
                <a:extLst>
                  <a:ext uri="{0D108BD9-81ED-4DB2-BD59-A6C34878D82A}">
                    <a16:rowId xmlns:a16="http://schemas.microsoft.com/office/drawing/2014/main" val="3452081624"/>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10</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23-Mar-26</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3355</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FS.com </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243</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13.</a:t>
                      </a:r>
                      <a:r>
                        <a:rPr lang="en-US" altLang="zh-CN" sz="900" b="0" i="0" u="none" strike="noStrike" kern="1200">
                          <a:solidFill>
                            <a:schemeClr val="tx1"/>
                          </a:solidFill>
                          <a:effectLst/>
                          <a:latin typeface="Calibri" panose="020F0502020204030204" pitchFamily="34" charset="0"/>
                          <a:ea typeface="+mn-ea"/>
                          <a:cs typeface="+mn-cs"/>
                        </a:rPr>
                        <a:t>6</a:t>
                      </a:r>
                      <a:r>
                        <a:rPr lang="en-US" sz="900" b="0" i="0" u="none" strike="noStrike" kern="1200">
                          <a:solidFill>
                            <a:schemeClr val="tx1"/>
                          </a:solidFill>
                          <a:effectLst/>
                          <a:latin typeface="Calibri" panose="020F0502020204030204" pitchFamily="34" charset="0"/>
                          <a:ea typeface="+mn-ea"/>
                          <a:cs typeface="+mn-cs"/>
                        </a:rPr>
                        <a:t>%</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4.1%</a:t>
                      </a:r>
                    </a:p>
                  </a:txBody>
                  <a:tcPr marL="7620" marR="7620" marT="7620" marB="0" anchor="ctr">
                    <a:solidFill>
                      <a:srgbClr val="F0F0F0"/>
                    </a:solidFill>
                  </a:tcPr>
                </a:tc>
                <a:extLst>
                  <a:ext uri="{0D108BD9-81ED-4DB2-BD59-A6C34878D82A}">
                    <a16:rowId xmlns:a16="http://schemas.microsoft.com/office/drawing/2014/main" val="624934876"/>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11</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20-Mar-26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1989</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Delton Technology</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422</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33.</a:t>
                      </a:r>
                      <a:r>
                        <a:rPr lang="en-US" altLang="zh-CN" sz="900" b="0" i="0" u="none" strike="noStrike" kern="1200">
                          <a:solidFill>
                            <a:schemeClr val="tx1"/>
                          </a:solidFill>
                          <a:effectLst/>
                          <a:latin typeface="Calibri" panose="020F0502020204030204" pitchFamily="34" charset="0"/>
                          <a:ea typeface="+mn-ea"/>
                          <a:cs typeface="+mn-cs"/>
                        </a:rPr>
                        <a:t>6</a:t>
                      </a:r>
                      <a:r>
                        <a:rPr lang="en-US" sz="900" b="0" i="0" u="none" strike="noStrike" kern="1200">
                          <a:solidFill>
                            <a:schemeClr val="tx1"/>
                          </a:solidFill>
                          <a:effectLst/>
                          <a:latin typeface="Calibri" panose="020F0502020204030204" pitchFamily="34" charset="0"/>
                          <a:ea typeface="+mn-ea"/>
                          <a:cs typeface="+mn-cs"/>
                        </a:rPr>
                        <a:t>%</a:t>
                      </a:r>
                    </a:p>
                  </a:txBody>
                  <a:tcPr marL="7620" marR="7620" marT="7620" marB="0" anchor="ctr">
                    <a:no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139.3%</a:t>
                      </a:r>
                    </a:p>
                  </a:txBody>
                  <a:tcPr marL="7620" marR="7620" marT="7620" marB="0" anchor="ctr">
                    <a:noFill/>
                  </a:tcPr>
                </a:tc>
                <a:extLst>
                  <a:ext uri="{0D108BD9-81ED-4DB2-BD59-A6C34878D82A}">
                    <a16:rowId xmlns:a16="http://schemas.microsoft.com/office/drawing/2014/main" val="739642647"/>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12</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10-Mar-26</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3268</a:t>
                      </a:r>
                    </a:p>
                  </a:txBody>
                  <a:tcPr marL="7620" marR="7620" marT="7620" marB="0" anchor="ctr">
                    <a:solidFill>
                      <a:srgbClr val="F0F0F0"/>
                    </a:solidFill>
                  </a:tcPr>
                </a:tc>
                <a:tc>
                  <a:txBody>
                    <a:bodyPr/>
                    <a:lstStyle/>
                    <a:p>
                      <a:pPr algn="ctr" fontAlgn="ctr">
                        <a:buNone/>
                      </a:pPr>
                      <a:r>
                        <a:rPr lang="en-US" sz="900" b="0" i="0" u="none" strike="noStrike" kern="1200" err="1">
                          <a:solidFill>
                            <a:schemeClr val="tx1"/>
                          </a:solidFill>
                          <a:effectLst/>
                          <a:latin typeface="Calibri" panose="020F0502020204030204" pitchFamily="34" charset="0"/>
                          <a:ea typeface="+mn-ea"/>
                          <a:cs typeface="+mn-cs"/>
                        </a:rPr>
                        <a:t>MeiG</a:t>
                      </a:r>
                      <a:r>
                        <a:rPr lang="en-US" sz="900" b="0" i="0" u="none" strike="noStrike" kern="1200">
                          <a:solidFill>
                            <a:schemeClr val="tx1"/>
                          </a:solidFill>
                          <a:effectLst/>
                          <a:latin typeface="Calibri" panose="020F0502020204030204" pitchFamily="34" charset="0"/>
                          <a:ea typeface="+mn-ea"/>
                          <a:cs typeface="+mn-cs"/>
                        </a:rPr>
                        <a:t> Smart Technology </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149</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1.5%</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-11.6%</a:t>
                      </a:r>
                    </a:p>
                  </a:txBody>
                  <a:tcPr marL="7620" marR="7620" marT="7620" marB="0" anchor="ctr">
                    <a:solidFill>
                      <a:srgbClr val="F0F0F0"/>
                    </a:solidFill>
                  </a:tcPr>
                </a:tc>
                <a:extLst>
                  <a:ext uri="{0D108BD9-81ED-4DB2-BD59-A6C34878D82A}">
                    <a16:rowId xmlns:a16="http://schemas.microsoft.com/office/drawing/2014/main" val="4288369050"/>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13</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09-Mar-26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2715</a:t>
                      </a:r>
                    </a:p>
                  </a:txBody>
                  <a:tcPr marL="7620" marR="7620" marT="7620" marB="0" anchor="ctr">
                    <a:noFill/>
                  </a:tcPr>
                </a:tc>
                <a:tc>
                  <a:txBody>
                    <a:bodyPr/>
                    <a:lstStyle/>
                    <a:p>
                      <a:pPr algn="ctr" fontAlgn="ctr">
                        <a:buNone/>
                      </a:pPr>
                      <a:r>
                        <a:rPr lang="en-US" sz="900" b="0" i="0" u="none" strike="noStrike" kern="1200" err="1">
                          <a:solidFill>
                            <a:schemeClr val="tx1"/>
                          </a:solidFill>
                          <a:effectLst/>
                          <a:latin typeface="Calibri" panose="020F0502020204030204" pitchFamily="34" charset="0"/>
                          <a:ea typeface="+mn-ea"/>
                          <a:cs typeface="+mn-cs"/>
                        </a:rPr>
                        <a:t>Estun</a:t>
                      </a:r>
                      <a:r>
                        <a:rPr lang="en-US" sz="900" b="0" i="0" u="none" strike="noStrike" kern="1200">
                          <a:solidFill>
                            <a:schemeClr val="tx1"/>
                          </a:solidFill>
                          <a:effectLst/>
                          <a:latin typeface="Calibri" panose="020F0502020204030204" pitchFamily="34" charset="0"/>
                          <a:ea typeface="+mn-ea"/>
                          <a:cs typeface="+mn-cs"/>
                        </a:rPr>
                        <a:t> Automation</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190</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Industrials</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-16.0%</a:t>
                      </a:r>
                    </a:p>
                  </a:txBody>
                  <a:tcPr marL="7620" marR="7620" marT="7620" marB="0" anchor="ctr">
                    <a:no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-0.4%</a:t>
                      </a:r>
                    </a:p>
                  </a:txBody>
                  <a:tcPr marL="7620" marR="7620" marT="7620" marB="0" anchor="ctr">
                    <a:noFill/>
                  </a:tcPr>
                </a:tc>
                <a:extLst>
                  <a:ext uri="{0D108BD9-81ED-4DB2-BD59-A6C34878D82A}">
                    <a16:rowId xmlns:a16="http://schemas.microsoft.com/office/drawing/2014/main" val="4199899448"/>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14</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09-Mar-26</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2692</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Shenzhen </a:t>
                      </a:r>
                      <a:r>
                        <a:rPr lang="en-US" sz="900" b="0" i="0" u="none" strike="noStrike" kern="1200" err="1">
                          <a:solidFill>
                            <a:schemeClr val="tx1"/>
                          </a:solidFill>
                          <a:effectLst/>
                          <a:latin typeface="Calibri" panose="020F0502020204030204" pitchFamily="34" charset="0"/>
                          <a:ea typeface="+mn-ea"/>
                          <a:cs typeface="+mn-cs"/>
                        </a:rPr>
                        <a:t>Zhaowei</a:t>
                      </a:r>
                      <a:endParaRPr lang="en-US" sz="900" b="0" i="0" u="none" strike="noStrike" kern="1200">
                        <a:solidFill>
                          <a:schemeClr val="tx1"/>
                        </a:solidFill>
                        <a:effectLst/>
                        <a:latin typeface="Calibri" panose="020F0502020204030204" pitchFamily="34" charset="0"/>
                        <a:ea typeface="+mn-ea"/>
                        <a:cs typeface="+mn-cs"/>
                      </a:endParaRP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244</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Industrials</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3.5%</a:t>
                      </a:r>
                    </a:p>
                  </a:txBody>
                  <a:tcPr marL="7620" marR="7620" marT="7620" marB="0" anchor="ctr">
                    <a:solidFill>
                      <a:srgbClr val="F0F0F0"/>
                    </a:solidFill>
                  </a:tcPr>
                </a:tc>
                <a:extLst>
                  <a:ext uri="{0D108BD9-81ED-4DB2-BD59-A6C34878D82A}">
                    <a16:rowId xmlns:a16="http://schemas.microsoft.com/office/drawing/2014/main" val="320559212"/>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15</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09-Mar-26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2649</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ALSCO Pooling </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29</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Industrials</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-43.6%</a:t>
                      </a:r>
                    </a:p>
                  </a:txBody>
                  <a:tcPr marL="7620" marR="7620" marT="7620" marB="0" anchor="ctr">
                    <a:no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-64.6%</a:t>
                      </a:r>
                    </a:p>
                  </a:txBody>
                  <a:tcPr marL="7620" marR="7620" marT="7620" marB="0" anchor="ctr">
                    <a:noFill/>
                  </a:tcPr>
                </a:tc>
                <a:extLst>
                  <a:ext uri="{0D108BD9-81ED-4DB2-BD59-A6C34878D82A}">
                    <a16:rowId xmlns:a16="http://schemas.microsoft.com/office/drawing/2014/main" val="3630939319"/>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16</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13-Feb-26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2706</a:t>
                      </a:r>
                    </a:p>
                  </a:txBody>
                  <a:tcPr marL="7620" marR="7620" marT="7620" marB="0" anchor="ctr">
                    <a:solidFill>
                      <a:schemeClr val="bg2">
                        <a:lumMod val="20000"/>
                        <a:lumOff val="80000"/>
                      </a:schemeClr>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Beijing </a:t>
                      </a:r>
                      <a:r>
                        <a:rPr lang="en-US" sz="900" b="0" i="0" u="none" strike="noStrike" kern="1200" err="1">
                          <a:solidFill>
                            <a:schemeClr val="tx1"/>
                          </a:solidFill>
                          <a:effectLst/>
                          <a:latin typeface="Calibri" panose="020F0502020204030204" pitchFamily="34" charset="0"/>
                          <a:ea typeface="+mn-ea"/>
                          <a:cs typeface="+mn-cs"/>
                        </a:rPr>
                        <a:t>Haizhi</a:t>
                      </a:r>
                      <a:r>
                        <a:rPr lang="en-US" sz="900" b="0" i="0" u="none" strike="noStrike" kern="1200">
                          <a:solidFill>
                            <a:schemeClr val="tx1"/>
                          </a:solidFill>
                          <a:effectLst/>
                          <a:latin typeface="Calibri" panose="020F0502020204030204" pitchFamily="34" charset="0"/>
                          <a:ea typeface="+mn-ea"/>
                          <a:cs typeface="+mn-cs"/>
                        </a:rPr>
                        <a:t> Technology</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97</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chemeClr val="bg2">
                        <a:lumMod val="20000"/>
                        <a:lumOff val="80000"/>
                      </a:schemeClr>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242.2%</a:t>
                      </a:r>
                    </a:p>
                  </a:txBody>
                  <a:tcPr marL="7620" marR="7620" marT="7620" marB="0" anchor="ctr">
                    <a:solidFill>
                      <a:schemeClr val="bg2">
                        <a:lumMod val="20000"/>
                        <a:lumOff val="80000"/>
                      </a:schemeClr>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115.1%</a:t>
                      </a:r>
                    </a:p>
                  </a:txBody>
                  <a:tcPr marL="7620" marR="7620" marT="7620" marB="0" anchor="ctr">
                    <a:solidFill>
                      <a:schemeClr val="bg2">
                        <a:lumMod val="20000"/>
                        <a:lumOff val="80000"/>
                      </a:schemeClr>
                    </a:solidFill>
                  </a:tcPr>
                </a:tc>
                <a:extLst>
                  <a:ext uri="{0D108BD9-81ED-4DB2-BD59-A6C34878D82A}">
                    <a16:rowId xmlns:a16="http://schemas.microsoft.com/office/drawing/2014/main" val="3277418947"/>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17</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13-Feb-26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9981</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Shenzhen Woer</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360</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2.9%</a:t>
                      </a:r>
                    </a:p>
                  </a:txBody>
                  <a:tcPr marL="7620" marR="7620" marT="7620" marB="0" anchor="ctr">
                    <a:no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-26.9%</a:t>
                      </a:r>
                    </a:p>
                  </a:txBody>
                  <a:tcPr marL="7620" marR="7620" marT="7620" marB="0" anchor="ctr">
                    <a:noFill/>
                  </a:tcPr>
                </a:tc>
                <a:extLst>
                  <a:ext uri="{0D108BD9-81ED-4DB2-BD59-A6C34878D82A}">
                    <a16:rowId xmlns:a16="http://schemas.microsoft.com/office/drawing/2014/main" val="1713625894"/>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18</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11-Feb-26</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470</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Wuxi Lead Intelligent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633</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Industrials</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0.0%</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15.1%</a:t>
                      </a:r>
                    </a:p>
                  </a:txBody>
                  <a:tcPr marL="7620" marR="7620" marT="7620" marB="0" anchor="ctr">
                    <a:solidFill>
                      <a:srgbClr val="F0F0F0"/>
                    </a:solidFill>
                  </a:tcPr>
                </a:tc>
                <a:extLst>
                  <a:ext uri="{0D108BD9-81ED-4DB2-BD59-A6C34878D82A}">
                    <a16:rowId xmlns:a16="http://schemas.microsoft.com/office/drawing/2014/main" val="3376896728"/>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19</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10-Feb-26</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2720</a:t>
                      </a:r>
                    </a:p>
                  </a:txBody>
                  <a:tcPr marL="7620" marR="7620" marT="7620" marB="0" anchor="ctr">
                    <a:no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Ridge Outdoor International</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44</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Consumer</a:t>
                      </a:r>
                    </a:p>
                  </a:txBody>
                  <a:tcPr marL="7620" marR="7620" marT="7620" marB="0" anchor="ctr">
                    <a:no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102.</a:t>
                      </a:r>
                      <a:r>
                        <a:rPr lang="en-US" altLang="zh-CN" sz="900" b="0" i="0" u="none" strike="noStrike" kern="1200">
                          <a:solidFill>
                            <a:schemeClr val="tx1"/>
                          </a:solidFill>
                          <a:effectLst/>
                          <a:latin typeface="Calibri" panose="020F0502020204030204" pitchFamily="34" charset="0"/>
                          <a:ea typeface="+mn-ea"/>
                          <a:cs typeface="+mn-cs"/>
                        </a:rPr>
                        <a:t>3</a:t>
                      </a:r>
                      <a:r>
                        <a:rPr lang="en-US" sz="900" b="0" i="0" u="none" strike="noStrike" kern="1200">
                          <a:solidFill>
                            <a:schemeClr val="tx1"/>
                          </a:solidFill>
                          <a:effectLst/>
                          <a:latin typeface="Calibri" panose="020F0502020204030204" pitchFamily="34" charset="0"/>
                          <a:ea typeface="+mn-ea"/>
                          <a:cs typeface="+mn-cs"/>
                        </a:rPr>
                        <a:t>%</a:t>
                      </a:r>
                    </a:p>
                  </a:txBody>
                  <a:tcPr marL="7620" marR="7620" marT="7620" marB="0" anchor="ctr">
                    <a:no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98.9%</a:t>
                      </a:r>
                    </a:p>
                  </a:txBody>
                  <a:tcPr marL="7620" marR="7620" marT="7620" marB="0" anchor="ctr">
                    <a:noFill/>
                  </a:tcPr>
                </a:tc>
                <a:extLst>
                  <a:ext uri="{0D108BD9-81ED-4DB2-BD59-A6C34878D82A}">
                    <a16:rowId xmlns:a16="http://schemas.microsoft.com/office/drawing/2014/main" val="1943764940"/>
                  </a:ext>
                </a:extLst>
              </a:tr>
              <a:tr h="215437">
                <a:tc>
                  <a:txBody>
                    <a:bodyPr/>
                    <a:lstStyle/>
                    <a:p>
                      <a:pPr marL="0" algn="ctr" defTabSz="990570" rtl="0" eaLnBrk="1" fontAlgn="b" latinLnBrk="0" hangingPunct="1"/>
                      <a:r>
                        <a:rPr lang="en-US" sz="900" b="0" i="0" u="none" strike="noStrike" kern="1200">
                          <a:solidFill>
                            <a:schemeClr val="tx1"/>
                          </a:solidFill>
                          <a:effectLst/>
                          <a:latin typeface="+mj-lt"/>
                          <a:ea typeface="+mn-ea"/>
                          <a:cs typeface="+mn-cs"/>
                        </a:rPr>
                        <a:t>20</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10-Feb-26</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600</a:t>
                      </a:r>
                    </a:p>
                  </a:txBody>
                  <a:tcPr marL="7620" marR="7620" marT="7620" marB="0" anchor="ctr">
                    <a:solidFill>
                      <a:srgbClr val="F0F0F0"/>
                    </a:solidFill>
                  </a:tcPr>
                </a:tc>
                <a:tc>
                  <a:txBody>
                    <a:bodyPr/>
                    <a:lstStyle/>
                    <a:p>
                      <a:pPr algn="ctr" fontAlgn="ctr">
                        <a:buNone/>
                      </a:pPr>
                      <a:r>
                        <a:rPr lang="en-US" sz="900" b="0" i="0" u="none" strike="noStrike" kern="1200">
                          <a:solidFill>
                            <a:schemeClr val="tx1"/>
                          </a:solidFill>
                          <a:effectLst/>
                          <a:latin typeface="Calibri" panose="020F0502020204030204" pitchFamily="34" charset="0"/>
                          <a:ea typeface="+mn-ea"/>
                          <a:cs typeface="+mn-cs"/>
                        </a:rPr>
                        <a:t>Axera Semiconductor</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383</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TMT</a:t>
                      </a:r>
                    </a:p>
                  </a:txBody>
                  <a:tcPr marL="7620" marR="7620" marT="7620" marB="0" anchor="ctr">
                    <a:solidFill>
                      <a:srgbClr val="F0F0F0"/>
                    </a:solidFill>
                  </a:tcPr>
                </a:tc>
                <a:tc>
                  <a:txBody>
                    <a:bodyPr/>
                    <a:lstStyle/>
                    <a:p>
                      <a:pPr marL="0" algn="ctr" defTabSz="990570" rtl="0" eaLnBrk="1" fontAlgn="ctr" latinLnBrk="0" hangingPunct="1">
                        <a:buNone/>
                      </a:pPr>
                      <a:r>
                        <a:rPr lang="en-US" sz="900" b="0" i="0" u="none" strike="noStrike" kern="1200">
                          <a:solidFill>
                            <a:schemeClr val="tx1"/>
                          </a:solidFill>
                          <a:effectLst/>
                          <a:latin typeface="Calibri" panose="020F0502020204030204" pitchFamily="34" charset="0"/>
                          <a:ea typeface="+mn-ea"/>
                          <a:cs typeface="+mn-cs"/>
                        </a:rPr>
                        <a:t>0.0%</a:t>
                      </a:r>
                    </a:p>
                  </a:txBody>
                  <a:tcPr marL="7620" marR="7620" marT="7620" marB="0" anchor="ctr">
                    <a:solidFill>
                      <a:srgbClr val="F0F0F0"/>
                    </a:solidFill>
                  </a:tcPr>
                </a:tc>
                <a:tc>
                  <a:txBody>
                    <a:bodyPr/>
                    <a:lstStyle/>
                    <a:p>
                      <a:pPr marL="0" algn="ctr" defTabSz="990570" rtl="0" eaLnBrk="1" fontAlgn="b" latinLnBrk="0" hangingPunct="1">
                        <a:buNone/>
                      </a:pPr>
                      <a:r>
                        <a:rPr lang="en-US" sz="90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-25.2%</a:t>
                      </a:r>
                    </a:p>
                  </a:txBody>
                  <a:tcPr marL="7620" marR="7620" marT="7620" marB="0" anchor="ctr">
                    <a:solidFill>
                      <a:srgbClr val="F0F0F0"/>
                    </a:solidFill>
                  </a:tcPr>
                </a:tc>
                <a:extLst>
                  <a:ext uri="{0D108BD9-81ED-4DB2-BD59-A6C34878D82A}">
                    <a16:rowId xmlns:a16="http://schemas.microsoft.com/office/drawing/2014/main" val="1488604654"/>
                  </a:ext>
                </a:extLst>
              </a:tr>
              <a:tr h="215437">
                <a:tc>
                  <a:txBody>
                    <a:bodyPr/>
                    <a:lstStyle/>
                    <a:p>
                      <a:pPr algn="ctr" rtl="0" fontAlgn="b"/>
                      <a:endParaRPr lang="en-US" sz="900" b="0" i="0" u="none" strike="noStrike">
                        <a:solidFill>
                          <a:schemeClr val="tx1"/>
                        </a:solidFill>
                        <a:effectLst/>
                        <a:latin typeface="+mj-lt"/>
                      </a:endParaRPr>
                    </a:p>
                  </a:txBody>
                  <a:tcPr marL="0" marR="0" marT="0" marB="0" anchor="ctr">
                    <a:solidFill>
                      <a:srgbClr val="C0FCF5"/>
                    </a:solidFill>
                  </a:tcPr>
                </a:tc>
                <a:tc>
                  <a:txBody>
                    <a:bodyPr/>
                    <a:lstStyle/>
                    <a:p>
                      <a:pPr algn="ctr" rtl="0" fontAlgn="b"/>
                      <a:endParaRPr lang="en-US" sz="900" b="0" i="0" u="none" strike="noStrike">
                        <a:solidFill>
                          <a:schemeClr val="tx1"/>
                        </a:solidFill>
                        <a:effectLst/>
                        <a:latin typeface="+mj-lt"/>
                      </a:endParaRPr>
                    </a:p>
                  </a:txBody>
                  <a:tcPr marL="0" marR="0" marT="0" marB="0" anchor="ctr">
                    <a:solidFill>
                      <a:srgbClr val="C0FCF5"/>
                    </a:solidFill>
                  </a:tcPr>
                </a:tc>
                <a:tc>
                  <a:txBody>
                    <a:bodyPr/>
                    <a:lstStyle/>
                    <a:p>
                      <a:pPr algn="ctr" rtl="0" fontAlgn="b"/>
                      <a:endParaRPr lang="en-US" sz="900" b="0" i="0" u="none" strike="noStrike">
                        <a:solidFill>
                          <a:schemeClr val="tx1"/>
                        </a:solidFill>
                        <a:effectLst/>
                        <a:latin typeface="+mj-lt"/>
                      </a:endParaRPr>
                    </a:p>
                  </a:txBody>
                  <a:tcPr marL="0" marR="0" marT="0" marB="0" anchor="ctr">
                    <a:solidFill>
                      <a:srgbClr val="C0FCF5"/>
                    </a:solidFill>
                  </a:tcPr>
                </a:tc>
                <a:tc>
                  <a:txBody>
                    <a:bodyPr/>
                    <a:lstStyle/>
                    <a:p>
                      <a:pPr algn="ctr" rtl="0" fontAlgn="b"/>
                      <a:r>
                        <a:rPr lang="en-US" sz="900" b="0" i="0" u="none" strike="noStrike" kern="1200">
                          <a:solidFill>
                            <a:schemeClr val="tx1"/>
                          </a:solidFill>
                          <a:effectLst/>
                          <a:latin typeface="Calibri" panose="020F0502020204030204" pitchFamily="34" charset="0"/>
                          <a:ea typeface="+mn-ea"/>
                          <a:cs typeface="+mn-cs"/>
                        </a:rPr>
                        <a:t>Average</a:t>
                      </a:r>
                    </a:p>
                  </a:txBody>
                  <a:tcPr marL="0" marR="0" marT="0" marB="0" anchor="ctr">
                    <a:solidFill>
                      <a:srgbClr val="C0FCF5"/>
                    </a:solidFill>
                  </a:tcPr>
                </a:tc>
                <a:tc>
                  <a:txBody>
                    <a:bodyPr/>
                    <a:lstStyle/>
                    <a:p>
                      <a:pPr algn="ctr" fontAlgn="b"/>
                      <a:r>
                        <a:rPr lang="en-US" altLang="zh-CN" sz="900" b="1" i="0" u="none" strike="noStrike" kern="1200">
                          <a:solidFill>
                            <a:schemeClr val="tx1"/>
                          </a:solidFill>
                          <a:effectLst/>
                          <a:latin typeface="+mj-lt"/>
                          <a:ea typeface="+mn-ea"/>
                          <a:cs typeface="+mn-cs"/>
                        </a:rPr>
                        <a:t>189</a:t>
                      </a:r>
                      <a:endParaRPr lang="en-US" sz="900" b="1" i="0" u="none" strike="noStrike" kern="1200">
                        <a:solidFill>
                          <a:schemeClr val="tx1"/>
                        </a:solidFill>
                        <a:effectLst/>
                        <a:latin typeface="+mj-lt"/>
                        <a:ea typeface="+mn-ea"/>
                        <a:cs typeface="+mn-cs"/>
                      </a:endParaRPr>
                    </a:p>
                  </a:txBody>
                  <a:tcPr marL="6350" marR="6350" marT="6350" marB="0" anchor="ctr">
                    <a:solidFill>
                      <a:srgbClr val="C0FCF5"/>
                    </a:solidFill>
                  </a:tcPr>
                </a:tc>
                <a:tc>
                  <a:txBody>
                    <a:bodyPr/>
                    <a:lstStyle/>
                    <a:p>
                      <a:pPr algn="ctr" rtl="0" fontAlgn="b"/>
                      <a:endParaRPr lang="en-US" sz="900" b="1" i="0" u="none" strike="noStrike" kern="1200">
                        <a:solidFill>
                          <a:schemeClr val="tx1"/>
                        </a:solidFill>
                        <a:effectLst/>
                        <a:latin typeface="+mj-lt"/>
                        <a:ea typeface="+mn-ea"/>
                        <a:cs typeface="+mn-cs"/>
                      </a:endParaRPr>
                    </a:p>
                  </a:txBody>
                  <a:tcPr marL="0" marR="0" marT="0" marB="0" anchor="ctr">
                    <a:solidFill>
                      <a:srgbClr val="C0FCF5"/>
                    </a:solidFill>
                  </a:tcPr>
                </a:tc>
                <a:tc>
                  <a:txBody>
                    <a:bodyPr/>
                    <a:lstStyle/>
                    <a:p>
                      <a:pPr marL="0" algn="ctr" defTabSz="990570" rtl="0" eaLnBrk="1" fontAlgn="ctr" latinLnBrk="0" hangingPunct="1"/>
                      <a:r>
                        <a:rPr lang="en-US" altLang="zh-CN" sz="900" b="1" i="0" u="none" strike="noStrike" kern="1200">
                          <a:solidFill>
                            <a:schemeClr val="tx1"/>
                          </a:solidFill>
                          <a:effectLst/>
                          <a:latin typeface="+mj-lt"/>
                          <a:ea typeface="+mn-ea"/>
                          <a:cs typeface="+mn-cs"/>
                        </a:rPr>
                        <a:t>37.3</a:t>
                      </a:r>
                      <a:r>
                        <a:rPr lang="en-US" sz="900" b="1" i="0" u="none" strike="noStrike" kern="1200">
                          <a:solidFill>
                            <a:schemeClr val="tx1"/>
                          </a:solidFill>
                          <a:effectLst/>
                          <a:latin typeface="+mj-lt"/>
                          <a:ea typeface="+mn-ea"/>
                          <a:cs typeface="+mn-cs"/>
                        </a:rPr>
                        <a:t>%</a:t>
                      </a:r>
                    </a:p>
                  </a:txBody>
                  <a:tcPr marL="0" marR="0" marT="0" marB="0" anchor="ctr">
                    <a:solidFill>
                      <a:srgbClr val="C0FCF5"/>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lang="en-US" altLang="zh-CN" sz="900" b="1" i="0" u="none" strike="noStrike" kern="1200">
                          <a:solidFill>
                            <a:schemeClr val="tx1"/>
                          </a:solidFill>
                          <a:effectLst/>
                          <a:latin typeface="+mj-lt"/>
                          <a:ea typeface="+mn-ea"/>
                          <a:cs typeface="+mn-cs"/>
                        </a:rPr>
                        <a:t>54.1</a:t>
                      </a:r>
                      <a:r>
                        <a:rPr lang="en-US" sz="900" b="1" i="0" u="none" strike="noStrike" kern="1200">
                          <a:solidFill>
                            <a:schemeClr val="tx1"/>
                          </a:solidFill>
                          <a:effectLst/>
                          <a:latin typeface="+mj-lt"/>
                          <a:ea typeface="+mn-ea"/>
                          <a:cs typeface="+mn-cs"/>
                        </a:rPr>
                        <a:t>%</a:t>
                      </a:r>
                    </a:p>
                  </a:txBody>
                  <a:tcPr marL="0" marR="0" marT="0" marB="0" anchor="ctr">
                    <a:solidFill>
                      <a:srgbClr val="C0FCF5"/>
                    </a:solidFill>
                  </a:tcPr>
                </a:tc>
                <a:extLst>
                  <a:ext uri="{0D108BD9-81ED-4DB2-BD59-A6C34878D82A}">
                    <a16:rowId xmlns:a16="http://schemas.microsoft.com/office/drawing/2014/main" val="690324354"/>
                  </a:ext>
                </a:extLst>
              </a:tr>
              <a:tr h="215437">
                <a:tc>
                  <a:txBody>
                    <a:bodyPr/>
                    <a:lstStyle/>
                    <a:p>
                      <a:pPr algn="ctr" rtl="0" fontAlgn="b"/>
                      <a:endParaRPr lang="en-US" sz="900" b="0" i="0" u="none" strike="noStrike">
                        <a:solidFill>
                          <a:schemeClr val="tx1"/>
                        </a:solidFill>
                        <a:effectLst/>
                        <a:latin typeface="+mj-lt"/>
                      </a:endParaRPr>
                    </a:p>
                  </a:txBody>
                  <a:tcPr marL="0" marR="0" marT="0" marB="0" anchor="ctr">
                    <a:solidFill>
                      <a:srgbClr val="C0FCF5"/>
                    </a:solidFill>
                  </a:tcPr>
                </a:tc>
                <a:tc>
                  <a:txBody>
                    <a:bodyPr/>
                    <a:lstStyle/>
                    <a:p>
                      <a:pPr algn="ctr" rtl="0" fontAlgn="b"/>
                      <a:endParaRPr lang="en-US" sz="900" b="0" i="0" u="none" strike="noStrike">
                        <a:solidFill>
                          <a:schemeClr val="tx1"/>
                        </a:solidFill>
                        <a:effectLst/>
                        <a:latin typeface="+mj-lt"/>
                      </a:endParaRPr>
                    </a:p>
                  </a:txBody>
                  <a:tcPr marL="0" marR="0" marT="0" marB="0" anchor="ctr">
                    <a:solidFill>
                      <a:srgbClr val="C0FCF5"/>
                    </a:solidFill>
                  </a:tcPr>
                </a:tc>
                <a:tc>
                  <a:txBody>
                    <a:bodyPr/>
                    <a:lstStyle/>
                    <a:p>
                      <a:pPr algn="ctr" rtl="0" fontAlgn="b"/>
                      <a:endParaRPr lang="en-US" sz="900" b="0" i="0" u="none" strike="noStrike">
                        <a:solidFill>
                          <a:schemeClr val="tx1"/>
                        </a:solidFill>
                        <a:effectLst/>
                        <a:latin typeface="+mj-lt"/>
                      </a:endParaRPr>
                    </a:p>
                  </a:txBody>
                  <a:tcPr marL="0" marR="0" marT="0" marB="0" anchor="ctr">
                    <a:solidFill>
                      <a:srgbClr val="C0FCF5"/>
                    </a:solidFill>
                  </a:tcPr>
                </a:tc>
                <a:tc>
                  <a:txBody>
                    <a:bodyPr/>
                    <a:lstStyle/>
                    <a:p>
                      <a:pPr algn="ctr" rtl="0" fontAlgn="b"/>
                      <a:r>
                        <a:rPr lang="en-US" sz="900" b="1" i="0" u="none" strike="noStrike">
                          <a:solidFill>
                            <a:schemeClr val="tx1"/>
                          </a:solidFill>
                          <a:effectLst/>
                          <a:latin typeface="+mj-lt"/>
                        </a:rPr>
                        <a:t>Median</a:t>
                      </a:r>
                    </a:p>
                  </a:txBody>
                  <a:tcPr marL="0" marR="0" marT="0" marB="0" anchor="ctr">
                    <a:solidFill>
                      <a:srgbClr val="C0FCF5"/>
                    </a:solidFill>
                  </a:tcPr>
                </a:tc>
                <a:tc>
                  <a:txBody>
                    <a:bodyPr/>
                    <a:lstStyle/>
                    <a:p>
                      <a:pPr algn="ctr" fontAlgn="b"/>
                      <a:r>
                        <a:rPr lang="en-US" sz="900" b="1" i="0" u="none" strike="noStrike" kern="1200">
                          <a:solidFill>
                            <a:schemeClr val="tx1"/>
                          </a:solidFill>
                          <a:effectLst/>
                          <a:latin typeface="+mj-lt"/>
                          <a:ea typeface="+mn-ea"/>
                          <a:cs typeface="+mn-cs"/>
                        </a:rPr>
                        <a:t>1</a:t>
                      </a:r>
                      <a:r>
                        <a:rPr lang="en-US" altLang="zh-CN" sz="900" b="1" i="0" u="none" strike="noStrike" kern="1200">
                          <a:solidFill>
                            <a:schemeClr val="tx1"/>
                          </a:solidFill>
                          <a:effectLst/>
                          <a:latin typeface="+mj-lt"/>
                          <a:ea typeface="+mn-ea"/>
                          <a:cs typeface="+mn-cs"/>
                        </a:rPr>
                        <a:t>40</a:t>
                      </a:r>
                      <a:endParaRPr lang="en-US" sz="900" b="1" i="0" u="none" strike="noStrike" kern="1200">
                        <a:solidFill>
                          <a:schemeClr val="tx1"/>
                        </a:solidFill>
                        <a:effectLst/>
                        <a:latin typeface="+mj-lt"/>
                        <a:ea typeface="+mn-ea"/>
                        <a:cs typeface="+mn-cs"/>
                      </a:endParaRPr>
                    </a:p>
                  </a:txBody>
                  <a:tcPr marL="6350" marR="6350" marT="6350" marB="0" anchor="ctr">
                    <a:solidFill>
                      <a:srgbClr val="C0FCF5"/>
                    </a:solidFill>
                  </a:tcPr>
                </a:tc>
                <a:tc>
                  <a:txBody>
                    <a:bodyPr/>
                    <a:lstStyle/>
                    <a:p>
                      <a:pPr algn="ctr" rtl="0" fontAlgn="b"/>
                      <a:endParaRPr lang="en-US" sz="900" b="1" i="0" u="none" strike="noStrike" kern="1200">
                        <a:solidFill>
                          <a:schemeClr val="tx1"/>
                        </a:solidFill>
                        <a:effectLst/>
                        <a:latin typeface="+mj-lt"/>
                        <a:ea typeface="+mn-ea"/>
                        <a:cs typeface="+mn-cs"/>
                      </a:endParaRPr>
                    </a:p>
                  </a:txBody>
                  <a:tcPr marL="0" marR="0" marT="0" marB="0" anchor="ctr">
                    <a:solidFill>
                      <a:srgbClr val="C0FCF5"/>
                    </a:solidFill>
                  </a:tcPr>
                </a:tc>
                <a:tc>
                  <a:txBody>
                    <a:bodyPr/>
                    <a:lstStyle/>
                    <a:p>
                      <a:pPr marL="0" algn="ctr" defTabSz="990570" rtl="0" eaLnBrk="1" fontAlgn="ctr" latinLnBrk="0" hangingPunct="1"/>
                      <a:r>
                        <a:rPr lang="en-US" altLang="zh-CN" sz="900" b="1" i="0" u="none" strike="noStrike" kern="1200">
                          <a:solidFill>
                            <a:schemeClr val="tx1"/>
                          </a:solidFill>
                          <a:effectLst/>
                          <a:latin typeface="+mj-lt"/>
                          <a:ea typeface="+mn-ea"/>
                          <a:cs typeface="+mn-cs"/>
                        </a:rPr>
                        <a:t>6.2</a:t>
                      </a:r>
                      <a:r>
                        <a:rPr lang="en-US" sz="900" b="1" i="0" u="none" strike="noStrike" kern="1200">
                          <a:solidFill>
                            <a:schemeClr val="tx1"/>
                          </a:solidFill>
                          <a:effectLst/>
                          <a:latin typeface="+mj-lt"/>
                          <a:ea typeface="+mn-ea"/>
                          <a:cs typeface="+mn-cs"/>
                        </a:rPr>
                        <a:t>%</a:t>
                      </a:r>
                    </a:p>
                  </a:txBody>
                  <a:tcPr marL="0" marR="0" marT="0" marB="0" anchor="ctr">
                    <a:solidFill>
                      <a:srgbClr val="C0FCF5"/>
                    </a:solidFill>
                  </a:tcPr>
                </a:tc>
                <a:tc>
                  <a:txBody>
                    <a:bodyPr/>
                    <a:lstStyle/>
                    <a:p>
                      <a:pPr marL="0" marR="0" lvl="0" indent="0" algn="ctr" defTabSz="990570" rtl="0" eaLnBrk="1" fontAlgn="ctr" latinLnBrk="0" hangingPunct="1">
                        <a:lnSpc>
                          <a:spcPct val="100000"/>
                        </a:lnSpc>
                        <a:spcBef>
                          <a:spcPts val="0"/>
                        </a:spcBef>
                        <a:spcAft>
                          <a:spcPts val="0"/>
                        </a:spcAft>
                        <a:buClrTx/>
                        <a:buSzTx/>
                        <a:buFontTx/>
                        <a:buNone/>
                        <a:tabLst/>
                        <a:defRPr/>
                      </a:pPr>
                      <a:r>
                        <a:rPr lang="en-US" altLang="zh-CN" sz="900" b="1" i="0" u="none" strike="noStrike" kern="1200">
                          <a:solidFill>
                            <a:schemeClr val="tx1"/>
                          </a:solidFill>
                          <a:effectLst/>
                          <a:latin typeface="+mj-lt"/>
                          <a:ea typeface="+mn-ea"/>
                          <a:cs typeface="+mn-cs"/>
                        </a:rPr>
                        <a:t>26.5</a:t>
                      </a:r>
                      <a:r>
                        <a:rPr lang="en-US" sz="900" b="1" i="0" u="none" strike="noStrike" kern="1200">
                          <a:solidFill>
                            <a:schemeClr val="tx1"/>
                          </a:solidFill>
                          <a:effectLst/>
                          <a:latin typeface="+mj-lt"/>
                          <a:ea typeface="+mn-ea"/>
                          <a:cs typeface="+mn-cs"/>
                        </a:rPr>
                        <a:t>%</a:t>
                      </a:r>
                    </a:p>
                  </a:txBody>
                  <a:tcPr marL="0" marR="0" marT="0" marB="0" anchor="ctr">
                    <a:solidFill>
                      <a:srgbClr val="C0FCF5"/>
                    </a:solidFill>
                  </a:tcPr>
                </a:tc>
                <a:extLst>
                  <a:ext uri="{0D108BD9-81ED-4DB2-BD59-A6C34878D82A}">
                    <a16:rowId xmlns:a16="http://schemas.microsoft.com/office/drawing/2014/main" val="840468331"/>
                  </a:ext>
                </a:extLst>
              </a:tr>
            </a:tbl>
          </a:graphicData>
        </a:graphic>
      </p:graphicFrame>
      <p:sp>
        <p:nvSpPr>
          <p:cNvPr id="11" name="Slide Number Placeholder 1">
            <a:extLst>
              <a:ext uri="{FF2B5EF4-FFF2-40B4-BE49-F238E27FC236}">
                <a16:creationId xmlns:a16="http://schemas.microsoft.com/office/drawing/2014/main" id="{A18EA417-F169-BD0A-C22D-4175DF846767}"/>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13</a:t>
            </a:fld>
            <a:endParaRPr lang="en-US"/>
          </a:p>
        </p:txBody>
      </p:sp>
      <p:sp>
        <p:nvSpPr>
          <p:cNvPr id="12" name="TextBox 11">
            <a:extLst>
              <a:ext uri="{FF2B5EF4-FFF2-40B4-BE49-F238E27FC236}">
                <a16:creationId xmlns:a16="http://schemas.microsoft.com/office/drawing/2014/main" id="{B36BC1BE-C48D-EA49-0CCD-B01BDF47E04C}"/>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Tree>
    <p:extLst>
      <p:ext uri="{BB962C8B-B14F-4D97-AF65-F5344CB8AC3E}">
        <p14:creationId xmlns:p14="http://schemas.microsoft.com/office/powerpoint/2010/main" val="3713197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5C74CA2-02EF-F439-3BFC-B9C44687C0A4}"/>
              </a:ext>
            </a:extLst>
          </p:cNvPr>
          <p:cNvSpPr>
            <a:spLocks noGrp="1"/>
          </p:cNvSpPr>
          <p:nvPr>
            <p:ph type="title"/>
          </p:nvPr>
        </p:nvSpPr>
        <p:spPr/>
        <p:txBody>
          <a:bodyPr/>
          <a:lstStyle/>
          <a:p>
            <a:r>
              <a:rPr lang="en-US"/>
              <a:t>HK is the #1 IPO Market Globally and 2nd Most Active Geography for All ECM Issuance</a:t>
            </a:r>
          </a:p>
        </p:txBody>
      </p:sp>
      <p:sp>
        <p:nvSpPr>
          <p:cNvPr id="3" name="Text Placeholder 2">
            <a:extLst>
              <a:ext uri="{FF2B5EF4-FFF2-40B4-BE49-F238E27FC236}">
                <a16:creationId xmlns:a16="http://schemas.microsoft.com/office/drawing/2014/main" id="{15A0B438-CD62-AA0A-481D-F4DC2584F69D}"/>
              </a:ext>
            </a:extLst>
          </p:cNvPr>
          <p:cNvSpPr>
            <a:spLocks noGrp="1"/>
          </p:cNvSpPr>
          <p:nvPr>
            <p:ph type="body" sz="quarter" idx="46"/>
          </p:nvPr>
        </p:nvSpPr>
        <p:spPr>
          <a:xfrm>
            <a:off x="1353000" y="6344210"/>
            <a:ext cx="8100000" cy="360000"/>
          </a:xfrm>
        </p:spPr>
        <p:txBody>
          <a:bodyPr anchor="b"/>
          <a:lstStyle/>
          <a:p>
            <a:pPr marL="0" indent="0">
              <a:buNone/>
            </a:pPr>
            <a:r>
              <a:rPr lang="en-US" sz="800"/>
              <a:t>Sources: Dealogic as of 31 Mar 2026 </a:t>
            </a:r>
          </a:p>
          <a:p>
            <a:r>
              <a:rPr lang="en-US" sz="800"/>
              <a:t>Excludes SPAC ECM transactions</a:t>
            </a:r>
          </a:p>
          <a:p>
            <a:r>
              <a:rPr lang="en-US" sz="800"/>
              <a:t>Respective exchanges comprise all boards / markets consolidated under the exchange</a:t>
            </a:r>
          </a:p>
          <a:p>
            <a:r>
              <a:rPr lang="en-US" sz="800"/>
              <a:t>The deal value of ECM transactions by HK / US dual-listed issuers is fully attributed to both HK and the US exchanges</a:t>
            </a:r>
            <a:endParaRPr lang="en-GB" sz="800"/>
          </a:p>
        </p:txBody>
      </p:sp>
      <p:sp>
        <p:nvSpPr>
          <p:cNvPr id="15" name="TextBox 14">
            <a:extLst>
              <a:ext uri="{FF2B5EF4-FFF2-40B4-BE49-F238E27FC236}">
                <a16:creationId xmlns:a16="http://schemas.microsoft.com/office/drawing/2014/main" id="{B8B1CB4F-6DF0-5600-C0E8-F97F44837FCE}"/>
              </a:ext>
            </a:extLst>
          </p:cNvPr>
          <p:cNvSpPr txBox="1">
            <a:spLocks noChangeArrowheads="1"/>
          </p:cNvSpPr>
          <p:nvPr/>
        </p:nvSpPr>
        <p:spPr bwMode="auto">
          <a:xfrm>
            <a:off x="453000" y="1054958"/>
            <a:ext cx="2895704" cy="370702"/>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a:cs typeface="Arial" panose="020B0604020202020204" pitchFamily="34" charset="0"/>
              </a:rPr>
              <a:t>#1 in IPO Volume</a:t>
            </a:r>
          </a:p>
        </p:txBody>
      </p:sp>
      <p:sp>
        <p:nvSpPr>
          <p:cNvPr id="17" name="TextBox 16">
            <a:extLst>
              <a:ext uri="{FF2B5EF4-FFF2-40B4-BE49-F238E27FC236}">
                <a16:creationId xmlns:a16="http://schemas.microsoft.com/office/drawing/2014/main" id="{8460C3B6-AE55-F0EC-F89C-33C2141EFE42}"/>
              </a:ext>
            </a:extLst>
          </p:cNvPr>
          <p:cNvSpPr txBox="1">
            <a:spLocks noChangeArrowheads="1"/>
          </p:cNvSpPr>
          <p:nvPr/>
        </p:nvSpPr>
        <p:spPr bwMode="auto">
          <a:xfrm>
            <a:off x="3478390" y="1054958"/>
            <a:ext cx="2923248" cy="370702"/>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a:cs typeface="Arial" panose="020B0604020202020204" pitchFamily="34" charset="0"/>
              </a:rPr>
              <a:t>Top 3 in All ECM Volume</a:t>
            </a:r>
          </a:p>
        </p:txBody>
      </p:sp>
      <p:sp>
        <p:nvSpPr>
          <p:cNvPr id="18" name="TextBox 17">
            <a:extLst>
              <a:ext uri="{FF2B5EF4-FFF2-40B4-BE49-F238E27FC236}">
                <a16:creationId xmlns:a16="http://schemas.microsoft.com/office/drawing/2014/main" id="{516B2274-861B-9AE7-7012-1E6C957E8750}"/>
              </a:ext>
            </a:extLst>
          </p:cNvPr>
          <p:cNvSpPr txBox="1">
            <a:spLocks noChangeArrowheads="1"/>
          </p:cNvSpPr>
          <p:nvPr/>
        </p:nvSpPr>
        <p:spPr bwMode="auto">
          <a:xfrm>
            <a:off x="6529752" y="1054958"/>
            <a:ext cx="2923248" cy="370702"/>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a:cs typeface="Arial" panose="020B0604020202020204" pitchFamily="34" charset="0"/>
              </a:rPr>
              <a:t>Top 3 in Follow-on Issuance</a:t>
            </a:r>
          </a:p>
        </p:txBody>
      </p:sp>
      <p:graphicFrame>
        <p:nvGraphicFramePr>
          <p:cNvPr id="11" name="表格 10">
            <a:extLst>
              <a:ext uri="{FF2B5EF4-FFF2-40B4-BE49-F238E27FC236}">
                <a16:creationId xmlns:a16="http://schemas.microsoft.com/office/drawing/2014/main" id="{AD6A7F0F-22F0-C8AB-9846-65140C714663}"/>
              </a:ext>
            </a:extLst>
          </p:cNvPr>
          <p:cNvGraphicFramePr>
            <a:graphicFrameLocks noGrp="1"/>
          </p:cNvGraphicFramePr>
          <p:nvPr>
            <p:extLst>
              <p:ext uri="{D42A27DB-BD31-4B8C-83A1-F6EECF244321}">
                <p14:modId xmlns:p14="http://schemas.microsoft.com/office/powerpoint/2010/main" val="4007912211"/>
              </p:ext>
            </p:extLst>
          </p:nvPr>
        </p:nvGraphicFramePr>
        <p:xfrm>
          <a:off x="453000" y="1580731"/>
          <a:ext cx="9000002" cy="4184445"/>
        </p:xfrm>
        <a:graphic>
          <a:graphicData uri="http://schemas.openxmlformats.org/drawingml/2006/table">
            <a:tbl>
              <a:tblPr/>
              <a:tblGrid>
                <a:gridCol w="726629">
                  <a:extLst>
                    <a:ext uri="{9D8B030D-6E8A-4147-A177-3AD203B41FA5}">
                      <a16:colId xmlns:a16="http://schemas.microsoft.com/office/drawing/2014/main" val="1641324960"/>
                    </a:ext>
                  </a:extLst>
                </a:gridCol>
                <a:gridCol w="726629">
                  <a:extLst>
                    <a:ext uri="{9D8B030D-6E8A-4147-A177-3AD203B41FA5}">
                      <a16:colId xmlns:a16="http://schemas.microsoft.com/office/drawing/2014/main" val="1095822400"/>
                    </a:ext>
                  </a:extLst>
                </a:gridCol>
                <a:gridCol w="726629">
                  <a:extLst>
                    <a:ext uri="{9D8B030D-6E8A-4147-A177-3AD203B41FA5}">
                      <a16:colId xmlns:a16="http://schemas.microsoft.com/office/drawing/2014/main" val="2623627801"/>
                    </a:ext>
                  </a:extLst>
                </a:gridCol>
                <a:gridCol w="726629">
                  <a:extLst>
                    <a:ext uri="{9D8B030D-6E8A-4147-A177-3AD203B41FA5}">
                      <a16:colId xmlns:a16="http://schemas.microsoft.com/office/drawing/2014/main" val="3005921290"/>
                    </a:ext>
                  </a:extLst>
                </a:gridCol>
                <a:gridCol w="140227">
                  <a:extLst>
                    <a:ext uri="{9D8B030D-6E8A-4147-A177-3AD203B41FA5}">
                      <a16:colId xmlns:a16="http://schemas.microsoft.com/office/drawing/2014/main" val="3855126012"/>
                    </a:ext>
                  </a:extLst>
                </a:gridCol>
                <a:gridCol w="726629">
                  <a:extLst>
                    <a:ext uri="{9D8B030D-6E8A-4147-A177-3AD203B41FA5}">
                      <a16:colId xmlns:a16="http://schemas.microsoft.com/office/drawing/2014/main" val="1077598868"/>
                    </a:ext>
                  </a:extLst>
                </a:gridCol>
                <a:gridCol w="726629">
                  <a:extLst>
                    <a:ext uri="{9D8B030D-6E8A-4147-A177-3AD203B41FA5}">
                      <a16:colId xmlns:a16="http://schemas.microsoft.com/office/drawing/2014/main" val="1230306749"/>
                    </a:ext>
                  </a:extLst>
                </a:gridCol>
                <a:gridCol w="726629">
                  <a:extLst>
                    <a:ext uri="{9D8B030D-6E8A-4147-A177-3AD203B41FA5}">
                      <a16:colId xmlns:a16="http://schemas.microsoft.com/office/drawing/2014/main" val="1716112197"/>
                    </a:ext>
                  </a:extLst>
                </a:gridCol>
                <a:gridCol w="726629">
                  <a:extLst>
                    <a:ext uri="{9D8B030D-6E8A-4147-A177-3AD203B41FA5}">
                      <a16:colId xmlns:a16="http://schemas.microsoft.com/office/drawing/2014/main" val="2612655952"/>
                    </a:ext>
                  </a:extLst>
                </a:gridCol>
                <a:gridCol w="140227">
                  <a:extLst>
                    <a:ext uri="{9D8B030D-6E8A-4147-A177-3AD203B41FA5}">
                      <a16:colId xmlns:a16="http://schemas.microsoft.com/office/drawing/2014/main" val="187091298"/>
                    </a:ext>
                  </a:extLst>
                </a:gridCol>
                <a:gridCol w="726629">
                  <a:extLst>
                    <a:ext uri="{9D8B030D-6E8A-4147-A177-3AD203B41FA5}">
                      <a16:colId xmlns:a16="http://schemas.microsoft.com/office/drawing/2014/main" val="2762461556"/>
                    </a:ext>
                  </a:extLst>
                </a:gridCol>
                <a:gridCol w="726629">
                  <a:extLst>
                    <a:ext uri="{9D8B030D-6E8A-4147-A177-3AD203B41FA5}">
                      <a16:colId xmlns:a16="http://schemas.microsoft.com/office/drawing/2014/main" val="2859556631"/>
                    </a:ext>
                  </a:extLst>
                </a:gridCol>
                <a:gridCol w="726629">
                  <a:extLst>
                    <a:ext uri="{9D8B030D-6E8A-4147-A177-3AD203B41FA5}">
                      <a16:colId xmlns:a16="http://schemas.microsoft.com/office/drawing/2014/main" val="544837532"/>
                    </a:ext>
                  </a:extLst>
                </a:gridCol>
                <a:gridCol w="726629">
                  <a:extLst>
                    <a:ext uri="{9D8B030D-6E8A-4147-A177-3AD203B41FA5}">
                      <a16:colId xmlns:a16="http://schemas.microsoft.com/office/drawing/2014/main" val="1181967821"/>
                    </a:ext>
                  </a:extLst>
                </a:gridCol>
              </a:tblGrid>
              <a:tr h="331634">
                <a:tc rowSpan="2">
                  <a:txBody>
                    <a:bodyPr/>
                    <a:lstStyle/>
                    <a:p>
                      <a:pPr algn="ctr" rtl="0" fontAlgn="ctr">
                        <a:buNone/>
                      </a:pPr>
                      <a:r>
                        <a:rPr lang="en-US" sz="800" b="1" i="0" u="none" strike="noStrike">
                          <a:solidFill>
                            <a:srgbClr val="000000"/>
                          </a:solidFill>
                          <a:effectLst/>
                          <a:latin typeface="Arial" panose="020B0604020202020204" pitchFamily="34" charset="0"/>
                        </a:rPr>
                        <a:t>Ranking</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Exchange</a:t>
                      </a:r>
                      <a:r>
                        <a:rPr lang="en-US" sz="800" b="1" i="0" u="none" strike="noStrike" baseline="30000">
                          <a:solidFill>
                            <a:srgbClr val="000000"/>
                          </a:solidFill>
                          <a:effectLst/>
                          <a:latin typeface="Arial" panose="020B0604020202020204" pitchFamily="34" charset="0"/>
                        </a:rPr>
                        <a:t>2</a:t>
                      </a:r>
                      <a:endParaRPr lang="en-US" sz="800" b="1" i="0" u="none" strike="noStrike">
                        <a:solidFill>
                          <a:srgbClr val="000000"/>
                        </a:solidFill>
                        <a:effectLst/>
                        <a:latin typeface="Arial" panose="020B06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No. of Deals    (#)</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Deal Value (US$mm)</a:t>
                      </a:r>
                      <a:r>
                        <a:rPr lang="en-US" sz="800" b="1" i="0" u="none" strike="noStrike" baseline="30000">
                          <a:solidFill>
                            <a:srgbClr val="000000"/>
                          </a:solidFill>
                          <a:effectLst/>
                          <a:latin typeface="Arial" panose="020B0604020202020204" pitchFamily="34" charset="0"/>
                        </a:rPr>
                        <a:t>1,3</a:t>
                      </a:r>
                      <a:endParaRPr lang="en-US" sz="800" b="1" i="0" u="none" strike="noStrike">
                        <a:solidFill>
                          <a:srgbClr val="000000"/>
                        </a:solidFill>
                        <a:effectLst/>
                        <a:latin typeface="Arial" panose="020B06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F3D8"/>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Ranking</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Exchange</a:t>
                      </a:r>
                      <a:r>
                        <a:rPr lang="en-US" sz="800" b="1" i="0" u="none" strike="noStrike" baseline="30000">
                          <a:solidFill>
                            <a:srgbClr val="000000"/>
                          </a:solidFill>
                          <a:effectLst/>
                          <a:latin typeface="Arial" panose="020B0604020202020204" pitchFamily="34" charset="0"/>
                        </a:rPr>
                        <a:t>2</a:t>
                      </a:r>
                      <a:endParaRPr lang="en-US" sz="800" b="1" i="0" u="none" strike="noStrike">
                        <a:solidFill>
                          <a:srgbClr val="000000"/>
                        </a:solidFill>
                        <a:effectLst/>
                        <a:latin typeface="Arial" panose="020B06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No. of Deals    (#)</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Deal Value (US$mm)</a:t>
                      </a:r>
                      <a:r>
                        <a:rPr lang="en-US" sz="800" b="1" i="0" u="none" strike="noStrike" baseline="30000">
                          <a:solidFill>
                            <a:srgbClr val="000000"/>
                          </a:solidFill>
                          <a:effectLst/>
                          <a:latin typeface="Arial" panose="020B0604020202020204" pitchFamily="34" charset="0"/>
                        </a:rPr>
                        <a:t>1,3</a:t>
                      </a:r>
                      <a:endParaRPr lang="en-US" sz="800" b="1" i="0" u="none" strike="noStrike">
                        <a:solidFill>
                          <a:srgbClr val="000000"/>
                        </a:solidFill>
                        <a:effectLst/>
                        <a:latin typeface="Arial" panose="020B06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F3D8"/>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a:noFill/>
                    </a:lnR>
                    <a:lnT>
                      <a:noFill/>
                    </a:lnT>
                    <a:lnB>
                      <a:noFill/>
                    </a:lnB>
                    <a:no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Ranking</a:t>
                      </a:r>
                    </a:p>
                  </a:txBody>
                  <a:tcPr marL="7218" marR="7218" marT="7218" marB="0" anchor="ctr">
                    <a:lnL>
                      <a:noFill/>
                    </a:lnL>
                    <a:lnR>
                      <a:noFill/>
                    </a:lnR>
                    <a:lnT>
                      <a:noFill/>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Exchange</a:t>
                      </a:r>
                      <a:r>
                        <a:rPr lang="en-US" sz="800" b="1" i="0" u="none" strike="noStrike" baseline="30000">
                          <a:solidFill>
                            <a:srgbClr val="000000"/>
                          </a:solidFill>
                          <a:effectLst/>
                          <a:latin typeface="Arial" panose="020B0604020202020204" pitchFamily="34" charset="0"/>
                        </a:rPr>
                        <a:t>2</a:t>
                      </a:r>
                      <a:endParaRPr lang="en-US" sz="800" b="1" i="0" u="none" strike="noStrike">
                        <a:solidFill>
                          <a:srgbClr val="000000"/>
                        </a:solidFill>
                        <a:effectLst/>
                        <a:latin typeface="Arial" panose="020B0604020202020204" pitchFamily="34" charset="0"/>
                      </a:endParaRPr>
                    </a:p>
                  </a:txBody>
                  <a:tcPr marL="7218" marR="7218" marT="7218" marB="0" anchor="ctr">
                    <a:lnL>
                      <a:noFill/>
                    </a:lnL>
                    <a:lnR>
                      <a:noFill/>
                    </a:lnR>
                    <a:lnT>
                      <a:noFill/>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No. of Deals (#)</a:t>
                      </a:r>
                    </a:p>
                  </a:txBody>
                  <a:tcPr marL="7218" marR="7218" marT="7218" marB="0" anchor="ctr">
                    <a:lnL>
                      <a:noFill/>
                    </a:lnL>
                    <a:lnR>
                      <a:noFill/>
                    </a:lnR>
                    <a:lnT>
                      <a:noFill/>
                    </a:lnT>
                    <a:lnB w="19050" cap="flat" cmpd="sng" algn="ctr">
                      <a:solidFill>
                        <a:srgbClr val="FFFFFF"/>
                      </a:solidFill>
                      <a:prstDash val="solid"/>
                      <a:round/>
                      <a:headEnd type="none" w="med" len="med"/>
                      <a:tailEnd type="none" w="med" len="med"/>
                    </a:lnB>
                    <a:solidFill>
                      <a:srgbClr val="0DF3D8"/>
                    </a:solidFill>
                  </a:tcPr>
                </a:tc>
                <a:tc rowSpan="2">
                  <a:txBody>
                    <a:bodyPr/>
                    <a:lstStyle/>
                    <a:p>
                      <a:pPr algn="ctr" rtl="0" fontAlgn="ctr">
                        <a:buNone/>
                      </a:pPr>
                      <a:r>
                        <a:rPr lang="en-US" sz="800" b="1" i="0" u="none" strike="noStrike">
                          <a:solidFill>
                            <a:srgbClr val="000000"/>
                          </a:solidFill>
                          <a:effectLst/>
                          <a:latin typeface="Arial" panose="020B0604020202020204" pitchFamily="34" charset="0"/>
                        </a:rPr>
                        <a:t>Deal Value (US$mm)</a:t>
                      </a:r>
                      <a:r>
                        <a:rPr lang="en-US" sz="800" b="1" i="0" u="none" strike="noStrike" baseline="30000">
                          <a:solidFill>
                            <a:srgbClr val="000000"/>
                          </a:solidFill>
                          <a:effectLst/>
                          <a:latin typeface="Arial" panose="020B0604020202020204" pitchFamily="34" charset="0"/>
                        </a:rPr>
                        <a:t>1,3</a:t>
                      </a:r>
                      <a:endParaRPr lang="en-US" sz="800" b="1" i="0" u="none" strike="noStrike">
                        <a:solidFill>
                          <a:srgbClr val="000000"/>
                        </a:solidFill>
                        <a:effectLst/>
                        <a:latin typeface="Arial" panose="020B0604020202020204" pitchFamily="34" charset="0"/>
                      </a:endParaRPr>
                    </a:p>
                  </a:txBody>
                  <a:tcPr marL="7218" marR="7218" marT="7218" marB="0" anchor="ctr">
                    <a:lnL>
                      <a:noFill/>
                    </a:lnL>
                    <a:lnR>
                      <a:noFill/>
                    </a:lnR>
                    <a:lnT>
                      <a:noFill/>
                    </a:lnT>
                    <a:lnB w="19050" cap="flat" cmpd="sng" algn="ctr">
                      <a:solidFill>
                        <a:srgbClr val="FFFFFF"/>
                      </a:solidFill>
                      <a:prstDash val="solid"/>
                      <a:round/>
                      <a:headEnd type="none" w="med" len="med"/>
                      <a:tailEnd type="none" w="med" len="med"/>
                    </a:lnB>
                    <a:solidFill>
                      <a:srgbClr val="0DF3D8"/>
                    </a:solidFill>
                  </a:tcPr>
                </a:tc>
                <a:extLst>
                  <a:ext uri="{0D108BD9-81ED-4DB2-BD59-A6C34878D82A}">
                    <a16:rowId xmlns:a16="http://schemas.microsoft.com/office/drawing/2014/main" val="3288733438"/>
                  </a:ext>
                </a:extLst>
              </a:tr>
              <a:tr h="26335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a:noFill/>
                    </a:lnR>
                    <a:lnT>
                      <a:noFill/>
                    </a:lnT>
                    <a:lnB>
                      <a:noFill/>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406503637"/>
                  </a:ext>
                </a:extLst>
              </a:tr>
              <a:tr h="351142">
                <a:tc>
                  <a:txBody>
                    <a:bodyPr/>
                    <a:lstStyle/>
                    <a:p>
                      <a:pPr algn="ctr" rtl="0" fontAlgn="ctr">
                        <a:buNone/>
                      </a:pPr>
                      <a:r>
                        <a:rPr lang="en-US" sz="800" b="1" i="0" u="none" strike="noStrike">
                          <a:solidFill>
                            <a:srgbClr val="000000"/>
                          </a:solidFill>
                          <a:effectLst/>
                          <a:latin typeface="Arial" panose="020B0604020202020204" pitchFamily="34" charset="0"/>
                        </a:rPr>
                        <a:t>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Hong Kong (HKEX)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38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13,257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NASDAQ</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311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61,148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NASDAQ</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292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55,240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extLst>
                  <a:ext uri="{0D108BD9-81ED-4DB2-BD59-A6C34878D82A}">
                    <a16:rowId xmlns:a16="http://schemas.microsoft.com/office/drawing/2014/main" val="1254335248"/>
                  </a:ext>
                </a:extLst>
              </a:tr>
              <a:tr h="341388">
                <a:tc>
                  <a:txBody>
                    <a:bodyPr/>
                    <a:lstStyle/>
                    <a:p>
                      <a:pPr algn="ctr" rtl="0" fontAlgn="ctr">
                        <a:buNone/>
                      </a:pPr>
                      <a:r>
                        <a:rPr lang="en-US" sz="800" b="1" i="0" u="none" strike="noStrike">
                          <a:solidFill>
                            <a:srgbClr val="000000"/>
                          </a:solidFill>
                          <a:effectLst/>
                          <a:latin typeface="Arial" panose="020B0604020202020204" pitchFamily="34" charset="0"/>
                        </a:rPr>
                        <a:t>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NASDAQ</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5,908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New York (NYSE)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50,337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New York (NYSE)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108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44,788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761605557"/>
                  </a:ext>
                </a:extLst>
              </a:tr>
              <a:tr h="341388">
                <a:tc>
                  <a:txBody>
                    <a:bodyPr/>
                    <a:lstStyle/>
                    <a:p>
                      <a:pPr algn="ctr" rtl="0" fontAlgn="ctr">
                        <a:buNone/>
                      </a:pPr>
                      <a:r>
                        <a:rPr lang="en-US" sz="800" b="1" i="0" u="none" strike="noStrike">
                          <a:solidFill>
                            <a:srgbClr val="000000"/>
                          </a:solidFill>
                          <a:effectLst/>
                          <a:latin typeface="Arial" panose="020B0604020202020204" pitchFamily="34" charset="0"/>
                        </a:rPr>
                        <a:t>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India (NSE/BSE)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77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5,601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CCCFD3"/>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1" i="0" u="none" strike="noStrike">
                          <a:solidFill>
                            <a:srgbClr val="000000"/>
                          </a:solidFill>
                          <a:effectLst/>
                          <a:latin typeface="Arial" panose="020B0604020202020204" pitchFamily="34" charset="0"/>
                        </a:rPr>
                        <a:t>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Hong Kong (HKEX)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157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30,551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1" i="0" u="none" strike="noStrike">
                          <a:solidFill>
                            <a:srgbClr val="000000"/>
                          </a:solidFill>
                          <a:effectLst/>
                          <a:latin typeface="Arial" panose="020B0604020202020204" pitchFamily="34" charset="0"/>
                        </a:rPr>
                        <a:t>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Hong Kong (HKEX)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119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tc>
                  <a:txBody>
                    <a:bodyPr/>
                    <a:lstStyle/>
                    <a:p>
                      <a:pPr algn="ctr" rtl="0" fontAlgn="ctr">
                        <a:buNone/>
                      </a:pPr>
                      <a:r>
                        <a:rPr lang="en-US" sz="800" b="1" i="0" u="none" strike="noStrike">
                          <a:solidFill>
                            <a:srgbClr val="000000"/>
                          </a:solidFill>
                          <a:effectLst/>
                          <a:latin typeface="Arial" panose="020B0604020202020204" pitchFamily="34" charset="0"/>
                        </a:rPr>
                        <a:t>17,295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FCF5"/>
                    </a:solidFill>
                  </a:tcPr>
                </a:tc>
                <a:extLst>
                  <a:ext uri="{0D108BD9-81ED-4DB2-BD59-A6C34878D82A}">
                    <a16:rowId xmlns:a16="http://schemas.microsoft.com/office/drawing/2014/main" val="1969570841"/>
                  </a:ext>
                </a:extLst>
              </a:tr>
              <a:tr h="341388">
                <a:tc>
                  <a:txBody>
                    <a:bodyPr/>
                    <a:lstStyle/>
                    <a:p>
                      <a:pPr algn="ctr" rtl="0" fontAlgn="ctr">
                        <a:buNone/>
                      </a:pPr>
                      <a:r>
                        <a:rPr lang="en-US" sz="800" b="0" i="0" u="none" strike="noStrike">
                          <a:solidFill>
                            <a:srgbClr val="000000"/>
                          </a:solidFill>
                          <a:effectLst/>
                          <a:latin typeface="Arial" panose="020B0604020202020204" pitchFamily="34" charset="0"/>
                        </a:rPr>
                        <a:t>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New York (NYSE)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5,549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Euronext</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79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15,370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Japan </a:t>
                      </a:r>
                    </a:p>
                    <a:p>
                      <a:pPr algn="ctr" rtl="0" fontAlgn="ctr">
                        <a:buNone/>
                      </a:pPr>
                      <a:r>
                        <a:rPr lang="en-US" sz="800" b="0" i="0" u="none" strike="noStrike">
                          <a:solidFill>
                            <a:srgbClr val="000000"/>
                          </a:solidFill>
                          <a:effectLst/>
                          <a:latin typeface="Arial" panose="020B0604020202020204" pitchFamily="34" charset="0"/>
                        </a:rPr>
                        <a:t>(JPX)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12,705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4230880241"/>
                  </a:ext>
                </a:extLst>
              </a:tr>
              <a:tr h="341388">
                <a:tc>
                  <a:txBody>
                    <a:bodyPr/>
                    <a:lstStyle/>
                    <a:p>
                      <a:pPr algn="ctr" rtl="0" fontAlgn="ctr">
                        <a:buNone/>
                      </a:pPr>
                      <a:r>
                        <a:rPr lang="en-US" sz="800" b="0" i="0" u="none" strike="noStrike">
                          <a:solidFill>
                            <a:srgbClr val="000000"/>
                          </a:solidFill>
                          <a:effectLst/>
                          <a:latin typeface="Arial" panose="020B0604020202020204" pitchFamily="34" charset="0"/>
                        </a:rPr>
                        <a:t>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Euronext</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5,144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CCCFD3"/>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Japan </a:t>
                      </a:r>
                    </a:p>
                    <a:p>
                      <a:pPr algn="ctr" rtl="0" fontAlgn="ctr">
                        <a:buNone/>
                      </a:pPr>
                      <a:r>
                        <a:rPr lang="en-US" sz="800" b="0" i="0" u="none" strike="noStrike">
                          <a:solidFill>
                            <a:srgbClr val="000000"/>
                          </a:solidFill>
                          <a:effectLst/>
                          <a:latin typeface="Arial" panose="020B0604020202020204" pitchFamily="34" charset="0"/>
                        </a:rPr>
                        <a:t>(JPX)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12,999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1" i="0" u="none" strike="noStrike">
                          <a:solidFill>
                            <a:srgbClr val="000000"/>
                          </a:solidFill>
                          <a:effectLst/>
                          <a:latin typeface="Arial" panose="020B0604020202020204" pitchFamily="34" charset="0"/>
                        </a:rPr>
                        <a:t>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Switzerland (SIX)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12,246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extLst>
                  <a:ext uri="{0D108BD9-81ED-4DB2-BD59-A6C34878D82A}">
                    <a16:rowId xmlns:a16="http://schemas.microsoft.com/office/drawing/2014/main" val="3512192250"/>
                  </a:ext>
                </a:extLst>
              </a:tr>
              <a:tr h="341388">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Shanghai (SSE)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2,162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India (NSE/BSE)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12,608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Euronext</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72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10,235</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3530574538"/>
                  </a:ext>
                </a:extLst>
              </a:tr>
              <a:tr h="341388">
                <a:tc>
                  <a:txBody>
                    <a:bodyPr/>
                    <a:lstStyle/>
                    <a:p>
                      <a:pPr algn="ctr" rtl="0" fontAlgn="ctr">
                        <a:buNone/>
                      </a:pPr>
                      <a:r>
                        <a:rPr lang="en-US" sz="800" b="0" i="0" u="none" strike="noStrike">
                          <a:solidFill>
                            <a:srgbClr val="000000"/>
                          </a:solidFill>
                          <a:effectLst/>
                          <a:latin typeface="Arial" panose="020B0604020202020204" pitchFamily="34" charset="0"/>
                        </a:rPr>
                        <a:t>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Shenzhen (SZSE)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1,141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Switzerland (SIX)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12,246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India (NSE/BSE)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50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7,008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extLst>
                  <a:ext uri="{0D108BD9-81ED-4DB2-BD59-A6C34878D82A}">
                    <a16:rowId xmlns:a16="http://schemas.microsoft.com/office/drawing/2014/main" val="1561681165"/>
                  </a:ext>
                </a:extLst>
              </a:tr>
              <a:tr h="341388">
                <a:tc>
                  <a:txBody>
                    <a:bodyPr/>
                    <a:lstStyle/>
                    <a:p>
                      <a:pPr algn="ctr" rtl="0" fontAlgn="ctr">
                        <a:buNone/>
                      </a:pPr>
                      <a:r>
                        <a:rPr lang="en-US" sz="800" b="0" i="0" u="none" strike="noStrike">
                          <a:solidFill>
                            <a:srgbClr val="000000"/>
                          </a:solidFill>
                          <a:effectLst/>
                          <a:latin typeface="Arial" panose="020B0604020202020204" pitchFamily="34" charset="0"/>
                        </a:rPr>
                        <a:t>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Singapore (SGX)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967</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Canada </a:t>
                      </a:r>
                    </a:p>
                    <a:p>
                      <a:pPr algn="ctr" rtl="0" fontAlgn="ctr">
                        <a:buNone/>
                      </a:pPr>
                      <a:r>
                        <a:rPr lang="en-US" sz="800" b="0" i="0" u="none" strike="noStrike">
                          <a:solidFill>
                            <a:srgbClr val="000000"/>
                          </a:solidFill>
                          <a:effectLst/>
                          <a:latin typeface="Arial" panose="020B0604020202020204" pitchFamily="34" charset="0"/>
                        </a:rPr>
                        <a:t>(TSX)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176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7,768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Canada </a:t>
                      </a:r>
                    </a:p>
                    <a:p>
                      <a:pPr algn="ctr" rtl="0" fontAlgn="ctr">
                        <a:buNone/>
                      </a:pPr>
                      <a:r>
                        <a:rPr lang="en-US" sz="800" b="0" i="0" u="none" strike="noStrike">
                          <a:solidFill>
                            <a:srgbClr val="000000"/>
                          </a:solidFill>
                          <a:effectLst/>
                          <a:latin typeface="Arial" panose="020B0604020202020204" pitchFamily="34" charset="0"/>
                        </a:rPr>
                        <a:t>(TSX)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168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7,006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2824275139"/>
                  </a:ext>
                </a:extLst>
              </a:tr>
              <a:tr h="341388">
                <a:tc>
                  <a:txBody>
                    <a:bodyPr/>
                    <a:lstStyle/>
                    <a:p>
                      <a:pPr algn="ctr" rtl="0" fontAlgn="ctr">
                        <a:buNone/>
                      </a:pPr>
                      <a:r>
                        <a:rPr lang="en-US" sz="800" b="0" i="0" u="none" strike="noStrike">
                          <a:solidFill>
                            <a:srgbClr val="000000"/>
                          </a:solidFill>
                          <a:effectLst/>
                          <a:latin typeface="Arial" panose="020B0604020202020204" pitchFamily="34" charset="0"/>
                        </a:rPr>
                        <a:t>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Malaysia (Bursa)</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852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Shanghai (SSE)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40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7,454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London </a:t>
                      </a:r>
                    </a:p>
                    <a:p>
                      <a:pPr algn="ctr" rtl="0" fontAlgn="ctr">
                        <a:buNone/>
                      </a:pPr>
                      <a:r>
                        <a:rPr lang="en-US" sz="800" b="0" i="0" u="none" strike="noStrike">
                          <a:solidFill>
                            <a:srgbClr val="000000"/>
                          </a:solidFill>
                          <a:effectLst/>
                          <a:latin typeface="Arial" panose="020B0604020202020204" pitchFamily="34" charset="0"/>
                        </a:rPr>
                        <a:t>(LSE)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112</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tc>
                  <a:txBody>
                    <a:bodyPr/>
                    <a:lstStyle/>
                    <a:p>
                      <a:pPr algn="ctr" rtl="0" fontAlgn="ctr">
                        <a:buNone/>
                      </a:pPr>
                      <a:r>
                        <a:rPr lang="en-US" sz="800" b="0" i="0" u="none" strike="noStrike">
                          <a:solidFill>
                            <a:srgbClr val="000000"/>
                          </a:solidFill>
                          <a:effectLst/>
                          <a:latin typeface="Arial" panose="020B0604020202020204" pitchFamily="34" charset="0"/>
                        </a:rPr>
                        <a:t>6,351</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FD3"/>
                    </a:solidFill>
                  </a:tcPr>
                </a:tc>
                <a:extLst>
                  <a:ext uri="{0D108BD9-81ED-4DB2-BD59-A6C34878D82A}">
                    <a16:rowId xmlns:a16="http://schemas.microsoft.com/office/drawing/2014/main" val="4168131905"/>
                  </a:ext>
                </a:extLst>
              </a:tr>
              <a:tr h="507207">
                <a:tc>
                  <a:txBody>
                    <a:bodyPr/>
                    <a:lstStyle/>
                    <a:p>
                      <a:pPr algn="ctr" rtl="0" fontAlgn="ctr">
                        <a:buNone/>
                      </a:pPr>
                      <a:r>
                        <a:rPr lang="en-US" sz="800" b="0" i="0" u="none" strike="noStrike">
                          <a:solidFill>
                            <a:srgbClr val="000000"/>
                          </a:solidFill>
                          <a:effectLst/>
                          <a:latin typeface="Arial" panose="020B0604020202020204" pitchFamily="34" charset="0"/>
                        </a:rPr>
                        <a:t>10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Beijing </a:t>
                      </a:r>
                    </a:p>
                    <a:p>
                      <a:pPr algn="ctr" rtl="0" fontAlgn="ctr">
                        <a:buNone/>
                      </a:pPr>
                      <a:r>
                        <a:rPr lang="en-US" sz="800" b="0" i="0" u="none" strike="noStrike">
                          <a:solidFill>
                            <a:srgbClr val="000000"/>
                          </a:solidFill>
                          <a:effectLst/>
                          <a:latin typeface="Arial" panose="020B0604020202020204" pitchFamily="34" charset="0"/>
                        </a:rPr>
                        <a:t>(BSE)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19</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830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7218" marR="7218" marT="7218"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10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London </a:t>
                      </a:r>
                    </a:p>
                    <a:p>
                      <a:pPr algn="ctr" rtl="0" fontAlgn="ctr">
                        <a:buNone/>
                      </a:pPr>
                      <a:r>
                        <a:rPr lang="en-US" sz="800" b="0" i="0" u="none" strike="noStrike">
                          <a:solidFill>
                            <a:srgbClr val="000000"/>
                          </a:solidFill>
                          <a:effectLst/>
                          <a:latin typeface="Arial" panose="020B0604020202020204" pitchFamily="34" charset="0"/>
                        </a:rPr>
                        <a:t>(LSE)</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114</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6,368</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fontAlgn="ctr">
                        <a:buNone/>
                      </a:pPr>
                      <a:endParaRPr lang="en-US" sz="1100" b="0" i="0" u="none" strike="noStrike">
                        <a:solidFill>
                          <a:srgbClr val="000000"/>
                        </a:solidFill>
                        <a:effectLst/>
                        <a:latin typeface="Aptos Narrow" panose="020B0004020202020204" pitchFamily="34" charset="0"/>
                      </a:endParaRP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noFill/>
                  </a:tcPr>
                </a:tc>
                <a:tc>
                  <a:txBody>
                    <a:bodyPr/>
                    <a:lstStyle/>
                    <a:p>
                      <a:pPr algn="ctr" rtl="0" fontAlgn="ctr">
                        <a:buNone/>
                      </a:pPr>
                      <a:r>
                        <a:rPr lang="en-US" sz="800" b="0" i="0" u="none" strike="noStrike">
                          <a:solidFill>
                            <a:srgbClr val="000000"/>
                          </a:solidFill>
                          <a:effectLst/>
                          <a:latin typeface="Arial" panose="020B0604020202020204" pitchFamily="34" charset="0"/>
                        </a:rPr>
                        <a:t>10</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Australia (ASX/NSX/SSX)</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206</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tc>
                  <a:txBody>
                    <a:bodyPr/>
                    <a:lstStyle/>
                    <a:p>
                      <a:pPr algn="ctr" rtl="0" fontAlgn="ctr">
                        <a:buNone/>
                      </a:pPr>
                      <a:r>
                        <a:rPr lang="en-US" sz="800" b="0" i="0" u="none" strike="noStrike">
                          <a:solidFill>
                            <a:srgbClr val="000000"/>
                          </a:solidFill>
                          <a:effectLst/>
                          <a:latin typeface="Arial" panose="020B0604020202020204" pitchFamily="34" charset="0"/>
                        </a:rPr>
                        <a:t>5,453</a:t>
                      </a:r>
                    </a:p>
                  </a:txBody>
                  <a:tcPr marL="7218" marR="7218" marT="721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B"/>
                    </a:solidFill>
                  </a:tcPr>
                </a:tc>
                <a:extLst>
                  <a:ext uri="{0D108BD9-81ED-4DB2-BD59-A6C34878D82A}">
                    <a16:rowId xmlns:a16="http://schemas.microsoft.com/office/drawing/2014/main" val="1702441939"/>
                  </a:ext>
                </a:extLst>
              </a:tr>
            </a:tbl>
          </a:graphicData>
        </a:graphic>
      </p:graphicFrame>
      <p:sp>
        <p:nvSpPr>
          <p:cNvPr id="5" name="Slide Number Placeholder 1">
            <a:extLst>
              <a:ext uri="{FF2B5EF4-FFF2-40B4-BE49-F238E27FC236}">
                <a16:creationId xmlns:a16="http://schemas.microsoft.com/office/drawing/2014/main" id="{9EAE9372-88D8-E720-6630-B992FD354372}"/>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14</a:t>
            </a:fld>
            <a:endParaRPr lang="en-US"/>
          </a:p>
        </p:txBody>
      </p:sp>
      <p:sp>
        <p:nvSpPr>
          <p:cNvPr id="6" name="TextBox 5">
            <a:extLst>
              <a:ext uri="{FF2B5EF4-FFF2-40B4-BE49-F238E27FC236}">
                <a16:creationId xmlns:a16="http://schemas.microsoft.com/office/drawing/2014/main" id="{554264EE-E1E9-C241-6804-5C9AC244A3F2}"/>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9">
            <a:extLst>
              <a:ext uri="{FF2B5EF4-FFF2-40B4-BE49-F238E27FC236}">
                <a16:creationId xmlns:a16="http://schemas.microsoft.com/office/drawing/2014/main" id="{DB48FF2E-8A68-6591-51C9-EA6AD727F2CE}"/>
              </a:ext>
            </a:extLst>
          </p:cNvPr>
          <p:cNvSpPr>
            <a:spLocks noGrp="1"/>
          </p:cNvSpPr>
          <p:nvPr>
            <p:ph type="title"/>
          </p:nvPr>
        </p:nvSpPr>
        <p:spPr/>
        <p:txBody>
          <a:bodyPr/>
          <a:lstStyle/>
          <a:p>
            <a:r>
              <a:rPr lang="en-US"/>
              <a:t>Hong Kong – #1 IPO Venue Globally in 2026 Q1</a:t>
            </a:r>
          </a:p>
        </p:txBody>
      </p:sp>
      <p:sp>
        <p:nvSpPr>
          <p:cNvPr id="6" name="Text Placeholder 5">
            <a:extLst>
              <a:ext uri="{FF2B5EF4-FFF2-40B4-BE49-F238E27FC236}">
                <a16:creationId xmlns:a16="http://schemas.microsoft.com/office/drawing/2014/main" id="{8A925480-F60C-A033-F7A5-0EED359F1391}"/>
              </a:ext>
            </a:extLst>
          </p:cNvPr>
          <p:cNvSpPr>
            <a:spLocks noGrp="1"/>
          </p:cNvSpPr>
          <p:nvPr>
            <p:ph type="body" sz="quarter" idx="46"/>
          </p:nvPr>
        </p:nvSpPr>
        <p:spPr>
          <a:xfrm>
            <a:off x="1374120" y="6444764"/>
            <a:ext cx="8100000" cy="360000"/>
          </a:xfrm>
        </p:spPr>
        <p:txBody>
          <a:bodyPr anchor="b"/>
          <a:lstStyle/>
          <a:p>
            <a:pPr marL="0" indent="0">
              <a:buNone/>
            </a:pPr>
            <a:r>
              <a:rPr lang="en-US" sz="800"/>
              <a:t>Sources: Bloomberg and Dealogic as of 31 Mar 2026 </a:t>
            </a:r>
          </a:p>
          <a:p>
            <a:r>
              <a:rPr lang="en-US" sz="800"/>
              <a:t>Excludes SPAC IPOs</a:t>
            </a:r>
          </a:p>
          <a:p>
            <a:r>
              <a:rPr lang="en-US" sz="800"/>
              <a:t>Includes HK IPOs with deal size of US$100mm or above</a:t>
            </a:r>
          </a:p>
          <a:p>
            <a:r>
              <a:rPr lang="en-US" sz="800"/>
              <a:t>Represents aftermarket performance since listing if less than 1 month of listing history</a:t>
            </a:r>
          </a:p>
          <a:p>
            <a:r>
              <a:rPr lang="en-US" sz="800"/>
              <a:t>Includes HK IPOs with deal size of US$50mm or above</a:t>
            </a:r>
          </a:p>
          <a:p>
            <a:r>
              <a:rPr lang="en-US" sz="800"/>
              <a:t>ADT since listing if less than 3 month of listing history</a:t>
            </a:r>
          </a:p>
          <a:p>
            <a:r>
              <a:rPr lang="en-US" sz="800"/>
              <a:t>PCB: Printed Circuit Board</a:t>
            </a:r>
          </a:p>
          <a:p>
            <a:r>
              <a:rPr lang="en-US" sz="800"/>
              <a:t>LLM: Large Language Model</a:t>
            </a:r>
            <a:endParaRPr lang="en-GB" sz="800"/>
          </a:p>
        </p:txBody>
      </p:sp>
      <p:sp>
        <p:nvSpPr>
          <p:cNvPr id="20" name="object 20"/>
          <p:cNvSpPr txBox="1"/>
          <p:nvPr/>
        </p:nvSpPr>
        <p:spPr>
          <a:xfrm>
            <a:off x="963472" y="483906"/>
            <a:ext cx="3277870" cy="136576"/>
          </a:xfrm>
          <a:prstGeom prst="rect">
            <a:avLst/>
          </a:prstGeom>
        </p:spPr>
        <p:txBody>
          <a:bodyPr vert="horz" wrap="square" lIns="0" tIns="13335" rIns="0" bIns="0" rtlCol="0">
            <a:spAutoFit/>
          </a:bodyPr>
          <a:lstStyle/>
          <a:p>
            <a:pPr>
              <a:spcBef>
                <a:spcPts val="105"/>
              </a:spcBef>
              <a:tabLst>
                <a:tab pos="3235960" algn="l"/>
              </a:tabLst>
            </a:pPr>
            <a:r>
              <a:rPr sz="1200" spc="-75" baseline="3472">
                <a:solidFill>
                  <a:srgbClr val="FFFFFF"/>
                </a:solidFill>
                <a:latin typeface="Arial"/>
                <a:cs typeface="Arial"/>
              </a:rPr>
              <a:t>.</a:t>
            </a:r>
            <a:r>
              <a:rPr sz="1200" baseline="3472">
                <a:solidFill>
                  <a:srgbClr val="FFFFFF"/>
                </a:solidFill>
                <a:latin typeface="Arial"/>
                <a:cs typeface="Arial"/>
              </a:rPr>
              <a:t>	</a:t>
            </a:r>
            <a:r>
              <a:rPr sz="800" spc="-50">
                <a:solidFill>
                  <a:srgbClr val="FFFFFF"/>
                </a:solidFill>
                <a:latin typeface="Arial"/>
                <a:cs typeface="Arial"/>
              </a:rPr>
              <a:t>.</a:t>
            </a:r>
            <a:endParaRPr sz="800">
              <a:latin typeface="Arial"/>
              <a:cs typeface="Arial"/>
            </a:endParaRPr>
          </a:p>
        </p:txBody>
      </p:sp>
      <p:graphicFrame>
        <p:nvGraphicFramePr>
          <p:cNvPr id="32" name="object 32"/>
          <p:cNvGraphicFramePr>
            <a:graphicFrameLocks noGrp="1"/>
          </p:cNvGraphicFramePr>
          <p:nvPr>
            <p:extLst>
              <p:ext uri="{D42A27DB-BD31-4B8C-83A1-F6EECF244321}">
                <p14:modId xmlns:p14="http://schemas.microsoft.com/office/powerpoint/2010/main" val="3808847596"/>
              </p:ext>
            </p:extLst>
          </p:nvPr>
        </p:nvGraphicFramePr>
        <p:xfrm>
          <a:off x="4088535" y="3353726"/>
          <a:ext cx="5364465" cy="2345522"/>
        </p:xfrm>
        <a:graphic>
          <a:graphicData uri="http://schemas.openxmlformats.org/drawingml/2006/table">
            <a:tbl>
              <a:tblPr firstRow="1" bandRow="1">
                <a:tableStyleId>{2D5ABB26-0587-4C30-8999-92F81FD0307C}</a:tableStyleId>
              </a:tblPr>
              <a:tblGrid>
                <a:gridCol w="1449291">
                  <a:extLst>
                    <a:ext uri="{9D8B030D-6E8A-4147-A177-3AD203B41FA5}">
                      <a16:colId xmlns:a16="http://schemas.microsoft.com/office/drawing/2014/main" val="20000"/>
                    </a:ext>
                  </a:extLst>
                </a:gridCol>
                <a:gridCol w="611971">
                  <a:extLst>
                    <a:ext uri="{9D8B030D-6E8A-4147-A177-3AD203B41FA5}">
                      <a16:colId xmlns:a16="http://schemas.microsoft.com/office/drawing/2014/main" val="20001"/>
                    </a:ext>
                  </a:extLst>
                </a:gridCol>
                <a:gridCol w="3303203">
                  <a:extLst>
                    <a:ext uri="{9D8B030D-6E8A-4147-A177-3AD203B41FA5}">
                      <a16:colId xmlns:a16="http://schemas.microsoft.com/office/drawing/2014/main" val="20002"/>
                    </a:ext>
                  </a:extLst>
                </a:gridCol>
              </a:tblGrid>
              <a:tr h="308563">
                <a:tc>
                  <a:txBody>
                    <a:bodyPr/>
                    <a:lstStyle/>
                    <a:p>
                      <a:pPr>
                        <a:lnSpc>
                          <a:spcPts val="915"/>
                        </a:lnSpc>
                        <a:tabLst>
                          <a:tab pos="799465" algn="l"/>
                        </a:tabLst>
                      </a:pPr>
                      <a:r>
                        <a:rPr sz="1200" baseline="24305">
                          <a:solidFill>
                            <a:schemeClr val="tx1"/>
                          </a:solidFill>
                          <a:latin typeface="Arial"/>
                          <a:cs typeface="Arial"/>
                        </a:rPr>
                        <a:t>.</a:t>
                      </a:r>
                      <a:r>
                        <a:rPr sz="1200" spc="382" baseline="24305">
                          <a:solidFill>
                            <a:schemeClr val="tx1"/>
                          </a:solidFill>
                          <a:latin typeface="Arial"/>
                          <a:cs typeface="Arial"/>
                        </a:rPr>
                        <a:t>  </a:t>
                      </a:r>
                      <a:r>
                        <a:rPr sz="700" b="1" u="sng" spc="-10">
                          <a:solidFill>
                            <a:schemeClr val="tx1"/>
                          </a:solidFill>
                          <a:uFill>
                            <a:solidFill>
                              <a:srgbClr val="12426B"/>
                            </a:solidFill>
                          </a:uFill>
                          <a:latin typeface="Arial"/>
                          <a:cs typeface="Arial"/>
                        </a:rPr>
                        <a:t>Company</a:t>
                      </a:r>
                      <a:r>
                        <a:rPr sz="700" b="1" u="none">
                          <a:solidFill>
                            <a:schemeClr val="tx1"/>
                          </a:solidFill>
                          <a:latin typeface="Arial"/>
                          <a:cs typeface="Arial"/>
                        </a:rPr>
                        <a:t>	</a:t>
                      </a:r>
                      <a:r>
                        <a:rPr sz="700" b="1" u="sng">
                          <a:solidFill>
                            <a:schemeClr val="tx1"/>
                          </a:solidFill>
                          <a:uFill>
                            <a:solidFill>
                              <a:srgbClr val="12426B"/>
                            </a:solidFill>
                          </a:uFill>
                          <a:latin typeface="Arial"/>
                          <a:cs typeface="Arial"/>
                        </a:rPr>
                        <a:t>Deal</a:t>
                      </a:r>
                      <a:r>
                        <a:rPr sz="700" b="1" u="sng" spc="-10">
                          <a:solidFill>
                            <a:schemeClr val="tx1"/>
                          </a:solidFill>
                          <a:uFill>
                            <a:solidFill>
                              <a:srgbClr val="12426B"/>
                            </a:solidFill>
                          </a:uFill>
                          <a:latin typeface="Arial"/>
                          <a:cs typeface="Arial"/>
                        </a:rPr>
                        <a:t> </a:t>
                      </a:r>
                      <a:r>
                        <a:rPr sz="700" b="1" u="sng" spc="-20">
                          <a:solidFill>
                            <a:schemeClr val="tx1"/>
                          </a:solidFill>
                          <a:uFill>
                            <a:solidFill>
                              <a:srgbClr val="12426B"/>
                            </a:solidFill>
                          </a:uFill>
                          <a:latin typeface="Arial"/>
                          <a:cs typeface="Arial"/>
                        </a:rPr>
                        <a:t>Size</a:t>
                      </a:r>
                      <a:endParaRPr sz="700">
                        <a:solidFill>
                          <a:schemeClr val="tx1"/>
                        </a:solidFill>
                        <a:latin typeface="Arial"/>
                        <a:cs typeface="Arial"/>
                      </a:endParaRPr>
                    </a:p>
                    <a:p>
                      <a:pPr marL="782955">
                        <a:lnSpc>
                          <a:spcPct val="100000"/>
                        </a:lnSpc>
                        <a:spcBef>
                          <a:spcPts val="35"/>
                        </a:spcBef>
                      </a:pPr>
                      <a:r>
                        <a:rPr sz="700" spc="-10">
                          <a:solidFill>
                            <a:schemeClr val="tx1"/>
                          </a:solidFill>
                          <a:latin typeface="Arial"/>
                          <a:cs typeface="Arial"/>
                        </a:rPr>
                        <a:t>US$1.5bn</a:t>
                      </a:r>
                      <a:endParaRPr sz="700">
                        <a:solidFill>
                          <a:schemeClr val="tx1"/>
                        </a:solidFill>
                        <a:latin typeface="Arial"/>
                        <a:cs typeface="Arial"/>
                      </a:endParaRPr>
                    </a:p>
                  </a:txBody>
                  <a:tcPr marL="0" marR="0" marT="0" marB="0">
                    <a:lnL w="12700" cap="flat" cmpd="sng" algn="ctr">
                      <a:solidFill>
                        <a:srgbClr val="089C8B"/>
                      </a:solidFill>
                      <a:prstDash val="solid"/>
                      <a:round/>
                      <a:headEnd type="none" w="med" len="med"/>
                      <a:tailEnd type="none" w="med" len="med"/>
                    </a:lnL>
                    <a:lnR>
                      <a:noFill/>
                    </a:lnR>
                    <a:lnT w="12700" cap="flat" cmpd="sng" algn="ctr">
                      <a:solidFill>
                        <a:srgbClr val="089C8B"/>
                      </a:solidFill>
                      <a:prstDash val="solid"/>
                      <a:round/>
                      <a:headEnd type="none" w="med" len="med"/>
                      <a:tailEnd type="none" w="med" len="med"/>
                    </a:lnT>
                    <a:lnB w="3175">
                      <a:noFill/>
                      <a:prstDash val="lgDash"/>
                    </a:lnB>
                    <a:lnTlToBr w="12700" cmpd="sng">
                      <a:noFill/>
                      <a:prstDash val="solid"/>
                    </a:lnTlToBr>
                    <a:lnBlToTr w="12700" cmpd="sng">
                      <a:noFill/>
                      <a:prstDash val="solid"/>
                    </a:lnBlToTr>
                    <a:solidFill>
                      <a:srgbClr val="FFFFFF"/>
                    </a:solidFill>
                  </a:tcPr>
                </a:tc>
                <a:tc>
                  <a:txBody>
                    <a:bodyPr/>
                    <a:lstStyle/>
                    <a:p>
                      <a:pPr marL="3810" algn="ctr">
                        <a:lnSpc>
                          <a:spcPct val="100000"/>
                        </a:lnSpc>
                        <a:spcBef>
                          <a:spcPts val="55"/>
                        </a:spcBef>
                      </a:pPr>
                      <a:r>
                        <a:rPr sz="700" b="1" u="sng" spc="-10">
                          <a:solidFill>
                            <a:schemeClr val="tx1"/>
                          </a:solidFill>
                          <a:uFill>
                            <a:solidFill>
                              <a:srgbClr val="12426B"/>
                            </a:solidFill>
                          </a:uFill>
                          <a:latin typeface="Arial"/>
                          <a:cs typeface="Arial"/>
                        </a:rPr>
                        <a:t>Sector</a:t>
                      </a:r>
                      <a:endParaRPr sz="700">
                        <a:solidFill>
                          <a:schemeClr val="tx1"/>
                        </a:solidFill>
                        <a:latin typeface="Arial"/>
                        <a:cs typeface="Arial"/>
                      </a:endParaRPr>
                    </a:p>
                    <a:p>
                      <a:pPr algn="ctr">
                        <a:lnSpc>
                          <a:spcPct val="100000"/>
                        </a:lnSpc>
                        <a:spcBef>
                          <a:spcPts val="20"/>
                        </a:spcBef>
                      </a:pPr>
                      <a:r>
                        <a:rPr sz="700" spc="-10">
                          <a:solidFill>
                            <a:schemeClr val="tx1"/>
                          </a:solidFill>
                          <a:latin typeface="Arial"/>
                          <a:cs typeface="Arial"/>
                        </a:rPr>
                        <a:t>Consumer</a:t>
                      </a:r>
                      <a:endParaRPr sz="700">
                        <a:solidFill>
                          <a:schemeClr val="tx1"/>
                        </a:solidFill>
                        <a:latin typeface="Arial"/>
                        <a:cs typeface="Arial"/>
                      </a:endParaRPr>
                    </a:p>
                  </a:txBody>
                  <a:tcPr marL="0" marR="0" marT="6985" marB="0">
                    <a:lnL>
                      <a:noFill/>
                    </a:lnL>
                    <a:lnR>
                      <a:noFill/>
                    </a:lnR>
                    <a:lnT w="12700" cap="flat" cmpd="sng" algn="ctr">
                      <a:solidFill>
                        <a:srgbClr val="089C8B"/>
                      </a:solidFill>
                      <a:prstDash val="solid"/>
                      <a:round/>
                      <a:headEnd type="none" w="med" len="med"/>
                      <a:tailEnd type="none" w="med" len="med"/>
                    </a:lnT>
                    <a:lnB w="3175">
                      <a:noFill/>
                      <a:prstDash val="lgDash"/>
                    </a:lnB>
                    <a:lnTlToBr w="12700" cmpd="sng">
                      <a:noFill/>
                      <a:prstDash val="solid"/>
                    </a:lnTlToBr>
                    <a:lnBlToTr w="12700" cmpd="sng">
                      <a:noFill/>
                      <a:prstDash val="solid"/>
                    </a:lnBlToTr>
                    <a:solidFill>
                      <a:srgbClr val="FFFFFF"/>
                    </a:solidFill>
                  </a:tcPr>
                </a:tc>
                <a:tc>
                  <a:txBody>
                    <a:bodyPr/>
                    <a:lstStyle/>
                    <a:p>
                      <a:pPr marL="67310">
                        <a:lnSpc>
                          <a:spcPct val="100000"/>
                        </a:lnSpc>
                        <a:spcBef>
                          <a:spcPts val="55"/>
                        </a:spcBef>
                      </a:pPr>
                      <a:r>
                        <a:rPr sz="700" b="1" u="sng">
                          <a:solidFill>
                            <a:schemeClr val="tx1"/>
                          </a:solidFill>
                          <a:uFill>
                            <a:solidFill>
                              <a:srgbClr val="12426B"/>
                            </a:solidFill>
                          </a:uFill>
                          <a:latin typeface="Arial"/>
                          <a:cs typeface="Arial"/>
                        </a:rPr>
                        <a:t>Deal</a:t>
                      </a:r>
                      <a:r>
                        <a:rPr sz="700" b="1" u="sng" spc="-10">
                          <a:solidFill>
                            <a:schemeClr val="tx1"/>
                          </a:solidFill>
                          <a:uFill>
                            <a:solidFill>
                              <a:srgbClr val="12426B"/>
                            </a:solidFill>
                          </a:uFill>
                          <a:latin typeface="Arial"/>
                          <a:cs typeface="Arial"/>
                        </a:rPr>
                        <a:t> Highlights</a:t>
                      </a:r>
                      <a:endParaRPr sz="700">
                        <a:solidFill>
                          <a:schemeClr val="tx1"/>
                        </a:solidFill>
                        <a:latin typeface="Arial"/>
                        <a:cs typeface="Arial"/>
                      </a:endParaRPr>
                    </a:p>
                    <a:p>
                      <a:pPr marL="68580">
                        <a:lnSpc>
                          <a:spcPct val="100000"/>
                        </a:lnSpc>
                        <a:spcBef>
                          <a:spcPts val="20"/>
                        </a:spcBef>
                      </a:pPr>
                      <a:r>
                        <a:rPr sz="700" b="1">
                          <a:solidFill>
                            <a:schemeClr val="tx1"/>
                          </a:solidFill>
                          <a:latin typeface="Arial"/>
                          <a:cs typeface="Arial"/>
                        </a:rPr>
                        <a:t>Second</a:t>
                      </a:r>
                      <a:r>
                        <a:rPr sz="700" b="1" spc="-15">
                          <a:solidFill>
                            <a:schemeClr val="tx1"/>
                          </a:solidFill>
                          <a:latin typeface="Arial"/>
                          <a:cs typeface="Arial"/>
                        </a:rPr>
                        <a:t> </a:t>
                      </a:r>
                      <a:r>
                        <a:rPr sz="700" b="1">
                          <a:solidFill>
                            <a:schemeClr val="tx1"/>
                          </a:solidFill>
                          <a:latin typeface="Arial"/>
                          <a:cs typeface="Arial"/>
                        </a:rPr>
                        <a:t>largest</a:t>
                      </a:r>
                      <a:r>
                        <a:rPr sz="700" b="1" spc="5">
                          <a:solidFill>
                            <a:schemeClr val="tx1"/>
                          </a:solidFill>
                          <a:latin typeface="Arial"/>
                          <a:cs typeface="Arial"/>
                        </a:rPr>
                        <a:t> </a:t>
                      </a:r>
                      <a:r>
                        <a:rPr sz="700">
                          <a:solidFill>
                            <a:schemeClr val="tx1"/>
                          </a:solidFill>
                          <a:latin typeface="Arial"/>
                          <a:cs typeface="Arial"/>
                        </a:rPr>
                        <a:t>consumer</a:t>
                      </a:r>
                      <a:r>
                        <a:rPr sz="700" spc="5">
                          <a:solidFill>
                            <a:schemeClr val="tx1"/>
                          </a:solidFill>
                          <a:latin typeface="Arial"/>
                          <a:cs typeface="Arial"/>
                        </a:rPr>
                        <a:t> </a:t>
                      </a:r>
                      <a:r>
                        <a:rPr sz="700">
                          <a:solidFill>
                            <a:schemeClr val="tx1"/>
                          </a:solidFill>
                          <a:latin typeface="Arial"/>
                          <a:cs typeface="Arial"/>
                        </a:rPr>
                        <a:t>IPO</a:t>
                      </a:r>
                      <a:r>
                        <a:rPr sz="700" spc="5">
                          <a:solidFill>
                            <a:schemeClr val="tx1"/>
                          </a:solidFill>
                          <a:latin typeface="Arial"/>
                          <a:cs typeface="Arial"/>
                        </a:rPr>
                        <a:t> </a:t>
                      </a:r>
                      <a:r>
                        <a:rPr sz="700">
                          <a:solidFill>
                            <a:schemeClr val="tx1"/>
                          </a:solidFill>
                          <a:latin typeface="Arial"/>
                          <a:cs typeface="Arial"/>
                        </a:rPr>
                        <a:t>in</a:t>
                      </a:r>
                      <a:r>
                        <a:rPr sz="700" spc="-25">
                          <a:solidFill>
                            <a:schemeClr val="tx1"/>
                          </a:solidFill>
                          <a:latin typeface="Arial"/>
                          <a:cs typeface="Arial"/>
                        </a:rPr>
                        <a:t> </a:t>
                      </a:r>
                      <a:r>
                        <a:rPr sz="700">
                          <a:solidFill>
                            <a:schemeClr val="tx1"/>
                          </a:solidFill>
                          <a:latin typeface="Arial"/>
                          <a:cs typeface="Arial"/>
                        </a:rPr>
                        <a:t>Asia</a:t>
                      </a:r>
                      <a:r>
                        <a:rPr sz="700" spc="-15">
                          <a:solidFill>
                            <a:schemeClr val="tx1"/>
                          </a:solidFill>
                          <a:latin typeface="Arial"/>
                          <a:cs typeface="Arial"/>
                        </a:rPr>
                        <a:t> </a:t>
                      </a:r>
                      <a:r>
                        <a:rPr sz="700">
                          <a:solidFill>
                            <a:schemeClr val="tx1"/>
                          </a:solidFill>
                          <a:latin typeface="Arial"/>
                          <a:cs typeface="Arial"/>
                        </a:rPr>
                        <a:t>in</a:t>
                      </a:r>
                      <a:r>
                        <a:rPr sz="700" spc="-30">
                          <a:solidFill>
                            <a:schemeClr val="tx1"/>
                          </a:solidFill>
                          <a:latin typeface="Arial"/>
                          <a:cs typeface="Arial"/>
                        </a:rPr>
                        <a:t> </a:t>
                      </a:r>
                      <a:r>
                        <a:rPr sz="700">
                          <a:solidFill>
                            <a:schemeClr val="tx1"/>
                          </a:solidFill>
                          <a:latin typeface="Arial"/>
                          <a:cs typeface="Arial"/>
                        </a:rPr>
                        <a:t>the</a:t>
                      </a:r>
                      <a:r>
                        <a:rPr sz="700" spc="-5">
                          <a:solidFill>
                            <a:schemeClr val="tx1"/>
                          </a:solidFill>
                          <a:latin typeface="Arial"/>
                          <a:cs typeface="Arial"/>
                        </a:rPr>
                        <a:t> </a:t>
                      </a:r>
                      <a:r>
                        <a:rPr sz="700">
                          <a:solidFill>
                            <a:schemeClr val="tx1"/>
                          </a:solidFill>
                          <a:latin typeface="Arial"/>
                          <a:cs typeface="Arial"/>
                        </a:rPr>
                        <a:t>last</a:t>
                      </a:r>
                      <a:r>
                        <a:rPr sz="700" spc="-15">
                          <a:solidFill>
                            <a:schemeClr val="tx1"/>
                          </a:solidFill>
                          <a:latin typeface="Arial"/>
                          <a:cs typeface="Arial"/>
                        </a:rPr>
                        <a:t> </a:t>
                      </a:r>
                      <a:r>
                        <a:rPr sz="700">
                          <a:solidFill>
                            <a:schemeClr val="tx1"/>
                          </a:solidFill>
                          <a:latin typeface="Arial"/>
                          <a:cs typeface="Arial"/>
                        </a:rPr>
                        <a:t>5</a:t>
                      </a:r>
                      <a:r>
                        <a:rPr sz="700" spc="-20">
                          <a:solidFill>
                            <a:schemeClr val="tx1"/>
                          </a:solidFill>
                          <a:latin typeface="Arial"/>
                          <a:cs typeface="Arial"/>
                        </a:rPr>
                        <a:t> years</a:t>
                      </a:r>
                      <a:endParaRPr sz="700">
                        <a:solidFill>
                          <a:schemeClr val="tx1"/>
                        </a:solidFill>
                        <a:latin typeface="Arial"/>
                        <a:cs typeface="Arial"/>
                      </a:endParaRPr>
                    </a:p>
                  </a:txBody>
                  <a:tcPr marL="0" marR="0" marT="6985" marB="0">
                    <a:lnL>
                      <a:noFill/>
                    </a:lnL>
                    <a:lnR w="12700" cap="flat" cmpd="sng" algn="ctr">
                      <a:solidFill>
                        <a:srgbClr val="089C8B"/>
                      </a:solidFill>
                      <a:prstDash val="solid"/>
                      <a:round/>
                      <a:headEnd type="none" w="med" len="med"/>
                      <a:tailEnd type="none" w="med" len="med"/>
                    </a:lnR>
                    <a:lnT w="12700" cap="flat" cmpd="sng" algn="ctr">
                      <a:solidFill>
                        <a:srgbClr val="089C8B"/>
                      </a:solidFill>
                      <a:prstDash val="solid"/>
                      <a:round/>
                      <a:headEnd type="none" w="med" len="med"/>
                      <a:tailEnd type="none" w="med" len="med"/>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226329">
                <a:tc>
                  <a:txBody>
                    <a:bodyPr/>
                    <a:lstStyle/>
                    <a:p>
                      <a:pPr marR="94615" algn="r">
                        <a:lnSpc>
                          <a:spcPct val="100000"/>
                        </a:lnSpc>
                        <a:spcBef>
                          <a:spcPts val="390"/>
                        </a:spcBef>
                      </a:pPr>
                      <a:r>
                        <a:rPr sz="700" spc="-10">
                          <a:solidFill>
                            <a:schemeClr val="tx1"/>
                          </a:solidFill>
                          <a:latin typeface="Arial"/>
                          <a:cs typeface="Arial"/>
                        </a:rPr>
                        <a:t>US$1.4bn</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10">
                          <a:solidFill>
                            <a:schemeClr val="tx1"/>
                          </a:solidFill>
                          <a:latin typeface="Arial"/>
                          <a:cs typeface="Arial"/>
                        </a:rPr>
                        <a:t>Consumer</a:t>
                      </a:r>
                      <a:endParaRPr sz="700">
                        <a:solidFill>
                          <a:schemeClr val="tx1"/>
                        </a:solidFill>
                        <a:latin typeface="Arial"/>
                        <a:cs typeface="Arial"/>
                      </a:endParaRPr>
                    </a:p>
                  </a:txBody>
                  <a:tcPr marL="0" marR="0" marT="44450" marB="0">
                    <a:lnL>
                      <a:noFill/>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Largest</a:t>
                      </a:r>
                      <a:r>
                        <a:rPr sz="700" b="1" spc="5">
                          <a:solidFill>
                            <a:schemeClr val="tx1"/>
                          </a:solidFill>
                          <a:latin typeface="Arial"/>
                          <a:cs typeface="Arial"/>
                        </a:rPr>
                        <a:t> </a:t>
                      </a:r>
                      <a:r>
                        <a:rPr sz="700">
                          <a:solidFill>
                            <a:schemeClr val="tx1"/>
                          </a:solidFill>
                          <a:latin typeface="Arial"/>
                          <a:cs typeface="Arial"/>
                        </a:rPr>
                        <a:t>beverage IPO</a:t>
                      </a:r>
                      <a:r>
                        <a:rPr sz="700" spc="5">
                          <a:solidFill>
                            <a:schemeClr val="tx1"/>
                          </a:solidFill>
                          <a:latin typeface="Arial"/>
                          <a:cs typeface="Arial"/>
                        </a:rPr>
                        <a:t> </a:t>
                      </a:r>
                      <a:r>
                        <a:rPr sz="700">
                          <a:solidFill>
                            <a:schemeClr val="tx1"/>
                          </a:solidFill>
                          <a:latin typeface="Arial"/>
                          <a:cs typeface="Arial"/>
                        </a:rPr>
                        <a:t>in</a:t>
                      </a:r>
                      <a:r>
                        <a:rPr sz="700" spc="-20">
                          <a:solidFill>
                            <a:schemeClr val="tx1"/>
                          </a:solidFill>
                          <a:latin typeface="Arial"/>
                          <a:cs typeface="Arial"/>
                        </a:rPr>
                        <a:t> </a:t>
                      </a:r>
                      <a:r>
                        <a:rPr sz="700">
                          <a:solidFill>
                            <a:schemeClr val="tx1"/>
                          </a:solidFill>
                          <a:latin typeface="Arial"/>
                          <a:cs typeface="Arial"/>
                        </a:rPr>
                        <a:t>Asia</a:t>
                      </a:r>
                      <a:r>
                        <a:rPr sz="700" spc="-25">
                          <a:solidFill>
                            <a:schemeClr val="tx1"/>
                          </a:solidFill>
                          <a:latin typeface="Arial"/>
                          <a:cs typeface="Arial"/>
                        </a:rPr>
                        <a:t> </a:t>
                      </a:r>
                      <a:r>
                        <a:rPr sz="700">
                          <a:solidFill>
                            <a:schemeClr val="tx1"/>
                          </a:solidFill>
                          <a:latin typeface="Arial"/>
                          <a:cs typeface="Arial"/>
                        </a:rPr>
                        <a:t>in</a:t>
                      </a:r>
                      <a:r>
                        <a:rPr sz="700" spc="-25">
                          <a:solidFill>
                            <a:schemeClr val="tx1"/>
                          </a:solidFill>
                          <a:latin typeface="Arial"/>
                          <a:cs typeface="Arial"/>
                        </a:rPr>
                        <a:t> </a:t>
                      </a:r>
                      <a:r>
                        <a:rPr sz="700" spc="-10">
                          <a:solidFill>
                            <a:schemeClr val="tx1"/>
                          </a:solidFill>
                          <a:latin typeface="Arial"/>
                          <a:cs typeface="Arial"/>
                        </a:rPr>
                        <a:t>2026YTD</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226329">
                <a:tc>
                  <a:txBody>
                    <a:bodyPr/>
                    <a:lstStyle/>
                    <a:p>
                      <a:pPr marR="94615" algn="r">
                        <a:lnSpc>
                          <a:spcPct val="100000"/>
                        </a:lnSpc>
                        <a:spcBef>
                          <a:spcPts val="390"/>
                        </a:spcBef>
                      </a:pPr>
                      <a:r>
                        <a:rPr sz="700" spc="-10">
                          <a:solidFill>
                            <a:schemeClr val="tx1"/>
                          </a:solidFill>
                          <a:latin typeface="Arial"/>
                          <a:cs typeface="Arial"/>
                        </a:rPr>
                        <a:t>US$1.0bn</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25">
                          <a:solidFill>
                            <a:schemeClr val="tx1"/>
                          </a:solidFill>
                          <a:latin typeface="Arial"/>
                          <a:cs typeface="Arial"/>
                        </a:rPr>
                        <a:t>TMT</a:t>
                      </a:r>
                      <a:endParaRPr sz="700">
                        <a:solidFill>
                          <a:schemeClr val="tx1"/>
                        </a:solidFill>
                        <a:latin typeface="Arial"/>
                        <a:cs typeface="Arial"/>
                      </a:endParaRPr>
                    </a:p>
                  </a:txBody>
                  <a:tcPr marL="0" marR="0" marT="44450" marB="0">
                    <a:lnL>
                      <a:noFill/>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Largest</a:t>
                      </a:r>
                      <a:r>
                        <a:rPr sz="700" b="1" spc="15">
                          <a:solidFill>
                            <a:schemeClr val="tx1"/>
                          </a:solidFill>
                          <a:latin typeface="Arial"/>
                          <a:cs typeface="Arial"/>
                        </a:rPr>
                        <a:t> </a:t>
                      </a:r>
                      <a:r>
                        <a:rPr sz="700" spc="-10">
                          <a:solidFill>
                            <a:schemeClr val="tx1"/>
                          </a:solidFill>
                          <a:latin typeface="Arial"/>
                          <a:cs typeface="Arial"/>
                        </a:rPr>
                        <a:t>semiconductor</a:t>
                      </a:r>
                      <a:r>
                        <a:rPr sz="700" spc="25">
                          <a:solidFill>
                            <a:schemeClr val="tx1"/>
                          </a:solidFill>
                          <a:latin typeface="Arial"/>
                          <a:cs typeface="Arial"/>
                        </a:rPr>
                        <a:t> </a:t>
                      </a:r>
                      <a:r>
                        <a:rPr sz="700">
                          <a:solidFill>
                            <a:schemeClr val="tx1"/>
                          </a:solidFill>
                          <a:latin typeface="Arial"/>
                          <a:cs typeface="Arial"/>
                        </a:rPr>
                        <a:t>HK</a:t>
                      </a:r>
                      <a:r>
                        <a:rPr sz="700" spc="-10">
                          <a:solidFill>
                            <a:schemeClr val="tx1"/>
                          </a:solidFill>
                          <a:latin typeface="Arial"/>
                          <a:cs typeface="Arial"/>
                        </a:rPr>
                        <a:t> </a:t>
                      </a:r>
                      <a:r>
                        <a:rPr sz="700">
                          <a:solidFill>
                            <a:schemeClr val="tx1"/>
                          </a:solidFill>
                          <a:latin typeface="Arial"/>
                          <a:cs typeface="Arial"/>
                        </a:rPr>
                        <a:t>IPO</a:t>
                      </a:r>
                      <a:r>
                        <a:rPr sz="700" spc="5">
                          <a:solidFill>
                            <a:schemeClr val="tx1"/>
                          </a:solidFill>
                          <a:latin typeface="Arial"/>
                          <a:cs typeface="Arial"/>
                        </a:rPr>
                        <a:t> </a:t>
                      </a:r>
                      <a:r>
                        <a:rPr sz="700">
                          <a:solidFill>
                            <a:schemeClr val="tx1"/>
                          </a:solidFill>
                          <a:latin typeface="Arial"/>
                          <a:cs typeface="Arial"/>
                        </a:rPr>
                        <a:t>in</a:t>
                      </a:r>
                      <a:r>
                        <a:rPr sz="700" spc="-5">
                          <a:solidFill>
                            <a:schemeClr val="tx1"/>
                          </a:solidFill>
                          <a:latin typeface="Arial"/>
                          <a:cs typeface="Arial"/>
                        </a:rPr>
                        <a:t> </a:t>
                      </a:r>
                      <a:r>
                        <a:rPr sz="700">
                          <a:solidFill>
                            <a:schemeClr val="tx1"/>
                          </a:solidFill>
                          <a:latin typeface="Arial"/>
                          <a:cs typeface="Arial"/>
                        </a:rPr>
                        <a:t>the</a:t>
                      </a:r>
                      <a:r>
                        <a:rPr sz="700" spc="5">
                          <a:solidFill>
                            <a:schemeClr val="tx1"/>
                          </a:solidFill>
                          <a:latin typeface="Arial"/>
                          <a:cs typeface="Arial"/>
                        </a:rPr>
                        <a:t> </a:t>
                      </a:r>
                      <a:r>
                        <a:rPr sz="700">
                          <a:solidFill>
                            <a:schemeClr val="tx1"/>
                          </a:solidFill>
                          <a:latin typeface="Arial"/>
                          <a:cs typeface="Arial"/>
                        </a:rPr>
                        <a:t>last</a:t>
                      </a:r>
                      <a:r>
                        <a:rPr sz="700" spc="-10">
                          <a:solidFill>
                            <a:schemeClr val="tx1"/>
                          </a:solidFill>
                          <a:latin typeface="Arial"/>
                          <a:cs typeface="Arial"/>
                        </a:rPr>
                        <a:t> </a:t>
                      </a:r>
                      <a:r>
                        <a:rPr sz="700">
                          <a:solidFill>
                            <a:schemeClr val="tx1"/>
                          </a:solidFill>
                          <a:latin typeface="Arial"/>
                          <a:cs typeface="Arial"/>
                        </a:rPr>
                        <a:t>20</a:t>
                      </a:r>
                      <a:r>
                        <a:rPr sz="700" spc="-5">
                          <a:solidFill>
                            <a:schemeClr val="tx1"/>
                          </a:solidFill>
                          <a:latin typeface="Arial"/>
                          <a:cs typeface="Arial"/>
                        </a:rPr>
                        <a:t> </a:t>
                      </a:r>
                      <a:r>
                        <a:rPr sz="700" spc="-20">
                          <a:solidFill>
                            <a:schemeClr val="tx1"/>
                          </a:solidFill>
                          <a:latin typeface="Arial"/>
                          <a:cs typeface="Arial"/>
                        </a:rPr>
                        <a:t>years</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27056">
                <a:tc>
                  <a:txBody>
                    <a:bodyPr/>
                    <a:lstStyle/>
                    <a:p>
                      <a:pPr marR="58419" algn="r">
                        <a:lnSpc>
                          <a:spcPct val="100000"/>
                        </a:lnSpc>
                        <a:spcBef>
                          <a:spcPts val="390"/>
                        </a:spcBef>
                      </a:pPr>
                      <a:r>
                        <a:rPr sz="700" spc="-10">
                          <a:solidFill>
                            <a:schemeClr val="tx1"/>
                          </a:solidFill>
                          <a:latin typeface="Arial"/>
                          <a:cs typeface="Arial"/>
                        </a:rPr>
                        <a:t>US$711mm</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25">
                          <a:solidFill>
                            <a:schemeClr val="tx1"/>
                          </a:solidFill>
                          <a:latin typeface="Arial"/>
                          <a:cs typeface="Arial"/>
                        </a:rPr>
                        <a:t>TMT</a:t>
                      </a:r>
                      <a:endParaRPr sz="700">
                        <a:solidFill>
                          <a:schemeClr val="tx1"/>
                        </a:solidFill>
                        <a:latin typeface="Arial"/>
                        <a:cs typeface="Arial"/>
                      </a:endParaRPr>
                    </a:p>
                  </a:txBody>
                  <a:tcPr marL="0" marR="0" marT="44450" marB="0">
                    <a:lnL>
                      <a:noFill/>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Largest</a:t>
                      </a:r>
                      <a:r>
                        <a:rPr sz="700" b="1" spc="-5">
                          <a:solidFill>
                            <a:schemeClr val="tx1"/>
                          </a:solidFill>
                          <a:latin typeface="Arial"/>
                          <a:cs typeface="Arial"/>
                        </a:rPr>
                        <a:t> </a:t>
                      </a:r>
                      <a:r>
                        <a:rPr sz="700" b="1">
                          <a:solidFill>
                            <a:schemeClr val="tx1"/>
                          </a:solidFill>
                          <a:latin typeface="Arial"/>
                          <a:cs typeface="Arial"/>
                        </a:rPr>
                        <a:t>ever</a:t>
                      </a:r>
                      <a:r>
                        <a:rPr sz="700" b="1" spc="10">
                          <a:solidFill>
                            <a:schemeClr val="tx1"/>
                          </a:solidFill>
                          <a:latin typeface="Arial"/>
                          <a:cs typeface="Arial"/>
                        </a:rPr>
                        <a:t> </a:t>
                      </a:r>
                      <a:r>
                        <a:rPr sz="700" b="1">
                          <a:solidFill>
                            <a:schemeClr val="tx1"/>
                          </a:solidFill>
                          <a:latin typeface="Arial"/>
                          <a:cs typeface="Arial"/>
                        </a:rPr>
                        <a:t>IPO</a:t>
                      </a:r>
                      <a:r>
                        <a:rPr sz="700" b="1" spc="-10">
                          <a:solidFill>
                            <a:schemeClr val="tx1"/>
                          </a:solidFill>
                          <a:latin typeface="Arial"/>
                          <a:cs typeface="Arial"/>
                        </a:rPr>
                        <a:t> </a:t>
                      </a:r>
                      <a:r>
                        <a:rPr sz="700">
                          <a:solidFill>
                            <a:schemeClr val="tx1"/>
                          </a:solidFill>
                          <a:latin typeface="Arial"/>
                          <a:cs typeface="Arial"/>
                        </a:rPr>
                        <a:t>globally</a:t>
                      </a:r>
                      <a:r>
                        <a:rPr sz="700" spc="-20">
                          <a:solidFill>
                            <a:schemeClr val="tx1"/>
                          </a:solidFill>
                          <a:latin typeface="Arial"/>
                          <a:cs typeface="Arial"/>
                        </a:rPr>
                        <a:t> </a:t>
                      </a:r>
                      <a:r>
                        <a:rPr sz="700">
                          <a:solidFill>
                            <a:schemeClr val="tx1"/>
                          </a:solidFill>
                          <a:latin typeface="Arial"/>
                          <a:cs typeface="Arial"/>
                        </a:rPr>
                        <a:t>for</a:t>
                      </a:r>
                      <a:r>
                        <a:rPr sz="700" spc="-10">
                          <a:solidFill>
                            <a:schemeClr val="tx1"/>
                          </a:solidFill>
                          <a:latin typeface="Arial"/>
                          <a:cs typeface="Arial"/>
                        </a:rPr>
                        <a:t> </a:t>
                      </a:r>
                      <a:r>
                        <a:rPr sz="700">
                          <a:solidFill>
                            <a:schemeClr val="tx1"/>
                          </a:solidFill>
                          <a:latin typeface="Arial"/>
                          <a:cs typeface="Arial"/>
                        </a:rPr>
                        <a:t>a</a:t>
                      </a:r>
                      <a:r>
                        <a:rPr sz="700" spc="-15">
                          <a:solidFill>
                            <a:schemeClr val="tx1"/>
                          </a:solidFill>
                          <a:latin typeface="Arial"/>
                          <a:cs typeface="Arial"/>
                        </a:rPr>
                        <a:t> </a:t>
                      </a:r>
                      <a:r>
                        <a:rPr sz="700">
                          <a:solidFill>
                            <a:schemeClr val="tx1"/>
                          </a:solidFill>
                          <a:latin typeface="Arial"/>
                          <a:cs typeface="Arial"/>
                        </a:rPr>
                        <a:t>PCB</a:t>
                      </a:r>
                      <a:r>
                        <a:rPr sz="675" baseline="24691">
                          <a:solidFill>
                            <a:schemeClr val="tx1"/>
                          </a:solidFill>
                          <a:latin typeface="Arial"/>
                          <a:cs typeface="Arial"/>
                        </a:rPr>
                        <a:t>6</a:t>
                      </a:r>
                      <a:r>
                        <a:rPr sz="675" spc="52" baseline="24691">
                          <a:solidFill>
                            <a:schemeClr val="tx1"/>
                          </a:solidFill>
                          <a:latin typeface="Arial"/>
                          <a:cs typeface="Arial"/>
                        </a:rPr>
                        <a:t> </a:t>
                      </a:r>
                      <a:r>
                        <a:rPr sz="700">
                          <a:solidFill>
                            <a:schemeClr val="tx1"/>
                          </a:solidFill>
                          <a:latin typeface="Arial"/>
                          <a:cs typeface="Arial"/>
                        </a:rPr>
                        <a:t>equipment </a:t>
                      </a:r>
                      <a:r>
                        <a:rPr sz="700" spc="-10">
                          <a:solidFill>
                            <a:schemeClr val="tx1"/>
                          </a:solidFill>
                          <a:latin typeface="Arial"/>
                          <a:cs typeface="Arial"/>
                        </a:rPr>
                        <a:t>company</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226329">
                <a:tc>
                  <a:txBody>
                    <a:bodyPr/>
                    <a:lstStyle/>
                    <a:p>
                      <a:pPr marR="58419" algn="r">
                        <a:lnSpc>
                          <a:spcPct val="100000"/>
                        </a:lnSpc>
                        <a:spcBef>
                          <a:spcPts val="390"/>
                        </a:spcBef>
                      </a:pPr>
                      <a:r>
                        <a:rPr sz="700" spc="-10">
                          <a:solidFill>
                            <a:schemeClr val="tx1"/>
                          </a:solidFill>
                          <a:latin typeface="Arial"/>
                          <a:cs typeface="Arial"/>
                        </a:rPr>
                        <a:t>US$711mm</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25">
                          <a:solidFill>
                            <a:schemeClr val="tx1"/>
                          </a:solidFill>
                          <a:latin typeface="Arial"/>
                          <a:cs typeface="Arial"/>
                        </a:rPr>
                        <a:t>TMT</a:t>
                      </a:r>
                      <a:endParaRPr sz="700">
                        <a:solidFill>
                          <a:schemeClr val="tx1"/>
                        </a:solidFill>
                        <a:latin typeface="Arial"/>
                        <a:cs typeface="Arial"/>
                      </a:endParaRPr>
                    </a:p>
                  </a:txBody>
                  <a:tcPr marL="0" marR="0" marT="44450" marB="0">
                    <a:lnL>
                      <a:noFill/>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Largest</a:t>
                      </a:r>
                      <a:r>
                        <a:rPr sz="700" b="1" spc="-5">
                          <a:solidFill>
                            <a:schemeClr val="tx1"/>
                          </a:solidFill>
                          <a:latin typeface="Arial"/>
                          <a:cs typeface="Arial"/>
                        </a:rPr>
                        <a:t> </a:t>
                      </a:r>
                      <a:r>
                        <a:rPr sz="700" b="1">
                          <a:solidFill>
                            <a:schemeClr val="tx1"/>
                          </a:solidFill>
                          <a:latin typeface="Arial"/>
                          <a:cs typeface="Arial"/>
                        </a:rPr>
                        <a:t>ever</a:t>
                      </a:r>
                      <a:r>
                        <a:rPr sz="700" b="1" spc="5">
                          <a:solidFill>
                            <a:schemeClr val="tx1"/>
                          </a:solidFill>
                          <a:latin typeface="Arial"/>
                          <a:cs typeface="Arial"/>
                        </a:rPr>
                        <a:t> </a:t>
                      </a:r>
                      <a:r>
                        <a:rPr sz="700">
                          <a:solidFill>
                            <a:schemeClr val="tx1"/>
                          </a:solidFill>
                          <a:latin typeface="Arial"/>
                          <a:cs typeface="Arial"/>
                        </a:rPr>
                        <a:t>LLM</a:t>
                      </a:r>
                      <a:r>
                        <a:rPr sz="675" baseline="24691">
                          <a:solidFill>
                            <a:schemeClr val="tx1"/>
                          </a:solidFill>
                          <a:latin typeface="Arial"/>
                          <a:cs typeface="Arial"/>
                        </a:rPr>
                        <a:t>7 </a:t>
                      </a:r>
                      <a:r>
                        <a:rPr sz="700">
                          <a:solidFill>
                            <a:schemeClr val="tx1"/>
                          </a:solidFill>
                          <a:latin typeface="Arial"/>
                          <a:cs typeface="Arial"/>
                        </a:rPr>
                        <a:t>IPO</a:t>
                      </a:r>
                      <a:r>
                        <a:rPr sz="700" spc="-5">
                          <a:solidFill>
                            <a:schemeClr val="tx1"/>
                          </a:solidFill>
                          <a:latin typeface="Arial"/>
                          <a:cs typeface="Arial"/>
                        </a:rPr>
                        <a:t> </a:t>
                      </a:r>
                      <a:r>
                        <a:rPr sz="700">
                          <a:solidFill>
                            <a:schemeClr val="tx1"/>
                          </a:solidFill>
                          <a:latin typeface="Arial"/>
                          <a:cs typeface="Arial"/>
                        </a:rPr>
                        <a:t>and</a:t>
                      </a:r>
                      <a:r>
                        <a:rPr sz="700" spc="-10">
                          <a:solidFill>
                            <a:schemeClr val="tx1"/>
                          </a:solidFill>
                          <a:latin typeface="Arial"/>
                          <a:cs typeface="Arial"/>
                        </a:rPr>
                        <a:t> </a:t>
                      </a:r>
                      <a:r>
                        <a:rPr sz="700" b="1">
                          <a:solidFill>
                            <a:schemeClr val="tx1"/>
                          </a:solidFill>
                          <a:latin typeface="Arial"/>
                          <a:cs typeface="Arial"/>
                        </a:rPr>
                        <a:t>one</a:t>
                      </a:r>
                      <a:r>
                        <a:rPr sz="700" b="1" spc="-30">
                          <a:solidFill>
                            <a:schemeClr val="tx1"/>
                          </a:solidFill>
                          <a:latin typeface="Arial"/>
                          <a:cs typeface="Arial"/>
                        </a:rPr>
                        <a:t> </a:t>
                      </a:r>
                      <a:r>
                        <a:rPr sz="700" b="1">
                          <a:solidFill>
                            <a:schemeClr val="tx1"/>
                          </a:solidFill>
                          <a:latin typeface="Arial"/>
                          <a:cs typeface="Arial"/>
                        </a:rPr>
                        <a:t>of</a:t>
                      </a:r>
                      <a:r>
                        <a:rPr sz="700" b="1" spc="-10">
                          <a:solidFill>
                            <a:schemeClr val="tx1"/>
                          </a:solidFill>
                          <a:latin typeface="Arial"/>
                          <a:cs typeface="Arial"/>
                        </a:rPr>
                        <a:t> </a:t>
                      </a:r>
                      <a:r>
                        <a:rPr sz="700" b="1">
                          <a:solidFill>
                            <a:schemeClr val="tx1"/>
                          </a:solidFill>
                          <a:latin typeface="Arial"/>
                          <a:cs typeface="Arial"/>
                        </a:rPr>
                        <a:t>the</a:t>
                      </a:r>
                      <a:r>
                        <a:rPr sz="700" b="1" spc="-15">
                          <a:solidFill>
                            <a:schemeClr val="tx1"/>
                          </a:solidFill>
                          <a:latin typeface="Arial"/>
                          <a:cs typeface="Arial"/>
                        </a:rPr>
                        <a:t> </a:t>
                      </a:r>
                      <a:r>
                        <a:rPr sz="700" b="1">
                          <a:solidFill>
                            <a:schemeClr val="tx1"/>
                          </a:solidFill>
                          <a:latin typeface="Arial"/>
                          <a:cs typeface="Arial"/>
                        </a:rPr>
                        <a:t>first</a:t>
                      </a:r>
                      <a:r>
                        <a:rPr sz="700" b="1" spc="5">
                          <a:solidFill>
                            <a:schemeClr val="tx1"/>
                          </a:solidFill>
                          <a:latin typeface="Arial"/>
                          <a:cs typeface="Arial"/>
                        </a:rPr>
                        <a:t> </a:t>
                      </a:r>
                      <a:r>
                        <a:rPr sz="700" b="1">
                          <a:solidFill>
                            <a:schemeClr val="tx1"/>
                          </a:solidFill>
                          <a:latin typeface="Arial"/>
                          <a:cs typeface="Arial"/>
                        </a:rPr>
                        <a:t>batch</a:t>
                      </a:r>
                      <a:r>
                        <a:rPr sz="700" b="1" spc="-10">
                          <a:solidFill>
                            <a:schemeClr val="tx1"/>
                          </a:solidFill>
                          <a:latin typeface="Arial"/>
                          <a:cs typeface="Arial"/>
                        </a:rPr>
                        <a:t> </a:t>
                      </a:r>
                      <a:r>
                        <a:rPr sz="700" spc="-10">
                          <a:solidFill>
                            <a:schemeClr val="tx1"/>
                          </a:solidFill>
                          <a:latin typeface="Arial"/>
                          <a:cs typeface="Arial"/>
                        </a:rPr>
                        <a:t>globally</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26329">
                <a:tc>
                  <a:txBody>
                    <a:bodyPr/>
                    <a:lstStyle/>
                    <a:p>
                      <a:pPr marR="58419" algn="r">
                        <a:lnSpc>
                          <a:spcPct val="100000"/>
                        </a:lnSpc>
                        <a:spcBef>
                          <a:spcPts val="390"/>
                        </a:spcBef>
                      </a:pPr>
                      <a:r>
                        <a:rPr sz="700" spc="-10">
                          <a:solidFill>
                            <a:schemeClr val="tx1"/>
                          </a:solidFill>
                          <a:latin typeface="Arial"/>
                          <a:cs typeface="Arial"/>
                        </a:rPr>
                        <a:t>US$691mm</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25">
                          <a:solidFill>
                            <a:schemeClr val="tx1"/>
                          </a:solidFill>
                          <a:latin typeface="Arial"/>
                          <a:cs typeface="Arial"/>
                        </a:rPr>
                        <a:t>TMT</a:t>
                      </a:r>
                      <a:endParaRPr sz="700">
                        <a:solidFill>
                          <a:schemeClr val="tx1"/>
                        </a:solidFill>
                        <a:latin typeface="Arial"/>
                        <a:cs typeface="Arial"/>
                      </a:endParaRPr>
                    </a:p>
                  </a:txBody>
                  <a:tcPr marL="0" marR="0" marT="44450" marB="0">
                    <a:lnL>
                      <a:noFill/>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Second</a:t>
                      </a:r>
                      <a:r>
                        <a:rPr sz="700" b="1" spc="-10">
                          <a:solidFill>
                            <a:schemeClr val="tx1"/>
                          </a:solidFill>
                          <a:latin typeface="Arial"/>
                          <a:cs typeface="Arial"/>
                        </a:rPr>
                        <a:t> </a:t>
                      </a:r>
                      <a:r>
                        <a:rPr sz="700" b="1">
                          <a:solidFill>
                            <a:schemeClr val="tx1"/>
                          </a:solidFill>
                          <a:latin typeface="Arial"/>
                          <a:cs typeface="Arial"/>
                        </a:rPr>
                        <a:t>largest</a:t>
                      </a:r>
                      <a:r>
                        <a:rPr sz="700" b="1" spc="15">
                          <a:solidFill>
                            <a:schemeClr val="tx1"/>
                          </a:solidFill>
                          <a:latin typeface="Arial"/>
                          <a:cs typeface="Arial"/>
                        </a:rPr>
                        <a:t> </a:t>
                      </a:r>
                      <a:r>
                        <a:rPr sz="700" spc="-10">
                          <a:solidFill>
                            <a:schemeClr val="tx1"/>
                          </a:solidFill>
                          <a:latin typeface="Arial"/>
                          <a:cs typeface="Arial"/>
                        </a:rPr>
                        <a:t>semiconductor</a:t>
                      </a:r>
                      <a:r>
                        <a:rPr sz="700" spc="25">
                          <a:solidFill>
                            <a:schemeClr val="tx1"/>
                          </a:solidFill>
                          <a:latin typeface="Arial"/>
                          <a:cs typeface="Arial"/>
                        </a:rPr>
                        <a:t> </a:t>
                      </a:r>
                      <a:r>
                        <a:rPr sz="700">
                          <a:solidFill>
                            <a:schemeClr val="tx1"/>
                          </a:solidFill>
                          <a:latin typeface="Arial"/>
                          <a:cs typeface="Arial"/>
                        </a:rPr>
                        <a:t>IPO</a:t>
                      </a:r>
                      <a:r>
                        <a:rPr sz="700" spc="10">
                          <a:solidFill>
                            <a:schemeClr val="tx1"/>
                          </a:solidFill>
                          <a:latin typeface="Arial"/>
                          <a:cs typeface="Arial"/>
                        </a:rPr>
                        <a:t> </a:t>
                      </a:r>
                      <a:r>
                        <a:rPr sz="700" spc="-10">
                          <a:solidFill>
                            <a:schemeClr val="tx1"/>
                          </a:solidFill>
                          <a:latin typeface="Arial"/>
                          <a:cs typeface="Arial"/>
                        </a:rPr>
                        <a:t>globally</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27056">
                <a:tc>
                  <a:txBody>
                    <a:bodyPr/>
                    <a:lstStyle/>
                    <a:p>
                      <a:pPr marR="57785" algn="r">
                        <a:lnSpc>
                          <a:spcPct val="100000"/>
                        </a:lnSpc>
                        <a:spcBef>
                          <a:spcPts val="390"/>
                        </a:spcBef>
                      </a:pPr>
                      <a:r>
                        <a:rPr sz="700" spc="-10">
                          <a:solidFill>
                            <a:schemeClr val="tx1"/>
                          </a:solidFill>
                          <a:latin typeface="Arial"/>
                          <a:cs typeface="Arial"/>
                        </a:rPr>
                        <a:t>US$683mm</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25">
                          <a:solidFill>
                            <a:schemeClr val="tx1"/>
                          </a:solidFill>
                          <a:latin typeface="Arial"/>
                          <a:cs typeface="Arial"/>
                        </a:rPr>
                        <a:t>TMT</a:t>
                      </a:r>
                      <a:endParaRPr sz="700">
                        <a:solidFill>
                          <a:schemeClr val="tx1"/>
                        </a:solidFill>
                        <a:latin typeface="Arial"/>
                        <a:cs typeface="Arial"/>
                      </a:endParaRPr>
                    </a:p>
                  </a:txBody>
                  <a:tcPr marL="0" marR="0" marT="44450" marB="0">
                    <a:lnL>
                      <a:noFill/>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Third</a:t>
                      </a:r>
                      <a:r>
                        <a:rPr sz="700" b="1" spc="-10">
                          <a:solidFill>
                            <a:schemeClr val="tx1"/>
                          </a:solidFill>
                          <a:latin typeface="Arial"/>
                          <a:cs typeface="Arial"/>
                        </a:rPr>
                        <a:t> </a:t>
                      </a:r>
                      <a:r>
                        <a:rPr sz="700" b="1">
                          <a:solidFill>
                            <a:schemeClr val="tx1"/>
                          </a:solidFill>
                          <a:latin typeface="Arial"/>
                          <a:cs typeface="Arial"/>
                        </a:rPr>
                        <a:t>largest</a:t>
                      </a:r>
                      <a:r>
                        <a:rPr sz="700" b="1" spc="25">
                          <a:solidFill>
                            <a:schemeClr val="tx1"/>
                          </a:solidFill>
                          <a:latin typeface="Arial"/>
                          <a:cs typeface="Arial"/>
                        </a:rPr>
                        <a:t> </a:t>
                      </a:r>
                      <a:r>
                        <a:rPr sz="700" spc="-10">
                          <a:solidFill>
                            <a:schemeClr val="tx1"/>
                          </a:solidFill>
                          <a:latin typeface="Arial"/>
                          <a:cs typeface="Arial"/>
                        </a:rPr>
                        <a:t>semiconductor</a:t>
                      </a:r>
                      <a:r>
                        <a:rPr sz="700" spc="25">
                          <a:solidFill>
                            <a:schemeClr val="tx1"/>
                          </a:solidFill>
                          <a:latin typeface="Arial"/>
                          <a:cs typeface="Arial"/>
                        </a:rPr>
                        <a:t> </a:t>
                      </a:r>
                      <a:r>
                        <a:rPr sz="700">
                          <a:solidFill>
                            <a:schemeClr val="tx1"/>
                          </a:solidFill>
                          <a:latin typeface="Arial"/>
                          <a:cs typeface="Arial"/>
                        </a:rPr>
                        <a:t>IPO</a:t>
                      </a:r>
                      <a:r>
                        <a:rPr sz="700" spc="-5">
                          <a:solidFill>
                            <a:schemeClr val="tx1"/>
                          </a:solidFill>
                          <a:latin typeface="Arial"/>
                          <a:cs typeface="Arial"/>
                        </a:rPr>
                        <a:t> </a:t>
                      </a:r>
                      <a:r>
                        <a:rPr sz="700" spc="-10">
                          <a:solidFill>
                            <a:schemeClr val="tx1"/>
                          </a:solidFill>
                          <a:latin typeface="Arial"/>
                          <a:cs typeface="Arial"/>
                        </a:rPr>
                        <a:t>globally</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226329">
                <a:tc>
                  <a:txBody>
                    <a:bodyPr/>
                    <a:lstStyle/>
                    <a:p>
                      <a:pPr marR="58419" algn="r">
                        <a:lnSpc>
                          <a:spcPct val="100000"/>
                        </a:lnSpc>
                        <a:spcBef>
                          <a:spcPts val="390"/>
                        </a:spcBef>
                      </a:pPr>
                      <a:r>
                        <a:rPr sz="700" spc="-10">
                          <a:solidFill>
                            <a:schemeClr val="tx1"/>
                          </a:solidFill>
                          <a:latin typeface="Arial"/>
                          <a:cs typeface="Arial"/>
                        </a:rPr>
                        <a:t>US$642mm</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25">
                          <a:solidFill>
                            <a:schemeClr val="tx1"/>
                          </a:solidFill>
                          <a:latin typeface="Arial"/>
                          <a:cs typeface="Arial"/>
                        </a:rPr>
                        <a:t>TMT</a:t>
                      </a:r>
                      <a:endParaRPr sz="700">
                        <a:solidFill>
                          <a:schemeClr val="tx1"/>
                        </a:solidFill>
                        <a:latin typeface="Arial"/>
                        <a:cs typeface="Arial"/>
                      </a:endParaRPr>
                    </a:p>
                  </a:txBody>
                  <a:tcPr marL="0" marR="0" marT="44450" marB="0">
                    <a:lnL>
                      <a:noFill/>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Second</a:t>
                      </a:r>
                      <a:r>
                        <a:rPr sz="700" b="1" spc="-20">
                          <a:solidFill>
                            <a:schemeClr val="tx1"/>
                          </a:solidFill>
                          <a:latin typeface="Arial"/>
                          <a:cs typeface="Arial"/>
                        </a:rPr>
                        <a:t> </a:t>
                      </a:r>
                      <a:r>
                        <a:rPr sz="700" b="1">
                          <a:solidFill>
                            <a:schemeClr val="tx1"/>
                          </a:solidFill>
                          <a:latin typeface="Arial"/>
                          <a:cs typeface="Arial"/>
                        </a:rPr>
                        <a:t>largest </a:t>
                      </a:r>
                      <a:r>
                        <a:rPr sz="700">
                          <a:solidFill>
                            <a:schemeClr val="tx1"/>
                          </a:solidFill>
                          <a:latin typeface="Arial"/>
                          <a:cs typeface="Arial"/>
                        </a:rPr>
                        <a:t>LLM</a:t>
                      </a:r>
                      <a:r>
                        <a:rPr sz="675" baseline="24691">
                          <a:solidFill>
                            <a:schemeClr val="tx1"/>
                          </a:solidFill>
                          <a:latin typeface="Arial"/>
                          <a:cs typeface="Arial"/>
                        </a:rPr>
                        <a:t>7</a:t>
                      </a:r>
                      <a:r>
                        <a:rPr sz="675" spc="15" baseline="24691">
                          <a:solidFill>
                            <a:schemeClr val="tx1"/>
                          </a:solidFill>
                          <a:latin typeface="Arial"/>
                          <a:cs typeface="Arial"/>
                        </a:rPr>
                        <a:t> </a:t>
                      </a:r>
                      <a:r>
                        <a:rPr sz="700">
                          <a:solidFill>
                            <a:schemeClr val="tx1"/>
                          </a:solidFill>
                          <a:latin typeface="Arial"/>
                          <a:cs typeface="Arial"/>
                        </a:rPr>
                        <a:t>IPO</a:t>
                      </a:r>
                      <a:r>
                        <a:rPr sz="700" spc="-5">
                          <a:solidFill>
                            <a:schemeClr val="tx1"/>
                          </a:solidFill>
                          <a:latin typeface="Arial"/>
                          <a:cs typeface="Arial"/>
                        </a:rPr>
                        <a:t> </a:t>
                      </a:r>
                      <a:r>
                        <a:rPr sz="700">
                          <a:solidFill>
                            <a:schemeClr val="tx1"/>
                          </a:solidFill>
                          <a:latin typeface="Arial"/>
                          <a:cs typeface="Arial"/>
                        </a:rPr>
                        <a:t>and</a:t>
                      </a:r>
                      <a:r>
                        <a:rPr sz="700" spc="-20">
                          <a:solidFill>
                            <a:schemeClr val="tx1"/>
                          </a:solidFill>
                          <a:latin typeface="Arial"/>
                          <a:cs typeface="Arial"/>
                        </a:rPr>
                        <a:t> </a:t>
                      </a:r>
                      <a:r>
                        <a:rPr sz="700" b="1">
                          <a:solidFill>
                            <a:schemeClr val="tx1"/>
                          </a:solidFill>
                          <a:latin typeface="Arial"/>
                          <a:cs typeface="Arial"/>
                        </a:rPr>
                        <a:t>one</a:t>
                      </a:r>
                      <a:r>
                        <a:rPr sz="700" b="1" spc="-15">
                          <a:solidFill>
                            <a:schemeClr val="tx1"/>
                          </a:solidFill>
                          <a:latin typeface="Arial"/>
                          <a:cs typeface="Arial"/>
                        </a:rPr>
                        <a:t> </a:t>
                      </a:r>
                      <a:r>
                        <a:rPr sz="700" b="1">
                          <a:solidFill>
                            <a:schemeClr val="tx1"/>
                          </a:solidFill>
                          <a:latin typeface="Arial"/>
                          <a:cs typeface="Arial"/>
                        </a:rPr>
                        <a:t>of</a:t>
                      </a:r>
                      <a:r>
                        <a:rPr sz="700" b="1" spc="-10">
                          <a:solidFill>
                            <a:schemeClr val="tx1"/>
                          </a:solidFill>
                          <a:latin typeface="Arial"/>
                          <a:cs typeface="Arial"/>
                        </a:rPr>
                        <a:t> </a:t>
                      </a:r>
                      <a:r>
                        <a:rPr sz="700" b="1">
                          <a:solidFill>
                            <a:schemeClr val="tx1"/>
                          </a:solidFill>
                          <a:latin typeface="Arial"/>
                          <a:cs typeface="Arial"/>
                        </a:rPr>
                        <a:t>the</a:t>
                      </a:r>
                      <a:r>
                        <a:rPr sz="700" b="1" spc="-15">
                          <a:solidFill>
                            <a:schemeClr val="tx1"/>
                          </a:solidFill>
                          <a:latin typeface="Arial"/>
                          <a:cs typeface="Arial"/>
                        </a:rPr>
                        <a:t> </a:t>
                      </a:r>
                      <a:r>
                        <a:rPr sz="700" b="1">
                          <a:solidFill>
                            <a:schemeClr val="tx1"/>
                          </a:solidFill>
                          <a:latin typeface="Arial"/>
                          <a:cs typeface="Arial"/>
                        </a:rPr>
                        <a:t>first</a:t>
                      </a:r>
                      <a:r>
                        <a:rPr sz="700" b="1" spc="-5">
                          <a:solidFill>
                            <a:schemeClr val="tx1"/>
                          </a:solidFill>
                          <a:latin typeface="Arial"/>
                          <a:cs typeface="Arial"/>
                        </a:rPr>
                        <a:t> </a:t>
                      </a:r>
                      <a:r>
                        <a:rPr sz="700" b="1">
                          <a:solidFill>
                            <a:schemeClr val="tx1"/>
                          </a:solidFill>
                          <a:latin typeface="Arial"/>
                          <a:cs typeface="Arial"/>
                        </a:rPr>
                        <a:t>batch </a:t>
                      </a:r>
                      <a:r>
                        <a:rPr sz="700" spc="-10">
                          <a:solidFill>
                            <a:schemeClr val="tx1"/>
                          </a:solidFill>
                          <a:latin typeface="Arial"/>
                          <a:cs typeface="Arial"/>
                        </a:rPr>
                        <a:t>globally</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27056">
                <a:tc>
                  <a:txBody>
                    <a:bodyPr/>
                    <a:lstStyle/>
                    <a:p>
                      <a:pPr marR="58419" algn="r">
                        <a:lnSpc>
                          <a:spcPct val="100000"/>
                        </a:lnSpc>
                        <a:spcBef>
                          <a:spcPts val="390"/>
                        </a:spcBef>
                      </a:pPr>
                      <a:r>
                        <a:rPr sz="700" spc="-10">
                          <a:solidFill>
                            <a:schemeClr val="tx1"/>
                          </a:solidFill>
                          <a:latin typeface="Arial"/>
                          <a:cs typeface="Arial"/>
                        </a:rPr>
                        <a:t>US$633mm</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10">
                          <a:solidFill>
                            <a:schemeClr val="tx1"/>
                          </a:solidFill>
                          <a:latin typeface="Arial"/>
                          <a:cs typeface="Arial"/>
                        </a:rPr>
                        <a:t>Industrials</a:t>
                      </a:r>
                      <a:endParaRPr sz="700">
                        <a:solidFill>
                          <a:schemeClr val="tx1"/>
                        </a:solidFill>
                        <a:latin typeface="Arial"/>
                        <a:cs typeface="Arial"/>
                      </a:endParaRPr>
                    </a:p>
                  </a:txBody>
                  <a:tcPr marL="0" marR="0" marT="44450" marB="0">
                    <a:lnL>
                      <a:noFill/>
                    </a:lnL>
                    <a:lnR>
                      <a:noFill/>
                    </a:lnR>
                    <a:lnT w="3175">
                      <a:noFill/>
                      <a:prstDash val="lgDash"/>
                    </a:lnT>
                    <a:lnB w="3175">
                      <a:noFill/>
                      <a:prstDash val="lgDash"/>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Second</a:t>
                      </a:r>
                      <a:r>
                        <a:rPr sz="700" b="1" spc="-20">
                          <a:solidFill>
                            <a:schemeClr val="tx1"/>
                          </a:solidFill>
                          <a:latin typeface="Arial"/>
                          <a:cs typeface="Arial"/>
                        </a:rPr>
                        <a:t> </a:t>
                      </a:r>
                      <a:r>
                        <a:rPr sz="700" b="1">
                          <a:solidFill>
                            <a:schemeClr val="tx1"/>
                          </a:solidFill>
                          <a:latin typeface="Arial"/>
                          <a:cs typeface="Arial"/>
                        </a:rPr>
                        <a:t>largest</a:t>
                      </a:r>
                      <a:r>
                        <a:rPr sz="700" b="1" spc="-5">
                          <a:solidFill>
                            <a:schemeClr val="tx1"/>
                          </a:solidFill>
                          <a:latin typeface="Arial"/>
                          <a:cs typeface="Arial"/>
                        </a:rPr>
                        <a:t> </a:t>
                      </a:r>
                      <a:r>
                        <a:rPr sz="700">
                          <a:solidFill>
                            <a:schemeClr val="tx1"/>
                          </a:solidFill>
                          <a:latin typeface="Arial"/>
                          <a:cs typeface="Arial"/>
                        </a:rPr>
                        <a:t>battery manufacturing</a:t>
                      </a:r>
                      <a:r>
                        <a:rPr sz="700" spc="10">
                          <a:solidFill>
                            <a:schemeClr val="tx1"/>
                          </a:solidFill>
                          <a:latin typeface="Arial"/>
                          <a:cs typeface="Arial"/>
                        </a:rPr>
                        <a:t> </a:t>
                      </a:r>
                      <a:r>
                        <a:rPr sz="700">
                          <a:solidFill>
                            <a:schemeClr val="tx1"/>
                          </a:solidFill>
                          <a:latin typeface="Arial"/>
                          <a:cs typeface="Arial"/>
                        </a:rPr>
                        <a:t>IPO</a:t>
                      </a:r>
                      <a:r>
                        <a:rPr sz="700" spc="-15">
                          <a:solidFill>
                            <a:schemeClr val="tx1"/>
                          </a:solidFill>
                          <a:latin typeface="Arial"/>
                          <a:cs typeface="Arial"/>
                        </a:rPr>
                        <a:t> </a:t>
                      </a:r>
                      <a:r>
                        <a:rPr sz="700">
                          <a:solidFill>
                            <a:schemeClr val="tx1"/>
                          </a:solidFill>
                          <a:latin typeface="Arial"/>
                          <a:cs typeface="Arial"/>
                        </a:rPr>
                        <a:t>in</a:t>
                      </a:r>
                      <a:r>
                        <a:rPr sz="700" spc="-20">
                          <a:solidFill>
                            <a:schemeClr val="tx1"/>
                          </a:solidFill>
                          <a:latin typeface="Arial"/>
                          <a:cs typeface="Arial"/>
                        </a:rPr>
                        <a:t> </a:t>
                      </a:r>
                      <a:r>
                        <a:rPr sz="700">
                          <a:solidFill>
                            <a:schemeClr val="tx1"/>
                          </a:solidFill>
                          <a:latin typeface="Arial"/>
                          <a:cs typeface="Arial"/>
                        </a:rPr>
                        <a:t>the</a:t>
                      </a:r>
                      <a:r>
                        <a:rPr sz="700" spc="-20">
                          <a:solidFill>
                            <a:schemeClr val="tx1"/>
                          </a:solidFill>
                          <a:latin typeface="Arial"/>
                          <a:cs typeface="Arial"/>
                        </a:rPr>
                        <a:t> </a:t>
                      </a:r>
                      <a:r>
                        <a:rPr sz="700">
                          <a:solidFill>
                            <a:schemeClr val="tx1"/>
                          </a:solidFill>
                          <a:latin typeface="Arial"/>
                          <a:cs typeface="Arial"/>
                        </a:rPr>
                        <a:t>last</a:t>
                      </a:r>
                      <a:r>
                        <a:rPr sz="700" spc="-20">
                          <a:solidFill>
                            <a:schemeClr val="tx1"/>
                          </a:solidFill>
                          <a:latin typeface="Arial"/>
                          <a:cs typeface="Arial"/>
                        </a:rPr>
                        <a:t> </a:t>
                      </a:r>
                      <a:r>
                        <a:rPr sz="700">
                          <a:solidFill>
                            <a:schemeClr val="tx1"/>
                          </a:solidFill>
                          <a:latin typeface="Arial"/>
                          <a:cs typeface="Arial"/>
                        </a:rPr>
                        <a:t>3</a:t>
                      </a:r>
                      <a:r>
                        <a:rPr sz="700" spc="-25">
                          <a:solidFill>
                            <a:schemeClr val="tx1"/>
                          </a:solidFill>
                          <a:latin typeface="Arial"/>
                          <a:cs typeface="Arial"/>
                        </a:rPr>
                        <a:t> </a:t>
                      </a:r>
                      <a:r>
                        <a:rPr sz="700" spc="-20">
                          <a:solidFill>
                            <a:schemeClr val="tx1"/>
                          </a:solidFill>
                          <a:latin typeface="Arial"/>
                          <a:cs typeface="Arial"/>
                        </a:rPr>
                        <a:t>years</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3175">
                      <a:noFill/>
                      <a:prstDash val="lgDash"/>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224146">
                <a:tc>
                  <a:txBody>
                    <a:bodyPr/>
                    <a:lstStyle/>
                    <a:p>
                      <a:pPr marR="58419" algn="r">
                        <a:lnSpc>
                          <a:spcPct val="100000"/>
                        </a:lnSpc>
                        <a:spcBef>
                          <a:spcPts val="390"/>
                        </a:spcBef>
                      </a:pPr>
                      <a:r>
                        <a:rPr sz="700" spc="-10">
                          <a:solidFill>
                            <a:schemeClr val="tx1"/>
                          </a:solidFill>
                          <a:latin typeface="Arial"/>
                          <a:cs typeface="Arial"/>
                        </a:rPr>
                        <a:t>US$541mm</a:t>
                      </a:r>
                      <a:endParaRPr sz="700">
                        <a:solidFill>
                          <a:schemeClr val="tx1"/>
                        </a:solidFill>
                        <a:latin typeface="Arial"/>
                        <a:cs typeface="Arial"/>
                      </a:endParaRPr>
                    </a:p>
                  </a:txBody>
                  <a:tcPr marL="0" marR="0" marT="49530" marB="0">
                    <a:lnL w="12700" cap="flat" cmpd="sng" algn="ctr">
                      <a:solidFill>
                        <a:srgbClr val="089C8B"/>
                      </a:solidFill>
                      <a:prstDash val="solid"/>
                      <a:round/>
                      <a:headEnd type="none" w="med" len="med"/>
                      <a:tailEnd type="none" w="med" len="med"/>
                    </a:lnL>
                    <a:lnR>
                      <a:noFill/>
                    </a:lnR>
                    <a:lnT w="3175">
                      <a:noFill/>
                      <a:prstDash val="lgDash"/>
                    </a:lnT>
                    <a:lnB w="12700" cap="flat" cmpd="sng" algn="ctr">
                      <a:solidFill>
                        <a:srgbClr val="089C8B"/>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lnSpc>
                          <a:spcPct val="100000"/>
                        </a:lnSpc>
                        <a:spcBef>
                          <a:spcPts val="350"/>
                        </a:spcBef>
                      </a:pPr>
                      <a:r>
                        <a:rPr sz="700" spc="-10">
                          <a:solidFill>
                            <a:schemeClr val="tx1"/>
                          </a:solidFill>
                          <a:latin typeface="Arial"/>
                          <a:cs typeface="Arial"/>
                        </a:rPr>
                        <a:t>Consumer</a:t>
                      </a:r>
                      <a:endParaRPr sz="700">
                        <a:solidFill>
                          <a:schemeClr val="tx1"/>
                        </a:solidFill>
                        <a:latin typeface="Arial"/>
                        <a:cs typeface="Arial"/>
                      </a:endParaRPr>
                    </a:p>
                  </a:txBody>
                  <a:tcPr marL="0" marR="0" marT="44450" marB="0">
                    <a:lnL>
                      <a:noFill/>
                    </a:lnL>
                    <a:lnR>
                      <a:noFill/>
                    </a:lnR>
                    <a:lnT w="3175">
                      <a:noFill/>
                      <a:prstDash val="lgDash"/>
                    </a:lnT>
                    <a:lnB w="12700" cap="flat" cmpd="sng" algn="ctr">
                      <a:solidFill>
                        <a:srgbClr val="089C8B"/>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68580">
                        <a:lnSpc>
                          <a:spcPct val="100000"/>
                        </a:lnSpc>
                        <a:spcBef>
                          <a:spcPts val="350"/>
                        </a:spcBef>
                      </a:pPr>
                      <a:r>
                        <a:rPr sz="700" b="1">
                          <a:solidFill>
                            <a:schemeClr val="tx1"/>
                          </a:solidFill>
                          <a:latin typeface="Arial"/>
                          <a:cs typeface="Arial"/>
                        </a:rPr>
                        <a:t>Largest</a:t>
                      </a:r>
                      <a:r>
                        <a:rPr sz="700" b="1" spc="-5">
                          <a:solidFill>
                            <a:schemeClr val="tx1"/>
                          </a:solidFill>
                          <a:latin typeface="Arial"/>
                          <a:cs typeface="Arial"/>
                        </a:rPr>
                        <a:t> </a:t>
                      </a:r>
                      <a:r>
                        <a:rPr sz="700">
                          <a:solidFill>
                            <a:schemeClr val="tx1"/>
                          </a:solidFill>
                          <a:latin typeface="Arial"/>
                          <a:cs typeface="Arial"/>
                        </a:rPr>
                        <a:t>discount</a:t>
                      </a:r>
                      <a:r>
                        <a:rPr sz="700" spc="-15">
                          <a:solidFill>
                            <a:schemeClr val="tx1"/>
                          </a:solidFill>
                          <a:latin typeface="Arial"/>
                          <a:cs typeface="Arial"/>
                        </a:rPr>
                        <a:t> </a:t>
                      </a:r>
                      <a:r>
                        <a:rPr sz="700">
                          <a:solidFill>
                            <a:schemeClr val="tx1"/>
                          </a:solidFill>
                          <a:latin typeface="Arial"/>
                          <a:cs typeface="Arial"/>
                        </a:rPr>
                        <a:t>snack</a:t>
                      </a:r>
                      <a:r>
                        <a:rPr sz="700" spc="-15">
                          <a:solidFill>
                            <a:schemeClr val="tx1"/>
                          </a:solidFill>
                          <a:latin typeface="Arial"/>
                          <a:cs typeface="Arial"/>
                        </a:rPr>
                        <a:t> </a:t>
                      </a:r>
                      <a:r>
                        <a:rPr sz="700">
                          <a:solidFill>
                            <a:schemeClr val="tx1"/>
                          </a:solidFill>
                          <a:latin typeface="Arial"/>
                          <a:cs typeface="Arial"/>
                        </a:rPr>
                        <a:t>chain</a:t>
                      </a:r>
                      <a:r>
                        <a:rPr sz="700" spc="-25">
                          <a:solidFill>
                            <a:schemeClr val="tx1"/>
                          </a:solidFill>
                          <a:latin typeface="Arial"/>
                          <a:cs typeface="Arial"/>
                        </a:rPr>
                        <a:t> </a:t>
                      </a:r>
                      <a:r>
                        <a:rPr sz="700">
                          <a:solidFill>
                            <a:schemeClr val="tx1"/>
                          </a:solidFill>
                          <a:latin typeface="Arial"/>
                          <a:cs typeface="Arial"/>
                        </a:rPr>
                        <a:t>HK</a:t>
                      </a:r>
                      <a:r>
                        <a:rPr sz="700" spc="-35">
                          <a:solidFill>
                            <a:schemeClr val="tx1"/>
                          </a:solidFill>
                          <a:latin typeface="Arial"/>
                          <a:cs typeface="Arial"/>
                        </a:rPr>
                        <a:t> </a:t>
                      </a:r>
                      <a:r>
                        <a:rPr sz="700" spc="-25">
                          <a:solidFill>
                            <a:schemeClr val="tx1"/>
                          </a:solidFill>
                          <a:latin typeface="Arial"/>
                          <a:cs typeface="Arial"/>
                        </a:rPr>
                        <a:t>IPO</a:t>
                      </a:r>
                      <a:endParaRPr sz="700">
                        <a:solidFill>
                          <a:schemeClr val="tx1"/>
                        </a:solidFill>
                        <a:latin typeface="Arial"/>
                        <a:cs typeface="Arial"/>
                      </a:endParaRPr>
                    </a:p>
                  </a:txBody>
                  <a:tcPr marL="0" marR="0" marT="44450" marB="0">
                    <a:lnL>
                      <a:noFill/>
                    </a:lnL>
                    <a:lnR w="12700" cap="flat" cmpd="sng" algn="ctr">
                      <a:solidFill>
                        <a:srgbClr val="089C8B"/>
                      </a:solidFill>
                      <a:prstDash val="solid"/>
                      <a:round/>
                      <a:headEnd type="none" w="med" len="med"/>
                      <a:tailEnd type="none" w="med" len="med"/>
                    </a:lnR>
                    <a:lnT w="3175">
                      <a:noFill/>
                      <a:prstDash val="lgDash"/>
                    </a:lnT>
                    <a:lnB w="12700" cap="flat" cmpd="sng" algn="ctr">
                      <a:solidFill>
                        <a:srgbClr val="089C8B"/>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bl>
          </a:graphicData>
        </a:graphic>
      </p:graphicFrame>
      <p:grpSp>
        <p:nvGrpSpPr>
          <p:cNvPr id="14" name="Group 13">
            <a:extLst>
              <a:ext uri="{FF2B5EF4-FFF2-40B4-BE49-F238E27FC236}">
                <a16:creationId xmlns:a16="http://schemas.microsoft.com/office/drawing/2014/main" id="{0B072875-C155-E927-60F6-F6ADA74BA646}"/>
              </a:ext>
            </a:extLst>
          </p:cNvPr>
          <p:cNvGrpSpPr/>
          <p:nvPr/>
        </p:nvGrpSpPr>
        <p:grpSpPr>
          <a:xfrm>
            <a:off x="4144202" y="3523419"/>
            <a:ext cx="642238" cy="2161534"/>
            <a:chOff x="4101671" y="3811760"/>
            <a:chExt cx="642238" cy="1876562"/>
          </a:xfrm>
        </p:grpSpPr>
        <p:pic>
          <p:nvPicPr>
            <p:cNvPr id="33" name="object 33"/>
            <p:cNvPicPr/>
            <p:nvPr/>
          </p:nvPicPr>
          <p:blipFill>
            <a:blip r:embed="rId2" cstate="print"/>
            <a:stretch>
              <a:fillRect/>
            </a:stretch>
          </p:blipFill>
          <p:spPr>
            <a:xfrm>
              <a:off x="4257119" y="3811760"/>
              <a:ext cx="331228" cy="108174"/>
            </a:xfrm>
            <a:prstGeom prst="rect">
              <a:avLst/>
            </a:prstGeom>
          </p:spPr>
        </p:pic>
        <p:pic>
          <p:nvPicPr>
            <p:cNvPr id="34" name="object 34" descr="Eastroc Beverage (Hong Kong) Co.,Limited - Gulfood 2026"/>
            <p:cNvPicPr/>
            <p:nvPr/>
          </p:nvPicPr>
          <p:blipFill>
            <a:blip r:embed="rId3" cstate="print"/>
            <a:stretch>
              <a:fillRect/>
            </a:stretch>
          </p:blipFill>
          <p:spPr>
            <a:xfrm>
              <a:off x="4305506" y="3965553"/>
              <a:ext cx="234378" cy="150596"/>
            </a:xfrm>
            <a:prstGeom prst="rect">
              <a:avLst/>
            </a:prstGeom>
          </p:spPr>
        </p:pic>
        <p:pic>
          <p:nvPicPr>
            <p:cNvPr id="35" name="object 35"/>
            <p:cNvPicPr/>
            <p:nvPr/>
          </p:nvPicPr>
          <p:blipFill>
            <a:blip r:embed="rId4" cstate="print"/>
            <a:stretch>
              <a:fillRect/>
            </a:stretch>
          </p:blipFill>
          <p:spPr>
            <a:xfrm>
              <a:off x="4213177" y="4172794"/>
              <a:ext cx="419100" cy="129667"/>
            </a:xfrm>
            <a:prstGeom prst="rect">
              <a:avLst/>
            </a:prstGeom>
          </p:spPr>
        </p:pic>
        <p:pic>
          <p:nvPicPr>
            <p:cNvPr id="36" name="object 36"/>
            <p:cNvPicPr/>
            <p:nvPr/>
          </p:nvPicPr>
          <p:blipFill>
            <a:blip r:embed="rId5" cstate="print"/>
            <a:stretch>
              <a:fillRect/>
            </a:stretch>
          </p:blipFill>
          <p:spPr>
            <a:xfrm>
              <a:off x="4207336" y="4376883"/>
              <a:ext cx="430885" cy="129667"/>
            </a:xfrm>
            <a:prstGeom prst="rect">
              <a:avLst/>
            </a:prstGeom>
          </p:spPr>
        </p:pic>
        <p:pic>
          <p:nvPicPr>
            <p:cNvPr id="38" name="object 38" descr="MiniMax Scales AI and Deduplication with Zilliz Cloud"/>
            <p:cNvPicPr/>
            <p:nvPr/>
          </p:nvPicPr>
          <p:blipFill>
            <a:blip r:embed="rId6" cstate="print"/>
            <a:stretch>
              <a:fillRect/>
            </a:stretch>
          </p:blipFill>
          <p:spPr>
            <a:xfrm>
              <a:off x="4151073" y="4571420"/>
              <a:ext cx="543318" cy="132867"/>
            </a:xfrm>
            <a:prstGeom prst="rect">
              <a:avLst/>
            </a:prstGeom>
          </p:spPr>
        </p:pic>
        <p:pic>
          <p:nvPicPr>
            <p:cNvPr id="39" name="object 39" descr="GigaDevice - Wikipedia"/>
            <p:cNvPicPr/>
            <p:nvPr/>
          </p:nvPicPr>
          <p:blipFill>
            <a:blip r:embed="rId7" cstate="print"/>
            <a:stretch>
              <a:fillRect/>
            </a:stretch>
          </p:blipFill>
          <p:spPr>
            <a:xfrm>
              <a:off x="4305505" y="4742336"/>
              <a:ext cx="234378" cy="181914"/>
            </a:xfrm>
            <a:prstGeom prst="rect">
              <a:avLst/>
            </a:prstGeom>
          </p:spPr>
        </p:pic>
        <p:pic>
          <p:nvPicPr>
            <p:cNvPr id="40" name="object 40" descr="The New OMNIVISION Unveiled―Expanded Product Portfolio Now Offers More Than  Vision"/>
            <p:cNvPicPr/>
            <p:nvPr/>
          </p:nvPicPr>
          <p:blipFill>
            <a:blip r:embed="rId8" cstate="print"/>
            <a:stretch>
              <a:fillRect/>
            </a:stretch>
          </p:blipFill>
          <p:spPr>
            <a:xfrm>
              <a:off x="4101671" y="4982653"/>
              <a:ext cx="642238" cy="91357"/>
            </a:xfrm>
            <a:prstGeom prst="rect">
              <a:avLst/>
            </a:prstGeom>
          </p:spPr>
        </p:pic>
        <p:pic>
          <p:nvPicPr>
            <p:cNvPr id="41" name="object 41"/>
            <p:cNvPicPr/>
            <p:nvPr/>
          </p:nvPicPr>
          <p:blipFill>
            <a:blip r:embed="rId9" cstate="print"/>
            <a:stretch>
              <a:fillRect/>
            </a:stretch>
          </p:blipFill>
          <p:spPr>
            <a:xfrm>
              <a:off x="4209747" y="5150630"/>
              <a:ext cx="425894" cy="146113"/>
            </a:xfrm>
            <a:prstGeom prst="rect">
              <a:avLst/>
            </a:prstGeom>
          </p:spPr>
        </p:pic>
        <p:pic>
          <p:nvPicPr>
            <p:cNvPr id="42" name="object 42" descr="Lead Intelligent Equipment Logo &amp; Brand Assets (SVG, PNG and vector) -  Brandfetch"/>
            <p:cNvPicPr/>
            <p:nvPr/>
          </p:nvPicPr>
          <p:blipFill>
            <a:blip r:embed="rId10" cstate="print"/>
            <a:stretch>
              <a:fillRect/>
            </a:stretch>
          </p:blipFill>
          <p:spPr>
            <a:xfrm>
              <a:off x="4226512" y="5345842"/>
              <a:ext cx="392468" cy="146113"/>
            </a:xfrm>
            <a:prstGeom prst="rect">
              <a:avLst/>
            </a:prstGeom>
          </p:spPr>
        </p:pic>
        <p:pic>
          <p:nvPicPr>
            <p:cNvPr id="43" name="object 43" descr="鸣鸣很忙-FoodTalks食品公司库"/>
            <p:cNvPicPr/>
            <p:nvPr/>
          </p:nvPicPr>
          <p:blipFill>
            <a:blip r:embed="rId11" cstate="print"/>
            <a:stretch>
              <a:fillRect/>
            </a:stretch>
          </p:blipFill>
          <p:spPr>
            <a:xfrm>
              <a:off x="4281378" y="5541053"/>
              <a:ext cx="282803" cy="147269"/>
            </a:xfrm>
            <a:prstGeom prst="rect">
              <a:avLst/>
            </a:prstGeom>
          </p:spPr>
        </p:pic>
      </p:grpSp>
      <p:grpSp>
        <p:nvGrpSpPr>
          <p:cNvPr id="8" name="Group 7">
            <a:extLst>
              <a:ext uri="{FF2B5EF4-FFF2-40B4-BE49-F238E27FC236}">
                <a16:creationId xmlns:a16="http://schemas.microsoft.com/office/drawing/2014/main" id="{EF88E522-EB08-20C0-7D61-A9ADFA56818B}"/>
              </a:ext>
            </a:extLst>
          </p:cNvPr>
          <p:cNvGrpSpPr/>
          <p:nvPr/>
        </p:nvGrpSpPr>
        <p:grpSpPr>
          <a:xfrm>
            <a:off x="453000" y="1075943"/>
            <a:ext cx="3354051" cy="4628877"/>
            <a:chOff x="734667" y="1075944"/>
            <a:chExt cx="3072384" cy="3918360"/>
          </a:xfrm>
        </p:grpSpPr>
        <p:sp>
          <p:nvSpPr>
            <p:cNvPr id="4" name="object 4"/>
            <p:cNvSpPr/>
            <p:nvPr/>
          </p:nvSpPr>
          <p:spPr>
            <a:xfrm>
              <a:off x="734667" y="1301144"/>
              <a:ext cx="3069590" cy="3693160"/>
            </a:xfrm>
            <a:custGeom>
              <a:avLst/>
              <a:gdLst/>
              <a:ahLst/>
              <a:cxnLst/>
              <a:rect l="l" t="t" r="r" b="b"/>
              <a:pathLst>
                <a:path w="3069590" h="3693160">
                  <a:moveTo>
                    <a:pt x="3069463" y="0"/>
                  </a:moveTo>
                  <a:lnTo>
                    <a:pt x="0" y="0"/>
                  </a:lnTo>
                  <a:lnTo>
                    <a:pt x="0" y="3693160"/>
                  </a:lnTo>
                  <a:lnTo>
                    <a:pt x="3069463" y="3693160"/>
                  </a:lnTo>
                  <a:lnTo>
                    <a:pt x="3069463" y="0"/>
                  </a:lnTo>
                  <a:close/>
                </a:path>
              </a:pathLst>
            </a:custGeom>
            <a:solidFill>
              <a:srgbClr val="FFFFFF"/>
            </a:solidFill>
            <a:ln>
              <a:solidFill>
                <a:srgbClr val="C00000"/>
              </a:solidFill>
            </a:ln>
          </p:spPr>
          <p:txBody>
            <a:bodyPr wrap="square" lIns="0" tIns="0" rIns="0" bIns="0" rtlCol="0"/>
            <a:lstStyle/>
            <a:p>
              <a:endParaRPr/>
            </a:p>
          </p:txBody>
        </p:sp>
        <p:sp>
          <p:nvSpPr>
            <p:cNvPr id="5" name="object 5"/>
            <p:cNvSpPr/>
            <p:nvPr/>
          </p:nvSpPr>
          <p:spPr>
            <a:xfrm>
              <a:off x="734667" y="1301144"/>
              <a:ext cx="3069590" cy="3693160"/>
            </a:xfrm>
            <a:custGeom>
              <a:avLst/>
              <a:gdLst/>
              <a:ahLst/>
              <a:cxnLst/>
              <a:rect l="l" t="t" r="r" b="b"/>
              <a:pathLst>
                <a:path w="3069590" h="3693160">
                  <a:moveTo>
                    <a:pt x="0" y="3693160"/>
                  </a:moveTo>
                  <a:lnTo>
                    <a:pt x="3069463" y="3693160"/>
                  </a:lnTo>
                  <a:lnTo>
                    <a:pt x="3069463" y="0"/>
                  </a:lnTo>
                  <a:lnTo>
                    <a:pt x="0" y="0"/>
                  </a:lnTo>
                  <a:lnTo>
                    <a:pt x="0" y="3693160"/>
                  </a:lnTo>
                  <a:close/>
                </a:path>
              </a:pathLst>
            </a:custGeom>
            <a:ln w="6350">
              <a:solidFill>
                <a:srgbClr val="089C8B"/>
              </a:solidFill>
            </a:ln>
          </p:spPr>
          <p:txBody>
            <a:bodyPr wrap="square" lIns="0" tIns="0" rIns="0" bIns="0" rtlCol="0"/>
            <a:lstStyle/>
            <a:p>
              <a:endParaRPr/>
            </a:p>
          </p:txBody>
        </p:sp>
        <p:sp>
          <p:nvSpPr>
            <p:cNvPr id="44" name="object 44"/>
            <p:cNvSpPr txBox="1"/>
            <p:nvPr/>
          </p:nvSpPr>
          <p:spPr>
            <a:xfrm>
              <a:off x="2479293" y="2867614"/>
              <a:ext cx="991235" cy="505327"/>
            </a:xfrm>
            <a:prstGeom prst="rect">
              <a:avLst/>
            </a:prstGeom>
          </p:spPr>
          <p:txBody>
            <a:bodyPr vert="horz" wrap="square" lIns="0" tIns="12065" rIns="0" bIns="0" rtlCol="0">
              <a:spAutoFit/>
            </a:bodyPr>
            <a:lstStyle/>
            <a:p>
              <a:pPr marR="5080" algn="ctr">
                <a:spcBef>
                  <a:spcPts val="95"/>
                </a:spcBef>
              </a:pPr>
              <a:r>
                <a:rPr sz="1600">
                  <a:solidFill>
                    <a:srgbClr val="089C8B"/>
                  </a:solidFill>
                  <a:latin typeface="Arial"/>
                  <a:cs typeface="Arial"/>
                </a:rPr>
                <a:t>3</a:t>
              </a:r>
              <a:r>
                <a:rPr sz="1600" spc="-150">
                  <a:solidFill>
                    <a:srgbClr val="24C9D2"/>
                  </a:solidFill>
                  <a:latin typeface="Arial"/>
                  <a:cs typeface="Arial"/>
                </a:rPr>
                <a:t> </a:t>
              </a:r>
              <a:r>
                <a:rPr sz="1100">
                  <a:solidFill>
                    <a:srgbClr val="12426B"/>
                  </a:solidFill>
                  <a:latin typeface="Arial"/>
                  <a:cs typeface="Arial"/>
                </a:rPr>
                <a:t>out</a:t>
              </a:r>
              <a:r>
                <a:rPr sz="1100" spc="-20">
                  <a:solidFill>
                    <a:srgbClr val="12426B"/>
                  </a:solidFill>
                  <a:latin typeface="Arial"/>
                  <a:cs typeface="Arial"/>
                </a:rPr>
                <a:t> </a:t>
              </a:r>
              <a:r>
                <a:rPr sz="1100" spc="-25">
                  <a:solidFill>
                    <a:srgbClr val="12426B"/>
                  </a:solidFill>
                  <a:latin typeface="Arial"/>
                  <a:cs typeface="Arial"/>
                </a:rPr>
                <a:t>of</a:t>
              </a:r>
              <a:endParaRPr sz="1100">
                <a:latin typeface="Arial"/>
                <a:cs typeface="Arial"/>
              </a:endParaRPr>
            </a:p>
            <a:p>
              <a:pPr marR="5080" algn="ctr">
                <a:spcBef>
                  <a:spcPts val="5"/>
                </a:spcBef>
              </a:pPr>
              <a:r>
                <a:rPr sz="1100">
                  <a:solidFill>
                    <a:srgbClr val="12426B"/>
                  </a:solidFill>
                  <a:latin typeface="Arial"/>
                  <a:cs typeface="Arial"/>
                </a:rPr>
                <a:t>5</a:t>
              </a:r>
              <a:r>
                <a:rPr sz="1100" spc="-30">
                  <a:solidFill>
                    <a:srgbClr val="12426B"/>
                  </a:solidFill>
                  <a:latin typeface="Arial"/>
                  <a:cs typeface="Arial"/>
                </a:rPr>
                <a:t> </a:t>
              </a:r>
              <a:r>
                <a:rPr sz="1100">
                  <a:solidFill>
                    <a:srgbClr val="12426B"/>
                  </a:solidFill>
                  <a:latin typeface="Arial"/>
                  <a:cs typeface="Arial"/>
                </a:rPr>
                <a:t>Largest</a:t>
              </a:r>
              <a:r>
                <a:rPr sz="1100" spc="-35">
                  <a:solidFill>
                    <a:srgbClr val="12426B"/>
                  </a:solidFill>
                  <a:latin typeface="Arial"/>
                  <a:cs typeface="Arial"/>
                </a:rPr>
                <a:t> </a:t>
              </a:r>
              <a:r>
                <a:rPr sz="1100" spc="-20">
                  <a:solidFill>
                    <a:srgbClr val="12426B"/>
                  </a:solidFill>
                  <a:latin typeface="Arial"/>
                  <a:cs typeface="Arial"/>
                </a:rPr>
                <a:t>IPOs </a:t>
              </a:r>
              <a:r>
                <a:rPr sz="1100" spc="-10">
                  <a:solidFill>
                    <a:srgbClr val="12426B"/>
                  </a:solidFill>
                  <a:latin typeface="Arial"/>
                  <a:cs typeface="Arial"/>
                </a:rPr>
                <a:t>Globally</a:t>
              </a:r>
              <a:endParaRPr sz="1100">
                <a:latin typeface="Arial"/>
                <a:cs typeface="Arial"/>
              </a:endParaRPr>
            </a:p>
          </p:txBody>
        </p:sp>
        <p:sp>
          <p:nvSpPr>
            <p:cNvPr id="45" name="object 45"/>
            <p:cNvSpPr txBox="1"/>
            <p:nvPr/>
          </p:nvSpPr>
          <p:spPr>
            <a:xfrm>
              <a:off x="988160" y="2868628"/>
              <a:ext cx="1049655" cy="570460"/>
            </a:xfrm>
            <a:prstGeom prst="rect">
              <a:avLst/>
            </a:prstGeom>
          </p:spPr>
          <p:txBody>
            <a:bodyPr vert="horz" wrap="square" lIns="0" tIns="12065" rIns="0" bIns="0" rtlCol="0">
              <a:spAutoFit/>
            </a:bodyPr>
            <a:lstStyle/>
            <a:p>
              <a:pPr marR="5080" algn="ctr">
                <a:spcBef>
                  <a:spcPts val="95"/>
                </a:spcBef>
              </a:pPr>
              <a:r>
                <a:rPr sz="1600" spc="-10">
                  <a:solidFill>
                    <a:srgbClr val="089C8B"/>
                  </a:solidFill>
                  <a:latin typeface="Arial"/>
                  <a:cs typeface="Arial"/>
                </a:rPr>
                <a:t>US$13.3bn</a:t>
              </a:r>
              <a:endParaRPr sz="1600">
                <a:solidFill>
                  <a:srgbClr val="089C8B"/>
                </a:solidFill>
                <a:latin typeface="Arial"/>
                <a:cs typeface="Arial"/>
              </a:endParaRPr>
            </a:p>
            <a:p>
              <a:pPr marR="3175" algn="ctr">
                <a:spcBef>
                  <a:spcPts val="5"/>
                </a:spcBef>
              </a:pPr>
              <a:r>
                <a:rPr sz="1100">
                  <a:solidFill>
                    <a:srgbClr val="12426B"/>
                  </a:solidFill>
                  <a:latin typeface="Arial"/>
                  <a:cs typeface="Arial"/>
                </a:rPr>
                <a:t>IPO</a:t>
              </a:r>
              <a:r>
                <a:rPr sz="1100" spc="-35">
                  <a:solidFill>
                    <a:srgbClr val="12426B"/>
                  </a:solidFill>
                  <a:latin typeface="Arial"/>
                  <a:cs typeface="Arial"/>
                </a:rPr>
                <a:t> </a:t>
              </a:r>
              <a:r>
                <a:rPr sz="1100" spc="-10">
                  <a:solidFill>
                    <a:srgbClr val="12426B"/>
                  </a:solidFill>
                  <a:latin typeface="Arial"/>
                  <a:cs typeface="Arial"/>
                </a:rPr>
                <a:t>Proceeds</a:t>
              </a:r>
              <a:endParaRPr sz="1100">
                <a:latin typeface="Arial"/>
                <a:cs typeface="Arial"/>
              </a:endParaRPr>
            </a:p>
            <a:p>
              <a:pPr marR="3810" algn="ctr">
                <a:spcBef>
                  <a:spcPts val="15"/>
                </a:spcBef>
              </a:pPr>
              <a:r>
                <a:rPr sz="800">
                  <a:solidFill>
                    <a:srgbClr val="12426B"/>
                  </a:solidFill>
                  <a:latin typeface="Arial"/>
                  <a:cs typeface="Arial"/>
                </a:rPr>
                <a:t>(</a:t>
              </a:r>
              <a:r>
                <a:rPr sz="800">
                  <a:solidFill>
                    <a:srgbClr val="FF0000"/>
                  </a:solidFill>
                  <a:latin typeface="Arial"/>
                  <a:cs typeface="Arial"/>
                </a:rPr>
                <a:t>35%</a:t>
              </a:r>
              <a:r>
                <a:rPr sz="800" spc="-10">
                  <a:solidFill>
                    <a:srgbClr val="FF0000"/>
                  </a:solidFill>
                  <a:latin typeface="Arial"/>
                  <a:cs typeface="Arial"/>
                </a:rPr>
                <a:t> </a:t>
              </a:r>
              <a:r>
                <a:rPr sz="800">
                  <a:solidFill>
                    <a:srgbClr val="12426B"/>
                  </a:solidFill>
                  <a:latin typeface="Arial"/>
                  <a:cs typeface="Arial"/>
                </a:rPr>
                <a:t>of</a:t>
              </a:r>
              <a:r>
                <a:rPr sz="800" spc="-25">
                  <a:solidFill>
                    <a:srgbClr val="12426B"/>
                  </a:solidFill>
                  <a:latin typeface="Arial"/>
                  <a:cs typeface="Arial"/>
                </a:rPr>
                <a:t> </a:t>
              </a:r>
              <a:r>
                <a:rPr sz="800">
                  <a:solidFill>
                    <a:srgbClr val="12426B"/>
                  </a:solidFill>
                  <a:latin typeface="Arial"/>
                  <a:cs typeface="Arial"/>
                </a:rPr>
                <a:t>2025</a:t>
              </a:r>
              <a:r>
                <a:rPr sz="800" spc="5">
                  <a:solidFill>
                    <a:srgbClr val="12426B"/>
                  </a:solidFill>
                  <a:latin typeface="Arial"/>
                  <a:cs typeface="Arial"/>
                </a:rPr>
                <a:t> </a:t>
              </a:r>
              <a:r>
                <a:rPr sz="800" spc="-25">
                  <a:solidFill>
                    <a:srgbClr val="12426B"/>
                  </a:solidFill>
                  <a:latin typeface="Arial"/>
                  <a:cs typeface="Arial"/>
                </a:rPr>
                <a:t>IPO</a:t>
              </a:r>
              <a:endParaRPr sz="800">
                <a:latin typeface="Arial"/>
                <a:cs typeface="Arial"/>
              </a:endParaRPr>
            </a:p>
            <a:p>
              <a:pPr marR="3175" algn="ctr"/>
              <a:r>
                <a:rPr sz="800" spc="-10">
                  <a:solidFill>
                    <a:srgbClr val="12426B"/>
                  </a:solidFill>
                  <a:latin typeface="Arial"/>
                  <a:cs typeface="Arial"/>
                </a:rPr>
                <a:t>Proceeds)</a:t>
              </a:r>
              <a:endParaRPr sz="800">
                <a:latin typeface="Arial"/>
                <a:cs typeface="Arial"/>
              </a:endParaRPr>
            </a:p>
          </p:txBody>
        </p:sp>
        <p:sp>
          <p:nvSpPr>
            <p:cNvPr id="46" name="object 46"/>
            <p:cNvSpPr txBox="1"/>
            <p:nvPr/>
          </p:nvSpPr>
          <p:spPr>
            <a:xfrm>
              <a:off x="2575811" y="4180132"/>
              <a:ext cx="797560" cy="362033"/>
            </a:xfrm>
            <a:prstGeom prst="rect">
              <a:avLst/>
            </a:prstGeom>
          </p:spPr>
          <p:txBody>
            <a:bodyPr vert="horz" wrap="square" lIns="0" tIns="12065" rIns="0" bIns="0" rtlCol="0">
              <a:spAutoFit/>
            </a:bodyPr>
            <a:lstStyle/>
            <a:p>
              <a:pPr marL="25400" algn="ctr">
                <a:spcBef>
                  <a:spcPts val="95"/>
                </a:spcBef>
              </a:pPr>
              <a:r>
                <a:rPr sz="1600" spc="-25">
                  <a:solidFill>
                    <a:srgbClr val="089C8B"/>
                  </a:solidFill>
                  <a:latin typeface="Arial"/>
                  <a:cs typeface="Arial"/>
                </a:rPr>
                <a:t>15</a:t>
              </a:r>
              <a:endParaRPr sz="1600">
                <a:solidFill>
                  <a:srgbClr val="089C8B"/>
                </a:solidFill>
                <a:latin typeface="Arial"/>
                <a:cs typeface="Arial"/>
              </a:endParaRPr>
            </a:p>
            <a:p>
              <a:pPr marR="5080" algn="ctr">
                <a:spcBef>
                  <a:spcPts val="5"/>
                </a:spcBef>
              </a:pPr>
              <a:r>
                <a:rPr sz="1100" spc="-30">
                  <a:solidFill>
                    <a:srgbClr val="12426B"/>
                  </a:solidFill>
                  <a:latin typeface="Arial"/>
                  <a:cs typeface="Arial"/>
                </a:rPr>
                <a:t>A-</a:t>
              </a:r>
              <a:r>
                <a:rPr sz="1100" spc="-10">
                  <a:solidFill>
                    <a:srgbClr val="12426B"/>
                  </a:solidFill>
                  <a:latin typeface="Arial"/>
                  <a:cs typeface="Arial"/>
                </a:rPr>
                <a:t>to-</a:t>
              </a:r>
              <a:r>
                <a:rPr sz="1100">
                  <a:solidFill>
                    <a:srgbClr val="12426B"/>
                  </a:solidFill>
                  <a:latin typeface="Arial"/>
                  <a:cs typeface="Arial"/>
                </a:rPr>
                <a:t>H</a:t>
              </a:r>
              <a:r>
                <a:rPr sz="1100" spc="25">
                  <a:solidFill>
                    <a:srgbClr val="12426B"/>
                  </a:solidFill>
                  <a:latin typeface="Arial"/>
                  <a:cs typeface="Arial"/>
                </a:rPr>
                <a:t> </a:t>
              </a:r>
              <a:r>
                <a:rPr sz="1100" spc="-20">
                  <a:solidFill>
                    <a:srgbClr val="12426B"/>
                  </a:solidFill>
                  <a:latin typeface="Arial"/>
                  <a:cs typeface="Arial"/>
                </a:rPr>
                <a:t>IPOs</a:t>
              </a:r>
              <a:endParaRPr sz="1100">
                <a:latin typeface="Arial"/>
                <a:cs typeface="Arial"/>
              </a:endParaRPr>
            </a:p>
          </p:txBody>
        </p:sp>
        <p:sp>
          <p:nvSpPr>
            <p:cNvPr id="47" name="object 47"/>
            <p:cNvSpPr txBox="1"/>
            <p:nvPr/>
          </p:nvSpPr>
          <p:spPr>
            <a:xfrm>
              <a:off x="869898" y="4102587"/>
              <a:ext cx="1431925" cy="483616"/>
            </a:xfrm>
            <a:prstGeom prst="rect">
              <a:avLst/>
            </a:prstGeom>
          </p:spPr>
          <p:txBody>
            <a:bodyPr vert="horz" wrap="square" lIns="0" tIns="73025" rIns="0" bIns="0" rtlCol="0">
              <a:spAutoFit/>
            </a:bodyPr>
            <a:lstStyle/>
            <a:p>
              <a:pPr marR="10160" algn="ctr">
                <a:spcBef>
                  <a:spcPts val="575"/>
                </a:spcBef>
              </a:pPr>
              <a:r>
                <a:rPr sz="800">
                  <a:solidFill>
                    <a:srgbClr val="089C8B"/>
                  </a:solidFill>
                  <a:latin typeface="Arial"/>
                  <a:cs typeface="Arial"/>
                </a:rPr>
                <a:t>55% </a:t>
              </a:r>
              <a:r>
                <a:rPr sz="800">
                  <a:solidFill>
                    <a:srgbClr val="12426B"/>
                  </a:solidFill>
                  <a:latin typeface="Arial"/>
                  <a:cs typeface="Arial"/>
                </a:rPr>
                <a:t>TMT</a:t>
              </a:r>
              <a:r>
                <a:rPr sz="800" spc="-30">
                  <a:solidFill>
                    <a:srgbClr val="12426B"/>
                  </a:solidFill>
                  <a:latin typeface="Arial"/>
                  <a:cs typeface="Arial"/>
                </a:rPr>
                <a:t> </a:t>
              </a:r>
              <a:r>
                <a:rPr sz="800">
                  <a:solidFill>
                    <a:srgbClr val="12426B"/>
                  </a:solidFill>
                  <a:latin typeface="Arial"/>
                  <a:cs typeface="Arial"/>
                </a:rPr>
                <a:t>/</a:t>
              </a:r>
              <a:r>
                <a:rPr sz="800" spc="-5">
                  <a:solidFill>
                    <a:srgbClr val="12426B"/>
                  </a:solidFill>
                  <a:latin typeface="Arial"/>
                  <a:cs typeface="Arial"/>
                </a:rPr>
                <a:t> </a:t>
              </a:r>
              <a:r>
                <a:rPr sz="800" spc="-25">
                  <a:solidFill>
                    <a:srgbClr val="12426B"/>
                  </a:solidFill>
                  <a:latin typeface="Arial"/>
                  <a:cs typeface="Arial"/>
                </a:rPr>
                <a:t>AI</a:t>
              </a:r>
              <a:endParaRPr sz="800">
                <a:latin typeface="Arial"/>
                <a:cs typeface="Arial"/>
              </a:endParaRPr>
            </a:p>
            <a:p>
              <a:pPr marR="8890" algn="ctr">
                <a:spcBef>
                  <a:spcPts val="480"/>
                </a:spcBef>
              </a:pPr>
              <a:r>
                <a:rPr sz="800">
                  <a:solidFill>
                    <a:srgbClr val="089C8B"/>
                  </a:solidFill>
                  <a:latin typeface="Arial"/>
                  <a:cs typeface="Arial"/>
                </a:rPr>
                <a:t>27%</a:t>
              </a:r>
              <a:r>
                <a:rPr sz="800" spc="-15">
                  <a:solidFill>
                    <a:srgbClr val="089C8B"/>
                  </a:solidFill>
                  <a:latin typeface="Arial"/>
                  <a:cs typeface="Arial"/>
                </a:rPr>
                <a:t> </a:t>
              </a:r>
              <a:r>
                <a:rPr sz="800" spc="-10">
                  <a:solidFill>
                    <a:srgbClr val="12426B"/>
                  </a:solidFill>
                  <a:latin typeface="Arial"/>
                  <a:cs typeface="Arial"/>
                </a:rPr>
                <a:t>Consumer</a:t>
              </a:r>
              <a:endParaRPr sz="800">
                <a:latin typeface="Arial"/>
                <a:cs typeface="Arial"/>
              </a:endParaRPr>
            </a:p>
            <a:p>
              <a:pPr marR="5080" algn="ctr">
                <a:spcBef>
                  <a:spcPts val="480"/>
                </a:spcBef>
              </a:pPr>
              <a:r>
                <a:rPr sz="800">
                  <a:solidFill>
                    <a:srgbClr val="089C8B"/>
                  </a:solidFill>
                  <a:latin typeface="Arial"/>
                  <a:cs typeface="Arial"/>
                </a:rPr>
                <a:t>14%</a:t>
              </a:r>
              <a:r>
                <a:rPr sz="800" spc="15">
                  <a:solidFill>
                    <a:srgbClr val="089C8B"/>
                  </a:solidFill>
                  <a:latin typeface="Arial"/>
                  <a:cs typeface="Arial"/>
                </a:rPr>
                <a:t> </a:t>
              </a:r>
              <a:r>
                <a:rPr sz="800" spc="-10">
                  <a:solidFill>
                    <a:srgbClr val="12426B"/>
                  </a:solidFill>
                  <a:latin typeface="Arial"/>
                  <a:cs typeface="Arial"/>
                </a:rPr>
                <a:t>Industrials</a:t>
              </a:r>
              <a:r>
                <a:rPr sz="800" spc="-5">
                  <a:solidFill>
                    <a:srgbClr val="12426B"/>
                  </a:solidFill>
                  <a:latin typeface="Arial"/>
                  <a:cs typeface="Arial"/>
                </a:rPr>
                <a:t> </a:t>
              </a:r>
              <a:r>
                <a:rPr sz="800">
                  <a:solidFill>
                    <a:srgbClr val="12426B"/>
                  </a:solidFill>
                  <a:latin typeface="Arial"/>
                  <a:cs typeface="Arial"/>
                </a:rPr>
                <a:t>/</a:t>
              </a:r>
              <a:r>
                <a:rPr sz="800" spc="15">
                  <a:solidFill>
                    <a:srgbClr val="12426B"/>
                  </a:solidFill>
                  <a:latin typeface="Arial"/>
                  <a:cs typeface="Arial"/>
                </a:rPr>
                <a:t> </a:t>
              </a:r>
              <a:r>
                <a:rPr sz="800">
                  <a:solidFill>
                    <a:srgbClr val="12426B"/>
                  </a:solidFill>
                  <a:latin typeface="Arial"/>
                  <a:cs typeface="Arial"/>
                </a:rPr>
                <a:t>New</a:t>
              </a:r>
              <a:r>
                <a:rPr sz="800" spc="5">
                  <a:solidFill>
                    <a:srgbClr val="12426B"/>
                  </a:solidFill>
                  <a:latin typeface="Arial"/>
                  <a:cs typeface="Arial"/>
                </a:rPr>
                <a:t> </a:t>
              </a:r>
              <a:r>
                <a:rPr sz="800" spc="-10">
                  <a:solidFill>
                    <a:srgbClr val="12426B"/>
                  </a:solidFill>
                  <a:latin typeface="Arial"/>
                  <a:cs typeface="Arial"/>
                </a:rPr>
                <a:t>Energy</a:t>
              </a:r>
              <a:endParaRPr sz="800">
                <a:latin typeface="Arial"/>
                <a:cs typeface="Arial"/>
              </a:endParaRPr>
            </a:p>
          </p:txBody>
        </p:sp>
        <p:sp>
          <p:nvSpPr>
            <p:cNvPr id="48" name="object 48"/>
            <p:cNvSpPr txBox="1"/>
            <p:nvPr/>
          </p:nvSpPr>
          <p:spPr>
            <a:xfrm>
              <a:off x="1115463" y="1639268"/>
              <a:ext cx="847090" cy="505327"/>
            </a:xfrm>
            <a:prstGeom prst="rect">
              <a:avLst/>
            </a:prstGeom>
          </p:spPr>
          <p:txBody>
            <a:bodyPr vert="horz" wrap="square" lIns="0" tIns="12065" rIns="0" bIns="0" rtlCol="0">
              <a:spAutoFit/>
            </a:bodyPr>
            <a:lstStyle/>
            <a:p>
              <a:pPr marR="5080" algn="ctr">
                <a:spcBef>
                  <a:spcPts val="95"/>
                </a:spcBef>
              </a:pPr>
              <a:r>
                <a:rPr sz="1600" spc="-25">
                  <a:solidFill>
                    <a:srgbClr val="089C8B"/>
                  </a:solidFill>
                  <a:latin typeface="Arial"/>
                  <a:cs typeface="Arial"/>
                </a:rPr>
                <a:t>#1</a:t>
              </a:r>
              <a:endParaRPr sz="1600">
                <a:solidFill>
                  <a:srgbClr val="089C8B"/>
                </a:solidFill>
                <a:latin typeface="Arial"/>
                <a:cs typeface="Arial"/>
              </a:endParaRPr>
            </a:p>
            <a:p>
              <a:pPr marR="5080" algn="ctr">
                <a:spcBef>
                  <a:spcPts val="5"/>
                </a:spcBef>
              </a:pPr>
              <a:r>
                <a:rPr sz="1100">
                  <a:solidFill>
                    <a:srgbClr val="12426B"/>
                  </a:solidFill>
                  <a:latin typeface="Arial"/>
                  <a:cs typeface="Arial"/>
                </a:rPr>
                <a:t>IPO</a:t>
              </a:r>
              <a:r>
                <a:rPr sz="1100" spc="-30">
                  <a:solidFill>
                    <a:srgbClr val="12426B"/>
                  </a:solidFill>
                  <a:latin typeface="Arial"/>
                  <a:cs typeface="Arial"/>
                </a:rPr>
                <a:t> </a:t>
              </a:r>
              <a:r>
                <a:rPr sz="1100" spc="-10">
                  <a:solidFill>
                    <a:srgbClr val="12426B"/>
                  </a:solidFill>
                  <a:latin typeface="Arial"/>
                  <a:cs typeface="Arial"/>
                </a:rPr>
                <a:t>Volume</a:t>
              </a:r>
              <a:endParaRPr sz="1100">
                <a:latin typeface="Arial"/>
                <a:cs typeface="Arial"/>
              </a:endParaRPr>
            </a:p>
            <a:p>
              <a:pPr marR="5715" algn="ctr">
                <a:spcBef>
                  <a:spcPts val="5"/>
                </a:spcBef>
              </a:pPr>
              <a:r>
                <a:rPr sz="1100" spc="-10">
                  <a:solidFill>
                    <a:srgbClr val="12426B"/>
                  </a:solidFill>
                  <a:latin typeface="Arial"/>
                  <a:cs typeface="Arial"/>
                </a:rPr>
                <a:t>Globally</a:t>
              </a:r>
              <a:r>
                <a:rPr sz="1050" spc="-15" baseline="27777">
                  <a:solidFill>
                    <a:srgbClr val="12426B"/>
                  </a:solidFill>
                  <a:latin typeface="Arial"/>
                  <a:cs typeface="Arial"/>
                </a:rPr>
                <a:t>1</a:t>
              </a:r>
              <a:endParaRPr sz="1050" baseline="27777">
                <a:latin typeface="Arial"/>
                <a:cs typeface="Arial"/>
              </a:endParaRPr>
            </a:p>
          </p:txBody>
        </p:sp>
        <p:sp>
          <p:nvSpPr>
            <p:cNvPr id="49" name="object 49"/>
            <p:cNvSpPr txBox="1"/>
            <p:nvPr/>
          </p:nvSpPr>
          <p:spPr>
            <a:xfrm>
              <a:off x="2133598" y="1639268"/>
              <a:ext cx="1544955" cy="505327"/>
            </a:xfrm>
            <a:prstGeom prst="rect">
              <a:avLst/>
            </a:prstGeom>
          </p:spPr>
          <p:txBody>
            <a:bodyPr vert="horz" wrap="square" lIns="0" tIns="12065" rIns="0" bIns="0" rtlCol="0">
              <a:spAutoFit/>
            </a:bodyPr>
            <a:lstStyle/>
            <a:p>
              <a:pPr marR="5080" algn="ctr">
                <a:spcBef>
                  <a:spcPts val="95"/>
                </a:spcBef>
              </a:pPr>
              <a:r>
                <a:rPr sz="1600">
                  <a:solidFill>
                    <a:srgbClr val="089C8B"/>
                  </a:solidFill>
                  <a:latin typeface="Arial"/>
                  <a:cs typeface="Arial"/>
                </a:rPr>
                <a:t>Second</a:t>
              </a:r>
              <a:r>
                <a:rPr sz="1600" spc="-25">
                  <a:solidFill>
                    <a:srgbClr val="089C8B"/>
                  </a:solidFill>
                  <a:latin typeface="Arial"/>
                  <a:cs typeface="Arial"/>
                </a:rPr>
                <a:t> </a:t>
              </a:r>
              <a:r>
                <a:rPr sz="1600" spc="-10">
                  <a:solidFill>
                    <a:srgbClr val="089C8B"/>
                  </a:solidFill>
                  <a:latin typeface="Arial"/>
                  <a:cs typeface="Arial"/>
                </a:rPr>
                <a:t>Highest</a:t>
              </a:r>
              <a:endParaRPr sz="1600">
                <a:solidFill>
                  <a:srgbClr val="089C8B"/>
                </a:solidFill>
                <a:latin typeface="Arial"/>
                <a:cs typeface="Arial"/>
              </a:endParaRPr>
            </a:p>
            <a:p>
              <a:pPr marR="5080" algn="ctr">
                <a:spcBef>
                  <a:spcPts val="5"/>
                </a:spcBef>
              </a:pPr>
              <a:r>
                <a:rPr sz="1100">
                  <a:solidFill>
                    <a:srgbClr val="12426B"/>
                  </a:solidFill>
                  <a:latin typeface="Arial"/>
                  <a:cs typeface="Arial"/>
                </a:rPr>
                <a:t>Q1</a:t>
              </a:r>
              <a:r>
                <a:rPr sz="1100" spc="-15">
                  <a:solidFill>
                    <a:srgbClr val="12426B"/>
                  </a:solidFill>
                  <a:latin typeface="Arial"/>
                  <a:cs typeface="Arial"/>
                </a:rPr>
                <a:t> </a:t>
              </a:r>
              <a:r>
                <a:rPr sz="1100">
                  <a:solidFill>
                    <a:srgbClr val="12426B"/>
                  </a:solidFill>
                  <a:latin typeface="Arial"/>
                  <a:cs typeface="Arial"/>
                </a:rPr>
                <a:t>IPO</a:t>
              </a:r>
              <a:r>
                <a:rPr sz="1100" spc="-25">
                  <a:solidFill>
                    <a:srgbClr val="12426B"/>
                  </a:solidFill>
                  <a:latin typeface="Arial"/>
                  <a:cs typeface="Arial"/>
                </a:rPr>
                <a:t> </a:t>
              </a:r>
              <a:r>
                <a:rPr sz="1100" spc="-10">
                  <a:solidFill>
                    <a:srgbClr val="12426B"/>
                  </a:solidFill>
                  <a:latin typeface="Arial"/>
                  <a:cs typeface="Arial"/>
                </a:rPr>
                <a:t>Volume</a:t>
              </a:r>
              <a:endParaRPr sz="1100">
                <a:latin typeface="Arial"/>
                <a:cs typeface="Arial"/>
              </a:endParaRPr>
            </a:p>
            <a:p>
              <a:pPr marR="1905" algn="ctr">
                <a:spcBef>
                  <a:spcPts val="5"/>
                </a:spcBef>
              </a:pPr>
              <a:r>
                <a:rPr sz="1100">
                  <a:solidFill>
                    <a:srgbClr val="12426B"/>
                  </a:solidFill>
                  <a:latin typeface="Arial"/>
                  <a:cs typeface="Arial"/>
                </a:rPr>
                <a:t>in</a:t>
              </a:r>
              <a:r>
                <a:rPr sz="1100" spc="-20">
                  <a:solidFill>
                    <a:srgbClr val="12426B"/>
                  </a:solidFill>
                  <a:latin typeface="Arial"/>
                  <a:cs typeface="Arial"/>
                </a:rPr>
                <a:t> </a:t>
              </a:r>
              <a:r>
                <a:rPr sz="1100" spc="-10">
                  <a:solidFill>
                    <a:srgbClr val="12426B"/>
                  </a:solidFill>
                  <a:latin typeface="Arial"/>
                  <a:cs typeface="Arial"/>
                </a:rPr>
                <a:t>History</a:t>
              </a:r>
              <a:endParaRPr sz="1100">
                <a:latin typeface="Arial"/>
                <a:cs typeface="Arial"/>
              </a:endParaRPr>
            </a:p>
          </p:txBody>
        </p:sp>
        <p:sp>
          <p:nvSpPr>
            <p:cNvPr id="52" name="TextBox 51">
              <a:extLst>
                <a:ext uri="{FF2B5EF4-FFF2-40B4-BE49-F238E27FC236}">
                  <a16:creationId xmlns:a16="http://schemas.microsoft.com/office/drawing/2014/main" id="{4CC2DC99-402E-A813-C75F-2281EAA18C06}"/>
                </a:ext>
              </a:extLst>
            </p:cNvPr>
            <p:cNvSpPr txBox="1">
              <a:spLocks noChangeArrowheads="1"/>
            </p:cNvSpPr>
            <p:nvPr/>
          </p:nvSpPr>
          <p:spPr bwMode="auto">
            <a:xfrm>
              <a:off x="734667" y="1075944"/>
              <a:ext cx="3072384" cy="228600"/>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en-US" sz="1100">
                  <a:cs typeface="Arial" panose="020B0604020202020204" pitchFamily="34" charset="0"/>
                </a:rPr>
                <a:t>Top IPO Venue With Multiple Drivers</a:t>
              </a:r>
            </a:p>
          </p:txBody>
        </p:sp>
      </p:grpSp>
      <p:grpSp>
        <p:nvGrpSpPr>
          <p:cNvPr id="15" name="Group 14">
            <a:extLst>
              <a:ext uri="{FF2B5EF4-FFF2-40B4-BE49-F238E27FC236}">
                <a16:creationId xmlns:a16="http://schemas.microsoft.com/office/drawing/2014/main" id="{A674B117-8E06-4C38-0A87-4A50458844F5}"/>
              </a:ext>
            </a:extLst>
          </p:cNvPr>
          <p:cNvGrpSpPr/>
          <p:nvPr/>
        </p:nvGrpSpPr>
        <p:grpSpPr>
          <a:xfrm>
            <a:off x="4088535" y="1096663"/>
            <a:ext cx="5363000" cy="1791697"/>
            <a:chOff x="4194810" y="1075944"/>
            <a:chExt cx="4736975" cy="1539447"/>
          </a:xfrm>
        </p:grpSpPr>
        <p:sp>
          <p:nvSpPr>
            <p:cNvPr id="18" name="object 18"/>
            <p:cNvSpPr/>
            <p:nvPr/>
          </p:nvSpPr>
          <p:spPr>
            <a:xfrm>
              <a:off x="4199130" y="1306656"/>
              <a:ext cx="4732655" cy="1308735"/>
            </a:xfrm>
            <a:custGeom>
              <a:avLst/>
              <a:gdLst/>
              <a:ahLst/>
              <a:cxnLst/>
              <a:rect l="l" t="t" r="r" b="b"/>
              <a:pathLst>
                <a:path w="4732655" h="1308735">
                  <a:moveTo>
                    <a:pt x="4732147" y="0"/>
                  </a:moveTo>
                  <a:lnTo>
                    <a:pt x="0" y="0"/>
                  </a:lnTo>
                  <a:lnTo>
                    <a:pt x="0" y="1308481"/>
                  </a:lnTo>
                  <a:lnTo>
                    <a:pt x="4732147" y="1308481"/>
                  </a:lnTo>
                  <a:lnTo>
                    <a:pt x="4732147" y="0"/>
                  </a:lnTo>
                  <a:close/>
                </a:path>
              </a:pathLst>
            </a:custGeom>
            <a:solidFill>
              <a:srgbClr val="FFFFFF"/>
            </a:solidFill>
            <a:ln>
              <a:solidFill>
                <a:srgbClr val="C00000"/>
              </a:solidFill>
            </a:ln>
          </p:spPr>
          <p:txBody>
            <a:bodyPr wrap="square" lIns="0" tIns="0" rIns="0" bIns="0" rtlCol="0"/>
            <a:lstStyle/>
            <a:p>
              <a:endParaRPr/>
            </a:p>
          </p:txBody>
        </p:sp>
        <p:sp>
          <p:nvSpPr>
            <p:cNvPr id="19" name="object 19"/>
            <p:cNvSpPr/>
            <p:nvPr/>
          </p:nvSpPr>
          <p:spPr>
            <a:xfrm>
              <a:off x="4199130" y="1306656"/>
              <a:ext cx="4732655" cy="1308735"/>
            </a:xfrm>
            <a:custGeom>
              <a:avLst/>
              <a:gdLst/>
              <a:ahLst/>
              <a:cxnLst/>
              <a:rect l="l" t="t" r="r" b="b"/>
              <a:pathLst>
                <a:path w="4732655" h="1308735">
                  <a:moveTo>
                    <a:pt x="0" y="1308481"/>
                  </a:moveTo>
                  <a:lnTo>
                    <a:pt x="4732147" y="1308481"/>
                  </a:lnTo>
                  <a:lnTo>
                    <a:pt x="4732147" y="0"/>
                  </a:lnTo>
                  <a:lnTo>
                    <a:pt x="0" y="0"/>
                  </a:lnTo>
                  <a:lnTo>
                    <a:pt x="0" y="1308481"/>
                  </a:lnTo>
                  <a:close/>
                </a:path>
              </a:pathLst>
            </a:custGeom>
            <a:ln w="6349">
              <a:solidFill>
                <a:srgbClr val="089C8B"/>
              </a:solidFill>
            </a:ln>
          </p:spPr>
          <p:txBody>
            <a:bodyPr wrap="square" lIns="0" tIns="0" rIns="0" bIns="0" rtlCol="0"/>
            <a:lstStyle/>
            <a:p>
              <a:endParaRPr/>
            </a:p>
          </p:txBody>
        </p:sp>
        <p:sp>
          <p:nvSpPr>
            <p:cNvPr id="21" name="object 21"/>
            <p:cNvSpPr txBox="1"/>
            <p:nvPr/>
          </p:nvSpPr>
          <p:spPr>
            <a:xfrm>
              <a:off x="4574666" y="1975029"/>
              <a:ext cx="965200" cy="493631"/>
            </a:xfrm>
            <a:prstGeom prst="rect">
              <a:avLst/>
            </a:prstGeom>
          </p:spPr>
          <p:txBody>
            <a:bodyPr vert="horz" wrap="square" lIns="0" tIns="38100" rIns="0" bIns="0" rtlCol="0">
              <a:spAutoFit/>
            </a:bodyPr>
            <a:lstStyle/>
            <a:p>
              <a:pPr algn="ctr">
                <a:spcBef>
                  <a:spcPts val="300"/>
                </a:spcBef>
              </a:pPr>
              <a:r>
                <a:rPr sz="1400" spc="-25">
                  <a:solidFill>
                    <a:srgbClr val="089C8B"/>
                  </a:solidFill>
                  <a:latin typeface="Arial"/>
                  <a:cs typeface="Arial"/>
                </a:rPr>
                <a:t>21%</a:t>
              </a:r>
              <a:endParaRPr sz="1400">
                <a:solidFill>
                  <a:srgbClr val="089C8B"/>
                </a:solidFill>
                <a:latin typeface="Arial"/>
                <a:cs typeface="Arial"/>
              </a:endParaRPr>
            </a:p>
            <a:p>
              <a:pPr marL="24765" marR="30480" indent="-1905" algn="ctr">
                <a:spcBef>
                  <a:spcPts val="135"/>
                </a:spcBef>
              </a:pPr>
              <a:r>
                <a:rPr sz="1000">
                  <a:solidFill>
                    <a:srgbClr val="12426B"/>
                  </a:solidFill>
                  <a:latin typeface="Arial"/>
                  <a:cs typeface="Arial"/>
                </a:rPr>
                <a:t>IPOs</a:t>
              </a:r>
              <a:r>
                <a:rPr sz="1000" spc="-35">
                  <a:solidFill>
                    <a:srgbClr val="12426B"/>
                  </a:solidFill>
                  <a:latin typeface="Arial"/>
                  <a:cs typeface="Arial"/>
                </a:rPr>
                <a:t> </a:t>
              </a:r>
              <a:r>
                <a:rPr sz="1000" spc="-10">
                  <a:solidFill>
                    <a:srgbClr val="12426B"/>
                  </a:solidFill>
                  <a:latin typeface="Arial"/>
                  <a:cs typeface="Arial"/>
                </a:rPr>
                <a:t>Including </a:t>
              </a:r>
              <a:r>
                <a:rPr sz="1000">
                  <a:solidFill>
                    <a:srgbClr val="12426B"/>
                  </a:solidFill>
                  <a:latin typeface="Arial"/>
                  <a:cs typeface="Arial"/>
                </a:rPr>
                <a:t>Upsize</a:t>
              </a:r>
              <a:r>
                <a:rPr sz="1000" spc="-35">
                  <a:solidFill>
                    <a:srgbClr val="12426B"/>
                  </a:solidFill>
                  <a:latin typeface="Arial"/>
                  <a:cs typeface="Arial"/>
                </a:rPr>
                <a:t> </a:t>
              </a:r>
              <a:r>
                <a:rPr sz="1000" spc="-10">
                  <a:solidFill>
                    <a:srgbClr val="12426B"/>
                  </a:solidFill>
                  <a:latin typeface="Arial"/>
                  <a:cs typeface="Arial"/>
                </a:rPr>
                <a:t>Option</a:t>
              </a:r>
              <a:r>
                <a:rPr sz="975" spc="-15" baseline="25641">
                  <a:solidFill>
                    <a:srgbClr val="12426B"/>
                  </a:solidFill>
                  <a:latin typeface="Arial"/>
                  <a:cs typeface="Arial"/>
                </a:rPr>
                <a:t>4</a:t>
              </a:r>
              <a:endParaRPr sz="975" baseline="25641">
                <a:latin typeface="Arial"/>
                <a:cs typeface="Arial"/>
              </a:endParaRPr>
            </a:p>
          </p:txBody>
        </p:sp>
        <p:sp>
          <p:nvSpPr>
            <p:cNvPr id="22" name="object 22"/>
            <p:cNvSpPr txBox="1"/>
            <p:nvPr/>
          </p:nvSpPr>
          <p:spPr>
            <a:xfrm>
              <a:off x="6044693" y="2007568"/>
              <a:ext cx="1053465" cy="461126"/>
            </a:xfrm>
            <a:prstGeom prst="rect">
              <a:avLst/>
            </a:prstGeom>
          </p:spPr>
          <p:txBody>
            <a:bodyPr vert="horz" wrap="square" lIns="0" tIns="13335" rIns="0" bIns="0" rtlCol="0">
              <a:spAutoFit/>
            </a:bodyPr>
            <a:lstStyle/>
            <a:p>
              <a:pPr marR="1905" algn="ctr">
                <a:spcBef>
                  <a:spcPts val="105"/>
                </a:spcBef>
              </a:pPr>
              <a:r>
                <a:rPr sz="1400" spc="-10">
                  <a:solidFill>
                    <a:srgbClr val="089C8B"/>
                  </a:solidFill>
                  <a:latin typeface="Arial"/>
                  <a:cs typeface="Arial"/>
                </a:rPr>
                <a:t>US$38mm</a:t>
              </a:r>
              <a:endParaRPr sz="1400">
                <a:solidFill>
                  <a:srgbClr val="089C8B"/>
                </a:solidFill>
                <a:latin typeface="Arial"/>
                <a:cs typeface="Arial"/>
              </a:endParaRPr>
            </a:p>
            <a:p>
              <a:pPr marL="25400" marR="30480" algn="ctr">
                <a:spcBef>
                  <a:spcPts val="15"/>
                </a:spcBef>
              </a:pPr>
              <a:r>
                <a:rPr sz="1000">
                  <a:solidFill>
                    <a:srgbClr val="12426B"/>
                  </a:solidFill>
                  <a:latin typeface="Arial"/>
                  <a:cs typeface="Arial"/>
                </a:rPr>
                <a:t>Average</a:t>
              </a:r>
              <a:r>
                <a:rPr sz="1000" spc="-50">
                  <a:solidFill>
                    <a:srgbClr val="12426B"/>
                  </a:solidFill>
                  <a:latin typeface="Arial"/>
                  <a:cs typeface="Arial"/>
                </a:rPr>
                <a:t> </a:t>
              </a:r>
              <a:r>
                <a:rPr sz="1000" spc="-10">
                  <a:solidFill>
                    <a:srgbClr val="12426B"/>
                  </a:solidFill>
                  <a:latin typeface="Arial"/>
                  <a:cs typeface="Arial"/>
                </a:rPr>
                <a:t>Current </a:t>
              </a:r>
              <a:r>
                <a:rPr sz="1000">
                  <a:solidFill>
                    <a:srgbClr val="12426B"/>
                  </a:solidFill>
                  <a:latin typeface="Arial"/>
                  <a:cs typeface="Arial"/>
                </a:rPr>
                <a:t>3M</a:t>
              </a:r>
              <a:r>
                <a:rPr sz="1000" spc="-15">
                  <a:solidFill>
                    <a:srgbClr val="12426B"/>
                  </a:solidFill>
                  <a:latin typeface="Arial"/>
                  <a:cs typeface="Arial"/>
                </a:rPr>
                <a:t> </a:t>
              </a:r>
              <a:r>
                <a:rPr sz="1000" spc="-10">
                  <a:solidFill>
                    <a:srgbClr val="12426B"/>
                  </a:solidFill>
                  <a:latin typeface="Arial"/>
                  <a:cs typeface="Arial"/>
                </a:rPr>
                <a:t>ADT</a:t>
              </a:r>
              <a:r>
                <a:rPr sz="975" spc="-15" baseline="25641">
                  <a:solidFill>
                    <a:srgbClr val="12426B"/>
                  </a:solidFill>
                  <a:latin typeface="Arial"/>
                  <a:cs typeface="Arial"/>
                </a:rPr>
                <a:t>2,5</a:t>
              </a:r>
              <a:endParaRPr sz="975" baseline="25641">
                <a:latin typeface="Arial"/>
                <a:cs typeface="Arial"/>
              </a:endParaRPr>
            </a:p>
          </p:txBody>
        </p:sp>
        <p:sp>
          <p:nvSpPr>
            <p:cNvPr id="23" name="object 23"/>
            <p:cNvSpPr txBox="1"/>
            <p:nvPr/>
          </p:nvSpPr>
          <p:spPr>
            <a:xfrm>
              <a:off x="7555994" y="2010616"/>
              <a:ext cx="1080135" cy="462228"/>
            </a:xfrm>
            <a:prstGeom prst="rect">
              <a:avLst/>
            </a:prstGeom>
          </p:spPr>
          <p:txBody>
            <a:bodyPr vert="horz" wrap="square" lIns="0" tIns="12065" rIns="0" bIns="0" rtlCol="0">
              <a:spAutoFit/>
            </a:bodyPr>
            <a:lstStyle/>
            <a:p>
              <a:pPr marR="5080" algn="ctr">
                <a:lnSpc>
                  <a:spcPts val="1190"/>
                </a:lnSpc>
                <a:spcBef>
                  <a:spcPts val="95"/>
                </a:spcBef>
              </a:pPr>
              <a:r>
                <a:rPr sz="1000" spc="-10">
                  <a:solidFill>
                    <a:srgbClr val="12426B"/>
                  </a:solidFill>
                  <a:latin typeface="Arial"/>
                  <a:cs typeface="Arial"/>
                </a:rPr>
                <a:t>Substantial</a:t>
              </a:r>
              <a:endParaRPr sz="1000">
                <a:latin typeface="Arial"/>
                <a:cs typeface="Arial"/>
              </a:endParaRPr>
            </a:p>
            <a:p>
              <a:pPr marR="5080" algn="ctr">
                <a:lnSpc>
                  <a:spcPts val="1670"/>
                </a:lnSpc>
              </a:pPr>
              <a:r>
                <a:rPr sz="1400" spc="-10">
                  <a:solidFill>
                    <a:srgbClr val="089C8B"/>
                  </a:solidFill>
                  <a:latin typeface="Arial"/>
                  <a:cs typeface="Arial"/>
                </a:rPr>
                <a:t>International</a:t>
              </a:r>
              <a:endParaRPr sz="1400">
                <a:solidFill>
                  <a:srgbClr val="089C8B"/>
                </a:solidFill>
                <a:latin typeface="Arial"/>
                <a:cs typeface="Arial"/>
              </a:endParaRPr>
            </a:p>
            <a:p>
              <a:pPr marR="2540" algn="ctr">
                <a:spcBef>
                  <a:spcPts val="15"/>
                </a:spcBef>
              </a:pPr>
              <a:r>
                <a:rPr sz="1000" spc="-10">
                  <a:solidFill>
                    <a:srgbClr val="12426B"/>
                  </a:solidFill>
                  <a:latin typeface="Arial"/>
                  <a:cs typeface="Arial"/>
                </a:rPr>
                <a:t>Participation</a:t>
              </a:r>
              <a:endParaRPr sz="1000">
                <a:latin typeface="Arial"/>
                <a:cs typeface="Arial"/>
              </a:endParaRPr>
            </a:p>
          </p:txBody>
        </p:sp>
        <p:sp>
          <p:nvSpPr>
            <p:cNvPr id="24" name="object 24"/>
            <p:cNvSpPr/>
            <p:nvPr/>
          </p:nvSpPr>
          <p:spPr>
            <a:xfrm>
              <a:off x="4678173" y="1402286"/>
              <a:ext cx="216535" cy="161290"/>
            </a:xfrm>
            <a:custGeom>
              <a:avLst/>
              <a:gdLst/>
              <a:ahLst/>
              <a:cxnLst/>
              <a:rect l="l" t="t" r="r" b="b"/>
              <a:pathLst>
                <a:path w="216535" h="161290">
                  <a:moveTo>
                    <a:pt x="108076" y="0"/>
                  </a:moveTo>
                  <a:lnTo>
                    <a:pt x="0" y="160781"/>
                  </a:lnTo>
                  <a:lnTo>
                    <a:pt x="216026" y="160781"/>
                  </a:lnTo>
                  <a:lnTo>
                    <a:pt x="108076" y="0"/>
                  </a:lnTo>
                  <a:close/>
                </a:path>
              </a:pathLst>
            </a:custGeom>
            <a:solidFill>
              <a:srgbClr val="00B480"/>
            </a:solidFill>
          </p:spPr>
          <p:txBody>
            <a:bodyPr wrap="square" lIns="0" tIns="0" rIns="0" bIns="0" rtlCol="0"/>
            <a:lstStyle/>
            <a:p>
              <a:endParaRPr/>
            </a:p>
          </p:txBody>
        </p:sp>
        <p:sp>
          <p:nvSpPr>
            <p:cNvPr id="25" name="object 25"/>
            <p:cNvSpPr txBox="1"/>
            <p:nvPr/>
          </p:nvSpPr>
          <p:spPr>
            <a:xfrm>
              <a:off x="4424020" y="1372479"/>
              <a:ext cx="3024637" cy="497764"/>
            </a:xfrm>
            <a:prstGeom prst="rect">
              <a:avLst/>
            </a:prstGeom>
          </p:spPr>
          <p:txBody>
            <a:bodyPr vert="horz" wrap="square" lIns="0" tIns="38100" rIns="0" bIns="0" rtlCol="0">
              <a:spAutoFit/>
            </a:bodyPr>
            <a:lstStyle/>
            <a:p>
              <a:pPr marL="637540">
                <a:spcBef>
                  <a:spcPts val="300"/>
                </a:spcBef>
                <a:tabLst>
                  <a:tab pos="2087245" algn="l"/>
                </a:tabLst>
              </a:pPr>
              <a:r>
                <a:rPr sz="2100" spc="-37" baseline="-3968">
                  <a:solidFill>
                    <a:srgbClr val="089C8B"/>
                  </a:solidFill>
                  <a:latin typeface="Arial"/>
                  <a:cs typeface="Arial"/>
                </a:rPr>
                <a:t>29%</a:t>
              </a:r>
              <a:r>
                <a:rPr sz="2100" baseline="-3968">
                  <a:solidFill>
                    <a:srgbClr val="00AF50"/>
                  </a:solidFill>
                  <a:latin typeface="Arial"/>
                  <a:cs typeface="Arial"/>
                </a:rPr>
                <a:t>	</a:t>
              </a:r>
              <a:r>
                <a:rPr lang="en-US" sz="2100" baseline="-3968">
                  <a:solidFill>
                    <a:srgbClr val="00AF50"/>
                  </a:solidFill>
                  <a:latin typeface="Arial"/>
                  <a:cs typeface="Arial"/>
                </a:rPr>
                <a:t>   </a:t>
              </a:r>
              <a:r>
                <a:rPr sz="1400" spc="-25">
                  <a:solidFill>
                    <a:srgbClr val="089C8B"/>
                  </a:solidFill>
                  <a:latin typeface="Arial"/>
                  <a:cs typeface="Arial"/>
                </a:rPr>
                <a:t>14x</a:t>
              </a:r>
              <a:endParaRPr lang="en-US" sz="1400">
                <a:solidFill>
                  <a:srgbClr val="089C8B"/>
                </a:solidFill>
                <a:latin typeface="Arial"/>
                <a:cs typeface="Arial"/>
              </a:endParaRPr>
            </a:p>
            <a:p>
              <a:pPr marL="25400" marR="30480" indent="100330">
                <a:lnSpc>
                  <a:spcPct val="110400"/>
                </a:lnSpc>
                <a:spcBef>
                  <a:spcPts val="10"/>
                </a:spcBef>
                <a:tabLst>
                  <a:tab pos="1608455" algn="l"/>
                  <a:tab pos="1824989" algn="l"/>
                </a:tabLst>
              </a:pPr>
              <a:r>
                <a:rPr lang="en-US" sz="1500" baseline="-8333">
                  <a:solidFill>
                    <a:srgbClr val="12426B"/>
                  </a:solidFill>
                  <a:latin typeface="Arial"/>
                  <a:cs typeface="Arial"/>
                </a:rPr>
                <a:t>Average</a:t>
              </a:r>
              <a:r>
                <a:rPr lang="en-US" sz="1500" spc="-44" baseline="-8333">
                  <a:solidFill>
                    <a:srgbClr val="12426B"/>
                  </a:solidFill>
                  <a:latin typeface="Arial"/>
                  <a:cs typeface="Arial"/>
                </a:rPr>
                <a:t> </a:t>
              </a:r>
              <a:r>
                <a:rPr lang="en-US" sz="1500" baseline="-8333">
                  <a:solidFill>
                    <a:srgbClr val="12426B"/>
                  </a:solidFill>
                  <a:latin typeface="Arial"/>
                  <a:cs typeface="Arial"/>
                </a:rPr>
                <a:t>Share</a:t>
              </a:r>
              <a:r>
                <a:rPr lang="en-US" sz="1500" spc="-75" baseline="-8333">
                  <a:solidFill>
                    <a:srgbClr val="12426B"/>
                  </a:solidFill>
                  <a:latin typeface="Arial"/>
                  <a:cs typeface="Arial"/>
                </a:rPr>
                <a:t> </a:t>
              </a:r>
              <a:r>
                <a:rPr lang="en-US" sz="1500" spc="-30" baseline="-8333">
                  <a:solidFill>
                    <a:srgbClr val="12426B"/>
                  </a:solidFill>
                  <a:latin typeface="Arial"/>
                  <a:cs typeface="Arial"/>
                </a:rPr>
                <a:t>Price </a:t>
              </a:r>
              <a:r>
                <a:rPr lang="en-US" sz="1500" baseline="-8333">
                  <a:solidFill>
                    <a:srgbClr val="12426B"/>
                  </a:solidFill>
                  <a:latin typeface="Arial"/>
                  <a:cs typeface="Arial"/>
                </a:rPr>
                <a:t>	     </a:t>
              </a:r>
              <a:r>
                <a:rPr lang="en-US" sz="1000">
                  <a:solidFill>
                    <a:srgbClr val="12426B"/>
                  </a:solidFill>
                  <a:latin typeface="Arial"/>
                  <a:cs typeface="Arial"/>
                </a:rPr>
                <a:t>Average</a:t>
              </a:r>
              <a:r>
                <a:rPr lang="en-US" sz="1000" spc="-50">
                  <a:solidFill>
                    <a:srgbClr val="12426B"/>
                  </a:solidFill>
                  <a:latin typeface="Arial"/>
                  <a:cs typeface="Arial"/>
                </a:rPr>
                <a:t> </a:t>
              </a:r>
              <a:r>
                <a:rPr lang="en-US" sz="1000" spc="-10">
                  <a:solidFill>
                    <a:srgbClr val="12426B"/>
                  </a:solidFill>
                  <a:latin typeface="Arial"/>
                  <a:cs typeface="Arial"/>
                </a:rPr>
                <a:t>Institutional        Performance</a:t>
              </a:r>
              <a:r>
                <a:rPr lang="en-US" sz="975" spc="-15" baseline="25641">
                  <a:solidFill>
                    <a:srgbClr val="12426B"/>
                  </a:solidFill>
                  <a:latin typeface="Arial"/>
                  <a:cs typeface="Arial"/>
                </a:rPr>
                <a:t>2,3</a:t>
              </a:r>
              <a:r>
                <a:rPr lang="en-US" sz="975" baseline="25641">
                  <a:solidFill>
                    <a:srgbClr val="12426B"/>
                  </a:solidFill>
                  <a:latin typeface="Arial"/>
                  <a:cs typeface="Arial"/>
                </a:rPr>
                <a:t>	        </a:t>
              </a:r>
              <a:r>
                <a:rPr lang="en-US" sz="900" spc="-10">
                  <a:solidFill>
                    <a:srgbClr val="12426B"/>
                  </a:solidFill>
                  <a:latin typeface="Arial"/>
                  <a:cs typeface="Arial"/>
                </a:rPr>
                <a:t> 1-</a:t>
              </a:r>
              <a:r>
                <a:rPr lang="en-US" sz="900">
                  <a:solidFill>
                    <a:srgbClr val="12426B"/>
                  </a:solidFill>
                  <a:latin typeface="Arial"/>
                  <a:cs typeface="Arial"/>
                </a:rPr>
                <a:t>month  </a:t>
              </a:r>
              <a:r>
                <a:rPr lang="en-US" sz="1500" spc="-15" baseline="5555">
                  <a:solidFill>
                    <a:srgbClr val="12426B"/>
                  </a:solidFill>
                  <a:latin typeface="Arial"/>
                  <a:cs typeface="Arial"/>
                </a:rPr>
                <a:t>Subscription</a:t>
              </a:r>
              <a:r>
                <a:rPr lang="en-US" sz="975" spc="-15" baseline="34188">
                  <a:solidFill>
                    <a:srgbClr val="12426B"/>
                  </a:solidFill>
                  <a:latin typeface="Arial"/>
                  <a:cs typeface="Arial"/>
                </a:rPr>
                <a:t>2   </a:t>
              </a:r>
              <a:endParaRPr lang="en-US" sz="975" baseline="34188">
                <a:latin typeface="Arial"/>
                <a:cs typeface="Arial"/>
              </a:endParaRPr>
            </a:p>
          </p:txBody>
        </p:sp>
        <p:sp>
          <p:nvSpPr>
            <p:cNvPr id="26" name="object 26"/>
            <p:cNvSpPr txBox="1"/>
            <p:nvPr/>
          </p:nvSpPr>
          <p:spPr>
            <a:xfrm>
              <a:off x="7621654" y="1394340"/>
              <a:ext cx="944244" cy="493631"/>
            </a:xfrm>
            <a:prstGeom prst="rect">
              <a:avLst/>
            </a:prstGeom>
          </p:spPr>
          <p:txBody>
            <a:bodyPr vert="horz" wrap="square" lIns="0" tIns="38100" rIns="0" bIns="0" rtlCol="0">
              <a:spAutoFit/>
            </a:bodyPr>
            <a:lstStyle/>
            <a:p>
              <a:pPr marR="6350" algn="ctr">
                <a:spcBef>
                  <a:spcPts val="300"/>
                </a:spcBef>
              </a:pPr>
              <a:r>
                <a:rPr sz="1400" spc="-20">
                  <a:solidFill>
                    <a:srgbClr val="089C8B"/>
                  </a:solidFill>
                  <a:latin typeface="Arial"/>
                  <a:cs typeface="Arial"/>
                </a:rPr>
                <a:t>862x</a:t>
              </a:r>
              <a:endParaRPr sz="1400">
                <a:solidFill>
                  <a:srgbClr val="089C8B"/>
                </a:solidFill>
                <a:latin typeface="Arial"/>
                <a:cs typeface="Arial"/>
              </a:endParaRPr>
            </a:p>
            <a:p>
              <a:pPr marL="25400" marR="30480" algn="ctr">
                <a:spcBef>
                  <a:spcPts val="135"/>
                </a:spcBef>
              </a:pPr>
              <a:r>
                <a:rPr sz="1000">
                  <a:solidFill>
                    <a:srgbClr val="12426B"/>
                  </a:solidFill>
                  <a:latin typeface="Arial"/>
                  <a:cs typeface="Arial"/>
                </a:rPr>
                <a:t>Average</a:t>
              </a:r>
              <a:r>
                <a:rPr sz="1000" spc="-30">
                  <a:solidFill>
                    <a:srgbClr val="12426B"/>
                  </a:solidFill>
                  <a:latin typeface="Arial"/>
                  <a:cs typeface="Arial"/>
                </a:rPr>
                <a:t> </a:t>
              </a:r>
              <a:r>
                <a:rPr sz="1000" spc="-10">
                  <a:solidFill>
                    <a:srgbClr val="12426B"/>
                  </a:solidFill>
                  <a:latin typeface="Arial"/>
                  <a:cs typeface="Arial"/>
                </a:rPr>
                <a:t>Retail Subscription</a:t>
              </a:r>
              <a:r>
                <a:rPr sz="975" spc="-15" baseline="25641">
                  <a:solidFill>
                    <a:srgbClr val="12426B"/>
                  </a:solidFill>
                  <a:latin typeface="Arial"/>
                  <a:cs typeface="Arial"/>
                </a:rPr>
                <a:t>2</a:t>
              </a:r>
              <a:endParaRPr sz="975" baseline="25641">
                <a:latin typeface="Arial"/>
                <a:cs typeface="Arial"/>
              </a:endParaRPr>
            </a:p>
          </p:txBody>
        </p:sp>
        <p:sp>
          <p:nvSpPr>
            <p:cNvPr id="53" name="TextBox 52">
              <a:extLst>
                <a:ext uri="{FF2B5EF4-FFF2-40B4-BE49-F238E27FC236}">
                  <a16:creationId xmlns:a16="http://schemas.microsoft.com/office/drawing/2014/main" id="{8FC9B310-8DC5-9F3E-E878-D95681CA7C4F}"/>
                </a:ext>
              </a:extLst>
            </p:cNvPr>
            <p:cNvSpPr txBox="1">
              <a:spLocks noChangeArrowheads="1"/>
            </p:cNvSpPr>
            <p:nvPr/>
          </p:nvSpPr>
          <p:spPr bwMode="auto">
            <a:xfrm>
              <a:off x="4194810" y="1075944"/>
              <a:ext cx="4736974" cy="228600"/>
            </a:xfrm>
            <a:prstGeom prst="rect">
              <a:avLst/>
            </a:prstGeom>
            <a:solidFill>
              <a:srgbClr val="089C8B"/>
            </a:soli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en-US" sz="1100">
                  <a:cs typeface="Arial" panose="020B0604020202020204" pitchFamily="34" charset="0"/>
                </a:rPr>
                <a:t>Overwhelming Investor Interest With Robust Aftermarket Performance</a:t>
              </a:r>
            </a:p>
          </p:txBody>
        </p:sp>
      </p:grpSp>
      <p:sp>
        <p:nvSpPr>
          <p:cNvPr id="54" name="TextBox 53">
            <a:extLst>
              <a:ext uri="{FF2B5EF4-FFF2-40B4-BE49-F238E27FC236}">
                <a16:creationId xmlns:a16="http://schemas.microsoft.com/office/drawing/2014/main" id="{E1A2DD55-370A-B9BF-6F5C-501B1DC0AF7D}"/>
              </a:ext>
            </a:extLst>
          </p:cNvPr>
          <p:cNvSpPr txBox="1">
            <a:spLocks noChangeArrowheads="1"/>
          </p:cNvSpPr>
          <p:nvPr/>
        </p:nvSpPr>
        <p:spPr bwMode="auto">
          <a:xfrm>
            <a:off x="4080733" y="3058709"/>
            <a:ext cx="5370802" cy="260642"/>
          </a:xfrm>
          <a:prstGeom prst="rect">
            <a:avLst/>
          </a:prstGeom>
          <a:solidFill>
            <a:srgbClr val="089C8B"/>
          </a:soli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en-US" sz="1100">
                <a:cs typeface="Arial" panose="020B0604020202020204" pitchFamily="34" charset="0"/>
              </a:rPr>
              <a:t>Multiple Successes With 10 US$500mm+ HK IPOs Priced in 2026 Q1</a:t>
            </a:r>
          </a:p>
        </p:txBody>
      </p:sp>
      <p:sp>
        <p:nvSpPr>
          <p:cNvPr id="3" name="Slide Number Placeholder 1">
            <a:extLst>
              <a:ext uri="{FF2B5EF4-FFF2-40B4-BE49-F238E27FC236}">
                <a16:creationId xmlns:a16="http://schemas.microsoft.com/office/drawing/2014/main" id="{3A3F318B-12F3-7D11-3A5D-8728981D1C12}"/>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15</a:t>
            </a:fld>
            <a:endParaRPr lang="en-US"/>
          </a:p>
        </p:txBody>
      </p:sp>
      <p:sp>
        <p:nvSpPr>
          <p:cNvPr id="9" name="TextBox 8">
            <a:extLst>
              <a:ext uri="{FF2B5EF4-FFF2-40B4-BE49-F238E27FC236}">
                <a16:creationId xmlns:a16="http://schemas.microsoft.com/office/drawing/2014/main" id="{C1634334-B7D4-90B2-E725-CDB7A3EEDDEE}"/>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C4ED8E-DAFF-6F80-9F64-5C9644700914}"/>
              </a:ext>
            </a:extLst>
          </p:cNvPr>
          <p:cNvSpPr>
            <a:spLocks noGrp="1"/>
          </p:cNvSpPr>
          <p:nvPr>
            <p:ph type="title"/>
          </p:nvPr>
        </p:nvSpPr>
        <p:spPr/>
        <p:txBody>
          <a:bodyPr/>
          <a:lstStyle/>
          <a:p>
            <a:r>
              <a:rPr lang="en-US"/>
              <a:t>International Investors Increasingly Active in Cornerstone Investments</a:t>
            </a:r>
          </a:p>
        </p:txBody>
      </p:sp>
      <p:sp>
        <p:nvSpPr>
          <p:cNvPr id="4" name="Text Placeholder 3">
            <a:extLst>
              <a:ext uri="{FF2B5EF4-FFF2-40B4-BE49-F238E27FC236}">
                <a16:creationId xmlns:a16="http://schemas.microsoft.com/office/drawing/2014/main" id="{7683F4C1-23EB-1B29-728D-589D483AED30}"/>
              </a:ext>
            </a:extLst>
          </p:cNvPr>
          <p:cNvSpPr>
            <a:spLocks noGrp="1"/>
          </p:cNvSpPr>
          <p:nvPr>
            <p:ph type="body" sz="quarter" idx="46"/>
          </p:nvPr>
        </p:nvSpPr>
        <p:spPr/>
        <p:txBody>
          <a:bodyPr/>
          <a:lstStyle/>
          <a:p>
            <a:pPr marL="0" indent="0">
              <a:buNone/>
            </a:pPr>
            <a:r>
              <a:rPr lang="en-US" altLang="zh-CN" sz="800"/>
              <a:t>Sources: HKEX, Bloomberg and Refinitiv</a:t>
            </a:r>
          </a:p>
          <a:p>
            <a:pPr>
              <a:tabLst>
                <a:tab pos="401638" algn="l"/>
                <a:tab pos="574675" algn="l"/>
              </a:tabLst>
            </a:pPr>
            <a:r>
              <a:rPr lang="en-US" altLang="zh-CN" sz="800"/>
              <a:t>Includes HK IPOs with deal size of US$100mm or above</a:t>
            </a:r>
          </a:p>
          <a:p>
            <a:pPr>
              <a:tabLst>
                <a:tab pos="401638" algn="l"/>
                <a:tab pos="574675" algn="l"/>
              </a:tabLst>
            </a:pPr>
            <a:r>
              <a:rPr lang="en-US" altLang="zh-CN" sz="800"/>
              <a:t>JSC International is indirectly owned by Beijing SASAC</a:t>
            </a:r>
          </a:p>
          <a:p>
            <a:endParaRPr lang="en-GB" sz="800"/>
          </a:p>
        </p:txBody>
      </p:sp>
      <p:sp>
        <p:nvSpPr>
          <p:cNvPr id="6" name="Text Box 2589">
            <a:extLst>
              <a:ext uri="{FF2B5EF4-FFF2-40B4-BE49-F238E27FC236}">
                <a16:creationId xmlns:a16="http://schemas.microsoft.com/office/drawing/2014/main" id="{3261B314-BF12-B734-8AAD-B913FEEF7FAE}"/>
              </a:ext>
            </a:extLst>
          </p:cNvPr>
          <p:cNvSpPr txBox="1">
            <a:spLocks noChangeArrowheads="1"/>
          </p:cNvSpPr>
          <p:nvPr/>
        </p:nvSpPr>
        <p:spPr bwMode="gray">
          <a:xfrm>
            <a:off x="453000" y="1087438"/>
            <a:ext cx="9000000" cy="861774"/>
          </a:xfrm>
          <a:prstGeom prst="rect">
            <a:avLst/>
          </a:prstGeom>
          <a:solidFill>
            <a:schemeClr val="bg1">
              <a:lumMod val="85000"/>
            </a:schemeClr>
          </a:solidFill>
          <a:ln w="9525" cap="flat" cmpd="sng" algn="ctr">
            <a:noFill/>
            <a:prstDash val="solid"/>
            <a:headEnd/>
            <a:tailEnd/>
          </a:ln>
          <a:effectLst>
            <a:outerShdw blurRad="40000" dist="23000" dir="5400000" rotWithShape="0">
              <a:srgbClr val="000000">
                <a:alpha val="35000"/>
              </a:srgbClr>
            </a:outerShdw>
          </a:effectLst>
        </p:spPr>
        <p:txBody>
          <a:bodyPr wrap="square" tIns="91440" bIns="91440">
            <a:spAutoFit/>
          </a:bodyPr>
          <a:lstStyle/>
          <a:p>
            <a:pPr marL="171450" indent="-171450" algn="just" eaLnBrk="0" fontAlgn="auto" hangingPunct="0">
              <a:spcBef>
                <a:spcPts val="0"/>
              </a:spcBef>
              <a:buClr>
                <a:srgbClr val="089C8B"/>
              </a:buClr>
              <a:buFont typeface="Arial" panose="020B0604020202020204" pitchFamily="34" charset="0"/>
              <a:buChar char="•"/>
              <a:defRPr/>
            </a:pPr>
            <a:r>
              <a:rPr lang="en-US" altLang="zh-CN" sz="1100" kern="0" dirty="0">
                <a:solidFill>
                  <a:schemeClr val="tx1"/>
                </a:solidFill>
              </a:rPr>
              <a:t>International investors increasingly active in HK IPOs, participating in c.75% of deals and accounting for 40% of the most active cornerstone investors</a:t>
            </a:r>
          </a:p>
          <a:p>
            <a:pPr marL="171450" indent="-171450" algn="just" eaLnBrk="0" fontAlgn="auto" hangingPunct="0">
              <a:spcBef>
                <a:spcPts val="0"/>
              </a:spcBef>
              <a:buClr>
                <a:srgbClr val="089C8B"/>
              </a:buClr>
              <a:buFont typeface="Arial" panose="020B0604020202020204" pitchFamily="34" charset="0"/>
              <a:buChar char="•"/>
              <a:defRPr/>
            </a:pPr>
            <a:r>
              <a:rPr lang="en-US" altLang="zh-CN" sz="1100" kern="0" dirty="0">
                <a:solidFill>
                  <a:schemeClr val="tx1"/>
                </a:solidFill>
              </a:rPr>
              <a:t>High quality international long-</a:t>
            </a:r>
            <a:r>
              <a:rPr lang="en-US" altLang="zh-CN" sz="1100" kern="0" dirty="0" err="1">
                <a:solidFill>
                  <a:schemeClr val="tx1"/>
                </a:solidFill>
              </a:rPr>
              <a:t>onlys</a:t>
            </a:r>
            <a:r>
              <a:rPr lang="en-US" altLang="zh-CN" sz="1100" kern="0" dirty="0">
                <a:solidFill>
                  <a:schemeClr val="tx1"/>
                </a:solidFill>
              </a:rPr>
              <a:t> and SWFs have been amongst the most active investors in 2026, </a:t>
            </a:r>
            <a:r>
              <a:rPr lang="en-US" altLang="zh-CN" sz="1100" kern="0" dirty="0" err="1">
                <a:solidFill>
                  <a:schemeClr val="tx1"/>
                </a:solidFill>
              </a:rPr>
              <a:t>favouring</a:t>
            </a:r>
            <a:r>
              <a:rPr lang="en-US" altLang="zh-CN" sz="1100" kern="0" dirty="0">
                <a:solidFill>
                  <a:schemeClr val="tx1"/>
                </a:solidFill>
              </a:rPr>
              <a:t> sizeable consumer and new economy growth companies</a:t>
            </a:r>
          </a:p>
        </p:txBody>
      </p:sp>
      <p:graphicFrame>
        <p:nvGraphicFramePr>
          <p:cNvPr id="9" name="object 6">
            <a:extLst>
              <a:ext uri="{FF2B5EF4-FFF2-40B4-BE49-F238E27FC236}">
                <a16:creationId xmlns:a16="http://schemas.microsoft.com/office/drawing/2014/main" id="{F4B0A51C-E9A5-299D-5898-F3B5D7FE9FC0}"/>
              </a:ext>
            </a:extLst>
          </p:cNvPr>
          <p:cNvGraphicFramePr>
            <a:graphicFrameLocks noGrp="1"/>
          </p:cNvGraphicFramePr>
          <p:nvPr>
            <p:extLst>
              <p:ext uri="{D42A27DB-BD31-4B8C-83A1-F6EECF244321}">
                <p14:modId xmlns:p14="http://schemas.microsoft.com/office/powerpoint/2010/main" val="2921994107"/>
              </p:ext>
            </p:extLst>
          </p:nvPr>
        </p:nvGraphicFramePr>
        <p:xfrm>
          <a:off x="3698184" y="2553046"/>
          <a:ext cx="5649503" cy="3302282"/>
        </p:xfrm>
        <a:graphic>
          <a:graphicData uri="http://schemas.openxmlformats.org/drawingml/2006/table">
            <a:tbl>
              <a:tblPr firstRow="1" bandRow="1">
                <a:tableStyleId>{2D5ABB26-0587-4C30-8999-92F81FD0307C}</a:tableStyleId>
              </a:tblPr>
              <a:tblGrid>
                <a:gridCol w="228518">
                  <a:extLst>
                    <a:ext uri="{9D8B030D-6E8A-4147-A177-3AD203B41FA5}">
                      <a16:colId xmlns:a16="http://schemas.microsoft.com/office/drawing/2014/main" val="20000"/>
                    </a:ext>
                  </a:extLst>
                </a:gridCol>
                <a:gridCol w="1948130">
                  <a:extLst>
                    <a:ext uri="{9D8B030D-6E8A-4147-A177-3AD203B41FA5}">
                      <a16:colId xmlns:a16="http://schemas.microsoft.com/office/drawing/2014/main" val="20001"/>
                    </a:ext>
                  </a:extLst>
                </a:gridCol>
                <a:gridCol w="746694">
                  <a:extLst>
                    <a:ext uri="{9D8B030D-6E8A-4147-A177-3AD203B41FA5}">
                      <a16:colId xmlns:a16="http://schemas.microsoft.com/office/drawing/2014/main" val="20002"/>
                    </a:ext>
                  </a:extLst>
                </a:gridCol>
                <a:gridCol w="1104374">
                  <a:extLst>
                    <a:ext uri="{9D8B030D-6E8A-4147-A177-3AD203B41FA5}">
                      <a16:colId xmlns:a16="http://schemas.microsoft.com/office/drawing/2014/main" val="20003"/>
                    </a:ext>
                  </a:extLst>
                </a:gridCol>
                <a:gridCol w="765038">
                  <a:extLst>
                    <a:ext uri="{9D8B030D-6E8A-4147-A177-3AD203B41FA5}">
                      <a16:colId xmlns:a16="http://schemas.microsoft.com/office/drawing/2014/main" val="20004"/>
                    </a:ext>
                  </a:extLst>
                </a:gridCol>
                <a:gridCol w="856749">
                  <a:extLst>
                    <a:ext uri="{9D8B030D-6E8A-4147-A177-3AD203B41FA5}">
                      <a16:colId xmlns:a16="http://schemas.microsoft.com/office/drawing/2014/main" val="20005"/>
                    </a:ext>
                  </a:extLst>
                </a:gridCol>
              </a:tblGrid>
              <a:tr h="541421">
                <a:tc>
                  <a:txBody>
                    <a:bodyPr/>
                    <a:lstStyle/>
                    <a:p>
                      <a:pPr>
                        <a:lnSpc>
                          <a:spcPct val="100000"/>
                        </a:lnSpc>
                        <a:spcBef>
                          <a:spcPts val="550"/>
                        </a:spcBef>
                      </a:pPr>
                      <a:endParaRPr sz="700">
                        <a:solidFill>
                          <a:schemeClr val="tx1"/>
                        </a:solidFill>
                        <a:latin typeface="Times New Roman"/>
                        <a:cs typeface="Times New Roman"/>
                      </a:endParaRPr>
                    </a:p>
                    <a:p>
                      <a:pPr marR="38100" algn="ctr">
                        <a:lnSpc>
                          <a:spcPct val="100000"/>
                        </a:lnSpc>
                      </a:pPr>
                      <a:r>
                        <a:rPr sz="700" spc="-50">
                          <a:solidFill>
                            <a:schemeClr val="tx1"/>
                          </a:solidFill>
                          <a:latin typeface="Arial"/>
                          <a:cs typeface="Arial"/>
                        </a:rPr>
                        <a:t>#</a:t>
                      </a:r>
                      <a:endParaRPr sz="700">
                        <a:solidFill>
                          <a:schemeClr val="tx1"/>
                        </a:solidFill>
                        <a:latin typeface="Arial"/>
                        <a:cs typeface="Arial"/>
                      </a:endParaRPr>
                    </a:p>
                  </a:txBody>
                  <a:tcPr marL="0" marR="0" marT="69850" marB="0">
                    <a:lnL w="9525">
                      <a:solidFill>
                        <a:srgbClr val="0F406B"/>
                      </a:solidFill>
                      <a:prstDash val="solid"/>
                    </a:lnL>
                    <a:lnR w="19050" cap="flat" cmpd="sng" algn="ctr">
                      <a:solidFill>
                        <a:schemeClr val="bg1"/>
                      </a:solidFill>
                      <a:prstDash val="solid"/>
                      <a:round/>
                      <a:headEnd type="none" w="med" len="med"/>
                      <a:tailEnd type="none" w="med" len="med"/>
                    </a:lnR>
                    <a:solidFill>
                      <a:srgbClr val="C0FCF5"/>
                    </a:solidFill>
                  </a:tcPr>
                </a:tc>
                <a:tc>
                  <a:txBody>
                    <a:bodyPr/>
                    <a:lstStyle/>
                    <a:p>
                      <a:pPr>
                        <a:lnSpc>
                          <a:spcPct val="100000"/>
                        </a:lnSpc>
                        <a:spcBef>
                          <a:spcPts val="550"/>
                        </a:spcBef>
                      </a:pPr>
                      <a:endParaRPr sz="700">
                        <a:solidFill>
                          <a:schemeClr val="tx1"/>
                        </a:solidFill>
                        <a:latin typeface="Times New Roman"/>
                        <a:cs typeface="Times New Roman"/>
                      </a:endParaRPr>
                    </a:p>
                    <a:p>
                      <a:pPr marL="81280">
                        <a:lnSpc>
                          <a:spcPct val="100000"/>
                        </a:lnSpc>
                      </a:pPr>
                      <a:r>
                        <a:rPr sz="700" spc="-10">
                          <a:solidFill>
                            <a:schemeClr val="tx1"/>
                          </a:solidFill>
                          <a:latin typeface="Arial"/>
                          <a:cs typeface="Arial"/>
                        </a:rPr>
                        <a:t>Investor</a:t>
                      </a:r>
                      <a:endParaRPr sz="700">
                        <a:solidFill>
                          <a:schemeClr val="tx1"/>
                        </a:solidFill>
                        <a:latin typeface="Arial"/>
                        <a:cs typeface="Arial"/>
                      </a:endParaRPr>
                    </a:p>
                  </a:txBody>
                  <a:tcPr marL="0" marR="0" marT="6985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solidFill>
                      <a:srgbClr val="C0FCF5"/>
                    </a:solidFill>
                  </a:tcPr>
                </a:tc>
                <a:tc>
                  <a:txBody>
                    <a:bodyPr/>
                    <a:lstStyle/>
                    <a:p>
                      <a:pPr>
                        <a:lnSpc>
                          <a:spcPct val="100000"/>
                        </a:lnSpc>
                        <a:spcBef>
                          <a:spcPts val="550"/>
                        </a:spcBef>
                      </a:pPr>
                      <a:endParaRPr sz="700">
                        <a:solidFill>
                          <a:schemeClr val="tx1"/>
                        </a:solidFill>
                        <a:latin typeface="Times New Roman"/>
                        <a:cs typeface="Times New Roman"/>
                      </a:endParaRPr>
                    </a:p>
                    <a:p>
                      <a:pPr marL="38735">
                        <a:lnSpc>
                          <a:spcPct val="100000"/>
                        </a:lnSpc>
                      </a:pPr>
                      <a:r>
                        <a:rPr sz="700" spc="-10">
                          <a:solidFill>
                            <a:schemeClr val="tx1"/>
                          </a:solidFill>
                          <a:latin typeface="Arial"/>
                          <a:cs typeface="Arial"/>
                        </a:rPr>
                        <a:t>Region</a:t>
                      </a:r>
                      <a:endParaRPr sz="700">
                        <a:solidFill>
                          <a:schemeClr val="tx1"/>
                        </a:solidFill>
                        <a:latin typeface="Arial"/>
                        <a:cs typeface="Arial"/>
                      </a:endParaRPr>
                    </a:p>
                  </a:txBody>
                  <a:tcPr marL="0" marR="0" marT="6985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solidFill>
                      <a:srgbClr val="C0FCF5"/>
                    </a:solidFill>
                  </a:tcPr>
                </a:tc>
                <a:tc>
                  <a:txBody>
                    <a:bodyPr/>
                    <a:lstStyle/>
                    <a:p>
                      <a:pPr>
                        <a:lnSpc>
                          <a:spcPct val="100000"/>
                        </a:lnSpc>
                        <a:spcBef>
                          <a:spcPts val="550"/>
                        </a:spcBef>
                      </a:pPr>
                      <a:endParaRPr sz="700">
                        <a:solidFill>
                          <a:schemeClr val="tx1"/>
                        </a:solidFill>
                        <a:latin typeface="Times New Roman"/>
                        <a:cs typeface="Times New Roman"/>
                      </a:endParaRPr>
                    </a:p>
                    <a:p>
                      <a:pPr marL="127635">
                        <a:lnSpc>
                          <a:spcPct val="100000"/>
                        </a:lnSpc>
                      </a:pPr>
                      <a:r>
                        <a:rPr sz="700">
                          <a:solidFill>
                            <a:schemeClr val="tx1"/>
                          </a:solidFill>
                          <a:latin typeface="Arial"/>
                          <a:cs typeface="Arial"/>
                        </a:rPr>
                        <a:t>Investor</a:t>
                      </a:r>
                      <a:r>
                        <a:rPr sz="700" spc="-25">
                          <a:solidFill>
                            <a:schemeClr val="tx1"/>
                          </a:solidFill>
                          <a:latin typeface="Arial"/>
                          <a:cs typeface="Arial"/>
                        </a:rPr>
                        <a:t> </a:t>
                      </a:r>
                      <a:r>
                        <a:rPr sz="700" spc="-20">
                          <a:solidFill>
                            <a:schemeClr val="tx1"/>
                          </a:solidFill>
                          <a:latin typeface="Arial"/>
                          <a:cs typeface="Arial"/>
                        </a:rPr>
                        <a:t>Type</a:t>
                      </a:r>
                      <a:endParaRPr sz="700">
                        <a:solidFill>
                          <a:schemeClr val="tx1"/>
                        </a:solidFill>
                        <a:latin typeface="Arial"/>
                        <a:cs typeface="Arial"/>
                      </a:endParaRPr>
                    </a:p>
                  </a:txBody>
                  <a:tcPr marL="0" marR="0" marT="6985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solidFill>
                      <a:srgbClr val="C0FCF5"/>
                    </a:solidFill>
                  </a:tcPr>
                </a:tc>
                <a:tc>
                  <a:txBody>
                    <a:bodyPr/>
                    <a:lstStyle/>
                    <a:p>
                      <a:pPr marL="71755" marR="71120" indent="-1905" algn="ctr">
                        <a:lnSpc>
                          <a:spcPct val="100000"/>
                        </a:lnSpc>
                        <a:spcBef>
                          <a:spcPts val="95"/>
                        </a:spcBef>
                      </a:pPr>
                      <a:r>
                        <a:rPr sz="700" spc="-10">
                          <a:solidFill>
                            <a:schemeClr val="tx1"/>
                          </a:solidFill>
                          <a:latin typeface="Arial"/>
                          <a:cs typeface="Arial"/>
                        </a:rPr>
                        <a:t>Aggregate</a:t>
                      </a:r>
                      <a:r>
                        <a:rPr sz="700" spc="500">
                          <a:solidFill>
                            <a:schemeClr val="tx1"/>
                          </a:solidFill>
                          <a:latin typeface="Arial"/>
                          <a:cs typeface="Arial"/>
                        </a:rPr>
                        <a:t> </a:t>
                      </a:r>
                      <a:r>
                        <a:rPr sz="700" spc="-10">
                          <a:solidFill>
                            <a:schemeClr val="tx1"/>
                          </a:solidFill>
                          <a:latin typeface="Arial"/>
                          <a:cs typeface="Arial"/>
                        </a:rPr>
                        <a:t>Cornerstone</a:t>
                      </a:r>
                      <a:r>
                        <a:rPr sz="700" spc="500">
                          <a:solidFill>
                            <a:schemeClr val="tx1"/>
                          </a:solidFill>
                          <a:latin typeface="Arial"/>
                          <a:cs typeface="Arial"/>
                        </a:rPr>
                        <a:t> </a:t>
                      </a:r>
                      <a:r>
                        <a:rPr sz="700" spc="-10">
                          <a:solidFill>
                            <a:schemeClr val="tx1"/>
                          </a:solidFill>
                          <a:latin typeface="Arial"/>
                          <a:cs typeface="Arial"/>
                        </a:rPr>
                        <a:t>Investment</a:t>
                      </a:r>
                      <a:r>
                        <a:rPr sz="700" spc="500">
                          <a:solidFill>
                            <a:schemeClr val="tx1"/>
                          </a:solidFill>
                          <a:latin typeface="Arial"/>
                          <a:cs typeface="Arial"/>
                        </a:rPr>
                        <a:t> </a:t>
                      </a:r>
                      <a:r>
                        <a:rPr sz="700" spc="-10">
                          <a:solidFill>
                            <a:schemeClr val="tx1"/>
                          </a:solidFill>
                          <a:latin typeface="Arial"/>
                          <a:cs typeface="Arial"/>
                        </a:rPr>
                        <a:t>(US$mm)</a:t>
                      </a:r>
                      <a:endParaRPr sz="700">
                        <a:solidFill>
                          <a:schemeClr val="tx1"/>
                        </a:solidFill>
                        <a:latin typeface="Arial"/>
                        <a:cs typeface="Arial"/>
                      </a:endParaRPr>
                    </a:p>
                  </a:txBody>
                  <a:tcPr marL="0" marR="0" marT="12065"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solidFill>
                      <a:srgbClr val="C0FCF5"/>
                    </a:solidFill>
                  </a:tcPr>
                </a:tc>
                <a:tc>
                  <a:txBody>
                    <a:bodyPr/>
                    <a:lstStyle/>
                    <a:p>
                      <a:pPr>
                        <a:lnSpc>
                          <a:spcPct val="100000"/>
                        </a:lnSpc>
                        <a:spcBef>
                          <a:spcPts val="130"/>
                        </a:spcBef>
                      </a:pPr>
                      <a:endParaRPr sz="700">
                        <a:solidFill>
                          <a:schemeClr val="tx1"/>
                        </a:solidFill>
                        <a:latin typeface="Times New Roman"/>
                        <a:cs typeface="Times New Roman"/>
                      </a:endParaRPr>
                    </a:p>
                    <a:p>
                      <a:pPr marL="135255">
                        <a:lnSpc>
                          <a:spcPct val="100000"/>
                        </a:lnSpc>
                      </a:pPr>
                      <a:r>
                        <a:rPr sz="700">
                          <a:solidFill>
                            <a:schemeClr val="tx1"/>
                          </a:solidFill>
                          <a:latin typeface="Arial"/>
                          <a:cs typeface="Arial"/>
                        </a:rPr>
                        <a:t># HK </a:t>
                      </a:r>
                      <a:r>
                        <a:rPr sz="700" spc="-20">
                          <a:solidFill>
                            <a:schemeClr val="tx1"/>
                          </a:solidFill>
                          <a:latin typeface="Arial"/>
                          <a:cs typeface="Arial"/>
                        </a:rPr>
                        <a:t>IPOs</a:t>
                      </a:r>
                      <a:endParaRPr sz="700">
                        <a:solidFill>
                          <a:schemeClr val="tx1"/>
                        </a:solidFill>
                        <a:latin typeface="Arial"/>
                        <a:cs typeface="Arial"/>
                      </a:endParaRPr>
                    </a:p>
                    <a:p>
                      <a:pPr marL="78740">
                        <a:lnSpc>
                          <a:spcPct val="100000"/>
                        </a:lnSpc>
                      </a:pPr>
                      <a:r>
                        <a:rPr sz="700" spc="-10">
                          <a:solidFill>
                            <a:schemeClr val="tx1"/>
                          </a:solidFill>
                          <a:latin typeface="Arial"/>
                          <a:cs typeface="Arial"/>
                        </a:rPr>
                        <a:t>Cornerstoned</a:t>
                      </a:r>
                      <a:endParaRPr sz="700">
                        <a:solidFill>
                          <a:schemeClr val="tx1"/>
                        </a:solidFill>
                        <a:latin typeface="Arial"/>
                        <a:cs typeface="Arial"/>
                      </a:endParaRPr>
                    </a:p>
                  </a:txBody>
                  <a:tcPr marL="0" marR="0" marT="16510" marB="0">
                    <a:lnL w="19050" cap="flat" cmpd="sng" algn="ctr">
                      <a:solidFill>
                        <a:schemeClr val="bg1"/>
                      </a:solidFill>
                      <a:prstDash val="solid"/>
                      <a:round/>
                      <a:headEnd type="none" w="med" len="med"/>
                      <a:tailEnd type="none" w="med" len="med"/>
                    </a:lnL>
                    <a:lnR w="9525">
                      <a:solidFill>
                        <a:srgbClr val="0F406B"/>
                      </a:solidFill>
                      <a:prstDash val="solid"/>
                    </a:lnR>
                    <a:solidFill>
                      <a:srgbClr val="C0FCF5"/>
                    </a:solidFill>
                  </a:tcPr>
                </a:tc>
                <a:extLst>
                  <a:ext uri="{0D108BD9-81ED-4DB2-BD59-A6C34878D82A}">
                    <a16:rowId xmlns:a16="http://schemas.microsoft.com/office/drawing/2014/main" val="10000"/>
                  </a:ext>
                </a:extLst>
              </a:tr>
              <a:tr h="132516">
                <a:tc>
                  <a:txBody>
                    <a:bodyPr/>
                    <a:lstStyle/>
                    <a:p>
                      <a:pPr marR="40005" algn="ctr">
                        <a:lnSpc>
                          <a:spcPts val="750"/>
                        </a:lnSpc>
                        <a:spcBef>
                          <a:spcPts val="25"/>
                        </a:spcBef>
                      </a:pPr>
                      <a:r>
                        <a:rPr sz="700" spc="-50">
                          <a:latin typeface="Arial"/>
                          <a:cs typeface="Arial"/>
                        </a:rPr>
                        <a:t>1</a:t>
                      </a:r>
                      <a:endParaRPr sz="700">
                        <a:latin typeface="Arial"/>
                        <a:cs typeface="Arial"/>
                      </a:endParaRPr>
                    </a:p>
                  </a:txBody>
                  <a:tcPr marL="0" marR="0" marT="3175" marB="0">
                    <a:lnL w="9525">
                      <a:solidFill>
                        <a:srgbClr val="0F406B"/>
                      </a:solidFill>
                      <a:prstDash val="solid"/>
                    </a:lnL>
                    <a:lnB w="9525">
                      <a:solidFill>
                        <a:srgbClr val="0F406B"/>
                      </a:solidFill>
                      <a:prstDash val="solid"/>
                    </a:lnB>
                  </a:tcPr>
                </a:tc>
                <a:tc>
                  <a:txBody>
                    <a:bodyPr/>
                    <a:lstStyle/>
                    <a:p>
                      <a:pPr marL="45720">
                        <a:lnSpc>
                          <a:spcPts val="750"/>
                        </a:lnSpc>
                        <a:spcBef>
                          <a:spcPts val="25"/>
                        </a:spcBef>
                      </a:pPr>
                      <a:r>
                        <a:rPr sz="700">
                          <a:latin typeface="Arial"/>
                          <a:cs typeface="Arial"/>
                        </a:rPr>
                        <a:t>JSC</a:t>
                      </a:r>
                      <a:r>
                        <a:rPr sz="700" spc="-10">
                          <a:latin typeface="Arial"/>
                          <a:cs typeface="Arial"/>
                        </a:rPr>
                        <a:t> International</a:t>
                      </a:r>
                      <a:r>
                        <a:rPr sz="675" spc="-15" baseline="24691">
                          <a:latin typeface="Arial"/>
                          <a:cs typeface="Arial"/>
                        </a:rPr>
                        <a:t>2</a:t>
                      </a:r>
                      <a:endParaRPr sz="675" baseline="24691">
                        <a:latin typeface="Arial"/>
                        <a:cs typeface="Arial"/>
                      </a:endParaRPr>
                    </a:p>
                  </a:txBody>
                  <a:tcPr marL="0" marR="0" marT="3175" marB="0">
                    <a:lnB w="9525">
                      <a:solidFill>
                        <a:srgbClr val="0F406B"/>
                      </a:solidFill>
                      <a:prstDash val="solid"/>
                    </a:lnB>
                  </a:tcPr>
                </a:tc>
                <a:tc>
                  <a:txBody>
                    <a:bodyPr/>
                    <a:lstStyle/>
                    <a:p>
                      <a:pPr marL="38735">
                        <a:lnSpc>
                          <a:spcPts val="780"/>
                        </a:lnSpc>
                      </a:pPr>
                      <a:r>
                        <a:rPr sz="700" spc="-10">
                          <a:latin typeface="Arial"/>
                          <a:cs typeface="Arial"/>
                        </a:rPr>
                        <a:t>China</a:t>
                      </a:r>
                      <a:endParaRPr sz="700">
                        <a:latin typeface="Arial"/>
                        <a:cs typeface="Arial"/>
                      </a:endParaRPr>
                    </a:p>
                  </a:txBody>
                  <a:tcPr marL="0" marR="0" marT="0" marB="0">
                    <a:lnB w="9525">
                      <a:solidFill>
                        <a:srgbClr val="0F406B"/>
                      </a:solidFill>
                      <a:prstDash val="solid"/>
                    </a:lnB>
                  </a:tcPr>
                </a:tc>
                <a:tc>
                  <a:txBody>
                    <a:bodyPr/>
                    <a:lstStyle/>
                    <a:p>
                      <a:pPr marL="127635">
                        <a:lnSpc>
                          <a:spcPts val="780"/>
                        </a:lnSpc>
                      </a:pPr>
                      <a:r>
                        <a:rPr sz="700">
                          <a:latin typeface="Arial"/>
                          <a:cs typeface="Arial"/>
                        </a:rPr>
                        <a:t>Government</a:t>
                      </a:r>
                      <a:r>
                        <a:rPr sz="700" spc="-30">
                          <a:latin typeface="Arial"/>
                          <a:cs typeface="Arial"/>
                        </a:rPr>
                        <a:t> </a:t>
                      </a:r>
                      <a:r>
                        <a:rPr sz="700" spc="-20">
                          <a:latin typeface="Arial"/>
                          <a:cs typeface="Arial"/>
                        </a:rPr>
                        <a:t>Fund</a:t>
                      </a:r>
                      <a:endParaRPr sz="700">
                        <a:latin typeface="Arial"/>
                        <a:cs typeface="Arial"/>
                      </a:endParaRPr>
                    </a:p>
                  </a:txBody>
                  <a:tcPr marL="0" marR="0" marT="0" marB="0">
                    <a:lnB w="9525">
                      <a:solidFill>
                        <a:srgbClr val="0F406B"/>
                      </a:solidFill>
                      <a:prstDash val="solid"/>
                    </a:lnB>
                  </a:tcPr>
                </a:tc>
                <a:tc>
                  <a:txBody>
                    <a:bodyPr/>
                    <a:lstStyle/>
                    <a:p>
                      <a:pPr marL="35560" algn="ctr">
                        <a:lnSpc>
                          <a:spcPts val="750"/>
                        </a:lnSpc>
                        <a:spcBef>
                          <a:spcPts val="25"/>
                        </a:spcBef>
                      </a:pPr>
                      <a:r>
                        <a:rPr sz="700" spc="-25">
                          <a:latin typeface="Arial"/>
                          <a:cs typeface="Arial"/>
                        </a:rPr>
                        <a:t>226</a:t>
                      </a:r>
                      <a:endParaRPr sz="700">
                        <a:latin typeface="Arial"/>
                        <a:cs typeface="Arial"/>
                      </a:endParaRPr>
                    </a:p>
                  </a:txBody>
                  <a:tcPr marL="0" marR="0" marT="3175" marB="0">
                    <a:lnB w="9525">
                      <a:solidFill>
                        <a:srgbClr val="0F406B"/>
                      </a:solidFill>
                      <a:prstDash val="solid"/>
                    </a:lnB>
                  </a:tcPr>
                </a:tc>
                <a:tc>
                  <a:txBody>
                    <a:bodyPr/>
                    <a:lstStyle/>
                    <a:p>
                      <a:pPr marL="24130" algn="ctr">
                        <a:lnSpc>
                          <a:spcPts val="750"/>
                        </a:lnSpc>
                        <a:spcBef>
                          <a:spcPts val="25"/>
                        </a:spcBef>
                      </a:pPr>
                      <a:r>
                        <a:rPr sz="700" spc="-50">
                          <a:latin typeface="Arial"/>
                          <a:cs typeface="Arial"/>
                        </a:rPr>
                        <a:t>3</a:t>
                      </a:r>
                      <a:endParaRPr sz="700">
                        <a:latin typeface="Arial"/>
                        <a:cs typeface="Arial"/>
                      </a:endParaRPr>
                    </a:p>
                  </a:txBody>
                  <a:tcPr marL="0" marR="0" marT="3175" marB="0">
                    <a:lnR w="9525">
                      <a:solidFill>
                        <a:srgbClr val="0F406B"/>
                      </a:solidFill>
                      <a:prstDash val="solid"/>
                    </a:lnR>
                    <a:lnB w="9525">
                      <a:solidFill>
                        <a:srgbClr val="0F406B"/>
                      </a:solidFill>
                      <a:prstDash val="solid"/>
                    </a:lnB>
                  </a:tcPr>
                </a:tc>
                <a:extLst>
                  <a:ext uri="{0D108BD9-81ED-4DB2-BD59-A6C34878D82A}">
                    <a16:rowId xmlns:a16="http://schemas.microsoft.com/office/drawing/2014/main" val="10001"/>
                  </a:ext>
                </a:extLst>
              </a:tr>
              <a:tr h="138573">
                <a:tc>
                  <a:txBody>
                    <a:bodyPr/>
                    <a:lstStyle/>
                    <a:p>
                      <a:pPr marR="40005" algn="ctr">
                        <a:lnSpc>
                          <a:spcPts val="750"/>
                        </a:lnSpc>
                        <a:spcBef>
                          <a:spcPts val="65"/>
                        </a:spcBef>
                      </a:pPr>
                      <a:r>
                        <a:rPr sz="700" spc="-50">
                          <a:latin typeface="Arial"/>
                          <a:cs typeface="Arial"/>
                        </a:rPr>
                        <a:t>2</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chemeClr val="bg1">
                        <a:lumMod val="85000"/>
                      </a:schemeClr>
                    </a:solidFill>
                  </a:tcPr>
                </a:tc>
                <a:tc>
                  <a:txBody>
                    <a:bodyPr/>
                    <a:lstStyle/>
                    <a:p>
                      <a:pPr marL="45720">
                        <a:lnSpc>
                          <a:spcPts val="750"/>
                        </a:lnSpc>
                        <a:spcBef>
                          <a:spcPts val="65"/>
                        </a:spcBef>
                      </a:pPr>
                      <a:r>
                        <a:rPr sz="700">
                          <a:latin typeface="Arial"/>
                          <a:cs typeface="Arial"/>
                        </a:rPr>
                        <a:t>UBS</a:t>
                      </a:r>
                      <a:r>
                        <a:rPr sz="700" spc="-20">
                          <a:latin typeface="Arial"/>
                          <a:cs typeface="Arial"/>
                        </a:rPr>
                        <a:t> </a:t>
                      </a:r>
                      <a:r>
                        <a:rPr sz="700" spc="-25">
                          <a:latin typeface="Arial"/>
                          <a:cs typeface="Arial"/>
                        </a:rPr>
                        <a:t>GAM</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8735">
                        <a:lnSpc>
                          <a:spcPts val="790"/>
                        </a:lnSpc>
                        <a:spcBef>
                          <a:spcPts val="25"/>
                        </a:spcBef>
                      </a:pPr>
                      <a:r>
                        <a:rPr sz="700" spc="-10">
                          <a:latin typeface="Arial"/>
                          <a:cs typeface="Arial"/>
                        </a:rPr>
                        <a:t>Switzerland</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127635">
                        <a:lnSpc>
                          <a:spcPts val="790"/>
                        </a:lnSpc>
                        <a:spcBef>
                          <a:spcPts val="25"/>
                        </a:spcBef>
                      </a:pPr>
                      <a:r>
                        <a:rPr sz="700" spc="-10">
                          <a:latin typeface="Arial"/>
                          <a:cs typeface="Arial"/>
                        </a:rPr>
                        <a:t>Long-</a:t>
                      </a:r>
                      <a:r>
                        <a:rPr sz="700" spc="-20">
                          <a:latin typeface="Arial"/>
                          <a:cs typeface="Arial"/>
                        </a:rPr>
                        <a:t>only</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5560" algn="ctr">
                        <a:lnSpc>
                          <a:spcPts val="750"/>
                        </a:lnSpc>
                        <a:spcBef>
                          <a:spcPts val="65"/>
                        </a:spcBef>
                      </a:pPr>
                      <a:r>
                        <a:rPr sz="700" spc="-25">
                          <a:latin typeface="Arial"/>
                          <a:cs typeface="Arial"/>
                        </a:rPr>
                        <a:t>226</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24130" algn="ctr">
                        <a:lnSpc>
                          <a:spcPts val="750"/>
                        </a:lnSpc>
                        <a:spcBef>
                          <a:spcPts val="65"/>
                        </a:spcBef>
                      </a:pPr>
                      <a:r>
                        <a:rPr sz="700" spc="-50">
                          <a:latin typeface="Arial"/>
                          <a:cs typeface="Arial"/>
                        </a:rPr>
                        <a:t>7</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chemeClr val="bg1">
                        <a:lumMod val="85000"/>
                      </a:schemeClr>
                    </a:solidFill>
                  </a:tcPr>
                </a:tc>
                <a:extLst>
                  <a:ext uri="{0D108BD9-81ED-4DB2-BD59-A6C34878D82A}">
                    <a16:rowId xmlns:a16="http://schemas.microsoft.com/office/drawing/2014/main" val="10002"/>
                  </a:ext>
                </a:extLst>
              </a:tr>
              <a:tr h="138573">
                <a:tc>
                  <a:txBody>
                    <a:bodyPr/>
                    <a:lstStyle/>
                    <a:p>
                      <a:pPr marR="40005" algn="ctr">
                        <a:lnSpc>
                          <a:spcPts val="750"/>
                        </a:lnSpc>
                        <a:spcBef>
                          <a:spcPts val="65"/>
                        </a:spcBef>
                      </a:pPr>
                      <a:r>
                        <a:rPr sz="700" spc="-50">
                          <a:latin typeface="Arial"/>
                          <a:cs typeface="Arial"/>
                        </a:rPr>
                        <a:t>3</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chemeClr val="bg1">
                        <a:lumMod val="85000"/>
                      </a:schemeClr>
                    </a:solidFill>
                  </a:tcPr>
                </a:tc>
                <a:tc>
                  <a:txBody>
                    <a:bodyPr/>
                    <a:lstStyle/>
                    <a:p>
                      <a:pPr marL="45720">
                        <a:lnSpc>
                          <a:spcPts val="750"/>
                        </a:lnSpc>
                        <a:spcBef>
                          <a:spcPts val="65"/>
                        </a:spcBef>
                      </a:pPr>
                      <a:r>
                        <a:rPr sz="700">
                          <a:latin typeface="Arial"/>
                          <a:cs typeface="Arial"/>
                        </a:rPr>
                        <a:t>Charoen</a:t>
                      </a:r>
                      <a:r>
                        <a:rPr sz="700" spc="-15">
                          <a:latin typeface="Arial"/>
                          <a:cs typeface="Arial"/>
                        </a:rPr>
                        <a:t> </a:t>
                      </a:r>
                      <a:r>
                        <a:rPr sz="700" spc="-10">
                          <a:latin typeface="Arial"/>
                          <a:cs typeface="Arial"/>
                        </a:rPr>
                        <a:t>Pokphand</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8735">
                        <a:lnSpc>
                          <a:spcPts val="785"/>
                        </a:lnSpc>
                        <a:spcBef>
                          <a:spcPts val="30"/>
                        </a:spcBef>
                      </a:pPr>
                      <a:r>
                        <a:rPr sz="700" spc="-10">
                          <a:latin typeface="Arial"/>
                          <a:cs typeface="Arial"/>
                        </a:rPr>
                        <a:t>Thailand</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127635">
                        <a:lnSpc>
                          <a:spcPts val="785"/>
                        </a:lnSpc>
                        <a:spcBef>
                          <a:spcPts val="30"/>
                        </a:spcBef>
                      </a:pPr>
                      <a:r>
                        <a:rPr sz="700" spc="-10">
                          <a:latin typeface="Arial"/>
                          <a:cs typeface="Arial"/>
                        </a:rPr>
                        <a:t>Strategic</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5560" algn="ctr">
                        <a:lnSpc>
                          <a:spcPts val="750"/>
                        </a:lnSpc>
                        <a:spcBef>
                          <a:spcPts val="65"/>
                        </a:spcBef>
                      </a:pPr>
                      <a:r>
                        <a:rPr sz="700" spc="-25">
                          <a:latin typeface="Arial"/>
                          <a:cs typeface="Arial"/>
                        </a:rPr>
                        <a:t>200</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24130" algn="ctr">
                        <a:lnSpc>
                          <a:spcPts val="750"/>
                        </a:lnSpc>
                        <a:spcBef>
                          <a:spcPts val="65"/>
                        </a:spcBef>
                      </a:pPr>
                      <a:r>
                        <a:rPr sz="700" spc="-50">
                          <a:latin typeface="Arial"/>
                          <a:cs typeface="Arial"/>
                        </a:rPr>
                        <a:t>1</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chemeClr val="bg1">
                        <a:lumMod val="85000"/>
                      </a:schemeClr>
                    </a:solidFill>
                  </a:tcPr>
                </a:tc>
                <a:extLst>
                  <a:ext uri="{0D108BD9-81ED-4DB2-BD59-A6C34878D82A}">
                    <a16:rowId xmlns:a16="http://schemas.microsoft.com/office/drawing/2014/main" val="10003"/>
                  </a:ext>
                </a:extLst>
              </a:tr>
              <a:tr h="138573">
                <a:tc>
                  <a:txBody>
                    <a:bodyPr/>
                    <a:lstStyle/>
                    <a:p>
                      <a:pPr marR="40005" algn="ctr">
                        <a:lnSpc>
                          <a:spcPts val="750"/>
                        </a:lnSpc>
                        <a:spcBef>
                          <a:spcPts val="65"/>
                        </a:spcBef>
                      </a:pPr>
                      <a:r>
                        <a:rPr sz="700" spc="-50">
                          <a:latin typeface="Arial"/>
                          <a:cs typeface="Arial"/>
                        </a:rPr>
                        <a:t>4</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spc="-10">
                          <a:latin typeface="Arial"/>
                          <a:cs typeface="Arial"/>
                        </a:rPr>
                        <a:t>Aspex</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25"/>
                        </a:spcBef>
                      </a:pPr>
                      <a:r>
                        <a:rPr sz="700">
                          <a:latin typeface="Arial"/>
                          <a:cs typeface="Arial"/>
                        </a:rPr>
                        <a:t>Hong</a:t>
                      </a:r>
                      <a:r>
                        <a:rPr sz="700" spc="-10">
                          <a:latin typeface="Arial"/>
                          <a:cs typeface="Arial"/>
                        </a:rPr>
                        <a:t> </a:t>
                      </a:r>
                      <a:r>
                        <a:rPr sz="700" spc="-20">
                          <a:latin typeface="Arial"/>
                          <a:cs typeface="Arial"/>
                        </a:rPr>
                        <a:t>Kong</a:t>
                      </a:r>
                      <a:endParaRPr sz="700">
                        <a:latin typeface="Arial"/>
                        <a:cs typeface="Arial"/>
                      </a:endParaRPr>
                    </a:p>
                  </a:txBody>
                  <a:tcPr marL="0" marR="0" marT="3175" marB="0">
                    <a:lnT w="9525">
                      <a:solidFill>
                        <a:srgbClr val="0F406B"/>
                      </a:solidFill>
                      <a:prstDash val="solid"/>
                    </a:lnT>
                    <a:lnB w="9525">
                      <a:solidFill>
                        <a:srgbClr val="0F406B"/>
                      </a:solidFill>
                      <a:prstDash val="solid"/>
                    </a:lnB>
                  </a:tcPr>
                </a:tc>
                <a:tc>
                  <a:txBody>
                    <a:bodyPr/>
                    <a:lstStyle/>
                    <a:p>
                      <a:pPr marL="127635">
                        <a:lnSpc>
                          <a:spcPts val="785"/>
                        </a:lnSpc>
                        <a:spcBef>
                          <a:spcPts val="25"/>
                        </a:spcBef>
                      </a:pPr>
                      <a:r>
                        <a:rPr sz="700" spc="-10">
                          <a:latin typeface="Arial"/>
                          <a:cs typeface="Arial"/>
                        </a:rPr>
                        <a:t>Multi-strategy</a:t>
                      </a:r>
                      <a:endParaRPr sz="700">
                        <a:latin typeface="Arial"/>
                        <a:cs typeface="Arial"/>
                      </a:endParaRPr>
                    </a:p>
                  </a:txBody>
                  <a:tcPr marL="0" marR="0" marT="3175"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a:latin typeface="Arial"/>
                          <a:cs typeface="Arial"/>
                        </a:rPr>
                        <a:t>177</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a:latin typeface="Arial"/>
                          <a:cs typeface="Arial"/>
                        </a:rPr>
                        <a:t>3</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04"/>
                  </a:ext>
                </a:extLst>
              </a:tr>
              <a:tr h="137816">
                <a:tc>
                  <a:txBody>
                    <a:bodyPr/>
                    <a:lstStyle/>
                    <a:p>
                      <a:pPr marR="40005" algn="ctr">
                        <a:lnSpc>
                          <a:spcPts val="750"/>
                        </a:lnSpc>
                        <a:spcBef>
                          <a:spcPts val="65"/>
                        </a:spcBef>
                      </a:pPr>
                      <a:r>
                        <a:rPr sz="700" spc="-50">
                          <a:latin typeface="Arial"/>
                          <a:cs typeface="Arial"/>
                        </a:rPr>
                        <a:t>5</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chemeClr val="bg1">
                        <a:lumMod val="85000"/>
                      </a:schemeClr>
                    </a:solidFill>
                  </a:tcPr>
                </a:tc>
                <a:tc>
                  <a:txBody>
                    <a:bodyPr/>
                    <a:lstStyle/>
                    <a:p>
                      <a:pPr marL="45720">
                        <a:lnSpc>
                          <a:spcPts val="750"/>
                        </a:lnSpc>
                        <a:spcBef>
                          <a:spcPts val="65"/>
                        </a:spcBef>
                      </a:pPr>
                      <a:r>
                        <a:rPr sz="700" spc="-20">
                          <a:latin typeface="Arial"/>
                          <a:cs typeface="Arial"/>
                        </a:rPr>
                        <a:t>AI-</a:t>
                      </a:r>
                      <a:r>
                        <a:rPr sz="700">
                          <a:latin typeface="Arial"/>
                          <a:cs typeface="Arial"/>
                        </a:rPr>
                        <a:t>Rayyan</a:t>
                      </a:r>
                      <a:r>
                        <a:rPr sz="700" spc="45">
                          <a:latin typeface="Arial"/>
                          <a:cs typeface="Arial"/>
                        </a:rPr>
                        <a:t> </a:t>
                      </a:r>
                      <a:r>
                        <a:rPr sz="700">
                          <a:latin typeface="Arial"/>
                          <a:cs typeface="Arial"/>
                        </a:rPr>
                        <a:t>/</a:t>
                      </a:r>
                      <a:r>
                        <a:rPr sz="700" spc="-5">
                          <a:latin typeface="Arial"/>
                          <a:cs typeface="Arial"/>
                        </a:rPr>
                        <a:t> </a:t>
                      </a:r>
                      <a:r>
                        <a:rPr sz="700" spc="-25">
                          <a:latin typeface="Arial"/>
                          <a:cs typeface="Arial"/>
                        </a:rPr>
                        <a:t>QIA</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8735">
                        <a:lnSpc>
                          <a:spcPts val="785"/>
                        </a:lnSpc>
                        <a:spcBef>
                          <a:spcPts val="25"/>
                        </a:spcBef>
                      </a:pPr>
                      <a:r>
                        <a:rPr sz="700" spc="-10">
                          <a:latin typeface="Arial"/>
                          <a:cs typeface="Arial"/>
                        </a:rPr>
                        <a:t>Qatar</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127635">
                        <a:lnSpc>
                          <a:spcPts val="785"/>
                        </a:lnSpc>
                        <a:spcBef>
                          <a:spcPts val="25"/>
                        </a:spcBef>
                      </a:pPr>
                      <a:r>
                        <a:rPr sz="700" spc="-25">
                          <a:latin typeface="Arial"/>
                          <a:cs typeface="Arial"/>
                        </a:rPr>
                        <a:t>SWF</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5560" algn="ctr">
                        <a:lnSpc>
                          <a:spcPts val="750"/>
                        </a:lnSpc>
                        <a:spcBef>
                          <a:spcPts val="65"/>
                        </a:spcBef>
                      </a:pPr>
                      <a:r>
                        <a:rPr sz="700" spc="-25">
                          <a:latin typeface="Arial"/>
                          <a:cs typeface="Arial"/>
                        </a:rPr>
                        <a:t>150</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24130" algn="ctr">
                        <a:lnSpc>
                          <a:spcPts val="750"/>
                        </a:lnSpc>
                        <a:spcBef>
                          <a:spcPts val="65"/>
                        </a:spcBef>
                      </a:pPr>
                      <a:r>
                        <a:rPr sz="700" spc="-50">
                          <a:latin typeface="Arial"/>
                          <a:cs typeface="Arial"/>
                        </a:rPr>
                        <a:t>1</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chemeClr val="bg1">
                        <a:lumMod val="85000"/>
                      </a:schemeClr>
                    </a:solidFill>
                  </a:tcPr>
                </a:tc>
                <a:extLst>
                  <a:ext uri="{0D108BD9-81ED-4DB2-BD59-A6C34878D82A}">
                    <a16:rowId xmlns:a16="http://schemas.microsoft.com/office/drawing/2014/main" val="10005"/>
                  </a:ext>
                </a:extLst>
              </a:tr>
              <a:tr h="138573">
                <a:tc>
                  <a:txBody>
                    <a:bodyPr/>
                    <a:lstStyle/>
                    <a:p>
                      <a:pPr marR="40005" algn="ctr">
                        <a:lnSpc>
                          <a:spcPts val="750"/>
                        </a:lnSpc>
                        <a:spcBef>
                          <a:spcPts val="65"/>
                        </a:spcBef>
                      </a:pPr>
                      <a:r>
                        <a:rPr sz="700" spc="-50">
                          <a:latin typeface="Arial"/>
                          <a:cs typeface="Arial"/>
                        </a:rPr>
                        <a:t>6</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spc="-20">
                          <a:latin typeface="Arial"/>
                          <a:cs typeface="Arial"/>
                        </a:rPr>
                        <a:t>Boyu</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a:latin typeface="Arial"/>
                          <a:cs typeface="Arial"/>
                        </a:rPr>
                        <a:t>PE/VC</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a:latin typeface="Arial"/>
                          <a:cs typeface="Arial"/>
                        </a:rPr>
                        <a:t>135</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a:latin typeface="Arial"/>
                          <a:cs typeface="Arial"/>
                        </a:rPr>
                        <a:t>3</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06"/>
                  </a:ext>
                </a:extLst>
              </a:tr>
              <a:tr h="138573">
                <a:tc>
                  <a:txBody>
                    <a:bodyPr/>
                    <a:lstStyle/>
                    <a:p>
                      <a:pPr marR="40005" algn="ctr">
                        <a:lnSpc>
                          <a:spcPts val="750"/>
                        </a:lnSpc>
                        <a:spcBef>
                          <a:spcPts val="65"/>
                        </a:spcBef>
                      </a:pPr>
                      <a:r>
                        <a:rPr sz="700" spc="-50">
                          <a:latin typeface="Arial"/>
                          <a:cs typeface="Arial"/>
                        </a:rPr>
                        <a:t>7</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a:latin typeface="Arial"/>
                          <a:cs typeface="Arial"/>
                        </a:rPr>
                        <a:t>Yunfeng</a:t>
                      </a:r>
                      <a:r>
                        <a:rPr sz="700" spc="-20">
                          <a:latin typeface="Arial"/>
                          <a:cs typeface="Arial"/>
                        </a:rPr>
                        <a:t> </a:t>
                      </a:r>
                      <a:r>
                        <a:rPr sz="700" spc="-10">
                          <a:latin typeface="Arial"/>
                          <a:cs typeface="Arial"/>
                        </a:rPr>
                        <a:t>Investments</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25"/>
                        </a:spcBef>
                      </a:pPr>
                      <a:r>
                        <a:rPr sz="700" spc="-10">
                          <a:latin typeface="Arial"/>
                          <a:cs typeface="Arial"/>
                        </a:rPr>
                        <a:t>China</a:t>
                      </a:r>
                      <a:endParaRPr sz="700">
                        <a:latin typeface="Arial"/>
                        <a:cs typeface="Arial"/>
                      </a:endParaRPr>
                    </a:p>
                  </a:txBody>
                  <a:tcPr marL="0" marR="0" marT="3175" marB="0">
                    <a:lnT w="9525">
                      <a:solidFill>
                        <a:srgbClr val="0F406B"/>
                      </a:solidFill>
                      <a:prstDash val="solid"/>
                    </a:lnT>
                    <a:lnB w="9525">
                      <a:solidFill>
                        <a:srgbClr val="0F406B"/>
                      </a:solidFill>
                      <a:prstDash val="solid"/>
                    </a:lnB>
                  </a:tcPr>
                </a:tc>
                <a:tc>
                  <a:txBody>
                    <a:bodyPr/>
                    <a:lstStyle/>
                    <a:p>
                      <a:pPr marL="127635">
                        <a:lnSpc>
                          <a:spcPts val="785"/>
                        </a:lnSpc>
                        <a:spcBef>
                          <a:spcPts val="25"/>
                        </a:spcBef>
                      </a:pPr>
                      <a:r>
                        <a:rPr sz="700" spc="-10">
                          <a:latin typeface="Arial"/>
                          <a:cs typeface="Arial"/>
                        </a:rPr>
                        <a:t>PE/VC</a:t>
                      </a:r>
                      <a:endParaRPr sz="700">
                        <a:latin typeface="Arial"/>
                        <a:cs typeface="Arial"/>
                      </a:endParaRPr>
                    </a:p>
                  </a:txBody>
                  <a:tcPr marL="0" marR="0" marT="3175"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a:latin typeface="Arial"/>
                          <a:cs typeface="Arial"/>
                        </a:rPr>
                        <a:t>116</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07"/>
                  </a:ext>
                </a:extLst>
              </a:tr>
              <a:tr h="138573">
                <a:tc>
                  <a:txBody>
                    <a:bodyPr/>
                    <a:lstStyle/>
                    <a:p>
                      <a:pPr marR="40005" algn="ctr">
                        <a:lnSpc>
                          <a:spcPts val="750"/>
                        </a:lnSpc>
                        <a:spcBef>
                          <a:spcPts val="65"/>
                        </a:spcBef>
                      </a:pPr>
                      <a:r>
                        <a:rPr sz="700" spc="-50">
                          <a:latin typeface="Arial"/>
                          <a:cs typeface="Arial"/>
                        </a:rPr>
                        <a:t>8</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chemeClr val="bg1">
                        <a:lumMod val="85000"/>
                      </a:schemeClr>
                    </a:solidFill>
                  </a:tcPr>
                </a:tc>
                <a:tc>
                  <a:txBody>
                    <a:bodyPr/>
                    <a:lstStyle/>
                    <a:p>
                      <a:pPr marL="45720">
                        <a:lnSpc>
                          <a:spcPts val="750"/>
                        </a:lnSpc>
                        <a:spcBef>
                          <a:spcPts val="65"/>
                        </a:spcBef>
                      </a:pPr>
                      <a:r>
                        <a:rPr sz="700" spc="-10">
                          <a:latin typeface="Arial"/>
                          <a:cs typeface="Arial"/>
                        </a:rPr>
                        <a:t>Temasek</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8735">
                        <a:lnSpc>
                          <a:spcPts val="785"/>
                        </a:lnSpc>
                        <a:spcBef>
                          <a:spcPts val="25"/>
                        </a:spcBef>
                      </a:pPr>
                      <a:r>
                        <a:rPr sz="700" spc="-10">
                          <a:latin typeface="Arial"/>
                          <a:cs typeface="Arial"/>
                        </a:rPr>
                        <a:t>Singapore</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127635">
                        <a:lnSpc>
                          <a:spcPts val="785"/>
                        </a:lnSpc>
                        <a:spcBef>
                          <a:spcPts val="25"/>
                        </a:spcBef>
                      </a:pPr>
                      <a:r>
                        <a:rPr sz="700" spc="-25">
                          <a:latin typeface="Arial"/>
                          <a:cs typeface="Arial"/>
                        </a:rPr>
                        <a:t>SWF</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5560" algn="ctr">
                        <a:lnSpc>
                          <a:spcPts val="750"/>
                        </a:lnSpc>
                        <a:spcBef>
                          <a:spcPts val="65"/>
                        </a:spcBef>
                      </a:pPr>
                      <a:r>
                        <a:rPr sz="700" spc="-25">
                          <a:latin typeface="Arial"/>
                          <a:cs typeface="Arial"/>
                        </a:rPr>
                        <a:t>115</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24130" algn="ctr">
                        <a:lnSpc>
                          <a:spcPts val="750"/>
                        </a:lnSpc>
                        <a:spcBef>
                          <a:spcPts val="65"/>
                        </a:spcBef>
                      </a:pPr>
                      <a:r>
                        <a:rPr sz="700" spc="-5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chemeClr val="bg1">
                        <a:lumMod val="85000"/>
                      </a:schemeClr>
                    </a:solidFill>
                  </a:tcPr>
                </a:tc>
                <a:extLst>
                  <a:ext uri="{0D108BD9-81ED-4DB2-BD59-A6C34878D82A}">
                    <a16:rowId xmlns:a16="http://schemas.microsoft.com/office/drawing/2014/main" val="10008"/>
                  </a:ext>
                </a:extLst>
              </a:tr>
              <a:tr h="138573">
                <a:tc>
                  <a:txBody>
                    <a:bodyPr/>
                    <a:lstStyle/>
                    <a:p>
                      <a:pPr marR="40005" algn="ctr">
                        <a:lnSpc>
                          <a:spcPts val="750"/>
                        </a:lnSpc>
                        <a:spcBef>
                          <a:spcPts val="65"/>
                        </a:spcBef>
                      </a:pPr>
                      <a:r>
                        <a:rPr sz="700" spc="-50">
                          <a:latin typeface="Arial"/>
                          <a:cs typeface="Arial"/>
                        </a:rPr>
                        <a:t>9</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a:latin typeface="Arial"/>
                          <a:cs typeface="Arial"/>
                        </a:rPr>
                        <a:t>Taikang</a:t>
                      </a:r>
                      <a:r>
                        <a:rPr sz="700" spc="-10">
                          <a:latin typeface="Arial"/>
                          <a:cs typeface="Arial"/>
                        </a:rPr>
                        <a:t> </a:t>
                      </a:r>
                      <a:r>
                        <a:rPr sz="700" spc="-20">
                          <a:latin typeface="Arial"/>
                          <a:cs typeface="Arial"/>
                        </a:rPr>
                        <a:t>Life</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a:latin typeface="Arial"/>
                          <a:cs typeface="Arial"/>
                        </a:rPr>
                        <a:t>Insurance</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a:latin typeface="Arial"/>
                          <a:cs typeface="Arial"/>
                        </a:rPr>
                        <a:t>112</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a:latin typeface="Arial"/>
                          <a:cs typeface="Arial"/>
                        </a:rPr>
                        <a:t>6</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09"/>
                  </a:ext>
                </a:extLst>
              </a:tr>
              <a:tr h="137816">
                <a:tc>
                  <a:txBody>
                    <a:bodyPr/>
                    <a:lstStyle/>
                    <a:p>
                      <a:pPr algn="ctr">
                        <a:lnSpc>
                          <a:spcPts val="745"/>
                        </a:lnSpc>
                        <a:spcBef>
                          <a:spcPts val="65"/>
                        </a:spcBef>
                      </a:pPr>
                      <a:r>
                        <a:rPr sz="700" spc="-25">
                          <a:latin typeface="Arial"/>
                          <a:cs typeface="Arial"/>
                        </a:rPr>
                        <a:t>10</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chemeClr val="bg1">
                        <a:lumMod val="85000"/>
                      </a:schemeClr>
                    </a:solidFill>
                  </a:tcPr>
                </a:tc>
                <a:tc>
                  <a:txBody>
                    <a:bodyPr/>
                    <a:lstStyle/>
                    <a:p>
                      <a:pPr marL="45720">
                        <a:lnSpc>
                          <a:spcPts val="745"/>
                        </a:lnSpc>
                        <a:spcBef>
                          <a:spcPts val="65"/>
                        </a:spcBef>
                      </a:pPr>
                      <a:r>
                        <a:rPr sz="700">
                          <a:latin typeface="Arial"/>
                          <a:cs typeface="Arial"/>
                        </a:rPr>
                        <a:t>Fidelity</a:t>
                      </a:r>
                      <a:r>
                        <a:rPr sz="700" spc="-35">
                          <a:latin typeface="Arial"/>
                          <a:cs typeface="Arial"/>
                        </a:rPr>
                        <a:t> </a:t>
                      </a:r>
                      <a:r>
                        <a:rPr sz="700" spc="-10">
                          <a:latin typeface="Arial"/>
                          <a:cs typeface="Arial"/>
                        </a:rPr>
                        <a:t>International</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8735">
                        <a:lnSpc>
                          <a:spcPts val="785"/>
                        </a:lnSpc>
                        <a:spcBef>
                          <a:spcPts val="25"/>
                        </a:spcBef>
                      </a:pPr>
                      <a:r>
                        <a:rPr sz="700" spc="-25">
                          <a:latin typeface="Arial"/>
                          <a:cs typeface="Arial"/>
                        </a:rPr>
                        <a:t>US</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127635">
                        <a:lnSpc>
                          <a:spcPts val="785"/>
                        </a:lnSpc>
                        <a:spcBef>
                          <a:spcPts val="25"/>
                        </a:spcBef>
                      </a:pPr>
                      <a:r>
                        <a:rPr sz="700" spc="-10">
                          <a:latin typeface="Arial"/>
                          <a:cs typeface="Arial"/>
                        </a:rPr>
                        <a:t>Long-</a:t>
                      </a:r>
                      <a:r>
                        <a:rPr sz="700" spc="-20">
                          <a:latin typeface="Arial"/>
                          <a:cs typeface="Arial"/>
                        </a:rPr>
                        <a:t>only</a:t>
                      </a:r>
                      <a:endParaRPr sz="700">
                        <a:latin typeface="Arial"/>
                        <a:cs typeface="Arial"/>
                      </a:endParaRPr>
                    </a:p>
                  </a:txBody>
                  <a:tcPr marL="0" marR="0" marT="317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5560" algn="ctr">
                        <a:lnSpc>
                          <a:spcPts val="745"/>
                        </a:lnSpc>
                        <a:spcBef>
                          <a:spcPts val="65"/>
                        </a:spcBef>
                      </a:pPr>
                      <a:r>
                        <a:rPr sz="700" spc="-25">
                          <a:latin typeface="Arial"/>
                          <a:cs typeface="Arial"/>
                        </a:rPr>
                        <a:t>110</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24130" algn="ctr">
                        <a:lnSpc>
                          <a:spcPts val="745"/>
                        </a:lnSpc>
                        <a:spcBef>
                          <a:spcPts val="65"/>
                        </a:spcBef>
                      </a:pPr>
                      <a:r>
                        <a:rPr sz="700" spc="-5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chemeClr val="bg1">
                        <a:lumMod val="85000"/>
                      </a:schemeClr>
                    </a:solidFill>
                  </a:tcPr>
                </a:tc>
                <a:extLst>
                  <a:ext uri="{0D108BD9-81ED-4DB2-BD59-A6C34878D82A}">
                    <a16:rowId xmlns:a16="http://schemas.microsoft.com/office/drawing/2014/main" val="10010"/>
                  </a:ext>
                </a:extLst>
              </a:tr>
              <a:tr h="138573">
                <a:tc>
                  <a:txBody>
                    <a:bodyPr/>
                    <a:lstStyle/>
                    <a:p>
                      <a:pPr algn="ctr">
                        <a:lnSpc>
                          <a:spcPts val="750"/>
                        </a:lnSpc>
                        <a:spcBef>
                          <a:spcPts val="65"/>
                        </a:spcBef>
                      </a:pPr>
                      <a:r>
                        <a:rPr sz="700" spc="-25">
                          <a:latin typeface="Arial"/>
                          <a:cs typeface="Arial"/>
                        </a:rPr>
                        <a:t>11</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spc="-10">
                          <a:latin typeface="Arial"/>
                          <a:cs typeface="Arial"/>
                        </a:rPr>
                        <a:t>Tencent</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a:latin typeface="Arial"/>
                          <a:cs typeface="Arial"/>
                        </a:rPr>
                        <a:t>Strategic</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a:latin typeface="Arial"/>
                          <a:cs typeface="Arial"/>
                        </a:rPr>
                        <a:t>100</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50"/>
                        </a:lnSpc>
                        <a:spcBef>
                          <a:spcPts val="65"/>
                        </a:spcBef>
                      </a:pPr>
                      <a:r>
                        <a:rPr sz="700" spc="-50">
                          <a:latin typeface="Arial"/>
                          <a:cs typeface="Arial"/>
                        </a:rPr>
                        <a:t>3</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1"/>
                  </a:ext>
                </a:extLst>
              </a:tr>
              <a:tr h="138573">
                <a:tc>
                  <a:txBody>
                    <a:bodyPr/>
                    <a:lstStyle/>
                    <a:p>
                      <a:pPr algn="ctr">
                        <a:lnSpc>
                          <a:spcPts val="750"/>
                        </a:lnSpc>
                        <a:spcBef>
                          <a:spcPts val="65"/>
                        </a:spcBef>
                      </a:pPr>
                      <a:r>
                        <a:rPr sz="700" spc="-25">
                          <a:latin typeface="Arial"/>
                          <a:cs typeface="Arial"/>
                        </a:rPr>
                        <a:t>12</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50"/>
                        </a:lnSpc>
                        <a:spcBef>
                          <a:spcPts val="65"/>
                        </a:spcBef>
                      </a:pPr>
                      <a:r>
                        <a:rPr sz="700">
                          <a:latin typeface="Arial"/>
                          <a:cs typeface="Arial"/>
                        </a:rPr>
                        <a:t>Xiamen</a:t>
                      </a:r>
                      <a:r>
                        <a:rPr sz="700" spc="5">
                          <a:latin typeface="Arial"/>
                          <a:cs typeface="Arial"/>
                        </a:rPr>
                        <a:t> </a:t>
                      </a:r>
                      <a:r>
                        <a:rPr sz="700">
                          <a:latin typeface="Arial"/>
                          <a:cs typeface="Arial"/>
                        </a:rPr>
                        <a:t>Advanced</a:t>
                      </a:r>
                      <a:r>
                        <a:rPr sz="700" spc="5">
                          <a:latin typeface="Arial"/>
                          <a:cs typeface="Arial"/>
                        </a:rPr>
                        <a:t> </a:t>
                      </a:r>
                      <a:r>
                        <a:rPr sz="700" spc="-10">
                          <a:latin typeface="Arial"/>
                          <a:cs typeface="Arial"/>
                        </a:rPr>
                        <a:t>Manufacturing</a:t>
                      </a:r>
                      <a:r>
                        <a:rPr sz="700" spc="40">
                          <a:latin typeface="Arial"/>
                          <a:cs typeface="Arial"/>
                        </a:rPr>
                        <a:t> </a:t>
                      </a:r>
                      <a:r>
                        <a:rPr sz="700" spc="-20">
                          <a:latin typeface="Arial"/>
                          <a:cs typeface="Arial"/>
                        </a:rPr>
                        <a:t>Fund</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a:latin typeface="Arial"/>
                          <a:cs typeface="Arial"/>
                        </a:rPr>
                        <a:t>Government</a:t>
                      </a:r>
                      <a:r>
                        <a:rPr sz="700" spc="-30">
                          <a:latin typeface="Arial"/>
                          <a:cs typeface="Arial"/>
                        </a:rPr>
                        <a:t> </a:t>
                      </a:r>
                      <a:r>
                        <a:rPr sz="700" spc="-20">
                          <a:latin typeface="Arial"/>
                          <a:cs typeface="Arial"/>
                        </a:rPr>
                        <a:t>Fund</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50"/>
                        </a:lnSpc>
                        <a:spcBef>
                          <a:spcPts val="65"/>
                        </a:spcBef>
                      </a:pPr>
                      <a:r>
                        <a:rPr sz="700" spc="-25">
                          <a:latin typeface="Arial"/>
                          <a:cs typeface="Arial"/>
                        </a:rPr>
                        <a:t>99</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765" algn="ctr">
                        <a:lnSpc>
                          <a:spcPts val="750"/>
                        </a:lnSpc>
                        <a:spcBef>
                          <a:spcPts val="65"/>
                        </a:spcBef>
                      </a:pPr>
                      <a:r>
                        <a:rPr sz="700" spc="-50">
                          <a:latin typeface="Arial"/>
                          <a:cs typeface="Arial"/>
                        </a:rPr>
                        <a:t>1</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2"/>
                  </a:ext>
                </a:extLst>
              </a:tr>
              <a:tr h="137816">
                <a:tc>
                  <a:txBody>
                    <a:bodyPr/>
                    <a:lstStyle/>
                    <a:p>
                      <a:pPr algn="ctr">
                        <a:lnSpc>
                          <a:spcPts val="745"/>
                        </a:lnSpc>
                        <a:spcBef>
                          <a:spcPts val="65"/>
                        </a:spcBef>
                      </a:pPr>
                      <a:r>
                        <a:rPr sz="700" spc="-25">
                          <a:latin typeface="Arial"/>
                          <a:cs typeface="Arial"/>
                        </a:rPr>
                        <a:t>13</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chemeClr val="bg1">
                        <a:lumMod val="85000"/>
                      </a:schemeClr>
                    </a:solidFill>
                  </a:tcPr>
                </a:tc>
                <a:tc>
                  <a:txBody>
                    <a:bodyPr/>
                    <a:lstStyle/>
                    <a:p>
                      <a:pPr marL="45720">
                        <a:lnSpc>
                          <a:spcPts val="745"/>
                        </a:lnSpc>
                        <a:spcBef>
                          <a:spcPts val="65"/>
                        </a:spcBef>
                      </a:pPr>
                      <a:r>
                        <a:rPr sz="700" spc="-10">
                          <a:latin typeface="Arial"/>
                          <a:cs typeface="Arial"/>
                        </a:rPr>
                        <a:t>Blackrock</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8735">
                        <a:lnSpc>
                          <a:spcPts val="785"/>
                        </a:lnSpc>
                        <a:spcBef>
                          <a:spcPts val="30"/>
                        </a:spcBef>
                      </a:pPr>
                      <a:r>
                        <a:rPr sz="700" spc="-25">
                          <a:latin typeface="Arial"/>
                          <a:cs typeface="Arial"/>
                        </a:rPr>
                        <a:t>US</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127635">
                        <a:lnSpc>
                          <a:spcPts val="785"/>
                        </a:lnSpc>
                        <a:spcBef>
                          <a:spcPts val="30"/>
                        </a:spcBef>
                      </a:pPr>
                      <a:r>
                        <a:rPr sz="700" spc="-10">
                          <a:latin typeface="Arial"/>
                          <a:cs typeface="Arial"/>
                        </a:rPr>
                        <a:t>Long-</a:t>
                      </a:r>
                      <a:r>
                        <a:rPr sz="700" spc="-20">
                          <a:latin typeface="Arial"/>
                          <a:cs typeface="Arial"/>
                        </a:rPr>
                        <a:t>only</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5560" algn="ctr">
                        <a:lnSpc>
                          <a:spcPts val="745"/>
                        </a:lnSpc>
                        <a:spcBef>
                          <a:spcPts val="65"/>
                        </a:spcBef>
                      </a:pPr>
                      <a:r>
                        <a:rPr sz="700" spc="-25">
                          <a:latin typeface="Arial"/>
                          <a:cs typeface="Arial"/>
                        </a:rPr>
                        <a:t>95</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24130" algn="ctr">
                        <a:lnSpc>
                          <a:spcPts val="745"/>
                        </a:lnSpc>
                        <a:spcBef>
                          <a:spcPts val="65"/>
                        </a:spcBef>
                      </a:pPr>
                      <a:r>
                        <a:rPr sz="700" spc="-5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chemeClr val="bg1">
                        <a:lumMod val="85000"/>
                      </a:schemeClr>
                    </a:solidFill>
                  </a:tcPr>
                </a:tc>
                <a:extLst>
                  <a:ext uri="{0D108BD9-81ED-4DB2-BD59-A6C34878D82A}">
                    <a16:rowId xmlns:a16="http://schemas.microsoft.com/office/drawing/2014/main" val="10013"/>
                  </a:ext>
                </a:extLst>
              </a:tr>
              <a:tr h="138573">
                <a:tc>
                  <a:txBody>
                    <a:bodyPr/>
                    <a:lstStyle/>
                    <a:p>
                      <a:pPr algn="ctr">
                        <a:lnSpc>
                          <a:spcPts val="745"/>
                        </a:lnSpc>
                        <a:spcBef>
                          <a:spcPts val="65"/>
                        </a:spcBef>
                      </a:pPr>
                      <a:r>
                        <a:rPr sz="700" spc="-25">
                          <a:latin typeface="Arial"/>
                          <a:cs typeface="Arial"/>
                        </a:rPr>
                        <a:t>14</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65"/>
                        </a:spcBef>
                      </a:pPr>
                      <a:r>
                        <a:rPr sz="700" spc="-10">
                          <a:latin typeface="Arial"/>
                          <a:cs typeface="Arial"/>
                        </a:rPr>
                        <a:t>Hillhouse</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a:latin typeface="Arial"/>
                          <a:cs typeface="Arial"/>
                        </a:rPr>
                        <a:t>PE/VC</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65"/>
                        </a:spcBef>
                      </a:pPr>
                      <a:r>
                        <a:rPr sz="700" spc="-25">
                          <a:latin typeface="Arial"/>
                          <a:cs typeface="Arial"/>
                        </a:rPr>
                        <a:t>95</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45"/>
                        </a:lnSpc>
                        <a:spcBef>
                          <a:spcPts val="65"/>
                        </a:spcBef>
                      </a:pPr>
                      <a:r>
                        <a:rPr sz="700" spc="-50">
                          <a:latin typeface="Arial"/>
                          <a:cs typeface="Arial"/>
                        </a:rPr>
                        <a:t>4</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4"/>
                  </a:ext>
                </a:extLst>
              </a:tr>
              <a:tr h="137816">
                <a:tc>
                  <a:txBody>
                    <a:bodyPr/>
                    <a:lstStyle/>
                    <a:p>
                      <a:pPr algn="ctr">
                        <a:lnSpc>
                          <a:spcPts val="745"/>
                        </a:lnSpc>
                        <a:spcBef>
                          <a:spcPts val="70"/>
                        </a:spcBef>
                      </a:pPr>
                      <a:r>
                        <a:rPr sz="700" spc="-25">
                          <a:latin typeface="Arial"/>
                          <a:cs typeface="Arial"/>
                        </a:rPr>
                        <a:t>15</a:t>
                      </a:r>
                      <a:endParaRPr sz="700">
                        <a:latin typeface="Arial"/>
                        <a:cs typeface="Arial"/>
                      </a:endParaRPr>
                    </a:p>
                  </a:txBody>
                  <a:tcPr marL="0" marR="0" marT="8890" marB="0">
                    <a:lnL w="9525">
                      <a:solidFill>
                        <a:srgbClr val="0F406B"/>
                      </a:solidFill>
                      <a:prstDash val="solid"/>
                    </a:lnL>
                    <a:lnT w="9525">
                      <a:solidFill>
                        <a:srgbClr val="0F406B"/>
                      </a:solidFill>
                      <a:prstDash val="solid"/>
                    </a:lnT>
                    <a:lnB w="9525">
                      <a:solidFill>
                        <a:srgbClr val="0F406B"/>
                      </a:solidFill>
                      <a:prstDash val="solid"/>
                    </a:lnB>
                    <a:solidFill>
                      <a:schemeClr val="bg1">
                        <a:lumMod val="85000"/>
                      </a:schemeClr>
                    </a:solidFill>
                  </a:tcPr>
                </a:tc>
                <a:tc>
                  <a:txBody>
                    <a:bodyPr/>
                    <a:lstStyle/>
                    <a:p>
                      <a:pPr marL="45720">
                        <a:lnSpc>
                          <a:spcPts val="745"/>
                        </a:lnSpc>
                        <a:spcBef>
                          <a:spcPts val="70"/>
                        </a:spcBef>
                      </a:pPr>
                      <a:r>
                        <a:rPr sz="700" spc="-25">
                          <a:latin typeface="Arial"/>
                          <a:cs typeface="Arial"/>
                        </a:rPr>
                        <a:t>GIC</a:t>
                      </a:r>
                      <a:endParaRPr sz="700">
                        <a:latin typeface="Arial"/>
                        <a:cs typeface="Arial"/>
                      </a:endParaRPr>
                    </a:p>
                  </a:txBody>
                  <a:tcPr marL="0" marR="0" marT="889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8735">
                        <a:lnSpc>
                          <a:spcPts val="785"/>
                        </a:lnSpc>
                        <a:spcBef>
                          <a:spcPts val="30"/>
                        </a:spcBef>
                      </a:pPr>
                      <a:r>
                        <a:rPr sz="700" spc="-10">
                          <a:latin typeface="Arial"/>
                          <a:cs typeface="Arial"/>
                        </a:rPr>
                        <a:t>Singapore</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127635">
                        <a:lnSpc>
                          <a:spcPts val="785"/>
                        </a:lnSpc>
                        <a:spcBef>
                          <a:spcPts val="30"/>
                        </a:spcBef>
                      </a:pPr>
                      <a:r>
                        <a:rPr sz="700" spc="-25">
                          <a:latin typeface="Arial"/>
                          <a:cs typeface="Arial"/>
                        </a:rPr>
                        <a:t>SWF</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5560" algn="ctr">
                        <a:lnSpc>
                          <a:spcPts val="745"/>
                        </a:lnSpc>
                        <a:spcBef>
                          <a:spcPts val="70"/>
                        </a:spcBef>
                      </a:pPr>
                      <a:r>
                        <a:rPr sz="700" spc="-25">
                          <a:latin typeface="Arial"/>
                          <a:cs typeface="Arial"/>
                        </a:rPr>
                        <a:t>90</a:t>
                      </a:r>
                      <a:endParaRPr sz="700">
                        <a:latin typeface="Arial"/>
                        <a:cs typeface="Arial"/>
                      </a:endParaRPr>
                    </a:p>
                  </a:txBody>
                  <a:tcPr marL="0" marR="0" marT="889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24130" algn="ctr">
                        <a:lnSpc>
                          <a:spcPts val="745"/>
                        </a:lnSpc>
                        <a:spcBef>
                          <a:spcPts val="70"/>
                        </a:spcBef>
                      </a:pPr>
                      <a:r>
                        <a:rPr sz="700" spc="-50">
                          <a:latin typeface="Arial"/>
                          <a:cs typeface="Arial"/>
                        </a:rPr>
                        <a:t>1</a:t>
                      </a:r>
                      <a:endParaRPr sz="700">
                        <a:latin typeface="Arial"/>
                        <a:cs typeface="Arial"/>
                      </a:endParaRPr>
                    </a:p>
                  </a:txBody>
                  <a:tcPr marL="0" marR="0" marT="8890" marB="0">
                    <a:lnR w="9525">
                      <a:solidFill>
                        <a:srgbClr val="0F406B"/>
                      </a:solidFill>
                      <a:prstDash val="solid"/>
                    </a:lnR>
                    <a:lnT w="9525">
                      <a:solidFill>
                        <a:srgbClr val="0F406B"/>
                      </a:solidFill>
                      <a:prstDash val="solid"/>
                    </a:lnT>
                    <a:lnB w="9525">
                      <a:solidFill>
                        <a:srgbClr val="0F406B"/>
                      </a:solidFill>
                      <a:prstDash val="solid"/>
                    </a:lnB>
                    <a:solidFill>
                      <a:schemeClr val="bg1">
                        <a:lumMod val="85000"/>
                      </a:schemeClr>
                    </a:solidFill>
                  </a:tcPr>
                </a:tc>
                <a:extLst>
                  <a:ext uri="{0D108BD9-81ED-4DB2-BD59-A6C34878D82A}">
                    <a16:rowId xmlns:a16="http://schemas.microsoft.com/office/drawing/2014/main" val="10015"/>
                  </a:ext>
                </a:extLst>
              </a:tr>
              <a:tr h="138573">
                <a:tc>
                  <a:txBody>
                    <a:bodyPr/>
                    <a:lstStyle/>
                    <a:p>
                      <a:pPr algn="ctr">
                        <a:lnSpc>
                          <a:spcPts val="745"/>
                        </a:lnSpc>
                        <a:spcBef>
                          <a:spcPts val="65"/>
                        </a:spcBef>
                      </a:pPr>
                      <a:r>
                        <a:rPr sz="700" spc="-25">
                          <a:latin typeface="Arial"/>
                          <a:cs typeface="Arial"/>
                        </a:rPr>
                        <a:t>16</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65"/>
                        </a:spcBef>
                      </a:pPr>
                      <a:r>
                        <a:rPr sz="700" spc="-10">
                          <a:latin typeface="Arial"/>
                          <a:cs typeface="Arial"/>
                        </a:rPr>
                        <a:t>Alibaba</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a:latin typeface="Arial"/>
                          <a:cs typeface="Arial"/>
                        </a:rPr>
                        <a:t>Strategic</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65"/>
                        </a:spcBef>
                      </a:pPr>
                      <a:r>
                        <a:rPr sz="700" spc="-25">
                          <a:latin typeface="Arial"/>
                          <a:cs typeface="Arial"/>
                        </a:rPr>
                        <a:t>85</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45"/>
                        </a:lnSpc>
                        <a:spcBef>
                          <a:spcPts val="65"/>
                        </a:spcBef>
                      </a:pPr>
                      <a:r>
                        <a:rPr sz="700" spc="-5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6"/>
                  </a:ext>
                </a:extLst>
              </a:tr>
              <a:tr h="138573">
                <a:tc>
                  <a:txBody>
                    <a:bodyPr/>
                    <a:lstStyle/>
                    <a:p>
                      <a:pPr algn="ctr">
                        <a:lnSpc>
                          <a:spcPts val="745"/>
                        </a:lnSpc>
                        <a:spcBef>
                          <a:spcPts val="65"/>
                        </a:spcBef>
                      </a:pPr>
                      <a:r>
                        <a:rPr sz="700" spc="-25">
                          <a:latin typeface="Arial"/>
                          <a:cs typeface="Arial"/>
                        </a:rPr>
                        <a:t>17</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solidFill>
                      <a:schemeClr val="bg1">
                        <a:lumMod val="85000"/>
                      </a:schemeClr>
                    </a:solidFill>
                  </a:tcPr>
                </a:tc>
                <a:tc>
                  <a:txBody>
                    <a:bodyPr/>
                    <a:lstStyle/>
                    <a:p>
                      <a:pPr marL="45720">
                        <a:lnSpc>
                          <a:spcPts val="745"/>
                        </a:lnSpc>
                        <a:spcBef>
                          <a:spcPts val="65"/>
                        </a:spcBef>
                      </a:pPr>
                      <a:r>
                        <a:rPr sz="700" spc="-20">
                          <a:latin typeface="Arial"/>
                          <a:cs typeface="Arial"/>
                        </a:rPr>
                        <a:t>ADIA</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8735">
                        <a:lnSpc>
                          <a:spcPts val="785"/>
                        </a:lnSpc>
                        <a:spcBef>
                          <a:spcPts val="30"/>
                        </a:spcBef>
                      </a:pPr>
                      <a:r>
                        <a:rPr sz="700">
                          <a:latin typeface="Arial"/>
                          <a:cs typeface="Arial"/>
                        </a:rPr>
                        <a:t>Abu </a:t>
                      </a:r>
                      <a:r>
                        <a:rPr sz="700" spc="-10">
                          <a:latin typeface="Arial"/>
                          <a:cs typeface="Arial"/>
                        </a:rPr>
                        <a:t>Dhabi</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127635">
                        <a:lnSpc>
                          <a:spcPts val="785"/>
                        </a:lnSpc>
                        <a:spcBef>
                          <a:spcPts val="30"/>
                        </a:spcBef>
                      </a:pPr>
                      <a:r>
                        <a:rPr sz="700" spc="-25">
                          <a:latin typeface="Arial"/>
                          <a:cs typeface="Arial"/>
                        </a:rPr>
                        <a:t>SWF</a:t>
                      </a:r>
                      <a:endParaRPr sz="700">
                        <a:latin typeface="Arial"/>
                        <a:cs typeface="Arial"/>
                      </a:endParaRPr>
                    </a:p>
                  </a:txBody>
                  <a:tcPr marL="0" marR="0" marT="3810" marB="0">
                    <a:lnT w="9525">
                      <a:solidFill>
                        <a:srgbClr val="0F406B"/>
                      </a:solidFill>
                      <a:prstDash val="solid"/>
                    </a:lnT>
                    <a:lnB w="9525">
                      <a:solidFill>
                        <a:srgbClr val="0F406B"/>
                      </a:solidFill>
                      <a:prstDash val="solid"/>
                    </a:lnB>
                    <a:solidFill>
                      <a:schemeClr val="bg1">
                        <a:lumMod val="85000"/>
                      </a:schemeClr>
                    </a:solidFill>
                  </a:tcPr>
                </a:tc>
                <a:tc>
                  <a:txBody>
                    <a:bodyPr/>
                    <a:lstStyle/>
                    <a:p>
                      <a:pPr marL="35560" algn="ctr">
                        <a:lnSpc>
                          <a:spcPts val="745"/>
                        </a:lnSpc>
                        <a:spcBef>
                          <a:spcPts val="65"/>
                        </a:spcBef>
                      </a:pPr>
                      <a:r>
                        <a:rPr sz="700" spc="-25">
                          <a:latin typeface="Arial"/>
                          <a:cs typeface="Arial"/>
                        </a:rPr>
                        <a:t>80</a:t>
                      </a:r>
                      <a:endParaRPr sz="700">
                        <a:latin typeface="Arial"/>
                        <a:cs typeface="Arial"/>
                      </a:endParaRPr>
                    </a:p>
                  </a:txBody>
                  <a:tcPr marL="0" marR="0" marT="8255" marB="0">
                    <a:lnT w="9525">
                      <a:solidFill>
                        <a:srgbClr val="0F406B"/>
                      </a:solidFill>
                      <a:prstDash val="solid"/>
                    </a:lnT>
                    <a:lnB w="9525">
                      <a:solidFill>
                        <a:srgbClr val="0F406B"/>
                      </a:solidFill>
                      <a:prstDash val="solid"/>
                    </a:lnB>
                    <a:solidFill>
                      <a:schemeClr val="bg1">
                        <a:lumMod val="85000"/>
                      </a:schemeClr>
                    </a:solidFill>
                  </a:tcPr>
                </a:tc>
                <a:tc>
                  <a:txBody>
                    <a:bodyPr/>
                    <a:lstStyle/>
                    <a:p>
                      <a:pPr marL="24130" algn="ctr">
                        <a:lnSpc>
                          <a:spcPts val="745"/>
                        </a:lnSpc>
                        <a:spcBef>
                          <a:spcPts val="65"/>
                        </a:spcBef>
                      </a:pPr>
                      <a:r>
                        <a:rPr sz="700" spc="-50">
                          <a:latin typeface="Arial"/>
                          <a:cs typeface="Arial"/>
                        </a:rPr>
                        <a:t>2</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solidFill>
                      <a:schemeClr val="bg1">
                        <a:lumMod val="85000"/>
                      </a:schemeClr>
                    </a:solidFill>
                  </a:tcPr>
                </a:tc>
                <a:extLst>
                  <a:ext uri="{0D108BD9-81ED-4DB2-BD59-A6C34878D82A}">
                    <a16:rowId xmlns:a16="http://schemas.microsoft.com/office/drawing/2014/main" val="10017"/>
                  </a:ext>
                </a:extLst>
              </a:tr>
              <a:tr h="137816">
                <a:tc>
                  <a:txBody>
                    <a:bodyPr/>
                    <a:lstStyle/>
                    <a:p>
                      <a:pPr algn="ctr">
                        <a:lnSpc>
                          <a:spcPts val="745"/>
                        </a:lnSpc>
                        <a:spcBef>
                          <a:spcPts val="70"/>
                        </a:spcBef>
                      </a:pPr>
                      <a:r>
                        <a:rPr sz="700" spc="-25">
                          <a:latin typeface="Arial"/>
                          <a:cs typeface="Arial"/>
                        </a:rPr>
                        <a:t>18</a:t>
                      </a:r>
                      <a:endParaRPr sz="700">
                        <a:latin typeface="Arial"/>
                        <a:cs typeface="Arial"/>
                      </a:endParaRPr>
                    </a:p>
                  </a:txBody>
                  <a:tcPr marL="0" marR="0" marT="8890"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70"/>
                        </a:spcBef>
                      </a:pPr>
                      <a:r>
                        <a:rPr sz="700" spc="-10">
                          <a:latin typeface="Arial"/>
                          <a:cs typeface="Arial"/>
                        </a:rPr>
                        <a:t>Greenwoods</a:t>
                      </a:r>
                      <a:endParaRPr sz="700">
                        <a:latin typeface="Arial"/>
                        <a:cs typeface="Arial"/>
                      </a:endParaRPr>
                    </a:p>
                  </a:txBody>
                  <a:tcPr marL="0" marR="0" marT="8890"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spc="-1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a:latin typeface="Arial"/>
                          <a:cs typeface="Arial"/>
                        </a:rPr>
                        <a:t>Multi-strategy</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70"/>
                        </a:spcBef>
                      </a:pPr>
                      <a:r>
                        <a:rPr sz="700" spc="-25">
                          <a:latin typeface="Arial"/>
                          <a:cs typeface="Arial"/>
                        </a:rPr>
                        <a:t>78</a:t>
                      </a:r>
                      <a:endParaRPr sz="700">
                        <a:latin typeface="Arial"/>
                        <a:cs typeface="Arial"/>
                      </a:endParaRPr>
                    </a:p>
                  </a:txBody>
                  <a:tcPr marL="0" marR="0" marT="8890" marB="0">
                    <a:lnT w="9525">
                      <a:solidFill>
                        <a:srgbClr val="0F406B"/>
                      </a:solidFill>
                      <a:prstDash val="solid"/>
                    </a:lnT>
                    <a:lnB w="9525">
                      <a:solidFill>
                        <a:srgbClr val="0F406B"/>
                      </a:solidFill>
                      <a:prstDash val="solid"/>
                    </a:lnB>
                  </a:tcPr>
                </a:tc>
                <a:tc>
                  <a:txBody>
                    <a:bodyPr/>
                    <a:lstStyle/>
                    <a:p>
                      <a:pPr marL="24130" algn="ctr">
                        <a:lnSpc>
                          <a:spcPts val="745"/>
                        </a:lnSpc>
                        <a:spcBef>
                          <a:spcPts val="70"/>
                        </a:spcBef>
                      </a:pPr>
                      <a:r>
                        <a:rPr sz="700" spc="-50">
                          <a:latin typeface="Arial"/>
                          <a:cs typeface="Arial"/>
                        </a:rPr>
                        <a:t>3</a:t>
                      </a:r>
                      <a:endParaRPr sz="700">
                        <a:latin typeface="Arial"/>
                        <a:cs typeface="Arial"/>
                      </a:endParaRPr>
                    </a:p>
                  </a:txBody>
                  <a:tcPr marL="0" marR="0" marT="8890"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8"/>
                  </a:ext>
                </a:extLst>
              </a:tr>
              <a:tr h="137816">
                <a:tc>
                  <a:txBody>
                    <a:bodyPr/>
                    <a:lstStyle/>
                    <a:p>
                      <a:pPr algn="ctr">
                        <a:lnSpc>
                          <a:spcPts val="745"/>
                        </a:lnSpc>
                        <a:spcBef>
                          <a:spcPts val="70"/>
                        </a:spcBef>
                      </a:pPr>
                      <a:r>
                        <a:rPr sz="700" spc="-25">
                          <a:latin typeface="Arial"/>
                          <a:cs typeface="Arial"/>
                        </a:rPr>
                        <a:t>19</a:t>
                      </a:r>
                      <a:endParaRPr sz="700">
                        <a:latin typeface="Arial"/>
                        <a:cs typeface="Arial"/>
                      </a:endParaRPr>
                    </a:p>
                  </a:txBody>
                  <a:tcPr marL="0" marR="0" marT="8890"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70"/>
                        </a:spcBef>
                      </a:pPr>
                      <a:r>
                        <a:rPr sz="700">
                          <a:latin typeface="Arial"/>
                          <a:cs typeface="Arial"/>
                        </a:rPr>
                        <a:t>Janchor</a:t>
                      </a:r>
                      <a:r>
                        <a:rPr sz="700" spc="-30">
                          <a:latin typeface="Arial"/>
                          <a:cs typeface="Arial"/>
                        </a:rPr>
                        <a:t> </a:t>
                      </a:r>
                      <a:r>
                        <a:rPr sz="700" spc="-20">
                          <a:latin typeface="Arial"/>
                          <a:cs typeface="Arial"/>
                        </a:rPr>
                        <a:t>Fund</a:t>
                      </a:r>
                      <a:endParaRPr sz="700">
                        <a:latin typeface="Arial"/>
                        <a:cs typeface="Arial"/>
                      </a:endParaRPr>
                    </a:p>
                  </a:txBody>
                  <a:tcPr marL="0" marR="0" marT="8890" marB="0">
                    <a:lnT w="9525">
                      <a:solidFill>
                        <a:srgbClr val="0F406B"/>
                      </a:solidFill>
                      <a:prstDash val="solid"/>
                    </a:lnT>
                    <a:lnB w="9525">
                      <a:solidFill>
                        <a:srgbClr val="0F406B"/>
                      </a:solidFill>
                      <a:prstDash val="solid"/>
                    </a:lnB>
                  </a:tcPr>
                </a:tc>
                <a:tc>
                  <a:txBody>
                    <a:bodyPr/>
                    <a:lstStyle/>
                    <a:p>
                      <a:pPr marL="38735">
                        <a:lnSpc>
                          <a:spcPts val="785"/>
                        </a:lnSpc>
                        <a:spcBef>
                          <a:spcPts val="30"/>
                        </a:spcBef>
                      </a:pPr>
                      <a:r>
                        <a:rPr sz="700">
                          <a:latin typeface="Arial"/>
                          <a:cs typeface="Arial"/>
                        </a:rPr>
                        <a:t>Hong</a:t>
                      </a:r>
                      <a:r>
                        <a:rPr sz="700" spc="-10">
                          <a:latin typeface="Arial"/>
                          <a:cs typeface="Arial"/>
                        </a:rPr>
                        <a:t> </a:t>
                      </a:r>
                      <a:r>
                        <a:rPr sz="700" spc="-20">
                          <a:latin typeface="Arial"/>
                          <a:cs typeface="Arial"/>
                        </a:rPr>
                        <a:t>Kong</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5"/>
                        </a:lnSpc>
                        <a:spcBef>
                          <a:spcPts val="30"/>
                        </a:spcBef>
                      </a:pPr>
                      <a:r>
                        <a:rPr sz="700" spc="-10">
                          <a:latin typeface="Arial"/>
                          <a:cs typeface="Arial"/>
                        </a:rPr>
                        <a:t>Multi-strategy</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70"/>
                        </a:spcBef>
                      </a:pPr>
                      <a:r>
                        <a:rPr sz="700" spc="-25">
                          <a:latin typeface="Arial"/>
                          <a:cs typeface="Arial"/>
                        </a:rPr>
                        <a:t>77</a:t>
                      </a:r>
                      <a:endParaRPr sz="700">
                        <a:latin typeface="Arial"/>
                        <a:cs typeface="Arial"/>
                      </a:endParaRPr>
                    </a:p>
                  </a:txBody>
                  <a:tcPr marL="0" marR="0" marT="8890" marB="0">
                    <a:lnT w="9525">
                      <a:solidFill>
                        <a:srgbClr val="0F406B"/>
                      </a:solidFill>
                      <a:prstDash val="solid"/>
                    </a:lnT>
                    <a:lnB w="9525">
                      <a:solidFill>
                        <a:srgbClr val="0F406B"/>
                      </a:solidFill>
                      <a:prstDash val="solid"/>
                    </a:lnB>
                  </a:tcPr>
                </a:tc>
                <a:tc>
                  <a:txBody>
                    <a:bodyPr/>
                    <a:lstStyle/>
                    <a:p>
                      <a:pPr marL="24130" algn="ctr">
                        <a:lnSpc>
                          <a:spcPts val="745"/>
                        </a:lnSpc>
                        <a:spcBef>
                          <a:spcPts val="70"/>
                        </a:spcBef>
                      </a:pPr>
                      <a:r>
                        <a:rPr sz="700" spc="-50">
                          <a:latin typeface="Arial"/>
                          <a:cs typeface="Arial"/>
                        </a:rPr>
                        <a:t>2</a:t>
                      </a:r>
                      <a:endParaRPr sz="700">
                        <a:latin typeface="Arial"/>
                        <a:cs typeface="Arial"/>
                      </a:endParaRPr>
                    </a:p>
                  </a:txBody>
                  <a:tcPr marL="0" marR="0" marT="8890"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19"/>
                  </a:ext>
                </a:extLst>
              </a:tr>
              <a:tr h="138573">
                <a:tc>
                  <a:txBody>
                    <a:bodyPr/>
                    <a:lstStyle/>
                    <a:p>
                      <a:pPr algn="ctr">
                        <a:lnSpc>
                          <a:spcPts val="745"/>
                        </a:lnSpc>
                        <a:spcBef>
                          <a:spcPts val="65"/>
                        </a:spcBef>
                      </a:pPr>
                      <a:r>
                        <a:rPr sz="700" spc="-25">
                          <a:latin typeface="Arial"/>
                          <a:cs typeface="Arial"/>
                        </a:rPr>
                        <a:t>20</a:t>
                      </a:r>
                      <a:endParaRPr sz="700">
                        <a:latin typeface="Arial"/>
                        <a:cs typeface="Arial"/>
                      </a:endParaRPr>
                    </a:p>
                  </a:txBody>
                  <a:tcPr marL="0" marR="0" marT="8255" marB="0">
                    <a:lnL w="9525">
                      <a:solidFill>
                        <a:srgbClr val="0F406B"/>
                      </a:solidFill>
                      <a:prstDash val="solid"/>
                    </a:lnL>
                    <a:lnT w="9525">
                      <a:solidFill>
                        <a:srgbClr val="0F406B"/>
                      </a:solidFill>
                      <a:prstDash val="solid"/>
                    </a:lnT>
                    <a:lnB w="9525">
                      <a:solidFill>
                        <a:srgbClr val="0F406B"/>
                      </a:solidFill>
                      <a:prstDash val="solid"/>
                    </a:lnB>
                  </a:tcPr>
                </a:tc>
                <a:tc>
                  <a:txBody>
                    <a:bodyPr/>
                    <a:lstStyle/>
                    <a:p>
                      <a:pPr marL="45720">
                        <a:lnSpc>
                          <a:spcPts val="745"/>
                        </a:lnSpc>
                        <a:spcBef>
                          <a:spcPts val="65"/>
                        </a:spcBef>
                      </a:pPr>
                      <a:r>
                        <a:rPr sz="700">
                          <a:latin typeface="Arial"/>
                          <a:cs typeface="Arial"/>
                        </a:rPr>
                        <a:t>GF</a:t>
                      </a:r>
                      <a:r>
                        <a:rPr sz="700" spc="-5">
                          <a:latin typeface="Arial"/>
                          <a:cs typeface="Arial"/>
                        </a:rPr>
                        <a:t> </a:t>
                      </a:r>
                      <a:r>
                        <a:rPr sz="700" spc="-20">
                          <a:latin typeface="Arial"/>
                          <a:cs typeface="Arial"/>
                        </a:rPr>
                        <a:t>Fund</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38735">
                        <a:lnSpc>
                          <a:spcPts val="780"/>
                        </a:lnSpc>
                        <a:spcBef>
                          <a:spcPts val="30"/>
                        </a:spcBef>
                      </a:pPr>
                      <a:r>
                        <a:rPr sz="700" spc="-10">
                          <a:latin typeface="Arial"/>
                          <a:cs typeface="Arial"/>
                        </a:rPr>
                        <a:t>China</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127635">
                        <a:lnSpc>
                          <a:spcPts val="780"/>
                        </a:lnSpc>
                        <a:spcBef>
                          <a:spcPts val="30"/>
                        </a:spcBef>
                      </a:pPr>
                      <a:r>
                        <a:rPr sz="700" spc="-10">
                          <a:latin typeface="Arial"/>
                          <a:cs typeface="Arial"/>
                        </a:rPr>
                        <a:t>Long-</a:t>
                      </a:r>
                      <a:r>
                        <a:rPr sz="700" spc="-20">
                          <a:latin typeface="Arial"/>
                          <a:cs typeface="Arial"/>
                        </a:rPr>
                        <a:t>only</a:t>
                      </a:r>
                      <a:endParaRPr sz="700">
                        <a:latin typeface="Arial"/>
                        <a:cs typeface="Arial"/>
                      </a:endParaRPr>
                    </a:p>
                  </a:txBody>
                  <a:tcPr marL="0" marR="0" marT="3810" marB="0">
                    <a:lnT w="9525">
                      <a:solidFill>
                        <a:srgbClr val="0F406B"/>
                      </a:solidFill>
                      <a:prstDash val="solid"/>
                    </a:lnT>
                    <a:lnB w="9525">
                      <a:solidFill>
                        <a:srgbClr val="0F406B"/>
                      </a:solidFill>
                      <a:prstDash val="solid"/>
                    </a:lnB>
                  </a:tcPr>
                </a:tc>
                <a:tc>
                  <a:txBody>
                    <a:bodyPr/>
                    <a:lstStyle/>
                    <a:p>
                      <a:pPr marL="35560" algn="ctr">
                        <a:lnSpc>
                          <a:spcPts val="745"/>
                        </a:lnSpc>
                        <a:spcBef>
                          <a:spcPts val="65"/>
                        </a:spcBef>
                      </a:pPr>
                      <a:r>
                        <a:rPr sz="700" spc="-25">
                          <a:latin typeface="Arial"/>
                          <a:cs typeface="Arial"/>
                        </a:rPr>
                        <a:t>77</a:t>
                      </a:r>
                      <a:endParaRPr sz="700">
                        <a:latin typeface="Arial"/>
                        <a:cs typeface="Arial"/>
                      </a:endParaRPr>
                    </a:p>
                  </a:txBody>
                  <a:tcPr marL="0" marR="0" marT="8255" marB="0">
                    <a:lnT w="9525">
                      <a:solidFill>
                        <a:srgbClr val="0F406B"/>
                      </a:solidFill>
                      <a:prstDash val="solid"/>
                    </a:lnT>
                    <a:lnB w="9525">
                      <a:solidFill>
                        <a:srgbClr val="0F406B"/>
                      </a:solidFill>
                      <a:prstDash val="solid"/>
                    </a:lnB>
                  </a:tcPr>
                </a:tc>
                <a:tc>
                  <a:txBody>
                    <a:bodyPr/>
                    <a:lstStyle/>
                    <a:p>
                      <a:pPr marL="24130" algn="ctr">
                        <a:lnSpc>
                          <a:spcPts val="745"/>
                        </a:lnSpc>
                        <a:spcBef>
                          <a:spcPts val="65"/>
                        </a:spcBef>
                      </a:pPr>
                      <a:r>
                        <a:rPr sz="700" spc="-50">
                          <a:latin typeface="Arial"/>
                          <a:cs typeface="Arial"/>
                        </a:rPr>
                        <a:t>3</a:t>
                      </a:r>
                      <a:endParaRPr sz="700">
                        <a:latin typeface="Arial"/>
                        <a:cs typeface="Arial"/>
                      </a:endParaRPr>
                    </a:p>
                  </a:txBody>
                  <a:tcPr marL="0" marR="0" marT="8255" marB="0">
                    <a:lnR w="9525">
                      <a:solidFill>
                        <a:srgbClr val="0F406B"/>
                      </a:solidFill>
                      <a:prstDash val="solid"/>
                    </a:lnR>
                    <a:lnT w="9525">
                      <a:solidFill>
                        <a:srgbClr val="0F406B"/>
                      </a:solidFill>
                      <a:prstDash val="solid"/>
                    </a:lnT>
                    <a:lnB w="9525">
                      <a:solidFill>
                        <a:srgbClr val="0F406B"/>
                      </a:solidFill>
                      <a:prstDash val="solid"/>
                    </a:lnB>
                  </a:tcPr>
                </a:tc>
                <a:extLst>
                  <a:ext uri="{0D108BD9-81ED-4DB2-BD59-A6C34878D82A}">
                    <a16:rowId xmlns:a16="http://schemas.microsoft.com/office/drawing/2014/main" val="10020"/>
                  </a:ext>
                </a:extLst>
              </a:tr>
            </a:tbl>
          </a:graphicData>
        </a:graphic>
      </p:graphicFrame>
      <p:sp>
        <p:nvSpPr>
          <p:cNvPr id="19" name="object 20">
            <a:extLst>
              <a:ext uri="{FF2B5EF4-FFF2-40B4-BE49-F238E27FC236}">
                <a16:creationId xmlns:a16="http://schemas.microsoft.com/office/drawing/2014/main" id="{6E406549-B3DF-4DBA-A578-9D10DF58863B}"/>
              </a:ext>
            </a:extLst>
          </p:cNvPr>
          <p:cNvSpPr/>
          <p:nvPr/>
        </p:nvSpPr>
        <p:spPr>
          <a:xfrm>
            <a:off x="1157800" y="3415335"/>
            <a:ext cx="143510" cy="161925"/>
          </a:xfrm>
          <a:custGeom>
            <a:avLst/>
            <a:gdLst/>
            <a:ahLst/>
            <a:cxnLst/>
            <a:rect l="l" t="t" r="r" b="b"/>
            <a:pathLst>
              <a:path w="143509" h="161925">
                <a:moveTo>
                  <a:pt x="143256" y="0"/>
                </a:moveTo>
                <a:lnTo>
                  <a:pt x="0" y="0"/>
                </a:lnTo>
                <a:lnTo>
                  <a:pt x="0" y="161671"/>
                </a:lnTo>
                <a:lnTo>
                  <a:pt x="143256" y="161671"/>
                </a:lnTo>
                <a:lnTo>
                  <a:pt x="143256" y="0"/>
                </a:lnTo>
                <a:close/>
              </a:path>
            </a:pathLst>
          </a:custGeom>
          <a:solidFill>
            <a:srgbClr val="12426B"/>
          </a:solidFill>
        </p:spPr>
        <p:txBody>
          <a:bodyPr wrap="square" lIns="0" tIns="0" rIns="0" bIns="0" rtlCol="0"/>
          <a:lstStyle/>
          <a:p>
            <a:endParaRPr/>
          </a:p>
        </p:txBody>
      </p:sp>
      <p:sp>
        <p:nvSpPr>
          <p:cNvPr id="20" name="object 21">
            <a:extLst>
              <a:ext uri="{FF2B5EF4-FFF2-40B4-BE49-F238E27FC236}">
                <a16:creationId xmlns:a16="http://schemas.microsoft.com/office/drawing/2014/main" id="{B4D1CBF4-5F5E-4AD3-3CDF-AE4E5B3F6897}"/>
              </a:ext>
            </a:extLst>
          </p:cNvPr>
          <p:cNvSpPr/>
          <p:nvPr/>
        </p:nvSpPr>
        <p:spPr>
          <a:xfrm>
            <a:off x="1616523" y="3369615"/>
            <a:ext cx="143510" cy="207645"/>
          </a:xfrm>
          <a:custGeom>
            <a:avLst/>
            <a:gdLst/>
            <a:ahLst/>
            <a:cxnLst/>
            <a:rect l="l" t="t" r="r" b="b"/>
            <a:pathLst>
              <a:path w="143510" h="207644">
                <a:moveTo>
                  <a:pt x="143256" y="0"/>
                </a:moveTo>
                <a:lnTo>
                  <a:pt x="0" y="0"/>
                </a:lnTo>
                <a:lnTo>
                  <a:pt x="0" y="207391"/>
                </a:lnTo>
                <a:lnTo>
                  <a:pt x="143256" y="207391"/>
                </a:lnTo>
                <a:lnTo>
                  <a:pt x="143256" y="0"/>
                </a:lnTo>
                <a:close/>
              </a:path>
            </a:pathLst>
          </a:custGeom>
          <a:solidFill>
            <a:srgbClr val="12426B"/>
          </a:solidFill>
        </p:spPr>
        <p:txBody>
          <a:bodyPr wrap="square" lIns="0" tIns="0" rIns="0" bIns="0" rtlCol="0"/>
          <a:lstStyle/>
          <a:p>
            <a:endParaRPr/>
          </a:p>
        </p:txBody>
      </p:sp>
      <p:sp>
        <p:nvSpPr>
          <p:cNvPr id="21" name="object 22">
            <a:extLst>
              <a:ext uri="{FF2B5EF4-FFF2-40B4-BE49-F238E27FC236}">
                <a16:creationId xmlns:a16="http://schemas.microsoft.com/office/drawing/2014/main" id="{E34C478B-6762-9E22-B2D0-12EDD230E949}"/>
              </a:ext>
            </a:extLst>
          </p:cNvPr>
          <p:cNvSpPr/>
          <p:nvPr/>
        </p:nvSpPr>
        <p:spPr>
          <a:xfrm>
            <a:off x="2073723" y="3313226"/>
            <a:ext cx="144780" cy="264160"/>
          </a:xfrm>
          <a:custGeom>
            <a:avLst/>
            <a:gdLst/>
            <a:ahLst/>
            <a:cxnLst/>
            <a:rect l="l" t="t" r="r" b="b"/>
            <a:pathLst>
              <a:path w="144780" h="264160">
                <a:moveTo>
                  <a:pt x="144780" y="0"/>
                </a:moveTo>
                <a:lnTo>
                  <a:pt x="0" y="0"/>
                </a:lnTo>
                <a:lnTo>
                  <a:pt x="0" y="263779"/>
                </a:lnTo>
                <a:lnTo>
                  <a:pt x="144780" y="263779"/>
                </a:lnTo>
                <a:lnTo>
                  <a:pt x="144780" y="0"/>
                </a:lnTo>
                <a:close/>
              </a:path>
            </a:pathLst>
          </a:custGeom>
          <a:solidFill>
            <a:srgbClr val="12426B"/>
          </a:solidFill>
        </p:spPr>
        <p:txBody>
          <a:bodyPr wrap="square" lIns="0" tIns="0" rIns="0" bIns="0" rtlCol="0"/>
          <a:lstStyle/>
          <a:p>
            <a:endParaRPr/>
          </a:p>
        </p:txBody>
      </p:sp>
      <p:sp>
        <p:nvSpPr>
          <p:cNvPr id="22" name="object 23">
            <a:extLst>
              <a:ext uri="{FF2B5EF4-FFF2-40B4-BE49-F238E27FC236}">
                <a16:creationId xmlns:a16="http://schemas.microsoft.com/office/drawing/2014/main" id="{6FEB6846-38AD-FD84-8B14-1E057673484C}"/>
              </a:ext>
            </a:extLst>
          </p:cNvPr>
          <p:cNvSpPr/>
          <p:nvPr/>
        </p:nvSpPr>
        <p:spPr>
          <a:xfrm>
            <a:off x="2532448" y="3224835"/>
            <a:ext cx="143510" cy="352425"/>
          </a:xfrm>
          <a:custGeom>
            <a:avLst/>
            <a:gdLst/>
            <a:ahLst/>
            <a:cxnLst/>
            <a:rect l="l" t="t" r="r" b="b"/>
            <a:pathLst>
              <a:path w="143510" h="352425">
                <a:moveTo>
                  <a:pt x="143256" y="0"/>
                </a:moveTo>
                <a:lnTo>
                  <a:pt x="0" y="0"/>
                </a:lnTo>
                <a:lnTo>
                  <a:pt x="0" y="352171"/>
                </a:lnTo>
                <a:lnTo>
                  <a:pt x="143256" y="352171"/>
                </a:lnTo>
                <a:lnTo>
                  <a:pt x="143256" y="0"/>
                </a:lnTo>
                <a:close/>
              </a:path>
            </a:pathLst>
          </a:custGeom>
          <a:solidFill>
            <a:srgbClr val="12426B"/>
          </a:solidFill>
        </p:spPr>
        <p:txBody>
          <a:bodyPr wrap="square" lIns="0" tIns="0" rIns="0" bIns="0" rtlCol="0"/>
          <a:lstStyle/>
          <a:p>
            <a:endParaRPr/>
          </a:p>
        </p:txBody>
      </p:sp>
      <p:sp>
        <p:nvSpPr>
          <p:cNvPr id="23" name="object 24">
            <a:extLst>
              <a:ext uri="{FF2B5EF4-FFF2-40B4-BE49-F238E27FC236}">
                <a16:creationId xmlns:a16="http://schemas.microsoft.com/office/drawing/2014/main" id="{777617FC-A141-8374-B00A-CBA6FD0B66D1}"/>
              </a:ext>
            </a:extLst>
          </p:cNvPr>
          <p:cNvSpPr/>
          <p:nvPr/>
        </p:nvSpPr>
        <p:spPr>
          <a:xfrm>
            <a:off x="2989648" y="3162351"/>
            <a:ext cx="144780" cy="414655"/>
          </a:xfrm>
          <a:custGeom>
            <a:avLst/>
            <a:gdLst/>
            <a:ahLst/>
            <a:cxnLst/>
            <a:rect l="l" t="t" r="r" b="b"/>
            <a:pathLst>
              <a:path w="144780" h="414655">
                <a:moveTo>
                  <a:pt x="144780" y="0"/>
                </a:moveTo>
                <a:lnTo>
                  <a:pt x="0" y="0"/>
                </a:lnTo>
                <a:lnTo>
                  <a:pt x="0" y="414655"/>
                </a:lnTo>
                <a:lnTo>
                  <a:pt x="144780" y="414655"/>
                </a:lnTo>
                <a:lnTo>
                  <a:pt x="144780" y="0"/>
                </a:lnTo>
                <a:close/>
              </a:path>
            </a:pathLst>
          </a:custGeom>
          <a:solidFill>
            <a:srgbClr val="12426B"/>
          </a:solidFill>
        </p:spPr>
        <p:txBody>
          <a:bodyPr wrap="square" lIns="0" tIns="0" rIns="0" bIns="0" rtlCol="0"/>
          <a:lstStyle/>
          <a:p>
            <a:endParaRPr/>
          </a:p>
        </p:txBody>
      </p:sp>
      <p:sp>
        <p:nvSpPr>
          <p:cNvPr id="24" name="object 25">
            <a:extLst>
              <a:ext uri="{FF2B5EF4-FFF2-40B4-BE49-F238E27FC236}">
                <a16:creationId xmlns:a16="http://schemas.microsoft.com/office/drawing/2014/main" id="{75D29E8F-BD9F-A065-2946-927A87F2A6B2}"/>
              </a:ext>
            </a:extLst>
          </p:cNvPr>
          <p:cNvSpPr txBox="1"/>
          <p:nvPr/>
        </p:nvSpPr>
        <p:spPr>
          <a:xfrm>
            <a:off x="453000" y="2745740"/>
            <a:ext cx="3115310" cy="1366520"/>
          </a:xfrm>
          <a:prstGeom prst="rect">
            <a:avLst/>
          </a:prstGeom>
        </p:spPr>
        <p:txBody>
          <a:bodyPr vert="horz" wrap="square" lIns="0" tIns="12065" rIns="0" bIns="0" rtlCol="0">
            <a:spAutoFit/>
          </a:bodyPr>
          <a:lstStyle/>
          <a:p>
            <a:pPr marL="248285">
              <a:spcBef>
                <a:spcPts val="95"/>
              </a:spcBef>
            </a:pPr>
            <a:r>
              <a:rPr sz="700">
                <a:solidFill>
                  <a:srgbClr val="12426B"/>
                </a:solidFill>
                <a:latin typeface="Arial"/>
                <a:cs typeface="Arial"/>
              </a:rPr>
              <a:t>HK</a:t>
            </a:r>
            <a:r>
              <a:rPr sz="700" spc="-20">
                <a:solidFill>
                  <a:srgbClr val="12426B"/>
                </a:solidFill>
                <a:latin typeface="Arial"/>
                <a:cs typeface="Arial"/>
              </a:rPr>
              <a:t> </a:t>
            </a:r>
            <a:r>
              <a:rPr sz="700">
                <a:solidFill>
                  <a:srgbClr val="12426B"/>
                </a:solidFill>
                <a:latin typeface="Arial"/>
                <a:cs typeface="Arial"/>
              </a:rPr>
              <a:t>IPOs</a:t>
            </a:r>
            <a:r>
              <a:rPr sz="675" baseline="24691">
                <a:solidFill>
                  <a:srgbClr val="12426B"/>
                </a:solidFill>
                <a:latin typeface="Arial"/>
                <a:cs typeface="Arial"/>
              </a:rPr>
              <a:t>1</a:t>
            </a:r>
            <a:r>
              <a:rPr sz="675" spc="112" baseline="24691">
                <a:solidFill>
                  <a:srgbClr val="12426B"/>
                </a:solidFill>
                <a:latin typeface="Arial"/>
                <a:cs typeface="Arial"/>
              </a:rPr>
              <a:t> </a:t>
            </a:r>
            <a:r>
              <a:rPr sz="700">
                <a:solidFill>
                  <a:srgbClr val="12426B"/>
                </a:solidFill>
                <a:latin typeface="Arial"/>
                <a:cs typeface="Arial"/>
              </a:rPr>
              <a:t>with </a:t>
            </a:r>
            <a:r>
              <a:rPr sz="700" spc="-10">
                <a:solidFill>
                  <a:srgbClr val="12426B"/>
                </a:solidFill>
                <a:latin typeface="Arial"/>
                <a:cs typeface="Arial"/>
              </a:rPr>
              <a:t>International</a:t>
            </a:r>
            <a:r>
              <a:rPr sz="700" spc="50">
                <a:solidFill>
                  <a:srgbClr val="12426B"/>
                </a:solidFill>
                <a:latin typeface="Arial"/>
                <a:cs typeface="Arial"/>
              </a:rPr>
              <a:t> </a:t>
            </a:r>
            <a:r>
              <a:rPr sz="700" spc="-10">
                <a:solidFill>
                  <a:srgbClr val="12426B"/>
                </a:solidFill>
                <a:latin typeface="Arial"/>
                <a:cs typeface="Arial"/>
              </a:rPr>
              <a:t>Cornerstone</a:t>
            </a:r>
            <a:r>
              <a:rPr sz="700" spc="5">
                <a:solidFill>
                  <a:srgbClr val="12426B"/>
                </a:solidFill>
                <a:latin typeface="Arial"/>
                <a:cs typeface="Arial"/>
              </a:rPr>
              <a:t> </a:t>
            </a:r>
            <a:r>
              <a:rPr sz="700">
                <a:solidFill>
                  <a:srgbClr val="12426B"/>
                </a:solidFill>
                <a:latin typeface="Arial"/>
                <a:cs typeface="Arial"/>
              </a:rPr>
              <a:t>Investors</a:t>
            </a:r>
            <a:r>
              <a:rPr sz="700" spc="45">
                <a:solidFill>
                  <a:srgbClr val="12426B"/>
                </a:solidFill>
                <a:latin typeface="Arial"/>
                <a:cs typeface="Arial"/>
              </a:rPr>
              <a:t> </a:t>
            </a:r>
            <a:r>
              <a:rPr sz="700">
                <a:solidFill>
                  <a:srgbClr val="12426B"/>
                </a:solidFill>
                <a:latin typeface="Arial"/>
                <a:cs typeface="Arial"/>
              </a:rPr>
              <a:t>Since</a:t>
            </a:r>
            <a:r>
              <a:rPr sz="700" spc="-15">
                <a:solidFill>
                  <a:srgbClr val="12426B"/>
                </a:solidFill>
                <a:latin typeface="Arial"/>
                <a:cs typeface="Arial"/>
              </a:rPr>
              <a:t> </a:t>
            </a:r>
            <a:r>
              <a:rPr sz="700" spc="-20">
                <a:solidFill>
                  <a:srgbClr val="12426B"/>
                </a:solidFill>
                <a:latin typeface="Arial"/>
                <a:cs typeface="Arial"/>
              </a:rPr>
              <a:t>2022</a:t>
            </a:r>
            <a:endParaRPr sz="700">
              <a:latin typeface="Arial"/>
              <a:cs typeface="Arial"/>
            </a:endParaRPr>
          </a:p>
          <a:p>
            <a:pPr marL="243840">
              <a:spcBef>
                <a:spcPts val="730"/>
              </a:spcBef>
            </a:pPr>
            <a:r>
              <a:rPr sz="700" spc="-20">
                <a:solidFill>
                  <a:srgbClr val="585858"/>
                </a:solidFill>
                <a:latin typeface="Arial"/>
                <a:cs typeface="Arial"/>
              </a:rPr>
              <a:t>100%</a:t>
            </a:r>
            <a:endParaRPr sz="700">
              <a:latin typeface="Arial"/>
              <a:cs typeface="Arial"/>
            </a:endParaRPr>
          </a:p>
          <a:p>
            <a:pPr>
              <a:spcBef>
                <a:spcPts val="560"/>
              </a:spcBef>
            </a:pPr>
            <a:endParaRPr sz="700">
              <a:latin typeface="Arial"/>
              <a:cs typeface="Arial"/>
            </a:endParaRPr>
          </a:p>
          <a:p>
            <a:pPr marL="293370"/>
            <a:r>
              <a:rPr sz="700" spc="-25">
                <a:solidFill>
                  <a:srgbClr val="585858"/>
                </a:solidFill>
                <a:latin typeface="Arial"/>
                <a:cs typeface="Arial"/>
              </a:rPr>
              <a:t>50%</a:t>
            </a:r>
            <a:endParaRPr sz="700">
              <a:latin typeface="Arial"/>
              <a:cs typeface="Arial"/>
            </a:endParaRPr>
          </a:p>
          <a:p>
            <a:pPr>
              <a:spcBef>
                <a:spcPts val="560"/>
              </a:spcBef>
            </a:pPr>
            <a:endParaRPr sz="700">
              <a:latin typeface="Arial"/>
              <a:cs typeface="Arial"/>
            </a:endParaRPr>
          </a:p>
          <a:p>
            <a:pPr marL="342900"/>
            <a:r>
              <a:rPr sz="700" spc="-25">
                <a:solidFill>
                  <a:srgbClr val="585858"/>
                </a:solidFill>
                <a:latin typeface="Arial"/>
                <a:cs typeface="Arial"/>
              </a:rPr>
              <a:t>0%</a:t>
            </a:r>
            <a:endParaRPr sz="700">
              <a:latin typeface="Arial"/>
              <a:cs typeface="Arial"/>
            </a:endParaRPr>
          </a:p>
          <a:p>
            <a:pPr>
              <a:spcBef>
                <a:spcPts val="565"/>
              </a:spcBef>
            </a:pPr>
            <a:endParaRPr sz="700">
              <a:latin typeface="Arial"/>
              <a:cs typeface="Arial"/>
            </a:endParaRPr>
          </a:p>
          <a:p>
            <a:pPr marL="452120" marR="55880" indent="-389255">
              <a:lnSpc>
                <a:spcPct val="141100"/>
              </a:lnSpc>
              <a:tabLst>
                <a:tab pos="1868170" algn="l"/>
              </a:tabLst>
            </a:pPr>
            <a:r>
              <a:rPr sz="700">
                <a:solidFill>
                  <a:srgbClr val="12426B"/>
                </a:solidFill>
                <a:latin typeface="Arial"/>
                <a:cs typeface="Arial"/>
              </a:rPr>
              <a:t>Sector</a:t>
            </a:r>
            <a:r>
              <a:rPr sz="700" spc="-20">
                <a:solidFill>
                  <a:srgbClr val="12426B"/>
                </a:solidFill>
                <a:latin typeface="Arial"/>
                <a:cs typeface="Arial"/>
              </a:rPr>
              <a:t> </a:t>
            </a:r>
            <a:r>
              <a:rPr sz="700">
                <a:solidFill>
                  <a:srgbClr val="12426B"/>
                </a:solidFill>
                <a:latin typeface="Arial"/>
                <a:cs typeface="Arial"/>
              </a:rPr>
              <a:t>Breakdown</a:t>
            </a:r>
            <a:r>
              <a:rPr sz="700" spc="-10">
                <a:solidFill>
                  <a:srgbClr val="12426B"/>
                </a:solidFill>
                <a:latin typeface="Arial"/>
                <a:cs typeface="Arial"/>
              </a:rPr>
              <a:t> </a:t>
            </a:r>
            <a:r>
              <a:rPr sz="700">
                <a:solidFill>
                  <a:srgbClr val="12426B"/>
                </a:solidFill>
                <a:latin typeface="Arial"/>
                <a:cs typeface="Arial"/>
              </a:rPr>
              <a:t>of</a:t>
            </a:r>
            <a:r>
              <a:rPr sz="700" spc="-20">
                <a:solidFill>
                  <a:srgbClr val="12426B"/>
                </a:solidFill>
                <a:latin typeface="Arial"/>
                <a:cs typeface="Arial"/>
              </a:rPr>
              <a:t> </a:t>
            </a:r>
            <a:r>
              <a:rPr sz="700">
                <a:solidFill>
                  <a:srgbClr val="12426B"/>
                </a:solidFill>
                <a:latin typeface="Arial"/>
                <a:cs typeface="Arial"/>
              </a:rPr>
              <a:t>Cornerstone</a:t>
            </a:r>
            <a:r>
              <a:rPr sz="700" spc="-15">
                <a:solidFill>
                  <a:srgbClr val="12426B"/>
                </a:solidFill>
                <a:latin typeface="Arial"/>
                <a:cs typeface="Arial"/>
              </a:rPr>
              <a:t> </a:t>
            </a:r>
            <a:r>
              <a:rPr sz="700">
                <a:solidFill>
                  <a:srgbClr val="12426B"/>
                </a:solidFill>
                <a:latin typeface="Arial"/>
                <a:cs typeface="Arial"/>
              </a:rPr>
              <a:t>Investments</a:t>
            </a:r>
            <a:r>
              <a:rPr sz="700" spc="20">
                <a:solidFill>
                  <a:srgbClr val="12426B"/>
                </a:solidFill>
                <a:latin typeface="Arial"/>
                <a:cs typeface="Arial"/>
              </a:rPr>
              <a:t> </a:t>
            </a:r>
            <a:r>
              <a:rPr sz="700">
                <a:solidFill>
                  <a:srgbClr val="12426B"/>
                </a:solidFill>
                <a:latin typeface="Arial"/>
                <a:cs typeface="Arial"/>
              </a:rPr>
              <a:t>in</a:t>
            </a:r>
            <a:r>
              <a:rPr sz="700" spc="-20">
                <a:solidFill>
                  <a:srgbClr val="12426B"/>
                </a:solidFill>
                <a:latin typeface="Arial"/>
                <a:cs typeface="Arial"/>
              </a:rPr>
              <a:t> </a:t>
            </a:r>
            <a:r>
              <a:rPr sz="700">
                <a:solidFill>
                  <a:srgbClr val="12426B"/>
                </a:solidFill>
                <a:latin typeface="Arial"/>
                <a:cs typeface="Arial"/>
              </a:rPr>
              <a:t>HK</a:t>
            </a:r>
            <a:r>
              <a:rPr sz="700" spc="-35">
                <a:solidFill>
                  <a:srgbClr val="12426B"/>
                </a:solidFill>
                <a:latin typeface="Arial"/>
                <a:cs typeface="Arial"/>
              </a:rPr>
              <a:t> </a:t>
            </a:r>
            <a:r>
              <a:rPr sz="700">
                <a:solidFill>
                  <a:srgbClr val="12426B"/>
                </a:solidFill>
                <a:latin typeface="Arial"/>
                <a:cs typeface="Arial"/>
              </a:rPr>
              <a:t>IPOs</a:t>
            </a:r>
            <a:r>
              <a:rPr sz="675" baseline="24691">
                <a:solidFill>
                  <a:srgbClr val="12426B"/>
                </a:solidFill>
                <a:latin typeface="Arial"/>
                <a:cs typeface="Arial"/>
              </a:rPr>
              <a:t>1</a:t>
            </a:r>
            <a:r>
              <a:rPr sz="675" spc="-22" baseline="24691">
                <a:solidFill>
                  <a:srgbClr val="12426B"/>
                </a:solidFill>
                <a:latin typeface="Arial"/>
                <a:cs typeface="Arial"/>
              </a:rPr>
              <a:t> </a:t>
            </a:r>
            <a:r>
              <a:rPr sz="700">
                <a:solidFill>
                  <a:srgbClr val="12426B"/>
                </a:solidFill>
                <a:latin typeface="Arial"/>
                <a:cs typeface="Arial"/>
              </a:rPr>
              <a:t>(by</a:t>
            </a:r>
            <a:r>
              <a:rPr sz="700" spc="-20">
                <a:solidFill>
                  <a:srgbClr val="12426B"/>
                </a:solidFill>
                <a:latin typeface="Arial"/>
                <a:cs typeface="Arial"/>
              </a:rPr>
              <a:t> </a:t>
            </a:r>
            <a:r>
              <a:rPr sz="700" spc="-10">
                <a:solidFill>
                  <a:srgbClr val="12426B"/>
                </a:solidFill>
                <a:latin typeface="Arial"/>
                <a:cs typeface="Arial"/>
              </a:rPr>
              <a:t>US$bn)</a:t>
            </a:r>
            <a:r>
              <a:rPr sz="700" spc="500">
                <a:solidFill>
                  <a:srgbClr val="12426B"/>
                </a:solidFill>
                <a:latin typeface="Arial"/>
                <a:cs typeface="Arial"/>
              </a:rPr>
              <a:t> </a:t>
            </a:r>
            <a:r>
              <a:rPr sz="1050" u="sng" baseline="3968">
                <a:solidFill>
                  <a:srgbClr val="12426B"/>
                </a:solidFill>
                <a:uFill>
                  <a:solidFill>
                    <a:srgbClr val="12426B"/>
                  </a:solidFill>
                </a:uFill>
                <a:latin typeface="Arial"/>
                <a:cs typeface="Arial"/>
              </a:rPr>
              <a:t>Chinese</a:t>
            </a:r>
            <a:r>
              <a:rPr sz="1050" u="sng" spc="-30" baseline="3968">
                <a:solidFill>
                  <a:srgbClr val="12426B"/>
                </a:solidFill>
                <a:uFill>
                  <a:solidFill>
                    <a:srgbClr val="12426B"/>
                  </a:solidFill>
                </a:uFill>
                <a:latin typeface="Arial"/>
                <a:cs typeface="Arial"/>
              </a:rPr>
              <a:t> </a:t>
            </a:r>
            <a:r>
              <a:rPr sz="1050" u="sng" spc="-15" baseline="3968">
                <a:solidFill>
                  <a:srgbClr val="12426B"/>
                </a:solidFill>
                <a:uFill>
                  <a:solidFill>
                    <a:srgbClr val="12426B"/>
                  </a:solidFill>
                </a:uFill>
                <a:latin typeface="Arial"/>
                <a:cs typeface="Arial"/>
              </a:rPr>
              <a:t>Investors</a:t>
            </a:r>
            <a:r>
              <a:rPr sz="1050" baseline="3968">
                <a:solidFill>
                  <a:srgbClr val="12426B"/>
                </a:solidFill>
                <a:latin typeface="Arial"/>
                <a:cs typeface="Arial"/>
              </a:rPr>
              <a:t>	</a:t>
            </a:r>
            <a:r>
              <a:rPr sz="700" u="sng" spc="-10">
                <a:solidFill>
                  <a:srgbClr val="12426B"/>
                </a:solidFill>
                <a:uFill>
                  <a:solidFill>
                    <a:srgbClr val="12426B"/>
                  </a:solidFill>
                </a:uFill>
                <a:latin typeface="Arial"/>
                <a:cs typeface="Arial"/>
              </a:rPr>
              <a:t>International</a:t>
            </a:r>
            <a:r>
              <a:rPr sz="700" u="sng" spc="90">
                <a:solidFill>
                  <a:srgbClr val="12426B"/>
                </a:solidFill>
                <a:uFill>
                  <a:solidFill>
                    <a:srgbClr val="12426B"/>
                  </a:solidFill>
                </a:uFill>
                <a:latin typeface="Arial"/>
                <a:cs typeface="Arial"/>
              </a:rPr>
              <a:t> </a:t>
            </a:r>
            <a:r>
              <a:rPr sz="700" u="sng" spc="-10">
                <a:solidFill>
                  <a:srgbClr val="12426B"/>
                </a:solidFill>
                <a:uFill>
                  <a:solidFill>
                    <a:srgbClr val="12426B"/>
                  </a:solidFill>
                </a:uFill>
                <a:latin typeface="Arial"/>
                <a:cs typeface="Arial"/>
              </a:rPr>
              <a:t>Investors</a:t>
            </a:r>
            <a:endParaRPr sz="700">
              <a:latin typeface="Arial"/>
              <a:cs typeface="Arial"/>
            </a:endParaRPr>
          </a:p>
        </p:txBody>
      </p:sp>
      <p:graphicFrame>
        <p:nvGraphicFramePr>
          <p:cNvPr id="25" name="object 26">
            <a:extLst>
              <a:ext uri="{FF2B5EF4-FFF2-40B4-BE49-F238E27FC236}">
                <a16:creationId xmlns:a16="http://schemas.microsoft.com/office/drawing/2014/main" id="{8A3EBD7E-5178-3597-D976-D57031A3A673}"/>
              </a:ext>
            </a:extLst>
          </p:cNvPr>
          <p:cNvGraphicFramePr>
            <a:graphicFrameLocks noGrp="1"/>
          </p:cNvGraphicFramePr>
          <p:nvPr>
            <p:extLst>
              <p:ext uri="{D42A27DB-BD31-4B8C-83A1-F6EECF244321}">
                <p14:modId xmlns:p14="http://schemas.microsoft.com/office/powerpoint/2010/main" val="2741943744"/>
              </p:ext>
            </p:extLst>
          </p:nvPr>
        </p:nvGraphicFramePr>
        <p:xfrm>
          <a:off x="994541" y="2926284"/>
          <a:ext cx="2350766" cy="840105"/>
        </p:xfrm>
        <a:graphic>
          <a:graphicData uri="http://schemas.openxmlformats.org/drawingml/2006/table">
            <a:tbl>
              <a:tblPr firstRow="1" bandRow="1">
                <a:tableStyleId>{2D5ABB26-0587-4C30-8999-92F81FD0307C}</a:tableStyleId>
              </a:tblPr>
              <a:tblGrid>
                <a:gridCol w="457834">
                  <a:extLst>
                    <a:ext uri="{9D8B030D-6E8A-4147-A177-3AD203B41FA5}">
                      <a16:colId xmlns:a16="http://schemas.microsoft.com/office/drawing/2014/main" val="20000"/>
                    </a:ext>
                  </a:extLst>
                </a:gridCol>
                <a:gridCol w="457834">
                  <a:extLst>
                    <a:ext uri="{9D8B030D-6E8A-4147-A177-3AD203B41FA5}">
                      <a16:colId xmlns:a16="http://schemas.microsoft.com/office/drawing/2014/main" val="20001"/>
                    </a:ext>
                  </a:extLst>
                </a:gridCol>
                <a:gridCol w="457834">
                  <a:extLst>
                    <a:ext uri="{9D8B030D-6E8A-4147-A177-3AD203B41FA5}">
                      <a16:colId xmlns:a16="http://schemas.microsoft.com/office/drawing/2014/main" val="20002"/>
                    </a:ext>
                  </a:extLst>
                </a:gridCol>
                <a:gridCol w="404495">
                  <a:extLst>
                    <a:ext uri="{9D8B030D-6E8A-4147-A177-3AD203B41FA5}">
                      <a16:colId xmlns:a16="http://schemas.microsoft.com/office/drawing/2014/main" val="20003"/>
                    </a:ext>
                  </a:extLst>
                </a:gridCol>
                <a:gridCol w="572769">
                  <a:extLst>
                    <a:ext uri="{9D8B030D-6E8A-4147-A177-3AD203B41FA5}">
                      <a16:colId xmlns:a16="http://schemas.microsoft.com/office/drawing/2014/main" val="20004"/>
                    </a:ext>
                  </a:extLst>
                </a:gridCol>
              </a:tblGrid>
              <a:tr h="235585">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a:lnSpc>
                          <a:spcPct val="100000"/>
                        </a:lnSpc>
                        <a:spcBef>
                          <a:spcPts val="200"/>
                        </a:spcBef>
                      </a:pPr>
                      <a:endParaRPr sz="700">
                        <a:latin typeface="Times New Roman"/>
                        <a:cs typeface="Times New Roman"/>
                      </a:endParaRPr>
                    </a:p>
                    <a:p>
                      <a:pPr marL="52069" algn="ctr">
                        <a:lnSpc>
                          <a:spcPts val="750"/>
                        </a:lnSpc>
                      </a:pPr>
                      <a:r>
                        <a:rPr sz="700" spc="-25">
                          <a:solidFill>
                            <a:srgbClr val="585858"/>
                          </a:solidFill>
                          <a:latin typeface="Arial"/>
                          <a:cs typeface="Arial"/>
                        </a:rPr>
                        <a:t>63%</a:t>
                      </a:r>
                      <a:endParaRPr sz="700">
                        <a:latin typeface="Arial"/>
                        <a:cs typeface="Arial"/>
                      </a:endParaRPr>
                    </a:p>
                  </a:txBody>
                  <a:tcPr marL="0" marR="0" marT="25400" marB="0">
                    <a:lnR w="12700">
                      <a:solidFill>
                        <a:srgbClr val="F4364B"/>
                      </a:solidFill>
                      <a:prstDash val="sysDot"/>
                    </a:lnR>
                  </a:tcPr>
                </a:tc>
                <a:tc>
                  <a:txBody>
                    <a:bodyPr/>
                    <a:lstStyle/>
                    <a:p>
                      <a:pPr marR="1905" algn="ctr">
                        <a:lnSpc>
                          <a:spcPct val="100000"/>
                        </a:lnSpc>
                        <a:spcBef>
                          <a:spcPts val="520"/>
                        </a:spcBef>
                      </a:pPr>
                      <a:r>
                        <a:rPr sz="700" spc="-25">
                          <a:solidFill>
                            <a:srgbClr val="585858"/>
                          </a:solidFill>
                          <a:latin typeface="Arial"/>
                          <a:cs typeface="Arial"/>
                        </a:rPr>
                        <a:t>74%</a:t>
                      </a:r>
                      <a:endParaRPr sz="700">
                        <a:latin typeface="Arial"/>
                        <a:cs typeface="Arial"/>
                      </a:endParaRPr>
                    </a:p>
                  </a:txBody>
                  <a:tcPr marL="0" marR="0" marT="66040" marB="0">
                    <a:lnL w="12700">
                      <a:solidFill>
                        <a:srgbClr val="F4364B"/>
                      </a:solidFill>
                      <a:prstDash val="sysDot"/>
                    </a:lnL>
                    <a:lnR w="12700">
                      <a:solidFill>
                        <a:srgbClr val="F4364B"/>
                      </a:solidFill>
                      <a:prstDash val="sysDot"/>
                    </a:lnR>
                    <a:lnT w="12700">
                      <a:solidFill>
                        <a:srgbClr val="F4364B"/>
                      </a:solidFill>
                      <a:prstDash val="sysDot"/>
                    </a:lnT>
                  </a:tcPr>
                </a:tc>
                <a:extLst>
                  <a:ext uri="{0D108BD9-81ED-4DB2-BD59-A6C34878D82A}">
                    <a16:rowId xmlns:a16="http://schemas.microsoft.com/office/drawing/2014/main" val="10000"/>
                  </a:ext>
                </a:extLst>
              </a:tr>
              <a:tr h="85725">
                <a:tc>
                  <a:txBody>
                    <a:bodyPr/>
                    <a:lstStyle/>
                    <a:p>
                      <a:pPr>
                        <a:lnSpc>
                          <a:spcPct val="100000"/>
                        </a:lnSpc>
                      </a:pPr>
                      <a:endParaRPr sz="400">
                        <a:latin typeface="Times New Roman"/>
                        <a:cs typeface="Times New Roman"/>
                      </a:endParaRPr>
                    </a:p>
                  </a:txBody>
                  <a:tcPr marL="0" marR="0" marT="0" marB="0"/>
                </a:tc>
                <a:tc>
                  <a:txBody>
                    <a:bodyPr/>
                    <a:lstStyle/>
                    <a:p>
                      <a:pPr>
                        <a:lnSpc>
                          <a:spcPct val="100000"/>
                        </a:lnSpc>
                      </a:pPr>
                      <a:endParaRPr sz="400">
                        <a:latin typeface="Times New Roman"/>
                        <a:cs typeface="Times New Roman"/>
                      </a:endParaRPr>
                    </a:p>
                  </a:txBody>
                  <a:tcPr marL="0" marR="0" marT="0" marB="0"/>
                </a:tc>
                <a:tc>
                  <a:txBody>
                    <a:bodyPr/>
                    <a:lstStyle/>
                    <a:p>
                      <a:pPr algn="ctr">
                        <a:lnSpc>
                          <a:spcPts val="580"/>
                        </a:lnSpc>
                      </a:pPr>
                      <a:r>
                        <a:rPr sz="700" spc="-25">
                          <a:solidFill>
                            <a:srgbClr val="585858"/>
                          </a:solidFill>
                          <a:latin typeface="Arial"/>
                          <a:cs typeface="Arial"/>
                        </a:rPr>
                        <a:t>47%</a:t>
                      </a:r>
                      <a:endParaRPr sz="700">
                        <a:latin typeface="Arial"/>
                        <a:cs typeface="Arial"/>
                      </a:endParaRPr>
                    </a:p>
                  </a:txBody>
                  <a:tcPr marL="0" marR="0" marT="0" marB="0"/>
                </a:tc>
                <a:tc>
                  <a:txBody>
                    <a:bodyPr/>
                    <a:lstStyle/>
                    <a:p>
                      <a:pPr>
                        <a:lnSpc>
                          <a:spcPct val="100000"/>
                        </a:lnSpc>
                      </a:pPr>
                      <a:endParaRPr sz="400">
                        <a:latin typeface="Times New Roman"/>
                        <a:cs typeface="Times New Roman"/>
                      </a:endParaRPr>
                    </a:p>
                  </a:txBody>
                  <a:tcPr marL="0" marR="0" marT="0" marB="0">
                    <a:lnR w="12700">
                      <a:solidFill>
                        <a:srgbClr val="F4364B"/>
                      </a:solidFill>
                      <a:prstDash val="sysDot"/>
                    </a:lnR>
                  </a:tcPr>
                </a:tc>
                <a:tc>
                  <a:txBody>
                    <a:bodyPr/>
                    <a:lstStyle/>
                    <a:p>
                      <a:pPr>
                        <a:lnSpc>
                          <a:spcPct val="100000"/>
                        </a:lnSpc>
                      </a:pPr>
                      <a:endParaRPr sz="400">
                        <a:latin typeface="Times New Roman"/>
                        <a:cs typeface="Times New Roman"/>
                      </a:endParaRPr>
                    </a:p>
                  </a:txBody>
                  <a:tcPr marL="0" marR="0" marT="0" marB="0">
                    <a:lnL w="12700">
                      <a:solidFill>
                        <a:srgbClr val="F4364B"/>
                      </a:solidFill>
                      <a:prstDash val="sysDot"/>
                    </a:lnL>
                    <a:lnR w="12700">
                      <a:solidFill>
                        <a:srgbClr val="F4364B"/>
                      </a:solidFill>
                      <a:prstDash val="sysDot"/>
                    </a:lnR>
                  </a:tcPr>
                </a:tc>
                <a:extLst>
                  <a:ext uri="{0D108BD9-81ED-4DB2-BD59-A6C34878D82A}">
                    <a16:rowId xmlns:a16="http://schemas.microsoft.com/office/drawing/2014/main" val="10001"/>
                  </a:ext>
                </a:extLst>
              </a:tr>
              <a:tr h="321945">
                <a:tc>
                  <a:txBody>
                    <a:bodyPr/>
                    <a:lstStyle/>
                    <a:p>
                      <a:pPr algn="ctr">
                        <a:lnSpc>
                          <a:spcPts val="810"/>
                        </a:lnSpc>
                      </a:pPr>
                      <a:r>
                        <a:rPr sz="700" spc="-25">
                          <a:solidFill>
                            <a:srgbClr val="585858"/>
                          </a:solidFill>
                          <a:latin typeface="Arial"/>
                          <a:cs typeface="Arial"/>
                        </a:rPr>
                        <a:t>29%</a:t>
                      </a:r>
                      <a:endParaRPr sz="700">
                        <a:latin typeface="Arial"/>
                        <a:cs typeface="Arial"/>
                      </a:endParaRPr>
                    </a:p>
                  </a:txBody>
                  <a:tcPr marL="0" marR="0" marT="0" marB="0">
                    <a:lnB w="9525">
                      <a:solidFill>
                        <a:srgbClr val="D9D9D9"/>
                      </a:solidFill>
                      <a:prstDash val="solid"/>
                    </a:lnB>
                  </a:tcPr>
                </a:tc>
                <a:tc>
                  <a:txBody>
                    <a:bodyPr/>
                    <a:lstStyle/>
                    <a:p>
                      <a:pPr marR="10160" algn="ctr">
                        <a:lnSpc>
                          <a:spcPts val="665"/>
                        </a:lnSpc>
                      </a:pPr>
                      <a:r>
                        <a:rPr sz="700" spc="-25">
                          <a:solidFill>
                            <a:srgbClr val="585858"/>
                          </a:solidFill>
                          <a:latin typeface="Arial"/>
                          <a:cs typeface="Arial"/>
                        </a:rPr>
                        <a:t>37%</a:t>
                      </a:r>
                      <a:endParaRPr sz="700">
                        <a:latin typeface="Arial"/>
                        <a:cs typeface="Arial"/>
                      </a:endParaRPr>
                    </a:p>
                  </a:txBody>
                  <a:tcPr marL="0" marR="0" marT="0" marB="0">
                    <a:lnB w="9525">
                      <a:solidFill>
                        <a:srgbClr val="D9D9D9"/>
                      </a:solidFill>
                      <a:prstDash val="solid"/>
                    </a:lnB>
                  </a:tcPr>
                </a:tc>
                <a:tc>
                  <a:txBody>
                    <a:bodyPr/>
                    <a:lstStyle/>
                    <a:p>
                      <a:pPr>
                        <a:lnSpc>
                          <a:spcPct val="100000"/>
                        </a:lnSpc>
                      </a:pPr>
                      <a:endParaRPr sz="700">
                        <a:latin typeface="Times New Roman"/>
                        <a:cs typeface="Times New Roman"/>
                      </a:endParaRPr>
                    </a:p>
                  </a:txBody>
                  <a:tcPr marL="0" marR="0" marT="0" marB="0">
                    <a:lnB w="9525">
                      <a:solidFill>
                        <a:srgbClr val="D9D9D9"/>
                      </a:solidFill>
                      <a:prstDash val="solid"/>
                    </a:lnB>
                  </a:tcPr>
                </a:tc>
                <a:tc>
                  <a:txBody>
                    <a:bodyPr/>
                    <a:lstStyle/>
                    <a:p>
                      <a:pPr>
                        <a:lnSpc>
                          <a:spcPct val="100000"/>
                        </a:lnSpc>
                      </a:pPr>
                      <a:endParaRPr sz="700">
                        <a:latin typeface="Times New Roman"/>
                        <a:cs typeface="Times New Roman"/>
                      </a:endParaRPr>
                    </a:p>
                  </a:txBody>
                  <a:tcPr marL="0" marR="0" marT="0" marB="0">
                    <a:lnR w="12700">
                      <a:solidFill>
                        <a:srgbClr val="F4364B"/>
                      </a:solidFill>
                      <a:prstDash val="sysDot"/>
                    </a:lnR>
                    <a:lnB w="9525">
                      <a:solidFill>
                        <a:srgbClr val="D9D9D9"/>
                      </a:solidFill>
                      <a:prstDash val="solid"/>
                    </a:lnB>
                  </a:tcPr>
                </a:tc>
                <a:tc>
                  <a:txBody>
                    <a:bodyPr/>
                    <a:lstStyle/>
                    <a:p>
                      <a:pPr>
                        <a:lnSpc>
                          <a:spcPct val="100000"/>
                        </a:lnSpc>
                      </a:pPr>
                      <a:endParaRPr sz="700">
                        <a:latin typeface="Times New Roman"/>
                        <a:cs typeface="Times New Roman"/>
                      </a:endParaRPr>
                    </a:p>
                  </a:txBody>
                  <a:tcPr marL="0" marR="0" marT="0" marB="0">
                    <a:lnL w="12700">
                      <a:solidFill>
                        <a:srgbClr val="F4364B"/>
                      </a:solidFill>
                      <a:prstDash val="sysDot"/>
                    </a:lnL>
                    <a:lnR w="12700">
                      <a:solidFill>
                        <a:srgbClr val="F4364B"/>
                      </a:solidFill>
                      <a:prstDash val="sysDot"/>
                    </a:lnR>
                    <a:lnB w="9525">
                      <a:solidFill>
                        <a:srgbClr val="D9D9D9"/>
                      </a:solidFill>
                      <a:prstDash val="solid"/>
                    </a:lnB>
                  </a:tcPr>
                </a:tc>
                <a:extLst>
                  <a:ext uri="{0D108BD9-81ED-4DB2-BD59-A6C34878D82A}">
                    <a16:rowId xmlns:a16="http://schemas.microsoft.com/office/drawing/2014/main" val="10002"/>
                  </a:ext>
                </a:extLst>
              </a:tr>
              <a:tr h="196850">
                <a:tc>
                  <a:txBody>
                    <a:bodyPr/>
                    <a:lstStyle/>
                    <a:p>
                      <a:pPr algn="ctr">
                        <a:lnSpc>
                          <a:spcPct val="100000"/>
                        </a:lnSpc>
                        <a:spcBef>
                          <a:spcPts val="365"/>
                        </a:spcBef>
                      </a:pPr>
                      <a:r>
                        <a:rPr sz="700" spc="-20">
                          <a:solidFill>
                            <a:srgbClr val="585858"/>
                          </a:solidFill>
                          <a:latin typeface="Arial"/>
                          <a:cs typeface="Arial"/>
                        </a:rPr>
                        <a:t>2022</a:t>
                      </a:r>
                      <a:endParaRPr sz="700">
                        <a:latin typeface="Arial"/>
                        <a:cs typeface="Arial"/>
                      </a:endParaRPr>
                    </a:p>
                  </a:txBody>
                  <a:tcPr marL="0" marR="0" marT="46355" marB="0">
                    <a:lnT w="9525">
                      <a:solidFill>
                        <a:srgbClr val="D9D9D9"/>
                      </a:solidFill>
                      <a:prstDash val="solid"/>
                    </a:lnT>
                  </a:tcPr>
                </a:tc>
                <a:tc>
                  <a:txBody>
                    <a:bodyPr/>
                    <a:lstStyle/>
                    <a:p>
                      <a:pPr algn="ctr">
                        <a:lnSpc>
                          <a:spcPct val="100000"/>
                        </a:lnSpc>
                        <a:spcBef>
                          <a:spcPts val="365"/>
                        </a:spcBef>
                      </a:pPr>
                      <a:r>
                        <a:rPr sz="700" spc="-20">
                          <a:solidFill>
                            <a:srgbClr val="585858"/>
                          </a:solidFill>
                          <a:latin typeface="Arial"/>
                          <a:cs typeface="Arial"/>
                        </a:rPr>
                        <a:t>2023</a:t>
                      </a:r>
                      <a:endParaRPr sz="700">
                        <a:latin typeface="Arial"/>
                        <a:cs typeface="Arial"/>
                      </a:endParaRPr>
                    </a:p>
                  </a:txBody>
                  <a:tcPr marL="0" marR="0" marT="46355" marB="0">
                    <a:lnT w="9525">
                      <a:solidFill>
                        <a:srgbClr val="D9D9D9"/>
                      </a:solidFill>
                      <a:prstDash val="solid"/>
                    </a:lnT>
                  </a:tcPr>
                </a:tc>
                <a:tc>
                  <a:txBody>
                    <a:bodyPr/>
                    <a:lstStyle/>
                    <a:p>
                      <a:pPr algn="ctr">
                        <a:lnSpc>
                          <a:spcPct val="100000"/>
                        </a:lnSpc>
                        <a:spcBef>
                          <a:spcPts val="365"/>
                        </a:spcBef>
                      </a:pPr>
                      <a:r>
                        <a:rPr sz="700" spc="-20">
                          <a:solidFill>
                            <a:srgbClr val="585858"/>
                          </a:solidFill>
                          <a:latin typeface="Arial"/>
                          <a:cs typeface="Arial"/>
                        </a:rPr>
                        <a:t>2024</a:t>
                      </a:r>
                      <a:endParaRPr sz="700">
                        <a:latin typeface="Arial"/>
                        <a:cs typeface="Arial"/>
                      </a:endParaRPr>
                    </a:p>
                  </a:txBody>
                  <a:tcPr marL="0" marR="0" marT="46355" marB="0">
                    <a:lnT w="9525">
                      <a:solidFill>
                        <a:srgbClr val="D9D9D9"/>
                      </a:solidFill>
                      <a:prstDash val="solid"/>
                    </a:lnT>
                  </a:tcPr>
                </a:tc>
                <a:tc>
                  <a:txBody>
                    <a:bodyPr/>
                    <a:lstStyle/>
                    <a:p>
                      <a:pPr marL="52705" algn="ctr">
                        <a:lnSpc>
                          <a:spcPct val="100000"/>
                        </a:lnSpc>
                        <a:spcBef>
                          <a:spcPts val="365"/>
                        </a:spcBef>
                      </a:pPr>
                      <a:r>
                        <a:rPr sz="700" spc="-20">
                          <a:solidFill>
                            <a:srgbClr val="585858"/>
                          </a:solidFill>
                          <a:latin typeface="Arial"/>
                          <a:cs typeface="Arial"/>
                        </a:rPr>
                        <a:t>2025</a:t>
                      </a:r>
                      <a:endParaRPr sz="700">
                        <a:latin typeface="Arial"/>
                        <a:cs typeface="Arial"/>
                      </a:endParaRPr>
                    </a:p>
                  </a:txBody>
                  <a:tcPr marL="0" marR="0" marT="46355" marB="0">
                    <a:lnR w="12700">
                      <a:solidFill>
                        <a:srgbClr val="F4364B"/>
                      </a:solidFill>
                      <a:prstDash val="sysDot"/>
                    </a:lnR>
                    <a:lnT w="9525">
                      <a:solidFill>
                        <a:srgbClr val="D9D9D9"/>
                      </a:solidFill>
                      <a:prstDash val="solid"/>
                    </a:lnT>
                  </a:tcPr>
                </a:tc>
                <a:tc>
                  <a:txBody>
                    <a:bodyPr/>
                    <a:lstStyle/>
                    <a:p>
                      <a:pPr marR="3175" algn="ctr">
                        <a:lnSpc>
                          <a:spcPct val="100000"/>
                        </a:lnSpc>
                        <a:spcBef>
                          <a:spcPts val="365"/>
                        </a:spcBef>
                      </a:pPr>
                      <a:r>
                        <a:rPr sz="700">
                          <a:solidFill>
                            <a:srgbClr val="585858"/>
                          </a:solidFill>
                          <a:latin typeface="Arial"/>
                          <a:cs typeface="Arial"/>
                        </a:rPr>
                        <a:t>2026 </a:t>
                      </a:r>
                      <a:r>
                        <a:rPr sz="700" spc="-25">
                          <a:solidFill>
                            <a:srgbClr val="585858"/>
                          </a:solidFill>
                          <a:latin typeface="Arial"/>
                          <a:cs typeface="Arial"/>
                        </a:rPr>
                        <a:t>Q1</a:t>
                      </a:r>
                      <a:endParaRPr sz="700">
                        <a:latin typeface="Arial"/>
                        <a:cs typeface="Arial"/>
                      </a:endParaRPr>
                    </a:p>
                  </a:txBody>
                  <a:tcPr marL="0" marR="0" marT="46355" marB="0">
                    <a:lnL w="12700">
                      <a:solidFill>
                        <a:srgbClr val="F4364B"/>
                      </a:solidFill>
                      <a:prstDash val="sysDot"/>
                    </a:lnL>
                    <a:lnR w="12700">
                      <a:solidFill>
                        <a:srgbClr val="F4364B"/>
                      </a:solidFill>
                      <a:prstDash val="sysDot"/>
                    </a:lnR>
                    <a:lnT w="9525">
                      <a:solidFill>
                        <a:srgbClr val="D9D9D9"/>
                      </a:solidFill>
                      <a:prstDash val="solid"/>
                    </a:lnT>
                    <a:lnB w="12700">
                      <a:solidFill>
                        <a:srgbClr val="F4364B"/>
                      </a:solidFill>
                      <a:prstDash val="sysDot"/>
                    </a:lnB>
                  </a:tcPr>
                </a:tc>
                <a:extLst>
                  <a:ext uri="{0D108BD9-81ED-4DB2-BD59-A6C34878D82A}">
                    <a16:rowId xmlns:a16="http://schemas.microsoft.com/office/drawing/2014/main" val="10003"/>
                  </a:ext>
                </a:extLst>
              </a:tr>
            </a:tbl>
          </a:graphicData>
        </a:graphic>
      </p:graphicFrame>
      <p:sp>
        <p:nvSpPr>
          <p:cNvPr id="27" name="object 28">
            <a:extLst>
              <a:ext uri="{FF2B5EF4-FFF2-40B4-BE49-F238E27FC236}">
                <a16:creationId xmlns:a16="http://schemas.microsoft.com/office/drawing/2014/main" id="{3D93E21A-8CD5-CF48-4E2F-4F2CF1254A9F}"/>
              </a:ext>
            </a:extLst>
          </p:cNvPr>
          <p:cNvSpPr/>
          <p:nvPr/>
        </p:nvSpPr>
        <p:spPr>
          <a:xfrm>
            <a:off x="828934" y="4191304"/>
            <a:ext cx="1012825" cy="1149350"/>
          </a:xfrm>
          <a:custGeom>
            <a:avLst/>
            <a:gdLst/>
            <a:ahLst/>
            <a:cxnLst/>
            <a:rect l="l" t="t" r="r" b="b"/>
            <a:pathLst>
              <a:path w="1012825" h="1149350">
                <a:moveTo>
                  <a:pt x="437832" y="0"/>
                </a:moveTo>
                <a:lnTo>
                  <a:pt x="437832" y="574471"/>
                </a:lnTo>
                <a:lnTo>
                  <a:pt x="0" y="946391"/>
                </a:lnTo>
                <a:lnTo>
                  <a:pt x="34232" y="983292"/>
                </a:lnTo>
                <a:lnTo>
                  <a:pt x="71267" y="1016809"/>
                </a:lnTo>
                <a:lnTo>
                  <a:pt x="110848" y="1046824"/>
                </a:lnTo>
                <a:lnTo>
                  <a:pt x="152721" y="1073220"/>
                </a:lnTo>
                <a:lnTo>
                  <a:pt x="196632" y="1095878"/>
                </a:lnTo>
                <a:lnTo>
                  <a:pt x="242326" y="1114681"/>
                </a:lnTo>
                <a:lnTo>
                  <a:pt x="289547" y="1129510"/>
                </a:lnTo>
                <a:lnTo>
                  <a:pt x="338042" y="1140249"/>
                </a:lnTo>
                <a:lnTo>
                  <a:pt x="387555" y="1146778"/>
                </a:lnTo>
                <a:lnTo>
                  <a:pt x="437832" y="1148981"/>
                </a:lnTo>
                <a:lnTo>
                  <a:pt x="484962" y="1147077"/>
                </a:lnTo>
                <a:lnTo>
                  <a:pt x="531041" y="1141462"/>
                </a:lnTo>
                <a:lnTo>
                  <a:pt x="575922" y="1132285"/>
                </a:lnTo>
                <a:lnTo>
                  <a:pt x="619456" y="1119693"/>
                </a:lnTo>
                <a:lnTo>
                  <a:pt x="661497" y="1103834"/>
                </a:lnTo>
                <a:lnTo>
                  <a:pt x="701896" y="1084856"/>
                </a:lnTo>
                <a:lnTo>
                  <a:pt x="740505" y="1062907"/>
                </a:lnTo>
                <a:lnTo>
                  <a:pt x="777178" y="1038135"/>
                </a:lnTo>
                <a:lnTo>
                  <a:pt x="811766" y="1010688"/>
                </a:lnTo>
                <a:lnTo>
                  <a:pt x="844121" y="980713"/>
                </a:lnTo>
                <a:lnTo>
                  <a:pt x="874096" y="948358"/>
                </a:lnTo>
                <a:lnTo>
                  <a:pt x="901543" y="913771"/>
                </a:lnTo>
                <a:lnTo>
                  <a:pt x="926314" y="877100"/>
                </a:lnTo>
                <a:lnTo>
                  <a:pt x="948261" y="838493"/>
                </a:lnTo>
                <a:lnTo>
                  <a:pt x="967237" y="798098"/>
                </a:lnTo>
                <a:lnTo>
                  <a:pt x="983095" y="756062"/>
                </a:lnTo>
                <a:lnTo>
                  <a:pt x="995685" y="712534"/>
                </a:lnTo>
                <a:lnTo>
                  <a:pt x="1004862" y="667661"/>
                </a:lnTo>
                <a:lnTo>
                  <a:pt x="1010476" y="621591"/>
                </a:lnTo>
                <a:lnTo>
                  <a:pt x="1012380" y="574471"/>
                </a:lnTo>
                <a:lnTo>
                  <a:pt x="1010476" y="527352"/>
                </a:lnTo>
                <a:lnTo>
                  <a:pt x="1004862" y="481283"/>
                </a:lnTo>
                <a:lnTo>
                  <a:pt x="995685" y="436411"/>
                </a:lnTo>
                <a:lnTo>
                  <a:pt x="983095" y="392884"/>
                </a:lnTo>
                <a:lnTo>
                  <a:pt x="967237" y="350850"/>
                </a:lnTo>
                <a:lnTo>
                  <a:pt x="948261" y="310458"/>
                </a:lnTo>
                <a:lnTo>
                  <a:pt x="926314" y="271853"/>
                </a:lnTo>
                <a:lnTo>
                  <a:pt x="901543" y="235185"/>
                </a:lnTo>
                <a:lnTo>
                  <a:pt x="874096" y="200601"/>
                </a:lnTo>
                <a:lnTo>
                  <a:pt x="844121" y="168249"/>
                </a:lnTo>
                <a:lnTo>
                  <a:pt x="811766" y="138277"/>
                </a:lnTo>
                <a:lnTo>
                  <a:pt x="777178" y="110832"/>
                </a:lnTo>
                <a:lnTo>
                  <a:pt x="740505" y="86063"/>
                </a:lnTo>
                <a:lnTo>
                  <a:pt x="701896" y="64116"/>
                </a:lnTo>
                <a:lnTo>
                  <a:pt x="661497" y="45141"/>
                </a:lnTo>
                <a:lnTo>
                  <a:pt x="619456" y="29284"/>
                </a:lnTo>
                <a:lnTo>
                  <a:pt x="575922" y="16694"/>
                </a:lnTo>
                <a:lnTo>
                  <a:pt x="531041" y="7518"/>
                </a:lnTo>
                <a:lnTo>
                  <a:pt x="484962" y="1904"/>
                </a:lnTo>
                <a:lnTo>
                  <a:pt x="437832" y="0"/>
                </a:lnTo>
                <a:close/>
              </a:path>
            </a:pathLst>
          </a:custGeom>
          <a:solidFill>
            <a:srgbClr val="12426B"/>
          </a:solidFill>
        </p:spPr>
        <p:txBody>
          <a:bodyPr wrap="square" lIns="0" tIns="0" rIns="0" bIns="0" rtlCol="0"/>
          <a:lstStyle/>
          <a:p>
            <a:endParaRPr/>
          </a:p>
        </p:txBody>
      </p:sp>
      <p:sp>
        <p:nvSpPr>
          <p:cNvPr id="28" name="object 29">
            <a:extLst>
              <a:ext uri="{FF2B5EF4-FFF2-40B4-BE49-F238E27FC236}">
                <a16:creationId xmlns:a16="http://schemas.microsoft.com/office/drawing/2014/main" id="{FCB0DC5B-E752-C009-681F-1E429936CF1D}"/>
              </a:ext>
            </a:extLst>
          </p:cNvPr>
          <p:cNvSpPr/>
          <p:nvPr/>
        </p:nvSpPr>
        <p:spPr>
          <a:xfrm>
            <a:off x="828934" y="4191304"/>
            <a:ext cx="1012825" cy="1149350"/>
          </a:xfrm>
          <a:custGeom>
            <a:avLst/>
            <a:gdLst/>
            <a:ahLst/>
            <a:cxnLst/>
            <a:rect l="l" t="t" r="r" b="b"/>
            <a:pathLst>
              <a:path w="1012825" h="1149350">
                <a:moveTo>
                  <a:pt x="437832" y="0"/>
                </a:moveTo>
                <a:lnTo>
                  <a:pt x="484962" y="1904"/>
                </a:lnTo>
                <a:lnTo>
                  <a:pt x="531041" y="7518"/>
                </a:lnTo>
                <a:lnTo>
                  <a:pt x="575922" y="16694"/>
                </a:lnTo>
                <a:lnTo>
                  <a:pt x="619456" y="29284"/>
                </a:lnTo>
                <a:lnTo>
                  <a:pt x="661497" y="45141"/>
                </a:lnTo>
                <a:lnTo>
                  <a:pt x="701896" y="64116"/>
                </a:lnTo>
                <a:lnTo>
                  <a:pt x="740505" y="86063"/>
                </a:lnTo>
                <a:lnTo>
                  <a:pt x="777178" y="110832"/>
                </a:lnTo>
                <a:lnTo>
                  <a:pt x="811766" y="138277"/>
                </a:lnTo>
                <a:lnTo>
                  <a:pt x="844121" y="168249"/>
                </a:lnTo>
                <a:lnTo>
                  <a:pt x="874096" y="200601"/>
                </a:lnTo>
                <a:lnTo>
                  <a:pt x="901543" y="235185"/>
                </a:lnTo>
                <a:lnTo>
                  <a:pt x="926314" y="271853"/>
                </a:lnTo>
                <a:lnTo>
                  <a:pt x="948261" y="310458"/>
                </a:lnTo>
                <a:lnTo>
                  <a:pt x="967237" y="350850"/>
                </a:lnTo>
                <a:lnTo>
                  <a:pt x="983095" y="392884"/>
                </a:lnTo>
                <a:lnTo>
                  <a:pt x="995685" y="436411"/>
                </a:lnTo>
                <a:lnTo>
                  <a:pt x="1004862" y="481283"/>
                </a:lnTo>
                <a:lnTo>
                  <a:pt x="1010476" y="527352"/>
                </a:lnTo>
                <a:lnTo>
                  <a:pt x="1012380" y="574471"/>
                </a:lnTo>
                <a:lnTo>
                  <a:pt x="1010476" y="621591"/>
                </a:lnTo>
                <a:lnTo>
                  <a:pt x="1004862" y="667661"/>
                </a:lnTo>
                <a:lnTo>
                  <a:pt x="995685" y="712534"/>
                </a:lnTo>
                <a:lnTo>
                  <a:pt x="983095" y="756062"/>
                </a:lnTo>
                <a:lnTo>
                  <a:pt x="967237" y="798098"/>
                </a:lnTo>
                <a:lnTo>
                  <a:pt x="948261" y="838493"/>
                </a:lnTo>
                <a:lnTo>
                  <a:pt x="926314" y="877100"/>
                </a:lnTo>
                <a:lnTo>
                  <a:pt x="901543" y="913771"/>
                </a:lnTo>
                <a:lnTo>
                  <a:pt x="874096" y="948358"/>
                </a:lnTo>
                <a:lnTo>
                  <a:pt x="844121" y="980713"/>
                </a:lnTo>
                <a:lnTo>
                  <a:pt x="811766" y="1010688"/>
                </a:lnTo>
                <a:lnTo>
                  <a:pt x="777178" y="1038135"/>
                </a:lnTo>
                <a:lnTo>
                  <a:pt x="740505" y="1062907"/>
                </a:lnTo>
                <a:lnTo>
                  <a:pt x="701896" y="1084856"/>
                </a:lnTo>
                <a:lnTo>
                  <a:pt x="661497" y="1103834"/>
                </a:lnTo>
                <a:lnTo>
                  <a:pt x="619456" y="1119693"/>
                </a:lnTo>
                <a:lnTo>
                  <a:pt x="575922" y="1132285"/>
                </a:lnTo>
                <a:lnTo>
                  <a:pt x="531041" y="1141462"/>
                </a:lnTo>
                <a:lnTo>
                  <a:pt x="484962" y="1147077"/>
                </a:lnTo>
                <a:lnTo>
                  <a:pt x="437832" y="1148981"/>
                </a:lnTo>
                <a:lnTo>
                  <a:pt x="387555" y="1146778"/>
                </a:lnTo>
                <a:lnTo>
                  <a:pt x="338042" y="1140249"/>
                </a:lnTo>
                <a:lnTo>
                  <a:pt x="289547" y="1129510"/>
                </a:lnTo>
                <a:lnTo>
                  <a:pt x="242326" y="1114681"/>
                </a:lnTo>
                <a:lnTo>
                  <a:pt x="196632" y="1095878"/>
                </a:lnTo>
                <a:lnTo>
                  <a:pt x="152721" y="1073220"/>
                </a:lnTo>
                <a:lnTo>
                  <a:pt x="110848" y="1046824"/>
                </a:lnTo>
                <a:lnTo>
                  <a:pt x="71267" y="1016809"/>
                </a:lnTo>
                <a:lnTo>
                  <a:pt x="34232" y="983292"/>
                </a:lnTo>
                <a:lnTo>
                  <a:pt x="0" y="946391"/>
                </a:lnTo>
                <a:lnTo>
                  <a:pt x="437832" y="574471"/>
                </a:lnTo>
                <a:lnTo>
                  <a:pt x="437832" y="0"/>
                </a:lnTo>
                <a:close/>
              </a:path>
            </a:pathLst>
          </a:custGeom>
          <a:ln w="19050">
            <a:solidFill>
              <a:srgbClr val="FFFFFF"/>
            </a:solidFill>
          </a:ln>
        </p:spPr>
        <p:txBody>
          <a:bodyPr wrap="square" lIns="0" tIns="0" rIns="0" bIns="0" rtlCol="0"/>
          <a:lstStyle/>
          <a:p>
            <a:endParaRPr/>
          </a:p>
        </p:txBody>
      </p:sp>
      <p:sp>
        <p:nvSpPr>
          <p:cNvPr id="29" name="object 30">
            <a:extLst>
              <a:ext uri="{FF2B5EF4-FFF2-40B4-BE49-F238E27FC236}">
                <a16:creationId xmlns:a16="http://schemas.microsoft.com/office/drawing/2014/main" id="{5F1FB2B1-FD05-4A97-2CB9-18803EE09A96}"/>
              </a:ext>
            </a:extLst>
          </p:cNvPr>
          <p:cNvSpPr/>
          <p:nvPr/>
        </p:nvSpPr>
        <p:spPr>
          <a:xfrm>
            <a:off x="692712" y="4557445"/>
            <a:ext cx="574675" cy="580390"/>
          </a:xfrm>
          <a:custGeom>
            <a:avLst/>
            <a:gdLst/>
            <a:ahLst/>
            <a:cxnLst/>
            <a:rect l="l" t="t" r="r" b="b"/>
            <a:pathLst>
              <a:path w="574675" h="580389">
                <a:moveTo>
                  <a:pt x="38723" y="0"/>
                </a:moveTo>
                <a:lnTo>
                  <a:pt x="23073" y="45793"/>
                </a:lnTo>
                <a:lnTo>
                  <a:pt x="11429" y="92276"/>
                </a:lnTo>
                <a:lnTo>
                  <a:pt x="3752" y="139207"/>
                </a:lnTo>
                <a:lnTo>
                  <a:pt x="0" y="186347"/>
                </a:lnTo>
                <a:lnTo>
                  <a:pt x="133" y="233454"/>
                </a:lnTo>
                <a:lnTo>
                  <a:pt x="4111" y="280287"/>
                </a:lnTo>
                <a:lnTo>
                  <a:pt x="11893" y="326607"/>
                </a:lnTo>
                <a:lnTo>
                  <a:pt x="23440" y="372172"/>
                </a:lnTo>
                <a:lnTo>
                  <a:pt x="38710" y="416741"/>
                </a:lnTo>
                <a:lnTo>
                  <a:pt x="57664" y="460074"/>
                </a:lnTo>
                <a:lnTo>
                  <a:pt x="80260" y="501931"/>
                </a:lnTo>
                <a:lnTo>
                  <a:pt x="106459" y="542069"/>
                </a:lnTo>
                <a:lnTo>
                  <a:pt x="136221" y="580250"/>
                </a:lnTo>
                <a:lnTo>
                  <a:pt x="574054" y="208330"/>
                </a:lnTo>
                <a:lnTo>
                  <a:pt x="38723" y="0"/>
                </a:lnTo>
                <a:close/>
              </a:path>
            </a:pathLst>
          </a:custGeom>
          <a:solidFill>
            <a:srgbClr val="24C9D2"/>
          </a:solidFill>
        </p:spPr>
        <p:txBody>
          <a:bodyPr wrap="square" lIns="0" tIns="0" rIns="0" bIns="0" rtlCol="0"/>
          <a:lstStyle/>
          <a:p>
            <a:endParaRPr/>
          </a:p>
        </p:txBody>
      </p:sp>
      <p:sp>
        <p:nvSpPr>
          <p:cNvPr id="30" name="object 31">
            <a:extLst>
              <a:ext uri="{FF2B5EF4-FFF2-40B4-BE49-F238E27FC236}">
                <a16:creationId xmlns:a16="http://schemas.microsoft.com/office/drawing/2014/main" id="{81178755-410D-7E72-6B42-ABE8E3F49BA0}"/>
              </a:ext>
            </a:extLst>
          </p:cNvPr>
          <p:cNvSpPr/>
          <p:nvPr/>
        </p:nvSpPr>
        <p:spPr>
          <a:xfrm>
            <a:off x="692712" y="4557445"/>
            <a:ext cx="574675" cy="580390"/>
          </a:xfrm>
          <a:custGeom>
            <a:avLst/>
            <a:gdLst/>
            <a:ahLst/>
            <a:cxnLst/>
            <a:rect l="l" t="t" r="r" b="b"/>
            <a:pathLst>
              <a:path w="574675" h="580389">
                <a:moveTo>
                  <a:pt x="136221" y="580250"/>
                </a:moveTo>
                <a:lnTo>
                  <a:pt x="106459" y="542069"/>
                </a:lnTo>
                <a:lnTo>
                  <a:pt x="80260" y="501931"/>
                </a:lnTo>
                <a:lnTo>
                  <a:pt x="57664" y="460074"/>
                </a:lnTo>
                <a:lnTo>
                  <a:pt x="38710" y="416741"/>
                </a:lnTo>
                <a:lnTo>
                  <a:pt x="23440" y="372172"/>
                </a:lnTo>
                <a:lnTo>
                  <a:pt x="11893" y="326607"/>
                </a:lnTo>
                <a:lnTo>
                  <a:pt x="4111" y="280287"/>
                </a:lnTo>
                <a:lnTo>
                  <a:pt x="133" y="233454"/>
                </a:lnTo>
                <a:lnTo>
                  <a:pt x="0" y="186347"/>
                </a:lnTo>
                <a:lnTo>
                  <a:pt x="3752" y="139207"/>
                </a:lnTo>
                <a:lnTo>
                  <a:pt x="11429" y="92276"/>
                </a:lnTo>
                <a:lnTo>
                  <a:pt x="23073" y="45793"/>
                </a:lnTo>
                <a:lnTo>
                  <a:pt x="38723" y="0"/>
                </a:lnTo>
                <a:lnTo>
                  <a:pt x="574054" y="208330"/>
                </a:lnTo>
                <a:lnTo>
                  <a:pt x="136221" y="580250"/>
                </a:lnTo>
                <a:close/>
              </a:path>
            </a:pathLst>
          </a:custGeom>
          <a:ln w="19050">
            <a:solidFill>
              <a:srgbClr val="FFFFFF"/>
            </a:solidFill>
          </a:ln>
        </p:spPr>
        <p:txBody>
          <a:bodyPr wrap="square" lIns="0" tIns="0" rIns="0" bIns="0" rtlCol="0"/>
          <a:lstStyle/>
          <a:p>
            <a:endParaRPr/>
          </a:p>
        </p:txBody>
      </p:sp>
      <p:sp>
        <p:nvSpPr>
          <p:cNvPr id="31" name="object 32">
            <a:extLst>
              <a:ext uri="{FF2B5EF4-FFF2-40B4-BE49-F238E27FC236}">
                <a16:creationId xmlns:a16="http://schemas.microsoft.com/office/drawing/2014/main" id="{8C29D910-B9C8-5BD4-2F94-CF55AD62DBD6}"/>
              </a:ext>
            </a:extLst>
          </p:cNvPr>
          <p:cNvSpPr/>
          <p:nvPr/>
        </p:nvSpPr>
        <p:spPr>
          <a:xfrm>
            <a:off x="731436" y="4202607"/>
            <a:ext cx="535940" cy="563245"/>
          </a:xfrm>
          <a:custGeom>
            <a:avLst/>
            <a:gdLst/>
            <a:ahLst/>
            <a:cxnLst/>
            <a:rect l="l" t="t" r="r" b="b"/>
            <a:pathLst>
              <a:path w="535940" h="563245">
                <a:moveTo>
                  <a:pt x="421690" y="0"/>
                </a:moveTo>
                <a:lnTo>
                  <a:pt x="374455" y="11636"/>
                </a:lnTo>
                <a:lnTo>
                  <a:pt x="328782" y="27069"/>
                </a:lnTo>
                <a:lnTo>
                  <a:pt x="284862" y="46138"/>
                </a:lnTo>
                <a:lnTo>
                  <a:pt x="242886" y="68683"/>
                </a:lnTo>
                <a:lnTo>
                  <a:pt x="203044" y="94542"/>
                </a:lnTo>
                <a:lnTo>
                  <a:pt x="165530" y="123555"/>
                </a:lnTo>
                <a:lnTo>
                  <a:pt x="130532" y="155560"/>
                </a:lnTo>
                <a:lnTo>
                  <a:pt x="98244" y="190396"/>
                </a:lnTo>
                <a:lnTo>
                  <a:pt x="68855" y="227903"/>
                </a:lnTo>
                <a:lnTo>
                  <a:pt x="42557" y="267920"/>
                </a:lnTo>
                <a:lnTo>
                  <a:pt x="19542" y="310285"/>
                </a:lnTo>
                <a:lnTo>
                  <a:pt x="0" y="354838"/>
                </a:lnTo>
                <a:lnTo>
                  <a:pt x="535330" y="563168"/>
                </a:lnTo>
                <a:lnTo>
                  <a:pt x="421690" y="0"/>
                </a:lnTo>
                <a:close/>
              </a:path>
            </a:pathLst>
          </a:custGeom>
          <a:solidFill>
            <a:srgbClr val="FFB81C"/>
          </a:solidFill>
        </p:spPr>
        <p:txBody>
          <a:bodyPr wrap="square" lIns="0" tIns="0" rIns="0" bIns="0" rtlCol="0"/>
          <a:lstStyle/>
          <a:p>
            <a:endParaRPr/>
          </a:p>
        </p:txBody>
      </p:sp>
      <p:sp>
        <p:nvSpPr>
          <p:cNvPr id="32" name="object 33">
            <a:extLst>
              <a:ext uri="{FF2B5EF4-FFF2-40B4-BE49-F238E27FC236}">
                <a16:creationId xmlns:a16="http://schemas.microsoft.com/office/drawing/2014/main" id="{E659DAEF-A345-64F0-ABE9-5742589A3375}"/>
              </a:ext>
            </a:extLst>
          </p:cNvPr>
          <p:cNvSpPr/>
          <p:nvPr/>
        </p:nvSpPr>
        <p:spPr>
          <a:xfrm>
            <a:off x="731436" y="4202607"/>
            <a:ext cx="535940" cy="563245"/>
          </a:xfrm>
          <a:custGeom>
            <a:avLst/>
            <a:gdLst/>
            <a:ahLst/>
            <a:cxnLst/>
            <a:rect l="l" t="t" r="r" b="b"/>
            <a:pathLst>
              <a:path w="535940" h="563245">
                <a:moveTo>
                  <a:pt x="0" y="354838"/>
                </a:moveTo>
                <a:lnTo>
                  <a:pt x="19542" y="310285"/>
                </a:lnTo>
                <a:lnTo>
                  <a:pt x="42557" y="267920"/>
                </a:lnTo>
                <a:lnTo>
                  <a:pt x="68855" y="227903"/>
                </a:lnTo>
                <a:lnTo>
                  <a:pt x="98244" y="190396"/>
                </a:lnTo>
                <a:lnTo>
                  <a:pt x="130532" y="155560"/>
                </a:lnTo>
                <a:lnTo>
                  <a:pt x="165530" y="123555"/>
                </a:lnTo>
                <a:lnTo>
                  <a:pt x="203044" y="94542"/>
                </a:lnTo>
                <a:lnTo>
                  <a:pt x="242886" y="68683"/>
                </a:lnTo>
                <a:lnTo>
                  <a:pt x="284862" y="46138"/>
                </a:lnTo>
                <a:lnTo>
                  <a:pt x="328782" y="27069"/>
                </a:lnTo>
                <a:lnTo>
                  <a:pt x="374455" y="11636"/>
                </a:lnTo>
                <a:lnTo>
                  <a:pt x="421690" y="0"/>
                </a:lnTo>
                <a:lnTo>
                  <a:pt x="535330" y="563168"/>
                </a:lnTo>
                <a:lnTo>
                  <a:pt x="0" y="354838"/>
                </a:lnTo>
                <a:close/>
              </a:path>
            </a:pathLst>
          </a:custGeom>
          <a:ln w="19050">
            <a:solidFill>
              <a:srgbClr val="FFFFFF"/>
            </a:solidFill>
          </a:ln>
        </p:spPr>
        <p:txBody>
          <a:bodyPr wrap="square" lIns="0" tIns="0" rIns="0" bIns="0" rtlCol="0"/>
          <a:lstStyle/>
          <a:p>
            <a:endParaRPr/>
          </a:p>
        </p:txBody>
      </p:sp>
      <p:sp>
        <p:nvSpPr>
          <p:cNvPr id="33" name="object 34">
            <a:extLst>
              <a:ext uri="{FF2B5EF4-FFF2-40B4-BE49-F238E27FC236}">
                <a16:creationId xmlns:a16="http://schemas.microsoft.com/office/drawing/2014/main" id="{71F52399-DB6C-542B-C622-DF431EB11A75}"/>
              </a:ext>
            </a:extLst>
          </p:cNvPr>
          <p:cNvSpPr/>
          <p:nvPr/>
        </p:nvSpPr>
        <p:spPr>
          <a:xfrm>
            <a:off x="1153127" y="4191304"/>
            <a:ext cx="113664" cy="574675"/>
          </a:xfrm>
          <a:custGeom>
            <a:avLst/>
            <a:gdLst/>
            <a:ahLst/>
            <a:cxnLst/>
            <a:rect l="l" t="t" r="r" b="b"/>
            <a:pathLst>
              <a:path w="113665" h="574675">
                <a:moveTo>
                  <a:pt x="113639" y="0"/>
                </a:moveTo>
                <a:lnTo>
                  <a:pt x="85074" y="712"/>
                </a:lnTo>
                <a:lnTo>
                  <a:pt x="56572" y="2841"/>
                </a:lnTo>
                <a:lnTo>
                  <a:pt x="28193" y="6375"/>
                </a:lnTo>
                <a:lnTo>
                  <a:pt x="0" y="11302"/>
                </a:lnTo>
                <a:lnTo>
                  <a:pt x="113639" y="574471"/>
                </a:lnTo>
                <a:lnTo>
                  <a:pt x="113639" y="0"/>
                </a:lnTo>
                <a:close/>
              </a:path>
            </a:pathLst>
          </a:custGeom>
          <a:solidFill>
            <a:srgbClr val="41748D"/>
          </a:solidFill>
        </p:spPr>
        <p:txBody>
          <a:bodyPr wrap="square" lIns="0" tIns="0" rIns="0" bIns="0" rtlCol="0"/>
          <a:lstStyle/>
          <a:p>
            <a:endParaRPr/>
          </a:p>
        </p:txBody>
      </p:sp>
      <p:sp>
        <p:nvSpPr>
          <p:cNvPr id="34" name="object 35">
            <a:extLst>
              <a:ext uri="{FF2B5EF4-FFF2-40B4-BE49-F238E27FC236}">
                <a16:creationId xmlns:a16="http://schemas.microsoft.com/office/drawing/2014/main" id="{4CAA5E61-4697-3365-11C9-ECEE3F0E5BF8}"/>
              </a:ext>
            </a:extLst>
          </p:cNvPr>
          <p:cNvSpPr/>
          <p:nvPr/>
        </p:nvSpPr>
        <p:spPr>
          <a:xfrm>
            <a:off x="1153127" y="4191304"/>
            <a:ext cx="113664" cy="574675"/>
          </a:xfrm>
          <a:custGeom>
            <a:avLst/>
            <a:gdLst/>
            <a:ahLst/>
            <a:cxnLst/>
            <a:rect l="l" t="t" r="r" b="b"/>
            <a:pathLst>
              <a:path w="113665" h="574675">
                <a:moveTo>
                  <a:pt x="0" y="11302"/>
                </a:moveTo>
                <a:lnTo>
                  <a:pt x="28193" y="6375"/>
                </a:lnTo>
                <a:lnTo>
                  <a:pt x="56572" y="2841"/>
                </a:lnTo>
                <a:lnTo>
                  <a:pt x="85074" y="712"/>
                </a:lnTo>
                <a:lnTo>
                  <a:pt x="113639" y="0"/>
                </a:lnTo>
                <a:lnTo>
                  <a:pt x="113639" y="574471"/>
                </a:lnTo>
                <a:lnTo>
                  <a:pt x="0" y="11302"/>
                </a:lnTo>
                <a:close/>
              </a:path>
            </a:pathLst>
          </a:custGeom>
          <a:ln w="19050">
            <a:solidFill>
              <a:srgbClr val="FFFFFF"/>
            </a:solidFill>
          </a:ln>
        </p:spPr>
        <p:txBody>
          <a:bodyPr wrap="square" lIns="0" tIns="0" rIns="0" bIns="0" rtlCol="0"/>
          <a:lstStyle/>
          <a:p>
            <a:endParaRPr/>
          </a:p>
        </p:txBody>
      </p:sp>
      <p:sp>
        <p:nvSpPr>
          <p:cNvPr id="35" name="object 36">
            <a:extLst>
              <a:ext uri="{FF2B5EF4-FFF2-40B4-BE49-F238E27FC236}">
                <a16:creationId xmlns:a16="http://schemas.microsoft.com/office/drawing/2014/main" id="{2D392E0F-02A3-FBDC-C53B-E32B0D82DAB8}"/>
              </a:ext>
            </a:extLst>
          </p:cNvPr>
          <p:cNvSpPr txBox="1"/>
          <p:nvPr/>
        </p:nvSpPr>
        <p:spPr>
          <a:xfrm>
            <a:off x="1540705" y="4872076"/>
            <a:ext cx="201295" cy="119905"/>
          </a:xfrm>
          <a:prstGeom prst="rect">
            <a:avLst/>
          </a:prstGeom>
        </p:spPr>
        <p:txBody>
          <a:bodyPr vert="horz" wrap="square" lIns="0" tIns="12065" rIns="0" bIns="0" rtlCol="0">
            <a:spAutoFit/>
          </a:bodyPr>
          <a:lstStyle/>
          <a:p>
            <a:pPr marL="12700">
              <a:spcBef>
                <a:spcPts val="95"/>
              </a:spcBef>
            </a:pPr>
            <a:r>
              <a:rPr sz="700" spc="-25">
                <a:solidFill>
                  <a:srgbClr val="FFFFFF"/>
                </a:solidFill>
                <a:latin typeface="Arial"/>
                <a:cs typeface="Arial"/>
              </a:rPr>
              <a:t>64%</a:t>
            </a:r>
            <a:endParaRPr sz="700">
              <a:latin typeface="Arial"/>
              <a:cs typeface="Arial"/>
            </a:endParaRPr>
          </a:p>
        </p:txBody>
      </p:sp>
      <p:sp>
        <p:nvSpPr>
          <p:cNvPr id="36" name="object 37">
            <a:extLst>
              <a:ext uri="{FF2B5EF4-FFF2-40B4-BE49-F238E27FC236}">
                <a16:creationId xmlns:a16="http://schemas.microsoft.com/office/drawing/2014/main" id="{3DF31A97-F64D-A580-5F2F-8D9DEF98B84E}"/>
              </a:ext>
            </a:extLst>
          </p:cNvPr>
          <p:cNvSpPr txBox="1"/>
          <p:nvPr/>
        </p:nvSpPr>
        <p:spPr>
          <a:xfrm>
            <a:off x="747337" y="4768444"/>
            <a:ext cx="201295" cy="119905"/>
          </a:xfrm>
          <a:prstGeom prst="rect">
            <a:avLst/>
          </a:prstGeom>
        </p:spPr>
        <p:txBody>
          <a:bodyPr vert="horz" wrap="square" lIns="0" tIns="12065" rIns="0" bIns="0" rtlCol="0">
            <a:spAutoFit/>
          </a:bodyPr>
          <a:lstStyle/>
          <a:p>
            <a:pPr marL="12700">
              <a:spcBef>
                <a:spcPts val="95"/>
              </a:spcBef>
            </a:pPr>
            <a:r>
              <a:rPr sz="700" spc="-25">
                <a:latin typeface="Arial"/>
                <a:cs typeface="Arial"/>
              </a:rPr>
              <a:t>17%</a:t>
            </a:r>
            <a:endParaRPr sz="700">
              <a:latin typeface="Arial"/>
              <a:cs typeface="Arial"/>
            </a:endParaRPr>
          </a:p>
        </p:txBody>
      </p:sp>
      <p:sp>
        <p:nvSpPr>
          <p:cNvPr id="37" name="object 38">
            <a:extLst>
              <a:ext uri="{FF2B5EF4-FFF2-40B4-BE49-F238E27FC236}">
                <a16:creationId xmlns:a16="http://schemas.microsoft.com/office/drawing/2014/main" id="{1277C35F-A684-242C-B281-B015988B9717}"/>
              </a:ext>
            </a:extLst>
          </p:cNvPr>
          <p:cNvSpPr txBox="1"/>
          <p:nvPr/>
        </p:nvSpPr>
        <p:spPr>
          <a:xfrm>
            <a:off x="868647" y="4345356"/>
            <a:ext cx="201295" cy="119905"/>
          </a:xfrm>
          <a:prstGeom prst="rect">
            <a:avLst/>
          </a:prstGeom>
        </p:spPr>
        <p:txBody>
          <a:bodyPr vert="horz" wrap="square" lIns="0" tIns="12065" rIns="0" bIns="0" rtlCol="0">
            <a:spAutoFit/>
          </a:bodyPr>
          <a:lstStyle/>
          <a:p>
            <a:pPr marL="12700">
              <a:spcBef>
                <a:spcPts val="95"/>
              </a:spcBef>
            </a:pPr>
            <a:r>
              <a:rPr sz="700" spc="-25">
                <a:latin typeface="Arial"/>
                <a:cs typeface="Arial"/>
              </a:rPr>
              <a:t>16%</a:t>
            </a:r>
            <a:endParaRPr sz="700">
              <a:latin typeface="Arial"/>
              <a:cs typeface="Arial"/>
            </a:endParaRPr>
          </a:p>
        </p:txBody>
      </p:sp>
      <p:sp>
        <p:nvSpPr>
          <p:cNvPr id="38" name="object 39">
            <a:extLst>
              <a:ext uri="{FF2B5EF4-FFF2-40B4-BE49-F238E27FC236}">
                <a16:creationId xmlns:a16="http://schemas.microsoft.com/office/drawing/2014/main" id="{29C2BE00-66B4-177E-0979-72348C643821}"/>
              </a:ext>
            </a:extLst>
          </p:cNvPr>
          <p:cNvSpPr txBox="1"/>
          <p:nvPr/>
        </p:nvSpPr>
        <p:spPr>
          <a:xfrm>
            <a:off x="1167706" y="4218230"/>
            <a:ext cx="152400" cy="119905"/>
          </a:xfrm>
          <a:prstGeom prst="rect">
            <a:avLst/>
          </a:prstGeom>
        </p:spPr>
        <p:txBody>
          <a:bodyPr vert="horz" wrap="square" lIns="0" tIns="12065" rIns="0" bIns="0" rtlCol="0">
            <a:spAutoFit/>
          </a:bodyPr>
          <a:lstStyle/>
          <a:p>
            <a:pPr marL="12700">
              <a:spcBef>
                <a:spcPts val="95"/>
              </a:spcBef>
            </a:pPr>
            <a:r>
              <a:rPr sz="700" spc="-25">
                <a:solidFill>
                  <a:srgbClr val="FFFFFF"/>
                </a:solidFill>
                <a:latin typeface="Arial"/>
                <a:cs typeface="Arial"/>
              </a:rPr>
              <a:t>3%</a:t>
            </a:r>
            <a:endParaRPr sz="700">
              <a:latin typeface="Arial"/>
              <a:cs typeface="Arial"/>
            </a:endParaRPr>
          </a:p>
        </p:txBody>
      </p:sp>
      <p:sp>
        <p:nvSpPr>
          <p:cNvPr id="40" name="object 41">
            <a:extLst>
              <a:ext uri="{FF2B5EF4-FFF2-40B4-BE49-F238E27FC236}">
                <a16:creationId xmlns:a16="http://schemas.microsoft.com/office/drawing/2014/main" id="{7067A3CA-2D30-217C-3327-BE2D37B78C8C}"/>
              </a:ext>
            </a:extLst>
          </p:cNvPr>
          <p:cNvSpPr/>
          <p:nvPr/>
        </p:nvSpPr>
        <p:spPr>
          <a:xfrm>
            <a:off x="1061014" y="5426482"/>
            <a:ext cx="45085" cy="45085"/>
          </a:xfrm>
          <a:custGeom>
            <a:avLst/>
            <a:gdLst/>
            <a:ahLst/>
            <a:cxnLst/>
            <a:rect l="l" t="t" r="r" b="b"/>
            <a:pathLst>
              <a:path w="45084" h="45085">
                <a:moveTo>
                  <a:pt x="44692" y="0"/>
                </a:moveTo>
                <a:lnTo>
                  <a:pt x="0" y="0"/>
                </a:lnTo>
                <a:lnTo>
                  <a:pt x="0" y="44691"/>
                </a:lnTo>
                <a:lnTo>
                  <a:pt x="44692" y="44691"/>
                </a:lnTo>
                <a:lnTo>
                  <a:pt x="44692" y="0"/>
                </a:lnTo>
                <a:close/>
              </a:path>
            </a:pathLst>
          </a:custGeom>
          <a:solidFill>
            <a:srgbClr val="12426B"/>
          </a:solidFill>
        </p:spPr>
        <p:txBody>
          <a:bodyPr wrap="square" lIns="0" tIns="0" rIns="0" bIns="0" rtlCol="0"/>
          <a:lstStyle/>
          <a:p>
            <a:endParaRPr/>
          </a:p>
        </p:txBody>
      </p:sp>
      <p:sp>
        <p:nvSpPr>
          <p:cNvPr id="41" name="object 42">
            <a:extLst>
              <a:ext uri="{FF2B5EF4-FFF2-40B4-BE49-F238E27FC236}">
                <a16:creationId xmlns:a16="http://schemas.microsoft.com/office/drawing/2014/main" id="{5BEBDAA3-7DAC-BD02-819E-4E2CF9F1EB89}"/>
              </a:ext>
            </a:extLst>
          </p:cNvPr>
          <p:cNvSpPr/>
          <p:nvPr/>
        </p:nvSpPr>
        <p:spPr>
          <a:xfrm>
            <a:off x="1061014" y="5426482"/>
            <a:ext cx="45085" cy="45085"/>
          </a:xfrm>
          <a:custGeom>
            <a:avLst/>
            <a:gdLst/>
            <a:ahLst/>
            <a:cxnLst/>
            <a:rect l="l" t="t" r="r" b="b"/>
            <a:pathLst>
              <a:path w="45084" h="45085">
                <a:moveTo>
                  <a:pt x="0" y="44691"/>
                </a:moveTo>
                <a:lnTo>
                  <a:pt x="44692" y="44691"/>
                </a:lnTo>
                <a:lnTo>
                  <a:pt x="44692" y="0"/>
                </a:lnTo>
                <a:lnTo>
                  <a:pt x="0" y="0"/>
                </a:lnTo>
                <a:lnTo>
                  <a:pt x="0" y="44691"/>
                </a:lnTo>
                <a:close/>
              </a:path>
            </a:pathLst>
          </a:custGeom>
          <a:ln w="19050">
            <a:solidFill>
              <a:srgbClr val="FFFFFF"/>
            </a:solidFill>
          </a:ln>
        </p:spPr>
        <p:txBody>
          <a:bodyPr wrap="square" lIns="0" tIns="0" rIns="0" bIns="0" rtlCol="0"/>
          <a:lstStyle/>
          <a:p>
            <a:endParaRPr/>
          </a:p>
        </p:txBody>
      </p:sp>
      <p:sp>
        <p:nvSpPr>
          <p:cNvPr id="42" name="object 43">
            <a:extLst>
              <a:ext uri="{FF2B5EF4-FFF2-40B4-BE49-F238E27FC236}">
                <a16:creationId xmlns:a16="http://schemas.microsoft.com/office/drawing/2014/main" id="{690F966C-7741-754F-491F-8CFE681C5A74}"/>
              </a:ext>
            </a:extLst>
          </p:cNvPr>
          <p:cNvSpPr/>
          <p:nvPr/>
        </p:nvSpPr>
        <p:spPr>
          <a:xfrm>
            <a:off x="1404434" y="5426482"/>
            <a:ext cx="45085" cy="45085"/>
          </a:xfrm>
          <a:custGeom>
            <a:avLst/>
            <a:gdLst/>
            <a:ahLst/>
            <a:cxnLst/>
            <a:rect l="l" t="t" r="r" b="b"/>
            <a:pathLst>
              <a:path w="45084" h="45085">
                <a:moveTo>
                  <a:pt x="44692" y="0"/>
                </a:moveTo>
                <a:lnTo>
                  <a:pt x="0" y="0"/>
                </a:lnTo>
                <a:lnTo>
                  <a:pt x="0" y="44691"/>
                </a:lnTo>
                <a:lnTo>
                  <a:pt x="44692" y="44691"/>
                </a:lnTo>
                <a:lnTo>
                  <a:pt x="44692" y="0"/>
                </a:lnTo>
                <a:close/>
              </a:path>
            </a:pathLst>
          </a:custGeom>
          <a:solidFill>
            <a:srgbClr val="24C9D2"/>
          </a:solidFill>
        </p:spPr>
        <p:txBody>
          <a:bodyPr wrap="square" lIns="0" tIns="0" rIns="0" bIns="0" rtlCol="0"/>
          <a:lstStyle/>
          <a:p>
            <a:endParaRPr/>
          </a:p>
        </p:txBody>
      </p:sp>
      <p:sp>
        <p:nvSpPr>
          <p:cNvPr id="43" name="object 44">
            <a:extLst>
              <a:ext uri="{FF2B5EF4-FFF2-40B4-BE49-F238E27FC236}">
                <a16:creationId xmlns:a16="http://schemas.microsoft.com/office/drawing/2014/main" id="{AB400D41-9802-93B4-E1B5-FAA40803B2CC}"/>
              </a:ext>
            </a:extLst>
          </p:cNvPr>
          <p:cNvSpPr/>
          <p:nvPr/>
        </p:nvSpPr>
        <p:spPr>
          <a:xfrm>
            <a:off x="1404434" y="5426482"/>
            <a:ext cx="45085" cy="45085"/>
          </a:xfrm>
          <a:custGeom>
            <a:avLst/>
            <a:gdLst/>
            <a:ahLst/>
            <a:cxnLst/>
            <a:rect l="l" t="t" r="r" b="b"/>
            <a:pathLst>
              <a:path w="45084" h="45085">
                <a:moveTo>
                  <a:pt x="0" y="44691"/>
                </a:moveTo>
                <a:lnTo>
                  <a:pt x="44692" y="44691"/>
                </a:lnTo>
                <a:lnTo>
                  <a:pt x="44692" y="0"/>
                </a:lnTo>
                <a:lnTo>
                  <a:pt x="0" y="0"/>
                </a:lnTo>
                <a:lnTo>
                  <a:pt x="0" y="44691"/>
                </a:lnTo>
                <a:close/>
              </a:path>
            </a:pathLst>
          </a:custGeom>
          <a:ln w="19050">
            <a:solidFill>
              <a:srgbClr val="FFFFFF"/>
            </a:solidFill>
          </a:ln>
        </p:spPr>
        <p:txBody>
          <a:bodyPr wrap="square" lIns="0" tIns="0" rIns="0" bIns="0" rtlCol="0"/>
          <a:lstStyle/>
          <a:p>
            <a:endParaRPr/>
          </a:p>
        </p:txBody>
      </p:sp>
      <p:sp>
        <p:nvSpPr>
          <p:cNvPr id="44" name="object 45">
            <a:extLst>
              <a:ext uri="{FF2B5EF4-FFF2-40B4-BE49-F238E27FC236}">
                <a16:creationId xmlns:a16="http://schemas.microsoft.com/office/drawing/2014/main" id="{81A7ADEF-77A0-17AB-7185-91C92C0148DA}"/>
              </a:ext>
            </a:extLst>
          </p:cNvPr>
          <p:cNvSpPr/>
          <p:nvPr/>
        </p:nvSpPr>
        <p:spPr>
          <a:xfrm>
            <a:off x="1975426" y="5426482"/>
            <a:ext cx="45085" cy="45085"/>
          </a:xfrm>
          <a:custGeom>
            <a:avLst/>
            <a:gdLst/>
            <a:ahLst/>
            <a:cxnLst/>
            <a:rect l="l" t="t" r="r" b="b"/>
            <a:pathLst>
              <a:path w="45085" h="45085">
                <a:moveTo>
                  <a:pt x="44692" y="0"/>
                </a:moveTo>
                <a:lnTo>
                  <a:pt x="0" y="0"/>
                </a:lnTo>
                <a:lnTo>
                  <a:pt x="0" y="44691"/>
                </a:lnTo>
                <a:lnTo>
                  <a:pt x="44692" y="44691"/>
                </a:lnTo>
                <a:lnTo>
                  <a:pt x="44692" y="0"/>
                </a:lnTo>
                <a:close/>
              </a:path>
            </a:pathLst>
          </a:custGeom>
          <a:solidFill>
            <a:srgbClr val="FFB81C"/>
          </a:solidFill>
        </p:spPr>
        <p:txBody>
          <a:bodyPr wrap="square" lIns="0" tIns="0" rIns="0" bIns="0" rtlCol="0"/>
          <a:lstStyle/>
          <a:p>
            <a:endParaRPr/>
          </a:p>
        </p:txBody>
      </p:sp>
      <p:sp>
        <p:nvSpPr>
          <p:cNvPr id="45" name="object 46">
            <a:extLst>
              <a:ext uri="{FF2B5EF4-FFF2-40B4-BE49-F238E27FC236}">
                <a16:creationId xmlns:a16="http://schemas.microsoft.com/office/drawing/2014/main" id="{8A8F41F1-A131-95FB-F191-C7BD3359F046}"/>
              </a:ext>
            </a:extLst>
          </p:cNvPr>
          <p:cNvSpPr/>
          <p:nvPr/>
        </p:nvSpPr>
        <p:spPr>
          <a:xfrm>
            <a:off x="1975426" y="5426482"/>
            <a:ext cx="45085" cy="45085"/>
          </a:xfrm>
          <a:custGeom>
            <a:avLst/>
            <a:gdLst/>
            <a:ahLst/>
            <a:cxnLst/>
            <a:rect l="l" t="t" r="r" b="b"/>
            <a:pathLst>
              <a:path w="45085" h="45085">
                <a:moveTo>
                  <a:pt x="0" y="44691"/>
                </a:moveTo>
                <a:lnTo>
                  <a:pt x="44692" y="44691"/>
                </a:lnTo>
                <a:lnTo>
                  <a:pt x="44692" y="0"/>
                </a:lnTo>
                <a:lnTo>
                  <a:pt x="0" y="0"/>
                </a:lnTo>
                <a:lnTo>
                  <a:pt x="0" y="44691"/>
                </a:lnTo>
                <a:close/>
              </a:path>
            </a:pathLst>
          </a:custGeom>
          <a:ln w="19050">
            <a:solidFill>
              <a:srgbClr val="FFFFFF"/>
            </a:solidFill>
          </a:ln>
        </p:spPr>
        <p:txBody>
          <a:bodyPr wrap="square" lIns="0" tIns="0" rIns="0" bIns="0" rtlCol="0"/>
          <a:lstStyle/>
          <a:p>
            <a:endParaRPr/>
          </a:p>
        </p:txBody>
      </p:sp>
      <p:sp>
        <p:nvSpPr>
          <p:cNvPr id="46" name="object 47">
            <a:extLst>
              <a:ext uri="{FF2B5EF4-FFF2-40B4-BE49-F238E27FC236}">
                <a16:creationId xmlns:a16="http://schemas.microsoft.com/office/drawing/2014/main" id="{E81718B4-2A4C-B038-90D3-F35053CEFAF9}"/>
              </a:ext>
            </a:extLst>
          </p:cNvPr>
          <p:cNvSpPr txBox="1"/>
          <p:nvPr/>
        </p:nvSpPr>
        <p:spPr>
          <a:xfrm>
            <a:off x="1110658" y="5377738"/>
            <a:ext cx="1345565" cy="227626"/>
          </a:xfrm>
          <a:prstGeom prst="rect">
            <a:avLst/>
          </a:prstGeom>
        </p:spPr>
        <p:txBody>
          <a:bodyPr vert="horz" wrap="square" lIns="0" tIns="12065" rIns="0" bIns="0" rtlCol="0">
            <a:spAutoFit/>
          </a:bodyPr>
          <a:lstStyle/>
          <a:p>
            <a:pPr marL="12700">
              <a:spcBef>
                <a:spcPts val="95"/>
              </a:spcBef>
              <a:tabLst>
                <a:tab pos="355600" algn="l"/>
                <a:tab pos="927100" algn="l"/>
              </a:tabLst>
            </a:pPr>
            <a:r>
              <a:rPr sz="700" spc="-25">
                <a:solidFill>
                  <a:srgbClr val="585858"/>
                </a:solidFill>
                <a:latin typeface="Arial"/>
                <a:cs typeface="Arial"/>
              </a:rPr>
              <a:t>TMT</a:t>
            </a:r>
            <a:r>
              <a:rPr sz="700">
                <a:solidFill>
                  <a:srgbClr val="585858"/>
                </a:solidFill>
                <a:latin typeface="Arial"/>
                <a:cs typeface="Arial"/>
              </a:rPr>
              <a:t>	</a:t>
            </a:r>
            <a:r>
              <a:rPr sz="700" spc="-10">
                <a:solidFill>
                  <a:srgbClr val="585858"/>
                </a:solidFill>
                <a:latin typeface="Arial"/>
                <a:cs typeface="Arial"/>
              </a:rPr>
              <a:t>Consumer</a:t>
            </a:r>
            <a:r>
              <a:rPr sz="700">
                <a:solidFill>
                  <a:srgbClr val="585858"/>
                </a:solidFill>
                <a:latin typeface="Arial"/>
                <a:cs typeface="Arial"/>
              </a:rPr>
              <a:t>	</a:t>
            </a:r>
            <a:r>
              <a:rPr sz="700" spc="-10">
                <a:solidFill>
                  <a:srgbClr val="585858"/>
                </a:solidFill>
                <a:latin typeface="Arial"/>
                <a:cs typeface="Arial"/>
              </a:rPr>
              <a:t>Industrials</a:t>
            </a:r>
            <a:endParaRPr sz="700">
              <a:latin typeface="Arial"/>
              <a:cs typeface="Arial"/>
            </a:endParaRPr>
          </a:p>
        </p:txBody>
      </p:sp>
      <p:sp>
        <p:nvSpPr>
          <p:cNvPr id="48" name="object 49">
            <a:extLst>
              <a:ext uri="{FF2B5EF4-FFF2-40B4-BE49-F238E27FC236}">
                <a16:creationId xmlns:a16="http://schemas.microsoft.com/office/drawing/2014/main" id="{4524765A-32AF-3E0F-5314-06FE001B1187}"/>
              </a:ext>
            </a:extLst>
          </p:cNvPr>
          <p:cNvSpPr/>
          <p:nvPr/>
        </p:nvSpPr>
        <p:spPr>
          <a:xfrm>
            <a:off x="2541465" y="5426482"/>
            <a:ext cx="45085" cy="45085"/>
          </a:xfrm>
          <a:custGeom>
            <a:avLst/>
            <a:gdLst/>
            <a:ahLst/>
            <a:cxnLst/>
            <a:rect l="l" t="t" r="r" b="b"/>
            <a:pathLst>
              <a:path w="45085" h="45085">
                <a:moveTo>
                  <a:pt x="44692" y="0"/>
                </a:moveTo>
                <a:lnTo>
                  <a:pt x="0" y="0"/>
                </a:lnTo>
                <a:lnTo>
                  <a:pt x="0" y="44691"/>
                </a:lnTo>
                <a:lnTo>
                  <a:pt x="44692" y="44691"/>
                </a:lnTo>
                <a:lnTo>
                  <a:pt x="44692" y="0"/>
                </a:lnTo>
                <a:close/>
              </a:path>
            </a:pathLst>
          </a:custGeom>
          <a:solidFill>
            <a:srgbClr val="41748D"/>
          </a:solidFill>
        </p:spPr>
        <p:txBody>
          <a:bodyPr wrap="square" lIns="0" tIns="0" rIns="0" bIns="0" rtlCol="0"/>
          <a:lstStyle/>
          <a:p>
            <a:endParaRPr/>
          </a:p>
        </p:txBody>
      </p:sp>
      <p:sp>
        <p:nvSpPr>
          <p:cNvPr id="49" name="object 50">
            <a:extLst>
              <a:ext uri="{FF2B5EF4-FFF2-40B4-BE49-F238E27FC236}">
                <a16:creationId xmlns:a16="http://schemas.microsoft.com/office/drawing/2014/main" id="{E0A90A1F-C56E-73B1-17AF-CC9CCF4E8E9C}"/>
              </a:ext>
            </a:extLst>
          </p:cNvPr>
          <p:cNvSpPr/>
          <p:nvPr/>
        </p:nvSpPr>
        <p:spPr>
          <a:xfrm>
            <a:off x="2541465" y="5426482"/>
            <a:ext cx="45085" cy="45085"/>
          </a:xfrm>
          <a:custGeom>
            <a:avLst/>
            <a:gdLst/>
            <a:ahLst/>
            <a:cxnLst/>
            <a:rect l="l" t="t" r="r" b="b"/>
            <a:pathLst>
              <a:path w="45085" h="45085">
                <a:moveTo>
                  <a:pt x="0" y="44691"/>
                </a:moveTo>
                <a:lnTo>
                  <a:pt x="44692" y="44691"/>
                </a:lnTo>
                <a:lnTo>
                  <a:pt x="44692" y="0"/>
                </a:lnTo>
                <a:lnTo>
                  <a:pt x="0" y="0"/>
                </a:lnTo>
                <a:lnTo>
                  <a:pt x="0" y="44691"/>
                </a:lnTo>
                <a:close/>
              </a:path>
            </a:pathLst>
          </a:custGeom>
          <a:ln w="19050">
            <a:solidFill>
              <a:srgbClr val="FFFFFF"/>
            </a:solidFill>
          </a:ln>
        </p:spPr>
        <p:txBody>
          <a:bodyPr wrap="square" lIns="0" tIns="0" rIns="0" bIns="0" rtlCol="0"/>
          <a:lstStyle/>
          <a:p>
            <a:endParaRPr/>
          </a:p>
        </p:txBody>
      </p:sp>
      <p:sp>
        <p:nvSpPr>
          <p:cNvPr id="50" name="object 51">
            <a:extLst>
              <a:ext uri="{FF2B5EF4-FFF2-40B4-BE49-F238E27FC236}">
                <a16:creationId xmlns:a16="http://schemas.microsoft.com/office/drawing/2014/main" id="{3C0BBC56-7F06-FEEF-BB1C-70549FF7F343}"/>
              </a:ext>
            </a:extLst>
          </p:cNvPr>
          <p:cNvSpPr txBox="1"/>
          <p:nvPr/>
        </p:nvSpPr>
        <p:spPr>
          <a:xfrm>
            <a:off x="2591376" y="5377739"/>
            <a:ext cx="455930" cy="119905"/>
          </a:xfrm>
          <a:prstGeom prst="rect">
            <a:avLst/>
          </a:prstGeom>
        </p:spPr>
        <p:txBody>
          <a:bodyPr vert="horz" wrap="square" lIns="0" tIns="12065" rIns="0" bIns="0" rtlCol="0">
            <a:spAutoFit/>
          </a:bodyPr>
          <a:lstStyle/>
          <a:p>
            <a:pPr marL="12700">
              <a:spcBef>
                <a:spcPts val="95"/>
              </a:spcBef>
            </a:pPr>
            <a:r>
              <a:rPr sz="700" spc="-10">
                <a:solidFill>
                  <a:srgbClr val="585858"/>
                </a:solidFill>
                <a:latin typeface="Arial"/>
                <a:cs typeface="Arial"/>
              </a:rPr>
              <a:t>Healthcare</a:t>
            </a:r>
            <a:endParaRPr sz="700">
              <a:latin typeface="Arial"/>
              <a:cs typeface="Arial"/>
            </a:endParaRPr>
          </a:p>
        </p:txBody>
      </p:sp>
      <p:sp>
        <p:nvSpPr>
          <p:cNvPr id="52" name="object 53">
            <a:extLst>
              <a:ext uri="{FF2B5EF4-FFF2-40B4-BE49-F238E27FC236}">
                <a16:creationId xmlns:a16="http://schemas.microsoft.com/office/drawing/2014/main" id="{47AD7E4E-7EF0-1AB1-EC21-AF7AFBC55372}"/>
              </a:ext>
            </a:extLst>
          </p:cNvPr>
          <p:cNvSpPr/>
          <p:nvPr/>
        </p:nvSpPr>
        <p:spPr>
          <a:xfrm>
            <a:off x="2796355" y="4223437"/>
            <a:ext cx="561340" cy="1018540"/>
          </a:xfrm>
          <a:custGeom>
            <a:avLst/>
            <a:gdLst/>
            <a:ahLst/>
            <a:cxnLst/>
            <a:rect l="l" t="t" r="r" b="b"/>
            <a:pathLst>
              <a:path w="561339" h="1018539">
                <a:moveTo>
                  <a:pt x="0" y="0"/>
                </a:moveTo>
                <a:lnTo>
                  <a:pt x="0" y="560984"/>
                </a:lnTo>
                <a:lnTo>
                  <a:pt x="324993" y="1018197"/>
                </a:lnTo>
                <a:lnTo>
                  <a:pt x="363865" y="987922"/>
                </a:lnTo>
                <a:lnTo>
                  <a:pt x="399628" y="954661"/>
                </a:lnTo>
                <a:lnTo>
                  <a:pt x="432156" y="918656"/>
                </a:lnTo>
                <a:lnTo>
                  <a:pt x="461325" y="880150"/>
                </a:lnTo>
                <a:lnTo>
                  <a:pt x="487010" y="839385"/>
                </a:lnTo>
                <a:lnTo>
                  <a:pt x="509085" y="796605"/>
                </a:lnTo>
                <a:lnTo>
                  <a:pt x="527427" y="752054"/>
                </a:lnTo>
                <a:lnTo>
                  <a:pt x="541910" y="705973"/>
                </a:lnTo>
                <a:lnTo>
                  <a:pt x="552409" y="658605"/>
                </a:lnTo>
                <a:lnTo>
                  <a:pt x="558800" y="610195"/>
                </a:lnTo>
                <a:lnTo>
                  <a:pt x="560959" y="560984"/>
                </a:lnTo>
                <a:lnTo>
                  <a:pt x="558899" y="512586"/>
                </a:lnTo>
                <a:lnTo>
                  <a:pt x="552833" y="465331"/>
                </a:lnTo>
                <a:lnTo>
                  <a:pt x="542929" y="419386"/>
                </a:lnTo>
                <a:lnTo>
                  <a:pt x="529355" y="374920"/>
                </a:lnTo>
                <a:lnTo>
                  <a:pt x="512280" y="332101"/>
                </a:lnTo>
                <a:lnTo>
                  <a:pt x="491873" y="291099"/>
                </a:lnTo>
                <a:lnTo>
                  <a:pt x="468301" y="252081"/>
                </a:lnTo>
                <a:lnTo>
                  <a:pt x="441734" y="215216"/>
                </a:lnTo>
                <a:lnTo>
                  <a:pt x="412341" y="180673"/>
                </a:lnTo>
                <a:lnTo>
                  <a:pt x="380289" y="148620"/>
                </a:lnTo>
                <a:lnTo>
                  <a:pt x="345747" y="119225"/>
                </a:lnTo>
                <a:lnTo>
                  <a:pt x="308883" y="92658"/>
                </a:lnTo>
                <a:lnTo>
                  <a:pt x="269867" y="69086"/>
                </a:lnTo>
                <a:lnTo>
                  <a:pt x="228867" y="48679"/>
                </a:lnTo>
                <a:lnTo>
                  <a:pt x="186051" y="31603"/>
                </a:lnTo>
                <a:lnTo>
                  <a:pt x="141587" y="18029"/>
                </a:lnTo>
                <a:lnTo>
                  <a:pt x="95645" y="8125"/>
                </a:lnTo>
                <a:lnTo>
                  <a:pt x="48393" y="2059"/>
                </a:lnTo>
                <a:lnTo>
                  <a:pt x="0" y="0"/>
                </a:lnTo>
                <a:close/>
              </a:path>
            </a:pathLst>
          </a:custGeom>
          <a:solidFill>
            <a:srgbClr val="12426B"/>
          </a:solidFill>
        </p:spPr>
        <p:txBody>
          <a:bodyPr wrap="square" lIns="0" tIns="0" rIns="0" bIns="0" rtlCol="0"/>
          <a:lstStyle/>
          <a:p>
            <a:endParaRPr/>
          </a:p>
        </p:txBody>
      </p:sp>
      <p:sp>
        <p:nvSpPr>
          <p:cNvPr id="53" name="object 54">
            <a:extLst>
              <a:ext uri="{FF2B5EF4-FFF2-40B4-BE49-F238E27FC236}">
                <a16:creationId xmlns:a16="http://schemas.microsoft.com/office/drawing/2014/main" id="{E80949A4-8A4C-CB01-EC04-4D04187196C1}"/>
              </a:ext>
            </a:extLst>
          </p:cNvPr>
          <p:cNvSpPr/>
          <p:nvPr/>
        </p:nvSpPr>
        <p:spPr>
          <a:xfrm>
            <a:off x="2796355" y="4223437"/>
            <a:ext cx="561340" cy="1018540"/>
          </a:xfrm>
          <a:custGeom>
            <a:avLst/>
            <a:gdLst/>
            <a:ahLst/>
            <a:cxnLst/>
            <a:rect l="l" t="t" r="r" b="b"/>
            <a:pathLst>
              <a:path w="561339" h="1018539">
                <a:moveTo>
                  <a:pt x="0" y="0"/>
                </a:moveTo>
                <a:lnTo>
                  <a:pt x="48393" y="2059"/>
                </a:lnTo>
                <a:lnTo>
                  <a:pt x="95645" y="8125"/>
                </a:lnTo>
                <a:lnTo>
                  <a:pt x="141587" y="18029"/>
                </a:lnTo>
                <a:lnTo>
                  <a:pt x="186051" y="31603"/>
                </a:lnTo>
                <a:lnTo>
                  <a:pt x="228867" y="48679"/>
                </a:lnTo>
                <a:lnTo>
                  <a:pt x="269867" y="69086"/>
                </a:lnTo>
                <a:lnTo>
                  <a:pt x="308883" y="92658"/>
                </a:lnTo>
                <a:lnTo>
                  <a:pt x="345747" y="119225"/>
                </a:lnTo>
                <a:lnTo>
                  <a:pt x="380289" y="148620"/>
                </a:lnTo>
                <a:lnTo>
                  <a:pt x="412341" y="180673"/>
                </a:lnTo>
                <a:lnTo>
                  <a:pt x="441734" y="215216"/>
                </a:lnTo>
                <a:lnTo>
                  <a:pt x="468301" y="252081"/>
                </a:lnTo>
                <a:lnTo>
                  <a:pt x="491873" y="291099"/>
                </a:lnTo>
                <a:lnTo>
                  <a:pt x="512280" y="332101"/>
                </a:lnTo>
                <a:lnTo>
                  <a:pt x="529355" y="374920"/>
                </a:lnTo>
                <a:lnTo>
                  <a:pt x="542929" y="419386"/>
                </a:lnTo>
                <a:lnTo>
                  <a:pt x="552833" y="465331"/>
                </a:lnTo>
                <a:lnTo>
                  <a:pt x="558899" y="512586"/>
                </a:lnTo>
                <a:lnTo>
                  <a:pt x="560959" y="560984"/>
                </a:lnTo>
                <a:lnTo>
                  <a:pt x="558800" y="610195"/>
                </a:lnTo>
                <a:lnTo>
                  <a:pt x="552409" y="658605"/>
                </a:lnTo>
                <a:lnTo>
                  <a:pt x="541910" y="705973"/>
                </a:lnTo>
                <a:lnTo>
                  <a:pt x="527427" y="752054"/>
                </a:lnTo>
                <a:lnTo>
                  <a:pt x="509085" y="796605"/>
                </a:lnTo>
                <a:lnTo>
                  <a:pt x="487010" y="839385"/>
                </a:lnTo>
                <a:lnTo>
                  <a:pt x="461325" y="880150"/>
                </a:lnTo>
                <a:lnTo>
                  <a:pt x="432156" y="918656"/>
                </a:lnTo>
                <a:lnTo>
                  <a:pt x="399628" y="954661"/>
                </a:lnTo>
                <a:lnTo>
                  <a:pt x="363865" y="987922"/>
                </a:lnTo>
                <a:lnTo>
                  <a:pt x="324993" y="1018197"/>
                </a:lnTo>
                <a:lnTo>
                  <a:pt x="0" y="560984"/>
                </a:lnTo>
                <a:lnTo>
                  <a:pt x="0" y="0"/>
                </a:lnTo>
                <a:close/>
              </a:path>
            </a:pathLst>
          </a:custGeom>
          <a:ln w="19049">
            <a:solidFill>
              <a:srgbClr val="FFFFFF"/>
            </a:solidFill>
          </a:ln>
        </p:spPr>
        <p:txBody>
          <a:bodyPr wrap="square" lIns="0" tIns="0" rIns="0" bIns="0" rtlCol="0"/>
          <a:lstStyle/>
          <a:p>
            <a:endParaRPr/>
          </a:p>
        </p:txBody>
      </p:sp>
      <p:sp>
        <p:nvSpPr>
          <p:cNvPr id="54" name="object 55">
            <a:extLst>
              <a:ext uri="{FF2B5EF4-FFF2-40B4-BE49-F238E27FC236}">
                <a16:creationId xmlns:a16="http://schemas.microsoft.com/office/drawing/2014/main" id="{54B3720F-98B5-905A-A8CB-1F9994387512}"/>
              </a:ext>
            </a:extLst>
          </p:cNvPr>
          <p:cNvSpPr/>
          <p:nvPr/>
        </p:nvSpPr>
        <p:spPr>
          <a:xfrm>
            <a:off x="2235576" y="4338626"/>
            <a:ext cx="885825" cy="1007110"/>
          </a:xfrm>
          <a:custGeom>
            <a:avLst/>
            <a:gdLst/>
            <a:ahLst/>
            <a:cxnLst/>
            <a:rect l="l" t="t" r="r" b="b"/>
            <a:pathLst>
              <a:path w="885825" h="1007110">
                <a:moveTo>
                  <a:pt x="220291" y="0"/>
                </a:moveTo>
                <a:lnTo>
                  <a:pt x="183907" y="30247"/>
                </a:lnTo>
                <a:lnTo>
                  <a:pt x="150694" y="62890"/>
                </a:lnTo>
                <a:lnTo>
                  <a:pt x="120686" y="97710"/>
                </a:lnTo>
                <a:lnTo>
                  <a:pt x="93917" y="134484"/>
                </a:lnTo>
                <a:lnTo>
                  <a:pt x="70420" y="172993"/>
                </a:lnTo>
                <a:lnTo>
                  <a:pt x="50227" y="213017"/>
                </a:lnTo>
                <a:lnTo>
                  <a:pt x="33373" y="254335"/>
                </a:lnTo>
                <a:lnTo>
                  <a:pt x="19889" y="296726"/>
                </a:lnTo>
                <a:lnTo>
                  <a:pt x="9811" y="339971"/>
                </a:lnTo>
                <a:lnTo>
                  <a:pt x="3170" y="383849"/>
                </a:lnTo>
                <a:lnTo>
                  <a:pt x="0" y="428140"/>
                </a:lnTo>
                <a:lnTo>
                  <a:pt x="334" y="472623"/>
                </a:lnTo>
                <a:lnTo>
                  <a:pt x="4205" y="517078"/>
                </a:lnTo>
                <a:lnTo>
                  <a:pt x="11647" y="561284"/>
                </a:lnTo>
                <a:lnTo>
                  <a:pt x="22693" y="605022"/>
                </a:lnTo>
                <a:lnTo>
                  <a:pt x="37376" y="648070"/>
                </a:lnTo>
                <a:lnTo>
                  <a:pt x="55729" y="690209"/>
                </a:lnTo>
                <a:lnTo>
                  <a:pt x="77785" y="731218"/>
                </a:lnTo>
                <a:lnTo>
                  <a:pt x="103578" y="770877"/>
                </a:lnTo>
                <a:lnTo>
                  <a:pt x="133293" y="809132"/>
                </a:lnTo>
                <a:lnTo>
                  <a:pt x="165612" y="844134"/>
                </a:lnTo>
                <a:lnTo>
                  <a:pt x="200300" y="875844"/>
                </a:lnTo>
                <a:lnTo>
                  <a:pt x="237122" y="904220"/>
                </a:lnTo>
                <a:lnTo>
                  <a:pt x="275843" y="929225"/>
                </a:lnTo>
                <a:lnTo>
                  <a:pt x="316228" y="950818"/>
                </a:lnTo>
                <a:lnTo>
                  <a:pt x="358043" y="968960"/>
                </a:lnTo>
                <a:lnTo>
                  <a:pt x="401052" y="983610"/>
                </a:lnTo>
                <a:lnTo>
                  <a:pt x="445020" y="994730"/>
                </a:lnTo>
                <a:lnTo>
                  <a:pt x="489713" y="1002279"/>
                </a:lnTo>
                <a:lnTo>
                  <a:pt x="534895" y="1006218"/>
                </a:lnTo>
                <a:lnTo>
                  <a:pt x="580331" y="1006507"/>
                </a:lnTo>
                <a:lnTo>
                  <a:pt x="625787" y="1003107"/>
                </a:lnTo>
                <a:lnTo>
                  <a:pt x="671027" y="995978"/>
                </a:lnTo>
                <a:lnTo>
                  <a:pt x="715817" y="985080"/>
                </a:lnTo>
                <a:lnTo>
                  <a:pt x="759921" y="970374"/>
                </a:lnTo>
                <a:lnTo>
                  <a:pt x="803105" y="951819"/>
                </a:lnTo>
                <a:lnTo>
                  <a:pt x="845133" y="929377"/>
                </a:lnTo>
                <a:lnTo>
                  <a:pt x="885771" y="903008"/>
                </a:lnTo>
                <a:lnTo>
                  <a:pt x="560778" y="445795"/>
                </a:lnTo>
                <a:lnTo>
                  <a:pt x="220291" y="0"/>
                </a:lnTo>
                <a:close/>
              </a:path>
            </a:pathLst>
          </a:custGeom>
          <a:solidFill>
            <a:srgbClr val="24C9D2"/>
          </a:solidFill>
        </p:spPr>
        <p:txBody>
          <a:bodyPr wrap="square" lIns="0" tIns="0" rIns="0" bIns="0" rtlCol="0"/>
          <a:lstStyle/>
          <a:p>
            <a:endParaRPr/>
          </a:p>
        </p:txBody>
      </p:sp>
      <p:sp>
        <p:nvSpPr>
          <p:cNvPr id="55" name="object 56">
            <a:extLst>
              <a:ext uri="{FF2B5EF4-FFF2-40B4-BE49-F238E27FC236}">
                <a16:creationId xmlns:a16="http://schemas.microsoft.com/office/drawing/2014/main" id="{353F64DB-B077-A14D-DE73-AF010451CFEB}"/>
              </a:ext>
            </a:extLst>
          </p:cNvPr>
          <p:cNvSpPr/>
          <p:nvPr/>
        </p:nvSpPr>
        <p:spPr>
          <a:xfrm>
            <a:off x="2235576" y="4338626"/>
            <a:ext cx="885825" cy="1007110"/>
          </a:xfrm>
          <a:custGeom>
            <a:avLst/>
            <a:gdLst/>
            <a:ahLst/>
            <a:cxnLst/>
            <a:rect l="l" t="t" r="r" b="b"/>
            <a:pathLst>
              <a:path w="885825" h="1007110">
                <a:moveTo>
                  <a:pt x="885771" y="903008"/>
                </a:moveTo>
                <a:lnTo>
                  <a:pt x="845133" y="929377"/>
                </a:lnTo>
                <a:lnTo>
                  <a:pt x="803105" y="951819"/>
                </a:lnTo>
                <a:lnTo>
                  <a:pt x="759921" y="970374"/>
                </a:lnTo>
                <a:lnTo>
                  <a:pt x="715817" y="985080"/>
                </a:lnTo>
                <a:lnTo>
                  <a:pt x="671027" y="995978"/>
                </a:lnTo>
                <a:lnTo>
                  <a:pt x="625787" y="1003107"/>
                </a:lnTo>
                <a:lnTo>
                  <a:pt x="580331" y="1006507"/>
                </a:lnTo>
                <a:lnTo>
                  <a:pt x="534895" y="1006218"/>
                </a:lnTo>
                <a:lnTo>
                  <a:pt x="489713" y="1002279"/>
                </a:lnTo>
                <a:lnTo>
                  <a:pt x="445020" y="994730"/>
                </a:lnTo>
                <a:lnTo>
                  <a:pt x="401052" y="983610"/>
                </a:lnTo>
                <a:lnTo>
                  <a:pt x="358043" y="968960"/>
                </a:lnTo>
                <a:lnTo>
                  <a:pt x="316228" y="950818"/>
                </a:lnTo>
                <a:lnTo>
                  <a:pt x="275843" y="929225"/>
                </a:lnTo>
                <a:lnTo>
                  <a:pt x="237122" y="904220"/>
                </a:lnTo>
                <a:lnTo>
                  <a:pt x="200300" y="875844"/>
                </a:lnTo>
                <a:lnTo>
                  <a:pt x="165612" y="844134"/>
                </a:lnTo>
                <a:lnTo>
                  <a:pt x="133293" y="809132"/>
                </a:lnTo>
                <a:lnTo>
                  <a:pt x="103578" y="770877"/>
                </a:lnTo>
                <a:lnTo>
                  <a:pt x="77785" y="731218"/>
                </a:lnTo>
                <a:lnTo>
                  <a:pt x="55729" y="690209"/>
                </a:lnTo>
                <a:lnTo>
                  <a:pt x="37376" y="648070"/>
                </a:lnTo>
                <a:lnTo>
                  <a:pt x="22693" y="605022"/>
                </a:lnTo>
                <a:lnTo>
                  <a:pt x="11647" y="561284"/>
                </a:lnTo>
                <a:lnTo>
                  <a:pt x="4205" y="517078"/>
                </a:lnTo>
                <a:lnTo>
                  <a:pt x="334" y="472623"/>
                </a:lnTo>
                <a:lnTo>
                  <a:pt x="0" y="428140"/>
                </a:lnTo>
                <a:lnTo>
                  <a:pt x="3170" y="383849"/>
                </a:lnTo>
                <a:lnTo>
                  <a:pt x="9811" y="339971"/>
                </a:lnTo>
                <a:lnTo>
                  <a:pt x="19889" y="296726"/>
                </a:lnTo>
                <a:lnTo>
                  <a:pt x="33373" y="254335"/>
                </a:lnTo>
                <a:lnTo>
                  <a:pt x="50227" y="213017"/>
                </a:lnTo>
                <a:lnTo>
                  <a:pt x="70420" y="172993"/>
                </a:lnTo>
                <a:lnTo>
                  <a:pt x="93917" y="134484"/>
                </a:lnTo>
                <a:lnTo>
                  <a:pt x="120686" y="97710"/>
                </a:lnTo>
                <a:lnTo>
                  <a:pt x="150694" y="62890"/>
                </a:lnTo>
                <a:lnTo>
                  <a:pt x="183907" y="30247"/>
                </a:lnTo>
                <a:lnTo>
                  <a:pt x="220291" y="0"/>
                </a:lnTo>
                <a:lnTo>
                  <a:pt x="560778" y="445795"/>
                </a:lnTo>
                <a:lnTo>
                  <a:pt x="885771" y="903008"/>
                </a:lnTo>
                <a:close/>
              </a:path>
            </a:pathLst>
          </a:custGeom>
          <a:ln w="19050">
            <a:solidFill>
              <a:srgbClr val="FFFFFF"/>
            </a:solidFill>
          </a:ln>
        </p:spPr>
        <p:txBody>
          <a:bodyPr wrap="square" lIns="0" tIns="0" rIns="0" bIns="0" rtlCol="0"/>
          <a:lstStyle/>
          <a:p>
            <a:endParaRPr/>
          </a:p>
        </p:txBody>
      </p:sp>
      <p:sp>
        <p:nvSpPr>
          <p:cNvPr id="56" name="object 57">
            <a:extLst>
              <a:ext uri="{FF2B5EF4-FFF2-40B4-BE49-F238E27FC236}">
                <a16:creationId xmlns:a16="http://schemas.microsoft.com/office/drawing/2014/main" id="{DFB631DA-B203-0A57-78A4-7E5F4EE350F0}"/>
              </a:ext>
            </a:extLst>
          </p:cNvPr>
          <p:cNvSpPr/>
          <p:nvPr/>
        </p:nvSpPr>
        <p:spPr>
          <a:xfrm>
            <a:off x="2455868" y="4236010"/>
            <a:ext cx="340995" cy="548640"/>
          </a:xfrm>
          <a:custGeom>
            <a:avLst/>
            <a:gdLst/>
            <a:ahLst/>
            <a:cxnLst/>
            <a:rect l="l" t="t" r="r" b="b"/>
            <a:pathLst>
              <a:path w="340994" h="548639">
                <a:moveTo>
                  <a:pt x="222503" y="0"/>
                </a:moveTo>
                <a:lnTo>
                  <a:pt x="174650" y="12476"/>
                </a:lnTo>
                <a:lnTo>
                  <a:pt x="128198" y="29098"/>
                </a:lnTo>
                <a:lnTo>
                  <a:pt x="83423" y="49743"/>
                </a:lnTo>
                <a:lnTo>
                  <a:pt x="40599" y="74289"/>
                </a:lnTo>
                <a:lnTo>
                  <a:pt x="0" y="102616"/>
                </a:lnTo>
                <a:lnTo>
                  <a:pt x="340487" y="548411"/>
                </a:lnTo>
                <a:lnTo>
                  <a:pt x="222503" y="0"/>
                </a:lnTo>
                <a:close/>
              </a:path>
            </a:pathLst>
          </a:custGeom>
          <a:solidFill>
            <a:srgbClr val="FFB81C"/>
          </a:solidFill>
        </p:spPr>
        <p:txBody>
          <a:bodyPr wrap="square" lIns="0" tIns="0" rIns="0" bIns="0" rtlCol="0"/>
          <a:lstStyle/>
          <a:p>
            <a:endParaRPr/>
          </a:p>
        </p:txBody>
      </p:sp>
      <p:sp>
        <p:nvSpPr>
          <p:cNvPr id="57" name="object 58">
            <a:extLst>
              <a:ext uri="{FF2B5EF4-FFF2-40B4-BE49-F238E27FC236}">
                <a16:creationId xmlns:a16="http://schemas.microsoft.com/office/drawing/2014/main" id="{D713E3E1-ACB1-3BF9-2357-2638C0BBBA27}"/>
              </a:ext>
            </a:extLst>
          </p:cNvPr>
          <p:cNvSpPr/>
          <p:nvPr/>
        </p:nvSpPr>
        <p:spPr>
          <a:xfrm>
            <a:off x="2455868" y="4236010"/>
            <a:ext cx="340995" cy="548640"/>
          </a:xfrm>
          <a:custGeom>
            <a:avLst/>
            <a:gdLst/>
            <a:ahLst/>
            <a:cxnLst/>
            <a:rect l="l" t="t" r="r" b="b"/>
            <a:pathLst>
              <a:path w="340994" h="548639">
                <a:moveTo>
                  <a:pt x="0" y="102616"/>
                </a:moveTo>
                <a:lnTo>
                  <a:pt x="40599" y="74289"/>
                </a:lnTo>
                <a:lnTo>
                  <a:pt x="83423" y="49743"/>
                </a:lnTo>
                <a:lnTo>
                  <a:pt x="128198" y="29098"/>
                </a:lnTo>
                <a:lnTo>
                  <a:pt x="174650" y="12476"/>
                </a:lnTo>
                <a:lnTo>
                  <a:pt x="222503" y="0"/>
                </a:lnTo>
                <a:lnTo>
                  <a:pt x="340487" y="548411"/>
                </a:lnTo>
                <a:lnTo>
                  <a:pt x="0" y="102616"/>
                </a:lnTo>
                <a:close/>
              </a:path>
            </a:pathLst>
          </a:custGeom>
          <a:ln w="19050">
            <a:solidFill>
              <a:srgbClr val="FFFFFF"/>
            </a:solidFill>
          </a:ln>
        </p:spPr>
        <p:txBody>
          <a:bodyPr wrap="square" lIns="0" tIns="0" rIns="0" bIns="0" rtlCol="0"/>
          <a:lstStyle/>
          <a:p>
            <a:endParaRPr/>
          </a:p>
        </p:txBody>
      </p:sp>
      <p:sp>
        <p:nvSpPr>
          <p:cNvPr id="58" name="object 59">
            <a:extLst>
              <a:ext uri="{FF2B5EF4-FFF2-40B4-BE49-F238E27FC236}">
                <a16:creationId xmlns:a16="http://schemas.microsoft.com/office/drawing/2014/main" id="{78A044F2-3C53-9CFC-22DB-452910203147}"/>
              </a:ext>
            </a:extLst>
          </p:cNvPr>
          <p:cNvSpPr/>
          <p:nvPr/>
        </p:nvSpPr>
        <p:spPr>
          <a:xfrm>
            <a:off x="2678372" y="4223437"/>
            <a:ext cx="118110" cy="561340"/>
          </a:xfrm>
          <a:custGeom>
            <a:avLst/>
            <a:gdLst/>
            <a:ahLst/>
            <a:cxnLst/>
            <a:rect l="l" t="t" r="r" b="b"/>
            <a:pathLst>
              <a:path w="118110" h="561339">
                <a:moveTo>
                  <a:pt x="117983" y="0"/>
                </a:moveTo>
                <a:lnTo>
                  <a:pt x="88278" y="785"/>
                </a:lnTo>
                <a:lnTo>
                  <a:pt x="58658" y="3143"/>
                </a:lnTo>
                <a:lnTo>
                  <a:pt x="29204" y="7072"/>
                </a:lnTo>
                <a:lnTo>
                  <a:pt x="0" y="12573"/>
                </a:lnTo>
                <a:lnTo>
                  <a:pt x="117983" y="560984"/>
                </a:lnTo>
                <a:lnTo>
                  <a:pt x="117983" y="0"/>
                </a:lnTo>
                <a:close/>
              </a:path>
            </a:pathLst>
          </a:custGeom>
          <a:solidFill>
            <a:srgbClr val="41748D"/>
          </a:solidFill>
        </p:spPr>
        <p:txBody>
          <a:bodyPr wrap="square" lIns="0" tIns="0" rIns="0" bIns="0" rtlCol="0"/>
          <a:lstStyle/>
          <a:p>
            <a:endParaRPr/>
          </a:p>
        </p:txBody>
      </p:sp>
      <p:sp>
        <p:nvSpPr>
          <p:cNvPr id="59" name="object 60">
            <a:extLst>
              <a:ext uri="{FF2B5EF4-FFF2-40B4-BE49-F238E27FC236}">
                <a16:creationId xmlns:a16="http://schemas.microsoft.com/office/drawing/2014/main" id="{BE53AAD7-386D-7E41-9990-2657CDB01277}"/>
              </a:ext>
            </a:extLst>
          </p:cNvPr>
          <p:cNvSpPr/>
          <p:nvPr/>
        </p:nvSpPr>
        <p:spPr>
          <a:xfrm>
            <a:off x="2678372" y="4223437"/>
            <a:ext cx="118110" cy="561340"/>
          </a:xfrm>
          <a:custGeom>
            <a:avLst/>
            <a:gdLst/>
            <a:ahLst/>
            <a:cxnLst/>
            <a:rect l="l" t="t" r="r" b="b"/>
            <a:pathLst>
              <a:path w="118110" h="561339">
                <a:moveTo>
                  <a:pt x="0" y="12573"/>
                </a:moveTo>
                <a:lnTo>
                  <a:pt x="29204" y="7072"/>
                </a:lnTo>
                <a:lnTo>
                  <a:pt x="58658" y="3143"/>
                </a:lnTo>
                <a:lnTo>
                  <a:pt x="88278" y="785"/>
                </a:lnTo>
                <a:lnTo>
                  <a:pt x="117983" y="0"/>
                </a:lnTo>
                <a:lnTo>
                  <a:pt x="117983" y="560984"/>
                </a:lnTo>
                <a:lnTo>
                  <a:pt x="0" y="12573"/>
                </a:lnTo>
                <a:close/>
              </a:path>
            </a:pathLst>
          </a:custGeom>
          <a:ln w="19050">
            <a:solidFill>
              <a:srgbClr val="FFFFFF"/>
            </a:solidFill>
          </a:ln>
        </p:spPr>
        <p:txBody>
          <a:bodyPr wrap="square" lIns="0" tIns="0" rIns="0" bIns="0" rtlCol="0"/>
          <a:lstStyle/>
          <a:p>
            <a:endParaRPr/>
          </a:p>
        </p:txBody>
      </p:sp>
      <p:sp>
        <p:nvSpPr>
          <p:cNvPr id="60" name="object 61">
            <a:extLst>
              <a:ext uri="{FF2B5EF4-FFF2-40B4-BE49-F238E27FC236}">
                <a16:creationId xmlns:a16="http://schemas.microsoft.com/office/drawing/2014/main" id="{3A5C02ED-A523-A6DC-1759-851864078E64}"/>
              </a:ext>
            </a:extLst>
          </p:cNvPr>
          <p:cNvSpPr txBox="1"/>
          <p:nvPr/>
        </p:nvSpPr>
        <p:spPr>
          <a:xfrm>
            <a:off x="3082993" y="4593514"/>
            <a:ext cx="201295" cy="119905"/>
          </a:xfrm>
          <a:prstGeom prst="rect">
            <a:avLst/>
          </a:prstGeom>
        </p:spPr>
        <p:txBody>
          <a:bodyPr vert="horz" wrap="square" lIns="0" tIns="12065" rIns="0" bIns="0" rtlCol="0">
            <a:spAutoFit/>
          </a:bodyPr>
          <a:lstStyle/>
          <a:p>
            <a:pPr marL="12700">
              <a:spcBef>
                <a:spcPts val="95"/>
              </a:spcBef>
            </a:pPr>
            <a:r>
              <a:rPr sz="700" spc="-25">
                <a:solidFill>
                  <a:srgbClr val="FFFFFF"/>
                </a:solidFill>
                <a:latin typeface="Arial"/>
                <a:cs typeface="Arial"/>
              </a:rPr>
              <a:t>40%</a:t>
            </a:r>
            <a:endParaRPr sz="700">
              <a:latin typeface="Arial"/>
              <a:cs typeface="Arial"/>
            </a:endParaRPr>
          </a:p>
        </p:txBody>
      </p:sp>
      <p:sp>
        <p:nvSpPr>
          <p:cNvPr id="61" name="object 62">
            <a:extLst>
              <a:ext uri="{FF2B5EF4-FFF2-40B4-BE49-F238E27FC236}">
                <a16:creationId xmlns:a16="http://schemas.microsoft.com/office/drawing/2014/main" id="{2E257D62-10CE-E07E-A968-6A1A7F95975C}"/>
              </a:ext>
            </a:extLst>
          </p:cNvPr>
          <p:cNvSpPr txBox="1"/>
          <p:nvPr/>
        </p:nvSpPr>
        <p:spPr>
          <a:xfrm>
            <a:off x="2355157" y="4967174"/>
            <a:ext cx="201295" cy="119905"/>
          </a:xfrm>
          <a:prstGeom prst="rect">
            <a:avLst/>
          </a:prstGeom>
        </p:spPr>
        <p:txBody>
          <a:bodyPr vert="horz" wrap="square" lIns="0" tIns="12065" rIns="0" bIns="0" rtlCol="0">
            <a:spAutoFit/>
          </a:bodyPr>
          <a:lstStyle/>
          <a:p>
            <a:pPr marL="12700">
              <a:spcBef>
                <a:spcPts val="95"/>
              </a:spcBef>
            </a:pPr>
            <a:r>
              <a:rPr sz="700" spc="-25">
                <a:latin typeface="Arial"/>
                <a:cs typeface="Arial"/>
              </a:rPr>
              <a:t>50%</a:t>
            </a:r>
            <a:endParaRPr sz="700">
              <a:latin typeface="Arial"/>
              <a:cs typeface="Arial"/>
            </a:endParaRPr>
          </a:p>
        </p:txBody>
      </p:sp>
      <p:sp>
        <p:nvSpPr>
          <p:cNvPr id="62" name="object 63">
            <a:extLst>
              <a:ext uri="{FF2B5EF4-FFF2-40B4-BE49-F238E27FC236}">
                <a16:creationId xmlns:a16="http://schemas.microsoft.com/office/drawing/2014/main" id="{B554A2FD-8DC7-55AD-2460-C7EB1DE4A2BA}"/>
              </a:ext>
            </a:extLst>
          </p:cNvPr>
          <p:cNvSpPr txBox="1"/>
          <p:nvPr/>
        </p:nvSpPr>
        <p:spPr>
          <a:xfrm>
            <a:off x="2499809" y="4257345"/>
            <a:ext cx="374015" cy="119905"/>
          </a:xfrm>
          <a:prstGeom prst="rect">
            <a:avLst/>
          </a:prstGeom>
        </p:spPr>
        <p:txBody>
          <a:bodyPr vert="horz" wrap="square" lIns="0" tIns="12065" rIns="0" bIns="0" rtlCol="0">
            <a:spAutoFit/>
          </a:bodyPr>
          <a:lstStyle/>
          <a:p>
            <a:pPr marL="38100">
              <a:spcBef>
                <a:spcPts val="95"/>
              </a:spcBef>
            </a:pPr>
            <a:r>
              <a:rPr sz="1050" baseline="-23809">
                <a:latin typeface="Arial"/>
                <a:cs typeface="Arial"/>
              </a:rPr>
              <a:t>7%</a:t>
            </a:r>
            <a:r>
              <a:rPr sz="1050" spc="187" baseline="-23809">
                <a:latin typeface="Arial"/>
                <a:cs typeface="Arial"/>
              </a:rPr>
              <a:t> </a:t>
            </a:r>
            <a:r>
              <a:rPr sz="700" spc="-25">
                <a:solidFill>
                  <a:srgbClr val="FFFFFF"/>
                </a:solidFill>
                <a:latin typeface="Arial"/>
                <a:cs typeface="Arial"/>
              </a:rPr>
              <a:t>3%</a:t>
            </a:r>
            <a:endParaRPr sz="700">
              <a:latin typeface="Arial"/>
              <a:cs typeface="Arial"/>
            </a:endParaRPr>
          </a:p>
        </p:txBody>
      </p:sp>
      <p:sp>
        <p:nvSpPr>
          <p:cNvPr id="65" name="TextBox 64">
            <a:extLst>
              <a:ext uri="{FF2B5EF4-FFF2-40B4-BE49-F238E27FC236}">
                <a16:creationId xmlns:a16="http://schemas.microsoft.com/office/drawing/2014/main" id="{85369D6C-E0EB-8531-4F60-4BF091CA9043}"/>
              </a:ext>
            </a:extLst>
          </p:cNvPr>
          <p:cNvSpPr txBox="1">
            <a:spLocks noChangeArrowheads="1"/>
          </p:cNvSpPr>
          <p:nvPr/>
        </p:nvSpPr>
        <p:spPr bwMode="auto">
          <a:xfrm>
            <a:off x="564468" y="2139901"/>
            <a:ext cx="3003842" cy="369721"/>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a:cs typeface="Arial" panose="020B0604020202020204" pitchFamily="34" charset="0"/>
              </a:rPr>
              <a:t>International Investors Are Increasingly Active and Favour Consumer and TMT Companies</a:t>
            </a:r>
          </a:p>
        </p:txBody>
      </p:sp>
      <p:sp>
        <p:nvSpPr>
          <p:cNvPr id="66" name="TextBox 65">
            <a:extLst>
              <a:ext uri="{FF2B5EF4-FFF2-40B4-BE49-F238E27FC236}">
                <a16:creationId xmlns:a16="http://schemas.microsoft.com/office/drawing/2014/main" id="{6E22B8F3-BAF0-2BCF-5C89-C29A24933BB7}"/>
              </a:ext>
            </a:extLst>
          </p:cNvPr>
          <p:cNvSpPr txBox="1">
            <a:spLocks noChangeArrowheads="1"/>
          </p:cNvSpPr>
          <p:nvPr/>
        </p:nvSpPr>
        <p:spPr bwMode="auto">
          <a:xfrm>
            <a:off x="3702216" y="2139902"/>
            <a:ext cx="5622219" cy="369332"/>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a:cs typeface="Arial" panose="020B0604020202020204" pitchFamily="34" charset="0"/>
              </a:rPr>
              <a:t>International Investors Are Among the Most Active Cornerstone Investors in</a:t>
            </a:r>
            <a:br>
              <a:rPr lang="en-US" altLang="zh-TW" sz="1000">
                <a:cs typeface="Arial" panose="020B0604020202020204" pitchFamily="34" charset="0"/>
              </a:rPr>
            </a:br>
            <a:r>
              <a:rPr lang="en-US" altLang="zh-TW" sz="1000">
                <a:cs typeface="Arial" panose="020B0604020202020204" pitchFamily="34" charset="0"/>
              </a:rPr>
              <a:t>HK IPOs</a:t>
            </a:r>
            <a:r>
              <a:rPr lang="en-US" altLang="zh-TW" sz="1000" baseline="30000">
                <a:cs typeface="Arial" panose="020B0604020202020204" pitchFamily="34" charset="0"/>
              </a:rPr>
              <a:t>1</a:t>
            </a:r>
            <a:r>
              <a:rPr lang="en-US" altLang="zh-TW" sz="1000">
                <a:cs typeface="Arial" panose="020B0604020202020204" pitchFamily="34" charset="0"/>
              </a:rPr>
              <a:t> in 2026 Q1</a:t>
            </a:r>
          </a:p>
        </p:txBody>
      </p:sp>
      <p:sp>
        <p:nvSpPr>
          <p:cNvPr id="3" name="Slide Number Placeholder 1">
            <a:extLst>
              <a:ext uri="{FF2B5EF4-FFF2-40B4-BE49-F238E27FC236}">
                <a16:creationId xmlns:a16="http://schemas.microsoft.com/office/drawing/2014/main" id="{83795836-FF78-D003-CFC5-32F1289DBBE2}"/>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16</a:t>
            </a:fld>
            <a:endParaRPr lang="en-US"/>
          </a:p>
        </p:txBody>
      </p:sp>
      <p:sp>
        <p:nvSpPr>
          <p:cNvPr id="7" name="TextBox 6">
            <a:extLst>
              <a:ext uri="{FF2B5EF4-FFF2-40B4-BE49-F238E27FC236}">
                <a16:creationId xmlns:a16="http://schemas.microsoft.com/office/drawing/2014/main" id="{F8F0D206-C841-9EC7-355F-90011603E629}"/>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Tree>
    <p:extLst>
      <p:ext uri="{BB962C8B-B14F-4D97-AF65-F5344CB8AC3E}">
        <p14:creationId xmlns:p14="http://schemas.microsoft.com/office/powerpoint/2010/main" val="731439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 name="object 87"/>
          <p:cNvGraphicFramePr>
            <a:graphicFrameLocks noGrp="1"/>
          </p:cNvGraphicFramePr>
          <p:nvPr>
            <p:extLst>
              <p:ext uri="{D42A27DB-BD31-4B8C-83A1-F6EECF244321}">
                <p14:modId xmlns:p14="http://schemas.microsoft.com/office/powerpoint/2010/main" val="2805125847"/>
              </p:ext>
            </p:extLst>
          </p:nvPr>
        </p:nvGraphicFramePr>
        <p:xfrm>
          <a:off x="4109085" y="1626811"/>
          <a:ext cx="5182869" cy="1531913"/>
        </p:xfrm>
        <a:graphic>
          <a:graphicData uri="http://schemas.openxmlformats.org/drawingml/2006/table">
            <a:tbl>
              <a:tblPr firstRow="1" bandRow="1">
                <a:tableStyleId>{2D5ABB26-0587-4C30-8999-92F81FD0307C}</a:tableStyleId>
              </a:tblPr>
              <a:tblGrid>
                <a:gridCol w="190517">
                  <a:extLst>
                    <a:ext uri="{9D8B030D-6E8A-4147-A177-3AD203B41FA5}">
                      <a16:colId xmlns:a16="http://schemas.microsoft.com/office/drawing/2014/main" val="20000"/>
                    </a:ext>
                  </a:extLst>
                </a:gridCol>
                <a:gridCol w="1610855">
                  <a:extLst>
                    <a:ext uri="{9D8B030D-6E8A-4147-A177-3AD203B41FA5}">
                      <a16:colId xmlns:a16="http://schemas.microsoft.com/office/drawing/2014/main" val="20001"/>
                    </a:ext>
                  </a:extLst>
                </a:gridCol>
                <a:gridCol w="1666848">
                  <a:extLst>
                    <a:ext uri="{9D8B030D-6E8A-4147-A177-3AD203B41FA5}">
                      <a16:colId xmlns:a16="http://schemas.microsoft.com/office/drawing/2014/main" val="20002"/>
                    </a:ext>
                  </a:extLst>
                </a:gridCol>
                <a:gridCol w="1714649">
                  <a:extLst>
                    <a:ext uri="{9D8B030D-6E8A-4147-A177-3AD203B41FA5}">
                      <a16:colId xmlns:a16="http://schemas.microsoft.com/office/drawing/2014/main" val="20003"/>
                    </a:ext>
                  </a:extLst>
                </a:gridCol>
              </a:tblGrid>
              <a:tr h="231391">
                <a:tc gridSpan="4">
                  <a:txBody>
                    <a:bodyPr/>
                    <a:lstStyle/>
                    <a:p>
                      <a:pPr marL="7620" algn="ctr">
                        <a:lnSpc>
                          <a:spcPct val="100000"/>
                        </a:lnSpc>
                        <a:spcBef>
                          <a:spcPts val="475"/>
                        </a:spcBef>
                      </a:pPr>
                      <a:endParaRPr sz="1050">
                        <a:solidFill>
                          <a:schemeClr val="tx2"/>
                        </a:solidFill>
                        <a:latin typeface="Arial"/>
                        <a:cs typeface="Arial"/>
                      </a:endParaRPr>
                    </a:p>
                  </a:txBody>
                  <a:tcPr marL="0" marR="0" marT="60325" marB="0">
                    <a:lnL w="12700" cap="flat" cmpd="sng" algn="ctr">
                      <a:solidFill>
                        <a:srgbClr val="089C8B"/>
                      </a:solidFill>
                      <a:prstDash val="solid"/>
                      <a:round/>
                      <a:headEnd type="none" w="med" len="med"/>
                      <a:tailEnd type="none" w="med" len="med"/>
                    </a:lnL>
                    <a:lnR w="12700" cap="flat" cmpd="sng" algn="ctr">
                      <a:solidFill>
                        <a:srgbClr val="089C8B"/>
                      </a:solidFill>
                      <a:prstDash val="solid"/>
                      <a:round/>
                      <a:headEnd type="none" w="med" len="med"/>
                      <a:tailEnd type="none" w="med" len="med"/>
                    </a:lnR>
                    <a:lnT w="12700" cap="flat" cmpd="sng" algn="ctr">
                      <a:solidFill>
                        <a:srgbClr val="089C8B"/>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71912">
                <a:tc>
                  <a:txBody>
                    <a:bodyPr/>
                    <a:lstStyle/>
                    <a:p>
                      <a:pPr>
                        <a:lnSpc>
                          <a:spcPts val="580"/>
                        </a:lnSpc>
                      </a:pPr>
                      <a:r>
                        <a:rPr sz="800" spc="-50">
                          <a:solidFill>
                            <a:srgbClr val="FFFFFF"/>
                          </a:solidFill>
                          <a:latin typeface="Arial"/>
                          <a:cs typeface="Arial"/>
                        </a:rPr>
                        <a:t>.</a:t>
                      </a:r>
                      <a:endParaRPr sz="800">
                        <a:latin typeface="Arial"/>
                        <a:cs typeface="Arial"/>
                      </a:endParaRPr>
                    </a:p>
                  </a:txBody>
                  <a:tcPr marL="0" marR="0" marT="0" marB="0">
                    <a:lnL w="12700" cap="flat" cmpd="sng" algn="ctr">
                      <a:solidFill>
                        <a:srgbClr val="089C8B"/>
                      </a:solidFill>
                      <a:prstDash val="solid"/>
                      <a:round/>
                      <a:headEnd type="none" w="med" len="med"/>
                      <a:tailEnd type="none" w="med" len="med"/>
                    </a:lnL>
                    <a:lnT w="9525" cap="flat" cmpd="sng" algn="ctr">
                      <a:noFill/>
                      <a:prstDash val="solid"/>
                      <a:round/>
                      <a:headEnd type="none" w="med" len="med"/>
                      <a:tailEnd type="none" w="med" len="med"/>
                    </a:lnT>
                    <a:solidFill>
                      <a:srgbClr val="FFFFFF"/>
                    </a:solidFill>
                  </a:tcPr>
                </a:tc>
                <a:tc>
                  <a:txBody>
                    <a:bodyPr/>
                    <a:lstStyle/>
                    <a:p>
                      <a:pPr>
                        <a:lnSpc>
                          <a:spcPct val="100000"/>
                        </a:lnSpc>
                      </a:pPr>
                      <a:endParaRPr sz="800">
                        <a:latin typeface="Times New Roman"/>
                        <a:cs typeface="Times New Roman"/>
                      </a:endParaRPr>
                    </a:p>
                  </a:txBody>
                  <a:tcPr marL="0" marR="0" marT="0" marB="0">
                    <a:lnT w="9525" cap="flat" cmpd="sng" algn="ctr">
                      <a:noFill/>
                      <a:prstDash val="solid"/>
                      <a:round/>
                      <a:headEnd type="none" w="med" len="med"/>
                      <a:tailEnd type="none" w="med" len="med"/>
                    </a:lnT>
                    <a:solidFill>
                      <a:srgbClr val="FFFFFF"/>
                    </a:solidFill>
                  </a:tcPr>
                </a:tc>
                <a:tc>
                  <a:txBody>
                    <a:bodyPr/>
                    <a:lstStyle/>
                    <a:p>
                      <a:pPr>
                        <a:lnSpc>
                          <a:spcPct val="100000"/>
                        </a:lnSpc>
                      </a:pPr>
                      <a:endParaRPr sz="800">
                        <a:latin typeface="Times New Roman"/>
                        <a:cs typeface="Times New Roman"/>
                      </a:endParaRPr>
                    </a:p>
                  </a:txBody>
                  <a:tcPr marL="0" marR="0" marT="0" marB="0">
                    <a:lnR>
                      <a:noFill/>
                    </a:lnR>
                    <a:lnT w="9525" cap="flat" cmpd="sng" algn="ctr">
                      <a:noFill/>
                      <a:prstDash val="solid"/>
                      <a:round/>
                      <a:headEnd type="none" w="med" len="med"/>
                      <a:tailEnd type="none" w="med" len="med"/>
                    </a:lnT>
                    <a:solidFill>
                      <a:srgbClr val="FFFFFF"/>
                    </a:solidFill>
                  </a:tcPr>
                </a:tc>
                <a:tc>
                  <a:txBody>
                    <a:bodyPr/>
                    <a:lstStyle/>
                    <a:p>
                      <a:pPr>
                        <a:lnSpc>
                          <a:spcPct val="100000"/>
                        </a:lnSpc>
                      </a:pPr>
                      <a:endParaRPr sz="800">
                        <a:latin typeface="Times New Roman"/>
                        <a:cs typeface="Times New Roman"/>
                      </a:endParaRPr>
                    </a:p>
                  </a:txBody>
                  <a:tcPr marL="0" marR="0" marT="0" marB="0">
                    <a:lnL>
                      <a:noFill/>
                    </a:lnL>
                    <a:lnR w="12700" cap="flat" cmpd="sng" algn="ctr">
                      <a:solidFill>
                        <a:srgbClr val="089C8B"/>
                      </a:solidFill>
                      <a:prstDash val="solid"/>
                      <a:round/>
                      <a:headEnd type="none" w="med" len="med"/>
                      <a:tailEnd type="none" w="med" len="med"/>
                    </a:lnR>
                    <a:lnT w="9525"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01235">
                <a:tc>
                  <a:txBody>
                    <a:bodyPr/>
                    <a:lstStyle/>
                    <a:p>
                      <a:pPr>
                        <a:lnSpc>
                          <a:spcPct val="100000"/>
                        </a:lnSpc>
                      </a:pPr>
                      <a:endParaRPr sz="800">
                        <a:latin typeface="Times New Roman"/>
                        <a:cs typeface="Times New Roman"/>
                      </a:endParaRPr>
                    </a:p>
                  </a:txBody>
                  <a:tcPr marL="0" marR="0" marT="0" marB="0">
                    <a:lnL w="12700" cap="flat" cmpd="sng" algn="ctr">
                      <a:solidFill>
                        <a:srgbClr val="089C8B"/>
                      </a:solidFill>
                      <a:prstDash val="solid"/>
                      <a:round/>
                      <a:headEnd type="none" w="med" len="med"/>
                      <a:tailEnd type="none" w="med" len="med"/>
                    </a:lnL>
                    <a:solidFill>
                      <a:srgbClr val="FFFFFF"/>
                    </a:solidFill>
                  </a:tcPr>
                </a:tc>
                <a:tc>
                  <a:txBody>
                    <a:bodyPr/>
                    <a:lstStyle/>
                    <a:p>
                      <a:pPr>
                        <a:lnSpc>
                          <a:spcPct val="100000"/>
                        </a:lnSpc>
                      </a:pPr>
                      <a:endParaRPr sz="700">
                        <a:latin typeface="Times New Roman"/>
                        <a:cs typeface="Times New Roman"/>
                      </a:endParaRPr>
                    </a:p>
                    <a:p>
                      <a:pPr>
                        <a:lnSpc>
                          <a:spcPct val="100000"/>
                        </a:lnSpc>
                        <a:spcBef>
                          <a:spcPts val="215"/>
                        </a:spcBef>
                      </a:pPr>
                      <a:endParaRPr sz="700">
                        <a:latin typeface="Times New Roman"/>
                        <a:cs typeface="Times New Roman"/>
                      </a:endParaRPr>
                    </a:p>
                    <a:p>
                      <a:pPr marR="119380" algn="ctr">
                        <a:lnSpc>
                          <a:spcPct val="100000"/>
                        </a:lnSpc>
                        <a:spcBef>
                          <a:spcPts val="5"/>
                        </a:spcBef>
                      </a:pPr>
                      <a:r>
                        <a:rPr sz="700" i="1">
                          <a:solidFill>
                            <a:srgbClr val="12426B"/>
                          </a:solidFill>
                          <a:latin typeface="Arial"/>
                          <a:cs typeface="Arial"/>
                        </a:rPr>
                        <a:t>IPO</a:t>
                      </a:r>
                      <a:r>
                        <a:rPr sz="700" i="1" spc="-10">
                          <a:solidFill>
                            <a:srgbClr val="12426B"/>
                          </a:solidFill>
                          <a:latin typeface="Arial"/>
                          <a:cs typeface="Arial"/>
                        </a:rPr>
                        <a:t> </a:t>
                      </a:r>
                      <a:r>
                        <a:rPr sz="700" i="1">
                          <a:solidFill>
                            <a:srgbClr val="12426B"/>
                          </a:solidFill>
                          <a:latin typeface="Arial"/>
                          <a:cs typeface="Arial"/>
                        </a:rPr>
                        <a:t>priced</a:t>
                      </a:r>
                      <a:r>
                        <a:rPr sz="700" i="1" spc="-5">
                          <a:solidFill>
                            <a:srgbClr val="12426B"/>
                          </a:solidFill>
                          <a:latin typeface="Arial"/>
                          <a:cs typeface="Arial"/>
                        </a:rPr>
                        <a:t> </a:t>
                      </a:r>
                      <a:r>
                        <a:rPr sz="700" i="1">
                          <a:solidFill>
                            <a:srgbClr val="12426B"/>
                          </a:solidFill>
                          <a:latin typeface="Arial"/>
                          <a:cs typeface="Arial"/>
                        </a:rPr>
                        <a:t>in</a:t>
                      </a:r>
                      <a:r>
                        <a:rPr sz="700" i="1" spc="-20">
                          <a:solidFill>
                            <a:srgbClr val="12426B"/>
                          </a:solidFill>
                          <a:latin typeface="Arial"/>
                          <a:cs typeface="Arial"/>
                        </a:rPr>
                        <a:t> </a:t>
                      </a:r>
                      <a:r>
                        <a:rPr sz="700" i="1">
                          <a:solidFill>
                            <a:srgbClr val="12426B"/>
                          </a:solidFill>
                          <a:latin typeface="Arial"/>
                          <a:cs typeface="Arial"/>
                        </a:rPr>
                        <a:t>May</a:t>
                      </a:r>
                      <a:r>
                        <a:rPr sz="700" i="1" spc="-5">
                          <a:solidFill>
                            <a:srgbClr val="12426B"/>
                          </a:solidFill>
                          <a:latin typeface="Arial"/>
                          <a:cs typeface="Arial"/>
                        </a:rPr>
                        <a:t> </a:t>
                      </a:r>
                      <a:r>
                        <a:rPr sz="700" i="1" spc="-20">
                          <a:solidFill>
                            <a:srgbClr val="12426B"/>
                          </a:solidFill>
                          <a:latin typeface="Arial"/>
                          <a:cs typeface="Arial"/>
                        </a:rPr>
                        <a:t>2025</a:t>
                      </a:r>
                      <a:endParaRPr sz="700">
                        <a:latin typeface="Arial"/>
                        <a:cs typeface="Arial"/>
                      </a:endParaRPr>
                    </a:p>
                  </a:txBody>
                  <a:tcPr marL="0" marR="0" marT="0" marB="0">
                    <a:solidFill>
                      <a:srgbClr val="FFFFFF"/>
                    </a:solidFill>
                  </a:tcPr>
                </a:tc>
                <a:tc>
                  <a:txBody>
                    <a:bodyPr/>
                    <a:lstStyle/>
                    <a:p>
                      <a:pPr>
                        <a:lnSpc>
                          <a:spcPct val="100000"/>
                        </a:lnSpc>
                      </a:pPr>
                      <a:endParaRPr sz="700">
                        <a:latin typeface="Times New Roman"/>
                        <a:cs typeface="Times New Roman"/>
                      </a:endParaRPr>
                    </a:p>
                    <a:p>
                      <a:pPr>
                        <a:lnSpc>
                          <a:spcPct val="100000"/>
                        </a:lnSpc>
                        <a:spcBef>
                          <a:spcPts val="195"/>
                        </a:spcBef>
                      </a:pPr>
                      <a:endParaRPr sz="700">
                        <a:latin typeface="Times New Roman"/>
                        <a:cs typeface="Times New Roman"/>
                      </a:endParaRPr>
                    </a:p>
                    <a:p>
                      <a:pPr marL="9525" algn="ctr">
                        <a:lnSpc>
                          <a:spcPct val="100000"/>
                        </a:lnSpc>
                      </a:pPr>
                      <a:r>
                        <a:rPr sz="700" i="1">
                          <a:solidFill>
                            <a:srgbClr val="12426B"/>
                          </a:solidFill>
                          <a:latin typeface="Arial"/>
                          <a:cs typeface="Arial"/>
                        </a:rPr>
                        <a:t>IPO</a:t>
                      </a:r>
                      <a:r>
                        <a:rPr sz="700" i="1" spc="-10">
                          <a:solidFill>
                            <a:srgbClr val="12426B"/>
                          </a:solidFill>
                          <a:latin typeface="Arial"/>
                          <a:cs typeface="Arial"/>
                        </a:rPr>
                        <a:t> </a:t>
                      </a:r>
                      <a:r>
                        <a:rPr sz="700" i="1">
                          <a:solidFill>
                            <a:srgbClr val="12426B"/>
                          </a:solidFill>
                          <a:latin typeface="Arial"/>
                          <a:cs typeface="Arial"/>
                        </a:rPr>
                        <a:t>priced</a:t>
                      </a:r>
                      <a:r>
                        <a:rPr sz="700" i="1" spc="-5">
                          <a:solidFill>
                            <a:srgbClr val="12426B"/>
                          </a:solidFill>
                          <a:latin typeface="Arial"/>
                          <a:cs typeface="Arial"/>
                        </a:rPr>
                        <a:t> </a:t>
                      </a:r>
                      <a:r>
                        <a:rPr sz="700" i="1">
                          <a:solidFill>
                            <a:srgbClr val="12426B"/>
                          </a:solidFill>
                          <a:latin typeface="Arial"/>
                          <a:cs typeface="Arial"/>
                        </a:rPr>
                        <a:t>in</a:t>
                      </a:r>
                      <a:r>
                        <a:rPr sz="700" i="1" spc="-30">
                          <a:solidFill>
                            <a:srgbClr val="12426B"/>
                          </a:solidFill>
                          <a:latin typeface="Arial"/>
                          <a:cs typeface="Arial"/>
                        </a:rPr>
                        <a:t> </a:t>
                      </a:r>
                      <a:r>
                        <a:rPr sz="700" i="1">
                          <a:solidFill>
                            <a:srgbClr val="12426B"/>
                          </a:solidFill>
                          <a:latin typeface="Arial"/>
                          <a:cs typeface="Arial"/>
                        </a:rPr>
                        <a:t>Mar </a:t>
                      </a:r>
                      <a:r>
                        <a:rPr sz="700" i="1" spc="-20">
                          <a:solidFill>
                            <a:srgbClr val="12426B"/>
                          </a:solidFill>
                          <a:latin typeface="Arial"/>
                          <a:cs typeface="Arial"/>
                        </a:rPr>
                        <a:t>2025</a:t>
                      </a:r>
                      <a:endParaRPr sz="700">
                        <a:latin typeface="Arial"/>
                        <a:cs typeface="Arial"/>
                      </a:endParaRPr>
                    </a:p>
                  </a:txBody>
                  <a:tcPr marL="0" marR="0" marT="0" marB="0">
                    <a:solidFill>
                      <a:srgbClr val="FFFFFF"/>
                    </a:solidFill>
                  </a:tcPr>
                </a:tc>
                <a:tc>
                  <a:txBody>
                    <a:bodyPr/>
                    <a:lstStyle/>
                    <a:p>
                      <a:pPr>
                        <a:lnSpc>
                          <a:spcPct val="100000"/>
                        </a:lnSpc>
                      </a:pPr>
                      <a:endParaRPr sz="700">
                        <a:latin typeface="Times New Roman"/>
                        <a:cs typeface="Times New Roman"/>
                      </a:endParaRPr>
                    </a:p>
                    <a:p>
                      <a:pPr>
                        <a:lnSpc>
                          <a:spcPct val="100000"/>
                        </a:lnSpc>
                        <a:spcBef>
                          <a:spcPts val="195"/>
                        </a:spcBef>
                      </a:pPr>
                      <a:endParaRPr sz="700">
                        <a:latin typeface="Times New Roman"/>
                        <a:cs typeface="Times New Roman"/>
                      </a:endParaRPr>
                    </a:p>
                    <a:p>
                      <a:pPr marL="3175" algn="ctr">
                        <a:lnSpc>
                          <a:spcPct val="100000"/>
                        </a:lnSpc>
                      </a:pPr>
                      <a:r>
                        <a:rPr sz="700" i="1">
                          <a:solidFill>
                            <a:srgbClr val="12426B"/>
                          </a:solidFill>
                          <a:latin typeface="Arial"/>
                          <a:cs typeface="Arial"/>
                        </a:rPr>
                        <a:t>IPO</a:t>
                      </a:r>
                      <a:r>
                        <a:rPr sz="700" i="1" spc="-10">
                          <a:solidFill>
                            <a:srgbClr val="12426B"/>
                          </a:solidFill>
                          <a:latin typeface="Arial"/>
                          <a:cs typeface="Arial"/>
                        </a:rPr>
                        <a:t> </a:t>
                      </a:r>
                      <a:r>
                        <a:rPr sz="700" i="1">
                          <a:solidFill>
                            <a:srgbClr val="12426B"/>
                          </a:solidFill>
                          <a:latin typeface="Arial"/>
                          <a:cs typeface="Arial"/>
                        </a:rPr>
                        <a:t>priced</a:t>
                      </a:r>
                      <a:r>
                        <a:rPr sz="700" i="1" spc="-10">
                          <a:solidFill>
                            <a:srgbClr val="12426B"/>
                          </a:solidFill>
                          <a:latin typeface="Arial"/>
                          <a:cs typeface="Arial"/>
                        </a:rPr>
                        <a:t> </a:t>
                      </a:r>
                      <a:r>
                        <a:rPr sz="700" i="1">
                          <a:solidFill>
                            <a:srgbClr val="12426B"/>
                          </a:solidFill>
                          <a:latin typeface="Arial"/>
                          <a:cs typeface="Arial"/>
                        </a:rPr>
                        <a:t>in</a:t>
                      </a:r>
                      <a:r>
                        <a:rPr sz="700" i="1" spc="-30">
                          <a:solidFill>
                            <a:srgbClr val="12426B"/>
                          </a:solidFill>
                          <a:latin typeface="Arial"/>
                          <a:cs typeface="Arial"/>
                        </a:rPr>
                        <a:t> </a:t>
                      </a:r>
                      <a:r>
                        <a:rPr sz="700" i="1">
                          <a:solidFill>
                            <a:srgbClr val="12426B"/>
                          </a:solidFill>
                          <a:latin typeface="Arial"/>
                          <a:cs typeface="Arial"/>
                        </a:rPr>
                        <a:t>Oct</a:t>
                      </a:r>
                      <a:r>
                        <a:rPr sz="700" i="1" spc="-5">
                          <a:solidFill>
                            <a:srgbClr val="12426B"/>
                          </a:solidFill>
                          <a:latin typeface="Arial"/>
                          <a:cs typeface="Arial"/>
                        </a:rPr>
                        <a:t> </a:t>
                      </a:r>
                      <a:r>
                        <a:rPr sz="700" i="1" spc="-20">
                          <a:solidFill>
                            <a:srgbClr val="12426B"/>
                          </a:solidFill>
                          <a:latin typeface="Arial"/>
                          <a:cs typeface="Arial"/>
                        </a:rPr>
                        <a:t>2023</a:t>
                      </a:r>
                      <a:endParaRPr sz="700">
                        <a:latin typeface="Arial"/>
                        <a:cs typeface="Arial"/>
                      </a:endParaRPr>
                    </a:p>
                  </a:txBody>
                  <a:tcPr marL="0" marR="0" marT="0" marB="0">
                    <a:lnR w="12700" cap="flat" cmpd="sng" algn="ctr">
                      <a:solidFill>
                        <a:srgbClr val="089C8B"/>
                      </a:solidFill>
                      <a:prstDash val="solid"/>
                      <a:round/>
                      <a:headEnd type="none" w="med" len="med"/>
                      <a:tailEnd type="none" w="med" len="med"/>
                    </a:lnR>
                    <a:lnT>
                      <a:noFill/>
                    </a:lnT>
                    <a:solidFill>
                      <a:srgbClr val="FFFFFF"/>
                    </a:solidFill>
                  </a:tcPr>
                </a:tc>
                <a:extLst>
                  <a:ext uri="{0D108BD9-81ED-4DB2-BD59-A6C34878D82A}">
                    <a16:rowId xmlns:a16="http://schemas.microsoft.com/office/drawing/2014/main" val="10002"/>
                  </a:ext>
                </a:extLst>
              </a:tr>
              <a:tr h="107165">
                <a:tc>
                  <a:txBody>
                    <a:bodyPr/>
                    <a:lstStyle/>
                    <a:p>
                      <a:pPr>
                        <a:lnSpc>
                          <a:spcPct val="100000"/>
                        </a:lnSpc>
                      </a:pPr>
                      <a:endParaRPr sz="700">
                        <a:latin typeface="Times New Roman"/>
                        <a:cs typeface="Times New Roman"/>
                      </a:endParaRPr>
                    </a:p>
                  </a:txBody>
                  <a:tcPr marL="0" marR="0" marT="0" marB="0">
                    <a:lnL w="12700" cap="flat" cmpd="sng" algn="ctr">
                      <a:solidFill>
                        <a:srgbClr val="089C8B"/>
                      </a:solidFill>
                      <a:prstDash val="solid"/>
                      <a:round/>
                      <a:headEnd type="none" w="med" len="med"/>
                      <a:tailEnd type="none" w="med" len="med"/>
                    </a:lnL>
                    <a:solidFill>
                      <a:srgbClr val="FFFFFF"/>
                    </a:solidFill>
                  </a:tcPr>
                </a:tc>
                <a:tc>
                  <a:txBody>
                    <a:bodyPr/>
                    <a:lstStyle/>
                    <a:p>
                      <a:pPr marR="117475" algn="ctr">
                        <a:lnSpc>
                          <a:spcPct val="100000"/>
                        </a:lnSpc>
                        <a:spcBef>
                          <a:spcPts val="10"/>
                        </a:spcBef>
                      </a:pPr>
                      <a:r>
                        <a:rPr sz="700" i="1" spc="-10">
                          <a:solidFill>
                            <a:srgbClr val="12426B"/>
                          </a:solidFill>
                          <a:latin typeface="Arial"/>
                          <a:cs typeface="Arial"/>
                        </a:rPr>
                        <a:t>US$139mm</a:t>
                      </a:r>
                      <a:endParaRPr sz="700">
                        <a:latin typeface="Arial"/>
                        <a:cs typeface="Arial"/>
                      </a:endParaRPr>
                    </a:p>
                  </a:txBody>
                  <a:tcPr marL="0" marR="0" marT="1270" marB="0">
                    <a:solidFill>
                      <a:srgbClr val="FFFFFF"/>
                    </a:solidFill>
                  </a:tcPr>
                </a:tc>
                <a:tc>
                  <a:txBody>
                    <a:bodyPr/>
                    <a:lstStyle/>
                    <a:p>
                      <a:pPr marL="10795" algn="ctr">
                        <a:lnSpc>
                          <a:spcPts val="830"/>
                        </a:lnSpc>
                      </a:pPr>
                      <a:r>
                        <a:rPr sz="700" i="1" spc="-10">
                          <a:solidFill>
                            <a:srgbClr val="12426B"/>
                          </a:solidFill>
                          <a:latin typeface="Arial"/>
                          <a:cs typeface="Arial"/>
                        </a:rPr>
                        <a:t>US$306mm</a:t>
                      </a:r>
                      <a:endParaRPr sz="700">
                        <a:latin typeface="Arial"/>
                        <a:cs typeface="Arial"/>
                      </a:endParaRPr>
                    </a:p>
                  </a:txBody>
                  <a:tcPr marL="0" marR="0" marT="0" marB="0">
                    <a:solidFill>
                      <a:srgbClr val="FFFFFF"/>
                    </a:solidFill>
                  </a:tcPr>
                </a:tc>
                <a:tc>
                  <a:txBody>
                    <a:bodyPr/>
                    <a:lstStyle/>
                    <a:p>
                      <a:pPr marL="4445" algn="ctr">
                        <a:lnSpc>
                          <a:spcPts val="830"/>
                        </a:lnSpc>
                      </a:pPr>
                      <a:r>
                        <a:rPr sz="700" i="1" spc="-10">
                          <a:solidFill>
                            <a:srgbClr val="12426B"/>
                          </a:solidFill>
                          <a:latin typeface="Arial"/>
                          <a:cs typeface="Arial"/>
                        </a:rPr>
                        <a:t>US$501mm</a:t>
                      </a:r>
                      <a:endParaRPr sz="700">
                        <a:latin typeface="Arial"/>
                        <a:cs typeface="Arial"/>
                      </a:endParaRPr>
                    </a:p>
                  </a:txBody>
                  <a:tcPr marL="0" marR="0" marT="0" marB="0">
                    <a:lnR w="12700" cap="flat" cmpd="sng" algn="ctr">
                      <a:solidFill>
                        <a:srgbClr val="089C8B"/>
                      </a:solidFill>
                      <a:prstDash val="solid"/>
                      <a:round/>
                      <a:headEnd type="none" w="med" len="med"/>
                      <a:tailEnd type="none" w="med" len="med"/>
                    </a:lnR>
                    <a:solidFill>
                      <a:srgbClr val="FFFFFF"/>
                    </a:solidFill>
                  </a:tcPr>
                </a:tc>
                <a:extLst>
                  <a:ext uri="{0D108BD9-81ED-4DB2-BD59-A6C34878D82A}">
                    <a16:rowId xmlns:a16="http://schemas.microsoft.com/office/drawing/2014/main" val="10003"/>
                  </a:ext>
                </a:extLst>
              </a:tr>
              <a:tr h="107165">
                <a:tc>
                  <a:txBody>
                    <a:bodyPr/>
                    <a:lstStyle/>
                    <a:p>
                      <a:pPr>
                        <a:lnSpc>
                          <a:spcPct val="100000"/>
                        </a:lnSpc>
                      </a:pPr>
                      <a:endParaRPr sz="700">
                        <a:latin typeface="Times New Roman"/>
                        <a:cs typeface="Times New Roman"/>
                      </a:endParaRPr>
                    </a:p>
                  </a:txBody>
                  <a:tcPr marL="0" marR="0" marT="0" marB="0">
                    <a:lnL w="12700" cap="flat" cmpd="sng" algn="ctr">
                      <a:solidFill>
                        <a:srgbClr val="089C8B"/>
                      </a:solidFill>
                      <a:prstDash val="solid"/>
                      <a:round/>
                      <a:headEnd type="none" w="med" len="med"/>
                      <a:tailEnd type="none" w="med" len="med"/>
                    </a:lnL>
                    <a:solidFill>
                      <a:srgbClr val="FFFFFF"/>
                    </a:solidFill>
                  </a:tcPr>
                </a:tc>
                <a:tc>
                  <a:txBody>
                    <a:bodyPr/>
                    <a:lstStyle/>
                    <a:p>
                      <a:pPr marR="119380" algn="ctr">
                        <a:lnSpc>
                          <a:spcPct val="100000"/>
                        </a:lnSpc>
                        <a:spcBef>
                          <a:spcPts val="10"/>
                        </a:spcBef>
                      </a:pPr>
                      <a:r>
                        <a:rPr sz="700" i="1">
                          <a:solidFill>
                            <a:schemeClr val="accent6"/>
                          </a:solidFill>
                          <a:latin typeface="Arial"/>
                          <a:cs typeface="Arial"/>
                        </a:rPr>
                        <a:t>Primary</a:t>
                      </a:r>
                      <a:r>
                        <a:rPr sz="700" i="1" spc="-30">
                          <a:solidFill>
                            <a:schemeClr val="accent6"/>
                          </a:solidFill>
                          <a:latin typeface="Arial"/>
                          <a:cs typeface="Arial"/>
                        </a:rPr>
                        <a:t> </a:t>
                      </a:r>
                      <a:r>
                        <a:rPr sz="700" i="1" spc="-10">
                          <a:solidFill>
                            <a:schemeClr val="accent6"/>
                          </a:solidFill>
                          <a:latin typeface="Arial"/>
                          <a:cs typeface="Arial"/>
                        </a:rPr>
                        <a:t>placement</a:t>
                      </a:r>
                      <a:endParaRPr sz="700">
                        <a:solidFill>
                          <a:schemeClr val="accent6"/>
                        </a:solidFill>
                        <a:latin typeface="Arial"/>
                        <a:cs typeface="Arial"/>
                      </a:endParaRPr>
                    </a:p>
                  </a:txBody>
                  <a:tcPr marL="0" marR="0" marT="1270" marB="0">
                    <a:solidFill>
                      <a:srgbClr val="FFFFFF"/>
                    </a:solidFill>
                  </a:tcPr>
                </a:tc>
                <a:tc>
                  <a:txBody>
                    <a:bodyPr/>
                    <a:lstStyle/>
                    <a:p>
                      <a:pPr marL="8255" algn="ctr">
                        <a:lnSpc>
                          <a:spcPts val="830"/>
                        </a:lnSpc>
                      </a:pPr>
                      <a:r>
                        <a:rPr sz="700" i="1">
                          <a:solidFill>
                            <a:schemeClr val="accent6"/>
                          </a:solidFill>
                          <a:latin typeface="Arial"/>
                          <a:cs typeface="Arial"/>
                        </a:rPr>
                        <a:t>Primary</a:t>
                      </a:r>
                      <a:r>
                        <a:rPr sz="700" i="1" spc="-30">
                          <a:solidFill>
                            <a:schemeClr val="accent6"/>
                          </a:solidFill>
                          <a:latin typeface="Arial"/>
                          <a:cs typeface="Arial"/>
                        </a:rPr>
                        <a:t> </a:t>
                      </a:r>
                      <a:r>
                        <a:rPr sz="700" i="1" spc="-10">
                          <a:solidFill>
                            <a:schemeClr val="accent6"/>
                          </a:solidFill>
                          <a:latin typeface="Arial"/>
                          <a:cs typeface="Arial"/>
                        </a:rPr>
                        <a:t>placement</a:t>
                      </a:r>
                      <a:endParaRPr sz="700">
                        <a:solidFill>
                          <a:schemeClr val="accent6"/>
                        </a:solidFill>
                        <a:latin typeface="Arial"/>
                        <a:cs typeface="Arial"/>
                      </a:endParaRPr>
                    </a:p>
                  </a:txBody>
                  <a:tcPr marL="0" marR="0" marT="0" marB="0">
                    <a:solidFill>
                      <a:srgbClr val="FFFFFF"/>
                    </a:solidFill>
                  </a:tcPr>
                </a:tc>
                <a:tc>
                  <a:txBody>
                    <a:bodyPr/>
                    <a:lstStyle/>
                    <a:p>
                      <a:pPr marL="3810" algn="ctr">
                        <a:lnSpc>
                          <a:spcPts val="830"/>
                        </a:lnSpc>
                      </a:pPr>
                      <a:r>
                        <a:rPr sz="700" i="1">
                          <a:solidFill>
                            <a:schemeClr val="accent6"/>
                          </a:solidFill>
                          <a:latin typeface="Arial"/>
                          <a:cs typeface="Arial"/>
                        </a:rPr>
                        <a:t>Convertible</a:t>
                      </a:r>
                      <a:r>
                        <a:rPr sz="700" i="1" spc="-50">
                          <a:solidFill>
                            <a:schemeClr val="accent6"/>
                          </a:solidFill>
                          <a:latin typeface="Arial"/>
                          <a:cs typeface="Arial"/>
                        </a:rPr>
                        <a:t> </a:t>
                      </a:r>
                      <a:r>
                        <a:rPr sz="700" i="1" spc="-20">
                          <a:solidFill>
                            <a:schemeClr val="accent6"/>
                          </a:solidFill>
                          <a:latin typeface="Arial"/>
                          <a:cs typeface="Arial"/>
                        </a:rPr>
                        <a:t>bond</a:t>
                      </a:r>
                      <a:endParaRPr sz="700">
                        <a:solidFill>
                          <a:schemeClr val="accent6"/>
                        </a:solidFill>
                        <a:latin typeface="Arial"/>
                        <a:cs typeface="Arial"/>
                      </a:endParaRPr>
                    </a:p>
                  </a:txBody>
                  <a:tcPr marL="0" marR="0" marT="0" marB="0">
                    <a:lnR w="12700" cap="flat" cmpd="sng" algn="ctr">
                      <a:solidFill>
                        <a:srgbClr val="089C8B"/>
                      </a:solid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107165">
                <a:tc>
                  <a:txBody>
                    <a:bodyPr/>
                    <a:lstStyle/>
                    <a:p>
                      <a:pPr>
                        <a:lnSpc>
                          <a:spcPct val="100000"/>
                        </a:lnSpc>
                      </a:pPr>
                      <a:endParaRPr sz="700">
                        <a:latin typeface="Times New Roman"/>
                        <a:cs typeface="Times New Roman"/>
                      </a:endParaRPr>
                    </a:p>
                  </a:txBody>
                  <a:tcPr marL="0" marR="0" marT="0" marB="0">
                    <a:lnL w="12700" cap="flat" cmpd="sng" algn="ctr">
                      <a:solidFill>
                        <a:srgbClr val="089C8B"/>
                      </a:solidFill>
                      <a:prstDash val="solid"/>
                      <a:round/>
                      <a:headEnd type="none" w="med" len="med"/>
                      <a:tailEnd type="none" w="med" len="med"/>
                    </a:lnL>
                    <a:solidFill>
                      <a:srgbClr val="FFFFFF"/>
                    </a:solidFill>
                  </a:tcPr>
                </a:tc>
                <a:tc>
                  <a:txBody>
                    <a:bodyPr/>
                    <a:lstStyle/>
                    <a:p>
                      <a:pPr marR="119380" algn="ctr">
                        <a:lnSpc>
                          <a:spcPct val="100000"/>
                        </a:lnSpc>
                        <a:spcBef>
                          <a:spcPts val="10"/>
                        </a:spcBef>
                      </a:pPr>
                      <a:r>
                        <a:rPr sz="700" b="1" i="1">
                          <a:solidFill>
                            <a:schemeClr val="accent6"/>
                          </a:solidFill>
                          <a:latin typeface="Arial"/>
                          <a:cs typeface="Arial"/>
                        </a:rPr>
                        <a:t>8</a:t>
                      </a:r>
                      <a:r>
                        <a:rPr sz="700" b="1" i="1" spc="-20">
                          <a:solidFill>
                            <a:schemeClr val="accent6"/>
                          </a:solidFill>
                          <a:latin typeface="Arial"/>
                          <a:cs typeface="Arial"/>
                        </a:rPr>
                        <a:t> </a:t>
                      </a:r>
                      <a:r>
                        <a:rPr sz="700" i="1">
                          <a:solidFill>
                            <a:schemeClr val="accent6"/>
                          </a:solidFill>
                          <a:latin typeface="Arial"/>
                          <a:cs typeface="Arial"/>
                        </a:rPr>
                        <a:t>months</a:t>
                      </a:r>
                      <a:r>
                        <a:rPr sz="700" i="1" spc="10">
                          <a:solidFill>
                            <a:schemeClr val="accent6"/>
                          </a:solidFill>
                          <a:latin typeface="Arial"/>
                          <a:cs typeface="Arial"/>
                        </a:rPr>
                        <a:t> </a:t>
                      </a:r>
                      <a:r>
                        <a:rPr sz="700" i="1" spc="-10">
                          <a:solidFill>
                            <a:schemeClr val="accent6"/>
                          </a:solidFill>
                          <a:latin typeface="Arial"/>
                          <a:cs typeface="Arial"/>
                        </a:rPr>
                        <a:t>post-</a:t>
                      </a:r>
                      <a:r>
                        <a:rPr sz="700" i="1" spc="-25">
                          <a:solidFill>
                            <a:schemeClr val="accent6"/>
                          </a:solidFill>
                          <a:latin typeface="Arial"/>
                          <a:cs typeface="Arial"/>
                        </a:rPr>
                        <a:t>IPO</a:t>
                      </a:r>
                      <a:endParaRPr sz="700">
                        <a:solidFill>
                          <a:schemeClr val="accent6"/>
                        </a:solidFill>
                        <a:latin typeface="Arial"/>
                        <a:cs typeface="Arial"/>
                      </a:endParaRPr>
                    </a:p>
                  </a:txBody>
                  <a:tcPr marL="0" marR="0" marT="1270" marB="0">
                    <a:solidFill>
                      <a:srgbClr val="FFFFFF"/>
                    </a:solidFill>
                  </a:tcPr>
                </a:tc>
                <a:tc>
                  <a:txBody>
                    <a:bodyPr/>
                    <a:lstStyle/>
                    <a:p>
                      <a:pPr marL="10160" algn="ctr">
                        <a:lnSpc>
                          <a:spcPts val="830"/>
                        </a:lnSpc>
                      </a:pPr>
                      <a:r>
                        <a:rPr sz="700" b="1" i="1">
                          <a:solidFill>
                            <a:schemeClr val="accent6"/>
                          </a:solidFill>
                          <a:latin typeface="Arial"/>
                          <a:cs typeface="Arial"/>
                        </a:rPr>
                        <a:t>10</a:t>
                      </a:r>
                      <a:r>
                        <a:rPr sz="700" b="1" i="1" spc="-20">
                          <a:solidFill>
                            <a:schemeClr val="accent6"/>
                          </a:solidFill>
                          <a:latin typeface="Arial"/>
                          <a:cs typeface="Arial"/>
                        </a:rPr>
                        <a:t> </a:t>
                      </a:r>
                      <a:r>
                        <a:rPr sz="700" i="1">
                          <a:solidFill>
                            <a:schemeClr val="accent6"/>
                          </a:solidFill>
                          <a:latin typeface="Arial"/>
                          <a:cs typeface="Arial"/>
                        </a:rPr>
                        <a:t>months</a:t>
                      </a:r>
                      <a:r>
                        <a:rPr sz="700" i="1" spc="25">
                          <a:solidFill>
                            <a:schemeClr val="accent6"/>
                          </a:solidFill>
                          <a:latin typeface="Arial"/>
                          <a:cs typeface="Arial"/>
                        </a:rPr>
                        <a:t> </a:t>
                      </a:r>
                      <a:r>
                        <a:rPr sz="700" i="1" spc="-10">
                          <a:solidFill>
                            <a:schemeClr val="accent6"/>
                          </a:solidFill>
                          <a:latin typeface="Arial"/>
                          <a:cs typeface="Arial"/>
                        </a:rPr>
                        <a:t>post-</a:t>
                      </a:r>
                      <a:r>
                        <a:rPr sz="700" i="1" spc="-25">
                          <a:solidFill>
                            <a:schemeClr val="accent6"/>
                          </a:solidFill>
                          <a:latin typeface="Arial"/>
                          <a:cs typeface="Arial"/>
                        </a:rPr>
                        <a:t>IPO</a:t>
                      </a:r>
                      <a:endParaRPr sz="700">
                        <a:solidFill>
                          <a:schemeClr val="accent6"/>
                        </a:solidFill>
                        <a:latin typeface="Arial"/>
                        <a:cs typeface="Arial"/>
                      </a:endParaRPr>
                    </a:p>
                  </a:txBody>
                  <a:tcPr marL="0" marR="0" marT="0" marB="0">
                    <a:solidFill>
                      <a:srgbClr val="FFFFFF"/>
                    </a:solidFill>
                  </a:tcPr>
                </a:tc>
                <a:tc>
                  <a:txBody>
                    <a:bodyPr/>
                    <a:lstStyle/>
                    <a:p>
                      <a:pPr marL="3810" algn="ctr">
                        <a:lnSpc>
                          <a:spcPts val="830"/>
                        </a:lnSpc>
                      </a:pPr>
                      <a:r>
                        <a:rPr sz="700" b="1" i="1">
                          <a:solidFill>
                            <a:schemeClr val="accent6"/>
                          </a:solidFill>
                          <a:latin typeface="Arial"/>
                          <a:cs typeface="Arial"/>
                        </a:rPr>
                        <a:t>27</a:t>
                      </a:r>
                      <a:r>
                        <a:rPr sz="700" b="1" i="1" spc="-20">
                          <a:solidFill>
                            <a:schemeClr val="accent6"/>
                          </a:solidFill>
                          <a:latin typeface="Arial"/>
                          <a:cs typeface="Arial"/>
                        </a:rPr>
                        <a:t> </a:t>
                      </a:r>
                      <a:r>
                        <a:rPr sz="700" i="1">
                          <a:solidFill>
                            <a:schemeClr val="accent6"/>
                          </a:solidFill>
                          <a:latin typeface="Arial"/>
                          <a:cs typeface="Arial"/>
                        </a:rPr>
                        <a:t>months</a:t>
                      </a:r>
                      <a:r>
                        <a:rPr sz="700" i="1" spc="25">
                          <a:solidFill>
                            <a:schemeClr val="accent6"/>
                          </a:solidFill>
                          <a:latin typeface="Arial"/>
                          <a:cs typeface="Arial"/>
                        </a:rPr>
                        <a:t> </a:t>
                      </a:r>
                      <a:r>
                        <a:rPr sz="700" i="1" spc="-10">
                          <a:solidFill>
                            <a:schemeClr val="accent6"/>
                          </a:solidFill>
                          <a:latin typeface="Arial"/>
                          <a:cs typeface="Arial"/>
                        </a:rPr>
                        <a:t>post-</a:t>
                      </a:r>
                      <a:r>
                        <a:rPr sz="700" i="1" spc="-25">
                          <a:solidFill>
                            <a:schemeClr val="accent6"/>
                          </a:solidFill>
                          <a:latin typeface="Arial"/>
                          <a:cs typeface="Arial"/>
                        </a:rPr>
                        <a:t>IPO</a:t>
                      </a:r>
                      <a:endParaRPr sz="700">
                        <a:solidFill>
                          <a:schemeClr val="accent6"/>
                        </a:solidFill>
                        <a:latin typeface="Arial"/>
                        <a:cs typeface="Arial"/>
                      </a:endParaRPr>
                    </a:p>
                  </a:txBody>
                  <a:tcPr marL="0" marR="0" marT="0" marB="0">
                    <a:lnR w="12700" cap="flat" cmpd="sng" algn="ctr">
                      <a:solidFill>
                        <a:srgbClr val="089C8B"/>
                      </a:solidFill>
                      <a:prstDash val="solid"/>
                      <a:round/>
                      <a:headEnd type="none" w="med" len="med"/>
                      <a:tailEnd type="none" w="med" len="med"/>
                    </a:lnR>
                    <a:solidFill>
                      <a:srgbClr val="FFFFFF"/>
                    </a:solidFill>
                  </a:tcPr>
                </a:tc>
                <a:extLst>
                  <a:ext uri="{0D108BD9-81ED-4DB2-BD59-A6C34878D82A}">
                    <a16:rowId xmlns:a16="http://schemas.microsoft.com/office/drawing/2014/main" val="10005"/>
                  </a:ext>
                </a:extLst>
              </a:tr>
              <a:tr h="107165">
                <a:tc>
                  <a:txBody>
                    <a:bodyPr/>
                    <a:lstStyle/>
                    <a:p>
                      <a:pPr>
                        <a:lnSpc>
                          <a:spcPct val="100000"/>
                        </a:lnSpc>
                      </a:pPr>
                      <a:endParaRPr sz="700">
                        <a:latin typeface="Times New Roman"/>
                        <a:cs typeface="Times New Roman"/>
                      </a:endParaRPr>
                    </a:p>
                  </a:txBody>
                  <a:tcPr marL="0" marR="0" marT="0" marB="0">
                    <a:lnL w="12700" cap="flat" cmpd="sng" algn="ctr">
                      <a:solidFill>
                        <a:srgbClr val="089C8B"/>
                      </a:solidFill>
                      <a:prstDash val="solid"/>
                      <a:round/>
                      <a:headEnd type="none" w="med" len="med"/>
                      <a:tailEnd type="none" w="med" len="med"/>
                    </a:lnL>
                    <a:solidFill>
                      <a:srgbClr val="FFFFFF"/>
                    </a:solidFill>
                  </a:tcPr>
                </a:tc>
                <a:tc>
                  <a:txBody>
                    <a:bodyPr/>
                    <a:lstStyle/>
                    <a:p>
                      <a:pPr marR="120014" algn="ctr">
                        <a:lnSpc>
                          <a:spcPct val="100000"/>
                        </a:lnSpc>
                        <a:spcBef>
                          <a:spcPts val="10"/>
                        </a:spcBef>
                      </a:pPr>
                      <a:r>
                        <a:rPr sz="700" b="1" i="1" spc="-10">
                          <a:solidFill>
                            <a:schemeClr val="accent6"/>
                          </a:solidFill>
                          <a:latin typeface="Arial"/>
                          <a:cs typeface="Arial"/>
                        </a:rPr>
                        <a:t>US$91mm</a:t>
                      </a:r>
                      <a:endParaRPr sz="700">
                        <a:solidFill>
                          <a:schemeClr val="accent6"/>
                        </a:solidFill>
                        <a:latin typeface="Arial"/>
                        <a:cs typeface="Arial"/>
                      </a:endParaRPr>
                    </a:p>
                  </a:txBody>
                  <a:tcPr marL="0" marR="0" marT="1270" marB="0">
                    <a:solidFill>
                      <a:srgbClr val="FFFFFF"/>
                    </a:solidFill>
                  </a:tcPr>
                </a:tc>
                <a:tc>
                  <a:txBody>
                    <a:bodyPr/>
                    <a:lstStyle/>
                    <a:p>
                      <a:pPr marL="8255" algn="ctr">
                        <a:lnSpc>
                          <a:spcPts val="830"/>
                        </a:lnSpc>
                      </a:pPr>
                      <a:r>
                        <a:rPr sz="700" b="1" i="1" spc="-10">
                          <a:solidFill>
                            <a:schemeClr val="accent6"/>
                          </a:solidFill>
                          <a:latin typeface="Arial"/>
                          <a:cs typeface="Arial"/>
                        </a:rPr>
                        <a:t>US$256mm</a:t>
                      </a:r>
                      <a:endParaRPr sz="700">
                        <a:solidFill>
                          <a:schemeClr val="accent6"/>
                        </a:solidFill>
                        <a:latin typeface="Arial"/>
                        <a:cs typeface="Arial"/>
                      </a:endParaRPr>
                    </a:p>
                  </a:txBody>
                  <a:tcPr marL="0" marR="0" marT="0" marB="0">
                    <a:solidFill>
                      <a:srgbClr val="FFFFFF"/>
                    </a:solidFill>
                  </a:tcPr>
                </a:tc>
                <a:tc>
                  <a:txBody>
                    <a:bodyPr/>
                    <a:lstStyle/>
                    <a:p>
                      <a:pPr marL="1905" algn="ctr">
                        <a:lnSpc>
                          <a:spcPts val="830"/>
                        </a:lnSpc>
                      </a:pPr>
                      <a:r>
                        <a:rPr sz="700" b="1" i="1" spc="-10">
                          <a:solidFill>
                            <a:schemeClr val="accent6"/>
                          </a:solidFill>
                          <a:latin typeface="Arial"/>
                          <a:cs typeface="Arial"/>
                        </a:rPr>
                        <a:t>US$596mm</a:t>
                      </a:r>
                      <a:endParaRPr sz="700">
                        <a:solidFill>
                          <a:schemeClr val="accent6"/>
                        </a:solidFill>
                        <a:latin typeface="Arial"/>
                        <a:cs typeface="Arial"/>
                      </a:endParaRPr>
                    </a:p>
                  </a:txBody>
                  <a:tcPr marL="0" marR="0" marT="0" marB="0">
                    <a:lnR w="12700" cap="flat" cmpd="sng" algn="ctr">
                      <a:solidFill>
                        <a:srgbClr val="089C8B"/>
                      </a:solidFill>
                      <a:prstDash val="solid"/>
                      <a:round/>
                      <a:headEnd type="none" w="med" len="med"/>
                      <a:tailEnd type="none" w="med" len="med"/>
                    </a:lnR>
                    <a:solidFill>
                      <a:srgbClr val="FFFFFF"/>
                    </a:solidFill>
                  </a:tcPr>
                </a:tc>
                <a:extLst>
                  <a:ext uri="{0D108BD9-81ED-4DB2-BD59-A6C34878D82A}">
                    <a16:rowId xmlns:a16="http://schemas.microsoft.com/office/drawing/2014/main" val="10006"/>
                  </a:ext>
                </a:extLst>
              </a:tr>
              <a:tr h="107165">
                <a:tc>
                  <a:txBody>
                    <a:bodyPr/>
                    <a:lstStyle/>
                    <a:p>
                      <a:pPr>
                        <a:lnSpc>
                          <a:spcPct val="100000"/>
                        </a:lnSpc>
                      </a:pPr>
                      <a:endParaRPr sz="700">
                        <a:latin typeface="Times New Roman"/>
                        <a:cs typeface="Times New Roman"/>
                      </a:endParaRPr>
                    </a:p>
                  </a:txBody>
                  <a:tcPr marL="0" marR="0" marT="0" marB="0">
                    <a:lnL w="12700" cap="flat" cmpd="sng" algn="ctr">
                      <a:solidFill>
                        <a:srgbClr val="089C8B"/>
                      </a:solidFill>
                      <a:prstDash val="solid"/>
                      <a:round/>
                      <a:headEnd type="none" w="med" len="med"/>
                      <a:tailEnd type="none" w="med" len="med"/>
                    </a:lnL>
                    <a:solidFill>
                      <a:srgbClr val="FFFFFF"/>
                    </a:solidFill>
                  </a:tcPr>
                </a:tc>
                <a:tc>
                  <a:txBody>
                    <a:bodyPr/>
                    <a:lstStyle/>
                    <a:p>
                      <a:pPr marR="118110" algn="ctr">
                        <a:lnSpc>
                          <a:spcPct val="100000"/>
                        </a:lnSpc>
                        <a:spcBef>
                          <a:spcPts val="10"/>
                        </a:spcBef>
                      </a:pPr>
                      <a:r>
                        <a:rPr sz="700" i="1">
                          <a:solidFill>
                            <a:schemeClr val="accent6"/>
                          </a:solidFill>
                          <a:latin typeface="Arial"/>
                          <a:cs typeface="Arial"/>
                        </a:rPr>
                        <a:t>For M&amp;A and</a:t>
                      </a:r>
                      <a:r>
                        <a:rPr sz="700" i="1" spc="-10">
                          <a:solidFill>
                            <a:schemeClr val="accent6"/>
                          </a:solidFill>
                          <a:latin typeface="Arial"/>
                          <a:cs typeface="Arial"/>
                        </a:rPr>
                        <a:t> </a:t>
                      </a:r>
                      <a:r>
                        <a:rPr sz="700" i="1">
                          <a:solidFill>
                            <a:schemeClr val="accent6"/>
                          </a:solidFill>
                          <a:latin typeface="Arial"/>
                          <a:cs typeface="Arial"/>
                        </a:rPr>
                        <a:t>R&amp;D</a:t>
                      </a:r>
                      <a:r>
                        <a:rPr sz="700" i="1" spc="-15">
                          <a:solidFill>
                            <a:schemeClr val="accent6"/>
                          </a:solidFill>
                          <a:latin typeface="Arial"/>
                          <a:cs typeface="Arial"/>
                        </a:rPr>
                        <a:t> </a:t>
                      </a:r>
                      <a:r>
                        <a:rPr sz="700" i="1">
                          <a:solidFill>
                            <a:schemeClr val="accent6"/>
                          </a:solidFill>
                          <a:latin typeface="Arial"/>
                          <a:cs typeface="Arial"/>
                        </a:rPr>
                        <a:t>/</a:t>
                      </a:r>
                      <a:r>
                        <a:rPr sz="700" i="1" spc="-5">
                          <a:solidFill>
                            <a:schemeClr val="accent6"/>
                          </a:solidFill>
                          <a:latin typeface="Arial"/>
                          <a:cs typeface="Arial"/>
                        </a:rPr>
                        <a:t> </a:t>
                      </a:r>
                      <a:r>
                        <a:rPr sz="700" i="1" spc="-10">
                          <a:solidFill>
                            <a:schemeClr val="accent6"/>
                          </a:solidFill>
                          <a:latin typeface="Arial"/>
                          <a:cs typeface="Arial"/>
                        </a:rPr>
                        <a:t>clinical</a:t>
                      </a:r>
                      <a:endParaRPr sz="700">
                        <a:solidFill>
                          <a:schemeClr val="accent6"/>
                        </a:solidFill>
                        <a:latin typeface="Arial"/>
                        <a:cs typeface="Arial"/>
                      </a:endParaRPr>
                    </a:p>
                  </a:txBody>
                  <a:tcPr marL="0" marR="0" marT="1270" marB="0">
                    <a:solidFill>
                      <a:srgbClr val="FFFFFF"/>
                    </a:solidFill>
                  </a:tcPr>
                </a:tc>
                <a:tc>
                  <a:txBody>
                    <a:bodyPr/>
                    <a:lstStyle/>
                    <a:p>
                      <a:pPr marL="8255" algn="ctr">
                        <a:lnSpc>
                          <a:spcPts val="830"/>
                        </a:lnSpc>
                      </a:pPr>
                      <a:r>
                        <a:rPr sz="700" i="1">
                          <a:solidFill>
                            <a:schemeClr val="accent6"/>
                          </a:solidFill>
                          <a:latin typeface="Arial"/>
                          <a:cs typeface="Arial"/>
                        </a:rPr>
                        <a:t>For</a:t>
                      </a:r>
                      <a:r>
                        <a:rPr sz="700" i="1" spc="-10">
                          <a:solidFill>
                            <a:schemeClr val="accent6"/>
                          </a:solidFill>
                          <a:latin typeface="Arial"/>
                          <a:cs typeface="Arial"/>
                        </a:rPr>
                        <a:t> </a:t>
                      </a:r>
                      <a:r>
                        <a:rPr sz="700" i="1">
                          <a:solidFill>
                            <a:schemeClr val="accent6"/>
                          </a:solidFill>
                          <a:latin typeface="Arial"/>
                          <a:cs typeface="Arial"/>
                        </a:rPr>
                        <a:t>new</a:t>
                      </a:r>
                      <a:r>
                        <a:rPr sz="700" i="1" spc="-10">
                          <a:solidFill>
                            <a:schemeClr val="accent6"/>
                          </a:solidFill>
                          <a:latin typeface="Arial"/>
                          <a:cs typeface="Arial"/>
                        </a:rPr>
                        <a:t> </a:t>
                      </a:r>
                      <a:r>
                        <a:rPr sz="700" i="1">
                          <a:solidFill>
                            <a:schemeClr val="accent6"/>
                          </a:solidFill>
                          <a:latin typeface="Arial"/>
                          <a:cs typeface="Arial"/>
                        </a:rPr>
                        <a:t>facility</a:t>
                      </a:r>
                      <a:r>
                        <a:rPr sz="700" i="1" spc="-15">
                          <a:solidFill>
                            <a:schemeClr val="accent6"/>
                          </a:solidFill>
                          <a:latin typeface="Arial"/>
                          <a:cs typeface="Arial"/>
                        </a:rPr>
                        <a:t> </a:t>
                      </a:r>
                      <a:r>
                        <a:rPr sz="700" i="1">
                          <a:solidFill>
                            <a:schemeClr val="accent6"/>
                          </a:solidFill>
                          <a:latin typeface="Arial"/>
                          <a:cs typeface="Arial"/>
                        </a:rPr>
                        <a:t>to</a:t>
                      </a:r>
                      <a:r>
                        <a:rPr sz="700" i="1" spc="-5">
                          <a:solidFill>
                            <a:schemeClr val="accent6"/>
                          </a:solidFill>
                          <a:latin typeface="Arial"/>
                          <a:cs typeface="Arial"/>
                        </a:rPr>
                        <a:t> </a:t>
                      </a:r>
                      <a:r>
                        <a:rPr sz="700" i="1" spc="-10">
                          <a:solidFill>
                            <a:schemeClr val="accent6"/>
                          </a:solidFill>
                          <a:latin typeface="Arial"/>
                          <a:cs typeface="Arial"/>
                        </a:rPr>
                        <a:t>support</a:t>
                      </a:r>
                      <a:endParaRPr sz="700">
                        <a:solidFill>
                          <a:schemeClr val="accent6"/>
                        </a:solidFill>
                        <a:latin typeface="Arial"/>
                        <a:cs typeface="Arial"/>
                      </a:endParaRPr>
                    </a:p>
                  </a:txBody>
                  <a:tcPr marL="0" marR="0" marT="0" marB="0">
                    <a:solidFill>
                      <a:srgbClr val="FFFFFF"/>
                    </a:solidFill>
                  </a:tcPr>
                </a:tc>
                <a:tc>
                  <a:txBody>
                    <a:bodyPr/>
                    <a:lstStyle/>
                    <a:p>
                      <a:pPr marL="1905" algn="ctr">
                        <a:lnSpc>
                          <a:spcPts val="830"/>
                        </a:lnSpc>
                      </a:pPr>
                      <a:r>
                        <a:rPr sz="700" i="1">
                          <a:solidFill>
                            <a:schemeClr val="accent6"/>
                          </a:solidFill>
                          <a:latin typeface="Arial"/>
                          <a:cs typeface="Arial"/>
                        </a:rPr>
                        <a:t>For</a:t>
                      </a:r>
                      <a:r>
                        <a:rPr sz="700" i="1" spc="-30">
                          <a:solidFill>
                            <a:schemeClr val="accent6"/>
                          </a:solidFill>
                          <a:latin typeface="Arial"/>
                          <a:cs typeface="Arial"/>
                        </a:rPr>
                        <a:t> </a:t>
                      </a:r>
                      <a:r>
                        <a:rPr sz="700" i="1">
                          <a:solidFill>
                            <a:schemeClr val="accent6"/>
                          </a:solidFill>
                          <a:latin typeface="Arial"/>
                          <a:cs typeface="Arial"/>
                        </a:rPr>
                        <a:t>overseas</a:t>
                      </a:r>
                      <a:r>
                        <a:rPr sz="700" i="1" spc="-10">
                          <a:solidFill>
                            <a:schemeClr val="accent6"/>
                          </a:solidFill>
                          <a:latin typeface="Arial"/>
                          <a:cs typeface="Arial"/>
                        </a:rPr>
                        <a:t> </a:t>
                      </a:r>
                      <a:r>
                        <a:rPr sz="700" i="1">
                          <a:solidFill>
                            <a:schemeClr val="accent6"/>
                          </a:solidFill>
                          <a:latin typeface="Arial"/>
                          <a:cs typeface="Arial"/>
                        </a:rPr>
                        <a:t>business</a:t>
                      </a:r>
                      <a:r>
                        <a:rPr sz="700" i="1" spc="-25">
                          <a:solidFill>
                            <a:schemeClr val="accent6"/>
                          </a:solidFill>
                          <a:latin typeface="Arial"/>
                          <a:cs typeface="Arial"/>
                        </a:rPr>
                        <a:t> and</a:t>
                      </a:r>
                      <a:endParaRPr sz="700">
                        <a:solidFill>
                          <a:schemeClr val="accent6"/>
                        </a:solidFill>
                        <a:latin typeface="Arial"/>
                        <a:cs typeface="Arial"/>
                      </a:endParaRPr>
                    </a:p>
                  </a:txBody>
                  <a:tcPr marL="0" marR="0" marT="0" marB="0">
                    <a:lnR w="12700" cap="flat" cmpd="sng" algn="ctr">
                      <a:solidFill>
                        <a:srgbClr val="089C8B"/>
                      </a:solidFill>
                      <a:prstDash val="solid"/>
                      <a:round/>
                      <a:headEnd type="none" w="med" len="med"/>
                      <a:tailEnd type="none" w="med" len="med"/>
                    </a:lnR>
                    <a:solidFill>
                      <a:srgbClr val="FFFFFF"/>
                    </a:solidFill>
                  </a:tcPr>
                </a:tc>
                <a:extLst>
                  <a:ext uri="{0D108BD9-81ED-4DB2-BD59-A6C34878D82A}">
                    <a16:rowId xmlns:a16="http://schemas.microsoft.com/office/drawing/2014/main" val="10007"/>
                  </a:ext>
                </a:extLst>
              </a:tr>
              <a:tr h="143420">
                <a:tc>
                  <a:txBody>
                    <a:bodyPr/>
                    <a:lstStyle/>
                    <a:p>
                      <a:pPr>
                        <a:lnSpc>
                          <a:spcPct val="100000"/>
                        </a:lnSpc>
                      </a:pPr>
                      <a:endParaRPr sz="800">
                        <a:latin typeface="Times New Roman"/>
                        <a:cs typeface="Times New Roman"/>
                      </a:endParaRPr>
                    </a:p>
                  </a:txBody>
                  <a:tcPr marL="0" marR="0" marT="0" marB="0">
                    <a:lnL w="12700" cap="flat" cmpd="sng" algn="ctr">
                      <a:solidFill>
                        <a:srgbClr val="089C8B"/>
                      </a:solidFill>
                      <a:prstDash val="solid"/>
                      <a:round/>
                      <a:headEnd type="none" w="med" len="med"/>
                      <a:tailEnd type="none" w="med" len="med"/>
                    </a:lnL>
                    <a:lnB w="12700" cap="flat" cmpd="sng" algn="ctr">
                      <a:solidFill>
                        <a:srgbClr val="089C8B"/>
                      </a:solidFill>
                      <a:prstDash val="solid"/>
                      <a:round/>
                      <a:headEnd type="none" w="med" len="med"/>
                      <a:tailEnd type="none" w="med" len="med"/>
                    </a:lnB>
                    <a:solidFill>
                      <a:srgbClr val="FFFFFF"/>
                    </a:solidFill>
                  </a:tcPr>
                </a:tc>
                <a:tc>
                  <a:txBody>
                    <a:bodyPr/>
                    <a:lstStyle/>
                    <a:p>
                      <a:pPr marR="117475" algn="ctr">
                        <a:lnSpc>
                          <a:spcPct val="100000"/>
                        </a:lnSpc>
                        <a:spcBef>
                          <a:spcPts val="10"/>
                        </a:spcBef>
                      </a:pPr>
                      <a:r>
                        <a:rPr sz="700" i="1" spc="-10">
                          <a:solidFill>
                            <a:schemeClr val="accent6"/>
                          </a:solidFill>
                          <a:latin typeface="Arial"/>
                          <a:cs typeface="Arial"/>
                        </a:rPr>
                        <a:t>research</a:t>
                      </a:r>
                      <a:endParaRPr sz="700">
                        <a:solidFill>
                          <a:schemeClr val="accent6"/>
                        </a:solidFill>
                        <a:latin typeface="Arial"/>
                        <a:cs typeface="Arial"/>
                      </a:endParaRPr>
                    </a:p>
                  </a:txBody>
                  <a:tcPr marL="0" marR="0" marT="1270" marB="0">
                    <a:lnB w="12700" cap="flat" cmpd="sng" algn="ctr">
                      <a:solidFill>
                        <a:srgbClr val="089C8B"/>
                      </a:solidFill>
                      <a:prstDash val="solid"/>
                      <a:round/>
                      <a:headEnd type="none" w="med" len="med"/>
                      <a:tailEnd type="none" w="med" len="med"/>
                    </a:lnB>
                    <a:solidFill>
                      <a:srgbClr val="FFFFFF"/>
                    </a:solidFill>
                  </a:tcPr>
                </a:tc>
                <a:tc>
                  <a:txBody>
                    <a:bodyPr/>
                    <a:lstStyle/>
                    <a:p>
                      <a:pPr marL="10160" algn="ctr">
                        <a:lnSpc>
                          <a:spcPts val="830"/>
                        </a:lnSpc>
                      </a:pPr>
                      <a:r>
                        <a:rPr sz="700" i="1">
                          <a:solidFill>
                            <a:schemeClr val="accent6"/>
                          </a:solidFill>
                          <a:latin typeface="Arial"/>
                          <a:cs typeface="Arial"/>
                        </a:rPr>
                        <a:t>capacity</a:t>
                      </a:r>
                      <a:r>
                        <a:rPr sz="700" i="1" spc="-40">
                          <a:solidFill>
                            <a:schemeClr val="accent6"/>
                          </a:solidFill>
                          <a:latin typeface="Arial"/>
                          <a:cs typeface="Arial"/>
                        </a:rPr>
                        <a:t> </a:t>
                      </a:r>
                      <a:r>
                        <a:rPr sz="700" i="1" spc="-10">
                          <a:solidFill>
                            <a:schemeClr val="accent6"/>
                          </a:solidFill>
                          <a:latin typeface="Arial"/>
                          <a:cs typeface="Arial"/>
                        </a:rPr>
                        <a:t>growth</a:t>
                      </a:r>
                      <a:endParaRPr sz="700">
                        <a:solidFill>
                          <a:schemeClr val="accent6"/>
                        </a:solidFill>
                        <a:latin typeface="Arial"/>
                        <a:cs typeface="Arial"/>
                      </a:endParaRPr>
                    </a:p>
                  </a:txBody>
                  <a:tcPr marL="0" marR="0" marT="0" marB="0">
                    <a:lnB w="12700" cap="flat" cmpd="sng" algn="ctr">
                      <a:solidFill>
                        <a:srgbClr val="089C8B"/>
                      </a:solidFill>
                      <a:prstDash val="solid"/>
                      <a:round/>
                      <a:headEnd type="none" w="med" len="med"/>
                      <a:tailEnd type="none" w="med" len="med"/>
                    </a:lnB>
                    <a:solidFill>
                      <a:srgbClr val="FFFFFF"/>
                    </a:solidFill>
                  </a:tcPr>
                </a:tc>
                <a:tc>
                  <a:txBody>
                    <a:bodyPr/>
                    <a:lstStyle/>
                    <a:p>
                      <a:pPr marL="1905" algn="ctr">
                        <a:lnSpc>
                          <a:spcPts val="830"/>
                        </a:lnSpc>
                      </a:pPr>
                      <a:r>
                        <a:rPr sz="700" i="1">
                          <a:solidFill>
                            <a:schemeClr val="accent6"/>
                          </a:solidFill>
                          <a:latin typeface="Arial"/>
                          <a:cs typeface="Arial"/>
                        </a:rPr>
                        <a:t>technology</a:t>
                      </a:r>
                      <a:r>
                        <a:rPr sz="700" i="1" spc="-35">
                          <a:solidFill>
                            <a:schemeClr val="accent6"/>
                          </a:solidFill>
                          <a:latin typeface="Arial"/>
                          <a:cs typeface="Arial"/>
                        </a:rPr>
                        <a:t> </a:t>
                      </a:r>
                      <a:r>
                        <a:rPr sz="700" i="1" spc="-10">
                          <a:solidFill>
                            <a:schemeClr val="accent6"/>
                          </a:solidFill>
                          <a:latin typeface="Arial"/>
                          <a:cs typeface="Arial"/>
                        </a:rPr>
                        <a:t>advancement</a:t>
                      </a:r>
                      <a:endParaRPr sz="700">
                        <a:solidFill>
                          <a:schemeClr val="accent6"/>
                        </a:solidFill>
                        <a:latin typeface="Arial"/>
                        <a:cs typeface="Arial"/>
                      </a:endParaRPr>
                    </a:p>
                  </a:txBody>
                  <a:tcPr marL="0" marR="0" marT="0" marB="0">
                    <a:lnR w="12700" cap="flat" cmpd="sng" algn="ctr">
                      <a:solidFill>
                        <a:srgbClr val="089C8B"/>
                      </a:solidFill>
                      <a:prstDash val="solid"/>
                      <a:round/>
                      <a:headEnd type="none" w="med" len="med"/>
                      <a:tailEnd type="none" w="med" len="med"/>
                    </a:lnR>
                    <a:lnB w="12700" cap="flat" cmpd="sng" algn="ctr">
                      <a:solidFill>
                        <a:srgbClr val="089C8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95" name="TextBox 94">
            <a:extLst>
              <a:ext uri="{FF2B5EF4-FFF2-40B4-BE49-F238E27FC236}">
                <a16:creationId xmlns:a16="http://schemas.microsoft.com/office/drawing/2014/main" id="{1E62F97F-1620-A23C-1DC5-EF6A88B25C61}"/>
              </a:ext>
            </a:extLst>
          </p:cNvPr>
          <p:cNvSpPr txBox="1">
            <a:spLocks noChangeArrowheads="1"/>
          </p:cNvSpPr>
          <p:nvPr/>
        </p:nvSpPr>
        <p:spPr bwMode="auto">
          <a:xfrm>
            <a:off x="4113530" y="1224755"/>
            <a:ext cx="5183416" cy="390686"/>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a:cs typeface="Arial" panose="020B0604020202020204" pitchFamily="34" charset="0"/>
              </a:rPr>
              <a:t>IPO Issuers Conducted Subsequent Follow-ons</a:t>
            </a:r>
          </a:p>
        </p:txBody>
      </p:sp>
      <p:sp>
        <p:nvSpPr>
          <p:cNvPr id="92" name="Title 91">
            <a:extLst>
              <a:ext uri="{FF2B5EF4-FFF2-40B4-BE49-F238E27FC236}">
                <a16:creationId xmlns:a16="http://schemas.microsoft.com/office/drawing/2014/main" id="{09119812-D664-77FB-DF9F-4BB9D5972658}"/>
              </a:ext>
            </a:extLst>
          </p:cNvPr>
          <p:cNvSpPr>
            <a:spLocks noGrp="1"/>
          </p:cNvSpPr>
          <p:nvPr>
            <p:ph type="title"/>
          </p:nvPr>
        </p:nvSpPr>
        <p:spPr/>
        <p:txBody>
          <a:bodyPr/>
          <a:lstStyle/>
          <a:p>
            <a:r>
              <a:rPr lang="en-US"/>
              <a:t>International Issuers Utilized Hong Kong’s Fundraising Platform</a:t>
            </a:r>
          </a:p>
        </p:txBody>
      </p:sp>
      <p:sp>
        <p:nvSpPr>
          <p:cNvPr id="7" name="Text Placeholder 6">
            <a:extLst>
              <a:ext uri="{FF2B5EF4-FFF2-40B4-BE49-F238E27FC236}">
                <a16:creationId xmlns:a16="http://schemas.microsoft.com/office/drawing/2014/main" id="{62DCEE05-23AB-6DBF-02A0-E2D36C61A0AC}"/>
              </a:ext>
            </a:extLst>
          </p:cNvPr>
          <p:cNvSpPr>
            <a:spLocks noGrp="1"/>
          </p:cNvSpPr>
          <p:nvPr>
            <p:ph type="body" sz="quarter" idx="46"/>
          </p:nvPr>
        </p:nvSpPr>
        <p:spPr/>
        <p:txBody>
          <a:bodyPr/>
          <a:lstStyle/>
          <a:p>
            <a:pPr marL="0" indent="0">
              <a:buNone/>
            </a:pPr>
            <a:r>
              <a:rPr lang="en-US" altLang="zh-CN" sz="800"/>
              <a:t>Sources: HKEX, Bloomberg, Wind, Dealogic and company announcement as of 31 Mar 2026 </a:t>
            </a:r>
          </a:p>
          <a:p>
            <a:pPr>
              <a:tabLst>
                <a:tab pos="401638" algn="l"/>
                <a:tab pos="573088" algn="l"/>
              </a:tabLst>
            </a:pPr>
            <a:r>
              <a:rPr lang="en-US" altLang="zh-CN" sz="800"/>
              <a:t>1M ADT since Southbound inclusion if less than 1 month of Southbound inclusion history</a:t>
            </a:r>
          </a:p>
          <a:p>
            <a:endParaRPr lang="en-GB" sz="800"/>
          </a:p>
        </p:txBody>
      </p:sp>
      <p:pic>
        <p:nvPicPr>
          <p:cNvPr id="13" name="object 13" descr="Mirxes | Genomic Services | Next-Generation Sequencing (NGS)"/>
          <p:cNvPicPr/>
          <p:nvPr/>
        </p:nvPicPr>
        <p:blipFill>
          <a:blip r:embed="rId2" cstate="print"/>
          <a:stretch>
            <a:fillRect/>
          </a:stretch>
        </p:blipFill>
        <p:spPr>
          <a:xfrm>
            <a:off x="4479887" y="1964411"/>
            <a:ext cx="1104722" cy="304377"/>
          </a:xfrm>
          <a:prstGeom prst="rect">
            <a:avLst/>
          </a:prstGeom>
        </p:spPr>
      </p:pic>
      <p:pic>
        <p:nvPicPr>
          <p:cNvPr id="14" name="object 14" descr="Shandong Nanshan Aluminium Co., Ltd. | Members | About ASI | Aluminium  Stewardship Initiative"/>
          <p:cNvPicPr/>
          <p:nvPr/>
        </p:nvPicPr>
        <p:blipFill>
          <a:blip r:embed="rId3" cstate="print"/>
          <a:stretch>
            <a:fillRect/>
          </a:stretch>
        </p:blipFill>
        <p:spPr>
          <a:xfrm>
            <a:off x="6156330" y="1891707"/>
            <a:ext cx="1151894" cy="390687"/>
          </a:xfrm>
          <a:prstGeom prst="rect">
            <a:avLst/>
          </a:prstGeom>
        </p:spPr>
      </p:pic>
      <p:pic>
        <p:nvPicPr>
          <p:cNvPr id="48" name="object 48"/>
          <p:cNvPicPr/>
          <p:nvPr/>
        </p:nvPicPr>
        <p:blipFill>
          <a:blip r:embed="rId4" cstate="print"/>
          <a:stretch>
            <a:fillRect/>
          </a:stretch>
        </p:blipFill>
        <p:spPr>
          <a:xfrm>
            <a:off x="609600" y="1460564"/>
            <a:ext cx="3755898" cy="4245229"/>
          </a:xfrm>
          <a:prstGeom prst="rect">
            <a:avLst/>
          </a:prstGeom>
        </p:spPr>
      </p:pic>
      <p:pic>
        <p:nvPicPr>
          <p:cNvPr id="91" name="object 91" descr="File:J&amp;T Express logo.svg - Wikipedia"/>
          <p:cNvPicPr/>
          <p:nvPr/>
        </p:nvPicPr>
        <p:blipFill>
          <a:blip r:embed="rId5" cstate="print"/>
          <a:stretch>
            <a:fillRect/>
          </a:stretch>
        </p:blipFill>
        <p:spPr>
          <a:xfrm>
            <a:off x="7879945" y="1932808"/>
            <a:ext cx="1177624" cy="259635"/>
          </a:xfrm>
          <a:prstGeom prst="rect">
            <a:avLst/>
          </a:prstGeom>
        </p:spPr>
      </p:pic>
      <p:grpSp>
        <p:nvGrpSpPr>
          <p:cNvPr id="2" name="Group 1">
            <a:extLst>
              <a:ext uri="{FF2B5EF4-FFF2-40B4-BE49-F238E27FC236}">
                <a16:creationId xmlns:a16="http://schemas.microsoft.com/office/drawing/2014/main" id="{E5F70E6A-7A31-0D75-5B71-22046F0034E8}"/>
              </a:ext>
            </a:extLst>
          </p:cNvPr>
          <p:cNvGrpSpPr/>
          <p:nvPr/>
        </p:nvGrpSpPr>
        <p:grpSpPr>
          <a:xfrm>
            <a:off x="453000" y="1213573"/>
            <a:ext cx="3581791" cy="4587494"/>
            <a:chOff x="963269" y="1444371"/>
            <a:chExt cx="3071522" cy="3892754"/>
          </a:xfrm>
        </p:grpSpPr>
        <p:sp>
          <p:nvSpPr>
            <p:cNvPr id="49" name="object 49"/>
            <p:cNvSpPr/>
            <p:nvPr/>
          </p:nvSpPr>
          <p:spPr>
            <a:xfrm>
              <a:off x="963269" y="1788110"/>
              <a:ext cx="3069590" cy="3549015"/>
            </a:xfrm>
            <a:custGeom>
              <a:avLst/>
              <a:gdLst/>
              <a:ahLst/>
              <a:cxnLst/>
              <a:rect l="l" t="t" r="r" b="b"/>
              <a:pathLst>
                <a:path w="3069590" h="3549015">
                  <a:moveTo>
                    <a:pt x="3069463" y="0"/>
                  </a:moveTo>
                  <a:lnTo>
                    <a:pt x="0" y="0"/>
                  </a:lnTo>
                  <a:lnTo>
                    <a:pt x="0" y="3548507"/>
                  </a:lnTo>
                  <a:lnTo>
                    <a:pt x="3069463" y="3548507"/>
                  </a:lnTo>
                  <a:lnTo>
                    <a:pt x="3069463" y="0"/>
                  </a:lnTo>
                  <a:close/>
                </a:path>
              </a:pathLst>
            </a:custGeom>
            <a:solidFill>
              <a:srgbClr val="FFFFFF"/>
            </a:solidFill>
            <a:ln>
              <a:solidFill>
                <a:srgbClr val="089C8B"/>
              </a:solidFill>
            </a:ln>
          </p:spPr>
          <p:txBody>
            <a:bodyPr wrap="square" lIns="0" tIns="0" rIns="0" bIns="0" rtlCol="0"/>
            <a:lstStyle/>
            <a:p>
              <a:endParaRPr/>
            </a:p>
          </p:txBody>
        </p:sp>
        <p:sp>
          <p:nvSpPr>
            <p:cNvPr id="50" name="object 50"/>
            <p:cNvSpPr/>
            <p:nvPr/>
          </p:nvSpPr>
          <p:spPr>
            <a:xfrm>
              <a:off x="963269" y="1788110"/>
              <a:ext cx="3069590" cy="3549015"/>
            </a:xfrm>
            <a:custGeom>
              <a:avLst/>
              <a:gdLst/>
              <a:ahLst/>
              <a:cxnLst/>
              <a:rect l="l" t="t" r="r" b="b"/>
              <a:pathLst>
                <a:path w="3069590" h="3549015">
                  <a:moveTo>
                    <a:pt x="0" y="3548507"/>
                  </a:moveTo>
                  <a:lnTo>
                    <a:pt x="3069463" y="3548507"/>
                  </a:lnTo>
                  <a:lnTo>
                    <a:pt x="3069463" y="0"/>
                  </a:lnTo>
                  <a:lnTo>
                    <a:pt x="0" y="0"/>
                  </a:lnTo>
                  <a:lnTo>
                    <a:pt x="0" y="3548507"/>
                  </a:lnTo>
                  <a:close/>
                </a:path>
              </a:pathLst>
            </a:custGeom>
            <a:ln w="6349">
              <a:solidFill>
                <a:srgbClr val="089C8B"/>
              </a:solidFill>
            </a:ln>
          </p:spPr>
          <p:txBody>
            <a:bodyPr wrap="square" lIns="0" tIns="0" rIns="0" bIns="0" rtlCol="0"/>
            <a:lstStyle/>
            <a:p>
              <a:endParaRPr/>
            </a:p>
          </p:txBody>
        </p:sp>
        <p:sp>
          <p:nvSpPr>
            <p:cNvPr id="51" name="object 51"/>
            <p:cNvSpPr txBox="1"/>
            <p:nvPr/>
          </p:nvSpPr>
          <p:spPr>
            <a:xfrm>
              <a:off x="1283817" y="1916429"/>
              <a:ext cx="853440" cy="773430"/>
            </a:xfrm>
            <a:prstGeom prst="rect">
              <a:avLst/>
            </a:prstGeom>
          </p:spPr>
          <p:txBody>
            <a:bodyPr vert="horz" wrap="square" lIns="0" tIns="12065" rIns="0" bIns="0" rtlCol="0">
              <a:spAutoFit/>
            </a:bodyPr>
            <a:lstStyle/>
            <a:p>
              <a:pPr marR="3810" algn="ctr">
                <a:spcBef>
                  <a:spcPts val="95"/>
                </a:spcBef>
              </a:pPr>
              <a:r>
                <a:rPr sz="1600" spc="-50">
                  <a:solidFill>
                    <a:schemeClr val="tx2"/>
                  </a:solidFill>
                  <a:latin typeface="Arial"/>
                  <a:cs typeface="Arial"/>
                </a:rPr>
                <a:t>7</a:t>
              </a:r>
              <a:endParaRPr sz="1600">
                <a:solidFill>
                  <a:schemeClr val="tx2"/>
                </a:solidFill>
                <a:latin typeface="Arial"/>
                <a:cs typeface="Arial"/>
              </a:endParaRPr>
            </a:p>
            <a:p>
              <a:pPr marR="5080" algn="ctr">
                <a:spcBef>
                  <a:spcPts val="5"/>
                </a:spcBef>
              </a:pPr>
              <a:r>
                <a:rPr sz="1100" spc="-10">
                  <a:solidFill>
                    <a:srgbClr val="12426B"/>
                  </a:solidFill>
                  <a:latin typeface="Arial"/>
                  <a:cs typeface="Arial"/>
                </a:rPr>
                <a:t>International </a:t>
              </a:r>
              <a:r>
                <a:rPr sz="1100">
                  <a:solidFill>
                    <a:srgbClr val="12426B"/>
                  </a:solidFill>
                  <a:latin typeface="Arial"/>
                  <a:cs typeface="Arial"/>
                </a:rPr>
                <a:t>Issuer</a:t>
              </a:r>
              <a:r>
                <a:rPr sz="1100" spc="-35">
                  <a:solidFill>
                    <a:srgbClr val="12426B"/>
                  </a:solidFill>
                  <a:latin typeface="Arial"/>
                  <a:cs typeface="Arial"/>
                </a:rPr>
                <a:t> </a:t>
              </a:r>
              <a:r>
                <a:rPr sz="1100" spc="-20">
                  <a:solidFill>
                    <a:srgbClr val="12426B"/>
                  </a:solidFill>
                  <a:latin typeface="Arial"/>
                  <a:cs typeface="Arial"/>
                </a:rPr>
                <a:t>IPOs </a:t>
              </a:r>
              <a:r>
                <a:rPr sz="1100">
                  <a:solidFill>
                    <a:srgbClr val="12426B"/>
                  </a:solidFill>
                  <a:latin typeface="Arial"/>
                  <a:cs typeface="Arial"/>
                </a:rPr>
                <a:t>in</a:t>
              </a:r>
              <a:r>
                <a:rPr sz="1100" spc="-20">
                  <a:solidFill>
                    <a:srgbClr val="12426B"/>
                  </a:solidFill>
                  <a:latin typeface="Arial"/>
                  <a:cs typeface="Arial"/>
                </a:rPr>
                <a:t> 2025</a:t>
              </a:r>
              <a:endParaRPr sz="1100">
                <a:latin typeface="Arial"/>
                <a:cs typeface="Arial"/>
              </a:endParaRPr>
            </a:p>
          </p:txBody>
        </p:sp>
        <p:sp>
          <p:nvSpPr>
            <p:cNvPr id="52" name="object 52"/>
            <p:cNvSpPr txBox="1"/>
            <p:nvPr/>
          </p:nvSpPr>
          <p:spPr>
            <a:xfrm>
              <a:off x="2692909" y="1913635"/>
              <a:ext cx="1086485" cy="773430"/>
            </a:xfrm>
            <a:prstGeom prst="rect">
              <a:avLst/>
            </a:prstGeom>
          </p:spPr>
          <p:txBody>
            <a:bodyPr vert="horz" wrap="square" lIns="0" tIns="12065" rIns="0" bIns="0" rtlCol="0">
              <a:spAutoFit/>
            </a:bodyPr>
            <a:lstStyle/>
            <a:p>
              <a:pPr marL="393065">
                <a:spcBef>
                  <a:spcPts val="95"/>
                </a:spcBef>
              </a:pPr>
              <a:r>
                <a:rPr sz="1600" spc="-25">
                  <a:solidFill>
                    <a:srgbClr val="00AF50"/>
                  </a:solidFill>
                  <a:latin typeface="Arial"/>
                  <a:cs typeface="Arial"/>
                </a:rPr>
                <a:t>49%</a:t>
              </a:r>
              <a:endParaRPr sz="1600">
                <a:latin typeface="Arial"/>
                <a:cs typeface="Arial"/>
              </a:endParaRPr>
            </a:p>
            <a:p>
              <a:pPr marR="5080" algn="ctr">
                <a:spcBef>
                  <a:spcPts val="5"/>
                </a:spcBef>
              </a:pPr>
              <a:r>
                <a:rPr sz="1100">
                  <a:solidFill>
                    <a:srgbClr val="12426B"/>
                  </a:solidFill>
                  <a:latin typeface="Arial"/>
                  <a:cs typeface="Arial"/>
                </a:rPr>
                <a:t>Median</a:t>
              </a:r>
              <a:r>
                <a:rPr sz="1100" spc="-35">
                  <a:solidFill>
                    <a:srgbClr val="12426B"/>
                  </a:solidFill>
                  <a:latin typeface="Arial"/>
                  <a:cs typeface="Arial"/>
                </a:rPr>
                <a:t> </a:t>
              </a:r>
              <a:r>
                <a:rPr sz="1100" spc="-10">
                  <a:solidFill>
                    <a:srgbClr val="12426B"/>
                  </a:solidFill>
                  <a:latin typeface="Arial"/>
                  <a:cs typeface="Arial"/>
                </a:rPr>
                <a:t>1-</a:t>
              </a:r>
              <a:r>
                <a:rPr sz="1100" spc="-20">
                  <a:solidFill>
                    <a:srgbClr val="12426B"/>
                  </a:solidFill>
                  <a:latin typeface="Arial"/>
                  <a:cs typeface="Arial"/>
                </a:rPr>
                <a:t>month </a:t>
              </a:r>
              <a:r>
                <a:rPr sz="1100" spc="-10">
                  <a:solidFill>
                    <a:srgbClr val="12426B"/>
                  </a:solidFill>
                  <a:latin typeface="Arial"/>
                  <a:cs typeface="Arial"/>
                </a:rPr>
                <a:t>Aftermarket Performance</a:t>
              </a:r>
              <a:endParaRPr sz="1100">
                <a:latin typeface="Arial"/>
                <a:cs typeface="Arial"/>
              </a:endParaRPr>
            </a:p>
          </p:txBody>
        </p:sp>
        <p:sp>
          <p:nvSpPr>
            <p:cNvPr id="54" name="object 54"/>
            <p:cNvSpPr/>
            <p:nvPr/>
          </p:nvSpPr>
          <p:spPr>
            <a:xfrm>
              <a:off x="2854832" y="1980691"/>
              <a:ext cx="188595" cy="141605"/>
            </a:xfrm>
            <a:custGeom>
              <a:avLst/>
              <a:gdLst/>
              <a:ahLst/>
              <a:cxnLst/>
              <a:rect l="l" t="t" r="r" b="b"/>
              <a:pathLst>
                <a:path w="188594" h="141605">
                  <a:moveTo>
                    <a:pt x="94106" y="0"/>
                  </a:moveTo>
                  <a:lnTo>
                    <a:pt x="0" y="141097"/>
                  </a:lnTo>
                  <a:lnTo>
                    <a:pt x="188087" y="141097"/>
                  </a:lnTo>
                  <a:lnTo>
                    <a:pt x="94106" y="0"/>
                  </a:lnTo>
                  <a:close/>
                </a:path>
              </a:pathLst>
            </a:custGeom>
            <a:solidFill>
              <a:srgbClr val="00AF50"/>
            </a:solidFill>
          </p:spPr>
          <p:txBody>
            <a:bodyPr wrap="square" lIns="0" tIns="0" rIns="0" bIns="0" rtlCol="0"/>
            <a:lstStyle/>
            <a:p>
              <a:endParaRPr/>
            </a:p>
          </p:txBody>
        </p:sp>
        <p:sp>
          <p:nvSpPr>
            <p:cNvPr id="57" name="object 57"/>
            <p:cNvSpPr txBox="1"/>
            <p:nvPr/>
          </p:nvSpPr>
          <p:spPr>
            <a:xfrm>
              <a:off x="1161899" y="3013965"/>
              <a:ext cx="1108075" cy="605155"/>
            </a:xfrm>
            <a:prstGeom prst="rect">
              <a:avLst/>
            </a:prstGeom>
          </p:spPr>
          <p:txBody>
            <a:bodyPr vert="horz" wrap="square" lIns="0" tIns="12065" rIns="0" bIns="0" rtlCol="0">
              <a:spAutoFit/>
            </a:bodyPr>
            <a:lstStyle/>
            <a:p>
              <a:pPr marR="3810" algn="ctr">
                <a:spcBef>
                  <a:spcPts val="95"/>
                </a:spcBef>
              </a:pPr>
              <a:r>
                <a:rPr sz="1600" spc="-10">
                  <a:solidFill>
                    <a:schemeClr val="tx2"/>
                  </a:solidFill>
                  <a:latin typeface="Arial"/>
                  <a:cs typeface="Arial"/>
                </a:rPr>
                <a:t>US$40mm</a:t>
              </a:r>
              <a:endParaRPr sz="1600">
                <a:solidFill>
                  <a:schemeClr val="tx2"/>
                </a:solidFill>
                <a:latin typeface="Arial"/>
                <a:cs typeface="Arial"/>
              </a:endParaRPr>
            </a:p>
            <a:p>
              <a:pPr marR="5080" algn="ctr">
                <a:spcBef>
                  <a:spcPts val="5"/>
                </a:spcBef>
              </a:pPr>
              <a:r>
                <a:rPr sz="1100">
                  <a:solidFill>
                    <a:srgbClr val="12426B"/>
                  </a:solidFill>
                  <a:latin typeface="Arial"/>
                  <a:cs typeface="Arial"/>
                </a:rPr>
                <a:t>Average</a:t>
              </a:r>
              <a:r>
                <a:rPr sz="1100" spc="-60">
                  <a:solidFill>
                    <a:srgbClr val="12426B"/>
                  </a:solidFill>
                  <a:latin typeface="Arial"/>
                  <a:cs typeface="Arial"/>
                </a:rPr>
                <a:t> </a:t>
              </a:r>
              <a:r>
                <a:rPr sz="1100" spc="-10">
                  <a:solidFill>
                    <a:srgbClr val="12426B"/>
                  </a:solidFill>
                  <a:latin typeface="Arial"/>
                  <a:cs typeface="Arial"/>
                </a:rPr>
                <a:t>Current </a:t>
              </a:r>
              <a:r>
                <a:rPr sz="1100">
                  <a:solidFill>
                    <a:srgbClr val="12426B"/>
                  </a:solidFill>
                  <a:latin typeface="Arial"/>
                  <a:cs typeface="Arial"/>
                </a:rPr>
                <a:t>3M</a:t>
              </a:r>
              <a:r>
                <a:rPr sz="1100" spc="-20">
                  <a:solidFill>
                    <a:srgbClr val="12426B"/>
                  </a:solidFill>
                  <a:latin typeface="Arial"/>
                  <a:cs typeface="Arial"/>
                </a:rPr>
                <a:t> </a:t>
              </a:r>
              <a:r>
                <a:rPr sz="1100" spc="-25">
                  <a:solidFill>
                    <a:srgbClr val="12426B"/>
                  </a:solidFill>
                  <a:latin typeface="Arial"/>
                  <a:cs typeface="Arial"/>
                </a:rPr>
                <a:t>ADT</a:t>
              </a:r>
              <a:endParaRPr sz="1100">
                <a:latin typeface="Arial"/>
                <a:cs typeface="Arial"/>
              </a:endParaRPr>
            </a:p>
          </p:txBody>
        </p:sp>
        <p:sp>
          <p:nvSpPr>
            <p:cNvPr id="58" name="object 58"/>
            <p:cNvSpPr txBox="1"/>
            <p:nvPr/>
          </p:nvSpPr>
          <p:spPr>
            <a:xfrm>
              <a:off x="2611249" y="3013965"/>
              <a:ext cx="1250315" cy="605155"/>
            </a:xfrm>
            <a:prstGeom prst="rect">
              <a:avLst/>
            </a:prstGeom>
          </p:spPr>
          <p:txBody>
            <a:bodyPr vert="horz" wrap="square" lIns="0" tIns="12065" rIns="0" bIns="0" rtlCol="0">
              <a:spAutoFit/>
            </a:bodyPr>
            <a:lstStyle/>
            <a:p>
              <a:pPr marR="4445" algn="ctr">
                <a:spcBef>
                  <a:spcPts val="95"/>
                </a:spcBef>
              </a:pPr>
              <a:r>
                <a:rPr sz="1600" spc="-50">
                  <a:solidFill>
                    <a:schemeClr val="tx2"/>
                  </a:solidFill>
                  <a:latin typeface="Arial"/>
                  <a:cs typeface="Arial"/>
                </a:rPr>
                <a:t>2</a:t>
              </a:r>
              <a:endParaRPr sz="1600">
                <a:solidFill>
                  <a:schemeClr val="tx2"/>
                </a:solidFill>
                <a:latin typeface="Arial"/>
                <a:cs typeface="Arial"/>
              </a:endParaRPr>
            </a:p>
            <a:p>
              <a:pPr marR="5080" indent="1270" algn="ctr">
                <a:spcBef>
                  <a:spcPts val="5"/>
                </a:spcBef>
              </a:pPr>
              <a:r>
                <a:rPr sz="1100">
                  <a:solidFill>
                    <a:srgbClr val="12426B"/>
                  </a:solidFill>
                  <a:latin typeface="Arial"/>
                  <a:cs typeface="Arial"/>
                </a:rPr>
                <a:t>2025</a:t>
              </a:r>
              <a:r>
                <a:rPr sz="1100" spc="-20">
                  <a:solidFill>
                    <a:srgbClr val="12426B"/>
                  </a:solidFill>
                  <a:latin typeface="Arial"/>
                  <a:cs typeface="Arial"/>
                </a:rPr>
                <a:t> </a:t>
              </a:r>
              <a:r>
                <a:rPr sz="1100">
                  <a:solidFill>
                    <a:srgbClr val="12426B"/>
                  </a:solidFill>
                  <a:latin typeface="Arial"/>
                  <a:cs typeface="Arial"/>
                </a:rPr>
                <a:t>IPO</a:t>
              </a:r>
              <a:r>
                <a:rPr sz="1100" spc="-40">
                  <a:solidFill>
                    <a:srgbClr val="12426B"/>
                  </a:solidFill>
                  <a:latin typeface="Arial"/>
                  <a:cs typeface="Arial"/>
                </a:rPr>
                <a:t> </a:t>
              </a:r>
              <a:r>
                <a:rPr sz="1100" spc="-10">
                  <a:solidFill>
                    <a:srgbClr val="12426B"/>
                  </a:solidFill>
                  <a:latin typeface="Arial"/>
                  <a:cs typeface="Arial"/>
                </a:rPr>
                <a:t>Issuers </a:t>
              </a:r>
              <a:r>
                <a:rPr sz="1100">
                  <a:solidFill>
                    <a:srgbClr val="12426B"/>
                  </a:solidFill>
                  <a:latin typeface="Arial"/>
                  <a:cs typeface="Arial"/>
                </a:rPr>
                <a:t>Raised</a:t>
              </a:r>
              <a:r>
                <a:rPr sz="1100" spc="-50">
                  <a:solidFill>
                    <a:srgbClr val="12426B"/>
                  </a:solidFill>
                  <a:latin typeface="Arial"/>
                  <a:cs typeface="Arial"/>
                </a:rPr>
                <a:t> </a:t>
              </a:r>
              <a:r>
                <a:rPr sz="1100">
                  <a:solidFill>
                    <a:srgbClr val="12426B"/>
                  </a:solidFill>
                  <a:latin typeface="Arial"/>
                  <a:cs typeface="Arial"/>
                </a:rPr>
                <a:t>Follow-</a:t>
              </a:r>
              <a:r>
                <a:rPr sz="1100" spc="-25">
                  <a:solidFill>
                    <a:srgbClr val="12426B"/>
                  </a:solidFill>
                  <a:latin typeface="Arial"/>
                  <a:cs typeface="Arial"/>
                </a:rPr>
                <a:t>ons</a:t>
              </a:r>
              <a:endParaRPr sz="1100">
                <a:latin typeface="Arial"/>
                <a:cs typeface="Arial"/>
              </a:endParaRPr>
            </a:p>
          </p:txBody>
        </p:sp>
        <p:pic>
          <p:nvPicPr>
            <p:cNvPr id="77" name="object 77" descr="Shandong Nanshan Aluminium Co., Ltd. | Members | About ASI | Aluminium  Stewardship Initiative"/>
            <p:cNvPicPr/>
            <p:nvPr/>
          </p:nvPicPr>
          <p:blipFill>
            <a:blip r:embed="rId6" cstate="print"/>
            <a:stretch>
              <a:fillRect/>
            </a:stretch>
          </p:blipFill>
          <p:spPr>
            <a:xfrm>
              <a:off x="3147695" y="4792143"/>
              <a:ext cx="765302" cy="246964"/>
            </a:xfrm>
            <a:prstGeom prst="rect">
              <a:avLst/>
            </a:prstGeom>
          </p:spPr>
        </p:pic>
        <p:sp>
          <p:nvSpPr>
            <p:cNvPr id="78" name="object 78"/>
            <p:cNvSpPr txBox="1"/>
            <p:nvPr/>
          </p:nvSpPr>
          <p:spPr>
            <a:xfrm>
              <a:off x="1251203" y="3940253"/>
              <a:ext cx="836294" cy="606425"/>
            </a:xfrm>
            <a:prstGeom prst="rect">
              <a:avLst/>
            </a:prstGeom>
          </p:spPr>
          <p:txBody>
            <a:bodyPr vert="horz" wrap="square" lIns="0" tIns="12065" rIns="0" bIns="0" rtlCol="0">
              <a:spAutoFit/>
            </a:bodyPr>
            <a:lstStyle/>
            <a:p>
              <a:pPr marR="5080" algn="ctr">
                <a:spcBef>
                  <a:spcPts val="95"/>
                </a:spcBef>
              </a:pPr>
              <a:r>
                <a:rPr sz="1600" spc="-25">
                  <a:solidFill>
                    <a:schemeClr val="tx2"/>
                  </a:solidFill>
                  <a:latin typeface="Arial"/>
                  <a:cs typeface="Arial"/>
                </a:rPr>
                <a:t>All</a:t>
              </a:r>
              <a:endParaRPr sz="1600">
                <a:solidFill>
                  <a:schemeClr val="tx2"/>
                </a:solidFill>
                <a:latin typeface="Arial"/>
                <a:cs typeface="Arial"/>
              </a:endParaRPr>
            </a:p>
            <a:p>
              <a:pPr marR="5080" algn="ctr">
                <a:spcBef>
                  <a:spcPts val="15"/>
                </a:spcBef>
              </a:pPr>
              <a:r>
                <a:rPr sz="1100" spc="-10">
                  <a:solidFill>
                    <a:srgbClr val="12426B"/>
                  </a:solidFill>
                  <a:latin typeface="Arial"/>
                  <a:cs typeface="Arial"/>
                </a:rPr>
                <a:t>Southbound Inclusion</a:t>
              </a:r>
              <a:endParaRPr sz="1100">
                <a:latin typeface="Arial"/>
                <a:cs typeface="Arial"/>
              </a:endParaRPr>
            </a:p>
          </p:txBody>
        </p:sp>
        <p:sp>
          <p:nvSpPr>
            <p:cNvPr id="79" name="object 79"/>
            <p:cNvSpPr txBox="1"/>
            <p:nvPr/>
          </p:nvSpPr>
          <p:spPr>
            <a:xfrm>
              <a:off x="3371723" y="5046397"/>
              <a:ext cx="332740" cy="182101"/>
            </a:xfrm>
            <a:prstGeom prst="rect">
              <a:avLst/>
            </a:prstGeom>
          </p:spPr>
          <p:txBody>
            <a:bodyPr vert="horz" wrap="square" lIns="0" tIns="12700" rIns="0" bIns="0" rtlCol="0">
              <a:spAutoFit/>
            </a:bodyPr>
            <a:lstStyle/>
            <a:p>
              <a:pPr>
                <a:spcBef>
                  <a:spcPts val="100"/>
                </a:spcBef>
              </a:pPr>
              <a:r>
                <a:rPr sz="1100" spc="-20">
                  <a:solidFill>
                    <a:srgbClr val="12426B"/>
                  </a:solidFill>
                  <a:latin typeface="Arial"/>
                  <a:cs typeface="Arial"/>
                </a:rPr>
                <a:t>4.0%</a:t>
              </a:r>
              <a:endParaRPr sz="1100">
                <a:latin typeface="Arial"/>
                <a:cs typeface="Arial"/>
              </a:endParaRPr>
            </a:p>
          </p:txBody>
        </p:sp>
        <p:pic>
          <p:nvPicPr>
            <p:cNvPr id="81" name="object 81" descr="Jiaxin International Resources Investment Limited 佳鑫國際資源投資有限公司"/>
            <p:cNvPicPr/>
            <p:nvPr/>
          </p:nvPicPr>
          <p:blipFill>
            <a:blip r:embed="rId7" cstate="print"/>
            <a:stretch>
              <a:fillRect/>
            </a:stretch>
          </p:blipFill>
          <p:spPr>
            <a:xfrm>
              <a:off x="2565780" y="4697869"/>
              <a:ext cx="310895" cy="358495"/>
            </a:xfrm>
            <a:prstGeom prst="rect">
              <a:avLst/>
            </a:prstGeom>
          </p:spPr>
        </p:pic>
        <p:pic>
          <p:nvPicPr>
            <p:cNvPr id="82" name="object 82" descr="Mirxes | Genomic Services | Next-Generation Sequencing (NGS)"/>
            <p:cNvPicPr/>
            <p:nvPr/>
          </p:nvPicPr>
          <p:blipFill>
            <a:blip r:embed="rId8" cstate="print"/>
            <a:stretch>
              <a:fillRect/>
            </a:stretch>
          </p:blipFill>
          <p:spPr>
            <a:xfrm>
              <a:off x="2426080" y="4086974"/>
              <a:ext cx="724776" cy="190004"/>
            </a:xfrm>
            <a:prstGeom prst="rect">
              <a:avLst/>
            </a:prstGeom>
          </p:spPr>
        </p:pic>
        <p:sp>
          <p:nvSpPr>
            <p:cNvPr id="83" name="object 83"/>
            <p:cNvSpPr txBox="1"/>
            <p:nvPr/>
          </p:nvSpPr>
          <p:spPr>
            <a:xfrm>
              <a:off x="2590166" y="4292983"/>
              <a:ext cx="410845" cy="182101"/>
            </a:xfrm>
            <a:prstGeom prst="rect">
              <a:avLst/>
            </a:prstGeom>
          </p:spPr>
          <p:txBody>
            <a:bodyPr vert="horz" wrap="square" lIns="0" tIns="12700" rIns="0" bIns="0" rtlCol="0">
              <a:spAutoFit/>
            </a:bodyPr>
            <a:lstStyle/>
            <a:p>
              <a:pPr>
                <a:spcBef>
                  <a:spcPts val="100"/>
                </a:spcBef>
              </a:pPr>
              <a:r>
                <a:rPr sz="1100" spc="-10">
                  <a:solidFill>
                    <a:srgbClr val="12426B"/>
                  </a:solidFill>
                  <a:latin typeface="Arial"/>
                  <a:cs typeface="Arial"/>
                </a:rPr>
                <a:t>10.2%</a:t>
              </a:r>
              <a:endParaRPr sz="1100">
                <a:latin typeface="Arial"/>
                <a:cs typeface="Arial"/>
              </a:endParaRPr>
            </a:p>
          </p:txBody>
        </p:sp>
        <p:pic>
          <p:nvPicPr>
            <p:cNvPr id="84" name="object 84"/>
            <p:cNvPicPr/>
            <p:nvPr/>
          </p:nvPicPr>
          <p:blipFill>
            <a:blip r:embed="rId9" cstate="print"/>
            <a:stretch>
              <a:fillRect/>
            </a:stretch>
          </p:blipFill>
          <p:spPr>
            <a:xfrm>
              <a:off x="3450719" y="3962859"/>
              <a:ext cx="245059" cy="304215"/>
            </a:xfrm>
            <a:prstGeom prst="rect">
              <a:avLst/>
            </a:prstGeom>
          </p:spPr>
        </p:pic>
        <p:sp>
          <p:nvSpPr>
            <p:cNvPr id="85" name="object 85"/>
            <p:cNvSpPr txBox="1"/>
            <p:nvPr/>
          </p:nvSpPr>
          <p:spPr>
            <a:xfrm>
              <a:off x="3413505" y="4292983"/>
              <a:ext cx="332740" cy="182101"/>
            </a:xfrm>
            <a:prstGeom prst="rect">
              <a:avLst/>
            </a:prstGeom>
          </p:spPr>
          <p:txBody>
            <a:bodyPr vert="horz" wrap="square" lIns="0" tIns="12700" rIns="0" bIns="0" rtlCol="0">
              <a:spAutoFit/>
            </a:bodyPr>
            <a:lstStyle/>
            <a:p>
              <a:pPr>
                <a:spcBef>
                  <a:spcPts val="100"/>
                </a:spcBef>
              </a:pPr>
              <a:r>
                <a:rPr sz="1100" spc="-20">
                  <a:solidFill>
                    <a:srgbClr val="12426B"/>
                  </a:solidFill>
                  <a:latin typeface="Arial"/>
                  <a:cs typeface="Arial"/>
                </a:rPr>
                <a:t>8.2%</a:t>
              </a:r>
              <a:endParaRPr sz="1100">
                <a:latin typeface="Arial"/>
                <a:cs typeface="Arial"/>
              </a:endParaRPr>
            </a:p>
          </p:txBody>
        </p:sp>
        <p:sp>
          <p:nvSpPr>
            <p:cNvPr id="86" name="object 86"/>
            <p:cNvSpPr txBox="1"/>
            <p:nvPr/>
          </p:nvSpPr>
          <p:spPr>
            <a:xfrm>
              <a:off x="1071575" y="4628514"/>
              <a:ext cx="1847850" cy="612140"/>
            </a:xfrm>
            <a:prstGeom prst="rect">
              <a:avLst/>
            </a:prstGeom>
          </p:spPr>
          <p:txBody>
            <a:bodyPr vert="horz" wrap="square" lIns="0" tIns="12065" rIns="0" bIns="0" rtlCol="0">
              <a:spAutoFit/>
            </a:bodyPr>
            <a:lstStyle/>
            <a:p>
              <a:pPr marL="412115">
                <a:spcBef>
                  <a:spcPts val="95"/>
                </a:spcBef>
              </a:pPr>
              <a:r>
                <a:rPr sz="1600" spc="-20">
                  <a:solidFill>
                    <a:srgbClr val="00AF50"/>
                  </a:solidFill>
                  <a:latin typeface="Arial"/>
                  <a:cs typeface="Arial"/>
                </a:rPr>
                <a:t>177%</a:t>
              </a:r>
              <a:endParaRPr sz="1600">
                <a:latin typeface="Arial"/>
                <a:cs typeface="Arial"/>
              </a:endParaRPr>
            </a:p>
            <a:p>
              <a:pPr marL="25400">
                <a:spcBef>
                  <a:spcPts val="10"/>
                </a:spcBef>
              </a:pPr>
              <a:r>
                <a:rPr sz="1100">
                  <a:solidFill>
                    <a:srgbClr val="12426B"/>
                  </a:solidFill>
                  <a:latin typeface="Arial"/>
                  <a:cs typeface="Arial"/>
                </a:rPr>
                <a:t>1M</a:t>
              </a:r>
              <a:r>
                <a:rPr sz="1100" spc="-50">
                  <a:solidFill>
                    <a:srgbClr val="12426B"/>
                  </a:solidFill>
                  <a:latin typeface="Arial"/>
                  <a:cs typeface="Arial"/>
                </a:rPr>
                <a:t> </a:t>
              </a:r>
              <a:r>
                <a:rPr sz="1100">
                  <a:solidFill>
                    <a:srgbClr val="12426B"/>
                  </a:solidFill>
                  <a:latin typeface="Arial"/>
                  <a:cs typeface="Arial"/>
                </a:rPr>
                <a:t>ADT</a:t>
              </a:r>
              <a:r>
                <a:rPr sz="1100" spc="-5">
                  <a:solidFill>
                    <a:srgbClr val="12426B"/>
                  </a:solidFill>
                  <a:latin typeface="Arial"/>
                  <a:cs typeface="Arial"/>
                </a:rPr>
                <a:t> </a:t>
              </a:r>
              <a:r>
                <a:rPr sz="1100" spc="-10">
                  <a:solidFill>
                    <a:srgbClr val="12426B"/>
                  </a:solidFill>
                  <a:latin typeface="Arial"/>
                  <a:cs typeface="Arial"/>
                </a:rPr>
                <a:t>Increment</a:t>
              </a:r>
              <a:endParaRPr sz="1100">
                <a:latin typeface="Arial"/>
                <a:cs typeface="Arial"/>
              </a:endParaRPr>
            </a:p>
            <a:p>
              <a:pPr marL="131445">
                <a:spcBef>
                  <a:spcPts val="50"/>
                </a:spcBef>
                <a:tabLst>
                  <a:tab pos="1489710" algn="l"/>
                </a:tabLst>
              </a:pPr>
              <a:r>
                <a:rPr sz="1650" spc="-15" baseline="2525">
                  <a:solidFill>
                    <a:srgbClr val="12426B"/>
                  </a:solidFill>
                  <a:latin typeface="Arial"/>
                  <a:cs typeface="Arial"/>
                </a:rPr>
                <a:t>Post-Inclusion</a:t>
              </a:r>
              <a:r>
                <a:rPr sz="1050" spc="-15" baseline="31746">
                  <a:solidFill>
                    <a:srgbClr val="12426B"/>
                  </a:solidFill>
                  <a:latin typeface="Arial"/>
                  <a:cs typeface="Arial"/>
                </a:rPr>
                <a:t>1</a:t>
              </a:r>
              <a:r>
                <a:rPr sz="1050" baseline="31746">
                  <a:solidFill>
                    <a:srgbClr val="12426B"/>
                  </a:solidFill>
                  <a:latin typeface="Arial"/>
                  <a:cs typeface="Arial"/>
                </a:rPr>
                <a:t>	</a:t>
              </a:r>
              <a:r>
                <a:rPr sz="1100" spc="-20">
                  <a:solidFill>
                    <a:srgbClr val="12426B"/>
                  </a:solidFill>
                  <a:latin typeface="Arial"/>
                  <a:cs typeface="Arial"/>
                </a:rPr>
                <a:t>5.0%</a:t>
              </a:r>
              <a:endParaRPr sz="1100">
                <a:latin typeface="Arial"/>
                <a:cs typeface="Arial"/>
              </a:endParaRPr>
            </a:p>
          </p:txBody>
        </p:sp>
        <p:sp>
          <p:nvSpPr>
            <p:cNvPr id="89" name="object 89"/>
            <p:cNvSpPr/>
            <p:nvPr/>
          </p:nvSpPr>
          <p:spPr>
            <a:xfrm>
              <a:off x="1271790" y="4697846"/>
              <a:ext cx="188595" cy="141605"/>
            </a:xfrm>
            <a:custGeom>
              <a:avLst/>
              <a:gdLst/>
              <a:ahLst/>
              <a:cxnLst/>
              <a:rect l="l" t="t" r="r" b="b"/>
              <a:pathLst>
                <a:path w="188594" h="141604">
                  <a:moveTo>
                    <a:pt x="94081" y="0"/>
                  </a:moveTo>
                  <a:lnTo>
                    <a:pt x="0" y="141020"/>
                  </a:lnTo>
                  <a:lnTo>
                    <a:pt x="188150" y="141020"/>
                  </a:lnTo>
                  <a:lnTo>
                    <a:pt x="94081" y="0"/>
                  </a:lnTo>
                  <a:close/>
                </a:path>
              </a:pathLst>
            </a:custGeom>
            <a:solidFill>
              <a:srgbClr val="00AF50"/>
            </a:solidFill>
          </p:spPr>
          <p:txBody>
            <a:bodyPr wrap="square" lIns="0" tIns="0" rIns="0" bIns="0" rtlCol="0"/>
            <a:lstStyle/>
            <a:p>
              <a:endParaRPr/>
            </a:p>
          </p:txBody>
        </p:sp>
        <p:sp>
          <p:nvSpPr>
            <p:cNvPr id="94" name="TextBox 93">
              <a:extLst>
                <a:ext uri="{FF2B5EF4-FFF2-40B4-BE49-F238E27FC236}">
                  <a16:creationId xmlns:a16="http://schemas.microsoft.com/office/drawing/2014/main" id="{0CC2A811-2715-717C-2E27-3B2627B9295C}"/>
                </a:ext>
              </a:extLst>
            </p:cNvPr>
            <p:cNvSpPr txBox="1">
              <a:spLocks noChangeArrowheads="1"/>
            </p:cNvSpPr>
            <p:nvPr/>
          </p:nvSpPr>
          <p:spPr bwMode="auto">
            <a:xfrm>
              <a:off x="963270" y="1444371"/>
              <a:ext cx="3071521" cy="327431"/>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a:cs typeface="Arial" panose="020B0604020202020204" pitchFamily="34" charset="0"/>
                </a:rPr>
                <a:t>Healthy Aftermarket Performance Supported by Southbound Ownership</a:t>
              </a:r>
            </a:p>
          </p:txBody>
        </p:sp>
      </p:grpSp>
      <p:sp>
        <p:nvSpPr>
          <p:cNvPr id="4" name="object 4"/>
          <p:cNvSpPr/>
          <p:nvPr/>
        </p:nvSpPr>
        <p:spPr>
          <a:xfrm>
            <a:off x="4108291" y="3595513"/>
            <a:ext cx="5113081" cy="2205554"/>
          </a:xfrm>
          <a:custGeom>
            <a:avLst/>
            <a:gdLst/>
            <a:ahLst/>
            <a:cxnLst/>
            <a:rect l="l" t="t" r="r" b="b"/>
            <a:pathLst>
              <a:path w="4826000" h="1880235">
                <a:moveTo>
                  <a:pt x="4826000" y="0"/>
                </a:moveTo>
                <a:lnTo>
                  <a:pt x="0" y="0"/>
                </a:lnTo>
                <a:lnTo>
                  <a:pt x="0" y="1879727"/>
                </a:lnTo>
                <a:lnTo>
                  <a:pt x="4826000" y="1879727"/>
                </a:lnTo>
                <a:lnTo>
                  <a:pt x="4826000" y="0"/>
                </a:lnTo>
                <a:close/>
              </a:path>
            </a:pathLst>
          </a:custGeom>
          <a:solidFill>
            <a:srgbClr val="FFFFFF"/>
          </a:solidFill>
          <a:ln>
            <a:solidFill>
              <a:srgbClr val="C00000"/>
            </a:solidFill>
          </a:ln>
        </p:spPr>
        <p:txBody>
          <a:bodyPr wrap="square" lIns="0" tIns="0" rIns="0" bIns="0" rtlCol="0"/>
          <a:lstStyle/>
          <a:p>
            <a:endParaRPr/>
          </a:p>
        </p:txBody>
      </p:sp>
      <p:sp>
        <p:nvSpPr>
          <p:cNvPr id="5" name="object 5"/>
          <p:cNvSpPr/>
          <p:nvPr/>
        </p:nvSpPr>
        <p:spPr>
          <a:xfrm>
            <a:off x="4108291" y="3595513"/>
            <a:ext cx="5113081" cy="2205554"/>
          </a:xfrm>
          <a:custGeom>
            <a:avLst/>
            <a:gdLst/>
            <a:ahLst/>
            <a:cxnLst/>
            <a:rect l="l" t="t" r="r" b="b"/>
            <a:pathLst>
              <a:path w="4826000" h="1880235">
                <a:moveTo>
                  <a:pt x="0" y="1879727"/>
                </a:moveTo>
                <a:lnTo>
                  <a:pt x="4826000" y="1879727"/>
                </a:lnTo>
                <a:lnTo>
                  <a:pt x="4826000" y="0"/>
                </a:lnTo>
                <a:lnTo>
                  <a:pt x="0" y="0"/>
                </a:lnTo>
                <a:lnTo>
                  <a:pt x="0" y="1879727"/>
                </a:lnTo>
                <a:close/>
              </a:path>
            </a:pathLst>
          </a:custGeom>
          <a:ln w="6350">
            <a:solidFill>
              <a:srgbClr val="089C8B"/>
            </a:solidFill>
          </a:ln>
        </p:spPr>
        <p:txBody>
          <a:bodyPr wrap="square" lIns="0" tIns="0" rIns="0" bIns="0" rtlCol="0"/>
          <a:lstStyle/>
          <a:p>
            <a:endParaRPr/>
          </a:p>
        </p:txBody>
      </p:sp>
      <p:sp>
        <p:nvSpPr>
          <p:cNvPr id="15" name="object 15"/>
          <p:cNvSpPr txBox="1"/>
          <p:nvPr/>
        </p:nvSpPr>
        <p:spPr>
          <a:xfrm>
            <a:off x="6848367" y="5427141"/>
            <a:ext cx="396264" cy="245580"/>
          </a:xfrm>
          <a:prstGeom prst="rect">
            <a:avLst/>
          </a:prstGeom>
        </p:spPr>
        <p:txBody>
          <a:bodyPr vert="horz" wrap="square" lIns="0" tIns="34925" rIns="0" bIns="0" rtlCol="0">
            <a:spAutoFit/>
          </a:bodyPr>
          <a:lstStyle/>
          <a:p>
            <a:pPr marL="222885">
              <a:spcBef>
                <a:spcPts val="275"/>
              </a:spcBef>
            </a:pPr>
            <a:r>
              <a:rPr lang="en-US" sz="600" spc="-25">
                <a:solidFill>
                  <a:schemeClr val="tx1"/>
                </a:solidFill>
                <a:latin typeface="Arial"/>
                <a:cs typeface="Arial"/>
              </a:rPr>
              <a:t>UK</a:t>
            </a:r>
            <a:endParaRPr lang="en-US" sz="600">
              <a:solidFill>
                <a:schemeClr val="tx1"/>
              </a:solidFill>
              <a:latin typeface="Arial"/>
              <a:cs typeface="Arial"/>
            </a:endParaRPr>
          </a:p>
          <a:p>
            <a:pPr marL="12700">
              <a:spcBef>
                <a:spcPts val="180"/>
              </a:spcBef>
            </a:pPr>
            <a:r>
              <a:rPr lang="en-US" sz="600" spc="-10">
                <a:solidFill>
                  <a:schemeClr val="tx1"/>
                </a:solidFill>
                <a:latin typeface="Arial"/>
                <a:cs typeface="Arial"/>
              </a:rPr>
              <a:t>Financials</a:t>
            </a:r>
            <a:endParaRPr lang="en-US" sz="600">
              <a:solidFill>
                <a:schemeClr val="tx1"/>
              </a:solidFill>
              <a:latin typeface="Arial"/>
              <a:cs typeface="Arial"/>
            </a:endParaRPr>
          </a:p>
        </p:txBody>
      </p:sp>
      <p:pic>
        <p:nvPicPr>
          <p:cNvPr id="17" name="object 17"/>
          <p:cNvPicPr/>
          <p:nvPr/>
        </p:nvPicPr>
        <p:blipFill>
          <a:blip r:embed="rId10" cstate="print"/>
          <a:stretch>
            <a:fillRect/>
          </a:stretch>
        </p:blipFill>
        <p:spPr>
          <a:xfrm>
            <a:off x="6871239" y="5439239"/>
            <a:ext cx="141134" cy="156258"/>
          </a:xfrm>
          <a:prstGeom prst="rect">
            <a:avLst/>
          </a:prstGeom>
        </p:spPr>
      </p:pic>
      <p:pic>
        <p:nvPicPr>
          <p:cNvPr id="18" name="object 18"/>
          <p:cNvPicPr/>
          <p:nvPr/>
        </p:nvPicPr>
        <p:blipFill>
          <a:blip r:embed="rId11" cstate="print"/>
          <a:stretch>
            <a:fillRect/>
          </a:stretch>
        </p:blipFill>
        <p:spPr>
          <a:xfrm>
            <a:off x="5997036" y="5453913"/>
            <a:ext cx="764795" cy="236033"/>
          </a:xfrm>
          <a:prstGeom prst="rect">
            <a:avLst/>
          </a:prstGeom>
        </p:spPr>
      </p:pic>
      <p:pic>
        <p:nvPicPr>
          <p:cNvPr id="19" name="object 19" descr="单位]芯迈半导体技术（杭州）股份有限公司- 杭州电子科技大学24365就业数智平台"/>
          <p:cNvPicPr/>
          <p:nvPr/>
        </p:nvPicPr>
        <p:blipFill>
          <a:blip r:embed="rId12" cstate="print"/>
          <a:stretch>
            <a:fillRect/>
          </a:stretch>
        </p:blipFill>
        <p:spPr>
          <a:xfrm>
            <a:off x="6131457" y="3862905"/>
            <a:ext cx="391621" cy="433587"/>
          </a:xfrm>
          <a:prstGeom prst="rect">
            <a:avLst/>
          </a:prstGeom>
        </p:spPr>
      </p:pic>
      <p:pic>
        <p:nvPicPr>
          <p:cNvPr id="20" name="object 20" descr="Ofmom - For the health of a mother and a child"/>
          <p:cNvPicPr/>
          <p:nvPr/>
        </p:nvPicPr>
        <p:blipFill>
          <a:blip r:embed="rId13" cstate="print"/>
          <a:stretch>
            <a:fillRect/>
          </a:stretch>
        </p:blipFill>
        <p:spPr>
          <a:xfrm>
            <a:off x="5963398" y="4389080"/>
            <a:ext cx="727847" cy="327965"/>
          </a:xfrm>
          <a:prstGeom prst="rect">
            <a:avLst/>
          </a:prstGeom>
        </p:spPr>
      </p:pic>
      <p:sp>
        <p:nvSpPr>
          <p:cNvPr id="21" name="object 21"/>
          <p:cNvSpPr txBox="1"/>
          <p:nvPr/>
        </p:nvSpPr>
        <p:spPr>
          <a:xfrm>
            <a:off x="6201294" y="4646582"/>
            <a:ext cx="254981" cy="90409"/>
          </a:xfrm>
          <a:prstGeom prst="rect">
            <a:avLst/>
          </a:prstGeom>
        </p:spPr>
        <p:txBody>
          <a:bodyPr vert="horz" wrap="square" lIns="0" tIns="13335" rIns="0" bIns="0" rtlCol="0">
            <a:spAutoFit/>
          </a:bodyPr>
          <a:lstStyle/>
          <a:p>
            <a:pPr marL="12700">
              <a:spcBef>
                <a:spcPts val="105"/>
              </a:spcBef>
            </a:pPr>
            <a:r>
              <a:rPr lang="en-US" sz="500" i="1" spc="-10">
                <a:solidFill>
                  <a:schemeClr val="tx1"/>
                </a:solidFill>
                <a:latin typeface="Arial"/>
                <a:cs typeface="Arial"/>
              </a:rPr>
              <a:t>(Coree)</a:t>
            </a:r>
            <a:endParaRPr lang="en-US" sz="500">
              <a:solidFill>
                <a:schemeClr val="tx1"/>
              </a:solidFill>
              <a:latin typeface="Arial"/>
              <a:cs typeface="Arial"/>
            </a:endParaRPr>
          </a:p>
        </p:txBody>
      </p:sp>
      <p:pic>
        <p:nvPicPr>
          <p:cNvPr id="23" name="object 23"/>
          <p:cNvPicPr/>
          <p:nvPr/>
        </p:nvPicPr>
        <p:blipFill>
          <a:blip r:embed="rId14" cstate="print"/>
          <a:stretch>
            <a:fillRect/>
          </a:stretch>
        </p:blipFill>
        <p:spPr>
          <a:xfrm>
            <a:off x="4277161" y="4512608"/>
            <a:ext cx="592485" cy="214269"/>
          </a:xfrm>
          <a:prstGeom prst="rect">
            <a:avLst/>
          </a:prstGeom>
        </p:spPr>
      </p:pic>
      <p:pic>
        <p:nvPicPr>
          <p:cNvPr id="24" name="object 24" descr="Home – PT Merdeka Copper Gold Tbk"/>
          <p:cNvPicPr/>
          <p:nvPr/>
        </p:nvPicPr>
        <p:blipFill>
          <a:blip r:embed="rId15" cstate="print"/>
          <a:stretch>
            <a:fillRect/>
          </a:stretch>
        </p:blipFill>
        <p:spPr>
          <a:xfrm>
            <a:off x="4283754" y="4015678"/>
            <a:ext cx="579285" cy="280814"/>
          </a:xfrm>
          <a:prstGeom prst="rect">
            <a:avLst/>
          </a:prstGeom>
        </p:spPr>
      </p:pic>
      <p:sp>
        <p:nvSpPr>
          <p:cNvPr id="25" name="object 25"/>
          <p:cNvSpPr txBox="1"/>
          <p:nvPr/>
        </p:nvSpPr>
        <p:spPr>
          <a:xfrm>
            <a:off x="4986399" y="4160777"/>
            <a:ext cx="267091" cy="105157"/>
          </a:xfrm>
          <a:prstGeom prst="rect">
            <a:avLst/>
          </a:prstGeom>
        </p:spPr>
        <p:txBody>
          <a:bodyPr vert="horz" wrap="square" lIns="0" tIns="12700" rIns="0" bIns="0" rtlCol="0">
            <a:spAutoFit/>
          </a:bodyPr>
          <a:lstStyle/>
          <a:p>
            <a:pPr marL="12700">
              <a:spcBef>
                <a:spcPts val="100"/>
              </a:spcBef>
            </a:pPr>
            <a:r>
              <a:rPr lang="en-US" sz="600" spc="-10">
                <a:solidFill>
                  <a:schemeClr val="tx1"/>
                </a:solidFill>
                <a:latin typeface="Arial"/>
                <a:cs typeface="Arial"/>
              </a:rPr>
              <a:t>Mining</a:t>
            </a:r>
            <a:endParaRPr lang="en-US" sz="600">
              <a:solidFill>
                <a:schemeClr val="tx1"/>
              </a:solidFill>
              <a:latin typeface="Arial"/>
              <a:cs typeface="Arial"/>
            </a:endParaRPr>
          </a:p>
        </p:txBody>
      </p:sp>
      <p:pic>
        <p:nvPicPr>
          <p:cNvPr id="26" name="object 26" descr="Indonesia flag - Free flags icons"/>
          <p:cNvPicPr/>
          <p:nvPr/>
        </p:nvPicPr>
        <p:blipFill>
          <a:blip r:embed="rId16" cstate="print"/>
          <a:stretch>
            <a:fillRect/>
          </a:stretch>
        </p:blipFill>
        <p:spPr>
          <a:xfrm>
            <a:off x="5009272" y="3966216"/>
            <a:ext cx="155006" cy="171618"/>
          </a:xfrm>
          <a:prstGeom prst="rect">
            <a:avLst/>
          </a:prstGeom>
        </p:spPr>
      </p:pic>
      <p:sp>
        <p:nvSpPr>
          <p:cNvPr id="27" name="object 27"/>
          <p:cNvSpPr txBox="1"/>
          <p:nvPr/>
        </p:nvSpPr>
        <p:spPr>
          <a:xfrm>
            <a:off x="4986397" y="5602334"/>
            <a:ext cx="579859" cy="105157"/>
          </a:xfrm>
          <a:prstGeom prst="rect">
            <a:avLst/>
          </a:prstGeom>
        </p:spPr>
        <p:txBody>
          <a:bodyPr vert="horz" wrap="square" lIns="0" tIns="12700" rIns="0" bIns="0" rtlCol="0">
            <a:spAutoFit/>
          </a:bodyPr>
          <a:lstStyle/>
          <a:p>
            <a:pPr marL="12700">
              <a:spcBef>
                <a:spcPts val="100"/>
              </a:spcBef>
            </a:pPr>
            <a:r>
              <a:rPr lang="en-US" sz="600" spc="-10">
                <a:solidFill>
                  <a:schemeClr val="tx1"/>
                </a:solidFill>
                <a:latin typeface="Arial"/>
                <a:cs typeface="Arial"/>
              </a:rPr>
              <a:t>Industrials</a:t>
            </a:r>
            <a:endParaRPr lang="en-US" sz="600">
              <a:solidFill>
                <a:schemeClr val="tx1"/>
              </a:solidFill>
              <a:latin typeface="Arial"/>
              <a:cs typeface="Arial"/>
            </a:endParaRPr>
          </a:p>
        </p:txBody>
      </p:sp>
      <p:pic>
        <p:nvPicPr>
          <p:cNvPr id="28" name="object 28"/>
          <p:cNvPicPr/>
          <p:nvPr/>
        </p:nvPicPr>
        <p:blipFill>
          <a:blip r:embed="rId17" cstate="print"/>
          <a:stretch>
            <a:fillRect/>
          </a:stretch>
        </p:blipFill>
        <p:spPr>
          <a:xfrm>
            <a:off x="5009272" y="5421629"/>
            <a:ext cx="155006" cy="171618"/>
          </a:xfrm>
          <a:prstGeom prst="rect">
            <a:avLst/>
          </a:prstGeom>
        </p:spPr>
      </p:pic>
      <p:sp>
        <p:nvSpPr>
          <p:cNvPr id="29" name="object 29"/>
          <p:cNvSpPr txBox="1"/>
          <p:nvPr/>
        </p:nvSpPr>
        <p:spPr>
          <a:xfrm>
            <a:off x="5181099" y="5413198"/>
            <a:ext cx="397609" cy="105157"/>
          </a:xfrm>
          <a:prstGeom prst="rect">
            <a:avLst/>
          </a:prstGeom>
        </p:spPr>
        <p:txBody>
          <a:bodyPr vert="horz" wrap="square" lIns="0" tIns="12700" rIns="0" bIns="0" rtlCol="0">
            <a:spAutoFit/>
          </a:bodyPr>
          <a:lstStyle/>
          <a:p>
            <a:pPr marL="12700">
              <a:spcBef>
                <a:spcPts val="100"/>
              </a:spcBef>
            </a:pPr>
            <a:r>
              <a:rPr lang="en-US" sz="600" spc="-10">
                <a:solidFill>
                  <a:schemeClr val="tx1"/>
                </a:solidFill>
                <a:latin typeface="Arial"/>
                <a:cs typeface="Arial"/>
              </a:rPr>
              <a:t>Singapore</a:t>
            </a:r>
            <a:endParaRPr lang="en-US" sz="600">
              <a:solidFill>
                <a:schemeClr val="tx1"/>
              </a:solidFill>
              <a:latin typeface="Arial"/>
              <a:cs typeface="Arial"/>
            </a:endParaRPr>
          </a:p>
        </p:txBody>
      </p:sp>
      <p:pic>
        <p:nvPicPr>
          <p:cNvPr id="30" name="object 30" descr="Pinnacle Marine (Singapore) Pte Ltd | LinkedIn"/>
          <p:cNvPicPr/>
          <p:nvPr/>
        </p:nvPicPr>
        <p:blipFill>
          <a:blip r:embed="rId18" cstate="print"/>
          <a:stretch>
            <a:fillRect/>
          </a:stretch>
        </p:blipFill>
        <p:spPr>
          <a:xfrm>
            <a:off x="4416960" y="5340601"/>
            <a:ext cx="312907" cy="346437"/>
          </a:xfrm>
          <a:prstGeom prst="rect">
            <a:avLst/>
          </a:prstGeom>
        </p:spPr>
      </p:pic>
      <p:sp>
        <p:nvSpPr>
          <p:cNvPr id="31" name="object 31"/>
          <p:cNvSpPr txBox="1"/>
          <p:nvPr/>
        </p:nvSpPr>
        <p:spPr>
          <a:xfrm>
            <a:off x="4297879" y="5605909"/>
            <a:ext cx="552346" cy="89768"/>
          </a:xfrm>
          <a:prstGeom prst="rect">
            <a:avLst/>
          </a:prstGeom>
        </p:spPr>
        <p:txBody>
          <a:bodyPr vert="horz" wrap="square" lIns="0" tIns="12700" rIns="0" bIns="0" rtlCol="0">
            <a:spAutoFit/>
          </a:bodyPr>
          <a:lstStyle/>
          <a:p>
            <a:pPr marL="12700">
              <a:spcBef>
                <a:spcPts val="100"/>
              </a:spcBef>
            </a:pPr>
            <a:r>
              <a:rPr lang="en-US" sz="500" i="1">
                <a:solidFill>
                  <a:schemeClr val="tx1"/>
                </a:solidFill>
                <a:latin typeface="Arial"/>
                <a:cs typeface="Arial"/>
              </a:rPr>
              <a:t>(Pinnacle</a:t>
            </a:r>
            <a:r>
              <a:rPr lang="en-US" sz="500" i="1" spc="-35">
                <a:solidFill>
                  <a:schemeClr val="tx1"/>
                </a:solidFill>
                <a:latin typeface="Arial"/>
                <a:cs typeface="Arial"/>
              </a:rPr>
              <a:t> </a:t>
            </a:r>
            <a:r>
              <a:rPr lang="en-US" sz="500" i="1" spc="-10">
                <a:solidFill>
                  <a:schemeClr val="tx1"/>
                </a:solidFill>
                <a:latin typeface="Arial"/>
                <a:cs typeface="Arial"/>
              </a:rPr>
              <a:t>Marine)</a:t>
            </a:r>
            <a:endParaRPr lang="en-US" sz="500">
              <a:solidFill>
                <a:schemeClr val="tx1"/>
              </a:solidFill>
              <a:latin typeface="Arial"/>
              <a:cs typeface="Arial"/>
            </a:endParaRPr>
          </a:p>
        </p:txBody>
      </p:sp>
      <p:sp>
        <p:nvSpPr>
          <p:cNvPr id="32" name="object 32"/>
          <p:cNvSpPr txBox="1"/>
          <p:nvPr/>
        </p:nvSpPr>
        <p:spPr>
          <a:xfrm>
            <a:off x="4986399" y="4622298"/>
            <a:ext cx="397609" cy="105157"/>
          </a:xfrm>
          <a:prstGeom prst="rect">
            <a:avLst/>
          </a:prstGeom>
        </p:spPr>
        <p:txBody>
          <a:bodyPr vert="horz" wrap="square" lIns="0" tIns="12700" rIns="0" bIns="0" rtlCol="0">
            <a:spAutoFit/>
          </a:bodyPr>
          <a:lstStyle/>
          <a:p>
            <a:pPr marL="12700">
              <a:spcBef>
                <a:spcPts val="100"/>
              </a:spcBef>
            </a:pPr>
            <a:r>
              <a:rPr lang="en-US" sz="600" spc="-10">
                <a:solidFill>
                  <a:schemeClr val="tx1"/>
                </a:solidFill>
                <a:latin typeface="Arial"/>
                <a:cs typeface="Arial"/>
              </a:rPr>
              <a:t>Consumer</a:t>
            </a:r>
            <a:endParaRPr lang="en-US" sz="600">
              <a:solidFill>
                <a:schemeClr val="tx1"/>
              </a:solidFill>
              <a:latin typeface="Arial"/>
              <a:cs typeface="Arial"/>
            </a:endParaRPr>
          </a:p>
        </p:txBody>
      </p:sp>
      <p:sp>
        <p:nvSpPr>
          <p:cNvPr id="33" name="object 33"/>
          <p:cNvSpPr txBox="1"/>
          <p:nvPr/>
        </p:nvSpPr>
        <p:spPr>
          <a:xfrm>
            <a:off x="5202762" y="4428186"/>
            <a:ext cx="380117" cy="105157"/>
          </a:xfrm>
          <a:prstGeom prst="rect">
            <a:avLst/>
          </a:prstGeom>
        </p:spPr>
        <p:txBody>
          <a:bodyPr vert="horz" wrap="square" lIns="0" tIns="12700" rIns="0" bIns="0" rtlCol="0">
            <a:spAutoFit/>
          </a:bodyPr>
          <a:lstStyle/>
          <a:p>
            <a:pPr marL="12700">
              <a:spcBef>
                <a:spcPts val="100"/>
              </a:spcBef>
            </a:pPr>
            <a:r>
              <a:rPr lang="en-US" sz="600" spc="-10">
                <a:solidFill>
                  <a:schemeClr val="tx1"/>
                </a:solidFill>
                <a:latin typeface="Arial"/>
                <a:cs typeface="Arial"/>
              </a:rPr>
              <a:t>Indonesia</a:t>
            </a:r>
            <a:endParaRPr lang="en-US" sz="600">
              <a:solidFill>
                <a:schemeClr val="tx1"/>
              </a:solidFill>
              <a:latin typeface="Arial"/>
              <a:cs typeface="Arial"/>
            </a:endParaRPr>
          </a:p>
        </p:txBody>
      </p:sp>
      <p:pic>
        <p:nvPicPr>
          <p:cNvPr id="35" name="object 35" descr="Indonesia flag - Free flags icons"/>
          <p:cNvPicPr/>
          <p:nvPr/>
        </p:nvPicPr>
        <p:blipFill>
          <a:blip r:embed="rId16" cstate="print"/>
          <a:stretch>
            <a:fillRect/>
          </a:stretch>
        </p:blipFill>
        <p:spPr>
          <a:xfrm>
            <a:off x="5009270" y="4432058"/>
            <a:ext cx="155006" cy="171618"/>
          </a:xfrm>
          <a:prstGeom prst="rect">
            <a:avLst/>
          </a:prstGeom>
        </p:spPr>
      </p:pic>
      <p:pic>
        <p:nvPicPr>
          <p:cNvPr id="36" name="object 36" descr="Haid Group (002311) has spun off Haid International and ..."/>
          <p:cNvPicPr/>
          <p:nvPr/>
        </p:nvPicPr>
        <p:blipFill>
          <a:blip r:embed="rId19" cstate="print"/>
          <a:stretch>
            <a:fillRect/>
          </a:stretch>
        </p:blipFill>
        <p:spPr>
          <a:xfrm>
            <a:off x="4401755" y="4879352"/>
            <a:ext cx="343276" cy="412462"/>
          </a:xfrm>
          <a:prstGeom prst="rect">
            <a:avLst/>
          </a:prstGeom>
        </p:spPr>
      </p:pic>
      <p:sp>
        <p:nvSpPr>
          <p:cNvPr id="37" name="object 37"/>
          <p:cNvSpPr txBox="1"/>
          <p:nvPr/>
        </p:nvSpPr>
        <p:spPr>
          <a:xfrm>
            <a:off x="4986399" y="5189380"/>
            <a:ext cx="555381" cy="105157"/>
          </a:xfrm>
          <a:prstGeom prst="rect">
            <a:avLst/>
          </a:prstGeom>
        </p:spPr>
        <p:txBody>
          <a:bodyPr vert="horz" wrap="square" lIns="0" tIns="12700" rIns="0" bIns="0" rtlCol="0">
            <a:spAutoFit/>
          </a:bodyPr>
          <a:lstStyle/>
          <a:p>
            <a:pPr marL="12700">
              <a:spcBef>
                <a:spcPts val="100"/>
              </a:spcBef>
            </a:pPr>
            <a:r>
              <a:rPr lang="en-US" sz="600" spc="-10">
                <a:solidFill>
                  <a:schemeClr val="tx1"/>
                </a:solidFill>
                <a:latin typeface="Arial"/>
                <a:cs typeface="Arial"/>
              </a:rPr>
              <a:t>Consumer</a:t>
            </a:r>
            <a:endParaRPr lang="en-US" sz="600">
              <a:solidFill>
                <a:schemeClr val="tx1"/>
              </a:solidFill>
              <a:latin typeface="Arial"/>
              <a:cs typeface="Arial"/>
            </a:endParaRPr>
          </a:p>
        </p:txBody>
      </p:sp>
      <p:sp>
        <p:nvSpPr>
          <p:cNvPr id="38" name="object 38"/>
          <p:cNvSpPr txBox="1"/>
          <p:nvPr/>
        </p:nvSpPr>
        <p:spPr>
          <a:xfrm>
            <a:off x="5191459" y="4825050"/>
            <a:ext cx="428154" cy="224229"/>
          </a:xfrm>
          <a:prstGeom prst="rect">
            <a:avLst/>
          </a:prstGeom>
        </p:spPr>
        <p:txBody>
          <a:bodyPr vert="horz" wrap="square" lIns="0" tIns="12700" rIns="0" bIns="0" rtlCol="0">
            <a:spAutoFit/>
          </a:bodyPr>
          <a:lstStyle/>
          <a:p>
            <a:pPr marL="12700" marR="5080">
              <a:lnSpc>
                <a:spcPct val="120000"/>
              </a:lnSpc>
              <a:spcBef>
                <a:spcPts val="100"/>
              </a:spcBef>
            </a:pPr>
            <a:r>
              <a:rPr lang="en-US" sz="600">
                <a:solidFill>
                  <a:schemeClr val="tx1"/>
                </a:solidFill>
                <a:latin typeface="Arial"/>
                <a:cs typeface="Arial"/>
              </a:rPr>
              <a:t>Vietnam</a:t>
            </a:r>
            <a:r>
              <a:rPr lang="en-US" sz="600" spc="-30">
                <a:solidFill>
                  <a:schemeClr val="tx1"/>
                </a:solidFill>
                <a:latin typeface="Arial"/>
                <a:cs typeface="Arial"/>
              </a:rPr>
              <a:t> </a:t>
            </a:r>
            <a:r>
              <a:rPr lang="en-US" sz="600" spc="-50">
                <a:solidFill>
                  <a:schemeClr val="tx1"/>
                </a:solidFill>
                <a:latin typeface="Arial"/>
                <a:cs typeface="Arial"/>
              </a:rPr>
              <a:t>/</a:t>
            </a:r>
            <a:r>
              <a:rPr lang="en-US" sz="600" spc="500">
                <a:solidFill>
                  <a:schemeClr val="tx1"/>
                </a:solidFill>
                <a:latin typeface="Arial"/>
                <a:cs typeface="Arial"/>
              </a:rPr>
              <a:t> </a:t>
            </a:r>
            <a:r>
              <a:rPr lang="en-US" sz="600" spc="-10">
                <a:solidFill>
                  <a:schemeClr val="tx1"/>
                </a:solidFill>
                <a:latin typeface="Arial"/>
                <a:cs typeface="Arial"/>
              </a:rPr>
              <a:t>Indonesia</a:t>
            </a:r>
            <a:endParaRPr lang="en-US" sz="600">
              <a:solidFill>
                <a:schemeClr val="tx1"/>
              </a:solidFill>
              <a:latin typeface="Arial"/>
              <a:cs typeface="Arial"/>
            </a:endParaRPr>
          </a:p>
        </p:txBody>
      </p:sp>
      <p:pic>
        <p:nvPicPr>
          <p:cNvPr id="40" name="object 40" descr="Indonesia flag - Free flags icons"/>
          <p:cNvPicPr/>
          <p:nvPr/>
        </p:nvPicPr>
        <p:blipFill>
          <a:blip r:embed="rId16" cstate="print"/>
          <a:stretch>
            <a:fillRect/>
          </a:stretch>
        </p:blipFill>
        <p:spPr>
          <a:xfrm>
            <a:off x="5009272" y="5034512"/>
            <a:ext cx="155006" cy="171616"/>
          </a:xfrm>
          <a:prstGeom prst="rect">
            <a:avLst/>
          </a:prstGeom>
        </p:spPr>
      </p:pic>
      <p:pic>
        <p:nvPicPr>
          <p:cNvPr id="41" name="object 41"/>
          <p:cNvPicPr/>
          <p:nvPr/>
        </p:nvPicPr>
        <p:blipFill>
          <a:blip r:embed="rId20" cstate="print"/>
          <a:stretch>
            <a:fillRect/>
          </a:stretch>
        </p:blipFill>
        <p:spPr>
          <a:xfrm>
            <a:off x="4999719" y="4838369"/>
            <a:ext cx="174275" cy="182328"/>
          </a:xfrm>
          <a:prstGeom prst="rect">
            <a:avLst/>
          </a:prstGeom>
        </p:spPr>
      </p:pic>
      <p:sp>
        <p:nvSpPr>
          <p:cNvPr id="42" name="object 42"/>
          <p:cNvSpPr/>
          <p:nvPr/>
        </p:nvSpPr>
        <p:spPr>
          <a:xfrm>
            <a:off x="4234371" y="4358763"/>
            <a:ext cx="1535270" cy="0"/>
          </a:xfrm>
          <a:custGeom>
            <a:avLst/>
            <a:gdLst/>
            <a:ahLst/>
            <a:cxnLst/>
            <a:rect l="l" t="t" r="r" b="b"/>
            <a:pathLst>
              <a:path w="1449070">
                <a:moveTo>
                  <a:pt x="0" y="0"/>
                </a:moveTo>
                <a:lnTo>
                  <a:pt x="1448816" y="0"/>
                </a:lnTo>
              </a:path>
            </a:pathLst>
          </a:custGeom>
          <a:ln w="6350">
            <a:solidFill>
              <a:srgbClr val="BEBEBE"/>
            </a:solidFill>
            <a:prstDash val="sysDash"/>
          </a:ln>
        </p:spPr>
        <p:txBody>
          <a:bodyPr wrap="square" lIns="0" tIns="0" rIns="0" bIns="0" rtlCol="0"/>
          <a:lstStyle/>
          <a:p>
            <a:endParaRPr/>
          </a:p>
        </p:txBody>
      </p:sp>
      <p:pic>
        <p:nvPicPr>
          <p:cNvPr id="43" name="object 43" descr="Tenways — TWINS PR"/>
          <p:cNvPicPr/>
          <p:nvPr/>
        </p:nvPicPr>
        <p:blipFill>
          <a:blip r:embed="rId21" cstate="print"/>
          <a:stretch>
            <a:fillRect/>
          </a:stretch>
        </p:blipFill>
        <p:spPr>
          <a:xfrm>
            <a:off x="6011436" y="5012006"/>
            <a:ext cx="737413" cy="94114"/>
          </a:xfrm>
          <a:prstGeom prst="rect">
            <a:avLst/>
          </a:prstGeom>
        </p:spPr>
      </p:pic>
      <p:pic>
        <p:nvPicPr>
          <p:cNvPr id="44" name="object 44"/>
          <p:cNvPicPr/>
          <p:nvPr/>
        </p:nvPicPr>
        <p:blipFill>
          <a:blip r:embed="rId22" cstate="print"/>
          <a:stretch>
            <a:fillRect/>
          </a:stretch>
        </p:blipFill>
        <p:spPr>
          <a:xfrm>
            <a:off x="6862764" y="4899181"/>
            <a:ext cx="157980" cy="193531"/>
          </a:xfrm>
          <a:prstGeom prst="rect">
            <a:avLst/>
          </a:prstGeom>
        </p:spPr>
      </p:pic>
      <p:sp>
        <p:nvSpPr>
          <p:cNvPr id="45" name="object 45"/>
          <p:cNvSpPr txBox="1"/>
          <p:nvPr/>
        </p:nvSpPr>
        <p:spPr>
          <a:xfrm>
            <a:off x="6845809" y="4894772"/>
            <a:ext cx="546292" cy="125932"/>
          </a:xfrm>
          <a:prstGeom prst="rect">
            <a:avLst/>
          </a:prstGeom>
        </p:spPr>
        <p:txBody>
          <a:bodyPr vert="horz" wrap="square" lIns="0" tIns="12700" rIns="0" bIns="0" rtlCol="0">
            <a:spAutoFit/>
          </a:bodyPr>
          <a:lstStyle/>
          <a:p>
            <a:pPr marL="12700" marR="5080" indent="212725">
              <a:lnSpc>
                <a:spcPct val="138300"/>
              </a:lnSpc>
              <a:spcBef>
                <a:spcPts val="100"/>
              </a:spcBef>
            </a:pPr>
            <a:r>
              <a:rPr lang="en-US" sz="600" spc="-10">
                <a:solidFill>
                  <a:schemeClr val="tx1"/>
                </a:solidFill>
                <a:latin typeface="Arial"/>
                <a:cs typeface="Arial"/>
              </a:rPr>
              <a:t>Benelux</a:t>
            </a:r>
            <a:endParaRPr lang="en-US" sz="600">
              <a:solidFill>
                <a:schemeClr val="tx1"/>
              </a:solidFill>
              <a:latin typeface="Arial"/>
              <a:cs typeface="Arial"/>
            </a:endParaRPr>
          </a:p>
        </p:txBody>
      </p:sp>
      <p:sp>
        <p:nvSpPr>
          <p:cNvPr id="47" name="object 47"/>
          <p:cNvSpPr/>
          <p:nvPr/>
        </p:nvSpPr>
        <p:spPr>
          <a:xfrm>
            <a:off x="5965013" y="4792274"/>
            <a:ext cx="1535270" cy="0"/>
          </a:xfrm>
          <a:custGeom>
            <a:avLst/>
            <a:gdLst/>
            <a:ahLst/>
            <a:cxnLst/>
            <a:rect l="l" t="t" r="r" b="b"/>
            <a:pathLst>
              <a:path w="1449070">
                <a:moveTo>
                  <a:pt x="0" y="0"/>
                </a:moveTo>
                <a:lnTo>
                  <a:pt x="1448689" y="0"/>
                </a:lnTo>
              </a:path>
            </a:pathLst>
          </a:custGeom>
          <a:ln w="6350">
            <a:solidFill>
              <a:srgbClr val="BEBEBE"/>
            </a:solidFill>
            <a:prstDash val="sysDash"/>
          </a:ln>
        </p:spPr>
        <p:txBody>
          <a:bodyPr wrap="square" lIns="0" tIns="0" rIns="0" bIns="0" rtlCol="0"/>
          <a:lstStyle/>
          <a:p>
            <a:endParaRPr lang="en-US">
              <a:solidFill>
                <a:schemeClr val="tx1"/>
              </a:solidFill>
            </a:endParaRPr>
          </a:p>
        </p:txBody>
      </p:sp>
      <p:pic>
        <p:nvPicPr>
          <p:cNvPr id="55" name="object 55" descr="7,200+ Malaysia Flag Stock Photos, Pictures &amp; Royalty-Free Images - iStock  | Malaysia flag heart, Malaysia flag table, Malaysia flag pole"/>
          <p:cNvPicPr/>
          <p:nvPr/>
        </p:nvPicPr>
        <p:blipFill>
          <a:blip r:embed="rId23" cstate="print"/>
          <a:stretch>
            <a:fillRect/>
          </a:stretch>
        </p:blipFill>
        <p:spPr>
          <a:xfrm>
            <a:off x="8459389" y="4372333"/>
            <a:ext cx="160793" cy="175178"/>
          </a:xfrm>
          <a:prstGeom prst="rect">
            <a:avLst/>
          </a:prstGeom>
        </p:spPr>
      </p:pic>
      <p:pic>
        <p:nvPicPr>
          <p:cNvPr id="56" name="object 56" descr="Capital A | Our Brands"/>
          <p:cNvPicPr/>
          <p:nvPr/>
        </p:nvPicPr>
        <p:blipFill>
          <a:blip r:embed="rId24" cstate="print"/>
          <a:stretch>
            <a:fillRect/>
          </a:stretch>
        </p:blipFill>
        <p:spPr>
          <a:xfrm>
            <a:off x="7869366" y="4444809"/>
            <a:ext cx="519408" cy="153948"/>
          </a:xfrm>
          <a:prstGeom prst="rect">
            <a:avLst/>
          </a:prstGeom>
        </p:spPr>
      </p:pic>
      <p:sp>
        <p:nvSpPr>
          <p:cNvPr id="59" name="object 59"/>
          <p:cNvSpPr txBox="1"/>
          <p:nvPr/>
        </p:nvSpPr>
        <p:spPr>
          <a:xfrm>
            <a:off x="4095375" y="3524361"/>
            <a:ext cx="1965845" cy="477054"/>
          </a:xfrm>
          <a:prstGeom prst="rect">
            <a:avLst/>
          </a:prstGeom>
        </p:spPr>
        <p:txBody>
          <a:bodyPr vert="horz" wrap="square" lIns="0" tIns="12700" rIns="0" bIns="0" rtlCol="0">
            <a:spAutoFit/>
          </a:bodyPr>
          <a:lstStyle/>
          <a:p>
            <a:pPr marL="12700">
              <a:lnSpc>
                <a:spcPts val="720"/>
              </a:lnSpc>
              <a:spcBef>
                <a:spcPts val="100"/>
              </a:spcBef>
            </a:pPr>
            <a:r>
              <a:rPr sz="800" spc="-50">
                <a:solidFill>
                  <a:srgbClr val="FFFFFF"/>
                </a:solidFill>
                <a:latin typeface="Arial"/>
                <a:cs typeface="Arial"/>
              </a:rPr>
              <a:t>.</a:t>
            </a:r>
            <a:endParaRPr sz="800">
              <a:latin typeface="Arial"/>
              <a:cs typeface="Arial"/>
            </a:endParaRPr>
          </a:p>
          <a:p>
            <a:pPr marL="88265">
              <a:lnSpc>
                <a:spcPts val="1680"/>
              </a:lnSpc>
            </a:pPr>
            <a:r>
              <a:rPr sz="1600">
                <a:solidFill>
                  <a:srgbClr val="089C8B"/>
                </a:solidFill>
                <a:latin typeface="Arial"/>
                <a:cs typeface="Arial"/>
              </a:rPr>
              <a:t>8</a:t>
            </a:r>
            <a:r>
              <a:rPr sz="1600" spc="-50">
                <a:solidFill>
                  <a:srgbClr val="24C9D2"/>
                </a:solidFill>
                <a:latin typeface="Arial"/>
                <a:cs typeface="Arial"/>
              </a:rPr>
              <a:t> </a:t>
            </a:r>
            <a:r>
              <a:rPr sz="1100">
                <a:solidFill>
                  <a:srgbClr val="12426B"/>
                </a:solidFill>
                <a:latin typeface="Arial"/>
                <a:cs typeface="Arial"/>
              </a:rPr>
              <a:t>Active</a:t>
            </a:r>
            <a:r>
              <a:rPr sz="1100" spc="-5">
                <a:solidFill>
                  <a:srgbClr val="12426B"/>
                </a:solidFill>
                <a:latin typeface="Arial"/>
                <a:cs typeface="Arial"/>
              </a:rPr>
              <a:t> </a:t>
            </a:r>
            <a:r>
              <a:rPr sz="1100">
                <a:solidFill>
                  <a:srgbClr val="12426B"/>
                </a:solidFill>
                <a:latin typeface="Arial"/>
                <a:cs typeface="Arial"/>
              </a:rPr>
              <a:t>Public</a:t>
            </a:r>
            <a:r>
              <a:rPr sz="1100" spc="-50">
                <a:solidFill>
                  <a:srgbClr val="12426B"/>
                </a:solidFill>
                <a:latin typeface="Arial"/>
                <a:cs typeface="Arial"/>
              </a:rPr>
              <a:t> </a:t>
            </a:r>
            <a:r>
              <a:rPr sz="1100">
                <a:solidFill>
                  <a:srgbClr val="12426B"/>
                </a:solidFill>
                <a:latin typeface="Arial"/>
                <a:cs typeface="Arial"/>
              </a:rPr>
              <a:t>A1 </a:t>
            </a:r>
            <a:r>
              <a:rPr sz="1100" spc="-10">
                <a:solidFill>
                  <a:srgbClr val="12426B"/>
                </a:solidFill>
                <a:latin typeface="Arial"/>
                <a:cs typeface="Arial"/>
              </a:rPr>
              <a:t>Filings</a:t>
            </a:r>
            <a:endParaRPr sz="1100">
              <a:latin typeface="Arial"/>
              <a:cs typeface="Arial"/>
            </a:endParaRPr>
          </a:p>
          <a:p>
            <a:pPr marL="1045844">
              <a:spcBef>
                <a:spcPts val="540"/>
              </a:spcBef>
            </a:pPr>
            <a:endParaRPr lang="en-US" sz="600">
              <a:solidFill>
                <a:schemeClr val="tx1"/>
              </a:solidFill>
              <a:latin typeface="Arial"/>
              <a:cs typeface="Arial"/>
            </a:endParaRPr>
          </a:p>
        </p:txBody>
      </p:sp>
      <p:sp>
        <p:nvSpPr>
          <p:cNvPr id="60" name="object 60"/>
          <p:cNvSpPr txBox="1"/>
          <p:nvPr/>
        </p:nvSpPr>
        <p:spPr>
          <a:xfrm>
            <a:off x="8053573" y="5206184"/>
            <a:ext cx="951168" cy="303865"/>
          </a:xfrm>
          <a:prstGeom prst="rect">
            <a:avLst/>
          </a:prstGeom>
        </p:spPr>
        <p:txBody>
          <a:bodyPr vert="horz" wrap="square" lIns="0" tIns="12700" rIns="0" bIns="0" rtlCol="0">
            <a:spAutoFit/>
          </a:bodyPr>
          <a:lstStyle/>
          <a:p>
            <a:pPr marL="12700">
              <a:spcBef>
                <a:spcPts val="100"/>
              </a:spcBef>
            </a:pPr>
            <a:r>
              <a:rPr sz="800">
                <a:solidFill>
                  <a:srgbClr val="12426B"/>
                </a:solidFill>
                <a:latin typeface="Arial"/>
                <a:cs typeface="Arial"/>
              </a:rPr>
              <a:t>MOU</a:t>
            </a:r>
            <a:r>
              <a:rPr sz="800" spc="-40">
                <a:solidFill>
                  <a:srgbClr val="12426B"/>
                </a:solidFill>
                <a:latin typeface="Arial"/>
                <a:cs typeface="Arial"/>
              </a:rPr>
              <a:t> </a:t>
            </a:r>
            <a:r>
              <a:rPr sz="800">
                <a:solidFill>
                  <a:srgbClr val="12426B"/>
                </a:solidFill>
                <a:latin typeface="Arial"/>
                <a:cs typeface="Arial"/>
              </a:rPr>
              <a:t>Signed</a:t>
            </a:r>
            <a:r>
              <a:rPr sz="800" spc="-20">
                <a:solidFill>
                  <a:srgbClr val="12426B"/>
                </a:solidFill>
                <a:latin typeface="Arial"/>
                <a:cs typeface="Arial"/>
              </a:rPr>
              <a:t> with</a:t>
            </a:r>
            <a:endParaRPr sz="800">
              <a:latin typeface="Arial"/>
              <a:cs typeface="Arial"/>
            </a:endParaRPr>
          </a:p>
          <a:p>
            <a:pPr marL="38100"/>
            <a:r>
              <a:rPr sz="800">
                <a:solidFill>
                  <a:srgbClr val="12426B"/>
                </a:solidFill>
                <a:latin typeface="Arial"/>
                <a:cs typeface="Arial"/>
              </a:rPr>
              <a:t>Bursa</a:t>
            </a:r>
            <a:r>
              <a:rPr sz="800" spc="-25">
                <a:solidFill>
                  <a:srgbClr val="12426B"/>
                </a:solidFill>
                <a:latin typeface="Arial"/>
                <a:cs typeface="Arial"/>
              </a:rPr>
              <a:t> </a:t>
            </a:r>
            <a:r>
              <a:rPr sz="800" spc="-10">
                <a:solidFill>
                  <a:srgbClr val="12426B"/>
                </a:solidFill>
                <a:latin typeface="Arial"/>
                <a:cs typeface="Arial"/>
              </a:rPr>
              <a:t>Malaysia</a:t>
            </a:r>
            <a:endParaRPr sz="800">
              <a:latin typeface="Arial"/>
              <a:cs typeface="Arial"/>
            </a:endParaRPr>
          </a:p>
        </p:txBody>
      </p:sp>
      <p:sp>
        <p:nvSpPr>
          <p:cNvPr id="62" name="object 62"/>
          <p:cNvSpPr/>
          <p:nvPr/>
        </p:nvSpPr>
        <p:spPr>
          <a:xfrm>
            <a:off x="7847437" y="4883743"/>
            <a:ext cx="1276252" cy="789899"/>
          </a:xfrm>
          <a:custGeom>
            <a:avLst/>
            <a:gdLst/>
            <a:ahLst/>
            <a:cxnLst/>
            <a:rect l="l" t="t" r="r" b="b"/>
            <a:pathLst>
              <a:path w="1204595" h="595629">
                <a:moveTo>
                  <a:pt x="0" y="99288"/>
                </a:moveTo>
                <a:lnTo>
                  <a:pt x="7800" y="60639"/>
                </a:lnTo>
                <a:lnTo>
                  <a:pt x="29067" y="29079"/>
                </a:lnTo>
                <a:lnTo>
                  <a:pt x="60596" y="7802"/>
                </a:lnTo>
                <a:lnTo>
                  <a:pt x="99187" y="0"/>
                </a:lnTo>
                <a:lnTo>
                  <a:pt x="1105153" y="0"/>
                </a:lnTo>
                <a:lnTo>
                  <a:pt x="1143744" y="7802"/>
                </a:lnTo>
                <a:lnTo>
                  <a:pt x="1175273" y="29079"/>
                </a:lnTo>
                <a:lnTo>
                  <a:pt x="1196540" y="60639"/>
                </a:lnTo>
                <a:lnTo>
                  <a:pt x="1204341" y="99288"/>
                </a:lnTo>
                <a:lnTo>
                  <a:pt x="1204341" y="496239"/>
                </a:lnTo>
                <a:lnTo>
                  <a:pt x="1196540" y="534864"/>
                </a:lnTo>
                <a:lnTo>
                  <a:pt x="1175273" y="566408"/>
                </a:lnTo>
                <a:lnTo>
                  <a:pt x="1143744" y="587678"/>
                </a:lnTo>
                <a:lnTo>
                  <a:pt x="1105153" y="595477"/>
                </a:lnTo>
                <a:lnTo>
                  <a:pt x="99187" y="595477"/>
                </a:lnTo>
                <a:lnTo>
                  <a:pt x="60596" y="587678"/>
                </a:lnTo>
                <a:lnTo>
                  <a:pt x="29067" y="566408"/>
                </a:lnTo>
                <a:lnTo>
                  <a:pt x="7800" y="534864"/>
                </a:lnTo>
                <a:lnTo>
                  <a:pt x="0" y="496239"/>
                </a:lnTo>
                <a:lnTo>
                  <a:pt x="0" y="99288"/>
                </a:lnTo>
                <a:close/>
              </a:path>
            </a:pathLst>
          </a:custGeom>
          <a:ln w="6350">
            <a:solidFill>
              <a:srgbClr val="24C9D2"/>
            </a:solidFill>
          </a:ln>
        </p:spPr>
        <p:txBody>
          <a:bodyPr wrap="square" lIns="0" tIns="0" rIns="0" bIns="0" rtlCol="0"/>
          <a:lstStyle/>
          <a:p>
            <a:endParaRPr/>
          </a:p>
        </p:txBody>
      </p:sp>
      <p:pic>
        <p:nvPicPr>
          <p:cNvPr id="63" name="object 63"/>
          <p:cNvPicPr/>
          <p:nvPr/>
        </p:nvPicPr>
        <p:blipFill>
          <a:blip r:embed="rId25" cstate="print"/>
          <a:stretch>
            <a:fillRect/>
          </a:stretch>
        </p:blipFill>
        <p:spPr>
          <a:xfrm>
            <a:off x="8200238" y="4974335"/>
            <a:ext cx="570431" cy="187498"/>
          </a:xfrm>
          <a:prstGeom prst="rect">
            <a:avLst/>
          </a:prstGeom>
        </p:spPr>
      </p:pic>
      <p:sp>
        <p:nvSpPr>
          <p:cNvPr id="66" name="object 66"/>
          <p:cNvSpPr txBox="1"/>
          <p:nvPr/>
        </p:nvSpPr>
        <p:spPr>
          <a:xfrm>
            <a:off x="7982798" y="3565775"/>
            <a:ext cx="1021943" cy="653384"/>
          </a:xfrm>
          <a:prstGeom prst="rect">
            <a:avLst/>
          </a:prstGeom>
        </p:spPr>
        <p:txBody>
          <a:bodyPr vert="horz" wrap="square" lIns="0" tIns="12065" rIns="0" bIns="0" rtlCol="0">
            <a:spAutoFit/>
          </a:bodyPr>
          <a:lstStyle/>
          <a:p>
            <a:pPr marR="3810" algn="ctr">
              <a:lnSpc>
                <a:spcPts val="3220"/>
              </a:lnSpc>
              <a:spcBef>
                <a:spcPts val="95"/>
              </a:spcBef>
            </a:pPr>
            <a:r>
              <a:rPr sz="2800" spc="-50">
                <a:solidFill>
                  <a:srgbClr val="585858"/>
                </a:solidFill>
                <a:latin typeface="Arial"/>
                <a:cs typeface="Arial"/>
              </a:rPr>
              <a:t>+</a:t>
            </a:r>
            <a:endParaRPr sz="2800">
              <a:latin typeface="Arial"/>
              <a:cs typeface="Arial"/>
            </a:endParaRPr>
          </a:p>
          <a:p>
            <a:pPr marR="5080" algn="ctr">
              <a:lnSpc>
                <a:spcPts val="1780"/>
              </a:lnSpc>
            </a:pPr>
            <a:r>
              <a:rPr sz="1600">
                <a:solidFill>
                  <a:srgbClr val="FF0000"/>
                </a:solidFill>
                <a:latin typeface="Arial"/>
                <a:cs typeface="Arial"/>
              </a:rPr>
              <a:t>1</a:t>
            </a:r>
            <a:r>
              <a:rPr sz="1600" spc="-65">
                <a:solidFill>
                  <a:srgbClr val="24C9D2"/>
                </a:solidFill>
                <a:latin typeface="Arial"/>
                <a:cs typeface="Arial"/>
              </a:rPr>
              <a:t> </a:t>
            </a:r>
            <a:r>
              <a:rPr sz="1100" spc="-10">
                <a:solidFill>
                  <a:srgbClr val="12426B"/>
                </a:solidFill>
                <a:latin typeface="Arial"/>
                <a:cs typeface="Arial"/>
              </a:rPr>
              <a:t>Announced</a:t>
            </a:r>
            <a:endParaRPr lang="en-US" sz="1100">
              <a:latin typeface="Arial"/>
              <a:cs typeface="Arial"/>
            </a:endParaRPr>
          </a:p>
        </p:txBody>
      </p:sp>
      <p:sp>
        <p:nvSpPr>
          <p:cNvPr id="68" name="object 68"/>
          <p:cNvSpPr/>
          <p:nvPr/>
        </p:nvSpPr>
        <p:spPr>
          <a:xfrm>
            <a:off x="4234369" y="4358761"/>
            <a:ext cx="3265644" cy="433513"/>
          </a:xfrm>
          <a:custGeom>
            <a:avLst/>
            <a:gdLst/>
            <a:ahLst/>
            <a:cxnLst/>
            <a:rect l="l" t="t" r="r" b="b"/>
            <a:pathLst>
              <a:path w="3082290" h="369570">
                <a:moveTo>
                  <a:pt x="0" y="369570"/>
                </a:moveTo>
                <a:lnTo>
                  <a:pt x="1448816" y="369570"/>
                </a:lnTo>
              </a:path>
              <a:path w="3082290" h="369570">
                <a:moveTo>
                  <a:pt x="1633474" y="0"/>
                </a:moveTo>
                <a:lnTo>
                  <a:pt x="3082163" y="0"/>
                </a:lnTo>
              </a:path>
            </a:pathLst>
          </a:custGeom>
          <a:ln w="6350">
            <a:solidFill>
              <a:srgbClr val="BEBEBE"/>
            </a:solidFill>
            <a:prstDash val="sysDash"/>
          </a:ln>
        </p:spPr>
        <p:txBody>
          <a:bodyPr wrap="square" lIns="0" tIns="0" rIns="0" bIns="0" rtlCol="0"/>
          <a:lstStyle/>
          <a:p>
            <a:endParaRPr/>
          </a:p>
        </p:txBody>
      </p:sp>
      <p:pic>
        <p:nvPicPr>
          <p:cNvPr id="69" name="object 69" descr="South Korea - Free flags icons"/>
          <p:cNvPicPr/>
          <p:nvPr/>
        </p:nvPicPr>
        <p:blipFill>
          <a:blip r:embed="rId26" cstate="print"/>
          <a:stretch>
            <a:fillRect/>
          </a:stretch>
        </p:blipFill>
        <p:spPr>
          <a:xfrm>
            <a:off x="6847019" y="4403424"/>
            <a:ext cx="189480" cy="209784"/>
          </a:xfrm>
          <a:prstGeom prst="rect">
            <a:avLst/>
          </a:prstGeom>
        </p:spPr>
      </p:pic>
      <p:sp>
        <p:nvSpPr>
          <p:cNvPr id="70" name="object 70"/>
          <p:cNvSpPr txBox="1"/>
          <p:nvPr/>
        </p:nvSpPr>
        <p:spPr>
          <a:xfrm>
            <a:off x="7071594" y="4431017"/>
            <a:ext cx="319568" cy="105157"/>
          </a:xfrm>
          <a:prstGeom prst="rect">
            <a:avLst/>
          </a:prstGeom>
        </p:spPr>
        <p:txBody>
          <a:bodyPr vert="horz" wrap="square" lIns="0" tIns="12700" rIns="0" bIns="0" rtlCol="0">
            <a:spAutoFit/>
          </a:bodyPr>
          <a:lstStyle/>
          <a:p>
            <a:pPr marL="12700">
              <a:spcBef>
                <a:spcPts val="100"/>
              </a:spcBef>
            </a:pPr>
            <a:r>
              <a:rPr lang="en-US" sz="600" spc="-10" err="1">
                <a:solidFill>
                  <a:schemeClr val="tx1"/>
                </a:solidFill>
                <a:latin typeface="Arial"/>
                <a:cs typeface="Arial"/>
              </a:rPr>
              <a:t>S.Korea</a:t>
            </a:r>
            <a:endParaRPr lang="en-US" sz="600">
              <a:solidFill>
                <a:schemeClr val="tx1"/>
              </a:solidFill>
              <a:latin typeface="Arial"/>
              <a:cs typeface="Arial"/>
            </a:endParaRPr>
          </a:p>
        </p:txBody>
      </p:sp>
      <p:sp>
        <p:nvSpPr>
          <p:cNvPr id="71" name="object 71"/>
          <p:cNvSpPr txBox="1"/>
          <p:nvPr/>
        </p:nvSpPr>
        <p:spPr>
          <a:xfrm>
            <a:off x="6825088" y="4629895"/>
            <a:ext cx="193086" cy="105157"/>
          </a:xfrm>
          <a:prstGeom prst="rect">
            <a:avLst/>
          </a:prstGeom>
        </p:spPr>
        <p:txBody>
          <a:bodyPr vert="horz" wrap="square" lIns="0" tIns="12700" rIns="0" bIns="0" rtlCol="0">
            <a:spAutoFit/>
          </a:bodyPr>
          <a:lstStyle/>
          <a:p>
            <a:pPr marL="12700">
              <a:spcBef>
                <a:spcPts val="100"/>
              </a:spcBef>
            </a:pPr>
            <a:r>
              <a:rPr lang="en-US" sz="600" spc="-25">
                <a:solidFill>
                  <a:schemeClr val="tx1"/>
                </a:solidFill>
                <a:latin typeface="Arial"/>
                <a:cs typeface="Arial"/>
              </a:rPr>
              <a:t>TMT</a:t>
            </a:r>
            <a:endParaRPr lang="en-US" sz="600">
              <a:solidFill>
                <a:schemeClr val="tx1"/>
              </a:solidFill>
              <a:latin typeface="Arial"/>
              <a:cs typeface="Arial"/>
            </a:endParaRPr>
          </a:p>
        </p:txBody>
      </p:sp>
      <p:pic>
        <p:nvPicPr>
          <p:cNvPr id="72" name="object 72" descr="South Korea - Free flags icons"/>
          <p:cNvPicPr/>
          <p:nvPr/>
        </p:nvPicPr>
        <p:blipFill>
          <a:blip r:embed="rId26" cstate="print"/>
          <a:stretch>
            <a:fillRect/>
          </a:stretch>
        </p:blipFill>
        <p:spPr>
          <a:xfrm>
            <a:off x="6847022" y="3914942"/>
            <a:ext cx="189480" cy="209784"/>
          </a:xfrm>
          <a:prstGeom prst="rect">
            <a:avLst/>
          </a:prstGeom>
        </p:spPr>
      </p:pic>
      <p:sp>
        <p:nvSpPr>
          <p:cNvPr id="73" name="object 73"/>
          <p:cNvSpPr txBox="1"/>
          <p:nvPr/>
        </p:nvSpPr>
        <p:spPr>
          <a:xfrm>
            <a:off x="7071594" y="3935529"/>
            <a:ext cx="319568" cy="105157"/>
          </a:xfrm>
          <a:prstGeom prst="rect">
            <a:avLst/>
          </a:prstGeom>
        </p:spPr>
        <p:txBody>
          <a:bodyPr vert="horz" wrap="square" lIns="0" tIns="12700" rIns="0" bIns="0" rtlCol="0">
            <a:spAutoFit/>
          </a:bodyPr>
          <a:lstStyle/>
          <a:p>
            <a:pPr marL="12700">
              <a:spcBef>
                <a:spcPts val="100"/>
              </a:spcBef>
            </a:pPr>
            <a:r>
              <a:rPr lang="en-US" sz="600" spc="-10" err="1">
                <a:solidFill>
                  <a:schemeClr val="tx1"/>
                </a:solidFill>
                <a:latin typeface="Arial"/>
                <a:cs typeface="Arial"/>
              </a:rPr>
              <a:t>S.Korea</a:t>
            </a:r>
            <a:endParaRPr lang="en-US" sz="600">
              <a:solidFill>
                <a:schemeClr val="tx1"/>
              </a:solidFill>
              <a:latin typeface="Arial"/>
              <a:cs typeface="Arial"/>
            </a:endParaRPr>
          </a:p>
        </p:txBody>
      </p:sp>
      <p:sp>
        <p:nvSpPr>
          <p:cNvPr id="74" name="object 74"/>
          <p:cNvSpPr txBox="1"/>
          <p:nvPr/>
        </p:nvSpPr>
        <p:spPr>
          <a:xfrm>
            <a:off x="6825088" y="4134260"/>
            <a:ext cx="193086" cy="105157"/>
          </a:xfrm>
          <a:prstGeom prst="rect">
            <a:avLst/>
          </a:prstGeom>
        </p:spPr>
        <p:txBody>
          <a:bodyPr vert="horz" wrap="square" lIns="0" tIns="12700" rIns="0" bIns="0" rtlCol="0">
            <a:spAutoFit/>
          </a:bodyPr>
          <a:lstStyle/>
          <a:p>
            <a:pPr marL="12700">
              <a:spcBef>
                <a:spcPts val="100"/>
              </a:spcBef>
            </a:pPr>
            <a:r>
              <a:rPr lang="en-US" sz="600" spc="-25">
                <a:solidFill>
                  <a:schemeClr val="tx1"/>
                </a:solidFill>
                <a:latin typeface="Arial"/>
                <a:cs typeface="Arial"/>
              </a:rPr>
              <a:t>TMT</a:t>
            </a:r>
            <a:endParaRPr lang="en-US" sz="600">
              <a:solidFill>
                <a:schemeClr val="tx1"/>
              </a:solidFill>
              <a:latin typeface="Arial"/>
              <a:cs typeface="Arial"/>
            </a:endParaRPr>
          </a:p>
        </p:txBody>
      </p:sp>
      <p:sp>
        <p:nvSpPr>
          <p:cNvPr id="76" name="object 76"/>
          <p:cNvSpPr/>
          <p:nvPr/>
        </p:nvSpPr>
        <p:spPr>
          <a:xfrm>
            <a:off x="5965012" y="5338369"/>
            <a:ext cx="1535270" cy="0"/>
          </a:xfrm>
          <a:custGeom>
            <a:avLst/>
            <a:gdLst/>
            <a:ahLst/>
            <a:cxnLst/>
            <a:rect l="l" t="t" r="r" b="b"/>
            <a:pathLst>
              <a:path w="1449070">
                <a:moveTo>
                  <a:pt x="0" y="0"/>
                </a:moveTo>
                <a:lnTo>
                  <a:pt x="1448689" y="0"/>
                </a:lnTo>
              </a:path>
            </a:pathLst>
          </a:custGeom>
          <a:ln w="6350">
            <a:solidFill>
              <a:srgbClr val="BEBEBE"/>
            </a:solidFill>
            <a:prstDash val="sysDash"/>
          </a:ln>
        </p:spPr>
        <p:txBody>
          <a:bodyPr wrap="square" lIns="0" tIns="0" rIns="0" bIns="0" rtlCol="0"/>
          <a:lstStyle/>
          <a:p>
            <a:endParaRPr lang="en-US">
              <a:solidFill>
                <a:schemeClr val="tx1"/>
              </a:solidFill>
            </a:endParaRPr>
          </a:p>
        </p:txBody>
      </p:sp>
      <p:sp>
        <p:nvSpPr>
          <p:cNvPr id="90" name="object 90"/>
          <p:cNvSpPr/>
          <p:nvPr/>
        </p:nvSpPr>
        <p:spPr>
          <a:xfrm>
            <a:off x="4234369" y="5338369"/>
            <a:ext cx="1535270" cy="0"/>
          </a:xfrm>
          <a:custGeom>
            <a:avLst/>
            <a:gdLst/>
            <a:ahLst/>
            <a:cxnLst/>
            <a:rect l="l" t="t" r="r" b="b"/>
            <a:pathLst>
              <a:path w="1449070">
                <a:moveTo>
                  <a:pt x="0" y="0"/>
                </a:moveTo>
                <a:lnTo>
                  <a:pt x="1448816" y="0"/>
                </a:lnTo>
              </a:path>
            </a:pathLst>
          </a:custGeom>
          <a:ln w="6350">
            <a:solidFill>
              <a:srgbClr val="BEBEBE"/>
            </a:solidFill>
            <a:prstDash val="sysDash"/>
          </a:ln>
        </p:spPr>
        <p:txBody>
          <a:bodyPr wrap="square" lIns="0" tIns="0" rIns="0" bIns="0" rtlCol="0"/>
          <a:lstStyle/>
          <a:p>
            <a:endParaRPr/>
          </a:p>
        </p:txBody>
      </p:sp>
      <p:sp>
        <p:nvSpPr>
          <p:cNvPr id="96" name="TextBox 95">
            <a:extLst>
              <a:ext uri="{FF2B5EF4-FFF2-40B4-BE49-F238E27FC236}">
                <a16:creationId xmlns:a16="http://schemas.microsoft.com/office/drawing/2014/main" id="{D434F6F0-62FB-527D-976E-0B729551421F}"/>
              </a:ext>
            </a:extLst>
          </p:cNvPr>
          <p:cNvSpPr txBox="1">
            <a:spLocks noChangeArrowheads="1"/>
          </p:cNvSpPr>
          <p:nvPr/>
        </p:nvSpPr>
        <p:spPr bwMode="auto">
          <a:xfrm>
            <a:off x="4104928" y="3276767"/>
            <a:ext cx="5106891" cy="321783"/>
          </a:xfrm>
          <a:prstGeom prst="rect">
            <a:avLst/>
          </a:prstGeom>
          <a:solidFill>
            <a:srgbClr val="089C8B"/>
          </a:solidFill>
          <a:ln w="9525" cap="flat" cmpd="sng" algn="ctr">
            <a:solidFill>
              <a:srgbClr val="089C8B"/>
            </a:solidFill>
            <a:prstDash val="solid"/>
            <a:headEnd/>
            <a:tailEnd/>
          </a:ln>
          <a:effectLst>
            <a:outerShdw blurRad="40000" dist="23000" dir="5400000" rotWithShape="0">
              <a:srgbClr val="000000">
                <a:alpha val="35000"/>
              </a:srgbClr>
            </a:outerShdw>
          </a:effectLst>
        </p:spPr>
        <p:txBody>
          <a:bodyPr lIns="0" tIns="0" rIns="0" bIns="0" anchor="ctr"/>
          <a:lstStyle>
            <a:defPPr>
              <a:defRPr lang="en-US"/>
            </a:defPPr>
            <a:lvl1pPr marR="0" lvl="0" indent="0" algn="ctr" defTabSz="844083" fontAlgn="auto">
              <a:lnSpc>
                <a:spcPct val="100000"/>
              </a:lnSpc>
              <a:spcBef>
                <a:spcPts val="0"/>
              </a:spcBef>
              <a:spcAft>
                <a:spcPts val="0"/>
              </a:spcAft>
              <a:buClrTx/>
              <a:buSzTx/>
              <a:buFontTx/>
              <a:buNone/>
              <a:tabLst/>
              <a:defRPr kumimoji="0" sz="1200" b="1" i="0" u="none" strike="noStrike" kern="0" cap="none" spc="0" normalizeH="0" baseline="0">
                <a:ln>
                  <a:noFill/>
                </a:ln>
                <a:solidFill>
                  <a:srgbClr val="FFFFFF"/>
                </a:solidFill>
                <a:effectLst/>
                <a:uLnTx/>
                <a:uFillTx/>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r>
              <a:rPr lang="en-US" altLang="zh-TW" sz="1000">
                <a:cs typeface="Arial" panose="020B0604020202020204" pitchFamily="34" charset="0"/>
              </a:rPr>
              <a:t>Robust IPO Pipeline Across Regions</a:t>
            </a:r>
          </a:p>
        </p:txBody>
      </p:sp>
      <p:sp>
        <p:nvSpPr>
          <p:cNvPr id="6" name="Slide Number Placeholder 1">
            <a:extLst>
              <a:ext uri="{FF2B5EF4-FFF2-40B4-BE49-F238E27FC236}">
                <a16:creationId xmlns:a16="http://schemas.microsoft.com/office/drawing/2014/main" id="{6076D874-DD5E-62E7-3412-25D32ABE8BE0}"/>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17</a:t>
            </a:fld>
            <a:endParaRPr lang="en-US"/>
          </a:p>
        </p:txBody>
      </p:sp>
      <p:sp>
        <p:nvSpPr>
          <p:cNvPr id="8" name="TextBox 7">
            <a:extLst>
              <a:ext uri="{FF2B5EF4-FFF2-40B4-BE49-F238E27FC236}">
                <a16:creationId xmlns:a16="http://schemas.microsoft.com/office/drawing/2014/main" id="{259754B1-5174-A211-2D40-57296909B743}"/>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
        <p:nvSpPr>
          <p:cNvPr id="12" name="TextBox 11">
            <a:extLst>
              <a:ext uri="{FF2B5EF4-FFF2-40B4-BE49-F238E27FC236}">
                <a16:creationId xmlns:a16="http://schemas.microsoft.com/office/drawing/2014/main" id="{5B783AC2-7A71-E7F1-DBE2-B219730FC7FC}"/>
              </a:ext>
            </a:extLst>
          </p:cNvPr>
          <p:cNvSpPr txBox="1"/>
          <p:nvPr/>
        </p:nvSpPr>
        <p:spPr>
          <a:xfrm>
            <a:off x="6761765" y="5151825"/>
            <a:ext cx="555921" cy="184666"/>
          </a:xfrm>
          <a:prstGeom prst="rect">
            <a:avLst/>
          </a:prstGeom>
          <a:noFill/>
          <a:ln w="6350">
            <a:noFill/>
            <a:prstDash val="dash"/>
          </a:ln>
        </p:spPr>
        <p:txBody>
          <a:bodyPr wrap="none">
            <a:spAutoFit/>
          </a:bodyPr>
          <a:lstStyle/>
          <a:p>
            <a:r>
              <a:rPr lang="en-US" sz="600" spc="-10">
                <a:solidFill>
                  <a:schemeClr val="tx1"/>
                </a:solidFill>
                <a:latin typeface="Arial"/>
                <a:cs typeface="Arial"/>
              </a:rPr>
              <a:t>Consumer</a:t>
            </a:r>
            <a:endParaRPr lang="en-GB" sz="1800"/>
          </a:p>
        </p:txBody>
      </p:sp>
      <p:sp>
        <p:nvSpPr>
          <p:cNvPr id="16" name="TextBox 15">
            <a:extLst>
              <a:ext uri="{FF2B5EF4-FFF2-40B4-BE49-F238E27FC236}">
                <a16:creationId xmlns:a16="http://schemas.microsoft.com/office/drawing/2014/main" id="{8BDA9CE6-4F1F-E155-7D11-F2404A3AA37F}"/>
              </a:ext>
            </a:extLst>
          </p:cNvPr>
          <p:cNvSpPr txBox="1"/>
          <p:nvPr/>
        </p:nvSpPr>
        <p:spPr>
          <a:xfrm>
            <a:off x="5116469" y="3923345"/>
            <a:ext cx="530594" cy="184666"/>
          </a:xfrm>
          <a:prstGeom prst="rect">
            <a:avLst/>
          </a:prstGeom>
          <a:noFill/>
          <a:ln w="6350">
            <a:noFill/>
            <a:prstDash val="dash"/>
          </a:ln>
        </p:spPr>
        <p:txBody>
          <a:bodyPr wrap="none">
            <a:spAutoFit/>
          </a:bodyPr>
          <a:lstStyle/>
          <a:p>
            <a:r>
              <a:rPr lang="en-GB" sz="600" spc="-10">
                <a:solidFill>
                  <a:schemeClr val="tx1"/>
                </a:solidFill>
                <a:latin typeface="Arial"/>
                <a:cs typeface="Arial"/>
              </a:rPr>
              <a:t>Indonesia</a:t>
            </a:r>
            <a:endParaRPr lang="en-GB" sz="1800"/>
          </a:p>
        </p:txBody>
      </p:sp>
      <p:sp>
        <p:nvSpPr>
          <p:cNvPr id="129" name="object 70">
            <a:extLst>
              <a:ext uri="{FF2B5EF4-FFF2-40B4-BE49-F238E27FC236}">
                <a16:creationId xmlns:a16="http://schemas.microsoft.com/office/drawing/2014/main" id="{52CEF603-470F-E0D0-EE80-AC007BCDA2A2}"/>
              </a:ext>
            </a:extLst>
          </p:cNvPr>
          <p:cNvSpPr txBox="1"/>
          <p:nvPr/>
        </p:nvSpPr>
        <p:spPr>
          <a:xfrm>
            <a:off x="8022893" y="4402488"/>
            <a:ext cx="1093306" cy="248466"/>
          </a:xfrm>
          <a:prstGeom prst="rect">
            <a:avLst/>
          </a:prstGeom>
        </p:spPr>
        <p:txBody>
          <a:bodyPr vert="horz" wrap="square" lIns="0" tIns="12700" rIns="0" bIns="0" rtlCol="0">
            <a:spAutoFit/>
          </a:bodyPr>
          <a:lstStyle/>
          <a:p>
            <a:pPr marL="459740" marR="5080" indent="188595">
              <a:lnSpc>
                <a:spcPct val="134700"/>
              </a:lnSpc>
              <a:spcBef>
                <a:spcPts val="390"/>
              </a:spcBef>
            </a:pPr>
            <a:r>
              <a:rPr lang="en-GB" sz="600" spc="-10">
                <a:solidFill>
                  <a:schemeClr val="tx1"/>
                </a:solidFill>
                <a:latin typeface="Arial"/>
                <a:cs typeface="Arial"/>
              </a:rPr>
              <a:t>Malaysia</a:t>
            </a:r>
            <a:r>
              <a:rPr lang="en-GB" sz="600" spc="500">
                <a:solidFill>
                  <a:schemeClr val="tx1"/>
                </a:solidFill>
                <a:latin typeface="Arial"/>
                <a:cs typeface="Arial"/>
              </a:rPr>
              <a:t> </a:t>
            </a:r>
            <a:r>
              <a:rPr lang="en-GB" sz="600" spc="-10">
                <a:solidFill>
                  <a:schemeClr val="tx1"/>
                </a:solidFill>
                <a:latin typeface="Arial"/>
                <a:cs typeface="Arial"/>
              </a:rPr>
              <a:t>Industrials</a:t>
            </a:r>
            <a:endParaRPr lang="en-GB" sz="600">
              <a:solidFill>
                <a:schemeClr val="tx1"/>
              </a:solidFill>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C49CE-CBF6-AACE-E093-A0BF5DAF0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65306-E9F2-55AB-F08F-84079164A238}"/>
              </a:ext>
            </a:extLst>
          </p:cNvPr>
          <p:cNvSpPr>
            <a:spLocks noGrp="1"/>
          </p:cNvSpPr>
          <p:nvPr>
            <p:ph type="title"/>
          </p:nvPr>
        </p:nvSpPr>
        <p:spPr/>
        <p:txBody>
          <a:bodyPr/>
          <a:lstStyle/>
          <a:p>
            <a:r>
              <a:rPr lang="en-US" altLang="zh-TW" err="1"/>
              <a:t>HKEx</a:t>
            </a:r>
            <a:r>
              <a:rPr lang="en-US" altLang="zh-TW"/>
              <a:t> is an Attractive Listing Venue for International Companies </a:t>
            </a:r>
            <a:endParaRPr lang="en-US"/>
          </a:p>
        </p:txBody>
      </p:sp>
      <p:sp>
        <p:nvSpPr>
          <p:cNvPr id="21" name="Text Placeholder 20">
            <a:extLst>
              <a:ext uri="{FF2B5EF4-FFF2-40B4-BE49-F238E27FC236}">
                <a16:creationId xmlns:a16="http://schemas.microsoft.com/office/drawing/2014/main" id="{FB62E32D-12CF-2652-F5AC-D0F7F1D3BD26}"/>
              </a:ext>
            </a:extLst>
          </p:cNvPr>
          <p:cNvSpPr>
            <a:spLocks noGrp="1"/>
          </p:cNvSpPr>
          <p:nvPr>
            <p:ph type="body" sz="quarter" idx="46"/>
          </p:nvPr>
        </p:nvSpPr>
        <p:spPr/>
        <p:txBody>
          <a:bodyPr/>
          <a:lstStyle/>
          <a:p>
            <a:pPr marL="0" indent="0">
              <a:buNone/>
            </a:pPr>
            <a:r>
              <a:rPr lang="en-US" altLang="zh-CN" sz="800"/>
              <a:t>Source: Bloomberg; desktop search </a:t>
            </a:r>
          </a:p>
          <a:p>
            <a:r>
              <a:rPr lang="en-US" altLang="zh-CN" sz="800"/>
              <a:t>% of revenue in latest financial year; % of net premiums for Manulife</a:t>
            </a:r>
            <a:endParaRPr lang="en-GB" sz="800"/>
          </a:p>
        </p:txBody>
      </p:sp>
      <p:sp>
        <p:nvSpPr>
          <p:cNvPr id="4" name="Text Placeholder 5">
            <a:extLst>
              <a:ext uri="{FF2B5EF4-FFF2-40B4-BE49-F238E27FC236}">
                <a16:creationId xmlns:a16="http://schemas.microsoft.com/office/drawing/2014/main" id="{488783DF-7EFE-E6AE-4F1A-2C3F57C9D827}"/>
              </a:ext>
            </a:extLst>
          </p:cNvPr>
          <p:cNvSpPr txBox="1">
            <a:spLocks/>
          </p:cNvSpPr>
          <p:nvPr/>
        </p:nvSpPr>
        <p:spPr>
          <a:xfrm>
            <a:off x="453000" y="1143413"/>
            <a:ext cx="9000000" cy="450123"/>
          </a:xfrm>
          <a:prstGeom prst="rect">
            <a:avLst/>
          </a:prstGeom>
          <a:solidFill>
            <a:schemeClr val="bg1">
              <a:lumMod val="85000"/>
            </a:schemeClr>
          </a:solidFill>
          <a:ln w="12700">
            <a:solidFill>
              <a:schemeClr val="bg2"/>
            </a:solidFill>
          </a:ln>
          <a:effectLst>
            <a:outerShdw blurRad="50800" dist="38100" dir="2700000" algn="tl" rotWithShape="0">
              <a:prstClr val="black">
                <a:alpha val="40000"/>
              </a:prstClr>
            </a:outerShdw>
          </a:effectLst>
        </p:spPr>
        <p:txBody>
          <a:bodyPr wrap="square" tIns="74295" bIns="74295">
            <a:spAutoFit/>
          </a:bodyPr>
          <a:lstStyle>
            <a:lvl1pPr marL="342900" indent="-342900" algn="l" rtl="0" eaLnBrk="1" fontAlgn="base" hangingPunct="1">
              <a:spcBef>
                <a:spcPct val="20000"/>
              </a:spcBef>
              <a:spcAft>
                <a:spcPct val="0"/>
              </a:spcAft>
              <a:buClr>
                <a:schemeClr val="accent1"/>
              </a:buClr>
              <a:buFont typeface="Wingdings" panose="05000000000000000000" pitchFamily="2" charset="2"/>
              <a:buChar char="§"/>
              <a:defRPr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16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16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Bef>
                <a:spcPts val="0"/>
              </a:spcBef>
              <a:spcAft>
                <a:spcPts val="0"/>
              </a:spcAft>
              <a:buClr>
                <a:srgbClr val="089C8B"/>
              </a:buClr>
            </a:pPr>
            <a:r>
              <a:rPr lang="en-US" sz="975" dirty="0"/>
              <a:t>Hong Kong has been the listing venue of choice for many international companies, i.e. companies with (</a:t>
            </a:r>
            <a:r>
              <a:rPr lang="en-US" sz="975" dirty="0" err="1"/>
              <a:t>i</a:t>
            </a:r>
            <a:r>
              <a:rPr lang="en-US" sz="975" dirty="0"/>
              <a:t>) non-PRC founder/parent group background, and/or (ii) with substantial businesses outside of Mainland China</a:t>
            </a:r>
          </a:p>
        </p:txBody>
      </p:sp>
      <p:graphicFrame>
        <p:nvGraphicFramePr>
          <p:cNvPr id="9" name="Table 8">
            <a:extLst>
              <a:ext uri="{FF2B5EF4-FFF2-40B4-BE49-F238E27FC236}">
                <a16:creationId xmlns:a16="http://schemas.microsoft.com/office/drawing/2014/main" id="{52584D25-C8EA-C07D-8187-262028F42C55}"/>
              </a:ext>
            </a:extLst>
          </p:cNvPr>
          <p:cNvGraphicFramePr>
            <a:graphicFrameLocks noGrp="1"/>
          </p:cNvGraphicFramePr>
          <p:nvPr>
            <p:extLst>
              <p:ext uri="{D42A27DB-BD31-4B8C-83A1-F6EECF244321}">
                <p14:modId xmlns:p14="http://schemas.microsoft.com/office/powerpoint/2010/main" val="1853162647"/>
              </p:ext>
            </p:extLst>
          </p:nvPr>
        </p:nvGraphicFramePr>
        <p:xfrm>
          <a:off x="1002387" y="1967712"/>
          <a:ext cx="8450613" cy="3386328"/>
        </p:xfrm>
        <a:graphic>
          <a:graphicData uri="http://schemas.openxmlformats.org/drawingml/2006/table">
            <a:tbl>
              <a:tblPr firstRow="1" bandRow="1">
                <a:tableStyleId>{5A111915-BE36-4E01-A7E5-04B1672EAD32}</a:tableStyleId>
              </a:tblPr>
              <a:tblGrid>
                <a:gridCol w="2149728">
                  <a:extLst>
                    <a:ext uri="{9D8B030D-6E8A-4147-A177-3AD203B41FA5}">
                      <a16:colId xmlns:a16="http://schemas.microsoft.com/office/drawing/2014/main" val="848646133"/>
                    </a:ext>
                  </a:extLst>
                </a:gridCol>
                <a:gridCol w="830349">
                  <a:extLst>
                    <a:ext uri="{9D8B030D-6E8A-4147-A177-3AD203B41FA5}">
                      <a16:colId xmlns:a16="http://schemas.microsoft.com/office/drawing/2014/main" val="3278256864"/>
                    </a:ext>
                  </a:extLst>
                </a:gridCol>
                <a:gridCol w="1139694">
                  <a:extLst>
                    <a:ext uri="{9D8B030D-6E8A-4147-A177-3AD203B41FA5}">
                      <a16:colId xmlns:a16="http://schemas.microsoft.com/office/drawing/2014/main" val="1900819717"/>
                    </a:ext>
                  </a:extLst>
                </a:gridCol>
                <a:gridCol w="1074570">
                  <a:extLst>
                    <a:ext uri="{9D8B030D-6E8A-4147-A177-3AD203B41FA5}">
                      <a16:colId xmlns:a16="http://schemas.microsoft.com/office/drawing/2014/main" val="702466442"/>
                    </a:ext>
                  </a:extLst>
                </a:gridCol>
                <a:gridCol w="3256272">
                  <a:extLst>
                    <a:ext uri="{9D8B030D-6E8A-4147-A177-3AD203B41FA5}">
                      <a16:colId xmlns:a16="http://schemas.microsoft.com/office/drawing/2014/main" val="2397286290"/>
                    </a:ext>
                  </a:extLst>
                </a:gridCol>
              </a:tblGrid>
              <a:tr h="275812">
                <a:tc>
                  <a:txBody>
                    <a:bodyPr/>
                    <a:lstStyle/>
                    <a:p>
                      <a:r>
                        <a:rPr lang="en-US" sz="800">
                          <a:solidFill>
                            <a:schemeClr val="tx1"/>
                          </a:solidFill>
                        </a:rPr>
                        <a:t>Company</a:t>
                      </a:r>
                    </a:p>
                  </a:txBody>
                  <a:tcPr marL="74295" marR="74295" marT="29718" marB="29718" anchor="ctr">
                    <a:solidFill>
                      <a:srgbClr val="C0FCF5"/>
                    </a:solidFill>
                  </a:tcPr>
                </a:tc>
                <a:tc>
                  <a:txBody>
                    <a:bodyPr/>
                    <a:lstStyle/>
                    <a:p>
                      <a:pPr algn="ctr"/>
                      <a:r>
                        <a:rPr lang="en-US" sz="800">
                          <a:solidFill>
                            <a:schemeClr val="tx1"/>
                          </a:solidFill>
                        </a:rPr>
                        <a:t>Stock Code</a:t>
                      </a:r>
                    </a:p>
                  </a:txBody>
                  <a:tcPr marL="74295" marR="74295" marT="29718" marB="29718" anchor="ctr">
                    <a:solidFill>
                      <a:srgbClr val="C0FCF5"/>
                    </a:solidFill>
                  </a:tcPr>
                </a:tc>
                <a:tc>
                  <a:txBody>
                    <a:bodyPr/>
                    <a:lstStyle/>
                    <a:p>
                      <a:r>
                        <a:rPr lang="en-US" sz="800">
                          <a:solidFill>
                            <a:schemeClr val="tx1"/>
                          </a:solidFill>
                        </a:rPr>
                        <a:t>Sector </a:t>
                      </a:r>
                    </a:p>
                  </a:txBody>
                  <a:tcPr marL="74295" marR="74295" marT="29718" marB="29718" anchor="ctr">
                    <a:solidFill>
                      <a:srgbClr val="C0FCF5"/>
                    </a:solidFill>
                  </a:tcPr>
                </a:tc>
                <a:tc>
                  <a:txBody>
                    <a:bodyPr/>
                    <a:lstStyle/>
                    <a:p>
                      <a:r>
                        <a:rPr lang="en-US" sz="800">
                          <a:solidFill>
                            <a:schemeClr val="tx1"/>
                          </a:solidFill>
                        </a:rPr>
                        <a:t>Founder / Parent Co background</a:t>
                      </a:r>
                    </a:p>
                  </a:txBody>
                  <a:tcPr marL="74295" marR="74295" marT="29718" marB="29718" anchor="ctr">
                    <a:solidFill>
                      <a:srgbClr val="C0FCF5"/>
                    </a:solidFill>
                  </a:tcPr>
                </a:tc>
                <a:tc>
                  <a:txBody>
                    <a:bodyPr/>
                    <a:lstStyle/>
                    <a:p>
                      <a:r>
                        <a:rPr lang="en-US" sz="800">
                          <a:solidFill>
                            <a:schemeClr val="tx1"/>
                          </a:solidFill>
                        </a:rPr>
                        <a:t>Major Markets</a:t>
                      </a:r>
                      <a:r>
                        <a:rPr lang="en-US" sz="800" baseline="30000">
                          <a:solidFill>
                            <a:schemeClr val="tx1"/>
                          </a:solidFill>
                        </a:rPr>
                        <a:t>1</a:t>
                      </a:r>
                      <a:r>
                        <a:rPr lang="en-US" sz="800">
                          <a:solidFill>
                            <a:schemeClr val="tx1"/>
                          </a:solidFill>
                        </a:rPr>
                        <a:t> </a:t>
                      </a:r>
                    </a:p>
                  </a:txBody>
                  <a:tcPr marL="74295" marR="74295" marT="29718" marB="29718" anchor="ctr">
                    <a:solidFill>
                      <a:srgbClr val="C0FCF5"/>
                    </a:solidFill>
                  </a:tcPr>
                </a:tc>
                <a:extLst>
                  <a:ext uri="{0D108BD9-81ED-4DB2-BD59-A6C34878D82A}">
                    <a16:rowId xmlns:a16="http://schemas.microsoft.com/office/drawing/2014/main" val="1591627873"/>
                  </a:ext>
                </a:extLst>
              </a:tr>
              <a:tr h="164933">
                <a:tc>
                  <a:txBody>
                    <a:bodyPr/>
                    <a:lstStyle/>
                    <a:p>
                      <a:r>
                        <a:rPr lang="en-US" sz="800">
                          <a:solidFill>
                            <a:srgbClr val="089C8B"/>
                          </a:solidFill>
                        </a:rPr>
                        <a:t>IFBH LTD</a:t>
                      </a:r>
                    </a:p>
                  </a:txBody>
                  <a:tcPr marL="74295" marR="74295" marT="29718" marB="29718">
                    <a:solidFill>
                      <a:schemeClr val="bg1"/>
                    </a:solidFill>
                  </a:tcPr>
                </a:tc>
                <a:tc>
                  <a:txBody>
                    <a:bodyPr/>
                    <a:lstStyle/>
                    <a:p>
                      <a:pPr algn="ctr"/>
                      <a:r>
                        <a:rPr lang="en-US" sz="800">
                          <a:solidFill>
                            <a:srgbClr val="089C8B"/>
                          </a:solidFill>
                        </a:rPr>
                        <a:t>6603.HK</a:t>
                      </a:r>
                    </a:p>
                  </a:txBody>
                  <a:tcPr marL="74295" marR="74295" marT="29718" marB="29718">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089C8B"/>
                          </a:solidFill>
                        </a:rPr>
                        <a:t>F&amp;B</a:t>
                      </a:r>
                    </a:p>
                  </a:txBody>
                  <a:tcPr marL="74295" marR="74295" marT="29718" marB="29718">
                    <a:solidFill>
                      <a:schemeClr val="bg1"/>
                    </a:solidFill>
                  </a:tcPr>
                </a:tc>
                <a:tc>
                  <a:txBody>
                    <a:bodyPr/>
                    <a:lstStyle/>
                    <a:p>
                      <a:r>
                        <a:rPr lang="en-US" sz="800">
                          <a:solidFill>
                            <a:srgbClr val="089C8B"/>
                          </a:solidFill>
                        </a:rPr>
                        <a:t>Thailand</a:t>
                      </a:r>
                    </a:p>
                  </a:txBody>
                  <a:tcPr marL="74295" marR="74295" marT="29718" marB="29718">
                    <a:solidFill>
                      <a:schemeClr val="bg1"/>
                    </a:solidFill>
                  </a:tcPr>
                </a:tc>
                <a:tc>
                  <a:txBody>
                    <a:bodyPr/>
                    <a:lstStyle/>
                    <a:p>
                      <a:r>
                        <a:rPr lang="en-US" sz="800">
                          <a:solidFill>
                            <a:srgbClr val="089C8B"/>
                          </a:solidFill>
                        </a:rPr>
                        <a:t>92% China; 5% Hong Kong  </a:t>
                      </a:r>
                    </a:p>
                  </a:txBody>
                  <a:tcPr marL="74295" marR="74295" marT="29718" marB="29718">
                    <a:solidFill>
                      <a:schemeClr val="bg1"/>
                    </a:solidFill>
                  </a:tcPr>
                </a:tc>
                <a:extLst>
                  <a:ext uri="{0D108BD9-81ED-4DB2-BD59-A6C34878D82A}">
                    <a16:rowId xmlns:a16="http://schemas.microsoft.com/office/drawing/2014/main" val="3362766536"/>
                  </a:ext>
                </a:extLst>
              </a:tr>
              <a:tr h="164933">
                <a:tc>
                  <a:txBody>
                    <a:bodyPr/>
                    <a:lstStyle/>
                    <a:p>
                      <a:r>
                        <a:rPr lang="en-US" sz="800"/>
                        <a:t>BUDWEISER BREWING CO APAC LT</a:t>
                      </a:r>
                    </a:p>
                  </a:txBody>
                  <a:tcPr marL="74295" marR="74295" marT="29718" marB="29718">
                    <a:solidFill>
                      <a:schemeClr val="bg1"/>
                    </a:solidFill>
                  </a:tcPr>
                </a:tc>
                <a:tc>
                  <a:txBody>
                    <a:bodyPr/>
                    <a:lstStyle/>
                    <a:p>
                      <a:pPr algn="ctr"/>
                      <a:r>
                        <a:rPr lang="en-US" sz="800"/>
                        <a:t>1876.HK</a:t>
                      </a:r>
                    </a:p>
                  </a:txBody>
                  <a:tcPr marL="74295" marR="74295" marT="29718" marB="29718">
                    <a:solidFill>
                      <a:schemeClr val="bg1"/>
                    </a:solidFill>
                  </a:tcPr>
                </a:tc>
                <a:tc>
                  <a:txBody>
                    <a:bodyPr/>
                    <a:lstStyle/>
                    <a:p>
                      <a:r>
                        <a:rPr lang="en-US" sz="800"/>
                        <a:t>F&amp;B</a:t>
                      </a:r>
                    </a:p>
                  </a:txBody>
                  <a:tcPr marL="74295" marR="74295" marT="29718" marB="29718">
                    <a:solidFill>
                      <a:schemeClr val="bg1"/>
                    </a:solidFill>
                  </a:tcPr>
                </a:tc>
                <a:tc>
                  <a:txBody>
                    <a:bodyPr/>
                    <a:lstStyle/>
                    <a:p>
                      <a:r>
                        <a:rPr lang="en-US" sz="800"/>
                        <a:t>Belgium </a:t>
                      </a:r>
                    </a:p>
                  </a:txBody>
                  <a:tcPr marL="74295" marR="74295" marT="29718" marB="29718">
                    <a:solidFill>
                      <a:schemeClr val="bg1"/>
                    </a:solidFill>
                  </a:tcPr>
                </a:tc>
                <a:tc>
                  <a:txBody>
                    <a:bodyPr/>
                    <a:lstStyle/>
                    <a:p>
                      <a:r>
                        <a:rPr lang="en-US" sz="800"/>
                        <a:t>China, South Korea, India, Vietnam </a:t>
                      </a:r>
                    </a:p>
                  </a:txBody>
                  <a:tcPr marL="74295" marR="74295" marT="29718" marB="29718">
                    <a:solidFill>
                      <a:schemeClr val="bg1"/>
                    </a:solidFill>
                  </a:tcPr>
                </a:tc>
                <a:extLst>
                  <a:ext uri="{0D108BD9-81ED-4DB2-BD59-A6C34878D82A}">
                    <a16:rowId xmlns:a16="http://schemas.microsoft.com/office/drawing/2014/main" val="2983093904"/>
                  </a:ext>
                </a:extLst>
              </a:tr>
              <a:tr h="164933">
                <a:tc>
                  <a:txBody>
                    <a:bodyPr/>
                    <a:lstStyle/>
                    <a:p>
                      <a:r>
                        <a:rPr lang="en-US" sz="800"/>
                        <a:t>NISSIN FOODS CO LTD</a:t>
                      </a:r>
                    </a:p>
                  </a:txBody>
                  <a:tcPr marL="74295" marR="74295" marT="29718" marB="29718"/>
                </a:tc>
                <a:tc>
                  <a:txBody>
                    <a:bodyPr/>
                    <a:lstStyle/>
                    <a:p>
                      <a:pPr algn="ctr"/>
                      <a:r>
                        <a:rPr lang="en-US" sz="800"/>
                        <a:t>1475.HK</a:t>
                      </a:r>
                    </a:p>
                  </a:txBody>
                  <a:tcPr marL="74295" marR="74295" marT="29718" marB="29718"/>
                </a:tc>
                <a:tc>
                  <a:txBody>
                    <a:bodyPr/>
                    <a:lstStyle/>
                    <a:p>
                      <a:r>
                        <a:rPr lang="en-US" sz="800"/>
                        <a:t>F&amp;B</a:t>
                      </a:r>
                    </a:p>
                  </a:txBody>
                  <a:tcPr marL="74295" marR="74295" marT="29718" marB="29718"/>
                </a:tc>
                <a:tc>
                  <a:txBody>
                    <a:bodyPr/>
                    <a:lstStyle/>
                    <a:p>
                      <a:r>
                        <a:rPr lang="en-US" sz="800"/>
                        <a:t>Japan</a:t>
                      </a:r>
                    </a:p>
                  </a:txBody>
                  <a:tcPr marL="74295" marR="74295" marT="29718" marB="29718"/>
                </a:tc>
                <a:tc>
                  <a:txBody>
                    <a:bodyPr/>
                    <a:lstStyle/>
                    <a:p>
                      <a:r>
                        <a:rPr lang="en-US" sz="800"/>
                        <a:t>60% China; 40% Hong Kong/Rest of Asia</a:t>
                      </a:r>
                    </a:p>
                  </a:txBody>
                  <a:tcPr marL="74295" marR="74295" marT="29718" marB="29718">
                    <a:solidFill>
                      <a:schemeClr val="bg1"/>
                    </a:solidFill>
                  </a:tcPr>
                </a:tc>
                <a:extLst>
                  <a:ext uri="{0D108BD9-81ED-4DB2-BD59-A6C34878D82A}">
                    <a16:rowId xmlns:a16="http://schemas.microsoft.com/office/drawing/2014/main" val="3400218298"/>
                  </a:ext>
                </a:extLst>
              </a:tr>
              <a:tr h="164933">
                <a:tc>
                  <a:txBody>
                    <a:bodyPr/>
                    <a:lstStyle/>
                    <a:p>
                      <a:r>
                        <a:rPr lang="en-US" sz="800"/>
                        <a:t>SAN MIGUEL BREWERY HK LTD</a:t>
                      </a:r>
                    </a:p>
                  </a:txBody>
                  <a:tcPr marL="74295" marR="74295" marT="29718" marB="29718">
                    <a:solidFill>
                      <a:schemeClr val="bg2"/>
                    </a:solidFill>
                  </a:tcPr>
                </a:tc>
                <a:tc>
                  <a:txBody>
                    <a:bodyPr/>
                    <a:lstStyle/>
                    <a:p>
                      <a:pPr algn="ctr"/>
                      <a:r>
                        <a:rPr lang="en-US" sz="800"/>
                        <a:t>236.HK</a:t>
                      </a:r>
                    </a:p>
                  </a:txBody>
                  <a:tcPr marL="74295" marR="74295" marT="29718" marB="29718">
                    <a:solidFill>
                      <a:schemeClr val="bg2"/>
                    </a:solidFill>
                  </a:tcPr>
                </a:tc>
                <a:tc>
                  <a:txBody>
                    <a:bodyPr/>
                    <a:lstStyle/>
                    <a:p>
                      <a:r>
                        <a:rPr lang="en-US" sz="800"/>
                        <a:t>F&amp;B</a:t>
                      </a:r>
                    </a:p>
                  </a:txBody>
                  <a:tcPr marL="74295" marR="74295" marT="29718" marB="29718">
                    <a:solidFill>
                      <a:schemeClr val="bg2"/>
                    </a:solidFill>
                  </a:tcPr>
                </a:tc>
                <a:tc>
                  <a:txBody>
                    <a:bodyPr/>
                    <a:lstStyle/>
                    <a:p>
                      <a:r>
                        <a:rPr lang="en-US" altLang="zh-TW" sz="800"/>
                        <a:t>Philippines</a:t>
                      </a:r>
                      <a:endParaRPr lang="en-US" sz="800"/>
                    </a:p>
                  </a:txBody>
                  <a:tcPr marL="74295" marR="74295" marT="29718" marB="29718">
                    <a:solidFill>
                      <a:schemeClr val="bg2"/>
                    </a:solidFill>
                  </a:tcPr>
                </a:tc>
                <a:tc>
                  <a:txBody>
                    <a:bodyPr/>
                    <a:lstStyle/>
                    <a:p>
                      <a:r>
                        <a:rPr lang="en-US" sz="800"/>
                        <a:t>55% Philippines; 34% Hong Kong; 9% China </a:t>
                      </a:r>
                    </a:p>
                  </a:txBody>
                  <a:tcPr marL="74295" marR="74295" marT="29718" marB="29718">
                    <a:solidFill>
                      <a:schemeClr val="bg2"/>
                    </a:solidFill>
                  </a:tcPr>
                </a:tc>
                <a:extLst>
                  <a:ext uri="{0D108BD9-81ED-4DB2-BD59-A6C34878D82A}">
                    <a16:rowId xmlns:a16="http://schemas.microsoft.com/office/drawing/2014/main" val="2486747491"/>
                  </a:ext>
                </a:extLst>
              </a:tr>
              <a:tr h="164933">
                <a:tc>
                  <a:txBody>
                    <a:bodyPr/>
                    <a:lstStyle/>
                    <a:p>
                      <a:r>
                        <a:rPr lang="en-US" sz="800" kern="1200" cap="all" baseline="0">
                          <a:solidFill>
                            <a:schemeClr val="tx1"/>
                          </a:solidFill>
                          <a:latin typeface="+mn-lt"/>
                          <a:ea typeface="+mn-ea"/>
                          <a:cs typeface="+mn-cs"/>
                        </a:rPr>
                        <a:t>First Pacific Company Limited</a:t>
                      </a:r>
                    </a:p>
                  </a:txBody>
                  <a:tcPr marL="74295" marR="74295" marT="29718" marB="29718">
                    <a:solidFill>
                      <a:schemeClr val="bg2"/>
                    </a:solidFill>
                  </a:tcPr>
                </a:tc>
                <a:tc>
                  <a:txBody>
                    <a:bodyPr/>
                    <a:lstStyle/>
                    <a:p>
                      <a:pPr algn="ctr"/>
                      <a:r>
                        <a:rPr lang="en-US" altLang="zh-TW" sz="800"/>
                        <a:t>142.HK</a:t>
                      </a:r>
                      <a:endParaRPr lang="en-US" sz="800"/>
                    </a:p>
                  </a:txBody>
                  <a:tcPr marL="74295" marR="74295" marT="29718" marB="29718">
                    <a:solidFill>
                      <a:schemeClr val="bg2"/>
                    </a:solidFill>
                  </a:tcPr>
                </a:tc>
                <a:tc>
                  <a:txBody>
                    <a:bodyPr/>
                    <a:lstStyle/>
                    <a:p>
                      <a:r>
                        <a:rPr lang="en-US" altLang="zh-TW" sz="800"/>
                        <a:t>Conglomerate</a:t>
                      </a:r>
                      <a:endParaRPr lang="en-US" sz="800"/>
                    </a:p>
                  </a:txBody>
                  <a:tcPr marL="74295" marR="74295" marT="29718" marB="29718">
                    <a:solidFill>
                      <a:schemeClr val="bg2"/>
                    </a:solidFill>
                  </a:tcPr>
                </a:tc>
                <a:tc>
                  <a:txBody>
                    <a:bodyPr/>
                    <a:lstStyle/>
                    <a:p>
                      <a:r>
                        <a:rPr lang="en-US" sz="800"/>
                        <a:t>Indonesia </a:t>
                      </a:r>
                    </a:p>
                  </a:txBody>
                  <a:tcPr marL="74295" marR="74295" marT="29718" marB="29718">
                    <a:solidFill>
                      <a:schemeClr val="bg2"/>
                    </a:solidFill>
                  </a:tcPr>
                </a:tc>
                <a:tc>
                  <a:txBody>
                    <a:bodyPr/>
                    <a:lstStyle/>
                    <a:p>
                      <a:r>
                        <a:rPr lang="en-US" sz="800"/>
                        <a:t>56% Indonesia; 16% Singapore, 12% Philippines</a:t>
                      </a:r>
                    </a:p>
                  </a:txBody>
                  <a:tcPr marL="74295" marR="74295" marT="29718" marB="29718">
                    <a:solidFill>
                      <a:schemeClr val="bg2"/>
                    </a:solidFill>
                  </a:tcPr>
                </a:tc>
                <a:extLst>
                  <a:ext uri="{0D108BD9-81ED-4DB2-BD59-A6C34878D82A}">
                    <a16:rowId xmlns:a16="http://schemas.microsoft.com/office/drawing/2014/main" val="2257692630"/>
                  </a:ext>
                </a:extLst>
              </a:tr>
              <a:tr h="164933">
                <a:tc>
                  <a:txBody>
                    <a:bodyPr/>
                    <a:lstStyle/>
                    <a:p>
                      <a:r>
                        <a:rPr lang="en-US" sz="800"/>
                        <a:t>SAMSONITE GROUP SA</a:t>
                      </a:r>
                    </a:p>
                  </a:txBody>
                  <a:tcPr marL="74295" marR="74295" marT="29718" marB="29718">
                    <a:solidFill>
                      <a:schemeClr val="bg2"/>
                    </a:solidFill>
                  </a:tcPr>
                </a:tc>
                <a:tc>
                  <a:txBody>
                    <a:bodyPr/>
                    <a:lstStyle/>
                    <a:p>
                      <a:pPr algn="ctr"/>
                      <a:r>
                        <a:rPr lang="en-US" sz="800"/>
                        <a:t>1910.HK</a:t>
                      </a:r>
                    </a:p>
                  </a:txBody>
                  <a:tcPr marL="74295" marR="74295" marT="29718" marB="29718">
                    <a:solidFill>
                      <a:schemeClr val="bg2"/>
                    </a:solidFill>
                  </a:tcPr>
                </a:tc>
                <a:tc>
                  <a:txBody>
                    <a:bodyPr/>
                    <a:lstStyle/>
                    <a:p>
                      <a:r>
                        <a:rPr lang="en-US" sz="800"/>
                        <a:t>Apparel</a:t>
                      </a:r>
                    </a:p>
                  </a:txBody>
                  <a:tcPr marL="74295" marR="74295" marT="29718" marB="29718">
                    <a:solidFill>
                      <a:schemeClr val="bg2"/>
                    </a:solidFill>
                  </a:tcPr>
                </a:tc>
                <a:tc>
                  <a:txBody>
                    <a:bodyPr/>
                    <a:lstStyle/>
                    <a:p>
                      <a:r>
                        <a:rPr lang="en-US" sz="800"/>
                        <a:t>US/ Luxembourg</a:t>
                      </a:r>
                    </a:p>
                  </a:txBody>
                  <a:tcPr marL="74295" marR="74295" marT="29718" marB="29718">
                    <a:solidFill>
                      <a:schemeClr val="bg2"/>
                    </a:solidFill>
                  </a:tcPr>
                </a:tc>
                <a:tc>
                  <a:txBody>
                    <a:bodyPr/>
                    <a:lstStyle/>
                    <a:p>
                      <a:r>
                        <a:rPr lang="en-US" sz="800"/>
                        <a:t>37% Asia; 35% North America; 22% Europe</a:t>
                      </a:r>
                    </a:p>
                  </a:txBody>
                  <a:tcPr marL="74295" marR="74295" marT="29718" marB="29718">
                    <a:solidFill>
                      <a:schemeClr val="bg2"/>
                    </a:solidFill>
                  </a:tcPr>
                </a:tc>
                <a:extLst>
                  <a:ext uri="{0D108BD9-81ED-4DB2-BD59-A6C34878D82A}">
                    <a16:rowId xmlns:a16="http://schemas.microsoft.com/office/drawing/2014/main" val="1490247703"/>
                  </a:ext>
                </a:extLst>
              </a:tr>
              <a:tr h="164933">
                <a:tc>
                  <a:txBody>
                    <a:bodyPr/>
                    <a:lstStyle/>
                    <a:p>
                      <a:r>
                        <a:rPr lang="en-US" sz="800"/>
                        <a:t>PRADA S.P.A.</a:t>
                      </a:r>
                    </a:p>
                  </a:txBody>
                  <a:tcPr marL="74295" marR="74295" marT="29718" marB="29718">
                    <a:solidFill>
                      <a:schemeClr val="bg2"/>
                    </a:solidFill>
                  </a:tcPr>
                </a:tc>
                <a:tc>
                  <a:txBody>
                    <a:bodyPr/>
                    <a:lstStyle/>
                    <a:p>
                      <a:pPr algn="ctr"/>
                      <a:r>
                        <a:rPr lang="en-US" sz="800"/>
                        <a:t>1913.HK</a:t>
                      </a:r>
                    </a:p>
                  </a:txBody>
                  <a:tcPr marL="74295" marR="74295" marT="29718" marB="29718">
                    <a:solidFill>
                      <a:schemeClr val="bg2"/>
                    </a:solidFill>
                  </a:tcPr>
                </a:tc>
                <a:tc>
                  <a:txBody>
                    <a:bodyPr/>
                    <a:lstStyle/>
                    <a:p>
                      <a:r>
                        <a:rPr lang="en-US" sz="800"/>
                        <a:t>Apparel</a:t>
                      </a:r>
                    </a:p>
                  </a:txBody>
                  <a:tcPr marL="74295" marR="74295" marT="29718" marB="29718">
                    <a:solidFill>
                      <a:schemeClr val="bg2"/>
                    </a:solidFill>
                  </a:tcPr>
                </a:tc>
                <a:tc>
                  <a:txBody>
                    <a:bodyPr/>
                    <a:lstStyle/>
                    <a:p>
                      <a:r>
                        <a:rPr lang="en-US" sz="800"/>
                        <a:t>Italy</a:t>
                      </a:r>
                    </a:p>
                  </a:txBody>
                  <a:tcPr marL="74295" marR="74295" marT="29718" marB="29718">
                    <a:solidFill>
                      <a:schemeClr val="bg2"/>
                    </a:solidFill>
                  </a:tcPr>
                </a:tc>
                <a:tc>
                  <a:txBody>
                    <a:bodyPr/>
                    <a:lstStyle/>
                    <a:p>
                      <a:r>
                        <a:rPr lang="en-US" sz="800"/>
                        <a:t>APAC, Europe </a:t>
                      </a:r>
                    </a:p>
                  </a:txBody>
                  <a:tcPr marL="74295" marR="74295" marT="29718" marB="29718">
                    <a:solidFill>
                      <a:schemeClr val="bg2"/>
                    </a:solidFill>
                  </a:tcPr>
                </a:tc>
                <a:extLst>
                  <a:ext uri="{0D108BD9-81ED-4DB2-BD59-A6C34878D82A}">
                    <a16:rowId xmlns:a16="http://schemas.microsoft.com/office/drawing/2014/main" val="965353034"/>
                  </a:ext>
                </a:extLst>
              </a:tr>
              <a:tr h="164933">
                <a:tc>
                  <a:txBody>
                    <a:bodyPr/>
                    <a:lstStyle/>
                    <a:p>
                      <a:r>
                        <a:rPr lang="en-US" sz="800"/>
                        <a:t>AEON STORES HONG KONG CO LTD</a:t>
                      </a:r>
                    </a:p>
                  </a:txBody>
                  <a:tcPr marL="74295" marR="74295" marT="29718" marB="29718"/>
                </a:tc>
                <a:tc>
                  <a:txBody>
                    <a:bodyPr/>
                    <a:lstStyle/>
                    <a:p>
                      <a:pPr algn="ctr"/>
                      <a:r>
                        <a:rPr lang="en-US" sz="800"/>
                        <a:t>984.HK</a:t>
                      </a:r>
                    </a:p>
                  </a:txBody>
                  <a:tcPr marL="74295" marR="74295" marT="29718" marB="2971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Retail</a:t>
                      </a:r>
                    </a:p>
                  </a:txBody>
                  <a:tcPr marL="74295" marR="74295" marT="29718" marB="29718"/>
                </a:tc>
                <a:tc>
                  <a:txBody>
                    <a:bodyPr/>
                    <a:lstStyle/>
                    <a:p>
                      <a:r>
                        <a:rPr lang="en-US" sz="800"/>
                        <a:t>Japan</a:t>
                      </a:r>
                    </a:p>
                  </a:txBody>
                  <a:tcPr marL="74295" marR="74295" marT="29718" marB="29718"/>
                </a:tc>
                <a:tc>
                  <a:txBody>
                    <a:bodyPr/>
                    <a:lstStyle/>
                    <a:p>
                      <a:r>
                        <a:rPr lang="en-US" sz="800"/>
                        <a:t>54% China; 46% Hong Kong </a:t>
                      </a:r>
                    </a:p>
                  </a:txBody>
                  <a:tcPr marL="74295" marR="74295" marT="29718" marB="29718">
                    <a:solidFill>
                      <a:schemeClr val="bg1"/>
                    </a:solidFill>
                  </a:tcPr>
                </a:tc>
                <a:extLst>
                  <a:ext uri="{0D108BD9-81ED-4DB2-BD59-A6C34878D82A}">
                    <a16:rowId xmlns:a16="http://schemas.microsoft.com/office/drawing/2014/main" val="2668595901"/>
                  </a:ext>
                </a:extLst>
              </a:tr>
              <a:tr h="164933">
                <a:tc>
                  <a:txBody>
                    <a:bodyPr/>
                    <a:lstStyle/>
                    <a:p>
                      <a:r>
                        <a:rPr lang="en-US" sz="800"/>
                        <a:t>MGM CHINA HOLDINGS LTD</a:t>
                      </a:r>
                    </a:p>
                  </a:txBody>
                  <a:tcPr marL="74295" marR="74295" marT="29718" marB="29718">
                    <a:solidFill>
                      <a:schemeClr val="bg2"/>
                    </a:solidFill>
                  </a:tcPr>
                </a:tc>
                <a:tc>
                  <a:txBody>
                    <a:bodyPr/>
                    <a:lstStyle/>
                    <a:p>
                      <a:pPr algn="ctr"/>
                      <a:r>
                        <a:rPr lang="en-US" sz="800"/>
                        <a:t>2282.HK</a:t>
                      </a:r>
                    </a:p>
                  </a:txBody>
                  <a:tcPr marL="74295" marR="74295" marT="29718" marB="29718">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Casinos &amp; Gaming</a:t>
                      </a:r>
                    </a:p>
                  </a:txBody>
                  <a:tcPr marL="74295" marR="74295" marT="29718" marB="29718">
                    <a:solidFill>
                      <a:schemeClr val="bg2"/>
                    </a:solidFill>
                  </a:tcPr>
                </a:tc>
                <a:tc>
                  <a:txBody>
                    <a:bodyPr/>
                    <a:lstStyle/>
                    <a:p>
                      <a:r>
                        <a:rPr lang="en-US" sz="800"/>
                        <a:t>US</a:t>
                      </a:r>
                    </a:p>
                  </a:txBody>
                  <a:tcPr marL="74295" marR="74295" marT="29718" marB="29718">
                    <a:solidFill>
                      <a:schemeClr val="bg2"/>
                    </a:solidFill>
                  </a:tcPr>
                </a:tc>
                <a:tc>
                  <a:txBody>
                    <a:bodyPr/>
                    <a:lstStyle/>
                    <a:p>
                      <a:r>
                        <a:rPr lang="en-US" sz="800"/>
                        <a:t>Macau</a:t>
                      </a:r>
                    </a:p>
                  </a:txBody>
                  <a:tcPr marL="74295" marR="74295" marT="29718" marB="29718">
                    <a:solidFill>
                      <a:schemeClr val="bg2"/>
                    </a:solidFill>
                  </a:tcPr>
                </a:tc>
                <a:extLst>
                  <a:ext uri="{0D108BD9-81ED-4DB2-BD59-A6C34878D82A}">
                    <a16:rowId xmlns:a16="http://schemas.microsoft.com/office/drawing/2014/main" val="4081923878"/>
                  </a:ext>
                </a:extLst>
              </a:tr>
              <a:tr h="164933">
                <a:tc>
                  <a:txBody>
                    <a:bodyPr/>
                    <a:lstStyle/>
                    <a:p>
                      <a:r>
                        <a:rPr lang="en-US" sz="800"/>
                        <a:t>SANDS CHINA LTD</a:t>
                      </a:r>
                    </a:p>
                  </a:txBody>
                  <a:tcPr marL="74295" marR="74295" marT="29718" marB="29718">
                    <a:solidFill>
                      <a:schemeClr val="bg2"/>
                    </a:solidFill>
                  </a:tcPr>
                </a:tc>
                <a:tc>
                  <a:txBody>
                    <a:bodyPr/>
                    <a:lstStyle/>
                    <a:p>
                      <a:pPr algn="ctr"/>
                      <a:r>
                        <a:rPr lang="en-US" sz="800"/>
                        <a:t>1928.HK</a:t>
                      </a:r>
                    </a:p>
                  </a:txBody>
                  <a:tcPr marL="74295" marR="74295" marT="29718" marB="29718">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Casinos &amp; Gaming</a:t>
                      </a:r>
                    </a:p>
                  </a:txBody>
                  <a:tcPr marL="74295" marR="74295" marT="29718" marB="29718">
                    <a:solidFill>
                      <a:schemeClr val="bg2"/>
                    </a:solidFill>
                  </a:tcPr>
                </a:tc>
                <a:tc>
                  <a:txBody>
                    <a:bodyPr/>
                    <a:lstStyle/>
                    <a:p>
                      <a:r>
                        <a:rPr lang="en-US" sz="800"/>
                        <a:t>US</a:t>
                      </a:r>
                    </a:p>
                  </a:txBody>
                  <a:tcPr marL="74295" marR="74295" marT="29718" marB="29718">
                    <a:solidFill>
                      <a:schemeClr val="bg2"/>
                    </a:solidFill>
                  </a:tcPr>
                </a:tc>
                <a:tc>
                  <a:txBody>
                    <a:bodyPr/>
                    <a:lstStyle/>
                    <a:p>
                      <a:r>
                        <a:rPr lang="en-US" sz="800"/>
                        <a:t>Macau</a:t>
                      </a:r>
                    </a:p>
                  </a:txBody>
                  <a:tcPr marL="74295" marR="74295" marT="29718" marB="29718">
                    <a:solidFill>
                      <a:schemeClr val="bg2"/>
                    </a:solidFill>
                  </a:tcPr>
                </a:tc>
                <a:extLst>
                  <a:ext uri="{0D108BD9-81ED-4DB2-BD59-A6C34878D82A}">
                    <a16:rowId xmlns:a16="http://schemas.microsoft.com/office/drawing/2014/main" val="2013287940"/>
                  </a:ext>
                </a:extLst>
              </a:tr>
              <a:tr h="164933">
                <a:tc>
                  <a:txBody>
                    <a:bodyPr/>
                    <a:lstStyle/>
                    <a:p>
                      <a:r>
                        <a:rPr lang="en-US" sz="800"/>
                        <a:t>WYNN MACAU LTD</a:t>
                      </a:r>
                    </a:p>
                  </a:txBody>
                  <a:tcPr marL="74295" marR="74295" marT="29718" marB="29718">
                    <a:solidFill>
                      <a:schemeClr val="bg2"/>
                    </a:solidFill>
                  </a:tcPr>
                </a:tc>
                <a:tc>
                  <a:txBody>
                    <a:bodyPr/>
                    <a:lstStyle/>
                    <a:p>
                      <a:pPr algn="ctr"/>
                      <a:r>
                        <a:rPr lang="en-US" sz="800"/>
                        <a:t>1128.HK</a:t>
                      </a:r>
                    </a:p>
                  </a:txBody>
                  <a:tcPr marL="74295" marR="74295" marT="29718" marB="29718">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Casinos &amp; Gaming</a:t>
                      </a:r>
                    </a:p>
                  </a:txBody>
                  <a:tcPr marL="74295" marR="74295" marT="29718" marB="29718">
                    <a:solidFill>
                      <a:schemeClr val="bg2"/>
                    </a:solidFill>
                  </a:tcPr>
                </a:tc>
                <a:tc>
                  <a:txBody>
                    <a:bodyPr/>
                    <a:lstStyle/>
                    <a:p>
                      <a:r>
                        <a:rPr lang="en-US" sz="800"/>
                        <a:t>US</a:t>
                      </a:r>
                    </a:p>
                  </a:txBody>
                  <a:tcPr marL="74295" marR="74295" marT="29718" marB="29718">
                    <a:solidFill>
                      <a:schemeClr val="bg2"/>
                    </a:solidFill>
                  </a:tcPr>
                </a:tc>
                <a:tc>
                  <a:txBody>
                    <a:bodyPr/>
                    <a:lstStyle/>
                    <a:p>
                      <a:r>
                        <a:rPr lang="en-US" sz="800"/>
                        <a:t>Macau</a:t>
                      </a:r>
                    </a:p>
                  </a:txBody>
                  <a:tcPr marL="74295" marR="74295" marT="29718" marB="29718">
                    <a:solidFill>
                      <a:schemeClr val="bg2"/>
                    </a:solidFill>
                  </a:tcPr>
                </a:tc>
                <a:extLst>
                  <a:ext uri="{0D108BD9-81ED-4DB2-BD59-A6C34878D82A}">
                    <a16:rowId xmlns:a16="http://schemas.microsoft.com/office/drawing/2014/main" val="1734054559"/>
                  </a:ext>
                </a:extLst>
              </a:tr>
              <a:tr h="168565">
                <a:tc>
                  <a:txBody>
                    <a:bodyPr/>
                    <a:lstStyle/>
                    <a:p>
                      <a:r>
                        <a:rPr lang="en-US" sz="800">
                          <a:solidFill>
                            <a:srgbClr val="089C8B"/>
                          </a:solidFill>
                        </a:rPr>
                        <a:t>SOFTCARE LTD</a:t>
                      </a:r>
                    </a:p>
                  </a:txBody>
                  <a:tcPr marL="74295" marR="74295" marT="29718" marB="29718">
                    <a:solidFill>
                      <a:schemeClr val="bg2"/>
                    </a:solidFill>
                  </a:tcPr>
                </a:tc>
                <a:tc>
                  <a:txBody>
                    <a:bodyPr/>
                    <a:lstStyle/>
                    <a:p>
                      <a:pPr algn="ctr"/>
                      <a:r>
                        <a:rPr lang="en-US" sz="800">
                          <a:solidFill>
                            <a:srgbClr val="089C8B"/>
                          </a:solidFill>
                        </a:rPr>
                        <a:t>2698.HK</a:t>
                      </a:r>
                    </a:p>
                  </a:txBody>
                  <a:tcPr marL="74295" marR="74295" marT="29718" marB="29718">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089C8B"/>
                          </a:solidFill>
                        </a:rPr>
                        <a:t>Personal Care </a:t>
                      </a:r>
                    </a:p>
                  </a:txBody>
                  <a:tcPr marL="74295" marR="74295" marT="29718" marB="29718">
                    <a:solidFill>
                      <a:schemeClr val="bg2"/>
                    </a:solidFill>
                  </a:tcPr>
                </a:tc>
                <a:tc>
                  <a:txBody>
                    <a:bodyPr/>
                    <a:lstStyle/>
                    <a:p>
                      <a:r>
                        <a:rPr lang="en-US" sz="800">
                          <a:solidFill>
                            <a:srgbClr val="089C8B"/>
                          </a:solidFill>
                        </a:rPr>
                        <a:t>Dubai</a:t>
                      </a:r>
                    </a:p>
                  </a:txBody>
                  <a:tcPr marL="74295" marR="74295" marT="29718" marB="29718">
                    <a:solidFill>
                      <a:schemeClr val="bg2"/>
                    </a:solidFill>
                  </a:tcPr>
                </a:tc>
                <a:tc>
                  <a:txBody>
                    <a:bodyPr/>
                    <a:lstStyle/>
                    <a:p>
                      <a:r>
                        <a:rPr lang="en-US" sz="800">
                          <a:solidFill>
                            <a:srgbClr val="089C8B"/>
                          </a:solidFill>
                        </a:rPr>
                        <a:t>20% Kenya; 15% Ghana; Senegal 10%, and other African countries  </a:t>
                      </a:r>
                    </a:p>
                  </a:txBody>
                  <a:tcPr marL="74295" marR="74295" marT="29718" marB="29718">
                    <a:solidFill>
                      <a:schemeClr val="bg2"/>
                    </a:solidFill>
                  </a:tcPr>
                </a:tc>
                <a:extLst>
                  <a:ext uri="{0D108BD9-81ED-4DB2-BD59-A6C34878D82A}">
                    <a16:rowId xmlns:a16="http://schemas.microsoft.com/office/drawing/2014/main" val="3098248430"/>
                  </a:ext>
                </a:extLst>
              </a:tr>
              <a:tr h="164933">
                <a:tc>
                  <a:txBody>
                    <a:bodyPr/>
                    <a:lstStyle/>
                    <a:p>
                      <a:r>
                        <a:rPr lang="en-US" sz="800" cap="all" baseline="0">
                          <a:solidFill>
                            <a:srgbClr val="089C8B"/>
                          </a:solidFill>
                        </a:rPr>
                        <a:t>Insilico Medicine</a:t>
                      </a:r>
                    </a:p>
                  </a:txBody>
                  <a:tcPr marL="74295" marR="74295" marT="29718" marB="29718">
                    <a:solidFill>
                      <a:schemeClr val="bg2"/>
                    </a:solidFill>
                  </a:tcPr>
                </a:tc>
                <a:tc>
                  <a:txBody>
                    <a:bodyPr/>
                    <a:lstStyle/>
                    <a:p>
                      <a:pPr algn="ctr"/>
                      <a:r>
                        <a:rPr lang="en-US" sz="800">
                          <a:solidFill>
                            <a:srgbClr val="089C8B"/>
                          </a:solidFill>
                        </a:rPr>
                        <a:t>3696.HK</a:t>
                      </a:r>
                    </a:p>
                  </a:txBody>
                  <a:tcPr marL="74295" marR="74295" marT="29718" marB="29718">
                    <a:solidFill>
                      <a:schemeClr val="bg2"/>
                    </a:solidFill>
                  </a:tcPr>
                </a:tc>
                <a:tc>
                  <a:txBody>
                    <a:bodyPr/>
                    <a:lstStyle/>
                    <a:p>
                      <a:r>
                        <a:rPr lang="en-US" sz="800">
                          <a:solidFill>
                            <a:srgbClr val="089C8B"/>
                          </a:solidFill>
                        </a:rPr>
                        <a:t>Biotech</a:t>
                      </a:r>
                    </a:p>
                  </a:txBody>
                  <a:tcPr marL="74295" marR="74295" marT="29718" marB="29718">
                    <a:solidFill>
                      <a:schemeClr val="bg2"/>
                    </a:solidFill>
                  </a:tcPr>
                </a:tc>
                <a:tc>
                  <a:txBody>
                    <a:bodyPr/>
                    <a:lstStyle/>
                    <a:p>
                      <a:r>
                        <a:rPr lang="en-US" sz="800">
                          <a:solidFill>
                            <a:srgbClr val="089C8B"/>
                          </a:solidFill>
                        </a:rPr>
                        <a:t>US</a:t>
                      </a:r>
                    </a:p>
                  </a:txBody>
                  <a:tcPr marL="74295" marR="74295" marT="29718" marB="29718">
                    <a:solidFill>
                      <a:schemeClr val="bg2"/>
                    </a:solidFill>
                  </a:tcPr>
                </a:tc>
                <a:tc>
                  <a:txBody>
                    <a:bodyPr/>
                    <a:lstStyle/>
                    <a:p>
                      <a:r>
                        <a:rPr lang="en-US" sz="800">
                          <a:solidFill>
                            <a:srgbClr val="089C8B"/>
                          </a:solidFill>
                        </a:rPr>
                        <a:t>92% US</a:t>
                      </a:r>
                    </a:p>
                  </a:txBody>
                  <a:tcPr marL="74295" marR="74295" marT="29718" marB="29718">
                    <a:solidFill>
                      <a:schemeClr val="bg2"/>
                    </a:solidFill>
                  </a:tcPr>
                </a:tc>
                <a:extLst>
                  <a:ext uri="{0D108BD9-81ED-4DB2-BD59-A6C34878D82A}">
                    <a16:rowId xmlns:a16="http://schemas.microsoft.com/office/drawing/2014/main" val="1985784081"/>
                  </a:ext>
                </a:extLst>
              </a:tr>
              <a:tr h="164933">
                <a:tc>
                  <a:txBody>
                    <a:bodyPr/>
                    <a:lstStyle/>
                    <a:p>
                      <a:r>
                        <a:rPr lang="en-US" sz="800">
                          <a:solidFill>
                            <a:srgbClr val="089C8B"/>
                          </a:solidFill>
                        </a:rPr>
                        <a:t>MIRXES HOLDING CO LTD</a:t>
                      </a:r>
                    </a:p>
                  </a:txBody>
                  <a:tcPr marL="74295" marR="74295" marT="29718" marB="29718">
                    <a:solidFill>
                      <a:schemeClr val="bg2"/>
                    </a:solidFill>
                  </a:tcPr>
                </a:tc>
                <a:tc>
                  <a:txBody>
                    <a:bodyPr/>
                    <a:lstStyle/>
                    <a:p>
                      <a:pPr algn="ctr"/>
                      <a:r>
                        <a:rPr lang="en-US" sz="800">
                          <a:solidFill>
                            <a:srgbClr val="089C8B"/>
                          </a:solidFill>
                        </a:rPr>
                        <a:t>2629.HK</a:t>
                      </a:r>
                    </a:p>
                  </a:txBody>
                  <a:tcPr marL="74295" marR="74295" marT="29718" marB="29718">
                    <a:solidFill>
                      <a:schemeClr val="bg2"/>
                    </a:solidFill>
                  </a:tcPr>
                </a:tc>
                <a:tc>
                  <a:txBody>
                    <a:bodyPr/>
                    <a:lstStyle/>
                    <a:p>
                      <a:r>
                        <a:rPr lang="en-US" sz="800">
                          <a:solidFill>
                            <a:srgbClr val="089C8B"/>
                          </a:solidFill>
                        </a:rPr>
                        <a:t>Biotech</a:t>
                      </a:r>
                    </a:p>
                  </a:txBody>
                  <a:tcPr marL="74295" marR="74295" marT="29718" marB="29718">
                    <a:solidFill>
                      <a:schemeClr val="bg2"/>
                    </a:solidFill>
                  </a:tcPr>
                </a:tc>
                <a:tc>
                  <a:txBody>
                    <a:bodyPr/>
                    <a:lstStyle/>
                    <a:p>
                      <a:r>
                        <a:rPr lang="en-US" sz="800">
                          <a:solidFill>
                            <a:srgbClr val="089C8B"/>
                          </a:solidFill>
                        </a:rPr>
                        <a:t>Singapore </a:t>
                      </a:r>
                    </a:p>
                  </a:txBody>
                  <a:tcPr marL="74295" marR="74295" marT="29718" marB="29718">
                    <a:solidFill>
                      <a:schemeClr val="bg2"/>
                    </a:solidFill>
                  </a:tcPr>
                </a:tc>
                <a:tc>
                  <a:txBody>
                    <a:bodyPr/>
                    <a:lstStyle/>
                    <a:p>
                      <a:r>
                        <a:rPr lang="en-US" sz="800">
                          <a:solidFill>
                            <a:srgbClr val="089C8B"/>
                          </a:solidFill>
                        </a:rPr>
                        <a:t>Singapore, China, Japan, USA</a:t>
                      </a:r>
                    </a:p>
                  </a:txBody>
                  <a:tcPr marL="74295" marR="74295" marT="29718" marB="29718">
                    <a:solidFill>
                      <a:schemeClr val="bg2"/>
                    </a:solidFill>
                  </a:tcPr>
                </a:tc>
                <a:extLst>
                  <a:ext uri="{0D108BD9-81ED-4DB2-BD59-A6C34878D82A}">
                    <a16:rowId xmlns:a16="http://schemas.microsoft.com/office/drawing/2014/main" val="3187659146"/>
                  </a:ext>
                </a:extLst>
              </a:tr>
              <a:tr h="164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cap="all" baseline="0">
                          <a:solidFill>
                            <a:schemeClr val="tx1"/>
                          </a:solidFill>
                          <a:latin typeface="+mn-lt"/>
                          <a:ea typeface="+mn-ea"/>
                          <a:cs typeface="+mn-cs"/>
                        </a:rPr>
                        <a:t>Manulife FINANCIAL CORP</a:t>
                      </a:r>
                    </a:p>
                  </a:txBody>
                  <a:tcPr marL="74295" marR="74295" marT="29718" marB="29718">
                    <a:solidFill>
                      <a:schemeClr val="bg2"/>
                    </a:solidFill>
                  </a:tcPr>
                </a:tc>
                <a:tc>
                  <a:txBody>
                    <a:bodyPr/>
                    <a:lstStyle/>
                    <a:p>
                      <a:pPr algn="ctr"/>
                      <a:r>
                        <a:rPr lang="en-US" sz="800"/>
                        <a:t>945.HK</a:t>
                      </a:r>
                    </a:p>
                  </a:txBody>
                  <a:tcPr marL="74295" marR="74295" marT="29718" marB="29718">
                    <a:solidFill>
                      <a:schemeClr val="bg2"/>
                    </a:solidFill>
                  </a:tcPr>
                </a:tc>
                <a:tc>
                  <a:txBody>
                    <a:bodyPr/>
                    <a:lstStyle/>
                    <a:p>
                      <a:r>
                        <a:rPr lang="en-US" sz="800"/>
                        <a:t>Financials </a:t>
                      </a:r>
                    </a:p>
                  </a:txBody>
                  <a:tcPr marL="74295" marR="74295" marT="29718" marB="29718">
                    <a:solidFill>
                      <a:schemeClr val="bg2"/>
                    </a:solidFill>
                  </a:tcPr>
                </a:tc>
                <a:tc>
                  <a:txBody>
                    <a:bodyPr/>
                    <a:lstStyle/>
                    <a:p>
                      <a:r>
                        <a:rPr lang="en-US" sz="800" b="0"/>
                        <a:t>Canada</a:t>
                      </a:r>
                    </a:p>
                  </a:txBody>
                  <a:tcPr marL="74295" marR="74295" marT="29718" marB="29718">
                    <a:solidFill>
                      <a:schemeClr val="bg2"/>
                    </a:solidFill>
                  </a:tcPr>
                </a:tc>
                <a:tc>
                  <a:txBody>
                    <a:bodyPr/>
                    <a:lstStyle/>
                    <a:p>
                      <a:r>
                        <a:rPr lang="en-US" altLang="zh-TW" sz="800" b="0"/>
                        <a:t>35%</a:t>
                      </a:r>
                      <a:r>
                        <a:rPr lang="zh-TW" altLang="en-US" sz="800" b="0"/>
                        <a:t> </a:t>
                      </a:r>
                      <a:r>
                        <a:rPr lang="en-US" sz="800" b="0"/>
                        <a:t>Canada; 3</a:t>
                      </a:r>
                      <a:r>
                        <a:rPr lang="en-US" altLang="zh-TW" sz="800" b="0"/>
                        <a:t>1</a:t>
                      </a:r>
                      <a:r>
                        <a:rPr lang="en-US" sz="800" b="0"/>
                        <a:t>% </a:t>
                      </a:r>
                      <a:r>
                        <a:rPr lang="en-US" altLang="zh-TW" sz="800" b="0"/>
                        <a:t>US</a:t>
                      </a:r>
                      <a:r>
                        <a:rPr lang="en-US" sz="800" b="0"/>
                        <a:t> </a:t>
                      </a:r>
                    </a:p>
                  </a:txBody>
                  <a:tcPr marL="74295" marR="74295" marT="29718" marB="29718">
                    <a:solidFill>
                      <a:schemeClr val="bg2"/>
                    </a:solidFill>
                  </a:tcPr>
                </a:tc>
                <a:extLst>
                  <a:ext uri="{0D108BD9-81ED-4DB2-BD59-A6C34878D82A}">
                    <a16:rowId xmlns:a16="http://schemas.microsoft.com/office/drawing/2014/main" val="1999855859"/>
                  </a:ext>
                </a:extLst>
              </a:tr>
              <a:tr h="164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cap="all" baseline="0">
                          <a:solidFill>
                            <a:schemeClr val="tx1"/>
                          </a:solidFill>
                          <a:latin typeface="+mn-lt"/>
                          <a:ea typeface="+mn-ea"/>
                          <a:cs typeface="+mn-cs"/>
                        </a:rPr>
                        <a:t>HSBC</a:t>
                      </a:r>
                    </a:p>
                  </a:txBody>
                  <a:tcPr marL="74295" marR="74295" marT="29718" marB="29718">
                    <a:solidFill>
                      <a:schemeClr val="bg2"/>
                    </a:solidFill>
                  </a:tcPr>
                </a:tc>
                <a:tc>
                  <a:txBody>
                    <a:bodyPr/>
                    <a:lstStyle/>
                    <a:p>
                      <a:pPr algn="ctr"/>
                      <a:r>
                        <a:rPr lang="en-US" sz="800"/>
                        <a:t>5. HK</a:t>
                      </a:r>
                    </a:p>
                  </a:txBody>
                  <a:tcPr marL="74295" marR="74295" marT="29718" marB="29718">
                    <a:solidFill>
                      <a:schemeClr val="bg2"/>
                    </a:solidFill>
                  </a:tcPr>
                </a:tc>
                <a:tc>
                  <a:txBody>
                    <a:bodyPr/>
                    <a:lstStyle/>
                    <a:p>
                      <a:r>
                        <a:rPr lang="en-US" sz="800"/>
                        <a:t>Financials</a:t>
                      </a:r>
                    </a:p>
                  </a:txBody>
                  <a:tcPr marL="74295" marR="74295" marT="29718" marB="29718">
                    <a:solidFill>
                      <a:schemeClr val="bg2"/>
                    </a:solidFill>
                  </a:tcPr>
                </a:tc>
                <a:tc>
                  <a:txBody>
                    <a:bodyPr/>
                    <a:lstStyle/>
                    <a:p>
                      <a:r>
                        <a:rPr lang="en-US" sz="800" b="0"/>
                        <a:t>UK</a:t>
                      </a:r>
                    </a:p>
                  </a:txBody>
                  <a:tcPr marL="74295" marR="74295" marT="29718" marB="29718">
                    <a:solidFill>
                      <a:schemeClr val="bg2"/>
                    </a:solidFill>
                  </a:tcPr>
                </a:tc>
                <a:tc>
                  <a:txBody>
                    <a:bodyPr/>
                    <a:lstStyle/>
                    <a:p>
                      <a:r>
                        <a:rPr lang="en-US" sz="800" b="0"/>
                        <a:t>23% Hong Kong, 17% UK</a:t>
                      </a:r>
                    </a:p>
                  </a:txBody>
                  <a:tcPr marL="74295" marR="74295" marT="29718" marB="29718">
                    <a:solidFill>
                      <a:schemeClr val="bg2"/>
                    </a:solidFill>
                  </a:tcPr>
                </a:tc>
                <a:extLst>
                  <a:ext uri="{0D108BD9-81ED-4DB2-BD59-A6C34878D82A}">
                    <a16:rowId xmlns:a16="http://schemas.microsoft.com/office/drawing/2014/main" val="2163235701"/>
                  </a:ext>
                </a:extLst>
              </a:tr>
              <a:tr h="164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cap="all" baseline="0">
                          <a:solidFill>
                            <a:schemeClr val="tx1"/>
                          </a:solidFill>
                          <a:latin typeface="+mn-lt"/>
                          <a:ea typeface="+mn-ea"/>
                          <a:cs typeface="+mn-cs"/>
                        </a:rPr>
                        <a:t>Standard Chartered </a:t>
                      </a:r>
                    </a:p>
                  </a:txBody>
                  <a:tcPr marL="74295" marR="74295" marT="29718" marB="29718">
                    <a:solidFill>
                      <a:schemeClr val="bg2"/>
                    </a:solidFill>
                  </a:tcPr>
                </a:tc>
                <a:tc>
                  <a:txBody>
                    <a:bodyPr/>
                    <a:lstStyle/>
                    <a:p>
                      <a:pPr algn="ctr"/>
                      <a:r>
                        <a:rPr lang="en-US" sz="800"/>
                        <a:t>2888.HK</a:t>
                      </a:r>
                    </a:p>
                  </a:txBody>
                  <a:tcPr marL="74295" marR="74295" marT="29718" marB="29718">
                    <a:solidFill>
                      <a:schemeClr val="bg2"/>
                    </a:solidFill>
                  </a:tcPr>
                </a:tc>
                <a:tc>
                  <a:txBody>
                    <a:bodyPr/>
                    <a:lstStyle/>
                    <a:p>
                      <a:r>
                        <a:rPr lang="en-US" sz="800"/>
                        <a:t>Financials </a:t>
                      </a:r>
                    </a:p>
                  </a:txBody>
                  <a:tcPr marL="74295" marR="74295" marT="29718" marB="29718">
                    <a:solidFill>
                      <a:schemeClr val="bg2"/>
                    </a:solidFill>
                  </a:tcPr>
                </a:tc>
                <a:tc>
                  <a:txBody>
                    <a:bodyPr/>
                    <a:lstStyle/>
                    <a:p>
                      <a:r>
                        <a:rPr lang="en-US" sz="800" b="0"/>
                        <a:t>UK</a:t>
                      </a:r>
                    </a:p>
                  </a:txBody>
                  <a:tcPr marL="74295" marR="74295" marT="29718" marB="29718">
                    <a:solidFill>
                      <a:schemeClr val="bg2"/>
                    </a:solidFill>
                  </a:tcPr>
                </a:tc>
                <a:tc>
                  <a:txBody>
                    <a:bodyPr/>
                    <a:lstStyle/>
                    <a:p>
                      <a:r>
                        <a:rPr lang="en-US" sz="800" b="0"/>
                        <a:t>24% Hong Kong</a:t>
                      </a:r>
                    </a:p>
                  </a:txBody>
                  <a:tcPr marL="74295" marR="74295" marT="29718" marB="29718">
                    <a:solidFill>
                      <a:schemeClr val="bg2"/>
                    </a:solidFill>
                  </a:tcPr>
                </a:tc>
                <a:extLst>
                  <a:ext uri="{0D108BD9-81ED-4DB2-BD59-A6C34878D82A}">
                    <a16:rowId xmlns:a16="http://schemas.microsoft.com/office/drawing/2014/main" val="3625201503"/>
                  </a:ext>
                </a:extLst>
              </a:tr>
            </a:tbl>
          </a:graphicData>
        </a:graphic>
      </p:graphicFrame>
      <p:sp>
        <p:nvSpPr>
          <p:cNvPr id="8" name="Rectangle 7">
            <a:extLst>
              <a:ext uri="{FF2B5EF4-FFF2-40B4-BE49-F238E27FC236}">
                <a16:creationId xmlns:a16="http://schemas.microsoft.com/office/drawing/2014/main" id="{8191C801-52A5-7316-E781-0C970E422D90}"/>
              </a:ext>
            </a:extLst>
          </p:cNvPr>
          <p:cNvSpPr/>
          <p:nvPr/>
        </p:nvSpPr>
        <p:spPr bwMode="auto">
          <a:xfrm>
            <a:off x="1440499" y="1758720"/>
            <a:ext cx="7569042" cy="149724"/>
          </a:xfrm>
          <a:prstGeom prst="rect">
            <a:avLst/>
          </a:prstGeom>
          <a:noFill/>
          <a:ln>
            <a:noFill/>
          </a:ln>
        </p:spPr>
        <p:txBody>
          <a:bodyPr vert="horz" wrap="square" lIns="74295" tIns="37148" rIns="74295" bIns="37148" numCol="1" rtlCol="0" anchor="ctr" anchorCtr="0" compatLnSpc="1"/>
          <a:lstStyle/>
          <a:p>
            <a:pPr defTabSz="742950" eaLnBrk="0" hangingPunct="0"/>
            <a:r>
              <a:rPr lang="en-US" sz="731">
                <a:solidFill>
                  <a:schemeClr val="tx1">
                    <a:lumMod val="50000"/>
                    <a:lumOff val="50000"/>
                  </a:schemeClr>
                </a:solidFill>
                <a:latin typeface="Arial" panose="020B0604020202090204" pitchFamily="34" charset="0"/>
              </a:rPr>
              <a:t>HK listed companies with both non-PRC background </a:t>
            </a:r>
            <a:r>
              <a:rPr lang="en-US" sz="731" u="sng">
                <a:solidFill>
                  <a:schemeClr val="tx1">
                    <a:lumMod val="50000"/>
                    <a:lumOff val="50000"/>
                  </a:schemeClr>
                </a:solidFill>
                <a:latin typeface="Arial" panose="020B0604020202090204" pitchFamily="34" charset="0"/>
              </a:rPr>
              <a:t>and</a:t>
            </a:r>
            <a:r>
              <a:rPr lang="en-US" sz="731">
                <a:solidFill>
                  <a:schemeClr val="tx1">
                    <a:lumMod val="50000"/>
                    <a:lumOff val="50000"/>
                  </a:schemeClr>
                </a:solidFill>
                <a:latin typeface="Arial" panose="020B0604020202090204" pitchFamily="34" charset="0"/>
              </a:rPr>
              <a:t> main markets outside of China </a:t>
            </a:r>
          </a:p>
        </p:txBody>
      </p:sp>
      <p:sp>
        <p:nvSpPr>
          <p:cNvPr id="10" name="Rectangle 9">
            <a:extLst>
              <a:ext uri="{FF2B5EF4-FFF2-40B4-BE49-F238E27FC236}">
                <a16:creationId xmlns:a16="http://schemas.microsoft.com/office/drawing/2014/main" id="{0CA2935E-E748-E006-C3A3-47B717FDA4DF}"/>
              </a:ext>
            </a:extLst>
          </p:cNvPr>
          <p:cNvSpPr/>
          <p:nvPr/>
        </p:nvSpPr>
        <p:spPr bwMode="auto">
          <a:xfrm>
            <a:off x="1069023" y="1771897"/>
            <a:ext cx="239184" cy="123371"/>
          </a:xfrm>
          <a:prstGeom prst="rect">
            <a:avLst/>
          </a:prstGeom>
          <a:solidFill>
            <a:schemeClr val="bg2"/>
          </a:solidFill>
          <a:ln>
            <a:solidFill>
              <a:schemeClr val="bg2"/>
            </a:solidFill>
          </a:ln>
        </p:spPr>
        <p:txBody>
          <a:bodyPr vert="horz" wrap="square" lIns="74295" tIns="37148" rIns="74295" bIns="37148" numCol="1" rtlCol="0" anchor="ctr" anchorCtr="0" compatLnSpc="1"/>
          <a:lstStyle/>
          <a:p>
            <a:pPr defTabSz="742950" eaLnBrk="0" hangingPunct="0"/>
            <a:endParaRPr lang="en-US" sz="2275">
              <a:solidFill>
                <a:schemeClr val="tx1"/>
              </a:solidFill>
              <a:latin typeface="Arial" panose="020B0604020202090204" pitchFamily="34" charset="0"/>
            </a:endParaRPr>
          </a:p>
        </p:txBody>
      </p:sp>
      <p:pic>
        <p:nvPicPr>
          <p:cNvPr id="11" name="Picture 10">
            <a:extLst>
              <a:ext uri="{FF2B5EF4-FFF2-40B4-BE49-F238E27FC236}">
                <a16:creationId xmlns:a16="http://schemas.microsoft.com/office/drawing/2014/main" id="{4B20E39F-7CF9-A17E-14EE-953770AF8F30}"/>
              </a:ext>
            </a:extLst>
          </p:cNvPr>
          <p:cNvPicPr>
            <a:picLocks noChangeAspect="1"/>
          </p:cNvPicPr>
          <p:nvPr/>
        </p:nvPicPr>
        <p:blipFill>
          <a:blip r:embed="rId2"/>
          <a:srcRect l="1" t="34502" r="-676" b="35135"/>
          <a:stretch>
            <a:fillRect/>
          </a:stretch>
        </p:blipFill>
        <p:spPr>
          <a:xfrm>
            <a:off x="518118" y="3418488"/>
            <a:ext cx="407661" cy="127300"/>
          </a:xfrm>
          <a:prstGeom prst="rect">
            <a:avLst/>
          </a:prstGeom>
        </p:spPr>
      </p:pic>
      <p:pic>
        <p:nvPicPr>
          <p:cNvPr id="12" name="Picture 11">
            <a:extLst>
              <a:ext uri="{FF2B5EF4-FFF2-40B4-BE49-F238E27FC236}">
                <a16:creationId xmlns:a16="http://schemas.microsoft.com/office/drawing/2014/main" id="{5E254E6C-F6A1-5077-C975-2188781B6D27}"/>
              </a:ext>
            </a:extLst>
          </p:cNvPr>
          <p:cNvPicPr>
            <a:picLocks noChangeAspect="1"/>
          </p:cNvPicPr>
          <p:nvPr/>
        </p:nvPicPr>
        <p:blipFill>
          <a:blip r:embed="rId3"/>
          <a:srcRect t="33051" b="33800"/>
          <a:stretch>
            <a:fillRect/>
          </a:stretch>
        </p:blipFill>
        <p:spPr>
          <a:xfrm>
            <a:off x="518837" y="3252182"/>
            <a:ext cx="437697" cy="93627"/>
          </a:xfrm>
          <a:prstGeom prst="rect">
            <a:avLst/>
          </a:prstGeom>
        </p:spPr>
      </p:pic>
      <p:pic>
        <p:nvPicPr>
          <p:cNvPr id="16" name="Picture 15">
            <a:extLst>
              <a:ext uri="{FF2B5EF4-FFF2-40B4-BE49-F238E27FC236}">
                <a16:creationId xmlns:a16="http://schemas.microsoft.com/office/drawing/2014/main" id="{B1DD0888-ADDC-2502-E84E-57F059DD9018}"/>
              </a:ext>
            </a:extLst>
          </p:cNvPr>
          <p:cNvPicPr>
            <a:picLocks noChangeAspect="1"/>
          </p:cNvPicPr>
          <p:nvPr/>
        </p:nvPicPr>
        <p:blipFill>
          <a:blip r:embed="rId4"/>
          <a:stretch>
            <a:fillRect/>
          </a:stretch>
        </p:blipFill>
        <p:spPr>
          <a:xfrm>
            <a:off x="593142" y="2473023"/>
            <a:ext cx="335202" cy="193104"/>
          </a:xfrm>
          <a:prstGeom prst="rect">
            <a:avLst/>
          </a:prstGeom>
        </p:spPr>
      </p:pic>
      <p:pic>
        <p:nvPicPr>
          <p:cNvPr id="20" name="Picture 19" descr="A red and white logo&#10;&#10;AI-generated content may be incorrect.">
            <a:extLst>
              <a:ext uri="{FF2B5EF4-FFF2-40B4-BE49-F238E27FC236}">
                <a16:creationId xmlns:a16="http://schemas.microsoft.com/office/drawing/2014/main" id="{7D4DF584-D770-D03F-63F5-C6518697E023}"/>
              </a:ext>
            </a:extLst>
          </p:cNvPr>
          <p:cNvPicPr>
            <a:picLocks noChangeAspect="1"/>
          </p:cNvPicPr>
          <p:nvPr/>
        </p:nvPicPr>
        <p:blipFill>
          <a:blip r:embed="rId5"/>
          <a:srcRect l="14000" t="27778" r="11333" b="29555"/>
          <a:stretch>
            <a:fillRect/>
          </a:stretch>
        </p:blipFill>
        <p:spPr>
          <a:xfrm>
            <a:off x="646564" y="2679672"/>
            <a:ext cx="241680" cy="142991"/>
          </a:xfrm>
          <a:prstGeom prst="rect">
            <a:avLst/>
          </a:prstGeom>
        </p:spPr>
      </p:pic>
      <p:pic>
        <p:nvPicPr>
          <p:cNvPr id="22" name="Picture 21">
            <a:extLst>
              <a:ext uri="{FF2B5EF4-FFF2-40B4-BE49-F238E27FC236}">
                <a16:creationId xmlns:a16="http://schemas.microsoft.com/office/drawing/2014/main" id="{BDF03D44-3152-8C00-625A-8C4AA24F4691}"/>
              </a:ext>
            </a:extLst>
          </p:cNvPr>
          <p:cNvPicPr>
            <a:picLocks noChangeAspect="1"/>
          </p:cNvPicPr>
          <p:nvPr/>
        </p:nvPicPr>
        <p:blipFill>
          <a:blip r:embed="rId6"/>
          <a:srcRect l="29040" r="18995" b="25733"/>
          <a:stretch>
            <a:fillRect/>
          </a:stretch>
        </p:blipFill>
        <p:spPr>
          <a:xfrm>
            <a:off x="691255" y="2829610"/>
            <a:ext cx="136341" cy="193823"/>
          </a:xfrm>
          <a:prstGeom prst="rect">
            <a:avLst/>
          </a:prstGeom>
        </p:spPr>
      </p:pic>
      <p:pic>
        <p:nvPicPr>
          <p:cNvPr id="23" name="Picture 22">
            <a:extLst>
              <a:ext uri="{FF2B5EF4-FFF2-40B4-BE49-F238E27FC236}">
                <a16:creationId xmlns:a16="http://schemas.microsoft.com/office/drawing/2014/main" id="{86F986C4-8E2D-908F-2DB9-DDD87C70D523}"/>
              </a:ext>
            </a:extLst>
          </p:cNvPr>
          <p:cNvPicPr>
            <a:picLocks noChangeAspect="1"/>
          </p:cNvPicPr>
          <p:nvPr/>
        </p:nvPicPr>
        <p:blipFill>
          <a:blip r:embed="rId7"/>
          <a:stretch>
            <a:fillRect/>
          </a:stretch>
        </p:blipFill>
        <p:spPr>
          <a:xfrm>
            <a:off x="601578" y="3600556"/>
            <a:ext cx="242702" cy="83334"/>
          </a:xfrm>
          <a:prstGeom prst="rect">
            <a:avLst/>
          </a:prstGeom>
        </p:spPr>
      </p:pic>
      <p:pic>
        <p:nvPicPr>
          <p:cNvPr id="24" name="Picture 23">
            <a:extLst>
              <a:ext uri="{FF2B5EF4-FFF2-40B4-BE49-F238E27FC236}">
                <a16:creationId xmlns:a16="http://schemas.microsoft.com/office/drawing/2014/main" id="{AB213061-052C-5E62-876A-F5ED30B4564F}"/>
              </a:ext>
            </a:extLst>
          </p:cNvPr>
          <p:cNvPicPr>
            <a:picLocks noChangeAspect="1"/>
          </p:cNvPicPr>
          <p:nvPr/>
        </p:nvPicPr>
        <p:blipFill>
          <a:blip r:embed="rId8"/>
          <a:srcRect l="25472" r="24213" b="27436"/>
          <a:stretch>
            <a:fillRect/>
          </a:stretch>
        </p:blipFill>
        <p:spPr>
          <a:xfrm>
            <a:off x="609719" y="3724976"/>
            <a:ext cx="242702" cy="181207"/>
          </a:xfrm>
          <a:prstGeom prst="rect">
            <a:avLst/>
          </a:prstGeom>
        </p:spPr>
      </p:pic>
      <p:pic>
        <p:nvPicPr>
          <p:cNvPr id="25" name="Picture 24">
            <a:extLst>
              <a:ext uri="{FF2B5EF4-FFF2-40B4-BE49-F238E27FC236}">
                <a16:creationId xmlns:a16="http://schemas.microsoft.com/office/drawing/2014/main" id="{C807F0BA-1413-241D-455C-8405DE1D391B}"/>
              </a:ext>
            </a:extLst>
          </p:cNvPr>
          <p:cNvPicPr>
            <a:picLocks noChangeAspect="1"/>
          </p:cNvPicPr>
          <p:nvPr/>
        </p:nvPicPr>
        <p:blipFill>
          <a:blip r:embed="rId9"/>
          <a:srcRect l="10160" t="15185" r="6150" b="23426"/>
          <a:stretch>
            <a:fillRect/>
          </a:stretch>
        </p:blipFill>
        <p:spPr>
          <a:xfrm>
            <a:off x="525332" y="3946734"/>
            <a:ext cx="415040" cy="113783"/>
          </a:xfrm>
          <a:prstGeom prst="rect">
            <a:avLst/>
          </a:prstGeom>
        </p:spPr>
      </p:pic>
      <p:pic>
        <p:nvPicPr>
          <p:cNvPr id="27" name="Picture 26">
            <a:extLst>
              <a:ext uri="{FF2B5EF4-FFF2-40B4-BE49-F238E27FC236}">
                <a16:creationId xmlns:a16="http://schemas.microsoft.com/office/drawing/2014/main" id="{C1EF5A4B-7C30-49B2-94F6-680CFEDF0DC4}"/>
              </a:ext>
            </a:extLst>
          </p:cNvPr>
          <p:cNvPicPr>
            <a:picLocks noChangeAspect="1"/>
          </p:cNvPicPr>
          <p:nvPr/>
        </p:nvPicPr>
        <p:blipFill>
          <a:blip r:embed="rId10"/>
          <a:stretch>
            <a:fillRect/>
          </a:stretch>
        </p:blipFill>
        <p:spPr>
          <a:xfrm>
            <a:off x="610686" y="4120596"/>
            <a:ext cx="268836" cy="131089"/>
          </a:xfrm>
          <a:prstGeom prst="rect">
            <a:avLst/>
          </a:prstGeom>
        </p:spPr>
      </p:pic>
      <p:pic>
        <p:nvPicPr>
          <p:cNvPr id="29" name="Picture 28">
            <a:extLst>
              <a:ext uri="{FF2B5EF4-FFF2-40B4-BE49-F238E27FC236}">
                <a16:creationId xmlns:a16="http://schemas.microsoft.com/office/drawing/2014/main" id="{69E3DF78-D5AB-03FF-B001-F9ED290CBBF9}"/>
              </a:ext>
            </a:extLst>
          </p:cNvPr>
          <p:cNvPicPr>
            <a:picLocks noChangeAspect="1"/>
          </p:cNvPicPr>
          <p:nvPr/>
        </p:nvPicPr>
        <p:blipFill>
          <a:blip r:embed="rId11"/>
          <a:srcRect l="25555" t="9194" r="20222" b="11992"/>
          <a:stretch>
            <a:fillRect/>
          </a:stretch>
        </p:blipFill>
        <p:spPr>
          <a:xfrm>
            <a:off x="708637" y="2305508"/>
            <a:ext cx="123269" cy="185520"/>
          </a:xfrm>
          <a:prstGeom prst="rect">
            <a:avLst/>
          </a:prstGeom>
        </p:spPr>
      </p:pic>
      <p:pic>
        <p:nvPicPr>
          <p:cNvPr id="6" name="Picture 5">
            <a:extLst>
              <a:ext uri="{FF2B5EF4-FFF2-40B4-BE49-F238E27FC236}">
                <a16:creationId xmlns:a16="http://schemas.microsoft.com/office/drawing/2014/main" id="{74910B59-49EB-8251-0FE2-E80F914A973A}"/>
              </a:ext>
            </a:extLst>
          </p:cNvPr>
          <p:cNvPicPr>
            <a:picLocks noChangeAspect="1"/>
          </p:cNvPicPr>
          <p:nvPr/>
        </p:nvPicPr>
        <p:blipFill>
          <a:blip r:embed="rId12"/>
          <a:srcRect l="23544" t="24239" r="23404" b="24524"/>
          <a:stretch>
            <a:fillRect/>
          </a:stretch>
        </p:blipFill>
        <p:spPr>
          <a:xfrm>
            <a:off x="656821" y="3029371"/>
            <a:ext cx="192313" cy="192305"/>
          </a:xfrm>
          <a:prstGeom prst="rect">
            <a:avLst/>
          </a:prstGeom>
        </p:spPr>
      </p:pic>
      <p:pic>
        <p:nvPicPr>
          <p:cNvPr id="13" name="Picture 12">
            <a:extLst>
              <a:ext uri="{FF2B5EF4-FFF2-40B4-BE49-F238E27FC236}">
                <a16:creationId xmlns:a16="http://schemas.microsoft.com/office/drawing/2014/main" id="{B53F050D-54D1-1BD0-7DDF-4421616ADDB4}"/>
              </a:ext>
            </a:extLst>
          </p:cNvPr>
          <p:cNvPicPr>
            <a:picLocks noChangeAspect="1"/>
          </p:cNvPicPr>
          <p:nvPr/>
        </p:nvPicPr>
        <p:blipFill>
          <a:blip r:embed="rId13"/>
          <a:srcRect l="12998" t="27507" r="12443" b="21093"/>
          <a:stretch>
            <a:fillRect/>
          </a:stretch>
        </p:blipFill>
        <p:spPr>
          <a:xfrm>
            <a:off x="556392" y="4765156"/>
            <a:ext cx="328900" cy="123442"/>
          </a:xfrm>
          <a:prstGeom prst="rect">
            <a:avLst/>
          </a:prstGeom>
        </p:spPr>
      </p:pic>
      <p:pic>
        <p:nvPicPr>
          <p:cNvPr id="14" name="Picture 13">
            <a:extLst>
              <a:ext uri="{FF2B5EF4-FFF2-40B4-BE49-F238E27FC236}">
                <a16:creationId xmlns:a16="http://schemas.microsoft.com/office/drawing/2014/main" id="{C5FBA366-6796-6671-8457-C555ACC55552}"/>
              </a:ext>
            </a:extLst>
          </p:cNvPr>
          <p:cNvPicPr>
            <a:picLocks noChangeAspect="1"/>
          </p:cNvPicPr>
          <p:nvPr/>
        </p:nvPicPr>
        <p:blipFill>
          <a:blip r:embed="rId14"/>
          <a:stretch>
            <a:fillRect/>
          </a:stretch>
        </p:blipFill>
        <p:spPr>
          <a:xfrm>
            <a:off x="641247" y="4550272"/>
            <a:ext cx="164987" cy="170827"/>
          </a:xfrm>
          <a:prstGeom prst="rect">
            <a:avLst/>
          </a:prstGeom>
        </p:spPr>
      </p:pic>
      <p:pic>
        <p:nvPicPr>
          <p:cNvPr id="15" name="Picture 14">
            <a:extLst>
              <a:ext uri="{FF2B5EF4-FFF2-40B4-BE49-F238E27FC236}">
                <a16:creationId xmlns:a16="http://schemas.microsoft.com/office/drawing/2014/main" id="{45BC05CB-F517-2215-AE50-5F3C98A84944}"/>
              </a:ext>
            </a:extLst>
          </p:cNvPr>
          <p:cNvPicPr>
            <a:picLocks noChangeAspect="1"/>
          </p:cNvPicPr>
          <p:nvPr/>
        </p:nvPicPr>
        <p:blipFill>
          <a:blip r:embed="rId15"/>
          <a:srcRect t="36055" r="3454" b="36287"/>
          <a:stretch>
            <a:fillRect/>
          </a:stretch>
        </p:blipFill>
        <p:spPr>
          <a:xfrm>
            <a:off x="520703" y="5137725"/>
            <a:ext cx="397835" cy="109156"/>
          </a:xfrm>
          <a:prstGeom prst="rect">
            <a:avLst/>
          </a:prstGeom>
        </p:spPr>
      </p:pic>
      <p:pic>
        <p:nvPicPr>
          <p:cNvPr id="17" name="Picture 16">
            <a:extLst>
              <a:ext uri="{FF2B5EF4-FFF2-40B4-BE49-F238E27FC236}">
                <a16:creationId xmlns:a16="http://schemas.microsoft.com/office/drawing/2014/main" id="{63BD346E-BC02-4741-71A2-422484CEB54C}"/>
              </a:ext>
            </a:extLst>
          </p:cNvPr>
          <p:cNvPicPr>
            <a:picLocks noChangeAspect="1"/>
          </p:cNvPicPr>
          <p:nvPr/>
        </p:nvPicPr>
        <p:blipFill>
          <a:blip r:embed="rId16"/>
          <a:srcRect l="12880" t="17747" b="16754"/>
          <a:stretch>
            <a:fillRect/>
          </a:stretch>
        </p:blipFill>
        <p:spPr>
          <a:xfrm>
            <a:off x="553223" y="5314419"/>
            <a:ext cx="335017" cy="154386"/>
          </a:xfrm>
          <a:prstGeom prst="rect">
            <a:avLst/>
          </a:prstGeom>
        </p:spPr>
      </p:pic>
      <p:pic>
        <p:nvPicPr>
          <p:cNvPr id="18" name="Picture 17">
            <a:extLst>
              <a:ext uri="{FF2B5EF4-FFF2-40B4-BE49-F238E27FC236}">
                <a16:creationId xmlns:a16="http://schemas.microsoft.com/office/drawing/2014/main" id="{09E28E10-4420-A266-E291-AE9009E7903B}"/>
              </a:ext>
            </a:extLst>
          </p:cNvPr>
          <p:cNvPicPr>
            <a:picLocks noChangeAspect="1"/>
          </p:cNvPicPr>
          <p:nvPr/>
        </p:nvPicPr>
        <p:blipFill>
          <a:blip r:embed="rId17"/>
          <a:srcRect l="8397" t="29044" r="9161" b="31081"/>
          <a:stretch>
            <a:fillRect/>
          </a:stretch>
        </p:blipFill>
        <p:spPr>
          <a:xfrm>
            <a:off x="495301" y="4927433"/>
            <a:ext cx="446902" cy="126424"/>
          </a:xfrm>
          <a:prstGeom prst="rect">
            <a:avLst/>
          </a:prstGeom>
        </p:spPr>
      </p:pic>
      <p:pic>
        <p:nvPicPr>
          <p:cNvPr id="19" name="Picture 18">
            <a:extLst>
              <a:ext uri="{FF2B5EF4-FFF2-40B4-BE49-F238E27FC236}">
                <a16:creationId xmlns:a16="http://schemas.microsoft.com/office/drawing/2014/main" id="{DBDF9DC5-BFD5-A6DF-5193-3A6D3CE6A79F}"/>
              </a:ext>
            </a:extLst>
          </p:cNvPr>
          <p:cNvPicPr>
            <a:picLocks noChangeAspect="1"/>
          </p:cNvPicPr>
          <p:nvPr/>
        </p:nvPicPr>
        <p:blipFill>
          <a:blip r:embed="rId18"/>
          <a:srcRect t="26546" b="28095"/>
          <a:stretch>
            <a:fillRect/>
          </a:stretch>
        </p:blipFill>
        <p:spPr>
          <a:xfrm>
            <a:off x="544385" y="4348677"/>
            <a:ext cx="340495" cy="113783"/>
          </a:xfrm>
          <a:prstGeom prst="rect">
            <a:avLst/>
          </a:prstGeom>
        </p:spPr>
      </p:pic>
      <p:sp>
        <p:nvSpPr>
          <p:cNvPr id="5" name="Slide Number Placeholder 1">
            <a:extLst>
              <a:ext uri="{FF2B5EF4-FFF2-40B4-BE49-F238E27FC236}">
                <a16:creationId xmlns:a16="http://schemas.microsoft.com/office/drawing/2014/main" id="{E57A463F-35F2-2A9B-1D12-261A5026E593}"/>
              </a:ext>
            </a:extLst>
          </p:cNvPr>
          <p:cNvSpPr>
            <a:spLocks noGrp="1"/>
          </p:cNvSpPr>
          <p:nvPr>
            <p:ph type="sldNum" sz="quarter" idx="11"/>
          </p:nvPr>
        </p:nvSpPr>
        <p:spPr>
          <a:xfrm>
            <a:off x="9455150" y="6388100"/>
            <a:ext cx="431800" cy="360363"/>
          </a:xfrm>
        </p:spPr>
        <p:txBody>
          <a:bodyPr/>
          <a:lstStyle/>
          <a:p>
            <a:pPr>
              <a:defRPr/>
            </a:pPr>
            <a:fld id="{EED7964B-8F50-47E5-B5EE-37748C966AF4}" type="slidenum">
              <a:rPr lang="en-US" smtClean="0"/>
              <a:pPr>
                <a:defRPr/>
              </a:pPr>
              <a:t>18</a:t>
            </a:fld>
            <a:endParaRPr lang="en-US"/>
          </a:p>
        </p:txBody>
      </p:sp>
      <p:sp>
        <p:nvSpPr>
          <p:cNvPr id="7" name="TextBox 6">
            <a:extLst>
              <a:ext uri="{FF2B5EF4-FFF2-40B4-BE49-F238E27FC236}">
                <a16:creationId xmlns:a16="http://schemas.microsoft.com/office/drawing/2014/main" id="{25E9A471-443B-6446-7C2B-5BDD25494D1E}"/>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Tree>
    <p:extLst>
      <p:ext uri="{BB962C8B-B14F-4D97-AF65-F5344CB8AC3E}">
        <p14:creationId xmlns:p14="http://schemas.microsoft.com/office/powerpoint/2010/main" val="2189762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22FDF-3CED-3AA5-5027-117EE6A1BD20}"/>
              </a:ext>
            </a:extLst>
          </p:cNvPr>
          <p:cNvSpPr>
            <a:spLocks noGrp="1"/>
          </p:cNvSpPr>
          <p:nvPr>
            <p:ph type="title"/>
          </p:nvPr>
        </p:nvSpPr>
        <p:spPr/>
        <p:txBody>
          <a:bodyPr/>
          <a:lstStyle/>
          <a:p>
            <a:r>
              <a:rPr lang="en-US"/>
              <a:t>HK Increasingly Attractive for International Issuers</a:t>
            </a:r>
          </a:p>
        </p:txBody>
      </p:sp>
      <p:sp>
        <p:nvSpPr>
          <p:cNvPr id="10" name="Text Placeholder 9">
            <a:extLst>
              <a:ext uri="{FF2B5EF4-FFF2-40B4-BE49-F238E27FC236}">
                <a16:creationId xmlns:a16="http://schemas.microsoft.com/office/drawing/2014/main" id="{5DB6CE8C-EE38-72FF-C9C7-37A331C52472}"/>
              </a:ext>
            </a:extLst>
          </p:cNvPr>
          <p:cNvSpPr>
            <a:spLocks noGrp="1"/>
          </p:cNvSpPr>
          <p:nvPr>
            <p:ph type="body" sz="quarter" idx="46"/>
          </p:nvPr>
        </p:nvSpPr>
        <p:spPr/>
        <p:txBody>
          <a:bodyPr/>
          <a:lstStyle/>
          <a:p>
            <a:pPr marL="0" indent="0">
              <a:buNone/>
            </a:pPr>
            <a:r>
              <a:rPr lang="en-US" sz="800"/>
              <a:t>Sources: HKEX filings, Bloomberg, Dealogic, </a:t>
            </a:r>
            <a:r>
              <a:rPr lang="en-US" sz="800" err="1"/>
              <a:t>Factset</a:t>
            </a:r>
            <a:r>
              <a:rPr lang="en-US" sz="800"/>
              <a:t> market data as of 31 Dec 2025</a:t>
            </a:r>
          </a:p>
          <a:p>
            <a:r>
              <a:rPr lang="en-US" sz="800"/>
              <a:t>Pre-shoe</a:t>
            </a:r>
          </a:p>
          <a:p>
            <a:r>
              <a:rPr lang="en-US" sz="800"/>
              <a:t>Performance / ADTV since IPO</a:t>
            </a:r>
          </a:p>
          <a:p>
            <a:endParaRPr lang="en-US" sz="800"/>
          </a:p>
          <a:p>
            <a:endParaRPr lang="en-GB" sz="800"/>
          </a:p>
        </p:txBody>
      </p:sp>
      <p:graphicFrame>
        <p:nvGraphicFramePr>
          <p:cNvPr id="26" name="object 26"/>
          <p:cNvGraphicFramePr>
            <a:graphicFrameLocks noGrp="1"/>
          </p:cNvGraphicFramePr>
          <p:nvPr>
            <p:extLst>
              <p:ext uri="{D42A27DB-BD31-4B8C-83A1-F6EECF244321}">
                <p14:modId xmlns:p14="http://schemas.microsoft.com/office/powerpoint/2010/main" val="2056948917"/>
              </p:ext>
            </p:extLst>
          </p:nvPr>
        </p:nvGraphicFramePr>
        <p:xfrm>
          <a:off x="453000" y="1145376"/>
          <a:ext cx="7719448" cy="4399245"/>
        </p:xfrm>
        <a:graphic>
          <a:graphicData uri="http://schemas.openxmlformats.org/drawingml/2006/table">
            <a:tbl>
              <a:tblPr firstRow="1" bandRow="1">
                <a:tableStyleId>{5C22544A-7EE6-4342-B048-85BDC9FD1C3A}</a:tableStyleId>
              </a:tblPr>
              <a:tblGrid>
                <a:gridCol w="691709">
                  <a:extLst>
                    <a:ext uri="{9D8B030D-6E8A-4147-A177-3AD203B41FA5}">
                      <a16:colId xmlns:a16="http://schemas.microsoft.com/office/drawing/2014/main" val="20000"/>
                    </a:ext>
                  </a:extLst>
                </a:gridCol>
                <a:gridCol w="995791">
                  <a:extLst>
                    <a:ext uri="{9D8B030D-6E8A-4147-A177-3AD203B41FA5}">
                      <a16:colId xmlns:a16="http://schemas.microsoft.com/office/drawing/2014/main" val="20001"/>
                    </a:ext>
                  </a:extLst>
                </a:gridCol>
                <a:gridCol w="990523">
                  <a:extLst>
                    <a:ext uri="{9D8B030D-6E8A-4147-A177-3AD203B41FA5}">
                      <a16:colId xmlns:a16="http://schemas.microsoft.com/office/drawing/2014/main" val="20002"/>
                    </a:ext>
                  </a:extLst>
                </a:gridCol>
                <a:gridCol w="1020628">
                  <a:extLst>
                    <a:ext uri="{9D8B030D-6E8A-4147-A177-3AD203B41FA5}">
                      <a16:colId xmlns:a16="http://schemas.microsoft.com/office/drawing/2014/main" val="20003"/>
                    </a:ext>
                  </a:extLst>
                </a:gridCol>
                <a:gridCol w="993533">
                  <a:extLst>
                    <a:ext uri="{9D8B030D-6E8A-4147-A177-3AD203B41FA5}">
                      <a16:colId xmlns:a16="http://schemas.microsoft.com/office/drawing/2014/main" val="20004"/>
                    </a:ext>
                  </a:extLst>
                </a:gridCol>
                <a:gridCol w="1018371">
                  <a:extLst>
                    <a:ext uri="{9D8B030D-6E8A-4147-A177-3AD203B41FA5}">
                      <a16:colId xmlns:a16="http://schemas.microsoft.com/office/drawing/2014/main" val="20005"/>
                    </a:ext>
                  </a:extLst>
                </a:gridCol>
                <a:gridCol w="945362">
                  <a:extLst>
                    <a:ext uri="{9D8B030D-6E8A-4147-A177-3AD203B41FA5}">
                      <a16:colId xmlns:a16="http://schemas.microsoft.com/office/drawing/2014/main" val="20006"/>
                    </a:ext>
                  </a:extLst>
                </a:gridCol>
                <a:gridCol w="1063531">
                  <a:extLst>
                    <a:ext uri="{9D8B030D-6E8A-4147-A177-3AD203B41FA5}">
                      <a16:colId xmlns:a16="http://schemas.microsoft.com/office/drawing/2014/main" val="20007"/>
                    </a:ext>
                  </a:extLst>
                </a:gridCol>
              </a:tblGrid>
              <a:tr h="203004">
                <a:tc gridSpan="8">
                  <a:txBody>
                    <a:bodyPr/>
                    <a:lstStyle/>
                    <a:p>
                      <a:pPr marR="11430" algn="ctr">
                        <a:lnSpc>
                          <a:spcPct val="100000"/>
                        </a:lnSpc>
                        <a:spcBef>
                          <a:spcPts val="0"/>
                        </a:spcBef>
                      </a:pPr>
                      <a:endParaRPr sz="800">
                        <a:solidFill>
                          <a:schemeClr val="bg1"/>
                        </a:solidFill>
                        <a:latin typeface="Arial"/>
                        <a:cs typeface="Arial"/>
                      </a:endParaRPr>
                    </a:p>
                  </a:txBody>
                  <a:tcPr marL="22289" marR="22289" marT="37148" marB="37148" anchor="ctr">
                    <a:no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74290">
                <a:tc gridSpan="8">
                  <a:txBody>
                    <a:bodyPr/>
                    <a:lstStyle/>
                    <a:p>
                      <a:pPr marR="11430" algn="ctr">
                        <a:lnSpc>
                          <a:spcPct val="100000"/>
                        </a:lnSpc>
                        <a:spcBef>
                          <a:spcPts val="0"/>
                        </a:spcBef>
                      </a:pPr>
                      <a:endParaRPr sz="700">
                        <a:solidFill>
                          <a:schemeClr val="bg1"/>
                        </a:solidFill>
                        <a:latin typeface="Arial"/>
                        <a:cs typeface="Arial"/>
                      </a:endParaRPr>
                    </a:p>
                  </a:txBody>
                  <a:tcPr marL="22289" marR="22289" marT="37148" marB="37148" anchor="c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63206653"/>
                  </a:ext>
                </a:extLst>
              </a:tr>
              <a:tr h="404057">
                <a:tc>
                  <a:txBody>
                    <a:bodyPr/>
                    <a:lstStyle/>
                    <a:p>
                      <a:pPr marL="0" marR="48895" indent="0" algn="ctr">
                        <a:lnSpc>
                          <a:spcPct val="100000"/>
                        </a:lnSpc>
                        <a:spcBef>
                          <a:spcPts val="0"/>
                        </a:spcBef>
                      </a:pPr>
                      <a:r>
                        <a:rPr sz="700" i="1">
                          <a:solidFill>
                            <a:schemeClr val="tx1"/>
                          </a:solidFill>
                        </a:rPr>
                        <a:t>(in</a:t>
                      </a:r>
                      <a:r>
                        <a:rPr sz="700" i="1" spc="-20">
                          <a:solidFill>
                            <a:schemeClr val="tx1"/>
                          </a:solidFill>
                        </a:rPr>
                        <a:t> </a:t>
                      </a:r>
                      <a:r>
                        <a:rPr sz="700" i="1" spc="-10">
                          <a:solidFill>
                            <a:schemeClr val="tx1"/>
                          </a:solidFill>
                        </a:rPr>
                        <a:t>US$mn</a:t>
                      </a:r>
                      <a:r>
                        <a:rPr sz="700" i="1" spc="500">
                          <a:solidFill>
                            <a:schemeClr val="tx1"/>
                          </a:solidFill>
                        </a:rPr>
                        <a:t> </a:t>
                      </a:r>
                      <a:r>
                        <a:rPr sz="700" i="1">
                          <a:solidFill>
                            <a:schemeClr val="tx1"/>
                          </a:solidFill>
                        </a:rPr>
                        <a:t>unless</a:t>
                      </a:r>
                      <a:r>
                        <a:rPr sz="700" i="1" spc="-25">
                          <a:solidFill>
                            <a:schemeClr val="tx1"/>
                          </a:solidFill>
                        </a:rPr>
                        <a:t> </a:t>
                      </a:r>
                      <a:r>
                        <a:rPr sz="700" i="1" spc="-10">
                          <a:solidFill>
                            <a:schemeClr val="tx1"/>
                          </a:solidFill>
                        </a:rPr>
                        <a:t>specified)</a:t>
                      </a:r>
                      <a:endParaRPr sz="700" i="1">
                        <a:solidFill>
                          <a:schemeClr val="tx1"/>
                        </a:solidFill>
                        <a:latin typeface="Arial"/>
                        <a:cs typeface="Arial"/>
                      </a:endParaRPr>
                    </a:p>
                  </a:txBody>
                  <a:tcPr marL="22289" marR="22289" marT="37148" marB="37148" anchor="ctr">
                    <a:noFill/>
                  </a:tcPr>
                </a:tc>
                <a:tc>
                  <a:txBody>
                    <a:bodyPr/>
                    <a:lstStyle/>
                    <a:p>
                      <a:pPr marL="0" marR="16256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Nanshan Aluminium International</a:t>
                      </a:r>
                    </a:p>
                  </a:txBody>
                  <a:tcPr marL="22289" marR="22289" marT="37148" marB="37148" anchor="ctr">
                    <a:solidFill>
                      <a:srgbClr val="C0FCF5"/>
                    </a:solidFill>
                  </a:tcPr>
                </a:tc>
                <a:tc>
                  <a:txBody>
                    <a:bodyPr/>
                    <a:lstStyle/>
                    <a:p>
                      <a:pPr marL="0" marR="16256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Mirxes</a:t>
                      </a:r>
                    </a:p>
                  </a:txBody>
                  <a:tcPr marL="22289" marR="22289" marT="37148" marB="37148" anchor="ctr">
                    <a:solidFill>
                      <a:srgbClr val="C0FCF5"/>
                    </a:solidFill>
                  </a:tcPr>
                </a:tc>
                <a:tc>
                  <a:txBody>
                    <a:bodyPr/>
                    <a:lstStyle/>
                    <a:p>
                      <a:pPr marL="0" marR="16256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IFBH</a:t>
                      </a:r>
                    </a:p>
                  </a:txBody>
                  <a:tcPr marL="22289" marR="22289" marT="37148" marB="37148" anchor="ctr">
                    <a:solidFill>
                      <a:srgbClr val="C0FCF5"/>
                    </a:solidFill>
                  </a:tcPr>
                </a:tc>
                <a:tc>
                  <a:txBody>
                    <a:bodyPr/>
                    <a:lstStyle/>
                    <a:p>
                      <a:pPr marL="0" marR="16256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Jiaxin International Resources</a:t>
                      </a:r>
                    </a:p>
                  </a:txBody>
                  <a:tcPr marL="22289" marR="22289" marT="37148" marB="37148" anchor="ctr">
                    <a:solidFill>
                      <a:srgbClr val="C0FCF5"/>
                    </a:solidFill>
                  </a:tcPr>
                </a:tc>
                <a:tc>
                  <a:txBody>
                    <a:bodyPr/>
                    <a:lstStyle/>
                    <a:p>
                      <a:pPr marL="0" marR="16256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Zijin SMG International</a:t>
                      </a:r>
                    </a:p>
                  </a:txBody>
                  <a:tcPr marL="22289" marR="22289" marT="37148" marB="37148" anchor="ctr">
                    <a:solidFill>
                      <a:srgbClr val="C0FCF5"/>
                    </a:solidFill>
                  </a:tcPr>
                </a:tc>
                <a:tc>
                  <a:txBody>
                    <a:bodyPr/>
                    <a:lstStyle/>
                    <a:p>
                      <a:pPr marL="0" marR="16256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Softcare</a:t>
                      </a:r>
                    </a:p>
                  </a:txBody>
                  <a:tcPr marL="22289" marR="22289" marT="37148" marB="37148" anchor="ctr">
                    <a:lnR w="57150" cap="flat" cmpd="sng" algn="ctr">
                      <a:solidFill>
                        <a:schemeClr val="bg1"/>
                      </a:solidFill>
                      <a:prstDash val="solid"/>
                      <a:round/>
                      <a:headEnd type="none" w="med" len="med"/>
                      <a:tailEnd type="none" w="med" len="med"/>
                    </a:lnR>
                    <a:solidFill>
                      <a:srgbClr val="C0FCF5"/>
                    </a:solidFill>
                  </a:tcPr>
                </a:tc>
                <a:tc>
                  <a:txBody>
                    <a:bodyPr/>
                    <a:lstStyle/>
                    <a:p>
                      <a:pPr marL="0" marR="16256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Insilico Medicine</a:t>
                      </a:r>
                    </a:p>
                  </a:txBody>
                  <a:tcPr marL="22289" marR="22289" marT="37148" marB="37148" anchor="ctr">
                    <a:lnL w="57150" cap="flat" cmpd="sng" algn="ctr">
                      <a:solidFill>
                        <a:schemeClr val="bg1"/>
                      </a:solidFill>
                      <a:prstDash val="solid"/>
                      <a:round/>
                      <a:headEnd type="none" w="med" len="med"/>
                      <a:tailEnd type="none" w="med" len="med"/>
                    </a:lnL>
                    <a:solidFill>
                      <a:srgbClr val="C0FCF5"/>
                    </a:solidFill>
                  </a:tcPr>
                </a:tc>
                <a:extLst>
                  <a:ext uri="{0D108BD9-81ED-4DB2-BD59-A6C34878D82A}">
                    <a16:rowId xmlns:a16="http://schemas.microsoft.com/office/drawing/2014/main" val="10001"/>
                  </a:ext>
                </a:extLst>
              </a:tr>
              <a:tr h="294747">
                <a:tc>
                  <a:txBody>
                    <a:bodyPr/>
                    <a:lstStyle/>
                    <a:p>
                      <a:pPr marL="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Listing Date</a:t>
                      </a:r>
                    </a:p>
                    <a:p>
                      <a:pPr marL="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(2025)</a:t>
                      </a:r>
                    </a:p>
                  </a:txBody>
                  <a:tcPr marL="22289" marR="22289" marT="37148" marB="37148" anchor="ctr">
                    <a:solidFill>
                      <a:srgbClr val="C0FCF5"/>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25 Mar</a:t>
                      </a:r>
                    </a:p>
                  </a:txBody>
                  <a:tcPr marL="22289" marR="22289" marT="37148" marB="37148" anchor="ctr">
                    <a:solidFill>
                      <a:schemeClr val="bg1"/>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23 May</a:t>
                      </a:r>
                    </a:p>
                  </a:txBody>
                  <a:tcPr marL="22289" marR="22289" marT="37148" marB="37148" anchor="ctr">
                    <a:solidFill>
                      <a:schemeClr val="bg1"/>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30 Jun</a:t>
                      </a:r>
                    </a:p>
                  </a:txBody>
                  <a:tcPr marL="22289" marR="22289" marT="37148" marB="37148" anchor="ctr">
                    <a:solidFill>
                      <a:schemeClr val="bg1"/>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28 Aug</a:t>
                      </a:r>
                    </a:p>
                  </a:txBody>
                  <a:tcPr marL="22289" marR="22289" marT="37148" marB="37148" anchor="ctr">
                    <a:solidFill>
                      <a:schemeClr val="bg1"/>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30 Sep</a:t>
                      </a:r>
                    </a:p>
                  </a:txBody>
                  <a:tcPr marL="22289" marR="22289" marT="37148" marB="37148" anchor="ctr">
                    <a:solidFill>
                      <a:schemeClr val="bg1"/>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10 Nov</a:t>
                      </a:r>
                    </a:p>
                  </a:txBody>
                  <a:tcPr marL="22289" marR="22289" marT="37148" marB="37148" anchor="ctr">
                    <a:solidFill>
                      <a:schemeClr val="bg1"/>
                    </a:solidFill>
                  </a:tcPr>
                </a:tc>
                <a:tc>
                  <a:txBody>
                    <a:bodyPr/>
                    <a:lstStyle/>
                    <a:p>
                      <a:pPr marL="0" indent="0" algn="ctr">
                        <a:lnSpc>
                          <a:spcPct val="100000"/>
                        </a:lnSpc>
                        <a:spcBef>
                          <a:spcPts val="0"/>
                        </a:spcBef>
                      </a:pPr>
                      <a:r>
                        <a:rPr sz="700" spc="-10">
                          <a:solidFill>
                            <a:schemeClr val="tx1"/>
                          </a:solidFill>
                        </a:rPr>
                        <a:t>30</a:t>
                      </a:r>
                      <a:r>
                        <a:rPr sz="700" spc="-45">
                          <a:solidFill>
                            <a:schemeClr val="tx1"/>
                          </a:solidFill>
                        </a:rPr>
                        <a:t> </a:t>
                      </a:r>
                      <a:r>
                        <a:rPr sz="700" spc="-25">
                          <a:solidFill>
                            <a:schemeClr val="tx1"/>
                          </a:solidFill>
                        </a:rPr>
                        <a:t>Dec</a:t>
                      </a:r>
                      <a:endParaRPr sz="700">
                        <a:solidFill>
                          <a:schemeClr val="tx1"/>
                        </a:solidFill>
                        <a:latin typeface="Arial"/>
                        <a:cs typeface="Arial"/>
                      </a:endParaRPr>
                    </a:p>
                  </a:txBody>
                  <a:tcPr marL="22289" marR="22289" marT="37148" marB="37148" anchor="ctr">
                    <a:solidFill>
                      <a:schemeClr val="bg1"/>
                    </a:solidFill>
                  </a:tcPr>
                </a:tc>
                <a:extLst>
                  <a:ext uri="{0D108BD9-81ED-4DB2-BD59-A6C34878D82A}">
                    <a16:rowId xmlns:a16="http://schemas.microsoft.com/office/drawing/2014/main" val="10002"/>
                  </a:ext>
                </a:extLst>
              </a:tr>
              <a:tr h="294747">
                <a:tc>
                  <a:txBody>
                    <a:bodyPr/>
                    <a:lstStyle/>
                    <a:p>
                      <a:pPr marL="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Sector</a:t>
                      </a:r>
                    </a:p>
                  </a:txBody>
                  <a:tcPr marL="22289" marR="22289" marT="37148" marB="37148" anchor="ctr">
                    <a:solidFill>
                      <a:srgbClr val="C0FCF5"/>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Industrials –</a:t>
                      </a:r>
                    </a:p>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Metal &amp; Mining</a:t>
                      </a:r>
                    </a:p>
                  </a:txBody>
                  <a:tcPr marL="22289" marR="22289" marT="37148" marB="37148" anchor="ctr">
                    <a:solidFill>
                      <a:schemeClr val="bg1">
                        <a:lumMod val="95000"/>
                      </a:schemeClr>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Healthcare –</a:t>
                      </a:r>
                    </a:p>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Biotech</a:t>
                      </a:r>
                    </a:p>
                  </a:txBody>
                  <a:tcPr marL="22289" marR="22289" marT="37148" marB="37148" anchor="ctr">
                    <a:solidFill>
                      <a:schemeClr val="bg1">
                        <a:lumMod val="95000"/>
                      </a:schemeClr>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Consumer –</a:t>
                      </a:r>
                    </a:p>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Beverage</a:t>
                      </a:r>
                    </a:p>
                  </a:txBody>
                  <a:tcPr marL="22289" marR="22289" marT="37148" marB="37148" anchor="ctr">
                    <a:solidFill>
                      <a:schemeClr val="bg1">
                        <a:lumMod val="95000"/>
                      </a:schemeClr>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Industrials –</a:t>
                      </a:r>
                    </a:p>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Metal &amp; Mining</a:t>
                      </a:r>
                    </a:p>
                  </a:txBody>
                  <a:tcPr marL="22289" marR="22289" marT="37148" marB="37148" anchor="ctr">
                    <a:solidFill>
                      <a:schemeClr val="bg1">
                        <a:lumMod val="95000"/>
                      </a:schemeClr>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Industrials –</a:t>
                      </a:r>
                    </a:p>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Metal &amp; Mining</a:t>
                      </a:r>
                    </a:p>
                  </a:txBody>
                  <a:tcPr marL="22289" marR="22289" marT="37148" marB="37148" anchor="ctr">
                    <a:solidFill>
                      <a:schemeClr val="bg1">
                        <a:lumMod val="95000"/>
                      </a:schemeClr>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Consumer –</a:t>
                      </a:r>
                    </a:p>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Personal Care</a:t>
                      </a:r>
                    </a:p>
                  </a:txBody>
                  <a:tcPr marL="22289" marR="22289" marT="37148" marB="37148" anchor="ctr">
                    <a:solidFill>
                      <a:schemeClr val="bg1">
                        <a:lumMod val="95000"/>
                      </a:schemeClr>
                    </a:solidFill>
                  </a:tcPr>
                </a:tc>
                <a:tc>
                  <a:txBody>
                    <a:bodyPr/>
                    <a:lstStyle/>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Healthcare –</a:t>
                      </a:r>
                    </a:p>
                    <a:p>
                      <a:pPr marL="0" indent="0" algn="ctr" defTabSz="914400" rtl="0" eaLnBrk="1" latinLnBrk="0" hangingPunct="1">
                        <a:lnSpc>
                          <a:spcPct val="100000"/>
                        </a:lnSpc>
                        <a:spcBef>
                          <a:spcPts val="0"/>
                        </a:spcBef>
                      </a:pPr>
                      <a:r>
                        <a:rPr sz="700" kern="1200" spc="-10">
                          <a:solidFill>
                            <a:schemeClr val="tx1"/>
                          </a:solidFill>
                          <a:latin typeface="+mn-lt"/>
                          <a:ea typeface="+mn-ea"/>
                          <a:cs typeface="+mn-cs"/>
                        </a:rPr>
                        <a:t>Biotech</a:t>
                      </a:r>
                    </a:p>
                  </a:txBody>
                  <a:tcPr marL="22289" marR="22289" marT="37148" marB="37148" anchor="ctr">
                    <a:solidFill>
                      <a:schemeClr val="bg1">
                        <a:lumMod val="95000"/>
                      </a:schemeClr>
                    </a:solidFill>
                  </a:tcPr>
                </a:tc>
                <a:extLst>
                  <a:ext uri="{0D108BD9-81ED-4DB2-BD59-A6C34878D82A}">
                    <a16:rowId xmlns:a16="http://schemas.microsoft.com/office/drawing/2014/main" val="10003"/>
                  </a:ext>
                </a:extLst>
              </a:tr>
              <a:tr h="841298">
                <a:tc>
                  <a:txBody>
                    <a:bodyPr/>
                    <a:lstStyle/>
                    <a:p>
                      <a:pPr marL="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Transaction Highlights</a:t>
                      </a:r>
                    </a:p>
                  </a:txBody>
                  <a:tcPr marL="22289" marR="22289" marT="37148" marB="37148" anchor="ctr">
                    <a:solidFill>
                      <a:srgbClr val="C0FCF5"/>
                    </a:solidFill>
                  </a:tcPr>
                </a:tc>
                <a:tc>
                  <a:txBody>
                    <a:bodyPr/>
                    <a:lstStyle/>
                    <a:p>
                      <a:pPr marL="171450" indent="-171450">
                        <a:lnSpc>
                          <a:spcPct val="100000"/>
                        </a:lnSpc>
                        <a:spcBef>
                          <a:spcPts val="0"/>
                        </a:spcBef>
                        <a:buClr>
                          <a:srgbClr val="C00000"/>
                        </a:buClr>
                        <a:buFont typeface="Wingdings 2" panose="05020102010507070707" pitchFamily="18" charset="2"/>
                        <a:buChar char="¡"/>
                        <a:tabLst>
                          <a:tab pos="60960" algn="l"/>
                        </a:tabLst>
                      </a:pPr>
                      <a:r>
                        <a:rPr sz="700">
                          <a:solidFill>
                            <a:schemeClr val="tx1"/>
                          </a:solidFill>
                        </a:rPr>
                        <a:t>2</a:t>
                      </a:r>
                      <a:r>
                        <a:rPr sz="700" baseline="27777">
                          <a:solidFill>
                            <a:schemeClr val="tx1"/>
                          </a:solidFill>
                        </a:rPr>
                        <a:t>nd</a:t>
                      </a:r>
                      <a:r>
                        <a:rPr sz="700" spc="97" baseline="27777">
                          <a:solidFill>
                            <a:schemeClr val="tx1"/>
                          </a:solidFill>
                        </a:rPr>
                        <a:t> </a:t>
                      </a:r>
                      <a:r>
                        <a:rPr sz="700">
                          <a:solidFill>
                            <a:schemeClr val="tx1"/>
                          </a:solidFill>
                        </a:rPr>
                        <a:t>largest</a:t>
                      </a:r>
                      <a:r>
                        <a:rPr lang="en-US" sz="700">
                          <a:solidFill>
                            <a:schemeClr val="tx1"/>
                          </a:solidFill>
                        </a:rPr>
                        <a:t> </a:t>
                      </a:r>
                      <a:r>
                        <a:rPr sz="700" spc="-10" err="1">
                          <a:solidFill>
                            <a:schemeClr val="tx1"/>
                          </a:solidFill>
                        </a:rPr>
                        <a:t>aluminium</a:t>
                      </a:r>
                      <a:r>
                        <a:rPr lang="en-US" sz="700" spc="-10">
                          <a:solidFill>
                            <a:schemeClr val="tx1"/>
                          </a:solidFill>
                        </a:rPr>
                        <a:t> </a:t>
                      </a:r>
                      <a:r>
                        <a:rPr sz="700">
                          <a:solidFill>
                            <a:schemeClr val="tx1"/>
                          </a:solidFill>
                        </a:rPr>
                        <a:t>producer</a:t>
                      </a:r>
                      <a:r>
                        <a:rPr sz="700" spc="-20">
                          <a:solidFill>
                            <a:schemeClr val="tx1"/>
                          </a:solidFill>
                        </a:rPr>
                        <a:t> </a:t>
                      </a:r>
                      <a:r>
                        <a:rPr sz="700">
                          <a:solidFill>
                            <a:schemeClr val="tx1"/>
                          </a:solidFill>
                        </a:rPr>
                        <a:t>in</a:t>
                      </a:r>
                      <a:r>
                        <a:rPr sz="700" spc="-40">
                          <a:solidFill>
                            <a:schemeClr val="tx1"/>
                          </a:solidFill>
                        </a:rPr>
                        <a:t> </a:t>
                      </a:r>
                      <a:r>
                        <a:rPr sz="700" spc="-20">
                          <a:solidFill>
                            <a:schemeClr val="tx1"/>
                          </a:solidFill>
                        </a:rPr>
                        <a:t>SEA,</a:t>
                      </a:r>
                      <a:r>
                        <a:rPr lang="en-US" sz="700" spc="-20">
                          <a:solidFill>
                            <a:schemeClr val="tx1"/>
                          </a:solidFill>
                        </a:rPr>
                        <a:t> </a:t>
                      </a:r>
                      <a:r>
                        <a:rPr sz="700" spc="-20">
                          <a:solidFill>
                            <a:schemeClr val="tx1"/>
                          </a:solidFill>
                        </a:rPr>
                        <a:t>spun-</a:t>
                      </a:r>
                      <a:r>
                        <a:rPr sz="700">
                          <a:solidFill>
                            <a:schemeClr val="tx1"/>
                          </a:solidFill>
                        </a:rPr>
                        <a:t>off</a:t>
                      </a:r>
                      <a:r>
                        <a:rPr sz="700" spc="65">
                          <a:solidFill>
                            <a:schemeClr val="tx1"/>
                          </a:solidFill>
                        </a:rPr>
                        <a:t> </a:t>
                      </a:r>
                      <a:r>
                        <a:rPr sz="700" spc="-20">
                          <a:solidFill>
                            <a:schemeClr val="tx1"/>
                          </a:solidFill>
                        </a:rPr>
                        <a:t>from</a:t>
                      </a:r>
                      <a:r>
                        <a:rPr lang="en-US" sz="700" spc="-20">
                          <a:solidFill>
                            <a:schemeClr val="tx1"/>
                          </a:solidFill>
                        </a:rPr>
                        <a:t> </a:t>
                      </a:r>
                      <a:r>
                        <a:rPr sz="700" spc="-10">
                          <a:solidFill>
                            <a:schemeClr val="tx1"/>
                          </a:solidFill>
                        </a:rPr>
                        <a:t>Nanshan</a:t>
                      </a:r>
                      <a:r>
                        <a:rPr sz="700" spc="20">
                          <a:solidFill>
                            <a:schemeClr val="tx1"/>
                          </a:solidFill>
                        </a:rPr>
                        <a:t> </a:t>
                      </a:r>
                      <a:r>
                        <a:rPr lang="en-US" sz="700" spc="-10" err="1">
                          <a:solidFill>
                            <a:schemeClr val="tx1"/>
                          </a:solidFill>
                        </a:rPr>
                        <a:t>Aluminium</a:t>
                      </a:r>
                      <a:r>
                        <a:rPr lang="en-US" sz="700" spc="-10">
                          <a:solidFill>
                            <a:schemeClr val="tx1"/>
                          </a:solidFill>
                        </a:rPr>
                        <a:t> </a:t>
                      </a:r>
                      <a:r>
                        <a:rPr sz="700" spc="-10">
                          <a:solidFill>
                            <a:schemeClr val="tx1"/>
                          </a:solidFill>
                        </a:rPr>
                        <a:t>(600219.SH)</a:t>
                      </a:r>
                      <a:endParaRPr sz="700">
                        <a:solidFill>
                          <a:schemeClr val="tx1"/>
                        </a:solidFill>
                        <a:latin typeface="Arial"/>
                        <a:cs typeface="Arial"/>
                      </a:endParaRPr>
                    </a:p>
                  </a:txBody>
                  <a:tcPr marL="22289" marR="22289" marT="37148" marB="37148" anchor="ctr">
                    <a:solidFill>
                      <a:schemeClr val="bg1"/>
                    </a:solidFill>
                  </a:tcPr>
                </a:tc>
                <a:tc>
                  <a:txBody>
                    <a:bodyPr/>
                    <a:lstStyle/>
                    <a:p>
                      <a:pPr marL="177800" marR="10160" indent="-171450">
                        <a:lnSpc>
                          <a:spcPct val="100000"/>
                        </a:lnSpc>
                        <a:spcBef>
                          <a:spcPts val="0"/>
                        </a:spcBef>
                        <a:buClr>
                          <a:srgbClr val="C00000"/>
                        </a:buClr>
                        <a:buFont typeface="Wingdings 2" panose="05020102010507070707" pitchFamily="18" charset="2"/>
                        <a:buChar char="¡"/>
                        <a:tabLst>
                          <a:tab pos="67310" algn="l"/>
                        </a:tabLst>
                      </a:pPr>
                      <a:r>
                        <a:rPr sz="700">
                          <a:solidFill>
                            <a:schemeClr val="tx1"/>
                          </a:solidFill>
                        </a:rPr>
                        <a:t>The</a:t>
                      </a:r>
                      <a:r>
                        <a:rPr sz="700" spc="-10">
                          <a:solidFill>
                            <a:schemeClr val="tx1"/>
                          </a:solidFill>
                        </a:rPr>
                        <a:t> </a:t>
                      </a:r>
                      <a:r>
                        <a:rPr sz="700">
                          <a:solidFill>
                            <a:schemeClr val="tx1"/>
                          </a:solidFill>
                        </a:rPr>
                        <a:t>1</a:t>
                      </a:r>
                      <a:r>
                        <a:rPr sz="700" baseline="27777">
                          <a:solidFill>
                            <a:schemeClr val="tx1"/>
                          </a:solidFill>
                        </a:rPr>
                        <a:t>st</a:t>
                      </a:r>
                      <a:r>
                        <a:rPr sz="700" spc="67" baseline="27777">
                          <a:solidFill>
                            <a:schemeClr val="tx1"/>
                          </a:solidFill>
                        </a:rPr>
                        <a:t> </a:t>
                      </a:r>
                      <a:r>
                        <a:rPr sz="700">
                          <a:solidFill>
                            <a:schemeClr val="tx1"/>
                          </a:solidFill>
                        </a:rPr>
                        <a:t>and</a:t>
                      </a:r>
                      <a:r>
                        <a:rPr sz="700" spc="-5">
                          <a:solidFill>
                            <a:schemeClr val="tx1"/>
                          </a:solidFill>
                        </a:rPr>
                        <a:t> </a:t>
                      </a:r>
                      <a:r>
                        <a:rPr sz="700">
                          <a:solidFill>
                            <a:schemeClr val="tx1"/>
                          </a:solidFill>
                        </a:rPr>
                        <a:t>only</a:t>
                      </a:r>
                      <a:r>
                        <a:rPr sz="700" spc="-10">
                          <a:solidFill>
                            <a:schemeClr val="tx1"/>
                          </a:solidFill>
                        </a:rPr>
                        <a:t> </a:t>
                      </a:r>
                      <a:r>
                        <a:rPr sz="700" spc="-20">
                          <a:solidFill>
                            <a:schemeClr val="tx1"/>
                          </a:solidFill>
                        </a:rPr>
                        <a:t>firm</a:t>
                      </a:r>
                      <a:r>
                        <a:rPr lang="en-US" sz="700" spc="-20">
                          <a:solidFill>
                            <a:schemeClr val="tx1"/>
                          </a:solidFill>
                        </a:rPr>
                        <a:t> </a:t>
                      </a:r>
                      <a:r>
                        <a:rPr sz="700">
                          <a:solidFill>
                            <a:schemeClr val="tx1"/>
                          </a:solidFill>
                        </a:rPr>
                        <a:t>with</a:t>
                      </a:r>
                      <a:r>
                        <a:rPr sz="700" spc="-20">
                          <a:solidFill>
                            <a:schemeClr val="tx1"/>
                          </a:solidFill>
                        </a:rPr>
                        <a:t> </a:t>
                      </a:r>
                      <a:r>
                        <a:rPr sz="700" spc="-10">
                          <a:solidFill>
                            <a:schemeClr val="tx1"/>
                          </a:solidFill>
                        </a:rPr>
                        <a:t>approved</a:t>
                      </a:r>
                      <a:r>
                        <a:rPr sz="700" spc="5">
                          <a:solidFill>
                            <a:schemeClr val="tx1"/>
                          </a:solidFill>
                        </a:rPr>
                        <a:t> </a:t>
                      </a:r>
                      <a:r>
                        <a:rPr sz="700" spc="-25">
                          <a:solidFill>
                            <a:schemeClr val="tx1"/>
                          </a:solidFill>
                        </a:rPr>
                        <a:t>IVD</a:t>
                      </a:r>
                      <a:r>
                        <a:rPr lang="en-US" sz="700" spc="-25">
                          <a:solidFill>
                            <a:schemeClr val="tx1"/>
                          </a:solidFill>
                        </a:rPr>
                        <a:t> </a:t>
                      </a:r>
                      <a:r>
                        <a:rPr sz="700">
                          <a:solidFill>
                            <a:schemeClr val="tx1"/>
                          </a:solidFill>
                        </a:rPr>
                        <a:t>products</a:t>
                      </a:r>
                      <a:r>
                        <a:rPr sz="700" spc="-45">
                          <a:solidFill>
                            <a:schemeClr val="tx1"/>
                          </a:solidFill>
                        </a:rPr>
                        <a:t> </a:t>
                      </a:r>
                      <a:r>
                        <a:rPr sz="700" spc="-25">
                          <a:solidFill>
                            <a:schemeClr val="tx1"/>
                          </a:solidFill>
                        </a:rPr>
                        <a:t>for</a:t>
                      </a:r>
                      <a:r>
                        <a:rPr lang="en-US" sz="700" spc="-25">
                          <a:solidFill>
                            <a:schemeClr val="tx1"/>
                          </a:solidFill>
                        </a:rPr>
                        <a:t> </a:t>
                      </a:r>
                      <a:r>
                        <a:rPr sz="700" spc="-10">
                          <a:solidFill>
                            <a:schemeClr val="tx1"/>
                          </a:solidFill>
                        </a:rPr>
                        <a:t>molecular</a:t>
                      </a:r>
                      <a:r>
                        <a:rPr sz="700" spc="40">
                          <a:solidFill>
                            <a:schemeClr val="tx1"/>
                          </a:solidFill>
                        </a:rPr>
                        <a:t> </a:t>
                      </a:r>
                      <a:r>
                        <a:rPr sz="700" spc="-10">
                          <a:solidFill>
                            <a:schemeClr val="tx1"/>
                          </a:solidFill>
                        </a:rPr>
                        <a:t>gastric</a:t>
                      </a:r>
                      <a:r>
                        <a:rPr lang="en-US" sz="700" spc="500">
                          <a:solidFill>
                            <a:schemeClr val="tx1"/>
                          </a:solidFill>
                        </a:rPr>
                        <a:t> </a:t>
                      </a:r>
                      <a:r>
                        <a:rPr sz="700">
                          <a:solidFill>
                            <a:schemeClr val="tx1"/>
                          </a:solidFill>
                        </a:rPr>
                        <a:t>cancer</a:t>
                      </a:r>
                      <a:r>
                        <a:rPr sz="700" spc="-30">
                          <a:solidFill>
                            <a:schemeClr val="tx1"/>
                          </a:solidFill>
                        </a:rPr>
                        <a:t> </a:t>
                      </a:r>
                      <a:r>
                        <a:rPr sz="700" spc="-10">
                          <a:solidFill>
                            <a:schemeClr val="tx1"/>
                          </a:solidFill>
                        </a:rPr>
                        <a:t>screening</a:t>
                      </a:r>
                      <a:endParaRPr sz="700">
                        <a:solidFill>
                          <a:schemeClr val="tx1"/>
                        </a:solidFill>
                        <a:latin typeface="Arial"/>
                        <a:cs typeface="Arial"/>
                      </a:endParaRPr>
                    </a:p>
                  </a:txBody>
                  <a:tcPr marL="22289" marR="22289" marT="37148" marB="37148" anchor="ctr">
                    <a:solidFill>
                      <a:schemeClr val="bg1"/>
                    </a:solidFill>
                  </a:tcPr>
                </a:tc>
                <a:tc>
                  <a:txBody>
                    <a:bodyPr/>
                    <a:lstStyle/>
                    <a:p>
                      <a:pPr marL="189230" indent="-171450">
                        <a:lnSpc>
                          <a:spcPct val="100000"/>
                        </a:lnSpc>
                        <a:spcBef>
                          <a:spcPts val="0"/>
                        </a:spcBef>
                        <a:buClr>
                          <a:srgbClr val="C00000"/>
                        </a:buClr>
                        <a:buFont typeface="Wingdings 2" panose="05020102010507070707" pitchFamily="18" charset="2"/>
                        <a:buChar char="¡"/>
                        <a:tabLst>
                          <a:tab pos="78740" algn="l"/>
                        </a:tabLst>
                      </a:pPr>
                      <a:r>
                        <a:rPr sz="700">
                          <a:solidFill>
                            <a:schemeClr val="tx1"/>
                          </a:solidFill>
                        </a:rPr>
                        <a:t>2</a:t>
                      </a:r>
                      <a:r>
                        <a:rPr sz="700" baseline="27777">
                          <a:solidFill>
                            <a:schemeClr val="tx1"/>
                          </a:solidFill>
                        </a:rPr>
                        <a:t>nd</a:t>
                      </a:r>
                      <a:r>
                        <a:rPr sz="700" spc="97" baseline="27777">
                          <a:solidFill>
                            <a:schemeClr val="tx1"/>
                          </a:solidFill>
                        </a:rPr>
                        <a:t> </a:t>
                      </a:r>
                      <a:r>
                        <a:rPr sz="700">
                          <a:solidFill>
                            <a:schemeClr val="tx1"/>
                          </a:solidFill>
                        </a:rPr>
                        <a:t>largest</a:t>
                      </a:r>
                      <a:r>
                        <a:rPr sz="700" spc="-10">
                          <a:solidFill>
                            <a:schemeClr val="tx1"/>
                          </a:solidFill>
                        </a:rPr>
                        <a:t> coconut</a:t>
                      </a:r>
                      <a:r>
                        <a:rPr lang="en-US" sz="700" spc="-10">
                          <a:solidFill>
                            <a:schemeClr val="tx1"/>
                          </a:solidFill>
                        </a:rPr>
                        <a:t> </a:t>
                      </a:r>
                      <a:r>
                        <a:rPr sz="700">
                          <a:solidFill>
                            <a:schemeClr val="tx1"/>
                          </a:solidFill>
                        </a:rPr>
                        <a:t>water</a:t>
                      </a:r>
                      <a:r>
                        <a:rPr sz="700" spc="-25">
                          <a:solidFill>
                            <a:schemeClr val="tx1"/>
                          </a:solidFill>
                        </a:rPr>
                        <a:t> </a:t>
                      </a:r>
                      <a:r>
                        <a:rPr sz="700">
                          <a:solidFill>
                            <a:schemeClr val="tx1"/>
                          </a:solidFill>
                        </a:rPr>
                        <a:t>player</a:t>
                      </a:r>
                      <a:r>
                        <a:rPr sz="700" spc="-30">
                          <a:solidFill>
                            <a:schemeClr val="tx1"/>
                          </a:solidFill>
                        </a:rPr>
                        <a:t> </a:t>
                      </a:r>
                      <a:r>
                        <a:rPr lang="en-US" sz="700" spc="-30">
                          <a:solidFill>
                            <a:schemeClr val="tx1"/>
                          </a:solidFill>
                        </a:rPr>
                        <a:t> </a:t>
                      </a:r>
                      <a:r>
                        <a:rPr lang="en-US" sz="700" spc="-10">
                          <a:solidFill>
                            <a:schemeClr val="tx1"/>
                          </a:solidFill>
                        </a:rPr>
                        <a:t>g</a:t>
                      </a:r>
                      <a:r>
                        <a:rPr sz="700" spc="-10">
                          <a:solidFill>
                            <a:schemeClr val="tx1"/>
                          </a:solidFill>
                        </a:rPr>
                        <a:t>lobally</a:t>
                      </a:r>
                      <a:r>
                        <a:rPr lang="en-US" sz="700" spc="-10">
                          <a:solidFill>
                            <a:schemeClr val="tx1"/>
                          </a:solidFill>
                        </a:rPr>
                        <a:t>, </a:t>
                      </a:r>
                      <a:r>
                        <a:rPr lang="en-US" sz="700">
                          <a:solidFill>
                            <a:schemeClr val="tx1"/>
                          </a:solidFill>
                        </a:rPr>
                        <a:t>m</a:t>
                      </a:r>
                      <a:r>
                        <a:rPr sz="700">
                          <a:solidFill>
                            <a:schemeClr val="tx1"/>
                          </a:solidFill>
                        </a:rPr>
                        <a:t>arket</a:t>
                      </a:r>
                      <a:r>
                        <a:rPr sz="700" spc="-40">
                          <a:solidFill>
                            <a:schemeClr val="tx1"/>
                          </a:solidFill>
                        </a:rPr>
                        <a:t> </a:t>
                      </a:r>
                      <a:r>
                        <a:rPr sz="700">
                          <a:solidFill>
                            <a:schemeClr val="tx1"/>
                          </a:solidFill>
                        </a:rPr>
                        <a:t>leader</a:t>
                      </a:r>
                      <a:r>
                        <a:rPr sz="700" spc="-25">
                          <a:solidFill>
                            <a:schemeClr val="tx1"/>
                          </a:solidFill>
                        </a:rPr>
                        <a:t> in</a:t>
                      </a:r>
                      <a:r>
                        <a:rPr lang="en-US" sz="700" spc="-25">
                          <a:solidFill>
                            <a:schemeClr val="tx1"/>
                          </a:solidFill>
                        </a:rPr>
                        <a:t> </a:t>
                      </a:r>
                      <a:r>
                        <a:rPr sz="700">
                          <a:solidFill>
                            <a:schemeClr val="tx1"/>
                          </a:solidFill>
                        </a:rPr>
                        <a:t>Hong</a:t>
                      </a:r>
                      <a:r>
                        <a:rPr lang="en-US" sz="700">
                          <a:solidFill>
                            <a:schemeClr val="tx1"/>
                          </a:solidFill>
                        </a:rPr>
                        <a:t> </a:t>
                      </a:r>
                      <a:r>
                        <a:rPr sz="700">
                          <a:solidFill>
                            <a:schemeClr val="tx1"/>
                          </a:solidFill>
                        </a:rPr>
                        <a:t>Kong</a:t>
                      </a:r>
                      <a:r>
                        <a:rPr sz="700" spc="-15">
                          <a:solidFill>
                            <a:schemeClr val="tx1"/>
                          </a:solidFill>
                        </a:rPr>
                        <a:t> </a:t>
                      </a:r>
                      <a:r>
                        <a:rPr sz="700">
                          <a:solidFill>
                            <a:schemeClr val="tx1"/>
                          </a:solidFill>
                        </a:rPr>
                        <a:t>/</a:t>
                      </a:r>
                      <a:r>
                        <a:rPr sz="700" spc="-30">
                          <a:solidFill>
                            <a:schemeClr val="tx1"/>
                          </a:solidFill>
                        </a:rPr>
                        <a:t> </a:t>
                      </a:r>
                      <a:r>
                        <a:rPr sz="700" spc="-10">
                          <a:solidFill>
                            <a:schemeClr val="tx1"/>
                          </a:solidFill>
                        </a:rPr>
                        <a:t>China</a:t>
                      </a:r>
                      <a:endParaRPr sz="700">
                        <a:solidFill>
                          <a:schemeClr val="tx1"/>
                        </a:solidFill>
                        <a:latin typeface="Arial"/>
                        <a:cs typeface="Arial"/>
                      </a:endParaRPr>
                    </a:p>
                  </a:txBody>
                  <a:tcPr marL="22289" marR="22289" marT="37148" marB="37148" anchor="ctr">
                    <a:solidFill>
                      <a:schemeClr val="bg1"/>
                    </a:solidFill>
                  </a:tcPr>
                </a:tc>
                <a:tc>
                  <a:txBody>
                    <a:bodyPr/>
                    <a:lstStyle/>
                    <a:p>
                      <a:pPr marL="175260" marR="5715" indent="-171450">
                        <a:lnSpc>
                          <a:spcPct val="100000"/>
                        </a:lnSpc>
                        <a:spcBef>
                          <a:spcPts val="0"/>
                        </a:spcBef>
                        <a:buClr>
                          <a:srgbClr val="C00000"/>
                        </a:buClr>
                        <a:buFont typeface="Wingdings 2" panose="05020102010507070707" pitchFamily="18" charset="2"/>
                        <a:buChar char="¡"/>
                        <a:tabLst>
                          <a:tab pos="64769" algn="l"/>
                        </a:tabLst>
                      </a:pPr>
                      <a:r>
                        <a:rPr sz="700" spc="-10">
                          <a:solidFill>
                            <a:schemeClr val="tx1"/>
                          </a:solidFill>
                        </a:rPr>
                        <a:t>Tungsten</a:t>
                      </a:r>
                      <a:r>
                        <a:rPr sz="700" spc="25">
                          <a:solidFill>
                            <a:schemeClr val="tx1"/>
                          </a:solidFill>
                        </a:rPr>
                        <a:t> </a:t>
                      </a:r>
                      <a:r>
                        <a:rPr sz="700" spc="-10">
                          <a:solidFill>
                            <a:schemeClr val="tx1"/>
                          </a:solidFill>
                        </a:rPr>
                        <a:t>mining</a:t>
                      </a:r>
                      <a:r>
                        <a:rPr sz="700" spc="500">
                          <a:solidFill>
                            <a:schemeClr val="tx1"/>
                          </a:solidFill>
                        </a:rPr>
                        <a:t> </a:t>
                      </a:r>
                      <a:r>
                        <a:rPr sz="700" spc="-10">
                          <a:solidFill>
                            <a:schemeClr val="tx1"/>
                          </a:solidFill>
                        </a:rPr>
                        <a:t>company</a:t>
                      </a:r>
                      <a:r>
                        <a:rPr lang="en-US" sz="700" spc="-10">
                          <a:solidFill>
                            <a:schemeClr val="tx1"/>
                          </a:solidFill>
                        </a:rPr>
                        <a:t> d</a:t>
                      </a:r>
                      <a:r>
                        <a:rPr sz="700" spc="-10">
                          <a:solidFill>
                            <a:schemeClr val="tx1"/>
                          </a:solidFill>
                        </a:rPr>
                        <a:t>eveloping</a:t>
                      </a:r>
                      <a:r>
                        <a:rPr lang="en-US" sz="700" spc="500">
                          <a:solidFill>
                            <a:schemeClr val="tx1"/>
                          </a:solidFill>
                        </a:rPr>
                        <a:t> </a:t>
                      </a:r>
                      <a:r>
                        <a:rPr sz="700">
                          <a:solidFill>
                            <a:schemeClr val="tx1"/>
                          </a:solidFill>
                        </a:rPr>
                        <a:t>the</a:t>
                      </a:r>
                      <a:r>
                        <a:rPr sz="700" spc="-30">
                          <a:solidFill>
                            <a:schemeClr val="tx1"/>
                          </a:solidFill>
                        </a:rPr>
                        <a:t> </a:t>
                      </a:r>
                      <a:r>
                        <a:rPr sz="700">
                          <a:solidFill>
                            <a:schemeClr val="tx1"/>
                          </a:solidFill>
                        </a:rPr>
                        <a:t>Boguty</a:t>
                      </a:r>
                      <a:r>
                        <a:rPr sz="700" spc="-30">
                          <a:solidFill>
                            <a:schemeClr val="tx1"/>
                          </a:solidFill>
                        </a:rPr>
                        <a:t> </a:t>
                      </a:r>
                      <a:r>
                        <a:rPr sz="700" spc="-10">
                          <a:solidFill>
                            <a:schemeClr val="tx1"/>
                          </a:solidFill>
                        </a:rPr>
                        <a:t>Project,</a:t>
                      </a:r>
                      <a:r>
                        <a:rPr lang="en-US" sz="700" spc="-10">
                          <a:solidFill>
                            <a:schemeClr val="tx1"/>
                          </a:solidFill>
                        </a:rPr>
                        <a:t> </a:t>
                      </a:r>
                      <a:r>
                        <a:rPr sz="700">
                          <a:solidFill>
                            <a:schemeClr val="tx1"/>
                          </a:solidFill>
                        </a:rPr>
                        <a:t>world’s</a:t>
                      </a:r>
                      <a:r>
                        <a:rPr sz="700" spc="-45">
                          <a:solidFill>
                            <a:schemeClr val="tx1"/>
                          </a:solidFill>
                        </a:rPr>
                        <a:t> </a:t>
                      </a:r>
                      <a:r>
                        <a:rPr sz="700">
                          <a:solidFill>
                            <a:schemeClr val="tx1"/>
                          </a:solidFill>
                        </a:rPr>
                        <a:t>largest</a:t>
                      </a:r>
                      <a:r>
                        <a:rPr sz="700" spc="-45">
                          <a:solidFill>
                            <a:schemeClr val="tx1"/>
                          </a:solidFill>
                        </a:rPr>
                        <a:t> </a:t>
                      </a:r>
                      <a:r>
                        <a:rPr sz="700" spc="-10">
                          <a:solidFill>
                            <a:schemeClr val="tx1"/>
                          </a:solidFill>
                        </a:rPr>
                        <a:t>open-</a:t>
                      </a:r>
                      <a:r>
                        <a:rPr lang="en-US" sz="700">
                          <a:solidFill>
                            <a:schemeClr val="tx1"/>
                          </a:solidFill>
                        </a:rPr>
                        <a:t>p</a:t>
                      </a:r>
                      <a:r>
                        <a:rPr sz="700">
                          <a:solidFill>
                            <a:schemeClr val="tx1"/>
                          </a:solidFill>
                        </a:rPr>
                        <a:t>it</a:t>
                      </a:r>
                      <a:r>
                        <a:rPr sz="700" spc="-15">
                          <a:solidFill>
                            <a:schemeClr val="tx1"/>
                          </a:solidFill>
                        </a:rPr>
                        <a:t> </a:t>
                      </a:r>
                      <a:r>
                        <a:rPr sz="700" spc="-10">
                          <a:solidFill>
                            <a:schemeClr val="tx1"/>
                          </a:solidFill>
                        </a:rPr>
                        <a:t>tungsten</a:t>
                      </a:r>
                      <a:r>
                        <a:rPr sz="700" spc="20">
                          <a:solidFill>
                            <a:schemeClr val="tx1"/>
                          </a:solidFill>
                        </a:rPr>
                        <a:t> </a:t>
                      </a:r>
                      <a:r>
                        <a:rPr sz="700" spc="-20">
                          <a:solidFill>
                            <a:schemeClr val="tx1"/>
                          </a:solidFill>
                        </a:rPr>
                        <a:t>mine</a:t>
                      </a:r>
                      <a:endParaRPr sz="700">
                        <a:solidFill>
                          <a:schemeClr val="tx1"/>
                        </a:solidFill>
                        <a:latin typeface="Arial"/>
                        <a:cs typeface="Arial"/>
                      </a:endParaRPr>
                    </a:p>
                  </a:txBody>
                  <a:tcPr marL="22289" marR="22289" marT="37148" marB="37148" anchor="ctr">
                    <a:solidFill>
                      <a:schemeClr val="bg1"/>
                    </a:solidFill>
                  </a:tcPr>
                </a:tc>
                <a:tc>
                  <a:txBody>
                    <a:bodyPr/>
                    <a:lstStyle/>
                    <a:p>
                      <a:pPr marL="184785" indent="-171450">
                        <a:lnSpc>
                          <a:spcPct val="100000"/>
                        </a:lnSpc>
                        <a:spcBef>
                          <a:spcPts val="0"/>
                        </a:spcBef>
                        <a:buClr>
                          <a:srgbClr val="C00000"/>
                        </a:buClr>
                        <a:buFont typeface="Wingdings 2" panose="05020102010507070707" pitchFamily="18" charset="2"/>
                        <a:buChar char="¡"/>
                        <a:tabLst>
                          <a:tab pos="74295" algn="l"/>
                        </a:tabLst>
                      </a:pPr>
                      <a:r>
                        <a:rPr sz="700">
                          <a:solidFill>
                            <a:schemeClr val="tx1"/>
                          </a:solidFill>
                        </a:rPr>
                        <a:t>Leading</a:t>
                      </a:r>
                      <a:r>
                        <a:rPr sz="700" spc="-30">
                          <a:solidFill>
                            <a:schemeClr val="tx1"/>
                          </a:solidFill>
                        </a:rPr>
                        <a:t> </a:t>
                      </a:r>
                      <a:r>
                        <a:rPr lang="en-US" sz="700">
                          <a:solidFill>
                            <a:schemeClr val="tx1"/>
                          </a:solidFill>
                        </a:rPr>
                        <a:t>SMG </a:t>
                      </a:r>
                      <a:r>
                        <a:rPr sz="700" spc="-10">
                          <a:solidFill>
                            <a:schemeClr val="tx1"/>
                          </a:solidFill>
                        </a:rPr>
                        <a:t>minin</a:t>
                      </a:r>
                      <a:r>
                        <a:rPr lang="en-US" sz="700" spc="-10">
                          <a:solidFill>
                            <a:schemeClr val="tx1"/>
                          </a:solidFill>
                        </a:rPr>
                        <a:t>g </a:t>
                      </a:r>
                      <a:r>
                        <a:rPr sz="700" spc="-10">
                          <a:solidFill>
                            <a:schemeClr val="tx1"/>
                          </a:solidFill>
                        </a:rPr>
                        <a:t>company,</a:t>
                      </a:r>
                      <a:r>
                        <a:rPr sz="700" spc="25">
                          <a:solidFill>
                            <a:schemeClr val="tx1"/>
                          </a:solidFill>
                        </a:rPr>
                        <a:t> </a:t>
                      </a:r>
                      <a:r>
                        <a:rPr sz="700" spc="-10">
                          <a:solidFill>
                            <a:schemeClr val="tx1"/>
                          </a:solidFill>
                        </a:rPr>
                        <a:t>formed</a:t>
                      </a:r>
                      <a:r>
                        <a:rPr lang="en-US" sz="700" spc="-10">
                          <a:solidFill>
                            <a:schemeClr val="tx1"/>
                          </a:solidFill>
                        </a:rPr>
                        <a:t> </a:t>
                      </a:r>
                      <a:r>
                        <a:rPr sz="700" spc="-10">
                          <a:solidFill>
                            <a:schemeClr val="tx1"/>
                          </a:solidFill>
                        </a:rPr>
                        <a:t>through</a:t>
                      </a:r>
                      <a:r>
                        <a:rPr sz="700" spc="20">
                          <a:solidFill>
                            <a:schemeClr val="tx1"/>
                          </a:solidFill>
                        </a:rPr>
                        <a:t> </a:t>
                      </a:r>
                      <a:r>
                        <a:rPr sz="700" spc="-10">
                          <a:solidFill>
                            <a:schemeClr val="tx1"/>
                          </a:solidFill>
                        </a:rPr>
                        <a:t>consolidating</a:t>
                      </a:r>
                      <a:r>
                        <a:rPr lang="en-US" sz="700" spc="-10">
                          <a:solidFill>
                            <a:schemeClr val="tx1"/>
                          </a:solidFill>
                        </a:rPr>
                        <a:t> </a:t>
                      </a:r>
                      <a:r>
                        <a:rPr sz="700">
                          <a:solidFill>
                            <a:schemeClr val="tx1"/>
                          </a:solidFill>
                        </a:rPr>
                        <a:t>Zijin</a:t>
                      </a:r>
                      <a:r>
                        <a:rPr sz="700" spc="-45">
                          <a:solidFill>
                            <a:schemeClr val="tx1"/>
                          </a:solidFill>
                        </a:rPr>
                        <a:t> </a:t>
                      </a:r>
                      <a:r>
                        <a:rPr sz="700">
                          <a:solidFill>
                            <a:schemeClr val="tx1"/>
                          </a:solidFill>
                        </a:rPr>
                        <a:t>Mining’s</a:t>
                      </a:r>
                      <a:r>
                        <a:rPr sz="700" spc="-25">
                          <a:solidFill>
                            <a:schemeClr val="tx1"/>
                          </a:solidFill>
                        </a:rPr>
                        <a:t> </a:t>
                      </a:r>
                      <a:r>
                        <a:rPr sz="700" spc="-10">
                          <a:solidFill>
                            <a:schemeClr val="tx1"/>
                          </a:solidFill>
                        </a:rPr>
                        <a:t>over-</a:t>
                      </a:r>
                      <a:r>
                        <a:rPr sz="700">
                          <a:solidFill>
                            <a:schemeClr val="tx1"/>
                          </a:solidFill>
                        </a:rPr>
                        <a:t>seas</a:t>
                      </a:r>
                      <a:r>
                        <a:rPr sz="700" spc="-25">
                          <a:solidFill>
                            <a:schemeClr val="tx1"/>
                          </a:solidFill>
                        </a:rPr>
                        <a:t> </a:t>
                      </a:r>
                      <a:r>
                        <a:rPr lang="en-US" sz="700">
                          <a:solidFill>
                            <a:schemeClr val="tx1"/>
                          </a:solidFill>
                        </a:rPr>
                        <a:t>SMG</a:t>
                      </a:r>
                      <a:r>
                        <a:rPr sz="700" spc="-20">
                          <a:solidFill>
                            <a:schemeClr val="tx1"/>
                          </a:solidFill>
                        </a:rPr>
                        <a:t> </a:t>
                      </a:r>
                      <a:r>
                        <a:rPr sz="700" spc="-10">
                          <a:solidFill>
                            <a:schemeClr val="tx1"/>
                          </a:solidFill>
                        </a:rPr>
                        <a:t>assets</a:t>
                      </a:r>
                      <a:endParaRPr sz="700">
                        <a:solidFill>
                          <a:schemeClr val="tx1"/>
                        </a:solidFill>
                        <a:latin typeface="Arial"/>
                        <a:cs typeface="Arial"/>
                      </a:endParaRPr>
                    </a:p>
                  </a:txBody>
                  <a:tcPr marL="22289" marR="22289" marT="37148" marB="37148" anchor="ctr">
                    <a:solidFill>
                      <a:schemeClr val="bg1"/>
                    </a:solidFill>
                  </a:tcPr>
                </a:tc>
                <a:tc>
                  <a:txBody>
                    <a:bodyPr/>
                    <a:lstStyle/>
                    <a:p>
                      <a:pPr marL="172720" marR="43180" indent="-171450">
                        <a:lnSpc>
                          <a:spcPct val="100000"/>
                        </a:lnSpc>
                        <a:spcBef>
                          <a:spcPts val="0"/>
                        </a:spcBef>
                        <a:buClr>
                          <a:srgbClr val="C00000"/>
                        </a:buClr>
                        <a:buFont typeface="Wingdings 2" panose="05020102010507070707" pitchFamily="18" charset="2"/>
                        <a:buChar char="¡"/>
                        <a:tabLst>
                          <a:tab pos="62230" algn="l"/>
                        </a:tabLst>
                      </a:pPr>
                      <a:r>
                        <a:rPr sz="700">
                          <a:solidFill>
                            <a:schemeClr val="tx1"/>
                          </a:solidFill>
                        </a:rPr>
                        <a:t>1</a:t>
                      </a:r>
                      <a:r>
                        <a:rPr sz="700" baseline="27777">
                          <a:solidFill>
                            <a:schemeClr val="tx1"/>
                          </a:solidFill>
                        </a:rPr>
                        <a:t>st</a:t>
                      </a:r>
                      <a:r>
                        <a:rPr sz="700" spc="135" baseline="27777">
                          <a:solidFill>
                            <a:schemeClr val="tx1"/>
                          </a:solidFill>
                        </a:rPr>
                        <a:t> </a:t>
                      </a:r>
                      <a:r>
                        <a:rPr sz="700" spc="-10">
                          <a:solidFill>
                            <a:schemeClr val="tx1"/>
                          </a:solidFill>
                        </a:rPr>
                        <a:t>Dubai-</a:t>
                      </a:r>
                      <a:r>
                        <a:rPr sz="700" spc="-25">
                          <a:solidFill>
                            <a:schemeClr val="tx1"/>
                          </a:solidFill>
                        </a:rPr>
                        <a:t>H</a:t>
                      </a:r>
                      <a:r>
                        <a:rPr lang="en-US" sz="700" spc="-25">
                          <a:solidFill>
                            <a:schemeClr val="tx1"/>
                          </a:solidFill>
                        </a:rPr>
                        <a:t>Q </a:t>
                      </a:r>
                      <a:r>
                        <a:rPr sz="700" spc="-10">
                          <a:solidFill>
                            <a:schemeClr val="tx1"/>
                          </a:solidFill>
                        </a:rPr>
                        <a:t>company</a:t>
                      </a:r>
                      <a:r>
                        <a:rPr sz="700" spc="10">
                          <a:solidFill>
                            <a:schemeClr val="tx1"/>
                          </a:solidFill>
                        </a:rPr>
                        <a:t> </a:t>
                      </a:r>
                      <a:r>
                        <a:rPr sz="700" spc="-20">
                          <a:solidFill>
                            <a:schemeClr val="tx1"/>
                          </a:solidFill>
                        </a:rPr>
                        <a:t>with</a:t>
                      </a:r>
                      <a:r>
                        <a:rPr lang="en-US" sz="700" spc="-20">
                          <a:solidFill>
                            <a:schemeClr val="tx1"/>
                          </a:solidFill>
                        </a:rPr>
                        <a:t> </a:t>
                      </a:r>
                      <a:r>
                        <a:rPr sz="700" spc="-10">
                          <a:solidFill>
                            <a:schemeClr val="tx1"/>
                          </a:solidFill>
                        </a:rPr>
                        <a:t>significant</a:t>
                      </a:r>
                      <a:r>
                        <a:rPr sz="700" spc="45">
                          <a:solidFill>
                            <a:schemeClr val="tx1"/>
                          </a:solidFill>
                        </a:rPr>
                        <a:t> </a:t>
                      </a:r>
                      <a:r>
                        <a:rPr sz="700" spc="-20">
                          <a:solidFill>
                            <a:schemeClr val="tx1"/>
                          </a:solidFill>
                        </a:rPr>
                        <a:t>MENA</a:t>
                      </a:r>
                      <a:r>
                        <a:rPr lang="en-US" sz="700" spc="-20">
                          <a:solidFill>
                            <a:schemeClr val="tx1"/>
                          </a:solidFill>
                        </a:rPr>
                        <a:t> </a:t>
                      </a:r>
                      <a:r>
                        <a:rPr sz="700">
                          <a:solidFill>
                            <a:schemeClr val="tx1"/>
                          </a:solidFill>
                        </a:rPr>
                        <a:t>business</a:t>
                      </a:r>
                      <a:r>
                        <a:rPr lang="en-US" sz="700">
                          <a:solidFill>
                            <a:schemeClr val="tx1"/>
                          </a:solidFill>
                        </a:rPr>
                        <a:t> </a:t>
                      </a:r>
                      <a:r>
                        <a:rPr sz="700" spc="-10">
                          <a:solidFill>
                            <a:schemeClr val="tx1"/>
                          </a:solidFill>
                        </a:rPr>
                        <a:t>exposure</a:t>
                      </a:r>
                      <a:r>
                        <a:rPr lang="en-US" sz="700" spc="-10">
                          <a:solidFill>
                            <a:schemeClr val="tx1"/>
                          </a:solidFill>
                        </a:rPr>
                        <a:t> </a:t>
                      </a:r>
                      <a:r>
                        <a:rPr sz="700" spc="-10" err="1">
                          <a:solidFill>
                            <a:schemeClr val="tx1"/>
                          </a:solidFill>
                        </a:rPr>
                        <a:t>specialising</a:t>
                      </a:r>
                      <a:r>
                        <a:rPr sz="700" spc="60">
                          <a:solidFill>
                            <a:schemeClr val="tx1"/>
                          </a:solidFill>
                        </a:rPr>
                        <a:t> </a:t>
                      </a:r>
                      <a:r>
                        <a:rPr sz="700" spc="-25">
                          <a:solidFill>
                            <a:schemeClr val="tx1"/>
                          </a:solidFill>
                        </a:rPr>
                        <a:t>in</a:t>
                      </a:r>
                      <a:r>
                        <a:rPr lang="en-US" sz="700" spc="-25">
                          <a:solidFill>
                            <a:schemeClr val="tx1"/>
                          </a:solidFill>
                        </a:rPr>
                        <a:t> </a:t>
                      </a:r>
                      <a:r>
                        <a:rPr sz="700" spc="-10">
                          <a:solidFill>
                            <a:schemeClr val="tx1"/>
                          </a:solidFill>
                        </a:rPr>
                        <a:t>hygiene</a:t>
                      </a:r>
                      <a:r>
                        <a:rPr sz="700" spc="20">
                          <a:solidFill>
                            <a:schemeClr val="tx1"/>
                          </a:solidFill>
                        </a:rPr>
                        <a:t> </a:t>
                      </a:r>
                      <a:r>
                        <a:rPr sz="700" spc="-10">
                          <a:solidFill>
                            <a:schemeClr val="tx1"/>
                          </a:solidFill>
                        </a:rPr>
                        <a:t>products</a:t>
                      </a:r>
                      <a:endParaRPr sz="700">
                        <a:solidFill>
                          <a:schemeClr val="tx1"/>
                        </a:solidFill>
                        <a:latin typeface="Arial"/>
                        <a:cs typeface="Arial"/>
                      </a:endParaRPr>
                    </a:p>
                  </a:txBody>
                  <a:tcPr marL="22289" marR="22289" marT="37148" marB="37148" anchor="ctr">
                    <a:solidFill>
                      <a:schemeClr val="bg1"/>
                    </a:solidFill>
                  </a:tcPr>
                </a:tc>
                <a:tc>
                  <a:txBody>
                    <a:bodyPr/>
                    <a:lstStyle/>
                    <a:p>
                      <a:pPr marL="222249" marR="12700" indent="-171450">
                        <a:lnSpc>
                          <a:spcPct val="100000"/>
                        </a:lnSpc>
                        <a:spcBef>
                          <a:spcPts val="0"/>
                        </a:spcBef>
                        <a:buClr>
                          <a:srgbClr val="C00000"/>
                        </a:buClr>
                        <a:buFont typeface="Wingdings 2" panose="05020102010507070707" pitchFamily="18" charset="2"/>
                        <a:buChar char="¡"/>
                        <a:tabLst>
                          <a:tab pos="111760" algn="l"/>
                        </a:tabLst>
                      </a:pPr>
                      <a:r>
                        <a:rPr sz="700" spc="-10">
                          <a:solidFill>
                            <a:schemeClr val="tx1"/>
                          </a:solidFill>
                        </a:rPr>
                        <a:t>AI-powered</a:t>
                      </a:r>
                      <a:r>
                        <a:rPr sz="700" spc="40">
                          <a:solidFill>
                            <a:schemeClr val="tx1"/>
                          </a:solidFill>
                        </a:rPr>
                        <a:t> </a:t>
                      </a:r>
                      <a:r>
                        <a:rPr sz="700" spc="-10">
                          <a:solidFill>
                            <a:schemeClr val="tx1"/>
                          </a:solidFill>
                        </a:rPr>
                        <a:t>biotech</a:t>
                      </a:r>
                      <a:r>
                        <a:rPr lang="en-US" sz="700" spc="500">
                          <a:solidFill>
                            <a:schemeClr val="tx1"/>
                          </a:solidFill>
                        </a:rPr>
                        <a:t> </a:t>
                      </a:r>
                      <a:r>
                        <a:rPr sz="700" spc="-10">
                          <a:solidFill>
                            <a:schemeClr val="tx1"/>
                          </a:solidFill>
                        </a:rPr>
                        <a:t>focused</a:t>
                      </a:r>
                      <a:r>
                        <a:rPr sz="700">
                          <a:solidFill>
                            <a:schemeClr val="tx1"/>
                          </a:solidFill>
                        </a:rPr>
                        <a:t> on</a:t>
                      </a:r>
                      <a:r>
                        <a:rPr sz="700" spc="-5">
                          <a:solidFill>
                            <a:schemeClr val="tx1"/>
                          </a:solidFill>
                        </a:rPr>
                        <a:t> </a:t>
                      </a:r>
                      <a:r>
                        <a:rPr sz="700" spc="-20">
                          <a:solidFill>
                            <a:schemeClr val="tx1"/>
                          </a:solidFill>
                        </a:rPr>
                        <a:t>drug</a:t>
                      </a:r>
                      <a:r>
                        <a:rPr lang="en-US" sz="700" spc="-20">
                          <a:solidFill>
                            <a:schemeClr val="tx1"/>
                          </a:solidFill>
                        </a:rPr>
                        <a:t> </a:t>
                      </a:r>
                      <a:r>
                        <a:rPr sz="700">
                          <a:solidFill>
                            <a:schemeClr val="tx1"/>
                          </a:solidFill>
                        </a:rPr>
                        <a:t>discovery</a:t>
                      </a:r>
                      <a:r>
                        <a:rPr sz="700" spc="-35">
                          <a:solidFill>
                            <a:schemeClr val="tx1"/>
                          </a:solidFill>
                        </a:rPr>
                        <a:t> </a:t>
                      </a:r>
                      <a:r>
                        <a:rPr sz="700" spc="-25">
                          <a:solidFill>
                            <a:schemeClr val="tx1"/>
                          </a:solidFill>
                        </a:rPr>
                        <a:t>and</a:t>
                      </a:r>
                      <a:r>
                        <a:rPr lang="en-US" sz="700" spc="-25">
                          <a:solidFill>
                            <a:schemeClr val="tx1"/>
                          </a:solidFill>
                        </a:rPr>
                        <a:t> </a:t>
                      </a:r>
                      <a:r>
                        <a:rPr sz="700" spc="-10">
                          <a:solidFill>
                            <a:schemeClr val="tx1"/>
                          </a:solidFill>
                        </a:rPr>
                        <a:t>development,</a:t>
                      </a:r>
                      <a:r>
                        <a:rPr sz="700" spc="70">
                          <a:solidFill>
                            <a:schemeClr val="tx1"/>
                          </a:solidFill>
                        </a:rPr>
                        <a:t> </a:t>
                      </a:r>
                      <a:r>
                        <a:rPr sz="700" spc="-20">
                          <a:solidFill>
                            <a:schemeClr val="tx1"/>
                          </a:solidFill>
                        </a:rPr>
                        <a:t>wit</a:t>
                      </a:r>
                      <a:r>
                        <a:rPr lang="en-US" sz="700" spc="-20">
                          <a:solidFill>
                            <a:schemeClr val="tx1"/>
                          </a:solidFill>
                        </a:rPr>
                        <a:t>h </a:t>
                      </a:r>
                      <a:r>
                        <a:rPr sz="700">
                          <a:solidFill>
                            <a:schemeClr val="tx1"/>
                          </a:solidFill>
                        </a:rPr>
                        <a:t>several</a:t>
                      </a:r>
                      <a:r>
                        <a:rPr sz="700" spc="-25">
                          <a:solidFill>
                            <a:schemeClr val="tx1"/>
                          </a:solidFill>
                        </a:rPr>
                        <a:t> </a:t>
                      </a:r>
                      <a:r>
                        <a:rPr sz="700" spc="-10">
                          <a:solidFill>
                            <a:schemeClr val="tx1"/>
                          </a:solidFill>
                        </a:rPr>
                        <a:t>AI-designed</a:t>
                      </a:r>
                      <a:r>
                        <a:rPr lang="en-US" sz="700" spc="-10">
                          <a:solidFill>
                            <a:schemeClr val="tx1"/>
                          </a:solidFill>
                        </a:rPr>
                        <a:t> </a:t>
                      </a:r>
                      <a:r>
                        <a:rPr sz="700">
                          <a:solidFill>
                            <a:schemeClr val="tx1"/>
                          </a:solidFill>
                        </a:rPr>
                        <a:t>drugs</a:t>
                      </a:r>
                      <a:r>
                        <a:rPr sz="700" spc="5">
                          <a:solidFill>
                            <a:schemeClr val="tx1"/>
                          </a:solidFill>
                        </a:rPr>
                        <a:t> </a:t>
                      </a:r>
                      <a:r>
                        <a:rPr sz="700">
                          <a:solidFill>
                            <a:schemeClr val="tx1"/>
                          </a:solidFill>
                        </a:rPr>
                        <a:t>in</a:t>
                      </a:r>
                      <a:r>
                        <a:rPr sz="700" spc="-15">
                          <a:solidFill>
                            <a:schemeClr val="tx1"/>
                          </a:solidFill>
                        </a:rPr>
                        <a:t> </a:t>
                      </a:r>
                      <a:r>
                        <a:rPr sz="700" spc="-10">
                          <a:solidFill>
                            <a:schemeClr val="tx1"/>
                          </a:solidFill>
                        </a:rPr>
                        <a:t>clinical trials</a:t>
                      </a:r>
                      <a:endParaRPr sz="700">
                        <a:solidFill>
                          <a:schemeClr val="tx1"/>
                        </a:solidFill>
                        <a:latin typeface="Arial"/>
                        <a:cs typeface="Arial"/>
                      </a:endParaRPr>
                    </a:p>
                  </a:txBody>
                  <a:tcPr marL="22289" marR="22289" marT="37148" marB="37148" anchor="ctr">
                    <a:solidFill>
                      <a:schemeClr val="bg1"/>
                    </a:solidFill>
                  </a:tcPr>
                </a:tc>
                <a:extLst>
                  <a:ext uri="{0D108BD9-81ED-4DB2-BD59-A6C34878D82A}">
                    <a16:rowId xmlns:a16="http://schemas.microsoft.com/office/drawing/2014/main" val="10004"/>
                  </a:ext>
                </a:extLst>
              </a:tr>
              <a:tr h="294747">
                <a:tc>
                  <a:txBody>
                    <a:bodyPr/>
                    <a:lstStyle/>
                    <a:p>
                      <a:pPr marL="0" marR="15113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Home Market</a:t>
                      </a:r>
                    </a:p>
                  </a:txBody>
                  <a:tcPr marL="22289" marR="22289" marT="37148" marB="37148" anchor="ctr">
                    <a:solidFill>
                      <a:srgbClr val="C0FCF5"/>
                    </a:solidFill>
                  </a:tcPr>
                </a:tc>
                <a:tc>
                  <a:txBody>
                    <a:bodyPr/>
                    <a:lstStyle/>
                    <a:p>
                      <a:pPr marL="228600" indent="0" algn="ctr" defTabSz="914400" rtl="0" eaLnBrk="1" latinLnBrk="0" hangingPunct="1">
                        <a:lnSpc>
                          <a:spcPct val="100000"/>
                        </a:lnSpc>
                        <a:spcBef>
                          <a:spcPts val="0"/>
                        </a:spcBef>
                      </a:pPr>
                      <a:r>
                        <a:rPr sz="700" kern="1200">
                          <a:solidFill>
                            <a:schemeClr val="tx1"/>
                          </a:solidFill>
                          <a:latin typeface="+mn-lt"/>
                          <a:ea typeface="+mn-ea"/>
                          <a:cs typeface="+mn-cs"/>
                        </a:rPr>
                        <a:t>Indonesia</a:t>
                      </a:r>
                    </a:p>
                  </a:txBody>
                  <a:tcPr marL="22289" marR="22289" marT="37148" marB="37148" anchor="ctr">
                    <a:solidFill>
                      <a:schemeClr val="bg1">
                        <a:lumMod val="95000"/>
                      </a:schemeClr>
                    </a:solidFill>
                  </a:tcPr>
                </a:tc>
                <a:tc>
                  <a:txBody>
                    <a:bodyPr/>
                    <a:lstStyle/>
                    <a:p>
                      <a:pPr marL="228600" indent="0" algn="ctr" defTabSz="914400" rtl="0" eaLnBrk="1" latinLnBrk="0" hangingPunct="1">
                        <a:lnSpc>
                          <a:spcPct val="100000"/>
                        </a:lnSpc>
                        <a:spcBef>
                          <a:spcPts val="0"/>
                        </a:spcBef>
                      </a:pPr>
                      <a:r>
                        <a:rPr sz="700" kern="1200">
                          <a:solidFill>
                            <a:schemeClr val="tx1"/>
                          </a:solidFill>
                          <a:latin typeface="+mn-lt"/>
                          <a:ea typeface="+mn-ea"/>
                          <a:cs typeface="+mn-cs"/>
                        </a:rPr>
                        <a:t>Singapore</a:t>
                      </a:r>
                    </a:p>
                  </a:txBody>
                  <a:tcPr marL="22289" marR="22289" marT="37148" marB="37148" anchor="ctr">
                    <a:solidFill>
                      <a:schemeClr val="bg1">
                        <a:lumMod val="95000"/>
                      </a:schemeClr>
                    </a:solidFill>
                  </a:tcPr>
                </a:tc>
                <a:tc>
                  <a:txBody>
                    <a:bodyPr/>
                    <a:lstStyle/>
                    <a:p>
                      <a:pPr marL="228600" indent="0" algn="ctr" defTabSz="914400" rtl="0" eaLnBrk="1" latinLnBrk="0" hangingPunct="1">
                        <a:lnSpc>
                          <a:spcPct val="100000"/>
                        </a:lnSpc>
                        <a:spcBef>
                          <a:spcPts val="0"/>
                        </a:spcBef>
                      </a:pPr>
                      <a:r>
                        <a:rPr sz="700" kern="1200">
                          <a:solidFill>
                            <a:schemeClr val="tx1"/>
                          </a:solidFill>
                          <a:latin typeface="+mn-lt"/>
                          <a:ea typeface="+mn-ea"/>
                          <a:cs typeface="+mn-cs"/>
                        </a:rPr>
                        <a:t>Thailand</a:t>
                      </a:r>
                    </a:p>
                  </a:txBody>
                  <a:tcPr marL="22289" marR="22289" marT="37148" marB="37148" anchor="ctr">
                    <a:solidFill>
                      <a:schemeClr val="bg1">
                        <a:lumMod val="95000"/>
                      </a:schemeClr>
                    </a:solidFill>
                  </a:tcPr>
                </a:tc>
                <a:tc>
                  <a:txBody>
                    <a:bodyPr/>
                    <a:lstStyle/>
                    <a:p>
                      <a:pPr marL="228600" indent="0" algn="ctr" defTabSz="914400" rtl="0" eaLnBrk="1" latinLnBrk="0" hangingPunct="1">
                        <a:lnSpc>
                          <a:spcPct val="100000"/>
                        </a:lnSpc>
                        <a:spcBef>
                          <a:spcPts val="0"/>
                        </a:spcBef>
                      </a:pPr>
                      <a:r>
                        <a:rPr sz="700" kern="1200">
                          <a:solidFill>
                            <a:schemeClr val="tx1"/>
                          </a:solidFill>
                          <a:latin typeface="+mn-lt"/>
                          <a:ea typeface="+mn-ea"/>
                          <a:cs typeface="+mn-cs"/>
                        </a:rPr>
                        <a:t>Kazakhstan</a:t>
                      </a:r>
                    </a:p>
                  </a:txBody>
                  <a:tcPr marL="22289" marR="22289" marT="37148" marB="37148" anchor="ctr">
                    <a:solidFill>
                      <a:schemeClr val="bg1">
                        <a:lumMod val="95000"/>
                      </a:schemeClr>
                    </a:solidFill>
                  </a:tcPr>
                </a:tc>
                <a:tc>
                  <a:txBody>
                    <a:bodyPr/>
                    <a:lstStyle/>
                    <a:p>
                      <a:pPr marL="228600" indent="0" algn="ctr" defTabSz="914400" rtl="0" eaLnBrk="1" latinLnBrk="0" hangingPunct="1">
                        <a:lnSpc>
                          <a:spcPct val="100000"/>
                        </a:lnSpc>
                        <a:spcBef>
                          <a:spcPts val="0"/>
                        </a:spcBef>
                      </a:pPr>
                      <a:r>
                        <a:rPr sz="700" kern="1200">
                          <a:solidFill>
                            <a:schemeClr val="tx1"/>
                          </a:solidFill>
                          <a:latin typeface="+mn-lt"/>
                          <a:ea typeface="+mn-ea"/>
                          <a:cs typeface="+mn-cs"/>
                        </a:rPr>
                        <a:t>Global</a:t>
                      </a:r>
                    </a:p>
                  </a:txBody>
                  <a:tcPr marL="22289" marR="22289" marT="37148" marB="37148" anchor="ctr">
                    <a:solidFill>
                      <a:schemeClr val="bg1">
                        <a:lumMod val="95000"/>
                      </a:schemeClr>
                    </a:solidFill>
                  </a:tcPr>
                </a:tc>
                <a:tc>
                  <a:txBody>
                    <a:bodyPr/>
                    <a:lstStyle/>
                    <a:p>
                      <a:pPr marL="228600" indent="0" algn="ctr" defTabSz="914400" rtl="0" eaLnBrk="1" latinLnBrk="0" hangingPunct="1">
                        <a:lnSpc>
                          <a:spcPct val="100000"/>
                        </a:lnSpc>
                        <a:spcBef>
                          <a:spcPts val="0"/>
                        </a:spcBef>
                      </a:pPr>
                      <a:r>
                        <a:rPr sz="700" kern="1200">
                          <a:solidFill>
                            <a:schemeClr val="tx1"/>
                          </a:solidFill>
                          <a:latin typeface="+mn-lt"/>
                          <a:ea typeface="+mn-ea"/>
                          <a:cs typeface="+mn-cs"/>
                        </a:rPr>
                        <a:t>UAE / Africa</a:t>
                      </a:r>
                    </a:p>
                  </a:txBody>
                  <a:tcPr marL="22289" marR="22289" marT="37148" marB="37148" anchor="ctr">
                    <a:solidFill>
                      <a:schemeClr val="bg1">
                        <a:lumMod val="95000"/>
                      </a:schemeClr>
                    </a:solidFill>
                  </a:tcPr>
                </a:tc>
                <a:tc>
                  <a:txBody>
                    <a:bodyPr/>
                    <a:lstStyle/>
                    <a:p>
                      <a:pPr marL="228600" indent="0" algn="ctr" defTabSz="914400" rtl="0" eaLnBrk="1" latinLnBrk="0" hangingPunct="1">
                        <a:lnSpc>
                          <a:spcPct val="100000"/>
                        </a:lnSpc>
                        <a:spcBef>
                          <a:spcPts val="0"/>
                        </a:spcBef>
                      </a:pPr>
                      <a:r>
                        <a:rPr sz="700" kern="1200">
                          <a:solidFill>
                            <a:schemeClr val="tx1"/>
                          </a:solidFill>
                          <a:latin typeface="+mn-lt"/>
                          <a:ea typeface="+mn-ea"/>
                          <a:cs typeface="+mn-cs"/>
                        </a:rPr>
                        <a:t>US / UAE /</a:t>
                      </a:r>
                    </a:p>
                    <a:p>
                      <a:pPr marL="228600" indent="0" algn="ctr" defTabSz="914400" rtl="0" eaLnBrk="1" latinLnBrk="0" hangingPunct="1">
                        <a:lnSpc>
                          <a:spcPct val="100000"/>
                        </a:lnSpc>
                        <a:spcBef>
                          <a:spcPts val="0"/>
                        </a:spcBef>
                      </a:pPr>
                      <a:r>
                        <a:rPr sz="700" kern="1200">
                          <a:solidFill>
                            <a:schemeClr val="tx1"/>
                          </a:solidFill>
                          <a:latin typeface="+mn-lt"/>
                          <a:ea typeface="+mn-ea"/>
                          <a:cs typeface="+mn-cs"/>
                        </a:rPr>
                        <a:t>Greater China</a:t>
                      </a:r>
                    </a:p>
                  </a:txBody>
                  <a:tcPr marL="22289" marR="22289" marT="37148" marB="37148" anchor="ctr">
                    <a:solidFill>
                      <a:schemeClr val="bg1">
                        <a:lumMod val="95000"/>
                      </a:schemeClr>
                    </a:solidFill>
                  </a:tcPr>
                </a:tc>
                <a:extLst>
                  <a:ext uri="{0D108BD9-81ED-4DB2-BD59-A6C34878D82A}">
                    <a16:rowId xmlns:a16="http://schemas.microsoft.com/office/drawing/2014/main" val="10005"/>
                  </a:ext>
                </a:extLst>
              </a:tr>
              <a:tr h="294747">
                <a:tc>
                  <a:txBody>
                    <a:bodyPr/>
                    <a:lstStyle/>
                    <a:p>
                      <a:pPr marL="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Deal size / Mkt. Cap. at IPO</a:t>
                      </a:r>
                    </a:p>
                  </a:txBody>
                  <a:tcPr marL="22289" marR="22289" marT="37148" marB="37148" anchor="ctr">
                    <a:solidFill>
                      <a:srgbClr val="C0FCF5"/>
                    </a:solidFill>
                  </a:tcPr>
                </a:tc>
                <a:tc>
                  <a:txBody>
                    <a:bodyPr/>
                    <a:lstStyle/>
                    <a:p>
                      <a:pPr marL="6350" algn="ctr">
                        <a:lnSpc>
                          <a:spcPct val="100000"/>
                        </a:lnSpc>
                        <a:spcBef>
                          <a:spcPts val="0"/>
                        </a:spcBef>
                      </a:pPr>
                      <a:r>
                        <a:rPr sz="700">
                          <a:solidFill>
                            <a:schemeClr val="tx1"/>
                          </a:solidFill>
                        </a:rPr>
                        <a:t>306</a:t>
                      </a:r>
                      <a:r>
                        <a:rPr sz="700" spc="-15">
                          <a:solidFill>
                            <a:schemeClr val="tx1"/>
                          </a:solidFill>
                        </a:rPr>
                        <a:t> </a:t>
                      </a:r>
                      <a:r>
                        <a:rPr sz="700">
                          <a:solidFill>
                            <a:schemeClr val="tx1"/>
                          </a:solidFill>
                        </a:rPr>
                        <a:t>/</a:t>
                      </a:r>
                      <a:r>
                        <a:rPr sz="700" spc="-25">
                          <a:solidFill>
                            <a:schemeClr val="tx1"/>
                          </a:solidFill>
                        </a:rPr>
                        <a:t> </a:t>
                      </a:r>
                      <a:r>
                        <a:rPr sz="700" spc="-10">
                          <a:solidFill>
                            <a:schemeClr val="tx1"/>
                          </a:solidFill>
                        </a:rPr>
                        <a:t>2,010</a:t>
                      </a:r>
                      <a:endParaRPr sz="700">
                        <a:solidFill>
                          <a:schemeClr val="tx1"/>
                        </a:solidFill>
                        <a:latin typeface="Arial"/>
                        <a:cs typeface="Arial"/>
                      </a:endParaRPr>
                    </a:p>
                  </a:txBody>
                  <a:tcPr marL="22289" marR="22289" marT="37148" marB="37148" anchor="ctr">
                    <a:solidFill>
                      <a:schemeClr val="bg1"/>
                    </a:solidFill>
                  </a:tcPr>
                </a:tc>
                <a:tc>
                  <a:txBody>
                    <a:bodyPr/>
                    <a:lstStyle/>
                    <a:p>
                      <a:pPr marL="23495" algn="ctr">
                        <a:lnSpc>
                          <a:spcPct val="100000"/>
                        </a:lnSpc>
                        <a:spcBef>
                          <a:spcPts val="0"/>
                        </a:spcBef>
                      </a:pPr>
                      <a:r>
                        <a:rPr sz="700">
                          <a:solidFill>
                            <a:schemeClr val="tx1"/>
                          </a:solidFill>
                        </a:rPr>
                        <a:t>139</a:t>
                      </a:r>
                      <a:r>
                        <a:rPr sz="700" spc="-15">
                          <a:solidFill>
                            <a:schemeClr val="tx1"/>
                          </a:solidFill>
                        </a:rPr>
                        <a:t> </a:t>
                      </a:r>
                      <a:r>
                        <a:rPr sz="700">
                          <a:solidFill>
                            <a:schemeClr val="tx1"/>
                          </a:solidFill>
                        </a:rPr>
                        <a:t>/</a:t>
                      </a:r>
                      <a:r>
                        <a:rPr sz="700" spc="-25">
                          <a:solidFill>
                            <a:schemeClr val="tx1"/>
                          </a:solidFill>
                        </a:rPr>
                        <a:t> 825</a:t>
                      </a:r>
                      <a:endParaRPr sz="700">
                        <a:solidFill>
                          <a:schemeClr val="tx1"/>
                        </a:solidFill>
                        <a:latin typeface="Arial"/>
                        <a:cs typeface="Arial"/>
                      </a:endParaRPr>
                    </a:p>
                  </a:txBody>
                  <a:tcPr marL="22289" marR="22289" marT="37148" marB="37148" anchor="ctr">
                    <a:solidFill>
                      <a:schemeClr val="bg1"/>
                    </a:solidFill>
                  </a:tcPr>
                </a:tc>
                <a:tc>
                  <a:txBody>
                    <a:bodyPr/>
                    <a:lstStyle/>
                    <a:p>
                      <a:pPr marL="20955" algn="ctr">
                        <a:lnSpc>
                          <a:spcPct val="100000"/>
                        </a:lnSpc>
                        <a:spcBef>
                          <a:spcPts val="0"/>
                        </a:spcBef>
                      </a:pPr>
                      <a:r>
                        <a:rPr sz="700">
                          <a:solidFill>
                            <a:schemeClr val="tx1"/>
                          </a:solidFill>
                        </a:rPr>
                        <a:t>170</a:t>
                      </a:r>
                      <a:r>
                        <a:rPr sz="700" spc="-15">
                          <a:solidFill>
                            <a:schemeClr val="tx1"/>
                          </a:solidFill>
                        </a:rPr>
                        <a:t> </a:t>
                      </a:r>
                      <a:r>
                        <a:rPr sz="700">
                          <a:solidFill>
                            <a:schemeClr val="tx1"/>
                          </a:solidFill>
                        </a:rPr>
                        <a:t>/</a:t>
                      </a:r>
                      <a:r>
                        <a:rPr sz="700" spc="-25">
                          <a:solidFill>
                            <a:schemeClr val="tx1"/>
                          </a:solidFill>
                        </a:rPr>
                        <a:t> 944</a:t>
                      </a:r>
                      <a:endParaRPr sz="700">
                        <a:solidFill>
                          <a:schemeClr val="tx1"/>
                        </a:solidFill>
                        <a:latin typeface="Arial"/>
                        <a:cs typeface="Arial"/>
                      </a:endParaRPr>
                    </a:p>
                  </a:txBody>
                  <a:tcPr marL="22289" marR="22289" marT="37148" marB="37148" anchor="ctr">
                    <a:solidFill>
                      <a:schemeClr val="bg1"/>
                    </a:solidFill>
                  </a:tcPr>
                </a:tc>
                <a:tc>
                  <a:txBody>
                    <a:bodyPr/>
                    <a:lstStyle/>
                    <a:p>
                      <a:pPr marL="15875" algn="ctr">
                        <a:lnSpc>
                          <a:spcPct val="100000"/>
                        </a:lnSpc>
                        <a:spcBef>
                          <a:spcPts val="0"/>
                        </a:spcBef>
                      </a:pPr>
                      <a:r>
                        <a:rPr sz="700">
                          <a:solidFill>
                            <a:schemeClr val="tx1"/>
                          </a:solidFill>
                        </a:rPr>
                        <a:t>177</a:t>
                      </a:r>
                      <a:r>
                        <a:rPr sz="700" spc="-15">
                          <a:solidFill>
                            <a:schemeClr val="tx1"/>
                          </a:solidFill>
                        </a:rPr>
                        <a:t> </a:t>
                      </a:r>
                      <a:r>
                        <a:rPr sz="700">
                          <a:solidFill>
                            <a:schemeClr val="tx1"/>
                          </a:solidFill>
                        </a:rPr>
                        <a:t>/</a:t>
                      </a:r>
                      <a:r>
                        <a:rPr sz="700" spc="-25">
                          <a:solidFill>
                            <a:schemeClr val="tx1"/>
                          </a:solidFill>
                        </a:rPr>
                        <a:t> 615</a:t>
                      </a:r>
                      <a:endParaRPr sz="700">
                        <a:solidFill>
                          <a:schemeClr val="tx1"/>
                        </a:solidFill>
                        <a:latin typeface="Arial"/>
                        <a:cs typeface="Arial"/>
                      </a:endParaRPr>
                    </a:p>
                  </a:txBody>
                  <a:tcPr marL="22289" marR="22289" marT="37148" marB="37148" anchor="ctr">
                    <a:solidFill>
                      <a:schemeClr val="bg1"/>
                    </a:solidFill>
                  </a:tcPr>
                </a:tc>
                <a:tc>
                  <a:txBody>
                    <a:bodyPr/>
                    <a:lstStyle/>
                    <a:p>
                      <a:pPr marL="12700" algn="ctr">
                        <a:lnSpc>
                          <a:spcPct val="100000"/>
                        </a:lnSpc>
                        <a:spcBef>
                          <a:spcPts val="0"/>
                        </a:spcBef>
                      </a:pPr>
                      <a:r>
                        <a:rPr sz="700">
                          <a:solidFill>
                            <a:schemeClr val="tx1"/>
                          </a:solidFill>
                        </a:rPr>
                        <a:t>3,693</a:t>
                      </a:r>
                      <a:r>
                        <a:rPr sz="700" spc="-25">
                          <a:solidFill>
                            <a:schemeClr val="tx1"/>
                          </a:solidFill>
                        </a:rPr>
                        <a:t> </a:t>
                      </a:r>
                      <a:r>
                        <a:rPr sz="700">
                          <a:solidFill>
                            <a:schemeClr val="tx1"/>
                          </a:solidFill>
                        </a:rPr>
                        <a:t>/</a:t>
                      </a:r>
                      <a:r>
                        <a:rPr sz="700" spc="-30">
                          <a:solidFill>
                            <a:schemeClr val="tx1"/>
                          </a:solidFill>
                        </a:rPr>
                        <a:t> </a:t>
                      </a:r>
                      <a:r>
                        <a:rPr sz="700" spc="-10">
                          <a:solidFill>
                            <a:schemeClr val="tx1"/>
                          </a:solidFill>
                        </a:rPr>
                        <a:t>24,144</a:t>
                      </a:r>
                      <a:endParaRPr sz="700">
                        <a:solidFill>
                          <a:schemeClr val="tx1"/>
                        </a:solidFill>
                        <a:latin typeface="Arial"/>
                        <a:cs typeface="Arial"/>
                      </a:endParaRPr>
                    </a:p>
                  </a:txBody>
                  <a:tcPr marL="22289" marR="22289" marT="37148" marB="37148" anchor="ctr">
                    <a:solidFill>
                      <a:schemeClr val="bg1"/>
                    </a:solidFill>
                  </a:tcPr>
                </a:tc>
                <a:tc>
                  <a:txBody>
                    <a:bodyPr/>
                    <a:lstStyle/>
                    <a:p>
                      <a:pPr marL="52069" algn="ctr">
                        <a:lnSpc>
                          <a:spcPct val="100000"/>
                        </a:lnSpc>
                        <a:spcBef>
                          <a:spcPts val="0"/>
                        </a:spcBef>
                      </a:pPr>
                      <a:r>
                        <a:rPr sz="700">
                          <a:solidFill>
                            <a:schemeClr val="tx1"/>
                          </a:solidFill>
                        </a:rPr>
                        <a:t>307</a:t>
                      </a:r>
                      <a:r>
                        <a:rPr sz="700" spc="-15">
                          <a:solidFill>
                            <a:schemeClr val="tx1"/>
                          </a:solidFill>
                        </a:rPr>
                        <a:t> </a:t>
                      </a:r>
                      <a:r>
                        <a:rPr sz="700">
                          <a:solidFill>
                            <a:schemeClr val="tx1"/>
                          </a:solidFill>
                        </a:rPr>
                        <a:t>/</a:t>
                      </a:r>
                      <a:r>
                        <a:rPr sz="700" spc="-25">
                          <a:solidFill>
                            <a:schemeClr val="tx1"/>
                          </a:solidFill>
                        </a:rPr>
                        <a:t> </a:t>
                      </a:r>
                      <a:r>
                        <a:rPr sz="700" spc="-10">
                          <a:solidFill>
                            <a:schemeClr val="tx1"/>
                          </a:solidFill>
                        </a:rPr>
                        <a:t>1,930</a:t>
                      </a:r>
                      <a:endParaRPr sz="700">
                        <a:solidFill>
                          <a:schemeClr val="tx1"/>
                        </a:solidFill>
                        <a:latin typeface="Arial"/>
                        <a:cs typeface="Arial"/>
                      </a:endParaRPr>
                    </a:p>
                  </a:txBody>
                  <a:tcPr marL="22289" marR="22289" marT="37148" marB="37148" anchor="ctr">
                    <a:solidFill>
                      <a:schemeClr val="bg1"/>
                    </a:solidFill>
                  </a:tcPr>
                </a:tc>
                <a:tc>
                  <a:txBody>
                    <a:bodyPr/>
                    <a:lstStyle/>
                    <a:p>
                      <a:pPr marL="51435" algn="ctr">
                        <a:lnSpc>
                          <a:spcPct val="100000"/>
                        </a:lnSpc>
                        <a:spcBef>
                          <a:spcPts val="0"/>
                        </a:spcBef>
                      </a:pPr>
                      <a:r>
                        <a:rPr sz="700">
                          <a:solidFill>
                            <a:schemeClr val="tx1"/>
                          </a:solidFill>
                        </a:rPr>
                        <a:t>293</a:t>
                      </a:r>
                      <a:r>
                        <a:rPr sz="700" baseline="27777">
                          <a:solidFill>
                            <a:schemeClr val="tx1"/>
                          </a:solidFill>
                        </a:rPr>
                        <a:t>1</a:t>
                      </a:r>
                      <a:r>
                        <a:rPr sz="700" spc="89" baseline="27777">
                          <a:solidFill>
                            <a:schemeClr val="tx1"/>
                          </a:solidFill>
                        </a:rPr>
                        <a:t> </a:t>
                      </a:r>
                      <a:r>
                        <a:rPr sz="700">
                          <a:solidFill>
                            <a:schemeClr val="tx1"/>
                          </a:solidFill>
                        </a:rPr>
                        <a:t>/</a:t>
                      </a:r>
                      <a:r>
                        <a:rPr sz="700" spc="-20">
                          <a:solidFill>
                            <a:schemeClr val="tx1"/>
                          </a:solidFill>
                        </a:rPr>
                        <a:t> </a:t>
                      </a:r>
                      <a:r>
                        <a:rPr sz="700" spc="-10">
                          <a:solidFill>
                            <a:schemeClr val="tx1"/>
                          </a:solidFill>
                        </a:rPr>
                        <a:t>1,837</a:t>
                      </a:r>
                      <a:r>
                        <a:rPr sz="700" spc="-15" baseline="27777">
                          <a:solidFill>
                            <a:schemeClr val="tx1"/>
                          </a:solidFill>
                        </a:rPr>
                        <a:t>1</a:t>
                      </a:r>
                      <a:endParaRPr sz="700" baseline="27777">
                        <a:solidFill>
                          <a:schemeClr val="tx1"/>
                        </a:solidFill>
                        <a:latin typeface="Arial"/>
                        <a:cs typeface="Arial"/>
                      </a:endParaRPr>
                    </a:p>
                  </a:txBody>
                  <a:tcPr marL="22289" marR="22289" marT="37148" marB="37148" anchor="ctr">
                    <a:solidFill>
                      <a:schemeClr val="bg1"/>
                    </a:solidFill>
                  </a:tcPr>
                </a:tc>
                <a:extLst>
                  <a:ext uri="{0D108BD9-81ED-4DB2-BD59-A6C34878D82A}">
                    <a16:rowId xmlns:a16="http://schemas.microsoft.com/office/drawing/2014/main" val="10006"/>
                  </a:ext>
                </a:extLst>
              </a:tr>
              <a:tr h="404057">
                <a:tc>
                  <a:txBody>
                    <a:bodyPr/>
                    <a:lstStyle/>
                    <a:p>
                      <a:pPr marL="0" marR="40005"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Select Cornerstone Investors</a:t>
                      </a:r>
                    </a:p>
                  </a:txBody>
                  <a:tcPr marL="22289" marR="22289" marT="37148" marB="37148" anchor="ctr">
                    <a:solidFill>
                      <a:srgbClr val="C0FCF5"/>
                    </a:solidFill>
                  </a:tcPr>
                </a:tc>
                <a:tc gridSpan="7">
                  <a:txBody>
                    <a:bodyPr/>
                    <a:lstStyle/>
                    <a:p>
                      <a:pPr>
                        <a:lnSpc>
                          <a:spcPct val="100000"/>
                        </a:lnSpc>
                        <a:spcBef>
                          <a:spcPts val="0"/>
                        </a:spcBef>
                      </a:pPr>
                      <a:endParaRPr sz="700">
                        <a:solidFill>
                          <a:schemeClr val="tx1"/>
                        </a:solidFill>
                      </a:endParaRPr>
                    </a:p>
                  </a:txBody>
                  <a:tcPr marL="22289" marR="22289" marT="37148" marB="37148" anchor="ctr">
                    <a:solidFill>
                      <a:schemeClr val="bg1">
                        <a:lumMod val="95000"/>
                      </a:schemeClr>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r h="404057">
                <a:tc>
                  <a:txBody>
                    <a:bodyPr/>
                    <a:lstStyle/>
                    <a:p>
                      <a:pPr marL="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Aftermarket</a:t>
                      </a:r>
                    </a:p>
                    <a:p>
                      <a:pPr marL="0" marR="8890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(Day-1 / 3-month)</a:t>
                      </a:r>
                    </a:p>
                  </a:txBody>
                  <a:tcPr marL="22289" marR="22289" marT="37148" marB="37148" anchor="ctr">
                    <a:solidFill>
                      <a:srgbClr val="C0FCF5"/>
                    </a:solidFill>
                  </a:tcPr>
                </a:tc>
                <a:tc>
                  <a:txBody>
                    <a:bodyPr/>
                    <a:lstStyle/>
                    <a:p>
                      <a:pPr marL="6350" algn="ctr">
                        <a:lnSpc>
                          <a:spcPct val="100000"/>
                        </a:lnSpc>
                        <a:spcBef>
                          <a:spcPts val="0"/>
                        </a:spcBef>
                      </a:pPr>
                      <a:r>
                        <a:rPr sz="700">
                          <a:solidFill>
                            <a:schemeClr val="accent1"/>
                          </a:solidFill>
                        </a:rPr>
                        <a:t>(5.1%)</a:t>
                      </a:r>
                      <a:r>
                        <a:rPr sz="700" spc="35">
                          <a:solidFill>
                            <a:schemeClr val="accent1"/>
                          </a:solidFill>
                        </a:rPr>
                        <a:t> </a:t>
                      </a:r>
                      <a:r>
                        <a:rPr sz="700" spc="-50">
                          <a:solidFill>
                            <a:schemeClr val="tx1"/>
                          </a:solidFill>
                        </a:rPr>
                        <a:t>/</a:t>
                      </a:r>
                      <a:r>
                        <a:rPr sz="700" spc="45">
                          <a:solidFill>
                            <a:srgbClr val="00B050"/>
                          </a:solidFill>
                        </a:rPr>
                        <a:t> </a:t>
                      </a:r>
                      <a:r>
                        <a:rPr sz="700" spc="-10">
                          <a:solidFill>
                            <a:srgbClr val="00B050"/>
                          </a:solidFill>
                        </a:rPr>
                        <a:t>19.9%</a:t>
                      </a:r>
                      <a:endParaRPr sz="700">
                        <a:solidFill>
                          <a:srgbClr val="00B050"/>
                        </a:solidFill>
                        <a:latin typeface="Calibri"/>
                        <a:cs typeface="Calibri"/>
                      </a:endParaRPr>
                    </a:p>
                  </a:txBody>
                  <a:tcPr marL="22289" marR="22289" marT="37148" marB="37148" anchor="ctr">
                    <a:solidFill>
                      <a:schemeClr val="bg1"/>
                    </a:solidFill>
                  </a:tcPr>
                </a:tc>
                <a:tc>
                  <a:txBody>
                    <a:bodyPr/>
                    <a:lstStyle/>
                    <a:p>
                      <a:pPr marL="24765" algn="ctr">
                        <a:lnSpc>
                          <a:spcPct val="100000"/>
                        </a:lnSpc>
                        <a:spcBef>
                          <a:spcPts val="0"/>
                        </a:spcBef>
                      </a:pPr>
                      <a:r>
                        <a:rPr sz="700">
                          <a:solidFill>
                            <a:srgbClr val="00B050"/>
                          </a:solidFill>
                        </a:rPr>
                        <a:t>28.8%</a:t>
                      </a:r>
                      <a:r>
                        <a:rPr sz="700" spc="65">
                          <a:solidFill>
                            <a:srgbClr val="00B050"/>
                          </a:solidFill>
                        </a:rPr>
                        <a:t> </a:t>
                      </a:r>
                      <a:r>
                        <a:rPr sz="700" spc="-50">
                          <a:solidFill>
                            <a:schemeClr val="tx1"/>
                          </a:solidFill>
                        </a:rPr>
                        <a:t>/</a:t>
                      </a:r>
                      <a:r>
                        <a:rPr sz="700" spc="55">
                          <a:solidFill>
                            <a:srgbClr val="00B050"/>
                          </a:solidFill>
                        </a:rPr>
                        <a:t> </a:t>
                      </a:r>
                      <a:r>
                        <a:rPr sz="700" spc="-20">
                          <a:solidFill>
                            <a:srgbClr val="00B050"/>
                          </a:solidFill>
                        </a:rPr>
                        <a:t>87.6%</a:t>
                      </a:r>
                      <a:endParaRPr sz="700">
                        <a:solidFill>
                          <a:srgbClr val="00B050"/>
                        </a:solidFill>
                        <a:latin typeface="Calibri"/>
                        <a:cs typeface="Calibri"/>
                      </a:endParaRPr>
                    </a:p>
                  </a:txBody>
                  <a:tcPr marL="22289" marR="22289" marT="37148" marB="37148" anchor="ctr">
                    <a:solidFill>
                      <a:schemeClr val="bg1"/>
                    </a:solidFill>
                  </a:tcPr>
                </a:tc>
                <a:tc>
                  <a:txBody>
                    <a:bodyPr/>
                    <a:lstStyle/>
                    <a:p>
                      <a:pPr marL="20955" algn="ctr">
                        <a:lnSpc>
                          <a:spcPct val="100000"/>
                        </a:lnSpc>
                        <a:spcBef>
                          <a:spcPts val="0"/>
                        </a:spcBef>
                      </a:pPr>
                      <a:r>
                        <a:rPr sz="700">
                          <a:solidFill>
                            <a:srgbClr val="00B050"/>
                          </a:solidFill>
                        </a:rPr>
                        <a:t>42.1%</a:t>
                      </a:r>
                      <a:r>
                        <a:rPr sz="700" spc="65">
                          <a:solidFill>
                            <a:srgbClr val="00B050"/>
                          </a:solidFill>
                        </a:rPr>
                        <a:t> </a:t>
                      </a:r>
                      <a:r>
                        <a:rPr sz="700" spc="-50">
                          <a:solidFill>
                            <a:schemeClr val="tx1"/>
                          </a:solidFill>
                        </a:rPr>
                        <a:t>/</a:t>
                      </a:r>
                      <a:r>
                        <a:rPr sz="700" spc="55">
                          <a:solidFill>
                            <a:srgbClr val="00B050"/>
                          </a:solidFill>
                        </a:rPr>
                        <a:t> </a:t>
                      </a:r>
                      <a:r>
                        <a:rPr sz="700" spc="-20">
                          <a:solidFill>
                            <a:srgbClr val="00B050"/>
                          </a:solidFill>
                        </a:rPr>
                        <a:t>9.5%</a:t>
                      </a:r>
                      <a:endParaRPr sz="700">
                        <a:solidFill>
                          <a:srgbClr val="00B050"/>
                        </a:solidFill>
                        <a:latin typeface="Calibri"/>
                        <a:cs typeface="Calibri"/>
                      </a:endParaRPr>
                    </a:p>
                  </a:txBody>
                  <a:tcPr marL="22289" marR="22289" marT="37148" marB="37148" anchor="ctr">
                    <a:solidFill>
                      <a:schemeClr val="bg1"/>
                    </a:solidFill>
                  </a:tcPr>
                </a:tc>
                <a:tc>
                  <a:txBody>
                    <a:bodyPr/>
                    <a:lstStyle/>
                    <a:p>
                      <a:pPr marL="17145" algn="ctr">
                        <a:lnSpc>
                          <a:spcPct val="100000"/>
                        </a:lnSpc>
                        <a:spcBef>
                          <a:spcPts val="0"/>
                        </a:spcBef>
                      </a:pPr>
                      <a:r>
                        <a:rPr sz="700">
                          <a:solidFill>
                            <a:srgbClr val="00B050"/>
                          </a:solidFill>
                        </a:rPr>
                        <a:t>177.8%</a:t>
                      </a:r>
                      <a:r>
                        <a:rPr sz="700" spc="80">
                          <a:solidFill>
                            <a:srgbClr val="00B050"/>
                          </a:solidFill>
                        </a:rPr>
                        <a:t> </a:t>
                      </a:r>
                      <a:r>
                        <a:rPr sz="700" spc="-50">
                          <a:solidFill>
                            <a:schemeClr val="tx1"/>
                          </a:solidFill>
                        </a:rPr>
                        <a:t>/</a:t>
                      </a:r>
                      <a:r>
                        <a:rPr sz="700" spc="65">
                          <a:solidFill>
                            <a:srgbClr val="00B050"/>
                          </a:solidFill>
                        </a:rPr>
                        <a:t> </a:t>
                      </a:r>
                      <a:r>
                        <a:rPr sz="700" spc="-10">
                          <a:solidFill>
                            <a:srgbClr val="00B050"/>
                          </a:solidFill>
                        </a:rPr>
                        <a:t>206.8%</a:t>
                      </a:r>
                      <a:endParaRPr sz="700">
                        <a:solidFill>
                          <a:srgbClr val="00B050"/>
                        </a:solidFill>
                        <a:latin typeface="Calibri"/>
                        <a:cs typeface="Calibri"/>
                      </a:endParaRPr>
                    </a:p>
                  </a:txBody>
                  <a:tcPr marL="22289" marR="22289" marT="37148" marB="37148" anchor="ctr">
                    <a:solidFill>
                      <a:schemeClr val="bg1"/>
                    </a:solidFill>
                  </a:tcPr>
                </a:tc>
                <a:tc>
                  <a:txBody>
                    <a:bodyPr/>
                    <a:lstStyle/>
                    <a:p>
                      <a:pPr marL="12700" algn="ctr">
                        <a:lnSpc>
                          <a:spcPct val="100000"/>
                        </a:lnSpc>
                        <a:spcBef>
                          <a:spcPts val="0"/>
                        </a:spcBef>
                      </a:pPr>
                      <a:r>
                        <a:rPr sz="700">
                          <a:solidFill>
                            <a:srgbClr val="00B050"/>
                          </a:solidFill>
                        </a:rPr>
                        <a:t>68.5%</a:t>
                      </a:r>
                      <a:r>
                        <a:rPr sz="700" spc="65">
                          <a:solidFill>
                            <a:srgbClr val="00B050"/>
                          </a:solidFill>
                        </a:rPr>
                        <a:t> </a:t>
                      </a:r>
                      <a:r>
                        <a:rPr sz="700" spc="-50">
                          <a:solidFill>
                            <a:schemeClr val="tx1"/>
                          </a:solidFill>
                        </a:rPr>
                        <a:t>/</a:t>
                      </a:r>
                      <a:r>
                        <a:rPr sz="700" spc="55">
                          <a:solidFill>
                            <a:srgbClr val="00B050"/>
                          </a:solidFill>
                        </a:rPr>
                        <a:t> </a:t>
                      </a:r>
                      <a:r>
                        <a:rPr sz="700" spc="-10">
                          <a:solidFill>
                            <a:srgbClr val="00B050"/>
                          </a:solidFill>
                        </a:rPr>
                        <a:t>101.8%</a:t>
                      </a:r>
                      <a:endParaRPr sz="700">
                        <a:solidFill>
                          <a:srgbClr val="00B050"/>
                        </a:solidFill>
                        <a:latin typeface="Calibri"/>
                        <a:cs typeface="Calibri"/>
                      </a:endParaRPr>
                    </a:p>
                  </a:txBody>
                  <a:tcPr marL="22289" marR="22289" marT="37148" marB="37148" anchor="ctr">
                    <a:solidFill>
                      <a:schemeClr val="bg1"/>
                    </a:solidFill>
                  </a:tcPr>
                </a:tc>
                <a:tc>
                  <a:txBody>
                    <a:bodyPr/>
                    <a:lstStyle/>
                    <a:p>
                      <a:pPr marL="50165" algn="ctr">
                        <a:lnSpc>
                          <a:spcPct val="100000"/>
                        </a:lnSpc>
                        <a:spcBef>
                          <a:spcPts val="0"/>
                        </a:spcBef>
                      </a:pPr>
                      <a:r>
                        <a:rPr sz="700">
                          <a:solidFill>
                            <a:srgbClr val="00B050"/>
                          </a:solidFill>
                        </a:rPr>
                        <a:t>26.0%</a:t>
                      </a:r>
                      <a:r>
                        <a:rPr sz="700" spc="65">
                          <a:solidFill>
                            <a:srgbClr val="00B050"/>
                          </a:solidFill>
                        </a:rPr>
                        <a:t> </a:t>
                      </a:r>
                      <a:r>
                        <a:rPr sz="700" spc="-50">
                          <a:solidFill>
                            <a:schemeClr val="tx1"/>
                          </a:solidFill>
                        </a:rPr>
                        <a:t>/</a:t>
                      </a:r>
                      <a:r>
                        <a:rPr sz="700" spc="55">
                          <a:solidFill>
                            <a:srgbClr val="00B050"/>
                          </a:solidFill>
                        </a:rPr>
                        <a:t> </a:t>
                      </a:r>
                      <a:r>
                        <a:rPr sz="700" spc="-10">
                          <a:solidFill>
                            <a:srgbClr val="00B050"/>
                          </a:solidFill>
                        </a:rPr>
                        <a:t>23.4%</a:t>
                      </a:r>
                      <a:r>
                        <a:rPr sz="700" spc="-15" baseline="37037">
                          <a:solidFill>
                            <a:srgbClr val="00B050"/>
                          </a:solidFill>
                        </a:rPr>
                        <a:t>2</a:t>
                      </a:r>
                      <a:endParaRPr sz="700" baseline="37037">
                        <a:solidFill>
                          <a:srgbClr val="00B050"/>
                        </a:solidFill>
                        <a:latin typeface="Calibri"/>
                        <a:cs typeface="Calibri"/>
                      </a:endParaRPr>
                    </a:p>
                  </a:txBody>
                  <a:tcPr marL="22289" marR="22289" marT="37148" marB="37148" anchor="ctr">
                    <a:solidFill>
                      <a:schemeClr val="bg1"/>
                    </a:solidFill>
                  </a:tcPr>
                </a:tc>
                <a:tc>
                  <a:txBody>
                    <a:bodyPr/>
                    <a:lstStyle/>
                    <a:p>
                      <a:pPr marL="50165" algn="ctr">
                        <a:lnSpc>
                          <a:spcPct val="100000"/>
                        </a:lnSpc>
                        <a:spcBef>
                          <a:spcPts val="0"/>
                        </a:spcBef>
                      </a:pPr>
                      <a:r>
                        <a:rPr sz="700">
                          <a:solidFill>
                            <a:srgbClr val="00B050"/>
                          </a:solidFill>
                        </a:rPr>
                        <a:t>24.7%</a:t>
                      </a:r>
                      <a:r>
                        <a:rPr sz="700" spc="65">
                          <a:solidFill>
                            <a:srgbClr val="00B050"/>
                          </a:solidFill>
                        </a:rPr>
                        <a:t> </a:t>
                      </a:r>
                      <a:r>
                        <a:rPr sz="700" spc="-50">
                          <a:solidFill>
                            <a:schemeClr val="tx1"/>
                          </a:solidFill>
                        </a:rPr>
                        <a:t>/</a:t>
                      </a:r>
                      <a:r>
                        <a:rPr sz="700" spc="55">
                          <a:solidFill>
                            <a:srgbClr val="00B050"/>
                          </a:solidFill>
                        </a:rPr>
                        <a:t> </a:t>
                      </a:r>
                      <a:r>
                        <a:rPr sz="700" spc="-10">
                          <a:solidFill>
                            <a:srgbClr val="00B050"/>
                          </a:solidFill>
                        </a:rPr>
                        <a:t>54.4%</a:t>
                      </a:r>
                      <a:r>
                        <a:rPr sz="700" spc="-15" baseline="37037">
                          <a:solidFill>
                            <a:srgbClr val="00B050"/>
                          </a:solidFill>
                        </a:rPr>
                        <a:t>2</a:t>
                      </a:r>
                      <a:endParaRPr sz="700" baseline="37037">
                        <a:solidFill>
                          <a:srgbClr val="00B050"/>
                        </a:solidFill>
                        <a:latin typeface="Calibri"/>
                        <a:cs typeface="Calibri"/>
                      </a:endParaRPr>
                    </a:p>
                  </a:txBody>
                  <a:tcPr marL="22289" marR="22289" marT="37148" marB="37148" anchor="ctr">
                    <a:solidFill>
                      <a:schemeClr val="bg1"/>
                    </a:solidFill>
                  </a:tcPr>
                </a:tc>
                <a:extLst>
                  <a:ext uri="{0D108BD9-81ED-4DB2-BD59-A6C34878D82A}">
                    <a16:rowId xmlns:a16="http://schemas.microsoft.com/office/drawing/2014/main" val="10008"/>
                  </a:ext>
                </a:extLst>
              </a:tr>
              <a:tr h="294747">
                <a:tc>
                  <a:txBody>
                    <a:bodyPr/>
                    <a:lstStyle/>
                    <a:p>
                      <a:pPr marL="0" marR="9525"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Liquidity - 3M ADTV</a:t>
                      </a:r>
                    </a:p>
                  </a:txBody>
                  <a:tcPr marL="22289" marR="22289" marT="37148" marB="37148" anchor="ctr">
                    <a:solidFill>
                      <a:srgbClr val="C0FCF5"/>
                    </a:solidFill>
                  </a:tcPr>
                </a:tc>
                <a:tc>
                  <a:txBody>
                    <a:bodyPr/>
                    <a:lstStyle/>
                    <a:p>
                      <a:pPr marL="6350" algn="ctr">
                        <a:lnSpc>
                          <a:spcPct val="100000"/>
                        </a:lnSpc>
                        <a:spcBef>
                          <a:spcPts val="0"/>
                        </a:spcBef>
                      </a:pPr>
                      <a:r>
                        <a:rPr sz="700" spc="-25">
                          <a:solidFill>
                            <a:schemeClr val="tx1"/>
                          </a:solidFill>
                        </a:rPr>
                        <a:t>7.4</a:t>
                      </a:r>
                      <a:endParaRPr sz="700">
                        <a:solidFill>
                          <a:schemeClr val="tx1"/>
                        </a:solidFill>
                        <a:latin typeface="Calibri"/>
                        <a:cs typeface="Calibri"/>
                      </a:endParaRPr>
                    </a:p>
                  </a:txBody>
                  <a:tcPr marL="22289" marR="22289" marT="37148" marB="37148" anchor="ctr">
                    <a:solidFill>
                      <a:schemeClr val="bg1">
                        <a:lumMod val="95000"/>
                      </a:schemeClr>
                    </a:solidFill>
                  </a:tcPr>
                </a:tc>
                <a:tc>
                  <a:txBody>
                    <a:bodyPr/>
                    <a:lstStyle/>
                    <a:p>
                      <a:pPr marL="24765" algn="ctr">
                        <a:lnSpc>
                          <a:spcPct val="100000"/>
                        </a:lnSpc>
                        <a:spcBef>
                          <a:spcPts val="0"/>
                        </a:spcBef>
                      </a:pPr>
                      <a:r>
                        <a:rPr sz="700" spc="-25">
                          <a:solidFill>
                            <a:schemeClr val="tx1"/>
                          </a:solidFill>
                        </a:rPr>
                        <a:t>6.4</a:t>
                      </a:r>
                      <a:endParaRPr sz="700">
                        <a:solidFill>
                          <a:schemeClr val="tx1"/>
                        </a:solidFill>
                        <a:latin typeface="Calibri"/>
                        <a:cs typeface="Calibri"/>
                      </a:endParaRPr>
                    </a:p>
                  </a:txBody>
                  <a:tcPr marL="22289" marR="22289" marT="37148" marB="37148" anchor="ctr">
                    <a:solidFill>
                      <a:schemeClr val="bg1">
                        <a:lumMod val="95000"/>
                      </a:schemeClr>
                    </a:solidFill>
                  </a:tcPr>
                </a:tc>
                <a:tc>
                  <a:txBody>
                    <a:bodyPr/>
                    <a:lstStyle/>
                    <a:p>
                      <a:pPr marL="22225" algn="ctr">
                        <a:lnSpc>
                          <a:spcPct val="100000"/>
                        </a:lnSpc>
                        <a:spcBef>
                          <a:spcPts val="0"/>
                        </a:spcBef>
                      </a:pPr>
                      <a:r>
                        <a:rPr sz="700" spc="-25">
                          <a:solidFill>
                            <a:schemeClr val="tx1"/>
                          </a:solidFill>
                        </a:rPr>
                        <a:t>3.3</a:t>
                      </a:r>
                      <a:endParaRPr sz="700">
                        <a:solidFill>
                          <a:schemeClr val="tx1"/>
                        </a:solidFill>
                        <a:latin typeface="Calibri"/>
                        <a:cs typeface="Calibri"/>
                      </a:endParaRPr>
                    </a:p>
                  </a:txBody>
                  <a:tcPr marL="22289" marR="22289" marT="37148" marB="37148" anchor="ctr">
                    <a:solidFill>
                      <a:schemeClr val="bg1">
                        <a:lumMod val="95000"/>
                      </a:schemeClr>
                    </a:solidFill>
                  </a:tcPr>
                </a:tc>
                <a:tc>
                  <a:txBody>
                    <a:bodyPr/>
                    <a:lstStyle/>
                    <a:p>
                      <a:pPr marL="17780" algn="ctr">
                        <a:lnSpc>
                          <a:spcPct val="100000"/>
                        </a:lnSpc>
                        <a:spcBef>
                          <a:spcPts val="0"/>
                        </a:spcBef>
                      </a:pPr>
                      <a:r>
                        <a:rPr sz="700" spc="-25">
                          <a:solidFill>
                            <a:schemeClr val="tx1"/>
                          </a:solidFill>
                        </a:rPr>
                        <a:t>7.4</a:t>
                      </a:r>
                      <a:endParaRPr sz="700">
                        <a:solidFill>
                          <a:schemeClr val="tx1"/>
                        </a:solidFill>
                        <a:latin typeface="Calibri"/>
                        <a:cs typeface="Calibri"/>
                      </a:endParaRPr>
                    </a:p>
                  </a:txBody>
                  <a:tcPr marL="22289" marR="22289" marT="37148" marB="37148" anchor="ctr">
                    <a:solidFill>
                      <a:schemeClr val="bg1">
                        <a:lumMod val="95000"/>
                      </a:schemeClr>
                    </a:solidFill>
                  </a:tcPr>
                </a:tc>
                <a:tc>
                  <a:txBody>
                    <a:bodyPr/>
                    <a:lstStyle/>
                    <a:p>
                      <a:pPr marL="14604" algn="ctr">
                        <a:lnSpc>
                          <a:spcPct val="100000"/>
                        </a:lnSpc>
                        <a:spcBef>
                          <a:spcPts val="0"/>
                        </a:spcBef>
                      </a:pPr>
                      <a:r>
                        <a:rPr sz="700" spc="-10">
                          <a:solidFill>
                            <a:schemeClr val="tx1"/>
                          </a:solidFill>
                        </a:rPr>
                        <a:t>145.7</a:t>
                      </a:r>
                      <a:endParaRPr sz="700">
                        <a:solidFill>
                          <a:schemeClr val="tx1"/>
                        </a:solidFill>
                        <a:latin typeface="Calibri"/>
                        <a:cs typeface="Calibri"/>
                      </a:endParaRPr>
                    </a:p>
                  </a:txBody>
                  <a:tcPr marL="22289" marR="22289" marT="37148" marB="37148" anchor="ctr">
                    <a:solidFill>
                      <a:schemeClr val="bg1">
                        <a:lumMod val="95000"/>
                      </a:schemeClr>
                    </a:solidFill>
                  </a:tcPr>
                </a:tc>
                <a:tc>
                  <a:txBody>
                    <a:bodyPr/>
                    <a:lstStyle/>
                    <a:p>
                      <a:pPr marL="50165" algn="ctr">
                        <a:lnSpc>
                          <a:spcPct val="100000"/>
                        </a:lnSpc>
                        <a:spcBef>
                          <a:spcPts val="0"/>
                        </a:spcBef>
                      </a:pPr>
                      <a:r>
                        <a:rPr sz="700" spc="-20">
                          <a:solidFill>
                            <a:schemeClr val="tx1"/>
                          </a:solidFill>
                        </a:rPr>
                        <a:t>9.4</a:t>
                      </a:r>
                      <a:r>
                        <a:rPr sz="700" spc="-30" baseline="37037">
                          <a:solidFill>
                            <a:schemeClr val="tx1"/>
                          </a:solidFill>
                        </a:rPr>
                        <a:t>2</a:t>
                      </a:r>
                      <a:endParaRPr sz="700" baseline="37037">
                        <a:solidFill>
                          <a:schemeClr val="tx1"/>
                        </a:solidFill>
                        <a:latin typeface="Calibri"/>
                        <a:cs typeface="Calibri"/>
                      </a:endParaRPr>
                    </a:p>
                  </a:txBody>
                  <a:tcPr marL="22289" marR="22289" marT="37148" marB="37148" anchor="ctr">
                    <a:solidFill>
                      <a:schemeClr val="bg1">
                        <a:lumMod val="95000"/>
                      </a:schemeClr>
                    </a:solidFill>
                  </a:tcPr>
                </a:tc>
                <a:tc>
                  <a:txBody>
                    <a:bodyPr/>
                    <a:lstStyle/>
                    <a:p>
                      <a:pPr marL="50165" algn="ctr">
                        <a:lnSpc>
                          <a:spcPct val="100000"/>
                        </a:lnSpc>
                        <a:spcBef>
                          <a:spcPts val="0"/>
                        </a:spcBef>
                      </a:pPr>
                      <a:r>
                        <a:rPr sz="700" spc="-10">
                          <a:solidFill>
                            <a:schemeClr val="tx1"/>
                          </a:solidFill>
                        </a:rPr>
                        <a:t>103.5</a:t>
                      </a:r>
                      <a:r>
                        <a:rPr sz="700" spc="-15" baseline="37037">
                          <a:solidFill>
                            <a:schemeClr val="tx1"/>
                          </a:solidFill>
                        </a:rPr>
                        <a:t>2</a:t>
                      </a:r>
                      <a:endParaRPr sz="700" baseline="37037">
                        <a:solidFill>
                          <a:schemeClr val="tx1"/>
                        </a:solidFill>
                        <a:latin typeface="Calibri"/>
                        <a:cs typeface="Calibri"/>
                      </a:endParaRPr>
                    </a:p>
                  </a:txBody>
                  <a:tcPr marL="22289" marR="22289" marT="37148" marB="37148" anchor="ctr">
                    <a:solidFill>
                      <a:schemeClr val="bg1">
                        <a:lumMod val="95000"/>
                      </a:schemeClr>
                    </a:solidFill>
                  </a:tcPr>
                </a:tc>
                <a:extLst>
                  <a:ext uri="{0D108BD9-81ED-4DB2-BD59-A6C34878D82A}">
                    <a16:rowId xmlns:a16="http://schemas.microsoft.com/office/drawing/2014/main" val="10009"/>
                  </a:ext>
                </a:extLst>
              </a:tr>
              <a:tr h="294747">
                <a:tc>
                  <a:txBody>
                    <a:bodyPr/>
                    <a:lstStyle/>
                    <a:p>
                      <a:pPr marL="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Southbound</a:t>
                      </a:r>
                    </a:p>
                    <a:p>
                      <a:pPr marL="0" indent="0" algn="ctr" defTabSz="914400" rtl="0" eaLnBrk="1" latinLnBrk="0" hangingPunct="1">
                        <a:lnSpc>
                          <a:spcPct val="100000"/>
                        </a:lnSpc>
                        <a:spcBef>
                          <a:spcPts val="0"/>
                        </a:spcBef>
                      </a:pPr>
                      <a:r>
                        <a:rPr lang="en-US" sz="700" b="1" kern="1200" spc="-10">
                          <a:solidFill>
                            <a:schemeClr val="tx1"/>
                          </a:solidFill>
                          <a:latin typeface="+mn-lt"/>
                          <a:ea typeface="+mn-ea"/>
                          <a:cs typeface="+mn-cs"/>
                        </a:rPr>
                        <a:t>Inclusion</a:t>
                      </a:r>
                    </a:p>
                  </a:txBody>
                  <a:tcPr marL="22289" marR="22289" marT="37148" marB="37148" anchor="ctr">
                    <a:solidFill>
                      <a:srgbClr val="C0FCF5"/>
                    </a:solidFill>
                  </a:tcPr>
                </a:tc>
                <a:tc>
                  <a:txBody>
                    <a:bodyPr/>
                    <a:lstStyle/>
                    <a:p>
                      <a:pPr>
                        <a:lnSpc>
                          <a:spcPct val="100000"/>
                        </a:lnSpc>
                        <a:spcBef>
                          <a:spcPts val="0"/>
                        </a:spcBef>
                      </a:pPr>
                      <a:endParaRPr sz="700">
                        <a:solidFill>
                          <a:schemeClr val="tx1"/>
                        </a:solidFill>
                        <a:latin typeface="Times New Roman"/>
                        <a:cs typeface="Times New Roman"/>
                      </a:endParaRPr>
                    </a:p>
                  </a:txBody>
                  <a:tcPr marL="22289" marR="22289" marT="37148" marB="37148" anchor="ctr">
                    <a:solidFill>
                      <a:schemeClr val="bg1"/>
                    </a:solidFill>
                  </a:tcPr>
                </a:tc>
                <a:tc>
                  <a:txBody>
                    <a:bodyPr/>
                    <a:lstStyle/>
                    <a:p>
                      <a:pPr>
                        <a:lnSpc>
                          <a:spcPct val="100000"/>
                        </a:lnSpc>
                        <a:spcBef>
                          <a:spcPts val="0"/>
                        </a:spcBef>
                      </a:pPr>
                      <a:endParaRPr sz="700">
                        <a:solidFill>
                          <a:schemeClr val="tx1"/>
                        </a:solidFill>
                        <a:latin typeface="Times New Roman"/>
                        <a:cs typeface="Times New Roman"/>
                      </a:endParaRPr>
                    </a:p>
                  </a:txBody>
                  <a:tcPr marL="22289" marR="22289" marT="37148" marB="37148" anchor="ctr">
                    <a:solidFill>
                      <a:schemeClr val="bg1"/>
                    </a:solidFill>
                  </a:tcPr>
                </a:tc>
                <a:tc>
                  <a:txBody>
                    <a:bodyPr/>
                    <a:lstStyle/>
                    <a:p>
                      <a:pPr>
                        <a:lnSpc>
                          <a:spcPct val="100000"/>
                        </a:lnSpc>
                        <a:spcBef>
                          <a:spcPts val="0"/>
                        </a:spcBef>
                      </a:pPr>
                      <a:endParaRPr sz="700">
                        <a:solidFill>
                          <a:schemeClr val="tx1"/>
                        </a:solidFill>
                        <a:latin typeface="Times New Roman"/>
                        <a:cs typeface="Times New Roman"/>
                      </a:endParaRPr>
                    </a:p>
                  </a:txBody>
                  <a:tcPr marL="22289" marR="22289" marT="37148" marB="37148" anchor="ctr">
                    <a:solidFill>
                      <a:schemeClr val="bg1"/>
                    </a:solidFill>
                  </a:tcPr>
                </a:tc>
                <a:tc>
                  <a:txBody>
                    <a:bodyPr/>
                    <a:lstStyle/>
                    <a:p>
                      <a:pPr marL="17780" algn="ctr">
                        <a:lnSpc>
                          <a:spcPct val="100000"/>
                        </a:lnSpc>
                        <a:spcBef>
                          <a:spcPts val="0"/>
                        </a:spcBef>
                      </a:pPr>
                      <a:r>
                        <a:rPr sz="700" spc="-50">
                          <a:solidFill>
                            <a:schemeClr val="tx1"/>
                          </a:solidFill>
                        </a:rPr>
                        <a:t>/</a:t>
                      </a:r>
                      <a:endParaRPr sz="700">
                        <a:solidFill>
                          <a:schemeClr val="tx1"/>
                        </a:solidFill>
                        <a:latin typeface="Arial"/>
                        <a:cs typeface="Arial"/>
                      </a:endParaRPr>
                    </a:p>
                  </a:txBody>
                  <a:tcPr marL="22289" marR="22289" marT="37148" marB="37148" anchor="ctr">
                    <a:solidFill>
                      <a:schemeClr val="bg1"/>
                    </a:solidFill>
                  </a:tcPr>
                </a:tc>
                <a:tc>
                  <a:txBody>
                    <a:bodyPr/>
                    <a:lstStyle/>
                    <a:p>
                      <a:pPr>
                        <a:lnSpc>
                          <a:spcPct val="100000"/>
                        </a:lnSpc>
                        <a:spcBef>
                          <a:spcPts val="0"/>
                        </a:spcBef>
                      </a:pPr>
                      <a:endParaRPr sz="700">
                        <a:solidFill>
                          <a:schemeClr val="tx1"/>
                        </a:solidFill>
                        <a:latin typeface="Times New Roman"/>
                        <a:cs typeface="Times New Roman"/>
                      </a:endParaRPr>
                    </a:p>
                  </a:txBody>
                  <a:tcPr marL="22289" marR="22289" marT="37148" marB="37148" anchor="ctr">
                    <a:solidFill>
                      <a:schemeClr val="bg1"/>
                    </a:solidFill>
                  </a:tcPr>
                </a:tc>
                <a:tc>
                  <a:txBody>
                    <a:bodyPr/>
                    <a:lstStyle/>
                    <a:p>
                      <a:pPr marL="52069" algn="ctr">
                        <a:lnSpc>
                          <a:spcPct val="100000"/>
                        </a:lnSpc>
                        <a:spcBef>
                          <a:spcPts val="0"/>
                        </a:spcBef>
                      </a:pPr>
                      <a:r>
                        <a:rPr sz="700" spc="-50">
                          <a:solidFill>
                            <a:schemeClr val="tx1"/>
                          </a:solidFill>
                        </a:rPr>
                        <a:t>/</a:t>
                      </a:r>
                      <a:endParaRPr sz="700">
                        <a:solidFill>
                          <a:schemeClr val="tx1"/>
                        </a:solidFill>
                        <a:latin typeface="Arial"/>
                        <a:cs typeface="Arial"/>
                      </a:endParaRPr>
                    </a:p>
                  </a:txBody>
                  <a:tcPr marL="22289" marR="22289" marT="37148" marB="37148" anchor="ctr">
                    <a:solidFill>
                      <a:schemeClr val="bg1"/>
                    </a:solidFill>
                  </a:tcPr>
                </a:tc>
                <a:tc>
                  <a:txBody>
                    <a:bodyPr/>
                    <a:lstStyle/>
                    <a:p>
                      <a:pPr marL="51435" algn="ctr">
                        <a:lnSpc>
                          <a:spcPct val="100000"/>
                        </a:lnSpc>
                        <a:spcBef>
                          <a:spcPts val="0"/>
                        </a:spcBef>
                      </a:pPr>
                      <a:r>
                        <a:rPr sz="700" spc="-50">
                          <a:solidFill>
                            <a:schemeClr val="tx1"/>
                          </a:solidFill>
                        </a:rPr>
                        <a:t>/</a:t>
                      </a:r>
                      <a:endParaRPr sz="700">
                        <a:solidFill>
                          <a:schemeClr val="tx1"/>
                        </a:solidFill>
                        <a:latin typeface="Arial"/>
                        <a:cs typeface="Arial"/>
                      </a:endParaRPr>
                    </a:p>
                  </a:txBody>
                  <a:tcPr marL="22289" marR="22289" marT="37148" marB="37148" anchor="ctr">
                    <a:solidFill>
                      <a:schemeClr val="bg1"/>
                    </a:solidFill>
                  </a:tcPr>
                </a:tc>
                <a:extLst>
                  <a:ext uri="{0D108BD9-81ED-4DB2-BD59-A6C34878D82A}">
                    <a16:rowId xmlns:a16="http://schemas.microsoft.com/office/drawing/2014/main" val="10010"/>
                  </a:ext>
                </a:extLst>
              </a:tr>
            </a:tbl>
          </a:graphicData>
        </a:graphic>
      </p:graphicFrame>
      <p:sp>
        <p:nvSpPr>
          <p:cNvPr id="22" name="object 70">
            <a:extLst>
              <a:ext uri="{FF2B5EF4-FFF2-40B4-BE49-F238E27FC236}">
                <a16:creationId xmlns:a16="http://schemas.microsoft.com/office/drawing/2014/main" id="{B67FB7A0-07CD-321F-D143-3ED9B1429BB3}"/>
              </a:ext>
            </a:extLst>
          </p:cNvPr>
          <p:cNvSpPr txBox="1"/>
          <p:nvPr/>
        </p:nvSpPr>
        <p:spPr>
          <a:xfrm>
            <a:off x="8205688" y="1542360"/>
            <a:ext cx="1142802" cy="374846"/>
          </a:xfrm>
          <a:prstGeom prst="rect">
            <a:avLst/>
          </a:prstGeom>
        </p:spPr>
        <p:txBody>
          <a:bodyPr vert="horz" wrap="square" lIns="0" tIns="0" rIns="0" bIns="0" rtlCol="0">
            <a:spAutoFit/>
          </a:bodyPr>
          <a:lstStyle/>
          <a:p>
            <a:pPr marL="256937" marR="229076" algn="ctr">
              <a:lnSpc>
                <a:spcPct val="115399"/>
              </a:lnSpc>
              <a:spcBef>
                <a:spcPts val="500"/>
              </a:spcBef>
            </a:pPr>
            <a:r>
              <a:rPr sz="1300">
                <a:solidFill>
                  <a:srgbClr val="24C9D2"/>
                </a:solidFill>
                <a:latin typeface="Arial"/>
                <a:cs typeface="Arial"/>
              </a:rPr>
              <a:t>4</a:t>
            </a:r>
            <a:r>
              <a:rPr sz="1300" spc="-28">
                <a:solidFill>
                  <a:srgbClr val="24C9D2"/>
                </a:solidFill>
                <a:latin typeface="Arial"/>
                <a:cs typeface="Arial"/>
              </a:rPr>
              <a:t> </a:t>
            </a:r>
            <a:r>
              <a:rPr sz="894">
                <a:solidFill>
                  <a:srgbClr val="12426B"/>
                </a:solidFill>
                <a:latin typeface="Arial"/>
                <a:cs typeface="Arial"/>
              </a:rPr>
              <a:t>Active </a:t>
            </a:r>
            <a:r>
              <a:rPr sz="894" spc="-28">
                <a:solidFill>
                  <a:srgbClr val="12426B"/>
                </a:solidFill>
                <a:latin typeface="Arial"/>
                <a:cs typeface="Arial"/>
              </a:rPr>
              <a:t>A1 </a:t>
            </a:r>
            <a:r>
              <a:rPr sz="894" spc="-8">
                <a:solidFill>
                  <a:srgbClr val="12426B"/>
                </a:solidFill>
                <a:latin typeface="Arial"/>
                <a:cs typeface="Arial"/>
              </a:rPr>
              <a:t>Filings</a:t>
            </a:r>
            <a:endParaRPr sz="488">
              <a:latin typeface="Arial"/>
              <a:cs typeface="Arial"/>
            </a:endParaRPr>
          </a:p>
        </p:txBody>
      </p:sp>
      <p:sp>
        <p:nvSpPr>
          <p:cNvPr id="9" name="object 9">
            <a:extLst>
              <a:ext uri="{FF2B5EF4-FFF2-40B4-BE49-F238E27FC236}">
                <a16:creationId xmlns:a16="http://schemas.microsoft.com/office/drawing/2014/main" id="{79AF8196-36E6-4B39-B37D-158C4AA1C7F6}"/>
              </a:ext>
            </a:extLst>
          </p:cNvPr>
          <p:cNvSpPr txBox="1"/>
          <p:nvPr/>
        </p:nvSpPr>
        <p:spPr>
          <a:xfrm>
            <a:off x="8244870" y="4395873"/>
            <a:ext cx="1124375" cy="209953"/>
          </a:xfrm>
          <a:prstGeom prst="rect">
            <a:avLst/>
          </a:prstGeom>
        </p:spPr>
        <p:txBody>
          <a:bodyPr vert="horz" wrap="square" lIns="0" tIns="9803" rIns="0" bIns="0" rtlCol="0">
            <a:spAutoFit/>
          </a:bodyPr>
          <a:lstStyle/>
          <a:p>
            <a:pPr algn="ctr">
              <a:spcBef>
                <a:spcPts val="77"/>
              </a:spcBef>
            </a:pPr>
            <a:r>
              <a:rPr sz="1300">
                <a:solidFill>
                  <a:srgbClr val="24C9D2"/>
                </a:solidFill>
                <a:latin typeface="Arial"/>
                <a:cs typeface="Arial"/>
              </a:rPr>
              <a:t>1</a:t>
            </a:r>
            <a:r>
              <a:rPr sz="1300" spc="-4">
                <a:solidFill>
                  <a:srgbClr val="24C9D2"/>
                </a:solidFill>
                <a:latin typeface="Arial"/>
                <a:cs typeface="Arial"/>
              </a:rPr>
              <a:t> </a:t>
            </a:r>
            <a:r>
              <a:rPr sz="894" spc="-8">
                <a:solidFill>
                  <a:srgbClr val="12426B"/>
                </a:solidFill>
                <a:latin typeface="Arial"/>
                <a:cs typeface="Arial"/>
              </a:rPr>
              <a:t>Announced</a:t>
            </a:r>
            <a:endParaRPr sz="894">
              <a:latin typeface="Arial"/>
              <a:cs typeface="Arial"/>
            </a:endParaRPr>
          </a:p>
        </p:txBody>
      </p:sp>
      <p:pic>
        <p:nvPicPr>
          <p:cNvPr id="84" name="object 27">
            <a:extLst>
              <a:ext uri="{FF2B5EF4-FFF2-40B4-BE49-F238E27FC236}">
                <a16:creationId xmlns:a16="http://schemas.microsoft.com/office/drawing/2014/main" id="{445AB514-9511-252E-660D-2FD1EDF7690F}"/>
              </a:ext>
            </a:extLst>
          </p:cNvPr>
          <p:cNvPicPr/>
          <p:nvPr/>
        </p:nvPicPr>
        <p:blipFill>
          <a:blip r:embed="rId2" cstate="print"/>
          <a:stretch>
            <a:fillRect/>
          </a:stretch>
        </p:blipFill>
        <p:spPr>
          <a:xfrm>
            <a:off x="1539958" y="5302227"/>
            <a:ext cx="237240" cy="242398"/>
          </a:xfrm>
          <a:prstGeom prst="rect">
            <a:avLst/>
          </a:prstGeom>
        </p:spPr>
      </p:pic>
      <p:pic>
        <p:nvPicPr>
          <p:cNvPr id="85" name="object 28">
            <a:extLst>
              <a:ext uri="{FF2B5EF4-FFF2-40B4-BE49-F238E27FC236}">
                <a16:creationId xmlns:a16="http://schemas.microsoft.com/office/drawing/2014/main" id="{E2F45D9A-0B62-DA19-1EA0-98BF0B36E00E}"/>
              </a:ext>
            </a:extLst>
          </p:cNvPr>
          <p:cNvPicPr/>
          <p:nvPr/>
        </p:nvPicPr>
        <p:blipFill>
          <a:blip r:embed="rId3" cstate="print"/>
          <a:stretch>
            <a:fillRect/>
          </a:stretch>
        </p:blipFill>
        <p:spPr>
          <a:xfrm>
            <a:off x="2534891" y="5302227"/>
            <a:ext cx="237241" cy="242397"/>
          </a:xfrm>
          <a:prstGeom prst="rect">
            <a:avLst/>
          </a:prstGeom>
        </p:spPr>
      </p:pic>
      <p:pic>
        <p:nvPicPr>
          <p:cNvPr id="86" name="object 29">
            <a:extLst>
              <a:ext uri="{FF2B5EF4-FFF2-40B4-BE49-F238E27FC236}">
                <a16:creationId xmlns:a16="http://schemas.microsoft.com/office/drawing/2014/main" id="{BDC43D8B-BC26-F713-42A8-5A6079F4DB61}"/>
              </a:ext>
            </a:extLst>
          </p:cNvPr>
          <p:cNvPicPr/>
          <p:nvPr/>
        </p:nvPicPr>
        <p:blipFill>
          <a:blip r:embed="rId4" cstate="print"/>
          <a:stretch>
            <a:fillRect/>
          </a:stretch>
        </p:blipFill>
        <p:spPr>
          <a:xfrm>
            <a:off x="3550258" y="5302227"/>
            <a:ext cx="237240" cy="242398"/>
          </a:xfrm>
          <a:prstGeom prst="rect">
            <a:avLst/>
          </a:prstGeom>
        </p:spPr>
      </p:pic>
      <p:pic>
        <p:nvPicPr>
          <p:cNvPr id="87" name="object 30">
            <a:extLst>
              <a:ext uri="{FF2B5EF4-FFF2-40B4-BE49-F238E27FC236}">
                <a16:creationId xmlns:a16="http://schemas.microsoft.com/office/drawing/2014/main" id="{FB503728-53DE-CD4E-6965-75A0B2EDCA4B}"/>
              </a:ext>
            </a:extLst>
          </p:cNvPr>
          <p:cNvPicPr/>
          <p:nvPr/>
        </p:nvPicPr>
        <p:blipFill>
          <a:blip r:embed="rId2" cstate="print"/>
          <a:stretch>
            <a:fillRect/>
          </a:stretch>
        </p:blipFill>
        <p:spPr>
          <a:xfrm>
            <a:off x="5561794" y="5302227"/>
            <a:ext cx="237240" cy="242398"/>
          </a:xfrm>
          <a:prstGeom prst="rect">
            <a:avLst/>
          </a:prstGeom>
        </p:spPr>
      </p:pic>
      <p:grpSp>
        <p:nvGrpSpPr>
          <p:cNvPr id="15" name="Group 14">
            <a:extLst>
              <a:ext uri="{FF2B5EF4-FFF2-40B4-BE49-F238E27FC236}">
                <a16:creationId xmlns:a16="http://schemas.microsoft.com/office/drawing/2014/main" id="{056394A9-5941-13BF-C061-802A29EDA338}"/>
              </a:ext>
            </a:extLst>
          </p:cNvPr>
          <p:cNvGrpSpPr/>
          <p:nvPr/>
        </p:nvGrpSpPr>
        <p:grpSpPr>
          <a:xfrm>
            <a:off x="1201228" y="1325738"/>
            <a:ext cx="6903886" cy="3167750"/>
            <a:chOff x="1397932" y="1359490"/>
            <a:chExt cx="6684326" cy="3167750"/>
          </a:xfrm>
        </p:grpSpPr>
        <p:pic>
          <p:nvPicPr>
            <p:cNvPr id="35" name="object 5" descr="Insilico Medicine - Wikipedia">
              <a:extLst>
                <a:ext uri="{FF2B5EF4-FFF2-40B4-BE49-F238E27FC236}">
                  <a16:creationId xmlns:a16="http://schemas.microsoft.com/office/drawing/2014/main" id="{C1B9C995-A049-759E-D969-C96BB038B4C3}"/>
                </a:ext>
              </a:extLst>
            </p:cNvPr>
            <p:cNvPicPr/>
            <p:nvPr/>
          </p:nvPicPr>
          <p:blipFill>
            <a:blip r:embed="rId5" cstate="print"/>
            <a:stretch>
              <a:fillRect/>
            </a:stretch>
          </p:blipFill>
          <p:spPr>
            <a:xfrm>
              <a:off x="7415134" y="1384771"/>
              <a:ext cx="594360" cy="275407"/>
            </a:xfrm>
            <a:prstGeom prst="rect">
              <a:avLst/>
            </a:prstGeom>
          </p:spPr>
        </p:pic>
        <p:pic>
          <p:nvPicPr>
            <p:cNvPr id="36" name="object 61" descr="Mirxes | Genomic Services | Next-Generation Sequencing (NGS)">
              <a:extLst>
                <a:ext uri="{FF2B5EF4-FFF2-40B4-BE49-F238E27FC236}">
                  <a16:creationId xmlns:a16="http://schemas.microsoft.com/office/drawing/2014/main" id="{D905749B-F428-32B4-8800-B5B98FF843EE}"/>
                </a:ext>
              </a:extLst>
            </p:cNvPr>
            <p:cNvPicPr/>
            <p:nvPr/>
          </p:nvPicPr>
          <p:blipFill>
            <a:blip r:embed="rId6" cstate="print"/>
            <a:stretch>
              <a:fillRect/>
            </a:stretch>
          </p:blipFill>
          <p:spPr>
            <a:xfrm>
              <a:off x="2494535" y="1456692"/>
              <a:ext cx="594359" cy="155813"/>
            </a:xfrm>
            <a:prstGeom prst="rect">
              <a:avLst/>
            </a:prstGeom>
          </p:spPr>
        </p:pic>
        <p:pic>
          <p:nvPicPr>
            <p:cNvPr id="37" name="object 62" descr="Shandong Nanshan Aluminium Co., Ltd. | Members | About ASI | Aluminium  Stewardship Initiative">
              <a:extLst>
                <a:ext uri="{FF2B5EF4-FFF2-40B4-BE49-F238E27FC236}">
                  <a16:creationId xmlns:a16="http://schemas.microsoft.com/office/drawing/2014/main" id="{305F336F-42EF-D937-A1CC-6312ADE517A6}"/>
                </a:ext>
              </a:extLst>
            </p:cNvPr>
            <p:cNvPicPr/>
            <p:nvPr/>
          </p:nvPicPr>
          <p:blipFill>
            <a:blip r:embed="rId7" cstate="print"/>
            <a:stretch>
              <a:fillRect/>
            </a:stretch>
          </p:blipFill>
          <p:spPr>
            <a:xfrm>
              <a:off x="1455818" y="1422012"/>
              <a:ext cx="668655" cy="215775"/>
            </a:xfrm>
            <a:prstGeom prst="rect">
              <a:avLst/>
            </a:prstGeom>
          </p:spPr>
        </p:pic>
        <p:pic>
          <p:nvPicPr>
            <p:cNvPr id="38" name="object 63">
              <a:extLst>
                <a:ext uri="{FF2B5EF4-FFF2-40B4-BE49-F238E27FC236}">
                  <a16:creationId xmlns:a16="http://schemas.microsoft.com/office/drawing/2014/main" id="{8BD6A965-21F0-C6F1-DE10-1E99BFE430A2}"/>
                </a:ext>
              </a:extLst>
            </p:cNvPr>
            <p:cNvPicPr/>
            <p:nvPr/>
          </p:nvPicPr>
          <p:blipFill>
            <a:blip r:embed="rId8" cstate="print"/>
            <a:stretch>
              <a:fillRect/>
            </a:stretch>
          </p:blipFill>
          <p:spPr>
            <a:xfrm>
              <a:off x="3673039" y="1399981"/>
              <a:ext cx="203372" cy="252458"/>
            </a:xfrm>
            <a:prstGeom prst="rect">
              <a:avLst/>
            </a:prstGeom>
          </p:spPr>
        </p:pic>
        <p:pic>
          <p:nvPicPr>
            <p:cNvPr id="39" name="object 64" descr="Jiaxin International Resources Investment Limited 佳鑫國際資源投資有限公司">
              <a:extLst>
                <a:ext uri="{FF2B5EF4-FFF2-40B4-BE49-F238E27FC236}">
                  <a16:creationId xmlns:a16="http://schemas.microsoft.com/office/drawing/2014/main" id="{EDB54481-D168-923A-30BE-734777D7C221}"/>
                </a:ext>
              </a:extLst>
            </p:cNvPr>
            <p:cNvPicPr/>
            <p:nvPr/>
          </p:nvPicPr>
          <p:blipFill>
            <a:blip r:embed="rId9" cstate="print"/>
            <a:stretch>
              <a:fillRect/>
            </a:stretch>
          </p:blipFill>
          <p:spPr>
            <a:xfrm>
              <a:off x="4622778" y="1359490"/>
              <a:ext cx="275882" cy="318126"/>
            </a:xfrm>
            <a:prstGeom prst="rect">
              <a:avLst/>
            </a:prstGeom>
          </p:spPr>
        </p:pic>
        <p:pic>
          <p:nvPicPr>
            <p:cNvPr id="40" name="object 65" descr="Zijin Mining logo in transparent PNG and vectorized SVG formats">
              <a:extLst>
                <a:ext uri="{FF2B5EF4-FFF2-40B4-BE49-F238E27FC236}">
                  <a16:creationId xmlns:a16="http://schemas.microsoft.com/office/drawing/2014/main" id="{F0349889-0CAC-561C-7F62-958B08BCC74E}"/>
                </a:ext>
              </a:extLst>
            </p:cNvPr>
            <p:cNvPicPr/>
            <p:nvPr/>
          </p:nvPicPr>
          <p:blipFill>
            <a:blip r:embed="rId10" cstate="print"/>
            <a:stretch>
              <a:fillRect/>
            </a:stretch>
          </p:blipFill>
          <p:spPr>
            <a:xfrm>
              <a:off x="5448689" y="1449470"/>
              <a:ext cx="594360" cy="157463"/>
            </a:xfrm>
            <a:prstGeom prst="rect">
              <a:avLst/>
            </a:prstGeom>
          </p:spPr>
        </p:pic>
        <p:pic>
          <p:nvPicPr>
            <p:cNvPr id="41" name="object 66" descr="Softcare | InvestHK">
              <a:extLst>
                <a:ext uri="{FF2B5EF4-FFF2-40B4-BE49-F238E27FC236}">
                  <a16:creationId xmlns:a16="http://schemas.microsoft.com/office/drawing/2014/main" id="{8E8DB743-7E2D-A9BB-3D48-909AD261DDB6}"/>
                </a:ext>
              </a:extLst>
            </p:cNvPr>
            <p:cNvPicPr/>
            <p:nvPr/>
          </p:nvPicPr>
          <p:blipFill>
            <a:blip r:embed="rId11" cstate="print"/>
            <a:stretch>
              <a:fillRect/>
            </a:stretch>
          </p:blipFill>
          <p:spPr>
            <a:xfrm>
              <a:off x="6391204" y="1398051"/>
              <a:ext cx="668655" cy="257174"/>
            </a:xfrm>
            <a:prstGeom prst="rect">
              <a:avLst/>
            </a:prstGeom>
          </p:spPr>
        </p:pic>
        <p:grpSp>
          <p:nvGrpSpPr>
            <p:cNvPr id="14" name="Group 13">
              <a:extLst>
                <a:ext uri="{FF2B5EF4-FFF2-40B4-BE49-F238E27FC236}">
                  <a16:creationId xmlns:a16="http://schemas.microsoft.com/office/drawing/2014/main" id="{C795BE93-2A5B-21DF-972A-AF06BE9AF6F8}"/>
                </a:ext>
              </a:extLst>
            </p:cNvPr>
            <p:cNvGrpSpPr/>
            <p:nvPr/>
          </p:nvGrpSpPr>
          <p:grpSpPr>
            <a:xfrm>
              <a:off x="1397932" y="3655959"/>
              <a:ext cx="6684326" cy="871281"/>
              <a:chOff x="1397932" y="3655959"/>
              <a:chExt cx="6684326" cy="871281"/>
            </a:xfrm>
          </p:grpSpPr>
          <p:sp>
            <p:nvSpPr>
              <p:cNvPr id="33" name="TextBox 32">
                <a:extLst>
                  <a:ext uri="{FF2B5EF4-FFF2-40B4-BE49-F238E27FC236}">
                    <a16:creationId xmlns:a16="http://schemas.microsoft.com/office/drawing/2014/main" id="{A78BE75D-12A3-6518-D7D4-AB3343868A97}"/>
                  </a:ext>
                </a:extLst>
              </p:cNvPr>
              <p:cNvSpPr txBox="1"/>
              <p:nvPr/>
            </p:nvSpPr>
            <p:spPr>
              <a:xfrm>
                <a:off x="2528178" y="4399154"/>
                <a:ext cx="631583" cy="100027"/>
              </a:xfrm>
              <a:prstGeom prst="rect">
                <a:avLst/>
              </a:prstGeom>
              <a:noFill/>
            </p:spPr>
            <p:txBody>
              <a:bodyPr wrap="none" lIns="0" tIns="0" rIns="0" bIns="0" rtlCol="0" anchor="ctr" anchorCtr="0">
                <a:spAutoFit/>
              </a:bodyPr>
              <a:lstStyle/>
              <a:p>
                <a:r>
                  <a:rPr lang="en-US" sz="650"/>
                  <a:t>Jiujiang SASAC</a:t>
                </a:r>
              </a:p>
            </p:txBody>
          </p:sp>
          <p:pic>
            <p:nvPicPr>
              <p:cNvPr id="43" name="object 32" descr="Singapore flag icon - Country flags">
                <a:extLst>
                  <a:ext uri="{FF2B5EF4-FFF2-40B4-BE49-F238E27FC236}">
                    <a16:creationId xmlns:a16="http://schemas.microsoft.com/office/drawing/2014/main" id="{653D8F76-D91B-573C-2189-F570058B8EA5}"/>
                  </a:ext>
                </a:extLst>
              </p:cNvPr>
              <p:cNvPicPr/>
              <p:nvPr/>
            </p:nvPicPr>
            <p:blipFill>
              <a:blip r:embed="rId12" cstate="print"/>
              <a:stretch>
                <a:fillRect/>
              </a:stretch>
            </p:blipFill>
            <p:spPr>
              <a:xfrm>
                <a:off x="2398814" y="3666333"/>
                <a:ext cx="154866" cy="154866"/>
              </a:xfrm>
              <a:prstGeom prst="rect">
                <a:avLst/>
              </a:prstGeom>
            </p:spPr>
          </p:pic>
          <p:pic>
            <p:nvPicPr>
              <p:cNvPr id="44" name="object 33">
                <a:extLst>
                  <a:ext uri="{FF2B5EF4-FFF2-40B4-BE49-F238E27FC236}">
                    <a16:creationId xmlns:a16="http://schemas.microsoft.com/office/drawing/2014/main" id="{4D0ACFAE-621A-D1DE-261C-EFFFCB056C27}"/>
                  </a:ext>
                </a:extLst>
              </p:cNvPr>
              <p:cNvPicPr/>
              <p:nvPr/>
            </p:nvPicPr>
            <p:blipFill>
              <a:blip r:embed="rId13" cstate="print"/>
              <a:stretch>
                <a:fillRect/>
              </a:stretch>
            </p:blipFill>
            <p:spPr>
              <a:xfrm>
                <a:off x="2388439" y="3655959"/>
                <a:ext cx="175615" cy="175615"/>
              </a:xfrm>
              <a:prstGeom prst="rect">
                <a:avLst/>
              </a:prstGeom>
            </p:spPr>
          </p:pic>
          <p:sp>
            <p:nvSpPr>
              <p:cNvPr id="45" name="object 34">
                <a:extLst>
                  <a:ext uri="{FF2B5EF4-FFF2-40B4-BE49-F238E27FC236}">
                    <a16:creationId xmlns:a16="http://schemas.microsoft.com/office/drawing/2014/main" id="{154B46A8-74AE-D831-2C1D-06338561DA11}"/>
                  </a:ext>
                </a:extLst>
              </p:cNvPr>
              <p:cNvSpPr/>
              <p:nvPr/>
            </p:nvSpPr>
            <p:spPr>
              <a:xfrm>
                <a:off x="5438280" y="3668671"/>
                <a:ext cx="150468" cy="150468"/>
              </a:xfrm>
              <a:custGeom>
                <a:avLst/>
                <a:gdLst/>
                <a:ahLst/>
                <a:cxnLst/>
                <a:rect l="l" t="t" r="r" b="b"/>
                <a:pathLst>
                  <a:path w="139064" h="139064">
                    <a:moveTo>
                      <a:pt x="93052" y="62649"/>
                    </a:moveTo>
                    <a:lnTo>
                      <a:pt x="92494" y="61912"/>
                    </a:lnTo>
                    <a:lnTo>
                      <a:pt x="91770" y="61734"/>
                    </a:lnTo>
                    <a:lnTo>
                      <a:pt x="83007" y="58813"/>
                    </a:lnTo>
                    <a:lnTo>
                      <a:pt x="82270" y="58623"/>
                    </a:lnTo>
                    <a:lnTo>
                      <a:pt x="81724" y="58623"/>
                    </a:lnTo>
                    <a:lnTo>
                      <a:pt x="74777" y="60274"/>
                    </a:lnTo>
                    <a:lnTo>
                      <a:pt x="74231" y="60642"/>
                    </a:lnTo>
                    <a:lnTo>
                      <a:pt x="74053" y="61366"/>
                    </a:lnTo>
                    <a:lnTo>
                      <a:pt x="74777" y="62103"/>
                    </a:lnTo>
                    <a:lnTo>
                      <a:pt x="84099" y="62103"/>
                    </a:lnTo>
                    <a:lnTo>
                      <a:pt x="84467" y="62280"/>
                    </a:lnTo>
                    <a:lnTo>
                      <a:pt x="90855" y="64833"/>
                    </a:lnTo>
                    <a:lnTo>
                      <a:pt x="91948" y="65201"/>
                    </a:lnTo>
                    <a:lnTo>
                      <a:pt x="93052" y="64477"/>
                    </a:lnTo>
                    <a:lnTo>
                      <a:pt x="93052" y="62649"/>
                    </a:lnTo>
                    <a:close/>
                  </a:path>
                  <a:path w="139064" h="139064">
                    <a:moveTo>
                      <a:pt x="138671" y="69227"/>
                    </a:moveTo>
                    <a:lnTo>
                      <a:pt x="133261" y="42379"/>
                    </a:lnTo>
                    <a:lnTo>
                      <a:pt x="131318" y="39509"/>
                    </a:lnTo>
                    <a:lnTo>
                      <a:pt x="131318" y="69951"/>
                    </a:lnTo>
                    <a:lnTo>
                      <a:pt x="128536" y="88023"/>
                    </a:lnTo>
                    <a:lnTo>
                      <a:pt x="122275" y="100850"/>
                    </a:lnTo>
                    <a:lnTo>
                      <a:pt x="122275" y="101003"/>
                    </a:lnTo>
                    <a:lnTo>
                      <a:pt x="121488" y="102463"/>
                    </a:lnTo>
                    <a:lnTo>
                      <a:pt x="122199" y="101003"/>
                    </a:lnTo>
                    <a:lnTo>
                      <a:pt x="122275" y="86753"/>
                    </a:lnTo>
                    <a:lnTo>
                      <a:pt x="121361" y="86563"/>
                    </a:lnTo>
                    <a:lnTo>
                      <a:pt x="121361" y="102717"/>
                    </a:lnTo>
                    <a:lnTo>
                      <a:pt x="120472" y="104470"/>
                    </a:lnTo>
                    <a:lnTo>
                      <a:pt x="108292" y="117665"/>
                    </a:lnTo>
                    <a:lnTo>
                      <a:pt x="92684" y="126949"/>
                    </a:lnTo>
                    <a:lnTo>
                      <a:pt x="103416" y="117665"/>
                    </a:lnTo>
                    <a:lnTo>
                      <a:pt x="105829" y="115074"/>
                    </a:lnTo>
                    <a:lnTo>
                      <a:pt x="108940" y="111594"/>
                    </a:lnTo>
                    <a:lnTo>
                      <a:pt x="109486" y="105943"/>
                    </a:lnTo>
                    <a:lnTo>
                      <a:pt x="121361" y="102717"/>
                    </a:lnTo>
                    <a:lnTo>
                      <a:pt x="121361" y="86563"/>
                    </a:lnTo>
                    <a:lnTo>
                      <a:pt x="109486" y="84023"/>
                    </a:lnTo>
                    <a:lnTo>
                      <a:pt x="107353" y="77076"/>
                    </a:lnTo>
                    <a:lnTo>
                      <a:pt x="107289" y="76898"/>
                    </a:lnTo>
                    <a:lnTo>
                      <a:pt x="106781" y="76708"/>
                    </a:lnTo>
                    <a:lnTo>
                      <a:pt x="96520" y="73063"/>
                    </a:lnTo>
                    <a:lnTo>
                      <a:pt x="85928" y="73063"/>
                    </a:lnTo>
                    <a:lnTo>
                      <a:pt x="85928" y="104470"/>
                    </a:lnTo>
                    <a:lnTo>
                      <a:pt x="85890" y="115074"/>
                    </a:lnTo>
                    <a:lnTo>
                      <a:pt x="84823" y="125120"/>
                    </a:lnTo>
                    <a:lnTo>
                      <a:pt x="84277" y="129133"/>
                    </a:lnTo>
                    <a:lnTo>
                      <a:pt x="79527" y="130225"/>
                    </a:lnTo>
                    <a:lnTo>
                      <a:pt x="74599" y="130962"/>
                    </a:lnTo>
                    <a:lnTo>
                      <a:pt x="69481" y="130962"/>
                    </a:lnTo>
                    <a:lnTo>
                      <a:pt x="45262" y="126377"/>
                    </a:lnTo>
                    <a:lnTo>
                      <a:pt x="25463" y="113195"/>
                    </a:lnTo>
                    <a:lnTo>
                      <a:pt x="12103" y="93510"/>
                    </a:lnTo>
                    <a:lnTo>
                      <a:pt x="7315" y="69951"/>
                    </a:lnTo>
                    <a:lnTo>
                      <a:pt x="7378" y="67576"/>
                    </a:lnTo>
                    <a:lnTo>
                      <a:pt x="7493" y="66294"/>
                    </a:lnTo>
                    <a:lnTo>
                      <a:pt x="7531" y="65938"/>
                    </a:lnTo>
                    <a:lnTo>
                      <a:pt x="7632" y="64833"/>
                    </a:lnTo>
                    <a:lnTo>
                      <a:pt x="7759" y="63563"/>
                    </a:lnTo>
                    <a:lnTo>
                      <a:pt x="7823" y="62826"/>
                    </a:lnTo>
                    <a:lnTo>
                      <a:pt x="7950" y="61544"/>
                    </a:lnTo>
                    <a:lnTo>
                      <a:pt x="8064" y="60274"/>
                    </a:lnTo>
                    <a:lnTo>
                      <a:pt x="8089" y="60083"/>
                    </a:lnTo>
                    <a:lnTo>
                      <a:pt x="8204" y="58813"/>
                    </a:lnTo>
                    <a:lnTo>
                      <a:pt x="8331" y="57543"/>
                    </a:lnTo>
                    <a:lnTo>
                      <a:pt x="11506" y="46748"/>
                    </a:lnTo>
                    <a:lnTo>
                      <a:pt x="11582" y="46482"/>
                    </a:lnTo>
                    <a:lnTo>
                      <a:pt x="16751" y="36372"/>
                    </a:lnTo>
                    <a:lnTo>
                      <a:pt x="23634" y="27393"/>
                    </a:lnTo>
                    <a:lnTo>
                      <a:pt x="25285" y="28308"/>
                    </a:lnTo>
                    <a:lnTo>
                      <a:pt x="26924" y="29768"/>
                    </a:lnTo>
                    <a:lnTo>
                      <a:pt x="27292" y="31051"/>
                    </a:lnTo>
                    <a:lnTo>
                      <a:pt x="27292" y="43281"/>
                    </a:lnTo>
                    <a:lnTo>
                      <a:pt x="27470" y="44196"/>
                    </a:lnTo>
                    <a:lnTo>
                      <a:pt x="28016" y="44742"/>
                    </a:lnTo>
                    <a:lnTo>
                      <a:pt x="40081" y="60274"/>
                    </a:lnTo>
                    <a:lnTo>
                      <a:pt x="41541" y="58813"/>
                    </a:lnTo>
                    <a:lnTo>
                      <a:pt x="41719" y="57899"/>
                    </a:lnTo>
                    <a:lnTo>
                      <a:pt x="41351" y="57162"/>
                    </a:lnTo>
                    <a:lnTo>
                      <a:pt x="39166" y="53517"/>
                    </a:lnTo>
                    <a:lnTo>
                      <a:pt x="38252" y="52057"/>
                    </a:lnTo>
                    <a:lnTo>
                      <a:pt x="39712" y="50228"/>
                    </a:lnTo>
                    <a:lnTo>
                      <a:pt x="41910" y="50952"/>
                    </a:lnTo>
                    <a:lnTo>
                      <a:pt x="42265" y="51320"/>
                    </a:lnTo>
                    <a:lnTo>
                      <a:pt x="48475" y="63563"/>
                    </a:lnTo>
                    <a:lnTo>
                      <a:pt x="49212" y="64833"/>
                    </a:lnTo>
                    <a:lnTo>
                      <a:pt x="50304" y="65938"/>
                    </a:lnTo>
                    <a:lnTo>
                      <a:pt x="51587" y="66294"/>
                    </a:lnTo>
                    <a:lnTo>
                      <a:pt x="60172" y="69227"/>
                    </a:lnTo>
                    <a:lnTo>
                      <a:pt x="60540" y="69583"/>
                    </a:lnTo>
                    <a:lnTo>
                      <a:pt x="60718" y="69951"/>
                    </a:lnTo>
                    <a:lnTo>
                      <a:pt x="61264" y="70866"/>
                    </a:lnTo>
                    <a:lnTo>
                      <a:pt x="61810" y="72148"/>
                    </a:lnTo>
                    <a:lnTo>
                      <a:pt x="63093" y="72872"/>
                    </a:lnTo>
                    <a:lnTo>
                      <a:pt x="67297" y="72872"/>
                    </a:lnTo>
                    <a:lnTo>
                      <a:pt x="67843" y="73240"/>
                    </a:lnTo>
                    <a:lnTo>
                      <a:pt x="68211" y="73609"/>
                    </a:lnTo>
                    <a:lnTo>
                      <a:pt x="70332" y="76708"/>
                    </a:lnTo>
                    <a:lnTo>
                      <a:pt x="71132" y="77812"/>
                    </a:lnTo>
                    <a:lnTo>
                      <a:pt x="71856" y="78359"/>
                    </a:lnTo>
                    <a:lnTo>
                      <a:pt x="72771" y="78536"/>
                    </a:lnTo>
                    <a:lnTo>
                      <a:pt x="76606" y="79451"/>
                    </a:lnTo>
                    <a:lnTo>
                      <a:pt x="77711" y="79629"/>
                    </a:lnTo>
                    <a:lnTo>
                      <a:pt x="78257" y="80911"/>
                    </a:lnTo>
                    <a:lnTo>
                      <a:pt x="77889" y="81826"/>
                    </a:lnTo>
                    <a:lnTo>
                      <a:pt x="74968" y="84747"/>
                    </a:lnTo>
                    <a:lnTo>
                      <a:pt x="74968" y="101003"/>
                    </a:lnTo>
                    <a:lnTo>
                      <a:pt x="85928" y="104470"/>
                    </a:lnTo>
                    <a:lnTo>
                      <a:pt x="85928" y="73063"/>
                    </a:lnTo>
                    <a:lnTo>
                      <a:pt x="85559" y="73063"/>
                    </a:lnTo>
                    <a:lnTo>
                      <a:pt x="78435" y="76708"/>
                    </a:lnTo>
                    <a:lnTo>
                      <a:pt x="74777" y="74879"/>
                    </a:lnTo>
                    <a:lnTo>
                      <a:pt x="74777" y="68313"/>
                    </a:lnTo>
                    <a:lnTo>
                      <a:pt x="74053" y="67576"/>
                    </a:lnTo>
                    <a:lnTo>
                      <a:pt x="69303" y="67576"/>
                    </a:lnTo>
                    <a:lnTo>
                      <a:pt x="69303" y="62826"/>
                    </a:lnTo>
                    <a:lnTo>
                      <a:pt x="69303" y="60998"/>
                    </a:lnTo>
                    <a:lnTo>
                      <a:pt x="68567" y="60274"/>
                    </a:lnTo>
                    <a:lnTo>
                      <a:pt x="65646" y="60274"/>
                    </a:lnTo>
                    <a:lnTo>
                      <a:pt x="63639" y="61544"/>
                    </a:lnTo>
                    <a:lnTo>
                      <a:pt x="61810" y="62826"/>
                    </a:lnTo>
                    <a:lnTo>
                      <a:pt x="59258" y="62103"/>
                    </a:lnTo>
                    <a:lnTo>
                      <a:pt x="58432" y="60274"/>
                    </a:lnTo>
                    <a:lnTo>
                      <a:pt x="58343" y="60083"/>
                    </a:lnTo>
                    <a:lnTo>
                      <a:pt x="56527" y="57543"/>
                    </a:lnTo>
                    <a:lnTo>
                      <a:pt x="56515" y="50228"/>
                    </a:lnTo>
                    <a:lnTo>
                      <a:pt x="56515" y="48577"/>
                    </a:lnTo>
                    <a:lnTo>
                      <a:pt x="65646" y="49123"/>
                    </a:lnTo>
                    <a:lnTo>
                      <a:pt x="70586" y="49123"/>
                    </a:lnTo>
                    <a:lnTo>
                      <a:pt x="71310" y="49682"/>
                    </a:lnTo>
                    <a:lnTo>
                      <a:pt x="71424" y="50228"/>
                    </a:lnTo>
                    <a:lnTo>
                      <a:pt x="71501" y="50584"/>
                    </a:lnTo>
                    <a:lnTo>
                      <a:pt x="72771" y="55892"/>
                    </a:lnTo>
                    <a:lnTo>
                      <a:pt x="73507" y="56616"/>
                    </a:lnTo>
                    <a:lnTo>
                      <a:pt x="76060" y="56616"/>
                    </a:lnTo>
                    <a:lnTo>
                      <a:pt x="76796" y="56070"/>
                    </a:lnTo>
                    <a:lnTo>
                      <a:pt x="77698" y="51320"/>
                    </a:lnTo>
                    <a:lnTo>
                      <a:pt x="77762" y="50952"/>
                    </a:lnTo>
                    <a:lnTo>
                      <a:pt x="77838" y="50584"/>
                    </a:lnTo>
                    <a:lnTo>
                      <a:pt x="77901" y="50228"/>
                    </a:lnTo>
                    <a:lnTo>
                      <a:pt x="78003" y="49682"/>
                    </a:lnTo>
                    <a:lnTo>
                      <a:pt x="78117" y="49123"/>
                    </a:lnTo>
                    <a:lnTo>
                      <a:pt x="78219" y="48577"/>
                    </a:lnTo>
                    <a:lnTo>
                      <a:pt x="86652" y="38354"/>
                    </a:lnTo>
                    <a:lnTo>
                      <a:pt x="94145" y="38354"/>
                    </a:lnTo>
                    <a:lnTo>
                      <a:pt x="94869" y="37617"/>
                    </a:lnTo>
                    <a:lnTo>
                      <a:pt x="94869" y="34696"/>
                    </a:lnTo>
                    <a:lnTo>
                      <a:pt x="93230" y="33058"/>
                    </a:lnTo>
                    <a:lnTo>
                      <a:pt x="93967" y="31051"/>
                    </a:lnTo>
                    <a:lnTo>
                      <a:pt x="97802" y="31051"/>
                    </a:lnTo>
                    <a:lnTo>
                      <a:pt x="98526" y="31775"/>
                    </a:lnTo>
                    <a:lnTo>
                      <a:pt x="98526" y="33972"/>
                    </a:lnTo>
                    <a:lnTo>
                      <a:pt x="99263" y="34696"/>
                    </a:lnTo>
                    <a:lnTo>
                      <a:pt x="102184" y="34696"/>
                    </a:lnTo>
                    <a:lnTo>
                      <a:pt x="103009" y="31051"/>
                    </a:lnTo>
                    <a:lnTo>
                      <a:pt x="103644" y="28308"/>
                    </a:lnTo>
                    <a:lnTo>
                      <a:pt x="86106" y="16611"/>
                    </a:lnTo>
                    <a:lnTo>
                      <a:pt x="85928" y="16433"/>
                    </a:lnTo>
                    <a:lnTo>
                      <a:pt x="80073" y="16433"/>
                    </a:lnTo>
                    <a:lnTo>
                      <a:pt x="78435" y="18072"/>
                    </a:lnTo>
                    <a:lnTo>
                      <a:pt x="78435" y="23012"/>
                    </a:lnTo>
                    <a:lnTo>
                      <a:pt x="77711" y="23736"/>
                    </a:lnTo>
                    <a:lnTo>
                      <a:pt x="74777" y="23736"/>
                    </a:lnTo>
                    <a:lnTo>
                      <a:pt x="72961" y="21907"/>
                    </a:lnTo>
                    <a:lnTo>
                      <a:pt x="66382" y="21907"/>
                    </a:lnTo>
                    <a:lnTo>
                      <a:pt x="65646" y="21183"/>
                    </a:lnTo>
                    <a:lnTo>
                      <a:pt x="65646" y="14973"/>
                    </a:lnTo>
                    <a:lnTo>
                      <a:pt x="65836" y="14427"/>
                    </a:lnTo>
                    <a:lnTo>
                      <a:pt x="66382" y="14058"/>
                    </a:lnTo>
                    <a:lnTo>
                      <a:pt x="78066" y="9131"/>
                    </a:lnTo>
                    <a:lnTo>
                      <a:pt x="79794" y="12052"/>
                    </a:lnTo>
                    <a:lnTo>
                      <a:pt x="79895" y="12230"/>
                    </a:lnTo>
                    <a:lnTo>
                      <a:pt x="80264" y="12598"/>
                    </a:lnTo>
                    <a:lnTo>
                      <a:pt x="80632" y="12776"/>
                    </a:lnTo>
                    <a:lnTo>
                      <a:pt x="86842" y="12776"/>
                    </a:lnTo>
                    <a:lnTo>
                      <a:pt x="87566" y="12052"/>
                    </a:lnTo>
                    <a:lnTo>
                      <a:pt x="87566" y="10033"/>
                    </a:lnTo>
                    <a:lnTo>
                      <a:pt x="105130" y="18694"/>
                    </a:lnTo>
                    <a:lnTo>
                      <a:pt x="119011" y="32181"/>
                    </a:lnTo>
                    <a:lnTo>
                      <a:pt x="128130" y="49441"/>
                    </a:lnTo>
                    <a:lnTo>
                      <a:pt x="131102" y="67576"/>
                    </a:lnTo>
                    <a:lnTo>
                      <a:pt x="131229" y="68313"/>
                    </a:lnTo>
                    <a:lnTo>
                      <a:pt x="131318" y="69951"/>
                    </a:lnTo>
                    <a:lnTo>
                      <a:pt x="131318" y="39509"/>
                    </a:lnTo>
                    <a:lnTo>
                      <a:pt x="118389" y="20320"/>
                    </a:lnTo>
                    <a:lnTo>
                      <a:pt x="103136" y="10033"/>
                    </a:lnTo>
                    <a:lnTo>
                      <a:pt x="101790" y="9131"/>
                    </a:lnTo>
                    <a:lnTo>
                      <a:pt x="96329" y="5448"/>
                    </a:lnTo>
                    <a:lnTo>
                      <a:pt x="69303" y="0"/>
                    </a:lnTo>
                    <a:lnTo>
                      <a:pt x="42278" y="5448"/>
                    </a:lnTo>
                    <a:lnTo>
                      <a:pt x="20218" y="20320"/>
                    </a:lnTo>
                    <a:lnTo>
                      <a:pt x="5346" y="42379"/>
                    </a:lnTo>
                    <a:lnTo>
                      <a:pt x="114" y="68313"/>
                    </a:lnTo>
                    <a:lnTo>
                      <a:pt x="0" y="69951"/>
                    </a:lnTo>
                    <a:lnTo>
                      <a:pt x="5346" y="96431"/>
                    </a:lnTo>
                    <a:lnTo>
                      <a:pt x="20218" y="118491"/>
                    </a:lnTo>
                    <a:lnTo>
                      <a:pt x="42278" y="133362"/>
                    </a:lnTo>
                    <a:lnTo>
                      <a:pt x="69303" y="138811"/>
                    </a:lnTo>
                    <a:lnTo>
                      <a:pt x="96329" y="133362"/>
                    </a:lnTo>
                    <a:lnTo>
                      <a:pt x="133261" y="96431"/>
                    </a:lnTo>
                    <a:lnTo>
                      <a:pt x="138607" y="69951"/>
                    </a:lnTo>
                    <a:lnTo>
                      <a:pt x="138671" y="69227"/>
                    </a:lnTo>
                    <a:close/>
                  </a:path>
                </a:pathLst>
              </a:custGeom>
              <a:solidFill>
                <a:srgbClr val="12426B"/>
              </a:solidFill>
            </p:spPr>
            <p:txBody>
              <a:bodyPr wrap="square" lIns="0" tIns="0" rIns="0" bIns="0" rtlCol="0"/>
              <a:lstStyle/>
              <a:p>
                <a:endParaRPr sz="1950"/>
              </a:p>
            </p:txBody>
          </p:sp>
          <p:pic>
            <p:nvPicPr>
              <p:cNvPr id="46" name="object 35" descr="Vector flag of Kazakhstan - Circle">
                <a:extLst>
                  <a:ext uri="{FF2B5EF4-FFF2-40B4-BE49-F238E27FC236}">
                    <a16:creationId xmlns:a16="http://schemas.microsoft.com/office/drawing/2014/main" id="{AC6D8AF0-4218-E356-D722-D89AC62F54AF}"/>
                  </a:ext>
                </a:extLst>
              </p:cNvPr>
              <p:cNvPicPr/>
              <p:nvPr/>
            </p:nvPicPr>
            <p:blipFill>
              <a:blip r:embed="rId14" cstate="print"/>
              <a:stretch>
                <a:fillRect/>
              </a:stretch>
            </p:blipFill>
            <p:spPr>
              <a:xfrm>
                <a:off x="4385376" y="3665998"/>
                <a:ext cx="155813" cy="155813"/>
              </a:xfrm>
              <a:prstGeom prst="rect">
                <a:avLst/>
              </a:prstGeom>
            </p:spPr>
          </p:pic>
          <p:pic>
            <p:nvPicPr>
              <p:cNvPr id="47" name="object 36" descr="Thailand Flag Circle PNGs for Free Download">
                <a:extLst>
                  <a:ext uri="{FF2B5EF4-FFF2-40B4-BE49-F238E27FC236}">
                    <a16:creationId xmlns:a16="http://schemas.microsoft.com/office/drawing/2014/main" id="{F7E3405B-C7BC-53ED-887F-19674F4BBEFB}"/>
                  </a:ext>
                </a:extLst>
              </p:cNvPr>
              <p:cNvPicPr/>
              <p:nvPr/>
            </p:nvPicPr>
            <p:blipFill>
              <a:blip r:embed="rId15" cstate="print"/>
              <a:stretch>
                <a:fillRect/>
              </a:stretch>
            </p:blipFill>
            <p:spPr>
              <a:xfrm>
                <a:off x="3416857" y="3665290"/>
                <a:ext cx="157229" cy="157229"/>
              </a:xfrm>
              <a:prstGeom prst="rect">
                <a:avLst/>
              </a:prstGeom>
            </p:spPr>
          </p:pic>
          <p:pic>
            <p:nvPicPr>
              <p:cNvPr id="48" name="object 45" descr="United arab emirates - Free flags icons">
                <a:extLst>
                  <a:ext uri="{FF2B5EF4-FFF2-40B4-BE49-F238E27FC236}">
                    <a16:creationId xmlns:a16="http://schemas.microsoft.com/office/drawing/2014/main" id="{EF9DDC36-74AB-1BC5-3195-2D6E528026EE}"/>
                  </a:ext>
                </a:extLst>
              </p:cNvPr>
              <p:cNvPicPr/>
              <p:nvPr/>
            </p:nvPicPr>
            <p:blipFill>
              <a:blip r:embed="rId16" cstate="print"/>
              <a:stretch>
                <a:fillRect/>
              </a:stretch>
            </p:blipFill>
            <p:spPr>
              <a:xfrm>
                <a:off x="6305591" y="3666458"/>
                <a:ext cx="154893" cy="154893"/>
              </a:xfrm>
              <a:prstGeom prst="rect">
                <a:avLst/>
              </a:prstGeom>
            </p:spPr>
          </p:pic>
          <p:pic>
            <p:nvPicPr>
              <p:cNvPr id="50" name="object 47" descr="Indonesia - Free flags icons">
                <a:extLst>
                  <a:ext uri="{FF2B5EF4-FFF2-40B4-BE49-F238E27FC236}">
                    <a16:creationId xmlns:a16="http://schemas.microsoft.com/office/drawing/2014/main" id="{33996503-1CD0-B716-E46F-94144BF9A2F7}"/>
                  </a:ext>
                </a:extLst>
              </p:cNvPr>
              <p:cNvPicPr/>
              <p:nvPr/>
            </p:nvPicPr>
            <p:blipFill>
              <a:blip r:embed="rId17" cstate="print"/>
              <a:stretch>
                <a:fillRect/>
              </a:stretch>
            </p:blipFill>
            <p:spPr>
              <a:xfrm>
                <a:off x="1408266" y="3666333"/>
                <a:ext cx="154893" cy="154866"/>
              </a:xfrm>
              <a:prstGeom prst="rect">
                <a:avLst/>
              </a:prstGeom>
            </p:spPr>
          </p:pic>
          <p:pic>
            <p:nvPicPr>
              <p:cNvPr id="51" name="object 48">
                <a:extLst>
                  <a:ext uri="{FF2B5EF4-FFF2-40B4-BE49-F238E27FC236}">
                    <a16:creationId xmlns:a16="http://schemas.microsoft.com/office/drawing/2014/main" id="{9376E0A7-0FD6-98A2-D80F-7CC250250307}"/>
                  </a:ext>
                </a:extLst>
              </p:cNvPr>
              <p:cNvPicPr/>
              <p:nvPr/>
            </p:nvPicPr>
            <p:blipFill>
              <a:blip r:embed="rId18" cstate="print"/>
              <a:stretch>
                <a:fillRect/>
              </a:stretch>
            </p:blipFill>
            <p:spPr>
              <a:xfrm>
                <a:off x="1397932" y="3655959"/>
                <a:ext cx="175491" cy="175478"/>
              </a:xfrm>
              <a:prstGeom prst="rect">
                <a:avLst/>
              </a:prstGeom>
            </p:spPr>
          </p:pic>
          <p:sp>
            <p:nvSpPr>
              <p:cNvPr id="52" name="object 79">
                <a:extLst>
                  <a:ext uri="{FF2B5EF4-FFF2-40B4-BE49-F238E27FC236}">
                    <a16:creationId xmlns:a16="http://schemas.microsoft.com/office/drawing/2014/main" id="{96B26CF9-6938-99A4-987C-7C09A5B47370}"/>
                  </a:ext>
                </a:extLst>
              </p:cNvPr>
              <p:cNvSpPr/>
              <p:nvPr/>
            </p:nvSpPr>
            <p:spPr>
              <a:xfrm>
                <a:off x="7304117" y="3668671"/>
                <a:ext cx="150468" cy="150468"/>
              </a:xfrm>
              <a:custGeom>
                <a:avLst/>
                <a:gdLst/>
                <a:ahLst/>
                <a:cxnLst/>
                <a:rect l="l" t="t" r="r" b="b"/>
                <a:pathLst>
                  <a:path w="139064" h="139064">
                    <a:moveTo>
                      <a:pt x="93052" y="62649"/>
                    </a:moveTo>
                    <a:lnTo>
                      <a:pt x="92494" y="61925"/>
                    </a:lnTo>
                    <a:lnTo>
                      <a:pt x="91770" y="61734"/>
                    </a:lnTo>
                    <a:lnTo>
                      <a:pt x="83007" y="58813"/>
                    </a:lnTo>
                    <a:lnTo>
                      <a:pt x="82270" y="58635"/>
                    </a:lnTo>
                    <a:lnTo>
                      <a:pt x="81724" y="58635"/>
                    </a:lnTo>
                    <a:lnTo>
                      <a:pt x="74777" y="60274"/>
                    </a:lnTo>
                    <a:lnTo>
                      <a:pt x="74231" y="60642"/>
                    </a:lnTo>
                    <a:lnTo>
                      <a:pt x="74053" y="61379"/>
                    </a:lnTo>
                    <a:lnTo>
                      <a:pt x="74777" y="62103"/>
                    </a:lnTo>
                    <a:lnTo>
                      <a:pt x="84099" y="62103"/>
                    </a:lnTo>
                    <a:lnTo>
                      <a:pt x="84467" y="62293"/>
                    </a:lnTo>
                    <a:lnTo>
                      <a:pt x="90855" y="64846"/>
                    </a:lnTo>
                    <a:lnTo>
                      <a:pt x="91948" y="65214"/>
                    </a:lnTo>
                    <a:lnTo>
                      <a:pt x="93052" y="64477"/>
                    </a:lnTo>
                    <a:lnTo>
                      <a:pt x="93052" y="62649"/>
                    </a:lnTo>
                    <a:close/>
                  </a:path>
                  <a:path w="139064" h="139064">
                    <a:moveTo>
                      <a:pt x="138671" y="69227"/>
                    </a:moveTo>
                    <a:lnTo>
                      <a:pt x="133261" y="42379"/>
                    </a:lnTo>
                    <a:lnTo>
                      <a:pt x="131318" y="39509"/>
                    </a:lnTo>
                    <a:lnTo>
                      <a:pt x="131318" y="69964"/>
                    </a:lnTo>
                    <a:lnTo>
                      <a:pt x="128536" y="88036"/>
                    </a:lnTo>
                    <a:lnTo>
                      <a:pt x="122275" y="100863"/>
                    </a:lnTo>
                    <a:lnTo>
                      <a:pt x="122275" y="101015"/>
                    </a:lnTo>
                    <a:lnTo>
                      <a:pt x="121488" y="102476"/>
                    </a:lnTo>
                    <a:lnTo>
                      <a:pt x="121361" y="102717"/>
                    </a:lnTo>
                    <a:lnTo>
                      <a:pt x="120472" y="104482"/>
                    </a:lnTo>
                    <a:lnTo>
                      <a:pt x="108292" y="117678"/>
                    </a:lnTo>
                    <a:lnTo>
                      <a:pt x="92684" y="126949"/>
                    </a:lnTo>
                    <a:lnTo>
                      <a:pt x="103416" y="117678"/>
                    </a:lnTo>
                    <a:lnTo>
                      <a:pt x="105829" y="115074"/>
                    </a:lnTo>
                    <a:lnTo>
                      <a:pt x="108940" y="111607"/>
                    </a:lnTo>
                    <a:lnTo>
                      <a:pt x="109486" y="105943"/>
                    </a:lnTo>
                    <a:lnTo>
                      <a:pt x="121361" y="102717"/>
                    </a:lnTo>
                    <a:lnTo>
                      <a:pt x="122199" y="101015"/>
                    </a:lnTo>
                    <a:lnTo>
                      <a:pt x="122275" y="86766"/>
                    </a:lnTo>
                    <a:lnTo>
                      <a:pt x="109486" y="84023"/>
                    </a:lnTo>
                    <a:lnTo>
                      <a:pt x="107353" y="77089"/>
                    </a:lnTo>
                    <a:lnTo>
                      <a:pt x="107289" y="76898"/>
                    </a:lnTo>
                    <a:lnTo>
                      <a:pt x="106781" y="76720"/>
                    </a:lnTo>
                    <a:lnTo>
                      <a:pt x="96520" y="73063"/>
                    </a:lnTo>
                    <a:lnTo>
                      <a:pt x="85928" y="73063"/>
                    </a:lnTo>
                    <a:lnTo>
                      <a:pt x="85928" y="104482"/>
                    </a:lnTo>
                    <a:lnTo>
                      <a:pt x="85890" y="115074"/>
                    </a:lnTo>
                    <a:lnTo>
                      <a:pt x="84823" y="125133"/>
                    </a:lnTo>
                    <a:lnTo>
                      <a:pt x="84277" y="129146"/>
                    </a:lnTo>
                    <a:lnTo>
                      <a:pt x="79527" y="130238"/>
                    </a:lnTo>
                    <a:lnTo>
                      <a:pt x="74599" y="130975"/>
                    </a:lnTo>
                    <a:lnTo>
                      <a:pt x="69481" y="130975"/>
                    </a:lnTo>
                    <a:lnTo>
                      <a:pt x="45262" y="126390"/>
                    </a:lnTo>
                    <a:lnTo>
                      <a:pt x="25463" y="113207"/>
                    </a:lnTo>
                    <a:lnTo>
                      <a:pt x="12103" y="93522"/>
                    </a:lnTo>
                    <a:lnTo>
                      <a:pt x="7315" y="69964"/>
                    </a:lnTo>
                    <a:lnTo>
                      <a:pt x="7378" y="67589"/>
                    </a:lnTo>
                    <a:lnTo>
                      <a:pt x="7493" y="66306"/>
                    </a:lnTo>
                    <a:lnTo>
                      <a:pt x="7531" y="65938"/>
                    </a:lnTo>
                    <a:lnTo>
                      <a:pt x="7632" y="64846"/>
                    </a:lnTo>
                    <a:lnTo>
                      <a:pt x="7759" y="63563"/>
                    </a:lnTo>
                    <a:lnTo>
                      <a:pt x="7823" y="62839"/>
                    </a:lnTo>
                    <a:lnTo>
                      <a:pt x="7950" y="61556"/>
                    </a:lnTo>
                    <a:lnTo>
                      <a:pt x="8064" y="60274"/>
                    </a:lnTo>
                    <a:lnTo>
                      <a:pt x="8089" y="60096"/>
                    </a:lnTo>
                    <a:lnTo>
                      <a:pt x="8204" y="58813"/>
                    </a:lnTo>
                    <a:lnTo>
                      <a:pt x="8331" y="57556"/>
                    </a:lnTo>
                    <a:lnTo>
                      <a:pt x="11506" y="46761"/>
                    </a:lnTo>
                    <a:lnTo>
                      <a:pt x="11582" y="46482"/>
                    </a:lnTo>
                    <a:lnTo>
                      <a:pt x="16751" y="36372"/>
                    </a:lnTo>
                    <a:lnTo>
                      <a:pt x="23634" y="27393"/>
                    </a:lnTo>
                    <a:lnTo>
                      <a:pt x="25285" y="28308"/>
                    </a:lnTo>
                    <a:lnTo>
                      <a:pt x="26924" y="29768"/>
                    </a:lnTo>
                    <a:lnTo>
                      <a:pt x="27292" y="31051"/>
                    </a:lnTo>
                    <a:lnTo>
                      <a:pt x="27292" y="43294"/>
                    </a:lnTo>
                    <a:lnTo>
                      <a:pt x="27470" y="44208"/>
                    </a:lnTo>
                    <a:lnTo>
                      <a:pt x="28016" y="44754"/>
                    </a:lnTo>
                    <a:lnTo>
                      <a:pt x="40081" y="60274"/>
                    </a:lnTo>
                    <a:lnTo>
                      <a:pt x="41541" y="58813"/>
                    </a:lnTo>
                    <a:lnTo>
                      <a:pt x="41719" y="57899"/>
                    </a:lnTo>
                    <a:lnTo>
                      <a:pt x="41351" y="57175"/>
                    </a:lnTo>
                    <a:lnTo>
                      <a:pt x="39166" y="53517"/>
                    </a:lnTo>
                    <a:lnTo>
                      <a:pt x="38252" y="52057"/>
                    </a:lnTo>
                    <a:lnTo>
                      <a:pt x="39712" y="50228"/>
                    </a:lnTo>
                    <a:lnTo>
                      <a:pt x="41910" y="50965"/>
                    </a:lnTo>
                    <a:lnTo>
                      <a:pt x="42265" y="51333"/>
                    </a:lnTo>
                    <a:lnTo>
                      <a:pt x="48475" y="63563"/>
                    </a:lnTo>
                    <a:lnTo>
                      <a:pt x="49212" y="64846"/>
                    </a:lnTo>
                    <a:lnTo>
                      <a:pt x="50304" y="65938"/>
                    </a:lnTo>
                    <a:lnTo>
                      <a:pt x="51587" y="66306"/>
                    </a:lnTo>
                    <a:lnTo>
                      <a:pt x="60172" y="69227"/>
                    </a:lnTo>
                    <a:lnTo>
                      <a:pt x="60540" y="69596"/>
                    </a:lnTo>
                    <a:lnTo>
                      <a:pt x="60718" y="69964"/>
                    </a:lnTo>
                    <a:lnTo>
                      <a:pt x="61264" y="70878"/>
                    </a:lnTo>
                    <a:lnTo>
                      <a:pt x="61810" y="72148"/>
                    </a:lnTo>
                    <a:lnTo>
                      <a:pt x="63093" y="72885"/>
                    </a:lnTo>
                    <a:lnTo>
                      <a:pt x="67297" y="72885"/>
                    </a:lnTo>
                    <a:lnTo>
                      <a:pt x="67843" y="73253"/>
                    </a:lnTo>
                    <a:lnTo>
                      <a:pt x="68211" y="73609"/>
                    </a:lnTo>
                    <a:lnTo>
                      <a:pt x="70332" y="76720"/>
                    </a:lnTo>
                    <a:lnTo>
                      <a:pt x="71132" y="77812"/>
                    </a:lnTo>
                    <a:lnTo>
                      <a:pt x="71856" y="78359"/>
                    </a:lnTo>
                    <a:lnTo>
                      <a:pt x="72771" y="78549"/>
                    </a:lnTo>
                    <a:lnTo>
                      <a:pt x="76606" y="79463"/>
                    </a:lnTo>
                    <a:lnTo>
                      <a:pt x="77698" y="79641"/>
                    </a:lnTo>
                    <a:lnTo>
                      <a:pt x="78257" y="80924"/>
                    </a:lnTo>
                    <a:lnTo>
                      <a:pt x="77889" y="81838"/>
                    </a:lnTo>
                    <a:lnTo>
                      <a:pt x="74968" y="84759"/>
                    </a:lnTo>
                    <a:lnTo>
                      <a:pt x="74968" y="101015"/>
                    </a:lnTo>
                    <a:lnTo>
                      <a:pt x="85928" y="104482"/>
                    </a:lnTo>
                    <a:lnTo>
                      <a:pt x="85928" y="73063"/>
                    </a:lnTo>
                    <a:lnTo>
                      <a:pt x="85559" y="73063"/>
                    </a:lnTo>
                    <a:lnTo>
                      <a:pt x="78435" y="76720"/>
                    </a:lnTo>
                    <a:lnTo>
                      <a:pt x="74777" y="74891"/>
                    </a:lnTo>
                    <a:lnTo>
                      <a:pt x="74777" y="68313"/>
                    </a:lnTo>
                    <a:lnTo>
                      <a:pt x="74053" y="67589"/>
                    </a:lnTo>
                    <a:lnTo>
                      <a:pt x="69303" y="67589"/>
                    </a:lnTo>
                    <a:lnTo>
                      <a:pt x="69303" y="62839"/>
                    </a:lnTo>
                    <a:lnTo>
                      <a:pt x="69303" y="61010"/>
                    </a:lnTo>
                    <a:lnTo>
                      <a:pt x="68567" y="60274"/>
                    </a:lnTo>
                    <a:lnTo>
                      <a:pt x="65646" y="60274"/>
                    </a:lnTo>
                    <a:lnTo>
                      <a:pt x="63639" y="61556"/>
                    </a:lnTo>
                    <a:lnTo>
                      <a:pt x="61810" y="62839"/>
                    </a:lnTo>
                    <a:lnTo>
                      <a:pt x="59258" y="62103"/>
                    </a:lnTo>
                    <a:lnTo>
                      <a:pt x="58420" y="60274"/>
                    </a:lnTo>
                    <a:lnTo>
                      <a:pt x="58343" y="60096"/>
                    </a:lnTo>
                    <a:lnTo>
                      <a:pt x="56527" y="57556"/>
                    </a:lnTo>
                    <a:lnTo>
                      <a:pt x="56515" y="50228"/>
                    </a:lnTo>
                    <a:lnTo>
                      <a:pt x="56515" y="48590"/>
                    </a:lnTo>
                    <a:lnTo>
                      <a:pt x="65646" y="49136"/>
                    </a:lnTo>
                    <a:lnTo>
                      <a:pt x="70586" y="49136"/>
                    </a:lnTo>
                    <a:lnTo>
                      <a:pt x="71310" y="49682"/>
                    </a:lnTo>
                    <a:lnTo>
                      <a:pt x="71424" y="50228"/>
                    </a:lnTo>
                    <a:lnTo>
                      <a:pt x="71488" y="50596"/>
                    </a:lnTo>
                    <a:lnTo>
                      <a:pt x="72771" y="55892"/>
                    </a:lnTo>
                    <a:lnTo>
                      <a:pt x="73507" y="56629"/>
                    </a:lnTo>
                    <a:lnTo>
                      <a:pt x="76060" y="56629"/>
                    </a:lnTo>
                    <a:lnTo>
                      <a:pt x="76796" y="56083"/>
                    </a:lnTo>
                    <a:lnTo>
                      <a:pt x="77698" y="51333"/>
                    </a:lnTo>
                    <a:lnTo>
                      <a:pt x="77762" y="50965"/>
                    </a:lnTo>
                    <a:lnTo>
                      <a:pt x="77838" y="50596"/>
                    </a:lnTo>
                    <a:lnTo>
                      <a:pt x="77901" y="50228"/>
                    </a:lnTo>
                    <a:lnTo>
                      <a:pt x="78003" y="49682"/>
                    </a:lnTo>
                    <a:lnTo>
                      <a:pt x="78117" y="49136"/>
                    </a:lnTo>
                    <a:lnTo>
                      <a:pt x="78219" y="48590"/>
                    </a:lnTo>
                    <a:lnTo>
                      <a:pt x="86652" y="38354"/>
                    </a:lnTo>
                    <a:lnTo>
                      <a:pt x="94145" y="38354"/>
                    </a:lnTo>
                    <a:lnTo>
                      <a:pt x="94869" y="37630"/>
                    </a:lnTo>
                    <a:lnTo>
                      <a:pt x="94869" y="34709"/>
                    </a:lnTo>
                    <a:lnTo>
                      <a:pt x="93230" y="33058"/>
                    </a:lnTo>
                    <a:lnTo>
                      <a:pt x="93967" y="31051"/>
                    </a:lnTo>
                    <a:lnTo>
                      <a:pt x="97802" y="31051"/>
                    </a:lnTo>
                    <a:lnTo>
                      <a:pt x="98526" y="31788"/>
                    </a:lnTo>
                    <a:lnTo>
                      <a:pt x="98526" y="33972"/>
                    </a:lnTo>
                    <a:lnTo>
                      <a:pt x="99263" y="34709"/>
                    </a:lnTo>
                    <a:lnTo>
                      <a:pt x="102184" y="34709"/>
                    </a:lnTo>
                    <a:lnTo>
                      <a:pt x="103009" y="31051"/>
                    </a:lnTo>
                    <a:lnTo>
                      <a:pt x="103644" y="28308"/>
                    </a:lnTo>
                    <a:lnTo>
                      <a:pt x="103187" y="27393"/>
                    </a:lnTo>
                    <a:lnTo>
                      <a:pt x="102908" y="26847"/>
                    </a:lnTo>
                    <a:lnTo>
                      <a:pt x="101638" y="25933"/>
                    </a:lnTo>
                    <a:lnTo>
                      <a:pt x="97980" y="23749"/>
                    </a:lnTo>
                    <a:lnTo>
                      <a:pt x="86106" y="16624"/>
                    </a:lnTo>
                    <a:lnTo>
                      <a:pt x="85928" y="16433"/>
                    </a:lnTo>
                    <a:lnTo>
                      <a:pt x="80073" y="16433"/>
                    </a:lnTo>
                    <a:lnTo>
                      <a:pt x="78435" y="18084"/>
                    </a:lnTo>
                    <a:lnTo>
                      <a:pt x="78435" y="23012"/>
                    </a:lnTo>
                    <a:lnTo>
                      <a:pt x="77698" y="23749"/>
                    </a:lnTo>
                    <a:lnTo>
                      <a:pt x="74777" y="23749"/>
                    </a:lnTo>
                    <a:lnTo>
                      <a:pt x="72961" y="21920"/>
                    </a:lnTo>
                    <a:lnTo>
                      <a:pt x="66382" y="21920"/>
                    </a:lnTo>
                    <a:lnTo>
                      <a:pt x="65646" y="21183"/>
                    </a:lnTo>
                    <a:lnTo>
                      <a:pt x="65646" y="14973"/>
                    </a:lnTo>
                    <a:lnTo>
                      <a:pt x="65836" y="14427"/>
                    </a:lnTo>
                    <a:lnTo>
                      <a:pt x="66382" y="14058"/>
                    </a:lnTo>
                    <a:lnTo>
                      <a:pt x="78066" y="9131"/>
                    </a:lnTo>
                    <a:lnTo>
                      <a:pt x="79794" y="12052"/>
                    </a:lnTo>
                    <a:lnTo>
                      <a:pt x="79895" y="12230"/>
                    </a:lnTo>
                    <a:lnTo>
                      <a:pt x="80264" y="12598"/>
                    </a:lnTo>
                    <a:lnTo>
                      <a:pt x="80632" y="12788"/>
                    </a:lnTo>
                    <a:lnTo>
                      <a:pt x="86842" y="12788"/>
                    </a:lnTo>
                    <a:lnTo>
                      <a:pt x="87566" y="12052"/>
                    </a:lnTo>
                    <a:lnTo>
                      <a:pt x="87566" y="10045"/>
                    </a:lnTo>
                    <a:lnTo>
                      <a:pt x="105130" y="18707"/>
                    </a:lnTo>
                    <a:lnTo>
                      <a:pt x="119011" y="32194"/>
                    </a:lnTo>
                    <a:lnTo>
                      <a:pt x="128130" y="49453"/>
                    </a:lnTo>
                    <a:lnTo>
                      <a:pt x="131102" y="67589"/>
                    </a:lnTo>
                    <a:lnTo>
                      <a:pt x="131229" y="68313"/>
                    </a:lnTo>
                    <a:lnTo>
                      <a:pt x="131318" y="69964"/>
                    </a:lnTo>
                    <a:lnTo>
                      <a:pt x="131318" y="39509"/>
                    </a:lnTo>
                    <a:lnTo>
                      <a:pt x="118389" y="20320"/>
                    </a:lnTo>
                    <a:lnTo>
                      <a:pt x="103136" y="10045"/>
                    </a:lnTo>
                    <a:lnTo>
                      <a:pt x="101790" y="9131"/>
                    </a:lnTo>
                    <a:lnTo>
                      <a:pt x="96329" y="5448"/>
                    </a:lnTo>
                    <a:lnTo>
                      <a:pt x="69303" y="0"/>
                    </a:lnTo>
                    <a:lnTo>
                      <a:pt x="42278" y="5448"/>
                    </a:lnTo>
                    <a:lnTo>
                      <a:pt x="20218" y="20320"/>
                    </a:lnTo>
                    <a:lnTo>
                      <a:pt x="5346" y="42379"/>
                    </a:lnTo>
                    <a:lnTo>
                      <a:pt x="114" y="68313"/>
                    </a:lnTo>
                    <a:lnTo>
                      <a:pt x="0" y="69964"/>
                    </a:lnTo>
                    <a:lnTo>
                      <a:pt x="5346" y="96443"/>
                    </a:lnTo>
                    <a:lnTo>
                      <a:pt x="20218" y="118503"/>
                    </a:lnTo>
                    <a:lnTo>
                      <a:pt x="42278" y="133375"/>
                    </a:lnTo>
                    <a:lnTo>
                      <a:pt x="69303" y="138823"/>
                    </a:lnTo>
                    <a:lnTo>
                      <a:pt x="96329" y="133375"/>
                    </a:lnTo>
                    <a:lnTo>
                      <a:pt x="99898" y="130975"/>
                    </a:lnTo>
                    <a:lnTo>
                      <a:pt x="105854" y="126949"/>
                    </a:lnTo>
                    <a:lnTo>
                      <a:pt x="118389" y="118503"/>
                    </a:lnTo>
                    <a:lnTo>
                      <a:pt x="133261" y="96443"/>
                    </a:lnTo>
                    <a:lnTo>
                      <a:pt x="138607" y="69964"/>
                    </a:lnTo>
                    <a:lnTo>
                      <a:pt x="138671" y="69227"/>
                    </a:lnTo>
                    <a:close/>
                  </a:path>
                </a:pathLst>
              </a:custGeom>
              <a:solidFill>
                <a:srgbClr val="12426B"/>
              </a:solidFill>
            </p:spPr>
            <p:txBody>
              <a:bodyPr wrap="square" lIns="0" tIns="0" rIns="0" bIns="0" rtlCol="0"/>
              <a:lstStyle/>
              <a:p>
                <a:endParaRPr sz="1950"/>
              </a:p>
            </p:txBody>
          </p:sp>
          <p:pic>
            <p:nvPicPr>
              <p:cNvPr id="91" name="object 38">
                <a:extLst>
                  <a:ext uri="{FF2B5EF4-FFF2-40B4-BE49-F238E27FC236}">
                    <a16:creationId xmlns:a16="http://schemas.microsoft.com/office/drawing/2014/main" id="{754BB133-639D-09D0-FD7D-91D9384A00D0}"/>
                  </a:ext>
                </a:extLst>
              </p:cNvPr>
              <p:cNvPicPr/>
              <p:nvPr/>
            </p:nvPicPr>
            <p:blipFill>
              <a:blip r:embed="rId19" cstate="print"/>
              <a:stretch>
                <a:fillRect/>
              </a:stretch>
            </p:blipFill>
            <p:spPr>
              <a:xfrm>
                <a:off x="1834624" y="4220497"/>
                <a:ext cx="446605" cy="81102"/>
              </a:xfrm>
              <a:prstGeom prst="rect">
                <a:avLst/>
              </a:prstGeom>
            </p:spPr>
          </p:pic>
          <p:pic>
            <p:nvPicPr>
              <p:cNvPr id="92" name="object 39" descr="XIANGYU CO., LTD -- Stock Code: 600057">
                <a:extLst>
                  <a:ext uri="{FF2B5EF4-FFF2-40B4-BE49-F238E27FC236}">
                    <a16:creationId xmlns:a16="http://schemas.microsoft.com/office/drawing/2014/main" id="{5C4EC8E7-210A-8BD2-A08A-6C59E619FF54}"/>
                  </a:ext>
                </a:extLst>
              </p:cNvPr>
              <p:cNvPicPr/>
              <p:nvPr/>
            </p:nvPicPr>
            <p:blipFill>
              <a:blip r:embed="rId20" cstate="print"/>
              <a:stretch>
                <a:fillRect/>
              </a:stretch>
            </p:blipFill>
            <p:spPr>
              <a:xfrm>
                <a:off x="1602215" y="4332979"/>
                <a:ext cx="498945" cy="177954"/>
              </a:xfrm>
              <a:prstGeom prst="rect">
                <a:avLst/>
              </a:prstGeom>
            </p:spPr>
          </p:pic>
          <p:pic>
            <p:nvPicPr>
              <p:cNvPr id="93" name="object 40" descr="Indika Energy | World Economic Forum">
                <a:extLst>
                  <a:ext uri="{FF2B5EF4-FFF2-40B4-BE49-F238E27FC236}">
                    <a16:creationId xmlns:a16="http://schemas.microsoft.com/office/drawing/2014/main" id="{2A39B04D-970B-4B38-D888-8EDE0C3DF5C2}"/>
                  </a:ext>
                </a:extLst>
              </p:cNvPr>
              <p:cNvPicPr/>
              <p:nvPr/>
            </p:nvPicPr>
            <p:blipFill>
              <a:blip r:embed="rId21" cstate="print"/>
              <a:stretch>
                <a:fillRect/>
              </a:stretch>
            </p:blipFill>
            <p:spPr>
              <a:xfrm>
                <a:off x="1413098" y="4189472"/>
                <a:ext cx="341579" cy="142940"/>
              </a:xfrm>
              <a:prstGeom prst="rect">
                <a:avLst/>
              </a:prstGeom>
            </p:spPr>
          </p:pic>
          <p:pic>
            <p:nvPicPr>
              <p:cNvPr id="94" name="object 41" descr="Fosun International Limited">
                <a:extLst>
                  <a:ext uri="{FF2B5EF4-FFF2-40B4-BE49-F238E27FC236}">
                    <a16:creationId xmlns:a16="http://schemas.microsoft.com/office/drawing/2014/main" id="{304B4DD5-434A-4EC4-C9EB-DDAF3FBBA9DE}"/>
                  </a:ext>
                </a:extLst>
              </p:cNvPr>
              <p:cNvPicPr/>
              <p:nvPr/>
            </p:nvPicPr>
            <p:blipFill>
              <a:blip r:embed="rId22" cstate="print"/>
              <a:stretch>
                <a:fillRect/>
              </a:stretch>
            </p:blipFill>
            <p:spPr>
              <a:xfrm>
                <a:off x="2493223" y="4211518"/>
                <a:ext cx="725762" cy="141927"/>
              </a:xfrm>
              <a:prstGeom prst="rect">
                <a:avLst/>
              </a:prstGeom>
            </p:spPr>
          </p:pic>
          <p:pic>
            <p:nvPicPr>
              <p:cNvPr id="95" name="object 43" descr="Charoen Pokphand - Wikipedia">
                <a:extLst>
                  <a:ext uri="{FF2B5EF4-FFF2-40B4-BE49-F238E27FC236}">
                    <a16:creationId xmlns:a16="http://schemas.microsoft.com/office/drawing/2014/main" id="{C6A68A17-3602-4050-6CA2-DF24032A0282}"/>
                  </a:ext>
                </a:extLst>
              </p:cNvPr>
              <p:cNvPicPr/>
              <p:nvPr/>
            </p:nvPicPr>
            <p:blipFill>
              <a:blip r:embed="rId23" cstate="print"/>
              <a:stretch>
                <a:fillRect/>
              </a:stretch>
            </p:blipFill>
            <p:spPr>
              <a:xfrm>
                <a:off x="4098794" y="4180409"/>
                <a:ext cx="165118" cy="200917"/>
              </a:xfrm>
              <a:prstGeom prst="rect">
                <a:avLst/>
              </a:prstGeom>
            </p:spPr>
          </p:pic>
          <p:pic>
            <p:nvPicPr>
              <p:cNvPr id="96" name="object 44" descr="Southern Asset Management 南方基金 — MIT Asian Club">
                <a:extLst>
                  <a:ext uri="{FF2B5EF4-FFF2-40B4-BE49-F238E27FC236}">
                    <a16:creationId xmlns:a16="http://schemas.microsoft.com/office/drawing/2014/main" id="{674B5A3E-518B-29F0-8060-8990AC405DA2}"/>
                  </a:ext>
                </a:extLst>
              </p:cNvPr>
              <p:cNvPicPr/>
              <p:nvPr/>
            </p:nvPicPr>
            <p:blipFill>
              <a:blip r:embed="rId24" cstate="print"/>
              <a:stretch>
                <a:fillRect/>
              </a:stretch>
            </p:blipFill>
            <p:spPr>
              <a:xfrm>
                <a:off x="3419641" y="4206815"/>
                <a:ext cx="595716" cy="128535"/>
              </a:xfrm>
              <a:prstGeom prst="rect">
                <a:avLst/>
              </a:prstGeom>
            </p:spPr>
          </p:pic>
          <p:grpSp>
            <p:nvGrpSpPr>
              <p:cNvPr id="97" name="object 87">
                <a:extLst>
                  <a:ext uri="{FF2B5EF4-FFF2-40B4-BE49-F238E27FC236}">
                    <a16:creationId xmlns:a16="http://schemas.microsoft.com/office/drawing/2014/main" id="{DA51C4BC-4AB6-3793-634F-A8D6F1474CD2}"/>
                  </a:ext>
                </a:extLst>
              </p:cNvPr>
              <p:cNvGrpSpPr/>
              <p:nvPr/>
            </p:nvGrpSpPr>
            <p:grpSpPr>
              <a:xfrm>
                <a:off x="3425797" y="4358205"/>
                <a:ext cx="831094" cy="169035"/>
                <a:chOff x="2856229" y="3477069"/>
                <a:chExt cx="805815" cy="163893"/>
              </a:xfrm>
            </p:grpSpPr>
            <p:pic>
              <p:nvPicPr>
                <p:cNvPr id="98" name="object 88" descr="UBS Global Asset Management - Hedgeweek">
                  <a:extLst>
                    <a:ext uri="{FF2B5EF4-FFF2-40B4-BE49-F238E27FC236}">
                      <a16:creationId xmlns:a16="http://schemas.microsoft.com/office/drawing/2014/main" id="{3BF87916-1AC2-8EE8-C186-AB768656716C}"/>
                    </a:ext>
                  </a:extLst>
                </p:cNvPr>
                <p:cNvPicPr/>
                <p:nvPr/>
              </p:nvPicPr>
              <p:blipFill>
                <a:blip r:embed="rId25" cstate="print"/>
                <a:stretch>
                  <a:fillRect/>
                </a:stretch>
              </p:blipFill>
              <p:spPr>
                <a:xfrm>
                  <a:off x="3296284" y="3497795"/>
                  <a:ext cx="365760" cy="143167"/>
                </a:xfrm>
                <a:prstGeom prst="rect">
                  <a:avLst/>
                </a:prstGeom>
              </p:spPr>
            </p:pic>
            <p:pic>
              <p:nvPicPr>
                <p:cNvPr id="99" name="object 89" descr="Jane Street Capital - Wikipedia">
                  <a:extLst>
                    <a:ext uri="{FF2B5EF4-FFF2-40B4-BE49-F238E27FC236}">
                      <a16:creationId xmlns:a16="http://schemas.microsoft.com/office/drawing/2014/main" id="{5AD9D656-6E18-5444-21DD-651C4E491825}"/>
                    </a:ext>
                  </a:extLst>
                </p:cNvPr>
                <p:cNvPicPr/>
                <p:nvPr/>
              </p:nvPicPr>
              <p:blipFill>
                <a:blip r:embed="rId26" cstate="print"/>
                <a:stretch>
                  <a:fillRect/>
                </a:stretch>
              </p:blipFill>
              <p:spPr>
                <a:xfrm>
                  <a:off x="2856229" y="3477069"/>
                  <a:ext cx="365760" cy="144462"/>
                </a:xfrm>
                <a:prstGeom prst="rect">
                  <a:avLst/>
                </a:prstGeom>
              </p:spPr>
            </p:pic>
          </p:grpSp>
          <p:pic>
            <p:nvPicPr>
              <p:cNvPr id="101" name="object 82">
                <a:extLst>
                  <a:ext uri="{FF2B5EF4-FFF2-40B4-BE49-F238E27FC236}">
                    <a16:creationId xmlns:a16="http://schemas.microsoft.com/office/drawing/2014/main" id="{61D4BCA1-1D60-FDCA-451A-32E97E5F6194}"/>
                  </a:ext>
                </a:extLst>
              </p:cNvPr>
              <p:cNvPicPr/>
              <p:nvPr/>
            </p:nvPicPr>
            <p:blipFill>
              <a:blip r:embed="rId27" cstate="print"/>
              <a:stretch>
                <a:fillRect/>
              </a:stretch>
            </p:blipFill>
            <p:spPr>
              <a:xfrm>
                <a:off x="7267429" y="4202846"/>
                <a:ext cx="278976" cy="154779"/>
              </a:xfrm>
              <a:prstGeom prst="rect">
                <a:avLst/>
              </a:prstGeom>
            </p:spPr>
          </p:pic>
          <p:pic>
            <p:nvPicPr>
              <p:cNvPr id="102" name="object 83">
                <a:extLst>
                  <a:ext uri="{FF2B5EF4-FFF2-40B4-BE49-F238E27FC236}">
                    <a16:creationId xmlns:a16="http://schemas.microsoft.com/office/drawing/2014/main" id="{168381AC-3A6F-5186-BF90-B0B3B0E614F4}"/>
                  </a:ext>
                </a:extLst>
              </p:cNvPr>
              <p:cNvPicPr/>
              <p:nvPr/>
            </p:nvPicPr>
            <p:blipFill>
              <a:blip r:embed="rId28" cstate="print"/>
              <a:stretch>
                <a:fillRect/>
              </a:stretch>
            </p:blipFill>
            <p:spPr>
              <a:xfrm>
                <a:off x="7558933" y="4207276"/>
                <a:ext cx="511455" cy="131105"/>
              </a:xfrm>
              <a:prstGeom prst="rect">
                <a:avLst/>
              </a:prstGeom>
            </p:spPr>
          </p:pic>
          <p:pic>
            <p:nvPicPr>
              <p:cNvPr id="103" name="object 85">
                <a:extLst>
                  <a:ext uri="{FF2B5EF4-FFF2-40B4-BE49-F238E27FC236}">
                    <a16:creationId xmlns:a16="http://schemas.microsoft.com/office/drawing/2014/main" id="{B4689D6F-9DBA-2CCE-3DB8-BFCCBD8D3573}"/>
                  </a:ext>
                </a:extLst>
              </p:cNvPr>
              <p:cNvPicPr/>
              <p:nvPr/>
            </p:nvPicPr>
            <p:blipFill>
              <a:blip r:embed="rId29" cstate="print"/>
              <a:stretch>
                <a:fillRect/>
              </a:stretch>
            </p:blipFill>
            <p:spPr>
              <a:xfrm>
                <a:off x="7261618" y="4429648"/>
                <a:ext cx="464959" cy="83222"/>
              </a:xfrm>
              <a:prstGeom prst="rect">
                <a:avLst/>
              </a:prstGeom>
            </p:spPr>
          </p:pic>
          <p:pic>
            <p:nvPicPr>
              <p:cNvPr id="104" name="object 86" descr="RTW – Life sciences investment and innovation firm">
                <a:extLst>
                  <a:ext uri="{FF2B5EF4-FFF2-40B4-BE49-F238E27FC236}">
                    <a16:creationId xmlns:a16="http://schemas.microsoft.com/office/drawing/2014/main" id="{F23CAA44-1FB1-0842-6EDF-0D9D3854E6F0}"/>
                  </a:ext>
                </a:extLst>
              </p:cNvPr>
              <p:cNvPicPr/>
              <p:nvPr/>
            </p:nvPicPr>
            <p:blipFill>
              <a:blip r:embed="rId30" cstate="print"/>
              <a:stretch>
                <a:fillRect/>
              </a:stretch>
            </p:blipFill>
            <p:spPr>
              <a:xfrm>
                <a:off x="7754992" y="4420801"/>
                <a:ext cx="327266" cy="88839"/>
              </a:xfrm>
              <a:prstGeom prst="rect">
                <a:avLst/>
              </a:prstGeom>
            </p:spPr>
          </p:pic>
          <p:pic>
            <p:nvPicPr>
              <p:cNvPr id="107" name="object 25">
                <a:extLst>
                  <a:ext uri="{FF2B5EF4-FFF2-40B4-BE49-F238E27FC236}">
                    <a16:creationId xmlns:a16="http://schemas.microsoft.com/office/drawing/2014/main" id="{ABA10BAF-8867-4406-BCB1-8318C7597033}"/>
                  </a:ext>
                </a:extLst>
              </p:cNvPr>
              <p:cNvPicPr/>
              <p:nvPr/>
            </p:nvPicPr>
            <p:blipFill>
              <a:blip r:embed="rId31" cstate="print"/>
              <a:stretch>
                <a:fillRect/>
              </a:stretch>
            </p:blipFill>
            <p:spPr>
              <a:xfrm>
                <a:off x="6249577" y="4222940"/>
                <a:ext cx="415195" cy="79922"/>
              </a:xfrm>
              <a:prstGeom prst="rect">
                <a:avLst/>
              </a:prstGeom>
            </p:spPr>
          </p:pic>
          <p:pic>
            <p:nvPicPr>
              <p:cNvPr id="108" name="object 53">
                <a:extLst>
                  <a:ext uri="{FF2B5EF4-FFF2-40B4-BE49-F238E27FC236}">
                    <a16:creationId xmlns:a16="http://schemas.microsoft.com/office/drawing/2014/main" id="{A093DF55-49CC-FA30-C6B4-1DA84A905207}"/>
                  </a:ext>
                </a:extLst>
              </p:cNvPr>
              <p:cNvPicPr/>
              <p:nvPr/>
            </p:nvPicPr>
            <p:blipFill>
              <a:blip r:embed="rId32" cstate="print"/>
              <a:stretch>
                <a:fillRect/>
              </a:stretch>
            </p:blipFill>
            <p:spPr>
              <a:xfrm>
                <a:off x="6685311" y="4225274"/>
                <a:ext cx="414460" cy="127098"/>
              </a:xfrm>
              <a:prstGeom prst="rect">
                <a:avLst/>
              </a:prstGeom>
            </p:spPr>
          </p:pic>
          <p:pic>
            <p:nvPicPr>
              <p:cNvPr id="109" name="object 54" descr="MORGAN STANLEY PRIVATE BANK's REO &amp; Non Performing Loans ...">
                <a:extLst>
                  <a:ext uri="{FF2B5EF4-FFF2-40B4-BE49-F238E27FC236}">
                    <a16:creationId xmlns:a16="http://schemas.microsoft.com/office/drawing/2014/main" id="{D45B7213-7C59-ED35-C3FE-9712FAB330F2}"/>
                  </a:ext>
                </a:extLst>
              </p:cNvPr>
              <p:cNvPicPr/>
              <p:nvPr/>
            </p:nvPicPr>
            <p:blipFill>
              <a:blip r:embed="rId33" cstate="print"/>
              <a:stretch>
                <a:fillRect/>
              </a:stretch>
            </p:blipFill>
            <p:spPr>
              <a:xfrm>
                <a:off x="6249577" y="4402881"/>
                <a:ext cx="415195" cy="103797"/>
              </a:xfrm>
              <a:prstGeom prst="rect">
                <a:avLst/>
              </a:prstGeom>
            </p:spPr>
          </p:pic>
          <p:pic>
            <p:nvPicPr>
              <p:cNvPr id="110" name="object 55">
                <a:extLst>
                  <a:ext uri="{FF2B5EF4-FFF2-40B4-BE49-F238E27FC236}">
                    <a16:creationId xmlns:a16="http://schemas.microsoft.com/office/drawing/2014/main" id="{58AE8727-6CB5-FE84-7E64-F201CF009BDF}"/>
                  </a:ext>
                </a:extLst>
              </p:cNvPr>
              <p:cNvPicPr/>
              <p:nvPr/>
            </p:nvPicPr>
            <p:blipFill>
              <a:blip r:embed="rId34" cstate="print"/>
              <a:stretch>
                <a:fillRect/>
              </a:stretch>
            </p:blipFill>
            <p:spPr>
              <a:xfrm>
                <a:off x="6678351" y="4416784"/>
                <a:ext cx="415195" cy="75842"/>
              </a:xfrm>
              <a:prstGeom prst="rect">
                <a:avLst/>
              </a:prstGeom>
            </p:spPr>
          </p:pic>
          <p:pic>
            <p:nvPicPr>
              <p:cNvPr id="111" name="object 24">
                <a:extLst>
                  <a:ext uri="{FF2B5EF4-FFF2-40B4-BE49-F238E27FC236}">
                    <a16:creationId xmlns:a16="http://schemas.microsoft.com/office/drawing/2014/main" id="{D49A98A8-E3F0-3BBF-F3C6-F731EC51CDD8}"/>
                  </a:ext>
                </a:extLst>
              </p:cNvPr>
              <p:cNvPicPr/>
              <p:nvPr/>
            </p:nvPicPr>
            <p:blipFill>
              <a:blip r:embed="rId35" cstate="print"/>
              <a:stretch>
                <a:fillRect/>
              </a:stretch>
            </p:blipFill>
            <p:spPr>
              <a:xfrm>
                <a:off x="5256927" y="4384760"/>
                <a:ext cx="421183" cy="118823"/>
              </a:xfrm>
              <a:prstGeom prst="rect">
                <a:avLst/>
              </a:prstGeom>
            </p:spPr>
          </p:pic>
          <p:pic>
            <p:nvPicPr>
              <p:cNvPr id="112" name="object 56">
                <a:extLst>
                  <a:ext uri="{FF2B5EF4-FFF2-40B4-BE49-F238E27FC236}">
                    <a16:creationId xmlns:a16="http://schemas.microsoft.com/office/drawing/2014/main" id="{035E4671-7883-E325-1A32-9C31AA59ADAA}"/>
                  </a:ext>
                </a:extLst>
              </p:cNvPr>
              <p:cNvPicPr/>
              <p:nvPr/>
            </p:nvPicPr>
            <p:blipFill>
              <a:blip r:embed="rId36" cstate="print"/>
              <a:stretch>
                <a:fillRect/>
              </a:stretch>
            </p:blipFill>
            <p:spPr>
              <a:xfrm>
                <a:off x="5861353" y="4191952"/>
                <a:ext cx="315887" cy="156905"/>
              </a:xfrm>
              <a:prstGeom prst="rect">
                <a:avLst/>
              </a:prstGeom>
            </p:spPr>
          </p:pic>
          <p:pic>
            <p:nvPicPr>
              <p:cNvPr id="113" name="object 57">
                <a:extLst>
                  <a:ext uri="{FF2B5EF4-FFF2-40B4-BE49-F238E27FC236}">
                    <a16:creationId xmlns:a16="http://schemas.microsoft.com/office/drawing/2014/main" id="{9F0CCB00-00C8-295C-574C-6D9C894E849E}"/>
                  </a:ext>
                </a:extLst>
              </p:cNvPr>
              <p:cNvPicPr/>
              <p:nvPr/>
            </p:nvPicPr>
            <p:blipFill>
              <a:blip r:embed="rId37" cstate="print"/>
              <a:stretch>
                <a:fillRect/>
              </a:stretch>
            </p:blipFill>
            <p:spPr>
              <a:xfrm>
                <a:off x="5258828" y="4220421"/>
                <a:ext cx="579126" cy="83392"/>
              </a:xfrm>
              <a:prstGeom prst="rect">
                <a:avLst/>
              </a:prstGeom>
            </p:spPr>
          </p:pic>
          <p:pic>
            <p:nvPicPr>
              <p:cNvPr id="114" name="object 58">
                <a:extLst>
                  <a:ext uri="{FF2B5EF4-FFF2-40B4-BE49-F238E27FC236}">
                    <a16:creationId xmlns:a16="http://schemas.microsoft.com/office/drawing/2014/main" id="{381596C5-E3D8-EE94-3665-CB9C3F00E7D0}"/>
                  </a:ext>
                </a:extLst>
              </p:cNvPr>
              <p:cNvPicPr/>
              <p:nvPr/>
            </p:nvPicPr>
            <p:blipFill>
              <a:blip r:embed="rId38" cstate="print"/>
              <a:stretch>
                <a:fillRect/>
              </a:stretch>
            </p:blipFill>
            <p:spPr>
              <a:xfrm>
                <a:off x="5706335" y="4402977"/>
                <a:ext cx="473829" cy="84811"/>
              </a:xfrm>
              <a:prstGeom prst="rect">
                <a:avLst/>
              </a:prstGeom>
            </p:spPr>
          </p:pic>
          <p:pic>
            <p:nvPicPr>
              <p:cNvPr id="116" name="object 21" descr="中國信達- 維基百科，自由的百科全書">
                <a:extLst>
                  <a:ext uri="{FF2B5EF4-FFF2-40B4-BE49-F238E27FC236}">
                    <a16:creationId xmlns:a16="http://schemas.microsoft.com/office/drawing/2014/main" id="{99906866-2F24-BBF8-6905-283AED7CC3BD}"/>
                  </a:ext>
                </a:extLst>
              </p:cNvPr>
              <p:cNvPicPr/>
              <p:nvPr/>
            </p:nvPicPr>
            <p:blipFill>
              <a:blip r:embed="rId39" cstate="print"/>
              <a:stretch>
                <a:fillRect/>
              </a:stretch>
            </p:blipFill>
            <p:spPr>
              <a:xfrm>
                <a:off x="4384404" y="4165716"/>
                <a:ext cx="295949" cy="240991"/>
              </a:xfrm>
              <a:prstGeom prst="rect">
                <a:avLst/>
              </a:prstGeom>
            </p:spPr>
          </p:pic>
          <p:pic>
            <p:nvPicPr>
              <p:cNvPr id="117" name="object 22" descr="实习汇总| 中金公司，国泰君安证券，泰康资产，快手，蔚来资本，麦当劳，广发基金等- 知乎">
                <a:extLst>
                  <a:ext uri="{FF2B5EF4-FFF2-40B4-BE49-F238E27FC236}">
                    <a16:creationId xmlns:a16="http://schemas.microsoft.com/office/drawing/2014/main" id="{A4E210FB-7DAC-CB8B-1596-812072128D60}"/>
                  </a:ext>
                </a:extLst>
              </p:cNvPr>
              <p:cNvPicPr/>
              <p:nvPr/>
            </p:nvPicPr>
            <p:blipFill>
              <a:blip r:embed="rId40" cstate="print"/>
              <a:stretch>
                <a:fillRect/>
              </a:stretch>
            </p:blipFill>
            <p:spPr>
              <a:xfrm>
                <a:off x="4504123" y="4387311"/>
                <a:ext cx="499256" cy="131749"/>
              </a:xfrm>
              <a:prstGeom prst="rect">
                <a:avLst/>
              </a:prstGeom>
            </p:spPr>
          </p:pic>
          <p:pic>
            <p:nvPicPr>
              <p:cNvPr id="118" name="object 23" descr="ETF Company - Fullgoal - ETF Stream">
                <a:extLst>
                  <a:ext uri="{FF2B5EF4-FFF2-40B4-BE49-F238E27FC236}">
                    <a16:creationId xmlns:a16="http://schemas.microsoft.com/office/drawing/2014/main" id="{C8AF7D8C-BF19-280D-4417-DAFF82A72313}"/>
                  </a:ext>
                </a:extLst>
              </p:cNvPr>
              <p:cNvPicPr/>
              <p:nvPr/>
            </p:nvPicPr>
            <p:blipFill>
              <a:blip r:embed="rId41" cstate="print"/>
              <a:stretch>
                <a:fillRect/>
              </a:stretch>
            </p:blipFill>
            <p:spPr>
              <a:xfrm>
                <a:off x="4713028" y="4226091"/>
                <a:ext cx="437134" cy="133612"/>
              </a:xfrm>
              <a:prstGeom prst="rect">
                <a:avLst/>
              </a:prstGeom>
            </p:spPr>
          </p:pic>
        </p:grpSp>
      </p:grpSp>
      <p:sp>
        <p:nvSpPr>
          <p:cNvPr id="123" name="TextBox 122">
            <a:extLst>
              <a:ext uri="{FF2B5EF4-FFF2-40B4-BE49-F238E27FC236}">
                <a16:creationId xmlns:a16="http://schemas.microsoft.com/office/drawing/2014/main" id="{120026AE-0F8B-ADBB-31AD-A008A76EC60E}"/>
              </a:ext>
            </a:extLst>
          </p:cNvPr>
          <p:cNvSpPr txBox="1"/>
          <p:nvPr/>
        </p:nvSpPr>
        <p:spPr>
          <a:xfrm>
            <a:off x="453054" y="1124738"/>
            <a:ext cx="7709489" cy="222885"/>
          </a:xfrm>
          <a:prstGeom prst="rect">
            <a:avLst/>
          </a:prstGeom>
          <a:solidFill>
            <a:srgbClr val="089C8B"/>
          </a:solidFill>
        </p:spPr>
        <p:txBody>
          <a:bodyPr wrap="square" lIns="0" tIns="0" rIns="0" bIns="0" rtlCol="0" anchor="ctr" anchorCtr="0">
            <a:noAutofit/>
          </a:bodyPr>
          <a:lstStyle/>
          <a:p>
            <a:pPr algn="ctr"/>
            <a:r>
              <a:rPr lang="en-US" sz="813">
                <a:solidFill>
                  <a:schemeClr val="bg1"/>
                </a:solidFill>
              </a:rPr>
              <a:t>7 International Issuer IPOs Completed in 2025</a:t>
            </a:r>
          </a:p>
        </p:txBody>
      </p:sp>
      <p:grpSp>
        <p:nvGrpSpPr>
          <p:cNvPr id="6" name="Group 5">
            <a:extLst>
              <a:ext uri="{FF2B5EF4-FFF2-40B4-BE49-F238E27FC236}">
                <a16:creationId xmlns:a16="http://schemas.microsoft.com/office/drawing/2014/main" id="{04395207-158D-17D2-ADD6-C42F6F1D5BFF}"/>
              </a:ext>
            </a:extLst>
          </p:cNvPr>
          <p:cNvGrpSpPr/>
          <p:nvPr/>
        </p:nvGrpSpPr>
        <p:grpSpPr>
          <a:xfrm>
            <a:off x="8331346" y="1138397"/>
            <a:ext cx="1018196" cy="4406224"/>
            <a:chOff x="8266558" y="1139236"/>
            <a:chExt cx="1018196" cy="4406224"/>
          </a:xfrm>
        </p:grpSpPr>
        <p:sp>
          <p:nvSpPr>
            <p:cNvPr id="11" name="object 11">
              <a:extLst>
                <a:ext uri="{FF2B5EF4-FFF2-40B4-BE49-F238E27FC236}">
                  <a16:creationId xmlns:a16="http://schemas.microsoft.com/office/drawing/2014/main" id="{5D1C8BDC-29B9-BFA0-E477-4ADCC2F9CDE4}"/>
                </a:ext>
              </a:extLst>
            </p:cNvPr>
            <p:cNvSpPr/>
            <p:nvPr/>
          </p:nvSpPr>
          <p:spPr>
            <a:xfrm>
              <a:off x="8327335" y="2494610"/>
              <a:ext cx="889703" cy="45719"/>
            </a:xfrm>
            <a:custGeom>
              <a:avLst/>
              <a:gdLst/>
              <a:ahLst/>
              <a:cxnLst/>
              <a:rect l="l" t="t" r="r" b="b"/>
              <a:pathLst>
                <a:path w="1260475">
                  <a:moveTo>
                    <a:pt x="0" y="0"/>
                  </a:moveTo>
                  <a:lnTo>
                    <a:pt x="1260094" y="0"/>
                  </a:lnTo>
                </a:path>
              </a:pathLst>
            </a:custGeom>
            <a:ln w="6350">
              <a:solidFill>
                <a:srgbClr val="BEBEBE"/>
              </a:solidFill>
              <a:prstDash val="sysDash"/>
            </a:ln>
          </p:spPr>
          <p:txBody>
            <a:bodyPr wrap="square" lIns="0" tIns="0" rIns="0" bIns="0" rtlCol="0"/>
            <a:lstStyle/>
            <a:p>
              <a:endParaRPr sz="1950"/>
            </a:p>
          </p:txBody>
        </p:sp>
        <p:sp>
          <p:nvSpPr>
            <p:cNvPr id="13" name="object 13">
              <a:extLst>
                <a:ext uri="{FF2B5EF4-FFF2-40B4-BE49-F238E27FC236}">
                  <a16:creationId xmlns:a16="http://schemas.microsoft.com/office/drawing/2014/main" id="{80799638-BD31-7BA4-3ECB-045D6CB521BE}"/>
                </a:ext>
              </a:extLst>
            </p:cNvPr>
            <p:cNvSpPr/>
            <p:nvPr/>
          </p:nvSpPr>
          <p:spPr>
            <a:xfrm>
              <a:off x="8267900" y="1368261"/>
              <a:ext cx="939600" cy="4177199"/>
            </a:xfrm>
            <a:custGeom>
              <a:avLst/>
              <a:gdLst/>
              <a:ahLst/>
              <a:cxnLst/>
              <a:rect l="l" t="t" r="r" b="b"/>
              <a:pathLst>
                <a:path w="1406525" h="3401695">
                  <a:moveTo>
                    <a:pt x="0" y="3401314"/>
                  </a:moveTo>
                  <a:lnTo>
                    <a:pt x="1406271" y="3401314"/>
                  </a:lnTo>
                  <a:lnTo>
                    <a:pt x="1406271" y="0"/>
                  </a:lnTo>
                  <a:lnTo>
                    <a:pt x="0" y="0"/>
                  </a:lnTo>
                  <a:lnTo>
                    <a:pt x="0" y="3401314"/>
                  </a:lnTo>
                  <a:close/>
                </a:path>
              </a:pathLst>
            </a:custGeom>
            <a:ln w="25399">
              <a:solidFill>
                <a:srgbClr val="044B83"/>
              </a:solidFill>
              <a:prstDash val="sysDot"/>
            </a:ln>
          </p:spPr>
          <p:txBody>
            <a:bodyPr wrap="square" lIns="0" tIns="0" rIns="0" bIns="0" rtlCol="0"/>
            <a:lstStyle/>
            <a:p>
              <a:endParaRPr sz="1950"/>
            </a:p>
          </p:txBody>
        </p:sp>
        <p:pic>
          <p:nvPicPr>
            <p:cNvPr id="16" name="object 51" descr="South Korea - Free flags icons">
              <a:extLst>
                <a:ext uri="{FF2B5EF4-FFF2-40B4-BE49-F238E27FC236}">
                  <a16:creationId xmlns:a16="http://schemas.microsoft.com/office/drawing/2014/main" id="{01EBCA9A-38C4-2E97-3F5C-643000B53C97}"/>
                </a:ext>
              </a:extLst>
            </p:cNvPr>
            <p:cNvPicPr/>
            <p:nvPr/>
          </p:nvPicPr>
          <p:blipFill>
            <a:blip r:embed="rId42" cstate="print"/>
            <a:stretch>
              <a:fillRect/>
            </a:stretch>
          </p:blipFill>
          <p:spPr>
            <a:xfrm>
              <a:off x="8734347" y="3931237"/>
              <a:ext cx="147032" cy="147032"/>
            </a:xfrm>
            <a:prstGeom prst="rect">
              <a:avLst/>
            </a:prstGeom>
          </p:spPr>
        </p:pic>
        <p:pic>
          <p:nvPicPr>
            <p:cNvPr id="20" name="object 68">
              <a:extLst>
                <a:ext uri="{FF2B5EF4-FFF2-40B4-BE49-F238E27FC236}">
                  <a16:creationId xmlns:a16="http://schemas.microsoft.com/office/drawing/2014/main" id="{EAB24A2A-E3E0-0D88-BBF9-ACBD7C908C1B}"/>
                </a:ext>
              </a:extLst>
            </p:cNvPr>
            <p:cNvPicPr/>
            <p:nvPr/>
          </p:nvPicPr>
          <p:blipFill>
            <a:blip r:embed="rId43" cstate="print"/>
            <a:stretch>
              <a:fillRect/>
            </a:stretch>
          </p:blipFill>
          <p:spPr>
            <a:xfrm>
              <a:off x="8312565" y="2129850"/>
              <a:ext cx="424073" cy="136012"/>
            </a:xfrm>
            <a:prstGeom prst="rect">
              <a:avLst/>
            </a:prstGeom>
          </p:spPr>
        </p:pic>
        <p:sp>
          <p:nvSpPr>
            <p:cNvPr id="23" name="object 71">
              <a:extLst>
                <a:ext uri="{FF2B5EF4-FFF2-40B4-BE49-F238E27FC236}">
                  <a16:creationId xmlns:a16="http://schemas.microsoft.com/office/drawing/2014/main" id="{50CE7AB9-FC6B-C48A-4299-F95D2FC66339}"/>
                </a:ext>
              </a:extLst>
            </p:cNvPr>
            <p:cNvSpPr txBox="1"/>
            <p:nvPr/>
          </p:nvSpPr>
          <p:spPr>
            <a:xfrm>
              <a:off x="8692924" y="2700981"/>
              <a:ext cx="591830" cy="292388"/>
            </a:xfrm>
            <a:prstGeom prst="rect">
              <a:avLst/>
            </a:prstGeom>
            <a:noFill/>
          </p:spPr>
          <p:txBody>
            <a:bodyPr wrap="none" rtlCol="0">
              <a:spAutoFit/>
            </a:bodyPr>
            <a:lstStyle>
              <a:defPPr>
                <a:defRPr lang="en-US"/>
              </a:defPPr>
              <a:lvl1pPr algn="r">
                <a:defRPr sz="800"/>
              </a:lvl1pPr>
            </a:lstStyle>
            <a:p>
              <a:r>
                <a:rPr sz="650">
                  <a:solidFill>
                    <a:schemeClr val="tx1"/>
                  </a:solidFill>
                </a:rPr>
                <a:t>UK</a:t>
              </a:r>
            </a:p>
            <a:p>
              <a:r>
                <a:rPr sz="650">
                  <a:solidFill>
                    <a:schemeClr val="tx1"/>
                  </a:solidFill>
                </a:rPr>
                <a:t>Financials</a:t>
              </a:r>
            </a:p>
          </p:txBody>
        </p:sp>
        <p:pic>
          <p:nvPicPr>
            <p:cNvPr id="25" name="object 73">
              <a:extLst>
                <a:ext uri="{FF2B5EF4-FFF2-40B4-BE49-F238E27FC236}">
                  <a16:creationId xmlns:a16="http://schemas.microsoft.com/office/drawing/2014/main" id="{90A4FBE9-CC7C-A166-A46D-BBA38242117F}"/>
                </a:ext>
              </a:extLst>
            </p:cNvPr>
            <p:cNvPicPr/>
            <p:nvPr/>
          </p:nvPicPr>
          <p:blipFill>
            <a:blip r:embed="rId44" cstate="print"/>
            <a:stretch>
              <a:fillRect/>
            </a:stretch>
          </p:blipFill>
          <p:spPr>
            <a:xfrm>
              <a:off x="8294522" y="2694810"/>
              <a:ext cx="524914" cy="146328"/>
            </a:xfrm>
            <a:prstGeom prst="rect">
              <a:avLst/>
            </a:prstGeom>
          </p:spPr>
        </p:pic>
        <p:pic>
          <p:nvPicPr>
            <p:cNvPr id="27" name="object 74">
              <a:extLst>
                <a:ext uri="{FF2B5EF4-FFF2-40B4-BE49-F238E27FC236}">
                  <a16:creationId xmlns:a16="http://schemas.microsoft.com/office/drawing/2014/main" id="{C8043050-2F9D-62D8-0C48-BBFF62B2A7CB}"/>
                </a:ext>
              </a:extLst>
            </p:cNvPr>
            <p:cNvPicPr/>
            <p:nvPr/>
          </p:nvPicPr>
          <p:blipFill>
            <a:blip r:embed="rId45" cstate="print"/>
            <a:stretch>
              <a:fillRect/>
            </a:stretch>
          </p:blipFill>
          <p:spPr>
            <a:xfrm>
              <a:off x="8890995" y="2691028"/>
              <a:ext cx="137135" cy="137135"/>
            </a:xfrm>
            <a:prstGeom prst="rect">
              <a:avLst/>
            </a:prstGeom>
          </p:spPr>
        </p:pic>
        <p:pic>
          <p:nvPicPr>
            <p:cNvPr id="28" name="object 75" descr="单位]芯迈半导体技术（杭州）股份有限公司- 杭州电子科技大学24365就业数智平台">
              <a:extLst>
                <a:ext uri="{FF2B5EF4-FFF2-40B4-BE49-F238E27FC236}">
                  <a16:creationId xmlns:a16="http://schemas.microsoft.com/office/drawing/2014/main" id="{95DDE150-110E-A77D-737F-AF6EA240DD76}"/>
                </a:ext>
              </a:extLst>
            </p:cNvPr>
            <p:cNvPicPr/>
            <p:nvPr/>
          </p:nvPicPr>
          <p:blipFill>
            <a:blip r:embed="rId46" cstate="print"/>
            <a:stretch>
              <a:fillRect/>
            </a:stretch>
          </p:blipFill>
          <p:spPr>
            <a:xfrm>
              <a:off x="8363127" y="3135522"/>
              <a:ext cx="303895" cy="303895"/>
            </a:xfrm>
            <a:prstGeom prst="rect">
              <a:avLst/>
            </a:prstGeom>
          </p:spPr>
        </p:pic>
        <p:pic>
          <p:nvPicPr>
            <p:cNvPr id="29" name="object 76" descr="South Korea - Free flags icons">
              <a:extLst>
                <a:ext uri="{FF2B5EF4-FFF2-40B4-BE49-F238E27FC236}">
                  <a16:creationId xmlns:a16="http://schemas.microsoft.com/office/drawing/2014/main" id="{8F390E35-8BC8-391E-A323-E18A451AAD0B}"/>
                </a:ext>
              </a:extLst>
            </p:cNvPr>
            <p:cNvPicPr/>
            <p:nvPr/>
          </p:nvPicPr>
          <p:blipFill>
            <a:blip r:embed="rId42" cstate="print"/>
            <a:stretch>
              <a:fillRect/>
            </a:stretch>
          </p:blipFill>
          <p:spPr>
            <a:xfrm>
              <a:off x="8736620" y="3237171"/>
              <a:ext cx="147032" cy="147032"/>
            </a:xfrm>
            <a:prstGeom prst="rect">
              <a:avLst/>
            </a:prstGeom>
          </p:spPr>
        </p:pic>
        <p:sp>
          <p:nvSpPr>
            <p:cNvPr id="30" name="object 77">
              <a:extLst>
                <a:ext uri="{FF2B5EF4-FFF2-40B4-BE49-F238E27FC236}">
                  <a16:creationId xmlns:a16="http://schemas.microsoft.com/office/drawing/2014/main" id="{266A8A50-FB7E-8352-233D-FDB84AF7B33B}"/>
                </a:ext>
              </a:extLst>
            </p:cNvPr>
            <p:cNvSpPr txBox="1"/>
            <p:nvPr/>
          </p:nvSpPr>
          <p:spPr>
            <a:xfrm>
              <a:off x="8776915" y="3225711"/>
              <a:ext cx="500458" cy="192360"/>
            </a:xfrm>
            <a:prstGeom prst="rect">
              <a:avLst/>
            </a:prstGeom>
            <a:noFill/>
          </p:spPr>
          <p:txBody>
            <a:bodyPr wrap="none" rtlCol="0">
              <a:spAutoFit/>
            </a:bodyPr>
            <a:lstStyle>
              <a:defPPr>
                <a:defRPr lang="en-US"/>
              </a:defPPr>
              <a:lvl1pPr algn="r">
                <a:defRPr sz="800"/>
              </a:lvl1pPr>
            </a:lstStyle>
            <a:p>
              <a:r>
                <a:rPr sz="650" err="1">
                  <a:solidFill>
                    <a:schemeClr val="tx1"/>
                  </a:solidFill>
                </a:rPr>
                <a:t>S.Korea</a:t>
              </a:r>
              <a:endParaRPr sz="650">
                <a:solidFill>
                  <a:schemeClr val="tx1"/>
                </a:solidFill>
              </a:endParaRPr>
            </a:p>
          </p:txBody>
        </p:sp>
        <p:sp>
          <p:nvSpPr>
            <p:cNvPr id="4" name="object 3">
              <a:extLst>
                <a:ext uri="{FF2B5EF4-FFF2-40B4-BE49-F238E27FC236}">
                  <a16:creationId xmlns:a16="http://schemas.microsoft.com/office/drawing/2014/main" id="{146F3B58-6E50-440A-58C5-67D2CCA9AB82}"/>
                </a:ext>
              </a:extLst>
            </p:cNvPr>
            <p:cNvSpPr txBox="1"/>
            <p:nvPr/>
          </p:nvSpPr>
          <p:spPr>
            <a:xfrm>
              <a:off x="8769185" y="4125095"/>
              <a:ext cx="226836" cy="350096"/>
            </a:xfrm>
            <a:prstGeom prst="rect">
              <a:avLst/>
            </a:prstGeom>
          </p:spPr>
          <p:txBody>
            <a:bodyPr vert="horz" wrap="square" lIns="0" tIns="0" rIns="0" bIns="0" rtlCol="0" anchor="ctr" anchorCtr="0">
              <a:spAutoFit/>
            </a:bodyPr>
            <a:lstStyle/>
            <a:p>
              <a:pPr>
                <a:lnSpc>
                  <a:spcPct val="100000"/>
                </a:lnSpc>
              </a:pPr>
              <a:r>
                <a:rPr sz="2275" spc="-41">
                  <a:solidFill>
                    <a:srgbClr val="585858"/>
                  </a:solidFill>
                  <a:latin typeface="Arial"/>
                  <a:cs typeface="Arial"/>
                </a:rPr>
                <a:t>+</a:t>
              </a:r>
              <a:endParaRPr sz="2275">
                <a:latin typeface="Arial"/>
                <a:cs typeface="Arial"/>
              </a:endParaRPr>
            </a:p>
          </p:txBody>
        </p:sp>
        <p:pic>
          <p:nvPicPr>
            <p:cNvPr id="8" name="object 8" descr="Capital A | Our Brands">
              <a:extLst>
                <a:ext uri="{FF2B5EF4-FFF2-40B4-BE49-F238E27FC236}">
                  <a16:creationId xmlns:a16="http://schemas.microsoft.com/office/drawing/2014/main" id="{BB45D50B-3E27-98A2-F921-D779FE1EF98B}"/>
                </a:ext>
              </a:extLst>
            </p:cNvPr>
            <p:cNvPicPr/>
            <p:nvPr/>
          </p:nvPicPr>
          <p:blipFill>
            <a:blip r:embed="rId47" cstate="print"/>
            <a:stretch>
              <a:fillRect/>
            </a:stretch>
          </p:blipFill>
          <p:spPr>
            <a:xfrm>
              <a:off x="8324332" y="4766719"/>
              <a:ext cx="557047" cy="147325"/>
            </a:xfrm>
            <a:prstGeom prst="rect">
              <a:avLst/>
            </a:prstGeom>
          </p:spPr>
        </p:pic>
        <p:sp>
          <p:nvSpPr>
            <p:cNvPr id="17" name="object 59">
              <a:extLst>
                <a:ext uri="{FF2B5EF4-FFF2-40B4-BE49-F238E27FC236}">
                  <a16:creationId xmlns:a16="http://schemas.microsoft.com/office/drawing/2014/main" id="{68CA8899-6564-9549-88B9-B1130D1B94E0}"/>
                </a:ext>
              </a:extLst>
            </p:cNvPr>
            <p:cNvSpPr txBox="1"/>
            <p:nvPr/>
          </p:nvSpPr>
          <p:spPr>
            <a:xfrm>
              <a:off x="8776915" y="3927865"/>
              <a:ext cx="500458" cy="192360"/>
            </a:xfrm>
            <a:prstGeom prst="rect">
              <a:avLst/>
            </a:prstGeom>
            <a:noFill/>
          </p:spPr>
          <p:txBody>
            <a:bodyPr wrap="none" rtlCol="0">
              <a:spAutoFit/>
            </a:bodyPr>
            <a:lstStyle>
              <a:defPPr>
                <a:defRPr lang="en-US"/>
              </a:defPPr>
              <a:lvl1pPr algn="r">
                <a:defRPr sz="800"/>
              </a:lvl1pPr>
            </a:lstStyle>
            <a:p>
              <a:r>
                <a:rPr sz="650" err="1">
                  <a:solidFill>
                    <a:schemeClr val="tx1"/>
                  </a:solidFill>
                </a:rPr>
                <a:t>S.Korea</a:t>
              </a:r>
              <a:endParaRPr sz="650">
                <a:solidFill>
                  <a:schemeClr val="tx1"/>
                </a:solidFill>
              </a:endParaRPr>
            </a:p>
          </p:txBody>
        </p:sp>
        <p:sp>
          <p:nvSpPr>
            <p:cNvPr id="18" name="object 60">
              <a:extLst>
                <a:ext uri="{FF2B5EF4-FFF2-40B4-BE49-F238E27FC236}">
                  <a16:creationId xmlns:a16="http://schemas.microsoft.com/office/drawing/2014/main" id="{E195B27D-C1D7-0BBC-CB4F-B4EA8A9EE893}"/>
                </a:ext>
              </a:extLst>
            </p:cNvPr>
            <p:cNvSpPr txBox="1"/>
            <p:nvPr/>
          </p:nvSpPr>
          <p:spPr>
            <a:xfrm>
              <a:off x="8768153" y="4015584"/>
              <a:ext cx="356188" cy="192360"/>
            </a:xfrm>
            <a:prstGeom prst="rect">
              <a:avLst/>
            </a:prstGeom>
            <a:noFill/>
          </p:spPr>
          <p:txBody>
            <a:bodyPr wrap="none" rtlCol="0">
              <a:spAutoFit/>
            </a:bodyPr>
            <a:lstStyle>
              <a:defPPr>
                <a:defRPr lang="en-US"/>
              </a:defPPr>
              <a:lvl1pPr algn="r">
                <a:defRPr sz="800"/>
              </a:lvl1pPr>
            </a:lstStyle>
            <a:p>
              <a:r>
                <a:rPr sz="650">
                  <a:solidFill>
                    <a:schemeClr val="tx1"/>
                  </a:solidFill>
                </a:rPr>
                <a:t>TMT</a:t>
              </a:r>
            </a:p>
          </p:txBody>
        </p:sp>
        <p:pic>
          <p:nvPicPr>
            <p:cNvPr id="31" name="object 78" descr="Ofmom - For the health of a mother and a child">
              <a:extLst>
                <a:ext uri="{FF2B5EF4-FFF2-40B4-BE49-F238E27FC236}">
                  <a16:creationId xmlns:a16="http://schemas.microsoft.com/office/drawing/2014/main" id="{E7A1614A-3E6C-05DF-F5FF-3E7AD92068EE}"/>
                </a:ext>
              </a:extLst>
            </p:cNvPr>
            <p:cNvPicPr/>
            <p:nvPr/>
          </p:nvPicPr>
          <p:blipFill>
            <a:blip r:embed="rId48" cstate="print"/>
            <a:stretch>
              <a:fillRect/>
            </a:stretch>
          </p:blipFill>
          <p:spPr>
            <a:xfrm>
              <a:off x="8306027" y="3644685"/>
              <a:ext cx="564802" cy="229855"/>
            </a:xfrm>
            <a:prstGeom prst="rect">
              <a:avLst/>
            </a:prstGeom>
          </p:spPr>
        </p:pic>
        <p:sp>
          <p:nvSpPr>
            <p:cNvPr id="32" name="object 80">
              <a:extLst>
                <a:ext uri="{FF2B5EF4-FFF2-40B4-BE49-F238E27FC236}">
                  <a16:creationId xmlns:a16="http://schemas.microsoft.com/office/drawing/2014/main" id="{0487072E-8102-55A8-2038-27CE2B2C8E9D}"/>
                </a:ext>
              </a:extLst>
            </p:cNvPr>
            <p:cNvSpPr txBox="1"/>
            <p:nvPr/>
          </p:nvSpPr>
          <p:spPr>
            <a:xfrm>
              <a:off x="8483051" y="3829042"/>
              <a:ext cx="366076" cy="110447"/>
            </a:xfrm>
            <a:prstGeom prst="rect">
              <a:avLst/>
            </a:prstGeom>
          </p:spPr>
          <p:txBody>
            <a:bodyPr vert="horz" wrap="square" lIns="0" tIns="10319" rIns="0" bIns="0" rtlCol="0">
              <a:spAutoFit/>
            </a:bodyPr>
            <a:lstStyle/>
            <a:p>
              <a:pPr>
                <a:spcBef>
                  <a:spcPts val="81"/>
                </a:spcBef>
              </a:pPr>
              <a:r>
                <a:rPr sz="650" i="1" spc="-8">
                  <a:solidFill>
                    <a:schemeClr val="tx1"/>
                  </a:solidFill>
                  <a:latin typeface="Arial"/>
                  <a:cs typeface="Arial"/>
                </a:rPr>
                <a:t>(Coree)</a:t>
              </a:r>
              <a:endParaRPr sz="650">
                <a:solidFill>
                  <a:schemeClr val="tx1"/>
                </a:solidFill>
                <a:latin typeface="Arial"/>
                <a:cs typeface="Arial"/>
              </a:endParaRPr>
            </a:p>
          </p:txBody>
        </p:sp>
        <p:sp>
          <p:nvSpPr>
            <p:cNvPr id="124" name="TextBox 123">
              <a:extLst>
                <a:ext uri="{FF2B5EF4-FFF2-40B4-BE49-F238E27FC236}">
                  <a16:creationId xmlns:a16="http://schemas.microsoft.com/office/drawing/2014/main" id="{4D974CF1-C855-5523-B97C-53062E3D97BE}"/>
                </a:ext>
              </a:extLst>
            </p:cNvPr>
            <p:cNvSpPr txBox="1"/>
            <p:nvPr/>
          </p:nvSpPr>
          <p:spPr>
            <a:xfrm>
              <a:off x="8266558" y="1139236"/>
              <a:ext cx="940942" cy="208387"/>
            </a:xfrm>
            <a:prstGeom prst="rect">
              <a:avLst/>
            </a:prstGeom>
            <a:solidFill>
              <a:srgbClr val="089C8B"/>
            </a:solidFill>
          </p:spPr>
          <p:txBody>
            <a:bodyPr wrap="square" lIns="0" tIns="0" rIns="0" bIns="0" rtlCol="0" anchor="ctr" anchorCtr="0">
              <a:noAutofit/>
            </a:bodyPr>
            <a:lstStyle/>
            <a:p>
              <a:pPr algn="ctr"/>
              <a:r>
                <a:rPr lang="en-US" sz="813">
                  <a:solidFill>
                    <a:schemeClr val="bg1"/>
                  </a:solidFill>
                </a:rPr>
                <a:t>Upcoming Pipeline</a:t>
              </a:r>
            </a:p>
          </p:txBody>
        </p:sp>
        <p:pic>
          <p:nvPicPr>
            <p:cNvPr id="21" name="object 69">
              <a:extLst>
                <a:ext uri="{FF2B5EF4-FFF2-40B4-BE49-F238E27FC236}">
                  <a16:creationId xmlns:a16="http://schemas.microsoft.com/office/drawing/2014/main" id="{DA61A965-C3BB-181C-B9AD-E22CE142AEF1}"/>
                </a:ext>
              </a:extLst>
            </p:cNvPr>
            <p:cNvPicPr/>
            <p:nvPr/>
          </p:nvPicPr>
          <p:blipFill>
            <a:blip r:embed="rId49" cstate="print"/>
            <a:stretch>
              <a:fillRect/>
            </a:stretch>
          </p:blipFill>
          <p:spPr>
            <a:xfrm>
              <a:off x="8872086" y="2185884"/>
              <a:ext cx="141200" cy="141200"/>
            </a:xfrm>
            <a:prstGeom prst="rect">
              <a:avLst/>
            </a:prstGeom>
          </p:spPr>
        </p:pic>
        <p:sp>
          <p:nvSpPr>
            <p:cNvPr id="122" name="TextBox 121">
              <a:extLst>
                <a:ext uri="{FF2B5EF4-FFF2-40B4-BE49-F238E27FC236}">
                  <a16:creationId xmlns:a16="http://schemas.microsoft.com/office/drawing/2014/main" id="{54853A2E-34A0-CFF9-D7E5-DBB4E6B24739}"/>
                </a:ext>
              </a:extLst>
            </p:cNvPr>
            <p:cNvSpPr txBox="1"/>
            <p:nvPr/>
          </p:nvSpPr>
          <p:spPr>
            <a:xfrm>
              <a:off x="8679601" y="2217613"/>
              <a:ext cx="604653" cy="292388"/>
            </a:xfrm>
            <a:prstGeom prst="rect">
              <a:avLst/>
            </a:prstGeom>
            <a:noFill/>
          </p:spPr>
          <p:txBody>
            <a:bodyPr wrap="square" rtlCol="0">
              <a:spAutoFit/>
            </a:bodyPr>
            <a:lstStyle/>
            <a:p>
              <a:pPr algn="r"/>
              <a:r>
                <a:rPr lang="en-US" sz="650">
                  <a:solidFill>
                    <a:schemeClr val="tx1"/>
                  </a:solidFill>
                </a:rPr>
                <a:t>US</a:t>
              </a:r>
            </a:p>
            <a:p>
              <a:pPr algn="r"/>
              <a:r>
                <a:rPr lang="en-US" sz="650">
                  <a:solidFill>
                    <a:schemeClr val="tx1"/>
                  </a:solidFill>
                </a:rPr>
                <a:t>Industrials</a:t>
              </a:r>
            </a:p>
          </p:txBody>
        </p:sp>
        <p:sp>
          <p:nvSpPr>
            <p:cNvPr id="126" name="object 77">
              <a:extLst>
                <a:ext uri="{FF2B5EF4-FFF2-40B4-BE49-F238E27FC236}">
                  <a16:creationId xmlns:a16="http://schemas.microsoft.com/office/drawing/2014/main" id="{82F139AE-3606-5923-3F93-B4217D166076}"/>
                </a:ext>
              </a:extLst>
            </p:cNvPr>
            <p:cNvSpPr txBox="1"/>
            <p:nvPr/>
          </p:nvSpPr>
          <p:spPr>
            <a:xfrm>
              <a:off x="8770426" y="3318341"/>
              <a:ext cx="356188" cy="192360"/>
            </a:xfrm>
            <a:prstGeom prst="rect">
              <a:avLst/>
            </a:prstGeom>
            <a:noFill/>
          </p:spPr>
          <p:txBody>
            <a:bodyPr wrap="none" rtlCol="0">
              <a:spAutoFit/>
            </a:bodyPr>
            <a:lstStyle>
              <a:defPPr>
                <a:defRPr lang="en-US"/>
              </a:defPPr>
              <a:lvl1pPr algn="r">
                <a:defRPr sz="800"/>
              </a:lvl1pPr>
            </a:lstStyle>
            <a:p>
              <a:r>
                <a:rPr sz="650">
                  <a:solidFill>
                    <a:schemeClr val="tx1"/>
                  </a:solidFill>
                </a:rPr>
                <a:t>TMT</a:t>
              </a:r>
            </a:p>
          </p:txBody>
        </p:sp>
        <p:sp>
          <p:nvSpPr>
            <p:cNvPr id="127" name="object 59">
              <a:extLst>
                <a:ext uri="{FF2B5EF4-FFF2-40B4-BE49-F238E27FC236}">
                  <a16:creationId xmlns:a16="http://schemas.microsoft.com/office/drawing/2014/main" id="{E794CC1B-6635-3048-2D04-6EB34890642D}"/>
                </a:ext>
              </a:extLst>
            </p:cNvPr>
            <p:cNvSpPr txBox="1"/>
            <p:nvPr/>
          </p:nvSpPr>
          <p:spPr>
            <a:xfrm>
              <a:off x="8562060" y="5063888"/>
              <a:ext cx="707871" cy="292388"/>
            </a:xfrm>
            <a:prstGeom prst="rect">
              <a:avLst/>
            </a:prstGeom>
            <a:noFill/>
          </p:spPr>
          <p:txBody>
            <a:bodyPr wrap="square" rtlCol="0">
              <a:spAutoFit/>
            </a:bodyPr>
            <a:lstStyle>
              <a:defPPr>
                <a:defRPr lang="en-US"/>
              </a:defPPr>
              <a:lvl1pPr algn="r">
                <a:defRPr sz="800"/>
              </a:lvl1pPr>
            </a:lstStyle>
            <a:p>
              <a:r>
                <a:rPr lang="en-US" sz="650">
                  <a:solidFill>
                    <a:schemeClr val="tx1"/>
                  </a:solidFill>
                </a:rPr>
                <a:t>Malaysia</a:t>
              </a:r>
            </a:p>
            <a:p>
              <a:pPr algn="l"/>
              <a:r>
                <a:rPr lang="en-US" sz="650">
                  <a:solidFill>
                    <a:schemeClr val="tx1"/>
                  </a:solidFill>
                </a:rPr>
                <a:t>Industrials</a:t>
              </a:r>
            </a:p>
          </p:txBody>
        </p:sp>
        <p:pic>
          <p:nvPicPr>
            <p:cNvPr id="7" name="object 7" descr="7,200+ Malaysia Flag Stock Photos, Pictures &amp; Royalty-Free Images - iStock  | Malaysia flag heart, Malaysia flag table, Malaysia flag pole">
              <a:extLst>
                <a:ext uri="{FF2B5EF4-FFF2-40B4-BE49-F238E27FC236}">
                  <a16:creationId xmlns:a16="http://schemas.microsoft.com/office/drawing/2014/main" id="{62A5C13C-6EC4-C64C-3720-5DA21EA6F9AC}"/>
                </a:ext>
              </a:extLst>
            </p:cNvPr>
            <p:cNvPicPr/>
            <p:nvPr/>
          </p:nvPicPr>
          <p:blipFill>
            <a:blip r:embed="rId50" cstate="print"/>
            <a:stretch>
              <a:fillRect/>
            </a:stretch>
          </p:blipFill>
          <p:spPr>
            <a:xfrm>
              <a:off x="8651628" y="5028306"/>
              <a:ext cx="156235" cy="153738"/>
            </a:xfrm>
            <a:prstGeom prst="rect">
              <a:avLst/>
            </a:prstGeom>
          </p:spPr>
        </p:pic>
        <p:sp>
          <p:nvSpPr>
            <p:cNvPr id="128" name="object 11">
              <a:extLst>
                <a:ext uri="{FF2B5EF4-FFF2-40B4-BE49-F238E27FC236}">
                  <a16:creationId xmlns:a16="http://schemas.microsoft.com/office/drawing/2014/main" id="{4B538966-4F2D-F489-7B00-8A3CF930E8F0}"/>
                </a:ext>
              </a:extLst>
            </p:cNvPr>
            <p:cNvSpPr/>
            <p:nvPr/>
          </p:nvSpPr>
          <p:spPr>
            <a:xfrm>
              <a:off x="8327335" y="3024581"/>
              <a:ext cx="889703" cy="45719"/>
            </a:xfrm>
            <a:custGeom>
              <a:avLst/>
              <a:gdLst/>
              <a:ahLst/>
              <a:cxnLst/>
              <a:rect l="l" t="t" r="r" b="b"/>
              <a:pathLst>
                <a:path w="1260475">
                  <a:moveTo>
                    <a:pt x="0" y="0"/>
                  </a:moveTo>
                  <a:lnTo>
                    <a:pt x="1260094" y="0"/>
                  </a:lnTo>
                </a:path>
              </a:pathLst>
            </a:custGeom>
            <a:ln w="6350">
              <a:solidFill>
                <a:srgbClr val="BEBEBE"/>
              </a:solidFill>
              <a:prstDash val="sysDash"/>
            </a:ln>
          </p:spPr>
          <p:txBody>
            <a:bodyPr wrap="square" lIns="0" tIns="0" rIns="0" bIns="0" rtlCol="0"/>
            <a:lstStyle/>
            <a:p>
              <a:endParaRPr sz="1950"/>
            </a:p>
          </p:txBody>
        </p:sp>
        <p:sp>
          <p:nvSpPr>
            <p:cNvPr id="129" name="object 11">
              <a:extLst>
                <a:ext uri="{FF2B5EF4-FFF2-40B4-BE49-F238E27FC236}">
                  <a16:creationId xmlns:a16="http://schemas.microsoft.com/office/drawing/2014/main" id="{CB06BE33-788B-54CC-43F0-632B240B0D30}"/>
                </a:ext>
              </a:extLst>
            </p:cNvPr>
            <p:cNvSpPr/>
            <p:nvPr/>
          </p:nvSpPr>
          <p:spPr>
            <a:xfrm flipV="1">
              <a:off x="8327335" y="3508834"/>
              <a:ext cx="889703" cy="45719"/>
            </a:xfrm>
            <a:custGeom>
              <a:avLst/>
              <a:gdLst/>
              <a:ahLst/>
              <a:cxnLst/>
              <a:rect l="l" t="t" r="r" b="b"/>
              <a:pathLst>
                <a:path w="1260475">
                  <a:moveTo>
                    <a:pt x="0" y="0"/>
                  </a:moveTo>
                  <a:lnTo>
                    <a:pt x="1260094" y="0"/>
                  </a:lnTo>
                </a:path>
              </a:pathLst>
            </a:custGeom>
            <a:ln w="6350">
              <a:solidFill>
                <a:srgbClr val="BEBEBE"/>
              </a:solidFill>
              <a:prstDash val="sysDash"/>
            </a:ln>
          </p:spPr>
          <p:txBody>
            <a:bodyPr wrap="square" lIns="0" tIns="0" rIns="0" bIns="0" rtlCol="0"/>
            <a:lstStyle/>
            <a:p>
              <a:endParaRPr sz="1950"/>
            </a:p>
          </p:txBody>
        </p:sp>
      </p:grpSp>
      <p:sp>
        <p:nvSpPr>
          <p:cNvPr id="19" name="Slide Number Placeholder 1">
            <a:extLst>
              <a:ext uri="{FF2B5EF4-FFF2-40B4-BE49-F238E27FC236}">
                <a16:creationId xmlns:a16="http://schemas.microsoft.com/office/drawing/2014/main" id="{2438B2CB-63E1-2C41-930F-68034594FACE}"/>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19</a:t>
            </a:fld>
            <a:endParaRPr lang="en-US"/>
          </a:p>
        </p:txBody>
      </p:sp>
      <p:sp>
        <p:nvSpPr>
          <p:cNvPr id="24" name="TextBox 23">
            <a:extLst>
              <a:ext uri="{FF2B5EF4-FFF2-40B4-BE49-F238E27FC236}">
                <a16:creationId xmlns:a16="http://schemas.microsoft.com/office/drawing/2014/main" id="{6D54B11E-BE64-3429-C456-AD9A66F6CEA1}"/>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Tree>
    <p:extLst>
      <p:ext uri="{BB962C8B-B14F-4D97-AF65-F5344CB8AC3E}">
        <p14:creationId xmlns:p14="http://schemas.microsoft.com/office/powerpoint/2010/main" val="1044429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F00BC-7CD9-B5C7-5716-12297B3778F4}"/>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C8CBF098-9351-8308-6408-73E760892986}"/>
              </a:ext>
            </a:extLst>
          </p:cNvPr>
          <p:cNvSpPr>
            <a:spLocks noGrp="1"/>
          </p:cNvSpPr>
          <p:nvPr>
            <p:ph type="subTitle" idx="1"/>
          </p:nvPr>
        </p:nvSpPr>
        <p:spPr/>
        <p:txBody>
          <a:bodyPr/>
          <a:lstStyle/>
          <a:p>
            <a:r>
              <a:rPr lang="en-US"/>
              <a:t>Section [ ]</a:t>
            </a:r>
            <a:endParaRPr lang="en-SG"/>
          </a:p>
        </p:txBody>
      </p:sp>
      <p:sp>
        <p:nvSpPr>
          <p:cNvPr id="5" name="Title 4">
            <a:extLst>
              <a:ext uri="{FF2B5EF4-FFF2-40B4-BE49-F238E27FC236}">
                <a16:creationId xmlns:a16="http://schemas.microsoft.com/office/drawing/2014/main" id="{6D416CDF-E5E6-E882-4595-E826B5133957}"/>
              </a:ext>
            </a:extLst>
          </p:cNvPr>
          <p:cNvSpPr>
            <a:spLocks noGrp="1"/>
          </p:cNvSpPr>
          <p:nvPr>
            <p:ph type="ctrTitle"/>
          </p:nvPr>
        </p:nvSpPr>
        <p:spPr/>
        <p:txBody>
          <a:bodyPr/>
          <a:lstStyle/>
          <a:p>
            <a:r>
              <a:rPr lang="en-US"/>
              <a:t>[Comparison of Listing Vehicle]</a:t>
            </a:r>
            <a:endParaRPr lang="en-SG"/>
          </a:p>
        </p:txBody>
      </p:sp>
      <p:sp>
        <p:nvSpPr>
          <p:cNvPr id="2" name="Slide Number Placeholder 1">
            <a:extLst>
              <a:ext uri="{FF2B5EF4-FFF2-40B4-BE49-F238E27FC236}">
                <a16:creationId xmlns:a16="http://schemas.microsoft.com/office/drawing/2014/main" id="{3CF62655-0C7B-6A0A-B2F1-FE036C4560E6}"/>
              </a:ext>
            </a:extLst>
          </p:cNvPr>
          <p:cNvSpPr>
            <a:spLocks noGrp="1"/>
          </p:cNvSpPr>
          <p:nvPr>
            <p:ph type="sldNum" sz="quarter" idx="11"/>
          </p:nvPr>
        </p:nvSpPr>
        <p:spPr/>
        <p:txBody>
          <a:bodyPr/>
          <a:lstStyle/>
          <a:p>
            <a:pPr>
              <a:defRPr/>
            </a:pPr>
            <a:fld id="{EED7964B-8F50-47E5-B5EE-37748C966AF4}" type="slidenum">
              <a:rPr lang="en-US" smtClean="0"/>
              <a:pPr>
                <a:defRPr/>
              </a:pPr>
              <a:t>20</a:t>
            </a:fld>
            <a:endParaRPr lang="en-US"/>
          </a:p>
        </p:txBody>
      </p:sp>
    </p:spTree>
    <p:extLst>
      <p:ext uri="{BB962C8B-B14F-4D97-AF65-F5344CB8AC3E}">
        <p14:creationId xmlns:p14="http://schemas.microsoft.com/office/powerpoint/2010/main" val="2019841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F9452EB-8AB6-E7AD-A3AD-0F0935A7970C}"/>
              </a:ext>
            </a:extLst>
          </p:cNvPr>
          <p:cNvSpPr>
            <a:spLocks noGrp="1"/>
          </p:cNvSpPr>
          <p:nvPr>
            <p:ph type="title"/>
          </p:nvPr>
        </p:nvSpPr>
        <p:spPr/>
        <p:txBody>
          <a:bodyPr/>
          <a:lstStyle/>
          <a:p>
            <a:r>
              <a:rPr lang="en-GB">
                <a:latin typeface="+mj-lt"/>
              </a:rPr>
              <a:t>Comparison of Listing Vehicle</a:t>
            </a:r>
          </a:p>
        </p:txBody>
      </p:sp>
      <p:sp>
        <p:nvSpPr>
          <p:cNvPr id="8" name="Text Placeholder 7">
            <a:extLst>
              <a:ext uri="{FF2B5EF4-FFF2-40B4-BE49-F238E27FC236}">
                <a16:creationId xmlns:a16="http://schemas.microsoft.com/office/drawing/2014/main" id="{38B64559-555A-5C75-E5A6-0B9A9D8620DE}"/>
              </a:ext>
            </a:extLst>
          </p:cNvPr>
          <p:cNvSpPr>
            <a:spLocks noGrp="1"/>
          </p:cNvSpPr>
          <p:nvPr>
            <p:ph type="body" sz="quarter" idx="46"/>
          </p:nvPr>
        </p:nvSpPr>
        <p:spPr/>
        <p:txBody>
          <a:bodyPr/>
          <a:lstStyle/>
          <a:p>
            <a:r>
              <a:rPr lang="en-US" sz="800">
                <a:solidFill>
                  <a:srgbClr val="7F7F7F"/>
                </a:solidFill>
                <a:latin typeface="+mj-lt"/>
                <a:cs typeface="Calibri"/>
              </a:rPr>
              <a:t>If</a:t>
            </a:r>
            <a:r>
              <a:rPr lang="en-US" sz="800" spc="-25">
                <a:solidFill>
                  <a:srgbClr val="7F7F7F"/>
                </a:solidFill>
                <a:latin typeface="+mj-lt"/>
                <a:cs typeface="Calibri"/>
              </a:rPr>
              <a:t> </a:t>
            </a:r>
            <a:r>
              <a:rPr lang="en-US" sz="800">
                <a:solidFill>
                  <a:srgbClr val="7F7F7F"/>
                </a:solidFill>
                <a:latin typeface="+mj-lt"/>
                <a:cs typeface="Calibri"/>
              </a:rPr>
              <a:t>Sponsor</a:t>
            </a:r>
            <a:r>
              <a:rPr lang="en-US" sz="800" spc="-10">
                <a:solidFill>
                  <a:srgbClr val="7F7F7F"/>
                </a:solidFill>
                <a:latin typeface="+mj-lt"/>
                <a:cs typeface="Calibri"/>
              </a:rPr>
              <a:t> </a:t>
            </a:r>
            <a:r>
              <a:rPr lang="en-US" sz="800">
                <a:solidFill>
                  <a:srgbClr val="7F7F7F"/>
                </a:solidFill>
                <a:latin typeface="+mj-lt"/>
                <a:cs typeface="Calibri"/>
              </a:rPr>
              <a:t>regime applies,</a:t>
            </a:r>
            <a:r>
              <a:rPr lang="en-US" sz="800" spc="5">
                <a:solidFill>
                  <a:srgbClr val="7F7F7F"/>
                </a:solidFill>
                <a:latin typeface="+mj-lt"/>
                <a:cs typeface="Calibri"/>
              </a:rPr>
              <a:t> </a:t>
            </a:r>
            <a:r>
              <a:rPr lang="en-US" sz="800">
                <a:solidFill>
                  <a:srgbClr val="7F7F7F"/>
                </a:solidFill>
                <a:latin typeface="+mj-lt"/>
                <a:cs typeface="Calibri"/>
              </a:rPr>
              <a:t>the</a:t>
            </a:r>
            <a:r>
              <a:rPr lang="en-US" sz="800" spc="-15">
                <a:solidFill>
                  <a:srgbClr val="7F7F7F"/>
                </a:solidFill>
                <a:latin typeface="+mj-lt"/>
                <a:cs typeface="Calibri"/>
              </a:rPr>
              <a:t> </a:t>
            </a:r>
            <a:r>
              <a:rPr lang="en-US" sz="800" spc="-10">
                <a:solidFill>
                  <a:srgbClr val="7F7F7F"/>
                </a:solidFill>
                <a:latin typeface="+mj-lt"/>
                <a:cs typeface="Calibri"/>
              </a:rPr>
              <a:t>following </a:t>
            </a:r>
            <a:r>
              <a:rPr lang="en-US" sz="800">
                <a:solidFill>
                  <a:srgbClr val="7F7F7F"/>
                </a:solidFill>
                <a:latin typeface="+mj-lt"/>
                <a:cs typeface="Calibri"/>
              </a:rPr>
              <a:t>would</a:t>
            </a:r>
            <a:r>
              <a:rPr lang="en-US" sz="800" spc="-25">
                <a:solidFill>
                  <a:srgbClr val="7F7F7F"/>
                </a:solidFill>
                <a:latin typeface="+mj-lt"/>
                <a:cs typeface="Calibri"/>
              </a:rPr>
              <a:t> </a:t>
            </a:r>
            <a:r>
              <a:rPr lang="en-US" sz="800">
                <a:solidFill>
                  <a:srgbClr val="7F7F7F"/>
                </a:solidFill>
                <a:latin typeface="+mj-lt"/>
                <a:cs typeface="Calibri"/>
              </a:rPr>
              <a:t>be</a:t>
            </a:r>
            <a:r>
              <a:rPr lang="en-US" sz="800" spc="-15">
                <a:solidFill>
                  <a:srgbClr val="7F7F7F"/>
                </a:solidFill>
                <a:latin typeface="+mj-lt"/>
                <a:cs typeface="Calibri"/>
              </a:rPr>
              <a:t> </a:t>
            </a:r>
            <a:r>
              <a:rPr lang="en-US" sz="800">
                <a:solidFill>
                  <a:srgbClr val="7F7F7F"/>
                </a:solidFill>
                <a:latin typeface="+mj-lt"/>
                <a:cs typeface="Calibri"/>
              </a:rPr>
              <a:t>applicable: Practice</a:t>
            </a:r>
            <a:r>
              <a:rPr lang="en-US" sz="800" spc="-45">
                <a:solidFill>
                  <a:srgbClr val="7F7F7F"/>
                </a:solidFill>
                <a:latin typeface="+mj-lt"/>
                <a:cs typeface="Calibri"/>
              </a:rPr>
              <a:t> </a:t>
            </a:r>
            <a:r>
              <a:rPr lang="en-US" sz="800">
                <a:solidFill>
                  <a:srgbClr val="7F7F7F"/>
                </a:solidFill>
                <a:latin typeface="+mj-lt"/>
                <a:cs typeface="Calibri"/>
              </a:rPr>
              <a:t>Note</a:t>
            </a:r>
            <a:r>
              <a:rPr lang="en-US" sz="800" spc="-25">
                <a:solidFill>
                  <a:srgbClr val="7F7F7F"/>
                </a:solidFill>
                <a:latin typeface="+mj-lt"/>
                <a:cs typeface="Calibri"/>
              </a:rPr>
              <a:t> </a:t>
            </a:r>
            <a:r>
              <a:rPr lang="en-US" sz="800">
                <a:solidFill>
                  <a:srgbClr val="7F7F7F"/>
                </a:solidFill>
                <a:latin typeface="+mj-lt"/>
                <a:cs typeface="Calibri"/>
              </a:rPr>
              <a:t>21</a:t>
            </a:r>
            <a:r>
              <a:rPr lang="en-US" sz="800" spc="-30">
                <a:solidFill>
                  <a:srgbClr val="7F7F7F"/>
                </a:solidFill>
                <a:latin typeface="+mj-lt"/>
                <a:cs typeface="Calibri"/>
              </a:rPr>
              <a:t> </a:t>
            </a:r>
            <a:r>
              <a:rPr lang="en-US" sz="800">
                <a:solidFill>
                  <a:srgbClr val="7F7F7F"/>
                </a:solidFill>
                <a:latin typeface="+mj-lt"/>
                <a:cs typeface="Calibri"/>
              </a:rPr>
              <a:t>and</a:t>
            </a:r>
            <a:r>
              <a:rPr lang="en-US" sz="800" spc="-25">
                <a:solidFill>
                  <a:srgbClr val="7F7F7F"/>
                </a:solidFill>
                <a:latin typeface="+mj-lt"/>
                <a:cs typeface="Calibri"/>
              </a:rPr>
              <a:t> </a:t>
            </a:r>
            <a:r>
              <a:rPr lang="en-US" sz="800">
                <a:solidFill>
                  <a:srgbClr val="7F7F7F"/>
                </a:solidFill>
                <a:latin typeface="+mj-lt"/>
                <a:cs typeface="Calibri"/>
              </a:rPr>
              <a:t>Chapter</a:t>
            </a:r>
            <a:r>
              <a:rPr lang="en-US" sz="800" spc="-20">
                <a:solidFill>
                  <a:srgbClr val="7F7F7F"/>
                </a:solidFill>
                <a:latin typeface="+mj-lt"/>
                <a:cs typeface="Calibri"/>
              </a:rPr>
              <a:t> </a:t>
            </a:r>
            <a:r>
              <a:rPr lang="en-US" sz="800">
                <a:solidFill>
                  <a:srgbClr val="7F7F7F"/>
                </a:solidFill>
                <a:latin typeface="+mj-lt"/>
                <a:cs typeface="Calibri"/>
              </a:rPr>
              <a:t>3A</a:t>
            </a:r>
            <a:r>
              <a:rPr lang="en-US" sz="800" spc="-25">
                <a:solidFill>
                  <a:srgbClr val="7F7F7F"/>
                </a:solidFill>
                <a:latin typeface="+mj-lt"/>
                <a:cs typeface="Calibri"/>
              </a:rPr>
              <a:t> </a:t>
            </a:r>
            <a:r>
              <a:rPr lang="en-US" sz="800">
                <a:solidFill>
                  <a:srgbClr val="7F7F7F"/>
                </a:solidFill>
                <a:latin typeface="+mj-lt"/>
                <a:cs typeface="Calibri"/>
              </a:rPr>
              <a:t>of</a:t>
            </a:r>
            <a:r>
              <a:rPr lang="en-US" sz="800" spc="-30">
                <a:solidFill>
                  <a:srgbClr val="7F7F7F"/>
                </a:solidFill>
                <a:latin typeface="+mj-lt"/>
                <a:cs typeface="Calibri"/>
              </a:rPr>
              <a:t> </a:t>
            </a:r>
            <a:r>
              <a:rPr lang="en-US" sz="800">
                <a:solidFill>
                  <a:srgbClr val="7F7F7F"/>
                </a:solidFill>
                <a:latin typeface="+mj-lt"/>
                <a:cs typeface="Calibri"/>
              </a:rPr>
              <a:t>the</a:t>
            </a:r>
            <a:r>
              <a:rPr lang="en-US" sz="800" spc="-15">
                <a:solidFill>
                  <a:srgbClr val="7F7F7F"/>
                </a:solidFill>
                <a:latin typeface="+mj-lt"/>
                <a:cs typeface="Calibri"/>
              </a:rPr>
              <a:t> </a:t>
            </a:r>
            <a:r>
              <a:rPr lang="en-US" sz="800">
                <a:solidFill>
                  <a:srgbClr val="7F7F7F"/>
                </a:solidFill>
                <a:latin typeface="+mj-lt"/>
                <a:cs typeface="Calibri"/>
              </a:rPr>
              <a:t>Listing</a:t>
            </a:r>
            <a:r>
              <a:rPr lang="en-US" sz="800" spc="-15">
                <a:solidFill>
                  <a:srgbClr val="7F7F7F"/>
                </a:solidFill>
                <a:latin typeface="+mj-lt"/>
                <a:cs typeface="Calibri"/>
              </a:rPr>
              <a:t> </a:t>
            </a:r>
            <a:r>
              <a:rPr lang="en-US" sz="800">
                <a:solidFill>
                  <a:srgbClr val="7F7F7F"/>
                </a:solidFill>
                <a:latin typeface="+mj-lt"/>
                <a:cs typeface="Calibri"/>
              </a:rPr>
              <a:t>Rules</a:t>
            </a:r>
            <a:r>
              <a:rPr lang="en-US" sz="800" spc="-5">
                <a:solidFill>
                  <a:srgbClr val="7F7F7F"/>
                </a:solidFill>
                <a:latin typeface="+mj-lt"/>
                <a:cs typeface="Calibri"/>
              </a:rPr>
              <a:t> </a:t>
            </a:r>
            <a:r>
              <a:rPr lang="en-US" sz="800">
                <a:solidFill>
                  <a:srgbClr val="7F7F7F"/>
                </a:solidFill>
                <a:latin typeface="+mj-lt"/>
                <a:cs typeface="Calibri"/>
              </a:rPr>
              <a:t>and</a:t>
            </a:r>
            <a:r>
              <a:rPr lang="en-US" sz="800" spc="-20">
                <a:solidFill>
                  <a:srgbClr val="7F7F7F"/>
                </a:solidFill>
                <a:latin typeface="+mj-lt"/>
                <a:cs typeface="Calibri"/>
              </a:rPr>
              <a:t> </a:t>
            </a:r>
            <a:r>
              <a:rPr lang="en-US" sz="800">
                <a:solidFill>
                  <a:srgbClr val="7F7F7F"/>
                </a:solidFill>
                <a:latin typeface="+mj-lt"/>
                <a:cs typeface="Calibri"/>
              </a:rPr>
              <a:t>the</a:t>
            </a:r>
            <a:r>
              <a:rPr lang="en-US" sz="800" spc="-15">
                <a:solidFill>
                  <a:srgbClr val="7F7F7F"/>
                </a:solidFill>
                <a:latin typeface="+mj-lt"/>
                <a:cs typeface="Calibri"/>
              </a:rPr>
              <a:t> </a:t>
            </a:r>
            <a:r>
              <a:rPr lang="en-US" sz="800">
                <a:solidFill>
                  <a:srgbClr val="7F7F7F"/>
                </a:solidFill>
                <a:latin typeface="+mj-lt"/>
                <a:cs typeface="Calibri"/>
              </a:rPr>
              <a:t>SFC</a:t>
            </a:r>
            <a:r>
              <a:rPr lang="en-US" sz="800" spc="-20">
                <a:solidFill>
                  <a:srgbClr val="7F7F7F"/>
                </a:solidFill>
                <a:latin typeface="+mj-lt"/>
                <a:cs typeface="Calibri"/>
              </a:rPr>
              <a:t> </a:t>
            </a:r>
            <a:r>
              <a:rPr lang="en-US" sz="800">
                <a:solidFill>
                  <a:srgbClr val="7F7F7F"/>
                </a:solidFill>
                <a:latin typeface="+mj-lt"/>
                <a:cs typeface="Calibri"/>
              </a:rPr>
              <a:t>Code</a:t>
            </a:r>
            <a:r>
              <a:rPr lang="en-US" sz="800" spc="-25">
                <a:solidFill>
                  <a:srgbClr val="7F7F7F"/>
                </a:solidFill>
                <a:latin typeface="+mj-lt"/>
                <a:cs typeface="Calibri"/>
              </a:rPr>
              <a:t> </a:t>
            </a:r>
            <a:r>
              <a:rPr lang="en-US" sz="800">
                <a:solidFill>
                  <a:srgbClr val="7F7F7F"/>
                </a:solidFill>
                <a:latin typeface="+mj-lt"/>
                <a:cs typeface="Calibri"/>
              </a:rPr>
              <a:t>of</a:t>
            </a:r>
            <a:r>
              <a:rPr lang="en-US" sz="800" spc="-30">
                <a:solidFill>
                  <a:srgbClr val="7F7F7F"/>
                </a:solidFill>
                <a:latin typeface="+mj-lt"/>
                <a:cs typeface="Calibri"/>
              </a:rPr>
              <a:t> </a:t>
            </a:r>
            <a:r>
              <a:rPr lang="en-US" sz="800">
                <a:solidFill>
                  <a:srgbClr val="7F7F7F"/>
                </a:solidFill>
                <a:latin typeface="+mj-lt"/>
                <a:cs typeface="Calibri"/>
              </a:rPr>
              <a:t>Conduct</a:t>
            </a:r>
            <a:r>
              <a:rPr lang="en-US" sz="800" spc="-20">
                <a:solidFill>
                  <a:srgbClr val="7F7F7F"/>
                </a:solidFill>
                <a:latin typeface="+mj-lt"/>
                <a:cs typeface="Calibri"/>
              </a:rPr>
              <a:t> </a:t>
            </a:r>
            <a:r>
              <a:rPr lang="en-US" sz="800" spc="-10">
                <a:solidFill>
                  <a:srgbClr val="7F7F7F"/>
                </a:solidFill>
                <a:latin typeface="+mj-lt"/>
                <a:cs typeface="Calibri"/>
              </a:rPr>
              <a:t>(including</a:t>
            </a:r>
            <a:r>
              <a:rPr lang="en-US" sz="800" spc="10">
                <a:solidFill>
                  <a:srgbClr val="7F7F7F"/>
                </a:solidFill>
                <a:latin typeface="+mj-lt"/>
                <a:cs typeface="Calibri"/>
              </a:rPr>
              <a:t> </a:t>
            </a:r>
            <a:r>
              <a:rPr lang="en-US" sz="800">
                <a:solidFill>
                  <a:srgbClr val="7F7F7F"/>
                </a:solidFill>
                <a:latin typeface="+mj-lt"/>
                <a:cs typeface="Calibri"/>
              </a:rPr>
              <a:t>Chapter</a:t>
            </a:r>
            <a:r>
              <a:rPr lang="en-US" sz="800" spc="-10">
                <a:solidFill>
                  <a:srgbClr val="7F7F7F"/>
                </a:solidFill>
                <a:latin typeface="+mj-lt"/>
                <a:cs typeface="Calibri"/>
              </a:rPr>
              <a:t> </a:t>
            </a:r>
            <a:r>
              <a:rPr lang="en-US" sz="800" spc="-20">
                <a:solidFill>
                  <a:srgbClr val="7F7F7F"/>
                </a:solidFill>
                <a:latin typeface="+mj-lt"/>
                <a:cs typeface="Calibri"/>
              </a:rPr>
              <a:t>17).</a:t>
            </a:r>
            <a:endParaRPr lang="en-US" sz="800">
              <a:solidFill>
                <a:srgbClr val="7F7F7F"/>
              </a:solidFill>
              <a:latin typeface="+mj-lt"/>
              <a:cs typeface="Calibri"/>
            </a:endParaRPr>
          </a:p>
          <a:p>
            <a:endParaRPr lang="en-GB">
              <a:latin typeface="+mj-lt"/>
            </a:endParaRPr>
          </a:p>
        </p:txBody>
      </p:sp>
      <p:sp>
        <p:nvSpPr>
          <p:cNvPr id="7" name="object 7"/>
          <p:cNvSpPr txBox="1"/>
          <p:nvPr/>
        </p:nvSpPr>
        <p:spPr>
          <a:xfrm>
            <a:off x="9189466" y="6455689"/>
            <a:ext cx="77470" cy="115416"/>
          </a:xfrm>
          <a:prstGeom prst="rect">
            <a:avLst/>
          </a:prstGeom>
        </p:spPr>
        <p:txBody>
          <a:bodyPr vert="horz" wrap="square" lIns="0" tIns="0" rIns="0" bIns="0" rtlCol="0">
            <a:spAutoFit/>
          </a:bodyPr>
          <a:lstStyle/>
          <a:p>
            <a:pPr marL="12700">
              <a:lnSpc>
                <a:spcPts val="865"/>
              </a:lnSpc>
            </a:pPr>
            <a:r>
              <a:rPr lang="en-US" sz="800" spc="-50">
                <a:latin typeface="+mj-lt"/>
                <a:cs typeface="Calibri"/>
              </a:rPr>
              <a:t>0</a:t>
            </a:r>
            <a:endParaRPr lang="en-US" sz="800">
              <a:latin typeface="+mj-lt"/>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149916980"/>
              </p:ext>
            </p:extLst>
          </p:nvPr>
        </p:nvGraphicFramePr>
        <p:xfrm>
          <a:off x="453000" y="1143001"/>
          <a:ext cx="9000000" cy="4983478"/>
        </p:xfrm>
        <a:graphic>
          <a:graphicData uri="http://schemas.openxmlformats.org/drawingml/2006/table">
            <a:tbl>
              <a:tblPr firstRow="1" bandRow="1">
                <a:tableStyleId>{2D5ABB26-0587-4C30-8999-92F81FD0307C}</a:tableStyleId>
              </a:tblPr>
              <a:tblGrid>
                <a:gridCol w="1587595">
                  <a:extLst>
                    <a:ext uri="{9D8B030D-6E8A-4147-A177-3AD203B41FA5}">
                      <a16:colId xmlns:a16="http://schemas.microsoft.com/office/drawing/2014/main" val="20000"/>
                    </a:ext>
                  </a:extLst>
                </a:gridCol>
                <a:gridCol w="1596488">
                  <a:extLst>
                    <a:ext uri="{9D8B030D-6E8A-4147-A177-3AD203B41FA5}">
                      <a16:colId xmlns:a16="http://schemas.microsoft.com/office/drawing/2014/main" val="20001"/>
                    </a:ext>
                  </a:extLst>
                </a:gridCol>
                <a:gridCol w="1495852">
                  <a:extLst>
                    <a:ext uri="{9D8B030D-6E8A-4147-A177-3AD203B41FA5}">
                      <a16:colId xmlns:a16="http://schemas.microsoft.com/office/drawing/2014/main" val="20002"/>
                    </a:ext>
                  </a:extLst>
                </a:gridCol>
                <a:gridCol w="1984609">
                  <a:extLst>
                    <a:ext uri="{9D8B030D-6E8A-4147-A177-3AD203B41FA5}">
                      <a16:colId xmlns:a16="http://schemas.microsoft.com/office/drawing/2014/main" val="20003"/>
                    </a:ext>
                  </a:extLst>
                </a:gridCol>
                <a:gridCol w="2335456">
                  <a:extLst>
                    <a:ext uri="{9D8B030D-6E8A-4147-A177-3AD203B41FA5}">
                      <a16:colId xmlns:a16="http://schemas.microsoft.com/office/drawing/2014/main" val="20004"/>
                    </a:ext>
                  </a:extLst>
                </a:gridCol>
              </a:tblGrid>
              <a:tr h="437000">
                <a:tc>
                  <a:txBody>
                    <a:bodyPr/>
                    <a:lstStyle/>
                    <a:p>
                      <a:pPr>
                        <a:lnSpc>
                          <a:spcPct val="100000"/>
                        </a:lnSpc>
                      </a:pPr>
                      <a:endParaRPr lang="en-US" sz="1000">
                        <a:latin typeface="+mj-lt"/>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tcPr>
                </a:tc>
                <a:tc>
                  <a:txBody>
                    <a:bodyPr/>
                    <a:lstStyle/>
                    <a:p>
                      <a:pPr marL="36000" algn="ctr">
                        <a:lnSpc>
                          <a:spcPts val="1300"/>
                        </a:lnSpc>
                      </a:pPr>
                      <a:r>
                        <a:rPr lang="en-US" sz="1100" b="1" spc="-10">
                          <a:latin typeface="+mj-lt"/>
                          <a:cs typeface="Calibri"/>
                        </a:rPr>
                        <a:t>Company</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solidFill>
                      <a:srgbClr val="EFEFEF"/>
                    </a:solidFill>
                  </a:tcPr>
                </a:tc>
                <a:tc>
                  <a:txBody>
                    <a:bodyPr/>
                    <a:lstStyle/>
                    <a:p>
                      <a:pPr marL="36000" algn="ctr">
                        <a:lnSpc>
                          <a:spcPts val="1300"/>
                        </a:lnSpc>
                      </a:pPr>
                      <a:r>
                        <a:rPr lang="en-US" sz="1100" b="1" spc="-20">
                          <a:latin typeface="+mj-lt"/>
                          <a:cs typeface="Calibri"/>
                        </a:rPr>
                        <a:t>REIT</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tcPr>
                </a:tc>
                <a:tc>
                  <a:txBody>
                    <a:bodyPr/>
                    <a:lstStyle/>
                    <a:p>
                      <a:pPr marL="36000" marR="158750" indent="0" algn="ctr">
                        <a:lnSpc>
                          <a:spcPts val="1320"/>
                        </a:lnSpc>
                      </a:pPr>
                      <a:r>
                        <a:rPr lang="en-US" sz="1100" b="1">
                          <a:latin typeface="+mj-lt"/>
                          <a:cs typeface="Calibri"/>
                        </a:rPr>
                        <a:t>Listed</a:t>
                      </a:r>
                      <a:r>
                        <a:rPr lang="en-US" sz="1100" b="1" spc="-30">
                          <a:latin typeface="+mj-lt"/>
                          <a:cs typeface="Calibri"/>
                        </a:rPr>
                        <a:t> </a:t>
                      </a:r>
                      <a:r>
                        <a:rPr lang="en-US" sz="1100" b="1">
                          <a:latin typeface="+mj-lt"/>
                          <a:cs typeface="Calibri"/>
                        </a:rPr>
                        <a:t>active</a:t>
                      </a:r>
                      <a:r>
                        <a:rPr lang="en-US" sz="1100" b="1" spc="-25">
                          <a:latin typeface="+mj-lt"/>
                          <a:cs typeface="Calibri"/>
                        </a:rPr>
                        <a:t> </a:t>
                      </a:r>
                      <a:r>
                        <a:rPr lang="en-US" sz="1100" b="1" spc="-50">
                          <a:latin typeface="+mj-lt"/>
                          <a:cs typeface="Calibri"/>
                        </a:rPr>
                        <a:t>/</a:t>
                      </a:r>
                      <a:r>
                        <a:rPr lang="en-US" sz="1100" b="1">
                          <a:latin typeface="+mj-lt"/>
                          <a:cs typeface="Calibri"/>
                        </a:rPr>
                        <a:t> passive </a:t>
                      </a:r>
                      <a:r>
                        <a:rPr lang="en-US" sz="1100" b="1" spc="-25">
                          <a:latin typeface="+mj-lt"/>
                          <a:cs typeface="Calibri"/>
                        </a:rPr>
                        <a:t>ETF</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solidFill>
                      <a:srgbClr val="EFEFEF"/>
                    </a:solidFill>
                  </a:tcPr>
                </a:tc>
                <a:tc>
                  <a:txBody>
                    <a:bodyPr/>
                    <a:lstStyle/>
                    <a:p>
                      <a:pPr marL="36000" algn="ctr">
                        <a:lnSpc>
                          <a:spcPts val="1150"/>
                        </a:lnSpc>
                      </a:pPr>
                      <a:r>
                        <a:rPr lang="en-US" sz="1100" b="1" spc="-10">
                          <a:latin typeface="+mj-lt"/>
                          <a:cs typeface="Calibri"/>
                        </a:rPr>
                        <a:t>Alternative </a:t>
                      </a:r>
                      <a:r>
                        <a:rPr lang="en-US" sz="1100" b="1">
                          <a:latin typeface="+mj-lt"/>
                          <a:cs typeface="Calibri"/>
                        </a:rPr>
                        <a:t>Investment</a:t>
                      </a:r>
                      <a:r>
                        <a:rPr lang="en-US" sz="1100" b="1" spc="-55">
                          <a:latin typeface="+mj-lt"/>
                          <a:cs typeface="Calibri"/>
                        </a:rPr>
                        <a:t> </a:t>
                      </a:r>
                      <a:r>
                        <a:rPr lang="en-US" sz="1100" b="1" spc="-20">
                          <a:latin typeface="+mj-lt"/>
                          <a:cs typeface="Calibri"/>
                        </a:rPr>
                        <a:t>Fund </a:t>
                      </a:r>
                      <a:r>
                        <a:rPr lang="en-US" sz="1100" b="1" spc="-20" baseline="30000">
                          <a:latin typeface="+mj-lt"/>
                          <a:cs typeface="Calibri"/>
                        </a:rPr>
                        <a:t>1</a:t>
                      </a:r>
                      <a:endParaRPr lang="en-US" sz="1100" baseline="30000">
                        <a:latin typeface="+mj-lt"/>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201692">
                <a:tc>
                  <a:txBody>
                    <a:bodyPr/>
                    <a:lstStyle/>
                    <a:p>
                      <a:pPr marL="2540">
                        <a:lnSpc>
                          <a:spcPts val="1245"/>
                        </a:lnSpc>
                      </a:pPr>
                      <a:r>
                        <a:rPr lang="en-US" sz="1100" b="1">
                          <a:latin typeface="+mj-lt"/>
                          <a:cs typeface="Calibri"/>
                        </a:rPr>
                        <a:t>Listing</a:t>
                      </a:r>
                      <a:r>
                        <a:rPr lang="en-US" sz="1100" b="1" spc="-35">
                          <a:latin typeface="+mj-lt"/>
                          <a:cs typeface="Calibri"/>
                        </a:rPr>
                        <a:t> </a:t>
                      </a:r>
                      <a:r>
                        <a:rPr lang="en-US" sz="1100" b="1" spc="-10">
                          <a:latin typeface="+mj-lt"/>
                          <a:cs typeface="Calibri"/>
                        </a:rPr>
                        <a:t>vehicle</a:t>
                      </a:r>
                      <a:endParaRPr lang="en-US" sz="1100">
                        <a:latin typeface="+mj-lt"/>
                        <a:cs typeface="Calibri"/>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a:lnSpc>
                          <a:spcPts val="1245"/>
                        </a:lnSpc>
                      </a:pPr>
                      <a:r>
                        <a:rPr lang="en-US" sz="1100">
                          <a:latin typeface="+mj-lt"/>
                          <a:cs typeface="Calibri"/>
                        </a:rPr>
                        <a:t>Limited</a:t>
                      </a:r>
                      <a:r>
                        <a:rPr lang="en-US" sz="1100" spc="-60">
                          <a:latin typeface="+mj-lt"/>
                          <a:cs typeface="Calibri"/>
                        </a:rPr>
                        <a:t> </a:t>
                      </a:r>
                      <a:r>
                        <a:rPr lang="en-US" sz="1100" spc="-10">
                          <a:latin typeface="+mj-lt"/>
                          <a:cs typeface="Calibri"/>
                        </a:rPr>
                        <a:t>company</a:t>
                      </a:r>
                      <a:endParaRPr lang="en-US" sz="1100">
                        <a:latin typeface="+mj-lt"/>
                        <a:cs typeface="Calibri"/>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a:solidFill>
                        <a:srgbClr val="B1B1B1"/>
                      </a:solidFill>
                      <a:prstDash val="solid"/>
                    </a:lnB>
                    <a:solidFill>
                      <a:srgbClr val="EFEFEF"/>
                    </a:solidFill>
                  </a:tcPr>
                </a:tc>
                <a:tc>
                  <a:txBody>
                    <a:bodyPr/>
                    <a:lstStyle/>
                    <a:p>
                      <a:pPr marL="36000">
                        <a:lnSpc>
                          <a:spcPts val="1245"/>
                        </a:lnSpc>
                      </a:pPr>
                      <a:r>
                        <a:rPr lang="en-US" sz="1100">
                          <a:latin typeface="+mj-lt"/>
                          <a:cs typeface="Calibri"/>
                        </a:rPr>
                        <a:t>Unit</a:t>
                      </a:r>
                      <a:r>
                        <a:rPr lang="en-US" sz="1100" spc="-20">
                          <a:latin typeface="+mj-lt"/>
                          <a:cs typeface="Calibri"/>
                        </a:rPr>
                        <a:t> </a:t>
                      </a:r>
                      <a:r>
                        <a:rPr lang="en-US" sz="1100" spc="-10">
                          <a:latin typeface="+mj-lt"/>
                          <a:cs typeface="Calibri"/>
                        </a:rPr>
                        <a:t>trust</a:t>
                      </a:r>
                      <a:endParaRPr lang="en-US" sz="1100">
                        <a:latin typeface="+mj-lt"/>
                        <a:cs typeface="Calibri"/>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a:solidFill>
                        <a:srgbClr val="B1B1B1"/>
                      </a:solidFill>
                      <a:prstDash val="solid"/>
                    </a:lnB>
                  </a:tcPr>
                </a:tc>
                <a:tc>
                  <a:txBody>
                    <a:bodyPr/>
                    <a:lstStyle/>
                    <a:p>
                      <a:pPr marL="36000">
                        <a:lnSpc>
                          <a:spcPts val="1245"/>
                        </a:lnSpc>
                      </a:pPr>
                      <a:r>
                        <a:rPr lang="en-US" sz="1100">
                          <a:latin typeface="+mj-lt"/>
                          <a:cs typeface="Calibri"/>
                        </a:rPr>
                        <a:t>Unit</a:t>
                      </a:r>
                      <a:r>
                        <a:rPr lang="en-US" sz="1100" spc="-35">
                          <a:latin typeface="+mj-lt"/>
                          <a:cs typeface="Calibri"/>
                        </a:rPr>
                        <a:t> </a:t>
                      </a:r>
                      <a:r>
                        <a:rPr lang="en-US" sz="1100">
                          <a:latin typeface="+mj-lt"/>
                          <a:cs typeface="Calibri"/>
                        </a:rPr>
                        <a:t>trust/</a:t>
                      </a:r>
                      <a:r>
                        <a:rPr lang="en-US" sz="1100" spc="-40">
                          <a:latin typeface="+mj-lt"/>
                          <a:cs typeface="Calibri"/>
                        </a:rPr>
                        <a:t> </a:t>
                      </a:r>
                      <a:r>
                        <a:rPr lang="en-US" sz="1100" spc="-25">
                          <a:latin typeface="+mj-lt"/>
                          <a:cs typeface="Calibri"/>
                        </a:rPr>
                        <a:t>OFC</a:t>
                      </a:r>
                      <a:endParaRPr lang="en-US" sz="1100">
                        <a:latin typeface="+mj-lt"/>
                        <a:cs typeface="Calibri"/>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a:solidFill>
                        <a:srgbClr val="B1B1B1"/>
                      </a:solidFill>
                      <a:prstDash val="solid"/>
                    </a:lnB>
                    <a:solidFill>
                      <a:srgbClr val="EFEFEF"/>
                    </a:solidFill>
                  </a:tcPr>
                </a:tc>
                <a:tc>
                  <a:txBody>
                    <a:bodyPr/>
                    <a:lstStyle/>
                    <a:p>
                      <a:pPr marL="36000">
                        <a:lnSpc>
                          <a:spcPts val="1245"/>
                        </a:lnSpc>
                      </a:pPr>
                      <a:r>
                        <a:rPr lang="en-US" sz="1100">
                          <a:latin typeface="+mj-lt"/>
                          <a:cs typeface="Calibri"/>
                        </a:rPr>
                        <a:t>Unit</a:t>
                      </a:r>
                      <a:r>
                        <a:rPr lang="en-US" sz="1100" spc="-35">
                          <a:latin typeface="+mj-lt"/>
                          <a:cs typeface="Calibri"/>
                        </a:rPr>
                        <a:t> </a:t>
                      </a:r>
                      <a:r>
                        <a:rPr lang="en-US" sz="1100">
                          <a:latin typeface="+mj-lt"/>
                          <a:cs typeface="Calibri"/>
                        </a:rPr>
                        <a:t>trust/</a:t>
                      </a:r>
                      <a:r>
                        <a:rPr lang="en-US" sz="1100" spc="-40">
                          <a:latin typeface="+mj-lt"/>
                          <a:cs typeface="Calibri"/>
                        </a:rPr>
                        <a:t> </a:t>
                      </a:r>
                      <a:r>
                        <a:rPr lang="en-US" sz="1100" spc="-25">
                          <a:latin typeface="+mj-lt"/>
                          <a:cs typeface="Calibri"/>
                        </a:rPr>
                        <a:t>OFC</a:t>
                      </a:r>
                      <a:endParaRPr lang="en-US" sz="1100">
                        <a:latin typeface="+mj-lt"/>
                        <a:cs typeface="Calibri"/>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a:solidFill>
                        <a:srgbClr val="B1B1B1"/>
                      </a:solidFill>
                      <a:prstDash val="solid"/>
                    </a:lnB>
                  </a:tcPr>
                </a:tc>
                <a:extLst>
                  <a:ext uri="{0D108BD9-81ED-4DB2-BD59-A6C34878D82A}">
                    <a16:rowId xmlns:a16="http://schemas.microsoft.com/office/drawing/2014/main" val="10002"/>
                  </a:ext>
                </a:extLst>
              </a:tr>
              <a:tr h="201692">
                <a:tc>
                  <a:txBody>
                    <a:bodyPr/>
                    <a:lstStyle/>
                    <a:p>
                      <a:pPr marL="2540">
                        <a:lnSpc>
                          <a:spcPts val="1240"/>
                        </a:lnSpc>
                      </a:pPr>
                      <a:r>
                        <a:rPr lang="en-US" sz="1100" b="1" spc="-20">
                          <a:latin typeface="+mj-lt"/>
                          <a:cs typeface="Calibri"/>
                        </a:rPr>
                        <a:t>Type</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a:lnSpc>
                          <a:spcPts val="1240"/>
                        </a:lnSpc>
                      </a:pPr>
                      <a:r>
                        <a:rPr lang="en-US" sz="1100" spc="-10">
                          <a:latin typeface="+mj-lt"/>
                          <a:cs typeface="Calibri"/>
                        </a:rPr>
                        <a:t>Close-</a:t>
                      </a:r>
                      <a:r>
                        <a:rPr lang="en-US" sz="1100" spc="-20">
                          <a:latin typeface="+mj-lt"/>
                          <a:cs typeface="Calibri"/>
                        </a:rPr>
                        <a:t>ended</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a:lnSpc>
                          <a:spcPts val="1240"/>
                        </a:lnSpc>
                      </a:pPr>
                      <a:r>
                        <a:rPr lang="en-US" sz="1100" spc="-10">
                          <a:latin typeface="+mj-lt"/>
                          <a:cs typeface="Calibri"/>
                        </a:rPr>
                        <a:t>Close-ended</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a:lnSpc>
                          <a:spcPts val="1240"/>
                        </a:lnSpc>
                      </a:pPr>
                      <a:r>
                        <a:rPr lang="en-US" sz="1100" spc="-10">
                          <a:latin typeface="+mj-lt"/>
                          <a:cs typeface="Calibri"/>
                        </a:rPr>
                        <a:t>Open-ended</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a:lnSpc>
                          <a:spcPts val="1240"/>
                        </a:lnSpc>
                      </a:pPr>
                      <a:r>
                        <a:rPr lang="en-US" sz="1100" spc="-10">
                          <a:latin typeface="+mj-lt"/>
                          <a:cs typeface="Calibri"/>
                        </a:rPr>
                        <a:t>Closed-ended</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3"/>
                  </a:ext>
                </a:extLst>
              </a:tr>
              <a:tr h="878201">
                <a:tc>
                  <a:txBody>
                    <a:bodyPr/>
                    <a:lstStyle/>
                    <a:p>
                      <a:pPr marL="2540" marR="113664">
                        <a:lnSpc>
                          <a:spcPts val="1320"/>
                        </a:lnSpc>
                        <a:spcBef>
                          <a:spcPts val="25"/>
                        </a:spcBef>
                      </a:pPr>
                      <a:r>
                        <a:rPr lang="en-US" sz="1100" b="1">
                          <a:latin typeface="+mj-lt"/>
                          <a:cs typeface="Calibri"/>
                        </a:rPr>
                        <a:t>Primary</a:t>
                      </a:r>
                      <a:r>
                        <a:rPr lang="en-US" sz="1100" b="1" spc="-35">
                          <a:latin typeface="+mj-lt"/>
                          <a:cs typeface="Calibri"/>
                        </a:rPr>
                        <a:t> </a:t>
                      </a:r>
                      <a:r>
                        <a:rPr lang="en-US" sz="1100" b="1" spc="-10">
                          <a:latin typeface="+mj-lt"/>
                          <a:cs typeface="Calibri"/>
                        </a:rPr>
                        <a:t>rules </a:t>
                      </a:r>
                      <a:r>
                        <a:rPr lang="en-US" sz="1100" b="1">
                          <a:latin typeface="+mj-lt"/>
                          <a:cs typeface="Calibri"/>
                        </a:rPr>
                        <a:t>reference</a:t>
                      </a:r>
                      <a:r>
                        <a:rPr lang="en-US" sz="1100" b="1" spc="-45">
                          <a:latin typeface="+mj-lt"/>
                          <a:cs typeface="Calibri"/>
                        </a:rPr>
                        <a:t> </a:t>
                      </a:r>
                      <a:r>
                        <a:rPr lang="en-US" sz="1100" b="1" spc="-10">
                          <a:latin typeface="+mj-lt"/>
                          <a:cs typeface="Calibri"/>
                        </a:rPr>
                        <a:t>(excl. </a:t>
                      </a:r>
                      <a:r>
                        <a:rPr lang="en-US" sz="1100" b="1">
                          <a:latin typeface="+mj-lt"/>
                          <a:cs typeface="Calibri"/>
                        </a:rPr>
                        <a:t>FAQ,</a:t>
                      </a:r>
                      <a:r>
                        <a:rPr lang="en-US" sz="1100" b="1" spc="-20">
                          <a:latin typeface="+mj-lt"/>
                          <a:cs typeface="Calibri"/>
                        </a:rPr>
                        <a:t> </a:t>
                      </a:r>
                      <a:r>
                        <a:rPr lang="en-US" sz="1100" b="1" spc="-10">
                          <a:latin typeface="+mj-lt"/>
                          <a:cs typeface="Calibri"/>
                        </a:rPr>
                        <a:t>Guides,</a:t>
                      </a:r>
                      <a:endParaRPr lang="en-US" sz="1100">
                        <a:latin typeface="+mj-lt"/>
                        <a:cs typeface="Calibri"/>
                      </a:endParaRPr>
                    </a:p>
                    <a:p>
                      <a:pPr marL="2540">
                        <a:lnSpc>
                          <a:spcPts val="1280"/>
                        </a:lnSpc>
                      </a:pPr>
                      <a:r>
                        <a:rPr lang="en-US" sz="1100" b="1">
                          <a:latin typeface="+mj-lt"/>
                          <a:cs typeface="Calibri"/>
                        </a:rPr>
                        <a:t>Circulars</a:t>
                      </a:r>
                      <a:r>
                        <a:rPr lang="en-US" sz="1100" b="1" spc="-50">
                          <a:latin typeface="+mj-lt"/>
                          <a:cs typeface="Calibri"/>
                        </a:rPr>
                        <a:t> </a:t>
                      </a:r>
                      <a:r>
                        <a:rPr lang="en-US" sz="1100" b="1" spc="-10">
                          <a:latin typeface="+mj-lt"/>
                          <a:cs typeface="Calibri"/>
                        </a:rPr>
                        <a:t>etc.)</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marR="167005">
                        <a:lnSpc>
                          <a:spcPts val="1320"/>
                        </a:lnSpc>
                        <a:spcBef>
                          <a:spcPts val="25"/>
                        </a:spcBef>
                      </a:pPr>
                      <a:r>
                        <a:rPr lang="en-US" sz="1100">
                          <a:latin typeface="+mj-lt"/>
                          <a:cs typeface="Calibri"/>
                        </a:rPr>
                        <a:t>Listing</a:t>
                      </a:r>
                      <a:r>
                        <a:rPr lang="en-US" sz="1100" spc="-45">
                          <a:latin typeface="+mj-lt"/>
                          <a:cs typeface="Calibri"/>
                        </a:rPr>
                        <a:t> </a:t>
                      </a:r>
                      <a:r>
                        <a:rPr lang="en-US" sz="1100" spc="-10">
                          <a:latin typeface="+mj-lt"/>
                          <a:cs typeface="Calibri"/>
                        </a:rPr>
                        <a:t>Rules, </a:t>
                      </a:r>
                      <a:r>
                        <a:rPr lang="en-US" sz="1100">
                          <a:latin typeface="+mj-lt"/>
                          <a:cs typeface="Calibri"/>
                        </a:rPr>
                        <a:t>Takeover</a:t>
                      </a:r>
                      <a:r>
                        <a:rPr lang="en-US" sz="1100" spc="-25">
                          <a:latin typeface="+mj-lt"/>
                          <a:cs typeface="Calibri"/>
                        </a:rPr>
                        <a:t> </a:t>
                      </a:r>
                      <a:r>
                        <a:rPr lang="en-US" sz="1100" spc="-20">
                          <a:latin typeface="+mj-lt"/>
                          <a:cs typeface="Calibri"/>
                        </a:rPr>
                        <a:t>Code</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6350">
                      <a:solidFill>
                        <a:srgbClr val="B1B1B1"/>
                      </a:solidFill>
                      <a:prstDash val="solid"/>
                    </a:lnT>
                    <a:lnB w="12700" cap="flat" cmpd="sng" algn="ctr">
                      <a:solidFill>
                        <a:schemeClr val="bg1">
                          <a:lumMod val="85000"/>
                        </a:schemeClr>
                      </a:solidFill>
                      <a:prstDash val="solid"/>
                      <a:round/>
                      <a:headEnd type="none" w="med" len="med"/>
                      <a:tailEnd type="none" w="med" len="med"/>
                    </a:lnB>
                    <a:solidFill>
                      <a:srgbClr val="EFEFEF"/>
                    </a:solidFill>
                  </a:tcPr>
                </a:tc>
                <a:tc>
                  <a:txBody>
                    <a:bodyPr/>
                    <a:lstStyle/>
                    <a:p>
                      <a:pPr marL="36000" marR="382270">
                        <a:lnSpc>
                          <a:spcPts val="1320"/>
                        </a:lnSpc>
                        <a:spcBef>
                          <a:spcPts val="25"/>
                        </a:spcBef>
                      </a:pPr>
                      <a:r>
                        <a:rPr lang="en-US" sz="1100">
                          <a:latin typeface="+mj-lt"/>
                          <a:cs typeface="Calibri"/>
                        </a:rPr>
                        <a:t>REIT</a:t>
                      </a:r>
                      <a:r>
                        <a:rPr lang="en-US" sz="1100" spc="-25">
                          <a:latin typeface="+mj-lt"/>
                          <a:cs typeface="Calibri"/>
                        </a:rPr>
                        <a:t> </a:t>
                      </a:r>
                      <a:r>
                        <a:rPr lang="en-US" sz="1100" spc="-10">
                          <a:latin typeface="+mj-lt"/>
                          <a:cs typeface="Calibri"/>
                        </a:rPr>
                        <a:t>Code, </a:t>
                      </a:r>
                      <a:r>
                        <a:rPr lang="en-US" sz="1100">
                          <a:latin typeface="+mj-lt"/>
                          <a:cs typeface="Calibri"/>
                        </a:rPr>
                        <a:t>Listing</a:t>
                      </a:r>
                      <a:r>
                        <a:rPr lang="en-US" sz="1100" spc="-45">
                          <a:latin typeface="+mj-lt"/>
                          <a:cs typeface="Calibri"/>
                        </a:rPr>
                        <a:t> </a:t>
                      </a:r>
                      <a:r>
                        <a:rPr lang="en-US" sz="1100" spc="-10">
                          <a:latin typeface="+mj-lt"/>
                          <a:cs typeface="Calibri"/>
                        </a:rPr>
                        <a:t>Rules </a:t>
                      </a:r>
                      <a:r>
                        <a:rPr lang="en-US" sz="1100">
                          <a:latin typeface="+mj-lt"/>
                          <a:cs typeface="Calibri"/>
                        </a:rPr>
                        <a:t>Chapter</a:t>
                      </a:r>
                      <a:r>
                        <a:rPr lang="en-US" sz="1100" spc="-35">
                          <a:latin typeface="+mj-lt"/>
                          <a:cs typeface="Calibri"/>
                        </a:rPr>
                        <a:t> </a:t>
                      </a:r>
                      <a:r>
                        <a:rPr lang="en-US" sz="1100" spc="-25">
                          <a:latin typeface="+mj-lt"/>
                          <a:cs typeface="Calibri"/>
                        </a:rPr>
                        <a:t>20,</a:t>
                      </a:r>
                      <a:endParaRPr lang="en-US" sz="1100">
                        <a:latin typeface="+mj-lt"/>
                        <a:cs typeface="Calibri"/>
                      </a:endParaRPr>
                    </a:p>
                    <a:p>
                      <a:pPr marL="36000">
                        <a:lnSpc>
                          <a:spcPts val="1280"/>
                        </a:lnSpc>
                      </a:pPr>
                      <a:r>
                        <a:rPr lang="en-US" sz="1100">
                          <a:latin typeface="+mj-lt"/>
                          <a:cs typeface="Calibri"/>
                        </a:rPr>
                        <a:t>Takeover</a:t>
                      </a:r>
                      <a:r>
                        <a:rPr lang="en-US" sz="1100" spc="-25">
                          <a:latin typeface="+mj-lt"/>
                          <a:cs typeface="Calibri"/>
                        </a:rPr>
                        <a:t> </a:t>
                      </a:r>
                      <a:r>
                        <a:rPr lang="en-US" sz="1100" spc="-20">
                          <a:latin typeface="+mj-lt"/>
                          <a:cs typeface="Calibri"/>
                        </a:rPr>
                        <a:t>Code</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6350">
                      <a:solidFill>
                        <a:srgbClr val="B1B1B1"/>
                      </a:solidFill>
                      <a:prstDash val="solid"/>
                    </a:lnT>
                    <a:lnB w="12700" cap="flat" cmpd="sng" algn="ctr">
                      <a:solidFill>
                        <a:schemeClr val="bg1">
                          <a:lumMod val="85000"/>
                        </a:schemeClr>
                      </a:solidFill>
                      <a:prstDash val="solid"/>
                      <a:round/>
                      <a:headEnd type="none" w="med" len="med"/>
                      <a:tailEnd type="none" w="med" len="med"/>
                    </a:lnB>
                  </a:tcPr>
                </a:tc>
                <a:tc>
                  <a:txBody>
                    <a:bodyPr/>
                    <a:lstStyle/>
                    <a:p>
                      <a:pPr marL="36000" marR="436880">
                        <a:lnSpc>
                          <a:spcPts val="1320"/>
                        </a:lnSpc>
                        <a:spcBef>
                          <a:spcPts val="25"/>
                        </a:spcBef>
                      </a:pPr>
                      <a:r>
                        <a:rPr lang="en-US" sz="1100">
                          <a:latin typeface="+mj-lt"/>
                          <a:cs typeface="Calibri"/>
                        </a:rPr>
                        <a:t>Listing</a:t>
                      </a:r>
                      <a:r>
                        <a:rPr lang="en-US" sz="1100" spc="-45">
                          <a:latin typeface="+mj-lt"/>
                          <a:cs typeface="Calibri"/>
                        </a:rPr>
                        <a:t> </a:t>
                      </a:r>
                      <a:r>
                        <a:rPr lang="en-US" sz="1100" spc="-10">
                          <a:latin typeface="+mj-lt"/>
                          <a:cs typeface="Calibri"/>
                        </a:rPr>
                        <a:t>Rules </a:t>
                      </a:r>
                      <a:r>
                        <a:rPr lang="en-US" sz="1100">
                          <a:latin typeface="+mj-lt"/>
                          <a:cs typeface="Calibri"/>
                        </a:rPr>
                        <a:t>Chapter</a:t>
                      </a:r>
                      <a:r>
                        <a:rPr lang="en-US" sz="1100" spc="-35">
                          <a:latin typeface="+mj-lt"/>
                          <a:cs typeface="Calibri"/>
                        </a:rPr>
                        <a:t> </a:t>
                      </a:r>
                      <a:r>
                        <a:rPr lang="en-US" sz="1100" spc="-25">
                          <a:latin typeface="+mj-lt"/>
                          <a:cs typeface="Calibri"/>
                        </a:rPr>
                        <a:t>20,</a:t>
                      </a:r>
                      <a:endParaRPr lang="en-US" sz="1100">
                        <a:latin typeface="+mj-lt"/>
                        <a:cs typeface="Calibri"/>
                      </a:endParaRPr>
                    </a:p>
                    <a:p>
                      <a:pPr marL="36000" marR="20955">
                        <a:lnSpc>
                          <a:spcPts val="1320"/>
                        </a:lnSpc>
                      </a:pPr>
                      <a:r>
                        <a:rPr lang="en-US" sz="1100">
                          <a:latin typeface="+mj-lt"/>
                          <a:cs typeface="Calibri"/>
                        </a:rPr>
                        <a:t>UT</a:t>
                      </a:r>
                      <a:r>
                        <a:rPr lang="en-US" sz="1100" spc="-25">
                          <a:latin typeface="+mj-lt"/>
                          <a:cs typeface="Calibri"/>
                        </a:rPr>
                        <a:t> </a:t>
                      </a:r>
                      <a:r>
                        <a:rPr lang="en-US" sz="1100">
                          <a:latin typeface="+mj-lt"/>
                          <a:cs typeface="Calibri"/>
                        </a:rPr>
                        <a:t>Code,</a:t>
                      </a:r>
                      <a:r>
                        <a:rPr lang="en-US" sz="1100" spc="-30">
                          <a:latin typeface="+mj-lt"/>
                          <a:cs typeface="Calibri"/>
                        </a:rPr>
                        <a:t> </a:t>
                      </a:r>
                      <a:r>
                        <a:rPr lang="en-US" sz="1100">
                          <a:latin typeface="+mj-lt"/>
                          <a:cs typeface="Calibri"/>
                        </a:rPr>
                        <a:t>OFC</a:t>
                      </a:r>
                      <a:r>
                        <a:rPr lang="en-US" sz="1100" spc="-25">
                          <a:latin typeface="+mj-lt"/>
                          <a:cs typeface="Calibri"/>
                        </a:rPr>
                        <a:t> </a:t>
                      </a:r>
                      <a:r>
                        <a:rPr lang="en-US" sz="1100" spc="-10">
                          <a:latin typeface="+mj-lt"/>
                          <a:cs typeface="Calibri"/>
                        </a:rPr>
                        <a:t>Rules </a:t>
                      </a:r>
                      <a:r>
                        <a:rPr lang="en-US" sz="1100">
                          <a:latin typeface="+mj-lt"/>
                          <a:cs typeface="Calibri"/>
                        </a:rPr>
                        <a:t>and</a:t>
                      </a:r>
                      <a:r>
                        <a:rPr lang="en-US" sz="1100" spc="-35">
                          <a:latin typeface="+mj-lt"/>
                          <a:cs typeface="Calibri"/>
                        </a:rPr>
                        <a:t> </a:t>
                      </a:r>
                      <a:r>
                        <a:rPr lang="en-US" sz="1100" spc="-20">
                          <a:latin typeface="+mj-lt"/>
                          <a:cs typeface="Calibri"/>
                        </a:rPr>
                        <a:t>Code</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6350">
                      <a:solidFill>
                        <a:srgbClr val="B1B1B1"/>
                      </a:solidFill>
                      <a:prstDash val="solid"/>
                    </a:lnT>
                    <a:lnB w="12700" cap="flat" cmpd="sng" algn="ctr">
                      <a:solidFill>
                        <a:schemeClr val="bg1">
                          <a:lumMod val="85000"/>
                        </a:schemeClr>
                      </a:solidFill>
                      <a:prstDash val="solid"/>
                      <a:round/>
                      <a:headEnd type="none" w="med" len="med"/>
                      <a:tailEnd type="none" w="med" len="med"/>
                    </a:lnB>
                    <a:solidFill>
                      <a:srgbClr val="EFEFEF"/>
                    </a:solidFill>
                  </a:tcPr>
                </a:tc>
                <a:tc>
                  <a:txBody>
                    <a:bodyPr/>
                    <a:lstStyle/>
                    <a:p>
                      <a:pPr marL="36000" marR="98425" algn="just">
                        <a:lnSpc>
                          <a:spcPts val="1320"/>
                        </a:lnSpc>
                        <a:spcBef>
                          <a:spcPts val="25"/>
                        </a:spcBef>
                      </a:pPr>
                      <a:r>
                        <a:rPr lang="en-US" sz="1100">
                          <a:latin typeface="+mj-lt"/>
                          <a:cs typeface="Calibri"/>
                        </a:rPr>
                        <a:t>Listing</a:t>
                      </a:r>
                      <a:r>
                        <a:rPr lang="en-US" sz="1100" spc="-55">
                          <a:latin typeface="+mj-lt"/>
                          <a:cs typeface="Calibri"/>
                        </a:rPr>
                        <a:t> </a:t>
                      </a:r>
                      <a:r>
                        <a:rPr lang="en-US" sz="1100">
                          <a:latin typeface="+mj-lt"/>
                          <a:cs typeface="Calibri"/>
                        </a:rPr>
                        <a:t>Rules</a:t>
                      </a:r>
                      <a:r>
                        <a:rPr lang="en-US" sz="1100" spc="-20">
                          <a:latin typeface="+mj-lt"/>
                          <a:cs typeface="Calibri"/>
                        </a:rPr>
                        <a:t> </a:t>
                      </a:r>
                      <a:r>
                        <a:rPr lang="en-US" sz="1100">
                          <a:latin typeface="+mj-lt"/>
                          <a:cs typeface="Calibri"/>
                        </a:rPr>
                        <a:t>Chapter</a:t>
                      </a:r>
                      <a:r>
                        <a:rPr lang="en-US" sz="1100" spc="-25">
                          <a:latin typeface="+mj-lt"/>
                          <a:cs typeface="Calibri"/>
                        </a:rPr>
                        <a:t> 20, </a:t>
                      </a:r>
                      <a:r>
                        <a:rPr lang="en-US" sz="1100">
                          <a:latin typeface="+mj-lt"/>
                          <a:cs typeface="Calibri"/>
                        </a:rPr>
                        <a:t>UT</a:t>
                      </a:r>
                      <a:r>
                        <a:rPr lang="en-US" sz="1100" spc="-25">
                          <a:latin typeface="+mj-lt"/>
                          <a:cs typeface="Calibri"/>
                        </a:rPr>
                        <a:t> </a:t>
                      </a:r>
                      <a:r>
                        <a:rPr lang="en-US" sz="1100">
                          <a:latin typeface="+mj-lt"/>
                          <a:cs typeface="Calibri"/>
                        </a:rPr>
                        <a:t>Code,</a:t>
                      </a:r>
                      <a:r>
                        <a:rPr lang="en-US" sz="1100" spc="-30">
                          <a:latin typeface="+mj-lt"/>
                          <a:cs typeface="Calibri"/>
                        </a:rPr>
                        <a:t> </a:t>
                      </a:r>
                      <a:r>
                        <a:rPr lang="en-US" sz="1100">
                          <a:latin typeface="+mj-lt"/>
                          <a:cs typeface="Calibri"/>
                        </a:rPr>
                        <a:t>OFC</a:t>
                      </a:r>
                      <a:r>
                        <a:rPr lang="en-US" sz="1100" spc="-25">
                          <a:latin typeface="+mj-lt"/>
                          <a:cs typeface="Calibri"/>
                        </a:rPr>
                        <a:t> </a:t>
                      </a:r>
                      <a:r>
                        <a:rPr lang="en-US" sz="1100">
                          <a:latin typeface="+mj-lt"/>
                          <a:cs typeface="Calibri"/>
                        </a:rPr>
                        <a:t>Rules</a:t>
                      </a:r>
                      <a:r>
                        <a:rPr lang="en-US" sz="1100" spc="-20">
                          <a:latin typeface="+mj-lt"/>
                          <a:cs typeface="Calibri"/>
                        </a:rPr>
                        <a:t> </a:t>
                      </a:r>
                      <a:r>
                        <a:rPr lang="en-US" sz="1100" spc="-25">
                          <a:latin typeface="+mj-lt"/>
                          <a:cs typeface="Calibri"/>
                        </a:rPr>
                        <a:t>and </a:t>
                      </a:r>
                      <a:r>
                        <a:rPr lang="en-US" sz="1100" spc="-20">
                          <a:latin typeface="+mj-lt"/>
                          <a:cs typeface="Calibri"/>
                        </a:rPr>
                        <a:t>Code</a:t>
                      </a:r>
                      <a:endParaRPr lang="en-US" sz="1100">
                        <a:latin typeface="+mj-lt"/>
                        <a:cs typeface="Calibri"/>
                      </a:endParaRPr>
                    </a:p>
                    <a:p>
                      <a:pPr marL="36000" marR="76835">
                        <a:lnSpc>
                          <a:spcPts val="1320"/>
                        </a:lnSpc>
                      </a:pPr>
                      <a:r>
                        <a:rPr lang="en-US" sz="1100">
                          <a:latin typeface="+mj-lt"/>
                          <a:cs typeface="Calibri"/>
                        </a:rPr>
                        <a:t>SFC's</a:t>
                      </a:r>
                      <a:r>
                        <a:rPr lang="en-US" sz="1100" spc="-35">
                          <a:latin typeface="+mj-lt"/>
                          <a:cs typeface="Calibri"/>
                        </a:rPr>
                        <a:t> </a:t>
                      </a:r>
                      <a:r>
                        <a:rPr lang="en-US" sz="1100">
                          <a:latin typeface="+mj-lt"/>
                          <a:cs typeface="Calibri"/>
                        </a:rPr>
                        <a:t>"Circular</a:t>
                      </a:r>
                      <a:r>
                        <a:rPr lang="en-US" sz="1100" spc="-25">
                          <a:latin typeface="+mj-lt"/>
                          <a:cs typeface="Calibri"/>
                        </a:rPr>
                        <a:t> </a:t>
                      </a:r>
                      <a:r>
                        <a:rPr lang="en-US" sz="1100">
                          <a:latin typeface="+mj-lt"/>
                          <a:cs typeface="Calibri"/>
                        </a:rPr>
                        <a:t>on</a:t>
                      </a:r>
                      <a:r>
                        <a:rPr lang="en-US" sz="1100" spc="-20">
                          <a:latin typeface="+mj-lt"/>
                          <a:cs typeface="Calibri"/>
                        </a:rPr>
                        <a:t> </a:t>
                      </a:r>
                      <a:r>
                        <a:rPr lang="en-US" sz="1100" spc="-10">
                          <a:latin typeface="+mj-lt"/>
                          <a:cs typeface="Calibri"/>
                        </a:rPr>
                        <a:t>listed closed-</a:t>
                      </a:r>
                      <a:r>
                        <a:rPr lang="en-US" sz="1100">
                          <a:latin typeface="+mj-lt"/>
                          <a:cs typeface="Calibri"/>
                        </a:rPr>
                        <a:t>ended</a:t>
                      </a:r>
                      <a:r>
                        <a:rPr lang="en-US" sz="1100" spc="-5">
                          <a:latin typeface="+mj-lt"/>
                          <a:cs typeface="Calibri"/>
                        </a:rPr>
                        <a:t> </a:t>
                      </a:r>
                      <a:r>
                        <a:rPr lang="en-US" sz="1100" spc="-10">
                          <a:latin typeface="+mj-lt"/>
                          <a:cs typeface="Calibri"/>
                        </a:rPr>
                        <a:t>alternative </a:t>
                      </a:r>
                      <a:r>
                        <a:rPr lang="en-US" sz="1100">
                          <a:latin typeface="+mj-lt"/>
                          <a:cs typeface="Calibri"/>
                        </a:rPr>
                        <a:t>asset</a:t>
                      </a:r>
                      <a:r>
                        <a:rPr lang="en-US" sz="1100" spc="-10">
                          <a:latin typeface="+mj-lt"/>
                          <a:cs typeface="Calibri"/>
                        </a:rPr>
                        <a:t> funds"</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6350">
                      <a:solidFill>
                        <a:srgbClr val="B1B1B1"/>
                      </a:solidFill>
                      <a:prstDash val="soli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4"/>
                  </a:ext>
                </a:extLst>
              </a:tr>
              <a:tr h="437000">
                <a:tc>
                  <a:txBody>
                    <a:bodyPr/>
                    <a:lstStyle/>
                    <a:p>
                      <a:pPr marL="2540" marR="78105">
                        <a:lnSpc>
                          <a:spcPts val="1320"/>
                        </a:lnSpc>
                      </a:pPr>
                      <a:r>
                        <a:rPr lang="en-US" sz="1100" b="1">
                          <a:latin typeface="+mj-lt"/>
                          <a:cs typeface="Calibri"/>
                        </a:rPr>
                        <a:t>Precedent</a:t>
                      </a:r>
                      <a:r>
                        <a:rPr lang="en-US" sz="1100" b="1" spc="-45">
                          <a:latin typeface="+mj-lt"/>
                          <a:cs typeface="Calibri"/>
                        </a:rPr>
                        <a:t> </a:t>
                      </a:r>
                      <a:r>
                        <a:rPr lang="en-US" sz="1100" b="1" spc="-20">
                          <a:latin typeface="+mj-lt"/>
                          <a:cs typeface="Calibri"/>
                        </a:rPr>
                        <a:t>cases </a:t>
                      </a:r>
                      <a:r>
                        <a:rPr lang="en-US" sz="1100" b="1">
                          <a:latin typeface="+mj-lt"/>
                          <a:cs typeface="Calibri"/>
                        </a:rPr>
                        <a:t>of</a:t>
                      </a:r>
                      <a:r>
                        <a:rPr lang="en-US" sz="1100" b="1" spc="-25">
                          <a:latin typeface="+mj-lt"/>
                          <a:cs typeface="Calibri"/>
                        </a:rPr>
                        <a:t> </a:t>
                      </a:r>
                      <a:r>
                        <a:rPr lang="en-US" sz="1100" b="1">
                          <a:latin typeface="+mj-lt"/>
                          <a:cs typeface="Calibri"/>
                        </a:rPr>
                        <a:t>initial</a:t>
                      </a:r>
                      <a:r>
                        <a:rPr lang="en-US" sz="1100" b="1" spc="-35">
                          <a:latin typeface="+mj-lt"/>
                          <a:cs typeface="Calibri"/>
                        </a:rPr>
                        <a:t> </a:t>
                      </a:r>
                      <a:r>
                        <a:rPr lang="en-US" sz="1100" b="1" spc="-10">
                          <a:latin typeface="+mj-lt"/>
                          <a:cs typeface="Calibri"/>
                        </a:rPr>
                        <a:t>public offering</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a:lnSpc>
                          <a:spcPts val="1300"/>
                        </a:lnSpc>
                      </a:pPr>
                      <a:r>
                        <a:rPr lang="en-US" sz="1100">
                          <a:latin typeface="+mj-lt"/>
                          <a:cs typeface="Calibri"/>
                        </a:rPr>
                        <a:t>Midea</a:t>
                      </a:r>
                      <a:r>
                        <a:rPr lang="en-US" sz="1100" spc="-30">
                          <a:latin typeface="+mj-lt"/>
                          <a:cs typeface="Calibri"/>
                        </a:rPr>
                        <a:t> </a:t>
                      </a:r>
                      <a:r>
                        <a:rPr lang="en-US" sz="1100" spc="-10">
                          <a:latin typeface="+mj-lt"/>
                          <a:cs typeface="Calibri"/>
                        </a:rPr>
                        <a:t>(300.HK)</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6350">
                      <a:solidFill>
                        <a:srgbClr val="B1B1B1"/>
                      </a:solidFill>
                      <a:prstDash val="solid"/>
                    </a:lnB>
                    <a:solidFill>
                      <a:srgbClr val="EFEFEF"/>
                    </a:solidFill>
                  </a:tcPr>
                </a:tc>
                <a:tc>
                  <a:txBody>
                    <a:bodyPr/>
                    <a:lstStyle/>
                    <a:p>
                      <a:pPr marL="36000" marR="76200">
                        <a:lnSpc>
                          <a:spcPts val="1320"/>
                        </a:lnSpc>
                      </a:pPr>
                      <a:r>
                        <a:rPr lang="de-DE" sz="1100">
                          <a:latin typeface="+mj-lt"/>
                          <a:cs typeface="Calibri"/>
                        </a:rPr>
                        <a:t>SF</a:t>
                      </a:r>
                      <a:r>
                        <a:rPr lang="de-DE" sz="1100" spc="-35">
                          <a:latin typeface="+mj-lt"/>
                          <a:cs typeface="Calibri"/>
                        </a:rPr>
                        <a:t> </a:t>
                      </a:r>
                      <a:r>
                        <a:rPr lang="de-DE" sz="1100">
                          <a:latin typeface="+mj-lt"/>
                          <a:cs typeface="Calibri"/>
                        </a:rPr>
                        <a:t>REIT</a:t>
                      </a:r>
                      <a:r>
                        <a:rPr lang="de-DE" sz="1100" spc="-15">
                          <a:latin typeface="+mj-lt"/>
                          <a:cs typeface="Calibri"/>
                        </a:rPr>
                        <a:t> </a:t>
                      </a:r>
                      <a:r>
                        <a:rPr lang="de-DE" sz="1100" spc="-10">
                          <a:latin typeface="+mj-lt"/>
                          <a:cs typeface="Calibri"/>
                        </a:rPr>
                        <a:t>(2191.HK) </a:t>
                      </a:r>
                      <a:r>
                        <a:rPr lang="de-DE" sz="1100">
                          <a:latin typeface="+mj-lt"/>
                          <a:cs typeface="Calibri"/>
                        </a:rPr>
                        <a:t>CMC</a:t>
                      </a:r>
                      <a:r>
                        <a:rPr lang="de-DE" sz="1100" spc="-10">
                          <a:latin typeface="+mj-lt"/>
                          <a:cs typeface="Calibri"/>
                        </a:rPr>
                        <a:t> </a:t>
                      </a:r>
                      <a:r>
                        <a:rPr lang="de-DE" sz="1100" spc="-20">
                          <a:latin typeface="+mj-lt"/>
                          <a:cs typeface="Calibri"/>
                        </a:rPr>
                        <a:t>REIT </a:t>
                      </a:r>
                      <a:r>
                        <a:rPr lang="de-DE" sz="1100" spc="-10">
                          <a:latin typeface="+mj-lt"/>
                          <a:cs typeface="Calibri"/>
                        </a:rPr>
                        <a:t>(1503.HK)</a:t>
                      </a:r>
                      <a:endParaRPr lang="de-DE"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6350">
                      <a:solidFill>
                        <a:srgbClr val="B1B1B1"/>
                      </a:solidFill>
                      <a:prstDash val="solid"/>
                    </a:lnB>
                  </a:tcPr>
                </a:tc>
                <a:tc>
                  <a:txBody>
                    <a:bodyPr/>
                    <a:lstStyle/>
                    <a:p>
                      <a:pPr marL="36000">
                        <a:lnSpc>
                          <a:spcPct val="100000"/>
                        </a:lnSpc>
                      </a:pPr>
                      <a:endParaRPr lang="en-US" sz="1000">
                        <a:latin typeface="+mj-lt"/>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6350">
                      <a:solidFill>
                        <a:srgbClr val="B1B1B1"/>
                      </a:solidFill>
                      <a:prstDash val="solid"/>
                    </a:lnB>
                    <a:solidFill>
                      <a:srgbClr val="EFEFEF"/>
                    </a:solidFill>
                  </a:tcPr>
                </a:tc>
                <a:tc>
                  <a:txBody>
                    <a:bodyPr/>
                    <a:lstStyle/>
                    <a:p>
                      <a:pPr marL="36000">
                        <a:lnSpc>
                          <a:spcPct val="100000"/>
                        </a:lnSpc>
                      </a:pPr>
                      <a:endParaRPr lang="en-US" sz="1000">
                        <a:latin typeface="+mj-lt"/>
                        <a:cs typeface="Times New Roman"/>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6350">
                      <a:solidFill>
                        <a:srgbClr val="B1B1B1"/>
                      </a:solidFill>
                      <a:prstDash val="solid"/>
                    </a:lnB>
                  </a:tcPr>
                </a:tc>
                <a:extLst>
                  <a:ext uri="{0D108BD9-81ED-4DB2-BD59-A6C34878D82A}">
                    <a16:rowId xmlns:a16="http://schemas.microsoft.com/office/drawing/2014/main" val="10005"/>
                  </a:ext>
                </a:extLst>
              </a:tr>
              <a:tr h="1096702">
                <a:tc>
                  <a:txBody>
                    <a:bodyPr/>
                    <a:lstStyle/>
                    <a:p>
                      <a:pPr marL="2540" marR="342900">
                        <a:lnSpc>
                          <a:spcPts val="1320"/>
                        </a:lnSpc>
                        <a:spcBef>
                          <a:spcPts val="25"/>
                        </a:spcBef>
                      </a:pPr>
                      <a:r>
                        <a:rPr lang="en-US" sz="1100" b="1" spc="-10">
                          <a:latin typeface="+mj-lt"/>
                          <a:cs typeface="Calibri"/>
                        </a:rPr>
                        <a:t>Offering mechanism</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marR="3175">
                        <a:lnSpc>
                          <a:spcPts val="1320"/>
                        </a:lnSpc>
                        <a:spcBef>
                          <a:spcPts val="25"/>
                        </a:spcBef>
                      </a:pPr>
                      <a:r>
                        <a:rPr lang="en-US" sz="1100">
                          <a:latin typeface="+mj-lt"/>
                          <a:cs typeface="Calibri"/>
                        </a:rPr>
                        <a:t>90%</a:t>
                      </a:r>
                      <a:r>
                        <a:rPr lang="en-US" sz="1100" spc="-25">
                          <a:latin typeface="+mj-lt"/>
                          <a:cs typeface="Calibri"/>
                        </a:rPr>
                        <a:t> </a:t>
                      </a:r>
                      <a:r>
                        <a:rPr lang="en-US" sz="1100" spc="-10">
                          <a:latin typeface="+mj-lt"/>
                          <a:cs typeface="Calibri"/>
                        </a:rPr>
                        <a:t>international placement,</a:t>
                      </a:r>
                      <a:endParaRPr lang="en-US" sz="1100">
                        <a:latin typeface="+mj-lt"/>
                        <a:cs typeface="Calibri"/>
                      </a:endParaRPr>
                    </a:p>
                    <a:p>
                      <a:pPr marL="36000" marR="205740">
                        <a:lnSpc>
                          <a:spcPts val="1320"/>
                        </a:lnSpc>
                      </a:pPr>
                      <a:r>
                        <a:rPr lang="en-US" sz="1100">
                          <a:latin typeface="+mj-lt"/>
                          <a:cs typeface="Calibri"/>
                        </a:rPr>
                        <a:t>10%</a:t>
                      </a:r>
                      <a:r>
                        <a:rPr lang="en-US" sz="1100" spc="-25">
                          <a:latin typeface="+mj-lt"/>
                          <a:cs typeface="Calibri"/>
                        </a:rPr>
                        <a:t> </a:t>
                      </a:r>
                      <a:r>
                        <a:rPr lang="en-US" sz="1100">
                          <a:latin typeface="+mj-lt"/>
                          <a:cs typeface="Calibri"/>
                        </a:rPr>
                        <a:t>HK</a:t>
                      </a:r>
                      <a:r>
                        <a:rPr lang="en-US" sz="1100" spc="-10">
                          <a:latin typeface="+mj-lt"/>
                          <a:cs typeface="Calibri"/>
                        </a:rPr>
                        <a:t> public offering, </a:t>
                      </a:r>
                      <a:r>
                        <a:rPr lang="en-US" sz="1100">
                          <a:latin typeface="+mj-lt"/>
                          <a:cs typeface="Calibri"/>
                        </a:rPr>
                        <a:t>subject</a:t>
                      </a:r>
                      <a:r>
                        <a:rPr lang="en-US" sz="1100" spc="-20">
                          <a:latin typeface="+mj-lt"/>
                          <a:cs typeface="Calibri"/>
                        </a:rPr>
                        <a:t> </a:t>
                      </a:r>
                      <a:r>
                        <a:rPr lang="en-US" sz="1100" spc="-25">
                          <a:latin typeface="+mj-lt"/>
                          <a:cs typeface="Calibri"/>
                        </a:rPr>
                        <a:t>to </a:t>
                      </a:r>
                      <a:r>
                        <a:rPr lang="en-US" sz="1100" spc="-10">
                          <a:latin typeface="+mj-lt"/>
                          <a:cs typeface="Calibri"/>
                        </a:rPr>
                        <a:t>clawback</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marR="67945">
                        <a:lnSpc>
                          <a:spcPts val="1320"/>
                        </a:lnSpc>
                        <a:spcBef>
                          <a:spcPts val="25"/>
                        </a:spcBef>
                      </a:pPr>
                      <a:r>
                        <a:rPr lang="en-US" sz="1100">
                          <a:latin typeface="+mj-lt"/>
                          <a:cs typeface="Calibri"/>
                        </a:rPr>
                        <a:t>90%</a:t>
                      </a:r>
                      <a:r>
                        <a:rPr lang="en-US" sz="1100" spc="-25">
                          <a:latin typeface="+mj-lt"/>
                          <a:cs typeface="Calibri"/>
                        </a:rPr>
                        <a:t> </a:t>
                      </a:r>
                      <a:r>
                        <a:rPr lang="en-US" sz="1100" spc="-10">
                          <a:latin typeface="+mj-lt"/>
                          <a:cs typeface="Calibri"/>
                        </a:rPr>
                        <a:t>international placement,</a:t>
                      </a:r>
                      <a:endParaRPr lang="en-US" sz="1100">
                        <a:latin typeface="+mj-lt"/>
                        <a:cs typeface="Calibri"/>
                      </a:endParaRPr>
                    </a:p>
                    <a:p>
                      <a:pPr marL="36000" marR="270510">
                        <a:lnSpc>
                          <a:spcPts val="1320"/>
                        </a:lnSpc>
                      </a:pPr>
                      <a:r>
                        <a:rPr lang="en-US" sz="1100">
                          <a:latin typeface="+mj-lt"/>
                          <a:cs typeface="Calibri"/>
                        </a:rPr>
                        <a:t>10%</a:t>
                      </a:r>
                      <a:r>
                        <a:rPr lang="en-US" sz="1100" spc="-25">
                          <a:latin typeface="+mj-lt"/>
                          <a:cs typeface="Calibri"/>
                        </a:rPr>
                        <a:t> </a:t>
                      </a:r>
                      <a:r>
                        <a:rPr lang="en-US" sz="1100">
                          <a:latin typeface="+mj-lt"/>
                          <a:cs typeface="Calibri"/>
                        </a:rPr>
                        <a:t>HK</a:t>
                      </a:r>
                      <a:r>
                        <a:rPr lang="en-US" sz="1100" spc="-10">
                          <a:latin typeface="+mj-lt"/>
                          <a:cs typeface="Calibri"/>
                        </a:rPr>
                        <a:t> public offering, </a:t>
                      </a:r>
                      <a:r>
                        <a:rPr lang="en-US" sz="1100">
                          <a:latin typeface="+mj-lt"/>
                          <a:cs typeface="Calibri"/>
                        </a:rPr>
                        <a:t>subject</a:t>
                      </a:r>
                      <a:r>
                        <a:rPr lang="en-US" sz="1100" spc="-20">
                          <a:latin typeface="+mj-lt"/>
                          <a:cs typeface="Calibri"/>
                        </a:rPr>
                        <a:t> </a:t>
                      </a:r>
                      <a:r>
                        <a:rPr lang="en-US" sz="1100" spc="-25">
                          <a:latin typeface="+mj-lt"/>
                          <a:cs typeface="Calibri"/>
                        </a:rPr>
                        <a:t>to </a:t>
                      </a:r>
                      <a:r>
                        <a:rPr lang="en-US" sz="1100" spc="-10">
                          <a:latin typeface="+mj-lt"/>
                          <a:cs typeface="Calibri"/>
                        </a:rPr>
                        <a:t>clawback</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marR="43815">
                        <a:lnSpc>
                          <a:spcPts val="1320"/>
                        </a:lnSpc>
                        <a:spcBef>
                          <a:spcPts val="25"/>
                        </a:spcBef>
                      </a:pPr>
                      <a:r>
                        <a:rPr lang="en-US" sz="1100">
                          <a:latin typeface="+mj-lt"/>
                          <a:cs typeface="Calibri"/>
                        </a:rPr>
                        <a:t>No</a:t>
                      </a:r>
                      <a:r>
                        <a:rPr lang="en-US" sz="1100" spc="-20">
                          <a:latin typeface="+mj-lt"/>
                          <a:cs typeface="Calibri"/>
                        </a:rPr>
                        <a:t> </a:t>
                      </a:r>
                      <a:r>
                        <a:rPr lang="en-US" sz="1100">
                          <a:latin typeface="+mj-lt"/>
                          <a:cs typeface="Calibri"/>
                        </a:rPr>
                        <a:t>requirement</a:t>
                      </a:r>
                      <a:r>
                        <a:rPr lang="en-US" sz="1100" spc="-35">
                          <a:latin typeface="+mj-lt"/>
                          <a:cs typeface="Calibri"/>
                        </a:rPr>
                        <a:t> </a:t>
                      </a:r>
                      <a:r>
                        <a:rPr lang="en-US" sz="1100" spc="-25">
                          <a:latin typeface="+mj-lt"/>
                          <a:cs typeface="Calibri"/>
                        </a:rPr>
                        <a:t>on </a:t>
                      </a:r>
                      <a:r>
                        <a:rPr lang="en-US" sz="1100" spc="-10">
                          <a:latin typeface="+mj-lt"/>
                          <a:cs typeface="Calibri"/>
                        </a:rPr>
                        <a:t>geographical </a:t>
                      </a:r>
                      <a:r>
                        <a:rPr lang="en-US" sz="1100">
                          <a:latin typeface="+mj-lt"/>
                          <a:cs typeface="Calibri"/>
                        </a:rPr>
                        <a:t>location</a:t>
                      </a:r>
                      <a:r>
                        <a:rPr lang="en-US" sz="1100" spc="-45">
                          <a:latin typeface="+mj-lt"/>
                          <a:cs typeface="Calibri"/>
                        </a:rPr>
                        <a:t> </a:t>
                      </a:r>
                      <a:r>
                        <a:rPr lang="en-US" sz="1100" spc="-25">
                          <a:latin typeface="+mj-lt"/>
                          <a:cs typeface="Calibri"/>
                        </a:rPr>
                        <a:t>or </a:t>
                      </a:r>
                      <a:r>
                        <a:rPr lang="en-US" sz="1100" spc="-10">
                          <a:latin typeface="+mj-lt"/>
                          <a:cs typeface="Calibri"/>
                        </a:rPr>
                        <a:t>clawback</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marR="123825">
                        <a:lnSpc>
                          <a:spcPts val="1320"/>
                        </a:lnSpc>
                      </a:pPr>
                      <a:r>
                        <a:rPr lang="en-US" sz="1100">
                          <a:latin typeface="+mj-lt"/>
                          <a:cs typeface="Calibri"/>
                        </a:rPr>
                        <a:t>No</a:t>
                      </a:r>
                      <a:r>
                        <a:rPr lang="en-US" sz="1100" spc="-20">
                          <a:latin typeface="+mj-lt"/>
                          <a:cs typeface="Calibri"/>
                        </a:rPr>
                        <a:t> </a:t>
                      </a:r>
                      <a:r>
                        <a:rPr lang="en-US" sz="1100">
                          <a:latin typeface="+mj-lt"/>
                          <a:cs typeface="Calibri"/>
                        </a:rPr>
                        <a:t>requirement</a:t>
                      </a:r>
                      <a:r>
                        <a:rPr lang="en-US" sz="1100" spc="-35">
                          <a:latin typeface="+mj-lt"/>
                          <a:cs typeface="Calibri"/>
                        </a:rPr>
                        <a:t> </a:t>
                      </a:r>
                      <a:r>
                        <a:rPr lang="en-US" sz="1100" spc="-25">
                          <a:latin typeface="+mj-lt"/>
                          <a:cs typeface="Calibri"/>
                        </a:rPr>
                        <a:t>on </a:t>
                      </a:r>
                      <a:r>
                        <a:rPr lang="en-US" sz="1100">
                          <a:latin typeface="+mj-lt"/>
                          <a:cs typeface="Calibri"/>
                        </a:rPr>
                        <a:t>geographical</a:t>
                      </a:r>
                      <a:r>
                        <a:rPr lang="en-US" sz="1100" spc="-50">
                          <a:latin typeface="+mj-lt"/>
                          <a:cs typeface="Calibri"/>
                        </a:rPr>
                        <a:t> </a:t>
                      </a:r>
                      <a:r>
                        <a:rPr lang="en-US" sz="1100">
                          <a:latin typeface="+mj-lt"/>
                          <a:cs typeface="Calibri"/>
                        </a:rPr>
                        <a:t>location</a:t>
                      </a:r>
                      <a:r>
                        <a:rPr lang="en-US" sz="1100" spc="-55">
                          <a:latin typeface="+mj-lt"/>
                          <a:cs typeface="Calibri"/>
                        </a:rPr>
                        <a:t> </a:t>
                      </a:r>
                      <a:r>
                        <a:rPr lang="en-US" sz="1100" spc="-25">
                          <a:latin typeface="+mj-lt"/>
                          <a:cs typeface="Calibri"/>
                        </a:rPr>
                        <a:t>or </a:t>
                      </a:r>
                      <a:r>
                        <a:rPr lang="en-US" sz="1100">
                          <a:latin typeface="+mj-lt"/>
                          <a:cs typeface="Calibri"/>
                        </a:rPr>
                        <a:t>clawback</a:t>
                      </a:r>
                      <a:r>
                        <a:rPr lang="en-US" sz="1100" spc="-35">
                          <a:latin typeface="+mj-lt"/>
                          <a:cs typeface="Calibri"/>
                        </a:rPr>
                        <a:t> </a:t>
                      </a:r>
                      <a:r>
                        <a:rPr lang="en-US" sz="1100" spc="-10">
                          <a:latin typeface="+mj-lt"/>
                          <a:cs typeface="Calibri"/>
                        </a:rPr>
                        <a:t>(Procedure(s) </a:t>
                      </a:r>
                      <a:r>
                        <a:rPr lang="en-US" sz="1100">
                          <a:latin typeface="+mj-lt"/>
                          <a:cs typeface="Calibri"/>
                        </a:rPr>
                        <a:t>and</a:t>
                      </a:r>
                      <a:r>
                        <a:rPr lang="en-US" sz="1100" spc="25">
                          <a:latin typeface="+mj-lt"/>
                          <a:cs typeface="Calibri"/>
                        </a:rPr>
                        <a:t> </a:t>
                      </a:r>
                      <a:r>
                        <a:rPr lang="en-US" sz="1100" spc="-10">
                          <a:latin typeface="+mj-lt"/>
                          <a:cs typeface="Calibri"/>
                        </a:rPr>
                        <a:t>mechanism(s)</a:t>
                      </a:r>
                      <a:r>
                        <a:rPr lang="en-US" sz="1100" spc="5">
                          <a:latin typeface="+mj-lt"/>
                          <a:cs typeface="Calibri"/>
                        </a:rPr>
                        <a:t> </a:t>
                      </a:r>
                      <a:r>
                        <a:rPr lang="en-US" sz="1100" spc="-25">
                          <a:latin typeface="+mj-lt"/>
                          <a:cs typeface="Calibri"/>
                        </a:rPr>
                        <a:t>in </a:t>
                      </a:r>
                      <a:r>
                        <a:rPr lang="en-US" sz="1100">
                          <a:latin typeface="+mj-lt"/>
                          <a:cs typeface="Calibri"/>
                        </a:rPr>
                        <a:t>place</a:t>
                      </a:r>
                      <a:r>
                        <a:rPr lang="en-US" sz="1100" spc="-15">
                          <a:latin typeface="+mj-lt"/>
                          <a:cs typeface="Calibri"/>
                        </a:rPr>
                        <a:t> </a:t>
                      </a:r>
                      <a:r>
                        <a:rPr lang="en-US" sz="1100">
                          <a:latin typeface="+mj-lt"/>
                          <a:cs typeface="Calibri"/>
                        </a:rPr>
                        <a:t>for</a:t>
                      </a:r>
                      <a:r>
                        <a:rPr lang="en-US" sz="1100" spc="-15">
                          <a:latin typeface="+mj-lt"/>
                          <a:cs typeface="Calibri"/>
                        </a:rPr>
                        <a:t> </a:t>
                      </a:r>
                      <a:r>
                        <a:rPr lang="en-US" sz="1100">
                          <a:latin typeface="+mj-lt"/>
                          <a:cs typeface="Calibri"/>
                        </a:rPr>
                        <a:t>it</a:t>
                      </a:r>
                      <a:r>
                        <a:rPr lang="en-US" sz="1100" spc="-10">
                          <a:latin typeface="+mj-lt"/>
                          <a:cs typeface="Calibri"/>
                        </a:rPr>
                        <a:t> </a:t>
                      </a:r>
                      <a:r>
                        <a:rPr lang="en-US" sz="1100">
                          <a:latin typeface="+mj-lt"/>
                          <a:cs typeface="Calibri"/>
                        </a:rPr>
                        <a:t>to</a:t>
                      </a:r>
                      <a:r>
                        <a:rPr lang="en-US" sz="1100" spc="-20">
                          <a:latin typeface="+mj-lt"/>
                          <a:cs typeface="Calibri"/>
                        </a:rPr>
                        <a:t> </a:t>
                      </a:r>
                      <a:r>
                        <a:rPr lang="en-US" sz="1100">
                          <a:latin typeface="+mj-lt"/>
                          <a:cs typeface="Calibri"/>
                        </a:rPr>
                        <a:t>be</a:t>
                      </a:r>
                      <a:r>
                        <a:rPr lang="en-US" sz="1100" spc="-10">
                          <a:latin typeface="+mj-lt"/>
                          <a:cs typeface="Calibri"/>
                        </a:rPr>
                        <a:t> widely held)</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6"/>
                  </a:ext>
                </a:extLst>
              </a:tr>
              <a:tr h="201692">
                <a:tc>
                  <a:txBody>
                    <a:bodyPr/>
                    <a:lstStyle/>
                    <a:p>
                      <a:pPr marL="2540">
                        <a:lnSpc>
                          <a:spcPts val="1240"/>
                        </a:lnSpc>
                      </a:pPr>
                      <a:r>
                        <a:rPr lang="en-US" sz="1100" b="1">
                          <a:latin typeface="+mj-lt"/>
                          <a:cs typeface="Calibri"/>
                        </a:rPr>
                        <a:t>Public</a:t>
                      </a:r>
                      <a:r>
                        <a:rPr lang="en-US" sz="1100" b="1" spc="-35">
                          <a:latin typeface="+mj-lt"/>
                          <a:cs typeface="Calibri"/>
                        </a:rPr>
                        <a:t> </a:t>
                      </a:r>
                      <a:r>
                        <a:rPr lang="en-US" sz="1100" b="1" spc="-10">
                          <a:latin typeface="+mj-lt"/>
                          <a:cs typeface="Calibri"/>
                        </a:rPr>
                        <a:t>float</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a:lnSpc>
                          <a:spcPts val="1240"/>
                        </a:lnSpc>
                      </a:pPr>
                      <a:r>
                        <a:rPr lang="en-US" sz="1100" spc="-25">
                          <a:latin typeface="+mj-lt"/>
                          <a:cs typeface="Calibri"/>
                        </a:rPr>
                        <a:t>25%</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a:lnSpc>
                          <a:spcPts val="1240"/>
                        </a:lnSpc>
                      </a:pPr>
                      <a:r>
                        <a:rPr lang="en-US" sz="1100" spc="-25">
                          <a:latin typeface="+mj-lt"/>
                          <a:cs typeface="Calibri"/>
                        </a:rPr>
                        <a:t>25%</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a:lnSpc>
                          <a:spcPts val="1240"/>
                        </a:lnSpc>
                      </a:pPr>
                      <a:r>
                        <a:rPr lang="en-US" sz="1100" spc="-25">
                          <a:latin typeface="+mj-lt"/>
                          <a:cs typeface="Calibri"/>
                        </a:rPr>
                        <a:t>N/A</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a:lnSpc>
                          <a:spcPts val="1240"/>
                        </a:lnSpc>
                      </a:pPr>
                      <a:r>
                        <a:rPr lang="en-US" sz="1100" spc="-25">
                          <a:latin typeface="+mj-lt"/>
                          <a:cs typeface="Calibri"/>
                        </a:rPr>
                        <a:t>25%</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7"/>
                  </a:ext>
                </a:extLst>
              </a:tr>
              <a:tr h="437000">
                <a:tc>
                  <a:txBody>
                    <a:bodyPr/>
                    <a:lstStyle/>
                    <a:p>
                      <a:pPr marL="2540">
                        <a:lnSpc>
                          <a:spcPts val="1305"/>
                        </a:lnSpc>
                      </a:pPr>
                      <a:r>
                        <a:rPr lang="en-US" sz="1100" b="1">
                          <a:latin typeface="+mj-lt"/>
                          <a:cs typeface="Calibri"/>
                        </a:rPr>
                        <a:t>Minimum</a:t>
                      </a:r>
                      <a:r>
                        <a:rPr lang="en-US" sz="1100" b="1" spc="-25">
                          <a:latin typeface="+mj-lt"/>
                          <a:cs typeface="Calibri"/>
                        </a:rPr>
                        <a:t> </a:t>
                      </a:r>
                      <a:r>
                        <a:rPr lang="en-US" sz="1100" b="1">
                          <a:latin typeface="+mj-lt"/>
                          <a:cs typeface="Calibri"/>
                        </a:rPr>
                        <a:t>no.</a:t>
                      </a:r>
                      <a:r>
                        <a:rPr lang="en-US" sz="1100" b="1" spc="-20">
                          <a:latin typeface="+mj-lt"/>
                          <a:cs typeface="Calibri"/>
                        </a:rPr>
                        <a:t> </a:t>
                      </a:r>
                      <a:r>
                        <a:rPr lang="en-US" sz="1100" b="1" spc="-25">
                          <a:latin typeface="+mj-lt"/>
                          <a:cs typeface="Calibri"/>
                        </a:rPr>
                        <a:t>of</a:t>
                      </a:r>
                      <a:endParaRPr lang="en-US" sz="1100">
                        <a:latin typeface="+mj-lt"/>
                        <a:cs typeface="Calibri"/>
                      </a:endParaRPr>
                    </a:p>
                    <a:p>
                      <a:pPr marL="2540">
                        <a:lnSpc>
                          <a:spcPts val="1255"/>
                        </a:lnSpc>
                      </a:pPr>
                      <a:r>
                        <a:rPr lang="en-US" sz="1100" b="1" spc="-10">
                          <a:latin typeface="+mj-lt"/>
                          <a:cs typeface="Calibri"/>
                        </a:rPr>
                        <a:t>shareholders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a:lnSpc>
                          <a:spcPts val="1305"/>
                        </a:lnSpc>
                      </a:pPr>
                      <a:r>
                        <a:rPr lang="en-US" sz="1100" spc="-25">
                          <a:latin typeface="+mj-lt"/>
                          <a:cs typeface="Calibri"/>
                        </a:rPr>
                        <a:t>300</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a:lnSpc>
                          <a:spcPts val="1305"/>
                        </a:lnSpc>
                      </a:pPr>
                      <a:r>
                        <a:rPr lang="en-US" sz="1100" spc="-25">
                          <a:latin typeface="+mj-lt"/>
                          <a:cs typeface="Calibri"/>
                        </a:rPr>
                        <a:t>N/A</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a:lnSpc>
                          <a:spcPts val="1305"/>
                        </a:lnSpc>
                      </a:pPr>
                      <a:r>
                        <a:rPr lang="en-US" sz="1100" spc="-25">
                          <a:latin typeface="+mj-lt"/>
                          <a:cs typeface="Calibri"/>
                        </a:rPr>
                        <a:t>N/A</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a:lnSpc>
                          <a:spcPts val="1305"/>
                        </a:lnSpc>
                      </a:pPr>
                      <a:r>
                        <a:rPr lang="en-US" sz="1100">
                          <a:latin typeface="+mj-lt"/>
                          <a:cs typeface="Calibri"/>
                        </a:rPr>
                        <a:t>"Widely</a:t>
                      </a:r>
                      <a:r>
                        <a:rPr lang="en-US" sz="1100" spc="-35">
                          <a:latin typeface="+mj-lt"/>
                          <a:cs typeface="Calibri"/>
                        </a:rPr>
                        <a:t> </a:t>
                      </a:r>
                      <a:r>
                        <a:rPr lang="en-US" sz="1100">
                          <a:latin typeface="+mj-lt"/>
                          <a:cs typeface="Calibri"/>
                        </a:rPr>
                        <a:t>held“</a:t>
                      </a:r>
                      <a:r>
                        <a:rPr lang="en-US" sz="1100" spc="-35">
                          <a:latin typeface="+mj-lt"/>
                          <a:cs typeface="Calibri"/>
                        </a:rPr>
                        <a:t> </a:t>
                      </a:r>
                      <a:r>
                        <a:rPr lang="en-US" sz="1100">
                          <a:latin typeface="+mj-lt"/>
                          <a:cs typeface="Calibri"/>
                        </a:rPr>
                        <a:t>(i.e.</a:t>
                      </a:r>
                      <a:r>
                        <a:rPr lang="en-US" sz="1100" spc="-15">
                          <a:latin typeface="+mj-lt"/>
                          <a:cs typeface="Calibri"/>
                        </a:rPr>
                        <a:t> </a:t>
                      </a:r>
                      <a:r>
                        <a:rPr lang="en-US" sz="1100" spc="-20">
                          <a:latin typeface="+mj-lt"/>
                          <a:cs typeface="Calibri"/>
                        </a:rPr>
                        <a:t>300)</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8"/>
                  </a:ext>
                </a:extLst>
              </a:tr>
              <a:tr h="437000">
                <a:tc>
                  <a:txBody>
                    <a:bodyPr/>
                    <a:lstStyle/>
                    <a:p>
                      <a:pPr marL="2540" marR="47625">
                        <a:lnSpc>
                          <a:spcPts val="1320"/>
                        </a:lnSpc>
                      </a:pPr>
                      <a:r>
                        <a:rPr lang="en-US" sz="1100" b="1" spc="-10">
                          <a:latin typeface="+mj-lt"/>
                          <a:cs typeface="Calibri"/>
                        </a:rPr>
                        <a:t>Minimum </a:t>
                      </a:r>
                      <a:r>
                        <a:rPr lang="en-US" sz="1100" b="1">
                          <a:latin typeface="+mj-lt"/>
                          <a:cs typeface="Calibri"/>
                        </a:rPr>
                        <a:t>market</a:t>
                      </a:r>
                      <a:r>
                        <a:rPr lang="en-US" sz="1100" b="1" spc="-30">
                          <a:latin typeface="+mj-lt"/>
                          <a:cs typeface="Calibri"/>
                        </a:rPr>
                        <a:t> </a:t>
                      </a:r>
                      <a:r>
                        <a:rPr lang="en-US" sz="1100" b="1">
                          <a:latin typeface="+mj-lt"/>
                          <a:cs typeface="Calibri"/>
                        </a:rPr>
                        <a:t>cap</a:t>
                      </a:r>
                      <a:r>
                        <a:rPr lang="en-US" sz="1100" b="1" spc="-35">
                          <a:latin typeface="+mj-lt"/>
                          <a:cs typeface="Calibri"/>
                        </a:rPr>
                        <a:t> </a:t>
                      </a:r>
                      <a:r>
                        <a:rPr lang="en-US" sz="1100" b="1" spc="-20">
                          <a:latin typeface="+mj-lt"/>
                          <a:cs typeface="Calibri"/>
                        </a:rPr>
                        <a:t>(HK$ </a:t>
                      </a:r>
                      <a:r>
                        <a:rPr lang="en-US" sz="1100" b="1" spc="-10">
                          <a:latin typeface="+mj-lt"/>
                          <a:cs typeface="Calibri"/>
                        </a:rPr>
                        <a:t>million)</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a:lnSpc>
                          <a:spcPts val="1305"/>
                        </a:lnSpc>
                      </a:pPr>
                      <a:r>
                        <a:rPr lang="en-US" sz="1100" spc="-25">
                          <a:latin typeface="+mj-lt"/>
                          <a:cs typeface="Calibri"/>
                        </a:rPr>
                        <a:t>500</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a:lnSpc>
                          <a:spcPts val="1305"/>
                        </a:lnSpc>
                      </a:pPr>
                      <a:r>
                        <a:rPr lang="en-US" sz="1100" spc="-25">
                          <a:latin typeface="+mj-lt"/>
                          <a:cs typeface="Calibri"/>
                        </a:rPr>
                        <a:t>N/A</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a:lnSpc>
                          <a:spcPts val="1305"/>
                        </a:lnSpc>
                      </a:pPr>
                      <a:r>
                        <a:rPr lang="en-US" sz="1100" spc="-25">
                          <a:latin typeface="+mj-lt"/>
                          <a:cs typeface="Calibri"/>
                        </a:rPr>
                        <a:t>N/A</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a:lnSpc>
                          <a:spcPts val="1305"/>
                        </a:lnSpc>
                      </a:pPr>
                      <a:r>
                        <a:rPr lang="en-US" sz="1100" spc="-25">
                          <a:latin typeface="+mj-lt"/>
                          <a:cs typeface="Calibri"/>
                        </a:rPr>
                        <a:t>780</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9"/>
                  </a:ext>
                </a:extLst>
              </a:tr>
              <a:tr h="655499">
                <a:tc>
                  <a:txBody>
                    <a:bodyPr/>
                    <a:lstStyle/>
                    <a:p>
                      <a:pPr marL="2540">
                        <a:lnSpc>
                          <a:spcPts val="1310"/>
                        </a:lnSpc>
                      </a:pPr>
                      <a:r>
                        <a:rPr lang="en-US" sz="1100" b="1">
                          <a:latin typeface="+mj-lt"/>
                          <a:cs typeface="Calibri"/>
                        </a:rPr>
                        <a:t>Target</a:t>
                      </a:r>
                      <a:r>
                        <a:rPr lang="en-US" sz="1100" b="1" spc="-30">
                          <a:latin typeface="+mj-lt"/>
                          <a:cs typeface="Calibri"/>
                        </a:rPr>
                        <a:t> </a:t>
                      </a:r>
                      <a:r>
                        <a:rPr lang="en-US" sz="1100" b="1" spc="-10">
                          <a:latin typeface="+mj-lt"/>
                          <a:cs typeface="Calibri"/>
                        </a:rPr>
                        <a:t>yield</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marR="159385">
                        <a:lnSpc>
                          <a:spcPts val="1320"/>
                        </a:lnSpc>
                        <a:spcBef>
                          <a:spcPts val="30"/>
                        </a:spcBef>
                      </a:pPr>
                      <a:r>
                        <a:rPr lang="en-US" sz="1100">
                          <a:latin typeface="+mj-lt"/>
                          <a:cs typeface="Calibri"/>
                        </a:rPr>
                        <a:t>Disclosure</a:t>
                      </a:r>
                      <a:r>
                        <a:rPr lang="en-US" sz="1100" spc="-65">
                          <a:latin typeface="+mj-lt"/>
                          <a:cs typeface="Calibri"/>
                        </a:rPr>
                        <a:t> </a:t>
                      </a:r>
                      <a:r>
                        <a:rPr lang="en-US" sz="1100" spc="-25">
                          <a:latin typeface="+mj-lt"/>
                          <a:cs typeface="Calibri"/>
                        </a:rPr>
                        <a:t>of </a:t>
                      </a:r>
                      <a:r>
                        <a:rPr lang="en-US" sz="1100">
                          <a:latin typeface="+mj-lt"/>
                          <a:cs typeface="Calibri"/>
                        </a:rPr>
                        <a:t>dividend</a:t>
                      </a:r>
                      <a:r>
                        <a:rPr lang="en-US" sz="1100" spc="-60">
                          <a:latin typeface="+mj-lt"/>
                          <a:cs typeface="Calibri"/>
                        </a:rPr>
                        <a:t> </a:t>
                      </a:r>
                      <a:r>
                        <a:rPr lang="en-US" sz="1100" spc="-10">
                          <a:latin typeface="+mj-lt"/>
                          <a:cs typeface="Calibri"/>
                        </a:rPr>
                        <a:t>policy</a:t>
                      </a:r>
                      <a:endParaRPr lang="en-US" sz="1100">
                        <a:latin typeface="+mj-lt"/>
                        <a:cs typeface="Calibri"/>
                      </a:endParaRPr>
                    </a:p>
                  </a:txBody>
                  <a:tcPr marL="0" marR="0" marT="381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marR="149225">
                        <a:lnSpc>
                          <a:spcPts val="1320"/>
                        </a:lnSpc>
                        <a:spcBef>
                          <a:spcPts val="30"/>
                        </a:spcBef>
                      </a:pPr>
                      <a:r>
                        <a:rPr lang="en-US" sz="1100">
                          <a:latin typeface="+mj-lt"/>
                          <a:cs typeface="Calibri"/>
                        </a:rPr>
                        <a:t>Forecast</a:t>
                      </a:r>
                      <a:r>
                        <a:rPr lang="en-US" sz="1100" spc="-55">
                          <a:latin typeface="+mj-lt"/>
                          <a:cs typeface="Calibri"/>
                        </a:rPr>
                        <a:t> </a:t>
                      </a:r>
                      <a:r>
                        <a:rPr lang="en-US" sz="1100">
                          <a:latin typeface="+mj-lt"/>
                          <a:cs typeface="Calibri"/>
                        </a:rPr>
                        <a:t>yield</a:t>
                      </a:r>
                      <a:r>
                        <a:rPr lang="en-US" sz="1100" spc="-25">
                          <a:latin typeface="+mj-lt"/>
                          <a:cs typeface="Calibri"/>
                        </a:rPr>
                        <a:t> of </a:t>
                      </a:r>
                      <a:r>
                        <a:rPr lang="en-US" sz="1100" spc="-10">
                          <a:latin typeface="+mj-lt"/>
                          <a:cs typeface="Calibri"/>
                        </a:rPr>
                        <a:t>portfolio</a:t>
                      </a:r>
                      <a:endParaRPr lang="en-US" sz="1100">
                        <a:latin typeface="+mj-lt"/>
                        <a:cs typeface="Calibri"/>
                      </a:endParaRPr>
                    </a:p>
                  </a:txBody>
                  <a:tcPr marL="0" marR="0" marT="381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marR="278765">
                        <a:lnSpc>
                          <a:spcPts val="1320"/>
                        </a:lnSpc>
                        <a:spcBef>
                          <a:spcPts val="30"/>
                        </a:spcBef>
                      </a:pPr>
                      <a:r>
                        <a:rPr lang="en-US" sz="1100">
                          <a:latin typeface="+mj-lt"/>
                          <a:cs typeface="Calibri"/>
                        </a:rPr>
                        <a:t>Disclosure</a:t>
                      </a:r>
                      <a:r>
                        <a:rPr lang="en-US" sz="1100" spc="-65">
                          <a:latin typeface="+mj-lt"/>
                          <a:cs typeface="Calibri"/>
                        </a:rPr>
                        <a:t> </a:t>
                      </a:r>
                      <a:r>
                        <a:rPr lang="en-US" sz="1100" spc="-25">
                          <a:latin typeface="+mj-lt"/>
                          <a:cs typeface="Calibri"/>
                        </a:rPr>
                        <a:t>of </a:t>
                      </a:r>
                      <a:r>
                        <a:rPr lang="en-US" sz="1100">
                          <a:latin typeface="+mj-lt"/>
                          <a:cs typeface="Calibri"/>
                        </a:rPr>
                        <a:t>dividend</a:t>
                      </a:r>
                      <a:r>
                        <a:rPr lang="en-US" sz="1100" spc="-60">
                          <a:latin typeface="+mj-lt"/>
                          <a:cs typeface="Calibri"/>
                        </a:rPr>
                        <a:t> </a:t>
                      </a:r>
                      <a:r>
                        <a:rPr lang="en-US" sz="1100" spc="-10">
                          <a:latin typeface="+mj-lt"/>
                          <a:cs typeface="Calibri"/>
                        </a:rPr>
                        <a:t>policy</a:t>
                      </a:r>
                      <a:endParaRPr lang="en-US" sz="1100">
                        <a:latin typeface="+mj-lt"/>
                        <a:cs typeface="Calibri"/>
                      </a:endParaRPr>
                    </a:p>
                  </a:txBody>
                  <a:tcPr marL="0" marR="0" marT="381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marR="151130">
                        <a:lnSpc>
                          <a:spcPts val="1320"/>
                        </a:lnSpc>
                      </a:pPr>
                      <a:r>
                        <a:rPr lang="en-US" sz="1100">
                          <a:latin typeface="+mj-lt"/>
                          <a:cs typeface="Calibri"/>
                        </a:rPr>
                        <a:t>Disclosure</a:t>
                      </a:r>
                      <a:r>
                        <a:rPr lang="en-US" sz="1100" spc="-45">
                          <a:latin typeface="+mj-lt"/>
                          <a:cs typeface="Calibri"/>
                        </a:rPr>
                        <a:t> </a:t>
                      </a:r>
                      <a:r>
                        <a:rPr lang="en-US" sz="1100">
                          <a:latin typeface="+mj-lt"/>
                          <a:cs typeface="Calibri"/>
                        </a:rPr>
                        <a:t>of</a:t>
                      </a:r>
                      <a:r>
                        <a:rPr lang="en-US" sz="1100" spc="-20">
                          <a:latin typeface="+mj-lt"/>
                          <a:cs typeface="Calibri"/>
                        </a:rPr>
                        <a:t> </a:t>
                      </a:r>
                      <a:r>
                        <a:rPr lang="en-US" sz="1100" spc="-10">
                          <a:latin typeface="+mj-lt"/>
                          <a:cs typeface="Calibri"/>
                        </a:rPr>
                        <a:t>dividend </a:t>
                      </a:r>
                      <a:r>
                        <a:rPr lang="en-US" sz="1100">
                          <a:latin typeface="+mj-lt"/>
                          <a:cs typeface="Calibri"/>
                        </a:rPr>
                        <a:t>policy</a:t>
                      </a:r>
                      <a:r>
                        <a:rPr lang="en-US" sz="1100" spc="-20">
                          <a:latin typeface="+mj-lt"/>
                          <a:cs typeface="Calibri"/>
                        </a:rPr>
                        <a:t> </a:t>
                      </a:r>
                      <a:r>
                        <a:rPr lang="en-US" sz="1100">
                          <a:latin typeface="+mj-lt"/>
                          <a:cs typeface="Calibri"/>
                        </a:rPr>
                        <a:t>-</a:t>
                      </a:r>
                      <a:r>
                        <a:rPr lang="en-US" sz="1100" spc="-15">
                          <a:latin typeface="+mj-lt"/>
                          <a:cs typeface="Calibri"/>
                        </a:rPr>
                        <a:t> </a:t>
                      </a:r>
                      <a:r>
                        <a:rPr lang="en-US" sz="1100">
                          <a:latin typeface="+mj-lt"/>
                          <a:cs typeface="Calibri"/>
                        </a:rPr>
                        <a:t>no </a:t>
                      </a:r>
                      <a:r>
                        <a:rPr lang="en-US" sz="1100" spc="-10">
                          <a:latin typeface="+mj-lt"/>
                          <a:cs typeface="Calibri"/>
                        </a:rPr>
                        <a:t>structural decumulation</a:t>
                      </a:r>
                      <a:r>
                        <a:rPr lang="en-US" sz="1100" spc="-5">
                          <a:latin typeface="+mj-lt"/>
                          <a:cs typeface="Calibri"/>
                        </a:rPr>
                        <a:t> </a:t>
                      </a:r>
                      <a:r>
                        <a:rPr lang="en-US" sz="1100">
                          <a:latin typeface="+mj-lt"/>
                          <a:cs typeface="Calibri"/>
                        </a:rPr>
                        <a:t>of</a:t>
                      </a:r>
                      <a:r>
                        <a:rPr lang="en-US" sz="1100" spc="50">
                          <a:latin typeface="+mj-lt"/>
                          <a:cs typeface="Calibri"/>
                        </a:rPr>
                        <a:t> </a:t>
                      </a:r>
                      <a:r>
                        <a:rPr lang="en-US" sz="1100" spc="-10">
                          <a:latin typeface="+mj-lt"/>
                          <a:cs typeface="Calibri"/>
                        </a:rPr>
                        <a:t>capital</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10"/>
                  </a:ext>
                </a:extLst>
              </a:tr>
            </a:tbl>
          </a:graphicData>
        </a:graphic>
      </p:graphicFrame>
      <p:sp>
        <p:nvSpPr>
          <p:cNvPr id="3" name="Slide Number Placeholder 1">
            <a:extLst>
              <a:ext uri="{FF2B5EF4-FFF2-40B4-BE49-F238E27FC236}">
                <a16:creationId xmlns:a16="http://schemas.microsoft.com/office/drawing/2014/main" id="{2841384A-18B6-9020-DCB3-B8979A4C3BE0}"/>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latin typeface="+mj-lt"/>
              </a:rPr>
              <a:pPr>
                <a:defRPr/>
              </a:pPr>
              <a:t>21</a:t>
            </a:fld>
            <a:endParaRPr lang="en-US">
              <a:latin typeface="+mj-lt"/>
            </a:endParaRPr>
          </a:p>
        </p:txBody>
      </p:sp>
      <p:sp>
        <p:nvSpPr>
          <p:cNvPr id="5" name="TextBox 4">
            <a:extLst>
              <a:ext uri="{FF2B5EF4-FFF2-40B4-BE49-F238E27FC236}">
                <a16:creationId xmlns:a16="http://schemas.microsoft.com/office/drawing/2014/main" id="{56CD10B4-12B3-A534-684E-3C36820E5869}"/>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a:solidFill>
                  <a:schemeClr val="tx1"/>
                </a:solidFill>
              </a:rPr>
              <a:t>HK team updated</a:t>
            </a:r>
            <a:endParaRPr lang="en-GB" sz="140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456A3E5-E70B-2561-1040-CC5D3FE91776}"/>
              </a:ext>
            </a:extLst>
          </p:cNvPr>
          <p:cNvSpPr>
            <a:spLocks noGrp="1"/>
          </p:cNvSpPr>
          <p:nvPr>
            <p:ph type="title"/>
          </p:nvPr>
        </p:nvSpPr>
        <p:spPr/>
        <p:txBody>
          <a:bodyPr/>
          <a:lstStyle/>
          <a:p>
            <a:r>
              <a:rPr lang="en-GB"/>
              <a:t>Comparison of Listing Vehicle (Cont’d)</a:t>
            </a:r>
          </a:p>
        </p:txBody>
      </p:sp>
      <p:sp>
        <p:nvSpPr>
          <p:cNvPr id="11" name="Text Placeholder 10">
            <a:extLst>
              <a:ext uri="{FF2B5EF4-FFF2-40B4-BE49-F238E27FC236}">
                <a16:creationId xmlns:a16="http://schemas.microsoft.com/office/drawing/2014/main" id="{C93858F3-3AAE-CB41-B288-CA22257D6374}"/>
              </a:ext>
            </a:extLst>
          </p:cNvPr>
          <p:cNvSpPr>
            <a:spLocks noGrp="1"/>
          </p:cNvSpPr>
          <p:nvPr>
            <p:ph type="body" sz="quarter" idx="46"/>
          </p:nvPr>
        </p:nvSpPr>
        <p:spPr/>
        <p:txBody>
          <a:bodyPr/>
          <a:lstStyle/>
          <a:p>
            <a:endParaRPr lang="en-GB"/>
          </a:p>
        </p:txBody>
      </p:sp>
      <p:sp>
        <p:nvSpPr>
          <p:cNvPr id="6" name="object 6"/>
          <p:cNvSpPr txBox="1"/>
          <p:nvPr/>
        </p:nvSpPr>
        <p:spPr>
          <a:xfrm>
            <a:off x="9189466" y="6455689"/>
            <a:ext cx="77470" cy="115416"/>
          </a:xfrm>
          <a:prstGeom prst="rect">
            <a:avLst/>
          </a:prstGeom>
        </p:spPr>
        <p:txBody>
          <a:bodyPr vert="horz" wrap="square" lIns="0" tIns="0" rIns="0" bIns="0" rtlCol="0">
            <a:spAutoFit/>
          </a:bodyPr>
          <a:lstStyle/>
          <a:p>
            <a:pPr marL="12700">
              <a:lnSpc>
                <a:spcPts val="865"/>
              </a:lnSpc>
            </a:pPr>
            <a:r>
              <a:rPr sz="800" spc="-50">
                <a:latin typeface="Calibri"/>
                <a:cs typeface="Calibri"/>
              </a:rPr>
              <a:t>1</a:t>
            </a:r>
            <a:endParaRPr sz="800">
              <a:latin typeface="Calibri"/>
              <a:cs typeface="Calibri"/>
            </a:endParaRPr>
          </a:p>
        </p:txBody>
      </p:sp>
      <p:graphicFrame>
        <p:nvGraphicFramePr>
          <p:cNvPr id="4" name="object 4"/>
          <p:cNvGraphicFramePr>
            <a:graphicFrameLocks noGrp="1"/>
          </p:cNvGraphicFramePr>
          <p:nvPr>
            <p:extLst>
              <p:ext uri="{D42A27DB-BD31-4B8C-83A1-F6EECF244321}">
                <p14:modId xmlns:p14="http://schemas.microsoft.com/office/powerpoint/2010/main" val="309032615"/>
              </p:ext>
            </p:extLst>
          </p:nvPr>
        </p:nvGraphicFramePr>
        <p:xfrm>
          <a:off x="453000" y="1153922"/>
          <a:ext cx="9000000" cy="4630066"/>
        </p:xfrm>
        <a:graphic>
          <a:graphicData uri="http://schemas.openxmlformats.org/drawingml/2006/table">
            <a:tbl>
              <a:tblPr firstRow="1" bandRow="1">
                <a:tableStyleId>{2D5ABB26-0587-4C30-8999-92F81FD0307C}</a:tableStyleId>
              </a:tblPr>
              <a:tblGrid>
                <a:gridCol w="1701815">
                  <a:extLst>
                    <a:ext uri="{9D8B030D-6E8A-4147-A177-3AD203B41FA5}">
                      <a16:colId xmlns:a16="http://schemas.microsoft.com/office/drawing/2014/main" val="20000"/>
                    </a:ext>
                  </a:extLst>
                </a:gridCol>
                <a:gridCol w="1628125">
                  <a:extLst>
                    <a:ext uri="{9D8B030D-6E8A-4147-A177-3AD203B41FA5}">
                      <a16:colId xmlns:a16="http://schemas.microsoft.com/office/drawing/2014/main" val="20001"/>
                    </a:ext>
                  </a:extLst>
                </a:gridCol>
                <a:gridCol w="1484967">
                  <a:extLst>
                    <a:ext uri="{9D8B030D-6E8A-4147-A177-3AD203B41FA5}">
                      <a16:colId xmlns:a16="http://schemas.microsoft.com/office/drawing/2014/main" val="20002"/>
                    </a:ext>
                  </a:extLst>
                </a:gridCol>
                <a:gridCol w="1999871">
                  <a:extLst>
                    <a:ext uri="{9D8B030D-6E8A-4147-A177-3AD203B41FA5}">
                      <a16:colId xmlns:a16="http://schemas.microsoft.com/office/drawing/2014/main" val="20003"/>
                    </a:ext>
                  </a:extLst>
                </a:gridCol>
                <a:gridCol w="2185222">
                  <a:extLst>
                    <a:ext uri="{9D8B030D-6E8A-4147-A177-3AD203B41FA5}">
                      <a16:colId xmlns:a16="http://schemas.microsoft.com/office/drawing/2014/main" val="20004"/>
                    </a:ext>
                  </a:extLst>
                </a:gridCol>
              </a:tblGrid>
              <a:tr h="49154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000" b="1" u="sng" spc="-10">
                          <a:uFill>
                            <a:solidFill>
                              <a:srgbClr val="000000"/>
                            </a:solidFill>
                          </a:uFill>
                          <a:latin typeface="+mj-lt"/>
                          <a:cs typeface="Calibri"/>
                        </a:rPr>
                        <a:t>Professional</a:t>
                      </a:r>
                      <a:r>
                        <a:rPr lang="en-GB" sz="1000" b="1" spc="-10">
                          <a:latin typeface="+mj-lt"/>
                          <a:cs typeface="Calibri"/>
                        </a:rPr>
                        <a:t> </a:t>
                      </a:r>
                      <a:r>
                        <a:rPr lang="en-GB" sz="1000" b="1" u="sng">
                          <a:uFill>
                            <a:solidFill>
                              <a:srgbClr val="000000"/>
                            </a:solidFill>
                          </a:uFill>
                          <a:latin typeface="+mj-lt"/>
                          <a:cs typeface="Calibri"/>
                        </a:rPr>
                        <a:t>Parties</a:t>
                      </a:r>
                      <a:r>
                        <a:rPr lang="en-GB" sz="1000" b="1" u="sng" spc="-35">
                          <a:uFill>
                            <a:solidFill>
                              <a:srgbClr val="000000"/>
                            </a:solidFill>
                          </a:uFill>
                          <a:latin typeface="+mj-lt"/>
                          <a:cs typeface="Calibri"/>
                        </a:rPr>
                        <a:t> </a:t>
                      </a:r>
                      <a:r>
                        <a:rPr lang="en-GB" sz="1000" b="1" u="sng" spc="-10">
                          <a:uFill>
                            <a:solidFill>
                              <a:srgbClr val="000000"/>
                            </a:solidFill>
                          </a:uFill>
                          <a:latin typeface="+mj-lt"/>
                          <a:cs typeface="Calibri"/>
                        </a:rPr>
                        <a:t>involved</a:t>
                      </a:r>
                      <a:endParaRPr lang="en-GB" sz="1000">
                        <a:latin typeface="+mj-lt"/>
                        <a:cs typeface="Calibri"/>
                      </a:endParaRPr>
                    </a:p>
                    <a:p>
                      <a:pPr>
                        <a:lnSpc>
                          <a:spcPct val="100000"/>
                        </a:lnSpc>
                      </a:pPr>
                      <a:endParaRPr lang="en-GB" sz="1000">
                        <a:latin typeface="+mj-lt"/>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tcPr>
                </a:tc>
                <a:tc>
                  <a:txBody>
                    <a:bodyPr/>
                    <a:lstStyle/>
                    <a:p>
                      <a:pPr marL="36000" indent="0" algn="ctr">
                        <a:lnSpc>
                          <a:spcPts val="1300"/>
                        </a:lnSpc>
                      </a:pPr>
                      <a:r>
                        <a:rPr lang="en-US" sz="1100" b="1" spc="-10">
                          <a:latin typeface="+mj-lt"/>
                          <a:cs typeface="Calibri"/>
                        </a:rPr>
                        <a:t>Company</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solidFill>
                      <a:srgbClr val="EFEFEF"/>
                    </a:solidFill>
                  </a:tcPr>
                </a:tc>
                <a:tc>
                  <a:txBody>
                    <a:bodyPr/>
                    <a:lstStyle/>
                    <a:p>
                      <a:pPr marL="36000" indent="0" algn="ctr">
                        <a:lnSpc>
                          <a:spcPts val="1300"/>
                        </a:lnSpc>
                      </a:pPr>
                      <a:r>
                        <a:rPr lang="en-US" sz="1100" b="1" spc="-10">
                          <a:solidFill>
                            <a:schemeClr val="tx1"/>
                          </a:solidFill>
                          <a:latin typeface="+mj-lt"/>
                          <a:ea typeface="+mn-ea"/>
                          <a:cs typeface="Calibri"/>
                        </a:rPr>
                        <a:t>REIT</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tcPr>
                </a:tc>
                <a:tc>
                  <a:txBody>
                    <a:bodyPr/>
                    <a:lstStyle/>
                    <a:p>
                      <a:pPr marL="36000" marR="219710" indent="0" algn="r" defTabSz="0" eaLnBrk="0" hangingPunct="0">
                        <a:lnSpc>
                          <a:spcPts val="1300"/>
                        </a:lnSpc>
                        <a:spcBef>
                          <a:spcPts val="0"/>
                        </a:spcBef>
                      </a:pPr>
                      <a:r>
                        <a:rPr lang="en-GB" sz="1100" b="1" spc="-10">
                          <a:solidFill>
                            <a:schemeClr val="tx1"/>
                          </a:solidFill>
                          <a:latin typeface="+mj-lt"/>
                          <a:ea typeface="+mn-ea"/>
                          <a:cs typeface="Calibri"/>
                        </a:rPr>
                        <a:t>Listed active / passive ETF</a:t>
                      </a: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solidFill>
                      <a:srgbClr val="EFEFEF"/>
                    </a:solidFill>
                  </a:tcPr>
                </a:tc>
                <a:tc>
                  <a:txBody>
                    <a:bodyPr/>
                    <a:lstStyle/>
                    <a:p>
                      <a:pPr marL="36000" marR="141605" indent="0" algn="ctr">
                        <a:lnSpc>
                          <a:spcPts val="1320"/>
                        </a:lnSpc>
                        <a:spcBef>
                          <a:spcPts val="25"/>
                        </a:spcBef>
                      </a:pPr>
                      <a:r>
                        <a:rPr lang="en-US" sz="1100" b="1" spc="-10">
                          <a:latin typeface="+mj-lt"/>
                          <a:cs typeface="Calibri"/>
                        </a:rPr>
                        <a:t>Alternative </a:t>
                      </a:r>
                      <a:r>
                        <a:rPr lang="en-US" sz="1100" b="1">
                          <a:latin typeface="+mj-lt"/>
                          <a:cs typeface="Calibri"/>
                        </a:rPr>
                        <a:t>Investment </a:t>
                      </a:r>
                      <a:r>
                        <a:rPr lang="en-US" sz="1100" b="1" spc="-20">
                          <a:latin typeface="+mj-lt"/>
                          <a:cs typeface="Calibri"/>
                        </a:rPr>
                        <a:t>Fund</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585646">
                <a:tc>
                  <a:txBody>
                    <a:bodyPr/>
                    <a:lstStyle/>
                    <a:p>
                      <a:pPr marL="2540" marR="338455">
                        <a:lnSpc>
                          <a:spcPts val="1320"/>
                        </a:lnSpc>
                        <a:spcBef>
                          <a:spcPts val="25"/>
                        </a:spcBef>
                      </a:pPr>
                      <a:r>
                        <a:rPr lang="en-US" sz="1100" b="1">
                          <a:latin typeface="+mj-lt"/>
                          <a:cs typeface="Calibri"/>
                        </a:rPr>
                        <a:t>Sponsor</a:t>
                      </a:r>
                      <a:r>
                        <a:rPr lang="en-US" sz="1100" b="1" spc="-40">
                          <a:latin typeface="+mj-lt"/>
                          <a:cs typeface="Calibri"/>
                        </a:rPr>
                        <a:t> </a:t>
                      </a:r>
                      <a:r>
                        <a:rPr lang="en-US" sz="1100" b="1" spc="-50">
                          <a:latin typeface="+mj-lt"/>
                          <a:cs typeface="Calibri"/>
                        </a:rPr>
                        <a:t>/</a:t>
                      </a:r>
                      <a:r>
                        <a:rPr lang="en-US" sz="1100" b="1">
                          <a:latin typeface="+mj-lt"/>
                          <a:cs typeface="Calibri"/>
                        </a:rPr>
                        <a:t> Listing</a:t>
                      </a:r>
                      <a:r>
                        <a:rPr lang="en-US" sz="1100" b="1" spc="-35">
                          <a:latin typeface="+mj-lt"/>
                          <a:cs typeface="Calibri"/>
                        </a:rPr>
                        <a:t> </a:t>
                      </a:r>
                      <a:r>
                        <a:rPr lang="en-US" sz="1100" b="1" spc="-10">
                          <a:latin typeface="+mj-lt"/>
                          <a:cs typeface="Calibri"/>
                        </a:rPr>
                        <a:t>agent</a:t>
                      </a:r>
                      <a:endParaRPr lang="en-US" sz="1100">
                        <a:latin typeface="+mj-lt"/>
                        <a:cs typeface="Calibri"/>
                      </a:endParaRPr>
                    </a:p>
                  </a:txBody>
                  <a:tcPr marL="0" marR="0" marT="3175"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0"/>
                        </a:lnSpc>
                      </a:pPr>
                      <a:r>
                        <a:rPr lang="en-US" sz="1100" spc="-10">
                          <a:latin typeface="+mj-lt"/>
                          <a:cs typeface="Calibri"/>
                        </a:rPr>
                        <a:t>Sponsor</a:t>
                      </a:r>
                      <a:endParaRPr lang="en-US" sz="1100">
                        <a:latin typeface="+mj-lt"/>
                        <a:cs typeface="Calibri"/>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a:solidFill>
                        <a:srgbClr val="B1B1B1"/>
                      </a:solidFill>
                      <a:prstDash val="solid"/>
                    </a:lnB>
                    <a:solidFill>
                      <a:srgbClr val="EFEFEF"/>
                    </a:solidFill>
                  </a:tcPr>
                </a:tc>
                <a:tc>
                  <a:txBody>
                    <a:bodyPr/>
                    <a:lstStyle/>
                    <a:p>
                      <a:pPr marL="36000" marR="178435" indent="0" algn="l">
                        <a:lnSpc>
                          <a:spcPts val="1320"/>
                        </a:lnSpc>
                      </a:pPr>
                      <a:r>
                        <a:rPr lang="en-US" sz="1100">
                          <a:latin typeface="+mj-lt"/>
                          <a:cs typeface="Calibri"/>
                        </a:rPr>
                        <a:t>Listing</a:t>
                      </a:r>
                      <a:r>
                        <a:rPr lang="en-US" sz="1100" spc="-45">
                          <a:latin typeface="+mj-lt"/>
                          <a:cs typeface="Calibri"/>
                        </a:rPr>
                        <a:t> </a:t>
                      </a:r>
                      <a:r>
                        <a:rPr lang="en-US" sz="1100" spc="-10">
                          <a:latin typeface="+mj-lt"/>
                          <a:cs typeface="Calibri"/>
                        </a:rPr>
                        <a:t>agent </a:t>
                      </a:r>
                      <a:r>
                        <a:rPr lang="en-US" sz="1100">
                          <a:latin typeface="+mj-lt"/>
                          <a:cs typeface="Calibri"/>
                        </a:rPr>
                        <a:t>(under</a:t>
                      </a:r>
                      <a:r>
                        <a:rPr lang="en-US" sz="1100" spc="-35">
                          <a:latin typeface="+mj-lt"/>
                          <a:cs typeface="Calibri"/>
                        </a:rPr>
                        <a:t> </a:t>
                      </a:r>
                      <a:r>
                        <a:rPr lang="en-US" sz="1100" spc="-10">
                          <a:latin typeface="+mj-lt"/>
                          <a:cs typeface="Calibri"/>
                        </a:rPr>
                        <a:t>sponsor regime)</a:t>
                      </a:r>
                      <a:endParaRPr lang="en-US" sz="1100">
                        <a:latin typeface="+mj-lt"/>
                        <a:cs typeface="Calibri"/>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a:solidFill>
                        <a:srgbClr val="B1B1B1"/>
                      </a:solidFill>
                      <a:prstDash val="solid"/>
                    </a:lnB>
                  </a:tcPr>
                </a:tc>
                <a:tc>
                  <a:txBody>
                    <a:bodyPr/>
                    <a:lstStyle/>
                    <a:p>
                      <a:pPr marL="36000" indent="0" algn="l">
                        <a:lnSpc>
                          <a:spcPts val="1300"/>
                        </a:lnSpc>
                      </a:pPr>
                      <a:r>
                        <a:rPr lang="en-US" sz="1100">
                          <a:latin typeface="+mj-lt"/>
                          <a:cs typeface="Calibri"/>
                        </a:rPr>
                        <a:t>Listing</a:t>
                      </a:r>
                      <a:r>
                        <a:rPr lang="en-US" sz="1100" spc="-45">
                          <a:latin typeface="+mj-lt"/>
                          <a:cs typeface="Calibri"/>
                        </a:rPr>
                        <a:t> </a:t>
                      </a:r>
                      <a:r>
                        <a:rPr lang="en-US" sz="1100" spc="-10">
                          <a:latin typeface="+mj-lt"/>
                          <a:cs typeface="Calibri"/>
                        </a:rPr>
                        <a:t>agent</a:t>
                      </a:r>
                      <a:endParaRPr lang="en-US" sz="1100">
                        <a:latin typeface="+mj-lt"/>
                        <a:cs typeface="Calibri"/>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a:solidFill>
                        <a:srgbClr val="B1B1B1"/>
                      </a:solidFill>
                      <a:prstDash val="solid"/>
                    </a:lnB>
                    <a:solidFill>
                      <a:srgbClr val="EFEFEF"/>
                    </a:solidFill>
                  </a:tcPr>
                </a:tc>
                <a:tc>
                  <a:txBody>
                    <a:bodyPr/>
                    <a:lstStyle/>
                    <a:p>
                      <a:pPr marL="36000" marR="62865" indent="0" algn="l">
                        <a:lnSpc>
                          <a:spcPts val="1320"/>
                        </a:lnSpc>
                      </a:pPr>
                      <a:r>
                        <a:rPr lang="en-US" sz="1100">
                          <a:latin typeface="+mj-lt"/>
                          <a:cs typeface="Calibri"/>
                        </a:rPr>
                        <a:t>Listing</a:t>
                      </a:r>
                      <a:r>
                        <a:rPr lang="en-US" sz="1100" spc="-45">
                          <a:latin typeface="+mj-lt"/>
                          <a:cs typeface="Calibri"/>
                        </a:rPr>
                        <a:t> </a:t>
                      </a:r>
                      <a:r>
                        <a:rPr lang="en-US" sz="1100">
                          <a:latin typeface="+mj-lt"/>
                          <a:cs typeface="Calibri"/>
                        </a:rPr>
                        <a:t>agent</a:t>
                      </a:r>
                      <a:r>
                        <a:rPr lang="en-US" sz="1100" spc="-15">
                          <a:latin typeface="+mj-lt"/>
                          <a:cs typeface="Calibri"/>
                        </a:rPr>
                        <a:t> </a:t>
                      </a:r>
                      <a:r>
                        <a:rPr lang="en-US" sz="1100">
                          <a:latin typeface="+mj-lt"/>
                          <a:cs typeface="Calibri"/>
                        </a:rPr>
                        <a:t>(SFC</a:t>
                      </a:r>
                      <a:r>
                        <a:rPr lang="en-US" sz="1100" spc="-15">
                          <a:latin typeface="+mj-lt"/>
                          <a:cs typeface="Calibri"/>
                        </a:rPr>
                        <a:t> </a:t>
                      </a:r>
                      <a:r>
                        <a:rPr lang="en-US" sz="1100" spc="-25">
                          <a:latin typeface="+mj-lt"/>
                          <a:cs typeface="Calibri"/>
                        </a:rPr>
                        <a:t>has </a:t>
                      </a:r>
                      <a:r>
                        <a:rPr lang="en-US" sz="1100" spc="-10">
                          <a:latin typeface="+mj-lt"/>
                          <a:cs typeface="Calibri"/>
                        </a:rPr>
                        <a:t>discretion </a:t>
                      </a:r>
                      <a:r>
                        <a:rPr lang="en-US" sz="1100">
                          <a:latin typeface="+mj-lt"/>
                          <a:cs typeface="Calibri"/>
                        </a:rPr>
                        <a:t>to</a:t>
                      </a:r>
                      <a:r>
                        <a:rPr lang="en-US" sz="1100" spc="10">
                          <a:latin typeface="+mj-lt"/>
                          <a:cs typeface="Calibri"/>
                        </a:rPr>
                        <a:t> </a:t>
                      </a:r>
                      <a:r>
                        <a:rPr lang="en-US" sz="1100" spc="-10">
                          <a:latin typeface="+mj-lt"/>
                          <a:cs typeface="Calibri"/>
                        </a:rPr>
                        <a:t>apply </a:t>
                      </a:r>
                      <a:r>
                        <a:rPr lang="en-US" sz="1100">
                          <a:latin typeface="+mj-lt"/>
                          <a:cs typeface="Calibri"/>
                        </a:rPr>
                        <a:t>sponsor</a:t>
                      </a:r>
                      <a:r>
                        <a:rPr lang="en-US" sz="1100" spc="-35">
                          <a:latin typeface="+mj-lt"/>
                          <a:cs typeface="Calibri"/>
                        </a:rPr>
                        <a:t> </a:t>
                      </a:r>
                      <a:r>
                        <a:rPr lang="en-US" sz="1100" spc="-10">
                          <a:latin typeface="+mj-lt"/>
                          <a:cs typeface="Calibri"/>
                        </a:rPr>
                        <a:t>regime)</a:t>
                      </a:r>
                      <a:endParaRPr lang="en-US" sz="1100">
                        <a:latin typeface="+mj-lt"/>
                        <a:cs typeface="Calibri"/>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6350">
                      <a:solidFill>
                        <a:srgbClr val="B1B1B1"/>
                      </a:solidFill>
                      <a:prstDash val="solid"/>
                    </a:lnB>
                  </a:tcPr>
                </a:tc>
                <a:extLst>
                  <a:ext uri="{0D108BD9-81ED-4DB2-BD59-A6C34878D82A}">
                    <a16:rowId xmlns:a16="http://schemas.microsoft.com/office/drawing/2014/main" val="10003"/>
                  </a:ext>
                </a:extLst>
              </a:tr>
              <a:tr h="214836">
                <a:tc>
                  <a:txBody>
                    <a:bodyPr/>
                    <a:lstStyle/>
                    <a:p>
                      <a:pPr marL="2540">
                        <a:lnSpc>
                          <a:spcPts val="1300"/>
                        </a:lnSpc>
                      </a:pPr>
                      <a:r>
                        <a:rPr lang="en-US" sz="1100" b="1" spc="-10">
                          <a:latin typeface="+mj-lt"/>
                          <a:cs typeface="Calibri"/>
                        </a:rPr>
                        <a:t>Manager</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0"/>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0"/>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0"/>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0"/>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4"/>
                  </a:ext>
                </a:extLst>
              </a:tr>
              <a:tr h="425256">
                <a:tc>
                  <a:txBody>
                    <a:bodyPr/>
                    <a:lstStyle/>
                    <a:p>
                      <a:pPr marL="2540" marR="412115">
                        <a:lnSpc>
                          <a:spcPts val="1320"/>
                        </a:lnSpc>
                        <a:spcBef>
                          <a:spcPts val="25"/>
                        </a:spcBef>
                      </a:pPr>
                      <a:r>
                        <a:rPr lang="en-US" sz="1100" b="1" spc="-10">
                          <a:latin typeface="+mj-lt"/>
                          <a:cs typeface="Calibri"/>
                        </a:rPr>
                        <a:t>Investment Adviser</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10">
                          <a:latin typeface="+mj-lt"/>
                          <a:cs typeface="Calibri"/>
                        </a:rPr>
                        <a:t>Optional</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5"/>
                        </a:lnSpc>
                      </a:pPr>
                      <a:r>
                        <a:rPr lang="en-US" sz="1100" spc="-10">
                          <a:latin typeface="+mj-lt"/>
                          <a:cs typeface="Calibri"/>
                        </a:rPr>
                        <a:t>Optional</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10">
                          <a:latin typeface="+mj-lt"/>
                          <a:cs typeface="Calibri"/>
                        </a:rPr>
                        <a:t>Optional</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5"/>
                  </a:ext>
                </a:extLst>
              </a:tr>
              <a:tr h="214836">
                <a:tc>
                  <a:txBody>
                    <a:bodyPr/>
                    <a:lstStyle/>
                    <a:p>
                      <a:pPr marL="2540">
                        <a:lnSpc>
                          <a:spcPts val="1305"/>
                        </a:lnSpc>
                      </a:pPr>
                      <a:r>
                        <a:rPr lang="en-US" sz="1100" b="1" spc="-10">
                          <a:latin typeface="+mj-lt"/>
                          <a:cs typeface="Calibri"/>
                        </a:rPr>
                        <a:t>Registrar</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6"/>
                  </a:ext>
                </a:extLst>
              </a:tr>
              <a:tr h="391413">
                <a:tc>
                  <a:txBody>
                    <a:bodyPr/>
                    <a:lstStyle/>
                    <a:p>
                      <a:pPr marL="2540">
                        <a:lnSpc>
                          <a:spcPts val="1305"/>
                        </a:lnSpc>
                      </a:pPr>
                      <a:r>
                        <a:rPr lang="en-US" sz="1100" b="1" spc="-10">
                          <a:latin typeface="+mj-lt"/>
                          <a:cs typeface="Calibri"/>
                        </a:rPr>
                        <a:t>Auditor</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7"/>
                  </a:ext>
                </a:extLst>
              </a:tr>
              <a:tr h="425256">
                <a:tc>
                  <a:txBody>
                    <a:bodyPr/>
                    <a:lstStyle/>
                    <a:p>
                      <a:pPr marL="2540" marR="401320">
                        <a:lnSpc>
                          <a:spcPts val="1320"/>
                        </a:lnSpc>
                        <a:spcBef>
                          <a:spcPts val="25"/>
                        </a:spcBef>
                      </a:pPr>
                      <a:r>
                        <a:rPr lang="en-US" sz="1100" b="1">
                          <a:latin typeface="+mj-lt"/>
                          <a:cs typeface="Calibri"/>
                        </a:rPr>
                        <a:t>Custodian</a:t>
                      </a:r>
                      <a:r>
                        <a:rPr lang="en-US" sz="1100" b="1" spc="-55">
                          <a:latin typeface="+mj-lt"/>
                          <a:cs typeface="Calibri"/>
                        </a:rPr>
                        <a:t> </a:t>
                      </a:r>
                      <a:r>
                        <a:rPr lang="en-US" sz="1100" b="1" spc="-50">
                          <a:latin typeface="+mj-lt"/>
                          <a:cs typeface="Calibri"/>
                        </a:rPr>
                        <a:t>/</a:t>
                      </a:r>
                      <a:r>
                        <a:rPr lang="en-US" sz="1100" b="1" spc="-10">
                          <a:latin typeface="+mj-lt"/>
                          <a:cs typeface="Calibri"/>
                        </a:rPr>
                        <a:t> Trustee</a:t>
                      </a:r>
                      <a:endParaRPr lang="en-US" sz="1100">
                        <a:latin typeface="+mj-lt"/>
                        <a:cs typeface="Calibri"/>
                      </a:endParaRPr>
                    </a:p>
                  </a:txBody>
                  <a:tcPr marL="0" marR="0" marT="3175"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8"/>
                  </a:ext>
                </a:extLst>
              </a:tr>
              <a:tr h="214836">
                <a:tc>
                  <a:txBody>
                    <a:bodyPr/>
                    <a:lstStyle/>
                    <a:p>
                      <a:pPr marL="2540">
                        <a:lnSpc>
                          <a:spcPts val="1305"/>
                        </a:lnSpc>
                      </a:pPr>
                      <a:r>
                        <a:rPr lang="en-US" sz="1100" b="1">
                          <a:latin typeface="+mj-lt"/>
                          <a:cs typeface="Calibri"/>
                        </a:rPr>
                        <a:t>Receiving</a:t>
                      </a:r>
                      <a:r>
                        <a:rPr lang="en-US" sz="1100" b="1" spc="-60">
                          <a:latin typeface="+mj-lt"/>
                          <a:cs typeface="Calibri"/>
                        </a:rPr>
                        <a:t> </a:t>
                      </a:r>
                      <a:r>
                        <a:rPr lang="en-US" sz="1100" b="1" spc="-20">
                          <a:latin typeface="+mj-lt"/>
                          <a:cs typeface="Calibri"/>
                        </a:rPr>
                        <a:t>Bank</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09"/>
                  </a:ext>
                </a:extLst>
              </a:tr>
              <a:tr h="391413">
                <a:tc>
                  <a:txBody>
                    <a:bodyPr/>
                    <a:lstStyle/>
                    <a:p>
                      <a:pPr marL="2540" marR="257810">
                        <a:lnSpc>
                          <a:spcPts val="1320"/>
                        </a:lnSpc>
                      </a:pPr>
                      <a:r>
                        <a:rPr lang="en-US" sz="1100" b="1" spc="-20">
                          <a:latin typeface="+mj-lt"/>
                          <a:cs typeface="Calibri"/>
                        </a:rPr>
                        <a:t>Fund </a:t>
                      </a:r>
                      <a:r>
                        <a:rPr lang="en-US" sz="1100" b="1" spc="-10">
                          <a:latin typeface="+mj-lt"/>
                          <a:cs typeface="Calibri"/>
                        </a:rPr>
                        <a:t>Administrator</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10"/>
                  </a:ext>
                </a:extLst>
              </a:tr>
              <a:tr h="634942">
                <a:tc>
                  <a:txBody>
                    <a:bodyPr/>
                    <a:lstStyle/>
                    <a:p>
                      <a:pPr marL="2540" marR="47625">
                        <a:lnSpc>
                          <a:spcPts val="1320"/>
                        </a:lnSpc>
                        <a:spcBef>
                          <a:spcPts val="30"/>
                        </a:spcBef>
                      </a:pPr>
                      <a:r>
                        <a:rPr lang="en-US" sz="1100" b="1">
                          <a:latin typeface="+mj-lt"/>
                          <a:cs typeface="Calibri"/>
                        </a:rPr>
                        <a:t>Service</a:t>
                      </a:r>
                      <a:r>
                        <a:rPr lang="en-US" sz="1100" b="1" spc="-30">
                          <a:latin typeface="+mj-lt"/>
                          <a:cs typeface="Calibri"/>
                        </a:rPr>
                        <a:t> </a:t>
                      </a:r>
                      <a:r>
                        <a:rPr lang="en-US" sz="1100" b="1">
                          <a:latin typeface="+mj-lt"/>
                          <a:cs typeface="Calibri"/>
                        </a:rPr>
                        <a:t>Agent</a:t>
                      </a:r>
                      <a:r>
                        <a:rPr lang="en-US" sz="1100" b="1" spc="-25">
                          <a:latin typeface="+mj-lt"/>
                          <a:cs typeface="Calibri"/>
                        </a:rPr>
                        <a:t> </a:t>
                      </a:r>
                      <a:r>
                        <a:rPr lang="en-US" sz="1100" b="1" spc="-50">
                          <a:latin typeface="+mj-lt"/>
                          <a:cs typeface="Calibri"/>
                        </a:rPr>
                        <a:t>/</a:t>
                      </a:r>
                      <a:r>
                        <a:rPr lang="en-US" sz="1100" b="1">
                          <a:latin typeface="+mj-lt"/>
                          <a:cs typeface="Calibri"/>
                        </a:rPr>
                        <a:t> Conversion</a:t>
                      </a:r>
                      <a:r>
                        <a:rPr lang="en-US" sz="1100" b="1" spc="-55">
                          <a:latin typeface="+mj-lt"/>
                          <a:cs typeface="Calibri"/>
                        </a:rPr>
                        <a:t> </a:t>
                      </a:r>
                      <a:r>
                        <a:rPr lang="en-US" sz="1100" b="1" spc="-20">
                          <a:latin typeface="+mj-lt"/>
                          <a:cs typeface="Calibri"/>
                        </a:rPr>
                        <a:t>Agent</a:t>
                      </a:r>
                      <a:endParaRPr lang="en-US" sz="1100">
                        <a:latin typeface="+mj-lt"/>
                        <a:cs typeface="Calibri"/>
                      </a:endParaRPr>
                    </a:p>
                  </a:txBody>
                  <a:tcPr marL="0" marR="0" marT="381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marR="64135" indent="0" algn="l">
                        <a:lnSpc>
                          <a:spcPts val="1320"/>
                        </a:lnSpc>
                        <a:spcBef>
                          <a:spcPts val="30"/>
                        </a:spcBef>
                      </a:pPr>
                      <a:r>
                        <a:rPr lang="en-US" sz="1100">
                          <a:latin typeface="+mj-lt"/>
                          <a:cs typeface="Calibri"/>
                        </a:rPr>
                        <a:t>No</a:t>
                      </a:r>
                      <a:r>
                        <a:rPr lang="en-US" sz="1100" spc="-15">
                          <a:latin typeface="+mj-lt"/>
                          <a:cs typeface="Calibri"/>
                        </a:rPr>
                        <a:t> </a:t>
                      </a:r>
                      <a:r>
                        <a:rPr lang="en-US" sz="1100">
                          <a:latin typeface="+mj-lt"/>
                          <a:cs typeface="Calibri"/>
                        </a:rPr>
                        <a:t>-</a:t>
                      </a:r>
                      <a:r>
                        <a:rPr lang="en-US" sz="1100" spc="-5">
                          <a:latin typeface="+mj-lt"/>
                          <a:cs typeface="Calibri"/>
                        </a:rPr>
                        <a:t> </a:t>
                      </a:r>
                      <a:r>
                        <a:rPr lang="en-US" sz="1100">
                          <a:latin typeface="+mj-lt"/>
                          <a:cs typeface="Calibri"/>
                        </a:rPr>
                        <a:t>but</a:t>
                      </a:r>
                      <a:r>
                        <a:rPr lang="en-US" sz="1100" spc="-15">
                          <a:latin typeface="+mj-lt"/>
                          <a:cs typeface="Calibri"/>
                        </a:rPr>
                        <a:t> </a:t>
                      </a:r>
                      <a:r>
                        <a:rPr lang="en-US" sz="1100">
                          <a:latin typeface="+mj-lt"/>
                          <a:cs typeface="Calibri"/>
                        </a:rPr>
                        <a:t>admission</a:t>
                      </a:r>
                      <a:r>
                        <a:rPr lang="en-US" sz="1100" spc="-45">
                          <a:latin typeface="+mj-lt"/>
                          <a:cs typeface="Calibri"/>
                        </a:rPr>
                        <a:t> </a:t>
                      </a:r>
                      <a:r>
                        <a:rPr lang="en-US" sz="1100" spc="-25">
                          <a:latin typeface="+mj-lt"/>
                          <a:cs typeface="Calibri"/>
                        </a:rPr>
                        <a:t>to </a:t>
                      </a:r>
                      <a:r>
                        <a:rPr lang="en-US" sz="1100">
                          <a:latin typeface="+mj-lt"/>
                          <a:cs typeface="Calibri"/>
                        </a:rPr>
                        <a:t>CCASS</a:t>
                      </a:r>
                      <a:r>
                        <a:rPr lang="en-US" sz="1100" spc="-20">
                          <a:latin typeface="+mj-lt"/>
                          <a:cs typeface="Calibri"/>
                        </a:rPr>
                        <a:t> </a:t>
                      </a:r>
                      <a:r>
                        <a:rPr lang="en-US" sz="1100" spc="-10">
                          <a:latin typeface="+mj-lt"/>
                          <a:cs typeface="Calibri"/>
                        </a:rPr>
                        <a:t>required</a:t>
                      </a:r>
                      <a:endParaRPr lang="en-US" sz="1100">
                        <a:latin typeface="+mj-lt"/>
                        <a:cs typeface="Calibri"/>
                      </a:endParaRPr>
                    </a:p>
                  </a:txBody>
                  <a:tcPr marL="0" marR="0" marT="381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11"/>
                  </a:ext>
                </a:extLst>
              </a:tr>
              <a:tr h="425256">
                <a:tc>
                  <a:txBody>
                    <a:bodyPr/>
                    <a:lstStyle/>
                    <a:p>
                      <a:pPr marL="2540" marR="334010">
                        <a:lnSpc>
                          <a:spcPts val="1320"/>
                        </a:lnSpc>
                        <a:spcBef>
                          <a:spcPts val="30"/>
                        </a:spcBef>
                      </a:pPr>
                      <a:r>
                        <a:rPr lang="en-US" sz="1100" b="1" spc="-10">
                          <a:latin typeface="+mj-lt"/>
                          <a:cs typeface="Calibri"/>
                        </a:rPr>
                        <a:t>Participating Dealers</a:t>
                      </a:r>
                      <a:endParaRPr lang="en-US" sz="1100">
                        <a:latin typeface="+mj-lt"/>
                        <a:cs typeface="Calibri"/>
                      </a:endParaRPr>
                    </a:p>
                  </a:txBody>
                  <a:tcPr marL="0" marR="0" marT="381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05"/>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05"/>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12"/>
                  </a:ext>
                </a:extLst>
              </a:tr>
              <a:tr h="214836">
                <a:tc>
                  <a:txBody>
                    <a:bodyPr/>
                    <a:lstStyle/>
                    <a:p>
                      <a:pPr marL="2540">
                        <a:lnSpc>
                          <a:spcPts val="1310"/>
                        </a:lnSpc>
                      </a:pPr>
                      <a:r>
                        <a:rPr lang="en-US" sz="1100" b="1">
                          <a:latin typeface="+mj-lt"/>
                          <a:cs typeface="Calibri"/>
                        </a:rPr>
                        <a:t>Market</a:t>
                      </a:r>
                      <a:r>
                        <a:rPr lang="en-US" sz="1100" b="1" spc="-40">
                          <a:latin typeface="+mj-lt"/>
                          <a:cs typeface="Calibri"/>
                        </a:rPr>
                        <a:t> </a:t>
                      </a:r>
                      <a:r>
                        <a:rPr lang="en-US" sz="1100" b="1" spc="-10">
                          <a:latin typeface="+mj-lt"/>
                          <a:cs typeface="Calibri"/>
                        </a:rPr>
                        <a:t>Maker</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36000" indent="0" algn="l">
                        <a:lnSpc>
                          <a:spcPts val="1310"/>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10"/>
                        </a:lnSpc>
                      </a:pPr>
                      <a:r>
                        <a:rPr lang="en-US" sz="1100" spc="-25">
                          <a:latin typeface="+mj-lt"/>
                          <a:cs typeface="Calibri"/>
                        </a:rPr>
                        <a:t>No</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tc>
                  <a:txBody>
                    <a:bodyPr/>
                    <a:lstStyle/>
                    <a:p>
                      <a:pPr marL="36000" indent="0" algn="l">
                        <a:lnSpc>
                          <a:spcPts val="1310"/>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solidFill>
                      <a:srgbClr val="EFEFEF"/>
                    </a:solidFill>
                  </a:tcPr>
                </a:tc>
                <a:tc>
                  <a:txBody>
                    <a:bodyPr/>
                    <a:lstStyle/>
                    <a:p>
                      <a:pPr marL="36000" indent="0" algn="l">
                        <a:lnSpc>
                          <a:spcPts val="1310"/>
                        </a:lnSpc>
                      </a:pPr>
                      <a:r>
                        <a:rPr lang="en-US" sz="1100" spc="-25">
                          <a:latin typeface="+mj-lt"/>
                          <a:cs typeface="Calibri"/>
                        </a:rPr>
                        <a:t>Yes</a:t>
                      </a:r>
                      <a:endParaRPr lang="en-US" sz="1100">
                        <a:latin typeface="+mj-lt"/>
                        <a:cs typeface="Calibri"/>
                      </a:endParaRPr>
                    </a:p>
                  </a:txBody>
                  <a:tcPr marL="0" marR="0" marT="0" marB="0">
                    <a:lnL w="12700">
                      <a:solidFill>
                        <a:srgbClr val="FFFFFF"/>
                      </a:solidFill>
                      <a:prstDash val="solid"/>
                    </a:lnL>
                    <a:lnR w="12700">
                      <a:solidFill>
                        <a:srgbClr val="FFFFFF"/>
                      </a:solidFill>
                      <a:prstDash val="solid"/>
                    </a:lnR>
                    <a:lnT w="6350">
                      <a:solidFill>
                        <a:srgbClr val="B1B1B1"/>
                      </a:solidFill>
                      <a:prstDash val="solid"/>
                    </a:lnT>
                    <a:lnB w="6350">
                      <a:solidFill>
                        <a:srgbClr val="B1B1B1"/>
                      </a:solidFill>
                      <a:prstDash val="solid"/>
                    </a:lnB>
                  </a:tcPr>
                </a:tc>
                <a:extLst>
                  <a:ext uri="{0D108BD9-81ED-4DB2-BD59-A6C34878D82A}">
                    <a16:rowId xmlns:a16="http://schemas.microsoft.com/office/drawing/2014/main" val="10013"/>
                  </a:ext>
                </a:extLst>
              </a:tr>
            </a:tbl>
          </a:graphicData>
        </a:graphic>
      </p:graphicFrame>
      <p:sp>
        <p:nvSpPr>
          <p:cNvPr id="3" name="Slide Number Placeholder 1">
            <a:extLst>
              <a:ext uri="{FF2B5EF4-FFF2-40B4-BE49-F238E27FC236}">
                <a16:creationId xmlns:a16="http://schemas.microsoft.com/office/drawing/2014/main" id="{08F4A4D9-2683-84B9-2E60-704F4C139D21}"/>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22</a:t>
            </a:fld>
            <a:endParaRPr lang="en-US"/>
          </a:p>
        </p:txBody>
      </p:sp>
      <p:sp>
        <p:nvSpPr>
          <p:cNvPr id="7" name="TextBox 6">
            <a:extLst>
              <a:ext uri="{FF2B5EF4-FFF2-40B4-BE49-F238E27FC236}">
                <a16:creationId xmlns:a16="http://schemas.microsoft.com/office/drawing/2014/main" id="{3258246A-03AF-FA35-B48A-BEBBAA62B988}"/>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dirty="0">
                <a:solidFill>
                  <a:schemeClr val="tx1"/>
                </a:solidFill>
              </a:rPr>
              <a:t>HK team updated</a:t>
            </a:r>
            <a:endParaRPr lang="en-GB" sz="14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A1589-A25A-09AD-2B96-0E93C0583708}"/>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87D79773-7A55-7E40-3606-7585D21FA989}"/>
              </a:ext>
            </a:extLst>
          </p:cNvPr>
          <p:cNvSpPr>
            <a:spLocks noGrp="1"/>
          </p:cNvSpPr>
          <p:nvPr>
            <p:ph type="subTitle" idx="1"/>
          </p:nvPr>
        </p:nvSpPr>
        <p:spPr/>
        <p:txBody>
          <a:bodyPr/>
          <a:lstStyle/>
          <a:p>
            <a:r>
              <a:rPr lang="en-US"/>
              <a:t>Section [ ]</a:t>
            </a:r>
            <a:endParaRPr lang="en-SG"/>
          </a:p>
        </p:txBody>
      </p:sp>
      <p:sp>
        <p:nvSpPr>
          <p:cNvPr id="5" name="Title 4">
            <a:extLst>
              <a:ext uri="{FF2B5EF4-FFF2-40B4-BE49-F238E27FC236}">
                <a16:creationId xmlns:a16="http://schemas.microsoft.com/office/drawing/2014/main" id="{E5E3E6D5-BCA9-B42E-9114-ADB2433F6B9C}"/>
              </a:ext>
            </a:extLst>
          </p:cNvPr>
          <p:cNvSpPr>
            <a:spLocks noGrp="1"/>
          </p:cNvSpPr>
          <p:nvPr>
            <p:ph type="ctrTitle"/>
          </p:nvPr>
        </p:nvSpPr>
        <p:spPr/>
        <p:txBody>
          <a:bodyPr/>
          <a:lstStyle/>
          <a:p>
            <a:r>
              <a:rPr lang="en-US"/>
              <a:t>[Comparable Company Analysis]</a:t>
            </a:r>
            <a:endParaRPr lang="en-SG"/>
          </a:p>
        </p:txBody>
      </p:sp>
      <p:sp>
        <p:nvSpPr>
          <p:cNvPr id="2" name="Slide Number Placeholder 1">
            <a:extLst>
              <a:ext uri="{FF2B5EF4-FFF2-40B4-BE49-F238E27FC236}">
                <a16:creationId xmlns:a16="http://schemas.microsoft.com/office/drawing/2014/main" id="{9582EC06-6923-5545-F3F4-33D4EE99D33D}"/>
              </a:ext>
            </a:extLst>
          </p:cNvPr>
          <p:cNvSpPr>
            <a:spLocks noGrp="1"/>
          </p:cNvSpPr>
          <p:nvPr>
            <p:ph type="sldNum" sz="quarter" idx="11"/>
          </p:nvPr>
        </p:nvSpPr>
        <p:spPr/>
        <p:txBody>
          <a:bodyPr/>
          <a:lstStyle/>
          <a:p>
            <a:pPr>
              <a:defRPr/>
            </a:pPr>
            <a:fld id="{EED7964B-8F50-47E5-B5EE-37748C966AF4}" type="slidenum">
              <a:rPr lang="en-US" smtClean="0"/>
              <a:pPr>
                <a:defRPr/>
              </a:pPr>
              <a:t>23</a:t>
            </a:fld>
            <a:endParaRPr lang="en-US"/>
          </a:p>
        </p:txBody>
      </p:sp>
    </p:spTree>
    <p:extLst>
      <p:ext uri="{BB962C8B-B14F-4D97-AF65-F5344CB8AC3E}">
        <p14:creationId xmlns:p14="http://schemas.microsoft.com/office/powerpoint/2010/main" val="1559520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7EE8-925B-5462-DB71-0076FAC973B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EBC423C-2F5A-64A8-340A-8FA1EB2722AB}"/>
              </a:ext>
            </a:extLst>
          </p:cNvPr>
          <p:cNvSpPr>
            <a:spLocks noGrp="1"/>
          </p:cNvSpPr>
          <p:nvPr>
            <p:ph type="title"/>
          </p:nvPr>
        </p:nvSpPr>
        <p:spPr/>
        <p:txBody>
          <a:bodyPr/>
          <a:lstStyle/>
          <a:p>
            <a:r>
              <a:rPr lang="en-GB" dirty="0"/>
              <a:t>Hong Kong Listed Comparable Company Analysis</a:t>
            </a:r>
          </a:p>
        </p:txBody>
      </p:sp>
      <p:sp>
        <p:nvSpPr>
          <p:cNvPr id="10" name="Text Placeholder 9">
            <a:extLst>
              <a:ext uri="{FF2B5EF4-FFF2-40B4-BE49-F238E27FC236}">
                <a16:creationId xmlns:a16="http://schemas.microsoft.com/office/drawing/2014/main" id="{5ABAE8FA-CF94-550F-C063-147F9AF4CC25}"/>
              </a:ext>
            </a:extLst>
          </p:cNvPr>
          <p:cNvSpPr>
            <a:spLocks noGrp="1"/>
          </p:cNvSpPr>
          <p:nvPr>
            <p:ph type="body" sz="quarter" idx="46"/>
          </p:nvPr>
        </p:nvSpPr>
        <p:spPr>
          <a:xfrm>
            <a:off x="1398755" y="6421405"/>
            <a:ext cx="8100000" cy="360000"/>
          </a:xfrm>
        </p:spPr>
        <p:txBody>
          <a:bodyPr/>
          <a:lstStyle/>
          <a:p>
            <a:pPr marL="0" indent="0">
              <a:buNone/>
            </a:pPr>
            <a:r>
              <a:rPr lang="en-US" sz="800">
                <a:latin typeface="Arial"/>
                <a:cs typeface="Arial"/>
              </a:rPr>
              <a:t>Source: Z Data website, GDS annual reports and website, </a:t>
            </a:r>
            <a:r>
              <a:rPr lang="en-US" sz="800" err="1">
                <a:latin typeface="Arial"/>
                <a:cs typeface="Arial"/>
              </a:rPr>
              <a:t>SUNeVision</a:t>
            </a:r>
            <a:r>
              <a:rPr lang="en-US" sz="800">
                <a:latin typeface="Arial"/>
                <a:cs typeface="Arial"/>
              </a:rPr>
              <a:t> annual reports and website, </a:t>
            </a:r>
            <a:r>
              <a:rPr lang="en-US" sz="800"/>
              <a:t>DataCentreMap.com</a:t>
            </a:r>
          </a:p>
          <a:p>
            <a:endParaRPr lang="en-US" sz="800"/>
          </a:p>
          <a:p>
            <a:pPr marL="0" indent="0">
              <a:buNone/>
            </a:pPr>
            <a:endParaRPr lang="en-GB" sz="800">
              <a:highlight>
                <a:srgbClr val="FFFF00"/>
              </a:highlight>
            </a:endParaRPr>
          </a:p>
          <a:p>
            <a:endParaRPr lang="en-GB" sz="800"/>
          </a:p>
        </p:txBody>
      </p:sp>
      <p:graphicFrame>
        <p:nvGraphicFramePr>
          <p:cNvPr id="2" name="Table 18">
            <a:extLst>
              <a:ext uri="{FF2B5EF4-FFF2-40B4-BE49-F238E27FC236}">
                <a16:creationId xmlns:a16="http://schemas.microsoft.com/office/drawing/2014/main" id="{969905B4-ED2B-021A-AD0D-26F5E0BB1D0A}"/>
              </a:ext>
            </a:extLst>
          </p:cNvPr>
          <p:cNvGraphicFramePr>
            <a:graphicFrameLocks noGrp="1"/>
          </p:cNvGraphicFramePr>
          <p:nvPr>
            <p:extLst>
              <p:ext uri="{D42A27DB-BD31-4B8C-83A1-F6EECF244321}">
                <p14:modId xmlns:p14="http://schemas.microsoft.com/office/powerpoint/2010/main" val="2233290263"/>
              </p:ext>
            </p:extLst>
          </p:nvPr>
        </p:nvGraphicFramePr>
        <p:xfrm>
          <a:off x="453000" y="1928832"/>
          <a:ext cx="9045755" cy="4078128"/>
        </p:xfrm>
        <a:graphic>
          <a:graphicData uri="http://schemas.openxmlformats.org/drawingml/2006/table">
            <a:tbl>
              <a:tblPr firstCol="1" bandRow="1">
                <a:tableStyleId>{93296810-A885-4BE3-A3E7-6D5BEEA58F35}</a:tableStyleId>
              </a:tblPr>
              <a:tblGrid>
                <a:gridCol w="2131441">
                  <a:extLst>
                    <a:ext uri="{9D8B030D-6E8A-4147-A177-3AD203B41FA5}">
                      <a16:colId xmlns:a16="http://schemas.microsoft.com/office/drawing/2014/main" val="752541498"/>
                    </a:ext>
                  </a:extLst>
                </a:gridCol>
                <a:gridCol w="2287397">
                  <a:extLst>
                    <a:ext uri="{9D8B030D-6E8A-4147-A177-3AD203B41FA5}">
                      <a16:colId xmlns:a16="http://schemas.microsoft.com/office/drawing/2014/main" val="474768238"/>
                    </a:ext>
                  </a:extLst>
                </a:gridCol>
                <a:gridCol w="2322057">
                  <a:extLst>
                    <a:ext uri="{9D8B030D-6E8A-4147-A177-3AD203B41FA5}">
                      <a16:colId xmlns:a16="http://schemas.microsoft.com/office/drawing/2014/main" val="2594945654"/>
                    </a:ext>
                  </a:extLst>
                </a:gridCol>
                <a:gridCol w="2304860">
                  <a:extLst>
                    <a:ext uri="{9D8B030D-6E8A-4147-A177-3AD203B41FA5}">
                      <a16:colId xmlns:a16="http://schemas.microsoft.com/office/drawing/2014/main" val="3581669626"/>
                    </a:ext>
                  </a:extLst>
                </a:gridCol>
              </a:tblGrid>
              <a:tr h="669272">
                <a:tc>
                  <a:txBody>
                    <a:bodyPr/>
                    <a:lstStyle/>
                    <a:p>
                      <a:pPr lvl="0" algn="l">
                        <a:buNone/>
                      </a:pPr>
                      <a:r>
                        <a:rPr lang="en-US" altLang="zh-CN" sz="1100" b="1" i="0" u="none" strike="noStrike">
                          <a:solidFill>
                            <a:srgbClr val="1F1F1F"/>
                          </a:solidFill>
                          <a:effectLst/>
                          <a:latin typeface="Arial"/>
                        </a:rPr>
                        <a:t>Company Description</a:t>
                      </a:r>
                    </a:p>
                  </a:txBody>
                  <a:tcPr marL="36000" marR="36000" marT="36000" marB="36000" anchor="ctr">
                    <a:solidFill>
                      <a:schemeClr val="bg1">
                        <a:lumMod val="65000"/>
                      </a:schemeClr>
                    </a:solidFill>
                  </a:tcPr>
                </a:tc>
                <a:tc>
                  <a:txBody>
                    <a:bodyPr/>
                    <a:lstStyle/>
                    <a:p>
                      <a:pPr lvl="0" algn="l">
                        <a:buNone/>
                      </a:pPr>
                      <a:r>
                        <a:rPr lang="en-US" sz="1100" b="0" i="0" kern="1200">
                          <a:solidFill>
                            <a:schemeClr val="dk1"/>
                          </a:solidFill>
                          <a:effectLst/>
                          <a:latin typeface="+mn-lt"/>
                          <a:ea typeface="+mn-ea"/>
                          <a:cs typeface="+mn-cs"/>
                        </a:rPr>
                        <a:t>A leading provider of cloud-network convergence and digitized IT infrastructure services</a:t>
                      </a:r>
                      <a:endParaRPr lang="en-US" sz="1100" b="0" i="0" u="none" strike="noStrike">
                        <a:solidFill>
                          <a:srgbClr val="1F1F1F"/>
                        </a:solidFill>
                        <a:effectLst/>
                        <a:latin typeface="Arial"/>
                      </a:endParaRPr>
                    </a:p>
                  </a:txBody>
                  <a:tcPr marL="36000" marR="36000" marT="36000" marB="36000" anchor="ctr"/>
                </a:tc>
                <a:tc>
                  <a:txBody>
                    <a:bodyPr/>
                    <a:lstStyle/>
                    <a:p>
                      <a:pPr lvl="0" algn="l">
                        <a:buNone/>
                      </a:pPr>
                      <a:r>
                        <a:rPr lang="en-US" sz="1100" b="0" i="0" u="none" strike="noStrike" kern="1200">
                          <a:solidFill>
                            <a:srgbClr val="1F1F1F"/>
                          </a:solidFill>
                          <a:effectLst/>
                          <a:latin typeface="Arial"/>
                          <a:ea typeface="+mn-ea"/>
                          <a:cs typeface="+mn-cs"/>
                        </a:rPr>
                        <a:t>The largest </a:t>
                      </a:r>
                      <a:r>
                        <a:rPr lang="en-US" sz="1100" b="0" i="0" kern="1200">
                          <a:solidFill>
                            <a:schemeClr val="dk1"/>
                          </a:solidFill>
                          <a:effectLst/>
                          <a:latin typeface="+mn-lt"/>
                          <a:ea typeface="+mn-ea"/>
                          <a:cs typeface="+mn-cs"/>
                        </a:rPr>
                        <a:t>carrier-neutral developer and operator of high-performance DCs in China</a:t>
                      </a:r>
                      <a:endParaRPr lang="en-US" sz="1100" b="0" i="0" u="none" strike="noStrike">
                        <a:solidFill>
                          <a:srgbClr val="1F1F1F"/>
                        </a:solidFill>
                        <a:effectLst/>
                        <a:latin typeface="Arial"/>
                      </a:endParaRPr>
                    </a:p>
                  </a:txBody>
                  <a:tcPr marL="36000" marR="36000" marT="36000" marB="36000" anchor="ctr"/>
                </a:tc>
                <a:tc>
                  <a:txBody>
                    <a:bodyPr/>
                    <a:lstStyle/>
                    <a:p>
                      <a:pPr lvl="0" algn="l">
                        <a:buNone/>
                      </a:pPr>
                      <a:r>
                        <a:rPr lang="en-US" sz="1100" b="0" i="0" u="none" strike="noStrike">
                          <a:solidFill>
                            <a:srgbClr val="1F1F1F"/>
                          </a:solidFill>
                          <a:effectLst/>
                          <a:latin typeface="Arial"/>
                        </a:rPr>
                        <a:t>The technology arm of Sun Hung Kai Properties and the largest DC provider in Hong Kong</a:t>
                      </a:r>
                    </a:p>
                  </a:txBody>
                  <a:tcPr marL="36000" marR="36000" marT="36000" marB="36000" anchor="ctr"/>
                </a:tc>
                <a:extLst>
                  <a:ext uri="{0D108BD9-81ED-4DB2-BD59-A6C34878D82A}">
                    <a16:rowId xmlns:a16="http://schemas.microsoft.com/office/drawing/2014/main" val="1231407173"/>
                  </a:ext>
                </a:extLst>
              </a:tr>
              <a:tr h="474120">
                <a:tc>
                  <a:txBody>
                    <a:bodyPr/>
                    <a:lstStyle/>
                    <a:p>
                      <a:pPr algn="l" rtl="0" fontAlgn="ctr">
                        <a:buNone/>
                      </a:pPr>
                      <a:r>
                        <a:rPr lang="en-US" altLang="zh-CN" sz="1100" b="1" i="0" u="none" strike="noStrike">
                          <a:solidFill>
                            <a:srgbClr val="1F1F1F"/>
                          </a:solidFill>
                          <a:effectLst/>
                          <a:latin typeface="Arial"/>
                        </a:rPr>
                        <a:t>Data Centre (“DC”) Locations</a:t>
                      </a:r>
                      <a:endParaRPr lang="en-US" altLang="zh-CN" sz="1100" b="1" i="0" u="none" strike="noStrike">
                        <a:solidFill>
                          <a:srgbClr val="1F1F1F"/>
                        </a:solidFill>
                        <a:effectLst/>
                        <a:latin typeface="Arial" panose="020B0604020202020204" pitchFamily="34" charset="0"/>
                      </a:endParaRPr>
                    </a:p>
                  </a:txBody>
                  <a:tcPr marL="36000" marR="36000" marT="36000" marB="36000" anchor="ctr">
                    <a:solidFill>
                      <a:schemeClr val="bg1">
                        <a:lumMod val="65000"/>
                      </a:schemeClr>
                    </a:solidFill>
                  </a:tcPr>
                </a:tc>
                <a:tc>
                  <a:txBody>
                    <a:bodyPr/>
                    <a:lstStyle/>
                    <a:p>
                      <a:pPr algn="l" rtl="0" fontAlgn="ctr">
                        <a:buNone/>
                      </a:pPr>
                      <a:r>
                        <a:rPr lang="en-US" sz="1100" b="0" i="0" u="none" strike="noStrike">
                          <a:solidFill>
                            <a:srgbClr val="1F1F1F"/>
                          </a:solidFill>
                          <a:effectLst/>
                          <a:latin typeface="Arial"/>
                        </a:rPr>
                        <a:t>Tier 1-2 China cities, Malaysia and with opportunities in SEA</a:t>
                      </a:r>
                    </a:p>
                  </a:txBody>
                  <a:tcPr marL="36000" marR="36000" marT="36000" marB="36000" anchor="ctr"/>
                </a:tc>
                <a:tc>
                  <a:txBody>
                    <a:bodyPr/>
                    <a:lstStyle/>
                    <a:p>
                      <a:pPr algn="l" rtl="0" fontAlgn="ctr">
                        <a:buNone/>
                      </a:pPr>
                      <a:r>
                        <a:rPr lang="en-US" sz="1100" b="0" i="0" u="none" strike="noStrike">
                          <a:solidFill>
                            <a:srgbClr val="1F1F1F"/>
                          </a:solidFill>
                          <a:effectLst/>
                          <a:latin typeface="Arial"/>
                        </a:rPr>
                        <a:t>Tier 1-2 China cities, Hong Kong, Singapore, Malaysia, Indonesia</a:t>
                      </a:r>
                    </a:p>
                  </a:txBody>
                  <a:tcPr marL="36000" marR="36000" marT="36000" marB="36000" anchor="ctr"/>
                </a:tc>
                <a:tc>
                  <a:txBody>
                    <a:bodyPr/>
                    <a:lstStyle/>
                    <a:p>
                      <a:pPr algn="l" rtl="0" fontAlgn="ctr">
                        <a:buNone/>
                      </a:pPr>
                      <a:r>
                        <a:rPr kumimoji="0" lang="nl-NL" sz="1100" b="1" i="0" u="none" strike="noStrike" kern="1200" cap="none" spc="0" normalizeH="0" baseline="30000" noProof="0">
                          <a:ln>
                            <a:noFill/>
                          </a:ln>
                          <a:solidFill>
                            <a:schemeClr val="tx1"/>
                          </a:solidFill>
                          <a:effectLst/>
                          <a:uLnTx/>
                          <a:uFillTx/>
                          <a:latin typeface="Arial"/>
                          <a:ea typeface="DFKaiShu-GB5"/>
                          <a:cs typeface="Arial"/>
                        </a:rPr>
                        <a:t> </a:t>
                      </a:r>
                      <a:r>
                        <a:rPr lang="en-US" sz="1100" b="0" i="0" u="none" strike="noStrike">
                          <a:solidFill>
                            <a:srgbClr val="1F1F1F"/>
                          </a:solidFill>
                          <a:effectLst/>
                          <a:latin typeface="Arial"/>
                        </a:rPr>
                        <a:t>Hong Kong only (Chai Wan, Tseung Kwan O, Sha Tin)</a:t>
                      </a:r>
                    </a:p>
                  </a:txBody>
                  <a:tcPr marL="36000" marR="36000" marT="36000" marB="36000" anchor="ctr"/>
                </a:tc>
                <a:extLst>
                  <a:ext uri="{0D108BD9-81ED-4DB2-BD59-A6C34878D82A}">
                    <a16:rowId xmlns:a16="http://schemas.microsoft.com/office/drawing/2014/main" val="3779138882"/>
                  </a:ext>
                </a:extLst>
              </a:tr>
              <a:tr h="669272">
                <a:tc>
                  <a:txBody>
                    <a:bodyPr/>
                    <a:lstStyle/>
                    <a:p>
                      <a:pPr algn="l" rtl="0" fontAlgn="ctr">
                        <a:buNone/>
                      </a:pPr>
                      <a:r>
                        <a:rPr lang="en-US" sz="1100" b="1" i="0" u="none" strike="noStrike">
                          <a:solidFill>
                            <a:srgbClr val="1F1F1F"/>
                          </a:solidFill>
                          <a:effectLst/>
                          <a:latin typeface="Arial"/>
                        </a:rPr>
                        <a:t>IT Power Capacity</a:t>
                      </a:r>
                    </a:p>
                  </a:txBody>
                  <a:tcPr marL="36000" marR="36000" marT="36000" marB="36000" anchor="ctr">
                    <a:solidFill>
                      <a:schemeClr val="bg1">
                        <a:lumMod val="65000"/>
                      </a:schemeClr>
                    </a:solidFill>
                  </a:tcPr>
                </a:tc>
                <a:tc>
                  <a:txBody>
                    <a:bodyPr/>
                    <a:lstStyle/>
                    <a:p>
                      <a:pPr algn="l" rtl="0" fontAlgn="ctr">
                        <a:buNone/>
                      </a:pPr>
                      <a:r>
                        <a:rPr lang="en-US" sz="1100" b="0" i="0" u="none" strike="noStrike">
                          <a:solidFill>
                            <a:schemeClr val="tx1"/>
                          </a:solidFill>
                          <a:effectLst/>
                          <a:latin typeface="Arial"/>
                        </a:rPr>
                        <a:t>5GW planned IT capacity, with 2GW in operation/under construction</a:t>
                      </a:r>
                    </a:p>
                  </a:txBody>
                  <a:tcPr marL="36000" marR="36000" marT="36000" marB="36000" anchor="ctr"/>
                </a:tc>
                <a:tc>
                  <a:txBody>
                    <a:bodyPr/>
                    <a:lstStyle/>
                    <a:p>
                      <a:pPr algn="l" rtl="0" fontAlgn="ctr">
                        <a:buNone/>
                      </a:pPr>
                      <a:r>
                        <a:rPr lang="en-US" sz="1100" b="0" i="0" u="none" strike="noStrike">
                          <a:solidFill>
                            <a:srgbClr val="1F1F1F"/>
                          </a:solidFill>
                          <a:effectLst/>
                          <a:latin typeface="Arial"/>
                        </a:rPr>
                        <a:t>1.7 GW </a:t>
                      </a:r>
                      <a:r>
                        <a:rPr lang="en-US" sz="1100" b="0" i="0" u="none" strike="noStrike" noProof="0">
                          <a:solidFill>
                            <a:srgbClr val="1F1F1F"/>
                          </a:solidFill>
                          <a:effectLst/>
                        </a:rPr>
                        <a:t>total capacity with 3.7 GW  reserved for future development</a:t>
                      </a:r>
                      <a:endParaRPr lang="en-US" sz="1100" b="0" i="0" u="none" strike="noStrike" baseline="30000">
                        <a:solidFill>
                          <a:srgbClr val="1F1F1F"/>
                        </a:solidFill>
                        <a:effectLst/>
                        <a:latin typeface="Arial"/>
                      </a:endParaRPr>
                    </a:p>
                  </a:txBody>
                  <a:tcPr marL="36000" marR="36000" marT="36000" marB="36000" anchor="ctr"/>
                </a:tc>
                <a:tc>
                  <a:txBody>
                    <a:bodyPr/>
                    <a:lstStyle/>
                    <a:p>
                      <a:pPr algn="l" rtl="0" fontAlgn="ctr">
                        <a:buNone/>
                      </a:pPr>
                      <a:r>
                        <a:rPr lang="en-US" sz="1100" b="0" i="0" u="none" strike="noStrike" noProof="0">
                          <a:solidFill>
                            <a:srgbClr val="1F1F1F"/>
                          </a:solidFill>
                          <a:effectLst/>
                        </a:rPr>
                        <a:t>Flagship project in Tseung Kwon O supports 180MW IT power capacity</a:t>
                      </a:r>
                    </a:p>
                  </a:txBody>
                  <a:tcPr marL="36000" marR="36000" marT="36000" marB="36000" anchor="ctr"/>
                </a:tc>
                <a:extLst>
                  <a:ext uri="{0D108BD9-81ED-4DB2-BD59-A6C34878D82A}">
                    <a16:rowId xmlns:a16="http://schemas.microsoft.com/office/drawing/2014/main" val="1191745064"/>
                  </a:ext>
                </a:extLst>
              </a:tr>
              <a:tr h="278968">
                <a:tc>
                  <a:txBody>
                    <a:bodyPr/>
                    <a:lstStyle/>
                    <a:p>
                      <a:pPr lvl="0" algn="l">
                        <a:buNone/>
                      </a:pPr>
                      <a:r>
                        <a:rPr lang="en-US" sz="1100" b="1" i="0" u="none" strike="noStrike">
                          <a:solidFill>
                            <a:srgbClr val="1F1F1F"/>
                          </a:solidFill>
                          <a:effectLst/>
                          <a:latin typeface="Arial"/>
                        </a:rPr>
                        <a:t>Number of DCs/DC Area</a:t>
                      </a:r>
                    </a:p>
                  </a:txBody>
                  <a:tcPr marL="36000" marR="36000" marT="36000" marB="36000" anchor="ctr">
                    <a:solidFill>
                      <a:schemeClr val="bg1">
                        <a:lumMod val="65000"/>
                      </a:schemeClr>
                    </a:solidFill>
                  </a:tcPr>
                </a:tc>
                <a:tc>
                  <a:txBody>
                    <a:bodyPr/>
                    <a:lstStyle/>
                    <a:p>
                      <a:pPr lvl="0" algn="l">
                        <a:buNone/>
                      </a:pPr>
                      <a:r>
                        <a:rPr lang="en-US" sz="1100" b="0" i="0" u="none" strike="noStrike">
                          <a:solidFill>
                            <a:schemeClr val="tx1"/>
                          </a:solidFill>
                          <a:effectLst/>
                          <a:latin typeface="Arial"/>
                        </a:rPr>
                        <a:t>36+ DCs</a:t>
                      </a:r>
                      <a:endParaRPr lang="en-US" sz="1100" b="0" i="0" u="none" strike="noStrike" baseline="30000">
                        <a:solidFill>
                          <a:schemeClr val="tx1"/>
                        </a:solidFill>
                        <a:effectLst/>
                        <a:latin typeface="Arial"/>
                      </a:endParaRPr>
                    </a:p>
                  </a:txBody>
                  <a:tcPr marL="36000" marR="36000" marT="36000" marB="36000" anchor="ctr"/>
                </a:tc>
                <a:tc>
                  <a:txBody>
                    <a:bodyPr/>
                    <a:lstStyle/>
                    <a:p>
                      <a:pPr lvl="0" algn="l">
                        <a:buNone/>
                      </a:pPr>
                      <a:r>
                        <a:rPr lang="en-US" sz="1100" b="0" i="0" u="none" strike="noStrike" noProof="0">
                          <a:solidFill>
                            <a:srgbClr val="1F1F1F"/>
                          </a:solidFill>
                          <a:effectLst/>
                          <a:latin typeface="Arial"/>
                          <a:cs typeface="Arial"/>
                        </a:rPr>
                        <a:t>668,283 m</a:t>
                      </a:r>
                      <a:r>
                        <a:rPr lang="en-US" sz="700" b="0" i="0" u="none" strike="noStrike" baseline="30000" noProof="0">
                          <a:solidFill>
                            <a:srgbClr val="1F1F1F"/>
                          </a:solidFill>
                          <a:effectLst/>
                          <a:latin typeface="Arial"/>
                          <a:cs typeface="Arial"/>
                        </a:rPr>
                        <a:t>2</a:t>
                      </a:r>
                      <a:r>
                        <a:rPr lang="en-US" sz="1100" b="0" i="0" u="none" strike="noStrike" noProof="0">
                          <a:solidFill>
                            <a:srgbClr val="1F1F1F"/>
                          </a:solidFill>
                          <a:effectLst/>
                          <a:latin typeface="Arial"/>
                          <a:cs typeface="Arial"/>
                        </a:rPr>
                        <a:t> of data centre in service</a:t>
                      </a:r>
                      <a:endParaRPr lang="en-US"/>
                    </a:p>
                  </a:txBody>
                  <a:tcPr marL="36000" marR="36000" marT="36000" marB="36000" anchor="ctr"/>
                </a:tc>
                <a:tc>
                  <a:txBody>
                    <a:bodyPr/>
                    <a:lstStyle/>
                    <a:p>
                      <a:pPr lvl="0" algn="l">
                        <a:lnSpc>
                          <a:spcPct val="100000"/>
                        </a:lnSpc>
                        <a:spcBef>
                          <a:spcPts val="0"/>
                        </a:spcBef>
                        <a:spcAft>
                          <a:spcPts val="0"/>
                        </a:spcAft>
                        <a:buNone/>
                      </a:pPr>
                      <a:r>
                        <a:rPr lang="en-US" sz="1100" b="0" i="0" u="none" strike="noStrike" noProof="0">
                          <a:solidFill>
                            <a:srgbClr val="1F1F1F"/>
                          </a:solidFill>
                          <a:effectLst/>
                          <a:latin typeface="Arial"/>
                          <a:cs typeface="Arial"/>
                        </a:rPr>
                        <a:t>~3,000,000 ft</a:t>
                      </a:r>
                      <a:r>
                        <a:rPr lang="en-US" sz="700" b="0" i="0" u="none" strike="noStrike" baseline="30000" noProof="0">
                          <a:solidFill>
                            <a:srgbClr val="1F1F1F"/>
                          </a:solidFill>
                          <a:effectLst/>
                          <a:latin typeface="Arial"/>
                          <a:cs typeface="Arial"/>
                        </a:rPr>
                        <a:t>2</a:t>
                      </a:r>
                      <a:r>
                        <a:rPr lang="en-US" sz="1100" b="0" i="0" u="none" strike="noStrike" noProof="0">
                          <a:solidFill>
                            <a:srgbClr val="1F1F1F"/>
                          </a:solidFill>
                          <a:effectLst/>
                          <a:latin typeface="Arial"/>
                          <a:cs typeface="Arial"/>
                        </a:rPr>
                        <a:t> gross floor area</a:t>
                      </a:r>
                      <a:endParaRPr lang="en-US" sz="1100" b="0" i="0" u="none" strike="noStrike" noProof="0">
                        <a:solidFill>
                          <a:srgbClr val="000000"/>
                        </a:solidFill>
                        <a:effectLst/>
                        <a:latin typeface="Arial"/>
                        <a:cs typeface="Arial"/>
                      </a:endParaRPr>
                    </a:p>
                  </a:txBody>
                  <a:tcPr marL="36000" marR="36000" marT="36000" marB="36000" anchor="ctr"/>
                </a:tc>
                <a:extLst>
                  <a:ext uri="{0D108BD9-81ED-4DB2-BD59-A6C34878D82A}">
                    <a16:rowId xmlns:a16="http://schemas.microsoft.com/office/drawing/2014/main" val="1938830211"/>
                  </a:ext>
                </a:extLst>
              </a:tr>
              <a:tr h="669272">
                <a:tc>
                  <a:txBody>
                    <a:bodyPr/>
                    <a:lstStyle/>
                    <a:p>
                      <a:pPr algn="l" rtl="0" fontAlgn="ctr">
                        <a:buNone/>
                      </a:pPr>
                      <a:r>
                        <a:rPr lang="en-US" sz="1100" b="1" i="0" u="none" strike="noStrike">
                          <a:solidFill>
                            <a:srgbClr val="1F1F1F"/>
                          </a:solidFill>
                          <a:effectLst/>
                          <a:latin typeface="Arial" panose="020B0604020202020204" pitchFamily="34" charset="0"/>
                        </a:rPr>
                        <a:t>Key Customers</a:t>
                      </a:r>
                    </a:p>
                  </a:txBody>
                  <a:tcPr marL="36000" marR="36000" marT="36000" marB="36000" anchor="ctr">
                    <a:solidFill>
                      <a:schemeClr val="bg1">
                        <a:lumMod val="65000"/>
                      </a:schemeClr>
                    </a:solidFill>
                  </a:tcPr>
                </a:tc>
                <a:tc>
                  <a:txBody>
                    <a:bodyPr/>
                    <a:lstStyle/>
                    <a:p>
                      <a:pPr algn="l" rtl="0" fontAlgn="ctr">
                        <a:buNone/>
                      </a:pPr>
                      <a:r>
                        <a:rPr lang="en-US" altLang="zh-CN" sz="1100" b="0" i="0" u="none" strike="noStrike">
                          <a:solidFill>
                            <a:srgbClr val="1F1F1F"/>
                          </a:solidFill>
                          <a:effectLst/>
                          <a:latin typeface="Arial"/>
                        </a:rPr>
                        <a:t>Top internet/cloud firms (</a:t>
                      </a:r>
                      <a:r>
                        <a:rPr lang="en-US" altLang="zh-CN" sz="1100" b="0" i="0" u="none" strike="noStrike">
                          <a:solidFill>
                            <a:srgbClr val="1F1F1F"/>
                          </a:solidFill>
                          <a:effectLst/>
                          <a:latin typeface="+mn-lt"/>
                        </a:rPr>
                        <a:t>JD.com, </a:t>
                      </a:r>
                      <a:r>
                        <a:rPr lang="en-US" altLang="zh-CN" sz="1100" b="0" i="0" u="none" strike="noStrike">
                          <a:solidFill>
                            <a:srgbClr val="1F1F1F"/>
                          </a:solidFill>
                          <a:effectLst/>
                          <a:latin typeface="Arial"/>
                        </a:rPr>
                        <a:t>Bytedance, Kuaishou Technology, Alibaba Cloud, Tencent, Huawei)</a:t>
                      </a:r>
                      <a:endParaRPr lang="en-US" sz="1100" b="0" i="0" u="none" strike="noStrike">
                        <a:solidFill>
                          <a:srgbClr val="1F1F1F"/>
                        </a:solidFill>
                        <a:effectLst/>
                        <a:latin typeface="Arial"/>
                      </a:endParaRPr>
                    </a:p>
                  </a:txBody>
                  <a:tcPr marL="36000" marR="36000" marT="36000" marB="36000" anchor="ctr"/>
                </a:tc>
                <a:tc>
                  <a:txBody>
                    <a:bodyPr/>
                    <a:lstStyle/>
                    <a:p>
                      <a:pPr algn="l" rtl="0" fontAlgn="ctr">
                        <a:buNone/>
                      </a:pPr>
                      <a:r>
                        <a:rPr lang="en-US" sz="1100" b="0" i="0" u="none" strike="noStrike">
                          <a:solidFill>
                            <a:srgbClr val="1F1F1F"/>
                          </a:solidFill>
                          <a:effectLst/>
                          <a:latin typeface="Arial"/>
                        </a:rPr>
                        <a:t>Global </a:t>
                      </a:r>
                      <a:r>
                        <a:rPr lang="en-US" sz="1100" b="0" i="0" u="none" strike="noStrike" err="1">
                          <a:solidFill>
                            <a:srgbClr val="1F1F1F"/>
                          </a:solidFill>
                          <a:effectLst/>
                          <a:latin typeface="Arial"/>
                        </a:rPr>
                        <a:t>hyperscalers</a:t>
                      </a:r>
                      <a:r>
                        <a:rPr lang="en-US" sz="1100" b="0" i="0" u="none" strike="noStrike">
                          <a:solidFill>
                            <a:srgbClr val="1F1F1F"/>
                          </a:solidFill>
                          <a:effectLst/>
                          <a:latin typeface="Arial"/>
                        </a:rPr>
                        <a:t> &amp; cloud providers (Alibaba, Tencent, AWS, Microsoft)</a:t>
                      </a:r>
                    </a:p>
                  </a:txBody>
                  <a:tcPr marL="36000" marR="36000" marT="36000" marB="36000" anchor="ctr"/>
                </a:tc>
                <a:tc>
                  <a:txBody>
                    <a:bodyPr/>
                    <a:lstStyle/>
                    <a:p>
                      <a:pPr algn="l" rtl="0" fontAlgn="ctr">
                        <a:buNone/>
                      </a:pPr>
                      <a:r>
                        <a:rPr lang="en-US" sz="1100" b="0" i="0" u="none" strike="noStrike">
                          <a:solidFill>
                            <a:srgbClr val="1F1F1F"/>
                          </a:solidFill>
                          <a:effectLst/>
                          <a:latin typeface="Arial" panose="020B0604020202020204" pitchFamily="34" charset="0"/>
                        </a:rPr>
                        <a:t>Financial institutions &amp; APAC cloud firms (HKEX, HSBC, Alibaba Cloud, AWS)</a:t>
                      </a:r>
                    </a:p>
                  </a:txBody>
                  <a:tcPr marL="36000" marR="36000" marT="36000" marB="36000" anchor="ctr"/>
                </a:tc>
                <a:extLst>
                  <a:ext uri="{0D108BD9-81ED-4DB2-BD59-A6C34878D82A}">
                    <a16:rowId xmlns:a16="http://schemas.microsoft.com/office/drawing/2014/main" val="2486303132"/>
                  </a:ext>
                </a:extLst>
              </a:tr>
              <a:tr h="285168">
                <a:tc>
                  <a:txBody>
                    <a:bodyPr/>
                    <a:lstStyle/>
                    <a:p>
                      <a:pPr lvl="0" algn="l">
                        <a:buNone/>
                      </a:pPr>
                      <a:r>
                        <a:rPr lang="en-US" sz="1100" b="1" i="0" u="none" strike="noStrike">
                          <a:solidFill>
                            <a:srgbClr val="1F1F1F"/>
                          </a:solidFill>
                          <a:effectLst/>
                          <a:latin typeface="Arial"/>
                        </a:rPr>
                        <a:t>Market Cap (USD’m)</a:t>
                      </a:r>
                    </a:p>
                  </a:txBody>
                  <a:tcPr marL="36000" marR="36000" marT="36000" marB="36000" anchor="ctr">
                    <a:solidFill>
                      <a:schemeClr val="bg1">
                        <a:lumMod val="65000"/>
                      </a:schemeClr>
                    </a:solidFill>
                  </a:tcPr>
                </a:tc>
                <a:tc>
                  <a:txBody>
                    <a:bodyPr/>
                    <a:lstStyle/>
                    <a:p>
                      <a:pPr lvl="0" algn="l">
                        <a:buNone/>
                      </a:pPr>
                      <a:r>
                        <a:rPr lang="en-US" altLang="zh-CN" sz="1100" b="0" i="0" u="none" strike="noStrike">
                          <a:solidFill>
                            <a:srgbClr val="1F1F1F"/>
                          </a:solidFill>
                          <a:effectLst/>
                          <a:latin typeface="Arial"/>
                        </a:rPr>
                        <a:t>N/A</a:t>
                      </a:r>
                    </a:p>
                  </a:txBody>
                  <a:tcPr marL="36000" marR="36000" marT="36000" marB="36000" anchor="ctr"/>
                </a:tc>
                <a:tc>
                  <a:txBody>
                    <a:bodyPr/>
                    <a:lstStyle/>
                    <a:p>
                      <a:pPr lvl="0" algn="l">
                        <a:buNone/>
                      </a:pPr>
                      <a:r>
                        <a:rPr lang="en-US" sz="1100" b="0" i="0" u="none" strike="noStrike">
                          <a:solidFill>
                            <a:srgbClr val="1F1F1F"/>
                          </a:solidFill>
                          <a:effectLst/>
                          <a:latin typeface="Arial"/>
                        </a:rPr>
                        <a:t>6,810.8</a:t>
                      </a:r>
                    </a:p>
                  </a:txBody>
                  <a:tcPr marL="36000" marR="36000" marT="36000" marB="36000" anchor="ctr"/>
                </a:tc>
                <a:tc>
                  <a:txBody>
                    <a:bodyPr/>
                    <a:lstStyle/>
                    <a:p>
                      <a:pPr lvl="0" algn="l">
                        <a:buNone/>
                      </a:pPr>
                      <a:r>
                        <a:rPr lang="en-US" sz="1100" b="0" i="0" u="none" strike="noStrike">
                          <a:solidFill>
                            <a:srgbClr val="1F1F1F"/>
                          </a:solidFill>
                          <a:effectLst/>
                          <a:latin typeface="Arial"/>
                        </a:rPr>
                        <a:t>1,839.2</a:t>
                      </a:r>
                    </a:p>
                  </a:txBody>
                  <a:tcPr marL="36000" marR="36000" marT="36000" marB="36000" anchor="ctr"/>
                </a:tc>
                <a:extLst>
                  <a:ext uri="{0D108BD9-81ED-4DB2-BD59-A6C34878D82A}">
                    <a16:rowId xmlns:a16="http://schemas.microsoft.com/office/drawing/2014/main" val="1412925928"/>
                  </a:ext>
                </a:extLst>
              </a:tr>
              <a:tr h="278968">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1100" b="1" i="0" u="none" strike="noStrike">
                          <a:solidFill>
                            <a:srgbClr val="1F1F1F"/>
                          </a:solidFill>
                          <a:effectLst/>
                          <a:latin typeface="+mn-lt"/>
                        </a:rPr>
                        <a:t>Revenue (USD’m)</a:t>
                      </a:r>
                      <a:endParaRPr lang="en-US" sz="1100" b="1" i="0" u="none" strike="noStrike">
                        <a:solidFill>
                          <a:srgbClr val="1F1F1F"/>
                        </a:solidFill>
                        <a:effectLst/>
                        <a:latin typeface="Arial"/>
                      </a:endParaRPr>
                    </a:p>
                  </a:txBody>
                  <a:tcPr marL="36000" marR="36000" marT="36000" marB="36000" anchor="ctr">
                    <a:solidFill>
                      <a:schemeClr val="bg1">
                        <a:lumMod val="65000"/>
                      </a:schemeClr>
                    </a:solidFill>
                  </a:tcPr>
                </a:tc>
                <a:tc>
                  <a:txBody>
                    <a:bodyPr/>
                    <a:lstStyle/>
                    <a:p>
                      <a:pPr lvl="0" algn="l">
                        <a:buNone/>
                      </a:pPr>
                      <a:r>
                        <a:rPr lang="en-US" altLang="zh-CN" sz="1100" b="0" i="0" u="none" strike="noStrike">
                          <a:solidFill>
                            <a:srgbClr val="1F1F1F"/>
                          </a:solidFill>
                          <a:effectLst/>
                          <a:latin typeface="+mn-lt"/>
                        </a:rPr>
                        <a:t>N/A</a:t>
                      </a:r>
                      <a:endParaRPr lang="en-US" altLang="zh-CN" sz="1100" b="0" i="0" u="none" strike="noStrike">
                        <a:solidFill>
                          <a:srgbClr val="1F1F1F"/>
                        </a:solidFill>
                        <a:effectLst/>
                        <a:latin typeface="Arial"/>
                      </a:endParaRPr>
                    </a:p>
                  </a:txBody>
                  <a:tcPr marL="36000" marR="36000" marT="36000" marB="36000" anchor="ctr"/>
                </a:tc>
                <a:tc>
                  <a:txBody>
                    <a:bodyPr/>
                    <a:lstStyle/>
                    <a:p>
                      <a:pPr lvl="0" algn="l">
                        <a:buNone/>
                      </a:pPr>
                      <a:r>
                        <a:rPr lang="en-US" sz="1100" b="0" i="0" u="none" strike="noStrike">
                          <a:solidFill>
                            <a:srgbClr val="1F1F1F"/>
                          </a:solidFill>
                          <a:effectLst/>
                          <a:latin typeface="+mn-lt"/>
                        </a:rPr>
                        <a:t>1,591.3</a:t>
                      </a:r>
                      <a:endParaRPr lang="en-US" sz="1100" b="0" i="0" u="none" strike="noStrike">
                        <a:solidFill>
                          <a:srgbClr val="1F1F1F"/>
                        </a:solidFill>
                        <a:effectLst/>
                        <a:latin typeface="Arial"/>
                      </a:endParaRPr>
                    </a:p>
                  </a:txBody>
                  <a:tcPr marL="36000" marR="36000" marT="36000" marB="36000" anchor="ctr"/>
                </a:tc>
                <a:tc>
                  <a:txBody>
                    <a:bodyPr/>
                    <a:lstStyle/>
                    <a:p>
                      <a:pPr lvl="0" algn="l">
                        <a:buNone/>
                      </a:pPr>
                      <a:r>
                        <a:rPr lang="en-US" sz="1100" b="0" i="0" u="none" strike="noStrike">
                          <a:solidFill>
                            <a:srgbClr val="1F1F1F"/>
                          </a:solidFill>
                          <a:effectLst/>
                          <a:latin typeface="+mn-lt"/>
                        </a:rPr>
                        <a:t>377.2 </a:t>
                      </a:r>
                      <a:endParaRPr lang="en-US" sz="1100" b="0" i="0" u="none" strike="noStrike">
                        <a:solidFill>
                          <a:srgbClr val="1F1F1F"/>
                        </a:solidFill>
                        <a:effectLst/>
                        <a:latin typeface="Arial"/>
                      </a:endParaRPr>
                    </a:p>
                  </a:txBody>
                  <a:tcPr marL="36000" marR="36000" marT="36000" marB="36000" anchor="ctr"/>
                </a:tc>
                <a:extLst>
                  <a:ext uri="{0D108BD9-81ED-4DB2-BD59-A6C34878D82A}">
                    <a16:rowId xmlns:a16="http://schemas.microsoft.com/office/drawing/2014/main" val="763770131"/>
                  </a:ext>
                </a:extLst>
              </a:tr>
              <a:tr h="278968">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1100" b="1" i="0" u="none" strike="noStrike">
                          <a:solidFill>
                            <a:srgbClr val="1F1F1F"/>
                          </a:solidFill>
                          <a:effectLst/>
                          <a:latin typeface="+mn-lt"/>
                        </a:rPr>
                        <a:t>Net Profit (USD’m)</a:t>
                      </a:r>
                      <a:endParaRPr lang="en-US" sz="1100" b="1" i="0" u="none" strike="noStrike">
                        <a:solidFill>
                          <a:srgbClr val="1F1F1F"/>
                        </a:solidFill>
                        <a:effectLst/>
                        <a:latin typeface="Arial"/>
                      </a:endParaRPr>
                    </a:p>
                  </a:txBody>
                  <a:tcPr marL="36000" marR="36000" marT="36000" marB="36000" anchor="ctr">
                    <a:solidFill>
                      <a:schemeClr val="bg1">
                        <a:lumMod val="65000"/>
                      </a:schemeClr>
                    </a:solidFill>
                  </a:tcPr>
                </a:tc>
                <a:tc>
                  <a:txBody>
                    <a:bodyPr/>
                    <a:lstStyle/>
                    <a:p>
                      <a:pPr lvl="0" algn="l">
                        <a:buNone/>
                      </a:pPr>
                      <a:r>
                        <a:rPr lang="en-US" altLang="zh-CN" sz="1100" b="0" i="0" u="none" strike="noStrike">
                          <a:solidFill>
                            <a:srgbClr val="1F1F1F"/>
                          </a:solidFill>
                          <a:effectLst/>
                          <a:latin typeface="+mn-lt"/>
                        </a:rPr>
                        <a:t>N/A</a:t>
                      </a:r>
                      <a:endParaRPr lang="en-US" altLang="zh-CN" sz="1100" b="0" i="0" u="none" strike="noStrike">
                        <a:solidFill>
                          <a:srgbClr val="1F1F1F"/>
                        </a:solidFill>
                        <a:effectLst/>
                        <a:latin typeface="Arial"/>
                      </a:endParaRPr>
                    </a:p>
                  </a:txBody>
                  <a:tcPr marL="36000" marR="36000" marT="36000" marB="36000" anchor="ctr"/>
                </a:tc>
                <a:tc>
                  <a:txBody>
                    <a:bodyPr/>
                    <a:lstStyle/>
                    <a:p>
                      <a:pPr lvl="0" algn="l">
                        <a:buNone/>
                      </a:pPr>
                      <a:r>
                        <a:rPr lang="en-US" sz="1100" b="0" i="0" u="none" strike="noStrike">
                          <a:solidFill>
                            <a:srgbClr val="1F1F1F"/>
                          </a:solidFill>
                          <a:effectLst/>
                          <a:latin typeface="+mn-lt"/>
                        </a:rPr>
                        <a:t>132.2</a:t>
                      </a:r>
                      <a:endParaRPr lang="en-US" sz="1100" b="0" i="0" u="none" strike="noStrike">
                        <a:solidFill>
                          <a:srgbClr val="1F1F1F"/>
                        </a:solidFill>
                        <a:effectLst/>
                        <a:latin typeface="Arial"/>
                      </a:endParaRPr>
                    </a:p>
                  </a:txBody>
                  <a:tcPr marL="36000" marR="36000" marT="36000" marB="36000" anchor="ctr"/>
                </a:tc>
                <a:tc>
                  <a:txBody>
                    <a:bodyPr/>
                    <a:lstStyle/>
                    <a:p>
                      <a:pPr lvl="0" algn="l">
                        <a:buNone/>
                      </a:pPr>
                      <a:r>
                        <a:rPr lang="en-US" sz="1100" b="0" i="0" u="none" strike="noStrike">
                          <a:solidFill>
                            <a:srgbClr val="1F1F1F"/>
                          </a:solidFill>
                          <a:effectLst/>
                          <a:latin typeface="+mn-lt"/>
                        </a:rPr>
                        <a:t>131.7</a:t>
                      </a:r>
                      <a:endParaRPr lang="en-US" sz="1100" b="0" i="0" u="none" strike="noStrike">
                        <a:solidFill>
                          <a:srgbClr val="1F1F1F"/>
                        </a:solidFill>
                        <a:effectLst/>
                        <a:latin typeface="Arial"/>
                      </a:endParaRPr>
                    </a:p>
                  </a:txBody>
                  <a:tcPr marL="36000" marR="36000" marT="36000" marB="36000" anchor="ctr"/>
                </a:tc>
                <a:extLst>
                  <a:ext uri="{0D108BD9-81ED-4DB2-BD59-A6C34878D82A}">
                    <a16:rowId xmlns:a16="http://schemas.microsoft.com/office/drawing/2014/main" val="1059799399"/>
                  </a:ext>
                </a:extLst>
              </a:tr>
              <a:tr h="474120">
                <a:tc>
                  <a:txBody>
                    <a:bodyPr/>
                    <a:lstStyle/>
                    <a:p>
                      <a:pPr algn="l" rtl="0" fontAlgn="ctr">
                        <a:buNone/>
                      </a:pPr>
                      <a:r>
                        <a:rPr lang="en-US" sz="1100" b="1" i="0" u="none" strike="noStrike">
                          <a:solidFill>
                            <a:srgbClr val="1F1F1F"/>
                          </a:solidFill>
                          <a:effectLst/>
                          <a:latin typeface="Arial" panose="020B0604020202020204" pitchFamily="34" charset="0"/>
                        </a:rPr>
                        <a:t>Average Power Usage Effectiveness (PUE)</a:t>
                      </a:r>
                    </a:p>
                  </a:txBody>
                  <a:tcPr marL="36000" marR="36000" marT="36000" marB="36000" anchor="ctr">
                    <a:solidFill>
                      <a:schemeClr val="bg1">
                        <a:lumMod val="65000"/>
                      </a:schemeClr>
                    </a:solidFill>
                  </a:tcPr>
                </a:tc>
                <a:tc>
                  <a:txBody>
                    <a:bodyPr/>
                    <a:lstStyle/>
                    <a:p>
                      <a:pPr algn="l" rtl="0" fontAlgn="ctr">
                        <a:buNone/>
                      </a:pPr>
                      <a:r>
                        <a:rPr lang="en-US" sz="1100" b="0" i="0" u="none" strike="noStrike">
                          <a:solidFill>
                            <a:srgbClr val="1F1F1F"/>
                          </a:solidFill>
                          <a:effectLst/>
                          <a:latin typeface="Arial"/>
                        </a:rPr>
                        <a:t>1.18 PUE</a:t>
                      </a:r>
                    </a:p>
                  </a:txBody>
                  <a:tcPr marL="36000" marR="36000" marT="36000" marB="36000" anchor="ctr"/>
                </a:tc>
                <a:tc>
                  <a:txBody>
                    <a:bodyPr/>
                    <a:lstStyle/>
                    <a:p>
                      <a:pPr algn="l" rtl="0" fontAlgn="ctr">
                        <a:buNone/>
                      </a:pPr>
                      <a:r>
                        <a:rPr lang="en-US" sz="1100" b="0" i="0" u="none" strike="noStrike">
                          <a:solidFill>
                            <a:srgbClr val="1F1F1F"/>
                          </a:solidFill>
                          <a:effectLst/>
                          <a:latin typeface="Arial"/>
                        </a:rPr>
                        <a:t>1.23 PUE</a:t>
                      </a:r>
                    </a:p>
                  </a:txBody>
                  <a:tcPr marL="36000" marR="36000" marT="36000" marB="36000" anchor="ctr"/>
                </a:tc>
                <a:tc>
                  <a:txBody>
                    <a:bodyPr/>
                    <a:lstStyle/>
                    <a:p>
                      <a:pPr algn="l" rtl="0" fontAlgn="ctr">
                        <a:buNone/>
                      </a:pPr>
                      <a:r>
                        <a:rPr lang="en-US" sz="1100" b="0" i="0" u="none" strike="noStrike">
                          <a:solidFill>
                            <a:srgbClr val="1F1F1F"/>
                          </a:solidFill>
                          <a:effectLst/>
                          <a:latin typeface="Arial"/>
                        </a:rPr>
                        <a:t>~1.15 PUE</a:t>
                      </a:r>
                      <a:endParaRPr lang="en-US" sz="1100" b="0" i="0" u="none" strike="noStrike">
                        <a:solidFill>
                          <a:srgbClr val="1F1F1F"/>
                        </a:solidFill>
                        <a:effectLst/>
                        <a:latin typeface="Arial" panose="020B0604020202020204" pitchFamily="34" charset="0"/>
                      </a:endParaRPr>
                    </a:p>
                  </a:txBody>
                  <a:tcPr marL="36000" marR="36000" marT="36000" marB="36000" anchor="ctr"/>
                </a:tc>
                <a:extLst>
                  <a:ext uri="{0D108BD9-81ED-4DB2-BD59-A6C34878D82A}">
                    <a16:rowId xmlns:a16="http://schemas.microsoft.com/office/drawing/2014/main" val="1043578482"/>
                  </a:ext>
                </a:extLst>
              </a:tr>
            </a:tbl>
          </a:graphicData>
        </a:graphic>
      </p:graphicFrame>
      <p:sp>
        <p:nvSpPr>
          <p:cNvPr id="5" name="Rectangle 56">
            <a:extLst>
              <a:ext uri="{FF2B5EF4-FFF2-40B4-BE49-F238E27FC236}">
                <a16:creationId xmlns:a16="http://schemas.microsoft.com/office/drawing/2014/main" id="{945949CB-7C87-09D2-F582-7BCBB0F57448}"/>
              </a:ext>
            </a:extLst>
          </p:cNvPr>
          <p:cNvSpPr/>
          <p:nvPr/>
        </p:nvSpPr>
        <p:spPr>
          <a:xfrm>
            <a:off x="2580831" y="1097483"/>
            <a:ext cx="2290316" cy="4909475"/>
          </a:xfrm>
          <a:prstGeom prst="rect">
            <a:avLst/>
          </a:prstGeom>
          <a:noFill/>
          <a:ln w="19050">
            <a:solidFill>
              <a:srgbClr val="08958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latin typeface="Arial" panose="020B0604020202020204" pitchFamily="34" charset="0"/>
              <a:cs typeface="Arial" panose="020B0604020202020204" pitchFamily="34" charset="0"/>
            </a:endParaRPr>
          </a:p>
        </p:txBody>
      </p:sp>
      <p:grpSp>
        <p:nvGrpSpPr>
          <p:cNvPr id="14" name="Group 13">
            <a:extLst>
              <a:ext uri="{FF2B5EF4-FFF2-40B4-BE49-F238E27FC236}">
                <a16:creationId xmlns:a16="http://schemas.microsoft.com/office/drawing/2014/main" id="{DAAB9EFD-BE8D-073A-B145-C32506BCF2DE}"/>
              </a:ext>
            </a:extLst>
          </p:cNvPr>
          <p:cNvGrpSpPr/>
          <p:nvPr/>
        </p:nvGrpSpPr>
        <p:grpSpPr>
          <a:xfrm>
            <a:off x="5348293" y="1184612"/>
            <a:ext cx="1302103" cy="775027"/>
            <a:chOff x="5148116" y="1295464"/>
            <a:chExt cx="1302103" cy="775027"/>
          </a:xfrm>
        </p:grpSpPr>
        <p:grpSp>
          <p:nvGrpSpPr>
            <p:cNvPr id="22" name="群組 21">
              <a:extLst>
                <a:ext uri="{FF2B5EF4-FFF2-40B4-BE49-F238E27FC236}">
                  <a16:creationId xmlns:a16="http://schemas.microsoft.com/office/drawing/2014/main" id="{81C287E8-D7D6-0537-0E93-C203FCA35DD5}"/>
                </a:ext>
              </a:extLst>
            </p:cNvPr>
            <p:cNvGrpSpPr/>
            <p:nvPr/>
          </p:nvGrpSpPr>
          <p:grpSpPr>
            <a:xfrm>
              <a:off x="5249627" y="1749267"/>
              <a:ext cx="1200592" cy="321224"/>
              <a:chOff x="1270000" y="3683000"/>
              <a:chExt cx="3937000" cy="1092200"/>
            </a:xfrm>
          </p:grpSpPr>
          <p:sp>
            <p:nvSpPr>
              <p:cNvPr id="24" name="Text 3">
                <a:extLst>
                  <a:ext uri="{FF2B5EF4-FFF2-40B4-BE49-F238E27FC236}">
                    <a16:creationId xmlns:a16="http://schemas.microsoft.com/office/drawing/2014/main" id="{49F5691E-24CA-CCC1-C70A-90A887E3580A}"/>
                  </a:ext>
                </a:extLst>
              </p:cNvPr>
              <p:cNvSpPr/>
              <p:nvPr/>
            </p:nvSpPr>
            <p:spPr>
              <a:xfrm>
                <a:off x="1270000" y="3683000"/>
                <a:ext cx="3937000" cy="381000"/>
              </a:xfrm>
              <a:prstGeom prst="rect">
                <a:avLst/>
              </a:prstGeom>
              <a:noFill/>
              <a:ln/>
            </p:spPr>
            <p:txBody>
              <a:bodyPr wrap="none" lIns="0" tIns="0" rIns="0" bIns="0" rtlCol="0" anchor="ctr"/>
              <a:lstStyle/>
              <a:p>
                <a:pPr algn="ctr">
                  <a:lnSpc>
                    <a:spcPct val="100000"/>
                  </a:lnSpc>
                </a:pPr>
                <a:r>
                  <a:rPr lang="en-US" sz="1000">
                    <a:solidFill>
                      <a:srgbClr val="00375E"/>
                    </a:solidFill>
                    <a:latin typeface="+mj-lt"/>
                    <a:ea typeface="Liter" pitchFamily="34" charset="-122"/>
                  </a:rPr>
                  <a:t>GDS</a:t>
                </a:r>
                <a:endParaRPr lang="en-US" sz="1000">
                  <a:solidFill>
                    <a:srgbClr val="00375E"/>
                  </a:solidFill>
                  <a:latin typeface="+mj-lt"/>
                </a:endParaRPr>
              </a:p>
            </p:txBody>
          </p:sp>
          <p:sp>
            <p:nvSpPr>
              <p:cNvPr id="26" name="Text 5">
                <a:extLst>
                  <a:ext uri="{FF2B5EF4-FFF2-40B4-BE49-F238E27FC236}">
                    <a16:creationId xmlns:a16="http://schemas.microsoft.com/office/drawing/2014/main" id="{0DA717B8-8FC4-E896-5578-B7869C4FBF37}"/>
                  </a:ext>
                </a:extLst>
              </p:cNvPr>
              <p:cNvSpPr/>
              <p:nvPr/>
            </p:nvSpPr>
            <p:spPr>
              <a:xfrm>
                <a:off x="1270000" y="4470400"/>
                <a:ext cx="3937000" cy="304800"/>
              </a:xfrm>
              <a:prstGeom prst="rect">
                <a:avLst/>
              </a:prstGeom>
              <a:noFill/>
              <a:ln/>
            </p:spPr>
            <p:txBody>
              <a:bodyPr wrap="none" lIns="0" tIns="0" rIns="0" bIns="0" rtlCol="0" anchor="ctr"/>
              <a:lstStyle/>
              <a:p>
                <a:pPr algn="ctr">
                  <a:lnSpc>
                    <a:spcPct val="100000"/>
                  </a:lnSpc>
                </a:pPr>
                <a:endParaRPr lang="en-US" sz="1000">
                  <a:latin typeface="+mj-lt"/>
                </a:endParaRPr>
              </a:p>
            </p:txBody>
          </p:sp>
        </p:grpSp>
        <p:pic>
          <p:nvPicPr>
            <p:cNvPr id="13" name="Picture 12" descr="HOME - GDS">
              <a:extLst>
                <a:ext uri="{FF2B5EF4-FFF2-40B4-BE49-F238E27FC236}">
                  <a16:creationId xmlns:a16="http://schemas.microsoft.com/office/drawing/2014/main" id="{929E952A-2C4F-D4F4-175A-34CAFDB244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116" y="1295464"/>
              <a:ext cx="1257646" cy="416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315A1D30-C434-EBB8-83BA-325221CC8F2C}"/>
              </a:ext>
            </a:extLst>
          </p:cNvPr>
          <p:cNvGrpSpPr/>
          <p:nvPr/>
        </p:nvGrpSpPr>
        <p:grpSpPr>
          <a:xfrm>
            <a:off x="8022963" y="1195555"/>
            <a:ext cx="617208" cy="748896"/>
            <a:chOff x="7562513" y="1328307"/>
            <a:chExt cx="617208" cy="748896"/>
          </a:xfrm>
        </p:grpSpPr>
        <p:grpSp>
          <p:nvGrpSpPr>
            <p:cNvPr id="27" name="群組 26">
              <a:extLst>
                <a:ext uri="{FF2B5EF4-FFF2-40B4-BE49-F238E27FC236}">
                  <a16:creationId xmlns:a16="http://schemas.microsoft.com/office/drawing/2014/main" id="{74E910ED-658C-29CF-147D-0755860CA9B1}"/>
                </a:ext>
              </a:extLst>
            </p:cNvPr>
            <p:cNvGrpSpPr/>
            <p:nvPr/>
          </p:nvGrpSpPr>
          <p:grpSpPr>
            <a:xfrm>
              <a:off x="7562513" y="1778371"/>
              <a:ext cx="617208" cy="298832"/>
              <a:chOff x="6159500" y="3683000"/>
              <a:chExt cx="3937000" cy="1092200"/>
            </a:xfrm>
          </p:grpSpPr>
          <p:sp>
            <p:nvSpPr>
              <p:cNvPr id="29" name="Text 7">
                <a:extLst>
                  <a:ext uri="{FF2B5EF4-FFF2-40B4-BE49-F238E27FC236}">
                    <a16:creationId xmlns:a16="http://schemas.microsoft.com/office/drawing/2014/main" id="{FF738853-D544-D4A3-00B7-E07AD9D638CB}"/>
                  </a:ext>
                </a:extLst>
              </p:cNvPr>
              <p:cNvSpPr/>
              <p:nvPr/>
            </p:nvSpPr>
            <p:spPr>
              <a:xfrm>
                <a:off x="6159500" y="3683000"/>
                <a:ext cx="3937000" cy="381000"/>
              </a:xfrm>
              <a:prstGeom prst="rect">
                <a:avLst/>
              </a:prstGeom>
              <a:noFill/>
              <a:ln/>
            </p:spPr>
            <p:txBody>
              <a:bodyPr wrap="none" lIns="0" tIns="0" rIns="0" bIns="0" rtlCol="0" anchor="ctr"/>
              <a:lstStyle/>
              <a:p>
                <a:pPr algn="ctr">
                  <a:lnSpc>
                    <a:spcPct val="100000"/>
                  </a:lnSpc>
                </a:pPr>
                <a:r>
                  <a:rPr lang="en-US" sz="1000" b="1" err="1">
                    <a:solidFill>
                      <a:srgbClr val="1E3A5F"/>
                    </a:solidFill>
                    <a:latin typeface="+mj-lt"/>
                    <a:ea typeface="Liter" pitchFamily="34" charset="-122"/>
                    <a:cs typeface="Liter" pitchFamily="34" charset="-120"/>
                  </a:rPr>
                  <a:t>SUNeVision</a:t>
                </a:r>
                <a:endParaRPr lang="en-US" sz="1000">
                  <a:latin typeface="+mj-lt"/>
                </a:endParaRPr>
              </a:p>
            </p:txBody>
          </p:sp>
          <p:sp>
            <p:nvSpPr>
              <p:cNvPr id="31" name="Text 9">
                <a:extLst>
                  <a:ext uri="{FF2B5EF4-FFF2-40B4-BE49-F238E27FC236}">
                    <a16:creationId xmlns:a16="http://schemas.microsoft.com/office/drawing/2014/main" id="{D5A26FE0-0C00-6831-0717-C0AE6971C500}"/>
                  </a:ext>
                </a:extLst>
              </p:cNvPr>
              <p:cNvSpPr/>
              <p:nvPr/>
            </p:nvSpPr>
            <p:spPr>
              <a:xfrm>
                <a:off x="6159500" y="4470400"/>
                <a:ext cx="3937000" cy="304800"/>
              </a:xfrm>
              <a:prstGeom prst="rect">
                <a:avLst/>
              </a:prstGeom>
              <a:noFill/>
              <a:ln/>
            </p:spPr>
            <p:txBody>
              <a:bodyPr wrap="none" lIns="0" tIns="0" rIns="0" bIns="0" rtlCol="0" anchor="ctr"/>
              <a:lstStyle/>
              <a:p>
                <a:pPr algn="ctr">
                  <a:lnSpc>
                    <a:spcPct val="100000"/>
                  </a:lnSpc>
                </a:pPr>
                <a:endParaRPr lang="en-US" sz="1000">
                  <a:latin typeface="+mj-lt"/>
                </a:endParaRPr>
              </a:p>
            </p:txBody>
          </p:sp>
        </p:grpSp>
        <p:pic>
          <p:nvPicPr>
            <p:cNvPr id="15" name="Picture 14" descr="SUNeVision Data Centres - SUNeVision Holdings Ltd.">
              <a:extLst>
                <a:ext uri="{FF2B5EF4-FFF2-40B4-BE49-F238E27FC236}">
                  <a16:creationId xmlns:a16="http://schemas.microsoft.com/office/drawing/2014/main" id="{F2C32C13-A29D-6325-1641-1551455A81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96535" y="1328307"/>
              <a:ext cx="580967" cy="357518"/>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17">
            <a:extLst>
              <a:ext uri="{FF2B5EF4-FFF2-40B4-BE49-F238E27FC236}">
                <a16:creationId xmlns:a16="http://schemas.microsoft.com/office/drawing/2014/main" id="{0FDE5FA7-C975-0F40-66DB-A0C7C006094B}"/>
              </a:ext>
            </a:extLst>
          </p:cNvPr>
          <p:cNvPicPr>
            <a:picLocks noChangeAspect="1"/>
          </p:cNvPicPr>
          <p:nvPr/>
        </p:nvPicPr>
        <p:blipFill>
          <a:blip r:embed="rId5"/>
          <a:stretch>
            <a:fillRect/>
          </a:stretch>
        </p:blipFill>
        <p:spPr>
          <a:xfrm>
            <a:off x="3029932" y="1261971"/>
            <a:ext cx="1300381" cy="443458"/>
          </a:xfrm>
          <a:prstGeom prst="rect">
            <a:avLst/>
          </a:prstGeom>
        </p:spPr>
      </p:pic>
      <p:sp>
        <p:nvSpPr>
          <p:cNvPr id="4" name="Slide Number Placeholder 1">
            <a:extLst>
              <a:ext uri="{FF2B5EF4-FFF2-40B4-BE49-F238E27FC236}">
                <a16:creationId xmlns:a16="http://schemas.microsoft.com/office/drawing/2014/main" id="{11FDC830-BD64-D1B9-854F-48AD6BD4D9DF}"/>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24</a:t>
            </a:fld>
            <a:endParaRPr lang="en-US"/>
          </a:p>
        </p:txBody>
      </p:sp>
      <p:sp>
        <p:nvSpPr>
          <p:cNvPr id="3" name="TextBox 2">
            <a:extLst>
              <a:ext uri="{FF2B5EF4-FFF2-40B4-BE49-F238E27FC236}">
                <a16:creationId xmlns:a16="http://schemas.microsoft.com/office/drawing/2014/main" id="{EB02E3A9-1BA9-F8BF-4001-A3081FF4691E}"/>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dirty="0">
                <a:solidFill>
                  <a:schemeClr val="tx1"/>
                </a:solidFill>
              </a:rPr>
              <a:t>HK team updated</a:t>
            </a:r>
            <a:endParaRPr lang="en-GB" sz="1400" dirty="0">
              <a:solidFill>
                <a:schemeClr val="tx1"/>
              </a:solidFill>
            </a:endParaRPr>
          </a:p>
        </p:txBody>
      </p:sp>
    </p:spTree>
    <p:extLst>
      <p:ext uri="{BB962C8B-B14F-4D97-AF65-F5344CB8AC3E}">
        <p14:creationId xmlns:p14="http://schemas.microsoft.com/office/powerpoint/2010/main" val="2193038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679A0-9FEF-239F-A1A0-DB099D0EC4D7}"/>
              </a:ext>
            </a:extLst>
          </p:cNvPr>
          <p:cNvSpPr>
            <a:spLocks noGrp="1"/>
          </p:cNvSpPr>
          <p:nvPr>
            <p:ph type="title"/>
          </p:nvPr>
        </p:nvSpPr>
        <p:spPr/>
        <p:txBody>
          <a:bodyPr/>
          <a:lstStyle/>
          <a:p>
            <a:r>
              <a:rPr lang="en-GB" dirty="0"/>
              <a:t>Hong Kong Listed Comparable Company Analysis (Cont’d)</a:t>
            </a:r>
          </a:p>
        </p:txBody>
      </p:sp>
      <p:sp>
        <p:nvSpPr>
          <p:cNvPr id="3" name="Slide Number Placeholder 2">
            <a:extLst>
              <a:ext uri="{FF2B5EF4-FFF2-40B4-BE49-F238E27FC236}">
                <a16:creationId xmlns:a16="http://schemas.microsoft.com/office/drawing/2014/main" id="{8838AC7D-C08D-7E93-B960-F10B30D4A62E}"/>
              </a:ext>
            </a:extLst>
          </p:cNvPr>
          <p:cNvSpPr>
            <a:spLocks noGrp="1"/>
          </p:cNvSpPr>
          <p:nvPr>
            <p:ph type="sldNum" sz="quarter" idx="11"/>
          </p:nvPr>
        </p:nvSpPr>
        <p:spPr/>
        <p:txBody>
          <a:bodyPr/>
          <a:lstStyle/>
          <a:p>
            <a:pPr>
              <a:defRPr/>
            </a:pPr>
            <a:fld id="{EED7964B-8F50-47E5-B5EE-37748C966AF4}" type="slidenum">
              <a:rPr lang="en-US" smtClean="0"/>
              <a:pPr>
                <a:defRPr/>
              </a:pPr>
              <a:t>25</a:t>
            </a:fld>
            <a:endParaRPr lang="en-US"/>
          </a:p>
        </p:txBody>
      </p:sp>
      <p:sp>
        <p:nvSpPr>
          <p:cNvPr id="4" name="Text Placeholder 3">
            <a:extLst>
              <a:ext uri="{FF2B5EF4-FFF2-40B4-BE49-F238E27FC236}">
                <a16:creationId xmlns:a16="http://schemas.microsoft.com/office/drawing/2014/main" id="{85AF623A-E245-0486-D4C8-72F29301AA2A}"/>
              </a:ext>
            </a:extLst>
          </p:cNvPr>
          <p:cNvSpPr>
            <a:spLocks noGrp="1"/>
          </p:cNvSpPr>
          <p:nvPr>
            <p:ph type="body" sz="quarter" idx="46"/>
          </p:nvPr>
        </p:nvSpPr>
        <p:spPr/>
        <p:txBody>
          <a:bodyPr/>
          <a:lstStyle/>
          <a:p>
            <a:pPr marL="0" indent="0">
              <a:buNone/>
            </a:pPr>
            <a:r>
              <a:rPr lang="en-HK" dirty="0"/>
              <a:t>Source: Bloomberg (27 May 2026), DBS Research</a:t>
            </a:r>
          </a:p>
          <a:p>
            <a:endParaRPr lang="en-GB" dirty="0"/>
          </a:p>
        </p:txBody>
      </p:sp>
      <p:graphicFrame>
        <p:nvGraphicFramePr>
          <p:cNvPr id="5" name="表格 8">
            <a:extLst>
              <a:ext uri="{FF2B5EF4-FFF2-40B4-BE49-F238E27FC236}">
                <a16:creationId xmlns:a16="http://schemas.microsoft.com/office/drawing/2014/main" id="{F6743E76-556C-F0BC-0542-B6DC95B6CD8A}"/>
              </a:ext>
            </a:extLst>
          </p:cNvPr>
          <p:cNvGraphicFramePr>
            <a:graphicFrameLocks noGrp="1"/>
          </p:cNvGraphicFramePr>
          <p:nvPr>
            <p:extLst>
              <p:ext uri="{D42A27DB-BD31-4B8C-83A1-F6EECF244321}">
                <p14:modId xmlns:p14="http://schemas.microsoft.com/office/powerpoint/2010/main" val="1392521543"/>
              </p:ext>
            </p:extLst>
          </p:nvPr>
        </p:nvGraphicFramePr>
        <p:xfrm>
          <a:off x="453000" y="2740393"/>
          <a:ext cx="8999989" cy="3312019"/>
        </p:xfrm>
        <a:graphic>
          <a:graphicData uri="http://schemas.openxmlformats.org/drawingml/2006/table">
            <a:tbl>
              <a:tblPr/>
              <a:tblGrid>
                <a:gridCol w="1556808">
                  <a:extLst>
                    <a:ext uri="{9D8B030D-6E8A-4147-A177-3AD203B41FA5}">
                      <a16:colId xmlns:a16="http://schemas.microsoft.com/office/drawing/2014/main" val="3880861080"/>
                    </a:ext>
                  </a:extLst>
                </a:gridCol>
                <a:gridCol w="774751">
                  <a:extLst>
                    <a:ext uri="{9D8B030D-6E8A-4147-A177-3AD203B41FA5}">
                      <a16:colId xmlns:a16="http://schemas.microsoft.com/office/drawing/2014/main" val="1097813945"/>
                    </a:ext>
                  </a:extLst>
                </a:gridCol>
                <a:gridCol w="605704">
                  <a:extLst>
                    <a:ext uri="{9D8B030D-6E8A-4147-A177-3AD203B41FA5}">
                      <a16:colId xmlns:a16="http://schemas.microsoft.com/office/drawing/2014/main" val="3508817455"/>
                    </a:ext>
                  </a:extLst>
                </a:gridCol>
                <a:gridCol w="605704">
                  <a:extLst>
                    <a:ext uri="{9D8B030D-6E8A-4147-A177-3AD203B41FA5}">
                      <a16:colId xmlns:a16="http://schemas.microsoft.com/office/drawing/2014/main" val="2615091350"/>
                    </a:ext>
                  </a:extLst>
                </a:gridCol>
                <a:gridCol w="605704">
                  <a:extLst>
                    <a:ext uri="{9D8B030D-6E8A-4147-A177-3AD203B41FA5}">
                      <a16:colId xmlns:a16="http://schemas.microsoft.com/office/drawing/2014/main" val="1968839240"/>
                    </a:ext>
                  </a:extLst>
                </a:gridCol>
                <a:gridCol w="605704">
                  <a:extLst>
                    <a:ext uri="{9D8B030D-6E8A-4147-A177-3AD203B41FA5}">
                      <a16:colId xmlns:a16="http://schemas.microsoft.com/office/drawing/2014/main" val="1721863948"/>
                    </a:ext>
                  </a:extLst>
                </a:gridCol>
                <a:gridCol w="605704">
                  <a:extLst>
                    <a:ext uri="{9D8B030D-6E8A-4147-A177-3AD203B41FA5}">
                      <a16:colId xmlns:a16="http://schemas.microsoft.com/office/drawing/2014/main" val="2199909748"/>
                    </a:ext>
                  </a:extLst>
                </a:gridCol>
                <a:gridCol w="605704">
                  <a:extLst>
                    <a:ext uri="{9D8B030D-6E8A-4147-A177-3AD203B41FA5}">
                      <a16:colId xmlns:a16="http://schemas.microsoft.com/office/drawing/2014/main" val="2186207547"/>
                    </a:ext>
                  </a:extLst>
                </a:gridCol>
                <a:gridCol w="337134">
                  <a:extLst>
                    <a:ext uri="{9D8B030D-6E8A-4147-A177-3AD203B41FA5}">
                      <a16:colId xmlns:a16="http://schemas.microsoft.com/office/drawing/2014/main" val="2859103223"/>
                    </a:ext>
                  </a:extLst>
                </a:gridCol>
                <a:gridCol w="337134">
                  <a:extLst>
                    <a:ext uri="{9D8B030D-6E8A-4147-A177-3AD203B41FA5}">
                      <a16:colId xmlns:a16="http://schemas.microsoft.com/office/drawing/2014/main" val="4216292914"/>
                    </a:ext>
                  </a:extLst>
                </a:gridCol>
                <a:gridCol w="337134">
                  <a:extLst>
                    <a:ext uri="{9D8B030D-6E8A-4147-A177-3AD203B41FA5}">
                      <a16:colId xmlns:a16="http://schemas.microsoft.com/office/drawing/2014/main" val="850985903"/>
                    </a:ext>
                  </a:extLst>
                </a:gridCol>
                <a:gridCol w="337134">
                  <a:extLst>
                    <a:ext uri="{9D8B030D-6E8A-4147-A177-3AD203B41FA5}">
                      <a16:colId xmlns:a16="http://schemas.microsoft.com/office/drawing/2014/main" val="1420604734"/>
                    </a:ext>
                  </a:extLst>
                </a:gridCol>
                <a:gridCol w="337134">
                  <a:extLst>
                    <a:ext uri="{9D8B030D-6E8A-4147-A177-3AD203B41FA5}">
                      <a16:colId xmlns:a16="http://schemas.microsoft.com/office/drawing/2014/main" val="3503836007"/>
                    </a:ext>
                  </a:extLst>
                </a:gridCol>
                <a:gridCol w="337134">
                  <a:extLst>
                    <a:ext uri="{9D8B030D-6E8A-4147-A177-3AD203B41FA5}">
                      <a16:colId xmlns:a16="http://schemas.microsoft.com/office/drawing/2014/main" val="86108499"/>
                    </a:ext>
                  </a:extLst>
                </a:gridCol>
                <a:gridCol w="337134">
                  <a:extLst>
                    <a:ext uri="{9D8B030D-6E8A-4147-A177-3AD203B41FA5}">
                      <a16:colId xmlns:a16="http://schemas.microsoft.com/office/drawing/2014/main" val="4256161158"/>
                    </a:ext>
                  </a:extLst>
                </a:gridCol>
                <a:gridCol w="337134">
                  <a:extLst>
                    <a:ext uri="{9D8B030D-6E8A-4147-A177-3AD203B41FA5}">
                      <a16:colId xmlns:a16="http://schemas.microsoft.com/office/drawing/2014/main" val="2642684570"/>
                    </a:ext>
                  </a:extLst>
                </a:gridCol>
                <a:gridCol w="337134">
                  <a:extLst>
                    <a:ext uri="{9D8B030D-6E8A-4147-A177-3AD203B41FA5}">
                      <a16:colId xmlns:a16="http://schemas.microsoft.com/office/drawing/2014/main" val="2893779137"/>
                    </a:ext>
                  </a:extLst>
                </a:gridCol>
              </a:tblGrid>
              <a:tr h="220927">
                <a:tc rowSpan="3">
                  <a:txBody>
                    <a:bodyPr/>
                    <a:lstStyle/>
                    <a:p>
                      <a:pPr algn="ctr" fontAlgn="ctr">
                        <a:buNone/>
                      </a:pPr>
                      <a:r>
                        <a:rPr lang="en-US" sz="900" b="1" i="0" u="none" strike="noStrike">
                          <a:solidFill>
                            <a:srgbClr val="FFFFFF"/>
                          </a:solidFill>
                          <a:effectLst/>
                          <a:latin typeface="Aptos Narrow" panose="020B0004020202020204" pitchFamily="34" charset="0"/>
                        </a:rPr>
                        <a:t>Company Name</a:t>
                      </a:r>
                    </a:p>
                  </a:txBody>
                  <a:tcPr marL="0" marR="0" marT="0" marB="0" anchor="ctr">
                    <a:lnL>
                      <a:noFill/>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rowSpan="3">
                  <a:txBody>
                    <a:bodyPr/>
                    <a:lstStyle/>
                    <a:p>
                      <a:pPr algn="ctr" fontAlgn="ctr">
                        <a:buNone/>
                      </a:pPr>
                      <a:r>
                        <a:rPr lang="en-US" sz="900" b="1" i="0" u="none" strike="noStrike">
                          <a:solidFill>
                            <a:srgbClr val="FFFFFF"/>
                          </a:solidFill>
                          <a:effectLst/>
                          <a:latin typeface="Aptos Narrow" panose="020B0004020202020204" pitchFamily="34" charset="0"/>
                        </a:rPr>
                        <a:t>Stock Code</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800000"/>
                    </a:solidFill>
                  </a:tcPr>
                </a:tc>
                <a:tc gridSpan="6">
                  <a:txBody>
                    <a:bodyPr/>
                    <a:lstStyle/>
                    <a:p>
                      <a:pPr algn="ctr" fontAlgn="ctr">
                        <a:buNone/>
                      </a:pPr>
                      <a:r>
                        <a:rPr lang="en-US" sz="900" b="1" i="0" u="none" strike="noStrike">
                          <a:solidFill>
                            <a:srgbClr val="FFFFFF"/>
                          </a:solidFill>
                          <a:effectLst/>
                          <a:latin typeface="Aptos Narrow" panose="020B0004020202020204" pitchFamily="34" charset="0"/>
                        </a:rPr>
                        <a:t>Operating Data</a:t>
                      </a:r>
                    </a:p>
                  </a:txBody>
                  <a:tcPr marL="0" marR="0" marT="0" marB="0" anchor="ctr">
                    <a:lnL w="19050" cap="flat" cmpd="sng" algn="ctr">
                      <a:solidFill>
                        <a:srgbClr val="FFFFFF"/>
                      </a:solidFill>
                      <a:prstDash val="solid"/>
                      <a:round/>
                      <a:headEnd type="none" w="med" len="med"/>
                      <a:tailEnd type="none" w="med" len="med"/>
                    </a:lnL>
                    <a:lnR>
                      <a:noFill/>
                    </a:lnR>
                    <a:lnT>
                      <a:noFill/>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9">
                  <a:txBody>
                    <a:bodyPr/>
                    <a:lstStyle/>
                    <a:p>
                      <a:pPr algn="ctr" fontAlgn="ctr">
                        <a:buNone/>
                      </a:pPr>
                      <a:r>
                        <a:rPr lang="en-US" sz="900" b="1" i="0" u="none" strike="noStrike">
                          <a:solidFill>
                            <a:srgbClr val="FFFFFF"/>
                          </a:solidFill>
                          <a:effectLst/>
                          <a:latin typeface="Aptos Narrow" panose="020B0004020202020204" pitchFamily="34" charset="0"/>
                        </a:rPr>
                        <a:t>Valuation </a:t>
                      </a:r>
                    </a:p>
                  </a:txBody>
                  <a:tcPr marL="0" marR="0" marT="0" marB="0" anchor="ctr">
                    <a:lnL>
                      <a:noFill/>
                    </a:lnL>
                    <a:lnR>
                      <a:noFill/>
                    </a:lnR>
                    <a:lnT>
                      <a:noFill/>
                    </a:lnT>
                    <a:lnB w="19050" cap="flat" cmpd="sng" algn="ctr">
                      <a:solidFill>
                        <a:schemeClr val="bg1"/>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71148960"/>
                  </a:ext>
                </a:extLst>
              </a:tr>
              <a:tr h="220927">
                <a:tc vMerge="1">
                  <a:txBody>
                    <a:bodyPr/>
                    <a:lstStyle/>
                    <a:p>
                      <a:endParaRPr lang="en-US"/>
                    </a:p>
                  </a:txBody>
                  <a:tcPr/>
                </a:tc>
                <a:tc vMerge="1">
                  <a:txBody>
                    <a:bodyPr/>
                    <a:lstStyle/>
                    <a:p>
                      <a:endParaRPr lang="en-US"/>
                    </a:p>
                  </a:txBody>
                  <a:tcPr/>
                </a:tc>
                <a:tc rowSpan="2">
                  <a:txBody>
                    <a:bodyPr/>
                    <a:lstStyle/>
                    <a:p>
                      <a:pPr algn="ctr" fontAlgn="ctr">
                        <a:buNone/>
                      </a:pPr>
                      <a:r>
                        <a:rPr lang="en-US" sz="900" b="1" i="0" u="none" strike="noStrike">
                          <a:solidFill>
                            <a:srgbClr val="000000"/>
                          </a:solidFill>
                          <a:effectLst/>
                          <a:latin typeface="Aptos Narrow" panose="020B0004020202020204" pitchFamily="34" charset="0"/>
                        </a:rPr>
                        <a:t>Market Capitalization (USD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nl-NL" sz="900" b="1" i="0" u="none" strike="noStrike" dirty="0">
                          <a:solidFill>
                            <a:srgbClr val="000000"/>
                          </a:solidFill>
                          <a:effectLst/>
                          <a:latin typeface="Aptos Narrow" panose="020B0004020202020204" pitchFamily="34" charset="0"/>
                        </a:rPr>
                        <a:t>Revenue</a:t>
                      </a:r>
                    </a:p>
                    <a:p>
                      <a:pPr algn="ctr" fontAlgn="ctr">
                        <a:buNone/>
                      </a:pPr>
                      <a:r>
                        <a:rPr lang="nl-NL" sz="900" b="1" i="0" u="none" strike="noStrike" dirty="0">
                          <a:solidFill>
                            <a:srgbClr val="000000"/>
                          </a:solidFill>
                          <a:effectLst/>
                          <a:latin typeface="Aptos Narrow" panose="020B0004020202020204" pitchFamily="34" charset="0"/>
                        </a:rPr>
                        <a:t>(USD 'm)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900" b="1" i="0" u="none" strike="noStrike">
                          <a:solidFill>
                            <a:srgbClr val="000000"/>
                          </a:solidFill>
                          <a:effectLst/>
                          <a:latin typeface="Aptos Narrow" panose="020B0004020202020204" pitchFamily="34" charset="0"/>
                        </a:rPr>
                        <a:t>Net Profit</a:t>
                      </a:r>
                      <a:br>
                        <a:rPr lang="en-US" sz="900" b="1" i="0" u="none" strike="noStrike">
                          <a:solidFill>
                            <a:srgbClr val="000000"/>
                          </a:solidFill>
                          <a:effectLst/>
                          <a:latin typeface="Aptos Narrow" panose="020B0004020202020204" pitchFamily="34" charset="0"/>
                        </a:rPr>
                      </a:br>
                      <a:r>
                        <a:rPr lang="en-US" sz="900" b="1" i="0" u="none" strike="noStrike">
                          <a:solidFill>
                            <a:srgbClr val="000000"/>
                          </a:solidFill>
                          <a:effectLst/>
                          <a:latin typeface="Aptos Narrow" panose="020B0004020202020204" pitchFamily="34" charset="0"/>
                        </a:rPr>
                        <a:t>(USD </a:t>
                      </a:r>
                      <a:r>
                        <a:rPr lang="nl-NL" sz="900" b="1" i="0" u="none" strike="noStrike">
                          <a:solidFill>
                            <a:srgbClr val="000000"/>
                          </a:solidFill>
                          <a:effectLst/>
                          <a:latin typeface="Aptos Narrow" panose="020B0004020202020204" pitchFamily="34" charset="0"/>
                        </a:rPr>
                        <a:t>'m</a:t>
                      </a:r>
                      <a:r>
                        <a:rPr lang="en-US" sz="900" b="1" i="0" u="none" strike="noStrike">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900" b="1" i="0" u="none" strike="noStrike">
                          <a:solidFill>
                            <a:srgbClr val="000000"/>
                          </a:solidFill>
                          <a:effectLst/>
                          <a:latin typeface="Aptos Narrow" panose="020B0004020202020204" pitchFamily="34" charset="0"/>
                        </a:rPr>
                        <a:t>EBITDA</a:t>
                      </a:r>
                    </a:p>
                    <a:p>
                      <a:pPr algn="ctr" fontAlgn="ctr">
                        <a:buNone/>
                      </a:pPr>
                      <a:r>
                        <a:rPr lang="en-US" sz="900" b="1" i="0" u="none" strike="noStrike">
                          <a:solidFill>
                            <a:srgbClr val="000000"/>
                          </a:solidFill>
                          <a:effectLst/>
                          <a:latin typeface="Aptos Narrow" panose="020B0004020202020204" pitchFamily="34" charset="0"/>
                        </a:rPr>
                        <a:t>Margin (%)</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900" b="1" i="0" u="none" strike="noStrike">
                          <a:solidFill>
                            <a:srgbClr val="000000"/>
                          </a:solidFill>
                          <a:effectLst/>
                          <a:latin typeface="Aptos Narrow" panose="020B0004020202020204" pitchFamily="34" charset="0"/>
                        </a:rPr>
                        <a:t>Revenue </a:t>
                      </a:r>
                    </a:p>
                    <a:p>
                      <a:pPr algn="ctr" fontAlgn="ctr">
                        <a:buNone/>
                      </a:pPr>
                      <a:r>
                        <a:rPr lang="en-US" sz="900" b="1" i="0" u="none" strike="noStrike">
                          <a:solidFill>
                            <a:srgbClr val="000000"/>
                          </a:solidFill>
                          <a:effectLst/>
                          <a:latin typeface="Aptos Narrow" panose="020B0004020202020204" pitchFamily="34" charset="0"/>
                        </a:rPr>
                        <a:t>Growth (%)</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rowSpan="2">
                  <a:txBody>
                    <a:bodyPr/>
                    <a:lstStyle/>
                    <a:p>
                      <a:pPr algn="ctr" fontAlgn="ctr">
                        <a:buNone/>
                      </a:pPr>
                      <a:r>
                        <a:rPr lang="en-US" sz="900" b="1" i="0" u="none" strike="noStrike">
                          <a:solidFill>
                            <a:srgbClr val="000000"/>
                          </a:solidFill>
                          <a:effectLst/>
                          <a:latin typeface="Aptos Narrow" panose="020B0004020202020204" pitchFamily="34" charset="0"/>
                        </a:rPr>
                        <a:t>EV</a:t>
                      </a:r>
                    </a:p>
                    <a:p>
                      <a:pPr algn="ctr" fontAlgn="ctr">
                        <a:buNone/>
                      </a:pPr>
                      <a:r>
                        <a:rPr lang="en-US" sz="900" b="1" i="0" u="none" strike="noStrike">
                          <a:solidFill>
                            <a:srgbClr val="000000"/>
                          </a:solidFill>
                          <a:effectLst/>
                          <a:latin typeface="Aptos Narrow" panose="020B0004020202020204" pitchFamily="34" charset="0"/>
                        </a:rPr>
                        <a:t>(USD </a:t>
                      </a:r>
                      <a:r>
                        <a:rPr lang="nl-NL" sz="900" b="1" i="0" u="none" strike="noStrike">
                          <a:solidFill>
                            <a:srgbClr val="000000"/>
                          </a:solidFill>
                          <a:effectLst/>
                          <a:latin typeface="Aptos Narrow" panose="020B0004020202020204" pitchFamily="34" charset="0"/>
                        </a:rPr>
                        <a:t>'m</a:t>
                      </a:r>
                      <a:r>
                        <a:rPr lang="en-US" sz="900" b="1" i="0" u="none" strike="noStrike">
                          <a:solidFill>
                            <a:srgbClr val="000000"/>
                          </a:solidFill>
                          <a:effectLst/>
                          <a:latin typeface="Aptos Narrow" panose="020B0004020202020204" pitchFamily="34" charset="0"/>
                        </a:rPr>
                        <a:t>)</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gridSpan="3">
                  <a:txBody>
                    <a:bodyPr/>
                    <a:lstStyle/>
                    <a:p>
                      <a:pPr algn="ctr" fontAlgn="ctr">
                        <a:buNone/>
                      </a:pPr>
                      <a:r>
                        <a:rPr lang="en-US" sz="900" b="1" i="0" u="none" strike="noStrike">
                          <a:solidFill>
                            <a:srgbClr val="FFFFFF"/>
                          </a:solidFill>
                          <a:effectLst/>
                          <a:latin typeface="Aptos Narrow" panose="020B0004020202020204" pitchFamily="34" charset="0"/>
                        </a:rPr>
                        <a:t>PE Ratio (x)</a:t>
                      </a:r>
                    </a:p>
                  </a:txBody>
                  <a:tcPr marL="0" marR="0" marT="0" marB="0" anchor="ctr">
                    <a:lnL w="19050" cap="flat" cmpd="sng" algn="ctr">
                      <a:solidFill>
                        <a:srgbClr val="FFFFFF"/>
                      </a:solidFill>
                      <a:prstDash val="solid"/>
                      <a:round/>
                      <a:headEnd type="none" w="med" len="med"/>
                      <a:tailEnd type="none" w="med" len="med"/>
                    </a:lnL>
                    <a:lnR>
                      <a:noFill/>
                    </a:lnR>
                    <a:lnT w="19050" cap="flat" cmpd="sng" algn="ctr">
                      <a:solidFill>
                        <a:schemeClr val="bg1"/>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tc gridSpan="3">
                  <a:txBody>
                    <a:bodyPr/>
                    <a:lstStyle/>
                    <a:p>
                      <a:pPr marL="0" marR="0" lvl="0" indent="0" algn="ctr" defTabSz="742950" rtl="0" eaLnBrk="1" fontAlgn="ctr" latinLnBrk="0" hangingPunct="1">
                        <a:lnSpc>
                          <a:spcPct val="100000"/>
                        </a:lnSpc>
                        <a:spcBef>
                          <a:spcPts val="0"/>
                        </a:spcBef>
                        <a:spcAft>
                          <a:spcPts val="0"/>
                        </a:spcAft>
                        <a:buClrTx/>
                        <a:buSzTx/>
                        <a:buFontTx/>
                        <a:buNone/>
                        <a:tabLst/>
                        <a:defRPr/>
                      </a:pPr>
                      <a:r>
                        <a:rPr lang="en-US" sz="900" b="1" i="0" u="none" strike="noStrike">
                          <a:solidFill>
                            <a:srgbClr val="FFFFFF"/>
                          </a:solidFill>
                          <a:effectLst/>
                          <a:latin typeface="Aptos Narrow" panose="020B0004020202020204" pitchFamily="34" charset="0"/>
                        </a:rPr>
                        <a:t>PS Ratio (x)</a:t>
                      </a:r>
                    </a:p>
                  </a:txBody>
                  <a:tcPr marL="0" marR="0" marT="0" marB="0" anchor="ctr">
                    <a:lnL w="19050" cap="flat" cmpd="sng" algn="ctr">
                      <a:noFill/>
                      <a:prstDash val="solid"/>
                      <a:round/>
                      <a:headEnd type="none" w="med" len="med"/>
                      <a:tailEnd type="none" w="med" len="med"/>
                    </a:lnL>
                    <a:lnR>
                      <a:noFill/>
                    </a:lnR>
                    <a:lnT w="19050" cap="flat" cmpd="sng" algn="ctr">
                      <a:solidFill>
                        <a:schemeClr val="bg1"/>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pPr algn="ctr" fontAlgn="ctr">
                        <a:buNone/>
                      </a:pPr>
                      <a:endParaRPr lang="en-US" sz="600" b="1" i="0" u="none" strike="noStrike">
                        <a:solidFill>
                          <a:srgbClr val="FFFFFF"/>
                        </a:solidFill>
                        <a:effectLst/>
                        <a:latin typeface="Aptos Narrow" panose="020B0004020202020204" pitchFamily="34" charset="0"/>
                      </a:endParaRPr>
                    </a:p>
                  </a:txBody>
                  <a:tcPr marL="0" marR="0" marT="0" marB="0" anchor="ctr">
                    <a:lnL w="19050" cap="flat" cmpd="sng" algn="ctr">
                      <a:noFill/>
                      <a:prstDash val="solid"/>
                      <a:round/>
                      <a:headEnd type="none" w="med" len="med"/>
                      <a:tailEnd type="none" w="med" len="med"/>
                    </a:lnL>
                    <a:lnR>
                      <a:noFill/>
                    </a:lnR>
                    <a:lnT w="19050" cap="flat" cmpd="sng" algn="ctr">
                      <a:solidFill>
                        <a:schemeClr val="bg1"/>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pPr algn="ctr" fontAlgn="ctr">
                        <a:buNone/>
                      </a:pPr>
                      <a:endParaRPr lang="en-US" sz="600" b="1" i="0" u="none" strike="noStrike">
                        <a:solidFill>
                          <a:srgbClr val="FFFFFF"/>
                        </a:solidFill>
                        <a:effectLst/>
                        <a:latin typeface="Aptos Narrow" panose="020B0004020202020204" pitchFamily="34" charset="0"/>
                      </a:endParaRPr>
                    </a:p>
                  </a:txBody>
                  <a:tcPr marL="0" marR="0" marT="0" marB="0" anchor="ctr">
                    <a:lnL w="19050" cap="flat" cmpd="sng" algn="ctr">
                      <a:noFill/>
                      <a:prstDash val="solid"/>
                      <a:round/>
                      <a:headEnd type="none" w="med" len="med"/>
                      <a:tailEnd type="none" w="med" len="med"/>
                    </a:lnL>
                    <a:lnR>
                      <a:noFill/>
                    </a:lnR>
                    <a:lnT w="19050" cap="flat" cmpd="sng" algn="ctr">
                      <a:solidFill>
                        <a:schemeClr val="bg1"/>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gridSpan="3">
                  <a:txBody>
                    <a:bodyPr/>
                    <a:lstStyle/>
                    <a:p>
                      <a:pPr algn="ctr" fontAlgn="ctr">
                        <a:buNone/>
                      </a:pPr>
                      <a:r>
                        <a:rPr lang="en-US" sz="900" b="1" i="0" u="none" strike="noStrike">
                          <a:solidFill>
                            <a:srgbClr val="FFFFFF"/>
                          </a:solidFill>
                          <a:effectLst/>
                          <a:latin typeface="Aptos Narrow" panose="020B0004020202020204" pitchFamily="34" charset="0"/>
                        </a:rPr>
                        <a:t>EV/EBITDA (x)</a:t>
                      </a:r>
                    </a:p>
                  </a:txBody>
                  <a:tcPr marL="0" marR="0" marT="0" marB="0" anchor="ctr">
                    <a:lnL>
                      <a:noFill/>
                    </a:lnL>
                    <a:lnR>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38184621"/>
                  </a:ext>
                </a:extLst>
              </a:tr>
              <a:tr h="32782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900" b="1" i="0" u="none" strike="noStrike">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900" b="1" i="0" u="none" strike="noStrike">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9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900" b="1" i="0" u="none" strike="noStrike">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900" b="1" i="0" u="none" strike="noStrike">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9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900" b="1" i="0" u="none" strike="noStrike">
                          <a:solidFill>
                            <a:srgbClr val="000000"/>
                          </a:solidFill>
                          <a:effectLst/>
                          <a:latin typeface="Aptos Narrow" panose="020B0004020202020204" pitchFamily="34" charset="0"/>
                        </a:rPr>
                        <a:t>TTM</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900" b="1" i="0" u="none" strike="noStrike">
                          <a:solidFill>
                            <a:srgbClr val="000000"/>
                          </a:solidFill>
                          <a:effectLst/>
                          <a:latin typeface="Aptos Narrow" panose="020B0004020202020204" pitchFamily="34" charset="0"/>
                        </a:rPr>
                        <a:t>2026F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tc>
                  <a:txBody>
                    <a:bodyPr/>
                    <a:lstStyle/>
                    <a:p>
                      <a:pPr algn="ctr" fontAlgn="ctr">
                        <a:buNone/>
                      </a:pPr>
                      <a:r>
                        <a:rPr lang="en-US" sz="900" b="1" i="0" u="none" strike="noStrike">
                          <a:solidFill>
                            <a:srgbClr val="000000"/>
                          </a:solidFill>
                          <a:effectLst/>
                          <a:latin typeface="Aptos Narrow" panose="020B0004020202020204" pitchFamily="34" charset="0"/>
                        </a:rPr>
                        <a:t>2027F</a:t>
                      </a: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C0C0C0"/>
                    </a:solidFill>
                  </a:tcPr>
                </a:tc>
                <a:extLst>
                  <a:ext uri="{0D108BD9-81ED-4DB2-BD59-A6C34878D82A}">
                    <a16:rowId xmlns:a16="http://schemas.microsoft.com/office/drawing/2014/main" val="3759878214"/>
                  </a:ext>
                </a:extLst>
              </a:tr>
              <a:tr h="216000">
                <a:tc>
                  <a:txBody>
                    <a:bodyPr/>
                    <a:lstStyle/>
                    <a:p>
                      <a:pPr algn="l" fontAlgn="ctr">
                        <a:buNone/>
                      </a:pPr>
                      <a:r>
                        <a:rPr lang="en-US" sz="900" b="1" i="0" u="none" strike="noStrike">
                          <a:solidFill>
                            <a:srgbClr val="000000"/>
                          </a:solidFill>
                          <a:effectLst/>
                          <a:latin typeface="Aptos Narrow" panose="020B0004020202020204" pitchFamily="34" charset="0"/>
                        </a:rPr>
                        <a:t>Carrier-Neutral IDCs</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extLst>
                  <a:ext uri="{0D108BD9-81ED-4DB2-BD59-A6C34878D82A}">
                    <a16:rowId xmlns:a16="http://schemas.microsoft.com/office/drawing/2014/main" val="729155064"/>
                  </a:ext>
                </a:extLst>
              </a:tr>
              <a:tr h="216000">
                <a:tc>
                  <a:txBody>
                    <a:bodyPr/>
                    <a:lstStyle/>
                    <a:p>
                      <a:pPr algn="l" fontAlgn="ctr">
                        <a:buNone/>
                      </a:pPr>
                      <a:r>
                        <a:rPr lang="en-US" sz="900" b="1" i="0" u="none" strike="noStrike" dirty="0">
                          <a:solidFill>
                            <a:srgbClr val="000000"/>
                          </a:solidFill>
                          <a:effectLst/>
                          <a:latin typeface="Aptos Narrow" panose="020B0004020202020204" pitchFamily="34" charset="0"/>
                        </a:rPr>
                        <a:t>GDS Holdings Ltd</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9698 HK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6,575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1,591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132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45.9%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10.8%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11,851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139.1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116.4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N/A</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3.5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3.2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23.1</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13.0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13.0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61125320"/>
                  </a:ext>
                </a:extLst>
              </a:tr>
              <a:tr h="216000">
                <a:tc>
                  <a:txBody>
                    <a:bodyPr/>
                    <a:lstStyle/>
                    <a:p>
                      <a:pPr algn="l" fontAlgn="ctr">
                        <a:buNone/>
                      </a:pPr>
                      <a:r>
                        <a:rPr lang="en-US" sz="900" b="1" i="0" u="none" strike="noStrike">
                          <a:solidFill>
                            <a:srgbClr val="000000"/>
                          </a:solidFill>
                          <a:effectLst/>
                          <a:latin typeface="Aptos Narrow" panose="020B0004020202020204" pitchFamily="34" charset="0"/>
                        </a:rPr>
                        <a:t>SUNeVision Holdings Ltd</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1686 HK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1,824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377</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126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72.4%</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9.9%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3,992</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24.0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20.9</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17.3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8.3</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4.5</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4.0</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12,8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12.8</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dirty="0">
                          <a:solidFill>
                            <a:srgbClr val="000000"/>
                          </a:solidFill>
                          <a:effectLst/>
                          <a:latin typeface="Aptos Narrow" panose="020B0004020202020204" pitchFamily="34" charset="0"/>
                        </a:rPr>
                        <a:t>11.6</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86986996"/>
                  </a:ext>
                </a:extLst>
              </a:tr>
              <a:tr h="216000">
                <a:tc>
                  <a:txBody>
                    <a:bodyPr/>
                    <a:lstStyle/>
                    <a:p>
                      <a:pPr algn="l" fontAlgn="ctr">
                        <a:buNone/>
                      </a:pPr>
                      <a:r>
                        <a:rPr lang="en-US" sz="900" b="1" i="0" u="none" strike="noStrike">
                          <a:solidFill>
                            <a:srgbClr val="000000"/>
                          </a:solidFill>
                          <a:effectLst/>
                          <a:latin typeface="Aptos Narrow" panose="020B0004020202020204" pitchFamily="34" charset="0"/>
                        </a:rPr>
                        <a:t>Telecom Players</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75000"/>
                      </a:schemeClr>
                    </a:solidFill>
                  </a:tcPr>
                </a:tc>
                <a:extLst>
                  <a:ext uri="{0D108BD9-81ED-4DB2-BD59-A6C34878D82A}">
                    <a16:rowId xmlns:a16="http://schemas.microsoft.com/office/drawing/2014/main" val="2232136411"/>
                  </a:ext>
                </a:extLst>
              </a:tr>
              <a:tr h="216000">
                <a:tc>
                  <a:txBody>
                    <a:bodyPr/>
                    <a:lstStyle/>
                    <a:p>
                      <a:pPr algn="l" fontAlgn="ctr">
                        <a:buNone/>
                      </a:pPr>
                      <a:r>
                        <a:rPr lang="en-US" sz="900" b="1" i="0" u="none" strike="noStrike" dirty="0">
                          <a:solidFill>
                            <a:srgbClr val="000000"/>
                          </a:solidFill>
                          <a:effectLst/>
                          <a:latin typeface="Aptos Narrow" panose="020B0004020202020204" pitchFamily="34" charset="0"/>
                        </a:rPr>
                        <a:t>China Mobile</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941 HK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239,159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146,176</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19,082</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32.3%</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0.9%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204,209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11.8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12.1</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11.7</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3.6</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N/A</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N/A</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61465851"/>
                  </a:ext>
                </a:extLst>
              </a:tr>
              <a:tr h="216000">
                <a:tc>
                  <a:txBody>
                    <a:bodyPr/>
                    <a:lstStyle/>
                    <a:p>
                      <a:pPr algn="l" fontAlgn="ctr">
                        <a:buNone/>
                      </a:pPr>
                      <a:r>
                        <a:rPr lang="en-US" sz="900" b="1" i="0" u="none" strike="noStrike">
                          <a:solidFill>
                            <a:srgbClr val="000000"/>
                          </a:solidFill>
                          <a:effectLst/>
                          <a:latin typeface="Aptos Narrow" panose="020B0004020202020204" pitchFamily="34" charset="0"/>
                        </a:rPr>
                        <a:t>China Telecom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728 HK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77,051</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73,709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4,619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27.5%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0.0%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72,386</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13.1</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13.9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13.1</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0.8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2.5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N/A</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N/A</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55732328"/>
                  </a:ext>
                </a:extLst>
              </a:tr>
              <a:tr h="216000">
                <a:tc>
                  <a:txBody>
                    <a:bodyPr/>
                    <a:lstStyle/>
                    <a:p>
                      <a:pPr algn="l" fontAlgn="ctr">
                        <a:buNone/>
                      </a:pPr>
                      <a:r>
                        <a:rPr lang="en-US" sz="900" b="1" i="0" u="none" strike="noStrike">
                          <a:solidFill>
                            <a:srgbClr val="000000"/>
                          </a:solidFill>
                          <a:effectLst/>
                          <a:latin typeface="Aptos Narrow" panose="020B0004020202020204" pitchFamily="34" charset="0"/>
                        </a:rPr>
                        <a:t>China Unicom</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900" b="0" i="0" u="none" strike="noStrike">
                          <a:solidFill>
                            <a:srgbClr val="000000"/>
                          </a:solidFill>
                          <a:effectLst/>
                          <a:latin typeface="Aptos Narrow" panose="020B0004020202020204" pitchFamily="34" charset="0"/>
                        </a:rPr>
                        <a:t>762 HK Equity</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30,380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54,594</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2,897</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24.7%</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0.7%</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25,867</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N/A</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10.8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10.3</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N/A</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0.5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0.5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N/A</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1.9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0.8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78147892"/>
                  </a:ext>
                </a:extLst>
              </a:tr>
              <a:tr h="191001">
                <a:tc>
                  <a:txBody>
                    <a:bodyPr/>
                    <a:lstStyle/>
                    <a:p>
                      <a:pPr algn="ctr" fontAlgn="ctr">
                        <a:buNone/>
                      </a:pPr>
                      <a:endParaRPr lang="en-US" sz="900" b="1"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no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noFill/>
                      <a:prstDash val="dot"/>
                      <a:round/>
                      <a:headEnd type="none" w="med" len="med"/>
                      <a:tailEnd type="none" w="med" len="med"/>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noFill/>
                      <a:prstDash val="dot"/>
                      <a:round/>
                      <a:headEnd type="none" w="med" len="med"/>
                      <a:tailEnd type="none" w="med" len="med"/>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noFill/>
                      <a:prstDash val="dot"/>
                      <a:round/>
                      <a:headEnd type="none" w="med" len="med"/>
                      <a:tailEnd type="none" w="med" len="med"/>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noFill/>
                      <a:prstDash val="dot"/>
                      <a:round/>
                      <a:headEnd type="none" w="med" len="med"/>
                      <a:tailEnd type="none" w="med" len="med"/>
                    </a:lnB>
                    <a:no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noFill/>
                      <a:prstDash val="dot"/>
                      <a:round/>
                      <a:headEnd type="none" w="med" len="med"/>
                      <a:tailEnd type="none" w="med" len="med"/>
                    </a:lnB>
                    <a:no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noFill/>
                      <a:prstDash val="dot"/>
                      <a:round/>
                      <a:headEnd type="none" w="med" len="med"/>
                      <a:tailEnd type="none" w="med" len="med"/>
                    </a:lnB>
                    <a:noFill/>
                  </a:tcPr>
                </a:tc>
                <a:tc>
                  <a:txBody>
                    <a:bodyPr/>
                    <a:lstStyle/>
                    <a:p>
                      <a:pPr algn="ctr" rtl="0"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endParaRPr lang="en-US" sz="900" b="0" i="0" u="none" strike="noStrike" dirty="0">
                        <a:solidFill>
                          <a:srgbClr val="000000"/>
                        </a:solidFill>
                        <a:effectLst/>
                        <a:latin typeface="Aptos Narrow" panose="020B0004020202020204" pitchFamily="34" charset="0"/>
                      </a:endParaRP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84162023"/>
                  </a:ext>
                </a:extLst>
              </a:tr>
              <a:tr h="191001">
                <a:tc>
                  <a:txBody>
                    <a:bodyPr/>
                    <a:lstStyle/>
                    <a:p>
                      <a:pPr algn="ctr" fontAlgn="ctr">
                        <a:buNone/>
                      </a:pPr>
                      <a:endParaRPr lang="en-US" sz="900" b="1"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noFill/>
                      <a:prstDash val="dot"/>
                      <a:round/>
                      <a:headEnd type="none" w="med" len="med"/>
                      <a:tailEnd type="none" w="med" len="med"/>
                    </a:lnT>
                    <a:lnB>
                      <a:noFill/>
                    </a:lnB>
                    <a:noFill/>
                  </a:tcPr>
                </a:tc>
                <a:tc>
                  <a:txBody>
                    <a:bodyPr/>
                    <a:lstStyle/>
                    <a:p>
                      <a:pPr algn="ctr" fontAlgn="b">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noFill/>
                      <a:prstDash val="dot"/>
                      <a:round/>
                      <a:headEnd type="none" w="med" len="med"/>
                      <a:tailEnd type="none" w="med" len="med"/>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noFill/>
                      <a:prstDash val="dot"/>
                      <a:round/>
                      <a:headEnd type="none" w="med" len="med"/>
                      <a:tailEnd type="none" w="med" len="med"/>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noFill/>
                      <a:prstDash val="dot"/>
                      <a:round/>
                      <a:headEnd type="none" w="med" len="med"/>
                      <a:tailEnd type="none" w="med" len="med"/>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w="6350" cap="flat" cmpd="sng" algn="ctr">
                      <a:noFill/>
                      <a:prstDash val="dot"/>
                      <a:round/>
                      <a:headEnd type="none" w="med" len="med"/>
                      <a:tailEnd type="none" w="med" len="med"/>
                    </a:lnT>
                    <a:lnB>
                      <a:noFill/>
                    </a:lnB>
                    <a:no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noFill/>
                      <a:prstDash val="dot"/>
                      <a:round/>
                      <a:headEnd type="none" w="med" len="med"/>
                      <a:tailEnd type="none" w="med" len="med"/>
                    </a:lnT>
                    <a:lnB>
                      <a:noFill/>
                    </a:lnB>
                    <a:no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w="6350" cap="flat" cmpd="sng" algn="ctr">
                      <a:noFill/>
                      <a:prstDash val="dot"/>
                      <a:round/>
                      <a:headEnd type="none" w="med" len="med"/>
                      <a:tailEnd type="none" w="med" len="med"/>
                    </a:lnT>
                    <a:lnB>
                      <a:noFill/>
                    </a:lnB>
                    <a:noFill/>
                  </a:tcPr>
                </a:tc>
                <a:tc>
                  <a:txBody>
                    <a:bodyPr/>
                    <a:lstStyle/>
                    <a:p>
                      <a:pPr algn="ctr" rtl="0" fontAlgn="ctr">
                        <a:buNone/>
                      </a:pPr>
                      <a:r>
                        <a:rPr lang="en-US" sz="900" b="0" i="0" u="none" strike="noStrike">
                          <a:solidFill>
                            <a:srgbClr val="000000"/>
                          </a:solidFill>
                          <a:effectLst/>
                          <a:latin typeface="Aptos Narrow" panose="020B0004020202020204" pitchFamily="34" charset="0"/>
                        </a:rPr>
                        <a:t>Max</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algn="ctr" fontAlgn="b">
                        <a:buNone/>
                      </a:pPr>
                      <a:r>
                        <a:rPr lang="en-US" sz="900" b="0" i="0" u="none" strike="noStrike">
                          <a:solidFill>
                            <a:srgbClr val="000000"/>
                          </a:solidFill>
                          <a:effectLst/>
                          <a:latin typeface="Aptos Narrow" panose="020B0004020202020204" pitchFamily="34" charset="0"/>
                        </a:rPr>
                        <a:t>24.0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139.1</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116.4</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8.3</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4.5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4.0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23.1</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13.0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13.0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633880462"/>
                  </a:ext>
                </a:extLst>
              </a:tr>
              <a:tr h="218484">
                <a:tc>
                  <a:txBody>
                    <a:bodyPr/>
                    <a:lstStyle/>
                    <a:p>
                      <a:pPr algn="ctr" fontAlgn="ctr">
                        <a:buNone/>
                      </a:pPr>
                      <a:endParaRPr lang="en-US" sz="9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900" b="0" i="0" u="none" strike="noStrike">
                          <a:solidFill>
                            <a:srgbClr val="000000"/>
                          </a:solidFill>
                          <a:effectLst/>
                          <a:latin typeface="Aptos Narrow" panose="020B0004020202020204" pitchFamily="34" charset="0"/>
                        </a:rPr>
                        <a:t>Median</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algn="ctr" fontAlgn="b">
                        <a:buNone/>
                      </a:pPr>
                      <a:r>
                        <a:rPr lang="en-US" sz="900" b="0" i="0" u="none" strike="noStrike">
                          <a:solidFill>
                            <a:srgbClr val="000000"/>
                          </a:solidFill>
                          <a:effectLst/>
                          <a:latin typeface="Aptos Narrow" panose="020B0004020202020204" pitchFamily="34" charset="0"/>
                        </a:rPr>
                        <a:t>13.1</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13.9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13.1</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8.2</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12.8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11.6</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698755849"/>
                  </a:ext>
                </a:extLst>
              </a:tr>
              <a:tr h="210393">
                <a:tc>
                  <a:txBody>
                    <a:bodyPr/>
                    <a:lstStyle/>
                    <a:p>
                      <a:pPr algn="ctr" fontAlgn="ctr">
                        <a:buNone/>
                      </a:pPr>
                      <a:endParaRPr lang="en-US" sz="9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900" b="0" i="0" u="none" strike="noStrike">
                          <a:solidFill>
                            <a:srgbClr val="000000"/>
                          </a:solidFill>
                          <a:effectLst/>
                          <a:latin typeface="Aptos Narrow" panose="020B0004020202020204" pitchFamily="34" charset="0"/>
                        </a:rPr>
                        <a:t>Mean</a:t>
                      </a:r>
                    </a:p>
                  </a:txBody>
                  <a:tcPr marL="0" marR="0" marT="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D9D9"/>
                    </a:solidFill>
                  </a:tcPr>
                </a:tc>
                <a:tc>
                  <a:txBody>
                    <a:bodyPr/>
                    <a:lstStyle/>
                    <a:p>
                      <a:pPr algn="ctr" fontAlgn="b">
                        <a:buNone/>
                      </a:pPr>
                      <a:r>
                        <a:rPr lang="en-US" sz="900" b="0" i="0" u="none" strike="noStrike">
                          <a:solidFill>
                            <a:srgbClr val="000000"/>
                          </a:solidFill>
                          <a:effectLst/>
                          <a:latin typeface="Aptos Narrow" panose="020B0004020202020204" pitchFamily="34" charset="0"/>
                        </a:rPr>
                        <a:t>16.3</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39.4</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33.8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3.5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2.2</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2.0</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10.5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9.2</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8.5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11824031"/>
                  </a:ext>
                </a:extLst>
              </a:tr>
              <a:tr h="219460">
                <a:tc>
                  <a:txBody>
                    <a:bodyPr/>
                    <a:lstStyle/>
                    <a:p>
                      <a:pPr algn="ctr" fontAlgn="ctr">
                        <a:buNone/>
                      </a:pPr>
                      <a:endParaRPr lang="en-US" sz="900" b="1"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dirty="0">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fontAlgn="ctr">
                        <a:buNone/>
                      </a:pPr>
                      <a:endParaRPr lang="en-US" sz="900" b="0" i="0" u="none" strike="noStrike">
                        <a:solidFill>
                          <a:srgbClr val="000000"/>
                        </a:solidFill>
                        <a:effectLst/>
                        <a:latin typeface="Aptos Narrow" panose="020B0004020202020204" pitchFamily="34" charset="0"/>
                      </a:endParaRPr>
                    </a:p>
                  </a:txBody>
                  <a:tcPr marL="0" marR="0" marT="0" marB="0" anchor="ctr">
                    <a:lnL>
                      <a:noFill/>
                    </a:lnL>
                    <a:lnR>
                      <a:noFill/>
                    </a:lnR>
                    <a:lnT>
                      <a:noFill/>
                    </a:lnT>
                    <a:lnB>
                      <a:noFill/>
                    </a:lnB>
                    <a:noFill/>
                  </a:tcPr>
                </a:tc>
                <a:tc>
                  <a:txBody>
                    <a:bodyPr/>
                    <a:lstStyle/>
                    <a:p>
                      <a:pPr algn="ctr" rtl="0" fontAlgn="ctr">
                        <a:buNone/>
                      </a:pPr>
                      <a:r>
                        <a:rPr lang="en-US" sz="900" b="0" i="0" u="none" strike="noStrike">
                          <a:solidFill>
                            <a:srgbClr val="000000"/>
                          </a:solidFill>
                          <a:effectLst/>
                          <a:latin typeface="Aptos Narrow" panose="020B0004020202020204" pitchFamily="34" charset="0"/>
                        </a:rPr>
                        <a:t>Min</a:t>
                      </a:r>
                    </a:p>
                  </a:txBody>
                  <a:tcPr marL="0" marR="0" marT="0" marB="0" anchor="ctr">
                    <a:lnL>
                      <a:noFill/>
                    </a:lnL>
                    <a:lnR>
                      <a:noFill/>
                    </a:lnR>
                    <a:lnT w="6350" cap="flat" cmpd="sng" algn="ctr">
                      <a:solidFill>
                        <a:srgbClr val="000000"/>
                      </a:solidFill>
                      <a:prstDash val="dot"/>
                      <a:round/>
                      <a:headEnd type="none" w="med" len="med"/>
                      <a:tailEnd type="none" w="med" len="med"/>
                    </a:lnT>
                    <a:lnB>
                      <a:noFill/>
                    </a:lnB>
                    <a:solidFill>
                      <a:srgbClr val="D9D9D9"/>
                    </a:solidFill>
                  </a:tcPr>
                </a:tc>
                <a:tc>
                  <a:txBody>
                    <a:bodyPr/>
                    <a:lstStyle/>
                    <a:p>
                      <a:pPr algn="ctr" fontAlgn="b">
                        <a:buNone/>
                      </a:pPr>
                      <a:r>
                        <a:rPr lang="en-US" sz="900" b="0" i="0" u="none" strike="noStrike">
                          <a:solidFill>
                            <a:srgbClr val="000000"/>
                          </a:solidFill>
                          <a:effectLst/>
                          <a:latin typeface="Aptos Narrow" panose="020B0004020202020204" pitchFamily="34" charset="0"/>
                        </a:rPr>
                        <a:t>11.8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10.8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10.3</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0.8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0.5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0.5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2.5</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a:solidFill>
                            <a:srgbClr val="000000"/>
                          </a:solidFill>
                          <a:effectLst/>
                          <a:latin typeface="Aptos Narrow" panose="020B0004020202020204" pitchFamily="34" charset="0"/>
                        </a:rPr>
                        <a:t>1.9</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0.8</a:t>
                      </a:r>
                    </a:p>
                  </a:txBody>
                  <a:tcPr marL="6350" marR="6350" marT="6350" marB="0" anchor="ctr">
                    <a:lnL>
                      <a:noFill/>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504407353"/>
                  </a:ext>
                </a:extLst>
              </a:tr>
            </a:tbl>
          </a:graphicData>
        </a:graphic>
      </p:graphicFrame>
      <p:sp>
        <p:nvSpPr>
          <p:cNvPr id="8" name="TextBox 7">
            <a:extLst>
              <a:ext uri="{FF2B5EF4-FFF2-40B4-BE49-F238E27FC236}">
                <a16:creationId xmlns:a16="http://schemas.microsoft.com/office/drawing/2014/main" id="{74F068B3-7288-BA67-C55D-BDBB5E98AE05}"/>
              </a:ext>
            </a:extLst>
          </p:cNvPr>
          <p:cNvSpPr txBox="1"/>
          <p:nvPr/>
        </p:nvSpPr>
        <p:spPr>
          <a:xfrm>
            <a:off x="453008" y="900693"/>
            <a:ext cx="8999992" cy="1697902"/>
          </a:xfrm>
          <a:prstGeom prst="roundRect">
            <a:avLst/>
          </a:prstGeom>
          <a:solidFill>
            <a:schemeClr val="bg2"/>
          </a:solidFill>
          <a:ln>
            <a:solidFill>
              <a:schemeClr val="bg1">
                <a:lumMod val="65000"/>
              </a:schemeClr>
            </a:solidFill>
          </a:ln>
        </p:spPr>
        <p:txBody>
          <a:bodyPr wrap="square" lIns="36000" tIns="36000" rIns="36000" bIns="36000" rtlCol="0" anchor="t" anchorCtr="0">
            <a:spAutoFit/>
          </a:bodyPr>
          <a:lstStyle/>
          <a:p>
            <a:pPr>
              <a:spcBef>
                <a:spcPts val="0"/>
              </a:spcBef>
              <a:spcAft>
                <a:spcPts val="600"/>
              </a:spcAft>
            </a:pPr>
            <a:r>
              <a:rPr lang="en-US" sz="1000" b="0" dirty="0">
                <a:solidFill>
                  <a:schemeClr val="tx1"/>
                </a:solidFill>
              </a:rPr>
              <a:t>GDS and </a:t>
            </a:r>
            <a:r>
              <a:rPr lang="en-US" sz="1000" b="0" dirty="0" err="1">
                <a:solidFill>
                  <a:schemeClr val="tx1"/>
                </a:solidFill>
              </a:rPr>
              <a:t>SUNeVision</a:t>
            </a:r>
            <a:r>
              <a:rPr lang="en-US" sz="1000" b="0" dirty="0">
                <a:solidFill>
                  <a:schemeClr val="tx1"/>
                </a:solidFill>
              </a:rPr>
              <a:t> are the 2 Hong Kong listed peers that are carrier-neutral IDCs, they are the key comparable company of ZDATA. The telecom players with strong IDC coverage are also included for reference</a:t>
            </a:r>
          </a:p>
          <a:p>
            <a:pPr>
              <a:spcBef>
                <a:spcPts val="0"/>
              </a:spcBef>
              <a:spcAft>
                <a:spcPts val="600"/>
              </a:spcAft>
            </a:pPr>
            <a:r>
              <a:rPr lang="en-US" sz="1000" dirty="0">
                <a:solidFill>
                  <a:schemeClr val="tx1"/>
                </a:solidFill>
              </a:rPr>
              <a:t>DBS has research coverage on both GDS and </a:t>
            </a:r>
            <a:r>
              <a:rPr lang="en-US" sz="1000" dirty="0" err="1">
                <a:solidFill>
                  <a:schemeClr val="tx1"/>
                </a:solidFill>
              </a:rPr>
              <a:t>SUNeVision</a:t>
            </a:r>
            <a:r>
              <a:rPr lang="en-US" sz="1000" dirty="0">
                <a:solidFill>
                  <a:schemeClr val="tx1"/>
                </a:solidFill>
              </a:rPr>
              <a:t> with below insights:</a:t>
            </a:r>
          </a:p>
          <a:p>
            <a:pPr marL="171450" indent="-171450">
              <a:spcBef>
                <a:spcPts val="0"/>
              </a:spcBef>
              <a:spcAft>
                <a:spcPts val="600"/>
              </a:spcAft>
              <a:buFont typeface="Arial" panose="020B0604020202020204" pitchFamily="34" charset="0"/>
              <a:buChar char="•"/>
            </a:pPr>
            <a:r>
              <a:rPr lang="en-US" sz="1000" dirty="0">
                <a:solidFill>
                  <a:schemeClr val="tx1"/>
                </a:solidFill>
              </a:rPr>
              <a:t>GDS deleverages on track to sustain growth.</a:t>
            </a:r>
            <a:r>
              <a:rPr lang="en-US" sz="1000" b="0" dirty="0">
                <a:solidFill>
                  <a:schemeClr val="tx1"/>
                </a:solidFill>
              </a:rPr>
              <a:t> It is in a good position to capture the growing inference-related DC demand in China, given its high exposure in tier-1 cities. New orders have stabilized from a declining trend, and capex remains stable despite intensifying control over AI chips</a:t>
            </a:r>
          </a:p>
          <a:p>
            <a:pPr marL="171450" indent="-171450">
              <a:spcBef>
                <a:spcPts val="0"/>
              </a:spcBef>
              <a:spcAft>
                <a:spcPts val="600"/>
              </a:spcAft>
              <a:buFont typeface="Arial" panose="020B0604020202020204" pitchFamily="34" charset="0"/>
              <a:buChar char="•"/>
            </a:pPr>
            <a:r>
              <a:rPr lang="en-US" sz="1000" dirty="0" err="1">
                <a:solidFill>
                  <a:schemeClr val="tx1"/>
                </a:solidFill>
              </a:rPr>
              <a:t>SUNeVision</a:t>
            </a:r>
            <a:r>
              <a:rPr lang="en-US" sz="1000" dirty="0">
                <a:solidFill>
                  <a:schemeClr val="tx1"/>
                </a:solidFill>
              </a:rPr>
              <a:t> reaffirms strong demand with premium portfolio. </a:t>
            </a:r>
            <a:r>
              <a:rPr lang="en-US" sz="1000" b="0" dirty="0">
                <a:solidFill>
                  <a:schemeClr val="tx1"/>
                </a:solidFill>
              </a:rPr>
              <a:t>1HFY6/26 results temporarily missed expectations due to strict pricing discipline, but strengthening AI demand sets the stage for rapid financial acceleration by FY27. While yield-focused negotiations delayed near-term order confirmations, finalized terms on a major imminent contract and surging regional GPU availability reinforce the company’s dominant long-term growth outlook.</a:t>
            </a:r>
            <a:endParaRPr lang="en-US" sz="1000" dirty="0">
              <a:solidFill>
                <a:schemeClr val="tx1"/>
              </a:solidFill>
            </a:endParaRPr>
          </a:p>
        </p:txBody>
      </p:sp>
      <p:sp>
        <p:nvSpPr>
          <p:cNvPr id="6" name="TextBox 5">
            <a:extLst>
              <a:ext uri="{FF2B5EF4-FFF2-40B4-BE49-F238E27FC236}">
                <a16:creationId xmlns:a16="http://schemas.microsoft.com/office/drawing/2014/main" id="{A8EE379D-44DF-B692-116C-DE9121B69504}"/>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dirty="0">
                <a:solidFill>
                  <a:schemeClr val="tx1"/>
                </a:solidFill>
              </a:rPr>
              <a:t>HK team updated</a:t>
            </a:r>
            <a:endParaRPr lang="en-GB" sz="1400" dirty="0">
              <a:solidFill>
                <a:schemeClr val="tx1"/>
              </a:solidFill>
            </a:endParaRPr>
          </a:p>
        </p:txBody>
      </p:sp>
    </p:spTree>
    <p:extLst>
      <p:ext uri="{BB962C8B-B14F-4D97-AF65-F5344CB8AC3E}">
        <p14:creationId xmlns:p14="http://schemas.microsoft.com/office/powerpoint/2010/main" val="1649054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3AB27-5921-2AD9-974B-133A82DA520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19A75D-97C3-2443-F113-D88525BE9166}"/>
              </a:ext>
            </a:extLst>
          </p:cNvPr>
          <p:cNvSpPr>
            <a:spLocks noGrp="1"/>
          </p:cNvSpPr>
          <p:nvPr>
            <p:ph type="title"/>
          </p:nvPr>
        </p:nvSpPr>
        <p:spPr/>
        <p:txBody>
          <a:bodyPr/>
          <a:lstStyle/>
          <a:p>
            <a:r>
              <a:rPr lang="en-GB" dirty="0"/>
              <a:t>Hong Kong Listed Comparable Company Analysis</a:t>
            </a:r>
          </a:p>
        </p:txBody>
      </p:sp>
      <p:sp>
        <p:nvSpPr>
          <p:cNvPr id="10" name="Text Placeholder 9">
            <a:extLst>
              <a:ext uri="{FF2B5EF4-FFF2-40B4-BE49-F238E27FC236}">
                <a16:creationId xmlns:a16="http://schemas.microsoft.com/office/drawing/2014/main" id="{5FD4B11B-456A-FFBD-0BCD-B70773555318}"/>
              </a:ext>
            </a:extLst>
          </p:cNvPr>
          <p:cNvSpPr>
            <a:spLocks noGrp="1"/>
          </p:cNvSpPr>
          <p:nvPr>
            <p:ph type="body" sz="quarter" idx="46"/>
          </p:nvPr>
        </p:nvSpPr>
        <p:spPr>
          <a:xfrm>
            <a:off x="1398755" y="6421405"/>
            <a:ext cx="8100000" cy="360000"/>
          </a:xfrm>
        </p:spPr>
        <p:txBody>
          <a:bodyPr/>
          <a:lstStyle/>
          <a:p>
            <a:pPr marL="0" indent="0">
              <a:buNone/>
            </a:pPr>
            <a:r>
              <a:rPr lang="en-US" sz="800">
                <a:latin typeface="Arial"/>
                <a:cs typeface="Arial"/>
              </a:rPr>
              <a:t>Source: Bloomberg (27 May 2026), HSBC Global Investment Research</a:t>
            </a:r>
            <a:endParaRPr lang="en-US" sz="800"/>
          </a:p>
        </p:txBody>
      </p:sp>
      <p:graphicFrame>
        <p:nvGraphicFramePr>
          <p:cNvPr id="2" name="Table 18">
            <a:extLst>
              <a:ext uri="{FF2B5EF4-FFF2-40B4-BE49-F238E27FC236}">
                <a16:creationId xmlns:a16="http://schemas.microsoft.com/office/drawing/2014/main" id="{A909B6FC-4190-E5BC-EF1B-99D6DA935A59}"/>
              </a:ext>
            </a:extLst>
          </p:cNvPr>
          <p:cNvGraphicFramePr>
            <a:graphicFrameLocks noGrp="1"/>
          </p:cNvGraphicFramePr>
          <p:nvPr>
            <p:extLst>
              <p:ext uri="{D42A27DB-BD31-4B8C-83A1-F6EECF244321}">
                <p14:modId xmlns:p14="http://schemas.microsoft.com/office/powerpoint/2010/main" val="375648295"/>
              </p:ext>
            </p:extLst>
          </p:nvPr>
        </p:nvGraphicFramePr>
        <p:xfrm>
          <a:off x="489044" y="1683223"/>
          <a:ext cx="8985329" cy="4473503"/>
        </p:xfrm>
        <a:graphic>
          <a:graphicData uri="http://schemas.openxmlformats.org/drawingml/2006/table">
            <a:tbl>
              <a:tblPr firstCol="1" bandRow="1">
                <a:tableStyleId>{93296810-A885-4BE3-A3E7-6D5BEEA58F35}</a:tableStyleId>
              </a:tblPr>
              <a:tblGrid>
                <a:gridCol w="1827816">
                  <a:extLst>
                    <a:ext uri="{9D8B030D-6E8A-4147-A177-3AD203B41FA5}">
                      <a16:colId xmlns:a16="http://schemas.microsoft.com/office/drawing/2014/main" val="752541498"/>
                    </a:ext>
                  </a:extLst>
                </a:gridCol>
                <a:gridCol w="3619561">
                  <a:extLst>
                    <a:ext uri="{9D8B030D-6E8A-4147-A177-3AD203B41FA5}">
                      <a16:colId xmlns:a16="http://schemas.microsoft.com/office/drawing/2014/main" val="2594945654"/>
                    </a:ext>
                  </a:extLst>
                </a:gridCol>
                <a:gridCol w="3537952">
                  <a:extLst>
                    <a:ext uri="{9D8B030D-6E8A-4147-A177-3AD203B41FA5}">
                      <a16:colId xmlns:a16="http://schemas.microsoft.com/office/drawing/2014/main" val="3581669626"/>
                    </a:ext>
                  </a:extLst>
                </a:gridCol>
              </a:tblGrid>
              <a:tr h="268594">
                <a:tc>
                  <a:txBody>
                    <a:bodyPr/>
                    <a:lstStyle/>
                    <a:p>
                      <a:pPr lvl="0" algn="ctr">
                        <a:buNone/>
                      </a:pPr>
                      <a:r>
                        <a:rPr lang="en-US" altLang="zh-CN" sz="1100" b="1" i="0" u="none" strike="noStrike">
                          <a:solidFill>
                            <a:srgbClr val="1F1F1F"/>
                          </a:solidFill>
                          <a:effectLst/>
                          <a:latin typeface="Arial"/>
                        </a:rPr>
                        <a:t>Current Price</a:t>
                      </a:r>
                    </a:p>
                  </a:txBody>
                  <a:tcPr marL="36000" marR="36000" marT="36000" marB="36000" anchor="ctr">
                    <a:solidFill>
                      <a:schemeClr val="bg1">
                        <a:lumMod val="65000"/>
                      </a:schemeClr>
                    </a:solidFill>
                  </a:tcPr>
                </a:tc>
                <a:tc>
                  <a:txBody>
                    <a:bodyPr/>
                    <a:lstStyle/>
                    <a:p>
                      <a:pPr lvl="0" algn="ctr">
                        <a:buNone/>
                      </a:pPr>
                      <a:r>
                        <a:rPr lang="en-US" sz="1100" b="0" i="0" u="none" strike="noStrike" kern="1200">
                          <a:solidFill>
                            <a:srgbClr val="1F1F1F"/>
                          </a:solidFill>
                          <a:effectLst/>
                          <a:latin typeface="Arial"/>
                          <a:ea typeface="+mn-ea"/>
                          <a:cs typeface="+mn-cs"/>
                        </a:rPr>
                        <a:t>HK$</a:t>
                      </a:r>
                      <a:r>
                        <a:rPr lang="en-US" sz="1100" b="0" i="0" u="none" strike="noStrike" kern="1200" noProof="0">
                          <a:solidFill>
                            <a:srgbClr val="1F1F1F"/>
                          </a:solidFill>
                          <a:effectLst/>
                          <a:latin typeface="Arial"/>
                          <a:ea typeface="+mn-ea"/>
                          <a:cs typeface="Arial"/>
                        </a:rPr>
                        <a:t>31.86</a:t>
                      </a:r>
                      <a:endParaRPr lang="en-US" sz="1100" b="0" i="0" u="none" strike="noStrike" kern="1200" dirty="0">
                        <a:solidFill>
                          <a:srgbClr val="1F1F1F"/>
                        </a:solidFill>
                        <a:effectLst/>
                        <a:latin typeface="Arial"/>
                        <a:ea typeface="+mn-ea"/>
                        <a:cs typeface="+mn-cs"/>
                      </a:endParaRPr>
                    </a:p>
                  </a:txBody>
                  <a:tcPr marL="36000" marR="36000" marT="36000" marB="36000" anchor="ctr"/>
                </a:tc>
                <a:tc>
                  <a:txBody>
                    <a:bodyPr/>
                    <a:lstStyle/>
                    <a:p>
                      <a:pPr lvl="0" algn="ctr">
                        <a:buNone/>
                      </a:pPr>
                      <a:r>
                        <a:rPr lang="en-US" sz="1100" b="0" i="0" u="none" strike="noStrike">
                          <a:solidFill>
                            <a:srgbClr val="1F1F1F"/>
                          </a:solidFill>
                          <a:effectLst/>
                          <a:latin typeface="Arial"/>
                        </a:rPr>
                        <a:t>HK$6.04</a:t>
                      </a:r>
                      <a:endParaRPr lang="en-US" sz="1100" b="0" i="0" u="none" strike="noStrike" dirty="0">
                        <a:solidFill>
                          <a:srgbClr val="1F1F1F"/>
                        </a:solidFill>
                        <a:effectLst/>
                        <a:latin typeface="Arial"/>
                      </a:endParaRPr>
                    </a:p>
                  </a:txBody>
                  <a:tcPr marL="36000" marR="36000" marT="36000" marB="36000" anchor="ctr"/>
                </a:tc>
                <a:extLst>
                  <a:ext uri="{0D108BD9-81ED-4DB2-BD59-A6C34878D82A}">
                    <a16:rowId xmlns:a16="http://schemas.microsoft.com/office/drawing/2014/main" val="1231407173"/>
                  </a:ext>
                </a:extLst>
              </a:tr>
              <a:tr h="483471">
                <a:tc>
                  <a:txBody>
                    <a:bodyPr/>
                    <a:lstStyle/>
                    <a:p>
                      <a:pPr algn="ctr" rtl="0" fontAlgn="ctr">
                        <a:buNone/>
                      </a:pPr>
                      <a:r>
                        <a:rPr lang="en-US" altLang="zh-CN" sz="1100" b="1" i="0" u="none" strike="noStrike">
                          <a:solidFill>
                            <a:srgbClr val="1F1F1F"/>
                          </a:solidFill>
                          <a:effectLst/>
                          <a:latin typeface="Arial"/>
                        </a:rPr>
                        <a:t>Analyst Consensus </a:t>
                      </a:r>
                    </a:p>
                    <a:p>
                      <a:pPr lvl="0" algn="ctr">
                        <a:buNone/>
                      </a:pPr>
                      <a:r>
                        <a:rPr lang="en-US" altLang="zh-CN" sz="1100" b="1" i="0" u="none" strike="noStrike">
                          <a:solidFill>
                            <a:srgbClr val="1F1F1F"/>
                          </a:solidFill>
                          <a:effectLst/>
                          <a:latin typeface="Arial"/>
                        </a:rPr>
                        <a:t>Price Target </a:t>
                      </a:r>
                    </a:p>
                  </a:txBody>
                  <a:tcPr marL="36000" marR="36000" marT="36000" marB="36000" anchor="ctr">
                    <a:solidFill>
                      <a:schemeClr val="bg1">
                        <a:lumMod val="65000"/>
                      </a:schemeClr>
                    </a:solidFill>
                  </a:tcPr>
                </a:tc>
                <a:tc>
                  <a:txBody>
                    <a:bodyPr/>
                    <a:lstStyle/>
                    <a:p>
                      <a:pPr algn="ctr" rtl="0" fontAlgn="ctr">
                        <a:buNone/>
                      </a:pPr>
                      <a:r>
                        <a:rPr lang="en-US" sz="1100" b="0" i="0" u="none" strike="noStrike" dirty="0">
                          <a:solidFill>
                            <a:srgbClr val="1F1F1F"/>
                          </a:solidFill>
                          <a:effectLst/>
                          <a:latin typeface="Arial"/>
                        </a:rPr>
                        <a:t>HK$53.11, representing 66.7% upside</a:t>
                      </a:r>
                    </a:p>
                  </a:txBody>
                  <a:tcPr marL="36000" marR="36000" marT="36000" marB="36000" anchor="ctr"/>
                </a:tc>
                <a:tc>
                  <a:txBody>
                    <a:bodyPr/>
                    <a:lstStyle/>
                    <a:p>
                      <a:pPr algn="ctr" rtl="0" fontAlgn="ctr">
                        <a:buNone/>
                      </a:pPr>
                      <a:r>
                        <a:rPr lang="en-US" sz="1100" b="0" i="0" u="none" strike="noStrike" dirty="0">
                          <a:solidFill>
                            <a:srgbClr val="1F1F1F"/>
                          </a:solidFill>
                          <a:effectLst/>
                          <a:latin typeface="Arial"/>
                        </a:rPr>
                        <a:t>HK$8.42, representing 39.4% upside</a:t>
                      </a:r>
                    </a:p>
                  </a:txBody>
                  <a:tcPr marL="36000" marR="36000" marT="36000" marB="36000" anchor="ctr"/>
                </a:tc>
                <a:extLst>
                  <a:ext uri="{0D108BD9-81ED-4DB2-BD59-A6C34878D82A}">
                    <a16:rowId xmlns:a16="http://schemas.microsoft.com/office/drawing/2014/main" val="3779138882"/>
                  </a:ext>
                </a:extLst>
              </a:tr>
              <a:tr h="268594">
                <a:tc>
                  <a:txBody>
                    <a:bodyPr/>
                    <a:lstStyle/>
                    <a:p>
                      <a:pPr algn="ctr" rtl="0" fontAlgn="ctr">
                        <a:buNone/>
                      </a:pPr>
                      <a:r>
                        <a:rPr lang="en-US" sz="1100" b="1" i="0" u="none" strike="noStrike">
                          <a:solidFill>
                            <a:srgbClr val="1F1F1F"/>
                          </a:solidFill>
                          <a:effectLst/>
                          <a:latin typeface="Arial"/>
                        </a:rPr>
                        <a:t>Buy</a:t>
                      </a:r>
                    </a:p>
                  </a:txBody>
                  <a:tcPr marL="36000" marR="36000" marT="36000" marB="36000" anchor="ctr">
                    <a:solidFill>
                      <a:schemeClr val="bg1">
                        <a:lumMod val="65000"/>
                      </a:schemeClr>
                    </a:solidFill>
                  </a:tcPr>
                </a:tc>
                <a:tc>
                  <a:txBody>
                    <a:bodyPr/>
                    <a:lstStyle/>
                    <a:p>
                      <a:pPr algn="ctr" rtl="0" fontAlgn="ctr">
                        <a:buNone/>
                      </a:pPr>
                      <a:r>
                        <a:rPr lang="en-US" sz="1100" b="0" i="0" u="none" strike="noStrike">
                          <a:solidFill>
                            <a:srgbClr val="1F1F1F"/>
                          </a:solidFill>
                          <a:effectLst/>
                          <a:latin typeface="Arial"/>
                        </a:rPr>
                        <a:t>100%</a:t>
                      </a:r>
                      <a:endParaRPr lang="en-US" sz="1100" b="0" i="0" u="none" strike="noStrike" dirty="0">
                        <a:solidFill>
                          <a:srgbClr val="1F1F1F"/>
                        </a:solidFill>
                        <a:effectLst/>
                        <a:latin typeface="Arial"/>
                      </a:endParaRPr>
                    </a:p>
                  </a:txBody>
                  <a:tcPr marL="36000" marR="36000" marT="36000" marB="36000" anchor="ctr"/>
                </a:tc>
                <a:tc>
                  <a:txBody>
                    <a:bodyPr/>
                    <a:lstStyle/>
                    <a:p>
                      <a:pPr algn="ctr" rtl="0" fontAlgn="ctr">
                        <a:buNone/>
                      </a:pPr>
                      <a:r>
                        <a:rPr lang="en-US" sz="1100" b="0" i="0" u="none" strike="noStrike" noProof="0">
                          <a:solidFill>
                            <a:srgbClr val="1F1F1F"/>
                          </a:solidFill>
                          <a:effectLst/>
                        </a:rPr>
                        <a:t>100%</a:t>
                      </a:r>
                      <a:endParaRPr lang="en-US" sz="1100" b="0" i="0" u="none" strike="noStrike" noProof="0" dirty="0">
                        <a:solidFill>
                          <a:srgbClr val="1F1F1F"/>
                        </a:solidFill>
                        <a:effectLst/>
                      </a:endParaRPr>
                    </a:p>
                  </a:txBody>
                  <a:tcPr marL="36000" marR="36000" marT="36000" marB="36000" anchor="ctr"/>
                </a:tc>
                <a:extLst>
                  <a:ext uri="{0D108BD9-81ED-4DB2-BD59-A6C34878D82A}">
                    <a16:rowId xmlns:a16="http://schemas.microsoft.com/office/drawing/2014/main" val="1191745064"/>
                  </a:ext>
                </a:extLst>
              </a:tr>
              <a:tr h="286502">
                <a:tc>
                  <a:txBody>
                    <a:bodyPr/>
                    <a:lstStyle/>
                    <a:p>
                      <a:pPr lvl="0" algn="ctr">
                        <a:buNone/>
                      </a:pPr>
                      <a:r>
                        <a:rPr lang="en-US" sz="1100" b="1" i="0" u="none" strike="noStrike">
                          <a:solidFill>
                            <a:srgbClr val="1F1F1F"/>
                          </a:solidFill>
                          <a:effectLst/>
                          <a:latin typeface="Arial"/>
                        </a:rPr>
                        <a:t>Hold</a:t>
                      </a:r>
                    </a:p>
                  </a:txBody>
                  <a:tcPr marL="36000" marR="36000" marT="36000" marB="36000" anchor="ctr">
                    <a:solidFill>
                      <a:schemeClr val="bg1">
                        <a:lumMod val="65000"/>
                      </a:schemeClr>
                    </a:solidFill>
                  </a:tcPr>
                </a:tc>
                <a:tc>
                  <a:txBody>
                    <a:bodyPr/>
                    <a:lstStyle/>
                    <a:p>
                      <a:pPr lvl="0" algn="ctr">
                        <a:buNone/>
                      </a:pPr>
                      <a:r>
                        <a:rPr lang="en-US" sz="1100" b="0" i="0" u="none" strike="noStrike" noProof="0">
                          <a:solidFill>
                            <a:srgbClr val="1F1F1F"/>
                          </a:solidFill>
                          <a:effectLst/>
                          <a:latin typeface="Arial"/>
                          <a:cs typeface="Arial"/>
                        </a:rPr>
                        <a:t>0%</a:t>
                      </a:r>
                    </a:p>
                  </a:txBody>
                  <a:tcPr marL="36000" marR="36000" marT="36000" marB="36000" anchor="ctr"/>
                </a:tc>
                <a:tc>
                  <a:txBody>
                    <a:bodyPr/>
                    <a:lstStyle/>
                    <a:p>
                      <a:pPr lvl="0" algn="ctr">
                        <a:lnSpc>
                          <a:spcPct val="100000"/>
                        </a:lnSpc>
                        <a:spcBef>
                          <a:spcPts val="0"/>
                        </a:spcBef>
                        <a:spcAft>
                          <a:spcPts val="0"/>
                        </a:spcAft>
                        <a:buNone/>
                      </a:pPr>
                      <a:r>
                        <a:rPr lang="en-US" sz="1100" b="0" i="0" u="none" strike="noStrike" noProof="0">
                          <a:solidFill>
                            <a:srgbClr val="1F1F1F"/>
                          </a:solidFill>
                          <a:effectLst/>
                          <a:latin typeface="Arial"/>
                          <a:cs typeface="Arial"/>
                        </a:rPr>
                        <a:t>0%</a:t>
                      </a:r>
                      <a:endParaRPr lang="en-US" sz="1100" b="0" i="0" u="none" strike="noStrike" noProof="0" dirty="0">
                        <a:solidFill>
                          <a:srgbClr val="1F1F1F"/>
                        </a:solidFill>
                        <a:effectLst/>
                        <a:latin typeface="Arial"/>
                        <a:cs typeface="Arial"/>
                      </a:endParaRPr>
                    </a:p>
                  </a:txBody>
                  <a:tcPr marL="36000" marR="36000" marT="36000" marB="36000" anchor="ctr"/>
                </a:tc>
                <a:extLst>
                  <a:ext uri="{0D108BD9-81ED-4DB2-BD59-A6C34878D82A}">
                    <a16:rowId xmlns:a16="http://schemas.microsoft.com/office/drawing/2014/main" val="1938830211"/>
                  </a:ext>
                </a:extLst>
              </a:tr>
              <a:tr h="268594">
                <a:tc>
                  <a:txBody>
                    <a:bodyPr/>
                    <a:lstStyle/>
                    <a:p>
                      <a:pPr algn="ctr" rtl="0" fontAlgn="ctr">
                        <a:buNone/>
                      </a:pPr>
                      <a:r>
                        <a:rPr lang="en-US" sz="1100" b="1" i="0" u="none" strike="noStrike">
                          <a:solidFill>
                            <a:srgbClr val="1F1F1F"/>
                          </a:solidFill>
                          <a:effectLst/>
                          <a:latin typeface="Arial"/>
                        </a:rPr>
                        <a:t>Sell</a:t>
                      </a:r>
                      <a:endParaRPr lang="en-US" sz="1100" b="1" i="0" u="none" strike="noStrike">
                        <a:solidFill>
                          <a:srgbClr val="1F1F1F"/>
                        </a:solidFill>
                        <a:effectLst/>
                        <a:latin typeface="Arial" panose="020B0604020202020204" pitchFamily="34" charset="0"/>
                      </a:endParaRPr>
                    </a:p>
                  </a:txBody>
                  <a:tcPr marL="36000" marR="36000" marT="36000" marB="36000" anchor="ctr">
                    <a:solidFill>
                      <a:schemeClr val="bg1">
                        <a:lumMod val="65000"/>
                      </a:schemeClr>
                    </a:solidFill>
                  </a:tcPr>
                </a:tc>
                <a:tc>
                  <a:txBody>
                    <a:bodyPr/>
                    <a:lstStyle/>
                    <a:p>
                      <a:pPr algn="ctr" rtl="0" fontAlgn="ctr">
                        <a:buNone/>
                      </a:pPr>
                      <a:r>
                        <a:rPr lang="en-US" sz="1100" b="0" i="0" u="none" strike="noStrike">
                          <a:solidFill>
                            <a:srgbClr val="1F1F1F"/>
                          </a:solidFill>
                          <a:effectLst/>
                          <a:latin typeface="Arial"/>
                        </a:rPr>
                        <a:t>0%</a:t>
                      </a:r>
                      <a:endParaRPr lang="en-US" sz="1100" b="0" i="0" u="none" strike="noStrike" dirty="0">
                        <a:solidFill>
                          <a:srgbClr val="1F1F1F"/>
                        </a:solidFill>
                        <a:effectLst/>
                        <a:latin typeface="Arial"/>
                      </a:endParaRPr>
                    </a:p>
                  </a:txBody>
                  <a:tcPr marL="36000" marR="36000" marT="36000" marB="36000" anchor="ctr"/>
                </a:tc>
                <a:tc>
                  <a:txBody>
                    <a:bodyPr/>
                    <a:lstStyle/>
                    <a:p>
                      <a:pPr algn="ctr" rtl="0" fontAlgn="ctr">
                        <a:buNone/>
                      </a:pPr>
                      <a:r>
                        <a:rPr lang="en-US" sz="1100" b="0" i="0" u="none" strike="noStrike">
                          <a:solidFill>
                            <a:srgbClr val="1F1F1F"/>
                          </a:solidFill>
                          <a:effectLst/>
                          <a:latin typeface="Arial"/>
                        </a:rPr>
                        <a:t>0%</a:t>
                      </a:r>
                    </a:p>
                  </a:txBody>
                  <a:tcPr marL="36000" marR="36000" marT="36000" marB="36000" anchor="ctr"/>
                </a:tc>
                <a:extLst>
                  <a:ext uri="{0D108BD9-81ED-4DB2-BD59-A6C34878D82A}">
                    <a16:rowId xmlns:a16="http://schemas.microsoft.com/office/drawing/2014/main" val="2486303132"/>
                  </a:ext>
                </a:extLst>
              </a:tr>
              <a:tr h="1178357">
                <a:tc>
                  <a:txBody>
                    <a:bodyPr/>
                    <a:lstStyle/>
                    <a:p>
                      <a:pPr lvl="0" algn="ctr">
                        <a:buNone/>
                      </a:pPr>
                      <a:r>
                        <a:rPr lang="en-US" sz="1100" b="1" i="0" u="none" strike="noStrike">
                          <a:solidFill>
                            <a:srgbClr val="1F1F1F"/>
                          </a:solidFill>
                          <a:effectLst/>
                          <a:latin typeface="Arial"/>
                        </a:rPr>
                        <a:t>Analyst Review Pros</a:t>
                      </a:r>
                    </a:p>
                  </a:txBody>
                  <a:tcPr marL="36000" marR="36000" marT="36000" marB="36000" anchor="ctr">
                    <a:solidFill>
                      <a:schemeClr val="bg1">
                        <a:lumMod val="65000"/>
                      </a:schemeClr>
                    </a:solidFill>
                  </a:tcPr>
                </a:tc>
                <a:tc>
                  <a:txBody>
                    <a:bodyPr/>
                    <a:lstStyle/>
                    <a:p>
                      <a:pPr lvl="0" algn="l">
                        <a:buNone/>
                      </a:pPr>
                      <a:endParaRPr lang="en-US" sz="1100" b="0" i="0" u="none" strike="noStrike">
                        <a:solidFill>
                          <a:srgbClr val="1F1F1F"/>
                        </a:solidFill>
                        <a:effectLst/>
                        <a:latin typeface="Arial"/>
                      </a:endParaRPr>
                    </a:p>
                  </a:txBody>
                  <a:tcPr marL="36000" marR="36000" marT="36000" marB="36000" anchor="ctr"/>
                </a:tc>
                <a:tc>
                  <a:txBody>
                    <a:bodyPr/>
                    <a:lstStyle/>
                    <a:p>
                      <a:pPr marL="171450" lvl="0" indent="-171450" algn="l">
                        <a:buClr>
                          <a:srgbClr val="000000"/>
                        </a:buClr>
                        <a:buFont typeface="Arial,Sans-Serif"/>
                        <a:buChar char="•"/>
                      </a:pPr>
                      <a:r>
                        <a:rPr lang="en-US" sz="1100" b="0" i="0" u="none" strike="noStrike" noProof="0" err="1">
                          <a:solidFill>
                            <a:srgbClr val="1F1F1F"/>
                          </a:solidFill>
                          <a:effectLst/>
                          <a:latin typeface="Arial"/>
                          <a:cs typeface="Arial"/>
                        </a:rPr>
                        <a:t>SUNeVision’s</a:t>
                      </a:r>
                      <a:r>
                        <a:rPr lang="en-US" sz="1100" b="0" i="0" u="none" strike="noStrike" noProof="0">
                          <a:solidFill>
                            <a:srgbClr val="1F1F1F"/>
                          </a:solidFill>
                          <a:effectLst/>
                          <a:latin typeface="Arial"/>
                          <a:cs typeface="Arial"/>
                        </a:rPr>
                        <a:t> purpose-built Mega IDC is more preferred by clients</a:t>
                      </a:r>
                      <a:endParaRPr lang="en-US" sz="1100" b="0" i="0" u="none" strike="noStrike" noProof="0">
                        <a:solidFill>
                          <a:srgbClr val="000000"/>
                        </a:solidFill>
                        <a:effectLst/>
                        <a:latin typeface="Arial"/>
                        <a:cs typeface="Arial"/>
                      </a:endParaRPr>
                    </a:p>
                    <a:p>
                      <a:pPr marL="171450" lvl="0" indent="-171450" algn="l">
                        <a:buClr>
                          <a:srgbClr val="000000"/>
                        </a:buClr>
                        <a:buFont typeface="Arial,Sans-Serif"/>
                        <a:buChar char="•"/>
                      </a:pPr>
                      <a:r>
                        <a:rPr lang="en-US" sz="1100" b="0" i="0" u="none" strike="noStrike" noProof="0" err="1">
                          <a:solidFill>
                            <a:srgbClr val="1F1F1F"/>
                          </a:solidFill>
                          <a:effectLst/>
                          <a:latin typeface="Arial"/>
                          <a:cs typeface="Arial"/>
                        </a:rPr>
                        <a:t>SUNeVision’s</a:t>
                      </a:r>
                      <a:r>
                        <a:rPr lang="en-US" sz="1100" b="0" i="0" u="none" strike="noStrike" noProof="0">
                          <a:solidFill>
                            <a:srgbClr val="1F1F1F"/>
                          </a:solidFill>
                          <a:effectLst/>
                          <a:latin typeface="Arial"/>
                          <a:cs typeface="Arial"/>
                        </a:rPr>
                        <a:t> strong interconnect capability in a major metropolitan hub like Hong Kong better satisfies latency needs</a:t>
                      </a:r>
                      <a:endParaRPr lang="en-US" sz="1100" b="0" i="0" u="none" strike="noStrike" noProof="0">
                        <a:solidFill>
                          <a:srgbClr val="000000"/>
                        </a:solidFill>
                        <a:effectLst/>
                        <a:latin typeface="Arial"/>
                        <a:cs typeface="Arial"/>
                      </a:endParaRPr>
                    </a:p>
                    <a:p>
                      <a:pPr marL="171450" lvl="0" indent="-171450" algn="l">
                        <a:buClr>
                          <a:srgbClr val="000000"/>
                        </a:buClr>
                        <a:buFont typeface="Arial,Sans-Serif"/>
                        <a:buChar char="•"/>
                      </a:pPr>
                      <a:r>
                        <a:rPr lang="en-US" sz="1100" b="0" i="0" u="none" strike="noStrike" noProof="0" err="1">
                          <a:solidFill>
                            <a:srgbClr val="1F1F1F"/>
                          </a:solidFill>
                          <a:effectLst/>
                          <a:latin typeface="Arial"/>
                          <a:cs typeface="Arial"/>
                        </a:rPr>
                        <a:t>SUNeVision’s</a:t>
                      </a:r>
                      <a:r>
                        <a:rPr lang="en-US" sz="1100" b="0" i="0" u="none" strike="noStrike" noProof="0">
                          <a:solidFill>
                            <a:srgbClr val="1F1F1F"/>
                          </a:solidFill>
                          <a:effectLst/>
                          <a:latin typeface="Arial"/>
                          <a:cs typeface="Arial"/>
                        </a:rPr>
                        <a:t> Mega IDC boasts 180MW of total capacity, enough to support its medium-term growth</a:t>
                      </a:r>
                    </a:p>
                    <a:p>
                      <a:pPr marL="171450" lvl="0" indent="-171450" algn="l">
                        <a:buClr>
                          <a:srgbClr val="000000"/>
                        </a:buClr>
                        <a:buFont typeface="Arial,Sans-Serif"/>
                        <a:buChar char="•"/>
                      </a:pPr>
                      <a:r>
                        <a:rPr lang="en-US" sz="1100" b="0" i="0" u="none" strike="noStrike" noProof="0">
                          <a:solidFill>
                            <a:srgbClr val="1F1F1F"/>
                          </a:solidFill>
                          <a:effectLst/>
                          <a:latin typeface="Arial"/>
                          <a:cs typeface="Arial"/>
                        </a:rPr>
                        <a:t>EBITDA </a:t>
                      </a:r>
                      <a:r>
                        <a:rPr lang="en-US" sz="1100" b="0" i="0" u="none" strike="noStrike" noProof="0">
                          <a:solidFill>
                            <a:srgbClr val="1F1F1F"/>
                          </a:solidFill>
                          <a:effectLst/>
                        </a:rPr>
                        <a:t>margin remains healthy under its premium pricing power and core locations</a:t>
                      </a:r>
                      <a:endParaRPr lang="en-US" sz="1100" b="0" i="0" u="none" strike="noStrike" noProof="0">
                        <a:solidFill>
                          <a:srgbClr val="1F1F1F"/>
                        </a:solidFill>
                        <a:effectLst/>
                        <a:latin typeface="Arial"/>
                        <a:cs typeface="Arial"/>
                      </a:endParaRPr>
                    </a:p>
                  </a:txBody>
                  <a:tcPr marL="36000" marR="36000" marT="36000" marB="36000" anchor="ctr"/>
                </a:tc>
                <a:extLst>
                  <a:ext uri="{0D108BD9-81ED-4DB2-BD59-A6C34878D82A}">
                    <a16:rowId xmlns:a16="http://schemas.microsoft.com/office/drawing/2014/main" val="1412925928"/>
                  </a:ext>
                </a:extLst>
              </a:tr>
              <a:tr h="1316988">
                <a:tc>
                  <a:txBody>
                    <a:bodyPr/>
                    <a:lstStyle/>
                    <a:p>
                      <a:pPr marL="0" marR="0" lvl="0" indent="0" algn="ctr" rtl="0" eaLnBrk="1" fontAlgn="auto" latinLnBrk="0" hangingPunct="1">
                        <a:lnSpc>
                          <a:spcPct val="100000"/>
                        </a:lnSpc>
                        <a:spcBef>
                          <a:spcPts val="0"/>
                        </a:spcBef>
                        <a:spcAft>
                          <a:spcPts val="0"/>
                        </a:spcAft>
                        <a:buClrTx/>
                        <a:buSzTx/>
                        <a:buFontTx/>
                        <a:buNone/>
                      </a:pPr>
                      <a:r>
                        <a:rPr lang="en-US" sz="1100" b="1" i="0" u="none" strike="noStrike">
                          <a:solidFill>
                            <a:srgbClr val="1F1F1F"/>
                          </a:solidFill>
                          <a:effectLst/>
                          <a:latin typeface="+mn-lt"/>
                        </a:rPr>
                        <a:t>Analyst Review Cons</a:t>
                      </a:r>
                    </a:p>
                  </a:txBody>
                  <a:tcPr marL="36000" marR="36000" marT="36000" marB="36000" anchor="ctr">
                    <a:solidFill>
                      <a:schemeClr val="bg1">
                        <a:lumMod val="65000"/>
                      </a:schemeClr>
                    </a:solidFill>
                  </a:tcPr>
                </a:tc>
                <a:tc>
                  <a:txBody>
                    <a:bodyPr/>
                    <a:lstStyle/>
                    <a:p>
                      <a:pPr marL="171450" lvl="0" indent="-171450" algn="l">
                        <a:buFont typeface="Arial"/>
                        <a:buChar char="•"/>
                      </a:pPr>
                      <a:endParaRPr lang="en-US" sz="1100" b="0" i="0" u="none" strike="noStrike">
                        <a:solidFill>
                          <a:srgbClr val="1F1F1F"/>
                        </a:solidFill>
                        <a:effectLst/>
                        <a:latin typeface="+mn-lt"/>
                      </a:endParaRPr>
                    </a:p>
                    <a:p>
                      <a:pPr marL="171450" lvl="0" indent="-171450" algn="l">
                        <a:buFont typeface="Arial"/>
                        <a:buChar char="•"/>
                      </a:pPr>
                      <a:endParaRPr lang="en-US" sz="1100" b="0" i="0" u="none" strike="noStrike">
                        <a:solidFill>
                          <a:srgbClr val="1F1F1F"/>
                        </a:solidFill>
                        <a:effectLst/>
                        <a:latin typeface="+mn-lt"/>
                      </a:endParaRPr>
                    </a:p>
                  </a:txBody>
                  <a:tcPr marL="36000" marR="36000" marT="36000" marB="36000" anchor="ctr"/>
                </a:tc>
                <a:tc>
                  <a:txBody>
                    <a:bodyPr/>
                    <a:lstStyle/>
                    <a:p>
                      <a:pPr marL="171450" lvl="0" indent="-171450" algn="l">
                        <a:buClr>
                          <a:srgbClr val="000000"/>
                        </a:buClr>
                        <a:buFont typeface="Arial"/>
                        <a:buChar char="•"/>
                      </a:pPr>
                      <a:r>
                        <a:rPr lang="en-US" sz="1100" b="0" i="0" u="none" strike="noStrike" noProof="0">
                          <a:solidFill>
                            <a:srgbClr val="1F1F1F"/>
                          </a:solidFill>
                          <a:effectLst/>
                          <a:latin typeface="Arial"/>
                          <a:cs typeface="Arial"/>
                        </a:rPr>
                        <a:t>Increasing competition and policy rate environment may lead to pricing pressure</a:t>
                      </a:r>
                    </a:p>
                    <a:p>
                      <a:pPr marL="171450" lvl="0" indent="-171450" algn="l">
                        <a:buClr>
                          <a:srgbClr val="000000"/>
                        </a:buClr>
                        <a:buFont typeface="Arial"/>
                        <a:buChar char="•"/>
                      </a:pPr>
                      <a:r>
                        <a:rPr lang="en-US" sz="1100" b="0" i="0" u="none" strike="noStrike" noProof="0">
                          <a:solidFill>
                            <a:srgbClr val="1F1F1F"/>
                          </a:solidFill>
                          <a:effectLst/>
                          <a:latin typeface="Arial"/>
                          <a:cs typeface="Arial"/>
                        </a:rPr>
                        <a:t>Significant increase in land supply by HK government may change the current supply-demand dynamics and prompt the firm to alter strategies </a:t>
                      </a:r>
                    </a:p>
                  </a:txBody>
                  <a:tcPr marL="36000" marR="36000" marT="36000" marB="36000" anchor="ctr"/>
                </a:tc>
                <a:extLst>
                  <a:ext uri="{0D108BD9-81ED-4DB2-BD59-A6C34878D82A}">
                    <a16:rowId xmlns:a16="http://schemas.microsoft.com/office/drawing/2014/main" val="763770131"/>
                  </a:ext>
                </a:extLst>
              </a:tr>
            </a:tbl>
          </a:graphicData>
        </a:graphic>
      </p:graphicFrame>
      <p:grpSp>
        <p:nvGrpSpPr>
          <p:cNvPr id="14" name="Group 13">
            <a:extLst>
              <a:ext uri="{FF2B5EF4-FFF2-40B4-BE49-F238E27FC236}">
                <a16:creationId xmlns:a16="http://schemas.microsoft.com/office/drawing/2014/main" id="{A240A8E2-40F9-5084-D944-2580BDE05855}"/>
              </a:ext>
            </a:extLst>
          </p:cNvPr>
          <p:cNvGrpSpPr/>
          <p:nvPr/>
        </p:nvGrpSpPr>
        <p:grpSpPr>
          <a:xfrm>
            <a:off x="3528592" y="991268"/>
            <a:ext cx="1302103" cy="775027"/>
            <a:chOff x="5148116" y="1295464"/>
            <a:chExt cx="1302103" cy="775027"/>
          </a:xfrm>
        </p:grpSpPr>
        <p:grpSp>
          <p:nvGrpSpPr>
            <p:cNvPr id="22" name="群組 21">
              <a:extLst>
                <a:ext uri="{FF2B5EF4-FFF2-40B4-BE49-F238E27FC236}">
                  <a16:creationId xmlns:a16="http://schemas.microsoft.com/office/drawing/2014/main" id="{0D58992C-549C-2A7B-4EF5-61B96658D699}"/>
                </a:ext>
              </a:extLst>
            </p:cNvPr>
            <p:cNvGrpSpPr/>
            <p:nvPr/>
          </p:nvGrpSpPr>
          <p:grpSpPr>
            <a:xfrm>
              <a:off x="5249627" y="1749267"/>
              <a:ext cx="1200592" cy="321224"/>
              <a:chOff x="1270000" y="3683000"/>
              <a:chExt cx="3937000" cy="1092200"/>
            </a:xfrm>
          </p:grpSpPr>
          <p:sp>
            <p:nvSpPr>
              <p:cNvPr id="24" name="Text 3">
                <a:extLst>
                  <a:ext uri="{FF2B5EF4-FFF2-40B4-BE49-F238E27FC236}">
                    <a16:creationId xmlns:a16="http://schemas.microsoft.com/office/drawing/2014/main" id="{D32CD79C-0488-0F05-C254-6A0639577AE6}"/>
                  </a:ext>
                </a:extLst>
              </p:cNvPr>
              <p:cNvSpPr/>
              <p:nvPr/>
            </p:nvSpPr>
            <p:spPr>
              <a:xfrm>
                <a:off x="1270000" y="3683000"/>
                <a:ext cx="3937000" cy="381000"/>
              </a:xfrm>
              <a:prstGeom prst="rect">
                <a:avLst/>
              </a:prstGeom>
              <a:noFill/>
              <a:ln/>
            </p:spPr>
            <p:txBody>
              <a:bodyPr wrap="none" lIns="0" tIns="0" rIns="0" bIns="0" rtlCol="0" anchor="ctr"/>
              <a:lstStyle/>
              <a:p>
                <a:pPr algn="ctr">
                  <a:lnSpc>
                    <a:spcPct val="100000"/>
                  </a:lnSpc>
                </a:pPr>
                <a:r>
                  <a:rPr lang="en-US" sz="1000">
                    <a:solidFill>
                      <a:srgbClr val="00375E"/>
                    </a:solidFill>
                    <a:latin typeface="+mj-lt"/>
                    <a:ea typeface="Liter" pitchFamily="34" charset="-122"/>
                  </a:rPr>
                  <a:t>GDS</a:t>
                </a:r>
                <a:endParaRPr lang="en-US" sz="1000">
                  <a:solidFill>
                    <a:srgbClr val="00375E"/>
                  </a:solidFill>
                  <a:latin typeface="+mj-lt"/>
                </a:endParaRPr>
              </a:p>
            </p:txBody>
          </p:sp>
          <p:sp>
            <p:nvSpPr>
              <p:cNvPr id="26" name="Text 5">
                <a:extLst>
                  <a:ext uri="{FF2B5EF4-FFF2-40B4-BE49-F238E27FC236}">
                    <a16:creationId xmlns:a16="http://schemas.microsoft.com/office/drawing/2014/main" id="{0020F899-AB4D-CAC0-0789-CA21D4F8870E}"/>
                  </a:ext>
                </a:extLst>
              </p:cNvPr>
              <p:cNvSpPr/>
              <p:nvPr/>
            </p:nvSpPr>
            <p:spPr>
              <a:xfrm>
                <a:off x="1270000" y="4470400"/>
                <a:ext cx="3937000" cy="304800"/>
              </a:xfrm>
              <a:prstGeom prst="rect">
                <a:avLst/>
              </a:prstGeom>
              <a:noFill/>
              <a:ln/>
            </p:spPr>
            <p:txBody>
              <a:bodyPr wrap="none" lIns="0" tIns="0" rIns="0" bIns="0" rtlCol="0" anchor="ctr"/>
              <a:lstStyle/>
              <a:p>
                <a:pPr algn="ctr">
                  <a:lnSpc>
                    <a:spcPct val="100000"/>
                  </a:lnSpc>
                </a:pPr>
                <a:endParaRPr lang="en-US" sz="1000">
                  <a:latin typeface="+mj-lt"/>
                </a:endParaRPr>
              </a:p>
            </p:txBody>
          </p:sp>
        </p:grpSp>
        <p:pic>
          <p:nvPicPr>
            <p:cNvPr id="13" name="Picture 12" descr="HOME - GDS">
              <a:extLst>
                <a:ext uri="{FF2B5EF4-FFF2-40B4-BE49-F238E27FC236}">
                  <a16:creationId xmlns:a16="http://schemas.microsoft.com/office/drawing/2014/main" id="{2726ED64-E141-51A0-2FED-BF6C1CEE46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116" y="1295464"/>
              <a:ext cx="1257646" cy="416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AD0C03E4-1655-8054-768F-8FD0B3B27776}"/>
              </a:ext>
            </a:extLst>
          </p:cNvPr>
          <p:cNvGrpSpPr/>
          <p:nvPr/>
        </p:nvGrpSpPr>
        <p:grpSpPr>
          <a:xfrm>
            <a:off x="7533918" y="1002212"/>
            <a:ext cx="617208" cy="748896"/>
            <a:chOff x="7562513" y="1328307"/>
            <a:chExt cx="617208" cy="748896"/>
          </a:xfrm>
        </p:grpSpPr>
        <p:grpSp>
          <p:nvGrpSpPr>
            <p:cNvPr id="27" name="群組 26">
              <a:extLst>
                <a:ext uri="{FF2B5EF4-FFF2-40B4-BE49-F238E27FC236}">
                  <a16:creationId xmlns:a16="http://schemas.microsoft.com/office/drawing/2014/main" id="{A87D2526-5311-5D5D-5932-8F5950AD9781}"/>
                </a:ext>
              </a:extLst>
            </p:cNvPr>
            <p:cNvGrpSpPr/>
            <p:nvPr/>
          </p:nvGrpSpPr>
          <p:grpSpPr>
            <a:xfrm>
              <a:off x="7562513" y="1778371"/>
              <a:ext cx="617208" cy="298832"/>
              <a:chOff x="6159500" y="3683000"/>
              <a:chExt cx="3937000" cy="1092200"/>
            </a:xfrm>
          </p:grpSpPr>
          <p:sp>
            <p:nvSpPr>
              <p:cNvPr id="29" name="Text 7">
                <a:extLst>
                  <a:ext uri="{FF2B5EF4-FFF2-40B4-BE49-F238E27FC236}">
                    <a16:creationId xmlns:a16="http://schemas.microsoft.com/office/drawing/2014/main" id="{06352326-C4D2-C118-32C8-17504D8A4E85}"/>
                  </a:ext>
                </a:extLst>
              </p:cNvPr>
              <p:cNvSpPr/>
              <p:nvPr/>
            </p:nvSpPr>
            <p:spPr>
              <a:xfrm>
                <a:off x="6159500" y="3683000"/>
                <a:ext cx="3937000" cy="381000"/>
              </a:xfrm>
              <a:prstGeom prst="rect">
                <a:avLst/>
              </a:prstGeom>
              <a:noFill/>
              <a:ln/>
            </p:spPr>
            <p:txBody>
              <a:bodyPr wrap="none" lIns="0" tIns="0" rIns="0" bIns="0" rtlCol="0" anchor="ctr"/>
              <a:lstStyle/>
              <a:p>
                <a:pPr algn="ctr">
                  <a:lnSpc>
                    <a:spcPct val="100000"/>
                  </a:lnSpc>
                </a:pPr>
                <a:r>
                  <a:rPr lang="en-US" sz="1000" b="1" err="1">
                    <a:solidFill>
                      <a:srgbClr val="1E3A5F"/>
                    </a:solidFill>
                    <a:latin typeface="+mj-lt"/>
                    <a:ea typeface="Liter" pitchFamily="34" charset="-122"/>
                    <a:cs typeface="Liter" pitchFamily="34" charset="-120"/>
                  </a:rPr>
                  <a:t>SUNeVision</a:t>
                </a:r>
                <a:endParaRPr lang="en-US" sz="1000">
                  <a:latin typeface="+mj-lt"/>
                </a:endParaRPr>
              </a:p>
            </p:txBody>
          </p:sp>
          <p:sp>
            <p:nvSpPr>
              <p:cNvPr id="31" name="Text 9">
                <a:extLst>
                  <a:ext uri="{FF2B5EF4-FFF2-40B4-BE49-F238E27FC236}">
                    <a16:creationId xmlns:a16="http://schemas.microsoft.com/office/drawing/2014/main" id="{1DDB6BB7-8A14-3B82-E9A4-041CE91C7D5B}"/>
                  </a:ext>
                </a:extLst>
              </p:cNvPr>
              <p:cNvSpPr/>
              <p:nvPr/>
            </p:nvSpPr>
            <p:spPr>
              <a:xfrm>
                <a:off x="6159500" y="4470400"/>
                <a:ext cx="3937000" cy="304800"/>
              </a:xfrm>
              <a:prstGeom prst="rect">
                <a:avLst/>
              </a:prstGeom>
              <a:noFill/>
              <a:ln/>
            </p:spPr>
            <p:txBody>
              <a:bodyPr wrap="none" lIns="0" tIns="0" rIns="0" bIns="0" rtlCol="0" anchor="ctr"/>
              <a:lstStyle/>
              <a:p>
                <a:pPr algn="ctr">
                  <a:lnSpc>
                    <a:spcPct val="100000"/>
                  </a:lnSpc>
                </a:pPr>
                <a:endParaRPr lang="en-US" sz="1000">
                  <a:latin typeface="+mj-lt"/>
                </a:endParaRPr>
              </a:p>
            </p:txBody>
          </p:sp>
        </p:grpSp>
        <p:pic>
          <p:nvPicPr>
            <p:cNvPr id="15" name="Picture 14" descr="SUNeVision Data Centres - SUNeVision Holdings Ltd.">
              <a:extLst>
                <a:ext uri="{FF2B5EF4-FFF2-40B4-BE49-F238E27FC236}">
                  <a16:creationId xmlns:a16="http://schemas.microsoft.com/office/drawing/2014/main" id="{6CCDA305-B4F7-60AA-D76B-880394BC55A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96535" y="1328307"/>
              <a:ext cx="580967" cy="357518"/>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Slide Number Placeholder 1">
            <a:extLst>
              <a:ext uri="{FF2B5EF4-FFF2-40B4-BE49-F238E27FC236}">
                <a16:creationId xmlns:a16="http://schemas.microsoft.com/office/drawing/2014/main" id="{4615711A-2329-0DB7-3E87-6EAC56922751}"/>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26</a:t>
            </a:fld>
            <a:endParaRPr lang="en-US"/>
          </a:p>
        </p:txBody>
      </p:sp>
      <p:sp>
        <p:nvSpPr>
          <p:cNvPr id="3" name="TextBox 2">
            <a:extLst>
              <a:ext uri="{FF2B5EF4-FFF2-40B4-BE49-F238E27FC236}">
                <a16:creationId xmlns:a16="http://schemas.microsoft.com/office/drawing/2014/main" id="{03EF5761-726C-8C16-E6C4-71CB05B54ACA}"/>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dirty="0">
                <a:solidFill>
                  <a:schemeClr val="tx1"/>
                </a:solidFill>
              </a:rPr>
              <a:t>HK team updated</a:t>
            </a:r>
            <a:endParaRPr lang="en-GB" sz="1400" dirty="0">
              <a:solidFill>
                <a:schemeClr val="tx1"/>
              </a:solidFill>
            </a:endParaRPr>
          </a:p>
        </p:txBody>
      </p:sp>
    </p:spTree>
    <p:extLst>
      <p:ext uri="{BB962C8B-B14F-4D97-AF65-F5344CB8AC3E}">
        <p14:creationId xmlns:p14="http://schemas.microsoft.com/office/powerpoint/2010/main" val="218386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1D5B4-2DB5-1F38-BB92-52DFDD1C9389}"/>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FF3A6FBD-DF64-094B-DBA2-22B51E16ABE7}"/>
              </a:ext>
            </a:extLst>
          </p:cNvPr>
          <p:cNvSpPr>
            <a:spLocks noGrp="1"/>
          </p:cNvSpPr>
          <p:nvPr>
            <p:ph type="subTitle" idx="1"/>
          </p:nvPr>
        </p:nvSpPr>
        <p:spPr/>
        <p:txBody>
          <a:bodyPr/>
          <a:lstStyle/>
          <a:p>
            <a:r>
              <a:rPr lang="en-US"/>
              <a:t>Section 5</a:t>
            </a:r>
            <a:endParaRPr lang="en-SG"/>
          </a:p>
        </p:txBody>
      </p:sp>
      <p:sp>
        <p:nvSpPr>
          <p:cNvPr id="5" name="Title 4">
            <a:extLst>
              <a:ext uri="{FF2B5EF4-FFF2-40B4-BE49-F238E27FC236}">
                <a16:creationId xmlns:a16="http://schemas.microsoft.com/office/drawing/2014/main" id="{B81EEFB8-3E98-CDC3-DDA4-A4CDF49E0A3E}"/>
              </a:ext>
            </a:extLst>
          </p:cNvPr>
          <p:cNvSpPr>
            <a:spLocks noGrp="1"/>
          </p:cNvSpPr>
          <p:nvPr>
            <p:ph type="ctrTitle"/>
          </p:nvPr>
        </p:nvSpPr>
        <p:spPr/>
        <p:txBody>
          <a:bodyPr/>
          <a:lstStyle/>
          <a:p>
            <a:r>
              <a:rPr lang="en-US"/>
              <a:t>DBS Credentials</a:t>
            </a:r>
            <a:endParaRPr lang="en-SG"/>
          </a:p>
        </p:txBody>
      </p:sp>
      <p:sp>
        <p:nvSpPr>
          <p:cNvPr id="2" name="Slide Number Placeholder 1">
            <a:extLst>
              <a:ext uri="{FF2B5EF4-FFF2-40B4-BE49-F238E27FC236}">
                <a16:creationId xmlns:a16="http://schemas.microsoft.com/office/drawing/2014/main" id="{AF7907CF-A1A4-35DB-7245-2254103342AA}"/>
              </a:ext>
            </a:extLst>
          </p:cNvPr>
          <p:cNvSpPr>
            <a:spLocks noGrp="1"/>
          </p:cNvSpPr>
          <p:nvPr>
            <p:ph type="sldNum" sz="quarter" idx="11"/>
          </p:nvPr>
        </p:nvSpPr>
        <p:spPr/>
        <p:txBody>
          <a:bodyPr/>
          <a:lstStyle/>
          <a:p>
            <a:pPr>
              <a:defRPr/>
            </a:pPr>
            <a:fld id="{EED7964B-8F50-47E5-B5EE-37748C966AF4}" type="slidenum">
              <a:rPr lang="en-US" smtClean="0"/>
              <a:pPr>
                <a:defRPr/>
              </a:pPr>
              <a:t>27</a:t>
            </a:fld>
            <a:endParaRPr lang="en-US"/>
          </a:p>
        </p:txBody>
      </p:sp>
    </p:spTree>
    <p:extLst>
      <p:ext uri="{BB962C8B-B14F-4D97-AF65-F5344CB8AC3E}">
        <p14:creationId xmlns:p14="http://schemas.microsoft.com/office/powerpoint/2010/main" val="834469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BE3EB-2DCE-7F45-490E-619A509A0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BB81B-E326-3C8D-016E-1241F30869EA}"/>
              </a:ext>
            </a:extLst>
          </p:cNvPr>
          <p:cNvSpPr>
            <a:spLocks noGrp="1"/>
          </p:cNvSpPr>
          <p:nvPr>
            <p:ph type="title"/>
          </p:nvPr>
        </p:nvSpPr>
        <p:spPr/>
        <p:txBody>
          <a:bodyPr/>
          <a:lstStyle/>
          <a:p>
            <a:r>
              <a:rPr lang="en-US"/>
              <a:t>Dominant presence in equity capital markets in Singapore and ASEAN</a:t>
            </a:r>
            <a:br>
              <a:rPr lang="en-US"/>
            </a:br>
            <a:r>
              <a:rPr lang="en-US" sz="1200"/>
              <a:t>DBS had led-managed ~90% of IPOs and equity fund raisings on SGX between 2021 to 2026 YTD</a:t>
            </a:r>
          </a:p>
        </p:txBody>
      </p:sp>
      <p:sp>
        <p:nvSpPr>
          <p:cNvPr id="4" name="Slide Number Placeholder 3">
            <a:extLst>
              <a:ext uri="{FF2B5EF4-FFF2-40B4-BE49-F238E27FC236}">
                <a16:creationId xmlns:a16="http://schemas.microsoft.com/office/drawing/2014/main" id="{1B748186-52AA-A229-A2A4-CBB319E42DEA}"/>
              </a:ext>
            </a:extLst>
          </p:cNvPr>
          <p:cNvSpPr>
            <a:spLocks noGrp="1"/>
          </p:cNvSpPr>
          <p:nvPr>
            <p:ph type="sldNum" sz="quarter" idx="11"/>
          </p:nvPr>
        </p:nvSpPr>
        <p:spPr/>
        <p:txBody>
          <a:bodyPr/>
          <a:lstStyle/>
          <a:p>
            <a:pPr>
              <a:defRPr/>
            </a:pPr>
            <a:fld id="{EED7964B-8F50-47E5-B5EE-37748C966AF4}" type="slidenum">
              <a:rPr lang="en-US" smtClean="0"/>
              <a:pPr>
                <a:defRPr/>
              </a:pPr>
              <a:t>28</a:t>
            </a:fld>
            <a:endParaRPr lang="en-US"/>
          </a:p>
        </p:txBody>
      </p:sp>
      <p:sp>
        <p:nvSpPr>
          <p:cNvPr id="3" name="Text Placeholder 2">
            <a:extLst>
              <a:ext uri="{FF2B5EF4-FFF2-40B4-BE49-F238E27FC236}">
                <a16:creationId xmlns:a16="http://schemas.microsoft.com/office/drawing/2014/main" id="{E9271D05-5D8E-A0F6-A8D1-4EAF5D3F97A7}"/>
              </a:ext>
            </a:extLst>
          </p:cNvPr>
          <p:cNvSpPr>
            <a:spLocks noGrp="1"/>
          </p:cNvSpPr>
          <p:nvPr>
            <p:ph type="body" sz="quarter" idx="46"/>
          </p:nvPr>
        </p:nvSpPr>
        <p:spPr/>
        <p:txBody>
          <a:bodyPr/>
          <a:lstStyle/>
          <a:p>
            <a:pPr marL="0" indent="0">
              <a:buNone/>
            </a:pPr>
            <a:r>
              <a:rPr lang="en-US" sz="800"/>
              <a:t>Source: Bloomberg as at 04 May 2026</a:t>
            </a:r>
          </a:p>
        </p:txBody>
      </p:sp>
      <p:graphicFrame>
        <p:nvGraphicFramePr>
          <p:cNvPr id="43" name="Group 138">
            <a:extLst>
              <a:ext uri="{FF2B5EF4-FFF2-40B4-BE49-F238E27FC236}">
                <a16:creationId xmlns:a16="http://schemas.microsoft.com/office/drawing/2014/main" id="{1B4EB122-D835-6004-7B3B-0686270BA52A}"/>
              </a:ext>
            </a:extLst>
          </p:cNvPr>
          <p:cNvGraphicFramePr>
            <a:graphicFrameLocks noGrp="1"/>
          </p:cNvGraphicFramePr>
          <p:nvPr/>
        </p:nvGraphicFramePr>
        <p:xfrm>
          <a:off x="2272702" y="2052193"/>
          <a:ext cx="1741927" cy="1980000"/>
        </p:xfrm>
        <a:graphic>
          <a:graphicData uri="http://schemas.openxmlformats.org/drawingml/2006/table">
            <a:tbl>
              <a:tblPr/>
              <a:tblGrid>
                <a:gridCol w="157151">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Singapore 2025</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1</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1" i="0" u="none" strike="noStrike">
                          <a:solidFill>
                            <a:srgbClr val="000000"/>
                          </a:solidFill>
                          <a:effectLst/>
                          <a:latin typeface="Arial" panose="020B0604020202020204" pitchFamily="34" charset="0"/>
                        </a:rPr>
                        <a:t>DBS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24.9%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1,075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12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CITI</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18.0%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774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UBS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11.6%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500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UOB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9.9%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429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OCBC</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8.3%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356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MAYBAN</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10</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JPM</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8</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BofA</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9</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MIZUHO</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MS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44" name="Group 138">
            <a:extLst>
              <a:ext uri="{FF2B5EF4-FFF2-40B4-BE49-F238E27FC236}">
                <a16:creationId xmlns:a16="http://schemas.microsoft.com/office/drawing/2014/main" id="{08E6BB5E-1CE2-9548-B315-622A58E910B8}"/>
              </a:ext>
            </a:extLst>
          </p:cNvPr>
          <p:cNvGraphicFramePr>
            <a:graphicFrameLocks noGrp="1"/>
          </p:cNvGraphicFramePr>
          <p:nvPr>
            <p:custDataLst>
              <p:tags r:id="rId1"/>
            </p:custDataLst>
          </p:nvPr>
        </p:nvGraphicFramePr>
        <p:xfrm>
          <a:off x="2267966" y="4179394"/>
          <a:ext cx="1741927" cy="1980000"/>
        </p:xfrm>
        <a:graphic>
          <a:graphicData uri="http://schemas.openxmlformats.org/drawingml/2006/table">
            <a:tbl>
              <a:tblPr/>
              <a:tblGrid>
                <a:gridCol w="157151">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ASEAN 2025</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UBS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12.6%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1,442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MAYBAN</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12.1%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1,338</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34</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74667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3</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CIMB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7.7%</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884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1" i="0" u="none" strike="noStrike">
                          <a:solidFill>
                            <a:srgbClr val="000000"/>
                          </a:solidFill>
                          <a:effectLst/>
                          <a:latin typeface="Arial" panose="020B0604020202020204" pitchFamily="34" charset="0"/>
                        </a:rPr>
                        <a:t>DBS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7.0%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802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1" i="0" u="none" strike="noStrike">
                          <a:solidFill>
                            <a:srgbClr val="000000"/>
                          </a:solidFill>
                          <a:effectLst/>
                          <a:latin typeface="Arial" panose="020B0604020202020204" pitchFamily="34" charset="0"/>
                        </a:rPr>
                        <a:t>10</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CITI</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519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JEFFERIES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490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RHB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399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8</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OCBC</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343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9</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9</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TRIMEGAH</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2.8%</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321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buNone/>
                      </a:pPr>
                      <a:r>
                        <a:rPr lang="en-SG" sz="700" b="0" i="0" u="none" strike="noStrike">
                          <a:solidFill>
                            <a:srgbClr val="000000"/>
                          </a:solidFill>
                          <a:effectLst/>
                          <a:latin typeface="Arial" panose="020B0604020202020204" pitchFamily="34" charset="0"/>
                        </a:rPr>
                        <a:t>UOB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2.7%</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306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buNone/>
                      </a:pPr>
                      <a:r>
                        <a:rPr lang="en-SG" sz="700" b="0" i="0" u="none" strike="noStrike">
                          <a:solidFill>
                            <a:srgbClr val="000000"/>
                          </a:solidFill>
                          <a:effectLst/>
                          <a:latin typeface="Arial" panose="020B0604020202020204" pitchFamily="34" charset="0"/>
                        </a:rPr>
                        <a:t>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45" name="Group 138">
            <a:extLst>
              <a:ext uri="{FF2B5EF4-FFF2-40B4-BE49-F238E27FC236}">
                <a16:creationId xmlns:a16="http://schemas.microsoft.com/office/drawing/2014/main" id="{2C485C1F-FADD-0FAA-E77B-5ADC005BAF66}"/>
              </a:ext>
            </a:extLst>
          </p:cNvPr>
          <p:cNvGraphicFramePr>
            <a:graphicFrameLocks noGrp="1"/>
          </p:cNvGraphicFramePr>
          <p:nvPr>
            <p:extLst>
              <p:ext uri="{D42A27DB-BD31-4B8C-83A1-F6EECF244321}">
                <p14:modId xmlns:p14="http://schemas.microsoft.com/office/powerpoint/2010/main" val="1810743966"/>
              </p:ext>
            </p:extLst>
          </p:nvPr>
        </p:nvGraphicFramePr>
        <p:xfrm>
          <a:off x="10092277" y="2052193"/>
          <a:ext cx="1741973" cy="1980000"/>
        </p:xfrm>
        <a:graphic>
          <a:graphicData uri="http://schemas.openxmlformats.org/drawingml/2006/table">
            <a:tbl>
              <a:tblPr/>
              <a:tblGrid>
                <a:gridCol w="15719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Singapore 2021</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CC0000"/>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a:t>
                      </a: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1</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42.0%</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2,467</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22</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0002"/>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OCBC</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9.4%</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552</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9</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CITI</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6.5%</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383</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6</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BOFA</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6.0%</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352</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5</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HSBC</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5.0%</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295</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6</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JPM</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4.6%</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268</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7</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UBS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3.8%</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222</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8</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UOB</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3.7%</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215</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9</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CS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3.6%</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210</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10</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BNPP</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3.4%</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202</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a:t>
                      </a: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46" name="Group 138">
            <a:extLst>
              <a:ext uri="{FF2B5EF4-FFF2-40B4-BE49-F238E27FC236}">
                <a16:creationId xmlns:a16="http://schemas.microsoft.com/office/drawing/2014/main" id="{173B3075-8221-6804-E3FB-FDEB8E1972EE}"/>
              </a:ext>
            </a:extLst>
          </p:cNvPr>
          <p:cNvGraphicFramePr>
            <a:graphicFrameLocks noGrp="1"/>
          </p:cNvGraphicFramePr>
          <p:nvPr>
            <p:extLst>
              <p:ext uri="{D42A27DB-BD31-4B8C-83A1-F6EECF244321}">
                <p14:modId xmlns:p14="http://schemas.microsoft.com/office/powerpoint/2010/main" val="3182396986"/>
              </p:ext>
            </p:extLst>
          </p:nvPr>
        </p:nvGraphicFramePr>
        <p:xfrm>
          <a:off x="10092323" y="4179394"/>
          <a:ext cx="1741927" cy="1980000"/>
        </p:xfrm>
        <a:graphic>
          <a:graphicData uri="http://schemas.openxmlformats.org/drawingml/2006/table">
            <a:tbl>
              <a:tblPr/>
              <a:tblGrid>
                <a:gridCol w="157151">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ASEAN 2021</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1" i="0" u="none" strike="noStrike" kern="1200">
                          <a:solidFill>
                            <a:srgbClr val="000000"/>
                          </a:solidFill>
                          <a:effectLst/>
                          <a:latin typeface="Arial" panose="020B0604020202020204" pitchFamily="34" charset="0"/>
                          <a:ea typeface="+mn-ea"/>
                          <a:cs typeface="Arial" panose="020B0604020202020204" pitchFamily="34" charset="0"/>
                        </a:rPr>
                        <a:t>1</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1" i="0" u="none" strike="noStrike" kern="1200">
                          <a:solidFill>
                            <a:srgbClr val="000000"/>
                          </a:solidFill>
                          <a:effectLst/>
                          <a:latin typeface="Arial" panose="020B0604020202020204" pitchFamily="34" charset="0"/>
                          <a:ea typeface="+mn-ea"/>
                          <a:cs typeface="Arial" panose="020B0604020202020204" pitchFamily="34" charset="0"/>
                        </a:rPr>
                        <a:t>9.7%</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1" i="0" u="none" strike="noStrike" kern="1200">
                          <a:solidFill>
                            <a:srgbClr val="000000"/>
                          </a:solidFill>
                          <a:effectLst/>
                          <a:latin typeface="Arial" panose="020B0604020202020204" pitchFamily="34" charset="0"/>
                          <a:ea typeface="+mn-ea"/>
                          <a:cs typeface="Arial" panose="020B0604020202020204" pitchFamily="34" charset="0"/>
                        </a:rPr>
                        <a:t>2,837</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1" i="0" u="none" strike="noStrike" kern="1200">
                          <a:solidFill>
                            <a:srgbClr val="000000"/>
                          </a:solidFill>
                          <a:effectLst/>
                          <a:latin typeface="Arial" panose="020B0604020202020204" pitchFamily="34" charset="0"/>
                          <a:ea typeface="+mn-ea"/>
                          <a:cs typeface="Arial" panose="020B0604020202020204" pitchFamily="34" charset="0"/>
                        </a:rPr>
                        <a:t>27</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2"/>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2</a:t>
                      </a:r>
                    </a:p>
                  </a:txBody>
                  <a:tcPr marL="7739" marR="7739"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CS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7.5%</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2,207</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21</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3</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MANDIR</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6.1%</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1,780</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6</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4</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5.9%</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1,724</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11</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5</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UBS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4.8%</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1,409</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14</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6</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JPM</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4.0%</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1,171</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13</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7</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BOFA</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2.8%</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834</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9</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8</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BUANA</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2.8%</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819</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3</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9</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CITI</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2.4%</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719</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11</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10</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MAYBAN</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2.3%</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0" i="0" u="none" strike="noStrike" kern="1200">
                          <a:solidFill>
                            <a:srgbClr val="000000"/>
                          </a:solidFill>
                          <a:effectLst/>
                          <a:latin typeface="Arial" panose="020B0604020202020204" pitchFamily="34" charset="0"/>
                          <a:ea typeface="+mn-ea"/>
                          <a:cs typeface="Arial" panose="020B0604020202020204" pitchFamily="34" charset="0"/>
                        </a:rPr>
                        <a:t>682</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13</a:t>
                      </a: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sp>
        <p:nvSpPr>
          <p:cNvPr id="47" name="Rectangle 46">
            <a:extLst>
              <a:ext uri="{FF2B5EF4-FFF2-40B4-BE49-F238E27FC236}">
                <a16:creationId xmlns:a16="http://schemas.microsoft.com/office/drawing/2014/main" id="{FA5C17FC-BAA7-276E-E465-50064A765BFE}"/>
              </a:ext>
            </a:extLst>
          </p:cNvPr>
          <p:cNvSpPr/>
          <p:nvPr/>
        </p:nvSpPr>
        <p:spPr bwMode="auto">
          <a:xfrm>
            <a:off x="453000" y="926967"/>
            <a:ext cx="8971422" cy="179429"/>
          </a:xfrm>
          <a:prstGeom prst="rect">
            <a:avLst/>
          </a:prstGeom>
          <a:noFill/>
          <a:ln w="12700">
            <a:noFill/>
          </a:ln>
          <a:effectLst/>
        </p:spPr>
        <p:txBody>
          <a:bodyPr vert="horz" wrap="square" lIns="36000" tIns="36000" rIns="36000" bIns="36000" numCol="1" rtlCol="0" anchor="ctr" anchorCtr="0" compatLnSpc="1">
            <a:prstTxWarp prst="textNoShape">
              <a:avLst/>
            </a:prstTxWarp>
          </a:bodyPr>
          <a:lstStyle/>
          <a:p>
            <a:pPr defTabSz="742950" eaLnBrk="0" hangingPunct="0">
              <a:defRPr/>
            </a:pPr>
            <a:r>
              <a:rPr lang="en-SG" sz="1000">
                <a:solidFill>
                  <a:srgbClr val="232020"/>
                </a:solidFill>
                <a:latin typeface="Arial" panose="020B0604020202020204"/>
                <a:ea typeface="Open Sans" panose="020B0606030504020204" pitchFamily="34" charset="0"/>
                <a:cs typeface="Open Sans" panose="020B0606030504020204" pitchFamily="34" charset="0"/>
              </a:rPr>
              <a:t>All Equities League Tables</a:t>
            </a:r>
          </a:p>
        </p:txBody>
      </p:sp>
      <p:graphicFrame>
        <p:nvGraphicFramePr>
          <p:cNvPr id="48" name="Group 138">
            <a:extLst>
              <a:ext uri="{FF2B5EF4-FFF2-40B4-BE49-F238E27FC236}">
                <a16:creationId xmlns:a16="http://schemas.microsoft.com/office/drawing/2014/main" id="{2EEFBFFA-EEF2-2AAC-2552-5EC419301CA6}"/>
              </a:ext>
            </a:extLst>
          </p:cNvPr>
          <p:cNvGraphicFramePr>
            <a:graphicFrameLocks noGrp="1"/>
          </p:cNvGraphicFramePr>
          <p:nvPr>
            <p:custDataLst>
              <p:tags r:id="rId2"/>
            </p:custDataLst>
          </p:nvPr>
        </p:nvGraphicFramePr>
        <p:xfrm>
          <a:off x="7717308" y="2052193"/>
          <a:ext cx="1741973" cy="1980000"/>
        </p:xfrm>
        <a:graphic>
          <a:graphicData uri="http://schemas.openxmlformats.org/drawingml/2006/table">
            <a:tbl>
              <a:tblPr/>
              <a:tblGrid>
                <a:gridCol w="15719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Singapore 2022</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CC0000"/>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a:t>
                      </a: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1</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18.2%</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219</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6</a:t>
                      </a:r>
                      <a:endPar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0002"/>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UOB</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16.5%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199</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OCBC</a:t>
                      </a:r>
                      <a:endParaRPr lang="en-SG" sz="700" b="0" i="1"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11.5%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138</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CITI</a:t>
                      </a:r>
                      <a:endParaRPr lang="en-SG" sz="700" b="0" i="1"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11.5%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138</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5</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CS</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7.5%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90</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6</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CIMB</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6.8%</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81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7</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KGI</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5.5%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66</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8</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JPM</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5.1%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61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9</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MS</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42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10</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UOB KH</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40</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49" name="Group 138">
            <a:extLst>
              <a:ext uri="{FF2B5EF4-FFF2-40B4-BE49-F238E27FC236}">
                <a16:creationId xmlns:a16="http://schemas.microsoft.com/office/drawing/2014/main" id="{3E402853-D32C-0B2B-5BBD-684F99DDF09E}"/>
              </a:ext>
            </a:extLst>
          </p:cNvPr>
          <p:cNvGraphicFramePr>
            <a:graphicFrameLocks noGrp="1"/>
          </p:cNvGraphicFramePr>
          <p:nvPr/>
        </p:nvGraphicFramePr>
        <p:xfrm>
          <a:off x="7715858" y="4179394"/>
          <a:ext cx="1743423" cy="1980000"/>
        </p:xfrm>
        <a:graphic>
          <a:graphicData uri="http://schemas.openxmlformats.org/drawingml/2006/table">
            <a:tbl>
              <a:tblPr/>
              <a:tblGrid>
                <a:gridCol w="15864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ASEAN 2022</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kern="1200">
                          <a:solidFill>
                            <a:srgbClr val="000000"/>
                          </a:solidFill>
                          <a:effectLst/>
                          <a:latin typeface="Arial" panose="020B0604020202020204" pitchFamily="34" charset="0"/>
                          <a:ea typeface="+mn-ea"/>
                          <a:cs typeface="Arial" panose="020B0604020202020204" pitchFamily="34" charset="0"/>
                        </a:rPr>
                        <a:t>1</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KIAPHA</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6.7%</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775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US" sz="700" b="0" i="0" u="none" strike="noStrike" kern="1200">
                          <a:solidFill>
                            <a:srgbClr val="000000"/>
                          </a:solidFill>
                          <a:effectLst/>
                          <a:latin typeface="Arial" panose="020B0604020202020204" pitchFamily="34" charset="0"/>
                          <a:ea typeface="+mn-ea"/>
                          <a:cs typeface="Arial" panose="020B0604020202020204" pitchFamily="34" charset="0"/>
                        </a:rPr>
                        <a:t>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2</a:t>
                      </a:r>
                    </a:p>
                  </a:txBody>
                  <a:tcPr marL="7739" marR="7739"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CIMB</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5.5%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645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19</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3</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SYRUS</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5.4%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624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4</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KBANK</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3.6%</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419</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5</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CITIC</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409</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6</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CS</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395</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8</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7</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ING</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3.3%</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381</a:t>
                      </a:r>
                      <a:endParaRPr lang="en-US"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1</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1" i="0" u="none" strike="noStrike">
                          <a:solidFill>
                            <a:srgbClr val="000000"/>
                          </a:solidFill>
                          <a:effectLst/>
                          <a:latin typeface="Arial" panose="020B0604020202020204" pitchFamily="34" charset="0"/>
                          <a:cs typeface="Arial" panose="020B0604020202020204" pitchFamily="34" charset="0"/>
                        </a:rPr>
                        <a:t>8</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DBS</a:t>
                      </a:r>
                      <a:endPar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1" i="0" u="none" strike="noStrike" kern="1200">
                          <a:solidFill>
                            <a:srgbClr val="000000"/>
                          </a:solidFill>
                          <a:effectLst/>
                          <a:latin typeface="Arial" panose="020B0604020202020204" pitchFamily="34" charset="0"/>
                          <a:ea typeface="+mn-ea"/>
                          <a:cs typeface="Arial" panose="020B0604020202020204" pitchFamily="34" charset="0"/>
                        </a:rPr>
                        <a:t>3.1%</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1" i="0" u="none" strike="noStrike" kern="1200">
                          <a:solidFill>
                            <a:srgbClr val="000000"/>
                          </a:solidFill>
                          <a:effectLst/>
                          <a:latin typeface="Arial" panose="020B0604020202020204" pitchFamily="34" charset="0"/>
                          <a:ea typeface="+mn-ea"/>
                          <a:cs typeface="Arial" panose="020B0604020202020204" pitchFamily="34" charset="0"/>
                        </a:rPr>
                        <a:t>362</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1" i="0" u="none" strike="noStrike" kern="1200">
                          <a:solidFill>
                            <a:srgbClr val="000000"/>
                          </a:solidFill>
                          <a:effectLst/>
                          <a:latin typeface="Arial" panose="020B0604020202020204" pitchFamily="34" charset="0"/>
                          <a:ea typeface="+mn-ea"/>
                          <a:cs typeface="Arial" panose="020B0604020202020204" pitchFamily="34" charset="0"/>
                        </a:rPr>
                        <a:t>10</a:t>
                      </a:r>
                      <a:endParaRPr lang="en-SG" sz="700" b="1"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9"/>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9</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TRIMEG</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3.1%</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0" i="0" u="none" strike="noStrike" kern="1200">
                          <a:solidFill>
                            <a:srgbClr val="000000"/>
                          </a:solidFill>
                          <a:effectLst/>
                          <a:latin typeface="Arial" panose="020B0604020202020204" pitchFamily="34" charset="0"/>
                          <a:ea typeface="+mn-ea"/>
                          <a:cs typeface="Arial" panose="020B0604020202020204" pitchFamily="34" charset="0"/>
                        </a:rPr>
                        <a:t>360</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4</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10</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INDO</a:t>
                      </a:r>
                      <a:endParaRPr kumimoji="0" lang="en-SG" sz="700" b="0"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endParaRP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914400" rtl="0" eaLnBrk="1" fontAlgn="b" latinLnBrk="0" hangingPunct="1"/>
                      <a:r>
                        <a:rPr lang="en-SG" sz="700" b="0" i="0" u="none" strike="noStrike" kern="1200">
                          <a:solidFill>
                            <a:srgbClr val="000000"/>
                          </a:solidFill>
                          <a:effectLst/>
                          <a:latin typeface="Arial" panose="020B0604020202020204" pitchFamily="34" charset="0"/>
                          <a:ea typeface="+mn-ea"/>
                          <a:cs typeface="Arial" panose="020B0604020202020204" pitchFamily="34" charset="0"/>
                        </a:rPr>
                        <a:t>2.9%</a:t>
                      </a:r>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b"/>
                      <a:r>
                        <a:rPr lang="en-SG" sz="700" b="0" i="0" u="none" strike="noStrike" kern="1200">
                          <a:solidFill>
                            <a:srgbClr val="000000"/>
                          </a:solidFill>
                          <a:effectLst/>
                          <a:latin typeface="Arial" panose="020B0604020202020204" pitchFamily="34" charset="0"/>
                          <a:ea typeface="+mn-ea"/>
                          <a:cs typeface="Arial" panose="020B0604020202020204" pitchFamily="34" charset="0"/>
                        </a:rPr>
                        <a:t>336</a:t>
                      </a:r>
                    </a:p>
                  </a:txBody>
                  <a:tcPr marL="6191" marR="6191" marT="6191"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742950" rtl="0" eaLnBrk="1" fontAlgn="b" latinLnBrk="0" hangingPunct="1"/>
                      <a:r>
                        <a:rPr lang="en-US" sz="700" b="0" i="0" u="none" strike="noStrike" kern="1200">
                          <a:solidFill>
                            <a:srgbClr val="000000"/>
                          </a:solidFill>
                          <a:effectLst/>
                          <a:latin typeface="Arial" panose="020B0604020202020204" pitchFamily="34" charset="0"/>
                          <a:ea typeface="+mn-ea"/>
                          <a:cs typeface="Arial" panose="020B0604020202020204" pitchFamily="34" charset="0"/>
                        </a:rPr>
                        <a:t>2</a:t>
                      </a:r>
                      <a:endParaRPr lang="en-SG" sz="700" b="0" i="0" u="none" strike="noStrike" kern="1200">
                        <a:solidFill>
                          <a:srgbClr val="000000"/>
                        </a:solidFill>
                        <a:effectLst/>
                        <a:latin typeface="Arial" panose="020B0604020202020204" pitchFamily="34" charset="0"/>
                        <a:ea typeface="+mn-ea"/>
                        <a:cs typeface="Arial" panose="020B0604020202020204" pitchFamily="34" charset="0"/>
                      </a:endParaRPr>
                    </a:p>
                  </a:txBody>
                  <a:tcPr marL="6191" marR="6191" marT="6191"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50" name="Group 138">
            <a:extLst>
              <a:ext uri="{FF2B5EF4-FFF2-40B4-BE49-F238E27FC236}">
                <a16:creationId xmlns:a16="http://schemas.microsoft.com/office/drawing/2014/main" id="{81093F64-394B-05F4-1AAC-7CB5B62FAECE}"/>
              </a:ext>
            </a:extLst>
          </p:cNvPr>
          <p:cNvGraphicFramePr>
            <a:graphicFrameLocks noGrp="1"/>
          </p:cNvGraphicFramePr>
          <p:nvPr>
            <p:custDataLst>
              <p:tags r:id="rId3"/>
            </p:custDataLst>
          </p:nvPr>
        </p:nvGraphicFramePr>
        <p:xfrm>
          <a:off x="5904833" y="2052193"/>
          <a:ext cx="1734746" cy="1980000"/>
        </p:xfrm>
        <a:graphic>
          <a:graphicData uri="http://schemas.openxmlformats.org/drawingml/2006/table">
            <a:tbl>
              <a:tblPr/>
              <a:tblGrid>
                <a:gridCol w="14997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Singapore 2023</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CC0000"/>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a:t>
                      </a: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1</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l"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DBS</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30.9%</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636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marL="0" algn="ctr" defTabSz="742950" rtl="0" eaLnBrk="1" fontAlgn="ctr" latinLnBrk="0" hangingPunct="1"/>
                      <a:r>
                        <a:rPr lang="en-SG" sz="700" b="1" i="0" u="none" strike="noStrike" kern="1200">
                          <a:solidFill>
                            <a:srgbClr val="000000"/>
                          </a:solidFill>
                          <a:effectLst/>
                          <a:latin typeface="Arial" panose="020B0604020202020204" pitchFamily="34" charset="0"/>
                          <a:ea typeface="+mn-ea"/>
                          <a:cs typeface="+mn-cs"/>
                        </a:rPr>
                        <a:t>12</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CITI</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23.6%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487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OCBC</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10.0%</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207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BOFA</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198</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UOB</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157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JPM</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6.1%</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124</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HSBC</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4.0%</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UBS</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MAYBAN</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RHB</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51" name="Group 138">
            <a:extLst>
              <a:ext uri="{FF2B5EF4-FFF2-40B4-BE49-F238E27FC236}">
                <a16:creationId xmlns:a16="http://schemas.microsoft.com/office/drawing/2014/main" id="{5749BCF3-4704-50D1-545F-6C6F44AEBE69}"/>
              </a:ext>
            </a:extLst>
          </p:cNvPr>
          <p:cNvGraphicFramePr>
            <a:graphicFrameLocks noGrp="1"/>
          </p:cNvGraphicFramePr>
          <p:nvPr>
            <p:custDataLst>
              <p:tags r:id="rId4"/>
            </p:custDataLst>
          </p:nvPr>
        </p:nvGraphicFramePr>
        <p:xfrm>
          <a:off x="5899394" y="4179394"/>
          <a:ext cx="1743423" cy="1980000"/>
        </p:xfrm>
        <a:graphic>
          <a:graphicData uri="http://schemas.openxmlformats.org/drawingml/2006/table">
            <a:tbl>
              <a:tblPr/>
              <a:tblGrid>
                <a:gridCol w="15864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ASEAN 2023</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1" i="0" u="none" strike="noStrike">
                          <a:solidFill>
                            <a:srgbClr val="000000"/>
                          </a:solidFill>
                          <a:effectLst/>
                          <a:latin typeface="Arial" panose="020B0604020202020204" pitchFamily="34" charset="0"/>
                        </a:rPr>
                        <a:t>UBS</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7.8%</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925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15</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MAYBAN</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916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39</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3</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1" i="0" u="none" strike="noStrike">
                          <a:solidFill>
                            <a:srgbClr val="000000"/>
                          </a:solidFill>
                          <a:effectLst/>
                          <a:latin typeface="Arial" panose="020B0604020202020204" pitchFamily="34" charset="0"/>
                        </a:rPr>
                        <a:t>DBS</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7.7%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910</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14</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CIMBGR</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6.3%</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748</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27</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CITI</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4.9%</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582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MANDIR</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4.0%</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472</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CITIC</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437</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HSBC</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3.6%</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425</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NEGIND</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3.4%</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404</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7620" marR="7620" marT="762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JPM</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3.3%</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393</a:t>
                      </a:r>
                    </a:p>
                  </a:txBody>
                  <a:tcPr marL="7620" marR="7620" marT="762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7620" marR="7620" marT="762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52" name="Group 138">
            <a:extLst>
              <a:ext uri="{FF2B5EF4-FFF2-40B4-BE49-F238E27FC236}">
                <a16:creationId xmlns:a16="http://schemas.microsoft.com/office/drawing/2014/main" id="{41205FF1-A29F-7E74-7DB9-DFA6A26BDEF5}"/>
              </a:ext>
            </a:extLst>
          </p:cNvPr>
          <p:cNvGraphicFramePr>
            <a:graphicFrameLocks noGrp="1"/>
          </p:cNvGraphicFramePr>
          <p:nvPr>
            <p:custDataLst>
              <p:tags r:id="rId5"/>
            </p:custDataLst>
          </p:nvPr>
        </p:nvGraphicFramePr>
        <p:xfrm>
          <a:off x="4092358" y="2052193"/>
          <a:ext cx="1734746" cy="1980000"/>
        </p:xfrm>
        <a:graphic>
          <a:graphicData uri="http://schemas.openxmlformats.org/drawingml/2006/table">
            <a:tbl>
              <a:tblPr/>
              <a:tblGrid>
                <a:gridCol w="14997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Singapore 2024</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CC0000"/>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a:t>
                      </a: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UOB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21.1%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505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JPM</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17.7%</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424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3</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1" i="0" u="none" strike="noStrike">
                          <a:solidFill>
                            <a:srgbClr val="000000"/>
                          </a:solidFill>
                          <a:effectLst/>
                          <a:latin typeface="Arial" panose="020B0604020202020204" pitchFamily="34" charset="0"/>
                        </a:rPr>
                        <a:t>DBS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10.2%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243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OCBC</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9.7%</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232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HSBC</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182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RHB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158</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CITI</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GS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53" name="Group 138">
            <a:extLst>
              <a:ext uri="{FF2B5EF4-FFF2-40B4-BE49-F238E27FC236}">
                <a16:creationId xmlns:a16="http://schemas.microsoft.com/office/drawing/2014/main" id="{6956C0B0-AFD0-B8E9-D244-82698F4CF53A}"/>
              </a:ext>
            </a:extLst>
          </p:cNvPr>
          <p:cNvGraphicFramePr>
            <a:graphicFrameLocks noGrp="1"/>
          </p:cNvGraphicFramePr>
          <p:nvPr>
            <p:custDataLst>
              <p:tags r:id="rId6"/>
            </p:custDataLst>
          </p:nvPr>
        </p:nvGraphicFramePr>
        <p:xfrm>
          <a:off x="4082932" y="4179394"/>
          <a:ext cx="1743423" cy="1980000"/>
        </p:xfrm>
        <a:graphic>
          <a:graphicData uri="http://schemas.openxmlformats.org/drawingml/2006/table">
            <a:tbl>
              <a:tblPr/>
              <a:tblGrid>
                <a:gridCol w="15864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ASEAN 2024</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CIMBGR</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15.0%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1,736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32</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MAYBAN</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12.6%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1,461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983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UOB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509</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5</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JPM</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473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NEGIND</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4.1%</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472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7</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AMINVB</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3.3%</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382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15</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8</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BofA</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3.0%</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346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4</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9</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1" i="0" u="none" strike="noStrike">
                          <a:solidFill>
                            <a:srgbClr val="000000"/>
                          </a:solidFill>
                          <a:effectLst/>
                          <a:latin typeface="Arial" panose="020B0604020202020204" pitchFamily="34" charset="0"/>
                        </a:rPr>
                        <a:t>DBS</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2.6%</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304</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1" i="0" u="none" strike="noStrike">
                          <a:solidFill>
                            <a:srgbClr val="000000"/>
                          </a:solidFill>
                          <a:effectLst/>
                          <a:latin typeface="Arial" panose="020B0604020202020204" pitchFamily="34" charset="0"/>
                        </a:rPr>
                        <a:t>18</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10"/>
                  </a:ext>
                </a:extLst>
              </a:tr>
              <a:tr h="144000">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10</a:t>
                      </a:r>
                    </a:p>
                  </a:txBody>
                  <a:tcPr marL="9525" marR="9525" marT="9525"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l" rtl="0" fontAlgn="ctr"/>
                      <a:r>
                        <a:rPr lang="en-SG" sz="700" b="0" i="0" u="none" strike="noStrike">
                          <a:solidFill>
                            <a:srgbClr val="000000"/>
                          </a:solidFill>
                          <a:effectLst/>
                          <a:latin typeface="Arial" panose="020B0604020202020204" pitchFamily="34" charset="0"/>
                        </a:rPr>
                        <a:t>BKPH</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2.5%</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292</a:t>
                      </a:r>
                    </a:p>
                  </a:txBody>
                  <a:tcPr marL="9525" marR="9525" marT="9525"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tx1"/>
                          </a:solidFill>
                          <a:latin typeface="Arial" panose="020B0604020202020204"/>
                        </a:defRPr>
                      </a:lvl1pPr>
                      <a:lvl2pPr marL="371475" algn="l" defTabSz="742950" rtl="0" eaLnBrk="1" latinLnBrk="0" hangingPunct="1">
                        <a:defRPr sz="1463" kern="1200">
                          <a:solidFill>
                            <a:schemeClr val="tx1"/>
                          </a:solidFill>
                          <a:latin typeface="Arial" panose="020B0604020202020204"/>
                        </a:defRPr>
                      </a:lvl2pPr>
                      <a:lvl3pPr marL="742950" algn="l" defTabSz="742950" rtl="0" eaLnBrk="1" latinLnBrk="0" hangingPunct="1">
                        <a:defRPr sz="1463" kern="1200">
                          <a:solidFill>
                            <a:schemeClr val="tx1"/>
                          </a:solidFill>
                          <a:latin typeface="Arial" panose="020B0604020202020204"/>
                        </a:defRPr>
                      </a:lvl3pPr>
                      <a:lvl4pPr marL="1114425" algn="l" defTabSz="742950" rtl="0" eaLnBrk="1" latinLnBrk="0" hangingPunct="1">
                        <a:defRPr sz="1463" kern="1200">
                          <a:solidFill>
                            <a:schemeClr val="tx1"/>
                          </a:solidFill>
                          <a:latin typeface="Arial" panose="020B0604020202020204"/>
                        </a:defRPr>
                      </a:lvl4pPr>
                      <a:lvl5pPr marL="1485900" algn="l" defTabSz="742950" rtl="0" eaLnBrk="1" latinLnBrk="0" hangingPunct="1">
                        <a:defRPr sz="1463" kern="1200">
                          <a:solidFill>
                            <a:schemeClr val="tx1"/>
                          </a:solidFill>
                          <a:latin typeface="Arial" panose="020B0604020202020204"/>
                        </a:defRPr>
                      </a:lvl5pPr>
                      <a:lvl6pPr marL="1857375" algn="l" defTabSz="742950" rtl="0" eaLnBrk="1" latinLnBrk="0" hangingPunct="1">
                        <a:defRPr sz="1463" kern="1200">
                          <a:solidFill>
                            <a:schemeClr val="tx1"/>
                          </a:solidFill>
                          <a:latin typeface="Arial" panose="020B0604020202020204"/>
                        </a:defRPr>
                      </a:lvl6pPr>
                      <a:lvl7pPr marL="2228850" algn="l" defTabSz="742950" rtl="0" eaLnBrk="1" latinLnBrk="0" hangingPunct="1">
                        <a:defRPr sz="1463" kern="1200">
                          <a:solidFill>
                            <a:schemeClr val="tx1"/>
                          </a:solidFill>
                          <a:latin typeface="Arial" panose="020B0604020202020204"/>
                        </a:defRPr>
                      </a:lvl7pPr>
                      <a:lvl8pPr marL="2600325" algn="l" defTabSz="742950" rtl="0" eaLnBrk="1" latinLnBrk="0" hangingPunct="1">
                        <a:defRPr sz="1463" kern="1200">
                          <a:solidFill>
                            <a:schemeClr val="tx1"/>
                          </a:solidFill>
                          <a:latin typeface="Arial" panose="020B0604020202020204"/>
                        </a:defRPr>
                      </a:lvl8pPr>
                      <a:lvl9pPr marL="2971800" algn="l" defTabSz="742950" rtl="0" eaLnBrk="1" latinLnBrk="0" hangingPunct="1">
                        <a:defRPr sz="1463" kern="1200">
                          <a:solidFill>
                            <a:schemeClr val="tx1"/>
                          </a:solidFill>
                          <a:latin typeface="Arial" panose="020B0604020202020204"/>
                        </a:defRPr>
                      </a:lvl9pPr>
                    </a:lstStyle>
                    <a:p>
                      <a:pPr algn="ctr" rtl="0" fontAlgn="ctr"/>
                      <a:r>
                        <a:rPr lang="en-SG" sz="700" b="0" i="0" u="none" strike="noStrike">
                          <a:solidFill>
                            <a:srgbClr val="000000"/>
                          </a:solidFill>
                          <a:effectLst/>
                          <a:latin typeface="Arial" panose="020B0604020202020204" pitchFamily="34" charset="0"/>
                        </a:rPr>
                        <a:t>6</a:t>
                      </a:r>
                    </a:p>
                  </a:txBody>
                  <a:tcPr marL="9525" marR="9525" marT="9525"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pSp>
        <p:nvGrpSpPr>
          <p:cNvPr id="54" name="Group 53">
            <a:extLst>
              <a:ext uri="{FF2B5EF4-FFF2-40B4-BE49-F238E27FC236}">
                <a16:creationId xmlns:a16="http://schemas.microsoft.com/office/drawing/2014/main" id="{6BF23392-BBEC-7FC3-0370-2EFCB84CFCD9}"/>
              </a:ext>
            </a:extLst>
          </p:cNvPr>
          <p:cNvGrpSpPr/>
          <p:nvPr/>
        </p:nvGrpSpPr>
        <p:grpSpPr>
          <a:xfrm>
            <a:off x="5040583" y="1179294"/>
            <a:ext cx="1399542" cy="717714"/>
            <a:chOff x="5040583" y="1179294"/>
            <a:chExt cx="1399542" cy="717714"/>
          </a:xfrm>
        </p:grpSpPr>
        <p:sp>
          <p:nvSpPr>
            <p:cNvPr id="55" name="TextBox 54">
              <a:extLst>
                <a:ext uri="{FF2B5EF4-FFF2-40B4-BE49-F238E27FC236}">
                  <a16:creationId xmlns:a16="http://schemas.microsoft.com/office/drawing/2014/main" id="{D1FAD167-4050-E80B-5CAC-659703F15CE8}"/>
                </a:ext>
              </a:extLst>
            </p:cNvPr>
            <p:cNvSpPr txBox="1">
              <a:spLocks/>
            </p:cNvSpPr>
            <p:nvPr/>
          </p:nvSpPr>
          <p:spPr>
            <a:xfrm>
              <a:off x="5040583" y="1179294"/>
              <a:ext cx="1399542" cy="717714"/>
            </a:xfrm>
            <a:prstGeom prst="rect">
              <a:avLst/>
            </a:prstGeom>
            <a:noFill/>
            <a:effectLst/>
          </p:spPr>
          <p:txBody>
            <a:bodyPr wrap="square" lIns="180000" tIns="36000" rIns="180000" bIns="36000" rtlCol="0" anchor="ctr">
              <a:noAutofit/>
            </a:bodyPr>
            <a:lstStyle/>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Best Investment Bank in Singapore</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Global Finance</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2025</a:t>
              </a:r>
              <a:br>
                <a:rPr lang="en-SG" sz="800" b="0" kern="0">
                  <a:solidFill>
                    <a:sysClr val="windowText" lastClr="000000"/>
                  </a:solidFill>
                  <a:latin typeface="Arial" panose="020B0604020202020204"/>
                  <a:cs typeface="+mn-cs"/>
                </a:rPr>
              </a:br>
              <a:r>
                <a:rPr lang="en-SG" sz="700" b="0" kern="0">
                  <a:solidFill>
                    <a:sysClr val="windowText" lastClr="000000"/>
                  </a:solidFill>
                  <a:latin typeface="Arial" panose="020B0604020202020204"/>
                  <a:cs typeface="+mn-cs"/>
                </a:rPr>
                <a:t> </a:t>
              </a:r>
              <a:r>
                <a:rPr lang="en-SG" sz="700" b="0" kern="0">
                  <a:solidFill>
                    <a:srgbClr val="C00000"/>
                  </a:solidFill>
                  <a:latin typeface="Arial" panose="020B0604020202020204"/>
                  <a:cs typeface="+mn-cs"/>
                </a:rPr>
                <a:t>(11</a:t>
              </a:r>
              <a:r>
                <a:rPr lang="en-SG" sz="700" b="0" kern="0" baseline="30000">
                  <a:solidFill>
                    <a:srgbClr val="C00000"/>
                  </a:solidFill>
                  <a:latin typeface="Arial" panose="020B0604020202020204"/>
                  <a:cs typeface="+mn-cs"/>
                </a:rPr>
                <a:t>th</a:t>
              </a:r>
              <a:r>
                <a:rPr lang="en-SG" sz="700" b="0" kern="0">
                  <a:solidFill>
                    <a:srgbClr val="C00000"/>
                  </a:solidFill>
                  <a:latin typeface="Arial" panose="020B0604020202020204"/>
                  <a:cs typeface="+mn-cs"/>
                </a:rPr>
                <a:t> Win)</a:t>
              </a:r>
            </a:p>
          </p:txBody>
        </p:sp>
        <p:pic>
          <p:nvPicPr>
            <p:cNvPr id="56" name="Picture 2" descr="C:\Users\sophiachia\Desktop\GRAPHICS\IMAGES\Nature\image_leaf_left_medium.png">
              <a:extLst>
                <a:ext uri="{FF2B5EF4-FFF2-40B4-BE49-F238E27FC236}">
                  <a16:creationId xmlns:a16="http://schemas.microsoft.com/office/drawing/2014/main" id="{D4DBAC8C-2EDB-0A6D-267C-CB15D8118882}"/>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5040583" y="1215180"/>
              <a:ext cx="212414" cy="645943"/>
            </a:xfrm>
            <a:prstGeom prst="rect">
              <a:avLst/>
            </a:prstGeom>
            <a:noFill/>
            <a:effectLst/>
          </p:spPr>
        </p:pic>
        <p:pic>
          <p:nvPicPr>
            <p:cNvPr id="57" name="Picture 2" descr="C:\Users\sophiachia\Desktop\GRAPHICS\IMAGES\Nature\image_leaf_left_medium.png">
              <a:extLst>
                <a:ext uri="{FF2B5EF4-FFF2-40B4-BE49-F238E27FC236}">
                  <a16:creationId xmlns:a16="http://schemas.microsoft.com/office/drawing/2014/main" id="{A3F9C3B6-6E37-352F-C4EB-9E032F5AEB28}"/>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flipH="1">
              <a:off x="6227711" y="1215180"/>
              <a:ext cx="212414" cy="645943"/>
            </a:xfrm>
            <a:prstGeom prst="rect">
              <a:avLst/>
            </a:prstGeom>
            <a:noFill/>
            <a:effectLst/>
          </p:spPr>
        </p:pic>
      </p:grpSp>
      <p:grpSp>
        <p:nvGrpSpPr>
          <p:cNvPr id="58" name="Group 57">
            <a:extLst>
              <a:ext uri="{FF2B5EF4-FFF2-40B4-BE49-F238E27FC236}">
                <a16:creationId xmlns:a16="http://schemas.microsoft.com/office/drawing/2014/main" id="{620A60D8-A296-B8FC-920D-80E910106300}"/>
              </a:ext>
            </a:extLst>
          </p:cNvPr>
          <p:cNvGrpSpPr/>
          <p:nvPr/>
        </p:nvGrpSpPr>
        <p:grpSpPr>
          <a:xfrm>
            <a:off x="408361" y="1179294"/>
            <a:ext cx="1506826" cy="717714"/>
            <a:chOff x="408361" y="1179294"/>
            <a:chExt cx="1506826" cy="717714"/>
          </a:xfrm>
        </p:grpSpPr>
        <p:sp>
          <p:nvSpPr>
            <p:cNvPr id="59" name="TextBox 58">
              <a:extLst>
                <a:ext uri="{FF2B5EF4-FFF2-40B4-BE49-F238E27FC236}">
                  <a16:creationId xmlns:a16="http://schemas.microsoft.com/office/drawing/2014/main" id="{390A3BD1-B9A0-E6FA-A80D-D104C112D9AD}"/>
                </a:ext>
              </a:extLst>
            </p:cNvPr>
            <p:cNvSpPr txBox="1">
              <a:spLocks/>
            </p:cNvSpPr>
            <p:nvPr/>
          </p:nvSpPr>
          <p:spPr>
            <a:xfrm>
              <a:off x="408361" y="1179294"/>
              <a:ext cx="1506826" cy="717714"/>
            </a:xfrm>
            <a:prstGeom prst="rect">
              <a:avLst/>
            </a:prstGeom>
            <a:noFill/>
          </p:spPr>
          <p:txBody>
            <a:bodyPr wrap="square" lIns="180000" tIns="36000" rIns="180000" bIns="36000" rtlCol="0" anchor="ctr">
              <a:noAutofit/>
            </a:bodyPr>
            <a:lstStyle/>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Best Investment Bank</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 in Asia Pacific</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The Banker</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2025</a:t>
              </a:r>
              <a:br>
                <a:rPr lang="en-SG" sz="800" b="0" kern="0">
                  <a:solidFill>
                    <a:sysClr val="windowText" lastClr="000000"/>
                  </a:solidFill>
                  <a:latin typeface="Arial" panose="020B0604020202020204"/>
                  <a:cs typeface="+mn-cs"/>
                </a:rPr>
              </a:br>
              <a:r>
                <a:rPr lang="en-SG" sz="700" b="0" kern="0">
                  <a:solidFill>
                    <a:srgbClr val="C00000"/>
                  </a:solidFill>
                  <a:latin typeface="Arial" panose="020B0604020202020204"/>
                  <a:cs typeface="+mn-cs"/>
                </a:rPr>
                <a:t> (3</a:t>
              </a:r>
              <a:r>
                <a:rPr lang="en-SG" sz="700" b="0" kern="0" baseline="30000">
                  <a:solidFill>
                    <a:srgbClr val="C00000"/>
                  </a:solidFill>
                  <a:latin typeface="Arial" panose="020B0604020202020204"/>
                  <a:cs typeface="+mn-cs"/>
                </a:rPr>
                <a:t>rd</a:t>
              </a:r>
              <a:r>
                <a:rPr lang="en-SG" sz="700" b="0" kern="0">
                  <a:solidFill>
                    <a:srgbClr val="C00000"/>
                  </a:solidFill>
                  <a:latin typeface="Arial" panose="020B0604020202020204"/>
                  <a:cs typeface="+mn-cs"/>
                </a:rPr>
                <a:t> Consecutive Win)</a:t>
              </a:r>
              <a:endParaRPr lang="en-SG" sz="800" b="0" kern="0">
                <a:solidFill>
                  <a:srgbClr val="C00000"/>
                </a:solidFill>
                <a:latin typeface="Arial" panose="020B0604020202020204"/>
                <a:cs typeface="+mn-cs"/>
              </a:endParaRPr>
            </a:p>
          </p:txBody>
        </p:sp>
        <p:pic>
          <p:nvPicPr>
            <p:cNvPr id="60" name="Picture 2" descr="C:\Users\sophiachia\Desktop\GRAPHICS\IMAGES\Nature\image_leaf_left_medium.png">
              <a:extLst>
                <a:ext uri="{FF2B5EF4-FFF2-40B4-BE49-F238E27FC236}">
                  <a16:creationId xmlns:a16="http://schemas.microsoft.com/office/drawing/2014/main" id="{DBC2175A-ED9F-81D8-A680-3BEEE7CFF766}"/>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454081" y="1215180"/>
              <a:ext cx="212414" cy="645943"/>
            </a:xfrm>
            <a:prstGeom prst="rect">
              <a:avLst/>
            </a:prstGeom>
            <a:noFill/>
            <a:effectLst/>
          </p:spPr>
        </p:pic>
        <p:pic>
          <p:nvPicPr>
            <p:cNvPr id="61" name="Picture 2" descr="C:\Users\sophiachia\Desktop\GRAPHICS\IMAGES\Nature\image_leaf_left_medium.png">
              <a:extLst>
                <a:ext uri="{FF2B5EF4-FFF2-40B4-BE49-F238E27FC236}">
                  <a16:creationId xmlns:a16="http://schemas.microsoft.com/office/drawing/2014/main" id="{30B1E232-072C-7CBF-18E5-57242D6FAC9D}"/>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flipH="1">
              <a:off x="1641209" y="1215180"/>
              <a:ext cx="212414" cy="645943"/>
            </a:xfrm>
            <a:prstGeom prst="rect">
              <a:avLst/>
            </a:prstGeom>
            <a:noFill/>
            <a:effectLst/>
          </p:spPr>
        </p:pic>
      </p:grpSp>
      <p:grpSp>
        <p:nvGrpSpPr>
          <p:cNvPr id="62" name="Group 61">
            <a:extLst>
              <a:ext uri="{FF2B5EF4-FFF2-40B4-BE49-F238E27FC236}">
                <a16:creationId xmlns:a16="http://schemas.microsoft.com/office/drawing/2014/main" id="{304C9F81-8C21-7C6B-C70F-C856A0ACC0C5}"/>
              </a:ext>
            </a:extLst>
          </p:cNvPr>
          <p:cNvGrpSpPr/>
          <p:nvPr/>
        </p:nvGrpSpPr>
        <p:grpSpPr>
          <a:xfrm>
            <a:off x="3531731" y="1179294"/>
            <a:ext cx="1400351" cy="717714"/>
            <a:chOff x="3531731" y="1179294"/>
            <a:chExt cx="1400351" cy="717714"/>
          </a:xfrm>
        </p:grpSpPr>
        <p:sp>
          <p:nvSpPr>
            <p:cNvPr id="63" name="TextBox 62">
              <a:extLst>
                <a:ext uri="{FF2B5EF4-FFF2-40B4-BE49-F238E27FC236}">
                  <a16:creationId xmlns:a16="http://schemas.microsoft.com/office/drawing/2014/main" id="{AFCCDFFA-C6AD-6F09-D507-480B18D00992}"/>
                </a:ext>
              </a:extLst>
            </p:cNvPr>
            <p:cNvSpPr txBox="1">
              <a:spLocks/>
            </p:cNvSpPr>
            <p:nvPr/>
          </p:nvSpPr>
          <p:spPr>
            <a:xfrm>
              <a:off x="3531731" y="1179294"/>
              <a:ext cx="1399542" cy="717714"/>
            </a:xfrm>
            <a:prstGeom prst="rect">
              <a:avLst/>
            </a:prstGeom>
            <a:noFill/>
            <a:effectLst/>
          </p:spPr>
          <p:txBody>
            <a:bodyPr wrap="square" lIns="180000" tIns="36000" rIns="180000" bIns="36000" rtlCol="0" anchor="ctr">
              <a:noAutofit/>
            </a:bodyPr>
            <a:lstStyle/>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Best Investment Bank in Singapore</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FinanceAsia</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2025</a:t>
              </a:r>
              <a:br>
                <a:rPr lang="en-SG" sz="800" b="0" kern="0">
                  <a:solidFill>
                    <a:sysClr val="windowText" lastClr="000000"/>
                  </a:solidFill>
                  <a:latin typeface="Arial" panose="020B0604020202020204"/>
                  <a:cs typeface="+mn-cs"/>
                </a:rPr>
              </a:br>
              <a:r>
                <a:rPr lang="en-SG" sz="700" b="0" kern="0">
                  <a:solidFill>
                    <a:sysClr val="windowText" lastClr="000000"/>
                  </a:solidFill>
                  <a:latin typeface="Arial" panose="020B0604020202020204"/>
                  <a:cs typeface="+mn-cs"/>
                </a:rPr>
                <a:t> </a:t>
              </a:r>
              <a:r>
                <a:rPr lang="en-SG" sz="700" b="0" kern="0">
                  <a:solidFill>
                    <a:srgbClr val="C00000"/>
                  </a:solidFill>
                  <a:latin typeface="Arial" panose="020B0604020202020204"/>
                  <a:cs typeface="+mn-cs"/>
                </a:rPr>
                <a:t>(20</a:t>
              </a:r>
              <a:r>
                <a:rPr lang="en-SG" sz="700" b="0" kern="0" baseline="30000">
                  <a:solidFill>
                    <a:srgbClr val="C00000"/>
                  </a:solidFill>
                  <a:latin typeface="Arial" panose="020B0604020202020204"/>
                  <a:cs typeface="+mn-cs"/>
                </a:rPr>
                <a:t>th</a:t>
              </a:r>
              <a:r>
                <a:rPr lang="en-SG" sz="700" b="0" kern="0">
                  <a:solidFill>
                    <a:srgbClr val="C00000"/>
                  </a:solidFill>
                  <a:latin typeface="Arial" panose="020B0604020202020204"/>
                  <a:cs typeface="+mn-cs"/>
                </a:rPr>
                <a:t> Consecutive Win)</a:t>
              </a:r>
            </a:p>
          </p:txBody>
        </p:sp>
        <p:pic>
          <p:nvPicPr>
            <p:cNvPr id="64" name="Picture 2" descr="C:\Users\sophiachia\Desktop\GRAPHICS\IMAGES\Nature\image_leaf_left_medium.png">
              <a:extLst>
                <a:ext uri="{FF2B5EF4-FFF2-40B4-BE49-F238E27FC236}">
                  <a16:creationId xmlns:a16="http://schemas.microsoft.com/office/drawing/2014/main" id="{D94C7D46-DFA8-2AE8-DD5E-C9A31F930DF0}"/>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3531731" y="1215180"/>
              <a:ext cx="212413" cy="645943"/>
            </a:xfrm>
            <a:prstGeom prst="rect">
              <a:avLst/>
            </a:prstGeom>
            <a:noFill/>
            <a:effectLst/>
          </p:spPr>
        </p:pic>
        <p:pic>
          <p:nvPicPr>
            <p:cNvPr id="65" name="Picture 2" descr="C:\Users\sophiachia\Desktop\GRAPHICS\IMAGES\Nature\image_leaf_left_medium.png">
              <a:extLst>
                <a:ext uri="{FF2B5EF4-FFF2-40B4-BE49-F238E27FC236}">
                  <a16:creationId xmlns:a16="http://schemas.microsoft.com/office/drawing/2014/main" id="{F5E7BA39-301A-2AB8-B0AB-78484C471D61}"/>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flipH="1">
              <a:off x="4719669" y="1215180"/>
              <a:ext cx="212413" cy="645943"/>
            </a:xfrm>
            <a:prstGeom prst="rect">
              <a:avLst/>
            </a:prstGeom>
            <a:noFill/>
            <a:effectLst/>
          </p:spPr>
        </p:pic>
      </p:grpSp>
      <p:grpSp>
        <p:nvGrpSpPr>
          <p:cNvPr id="66" name="Group 65">
            <a:extLst>
              <a:ext uri="{FF2B5EF4-FFF2-40B4-BE49-F238E27FC236}">
                <a16:creationId xmlns:a16="http://schemas.microsoft.com/office/drawing/2014/main" id="{A5921AFD-66A7-14D4-626C-551B554428D8}"/>
              </a:ext>
            </a:extLst>
          </p:cNvPr>
          <p:cNvGrpSpPr/>
          <p:nvPr/>
        </p:nvGrpSpPr>
        <p:grpSpPr>
          <a:xfrm>
            <a:off x="6548626" y="1179294"/>
            <a:ext cx="1399542" cy="717714"/>
            <a:chOff x="6548626" y="1179294"/>
            <a:chExt cx="1399542" cy="717714"/>
          </a:xfrm>
        </p:grpSpPr>
        <p:sp>
          <p:nvSpPr>
            <p:cNvPr id="67" name="TextBox 66">
              <a:extLst>
                <a:ext uri="{FF2B5EF4-FFF2-40B4-BE49-F238E27FC236}">
                  <a16:creationId xmlns:a16="http://schemas.microsoft.com/office/drawing/2014/main" id="{2310622C-C1A3-1FB0-8459-13926752D00A}"/>
                </a:ext>
              </a:extLst>
            </p:cNvPr>
            <p:cNvSpPr txBox="1">
              <a:spLocks/>
            </p:cNvSpPr>
            <p:nvPr/>
          </p:nvSpPr>
          <p:spPr>
            <a:xfrm>
              <a:off x="6548626" y="1179294"/>
              <a:ext cx="1399542" cy="717714"/>
            </a:xfrm>
            <a:prstGeom prst="rect">
              <a:avLst/>
            </a:prstGeom>
            <a:noFill/>
            <a:effectLst/>
          </p:spPr>
          <p:txBody>
            <a:bodyPr wrap="square" lIns="180000" tIns="36000" rIns="180000" bIns="36000" rtlCol="0" anchor="ctr">
              <a:noAutofit/>
            </a:bodyPr>
            <a:lstStyle/>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Best ECM House </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in Singapore</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FinanceAsia</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2025</a:t>
              </a:r>
              <a:br>
                <a:rPr lang="en-SG" sz="800" b="0" kern="0">
                  <a:solidFill>
                    <a:sysClr val="windowText" lastClr="000000"/>
                  </a:solidFill>
                  <a:latin typeface="Arial" panose="020B0604020202020204"/>
                  <a:cs typeface="+mn-cs"/>
                </a:rPr>
              </a:br>
              <a:r>
                <a:rPr lang="en-SG" sz="700" b="0" kern="0">
                  <a:solidFill>
                    <a:sysClr val="windowText" lastClr="000000"/>
                  </a:solidFill>
                  <a:latin typeface="Arial" panose="020B0604020202020204"/>
                  <a:cs typeface="+mn-cs"/>
                </a:rPr>
                <a:t> </a:t>
              </a:r>
              <a:r>
                <a:rPr lang="en-SG" sz="700" b="0" kern="0">
                  <a:solidFill>
                    <a:srgbClr val="C00000"/>
                  </a:solidFill>
                  <a:latin typeface="Arial" panose="020B0604020202020204"/>
                  <a:cs typeface="+mn-cs"/>
                </a:rPr>
                <a:t>(19</a:t>
              </a:r>
              <a:r>
                <a:rPr lang="en-SG" sz="700" b="0" kern="0" baseline="30000">
                  <a:solidFill>
                    <a:srgbClr val="C00000"/>
                  </a:solidFill>
                  <a:latin typeface="Arial" panose="020B0604020202020204"/>
                  <a:cs typeface="+mn-cs"/>
                </a:rPr>
                <a:t>th</a:t>
              </a:r>
              <a:r>
                <a:rPr lang="en-SG" sz="700" b="0" kern="0">
                  <a:solidFill>
                    <a:srgbClr val="C00000"/>
                  </a:solidFill>
                  <a:latin typeface="Arial" panose="020B0604020202020204"/>
                  <a:cs typeface="+mn-cs"/>
                </a:rPr>
                <a:t> Win)</a:t>
              </a:r>
            </a:p>
          </p:txBody>
        </p:sp>
        <p:pic>
          <p:nvPicPr>
            <p:cNvPr id="68" name="Picture 2" descr="C:\Users\sophiachia\Desktop\GRAPHICS\IMAGES\Nature\image_leaf_left_medium.png">
              <a:extLst>
                <a:ext uri="{FF2B5EF4-FFF2-40B4-BE49-F238E27FC236}">
                  <a16:creationId xmlns:a16="http://schemas.microsoft.com/office/drawing/2014/main" id="{9834186D-DCC1-62B1-23FA-825F428F776C}"/>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6548626" y="1215180"/>
              <a:ext cx="212414" cy="645943"/>
            </a:xfrm>
            <a:prstGeom prst="rect">
              <a:avLst/>
            </a:prstGeom>
            <a:noFill/>
            <a:effectLst/>
          </p:spPr>
        </p:pic>
        <p:pic>
          <p:nvPicPr>
            <p:cNvPr id="69" name="Picture 2" descr="C:\Users\sophiachia\Desktop\GRAPHICS\IMAGES\Nature\image_leaf_left_medium.png">
              <a:extLst>
                <a:ext uri="{FF2B5EF4-FFF2-40B4-BE49-F238E27FC236}">
                  <a16:creationId xmlns:a16="http://schemas.microsoft.com/office/drawing/2014/main" id="{D8714528-BC87-7E11-DB51-F73DAC07AB7F}"/>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flipH="1">
              <a:off x="7735754" y="1215180"/>
              <a:ext cx="212414" cy="645943"/>
            </a:xfrm>
            <a:prstGeom prst="rect">
              <a:avLst/>
            </a:prstGeom>
            <a:noFill/>
            <a:effectLst/>
          </p:spPr>
        </p:pic>
      </p:grpSp>
      <p:grpSp>
        <p:nvGrpSpPr>
          <p:cNvPr id="70" name="Group 69">
            <a:extLst>
              <a:ext uri="{FF2B5EF4-FFF2-40B4-BE49-F238E27FC236}">
                <a16:creationId xmlns:a16="http://schemas.microsoft.com/office/drawing/2014/main" id="{0CABFDA7-94CA-0699-FD63-BA25534FA9CD}"/>
              </a:ext>
            </a:extLst>
          </p:cNvPr>
          <p:cNvGrpSpPr/>
          <p:nvPr/>
        </p:nvGrpSpPr>
        <p:grpSpPr>
          <a:xfrm>
            <a:off x="2023688" y="1179294"/>
            <a:ext cx="1399542" cy="717714"/>
            <a:chOff x="2023688" y="1179294"/>
            <a:chExt cx="1399542" cy="717714"/>
          </a:xfrm>
        </p:grpSpPr>
        <p:sp>
          <p:nvSpPr>
            <p:cNvPr id="71" name="TextBox 70">
              <a:extLst>
                <a:ext uri="{FF2B5EF4-FFF2-40B4-BE49-F238E27FC236}">
                  <a16:creationId xmlns:a16="http://schemas.microsoft.com/office/drawing/2014/main" id="{6A889B48-2225-12A1-F161-756C83BEF1AA}"/>
                </a:ext>
              </a:extLst>
            </p:cNvPr>
            <p:cNvSpPr txBox="1">
              <a:spLocks/>
            </p:cNvSpPr>
            <p:nvPr/>
          </p:nvSpPr>
          <p:spPr>
            <a:xfrm>
              <a:off x="2023688" y="1179294"/>
              <a:ext cx="1399542" cy="717714"/>
            </a:xfrm>
            <a:prstGeom prst="rect">
              <a:avLst/>
            </a:prstGeom>
            <a:noFill/>
            <a:effectLst/>
          </p:spPr>
          <p:txBody>
            <a:bodyPr wrap="square" lIns="180000" tIns="36000" rIns="180000" bIns="36000" rtlCol="0" anchor="ctr">
              <a:noAutofit/>
            </a:bodyPr>
            <a:lstStyle/>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Best Equity Bank in Asia Pacific</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Global Finance</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2025</a:t>
              </a:r>
              <a:br>
                <a:rPr lang="en-SG" sz="800" b="0" kern="0">
                  <a:solidFill>
                    <a:sysClr val="windowText" lastClr="000000"/>
                  </a:solidFill>
                  <a:latin typeface="Arial" panose="020B0604020202020204"/>
                  <a:cs typeface="+mn-cs"/>
                </a:rPr>
              </a:br>
              <a:r>
                <a:rPr lang="en-SG" sz="700" b="0" kern="0">
                  <a:solidFill>
                    <a:sysClr val="windowText" lastClr="000000"/>
                  </a:solidFill>
                  <a:latin typeface="Arial" panose="020B0604020202020204"/>
                  <a:cs typeface="+mn-cs"/>
                </a:rPr>
                <a:t> </a:t>
              </a:r>
              <a:r>
                <a:rPr lang="en-SG" sz="700" b="0" kern="0">
                  <a:solidFill>
                    <a:srgbClr val="C00000"/>
                  </a:solidFill>
                  <a:latin typeface="Arial" panose="020B0604020202020204"/>
                  <a:cs typeface="+mn-cs"/>
                </a:rPr>
                <a:t>(2</a:t>
              </a:r>
              <a:r>
                <a:rPr lang="en-SG" sz="700" b="0" kern="0" baseline="30000">
                  <a:solidFill>
                    <a:srgbClr val="C00000"/>
                  </a:solidFill>
                  <a:latin typeface="Arial" panose="020B0604020202020204"/>
                  <a:cs typeface="+mn-cs"/>
                </a:rPr>
                <a:t>nd</a:t>
              </a:r>
              <a:r>
                <a:rPr lang="en-SG" sz="700" b="0" kern="0">
                  <a:solidFill>
                    <a:srgbClr val="C00000"/>
                  </a:solidFill>
                  <a:latin typeface="Arial" panose="020B0604020202020204"/>
                  <a:cs typeface="+mn-cs"/>
                </a:rPr>
                <a:t> Win)</a:t>
              </a:r>
            </a:p>
          </p:txBody>
        </p:sp>
        <p:pic>
          <p:nvPicPr>
            <p:cNvPr id="72" name="Picture 2" descr="C:\Users\sophiachia\Desktop\GRAPHICS\IMAGES\Nature\image_leaf_left_medium.png">
              <a:extLst>
                <a:ext uri="{FF2B5EF4-FFF2-40B4-BE49-F238E27FC236}">
                  <a16:creationId xmlns:a16="http://schemas.microsoft.com/office/drawing/2014/main" id="{7B2FFAE3-BE2B-C7C0-C679-47F464D3F1DE}"/>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2023688" y="1215180"/>
              <a:ext cx="212460" cy="645943"/>
            </a:xfrm>
            <a:prstGeom prst="rect">
              <a:avLst/>
            </a:prstGeom>
            <a:noFill/>
            <a:effectLst/>
          </p:spPr>
        </p:pic>
        <p:pic>
          <p:nvPicPr>
            <p:cNvPr id="73" name="Picture 2" descr="C:\Users\sophiachia\Desktop\GRAPHICS\IMAGES\Nature\image_leaf_left_medium.png">
              <a:extLst>
                <a:ext uri="{FF2B5EF4-FFF2-40B4-BE49-F238E27FC236}">
                  <a16:creationId xmlns:a16="http://schemas.microsoft.com/office/drawing/2014/main" id="{B9F3A6B2-C298-1068-38E2-0C16BF6AE1EC}"/>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flipH="1">
              <a:off x="3210770" y="1215180"/>
              <a:ext cx="212460" cy="645943"/>
            </a:xfrm>
            <a:prstGeom prst="rect">
              <a:avLst/>
            </a:prstGeom>
            <a:noFill/>
            <a:effectLst/>
          </p:spPr>
        </p:pic>
      </p:grpSp>
      <p:grpSp>
        <p:nvGrpSpPr>
          <p:cNvPr id="74" name="Group 73">
            <a:extLst>
              <a:ext uri="{FF2B5EF4-FFF2-40B4-BE49-F238E27FC236}">
                <a16:creationId xmlns:a16="http://schemas.microsoft.com/office/drawing/2014/main" id="{DB2F2C5C-3754-77BF-A032-757FC79B3594}"/>
              </a:ext>
            </a:extLst>
          </p:cNvPr>
          <p:cNvGrpSpPr/>
          <p:nvPr/>
        </p:nvGrpSpPr>
        <p:grpSpPr>
          <a:xfrm>
            <a:off x="8056669" y="1179294"/>
            <a:ext cx="1399542" cy="717714"/>
            <a:chOff x="8056669" y="1179294"/>
            <a:chExt cx="1399542" cy="717714"/>
          </a:xfrm>
        </p:grpSpPr>
        <p:sp>
          <p:nvSpPr>
            <p:cNvPr id="75" name="TextBox 74">
              <a:extLst>
                <a:ext uri="{FF2B5EF4-FFF2-40B4-BE49-F238E27FC236}">
                  <a16:creationId xmlns:a16="http://schemas.microsoft.com/office/drawing/2014/main" id="{D0CF899F-331D-E143-F603-F13A9FB27B23}"/>
                </a:ext>
              </a:extLst>
            </p:cNvPr>
            <p:cNvSpPr txBox="1">
              <a:spLocks/>
            </p:cNvSpPr>
            <p:nvPr/>
          </p:nvSpPr>
          <p:spPr>
            <a:xfrm>
              <a:off x="8056669" y="1179294"/>
              <a:ext cx="1399542" cy="717714"/>
            </a:xfrm>
            <a:prstGeom prst="rect">
              <a:avLst/>
            </a:prstGeom>
            <a:noFill/>
            <a:effectLst/>
          </p:spPr>
          <p:txBody>
            <a:bodyPr wrap="square" lIns="180000" tIns="36000" rIns="180000" bIns="36000" rtlCol="0" anchor="ctr">
              <a:noAutofit/>
            </a:bodyPr>
            <a:lstStyle/>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Best Equity Adviser in Singapore</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The Asset</a:t>
              </a:r>
            </a:p>
            <a:p>
              <a:pPr algn="ctr" defTabSz="371475" fontAlgn="auto">
                <a:spcBef>
                  <a:spcPts val="0"/>
                </a:spcBef>
                <a:spcAft>
                  <a:spcPts val="0"/>
                </a:spcAft>
                <a:buClr>
                  <a:srgbClr val="BE050A"/>
                </a:buClr>
                <a:defRPr/>
              </a:pPr>
              <a:r>
                <a:rPr lang="en-SG" sz="800" b="0" kern="0">
                  <a:solidFill>
                    <a:sysClr val="windowText" lastClr="000000"/>
                  </a:solidFill>
                  <a:latin typeface="Arial" panose="020B0604020202020204"/>
                  <a:cs typeface="+mn-cs"/>
                </a:rPr>
                <a:t>2024</a:t>
              </a:r>
            </a:p>
            <a:p>
              <a:pPr algn="ctr" defTabSz="371475" fontAlgn="auto">
                <a:spcBef>
                  <a:spcPts val="0"/>
                </a:spcBef>
                <a:spcAft>
                  <a:spcPts val="0"/>
                </a:spcAft>
                <a:buClr>
                  <a:srgbClr val="BE050A"/>
                </a:buClr>
                <a:defRPr/>
              </a:pPr>
              <a:r>
                <a:rPr lang="en-SG" sz="700" b="0" kern="0">
                  <a:solidFill>
                    <a:srgbClr val="C00000"/>
                  </a:solidFill>
                  <a:latin typeface="Arial" panose="020B0604020202020204"/>
                  <a:cs typeface="+mn-cs"/>
                </a:rPr>
                <a:t>(11</a:t>
              </a:r>
              <a:r>
                <a:rPr lang="en-SG" sz="700" b="0" kern="0" baseline="30000">
                  <a:solidFill>
                    <a:srgbClr val="C00000"/>
                  </a:solidFill>
                  <a:latin typeface="Arial" panose="020B0604020202020204"/>
                  <a:cs typeface="+mn-cs"/>
                </a:rPr>
                <a:t>th</a:t>
              </a:r>
              <a:r>
                <a:rPr lang="en-SG" sz="700" b="0" kern="0">
                  <a:solidFill>
                    <a:srgbClr val="C00000"/>
                  </a:solidFill>
                  <a:latin typeface="Arial" panose="020B0604020202020204"/>
                  <a:cs typeface="+mn-cs"/>
                </a:rPr>
                <a:t> Consecutive Win)</a:t>
              </a:r>
            </a:p>
          </p:txBody>
        </p:sp>
        <p:pic>
          <p:nvPicPr>
            <p:cNvPr id="76" name="Picture 2" descr="C:\Users\sophiachia\Desktop\GRAPHICS\IMAGES\Nature\image_leaf_left_medium.png">
              <a:extLst>
                <a:ext uri="{FF2B5EF4-FFF2-40B4-BE49-F238E27FC236}">
                  <a16:creationId xmlns:a16="http://schemas.microsoft.com/office/drawing/2014/main" id="{64E91855-9AE4-219F-BFDB-385701A0E3D9}"/>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8056669" y="1215180"/>
              <a:ext cx="212414" cy="645943"/>
            </a:xfrm>
            <a:prstGeom prst="rect">
              <a:avLst/>
            </a:prstGeom>
            <a:noFill/>
            <a:effectLst/>
          </p:spPr>
        </p:pic>
        <p:pic>
          <p:nvPicPr>
            <p:cNvPr id="77" name="Picture 2" descr="C:\Users\sophiachia\Desktop\GRAPHICS\IMAGES\Nature\image_leaf_left_medium.png">
              <a:extLst>
                <a:ext uri="{FF2B5EF4-FFF2-40B4-BE49-F238E27FC236}">
                  <a16:creationId xmlns:a16="http://schemas.microsoft.com/office/drawing/2014/main" id="{B06C8D83-1377-CEAF-D23A-55517773A86A}"/>
                </a:ext>
              </a:extLst>
            </p:cNvPr>
            <p:cNvPicPr>
              <a:picLocks noChangeAspect="1" noChangeArrowheads="1"/>
            </p:cNvPicPr>
            <p:nvPr/>
          </p:nvPicPr>
          <p:blipFill>
            <a:blip r:embed="rId8" cstate="screen">
              <a:clrChange>
                <a:clrFrom>
                  <a:srgbClr val="FFFFFF"/>
                </a:clrFrom>
                <a:clrTo>
                  <a:srgbClr val="FFFFFF">
                    <a:alpha val="0"/>
                  </a:srgbClr>
                </a:clrTo>
              </a:clrChange>
              <a:duotone>
                <a:srgbClr val="FBDA97">
                  <a:shade val="45000"/>
                  <a:satMod val="135000"/>
                </a:srgbClr>
                <a:prstClr val="white"/>
              </a:duotone>
              <a:extLst>
                <a:ext uri="{28A0092B-C50C-407E-A947-70E740481C1C}">
                  <a14:useLocalDpi xmlns:a14="http://schemas.microsoft.com/office/drawing/2010/main"/>
                </a:ext>
              </a:extLst>
            </a:blip>
            <a:srcRect/>
            <a:stretch>
              <a:fillRect/>
            </a:stretch>
          </p:blipFill>
          <p:spPr bwMode="auto">
            <a:xfrm flipH="1">
              <a:off x="9243797" y="1215180"/>
              <a:ext cx="212414" cy="645943"/>
            </a:xfrm>
            <a:prstGeom prst="rect">
              <a:avLst/>
            </a:prstGeom>
            <a:noFill/>
            <a:effectLst/>
          </p:spPr>
        </p:pic>
      </p:grpSp>
      <p:pic>
        <p:nvPicPr>
          <p:cNvPr id="1026" name="Picture 2">
            <a:extLst>
              <a:ext uri="{FF2B5EF4-FFF2-40B4-BE49-F238E27FC236}">
                <a16:creationId xmlns:a16="http://schemas.microsoft.com/office/drawing/2014/main" id="{135E61F5-6C6E-7EC7-B9B1-EB65289EC0E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978639" y="4179394"/>
            <a:ext cx="3578199" cy="12076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E656B4B-9BF9-575C-F6C8-EE400DC0DAC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978639" y="2052193"/>
            <a:ext cx="3578199" cy="192775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Group 138">
            <a:extLst>
              <a:ext uri="{FF2B5EF4-FFF2-40B4-BE49-F238E27FC236}">
                <a16:creationId xmlns:a16="http://schemas.microsoft.com/office/drawing/2014/main" id="{729F7929-1BED-409B-A1BD-8A4D7B2ADF13}"/>
              </a:ext>
            </a:extLst>
          </p:cNvPr>
          <p:cNvGraphicFramePr>
            <a:graphicFrameLocks noGrp="1"/>
          </p:cNvGraphicFramePr>
          <p:nvPr>
            <p:extLst>
              <p:ext uri="{D42A27DB-BD31-4B8C-83A1-F6EECF244321}">
                <p14:modId xmlns:p14="http://schemas.microsoft.com/office/powerpoint/2010/main" val="2319636922"/>
              </p:ext>
            </p:extLst>
          </p:nvPr>
        </p:nvGraphicFramePr>
        <p:xfrm>
          <a:off x="453000" y="2052193"/>
          <a:ext cx="1741973" cy="1980000"/>
        </p:xfrm>
        <a:graphic>
          <a:graphicData uri="http://schemas.openxmlformats.org/drawingml/2006/table">
            <a:tbl>
              <a:tblPr/>
              <a:tblGrid>
                <a:gridCol w="157197">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Singapore 2026 YTD</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CC0000"/>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a:t>
                      </a: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CC000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1</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p>
                      <a:pPr algn="l" fontAlgn="b">
                        <a:buNone/>
                      </a:pPr>
                      <a:r>
                        <a:rPr lang="en-SG" sz="700" b="1" i="0" u="none" strike="noStrike">
                          <a:solidFill>
                            <a:srgbClr val="000000"/>
                          </a:solidFill>
                          <a:effectLst/>
                          <a:latin typeface="Arial" panose="020B0604020202020204" pitchFamily="34" charset="0"/>
                        </a:rPr>
                        <a:t>DBS</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p>
                      <a:pPr algn="ctr" fontAlgn="b">
                        <a:buNone/>
                      </a:pPr>
                      <a:r>
                        <a:rPr lang="en-SG" sz="700" b="1" i="0" u="none" strike="noStrike">
                          <a:solidFill>
                            <a:srgbClr val="000000"/>
                          </a:solidFill>
                          <a:effectLst/>
                          <a:latin typeface="Arial" panose="020B0604020202020204" pitchFamily="34" charset="0"/>
                        </a:rPr>
                        <a:t>21.8%</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p>
                      <a:pPr algn="ctr" fontAlgn="b">
                        <a:buNone/>
                      </a:pPr>
                      <a:r>
                        <a:rPr lang="en-SG" sz="700" b="1" i="0" u="none" strike="noStrike">
                          <a:solidFill>
                            <a:srgbClr val="000000"/>
                          </a:solidFill>
                          <a:effectLst/>
                          <a:latin typeface="Arial" panose="020B0604020202020204" pitchFamily="34" charset="0"/>
                        </a:rPr>
                        <a:t>688</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tc>
                  <a:txBody>
                    <a:bodyPr/>
                    <a:lstStyle/>
                    <a:p>
                      <a:pPr algn="ctr" fontAlgn="b">
                        <a:buNone/>
                      </a:pPr>
                      <a:r>
                        <a:rPr lang="en-SG" sz="700" b="1" i="0" u="none" strike="noStrike">
                          <a:solidFill>
                            <a:srgbClr val="000000"/>
                          </a:solidFill>
                          <a:effectLst/>
                          <a:latin typeface="Arial" panose="020B0604020202020204" pitchFamily="34" charset="0"/>
                        </a:rPr>
                        <a:t>9</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0002"/>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2</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UOB</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19.8%</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626</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3</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OCBC</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17.3%</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547</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7</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4</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CITI</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8.9%</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281</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3</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5</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GALAXY</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8.6%</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271</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6</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JPM</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6.7%</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211</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2</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7</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MAYBAN</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5.2%</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166</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4</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8</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GS</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5.2%</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164</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2</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9</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MIZUHO</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3.0%</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94</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lang="en-SG" sz="700" b="0" i="0" u="none" strike="noStrike" kern="1200">
                          <a:solidFill>
                            <a:srgbClr val="000000"/>
                          </a:solidFill>
                          <a:effectLst/>
                          <a:latin typeface="Arial" panose="020B0604020202020204" pitchFamily="34" charset="0"/>
                          <a:ea typeface="+mn-ea"/>
                          <a:cs typeface="Arial" panose="020B0604020202020204" pitchFamily="34" charset="0"/>
                        </a:rPr>
                        <a:t>10</a:t>
                      </a:r>
                    </a:p>
                  </a:txBody>
                  <a:tcPr marL="0" marR="0"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UBS</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1.0%</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30</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graphicFrame>
        <p:nvGraphicFramePr>
          <p:cNvPr id="6" name="Group 138">
            <a:extLst>
              <a:ext uri="{FF2B5EF4-FFF2-40B4-BE49-F238E27FC236}">
                <a16:creationId xmlns:a16="http://schemas.microsoft.com/office/drawing/2014/main" id="{9B816230-5061-48E4-AD24-B551A9883DDC}"/>
              </a:ext>
            </a:extLst>
          </p:cNvPr>
          <p:cNvGraphicFramePr>
            <a:graphicFrameLocks noGrp="1"/>
          </p:cNvGraphicFramePr>
          <p:nvPr>
            <p:extLst>
              <p:ext uri="{D42A27DB-BD31-4B8C-83A1-F6EECF244321}">
                <p14:modId xmlns:p14="http://schemas.microsoft.com/office/powerpoint/2010/main" val="530332396"/>
              </p:ext>
            </p:extLst>
          </p:nvPr>
        </p:nvGraphicFramePr>
        <p:xfrm>
          <a:off x="453000" y="4179394"/>
          <a:ext cx="1741927" cy="1980000"/>
        </p:xfrm>
        <a:graphic>
          <a:graphicData uri="http://schemas.openxmlformats.org/drawingml/2006/table">
            <a:tbl>
              <a:tblPr/>
              <a:tblGrid>
                <a:gridCol w="157151">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378388">
                  <a:extLst>
                    <a:ext uri="{9D8B030D-6E8A-4147-A177-3AD203B41FA5}">
                      <a16:colId xmlns:a16="http://schemas.microsoft.com/office/drawing/2014/main" val="20002"/>
                    </a:ext>
                  </a:extLst>
                </a:gridCol>
                <a:gridCol w="378388">
                  <a:extLst>
                    <a:ext uri="{9D8B030D-6E8A-4147-A177-3AD203B41FA5}">
                      <a16:colId xmlns:a16="http://schemas.microsoft.com/office/drawing/2014/main" val="20003"/>
                    </a:ext>
                  </a:extLst>
                </a:gridCol>
                <a:gridCol w="324000">
                  <a:extLst>
                    <a:ext uri="{9D8B030D-6E8A-4147-A177-3AD203B41FA5}">
                      <a16:colId xmlns:a16="http://schemas.microsoft.com/office/drawing/2014/main" val="20004"/>
                    </a:ext>
                  </a:extLst>
                </a:gridCol>
              </a:tblGrid>
              <a:tr h="216000">
                <a:tc gridSpan="5">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bg1"/>
                          </a:solidFill>
                          <a:effectLst/>
                          <a:latin typeface="Arial" panose="020B0604020202020204" pitchFamily="34" charset="0"/>
                          <a:ea typeface="+mn-ea"/>
                          <a:cs typeface="Arial" panose="020B0604020202020204" pitchFamily="34" charset="0"/>
                        </a:rPr>
                        <a:t>ASEAN 2026 YTD</a:t>
                      </a:r>
                    </a:p>
                  </a:txBody>
                  <a:tcPr marL="8539" marR="8539" marT="9249"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C52133"/>
                      </a:solidFill>
                      <a:prstDash val="solid"/>
                      <a:round/>
                      <a:headEnd type="none" w="med" len="med"/>
                      <a:tailEnd type="none" w="med" len="med"/>
                    </a:lnB>
                    <a:lnTlToBr w="12700" cmpd="sng">
                      <a:noFill/>
                      <a:prstDash val="solid"/>
                    </a:lnTlToBr>
                    <a:lnBlToTr w="12700" cmpd="sng">
                      <a:noFill/>
                      <a:prstDash val="solid"/>
                    </a:lnBlToTr>
                    <a:solidFill>
                      <a:srgbClr val="211E1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4000">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GB" sz="700" b="1" u="none" strike="noStrike" cap="none" normalizeH="0" baseline="0">
                          <a:ln>
                            <a:noFill/>
                          </a:ln>
                          <a:solidFill>
                            <a:schemeClr val="tx1"/>
                          </a:solidFill>
                          <a:effectLst/>
                          <a:latin typeface="Arial" panose="020B0604020202020204" pitchFamily="34" charset="0"/>
                          <a:cs typeface="Arial" panose="020B0604020202020204" pitchFamily="34" charset="0"/>
                        </a:rPr>
                        <a:t>#</a:t>
                      </a:r>
                      <a:endParaRPr kumimoji="0" lang="en-GB" sz="700" b="1" i="0" u="none" strike="noStrike" cap="none" normalizeH="0" baseline="0">
                        <a:ln>
                          <a:noFill/>
                        </a:ln>
                        <a:solidFill>
                          <a:schemeClr val="tx1"/>
                        </a:solidFill>
                        <a:effectLst/>
                        <a:latin typeface="Arial" panose="020B0604020202020204" pitchFamily="34" charset="0"/>
                        <a:ea typeface="SimSun" pitchFamily="2" charset="-122"/>
                        <a:cs typeface="Arial" panose="020B0604020202020204" pitchFamily="34" charset="0"/>
                      </a:endParaRPr>
                    </a:p>
                  </a:txBody>
                  <a:tcPr marL="0" marR="0" marT="0" marB="0" anchor="ctr" horzOverflow="overflow">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Underwriter</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Mkt Share </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Undrwtn </a:t>
                      </a:r>
                      <a:b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br>
                      <a:r>
                        <a:rPr kumimoji="0" lang="en-SG"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(USD m)</a:t>
                      </a: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GB" sz="700" b="1" u="none" strike="noStrike" kern="1200" cap="none" normalizeH="0" baseline="0">
                          <a:ln>
                            <a:noFill/>
                          </a:ln>
                          <a:solidFill>
                            <a:schemeClr val="tx1"/>
                          </a:solidFill>
                          <a:effectLst/>
                          <a:latin typeface="Arial" panose="020B0604020202020204" pitchFamily="34" charset="0"/>
                          <a:ea typeface="+mn-ea"/>
                          <a:cs typeface="Arial" panose="020B0604020202020204" pitchFamily="34" charset="0"/>
                        </a:rPr>
                        <a:t>Issues</a:t>
                      </a:r>
                    </a:p>
                  </a:txBody>
                  <a:tcPr marL="0" marR="0" marT="0" marB="0" anchor="ctr" horzOverflow="overflow">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C5213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1" i="0" u="none" strike="noStrike" kern="1200">
                          <a:solidFill>
                            <a:srgbClr val="000000"/>
                          </a:solidFill>
                          <a:effectLst/>
                          <a:latin typeface="Arial" panose="020B0604020202020204" pitchFamily="34" charset="0"/>
                          <a:ea typeface="+mn-ea"/>
                          <a:cs typeface="Arial" panose="020B0604020202020204" pitchFamily="34" charset="0"/>
                        </a:rPr>
                        <a:t>1</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p>
                      <a:pPr algn="l" fontAlgn="b">
                        <a:buNone/>
                      </a:pPr>
                      <a:r>
                        <a:rPr lang="en-SG" sz="700" b="1" i="0" u="none" strike="noStrike">
                          <a:solidFill>
                            <a:srgbClr val="000000"/>
                          </a:solidFill>
                          <a:effectLst/>
                          <a:latin typeface="Arial" panose="020B0604020202020204" pitchFamily="34" charset="0"/>
                        </a:rPr>
                        <a:t>DBS</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p>
                      <a:pPr algn="ctr" fontAlgn="b">
                        <a:buNone/>
                      </a:pPr>
                      <a:r>
                        <a:rPr lang="en-SG" sz="700" b="1" i="0" u="none" strike="noStrike">
                          <a:solidFill>
                            <a:srgbClr val="000000"/>
                          </a:solidFill>
                          <a:effectLst/>
                          <a:latin typeface="Arial" panose="020B0604020202020204" pitchFamily="34" charset="0"/>
                        </a:rPr>
                        <a:t>11.4%</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p>
                      <a:pPr algn="ctr" fontAlgn="b">
                        <a:buNone/>
                      </a:pPr>
                      <a:r>
                        <a:rPr lang="en-SG" sz="700" b="1" i="0" u="none" strike="noStrike">
                          <a:solidFill>
                            <a:srgbClr val="000000"/>
                          </a:solidFill>
                          <a:effectLst/>
                          <a:latin typeface="Arial" panose="020B0604020202020204" pitchFamily="34" charset="0"/>
                        </a:rPr>
                        <a:t>757</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p>
                      <a:pPr algn="ctr" fontAlgn="b">
                        <a:buNone/>
                      </a:pPr>
                      <a:r>
                        <a:rPr lang="en-SG" sz="700" b="1" i="0" u="none" strike="noStrike">
                          <a:solidFill>
                            <a:srgbClr val="000000"/>
                          </a:solidFill>
                          <a:effectLst/>
                          <a:latin typeface="Arial" panose="020B0604020202020204" pitchFamily="34" charset="0"/>
                        </a:rPr>
                        <a:t>10</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0002"/>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2</a:t>
                      </a:r>
                    </a:p>
                  </a:txBody>
                  <a:tcPr marL="7739" marR="7739" marT="0"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UOB</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10.5%</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697</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8</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3</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OCBC</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8.4%</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556</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8</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4</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CIMB</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7.0%</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464</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10</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5</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UBS</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6.8%</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452</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6</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GALAXY</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6.7%</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449</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7</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7</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JPM</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6.7%</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448</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8</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MAYBAN</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5.6%</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371</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8</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9</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RHB</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4.8%</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316</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3</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4400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SG" sz="700" b="0" i="0" u="none" strike="noStrike">
                          <a:solidFill>
                            <a:srgbClr val="000000"/>
                          </a:solidFill>
                          <a:effectLst/>
                          <a:latin typeface="Arial" panose="020B0604020202020204" pitchFamily="34" charset="0"/>
                          <a:cs typeface="Arial" panose="020B0604020202020204" pitchFamily="34" charset="0"/>
                        </a:rPr>
                        <a:t>10</a:t>
                      </a:r>
                    </a:p>
                  </a:txBody>
                  <a:tcPr marL="7739" marR="7739" marT="7739" marB="0" anchor="ctr">
                    <a:lnL w="1270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SG" sz="700" b="0" i="0" u="none" strike="noStrike">
                          <a:solidFill>
                            <a:srgbClr val="000000"/>
                          </a:solidFill>
                          <a:effectLst/>
                          <a:latin typeface="Arial" panose="020B0604020202020204" pitchFamily="34" charset="0"/>
                        </a:rPr>
                        <a:t>CITI</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4.2%</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281</a:t>
                      </a:r>
                    </a:p>
                  </a:txBody>
                  <a:tcPr marL="9525" marR="9525"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SG" sz="700" b="0" i="0" u="none" strike="noStrike">
                          <a:solidFill>
                            <a:srgbClr val="000000"/>
                          </a:solidFill>
                          <a:effectLst/>
                          <a:latin typeface="Arial" panose="020B0604020202020204" pitchFamily="34" charset="0"/>
                        </a:rPr>
                        <a:t>3</a:t>
                      </a:r>
                    </a:p>
                  </a:txBody>
                  <a:tcPr marL="9525" marR="9525" marT="0" marB="0" anchor="ctr">
                    <a:lnL w="28575"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786916"/>
                  </a:ext>
                </a:extLst>
              </a:tr>
            </a:tbl>
          </a:graphicData>
        </a:graphic>
      </p:graphicFrame>
    </p:spTree>
    <p:extLst>
      <p:ext uri="{BB962C8B-B14F-4D97-AF65-F5344CB8AC3E}">
        <p14:creationId xmlns:p14="http://schemas.microsoft.com/office/powerpoint/2010/main" val="3000632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F97E8-30AD-8333-044A-EDA434FF197F}"/>
              </a:ext>
            </a:extLst>
          </p:cNvPr>
          <p:cNvSpPr>
            <a:spLocks noGrp="1"/>
          </p:cNvSpPr>
          <p:nvPr>
            <p:ph type="title"/>
          </p:nvPr>
        </p:nvSpPr>
        <p:spPr/>
        <p:txBody>
          <a:bodyPr/>
          <a:lstStyle/>
          <a:p>
            <a:r>
              <a:rPr lang="en-US"/>
              <a:t>Unrivalled track record of accolades in the investment banking space</a:t>
            </a:r>
            <a:endParaRPr lang="en-SG"/>
          </a:p>
        </p:txBody>
      </p:sp>
      <p:sp>
        <p:nvSpPr>
          <p:cNvPr id="3" name="Slide Number Placeholder 2">
            <a:extLst>
              <a:ext uri="{FF2B5EF4-FFF2-40B4-BE49-F238E27FC236}">
                <a16:creationId xmlns:a16="http://schemas.microsoft.com/office/drawing/2014/main" id="{2F2E3CEF-4D4B-4FFB-1E4D-9B8131D1F963}"/>
              </a:ext>
            </a:extLst>
          </p:cNvPr>
          <p:cNvSpPr>
            <a:spLocks noGrp="1"/>
          </p:cNvSpPr>
          <p:nvPr>
            <p:ph type="sldNum" sz="quarter" idx="11"/>
          </p:nvPr>
        </p:nvSpPr>
        <p:spPr/>
        <p:txBody>
          <a:bodyPr/>
          <a:lstStyle/>
          <a:p>
            <a:pPr lvl="0"/>
            <a:fld id="{EED7964B-8F50-47E5-B5EE-37748C966AF4}" type="slidenum">
              <a:rPr lang="en-US" noProof="0" smtClean="0"/>
              <a:pPr lvl="0"/>
              <a:t>29</a:t>
            </a:fld>
            <a:endParaRPr lang="en-US" noProof="0"/>
          </a:p>
        </p:txBody>
      </p:sp>
      <p:sp>
        <p:nvSpPr>
          <p:cNvPr id="57" name="Text Placeholder 56">
            <a:extLst>
              <a:ext uri="{FF2B5EF4-FFF2-40B4-BE49-F238E27FC236}">
                <a16:creationId xmlns:a16="http://schemas.microsoft.com/office/drawing/2014/main" id="{1A48248F-EE29-E502-131C-8E305E281436}"/>
              </a:ext>
            </a:extLst>
          </p:cNvPr>
          <p:cNvSpPr>
            <a:spLocks noGrp="1"/>
          </p:cNvSpPr>
          <p:nvPr>
            <p:ph type="body" sz="quarter" idx="46"/>
          </p:nvPr>
        </p:nvSpPr>
        <p:spPr/>
        <p:txBody>
          <a:bodyPr/>
          <a:lstStyle/>
          <a:p>
            <a:pPr marL="0" indent="0">
              <a:buNone/>
            </a:pPr>
            <a:r>
              <a:rPr lang="en-US" sz="800"/>
              <a:t>Source: Publications, DBS internal records as at 31 December 2025</a:t>
            </a:r>
          </a:p>
          <a:p>
            <a:r>
              <a:rPr lang="en-US" sz="800"/>
              <a:t>Aggregated with wins for the </a:t>
            </a:r>
            <a:r>
              <a:rPr lang="en-US" sz="800" err="1"/>
              <a:t>AsiaMoney</a:t>
            </a:r>
            <a:r>
              <a:rPr lang="en-US" sz="800"/>
              <a:t> Best Bank Awards</a:t>
            </a:r>
          </a:p>
        </p:txBody>
      </p:sp>
      <p:sp>
        <p:nvSpPr>
          <p:cNvPr id="6" name="Rectangle 9">
            <a:extLst>
              <a:ext uri="{FF2B5EF4-FFF2-40B4-BE49-F238E27FC236}">
                <a16:creationId xmlns:a16="http://schemas.microsoft.com/office/drawing/2014/main" id="{B6FBF7C7-BAC2-BD85-E819-65A58FE47B4E}"/>
              </a:ext>
              <a:ext uri="{C183D7F6-B498-43B3-948B-1728B52AA6E4}">
                <adec:decorative xmlns:adec="http://schemas.microsoft.com/office/drawing/2017/decorative" val="1"/>
              </a:ext>
            </a:extLst>
          </p:cNvPr>
          <p:cNvSpPr txBox="1">
            <a:spLocks noChangeArrowheads="1"/>
          </p:cNvSpPr>
          <p:nvPr/>
        </p:nvSpPr>
        <p:spPr bwMode="auto">
          <a:xfrm>
            <a:off x="447481" y="3309342"/>
            <a:ext cx="9011038" cy="247650"/>
          </a:xfrm>
          <a:prstGeom prst="rect">
            <a:avLst/>
          </a:prstGeom>
          <a:noFill/>
          <a:ln w="9525">
            <a:noFill/>
            <a:miter lim="800000"/>
            <a:headEnd/>
            <a:tailEnd/>
          </a:ln>
        </p:spPr>
        <p:txBody>
          <a:bodyPr lIns="0" rIns="0"/>
          <a:lstStyle/>
          <a:p>
            <a:pPr marL="185738" marR="0" lvl="0" indent="-185738" algn="l" defTabSz="742950" rtl="0" eaLnBrk="0" fontAlgn="base" latinLnBrk="0" hangingPunct="0">
              <a:lnSpc>
                <a:spcPct val="100000"/>
              </a:lnSpc>
              <a:spcBef>
                <a:spcPct val="25000"/>
              </a:spcBef>
              <a:spcAft>
                <a:spcPct val="0"/>
              </a:spcAft>
              <a:buClr>
                <a:srgbClr val="BE050A"/>
              </a:buClr>
              <a:buSzTx/>
              <a:buFont typeface="Wingdings" pitchFamily="2" charset="2"/>
              <a:buChar char="ü"/>
              <a:tabLst>
                <a:tab pos="0" algn="l"/>
                <a:tab pos="371475" algn="l"/>
                <a:tab pos="1114425" algn="l"/>
              </a:tabLst>
              <a:defRPr/>
            </a:pPr>
            <a:r>
              <a:rPr kumimoji="0" lang="en-US" sz="1050" i="0" u="none" strike="noStrike" kern="1200" cap="none" spc="0" normalizeH="0" baseline="0" noProof="0">
                <a:ln>
                  <a:noFill/>
                </a:ln>
                <a:solidFill>
                  <a:srgbClr val="000000"/>
                </a:solidFill>
                <a:effectLst/>
                <a:uLnTx/>
                <a:uFillTx/>
                <a:latin typeface="Arial" panose="020B0604020202020204"/>
                <a:ea typeface="+mn-ea"/>
                <a:cs typeface="Arial" charset="0"/>
              </a:rPr>
              <a:t>DBS has clinched over 100 awards from various publishers in investment banking and equity capital markets including:</a:t>
            </a:r>
          </a:p>
        </p:txBody>
      </p:sp>
      <p:pic>
        <p:nvPicPr>
          <p:cNvPr id="15" name="Picture 14">
            <a:extLst>
              <a:ext uri="{FF2B5EF4-FFF2-40B4-BE49-F238E27FC236}">
                <a16:creationId xmlns:a16="http://schemas.microsoft.com/office/drawing/2014/main" id="{DAB3FCBA-17FF-4A22-CD4A-E9D903382155}"/>
              </a:ext>
              <a:ext uri="{C183D7F6-B498-43B3-948B-1728B52AA6E4}">
                <adec:decorative xmlns:adec="http://schemas.microsoft.com/office/drawing/2017/decorative" val="1"/>
              </a:ext>
            </a:extLst>
          </p:cNvPr>
          <p:cNvPicPr>
            <a:picLocks/>
          </p:cNvPicPr>
          <p:nvPr/>
        </p:nvPicPr>
        <p:blipFill rotWithShape="1">
          <a:blip r:embed="rId2">
            <a:extLst>
              <a:ext uri="{28A0092B-C50C-407E-A947-70E740481C1C}">
                <a14:useLocalDpi xmlns:a14="http://schemas.microsoft.com/office/drawing/2010/main" val="0"/>
              </a:ext>
            </a:extLst>
          </a:blip>
          <a:srcRect r="21291" b="14282"/>
          <a:stretch/>
        </p:blipFill>
        <p:spPr>
          <a:xfrm flipH="1">
            <a:off x="455674" y="928623"/>
            <a:ext cx="5210933" cy="2161554"/>
          </a:xfrm>
          <a:prstGeom prst="rect">
            <a:avLst/>
          </a:prstGeom>
        </p:spPr>
      </p:pic>
      <p:pic>
        <p:nvPicPr>
          <p:cNvPr id="25" name="Picture 24">
            <a:extLst>
              <a:ext uri="{FF2B5EF4-FFF2-40B4-BE49-F238E27FC236}">
                <a16:creationId xmlns:a16="http://schemas.microsoft.com/office/drawing/2014/main" id="{E7983639-463C-530C-DB3C-76D7C45F2AFF}"/>
              </a:ext>
              <a:ext uri="{C183D7F6-B498-43B3-948B-1728B52AA6E4}">
                <adec:decorative xmlns:adec="http://schemas.microsoft.com/office/drawing/2017/decorative" val="1"/>
              </a:ext>
            </a:extLst>
          </p:cNvPr>
          <p:cNvPicPr>
            <a:picLocks/>
          </p:cNvPicPr>
          <p:nvPr/>
        </p:nvPicPr>
        <p:blipFill rotWithShape="1">
          <a:blip r:embed="rId2">
            <a:extLst>
              <a:ext uri="{28A0092B-C50C-407E-A947-70E740481C1C}">
                <a14:useLocalDpi xmlns:a14="http://schemas.microsoft.com/office/drawing/2010/main" val="0"/>
              </a:ext>
            </a:extLst>
          </a:blip>
          <a:srcRect l="4783" r="21660" b="14282"/>
          <a:stretch/>
        </p:blipFill>
        <p:spPr>
          <a:xfrm>
            <a:off x="4588712" y="928623"/>
            <a:ext cx="4869807" cy="2161554"/>
          </a:xfrm>
          <a:prstGeom prst="rect">
            <a:avLst/>
          </a:prstGeom>
        </p:spPr>
      </p:pic>
      <p:sp>
        <p:nvSpPr>
          <p:cNvPr id="26" name="Rectangle 25">
            <a:extLst>
              <a:ext uri="{FF2B5EF4-FFF2-40B4-BE49-F238E27FC236}">
                <a16:creationId xmlns:a16="http://schemas.microsoft.com/office/drawing/2014/main" id="{0AB02D7D-74C7-1E6D-2804-D6D565A4321E}"/>
              </a:ext>
              <a:ext uri="{C183D7F6-B498-43B3-948B-1728B52AA6E4}">
                <adec:decorative xmlns:adec="http://schemas.microsoft.com/office/drawing/2017/decorative" val="1"/>
              </a:ext>
            </a:extLst>
          </p:cNvPr>
          <p:cNvSpPr/>
          <p:nvPr/>
        </p:nvSpPr>
        <p:spPr>
          <a:xfrm>
            <a:off x="447481" y="932928"/>
            <a:ext cx="9002845" cy="2161554"/>
          </a:xfrm>
          <a:prstGeom prst="rect">
            <a:avLst/>
          </a:prstGeom>
          <a:gradFill>
            <a:gsLst>
              <a:gs pos="0">
                <a:srgbClr val="382880">
                  <a:alpha val="0"/>
                </a:srgbClr>
              </a:gs>
              <a:gs pos="39000">
                <a:srgbClr val="002060">
                  <a:alpha val="50000"/>
                </a:srgbClr>
              </a:gs>
              <a:gs pos="100000">
                <a:srgbClr val="7030A0">
                  <a:alpha val="50000"/>
                </a:srgbClr>
              </a:gs>
            </a:gsLst>
            <a:lin ang="5400000" scaled="1"/>
          </a:gradFill>
          <a:ln w="12700" cap="flat" cmpd="sng" algn="ctr">
            <a:noFill/>
            <a:prstDash val="solid"/>
            <a:miter lim="800000"/>
          </a:ln>
          <a:effectLst/>
        </p:spPr>
        <p:txBody>
          <a:bodyPr rtlCol="0" anchor="ctr"/>
          <a:lstStyle/>
          <a:p>
            <a:pPr marL="0" marR="0" lvl="0" indent="0" algn="ctr" defTabSz="742950" rtl="0" eaLnBrk="1" fontAlgn="auto" latinLnBrk="0" hangingPunct="1">
              <a:lnSpc>
                <a:spcPct val="100000"/>
              </a:lnSpc>
              <a:spcBef>
                <a:spcPts val="0"/>
              </a:spcBef>
              <a:spcAft>
                <a:spcPts val="0"/>
              </a:spcAft>
              <a:buClrTx/>
              <a:buSzTx/>
              <a:buFontTx/>
              <a:buNone/>
              <a:tabLst/>
              <a:defRPr/>
            </a:pPr>
            <a:endParaRPr kumimoji="0" lang="en-SG" sz="1325" b="1" i="0" u="none" strike="noStrike" kern="0" cap="none" spc="0" normalizeH="0" baseline="0" noProof="0">
              <a:ln>
                <a:noFill/>
              </a:ln>
              <a:solidFill>
                <a:srgbClr val="FFFFFF"/>
              </a:solidFill>
              <a:effectLst/>
              <a:uLnTx/>
              <a:uFillTx/>
              <a:latin typeface="Calibri" panose="020F0502020204030204"/>
              <a:ea typeface="+mn-ea"/>
              <a:cs typeface="Arial" charset="0"/>
            </a:endParaRPr>
          </a:p>
        </p:txBody>
      </p:sp>
      <p:grpSp>
        <p:nvGrpSpPr>
          <p:cNvPr id="17" name="Group 16">
            <a:extLst>
              <a:ext uri="{FF2B5EF4-FFF2-40B4-BE49-F238E27FC236}">
                <a16:creationId xmlns:a16="http://schemas.microsoft.com/office/drawing/2014/main" id="{CEC9AE94-481A-7F4A-70DC-B58E395A5A59}"/>
              </a:ext>
            </a:extLst>
          </p:cNvPr>
          <p:cNvGrpSpPr/>
          <p:nvPr/>
        </p:nvGrpSpPr>
        <p:grpSpPr>
          <a:xfrm>
            <a:off x="5646257" y="1339981"/>
            <a:ext cx="1248447" cy="1400469"/>
            <a:chOff x="5593706" y="1232914"/>
            <a:chExt cx="1276667" cy="1432125"/>
          </a:xfrm>
        </p:grpSpPr>
        <p:pic>
          <p:nvPicPr>
            <p:cNvPr id="18" name="Picture 17" descr="Picture1.png">
              <a:extLst>
                <a:ext uri="{FF2B5EF4-FFF2-40B4-BE49-F238E27FC236}">
                  <a16:creationId xmlns:a16="http://schemas.microsoft.com/office/drawing/2014/main" id="{E4C9D5D4-BBC7-1CF2-7C96-270E9D8DB12D}"/>
                </a:ext>
              </a:extLst>
            </p:cNvPr>
            <p:cNvPicPr>
              <a:picLocks noChangeAspect="1"/>
            </p:cNvPicPr>
            <p:nvPr/>
          </p:nvPicPr>
          <p:blipFill>
            <a:blip r:embed="rId3" cstate="print"/>
            <a:stretch>
              <a:fillRect/>
            </a:stretch>
          </p:blipFill>
          <p:spPr>
            <a:xfrm>
              <a:off x="5593706" y="1493108"/>
              <a:ext cx="1276667" cy="1171931"/>
            </a:xfrm>
            <a:prstGeom prst="rect">
              <a:avLst/>
            </a:prstGeom>
          </p:spPr>
        </p:pic>
        <p:sp>
          <p:nvSpPr>
            <p:cNvPr id="19" name="Rectangle 127">
              <a:extLst>
                <a:ext uri="{FF2B5EF4-FFF2-40B4-BE49-F238E27FC236}">
                  <a16:creationId xmlns:a16="http://schemas.microsoft.com/office/drawing/2014/main" id="{31784A0D-24CA-5AB2-632C-F39EE6F1F6DF}"/>
                </a:ext>
              </a:extLst>
            </p:cNvPr>
            <p:cNvSpPr>
              <a:spLocks noChangeArrowheads="1"/>
            </p:cNvSpPr>
            <p:nvPr/>
          </p:nvSpPr>
          <p:spPr bwMode="gray">
            <a:xfrm>
              <a:off x="5792670" y="1814614"/>
              <a:ext cx="878739" cy="461585"/>
            </a:xfrm>
            <a:prstGeom prst="rect">
              <a:avLst/>
            </a:prstGeom>
            <a:noFill/>
            <a:ln w="9525">
              <a:noFill/>
              <a:miter lim="800000"/>
              <a:headEnd/>
              <a:tailEnd/>
            </a:ln>
            <a:effectLst/>
          </p:spPr>
          <p:txBody>
            <a:bodyPr wrap="square" lIns="0" tIns="0" rIns="0" bIns="0" anchor="ctr" anchorCtr="0">
              <a:spAutoFit/>
            </a:bodyPr>
            <a:lstStyle/>
            <a:p>
              <a:pPr algn="ctr" defTabSz="685817">
                <a:buClr>
                  <a:srgbClr val="C00000"/>
                </a:buClr>
                <a:tabLst>
                  <a:tab pos="1805534" algn="r"/>
                </a:tabLst>
                <a:defRPr/>
              </a:pPr>
              <a:r>
                <a:rPr lang="en-US" altLang="zh-CN" sz="923">
                  <a:solidFill>
                    <a:srgbClr val="FFFFFF"/>
                  </a:solidFill>
                  <a:latin typeface="Arial" panose="020B0604020202020204"/>
                  <a:ea typeface="黑体" panose="02010609060101010101" pitchFamily="49" charset="-122"/>
                  <a:cs typeface="Calibri" panose="020F0502020204030204" pitchFamily="34" charset="0"/>
                </a:rPr>
                <a:t>Best Equity Bank </a:t>
              </a:r>
              <a:br>
                <a:rPr lang="en-US" altLang="zh-CN" sz="923">
                  <a:solidFill>
                    <a:srgbClr val="FFFFFF"/>
                  </a:solidFill>
                  <a:latin typeface="Arial" panose="020B0604020202020204"/>
                  <a:ea typeface="黑体" panose="02010609060101010101" pitchFamily="49" charset="-122"/>
                  <a:cs typeface="Calibri" panose="020F0502020204030204" pitchFamily="34" charset="0"/>
                </a:rPr>
              </a:br>
              <a:r>
                <a:rPr lang="en-US" altLang="zh-CN" sz="923">
                  <a:solidFill>
                    <a:srgbClr val="FFFFFF"/>
                  </a:solidFill>
                  <a:latin typeface="Arial" panose="020B0604020202020204"/>
                  <a:ea typeface="黑体" panose="02010609060101010101" pitchFamily="49" charset="-122"/>
                  <a:cs typeface="Calibri" panose="020F0502020204030204" pitchFamily="34" charset="0"/>
                </a:rPr>
                <a:t>(Asia Pacific)</a:t>
              </a:r>
            </a:p>
          </p:txBody>
        </p:sp>
        <p:pic>
          <p:nvPicPr>
            <p:cNvPr id="22" name="Picture 21">
              <a:extLst>
                <a:ext uri="{FF2B5EF4-FFF2-40B4-BE49-F238E27FC236}">
                  <a16:creationId xmlns:a16="http://schemas.microsoft.com/office/drawing/2014/main" id="{0B415EDD-12B9-EA15-C721-6627E4F51A01}"/>
                </a:ext>
              </a:extLst>
            </p:cNvPr>
            <p:cNvPicPr>
              <a:picLocks noChangeAspect="1"/>
            </p:cNvPicPr>
            <p:nvPr/>
          </p:nvPicPr>
          <p:blipFill>
            <a:blip r:embed="rId4"/>
            <a:stretch>
              <a:fillRect/>
            </a:stretch>
          </p:blipFill>
          <p:spPr>
            <a:xfrm>
              <a:off x="5736471" y="1232914"/>
              <a:ext cx="991136" cy="324979"/>
            </a:xfrm>
            <a:prstGeom prst="rect">
              <a:avLst/>
            </a:prstGeom>
          </p:spPr>
        </p:pic>
      </p:grpSp>
      <p:grpSp>
        <p:nvGrpSpPr>
          <p:cNvPr id="35" name="Group 34">
            <a:extLst>
              <a:ext uri="{FF2B5EF4-FFF2-40B4-BE49-F238E27FC236}">
                <a16:creationId xmlns:a16="http://schemas.microsoft.com/office/drawing/2014/main" id="{792660E3-0446-A2C3-80D9-4D95E08327D0}"/>
              </a:ext>
            </a:extLst>
          </p:cNvPr>
          <p:cNvGrpSpPr/>
          <p:nvPr/>
        </p:nvGrpSpPr>
        <p:grpSpPr>
          <a:xfrm>
            <a:off x="1303423" y="1355821"/>
            <a:ext cx="1345165" cy="1420095"/>
            <a:chOff x="1220924" y="1249112"/>
            <a:chExt cx="1375572" cy="1452195"/>
          </a:xfrm>
        </p:grpSpPr>
        <p:pic>
          <p:nvPicPr>
            <p:cNvPr id="36" name="Picture 35" descr="Picture1.png">
              <a:extLst>
                <a:ext uri="{FF2B5EF4-FFF2-40B4-BE49-F238E27FC236}">
                  <a16:creationId xmlns:a16="http://schemas.microsoft.com/office/drawing/2014/main" id="{5704C3E7-E184-A71A-C3B6-D231034EA928}"/>
                </a:ext>
              </a:extLst>
            </p:cNvPr>
            <p:cNvPicPr>
              <a:picLocks noChangeAspect="1"/>
            </p:cNvPicPr>
            <p:nvPr/>
          </p:nvPicPr>
          <p:blipFill>
            <a:blip r:embed="rId3" cstate="print"/>
            <a:stretch>
              <a:fillRect/>
            </a:stretch>
          </p:blipFill>
          <p:spPr>
            <a:xfrm>
              <a:off x="1220924" y="1453691"/>
              <a:ext cx="1375572" cy="1247616"/>
            </a:xfrm>
            <a:prstGeom prst="rect">
              <a:avLst/>
            </a:prstGeom>
          </p:spPr>
        </p:pic>
        <p:sp>
          <p:nvSpPr>
            <p:cNvPr id="37" name="TextBox 36">
              <a:extLst>
                <a:ext uri="{FF2B5EF4-FFF2-40B4-BE49-F238E27FC236}">
                  <a16:creationId xmlns:a16="http://schemas.microsoft.com/office/drawing/2014/main" id="{F5701A73-3252-7149-2F94-2DD2CF1A06D9}"/>
                </a:ext>
              </a:extLst>
            </p:cNvPr>
            <p:cNvSpPr txBox="1"/>
            <p:nvPr/>
          </p:nvSpPr>
          <p:spPr>
            <a:xfrm>
              <a:off x="1339547" y="1249112"/>
              <a:ext cx="1138327" cy="315434"/>
            </a:xfrm>
            <a:prstGeom prst="rect">
              <a:avLst/>
            </a:prstGeom>
            <a:noFill/>
          </p:spPr>
          <p:txBody>
            <a:bodyPr wrap="square" rtlCol="0">
              <a:spAutoFit/>
            </a:bodyPr>
            <a:lstStyle/>
            <a:p>
              <a:pPr algn="ctr" defTabSz="685817" eaLnBrk="0" hangingPunct="0">
                <a:defRPr/>
              </a:pPr>
              <a:r>
                <a:rPr lang="en-SG" sz="1108">
                  <a:solidFill>
                    <a:srgbClr val="FFFFFF"/>
                  </a:solidFill>
                  <a:latin typeface="Arial" panose="020B0604020202020204"/>
                  <a:cs typeface="Times New Roman" panose="02020603050405020304" pitchFamily="18" charset="0"/>
                </a:rPr>
                <a:t>The </a:t>
              </a:r>
              <a:r>
                <a:rPr lang="en-SG" sz="1292">
                  <a:solidFill>
                    <a:srgbClr val="FFFFFF"/>
                  </a:solidFill>
                  <a:latin typeface="Arial" panose="020B0604020202020204"/>
                  <a:cs typeface="Times New Roman" panose="02020603050405020304" pitchFamily="18" charset="0"/>
                </a:rPr>
                <a:t>Banker</a:t>
              </a:r>
            </a:p>
          </p:txBody>
        </p:sp>
        <p:sp>
          <p:nvSpPr>
            <p:cNvPr id="38" name="Rectangle 37">
              <a:extLst>
                <a:ext uri="{FF2B5EF4-FFF2-40B4-BE49-F238E27FC236}">
                  <a16:creationId xmlns:a16="http://schemas.microsoft.com/office/drawing/2014/main" id="{08C8286E-2271-E01D-F5E7-C9278FA25850}"/>
                </a:ext>
              </a:extLst>
            </p:cNvPr>
            <p:cNvSpPr>
              <a:spLocks noChangeArrowheads="1"/>
            </p:cNvSpPr>
            <p:nvPr/>
          </p:nvSpPr>
          <p:spPr bwMode="gray">
            <a:xfrm>
              <a:off x="1425633" y="1737683"/>
              <a:ext cx="966155" cy="615446"/>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Investment Bank of the Year</a:t>
              </a:r>
              <a:br>
                <a:rPr lang="en-US" altLang="zh-TW" sz="923">
                  <a:solidFill>
                    <a:srgbClr val="FFFFFF"/>
                  </a:solidFill>
                  <a:latin typeface="Arial" panose="020B0604020202020204"/>
                  <a:ea typeface="DFPKaiShu-GB5" panose="03000500000000000000" pitchFamily="66" charset="-128"/>
                  <a:cs typeface="Calibri" panose="020F0502020204030204" pitchFamily="34" charset="0"/>
                </a:rPr>
              </a:b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(Asia Pacific)</a:t>
              </a:r>
            </a:p>
          </p:txBody>
        </p:sp>
      </p:grpSp>
      <p:grpSp>
        <p:nvGrpSpPr>
          <p:cNvPr id="39" name="Group 38">
            <a:extLst>
              <a:ext uri="{FF2B5EF4-FFF2-40B4-BE49-F238E27FC236}">
                <a16:creationId xmlns:a16="http://schemas.microsoft.com/office/drawing/2014/main" id="{52D84126-5DD9-1BE2-A556-C188ED3F6EF5}"/>
              </a:ext>
            </a:extLst>
          </p:cNvPr>
          <p:cNvGrpSpPr/>
          <p:nvPr/>
        </p:nvGrpSpPr>
        <p:grpSpPr>
          <a:xfrm>
            <a:off x="2791599" y="1297158"/>
            <a:ext cx="1295339" cy="1463775"/>
            <a:chOff x="2727138" y="1189124"/>
            <a:chExt cx="1324620" cy="1496863"/>
          </a:xfrm>
        </p:grpSpPr>
        <p:pic>
          <p:nvPicPr>
            <p:cNvPr id="41" name="Picture 40" descr="Picture1.png">
              <a:extLst>
                <a:ext uri="{FF2B5EF4-FFF2-40B4-BE49-F238E27FC236}">
                  <a16:creationId xmlns:a16="http://schemas.microsoft.com/office/drawing/2014/main" id="{2CF5EE73-C9EF-EA38-5381-D19DC2FCECB2}"/>
                </a:ext>
              </a:extLst>
            </p:cNvPr>
            <p:cNvPicPr>
              <a:picLocks noChangeAspect="1"/>
            </p:cNvPicPr>
            <p:nvPr/>
          </p:nvPicPr>
          <p:blipFill>
            <a:blip r:embed="rId3" cstate="print"/>
            <a:stretch>
              <a:fillRect/>
            </a:stretch>
          </p:blipFill>
          <p:spPr>
            <a:xfrm>
              <a:off x="2727138" y="1479066"/>
              <a:ext cx="1324620" cy="1206921"/>
            </a:xfrm>
            <a:prstGeom prst="rect">
              <a:avLst/>
            </a:prstGeom>
          </p:spPr>
        </p:pic>
        <p:pic>
          <p:nvPicPr>
            <p:cNvPr id="42" name="Picture 41">
              <a:extLst>
                <a:ext uri="{FF2B5EF4-FFF2-40B4-BE49-F238E27FC236}">
                  <a16:creationId xmlns:a16="http://schemas.microsoft.com/office/drawing/2014/main" id="{2BAC80F3-6492-0377-C828-F910C3A7ECB5}"/>
                </a:ext>
              </a:extLst>
            </p:cNvPr>
            <p:cNvPicPr>
              <a:picLocks noChangeAspect="1"/>
            </p:cNvPicPr>
            <p:nvPr/>
          </p:nvPicPr>
          <p:blipFill>
            <a:blip r:embed="rId4"/>
            <a:stretch>
              <a:fillRect/>
            </a:stretch>
          </p:blipFill>
          <p:spPr>
            <a:xfrm>
              <a:off x="2893880" y="1189124"/>
              <a:ext cx="991136" cy="324979"/>
            </a:xfrm>
            <a:prstGeom prst="rect">
              <a:avLst/>
            </a:prstGeom>
          </p:spPr>
        </p:pic>
        <p:sp>
          <p:nvSpPr>
            <p:cNvPr id="43" name="Rectangle 127">
              <a:extLst>
                <a:ext uri="{FF2B5EF4-FFF2-40B4-BE49-F238E27FC236}">
                  <a16:creationId xmlns:a16="http://schemas.microsoft.com/office/drawing/2014/main" id="{E6391D39-529B-D65D-C900-B77C1517CC74}"/>
                </a:ext>
              </a:extLst>
            </p:cNvPr>
            <p:cNvSpPr>
              <a:spLocks noChangeArrowheads="1"/>
            </p:cNvSpPr>
            <p:nvPr/>
          </p:nvSpPr>
          <p:spPr bwMode="gray">
            <a:xfrm>
              <a:off x="2906126" y="1737684"/>
              <a:ext cx="966645" cy="615446"/>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Best </a:t>
              </a:r>
            </a:p>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Investment Bank </a:t>
              </a:r>
              <a:br>
                <a:rPr lang="en-US" altLang="zh-TW" sz="923">
                  <a:solidFill>
                    <a:srgbClr val="FFFFFF"/>
                  </a:solidFill>
                  <a:latin typeface="Arial" panose="020B0604020202020204"/>
                  <a:ea typeface="DFPKaiShu-GB5" panose="03000500000000000000" pitchFamily="66" charset="-128"/>
                  <a:cs typeface="Calibri" panose="020F0502020204030204" pitchFamily="34" charset="0"/>
                </a:rPr>
              </a:b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(Asia Pacific)</a:t>
              </a:r>
            </a:p>
          </p:txBody>
        </p:sp>
      </p:grpSp>
      <p:grpSp>
        <p:nvGrpSpPr>
          <p:cNvPr id="44" name="Group 43">
            <a:extLst>
              <a:ext uri="{FF2B5EF4-FFF2-40B4-BE49-F238E27FC236}">
                <a16:creationId xmlns:a16="http://schemas.microsoft.com/office/drawing/2014/main" id="{B03E3BEE-B737-8E93-68B9-081668C36061}"/>
              </a:ext>
            </a:extLst>
          </p:cNvPr>
          <p:cNvGrpSpPr/>
          <p:nvPr/>
        </p:nvGrpSpPr>
        <p:grpSpPr>
          <a:xfrm>
            <a:off x="7037712" y="1361358"/>
            <a:ext cx="1235844" cy="1384050"/>
            <a:chOff x="7084834" y="1254776"/>
            <a:chExt cx="1263780" cy="1415336"/>
          </a:xfrm>
        </p:grpSpPr>
        <p:pic>
          <p:nvPicPr>
            <p:cNvPr id="45" name="Picture 44" descr="Picture1.png">
              <a:extLst>
                <a:ext uri="{FF2B5EF4-FFF2-40B4-BE49-F238E27FC236}">
                  <a16:creationId xmlns:a16="http://schemas.microsoft.com/office/drawing/2014/main" id="{00FA2B48-C116-8D0A-68C7-BC33E329B040}"/>
                </a:ext>
              </a:extLst>
            </p:cNvPr>
            <p:cNvPicPr>
              <a:picLocks noChangeAspect="1"/>
            </p:cNvPicPr>
            <p:nvPr/>
          </p:nvPicPr>
          <p:blipFill>
            <a:blip r:embed="rId3" cstate="print"/>
            <a:stretch>
              <a:fillRect/>
            </a:stretch>
          </p:blipFill>
          <p:spPr>
            <a:xfrm>
              <a:off x="7084834" y="1534915"/>
              <a:ext cx="1263780" cy="1135197"/>
            </a:xfrm>
            <a:prstGeom prst="rect">
              <a:avLst/>
            </a:prstGeom>
          </p:spPr>
        </p:pic>
        <p:sp>
          <p:nvSpPr>
            <p:cNvPr id="46" name="Rectangle 45">
              <a:extLst>
                <a:ext uri="{FF2B5EF4-FFF2-40B4-BE49-F238E27FC236}">
                  <a16:creationId xmlns:a16="http://schemas.microsoft.com/office/drawing/2014/main" id="{E016558D-6E5F-FA27-327A-E1B1C34621AB}"/>
                </a:ext>
              </a:extLst>
            </p:cNvPr>
            <p:cNvSpPr>
              <a:spLocks noChangeArrowheads="1"/>
            </p:cNvSpPr>
            <p:nvPr/>
          </p:nvSpPr>
          <p:spPr bwMode="gray">
            <a:xfrm>
              <a:off x="7271652" y="1737683"/>
              <a:ext cx="890144" cy="615446"/>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Best </a:t>
              </a:r>
            </a:p>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Innovative Investment </a:t>
              </a:r>
              <a:br>
                <a:rPr lang="en-US" altLang="zh-TW" sz="923">
                  <a:solidFill>
                    <a:srgbClr val="FFFFFF"/>
                  </a:solidFill>
                  <a:latin typeface="Arial" panose="020B0604020202020204"/>
                  <a:ea typeface="DFPKaiShu-GB5" panose="03000500000000000000" pitchFamily="66" charset="-128"/>
                  <a:cs typeface="Calibri" panose="020F0502020204030204" pitchFamily="34" charset="0"/>
                </a:rPr>
              </a:b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Bank in China</a:t>
              </a:r>
            </a:p>
          </p:txBody>
        </p:sp>
        <p:sp>
          <p:nvSpPr>
            <p:cNvPr id="47" name="TextBox 46">
              <a:extLst>
                <a:ext uri="{FF2B5EF4-FFF2-40B4-BE49-F238E27FC236}">
                  <a16:creationId xmlns:a16="http://schemas.microsoft.com/office/drawing/2014/main" id="{05D16241-702C-2A24-6E5E-8AE57F1DBDF2}"/>
                </a:ext>
              </a:extLst>
            </p:cNvPr>
            <p:cNvSpPr txBox="1"/>
            <p:nvPr/>
          </p:nvSpPr>
          <p:spPr>
            <a:xfrm>
              <a:off x="7092953" y="1254776"/>
              <a:ext cx="1247542" cy="450123"/>
            </a:xfrm>
            <a:prstGeom prst="rect">
              <a:avLst/>
            </a:prstGeom>
            <a:noFill/>
          </p:spPr>
          <p:txBody>
            <a:bodyPr wrap="square" rtlCol="0" anchor="ctr">
              <a:spAutoFit/>
            </a:bodyPr>
            <a:lstStyle/>
            <a:p>
              <a:pPr algn="ctr" defTabSz="685817" eaLnBrk="0" hangingPunct="0">
                <a:defRPr/>
              </a:pPr>
              <a:r>
                <a:rPr lang="en-SG" sz="1050">
                  <a:solidFill>
                    <a:srgbClr val="FFFFFF"/>
                  </a:solidFill>
                  <a:latin typeface="Arial" panose="020B0604020202020204"/>
                  <a:cs typeface="Calibri" panose="020F0502020204030204" pitchFamily="34" charset="0"/>
                </a:rPr>
                <a:t>The Securities Times</a:t>
              </a:r>
            </a:p>
          </p:txBody>
        </p:sp>
      </p:grpSp>
      <p:grpSp>
        <p:nvGrpSpPr>
          <p:cNvPr id="48" name="Group 47">
            <a:extLst>
              <a:ext uri="{FF2B5EF4-FFF2-40B4-BE49-F238E27FC236}">
                <a16:creationId xmlns:a16="http://schemas.microsoft.com/office/drawing/2014/main" id="{512A2669-526F-6A48-2883-AA3683FA67BB}"/>
              </a:ext>
            </a:extLst>
          </p:cNvPr>
          <p:cNvGrpSpPr/>
          <p:nvPr/>
        </p:nvGrpSpPr>
        <p:grpSpPr>
          <a:xfrm>
            <a:off x="4229950" y="1323538"/>
            <a:ext cx="1273295" cy="1422031"/>
            <a:chOff x="4181966" y="1216100"/>
            <a:chExt cx="1302077" cy="1454176"/>
          </a:xfrm>
        </p:grpSpPr>
        <p:pic>
          <p:nvPicPr>
            <p:cNvPr id="49" name="Picture 48" descr="Picture1.png">
              <a:extLst>
                <a:ext uri="{FF2B5EF4-FFF2-40B4-BE49-F238E27FC236}">
                  <a16:creationId xmlns:a16="http://schemas.microsoft.com/office/drawing/2014/main" id="{B66102AE-2B73-A0C6-E94F-94B2DA8CEE5E}"/>
                </a:ext>
              </a:extLst>
            </p:cNvPr>
            <p:cNvPicPr>
              <a:picLocks noChangeAspect="1"/>
            </p:cNvPicPr>
            <p:nvPr/>
          </p:nvPicPr>
          <p:blipFill>
            <a:blip r:embed="rId3" cstate="print"/>
            <a:stretch>
              <a:fillRect/>
            </a:stretch>
          </p:blipFill>
          <p:spPr>
            <a:xfrm>
              <a:off x="4181966" y="1454633"/>
              <a:ext cx="1302077" cy="1215643"/>
            </a:xfrm>
            <a:prstGeom prst="rect">
              <a:avLst/>
            </a:prstGeom>
          </p:spPr>
        </p:pic>
        <p:sp>
          <p:nvSpPr>
            <p:cNvPr id="52" name="Rectangle 51">
              <a:extLst>
                <a:ext uri="{FF2B5EF4-FFF2-40B4-BE49-F238E27FC236}">
                  <a16:creationId xmlns:a16="http://schemas.microsoft.com/office/drawing/2014/main" id="{752065AF-C61E-33FB-7F99-4B9C6EF8BB75}"/>
                </a:ext>
              </a:extLst>
            </p:cNvPr>
            <p:cNvSpPr>
              <a:spLocks noChangeArrowheads="1"/>
            </p:cNvSpPr>
            <p:nvPr/>
          </p:nvSpPr>
          <p:spPr bwMode="gray">
            <a:xfrm>
              <a:off x="4372817" y="1814615"/>
              <a:ext cx="920375" cy="461586"/>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Best REIT </a:t>
              </a:r>
              <a:br>
                <a:rPr lang="en-US" altLang="zh-TW" sz="923">
                  <a:solidFill>
                    <a:srgbClr val="FFFFFF"/>
                  </a:solidFill>
                  <a:latin typeface="Arial" panose="020B0604020202020204"/>
                  <a:ea typeface="DFPKaiShu-GB5" panose="03000500000000000000" pitchFamily="66" charset="-128"/>
                  <a:cs typeface="Calibri" panose="020F0502020204030204" pitchFamily="34" charset="0"/>
                </a:rPr>
              </a:br>
              <a:r>
                <a:rPr lang="en-US" altLang="zh-TW" sz="923">
                  <a:solidFill>
                    <a:srgbClr val="FFFFFF"/>
                  </a:solidFill>
                  <a:latin typeface="Arial" panose="020B0604020202020204"/>
                  <a:ea typeface="DFPKaiShu-GB5" panose="03000500000000000000" pitchFamily="66" charset="-128"/>
                  <a:cs typeface="Calibri" panose="020F0502020204030204" pitchFamily="34" charset="0"/>
                </a:rPr>
                <a:t>Adviser in the Region</a:t>
              </a:r>
            </a:p>
          </p:txBody>
        </p:sp>
        <p:pic>
          <p:nvPicPr>
            <p:cNvPr id="53" name="Picture 52" descr="A picture containing drawing&#10;&#10;Description automatically generated">
              <a:extLst>
                <a:ext uri="{FF2B5EF4-FFF2-40B4-BE49-F238E27FC236}">
                  <a16:creationId xmlns:a16="http://schemas.microsoft.com/office/drawing/2014/main" id="{335BC629-0FD2-8984-331E-4AAA4F04289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87757" y="1216100"/>
              <a:ext cx="490494" cy="456195"/>
            </a:xfrm>
            <a:prstGeom prst="rect">
              <a:avLst/>
            </a:prstGeom>
          </p:spPr>
        </p:pic>
      </p:grpSp>
      <p:grpSp>
        <p:nvGrpSpPr>
          <p:cNvPr id="59" name="Group 58">
            <a:extLst>
              <a:ext uri="{FF2B5EF4-FFF2-40B4-BE49-F238E27FC236}">
                <a16:creationId xmlns:a16="http://schemas.microsoft.com/office/drawing/2014/main" id="{76FC6A58-6B68-70B7-3C39-7F2CC569D031}"/>
              </a:ext>
            </a:extLst>
          </p:cNvPr>
          <p:cNvGrpSpPr/>
          <p:nvPr/>
        </p:nvGrpSpPr>
        <p:grpSpPr>
          <a:xfrm>
            <a:off x="1588927" y="5070749"/>
            <a:ext cx="1045702" cy="1043896"/>
            <a:chOff x="2580381" y="5313582"/>
            <a:chExt cx="936292" cy="934676"/>
          </a:xfrm>
        </p:grpSpPr>
        <p:pic>
          <p:nvPicPr>
            <p:cNvPr id="60" name="Picture 59" descr="Picture1.png">
              <a:extLst>
                <a:ext uri="{FF2B5EF4-FFF2-40B4-BE49-F238E27FC236}">
                  <a16:creationId xmlns:a16="http://schemas.microsoft.com/office/drawing/2014/main" id="{222F0EC2-1F81-C343-F360-62FD606B1EC0}"/>
                </a:ext>
              </a:extLst>
            </p:cNvPr>
            <p:cNvPicPr>
              <a:picLocks noChangeAspect="1"/>
            </p:cNvPicPr>
            <p:nvPr/>
          </p:nvPicPr>
          <p:blipFill>
            <a:blip r:embed="rId3" cstate="print"/>
            <a:stretch>
              <a:fillRect/>
            </a:stretch>
          </p:blipFill>
          <p:spPr>
            <a:xfrm>
              <a:off x="2580381" y="5438921"/>
              <a:ext cx="936292" cy="809337"/>
            </a:xfrm>
            <a:prstGeom prst="rect">
              <a:avLst/>
            </a:prstGeom>
          </p:spPr>
        </p:pic>
        <p:pic>
          <p:nvPicPr>
            <p:cNvPr id="61" name="Picture 12" descr="Image result for finance asia">
              <a:extLst>
                <a:ext uri="{FF2B5EF4-FFF2-40B4-BE49-F238E27FC236}">
                  <a16:creationId xmlns:a16="http://schemas.microsoft.com/office/drawing/2014/main" id="{FAA43346-B793-BA8F-3B1A-CD073B3999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44400" y="5313582"/>
              <a:ext cx="608256" cy="279573"/>
            </a:xfrm>
            <a:prstGeom prst="rect">
              <a:avLst/>
            </a:prstGeom>
            <a:noFill/>
            <a:extLst>
              <a:ext uri="{909E8E84-426E-40DD-AFC4-6F175D3DCCD1}">
                <a14:hiddenFill xmlns:a14="http://schemas.microsoft.com/office/drawing/2010/main">
                  <a:solidFill>
                    <a:srgbClr val="FFFFFF"/>
                  </a:solidFill>
                </a14:hiddenFill>
              </a:ext>
            </a:extLst>
          </p:spPr>
        </p:pic>
        <p:sp>
          <p:nvSpPr>
            <p:cNvPr id="62" name="Rectangle 127">
              <a:extLst>
                <a:ext uri="{FF2B5EF4-FFF2-40B4-BE49-F238E27FC236}">
                  <a16:creationId xmlns:a16="http://schemas.microsoft.com/office/drawing/2014/main" id="{74F90958-5769-63C8-6EBF-8005797A38D2}"/>
                </a:ext>
              </a:extLst>
            </p:cNvPr>
            <p:cNvSpPr>
              <a:spLocks noChangeArrowheads="1"/>
            </p:cNvSpPr>
            <p:nvPr/>
          </p:nvSpPr>
          <p:spPr bwMode="gray">
            <a:xfrm>
              <a:off x="2696486" y="5599788"/>
              <a:ext cx="704084" cy="529347"/>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2025</a:t>
              </a:r>
              <a:endParaRPr lang="en-US" altLang="zh-CN" sz="700" b="0">
                <a:solidFill>
                  <a:srgbClr val="000000"/>
                </a:solidFill>
                <a:latin typeface="Arial" panose="020B0604020202020204"/>
                <a:ea typeface="黑体" panose="02010609060101010101" pitchFamily="49" charset="-122"/>
                <a:cs typeface="DFKaiShu-GB5" pitchFamily="65" charset="-128"/>
              </a:endParaRPr>
            </a:p>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Best Investment Bank</a:t>
              </a:r>
            </a:p>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(Singapore)</a:t>
              </a:r>
            </a:p>
            <a:p>
              <a:pPr algn="ctr" defTabSz="685817" eaLnBrk="0" hangingPunct="0">
                <a:buClr>
                  <a:srgbClr val="C00000"/>
                </a:buClr>
                <a:tabLst>
                  <a:tab pos="2657541" algn="r"/>
                </a:tabLst>
                <a:defRPr/>
              </a:pPr>
              <a:r>
                <a:rPr lang="en-US" altLang="zh-CN" sz="700" b="0">
                  <a:solidFill>
                    <a:srgbClr val="C00000"/>
                  </a:solidFill>
                  <a:latin typeface="Arial" panose="020B0604020202020204"/>
                  <a:ea typeface="黑体" panose="02010609060101010101" pitchFamily="49" charset="-122"/>
                  <a:cs typeface="DFKaiShu-GB5" pitchFamily="65" charset="-128"/>
                </a:rPr>
                <a:t>20</a:t>
              </a:r>
              <a:r>
                <a:rPr lang="en-US" altLang="zh-CN" sz="700" b="0" baseline="30000">
                  <a:solidFill>
                    <a:srgbClr val="C00000"/>
                  </a:solidFill>
                  <a:latin typeface="Arial" panose="020B0604020202020204"/>
                  <a:ea typeface="黑体" panose="02010609060101010101" pitchFamily="49" charset="-122"/>
                  <a:cs typeface="DFKaiShu-GB5" pitchFamily="65" charset="-128"/>
                </a:rPr>
                <a:t>th</a:t>
              </a:r>
              <a:r>
                <a:rPr lang="en-US" altLang="zh-CN" sz="700" b="0">
                  <a:solidFill>
                    <a:srgbClr val="C00000"/>
                  </a:solidFill>
                  <a:latin typeface="Arial" panose="020B0604020202020204"/>
                  <a:ea typeface="黑体" panose="02010609060101010101" pitchFamily="49" charset="-122"/>
                  <a:cs typeface="DFKaiShu-GB5" pitchFamily="65" charset="-128"/>
                </a:rPr>
                <a:t> Consecutive</a:t>
              </a:r>
            </a:p>
            <a:p>
              <a:pPr algn="ctr" defTabSz="685817" eaLnBrk="0" hangingPunct="0">
                <a:buClr>
                  <a:srgbClr val="C00000"/>
                </a:buClr>
                <a:tabLst>
                  <a:tab pos="2657541" algn="r"/>
                </a:tabLst>
                <a:defRPr/>
              </a:pPr>
              <a:r>
                <a:rPr lang="en-US" altLang="zh-CN" sz="700" b="0">
                  <a:solidFill>
                    <a:srgbClr val="C00000"/>
                  </a:solidFill>
                  <a:latin typeface="Arial" panose="020B0604020202020204"/>
                  <a:ea typeface="黑体" panose="02010609060101010101" pitchFamily="49" charset="-122"/>
                  <a:cs typeface="DFKaiShu-GB5" pitchFamily="65" charset="-128"/>
                </a:rPr>
                <a:t>Win</a:t>
              </a:r>
            </a:p>
          </p:txBody>
        </p:sp>
      </p:grpSp>
      <p:grpSp>
        <p:nvGrpSpPr>
          <p:cNvPr id="63" name="Group 62">
            <a:extLst>
              <a:ext uri="{FF2B5EF4-FFF2-40B4-BE49-F238E27FC236}">
                <a16:creationId xmlns:a16="http://schemas.microsoft.com/office/drawing/2014/main" id="{DD1BCF17-D239-4781-701C-237D1E064005}"/>
              </a:ext>
            </a:extLst>
          </p:cNvPr>
          <p:cNvGrpSpPr/>
          <p:nvPr/>
        </p:nvGrpSpPr>
        <p:grpSpPr>
          <a:xfrm>
            <a:off x="7271372" y="3644308"/>
            <a:ext cx="1045702" cy="1117215"/>
            <a:chOff x="5534119" y="3939836"/>
            <a:chExt cx="936292" cy="1000322"/>
          </a:xfrm>
        </p:grpSpPr>
        <p:pic>
          <p:nvPicPr>
            <p:cNvPr id="64" name="Picture 63" descr="Picture1.png">
              <a:extLst>
                <a:ext uri="{FF2B5EF4-FFF2-40B4-BE49-F238E27FC236}">
                  <a16:creationId xmlns:a16="http://schemas.microsoft.com/office/drawing/2014/main" id="{F7399B4C-DECA-8E27-DE11-87012BE29D21}"/>
                </a:ext>
              </a:extLst>
            </p:cNvPr>
            <p:cNvPicPr>
              <a:picLocks noChangeAspect="1"/>
            </p:cNvPicPr>
            <p:nvPr/>
          </p:nvPicPr>
          <p:blipFill>
            <a:blip r:embed="rId3" cstate="print"/>
            <a:stretch>
              <a:fillRect/>
            </a:stretch>
          </p:blipFill>
          <p:spPr>
            <a:xfrm>
              <a:off x="5534119" y="4130821"/>
              <a:ext cx="936292" cy="809337"/>
            </a:xfrm>
            <a:prstGeom prst="rect">
              <a:avLst/>
            </a:prstGeom>
          </p:spPr>
        </p:pic>
        <p:pic>
          <p:nvPicPr>
            <p:cNvPr id="65" name="Picture 64" descr="A red and blue logo&#10;&#10;Description automatically generated">
              <a:extLst>
                <a:ext uri="{FF2B5EF4-FFF2-40B4-BE49-F238E27FC236}">
                  <a16:creationId xmlns:a16="http://schemas.microsoft.com/office/drawing/2014/main" id="{660AB246-F865-4F66-DF75-69896E64C6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820351" y="3939836"/>
              <a:ext cx="363829" cy="345218"/>
            </a:xfrm>
            <a:prstGeom prst="rect">
              <a:avLst/>
            </a:prstGeom>
          </p:spPr>
        </p:pic>
        <p:sp>
          <p:nvSpPr>
            <p:cNvPr id="66" name="Rectangle 127">
              <a:extLst>
                <a:ext uri="{FF2B5EF4-FFF2-40B4-BE49-F238E27FC236}">
                  <a16:creationId xmlns:a16="http://schemas.microsoft.com/office/drawing/2014/main" id="{33173394-2863-27A0-A225-D32A59F9143D}"/>
                </a:ext>
              </a:extLst>
            </p:cNvPr>
            <p:cNvSpPr>
              <a:spLocks noChangeArrowheads="1"/>
            </p:cNvSpPr>
            <p:nvPr/>
          </p:nvSpPr>
          <p:spPr bwMode="gray">
            <a:xfrm>
              <a:off x="5650223" y="4273359"/>
              <a:ext cx="704084" cy="578706"/>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US" altLang="zh-CN" sz="700" b="0">
                  <a:solidFill>
                    <a:srgbClr val="000000"/>
                  </a:solidFill>
                  <a:latin typeface="Arial" panose="020B0604020202020204"/>
                  <a:ea typeface="黑体" panose="02010609060101010101" pitchFamily="49" charset="-122"/>
                  <a:cs typeface="DFKaiShu-GB5" pitchFamily="65" charset="-128"/>
                </a:rPr>
                <a:t>2024</a:t>
              </a:r>
            </a:p>
            <a:p>
              <a:pPr algn="ctr" defTabSz="685817" eaLnBrk="0" hangingPunct="0">
                <a:buClr>
                  <a:srgbClr val="C00000"/>
                </a:buClr>
                <a:tabLst>
                  <a:tab pos="2657541" algn="r"/>
                </a:tabLst>
                <a:defRPr/>
              </a:pPr>
              <a:r>
                <a:rPr lang="en-US" altLang="zh-CN" sz="700" b="0">
                  <a:solidFill>
                    <a:srgbClr val="000000"/>
                  </a:solidFill>
                  <a:latin typeface="Arial" panose="020B0604020202020204"/>
                  <a:ea typeface="黑体" panose="02010609060101010101" pitchFamily="49" charset="-122"/>
                  <a:cs typeface="DFKaiShu-GB5" pitchFamily="65" charset="-128"/>
                </a:rPr>
                <a:t>Best Equity Adviser/House (Singapore)</a:t>
              </a:r>
            </a:p>
            <a:p>
              <a:pPr algn="ctr" defTabSz="685817" eaLnBrk="0" hangingPunct="0">
                <a:buClr>
                  <a:srgbClr val="C00000"/>
                </a:buClr>
                <a:tabLst>
                  <a:tab pos="2657541" algn="r"/>
                </a:tabLst>
                <a:defRPr/>
              </a:pPr>
              <a:r>
                <a:rPr lang="en-US" altLang="zh-CN" sz="700" b="0">
                  <a:solidFill>
                    <a:srgbClr val="C00000"/>
                  </a:solidFill>
                  <a:latin typeface="Arial" panose="020B0604020202020204"/>
                  <a:ea typeface="黑体" panose="02010609060101010101" pitchFamily="49" charset="-122"/>
                </a:rPr>
                <a:t>11</a:t>
              </a:r>
              <a:r>
                <a:rPr lang="en-US" altLang="zh-CN" sz="700" b="0" baseline="30000">
                  <a:solidFill>
                    <a:srgbClr val="C00000"/>
                  </a:solidFill>
                  <a:latin typeface="Arial" panose="020B0604020202020204"/>
                  <a:ea typeface="黑体" panose="02010609060101010101" pitchFamily="49" charset="-122"/>
                </a:rPr>
                <a:t>th</a:t>
              </a:r>
              <a:r>
                <a:rPr lang="en-US" altLang="zh-CN" sz="700" b="0">
                  <a:solidFill>
                    <a:srgbClr val="C00000"/>
                  </a:solidFill>
                  <a:latin typeface="Arial" panose="020B0604020202020204"/>
                  <a:ea typeface="黑体" panose="02010609060101010101" pitchFamily="49" charset="-122"/>
                </a:rPr>
                <a:t> Consecutive</a:t>
              </a:r>
            </a:p>
            <a:p>
              <a:pPr algn="ctr" defTabSz="685817" eaLnBrk="0" hangingPunct="0">
                <a:buClr>
                  <a:srgbClr val="C00000"/>
                </a:buClr>
                <a:tabLst>
                  <a:tab pos="2657541" algn="r"/>
                </a:tabLst>
                <a:defRPr/>
              </a:pPr>
              <a:r>
                <a:rPr lang="en-US" altLang="zh-CN" sz="700" b="0">
                  <a:solidFill>
                    <a:srgbClr val="C00000"/>
                  </a:solidFill>
                  <a:latin typeface="Arial" panose="020B0604020202020204"/>
                  <a:ea typeface="黑体" panose="02010609060101010101" pitchFamily="49" charset="-122"/>
                </a:rPr>
                <a:t>Win</a:t>
              </a:r>
            </a:p>
          </p:txBody>
        </p:sp>
      </p:grpSp>
      <p:grpSp>
        <p:nvGrpSpPr>
          <p:cNvPr id="69" name="Group 68">
            <a:extLst>
              <a:ext uri="{FF2B5EF4-FFF2-40B4-BE49-F238E27FC236}">
                <a16:creationId xmlns:a16="http://schemas.microsoft.com/office/drawing/2014/main" id="{9F52E9D0-8224-23C3-4330-D903535286F9}"/>
              </a:ext>
            </a:extLst>
          </p:cNvPr>
          <p:cNvGrpSpPr/>
          <p:nvPr/>
        </p:nvGrpSpPr>
        <p:grpSpPr>
          <a:xfrm>
            <a:off x="8407861" y="3634684"/>
            <a:ext cx="1045702" cy="1126839"/>
            <a:chOff x="7612545" y="3937567"/>
            <a:chExt cx="936292" cy="1008941"/>
          </a:xfrm>
        </p:grpSpPr>
        <p:pic>
          <p:nvPicPr>
            <p:cNvPr id="70" name="Picture 69" descr="Picture1.png">
              <a:extLst>
                <a:ext uri="{FF2B5EF4-FFF2-40B4-BE49-F238E27FC236}">
                  <a16:creationId xmlns:a16="http://schemas.microsoft.com/office/drawing/2014/main" id="{DB7224A9-D022-F960-13F0-712C509DB798}"/>
                </a:ext>
              </a:extLst>
            </p:cNvPr>
            <p:cNvPicPr>
              <a:picLocks noChangeAspect="1"/>
            </p:cNvPicPr>
            <p:nvPr/>
          </p:nvPicPr>
          <p:blipFill>
            <a:blip r:embed="rId3" cstate="print"/>
            <a:stretch>
              <a:fillRect/>
            </a:stretch>
          </p:blipFill>
          <p:spPr>
            <a:xfrm>
              <a:off x="7612545" y="4137171"/>
              <a:ext cx="936292" cy="809337"/>
            </a:xfrm>
            <a:prstGeom prst="rect">
              <a:avLst/>
            </a:prstGeom>
          </p:spPr>
        </p:pic>
        <p:pic>
          <p:nvPicPr>
            <p:cNvPr id="71" name="Picture 70">
              <a:extLst>
                <a:ext uri="{FF2B5EF4-FFF2-40B4-BE49-F238E27FC236}">
                  <a16:creationId xmlns:a16="http://schemas.microsoft.com/office/drawing/2014/main" id="{ADAA8D00-4A60-CD4E-0A0F-0DD538D49849}"/>
                </a:ext>
              </a:extLst>
            </p:cNvPr>
            <p:cNvPicPr>
              <a:picLocks noChangeAspect="1"/>
            </p:cNvPicPr>
            <p:nvPr/>
          </p:nvPicPr>
          <p:blipFill>
            <a:blip r:embed="rId8"/>
            <a:stretch>
              <a:fillRect/>
            </a:stretch>
          </p:blipFill>
          <p:spPr>
            <a:xfrm>
              <a:off x="7920748" y="3937567"/>
              <a:ext cx="319888" cy="353838"/>
            </a:xfrm>
            <a:prstGeom prst="rect">
              <a:avLst/>
            </a:prstGeom>
          </p:spPr>
        </p:pic>
        <p:sp>
          <p:nvSpPr>
            <p:cNvPr id="72" name="Rectangle 127">
              <a:extLst>
                <a:ext uri="{FF2B5EF4-FFF2-40B4-BE49-F238E27FC236}">
                  <a16:creationId xmlns:a16="http://schemas.microsoft.com/office/drawing/2014/main" id="{9FEC8757-707F-08D6-CD92-CDB1D7BEB270}"/>
                </a:ext>
              </a:extLst>
            </p:cNvPr>
            <p:cNvSpPr>
              <a:spLocks noChangeArrowheads="1"/>
            </p:cNvSpPr>
            <p:nvPr/>
          </p:nvSpPr>
          <p:spPr bwMode="gray">
            <a:xfrm>
              <a:off x="7728648" y="4392612"/>
              <a:ext cx="704084" cy="352898"/>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2657541" algn="r"/>
                </a:tabLst>
                <a:defRPr/>
              </a:pPr>
              <a:r>
                <a:rPr lang="en-US" altLang="zh-CN" sz="700" b="0">
                  <a:solidFill>
                    <a:srgbClr val="000000"/>
                  </a:solidFill>
                  <a:latin typeface="Arial" panose="020B0604020202020204"/>
                  <a:ea typeface="黑体" panose="02010609060101010101" pitchFamily="49" charset="-122"/>
                  <a:cs typeface="Calibri" panose="020F0502020204030204" pitchFamily="34" charset="0"/>
                </a:rPr>
                <a:t>2023</a:t>
              </a:r>
              <a:br>
                <a:rPr lang="en-US" altLang="zh-CN" sz="700" b="0">
                  <a:solidFill>
                    <a:srgbClr val="000000"/>
                  </a:solidFill>
                  <a:latin typeface="Arial" panose="020B0604020202020204"/>
                  <a:ea typeface="黑体" panose="02010609060101010101" pitchFamily="49" charset="-122"/>
                  <a:cs typeface="Calibri" panose="020F0502020204030204" pitchFamily="34" charset="0"/>
                </a:rPr>
              </a:br>
              <a:r>
                <a:rPr lang="en-SG" altLang="zh-CN" sz="700" b="0">
                  <a:solidFill>
                    <a:srgbClr val="000000"/>
                  </a:solidFill>
                  <a:latin typeface="Arial" panose="020B0604020202020204"/>
                  <a:ea typeface="黑体" panose="02010609060101010101" pitchFamily="49" charset="-122"/>
                  <a:cs typeface="Calibri" panose="020F0502020204030204" pitchFamily="34" charset="0"/>
                </a:rPr>
                <a:t>Best Investment Bank</a:t>
              </a:r>
            </a:p>
            <a:p>
              <a:pPr algn="ctr" defTabSz="685817">
                <a:spcBef>
                  <a:spcPts val="0"/>
                </a:spcBef>
                <a:spcAft>
                  <a:spcPts val="0"/>
                </a:spcAft>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Calibri" panose="020F0502020204030204" pitchFamily="34" charset="0"/>
                </a:rPr>
                <a:t>(Indonesia)</a:t>
              </a:r>
            </a:p>
          </p:txBody>
        </p:sp>
      </p:grpSp>
      <p:grpSp>
        <p:nvGrpSpPr>
          <p:cNvPr id="73" name="Group 72">
            <a:extLst>
              <a:ext uri="{FF2B5EF4-FFF2-40B4-BE49-F238E27FC236}">
                <a16:creationId xmlns:a16="http://schemas.microsoft.com/office/drawing/2014/main" id="{3EED1FFF-143C-6367-0286-4A1B9C3F39A5}"/>
              </a:ext>
            </a:extLst>
          </p:cNvPr>
          <p:cNvGrpSpPr/>
          <p:nvPr/>
        </p:nvGrpSpPr>
        <p:grpSpPr>
          <a:xfrm>
            <a:off x="4998394" y="3717627"/>
            <a:ext cx="1045702" cy="1043896"/>
            <a:chOff x="6640007" y="4018182"/>
            <a:chExt cx="936292" cy="934676"/>
          </a:xfrm>
        </p:grpSpPr>
        <p:pic>
          <p:nvPicPr>
            <p:cNvPr id="74" name="Picture 73" descr="Picture1.png">
              <a:extLst>
                <a:ext uri="{FF2B5EF4-FFF2-40B4-BE49-F238E27FC236}">
                  <a16:creationId xmlns:a16="http://schemas.microsoft.com/office/drawing/2014/main" id="{34283125-6E40-6BD6-4053-831F1D216D95}"/>
                </a:ext>
              </a:extLst>
            </p:cNvPr>
            <p:cNvPicPr>
              <a:picLocks noChangeAspect="1"/>
            </p:cNvPicPr>
            <p:nvPr/>
          </p:nvPicPr>
          <p:blipFill>
            <a:blip r:embed="rId3" cstate="print"/>
            <a:stretch>
              <a:fillRect/>
            </a:stretch>
          </p:blipFill>
          <p:spPr>
            <a:xfrm>
              <a:off x="6640007" y="4143521"/>
              <a:ext cx="936292" cy="809337"/>
            </a:xfrm>
            <a:prstGeom prst="rect">
              <a:avLst/>
            </a:prstGeom>
          </p:spPr>
        </p:pic>
        <p:pic>
          <p:nvPicPr>
            <p:cNvPr id="75" name="Picture 12" descr="Image result for finance asia">
              <a:extLst>
                <a:ext uri="{FF2B5EF4-FFF2-40B4-BE49-F238E27FC236}">
                  <a16:creationId xmlns:a16="http://schemas.microsoft.com/office/drawing/2014/main" id="{072E7F02-8DFB-DC2C-19EC-5A2E1E212F9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04025" y="4018182"/>
              <a:ext cx="608256" cy="279573"/>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127">
              <a:extLst>
                <a:ext uri="{FF2B5EF4-FFF2-40B4-BE49-F238E27FC236}">
                  <a16:creationId xmlns:a16="http://schemas.microsoft.com/office/drawing/2014/main" id="{A056B6D8-DBF6-BD39-80B9-2EB084C4D4A7}"/>
                </a:ext>
              </a:extLst>
            </p:cNvPr>
            <p:cNvSpPr>
              <a:spLocks noChangeArrowheads="1"/>
            </p:cNvSpPr>
            <p:nvPr/>
          </p:nvSpPr>
          <p:spPr bwMode="gray">
            <a:xfrm>
              <a:off x="6756111" y="4345129"/>
              <a:ext cx="704084" cy="352898"/>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2025</a:t>
              </a:r>
              <a:endParaRPr lang="en-US" altLang="zh-CN" sz="700" b="0">
                <a:solidFill>
                  <a:srgbClr val="000000"/>
                </a:solidFill>
                <a:latin typeface="Arial" panose="020B0604020202020204"/>
                <a:ea typeface="黑体" panose="02010609060101010101" pitchFamily="49" charset="-122"/>
                <a:cs typeface="DFKaiShu-GB5" pitchFamily="65" charset="-128"/>
              </a:endParaRPr>
            </a:p>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Best International ECM House – China (Mainland)</a:t>
              </a:r>
            </a:p>
          </p:txBody>
        </p:sp>
      </p:grpSp>
      <p:grpSp>
        <p:nvGrpSpPr>
          <p:cNvPr id="77" name="Group 76">
            <a:extLst>
              <a:ext uri="{FF2B5EF4-FFF2-40B4-BE49-F238E27FC236}">
                <a16:creationId xmlns:a16="http://schemas.microsoft.com/office/drawing/2014/main" id="{F1AE8DF1-0B05-A1F1-8CC0-30695CBAE1CA}"/>
              </a:ext>
            </a:extLst>
          </p:cNvPr>
          <p:cNvGrpSpPr/>
          <p:nvPr/>
        </p:nvGrpSpPr>
        <p:grpSpPr>
          <a:xfrm>
            <a:off x="8407861" y="4919791"/>
            <a:ext cx="1045702" cy="1194854"/>
            <a:chOff x="7638932" y="5191006"/>
            <a:chExt cx="936292" cy="1069838"/>
          </a:xfrm>
        </p:grpSpPr>
        <p:pic>
          <p:nvPicPr>
            <p:cNvPr id="78" name="Picture 77" descr="Picture1.png">
              <a:extLst>
                <a:ext uri="{FF2B5EF4-FFF2-40B4-BE49-F238E27FC236}">
                  <a16:creationId xmlns:a16="http://schemas.microsoft.com/office/drawing/2014/main" id="{8A063680-608C-3C0D-C0B6-E940D0EC09BA}"/>
                </a:ext>
              </a:extLst>
            </p:cNvPr>
            <p:cNvPicPr>
              <a:picLocks noChangeAspect="1"/>
            </p:cNvPicPr>
            <p:nvPr/>
          </p:nvPicPr>
          <p:blipFill>
            <a:blip r:embed="rId3" cstate="print"/>
            <a:stretch>
              <a:fillRect/>
            </a:stretch>
          </p:blipFill>
          <p:spPr>
            <a:xfrm>
              <a:off x="7638932" y="5451507"/>
              <a:ext cx="936292" cy="809337"/>
            </a:xfrm>
            <a:prstGeom prst="rect">
              <a:avLst/>
            </a:prstGeom>
          </p:spPr>
        </p:pic>
        <p:sp>
          <p:nvSpPr>
            <p:cNvPr id="80" name="Rectangle 79">
              <a:extLst>
                <a:ext uri="{FF2B5EF4-FFF2-40B4-BE49-F238E27FC236}">
                  <a16:creationId xmlns:a16="http://schemas.microsoft.com/office/drawing/2014/main" id="{7638AFC5-6991-1819-51BF-2B5CEAB9A3D0}"/>
                </a:ext>
              </a:extLst>
            </p:cNvPr>
            <p:cNvSpPr>
              <a:spLocks noChangeArrowheads="1"/>
            </p:cNvSpPr>
            <p:nvPr/>
          </p:nvSpPr>
          <p:spPr bwMode="gray">
            <a:xfrm>
              <a:off x="7755036" y="5626386"/>
              <a:ext cx="704084" cy="441122"/>
            </a:xfrm>
            <a:prstGeom prst="rect">
              <a:avLst/>
            </a:prstGeom>
            <a:noFill/>
            <a:ln w="9525">
              <a:noFill/>
              <a:miter lim="800000"/>
              <a:headEnd/>
              <a:tailEnd/>
            </a:ln>
            <a:effectLst/>
          </p:spPr>
          <p:txBody>
            <a:bodyPr wrap="square" lIns="0" tIns="0" rIns="0" bIns="0" anchor="ctr" anchorCtr="0">
              <a:spAutoFit/>
            </a:bodyPr>
            <a:lstStyle/>
            <a:p>
              <a:pPr algn="ctr" defTabSz="685817">
                <a:spcBef>
                  <a:spcPts val="0"/>
                </a:spcBef>
                <a:spcAft>
                  <a:spcPts val="0"/>
                </a:spcAft>
                <a:buClr>
                  <a:srgbClr val="C00000"/>
                </a:buClr>
                <a:tabLst>
                  <a:tab pos="1805534" algn="r"/>
                </a:tabLst>
                <a:defRPr/>
              </a:pPr>
              <a:r>
                <a:rPr lang="en-US" altLang="zh-CN" sz="700" b="0">
                  <a:solidFill>
                    <a:srgbClr val="000000"/>
                  </a:solidFill>
                  <a:latin typeface="Arial" panose="020B0604020202020204"/>
                  <a:ea typeface="DFPKaiShu-GB5" panose="03000500000000000000" pitchFamily="66" charset="-128"/>
                  <a:cs typeface="Calibri" panose="020F0502020204030204" pitchFamily="34" charset="0"/>
                </a:rPr>
                <a:t>2023</a:t>
              </a:r>
            </a:p>
            <a:p>
              <a:pPr algn="ctr" defTabSz="685817">
                <a:spcBef>
                  <a:spcPts val="0"/>
                </a:spcBef>
                <a:spcAft>
                  <a:spcPts val="0"/>
                </a:spcAft>
                <a:buClr>
                  <a:srgbClr val="C00000"/>
                </a:buClr>
                <a:tabLst>
                  <a:tab pos="1805534" algn="r"/>
                </a:tabLst>
                <a:defRPr/>
              </a:pPr>
              <a:r>
                <a:rPr lang="en-US" altLang="zh-TW" sz="700" b="0">
                  <a:solidFill>
                    <a:srgbClr val="000000"/>
                  </a:solidFill>
                  <a:latin typeface="Arial" panose="020B0604020202020204"/>
                  <a:ea typeface="DFPKaiShu-GB5" panose="03000500000000000000" pitchFamily="66" charset="-128"/>
                  <a:cs typeface="Calibri" panose="020F0502020204030204" pitchFamily="34" charset="0"/>
                </a:rPr>
                <a:t>Best </a:t>
              </a:r>
            </a:p>
            <a:p>
              <a:pPr algn="ctr" defTabSz="685817">
                <a:spcBef>
                  <a:spcPts val="0"/>
                </a:spcBef>
                <a:spcAft>
                  <a:spcPts val="0"/>
                </a:spcAft>
                <a:buClr>
                  <a:srgbClr val="C00000"/>
                </a:buClr>
                <a:tabLst>
                  <a:tab pos="1805534" algn="r"/>
                </a:tabLst>
                <a:defRPr/>
              </a:pPr>
              <a:r>
                <a:rPr lang="en-US" altLang="zh-TW" sz="700" b="0">
                  <a:solidFill>
                    <a:srgbClr val="000000"/>
                  </a:solidFill>
                  <a:latin typeface="Arial" panose="020B0604020202020204"/>
                  <a:ea typeface="DFPKaiShu-GB5" panose="03000500000000000000" pitchFamily="66" charset="-128"/>
                  <a:cs typeface="Calibri" panose="020F0502020204030204" pitchFamily="34" charset="0"/>
                </a:rPr>
                <a:t>Innovative Investment </a:t>
              </a:r>
              <a:br>
                <a:rPr lang="en-US" altLang="zh-TW" sz="700" b="0">
                  <a:solidFill>
                    <a:srgbClr val="000000"/>
                  </a:solidFill>
                  <a:latin typeface="Arial" panose="020B0604020202020204"/>
                  <a:ea typeface="DFPKaiShu-GB5" panose="03000500000000000000" pitchFamily="66" charset="-128"/>
                  <a:cs typeface="Calibri" panose="020F0502020204030204" pitchFamily="34" charset="0"/>
                </a:rPr>
              </a:br>
              <a:r>
                <a:rPr lang="en-US" altLang="zh-TW" sz="700" b="0">
                  <a:solidFill>
                    <a:srgbClr val="000000"/>
                  </a:solidFill>
                  <a:latin typeface="Arial" panose="020B0604020202020204"/>
                  <a:ea typeface="DFPKaiShu-GB5" panose="03000500000000000000" pitchFamily="66" charset="-128"/>
                  <a:cs typeface="Calibri" panose="020F0502020204030204" pitchFamily="34" charset="0"/>
                </a:rPr>
                <a:t>Bank in China</a:t>
              </a:r>
            </a:p>
          </p:txBody>
        </p:sp>
        <p:sp>
          <p:nvSpPr>
            <p:cNvPr id="83" name="TextBox 82">
              <a:extLst>
                <a:ext uri="{FF2B5EF4-FFF2-40B4-BE49-F238E27FC236}">
                  <a16:creationId xmlns:a16="http://schemas.microsoft.com/office/drawing/2014/main" id="{0F98A631-E400-AFF3-71ED-B8CA6E889E47}"/>
                </a:ext>
              </a:extLst>
            </p:cNvPr>
            <p:cNvSpPr txBox="1"/>
            <p:nvPr/>
          </p:nvSpPr>
          <p:spPr>
            <a:xfrm>
              <a:off x="7802950" y="5191006"/>
              <a:ext cx="608256" cy="340294"/>
            </a:xfrm>
            <a:prstGeom prst="rect">
              <a:avLst/>
            </a:prstGeom>
            <a:noFill/>
          </p:spPr>
          <p:txBody>
            <a:bodyPr wrap="square" rtlCol="0">
              <a:spAutoFit/>
            </a:bodyPr>
            <a:lstStyle/>
            <a:p>
              <a:pPr algn="ctr" defTabSz="685817" eaLnBrk="0" hangingPunct="0">
                <a:defRPr/>
              </a:pPr>
              <a:r>
                <a:rPr lang="en-SG" sz="700">
                  <a:solidFill>
                    <a:srgbClr val="000000"/>
                  </a:solidFill>
                  <a:latin typeface="Arial" panose="020B0604020202020204"/>
                  <a:cs typeface="Calibri" panose="020F0502020204030204" pitchFamily="34" charset="0"/>
                </a:rPr>
                <a:t>The Securities Times</a:t>
              </a:r>
            </a:p>
          </p:txBody>
        </p:sp>
      </p:grpSp>
      <p:grpSp>
        <p:nvGrpSpPr>
          <p:cNvPr id="88" name="Group 87">
            <a:extLst>
              <a:ext uri="{FF2B5EF4-FFF2-40B4-BE49-F238E27FC236}">
                <a16:creationId xmlns:a16="http://schemas.microsoft.com/office/drawing/2014/main" id="{16651A6D-1DA7-FF44-1DE1-9007175798EA}"/>
              </a:ext>
            </a:extLst>
          </p:cNvPr>
          <p:cNvGrpSpPr/>
          <p:nvPr/>
        </p:nvGrpSpPr>
        <p:grpSpPr>
          <a:xfrm>
            <a:off x="7271372" y="4968237"/>
            <a:ext cx="1045702" cy="1146408"/>
            <a:chOff x="2549831" y="3919932"/>
            <a:chExt cx="936292" cy="1026462"/>
          </a:xfrm>
        </p:grpSpPr>
        <p:pic>
          <p:nvPicPr>
            <p:cNvPr id="92" name="Picture 91" descr="Picture1.png">
              <a:extLst>
                <a:ext uri="{FF2B5EF4-FFF2-40B4-BE49-F238E27FC236}">
                  <a16:creationId xmlns:a16="http://schemas.microsoft.com/office/drawing/2014/main" id="{076BBE89-CC38-D9A6-1042-55F5C050EEF5}"/>
                </a:ext>
              </a:extLst>
            </p:cNvPr>
            <p:cNvPicPr>
              <a:picLocks noChangeAspect="1"/>
            </p:cNvPicPr>
            <p:nvPr/>
          </p:nvPicPr>
          <p:blipFill>
            <a:blip r:embed="rId3" cstate="print"/>
            <a:stretch>
              <a:fillRect/>
            </a:stretch>
          </p:blipFill>
          <p:spPr>
            <a:xfrm>
              <a:off x="2549831" y="4137057"/>
              <a:ext cx="936292" cy="809337"/>
            </a:xfrm>
            <a:prstGeom prst="rect">
              <a:avLst/>
            </a:prstGeom>
          </p:spPr>
        </p:pic>
        <p:sp>
          <p:nvSpPr>
            <p:cNvPr id="93" name="Rectangle 127">
              <a:extLst>
                <a:ext uri="{FF2B5EF4-FFF2-40B4-BE49-F238E27FC236}">
                  <a16:creationId xmlns:a16="http://schemas.microsoft.com/office/drawing/2014/main" id="{F0CBC438-C79D-A5EC-D435-8D6B0D983C0B}"/>
                </a:ext>
              </a:extLst>
            </p:cNvPr>
            <p:cNvSpPr>
              <a:spLocks noChangeArrowheads="1"/>
            </p:cNvSpPr>
            <p:nvPr/>
          </p:nvSpPr>
          <p:spPr bwMode="gray">
            <a:xfrm>
              <a:off x="2665935" y="4311935"/>
              <a:ext cx="704084" cy="441122"/>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2023</a:t>
              </a:r>
              <a:endParaRPr lang="en-US" altLang="zh-CN" sz="700" b="0" kern="0">
                <a:solidFill>
                  <a:srgbClr val="000000"/>
                </a:solidFill>
                <a:latin typeface="Arial" panose="020B0604020202020204"/>
                <a:ea typeface="黑体" panose="02010609060101010101" pitchFamily="49" charset="-122"/>
                <a:cs typeface="DFKaiShu-GB5" pitchFamily="65" charset="-128"/>
              </a:endParaRP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Best REIT Adviser </a:t>
              </a: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in the Region</a:t>
              </a:r>
            </a:p>
            <a:p>
              <a:pPr algn="ctr" defTabSz="685817" eaLnBrk="0" fontAlgn="auto" hangingPunct="0">
                <a:spcBef>
                  <a:spcPts val="0"/>
                </a:spcBef>
                <a:spcAft>
                  <a:spcPts val="0"/>
                </a:spcAft>
                <a:buClr>
                  <a:srgbClr val="C00000"/>
                </a:buClr>
                <a:tabLst>
                  <a:tab pos="2657541" algn="r"/>
                </a:tabLst>
                <a:defRPr/>
              </a:pPr>
              <a:r>
                <a:rPr lang="en-US" altLang="zh-CN" sz="700" b="0" kern="0">
                  <a:solidFill>
                    <a:srgbClr val="C00000"/>
                  </a:solidFill>
                  <a:latin typeface="Arial" panose="020B0604020202020204"/>
                  <a:ea typeface="黑体" panose="02010609060101010101" pitchFamily="49" charset="-122"/>
                  <a:cs typeface="DFKaiShu-GB5" pitchFamily="65" charset="-128"/>
                </a:rPr>
                <a:t>12</a:t>
              </a:r>
              <a:r>
                <a:rPr lang="en-US" altLang="zh-CN" sz="700" b="0" kern="0" baseline="30000">
                  <a:solidFill>
                    <a:srgbClr val="C00000"/>
                  </a:solidFill>
                  <a:latin typeface="Arial" panose="020B0604020202020204"/>
                  <a:ea typeface="黑体" panose="02010609060101010101" pitchFamily="49" charset="-122"/>
                  <a:cs typeface="DFKaiShu-GB5" pitchFamily="65" charset="-128"/>
                </a:rPr>
                <a:t>th</a:t>
              </a:r>
              <a:r>
                <a:rPr lang="en-US" altLang="zh-CN" sz="700" b="0" kern="0">
                  <a:solidFill>
                    <a:srgbClr val="C00000"/>
                  </a:solidFill>
                  <a:latin typeface="Arial" panose="020B0604020202020204"/>
                  <a:ea typeface="黑体" panose="02010609060101010101" pitchFamily="49" charset="-122"/>
                  <a:cs typeface="DFKaiShu-GB5" pitchFamily="65" charset="-128"/>
                </a:rPr>
                <a:t>  Consecutive</a:t>
              </a:r>
            </a:p>
            <a:p>
              <a:pPr algn="ctr" defTabSz="685817" eaLnBrk="0" fontAlgn="auto" hangingPunct="0">
                <a:spcBef>
                  <a:spcPts val="0"/>
                </a:spcBef>
                <a:spcAft>
                  <a:spcPts val="0"/>
                </a:spcAft>
                <a:buClr>
                  <a:srgbClr val="C00000"/>
                </a:buClr>
                <a:tabLst>
                  <a:tab pos="2657541" algn="r"/>
                </a:tabLst>
                <a:defRPr/>
              </a:pPr>
              <a:r>
                <a:rPr lang="en-US" altLang="zh-CN" sz="700" b="0" kern="0">
                  <a:solidFill>
                    <a:srgbClr val="C00000"/>
                  </a:solidFill>
                  <a:latin typeface="Arial" panose="020B0604020202020204"/>
                  <a:ea typeface="黑体" panose="02010609060101010101" pitchFamily="49" charset="-122"/>
                  <a:cs typeface="DFKaiShu-GB5" pitchFamily="65" charset="-128"/>
                </a:rPr>
                <a:t>Win</a:t>
              </a:r>
            </a:p>
          </p:txBody>
        </p:sp>
        <p:pic>
          <p:nvPicPr>
            <p:cNvPr id="94" name="Picture 93">
              <a:extLst>
                <a:ext uri="{FF2B5EF4-FFF2-40B4-BE49-F238E27FC236}">
                  <a16:creationId xmlns:a16="http://schemas.microsoft.com/office/drawing/2014/main" id="{188E555E-AF64-576E-2917-FFE7B0D6BAA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850863" y="3919932"/>
              <a:ext cx="334231" cy="338628"/>
            </a:xfrm>
            <a:prstGeom prst="rect">
              <a:avLst/>
            </a:prstGeom>
          </p:spPr>
        </p:pic>
      </p:grpSp>
      <p:grpSp>
        <p:nvGrpSpPr>
          <p:cNvPr id="96" name="Group 95">
            <a:extLst>
              <a:ext uri="{FF2B5EF4-FFF2-40B4-BE49-F238E27FC236}">
                <a16:creationId xmlns:a16="http://schemas.microsoft.com/office/drawing/2014/main" id="{F53BF535-00CD-BD47-F0F6-D39C06FED920}"/>
              </a:ext>
            </a:extLst>
          </p:cNvPr>
          <p:cNvGrpSpPr/>
          <p:nvPr/>
        </p:nvGrpSpPr>
        <p:grpSpPr>
          <a:xfrm>
            <a:off x="4998394" y="4968237"/>
            <a:ext cx="1045702" cy="1146408"/>
            <a:chOff x="5541457" y="5247082"/>
            <a:chExt cx="936292" cy="1026462"/>
          </a:xfrm>
        </p:grpSpPr>
        <p:pic>
          <p:nvPicPr>
            <p:cNvPr id="97" name="Picture 96" descr="Picture1.png">
              <a:extLst>
                <a:ext uri="{FF2B5EF4-FFF2-40B4-BE49-F238E27FC236}">
                  <a16:creationId xmlns:a16="http://schemas.microsoft.com/office/drawing/2014/main" id="{96985D4C-43A2-73FF-721A-BFB5660641F3}"/>
                </a:ext>
              </a:extLst>
            </p:cNvPr>
            <p:cNvPicPr>
              <a:picLocks noChangeAspect="1"/>
            </p:cNvPicPr>
            <p:nvPr/>
          </p:nvPicPr>
          <p:blipFill>
            <a:blip r:embed="rId3" cstate="print"/>
            <a:stretch>
              <a:fillRect/>
            </a:stretch>
          </p:blipFill>
          <p:spPr>
            <a:xfrm>
              <a:off x="5541457" y="5464207"/>
              <a:ext cx="936292" cy="809337"/>
            </a:xfrm>
            <a:prstGeom prst="rect">
              <a:avLst/>
            </a:prstGeom>
          </p:spPr>
        </p:pic>
        <p:sp>
          <p:nvSpPr>
            <p:cNvPr id="98" name="Rectangle 127">
              <a:extLst>
                <a:ext uri="{FF2B5EF4-FFF2-40B4-BE49-F238E27FC236}">
                  <a16:creationId xmlns:a16="http://schemas.microsoft.com/office/drawing/2014/main" id="{765C970C-6C01-14C7-DED2-425AB95016BC}"/>
                </a:ext>
              </a:extLst>
            </p:cNvPr>
            <p:cNvSpPr>
              <a:spLocks noChangeArrowheads="1"/>
            </p:cNvSpPr>
            <p:nvPr/>
          </p:nvSpPr>
          <p:spPr bwMode="gray">
            <a:xfrm>
              <a:off x="5657561" y="5550859"/>
              <a:ext cx="704084" cy="617571"/>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spcBef>
                  <a:spcPts val="0"/>
                </a:spcBef>
                <a:spcAft>
                  <a:spcPts val="0"/>
                </a:spcAft>
                <a:buClr>
                  <a:srgbClr val="C00000"/>
                </a:buClr>
                <a:tabLst>
                  <a:tab pos="2657541" algn="r"/>
                </a:tabLst>
                <a:defRPr/>
              </a:pPr>
              <a:endParaRPr lang="en-US" altLang="zh-CN" sz="700" b="0">
                <a:solidFill>
                  <a:srgbClr val="000000"/>
                </a:solidFill>
                <a:latin typeface="Arial" panose="020B0604020202020204"/>
                <a:ea typeface="DFPKaiShu-GB5" panose="03000500000000000000" pitchFamily="66" charset="-128"/>
                <a:cs typeface="DFPKaiShu-GB5" panose="03000500000000000000" pitchFamily="66" charset="-128"/>
              </a:endParaRPr>
            </a:p>
            <a:p>
              <a:pPr algn="ctr" defTabSz="685817" eaLnBrk="0" hangingPunct="0">
                <a:spcBef>
                  <a:spcPts val="0"/>
                </a:spcBef>
                <a:spcAft>
                  <a:spcPts val="0"/>
                </a:spcAft>
                <a:buClr>
                  <a:srgbClr val="C00000"/>
                </a:buClr>
                <a:tabLst>
                  <a:tab pos="2657541" algn="r"/>
                </a:tabLst>
                <a:defRPr/>
              </a:pPr>
              <a:r>
                <a:rPr lang="en-US" altLang="zh-CN" sz="700" b="0">
                  <a:solidFill>
                    <a:srgbClr val="000000"/>
                  </a:solidFill>
                  <a:latin typeface="Arial" panose="020B0604020202020204"/>
                  <a:ea typeface="DFPKaiShu-GB5" panose="03000500000000000000" pitchFamily="66" charset="-128"/>
                  <a:cs typeface="DFPKaiShu-GB5" panose="03000500000000000000" pitchFamily="66" charset="-128"/>
                </a:rPr>
                <a:t>2025</a:t>
              </a:r>
            </a:p>
            <a:p>
              <a:pPr algn="ctr" defTabSz="685817" eaLnBrk="0" hangingPunct="0">
                <a:spcBef>
                  <a:spcPts val="0"/>
                </a:spcBef>
                <a:spcAft>
                  <a:spcPts val="0"/>
                </a:spcAft>
                <a:buClr>
                  <a:srgbClr val="C00000"/>
                </a:buClr>
                <a:tabLst>
                  <a:tab pos="2657541" algn="r"/>
                </a:tabLst>
                <a:defRPr/>
              </a:pPr>
              <a:r>
                <a:rPr lang="en-US" altLang="zh-CN" sz="700" b="0">
                  <a:solidFill>
                    <a:srgbClr val="000000"/>
                  </a:solidFill>
                  <a:latin typeface="Arial" panose="020B0604020202020204"/>
                  <a:ea typeface="DFPKaiShu-GB5" panose="03000500000000000000" pitchFamily="66" charset="-128"/>
                  <a:cs typeface="DFPKaiShu-GB5" panose="03000500000000000000" pitchFamily="66" charset="-128"/>
                </a:rPr>
                <a:t>Best </a:t>
              </a:r>
              <a:r>
                <a:rPr lang="en-US" altLang="zh-TW" sz="700" b="0">
                  <a:solidFill>
                    <a:srgbClr val="000000"/>
                  </a:solidFill>
                  <a:latin typeface="Arial" panose="020B0604020202020204"/>
                  <a:ea typeface="DFPKaiShu-GB5" panose="03000500000000000000" pitchFamily="66" charset="-128"/>
                  <a:cs typeface="DFPKaiShu-GB5" panose="03000500000000000000" pitchFamily="66" charset="-128"/>
                </a:rPr>
                <a:t>Investment Bank </a:t>
              </a:r>
              <a:r>
                <a:rPr lang="en-US" altLang="zh-CN" sz="700" b="0">
                  <a:solidFill>
                    <a:srgbClr val="000000"/>
                  </a:solidFill>
                  <a:latin typeface="Arial" panose="020B0604020202020204"/>
                  <a:ea typeface="DFPKaiShu-GB5" panose="03000500000000000000" pitchFamily="66" charset="-128"/>
                  <a:cs typeface="DFPKaiShu-GB5" panose="03000500000000000000" pitchFamily="66" charset="-128"/>
                </a:rPr>
                <a:t>(Singapore)</a:t>
              </a:r>
            </a:p>
            <a:p>
              <a:pPr algn="ctr" defTabSz="685817" eaLnBrk="0" hangingPunct="0">
                <a:buClr>
                  <a:srgbClr val="C00000"/>
                </a:buClr>
                <a:tabLst>
                  <a:tab pos="2657541" algn="r"/>
                </a:tabLst>
                <a:defRPr/>
              </a:pPr>
              <a:r>
                <a:rPr lang="en-US" altLang="zh-CN" sz="700" b="0">
                  <a:solidFill>
                    <a:srgbClr val="C00000"/>
                  </a:solidFill>
                  <a:latin typeface="Arial" panose="020B0604020202020204"/>
                  <a:ea typeface="黑体" panose="02010609060101010101" pitchFamily="49" charset="-122"/>
                  <a:cs typeface="DFKaiShu-GB5" pitchFamily="65" charset="-128"/>
                </a:rPr>
                <a:t>19</a:t>
              </a:r>
              <a:r>
                <a:rPr lang="en-US" altLang="zh-CN" sz="700" b="0" baseline="30000">
                  <a:solidFill>
                    <a:srgbClr val="C00000"/>
                  </a:solidFill>
                  <a:latin typeface="Arial" panose="020B0604020202020204"/>
                  <a:ea typeface="黑体" panose="02010609060101010101" pitchFamily="49" charset="-122"/>
                  <a:cs typeface="DFKaiShu-GB5" pitchFamily="65" charset="-128"/>
                </a:rPr>
                <a:t>th</a:t>
              </a:r>
              <a:r>
                <a:rPr lang="en-US" altLang="zh-CN" sz="700" b="0">
                  <a:solidFill>
                    <a:srgbClr val="C00000"/>
                  </a:solidFill>
                  <a:latin typeface="Arial" panose="020B0604020202020204"/>
                  <a:ea typeface="黑体" panose="02010609060101010101" pitchFamily="49" charset="-122"/>
                  <a:cs typeface="DFKaiShu-GB5" pitchFamily="65" charset="-128"/>
                </a:rPr>
                <a:t> Consecutive</a:t>
              </a:r>
              <a:br>
                <a:rPr lang="en-US" altLang="zh-CN" sz="700" b="0">
                  <a:solidFill>
                    <a:srgbClr val="C00000"/>
                  </a:solidFill>
                  <a:latin typeface="Arial" panose="020B0604020202020204"/>
                  <a:ea typeface="黑体" panose="02010609060101010101" pitchFamily="49" charset="-122"/>
                  <a:cs typeface="DFKaiShu-GB5" pitchFamily="65" charset="-128"/>
                </a:rPr>
              </a:br>
              <a:r>
                <a:rPr lang="en-US" altLang="zh-CN" sz="700" b="0">
                  <a:solidFill>
                    <a:srgbClr val="C00000"/>
                  </a:solidFill>
                  <a:latin typeface="Arial" panose="020B0604020202020204"/>
                  <a:ea typeface="黑体" panose="02010609060101010101" pitchFamily="49" charset="-122"/>
                  <a:cs typeface="DFKaiShu-GB5" pitchFamily="65" charset="-128"/>
                </a:rPr>
                <a:t>Win</a:t>
              </a:r>
            </a:p>
            <a:p>
              <a:pPr algn="ctr" defTabSz="685817" eaLnBrk="0" hangingPunct="0">
                <a:buClr>
                  <a:srgbClr val="C00000"/>
                </a:buClr>
                <a:tabLst>
                  <a:tab pos="2657541" algn="r"/>
                </a:tabLst>
                <a:defRPr/>
              </a:pPr>
              <a:endParaRPr lang="en-US" altLang="zh-CN" sz="700" b="0">
                <a:solidFill>
                  <a:srgbClr val="C00000"/>
                </a:solidFill>
                <a:latin typeface="Arial" panose="020B0604020202020204"/>
                <a:ea typeface="黑体" panose="02010609060101010101" pitchFamily="49" charset="-122"/>
                <a:cs typeface="DFKaiShu-GB5" pitchFamily="65" charset="-128"/>
              </a:endParaRPr>
            </a:p>
          </p:txBody>
        </p:sp>
        <p:pic>
          <p:nvPicPr>
            <p:cNvPr id="102" name="Picture 101">
              <a:extLst>
                <a:ext uri="{FF2B5EF4-FFF2-40B4-BE49-F238E27FC236}">
                  <a16:creationId xmlns:a16="http://schemas.microsoft.com/office/drawing/2014/main" id="{648A9AB4-B6F1-4770-B52F-54F19120DCD6}"/>
                </a:ext>
              </a:extLst>
            </p:cNvPr>
            <p:cNvPicPr>
              <a:picLocks noChangeAspect="1"/>
            </p:cNvPicPr>
            <p:nvPr/>
          </p:nvPicPr>
          <p:blipFill>
            <a:blip r:embed="rId10"/>
            <a:stretch>
              <a:fillRect/>
            </a:stretch>
          </p:blipFill>
          <p:spPr>
            <a:xfrm>
              <a:off x="5851184" y="5247082"/>
              <a:ext cx="316838" cy="316838"/>
            </a:xfrm>
            <a:prstGeom prst="rect">
              <a:avLst/>
            </a:prstGeom>
          </p:spPr>
        </p:pic>
      </p:grpSp>
      <p:grpSp>
        <p:nvGrpSpPr>
          <p:cNvPr id="106" name="Group 105">
            <a:extLst>
              <a:ext uri="{FF2B5EF4-FFF2-40B4-BE49-F238E27FC236}">
                <a16:creationId xmlns:a16="http://schemas.microsoft.com/office/drawing/2014/main" id="{A50A42E9-16BD-7D15-C01C-A8A10BDEC916}"/>
              </a:ext>
            </a:extLst>
          </p:cNvPr>
          <p:cNvGrpSpPr/>
          <p:nvPr/>
        </p:nvGrpSpPr>
        <p:grpSpPr>
          <a:xfrm>
            <a:off x="1588927" y="3713127"/>
            <a:ext cx="1045702" cy="1048396"/>
            <a:chOff x="1562404" y="3988754"/>
            <a:chExt cx="936292" cy="938704"/>
          </a:xfrm>
        </p:grpSpPr>
        <p:pic>
          <p:nvPicPr>
            <p:cNvPr id="110" name="Picture 109" descr="Picture1.png">
              <a:extLst>
                <a:ext uri="{FF2B5EF4-FFF2-40B4-BE49-F238E27FC236}">
                  <a16:creationId xmlns:a16="http://schemas.microsoft.com/office/drawing/2014/main" id="{AEA5BCEE-F39E-5534-2980-D689F8D8D4A3}"/>
                </a:ext>
              </a:extLst>
            </p:cNvPr>
            <p:cNvPicPr>
              <a:picLocks noChangeAspect="1"/>
            </p:cNvPicPr>
            <p:nvPr/>
          </p:nvPicPr>
          <p:blipFill>
            <a:blip r:embed="rId3" cstate="print"/>
            <a:stretch>
              <a:fillRect/>
            </a:stretch>
          </p:blipFill>
          <p:spPr>
            <a:xfrm>
              <a:off x="1562404" y="4118121"/>
              <a:ext cx="936292" cy="809337"/>
            </a:xfrm>
            <a:prstGeom prst="rect">
              <a:avLst/>
            </a:prstGeom>
          </p:spPr>
        </p:pic>
        <p:pic>
          <p:nvPicPr>
            <p:cNvPr id="114" name="Picture 113">
              <a:extLst>
                <a:ext uri="{FF2B5EF4-FFF2-40B4-BE49-F238E27FC236}">
                  <a16:creationId xmlns:a16="http://schemas.microsoft.com/office/drawing/2014/main" id="{68F6974D-43DF-02FB-BCDE-FAADB58C6C13}"/>
                </a:ext>
              </a:extLst>
            </p:cNvPr>
            <p:cNvPicPr>
              <a:picLocks noChangeAspect="1"/>
            </p:cNvPicPr>
            <p:nvPr/>
          </p:nvPicPr>
          <p:blipFill rotWithShape="1">
            <a:blip r:embed="rId11"/>
            <a:srcRect l="-1" t="35921" r="1457" b="36008"/>
            <a:stretch/>
          </p:blipFill>
          <p:spPr>
            <a:xfrm>
              <a:off x="1672799" y="3988754"/>
              <a:ext cx="715503" cy="215651"/>
            </a:xfrm>
            <a:prstGeom prst="rect">
              <a:avLst/>
            </a:prstGeom>
          </p:spPr>
        </p:pic>
        <p:sp>
          <p:nvSpPr>
            <p:cNvPr id="115" name="Rectangle 127">
              <a:extLst>
                <a:ext uri="{FF2B5EF4-FFF2-40B4-BE49-F238E27FC236}">
                  <a16:creationId xmlns:a16="http://schemas.microsoft.com/office/drawing/2014/main" id="{FC49721A-3291-2B61-5EA3-23567E1FBF21}"/>
                </a:ext>
              </a:extLst>
            </p:cNvPr>
            <p:cNvSpPr>
              <a:spLocks noChangeArrowheads="1"/>
            </p:cNvSpPr>
            <p:nvPr/>
          </p:nvSpPr>
          <p:spPr bwMode="gray">
            <a:xfrm>
              <a:off x="1680888" y="4249622"/>
              <a:ext cx="704084" cy="529346"/>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2025</a:t>
              </a:r>
              <a:endParaRPr lang="en-US" altLang="zh-CN" sz="700" b="0" kern="0">
                <a:solidFill>
                  <a:srgbClr val="000000"/>
                </a:solidFill>
                <a:latin typeface="Arial" panose="020B0604020202020204"/>
                <a:ea typeface="黑体" panose="02010609060101010101" pitchFamily="49" charset="-122"/>
                <a:cs typeface="DFKaiShu-GB5" pitchFamily="65" charset="-128"/>
              </a:endParaRP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Investment Bank </a:t>
              </a: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of the Year </a:t>
              </a: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(Asia Pacific)</a:t>
              </a: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CC0000"/>
                  </a:solidFill>
                  <a:latin typeface="Arial" panose="020B0604020202020204"/>
                  <a:ea typeface="黑体" panose="02010609060101010101" pitchFamily="49" charset="-122"/>
                  <a:cs typeface="DFKaiShu-GB5" pitchFamily="65" charset="-128"/>
                </a:rPr>
                <a:t>3</a:t>
              </a:r>
              <a:r>
                <a:rPr lang="en-SG" altLang="zh-CN" sz="700" b="0" kern="0" baseline="30000">
                  <a:solidFill>
                    <a:srgbClr val="CC0000"/>
                  </a:solidFill>
                  <a:latin typeface="Arial" panose="020B0604020202020204"/>
                  <a:ea typeface="黑体" panose="02010609060101010101" pitchFamily="49" charset="-122"/>
                  <a:cs typeface="DFKaiShu-GB5" pitchFamily="65" charset="-128"/>
                </a:rPr>
                <a:t>rd</a:t>
              </a:r>
              <a:r>
                <a:rPr lang="en-SG" altLang="zh-CN" sz="700" b="0" kern="0">
                  <a:solidFill>
                    <a:srgbClr val="CC0000"/>
                  </a:solidFill>
                  <a:latin typeface="Arial" panose="020B0604020202020204"/>
                  <a:ea typeface="黑体" panose="02010609060101010101" pitchFamily="49" charset="-122"/>
                  <a:cs typeface="DFKaiShu-GB5" pitchFamily="65" charset="-128"/>
                </a:rPr>
                <a:t> Consecutive</a:t>
              </a:r>
              <a:br>
                <a:rPr lang="en-SG" altLang="zh-CN" sz="700" b="0" kern="0">
                  <a:solidFill>
                    <a:srgbClr val="CC0000"/>
                  </a:solidFill>
                  <a:latin typeface="Arial" panose="020B0604020202020204"/>
                  <a:ea typeface="黑体" panose="02010609060101010101" pitchFamily="49" charset="-122"/>
                  <a:cs typeface="DFKaiShu-GB5" pitchFamily="65" charset="-128"/>
                </a:rPr>
              </a:br>
              <a:r>
                <a:rPr lang="en-US" altLang="zh-CN" sz="700" b="0" kern="0">
                  <a:solidFill>
                    <a:srgbClr val="CC0000"/>
                  </a:solidFill>
                  <a:latin typeface="Arial" panose="020B0604020202020204"/>
                  <a:ea typeface="黑体" panose="02010609060101010101" pitchFamily="49" charset="-122"/>
                  <a:cs typeface="DFKaiShu-GB5" pitchFamily="65" charset="-128"/>
                </a:rPr>
                <a:t>Win</a:t>
              </a:r>
            </a:p>
          </p:txBody>
        </p:sp>
      </p:grpSp>
      <p:grpSp>
        <p:nvGrpSpPr>
          <p:cNvPr id="116" name="Group 115">
            <a:extLst>
              <a:ext uri="{FF2B5EF4-FFF2-40B4-BE49-F238E27FC236}">
                <a16:creationId xmlns:a16="http://schemas.microsoft.com/office/drawing/2014/main" id="{EDE3A7A6-DC6F-9BAE-3949-D1B12CBCCF4D}"/>
              </a:ext>
            </a:extLst>
          </p:cNvPr>
          <p:cNvGrpSpPr/>
          <p:nvPr/>
        </p:nvGrpSpPr>
        <p:grpSpPr>
          <a:xfrm>
            <a:off x="452438" y="3627159"/>
            <a:ext cx="1045702" cy="1134364"/>
            <a:chOff x="583519" y="3911779"/>
            <a:chExt cx="936292" cy="1015679"/>
          </a:xfrm>
        </p:grpSpPr>
        <p:pic>
          <p:nvPicPr>
            <p:cNvPr id="117" name="Picture 116" descr="Picture1.png">
              <a:extLst>
                <a:ext uri="{FF2B5EF4-FFF2-40B4-BE49-F238E27FC236}">
                  <a16:creationId xmlns:a16="http://schemas.microsoft.com/office/drawing/2014/main" id="{072D6038-EC7C-BE95-517E-1ED4F06C273A}"/>
                </a:ext>
              </a:extLst>
            </p:cNvPr>
            <p:cNvPicPr>
              <a:picLocks noChangeAspect="1"/>
            </p:cNvPicPr>
            <p:nvPr/>
          </p:nvPicPr>
          <p:blipFill>
            <a:blip r:embed="rId3" cstate="print"/>
            <a:stretch>
              <a:fillRect/>
            </a:stretch>
          </p:blipFill>
          <p:spPr>
            <a:xfrm>
              <a:off x="583519" y="4118121"/>
              <a:ext cx="936292" cy="809337"/>
            </a:xfrm>
            <a:prstGeom prst="rect">
              <a:avLst/>
            </a:prstGeom>
          </p:spPr>
        </p:pic>
        <p:sp>
          <p:nvSpPr>
            <p:cNvPr id="118" name="Rectangle 127">
              <a:extLst>
                <a:ext uri="{FF2B5EF4-FFF2-40B4-BE49-F238E27FC236}">
                  <a16:creationId xmlns:a16="http://schemas.microsoft.com/office/drawing/2014/main" id="{88EEE565-276D-6D76-7E9A-76F2992229E9}"/>
                </a:ext>
              </a:extLst>
            </p:cNvPr>
            <p:cNvSpPr>
              <a:spLocks noChangeArrowheads="1"/>
            </p:cNvSpPr>
            <p:nvPr/>
          </p:nvSpPr>
          <p:spPr bwMode="gray">
            <a:xfrm>
              <a:off x="699622" y="4329452"/>
              <a:ext cx="704084" cy="441123"/>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US" altLang="zh-CN" sz="700" b="0" kern="0">
                  <a:solidFill>
                    <a:srgbClr val="000000"/>
                  </a:solidFill>
                  <a:latin typeface="Arial" panose="020B0604020202020204"/>
                  <a:ea typeface="黑体" panose="02010609060101010101" pitchFamily="49" charset="-122"/>
                  <a:cs typeface="Calibri" panose="020F0502020204030204" pitchFamily="34" charset="0"/>
                </a:rPr>
                <a:t>2025</a:t>
              </a:r>
            </a:p>
            <a:p>
              <a:pPr algn="ctr" defTabSz="685817" eaLnBrk="0" fontAlgn="auto" hangingPunct="0">
                <a:spcBef>
                  <a:spcPts val="0"/>
                </a:spcBef>
                <a:spcAft>
                  <a:spcPts val="0"/>
                </a:spcAft>
                <a:buClr>
                  <a:srgbClr val="C00000"/>
                </a:buClr>
                <a:tabLst>
                  <a:tab pos="2657541" algn="r"/>
                </a:tabLst>
                <a:defRPr/>
              </a:pPr>
              <a:r>
                <a:rPr lang="en-US" altLang="zh-CN" sz="700" b="0" kern="0">
                  <a:solidFill>
                    <a:srgbClr val="000000"/>
                  </a:solidFill>
                  <a:latin typeface="Arial" panose="020B0604020202020204"/>
                  <a:ea typeface="黑体" panose="02010609060101010101" pitchFamily="49" charset="-122"/>
                  <a:cs typeface="Calibri" panose="020F0502020204030204" pitchFamily="34" charset="0"/>
                </a:rPr>
                <a:t>Best Investment Bank</a:t>
              </a:r>
            </a:p>
            <a:p>
              <a:pPr algn="ctr" defTabSz="685817" eaLnBrk="0" fontAlgn="auto" hangingPunct="0">
                <a:spcBef>
                  <a:spcPts val="0"/>
                </a:spcBef>
                <a:spcAft>
                  <a:spcPts val="0"/>
                </a:spcAft>
                <a:buClr>
                  <a:srgbClr val="C00000"/>
                </a:buClr>
                <a:tabLst>
                  <a:tab pos="2657541" algn="r"/>
                </a:tabLst>
                <a:defRPr/>
              </a:pPr>
              <a:r>
                <a:rPr lang="en-US" altLang="zh-CN" sz="700" b="0" kern="0">
                  <a:solidFill>
                    <a:srgbClr val="000000"/>
                  </a:solidFill>
                  <a:latin typeface="Arial" panose="020B0604020202020204"/>
                  <a:ea typeface="黑体" panose="02010609060101010101" pitchFamily="49" charset="-122"/>
                  <a:cs typeface="Calibri" panose="020F0502020204030204" pitchFamily="34" charset="0"/>
                </a:rPr>
                <a:t>(Asia Pacific)</a:t>
              </a:r>
            </a:p>
            <a:p>
              <a:pPr algn="ctr" defTabSz="685817" eaLnBrk="0" fontAlgn="auto" hangingPunct="0">
                <a:spcBef>
                  <a:spcPts val="0"/>
                </a:spcBef>
                <a:spcAft>
                  <a:spcPts val="0"/>
                </a:spcAft>
                <a:buClr>
                  <a:srgbClr val="C00000"/>
                </a:buClr>
                <a:tabLst>
                  <a:tab pos="2657541" algn="r"/>
                </a:tabLst>
                <a:defRPr/>
              </a:pPr>
              <a:r>
                <a:rPr lang="en-US" altLang="zh-CN" sz="700" b="0" kern="0">
                  <a:solidFill>
                    <a:srgbClr val="C00000"/>
                  </a:solidFill>
                  <a:latin typeface="Arial" panose="020B0604020202020204"/>
                  <a:ea typeface="黑体" panose="02010609060101010101" pitchFamily="49" charset="-122"/>
                  <a:cs typeface="Calibri" panose="020F0502020204030204" pitchFamily="34" charset="0"/>
                </a:rPr>
                <a:t>6</a:t>
              </a:r>
              <a:r>
                <a:rPr lang="en-US" altLang="zh-CN" sz="700" b="0" kern="0" baseline="30000">
                  <a:solidFill>
                    <a:srgbClr val="C00000"/>
                  </a:solidFill>
                  <a:latin typeface="Arial" panose="020B0604020202020204"/>
                  <a:ea typeface="黑体" panose="02010609060101010101" pitchFamily="49" charset="-122"/>
                  <a:cs typeface="Calibri" panose="020F0502020204030204" pitchFamily="34" charset="0"/>
                </a:rPr>
                <a:t>th</a:t>
              </a:r>
              <a:r>
                <a:rPr lang="en-US" altLang="zh-CN" sz="700" b="0" kern="0">
                  <a:solidFill>
                    <a:srgbClr val="C00000"/>
                  </a:solidFill>
                  <a:latin typeface="Arial" panose="020B0604020202020204"/>
                  <a:ea typeface="黑体" panose="02010609060101010101" pitchFamily="49" charset="-122"/>
                  <a:cs typeface="Calibri" panose="020F0502020204030204" pitchFamily="34" charset="0"/>
                </a:rPr>
                <a:t> Win</a:t>
              </a:r>
            </a:p>
          </p:txBody>
        </p:sp>
        <p:pic>
          <p:nvPicPr>
            <p:cNvPr id="119" name="Picture 118" descr="A globe with text overlay&#10;&#10;AI-generated content may be incorrect.">
              <a:extLst>
                <a:ext uri="{FF2B5EF4-FFF2-40B4-BE49-F238E27FC236}">
                  <a16:creationId xmlns:a16="http://schemas.microsoft.com/office/drawing/2014/main" id="{18A49BD9-9988-1CE3-6963-67CDB2D7A8C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86086" y="3911779"/>
              <a:ext cx="331159" cy="387246"/>
            </a:xfrm>
            <a:prstGeom prst="rect">
              <a:avLst/>
            </a:prstGeom>
          </p:spPr>
        </p:pic>
      </p:grpSp>
      <p:grpSp>
        <p:nvGrpSpPr>
          <p:cNvPr id="123" name="Group 122">
            <a:extLst>
              <a:ext uri="{FF2B5EF4-FFF2-40B4-BE49-F238E27FC236}">
                <a16:creationId xmlns:a16="http://schemas.microsoft.com/office/drawing/2014/main" id="{906B4EA0-5F96-0B76-6D92-C72C14EDD384}"/>
              </a:ext>
            </a:extLst>
          </p:cNvPr>
          <p:cNvGrpSpPr/>
          <p:nvPr/>
        </p:nvGrpSpPr>
        <p:grpSpPr>
          <a:xfrm>
            <a:off x="452438" y="4941088"/>
            <a:ext cx="1045702" cy="1173557"/>
            <a:chOff x="583519" y="5210073"/>
            <a:chExt cx="936292" cy="1050771"/>
          </a:xfrm>
        </p:grpSpPr>
        <p:pic>
          <p:nvPicPr>
            <p:cNvPr id="124" name="Picture 123" descr="Picture1.png">
              <a:extLst>
                <a:ext uri="{FF2B5EF4-FFF2-40B4-BE49-F238E27FC236}">
                  <a16:creationId xmlns:a16="http://schemas.microsoft.com/office/drawing/2014/main" id="{3DD1808E-16D5-AA40-2857-F0CE92A11933}"/>
                </a:ext>
              </a:extLst>
            </p:cNvPr>
            <p:cNvPicPr>
              <a:picLocks noChangeAspect="1"/>
            </p:cNvPicPr>
            <p:nvPr/>
          </p:nvPicPr>
          <p:blipFill>
            <a:blip r:embed="rId3" cstate="print"/>
            <a:stretch>
              <a:fillRect/>
            </a:stretch>
          </p:blipFill>
          <p:spPr>
            <a:xfrm>
              <a:off x="583519" y="5451507"/>
              <a:ext cx="936292" cy="809337"/>
            </a:xfrm>
            <a:prstGeom prst="rect">
              <a:avLst/>
            </a:prstGeom>
          </p:spPr>
        </p:pic>
        <p:sp>
          <p:nvSpPr>
            <p:cNvPr id="125" name="Rectangle 127">
              <a:extLst>
                <a:ext uri="{FF2B5EF4-FFF2-40B4-BE49-F238E27FC236}">
                  <a16:creationId xmlns:a16="http://schemas.microsoft.com/office/drawing/2014/main" id="{3F1B4CA5-32A4-23ED-E137-37823C768903}"/>
                </a:ext>
              </a:extLst>
            </p:cNvPr>
            <p:cNvSpPr>
              <a:spLocks noChangeArrowheads="1"/>
            </p:cNvSpPr>
            <p:nvPr/>
          </p:nvSpPr>
          <p:spPr bwMode="gray">
            <a:xfrm>
              <a:off x="699622" y="5654044"/>
              <a:ext cx="704084" cy="385804"/>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US" altLang="zh-CN" sz="700" b="0" kern="0">
                  <a:solidFill>
                    <a:srgbClr val="000000"/>
                  </a:solidFill>
                  <a:latin typeface="Arial" panose="020B0604020202020204"/>
                  <a:ea typeface="黑体" panose="02010609060101010101" pitchFamily="49" charset="-122"/>
                  <a:cs typeface="Calibri" panose="020F0502020204030204" pitchFamily="34" charset="0"/>
                </a:rPr>
                <a:t>2025</a:t>
              </a:r>
            </a:p>
            <a:p>
              <a:pPr algn="ctr" defTabSz="685817" eaLnBrk="0" fontAlgn="auto" hangingPunct="0">
                <a:spcBef>
                  <a:spcPts val="0"/>
                </a:spcBef>
                <a:spcAft>
                  <a:spcPts val="0"/>
                </a:spcAft>
                <a:buClr>
                  <a:srgbClr val="C00000"/>
                </a:buClr>
                <a:tabLst>
                  <a:tab pos="2657541" algn="r"/>
                </a:tabLst>
                <a:defRPr/>
              </a:pPr>
              <a:r>
                <a:rPr lang="en-US" altLang="zh-CN" sz="700" b="0" kern="0">
                  <a:solidFill>
                    <a:srgbClr val="000000"/>
                  </a:solidFill>
                  <a:latin typeface="Arial" panose="020B0604020202020204"/>
                  <a:ea typeface="黑体" panose="02010609060101010101" pitchFamily="49" charset="-122"/>
                  <a:cs typeface="Calibri" panose="020F0502020204030204" pitchFamily="34" charset="0"/>
                </a:rPr>
                <a:t>Best Equity Bank (Asia Pacific)</a:t>
              </a:r>
            </a:p>
            <a:p>
              <a:pPr algn="ctr" defTabSz="685817" eaLnBrk="0" fontAlgn="auto" hangingPunct="0">
                <a:spcBef>
                  <a:spcPts val="0"/>
                </a:spcBef>
                <a:spcAft>
                  <a:spcPts val="0"/>
                </a:spcAft>
                <a:buClr>
                  <a:srgbClr val="C00000"/>
                </a:buClr>
                <a:tabLst>
                  <a:tab pos="2657541" algn="r"/>
                </a:tabLst>
                <a:defRPr/>
              </a:pPr>
              <a:r>
                <a:rPr lang="en-US" altLang="zh-CN" sz="700" b="0" kern="0">
                  <a:solidFill>
                    <a:srgbClr val="C00000"/>
                  </a:solidFill>
                  <a:latin typeface="Arial" panose="020B0604020202020204"/>
                  <a:ea typeface="黑体" panose="02010609060101010101" pitchFamily="49" charset="-122"/>
                  <a:cs typeface="Calibri" panose="020F0502020204030204" pitchFamily="34" charset="0"/>
                </a:rPr>
                <a:t>2</a:t>
              </a:r>
              <a:r>
                <a:rPr lang="en-US" altLang="zh-CN" sz="700" b="0" kern="0" baseline="30000">
                  <a:solidFill>
                    <a:srgbClr val="C00000"/>
                  </a:solidFill>
                  <a:latin typeface="Arial" panose="020B0604020202020204"/>
                  <a:ea typeface="黑体" panose="02010609060101010101" pitchFamily="49" charset="-122"/>
                  <a:cs typeface="Calibri" panose="020F0502020204030204" pitchFamily="34" charset="0"/>
                </a:rPr>
                <a:t>nd </a:t>
              </a:r>
              <a:r>
                <a:rPr lang="en-US" altLang="zh-CN" sz="700" b="0" kern="0">
                  <a:solidFill>
                    <a:srgbClr val="C00000"/>
                  </a:solidFill>
                  <a:latin typeface="Arial" panose="020B0604020202020204"/>
                  <a:ea typeface="黑体" panose="02010609060101010101" pitchFamily="49" charset="-122"/>
                  <a:cs typeface="Calibri" panose="020F0502020204030204" pitchFamily="34" charset="0"/>
                </a:rPr>
                <a:t>Win</a:t>
              </a:r>
            </a:p>
          </p:txBody>
        </p:sp>
        <p:pic>
          <p:nvPicPr>
            <p:cNvPr id="126" name="Picture 125" descr="A globe with text overlay&#10;&#10;AI-generated content may be incorrect.">
              <a:extLst>
                <a:ext uri="{FF2B5EF4-FFF2-40B4-BE49-F238E27FC236}">
                  <a16:creationId xmlns:a16="http://schemas.microsoft.com/office/drawing/2014/main" id="{111330D4-94CD-11C7-3C92-FED20EC2BC1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86086" y="5210073"/>
              <a:ext cx="331159" cy="387246"/>
            </a:xfrm>
            <a:prstGeom prst="rect">
              <a:avLst/>
            </a:prstGeom>
          </p:spPr>
        </p:pic>
      </p:grpSp>
      <p:grpSp>
        <p:nvGrpSpPr>
          <p:cNvPr id="127" name="Group 126">
            <a:extLst>
              <a:ext uri="{FF2B5EF4-FFF2-40B4-BE49-F238E27FC236}">
                <a16:creationId xmlns:a16="http://schemas.microsoft.com/office/drawing/2014/main" id="{267FA124-98F8-67A2-DC69-41CD43F3E22A}"/>
              </a:ext>
            </a:extLst>
          </p:cNvPr>
          <p:cNvGrpSpPr/>
          <p:nvPr/>
        </p:nvGrpSpPr>
        <p:grpSpPr>
          <a:xfrm>
            <a:off x="2725416" y="3627159"/>
            <a:ext cx="1045702" cy="1134364"/>
            <a:chOff x="3557294" y="3924479"/>
            <a:chExt cx="936292" cy="1015679"/>
          </a:xfrm>
        </p:grpSpPr>
        <p:pic>
          <p:nvPicPr>
            <p:cNvPr id="128" name="Picture 127" descr="Picture1.png">
              <a:extLst>
                <a:ext uri="{FF2B5EF4-FFF2-40B4-BE49-F238E27FC236}">
                  <a16:creationId xmlns:a16="http://schemas.microsoft.com/office/drawing/2014/main" id="{1E819720-2810-2D84-F95D-1563ED13DC81}"/>
                </a:ext>
              </a:extLst>
            </p:cNvPr>
            <p:cNvPicPr>
              <a:picLocks noChangeAspect="1"/>
            </p:cNvPicPr>
            <p:nvPr/>
          </p:nvPicPr>
          <p:blipFill>
            <a:blip r:embed="rId3" cstate="print"/>
            <a:stretch>
              <a:fillRect/>
            </a:stretch>
          </p:blipFill>
          <p:spPr>
            <a:xfrm>
              <a:off x="3557294" y="4130821"/>
              <a:ext cx="936292" cy="809337"/>
            </a:xfrm>
            <a:prstGeom prst="rect">
              <a:avLst/>
            </a:prstGeom>
          </p:spPr>
        </p:pic>
        <p:sp>
          <p:nvSpPr>
            <p:cNvPr id="129" name="Rectangle 127">
              <a:extLst>
                <a:ext uri="{FF2B5EF4-FFF2-40B4-BE49-F238E27FC236}">
                  <a16:creationId xmlns:a16="http://schemas.microsoft.com/office/drawing/2014/main" id="{087BDCB1-1FEE-122F-F320-BD018CD46B2C}"/>
                </a:ext>
              </a:extLst>
            </p:cNvPr>
            <p:cNvSpPr>
              <a:spLocks noChangeArrowheads="1"/>
            </p:cNvSpPr>
            <p:nvPr/>
          </p:nvSpPr>
          <p:spPr bwMode="gray">
            <a:xfrm>
              <a:off x="3673398" y="4342153"/>
              <a:ext cx="704084" cy="441123"/>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US" altLang="zh-CN" sz="700" b="0">
                  <a:solidFill>
                    <a:srgbClr val="000000"/>
                  </a:solidFill>
                  <a:latin typeface="Arial" panose="020B0604020202020204"/>
                  <a:ea typeface="黑体" panose="02010609060101010101" pitchFamily="49" charset="-122"/>
                  <a:cs typeface="Calibri" panose="020F0502020204030204" pitchFamily="34" charset="0"/>
                </a:rPr>
                <a:t>2025</a:t>
              </a:r>
            </a:p>
            <a:p>
              <a:pPr algn="ctr" defTabSz="685817" eaLnBrk="0" hangingPunct="0">
                <a:buClr>
                  <a:srgbClr val="C00000"/>
                </a:buClr>
                <a:tabLst>
                  <a:tab pos="2657541" algn="r"/>
                </a:tabLst>
                <a:defRPr/>
              </a:pPr>
              <a:r>
                <a:rPr lang="en-US" altLang="zh-CN" sz="700" b="0">
                  <a:solidFill>
                    <a:srgbClr val="000000"/>
                  </a:solidFill>
                  <a:latin typeface="Arial" panose="020B0604020202020204"/>
                  <a:ea typeface="黑体" panose="02010609060101010101" pitchFamily="49" charset="-122"/>
                  <a:cs typeface="Calibri" panose="020F0502020204030204" pitchFamily="34" charset="0"/>
                </a:rPr>
                <a:t>Best Investment Bank</a:t>
              </a:r>
            </a:p>
            <a:p>
              <a:pPr algn="ctr" defTabSz="685817" eaLnBrk="0" hangingPunct="0">
                <a:buClr>
                  <a:srgbClr val="C00000"/>
                </a:buClr>
                <a:tabLst>
                  <a:tab pos="2657541" algn="r"/>
                </a:tabLst>
                <a:defRPr/>
              </a:pPr>
              <a:r>
                <a:rPr lang="en-US" altLang="zh-CN" sz="700" b="0">
                  <a:solidFill>
                    <a:srgbClr val="000000"/>
                  </a:solidFill>
                  <a:latin typeface="Arial" panose="020B0604020202020204"/>
                  <a:ea typeface="黑体" panose="02010609060101010101" pitchFamily="49" charset="-122"/>
                  <a:cs typeface="Calibri" panose="020F0502020204030204" pitchFamily="34" charset="0"/>
                </a:rPr>
                <a:t>(Singapore</a:t>
              </a:r>
              <a:r>
                <a:rPr lang="en-US" altLang="zh-CN" sz="700" b="0">
                  <a:solidFill>
                    <a:srgbClr val="000000"/>
                  </a:solidFill>
                  <a:latin typeface="Arial" panose="020B0604020202020204"/>
                  <a:ea typeface="黑体" panose="02010609060101010101" pitchFamily="49" charset="-122"/>
                  <a:cs typeface="DFKaiShu-GB5" pitchFamily="65" charset="-128"/>
                </a:rPr>
                <a:t>)</a:t>
              </a:r>
            </a:p>
            <a:p>
              <a:pPr algn="ctr" defTabSz="685817" eaLnBrk="0" hangingPunct="0">
                <a:buClr>
                  <a:srgbClr val="C00000"/>
                </a:buClr>
                <a:tabLst>
                  <a:tab pos="2657541" algn="r"/>
                </a:tabLst>
                <a:defRPr/>
              </a:pPr>
              <a:r>
                <a:rPr lang="en-US" altLang="zh-CN" sz="700" b="0">
                  <a:solidFill>
                    <a:srgbClr val="CC0000"/>
                  </a:solidFill>
                  <a:latin typeface="Arial" panose="020B0604020202020204"/>
                  <a:ea typeface="黑体" panose="02010609060101010101" pitchFamily="49" charset="-122"/>
                  <a:cs typeface="DFKaiShu-GB5" pitchFamily="65" charset="-128"/>
                </a:rPr>
                <a:t>11</a:t>
              </a:r>
              <a:r>
                <a:rPr lang="en-US" altLang="zh-CN" sz="700" b="0" baseline="30000">
                  <a:solidFill>
                    <a:srgbClr val="CC0000"/>
                  </a:solidFill>
                  <a:latin typeface="Arial" panose="020B0604020202020204"/>
                  <a:ea typeface="黑体" panose="02010609060101010101" pitchFamily="49" charset="-122"/>
                  <a:cs typeface="DFKaiShu-GB5" pitchFamily="65" charset="-128"/>
                </a:rPr>
                <a:t>th</a:t>
              </a:r>
              <a:r>
                <a:rPr lang="en-US" altLang="zh-CN" sz="700" b="0">
                  <a:solidFill>
                    <a:srgbClr val="CC0000"/>
                  </a:solidFill>
                  <a:latin typeface="Arial" panose="020B0604020202020204"/>
                  <a:ea typeface="黑体" panose="02010609060101010101" pitchFamily="49" charset="-122"/>
                  <a:cs typeface="DFKaiShu-GB5" pitchFamily="65" charset="-128"/>
                </a:rPr>
                <a:t> Win</a:t>
              </a:r>
              <a:endParaRPr lang="en-US" altLang="zh-CN" sz="700" b="0">
                <a:solidFill>
                  <a:srgbClr val="C00000"/>
                </a:solidFill>
                <a:latin typeface="Arial" panose="020B0604020202020204"/>
                <a:ea typeface="黑体" panose="02010609060101010101" pitchFamily="49" charset="-122"/>
                <a:cs typeface="DFKaiShu-GB5" pitchFamily="65" charset="-128"/>
              </a:endParaRPr>
            </a:p>
          </p:txBody>
        </p:sp>
        <p:pic>
          <p:nvPicPr>
            <p:cNvPr id="130" name="Picture 129" descr="A globe with text overlay&#10;&#10;AI-generated content may be incorrect.">
              <a:extLst>
                <a:ext uri="{FF2B5EF4-FFF2-40B4-BE49-F238E27FC236}">
                  <a16:creationId xmlns:a16="http://schemas.microsoft.com/office/drawing/2014/main" id="{6A5DFB82-91CF-2DDF-4895-1ECD8FF4F7F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861502" y="3924479"/>
              <a:ext cx="331159" cy="387246"/>
            </a:xfrm>
            <a:prstGeom prst="rect">
              <a:avLst/>
            </a:prstGeom>
          </p:spPr>
        </p:pic>
      </p:grpSp>
      <p:grpSp>
        <p:nvGrpSpPr>
          <p:cNvPr id="131" name="Group 130">
            <a:extLst>
              <a:ext uri="{FF2B5EF4-FFF2-40B4-BE49-F238E27FC236}">
                <a16:creationId xmlns:a16="http://schemas.microsoft.com/office/drawing/2014/main" id="{73454C68-032D-591B-E606-F72A044E62FE}"/>
              </a:ext>
            </a:extLst>
          </p:cNvPr>
          <p:cNvGrpSpPr/>
          <p:nvPr/>
        </p:nvGrpSpPr>
        <p:grpSpPr>
          <a:xfrm>
            <a:off x="3861905" y="3590723"/>
            <a:ext cx="1045702" cy="1170800"/>
            <a:chOff x="4548881" y="3891741"/>
            <a:chExt cx="936292" cy="1048303"/>
          </a:xfrm>
        </p:grpSpPr>
        <p:pic>
          <p:nvPicPr>
            <p:cNvPr id="132" name="Picture 131" descr="Picture1.png">
              <a:extLst>
                <a:ext uri="{FF2B5EF4-FFF2-40B4-BE49-F238E27FC236}">
                  <a16:creationId xmlns:a16="http://schemas.microsoft.com/office/drawing/2014/main" id="{9B7C0BC4-A828-C0C7-A6EB-1DD1152DCBCF}"/>
                </a:ext>
              </a:extLst>
            </p:cNvPr>
            <p:cNvPicPr>
              <a:picLocks noChangeAspect="1"/>
            </p:cNvPicPr>
            <p:nvPr/>
          </p:nvPicPr>
          <p:blipFill>
            <a:blip r:embed="rId3" cstate="print"/>
            <a:stretch>
              <a:fillRect/>
            </a:stretch>
          </p:blipFill>
          <p:spPr>
            <a:xfrm>
              <a:off x="4548881" y="4130707"/>
              <a:ext cx="936292" cy="809337"/>
            </a:xfrm>
            <a:prstGeom prst="rect">
              <a:avLst/>
            </a:prstGeom>
          </p:spPr>
        </p:pic>
        <p:sp>
          <p:nvSpPr>
            <p:cNvPr id="133" name="Rectangle 127">
              <a:extLst>
                <a:ext uri="{FF2B5EF4-FFF2-40B4-BE49-F238E27FC236}">
                  <a16:creationId xmlns:a16="http://schemas.microsoft.com/office/drawing/2014/main" id="{D3A3C3A0-E4D9-F86B-BC68-D3912AB854F7}"/>
                </a:ext>
              </a:extLst>
            </p:cNvPr>
            <p:cNvSpPr>
              <a:spLocks noChangeArrowheads="1"/>
            </p:cNvSpPr>
            <p:nvPr/>
          </p:nvSpPr>
          <p:spPr bwMode="gray">
            <a:xfrm>
              <a:off x="4664986" y="4285018"/>
              <a:ext cx="704084" cy="482256"/>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US" altLang="zh-CN" sz="700" b="0">
                  <a:solidFill>
                    <a:srgbClr val="000000"/>
                  </a:solidFill>
                  <a:latin typeface="Arial" panose="020B0604020202020204"/>
                  <a:ea typeface="黑体" panose="02010609060101010101" pitchFamily="49" charset="-122"/>
                  <a:cs typeface="DFKaiShu-GB5" pitchFamily="65" charset="-128"/>
                </a:rPr>
                <a:t>2025</a:t>
              </a:r>
            </a:p>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a:cs typeface="DFKaiShu-GB5" pitchFamily="65" charset="-128"/>
                </a:rPr>
                <a:t>Best Investment</a:t>
              </a:r>
              <a:br>
                <a:rPr lang="en-SG" altLang="zh-CN" sz="700" b="0">
                  <a:latin typeface="Arial" panose="020B0604020202020204"/>
                  <a:ea typeface="黑体" panose="02010609060101010101" pitchFamily="49" charset="-122"/>
                  <a:cs typeface="DFKaiShu-GB5" pitchFamily="65" charset="-128"/>
                </a:rPr>
              </a:br>
              <a:r>
                <a:rPr lang="en-SG" altLang="zh-CN" sz="700" b="0">
                  <a:solidFill>
                    <a:srgbClr val="000000"/>
                  </a:solidFill>
                  <a:latin typeface="Arial" panose="020B0604020202020204"/>
                  <a:ea typeface="黑体"/>
                  <a:cs typeface="DFKaiShu-GB5" pitchFamily="65" charset="-128"/>
                </a:rPr>
                <a:t>Bank</a:t>
              </a:r>
            </a:p>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(Singapore)</a:t>
              </a:r>
            </a:p>
            <a:p>
              <a:pPr algn="ctr" defTabSz="685817" eaLnBrk="0" hangingPunct="0">
                <a:buClr>
                  <a:srgbClr val="C00000"/>
                </a:buClr>
                <a:tabLst>
                  <a:tab pos="2657541" algn="r"/>
                </a:tabLst>
                <a:defRPr/>
              </a:pPr>
              <a:r>
                <a:rPr lang="en-US" altLang="zh-CN" sz="700" b="0">
                  <a:solidFill>
                    <a:srgbClr val="C00000"/>
                  </a:solidFill>
                  <a:latin typeface="Arial" panose="020B0604020202020204"/>
                  <a:ea typeface="黑体"/>
                  <a:cs typeface="DFKaiShu-GB5" pitchFamily="65" charset="-128"/>
                </a:rPr>
                <a:t>7</a:t>
              </a:r>
              <a:r>
                <a:rPr lang="en-US" altLang="zh-CN" sz="700" b="0" baseline="30000">
                  <a:solidFill>
                    <a:srgbClr val="C00000"/>
                  </a:solidFill>
                  <a:latin typeface="Arial" panose="020B0604020202020204"/>
                  <a:ea typeface="黑体"/>
                  <a:cs typeface="DFKaiShu-GB5" pitchFamily="65" charset="-128"/>
                </a:rPr>
                <a:t>th </a:t>
              </a:r>
              <a:r>
                <a:rPr lang="en-US" altLang="zh-CN" sz="700" b="0">
                  <a:solidFill>
                    <a:srgbClr val="C00000"/>
                  </a:solidFill>
                  <a:latin typeface="Arial" panose="020B0604020202020204"/>
                  <a:ea typeface="黑体"/>
                  <a:cs typeface="DFKaiShu-GB5" pitchFamily="65" charset="-128"/>
                </a:rPr>
                <a:t>Win</a:t>
              </a:r>
              <a:r>
                <a:rPr lang="en-US" altLang="zh-CN" sz="700" b="0" baseline="30000">
                  <a:solidFill>
                    <a:srgbClr val="C00000"/>
                  </a:solidFill>
                  <a:latin typeface="Arial" panose="020B0604020202020204"/>
                  <a:ea typeface="黑体"/>
                  <a:cs typeface="DFKaiShu-GB5" pitchFamily="65" charset="-128"/>
                </a:rPr>
                <a:t>(1)</a:t>
              </a:r>
              <a:endParaRPr lang="en-US" altLang="zh-CN" sz="700" b="0">
                <a:solidFill>
                  <a:srgbClr val="C00000"/>
                </a:solidFill>
                <a:latin typeface="Arial" panose="020B0604020202020204"/>
                <a:ea typeface="黑体"/>
                <a:cs typeface="DFKaiShu-GB5" pitchFamily="65" charset="-128"/>
              </a:endParaRPr>
            </a:p>
          </p:txBody>
        </p:sp>
        <p:pic>
          <p:nvPicPr>
            <p:cNvPr id="134" name="Picture 133">
              <a:extLst>
                <a:ext uri="{FF2B5EF4-FFF2-40B4-BE49-F238E27FC236}">
                  <a16:creationId xmlns:a16="http://schemas.microsoft.com/office/drawing/2014/main" id="{950B01B5-B876-D1E5-9814-685A3482164C}"/>
                </a:ext>
              </a:extLst>
            </p:cNvPr>
            <p:cNvPicPr>
              <a:picLocks noChangeAspect="1"/>
            </p:cNvPicPr>
            <p:nvPr/>
          </p:nvPicPr>
          <p:blipFill>
            <a:blip r:embed="rId13"/>
            <a:stretch>
              <a:fillRect/>
            </a:stretch>
          </p:blipFill>
          <p:spPr>
            <a:xfrm>
              <a:off x="4752975" y="3891741"/>
              <a:ext cx="566737" cy="335772"/>
            </a:xfrm>
            <a:prstGeom prst="rect">
              <a:avLst/>
            </a:prstGeom>
          </p:spPr>
        </p:pic>
      </p:grpSp>
      <p:grpSp>
        <p:nvGrpSpPr>
          <p:cNvPr id="135" name="Group 134">
            <a:extLst>
              <a:ext uri="{FF2B5EF4-FFF2-40B4-BE49-F238E27FC236}">
                <a16:creationId xmlns:a16="http://schemas.microsoft.com/office/drawing/2014/main" id="{D20A6B90-97EB-E857-06FD-F29E3B4E3A2D}"/>
              </a:ext>
            </a:extLst>
          </p:cNvPr>
          <p:cNvGrpSpPr/>
          <p:nvPr/>
        </p:nvGrpSpPr>
        <p:grpSpPr>
          <a:xfrm>
            <a:off x="3861905" y="5066249"/>
            <a:ext cx="1045702" cy="1048396"/>
            <a:chOff x="4477054" y="5328604"/>
            <a:chExt cx="936292" cy="938704"/>
          </a:xfrm>
        </p:grpSpPr>
        <p:pic>
          <p:nvPicPr>
            <p:cNvPr id="136" name="Picture 135" descr="Picture1.png">
              <a:extLst>
                <a:ext uri="{FF2B5EF4-FFF2-40B4-BE49-F238E27FC236}">
                  <a16:creationId xmlns:a16="http://schemas.microsoft.com/office/drawing/2014/main" id="{6656B4D6-49BC-E586-72F7-9357C076AF0D}"/>
                </a:ext>
              </a:extLst>
            </p:cNvPr>
            <p:cNvPicPr>
              <a:picLocks noChangeAspect="1"/>
            </p:cNvPicPr>
            <p:nvPr/>
          </p:nvPicPr>
          <p:blipFill>
            <a:blip r:embed="rId3" cstate="print"/>
            <a:stretch>
              <a:fillRect/>
            </a:stretch>
          </p:blipFill>
          <p:spPr>
            <a:xfrm>
              <a:off x="4477054" y="5457971"/>
              <a:ext cx="936292" cy="809337"/>
            </a:xfrm>
            <a:prstGeom prst="rect">
              <a:avLst/>
            </a:prstGeom>
          </p:spPr>
        </p:pic>
        <p:pic>
          <p:nvPicPr>
            <p:cNvPr id="137" name="Picture 136">
              <a:extLst>
                <a:ext uri="{FF2B5EF4-FFF2-40B4-BE49-F238E27FC236}">
                  <a16:creationId xmlns:a16="http://schemas.microsoft.com/office/drawing/2014/main" id="{E48CD8E2-9568-1960-6825-048F08106F72}"/>
                </a:ext>
              </a:extLst>
            </p:cNvPr>
            <p:cNvPicPr>
              <a:picLocks noChangeAspect="1"/>
            </p:cNvPicPr>
            <p:nvPr/>
          </p:nvPicPr>
          <p:blipFill rotWithShape="1">
            <a:blip r:embed="rId11"/>
            <a:srcRect l="-1" t="35921" r="1457" b="36008"/>
            <a:stretch/>
          </p:blipFill>
          <p:spPr>
            <a:xfrm>
              <a:off x="4587449" y="5328604"/>
              <a:ext cx="715503" cy="215651"/>
            </a:xfrm>
            <a:prstGeom prst="rect">
              <a:avLst/>
            </a:prstGeom>
          </p:spPr>
        </p:pic>
        <p:sp>
          <p:nvSpPr>
            <p:cNvPr id="138" name="Rectangle 127">
              <a:extLst>
                <a:ext uri="{FF2B5EF4-FFF2-40B4-BE49-F238E27FC236}">
                  <a16:creationId xmlns:a16="http://schemas.microsoft.com/office/drawing/2014/main" id="{60BA48D4-34EC-FE10-9767-EF9F768122A4}"/>
                </a:ext>
              </a:extLst>
            </p:cNvPr>
            <p:cNvSpPr>
              <a:spLocks noChangeArrowheads="1"/>
            </p:cNvSpPr>
            <p:nvPr/>
          </p:nvSpPr>
          <p:spPr bwMode="gray">
            <a:xfrm>
              <a:off x="4589188" y="5664996"/>
              <a:ext cx="704084" cy="352897"/>
            </a:xfrm>
            <a:prstGeom prst="rect">
              <a:avLst/>
            </a:prstGeom>
            <a:noFill/>
            <a:ln w="9525">
              <a:noFill/>
              <a:miter lim="800000"/>
              <a:headEnd/>
              <a:tailEnd/>
            </a:ln>
            <a:effectLst/>
          </p:spPr>
          <p:txBody>
            <a:bodyPr wrap="square" lIns="0" tIns="0" rIns="0" bIns="0" anchor="ctr" anchorCtr="0">
              <a:spAutoFit/>
            </a:bodyPr>
            <a:lstStyle/>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2025</a:t>
              </a:r>
              <a:endParaRPr lang="en-US" altLang="zh-CN" sz="700" b="0" kern="0">
                <a:solidFill>
                  <a:srgbClr val="000000"/>
                </a:solidFill>
                <a:latin typeface="Arial" panose="020B0604020202020204"/>
                <a:ea typeface="黑体" panose="02010609060101010101" pitchFamily="49" charset="-122"/>
                <a:cs typeface="DFKaiShu-GB5" pitchFamily="65" charset="-128"/>
              </a:endParaRP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Investment Bank </a:t>
              </a: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of the Year </a:t>
              </a:r>
            </a:p>
            <a:p>
              <a:pPr algn="ctr" defTabSz="685817" eaLnBrk="0" fontAlgn="auto" hangingPunct="0">
                <a:spcBef>
                  <a:spcPts val="0"/>
                </a:spcBef>
                <a:spcAft>
                  <a:spcPts val="0"/>
                </a:spcAft>
                <a:buClr>
                  <a:srgbClr val="C00000"/>
                </a:buClr>
                <a:tabLst>
                  <a:tab pos="2657541" algn="r"/>
                </a:tabLst>
                <a:defRPr/>
              </a:pPr>
              <a:r>
                <a:rPr lang="en-SG" altLang="zh-CN" sz="700" b="0" kern="0">
                  <a:solidFill>
                    <a:srgbClr val="000000"/>
                  </a:solidFill>
                  <a:latin typeface="Arial" panose="020B0604020202020204"/>
                  <a:ea typeface="黑体" panose="02010609060101010101" pitchFamily="49" charset="-122"/>
                  <a:cs typeface="DFKaiShu-GB5" pitchFamily="65" charset="-128"/>
                </a:rPr>
                <a:t>(FIG)</a:t>
              </a:r>
            </a:p>
          </p:txBody>
        </p:sp>
      </p:grpSp>
      <p:grpSp>
        <p:nvGrpSpPr>
          <p:cNvPr id="139" name="Group 138">
            <a:extLst>
              <a:ext uri="{FF2B5EF4-FFF2-40B4-BE49-F238E27FC236}">
                <a16:creationId xmlns:a16="http://schemas.microsoft.com/office/drawing/2014/main" id="{42CDF2DB-66C7-6D82-ACFC-265D1BEC5866}"/>
              </a:ext>
            </a:extLst>
          </p:cNvPr>
          <p:cNvGrpSpPr/>
          <p:nvPr/>
        </p:nvGrpSpPr>
        <p:grpSpPr>
          <a:xfrm>
            <a:off x="2725416" y="5070749"/>
            <a:ext cx="1045702" cy="1043896"/>
            <a:chOff x="3532881" y="5313582"/>
            <a:chExt cx="936292" cy="934676"/>
          </a:xfrm>
        </p:grpSpPr>
        <p:pic>
          <p:nvPicPr>
            <p:cNvPr id="140" name="Picture 139" descr="Picture1.png">
              <a:extLst>
                <a:ext uri="{FF2B5EF4-FFF2-40B4-BE49-F238E27FC236}">
                  <a16:creationId xmlns:a16="http://schemas.microsoft.com/office/drawing/2014/main" id="{CECF3A7A-DCC2-75D7-70BB-A394FFC977BD}"/>
                </a:ext>
              </a:extLst>
            </p:cNvPr>
            <p:cNvPicPr>
              <a:picLocks noChangeAspect="1"/>
            </p:cNvPicPr>
            <p:nvPr/>
          </p:nvPicPr>
          <p:blipFill>
            <a:blip r:embed="rId3" cstate="print"/>
            <a:stretch>
              <a:fillRect/>
            </a:stretch>
          </p:blipFill>
          <p:spPr>
            <a:xfrm>
              <a:off x="3532881" y="5438921"/>
              <a:ext cx="936292" cy="809337"/>
            </a:xfrm>
            <a:prstGeom prst="rect">
              <a:avLst/>
            </a:prstGeom>
          </p:spPr>
        </p:pic>
        <p:pic>
          <p:nvPicPr>
            <p:cNvPr id="141" name="Picture 12" descr="Image result for finance asia">
              <a:extLst>
                <a:ext uri="{FF2B5EF4-FFF2-40B4-BE49-F238E27FC236}">
                  <a16:creationId xmlns:a16="http://schemas.microsoft.com/office/drawing/2014/main" id="{BDAA7F99-DBE7-A2E6-D90C-CA5F2AC093B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96900" y="5313582"/>
              <a:ext cx="608256" cy="279573"/>
            </a:xfrm>
            <a:prstGeom prst="rect">
              <a:avLst/>
            </a:prstGeom>
            <a:noFill/>
            <a:extLst>
              <a:ext uri="{909E8E84-426E-40DD-AFC4-6F175D3DCCD1}">
                <a14:hiddenFill xmlns:a14="http://schemas.microsoft.com/office/drawing/2010/main">
                  <a:solidFill>
                    <a:srgbClr val="FFFFFF"/>
                  </a:solidFill>
                </a14:hiddenFill>
              </a:ext>
            </a:extLst>
          </p:spPr>
        </p:pic>
        <p:sp>
          <p:nvSpPr>
            <p:cNvPr id="142" name="Rectangle 127">
              <a:extLst>
                <a:ext uri="{FF2B5EF4-FFF2-40B4-BE49-F238E27FC236}">
                  <a16:creationId xmlns:a16="http://schemas.microsoft.com/office/drawing/2014/main" id="{E2E637AC-DFE7-F008-B25B-3BD00FE69DDC}"/>
                </a:ext>
              </a:extLst>
            </p:cNvPr>
            <p:cNvSpPr>
              <a:spLocks noChangeArrowheads="1"/>
            </p:cNvSpPr>
            <p:nvPr/>
          </p:nvSpPr>
          <p:spPr bwMode="gray">
            <a:xfrm>
              <a:off x="3648986" y="5662612"/>
              <a:ext cx="704084" cy="352898"/>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2025</a:t>
              </a:r>
              <a:endParaRPr lang="en-US" altLang="zh-CN" sz="700" b="0">
                <a:solidFill>
                  <a:srgbClr val="000000"/>
                </a:solidFill>
                <a:latin typeface="Arial" panose="020B0604020202020204"/>
                <a:ea typeface="黑体" panose="02010609060101010101" pitchFamily="49" charset="-122"/>
                <a:cs typeface="DFKaiShu-GB5" pitchFamily="65" charset="-128"/>
              </a:endParaRPr>
            </a:p>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Best ECM House</a:t>
              </a:r>
            </a:p>
            <a:p>
              <a:pPr algn="ctr" defTabSz="685817" eaLnBrk="0" hangingPunct="0">
                <a:buClr>
                  <a:srgbClr val="C00000"/>
                </a:buClr>
                <a:tabLst>
                  <a:tab pos="2657541" algn="r"/>
                </a:tabLst>
                <a:defRPr/>
              </a:pPr>
              <a:r>
                <a:rPr lang="en-SG" altLang="zh-CN" sz="700" b="0">
                  <a:solidFill>
                    <a:srgbClr val="000000"/>
                  </a:solidFill>
                  <a:latin typeface="Arial" panose="020B0604020202020204"/>
                  <a:ea typeface="黑体" panose="02010609060101010101" pitchFamily="49" charset="-122"/>
                  <a:cs typeface="DFKaiShu-GB5" pitchFamily="65" charset="-128"/>
                </a:rPr>
                <a:t>(Singapore)</a:t>
              </a:r>
            </a:p>
            <a:p>
              <a:pPr algn="ctr" defTabSz="685817" eaLnBrk="0" hangingPunct="0">
                <a:buClr>
                  <a:srgbClr val="C00000"/>
                </a:buClr>
                <a:tabLst>
                  <a:tab pos="2657541" algn="r"/>
                </a:tabLst>
                <a:defRPr/>
              </a:pPr>
              <a:r>
                <a:rPr lang="en-US" altLang="zh-CN" sz="700" b="0">
                  <a:solidFill>
                    <a:srgbClr val="C00000"/>
                  </a:solidFill>
                  <a:latin typeface="Arial" panose="020B0604020202020204"/>
                  <a:ea typeface="黑体" panose="02010609060101010101" pitchFamily="49" charset="-122"/>
                  <a:cs typeface="DFKaiShu-GB5" pitchFamily="65" charset="-128"/>
                </a:rPr>
                <a:t>19</a:t>
              </a:r>
              <a:r>
                <a:rPr lang="en-US" altLang="zh-CN" sz="700" b="0" baseline="30000">
                  <a:solidFill>
                    <a:srgbClr val="C00000"/>
                  </a:solidFill>
                  <a:latin typeface="Arial" panose="020B0604020202020204"/>
                  <a:ea typeface="黑体" panose="02010609060101010101" pitchFamily="49" charset="-122"/>
                  <a:cs typeface="DFKaiShu-GB5" pitchFamily="65" charset="-128"/>
                </a:rPr>
                <a:t>th</a:t>
              </a:r>
              <a:r>
                <a:rPr lang="en-US" altLang="zh-CN" sz="700" b="0">
                  <a:solidFill>
                    <a:srgbClr val="C00000"/>
                  </a:solidFill>
                  <a:latin typeface="Arial" panose="020B0604020202020204"/>
                  <a:ea typeface="黑体" panose="02010609060101010101" pitchFamily="49" charset="-122"/>
                  <a:cs typeface="DFKaiShu-GB5" pitchFamily="65" charset="-128"/>
                </a:rPr>
                <a:t> Win</a:t>
              </a:r>
            </a:p>
          </p:txBody>
        </p:sp>
      </p:grpSp>
      <p:grpSp>
        <p:nvGrpSpPr>
          <p:cNvPr id="143" name="Group 142">
            <a:extLst>
              <a:ext uri="{FF2B5EF4-FFF2-40B4-BE49-F238E27FC236}">
                <a16:creationId xmlns:a16="http://schemas.microsoft.com/office/drawing/2014/main" id="{EC5F6EEE-1E14-5830-951C-FF29BEE1FA38}"/>
              </a:ext>
            </a:extLst>
          </p:cNvPr>
          <p:cNvGrpSpPr/>
          <p:nvPr/>
        </p:nvGrpSpPr>
        <p:grpSpPr>
          <a:xfrm>
            <a:off x="6134883" y="3566247"/>
            <a:ext cx="1045702" cy="1195276"/>
            <a:chOff x="5562037" y="5100138"/>
            <a:chExt cx="1045702" cy="1195276"/>
          </a:xfrm>
        </p:grpSpPr>
        <p:grpSp>
          <p:nvGrpSpPr>
            <p:cNvPr id="144" name="Group 143">
              <a:extLst>
                <a:ext uri="{FF2B5EF4-FFF2-40B4-BE49-F238E27FC236}">
                  <a16:creationId xmlns:a16="http://schemas.microsoft.com/office/drawing/2014/main" id="{93E9B6CD-110C-ACE4-B3E8-1510A9860E36}"/>
                </a:ext>
              </a:extLst>
            </p:cNvPr>
            <p:cNvGrpSpPr/>
            <p:nvPr/>
          </p:nvGrpSpPr>
          <p:grpSpPr>
            <a:xfrm>
              <a:off x="5562037" y="5391503"/>
              <a:ext cx="1045702" cy="903911"/>
              <a:chOff x="6660045" y="5451507"/>
              <a:chExt cx="936292" cy="809337"/>
            </a:xfrm>
          </p:grpSpPr>
          <p:pic>
            <p:nvPicPr>
              <p:cNvPr id="146" name="Picture 145" descr="Picture1.png">
                <a:extLst>
                  <a:ext uri="{FF2B5EF4-FFF2-40B4-BE49-F238E27FC236}">
                    <a16:creationId xmlns:a16="http://schemas.microsoft.com/office/drawing/2014/main" id="{7AEA9CC1-ACD8-6111-64E3-2CAF49569180}"/>
                  </a:ext>
                </a:extLst>
              </p:cNvPr>
              <p:cNvPicPr>
                <a:picLocks noChangeAspect="1"/>
              </p:cNvPicPr>
              <p:nvPr/>
            </p:nvPicPr>
            <p:blipFill>
              <a:blip r:embed="rId3" cstate="print"/>
              <a:stretch>
                <a:fillRect/>
              </a:stretch>
            </p:blipFill>
            <p:spPr>
              <a:xfrm>
                <a:off x="6660045" y="5451507"/>
                <a:ext cx="936292" cy="809337"/>
              </a:xfrm>
              <a:prstGeom prst="rect">
                <a:avLst/>
              </a:prstGeom>
            </p:spPr>
          </p:pic>
          <p:sp>
            <p:nvSpPr>
              <p:cNvPr id="147" name="Rectangle 127">
                <a:extLst>
                  <a:ext uri="{FF2B5EF4-FFF2-40B4-BE49-F238E27FC236}">
                    <a16:creationId xmlns:a16="http://schemas.microsoft.com/office/drawing/2014/main" id="{275ECE80-AC34-020D-C1CF-0AB295407B1F}"/>
                  </a:ext>
                </a:extLst>
              </p:cNvPr>
              <p:cNvSpPr>
                <a:spLocks noChangeArrowheads="1"/>
              </p:cNvSpPr>
              <p:nvPr/>
            </p:nvSpPr>
            <p:spPr bwMode="gray">
              <a:xfrm>
                <a:off x="6776148" y="5605818"/>
                <a:ext cx="704084" cy="482256"/>
              </a:xfrm>
              <a:prstGeom prst="rect">
                <a:avLst/>
              </a:prstGeom>
              <a:noFill/>
              <a:ln w="9525">
                <a:noFill/>
                <a:miter lim="800000"/>
                <a:headEnd/>
                <a:tailEnd/>
              </a:ln>
              <a:effectLst/>
            </p:spPr>
            <p:txBody>
              <a:bodyPr wrap="square" lIns="0" tIns="0" rIns="0" bIns="0" anchor="ctr" anchorCtr="0">
                <a:spAutoFit/>
              </a:bodyPr>
              <a:lstStyle/>
              <a:p>
                <a:pPr algn="ctr" defTabSz="844083">
                  <a:buClr>
                    <a:srgbClr val="C00000"/>
                  </a:buClr>
                  <a:tabLst>
                    <a:tab pos="3270820" algn="r"/>
                  </a:tabLst>
                </a:pPr>
                <a:r>
                  <a:rPr lang="en-US" altLang="zh-CN" sz="700" b="0">
                    <a:solidFill>
                      <a:srgbClr val="000000"/>
                    </a:solidFill>
                    <a:latin typeface="Arial"/>
                    <a:ea typeface="黑体"/>
                    <a:cs typeface="DFKaiShu-GB5" pitchFamily="65" charset="-128"/>
                  </a:rPr>
                  <a:t>2025</a:t>
                </a:r>
                <a:endParaRPr lang="en-US" altLang="zh-CN" sz="700" b="0">
                  <a:solidFill>
                    <a:srgbClr val="000000"/>
                  </a:solidFill>
                  <a:ea typeface="黑体" panose="02010609060101010101" pitchFamily="49" charset="-122"/>
                  <a:cs typeface="DFKaiShu-GB5" pitchFamily="65" charset="-128"/>
                </a:endParaRPr>
              </a:p>
              <a:p>
                <a:pPr algn="ctr" defTabSz="844083">
                  <a:buClr>
                    <a:srgbClr val="C00000"/>
                  </a:buClr>
                  <a:tabLst>
                    <a:tab pos="3270820" algn="r"/>
                  </a:tabLst>
                </a:pPr>
                <a:r>
                  <a:rPr lang="en-US" altLang="zh-CN" sz="700" b="0">
                    <a:solidFill>
                      <a:srgbClr val="000000"/>
                    </a:solidFill>
                    <a:latin typeface="Arial"/>
                    <a:ea typeface="黑体"/>
                    <a:cs typeface="DFKaiShu-GB5" pitchFamily="65" charset="-128"/>
                  </a:rPr>
                  <a:t>Best Bank for Sustainable Finance</a:t>
                </a:r>
              </a:p>
              <a:p>
                <a:pPr algn="ctr" defTabSz="844083">
                  <a:buClr>
                    <a:srgbClr val="C00000"/>
                  </a:buClr>
                  <a:tabLst>
                    <a:tab pos="3270820" algn="r"/>
                  </a:tabLst>
                </a:pPr>
                <a:r>
                  <a:rPr lang="en-US" altLang="zh-CN" sz="700" b="0">
                    <a:solidFill>
                      <a:srgbClr val="000000"/>
                    </a:solidFill>
                    <a:latin typeface="Arial"/>
                    <a:ea typeface="黑体"/>
                    <a:cs typeface="DFKaiShu-GB5" pitchFamily="65" charset="-128"/>
                  </a:rPr>
                  <a:t>(Asia-Pacific)</a:t>
                </a:r>
              </a:p>
            </p:txBody>
          </p:sp>
        </p:grpSp>
        <p:pic>
          <p:nvPicPr>
            <p:cNvPr id="145" name="Picture 144">
              <a:extLst>
                <a:ext uri="{FF2B5EF4-FFF2-40B4-BE49-F238E27FC236}">
                  <a16:creationId xmlns:a16="http://schemas.microsoft.com/office/drawing/2014/main" id="{F5612078-05B6-E3C4-BF8B-6678C0AB1575}"/>
                </a:ext>
              </a:extLst>
            </p:cNvPr>
            <p:cNvPicPr>
              <a:picLocks noChangeAspect="1"/>
            </p:cNvPicPr>
            <p:nvPr/>
          </p:nvPicPr>
          <p:blipFill>
            <a:blip r:embed="rId14"/>
            <a:stretch>
              <a:fillRect/>
            </a:stretch>
          </p:blipFill>
          <p:spPr>
            <a:xfrm>
              <a:off x="5910807" y="5100138"/>
              <a:ext cx="357914" cy="418012"/>
            </a:xfrm>
            <a:prstGeom prst="rect">
              <a:avLst/>
            </a:prstGeom>
          </p:spPr>
        </p:pic>
      </p:grpSp>
      <p:grpSp>
        <p:nvGrpSpPr>
          <p:cNvPr id="148" name="Group 147">
            <a:extLst>
              <a:ext uri="{FF2B5EF4-FFF2-40B4-BE49-F238E27FC236}">
                <a16:creationId xmlns:a16="http://schemas.microsoft.com/office/drawing/2014/main" id="{973E83D0-D002-BFC4-9D36-C8D285898598}"/>
              </a:ext>
            </a:extLst>
          </p:cNvPr>
          <p:cNvGrpSpPr/>
          <p:nvPr/>
        </p:nvGrpSpPr>
        <p:grpSpPr>
          <a:xfrm>
            <a:off x="6134883" y="4968237"/>
            <a:ext cx="1045702" cy="1146408"/>
            <a:chOff x="5541457" y="5247082"/>
            <a:chExt cx="936292" cy="1026462"/>
          </a:xfrm>
        </p:grpSpPr>
        <p:pic>
          <p:nvPicPr>
            <p:cNvPr id="149" name="Picture 148" descr="Picture1.png">
              <a:extLst>
                <a:ext uri="{FF2B5EF4-FFF2-40B4-BE49-F238E27FC236}">
                  <a16:creationId xmlns:a16="http://schemas.microsoft.com/office/drawing/2014/main" id="{EB870A3D-FABC-8F9B-326F-FE88ABD8D2C4}"/>
                </a:ext>
              </a:extLst>
            </p:cNvPr>
            <p:cNvPicPr>
              <a:picLocks noChangeAspect="1"/>
            </p:cNvPicPr>
            <p:nvPr/>
          </p:nvPicPr>
          <p:blipFill>
            <a:blip r:embed="rId3" cstate="print"/>
            <a:stretch>
              <a:fillRect/>
            </a:stretch>
          </p:blipFill>
          <p:spPr>
            <a:xfrm>
              <a:off x="5541457" y="5464207"/>
              <a:ext cx="936292" cy="809337"/>
            </a:xfrm>
            <a:prstGeom prst="rect">
              <a:avLst/>
            </a:prstGeom>
          </p:spPr>
        </p:pic>
        <p:sp>
          <p:nvSpPr>
            <p:cNvPr id="150" name="Rectangle 127">
              <a:extLst>
                <a:ext uri="{FF2B5EF4-FFF2-40B4-BE49-F238E27FC236}">
                  <a16:creationId xmlns:a16="http://schemas.microsoft.com/office/drawing/2014/main" id="{95406570-A694-B35A-3200-3482C129C6D9}"/>
                </a:ext>
              </a:extLst>
            </p:cNvPr>
            <p:cNvSpPr>
              <a:spLocks noChangeArrowheads="1"/>
            </p:cNvSpPr>
            <p:nvPr/>
          </p:nvSpPr>
          <p:spPr bwMode="gray">
            <a:xfrm>
              <a:off x="5657561" y="5522066"/>
              <a:ext cx="704084" cy="675158"/>
            </a:xfrm>
            <a:prstGeom prst="rect">
              <a:avLst/>
            </a:prstGeom>
            <a:noFill/>
            <a:ln w="9525">
              <a:noFill/>
              <a:miter lim="800000"/>
              <a:headEnd/>
              <a:tailEnd/>
            </a:ln>
            <a:effectLst/>
          </p:spPr>
          <p:txBody>
            <a:bodyPr wrap="square" lIns="0" tIns="0" rIns="0" bIns="0" anchor="ctr" anchorCtr="0">
              <a:spAutoFit/>
            </a:bodyPr>
            <a:lstStyle/>
            <a:p>
              <a:pPr algn="ctr" defTabSz="685817" eaLnBrk="0" hangingPunct="0">
                <a:spcBef>
                  <a:spcPts val="0"/>
                </a:spcBef>
                <a:spcAft>
                  <a:spcPts val="0"/>
                </a:spcAft>
                <a:buClr>
                  <a:srgbClr val="C00000"/>
                </a:buClr>
                <a:tabLst>
                  <a:tab pos="2657541" algn="r"/>
                </a:tabLst>
                <a:defRPr/>
              </a:pPr>
              <a:endParaRPr lang="en-US" altLang="zh-CN" sz="700" b="0">
                <a:solidFill>
                  <a:srgbClr val="000000"/>
                </a:solidFill>
                <a:latin typeface="Arial" panose="020B0604020202020204"/>
                <a:ea typeface="DFPKaiShu-GB5" panose="03000500000000000000" pitchFamily="66" charset="-128"/>
                <a:cs typeface="DFPKaiShu-GB5" panose="03000500000000000000" pitchFamily="66" charset="-128"/>
              </a:endParaRPr>
            </a:p>
            <a:p>
              <a:pPr algn="ctr" defTabSz="685817" eaLnBrk="0" hangingPunct="0">
                <a:spcBef>
                  <a:spcPts val="0"/>
                </a:spcBef>
                <a:spcAft>
                  <a:spcPts val="0"/>
                </a:spcAft>
                <a:buClr>
                  <a:srgbClr val="C00000"/>
                </a:buClr>
                <a:tabLst>
                  <a:tab pos="2657541" algn="r"/>
                </a:tabLst>
                <a:defRPr/>
              </a:pPr>
              <a:r>
                <a:rPr lang="en-US" altLang="zh-CN" sz="700" b="0">
                  <a:solidFill>
                    <a:srgbClr val="000000"/>
                  </a:solidFill>
                  <a:latin typeface="Arial" panose="020B0604020202020204"/>
                  <a:ea typeface="DFPKaiShu-GB5" panose="03000500000000000000" pitchFamily="66" charset="-128"/>
                  <a:cs typeface="DFPKaiShu-GB5" panose="03000500000000000000" pitchFamily="66" charset="-128"/>
                </a:rPr>
                <a:t>2024</a:t>
              </a:r>
            </a:p>
            <a:p>
              <a:pPr algn="ctr" defTabSz="685817" eaLnBrk="0" hangingPunct="0">
                <a:spcBef>
                  <a:spcPts val="0"/>
                </a:spcBef>
                <a:spcAft>
                  <a:spcPts val="0"/>
                </a:spcAft>
                <a:buClr>
                  <a:srgbClr val="C00000"/>
                </a:buClr>
                <a:tabLst>
                  <a:tab pos="2657541" algn="r"/>
                </a:tabLst>
                <a:defRPr/>
              </a:pPr>
              <a:r>
                <a:rPr lang="en-US" altLang="zh-CN" sz="700" b="0">
                  <a:solidFill>
                    <a:srgbClr val="000000"/>
                  </a:solidFill>
                  <a:latin typeface="Arial" panose="020B0604020202020204"/>
                  <a:ea typeface="DFPKaiShu-GB5" panose="03000500000000000000" pitchFamily="66" charset="-128"/>
                  <a:cs typeface="DFPKaiShu-GB5" panose="03000500000000000000" pitchFamily="66" charset="-128"/>
                </a:rPr>
                <a:t>Best </a:t>
              </a:r>
              <a:r>
                <a:rPr lang="en-US" altLang="zh-TW" sz="700" b="0">
                  <a:solidFill>
                    <a:srgbClr val="000000"/>
                  </a:solidFill>
                  <a:latin typeface="Arial" panose="020B0604020202020204"/>
                  <a:ea typeface="DFPKaiShu-GB5" panose="03000500000000000000" pitchFamily="66" charset="-128"/>
                  <a:cs typeface="DFPKaiShu-GB5" panose="03000500000000000000" pitchFamily="66" charset="-128"/>
                </a:rPr>
                <a:t>Equity House </a:t>
              </a:r>
              <a:r>
                <a:rPr lang="en-US" altLang="zh-CN" sz="700" b="0">
                  <a:solidFill>
                    <a:srgbClr val="000000"/>
                  </a:solidFill>
                  <a:latin typeface="Arial" panose="020B0604020202020204"/>
                  <a:ea typeface="DFPKaiShu-GB5" panose="03000500000000000000" pitchFamily="66" charset="-128"/>
                  <a:cs typeface="DFPKaiShu-GB5" panose="03000500000000000000" pitchFamily="66" charset="-128"/>
                </a:rPr>
                <a:t>(Singapore)</a:t>
              </a:r>
            </a:p>
            <a:p>
              <a:pPr algn="ctr" defTabSz="685817" eaLnBrk="0" hangingPunct="0">
                <a:buClr>
                  <a:srgbClr val="C00000"/>
                </a:buClr>
                <a:tabLst>
                  <a:tab pos="2657541" algn="r"/>
                </a:tabLst>
                <a:defRPr/>
              </a:pPr>
              <a:r>
                <a:rPr lang="en-US" altLang="zh-CN" sz="700" b="0">
                  <a:solidFill>
                    <a:srgbClr val="C00000"/>
                  </a:solidFill>
                  <a:latin typeface="Arial" panose="020B0604020202020204"/>
                  <a:ea typeface="黑体" panose="02010609060101010101" pitchFamily="49" charset="-122"/>
                  <a:cs typeface="DFKaiShu-GB5" pitchFamily="65" charset="-128"/>
                </a:rPr>
                <a:t>19</a:t>
              </a:r>
              <a:r>
                <a:rPr lang="en-US" altLang="zh-CN" sz="700" b="0" baseline="30000">
                  <a:solidFill>
                    <a:srgbClr val="C00000"/>
                  </a:solidFill>
                  <a:latin typeface="Arial" panose="020B0604020202020204"/>
                  <a:ea typeface="黑体" panose="02010609060101010101" pitchFamily="49" charset="-122"/>
                  <a:cs typeface="DFKaiShu-GB5" pitchFamily="65" charset="-128"/>
                </a:rPr>
                <a:t>th</a:t>
              </a:r>
              <a:r>
                <a:rPr lang="en-US" altLang="zh-CN" sz="700" b="0">
                  <a:solidFill>
                    <a:srgbClr val="C00000"/>
                  </a:solidFill>
                  <a:latin typeface="Arial" panose="020B0604020202020204"/>
                  <a:ea typeface="黑体" panose="02010609060101010101" pitchFamily="49" charset="-122"/>
                  <a:cs typeface="DFKaiShu-GB5" pitchFamily="65" charset="-128"/>
                </a:rPr>
                <a:t> Consecutive</a:t>
              </a:r>
              <a:br>
                <a:rPr lang="en-US" altLang="zh-CN" sz="700" b="0">
                  <a:solidFill>
                    <a:srgbClr val="C00000"/>
                  </a:solidFill>
                  <a:latin typeface="Arial" panose="020B0604020202020204"/>
                  <a:ea typeface="黑体" panose="02010609060101010101" pitchFamily="49" charset="-122"/>
                  <a:cs typeface="DFKaiShu-GB5" pitchFamily="65" charset="-128"/>
                </a:rPr>
              </a:br>
              <a:r>
                <a:rPr lang="en-US" altLang="zh-CN" sz="700" b="0">
                  <a:solidFill>
                    <a:srgbClr val="C00000"/>
                  </a:solidFill>
                  <a:latin typeface="Arial" panose="020B0604020202020204"/>
                  <a:ea typeface="黑体" panose="02010609060101010101" pitchFamily="49" charset="-122"/>
                  <a:cs typeface="DFKaiShu-GB5" pitchFamily="65" charset="-128"/>
                </a:rPr>
                <a:t>Win</a:t>
              </a:r>
            </a:p>
            <a:p>
              <a:pPr algn="ctr" defTabSz="685817" eaLnBrk="0" hangingPunct="0">
                <a:buClr>
                  <a:srgbClr val="C00000"/>
                </a:buClr>
                <a:tabLst>
                  <a:tab pos="2657541" algn="r"/>
                </a:tabLst>
                <a:defRPr/>
              </a:pPr>
              <a:endParaRPr lang="en-US" altLang="zh-CN" sz="700" b="0">
                <a:solidFill>
                  <a:srgbClr val="C00000"/>
                </a:solidFill>
                <a:latin typeface="Arial" panose="020B0604020202020204"/>
                <a:ea typeface="黑体" panose="02010609060101010101" pitchFamily="49" charset="-122"/>
                <a:cs typeface="DFKaiShu-GB5" pitchFamily="65" charset="-128"/>
              </a:endParaRPr>
            </a:p>
          </p:txBody>
        </p:sp>
        <p:pic>
          <p:nvPicPr>
            <p:cNvPr id="151" name="Picture 150">
              <a:extLst>
                <a:ext uri="{FF2B5EF4-FFF2-40B4-BE49-F238E27FC236}">
                  <a16:creationId xmlns:a16="http://schemas.microsoft.com/office/drawing/2014/main" id="{0E0E6EE0-022B-FB86-5B86-4C155E827A12}"/>
                </a:ext>
              </a:extLst>
            </p:cNvPr>
            <p:cNvPicPr>
              <a:picLocks noChangeAspect="1"/>
            </p:cNvPicPr>
            <p:nvPr/>
          </p:nvPicPr>
          <p:blipFill>
            <a:blip r:embed="rId10"/>
            <a:stretch>
              <a:fillRect/>
            </a:stretch>
          </p:blipFill>
          <p:spPr>
            <a:xfrm>
              <a:off x="5851184" y="5247082"/>
              <a:ext cx="316838" cy="316838"/>
            </a:xfrm>
            <a:prstGeom prst="rect">
              <a:avLst/>
            </a:prstGeom>
          </p:spPr>
        </p:pic>
      </p:grpSp>
    </p:spTree>
    <p:extLst>
      <p:ext uri="{BB962C8B-B14F-4D97-AF65-F5344CB8AC3E}">
        <p14:creationId xmlns:p14="http://schemas.microsoft.com/office/powerpoint/2010/main" val="3159447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2F4A9-9401-6466-EF8F-6873FADB3CFF}"/>
              </a:ext>
            </a:extLst>
          </p:cNvPr>
          <p:cNvSpPr>
            <a:spLocks noGrp="1"/>
          </p:cNvSpPr>
          <p:nvPr>
            <p:ph type="title"/>
          </p:nvPr>
        </p:nvSpPr>
        <p:spPr/>
        <p:txBody>
          <a:bodyPr/>
          <a:lstStyle/>
          <a:p>
            <a:r>
              <a:rPr lang="en-US"/>
              <a:t>DBS’ undisputable track record of successful IPOs on SGX</a:t>
            </a:r>
          </a:p>
        </p:txBody>
      </p:sp>
      <p:sp>
        <p:nvSpPr>
          <p:cNvPr id="4" name="Slide Number Placeholder 3">
            <a:extLst>
              <a:ext uri="{FF2B5EF4-FFF2-40B4-BE49-F238E27FC236}">
                <a16:creationId xmlns:a16="http://schemas.microsoft.com/office/drawing/2014/main" id="{A104A08D-D5C3-635B-704B-249C198CB1FA}"/>
              </a:ext>
            </a:extLst>
          </p:cNvPr>
          <p:cNvSpPr>
            <a:spLocks noGrp="1"/>
          </p:cNvSpPr>
          <p:nvPr>
            <p:ph type="sldNum" sz="quarter" idx="11"/>
          </p:nvPr>
        </p:nvSpPr>
        <p:spPr/>
        <p:txBody>
          <a:bodyPr/>
          <a:lstStyle/>
          <a:p>
            <a:pPr>
              <a:defRPr/>
            </a:pPr>
            <a:fld id="{EED7964B-8F50-47E5-B5EE-37748C966AF4}" type="slidenum">
              <a:rPr lang="en-US" smtClean="0"/>
              <a:pPr>
                <a:defRPr/>
              </a:pPr>
              <a:t>30</a:t>
            </a:fld>
            <a:r>
              <a:rPr lang="en-US"/>
              <a:t> </a:t>
            </a:r>
          </a:p>
        </p:txBody>
      </p:sp>
      <p:sp>
        <p:nvSpPr>
          <p:cNvPr id="63" name="Text Placeholder 62">
            <a:extLst>
              <a:ext uri="{FF2B5EF4-FFF2-40B4-BE49-F238E27FC236}">
                <a16:creationId xmlns:a16="http://schemas.microsoft.com/office/drawing/2014/main" id="{FC9B5B98-5D6C-1E88-AB8E-C26184310BDC}"/>
              </a:ext>
            </a:extLst>
          </p:cNvPr>
          <p:cNvSpPr>
            <a:spLocks noGrp="1"/>
          </p:cNvSpPr>
          <p:nvPr>
            <p:ph type="body" sz="quarter" idx="46"/>
          </p:nvPr>
        </p:nvSpPr>
        <p:spPr/>
        <p:txBody>
          <a:bodyPr/>
          <a:lstStyle/>
          <a:p>
            <a:pPr marL="0" indent="0">
              <a:buNone/>
            </a:pPr>
            <a:r>
              <a:rPr lang="en-US" sz="800"/>
              <a:t>Note: IPO Offer Size converted to SGX with prevailing exchange rate at time of IPO </a:t>
            </a:r>
          </a:p>
          <a:p>
            <a:r>
              <a:rPr lang="en-US" sz="800"/>
              <a:t>Base offering excludes cornerstone tranche</a:t>
            </a:r>
          </a:p>
          <a:p>
            <a:endParaRPr lang="en-SG" sz="800"/>
          </a:p>
        </p:txBody>
      </p:sp>
      <p:graphicFrame>
        <p:nvGraphicFramePr>
          <p:cNvPr id="5" name="Table 4">
            <a:extLst>
              <a:ext uri="{FF2B5EF4-FFF2-40B4-BE49-F238E27FC236}">
                <a16:creationId xmlns:a16="http://schemas.microsoft.com/office/drawing/2014/main" id="{E93FC4F9-13EE-9C26-0D93-0CBEB6FA6C64}"/>
              </a:ext>
            </a:extLst>
          </p:cNvPr>
          <p:cNvGraphicFramePr>
            <a:graphicFrameLocks noGrp="1"/>
          </p:cNvGraphicFramePr>
          <p:nvPr>
            <p:custDataLst>
              <p:tags r:id="rId1"/>
            </p:custDataLst>
            <p:extLst>
              <p:ext uri="{D42A27DB-BD31-4B8C-83A1-F6EECF244321}">
                <p14:modId xmlns:p14="http://schemas.microsoft.com/office/powerpoint/2010/main" val="1525172817"/>
              </p:ext>
            </p:extLst>
          </p:nvPr>
        </p:nvGraphicFramePr>
        <p:xfrm>
          <a:off x="452438" y="1355687"/>
          <a:ext cx="4317829" cy="4687920"/>
        </p:xfrm>
        <a:graphic>
          <a:graphicData uri="http://schemas.openxmlformats.org/drawingml/2006/table">
            <a:tbl>
              <a:tblPr bandRow="1"/>
              <a:tblGrid>
                <a:gridCol w="305721">
                  <a:extLst>
                    <a:ext uri="{9D8B030D-6E8A-4147-A177-3AD203B41FA5}">
                      <a16:colId xmlns:a16="http://schemas.microsoft.com/office/drawing/2014/main" val="535447869"/>
                    </a:ext>
                  </a:extLst>
                </a:gridCol>
                <a:gridCol w="2076854">
                  <a:extLst>
                    <a:ext uri="{9D8B030D-6E8A-4147-A177-3AD203B41FA5}">
                      <a16:colId xmlns:a16="http://schemas.microsoft.com/office/drawing/2014/main" val="3283577400"/>
                    </a:ext>
                  </a:extLst>
                </a:gridCol>
                <a:gridCol w="967627">
                  <a:extLst>
                    <a:ext uri="{9D8B030D-6E8A-4147-A177-3AD203B41FA5}">
                      <a16:colId xmlns:a16="http://schemas.microsoft.com/office/drawing/2014/main" val="788131319"/>
                    </a:ext>
                  </a:extLst>
                </a:gridCol>
                <a:gridCol w="967627">
                  <a:extLst>
                    <a:ext uri="{9D8B030D-6E8A-4147-A177-3AD203B41FA5}">
                      <a16:colId xmlns:a16="http://schemas.microsoft.com/office/drawing/2014/main" val="322213562"/>
                    </a:ext>
                  </a:extLst>
                </a:gridCol>
              </a:tblGrid>
              <a:tr h="234761">
                <a:tc>
                  <a:txBody>
                    <a:bodyPr/>
                    <a:lstStyle/>
                    <a:p>
                      <a:pPr algn="ctr" fontAlgn="b"/>
                      <a:endParaRPr lang="en-SG" sz="900" b="1" i="0" u="none" strike="noStrike">
                        <a:solidFill>
                          <a:schemeClr val="tx1"/>
                        </a:solidFill>
                        <a:effectLst/>
                        <a:latin typeface="+mj-lt"/>
                      </a:endParaRPr>
                    </a:p>
                  </a:txBody>
                  <a:tcPr marL="36000" marR="36000" marT="18000" marB="1800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SG" sz="900" b="1" i="0" u="none" strike="noStrike">
                          <a:solidFill>
                            <a:schemeClr val="tx1"/>
                          </a:solidFill>
                          <a:effectLst/>
                          <a:latin typeface="+mj-lt"/>
                        </a:rPr>
                        <a:t>Issuer Name</a:t>
                      </a:r>
                    </a:p>
                  </a:txBody>
                  <a:tcPr marL="36000" marR="36000" marT="18000" marB="1800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b"/>
                      <a:r>
                        <a:rPr lang="en-SG" sz="900" b="1" i="0" u="none" strike="noStrike">
                          <a:solidFill>
                            <a:schemeClr val="tx1"/>
                          </a:solidFill>
                          <a:effectLst/>
                          <a:latin typeface="+mj-lt"/>
                        </a:rPr>
                        <a:t>Offer Size </a:t>
                      </a:r>
                    </a:p>
                    <a:p>
                      <a:pPr algn="ctr" fontAlgn="b"/>
                      <a:r>
                        <a:rPr lang="en-SG" sz="900" b="1" i="0" u="none" strike="noStrike">
                          <a:solidFill>
                            <a:schemeClr val="tx1"/>
                          </a:solidFill>
                          <a:effectLst/>
                          <a:latin typeface="+mj-lt"/>
                        </a:rPr>
                        <a:t>(</a:t>
                      </a:r>
                      <a:r>
                        <a:rPr lang="en-SG" sz="900" b="1" i="0" u="none" strike="noStrike" err="1">
                          <a:solidFill>
                            <a:schemeClr val="tx1"/>
                          </a:solidFill>
                          <a:effectLst/>
                          <a:latin typeface="+mj-lt"/>
                        </a:rPr>
                        <a:t>S$m</a:t>
                      </a:r>
                      <a:r>
                        <a:rPr lang="en-SG" sz="900" b="1" i="0" u="none" strike="noStrike">
                          <a:solidFill>
                            <a:schemeClr val="tx1"/>
                          </a:solidFill>
                          <a:effectLst/>
                          <a:latin typeface="+mj-lt"/>
                        </a:rPr>
                        <a:t>)</a:t>
                      </a:r>
                    </a:p>
                  </a:txBody>
                  <a:tcPr marL="36000" marR="36000" marT="18000" marB="1800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b"/>
                      <a:r>
                        <a:rPr lang="en-SG" sz="900" b="1" i="0" u="none" strike="noStrike">
                          <a:solidFill>
                            <a:schemeClr val="tx1"/>
                          </a:solidFill>
                          <a:effectLst/>
                          <a:latin typeface="+mj-lt"/>
                        </a:rPr>
                        <a:t>DBS Involvement</a:t>
                      </a:r>
                    </a:p>
                  </a:txBody>
                  <a:tcPr marL="36000" marR="36000" marT="18000" marB="1800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5775958"/>
                  </a:ext>
                </a:extLst>
              </a:tr>
              <a:tr h="165585">
                <a:tc>
                  <a:txBody>
                    <a:bodyPr/>
                    <a:lstStyle/>
                    <a:p>
                      <a:pPr algn="ctr" rtl="0" fontAlgn="b"/>
                      <a:r>
                        <a:rPr lang="en-SG" sz="900" b="0" i="0" u="none" strike="noStrike">
                          <a:solidFill>
                            <a:schemeClr val="bg1"/>
                          </a:solidFill>
                          <a:effectLst/>
                          <a:latin typeface="+mj-lt"/>
                        </a:rPr>
                        <a:t>1</a:t>
                      </a:r>
                    </a:p>
                  </a:txBody>
                  <a:tcPr marL="36000" marR="36000" marT="18000" marB="18000" anchor="ctr">
                    <a:lnL>
                      <a:noFill/>
                    </a:lnL>
                    <a:lnR>
                      <a:noFill/>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err="1">
                          <a:solidFill>
                            <a:srgbClr val="000000"/>
                          </a:solidFill>
                          <a:effectLst/>
                          <a:latin typeface="+mj-lt"/>
                        </a:rPr>
                        <a:t>NetLink</a:t>
                      </a:r>
                      <a:r>
                        <a:rPr lang="en-SG" sz="900" b="0" i="0" u="none" strike="noStrike">
                          <a:solidFill>
                            <a:srgbClr val="000000"/>
                          </a:solidFill>
                          <a:effectLst/>
                          <a:latin typeface="+mj-lt"/>
                        </a:rPr>
                        <a:t> NBN Trust</a:t>
                      </a:r>
                    </a:p>
                  </a:txBody>
                  <a:tcPr marL="36000" marR="36000" marT="18000" marB="18000" anchor="ctr">
                    <a:lnL>
                      <a:noFill/>
                    </a:lnL>
                    <a:lnR>
                      <a:noFill/>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2,347</a:t>
                      </a:r>
                    </a:p>
                  </a:txBody>
                  <a:tcPr marL="36000" marR="36000" marT="18000" marB="18000" anchor="ctr">
                    <a:lnL>
                      <a:noFill/>
                    </a:lnL>
                    <a:lnR>
                      <a:noFill/>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1707035"/>
                  </a:ext>
                </a:extLst>
              </a:tr>
              <a:tr h="165585">
                <a:tc>
                  <a:txBody>
                    <a:bodyPr/>
                    <a:lstStyle/>
                    <a:p>
                      <a:pPr algn="ctr" rtl="0" fontAlgn="b"/>
                      <a:r>
                        <a:rPr lang="en-SG" sz="900" b="0" i="0" u="none" strike="noStrike">
                          <a:solidFill>
                            <a:schemeClr val="bg1"/>
                          </a:solidFill>
                          <a:effectLst/>
                          <a:latin typeface="+mj-lt"/>
                        </a:rPr>
                        <a:t>2</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NTT DC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1,004</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276316"/>
                  </a:ext>
                </a:extLst>
              </a:tr>
              <a:tr h="165585">
                <a:tc>
                  <a:txBody>
                    <a:bodyPr/>
                    <a:lstStyle/>
                    <a:p>
                      <a:pPr algn="ctr" rtl="0" fontAlgn="b"/>
                      <a:r>
                        <a:rPr lang="en-SG" sz="900" b="0" i="0" u="none" strike="noStrike">
                          <a:solidFill>
                            <a:schemeClr val="bg1"/>
                          </a:solidFill>
                          <a:effectLst/>
                          <a:latin typeface="+mj-lt"/>
                        </a:rPr>
                        <a:t>3</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marL="0" marR="0" lvl="0" indent="0" algn="l" defTabSz="742950" rtl="0" eaLnBrk="1" fontAlgn="b" latinLnBrk="0" hangingPunct="1">
                        <a:lnSpc>
                          <a:spcPct val="100000"/>
                        </a:lnSpc>
                        <a:spcBef>
                          <a:spcPts val="0"/>
                        </a:spcBef>
                        <a:spcAft>
                          <a:spcPts val="0"/>
                        </a:spcAft>
                        <a:buClrTx/>
                        <a:buSzTx/>
                        <a:buFontTx/>
                        <a:buNone/>
                        <a:tabLst/>
                        <a:defRPr/>
                      </a:pPr>
                      <a:r>
                        <a:rPr lang="en-SG" sz="900" b="0" i="0" u="none" strike="noStrike" kern="1200">
                          <a:solidFill>
                            <a:srgbClr val="000000"/>
                          </a:solidFill>
                          <a:effectLst/>
                          <a:latin typeface="+mn-lt"/>
                          <a:ea typeface="+mn-ea"/>
                          <a:cs typeface="+mn-cs"/>
                        </a:rPr>
                        <a:t>UI Boustead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US" sz="900" b="0" i="0" u="none" strike="noStrike">
                          <a:solidFill>
                            <a:srgbClr val="000000"/>
                          </a:solidFill>
                          <a:effectLst/>
                          <a:latin typeface="+mj-lt"/>
                        </a:rPr>
                        <a:t>974</a:t>
                      </a:r>
                      <a:endParaRPr lang="en-SG" sz="900" b="0" i="0" u="none" strike="noStrike">
                        <a:solidFill>
                          <a:srgbClr val="000000"/>
                        </a:solidFill>
                        <a:effectLst/>
                        <a:latin typeface="+mj-lt"/>
                      </a:endParaRP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4855509"/>
                  </a:ext>
                </a:extLst>
              </a:tr>
              <a:tr h="165585">
                <a:tc>
                  <a:txBody>
                    <a:bodyPr/>
                    <a:lstStyle/>
                    <a:p>
                      <a:pPr algn="ctr" rtl="0" fontAlgn="b"/>
                      <a:r>
                        <a:rPr lang="en-SG" sz="900" b="0" i="0" u="none" strike="noStrike">
                          <a:solidFill>
                            <a:schemeClr val="bg1"/>
                          </a:solidFill>
                          <a:effectLst/>
                          <a:latin typeface="+mj-lt"/>
                        </a:rPr>
                        <a:t>4</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Prime US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843</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6591831"/>
                  </a:ext>
                </a:extLst>
              </a:tr>
              <a:tr h="165585">
                <a:tc>
                  <a:txBody>
                    <a:bodyPr/>
                    <a:lstStyle/>
                    <a:p>
                      <a:pPr algn="ctr" rtl="0" fontAlgn="b"/>
                      <a:r>
                        <a:rPr lang="en-SG" sz="900" b="0" i="0" u="none" strike="noStrike">
                          <a:solidFill>
                            <a:schemeClr val="bg1"/>
                          </a:solidFill>
                          <a:effectLst/>
                          <a:latin typeface="+mj-lt"/>
                        </a:rPr>
                        <a:t>5</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Digital Core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827</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703807"/>
                  </a:ext>
                </a:extLst>
              </a:tr>
              <a:tr h="165585">
                <a:tc>
                  <a:txBody>
                    <a:bodyPr/>
                    <a:lstStyle/>
                    <a:p>
                      <a:pPr algn="ctr" rtl="0" fontAlgn="b"/>
                      <a:r>
                        <a:rPr lang="en-SG" sz="900" b="0" i="0" u="none" strike="noStrike">
                          <a:solidFill>
                            <a:schemeClr val="bg1"/>
                          </a:solidFill>
                          <a:effectLst/>
                          <a:latin typeface="+mj-lt"/>
                        </a:rPr>
                        <a:t>6</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Cromwell European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778</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1018259"/>
                  </a:ext>
                </a:extLst>
              </a:tr>
              <a:tr h="165585">
                <a:tc>
                  <a:txBody>
                    <a:bodyPr/>
                    <a:lstStyle/>
                    <a:p>
                      <a:pPr algn="ctr" rtl="0" fontAlgn="b"/>
                      <a:r>
                        <a:rPr lang="en-SG" sz="900" b="0" i="0" u="none" strike="noStrike">
                          <a:solidFill>
                            <a:schemeClr val="bg1"/>
                          </a:solidFill>
                          <a:effectLst/>
                          <a:latin typeface="+mj-lt"/>
                        </a:rPr>
                        <a:t>7</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Centurion Accommodation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771</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78741837"/>
                  </a:ext>
                </a:extLst>
              </a:tr>
              <a:tr h="165585">
                <a:tc>
                  <a:txBody>
                    <a:bodyPr/>
                    <a:lstStyle/>
                    <a:p>
                      <a:pPr algn="ctr" rtl="0" fontAlgn="b"/>
                      <a:r>
                        <a:rPr lang="en-SG" sz="900" b="0" i="0" u="none" strike="noStrike">
                          <a:solidFill>
                            <a:schemeClr val="bg1"/>
                          </a:solidFill>
                          <a:effectLst/>
                          <a:latin typeface="+mj-lt"/>
                        </a:rPr>
                        <a:t>8</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US" sz="900" b="0" i="0" u="none" strike="noStrike">
                          <a:solidFill>
                            <a:srgbClr val="000000"/>
                          </a:solidFill>
                          <a:effectLst/>
                          <a:latin typeface="+mj-lt"/>
                        </a:rPr>
                        <a:t>Keppel Pacific Oak US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762</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4732779"/>
                  </a:ext>
                </a:extLst>
              </a:tr>
              <a:tr h="165585">
                <a:tc>
                  <a:txBody>
                    <a:bodyPr/>
                    <a:lstStyle/>
                    <a:p>
                      <a:pPr algn="ctr" rtl="0" fontAlgn="b"/>
                      <a:r>
                        <a:rPr lang="en-SG" sz="900" b="0" i="0" u="none" strike="noStrike">
                          <a:solidFill>
                            <a:schemeClr val="bg1"/>
                          </a:solidFill>
                          <a:effectLst/>
                          <a:latin typeface="+mj-lt"/>
                        </a:rPr>
                        <a:t>9</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Lendlease Global Commercial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740</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0242435"/>
                  </a:ext>
                </a:extLst>
              </a:tr>
              <a:tr h="165585">
                <a:tc>
                  <a:txBody>
                    <a:bodyPr/>
                    <a:lstStyle/>
                    <a:p>
                      <a:pPr algn="ctr" rtl="0" fontAlgn="b"/>
                      <a:r>
                        <a:rPr lang="en-US" sz="900" b="0" i="0" u="none" strike="noStrike">
                          <a:solidFill>
                            <a:schemeClr val="bg1"/>
                          </a:solidFill>
                          <a:effectLst/>
                          <a:latin typeface="+mj-lt"/>
                        </a:rPr>
                        <a:t>10</a:t>
                      </a:r>
                      <a:endParaRPr lang="en-SG" sz="900" b="0" i="0" u="none" strike="noStrike">
                        <a:solidFill>
                          <a:schemeClr val="bg1"/>
                        </a:solidFill>
                        <a:effectLst/>
                        <a:latin typeface="+mj-lt"/>
                      </a:endParaRP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ARA US Hospitality Trust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622</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2759508"/>
                  </a:ext>
                </a:extLst>
              </a:tr>
              <a:tr h="165585">
                <a:tc>
                  <a:txBody>
                    <a:bodyPr/>
                    <a:lstStyle/>
                    <a:p>
                      <a:pPr algn="ctr" rtl="0" fontAlgn="b"/>
                      <a:r>
                        <a:rPr lang="en-SG" sz="900" b="0" i="0" u="none" strike="noStrike">
                          <a:solidFill>
                            <a:srgbClr val="000000"/>
                          </a:solidFill>
                          <a:effectLst/>
                          <a:latin typeface="+mj-lt"/>
                        </a:rPr>
                        <a:t>11</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l" rtl="0" fontAlgn="b"/>
                      <a:r>
                        <a:rPr lang="en-US" sz="900" b="0" i="0" u="none" strike="noStrike">
                          <a:solidFill>
                            <a:srgbClr val="000000"/>
                          </a:solidFill>
                          <a:effectLst/>
                          <a:latin typeface="+mj-lt"/>
                        </a:rPr>
                        <a:t>UltraGreen.ai</a:t>
                      </a:r>
                      <a:endParaRPr lang="en-SG" sz="900" b="0" i="0" u="none" strike="noStrike">
                        <a:solidFill>
                          <a:srgbClr val="000000"/>
                        </a:solidFill>
                        <a:effectLst/>
                        <a:latin typeface="+mj-lt"/>
                      </a:endParaRP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US" sz="900" b="0" i="0" u="none" strike="noStrike">
                          <a:solidFill>
                            <a:srgbClr val="000000"/>
                          </a:solidFill>
                          <a:effectLst/>
                          <a:latin typeface="+mj-lt"/>
                        </a:rPr>
                        <a:t>568</a:t>
                      </a:r>
                      <a:endParaRPr lang="en-SG" sz="900" b="0" i="0" u="none" strike="noStrike">
                        <a:solidFill>
                          <a:srgbClr val="000000"/>
                        </a:solidFill>
                        <a:effectLst/>
                        <a:latin typeface="+mj-lt"/>
                      </a:endParaRP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3710912"/>
                  </a:ext>
                </a:extLst>
              </a:tr>
              <a:tr h="165585">
                <a:tc>
                  <a:txBody>
                    <a:bodyPr/>
                    <a:lstStyle/>
                    <a:p>
                      <a:pPr algn="ctr" rtl="0" fontAlgn="b"/>
                      <a:r>
                        <a:rPr lang="en-SG" sz="900" b="0" i="0" u="none" strike="noStrike">
                          <a:solidFill>
                            <a:srgbClr val="000000"/>
                          </a:solidFill>
                          <a:effectLst/>
                          <a:latin typeface="+mj-lt"/>
                        </a:rPr>
                        <a:t>12</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l" rtl="0" fontAlgn="b"/>
                      <a:r>
                        <a:rPr lang="en-SG" sz="900" b="0" i="0" u="none" strike="noStrike">
                          <a:solidFill>
                            <a:srgbClr val="000000"/>
                          </a:solidFill>
                          <a:effectLst/>
                          <a:latin typeface="+mj-lt"/>
                        </a:rPr>
                        <a:t>Nanofilm Technologies International</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510</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SG" sz="1200" b="0" i="0" u="none" strike="noStrike">
                          <a:solidFill>
                            <a:schemeClr val="bg1">
                              <a:lumMod val="75000"/>
                            </a:schemeClr>
                          </a:solidFill>
                          <a:effectLst/>
                          <a:latin typeface="Arial" panose="020B0604020202020204" pitchFamily="34" charset="0"/>
                        </a:rPr>
                        <a:t> -</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5668405"/>
                  </a:ext>
                </a:extLst>
              </a:tr>
              <a:tr h="165585">
                <a:tc>
                  <a:txBody>
                    <a:bodyPr/>
                    <a:lstStyle/>
                    <a:p>
                      <a:pPr algn="ctr" rtl="0" fontAlgn="b"/>
                      <a:r>
                        <a:rPr lang="en-SG" sz="900" b="0" i="0" u="none" strike="noStrike">
                          <a:solidFill>
                            <a:schemeClr val="bg1"/>
                          </a:solidFill>
                          <a:effectLst/>
                          <a:latin typeface="+mj-lt"/>
                        </a:rPr>
                        <a:t>13</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Daiwa House Logistics Trust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464</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9991585"/>
                  </a:ext>
                </a:extLst>
              </a:tr>
              <a:tr h="165585">
                <a:tc>
                  <a:txBody>
                    <a:bodyPr/>
                    <a:lstStyle/>
                    <a:p>
                      <a:pPr algn="ctr" rtl="0" fontAlgn="b"/>
                      <a:r>
                        <a:rPr lang="en-SG" sz="900" b="0" i="0" u="none" strike="noStrike">
                          <a:solidFill>
                            <a:schemeClr val="bg1"/>
                          </a:solidFill>
                          <a:effectLst/>
                          <a:latin typeface="+mj-lt"/>
                        </a:rPr>
                        <a:t>14</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United Hampshire US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434</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SG" sz="1200" b="0" i="0" u="none" strike="noStrike">
                          <a:solidFill>
                            <a:schemeClr val="bg1">
                              <a:lumMod val="75000"/>
                            </a:schemeClr>
                          </a:solidFill>
                          <a:effectLst/>
                          <a:latin typeface="Arial" panose="020B0604020202020204" pitchFamily="34" charset="0"/>
                        </a:rPr>
                        <a:t> -</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22322808"/>
                  </a:ext>
                </a:extLst>
              </a:tr>
              <a:tr h="165585">
                <a:tc>
                  <a:txBody>
                    <a:bodyPr/>
                    <a:lstStyle/>
                    <a:p>
                      <a:pPr algn="ctr" rtl="0" fontAlgn="b"/>
                      <a:r>
                        <a:rPr lang="en-SG" sz="900" b="0" i="0" u="none" strike="noStrike">
                          <a:solidFill>
                            <a:schemeClr val="bg1"/>
                          </a:solidFill>
                          <a:effectLst/>
                          <a:latin typeface="+mj-lt"/>
                        </a:rPr>
                        <a:t>15</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Sasseur Real Estate Investment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396</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76849973"/>
                  </a:ext>
                </a:extLst>
              </a:tr>
              <a:tr h="165585">
                <a:tc>
                  <a:txBody>
                    <a:bodyPr/>
                    <a:lstStyle/>
                    <a:p>
                      <a:pPr algn="ctr" rtl="0" fontAlgn="b"/>
                      <a:r>
                        <a:rPr lang="en-SG" sz="900" b="0" i="0" u="none" strike="noStrike">
                          <a:solidFill>
                            <a:srgbClr val="000000"/>
                          </a:solidFill>
                          <a:effectLst/>
                          <a:latin typeface="+mj-lt"/>
                        </a:rPr>
                        <a:t>16</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l" rtl="0" fontAlgn="b"/>
                      <a:r>
                        <a:rPr lang="en-SG" sz="900" b="0" i="0" u="none" strike="noStrike">
                          <a:solidFill>
                            <a:srgbClr val="000000"/>
                          </a:solidFill>
                          <a:effectLst/>
                          <a:latin typeface="+mj-lt"/>
                        </a:rPr>
                        <a:t>Aztech Global Ltd</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297</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5477494"/>
                  </a:ext>
                </a:extLst>
              </a:tr>
              <a:tr h="165585">
                <a:tc>
                  <a:txBody>
                    <a:bodyPr/>
                    <a:lstStyle/>
                    <a:p>
                      <a:pPr algn="ctr" rtl="0" fontAlgn="b"/>
                      <a:r>
                        <a:rPr lang="en-SG" sz="900" b="0" i="0" u="none" strike="noStrike">
                          <a:solidFill>
                            <a:schemeClr val="bg1"/>
                          </a:solidFill>
                          <a:effectLst/>
                          <a:latin typeface="+mj-lt"/>
                        </a:rPr>
                        <a:t>17</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p>
                      <a:pPr algn="l" rtl="0" fontAlgn="b"/>
                      <a:r>
                        <a:rPr lang="en-SG" sz="900" b="0" i="0" u="none" strike="noStrike">
                          <a:solidFill>
                            <a:srgbClr val="000000"/>
                          </a:solidFill>
                          <a:effectLst/>
                          <a:latin typeface="+mj-lt"/>
                        </a:rPr>
                        <a:t>Elite Commercial REIT</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238</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SG" sz="1200" b="0" i="0" u="none" strike="noStrike">
                          <a:solidFill>
                            <a:schemeClr val="bg1">
                              <a:lumMod val="75000"/>
                            </a:schemeClr>
                          </a:solidFill>
                          <a:effectLst/>
                          <a:latin typeface="Arial" panose="020B0604020202020204" pitchFamily="34" charset="0"/>
                        </a:rPr>
                        <a:t> -</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7068456"/>
                  </a:ext>
                </a:extLst>
              </a:tr>
              <a:tr h="165585">
                <a:tc>
                  <a:txBody>
                    <a:bodyPr/>
                    <a:lstStyle/>
                    <a:p>
                      <a:pPr algn="ctr" rtl="0" fontAlgn="b"/>
                      <a:r>
                        <a:rPr lang="en-SG" sz="900" b="0" i="0" u="none" strike="noStrike">
                          <a:solidFill>
                            <a:schemeClr val="bg1"/>
                          </a:solidFill>
                          <a:effectLst/>
                          <a:latin typeface="+mj-lt"/>
                        </a:rPr>
                        <a:t>18</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1C30"/>
                    </a:solidFill>
                  </a:tcPr>
                </a:tc>
                <a:tc>
                  <a:txBody>
                    <a:bodyPr/>
                    <a:lstStyle/>
                    <a:p>
                      <a:pPr algn="l" rtl="0" fontAlgn="b"/>
                      <a:r>
                        <a:rPr lang="en-SG" sz="900" b="0" i="0" u="none" strike="noStrike">
                          <a:solidFill>
                            <a:srgbClr val="000000"/>
                          </a:solidFill>
                          <a:effectLst/>
                          <a:latin typeface="+mj-lt"/>
                        </a:rPr>
                        <a:t>Pegasus Asia</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210</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SG" sz="1200" b="0" i="0" u="none" strike="noStrike">
                          <a:solidFill>
                            <a:schemeClr val="bg1">
                              <a:lumMod val="75000"/>
                            </a:schemeClr>
                          </a:solidFill>
                          <a:effectLst/>
                          <a:latin typeface="Arial" panose="020B0604020202020204" pitchFamily="34" charset="0"/>
                        </a:rPr>
                        <a:t> -</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48731310"/>
                  </a:ext>
                </a:extLst>
              </a:tr>
              <a:tr h="165585">
                <a:tc>
                  <a:txBody>
                    <a:bodyPr/>
                    <a:lstStyle/>
                    <a:p>
                      <a:pPr algn="ctr" rtl="0" fontAlgn="b"/>
                      <a:r>
                        <a:rPr lang="en-SG" sz="900" b="0" i="0" u="none" strike="noStrike">
                          <a:solidFill>
                            <a:schemeClr val="bg1"/>
                          </a:solidFill>
                          <a:effectLst/>
                          <a:latin typeface="+mj-lt"/>
                        </a:rPr>
                        <a:t>19</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1C30"/>
                    </a:solidFill>
                  </a:tcPr>
                </a:tc>
                <a:tc>
                  <a:txBody>
                    <a:bodyPr/>
                    <a:lstStyle/>
                    <a:p>
                      <a:pPr algn="l" rtl="0" fontAlgn="b"/>
                      <a:r>
                        <a:rPr lang="en-SG" sz="900" b="0" i="0" u="none" strike="noStrike">
                          <a:solidFill>
                            <a:srgbClr val="000000"/>
                          </a:solidFill>
                          <a:effectLst/>
                          <a:latin typeface="+mj-lt"/>
                        </a:rPr>
                        <a:t>Vertex Technology Acquisition</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208</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92711323"/>
                  </a:ext>
                </a:extLst>
              </a:tr>
              <a:tr h="165585">
                <a:tc>
                  <a:txBody>
                    <a:bodyPr/>
                    <a:lstStyle/>
                    <a:p>
                      <a:pPr algn="ctr" rtl="0" fontAlgn="b"/>
                      <a:r>
                        <a:rPr lang="en-SG" sz="900" b="0" i="0" u="none" strike="noStrike">
                          <a:solidFill>
                            <a:srgbClr val="000000"/>
                          </a:solidFill>
                          <a:effectLst/>
                          <a:latin typeface="+mj-lt"/>
                        </a:rPr>
                        <a:t>20</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l" rtl="0" fontAlgn="b"/>
                      <a:r>
                        <a:rPr lang="en-SG" sz="900" b="0" i="0" u="none" strike="noStrike">
                          <a:solidFill>
                            <a:srgbClr val="000000"/>
                          </a:solidFill>
                          <a:effectLst/>
                          <a:latin typeface="+mj-lt"/>
                        </a:rPr>
                        <a:t>HRnetgroup Ltd</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900" b="0" i="0" u="none" strike="noStrike">
                          <a:solidFill>
                            <a:srgbClr val="000000"/>
                          </a:solidFill>
                          <a:effectLst/>
                          <a:latin typeface="+mj-lt"/>
                        </a:rPr>
                        <a:t>174</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r>
                        <a:rPr lang="en-SG" sz="1200" b="1" i="0" u="none" strike="noStrike">
                          <a:solidFill>
                            <a:schemeClr val="accent1"/>
                          </a:solidFill>
                          <a:effectLst/>
                          <a:latin typeface="Wingdings" panose="05000000000000000000" pitchFamily="2" charset="2"/>
                        </a:rPr>
                        <a:t>ü</a:t>
                      </a:r>
                    </a:p>
                  </a:txBody>
                  <a:tcPr marL="36000" marR="36000" marT="18000" marB="18000" anchor="ctr">
                    <a:lnL>
                      <a:noFill/>
                    </a:lnL>
                    <a:lnR>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4388490"/>
                  </a:ext>
                </a:extLst>
              </a:tr>
            </a:tbl>
          </a:graphicData>
        </a:graphic>
      </p:graphicFrame>
      <p:pic>
        <p:nvPicPr>
          <p:cNvPr id="14" name="Picture 13">
            <a:extLst>
              <a:ext uri="{FF2B5EF4-FFF2-40B4-BE49-F238E27FC236}">
                <a16:creationId xmlns:a16="http://schemas.microsoft.com/office/drawing/2014/main" id="{C88D962D-B46F-F74B-F61C-F2E9A47D4838}"/>
              </a:ext>
            </a:extLst>
          </p:cNvPr>
          <p:cNvPicPr>
            <a:picLocks noChangeAspect="1"/>
          </p:cNvPicPr>
          <p:nvPr/>
        </p:nvPicPr>
        <p:blipFill rotWithShape="1">
          <a:blip r:embed="rId3"/>
          <a:srcRect t="30888" b="33673"/>
          <a:stretch/>
        </p:blipFill>
        <p:spPr>
          <a:xfrm>
            <a:off x="7993435" y="4010914"/>
            <a:ext cx="807897" cy="267063"/>
          </a:xfrm>
          <a:prstGeom prst="rect">
            <a:avLst/>
          </a:prstGeom>
        </p:spPr>
      </p:pic>
      <p:pic>
        <p:nvPicPr>
          <p:cNvPr id="32" name="object 306">
            <a:extLst>
              <a:ext uri="{FF2B5EF4-FFF2-40B4-BE49-F238E27FC236}">
                <a16:creationId xmlns:a16="http://schemas.microsoft.com/office/drawing/2014/main" id="{852F6D6C-73D5-FF70-CB60-B5E1C0446C81}"/>
              </a:ext>
            </a:extLst>
          </p:cNvPr>
          <p:cNvPicPr preferRelativeResize="0">
            <a:picLocks noChangeAspect="1"/>
          </p:cNvPicPr>
          <p:nvPr/>
        </p:nvPicPr>
        <p:blipFill>
          <a:blip r:embed="rId4" cstate="print"/>
          <a:stretch>
            <a:fillRect/>
          </a:stretch>
        </p:blipFill>
        <p:spPr>
          <a:xfrm>
            <a:off x="7747858" y="1579009"/>
            <a:ext cx="1299050" cy="260552"/>
          </a:xfrm>
          <a:prstGeom prst="rect">
            <a:avLst/>
          </a:prstGeom>
        </p:spPr>
      </p:pic>
      <p:pic>
        <p:nvPicPr>
          <p:cNvPr id="52" name="Picture 2" descr="Centurion Accomodation REIT IPO: Prospectus &amp; Summary - My Stocks ...">
            <a:extLst>
              <a:ext uri="{FF2B5EF4-FFF2-40B4-BE49-F238E27FC236}">
                <a16:creationId xmlns:a16="http://schemas.microsoft.com/office/drawing/2014/main" id="{E7D0FCB7-1E24-BC84-3311-5E69DE2465A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17481" y="1469573"/>
            <a:ext cx="913523" cy="41831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NTT DC REIT Share Price History (SGX:NTDU) | SGinvestors.io">
            <a:extLst>
              <a:ext uri="{FF2B5EF4-FFF2-40B4-BE49-F238E27FC236}">
                <a16:creationId xmlns:a16="http://schemas.microsoft.com/office/drawing/2014/main" id="{3525922C-E094-9F47-21FB-444F4EE678C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3460" b="33673"/>
          <a:stretch/>
        </p:blipFill>
        <p:spPr bwMode="auto">
          <a:xfrm>
            <a:off x="5467011" y="3968449"/>
            <a:ext cx="1414463" cy="28719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3A8B669-C41A-C2C5-F75C-5BD15BAA6575}"/>
              </a:ext>
            </a:extLst>
          </p:cNvPr>
          <p:cNvSpPr txBox="1"/>
          <p:nvPr/>
        </p:nvSpPr>
        <p:spPr>
          <a:xfrm>
            <a:off x="452438" y="989555"/>
            <a:ext cx="4320000" cy="272415"/>
          </a:xfrm>
          <a:prstGeom prst="roundRect">
            <a:avLst/>
          </a:prstGeom>
          <a:solidFill>
            <a:srgbClr val="089C8B"/>
          </a:solidFill>
          <a:ln w="19050">
            <a:noFill/>
          </a:ln>
          <a:effectLst/>
        </p:spPr>
        <p:txBody>
          <a:bodyPr wrap="square" rtlCol="0" anchor="ctr">
            <a:spAutoFit/>
          </a:bodyPr>
          <a:lstStyle/>
          <a:p>
            <a:pPr algn="ctr" defTabSz="422041" fontAlgn="auto">
              <a:spcBef>
                <a:spcPts val="0"/>
              </a:spcBef>
              <a:spcAft>
                <a:spcPts val="0"/>
              </a:spcAft>
              <a:defRPr/>
            </a:pPr>
            <a:r>
              <a:rPr lang="en-US" sz="1000" kern="0">
                <a:solidFill>
                  <a:srgbClr val="FFFFFF"/>
                </a:solidFill>
                <a:latin typeface="Arial" panose="020B0604020202020204" pitchFamily="34" charset="0"/>
                <a:cs typeface="Arial" panose="020B0604020202020204" pitchFamily="34" charset="0"/>
              </a:rPr>
              <a:t>Our involvement in 16 out of top 20 IPOs on SGX from 2017</a:t>
            </a:r>
          </a:p>
        </p:txBody>
      </p:sp>
      <p:sp>
        <p:nvSpPr>
          <p:cNvPr id="62" name="TextBox 61">
            <a:extLst>
              <a:ext uri="{FF2B5EF4-FFF2-40B4-BE49-F238E27FC236}">
                <a16:creationId xmlns:a16="http://schemas.microsoft.com/office/drawing/2014/main" id="{78DF64EB-27FE-A79F-DF73-7BCD0EC4976A}"/>
              </a:ext>
            </a:extLst>
          </p:cNvPr>
          <p:cNvSpPr txBox="1"/>
          <p:nvPr/>
        </p:nvSpPr>
        <p:spPr>
          <a:xfrm>
            <a:off x="5133563" y="989555"/>
            <a:ext cx="4320000" cy="272415"/>
          </a:xfrm>
          <a:prstGeom prst="roundRect">
            <a:avLst/>
          </a:prstGeom>
          <a:solidFill>
            <a:srgbClr val="089C8B"/>
          </a:solidFill>
          <a:ln w="19050">
            <a:noFill/>
          </a:ln>
          <a:effectLst/>
        </p:spPr>
        <p:txBody>
          <a:bodyPr wrap="square" rtlCol="0" anchor="ctr">
            <a:spAutoFit/>
          </a:bodyPr>
          <a:lstStyle/>
          <a:p>
            <a:pPr algn="ctr" defTabSz="422041" fontAlgn="auto">
              <a:spcBef>
                <a:spcPts val="0"/>
              </a:spcBef>
              <a:spcAft>
                <a:spcPts val="0"/>
              </a:spcAft>
              <a:defRPr/>
            </a:pPr>
            <a:r>
              <a:rPr lang="en-US" sz="1000" kern="0">
                <a:solidFill>
                  <a:srgbClr val="FFFFFF"/>
                </a:solidFill>
                <a:latin typeface="Arial" panose="020B0604020202020204" pitchFamily="34" charset="0"/>
                <a:cs typeface="Arial" panose="020B0604020202020204" pitchFamily="34" charset="0"/>
              </a:rPr>
              <a:t>DBS consistently commands majority of retail demand for IPOs</a:t>
            </a:r>
          </a:p>
        </p:txBody>
      </p:sp>
      <p:graphicFrame>
        <p:nvGraphicFramePr>
          <p:cNvPr id="8" name="Chart 7">
            <a:extLst>
              <a:ext uri="{FF2B5EF4-FFF2-40B4-BE49-F238E27FC236}">
                <a16:creationId xmlns:a16="http://schemas.microsoft.com/office/drawing/2014/main" id="{9EC7233E-BBD8-F8F7-15F0-614B45CD3C37}"/>
              </a:ext>
            </a:extLst>
          </p:cNvPr>
          <p:cNvGraphicFramePr/>
          <p:nvPr/>
        </p:nvGraphicFramePr>
        <p:xfrm>
          <a:off x="5111561" y="1864758"/>
          <a:ext cx="2125362" cy="185877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66" name="Chart 65">
            <a:extLst>
              <a:ext uri="{FF2B5EF4-FFF2-40B4-BE49-F238E27FC236}">
                <a16:creationId xmlns:a16="http://schemas.microsoft.com/office/drawing/2014/main" id="{04117DB8-94C9-6FD7-6DD2-40193C6024B4}"/>
              </a:ext>
            </a:extLst>
          </p:cNvPr>
          <p:cNvGraphicFramePr/>
          <p:nvPr/>
        </p:nvGraphicFramePr>
        <p:xfrm>
          <a:off x="7334702" y="1687297"/>
          <a:ext cx="2125362" cy="203623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69" name="Chart 68">
            <a:extLst>
              <a:ext uri="{FF2B5EF4-FFF2-40B4-BE49-F238E27FC236}">
                <a16:creationId xmlns:a16="http://schemas.microsoft.com/office/drawing/2014/main" id="{52EB95C5-BA05-E7E9-67D2-A5E70C1EDBCD}"/>
              </a:ext>
            </a:extLst>
          </p:cNvPr>
          <p:cNvGraphicFramePr/>
          <p:nvPr/>
        </p:nvGraphicFramePr>
        <p:xfrm>
          <a:off x="5111561" y="4241357"/>
          <a:ext cx="2125362" cy="185877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70" name="Chart 69">
            <a:extLst>
              <a:ext uri="{FF2B5EF4-FFF2-40B4-BE49-F238E27FC236}">
                <a16:creationId xmlns:a16="http://schemas.microsoft.com/office/drawing/2014/main" id="{5A450335-E0E2-8672-B364-5E448124F177}"/>
              </a:ext>
            </a:extLst>
          </p:cNvPr>
          <p:cNvGraphicFramePr/>
          <p:nvPr/>
        </p:nvGraphicFramePr>
        <p:xfrm>
          <a:off x="7334702" y="4337798"/>
          <a:ext cx="2125362" cy="1762333"/>
        </p:xfrm>
        <a:graphic>
          <a:graphicData uri="http://schemas.openxmlformats.org/drawingml/2006/chart">
            <c:chart xmlns:c="http://schemas.openxmlformats.org/drawingml/2006/chart" xmlns:r="http://schemas.openxmlformats.org/officeDocument/2006/relationships" r:id="rId10"/>
          </a:graphicData>
        </a:graphic>
      </p:graphicFrame>
      <p:sp>
        <p:nvSpPr>
          <p:cNvPr id="6" name="Rectangle 5">
            <a:extLst>
              <a:ext uri="{FF2B5EF4-FFF2-40B4-BE49-F238E27FC236}">
                <a16:creationId xmlns:a16="http://schemas.microsoft.com/office/drawing/2014/main" id="{A2FA8931-023A-C48C-408D-FE6264DB0C90}"/>
              </a:ext>
            </a:extLst>
          </p:cNvPr>
          <p:cNvSpPr/>
          <p:nvPr/>
        </p:nvSpPr>
        <p:spPr bwMode="auto">
          <a:xfrm>
            <a:off x="452438" y="6142537"/>
            <a:ext cx="484360" cy="175886"/>
          </a:xfrm>
          <a:prstGeom prst="rect">
            <a:avLst/>
          </a:prstGeom>
          <a:solidFill>
            <a:srgbClr val="C00000"/>
          </a:solidFill>
          <a:ln>
            <a:solidFill>
              <a:schemeClr val="bg1">
                <a:lumMod val="75000"/>
              </a:schemeClr>
            </a:solidFill>
          </a:ln>
          <a:effectLst/>
        </p:spPr>
        <p:txBody>
          <a:bodyPr vert="horz" wrap="square" lIns="36000" tIns="36000" rIns="36000" bIns="36000" numCol="1" rtlCol="0" anchor="t" anchorCtr="0" compatLnSpc="1">
            <a:prstTxWarp prst="textNoShape">
              <a:avLst/>
            </a:prstTxWarp>
          </a:bodyPr>
          <a:lstStyle/>
          <a:p>
            <a:pPr marR="0" algn="ctr" defTabSz="914400" rtl="0" eaLnBrk="0" fontAlgn="base" latinLnBrk="0" hangingPunct="0">
              <a:lnSpc>
                <a:spcPct val="110000"/>
              </a:lnSpc>
              <a:spcBef>
                <a:spcPct val="0"/>
              </a:spcBef>
              <a:spcAft>
                <a:spcPct val="0"/>
              </a:spcAft>
              <a:buClrTx/>
              <a:buSzTx/>
              <a:tabLst/>
            </a:pPr>
            <a:r>
              <a:rPr kumimoji="0" lang="en-SG" sz="700" i="0" u="none" strike="noStrike" cap="none" normalizeH="0" baseline="0">
                <a:ln>
                  <a:noFill/>
                </a:ln>
                <a:solidFill>
                  <a:schemeClr val="bg1"/>
                </a:solidFill>
                <a:effectLst/>
                <a:latin typeface="Arial" panose="020B0604020202020204" pitchFamily="34" charset="0"/>
              </a:rPr>
              <a:t>Trust</a:t>
            </a:r>
          </a:p>
        </p:txBody>
      </p:sp>
      <p:sp>
        <p:nvSpPr>
          <p:cNvPr id="7" name="Rectangle 6">
            <a:extLst>
              <a:ext uri="{FF2B5EF4-FFF2-40B4-BE49-F238E27FC236}">
                <a16:creationId xmlns:a16="http://schemas.microsoft.com/office/drawing/2014/main" id="{AF2A8F05-A477-4805-E566-BA6E800352EA}"/>
              </a:ext>
            </a:extLst>
          </p:cNvPr>
          <p:cNvSpPr/>
          <p:nvPr/>
        </p:nvSpPr>
        <p:spPr bwMode="auto">
          <a:xfrm>
            <a:off x="1089067" y="6142537"/>
            <a:ext cx="484360" cy="175886"/>
          </a:xfrm>
          <a:prstGeom prst="rect">
            <a:avLst/>
          </a:prstGeom>
          <a:solidFill>
            <a:schemeClr val="tx2">
              <a:lumMod val="20000"/>
              <a:lumOff val="80000"/>
            </a:schemeClr>
          </a:solidFill>
          <a:ln>
            <a:solidFill>
              <a:schemeClr val="bg1">
                <a:lumMod val="75000"/>
              </a:schemeClr>
            </a:solidFill>
          </a:ln>
          <a:effectLst/>
        </p:spPr>
        <p:txBody>
          <a:bodyPr vert="horz" wrap="square" lIns="36000" tIns="36000" rIns="36000" bIns="36000" numCol="1" rtlCol="0" anchor="t" anchorCtr="0" compatLnSpc="1">
            <a:prstTxWarp prst="textNoShape">
              <a:avLst/>
            </a:prstTxWarp>
          </a:bodyPr>
          <a:lstStyle/>
          <a:p>
            <a:pPr marR="0" algn="ctr" defTabSz="914400" rtl="0" eaLnBrk="0" fontAlgn="base" latinLnBrk="0" hangingPunct="0">
              <a:lnSpc>
                <a:spcPct val="110000"/>
              </a:lnSpc>
              <a:spcBef>
                <a:spcPct val="0"/>
              </a:spcBef>
              <a:spcAft>
                <a:spcPct val="0"/>
              </a:spcAft>
              <a:buClrTx/>
              <a:buSzTx/>
              <a:tabLst/>
            </a:pPr>
            <a:r>
              <a:rPr kumimoji="0" lang="en-SG" sz="700" i="0" u="none" strike="noStrike" cap="none" normalizeH="0" baseline="0">
                <a:ln>
                  <a:noFill/>
                </a:ln>
                <a:solidFill>
                  <a:schemeClr val="tx1"/>
                </a:solidFill>
                <a:effectLst/>
                <a:latin typeface="Arial" panose="020B0604020202020204" pitchFamily="34" charset="0"/>
              </a:rPr>
              <a:t>Company</a:t>
            </a:r>
          </a:p>
        </p:txBody>
      </p:sp>
      <p:sp>
        <p:nvSpPr>
          <p:cNvPr id="9" name="Rectangle 8">
            <a:extLst>
              <a:ext uri="{FF2B5EF4-FFF2-40B4-BE49-F238E27FC236}">
                <a16:creationId xmlns:a16="http://schemas.microsoft.com/office/drawing/2014/main" id="{418E0A21-4A15-F541-D61D-11BC51B60A18}"/>
              </a:ext>
            </a:extLst>
          </p:cNvPr>
          <p:cNvSpPr/>
          <p:nvPr/>
        </p:nvSpPr>
        <p:spPr bwMode="auto">
          <a:xfrm>
            <a:off x="1725696" y="6150776"/>
            <a:ext cx="484360" cy="175886"/>
          </a:xfrm>
          <a:prstGeom prst="rect">
            <a:avLst/>
          </a:prstGeom>
          <a:solidFill>
            <a:srgbClr val="001C30"/>
          </a:solidFill>
          <a:ln>
            <a:solidFill>
              <a:schemeClr val="bg1">
                <a:lumMod val="75000"/>
              </a:schemeClr>
            </a:solidFill>
          </a:ln>
          <a:effectLst/>
        </p:spPr>
        <p:txBody>
          <a:bodyPr vert="horz" wrap="square" lIns="36000" tIns="36000" rIns="36000" bIns="36000" numCol="1" rtlCol="0" anchor="t" anchorCtr="0" compatLnSpc="1">
            <a:prstTxWarp prst="textNoShape">
              <a:avLst/>
            </a:prstTxWarp>
          </a:bodyPr>
          <a:lstStyle/>
          <a:p>
            <a:pPr marR="0" algn="ctr" defTabSz="914400" rtl="0" eaLnBrk="0" fontAlgn="base" latinLnBrk="0" hangingPunct="0">
              <a:lnSpc>
                <a:spcPct val="110000"/>
              </a:lnSpc>
              <a:spcBef>
                <a:spcPct val="0"/>
              </a:spcBef>
              <a:spcAft>
                <a:spcPct val="0"/>
              </a:spcAft>
              <a:buClrTx/>
              <a:buSzTx/>
              <a:tabLst/>
            </a:pPr>
            <a:r>
              <a:rPr kumimoji="0" lang="en-SG" sz="700" i="0" u="none" strike="noStrike" cap="none" normalizeH="0" baseline="0">
                <a:ln>
                  <a:noFill/>
                </a:ln>
                <a:solidFill>
                  <a:schemeClr val="bg1"/>
                </a:solidFill>
                <a:effectLst/>
                <a:latin typeface="Arial" panose="020B0604020202020204" pitchFamily="34" charset="0"/>
              </a:rPr>
              <a:t>SPAC</a:t>
            </a:r>
          </a:p>
        </p:txBody>
      </p:sp>
    </p:spTree>
    <p:extLst>
      <p:ext uri="{BB962C8B-B14F-4D97-AF65-F5344CB8AC3E}">
        <p14:creationId xmlns:p14="http://schemas.microsoft.com/office/powerpoint/2010/main" val="171667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4" name="Group 293">
            <a:extLst>
              <a:ext uri="{FF2B5EF4-FFF2-40B4-BE49-F238E27FC236}">
                <a16:creationId xmlns:a16="http://schemas.microsoft.com/office/drawing/2014/main" id="{F4F1875B-B2B1-2AB4-D5FA-6174BA6C7FFC}"/>
              </a:ext>
            </a:extLst>
          </p:cNvPr>
          <p:cNvGrpSpPr/>
          <p:nvPr/>
        </p:nvGrpSpPr>
        <p:grpSpPr>
          <a:xfrm>
            <a:off x="2103476" y="949810"/>
            <a:ext cx="8302000" cy="4320000"/>
            <a:chOff x="2503396" y="1443374"/>
            <a:chExt cx="8302000" cy="4320000"/>
          </a:xfrm>
        </p:grpSpPr>
        <p:sp>
          <p:nvSpPr>
            <p:cNvPr id="295" name="Rectangle 644">
              <a:extLst>
                <a:ext uri="{FF2B5EF4-FFF2-40B4-BE49-F238E27FC236}">
                  <a16:creationId xmlns:a16="http://schemas.microsoft.com/office/drawing/2014/main" id="{7C734483-CFE7-2301-B632-338C995E7F28}"/>
                </a:ext>
              </a:extLst>
            </p:cNvPr>
            <p:cNvSpPr>
              <a:spLocks noChangeArrowheads="1"/>
            </p:cNvSpPr>
            <p:nvPr/>
          </p:nvSpPr>
          <p:spPr bwMode="auto">
            <a:xfrm>
              <a:off x="8102450" y="1445872"/>
              <a:ext cx="2702946" cy="372949"/>
            </a:xfrm>
            <a:prstGeom prst="rect">
              <a:avLst/>
            </a:prstGeom>
            <a:noFill/>
            <a:ln w="9525">
              <a:noFill/>
              <a:miter lim="800000"/>
              <a:headEnd/>
              <a:tailEnd/>
            </a:ln>
          </p:spPr>
          <p:txBody>
            <a:bodyPr wrap="square"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a:cs typeface="+mn-cs"/>
                </a:rPr>
                <a:t>DBS’ institutional sales &amp;</a:t>
              </a:r>
            </a:p>
            <a:p>
              <a:pPr marL="0" marR="0" lvl="0" indent="0" defTabSz="645581"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a:cs typeface="+mn-cs"/>
                </a:rPr>
                <a:t>corporate banking franchise</a:t>
              </a:r>
            </a:p>
          </p:txBody>
        </p:sp>
        <p:grpSp>
          <p:nvGrpSpPr>
            <p:cNvPr id="296" name="Group 295">
              <a:extLst>
                <a:ext uri="{FF2B5EF4-FFF2-40B4-BE49-F238E27FC236}">
                  <a16:creationId xmlns:a16="http://schemas.microsoft.com/office/drawing/2014/main" id="{33A95F05-8596-72DE-E94E-591A62BC221C}"/>
                </a:ext>
              </a:extLst>
            </p:cNvPr>
            <p:cNvGrpSpPr/>
            <p:nvPr/>
          </p:nvGrpSpPr>
          <p:grpSpPr>
            <a:xfrm>
              <a:off x="2503396" y="1443374"/>
              <a:ext cx="7121372" cy="4320000"/>
              <a:chOff x="2503396" y="1424324"/>
              <a:chExt cx="7121372" cy="4320000"/>
            </a:xfrm>
          </p:grpSpPr>
          <p:sp>
            <p:nvSpPr>
              <p:cNvPr id="297" name="Oval 296">
                <a:extLst>
                  <a:ext uri="{FF2B5EF4-FFF2-40B4-BE49-F238E27FC236}">
                    <a16:creationId xmlns:a16="http://schemas.microsoft.com/office/drawing/2014/main" id="{07B898EA-3646-B11A-59C6-16CF07960200}"/>
                  </a:ext>
                </a:extLst>
              </p:cNvPr>
              <p:cNvSpPr/>
              <p:nvPr/>
            </p:nvSpPr>
            <p:spPr bwMode="auto">
              <a:xfrm rot="20415061">
                <a:off x="6679996" y="2502136"/>
                <a:ext cx="2468612" cy="2469589"/>
              </a:xfrm>
              <a:prstGeom prst="ellipse">
                <a:avLst/>
              </a:prstGeom>
              <a:solidFill>
                <a:srgbClr val="D3EEFD">
                  <a:alpha val="40000"/>
                </a:srgbClr>
              </a:solidFill>
              <a:ln w="9525">
                <a:solidFill>
                  <a:srgbClr val="1680C2"/>
                </a:solidFill>
                <a:miter lim="800000"/>
                <a:headEnd/>
                <a:tailEnd/>
              </a:ln>
            </p:spPr>
            <p:txBody>
              <a:bodyPr rtlCol="0" anchor="ctr"/>
              <a:lstStyle/>
              <a:p>
                <a:pPr marL="0" marR="0" lvl="0" indent="0" algn="ctr" defTabSz="844083"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Arial"/>
                  <a:ea typeface="MS PGothic" pitchFamily="34" charset="-128"/>
                </a:endParaRPr>
              </a:p>
            </p:txBody>
          </p:sp>
          <p:sp>
            <p:nvSpPr>
              <p:cNvPr id="298" name="16279335.75528.87526.526.6255">
                <a:extLst>
                  <a:ext uri="{FF2B5EF4-FFF2-40B4-BE49-F238E27FC236}">
                    <a16:creationId xmlns:a16="http://schemas.microsoft.com/office/drawing/2014/main" id="{E8F7BD7D-4FA1-4FB8-DBD0-817E84C137D9}"/>
                  </a:ext>
                </a:extLst>
              </p:cNvPr>
              <p:cNvSpPr>
                <a:spLocks/>
              </p:cNvSpPr>
              <p:nvPr/>
            </p:nvSpPr>
            <p:spPr bwMode="auto">
              <a:xfrm>
                <a:off x="6391755" y="3163251"/>
                <a:ext cx="430708" cy="418511"/>
              </a:xfrm>
              <a:custGeom>
                <a:avLst/>
                <a:gdLst>
                  <a:gd name="T0" fmla="*/ 0 w 640"/>
                  <a:gd name="T1" fmla="*/ 1 h 546"/>
                  <a:gd name="T2" fmla="*/ 1 w 640"/>
                  <a:gd name="T3" fmla="*/ 0 h 546"/>
                  <a:gd name="T4" fmla="*/ 1 w 640"/>
                  <a:gd name="T5" fmla="*/ 1 h 546"/>
                  <a:gd name="T6" fmla="*/ 1 w 640"/>
                  <a:gd name="T7" fmla="*/ 1 h 546"/>
                  <a:gd name="T8" fmla="*/ 1 w 640"/>
                  <a:gd name="T9" fmla="*/ 1 h 546"/>
                  <a:gd name="T10" fmla="*/ 1 w 640"/>
                  <a:gd name="T11" fmla="*/ 1 h 546"/>
                  <a:gd name="T12" fmla="*/ 1 w 640"/>
                  <a:gd name="T13" fmla="*/ 1 h 546"/>
                  <a:gd name="T14" fmla="*/ 1 w 640"/>
                  <a:gd name="T15" fmla="*/ 1 h 546"/>
                  <a:gd name="T16" fmla="*/ 1 w 640"/>
                  <a:gd name="T17" fmla="*/ 1 h 546"/>
                  <a:gd name="T18" fmla="*/ 1 w 640"/>
                  <a:gd name="T19" fmla="*/ 1 h 546"/>
                  <a:gd name="T20" fmla="*/ 1 w 640"/>
                  <a:gd name="T21" fmla="*/ 1 h 546"/>
                  <a:gd name="T22" fmla="*/ 1 w 640"/>
                  <a:gd name="T23" fmla="*/ 1 h 546"/>
                  <a:gd name="T24" fmla="*/ 1 w 640"/>
                  <a:gd name="T25" fmla="*/ 1 h 546"/>
                  <a:gd name="T26" fmla="*/ 1 w 640"/>
                  <a:gd name="T27" fmla="*/ 1 h 546"/>
                  <a:gd name="T28" fmla="*/ 1 w 640"/>
                  <a:gd name="T29" fmla="*/ 1 h 546"/>
                  <a:gd name="T30" fmla="*/ 1 w 640"/>
                  <a:gd name="T31" fmla="*/ 1 h 546"/>
                  <a:gd name="T32" fmla="*/ 1 w 640"/>
                  <a:gd name="T33" fmla="*/ 1 h 546"/>
                  <a:gd name="T34" fmla="*/ 1 w 640"/>
                  <a:gd name="T35" fmla="*/ 1 h 546"/>
                  <a:gd name="T36" fmla="*/ 1 w 640"/>
                  <a:gd name="T37" fmla="*/ 1 h 546"/>
                  <a:gd name="T38" fmla="*/ 1 w 640"/>
                  <a:gd name="T39" fmla="*/ 1 h 546"/>
                  <a:gd name="T40" fmla="*/ 1 w 640"/>
                  <a:gd name="T41" fmla="*/ 1 h 546"/>
                  <a:gd name="T42" fmla="*/ 1 w 640"/>
                  <a:gd name="T43" fmla="*/ 1 h 546"/>
                  <a:gd name="T44" fmla="*/ 1 w 640"/>
                  <a:gd name="T45" fmla="*/ 1 h 546"/>
                  <a:gd name="T46" fmla="*/ 1 w 640"/>
                  <a:gd name="T47" fmla="*/ 1 h 546"/>
                  <a:gd name="T48" fmla="*/ 1 w 640"/>
                  <a:gd name="T49" fmla="*/ 1 h 546"/>
                  <a:gd name="T50" fmla="*/ 1 w 640"/>
                  <a:gd name="T51" fmla="*/ 1 h 546"/>
                  <a:gd name="T52" fmla="*/ 1 w 640"/>
                  <a:gd name="T53" fmla="*/ 1 h 546"/>
                  <a:gd name="T54" fmla="*/ 1 w 640"/>
                  <a:gd name="T55" fmla="*/ 1 h 546"/>
                  <a:gd name="T56" fmla="*/ 1 w 640"/>
                  <a:gd name="T57" fmla="*/ 1 h 546"/>
                  <a:gd name="T58" fmla="*/ 1 w 640"/>
                  <a:gd name="T59" fmla="*/ 1 h 546"/>
                  <a:gd name="T60" fmla="*/ 1 w 640"/>
                  <a:gd name="T61" fmla="*/ 1 h 546"/>
                  <a:gd name="T62" fmla="*/ 0 w 640"/>
                  <a:gd name="T63" fmla="*/ 1 h 5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40"/>
                  <a:gd name="T97" fmla="*/ 0 h 546"/>
                  <a:gd name="T98" fmla="*/ 640 w 640"/>
                  <a:gd name="T99" fmla="*/ 546 h 54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40" h="546">
                    <a:moveTo>
                      <a:pt x="0" y="18"/>
                    </a:moveTo>
                    <a:lnTo>
                      <a:pt x="17" y="0"/>
                    </a:lnTo>
                    <a:lnTo>
                      <a:pt x="66" y="41"/>
                    </a:lnTo>
                    <a:lnTo>
                      <a:pt x="127" y="8"/>
                    </a:lnTo>
                    <a:lnTo>
                      <a:pt x="132" y="40"/>
                    </a:lnTo>
                    <a:lnTo>
                      <a:pt x="160" y="51"/>
                    </a:lnTo>
                    <a:lnTo>
                      <a:pt x="167" y="87"/>
                    </a:lnTo>
                    <a:lnTo>
                      <a:pt x="255" y="125"/>
                    </a:lnTo>
                    <a:lnTo>
                      <a:pt x="336" y="114"/>
                    </a:lnTo>
                    <a:lnTo>
                      <a:pt x="329" y="94"/>
                    </a:lnTo>
                    <a:lnTo>
                      <a:pt x="433" y="58"/>
                    </a:lnTo>
                    <a:lnTo>
                      <a:pt x="569" y="120"/>
                    </a:lnTo>
                    <a:lnTo>
                      <a:pt x="574" y="154"/>
                    </a:lnTo>
                    <a:lnTo>
                      <a:pt x="550" y="218"/>
                    </a:lnTo>
                    <a:lnTo>
                      <a:pt x="554" y="306"/>
                    </a:lnTo>
                    <a:lnTo>
                      <a:pt x="589" y="332"/>
                    </a:lnTo>
                    <a:lnTo>
                      <a:pt x="561" y="377"/>
                    </a:lnTo>
                    <a:lnTo>
                      <a:pt x="640" y="476"/>
                    </a:lnTo>
                    <a:lnTo>
                      <a:pt x="587" y="546"/>
                    </a:lnTo>
                    <a:lnTo>
                      <a:pt x="444" y="523"/>
                    </a:lnTo>
                    <a:lnTo>
                      <a:pt x="413" y="478"/>
                    </a:lnTo>
                    <a:lnTo>
                      <a:pt x="315" y="493"/>
                    </a:lnTo>
                    <a:lnTo>
                      <a:pt x="244" y="450"/>
                    </a:lnTo>
                    <a:lnTo>
                      <a:pt x="196" y="366"/>
                    </a:lnTo>
                    <a:lnTo>
                      <a:pt x="159" y="352"/>
                    </a:lnTo>
                    <a:lnTo>
                      <a:pt x="149" y="370"/>
                    </a:lnTo>
                    <a:lnTo>
                      <a:pt x="105" y="285"/>
                    </a:lnTo>
                    <a:lnTo>
                      <a:pt x="43" y="234"/>
                    </a:lnTo>
                    <a:lnTo>
                      <a:pt x="72" y="154"/>
                    </a:lnTo>
                    <a:lnTo>
                      <a:pt x="46" y="145"/>
                    </a:lnTo>
                    <a:lnTo>
                      <a:pt x="22" y="102"/>
                    </a:lnTo>
                    <a:lnTo>
                      <a:pt x="0" y="1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299" name="16307350515.7528.37529.1255">
                <a:extLst>
                  <a:ext uri="{FF2B5EF4-FFF2-40B4-BE49-F238E27FC236}">
                    <a16:creationId xmlns:a16="http://schemas.microsoft.com/office/drawing/2014/main" id="{29A4EEE1-4CB9-4B8E-2834-E0C9E5474BF0}"/>
                  </a:ext>
                </a:extLst>
              </p:cNvPr>
              <p:cNvSpPr>
                <a:spLocks/>
              </p:cNvSpPr>
              <p:nvPr/>
            </p:nvSpPr>
            <p:spPr bwMode="auto">
              <a:xfrm>
                <a:off x="6179095" y="3387070"/>
                <a:ext cx="472432" cy="447637"/>
              </a:xfrm>
              <a:custGeom>
                <a:avLst/>
                <a:gdLst>
                  <a:gd name="T0" fmla="*/ 0 w 703"/>
                  <a:gd name="T1" fmla="*/ 1 h 584"/>
                  <a:gd name="T2" fmla="*/ 0 w 703"/>
                  <a:gd name="T3" fmla="*/ 1 h 584"/>
                  <a:gd name="T4" fmla="*/ 0 w 703"/>
                  <a:gd name="T5" fmla="*/ 1 h 584"/>
                  <a:gd name="T6" fmla="*/ 0 w 703"/>
                  <a:gd name="T7" fmla="*/ 1 h 584"/>
                  <a:gd name="T8" fmla="*/ 0 w 703"/>
                  <a:gd name="T9" fmla="*/ 1 h 584"/>
                  <a:gd name="T10" fmla="*/ 0 w 703"/>
                  <a:gd name="T11" fmla="*/ 1 h 584"/>
                  <a:gd name="T12" fmla="*/ 0 w 703"/>
                  <a:gd name="T13" fmla="*/ 0 h 584"/>
                  <a:gd name="T14" fmla="*/ 0 w 703"/>
                  <a:gd name="T15" fmla="*/ 1 h 584"/>
                  <a:gd name="T16" fmla="*/ 0 w 703"/>
                  <a:gd name="T17" fmla="*/ 1 h 584"/>
                  <a:gd name="T18" fmla="*/ 0 w 703"/>
                  <a:gd name="T19" fmla="*/ 1 h 584"/>
                  <a:gd name="T20" fmla="*/ 0 w 703"/>
                  <a:gd name="T21" fmla="*/ 1 h 584"/>
                  <a:gd name="T22" fmla="*/ 0 w 703"/>
                  <a:gd name="T23" fmla="*/ 1 h 584"/>
                  <a:gd name="T24" fmla="*/ 0 w 703"/>
                  <a:gd name="T25" fmla="*/ 1 h 584"/>
                  <a:gd name="T26" fmla="*/ 0 w 703"/>
                  <a:gd name="T27" fmla="*/ 1 h 584"/>
                  <a:gd name="T28" fmla="*/ 0 w 703"/>
                  <a:gd name="T29" fmla="*/ 1 h 584"/>
                  <a:gd name="T30" fmla="*/ 0 w 703"/>
                  <a:gd name="T31" fmla="*/ 1 h 584"/>
                  <a:gd name="T32" fmla="*/ 0 w 703"/>
                  <a:gd name="T33" fmla="*/ 1 h 584"/>
                  <a:gd name="T34" fmla="*/ 0 w 703"/>
                  <a:gd name="T35" fmla="*/ 1 h 584"/>
                  <a:gd name="T36" fmla="*/ 0 w 703"/>
                  <a:gd name="T37" fmla="*/ 1 h 584"/>
                  <a:gd name="T38" fmla="*/ 0 w 703"/>
                  <a:gd name="T39" fmla="*/ 1 h 584"/>
                  <a:gd name="T40" fmla="*/ 0 w 703"/>
                  <a:gd name="T41" fmla="*/ 1 h 584"/>
                  <a:gd name="T42" fmla="*/ 0 w 703"/>
                  <a:gd name="T43" fmla="*/ 1 h 584"/>
                  <a:gd name="T44" fmla="*/ 0 w 703"/>
                  <a:gd name="T45" fmla="*/ 1 h 584"/>
                  <a:gd name="T46" fmla="*/ 0 w 703"/>
                  <a:gd name="T47" fmla="*/ 1 h 584"/>
                  <a:gd name="T48" fmla="*/ 0 w 703"/>
                  <a:gd name="T49" fmla="*/ 1 h 584"/>
                  <a:gd name="T50" fmla="*/ 0 w 703"/>
                  <a:gd name="T51" fmla="*/ 1 h 584"/>
                  <a:gd name="T52" fmla="*/ 0 w 703"/>
                  <a:gd name="T53" fmla="*/ 1 h 584"/>
                  <a:gd name="T54" fmla="*/ 0 w 703"/>
                  <a:gd name="T55" fmla="*/ 1 h 584"/>
                  <a:gd name="T56" fmla="*/ 0 w 703"/>
                  <a:gd name="T57" fmla="*/ 1 h 5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03"/>
                  <a:gd name="T88" fmla="*/ 0 h 584"/>
                  <a:gd name="T89" fmla="*/ 703 w 703"/>
                  <a:gd name="T90" fmla="*/ 584 h 58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03" h="584">
                    <a:moveTo>
                      <a:pt x="0" y="153"/>
                    </a:moveTo>
                    <a:lnTo>
                      <a:pt x="10" y="102"/>
                    </a:lnTo>
                    <a:lnTo>
                      <a:pt x="47" y="113"/>
                    </a:lnTo>
                    <a:lnTo>
                      <a:pt x="92" y="81"/>
                    </a:lnTo>
                    <a:lnTo>
                      <a:pt x="112" y="59"/>
                    </a:lnTo>
                    <a:lnTo>
                      <a:pt x="75" y="25"/>
                    </a:lnTo>
                    <a:lnTo>
                      <a:pt x="150" y="0"/>
                    </a:lnTo>
                    <a:lnTo>
                      <a:pt x="300" y="67"/>
                    </a:lnTo>
                    <a:lnTo>
                      <a:pt x="301" y="92"/>
                    </a:lnTo>
                    <a:lnTo>
                      <a:pt x="337" y="108"/>
                    </a:lnTo>
                    <a:lnTo>
                      <a:pt x="369" y="125"/>
                    </a:lnTo>
                    <a:lnTo>
                      <a:pt x="398" y="113"/>
                    </a:lnTo>
                    <a:lnTo>
                      <a:pt x="458" y="132"/>
                    </a:lnTo>
                    <a:lnTo>
                      <a:pt x="539" y="265"/>
                    </a:lnTo>
                    <a:lnTo>
                      <a:pt x="549" y="275"/>
                    </a:lnTo>
                    <a:lnTo>
                      <a:pt x="580" y="327"/>
                    </a:lnTo>
                    <a:lnTo>
                      <a:pt x="686" y="340"/>
                    </a:lnTo>
                    <a:lnTo>
                      <a:pt x="703" y="364"/>
                    </a:lnTo>
                    <a:lnTo>
                      <a:pt x="678" y="433"/>
                    </a:lnTo>
                    <a:lnTo>
                      <a:pt x="580" y="467"/>
                    </a:lnTo>
                    <a:lnTo>
                      <a:pt x="473" y="491"/>
                    </a:lnTo>
                    <a:lnTo>
                      <a:pt x="388" y="584"/>
                    </a:lnTo>
                    <a:lnTo>
                      <a:pt x="388" y="549"/>
                    </a:lnTo>
                    <a:lnTo>
                      <a:pt x="327" y="525"/>
                    </a:lnTo>
                    <a:lnTo>
                      <a:pt x="267" y="557"/>
                    </a:lnTo>
                    <a:lnTo>
                      <a:pt x="207" y="451"/>
                    </a:lnTo>
                    <a:lnTo>
                      <a:pt x="157" y="410"/>
                    </a:lnTo>
                    <a:lnTo>
                      <a:pt x="125" y="300"/>
                    </a:lnTo>
                    <a:lnTo>
                      <a:pt x="0" y="15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0" name="16221373.625374.3750.7525">
                <a:extLst>
                  <a:ext uri="{FF2B5EF4-FFF2-40B4-BE49-F238E27FC236}">
                    <a16:creationId xmlns:a16="http://schemas.microsoft.com/office/drawing/2014/main" id="{F4F8F536-4322-7A5F-6FC0-13B5938C3FB3}"/>
                  </a:ext>
                </a:extLst>
              </p:cNvPr>
              <p:cNvSpPr>
                <a:spLocks/>
              </p:cNvSpPr>
              <p:nvPr/>
            </p:nvSpPr>
            <p:spPr bwMode="auto">
              <a:xfrm>
                <a:off x="4580314" y="3805074"/>
                <a:ext cx="32302" cy="12265"/>
              </a:xfrm>
              <a:custGeom>
                <a:avLst/>
                <a:gdLst>
                  <a:gd name="T0" fmla="*/ 0 w 50"/>
                  <a:gd name="T1" fmla="*/ 0 h 17"/>
                  <a:gd name="T2" fmla="*/ 0 w 50"/>
                  <a:gd name="T3" fmla="*/ 0 h 17"/>
                  <a:gd name="T4" fmla="*/ 0 w 50"/>
                  <a:gd name="T5" fmla="*/ 0 h 17"/>
                  <a:gd name="T6" fmla="*/ 0 w 50"/>
                  <a:gd name="T7" fmla="*/ 0 h 17"/>
                  <a:gd name="T8" fmla="*/ 0 60000 65536"/>
                  <a:gd name="T9" fmla="*/ 0 60000 65536"/>
                  <a:gd name="T10" fmla="*/ 0 60000 65536"/>
                  <a:gd name="T11" fmla="*/ 0 60000 65536"/>
                  <a:gd name="T12" fmla="*/ 0 w 50"/>
                  <a:gd name="T13" fmla="*/ 0 h 17"/>
                  <a:gd name="T14" fmla="*/ 50 w 50"/>
                  <a:gd name="T15" fmla="*/ 17 h 17"/>
                </a:gdLst>
                <a:ahLst/>
                <a:cxnLst>
                  <a:cxn ang="T8">
                    <a:pos x="T0" y="T1"/>
                  </a:cxn>
                  <a:cxn ang="T9">
                    <a:pos x="T2" y="T3"/>
                  </a:cxn>
                  <a:cxn ang="T10">
                    <a:pos x="T4" y="T5"/>
                  </a:cxn>
                  <a:cxn ang="T11">
                    <a:pos x="T6" y="T7"/>
                  </a:cxn>
                </a:cxnLst>
                <a:rect l="T12" t="T13" r="T14" b="T15"/>
                <a:pathLst>
                  <a:path w="50" h="17">
                    <a:moveTo>
                      <a:pt x="0" y="0"/>
                    </a:moveTo>
                    <a:lnTo>
                      <a:pt x="4" y="17"/>
                    </a:lnTo>
                    <a:lnTo>
                      <a:pt x="50" y="10"/>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1" name="16222338.5551.7516.37519.6255">
                <a:extLst>
                  <a:ext uri="{FF2B5EF4-FFF2-40B4-BE49-F238E27FC236}">
                    <a16:creationId xmlns:a16="http://schemas.microsoft.com/office/drawing/2014/main" id="{D6636A69-4B3F-E52F-F0F0-C1BB257D2550}"/>
                  </a:ext>
                </a:extLst>
              </p:cNvPr>
              <p:cNvSpPr>
                <a:spLocks/>
              </p:cNvSpPr>
              <p:nvPr/>
            </p:nvSpPr>
            <p:spPr bwMode="auto">
              <a:xfrm>
                <a:off x="6761896" y="3206175"/>
                <a:ext cx="317646" cy="259077"/>
              </a:xfrm>
              <a:custGeom>
                <a:avLst/>
                <a:gdLst>
                  <a:gd name="T0" fmla="*/ 0 w 472"/>
                  <a:gd name="T1" fmla="*/ 0 h 339"/>
                  <a:gd name="T2" fmla="*/ 1 w 472"/>
                  <a:gd name="T3" fmla="*/ 0 h 339"/>
                  <a:gd name="T4" fmla="*/ 1 w 472"/>
                  <a:gd name="T5" fmla="*/ 0 h 339"/>
                  <a:gd name="T6" fmla="*/ 1 w 472"/>
                  <a:gd name="T7" fmla="*/ 0 h 339"/>
                  <a:gd name="T8" fmla="*/ 1 w 472"/>
                  <a:gd name="T9" fmla="*/ 0 h 339"/>
                  <a:gd name="T10" fmla="*/ 1 w 472"/>
                  <a:gd name="T11" fmla="*/ 0 h 339"/>
                  <a:gd name="T12" fmla="*/ 1 w 472"/>
                  <a:gd name="T13" fmla="*/ 0 h 339"/>
                  <a:gd name="T14" fmla="*/ 1 w 472"/>
                  <a:gd name="T15" fmla="*/ 0 h 339"/>
                  <a:gd name="T16" fmla="*/ 1 w 472"/>
                  <a:gd name="T17" fmla="*/ 0 h 339"/>
                  <a:gd name="T18" fmla="*/ 1 w 472"/>
                  <a:gd name="T19" fmla="*/ 0 h 339"/>
                  <a:gd name="T20" fmla="*/ 1 w 472"/>
                  <a:gd name="T21" fmla="*/ 0 h 339"/>
                  <a:gd name="T22" fmla="*/ 1 w 472"/>
                  <a:gd name="T23" fmla="*/ 0 h 339"/>
                  <a:gd name="T24" fmla="*/ 1 w 472"/>
                  <a:gd name="T25" fmla="*/ 0 h 339"/>
                  <a:gd name="T26" fmla="*/ 1 w 472"/>
                  <a:gd name="T27" fmla="*/ 0 h 339"/>
                  <a:gd name="T28" fmla="*/ 1 w 472"/>
                  <a:gd name="T29" fmla="*/ 0 h 339"/>
                  <a:gd name="T30" fmla="*/ 1 w 472"/>
                  <a:gd name="T31" fmla="*/ 0 h 339"/>
                  <a:gd name="T32" fmla="*/ 1 w 472"/>
                  <a:gd name="T33" fmla="*/ 0 h 339"/>
                  <a:gd name="T34" fmla="*/ 1 w 472"/>
                  <a:gd name="T35" fmla="*/ 0 h 339"/>
                  <a:gd name="T36" fmla="*/ 1 w 472"/>
                  <a:gd name="T37" fmla="*/ 0 h 339"/>
                  <a:gd name="T38" fmla="*/ 1 w 472"/>
                  <a:gd name="T39" fmla="*/ 0 h 339"/>
                  <a:gd name="T40" fmla="*/ 1 w 472"/>
                  <a:gd name="T41" fmla="*/ 0 h 339"/>
                  <a:gd name="T42" fmla="*/ 1 w 472"/>
                  <a:gd name="T43" fmla="*/ 0 h 339"/>
                  <a:gd name="T44" fmla="*/ 1 w 472"/>
                  <a:gd name="T45" fmla="*/ 0 h 339"/>
                  <a:gd name="T46" fmla="*/ 0 w 472"/>
                  <a:gd name="T47" fmla="*/ 0 h 3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72"/>
                  <a:gd name="T73" fmla="*/ 0 h 339"/>
                  <a:gd name="T74" fmla="*/ 472 w 472"/>
                  <a:gd name="T75" fmla="*/ 339 h 3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72" h="339">
                    <a:moveTo>
                      <a:pt x="0" y="163"/>
                    </a:moveTo>
                    <a:lnTo>
                      <a:pt x="4" y="251"/>
                    </a:lnTo>
                    <a:lnTo>
                      <a:pt x="39" y="277"/>
                    </a:lnTo>
                    <a:lnTo>
                      <a:pt x="11" y="322"/>
                    </a:lnTo>
                    <a:lnTo>
                      <a:pt x="63" y="339"/>
                    </a:lnTo>
                    <a:lnTo>
                      <a:pt x="186" y="322"/>
                    </a:lnTo>
                    <a:lnTo>
                      <a:pt x="209" y="273"/>
                    </a:lnTo>
                    <a:lnTo>
                      <a:pt x="292" y="245"/>
                    </a:lnTo>
                    <a:lnTo>
                      <a:pt x="300" y="204"/>
                    </a:lnTo>
                    <a:lnTo>
                      <a:pt x="327" y="193"/>
                    </a:lnTo>
                    <a:lnTo>
                      <a:pt x="315" y="171"/>
                    </a:lnTo>
                    <a:lnTo>
                      <a:pt x="345" y="169"/>
                    </a:lnTo>
                    <a:lnTo>
                      <a:pt x="367" y="127"/>
                    </a:lnTo>
                    <a:lnTo>
                      <a:pt x="358" y="86"/>
                    </a:lnTo>
                    <a:lnTo>
                      <a:pt x="469" y="55"/>
                    </a:lnTo>
                    <a:lnTo>
                      <a:pt x="472" y="47"/>
                    </a:lnTo>
                    <a:lnTo>
                      <a:pt x="430" y="39"/>
                    </a:lnTo>
                    <a:lnTo>
                      <a:pt x="371" y="68"/>
                    </a:lnTo>
                    <a:lnTo>
                      <a:pt x="344" y="0"/>
                    </a:lnTo>
                    <a:lnTo>
                      <a:pt x="293" y="51"/>
                    </a:lnTo>
                    <a:lnTo>
                      <a:pt x="147" y="47"/>
                    </a:lnTo>
                    <a:lnTo>
                      <a:pt x="73" y="124"/>
                    </a:lnTo>
                    <a:lnTo>
                      <a:pt x="24" y="99"/>
                    </a:lnTo>
                    <a:lnTo>
                      <a:pt x="0" y="16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2" name="16223330.625494.3755.52.55">
                <a:extLst>
                  <a:ext uri="{FF2B5EF4-FFF2-40B4-BE49-F238E27FC236}">
                    <a16:creationId xmlns:a16="http://schemas.microsoft.com/office/drawing/2014/main" id="{90ACB89D-AA14-E7E8-0BAC-F5F704788A3F}"/>
                  </a:ext>
                </a:extLst>
              </p:cNvPr>
              <p:cNvSpPr>
                <a:spLocks/>
              </p:cNvSpPr>
              <p:nvPr/>
            </p:nvSpPr>
            <p:spPr bwMode="auto">
              <a:xfrm>
                <a:off x="5833182" y="3082002"/>
                <a:ext cx="40378" cy="87380"/>
              </a:xfrm>
              <a:custGeom>
                <a:avLst/>
                <a:gdLst>
                  <a:gd name="T0" fmla="*/ 0 w 61"/>
                  <a:gd name="T1" fmla="*/ 1 h 114"/>
                  <a:gd name="T2" fmla="*/ 0 w 61"/>
                  <a:gd name="T3" fmla="*/ 1 h 114"/>
                  <a:gd name="T4" fmla="*/ 0 w 61"/>
                  <a:gd name="T5" fmla="*/ 0 h 114"/>
                  <a:gd name="T6" fmla="*/ 0 w 61"/>
                  <a:gd name="T7" fmla="*/ 1 h 114"/>
                  <a:gd name="T8" fmla="*/ 0 w 61"/>
                  <a:gd name="T9" fmla="*/ 1 h 114"/>
                  <a:gd name="T10" fmla="*/ 0 w 61"/>
                  <a:gd name="T11" fmla="*/ 1 h 114"/>
                  <a:gd name="T12" fmla="*/ 0 60000 65536"/>
                  <a:gd name="T13" fmla="*/ 0 60000 65536"/>
                  <a:gd name="T14" fmla="*/ 0 60000 65536"/>
                  <a:gd name="T15" fmla="*/ 0 60000 65536"/>
                  <a:gd name="T16" fmla="*/ 0 60000 65536"/>
                  <a:gd name="T17" fmla="*/ 0 60000 65536"/>
                  <a:gd name="T18" fmla="*/ 0 w 61"/>
                  <a:gd name="T19" fmla="*/ 0 h 114"/>
                  <a:gd name="T20" fmla="*/ 61 w 61"/>
                  <a:gd name="T21" fmla="*/ 114 h 114"/>
                </a:gdLst>
                <a:ahLst/>
                <a:cxnLst>
                  <a:cxn ang="T12">
                    <a:pos x="T0" y="T1"/>
                  </a:cxn>
                  <a:cxn ang="T13">
                    <a:pos x="T2" y="T3"/>
                  </a:cxn>
                  <a:cxn ang="T14">
                    <a:pos x="T4" y="T5"/>
                  </a:cxn>
                  <a:cxn ang="T15">
                    <a:pos x="T6" y="T7"/>
                  </a:cxn>
                  <a:cxn ang="T16">
                    <a:pos x="T8" y="T9"/>
                  </a:cxn>
                  <a:cxn ang="T17">
                    <a:pos x="T10" y="T11"/>
                  </a:cxn>
                </a:cxnLst>
                <a:rect l="T18" t="T19" r="T20" b="T21"/>
                <a:pathLst>
                  <a:path w="61" h="114">
                    <a:moveTo>
                      <a:pt x="0" y="87"/>
                    </a:moveTo>
                    <a:lnTo>
                      <a:pt x="3" y="28"/>
                    </a:lnTo>
                    <a:lnTo>
                      <a:pt x="30" y="0"/>
                    </a:lnTo>
                    <a:lnTo>
                      <a:pt x="61" y="68"/>
                    </a:lnTo>
                    <a:lnTo>
                      <a:pt x="32" y="114"/>
                    </a:lnTo>
                    <a:lnTo>
                      <a:pt x="0" y="8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3" name="16224341.25455.7531.528.1255">
                <a:extLst>
                  <a:ext uri="{FF2B5EF4-FFF2-40B4-BE49-F238E27FC236}">
                    <a16:creationId xmlns:a16="http://schemas.microsoft.com/office/drawing/2014/main" id="{4D4E1D27-058E-1E09-17E8-792BD31F4C51}"/>
                  </a:ext>
                </a:extLst>
              </p:cNvPr>
              <p:cNvSpPr>
                <a:spLocks/>
              </p:cNvSpPr>
              <p:nvPr/>
            </p:nvSpPr>
            <p:spPr bwMode="auto">
              <a:xfrm>
                <a:off x="5207311" y="3250633"/>
                <a:ext cx="456280" cy="495161"/>
              </a:xfrm>
              <a:custGeom>
                <a:avLst/>
                <a:gdLst>
                  <a:gd name="T0" fmla="*/ 0 w 678"/>
                  <a:gd name="T1" fmla="*/ 1 h 646"/>
                  <a:gd name="T2" fmla="*/ 1 w 678"/>
                  <a:gd name="T3" fmla="*/ 1 h 646"/>
                  <a:gd name="T4" fmla="*/ 1 w 678"/>
                  <a:gd name="T5" fmla="*/ 1 h 646"/>
                  <a:gd name="T6" fmla="*/ 1 w 678"/>
                  <a:gd name="T7" fmla="*/ 1 h 646"/>
                  <a:gd name="T8" fmla="*/ 1 w 678"/>
                  <a:gd name="T9" fmla="*/ 1 h 646"/>
                  <a:gd name="T10" fmla="*/ 1 w 678"/>
                  <a:gd name="T11" fmla="*/ 1 h 646"/>
                  <a:gd name="T12" fmla="*/ 1 w 678"/>
                  <a:gd name="T13" fmla="*/ 1 h 646"/>
                  <a:gd name="T14" fmla="*/ 1 w 678"/>
                  <a:gd name="T15" fmla="*/ 1 h 646"/>
                  <a:gd name="T16" fmla="*/ 1 w 678"/>
                  <a:gd name="T17" fmla="*/ 1 h 646"/>
                  <a:gd name="T18" fmla="*/ 1 w 678"/>
                  <a:gd name="T19" fmla="*/ 1 h 646"/>
                  <a:gd name="T20" fmla="*/ 1 w 678"/>
                  <a:gd name="T21" fmla="*/ 1 h 646"/>
                  <a:gd name="T22" fmla="*/ 1 w 678"/>
                  <a:gd name="T23" fmla="*/ 1 h 646"/>
                  <a:gd name="T24" fmla="*/ 1 w 678"/>
                  <a:gd name="T25" fmla="*/ 1 h 646"/>
                  <a:gd name="T26" fmla="*/ 1 w 678"/>
                  <a:gd name="T27" fmla="*/ 0 h 646"/>
                  <a:gd name="T28" fmla="*/ 1 w 678"/>
                  <a:gd name="T29" fmla="*/ 1 h 646"/>
                  <a:gd name="T30" fmla="*/ 1 w 678"/>
                  <a:gd name="T31" fmla="*/ 1 h 646"/>
                  <a:gd name="T32" fmla="*/ 1 w 678"/>
                  <a:gd name="T33" fmla="*/ 1 h 646"/>
                  <a:gd name="T34" fmla="*/ 1 w 678"/>
                  <a:gd name="T35" fmla="*/ 1 h 646"/>
                  <a:gd name="T36" fmla="*/ 1 w 678"/>
                  <a:gd name="T37" fmla="*/ 1 h 646"/>
                  <a:gd name="T38" fmla="*/ 1 w 678"/>
                  <a:gd name="T39" fmla="*/ 1 h 646"/>
                  <a:gd name="T40" fmla="*/ 1 w 678"/>
                  <a:gd name="T41" fmla="*/ 1 h 646"/>
                  <a:gd name="T42" fmla="*/ 0 w 678"/>
                  <a:gd name="T43" fmla="*/ 1 h 6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78"/>
                  <a:gd name="T67" fmla="*/ 0 h 646"/>
                  <a:gd name="T68" fmla="*/ 678 w 678"/>
                  <a:gd name="T69" fmla="*/ 646 h 64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78" h="646">
                    <a:moveTo>
                      <a:pt x="0" y="345"/>
                    </a:moveTo>
                    <a:lnTo>
                      <a:pt x="3" y="358"/>
                    </a:lnTo>
                    <a:lnTo>
                      <a:pt x="126" y="439"/>
                    </a:lnTo>
                    <a:lnTo>
                      <a:pt x="394" y="616"/>
                    </a:lnTo>
                    <a:lnTo>
                      <a:pt x="397" y="646"/>
                    </a:lnTo>
                    <a:lnTo>
                      <a:pt x="423" y="642"/>
                    </a:lnTo>
                    <a:lnTo>
                      <a:pt x="476" y="629"/>
                    </a:lnTo>
                    <a:lnTo>
                      <a:pt x="678" y="490"/>
                    </a:lnTo>
                    <a:lnTo>
                      <a:pt x="599" y="398"/>
                    </a:lnTo>
                    <a:lnTo>
                      <a:pt x="601" y="249"/>
                    </a:lnTo>
                    <a:lnTo>
                      <a:pt x="591" y="182"/>
                    </a:lnTo>
                    <a:lnTo>
                      <a:pt x="535" y="114"/>
                    </a:lnTo>
                    <a:lnTo>
                      <a:pt x="563" y="91"/>
                    </a:lnTo>
                    <a:lnTo>
                      <a:pt x="577" y="0"/>
                    </a:lnTo>
                    <a:lnTo>
                      <a:pt x="338" y="15"/>
                    </a:lnTo>
                    <a:lnTo>
                      <a:pt x="214" y="69"/>
                    </a:lnTo>
                    <a:lnTo>
                      <a:pt x="246" y="179"/>
                    </a:lnTo>
                    <a:lnTo>
                      <a:pt x="192" y="182"/>
                    </a:lnTo>
                    <a:lnTo>
                      <a:pt x="164" y="194"/>
                    </a:lnTo>
                    <a:lnTo>
                      <a:pt x="169" y="223"/>
                    </a:lnTo>
                    <a:lnTo>
                      <a:pt x="18" y="289"/>
                    </a:lnTo>
                    <a:lnTo>
                      <a:pt x="0" y="34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4" name="16225421.125624.549.12556.1255">
                <a:extLst>
                  <a:ext uri="{FF2B5EF4-FFF2-40B4-BE49-F238E27FC236}">
                    <a16:creationId xmlns:a16="http://schemas.microsoft.com/office/drawing/2014/main" id="{EA112E90-15FF-BE8E-B330-F470B9E0B573}"/>
                  </a:ext>
                </a:extLst>
              </p:cNvPr>
              <p:cNvSpPr>
                <a:spLocks/>
              </p:cNvSpPr>
              <p:nvPr/>
            </p:nvSpPr>
            <p:spPr bwMode="auto">
              <a:xfrm>
                <a:off x="7940957" y="4507694"/>
                <a:ext cx="908524" cy="775698"/>
              </a:xfrm>
              <a:custGeom>
                <a:avLst/>
                <a:gdLst>
                  <a:gd name="T0" fmla="*/ 1 w 1350"/>
                  <a:gd name="T1" fmla="*/ 1 h 1012"/>
                  <a:gd name="T2" fmla="*/ 1 w 1350"/>
                  <a:gd name="T3" fmla="*/ 1 h 1012"/>
                  <a:gd name="T4" fmla="*/ 1 w 1350"/>
                  <a:gd name="T5" fmla="*/ 1 h 1012"/>
                  <a:gd name="T6" fmla="*/ 1 w 1350"/>
                  <a:gd name="T7" fmla="*/ 1 h 1012"/>
                  <a:gd name="T8" fmla="*/ 1 w 1350"/>
                  <a:gd name="T9" fmla="*/ 1 h 1012"/>
                  <a:gd name="T10" fmla="*/ 1 w 1350"/>
                  <a:gd name="T11" fmla="*/ 1 h 1012"/>
                  <a:gd name="T12" fmla="*/ 1 w 1350"/>
                  <a:gd name="T13" fmla="*/ 1 h 1012"/>
                  <a:gd name="T14" fmla="*/ 1 w 1350"/>
                  <a:gd name="T15" fmla="*/ 1 h 1012"/>
                  <a:gd name="T16" fmla="*/ 1 w 1350"/>
                  <a:gd name="T17" fmla="*/ 1 h 1012"/>
                  <a:gd name="T18" fmla="*/ 1 w 1350"/>
                  <a:gd name="T19" fmla="*/ 1 h 1012"/>
                  <a:gd name="T20" fmla="*/ 1 w 1350"/>
                  <a:gd name="T21" fmla="*/ 1 h 1012"/>
                  <a:gd name="T22" fmla="*/ 1 w 1350"/>
                  <a:gd name="T23" fmla="*/ 1 h 1012"/>
                  <a:gd name="T24" fmla="*/ 1 w 1350"/>
                  <a:gd name="T25" fmla="*/ 1 h 1012"/>
                  <a:gd name="T26" fmla="*/ 1 w 1350"/>
                  <a:gd name="T27" fmla="*/ 1 h 1012"/>
                  <a:gd name="T28" fmla="*/ 1 w 1350"/>
                  <a:gd name="T29" fmla="*/ 1 h 1012"/>
                  <a:gd name="T30" fmla="*/ 1 w 1350"/>
                  <a:gd name="T31" fmla="*/ 1 h 1012"/>
                  <a:gd name="T32" fmla="*/ 1 w 1350"/>
                  <a:gd name="T33" fmla="*/ 1 h 1012"/>
                  <a:gd name="T34" fmla="*/ 1 w 1350"/>
                  <a:gd name="T35" fmla="*/ 1 h 1012"/>
                  <a:gd name="T36" fmla="*/ 1 w 1350"/>
                  <a:gd name="T37" fmla="*/ 1 h 1012"/>
                  <a:gd name="T38" fmla="*/ 1 w 1350"/>
                  <a:gd name="T39" fmla="*/ 1 h 1012"/>
                  <a:gd name="T40" fmla="*/ 1 w 1350"/>
                  <a:gd name="T41" fmla="*/ 1 h 1012"/>
                  <a:gd name="T42" fmla="*/ 1 w 1350"/>
                  <a:gd name="T43" fmla="*/ 1 h 1012"/>
                  <a:gd name="T44" fmla="*/ 1 w 1350"/>
                  <a:gd name="T45" fmla="*/ 1 h 1012"/>
                  <a:gd name="T46" fmla="*/ 1 w 1350"/>
                  <a:gd name="T47" fmla="*/ 1 h 1012"/>
                  <a:gd name="T48" fmla="*/ 1 w 1350"/>
                  <a:gd name="T49" fmla="*/ 1 h 1012"/>
                  <a:gd name="T50" fmla="*/ 1 w 1350"/>
                  <a:gd name="T51" fmla="*/ 1 h 1012"/>
                  <a:gd name="T52" fmla="*/ 1 w 1350"/>
                  <a:gd name="T53" fmla="*/ 1 h 1012"/>
                  <a:gd name="T54" fmla="*/ 1 w 1350"/>
                  <a:gd name="T55" fmla="*/ 1 h 1012"/>
                  <a:gd name="T56" fmla="*/ 1 w 1350"/>
                  <a:gd name="T57" fmla="*/ 1 h 1012"/>
                  <a:gd name="T58" fmla="*/ 1 w 1350"/>
                  <a:gd name="T59" fmla="*/ 1 h 1012"/>
                  <a:gd name="T60" fmla="*/ 1 w 1350"/>
                  <a:gd name="T61" fmla="*/ 1 h 1012"/>
                  <a:gd name="T62" fmla="*/ 1 w 1350"/>
                  <a:gd name="T63" fmla="*/ 1 h 1012"/>
                  <a:gd name="T64" fmla="*/ 1 w 1350"/>
                  <a:gd name="T65" fmla="*/ 1 h 101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50"/>
                  <a:gd name="T100" fmla="*/ 0 h 1012"/>
                  <a:gd name="T101" fmla="*/ 1350 w 1350"/>
                  <a:gd name="T102" fmla="*/ 1012 h 101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50" h="1012">
                    <a:moveTo>
                      <a:pt x="0" y="534"/>
                    </a:moveTo>
                    <a:lnTo>
                      <a:pt x="24" y="542"/>
                    </a:lnTo>
                    <a:lnTo>
                      <a:pt x="10" y="512"/>
                    </a:lnTo>
                    <a:lnTo>
                      <a:pt x="36" y="528"/>
                    </a:lnTo>
                    <a:lnTo>
                      <a:pt x="9" y="470"/>
                    </a:lnTo>
                    <a:lnTo>
                      <a:pt x="27" y="381"/>
                    </a:lnTo>
                    <a:lnTo>
                      <a:pt x="35" y="404"/>
                    </a:lnTo>
                    <a:lnTo>
                      <a:pt x="119" y="334"/>
                    </a:lnTo>
                    <a:lnTo>
                      <a:pt x="259" y="301"/>
                    </a:lnTo>
                    <a:lnTo>
                      <a:pt x="307" y="249"/>
                    </a:lnTo>
                    <a:lnTo>
                      <a:pt x="306" y="216"/>
                    </a:lnTo>
                    <a:lnTo>
                      <a:pt x="325" y="191"/>
                    </a:lnTo>
                    <a:lnTo>
                      <a:pt x="345" y="231"/>
                    </a:lnTo>
                    <a:lnTo>
                      <a:pt x="345" y="187"/>
                    </a:lnTo>
                    <a:lnTo>
                      <a:pt x="377" y="197"/>
                    </a:lnTo>
                    <a:lnTo>
                      <a:pt x="378" y="164"/>
                    </a:lnTo>
                    <a:lnTo>
                      <a:pt x="429" y="114"/>
                    </a:lnTo>
                    <a:lnTo>
                      <a:pt x="483" y="117"/>
                    </a:lnTo>
                    <a:lnTo>
                      <a:pt x="494" y="166"/>
                    </a:lnTo>
                    <a:lnTo>
                      <a:pt x="514" y="138"/>
                    </a:lnTo>
                    <a:lnTo>
                      <a:pt x="554" y="154"/>
                    </a:lnTo>
                    <a:lnTo>
                      <a:pt x="539" y="121"/>
                    </a:lnTo>
                    <a:lnTo>
                      <a:pt x="571" y="69"/>
                    </a:lnTo>
                    <a:lnTo>
                      <a:pt x="650" y="48"/>
                    </a:lnTo>
                    <a:lnTo>
                      <a:pt x="630" y="14"/>
                    </a:lnTo>
                    <a:lnTo>
                      <a:pt x="782" y="56"/>
                    </a:lnTo>
                    <a:lnTo>
                      <a:pt x="749" y="146"/>
                    </a:lnTo>
                    <a:lnTo>
                      <a:pt x="902" y="239"/>
                    </a:lnTo>
                    <a:lnTo>
                      <a:pt x="939" y="202"/>
                    </a:lnTo>
                    <a:lnTo>
                      <a:pt x="956" y="47"/>
                    </a:lnTo>
                    <a:lnTo>
                      <a:pt x="993" y="0"/>
                    </a:lnTo>
                    <a:lnTo>
                      <a:pt x="1024" y="120"/>
                    </a:lnTo>
                    <a:lnTo>
                      <a:pt x="1076" y="146"/>
                    </a:lnTo>
                    <a:lnTo>
                      <a:pt x="1111" y="283"/>
                    </a:lnTo>
                    <a:lnTo>
                      <a:pt x="1193" y="327"/>
                    </a:lnTo>
                    <a:lnTo>
                      <a:pt x="1222" y="404"/>
                    </a:lnTo>
                    <a:lnTo>
                      <a:pt x="1254" y="399"/>
                    </a:lnTo>
                    <a:lnTo>
                      <a:pt x="1261" y="440"/>
                    </a:lnTo>
                    <a:lnTo>
                      <a:pt x="1328" y="499"/>
                    </a:lnTo>
                    <a:lnTo>
                      <a:pt x="1350" y="607"/>
                    </a:lnTo>
                    <a:lnTo>
                      <a:pt x="1335" y="710"/>
                    </a:lnTo>
                    <a:lnTo>
                      <a:pt x="1274" y="799"/>
                    </a:lnTo>
                    <a:lnTo>
                      <a:pt x="1232" y="950"/>
                    </a:lnTo>
                    <a:lnTo>
                      <a:pt x="1156" y="967"/>
                    </a:lnTo>
                    <a:lnTo>
                      <a:pt x="1109" y="994"/>
                    </a:lnTo>
                    <a:lnTo>
                      <a:pt x="1112" y="1012"/>
                    </a:lnTo>
                    <a:lnTo>
                      <a:pt x="1064" y="961"/>
                    </a:lnTo>
                    <a:lnTo>
                      <a:pt x="1012" y="999"/>
                    </a:lnTo>
                    <a:lnTo>
                      <a:pt x="949" y="982"/>
                    </a:lnTo>
                    <a:lnTo>
                      <a:pt x="898" y="945"/>
                    </a:lnTo>
                    <a:lnTo>
                      <a:pt x="874" y="868"/>
                    </a:lnTo>
                    <a:lnTo>
                      <a:pt x="836" y="878"/>
                    </a:lnTo>
                    <a:lnTo>
                      <a:pt x="835" y="827"/>
                    </a:lnTo>
                    <a:lnTo>
                      <a:pt x="822" y="860"/>
                    </a:lnTo>
                    <a:lnTo>
                      <a:pt x="795" y="861"/>
                    </a:lnTo>
                    <a:lnTo>
                      <a:pt x="824" y="762"/>
                    </a:lnTo>
                    <a:lnTo>
                      <a:pt x="765" y="856"/>
                    </a:lnTo>
                    <a:lnTo>
                      <a:pt x="737" y="836"/>
                    </a:lnTo>
                    <a:lnTo>
                      <a:pt x="707" y="763"/>
                    </a:lnTo>
                    <a:lnTo>
                      <a:pt x="608" y="722"/>
                    </a:lnTo>
                    <a:lnTo>
                      <a:pt x="428" y="754"/>
                    </a:lnTo>
                    <a:lnTo>
                      <a:pt x="354" y="807"/>
                    </a:lnTo>
                    <a:lnTo>
                      <a:pt x="230" y="812"/>
                    </a:lnTo>
                    <a:lnTo>
                      <a:pt x="160" y="858"/>
                    </a:lnTo>
                    <a:lnTo>
                      <a:pt x="66" y="825"/>
                    </a:lnTo>
                    <a:lnTo>
                      <a:pt x="87" y="728"/>
                    </a:lnTo>
                    <a:lnTo>
                      <a:pt x="0" y="53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5" name="16226473.25668.55.54.8755">
                <a:extLst>
                  <a:ext uri="{FF2B5EF4-FFF2-40B4-BE49-F238E27FC236}">
                    <a16:creationId xmlns:a16="http://schemas.microsoft.com/office/drawing/2014/main" id="{E2831D2D-DE25-E0F1-FE7C-E99FE6BEFCD8}"/>
                  </a:ext>
                </a:extLst>
              </p:cNvPr>
              <p:cNvSpPr>
                <a:spLocks/>
              </p:cNvSpPr>
              <p:nvPr/>
            </p:nvSpPr>
            <p:spPr bwMode="auto">
              <a:xfrm>
                <a:off x="8652971" y="5329382"/>
                <a:ext cx="79412" cy="87380"/>
              </a:xfrm>
              <a:custGeom>
                <a:avLst/>
                <a:gdLst>
                  <a:gd name="T0" fmla="*/ 0 w 116"/>
                  <a:gd name="T1" fmla="*/ 0 h 115"/>
                  <a:gd name="T2" fmla="*/ 1 w 116"/>
                  <a:gd name="T3" fmla="*/ 0 h 115"/>
                  <a:gd name="T4" fmla="*/ 1 w 116"/>
                  <a:gd name="T5" fmla="*/ 0 h 115"/>
                  <a:gd name="T6" fmla="*/ 1 w 116"/>
                  <a:gd name="T7" fmla="*/ 0 h 115"/>
                  <a:gd name="T8" fmla="*/ 1 w 116"/>
                  <a:gd name="T9" fmla="*/ 0 h 115"/>
                  <a:gd name="T10" fmla="*/ 1 w 116"/>
                  <a:gd name="T11" fmla="*/ 0 h 115"/>
                  <a:gd name="T12" fmla="*/ 1 w 116"/>
                  <a:gd name="T13" fmla="*/ 0 h 115"/>
                  <a:gd name="T14" fmla="*/ 1 w 116"/>
                  <a:gd name="T15" fmla="*/ 0 h 115"/>
                  <a:gd name="T16" fmla="*/ 0 w 116"/>
                  <a:gd name="T17" fmla="*/ 0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6"/>
                  <a:gd name="T28" fmla="*/ 0 h 115"/>
                  <a:gd name="T29" fmla="*/ 116 w 116"/>
                  <a:gd name="T30" fmla="*/ 115 h 1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6" h="115">
                    <a:moveTo>
                      <a:pt x="0" y="20"/>
                    </a:moveTo>
                    <a:lnTo>
                      <a:pt x="1" y="0"/>
                    </a:lnTo>
                    <a:lnTo>
                      <a:pt x="60" y="17"/>
                    </a:lnTo>
                    <a:lnTo>
                      <a:pt x="105" y="3"/>
                    </a:lnTo>
                    <a:lnTo>
                      <a:pt x="116" y="31"/>
                    </a:lnTo>
                    <a:lnTo>
                      <a:pt x="116" y="65"/>
                    </a:lnTo>
                    <a:lnTo>
                      <a:pt x="72" y="115"/>
                    </a:lnTo>
                    <a:lnTo>
                      <a:pt x="42" y="112"/>
                    </a:lnTo>
                    <a:lnTo>
                      <a:pt x="0" y="2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6" name="16227318.125480.754.62510.6255">
                <a:extLst>
                  <a:ext uri="{FF2B5EF4-FFF2-40B4-BE49-F238E27FC236}">
                    <a16:creationId xmlns:a16="http://schemas.microsoft.com/office/drawing/2014/main" id="{D571C727-BBF7-392E-C99B-F5301E9A0A9D}"/>
                  </a:ext>
                </a:extLst>
              </p:cNvPr>
              <p:cNvSpPr>
                <a:spLocks/>
              </p:cNvSpPr>
              <p:nvPr/>
            </p:nvSpPr>
            <p:spPr bwMode="auto">
              <a:xfrm>
                <a:off x="5612445" y="2885778"/>
                <a:ext cx="172282" cy="73583"/>
              </a:xfrm>
              <a:custGeom>
                <a:avLst/>
                <a:gdLst>
                  <a:gd name="T0" fmla="*/ 0 w 256"/>
                  <a:gd name="T1" fmla="*/ 0 h 98"/>
                  <a:gd name="T2" fmla="*/ 1 w 256"/>
                  <a:gd name="T3" fmla="*/ 0 h 98"/>
                  <a:gd name="T4" fmla="*/ 1 w 256"/>
                  <a:gd name="T5" fmla="*/ 0 h 98"/>
                  <a:gd name="T6" fmla="*/ 1 w 256"/>
                  <a:gd name="T7" fmla="*/ 0 h 98"/>
                  <a:gd name="T8" fmla="*/ 1 w 256"/>
                  <a:gd name="T9" fmla="*/ 0 h 98"/>
                  <a:gd name="T10" fmla="*/ 1 w 256"/>
                  <a:gd name="T11" fmla="*/ 0 h 98"/>
                  <a:gd name="T12" fmla="*/ 1 w 256"/>
                  <a:gd name="T13" fmla="*/ 0 h 98"/>
                  <a:gd name="T14" fmla="*/ 1 w 256"/>
                  <a:gd name="T15" fmla="*/ 0 h 98"/>
                  <a:gd name="T16" fmla="*/ 1 w 256"/>
                  <a:gd name="T17" fmla="*/ 0 h 98"/>
                  <a:gd name="T18" fmla="*/ 1 w 256"/>
                  <a:gd name="T19" fmla="*/ 0 h 98"/>
                  <a:gd name="T20" fmla="*/ 1 w 256"/>
                  <a:gd name="T21" fmla="*/ 0 h 98"/>
                  <a:gd name="T22" fmla="*/ 0 w 256"/>
                  <a:gd name="T23" fmla="*/ 0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6"/>
                  <a:gd name="T37" fmla="*/ 0 h 98"/>
                  <a:gd name="T38" fmla="*/ 256 w 256"/>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6" h="98">
                    <a:moveTo>
                      <a:pt x="0" y="55"/>
                    </a:moveTo>
                    <a:lnTo>
                      <a:pt x="4" y="59"/>
                    </a:lnTo>
                    <a:lnTo>
                      <a:pt x="5" y="77"/>
                    </a:lnTo>
                    <a:lnTo>
                      <a:pt x="33" y="81"/>
                    </a:lnTo>
                    <a:lnTo>
                      <a:pt x="85" y="72"/>
                    </a:lnTo>
                    <a:lnTo>
                      <a:pt x="142" y="98"/>
                    </a:lnTo>
                    <a:lnTo>
                      <a:pt x="221" y="80"/>
                    </a:lnTo>
                    <a:lnTo>
                      <a:pt x="256" y="30"/>
                    </a:lnTo>
                    <a:lnTo>
                      <a:pt x="242" y="0"/>
                    </a:lnTo>
                    <a:lnTo>
                      <a:pt x="143" y="1"/>
                    </a:lnTo>
                    <a:lnTo>
                      <a:pt x="113" y="54"/>
                    </a:lnTo>
                    <a:lnTo>
                      <a:pt x="0" y="5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7" name="16228359.875589.59.6256.6255">
                <a:extLst>
                  <a:ext uri="{FF2B5EF4-FFF2-40B4-BE49-F238E27FC236}">
                    <a16:creationId xmlns:a16="http://schemas.microsoft.com/office/drawing/2014/main" id="{834AF7F0-D8C2-0765-6165-D01B6A51787B}"/>
                  </a:ext>
                </a:extLst>
              </p:cNvPr>
              <p:cNvSpPr>
                <a:spLocks/>
              </p:cNvSpPr>
              <p:nvPr/>
            </p:nvSpPr>
            <p:spPr bwMode="auto">
              <a:xfrm>
                <a:off x="7374307" y="3543436"/>
                <a:ext cx="107677" cy="151767"/>
              </a:xfrm>
              <a:custGeom>
                <a:avLst/>
                <a:gdLst>
                  <a:gd name="T0" fmla="*/ 0 w 159"/>
                  <a:gd name="T1" fmla="*/ 1 h 198"/>
                  <a:gd name="T2" fmla="*/ 1 w 159"/>
                  <a:gd name="T3" fmla="*/ 1 h 198"/>
                  <a:gd name="T4" fmla="*/ 1 w 159"/>
                  <a:gd name="T5" fmla="*/ 1 h 198"/>
                  <a:gd name="T6" fmla="*/ 1 w 159"/>
                  <a:gd name="T7" fmla="*/ 1 h 198"/>
                  <a:gd name="T8" fmla="*/ 1 w 159"/>
                  <a:gd name="T9" fmla="*/ 1 h 198"/>
                  <a:gd name="T10" fmla="*/ 1 w 159"/>
                  <a:gd name="T11" fmla="*/ 1 h 198"/>
                  <a:gd name="T12" fmla="*/ 1 w 159"/>
                  <a:gd name="T13" fmla="*/ 1 h 198"/>
                  <a:gd name="T14" fmla="*/ 1 w 159"/>
                  <a:gd name="T15" fmla="*/ 1 h 198"/>
                  <a:gd name="T16" fmla="*/ 1 w 159"/>
                  <a:gd name="T17" fmla="*/ 1 h 198"/>
                  <a:gd name="T18" fmla="*/ 1 w 159"/>
                  <a:gd name="T19" fmla="*/ 1 h 198"/>
                  <a:gd name="T20" fmla="*/ 1 w 159"/>
                  <a:gd name="T21" fmla="*/ 1 h 198"/>
                  <a:gd name="T22" fmla="*/ 1 w 159"/>
                  <a:gd name="T23" fmla="*/ 1 h 198"/>
                  <a:gd name="T24" fmla="*/ 1 w 159"/>
                  <a:gd name="T25" fmla="*/ 1 h 198"/>
                  <a:gd name="T26" fmla="*/ 1 w 159"/>
                  <a:gd name="T27" fmla="*/ 0 h 198"/>
                  <a:gd name="T28" fmla="*/ 1 w 159"/>
                  <a:gd name="T29" fmla="*/ 1 h 198"/>
                  <a:gd name="T30" fmla="*/ 1 w 159"/>
                  <a:gd name="T31" fmla="*/ 1 h 198"/>
                  <a:gd name="T32" fmla="*/ 0 w 159"/>
                  <a:gd name="T33" fmla="*/ 1 h 1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9"/>
                  <a:gd name="T52" fmla="*/ 0 h 198"/>
                  <a:gd name="T53" fmla="*/ 159 w 159"/>
                  <a:gd name="T54" fmla="*/ 198 h 1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9" h="198">
                    <a:moveTo>
                      <a:pt x="0" y="59"/>
                    </a:moveTo>
                    <a:lnTo>
                      <a:pt x="22" y="80"/>
                    </a:lnTo>
                    <a:lnTo>
                      <a:pt x="34" y="172"/>
                    </a:lnTo>
                    <a:lnTo>
                      <a:pt x="74" y="166"/>
                    </a:lnTo>
                    <a:lnTo>
                      <a:pt x="98" y="126"/>
                    </a:lnTo>
                    <a:lnTo>
                      <a:pt x="126" y="135"/>
                    </a:lnTo>
                    <a:lnTo>
                      <a:pt x="146" y="198"/>
                    </a:lnTo>
                    <a:lnTo>
                      <a:pt x="159" y="162"/>
                    </a:lnTo>
                    <a:lnTo>
                      <a:pt x="142" y="97"/>
                    </a:lnTo>
                    <a:lnTo>
                      <a:pt x="126" y="122"/>
                    </a:lnTo>
                    <a:lnTo>
                      <a:pt x="106" y="91"/>
                    </a:lnTo>
                    <a:lnTo>
                      <a:pt x="144" y="51"/>
                    </a:lnTo>
                    <a:lnTo>
                      <a:pt x="69" y="45"/>
                    </a:lnTo>
                    <a:lnTo>
                      <a:pt x="21" y="0"/>
                    </a:lnTo>
                    <a:lnTo>
                      <a:pt x="5" y="25"/>
                    </a:lnTo>
                    <a:lnTo>
                      <a:pt x="23" y="45"/>
                    </a:lnTo>
                    <a:lnTo>
                      <a:pt x="0" y="5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8" name="16229312.5471.6253.8754.3755">
                <a:extLst>
                  <a:ext uri="{FF2B5EF4-FFF2-40B4-BE49-F238E27FC236}">
                    <a16:creationId xmlns:a16="http://schemas.microsoft.com/office/drawing/2014/main" id="{0E60DFD6-F3B3-8719-CCD8-051FF847F3E3}"/>
                  </a:ext>
                </a:extLst>
              </p:cNvPr>
              <p:cNvSpPr>
                <a:spLocks/>
              </p:cNvSpPr>
              <p:nvPr/>
            </p:nvSpPr>
            <p:spPr bwMode="auto">
              <a:xfrm>
                <a:off x="5464389" y="2796864"/>
                <a:ext cx="72682" cy="61319"/>
              </a:xfrm>
              <a:custGeom>
                <a:avLst/>
                <a:gdLst>
                  <a:gd name="T0" fmla="*/ 0 w 109"/>
                  <a:gd name="T1" fmla="*/ 1 h 78"/>
                  <a:gd name="T2" fmla="*/ 0 w 109"/>
                  <a:gd name="T3" fmla="*/ 1 h 78"/>
                  <a:gd name="T4" fmla="*/ 0 w 109"/>
                  <a:gd name="T5" fmla="*/ 0 h 78"/>
                  <a:gd name="T6" fmla="*/ 0 w 109"/>
                  <a:gd name="T7" fmla="*/ 1 h 78"/>
                  <a:gd name="T8" fmla="*/ 0 w 109"/>
                  <a:gd name="T9" fmla="*/ 1 h 78"/>
                  <a:gd name="T10" fmla="*/ 0 w 109"/>
                  <a:gd name="T11" fmla="*/ 1 h 78"/>
                  <a:gd name="T12" fmla="*/ 0 w 109"/>
                  <a:gd name="T13" fmla="*/ 1 h 78"/>
                  <a:gd name="T14" fmla="*/ 0 60000 65536"/>
                  <a:gd name="T15" fmla="*/ 0 60000 65536"/>
                  <a:gd name="T16" fmla="*/ 0 60000 65536"/>
                  <a:gd name="T17" fmla="*/ 0 60000 65536"/>
                  <a:gd name="T18" fmla="*/ 0 60000 65536"/>
                  <a:gd name="T19" fmla="*/ 0 60000 65536"/>
                  <a:gd name="T20" fmla="*/ 0 60000 65536"/>
                  <a:gd name="T21" fmla="*/ 0 w 109"/>
                  <a:gd name="T22" fmla="*/ 0 h 78"/>
                  <a:gd name="T23" fmla="*/ 109 w 109"/>
                  <a:gd name="T24" fmla="*/ 78 h 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9" h="78">
                    <a:moveTo>
                      <a:pt x="0" y="15"/>
                    </a:moveTo>
                    <a:lnTo>
                      <a:pt x="25" y="4"/>
                    </a:lnTo>
                    <a:lnTo>
                      <a:pt x="73" y="0"/>
                    </a:lnTo>
                    <a:lnTo>
                      <a:pt x="106" y="32"/>
                    </a:lnTo>
                    <a:lnTo>
                      <a:pt x="109" y="56"/>
                    </a:lnTo>
                    <a:lnTo>
                      <a:pt x="96" y="78"/>
                    </a:lnTo>
                    <a:lnTo>
                      <a:pt x="0" y="1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09" name="16230356.8755912.754.1255">
                <a:extLst>
                  <a:ext uri="{FF2B5EF4-FFF2-40B4-BE49-F238E27FC236}">
                    <a16:creationId xmlns:a16="http://schemas.microsoft.com/office/drawing/2014/main" id="{D8D605CC-C532-E2DD-4EC0-D55C1D8A21D5}"/>
                  </a:ext>
                </a:extLst>
              </p:cNvPr>
              <p:cNvSpPr>
                <a:spLocks/>
              </p:cNvSpPr>
              <p:nvPr/>
            </p:nvSpPr>
            <p:spPr bwMode="auto">
              <a:xfrm>
                <a:off x="7397188" y="3495913"/>
                <a:ext cx="68643" cy="44457"/>
              </a:xfrm>
              <a:custGeom>
                <a:avLst/>
                <a:gdLst>
                  <a:gd name="T0" fmla="*/ 0 w 102"/>
                  <a:gd name="T1" fmla="*/ 1 h 56"/>
                  <a:gd name="T2" fmla="*/ 1 w 102"/>
                  <a:gd name="T3" fmla="*/ 1 h 56"/>
                  <a:gd name="T4" fmla="*/ 1 w 102"/>
                  <a:gd name="T5" fmla="*/ 1 h 56"/>
                  <a:gd name="T6" fmla="*/ 1 w 102"/>
                  <a:gd name="T7" fmla="*/ 1 h 56"/>
                  <a:gd name="T8" fmla="*/ 1 w 102"/>
                  <a:gd name="T9" fmla="*/ 0 h 56"/>
                  <a:gd name="T10" fmla="*/ 0 w 102"/>
                  <a:gd name="T11" fmla="*/ 1 h 56"/>
                  <a:gd name="T12" fmla="*/ 0 60000 65536"/>
                  <a:gd name="T13" fmla="*/ 0 60000 65536"/>
                  <a:gd name="T14" fmla="*/ 0 60000 65536"/>
                  <a:gd name="T15" fmla="*/ 0 60000 65536"/>
                  <a:gd name="T16" fmla="*/ 0 60000 65536"/>
                  <a:gd name="T17" fmla="*/ 0 60000 65536"/>
                  <a:gd name="T18" fmla="*/ 0 w 102"/>
                  <a:gd name="T19" fmla="*/ 0 h 56"/>
                  <a:gd name="T20" fmla="*/ 102 w 102"/>
                  <a:gd name="T21" fmla="*/ 56 h 56"/>
                </a:gdLst>
                <a:ahLst/>
                <a:cxnLst>
                  <a:cxn ang="T12">
                    <a:pos x="T0" y="T1"/>
                  </a:cxn>
                  <a:cxn ang="T13">
                    <a:pos x="T2" y="T3"/>
                  </a:cxn>
                  <a:cxn ang="T14">
                    <a:pos x="T4" y="T5"/>
                  </a:cxn>
                  <a:cxn ang="T15">
                    <a:pos x="T6" y="T7"/>
                  </a:cxn>
                  <a:cxn ang="T16">
                    <a:pos x="T8" y="T9"/>
                  </a:cxn>
                  <a:cxn ang="T17">
                    <a:pos x="T10" y="T11"/>
                  </a:cxn>
                </a:cxnLst>
                <a:rect l="T18" t="T19" r="T20" b="T21"/>
                <a:pathLst>
                  <a:path w="102" h="56">
                    <a:moveTo>
                      <a:pt x="0" y="34"/>
                    </a:moveTo>
                    <a:lnTo>
                      <a:pt x="14" y="56"/>
                    </a:lnTo>
                    <a:lnTo>
                      <a:pt x="102" y="47"/>
                    </a:lnTo>
                    <a:lnTo>
                      <a:pt x="97" y="16"/>
                    </a:lnTo>
                    <a:lnTo>
                      <a:pt x="33" y="0"/>
                    </a:lnTo>
                    <a:lnTo>
                      <a:pt x="0" y="3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0" name="16231419.25370.8752216.6255">
                <a:extLst>
                  <a:ext uri="{FF2B5EF4-FFF2-40B4-BE49-F238E27FC236}">
                    <a16:creationId xmlns:a16="http://schemas.microsoft.com/office/drawing/2014/main" id="{DE946286-BA19-17D6-A76D-FC77273A794C}"/>
                  </a:ext>
                </a:extLst>
              </p:cNvPr>
              <p:cNvSpPr>
                <a:spLocks/>
              </p:cNvSpPr>
              <p:nvPr/>
            </p:nvSpPr>
            <p:spPr bwMode="auto">
              <a:xfrm>
                <a:off x="4523784" y="4524053"/>
                <a:ext cx="269192" cy="347991"/>
              </a:xfrm>
              <a:custGeom>
                <a:avLst/>
                <a:gdLst>
                  <a:gd name="T0" fmla="*/ 0 w 399"/>
                  <a:gd name="T1" fmla="*/ 1 h 452"/>
                  <a:gd name="T2" fmla="*/ 1 w 399"/>
                  <a:gd name="T3" fmla="*/ 1 h 452"/>
                  <a:gd name="T4" fmla="*/ 1 w 399"/>
                  <a:gd name="T5" fmla="*/ 1 h 452"/>
                  <a:gd name="T6" fmla="*/ 1 w 399"/>
                  <a:gd name="T7" fmla="*/ 1 h 452"/>
                  <a:gd name="T8" fmla="*/ 1 w 399"/>
                  <a:gd name="T9" fmla="*/ 1 h 452"/>
                  <a:gd name="T10" fmla="*/ 1 w 399"/>
                  <a:gd name="T11" fmla="*/ 1 h 452"/>
                  <a:gd name="T12" fmla="*/ 1 w 399"/>
                  <a:gd name="T13" fmla="*/ 1 h 452"/>
                  <a:gd name="T14" fmla="*/ 1 w 399"/>
                  <a:gd name="T15" fmla="*/ 1 h 452"/>
                  <a:gd name="T16" fmla="*/ 1 w 399"/>
                  <a:gd name="T17" fmla="*/ 1 h 452"/>
                  <a:gd name="T18" fmla="*/ 1 w 399"/>
                  <a:gd name="T19" fmla="*/ 1 h 452"/>
                  <a:gd name="T20" fmla="*/ 1 w 399"/>
                  <a:gd name="T21" fmla="*/ 1 h 452"/>
                  <a:gd name="T22" fmla="*/ 1 w 399"/>
                  <a:gd name="T23" fmla="*/ 1 h 452"/>
                  <a:gd name="T24" fmla="*/ 1 w 399"/>
                  <a:gd name="T25" fmla="*/ 1 h 452"/>
                  <a:gd name="T26" fmla="*/ 1 w 399"/>
                  <a:gd name="T27" fmla="*/ 1 h 452"/>
                  <a:gd name="T28" fmla="*/ 1 w 399"/>
                  <a:gd name="T29" fmla="*/ 1 h 452"/>
                  <a:gd name="T30" fmla="*/ 1 w 399"/>
                  <a:gd name="T31" fmla="*/ 1 h 452"/>
                  <a:gd name="T32" fmla="*/ 1 w 399"/>
                  <a:gd name="T33" fmla="*/ 1 h 452"/>
                  <a:gd name="T34" fmla="*/ 1 w 399"/>
                  <a:gd name="T35" fmla="*/ 1 h 452"/>
                  <a:gd name="T36" fmla="*/ 1 w 399"/>
                  <a:gd name="T37" fmla="*/ 1 h 452"/>
                  <a:gd name="T38" fmla="*/ 1 w 399"/>
                  <a:gd name="T39" fmla="*/ 1 h 452"/>
                  <a:gd name="T40" fmla="*/ 1 w 399"/>
                  <a:gd name="T41" fmla="*/ 1 h 452"/>
                  <a:gd name="T42" fmla="*/ 1 w 399"/>
                  <a:gd name="T43" fmla="*/ 0 h 452"/>
                  <a:gd name="T44" fmla="*/ 1 w 399"/>
                  <a:gd name="T45" fmla="*/ 1 h 452"/>
                  <a:gd name="T46" fmla="*/ 0 w 399"/>
                  <a:gd name="T47" fmla="*/ 1 h 4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99"/>
                  <a:gd name="T73" fmla="*/ 0 h 452"/>
                  <a:gd name="T74" fmla="*/ 399 w 399"/>
                  <a:gd name="T75" fmla="*/ 452 h 4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99" h="452">
                    <a:moveTo>
                      <a:pt x="0" y="45"/>
                    </a:moveTo>
                    <a:lnTo>
                      <a:pt x="30" y="93"/>
                    </a:lnTo>
                    <a:lnTo>
                      <a:pt x="9" y="197"/>
                    </a:lnTo>
                    <a:lnTo>
                      <a:pt x="30" y="208"/>
                    </a:lnTo>
                    <a:lnTo>
                      <a:pt x="20" y="223"/>
                    </a:lnTo>
                    <a:lnTo>
                      <a:pt x="2" y="265"/>
                    </a:lnTo>
                    <a:lnTo>
                      <a:pt x="37" y="326"/>
                    </a:lnTo>
                    <a:lnTo>
                      <a:pt x="57" y="450"/>
                    </a:lnTo>
                    <a:lnTo>
                      <a:pt x="81" y="452"/>
                    </a:lnTo>
                    <a:lnTo>
                      <a:pt x="116" y="414"/>
                    </a:lnTo>
                    <a:lnTo>
                      <a:pt x="178" y="445"/>
                    </a:lnTo>
                    <a:lnTo>
                      <a:pt x="182" y="423"/>
                    </a:lnTo>
                    <a:lnTo>
                      <a:pt x="236" y="432"/>
                    </a:lnTo>
                    <a:lnTo>
                      <a:pt x="257" y="342"/>
                    </a:lnTo>
                    <a:lnTo>
                      <a:pt x="354" y="326"/>
                    </a:lnTo>
                    <a:lnTo>
                      <a:pt x="387" y="356"/>
                    </a:lnTo>
                    <a:lnTo>
                      <a:pt x="399" y="287"/>
                    </a:lnTo>
                    <a:lnTo>
                      <a:pt x="378" y="228"/>
                    </a:lnTo>
                    <a:lnTo>
                      <a:pt x="321" y="224"/>
                    </a:lnTo>
                    <a:lnTo>
                      <a:pt x="298" y="135"/>
                    </a:lnTo>
                    <a:lnTo>
                      <a:pt x="149" y="75"/>
                    </a:lnTo>
                    <a:lnTo>
                      <a:pt x="141" y="0"/>
                    </a:lnTo>
                    <a:lnTo>
                      <a:pt x="41" y="48"/>
                    </a:lnTo>
                    <a:lnTo>
                      <a:pt x="0" y="4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1" name="16232373.625343.8754.251.1255">
                <a:extLst>
                  <a:ext uri="{FF2B5EF4-FFF2-40B4-BE49-F238E27FC236}">
                    <a16:creationId xmlns:a16="http://schemas.microsoft.com/office/drawing/2014/main" id="{273EE488-0E47-6F73-D6CF-BAE0497AC357}"/>
                  </a:ext>
                </a:extLst>
              </p:cNvPr>
              <p:cNvSpPr>
                <a:spLocks/>
              </p:cNvSpPr>
              <p:nvPr/>
            </p:nvSpPr>
            <p:spPr bwMode="auto">
              <a:xfrm>
                <a:off x="4086346" y="3805074"/>
                <a:ext cx="17498" cy="67452"/>
              </a:xfrm>
              <a:custGeom>
                <a:avLst/>
                <a:gdLst>
                  <a:gd name="T0" fmla="*/ 0 w 28"/>
                  <a:gd name="T1" fmla="*/ 1 h 88"/>
                  <a:gd name="T2" fmla="*/ 0 w 28"/>
                  <a:gd name="T3" fmla="*/ 1 h 88"/>
                  <a:gd name="T4" fmla="*/ 0 w 28"/>
                  <a:gd name="T5" fmla="*/ 0 h 88"/>
                  <a:gd name="T6" fmla="*/ 0 w 28"/>
                  <a:gd name="T7" fmla="*/ 1 h 88"/>
                  <a:gd name="T8" fmla="*/ 0 60000 65536"/>
                  <a:gd name="T9" fmla="*/ 0 60000 65536"/>
                  <a:gd name="T10" fmla="*/ 0 60000 65536"/>
                  <a:gd name="T11" fmla="*/ 0 60000 65536"/>
                  <a:gd name="T12" fmla="*/ 0 w 28"/>
                  <a:gd name="T13" fmla="*/ 0 h 88"/>
                  <a:gd name="T14" fmla="*/ 28 w 28"/>
                  <a:gd name="T15" fmla="*/ 88 h 88"/>
                </a:gdLst>
                <a:ahLst/>
                <a:cxnLst>
                  <a:cxn ang="T8">
                    <a:pos x="T0" y="T1"/>
                  </a:cxn>
                  <a:cxn ang="T9">
                    <a:pos x="T2" y="T3"/>
                  </a:cxn>
                  <a:cxn ang="T10">
                    <a:pos x="T4" y="T5"/>
                  </a:cxn>
                  <a:cxn ang="T11">
                    <a:pos x="T6" y="T7"/>
                  </a:cxn>
                </a:cxnLst>
                <a:rect l="T12" t="T13" r="T14" b="T15"/>
                <a:pathLst>
                  <a:path w="28" h="88">
                    <a:moveTo>
                      <a:pt x="0" y="20"/>
                    </a:moveTo>
                    <a:lnTo>
                      <a:pt x="11" y="88"/>
                    </a:lnTo>
                    <a:lnTo>
                      <a:pt x="28" y="0"/>
                    </a:lnTo>
                    <a:lnTo>
                      <a:pt x="0" y="2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2" name="16233395.625625.8751.6251.6255">
                <a:extLst>
                  <a:ext uri="{FF2B5EF4-FFF2-40B4-BE49-F238E27FC236}">
                    <a16:creationId xmlns:a16="http://schemas.microsoft.com/office/drawing/2014/main" id="{019C9DED-193B-A127-E2F4-54FC400CA7CE}"/>
                  </a:ext>
                </a:extLst>
              </p:cNvPr>
              <p:cNvSpPr>
                <a:spLocks/>
              </p:cNvSpPr>
              <p:nvPr/>
            </p:nvSpPr>
            <p:spPr bwMode="auto">
              <a:xfrm>
                <a:off x="7962493" y="4106047"/>
                <a:ext cx="26919" cy="26061"/>
              </a:xfrm>
              <a:custGeom>
                <a:avLst/>
                <a:gdLst>
                  <a:gd name="T0" fmla="*/ 0 w 40"/>
                  <a:gd name="T1" fmla="*/ 1 h 34"/>
                  <a:gd name="T2" fmla="*/ 1 w 40"/>
                  <a:gd name="T3" fmla="*/ 1 h 34"/>
                  <a:gd name="T4" fmla="*/ 1 w 40"/>
                  <a:gd name="T5" fmla="*/ 0 h 34"/>
                  <a:gd name="T6" fmla="*/ 0 w 40"/>
                  <a:gd name="T7" fmla="*/ 1 h 34"/>
                  <a:gd name="T8" fmla="*/ 0 60000 65536"/>
                  <a:gd name="T9" fmla="*/ 0 60000 65536"/>
                  <a:gd name="T10" fmla="*/ 0 60000 65536"/>
                  <a:gd name="T11" fmla="*/ 0 60000 65536"/>
                  <a:gd name="T12" fmla="*/ 0 w 40"/>
                  <a:gd name="T13" fmla="*/ 0 h 34"/>
                  <a:gd name="T14" fmla="*/ 40 w 40"/>
                  <a:gd name="T15" fmla="*/ 34 h 34"/>
                </a:gdLst>
                <a:ahLst/>
                <a:cxnLst>
                  <a:cxn ang="T8">
                    <a:pos x="T0" y="T1"/>
                  </a:cxn>
                  <a:cxn ang="T9">
                    <a:pos x="T2" y="T3"/>
                  </a:cxn>
                  <a:cxn ang="T10">
                    <a:pos x="T4" y="T5"/>
                  </a:cxn>
                  <a:cxn ang="T11">
                    <a:pos x="T6" y="T7"/>
                  </a:cxn>
                </a:cxnLst>
                <a:rect l="T12" t="T13" r="T14" b="T15"/>
                <a:pathLst>
                  <a:path w="40" h="34">
                    <a:moveTo>
                      <a:pt x="0" y="15"/>
                    </a:moveTo>
                    <a:lnTo>
                      <a:pt x="21" y="34"/>
                    </a:lnTo>
                    <a:lnTo>
                      <a:pt x="40" y="0"/>
                    </a:lnTo>
                    <a:lnTo>
                      <a:pt x="0" y="1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3" name="16234357.125595.62530.12512.55">
                <a:extLst>
                  <a:ext uri="{FF2B5EF4-FFF2-40B4-BE49-F238E27FC236}">
                    <a16:creationId xmlns:a16="http://schemas.microsoft.com/office/drawing/2014/main" id="{2DBE319B-B7EA-A61D-4B46-BC83E581A58D}"/>
                  </a:ext>
                </a:extLst>
              </p:cNvPr>
              <p:cNvSpPr>
                <a:spLocks/>
              </p:cNvSpPr>
              <p:nvPr/>
            </p:nvSpPr>
            <p:spPr bwMode="auto">
              <a:xfrm>
                <a:off x="7472563" y="3500511"/>
                <a:ext cx="201894" cy="475231"/>
              </a:xfrm>
              <a:custGeom>
                <a:avLst/>
                <a:gdLst>
                  <a:gd name="T0" fmla="*/ 0 w 301"/>
                  <a:gd name="T1" fmla="*/ 1 h 619"/>
                  <a:gd name="T2" fmla="*/ 0 w 301"/>
                  <a:gd name="T3" fmla="*/ 1 h 619"/>
                  <a:gd name="T4" fmla="*/ 0 w 301"/>
                  <a:gd name="T5" fmla="*/ 1 h 619"/>
                  <a:gd name="T6" fmla="*/ 0 w 301"/>
                  <a:gd name="T7" fmla="*/ 1 h 619"/>
                  <a:gd name="T8" fmla="*/ 0 w 301"/>
                  <a:gd name="T9" fmla="*/ 0 h 619"/>
                  <a:gd name="T10" fmla="*/ 0 w 301"/>
                  <a:gd name="T11" fmla="*/ 1 h 619"/>
                  <a:gd name="T12" fmla="*/ 0 w 301"/>
                  <a:gd name="T13" fmla="*/ 1 h 619"/>
                  <a:gd name="T14" fmla="*/ 0 w 301"/>
                  <a:gd name="T15" fmla="*/ 1 h 619"/>
                  <a:gd name="T16" fmla="*/ 0 w 301"/>
                  <a:gd name="T17" fmla="*/ 1 h 619"/>
                  <a:gd name="T18" fmla="*/ 0 w 301"/>
                  <a:gd name="T19" fmla="*/ 1 h 619"/>
                  <a:gd name="T20" fmla="*/ 0 w 301"/>
                  <a:gd name="T21" fmla="*/ 1 h 619"/>
                  <a:gd name="T22" fmla="*/ 0 w 301"/>
                  <a:gd name="T23" fmla="*/ 1 h 619"/>
                  <a:gd name="T24" fmla="*/ 0 w 301"/>
                  <a:gd name="T25" fmla="*/ 1 h 619"/>
                  <a:gd name="T26" fmla="*/ 0 w 301"/>
                  <a:gd name="T27" fmla="*/ 1 h 619"/>
                  <a:gd name="T28" fmla="*/ 0 w 301"/>
                  <a:gd name="T29" fmla="*/ 1 h 619"/>
                  <a:gd name="T30" fmla="*/ 0 w 301"/>
                  <a:gd name="T31" fmla="*/ 1 h 619"/>
                  <a:gd name="T32" fmla="*/ 0 w 301"/>
                  <a:gd name="T33" fmla="*/ 1 h 619"/>
                  <a:gd name="T34" fmla="*/ 0 w 301"/>
                  <a:gd name="T35" fmla="*/ 1 h 619"/>
                  <a:gd name="T36" fmla="*/ 0 w 301"/>
                  <a:gd name="T37" fmla="*/ 1 h 619"/>
                  <a:gd name="T38" fmla="*/ 0 w 301"/>
                  <a:gd name="T39" fmla="*/ 1 h 619"/>
                  <a:gd name="T40" fmla="*/ 0 w 301"/>
                  <a:gd name="T41" fmla="*/ 1 h 619"/>
                  <a:gd name="T42" fmla="*/ 0 w 301"/>
                  <a:gd name="T43" fmla="*/ 1 h 619"/>
                  <a:gd name="T44" fmla="*/ 0 w 301"/>
                  <a:gd name="T45" fmla="*/ 1 h 619"/>
                  <a:gd name="T46" fmla="*/ 0 w 301"/>
                  <a:gd name="T47" fmla="*/ 1 h 61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01"/>
                  <a:gd name="T73" fmla="*/ 0 h 619"/>
                  <a:gd name="T74" fmla="*/ 301 w 301"/>
                  <a:gd name="T75" fmla="*/ 619 h 61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01" h="619">
                    <a:moveTo>
                      <a:pt x="0" y="255"/>
                    </a:moveTo>
                    <a:lnTo>
                      <a:pt x="13" y="219"/>
                    </a:lnTo>
                    <a:lnTo>
                      <a:pt x="100" y="58"/>
                    </a:lnTo>
                    <a:lnTo>
                      <a:pt x="159" y="36"/>
                    </a:lnTo>
                    <a:lnTo>
                      <a:pt x="173" y="0"/>
                    </a:lnTo>
                    <a:lnTo>
                      <a:pt x="214" y="21"/>
                    </a:lnTo>
                    <a:lnTo>
                      <a:pt x="215" y="53"/>
                    </a:lnTo>
                    <a:lnTo>
                      <a:pt x="180" y="152"/>
                    </a:lnTo>
                    <a:lnTo>
                      <a:pt x="218" y="143"/>
                    </a:lnTo>
                    <a:lnTo>
                      <a:pt x="237" y="211"/>
                    </a:lnTo>
                    <a:lnTo>
                      <a:pt x="301" y="229"/>
                    </a:lnTo>
                    <a:lnTo>
                      <a:pt x="269" y="260"/>
                    </a:lnTo>
                    <a:lnTo>
                      <a:pt x="198" y="302"/>
                    </a:lnTo>
                    <a:lnTo>
                      <a:pt x="180" y="342"/>
                    </a:lnTo>
                    <a:lnTo>
                      <a:pt x="218" y="417"/>
                    </a:lnTo>
                    <a:lnTo>
                      <a:pt x="203" y="461"/>
                    </a:lnTo>
                    <a:lnTo>
                      <a:pt x="250" y="560"/>
                    </a:lnTo>
                    <a:lnTo>
                      <a:pt x="215" y="619"/>
                    </a:lnTo>
                    <a:lnTo>
                      <a:pt x="181" y="408"/>
                    </a:lnTo>
                    <a:lnTo>
                      <a:pt x="152" y="375"/>
                    </a:lnTo>
                    <a:lnTo>
                      <a:pt x="104" y="431"/>
                    </a:lnTo>
                    <a:lnTo>
                      <a:pt x="67" y="420"/>
                    </a:lnTo>
                    <a:lnTo>
                      <a:pt x="74" y="343"/>
                    </a:lnTo>
                    <a:lnTo>
                      <a:pt x="0" y="25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4" name="16235379.875609.875775">
                <a:extLst>
                  <a:ext uri="{FF2B5EF4-FFF2-40B4-BE49-F238E27FC236}">
                    <a16:creationId xmlns:a16="http://schemas.microsoft.com/office/drawing/2014/main" id="{F41CB752-7909-8766-DFA4-4DC2DB1FABB9}"/>
                  </a:ext>
                </a:extLst>
              </p:cNvPr>
              <p:cNvSpPr>
                <a:spLocks/>
              </p:cNvSpPr>
              <p:nvPr/>
            </p:nvSpPr>
            <p:spPr bwMode="auto">
              <a:xfrm>
                <a:off x="7704069" y="3857701"/>
                <a:ext cx="113060" cy="110377"/>
              </a:xfrm>
              <a:custGeom>
                <a:avLst/>
                <a:gdLst>
                  <a:gd name="T0" fmla="*/ 0 w 167"/>
                  <a:gd name="T1" fmla="*/ 1 h 143"/>
                  <a:gd name="T2" fmla="*/ 1 w 167"/>
                  <a:gd name="T3" fmla="*/ 1 h 143"/>
                  <a:gd name="T4" fmla="*/ 1 w 167"/>
                  <a:gd name="T5" fmla="*/ 1 h 143"/>
                  <a:gd name="T6" fmla="*/ 1 w 167"/>
                  <a:gd name="T7" fmla="*/ 1 h 143"/>
                  <a:gd name="T8" fmla="*/ 1 w 167"/>
                  <a:gd name="T9" fmla="*/ 1 h 143"/>
                  <a:gd name="T10" fmla="*/ 1 w 167"/>
                  <a:gd name="T11" fmla="*/ 0 h 143"/>
                  <a:gd name="T12" fmla="*/ 1 w 167"/>
                  <a:gd name="T13" fmla="*/ 1 h 143"/>
                  <a:gd name="T14" fmla="*/ 1 w 167"/>
                  <a:gd name="T15" fmla="*/ 1 h 143"/>
                  <a:gd name="T16" fmla="*/ 0 w 167"/>
                  <a:gd name="T17" fmla="*/ 1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
                  <a:gd name="T28" fmla="*/ 0 h 143"/>
                  <a:gd name="T29" fmla="*/ 167 w 167"/>
                  <a:gd name="T30" fmla="*/ 143 h 1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 h="143">
                    <a:moveTo>
                      <a:pt x="0" y="29"/>
                    </a:moveTo>
                    <a:lnTo>
                      <a:pt x="12" y="100"/>
                    </a:lnTo>
                    <a:lnTo>
                      <a:pt x="34" y="137"/>
                    </a:lnTo>
                    <a:lnTo>
                      <a:pt x="67" y="143"/>
                    </a:lnTo>
                    <a:lnTo>
                      <a:pt x="167" y="77"/>
                    </a:lnTo>
                    <a:lnTo>
                      <a:pt x="163" y="0"/>
                    </a:lnTo>
                    <a:lnTo>
                      <a:pt x="88" y="12"/>
                    </a:lnTo>
                    <a:lnTo>
                      <a:pt x="23" y="9"/>
                    </a:lnTo>
                    <a:lnTo>
                      <a:pt x="0" y="2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5" name="16236261.125271.87570.75118.6255">
                <a:extLst>
                  <a:ext uri="{FF2B5EF4-FFF2-40B4-BE49-F238E27FC236}">
                    <a16:creationId xmlns:a16="http://schemas.microsoft.com/office/drawing/2014/main" id="{1401FEBF-583D-9428-203E-6B40F3EF9AF9}"/>
                  </a:ext>
                </a:extLst>
              </p:cNvPr>
              <p:cNvSpPr>
                <a:spLocks/>
              </p:cNvSpPr>
              <p:nvPr/>
            </p:nvSpPr>
            <p:spPr bwMode="auto">
              <a:xfrm>
                <a:off x="3109080" y="2032925"/>
                <a:ext cx="1919341" cy="1114492"/>
              </a:xfrm>
              <a:custGeom>
                <a:avLst/>
                <a:gdLst>
                  <a:gd name="T0" fmla="*/ 1 w 2850"/>
                  <a:gd name="T1" fmla="*/ 1 h 1454"/>
                  <a:gd name="T2" fmla="*/ 1 w 2850"/>
                  <a:gd name="T3" fmla="*/ 1 h 1454"/>
                  <a:gd name="T4" fmla="*/ 1 w 2850"/>
                  <a:gd name="T5" fmla="*/ 1 h 1454"/>
                  <a:gd name="T6" fmla="*/ 1 w 2850"/>
                  <a:gd name="T7" fmla="*/ 1 h 1454"/>
                  <a:gd name="T8" fmla="*/ 1 w 2850"/>
                  <a:gd name="T9" fmla="*/ 1 h 1454"/>
                  <a:gd name="T10" fmla="*/ 1 w 2850"/>
                  <a:gd name="T11" fmla="*/ 1 h 1454"/>
                  <a:gd name="T12" fmla="*/ 1 w 2850"/>
                  <a:gd name="T13" fmla="*/ 1 h 1454"/>
                  <a:gd name="T14" fmla="*/ 1 w 2850"/>
                  <a:gd name="T15" fmla="*/ 1 h 1454"/>
                  <a:gd name="T16" fmla="*/ 1 w 2850"/>
                  <a:gd name="T17" fmla="*/ 1 h 1454"/>
                  <a:gd name="T18" fmla="*/ 1 w 2850"/>
                  <a:gd name="T19" fmla="*/ 1 h 1454"/>
                  <a:gd name="T20" fmla="*/ 1 w 2850"/>
                  <a:gd name="T21" fmla="*/ 1 h 1454"/>
                  <a:gd name="T22" fmla="*/ 1 w 2850"/>
                  <a:gd name="T23" fmla="*/ 1 h 1454"/>
                  <a:gd name="T24" fmla="*/ 1 w 2850"/>
                  <a:gd name="T25" fmla="*/ 0 h 1454"/>
                  <a:gd name="T26" fmla="*/ 1 w 2850"/>
                  <a:gd name="T27" fmla="*/ 1 h 1454"/>
                  <a:gd name="T28" fmla="*/ 1 w 2850"/>
                  <a:gd name="T29" fmla="*/ 1 h 1454"/>
                  <a:gd name="T30" fmla="*/ 1 w 2850"/>
                  <a:gd name="T31" fmla="*/ 1 h 1454"/>
                  <a:gd name="T32" fmla="*/ 1 w 2850"/>
                  <a:gd name="T33" fmla="*/ 1 h 1454"/>
                  <a:gd name="T34" fmla="*/ 1 w 2850"/>
                  <a:gd name="T35" fmla="*/ 1 h 1454"/>
                  <a:gd name="T36" fmla="*/ 1 w 2850"/>
                  <a:gd name="T37" fmla="*/ 1 h 1454"/>
                  <a:gd name="T38" fmla="*/ 1 w 2850"/>
                  <a:gd name="T39" fmla="*/ 1 h 1454"/>
                  <a:gd name="T40" fmla="*/ 1 w 2850"/>
                  <a:gd name="T41" fmla="*/ 1 h 1454"/>
                  <a:gd name="T42" fmla="*/ 1 w 2850"/>
                  <a:gd name="T43" fmla="*/ 1 h 1454"/>
                  <a:gd name="T44" fmla="*/ 1 w 2850"/>
                  <a:gd name="T45" fmla="*/ 1 h 1454"/>
                  <a:gd name="T46" fmla="*/ 1 w 2850"/>
                  <a:gd name="T47" fmla="*/ 1 h 1454"/>
                  <a:gd name="T48" fmla="*/ 1 w 2850"/>
                  <a:gd name="T49" fmla="*/ 1 h 1454"/>
                  <a:gd name="T50" fmla="*/ 1 w 2850"/>
                  <a:gd name="T51" fmla="*/ 1 h 1454"/>
                  <a:gd name="T52" fmla="*/ 1 w 2850"/>
                  <a:gd name="T53" fmla="*/ 1 h 1454"/>
                  <a:gd name="T54" fmla="*/ 1 w 2850"/>
                  <a:gd name="T55" fmla="*/ 1 h 1454"/>
                  <a:gd name="T56" fmla="*/ 1 w 2850"/>
                  <a:gd name="T57" fmla="*/ 1 h 1454"/>
                  <a:gd name="T58" fmla="*/ 1 w 2850"/>
                  <a:gd name="T59" fmla="*/ 1 h 1454"/>
                  <a:gd name="T60" fmla="*/ 1 w 2850"/>
                  <a:gd name="T61" fmla="*/ 1 h 1454"/>
                  <a:gd name="T62" fmla="*/ 1 w 2850"/>
                  <a:gd name="T63" fmla="*/ 1 h 1454"/>
                  <a:gd name="T64" fmla="*/ 1 w 2850"/>
                  <a:gd name="T65" fmla="*/ 1 h 1454"/>
                  <a:gd name="T66" fmla="*/ 1 w 2850"/>
                  <a:gd name="T67" fmla="*/ 1 h 1454"/>
                  <a:gd name="T68" fmla="*/ 1 w 2850"/>
                  <a:gd name="T69" fmla="*/ 1 h 1454"/>
                  <a:gd name="T70" fmla="*/ 1 w 2850"/>
                  <a:gd name="T71" fmla="*/ 1 h 1454"/>
                  <a:gd name="T72" fmla="*/ 1 w 2850"/>
                  <a:gd name="T73" fmla="*/ 1 h 1454"/>
                  <a:gd name="T74" fmla="*/ 1 w 2850"/>
                  <a:gd name="T75" fmla="*/ 1 h 1454"/>
                  <a:gd name="T76" fmla="*/ 1 w 2850"/>
                  <a:gd name="T77" fmla="*/ 1 h 1454"/>
                  <a:gd name="T78" fmla="*/ 1 w 2850"/>
                  <a:gd name="T79" fmla="*/ 1 h 1454"/>
                  <a:gd name="T80" fmla="*/ 1 w 2850"/>
                  <a:gd name="T81" fmla="*/ 1 h 1454"/>
                  <a:gd name="T82" fmla="*/ 1 w 2850"/>
                  <a:gd name="T83" fmla="*/ 1 h 1454"/>
                  <a:gd name="T84" fmla="*/ 1 w 2850"/>
                  <a:gd name="T85" fmla="*/ 1 h 1454"/>
                  <a:gd name="T86" fmla="*/ 1 w 2850"/>
                  <a:gd name="T87" fmla="*/ 1 h 1454"/>
                  <a:gd name="T88" fmla="*/ 1 w 2850"/>
                  <a:gd name="T89" fmla="*/ 1 h 1454"/>
                  <a:gd name="T90" fmla="*/ 1 w 2850"/>
                  <a:gd name="T91" fmla="*/ 1 h 1454"/>
                  <a:gd name="T92" fmla="*/ 1 w 2850"/>
                  <a:gd name="T93" fmla="*/ 1 h 1454"/>
                  <a:gd name="T94" fmla="*/ 1 w 2850"/>
                  <a:gd name="T95" fmla="*/ 1 h 1454"/>
                  <a:gd name="T96" fmla="*/ 1 w 2850"/>
                  <a:gd name="T97" fmla="*/ 1 h 1454"/>
                  <a:gd name="T98" fmla="*/ 1 w 2850"/>
                  <a:gd name="T99" fmla="*/ 1 h 1454"/>
                  <a:gd name="T100" fmla="*/ 1 w 2850"/>
                  <a:gd name="T101" fmla="*/ 1 h 1454"/>
                  <a:gd name="T102" fmla="*/ 1 w 2850"/>
                  <a:gd name="T103" fmla="*/ 1 h 1454"/>
                  <a:gd name="T104" fmla="*/ 1 w 2850"/>
                  <a:gd name="T105" fmla="*/ 1 h 1454"/>
                  <a:gd name="T106" fmla="*/ 1 w 2850"/>
                  <a:gd name="T107" fmla="*/ 1 h 1454"/>
                  <a:gd name="T108" fmla="*/ 1 w 2850"/>
                  <a:gd name="T109" fmla="*/ 1 h 1454"/>
                  <a:gd name="T110" fmla="*/ 1 w 2850"/>
                  <a:gd name="T111" fmla="*/ 1 h 1454"/>
                  <a:gd name="T112" fmla="*/ 1 w 2850"/>
                  <a:gd name="T113" fmla="*/ 1 h 1454"/>
                  <a:gd name="T114" fmla="*/ 1 w 2850"/>
                  <a:gd name="T115" fmla="*/ 1 h 1454"/>
                  <a:gd name="T116" fmla="*/ 1 w 2850"/>
                  <a:gd name="T117" fmla="*/ 1 h 1454"/>
                  <a:gd name="T118" fmla="*/ 1 w 2850"/>
                  <a:gd name="T119" fmla="*/ 1 h 145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850"/>
                  <a:gd name="T181" fmla="*/ 0 h 1454"/>
                  <a:gd name="T182" fmla="*/ 2850 w 2850"/>
                  <a:gd name="T183" fmla="*/ 1454 h 145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850" h="1454">
                    <a:moveTo>
                      <a:pt x="0" y="645"/>
                    </a:moveTo>
                    <a:lnTo>
                      <a:pt x="0" y="135"/>
                    </a:lnTo>
                    <a:lnTo>
                      <a:pt x="227" y="202"/>
                    </a:lnTo>
                    <a:lnTo>
                      <a:pt x="214" y="175"/>
                    </a:lnTo>
                    <a:lnTo>
                      <a:pt x="238" y="158"/>
                    </a:lnTo>
                    <a:lnTo>
                      <a:pt x="376" y="103"/>
                    </a:lnTo>
                    <a:lnTo>
                      <a:pt x="269" y="171"/>
                    </a:lnTo>
                    <a:lnTo>
                      <a:pt x="331" y="151"/>
                    </a:lnTo>
                    <a:lnTo>
                      <a:pt x="331" y="165"/>
                    </a:lnTo>
                    <a:lnTo>
                      <a:pt x="447" y="105"/>
                    </a:lnTo>
                    <a:lnTo>
                      <a:pt x="431" y="85"/>
                    </a:lnTo>
                    <a:lnTo>
                      <a:pt x="507" y="157"/>
                    </a:lnTo>
                    <a:lnTo>
                      <a:pt x="555" y="114"/>
                    </a:lnTo>
                    <a:lnTo>
                      <a:pt x="551" y="157"/>
                    </a:lnTo>
                    <a:lnTo>
                      <a:pt x="611" y="127"/>
                    </a:lnTo>
                    <a:lnTo>
                      <a:pt x="781" y="179"/>
                    </a:lnTo>
                    <a:lnTo>
                      <a:pt x="857" y="178"/>
                    </a:lnTo>
                    <a:lnTo>
                      <a:pt x="901" y="208"/>
                    </a:lnTo>
                    <a:lnTo>
                      <a:pt x="849" y="234"/>
                    </a:lnTo>
                    <a:lnTo>
                      <a:pt x="879" y="245"/>
                    </a:lnTo>
                    <a:lnTo>
                      <a:pt x="1032" y="231"/>
                    </a:lnTo>
                    <a:lnTo>
                      <a:pt x="1099" y="274"/>
                    </a:lnTo>
                    <a:lnTo>
                      <a:pt x="1108" y="303"/>
                    </a:lnTo>
                    <a:lnTo>
                      <a:pt x="1125" y="284"/>
                    </a:lnTo>
                    <a:lnTo>
                      <a:pt x="1099" y="245"/>
                    </a:lnTo>
                    <a:lnTo>
                      <a:pt x="1171" y="197"/>
                    </a:lnTo>
                    <a:lnTo>
                      <a:pt x="1101" y="227"/>
                    </a:lnTo>
                    <a:lnTo>
                      <a:pt x="1076" y="213"/>
                    </a:lnTo>
                    <a:lnTo>
                      <a:pt x="1163" y="176"/>
                    </a:lnTo>
                    <a:lnTo>
                      <a:pt x="1209" y="229"/>
                    </a:lnTo>
                    <a:lnTo>
                      <a:pt x="1259" y="227"/>
                    </a:lnTo>
                    <a:lnTo>
                      <a:pt x="1290" y="251"/>
                    </a:lnTo>
                    <a:lnTo>
                      <a:pt x="1424" y="245"/>
                    </a:lnTo>
                    <a:lnTo>
                      <a:pt x="1420" y="229"/>
                    </a:lnTo>
                    <a:lnTo>
                      <a:pt x="1457" y="259"/>
                    </a:lnTo>
                    <a:lnTo>
                      <a:pt x="1462" y="234"/>
                    </a:lnTo>
                    <a:lnTo>
                      <a:pt x="1433" y="242"/>
                    </a:lnTo>
                    <a:lnTo>
                      <a:pt x="1411" y="212"/>
                    </a:lnTo>
                    <a:lnTo>
                      <a:pt x="1461" y="208"/>
                    </a:lnTo>
                    <a:lnTo>
                      <a:pt x="1480" y="231"/>
                    </a:lnTo>
                    <a:lnTo>
                      <a:pt x="1499" y="224"/>
                    </a:lnTo>
                    <a:lnTo>
                      <a:pt x="1491" y="260"/>
                    </a:lnTo>
                    <a:lnTo>
                      <a:pt x="1527" y="279"/>
                    </a:lnTo>
                    <a:lnTo>
                      <a:pt x="1517" y="229"/>
                    </a:lnTo>
                    <a:lnTo>
                      <a:pt x="1584" y="200"/>
                    </a:lnTo>
                    <a:lnTo>
                      <a:pt x="1567" y="175"/>
                    </a:lnTo>
                    <a:lnTo>
                      <a:pt x="1547" y="193"/>
                    </a:lnTo>
                    <a:lnTo>
                      <a:pt x="1580" y="149"/>
                    </a:lnTo>
                    <a:lnTo>
                      <a:pt x="1484" y="117"/>
                    </a:lnTo>
                    <a:lnTo>
                      <a:pt x="1494" y="43"/>
                    </a:lnTo>
                    <a:lnTo>
                      <a:pt x="1517" y="44"/>
                    </a:lnTo>
                    <a:lnTo>
                      <a:pt x="1530" y="0"/>
                    </a:lnTo>
                    <a:lnTo>
                      <a:pt x="1602" y="43"/>
                    </a:lnTo>
                    <a:lnTo>
                      <a:pt x="1604" y="70"/>
                    </a:lnTo>
                    <a:lnTo>
                      <a:pt x="1653" y="109"/>
                    </a:lnTo>
                    <a:lnTo>
                      <a:pt x="1622" y="107"/>
                    </a:lnTo>
                    <a:lnTo>
                      <a:pt x="1635" y="121"/>
                    </a:lnTo>
                    <a:lnTo>
                      <a:pt x="1616" y="138"/>
                    </a:lnTo>
                    <a:lnTo>
                      <a:pt x="1675" y="149"/>
                    </a:lnTo>
                    <a:lnTo>
                      <a:pt x="1657" y="157"/>
                    </a:lnTo>
                    <a:lnTo>
                      <a:pt x="1692" y="220"/>
                    </a:lnTo>
                    <a:lnTo>
                      <a:pt x="1722" y="164"/>
                    </a:lnTo>
                    <a:lnTo>
                      <a:pt x="1765" y="186"/>
                    </a:lnTo>
                    <a:lnTo>
                      <a:pt x="1776" y="223"/>
                    </a:lnTo>
                    <a:lnTo>
                      <a:pt x="1755" y="234"/>
                    </a:lnTo>
                    <a:lnTo>
                      <a:pt x="1793" y="279"/>
                    </a:lnTo>
                    <a:lnTo>
                      <a:pt x="1817" y="268"/>
                    </a:lnTo>
                    <a:lnTo>
                      <a:pt x="1847" y="198"/>
                    </a:lnTo>
                    <a:lnTo>
                      <a:pt x="1881" y="191"/>
                    </a:lnTo>
                    <a:lnTo>
                      <a:pt x="1855" y="131"/>
                    </a:lnTo>
                    <a:lnTo>
                      <a:pt x="1950" y="136"/>
                    </a:lnTo>
                    <a:lnTo>
                      <a:pt x="1990" y="171"/>
                    </a:lnTo>
                    <a:lnTo>
                      <a:pt x="1975" y="189"/>
                    </a:lnTo>
                    <a:lnTo>
                      <a:pt x="1993" y="198"/>
                    </a:lnTo>
                    <a:lnTo>
                      <a:pt x="1951" y="209"/>
                    </a:lnTo>
                    <a:lnTo>
                      <a:pt x="1989" y="286"/>
                    </a:lnTo>
                    <a:lnTo>
                      <a:pt x="1927" y="328"/>
                    </a:lnTo>
                    <a:lnTo>
                      <a:pt x="1905" y="308"/>
                    </a:lnTo>
                    <a:lnTo>
                      <a:pt x="1914" y="336"/>
                    </a:lnTo>
                    <a:lnTo>
                      <a:pt x="1818" y="317"/>
                    </a:lnTo>
                    <a:lnTo>
                      <a:pt x="1837" y="343"/>
                    </a:lnTo>
                    <a:lnTo>
                      <a:pt x="1799" y="381"/>
                    </a:lnTo>
                    <a:lnTo>
                      <a:pt x="1701" y="351"/>
                    </a:lnTo>
                    <a:lnTo>
                      <a:pt x="1737" y="383"/>
                    </a:lnTo>
                    <a:lnTo>
                      <a:pt x="1807" y="389"/>
                    </a:lnTo>
                    <a:lnTo>
                      <a:pt x="1759" y="453"/>
                    </a:lnTo>
                    <a:lnTo>
                      <a:pt x="1707" y="449"/>
                    </a:lnTo>
                    <a:lnTo>
                      <a:pt x="1682" y="483"/>
                    </a:lnTo>
                    <a:lnTo>
                      <a:pt x="1590" y="454"/>
                    </a:lnTo>
                    <a:lnTo>
                      <a:pt x="1675" y="483"/>
                    </a:lnTo>
                    <a:lnTo>
                      <a:pt x="1685" y="509"/>
                    </a:lnTo>
                    <a:lnTo>
                      <a:pt x="1622" y="520"/>
                    </a:lnTo>
                    <a:lnTo>
                      <a:pt x="1635" y="527"/>
                    </a:lnTo>
                    <a:lnTo>
                      <a:pt x="1617" y="528"/>
                    </a:lnTo>
                    <a:lnTo>
                      <a:pt x="1617" y="554"/>
                    </a:lnTo>
                    <a:lnTo>
                      <a:pt x="1549" y="590"/>
                    </a:lnTo>
                    <a:lnTo>
                      <a:pt x="1535" y="707"/>
                    </a:lnTo>
                    <a:lnTo>
                      <a:pt x="1561" y="733"/>
                    </a:lnTo>
                    <a:lnTo>
                      <a:pt x="1597" y="718"/>
                    </a:lnTo>
                    <a:lnTo>
                      <a:pt x="1613" y="808"/>
                    </a:lnTo>
                    <a:lnTo>
                      <a:pt x="1667" y="790"/>
                    </a:lnTo>
                    <a:lnTo>
                      <a:pt x="1729" y="814"/>
                    </a:lnTo>
                    <a:lnTo>
                      <a:pt x="1857" y="879"/>
                    </a:lnTo>
                    <a:lnTo>
                      <a:pt x="1847" y="905"/>
                    </a:lnTo>
                    <a:lnTo>
                      <a:pt x="1861" y="886"/>
                    </a:lnTo>
                    <a:lnTo>
                      <a:pt x="1957" y="891"/>
                    </a:lnTo>
                    <a:lnTo>
                      <a:pt x="1957" y="989"/>
                    </a:lnTo>
                    <a:lnTo>
                      <a:pt x="1987" y="1022"/>
                    </a:lnTo>
                    <a:lnTo>
                      <a:pt x="1965" y="1029"/>
                    </a:lnTo>
                    <a:lnTo>
                      <a:pt x="2013" y="1047"/>
                    </a:lnTo>
                    <a:lnTo>
                      <a:pt x="2000" y="1077"/>
                    </a:lnTo>
                    <a:lnTo>
                      <a:pt x="2045" y="1076"/>
                    </a:lnTo>
                    <a:lnTo>
                      <a:pt x="2108" y="1024"/>
                    </a:lnTo>
                    <a:lnTo>
                      <a:pt x="2081" y="1011"/>
                    </a:lnTo>
                    <a:lnTo>
                      <a:pt x="2045" y="919"/>
                    </a:lnTo>
                    <a:lnTo>
                      <a:pt x="2164" y="838"/>
                    </a:lnTo>
                    <a:lnTo>
                      <a:pt x="2147" y="838"/>
                    </a:lnTo>
                    <a:lnTo>
                      <a:pt x="2120" y="742"/>
                    </a:lnTo>
                    <a:lnTo>
                      <a:pt x="2078" y="718"/>
                    </a:lnTo>
                    <a:lnTo>
                      <a:pt x="2134" y="678"/>
                    </a:lnTo>
                    <a:lnTo>
                      <a:pt x="2114" y="658"/>
                    </a:lnTo>
                    <a:lnTo>
                      <a:pt x="2123" y="623"/>
                    </a:lnTo>
                    <a:lnTo>
                      <a:pt x="2098" y="618"/>
                    </a:lnTo>
                    <a:lnTo>
                      <a:pt x="2123" y="582"/>
                    </a:lnTo>
                    <a:lnTo>
                      <a:pt x="2096" y="560"/>
                    </a:lnTo>
                    <a:lnTo>
                      <a:pt x="2111" y="530"/>
                    </a:lnTo>
                    <a:lnTo>
                      <a:pt x="2202" y="550"/>
                    </a:lnTo>
                    <a:lnTo>
                      <a:pt x="2241" y="534"/>
                    </a:lnTo>
                    <a:lnTo>
                      <a:pt x="2318" y="582"/>
                    </a:lnTo>
                    <a:lnTo>
                      <a:pt x="2318" y="603"/>
                    </a:lnTo>
                    <a:lnTo>
                      <a:pt x="2384" y="607"/>
                    </a:lnTo>
                    <a:lnTo>
                      <a:pt x="2390" y="655"/>
                    </a:lnTo>
                    <a:lnTo>
                      <a:pt x="2331" y="656"/>
                    </a:lnTo>
                    <a:lnTo>
                      <a:pt x="2382" y="665"/>
                    </a:lnTo>
                    <a:lnTo>
                      <a:pt x="2398" y="693"/>
                    </a:lnTo>
                    <a:lnTo>
                      <a:pt x="2344" y="735"/>
                    </a:lnTo>
                    <a:lnTo>
                      <a:pt x="2423" y="714"/>
                    </a:lnTo>
                    <a:lnTo>
                      <a:pt x="2427" y="750"/>
                    </a:lnTo>
                    <a:lnTo>
                      <a:pt x="2393" y="765"/>
                    </a:lnTo>
                    <a:lnTo>
                      <a:pt x="2441" y="728"/>
                    </a:lnTo>
                    <a:lnTo>
                      <a:pt x="2446" y="751"/>
                    </a:lnTo>
                    <a:lnTo>
                      <a:pt x="2492" y="715"/>
                    </a:lnTo>
                    <a:lnTo>
                      <a:pt x="2500" y="735"/>
                    </a:lnTo>
                    <a:lnTo>
                      <a:pt x="2531" y="684"/>
                    </a:lnTo>
                    <a:lnTo>
                      <a:pt x="2520" y="674"/>
                    </a:lnTo>
                    <a:lnTo>
                      <a:pt x="2556" y="645"/>
                    </a:lnTo>
                    <a:lnTo>
                      <a:pt x="2596" y="699"/>
                    </a:lnTo>
                    <a:lnTo>
                      <a:pt x="2562" y="711"/>
                    </a:lnTo>
                    <a:lnTo>
                      <a:pt x="2599" y="704"/>
                    </a:lnTo>
                    <a:lnTo>
                      <a:pt x="2612" y="726"/>
                    </a:lnTo>
                    <a:lnTo>
                      <a:pt x="2588" y="733"/>
                    </a:lnTo>
                    <a:lnTo>
                      <a:pt x="2621" y="737"/>
                    </a:lnTo>
                    <a:lnTo>
                      <a:pt x="2599" y="754"/>
                    </a:lnTo>
                    <a:lnTo>
                      <a:pt x="2622" y="750"/>
                    </a:lnTo>
                    <a:lnTo>
                      <a:pt x="2640" y="773"/>
                    </a:lnTo>
                    <a:lnTo>
                      <a:pt x="2628" y="784"/>
                    </a:lnTo>
                    <a:lnTo>
                      <a:pt x="2661" y="803"/>
                    </a:lnTo>
                    <a:lnTo>
                      <a:pt x="2608" y="823"/>
                    </a:lnTo>
                    <a:lnTo>
                      <a:pt x="2647" y="823"/>
                    </a:lnTo>
                    <a:lnTo>
                      <a:pt x="2639" y="842"/>
                    </a:lnTo>
                    <a:lnTo>
                      <a:pt x="2695" y="860"/>
                    </a:lnTo>
                    <a:lnTo>
                      <a:pt x="2716" y="904"/>
                    </a:lnTo>
                    <a:lnTo>
                      <a:pt x="2736" y="887"/>
                    </a:lnTo>
                    <a:lnTo>
                      <a:pt x="2792" y="918"/>
                    </a:lnTo>
                    <a:lnTo>
                      <a:pt x="2670" y="956"/>
                    </a:lnTo>
                    <a:lnTo>
                      <a:pt x="2695" y="977"/>
                    </a:lnTo>
                    <a:lnTo>
                      <a:pt x="2798" y="934"/>
                    </a:lnTo>
                    <a:lnTo>
                      <a:pt x="2798" y="970"/>
                    </a:lnTo>
                    <a:lnTo>
                      <a:pt x="2845" y="963"/>
                    </a:lnTo>
                    <a:lnTo>
                      <a:pt x="2850" y="981"/>
                    </a:lnTo>
                    <a:lnTo>
                      <a:pt x="2828" y="981"/>
                    </a:lnTo>
                    <a:lnTo>
                      <a:pt x="2850" y="1025"/>
                    </a:lnTo>
                    <a:lnTo>
                      <a:pt x="2706" y="1110"/>
                    </a:lnTo>
                    <a:lnTo>
                      <a:pt x="2497" y="1110"/>
                    </a:lnTo>
                    <a:lnTo>
                      <a:pt x="2409" y="1169"/>
                    </a:lnTo>
                    <a:lnTo>
                      <a:pt x="2338" y="1256"/>
                    </a:lnTo>
                    <a:lnTo>
                      <a:pt x="2409" y="1190"/>
                    </a:lnTo>
                    <a:lnTo>
                      <a:pt x="2522" y="1151"/>
                    </a:lnTo>
                    <a:lnTo>
                      <a:pt x="2562" y="1182"/>
                    </a:lnTo>
                    <a:lnTo>
                      <a:pt x="2489" y="1205"/>
                    </a:lnTo>
                    <a:lnTo>
                      <a:pt x="2546" y="1217"/>
                    </a:lnTo>
                    <a:lnTo>
                      <a:pt x="2531" y="1244"/>
                    </a:lnTo>
                    <a:lnTo>
                      <a:pt x="2575" y="1292"/>
                    </a:lnTo>
                    <a:lnTo>
                      <a:pt x="2663" y="1310"/>
                    </a:lnTo>
                    <a:lnTo>
                      <a:pt x="2687" y="1249"/>
                    </a:lnTo>
                    <a:lnTo>
                      <a:pt x="2687" y="1286"/>
                    </a:lnTo>
                    <a:lnTo>
                      <a:pt x="2710" y="1282"/>
                    </a:lnTo>
                    <a:lnTo>
                      <a:pt x="2669" y="1321"/>
                    </a:lnTo>
                    <a:lnTo>
                      <a:pt x="2566" y="1347"/>
                    </a:lnTo>
                    <a:lnTo>
                      <a:pt x="2529" y="1392"/>
                    </a:lnTo>
                    <a:lnTo>
                      <a:pt x="2500" y="1352"/>
                    </a:lnTo>
                    <a:lnTo>
                      <a:pt x="2597" y="1317"/>
                    </a:lnTo>
                    <a:lnTo>
                      <a:pt x="2546" y="1318"/>
                    </a:lnTo>
                    <a:lnTo>
                      <a:pt x="2556" y="1292"/>
                    </a:lnTo>
                    <a:lnTo>
                      <a:pt x="2471" y="1322"/>
                    </a:lnTo>
                    <a:lnTo>
                      <a:pt x="2446" y="1303"/>
                    </a:lnTo>
                    <a:lnTo>
                      <a:pt x="2446" y="1249"/>
                    </a:lnTo>
                    <a:lnTo>
                      <a:pt x="2391" y="1231"/>
                    </a:lnTo>
                    <a:lnTo>
                      <a:pt x="2350" y="1319"/>
                    </a:lnTo>
                    <a:lnTo>
                      <a:pt x="2180" y="1352"/>
                    </a:lnTo>
                    <a:lnTo>
                      <a:pt x="2063" y="1385"/>
                    </a:lnTo>
                    <a:lnTo>
                      <a:pt x="2044" y="1402"/>
                    </a:lnTo>
                    <a:lnTo>
                      <a:pt x="2070" y="1406"/>
                    </a:lnTo>
                    <a:lnTo>
                      <a:pt x="2076" y="1418"/>
                    </a:lnTo>
                    <a:lnTo>
                      <a:pt x="1934" y="1454"/>
                    </a:lnTo>
                    <a:lnTo>
                      <a:pt x="1942" y="1438"/>
                    </a:lnTo>
                    <a:lnTo>
                      <a:pt x="1951" y="1427"/>
                    </a:lnTo>
                    <a:lnTo>
                      <a:pt x="1956" y="1410"/>
                    </a:lnTo>
                    <a:lnTo>
                      <a:pt x="1978" y="1398"/>
                    </a:lnTo>
                    <a:lnTo>
                      <a:pt x="1982" y="1321"/>
                    </a:lnTo>
                    <a:lnTo>
                      <a:pt x="2006" y="1347"/>
                    </a:lnTo>
                    <a:lnTo>
                      <a:pt x="2048" y="1337"/>
                    </a:lnTo>
                    <a:lnTo>
                      <a:pt x="2012" y="1292"/>
                    </a:lnTo>
                    <a:lnTo>
                      <a:pt x="1890" y="1270"/>
                    </a:lnTo>
                    <a:lnTo>
                      <a:pt x="1884" y="1270"/>
                    </a:lnTo>
                    <a:lnTo>
                      <a:pt x="1872" y="1208"/>
                    </a:lnTo>
                    <a:lnTo>
                      <a:pt x="1847" y="1212"/>
                    </a:lnTo>
                    <a:lnTo>
                      <a:pt x="1825" y="1176"/>
                    </a:lnTo>
                    <a:lnTo>
                      <a:pt x="1799" y="1173"/>
                    </a:lnTo>
                    <a:lnTo>
                      <a:pt x="1799" y="1195"/>
                    </a:lnTo>
                    <a:lnTo>
                      <a:pt x="1767" y="1164"/>
                    </a:lnTo>
                    <a:lnTo>
                      <a:pt x="1710" y="1208"/>
                    </a:lnTo>
                    <a:lnTo>
                      <a:pt x="1552" y="1176"/>
                    </a:lnTo>
                    <a:lnTo>
                      <a:pt x="1531" y="1146"/>
                    </a:lnTo>
                    <a:lnTo>
                      <a:pt x="1530" y="1165"/>
                    </a:lnTo>
                    <a:lnTo>
                      <a:pt x="610" y="1165"/>
                    </a:lnTo>
                    <a:lnTo>
                      <a:pt x="596" y="1132"/>
                    </a:lnTo>
                    <a:lnTo>
                      <a:pt x="547" y="1123"/>
                    </a:lnTo>
                    <a:lnTo>
                      <a:pt x="550" y="1101"/>
                    </a:lnTo>
                    <a:lnTo>
                      <a:pt x="447" y="1072"/>
                    </a:lnTo>
                    <a:lnTo>
                      <a:pt x="459" y="1057"/>
                    </a:lnTo>
                    <a:lnTo>
                      <a:pt x="436" y="1015"/>
                    </a:lnTo>
                    <a:lnTo>
                      <a:pt x="409" y="1011"/>
                    </a:lnTo>
                    <a:lnTo>
                      <a:pt x="353" y="925"/>
                    </a:lnTo>
                    <a:lnTo>
                      <a:pt x="363" y="897"/>
                    </a:lnTo>
                    <a:lnTo>
                      <a:pt x="365" y="849"/>
                    </a:lnTo>
                    <a:lnTo>
                      <a:pt x="302" y="823"/>
                    </a:lnTo>
                    <a:lnTo>
                      <a:pt x="184" y="669"/>
                    </a:lnTo>
                    <a:lnTo>
                      <a:pt x="117" y="713"/>
                    </a:lnTo>
                    <a:lnTo>
                      <a:pt x="99" y="692"/>
                    </a:lnTo>
                    <a:lnTo>
                      <a:pt x="95" y="688"/>
                    </a:lnTo>
                    <a:lnTo>
                      <a:pt x="62" y="645"/>
                    </a:lnTo>
                    <a:lnTo>
                      <a:pt x="0" y="64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6" name="16237314289.6254.7575">
                <a:extLst>
                  <a:ext uri="{FF2B5EF4-FFF2-40B4-BE49-F238E27FC236}">
                    <a16:creationId xmlns:a16="http://schemas.microsoft.com/office/drawing/2014/main" id="{91FCDF87-9C9B-79B2-11F5-08B76982AC5F}"/>
                  </a:ext>
                </a:extLst>
              </p:cNvPr>
              <p:cNvSpPr>
                <a:spLocks/>
              </p:cNvSpPr>
              <p:nvPr/>
            </p:nvSpPr>
            <p:spPr bwMode="auto">
              <a:xfrm>
                <a:off x="3395769" y="2866879"/>
                <a:ext cx="113060" cy="73583"/>
              </a:xfrm>
              <a:custGeom>
                <a:avLst/>
                <a:gdLst>
                  <a:gd name="T0" fmla="*/ 0 w 167"/>
                  <a:gd name="T1" fmla="*/ 0 h 96"/>
                  <a:gd name="T2" fmla="*/ 1 w 167"/>
                  <a:gd name="T3" fmla="*/ 1 h 96"/>
                  <a:gd name="T4" fmla="*/ 1 w 167"/>
                  <a:gd name="T5" fmla="*/ 1 h 96"/>
                  <a:gd name="T6" fmla="*/ 1 w 167"/>
                  <a:gd name="T7" fmla="*/ 1 h 96"/>
                  <a:gd name="T8" fmla="*/ 0 w 167"/>
                  <a:gd name="T9" fmla="*/ 0 h 96"/>
                  <a:gd name="T10" fmla="*/ 0 60000 65536"/>
                  <a:gd name="T11" fmla="*/ 0 60000 65536"/>
                  <a:gd name="T12" fmla="*/ 0 60000 65536"/>
                  <a:gd name="T13" fmla="*/ 0 60000 65536"/>
                  <a:gd name="T14" fmla="*/ 0 60000 65536"/>
                  <a:gd name="T15" fmla="*/ 0 w 167"/>
                  <a:gd name="T16" fmla="*/ 0 h 96"/>
                  <a:gd name="T17" fmla="*/ 167 w 167"/>
                  <a:gd name="T18" fmla="*/ 96 h 96"/>
                </a:gdLst>
                <a:ahLst/>
                <a:cxnLst>
                  <a:cxn ang="T10">
                    <a:pos x="T0" y="T1"/>
                  </a:cxn>
                  <a:cxn ang="T11">
                    <a:pos x="T2" y="T3"/>
                  </a:cxn>
                  <a:cxn ang="T12">
                    <a:pos x="T4" y="T5"/>
                  </a:cxn>
                  <a:cxn ang="T13">
                    <a:pos x="T6" y="T7"/>
                  </a:cxn>
                  <a:cxn ang="T14">
                    <a:pos x="T8" y="T9"/>
                  </a:cxn>
                </a:cxnLst>
                <a:rect l="T15" t="T16" r="T17" b="T18"/>
                <a:pathLst>
                  <a:path w="167" h="96">
                    <a:moveTo>
                      <a:pt x="0" y="0"/>
                    </a:moveTo>
                    <a:lnTo>
                      <a:pt x="90" y="19"/>
                    </a:lnTo>
                    <a:lnTo>
                      <a:pt x="167" y="96"/>
                    </a:lnTo>
                    <a:lnTo>
                      <a:pt x="122" y="81"/>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7" name="16238253292.87510.62514.55">
                <a:extLst>
                  <a:ext uri="{FF2B5EF4-FFF2-40B4-BE49-F238E27FC236}">
                    <a16:creationId xmlns:a16="http://schemas.microsoft.com/office/drawing/2014/main" id="{14A76180-4065-E81D-86FF-3A2A9B6C7619}"/>
                  </a:ext>
                </a:extLst>
              </p:cNvPr>
              <p:cNvSpPr>
                <a:spLocks/>
              </p:cNvSpPr>
              <p:nvPr/>
            </p:nvSpPr>
            <p:spPr bwMode="auto">
              <a:xfrm>
                <a:off x="3449608" y="1905687"/>
                <a:ext cx="234198" cy="167098"/>
              </a:xfrm>
              <a:custGeom>
                <a:avLst/>
                <a:gdLst>
                  <a:gd name="T0" fmla="*/ 0 w 349"/>
                  <a:gd name="T1" fmla="*/ 1 h 217"/>
                  <a:gd name="T2" fmla="*/ 0 w 349"/>
                  <a:gd name="T3" fmla="*/ 1 h 217"/>
                  <a:gd name="T4" fmla="*/ 0 w 349"/>
                  <a:gd name="T5" fmla="*/ 1 h 217"/>
                  <a:gd name="T6" fmla="*/ 0 w 349"/>
                  <a:gd name="T7" fmla="*/ 1 h 217"/>
                  <a:gd name="T8" fmla="*/ 0 w 349"/>
                  <a:gd name="T9" fmla="*/ 0 h 217"/>
                  <a:gd name="T10" fmla="*/ 0 w 349"/>
                  <a:gd name="T11" fmla="*/ 1 h 217"/>
                  <a:gd name="T12" fmla="*/ 0 w 349"/>
                  <a:gd name="T13" fmla="*/ 1 h 217"/>
                  <a:gd name="T14" fmla="*/ 0 w 349"/>
                  <a:gd name="T15" fmla="*/ 1 h 217"/>
                  <a:gd name="T16" fmla="*/ 0 w 349"/>
                  <a:gd name="T17" fmla="*/ 1 h 217"/>
                  <a:gd name="T18" fmla="*/ 0 w 349"/>
                  <a:gd name="T19" fmla="*/ 1 h 217"/>
                  <a:gd name="T20" fmla="*/ 0 w 349"/>
                  <a:gd name="T21" fmla="*/ 1 h 217"/>
                  <a:gd name="T22" fmla="*/ 0 w 349"/>
                  <a:gd name="T23" fmla="*/ 1 h 217"/>
                  <a:gd name="T24" fmla="*/ 0 w 349"/>
                  <a:gd name="T25" fmla="*/ 1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9"/>
                  <a:gd name="T40" fmla="*/ 0 h 217"/>
                  <a:gd name="T41" fmla="*/ 349 w 349"/>
                  <a:gd name="T42" fmla="*/ 217 h 2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9" h="217">
                    <a:moveTo>
                      <a:pt x="0" y="164"/>
                    </a:moveTo>
                    <a:lnTo>
                      <a:pt x="15" y="136"/>
                    </a:lnTo>
                    <a:lnTo>
                      <a:pt x="65" y="46"/>
                    </a:lnTo>
                    <a:lnTo>
                      <a:pt x="42" y="8"/>
                    </a:lnTo>
                    <a:lnTo>
                      <a:pt x="150" y="0"/>
                    </a:lnTo>
                    <a:lnTo>
                      <a:pt x="224" y="36"/>
                    </a:lnTo>
                    <a:lnTo>
                      <a:pt x="274" y="15"/>
                    </a:lnTo>
                    <a:lnTo>
                      <a:pt x="349" y="66"/>
                    </a:lnTo>
                    <a:lnTo>
                      <a:pt x="189" y="146"/>
                    </a:lnTo>
                    <a:lnTo>
                      <a:pt x="175" y="194"/>
                    </a:lnTo>
                    <a:lnTo>
                      <a:pt x="96" y="217"/>
                    </a:lnTo>
                    <a:lnTo>
                      <a:pt x="61" y="179"/>
                    </a:lnTo>
                    <a:lnTo>
                      <a:pt x="0" y="16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8" name="16239243.125297.1255.87510.1255">
                <a:extLst>
                  <a:ext uri="{FF2B5EF4-FFF2-40B4-BE49-F238E27FC236}">
                    <a16:creationId xmlns:a16="http://schemas.microsoft.com/office/drawing/2014/main" id="{8CF276C1-9E58-6914-DBE9-9F8B3D96136F}"/>
                  </a:ext>
                </a:extLst>
              </p:cNvPr>
              <p:cNvSpPr>
                <a:spLocks/>
              </p:cNvSpPr>
              <p:nvPr/>
            </p:nvSpPr>
            <p:spPr bwMode="auto">
              <a:xfrm>
                <a:off x="3328570" y="1749320"/>
                <a:ext cx="164206" cy="93513"/>
              </a:xfrm>
              <a:custGeom>
                <a:avLst/>
                <a:gdLst>
                  <a:gd name="T0" fmla="*/ 0 w 244"/>
                  <a:gd name="T1" fmla="*/ 1 h 122"/>
                  <a:gd name="T2" fmla="*/ 1 w 244"/>
                  <a:gd name="T3" fmla="*/ 1 h 122"/>
                  <a:gd name="T4" fmla="*/ 1 w 244"/>
                  <a:gd name="T5" fmla="*/ 1 h 122"/>
                  <a:gd name="T6" fmla="*/ 1 w 244"/>
                  <a:gd name="T7" fmla="*/ 1 h 122"/>
                  <a:gd name="T8" fmla="*/ 1 w 244"/>
                  <a:gd name="T9" fmla="*/ 1 h 122"/>
                  <a:gd name="T10" fmla="*/ 1 w 244"/>
                  <a:gd name="T11" fmla="*/ 1 h 122"/>
                  <a:gd name="T12" fmla="*/ 1 w 244"/>
                  <a:gd name="T13" fmla="*/ 1 h 122"/>
                  <a:gd name="T14" fmla="*/ 1 w 244"/>
                  <a:gd name="T15" fmla="*/ 1 h 122"/>
                  <a:gd name="T16" fmla="*/ 1 w 244"/>
                  <a:gd name="T17" fmla="*/ 1 h 122"/>
                  <a:gd name="T18" fmla="*/ 1 w 244"/>
                  <a:gd name="T19" fmla="*/ 1 h 122"/>
                  <a:gd name="T20" fmla="*/ 1 w 244"/>
                  <a:gd name="T21" fmla="*/ 1 h 122"/>
                  <a:gd name="T22" fmla="*/ 1 w 244"/>
                  <a:gd name="T23" fmla="*/ 1 h 122"/>
                  <a:gd name="T24" fmla="*/ 1 w 244"/>
                  <a:gd name="T25" fmla="*/ 1 h 122"/>
                  <a:gd name="T26" fmla="*/ 1 w 244"/>
                  <a:gd name="T27" fmla="*/ 0 h 122"/>
                  <a:gd name="T28" fmla="*/ 1 w 244"/>
                  <a:gd name="T29" fmla="*/ 1 h 122"/>
                  <a:gd name="T30" fmla="*/ 0 w 244"/>
                  <a:gd name="T31" fmla="*/ 1 h 1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4"/>
                  <a:gd name="T49" fmla="*/ 0 h 122"/>
                  <a:gd name="T50" fmla="*/ 244 w 244"/>
                  <a:gd name="T51" fmla="*/ 122 h 1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4" h="122">
                    <a:moveTo>
                      <a:pt x="0" y="93"/>
                    </a:moveTo>
                    <a:lnTo>
                      <a:pt x="56" y="111"/>
                    </a:lnTo>
                    <a:lnTo>
                      <a:pt x="70" y="92"/>
                    </a:lnTo>
                    <a:lnTo>
                      <a:pt x="82" y="122"/>
                    </a:lnTo>
                    <a:lnTo>
                      <a:pt x="108" y="110"/>
                    </a:lnTo>
                    <a:lnTo>
                      <a:pt x="104" y="81"/>
                    </a:lnTo>
                    <a:lnTo>
                      <a:pt x="130" y="97"/>
                    </a:lnTo>
                    <a:lnTo>
                      <a:pt x="145" y="53"/>
                    </a:lnTo>
                    <a:lnTo>
                      <a:pt x="167" y="50"/>
                    </a:lnTo>
                    <a:lnTo>
                      <a:pt x="176" y="90"/>
                    </a:lnTo>
                    <a:lnTo>
                      <a:pt x="228" y="60"/>
                    </a:lnTo>
                    <a:lnTo>
                      <a:pt x="211" y="26"/>
                    </a:lnTo>
                    <a:lnTo>
                      <a:pt x="244" y="17"/>
                    </a:lnTo>
                    <a:lnTo>
                      <a:pt x="210" y="0"/>
                    </a:lnTo>
                    <a:lnTo>
                      <a:pt x="121" y="17"/>
                    </a:lnTo>
                    <a:lnTo>
                      <a:pt x="0" y="9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19" name="16240256.875302.514.25255">
                <a:extLst>
                  <a:ext uri="{FF2B5EF4-FFF2-40B4-BE49-F238E27FC236}">
                    <a16:creationId xmlns:a16="http://schemas.microsoft.com/office/drawing/2014/main" id="{5F62F66A-ECB9-C9C9-AC49-92F9BE622ADA}"/>
                  </a:ext>
                </a:extLst>
              </p:cNvPr>
              <p:cNvSpPr>
                <a:spLocks/>
              </p:cNvSpPr>
              <p:nvPr/>
            </p:nvSpPr>
            <p:spPr bwMode="auto">
              <a:xfrm>
                <a:off x="3416058" y="1965473"/>
                <a:ext cx="405134" cy="225350"/>
              </a:xfrm>
              <a:custGeom>
                <a:avLst/>
                <a:gdLst>
                  <a:gd name="T0" fmla="*/ 0 w 602"/>
                  <a:gd name="T1" fmla="*/ 0 h 296"/>
                  <a:gd name="T2" fmla="*/ 1 w 602"/>
                  <a:gd name="T3" fmla="*/ 0 h 296"/>
                  <a:gd name="T4" fmla="*/ 1 w 602"/>
                  <a:gd name="T5" fmla="*/ 0 h 296"/>
                  <a:gd name="T6" fmla="*/ 1 w 602"/>
                  <a:gd name="T7" fmla="*/ 0 h 296"/>
                  <a:gd name="T8" fmla="*/ 1 w 602"/>
                  <a:gd name="T9" fmla="*/ 0 h 296"/>
                  <a:gd name="T10" fmla="*/ 1 w 602"/>
                  <a:gd name="T11" fmla="*/ 0 h 296"/>
                  <a:gd name="T12" fmla="*/ 1 w 602"/>
                  <a:gd name="T13" fmla="*/ 0 h 296"/>
                  <a:gd name="T14" fmla="*/ 1 w 602"/>
                  <a:gd name="T15" fmla="*/ 0 h 296"/>
                  <a:gd name="T16" fmla="*/ 1 w 602"/>
                  <a:gd name="T17" fmla="*/ 0 h 296"/>
                  <a:gd name="T18" fmla="*/ 1 w 602"/>
                  <a:gd name="T19" fmla="*/ 0 h 296"/>
                  <a:gd name="T20" fmla="*/ 1 w 602"/>
                  <a:gd name="T21" fmla="*/ 0 h 296"/>
                  <a:gd name="T22" fmla="*/ 1 w 602"/>
                  <a:gd name="T23" fmla="*/ 0 h 296"/>
                  <a:gd name="T24" fmla="*/ 1 w 602"/>
                  <a:gd name="T25" fmla="*/ 0 h 296"/>
                  <a:gd name="T26" fmla="*/ 1 w 602"/>
                  <a:gd name="T27" fmla="*/ 0 h 296"/>
                  <a:gd name="T28" fmla="*/ 1 w 602"/>
                  <a:gd name="T29" fmla="*/ 0 h 296"/>
                  <a:gd name="T30" fmla="*/ 1 w 602"/>
                  <a:gd name="T31" fmla="*/ 0 h 296"/>
                  <a:gd name="T32" fmla="*/ 1 w 602"/>
                  <a:gd name="T33" fmla="*/ 0 h 296"/>
                  <a:gd name="T34" fmla="*/ 1 w 602"/>
                  <a:gd name="T35" fmla="*/ 0 h 296"/>
                  <a:gd name="T36" fmla="*/ 1 w 602"/>
                  <a:gd name="T37" fmla="*/ 0 h 296"/>
                  <a:gd name="T38" fmla="*/ 1 w 602"/>
                  <a:gd name="T39" fmla="*/ 0 h 296"/>
                  <a:gd name="T40" fmla="*/ 1 w 602"/>
                  <a:gd name="T41" fmla="*/ 0 h 296"/>
                  <a:gd name="T42" fmla="*/ 1 w 602"/>
                  <a:gd name="T43" fmla="*/ 0 h 296"/>
                  <a:gd name="T44" fmla="*/ 1 w 602"/>
                  <a:gd name="T45" fmla="*/ 0 h 296"/>
                  <a:gd name="T46" fmla="*/ 1 w 602"/>
                  <a:gd name="T47" fmla="*/ 0 h 296"/>
                  <a:gd name="T48" fmla="*/ 1 w 602"/>
                  <a:gd name="T49" fmla="*/ 0 h 296"/>
                  <a:gd name="T50" fmla="*/ 1 w 602"/>
                  <a:gd name="T51" fmla="*/ 0 h 296"/>
                  <a:gd name="T52" fmla="*/ 1 w 602"/>
                  <a:gd name="T53" fmla="*/ 0 h 296"/>
                  <a:gd name="T54" fmla="*/ 1 w 602"/>
                  <a:gd name="T55" fmla="*/ 0 h 296"/>
                  <a:gd name="T56" fmla="*/ 1 w 602"/>
                  <a:gd name="T57" fmla="*/ 0 h 296"/>
                  <a:gd name="T58" fmla="*/ 1 w 602"/>
                  <a:gd name="T59" fmla="*/ 0 h 296"/>
                  <a:gd name="T60" fmla="*/ 1 w 602"/>
                  <a:gd name="T61" fmla="*/ 0 h 296"/>
                  <a:gd name="T62" fmla="*/ 1 w 602"/>
                  <a:gd name="T63" fmla="*/ 0 h 296"/>
                  <a:gd name="T64" fmla="*/ 1 w 602"/>
                  <a:gd name="T65" fmla="*/ 0 h 296"/>
                  <a:gd name="T66" fmla="*/ 1 w 602"/>
                  <a:gd name="T67" fmla="*/ 0 h 296"/>
                  <a:gd name="T68" fmla="*/ 1 w 602"/>
                  <a:gd name="T69" fmla="*/ 0 h 296"/>
                  <a:gd name="T70" fmla="*/ 1 w 602"/>
                  <a:gd name="T71" fmla="*/ 0 h 296"/>
                  <a:gd name="T72" fmla="*/ 1 w 602"/>
                  <a:gd name="T73" fmla="*/ 0 h 296"/>
                  <a:gd name="T74" fmla="*/ 1 w 602"/>
                  <a:gd name="T75" fmla="*/ 0 h 296"/>
                  <a:gd name="T76" fmla="*/ 0 w 602"/>
                  <a:gd name="T77" fmla="*/ 0 h 29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02"/>
                  <a:gd name="T118" fmla="*/ 0 h 296"/>
                  <a:gd name="T119" fmla="*/ 602 w 602"/>
                  <a:gd name="T120" fmla="*/ 296 h 29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02" h="296">
                    <a:moveTo>
                      <a:pt x="0" y="95"/>
                    </a:moveTo>
                    <a:lnTo>
                      <a:pt x="30" y="72"/>
                    </a:lnTo>
                    <a:lnTo>
                      <a:pt x="15" y="59"/>
                    </a:lnTo>
                    <a:lnTo>
                      <a:pt x="87" y="17"/>
                    </a:lnTo>
                    <a:lnTo>
                      <a:pt x="146" y="0"/>
                    </a:lnTo>
                    <a:lnTo>
                      <a:pt x="165" y="30"/>
                    </a:lnTo>
                    <a:lnTo>
                      <a:pt x="144" y="48"/>
                    </a:lnTo>
                    <a:lnTo>
                      <a:pt x="198" y="24"/>
                    </a:lnTo>
                    <a:lnTo>
                      <a:pt x="257" y="44"/>
                    </a:lnTo>
                    <a:lnTo>
                      <a:pt x="235" y="66"/>
                    </a:lnTo>
                    <a:lnTo>
                      <a:pt x="304" y="51"/>
                    </a:lnTo>
                    <a:lnTo>
                      <a:pt x="285" y="26"/>
                    </a:lnTo>
                    <a:lnTo>
                      <a:pt x="312" y="29"/>
                    </a:lnTo>
                    <a:lnTo>
                      <a:pt x="366" y="109"/>
                    </a:lnTo>
                    <a:lnTo>
                      <a:pt x="385" y="90"/>
                    </a:lnTo>
                    <a:lnTo>
                      <a:pt x="363" y="3"/>
                    </a:lnTo>
                    <a:lnTo>
                      <a:pt x="407" y="4"/>
                    </a:lnTo>
                    <a:lnTo>
                      <a:pt x="455" y="35"/>
                    </a:lnTo>
                    <a:lnTo>
                      <a:pt x="483" y="143"/>
                    </a:lnTo>
                    <a:lnTo>
                      <a:pt x="602" y="195"/>
                    </a:lnTo>
                    <a:lnTo>
                      <a:pt x="601" y="224"/>
                    </a:lnTo>
                    <a:lnTo>
                      <a:pt x="568" y="212"/>
                    </a:lnTo>
                    <a:lnTo>
                      <a:pt x="532" y="231"/>
                    </a:lnTo>
                    <a:lnTo>
                      <a:pt x="583" y="255"/>
                    </a:lnTo>
                    <a:lnTo>
                      <a:pt x="536" y="279"/>
                    </a:lnTo>
                    <a:lnTo>
                      <a:pt x="459" y="267"/>
                    </a:lnTo>
                    <a:lnTo>
                      <a:pt x="414" y="237"/>
                    </a:lnTo>
                    <a:lnTo>
                      <a:pt x="315" y="286"/>
                    </a:lnTo>
                    <a:lnTo>
                      <a:pt x="191" y="296"/>
                    </a:lnTo>
                    <a:lnTo>
                      <a:pt x="166" y="249"/>
                    </a:lnTo>
                    <a:lnTo>
                      <a:pt x="98" y="246"/>
                    </a:lnTo>
                    <a:lnTo>
                      <a:pt x="54" y="206"/>
                    </a:lnTo>
                    <a:lnTo>
                      <a:pt x="228" y="182"/>
                    </a:lnTo>
                    <a:lnTo>
                      <a:pt x="47" y="169"/>
                    </a:lnTo>
                    <a:lnTo>
                      <a:pt x="24" y="145"/>
                    </a:lnTo>
                    <a:lnTo>
                      <a:pt x="117" y="117"/>
                    </a:lnTo>
                    <a:lnTo>
                      <a:pt x="30" y="121"/>
                    </a:lnTo>
                    <a:lnTo>
                      <a:pt x="37" y="109"/>
                    </a:lnTo>
                    <a:lnTo>
                      <a:pt x="0" y="9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0" name="16241245.5304.3757.87516.8755">
                <a:extLst>
                  <a:ext uri="{FF2B5EF4-FFF2-40B4-BE49-F238E27FC236}">
                    <a16:creationId xmlns:a16="http://schemas.microsoft.com/office/drawing/2014/main" id="{4A02FCC7-D884-EFDE-048A-A83D6A13EB7F}"/>
                  </a:ext>
                </a:extLst>
              </p:cNvPr>
              <p:cNvSpPr>
                <a:spLocks/>
              </p:cNvSpPr>
              <p:nvPr/>
            </p:nvSpPr>
            <p:spPr bwMode="auto">
              <a:xfrm>
                <a:off x="3445669" y="1786113"/>
                <a:ext cx="274576" cy="124173"/>
              </a:xfrm>
              <a:custGeom>
                <a:avLst/>
                <a:gdLst>
                  <a:gd name="T0" fmla="*/ 0 w 408"/>
                  <a:gd name="T1" fmla="*/ 0 h 164"/>
                  <a:gd name="T2" fmla="*/ 1 w 408"/>
                  <a:gd name="T3" fmla="*/ 0 h 164"/>
                  <a:gd name="T4" fmla="*/ 1 w 408"/>
                  <a:gd name="T5" fmla="*/ 0 h 164"/>
                  <a:gd name="T6" fmla="*/ 1 w 408"/>
                  <a:gd name="T7" fmla="*/ 0 h 164"/>
                  <a:gd name="T8" fmla="*/ 1 w 408"/>
                  <a:gd name="T9" fmla="*/ 0 h 164"/>
                  <a:gd name="T10" fmla="*/ 1 w 408"/>
                  <a:gd name="T11" fmla="*/ 0 h 164"/>
                  <a:gd name="T12" fmla="*/ 1 w 408"/>
                  <a:gd name="T13" fmla="*/ 0 h 164"/>
                  <a:gd name="T14" fmla="*/ 1 w 408"/>
                  <a:gd name="T15" fmla="*/ 0 h 164"/>
                  <a:gd name="T16" fmla="*/ 1 w 408"/>
                  <a:gd name="T17" fmla="*/ 0 h 164"/>
                  <a:gd name="T18" fmla="*/ 1 w 408"/>
                  <a:gd name="T19" fmla="*/ 0 h 164"/>
                  <a:gd name="T20" fmla="*/ 1 w 408"/>
                  <a:gd name="T21" fmla="*/ 0 h 164"/>
                  <a:gd name="T22" fmla="*/ 1 w 408"/>
                  <a:gd name="T23" fmla="*/ 0 h 164"/>
                  <a:gd name="T24" fmla="*/ 1 w 408"/>
                  <a:gd name="T25" fmla="*/ 0 h 164"/>
                  <a:gd name="T26" fmla="*/ 1 w 408"/>
                  <a:gd name="T27" fmla="*/ 0 h 164"/>
                  <a:gd name="T28" fmla="*/ 1 w 408"/>
                  <a:gd name="T29" fmla="*/ 0 h 164"/>
                  <a:gd name="T30" fmla="*/ 1 w 408"/>
                  <a:gd name="T31" fmla="*/ 0 h 164"/>
                  <a:gd name="T32" fmla="*/ 1 w 408"/>
                  <a:gd name="T33" fmla="*/ 0 h 164"/>
                  <a:gd name="T34" fmla="*/ 1 w 408"/>
                  <a:gd name="T35" fmla="*/ 0 h 164"/>
                  <a:gd name="T36" fmla="*/ 1 w 408"/>
                  <a:gd name="T37" fmla="*/ 0 h 164"/>
                  <a:gd name="T38" fmla="*/ 1 w 408"/>
                  <a:gd name="T39" fmla="*/ 0 h 164"/>
                  <a:gd name="T40" fmla="*/ 1 w 408"/>
                  <a:gd name="T41" fmla="*/ 0 h 164"/>
                  <a:gd name="T42" fmla="*/ 1 w 408"/>
                  <a:gd name="T43" fmla="*/ 0 h 164"/>
                  <a:gd name="T44" fmla="*/ 1 w 408"/>
                  <a:gd name="T45" fmla="*/ 0 h 164"/>
                  <a:gd name="T46" fmla="*/ 1 w 408"/>
                  <a:gd name="T47" fmla="*/ 0 h 164"/>
                  <a:gd name="T48" fmla="*/ 1 w 408"/>
                  <a:gd name="T49" fmla="*/ 0 h 164"/>
                  <a:gd name="T50" fmla="*/ 1 w 408"/>
                  <a:gd name="T51" fmla="*/ 0 h 164"/>
                  <a:gd name="T52" fmla="*/ 1 w 408"/>
                  <a:gd name="T53" fmla="*/ 0 h 164"/>
                  <a:gd name="T54" fmla="*/ 1 w 408"/>
                  <a:gd name="T55" fmla="*/ 0 h 164"/>
                  <a:gd name="T56" fmla="*/ 1 w 408"/>
                  <a:gd name="T57" fmla="*/ 0 h 164"/>
                  <a:gd name="T58" fmla="*/ 1 w 408"/>
                  <a:gd name="T59" fmla="*/ 0 h 164"/>
                  <a:gd name="T60" fmla="*/ 1 w 408"/>
                  <a:gd name="T61" fmla="*/ 0 h 164"/>
                  <a:gd name="T62" fmla="*/ 1 w 408"/>
                  <a:gd name="T63" fmla="*/ 0 h 164"/>
                  <a:gd name="T64" fmla="*/ 1 w 408"/>
                  <a:gd name="T65" fmla="*/ 0 h 164"/>
                  <a:gd name="T66" fmla="*/ 0 w 408"/>
                  <a:gd name="T67" fmla="*/ 0 h 16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08"/>
                  <a:gd name="T103" fmla="*/ 0 h 164"/>
                  <a:gd name="T104" fmla="*/ 408 w 408"/>
                  <a:gd name="T105" fmla="*/ 164 h 16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08" h="164">
                    <a:moveTo>
                      <a:pt x="0" y="108"/>
                    </a:moveTo>
                    <a:lnTo>
                      <a:pt x="15" y="95"/>
                    </a:lnTo>
                    <a:lnTo>
                      <a:pt x="85" y="80"/>
                    </a:lnTo>
                    <a:lnTo>
                      <a:pt x="15" y="83"/>
                    </a:lnTo>
                    <a:lnTo>
                      <a:pt x="96" y="66"/>
                    </a:lnTo>
                    <a:lnTo>
                      <a:pt x="30" y="66"/>
                    </a:lnTo>
                    <a:lnTo>
                      <a:pt x="36" y="48"/>
                    </a:lnTo>
                    <a:lnTo>
                      <a:pt x="99" y="47"/>
                    </a:lnTo>
                    <a:lnTo>
                      <a:pt x="55" y="43"/>
                    </a:lnTo>
                    <a:lnTo>
                      <a:pt x="89" y="26"/>
                    </a:lnTo>
                    <a:lnTo>
                      <a:pt x="172" y="47"/>
                    </a:lnTo>
                    <a:lnTo>
                      <a:pt x="213" y="88"/>
                    </a:lnTo>
                    <a:lnTo>
                      <a:pt x="290" y="91"/>
                    </a:lnTo>
                    <a:lnTo>
                      <a:pt x="260" y="66"/>
                    </a:lnTo>
                    <a:lnTo>
                      <a:pt x="278" y="50"/>
                    </a:lnTo>
                    <a:lnTo>
                      <a:pt x="243" y="31"/>
                    </a:lnTo>
                    <a:lnTo>
                      <a:pt x="297" y="0"/>
                    </a:lnTo>
                    <a:lnTo>
                      <a:pt x="320" y="36"/>
                    </a:lnTo>
                    <a:lnTo>
                      <a:pt x="304" y="53"/>
                    </a:lnTo>
                    <a:lnTo>
                      <a:pt x="334" y="58"/>
                    </a:lnTo>
                    <a:lnTo>
                      <a:pt x="323" y="76"/>
                    </a:lnTo>
                    <a:lnTo>
                      <a:pt x="362" y="81"/>
                    </a:lnTo>
                    <a:lnTo>
                      <a:pt x="382" y="57"/>
                    </a:lnTo>
                    <a:lnTo>
                      <a:pt x="408" y="86"/>
                    </a:lnTo>
                    <a:lnTo>
                      <a:pt x="388" y="123"/>
                    </a:lnTo>
                    <a:lnTo>
                      <a:pt x="300" y="120"/>
                    </a:lnTo>
                    <a:lnTo>
                      <a:pt x="165" y="164"/>
                    </a:lnTo>
                    <a:lnTo>
                      <a:pt x="110" y="141"/>
                    </a:lnTo>
                    <a:lnTo>
                      <a:pt x="224" y="105"/>
                    </a:lnTo>
                    <a:lnTo>
                      <a:pt x="127" y="127"/>
                    </a:lnTo>
                    <a:lnTo>
                      <a:pt x="143" y="97"/>
                    </a:lnTo>
                    <a:lnTo>
                      <a:pt x="94" y="128"/>
                    </a:lnTo>
                    <a:lnTo>
                      <a:pt x="36" y="120"/>
                    </a:lnTo>
                    <a:lnTo>
                      <a:pt x="0" y="10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1" name="16242237.125321.254.8758.755">
                <a:extLst>
                  <a:ext uri="{FF2B5EF4-FFF2-40B4-BE49-F238E27FC236}">
                    <a16:creationId xmlns:a16="http://schemas.microsoft.com/office/drawing/2014/main" id="{307FC0F0-872C-F5C4-CB3C-273186F06EA5}"/>
                  </a:ext>
                </a:extLst>
              </p:cNvPr>
              <p:cNvSpPr>
                <a:spLocks/>
              </p:cNvSpPr>
              <p:nvPr/>
            </p:nvSpPr>
            <p:spPr bwMode="auto">
              <a:xfrm>
                <a:off x="3718899" y="1654275"/>
                <a:ext cx="142671" cy="78183"/>
              </a:xfrm>
              <a:custGeom>
                <a:avLst/>
                <a:gdLst>
                  <a:gd name="T0" fmla="*/ 0 w 212"/>
                  <a:gd name="T1" fmla="*/ 0 h 102"/>
                  <a:gd name="T2" fmla="*/ 1 w 212"/>
                  <a:gd name="T3" fmla="*/ 1 h 102"/>
                  <a:gd name="T4" fmla="*/ 1 w 212"/>
                  <a:gd name="T5" fmla="*/ 1 h 102"/>
                  <a:gd name="T6" fmla="*/ 1 w 212"/>
                  <a:gd name="T7" fmla="*/ 1 h 102"/>
                  <a:gd name="T8" fmla="*/ 1 w 212"/>
                  <a:gd name="T9" fmla="*/ 1 h 102"/>
                  <a:gd name="T10" fmla="*/ 1 w 212"/>
                  <a:gd name="T11" fmla="*/ 1 h 102"/>
                  <a:gd name="T12" fmla="*/ 1 w 212"/>
                  <a:gd name="T13" fmla="*/ 1 h 102"/>
                  <a:gd name="T14" fmla="*/ 1 w 212"/>
                  <a:gd name="T15" fmla="*/ 1 h 102"/>
                  <a:gd name="T16" fmla="*/ 1 w 212"/>
                  <a:gd name="T17" fmla="*/ 1 h 102"/>
                  <a:gd name="T18" fmla="*/ 1 w 212"/>
                  <a:gd name="T19" fmla="*/ 1 h 102"/>
                  <a:gd name="T20" fmla="*/ 1 w 212"/>
                  <a:gd name="T21" fmla="*/ 1 h 102"/>
                  <a:gd name="T22" fmla="*/ 1 w 212"/>
                  <a:gd name="T23" fmla="*/ 0 h 102"/>
                  <a:gd name="T24" fmla="*/ 0 w 21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2"/>
                  <a:gd name="T40" fmla="*/ 0 h 102"/>
                  <a:gd name="T41" fmla="*/ 212 w 212"/>
                  <a:gd name="T42" fmla="*/ 102 h 1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2" h="102">
                    <a:moveTo>
                      <a:pt x="0" y="0"/>
                    </a:moveTo>
                    <a:lnTo>
                      <a:pt x="18" y="36"/>
                    </a:lnTo>
                    <a:lnTo>
                      <a:pt x="69" y="36"/>
                    </a:lnTo>
                    <a:lnTo>
                      <a:pt x="52" y="44"/>
                    </a:lnTo>
                    <a:lnTo>
                      <a:pt x="65" y="56"/>
                    </a:lnTo>
                    <a:lnTo>
                      <a:pt x="19" y="62"/>
                    </a:lnTo>
                    <a:lnTo>
                      <a:pt x="93" y="75"/>
                    </a:lnTo>
                    <a:lnTo>
                      <a:pt x="212" y="102"/>
                    </a:lnTo>
                    <a:lnTo>
                      <a:pt x="194" y="42"/>
                    </a:lnTo>
                    <a:lnTo>
                      <a:pt x="109" y="8"/>
                    </a:lnTo>
                    <a:lnTo>
                      <a:pt x="81" y="23"/>
                    </a:lnTo>
                    <a:lnTo>
                      <a:pt x="73" y="0"/>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2" name="16243246.5325.3755.12575">
                <a:extLst>
                  <a:ext uri="{FF2B5EF4-FFF2-40B4-BE49-F238E27FC236}">
                    <a16:creationId xmlns:a16="http://schemas.microsoft.com/office/drawing/2014/main" id="{E713E12E-8F89-3A2C-DFAB-DB97A50E7428}"/>
                  </a:ext>
                </a:extLst>
              </p:cNvPr>
              <p:cNvSpPr>
                <a:spLocks/>
              </p:cNvSpPr>
              <p:nvPr/>
            </p:nvSpPr>
            <p:spPr bwMode="auto">
              <a:xfrm>
                <a:off x="3786198" y="1802974"/>
                <a:ext cx="113060" cy="79716"/>
              </a:xfrm>
              <a:custGeom>
                <a:avLst/>
                <a:gdLst>
                  <a:gd name="T0" fmla="*/ 0 w 169"/>
                  <a:gd name="T1" fmla="*/ 1 h 103"/>
                  <a:gd name="T2" fmla="*/ 0 w 169"/>
                  <a:gd name="T3" fmla="*/ 1 h 103"/>
                  <a:gd name="T4" fmla="*/ 0 w 169"/>
                  <a:gd name="T5" fmla="*/ 1 h 103"/>
                  <a:gd name="T6" fmla="*/ 0 w 169"/>
                  <a:gd name="T7" fmla="*/ 1 h 103"/>
                  <a:gd name="T8" fmla="*/ 0 w 169"/>
                  <a:gd name="T9" fmla="*/ 1 h 103"/>
                  <a:gd name="T10" fmla="*/ 0 w 169"/>
                  <a:gd name="T11" fmla="*/ 1 h 103"/>
                  <a:gd name="T12" fmla="*/ 0 w 169"/>
                  <a:gd name="T13" fmla="*/ 1 h 103"/>
                  <a:gd name="T14" fmla="*/ 0 w 169"/>
                  <a:gd name="T15" fmla="*/ 0 h 103"/>
                  <a:gd name="T16" fmla="*/ 0 w 169"/>
                  <a:gd name="T17" fmla="*/ 1 h 103"/>
                  <a:gd name="T18" fmla="*/ 0 w 169"/>
                  <a:gd name="T19" fmla="*/ 1 h 103"/>
                  <a:gd name="T20" fmla="*/ 0 w 169"/>
                  <a:gd name="T21" fmla="*/ 1 h 103"/>
                  <a:gd name="T22" fmla="*/ 0 w 169"/>
                  <a:gd name="T23" fmla="*/ 1 h 103"/>
                  <a:gd name="T24" fmla="*/ 0 w 169"/>
                  <a:gd name="T25" fmla="*/ 1 h 103"/>
                  <a:gd name="T26" fmla="*/ 0 w 169"/>
                  <a:gd name="T27" fmla="*/ 1 h 103"/>
                  <a:gd name="T28" fmla="*/ 0 w 169"/>
                  <a:gd name="T29" fmla="*/ 1 h 103"/>
                  <a:gd name="T30" fmla="*/ 0 w 169"/>
                  <a:gd name="T31" fmla="*/ 1 h 10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9"/>
                  <a:gd name="T49" fmla="*/ 0 h 103"/>
                  <a:gd name="T50" fmla="*/ 169 w 169"/>
                  <a:gd name="T51" fmla="*/ 103 h 10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9" h="103">
                    <a:moveTo>
                      <a:pt x="0" y="67"/>
                    </a:moveTo>
                    <a:lnTo>
                      <a:pt x="18" y="42"/>
                    </a:lnTo>
                    <a:lnTo>
                      <a:pt x="51" y="46"/>
                    </a:lnTo>
                    <a:lnTo>
                      <a:pt x="10" y="22"/>
                    </a:lnTo>
                    <a:lnTo>
                      <a:pt x="19" y="7"/>
                    </a:lnTo>
                    <a:lnTo>
                      <a:pt x="88" y="40"/>
                    </a:lnTo>
                    <a:lnTo>
                      <a:pt x="49" y="4"/>
                    </a:lnTo>
                    <a:lnTo>
                      <a:pt x="151" y="0"/>
                    </a:lnTo>
                    <a:lnTo>
                      <a:pt x="169" y="75"/>
                    </a:lnTo>
                    <a:lnTo>
                      <a:pt x="148" y="63"/>
                    </a:lnTo>
                    <a:lnTo>
                      <a:pt x="147" y="103"/>
                    </a:lnTo>
                    <a:lnTo>
                      <a:pt x="64" y="99"/>
                    </a:lnTo>
                    <a:lnTo>
                      <a:pt x="81" y="88"/>
                    </a:lnTo>
                    <a:lnTo>
                      <a:pt x="59" y="73"/>
                    </a:lnTo>
                    <a:lnTo>
                      <a:pt x="118" y="52"/>
                    </a:lnTo>
                    <a:lnTo>
                      <a:pt x="0" y="6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3" name="16244255.25325.57.8758.255">
                <a:extLst>
                  <a:ext uri="{FF2B5EF4-FFF2-40B4-BE49-F238E27FC236}">
                    <a16:creationId xmlns:a16="http://schemas.microsoft.com/office/drawing/2014/main" id="{C7E17E96-2E75-21B5-160D-5B96D9B08D28}"/>
                  </a:ext>
                </a:extLst>
              </p:cNvPr>
              <p:cNvSpPr>
                <a:spLocks/>
              </p:cNvSpPr>
              <p:nvPr/>
            </p:nvSpPr>
            <p:spPr bwMode="auto">
              <a:xfrm>
                <a:off x="3788889" y="1939412"/>
                <a:ext cx="133251" cy="124173"/>
              </a:xfrm>
              <a:custGeom>
                <a:avLst/>
                <a:gdLst>
                  <a:gd name="T0" fmla="*/ 0 w 198"/>
                  <a:gd name="T1" fmla="*/ 1 h 162"/>
                  <a:gd name="T2" fmla="*/ 1 w 198"/>
                  <a:gd name="T3" fmla="*/ 1 h 162"/>
                  <a:gd name="T4" fmla="*/ 1 w 198"/>
                  <a:gd name="T5" fmla="*/ 1 h 162"/>
                  <a:gd name="T6" fmla="*/ 1 w 198"/>
                  <a:gd name="T7" fmla="*/ 1 h 162"/>
                  <a:gd name="T8" fmla="*/ 1 w 198"/>
                  <a:gd name="T9" fmla="*/ 1 h 162"/>
                  <a:gd name="T10" fmla="*/ 1 w 198"/>
                  <a:gd name="T11" fmla="*/ 1 h 162"/>
                  <a:gd name="T12" fmla="*/ 1 w 198"/>
                  <a:gd name="T13" fmla="*/ 1 h 162"/>
                  <a:gd name="T14" fmla="*/ 1 w 198"/>
                  <a:gd name="T15" fmla="*/ 1 h 162"/>
                  <a:gd name="T16" fmla="*/ 1 w 198"/>
                  <a:gd name="T17" fmla="*/ 0 h 162"/>
                  <a:gd name="T18" fmla="*/ 1 w 198"/>
                  <a:gd name="T19" fmla="*/ 1 h 162"/>
                  <a:gd name="T20" fmla="*/ 1 w 198"/>
                  <a:gd name="T21" fmla="*/ 1 h 162"/>
                  <a:gd name="T22" fmla="*/ 1 w 198"/>
                  <a:gd name="T23" fmla="*/ 1 h 162"/>
                  <a:gd name="T24" fmla="*/ 1 w 198"/>
                  <a:gd name="T25" fmla="*/ 1 h 162"/>
                  <a:gd name="T26" fmla="*/ 1 w 198"/>
                  <a:gd name="T27" fmla="*/ 1 h 162"/>
                  <a:gd name="T28" fmla="*/ 1 w 198"/>
                  <a:gd name="T29" fmla="*/ 1 h 162"/>
                  <a:gd name="T30" fmla="*/ 0 w 198"/>
                  <a:gd name="T31" fmla="*/ 1 h 16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8"/>
                  <a:gd name="T49" fmla="*/ 0 h 162"/>
                  <a:gd name="T50" fmla="*/ 198 w 198"/>
                  <a:gd name="T51" fmla="*/ 162 h 16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8" h="162">
                    <a:moveTo>
                      <a:pt x="0" y="81"/>
                    </a:moveTo>
                    <a:lnTo>
                      <a:pt x="10" y="61"/>
                    </a:lnTo>
                    <a:lnTo>
                      <a:pt x="76" y="73"/>
                    </a:lnTo>
                    <a:lnTo>
                      <a:pt x="66" y="47"/>
                    </a:lnTo>
                    <a:lnTo>
                      <a:pt x="84" y="48"/>
                    </a:lnTo>
                    <a:lnTo>
                      <a:pt x="40" y="35"/>
                    </a:lnTo>
                    <a:lnTo>
                      <a:pt x="60" y="28"/>
                    </a:lnTo>
                    <a:lnTo>
                      <a:pt x="41" y="14"/>
                    </a:lnTo>
                    <a:lnTo>
                      <a:pt x="168" y="0"/>
                    </a:lnTo>
                    <a:lnTo>
                      <a:pt x="172" y="36"/>
                    </a:lnTo>
                    <a:lnTo>
                      <a:pt x="133" y="65"/>
                    </a:lnTo>
                    <a:lnTo>
                      <a:pt x="191" y="73"/>
                    </a:lnTo>
                    <a:lnTo>
                      <a:pt x="198" y="131"/>
                    </a:lnTo>
                    <a:lnTo>
                      <a:pt x="113" y="162"/>
                    </a:lnTo>
                    <a:lnTo>
                      <a:pt x="76" y="117"/>
                    </a:lnTo>
                    <a:lnTo>
                      <a:pt x="0" y="8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4" name="16245238.375331.254.12555">
                <a:extLst>
                  <a:ext uri="{FF2B5EF4-FFF2-40B4-BE49-F238E27FC236}">
                    <a16:creationId xmlns:a16="http://schemas.microsoft.com/office/drawing/2014/main" id="{0F1BC373-C2B9-703F-B1C4-7DA7DFE0CC30}"/>
                  </a:ext>
                </a:extLst>
              </p:cNvPr>
              <p:cNvSpPr>
                <a:spLocks/>
              </p:cNvSpPr>
              <p:nvPr/>
            </p:nvSpPr>
            <p:spPr bwMode="auto">
              <a:xfrm>
                <a:off x="3881759" y="1674202"/>
                <a:ext cx="80758" cy="64386"/>
              </a:xfrm>
              <a:custGeom>
                <a:avLst/>
                <a:gdLst>
                  <a:gd name="T0" fmla="*/ 0 w 119"/>
                  <a:gd name="T1" fmla="*/ 0 h 82"/>
                  <a:gd name="T2" fmla="*/ 1 w 119"/>
                  <a:gd name="T3" fmla="*/ 1 h 82"/>
                  <a:gd name="T4" fmla="*/ 1 w 119"/>
                  <a:gd name="T5" fmla="*/ 1 h 82"/>
                  <a:gd name="T6" fmla="*/ 1 w 119"/>
                  <a:gd name="T7" fmla="*/ 1 h 82"/>
                  <a:gd name="T8" fmla="*/ 1 w 119"/>
                  <a:gd name="T9" fmla="*/ 1 h 82"/>
                  <a:gd name="T10" fmla="*/ 1 w 119"/>
                  <a:gd name="T11" fmla="*/ 1 h 82"/>
                  <a:gd name="T12" fmla="*/ 1 w 119"/>
                  <a:gd name="T13" fmla="*/ 1 h 82"/>
                  <a:gd name="T14" fmla="*/ 0 w 119"/>
                  <a:gd name="T15" fmla="*/ 0 h 82"/>
                  <a:gd name="T16" fmla="*/ 0 60000 65536"/>
                  <a:gd name="T17" fmla="*/ 0 60000 65536"/>
                  <a:gd name="T18" fmla="*/ 0 60000 65536"/>
                  <a:gd name="T19" fmla="*/ 0 60000 65536"/>
                  <a:gd name="T20" fmla="*/ 0 60000 65536"/>
                  <a:gd name="T21" fmla="*/ 0 60000 65536"/>
                  <a:gd name="T22" fmla="*/ 0 60000 65536"/>
                  <a:gd name="T23" fmla="*/ 0 60000 65536"/>
                  <a:gd name="T24" fmla="*/ 0 w 119"/>
                  <a:gd name="T25" fmla="*/ 0 h 82"/>
                  <a:gd name="T26" fmla="*/ 119 w 119"/>
                  <a:gd name="T27" fmla="*/ 82 h 8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9" h="82">
                    <a:moveTo>
                      <a:pt x="0" y="0"/>
                    </a:moveTo>
                    <a:lnTo>
                      <a:pt x="14" y="49"/>
                    </a:lnTo>
                    <a:lnTo>
                      <a:pt x="51" y="52"/>
                    </a:lnTo>
                    <a:lnTo>
                      <a:pt x="19" y="59"/>
                    </a:lnTo>
                    <a:lnTo>
                      <a:pt x="34" y="82"/>
                    </a:lnTo>
                    <a:lnTo>
                      <a:pt x="108" y="69"/>
                    </a:lnTo>
                    <a:lnTo>
                      <a:pt x="119" y="41"/>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5" name="16246244.625333.1258.7523.8755">
                <a:extLst>
                  <a:ext uri="{FF2B5EF4-FFF2-40B4-BE49-F238E27FC236}">
                    <a16:creationId xmlns:a16="http://schemas.microsoft.com/office/drawing/2014/main" id="{2AAA8AE6-A4E4-AF89-31D3-67403EFD8C6C}"/>
                  </a:ext>
                </a:extLst>
              </p:cNvPr>
              <p:cNvSpPr>
                <a:spLocks/>
              </p:cNvSpPr>
              <p:nvPr/>
            </p:nvSpPr>
            <p:spPr bwMode="auto">
              <a:xfrm>
                <a:off x="3911371" y="1772315"/>
                <a:ext cx="386291" cy="137970"/>
              </a:xfrm>
              <a:custGeom>
                <a:avLst/>
                <a:gdLst>
                  <a:gd name="T0" fmla="*/ 0 w 575"/>
                  <a:gd name="T1" fmla="*/ 0 h 182"/>
                  <a:gd name="T2" fmla="*/ 0 w 575"/>
                  <a:gd name="T3" fmla="*/ 0 h 182"/>
                  <a:gd name="T4" fmla="*/ 0 w 575"/>
                  <a:gd name="T5" fmla="*/ 0 h 182"/>
                  <a:gd name="T6" fmla="*/ 0 w 575"/>
                  <a:gd name="T7" fmla="*/ 0 h 182"/>
                  <a:gd name="T8" fmla="*/ 0 w 575"/>
                  <a:gd name="T9" fmla="*/ 0 h 182"/>
                  <a:gd name="T10" fmla="*/ 0 w 575"/>
                  <a:gd name="T11" fmla="*/ 0 h 182"/>
                  <a:gd name="T12" fmla="*/ 0 w 575"/>
                  <a:gd name="T13" fmla="*/ 0 h 182"/>
                  <a:gd name="T14" fmla="*/ 0 w 575"/>
                  <a:gd name="T15" fmla="*/ 0 h 182"/>
                  <a:gd name="T16" fmla="*/ 0 w 575"/>
                  <a:gd name="T17" fmla="*/ 0 h 182"/>
                  <a:gd name="T18" fmla="*/ 0 w 575"/>
                  <a:gd name="T19" fmla="*/ 0 h 182"/>
                  <a:gd name="T20" fmla="*/ 0 w 575"/>
                  <a:gd name="T21" fmla="*/ 0 h 182"/>
                  <a:gd name="T22" fmla="*/ 0 w 575"/>
                  <a:gd name="T23" fmla="*/ 0 h 182"/>
                  <a:gd name="T24" fmla="*/ 0 w 575"/>
                  <a:gd name="T25" fmla="*/ 0 h 182"/>
                  <a:gd name="T26" fmla="*/ 0 w 575"/>
                  <a:gd name="T27" fmla="*/ 0 h 182"/>
                  <a:gd name="T28" fmla="*/ 0 w 575"/>
                  <a:gd name="T29" fmla="*/ 0 h 182"/>
                  <a:gd name="T30" fmla="*/ 0 w 575"/>
                  <a:gd name="T31" fmla="*/ 0 h 182"/>
                  <a:gd name="T32" fmla="*/ 0 w 575"/>
                  <a:gd name="T33" fmla="*/ 0 h 182"/>
                  <a:gd name="T34" fmla="*/ 0 w 575"/>
                  <a:gd name="T35" fmla="*/ 0 h 182"/>
                  <a:gd name="T36" fmla="*/ 0 w 575"/>
                  <a:gd name="T37" fmla="*/ 0 h 182"/>
                  <a:gd name="T38" fmla="*/ 0 w 575"/>
                  <a:gd name="T39" fmla="*/ 0 h 182"/>
                  <a:gd name="T40" fmla="*/ 0 w 575"/>
                  <a:gd name="T41" fmla="*/ 0 h 182"/>
                  <a:gd name="T42" fmla="*/ 0 w 575"/>
                  <a:gd name="T43" fmla="*/ 0 h 182"/>
                  <a:gd name="T44" fmla="*/ 0 w 575"/>
                  <a:gd name="T45" fmla="*/ 0 h 182"/>
                  <a:gd name="T46" fmla="*/ 0 w 575"/>
                  <a:gd name="T47" fmla="*/ 0 h 182"/>
                  <a:gd name="T48" fmla="*/ 0 w 575"/>
                  <a:gd name="T49" fmla="*/ 0 h 182"/>
                  <a:gd name="T50" fmla="*/ 0 w 575"/>
                  <a:gd name="T51" fmla="*/ 0 h 182"/>
                  <a:gd name="T52" fmla="*/ 0 w 575"/>
                  <a:gd name="T53" fmla="*/ 0 h 182"/>
                  <a:gd name="T54" fmla="*/ 0 w 575"/>
                  <a:gd name="T55" fmla="*/ 0 h 182"/>
                  <a:gd name="T56" fmla="*/ 0 w 575"/>
                  <a:gd name="T57" fmla="*/ 0 h 182"/>
                  <a:gd name="T58" fmla="*/ 0 w 575"/>
                  <a:gd name="T59" fmla="*/ 0 h 182"/>
                  <a:gd name="T60" fmla="*/ 0 w 575"/>
                  <a:gd name="T61" fmla="*/ 0 h 182"/>
                  <a:gd name="T62" fmla="*/ 0 w 575"/>
                  <a:gd name="T63" fmla="*/ 0 h 18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75"/>
                  <a:gd name="T97" fmla="*/ 0 h 182"/>
                  <a:gd name="T98" fmla="*/ 575 w 575"/>
                  <a:gd name="T99" fmla="*/ 182 h 18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75" h="182">
                    <a:moveTo>
                      <a:pt x="0" y="29"/>
                    </a:moveTo>
                    <a:lnTo>
                      <a:pt x="36" y="0"/>
                    </a:lnTo>
                    <a:lnTo>
                      <a:pt x="87" y="16"/>
                    </a:lnTo>
                    <a:lnTo>
                      <a:pt x="121" y="29"/>
                    </a:lnTo>
                    <a:lnTo>
                      <a:pt x="110" y="50"/>
                    </a:lnTo>
                    <a:lnTo>
                      <a:pt x="176" y="32"/>
                    </a:lnTo>
                    <a:lnTo>
                      <a:pt x="219" y="50"/>
                    </a:lnTo>
                    <a:lnTo>
                      <a:pt x="183" y="50"/>
                    </a:lnTo>
                    <a:lnTo>
                      <a:pt x="256" y="64"/>
                    </a:lnTo>
                    <a:lnTo>
                      <a:pt x="176" y="69"/>
                    </a:lnTo>
                    <a:lnTo>
                      <a:pt x="219" y="82"/>
                    </a:lnTo>
                    <a:lnTo>
                      <a:pt x="187" y="97"/>
                    </a:lnTo>
                    <a:lnTo>
                      <a:pt x="227" y="84"/>
                    </a:lnTo>
                    <a:lnTo>
                      <a:pt x="263" y="120"/>
                    </a:lnTo>
                    <a:lnTo>
                      <a:pt x="271" y="104"/>
                    </a:lnTo>
                    <a:lnTo>
                      <a:pt x="377" y="120"/>
                    </a:lnTo>
                    <a:lnTo>
                      <a:pt x="486" y="86"/>
                    </a:lnTo>
                    <a:lnTo>
                      <a:pt x="575" y="126"/>
                    </a:lnTo>
                    <a:lnTo>
                      <a:pt x="547" y="145"/>
                    </a:lnTo>
                    <a:lnTo>
                      <a:pt x="557" y="175"/>
                    </a:lnTo>
                    <a:lnTo>
                      <a:pt x="505" y="182"/>
                    </a:lnTo>
                    <a:lnTo>
                      <a:pt x="446" y="153"/>
                    </a:lnTo>
                    <a:lnTo>
                      <a:pt x="446" y="175"/>
                    </a:lnTo>
                    <a:lnTo>
                      <a:pt x="414" y="179"/>
                    </a:lnTo>
                    <a:lnTo>
                      <a:pt x="285" y="182"/>
                    </a:lnTo>
                    <a:lnTo>
                      <a:pt x="271" y="157"/>
                    </a:lnTo>
                    <a:lnTo>
                      <a:pt x="240" y="179"/>
                    </a:lnTo>
                    <a:lnTo>
                      <a:pt x="200" y="157"/>
                    </a:lnTo>
                    <a:lnTo>
                      <a:pt x="174" y="172"/>
                    </a:lnTo>
                    <a:lnTo>
                      <a:pt x="124" y="54"/>
                    </a:lnTo>
                    <a:lnTo>
                      <a:pt x="65" y="65"/>
                    </a:lnTo>
                    <a:lnTo>
                      <a:pt x="0" y="2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6" name="16247229.37533411.7515.6255">
                <a:extLst>
                  <a:ext uri="{FF2B5EF4-FFF2-40B4-BE49-F238E27FC236}">
                    <a16:creationId xmlns:a16="http://schemas.microsoft.com/office/drawing/2014/main" id="{00A6D82F-A5B3-4AB0-4335-2111D02F108E}"/>
                  </a:ext>
                </a:extLst>
              </p:cNvPr>
              <p:cNvSpPr>
                <a:spLocks/>
              </p:cNvSpPr>
              <p:nvPr/>
            </p:nvSpPr>
            <p:spPr bwMode="auto">
              <a:xfrm>
                <a:off x="3926176" y="1533168"/>
                <a:ext cx="253040" cy="185494"/>
              </a:xfrm>
              <a:custGeom>
                <a:avLst/>
                <a:gdLst>
                  <a:gd name="T0" fmla="*/ 0 w 375"/>
                  <a:gd name="T1" fmla="*/ 1 h 242"/>
                  <a:gd name="T2" fmla="*/ 1 w 375"/>
                  <a:gd name="T3" fmla="*/ 1 h 242"/>
                  <a:gd name="T4" fmla="*/ 1 w 375"/>
                  <a:gd name="T5" fmla="*/ 1 h 242"/>
                  <a:gd name="T6" fmla="*/ 1 w 375"/>
                  <a:gd name="T7" fmla="*/ 1 h 242"/>
                  <a:gd name="T8" fmla="*/ 1 w 375"/>
                  <a:gd name="T9" fmla="*/ 0 h 242"/>
                  <a:gd name="T10" fmla="*/ 1 w 375"/>
                  <a:gd name="T11" fmla="*/ 1 h 242"/>
                  <a:gd name="T12" fmla="*/ 1 w 375"/>
                  <a:gd name="T13" fmla="*/ 1 h 242"/>
                  <a:gd name="T14" fmla="*/ 1 w 375"/>
                  <a:gd name="T15" fmla="*/ 1 h 242"/>
                  <a:gd name="T16" fmla="*/ 1 w 375"/>
                  <a:gd name="T17" fmla="*/ 1 h 242"/>
                  <a:gd name="T18" fmla="*/ 1 w 375"/>
                  <a:gd name="T19" fmla="*/ 1 h 242"/>
                  <a:gd name="T20" fmla="*/ 1 w 375"/>
                  <a:gd name="T21" fmla="*/ 1 h 242"/>
                  <a:gd name="T22" fmla="*/ 1 w 375"/>
                  <a:gd name="T23" fmla="*/ 1 h 242"/>
                  <a:gd name="T24" fmla="*/ 1 w 375"/>
                  <a:gd name="T25" fmla="*/ 1 h 242"/>
                  <a:gd name="T26" fmla="*/ 1 w 375"/>
                  <a:gd name="T27" fmla="*/ 1 h 242"/>
                  <a:gd name="T28" fmla="*/ 1 w 375"/>
                  <a:gd name="T29" fmla="*/ 1 h 242"/>
                  <a:gd name="T30" fmla="*/ 1 w 375"/>
                  <a:gd name="T31" fmla="*/ 1 h 242"/>
                  <a:gd name="T32" fmla="*/ 1 w 375"/>
                  <a:gd name="T33" fmla="*/ 1 h 242"/>
                  <a:gd name="T34" fmla="*/ 1 w 375"/>
                  <a:gd name="T35" fmla="*/ 1 h 242"/>
                  <a:gd name="T36" fmla="*/ 1 w 375"/>
                  <a:gd name="T37" fmla="*/ 1 h 242"/>
                  <a:gd name="T38" fmla="*/ 1 w 375"/>
                  <a:gd name="T39" fmla="*/ 1 h 242"/>
                  <a:gd name="T40" fmla="*/ 1 w 375"/>
                  <a:gd name="T41" fmla="*/ 1 h 242"/>
                  <a:gd name="T42" fmla="*/ 1 w 375"/>
                  <a:gd name="T43" fmla="*/ 1 h 242"/>
                  <a:gd name="T44" fmla="*/ 1 w 375"/>
                  <a:gd name="T45" fmla="*/ 1 h 242"/>
                  <a:gd name="T46" fmla="*/ 1 w 375"/>
                  <a:gd name="T47" fmla="*/ 1 h 242"/>
                  <a:gd name="T48" fmla="*/ 1 w 375"/>
                  <a:gd name="T49" fmla="*/ 1 h 242"/>
                  <a:gd name="T50" fmla="*/ 1 w 375"/>
                  <a:gd name="T51" fmla="*/ 1 h 242"/>
                  <a:gd name="T52" fmla="*/ 1 w 375"/>
                  <a:gd name="T53" fmla="*/ 1 h 242"/>
                  <a:gd name="T54" fmla="*/ 1 w 375"/>
                  <a:gd name="T55" fmla="*/ 1 h 242"/>
                  <a:gd name="T56" fmla="*/ 1 w 375"/>
                  <a:gd name="T57" fmla="*/ 1 h 242"/>
                  <a:gd name="T58" fmla="*/ 1 w 375"/>
                  <a:gd name="T59" fmla="*/ 1 h 242"/>
                  <a:gd name="T60" fmla="*/ 1 w 375"/>
                  <a:gd name="T61" fmla="*/ 1 h 242"/>
                  <a:gd name="T62" fmla="*/ 1 w 375"/>
                  <a:gd name="T63" fmla="*/ 1 h 242"/>
                  <a:gd name="T64" fmla="*/ 1 w 375"/>
                  <a:gd name="T65" fmla="*/ 1 h 242"/>
                  <a:gd name="T66" fmla="*/ 1 w 375"/>
                  <a:gd name="T67" fmla="*/ 1 h 242"/>
                  <a:gd name="T68" fmla="*/ 1 w 375"/>
                  <a:gd name="T69" fmla="*/ 1 h 242"/>
                  <a:gd name="T70" fmla="*/ 1 w 375"/>
                  <a:gd name="T71" fmla="*/ 1 h 242"/>
                  <a:gd name="T72" fmla="*/ 1 w 375"/>
                  <a:gd name="T73" fmla="*/ 1 h 242"/>
                  <a:gd name="T74" fmla="*/ 0 w 375"/>
                  <a:gd name="T75" fmla="*/ 1 h 24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75"/>
                  <a:gd name="T115" fmla="*/ 0 h 242"/>
                  <a:gd name="T116" fmla="*/ 375 w 375"/>
                  <a:gd name="T117" fmla="*/ 242 h 24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75" h="242">
                    <a:moveTo>
                      <a:pt x="0" y="75"/>
                    </a:moveTo>
                    <a:lnTo>
                      <a:pt x="90" y="61"/>
                    </a:lnTo>
                    <a:lnTo>
                      <a:pt x="42" y="28"/>
                    </a:lnTo>
                    <a:lnTo>
                      <a:pt x="122" y="13"/>
                    </a:lnTo>
                    <a:lnTo>
                      <a:pt x="59" y="0"/>
                    </a:lnTo>
                    <a:lnTo>
                      <a:pt x="159" y="17"/>
                    </a:lnTo>
                    <a:lnTo>
                      <a:pt x="188" y="63"/>
                    </a:lnTo>
                    <a:lnTo>
                      <a:pt x="240" y="64"/>
                    </a:lnTo>
                    <a:lnTo>
                      <a:pt x="260" y="96"/>
                    </a:lnTo>
                    <a:lnTo>
                      <a:pt x="264" y="74"/>
                    </a:lnTo>
                    <a:lnTo>
                      <a:pt x="290" y="75"/>
                    </a:lnTo>
                    <a:lnTo>
                      <a:pt x="279" y="96"/>
                    </a:lnTo>
                    <a:lnTo>
                      <a:pt x="308" y="111"/>
                    </a:lnTo>
                    <a:lnTo>
                      <a:pt x="290" y="133"/>
                    </a:lnTo>
                    <a:lnTo>
                      <a:pt x="349" y="130"/>
                    </a:lnTo>
                    <a:lnTo>
                      <a:pt x="375" y="162"/>
                    </a:lnTo>
                    <a:lnTo>
                      <a:pt x="304" y="173"/>
                    </a:lnTo>
                    <a:lnTo>
                      <a:pt x="284" y="202"/>
                    </a:lnTo>
                    <a:lnTo>
                      <a:pt x="271" y="171"/>
                    </a:lnTo>
                    <a:lnTo>
                      <a:pt x="251" y="240"/>
                    </a:lnTo>
                    <a:lnTo>
                      <a:pt x="206" y="205"/>
                    </a:lnTo>
                    <a:lnTo>
                      <a:pt x="229" y="242"/>
                    </a:lnTo>
                    <a:lnTo>
                      <a:pt x="141" y="236"/>
                    </a:lnTo>
                    <a:lnTo>
                      <a:pt x="114" y="217"/>
                    </a:lnTo>
                    <a:lnTo>
                      <a:pt x="155" y="214"/>
                    </a:lnTo>
                    <a:lnTo>
                      <a:pt x="111" y="207"/>
                    </a:lnTo>
                    <a:lnTo>
                      <a:pt x="99" y="196"/>
                    </a:lnTo>
                    <a:lnTo>
                      <a:pt x="122" y="195"/>
                    </a:lnTo>
                    <a:lnTo>
                      <a:pt x="85" y="180"/>
                    </a:lnTo>
                    <a:lnTo>
                      <a:pt x="203" y="158"/>
                    </a:lnTo>
                    <a:lnTo>
                      <a:pt x="59" y="162"/>
                    </a:lnTo>
                    <a:lnTo>
                      <a:pt x="33" y="138"/>
                    </a:lnTo>
                    <a:lnTo>
                      <a:pt x="85" y="127"/>
                    </a:lnTo>
                    <a:lnTo>
                      <a:pt x="5" y="111"/>
                    </a:lnTo>
                    <a:lnTo>
                      <a:pt x="23" y="110"/>
                    </a:lnTo>
                    <a:lnTo>
                      <a:pt x="1" y="93"/>
                    </a:lnTo>
                    <a:lnTo>
                      <a:pt x="90" y="93"/>
                    </a:lnTo>
                    <a:lnTo>
                      <a:pt x="0" y="7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7" name="16248249.7533433.8755">
                <a:extLst>
                  <a:ext uri="{FF2B5EF4-FFF2-40B4-BE49-F238E27FC236}">
                    <a16:creationId xmlns:a16="http://schemas.microsoft.com/office/drawing/2014/main" id="{00DF6243-E288-FFCF-2BE4-8687C8FE56CE}"/>
                  </a:ext>
                </a:extLst>
              </p:cNvPr>
              <p:cNvSpPr>
                <a:spLocks/>
              </p:cNvSpPr>
              <p:nvPr/>
            </p:nvSpPr>
            <p:spPr bwMode="auto">
              <a:xfrm>
                <a:off x="3926176" y="1853565"/>
                <a:ext cx="61913" cy="47523"/>
              </a:xfrm>
              <a:custGeom>
                <a:avLst/>
                <a:gdLst>
                  <a:gd name="T0" fmla="*/ 0 w 90"/>
                  <a:gd name="T1" fmla="*/ 1 h 62"/>
                  <a:gd name="T2" fmla="*/ 1 w 90"/>
                  <a:gd name="T3" fmla="*/ 0 h 62"/>
                  <a:gd name="T4" fmla="*/ 1 w 90"/>
                  <a:gd name="T5" fmla="*/ 1 h 62"/>
                  <a:gd name="T6" fmla="*/ 1 w 90"/>
                  <a:gd name="T7" fmla="*/ 1 h 62"/>
                  <a:gd name="T8" fmla="*/ 0 w 90"/>
                  <a:gd name="T9" fmla="*/ 1 h 62"/>
                  <a:gd name="T10" fmla="*/ 0 60000 65536"/>
                  <a:gd name="T11" fmla="*/ 0 60000 65536"/>
                  <a:gd name="T12" fmla="*/ 0 60000 65536"/>
                  <a:gd name="T13" fmla="*/ 0 60000 65536"/>
                  <a:gd name="T14" fmla="*/ 0 60000 65536"/>
                  <a:gd name="T15" fmla="*/ 0 w 90"/>
                  <a:gd name="T16" fmla="*/ 0 h 62"/>
                  <a:gd name="T17" fmla="*/ 90 w 90"/>
                  <a:gd name="T18" fmla="*/ 62 h 62"/>
                </a:gdLst>
                <a:ahLst/>
                <a:cxnLst>
                  <a:cxn ang="T10">
                    <a:pos x="T0" y="T1"/>
                  </a:cxn>
                  <a:cxn ang="T11">
                    <a:pos x="T2" y="T3"/>
                  </a:cxn>
                  <a:cxn ang="T12">
                    <a:pos x="T4" y="T5"/>
                  </a:cxn>
                  <a:cxn ang="T13">
                    <a:pos x="T6" y="T7"/>
                  </a:cxn>
                  <a:cxn ang="T14">
                    <a:pos x="T8" y="T9"/>
                  </a:cxn>
                </a:cxnLst>
                <a:rect l="T15" t="T16" r="T17" b="T18"/>
                <a:pathLst>
                  <a:path w="90" h="62">
                    <a:moveTo>
                      <a:pt x="0" y="43"/>
                    </a:moveTo>
                    <a:lnTo>
                      <a:pt x="15" y="0"/>
                    </a:lnTo>
                    <a:lnTo>
                      <a:pt x="74" y="13"/>
                    </a:lnTo>
                    <a:lnTo>
                      <a:pt x="90" y="62"/>
                    </a:lnTo>
                    <a:lnTo>
                      <a:pt x="0" y="4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8" name="16249242.5334.12514.255">
                <a:extLst>
                  <a:ext uri="{FF2B5EF4-FFF2-40B4-BE49-F238E27FC236}">
                    <a16:creationId xmlns:a16="http://schemas.microsoft.com/office/drawing/2014/main" id="{EC82D906-5D5A-4D71-F4BF-F9FE7CC7DA83}"/>
                  </a:ext>
                </a:extLst>
              </p:cNvPr>
              <p:cNvSpPr>
                <a:spLocks/>
              </p:cNvSpPr>
              <p:nvPr/>
            </p:nvSpPr>
            <p:spPr bwMode="auto">
              <a:xfrm>
                <a:off x="3927522" y="1738589"/>
                <a:ext cx="68643" cy="16863"/>
              </a:xfrm>
              <a:custGeom>
                <a:avLst/>
                <a:gdLst>
                  <a:gd name="T0" fmla="*/ 0 w 102"/>
                  <a:gd name="T1" fmla="*/ 1 h 22"/>
                  <a:gd name="T2" fmla="*/ 1 w 102"/>
                  <a:gd name="T3" fmla="*/ 1 h 22"/>
                  <a:gd name="T4" fmla="*/ 1 w 102"/>
                  <a:gd name="T5" fmla="*/ 1 h 22"/>
                  <a:gd name="T6" fmla="*/ 1 w 102"/>
                  <a:gd name="T7" fmla="*/ 0 h 22"/>
                  <a:gd name="T8" fmla="*/ 0 w 102"/>
                  <a:gd name="T9" fmla="*/ 1 h 22"/>
                  <a:gd name="T10" fmla="*/ 0 60000 65536"/>
                  <a:gd name="T11" fmla="*/ 0 60000 65536"/>
                  <a:gd name="T12" fmla="*/ 0 60000 65536"/>
                  <a:gd name="T13" fmla="*/ 0 60000 65536"/>
                  <a:gd name="T14" fmla="*/ 0 60000 65536"/>
                  <a:gd name="T15" fmla="*/ 0 w 102"/>
                  <a:gd name="T16" fmla="*/ 0 h 22"/>
                  <a:gd name="T17" fmla="*/ 102 w 102"/>
                  <a:gd name="T18" fmla="*/ 22 h 22"/>
                </a:gdLst>
                <a:ahLst/>
                <a:cxnLst>
                  <a:cxn ang="T10">
                    <a:pos x="T0" y="T1"/>
                  </a:cxn>
                  <a:cxn ang="T11">
                    <a:pos x="T2" y="T3"/>
                  </a:cxn>
                  <a:cxn ang="T12">
                    <a:pos x="T4" y="T5"/>
                  </a:cxn>
                  <a:cxn ang="T13">
                    <a:pos x="T6" y="T7"/>
                  </a:cxn>
                  <a:cxn ang="T14">
                    <a:pos x="T8" y="T9"/>
                  </a:cxn>
                </a:cxnLst>
                <a:rect l="T15" t="T16" r="T17" b="T18"/>
                <a:pathLst>
                  <a:path w="102" h="22">
                    <a:moveTo>
                      <a:pt x="0" y="9"/>
                    </a:moveTo>
                    <a:lnTo>
                      <a:pt x="24" y="22"/>
                    </a:lnTo>
                    <a:lnTo>
                      <a:pt x="102" y="9"/>
                    </a:lnTo>
                    <a:lnTo>
                      <a:pt x="28" y="0"/>
                    </a:lnTo>
                    <a:lnTo>
                      <a:pt x="0" y="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29" name="16250254.75334.8756.257.3755">
                <a:extLst>
                  <a:ext uri="{FF2B5EF4-FFF2-40B4-BE49-F238E27FC236}">
                    <a16:creationId xmlns:a16="http://schemas.microsoft.com/office/drawing/2014/main" id="{5DB2394B-3E90-F97A-643B-DE8BA88C839D}"/>
                  </a:ext>
                </a:extLst>
              </p:cNvPr>
              <p:cNvSpPr>
                <a:spLocks/>
              </p:cNvSpPr>
              <p:nvPr/>
            </p:nvSpPr>
            <p:spPr bwMode="auto">
              <a:xfrm>
                <a:off x="3939636" y="1933280"/>
                <a:ext cx="119790" cy="98112"/>
              </a:xfrm>
              <a:custGeom>
                <a:avLst/>
                <a:gdLst>
                  <a:gd name="T0" fmla="*/ 0 w 179"/>
                  <a:gd name="T1" fmla="*/ 1 h 128"/>
                  <a:gd name="T2" fmla="*/ 0 w 179"/>
                  <a:gd name="T3" fmla="*/ 1 h 128"/>
                  <a:gd name="T4" fmla="*/ 0 w 179"/>
                  <a:gd name="T5" fmla="*/ 1 h 128"/>
                  <a:gd name="T6" fmla="*/ 0 w 179"/>
                  <a:gd name="T7" fmla="*/ 1 h 128"/>
                  <a:gd name="T8" fmla="*/ 0 w 179"/>
                  <a:gd name="T9" fmla="*/ 1 h 128"/>
                  <a:gd name="T10" fmla="*/ 0 w 179"/>
                  <a:gd name="T11" fmla="*/ 1 h 128"/>
                  <a:gd name="T12" fmla="*/ 0 w 179"/>
                  <a:gd name="T13" fmla="*/ 1 h 128"/>
                  <a:gd name="T14" fmla="*/ 0 w 179"/>
                  <a:gd name="T15" fmla="*/ 1 h 128"/>
                  <a:gd name="T16" fmla="*/ 0 w 179"/>
                  <a:gd name="T17" fmla="*/ 1 h 128"/>
                  <a:gd name="T18" fmla="*/ 0 w 179"/>
                  <a:gd name="T19" fmla="*/ 0 h 128"/>
                  <a:gd name="T20" fmla="*/ 0 w 179"/>
                  <a:gd name="T21" fmla="*/ 1 h 128"/>
                  <a:gd name="T22" fmla="*/ 0 w 179"/>
                  <a:gd name="T23" fmla="*/ 1 h 1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9"/>
                  <a:gd name="T37" fmla="*/ 0 h 128"/>
                  <a:gd name="T38" fmla="*/ 179 w 179"/>
                  <a:gd name="T39" fmla="*/ 128 h 1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9" h="128">
                    <a:moveTo>
                      <a:pt x="0" y="21"/>
                    </a:moveTo>
                    <a:lnTo>
                      <a:pt x="4" y="81"/>
                    </a:lnTo>
                    <a:lnTo>
                      <a:pt x="23" y="92"/>
                    </a:lnTo>
                    <a:lnTo>
                      <a:pt x="17" y="126"/>
                    </a:lnTo>
                    <a:lnTo>
                      <a:pt x="44" y="128"/>
                    </a:lnTo>
                    <a:lnTo>
                      <a:pt x="73" y="100"/>
                    </a:lnTo>
                    <a:lnTo>
                      <a:pt x="44" y="81"/>
                    </a:lnTo>
                    <a:lnTo>
                      <a:pt x="117" y="81"/>
                    </a:lnTo>
                    <a:lnTo>
                      <a:pt x="179" y="8"/>
                    </a:lnTo>
                    <a:lnTo>
                      <a:pt x="14" y="0"/>
                    </a:lnTo>
                    <a:lnTo>
                      <a:pt x="36" y="23"/>
                    </a:lnTo>
                    <a:lnTo>
                      <a:pt x="0" y="2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0" name="16251222.5339.87525.37542.6255">
                <a:extLst>
                  <a:ext uri="{FF2B5EF4-FFF2-40B4-BE49-F238E27FC236}">
                    <a16:creationId xmlns:a16="http://schemas.microsoft.com/office/drawing/2014/main" id="{A5BB741A-95FE-6A9D-D1B3-FFD344265F91}"/>
                  </a:ext>
                </a:extLst>
              </p:cNvPr>
              <p:cNvSpPr>
                <a:spLocks/>
              </p:cNvSpPr>
              <p:nvPr/>
            </p:nvSpPr>
            <p:spPr bwMode="auto">
              <a:xfrm>
                <a:off x="4021739" y="1424324"/>
                <a:ext cx="690478" cy="400114"/>
              </a:xfrm>
              <a:custGeom>
                <a:avLst/>
                <a:gdLst>
                  <a:gd name="T0" fmla="*/ 1 w 1026"/>
                  <a:gd name="T1" fmla="*/ 1 h 522"/>
                  <a:gd name="T2" fmla="*/ 1 w 1026"/>
                  <a:gd name="T3" fmla="*/ 1 h 522"/>
                  <a:gd name="T4" fmla="*/ 1 w 1026"/>
                  <a:gd name="T5" fmla="*/ 1 h 522"/>
                  <a:gd name="T6" fmla="*/ 1 w 1026"/>
                  <a:gd name="T7" fmla="*/ 1 h 522"/>
                  <a:gd name="T8" fmla="*/ 1 w 1026"/>
                  <a:gd name="T9" fmla="*/ 1 h 522"/>
                  <a:gd name="T10" fmla="*/ 1 w 1026"/>
                  <a:gd name="T11" fmla="*/ 1 h 522"/>
                  <a:gd name="T12" fmla="*/ 1 w 1026"/>
                  <a:gd name="T13" fmla="*/ 1 h 522"/>
                  <a:gd name="T14" fmla="*/ 1 w 1026"/>
                  <a:gd name="T15" fmla="*/ 1 h 522"/>
                  <a:gd name="T16" fmla="*/ 1 w 1026"/>
                  <a:gd name="T17" fmla="*/ 1 h 522"/>
                  <a:gd name="T18" fmla="*/ 1 w 1026"/>
                  <a:gd name="T19" fmla="*/ 1 h 522"/>
                  <a:gd name="T20" fmla="*/ 1 w 1026"/>
                  <a:gd name="T21" fmla="*/ 1 h 522"/>
                  <a:gd name="T22" fmla="*/ 1 w 1026"/>
                  <a:gd name="T23" fmla="*/ 1 h 522"/>
                  <a:gd name="T24" fmla="*/ 1 w 1026"/>
                  <a:gd name="T25" fmla="*/ 1 h 522"/>
                  <a:gd name="T26" fmla="*/ 1 w 1026"/>
                  <a:gd name="T27" fmla="*/ 1 h 522"/>
                  <a:gd name="T28" fmla="*/ 1 w 1026"/>
                  <a:gd name="T29" fmla="*/ 1 h 522"/>
                  <a:gd name="T30" fmla="*/ 1 w 1026"/>
                  <a:gd name="T31" fmla="*/ 1 h 522"/>
                  <a:gd name="T32" fmla="*/ 1 w 1026"/>
                  <a:gd name="T33" fmla="*/ 1 h 522"/>
                  <a:gd name="T34" fmla="*/ 1 w 1026"/>
                  <a:gd name="T35" fmla="*/ 1 h 522"/>
                  <a:gd name="T36" fmla="*/ 1 w 1026"/>
                  <a:gd name="T37" fmla="*/ 1 h 522"/>
                  <a:gd name="T38" fmla="*/ 1 w 1026"/>
                  <a:gd name="T39" fmla="*/ 1 h 522"/>
                  <a:gd name="T40" fmla="*/ 1 w 1026"/>
                  <a:gd name="T41" fmla="*/ 1 h 522"/>
                  <a:gd name="T42" fmla="*/ 1 w 1026"/>
                  <a:gd name="T43" fmla="*/ 1 h 522"/>
                  <a:gd name="T44" fmla="*/ 1 w 1026"/>
                  <a:gd name="T45" fmla="*/ 1 h 522"/>
                  <a:gd name="T46" fmla="*/ 1 w 1026"/>
                  <a:gd name="T47" fmla="*/ 1 h 522"/>
                  <a:gd name="T48" fmla="*/ 1 w 1026"/>
                  <a:gd name="T49" fmla="*/ 1 h 522"/>
                  <a:gd name="T50" fmla="*/ 1 w 1026"/>
                  <a:gd name="T51" fmla="*/ 1 h 522"/>
                  <a:gd name="T52" fmla="*/ 1 w 1026"/>
                  <a:gd name="T53" fmla="*/ 1 h 522"/>
                  <a:gd name="T54" fmla="*/ 1 w 1026"/>
                  <a:gd name="T55" fmla="*/ 1 h 522"/>
                  <a:gd name="T56" fmla="*/ 1 w 1026"/>
                  <a:gd name="T57" fmla="*/ 1 h 522"/>
                  <a:gd name="T58" fmla="*/ 1 w 1026"/>
                  <a:gd name="T59" fmla="*/ 1 h 522"/>
                  <a:gd name="T60" fmla="*/ 1 w 1026"/>
                  <a:gd name="T61" fmla="*/ 1 h 522"/>
                  <a:gd name="T62" fmla="*/ 1 w 1026"/>
                  <a:gd name="T63" fmla="*/ 1 h 522"/>
                  <a:gd name="T64" fmla="*/ 1 w 1026"/>
                  <a:gd name="T65" fmla="*/ 1 h 522"/>
                  <a:gd name="T66" fmla="*/ 1 w 1026"/>
                  <a:gd name="T67" fmla="*/ 1 h 522"/>
                  <a:gd name="T68" fmla="*/ 1 w 1026"/>
                  <a:gd name="T69" fmla="*/ 1 h 522"/>
                  <a:gd name="T70" fmla="*/ 1 w 1026"/>
                  <a:gd name="T71" fmla="*/ 1 h 522"/>
                  <a:gd name="T72" fmla="*/ 1 w 1026"/>
                  <a:gd name="T73" fmla="*/ 1 h 522"/>
                  <a:gd name="T74" fmla="*/ 1 w 1026"/>
                  <a:gd name="T75" fmla="*/ 0 h 522"/>
                  <a:gd name="T76" fmla="*/ 1 w 1026"/>
                  <a:gd name="T77" fmla="*/ 1 h 522"/>
                  <a:gd name="T78" fmla="*/ 1 w 1026"/>
                  <a:gd name="T79" fmla="*/ 1 h 522"/>
                  <a:gd name="T80" fmla="*/ 1 w 1026"/>
                  <a:gd name="T81" fmla="*/ 1 h 522"/>
                  <a:gd name="T82" fmla="*/ 1 w 1026"/>
                  <a:gd name="T83" fmla="*/ 1 h 522"/>
                  <a:gd name="T84" fmla="*/ 1 w 1026"/>
                  <a:gd name="T85" fmla="*/ 1 h 522"/>
                  <a:gd name="T86" fmla="*/ 1 w 1026"/>
                  <a:gd name="T87" fmla="*/ 1 h 52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026"/>
                  <a:gd name="T133" fmla="*/ 0 h 522"/>
                  <a:gd name="T134" fmla="*/ 1026 w 1026"/>
                  <a:gd name="T135" fmla="*/ 522 h 52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026" h="522">
                    <a:moveTo>
                      <a:pt x="0" y="123"/>
                    </a:moveTo>
                    <a:lnTo>
                      <a:pt x="90" y="123"/>
                    </a:lnTo>
                    <a:lnTo>
                      <a:pt x="58" y="143"/>
                    </a:lnTo>
                    <a:lnTo>
                      <a:pt x="184" y="129"/>
                    </a:lnTo>
                    <a:lnTo>
                      <a:pt x="75" y="143"/>
                    </a:lnTo>
                    <a:lnTo>
                      <a:pt x="109" y="151"/>
                    </a:lnTo>
                    <a:lnTo>
                      <a:pt x="72" y="154"/>
                    </a:lnTo>
                    <a:lnTo>
                      <a:pt x="87" y="167"/>
                    </a:lnTo>
                    <a:lnTo>
                      <a:pt x="250" y="147"/>
                    </a:lnTo>
                    <a:lnTo>
                      <a:pt x="90" y="178"/>
                    </a:lnTo>
                    <a:lnTo>
                      <a:pt x="160" y="203"/>
                    </a:lnTo>
                    <a:lnTo>
                      <a:pt x="223" y="166"/>
                    </a:lnTo>
                    <a:lnTo>
                      <a:pt x="330" y="160"/>
                    </a:lnTo>
                    <a:lnTo>
                      <a:pt x="217" y="174"/>
                    </a:lnTo>
                    <a:lnTo>
                      <a:pt x="190" y="203"/>
                    </a:lnTo>
                    <a:lnTo>
                      <a:pt x="257" y="207"/>
                    </a:lnTo>
                    <a:lnTo>
                      <a:pt x="330" y="177"/>
                    </a:lnTo>
                    <a:lnTo>
                      <a:pt x="281" y="204"/>
                    </a:lnTo>
                    <a:lnTo>
                      <a:pt x="330" y="204"/>
                    </a:lnTo>
                    <a:lnTo>
                      <a:pt x="406" y="184"/>
                    </a:lnTo>
                    <a:lnTo>
                      <a:pt x="396" y="155"/>
                    </a:lnTo>
                    <a:lnTo>
                      <a:pt x="480" y="132"/>
                    </a:lnTo>
                    <a:lnTo>
                      <a:pt x="419" y="181"/>
                    </a:lnTo>
                    <a:lnTo>
                      <a:pt x="550" y="171"/>
                    </a:lnTo>
                    <a:lnTo>
                      <a:pt x="286" y="220"/>
                    </a:lnTo>
                    <a:lnTo>
                      <a:pt x="347" y="270"/>
                    </a:lnTo>
                    <a:lnTo>
                      <a:pt x="399" y="270"/>
                    </a:lnTo>
                    <a:lnTo>
                      <a:pt x="371" y="281"/>
                    </a:lnTo>
                    <a:lnTo>
                      <a:pt x="270" y="228"/>
                    </a:lnTo>
                    <a:lnTo>
                      <a:pt x="183" y="220"/>
                    </a:lnTo>
                    <a:lnTo>
                      <a:pt x="180" y="242"/>
                    </a:lnTo>
                    <a:lnTo>
                      <a:pt x="220" y="253"/>
                    </a:lnTo>
                    <a:lnTo>
                      <a:pt x="182" y="261"/>
                    </a:lnTo>
                    <a:lnTo>
                      <a:pt x="286" y="317"/>
                    </a:lnTo>
                    <a:lnTo>
                      <a:pt x="244" y="320"/>
                    </a:lnTo>
                    <a:lnTo>
                      <a:pt x="348" y="324"/>
                    </a:lnTo>
                    <a:lnTo>
                      <a:pt x="289" y="337"/>
                    </a:lnTo>
                    <a:lnTo>
                      <a:pt x="321" y="356"/>
                    </a:lnTo>
                    <a:lnTo>
                      <a:pt x="227" y="326"/>
                    </a:lnTo>
                    <a:lnTo>
                      <a:pt x="172" y="338"/>
                    </a:lnTo>
                    <a:lnTo>
                      <a:pt x="150" y="385"/>
                    </a:lnTo>
                    <a:lnTo>
                      <a:pt x="204" y="370"/>
                    </a:lnTo>
                    <a:lnTo>
                      <a:pt x="195" y="386"/>
                    </a:lnTo>
                    <a:lnTo>
                      <a:pt x="215" y="386"/>
                    </a:lnTo>
                    <a:lnTo>
                      <a:pt x="246" y="350"/>
                    </a:lnTo>
                    <a:lnTo>
                      <a:pt x="235" y="379"/>
                    </a:lnTo>
                    <a:lnTo>
                      <a:pt x="266" y="383"/>
                    </a:lnTo>
                    <a:lnTo>
                      <a:pt x="208" y="397"/>
                    </a:lnTo>
                    <a:lnTo>
                      <a:pt x="244" y="398"/>
                    </a:lnTo>
                    <a:lnTo>
                      <a:pt x="215" y="408"/>
                    </a:lnTo>
                    <a:lnTo>
                      <a:pt x="239" y="427"/>
                    </a:lnTo>
                    <a:lnTo>
                      <a:pt x="281" y="427"/>
                    </a:lnTo>
                    <a:lnTo>
                      <a:pt x="321" y="390"/>
                    </a:lnTo>
                    <a:lnTo>
                      <a:pt x="250" y="444"/>
                    </a:lnTo>
                    <a:lnTo>
                      <a:pt x="182" y="404"/>
                    </a:lnTo>
                    <a:lnTo>
                      <a:pt x="123" y="411"/>
                    </a:lnTo>
                    <a:lnTo>
                      <a:pt x="173" y="452"/>
                    </a:lnTo>
                    <a:lnTo>
                      <a:pt x="87" y="475"/>
                    </a:lnTo>
                    <a:lnTo>
                      <a:pt x="95" y="506"/>
                    </a:lnTo>
                    <a:lnTo>
                      <a:pt x="112" y="478"/>
                    </a:lnTo>
                    <a:lnTo>
                      <a:pt x="114" y="506"/>
                    </a:lnTo>
                    <a:lnTo>
                      <a:pt x="175" y="493"/>
                    </a:lnTo>
                    <a:lnTo>
                      <a:pt x="217" y="518"/>
                    </a:lnTo>
                    <a:lnTo>
                      <a:pt x="248" y="517"/>
                    </a:lnTo>
                    <a:lnTo>
                      <a:pt x="226" y="496"/>
                    </a:lnTo>
                    <a:lnTo>
                      <a:pt x="286" y="503"/>
                    </a:lnTo>
                    <a:lnTo>
                      <a:pt x="281" y="484"/>
                    </a:lnTo>
                    <a:lnTo>
                      <a:pt x="308" y="506"/>
                    </a:lnTo>
                    <a:lnTo>
                      <a:pt x="323" y="502"/>
                    </a:lnTo>
                    <a:lnTo>
                      <a:pt x="315" y="486"/>
                    </a:lnTo>
                    <a:lnTo>
                      <a:pt x="363" y="502"/>
                    </a:lnTo>
                    <a:lnTo>
                      <a:pt x="365" y="522"/>
                    </a:lnTo>
                    <a:lnTo>
                      <a:pt x="451" y="502"/>
                    </a:lnTo>
                    <a:lnTo>
                      <a:pt x="468" y="471"/>
                    </a:lnTo>
                    <a:lnTo>
                      <a:pt x="428" y="478"/>
                    </a:lnTo>
                    <a:lnTo>
                      <a:pt x="428" y="451"/>
                    </a:lnTo>
                    <a:lnTo>
                      <a:pt x="330" y="449"/>
                    </a:lnTo>
                    <a:lnTo>
                      <a:pt x="459" y="442"/>
                    </a:lnTo>
                    <a:lnTo>
                      <a:pt x="479" y="422"/>
                    </a:lnTo>
                    <a:lnTo>
                      <a:pt x="459" y="396"/>
                    </a:lnTo>
                    <a:lnTo>
                      <a:pt x="534" y="397"/>
                    </a:lnTo>
                    <a:lnTo>
                      <a:pt x="549" y="386"/>
                    </a:lnTo>
                    <a:lnTo>
                      <a:pt x="499" y="379"/>
                    </a:lnTo>
                    <a:lnTo>
                      <a:pt x="565" y="376"/>
                    </a:lnTo>
                    <a:lnTo>
                      <a:pt x="521" y="359"/>
                    </a:lnTo>
                    <a:lnTo>
                      <a:pt x="575" y="348"/>
                    </a:lnTo>
                    <a:lnTo>
                      <a:pt x="572" y="334"/>
                    </a:lnTo>
                    <a:lnTo>
                      <a:pt x="473" y="326"/>
                    </a:lnTo>
                    <a:lnTo>
                      <a:pt x="529" y="314"/>
                    </a:lnTo>
                    <a:lnTo>
                      <a:pt x="472" y="310"/>
                    </a:lnTo>
                    <a:lnTo>
                      <a:pt x="575" y="320"/>
                    </a:lnTo>
                    <a:lnTo>
                      <a:pt x="579" y="306"/>
                    </a:lnTo>
                    <a:lnTo>
                      <a:pt x="470" y="301"/>
                    </a:lnTo>
                    <a:lnTo>
                      <a:pt x="612" y="281"/>
                    </a:lnTo>
                    <a:lnTo>
                      <a:pt x="573" y="264"/>
                    </a:lnTo>
                    <a:lnTo>
                      <a:pt x="675" y="270"/>
                    </a:lnTo>
                    <a:lnTo>
                      <a:pt x="707" y="242"/>
                    </a:lnTo>
                    <a:lnTo>
                      <a:pt x="656" y="239"/>
                    </a:lnTo>
                    <a:lnTo>
                      <a:pt x="722" y="236"/>
                    </a:lnTo>
                    <a:lnTo>
                      <a:pt x="714" y="215"/>
                    </a:lnTo>
                    <a:lnTo>
                      <a:pt x="745" y="220"/>
                    </a:lnTo>
                    <a:lnTo>
                      <a:pt x="917" y="134"/>
                    </a:lnTo>
                    <a:lnTo>
                      <a:pt x="727" y="165"/>
                    </a:lnTo>
                    <a:lnTo>
                      <a:pt x="833" y="129"/>
                    </a:lnTo>
                    <a:lnTo>
                      <a:pt x="769" y="132"/>
                    </a:lnTo>
                    <a:lnTo>
                      <a:pt x="753" y="115"/>
                    </a:lnTo>
                    <a:lnTo>
                      <a:pt x="873" y="123"/>
                    </a:lnTo>
                    <a:lnTo>
                      <a:pt x="1026" y="79"/>
                    </a:lnTo>
                    <a:lnTo>
                      <a:pt x="1024" y="57"/>
                    </a:lnTo>
                    <a:lnTo>
                      <a:pt x="960" y="57"/>
                    </a:lnTo>
                    <a:lnTo>
                      <a:pt x="944" y="22"/>
                    </a:lnTo>
                    <a:lnTo>
                      <a:pt x="769" y="38"/>
                    </a:lnTo>
                    <a:lnTo>
                      <a:pt x="844" y="13"/>
                    </a:lnTo>
                    <a:lnTo>
                      <a:pt x="611" y="0"/>
                    </a:lnTo>
                    <a:lnTo>
                      <a:pt x="591" y="17"/>
                    </a:lnTo>
                    <a:lnTo>
                      <a:pt x="608" y="27"/>
                    </a:lnTo>
                    <a:lnTo>
                      <a:pt x="565" y="9"/>
                    </a:lnTo>
                    <a:lnTo>
                      <a:pt x="461" y="11"/>
                    </a:lnTo>
                    <a:lnTo>
                      <a:pt x="535" y="46"/>
                    </a:lnTo>
                    <a:lnTo>
                      <a:pt x="509" y="57"/>
                    </a:lnTo>
                    <a:lnTo>
                      <a:pt x="472" y="20"/>
                    </a:lnTo>
                    <a:lnTo>
                      <a:pt x="376" y="16"/>
                    </a:lnTo>
                    <a:lnTo>
                      <a:pt x="395" y="33"/>
                    </a:lnTo>
                    <a:lnTo>
                      <a:pt x="322" y="27"/>
                    </a:lnTo>
                    <a:lnTo>
                      <a:pt x="358" y="52"/>
                    </a:lnTo>
                    <a:lnTo>
                      <a:pt x="301" y="37"/>
                    </a:lnTo>
                    <a:lnTo>
                      <a:pt x="319" y="52"/>
                    </a:lnTo>
                    <a:lnTo>
                      <a:pt x="285" y="57"/>
                    </a:lnTo>
                    <a:lnTo>
                      <a:pt x="359" y="92"/>
                    </a:lnTo>
                    <a:lnTo>
                      <a:pt x="198" y="53"/>
                    </a:lnTo>
                    <a:lnTo>
                      <a:pt x="158" y="81"/>
                    </a:lnTo>
                    <a:lnTo>
                      <a:pt x="222" y="93"/>
                    </a:lnTo>
                    <a:lnTo>
                      <a:pt x="114" y="83"/>
                    </a:lnTo>
                    <a:lnTo>
                      <a:pt x="0" y="12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1" name="16252255.25342.533.12539.8755">
                <a:extLst>
                  <a:ext uri="{FF2B5EF4-FFF2-40B4-BE49-F238E27FC236}">
                    <a16:creationId xmlns:a16="http://schemas.microsoft.com/office/drawing/2014/main" id="{2A81A68D-82F2-4972-9F01-EAFAA86C57B3}"/>
                  </a:ext>
                </a:extLst>
              </p:cNvPr>
              <p:cNvSpPr>
                <a:spLocks/>
              </p:cNvSpPr>
              <p:nvPr/>
            </p:nvSpPr>
            <p:spPr bwMode="auto">
              <a:xfrm>
                <a:off x="4064810" y="1940945"/>
                <a:ext cx="644715" cy="521219"/>
              </a:xfrm>
              <a:custGeom>
                <a:avLst/>
                <a:gdLst>
                  <a:gd name="T0" fmla="*/ 1 w 958"/>
                  <a:gd name="T1" fmla="*/ 1 h 679"/>
                  <a:gd name="T2" fmla="*/ 1 w 958"/>
                  <a:gd name="T3" fmla="*/ 0 h 679"/>
                  <a:gd name="T4" fmla="*/ 1 w 958"/>
                  <a:gd name="T5" fmla="*/ 1 h 679"/>
                  <a:gd name="T6" fmla="*/ 1 w 958"/>
                  <a:gd name="T7" fmla="*/ 1 h 679"/>
                  <a:gd name="T8" fmla="*/ 1 w 958"/>
                  <a:gd name="T9" fmla="*/ 1 h 679"/>
                  <a:gd name="T10" fmla="*/ 1 w 958"/>
                  <a:gd name="T11" fmla="*/ 1 h 679"/>
                  <a:gd name="T12" fmla="*/ 1 w 958"/>
                  <a:gd name="T13" fmla="*/ 1 h 679"/>
                  <a:gd name="T14" fmla="*/ 1 w 958"/>
                  <a:gd name="T15" fmla="*/ 1 h 679"/>
                  <a:gd name="T16" fmla="*/ 1 w 958"/>
                  <a:gd name="T17" fmla="*/ 1 h 679"/>
                  <a:gd name="T18" fmla="*/ 1 w 958"/>
                  <a:gd name="T19" fmla="*/ 1 h 679"/>
                  <a:gd name="T20" fmla="*/ 1 w 958"/>
                  <a:gd name="T21" fmla="*/ 1 h 679"/>
                  <a:gd name="T22" fmla="*/ 1 w 958"/>
                  <a:gd name="T23" fmla="*/ 1 h 679"/>
                  <a:gd name="T24" fmla="*/ 1 w 958"/>
                  <a:gd name="T25" fmla="*/ 1 h 679"/>
                  <a:gd name="T26" fmla="*/ 1 w 958"/>
                  <a:gd name="T27" fmla="*/ 1 h 679"/>
                  <a:gd name="T28" fmla="*/ 1 w 958"/>
                  <a:gd name="T29" fmla="*/ 1 h 679"/>
                  <a:gd name="T30" fmla="*/ 1 w 958"/>
                  <a:gd name="T31" fmla="*/ 1 h 679"/>
                  <a:gd name="T32" fmla="*/ 1 w 958"/>
                  <a:gd name="T33" fmla="*/ 1 h 679"/>
                  <a:gd name="T34" fmla="*/ 1 w 958"/>
                  <a:gd name="T35" fmla="*/ 1 h 679"/>
                  <a:gd name="T36" fmla="*/ 1 w 958"/>
                  <a:gd name="T37" fmla="*/ 1 h 679"/>
                  <a:gd name="T38" fmla="*/ 1 w 958"/>
                  <a:gd name="T39" fmla="*/ 1 h 679"/>
                  <a:gd name="T40" fmla="*/ 1 w 958"/>
                  <a:gd name="T41" fmla="*/ 1 h 679"/>
                  <a:gd name="T42" fmla="*/ 1 w 958"/>
                  <a:gd name="T43" fmla="*/ 1 h 679"/>
                  <a:gd name="T44" fmla="*/ 1 w 958"/>
                  <a:gd name="T45" fmla="*/ 1 h 679"/>
                  <a:gd name="T46" fmla="*/ 1 w 958"/>
                  <a:gd name="T47" fmla="*/ 1 h 679"/>
                  <a:gd name="T48" fmla="*/ 1 w 958"/>
                  <a:gd name="T49" fmla="*/ 1 h 679"/>
                  <a:gd name="T50" fmla="*/ 1 w 958"/>
                  <a:gd name="T51" fmla="*/ 1 h 679"/>
                  <a:gd name="T52" fmla="*/ 1 w 958"/>
                  <a:gd name="T53" fmla="*/ 1 h 679"/>
                  <a:gd name="T54" fmla="*/ 1 w 958"/>
                  <a:gd name="T55" fmla="*/ 1 h 679"/>
                  <a:gd name="T56" fmla="*/ 1 w 958"/>
                  <a:gd name="T57" fmla="*/ 1 h 679"/>
                  <a:gd name="T58" fmla="*/ 1 w 958"/>
                  <a:gd name="T59" fmla="*/ 1 h 679"/>
                  <a:gd name="T60" fmla="*/ 1 w 958"/>
                  <a:gd name="T61" fmla="*/ 1 h 679"/>
                  <a:gd name="T62" fmla="*/ 1 w 958"/>
                  <a:gd name="T63" fmla="*/ 1 h 679"/>
                  <a:gd name="T64" fmla="*/ 1 w 958"/>
                  <a:gd name="T65" fmla="*/ 1 h 679"/>
                  <a:gd name="T66" fmla="*/ 1 w 958"/>
                  <a:gd name="T67" fmla="*/ 1 h 679"/>
                  <a:gd name="T68" fmla="*/ 1 w 958"/>
                  <a:gd name="T69" fmla="*/ 1 h 679"/>
                  <a:gd name="T70" fmla="*/ 1 w 958"/>
                  <a:gd name="T71" fmla="*/ 1 h 679"/>
                  <a:gd name="T72" fmla="*/ 1 w 958"/>
                  <a:gd name="T73" fmla="*/ 1 h 679"/>
                  <a:gd name="T74" fmla="*/ 1 w 958"/>
                  <a:gd name="T75" fmla="*/ 1 h 679"/>
                  <a:gd name="T76" fmla="*/ 1 w 958"/>
                  <a:gd name="T77" fmla="*/ 1 h 679"/>
                  <a:gd name="T78" fmla="*/ 1 w 958"/>
                  <a:gd name="T79" fmla="*/ 1 h 679"/>
                  <a:gd name="T80" fmla="*/ 1 w 958"/>
                  <a:gd name="T81" fmla="*/ 1 h 679"/>
                  <a:gd name="T82" fmla="*/ 1 w 958"/>
                  <a:gd name="T83" fmla="*/ 1 h 679"/>
                  <a:gd name="T84" fmla="*/ 1 w 958"/>
                  <a:gd name="T85" fmla="*/ 1 h 679"/>
                  <a:gd name="T86" fmla="*/ 1 w 958"/>
                  <a:gd name="T87" fmla="*/ 1 h 679"/>
                  <a:gd name="T88" fmla="*/ 1 w 958"/>
                  <a:gd name="T89" fmla="*/ 1 h 679"/>
                  <a:gd name="T90" fmla="*/ 1 w 958"/>
                  <a:gd name="T91" fmla="*/ 1 h 679"/>
                  <a:gd name="T92" fmla="*/ 1 w 958"/>
                  <a:gd name="T93" fmla="*/ 1 h 679"/>
                  <a:gd name="T94" fmla="*/ 1 w 958"/>
                  <a:gd name="T95" fmla="*/ 1 h 679"/>
                  <a:gd name="T96" fmla="*/ 1 w 958"/>
                  <a:gd name="T97" fmla="*/ 1 h 679"/>
                  <a:gd name="T98" fmla="*/ 1 w 958"/>
                  <a:gd name="T99" fmla="*/ 1 h 679"/>
                  <a:gd name="T100" fmla="*/ 1 w 958"/>
                  <a:gd name="T101" fmla="*/ 1 h 679"/>
                  <a:gd name="T102" fmla="*/ 1 w 958"/>
                  <a:gd name="T103" fmla="*/ 1 h 679"/>
                  <a:gd name="T104" fmla="*/ 0 w 958"/>
                  <a:gd name="T105" fmla="*/ 1 h 67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958"/>
                  <a:gd name="T160" fmla="*/ 0 h 679"/>
                  <a:gd name="T161" fmla="*/ 958 w 958"/>
                  <a:gd name="T162" fmla="*/ 679 h 67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958" h="679">
                    <a:moveTo>
                      <a:pt x="0" y="151"/>
                    </a:moveTo>
                    <a:lnTo>
                      <a:pt x="7" y="78"/>
                    </a:lnTo>
                    <a:lnTo>
                      <a:pt x="47" y="25"/>
                    </a:lnTo>
                    <a:lnTo>
                      <a:pt x="114" y="0"/>
                    </a:lnTo>
                    <a:lnTo>
                      <a:pt x="169" y="10"/>
                    </a:lnTo>
                    <a:lnTo>
                      <a:pt x="110" y="78"/>
                    </a:lnTo>
                    <a:lnTo>
                      <a:pt x="125" y="120"/>
                    </a:lnTo>
                    <a:lnTo>
                      <a:pt x="169" y="161"/>
                    </a:lnTo>
                    <a:lnTo>
                      <a:pt x="114" y="176"/>
                    </a:lnTo>
                    <a:lnTo>
                      <a:pt x="172" y="175"/>
                    </a:lnTo>
                    <a:lnTo>
                      <a:pt x="179" y="139"/>
                    </a:lnTo>
                    <a:lnTo>
                      <a:pt x="136" y="117"/>
                    </a:lnTo>
                    <a:lnTo>
                      <a:pt x="172" y="93"/>
                    </a:lnTo>
                    <a:lnTo>
                      <a:pt x="144" y="60"/>
                    </a:lnTo>
                    <a:lnTo>
                      <a:pt x="201" y="69"/>
                    </a:lnTo>
                    <a:lnTo>
                      <a:pt x="150" y="52"/>
                    </a:lnTo>
                    <a:lnTo>
                      <a:pt x="207" y="56"/>
                    </a:lnTo>
                    <a:lnTo>
                      <a:pt x="168" y="33"/>
                    </a:lnTo>
                    <a:lnTo>
                      <a:pt x="214" y="34"/>
                    </a:lnTo>
                    <a:lnTo>
                      <a:pt x="245" y="10"/>
                    </a:lnTo>
                    <a:lnTo>
                      <a:pt x="283" y="8"/>
                    </a:lnTo>
                    <a:lnTo>
                      <a:pt x="286" y="40"/>
                    </a:lnTo>
                    <a:lnTo>
                      <a:pt x="313" y="52"/>
                    </a:lnTo>
                    <a:lnTo>
                      <a:pt x="304" y="120"/>
                    </a:lnTo>
                    <a:lnTo>
                      <a:pt x="341" y="88"/>
                    </a:lnTo>
                    <a:lnTo>
                      <a:pt x="363" y="102"/>
                    </a:lnTo>
                    <a:lnTo>
                      <a:pt x="415" y="70"/>
                    </a:lnTo>
                    <a:lnTo>
                      <a:pt x="495" y="88"/>
                    </a:lnTo>
                    <a:lnTo>
                      <a:pt x="528" y="120"/>
                    </a:lnTo>
                    <a:lnTo>
                      <a:pt x="504" y="139"/>
                    </a:lnTo>
                    <a:lnTo>
                      <a:pt x="551" y="131"/>
                    </a:lnTo>
                    <a:lnTo>
                      <a:pt x="536" y="150"/>
                    </a:lnTo>
                    <a:lnTo>
                      <a:pt x="565" y="161"/>
                    </a:lnTo>
                    <a:lnTo>
                      <a:pt x="587" y="136"/>
                    </a:lnTo>
                    <a:lnTo>
                      <a:pt x="622" y="148"/>
                    </a:lnTo>
                    <a:lnTo>
                      <a:pt x="632" y="169"/>
                    </a:lnTo>
                    <a:lnTo>
                      <a:pt x="602" y="175"/>
                    </a:lnTo>
                    <a:lnTo>
                      <a:pt x="649" y="175"/>
                    </a:lnTo>
                    <a:lnTo>
                      <a:pt x="642" y="201"/>
                    </a:lnTo>
                    <a:lnTo>
                      <a:pt x="675" y="187"/>
                    </a:lnTo>
                    <a:lnTo>
                      <a:pt x="654" y="209"/>
                    </a:lnTo>
                    <a:lnTo>
                      <a:pt x="721" y="203"/>
                    </a:lnTo>
                    <a:lnTo>
                      <a:pt x="684" y="225"/>
                    </a:lnTo>
                    <a:lnTo>
                      <a:pt x="716" y="225"/>
                    </a:lnTo>
                    <a:lnTo>
                      <a:pt x="704" y="242"/>
                    </a:lnTo>
                    <a:lnTo>
                      <a:pt x="734" y="220"/>
                    </a:lnTo>
                    <a:lnTo>
                      <a:pt x="764" y="243"/>
                    </a:lnTo>
                    <a:lnTo>
                      <a:pt x="709" y="263"/>
                    </a:lnTo>
                    <a:lnTo>
                      <a:pt x="789" y="279"/>
                    </a:lnTo>
                    <a:lnTo>
                      <a:pt x="720" y="285"/>
                    </a:lnTo>
                    <a:lnTo>
                      <a:pt x="746" y="296"/>
                    </a:lnTo>
                    <a:lnTo>
                      <a:pt x="726" y="318"/>
                    </a:lnTo>
                    <a:lnTo>
                      <a:pt x="805" y="358"/>
                    </a:lnTo>
                    <a:lnTo>
                      <a:pt x="844" y="351"/>
                    </a:lnTo>
                    <a:lnTo>
                      <a:pt x="863" y="399"/>
                    </a:lnTo>
                    <a:lnTo>
                      <a:pt x="903" y="395"/>
                    </a:lnTo>
                    <a:lnTo>
                      <a:pt x="897" y="415"/>
                    </a:lnTo>
                    <a:lnTo>
                      <a:pt x="958" y="426"/>
                    </a:lnTo>
                    <a:lnTo>
                      <a:pt x="950" y="452"/>
                    </a:lnTo>
                    <a:lnTo>
                      <a:pt x="921" y="448"/>
                    </a:lnTo>
                    <a:lnTo>
                      <a:pt x="933" y="465"/>
                    </a:lnTo>
                    <a:lnTo>
                      <a:pt x="918" y="488"/>
                    </a:lnTo>
                    <a:lnTo>
                      <a:pt x="890" y="477"/>
                    </a:lnTo>
                    <a:lnTo>
                      <a:pt x="885" y="525"/>
                    </a:lnTo>
                    <a:lnTo>
                      <a:pt x="776" y="436"/>
                    </a:lnTo>
                    <a:lnTo>
                      <a:pt x="735" y="446"/>
                    </a:lnTo>
                    <a:lnTo>
                      <a:pt x="764" y="466"/>
                    </a:lnTo>
                    <a:lnTo>
                      <a:pt x="742" y="488"/>
                    </a:lnTo>
                    <a:lnTo>
                      <a:pt x="760" y="487"/>
                    </a:lnTo>
                    <a:lnTo>
                      <a:pt x="783" y="531"/>
                    </a:lnTo>
                    <a:lnTo>
                      <a:pt x="835" y="540"/>
                    </a:lnTo>
                    <a:lnTo>
                      <a:pt x="831" y="565"/>
                    </a:lnTo>
                    <a:lnTo>
                      <a:pt x="860" y="587"/>
                    </a:lnTo>
                    <a:lnTo>
                      <a:pt x="845" y="646"/>
                    </a:lnTo>
                    <a:lnTo>
                      <a:pt x="709" y="586"/>
                    </a:lnTo>
                    <a:lnTo>
                      <a:pt x="800" y="679"/>
                    </a:lnTo>
                    <a:lnTo>
                      <a:pt x="628" y="627"/>
                    </a:lnTo>
                    <a:lnTo>
                      <a:pt x="603" y="595"/>
                    </a:lnTo>
                    <a:lnTo>
                      <a:pt x="627" y="593"/>
                    </a:lnTo>
                    <a:lnTo>
                      <a:pt x="572" y="573"/>
                    </a:lnTo>
                    <a:lnTo>
                      <a:pt x="555" y="538"/>
                    </a:lnTo>
                    <a:lnTo>
                      <a:pt x="513" y="525"/>
                    </a:lnTo>
                    <a:lnTo>
                      <a:pt x="510" y="550"/>
                    </a:lnTo>
                    <a:lnTo>
                      <a:pt x="484" y="538"/>
                    </a:lnTo>
                    <a:lnTo>
                      <a:pt x="447" y="561"/>
                    </a:lnTo>
                    <a:lnTo>
                      <a:pt x="398" y="538"/>
                    </a:lnTo>
                    <a:lnTo>
                      <a:pt x="425" y="496"/>
                    </a:lnTo>
                    <a:lnTo>
                      <a:pt x="551" y="496"/>
                    </a:lnTo>
                    <a:lnTo>
                      <a:pt x="521" y="455"/>
                    </a:lnTo>
                    <a:lnTo>
                      <a:pt x="592" y="395"/>
                    </a:lnTo>
                    <a:lnTo>
                      <a:pt x="541" y="315"/>
                    </a:lnTo>
                    <a:lnTo>
                      <a:pt x="507" y="308"/>
                    </a:lnTo>
                    <a:lnTo>
                      <a:pt x="526" y="294"/>
                    </a:lnTo>
                    <a:lnTo>
                      <a:pt x="448" y="316"/>
                    </a:lnTo>
                    <a:lnTo>
                      <a:pt x="447" y="293"/>
                    </a:lnTo>
                    <a:lnTo>
                      <a:pt x="475" y="279"/>
                    </a:lnTo>
                    <a:lnTo>
                      <a:pt x="416" y="249"/>
                    </a:lnTo>
                    <a:lnTo>
                      <a:pt x="415" y="224"/>
                    </a:lnTo>
                    <a:lnTo>
                      <a:pt x="361" y="212"/>
                    </a:lnTo>
                    <a:lnTo>
                      <a:pt x="375" y="245"/>
                    </a:lnTo>
                    <a:lnTo>
                      <a:pt x="282" y="232"/>
                    </a:lnTo>
                    <a:lnTo>
                      <a:pt x="305" y="252"/>
                    </a:lnTo>
                    <a:lnTo>
                      <a:pt x="63" y="219"/>
                    </a:lnTo>
                    <a:lnTo>
                      <a:pt x="21" y="175"/>
                    </a:lnTo>
                    <a:lnTo>
                      <a:pt x="96" y="177"/>
                    </a:lnTo>
                    <a:lnTo>
                      <a:pt x="0" y="15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2" name="16253278.125346.6257.259.255">
                <a:extLst>
                  <a:ext uri="{FF2B5EF4-FFF2-40B4-BE49-F238E27FC236}">
                    <a16:creationId xmlns:a16="http://schemas.microsoft.com/office/drawing/2014/main" id="{6D583311-B985-7578-E32E-15FF09522118}"/>
                  </a:ext>
                </a:extLst>
              </p:cNvPr>
              <p:cNvSpPr>
                <a:spLocks/>
              </p:cNvSpPr>
              <p:nvPr/>
            </p:nvSpPr>
            <p:spPr bwMode="auto">
              <a:xfrm>
                <a:off x="4130763" y="2301200"/>
                <a:ext cx="149403" cy="113443"/>
              </a:xfrm>
              <a:custGeom>
                <a:avLst/>
                <a:gdLst>
                  <a:gd name="T0" fmla="*/ 0 w 223"/>
                  <a:gd name="T1" fmla="*/ 1 h 148"/>
                  <a:gd name="T2" fmla="*/ 0 w 223"/>
                  <a:gd name="T3" fmla="*/ 1 h 148"/>
                  <a:gd name="T4" fmla="*/ 0 w 223"/>
                  <a:gd name="T5" fmla="*/ 0 h 148"/>
                  <a:gd name="T6" fmla="*/ 0 w 223"/>
                  <a:gd name="T7" fmla="*/ 1 h 148"/>
                  <a:gd name="T8" fmla="*/ 0 w 223"/>
                  <a:gd name="T9" fmla="*/ 1 h 148"/>
                  <a:gd name="T10" fmla="*/ 0 w 223"/>
                  <a:gd name="T11" fmla="*/ 1 h 148"/>
                  <a:gd name="T12" fmla="*/ 0 w 223"/>
                  <a:gd name="T13" fmla="*/ 1 h 148"/>
                  <a:gd name="T14" fmla="*/ 0 w 223"/>
                  <a:gd name="T15" fmla="*/ 1 h 148"/>
                  <a:gd name="T16" fmla="*/ 0 w 223"/>
                  <a:gd name="T17" fmla="*/ 1 h 148"/>
                  <a:gd name="T18" fmla="*/ 0 w 223"/>
                  <a:gd name="T19" fmla="*/ 1 h 148"/>
                  <a:gd name="T20" fmla="*/ 0 w 223"/>
                  <a:gd name="T21" fmla="*/ 1 h 1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3"/>
                  <a:gd name="T34" fmla="*/ 0 h 148"/>
                  <a:gd name="T35" fmla="*/ 223 w 223"/>
                  <a:gd name="T36" fmla="*/ 148 h 1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3" h="148">
                    <a:moveTo>
                      <a:pt x="0" y="121"/>
                    </a:moveTo>
                    <a:lnTo>
                      <a:pt x="33" y="92"/>
                    </a:lnTo>
                    <a:lnTo>
                      <a:pt x="54" y="0"/>
                    </a:lnTo>
                    <a:lnTo>
                      <a:pt x="73" y="33"/>
                    </a:lnTo>
                    <a:lnTo>
                      <a:pt x="124" y="41"/>
                    </a:lnTo>
                    <a:lnTo>
                      <a:pt x="223" y="109"/>
                    </a:lnTo>
                    <a:lnTo>
                      <a:pt x="209" y="132"/>
                    </a:lnTo>
                    <a:lnTo>
                      <a:pt x="120" y="100"/>
                    </a:lnTo>
                    <a:lnTo>
                      <a:pt x="65" y="148"/>
                    </a:lnTo>
                    <a:lnTo>
                      <a:pt x="51" y="109"/>
                    </a:lnTo>
                    <a:lnTo>
                      <a:pt x="0" y="12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3" name="16254312.25385.2510.3759.3755">
                <a:extLst>
                  <a:ext uri="{FF2B5EF4-FFF2-40B4-BE49-F238E27FC236}">
                    <a16:creationId xmlns:a16="http://schemas.microsoft.com/office/drawing/2014/main" id="{093466BC-56CF-75FA-8D84-DF3D951E81BC}"/>
                  </a:ext>
                </a:extLst>
              </p:cNvPr>
              <p:cNvSpPr>
                <a:spLocks/>
              </p:cNvSpPr>
              <p:nvPr/>
            </p:nvSpPr>
            <p:spPr bwMode="auto">
              <a:xfrm>
                <a:off x="4756635" y="2837751"/>
                <a:ext cx="150747" cy="164031"/>
              </a:xfrm>
              <a:custGeom>
                <a:avLst/>
                <a:gdLst>
                  <a:gd name="T0" fmla="*/ 0 w 224"/>
                  <a:gd name="T1" fmla="*/ 0 h 215"/>
                  <a:gd name="T2" fmla="*/ 1 w 224"/>
                  <a:gd name="T3" fmla="*/ 0 h 215"/>
                  <a:gd name="T4" fmla="*/ 1 w 224"/>
                  <a:gd name="T5" fmla="*/ 0 h 215"/>
                  <a:gd name="T6" fmla="*/ 1 w 224"/>
                  <a:gd name="T7" fmla="*/ 0 h 215"/>
                  <a:gd name="T8" fmla="*/ 1 w 224"/>
                  <a:gd name="T9" fmla="*/ 0 h 215"/>
                  <a:gd name="T10" fmla="*/ 1 w 224"/>
                  <a:gd name="T11" fmla="*/ 0 h 215"/>
                  <a:gd name="T12" fmla="*/ 1 w 224"/>
                  <a:gd name="T13" fmla="*/ 0 h 215"/>
                  <a:gd name="T14" fmla="*/ 1 w 224"/>
                  <a:gd name="T15" fmla="*/ 0 h 215"/>
                  <a:gd name="T16" fmla="*/ 1 w 224"/>
                  <a:gd name="T17" fmla="*/ 0 h 215"/>
                  <a:gd name="T18" fmla="*/ 1 w 224"/>
                  <a:gd name="T19" fmla="*/ 0 h 215"/>
                  <a:gd name="T20" fmla="*/ 1 w 224"/>
                  <a:gd name="T21" fmla="*/ 0 h 215"/>
                  <a:gd name="T22" fmla="*/ 1 w 224"/>
                  <a:gd name="T23" fmla="*/ 0 h 215"/>
                  <a:gd name="T24" fmla="*/ 1 w 224"/>
                  <a:gd name="T25" fmla="*/ 0 h 215"/>
                  <a:gd name="T26" fmla="*/ 1 w 224"/>
                  <a:gd name="T27" fmla="*/ 0 h 215"/>
                  <a:gd name="T28" fmla="*/ 1 w 224"/>
                  <a:gd name="T29" fmla="*/ 0 h 215"/>
                  <a:gd name="T30" fmla="*/ 1 w 224"/>
                  <a:gd name="T31" fmla="*/ 0 h 215"/>
                  <a:gd name="T32" fmla="*/ 1 w 224"/>
                  <a:gd name="T33" fmla="*/ 0 h 215"/>
                  <a:gd name="T34" fmla="*/ 1 w 224"/>
                  <a:gd name="T35" fmla="*/ 0 h 215"/>
                  <a:gd name="T36" fmla="*/ 1 w 224"/>
                  <a:gd name="T37" fmla="*/ 0 h 215"/>
                  <a:gd name="T38" fmla="*/ 1 w 224"/>
                  <a:gd name="T39" fmla="*/ 0 h 215"/>
                  <a:gd name="T40" fmla="*/ 0 w 224"/>
                  <a:gd name="T41" fmla="*/ 0 h 2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4"/>
                  <a:gd name="T64" fmla="*/ 0 h 215"/>
                  <a:gd name="T65" fmla="*/ 224 w 224"/>
                  <a:gd name="T66" fmla="*/ 215 h 2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4" h="215">
                    <a:moveTo>
                      <a:pt x="0" y="168"/>
                    </a:moveTo>
                    <a:lnTo>
                      <a:pt x="92" y="11"/>
                    </a:lnTo>
                    <a:lnTo>
                      <a:pt x="127" y="0"/>
                    </a:lnTo>
                    <a:lnTo>
                      <a:pt x="85" y="84"/>
                    </a:lnTo>
                    <a:lnTo>
                      <a:pt x="114" y="65"/>
                    </a:lnTo>
                    <a:lnTo>
                      <a:pt x="133" y="100"/>
                    </a:lnTo>
                    <a:lnTo>
                      <a:pt x="192" y="100"/>
                    </a:lnTo>
                    <a:lnTo>
                      <a:pt x="180" y="133"/>
                    </a:lnTo>
                    <a:lnTo>
                      <a:pt x="210" y="131"/>
                    </a:lnTo>
                    <a:lnTo>
                      <a:pt x="189" y="165"/>
                    </a:lnTo>
                    <a:lnTo>
                      <a:pt x="217" y="146"/>
                    </a:lnTo>
                    <a:lnTo>
                      <a:pt x="224" y="179"/>
                    </a:lnTo>
                    <a:lnTo>
                      <a:pt x="195" y="215"/>
                    </a:lnTo>
                    <a:lnTo>
                      <a:pt x="192" y="188"/>
                    </a:lnTo>
                    <a:lnTo>
                      <a:pt x="178" y="202"/>
                    </a:lnTo>
                    <a:lnTo>
                      <a:pt x="178" y="161"/>
                    </a:lnTo>
                    <a:lnTo>
                      <a:pt x="123" y="202"/>
                    </a:lnTo>
                    <a:lnTo>
                      <a:pt x="155" y="175"/>
                    </a:lnTo>
                    <a:lnTo>
                      <a:pt x="109" y="179"/>
                    </a:lnTo>
                    <a:lnTo>
                      <a:pt x="120" y="162"/>
                    </a:lnTo>
                    <a:lnTo>
                      <a:pt x="0" y="16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4" name="16255388578.55.8752.55">
                <a:extLst>
                  <a:ext uri="{FF2B5EF4-FFF2-40B4-BE49-F238E27FC236}">
                    <a16:creationId xmlns:a16="http://schemas.microsoft.com/office/drawing/2014/main" id="{86ADE8E8-ED8E-ABFD-DD35-DCBBE3B6282F}"/>
                  </a:ext>
                </a:extLst>
              </p:cNvPr>
              <p:cNvSpPr>
                <a:spLocks/>
              </p:cNvSpPr>
              <p:nvPr/>
            </p:nvSpPr>
            <p:spPr bwMode="auto">
              <a:xfrm>
                <a:off x="7195294" y="3986474"/>
                <a:ext cx="41725" cy="93513"/>
              </a:xfrm>
              <a:custGeom>
                <a:avLst/>
                <a:gdLst>
                  <a:gd name="T0" fmla="*/ 0 w 62"/>
                  <a:gd name="T1" fmla="*/ 0 h 124"/>
                  <a:gd name="T2" fmla="*/ 1 w 62"/>
                  <a:gd name="T3" fmla="*/ 0 h 124"/>
                  <a:gd name="T4" fmla="*/ 1 w 62"/>
                  <a:gd name="T5" fmla="*/ 0 h 124"/>
                  <a:gd name="T6" fmla="*/ 1 w 62"/>
                  <a:gd name="T7" fmla="*/ 0 h 124"/>
                  <a:gd name="T8" fmla="*/ 0 w 62"/>
                  <a:gd name="T9" fmla="*/ 0 h 124"/>
                  <a:gd name="T10" fmla="*/ 0 60000 65536"/>
                  <a:gd name="T11" fmla="*/ 0 60000 65536"/>
                  <a:gd name="T12" fmla="*/ 0 60000 65536"/>
                  <a:gd name="T13" fmla="*/ 0 60000 65536"/>
                  <a:gd name="T14" fmla="*/ 0 60000 65536"/>
                  <a:gd name="T15" fmla="*/ 0 w 62"/>
                  <a:gd name="T16" fmla="*/ 0 h 124"/>
                  <a:gd name="T17" fmla="*/ 62 w 62"/>
                  <a:gd name="T18" fmla="*/ 124 h 124"/>
                </a:gdLst>
                <a:ahLst/>
                <a:cxnLst>
                  <a:cxn ang="T10">
                    <a:pos x="T0" y="T1"/>
                  </a:cxn>
                  <a:cxn ang="T11">
                    <a:pos x="T2" y="T3"/>
                  </a:cxn>
                  <a:cxn ang="T12">
                    <a:pos x="T4" y="T5"/>
                  </a:cxn>
                  <a:cxn ang="T13">
                    <a:pos x="T6" y="T7"/>
                  </a:cxn>
                  <a:cxn ang="T14">
                    <a:pos x="T8" y="T9"/>
                  </a:cxn>
                </a:cxnLst>
                <a:rect l="T15" t="T16" r="T17" b="T18"/>
                <a:pathLst>
                  <a:path w="62" h="124">
                    <a:moveTo>
                      <a:pt x="0" y="0"/>
                    </a:moveTo>
                    <a:lnTo>
                      <a:pt x="11" y="124"/>
                    </a:lnTo>
                    <a:lnTo>
                      <a:pt x="62" y="102"/>
                    </a:lnTo>
                    <a:lnTo>
                      <a:pt x="37" y="29"/>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5" name="16256362.5634.255.3752.55">
                <a:extLst>
                  <a:ext uri="{FF2B5EF4-FFF2-40B4-BE49-F238E27FC236}">
                    <a16:creationId xmlns:a16="http://schemas.microsoft.com/office/drawing/2014/main" id="{58D872CA-4678-5E5E-3A78-E0F41AFAE7B2}"/>
                  </a:ext>
                </a:extLst>
              </p:cNvPr>
              <p:cNvSpPr>
                <a:spLocks/>
              </p:cNvSpPr>
              <p:nvPr/>
            </p:nvSpPr>
            <p:spPr bwMode="auto">
              <a:xfrm>
                <a:off x="8098434" y="3584828"/>
                <a:ext cx="40378" cy="84316"/>
              </a:xfrm>
              <a:custGeom>
                <a:avLst/>
                <a:gdLst>
                  <a:gd name="T0" fmla="*/ 0 w 59"/>
                  <a:gd name="T1" fmla="*/ 1 h 109"/>
                  <a:gd name="T2" fmla="*/ 1 w 59"/>
                  <a:gd name="T3" fmla="*/ 1 h 109"/>
                  <a:gd name="T4" fmla="*/ 1 w 59"/>
                  <a:gd name="T5" fmla="*/ 0 h 109"/>
                  <a:gd name="T6" fmla="*/ 1 w 59"/>
                  <a:gd name="T7" fmla="*/ 1 h 109"/>
                  <a:gd name="T8" fmla="*/ 0 w 59"/>
                  <a:gd name="T9" fmla="*/ 1 h 109"/>
                  <a:gd name="T10" fmla="*/ 0 60000 65536"/>
                  <a:gd name="T11" fmla="*/ 0 60000 65536"/>
                  <a:gd name="T12" fmla="*/ 0 60000 65536"/>
                  <a:gd name="T13" fmla="*/ 0 60000 65536"/>
                  <a:gd name="T14" fmla="*/ 0 60000 65536"/>
                  <a:gd name="T15" fmla="*/ 0 w 59"/>
                  <a:gd name="T16" fmla="*/ 0 h 109"/>
                  <a:gd name="T17" fmla="*/ 59 w 59"/>
                  <a:gd name="T18" fmla="*/ 109 h 109"/>
                </a:gdLst>
                <a:ahLst/>
                <a:cxnLst>
                  <a:cxn ang="T10">
                    <a:pos x="T0" y="T1"/>
                  </a:cxn>
                  <a:cxn ang="T11">
                    <a:pos x="T2" y="T3"/>
                  </a:cxn>
                  <a:cxn ang="T12">
                    <a:pos x="T4" y="T5"/>
                  </a:cxn>
                  <a:cxn ang="T13">
                    <a:pos x="T6" y="T7"/>
                  </a:cxn>
                  <a:cxn ang="T14">
                    <a:pos x="T8" y="T9"/>
                  </a:cxn>
                </a:cxnLst>
                <a:rect l="T15" t="T16" r="T17" b="T18"/>
                <a:pathLst>
                  <a:path w="59" h="109">
                    <a:moveTo>
                      <a:pt x="0" y="44"/>
                    </a:moveTo>
                    <a:lnTo>
                      <a:pt x="23" y="109"/>
                    </a:lnTo>
                    <a:lnTo>
                      <a:pt x="59" y="0"/>
                    </a:lnTo>
                    <a:lnTo>
                      <a:pt x="28" y="2"/>
                    </a:lnTo>
                    <a:lnTo>
                      <a:pt x="0" y="4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6" name="16257386348.754.3754.255">
                <a:extLst>
                  <a:ext uri="{FF2B5EF4-FFF2-40B4-BE49-F238E27FC236}">
                    <a16:creationId xmlns:a16="http://schemas.microsoft.com/office/drawing/2014/main" id="{D3C78241-EC51-950A-3EEC-01F10F98D9B0}"/>
                  </a:ext>
                </a:extLst>
              </p:cNvPr>
              <p:cNvSpPr>
                <a:spLocks/>
              </p:cNvSpPr>
              <p:nvPr/>
            </p:nvSpPr>
            <p:spPr bwMode="auto">
              <a:xfrm>
                <a:off x="4164411" y="3999766"/>
                <a:ext cx="69989" cy="68985"/>
              </a:xfrm>
              <a:custGeom>
                <a:avLst/>
                <a:gdLst>
                  <a:gd name="T0" fmla="*/ 0 w 104"/>
                  <a:gd name="T1" fmla="*/ 0 h 89"/>
                  <a:gd name="T2" fmla="*/ 1 w 104"/>
                  <a:gd name="T3" fmla="*/ 1 h 89"/>
                  <a:gd name="T4" fmla="*/ 1 w 104"/>
                  <a:gd name="T5" fmla="*/ 1 h 89"/>
                  <a:gd name="T6" fmla="*/ 1 w 104"/>
                  <a:gd name="T7" fmla="*/ 1 h 89"/>
                  <a:gd name="T8" fmla="*/ 1 w 104"/>
                  <a:gd name="T9" fmla="*/ 1 h 89"/>
                  <a:gd name="T10" fmla="*/ 1 w 104"/>
                  <a:gd name="T11" fmla="*/ 1 h 89"/>
                  <a:gd name="T12" fmla="*/ 0 w 104"/>
                  <a:gd name="T13" fmla="*/ 0 h 89"/>
                  <a:gd name="T14" fmla="*/ 0 60000 65536"/>
                  <a:gd name="T15" fmla="*/ 0 60000 65536"/>
                  <a:gd name="T16" fmla="*/ 0 60000 65536"/>
                  <a:gd name="T17" fmla="*/ 0 60000 65536"/>
                  <a:gd name="T18" fmla="*/ 0 60000 65536"/>
                  <a:gd name="T19" fmla="*/ 0 60000 65536"/>
                  <a:gd name="T20" fmla="*/ 0 60000 65536"/>
                  <a:gd name="T21" fmla="*/ 0 w 104"/>
                  <a:gd name="T22" fmla="*/ 0 h 89"/>
                  <a:gd name="T23" fmla="*/ 104 w 104"/>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 h="89">
                    <a:moveTo>
                      <a:pt x="0" y="0"/>
                    </a:moveTo>
                    <a:lnTo>
                      <a:pt x="1" y="34"/>
                    </a:lnTo>
                    <a:lnTo>
                      <a:pt x="23" y="29"/>
                    </a:lnTo>
                    <a:lnTo>
                      <a:pt x="89" y="89"/>
                    </a:lnTo>
                    <a:lnTo>
                      <a:pt x="104" y="44"/>
                    </a:lnTo>
                    <a:lnTo>
                      <a:pt x="69" y="3"/>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7" name="16258365.75349.755.514.8755">
                <a:extLst>
                  <a:ext uri="{FF2B5EF4-FFF2-40B4-BE49-F238E27FC236}">
                    <a16:creationId xmlns:a16="http://schemas.microsoft.com/office/drawing/2014/main" id="{A1CB8BD3-7334-9D18-CD17-D47D1505E79E}"/>
                  </a:ext>
                </a:extLst>
              </p:cNvPr>
              <p:cNvSpPr>
                <a:spLocks/>
              </p:cNvSpPr>
              <p:nvPr/>
            </p:nvSpPr>
            <p:spPr bwMode="auto">
              <a:xfrm>
                <a:off x="4180563" y="3682435"/>
                <a:ext cx="242274" cy="85847"/>
              </a:xfrm>
              <a:custGeom>
                <a:avLst/>
                <a:gdLst>
                  <a:gd name="T0" fmla="*/ 0 w 358"/>
                  <a:gd name="T1" fmla="*/ 0 h 113"/>
                  <a:gd name="T2" fmla="*/ 1 w 358"/>
                  <a:gd name="T3" fmla="*/ 0 h 113"/>
                  <a:gd name="T4" fmla="*/ 1 w 358"/>
                  <a:gd name="T5" fmla="*/ 0 h 113"/>
                  <a:gd name="T6" fmla="*/ 1 w 358"/>
                  <a:gd name="T7" fmla="*/ 0 h 113"/>
                  <a:gd name="T8" fmla="*/ 1 w 358"/>
                  <a:gd name="T9" fmla="*/ 0 h 113"/>
                  <a:gd name="T10" fmla="*/ 1 w 358"/>
                  <a:gd name="T11" fmla="*/ 0 h 113"/>
                  <a:gd name="T12" fmla="*/ 1 w 358"/>
                  <a:gd name="T13" fmla="*/ 0 h 113"/>
                  <a:gd name="T14" fmla="*/ 1 w 358"/>
                  <a:gd name="T15" fmla="*/ 0 h 113"/>
                  <a:gd name="T16" fmla="*/ 1 w 358"/>
                  <a:gd name="T17" fmla="*/ 0 h 113"/>
                  <a:gd name="T18" fmla="*/ 0 w 358"/>
                  <a:gd name="T19" fmla="*/ 0 h 1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58"/>
                  <a:gd name="T31" fmla="*/ 0 h 113"/>
                  <a:gd name="T32" fmla="*/ 358 w 358"/>
                  <a:gd name="T33" fmla="*/ 113 h 1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58" h="113">
                    <a:moveTo>
                      <a:pt x="0" y="44"/>
                    </a:moveTo>
                    <a:lnTo>
                      <a:pt x="48" y="5"/>
                    </a:lnTo>
                    <a:lnTo>
                      <a:pt x="140" y="0"/>
                    </a:lnTo>
                    <a:lnTo>
                      <a:pt x="358" y="96"/>
                    </a:lnTo>
                    <a:lnTo>
                      <a:pt x="242" y="113"/>
                    </a:lnTo>
                    <a:lnTo>
                      <a:pt x="262" y="91"/>
                    </a:lnTo>
                    <a:lnTo>
                      <a:pt x="206" y="55"/>
                    </a:lnTo>
                    <a:lnTo>
                      <a:pt x="97" y="34"/>
                    </a:lnTo>
                    <a:lnTo>
                      <a:pt x="103" y="18"/>
                    </a:lnTo>
                    <a:lnTo>
                      <a:pt x="0" y="4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8" name="16259298.6254796.3753.6255">
                <a:extLst>
                  <a:ext uri="{FF2B5EF4-FFF2-40B4-BE49-F238E27FC236}">
                    <a16:creationId xmlns:a16="http://schemas.microsoft.com/office/drawing/2014/main" id="{8A2723DA-DFEB-C44C-D1E5-09C70036D2E6}"/>
                  </a:ext>
                </a:extLst>
              </p:cNvPr>
              <p:cNvSpPr>
                <a:spLocks/>
              </p:cNvSpPr>
              <p:nvPr/>
            </p:nvSpPr>
            <p:spPr bwMode="auto">
              <a:xfrm>
                <a:off x="5584180" y="2577645"/>
                <a:ext cx="59222" cy="101178"/>
              </a:xfrm>
              <a:custGeom>
                <a:avLst/>
                <a:gdLst>
                  <a:gd name="T0" fmla="*/ 0 w 88"/>
                  <a:gd name="T1" fmla="*/ 1 h 132"/>
                  <a:gd name="T2" fmla="*/ 1 w 88"/>
                  <a:gd name="T3" fmla="*/ 1 h 132"/>
                  <a:gd name="T4" fmla="*/ 1 w 88"/>
                  <a:gd name="T5" fmla="*/ 0 h 132"/>
                  <a:gd name="T6" fmla="*/ 1 w 88"/>
                  <a:gd name="T7" fmla="*/ 1 h 132"/>
                  <a:gd name="T8" fmla="*/ 1 w 88"/>
                  <a:gd name="T9" fmla="*/ 1 h 132"/>
                  <a:gd name="T10" fmla="*/ 1 w 88"/>
                  <a:gd name="T11" fmla="*/ 1 h 132"/>
                  <a:gd name="T12" fmla="*/ 1 w 88"/>
                  <a:gd name="T13" fmla="*/ 1 h 132"/>
                  <a:gd name="T14" fmla="*/ 1 w 88"/>
                  <a:gd name="T15" fmla="*/ 1 h 132"/>
                  <a:gd name="T16" fmla="*/ 0 w 88"/>
                  <a:gd name="T17" fmla="*/ 1 h 1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8"/>
                  <a:gd name="T28" fmla="*/ 0 h 132"/>
                  <a:gd name="T29" fmla="*/ 88 w 88"/>
                  <a:gd name="T30" fmla="*/ 132 h 1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8" h="132">
                    <a:moveTo>
                      <a:pt x="0" y="100"/>
                    </a:moveTo>
                    <a:lnTo>
                      <a:pt x="6" y="36"/>
                    </a:lnTo>
                    <a:lnTo>
                      <a:pt x="76" y="0"/>
                    </a:lnTo>
                    <a:lnTo>
                      <a:pt x="64" y="51"/>
                    </a:lnTo>
                    <a:lnTo>
                      <a:pt x="88" y="66"/>
                    </a:lnTo>
                    <a:lnTo>
                      <a:pt x="44" y="95"/>
                    </a:lnTo>
                    <a:lnTo>
                      <a:pt x="43" y="132"/>
                    </a:lnTo>
                    <a:lnTo>
                      <a:pt x="17" y="132"/>
                    </a:lnTo>
                    <a:lnTo>
                      <a:pt x="0" y="10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39" name="16260303.5481.3750.751.3755">
                <a:extLst>
                  <a:ext uri="{FF2B5EF4-FFF2-40B4-BE49-F238E27FC236}">
                    <a16:creationId xmlns:a16="http://schemas.microsoft.com/office/drawing/2014/main" id="{C878032C-1EDD-BE75-DF86-09AB66A01BA4}"/>
                  </a:ext>
                </a:extLst>
              </p:cNvPr>
              <p:cNvSpPr>
                <a:spLocks/>
              </p:cNvSpPr>
              <p:nvPr/>
            </p:nvSpPr>
            <p:spPr bwMode="auto">
              <a:xfrm>
                <a:off x="5623213" y="2654296"/>
                <a:ext cx="21535" cy="12265"/>
              </a:xfrm>
              <a:custGeom>
                <a:avLst/>
                <a:gdLst>
                  <a:gd name="T0" fmla="*/ 0 w 32"/>
                  <a:gd name="T1" fmla="*/ 1 h 16"/>
                  <a:gd name="T2" fmla="*/ 1 w 32"/>
                  <a:gd name="T3" fmla="*/ 0 h 16"/>
                  <a:gd name="T4" fmla="*/ 1 w 32"/>
                  <a:gd name="T5" fmla="*/ 1 h 16"/>
                  <a:gd name="T6" fmla="*/ 0 w 32"/>
                  <a:gd name="T7" fmla="*/ 1 h 16"/>
                  <a:gd name="T8" fmla="*/ 0 60000 65536"/>
                  <a:gd name="T9" fmla="*/ 0 60000 65536"/>
                  <a:gd name="T10" fmla="*/ 0 60000 65536"/>
                  <a:gd name="T11" fmla="*/ 0 60000 65536"/>
                  <a:gd name="T12" fmla="*/ 0 w 32"/>
                  <a:gd name="T13" fmla="*/ 0 h 16"/>
                  <a:gd name="T14" fmla="*/ 32 w 32"/>
                  <a:gd name="T15" fmla="*/ 16 h 16"/>
                </a:gdLst>
                <a:ahLst/>
                <a:cxnLst>
                  <a:cxn ang="T8">
                    <a:pos x="T0" y="T1"/>
                  </a:cxn>
                  <a:cxn ang="T9">
                    <a:pos x="T2" y="T3"/>
                  </a:cxn>
                  <a:cxn ang="T10">
                    <a:pos x="T4" y="T5"/>
                  </a:cxn>
                  <a:cxn ang="T11">
                    <a:pos x="T6" y="T7"/>
                  </a:cxn>
                </a:cxnLst>
                <a:rect l="T12" t="T13" r="T14" b="T15"/>
                <a:pathLst>
                  <a:path w="32" h="16">
                    <a:moveTo>
                      <a:pt x="0" y="16"/>
                    </a:moveTo>
                    <a:lnTo>
                      <a:pt x="25" y="0"/>
                    </a:lnTo>
                    <a:lnTo>
                      <a:pt x="32" y="11"/>
                    </a:lnTo>
                    <a:lnTo>
                      <a:pt x="0" y="1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0" name="162613024832.752.255">
                <a:extLst>
                  <a:ext uri="{FF2B5EF4-FFF2-40B4-BE49-F238E27FC236}">
                    <a16:creationId xmlns:a16="http://schemas.microsoft.com/office/drawing/2014/main" id="{DC80BAD2-B669-F212-7F54-EAF041462C46}"/>
                  </a:ext>
                </a:extLst>
              </p:cNvPr>
              <p:cNvSpPr>
                <a:spLocks/>
              </p:cNvSpPr>
              <p:nvPr/>
            </p:nvSpPr>
            <p:spPr bwMode="auto">
              <a:xfrm>
                <a:off x="5650130" y="2631301"/>
                <a:ext cx="34995" cy="44457"/>
              </a:xfrm>
              <a:custGeom>
                <a:avLst/>
                <a:gdLst>
                  <a:gd name="T0" fmla="*/ 0 w 53"/>
                  <a:gd name="T1" fmla="*/ 1 h 56"/>
                  <a:gd name="T2" fmla="*/ 0 w 53"/>
                  <a:gd name="T3" fmla="*/ 1 h 56"/>
                  <a:gd name="T4" fmla="*/ 0 w 53"/>
                  <a:gd name="T5" fmla="*/ 1 h 56"/>
                  <a:gd name="T6" fmla="*/ 0 w 53"/>
                  <a:gd name="T7" fmla="*/ 0 h 56"/>
                  <a:gd name="T8" fmla="*/ 0 w 53"/>
                  <a:gd name="T9" fmla="*/ 1 h 56"/>
                  <a:gd name="T10" fmla="*/ 0 60000 65536"/>
                  <a:gd name="T11" fmla="*/ 0 60000 65536"/>
                  <a:gd name="T12" fmla="*/ 0 60000 65536"/>
                  <a:gd name="T13" fmla="*/ 0 60000 65536"/>
                  <a:gd name="T14" fmla="*/ 0 60000 65536"/>
                  <a:gd name="T15" fmla="*/ 0 w 53"/>
                  <a:gd name="T16" fmla="*/ 0 h 56"/>
                  <a:gd name="T17" fmla="*/ 53 w 53"/>
                  <a:gd name="T18" fmla="*/ 56 h 56"/>
                </a:gdLst>
                <a:ahLst/>
                <a:cxnLst>
                  <a:cxn ang="T10">
                    <a:pos x="T0" y="T1"/>
                  </a:cxn>
                  <a:cxn ang="T11">
                    <a:pos x="T2" y="T3"/>
                  </a:cxn>
                  <a:cxn ang="T12">
                    <a:pos x="T4" y="T5"/>
                  </a:cxn>
                  <a:cxn ang="T13">
                    <a:pos x="T6" y="T7"/>
                  </a:cxn>
                  <a:cxn ang="T14">
                    <a:pos x="T8" y="T9"/>
                  </a:cxn>
                </a:cxnLst>
                <a:rect l="T15" t="T16" r="T17" b="T18"/>
                <a:pathLst>
                  <a:path w="53" h="56">
                    <a:moveTo>
                      <a:pt x="0" y="29"/>
                    </a:moveTo>
                    <a:lnTo>
                      <a:pt x="39" y="56"/>
                    </a:lnTo>
                    <a:lnTo>
                      <a:pt x="53" y="27"/>
                    </a:lnTo>
                    <a:lnTo>
                      <a:pt x="43" y="0"/>
                    </a:lnTo>
                    <a:lnTo>
                      <a:pt x="0" y="2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1" name="16262371.253683.1254.6255">
                <a:extLst>
                  <a:ext uri="{FF2B5EF4-FFF2-40B4-BE49-F238E27FC236}">
                    <a16:creationId xmlns:a16="http://schemas.microsoft.com/office/drawing/2014/main" id="{369FB062-EA4A-4EED-6C0C-882661E19299}"/>
                  </a:ext>
                </a:extLst>
              </p:cNvPr>
              <p:cNvSpPr>
                <a:spLocks/>
              </p:cNvSpPr>
              <p:nvPr/>
            </p:nvSpPr>
            <p:spPr bwMode="auto">
              <a:xfrm>
                <a:off x="4476674" y="3768283"/>
                <a:ext cx="75374" cy="49056"/>
              </a:xfrm>
              <a:custGeom>
                <a:avLst/>
                <a:gdLst>
                  <a:gd name="T0" fmla="*/ 0 w 113"/>
                  <a:gd name="T1" fmla="*/ 0 h 63"/>
                  <a:gd name="T2" fmla="*/ 0 w 113"/>
                  <a:gd name="T3" fmla="*/ 1 h 63"/>
                  <a:gd name="T4" fmla="*/ 0 w 113"/>
                  <a:gd name="T5" fmla="*/ 1 h 63"/>
                  <a:gd name="T6" fmla="*/ 0 w 113"/>
                  <a:gd name="T7" fmla="*/ 1 h 63"/>
                  <a:gd name="T8" fmla="*/ 0 w 113"/>
                  <a:gd name="T9" fmla="*/ 0 h 63"/>
                  <a:gd name="T10" fmla="*/ 0 60000 65536"/>
                  <a:gd name="T11" fmla="*/ 0 60000 65536"/>
                  <a:gd name="T12" fmla="*/ 0 60000 65536"/>
                  <a:gd name="T13" fmla="*/ 0 60000 65536"/>
                  <a:gd name="T14" fmla="*/ 0 60000 65536"/>
                  <a:gd name="T15" fmla="*/ 0 w 113"/>
                  <a:gd name="T16" fmla="*/ 0 h 63"/>
                  <a:gd name="T17" fmla="*/ 113 w 113"/>
                  <a:gd name="T18" fmla="*/ 63 h 63"/>
                </a:gdLst>
                <a:ahLst/>
                <a:cxnLst>
                  <a:cxn ang="T10">
                    <a:pos x="T0" y="T1"/>
                  </a:cxn>
                  <a:cxn ang="T11">
                    <a:pos x="T2" y="T3"/>
                  </a:cxn>
                  <a:cxn ang="T12">
                    <a:pos x="T4" y="T5"/>
                  </a:cxn>
                  <a:cxn ang="T13">
                    <a:pos x="T6" y="T7"/>
                  </a:cxn>
                  <a:cxn ang="T14">
                    <a:pos x="T8" y="T9"/>
                  </a:cxn>
                </a:cxnLst>
                <a:rect l="T15" t="T16" r="T17" b="T18"/>
                <a:pathLst>
                  <a:path w="113" h="63">
                    <a:moveTo>
                      <a:pt x="0" y="0"/>
                    </a:moveTo>
                    <a:lnTo>
                      <a:pt x="0" y="63"/>
                    </a:lnTo>
                    <a:lnTo>
                      <a:pt x="113" y="42"/>
                    </a:lnTo>
                    <a:lnTo>
                      <a:pt x="63" y="6"/>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2" name="16263380.25342.6251.753.255">
                <a:extLst>
                  <a:ext uri="{FF2B5EF4-FFF2-40B4-BE49-F238E27FC236}">
                    <a16:creationId xmlns:a16="http://schemas.microsoft.com/office/drawing/2014/main" id="{68FC924D-38D5-F106-6454-515E009BE6E9}"/>
                  </a:ext>
                </a:extLst>
              </p:cNvPr>
              <p:cNvSpPr>
                <a:spLocks/>
              </p:cNvSpPr>
              <p:nvPr/>
            </p:nvSpPr>
            <p:spPr bwMode="auto">
              <a:xfrm>
                <a:off x="4066157" y="3909320"/>
                <a:ext cx="52493" cy="27594"/>
              </a:xfrm>
              <a:custGeom>
                <a:avLst/>
                <a:gdLst>
                  <a:gd name="T0" fmla="*/ 0 w 77"/>
                  <a:gd name="T1" fmla="*/ 1 h 34"/>
                  <a:gd name="T2" fmla="*/ 1 w 77"/>
                  <a:gd name="T3" fmla="*/ 0 h 34"/>
                  <a:gd name="T4" fmla="*/ 1 w 77"/>
                  <a:gd name="T5" fmla="*/ 1 h 34"/>
                  <a:gd name="T6" fmla="*/ 0 w 77"/>
                  <a:gd name="T7" fmla="*/ 1 h 34"/>
                  <a:gd name="T8" fmla="*/ 0 60000 65536"/>
                  <a:gd name="T9" fmla="*/ 0 60000 65536"/>
                  <a:gd name="T10" fmla="*/ 0 60000 65536"/>
                  <a:gd name="T11" fmla="*/ 0 60000 65536"/>
                  <a:gd name="T12" fmla="*/ 0 w 77"/>
                  <a:gd name="T13" fmla="*/ 0 h 34"/>
                  <a:gd name="T14" fmla="*/ 77 w 77"/>
                  <a:gd name="T15" fmla="*/ 34 h 34"/>
                </a:gdLst>
                <a:ahLst/>
                <a:cxnLst>
                  <a:cxn ang="T8">
                    <a:pos x="T0" y="T1"/>
                  </a:cxn>
                  <a:cxn ang="T9">
                    <a:pos x="T2" y="T3"/>
                  </a:cxn>
                  <a:cxn ang="T10">
                    <a:pos x="T4" y="T5"/>
                  </a:cxn>
                  <a:cxn ang="T11">
                    <a:pos x="T6" y="T7"/>
                  </a:cxn>
                </a:cxnLst>
                <a:rect l="T12" t="T13" r="T14" b="T15"/>
                <a:pathLst>
                  <a:path w="77" h="34">
                    <a:moveTo>
                      <a:pt x="0" y="26"/>
                    </a:moveTo>
                    <a:lnTo>
                      <a:pt x="22" y="0"/>
                    </a:lnTo>
                    <a:lnTo>
                      <a:pt x="77" y="34"/>
                    </a:lnTo>
                    <a:lnTo>
                      <a:pt x="0" y="2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3" name="16265494.625384.8751.752.55">
                <a:extLst>
                  <a:ext uri="{FF2B5EF4-FFF2-40B4-BE49-F238E27FC236}">
                    <a16:creationId xmlns:a16="http://schemas.microsoft.com/office/drawing/2014/main" id="{BEE07A38-509C-91DD-EB0E-627E4450FD8A}"/>
                  </a:ext>
                </a:extLst>
              </p:cNvPr>
              <p:cNvSpPr>
                <a:spLocks/>
              </p:cNvSpPr>
              <p:nvPr/>
            </p:nvSpPr>
            <p:spPr bwMode="auto">
              <a:xfrm>
                <a:off x="4749904" y="5712128"/>
                <a:ext cx="40378" cy="27594"/>
              </a:xfrm>
              <a:custGeom>
                <a:avLst/>
                <a:gdLst>
                  <a:gd name="T0" fmla="*/ 0 w 60"/>
                  <a:gd name="T1" fmla="*/ 1 h 35"/>
                  <a:gd name="T2" fmla="*/ 1 w 60"/>
                  <a:gd name="T3" fmla="*/ 0 h 35"/>
                  <a:gd name="T4" fmla="*/ 1 w 60"/>
                  <a:gd name="T5" fmla="*/ 1 h 35"/>
                  <a:gd name="T6" fmla="*/ 0 w 60"/>
                  <a:gd name="T7" fmla="*/ 1 h 35"/>
                  <a:gd name="T8" fmla="*/ 0 60000 65536"/>
                  <a:gd name="T9" fmla="*/ 0 60000 65536"/>
                  <a:gd name="T10" fmla="*/ 0 60000 65536"/>
                  <a:gd name="T11" fmla="*/ 0 60000 65536"/>
                  <a:gd name="T12" fmla="*/ 0 w 60"/>
                  <a:gd name="T13" fmla="*/ 0 h 35"/>
                  <a:gd name="T14" fmla="*/ 60 w 60"/>
                  <a:gd name="T15" fmla="*/ 35 h 35"/>
                </a:gdLst>
                <a:ahLst/>
                <a:cxnLst>
                  <a:cxn ang="T8">
                    <a:pos x="T0" y="T1"/>
                  </a:cxn>
                  <a:cxn ang="T9">
                    <a:pos x="T2" y="T3"/>
                  </a:cxn>
                  <a:cxn ang="T10">
                    <a:pos x="T4" y="T5"/>
                  </a:cxn>
                  <a:cxn ang="T11">
                    <a:pos x="T6" y="T7"/>
                  </a:cxn>
                </a:cxnLst>
                <a:rect l="T12" t="T13" r="T14" b="T15"/>
                <a:pathLst>
                  <a:path w="60" h="35">
                    <a:moveTo>
                      <a:pt x="0" y="35"/>
                    </a:moveTo>
                    <a:lnTo>
                      <a:pt x="27" y="0"/>
                    </a:lnTo>
                    <a:lnTo>
                      <a:pt x="60" y="12"/>
                    </a:lnTo>
                    <a:lnTo>
                      <a:pt x="0" y="3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4" name="16266266.875496.12526.515.1255">
                <a:extLst>
                  <a:ext uri="{FF2B5EF4-FFF2-40B4-BE49-F238E27FC236}">
                    <a16:creationId xmlns:a16="http://schemas.microsoft.com/office/drawing/2014/main" id="{D11C4BF2-73A3-473E-24D6-FAFB1CEF3C01}"/>
                  </a:ext>
                </a:extLst>
              </p:cNvPr>
              <p:cNvSpPr>
                <a:spLocks/>
              </p:cNvSpPr>
              <p:nvPr/>
            </p:nvSpPr>
            <p:spPr bwMode="auto">
              <a:xfrm>
                <a:off x="5862794" y="2077887"/>
                <a:ext cx="244965" cy="418511"/>
              </a:xfrm>
              <a:custGeom>
                <a:avLst/>
                <a:gdLst>
                  <a:gd name="T0" fmla="*/ 0 w 363"/>
                  <a:gd name="T1" fmla="*/ 0 h 547"/>
                  <a:gd name="T2" fmla="*/ 1 w 363"/>
                  <a:gd name="T3" fmla="*/ 0 h 547"/>
                  <a:gd name="T4" fmla="*/ 1 w 363"/>
                  <a:gd name="T5" fmla="*/ 0 h 547"/>
                  <a:gd name="T6" fmla="*/ 1 w 363"/>
                  <a:gd name="T7" fmla="*/ 0 h 547"/>
                  <a:gd name="T8" fmla="*/ 1 w 363"/>
                  <a:gd name="T9" fmla="*/ 0 h 547"/>
                  <a:gd name="T10" fmla="*/ 1 w 363"/>
                  <a:gd name="T11" fmla="*/ 0 h 547"/>
                  <a:gd name="T12" fmla="*/ 1 w 363"/>
                  <a:gd name="T13" fmla="*/ 0 h 547"/>
                  <a:gd name="T14" fmla="*/ 1 w 363"/>
                  <a:gd name="T15" fmla="*/ 0 h 547"/>
                  <a:gd name="T16" fmla="*/ 1 w 363"/>
                  <a:gd name="T17" fmla="*/ 0 h 547"/>
                  <a:gd name="T18" fmla="*/ 1 w 363"/>
                  <a:gd name="T19" fmla="*/ 0 h 547"/>
                  <a:gd name="T20" fmla="*/ 1 w 363"/>
                  <a:gd name="T21" fmla="*/ 0 h 547"/>
                  <a:gd name="T22" fmla="*/ 1 w 363"/>
                  <a:gd name="T23" fmla="*/ 0 h 547"/>
                  <a:gd name="T24" fmla="*/ 1 w 363"/>
                  <a:gd name="T25" fmla="*/ 0 h 547"/>
                  <a:gd name="T26" fmla="*/ 1 w 363"/>
                  <a:gd name="T27" fmla="*/ 0 h 547"/>
                  <a:gd name="T28" fmla="*/ 1 w 363"/>
                  <a:gd name="T29" fmla="*/ 0 h 547"/>
                  <a:gd name="T30" fmla="*/ 1 w 363"/>
                  <a:gd name="T31" fmla="*/ 0 h 547"/>
                  <a:gd name="T32" fmla="*/ 1 w 363"/>
                  <a:gd name="T33" fmla="*/ 0 h 547"/>
                  <a:gd name="T34" fmla="*/ 1 w 363"/>
                  <a:gd name="T35" fmla="*/ 0 h 547"/>
                  <a:gd name="T36" fmla="*/ 1 w 363"/>
                  <a:gd name="T37" fmla="*/ 0 h 547"/>
                  <a:gd name="T38" fmla="*/ 1 w 363"/>
                  <a:gd name="T39" fmla="*/ 0 h 547"/>
                  <a:gd name="T40" fmla="*/ 1 w 363"/>
                  <a:gd name="T41" fmla="*/ 0 h 547"/>
                  <a:gd name="T42" fmla="*/ 1 w 363"/>
                  <a:gd name="T43" fmla="*/ 0 h 547"/>
                  <a:gd name="T44" fmla="*/ 1 w 363"/>
                  <a:gd name="T45" fmla="*/ 0 h 547"/>
                  <a:gd name="T46" fmla="*/ 0 w 363"/>
                  <a:gd name="T47" fmla="*/ 0 h 5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63"/>
                  <a:gd name="T73" fmla="*/ 0 h 547"/>
                  <a:gd name="T74" fmla="*/ 363 w 363"/>
                  <a:gd name="T75" fmla="*/ 547 h 5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63" h="547">
                    <a:moveTo>
                      <a:pt x="0" y="57"/>
                    </a:moveTo>
                    <a:lnTo>
                      <a:pt x="24" y="40"/>
                    </a:lnTo>
                    <a:lnTo>
                      <a:pt x="62" y="73"/>
                    </a:lnTo>
                    <a:lnTo>
                      <a:pt x="132" y="79"/>
                    </a:lnTo>
                    <a:lnTo>
                      <a:pt x="172" y="58"/>
                    </a:lnTo>
                    <a:lnTo>
                      <a:pt x="183" y="13"/>
                    </a:lnTo>
                    <a:lnTo>
                      <a:pt x="249" y="0"/>
                    </a:lnTo>
                    <a:lnTo>
                      <a:pt x="285" y="18"/>
                    </a:lnTo>
                    <a:lnTo>
                      <a:pt x="281" y="57"/>
                    </a:lnTo>
                    <a:lnTo>
                      <a:pt x="267" y="95"/>
                    </a:lnTo>
                    <a:lnTo>
                      <a:pt x="314" y="142"/>
                    </a:lnTo>
                    <a:lnTo>
                      <a:pt x="286" y="177"/>
                    </a:lnTo>
                    <a:lnTo>
                      <a:pt x="321" y="237"/>
                    </a:lnTo>
                    <a:lnTo>
                      <a:pt x="307" y="291"/>
                    </a:lnTo>
                    <a:lnTo>
                      <a:pt x="363" y="405"/>
                    </a:lnTo>
                    <a:lnTo>
                      <a:pt x="235" y="512"/>
                    </a:lnTo>
                    <a:lnTo>
                      <a:pt x="81" y="547"/>
                    </a:lnTo>
                    <a:lnTo>
                      <a:pt x="73" y="525"/>
                    </a:lnTo>
                    <a:lnTo>
                      <a:pt x="24" y="508"/>
                    </a:lnTo>
                    <a:lnTo>
                      <a:pt x="17" y="402"/>
                    </a:lnTo>
                    <a:lnTo>
                      <a:pt x="164" y="287"/>
                    </a:lnTo>
                    <a:lnTo>
                      <a:pt x="116" y="230"/>
                    </a:lnTo>
                    <a:lnTo>
                      <a:pt x="98" y="116"/>
                    </a:lnTo>
                    <a:lnTo>
                      <a:pt x="0" y="5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5" name="16267313.25461.37517.7517.3755">
                <a:extLst>
                  <a:ext uri="{FF2B5EF4-FFF2-40B4-BE49-F238E27FC236}">
                    <a16:creationId xmlns:a16="http://schemas.microsoft.com/office/drawing/2014/main" id="{6DD3320B-2CF3-28E9-C011-C0A68FD0A25E}"/>
                  </a:ext>
                </a:extLst>
              </p:cNvPr>
              <p:cNvSpPr>
                <a:spLocks/>
              </p:cNvSpPr>
              <p:nvPr/>
            </p:nvSpPr>
            <p:spPr bwMode="auto">
              <a:xfrm>
                <a:off x="5298835" y="2809129"/>
                <a:ext cx="282652" cy="279007"/>
              </a:xfrm>
              <a:custGeom>
                <a:avLst/>
                <a:gdLst>
                  <a:gd name="T0" fmla="*/ 0 w 421"/>
                  <a:gd name="T1" fmla="*/ 0 h 365"/>
                  <a:gd name="T2" fmla="*/ 0 w 421"/>
                  <a:gd name="T3" fmla="*/ 0 h 365"/>
                  <a:gd name="T4" fmla="*/ 0 w 421"/>
                  <a:gd name="T5" fmla="*/ 0 h 365"/>
                  <a:gd name="T6" fmla="*/ 0 w 421"/>
                  <a:gd name="T7" fmla="*/ 0 h 365"/>
                  <a:gd name="T8" fmla="*/ 0 w 421"/>
                  <a:gd name="T9" fmla="*/ 0 h 365"/>
                  <a:gd name="T10" fmla="*/ 0 w 421"/>
                  <a:gd name="T11" fmla="*/ 0 h 365"/>
                  <a:gd name="T12" fmla="*/ 0 w 421"/>
                  <a:gd name="T13" fmla="*/ 0 h 365"/>
                  <a:gd name="T14" fmla="*/ 0 w 421"/>
                  <a:gd name="T15" fmla="*/ 0 h 365"/>
                  <a:gd name="T16" fmla="*/ 0 w 421"/>
                  <a:gd name="T17" fmla="*/ 0 h 365"/>
                  <a:gd name="T18" fmla="*/ 0 w 421"/>
                  <a:gd name="T19" fmla="*/ 0 h 365"/>
                  <a:gd name="T20" fmla="*/ 0 w 421"/>
                  <a:gd name="T21" fmla="*/ 0 h 365"/>
                  <a:gd name="T22" fmla="*/ 0 w 421"/>
                  <a:gd name="T23" fmla="*/ 0 h 365"/>
                  <a:gd name="T24" fmla="*/ 0 w 421"/>
                  <a:gd name="T25" fmla="*/ 0 h 365"/>
                  <a:gd name="T26" fmla="*/ 0 w 421"/>
                  <a:gd name="T27" fmla="*/ 0 h 365"/>
                  <a:gd name="T28" fmla="*/ 0 w 421"/>
                  <a:gd name="T29" fmla="*/ 0 h 365"/>
                  <a:gd name="T30" fmla="*/ 0 w 421"/>
                  <a:gd name="T31" fmla="*/ 0 h 365"/>
                  <a:gd name="T32" fmla="*/ 0 w 421"/>
                  <a:gd name="T33" fmla="*/ 0 h 365"/>
                  <a:gd name="T34" fmla="*/ 0 w 421"/>
                  <a:gd name="T35" fmla="*/ 0 h 365"/>
                  <a:gd name="T36" fmla="*/ 0 w 421"/>
                  <a:gd name="T37" fmla="*/ 0 h 365"/>
                  <a:gd name="T38" fmla="*/ 0 w 421"/>
                  <a:gd name="T39" fmla="*/ 0 h 365"/>
                  <a:gd name="T40" fmla="*/ 0 w 421"/>
                  <a:gd name="T41" fmla="*/ 0 h 365"/>
                  <a:gd name="T42" fmla="*/ 0 w 421"/>
                  <a:gd name="T43" fmla="*/ 0 h 365"/>
                  <a:gd name="T44" fmla="*/ 0 w 421"/>
                  <a:gd name="T45" fmla="*/ 0 h 365"/>
                  <a:gd name="T46" fmla="*/ 0 w 421"/>
                  <a:gd name="T47" fmla="*/ 0 h 365"/>
                  <a:gd name="T48" fmla="*/ 0 w 421"/>
                  <a:gd name="T49" fmla="*/ 0 h 365"/>
                  <a:gd name="T50" fmla="*/ 0 w 421"/>
                  <a:gd name="T51" fmla="*/ 0 h 365"/>
                  <a:gd name="T52" fmla="*/ 0 w 421"/>
                  <a:gd name="T53" fmla="*/ 0 h 36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21"/>
                  <a:gd name="T82" fmla="*/ 0 h 365"/>
                  <a:gd name="T83" fmla="*/ 421 w 421"/>
                  <a:gd name="T84" fmla="*/ 365 h 36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21" h="365">
                    <a:moveTo>
                      <a:pt x="0" y="111"/>
                    </a:moveTo>
                    <a:lnTo>
                      <a:pt x="14" y="143"/>
                    </a:lnTo>
                    <a:lnTo>
                      <a:pt x="100" y="165"/>
                    </a:lnTo>
                    <a:lnTo>
                      <a:pt x="87" y="183"/>
                    </a:lnTo>
                    <a:lnTo>
                      <a:pt x="118" y="206"/>
                    </a:lnTo>
                    <a:lnTo>
                      <a:pt x="132" y="248"/>
                    </a:lnTo>
                    <a:lnTo>
                      <a:pt x="95" y="325"/>
                    </a:lnTo>
                    <a:lnTo>
                      <a:pt x="199" y="355"/>
                    </a:lnTo>
                    <a:lnTo>
                      <a:pt x="210" y="359"/>
                    </a:lnTo>
                    <a:lnTo>
                      <a:pt x="260" y="365"/>
                    </a:lnTo>
                    <a:lnTo>
                      <a:pt x="260" y="334"/>
                    </a:lnTo>
                    <a:lnTo>
                      <a:pt x="287" y="318"/>
                    </a:lnTo>
                    <a:lnTo>
                      <a:pt x="357" y="337"/>
                    </a:lnTo>
                    <a:lnTo>
                      <a:pt x="401" y="307"/>
                    </a:lnTo>
                    <a:lnTo>
                      <a:pt x="375" y="263"/>
                    </a:lnTo>
                    <a:lnTo>
                      <a:pt x="385" y="220"/>
                    </a:lnTo>
                    <a:lnTo>
                      <a:pt x="352" y="197"/>
                    </a:lnTo>
                    <a:lnTo>
                      <a:pt x="401" y="147"/>
                    </a:lnTo>
                    <a:lnTo>
                      <a:pt x="421" y="92"/>
                    </a:lnTo>
                    <a:lnTo>
                      <a:pt x="359" y="69"/>
                    </a:lnTo>
                    <a:lnTo>
                      <a:pt x="342" y="63"/>
                    </a:lnTo>
                    <a:lnTo>
                      <a:pt x="246" y="0"/>
                    </a:lnTo>
                    <a:lnTo>
                      <a:pt x="213" y="11"/>
                    </a:lnTo>
                    <a:lnTo>
                      <a:pt x="175" y="72"/>
                    </a:lnTo>
                    <a:lnTo>
                      <a:pt x="94" y="61"/>
                    </a:lnTo>
                    <a:lnTo>
                      <a:pt x="106" y="109"/>
                    </a:lnTo>
                    <a:lnTo>
                      <a:pt x="0" y="11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6" name="16268329.75479.53.251.1255">
                <a:extLst>
                  <a:ext uri="{FF2B5EF4-FFF2-40B4-BE49-F238E27FC236}">
                    <a16:creationId xmlns:a16="http://schemas.microsoft.com/office/drawing/2014/main" id="{77AD0E87-510D-05E7-6DEB-060C5EC28E39}"/>
                  </a:ext>
                </a:extLst>
              </p:cNvPr>
              <p:cNvSpPr>
                <a:spLocks/>
              </p:cNvSpPr>
              <p:nvPr/>
            </p:nvSpPr>
            <p:spPr bwMode="auto">
              <a:xfrm>
                <a:off x="5593601" y="3068206"/>
                <a:ext cx="17498" cy="52122"/>
              </a:xfrm>
              <a:custGeom>
                <a:avLst/>
                <a:gdLst>
                  <a:gd name="T0" fmla="*/ 0 w 27"/>
                  <a:gd name="T1" fmla="*/ 0 h 69"/>
                  <a:gd name="T2" fmla="*/ 0 w 27"/>
                  <a:gd name="T3" fmla="*/ 0 h 69"/>
                  <a:gd name="T4" fmla="*/ 0 w 27"/>
                  <a:gd name="T5" fmla="*/ 0 h 69"/>
                  <a:gd name="T6" fmla="*/ 0 w 27"/>
                  <a:gd name="T7" fmla="*/ 0 h 69"/>
                  <a:gd name="T8" fmla="*/ 0 60000 65536"/>
                  <a:gd name="T9" fmla="*/ 0 60000 65536"/>
                  <a:gd name="T10" fmla="*/ 0 60000 65536"/>
                  <a:gd name="T11" fmla="*/ 0 60000 65536"/>
                  <a:gd name="T12" fmla="*/ 0 w 27"/>
                  <a:gd name="T13" fmla="*/ 0 h 69"/>
                  <a:gd name="T14" fmla="*/ 27 w 27"/>
                  <a:gd name="T15" fmla="*/ 69 h 69"/>
                </a:gdLst>
                <a:ahLst/>
                <a:cxnLst>
                  <a:cxn ang="T8">
                    <a:pos x="T0" y="T1"/>
                  </a:cxn>
                  <a:cxn ang="T9">
                    <a:pos x="T2" y="T3"/>
                  </a:cxn>
                  <a:cxn ang="T10">
                    <a:pos x="T4" y="T5"/>
                  </a:cxn>
                  <a:cxn ang="T11">
                    <a:pos x="T6" y="T7"/>
                  </a:cxn>
                </a:cxnLst>
                <a:rect l="T12" t="T13" r="T14" b="T15"/>
                <a:pathLst>
                  <a:path w="27" h="69">
                    <a:moveTo>
                      <a:pt x="0" y="34"/>
                    </a:moveTo>
                    <a:lnTo>
                      <a:pt x="24" y="69"/>
                    </a:lnTo>
                    <a:lnTo>
                      <a:pt x="27" y="0"/>
                    </a:lnTo>
                    <a:lnTo>
                      <a:pt x="0" y="3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7" name="16269394.75392.255.6253.8755">
                <a:extLst>
                  <a:ext uri="{FF2B5EF4-FFF2-40B4-BE49-F238E27FC236}">
                    <a16:creationId xmlns:a16="http://schemas.microsoft.com/office/drawing/2014/main" id="{68E7975C-3630-8197-0905-E0DF9854DCE5}"/>
                  </a:ext>
                </a:extLst>
              </p:cNvPr>
              <p:cNvSpPr>
                <a:spLocks/>
              </p:cNvSpPr>
              <p:nvPr/>
            </p:nvSpPr>
            <p:spPr bwMode="auto">
              <a:xfrm>
                <a:off x="4868349" y="4139269"/>
                <a:ext cx="64606" cy="87380"/>
              </a:xfrm>
              <a:custGeom>
                <a:avLst/>
                <a:gdLst>
                  <a:gd name="T0" fmla="*/ 0 w 96"/>
                  <a:gd name="T1" fmla="*/ 1 h 114"/>
                  <a:gd name="T2" fmla="*/ 1 w 96"/>
                  <a:gd name="T3" fmla="*/ 0 h 114"/>
                  <a:gd name="T4" fmla="*/ 1 w 96"/>
                  <a:gd name="T5" fmla="*/ 1 h 114"/>
                  <a:gd name="T6" fmla="*/ 1 w 96"/>
                  <a:gd name="T7" fmla="*/ 1 h 114"/>
                  <a:gd name="T8" fmla="*/ 0 w 96"/>
                  <a:gd name="T9" fmla="*/ 1 h 114"/>
                  <a:gd name="T10" fmla="*/ 0 60000 65536"/>
                  <a:gd name="T11" fmla="*/ 0 60000 65536"/>
                  <a:gd name="T12" fmla="*/ 0 60000 65536"/>
                  <a:gd name="T13" fmla="*/ 0 60000 65536"/>
                  <a:gd name="T14" fmla="*/ 0 60000 65536"/>
                  <a:gd name="T15" fmla="*/ 0 w 96"/>
                  <a:gd name="T16" fmla="*/ 0 h 114"/>
                  <a:gd name="T17" fmla="*/ 96 w 96"/>
                  <a:gd name="T18" fmla="*/ 114 h 114"/>
                </a:gdLst>
                <a:ahLst/>
                <a:cxnLst>
                  <a:cxn ang="T10">
                    <a:pos x="T0" y="T1"/>
                  </a:cxn>
                  <a:cxn ang="T11">
                    <a:pos x="T2" y="T3"/>
                  </a:cxn>
                  <a:cxn ang="T12">
                    <a:pos x="T4" y="T5"/>
                  </a:cxn>
                  <a:cxn ang="T13">
                    <a:pos x="T6" y="T7"/>
                  </a:cxn>
                  <a:cxn ang="T14">
                    <a:pos x="T8" y="T9"/>
                  </a:cxn>
                </a:cxnLst>
                <a:rect l="T15" t="T16" r="T17" b="T18"/>
                <a:pathLst>
                  <a:path w="96" h="114">
                    <a:moveTo>
                      <a:pt x="0" y="110"/>
                    </a:moveTo>
                    <a:lnTo>
                      <a:pt x="14" y="0"/>
                    </a:lnTo>
                    <a:lnTo>
                      <a:pt x="96" y="49"/>
                    </a:lnTo>
                    <a:lnTo>
                      <a:pt x="47" y="114"/>
                    </a:lnTo>
                    <a:lnTo>
                      <a:pt x="0" y="11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8" name="16270305475.87515.7512.1255">
                <a:extLst>
                  <a:ext uri="{FF2B5EF4-FFF2-40B4-BE49-F238E27FC236}">
                    <a16:creationId xmlns:a16="http://schemas.microsoft.com/office/drawing/2014/main" id="{29EDF9E5-433F-7FB6-DD32-52ACD325BDD5}"/>
                  </a:ext>
                </a:extLst>
              </p:cNvPr>
              <p:cNvSpPr>
                <a:spLocks/>
              </p:cNvSpPr>
              <p:nvPr/>
            </p:nvSpPr>
            <p:spPr bwMode="auto">
              <a:xfrm>
                <a:off x="5534380" y="2678824"/>
                <a:ext cx="195164" cy="248346"/>
              </a:xfrm>
              <a:custGeom>
                <a:avLst/>
                <a:gdLst>
                  <a:gd name="T0" fmla="*/ 0 w 289"/>
                  <a:gd name="T1" fmla="*/ 1 h 323"/>
                  <a:gd name="T2" fmla="*/ 1 w 289"/>
                  <a:gd name="T3" fmla="*/ 1 h 323"/>
                  <a:gd name="T4" fmla="*/ 1 w 289"/>
                  <a:gd name="T5" fmla="*/ 1 h 323"/>
                  <a:gd name="T6" fmla="*/ 1 w 289"/>
                  <a:gd name="T7" fmla="*/ 1 h 323"/>
                  <a:gd name="T8" fmla="*/ 1 w 289"/>
                  <a:gd name="T9" fmla="*/ 1 h 323"/>
                  <a:gd name="T10" fmla="*/ 1 w 289"/>
                  <a:gd name="T11" fmla="*/ 1 h 323"/>
                  <a:gd name="T12" fmla="*/ 1 w 289"/>
                  <a:gd name="T13" fmla="*/ 1 h 323"/>
                  <a:gd name="T14" fmla="*/ 1 w 289"/>
                  <a:gd name="T15" fmla="*/ 1 h 323"/>
                  <a:gd name="T16" fmla="*/ 1 w 289"/>
                  <a:gd name="T17" fmla="*/ 1 h 323"/>
                  <a:gd name="T18" fmla="*/ 1 w 289"/>
                  <a:gd name="T19" fmla="*/ 1 h 323"/>
                  <a:gd name="T20" fmla="*/ 1 w 289"/>
                  <a:gd name="T21" fmla="*/ 1 h 323"/>
                  <a:gd name="T22" fmla="*/ 1 w 289"/>
                  <a:gd name="T23" fmla="*/ 1 h 323"/>
                  <a:gd name="T24" fmla="*/ 1 w 289"/>
                  <a:gd name="T25" fmla="*/ 1 h 323"/>
                  <a:gd name="T26" fmla="*/ 1 w 289"/>
                  <a:gd name="T27" fmla="*/ 1 h 323"/>
                  <a:gd name="T28" fmla="*/ 1 w 289"/>
                  <a:gd name="T29" fmla="*/ 1 h 323"/>
                  <a:gd name="T30" fmla="*/ 1 w 289"/>
                  <a:gd name="T31" fmla="*/ 1 h 323"/>
                  <a:gd name="T32" fmla="*/ 1 w 289"/>
                  <a:gd name="T33" fmla="*/ 0 h 323"/>
                  <a:gd name="T34" fmla="*/ 1 w 289"/>
                  <a:gd name="T35" fmla="*/ 0 h 323"/>
                  <a:gd name="T36" fmla="*/ 1 w 289"/>
                  <a:gd name="T37" fmla="*/ 1 h 323"/>
                  <a:gd name="T38" fmla="*/ 1 w 289"/>
                  <a:gd name="T39" fmla="*/ 1 h 323"/>
                  <a:gd name="T40" fmla="*/ 1 w 289"/>
                  <a:gd name="T41" fmla="*/ 1 h 323"/>
                  <a:gd name="T42" fmla="*/ 1 w 289"/>
                  <a:gd name="T43" fmla="*/ 1 h 323"/>
                  <a:gd name="T44" fmla="*/ 0 w 289"/>
                  <a:gd name="T45" fmla="*/ 1 h 3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89"/>
                  <a:gd name="T70" fmla="*/ 0 h 323"/>
                  <a:gd name="T71" fmla="*/ 289 w 289"/>
                  <a:gd name="T72" fmla="*/ 323 h 32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89" h="323">
                    <a:moveTo>
                      <a:pt x="0" y="133"/>
                    </a:moveTo>
                    <a:lnTo>
                      <a:pt x="1" y="186"/>
                    </a:lnTo>
                    <a:lnTo>
                      <a:pt x="4" y="210"/>
                    </a:lnTo>
                    <a:lnTo>
                      <a:pt x="8" y="238"/>
                    </a:lnTo>
                    <a:lnTo>
                      <a:pt x="70" y="261"/>
                    </a:lnTo>
                    <a:lnTo>
                      <a:pt x="50" y="316"/>
                    </a:lnTo>
                    <a:lnTo>
                      <a:pt x="115" y="323"/>
                    </a:lnTo>
                    <a:lnTo>
                      <a:pt x="228" y="322"/>
                    </a:lnTo>
                    <a:lnTo>
                      <a:pt x="258" y="269"/>
                    </a:lnTo>
                    <a:lnTo>
                      <a:pt x="197" y="203"/>
                    </a:lnTo>
                    <a:lnTo>
                      <a:pt x="270" y="168"/>
                    </a:lnTo>
                    <a:lnTo>
                      <a:pt x="289" y="179"/>
                    </a:lnTo>
                    <a:lnTo>
                      <a:pt x="270" y="49"/>
                    </a:lnTo>
                    <a:lnTo>
                      <a:pt x="217" y="18"/>
                    </a:lnTo>
                    <a:lnTo>
                      <a:pt x="158" y="40"/>
                    </a:lnTo>
                    <a:lnTo>
                      <a:pt x="166" y="25"/>
                    </a:lnTo>
                    <a:lnTo>
                      <a:pt x="115" y="0"/>
                    </a:lnTo>
                    <a:lnTo>
                      <a:pt x="89" y="0"/>
                    </a:lnTo>
                    <a:lnTo>
                      <a:pt x="87" y="71"/>
                    </a:lnTo>
                    <a:lnTo>
                      <a:pt x="57" y="52"/>
                    </a:lnTo>
                    <a:lnTo>
                      <a:pt x="39" y="74"/>
                    </a:lnTo>
                    <a:lnTo>
                      <a:pt x="34" y="117"/>
                    </a:lnTo>
                    <a:lnTo>
                      <a:pt x="0" y="13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49" name="16271332495.62510.258.755">
                <a:extLst>
                  <a:ext uri="{FF2B5EF4-FFF2-40B4-BE49-F238E27FC236}">
                    <a16:creationId xmlns:a16="http://schemas.microsoft.com/office/drawing/2014/main" id="{36FC5126-E864-116A-FA2C-0ABA0618D92B}"/>
                  </a:ext>
                </a:extLst>
              </p:cNvPr>
              <p:cNvSpPr>
                <a:spLocks/>
              </p:cNvSpPr>
              <p:nvPr/>
            </p:nvSpPr>
            <p:spPr bwMode="auto">
              <a:xfrm>
                <a:off x="5853371" y="3104998"/>
                <a:ext cx="141327" cy="160964"/>
              </a:xfrm>
              <a:custGeom>
                <a:avLst/>
                <a:gdLst>
                  <a:gd name="T0" fmla="*/ 0 w 209"/>
                  <a:gd name="T1" fmla="*/ 1 h 209"/>
                  <a:gd name="T2" fmla="*/ 1 w 209"/>
                  <a:gd name="T3" fmla="*/ 1 h 209"/>
                  <a:gd name="T4" fmla="*/ 1 w 209"/>
                  <a:gd name="T5" fmla="*/ 1 h 209"/>
                  <a:gd name="T6" fmla="*/ 1 w 209"/>
                  <a:gd name="T7" fmla="*/ 1 h 209"/>
                  <a:gd name="T8" fmla="*/ 1 w 209"/>
                  <a:gd name="T9" fmla="*/ 0 h 209"/>
                  <a:gd name="T10" fmla="*/ 1 w 209"/>
                  <a:gd name="T11" fmla="*/ 1 h 209"/>
                  <a:gd name="T12" fmla="*/ 1 w 209"/>
                  <a:gd name="T13" fmla="*/ 1 h 209"/>
                  <a:gd name="T14" fmla="*/ 1 w 209"/>
                  <a:gd name="T15" fmla="*/ 1 h 209"/>
                  <a:gd name="T16" fmla="*/ 1 w 209"/>
                  <a:gd name="T17" fmla="*/ 1 h 209"/>
                  <a:gd name="T18" fmla="*/ 1 w 209"/>
                  <a:gd name="T19" fmla="*/ 1 h 209"/>
                  <a:gd name="T20" fmla="*/ 1 w 209"/>
                  <a:gd name="T21" fmla="*/ 1 h 209"/>
                  <a:gd name="T22" fmla="*/ 1 w 209"/>
                  <a:gd name="T23" fmla="*/ 1 h 209"/>
                  <a:gd name="T24" fmla="*/ 1 w 209"/>
                  <a:gd name="T25" fmla="*/ 1 h 209"/>
                  <a:gd name="T26" fmla="*/ 1 w 209"/>
                  <a:gd name="T27" fmla="*/ 1 h 209"/>
                  <a:gd name="T28" fmla="*/ 1 w 209"/>
                  <a:gd name="T29" fmla="*/ 1 h 209"/>
                  <a:gd name="T30" fmla="*/ 1 w 209"/>
                  <a:gd name="T31" fmla="*/ 1 h 209"/>
                  <a:gd name="T32" fmla="*/ 1 w 209"/>
                  <a:gd name="T33" fmla="*/ 1 h 209"/>
                  <a:gd name="T34" fmla="*/ 1 w 209"/>
                  <a:gd name="T35" fmla="*/ 1 h 209"/>
                  <a:gd name="T36" fmla="*/ 1 w 209"/>
                  <a:gd name="T37" fmla="*/ 1 h 209"/>
                  <a:gd name="T38" fmla="*/ 0 w 209"/>
                  <a:gd name="T39" fmla="*/ 1 h 2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9"/>
                  <a:gd name="T61" fmla="*/ 0 h 209"/>
                  <a:gd name="T62" fmla="*/ 209 w 209"/>
                  <a:gd name="T63" fmla="*/ 209 h 20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9" h="209">
                    <a:moveTo>
                      <a:pt x="0" y="83"/>
                    </a:moveTo>
                    <a:lnTo>
                      <a:pt x="29" y="37"/>
                    </a:lnTo>
                    <a:lnTo>
                      <a:pt x="94" y="19"/>
                    </a:lnTo>
                    <a:lnTo>
                      <a:pt x="177" y="20"/>
                    </a:lnTo>
                    <a:lnTo>
                      <a:pt x="209" y="0"/>
                    </a:lnTo>
                    <a:lnTo>
                      <a:pt x="198" y="44"/>
                    </a:lnTo>
                    <a:lnTo>
                      <a:pt x="141" y="34"/>
                    </a:lnTo>
                    <a:lnTo>
                      <a:pt x="112" y="71"/>
                    </a:lnTo>
                    <a:lnTo>
                      <a:pt x="82" y="50"/>
                    </a:lnTo>
                    <a:lnTo>
                      <a:pt x="104" y="105"/>
                    </a:lnTo>
                    <a:lnTo>
                      <a:pt x="77" y="116"/>
                    </a:lnTo>
                    <a:lnTo>
                      <a:pt x="129" y="140"/>
                    </a:lnTo>
                    <a:lnTo>
                      <a:pt x="129" y="162"/>
                    </a:lnTo>
                    <a:lnTo>
                      <a:pt x="86" y="169"/>
                    </a:lnTo>
                    <a:lnTo>
                      <a:pt x="100" y="209"/>
                    </a:lnTo>
                    <a:lnTo>
                      <a:pt x="49" y="195"/>
                    </a:lnTo>
                    <a:lnTo>
                      <a:pt x="34" y="158"/>
                    </a:lnTo>
                    <a:lnTo>
                      <a:pt x="101" y="143"/>
                    </a:lnTo>
                    <a:lnTo>
                      <a:pt x="34" y="137"/>
                    </a:lnTo>
                    <a:lnTo>
                      <a:pt x="0" y="8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0" name="16272343.875500.250.754.1255">
                <a:extLst>
                  <a:ext uri="{FF2B5EF4-FFF2-40B4-BE49-F238E27FC236}">
                    <a16:creationId xmlns:a16="http://schemas.microsoft.com/office/drawing/2014/main" id="{D445B0AE-365B-CDCF-63F6-0532BBD8A0F3}"/>
                  </a:ext>
                </a:extLst>
              </p:cNvPr>
              <p:cNvSpPr>
                <a:spLocks/>
              </p:cNvSpPr>
              <p:nvPr/>
            </p:nvSpPr>
            <p:spPr bwMode="auto">
              <a:xfrm>
                <a:off x="5928746" y="3292024"/>
                <a:ext cx="65952" cy="10730"/>
              </a:xfrm>
              <a:custGeom>
                <a:avLst/>
                <a:gdLst>
                  <a:gd name="T0" fmla="*/ 0 w 98"/>
                  <a:gd name="T1" fmla="*/ 1 h 14"/>
                  <a:gd name="T2" fmla="*/ 1 w 98"/>
                  <a:gd name="T3" fmla="*/ 0 h 14"/>
                  <a:gd name="T4" fmla="*/ 1 w 98"/>
                  <a:gd name="T5" fmla="*/ 1 h 14"/>
                  <a:gd name="T6" fmla="*/ 1 w 98"/>
                  <a:gd name="T7" fmla="*/ 1 h 14"/>
                  <a:gd name="T8" fmla="*/ 0 w 98"/>
                  <a:gd name="T9" fmla="*/ 1 h 14"/>
                  <a:gd name="T10" fmla="*/ 0 60000 65536"/>
                  <a:gd name="T11" fmla="*/ 0 60000 65536"/>
                  <a:gd name="T12" fmla="*/ 0 60000 65536"/>
                  <a:gd name="T13" fmla="*/ 0 60000 65536"/>
                  <a:gd name="T14" fmla="*/ 0 60000 65536"/>
                  <a:gd name="T15" fmla="*/ 0 w 98"/>
                  <a:gd name="T16" fmla="*/ 0 h 14"/>
                  <a:gd name="T17" fmla="*/ 98 w 98"/>
                  <a:gd name="T18" fmla="*/ 14 h 14"/>
                </a:gdLst>
                <a:ahLst/>
                <a:cxnLst>
                  <a:cxn ang="T10">
                    <a:pos x="T0" y="T1"/>
                  </a:cxn>
                  <a:cxn ang="T11">
                    <a:pos x="T2" y="T3"/>
                  </a:cxn>
                  <a:cxn ang="T12">
                    <a:pos x="T4" y="T5"/>
                  </a:cxn>
                  <a:cxn ang="T13">
                    <a:pos x="T6" y="T7"/>
                  </a:cxn>
                  <a:cxn ang="T14">
                    <a:pos x="T8" y="T9"/>
                  </a:cxn>
                </a:cxnLst>
                <a:rect l="T15" t="T16" r="T17" b="T18"/>
                <a:pathLst>
                  <a:path w="98" h="14">
                    <a:moveTo>
                      <a:pt x="0" y="14"/>
                    </a:moveTo>
                    <a:lnTo>
                      <a:pt x="8" y="0"/>
                    </a:lnTo>
                    <a:lnTo>
                      <a:pt x="98" y="14"/>
                    </a:lnTo>
                    <a:lnTo>
                      <a:pt x="32" y="14"/>
                    </a:lnTo>
                    <a:lnTo>
                      <a:pt x="0" y="1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1" name="16274374.5339.6257.1255.3755">
                <a:extLst>
                  <a:ext uri="{FF2B5EF4-FFF2-40B4-BE49-F238E27FC236}">
                    <a16:creationId xmlns:a16="http://schemas.microsoft.com/office/drawing/2014/main" id="{40221119-AED3-9648-5450-15C861AC8EFB}"/>
                  </a:ext>
                </a:extLst>
              </p:cNvPr>
              <p:cNvSpPr>
                <a:spLocks/>
              </p:cNvSpPr>
              <p:nvPr/>
            </p:nvSpPr>
            <p:spPr bwMode="auto">
              <a:xfrm>
                <a:off x="4016356" y="3818872"/>
                <a:ext cx="88834" cy="111908"/>
              </a:xfrm>
              <a:custGeom>
                <a:avLst/>
                <a:gdLst>
                  <a:gd name="T0" fmla="*/ 0 w 132"/>
                  <a:gd name="T1" fmla="*/ 1 h 144"/>
                  <a:gd name="T2" fmla="*/ 1 w 132"/>
                  <a:gd name="T3" fmla="*/ 1 h 144"/>
                  <a:gd name="T4" fmla="*/ 1 w 132"/>
                  <a:gd name="T5" fmla="*/ 1 h 144"/>
                  <a:gd name="T6" fmla="*/ 1 w 132"/>
                  <a:gd name="T7" fmla="*/ 1 h 144"/>
                  <a:gd name="T8" fmla="*/ 1 w 132"/>
                  <a:gd name="T9" fmla="*/ 0 h 144"/>
                  <a:gd name="T10" fmla="*/ 1 w 132"/>
                  <a:gd name="T11" fmla="*/ 1 h 144"/>
                  <a:gd name="T12" fmla="*/ 1 w 132"/>
                  <a:gd name="T13" fmla="*/ 1 h 144"/>
                  <a:gd name="T14" fmla="*/ 1 w 132"/>
                  <a:gd name="T15" fmla="*/ 1 h 144"/>
                  <a:gd name="T16" fmla="*/ 1 w 132"/>
                  <a:gd name="T17" fmla="*/ 1 h 144"/>
                  <a:gd name="T18" fmla="*/ 0 w 132"/>
                  <a:gd name="T19" fmla="*/ 1 h 1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2"/>
                  <a:gd name="T31" fmla="*/ 0 h 144"/>
                  <a:gd name="T32" fmla="*/ 132 w 132"/>
                  <a:gd name="T33" fmla="*/ 144 h 1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2" h="144">
                    <a:moveTo>
                      <a:pt x="0" y="115"/>
                    </a:moveTo>
                    <a:lnTo>
                      <a:pt x="28" y="63"/>
                    </a:lnTo>
                    <a:lnTo>
                      <a:pt x="62" y="62"/>
                    </a:lnTo>
                    <a:lnTo>
                      <a:pt x="26" y="18"/>
                    </a:lnTo>
                    <a:lnTo>
                      <a:pt x="103" y="0"/>
                    </a:lnTo>
                    <a:lnTo>
                      <a:pt x="114" y="68"/>
                    </a:lnTo>
                    <a:lnTo>
                      <a:pt x="132" y="74"/>
                    </a:lnTo>
                    <a:lnTo>
                      <a:pt x="96" y="118"/>
                    </a:lnTo>
                    <a:lnTo>
                      <a:pt x="74" y="144"/>
                    </a:lnTo>
                    <a:lnTo>
                      <a:pt x="0" y="11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2" name="16275390.375382.625116.6255">
                <a:extLst>
                  <a:ext uri="{FF2B5EF4-FFF2-40B4-BE49-F238E27FC236}">
                    <a16:creationId xmlns:a16="http://schemas.microsoft.com/office/drawing/2014/main" id="{D81E6292-B0B2-CD13-086F-0799CA0BC88A}"/>
                  </a:ext>
                </a:extLst>
              </p:cNvPr>
              <p:cNvSpPr>
                <a:spLocks/>
              </p:cNvSpPr>
              <p:nvPr/>
            </p:nvSpPr>
            <p:spPr bwMode="auto">
              <a:xfrm>
                <a:off x="4713563" y="4068750"/>
                <a:ext cx="107677" cy="173229"/>
              </a:xfrm>
              <a:custGeom>
                <a:avLst/>
                <a:gdLst>
                  <a:gd name="T0" fmla="*/ 0 w 160"/>
                  <a:gd name="T1" fmla="*/ 0 h 227"/>
                  <a:gd name="T2" fmla="*/ 1 w 160"/>
                  <a:gd name="T3" fmla="*/ 0 h 227"/>
                  <a:gd name="T4" fmla="*/ 1 w 160"/>
                  <a:gd name="T5" fmla="*/ 0 h 227"/>
                  <a:gd name="T6" fmla="*/ 1 w 160"/>
                  <a:gd name="T7" fmla="*/ 0 h 227"/>
                  <a:gd name="T8" fmla="*/ 1 w 160"/>
                  <a:gd name="T9" fmla="*/ 0 h 227"/>
                  <a:gd name="T10" fmla="*/ 1 w 160"/>
                  <a:gd name="T11" fmla="*/ 0 h 227"/>
                  <a:gd name="T12" fmla="*/ 1 w 160"/>
                  <a:gd name="T13" fmla="*/ 0 h 227"/>
                  <a:gd name="T14" fmla="*/ 1 w 160"/>
                  <a:gd name="T15" fmla="*/ 0 h 227"/>
                  <a:gd name="T16" fmla="*/ 1 w 160"/>
                  <a:gd name="T17" fmla="*/ 0 h 227"/>
                  <a:gd name="T18" fmla="*/ 1 w 160"/>
                  <a:gd name="T19" fmla="*/ 0 h 227"/>
                  <a:gd name="T20" fmla="*/ 1 w 160"/>
                  <a:gd name="T21" fmla="*/ 0 h 227"/>
                  <a:gd name="T22" fmla="*/ 0 w 160"/>
                  <a:gd name="T23" fmla="*/ 0 h 2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0"/>
                  <a:gd name="T37" fmla="*/ 0 h 227"/>
                  <a:gd name="T38" fmla="*/ 160 w 160"/>
                  <a:gd name="T39" fmla="*/ 227 h 2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0" h="227">
                    <a:moveTo>
                      <a:pt x="0" y="75"/>
                    </a:moveTo>
                    <a:lnTo>
                      <a:pt x="24" y="106"/>
                    </a:lnTo>
                    <a:lnTo>
                      <a:pt x="54" y="130"/>
                    </a:lnTo>
                    <a:lnTo>
                      <a:pt x="47" y="193"/>
                    </a:lnTo>
                    <a:lnTo>
                      <a:pt x="65" y="227"/>
                    </a:lnTo>
                    <a:lnTo>
                      <a:pt x="160" y="213"/>
                    </a:lnTo>
                    <a:lnTo>
                      <a:pt x="106" y="143"/>
                    </a:lnTo>
                    <a:lnTo>
                      <a:pt x="143" y="83"/>
                    </a:lnTo>
                    <a:lnTo>
                      <a:pt x="48" y="0"/>
                    </a:lnTo>
                    <a:lnTo>
                      <a:pt x="17" y="24"/>
                    </a:lnTo>
                    <a:lnTo>
                      <a:pt x="29" y="46"/>
                    </a:lnTo>
                    <a:lnTo>
                      <a:pt x="0" y="7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3" name="16276371.25364.3753.1253.6255">
                <a:extLst>
                  <a:ext uri="{FF2B5EF4-FFF2-40B4-BE49-F238E27FC236}">
                    <a16:creationId xmlns:a16="http://schemas.microsoft.com/office/drawing/2014/main" id="{3B227F51-93E8-4BB1-7A36-889F884446CF}"/>
                  </a:ext>
                </a:extLst>
              </p:cNvPr>
              <p:cNvSpPr>
                <a:spLocks/>
              </p:cNvSpPr>
              <p:nvPr/>
            </p:nvSpPr>
            <p:spPr bwMode="auto">
              <a:xfrm>
                <a:off x="4417452" y="3768283"/>
                <a:ext cx="59222" cy="49056"/>
              </a:xfrm>
              <a:custGeom>
                <a:avLst/>
                <a:gdLst>
                  <a:gd name="T0" fmla="*/ 0 w 86"/>
                  <a:gd name="T1" fmla="*/ 1 h 63"/>
                  <a:gd name="T2" fmla="*/ 1 w 86"/>
                  <a:gd name="T3" fmla="*/ 1 h 63"/>
                  <a:gd name="T4" fmla="*/ 1 w 86"/>
                  <a:gd name="T5" fmla="*/ 1 h 63"/>
                  <a:gd name="T6" fmla="*/ 1 w 86"/>
                  <a:gd name="T7" fmla="*/ 0 h 63"/>
                  <a:gd name="T8" fmla="*/ 1 w 86"/>
                  <a:gd name="T9" fmla="*/ 1 h 63"/>
                  <a:gd name="T10" fmla="*/ 0 w 86"/>
                  <a:gd name="T11" fmla="*/ 1 h 63"/>
                  <a:gd name="T12" fmla="*/ 0 60000 65536"/>
                  <a:gd name="T13" fmla="*/ 0 60000 65536"/>
                  <a:gd name="T14" fmla="*/ 0 60000 65536"/>
                  <a:gd name="T15" fmla="*/ 0 60000 65536"/>
                  <a:gd name="T16" fmla="*/ 0 60000 65536"/>
                  <a:gd name="T17" fmla="*/ 0 60000 65536"/>
                  <a:gd name="T18" fmla="*/ 0 w 86"/>
                  <a:gd name="T19" fmla="*/ 0 h 63"/>
                  <a:gd name="T20" fmla="*/ 86 w 86"/>
                  <a:gd name="T21" fmla="*/ 63 h 63"/>
                </a:gdLst>
                <a:ahLst/>
                <a:cxnLst>
                  <a:cxn ang="T12">
                    <a:pos x="T0" y="T1"/>
                  </a:cxn>
                  <a:cxn ang="T13">
                    <a:pos x="T2" y="T3"/>
                  </a:cxn>
                  <a:cxn ang="T14">
                    <a:pos x="T4" y="T5"/>
                  </a:cxn>
                  <a:cxn ang="T15">
                    <a:pos x="T6" y="T7"/>
                  </a:cxn>
                  <a:cxn ang="T16">
                    <a:pos x="T8" y="T9"/>
                  </a:cxn>
                  <a:cxn ang="T17">
                    <a:pos x="T10" y="T11"/>
                  </a:cxn>
                </a:cxnLst>
                <a:rect l="T18" t="T19" r="T20" b="T21"/>
                <a:pathLst>
                  <a:path w="86" h="63">
                    <a:moveTo>
                      <a:pt x="0" y="46"/>
                    </a:moveTo>
                    <a:lnTo>
                      <a:pt x="65" y="45"/>
                    </a:lnTo>
                    <a:lnTo>
                      <a:pt x="34" y="4"/>
                    </a:lnTo>
                    <a:lnTo>
                      <a:pt x="86" y="0"/>
                    </a:lnTo>
                    <a:lnTo>
                      <a:pt x="86" y="63"/>
                    </a:lnTo>
                    <a:lnTo>
                      <a:pt x="0" y="4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4" name="16277377.875343.54.8758.55">
                <a:extLst>
                  <a:ext uri="{FF2B5EF4-FFF2-40B4-BE49-F238E27FC236}">
                    <a16:creationId xmlns:a16="http://schemas.microsoft.com/office/drawing/2014/main" id="{904E0A50-A5A3-2352-A4A8-C87428C53FB4}"/>
                  </a:ext>
                </a:extLst>
              </p:cNvPr>
              <p:cNvSpPr>
                <a:spLocks/>
              </p:cNvSpPr>
              <p:nvPr/>
            </p:nvSpPr>
            <p:spPr bwMode="auto">
              <a:xfrm>
                <a:off x="4080962" y="3872526"/>
                <a:ext cx="137289" cy="76650"/>
              </a:xfrm>
              <a:custGeom>
                <a:avLst/>
                <a:gdLst>
                  <a:gd name="T0" fmla="*/ 0 w 204"/>
                  <a:gd name="T1" fmla="*/ 0 h 101"/>
                  <a:gd name="T2" fmla="*/ 1 w 204"/>
                  <a:gd name="T3" fmla="*/ 0 h 101"/>
                  <a:gd name="T4" fmla="*/ 1 w 204"/>
                  <a:gd name="T5" fmla="*/ 0 h 101"/>
                  <a:gd name="T6" fmla="*/ 1 w 204"/>
                  <a:gd name="T7" fmla="*/ 0 h 101"/>
                  <a:gd name="T8" fmla="*/ 1 w 204"/>
                  <a:gd name="T9" fmla="*/ 0 h 101"/>
                  <a:gd name="T10" fmla="*/ 1 w 204"/>
                  <a:gd name="T11" fmla="*/ 0 h 101"/>
                  <a:gd name="T12" fmla="*/ 1 w 204"/>
                  <a:gd name="T13" fmla="*/ 0 h 101"/>
                  <a:gd name="T14" fmla="*/ 0 w 204"/>
                  <a:gd name="T15" fmla="*/ 0 h 101"/>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101"/>
                  <a:gd name="T26" fmla="*/ 204 w 204"/>
                  <a:gd name="T27" fmla="*/ 101 h 10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101">
                    <a:moveTo>
                      <a:pt x="0" y="50"/>
                    </a:moveTo>
                    <a:lnTo>
                      <a:pt x="36" y="6"/>
                    </a:lnTo>
                    <a:lnTo>
                      <a:pt x="146" y="0"/>
                    </a:lnTo>
                    <a:lnTo>
                      <a:pt x="204" y="31"/>
                    </a:lnTo>
                    <a:lnTo>
                      <a:pt x="156" y="38"/>
                    </a:lnTo>
                    <a:lnTo>
                      <a:pt x="70" y="101"/>
                    </a:lnTo>
                    <a:lnTo>
                      <a:pt x="55" y="84"/>
                    </a:lnTo>
                    <a:lnTo>
                      <a:pt x="0" y="5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5" name="16280340.75521.2514.62513.755">
                <a:extLst>
                  <a:ext uri="{FF2B5EF4-FFF2-40B4-BE49-F238E27FC236}">
                    <a16:creationId xmlns:a16="http://schemas.microsoft.com/office/drawing/2014/main" id="{75B57F89-7BEF-F8BC-256C-CFCD75905C3A}"/>
                  </a:ext>
                </a:extLst>
              </p:cNvPr>
              <p:cNvSpPr>
                <a:spLocks/>
              </p:cNvSpPr>
              <p:nvPr/>
            </p:nvSpPr>
            <p:spPr bwMode="auto">
              <a:xfrm>
                <a:off x="6269274" y="3241435"/>
                <a:ext cx="222083" cy="231482"/>
              </a:xfrm>
              <a:custGeom>
                <a:avLst/>
                <a:gdLst>
                  <a:gd name="T0" fmla="*/ 0 w 331"/>
                  <a:gd name="T1" fmla="*/ 0 h 303"/>
                  <a:gd name="T2" fmla="*/ 0 w 331"/>
                  <a:gd name="T3" fmla="*/ 0 h 303"/>
                  <a:gd name="T4" fmla="*/ 0 w 331"/>
                  <a:gd name="T5" fmla="*/ 0 h 303"/>
                  <a:gd name="T6" fmla="*/ 0 w 331"/>
                  <a:gd name="T7" fmla="*/ 0 h 303"/>
                  <a:gd name="T8" fmla="*/ 0 w 331"/>
                  <a:gd name="T9" fmla="*/ 0 h 303"/>
                  <a:gd name="T10" fmla="*/ 0 w 331"/>
                  <a:gd name="T11" fmla="*/ 0 h 303"/>
                  <a:gd name="T12" fmla="*/ 0 w 331"/>
                  <a:gd name="T13" fmla="*/ 0 h 303"/>
                  <a:gd name="T14" fmla="*/ 0 w 331"/>
                  <a:gd name="T15" fmla="*/ 0 h 303"/>
                  <a:gd name="T16" fmla="*/ 0 w 331"/>
                  <a:gd name="T17" fmla="*/ 0 h 303"/>
                  <a:gd name="T18" fmla="*/ 0 w 331"/>
                  <a:gd name="T19" fmla="*/ 0 h 303"/>
                  <a:gd name="T20" fmla="*/ 0 w 331"/>
                  <a:gd name="T21" fmla="*/ 0 h 303"/>
                  <a:gd name="T22" fmla="*/ 0 w 331"/>
                  <a:gd name="T23" fmla="*/ 0 h 303"/>
                  <a:gd name="T24" fmla="*/ 0 w 331"/>
                  <a:gd name="T25" fmla="*/ 0 h 303"/>
                  <a:gd name="T26" fmla="*/ 0 w 331"/>
                  <a:gd name="T27" fmla="*/ 0 h 303"/>
                  <a:gd name="T28" fmla="*/ 0 w 331"/>
                  <a:gd name="T29" fmla="*/ 0 h 303"/>
                  <a:gd name="T30" fmla="*/ 0 w 331"/>
                  <a:gd name="T31" fmla="*/ 0 h 303"/>
                  <a:gd name="T32" fmla="*/ 0 w 331"/>
                  <a:gd name="T33" fmla="*/ 0 h 30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1"/>
                  <a:gd name="T52" fmla="*/ 0 h 303"/>
                  <a:gd name="T53" fmla="*/ 331 w 331"/>
                  <a:gd name="T54" fmla="*/ 303 h 30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1" h="303">
                    <a:moveTo>
                      <a:pt x="0" y="147"/>
                    </a:moveTo>
                    <a:lnTo>
                      <a:pt x="16" y="190"/>
                    </a:lnTo>
                    <a:lnTo>
                      <a:pt x="166" y="257"/>
                    </a:lnTo>
                    <a:lnTo>
                      <a:pt x="167" y="282"/>
                    </a:lnTo>
                    <a:lnTo>
                      <a:pt x="203" y="298"/>
                    </a:lnTo>
                    <a:lnTo>
                      <a:pt x="264" y="303"/>
                    </a:lnTo>
                    <a:lnTo>
                      <a:pt x="313" y="271"/>
                    </a:lnTo>
                    <a:lnTo>
                      <a:pt x="331" y="268"/>
                    </a:lnTo>
                    <a:lnTo>
                      <a:pt x="287" y="183"/>
                    </a:lnTo>
                    <a:lnTo>
                      <a:pt x="225" y="132"/>
                    </a:lnTo>
                    <a:lnTo>
                      <a:pt x="254" y="52"/>
                    </a:lnTo>
                    <a:lnTo>
                      <a:pt x="228" y="43"/>
                    </a:lnTo>
                    <a:lnTo>
                      <a:pt x="204" y="0"/>
                    </a:lnTo>
                    <a:lnTo>
                      <a:pt x="130" y="3"/>
                    </a:lnTo>
                    <a:lnTo>
                      <a:pt x="93" y="30"/>
                    </a:lnTo>
                    <a:lnTo>
                      <a:pt x="81" y="103"/>
                    </a:lnTo>
                    <a:lnTo>
                      <a:pt x="0" y="14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6" name="16281321.54771816.1255">
                <a:extLst>
                  <a:ext uri="{FF2B5EF4-FFF2-40B4-BE49-F238E27FC236}">
                    <a16:creationId xmlns:a16="http://schemas.microsoft.com/office/drawing/2014/main" id="{FF75F0AA-A3FA-C595-2AD4-E5A8926E99E0}"/>
                  </a:ext>
                </a:extLst>
              </p:cNvPr>
              <p:cNvSpPr>
                <a:spLocks/>
              </p:cNvSpPr>
              <p:nvPr/>
            </p:nvSpPr>
            <p:spPr bwMode="auto">
              <a:xfrm>
                <a:off x="5551876" y="2939434"/>
                <a:ext cx="262462" cy="282071"/>
              </a:xfrm>
              <a:custGeom>
                <a:avLst/>
                <a:gdLst>
                  <a:gd name="T0" fmla="*/ 0 w 392"/>
                  <a:gd name="T1" fmla="*/ 1 h 367"/>
                  <a:gd name="T2" fmla="*/ 0 w 392"/>
                  <a:gd name="T3" fmla="*/ 1 h 367"/>
                  <a:gd name="T4" fmla="*/ 0 w 392"/>
                  <a:gd name="T5" fmla="*/ 1 h 367"/>
                  <a:gd name="T6" fmla="*/ 0 w 392"/>
                  <a:gd name="T7" fmla="*/ 1 h 367"/>
                  <a:gd name="T8" fmla="*/ 0 w 392"/>
                  <a:gd name="T9" fmla="*/ 1 h 367"/>
                  <a:gd name="T10" fmla="*/ 0 w 392"/>
                  <a:gd name="T11" fmla="*/ 0 h 367"/>
                  <a:gd name="T12" fmla="*/ 0 w 392"/>
                  <a:gd name="T13" fmla="*/ 1 h 367"/>
                  <a:gd name="T14" fmla="*/ 0 w 392"/>
                  <a:gd name="T15" fmla="*/ 1 h 367"/>
                  <a:gd name="T16" fmla="*/ 0 w 392"/>
                  <a:gd name="T17" fmla="*/ 1 h 367"/>
                  <a:gd name="T18" fmla="*/ 0 w 392"/>
                  <a:gd name="T19" fmla="*/ 1 h 367"/>
                  <a:gd name="T20" fmla="*/ 0 w 392"/>
                  <a:gd name="T21" fmla="*/ 1 h 367"/>
                  <a:gd name="T22" fmla="*/ 0 w 392"/>
                  <a:gd name="T23" fmla="*/ 1 h 367"/>
                  <a:gd name="T24" fmla="*/ 0 w 392"/>
                  <a:gd name="T25" fmla="*/ 1 h 367"/>
                  <a:gd name="T26" fmla="*/ 0 w 392"/>
                  <a:gd name="T27" fmla="*/ 1 h 367"/>
                  <a:gd name="T28" fmla="*/ 0 w 392"/>
                  <a:gd name="T29" fmla="*/ 1 h 367"/>
                  <a:gd name="T30" fmla="*/ 0 w 392"/>
                  <a:gd name="T31" fmla="*/ 1 h 367"/>
                  <a:gd name="T32" fmla="*/ 0 w 392"/>
                  <a:gd name="T33" fmla="*/ 1 h 367"/>
                  <a:gd name="T34" fmla="*/ 0 w 392"/>
                  <a:gd name="T35" fmla="*/ 1 h 367"/>
                  <a:gd name="T36" fmla="*/ 0 w 392"/>
                  <a:gd name="T37" fmla="*/ 1 h 367"/>
                  <a:gd name="T38" fmla="*/ 0 w 392"/>
                  <a:gd name="T39" fmla="*/ 1 h 367"/>
                  <a:gd name="T40" fmla="*/ 0 w 392"/>
                  <a:gd name="T41" fmla="*/ 1 h 367"/>
                  <a:gd name="T42" fmla="*/ 0 w 392"/>
                  <a:gd name="T43" fmla="*/ 1 h 367"/>
                  <a:gd name="T44" fmla="*/ 0 w 392"/>
                  <a:gd name="T45" fmla="*/ 1 h 36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92"/>
                  <a:gd name="T70" fmla="*/ 0 h 367"/>
                  <a:gd name="T71" fmla="*/ 392 w 392"/>
                  <a:gd name="T72" fmla="*/ 367 h 36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92" h="367">
                    <a:moveTo>
                      <a:pt x="0" y="92"/>
                    </a:moveTo>
                    <a:lnTo>
                      <a:pt x="10" y="49"/>
                    </a:lnTo>
                    <a:lnTo>
                      <a:pt x="57" y="29"/>
                    </a:lnTo>
                    <a:lnTo>
                      <a:pt x="77" y="48"/>
                    </a:lnTo>
                    <a:lnTo>
                      <a:pt x="124" y="9"/>
                    </a:lnTo>
                    <a:lnTo>
                      <a:pt x="176" y="0"/>
                    </a:lnTo>
                    <a:lnTo>
                      <a:pt x="233" y="26"/>
                    </a:lnTo>
                    <a:lnTo>
                      <a:pt x="233" y="66"/>
                    </a:lnTo>
                    <a:lnTo>
                      <a:pt x="187" y="73"/>
                    </a:lnTo>
                    <a:lnTo>
                      <a:pt x="191" y="122"/>
                    </a:lnTo>
                    <a:lnTo>
                      <a:pt x="265" y="205"/>
                    </a:lnTo>
                    <a:lnTo>
                      <a:pt x="312" y="210"/>
                    </a:lnTo>
                    <a:lnTo>
                      <a:pt x="308" y="228"/>
                    </a:lnTo>
                    <a:lnTo>
                      <a:pt x="392" y="282"/>
                    </a:lnTo>
                    <a:lnTo>
                      <a:pt x="334" y="273"/>
                    </a:lnTo>
                    <a:lnTo>
                      <a:pt x="347" y="326"/>
                    </a:lnTo>
                    <a:lnTo>
                      <a:pt x="312" y="367"/>
                    </a:lnTo>
                    <a:lnTo>
                      <a:pt x="297" y="283"/>
                    </a:lnTo>
                    <a:lnTo>
                      <a:pt x="150" y="191"/>
                    </a:lnTo>
                    <a:lnTo>
                      <a:pt x="116" y="130"/>
                    </a:lnTo>
                    <a:lnTo>
                      <a:pt x="69" y="110"/>
                    </a:lnTo>
                    <a:lnTo>
                      <a:pt x="26" y="136"/>
                    </a:lnTo>
                    <a:lnTo>
                      <a:pt x="0" y="9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7" name="16282333.1254794.2525">
                <a:extLst>
                  <a:ext uri="{FF2B5EF4-FFF2-40B4-BE49-F238E27FC236}">
                    <a16:creationId xmlns:a16="http://schemas.microsoft.com/office/drawing/2014/main" id="{D3546045-0D7A-3080-91F5-DC5DFA0083B7}"/>
                  </a:ext>
                </a:extLst>
              </p:cNvPr>
              <p:cNvSpPr>
                <a:spLocks/>
              </p:cNvSpPr>
              <p:nvPr/>
            </p:nvSpPr>
            <p:spPr bwMode="auto">
              <a:xfrm>
                <a:off x="5585525" y="3121861"/>
                <a:ext cx="32302" cy="67452"/>
              </a:xfrm>
              <a:custGeom>
                <a:avLst/>
                <a:gdLst>
                  <a:gd name="T0" fmla="*/ 0 w 48"/>
                  <a:gd name="T1" fmla="*/ 0 h 90"/>
                  <a:gd name="T2" fmla="*/ 1 w 48"/>
                  <a:gd name="T3" fmla="*/ 0 h 90"/>
                  <a:gd name="T4" fmla="*/ 1 w 48"/>
                  <a:gd name="T5" fmla="*/ 0 h 90"/>
                  <a:gd name="T6" fmla="*/ 1 w 48"/>
                  <a:gd name="T7" fmla="*/ 0 h 90"/>
                  <a:gd name="T8" fmla="*/ 1 w 48"/>
                  <a:gd name="T9" fmla="*/ 0 h 90"/>
                  <a:gd name="T10" fmla="*/ 0 w 48"/>
                  <a:gd name="T11" fmla="*/ 0 h 90"/>
                  <a:gd name="T12" fmla="*/ 0 60000 65536"/>
                  <a:gd name="T13" fmla="*/ 0 60000 65536"/>
                  <a:gd name="T14" fmla="*/ 0 60000 65536"/>
                  <a:gd name="T15" fmla="*/ 0 60000 65536"/>
                  <a:gd name="T16" fmla="*/ 0 60000 65536"/>
                  <a:gd name="T17" fmla="*/ 0 60000 65536"/>
                  <a:gd name="T18" fmla="*/ 0 w 48"/>
                  <a:gd name="T19" fmla="*/ 0 h 90"/>
                  <a:gd name="T20" fmla="*/ 48 w 48"/>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48" h="90">
                    <a:moveTo>
                      <a:pt x="0" y="14"/>
                    </a:moveTo>
                    <a:lnTo>
                      <a:pt x="8" y="83"/>
                    </a:lnTo>
                    <a:lnTo>
                      <a:pt x="29" y="90"/>
                    </a:lnTo>
                    <a:lnTo>
                      <a:pt x="48" y="36"/>
                    </a:lnTo>
                    <a:lnTo>
                      <a:pt x="30" y="0"/>
                    </a:lnTo>
                    <a:lnTo>
                      <a:pt x="0" y="1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8" name="16283338.8754852.754.255">
                <a:extLst>
                  <a:ext uri="{FF2B5EF4-FFF2-40B4-BE49-F238E27FC236}">
                    <a16:creationId xmlns:a16="http://schemas.microsoft.com/office/drawing/2014/main" id="{671BFD1B-32AD-432F-B2B8-668BC58F43AE}"/>
                  </a:ext>
                </a:extLst>
              </p:cNvPr>
              <p:cNvSpPr>
                <a:spLocks/>
              </p:cNvSpPr>
              <p:nvPr/>
            </p:nvSpPr>
            <p:spPr bwMode="auto">
              <a:xfrm>
                <a:off x="5682435" y="3212309"/>
                <a:ext cx="68643" cy="44457"/>
              </a:xfrm>
              <a:custGeom>
                <a:avLst/>
                <a:gdLst>
                  <a:gd name="T0" fmla="*/ 0 w 103"/>
                  <a:gd name="T1" fmla="*/ 0 h 60"/>
                  <a:gd name="T2" fmla="*/ 0 w 103"/>
                  <a:gd name="T3" fmla="*/ 0 h 60"/>
                  <a:gd name="T4" fmla="*/ 0 w 103"/>
                  <a:gd name="T5" fmla="*/ 0 h 60"/>
                  <a:gd name="T6" fmla="*/ 0 w 103"/>
                  <a:gd name="T7" fmla="*/ 0 h 60"/>
                  <a:gd name="T8" fmla="*/ 0 60000 65536"/>
                  <a:gd name="T9" fmla="*/ 0 60000 65536"/>
                  <a:gd name="T10" fmla="*/ 0 60000 65536"/>
                  <a:gd name="T11" fmla="*/ 0 60000 65536"/>
                  <a:gd name="T12" fmla="*/ 0 w 103"/>
                  <a:gd name="T13" fmla="*/ 0 h 60"/>
                  <a:gd name="T14" fmla="*/ 103 w 103"/>
                  <a:gd name="T15" fmla="*/ 60 h 60"/>
                </a:gdLst>
                <a:ahLst/>
                <a:cxnLst>
                  <a:cxn ang="T8">
                    <a:pos x="T0" y="T1"/>
                  </a:cxn>
                  <a:cxn ang="T9">
                    <a:pos x="T2" y="T3"/>
                  </a:cxn>
                  <a:cxn ang="T10">
                    <a:pos x="T4" y="T5"/>
                  </a:cxn>
                  <a:cxn ang="T11">
                    <a:pos x="T6" y="T7"/>
                  </a:cxn>
                </a:cxnLst>
                <a:rect l="T12" t="T13" r="T14" b="T15"/>
                <a:pathLst>
                  <a:path w="103" h="60">
                    <a:moveTo>
                      <a:pt x="0" y="14"/>
                    </a:moveTo>
                    <a:lnTo>
                      <a:pt x="87" y="60"/>
                    </a:lnTo>
                    <a:lnTo>
                      <a:pt x="103" y="0"/>
                    </a:lnTo>
                    <a:lnTo>
                      <a:pt x="0" y="1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59" name="16284347647.6254.53.255">
                <a:extLst>
                  <a:ext uri="{FF2B5EF4-FFF2-40B4-BE49-F238E27FC236}">
                    <a16:creationId xmlns:a16="http://schemas.microsoft.com/office/drawing/2014/main" id="{31368526-9FF7-0244-A33B-04852650FF2D}"/>
                  </a:ext>
                </a:extLst>
              </p:cNvPr>
              <p:cNvSpPr>
                <a:spLocks/>
              </p:cNvSpPr>
              <p:nvPr/>
            </p:nvSpPr>
            <p:spPr bwMode="auto">
              <a:xfrm>
                <a:off x="8315133" y="3341080"/>
                <a:ext cx="52493" cy="70519"/>
              </a:xfrm>
              <a:custGeom>
                <a:avLst/>
                <a:gdLst>
                  <a:gd name="T0" fmla="*/ 0 w 78"/>
                  <a:gd name="T1" fmla="*/ 1 h 92"/>
                  <a:gd name="T2" fmla="*/ 1 w 78"/>
                  <a:gd name="T3" fmla="*/ 1 h 92"/>
                  <a:gd name="T4" fmla="*/ 1 w 78"/>
                  <a:gd name="T5" fmla="*/ 1 h 92"/>
                  <a:gd name="T6" fmla="*/ 1 w 78"/>
                  <a:gd name="T7" fmla="*/ 1 h 92"/>
                  <a:gd name="T8" fmla="*/ 1 w 78"/>
                  <a:gd name="T9" fmla="*/ 1 h 92"/>
                  <a:gd name="T10" fmla="*/ 1 w 78"/>
                  <a:gd name="T11" fmla="*/ 1 h 92"/>
                  <a:gd name="T12" fmla="*/ 1 w 78"/>
                  <a:gd name="T13" fmla="*/ 1 h 92"/>
                  <a:gd name="T14" fmla="*/ 1 w 78"/>
                  <a:gd name="T15" fmla="*/ 1 h 92"/>
                  <a:gd name="T16" fmla="*/ 1 w 78"/>
                  <a:gd name="T17" fmla="*/ 0 h 92"/>
                  <a:gd name="T18" fmla="*/ 0 w 78"/>
                  <a:gd name="T19" fmla="*/ 1 h 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
                  <a:gd name="T31" fmla="*/ 0 h 92"/>
                  <a:gd name="T32" fmla="*/ 78 w 78"/>
                  <a:gd name="T33" fmla="*/ 92 h 9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 h="92">
                    <a:moveTo>
                      <a:pt x="0" y="24"/>
                    </a:moveTo>
                    <a:lnTo>
                      <a:pt x="2" y="48"/>
                    </a:lnTo>
                    <a:lnTo>
                      <a:pt x="20" y="24"/>
                    </a:lnTo>
                    <a:lnTo>
                      <a:pt x="28" y="38"/>
                    </a:lnTo>
                    <a:lnTo>
                      <a:pt x="19" y="92"/>
                    </a:lnTo>
                    <a:lnTo>
                      <a:pt x="56" y="90"/>
                    </a:lnTo>
                    <a:lnTo>
                      <a:pt x="78" y="35"/>
                    </a:lnTo>
                    <a:lnTo>
                      <a:pt x="66" y="4"/>
                    </a:lnTo>
                    <a:lnTo>
                      <a:pt x="30" y="0"/>
                    </a:lnTo>
                    <a:lnTo>
                      <a:pt x="0" y="2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0" name="16285332.875649.2514.87515.6255">
                <a:extLst>
                  <a:ext uri="{FF2B5EF4-FFF2-40B4-BE49-F238E27FC236}">
                    <a16:creationId xmlns:a16="http://schemas.microsoft.com/office/drawing/2014/main" id="{D0F90CC0-76E1-1F8B-C565-B3A7CB6EF25D}"/>
                  </a:ext>
                </a:extLst>
              </p:cNvPr>
              <p:cNvSpPr>
                <a:spLocks/>
              </p:cNvSpPr>
              <p:nvPr/>
            </p:nvSpPr>
            <p:spPr bwMode="auto">
              <a:xfrm>
                <a:off x="8342052" y="3118795"/>
                <a:ext cx="253040" cy="233017"/>
              </a:xfrm>
              <a:custGeom>
                <a:avLst/>
                <a:gdLst>
                  <a:gd name="T0" fmla="*/ 0 w 377"/>
                  <a:gd name="T1" fmla="*/ 1 h 303"/>
                  <a:gd name="T2" fmla="*/ 0 w 377"/>
                  <a:gd name="T3" fmla="*/ 1 h 303"/>
                  <a:gd name="T4" fmla="*/ 0 w 377"/>
                  <a:gd name="T5" fmla="*/ 1 h 303"/>
                  <a:gd name="T6" fmla="*/ 0 w 377"/>
                  <a:gd name="T7" fmla="*/ 1 h 303"/>
                  <a:gd name="T8" fmla="*/ 0 w 377"/>
                  <a:gd name="T9" fmla="*/ 1 h 303"/>
                  <a:gd name="T10" fmla="*/ 0 w 377"/>
                  <a:gd name="T11" fmla="*/ 1 h 303"/>
                  <a:gd name="T12" fmla="*/ 0 w 377"/>
                  <a:gd name="T13" fmla="*/ 1 h 303"/>
                  <a:gd name="T14" fmla="*/ 0 w 377"/>
                  <a:gd name="T15" fmla="*/ 1 h 303"/>
                  <a:gd name="T16" fmla="*/ 0 w 377"/>
                  <a:gd name="T17" fmla="*/ 1 h 303"/>
                  <a:gd name="T18" fmla="*/ 0 w 377"/>
                  <a:gd name="T19" fmla="*/ 1 h 303"/>
                  <a:gd name="T20" fmla="*/ 0 w 377"/>
                  <a:gd name="T21" fmla="*/ 0 h 303"/>
                  <a:gd name="T22" fmla="*/ 0 w 377"/>
                  <a:gd name="T23" fmla="*/ 1 h 303"/>
                  <a:gd name="T24" fmla="*/ 0 w 377"/>
                  <a:gd name="T25" fmla="*/ 1 h 303"/>
                  <a:gd name="T26" fmla="*/ 0 w 377"/>
                  <a:gd name="T27" fmla="*/ 1 h 303"/>
                  <a:gd name="T28" fmla="*/ 0 w 377"/>
                  <a:gd name="T29" fmla="*/ 1 h 303"/>
                  <a:gd name="T30" fmla="*/ 0 w 377"/>
                  <a:gd name="T31" fmla="*/ 1 h 303"/>
                  <a:gd name="T32" fmla="*/ 0 w 377"/>
                  <a:gd name="T33" fmla="*/ 1 h 303"/>
                  <a:gd name="T34" fmla="*/ 0 w 377"/>
                  <a:gd name="T35" fmla="*/ 1 h 303"/>
                  <a:gd name="T36" fmla="*/ 0 w 377"/>
                  <a:gd name="T37" fmla="*/ 1 h 303"/>
                  <a:gd name="T38" fmla="*/ 0 w 377"/>
                  <a:gd name="T39" fmla="*/ 1 h 303"/>
                  <a:gd name="T40" fmla="*/ 0 w 377"/>
                  <a:gd name="T41" fmla="*/ 1 h 303"/>
                  <a:gd name="T42" fmla="*/ 0 w 377"/>
                  <a:gd name="T43" fmla="*/ 1 h 303"/>
                  <a:gd name="T44" fmla="*/ 0 w 377"/>
                  <a:gd name="T45" fmla="*/ 1 h 303"/>
                  <a:gd name="T46" fmla="*/ 0 w 377"/>
                  <a:gd name="T47" fmla="*/ 1 h 3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77"/>
                  <a:gd name="T73" fmla="*/ 0 h 303"/>
                  <a:gd name="T74" fmla="*/ 377 w 377"/>
                  <a:gd name="T75" fmla="*/ 303 h 3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77" h="303">
                    <a:moveTo>
                      <a:pt x="0" y="285"/>
                    </a:moveTo>
                    <a:lnTo>
                      <a:pt x="68" y="229"/>
                    </a:lnTo>
                    <a:lnTo>
                      <a:pt x="163" y="229"/>
                    </a:lnTo>
                    <a:lnTo>
                      <a:pt x="201" y="160"/>
                    </a:lnTo>
                    <a:lnTo>
                      <a:pt x="218" y="155"/>
                    </a:lnTo>
                    <a:lnTo>
                      <a:pt x="219" y="181"/>
                    </a:lnTo>
                    <a:lnTo>
                      <a:pt x="262" y="155"/>
                    </a:lnTo>
                    <a:lnTo>
                      <a:pt x="299" y="102"/>
                    </a:lnTo>
                    <a:lnTo>
                      <a:pt x="315" y="16"/>
                    </a:lnTo>
                    <a:lnTo>
                      <a:pt x="344" y="20"/>
                    </a:lnTo>
                    <a:lnTo>
                      <a:pt x="334" y="0"/>
                    </a:lnTo>
                    <a:lnTo>
                      <a:pt x="354" y="2"/>
                    </a:lnTo>
                    <a:lnTo>
                      <a:pt x="377" y="73"/>
                    </a:lnTo>
                    <a:lnTo>
                      <a:pt x="344" y="124"/>
                    </a:lnTo>
                    <a:lnTo>
                      <a:pt x="344" y="171"/>
                    </a:lnTo>
                    <a:lnTo>
                      <a:pt x="321" y="240"/>
                    </a:lnTo>
                    <a:lnTo>
                      <a:pt x="304" y="249"/>
                    </a:lnTo>
                    <a:lnTo>
                      <a:pt x="303" y="223"/>
                    </a:lnTo>
                    <a:lnTo>
                      <a:pt x="248" y="262"/>
                    </a:lnTo>
                    <a:lnTo>
                      <a:pt x="201" y="245"/>
                    </a:lnTo>
                    <a:lnTo>
                      <a:pt x="204" y="277"/>
                    </a:lnTo>
                    <a:lnTo>
                      <a:pt x="164" y="303"/>
                    </a:lnTo>
                    <a:lnTo>
                      <a:pt x="153" y="259"/>
                    </a:lnTo>
                    <a:lnTo>
                      <a:pt x="0" y="28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1" name="16286346.375651.1252.753.255">
                <a:extLst>
                  <a:ext uri="{FF2B5EF4-FFF2-40B4-BE49-F238E27FC236}">
                    <a16:creationId xmlns:a16="http://schemas.microsoft.com/office/drawing/2014/main" id="{A46AA98B-5655-DE82-6CE8-A628AF173919}"/>
                  </a:ext>
                </a:extLst>
              </p:cNvPr>
              <p:cNvSpPr>
                <a:spLocks/>
              </p:cNvSpPr>
              <p:nvPr/>
            </p:nvSpPr>
            <p:spPr bwMode="auto">
              <a:xfrm>
                <a:off x="8371665" y="3330348"/>
                <a:ext cx="52493" cy="42924"/>
              </a:xfrm>
              <a:custGeom>
                <a:avLst/>
                <a:gdLst>
                  <a:gd name="T0" fmla="*/ 0 w 77"/>
                  <a:gd name="T1" fmla="*/ 1 h 55"/>
                  <a:gd name="T2" fmla="*/ 1 w 77"/>
                  <a:gd name="T3" fmla="*/ 1 h 55"/>
                  <a:gd name="T4" fmla="*/ 1 w 77"/>
                  <a:gd name="T5" fmla="*/ 1 h 55"/>
                  <a:gd name="T6" fmla="*/ 1 w 77"/>
                  <a:gd name="T7" fmla="*/ 0 h 55"/>
                  <a:gd name="T8" fmla="*/ 0 w 77"/>
                  <a:gd name="T9" fmla="*/ 1 h 55"/>
                  <a:gd name="T10" fmla="*/ 0 60000 65536"/>
                  <a:gd name="T11" fmla="*/ 0 60000 65536"/>
                  <a:gd name="T12" fmla="*/ 0 60000 65536"/>
                  <a:gd name="T13" fmla="*/ 0 60000 65536"/>
                  <a:gd name="T14" fmla="*/ 0 60000 65536"/>
                  <a:gd name="T15" fmla="*/ 0 w 77"/>
                  <a:gd name="T16" fmla="*/ 0 h 55"/>
                  <a:gd name="T17" fmla="*/ 77 w 77"/>
                  <a:gd name="T18" fmla="*/ 55 h 55"/>
                </a:gdLst>
                <a:ahLst/>
                <a:cxnLst>
                  <a:cxn ang="T10">
                    <a:pos x="T0" y="T1"/>
                  </a:cxn>
                  <a:cxn ang="T11">
                    <a:pos x="T2" y="T3"/>
                  </a:cxn>
                  <a:cxn ang="T12">
                    <a:pos x="T4" y="T5"/>
                  </a:cxn>
                  <a:cxn ang="T13">
                    <a:pos x="T6" y="T7"/>
                  </a:cxn>
                  <a:cxn ang="T14">
                    <a:pos x="T8" y="T9"/>
                  </a:cxn>
                </a:cxnLst>
                <a:rect l="T15" t="T16" r="T17" b="T18"/>
                <a:pathLst>
                  <a:path w="77" h="55">
                    <a:moveTo>
                      <a:pt x="0" y="29"/>
                    </a:moveTo>
                    <a:lnTo>
                      <a:pt x="26" y="55"/>
                    </a:lnTo>
                    <a:lnTo>
                      <a:pt x="70" y="34"/>
                    </a:lnTo>
                    <a:lnTo>
                      <a:pt x="77" y="0"/>
                    </a:lnTo>
                    <a:lnTo>
                      <a:pt x="0" y="2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2" name="16287325661.8757.87585">
                <a:extLst>
                  <a:ext uri="{FF2B5EF4-FFF2-40B4-BE49-F238E27FC236}">
                    <a16:creationId xmlns:a16="http://schemas.microsoft.com/office/drawing/2014/main" id="{44819BA4-CA88-AFDC-0DD6-B327F631A2F2}"/>
                  </a:ext>
                </a:extLst>
              </p:cNvPr>
              <p:cNvSpPr>
                <a:spLocks/>
              </p:cNvSpPr>
              <p:nvPr/>
            </p:nvSpPr>
            <p:spPr bwMode="auto">
              <a:xfrm>
                <a:off x="8545292" y="2994621"/>
                <a:ext cx="130558" cy="124173"/>
              </a:xfrm>
              <a:custGeom>
                <a:avLst/>
                <a:gdLst>
                  <a:gd name="T0" fmla="*/ 0 w 195"/>
                  <a:gd name="T1" fmla="*/ 1 h 162"/>
                  <a:gd name="T2" fmla="*/ 0 w 195"/>
                  <a:gd name="T3" fmla="*/ 1 h 162"/>
                  <a:gd name="T4" fmla="*/ 0 w 195"/>
                  <a:gd name="T5" fmla="*/ 1 h 162"/>
                  <a:gd name="T6" fmla="*/ 0 w 195"/>
                  <a:gd name="T7" fmla="*/ 1 h 162"/>
                  <a:gd name="T8" fmla="*/ 0 w 195"/>
                  <a:gd name="T9" fmla="*/ 1 h 162"/>
                  <a:gd name="T10" fmla="*/ 0 w 195"/>
                  <a:gd name="T11" fmla="*/ 1 h 162"/>
                  <a:gd name="T12" fmla="*/ 0 w 195"/>
                  <a:gd name="T13" fmla="*/ 1 h 162"/>
                  <a:gd name="T14" fmla="*/ 0 w 195"/>
                  <a:gd name="T15" fmla="*/ 1 h 162"/>
                  <a:gd name="T16" fmla="*/ 0 w 195"/>
                  <a:gd name="T17" fmla="*/ 1 h 162"/>
                  <a:gd name="T18" fmla="*/ 0 w 195"/>
                  <a:gd name="T19" fmla="*/ 1 h 162"/>
                  <a:gd name="T20" fmla="*/ 0 w 195"/>
                  <a:gd name="T21" fmla="*/ 0 h 162"/>
                  <a:gd name="T22" fmla="*/ 0 w 195"/>
                  <a:gd name="T23" fmla="*/ 1 h 162"/>
                  <a:gd name="T24" fmla="*/ 0 w 195"/>
                  <a:gd name="T25" fmla="*/ 1 h 162"/>
                  <a:gd name="T26" fmla="*/ 0 w 195"/>
                  <a:gd name="T27" fmla="*/ 1 h 1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5"/>
                  <a:gd name="T43" fmla="*/ 0 h 162"/>
                  <a:gd name="T44" fmla="*/ 195 w 195"/>
                  <a:gd name="T45" fmla="*/ 162 h 1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5" h="162">
                    <a:moveTo>
                      <a:pt x="0" y="116"/>
                    </a:moveTo>
                    <a:lnTo>
                      <a:pt x="8" y="162"/>
                    </a:lnTo>
                    <a:lnTo>
                      <a:pt x="42" y="145"/>
                    </a:lnTo>
                    <a:lnTo>
                      <a:pt x="19" y="117"/>
                    </a:lnTo>
                    <a:lnTo>
                      <a:pt x="113" y="142"/>
                    </a:lnTo>
                    <a:lnTo>
                      <a:pt x="135" y="103"/>
                    </a:lnTo>
                    <a:lnTo>
                      <a:pt x="195" y="91"/>
                    </a:lnTo>
                    <a:lnTo>
                      <a:pt x="174" y="66"/>
                    </a:lnTo>
                    <a:lnTo>
                      <a:pt x="181" y="44"/>
                    </a:lnTo>
                    <a:lnTo>
                      <a:pt x="129" y="48"/>
                    </a:lnTo>
                    <a:lnTo>
                      <a:pt x="67" y="0"/>
                    </a:lnTo>
                    <a:lnTo>
                      <a:pt x="45" y="92"/>
                    </a:lnTo>
                    <a:lnTo>
                      <a:pt x="18" y="87"/>
                    </a:lnTo>
                    <a:lnTo>
                      <a:pt x="0" y="11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3" name="16288330.125640.1259.758.8755">
                <a:extLst>
                  <a:ext uri="{FF2B5EF4-FFF2-40B4-BE49-F238E27FC236}">
                    <a16:creationId xmlns:a16="http://schemas.microsoft.com/office/drawing/2014/main" id="{DA6748CC-5989-9F76-679E-29C02E7F9E53}"/>
                  </a:ext>
                </a:extLst>
              </p:cNvPr>
              <p:cNvSpPr>
                <a:spLocks/>
              </p:cNvSpPr>
              <p:nvPr/>
            </p:nvSpPr>
            <p:spPr bwMode="auto">
              <a:xfrm>
                <a:off x="8193997" y="3074338"/>
                <a:ext cx="142671" cy="154833"/>
              </a:xfrm>
              <a:custGeom>
                <a:avLst/>
                <a:gdLst>
                  <a:gd name="T0" fmla="*/ 0 w 212"/>
                  <a:gd name="T1" fmla="*/ 0 h 204"/>
                  <a:gd name="T2" fmla="*/ 1 w 212"/>
                  <a:gd name="T3" fmla="*/ 0 h 204"/>
                  <a:gd name="T4" fmla="*/ 1 w 212"/>
                  <a:gd name="T5" fmla="*/ 0 h 204"/>
                  <a:gd name="T6" fmla="*/ 1 w 212"/>
                  <a:gd name="T7" fmla="*/ 0 h 204"/>
                  <a:gd name="T8" fmla="*/ 1 w 212"/>
                  <a:gd name="T9" fmla="*/ 0 h 204"/>
                  <a:gd name="T10" fmla="*/ 1 w 212"/>
                  <a:gd name="T11" fmla="*/ 0 h 204"/>
                  <a:gd name="T12" fmla="*/ 1 w 212"/>
                  <a:gd name="T13" fmla="*/ 0 h 204"/>
                  <a:gd name="T14" fmla="*/ 1 w 212"/>
                  <a:gd name="T15" fmla="*/ 0 h 204"/>
                  <a:gd name="T16" fmla="*/ 1 w 212"/>
                  <a:gd name="T17" fmla="*/ 0 h 204"/>
                  <a:gd name="T18" fmla="*/ 1 w 212"/>
                  <a:gd name="T19" fmla="*/ 0 h 204"/>
                  <a:gd name="T20" fmla="*/ 1 w 212"/>
                  <a:gd name="T21" fmla="*/ 0 h 204"/>
                  <a:gd name="T22" fmla="*/ 1 w 212"/>
                  <a:gd name="T23" fmla="*/ 0 h 204"/>
                  <a:gd name="T24" fmla="*/ 1 w 212"/>
                  <a:gd name="T25" fmla="*/ 0 h 204"/>
                  <a:gd name="T26" fmla="*/ 0 w 212"/>
                  <a:gd name="T27" fmla="*/ 0 h 20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2"/>
                  <a:gd name="T43" fmla="*/ 0 h 204"/>
                  <a:gd name="T44" fmla="*/ 212 w 212"/>
                  <a:gd name="T45" fmla="*/ 204 h 20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2" h="204">
                    <a:moveTo>
                      <a:pt x="0" y="116"/>
                    </a:moveTo>
                    <a:lnTo>
                      <a:pt x="38" y="132"/>
                    </a:lnTo>
                    <a:lnTo>
                      <a:pt x="14" y="191"/>
                    </a:lnTo>
                    <a:lnTo>
                      <a:pt x="74" y="204"/>
                    </a:lnTo>
                    <a:lnTo>
                      <a:pt x="136" y="169"/>
                    </a:lnTo>
                    <a:lnTo>
                      <a:pt x="107" y="121"/>
                    </a:lnTo>
                    <a:lnTo>
                      <a:pt x="179" y="79"/>
                    </a:lnTo>
                    <a:lnTo>
                      <a:pt x="212" y="20"/>
                    </a:lnTo>
                    <a:lnTo>
                      <a:pt x="207" y="11"/>
                    </a:lnTo>
                    <a:lnTo>
                      <a:pt x="194" y="0"/>
                    </a:lnTo>
                    <a:lnTo>
                      <a:pt x="131" y="39"/>
                    </a:lnTo>
                    <a:lnTo>
                      <a:pt x="131" y="61"/>
                    </a:lnTo>
                    <a:lnTo>
                      <a:pt x="85" y="54"/>
                    </a:lnTo>
                    <a:lnTo>
                      <a:pt x="0" y="11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4" name="16289366.875606.87513.6259.8755">
                <a:extLst>
                  <a:ext uri="{FF2B5EF4-FFF2-40B4-BE49-F238E27FC236}">
                    <a16:creationId xmlns:a16="http://schemas.microsoft.com/office/drawing/2014/main" id="{C95F4239-F18B-A548-B64E-CE941592B7E3}"/>
                  </a:ext>
                </a:extLst>
              </p:cNvPr>
              <p:cNvSpPr>
                <a:spLocks/>
              </p:cNvSpPr>
              <p:nvPr/>
            </p:nvSpPr>
            <p:spPr bwMode="auto">
              <a:xfrm>
                <a:off x="7654268" y="3653812"/>
                <a:ext cx="160169" cy="214620"/>
              </a:xfrm>
              <a:custGeom>
                <a:avLst/>
                <a:gdLst>
                  <a:gd name="T0" fmla="*/ 0 w 239"/>
                  <a:gd name="T1" fmla="*/ 1 h 279"/>
                  <a:gd name="T2" fmla="*/ 0 w 239"/>
                  <a:gd name="T3" fmla="*/ 1 h 279"/>
                  <a:gd name="T4" fmla="*/ 0 w 239"/>
                  <a:gd name="T5" fmla="*/ 1 h 279"/>
                  <a:gd name="T6" fmla="*/ 0 w 239"/>
                  <a:gd name="T7" fmla="*/ 1 h 279"/>
                  <a:gd name="T8" fmla="*/ 0 w 239"/>
                  <a:gd name="T9" fmla="*/ 1 h 279"/>
                  <a:gd name="T10" fmla="*/ 0 w 239"/>
                  <a:gd name="T11" fmla="*/ 1 h 279"/>
                  <a:gd name="T12" fmla="*/ 0 w 239"/>
                  <a:gd name="T13" fmla="*/ 1 h 279"/>
                  <a:gd name="T14" fmla="*/ 0 w 239"/>
                  <a:gd name="T15" fmla="*/ 1 h 279"/>
                  <a:gd name="T16" fmla="*/ 0 w 239"/>
                  <a:gd name="T17" fmla="*/ 1 h 279"/>
                  <a:gd name="T18" fmla="*/ 0 w 239"/>
                  <a:gd name="T19" fmla="*/ 1 h 279"/>
                  <a:gd name="T20" fmla="*/ 0 w 239"/>
                  <a:gd name="T21" fmla="*/ 1 h 279"/>
                  <a:gd name="T22" fmla="*/ 0 w 239"/>
                  <a:gd name="T23" fmla="*/ 1 h 279"/>
                  <a:gd name="T24" fmla="*/ 0 w 239"/>
                  <a:gd name="T25" fmla="*/ 0 h 279"/>
                  <a:gd name="T26" fmla="*/ 0 w 239"/>
                  <a:gd name="T27" fmla="*/ 1 h 279"/>
                  <a:gd name="T28" fmla="*/ 0 w 239"/>
                  <a:gd name="T29" fmla="*/ 1 h 279"/>
                  <a:gd name="T30" fmla="*/ 0 w 239"/>
                  <a:gd name="T31" fmla="*/ 1 h 279"/>
                  <a:gd name="T32" fmla="*/ 0 w 239"/>
                  <a:gd name="T33" fmla="*/ 1 h 2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9"/>
                  <a:gd name="T52" fmla="*/ 0 h 279"/>
                  <a:gd name="T53" fmla="*/ 239 w 239"/>
                  <a:gd name="T54" fmla="*/ 279 h 27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9" h="279">
                    <a:moveTo>
                      <a:pt x="0" y="60"/>
                    </a:moveTo>
                    <a:lnTo>
                      <a:pt x="32" y="100"/>
                    </a:lnTo>
                    <a:lnTo>
                      <a:pt x="22" y="169"/>
                    </a:lnTo>
                    <a:lnTo>
                      <a:pt x="107" y="139"/>
                    </a:lnTo>
                    <a:lnTo>
                      <a:pt x="143" y="169"/>
                    </a:lnTo>
                    <a:lnTo>
                      <a:pt x="175" y="236"/>
                    </a:lnTo>
                    <a:lnTo>
                      <a:pt x="164" y="279"/>
                    </a:lnTo>
                    <a:lnTo>
                      <a:pt x="239" y="267"/>
                    </a:lnTo>
                    <a:lnTo>
                      <a:pt x="203" y="177"/>
                    </a:lnTo>
                    <a:lnTo>
                      <a:pt x="122" y="111"/>
                    </a:lnTo>
                    <a:lnTo>
                      <a:pt x="144" y="73"/>
                    </a:lnTo>
                    <a:lnTo>
                      <a:pt x="99" y="52"/>
                    </a:lnTo>
                    <a:lnTo>
                      <a:pt x="65" y="0"/>
                    </a:lnTo>
                    <a:lnTo>
                      <a:pt x="44" y="1"/>
                    </a:lnTo>
                    <a:lnTo>
                      <a:pt x="47" y="38"/>
                    </a:lnTo>
                    <a:lnTo>
                      <a:pt x="32" y="29"/>
                    </a:lnTo>
                    <a:lnTo>
                      <a:pt x="0" y="6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5" name="16290315.375475.51.250.755">
                <a:extLst>
                  <a:ext uri="{FF2B5EF4-FFF2-40B4-BE49-F238E27FC236}">
                    <a16:creationId xmlns:a16="http://schemas.microsoft.com/office/drawing/2014/main" id="{FC60D180-C58A-B4E8-DF94-E549535CD4DC}"/>
                  </a:ext>
                </a:extLst>
              </p:cNvPr>
              <p:cNvSpPr>
                <a:spLocks/>
              </p:cNvSpPr>
              <p:nvPr/>
            </p:nvSpPr>
            <p:spPr bwMode="auto">
              <a:xfrm>
                <a:off x="5528995" y="2841321"/>
                <a:ext cx="10767" cy="19929"/>
              </a:xfrm>
              <a:custGeom>
                <a:avLst/>
                <a:gdLst>
                  <a:gd name="T0" fmla="*/ 0 w 17"/>
                  <a:gd name="T1" fmla="*/ 0 h 28"/>
                  <a:gd name="T2" fmla="*/ 0 w 17"/>
                  <a:gd name="T3" fmla="*/ 0 h 28"/>
                  <a:gd name="T4" fmla="*/ 0 w 17"/>
                  <a:gd name="T5" fmla="*/ 0 h 28"/>
                  <a:gd name="T6" fmla="*/ 0 w 17"/>
                  <a:gd name="T7" fmla="*/ 0 h 28"/>
                  <a:gd name="T8" fmla="*/ 0 60000 65536"/>
                  <a:gd name="T9" fmla="*/ 0 60000 65536"/>
                  <a:gd name="T10" fmla="*/ 0 60000 65536"/>
                  <a:gd name="T11" fmla="*/ 0 60000 65536"/>
                  <a:gd name="T12" fmla="*/ 0 w 17"/>
                  <a:gd name="T13" fmla="*/ 0 h 28"/>
                  <a:gd name="T14" fmla="*/ 17 w 17"/>
                  <a:gd name="T15" fmla="*/ 28 h 28"/>
                </a:gdLst>
                <a:ahLst/>
                <a:cxnLst>
                  <a:cxn ang="T8">
                    <a:pos x="T0" y="T1"/>
                  </a:cxn>
                  <a:cxn ang="T9">
                    <a:pos x="T2" y="T3"/>
                  </a:cxn>
                  <a:cxn ang="T10">
                    <a:pos x="T4" y="T5"/>
                  </a:cxn>
                  <a:cxn ang="T11">
                    <a:pos x="T6" y="T7"/>
                  </a:cxn>
                </a:cxnLst>
                <a:rect l="T12" t="T13" r="T14" b="T15"/>
                <a:pathLst>
                  <a:path w="17" h="28">
                    <a:moveTo>
                      <a:pt x="0" y="22"/>
                    </a:moveTo>
                    <a:lnTo>
                      <a:pt x="13" y="0"/>
                    </a:lnTo>
                    <a:lnTo>
                      <a:pt x="17" y="28"/>
                    </a:lnTo>
                    <a:lnTo>
                      <a:pt x="0" y="2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6" name="16291349.125305.253141.8755">
                <a:extLst>
                  <a:ext uri="{FF2B5EF4-FFF2-40B4-BE49-F238E27FC236}">
                    <a16:creationId xmlns:a16="http://schemas.microsoft.com/office/drawing/2014/main" id="{7594B610-091A-3D0F-E315-9A4C74EF8616}"/>
                  </a:ext>
                </a:extLst>
              </p:cNvPr>
              <p:cNvSpPr>
                <a:spLocks/>
              </p:cNvSpPr>
              <p:nvPr/>
            </p:nvSpPr>
            <p:spPr bwMode="auto">
              <a:xfrm>
                <a:off x="3460475" y="3420291"/>
                <a:ext cx="678364" cy="487494"/>
              </a:xfrm>
              <a:custGeom>
                <a:avLst/>
                <a:gdLst>
                  <a:gd name="T0" fmla="*/ 0 w 1007"/>
                  <a:gd name="T1" fmla="*/ 0 h 637"/>
                  <a:gd name="T2" fmla="*/ 1 w 1007"/>
                  <a:gd name="T3" fmla="*/ 0 h 637"/>
                  <a:gd name="T4" fmla="*/ 1 w 1007"/>
                  <a:gd name="T5" fmla="*/ 0 h 637"/>
                  <a:gd name="T6" fmla="*/ 1 w 1007"/>
                  <a:gd name="T7" fmla="*/ 0 h 637"/>
                  <a:gd name="T8" fmla="*/ 1 w 1007"/>
                  <a:gd name="T9" fmla="*/ 0 h 637"/>
                  <a:gd name="T10" fmla="*/ 1 w 1007"/>
                  <a:gd name="T11" fmla="*/ 0 h 637"/>
                  <a:gd name="T12" fmla="*/ 1 w 1007"/>
                  <a:gd name="T13" fmla="*/ 0 h 637"/>
                  <a:gd name="T14" fmla="*/ 1 w 1007"/>
                  <a:gd name="T15" fmla="*/ 0 h 637"/>
                  <a:gd name="T16" fmla="*/ 1 w 1007"/>
                  <a:gd name="T17" fmla="*/ 0 h 637"/>
                  <a:gd name="T18" fmla="*/ 1 w 1007"/>
                  <a:gd name="T19" fmla="*/ 0 h 637"/>
                  <a:gd name="T20" fmla="*/ 1 w 1007"/>
                  <a:gd name="T21" fmla="*/ 0 h 637"/>
                  <a:gd name="T22" fmla="*/ 1 w 1007"/>
                  <a:gd name="T23" fmla="*/ 0 h 637"/>
                  <a:gd name="T24" fmla="*/ 1 w 1007"/>
                  <a:gd name="T25" fmla="*/ 0 h 637"/>
                  <a:gd name="T26" fmla="*/ 1 w 1007"/>
                  <a:gd name="T27" fmla="*/ 0 h 637"/>
                  <a:gd name="T28" fmla="*/ 1 w 1007"/>
                  <a:gd name="T29" fmla="*/ 0 h 637"/>
                  <a:gd name="T30" fmla="*/ 1 w 1007"/>
                  <a:gd name="T31" fmla="*/ 0 h 637"/>
                  <a:gd name="T32" fmla="*/ 1 w 1007"/>
                  <a:gd name="T33" fmla="*/ 0 h 637"/>
                  <a:gd name="T34" fmla="*/ 1 w 1007"/>
                  <a:gd name="T35" fmla="*/ 0 h 637"/>
                  <a:gd name="T36" fmla="*/ 1 w 1007"/>
                  <a:gd name="T37" fmla="*/ 0 h 637"/>
                  <a:gd name="T38" fmla="*/ 1 w 1007"/>
                  <a:gd name="T39" fmla="*/ 0 h 637"/>
                  <a:gd name="T40" fmla="*/ 1 w 1007"/>
                  <a:gd name="T41" fmla="*/ 0 h 637"/>
                  <a:gd name="T42" fmla="*/ 1 w 1007"/>
                  <a:gd name="T43" fmla="*/ 0 h 637"/>
                  <a:gd name="T44" fmla="*/ 1 w 1007"/>
                  <a:gd name="T45" fmla="*/ 0 h 637"/>
                  <a:gd name="T46" fmla="*/ 1 w 1007"/>
                  <a:gd name="T47" fmla="*/ 0 h 637"/>
                  <a:gd name="T48" fmla="*/ 1 w 1007"/>
                  <a:gd name="T49" fmla="*/ 0 h 637"/>
                  <a:gd name="T50" fmla="*/ 1 w 1007"/>
                  <a:gd name="T51" fmla="*/ 0 h 637"/>
                  <a:gd name="T52" fmla="*/ 1 w 1007"/>
                  <a:gd name="T53" fmla="*/ 0 h 637"/>
                  <a:gd name="T54" fmla="*/ 1 w 1007"/>
                  <a:gd name="T55" fmla="*/ 0 h 637"/>
                  <a:gd name="T56" fmla="*/ 1 w 1007"/>
                  <a:gd name="T57" fmla="*/ 0 h 637"/>
                  <a:gd name="T58" fmla="*/ 1 w 1007"/>
                  <a:gd name="T59" fmla="*/ 0 h 637"/>
                  <a:gd name="T60" fmla="*/ 1 w 1007"/>
                  <a:gd name="T61" fmla="*/ 0 h 637"/>
                  <a:gd name="T62" fmla="*/ 1 w 1007"/>
                  <a:gd name="T63" fmla="*/ 0 h 637"/>
                  <a:gd name="T64" fmla="*/ 1 w 1007"/>
                  <a:gd name="T65" fmla="*/ 0 h 637"/>
                  <a:gd name="T66" fmla="*/ 1 w 1007"/>
                  <a:gd name="T67" fmla="*/ 0 h 637"/>
                  <a:gd name="T68" fmla="*/ 1 w 1007"/>
                  <a:gd name="T69" fmla="*/ 0 h 637"/>
                  <a:gd name="T70" fmla="*/ 1 w 1007"/>
                  <a:gd name="T71" fmla="*/ 0 h 637"/>
                  <a:gd name="T72" fmla="*/ 1 w 1007"/>
                  <a:gd name="T73" fmla="*/ 0 h 637"/>
                  <a:gd name="T74" fmla="*/ 1 w 1007"/>
                  <a:gd name="T75" fmla="*/ 0 h 637"/>
                  <a:gd name="T76" fmla="*/ 1 w 1007"/>
                  <a:gd name="T77" fmla="*/ 0 h 637"/>
                  <a:gd name="T78" fmla="*/ 1 w 1007"/>
                  <a:gd name="T79" fmla="*/ 0 h 637"/>
                  <a:gd name="T80" fmla="*/ 1 w 1007"/>
                  <a:gd name="T81" fmla="*/ 0 h 637"/>
                  <a:gd name="T82" fmla="*/ 1 w 1007"/>
                  <a:gd name="T83" fmla="*/ 0 h 637"/>
                  <a:gd name="T84" fmla="*/ 1 w 1007"/>
                  <a:gd name="T85" fmla="*/ 0 h 637"/>
                  <a:gd name="T86" fmla="*/ 1 w 1007"/>
                  <a:gd name="T87" fmla="*/ 0 h 637"/>
                  <a:gd name="T88" fmla="*/ 1 w 1007"/>
                  <a:gd name="T89" fmla="*/ 0 h 637"/>
                  <a:gd name="T90" fmla="*/ 0 w 1007"/>
                  <a:gd name="T91" fmla="*/ 0 h 63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007"/>
                  <a:gd name="T139" fmla="*/ 0 h 637"/>
                  <a:gd name="T140" fmla="*/ 1007 w 1007"/>
                  <a:gd name="T141" fmla="*/ 637 h 63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007" h="637">
                    <a:moveTo>
                      <a:pt x="0" y="7"/>
                    </a:moveTo>
                    <a:lnTo>
                      <a:pt x="48" y="106"/>
                    </a:lnTo>
                    <a:lnTo>
                      <a:pt x="105" y="152"/>
                    </a:lnTo>
                    <a:lnTo>
                      <a:pt x="100" y="179"/>
                    </a:lnTo>
                    <a:lnTo>
                      <a:pt x="72" y="185"/>
                    </a:lnTo>
                    <a:lnTo>
                      <a:pt x="135" y="207"/>
                    </a:lnTo>
                    <a:lnTo>
                      <a:pt x="169" y="252"/>
                    </a:lnTo>
                    <a:lnTo>
                      <a:pt x="166" y="289"/>
                    </a:lnTo>
                    <a:lnTo>
                      <a:pt x="239" y="351"/>
                    </a:lnTo>
                    <a:lnTo>
                      <a:pt x="256" y="330"/>
                    </a:lnTo>
                    <a:lnTo>
                      <a:pt x="85" y="91"/>
                    </a:lnTo>
                    <a:lnTo>
                      <a:pt x="74" y="26"/>
                    </a:lnTo>
                    <a:lnTo>
                      <a:pt x="111" y="43"/>
                    </a:lnTo>
                    <a:lnTo>
                      <a:pt x="175" y="147"/>
                    </a:lnTo>
                    <a:lnTo>
                      <a:pt x="264" y="226"/>
                    </a:lnTo>
                    <a:lnTo>
                      <a:pt x="261" y="256"/>
                    </a:lnTo>
                    <a:lnTo>
                      <a:pt x="385" y="363"/>
                    </a:lnTo>
                    <a:lnTo>
                      <a:pt x="400" y="409"/>
                    </a:lnTo>
                    <a:lnTo>
                      <a:pt x="385" y="439"/>
                    </a:lnTo>
                    <a:lnTo>
                      <a:pt x="414" y="480"/>
                    </a:lnTo>
                    <a:lnTo>
                      <a:pt x="653" y="592"/>
                    </a:lnTo>
                    <a:lnTo>
                      <a:pt x="757" y="584"/>
                    </a:lnTo>
                    <a:lnTo>
                      <a:pt x="826" y="637"/>
                    </a:lnTo>
                    <a:lnTo>
                      <a:pt x="854" y="585"/>
                    </a:lnTo>
                    <a:lnTo>
                      <a:pt x="888" y="584"/>
                    </a:lnTo>
                    <a:lnTo>
                      <a:pt x="852" y="540"/>
                    </a:lnTo>
                    <a:lnTo>
                      <a:pt x="929" y="522"/>
                    </a:lnTo>
                    <a:lnTo>
                      <a:pt x="957" y="502"/>
                    </a:lnTo>
                    <a:lnTo>
                      <a:pt x="966" y="491"/>
                    </a:lnTo>
                    <a:lnTo>
                      <a:pt x="975" y="516"/>
                    </a:lnTo>
                    <a:lnTo>
                      <a:pt x="1007" y="410"/>
                    </a:lnTo>
                    <a:lnTo>
                      <a:pt x="965" y="394"/>
                    </a:lnTo>
                    <a:lnTo>
                      <a:pt x="889" y="410"/>
                    </a:lnTo>
                    <a:lnTo>
                      <a:pt x="849" y="502"/>
                    </a:lnTo>
                    <a:lnTo>
                      <a:pt x="752" y="512"/>
                    </a:lnTo>
                    <a:lnTo>
                      <a:pt x="712" y="489"/>
                    </a:lnTo>
                    <a:lnTo>
                      <a:pt x="647" y="376"/>
                    </a:lnTo>
                    <a:lnTo>
                      <a:pt x="645" y="289"/>
                    </a:lnTo>
                    <a:lnTo>
                      <a:pt x="667" y="247"/>
                    </a:lnTo>
                    <a:lnTo>
                      <a:pt x="601" y="225"/>
                    </a:lnTo>
                    <a:lnTo>
                      <a:pt x="517" y="105"/>
                    </a:lnTo>
                    <a:lnTo>
                      <a:pt x="447" y="131"/>
                    </a:lnTo>
                    <a:lnTo>
                      <a:pt x="355" y="32"/>
                    </a:lnTo>
                    <a:lnTo>
                      <a:pt x="204" y="53"/>
                    </a:lnTo>
                    <a:lnTo>
                      <a:pt x="77" y="0"/>
                    </a:lnTo>
                    <a:lnTo>
                      <a:pt x="0" y="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7" name="16292310.875589.521.62543.8755">
                <a:extLst>
                  <a:ext uri="{FF2B5EF4-FFF2-40B4-BE49-F238E27FC236}">
                    <a16:creationId xmlns:a16="http://schemas.microsoft.com/office/drawing/2014/main" id="{6E724BBB-3BBE-F622-DEE6-C3B19642C95E}"/>
                  </a:ext>
                </a:extLst>
              </p:cNvPr>
              <p:cNvSpPr>
                <a:spLocks/>
              </p:cNvSpPr>
              <p:nvPr/>
            </p:nvSpPr>
            <p:spPr bwMode="auto">
              <a:xfrm>
                <a:off x="7372962" y="2772336"/>
                <a:ext cx="712012" cy="340326"/>
              </a:xfrm>
              <a:custGeom>
                <a:avLst/>
                <a:gdLst>
                  <a:gd name="T0" fmla="*/ 0 w 1058"/>
                  <a:gd name="T1" fmla="*/ 1 h 444"/>
                  <a:gd name="T2" fmla="*/ 1 w 1058"/>
                  <a:gd name="T3" fmla="*/ 1 h 444"/>
                  <a:gd name="T4" fmla="*/ 1 w 1058"/>
                  <a:gd name="T5" fmla="*/ 1 h 444"/>
                  <a:gd name="T6" fmla="*/ 1 w 1058"/>
                  <a:gd name="T7" fmla="*/ 1 h 444"/>
                  <a:gd name="T8" fmla="*/ 1 w 1058"/>
                  <a:gd name="T9" fmla="*/ 1 h 444"/>
                  <a:gd name="T10" fmla="*/ 1 w 1058"/>
                  <a:gd name="T11" fmla="*/ 1 h 444"/>
                  <a:gd name="T12" fmla="*/ 1 w 1058"/>
                  <a:gd name="T13" fmla="*/ 1 h 444"/>
                  <a:gd name="T14" fmla="*/ 1 w 1058"/>
                  <a:gd name="T15" fmla="*/ 1 h 444"/>
                  <a:gd name="T16" fmla="*/ 1 w 1058"/>
                  <a:gd name="T17" fmla="*/ 1 h 444"/>
                  <a:gd name="T18" fmla="*/ 1 w 1058"/>
                  <a:gd name="T19" fmla="*/ 1 h 444"/>
                  <a:gd name="T20" fmla="*/ 1 w 1058"/>
                  <a:gd name="T21" fmla="*/ 1 h 444"/>
                  <a:gd name="T22" fmla="*/ 1 w 1058"/>
                  <a:gd name="T23" fmla="*/ 1 h 444"/>
                  <a:gd name="T24" fmla="*/ 1 w 1058"/>
                  <a:gd name="T25" fmla="*/ 1 h 444"/>
                  <a:gd name="T26" fmla="*/ 1 w 1058"/>
                  <a:gd name="T27" fmla="*/ 1 h 444"/>
                  <a:gd name="T28" fmla="*/ 1 w 1058"/>
                  <a:gd name="T29" fmla="*/ 1 h 444"/>
                  <a:gd name="T30" fmla="*/ 1 w 1058"/>
                  <a:gd name="T31" fmla="*/ 1 h 444"/>
                  <a:gd name="T32" fmla="*/ 1 w 1058"/>
                  <a:gd name="T33" fmla="*/ 1 h 444"/>
                  <a:gd name="T34" fmla="*/ 1 w 1058"/>
                  <a:gd name="T35" fmla="*/ 1 h 444"/>
                  <a:gd name="T36" fmla="*/ 1 w 1058"/>
                  <a:gd name="T37" fmla="*/ 1 h 444"/>
                  <a:gd name="T38" fmla="*/ 1 w 1058"/>
                  <a:gd name="T39" fmla="*/ 1 h 444"/>
                  <a:gd name="T40" fmla="*/ 1 w 1058"/>
                  <a:gd name="T41" fmla="*/ 1 h 444"/>
                  <a:gd name="T42" fmla="*/ 1 w 1058"/>
                  <a:gd name="T43" fmla="*/ 1 h 444"/>
                  <a:gd name="T44" fmla="*/ 1 w 1058"/>
                  <a:gd name="T45" fmla="*/ 1 h 444"/>
                  <a:gd name="T46" fmla="*/ 1 w 1058"/>
                  <a:gd name="T47" fmla="*/ 0 h 444"/>
                  <a:gd name="T48" fmla="*/ 1 w 1058"/>
                  <a:gd name="T49" fmla="*/ 1 h 444"/>
                  <a:gd name="T50" fmla="*/ 1 w 1058"/>
                  <a:gd name="T51" fmla="*/ 1 h 444"/>
                  <a:gd name="T52" fmla="*/ 1 w 1058"/>
                  <a:gd name="T53" fmla="*/ 1 h 444"/>
                  <a:gd name="T54" fmla="*/ 0 w 1058"/>
                  <a:gd name="T55" fmla="*/ 1 h 4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58"/>
                  <a:gd name="T85" fmla="*/ 0 h 444"/>
                  <a:gd name="T86" fmla="*/ 1058 w 1058"/>
                  <a:gd name="T87" fmla="*/ 444 h 4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58" h="444">
                    <a:moveTo>
                      <a:pt x="0" y="139"/>
                    </a:moveTo>
                    <a:lnTo>
                      <a:pt x="34" y="184"/>
                    </a:lnTo>
                    <a:lnTo>
                      <a:pt x="81" y="201"/>
                    </a:lnTo>
                    <a:lnTo>
                      <a:pt x="100" y="296"/>
                    </a:lnTo>
                    <a:lnTo>
                      <a:pt x="247" y="333"/>
                    </a:lnTo>
                    <a:lnTo>
                      <a:pt x="309" y="397"/>
                    </a:lnTo>
                    <a:lnTo>
                      <a:pt x="430" y="393"/>
                    </a:lnTo>
                    <a:lnTo>
                      <a:pt x="567" y="444"/>
                    </a:lnTo>
                    <a:lnTo>
                      <a:pt x="750" y="397"/>
                    </a:lnTo>
                    <a:lnTo>
                      <a:pt x="806" y="360"/>
                    </a:lnTo>
                    <a:lnTo>
                      <a:pt x="806" y="309"/>
                    </a:lnTo>
                    <a:lnTo>
                      <a:pt x="857" y="315"/>
                    </a:lnTo>
                    <a:lnTo>
                      <a:pt x="968" y="241"/>
                    </a:lnTo>
                    <a:lnTo>
                      <a:pt x="1058" y="236"/>
                    </a:lnTo>
                    <a:lnTo>
                      <a:pt x="1015" y="180"/>
                    </a:lnTo>
                    <a:lnTo>
                      <a:pt x="930" y="195"/>
                    </a:lnTo>
                    <a:lnTo>
                      <a:pt x="929" y="132"/>
                    </a:lnTo>
                    <a:lnTo>
                      <a:pt x="951" y="98"/>
                    </a:lnTo>
                    <a:lnTo>
                      <a:pt x="890" y="88"/>
                    </a:lnTo>
                    <a:lnTo>
                      <a:pt x="732" y="126"/>
                    </a:lnTo>
                    <a:lnTo>
                      <a:pt x="593" y="70"/>
                    </a:lnTo>
                    <a:lnTo>
                      <a:pt x="504" y="78"/>
                    </a:lnTo>
                    <a:lnTo>
                      <a:pt x="471" y="32"/>
                    </a:lnTo>
                    <a:lnTo>
                      <a:pt x="383" y="0"/>
                    </a:lnTo>
                    <a:lnTo>
                      <a:pt x="336" y="33"/>
                    </a:lnTo>
                    <a:lnTo>
                      <a:pt x="334" y="96"/>
                    </a:lnTo>
                    <a:lnTo>
                      <a:pt x="133" y="69"/>
                    </a:lnTo>
                    <a:lnTo>
                      <a:pt x="0" y="13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8" name="16293362.75539.8751410.6255">
                <a:extLst>
                  <a:ext uri="{FF2B5EF4-FFF2-40B4-BE49-F238E27FC236}">
                    <a16:creationId xmlns:a16="http://schemas.microsoft.com/office/drawing/2014/main" id="{1347C98F-E08A-D842-31DF-70BF934B0A56}"/>
                  </a:ext>
                </a:extLst>
              </p:cNvPr>
              <p:cNvSpPr>
                <a:spLocks/>
              </p:cNvSpPr>
              <p:nvPr/>
            </p:nvSpPr>
            <p:spPr bwMode="auto">
              <a:xfrm>
                <a:off x="6569422" y="3587892"/>
                <a:ext cx="172282" cy="222287"/>
              </a:xfrm>
              <a:custGeom>
                <a:avLst/>
                <a:gdLst>
                  <a:gd name="T0" fmla="*/ 0 w 256"/>
                  <a:gd name="T1" fmla="*/ 1 h 288"/>
                  <a:gd name="T2" fmla="*/ 1 w 256"/>
                  <a:gd name="T3" fmla="*/ 1 h 288"/>
                  <a:gd name="T4" fmla="*/ 1 w 256"/>
                  <a:gd name="T5" fmla="*/ 1 h 288"/>
                  <a:gd name="T6" fmla="*/ 1 w 256"/>
                  <a:gd name="T7" fmla="*/ 1 h 288"/>
                  <a:gd name="T8" fmla="*/ 1 w 256"/>
                  <a:gd name="T9" fmla="*/ 1 h 288"/>
                  <a:gd name="T10" fmla="*/ 1 w 256"/>
                  <a:gd name="T11" fmla="*/ 1 h 288"/>
                  <a:gd name="T12" fmla="*/ 1 w 256"/>
                  <a:gd name="T13" fmla="*/ 1 h 288"/>
                  <a:gd name="T14" fmla="*/ 1 w 256"/>
                  <a:gd name="T15" fmla="*/ 1 h 288"/>
                  <a:gd name="T16" fmla="*/ 1 w 256"/>
                  <a:gd name="T17" fmla="*/ 0 h 288"/>
                  <a:gd name="T18" fmla="*/ 1 w 256"/>
                  <a:gd name="T19" fmla="*/ 1 h 288"/>
                  <a:gd name="T20" fmla="*/ 1 w 256"/>
                  <a:gd name="T21" fmla="*/ 1 h 288"/>
                  <a:gd name="T22" fmla="*/ 1 w 256"/>
                  <a:gd name="T23" fmla="*/ 1 h 288"/>
                  <a:gd name="T24" fmla="*/ 1 w 256"/>
                  <a:gd name="T25" fmla="*/ 1 h 288"/>
                  <a:gd name="T26" fmla="*/ 1 w 256"/>
                  <a:gd name="T27" fmla="*/ 1 h 288"/>
                  <a:gd name="T28" fmla="*/ 0 w 256"/>
                  <a:gd name="T29" fmla="*/ 1 h 2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6"/>
                  <a:gd name="T46" fmla="*/ 0 h 288"/>
                  <a:gd name="T47" fmla="*/ 256 w 256"/>
                  <a:gd name="T48" fmla="*/ 288 h 2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6" h="288">
                    <a:moveTo>
                      <a:pt x="0" y="204"/>
                    </a:moveTo>
                    <a:lnTo>
                      <a:pt x="35" y="288"/>
                    </a:lnTo>
                    <a:lnTo>
                      <a:pt x="95" y="275"/>
                    </a:lnTo>
                    <a:lnTo>
                      <a:pt x="191" y="203"/>
                    </a:lnTo>
                    <a:lnTo>
                      <a:pt x="190" y="169"/>
                    </a:lnTo>
                    <a:lnTo>
                      <a:pt x="252" y="105"/>
                    </a:lnTo>
                    <a:lnTo>
                      <a:pt x="256" y="85"/>
                    </a:lnTo>
                    <a:lnTo>
                      <a:pt x="222" y="48"/>
                    </a:lnTo>
                    <a:lnTo>
                      <a:pt x="143" y="0"/>
                    </a:lnTo>
                    <a:lnTo>
                      <a:pt x="123" y="1"/>
                    </a:lnTo>
                    <a:lnTo>
                      <a:pt x="134" y="27"/>
                    </a:lnTo>
                    <a:lnTo>
                      <a:pt x="106" y="77"/>
                    </a:lnTo>
                    <a:lnTo>
                      <a:pt x="123" y="101"/>
                    </a:lnTo>
                    <a:lnTo>
                      <a:pt x="98" y="170"/>
                    </a:lnTo>
                    <a:lnTo>
                      <a:pt x="0" y="20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69" name="16294353.5578.756.62511.1255">
                <a:extLst>
                  <a:ext uri="{FF2B5EF4-FFF2-40B4-BE49-F238E27FC236}">
                    <a16:creationId xmlns:a16="http://schemas.microsoft.com/office/drawing/2014/main" id="{38F32A5A-674D-75E8-BAF0-5BD94818614E}"/>
                  </a:ext>
                </a:extLst>
              </p:cNvPr>
              <p:cNvSpPr>
                <a:spLocks/>
              </p:cNvSpPr>
              <p:nvPr/>
            </p:nvSpPr>
            <p:spPr bwMode="auto">
              <a:xfrm>
                <a:off x="7199333" y="3442258"/>
                <a:ext cx="180359" cy="104243"/>
              </a:xfrm>
              <a:custGeom>
                <a:avLst/>
                <a:gdLst>
                  <a:gd name="T0" fmla="*/ 0 w 268"/>
                  <a:gd name="T1" fmla="*/ 0 h 138"/>
                  <a:gd name="T2" fmla="*/ 1 w 268"/>
                  <a:gd name="T3" fmla="*/ 0 h 138"/>
                  <a:gd name="T4" fmla="*/ 1 w 268"/>
                  <a:gd name="T5" fmla="*/ 0 h 138"/>
                  <a:gd name="T6" fmla="*/ 1 w 268"/>
                  <a:gd name="T7" fmla="*/ 0 h 138"/>
                  <a:gd name="T8" fmla="*/ 1 w 268"/>
                  <a:gd name="T9" fmla="*/ 0 h 138"/>
                  <a:gd name="T10" fmla="*/ 1 w 268"/>
                  <a:gd name="T11" fmla="*/ 0 h 138"/>
                  <a:gd name="T12" fmla="*/ 1 w 268"/>
                  <a:gd name="T13" fmla="*/ 0 h 138"/>
                  <a:gd name="T14" fmla="*/ 0 w 268"/>
                  <a:gd name="T15" fmla="*/ 0 h 138"/>
                  <a:gd name="T16" fmla="*/ 0 60000 65536"/>
                  <a:gd name="T17" fmla="*/ 0 60000 65536"/>
                  <a:gd name="T18" fmla="*/ 0 60000 65536"/>
                  <a:gd name="T19" fmla="*/ 0 60000 65536"/>
                  <a:gd name="T20" fmla="*/ 0 60000 65536"/>
                  <a:gd name="T21" fmla="*/ 0 60000 65536"/>
                  <a:gd name="T22" fmla="*/ 0 60000 65536"/>
                  <a:gd name="T23" fmla="*/ 0 60000 65536"/>
                  <a:gd name="T24" fmla="*/ 0 w 268"/>
                  <a:gd name="T25" fmla="*/ 0 h 138"/>
                  <a:gd name="T26" fmla="*/ 268 w 268"/>
                  <a:gd name="T27" fmla="*/ 138 h 1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8" h="138">
                    <a:moveTo>
                      <a:pt x="0" y="54"/>
                    </a:moveTo>
                    <a:lnTo>
                      <a:pt x="33" y="0"/>
                    </a:lnTo>
                    <a:lnTo>
                      <a:pt x="139" y="35"/>
                    </a:lnTo>
                    <a:lnTo>
                      <a:pt x="195" y="87"/>
                    </a:lnTo>
                    <a:lnTo>
                      <a:pt x="268" y="87"/>
                    </a:lnTo>
                    <a:lnTo>
                      <a:pt x="264" y="138"/>
                    </a:lnTo>
                    <a:lnTo>
                      <a:pt x="90" y="105"/>
                    </a:lnTo>
                    <a:lnTo>
                      <a:pt x="0" y="5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0" name="16295308.75472.6255.254.8755">
                <a:extLst>
                  <a:ext uri="{FF2B5EF4-FFF2-40B4-BE49-F238E27FC236}">
                    <a16:creationId xmlns:a16="http://schemas.microsoft.com/office/drawing/2014/main" id="{DA2B2B91-18E0-2E5A-15BC-BD92C39028BC}"/>
                  </a:ext>
                </a:extLst>
              </p:cNvPr>
              <p:cNvSpPr>
                <a:spLocks/>
              </p:cNvSpPr>
              <p:nvPr/>
            </p:nvSpPr>
            <p:spPr bwMode="auto">
              <a:xfrm>
                <a:off x="5480540" y="2737077"/>
                <a:ext cx="80758" cy="84316"/>
              </a:xfrm>
              <a:custGeom>
                <a:avLst/>
                <a:gdLst>
                  <a:gd name="T0" fmla="*/ 0 w 119"/>
                  <a:gd name="T1" fmla="*/ 0 h 112"/>
                  <a:gd name="T2" fmla="*/ 1 w 119"/>
                  <a:gd name="T3" fmla="*/ 0 h 112"/>
                  <a:gd name="T4" fmla="*/ 1 w 119"/>
                  <a:gd name="T5" fmla="*/ 0 h 112"/>
                  <a:gd name="T6" fmla="*/ 1 w 119"/>
                  <a:gd name="T7" fmla="*/ 0 h 112"/>
                  <a:gd name="T8" fmla="*/ 1 w 119"/>
                  <a:gd name="T9" fmla="*/ 0 h 112"/>
                  <a:gd name="T10" fmla="*/ 1 w 119"/>
                  <a:gd name="T11" fmla="*/ 0 h 112"/>
                  <a:gd name="T12" fmla="*/ 1 w 119"/>
                  <a:gd name="T13" fmla="*/ 0 h 112"/>
                  <a:gd name="T14" fmla="*/ 1 w 119"/>
                  <a:gd name="T15" fmla="*/ 0 h 112"/>
                  <a:gd name="T16" fmla="*/ 1 w 119"/>
                  <a:gd name="T17" fmla="*/ 0 h 112"/>
                  <a:gd name="T18" fmla="*/ 1 w 119"/>
                  <a:gd name="T19" fmla="*/ 0 h 112"/>
                  <a:gd name="T20" fmla="*/ 1 w 119"/>
                  <a:gd name="T21" fmla="*/ 0 h 112"/>
                  <a:gd name="T22" fmla="*/ 0 w 119"/>
                  <a:gd name="T23" fmla="*/ 0 h 1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112"/>
                  <a:gd name="T38" fmla="*/ 119 w 119"/>
                  <a:gd name="T39" fmla="*/ 112 h 1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112">
                    <a:moveTo>
                      <a:pt x="0" y="84"/>
                    </a:moveTo>
                    <a:lnTo>
                      <a:pt x="47" y="70"/>
                    </a:lnTo>
                    <a:lnTo>
                      <a:pt x="22" y="57"/>
                    </a:lnTo>
                    <a:lnTo>
                      <a:pt x="45" y="18"/>
                    </a:lnTo>
                    <a:lnTo>
                      <a:pt x="63" y="43"/>
                    </a:lnTo>
                    <a:lnTo>
                      <a:pt x="64" y="0"/>
                    </a:lnTo>
                    <a:lnTo>
                      <a:pt x="119" y="0"/>
                    </a:lnTo>
                    <a:lnTo>
                      <a:pt x="114" y="43"/>
                    </a:lnTo>
                    <a:lnTo>
                      <a:pt x="80" y="59"/>
                    </a:lnTo>
                    <a:lnTo>
                      <a:pt x="81" y="112"/>
                    </a:lnTo>
                    <a:lnTo>
                      <a:pt x="48" y="80"/>
                    </a:lnTo>
                    <a:lnTo>
                      <a:pt x="0" y="8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1" name="16298379.375346.56.6255.55">
                <a:extLst>
                  <a:ext uri="{FF2B5EF4-FFF2-40B4-BE49-F238E27FC236}">
                    <a16:creationId xmlns:a16="http://schemas.microsoft.com/office/drawing/2014/main" id="{A739E895-B659-BE3E-1C61-69AF870AF3D6}"/>
                  </a:ext>
                </a:extLst>
              </p:cNvPr>
              <p:cNvSpPr>
                <a:spLocks/>
              </p:cNvSpPr>
              <p:nvPr/>
            </p:nvSpPr>
            <p:spPr bwMode="auto">
              <a:xfrm>
                <a:off x="4128070" y="3895522"/>
                <a:ext cx="90180" cy="105776"/>
              </a:xfrm>
              <a:custGeom>
                <a:avLst/>
                <a:gdLst>
                  <a:gd name="T0" fmla="*/ 0 w 134"/>
                  <a:gd name="T1" fmla="*/ 0 h 139"/>
                  <a:gd name="T2" fmla="*/ 1 w 134"/>
                  <a:gd name="T3" fmla="*/ 0 h 139"/>
                  <a:gd name="T4" fmla="*/ 1 w 134"/>
                  <a:gd name="T5" fmla="*/ 0 h 139"/>
                  <a:gd name="T6" fmla="*/ 1 w 134"/>
                  <a:gd name="T7" fmla="*/ 0 h 139"/>
                  <a:gd name="T8" fmla="*/ 1 w 134"/>
                  <a:gd name="T9" fmla="*/ 0 h 139"/>
                  <a:gd name="T10" fmla="*/ 0 w 134"/>
                  <a:gd name="T11" fmla="*/ 0 h 139"/>
                  <a:gd name="T12" fmla="*/ 0 60000 65536"/>
                  <a:gd name="T13" fmla="*/ 0 60000 65536"/>
                  <a:gd name="T14" fmla="*/ 0 60000 65536"/>
                  <a:gd name="T15" fmla="*/ 0 60000 65536"/>
                  <a:gd name="T16" fmla="*/ 0 60000 65536"/>
                  <a:gd name="T17" fmla="*/ 0 60000 65536"/>
                  <a:gd name="T18" fmla="*/ 0 w 134"/>
                  <a:gd name="T19" fmla="*/ 0 h 139"/>
                  <a:gd name="T20" fmla="*/ 134 w 134"/>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4" h="139">
                    <a:moveTo>
                      <a:pt x="0" y="70"/>
                    </a:moveTo>
                    <a:lnTo>
                      <a:pt x="54" y="136"/>
                    </a:lnTo>
                    <a:lnTo>
                      <a:pt x="123" y="139"/>
                    </a:lnTo>
                    <a:lnTo>
                      <a:pt x="134" y="0"/>
                    </a:lnTo>
                    <a:lnTo>
                      <a:pt x="86" y="7"/>
                    </a:lnTo>
                    <a:lnTo>
                      <a:pt x="0" y="7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2" name="16299263.75474.62533.7535.8755">
                <a:extLst>
                  <a:ext uri="{FF2B5EF4-FFF2-40B4-BE49-F238E27FC236}">
                    <a16:creationId xmlns:a16="http://schemas.microsoft.com/office/drawing/2014/main" id="{047B5449-569F-C9FD-C144-6CF49AEFEDF5}"/>
                  </a:ext>
                </a:extLst>
              </p:cNvPr>
              <p:cNvSpPr>
                <a:spLocks/>
              </p:cNvSpPr>
              <p:nvPr/>
            </p:nvSpPr>
            <p:spPr bwMode="auto">
              <a:xfrm>
                <a:off x="5514190" y="2028829"/>
                <a:ext cx="581456" cy="531951"/>
              </a:xfrm>
              <a:custGeom>
                <a:avLst/>
                <a:gdLst>
                  <a:gd name="T0" fmla="*/ 1 w 863"/>
                  <a:gd name="T1" fmla="*/ 1 h 693"/>
                  <a:gd name="T2" fmla="*/ 1 w 863"/>
                  <a:gd name="T3" fmla="*/ 1 h 693"/>
                  <a:gd name="T4" fmla="*/ 1 w 863"/>
                  <a:gd name="T5" fmla="*/ 1 h 693"/>
                  <a:gd name="T6" fmla="*/ 1 w 863"/>
                  <a:gd name="T7" fmla="*/ 1 h 693"/>
                  <a:gd name="T8" fmla="*/ 1 w 863"/>
                  <a:gd name="T9" fmla="*/ 1 h 693"/>
                  <a:gd name="T10" fmla="*/ 1 w 863"/>
                  <a:gd name="T11" fmla="*/ 1 h 693"/>
                  <a:gd name="T12" fmla="*/ 1 w 863"/>
                  <a:gd name="T13" fmla="*/ 1 h 693"/>
                  <a:gd name="T14" fmla="*/ 1 w 863"/>
                  <a:gd name="T15" fmla="*/ 1 h 693"/>
                  <a:gd name="T16" fmla="*/ 1 w 863"/>
                  <a:gd name="T17" fmla="*/ 1 h 693"/>
                  <a:gd name="T18" fmla="*/ 1 w 863"/>
                  <a:gd name="T19" fmla="*/ 1 h 693"/>
                  <a:gd name="T20" fmla="*/ 1 w 863"/>
                  <a:gd name="T21" fmla="*/ 1 h 693"/>
                  <a:gd name="T22" fmla="*/ 1 w 863"/>
                  <a:gd name="T23" fmla="*/ 1 h 693"/>
                  <a:gd name="T24" fmla="*/ 1 w 863"/>
                  <a:gd name="T25" fmla="*/ 1 h 693"/>
                  <a:gd name="T26" fmla="*/ 1 w 863"/>
                  <a:gd name="T27" fmla="*/ 1 h 693"/>
                  <a:gd name="T28" fmla="*/ 1 w 863"/>
                  <a:gd name="T29" fmla="*/ 1 h 693"/>
                  <a:gd name="T30" fmla="*/ 1 w 863"/>
                  <a:gd name="T31" fmla="*/ 1 h 693"/>
                  <a:gd name="T32" fmla="*/ 1 w 863"/>
                  <a:gd name="T33" fmla="*/ 1 h 693"/>
                  <a:gd name="T34" fmla="*/ 1 w 863"/>
                  <a:gd name="T35" fmla="*/ 1 h 693"/>
                  <a:gd name="T36" fmla="*/ 1 w 863"/>
                  <a:gd name="T37" fmla="*/ 1 h 693"/>
                  <a:gd name="T38" fmla="*/ 1 w 863"/>
                  <a:gd name="T39" fmla="*/ 1 h 693"/>
                  <a:gd name="T40" fmla="*/ 1 w 863"/>
                  <a:gd name="T41" fmla="*/ 1 h 693"/>
                  <a:gd name="T42" fmla="*/ 1 w 863"/>
                  <a:gd name="T43" fmla="*/ 1 h 693"/>
                  <a:gd name="T44" fmla="*/ 1 w 863"/>
                  <a:gd name="T45" fmla="*/ 1 h 693"/>
                  <a:gd name="T46" fmla="*/ 1 w 863"/>
                  <a:gd name="T47" fmla="*/ 1 h 693"/>
                  <a:gd name="T48" fmla="*/ 1 w 863"/>
                  <a:gd name="T49" fmla="*/ 1 h 693"/>
                  <a:gd name="T50" fmla="*/ 1 w 863"/>
                  <a:gd name="T51" fmla="*/ 1 h 693"/>
                  <a:gd name="T52" fmla="*/ 1 w 863"/>
                  <a:gd name="T53" fmla="*/ 1 h 693"/>
                  <a:gd name="T54" fmla="*/ 1 w 863"/>
                  <a:gd name="T55" fmla="*/ 1 h 693"/>
                  <a:gd name="T56" fmla="*/ 1 w 863"/>
                  <a:gd name="T57" fmla="*/ 1 h 693"/>
                  <a:gd name="T58" fmla="*/ 1 w 863"/>
                  <a:gd name="T59" fmla="*/ 1 h 693"/>
                  <a:gd name="T60" fmla="*/ 1 w 863"/>
                  <a:gd name="T61" fmla="*/ 1 h 693"/>
                  <a:gd name="T62" fmla="*/ 1 w 863"/>
                  <a:gd name="T63" fmla="*/ 1 h 693"/>
                  <a:gd name="T64" fmla="*/ 1 w 863"/>
                  <a:gd name="T65" fmla="*/ 1 h 693"/>
                  <a:gd name="T66" fmla="*/ 1 w 863"/>
                  <a:gd name="T67" fmla="*/ 1 h 693"/>
                  <a:gd name="T68" fmla="*/ 1 w 863"/>
                  <a:gd name="T69" fmla="*/ 1 h 693"/>
                  <a:gd name="T70" fmla="*/ 1 w 863"/>
                  <a:gd name="T71" fmla="*/ 1 h 693"/>
                  <a:gd name="T72" fmla="*/ 1 w 863"/>
                  <a:gd name="T73" fmla="*/ 1 h 693"/>
                  <a:gd name="T74" fmla="*/ 1 w 863"/>
                  <a:gd name="T75" fmla="*/ 1 h 693"/>
                  <a:gd name="T76" fmla="*/ 1 w 863"/>
                  <a:gd name="T77" fmla="*/ 1 h 693"/>
                  <a:gd name="T78" fmla="*/ 1 w 863"/>
                  <a:gd name="T79" fmla="*/ 1 h 693"/>
                  <a:gd name="T80" fmla="*/ 0 w 863"/>
                  <a:gd name="T81" fmla="*/ 1 h 69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63"/>
                  <a:gd name="T124" fmla="*/ 0 h 693"/>
                  <a:gd name="T125" fmla="*/ 863 w 863"/>
                  <a:gd name="T126" fmla="*/ 693 h 69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63" h="693">
                    <a:moveTo>
                      <a:pt x="0" y="519"/>
                    </a:moveTo>
                    <a:lnTo>
                      <a:pt x="3" y="548"/>
                    </a:lnTo>
                    <a:lnTo>
                      <a:pt x="81" y="528"/>
                    </a:lnTo>
                    <a:lnTo>
                      <a:pt x="84" y="539"/>
                    </a:lnTo>
                    <a:lnTo>
                      <a:pt x="2" y="560"/>
                    </a:lnTo>
                    <a:lnTo>
                      <a:pt x="22" y="571"/>
                    </a:lnTo>
                    <a:lnTo>
                      <a:pt x="14" y="608"/>
                    </a:lnTo>
                    <a:lnTo>
                      <a:pt x="69" y="577"/>
                    </a:lnTo>
                    <a:lnTo>
                      <a:pt x="9" y="629"/>
                    </a:lnTo>
                    <a:lnTo>
                      <a:pt x="43" y="629"/>
                    </a:lnTo>
                    <a:lnTo>
                      <a:pt x="22" y="674"/>
                    </a:lnTo>
                    <a:lnTo>
                      <a:pt x="105" y="693"/>
                    </a:lnTo>
                    <a:lnTo>
                      <a:pt x="171" y="649"/>
                    </a:lnTo>
                    <a:lnTo>
                      <a:pt x="184" y="610"/>
                    </a:lnTo>
                    <a:lnTo>
                      <a:pt x="205" y="649"/>
                    </a:lnTo>
                    <a:lnTo>
                      <a:pt x="244" y="600"/>
                    </a:lnTo>
                    <a:lnTo>
                      <a:pt x="237" y="556"/>
                    </a:lnTo>
                    <a:lnTo>
                      <a:pt x="255" y="537"/>
                    </a:lnTo>
                    <a:lnTo>
                      <a:pt x="237" y="516"/>
                    </a:lnTo>
                    <a:lnTo>
                      <a:pt x="239" y="417"/>
                    </a:lnTo>
                    <a:lnTo>
                      <a:pt x="301" y="394"/>
                    </a:lnTo>
                    <a:lnTo>
                      <a:pt x="289" y="363"/>
                    </a:lnTo>
                    <a:lnTo>
                      <a:pt x="316" y="288"/>
                    </a:lnTo>
                    <a:lnTo>
                      <a:pt x="374" y="233"/>
                    </a:lnTo>
                    <a:lnTo>
                      <a:pt x="386" y="187"/>
                    </a:lnTo>
                    <a:lnTo>
                      <a:pt x="428" y="179"/>
                    </a:lnTo>
                    <a:lnTo>
                      <a:pt x="440" y="150"/>
                    </a:lnTo>
                    <a:lnTo>
                      <a:pt x="502" y="157"/>
                    </a:lnTo>
                    <a:lnTo>
                      <a:pt x="503" y="120"/>
                    </a:lnTo>
                    <a:lnTo>
                      <a:pt x="518" y="120"/>
                    </a:lnTo>
                    <a:lnTo>
                      <a:pt x="542" y="103"/>
                    </a:lnTo>
                    <a:lnTo>
                      <a:pt x="580" y="136"/>
                    </a:lnTo>
                    <a:lnTo>
                      <a:pt x="650" y="142"/>
                    </a:lnTo>
                    <a:lnTo>
                      <a:pt x="690" y="121"/>
                    </a:lnTo>
                    <a:lnTo>
                      <a:pt x="701" y="76"/>
                    </a:lnTo>
                    <a:lnTo>
                      <a:pt x="767" y="63"/>
                    </a:lnTo>
                    <a:lnTo>
                      <a:pt x="803" y="81"/>
                    </a:lnTo>
                    <a:lnTo>
                      <a:pt x="799" y="120"/>
                    </a:lnTo>
                    <a:lnTo>
                      <a:pt x="861" y="76"/>
                    </a:lnTo>
                    <a:lnTo>
                      <a:pt x="819" y="83"/>
                    </a:lnTo>
                    <a:lnTo>
                      <a:pt x="830" y="72"/>
                    </a:lnTo>
                    <a:lnTo>
                      <a:pt x="788" y="59"/>
                    </a:lnTo>
                    <a:lnTo>
                      <a:pt x="863" y="39"/>
                    </a:lnTo>
                    <a:lnTo>
                      <a:pt x="803" y="13"/>
                    </a:lnTo>
                    <a:lnTo>
                      <a:pt x="763" y="39"/>
                    </a:lnTo>
                    <a:lnTo>
                      <a:pt x="784" y="4"/>
                    </a:lnTo>
                    <a:lnTo>
                      <a:pt x="752" y="0"/>
                    </a:lnTo>
                    <a:lnTo>
                      <a:pt x="731" y="39"/>
                    </a:lnTo>
                    <a:lnTo>
                      <a:pt x="720" y="41"/>
                    </a:lnTo>
                    <a:lnTo>
                      <a:pt x="720" y="8"/>
                    </a:lnTo>
                    <a:lnTo>
                      <a:pt x="665" y="63"/>
                    </a:lnTo>
                    <a:lnTo>
                      <a:pt x="694" y="14"/>
                    </a:lnTo>
                    <a:lnTo>
                      <a:pt x="665" y="6"/>
                    </a:lnTo>
                    <a:lnTo>
                      <a:pt x="606" y="66"/>
                    </a:lnTo>
                    <a:lnTo>
                      <a:pt x="550" y="47"/>
                    </a:lnTo>
                    <a:lnTo>
                      <a:pt x="565" y="81"/>
                    </a:lnTo>
                    <a:lnTo>
                      <a:pt x="542" y="63"/>
                    </a:lnTo>
                    <a:lnTo>
                      <a:pt x="503" y="105"/>
                    </a:lnTo>
                    <a:lnTo>
                      <a:pt x="507" y="70"/>
                    </a:lnTo>
                    <a:lnTo>
                      <a:pt x="487" y="99"/>
                    </a:lnTo>
                    <a:lnTo>
                      <a:pt x="469" y="79"/>
                    </a:lnTo>
                    <a:lnTo>
                      <a:pt x="481" y="109"/>
                    </a:lnTo>
                    <a:lnTo>
                      <a:pt x="436" y="96"/>
                    </a:lnTo>
                    <a:lnTo>
                      <a:pt x="424" y="138"/>
                    </a:lnTo>
                    <a:lnTo>
                      <a:pt x="382" y="153"/>
                    </a:lnTo>
                    <a:lnTo>
                      <a:pt x="421" y="156"/>
                    </a:lnTo>
                    <a:lnTo>
                      <a:pt x="352" y="176"/>
                    </a:lnTo>
                    <a:lnTo>
                      <a:pt x="340" y="205"/>
                    </a:lnTo>
                    <a:lnTo>
                      <a:pt x="360" y="205"/>
                    </a:lnTo>
                    <a:lnTo>
                      <a:pt x="277" y="253"/>
                    </a:lnTo>
                    <a:lnTo>
                      <a:pt x="245" y="336"/>
                    </a:lnTo>
                    <a:lnTo>
                      <a:pt x="154" y="405"/>
                    </a:lnTo>
                    <a:lnTo>
                      <a:pt x="171" y="422"/>
                    </a:lnTo>
                    <a:lnTo>
                      <a:pt x="211" y="410"/>
                    </a:lnTo>
                    <a:lnTo>
                      <a:pt x="118" y="431"/>
                    </a:lnTo>
                    <a:lnTo>
                      <a:pt x="69" y="458"/>
                    </a:lnTo>
                    <a:lnTo>
                      <a:pt x="81" y="473"/>
                    </a:lnTo>
                    <a:lnTo>
                      <a:pt x="46" y="473"/>
                    </a:lnTo>
                    <a:lnTo>
                      <a:pt x="48" y="495"/>
                    </a:lnTo>
                    <a:lnTo>
                      <a:pt x="4" y="495"/>
                    </a:lnTo>
                    <a:lnTo>
                      <a:pt x="46" y="506"/>
                    </a:lnTo>
                    <a:lnTo>
                      <a:pt x="0" y="51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3" name="16300388.125352.547.755">
                <a:extLst>
                  <a:ext uri="{FF2B5EF4-FFF2-40B4-BE49-F238E27FC236}">
                    <a16:creationId xmlns:a16="http://schemas.microsoft.com/office/drawing/2014/main" id="{07C1BD35-D60B-2D76-72D3-AEBB94024EE6}"/>
                  </a:ext>
                </a:extLst>
              </p:cNvPr>
              <p:cNvSpPr>
                <a:spLocks/>
              </p:cNvSpPr>
              <p:nvPr/>
            </p:nvSpPr>
            <p:spPr bwMode="auto">
              <a:xfrm>
                <a:off x="4224979" y="4033492"/>
                <a:ext cx="126521" cy="64386"/>
              </a:xfrm>
              <a:custGeom>
                <a:avLst/>
                <a:gdLst>
                  <a:gd name="T0" fmla="*/ 0 w 189"/>
                  <a:gd name="T1" fmla="*/ 1 h 84"/>
                  <a:gd name="T2" fmla="*/ 0 w 189"/>
                  <a:gd name="T3" fmla="*/ 0 h 84"/>
                  <a:gd name="T4" fmla="*/ 0 w 189"/>
                  <a:gd name="T5" fmla="*/ 1 h 84"/>
                  <a:gd name="T6" fmla="*/ 0 w 189"/>
                  <a:gd name="T7" fmla="*/ 1 h 84"/>
                  <a:gd name="T8" fmla="*/ 0 w 189"/>
                  <a:gd name="T9" fmla="*/ 1 h 84"/>
                  <a:gd name="T10" fmla="*/ 0 w 189"/>
                  <a:gd name="T11" fmla="*/ 1 h 84"/>
                  <a:gd name="T12" fmla="*/ 0 w 189"/>
                  <a:gd name="T13" fmla="*/ 1 h 84"/>
                  <a:gd name="T14" fmla="*/ 0 w 189"/>
                  <a:gd name="T15" fmla="*/ 1 h 84"/>
                  <a:gd name="T16" fmla="*/ 0 w 189"/>
                  <a:gd name="T17" fmla="*/ 1 h 84"/>
                  <a:gd name="T18" fmla="*/ 0 w 189"/>
                  <a:gd name="T19" fmla="*/ 1 h 84"/>
                  <a:gd name="T20" fmla="*/ 0 w 189"/>
                  <a:gd name="T21" fmla="*/ 1 h 84"/>
                  <a:gd name="T22" fmla="*/ 0 w 189"/>
                  <a:gd name="T23" fmla="*/ 1 h 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89"/>
                  <a:gd name="T37" fmla="*/ 0 h 84"/>
                  <a:gd name="T38" fmla="*/ 189 w 189"/>
                  <a:gd name="T39" fmla="*/ 84 h 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89" h="84">
                    <a:moveTo>
                      <a:pt x="0" y="45"/>
                    </a:moveTo>
                    <a:lnTo>
                      <a:pt x="15" y="0"/>
                    </a:lnTo>
                    <a:lnTo>
                      <a:pt x="55" y="27"/>
                    </a:lnTo>
                    <a:lnTo>
                      <a:pt x="127" y="1"/>
                    </a:lnTo>
                    <a:lnTo>
                      <a:pt x="189" y="33"/>
                    </a:lnTo>
                    <a:lnTo>
                      <a:pt x="172" y="81"/>
                    </a:lnTo>
                    <a:lnTo>
                      <a:pt x="167" y="41"/>
                    </a:lnTo>
                    <a:lnTo>
                      <a:pt x="127" y="26"/>
                    </a:lnTo>
                    <a:lnTo>
                      <a:pt x="88" y="51"/>
                    </a:lnTo>
                    <a:lnTo>
                      <a:pt x="98" y="73"/>
                    </a:lnTo>
                    <a:lnTo>
                      <a:pt x="81" y="84"/>
                    </a:lnTo>
                    <a:lnTo>
                      <a:pt x="0" y="4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4" name="16301407.875663.512.62513.755">
                <a:extLst>
                  <a:ext uri="{FF2B5EF4-FFF2-40B4-BE49-F238E27FC236}">
                    <a16:creationId xmlns:a16="http://schemas.microsoft.com/office/drawing/2014/main" id="{1A99E069-A397-5C4D-8F1E-E2F1A2D9A67B}"/>
                  </a:ext>
                </a:extLst>
              </p:cNvPr>
              <p:cNvSpPr>
                <a:spLocks/>
              </p:cNvSpPr>
              <p:nvPr/>
            </p:nvSpPr>
            <p:spPr bwMode="auto">
              <a:xfrm>
                <a:off x="8572213" y="4300737"/>
                <a:ext cx="222083" cy="197757"/>
              </a:xfrm>
              <a:custGeom>
                <a:avLst/>
                <a:gdLst>
                  <a:gd name="T0" fmla="*/ 0 w 331"/>
                  <a:gd name="T1" fmla="*/ 0 h 259"/>
                  <a:gd name="T2" fmla="*/ 0 w 331"/>
                  <a:gd name="T3" fmla="*/ 0 h 259"/>
                  <a:gd name="T4" fmla="*/ 0 w 331"/>
                  <a:gd name="T5" fmla="*/ 0 h 259"/>
                  <a:gd name="T6" fmla="*/ 0 w 331"/>
                  <a:gd name="T7" fmla="*/ 0 h 259"/>
                  <a:gd name="T8" fmla="*/ 0 w 331"/>
                  <a:gd name="T9" fmla="*/ 0 h 259"/>
                  <a:gd name="T10" fmla="*/ 0 w 331"/>
                  <a:gd name="T11" fmla="*/ 0 h 259"/>
                  <a:gd name="T12" fmla="*/ 0 w 331"/>
                  <a:gd name="T13" fmla="*/ 0 h 259"/>
                  <a:gd name="T14" fmla="*/ 0 w 331"/>
                  <a:gd name="T15" fmla="*/ 0 h 259"/>
                  <a:gd name="T16" fmla="*/ 0 w 331"/>
                  <a:gd name="T17" fmla="*/ 0 h 259"/>
                  <a:gd name="T18" fmla="*/ 0 w 331"/>
                  <a:gd name="T19" fmla="*/ 0 h 259"/>
                  <a:gd name="T20" fmla="*/ 0 w 331"/>
                  <a:gd name="T21" fmla="*/ 0 h 259"/>
                  <a:gd name="T22" fmla="*/ 0 w 331"/>
                  <a:gd name="T23" fmla="*/ 0 h 2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1"/>
                  <a:gd name="T37" fmla="*/ 0 h 259"/>
                  <a:gd name="T38" fmla="*/ 331 w 331"/>
                  <a:gd name="T39" fmla="*/ 259 h 2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1" h="259">
                    <a:moveTo>
                      <a:pt x="0" y="0"/>
                    </a:moveTo>
                    <a:lnTo>
                      <a:pt x="5" y="216"/>
                    </a:lnTo>
                    <a:lnTo>
                      <a:pt x="59" y="223"/>
                    </a:lnTo>
                    <a:lnTo>
                      <a:pt x="112" y="164"/>
                    </a:lnTo>
                    <a:lnTo>
                      <a:pt x="171" y="190"/>
                    </a:lnTo>
                    <a:lnTo>
                      <a:pt x="226" y="248"/>
                    </a:lnTo>
                    <a:lnTo>
                      <a:pt x="331" y="259"/>
                    </a:lnTo>
                    <a:lnTo>
                      <a:pt x="211" y="162"/>
                    </a:lnTo>
                    <a:lnTo>
                      <a:pt x="220" y="116"/>
                    </a:lnTo>
                    <a:lnTo>
                      <a:pt x="163" y="99"/>
                    </a:lnTo>
                    <a:lnTo>
                      <a:pt x="111" y="40"/>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5" name="16302410.5673.6253.3755.6255">
                <a:extLst>
                  <a:ext uri="{FF2B5EF4-FFF2-40B4-BE49-F238E27FC236}">
                    <a16:creationId xmlns:a16="http://schemas.microsoft.com/office/drawing/2014/main" id="{E6C9E6B8-1032-F17E-7A4B-06944E0FF03A}"/>
                  </a:ext>
                </a:extLst>
              </p:cNvPr>
              <p:cNvSpPr>
                <a:spLocks/>
              </p:cNvSpPr>
              <p:nvPr/>
            </p:nvSpPr>
            <p:spPr bwMode="auto">
              <a:xfrm>
                <a:off x="8735073" y="4342129"/>
                <a:ext cx="91525" cy="52122"/>
              </a:xfrm>
              <a:custGeom>
                <a:avLst/>
                <a:gdLst>
                  <a:gd name="T0" fmla="*/ 0 w 137"/>
                  <a:gd name="T1" fmla="*/ 1 h 67"/>
                  <a:gd name="T2" fmla="*/ 0 w 137"/>
                  <a:gd name="T3" fmla="*/ 1 h 67"/>
                  <a:gd name="T4" fmla="*/ 0 w 137"/>
                  <a:gd name="T5" fmla="*/ 1 h 67"/>
                  <a:gd name="T6" fmla="*/ 0 w 137"/>
                  <a:gd name="T7" fmla="*/ 0 h 67"/>
                  <a:gd name="T8" fmla="*/ 0 w 137"/>
                  <a:gd name="T9" fmla="*/ 1 h 67"/>
                  <a:gd name="T10" fmla="*/ 0 w 137"/>
                  <a:gd name="T11" fmla="*/ 1 h 67"/>
                  <a:gd name="T12" fmla="*/ 0 60000 65536"/>
                  <a:gd name="T13" fmla="*/ 0 60000 65536"/>
                  <a:gd name="T14" fmla="*/ 0 60000 65536"/>
                  <a:gd name="T15" fmla="*/ 0 60000 65536"/>
                  <a:gd name="T16" fmla="*/ 0 60000 65536"/>
                  <a:gd name="T17" fmla="*/ 0 60000 65536"/>
                  <a:gd name="T18" fmla="*/ 0 w 137"/>
                  <a:gd name="T19" fmla="*/ 0 h 67"/>
                  <a:gd name="T20" fmla="*/ 137 w 137"/>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37" h="67">
                    <a:moveTo>
                      <a:pt x="0" y="44"/>
                    </a:moveTo>
                    <a:lnTo>
                      <a:pt x="81" y="67"/>
                    </a:lnTo>
                    <a:lnTo>
                      <a:pt x="137" y="21"/>
                    </a:lnTo>
                    <a:lnTo>
                      <a:pt x="115" y="0"/>
                    </a:lnTo>
                    <a:lnTo>
                      <a:pt x="97" y="26"/>
                    </a:lnTo>
                    <a:lnTo>
                      <a:pt x="0" y="4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6" name="16303408.1256773.2535">
                <a:extLst>
                  <a:ext uri="{FF2B5EF4-FFF2-40B4-BE49-F238E27FC236}">
                    <a16:creationId xmlns:a16="http://schemas.microsoft.com/office/drawing/2014/main" id="{365A7A4A-F559-A92E-AC9A-64A4B6871530}"/>
                  </a:ext>
                </a:extLst>
              </p:cNvPr>
              <p:cNvSpPr>
                <a:spLocks/>
              </p:cNvSpPr>
              <p:nvPr/>
            </p:nvSpPr>
            <p:spPr bwMode="auto">
              <a:xfrm>
                <a:off x="8791603" y="4303805"/>
                <a:ext cx="48456" cy="50589"/>
              </a:xfrm>
              <a:custGeom>
                <a:avLst/>
                <a:gdLst>
                  <a:gd name="T0" fmla="*/ 0 w 73"/>
                  <a:gd name="T1" fmla="*/ 0 h 66"/>
                  <a:gd name="T2" fmla="*/ 0 w 73"/>
                  <a:gd name="T3" fmla="*/ 1 h 66"/>
                  <a:gd name="T4" fmla="*/ 0 w 73"/>
                  <a:gd name="T5" fmla="*/ 1 h 66"/>
                  <a:gd name="T6" fmla="*/ 0 w 73"/>
                  <a:gd name="T7" fmla="*/ 1 h 66"/>
                  <a:gd name="T8" fmla="*/ 0 w 73"/>
                  <a:gd name="T9" fmla="*/ 0 h 66"/>
                  <a:gd name="T10" fmla="*/ 0 60000 65536"/>
                  <a:gd name="T11" fmla="*/ 0 60000 65536"/>
                  <a:gd name="T12" fmla="*/ 0 60000 65536"/>
                  <a:gd name="T13" fmla="*/ 0 60000 65536"/>
                  <a:gd name="T14" fmla="*/ 0 60000 65536"/>
                  <a:gd name="T15" fmla="*/ 0 w 73"/>
                  <a:gd name="T16" fmla="*/ 0 h 66"/>
                  <a:gd name="T17" fmla="*/ 73 w 73"/>
                  <a:gd name="T18" fmla="*/ 66 h 66"/>
                </a:gdLst>
                <a:ahLst/>
                <a:cxnLst>
                  <a:cxn ang="T10">
                    <a:pos x="T0" y="T1"/>
                  </a:cxn>
                  <a:cxn ang="T11">
                    <a:pos x="T2" y="T3"/>
                  </a:cxn>
                  <a:cxn ang="T12">
                    <a:pos x="T4" y="T5"/>
                  </a:cxn>
                  <a:cxn ang="T13">
                    <a:pos x="T6" y="T7"/>
                  </a:cxn>
                  <a:cxn ang="T14">
                    <a:pos x="T8" y="T9"/>
                  </a:cxn>
                </a:cxnLst>
                <a:rect l="T15" t="T16" r="T17" b="T18"/>
                <a:pathLst>
                  <a:path w="73" h="66">
                    <a:moveTo>
                      <a:pt x="0" y="0"/>
                    </a:moveTo>
                    <a:lnTo>
                      <a:pt x="55" y="30"/>
                    </a:lnTo>
                    <a:lnTo>
                      <a:pt x="73" y="66"/>
                    </a:lnTo>
                    <a:lnTo>
                      <a:pt x="72" y="40"/>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7" name="16304435.125380.7513.7511.3755">
                <a:extLst>
                  <a:ext uri="{FF2B5EF4-FFF2-40B4-BE49-F238E27FC236}">
                    <a16:creationId xmlns:a16="http://schemas.microsoft.com/office/drawing/2014/main" id="{FE56D9B6-6F21-66B8-D1F3-16D7E6D362D6}"/>
                  </a:ext>
                </a:extLst>
              </p:cNvPr>
              <p:cNvSpPr>
                <a:spLocks/>
              </p:cNvSpPr>
              <p:nvPr/>
            </p:nvSpPr>
            <p:spPr bwMode="auto">
              <a:xfrm>
                <a:off x="4682607" y="4773933"/>
                <a:ext cx="184396" cy="217686"/>
              </a:xfrm>
              <a:custGeom>
                <a:avLst/>
                <a:gdLst>
                  <a:gd name="T0" fmla="*/ 0 w 272"/>
                  <a:gd name="T1" fmla="*/ 1 h 283"/>
                  <a:gd name="T2" fmla="*/ 1 w 272"/>
                  <a:gd name="T3" fmla="*/ 1 h 283"/>
                  <a:gd name="T4" fmla="*/ 1 w 272"/>
                  <a:gd name="T5" fmla="*/ 0 h 283"/>
                  <a:gd name="T6" fmla="*/ 1 w 272"/>
                  <a:gd name="T7" fmla="*/ 1 h 283"/>
                  <a:gd name="T8" fmla="*/ 1 w 272"/>
                  <a:gd name="T9" fmla="*/ 1 h 283"/>
                  <a:gd name="T10" fmla="*/ 1 w 272"/>
                  <a:gd name="T11" fmla="*/ 1 h 283"/>
                  <a:gd name="T12" fmla="*/ 1 w 272"/>
                  <a:gd name="T13" fmla="*/ 1 h 283"/>
                  <a:gd name="T14" fmla="*/ 1 w 272"/>
                  <a:gd name="T15" fmla="*/ 1 h 283"/>
                  <a:gd name="T16" fmla="*/ 1 w 272"/>
                  <a:gd name="T17" fmla="*/ 1 h 283"/>
                  <a:gd name="T18" fmla="*/ 1 w 272"/>
                  <a:gd name="T19" fmla="*/ 1 h 283"/>
                  <a:gd name="T20" fmla="*/ 1 w 272"/>
                  <a:gd name="T21" fmla="*/ 1 h 283"/>
                  <a:gd name="T22" fmla="*/ 1 w 272"/>
                  <a:gd name="T23" fmla="*/ 1 h 283"/>
                  <a:gd name="T24" fmla="*/ 0 w 272"/>
                  <a:gd name="T25" fmla="*/ 1 h 2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2"/>
                  <a:gd name="T40" fmla="*/ 0 h 283"/>
                  <a:gd name="T41" fmla="*/ 272 w 272"/>
                  <a:gd name="T42" fmla="*/ 283 h 28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2" h="283">
                    <a:moveTo>
                      <a:pt x="0" y="106"/>
                    </a:moveTo>
                    <a:lnTo>
                      <a:pt x="21" y="16"/>
                    </a:lnTo>
                    <a:lnTo>
                      <a:pt x="118" y="0"/>
                    </a:lnTo>
                    <a:lnTo>
                      <a:pt x="151" y="30"/>
                    </a:lnTo>
                    <a:lnTo>
                      <a:pt x="159" y="97"/>
                    </a:lnTo>
                    <a:lnTo>
                      <a:pt x="228" y="108"/>
                    </a:lnTo>
                    <a:lnTo>
                      <a:pt x="238" y="155"/>
                    </a:lnTo>
                    <a:lnTo>
                      <a:pt x="272" y="164"/>
                    </a:lnTo>
                    <a:lnTo>
                      <a:pt x="267" y="223"/>
                    </a:lnTo>
                    <a:lnTo>
                      <a:pt x="232" y="283"/>
                    </a:lnTo>
                    <a:lnTo>
                      <a:pt x="142" y="279"/>
                    </a:lnTo>
                    <a:lnTo>
                      <a:pt x="161" y="212"/>
                    </a:lnTo>
                    <a:lnTo>
                      <a:pt x="0" y="10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8" name="16305404354.7529.37517.3755">
                <a:extLst>
                  <a:ext uri="{FF2B5EF4-FFF2-40B4-BE49-F238E27FC236}">
                    <a16:creationId xmlns:a16="http://schemas.microsoft.com/office/drawing/2014/main" id="{A2CE4CF0-E009-D0EE-827A-4CE0C0BF635C}"/>
                  </a:ext>
                </a:extLst>
              </p:cNvPr>
              <p:cNvSpPr>
                <a:spLocks/>
              </p:cNvSpPr>
              <p:nvPr/>
            </p:nvSpPr>
            <p:spPr bwMode="auto">
              <a:xfrm>
                <a:off x="4262667" y="4283371"/>
                <a:ext cx="281306" cy="462967"/>
              </a:xfrm>
              <a:custGeom>
                <a:avLst/>
                <a:gdLst>
                  <a:gd name="T0" fmla="*/ 0 w 419"/>
                  <a:gd name="T1" fmla="*/ 1 h 604"/>
                  <a:gd name="T2" fmla="*/ 0 w 419"/>
                  <a:gd name="T3" fmla="*/ 1 h 604"/>
                  <a:gd name="T4" fmla="*/ 0 w 419"/>
                  <a:gd name="T5" fmla="*/ 1 h 604"/>
                  <a:gd name="T6" fmla="*/ 0 w 419"/>
                  <a:gd name="T7" fmla="*/ 1 h 604"/>
                  <a:gd name="T8" fmla="*/ 0 w 419"/>
                  <a:gd name="T9" fmla="*/ 1 h 604"/>
                  <a:gd name="T10" fmla="*/ 0 w 419"/>
                  <a:gd name="T11" fmla="*/ 1 h 604"/>
                  <a:gd name="T12" fmla="*/ 0 w 419"/>
                  <a:gd name="T13" fmla="*/ 1 h 604"/>
                  <a:gd name="T14" fmla="*/ 0 w 419"/>
                  <a:gd name="T15" fmla="*/ 1 h 604"/>
                  <a:gd name="T16" fmla="*/ 0 w 419"/>
                  <a:gd name="T17" fmla="*/ 1 h 604"/>
                  <a:gd name="T18" fmla="*/ 0 w 419"/>
                  <a:gd name="T19" fmla="*/ 1 h 604"/>
                  <a:gd name="T20" fmla="*/ 0 w 419"/>
                  <a:gd name="T21" fmla="*/ 1 h 604"/>
                  <a:gd name="T22" fmla="*/ 0 w 419"/>
                  <a:gd name="T23" fmla="*/ 1 h 604"/>
                  <a:gd name="T24" fmla="*/ 0 w 419"/>
                  <a:gd name="T25" fmla="*/ 1 h 604"/>
                  <a:gd name="T26" fmla="*/ 0 w 419"/>
                  <a:gd name="T27" fmla="*/ 1 h 604"/>
                  <a:gd name="T28" fmla="*/ 0 w 419"/>
                  <a:gd name="T29" fmla="*/ 1 h 604"/>
                  <a:gd name="T30" fmla="*/ 0 w 419"/>
                  <a:gd name="T31" fmla="*/ 1 h 604"/>
                  <a:gd name="T32" fmla="*/ 0 w 419"/>
                  <a:gd name="T33" fmla="*/ 1 h 604"/>
                  <a:gd name="T34" fmla="*/ 0 w 419"/>
                  <a:gd name="T35" fmla="*/ 1 h 604"/>
                  <a:gd name="T36" fmla="*/ 0 w 419"/>
                  <a:gd name="T37" fmla="*/ 1 h 604"/>
                  <a:gd name="T38" fmla="*/ 0 w 419"/>
                  <a:gd name="T39" fmla="*/ 1 h 604"/>
                  <a:gd name="T40" fmla="*/ 0 w 419"/>
                  <a:gd name="T41" fmla="*/ 1 h 604"/>
                  <a:gd name="T42" fmla="*/ 0 w 419"/>
                  <a:gd name="T43" fmla="*/ 0 h 604"/>
                  <a:gd name="T44" fmla="*/ 0 w 419"/>
                  <a:gd name="T45" fmla="*/ 1 h 604"/>
                  <a:gd name="T46" fmla="*/ 0 w 419"/>
                  <a:gd name="T47" fmla="*/ 1 h 604"/>
                  <a:gd name="T48" fmla="*/ 0 w 419"/>
                  <a:gd name="T49" fmla="*/ 1 h 604"/>
                  <a:gd name="T50" fmla="*/ 0 w 419"/>
                  <a:gd name="T51" fmla="*/ 1 h 604"/>
                  <a:gd name="T52" fmla="*/ 0 w 419"/>
                  <a:gd name="T53" fmla="*/ 1 h 604"/>
                  <a:gd name="T54" fmla="*/ 0 w 419"/>
                  <a:gd name="T55" fmla="*/ 1 h 60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19"/>
                  <a:gd name="T85" fmla="*/ 0 h 604"/>
                  <a:gd name="T86" fmla="*/ 419 w 419"/>
                  <a:gd name="T87" fmla="*/ 604 h 60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19" h="604">
                    <a:moveTo>
                      <a:pt x="0" y="142"/>
                    </a:moveTo>
                    <a:lnTo>
                      <a:pt x="8" y="190"/>
                    </a:lnTo>
                    <a:lnTo>
                      <a:pt x="83" y="274"/>
                    </a:lnTo>
                    <a:lnTo>
                      <a:pt x="167" y="472"/>
                    </a:lnTo>
                    <a:lnTo>
                      <a:pt x="358" y="604"/>
                    </a:lnTo>
                    <a:lnTo>
                      <a:pt x="391" y="580"/>
                    </a:lnTo>
                    <a:lnTo>
                      <a:pt x="409" y="538"/>
                    </a:lnTo>
                    <a:lnTo>
                      <a:pt x="380" y="523"/>
                    </a:lnTo>
                    <a:lnTo>
                      <a:pt x="398" y="512"/>
                    </a:lnTo>
                    <a:lnTo>
                      <a:pt x="419" y="408"/>
                    </a:lnTo>
                    <a:lnTo>
                      <a:pt x="389" y="360"/>
                    </a:lnTo>
                    <a:lnTo>
                      <a:pt x="360" y="360"/>
                    </a:lnTo>
                    <a:lnTo>
                      <a:pt x="360" y="305"/>
                    </a:lnTo>
                    <a:lnTo>
                      <a:pt x="324" y="329"/>
                    </a:lnTo>
                    <a:lnTo>
                      <a:pt x="279" y="308"/>
                    </a:lnTo>
                    <a:lnTo>
                      <a:pt x="250" y="246"/>
                    </a:lnTo>
                    <a:lnTo>
                      <a:pt x="296" y="169"/>
                    </a:lnTo>
                    <a:lnTo>
                      <a:pt x="380" y="135"/>
                    </a:lnTo>
                    <a:lnTo>
                      <a:pt x="357" y="121"/>
                    </a:lnTo>
                    <a:lnTo>
                      <a:pt x="371" y="81"/>
                    </a:lnTo>
                    <a:lnTo>
                      <a:pt x="276" y="74"/>
                    </a:lnTo>
                    <a:lnTo>
                      <a:pt x="203" y="0"/>
                    </a:lnTo>
                    <a:lnTo>
                      <a:pt x="187" y="55"/>
                    </a:lnTo>
                    <a:lnTo>
                      <a:pt x="111" y="100"/>
                    </a:lnTo>
                    <a:lnTo>
                      <a:pt x="72" y="158"/>
                    </a:lnTo>
                    <a:lnTo>
                      <a:pt x="29" y="148"/>
                    </a:lnTo>
                    <a:lnTo>
                      <a:pt x="34" y="114"/>
                    </a:lnTo>
                    <a:lnTo>
                      <a:pt x="0" y="14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79" name="16306332454.8759.1254.3755">
                <a:extLst>
                  <a:ext uri="{FF2B5EF4-FFF2-40B4-BE49-F238E27FC236}">
                    <a16:creationId xmlns:a16="http://schemas.microsoft.com/office/drawing/2014/main" id="{2D1FD83B-F701-75F1-8F11-5AC55B170FC7}"/>
                  </a:ext>
                </a:extLst>
              </p:cNvPr>
              <p:cNvSpPr>
                <a:spLocks/>
              </p:cNvSpPr>
              <p:nvPr/>
            </p:nvSpPr>
            <p:spPr bwMode="auto">
              <a:xfrm>
                <a:off x="5193850" y="3104998"/>
                <a:ext cx="71335" cy="142569"/>
              </a:xfrm>
              <a:custGeom>
                <a:avLst/>
                <a:gdLst>
                  <a:gd name="T0" fmla="*/ 0 w 104"/>
                  <a:gd name="T1" fmla="*/ 1 h 185"/>
                  <a:gd name="T2" fmla="*/ 1 w 104"/>
                  <a:gd name="T3" fmla="*/ 0 h 185"/>
                  <a:gd name="T4" fmla="*/ 1 w 104"/>
                  <a:gd name="T5" fmla="*/ 1 h 185"/>
                  <a:gd name="T6" fmla="*/ 1 w 104"/>
                  <a:gd name="T7" fmla="*/ 1 h 185"/>
                  <a:gd name="T8" fmla="*/ 1 w 104"/>
                  <a:gd name="T9" fmla="*/ 1 h 185"/>
                  <a:gd name="T10" fmla="*/ 1 w 104"/>
                  <a:gd name="T11" fmla="*/ 1 h 185"/>
                  <a:gd name="T12" fmla="*/ 1 w 104"/>
                  <a:gd name="T13" fmla="*/ 1 h 185"/>
                  <a:gd name="T14" fmla="*/ 0 w 104"/>
                  <a:gd name="T15" fmla="*/ 1 h 185"/>
                  <a:gd name="T16" fmla="*/ 0 60000 65536"/>
                  <a:gd name="T17" fmla="*/ 0 60000 65536"/>
                  <a:gd name="T18" fmla="*/ 0 60000 65536"/>
                  <a:gd name="T19" fmla="*/ 0 60000 65536"/>
                  <a:gd name="T20" fmla="*/ 0 60000 65536"/>
                  <a:gd name="T21" fmla="*/ 0 60000 65536"/>
                  <a:gd name="T22" fmla="*/ 0 60000 65536"/>
                  <a:gd name="T23" fmla="*/ 0 60000 65536"/>
                  <a:gd name="T24" fmla="*/ 0 w 104"/>
                  <a:gd name="T25" fmla="*/ 0 h 185"/>
                  <a:gd name="T26" fmla="*/ 104 w 104"/>
                  <a:gd name="T27" fmla="*/ 185 h 1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4" h="185">
                    <a:moveTo>
                      <a:pt x="0" y="121"/>
                    </a:moveTo>
                    <a:lnTo>
                      <a:pt x="18" y="0"/>
                    </a:lnTo>
                    <a:lnTo>
                      <a:pt x="104" y="8"/>
                    </a:lnTo>
                    <a:lnTo>
                      <a:pt x="66" y="85"/>
                    </a:lnTo>
                    <a:lnTo>
                      <a:pt x="66" y="180"/>
                    </a:lnTo>
                    <a:lnTo>
                      <a:pt x="15" y="185"/>
                    </a:lnTo>
                    <a:lnTo>
                      <a:pt x="22" y="127"/>
                    </a:lnTo>
                    <a:lnTo>
                      <a:pt x="0" y="12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0" name="16310268.375534.51.8752.755">
                <a:extLst>
                  <a:ext uri="{FF2B5EF4-FFF2-40B4-BE49-F238E27FC236}">
                    <a16:creationId xmlns:a16="http://schemas.microsoft.com/office/drawing/2014/main" id="{C47F6FF1-1993-63EB-DCC3-696BC60FFD19}"/>
                  </a:ext>
                </a:extLst>
              </p:cNvPr>
              <p:cNvSpPr>
                <a:spLocks/>
              </p:cNvSpPr>
              <p:nvPr/>
            </p:nvSpPr>
            <p:spPr bwMode="auto">
              <a:xfrm>
                <a:off x="6483281" y="2102415"/>
                <a:ext cx="44417" cy="29126"/>
              </a:xfrm>
              <a:custGeom>
                <a:avLst/>
                <a:gdLst>
                  <a:gd name="T0" fmla="*/ 0 w 66"/>
                  <a:gd name="T1" fmla="*/ 1 h 38"/>
                  <a:gd name="T2" fmla="*/ 1 w 66"/>
                  <a:gd name="T3" fmla="*/ 0 h 38"/>
                  <a:gd name="T4" fmla="*/ 1 w 66"/>
                  <a:gd name="T5" fmla="*/ 1 h 38"/>
                  <a:gd name="T6" fmla="*/ 0 w 66"/>
                  <a:gd name="T7" fmla="*/ 1 h 38"/>
                  <a:gd name="T8" fmla="*/ 0 60000 65536"/>
                  <a:gd name="T9" fmla="*/ 0 60000 65536"/>
                  <a:gd name="T10" fmla="*/ 0 60000 65536"/>
                  <a:gd name="T11" fmla="*/ 0 60000 65536"/>
                  <a:gd name="T12" fmla="*/ 0 w 66"/>
                  <a:gd name="T13" fmla="*/ 0 h 38"/>
                  <a:gd name="T14" fmla="*/ 66 w 66"/>
                  <a:gd name="T15" fmla="*/ 38 h 38"/>
                </a:gdLst>
                <a:ahLst/>
                <a:cxnLst>
                  <a:cxn ang="T8">
                    <a:pos x="T0" y="T1"/>
                  </a:cxn>
                  <a:cxn ang="T9">
                    <a:pos x="T2" y="T3"/>
                  </a:cxn>
                  <a:cxn ang="T10">
                    <a:pos x="T4" y="T5"/>
                  </a:cxn>
                  <a:cxn ang="T11">
                    <a:pos x="T6" y="T7"/>
                  </a:cxn>
                </a:cxnLst>
                <a:rect l="T12" t="T13" r="T14" b="T15"/>
                <a:pathLst>
                  <a:path w="66" h="38">
                    <a:moveTo>
                      <a:pt x="0" y="38"/>
                    </a:moveTo>
                    <a:lnTo>
                      <a:pt x="19" y="0"/>
                    </a:lnTo>
                    <a:lnTo>
                      <a:pt x="66" y="21"/>
                    </a:lnTo>
                    <a:lnTo>
                      <a:pt x="0" y="3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1" name="16311257.375539.1257.58.55">
                <a:extLst>
                  <a:ext uri="{FF2B5EF4-FFF2-40B4-BE49-F238E27FC236}">
                    <a16:creationId xmlns:a16="http://schemas.microsoft.com/office/drawing/2014/main" id="{2F58227C-05F4-6B10-3D15-99AECA3A85CE}"/>
                  </a:ext>
                </a:extLst>
              </p:cNvPr>
              <p:cNvSpPr>
                <a:spLocks/>
              </p:cNvSpPr>
              <p:nvPr/>
            </p:nvSpPr>
            <p:spPr bwMode="auto">
              <a:xfrm>
                <a:off x="6558656" y="1927651"/>
                <a:ext cx="137289" cy="118041"/>
              </a:xfrm>
              <a:custGeom>
                <a:avLst/>
                <a:gdLst>
                  <a:gd name="T0" fmla="*/ 0 w 203"/>
                  <a:gd name="T1" fmla="*/ 1 h 154"/>
                  <a:gd name="T2" fmla="*/ 1 w 203"/>
                  <a:gd name="T3" fmla="*/ 1 h 154"/>
                  <a:gd name="T4" fmla="*/ 1 w 203"/>
                  <a:gd name="T5" fmla="*/ 1 h 154"/>
                  <a:gd name="T6" fmla="*/ 1 w 203"/>
                  <a:gd name="T7" fmla="*/ 1 h 154"/>
                  <a:gd name="T8" fmla="*/ 1 w 203"/>
                  <a:gd name="T9" fmla="*/ 1 h 154"/>
                  <a:gd name="T10" fmla="*/ 1 w 203"/>
                  <a:gd name="T11" fmla="*/ 1 h 154"/>
                  <a:gd name="T12" fmla="*/ 1 w 203"/>
                  <a:gd name="T13" fmla="*/ 1 h 154"/>
                  <a:gd name="T14" fmla="*/ 1 w 203"/>
                  <a:gd name="T15" fmla="*/ 1 h 154"/>
                  <a:gd name="T16" fmla="*/ 1 w 203"/>
                  <a:gd name="T17" fmla="*/ 1 h 154"/>
                  <a:gd name="T18" fmla="*/ 1 w 203"/>
                  <a:gd name="T19" fmla="*/ 1 h 154"/>
                  <a:gd name="T20" fmla="*/ 1 w 203"/>
                  <a:gd name="T21" fmla="*/ 0 h 154"/>
                  <a:gd name="T22" fmla="*/ 1 w 203"/>
                  <a:gd name="T23" fmla="*/ 1 h 154"/>
                  <a:gd name="T24" fmla="*/ 1 w 203"/>
                  <a:gd name="T25" fmla="*/ 1 h 154"/>
                  <a:gd name="T26" fmla="*/ 0 w 203"/>
                  <a:gd name="T27" fmla="*/ 1 h 1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3"/>
                  <a:gd name="T43" fmla="*/ 0 h 154"/>
                  <a:gd name="T44" fmla="*/ 203 w 203"/>
                  <a:gd name="T45" fmla="*/ 154 h 15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3" h="154">
                    <a:moveTo>
                      <a:pt x="0" y="76"/>
                    </a:moveTo>
                    <a:lnTo>
                      <a:pt x="16" y="109"/>
                    </a:lnTo>
                    <a:lnTo>
                      <a:pt x="38" y="98"/>
                    </a:lnTo>
                    <a:lnTo>
                      <a:pt x="63" y="120"/>
                    </a:lnTo>
                    <a:lnTo>
                      <a:pt x="82" y="109"/>
                    </a:lnTo>
                    <a:lnTo>
                      <a:pt x="75" y="147"/>
                    </a:lnTo>
                    <a:lnTo>
                      <a:pt x="203" y="154"/>
                    </a:lnTo>
                    <a:lnTo>
                      <a:pt x="154" y="127"/>
                    </a:lnTo>
                    <a:lnTo>
                      <a:pt x="129" y="79"/>
                    </a:lnTo>
                    <a:lnTo>
                      <a:pt x="132" y="29"/>
                    </a:lnTo>
                    <a:lnTo>
                      <a:pt x="163" y="0"/>
                    </a:lnTo>
                    <a:lnTo>
                      <a:pt x="52" y="10"/>
                    </a:lnTo>
                    <a:lnTo>
                      <a:pt x="26" y="76"/>
                    </a:lnTo>
                    <a:lnTo>
                      <a:pt x="0" y="7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2" name="16318247.75657.2559.255">
                <a:extLst>
                  <a:ext uri="{FF2B5EF4-FFF2-40B4-BE49-F238E27FC236}">
                    <a16:creationId xmlns:a16="http://schemas.microsoft.com/office/drawing/2014/main" id="{D3834092-4B3C-2CE6-9DF1-587365748550}"/>
                  </a:ext>
                </a:extLst>
              </p:cNvPr>
              <p:cNvSpPr>
                <a:spLocks/>
              </p:cNvSpPr>
              <p:nvPr/>
            </p:nvSpPr>
            <p:spPr bwMode="auto">
              <a:xfrm>
                <a:off x="8471266" y="1775886"/>
                <a:ext cx="149403" cy="79716"/>
              </a:xfrm>
              <a:custGeom>
                <a:avLst/>
                <a:gdLst>
                  <a:gd name="T0" fmla="*/ 0 w 223"/>
                  <a:gd name="T1" fmla="*/ 1 h 103"/>
                  <a:gd name="T2" fmla="*/ 0 w 223"/>
                  <a:gd name="T3" fmla="*/ 1 h 103"/>
                  <a:gd name="T4" fmla="*/ 0 w 223"/>
                  <a:gd name="T5" fmla="*/ 0 h 103"/>
                  <a:gd name="T6" fmla="*/ 0 w 223"/>
                  <a:gd name="T7" fmla="*/ 1 h 103"/>
                  <a:gd name="T8" fmla="*/ 0 w 223"/>
                  <a:gd name="T9" fmla="*/ 1 h 103"/>
                  <a:gd name="T10" fmla="*/ 0 w 223"/>
                  <a:gd name="T11" fmla="*/ 1 h 103"/>
                  <a:gd name="T12" fmla="*/ 0 w 223"/>
                  <a:gd name="T13" fmla="*/ 1 h 103"/>
                  <a:gd name="T14" fmla="*/ 0 w 223"/>
                  <a:gd name="T15" fmla="*/ 1 h 103"/>
                  <a:gd name="T16" fmla="*/ 0 w 223"/>
                  <a:gd name="T17" fmla="*/ 1 h 103"/>
                  <a:gd name="T18" fmla="*/ 0 w 223"/>
                  <a:gd name="T19" fmla="*/ 1 h 103"/>
                  <a:gd name="T20" fmla="*/ 0 w 223"/>
                  <a:gd name="T21" fmla="*/ 1 h 103"/>
                  <a:gd name="T22" fmla="*/ 0 w 223"/>
                  <a:gd name="T23" fmla="*/ 1 h 1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3"/>
                  <a:gd name="T37" fmla="*/ 0 h 103"/>
                  <a:gd name="T38" fmla="*/ 223 w 223"/>
                  <a:gd name="T39" fmla="*/ 103 h 10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3" h="103">
                    <a:moveTo>
                      <a:pt x="0" y="56"/>
                    </a:moveTo>
                    <a:lnTo>
                      <a:pt x="45" y="4"/>
                    </a:lnTo>
                    <a:lnTo>
                      <a:pt x="77" y="0"/>
                    </a:lnTo>
                    <a:lnTo>
                      <a:pt x="128" y="40"/>
                    </a:lnTo>
                    <a:lnTo>
                      <a:pt x="136" y="11"/>
                    </a:lnTo>
                    <a:lnTo>
                      <a:pt x="192" y="34"/>
                    </a:lnTo>
                    <a:lnTo>
                      <a:pt x="187" y="72"/>
                    </a:lnTo>
                    <a:lnTo>
                      <a:pt x="223" y="85"/>
                    </a:lnTo>
                    <a:lnTo>
                      <a:pt x="106" y="92"/>
                    </a:lnTo>
                    <a:lnTo>
                      <a:pt x="99" y="76"/>
                    </a:lnTo>
                    <a:lnTo>
                      <a:pt x="80" y="103"/>
                    </a:lnTo>
                    <a:lnTo>
                      <a:pt x="0" y="5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3" name="16319247.875663.753.3755.6255">
                <a:extLst>
                  <a:ext uri="{FF2B5EF4-FFF2-40B4-BE49-F238E27FC236}">
                    <a16:creationId xmlns:a16="http://schemas.microsoft.com/office/drawing/2014/main" id="{67450154-5F29-0392-AFCD-C654A886D42B}"/>
                  </a:ext>
                </a:extLst>
              </p:cNvPr>
              <p:cNvSpPr>
                <a:spLocks/>
              </p:cNvSpPr>
              <p:nvPr/>
            </p:nvSpPr>
            <p:spPr bwMode="auto">
              <a:xfrm>
                <a:off x="8576250" y="1778954"/>
                <a:ext cx="91525" cy="53655"/>
              </a:xfrm>
              <a:custGeom>
                <a:avLst/>
                <a:gdLst>
                  <a:gd name="T0" fmla="*/ 0 w 138"/>
                  <a:gd name="T1" fmla="*/ 0 h 70"/>
                  <a:gd name="T2" fmla="*/ 0 w 138"/>
                  <a:gd name="T3" fmla="*/ 1 h 70"/>
                  <a:gd name="T4" fmla="*/ 0 w 138"/>
                  <a:gd name="T5" fmla="*/ 1 h 70"/>
                  <a:gd name="T6" fmla="*/ 0 w 138"/>
                  <a:gd name="T7" fmla="*/ 1 h 70"/>
                  <a:gd name="T8" fmla="*/ 0 w 138"/>
                  <a:gd name="T9" fmla="*/ 1 h 70"/>
                  <a:gd name="T10" fmla="*/ 0 w 138"/>
                  <a:gd name="T11" fmla="*/ 1 h 70"/>
                  <a:gd name="T12" fmla="*/ 0 w 138"/>
                  <a:gd name="T13" fmla="*/ 0 h 70"/>
                  <a:gd name="T14" fmla="*/ 0 60000 65536"/>
                  <a:gd name="T15" fmla="*/ 0 60000 65536"/>
                  <a:gd name="T16" fmla="*/ 0 60000 65536"/>
                  <a:gd name="T17" fmla="*/ 0 60000 65536"/>
                  <a:gd name="T18" fmla="*/ 0 60000 65536"/>
                  <a:gd name="T19" fmla="*/ 0 60000 65536"/>
                  <a:gd name="T20" fmla="*/ 0 60000 65536"/>
                  <a:gd name="T21" fmla="*/ 0 w 138"/>
                  <a:gd name="T22" fmla="*/ 0 h 70"/>
                  <a:gd name="T23" fmla="*/ 138 w 138"/>
                  <a:gd name="T24" fmla="*/ 70 h 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8" h="70">
                    <a:moveTo>
                      <a:pt x="0" y="0"/>
                    </a:moveTo>
                    <a:lnTo>
                      <a:pt x="46" y="26"/>
                    </a:lnTo>
                    <a:lnTo>
                      <a:pt x="33" y="50"/>
                    </a:lnTo>
                    <a:lnTo>
                      <a:pt x="57" y="70"/>
                    </a:lnTo>
                    <a:lnTo>
                      <a:pt x="98" y="70"/>
                    </a:lnTo>
                    <a:lnTo>
                      <a:pt x="138" y="44"/>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4" name="16320306.25664.2517.6254.3755">
                <a:extLst>
                  <a:ext uri="{FF2B5EF4-FFF2-40B4-BE49-F238E27FC236}">
                    <a16:creationId xmlns:a16="http://schemas.microsoft.com/office/drawing/2014/main" id="{37E174D9-A2C3-315D-CD0F-2FF3B7A54736}"/>
                  </a:ext>
                </a:extLst>
              </p:cNvPr>
              <p:cNvSpPr>
                <a:spLocks/>
              </p:cNvSpPr>
              <p:nvPr/>
            </p:nvSpPr>
            <p:spPr bwMode="auto">
              <a:xfrm>
                <a:off x="8584328" y="2698754"/>
                <a:ext cx="69989" cy="277474"/>
              </a:xfrm>
              <a:custGeom>
                <a:avLst/>
                <a:gdLst>
                  <a:gd name="T0" fmla="*/ 0 w 103"/>
                  <a:gd name="T1" fmla="*/ 0 h 363"/>
                  <a:gd name="T2" fmla="*/ 1 w 103"/>
                  <a:gd name="T3" fmla="*/ 0 h 363"/>
                  <a:gd name="T4" fmla="*/ 1 w 103"/>
                  <a:gd name="T5" fmla="*/ 0 h 363"/>
                  <a:gd name="T6" fmla="*/ 1 w 103"/>
                  <a:gd name="T7" fmla="*/ 0 h 363"/>
                  <a:gd name="T8" fmla="*/ 1 w 103"/>
                  <a:gd name="T9" fmla="*/ 0 h 363"/>
                  <a:gd name="T10" fmla="*/ 1 w 103"/>
                  <a:gd name="T11" fmla="*/ 0 h 363"/>
                  <a:gd name="T12" fmla="*/ 1 w 103"/>
                  <a:gd name="T13" fmla="*/ 0 h 363"/>
                  <a:gd name="T14" fmla="*/ 1 w 103"/>
                  <a:gd name="T15" fmla="*/ 0 h 363"/>
                  <a:gd name="T16" fmla="*/ 1 w 103"/>
                  <a:gd name="T17" fmla="*/ 0 h 363"/>
                  <a:gd name="T18" fmla="*/ 1 w 103"/>
                  <a:gd name="T19" fmla="*/ 0 h 363"/>
                  <a:gd name="T20" fmla="*/ 0 w 103"/>
                  <a:gd name="T21" fmla="*/ 0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
                  <a:gd name="T34" fmla="*/ 0 h 363"/>
                  <a:gd name="T35" fmla="*/ 103 w 103"/>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 h="363">
                    <a:moveTo>
                      <a:pt x="0" y="92"/>
                    </a:moveTo>
                    <a:lnTo>
                      <a:pt x="18" y="137"/>
                    </a:lnTo>
                    <a:lnTo>
                      <a:pt x="18" y="363"/>
                    </a:lnTo>
                    <a:lnTo>
                      <a:pt x="36" y="335"/>
                    </a:lnTo>
                    <a:lnTo>
                      <a:pt x="62" y="353"/>
                    </a:lnTo>
                    <a:lnTo>
                      <a:pt x="32" y="291"/>
                    </a:lnTo>
                    <a:lnTo>
                      <a:pt x="48" y="228"/>
                    </a:lnTo>
                    <a:lnTo>
                      <a:pt x="103" y="247"/>
                    </a:lnTo>
                    <a:lnTo>
                      <a:pt x="51" y="128"/>
                    </a:lnTo>
                    <a:lnTo>
                      <a:pt x="36" y="0"/>
                    </a:lnTo>
                    <a:lnTo>
                      <a:pt x="0" y="9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5" name="16321249.875670.6252.56.3755">
                <a:extLst>
                  <a:ext uri="{FF2B5EF4-FFF2-40B4-BE49-F238E27FC236}">
                    <a16:creationId xmlns:a16="http://schemas.microsoft.com/office/drawing/2014/main" id="{CD75DF74-6C39-3F21-48D4-343ED5BA52B3}"/>
                  </a:ext>
                </a:extLst>
              </p:cNvPr>
              <p:cNvSpPr>
                <a:spLocks/>
              </p:cNvSpPr>
              <p:nvPr/>
            </p:nvSpPr>
            <p:spPr bwMode="auto">
              <a:xfrm>
                <a:off x="8686619" y="1809614"/>
                <a:ext cx="104984" cy="39858"/>
              </a:xfrm>
              <a:custGeom>
                <a:avLst/>
                <a:gdLst>
                  <a:gd name="T0" fmla="*/ 0 w 155"/>
                  <a:gd name="T1" fmla="*/ 0 h 52"/>
                  <a:gd name="T2" fmla="*/ 1 w 155"/>
                  <a:gd name="T3" fmla="*/ 1 h 52"/>
                  <a:gd name="T4" fmla="*/ 1 w 155"/>
                  <a:gd name="T5" fmla="*/ 1 h 52"/>
                  <a:gd name="T6" fmla="*/ 1 w 155"/>
                  <a:gd name="T7" fmla="*/ 1 h 52"/>
                  <a:gd name="T8" fmla="*/ 0 w 155"/>
                  <a:gd name="T9" fmla="*/ 0 h 52"/>
                  <a:gd name="T10" fmla="*/ 0 60000 65536"/>
                  <a:gd name="T11" fmla="*/ 0 60000 65536"/>
                  <a:gd name="T12" fmla="*/ 0 60000 65536"/>
                  <a:gd name="T13" fmla="*/ 0 60000 65536"/>
                  <a:gd name="T14" fmla="*/ 0 60000 65536"/>
                  <a:gd name="T15" fmla="*/ 0 w 155"/>
                  <a:gd name="T16" fmla="*/ 0 h 52"/>
                  <a:gd name="T17" fmla="*/ 155 w 155"/>
                  <a:gd name="T18" fmla="*/ 52 h 52"/>
                </a:gdLst>
                <a:ahLst/>
                <a:cxnLst>
                  <a:cxn ang="T10">
                    <a:pos x="T0" y="T1"/>
                  </a:cxn>
                  <a:cxn ang="T11">
                    <a:pos x="T2" y="T3"/>
                  </a:cxn>
                  <a:cxn ang="T12">
                    <a:pos x="T4" y="T5"/>
                  </a:cxn>
                  <a:cxn ang="T13">
                    <a:pos x="T6" y="T7"/>
                  </a:cxn>
                  <a:cxn ang="T14">
                    <a:pos x="T8" y="T9"/>
                  </a:cxn>
                </a:cxnLst>
                <a:rect l="T15" t="T16" r="T17" b="T18"/>
                <a:pathLst>
                  <a:path w="155" h="52">
                    <a:moveTo>
                      <a:pt x="0" y="0"/>
                    </a:moveTo>
                    <a:lnTo>
                      <a:pt x="28" y="36"/>
                    </a:lnTo>
                    <a:lnTo>
                      <a:pt x="99" y="52"/>
                    </a:lnTo>
                    <a:lnTo>
                      <a:pt x="155" y="41"/>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6" name="16322328.545514.517.1255">
                <a:extLst>
                  <a:ext uri="{FF2B5EF4-FFF2-40B4-BE49-F238E27FC236}">
                    <a16:creationId xmlns:a16="http://schemas.microsoft.com/office/drawing/2014/main" id="{66E9345F-7E2F-90F3-481C-2C2029652C3B}"/>
                  </a:ext>
                </a:extLst>
              </p:cNvPr>
              <p:cNvSpPr>
                <a:spLocks/>
              </p:cNvSpPr>
              <p:nvPr/>
            </p:nvSpPr>
            <p:spPr bwMode="auto">
              <a:xfrm>
                <a:off x="5196542" y="3049811"/>
                <a:ext cx="277269" cy="226883"/>
              </a:xfrm>
              <a:custGeom>
                <a:avLst/>
                <a:gdLst>
                  <a:gd name="T0" fmla="*/ 0 w 411"/>
                  <a:gd name="T1" fmla="*/ 1 h 295"/>
                  <a:gd name="T2" fmla="*/ 1 w 411"/>
                  <a:gd name="T3" fmla="*/ 1 h 295"/>
                  <a:gd name="T4" fmla="*/ 1 w 411"/>
                  <a:gd name="T5" fmla="*/ 1 h 295"/>
                  <a:gd name="T6" fmla="*/ 1 w 411"/>
                  <a:gd name="T7" fmla="*/ 1 h 295"/>
                  <a:gd name="T8" fmla="*/ 1 w 411"/>
                  <a:gd name="T9" fmla="*/ 1 h 295"/>
                  <a:gd name="T10" fmla="*/ 1 w 411"/>
                  <a:gd name="T11" fmla="*/ 1 h 295"/>
                  <a:gd name="T12" fmla="*/ 1 w 411"/>
                  <a:gd name="T13" fmla="*/ 1 h 295"/>
                  <a:gd name="T14" fmla="*/ 1 w 411"/>
                  <a:gd name="T15" fmla="*/ 1 h 295"/>
                  <a:gd name="T16" fmla="*/ 1 w 411"/>
                  <a:gd name="T17" fmla="*/ 1 h 295"/>
                  <a:gd name="T18" fmla="*/ 1 w 411"/>
                  <a:gd name="T19" fmla="*/ 1 h 295"/>
                  <a:gd name="T20" fmla="*/ 1 w 411"/>
                  <a:gd name="T21" fmla="*/ 1 h 295"/>
                  <a:gd name="T22" fmla="*/ 1 w 411"/>
                  <a:gd name="T23" fmla="*/ 1 h 295"/>
                  <a:gd name="T24" fmla="*/ 1 w 411"/>
                  <a:gd name="T25" fmla="*/ 1 h 295"/>
                  <a:gd name="T26" fmla="*/ 1 w 411"/>
                  <a:gd name="T27" fmla="*/ 1 h 295"/>
                  <a:gd name="T28" fmla="*/ 1 w 411"/>
                  <a:gd name="T29" fmla="*/ 1 h 295"/>
                  <a:gd name="T30" fmla="*/ 1 w 411"/>
                  <a:gd name="T31" fmla="*/ 0 h 295"/>
                  <a:gd name="T32" fmla="*/ 0 w 411"/>
                  <a:gd name="T33" fmla="*/ 1 h 29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1"/>
                  <a:gd name="T52" fmla="*/ 0 h 295"/>
                  <a:gd name="T53" fmla="*/ 411 w 411"/>
                  <a:gd name="T54" fmla="*/ 295 h 29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1" h="295">
                    <a:moveTo>
                      <a:pt x="0" y="24"/>
                    </a:moveTo>
                    <a:lnTo>
                      <a:pt x="14" y="73"/>
                    </a:lnTo>
                    <a:lnTo>
                      <a:pt x="100" y="81"/>
                    </a:lnTo>
                    <a:lnTo>
                      <a:pt x="62" y="158"/>
                    </a:lnTo>
                    <a:lnTo>
                      <a:pt x="62" y="253"/>
                    </a:lnTo>
                    <a:lnTo>
                      <a:pt x="124" y="295"/>
                    </a:lnTo>
                    <a:lnTo>
                      <a:pt x="243" y="268"/>
                    </a:lnTo>
                    <a:lnTo>
                      <a:pt x="310" y="196"/>
                    </a:lnTo>
                    <a:lnTo>
                      <a:pt x="297" y="167"/>
                    </a:lnTo>
                    <a:lnTo>
                      <a:pt x="332" y="115"/>
                    </a:lnTo>
                    <a:lnTo>
                      <a:pt x="409" y="74"/>
                    </a:lnTo>
                    <a:lnTo>
                      <a:pt x="411" y="51"/>
                    </a:lnTo>
                    <a:lnTo>
                      <a:pt x="361" y="45"/>
                    </a:lnTo>
                    <a:lnTo>
                      <a:pt x="350" y="41"/>
                    </a:lnTo>
                    <a:lnTo>
                      <a:pt x="246" y="11"/>
                    </a:lnTo>
                    <a:lnTo>
                      <a:pt x="36" y="0"/>
                    </a:lnTo>
                    <a:lnTo>
                      <a:pt x="0" y="2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7" name="16323394.3753876.255.755">
                <a:extLst>
                  <a:ext uri="{FF2B5EF4-FFF2-40B4-BE49-F238E27FC236}">
                    <a16:creationId xmlns:a16="http://schemas.microsoft.com/office/drawing/2014/main" id="{940D9509-8384-1C38-4F88-140810E6E48F}"/>
                  </a:ext>
                </a:extLst>
              </p:cNvPr>
              <p:cNvSpPr>
                <a:spLocks/>
              </p:cNvSpPr>
              <p:nvPr/>
            </p:nvSpPr>
            <p:spPr bwMode="auto">
              <a:xfrm>
                <a:off x="4784900" y="4131606"/>
                <a:ext cx="92871" cy="99645"/>
              </a:xfrm>
              <a:custGeom>
                <a:avLst/>
                <a:gdLst>
                  <a:gd name="T0" fmla="*/ 0 w 138"/>
                  <a:gd name="T1" fmla="*/ 1 h 130"/>
                  <a:gd name="T2" fmla="*/ 1 w 138"/>
                  <a:gd name="T3" fmla="*/ 0 h 130"/>
                  <a:gd name="T4" fmla="*/ 1 w 138"/>
                  <a:gd name="T5" fmla="*/ 1 h 130"/>
                  <a:gd name="T6" fmla="*/ 1 w 138"/>
                  <a:gd name="T7" fmla="*/ 1 h 130"/>
                  <a:gd name="T8" fmla="*/ 1 w 138"/>
                  <a:gd name="T9" fmla="*/ 1 h 130"/>
                  <a:gd name="T10" fmla="*/ 0 w 138"/>
                  <a:gd name="T11" fmla="*/ 1 h 130"/>
                  <a:gd name="T12" fmla="*/ 0 60000 65536"/>
                  <a:gd name="T13" fmla="*/ 0 60000 65536"/>
                  <a:gd name="T14" fmla="*/ 0 60000 65536"/>
                  <a:gd name="T15" fmla="*/ 0 60000 65536"/>
                  <a:gd name="T16" fmla="*/ 0 60000 65536"/>
                  <a:gd name="T17" fmla="*/ 0 60000 65536"/>
                  <a:gd name="T18" fmla="*/ 0 w 138"/>
                  <a:gd name="T19" fmla="*/ 0 h 130"/>
                  <a:gd name="T20" fmla="*/ 138 w 138"/>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138" h="130">
                    <a:moveTo>
                      <a:pt x="0" y="60"/>
                    </a:moveTo>
                    <a:lnTo>
                      <a:pt x="37" y="0"/>
                    </a:lnTo>
                    <a:lnTo>
                      <a:pt x="138" y="11"/>
                    </a:lnTo>
                    <a:lnTo>
                      <a:pt x="124" y="121"/>
                    </a:lnTo>
                    <a:lnTo>
                      <a:pt x="54" y="130"/>
                    </a:lnTo>
                    <a:lnTo>
                      <a:pt x="0" y="6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8" name="16327269.625483.2534.2517.755">
                <a:extLst>
                  <a:ext uri="{FF2B5EF4-FFF2-40B4-BE49-F238E27FC236}">
                    <a16:creationId xmlns:a16="http://schemas.microsoft.com/office/drawing/2014/main" id="{F4B273F1-0FE4-0C8B-BEC7-849084C4889F}"/>
                  </a:ext>
                </a:extLst>
              </p:cNvPr>
              <p:cNvSpPr>
                <a:spLocks/>
              </p:cNvSpPr>
              <p:nvPr/>
            </p:nvSpPr>
            <p:spPr bwMode="auto">
              <a:xfrm>
                <a:off x="5652824" y="2120813"/>
                <a:ext cx="288036" cy="539618"/>
              </a:xfrm>
              <a:custGeom>
                <a:avLst/>
                <a:gdLst>
                  <a:gd name="T0" fmla="*/ 0 w 429"/>
                  <a:gd name="T1" fmla="*/ 1 h 704"/>
                  <a:gd name="T2" fmla="*/ 0 w 429"/>
                  <a:gd name="T3" fmla="*/ 1 h 704"/>
                  <a:gd name="T4" fmla="*/ 0 w 429"/>
                  <a:gd name="T5" fmla="*/ 1 h 704"/>
                  <a:gd name="T6" fmla="*/ 0 w 429"/>
                  <a:gd name="T7" fmla="*/ 1 h 704"/>
                  <a:gd name="T8" fmla="*/ 0 w 429"/>
                  <a:gd name="T9" fmla="*/ 1 h 704"/>
                  <a:gd name="T10" fmla="*/ 0 w 429"/>
                  <a:gd name="T11" fmla="*/ 1 h 704"/>
                  <a:gd name="T12" fmla="*/ 0 w 429"/>
                  <a:gd name="T13" fmla="*/ 1 h 704"/>
                  <a:gd name="T14" fmla="*/ 0 w 429"/>
                  <a:gd name="T15" fmla="*/ 1 h 704"/>
                  <a:gd name="T16" fmla="*/ 0 w 429"/>
                  <a:gd name="T17" fmla="*/ 1 h 704"/>
                  <a:gd name="T18" fmla="*/ 0 w 429"/>
                  <a:gd name="T19" fmla="*/ 1 h 704"/>
                  <a:gd name="T20" fmla="*/ 0 w 429"/>
                  <a:gd name="T21" fmla="*/ 1 h 704"/>
                  <a:gd name="T22" fmla="*/ 0 w 429"/>
                  <a:gd name="T23" fmla="*/ 1 h 704"/>
                  <a:gd name="T24" fmla="*/ 0 w 429"/>
                  <a:gd name="T25" fmla="*/ 1 h 704"/>
                  <a:gd name="T26" fmla="*/ 0 w 429"/>
                  <a:gd name="T27" fmla="*/ 1 h 704"/>
                  <a:gd name="T28" fmla="*/ 0 w 429"/>
                  <a:gd name="T29" fmla="*/ 1 h 704"/>
                  <a:gd name="T30" fmla="*/ 0 w 429"/>
                  <a:gd name="T31" fmla="*/ 1 h 704"/>
                  <a:gd name="T32" fmla="*/ 0 w 429"/>
                  <a:gd name="T33" fmla="*/ 1 h 704"/>
                  <a:gd name="T34" fmla="*/ 0 w 429"/>
                  <a:gd name="T35" fmla="*/ 1 h 704"/>
                  <a:gd name="T36" fmla="*/ 0 w 429"/>
                  <a:gd name="T37" fmla="*/ 1 h 704"/>
                  <a:gd name="T38" fmla="*/ 0 w 429"/>
                  <a:gd name="T39" fmla="*/ 1 h 704"/>
                  <a:gd name="T40" fmla="*/ 0 w 429"/>
                  <a:gd name="T41" fmla="*/ 0 h 704"/>
                  <a:gd name="T42" fmla="*/ 0 w 429"/>
                  <a:gd name="T43" fmla="*/ 0 h 704"/>
                  <a:gd name="T44" fmla="*/ 0 w 429"/>
                  <a:gd name="T45" fmla="*/ 1 h 704"/>
                  <a:gd name="T46" fmla="*/ 0 w 429"/>
                  <a:gd name="T47" fmla="*/ 1 h 704"/>
                  <a:gd name="T48" fmla="*/ 0 w 429"/>
                  <a:gd name="T49" fmla="*/ 1 h 704"/>
                  <a:gd name="T50" fmla="*/ 0 w 429"/>
                  <a:gd name="T51" fmla="*/ 1 h 704"/>
                  <a:gd name="T52" fmla="*/ 0 w 429"/>
                  <a:gd name="T53" fmla="*/ 1 h 704"/>
                  <a:gd name="T54" fmla="*/ 0 w 429"/>
                  <a:gd name="T55" fmla="*/ 1 h 704"/>
                  <a:gd name="T56" fmla="*/ 0 w 429"/>
                  <a:gd name="T57" fmla="*/ 1 h 704"/>
                  <a:gd name="T58" fmla="*/ 0 w 429"/>
                  <a:gd name="T59" fmla="*/ 1 h 704"/>
                  <a:gd name="T60" fmla="*/ 0 w 429"/>
                  <a:gd name="T61" fmla="*/ 1 h 704"/>
                  <a:gd name="T62" fmla="*/ 0 w 429"/>
                  <a:gd name="T63" fmla="*/ 1 h 704"/>
                  <a:gd name="T64" fmla="*/ 0 w 429"/>
                  <a:gd name="T65" fmla="*/ 1 h 704"/>
                  <a:gd name="T66" fmla="*/ 0 w 429"/>
                  <a:gd name="T67" fmla="*/ 1 h 704"/>
                  <a:gd name="T68" fmla="*/ 0 w 429"/>
                  <a:gd name="T69" fmla="*/ 1 h 704"/>
                  <a:gd name="T70" fmla="*/ 0 w 429"/>
                  <a:gd name="T71" fmla="*/ 1 h 70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9"/>
                  <a:gd name="T109" fmla="*/ 0 h 704"/>
                  <a:gd name="T110" fmla="*/ 429 w 429"/>
                  <a:gd name="T111" fmla="*/ 704 h 70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9" h="704">
                    <a:moveTo>
                      <a:pt x="0" y="529"/>
                    </a:moveTo>
                    <a:lnTo>
                      <a:pt x="18" y="611"/>
                    </a:lnTo>
                    <a:lnTo>
                      <a:pt x="55" y="649"/>
                    </a:lnTo>
                    <a:lnTo>
                      <a:pt x="51" y="704"/>
                    </a:lnTo>
                    <a:lnTo>
                      <a:pt x="155" y="667"/>
                    </a:lnTo>
                    <a:lnTo>
                      <a:pt x="183" y="556"/>
                    </a:lnTo>
                    <a:lnTo>
                      <a:pt x="162" y="551"/>
                    </a:lnTo>
                    <a:lnTo>
                      <a:pt x="241" y="517"/>
                    </a:lnTo>
                    <a:lnTo>
                      <a:pt x="166" y="509"/>
                    </a:lnTo>
                    <a:lnTo>
                      <a:pt x="223" y="517"/>
                    </a:lnTo>
                    <a:lnTo>
                      <a:pt x="253" y="488"/>
                    </a:lnTo>
                    <a:lnTo>
                      <a:pt x="208" y="452"/>
                    </a:lnTo>
                    <a:lnTo>
                      <a:pt x="165" y="477"/>
                    </a:lnTo>
                    <a:lnTo>
                      <a:pt x="199" y="455"/>
                    </a:lnTo>
                    <a:lnTo>
                      <a:pt x="201" y="353"/>
                    </a:lnTo>
                    <a:lnTo>
                      <a:pt x="345" y="257"/>
                    </a:lnTo>
                    <a:lnTo>
                      <a:pt x="334" y="236"/>
                    </a:lnTo>
                    <a:lnTo>
                      <a:pt x="359" y="188"/>
                    </a:lnTo>
                    <a:lnTo>
                      <a:pt x="429" y="173"/>
                    </a:lnTo>
                    <a:lnTo>
                      <a:pt x="411" y="59"/>
                    </a:lnTo>
                    <a:lnTo>
                      <a:pt x="313" y="0"/>
                    </a:lnTo>
                    <a:lnTo>
                      <a:pt x="298" y="0"/>
                    </a:lnTo>
                    <a:lnTo>
                      <a:pt x="297" y="37"/>
                    </a:lnTo>
                    <a:lnTo>
                      <a:pt x="235" y="30"/>
                    </a:lnTo>
                    <a:lnTo>
                      <a:pt x="223" y="59"/>
                    </a:lnTo>
                    <a:lnTo>
                      <a:pt x="181" y="67"/>
                    </a:lnTo>
                    <a:lnTo>
                      <a:pt x="169" y="113"/>
                    </a:lnTo>
                    <a:lnTo>
                      <a:pt x="111" y="168"/>
                    </a:lnTo>
                    <a:lnTo>
                      <a:pt x="84" y="243"/>
                    </a:lnTo>
                    <a:lnTo>
                      <a:pt x="96" y="274"/>
                    </a:lnTo>
                    <a:lnTo>
                      <a:pt x="34" y="297"/>
                    </a:lnTo>
                    <a:lnTo>
                      <a:pt x="32" y="396"/>
                    </a:lnTo>
                    <a:lnTo>
                      <a:pt x="50" y="417"/>
                    </a:lnTo>
                    <a:lnTo>
                      <a:pt x="32" y="436"/>
                    </a:lnTo>
                    <a:lnTo>
                      <a:pt x="39" y="480"/>
                    </a:lnTo>
                    <a:lnTo>
                      <a:pt x="0" y="52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89" name="16328320.54763.565">
                <a:extLst>
                  <a:ext uri="{FF2B5EF4-FFF2-40B4-BE49-F238E27FC236}">
                    <a16:creationId xmlns:a16="http://schemas.microsoft.com/office/drawing/2014/main" id="{A0422769-F13F-BD03-EA07-0B19235A98F1}"/>
                  </a:ext>
                </a:extLst>
              </p:cNvPr>
              <p:cNvSpPr>
                <a:spLocks/>
              </p:cNvSpPr>
              <p:nvPr/>
            </p:nvSpPr>
            <p:spPr bwMode="auto">
              <a:xfrm>
                <a:off x="5535724" y="2922573"/>
                <a:ext cx="98256" cy="55188"/>
              </a:xfrm>
              <a:custGeom>
                <a:avLst/>
                <a:gdLst>
                  <a:gd name="T0" fmla="*/ 0 w 147"/>
                  <a:gd name="T1" fmla="*/ 0 h 73"/>
                  <a:gd name="T2" fmla="*/ 0 w 147"/>
                  <a:gd name="T3" fmla="*/ 0 h 73"/>
                  <a:gd name="T4" fmla="*/ 0 w 147"/>
                  <a:gd name="T5" fmla="*/ 0 h 73"/>
                  <a:gd name="T6" fmla="*/ 0 w 147"/>
                  <a:gd name="T7" fmla="*/ 0 h 73"/>
                  <a:gd name="T8" fmla="*/ 0 w 147"/>
                  <a:gd name="T9" fmla="*/ 0 h 73"/>
                  <a:gd name="T10" fmla="*/ 0 w 147"/>
                  <a:gd name="T11" fmla="*/ 0 h 73"/>
                  <a:gd name="T12" fmla="*/ 0 w 147"/>
                  <a:gd name="T13" fmla="*/ 0 h 73"/>
                  <a:gd name="T14" fmla="*/ 0 w 147"/>
                  <a:gd name="T15" fmla="*/ 0 h 73"/>
                  <a:gd name="T16" fmla="*/ 0 w 147"/>
                  <a:gd name="T17" fmla="*/ 0 h 73"/>
                  <a:gd name="T18" fmla="*/ 0 w 147"/>
                  <a:gd name="T19" fmla="*/ 0 h 7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7"/>
                  <a:gd name="T31" fmla="*/ 0 h 73"/>
                  <a:gd name="T32" fmla="*/ 147 w 147"/>
                  <a:gd name="T33" fmla="*/ 73 h 7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7" h="73">
                    <a:moveTo>
                      <a:pt x="0" y="50"/>
                    </a:moveTo>
                    <a:lnTo>
                      <a:pt x="33" y="73"/>
                    </a:lnTo>
                    <a:lnTo>
                      <a:pt x="80" y="53"/>
                    </a:lnTo>
                    <a:lnTo>
                      <a:pt x="100" y="72"/>
                    </a:lnTo>
                    <a:lnTo>
                      <a:pt x="147" y="33"/>
                    </a:lnTo>
                    <a:lnTo>
                      <a:pt x="119" y="29"/>
                    </a:lnTo>
                    <a:lnTo>
                      <a:pt x="118" y="11"/>
                    </a:lnTo>
                    <a:lnTo>
                      <a:pt x="114" y="7"/>
                    </a:lnTo>
                    <a:lnTo>
                      <a:pt x="49" y="0"/>
                    </a:lnTo>
                    <a:lnTo>
                      <a:pt x="0" y="5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0" name="16329340.75516.7599.8755">
                <a:extLst>
                  <a:ext uri="{FF2B5EF4-FFF2-40B4-BE49-F238E27FC236}">
                    <a16:creationId xmlns:a16="http://schemas.microsoft.com/office/drawing/2014/main" id="{C12E8785-17D5-868A-65DE-F56D084BD1A8}"/>
                  </a:ext>
                </a:extLst>
              </p:cNvPr>
              <p:cNvSpPr>
                <a:spLocks/>
              </p:cNvSpPr>
              <p:nvPr/>
            </p:nvSpPr>
            <p:spPr bwMode="auto">
              <a:xfrm>
                <a:off x="6196592" y="3242969"/>
                <a:ext cx="160169" cy="141037"/>
              </a:xfrm>
              <a:custGeom>
                <a:avLst/>
                <a:gdLst>
                  <a:gd name="T0" fmla="*/ 0 w 237"/>
                  <a:gd name="T1" fmla="*/ 1 h 183"/>
                  <a:gd name="T2" fmla="*/ 1 w 237"/>
                  <a:gd name="T3" fmla="*/ 1 h 183"/>
                  <a:gd name="T4" fmla="*/ 1 w 237"/>
                  <a:gd name="T5" fmla="*/ 1 h 183"/>
                  <a:gd name="T6" fmla="*/ 1 w 237"/>
                  <a:gd name="T7" fmla="*/ 1 h 183"/>
                  <a:gd name="T8" fmla="*/ 1 w 237"/>
                  <a:gd name="T9" fmla="*/ 1 h 183"/>
                  <a:gd name="T10" fmla="*/ 1 w 237"/>
                  <a:gd name="T11" fmla="*/ 1 h 183"/>
                  <a:gd name="T12" fmla="*/ 1 w 237"/>
                  <a:gd name="T13" fmla="*/ 0 h 183"/>
                  <a:gd name="T14" fmla="*/ 1 w 237"/>
                  <a:gd name="T15" fmla="*/ 1 h 183"/>
                  <a:gd name="T16" fmla="*/ 1 w 237"/>
                  <a:gd name="T17" fmla="*/ 1 h 183"/>
                  <a:gd name="T18" fmla="*/ 1 w 237"/>
                  <a:gd name="T19" fmla="*/ 1 h 183"/>
                  <a:gd name="T20" fmla="*/ 1 w 237"/>
                  <a:gd name="T21" fmla="*/ 1 h 183"/>
                  <a:gd name="T22" fmla="*/ 0 w 237"/>
                  <a:gd name="T23" fmla="*/ 1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7"/>
                  <a:gd name="T37" fmla="*/ 0 h 183"/>
                  <a:gd name="T38" fmla="*/ 237 w 237"/>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7" h="183">
                    <a:moveTo>
                      <a:pt x="0" y="169"/>
                    </a:moveTo>
                    <a:lnTo>
                      <a:pt x="4" y="150"/>
                    </a:lnTo>
                    <a:lnTo>
                      <a:pt x="38" y="111"/>
                    </a:lnTo>
                    <a:lnTo>
                      <a:pt x="19" y="93"/>
                    </a:lnTo>
                    <a:lnTo>
                      <a:pt x="17" y="47"/>
                    </a:lnTo>
                    <a:lnTo>
                      <a:pt x="38" y="9"/>
                    </a:lnTo>
                    <a:lnTo>
                      <a:pt x="237" y="0"/>
                    </a:lnTo>
                    <a:lnTo>
                      <a:pt x="200" y="27"/>
                    </a:lnTo>
                    <a:lnTo>
                      <a:pt x="188" y="100"/>
                    </a:lnTo>
                    <a:lnTo>
                      <a:pt x="107" y="144"/>
                    </a:lnTo>
                    <a:lnTo>
                      <a:pt x="35" y="183"/>
                    </a:lnTo>
                    <a:lnTo>
                      <a:pt x="0" y="16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1" name="16330386.375381.6251.1251.3755">
                <a:extLst>
                  <a:ext uri="{FF2B5EF4-FFF2-40B4-BE49-F238E27FC236}">
                    <a16:creationId xmlns:a16="http://schemas.microsoft.com/office/drawing/2014/main" id="{F1DC7AA6-B5B8-13C4-ED24-68802B2DCB75}"/>
                  </a:ext>
                </a:extLst>
              </p:cNvPr>
              <p:cNvSpPr>
                <a:spLocks/>
              </p:cNvSpPr>
              <p:nvPr/>
            </p:nvSpPr>
            <p:spPr bwMode="auto">
              <a:xfrm>
                <a:off x="4697413" y="4005900"/>
                <a:ext cx="21535" cy="18396"/>
              </a:xfrm>
              <a:custGeom>
                <a:avLst/>
                <a:gdLst>
                  <a:gd name="T0" fmla="*/ 0 w 33"/>
                  <a:gd name="T1" fmla="*/ 1 h 23"/>
                  <a:gd name="T2" fmla="*/ 0 w 33"/>
                  <a:gd name="T3" fmla="*/ 1 h 23"/>
                  <a:gd name="T4" fmla="*/ 0 w 33"/>
                  <a:gd name="T5" fmla="*/ 0 h 23"/>
                  <a:gd name="T6" fmla="*/ 0 w 33"/>
                  <a:gd name="T7" fmla="*/ 1 h 23"/>
                  <a:gd name="T8" fmla="*/ 0 60000 65536"/>
                  <a:gd name="T9" fmla="*/ 0 60000 65536"/>
                  <a:gd name="T10" fmla="*/ 0 60000 65536"/>
                  <a:gd name="T11" fmla="*/ 0 60000 65536"/>
                  <a:gd name="T12" fmla="*/ 0 w 33"/>
                  <a:gd name="T13" fmla="*/ 0 h 23"/>
                  <a:gd name="T14" fmla="*/ 33 w 33"/>
                  <a:gd name="T15" fmla="*/ 23 h 23"/>
                </a:gdLst>
                <a:ahLst/>
                <a:cxnLst>
                  <a:cxn ang="T8">
                    <a:pos x="T0" y="T1"/>
                  </a:cxn>
                  <a:cxn ang="T9">
                    <a:pos x="T2" y="T3"/>
                  </a:cxn>
                  <a:cxn ang="T10">
                    <a:pos x="T4" y="T5"/>
                  </a:cxn>
                  <a:cxn ang="T11">
                    <a:pos x="T6" y="T7"/>
                  </a:cxn>
                </a:cxnLst>
                <a:rect l="T12" t="T13" r="T14" b="T15"/>
                <a:pathLst>
                  <a:path w="33" h="23">
                    <a:moveTo>
                      <a:pt x="0" y="23"/>
                    </a:moveTo>
                    <a:lnTo>
                      <a:pt x="31" y="19"/>
                    </a:lnTo>
                    <a:lnTo>
                      <a:pt x="33" y="0"/>
                    </a:lnTo>
                    <a:lnTo>
                      <a:pt x="0" y="2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2" name="16331360.625538.55.8757.255">
                <a:extLst>
                  <a:ext uri="{FF2B5EF4-FFF2-40B4-BE49-F238E27FC236}">
                    <a16:creationId xmlns:a16="http://schemas.microsoft.com/office/drawing/2014/main" id="{F4239D18-76C4-CE89-E541-EFE9AE58B918}"/>
                  </a:ext>
                </a:extLst>
              </p:cNvPr>
              <p:cNvSpPr>
                <a:spLocks/>
              </p:cNvSpPr>
              <p:nvPr/>
            </p:nvSpPr>
            <p:spPr bwMode="auto">
              <a:xfrm>
                <a:off x="6547887" y="3555701"/>
                <a:ext cx="118443" cy="91980"/>
              </a:xfrm>
              <a:custGeom>
                <a:avLst/>
                <a:gdLst>
                  <a:gd name="T0" fmla="*/ 0 w 174"/>
                  <a:gd name="T1" fmla="*/ 1 h 120"/>
                  <a:gd name="T2" fmla="*/ 1 w 174"/>
                  <a:gd name="T3" fmla="*/ 1 h 120"/>
                  <a:gd name="T4" fmla="*/ 1 w 174"/>
                  <a:gd name="T5" fmla="*/ 1 h 120"/>
                  <a:gd name="T6" fmla="*/ 1 w 174"/>
                  <a:gd name="T7" fmla="*/ 1 h 120"/>
                  <a:gd name="T8" fmla="*/ 1 w 174"/>
                  <a:gd name="T9" fmla="*/ 0 h 120"/>
                  <a:gd name="T10" fmla="*/ 1 w 174"/>
                  <a:gd name="T11" fmla="*/ 1 h 120"/>
                  <a:gd name="T12" fmla="*/ 1 w 174"/>
                  <a:gd name="T13" fmla="*/ 1 h 120"/>
                  <a:gd name="T14" fmla="*/ 1 w 174"/>
                  <a:gd name="T15" fmla="*/ 1 h 120"/>
                  <a:gd name="T16" fmla="*/ 1 w 174"/>
                  <a:gd name="T17" fmla="*/ 1 h 120"/>
                  <a:gd name="T18" fmla="*/ 1 w 174"/>
                  <a:gd name="T19" fmla="*/ 1 h 120"/>
                  <a:gd name="T20" fmla="*/ 0 w 174"/>
                  <a:gd name="T21" fmla="*/ 1 h 1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4"/>
                  <a:gd name="T34" fmla="*/ 0 h 120"/>
                  <a:gd name="T35" fmla="*/ 174 w 174"/>
                  <a:gd name="T36" fmla="*/ 120 h 1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4" h="120">
                    <a:moveTo>
                      <a:pt x="0" y="55"/>
                    </a:moveTo>
                    <a:lnTo>
                      <a:pt x="9" y="52"/>
                    </a:lnTo>
                    <a:lnTo>
                      <a:pt x="23" y="71"/>
                    </a:lnTo>
                    <a:lnTo>
                      <a:pt x="97" y="70"/>
                    </a:lnTo>
                    <a:lnTo>
                      <a:pt x="165" y="0"/>
                    </a:lnTo>
                    <a:lnTo>
                      <a:pt x="174" y="43"/>
                    </a:lnTo>
                    <a:lnTo>
                      <a:pt x="154" y="44"/>
                    </a:lnTo>
                    <a:lnTo>
                      <a:pt x="165" y="70"/>
                    </a:lnTo>
                    <a:lnTo>
                      <a:pt x="137" y="120"/>
                    </a:lnTo>
                    <a:lnTo>
                      <a:pt x="31" y="107"/>
                    </a:lnTo>
                    <a:lnTo>
                      <a:pt x="0" y="5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3" name="16332341.125477.87512.255.55">
                <a:extLst>
                  <a:ext uri="{FF2B5EF4-FFF2-40B4-BE49-F238E27FC236}">
                    <a16:creationId xmlns:a16="http://schemas.microsoft.com/office/drawing/2014/main" id="{FE479A41-04D9-6E3B-6C03-B3A1B861D6BB}"/>
                  </a:ext>
                </a:extLst>
              </p:cNvPr>
              <p:cNvSpPr>
                <a:spLocks/>
              </p:cNvSpPr>
              <p:nvPr/>
            </p:nvSpPr>
            <p:spPr bwMode="auto">
              <a:xfrm>
                <a:off x="5566682" y="3247570"/>
                <a:ext cx="88834" cy="193158"/>
              </a:xfrm>
              <a:custGeom>
                <a:avLst/>
                <a:gdLst>
                  <a:gd name="T0" fmla="*/ 0 w 132"/>
                  <a:gd name="T1" fmla="*/ 1 h 252"/>
                  <a:gd name="T2" fmla="*/ 1 w 132"/>
                  <a:gd name="T3" fmla="*/ 1 h 252"/>
                  <a:gd name="T4" fmla="*/ 1 w 132"/>
                  <a:gd name="T5" fmla="*/ 1 h 252"/>
                  <a:gd name="T6" fmla="*/ 1 w 132"/>
                  <a:gd name="T7" fmla="*/ 0 h 252"/>
                  <a:gd name="T8" fmla="*/ 1 w 132"/>
                  <a:gd name="T9" fmla="*/ 1 h 252"/>
                  <a:gd name="T10" fmla="*/ 1 w 132"/>
                  <a:gd name="T11" fmla="*/ 1 h 252"/>
                  <a:gd name="T12" fmla="*/ 1 w 132"/>
                  <a:gd name="T13" fmla="*/ 1 h 252"/>
                  <a:gd name="T14" fmla="*/ 1 w 132"/>
                  <a:gd name="T15" fmla="*/ 1 h 252"/>
                  <a:gd name="T16" fmla="*/ 1 w 132"/>
                  <a:gd name="T17" fmla="*/ 1 h 252"/>
                  <a:gd name="T18" fmla="*/ 1 w 132"/>
                  <a:gd name="T19" fmla="*/ 1 h 252"/>
                  <a:gd name="T20" fmla="*/ 0 w 132"/>
                  <a:gd name="T21" fmla="*/ 1 h 2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2"/>
                  <a:gd name="T34" fmla="*/ 0 h 252"/>
                  <a:gd name="T35" fmla="*/ 132 w 132"/>
                  <a:gd name="T36" fmla="*/ 252 h 2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2" h="252">
                    <a:moveTo>
                      <a:pt x="0" y="117"/>
                    </a:moveTo>
                    <a:lnTo>
                      <a:pt x="28" y="94"/>
                    </a:lnTo>
                    <a:lnTo>
                      <a:pt x="42" y="3"/>
                    </a:lnTo>
                    <a:lnTo>
                      <a:pt x="123" y="0"/>
                    </a:lnTo>
                    <a:lnTo>
                      <a:pt x="103" y="31"/>
                    </a:lnTo>
                    <a:lnTo>
                      <a:pt x="126" y="69"/>
                    </a:lnTo>
                    <a:lnTo>
                      <a:pt x="79" y="117"/>
                    </a:lnTo>
                    <a:lnTo>
                      <a:pt x="132" y="147"/>
                    </a:lnTo>
                    <a:lnTo>
                      <a:pt x="66" y="252"/>
                    </a:lnTo>
                    <a:lnTo>
                      <a:pt x="56" y="185"/>
                    </a:lnTo>
                    <a:lnTo>
                      <a:pt x="0" y="11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4" name="16333332503.8753.3753.8755">
                <a:extLst>
                  <a:ext uri="{FF2B5EF4-FFF2-40B4-BE49-F238E27FC236}">
                    <a16:creationId xmlns:a16="http://schemas.microsoft.com/office/drawing/2014/main" id="{105E340A-8274-2892-4EB4-3C4E7F13FC77}"/>
                  </a:ext>
                </a:extLst>
              </p:cNvPr>
              <p:cNvSpPr>
                <a:spLocks/>
              </p:cNvSpPr>
              <p:nvPr/>
            </p:nvSpPr>
            <p:spPr bwMode="auto">
              <a:xfrm>
                <a:off x="5986622" y="3103466"/>
                <a:ext cx="63260" cy="53655"/>
              </a:xfrm>
              <a:custGeom>
                <a:avLst/>
                <a:gdLst>
                  <a:gd name="T0" fmla="*/ 0 w 93"/>
                  <a:gd name="T1" fmla="*/ 1 h 70"/>
                  <a:gd name="T2" fmla="*/ 1 w 93"/>
                  <a:gd name="T3" fmla="*/ 1 h 70"/>
                  <a:gd name="T4" fmla="*/ 1 w 93"/>
                  <a:gd name="T5" fmla="*/ 0 h 70"/>
                  <a:gd name="T6" fmla="*/ 1 w 93"/>
                  <a:gd name="T7" fmla="*/ 1 h 70"/>
                  <a:gd name="T8" fmla="*/ 1 w 93"/>
                  <a:gd name="T9" fmla="*/ 1 h 70"/>
                  <a:gd name="T10" fmla="*/ 1 w 93"/>
                  <a:gd name="T11" fmla="*/ 1 h 70"/>
                  <a:gd name="T12" fmla="*/ 1 w 93"/>
                  <a:gd name="T13" fmla="*/ 1 h 70"/>
                  <a:gd name="T14" fmla="*/ 0 w 93"/>
                  <a:gd name="T15" fmla="*/ 1 h 70"/>
                  <a:gd name="T16" fmla="*/ 0 60000 65536"/>
                  <a:gd name="T17" fmla="*/ 0 60000 65536"/>
                  <a:gd name="T18" fmla="*/ 0 60000 65536"/>
                  <a:gd name="T19" fmla="*/ 0 60000 65536"/>
                  <a:gd name="T20" fmla="*/ 0 60000 65536"/>
                  <a:gd name="T21" fmla="*/ 0 60000 65536"/>
                  <a:gd name="T22" fmla="*/ 0 60000 65536"/>
                  <a:gd name="T23" fmla="*/ 0 60000 65536"/>
                  <a:gd name="T24" fmla="*/ 0 w 93"/>
                  <a:gd name="T25" fmla="*/ 0 h 70"/>
                  <a:gd name="T26" fmla="*/ 93 w 93"/>
                  <a:gd name="T27" fmla="*/ 70 h 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3" h="70">
                    <a:moveTo>
                      <a:pt x="0" y="47"/>
                    </a:moveTo>
                    <a:lnTo>
                      <a:pt x="11" y="3"/>
                    </a:lnTo>
                    <a:lnTo>
                      <a:pt x="63" y="0"/>
                    </a:lnTo>
                    <a:lnTo>
                      <a:pt x="93" y="34"/>
                    </a:lnTo>
                    <a:lnTo>
                      <a:pt x="50" y="36"/>
                    </a:lnTo>
                    <a:lnTo>
                      <a:pt x="4" y="70"/>
                    </a:lnTo>
                    <a:lnTo>
                      <a:pt x="24" y="49"/>
                    </a:lnTo>
                    <a:lnTo>
                      <a:pt x="0" y="4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5" name="16334331.5504.2511.62525.55">
                <a:extLst>
                  <a:ext uri="{FF2B5EF4-FFF2-40B4-BE49-F238E27FC236}">
                    <a16:creationId xmlns:a16="http://schemas.microsoft.com/office/drawing/2014/main" id="{FA289180-4970-6ACB-4BDE-73B677840268}"/>
                  </a:ext>
                </a:extLst>
              </p:cNvPr>
              <p:cNvSpPr>
                <a:spLocks/>
              </p:cNvSpPr>
              <p:nvPr/>
            </p:nvSpPr>
            <p:spPr bwMode="auto">
              <a:xfrm>
                <a:off x="5993351" y="3097335"/>
                <a:ext cx="413210" cy="182426"/>
              </a:xfrm>
              <a:custGeom>
                <a:avLst/>
                <a:gdLst>
                  <a:gd name="T0" fmla="*/ 0 w 614"/>
                  <a:gd name="T1" fmla="*/ 1 h 238"/>
                  <a:gd name="T2" fmla="*/ 1 w 614"/>
                  <a:gd name="T3" fmla="*/ 1 h 238"/>
                  <a:gd name="T4" fmla="*/ 1 w 614"/>
                  <a:gd name="T5" fmla="*/ 1 h 238"/>
                  <a:gd name="T6" fmla="*/ 1 w 614"/>
                  <a:gd name="T7" fmla="*/ 1 h 238"/>
                  <a:gd name="T8" fmla="*/ 1 w 614"/>
                  <a:gd name="T9" fmla="*/ 1 h 238"/>
                  <a:gd name="T10" fmla="*/ 1 w 614"/>
                  <a:gd name="T11" fmla="*/ 1 h 238"/>
                  <a:gd name="T12" fmla="*/ 1 w 614"/>
                  <a:gd name="T13" fmla="*/ 1 h 238"/>
                  <a:gd name="T14" fmla="*/ 1 w 614"/>
                  <a:gd name="T15" fmla="*/ 1 h 238"/>
                  <a:gd name="T16" fmla="*/ 1 w 614"/>
                  <a:gd name="T17" fmla="*/ 1 h 238"/>
                  <a:gd name="T18" fmla="*/ 1 w 614"/>
                  <a:gd name="T19" fmla="*/ 1 h 238"/>
                  <a:gd name="T20" fmla="*/ 1 w 614"/>
                  <a:gd name="T21" fmla="*/ 1 h 238"/>
                  <a:gd name="T22" fmla="*/ 1 w 614"/>
                  <a:gd name="T23" fmla="*/ 1 h 238"/>
                  <a:gd name="T24" fmla="*/ 1 w 614"/>
                  <a:gd name="T25" fmla="*/ 1 h 238"/>
                  <a:gd name="T26" fmla="*/ 1 w 614"/>
                  <a:gd name="T27" fmla="*/ 1 h 238"/>
                  <a:gd name="T28" fmla="*/ 1 w 614"/>
                  <a:gd name="T29" fmla="*/ 1 h 238"/>
                  <a:gd name="T30" fmla="*/ 1 w 614"/>
                  <a:gd name="T31" fmla="*/ 1 h 238"/>
                  <a:gd name="T32" fmla="*/ 1 w 614"/>
                  <a:gd name="T33" fmla="*/ 1 h 238"/>
                  <a:gd name="T34" fmla="*/ 1 w 614"/>
                  <a:gd name="T35" fmla="*/ 1 h 238"/>
                  <a:gd name="T36" fmla="*/ 1 w 614"/>
                  <a:gd name="T37" fmla="*/ 1 h 238"/>
                  <a:gd name="T38" fmla="*/ 1 w 614"/>
                  <a:gd name="T39" fmla="*/ 1 h 238"/>
                  <a:gd name="T40" fmla="*/ 1 w 614"/>
                  <a:gd name="T41" fmla="*/ 1 h 238"/>
                  <a:gd name="T42" fmla="*/ 1 w 614"/>
                  <a:gd name="T43" fmla="*/ 0 h 238"/>
                  <a:gd name="T44" fmla="*/ 1 w 614"/>
                  <a:gd name="T45" fmla="*/ 1 h 238"/>
                  <a:gd name="T46" fmla="*/ 1 w 614"/>
                  <a:gd name="T47" fmla="*/ 1 h 238"/>
                  <a:gd name="T48" fmla="*/ 1 w 614"/>
                  <a:gd name="T49" fmla="*/ 1 h 238"/>
                  <a:gd name="T50" fmla="*/ 1 w 614"/>
                  <a:gd name="T51" fmla="*/ 1 h 238"/>
                  <a:gd name="T52" fmla="*/ 0 w 614"/>
                  <a:gd name="T53" fmla="*/ 1 h 23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14"/>
                  <a:gd name="T82" fmla="*/ 0 h 238"/>
                  <a:gd name="T83" fmla="*/ 614 w 614"/>
                  <a:gd name="T84" fmla="*/ 238 h 23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14" h="238">
                    <a:moveTo>
                      <a:pt x="0" y="79"/>
                    </a:moveTo>
                    <a:lnTo>
                      <a:pt x="26" y="141"/>
                    </a:lnTo>
                    <a:lnTo>
                      <a:pt x="2" y="148"/>
                    </a:lnTo>
                    <a:lnTo>
                      <a:pt x="26" y="158"/>
                    </a:lnTo>
                    <a:lnTo>
                      <a:pt x="36" y="196"/>
                    </a:lnTo>
                    <a:lnTo>
                      <a:pt x="70" y="192"/>
                    </a:lnTo>
                    <a:lnTo>
                      <a:pt x="36" y="209"/>
                    </a:lnTo>
                    <a:lnTo>
                      <a:pt x="76" y="202"/>
                    </a:lnTo>
                    <a:lnTo>
                      <a:pt x="118" y="227"/>
                    </a:lnTo>
                    <a:lnTo>
                      <a:pt x="157" y="200"/>
                    </a:lnTo>
                    <a:lnTo>
                      <a:pt x="217" y="235"/>
                    </a:lnTo>
                    <a:lnTo>
                      <a:pt x="323" y="200"/>
                    </a:lnTo>
                    <a:lnTo>
                      <a:pt x="320" y="238"/>
                    </a:lnTo>
                    <a:lnTo>
                      <a:pt x="341" y="200"/>
                    </a:lnTo>
                    <a:lnTo>
                      <a:pt x="540" y="191"/>
                    </a:lnTo>
                    <a:lnTo>
                      <a:pt x="614" y="188"/>
                    </a:lnTo>
                    <a:lnTo>
                      <a:pt x="592" y="104"/>
                    </a:lnTo>
                    <a:lnTo>
                      <a:pt x="609" y="86"/>
                    </a:lnTo>
                    <a:lnTo>
                      <a:pt x="546" y="16"/>
                    </a:lnTo>
                    <a:lnTo>
                      <a:pt x="505" y="16"/>
                    </a:lnTo>
                    <a:lnTo>
                      <a:pt x="393" y="45"/>
                    </a:lnTo>
                    <a:lnTo>
                      <a:pt x="296" y="0"/>
                    </a:lnTo>
                    <a:lnTo>
                      <a:pt x="235" y="1"/>
                    </a:lnTo>
                    <a:lnTo>
                      <a:pt x="158" y="42"/>
                    </a:lnTo>
                    <a:lnTo>
                      <a:pt x="96" y="31"/>
                    </a:lnTo>
                    <a:lnTo>
                      <a:pt x="116" y="53"/>
                    </a:lnTo>
                    <a:lnTo>
                      <a:pt x="0" y="7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6" name="16335304.5453.6257.755.6255">
                <a:extLst>
                  <a:ext uri="{FF2B5EF4-FFF2-40B4-BE49-F238E27FC236}">
                    <a16:creationId xmlns:a16="http://schemas.microsoft.com/office/drawing/2014/main" id="{4C5DDB25-EBBE-41A5-5553-570D154B8FA7}"/>
                  </a:ext>
                </a:extLst>
              </p:cNvPr>
              <p:cNvSpPr>
                <a:spLocks/>
              </p:cNvSpPr>
              <p:nvPr/>
            </p:nvSpPr>
            <p:spPr bwMode="auto">
              <a:xfrm>
                <a:off x="5173663" y="2671158"/>
                <a:ext cx="91525" cy="121107"/>
              </a:xfrm>
              <a:custGeom>
                <a:avLst/>
                <a:gdLst>
                  <a:gd name="T0" fmla="*/ 0 w 136"/>
                  <a:gd name="T1" fmla="*/ 1 h 158"/>
                  <a:gd name="T2" fmla="*/ 1 w 136"/>
                  <a:gd name="T3" fmla="*/ 1 h 158"/>
                  <a:gd name="T4" fmla="*/ 1 w 136"/>
                  <a:gd name="T5" fmla="*/ 1 h 158"/>
                  <a:gd name="T6" fmla="*/ 1 w 136"/>
                  <a:gd name="T7" fmla="*/ 1 h 158"/>
                  <a:gd name="T8" fmla="*/ 1 w 136"/>
                  <a:gd name="T9" fmla="*/ 1 h 158"/>
                  <a:gd name="T10" fmla="*/ 1 w 136"/>
                  <a:gd name="T11" fmla="*/ 1 h 158"/>
                  <a:gd name="T12" fmla="*/ 1 w 136"/>
                  <a:gd name="T13" fmla="*/ 1 h 158"/>
                  <a:gd name="T14" fmla="*/ 1 w 136"/>
                  <a:gd name="T15" fmla="*/ 1 h 158"/>
                  <a:gd name="T16" fmla="*/ 1 w 136"/>
                  <a:gd name="T17" fmla="*/ 1 h 158"/>
                  <a:gd name="T18" fmla="*/ 1 w 136"/>
                  <a:gd name="T19" fmla="*/ 0 h 158"/>
                  <a:gd name="T20" fmla="*/ 1 w 136"/>
                  <a:gd name="T21" fmla="*/ 1 h 158"/>
                  <a:gd name="T22" fmla="*/ 1 w 136"/>
                  <a:gd name="T23" fmla="*/ 1 h 158"/>
                  <a:gd name="T24" fmla="*/ 1 w 136"/>
                  <a:gd name="T25" fmla="*/ 1 h 158"/>
                  <a:gd name="T26" fmla="*/ 1 w 136"/>
                  <a:gd name="T27" fmla="*/ 1 h 158"/>
                  <a:gd name="T28" fmla="*/ 1 w 136"/>
                  <a:gd name="T29" fmla="*/ 1 h 158"/>
                  <a:gd name="T30" fmla="*/ 1 w 136"/>
                  <a:gd name="T31" fmla="*/ 1 h 158"/>
                  <a:gd name="T32" fmla="*/ 1 w 136"/>
                  <a:gd name="T33" fmla="*/ 1 h 158"/>
                  <a:gd name="T34" fmla="*/ 0 w 136"/>
                  <a:gd name="T35" fmla="*/ 1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6"/>
                  <a:gd name="T55" fmla="*/ 0 h 158"/>
                  <a:gd name="T56" fmla="*/ 136 w 136"/>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6" h="158">
                    <a:moveTo>
                      <a:pt x="0" y="132"/>
                    </a:moveTo>
                    <a:lnTo>
                      <a:pt x="18" y="146"/>
                    </a:lnTo>
                    <a:lnTo>
                      <a:pt x="4" y="158"/>
                    </a:lnTo>
                    <a:lnTo>
                      <a:pt x="127" y="133"/>
                    </a:lnTo>
                    <a:lnTo>
                      <a:pt x="136" y="51"/>
                    </a:lnTo>
                    <a:lnTo>
                      <a:pt x="120" y="32"/>
                    </a:lnTo>
                    <a:lnTo>
                      <a:pt x="84" y="41"/>
                    </a:lnTo>
                    <a:lnTo>
                      <a:pt x="72" y="29"/>
                    </a:lnTo>
                    <a:lnTo>
                      <a:pt x="87" y="9"/>
                    </a:lnTo>
                    <a:lnTo>
                      <a:pt x="72" y="0"/>
                    </a:lnTo>
                    <a:lnTo>
                      <a:pt x="57" y="40"/>
                    </a:lnTo>
                    <a:lnTo>
                      <a:pt x="4" y="51"/>
                    </a:lnTo>
                    <a:lnTo>
                      <a:pt x="21" y="60"/>
                    </a:lnTo>
                    <a:lnTo>
                      <a:pt x="11" y="82"/>
                    </a:lnTo>
                    <a:lnTo>
                      <a:pt x="44" y="88"/>
                    </a:lnTo>
                    <a:lnTo>
                      <a:pt x="14" y="118"/>
                    </a:lnTo>
                    <a:lnTo>
                      <a:pt x="50" y="111"/>
                    </a:lnTo>
                    <a:lnTo>
                      <a:pt x="0" y="13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7" name="16336303.875456.53.1253.6255">
                <a:extLst>
                  <a:ext uri="{FF2B5EF4-FFF2-40B4-BE49-F238E27FC236}">
                    <a16:creationId xmlns:a16="http://schemas.microsoft.com/office/drawing/2014/main" id="{8DCFDB6B-0027-92B6-8FB6-CEB4F74BC0EE}"/>
                  </a:ext>
                </a:extLst>
              </p:cNvPr>
              <p:cNvSpPr>
                <a:spLocks/>
              </p:cNvSpPr>
              <p:nvPr/>
            </p:nvSpPr>
            <p:spPr bwMode="auto">
              <a:xfrm>
                <a:off x="5220772" y="2661964"/>
                <a:ext cx="57876" cy="47523"/>
              </a:xfrm>
              <a:custGeom>
                <a:avLst/>
                <a:gdLst>
                  <a:gd name="T0" fmla="*/ 0 w 85"/>
                  <a:gd name="T1" fmla="*/ 1 h 62"/>
                  <a:gd name="T2" fmla="*/ 1 w 85"/>
                  <a:gd name="T3" fmla="*/ 1 h 62"/>
                  <a:gd name="T4" fmla="*/ 1 w 85"/>
                  <a:gd name="T5" fmla="*/ 1 h 62"/>
                  <a:gd name="T6" fmla="*/ 1 w 85"/>
                  <a:gd name="T7" fmla="*/ 1 h 62"/>
                  <a:gd name="T8" fmla="*/ 1 w 85"/>
                  <a:gd name="T9" fmla="*/ 1 h 62"/>
                  <a:gd name="T10" fmla="*/ 1 w 85"/>
                  <a:gd name="T11" fmla="*/ 1 h 62"/>
                  <a:gd name="T12" fmla="*/ 1 w 85"/>
                  <a:gd name="T13" fmla="*/ 0 h 62"/>
                  <a:gd name="T14" fmla="*/ 1 w 85"/>
                  <a:gd name="T15" fmla="*/ 1 h 62"/>
                  <a:gd name="T16" fmla="*/ 0 w 85"/>
                  <a:gd name="T17" fmla="*/ 1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5"/>
                  <a:gd name="T28" fmla="*/ 0 h 62"/>
                  <a:gd name="T29" fmla="*/ 85 w 85"/>
                  <a:gd name="T30" fmla="*/ 62 h 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5" h="62">
                    <a:moveTo>
                      <a:pt x="0" y="40"/>
                    </a:moveTo>
                    <a:lnTo>
                      <a:pt x="12" y="52"/>
                    </a:lnTo>
                    <a:lnTo>
                      <a:pt x="48" y="43"/>
                    </a:lnTo>
                    <a:lnTo>
                      <a:pt x="64" y="62"/>
                    </a:lnTo>
                    <a:lnTo>
                      <a:pt x="85" y="40"/>
                    </a:lnTo>
                    <a:lnTo>
                      <a:pt x="66" y="9"/>
                    </a:lnTo>
                    <a:lnTo>
                      <a:pt x="24" y="0"/>
                    </a:lnTo>
                    <a:lnTo>
                      <a:pt x="15" y="20"/>
                    </a:lnTo>
                    <a:lnTo>
                      <a:pt x="0" y="4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8" name="16337297.25458.1251.3750.8755">
                <a:extLst>
                  <a:ext uri="{FF2B5EF4-FFF2-40B4-BE49-F238E27FC236}">
                    <a16:creationId xmlns:a16="http://schemas.microsoft.com/office/drawing/2014/main" id="{FE0F95D0-1B59-3656-2E91-53CF93F3E9AF}"/>
                  </a:ext>
                </a:extLst>
              </p:cNvPr>
              <p:cNvSpPr>
                <a:spLocks/>
              </p:cNvSpPr>
              <p:nvPr/>
            </p:nvSpPr>
            <p:spPr bwMode="auto">
              <a:xfrm>
                <a:off x="5246343" y="2556185"/>
                <a:ext cx="14805" cy="21462"/>
              </a:xfrm>
              <a:custGeom>
                <a:avLst/>
                <a:gdLst>
                  <a:gd name="T0" fmla="*/ 0 w 22"/>
                  <a:gd name="T1" fmla="*/ 1 h 27"/>
                  <a:gd name="T2" fmla="*/ 0 w 22"/>
                  <a:gd name="T3" fmla="*/ 1 h 27"/>
                  <a:gd name="T4" fmla="*/ 1 w 22"/>
                  <a:gd name="T5" fmla="*/ 0 h 27"/>
                  <a:gd name="T6" fmla="*/ 0 w 22"/>
                  <a:gd name="T7" fmla="*/ 1 h 27"/>
                  <a:gd name="T8" fmla="*/ 0 60000 65536"/>
                  <a:gd name="T9" fmla="*/ 0 60000 65536"/>
                  <a:gd name="T10" fmla="*/ 0 60000 65536"/>
                  <a:gd name="T11" fmla="*/ 0 60000 65536"/>
                  <a:gd name="T12" fmla="*/ 0 w 22"/>
                  <a:gd name="T13" fmla="*/ 0 h 27"/>
                  <a:gd name="T14" fmla="*/ 22 w 22"/>
                  <a:gd name="T15" fmla="*/ 27 h 27"/>
                </a:gdLst>
                <a:ahLst/>
                <a:cxnLst>
                  <a:cxn ang="T8">
                    <a:pos x="T0" y="T1"/>
                  </a:cxn>
                  <a:cxn ang="T9">
                    <a:pos x="T2" y="T3"/>
                  </a:cxn>
                  <a:cxn ang="T10">
                    <a:pos x="T4" y="T5"/>
                  </a:cxn>
                  <a:cxn ang="T11">
                    <a:pos x="T6" y="T7"/>
                  </a:cxn>
                </a:cxnLst>
                <a:rect l="T12" t="T13" r="T14" b="T15"/>
                <a:pathLst>
                  <a:path w="22" h="27">
                    <a:moveTo>
                      <a:pt x="0" y="27"/>
                    </a:moveTo>
                    <a:lnTo>
                      <a:pt x="0" y="5"/>
                    </a:lnTo>
                    <a:lnTo>
                      <a:pt x="22" y="0"/>
                    </a:lnTo>
                    <a:lnTo>
                      <a:pt x="0" y="2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399" name="16338298.625458.50.8750.8755">
                <a:extLst>
                  <a:ext uri="{FF2B5EF4-FFF2-40B4-BE49-F238E27FC236}">
                    <a16:creationId xmlns:a16="http://schemas.microsoft.com/office/drawing/2014/main" id="{95DE8952-F636-4FA1-123F-104043C1CC7F}"/>
                  </a:ext>
                </a:extLst>
              </p:cNvPr>
              <p:cNvSpPr>
                <a:spLocks/>
              </p:cNvSpPr>
              <p:nvPr/>
            </p:nvSpPr>
            <p:spPr bwMode="auto">
              <a:xfrm>
                <a:off x="5253072" y="2577647"/>
                <a:ext cx="13459" cy="13798"/>
              </a:xfrm>
              <a:custGeom>
                <a:avLst/>
                <a:gdLst>
                  <a:gd name="T0" fmla="*/ 0 w 21"/>
                  <a:gd name="T1" fmla="*/ 1 h 18"/>
                  <a:gd name="T2" fmla="*/ 0 w 21"/>
                  <a:gd name="T3" fmla="*/ 0 h 18"/>
                  <a:gd name="T4" fmla="*/ 0 w 21"/>
                  <a:gd name="T5" fmla="*/ 1 h 18"/>
                  <a:gd name="T6" fmla="*/ 0 w 21"/>
                  <a:gd name="T7" fmla="*/ 1 h 18"/>
                  <a:gd name="T8" fmla="*/ 0 60000 65536"/>
                  <a:gd name="T9" fmla="*/ 0 60000 65536"/>
                  <a:gd name="T10" fmla="*/ 0 60000 65536"/>
                  <a:gd name="T11" fmla="*/ 0 60000 65536"/>
                  <a:gd name="T12" fmla="*/ 0 w 21"/>
                  <a:gd name="T13" fmla="*/ 0 h 18"/>
                  <a:gd name="T14" fmla="*/ 21 w 21"/>
                  <a:gd name="T15" fmla="*/ 18 h 18"/>
                </a:gdLst>
                <a:ahLst/>
                <a:cxnLst>
                  <a:cxn ang="T8">
                    <a:pos x="T0" y="T1"/>
                  </a:cxn>
                  <a:cxn ang="T9">
                    <a:pos x="T2" y="T3"/>
                  </a:cxn>
                  <a:cxn ang="T10">
                    <a:pos x="T4" y="T5"/>
                  </a:cxn>
                  <a:cxn ang="T11">
                    <a:pos x="T6" y="T7"/>
                  </a:cxn>
                </a:cxnLst>
                <a:rect l="T12" t="T13" r="T14" b="T15"/>
                <a:pathLst>
                  <a:path w="21" h="18">
                    <a:moveTo>
                      <a:pt x="0" y="14"/>
                    </a:moveTo>
                    <a:lnTo>
                      <a:pt x="11" y="0"/>
                    </a:lnTo>
                    <a:lnTo>
                      <a:pt x="21" y="18"/>
                    </a:lnTo>
                    <a:lnTo>
                      <a:pt x="0" y="1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0" name="16339296.5459.37519.2510.755">
                <a:extLst>
                  <a:ext uri="{FF2B5EF4-FFF2-40B4-BE49-F238E27FC236}">
                    <a16:creationId xmlns:a16="http://schemas.microsoft.com/office/drawing/2014/main" id="{559A75A4-6E75-5DD3-DBC3-52D9433F9CA3}"/>
                  </a:ext>
                </a:extLst>
              </p:cNvPr>
              <p:cNvSpPr>
                <a:spLocks/>
              </p:cNvSpPr>
              <p:nvPr/>
            </p:nvSpPr>
            <p:spPr bwMode="auto">
              <a:xfrm>
                <a:off x="5266534" y="2545453"/>
                <a:ext cx="173629" cy="302000"/>
              </a:xfrm>
              <a:custGeom>
                <a:avLst/>
                <a:gdLst>
                  <a:gd name="T0" fmla="*/ 0 w 258"/>
                  <a:gd name="T1" fmla="*/ 1 h 394"/>
                  <a:gd name="T2" fmla="*/ 1 w 258"/>
                  <a:gd name="T3" fmla="*/ 1 h 394"/>
                  <a:gd name="T4" fmla="*/ 1 w 258"/>
                  <a:gd name="T5" fmla="*/ 0 h 394"/>
                  <a:gd name="T6" fmla="*/ 1 w 258"/>
                  <a:gd name="T7" fmla="*/ 0 h 394"/>
                  <a:gd name="T8" fmla="*/ 1 w 258"/>
                  <a:gd name="T9" fmla="*/ 1 h 394"/>
                  <a:gd name="T10" fmla="*/ 1 w 258"/>
                  <a:gd name="T11" fmla="*/ 1 h 394"/>
                  <a:gd name="T12" fmla="*/ 1 w 258"/>
                  <a:gd name="T13" fmla="*/ 1 h 394"/>
                  <a:gd name="T14" fmla="*/ 1 w 258"/>
                  <a:gd name="T15" fmla="*/ 1 h 394"/>
                  <a:gd name="T16" fmla="*/ 1 w 258"/>
                  <a:gd name="T17" fmla="*/ 1 h 394"/>
                  <a:gd name="T18" fmla="*/ 1 w 258"/>
                  <a:gd name="T19" fmla="*/ 1 h 394"/>
                  <a:gd name="T20" fmla="*/ 1 w 258"/>
                  <a:gd name="T21" fmla="*/ 1 h 394"/>
                  <a:gd name="T22" fmla="*/ 1 w 258"/>
                  <a:gd name="T23" fmla="*/ 1 h 394"/>
                  <a:gd name="T24" fmla="*/ 1 w 258"/>
                  <a:gd name="T25" fmla="*/ 1 h 394"/>
                  <a:gd name="T26" fmla="*/ 1 w 258"/>
                  <a:gd name="T27" fmla="*/ 1 h 394"/>
                  <a:gd name="T28" fmla="*/ 1 w 258"/>
                  <a:gd name="T29" fmla="*/ 1 h 394"/>
                  <a:gd name="T30" fmla="*/ 1 w 258"/>
                  <a:gd name="T31" fmla="*/ 1 h 394"/>
                  <a:gd name="T32" fmla="*/ 1 w 258"/>
                  <a:gd name="T33" fmla="*/ 1 h 394"/>
                  <a:gd name="T34" fmla="*/ 1 w 258"/>
                  <a:gd name="T35" fmla="*/ 1 h 394"/>
                  <a:gd name="T36" fmla="*/ 1 w 258"/>
                  <a:gd name="T37" fmla="*/ 1 h 394"/>
                  <a:gd name="T38" fmla="*/ 1 w 258"/>
                  <a:gd name="T39" fmla="*/ 1 h 394"/>
                  <a:gd name="T40" fmla="*/ 1 w 258"/>
                  <a:gd name="T41" fmla="*/ 1 h 394"/>
                  <a:gd name="T42" fmla="*/ 1 w 258"/>
                  <a:gd name="T43" fmla="*/ 1 h 394"/>
                  <a:gd name="T44" fmla="*/ 1 w 258"/>
                  <a:gd name="T45" fmla="*/ 1 h 394"/>
                  <a:gd name="T46" fmla="*/ 1 w 258"/>
                  <a:gd name="T47" fmla="*/ 1 h 394"/>
                  <a:gd name="T48" fmla="*/ 1 w 258"/>
                  <a:gd name="T49" fmla="*/ 1 h 394"/>
                  <a:gd name="T50" fmla="*/ 1 w 258"/>
                  <a:gd name="T51" fmla="*/ 1 h 394"/>
                  <a:gd name="T52" fmla="*/ 1 w 258"/>
                  <a:gd name="T53" fmla="*/ 1 h 394"/>
                  <a:gd name="T54" fmla="*/ 1 w 258"/>
                  <a:gd name="T55" fmla="*/ 1 h 394"/>
                  <a:gd name="T56" fmla="*/ 1 w 258"/>
                  <a:gd name="T57" fmla="*/ 1 h 394"/>
                  <a:gd name="T58" fmla="*/ 0 w 258"/>
                  <a:gd name="T59" fmla="*/ 1 h 3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58"/>
                  <a:gd name="T91" fmla="*/ 0 h 394"/>
                  <a:gd name="T92" fmla="*/ 258 w 258"/>
                  <a:gd name="T93" fmla="*/ 394 h 39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58" h="394">
                    <a:moveTo>
                      <a:pt x="0" y="92"/>
                    </a:moveTo>
                    <a:lnTo>
                      <a:pt x="10" y="39"/>
                    </a:lnTo>
                    <a:lnTo>
                      <a:pt x="38" y="0"/>
                    </a:lnTo>
                    <a:lnTo>
                      <a:pt x="98" y="0"/>
                    </a:lnTo>
                    <a:lnTo>
                      <a:pt x="63" y="47"/>
                    </a:lnTo>
                    <a:lnTo>
                      <a:pt x="142" y="57"/>
                    </a:lnTo>
                    <a:lnTo>
                      <a:pt x="92" y="121"/>
                    </a:lnTo>
                    <a:lnTo>
                      <a:pt x="151" y="143"/>
                    </a:lnTo>
                    <a:lnTo>
                      <a:pt x="207" y="224"/>
                    </a:lnTo>
                    <a:lnTo>
                      <a:pt x="191" y="230"/>
                    </a:lnTo>
                    <a:lnTo>
                      <a:pt x="216" y="249"/>
                    </a:lnTo>
                    <a:lnTo>
                      <a:pt x="202" y="270"/>
                    </a:lnTo>
                    <a:lnTo>
                      <a:pt x="258" y="274"/>
                    </a:lnTo>
                    <a:lnTo>
                      <a:pt x="224" y="328"/>
                    </a:lnTo>
                    <a:lnTo>
                      <a:pt x="247" y="343"/>
                    </a:lnTo>
                    <a:lnTo>
                      <a:pt x="15" y="394"/>
                    </a:lnTo>
                    <a:lnTo>
                      <a:pt x="118" y="321"/>
                    </a:lnTo>
                    <a:lnTo>
                      <a:pt x="88" y="332"/>
                    </a:lnTo>
                    <a:lnTo>
                      <a:pt x="29" y="310"/>
                    </a:lnTo>
                    <a:lnTo>
                      <a:pt x="73" y="282"/>
                    </a:lnTo>
                    <a:lnTo>
                      <a:pt x="45" y="270"/>
                    </a:lnTo>
                    <a:lnTo>
                      <a:pt x="104" y="241"/>
                    </a:lnTo>
                    <a:lnTo>
                      <a:pt x="111" y="205"/>
                    </a:lnTo>
                    <a:lnTo>
                      <a:pt x="81" y="194"/>
                    </a:lnTo>
                    <a:lnTo>
                      <a:pt x="98" y="173"/>
                    </a:lnTo>
                    <a:lnTo>
                      <a:pt x="37" y="183"/>
                    </a:lnTo>
                    <a:lnTo>
                      <a:pt x="38" y="127"/>
                    </a:lnTo>
                    <a:lnTo>
                      <a:pt x="10" y="153"/>
                    </a:lnTo>
                    <a:lnTo>
                      <a:pt x="26" y="95"/>
                    </a:lnTo>
                    <a:lnTo>
                      <a:pt x="0" y="9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1" name="16340262.75234.542.2541.3755">
                <a:extLst>
                  <a:ext uri="{FF2B5EF4-FFF2-40B4-BE49-F238E27FC236}">
                    <a16:creationId xmlns:a16="http://schemas.microsoft.com/office/drawing/2014/main" id="{A31757C3-CA60-FBFF-33F7-0312E6D09A1A}"/>
                  </a:ext>
                </a:extLst>
              </p:cNvPr>
              <p:cNvSpPr>
                <a:spLocks/>
              </p:cNvSpPr>
              <p:nvPr/>
            </p:nvSpPr>
            <p:spPr bwMode="auto">
              <a:xfrm>
                <a:off x="2503396" y="2058987"/>
                <a:ext cx="670288" cy="665322"/>
              </a:xfrm>
              <a:custGeom>
                <a:avLst/>
                <a:gdLst>
                  <a:gd name="T0" fmla="*/ 0 w 997"/>
                  <a:gd name="T1" fmla="*/ 1 h 868"/>
                  <a:gd name="T2" fmla="*/ 0 w 997"/>
                  <a:gd name="T3" fmla="*/ 1 h 868"/>
                  <a:gd name="T4" fmla="*/ 0 w 997"/>
                  <a:gd name="T5" fmla="*/ 1 h 868"/>
                  <a:gd name="T6" fmla="*/ 0 w 997"/>
                  <a:gd name="T7" fmla="*/ 1 h 868"/>
                  <a:gd name="T8" fmla="*/ 0 w 997"/>
                  <a:gd name="T9" fmla="*/ 1 h 868"/>
                  <a:gd name="T10" fmla="*/ 0 w 997"/>
                  <a:gd name="T11" fmla="*/ 1 h 868"/>
                  <a:gd name="T12" fmla="*/ 0 w 997"/>
                  <a:gd name="T13" fmla="*/ 1 h 868"/>
                  <a:gd name="T14" fmla="*/ 0 w 997"/>
                  <a:gd name="T15" fmla="*/ 1 h 868"/>
                  <a:gd name="T16" fmla="*/ 0 w 997"/>
                  <a:gd name="T17" fmla="*/ 1 h 868"/>
                  <a:gd name="T18" fmla="*/ 0 w 997"/>
                  <a:gd name="T19" fmla="*/ 1 h 868"/>
                  <a:gd name="T20" fmla="*/ 0 w 997"/>
                  <a:gd name="T21" fmla="*/ 1 h 868"/>
                  <a:gd name="T22" fmla="*/ 0 w 997"/>
                  <a:gd name="T23" fmla="*/ 1 h 868"/>
                  <a:gd name="T24" fmla="*/ 0 w 997"/>
                  <a:gd name="T25" fmla="*/ 1 h 868"/>
                  <a:gd name="T26" fmla="*/ 0 w 997"/>
                  <a:gd name="T27" fmla="*/ 1 h 868"/>
                  <a:gd name="T28" fmla="*/ 0 w 997"/>
                  <a:gd name="T29" fmla="*/ 1 h 868"/>
                  <a:gd name="T30" fmla="*/ 0 w 997"/>
                  <a:gd name="T31" fmla="*/ 1 h 868"/>
                  <a:gd name="T32" fmla="*/ 0 w 997"/>
                  <a:gd name="T33" fmla="*/ 1 h 868"/>
                  <a:gd name="T34" fmla="*/ 0 w 997"/>
                  <a:gd name="T35" fmla="*/ 1 h 868"/>
                  <a:gd name="T36" fmla="*/ 0 w 997"/>
                  <a:gd name="T37" fmla="*/ 1 h 868"/>
                  <a:gd name="T38" fmla="*/ 0 w 997"/>
                  <a:gd name="T39" fmla="*/ 1 h 868"/>
                  <a:gd name="T40" fmla="*/ 0 w 997"/>
                  <a:gd name="T41" fmla="*/ 1 h 868"/>
                  <a:gd name="T42" fmla="*/ 0 w 997"/>
                  <a:gd name="T43" fmla="*/ 1 h 868"/>
                  <a:gd name="T44" fmla="*/ 0 w 997"/>
                  <a:gd name="T45" fmla="*/ 1 h 868"/>
                  <a:gd name="T46" fmla="*/ 0 w 997"/>
                  <a:gd name="T47" fmla="*/ 1 h 868"/>
                  <a:gd name="T48" fmla="*/ 0 w 997"/>
                  <a:gd name="T49" fmla="*/ 1 h 868"/>
                  <a:gd name="T50" fmla="*/ 0 w 997"/>
                  <a:gd name="T51" fmla="*/ 1 h 868"/>
                  <a:gd name="T52" fmla="*/ 0 w 997"/>
                  <a:gd name="T53" fmla="*/ 1 h 868"/>
                  <a:gd name="T54" fmla="*/ 0 w 997"/>
                  <a:gd name="T55" fmla="*/ 1 h 868"/>
                  <a:gd name="T56" fmla="*/ 0 w 997"/>
                  <a:gd name="T57" fmla="*/ 1 h 868"/>
                  <a:gd name="T58" fmla="*/ 0 w 997"/>
                  <a:gd name="T59" fmla="*/ 1 h 868"/>
                  <a:gd name="T60" fmla="*/ 0 w 997"/>
                  <a:gd name="T61" fmla="*/ 1 h 868"/>
                  <a:gd name="T62" fmla="*/ 0 w 997"/>
                  <a:gd name="T63" fmla="*/ 1 h 868"/>
                  <a:gd name="T64" fmla="*/ 0 w 997"/>
                  <a:gd name="T65" fmla="*/ 1 h 868"/>
                  <a:gd name="T66" fmla="*/ 0 w 997"/>
                  <a:gd name="T67" fmla="*/ 1 h 868"/>
                  <a:gd name="T68" fmla="*/ 0 w 997"/>
                  <a:gd name="T69" fmla="*/ 1 h 868"/>
                  <a:gd name="T70" fmla="*/ 0 w 997"/>
                  <a:gd name="T71" fmla="*/ 1 h 868"/>
                  <a:gd name="T72" fmla="*/ 0 w 997"/>
                  <a:gd name="T73" fmla="*/ 0 h 868"/>
                  <a:gd name="T74" fmla="*/ 0 w 997"/>
                  <a:gd name="T75" fmla="*/ 1 h 868"/>
                  <a:gd name="T76" fmla="*/ 0 w 997"/>
                  <a:gd name="T77" fmla="*/ 1 h 868"/>
                  <a:gd name="T78" fmla="*/ 0 w 997"/>
                  <a:gd name="T79" fmla="*/ 1 h 868"/>
                  <a:gd name="T80" fmla="*/ 0 w 997"/>
                  <a:gd name="T81" fmla="*/ 1 h 868"/>
                  <a:gd name="T82" fmla="*/ 0 w 997"/>
                  <a:gd name="T83" fmla="*/ 1 h 868"/>
                  <a:gd name="T84" fmla="*/ 0 w 997"/>
                  <a:gd name="T85" fmla="*/ 1 h 868"/>
                  <a:gd name="T86" fmla="*/ 0 w 997"/>
                  <a:gd name="T87" fmla="*/ 1 h 868"/>
                  <a:gd name="T88" fmla="*/ 0 w 997"/>
                  <a:gd name="T89" fmla="*/ 1 h 868"/>
                  <a:gd name="T90" fmla="*/ 0 w 997"/>
                  <a:gd name="T91" fmla="*/ 1 h 868"/>
                  <a:gd name="T92" fmla="*/ 0 w 997"/>
                  <a:gd name="T93" fmla="*/ 1 h 8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997"/>
                  <a:gd name="T142" fmla="*/ 0 h 868"/>
                  <a:gd name="T143" fmla="*/ 997 w 997"/>
                  <a:gd name="T144" fmla="*/ 868 h 86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997" h="868">
                    <a:moveTo>
                      <a:pt x="0" y="331"/>
                    </a:moveTo>
                    <a:lnTo>
                      <a:pt x="64" y="348"/>
                    </a:lnTo>
                    <a:lnTo>
                      <a:pt x="39" y="355"/>
                    </a:lnTo>
                    <a:lnTo>
                      <a:pt x="66" y="386"/>
                    </a:lnTo>
                    <a:lnTo>
                      <a:pt x="165" y="384"/>
                    </a:lnTo>
                    <a:lnTo>
                      <a:pt x="180" y="404"/>
                    </a:lnTo>
                    <a:lnTo>
                      <a:pt x="244" y="378"/>
                    </a:lnTo>
                    <a:lnTo>
                      <a:pt x="222" y="389"/>
                    </a:lnTo>
                    <a:lnTo>
                      <a:pt x="234" y="443"/>
                    </a:lnTo>
                    <a:lnTo>
                      <a:pt x="98" y="492"/>
                    </a:lnTo>
                    <a:lnTo>
                      <a:pt x="61" y="549"/>
                    </a:lnTo>
                    <a:lnTo>
                      <a:pt x="94" y="541"/>
                    </a:lnTo>
                    <a:lnTo>
                      <a:pt x="69" y="554"/>
                    </a:lnTo>
                    <a:lnTo>
                      <a:pt x="94" y="574"/>
                    </a:lnTo>
                    <a:lnTo>
                      <a:pt x="145" y="580"/>
                    </a:lnTo>
                    <a:lnTo>
                      <a:pt x="116" y="609"/>
                    </a:lnTo>
                    <a:lnTo>
                      <a:pt x="139" y="638"/>
                    </a:lnTo>
                    <a:lnTo>
                      <a:pt x="165" y="641"/>
                    </a:lnTo>
                    <a:lnTo>
                      <a:pt x="219" y="580"/>
                    </a:lnTo>
                    <a:lnTo>
                      <a:pt x="186" y="609"/>
                    </a:lnTo>
                    <a:lnTo>
                      <a:pt x="213" y="667"/>
                    </a:lnTo>
                    <a:lnTo>
                      <a:pt x="200" y="690"/>
                    </a:lnTo>
                    <a:lnTo>
                      <a:pt x="262" y="657"/>
                    </a:lnTo>
                    <a:lnTo>
                      <a:pt x="303" y="699"/>
                    </a:lnTo>
                    <a:lnTo>
                      <a:pt x="316" y="674"/>
                    </a:lnTo>
                    <a:lnTo>
                      <a:pt x="330" y="690"/>
                    </a:lnTo>
                    <a:lnTo>
                      <a:pt x="377" y="668"/>
                    </a:lnTo>
                    <a:lnTo>
                      <a:pt x="312" y="777"/>
                    </a:lnTo>
                    <a:lnTo>
                      <a:pt x="263" y="799"/>
                    </a:lnTo>
                    <a:lnTo>
                      <a:pt x="262" y="822"/>
                    </a:lnTo>
                    <a:lnTo>
                      <a:pt x="200" y="824"/>
                    </a:lnTo>
                    <a:lnTo>
                      <a:pt x="156" y="868"/>
                    </a:lnTo>
                    <a:lnTo>
                      <a:pt x="213" y="835"/>
                    </a:lnTo>
                    <a:lnTo>
                      <a:pt x="278" y="836"/>
                    </a:lnTo>
                    <a:lnTo>
                      <a:pt x="314" y="810"/>
                    </a:lnTo>
                    <a:lnTo>
                      <a:pt x="297" y="788"/>
                    </a:lnTo>
                    <a:lnTo>
                      <a:pt x="337" y="792"/>
                    </a:lnTo>
                    <a:lnTo>
                      <a:pt x="464" y="710"/>
                    </a:lnTo>
                    <a:lnTo>
                      <a:pt x="488" y="679"/>
                    </a:lnTo>
                    <a:lnTo>
                      <a:pt x="465" y="656"/>
                    </a:lnTo>
                    <a:lnTo>
                      <a:pt x="575" y="557"/>
                    </a:lnTo>
                    <a:lnTo>
                      <a:pt x="591" y="507"/>
                    </a:lnTo>
                    <a:lnTo>
                      <a:pt x="579" y="557"/>
                    </a:lnTo>
                    <a:lnTo>
                      <a:pt x="623" y="547"/>
                    </a:lnTo>
                    <a:lnTo>
                      <a:pt x="600" y="568"/>
                    </a:lnTo>
                    <a:lnTo>
                      <a:pt x="634" y="579"/>
                    </a:lnTo>
                    <a:lnTo>
                      <a:pt x="554" y="586"/>
                    </a:lnTo>
                    <a:lnTo>
                      <a:pt x="539" y="633"/>
                    </a:lnTo>
                    <a:lnTo>
                      <a:pt x="568" y="631"/>
                    </a:lnTo>
                    <a:lnTo>
                      <a:pt x="542" y="664"/>
                    </a:lnTo>
                    <a:lnTo>
                      <a:pt x="648" y="622"/>
                    </a:lnTo>
                    <a:lnTo>
                      <a:pt x="663" y="596"/>
                    </a:lnTo>
                    <a:lnTo>
                      <a:pt x="646" y="583"/>
                    </a:lnTo>
                    <a:lnTo>
                      <a:pt x="671" y="558"/>
                    </a:lnTo>
                    <a:lnTo>
                      <a:pt x="667" y="579"/>
                    </a:lnTo>
                    <a:lnTo>
                      <a:pt x="721" y="567"/>
                    </a:lnTo>
                    <a:lnTo>
                      <a:pt x="710" y="587"/>
                    </a:lnTo>
                    <a:lnTo>
                      <a:pt x="797" y="622"/>
                    </a:lnTo>
                    <a:lnTo>
                      <a:pt x="925" y="638"/>
                    </a:lnTo>
                    <a:lnTo>
                      <a:pt x="947" y="619"/>
                    </a:lnTo>
                    <a:lnTo>
                      <a:pt x="965" y="629"/>
                    </a:lnTo>
                    <a:lnTo>
                      <a:pt x="942" y="648"/>
                    </a:lnTo>
                    <a:lnTo>
                      <a:pt x="979" y="667"/>
                    </a:lnTo>
                    <a:lnTo>
                      <a:pt x="997" y="652"/>
                    </a:lnTo>
                    <a:lnTo>
                      <a:pt x="964" y="609"/>
                    </a:lnTo>
                    <a:lnTo>
                      <a:pt x="902" y="609"/>
                    </a:lnTo>
                    <a:lnTo>
                      <a:pt x="902" y="99"/>
                    </a:lnTo>
                    <a:lnTo>
                      <a:pt x="545" y="58"/>
                    </a:lnTo>
                    <a:lnTo>
                      <a:pt x="531" y="33"/>
                    </a:lnTo>
                    <a:lnTo>
                      <a:pt x="432" y="16"/>
                    </a:lnTo>
                    <a:lnTo>
                      <a:pt x="421" y="37"/>
                    </a:lnTo>
                    <a:lnTo>
                      <a:pt x="392" y="32"/>
                    </a:lnTo>
                    <a:lnTo>
                      <a:pt x="420" y="14"/>
                    </a:lnTo>
                    <a:lnTo>
                      <a:pt x="378" y="0"/>
                    </a:lnTo>
                    <a:lnTo>
                      <a:pt x="338" y="33"/>
                    </a:lnTo>
                    <a:lnTo>
                      <a:pt x="274" y="37"/>
                    </a:lnTo>
                    <a:lnTo>
                      <a:pt x="271" y="67"/>
                    </a:lnTo>
                    <a:lnTo>
                      <a:pt x="264" y="49"/>
                    </a:lnTo>
                    <a:lnTo>
                      <a:pt x="204" y="66"/>
                    </a:lnTo>
                    <a:lnTo>
                      <a:pt x="213" y="89"/>
                    </a:lnTo>
                    <a:lnTo>
                      <a:pt x="186" y="82"/>
                    </a:lnTo>
                    <a:lnTo>
                      <a:pt x="149" y="131"/>
                    </a:lnTo>
                    <a:lnTo>
                      <a:pt x="61" y="150"/>
                    </a:lnTo>
                    <a:lnTo>
                      <a:pt x="66" y="172"/>
                    </a:lnTo>
                    <a:lnTo>
                      <a:pt x="40" y="177"/>
                    </a:lnTo>
                    <a:lnTo>
                      <a:pt x="146" y="249"/>
                    </a:lnTo>
                    <a:lnTo>
                      <a:pt x="286" y="283"/>
                    </a:lnTo>
                    <a:lnTo>
                      <a:pt x="200" y="274"/>
                    </a:lnTo>
                    <a:lnTo>
                      <a:pt x="204" y="294"/>
                    </a:lnTo>
                    <a:lnTo>
                      <a:pt x="238" y="296"/>
                    </a:lnTo>
                    <a:lnTo>
                      <a:pt x="209" y="311"/>
                    </a:lnTo>
                    <a:lnTo>
                      <a:pt x="146" y="307"/>
                    </a:lnTo>
                    <a:lnTo>
                      <a:pt x="146" y="276"/>
                    </a:lnTo>
                    <a:lnTo>
                      <a:pt x="113" y="279"/>
                    </a:lnTo>
                    <a:lnTo>
                      <a:pt x="0" y="33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2" name="16341298.25252.752.53.755">
                <a:extLst>
                  <a:ext uri="{FF2B5EF4-FFF2-40B4-BE49-F238E27FC236}">
                    <a16:creationId xmlns:a16="http://schemas.microsoft.com/office/drawing/2014/main" id="{E20D1269-15A6-0D36-56D3-BE8454BA6491}"/>
                  </a:ext>
                </a:extLst>
              </p:cNvPr>
              <p:cNvSpPr>
                <a:spLocks/>
              </p:cNvSpPr>
              <p:nvPr/>
            </p:nvSpPr>
            <p:spPr bwMode="auto">
              <a:xfrm>
                <a:off x="2799507" y="2618534"/>
                <a:ext cx="59222" cy="38324"/>
              </a:xfrm>
              <a:custGeom>
                <a:avLst/>
                <a:gdLst>
                  <a:gd name="T0" fmla="*/ 0 w 88"/>
                  <a:gd name="T1" fmla="*/ 0 h 51"/>
                  <a:gd name="T2" fmla="*/ 1 w 88"/>
                  <a:gd name="T3" fmla="*/ 0 h 51"/>
                  <a:gd name="T4" fmla="*/ 1 w 88"/>
                  <a:gd name="T5" fmla="*/ 0 h 51"/>
                  <a:gd name="T6" fmla="*/ 1 w 88"/>
                  <a:gd name="T7" fmla="*/ 0 h 51"/>
                  <a:gd name="T8" fmla="*/ 1 w 88"/>
                  <a:gd name="T9" fmla="*/ 0 h 51"/>
                  <a:gd name="T10" fmla="*/ 0 w 88"/>
                  <a:gd name="T11" fmla="*/ 0 h 51"/>
                  <a:gd name="T12" fmla="*/ 0 60000 65536"/>
                  <a:gd name="T13" fmla="*/ 0 60000 65536"/>
                  <a:gd name="T14" fmla="*/ 0 60000 65536"/>
                  <a:gd name="T15" fmla="*/ 0 60000 65536"/>
                  <a:gd name="T16" fmla="*/ 0 60000 65536"/>
                  <a:gd name="T17" fmla="*/ 0 60000 65536"/>
                  <a:gd name="T18" fmla="*/ 0 w 88"/>
                  <a:gd name="T19" fmla="*/ 0 h 51"/>
                  <a:gd name="T20" fmla="*/ 88 w 88"/>
                  <a:gd name="T21" fmla="*/ 51 h 51"/>
                </a:gdLst>
                <a:ahLst/>
                <a:cxnLst>
                  <a:cxn ang="T12">
                    <a:pos x="T0" y="T1"/>
                  </a:cxn>
                  <a:cxn ang="T13">
                    <a:pos x="T2" y="T3"/>
                  </a:cxn>
                  <a:cxn ang="T14">
                    <a:pos x="T4" y="T5"/>
                  </a:cxn>
                  <a:cxn ang="T15">
                    <a:pos x="T6" y="T7"/>
                  </a:cxn>
                  <a:cxn ang="T16">
                    <a:pos x="T8" y="T9"/>
                  </a:cxn>
                  <a:cxn ang="T17">
                    <a:pos x="T10" y="T11"/>
                  </a:cxn>
                </a:cxnLst>
                <a:rect l="T18" t="T19" r="T20" b="T21"/>
                <a:pathLst>
                  <a:path w="88" h="51">
                    <a:moveTo>
                      <a:pt x="0" y="21"/>
                    </a:moveTo>
                    <a:lnTo>
                      <a:pt x="25" y="51"/>
                    </a:lnTo>
                    <a:lnTo>
                      <a:pt x="88" y="8"/>
                    </a:lnTo>
                    <a:lnTo>
                      <a:pt x="29" y="0"/>
                    </a:lnTo>
                    <a:lnTo>
                      <a:pt x="36" y="19"/>
                    </a:lnTo>
                    <a:lnTo>
                      <a:pt x="0" y="2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3" name="16342293.62527611.62511.1255">
                <a:extLst>
                  <a:ext uri="{FF2B5EF4-FFF2-40B4-BE49-F238E27FC236}">
                    <a16:creationId xmlns:a16="http://schemas.microsoft.com/office/drawing/2014/main" id="{A21B668C-8AA0-EE6D-7921-88AF190B1B40}"/>
                  </a:ext>
                </a:extLst>
              </p:cNvPr>
              <p:cNvSpPr>
                <a:spLocks/>
              </p:cNvSpPr>
              <p:nvPr/>
            </p:nvSpPr>
            <p:spPr bwMode="auto">
              <a:xfrm>
                <a:off x="3176377" y="2544950"/>
                <a:ext cx="179013" cy="182426"/>
              </a:xfrm>
              <a:custGeom>
                <a:avLst/>
                <a:gdLst>
                  <a:gd name="T0" fmla="*/ 0 w 266"/>
                  <a:gd name="T1" fmla="*/ 0 h 239"/>
                  <a:gd name="T2" fmla="*/ 1 w 266"/>
                  <a:gd name="T3" fmla="*/ 0 h 239"/>
                  <a:gd name="T4" fmla="*/ 1 w 266"/>
                  <a:gd name="T5" fmla="*/ 0 h 239"/>
                  <a:gd name="T6" fmla="*/ 1 w 266"/>
                  <a:gd name="T7" fmla="*/ 0 h 239"/>
                  <a:gd name="T8" fmla="*/ 1 w 266"/>
                  <a:gd name="T9" fmla="*/ 0 h 239"/>
                  <a:gd name="T10" fmla="*/ 1 w 266"/>
                  <a:gd name="T11" fmla="*/ 0 h 239"/>
                  <a:gd name="T12" fmla="*/ 1 w 266"/>
                  <a:gd name="T13" fmla="*/ 0 h 239"/>
                  <a:gd name="T14" fmla="*/ 1 w 266"/>
                  <a:gd name="T15" fmla="*/ 0 h 239"/>
                  <a:gd name="T16" fmla="*/ 1 w 266"/>
                  <a:gd name="T17" fmla="*/ 0 h 239"/>
                  <a:gd name="T18" fmla="*/ 1 w 266"/>
                  <a:gd name="T19" fmla="*/ 0 h 239"/>
                  <a:gd name="T20" fmla="*/ 1 w 266"/>
                  <a:gd name="T21" fmla="*/ 0 h 239"/>
                  <a:gd name="T22" fmla="*/ 1 w 266"/>
                  <a:gd name="T23" fmla="*/ 0 h 239"/>
                  <a:gd name="T24" fmla="*/ 1 w 266"/>
                  <a:gd name="T25" fmla="*/ 0 h 239"/>
                  <a:gd name="T26" fmla="*/ 1 w 266"/>
                  <a:gd name="T27" fmla="*/ 0 h 239"/>
                  <a:gd name="T28" fmla="*/ 1 w 266"/>
                  <a:gd name="T29" fmla="*/ 0 h 239"/>
                  <a:gd name="T30" fmla="*/ 1 w 266"/>
                  <a:gd name="T31" fmla="*/ 0 h 239"/>
                  <a:gd name="T32" fmla="*/ 1 w 266"/>
                  <a:gd name="T33" fmla="*/ 0 h 239"/>
                  <a:gd name="T34" fmla="*/ 1 w 266"/>
                  <a:gd name="T35" fmla="*/ 0 h 239"/>
                  <a:gd name="T36" fmla="*/ 1 w 266"/>
                  <a:gd name="T37" fmla="*/ 0 h 239"/>
                  <a:gd name="T38" fmla="*/ 1 w 266"/>
                  <a:gd name="T39" fmla="*/ 0 h 239"/>
                  <a:gd name="T40" fmla="*/ 0 w 266"/>
                  <a:gd name="T41" fmla="*/ 0 h 2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6"/>
                  <a:gd name="T64" fmla="*/ 0 h 239"/>
                  <a:gd name="T65" fmla="*/ 266 w 266"/>
                  <a:gd name="T66" fmla="*/ 239 h 23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6" h="239">
                    <a:moveTo>
                      <a:pt x="0" y="23"/>
                    </a:moveTo>
                    <a:lnTo>
                      <a:pt x="11" y="59"/>
                    </a:lnTo>
                    <a:lnTo>
                      <a:pt x="48" y="73"/>
                    </a:lnTo>
                    <a:lnTo>
                      <a:pt x="64" y="62"/>
                    </a:lnTo>
                    <a:lnTo>
                      <a:pt x="33" y="44"/>
                    </a:lnTo>
                    <a:lnTo>
                      <a:pt x="64" y="44"/>
                    </a:lnTo>
                    <a:lnTo>
                      <a:pt x="92" y="74"/>
                    </a:lnTo>
                    <a:lnTo>
                      <a:pt x="84" y="20"/>
                    </a:lnTo>
                    <a:lnTo>
                      <a:pt x="106" y="67"/>
                    </a:lnTo>
                    <a:lnTo>
                      <a:pt x="162" y="95"/>
                    </a:lnTo>
                    <a:lnTo>
                      <a:pt x="151" y="128"/>
                    </a:lnTo>
                    <a:lnTo>
                      <a:pt x="216" y="169"/>
                    </a:lnTo>
                    <a:lnTo>
                      <a:pt x="198" y="203"/>
                    </a:lnTo>
                    <a:lnTo>
                      <a:pt x="232" y="176"/>
                    </a:lnTo>
                    <a:lnTo>
                      <a:pt x="239" y="239"/>
                    </a:lnTo>
                    <a:lnTo>
                      <a:pt x="264" y="228"/>
                    </a:lnTo>
                    <a:lnTo>
                      <a:pt x="266" y="180"/>
                    </a:lnTo>
                    <a:lnTo>
                      <a:pt x="203" y="154"/>
                    </a:lnTo>
                    <a:lnTo>
                      <a:pt x="85" y="0"/>
                    </a:lnTo>
                    <a:lnTo>
                      <a:pt x="18" y="44"/>
                    </a:lnTo>
                    <a:lnTo>
                      <a:pt x="0" y="2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4" name="16343297.375278.51.8751.755">
                <a:extLst>
                  <a:ext uri="{FF2B5EF4-FFF2-40B4-BE49-F238E27FC236}">
                    <a16:creationId xmlns:a16="http://schemas.microsoft.com/office/drawing/2014/main" id="{7EF285CB-EE4B-76E9-95C5-D0D3EF1B5C99}"/>
                  </a:ext>
                </a:extLst>
              </p:cNvPr>
              <p:cNvSpPr>
                <a:spLocks/>
              </p:cNvSpPr>
              <p:nvPr/>
            </p:nvSpPr>
            <p:spPr bwMode="auto">
              <a:xfrm>
                <a:off x="3215408" y="2603203"/>
                <a:ext cx="29612" cy="30659"/>
              </a:xfrm>
              <a:custGeom>
                <a:avLst/>
                <a:gdLst>
                  <a:gd name="T0" fmla="*/ 0 w 45"/>
                  <a:gd name="T1" fmla="*/ 0 h 38"/>
                  <a:gd name="T2" fmla="*/ 0 w 45"/>
                  <a:gd name="T3" fmla="*/ 1 h 38"/>
                  <a:gd name="T4" fmla="*/ 0 w 45"/>
                  <a:gd name="T5" fmla="*/ 1 h 38"/>
                  <a:gd name="T6" fmla="*/ 0 w 45"/>
                  <a:gd name="T7" fmla="*/ 1 h 38"/>
                  <a:gd name="T8" fmla="*/ 0 w 45"/>
                  <a:gd name="T9" fmla="*/ 1 h 38"/>
                  <a:gd name="T10" fmla="*/ 0 w 45"/>
                  <a:gd name="T11" fmla="*/ 1 h 38"/>
                  <a:gd name="T12" fmla="*/ 0 w 45"/>
                  <a:gd name="T13" fmla="*/ 0 h 38"/>
                  <a:gd name="T14" fmla="*/ 0 60000 65536"/>
                  <a:gd name="T15" fmla="*/ 0 60000 65536"/>
                  <a:gd name="T16" fmla="*/ 0 60000 65536"/>
                  <a:gd name="T17" fmla="*/ 0 60000 65536"/>
                  <a:gd name="T18" fmla="*/ 0 60000 65536"/>
                  <a:gd name="T19" fmla="*/ 0 60000 65536"/>
                  <a:gd name="T20" fmla="*/ 0 60000 65536"/>
                  <a:gd name="T21" fmla="*/ 0 w 45"/>
                  <a:gd name="T22" fmla="*/ 0 h 38"/>
                  <a:gd name="T23" fmla="*/ 45 w 4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38">
                    <a:moveTo>
                      <a:pt x="0" y="0"/>
                    </a:moveTo>
                    <a:lnTo>
                      <a:pt x="13" y="38"/>
                    </a:lnTo>
                    <a:lnTo>
                      <a:pt x="16" y="19"/>
                    </a:lnTo>
                    <a:lnTo>
                      <a:pt x="45" y="35"/>
                    </a:lnTo>
                    <a:lnTo>
                      <a:pt x="19" y="19"/>
                    </a:lnTo>
                    <a:lnTo>
                      <a:pt x="44" y="7"/>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5" name="16344299279.3752.751.1255">
                <a:extLst>
                  <a:ext uri="{FF2B5EF4-FFF2-40B4-BE49-F238E27FC236}">
                    <a16:creationId xmlns:a16="http://schemas.microsoft.com/office/drawing/2014/main" id="{724215E8-2B51-CB33-700C-2F1C7F1B0A83}"/>
                  </a:ext>
                </a:extLst>
              </p:cNvPr>
              <p:cNvSpPr>
                <a:spLocks/>
              </p:cNvSpPr>
              <p:nvPr/>
            </p:nvSpPr>
            <p:spPr bwMode="auto">
              <a:xfrm>
                <a:off x="3230215" y="2629265"/>
                <a:ext cx="17498" cy="44457"/>
              </a:xfrm>
              <a:custGeom>
                <a:avLst/>
                <a:gdLst>
                  <a:gd name="T0" fmla="*/ 0 w 26"/>
                  <a:gd name="T1" fmla="*/ 0 h 59"/>
                  <a:gd name="T2" fmla="*/ 1 w 26"/>
                  <a:gd name="T3" fmla="*/ 0 h 59"/>
                  <a:gd name="T4" fmla="*/ 1 w 26"/>
                  <a:gd name="T5" fmla="*/ 0 h 59"/>
                  <a:gd name="T6" fmla="*/ 0 w 26"/>
                  <a:gd name="T7" fmla="*/ 0 h 59"/>
                  <a:gd name="T8" fmla="*/ 0 60000 65536"/>
                  <a:gd name="T9" fmla="*/ 0 60000 65536"/>
                  <a:gd name="T10" fmla="*/ 0 60000 65536"/>
                  <a:gd name="T11" fmla="*/ 0 60000 65536"/>
                  <a:gd name="T12" fmla="*/ 0 w 26"/>
                  <a:gd name="T13" fmla="*/ 0 h 59"/>
                  <a:gd name="T14" fmla="*/ 26 w 26"/>
                  <a:gd name="T15" fmla="*/ 59 h 59"/>
                </a:gdLst>
                <a:ahLst/>
                <a:cxnLst>
                  <a:cxn ang="T8">
                    <a:pos x="T0" y="T1"/>
                  </a:cxn>
                  <a:cxn ang="T9">
                    <a:pos x="T2" y="T3"/>
                  </a:cxn>
                  <a:cxn ang="T10">
                    <a:pos x="T4" y="T5"/>
                  </a:cxn>
                  <a:cxn ang="T11">
                    <a:pos x="T6" y="T7"/>
                  </a:cxn>
                </a:cxnLst>
                <a:rect l="T12" t="T13" r="T14" b="T15"/>
                <a:pathLst>
                  <a:path w="26" h="59">
                    <a:moveTo>
                      <a:pt x="0" y="0"/>
                    </a:moveTo>
                    <a:lnTo>
                      <a:pt x="24" y="11"/>
                    </a:lnTo>
                    <a:lnTo>
                      <a:pt x="26" y="59"/>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6" name="16345297.5280.51.751.55">
                <a:extLst>
                  <a:ext uri="{FF2B5EF4-FFF2-40B4-BE49-F238E27FC236}">
                    <a16:creationId xmlns:a16="http://schemas.microsoft.com/office/drawing/2014/main" id="{DD3409B7-8A95-B875-0093-8C808891AC2F}"/>
                  </a:ext>
                </a:extLst>
              </p:cNvPr>
              <p:cNvSpPr>
                <a:spLocks/>
              </p:cNvSpPr>
              <p:nvPr/>
            </p:nvSpPr>
            <p:spPr bwMode="auto">
              <a:xfrm>
                <a:off x="3249059" y="2606270"/>
                <a:ext cx="22881" cy="27594"/>
              </a:xfrm>
              <a:custGeom>
                <a:avLst/>
                <a:gdLst>
                  <a:gd name="T0" fmla="*/ 0 w 33"/>
                  <a:gd name="T1" fmla="*/ 0 h 36"/>
                  <a:gd name="T2" fmla="*/ 1 w 33"/>
                  <a:gd name="T3" fmla="*/ 1 h 36"/>
                  <a:gd name="T4" fmla="*/ 1 w 33"/>
                  <a:gd name="T5" fmla="*/ 1 h 36"/>
                  <a:gd name="T6" fmla="*/ 1 w 33"/>
                  <a:gd name="T7" fmla="*/ 1 h 36"/>
                  <a:gd name="T8" fmla="*/ 1 w 33"/>
                  <a:gd name="T9" fmla="*/ 1 h 36"/>
                  <a:gd name="T10" fmla="*/ 1 w 33"/>
                  <a:gd name="T11" fmla="*/ 0 h 36"/>
                  <a:gd name="T12" fmla="*/ 0 w 33"/>
                  <a:gd name="T13" fmla="*/ 0 h 36"/>
                  <a:gd name="T14" fmla="*/ 0 60000 65536"/>
                  <a:gd name="T15" fmla="*/ 0 60000 65536"/>
                  <a:gd name="T16" fmla="*/ 0 60000 65536"/>
                  <a:gd name="T17" fmla="*/ 0 60000 65536"/>
                  <a:gd name="T18" fmla="*/ 0 60000 65536"/>
                  <a:gd name="T19" fmla="*/ 0 60000 65536"/>
                  <a:gd name="T20" fmla="*/ 0 60000 65536"/>
                  <a:gd name="T21" fmla="*/ 0 w 33"/>
                  <a:gd name="T22" fmla="*/ 0 h 36"/>
                  <a:gd name="T23" fmla="*/ 33 w 33"/>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6">
                    <a:moveTo>
                      <a:pt x="0" y="0"/>
                    </a:moveTo>
                    <a:lnTo>
                      <a:pt x="7" y="36"/>
                    </a:lnTo>
                    <a:lnTo>
                      <a:pt x="28" y="36"/>
                    </a:lnTo>
                    <a:lnTo>
                      <a:pt x="18" y="4"/>
                    </a:lnTo>
                    <a:lnTo>
                      <a:pt x="33" y="26"/>
                    </a:lnTo>
                    <a:lnTo>
                      <a:pt x="20" y="0"/>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7" name="16346300.125281.751.251.1255">
                <a:extLst>
                  <a:ext uri="{FF2B5EF4-FFF2-40B4-BE49-F238E27FC236}">
                    <a16:creationId xmlns:a16="http://schemas.microsoft.com/office/drawing/2014/main" id="{4521D847-1165-9B4E-43F4-D4669F3E7DD9}"/>
                  </a:ext>
                </a:extLst>
              </p:cNvPr>
              <p:cNvSpPr>
                <a:spLocks/>
              </p:cNvSpPr>
              <p:nvPr/>
            </p:nvSpPr>
            <p:spPr bwMode="auto">
              <a:xfrm>
                <a:off x="3267903" y="2647660"/>
                <a:ext cx="18843" cy="19929"/>
              </a:xfrm>
              <a:custGeom>
                <a:avLst/>
                <a:gdLst>
                  <a:gd name="T0" fmla="*/ 0 w 29"/>
                  <a:gd name="T1" fmla="*/ 0 h 26"/>
                  <a:gd name="T2" fmla="*/ 0 w 29"/>
                  <a:gd name="T3" fmla="*/ 1 h 26"/>
                  <a:gd name="T4" fmla="*/ 0 w 29"/>
                  <a:gd name="T5" fmla="*/ 1 h 26"/>
                  <a:gd name="T6" fmla="*/ 0 w 29"/>
                  <a:gd name="T7" fmla="*/ 0 h 26"/>
                  <a:gd name="T8" fmla="*/ 0 60000 65536"/>
                  <a:gd name="T9" fmla="*/ 0 60000 65536"/>
                  <a:gd name="T10" fmla="*/ 0 60000 65536"/>
                  <a:gd name="T11" fmla="*/ 0 60000 65536"/>
                  <a:gd name="T12" fmla="*/ 0 w 29"/>
                  <a:gd name="T13" fmla="*/ 0 h 26"/>
                  <a:gd name="T14" fmla="*/ 29 w 29"/>
                  <a:gd name="T15" fmla="*/ 26 h 26"/>
                </a:gdLst>
                <a:ahLst/>
                <a:cxnLst>
                  <a:cxn ang="T8">
                    <a:pos x="T0" y="T1"/>
                  </a:cxn>
                  <a:cxn ang="T9">
                    <a:pos x="T2" y="T3"/>
                  </a:cxn>
                  <a:cxn ang="T10">
                    <a:pos x="T4" y="T5"/>
                  </a:cxn>
                  <a:cxn ang="T11">
                    <a:pos x="T6" y="T7"/>
                  </a:cxn>
                </a:cxnLst>
                <a:rect l="T12" t="T13" r="T14" b="T15"/>
                <a:pathLst>
                  <a:path w="29" h="26">
                    <a:moveTo>
                      <a:pt x="0" y="0"/>
                    </a:moveTo>
                    <a:lnTo>
                      <a:pt x="27" y="26"/>
                    </a:lnTo>
                    <a:lnTo>
                      <a:pt x="29" y="3"/>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8" name="16347301.75282325">
                <a:extLst>
                  <a:ext uri="{FF2B5EF4-FFF2-40B4-BE49-F238E27FC236}">
                    <a16:creationId xmlns:a16="http://schemas.microsoft.com/office/drawing/2014/main" id="{0DAD60E4-F2AB-C7DB-E480-C1E810BA81B8}"/>
                  </a:ext>
                </a:extLst>
              </p:cNvPr>
              <p:cNvSpPr>
                <a:spLocks/>
              </p:cNvSpPr>
              <p:nvPr/>
            </p:nvSpPr>
            <p:spPr bwMode="auto">
              <a:xfrm>
                <a:off x="3273287" y="2673722"/>
                <a:ext cx="30958" cy="47523"/>
              </a:xfrm>
              <a:custGeom>
                <a:avLst/>
                <a:gdLst>
                  <a:gd name="T0" fmla="*/ 0 w 46"/>
                  <a:gd name="T1" fmla="*/ 0 h 62"/>
                  <a:gd name="T2" fmla="*/ 1 w 46"/>
                  <a:gd name="T3" fmla="*/ 1 h 62"/>
                  <a:gd name="T4" fmla="*/ 1 w 46"/>
                  <a:gd name="T5" fmla="*/ 1 h 62"/>
                  <a:gd name="T6" fmla="*/ 0 w 46"/>
                  <a:gd name="T7" fmla="*/ 0 h 62"/>
                  <a:gd name="T8" fmla="*/ 0 60000 65536"/>
                  <a:gd name="T9" fmla="*/ 0 60000 65536"/>
                  <a:gd name="T10" fmla="*/ 0 60000 65536"/>
                  <a:gd name="T11" fmla="*/ 0 60000 65536"/>
                  <a:gd name="T12" fmla="*/ 0 w 46"/>
                  <a:gd name="T13" fmla="*/ 0 h 62"/>
                  <a:gd name="T14" fmla="*/ 46 w 46"/>
                  <a:gd name="T15" fmla="*/ 62 h 62"/>
                </a:gdLst>
                <a:ahLst/>
                <a:cxnLst>
                  <a:cxn ang="T8">
                    <a:pos x="T0" y="T1"/>
                  </a:cxn>
                  <a:cxn ang="T9">
                    <a:pos x="T2" y="T3"/>
                  </a:cxn>
                  <a:cxn ang="T10">
                    <a:pos x="T4" y="T5"/>
                  </a:cxn>
                  <a:cxn ang="T11">
                    <a:pos x="T6" y="T7"/>
                  </a:cxn>
                </a:cxnLst>
                <a:rect l="T12" t="T13" r="T14" b="T15"/>
                <a:pathLst>
                  <a:path w="46" h="62">
                    <a:moveTo>
                      <a:pt x="0" y="0"/>
                    </a:moveTo>
                    <a:lnTo>
                      <a:pt x="36" y="22"/>
                    </a:lnTo>
                    <a:lnTo>
                      <a:pt x="46" y="62"/>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09" name="16348302.6252851.7515">
                <a:extLst>
                  <a:ext uri="{FF2B5EF4-FFF2-40B4-BE49-F238E27FC236}">
                    <a16:creationId xmlns:a16="http://schemas.microsoft.com/office/drawing/2014/main" id="{8CEFC03B-16EC-B56C-17C0-A3102CE36660}"/>
                  </a:ext>
                </a:extLst>
              </p:cNvPr>
              <p:cNvSpPr>
                <a:spLocks/>
              </p:cNvSpPr>
              <p:nvPr/>
            </p:nvSpPr>
            <p:spPr bwMode="auto">
              <a:xfrm>
                <a:off x="3321741" y="2687519"/>
                <a:ext cx="16151" cy="27594"/>
              </a:xfrm>
              <a:custGeom>
                <a:avLst/>
                <a:gdLst>
                  <a:gd name="T0" fmla="*/ 0 w 23"/>
                  <a:gd name="T1" fmla="*/ 1 h 36"/>
                  <a:gd name="T2" fmla="*/ 1 w 23"/>
                  <a:gd name="T3" fmla="*/ 0 h 36"/>
                  <a:gd name="T4" fmla="*/ 1 w 23"/>
                  <a:gd name="T5" fmla="*/ 1 h 36"/>
                  <a:gd name="T6" fmla="*/ 0 w 23"/>
                  <a:gd name="T7" fmla="*/ 1 h 36"/>
                  <a:gd name="T8" fmla="*/ 0 60000 65536"/>
                  <a:gd name="T9" fmla="*/ 0 60000 65536"/>
                  <a:gd name="T10" fmla="*/ 0 60000 65536"/>
                  <a:gd name="T11" fmla="*/ 0 60000 65536"/>
                  <a:gd name="T12" fmla="*/ 0 w 23"/>
                  <a:gd name="T13" fmla="*/ 0 h 36"/>
                  <a:gd name="T14" fmla="*/ 23 w 23"/>
                  <a:gd name="T15" fmla="*/ 36 h 36"/>
                </a:gdLst>
                <a:ahLst/>
                <a:cxnLst>
                  <a:cxn ang="T8">
                    <a:pos x="T0" y="T1"/>
                  </a:cxn>
                  <a:cxn ang="T9">
                    <a:pos x="T2" y="T3"/>
                  </a:cxn>
                  <a:cxn ang="T10">
                    <a:pos x="T4" y="T5"/>
                  </a:cxn>
                  <a:cxn ang="T11">
                    <a:pos x="T6" y="T7"/>
                  </a:cxn>
                </a:cxnLst>
                <a:rect l="T12" t="T13" r="T14" b="T15"/>
                <a:pathLst>
                  <a:path w="23" h="36">
                    <a:moveTo>
                      <a:pt x="0" y="21"/>
                    </a:moveTo>
                    <a:lnTo>
                      <a:pt x="11" y="0"/>
                    </a:lnTo>
                    <a:lnTo>
                      <a:pt x="23" y="36"/>
                    </a:lnTo>
                    <a:lnTo>
                      <a:pt x="0" y="2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0" name="16349316.75294.62545.5805">
                <a:extLst>
                  <a:ext uri="{FF2B5EF4-FFF2-40B4-BE49-F238E27FC236}">
                    <a16:creationId xmlns:a16="http://schemas.microsoft.com/office/drawing/2014/main" id="{3F15D6CD-B90E-4E32-5422-09DEC376D328}"/>
                  </a:ext>
                </a:extLst>
              </p:cNvPr>
              <p:cNvSpPr>
                <a:spLocks/>
              </p:cNvSpPr>
              <p:nvPr/>
            </p:nvSpPr>
            <p:spPr bwMode="auto">
              <a:xfrm>
                <a:off x="3289540" y="2909805"/>
                <a:ext cx="1294814" cy="715912"/>
              </a:xfrm>
              <a:custGeom>
                <a:avLst/>
                <a:gdLst>
                  <a:gd name="T0" fmla="*/ 1 w 1924"/>
                  <a:gd name="T1" fmla="*/ 1 h 934"/>
                  <a:gd name="T2" fmla="*/ 1 w 1924"/>
                  <a:gd name="T3" fmla="*/ 1 h 934"/>
                  <a:gd name="T4" fmla="*/ 1 w 1924"/>
                  <a:gd name="T5" fmla="*/ 1 h 934"/>
                  <a:gd name="T6" fmla="*/ 1 w 1924"/>
                  <a:gd name="T7" fmla="*/ 1 h 934"/>
                  <a:gd name="T8" fmla="*/ 1 w 1924"/>
                  <a:gd name="T9" fmla="*/ 1 h 934"/>
                  <a:gd name="T10" fmla="*/ 1 w 1924"/>
                  <a:gd name="T11" fmla="*/ 1 h 934"/>
                  <a:gd name="T12" fmla="*/ 1 w 1924"/>
                  <a:gd name="T13" fmla="*/ 1 h 934"/>
                  <a:gd name="T14" fmla="*/ 1 w 1924"/>
                  <a:gd name="T15" fmla="*/ 1 h 934"/>
                  <a:gd name="T16" fmla="*/ 1 w 1924"/>
                  <a:gd name="T17" fmla="*/ 1 h 934"/>
                  <a:gd name="T18" fmla="*/ 1 w 1924"/>
                  <a:gd name="T19" fmla="*/ 1 h 934"/>
                  <a:gd name="T20" fmla="*/ 1 w 1924"/>
                  <a:gd name="T21" fmla="*/ 1 h 934"/>
                  <a:gd name="T22" fmla="*/ 1 w 1924"/>
                  <a:gd name="T23" fmla="*/ 1 h 934"/>
                  <a:gd name="T24" fmla="*/ 1 w 1924"/>
                  <a:gd name="T25" fmla="*/ 1 h 934"/>
                  <a:gd name="T26" fmla="*/ 1 w 1924"/>
                  <a:gd name="T27" fmla="*/ 1 h 934"/>
                  <a:gd name="T28" fmla="*/ 1 w 1924"/>
                  <a:gd name="T29" fmla="*/ 1 h 934"/>
                  <a:gd name="T30" fmla="*/ 1 w 1924"/>
                  <a:gd name="T31" fmla="*/ 1 h 934"/>
                  <a:gd name="T32" fmla="*/ 1 w 1924"/>
                  <a:gd name="T33" fmla="*/ 1 h 934"/>
                  <a:gd name="T34" fmla="*/ 1 w 1924"/>
                  <a:gd name="T35" fmla="*/ 1 h 934"/>
                  <a:gd name="T36" fmla="*/ 1 w 1924"/>
                  <a:gd name="T37" fmla="*/ 1 h 934"/>
                  <a:gd name="T38" fmla="*/ 1 w 1924"/>
                  <a:gd name="T39" fmla="*/ 1 h 934"/>
                  <a:gd name="T40" fmla="*/ 1 w 1924"/>
                  <a:gd name="T41" fmla="*/ 1 h 934"/>
                  <a:gd name="T42" fmla="*/ 1 w 1924"/>
                  <a:gd name="T43" fmla="*/ 1 h 934"/>
                  <a:gd name="T44" fmla="*/ 1 w 1924"/>
                  <a:gd name="T45" fmla="*/ 1 h 934"/>
                  <a:gd name="T46" fmla="*/ 1 w 1924"/>
                  <a:gd name="T47" fmla="*/ 1 h 934"/>
                  <a:gd name="T48" fmla="*/ 1 w 1924"/>
                  <a:gd name="T49" fmla="*/ 1 h 934"/>
                  <a:gd name="T50" fmla="*/ 1 w 1924"/>
                  <a:gd name="T51" fmla="*/ 1 h 934"/>
                  <a:gd name="T52" fmla="*/ 1 w 1924"/>
                  <a:gd name="T53" fmla="*/ 1 h 934"/>
                  <a:gd name="T54" fmla="*/ 1 w 1924"/>
                  <a:gd name="T55" fmla="*/ 1 h 934"/>
                  <a:gd name="T56" fmla="*/ 1 w 1924"/>
                  <a:gd name="T57" fmla="*/ 1 h 934"/>
                  <a:gd name="T58" fmla="*/ 1 w 1924"/>
                  <a:gd name="T59" fmla="*/ 1 h 934"/>
                  <a:gd name="T60" fmla="*/ 1 w 1924"/>
                  <a:gd name="T61" fmla="*/ 1 h 934"/>
                  <a:gd name="T62" fmla="*/ 1 w 1924"/>
                  <a:gd name="T63" fmla="*/ 1 h 934"/>
                  <a:gd name="T64" fmla="*/ 1 w 1924"/>
                  <a:gd name="T65" fmla="*/ 1 h 934"/>
                  <a:gd name="T66" fmla="*/ 1 w 1924"/>
                  <a:gd name="T67" fmla="*/ 1 h 934"/>
                  <a:gd name="T68" fmla="*/ 1 w 1924"/>
                  <a:gd name="T69" fmla="*/ 1 h 934"/>
                  <a:gd name="T70" fmla="*/ 1 w 1924"/>
                  <a:gd name="T71" fmla="*/ 1 h 934"/>
                  <a:gd name="T72" fmla="*/ 1 w 1924"/>
                  <a:gd name="T73" fmla="*/ 1 h 934"/>
                  <a:gd name="T74" fmla="*/ 1 w 1924"/>
                  <a:gd name="T75" fmla="*/ 1 h 934"/>
                  <a:gd name="T76" fmla="*/ 1 w 1924"/>
                  <a:gd name="T77" fmla="*/ 1 h 934"/>
                  <a:gd name="T78" fmla="*/ 1 w 1924"/>
                  <a:gd name="T79" fmla="*/ 1 h 934"/>
                  <a:gd name="T80" fmla="*/ 1 w 1924"/>
                  <a:gd name="T81" fmla="*/ 1 h 934"/>
                  <a:gd name="T82" fmla="*/ 1 w 1924"/>
                  <a:gd name="T83" fmla="*/ 1 h 934"/>
                  <a:gd name="T84" fmla="*/ 1 w 1924"/>
                  <a:gd name="T85" fmla="*/ 1 h 934"/>
                  <a:gd name="T86" fmla="*/ 1 w 1924"/>
                  <a:gd name="T87" fmla="*/ 1 h 934"/>
                  <a:gd name="T88" fmla="*/ 1 w 1924"/>
                  <a:gd name="T89" fmla="*/ 0 h 934"/>
                  <a:gd name="T90" fmla="*/ 1 w 1924"/>
                  <a:gd name="T91" fmla="*/ 1 h 934"/>
                  <a:gd name="T92" fmla="*/ 1 w 1924"/>
                  <a:gd name="T93" fmla="*/ 1 h 934"/>
                  <a:gd name="T94" fmla="*/ 0 w 1924"/>
                  <a:gd name="T95" fmla="*/ 1 h 93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924"/>
                  <a:gd name="T145" fmla="*/ 0 h 934"/>
                  <a:gd name="T146" fmla="*/ 1924 w 1924"/>
                  <a:gd name="T147" fmla="*/ 934 h 93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924" h="934">
                    <a:moveTo>
                      <a:pt x="0" y="52"/>
                    </a:moveTo>
                    <a:lnTo>
                      <a:pt x="22" y="128"/>
                    </a:lnTo>
                    <a:lnTo>
                      <a:pt x="49" y="136"/>
                    </a:lnTo>
                    <a:lnTo>
                      <a:pt x="27" y="140"/>
                    </a:lnTo>
                    <a:lnTo>
                      <a:pt x="11" y="371"/>
                    </a:lnTo>
                    <a:lnTo>
                      <a:pt x="59" y="461"/>
                    </a:lnTo>
                    <a:lnTo>
                      <a:pt x="91" y="461"/>
                    </a:lnTo>
                    <a:lnTo>
                      <a:pt x="78" y="495"/>
                    </a:lnTo>
                    <a:lnTo>
                      <a:pt x="140" y="593"/>
                    </a:lnTo>
                    <a:lnTo>
                      <a:pt x="203" y="615"/>
                    </a:lnTo>
                    <a:lnTo>
                      <a:pt x="254" y="671"/>
                    </a:lnTo>
                    <a:lnTo>
                      <a:pt x="331" y="664"/>
                    </a:lnTo>
                    <a:lnTo>
                      <a:pt x="458" y="717"/>
                    </a:lnTo>
                    <a:lnTo>
                      <a:pt x="609" y="696"/>
                    </a:lnTo>
                    <a:lnTo>
                      <a:pt x="701" y="795"/>
                    </a:lnTo>
                    <a:lnTo>
                      <a:pt x="771" y="769"/>
                    </a:lnTo>
                    <a:lnTo>
                      <a:pt x="855" y="889"/>
                    </a:lnTo>
                    <a:lnTo>
                      <a:pt x="921" y="911"/>
                    </a:lnTo>
                    <a:lnTo>
                      <a:pt x="914" y="843"/>
                    </a:lnTo>
                    <a:lnTo>
                      <a:pt x="983" y="802"/>
                    </a:lnTo>
                    <a:lnTo>
                      <a:pt x="989" y="770"/>
                    </a:lnTo>
                    <a:lnTo>
                      <a:pt x="1090" y="769"/>
                    </a:lnTo>
                    <a:lnTo>
                      <a:pt x="1176" y="795"/>
                    </a:lnTo>
                    <a:lnTo>
                      <a:pt x="1178" y="755"/>
                    </a:lnTo>
                    <a:lnTo>
                      <a:pt x="1143" y="750"/>
                    </a:lnTo>
                    <a:lnTo>
                      <a:pt x="1216" y="748"/>
                    </a:lnTo>
                    <a:lnTo>
                      <a:pt x="1220" y="729"/>
                    </a:lnTo>
                    <a:lnTo>
                      <a:pt x="1226" y="752"/>
                    </a:lnTo>
                    <a:lnTo>
                      <a:pt x="1362" y="761"/>
                    </a:lnTo>
                    <a:lnTo>
                      <a:pt x="1398" y="794"/>
                    </a:lnTo>
                    <a:lnTo>
                      <a:pt x="1403" y="854"/>
                    </a:lnTo>
                    <a:lnTo>
                      <a:pt x="1447" y="934"/>
                    </a:lnTo>
                    <a:lnTo>
                      <a:pt x="1473" y="931"/>
                    </a:lnTo>
                    <a:lnTo>
                      <a:pt x="1484" y="871"/>
                    </a:lnTo>
                    <a:lnTo>
                      <a:pt x="1439" y="729"/>
                    </a:lnTo>
                    <a:lnTo>
                      <a:pt x="1466" y="670"/>
                    </a:lnTo>
                    <a:lnTo>
                      <a:pt x="1635" y="554"/>
                    </a:lnTo>
                    <a:lnTo>
                      <a:pt x="1602" y="542"/>
                    </a:lnTo>
                    <a:lnTo>
                      <a:pt x="1633" y="538"/>
                    </a:lnTo>
                    <a:lnTo>
                      <a:pt x="1609" y="499"/>
                    </a:lnTo>
                    <a:lnTo>
                      <a:pt x="1615" y="466"/>
                    </a:lnTo>
                    <a:lnTo>
                      <a:pt x="1580" y="440"/>
                    </a:lnTo>
                    <a:lnTo>
                      <a:pt x="1615" y="458"/>
                    </a:lnTo>
                    <a:lnTo>
                      <a:pt x="1604" y="417"/>
                    </a:lnTo>
                    <a:lnTo>
                      <a:pt x="1628" y="404"/>
                    </a:lnTo>
                    <a:lnTo>
                      <a:pt x="1633" y="495"/>
                    </a:lnTo>
                    <a:lnTo>
                      <a:pt x="1659" y="441"/>
                    </a:lnTo>
                    <a:lnTo>
                      <a:pt x="1642" y="399"/>
                    </a:lnTo>
                    <a:lnTo>
                      <a:pt x="1660" y="424"/>
                    </a:lnTo>
                    <a:lnTo>
                      <a:pt x="1694" y="351"/>
                    </a:lnTo>
                    <a:lnTo>
                      <a:pt x="1829" y="318"/>
                    </a:lnTo>
                    <a:lnTo>
                      <a:pt x="1795" y="297"/>
                    </a:lnTo>
                    <a:lnTo>
                      <a:pt x="1819" y="241"/>
                    </a:lnTo>
                    <a:lnTo>
                      <a:pt x="1921" y="199"/>
                    </a:lnTo>
                    <a:lnTo>
                      <a:pt x="1924" y="176"/>
                    </a:lnTo>
                    <a:lnTo>
                      <a:pt x="1899" y="157"/>
                    </a:lnTo>
                    <a:lnTo>
                      <a:pt x="1899" y="103"/>
                    </a:lnTo>
                    <a:lnTo>
                      <a:pt x="1844" y="85"/>
                    </a:lnTo>
                    <a:lnTo>
                      <a:pt x="1803" y="173"/>
                    </a:lnTo>
                    <a:lnTo>
                      <a:pt x="1633" y="206"/>
                    </a:lnTo>
                    <a:lnTo>
                      <a:pt x="1620" y="245"/>
                    </a:lnTo>
                    <a:lnTo>
                      <a:pt x="1523" y="260"/>
                    </a:lnTo>
                    <a:lnTo>
                      <a:pt x="1529" y="272"/>
                    </a:lnTo>
                    <a:lnTo>
                      <a:pt x="1431" y="326"/>
                    </a:lnTo>
                    <a:lnTo>
                      <a:pt x="1389" y="325"/>
                    </a:lnTo>
                    <a:lnTo>
                      <a:pt x="1387" y="308"/>
                    </a:lnTo>
                    <a:lnTo>
                      <a:pt x="1395" y="292"/>
                    </a:lnTo>
                    <a:lnTo>
                      <a:pt x="1404" y="281"/>
                    </a:lnTo>
                    <a:lnTo>
                      <a:pt x="1409" y="264"/>
                    </a:lnTo>
                    <a:lnTo>
                      <a:pt x="1395" y="224"/>
                    </a:lnTo>
                    <a:lnTo>
                      <a:pt x="1360" y="239"/>
                    </a:lnTo>
                    <a:lnTo>
                      <a:pt x="1373" y="175"/>
                    </a:lnTo>
                    <a:lnTo>
                      <a:pt x="1322" y="157"/>
                    </a:lnTo>
                    <a:lnTo>
                      <a:pt x="1282" y="199"/>
                    </a:lnTo>
                    <a:lnTo>
                      <a:pt x="1267" y="311"/>
                    </a:lnTo>
                    <a:lnTo>
                      <a:pt x="1237" y="314"/>
                    </a:lnTo>
                    <a:lnTo>
                      <a:pt x="1227" y="261"/>
                    </a:lnTo>
                    <a:lnTo>
                      <a:pt x="1252" y="177"/>
                    </a:lnTo>
                    <a:lnTo>
                      <a:pt x="1229" y="191"/>
                    </a:lnTo>
                    <a:lnTo>
                      <a:pt x="1270" y="147"/>
                    </a:lnTo>
                    <a:lnTo>
                      <a:pt x="1359" y="146"/>
                    </a:lnTo>
                    <a:lnTo>
                      <a:pt x="1343" y="124"/>
                    </a:lnTo>
                    <a:lnTo>
                      <a:pt x="1337" y="124"/>
                    </a:lnTo>
                    <a:lnTo>
                      <a:pt x="1208" y="111"/>
                    </a:lnTo>
                    <a:lnTo>
                      <a:pt x="1229" y="84"/>
                    </a:lnTo>
                    <a:lnTo>
                      <a:pt x="1149" y="120"/>
                    </a:lnTo>
                    <a:lnTo>
                      <a:pt x="1088" y="120"/>
                    </a:lnTo>
                    <a:lnTo>
                      <a:pt x="1163" y="62"/>
                    </a:lnTo>
                    <a:lnTo>
                      <a:pt x="1005" y="30"/>
                    </a:lnTo>
                    <a:lnTo>
                      <a:pt x="984" y="0"/>
                    </a:lnTo>
                    <a:lnTo>
                      <a:pt x="983" y="19"/>
                    </a:lnTo>
                    <a:lnTo>
                      <a:pt x="63" y="19"/>
                    </a:lnTo>
                    <a:lnTo>
                      <a:pt x="81" y="56"/>
                    </a:lnTo>
                    <a:lnTo>
                      <a:pt x="59" y="85"/>
                    </a:lnTo>
                    <a:lnTo>
                      <a:pt x="66" y="55"/>
                    </a:lnTo>
                    <a:lnTo>
                      <a:pt x="0" y="5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1" name="16351453.625386.58.757.255">
                <a:extLst>
                  <a:ext uri="{FF2B5EF4-FFF2-40B4-BE49-F238E27FC236}">
                    <a16:creationId xmlns:a16="http://schemas.microsoft.com/office/drawing/2014/main" id="{079C9074-AE10-2071-8F92-FDBFB4F90FBF}"/>
                  </a:ext>
                </a:extLst>
              </p:cNvPr>
              <p:cNvSpPr>
                <a:spLocks/>
              </p:cNvSpPr>
              <p:nvPr/>
            </p:nvSpPr>
            <p:spPr bwMode="auto">
              <a:xfrm>
                <a:off x="4776824" y="5066736"/>
                <a:ext cx="117098" cy="136438"/>
              </a:xfrm>
              <a:custGeom>
                <a:avLst/>
                <a:gdLst>
                  <a:gd name="T0" fmla="*/ 0 w 174"/>
                  <a:gd name="T1" fmla="*/ 0 h 179"/>
                  <a:gd name="T2" fmla="*/ 1 w 174"/>
                  <a:gd name="T3" fmla="*/ 0 h 179"/>
                  <a:gd name="T4" fmla="*/ 1 w 174"/>
                  <a:gd name="T5" fmla="*/ 0 h 179"/>
                  <a:gd name="T6" fmla="*/ 1 w 174"/>
                  <a:gd name="T7" fmla="*/ 0 h 179"/>
                  <a:gd name="T8" fmla="*/ 1 w 174"/>
                  <a:gd name="T9" fmla="*/ 0 h 179"/>
                  <a:gd name="T10" fmla="*/ 1 w 174"/>
                  <a:gd name="T11" fmla="*/ 0 h 179"/>
                  <a:gd name="T12" fmla="*/ 1 w 174"/>
                  <a:gd name="T13" fmla="*/ 0 h 179"/>
                  <a:gd name="T14" fmla="*/ 0 w 174"/>
                  <a:gd name="T15" fmla="*/ 0 h 179"/>
                  <a:gd name="T16" fmla="*/ 0 60000 65536"/>
                  <a:gd name="T17" fmla="*/ 0 60000 65536"/>
                  <a:gd name="T18" fmla="*/ 0 60000 65536"/>
                  <a:gd name="T19" fmla="*/ 0 60000 65536"/>
                  <a:gd name="T20" fmla="*/ 0 60000 65536"/>
                  <a:gd name="T21" fmla="*/ 0 60000 65536"/>
                  <a:gd name="T22" fmla="*/ 0 60000 65536"/>
                  <a:gd name="T23" fmla="*/ 0 60000 65536"/>
                  <a:gd name="T24" fmla="*/ 0 w 174"/>
                  <a:gd name="T25" fmla="*/ 0 h 179"/>
                  <a:gd name="T26" fmla="*/ 174 w 174"/>
                  <a:gd name="T27" fmla="*/ 179 h 1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4" h="179">
                    <a:moveTo>
                      <a:pt x="0" y="144"/>
                    </a:moveTo>
                    <a:lnTo>
                      <a:pt x="29" y="7"/>
                    </a:lnTo>
                    <a:lnTo>
                      <a:pt x="53" y="0"/>
                    </a:lnTo>
                    <a:lnTo>
                      <a:pt x="154" y="70"/>
                    </a:lnTo>
                    <a:lnTo>
                      <a:pt x="174" y="99"/>
                    </a:lnTo>
                    <a:lnTo>
                      <a:pt x="166" y="135"/>
                    </a:lnTo>
                    <a:lnTo>
                      <a:pt x="119" y="179"/>
                    </a:lnTo>
                    <a:lnTo>
                      <a:pt x="0" y="14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2" name="16352439.375365.87557.2527.255">
                <a:extLst>
                  <a:ext uri="{FF2B5EF4-FFF2-40B4-BE49-F238E27FC236}">
                    <a16:creationId xmlns:a16="http://schemas.microsoft.com/office/drawing/2014/main" id="{B3897ACD-03F4-EAB2-5C06-AB702EA5CDBA}"/>
                  </a:ext>
                </a:extLst>
              </p:cNvPr>
              <p:cNvSpPr>
                <a:spLocks/>
              </p:cNvSpPr>
              <p:nvPr/>
            </p:nvSpPr>
            <p:spPr bwMode="auto">
              <a:xfrm>
                <a:off x="4441680" y="4841386"/>
                <a:ext cx="442821" cy="902938"/>
              </a:xfrm>
              <a:custGeom>
                <a:avLst/>
                <a:gdLst>
                  <a:gd name="T0" fmla="*/ 0 w 657"/>
                  <a:gd name="T1" fmla="*/ 1 h 1177"/>
                  <a:gd name="T2" fmla="*/ 1 w 657"/>
                  <a:gd name="T3" fmla="*/ 1 h 1177"/>
                  <a:gd name="T4" fmla="*/ 1 w 657"/>
                  <a:gd name="T5" fmla="*/ 1 h 1177"/>
                  <a:gd name="T6" fmla="*/ 1 w 657"/>
                  <a:gd name="T7" fmla="*/ 1 h 1177"/>
                  <a:gd name="T8" fmla="*/ 1 w 657"/>
                  <a:gd name="T9" fmla="*/ 1 h 1177"/>
                  <a:gd name="T10" fmla="*/ 1 w 657"/>
                  <a:gd name="T11" fmla="*/ 1 h 1177"/>
                  <a:gd name="T12" fmla="*/ 1 w 657"/>
                  <a:gd name="T13" fmla="*/ 1 h 1177"/>
                  <a:gd name="T14" fmla="*/ 1 w 657"/>
                  <a:gd name="T15" fmla="*/ 1 h 1177"/>
                  <a:gd name="T16" fmla="*/ 1 w 657"/>
                  <a:gd name="T17" fmla="*/ 1 h 1177"/>
                  <a:gd name="T18" fmla="*/ 1 w 657"/>
                  <a:gd name="T19" fmla="*/ 1 h 1177"/>
                  <a:gd name="T20" fmla="*/ 1 w 657"/>
                  <a:gd name="T21" fmla="*/ 1 h 1177"/>
                  <a:gd name="T22" fmla="*/ 1 w 657"/>
                  <a:gd name="T23" fmla="*/ 1 h 1177"/>
                  <a:gd name="T24" fmla="*/ 1 w 657"/>
                  <a:gd name="T25" fmla="*/ 1 h 1177"/>
                  <a:gd name="T26" fmla="*/ 1 w 657"/>
                  <a:gd name="T27" fmla="*/ 1 h 1177"/>
                  <a:gd name="T28" fmla="*/ 1 w 657"/>
                  <a:gd name="T29" fmla="*/ 1 h 1177"/>
                  <a:gd name="T30" fmla="*/ 1 w 657"/>
                  <a:gd name="T31" fmla="*/ 1 h 1177"/>
                  <a:gd name="T32" fmla="*/ 1 w 657"/>
                  <a:gd name="T33" fmla="*/ 1 h 1177"/>
                  <a:gd name="T34" fmla="*/ 1 w 657"/>
                  <a:gd name="T35" fmla="*/ 1 h 1177"/>
                  <a:gd name="T36" fmla="*/ 1 w 657"/>
                  <a:gd name="T37" fmla="*/ 1 h 1177"/>
                  <a:gd name="T38" fmla="*/ 1 w 657"/>
                  <a:gd name="T39" fmla="*/ 1 h 1177"/>
                  <a:gd name="T40" fmla="*/ 1 w 657"/>
                  <a:gd name="T41" fmla="*/ 1 h 1177"/>
                  <a:gd name="T42" fmla="*/ 1 w 657"/>
                  <a:gd name="T43" fmla="*/ 1 h 1177"/>
                  <a:gd name="T44" fmla="*/ 1 w 657"/>
                  <a:gd name="T45" fmla="*/ 1 h 1177"/>
                  <a:gd name="T46" fmla="*/ 1 w 657"/>
                  <a:gd name="T47" fmla="*/ 1 h 1177"/>
                  <a:gd name="T48" fmla="*/ 1 w 657"/>
                  <a:gd name="T49" fmla="*/ 1 h 1177"/>
                  <a:gd name="T50" fmla="*/ 1 w 657"/>
                  <a:gd name="T51" fmla="*/ 1 h 1177"/>
                  <a:gd name="T52" fmla="*/ 1 w 657"/>
                  <a:gd name="T53" fmla="*/ 1 h 1177"/>
                  <a:gd name="T54" fmla="*/ 1 w 657"/>
                  <a:gd name="T55" fmla="*/ 1 h 1177"/>
                  <a:gd name="T56" fmla="*/ 1 w 657"/>
                  <a:gd name="T57" fmla="*/ 1 h 1177"/>
                  <a:gd name="T58" fmla="*/ 1 w 657"/>
                  <a:gd name="T59" fmla="*/ 1 h 1177"/>
                  <a:gd name="T60" fmla="*/ 1 w 657"/>
                  <a:gd name="T61" fmla="*/ 1 h 1177"/>
                  <a:gd name="T62" fmla="*/ 1 w 657"/>
                  <a:gd name="T63" fmla="*/ 1 h 1177"/>
                  <a:gd name="T64" fmla="*/ 1 w 657"/>
                  <a:gd name="T65" fmla="*/ 1 h 1177"/>
                  <a:gd name="T66" fmla="*/ 1 w 657"/>
                  <a:gd name="T67" fmla="*/ 1 h 1177"/>
                  <a:gd name="T68" fmla="*/ 1 w 657"/>
                  <a:gd name="T69" fmla="*/ 0 h 1177"/>
                  <a:gd name="T70" fmla="*/ 1 w 657"/>
                  <a:gd name="T71" fmla="*/ 1 h 1177"/>
                  <a:gd name="T72" fmla="*/ 1 w 657"/>
                  <a:gd name="T73" fmla="*/ 1 h 1177"/>
                  <a:gd name="T74" fmla="*/ 1 w 657"/>
                  <a:gd name="T75" fmla="*/ 1 h 1177"/>
                  <a:gd name="T76" fmla="*/ 1 w 657"/>
                  <a:gd name="T77" fmla="*/ 1 h 1177"/>
                  <a:gd name="T78" fmla="*/ 1 w 657"/>
                  <a:gd name="T79" fmla="*/ 1 h 1177"/>
                  <a:gd name="T80" fmla="*/ 1 w 657"/>
                  <a:gd name="T81" fmla="*/ 1 h 1177"/>
                  <a:gd name="T82" fmla="*/ 1 w 657"/>
                  <a:gd name="T83" fmla="*/ 1 h 1177"/>
                  <a:gd name="T84" fmla="*/ 1 w 657"/>
                  <a:gd name="T85" fmla="*/ 1 h 1177"/>
                  <a:gd name="T86" fmla="*/ 1 w 657"/>
                  <a:gd name="T87" fmla="*/ 1 h 1177"/>
                  <a:gd name="T88" fmla="*/ 1 w 657"/>
                  <a:gd name="T89" fmla="*/ 1 h 1177"/>
                  <a:gd name="T90" fmla="*/ 1 w 657"/>
                  <a:gd name="T91" fmla="*/ 1 h 1177"/>
                  <a:gd name="T92" fmla="*/ 1 w 657"/>
                  <a:gd name="T93" fmla="*/ 1 h 1177"/>
                  <a:gd name="T94" fmla="*/ 0 w 657"/>
                  <a:gd name="T95" fmla="*/ 1 h 117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57"/>
                  <a:gd name="T145" fmla="*/ 0 h 1177"/>
                  <a:gd name="T146" fmla="*/ 657 w 657"/>
                  <a:gd name="T147" fmla="*/ 1177 h 117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57" h="1177">
                    <a:moveTo>
                      <a:pt x="0" y="1089"/>
                    </a:moveTo>
                    <a:lnTo>
                      <a:pt x="6" y="1114"/>
                    </a:lnTo>
                    <a:lnTo>
                      <a:pt x="33" y="1106"/>
                    </a:lnTo>
                    <a:lnTo>
                      <a:pt x="44" y="1165"/>
                    </a:lnTo>
                    <a:lnTo>
                      <a:pt x="165" y="1177"/>
                    </a:lnTo>
                    <a:lnTo>
                      <a:pt x="132" y="1147"/>
                    </a:lnTo>
                    <a:lnTo>
                      <a:pt x="157" y="1067"/>
                    </a:lnTo>
                    <a:lnTo>
                      <a:pt x="180" y="1082"/>
                    </a:lnTo>
                    <a:lnTo>
                      <a:pt x="256" y="971"/>
                    </a:lnTo>
                    <a:lnTo>
                      <a:pt x="197" y="908"/>
                    </a:lnTo>
                    <a:lnTo>
                      <a:pt x="263" y="869"/>
                    </a:lnTo>
                    <a:lnTo>
                      <a:pt x="272" y="811"/>
                    </a:lnTo>
                    <a:lnTo>
                      <a:pt x="303" y="785"/>
                    </a:lnTo>
                    <a:lnTo>
                      <a:pt x="276" y="774"/>
                    </a:lnTo>
                    <a:lnTo>
                      <a:pt x="326" y="774"/>
                    </a:lnTo>
                    <a:lnTo>
                      <a:pt x="320" y="747"/>
                    </a:lnTo>
                    <a:lnTo>
                      <a:pt x="298" y="766"/>
                    </a:lnTo>
                    <a:lnTo>
                      <a:pt x="276" y="745"/>
                    </a:lnTo>
                    <a:lnTo>
                      <a:pt x="274" y="703"/>
                    </a:lnTo>
                    <a:lnTo>
                      <a:pt x="363" y="707"/>
                    </a:lnTo>
                    <a:lnTo>
                      <a:pt x="371" y="620"/>
                    </a:lnTo>
                    <a:lnTo>
                      <a:pt x="513" y="606"/>
                    </a:lnTo>
                    <a:lnTo>
                      <a:pt x="554" y="546"/>
                    </a:lnTo>
                    <a:lnTo>
                      <a:pt x="498" y="437"/>
                    </a:lnTo>
                    <a:lnTo>
                      <a:pt x="527" y="300"/>
                    </a:lnTo>
                    <a:lnTo>
                      <a:pt x="657" y="187"/>
                    </a:lnTo>
                    <a:lnTo>
                      <a:pt x="652" y="136"/>
                    </a:lnTo>
                    <a:lnTo>
                      <a:pt x="626" y="135"/>
                    </a:lnTo>
                    <a:lnTo>
                      <a:pt x="591" y="195"/>
                    </a:lnTo>
                    <a:lnTo>
                      <a:pt x="501" y="191"/>
                    </a:lnTo>
                    <a:lnTo>
                      <a:pt x="520" y="124"/>
                    </a:lnTo>
                    <a:lnTo>
                      <a:pt x="359" y="18"/>
                    </a:lnTo>
                    <a:lnTo>
                      <a:pt x="305" y="9"/>
                    </a:lnTo>
                    <a:lnTo>
                      <a:pt x="301" y="31"/>
                    </a:lnTo>
                    <a:lnTo>
                      <a:pt x="239" y="0"/>
                    </a:lnTo>
                    <a:lnTo>
                      <a:pt x="204" y="38"/>
                    </a:lnTo>
                    <a:lnTo>
                      <a:pt x="201" y="80"/>
                    </a:lnTo>
                    <a:lnTo>
                      <a:pt x="164" y="98"/>
                    </a:lnTo>
                    <a:lnTo>
                      <a:pt x="165" y="179"/>
                    </a:lnTo>
                    <a:lnTo>
                      <a:pt x="125" y="224"/>
                    </a:lnTo>
                    <a:lnTo>
                      <a:pt x="94" y="338"/>
                    </a:lnTo>
                    <a:lnTo>
                      <a:pt x="117" y="447"/>
                    </a:lnTo>
                    <a:lnTo>
                      <a:pt x="74" y="539"/>
                    </a:lnTo>
                    <a:lnTo>
                      <a:pt x="44" y="769"/>
                    </a:lnTo>
                    <a:lnTo>
                      <a:pt x="68" y="853"/>
                    </a:lnTo>
                    <a:lnTo>
                      <a:pt x="46" y="860"/>
                    </a:lnTo>
                    <a:lnTo>
                      <a:pt x="57" y="934"/>
                    </a:lnTo>
                    <a:lnTo>
                      <a:pt x="0" y="108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3" name="16354395.5365.12564.62554.1255">
                <a:extLst>
                  <a:ext uri="{FF2B5EF4-FFF2-40B4-BE49-F238E27FC236}">
                    <a16:creationId xmlns:a16="http://schemas.microsoft.com/office/drawing/2014/main" id="{A2580C31-6EF9-C332-D122-73DEBD0F33D7}"/>
                  </a:ext>
                </a:extLst>
              </p:cNvPr>
              <p:cNvSpPr>
                <a:spLocks/>
              </p:cNvSpPr>
              <p:nvPr/>
            </p:nvSpPr>
            <p:spPr bwMode="auto">
              <a:xfrm>
                <a:off x="4430914" y="4150003"/>
                <a:ext cx="876221" cy="1019446"/>
              </a:xfrm>
              <a:custGeom>
                <a:avLst/>
                <a:gdLst>
                  <a:gd name="T0" fmla="*/ 0 w 1303"/>
                  <a:gd name="T1" fmla="*/ 0 h 1332"/>
                  <a:gd name="T2" fmla="*/ 0 w 1303"/>
                  <a:gd name="T3" fmla="*/ 0 h 1332"/>
                  <a:gd name="T4" fmla="*/ 0 w 1303"/>
                  <a:gd name="T5" fmla="*/ 0 h 1332"/>
                  <a:gd name="T6" fmla="*/ 0 w 1303"/>
                  <a:gd name="T7" fmla="*/ 0 h 1332"/>
                  <a:gd name="T8" fmla="*/ 0 w 1303"/>
                  <a:gd name="T9" fmla="*/ 0 h 1332"/>
                  <a:gd name="T10" fmla="*/ 0 w 1303"/>
                  <a:gd name="T11" fmla="*/ 0 h 1332"/>
                  <a:gd name="T12" fmla="*/ 0 w 1303"/>
                  <a:gd name="T13" fmla="*/ 0 h 1332"/>
                  <a:gd name="T14" fmla="*/ 0 w 1303"/>
                  <a:gd name="T15" fmla="*/ 0 h 1332"/>
                  <a:gd name="T16" fmla="*/ 0 w 1303"/>
                  <a:gd name="T17" fmla="*/ 0 h 1332"/>
                  <a:gd name="T18" fmla="*/ 0 w 1303"/>
                  <a:gd name="T19" fmla="*/ 0 h 1332"/>
                  <a:gd name="T20" fmla="*/ 0 w 1303"/>
                  <a:gd name="T21" fmla="*/ 0 h 1332"/>
                  <a:gd name="T22" fmla="*/ 0 w 1303"/>
                  <a:gd name="T23" fmla="*/ 0 h 1332"/>
                  <a:gd name="T24" fmla="*/ 0 w 1303"/>
                  <a:gd name="T25" fmla="*/ 0 h 1332"/>
                  <a:gd name="T26" fmla="*/ 0 w 1303"/>
                  <a:gd name="T27" fmla="*/ 0 h 1332"/>
                  <a:gd name="T28" fmla="*/ 0 w 1303"/>
                  <a:gd name="T29" fmla="*/ 0 h 1332"/>
                  <a:gd name="T30" fmla="*/ 0 w 1303"/>
                  <a:gd name="T31" fmla="*/ 0 h 1332"/>
                  <a:gd name="T32" fmla="*/ 0 w 1303"/>
                  <a:gd name="T33" fmla="*/ 0 h 1332"/>
                  <a:gd name="T34" fmla="*/ 0 w 1303"/>
                  <a:gd name="T35" fmla="*/ 0 h 1332"/>
                  <a:gd name="T36" fmla="*/ 0 w 1303"/>
                  <a:gd name="T37" fmla="*/ 0 h 1332"/>
                  <a:gd name="T38" fmla="*/ 0 w 1303"/>
                  <a:gd name="T39" fmla="*/ 0 h 1332"/>
                  <a:gd name="T40" fmla="*/ 0 w 1303"/>
                  <a:gd name="T41" fmla="*/ 0 h 1332"/>
                  <a:gd name="T42" fmla="*/ 0 w 1303"/>
                  <a:gd name="T43" fmla="*/ 0 h 1332"/>
                  <a:gd name="T44" fmla="*/ 0 w 1303"/>
                  <a:gd name="T45" fmla="*/ 0 h 1332"/>
                  <a:gd name="T46" fmla="*/ 0 w 1303"/>
                  <a:gd name="T47" fmla="*/ 0 h 1332"/>
                  <a:gd name="T48" fmla="*/ 0 w 1303"/>
                  <a:gd name="T49" fmla="*/ 0 h 1332"/>
                  <a:gd name="T50" fmla="*/ 0 w 1303"/>
                  <a:gd name="T51" fmla="*/ 0 h 1332"/>
                  <a:gd name="T52" fmla="*/ 0 w 1303"/>
                  <a:gd name="T53" fmla="*/ 0 h 1332"/>
                  <a:gd name="T54" fmla="*/ 0 w 1303"/>
                  <a:gd name="T55" fmla="*/ 0 h 1332"/>
                  <a:gd name="T56" fmla="*/ 0 w 1303"/>
                  <a:gd name="T57" fmla="*/ 0 h 1332"/>
                  <a:gd name="T58" fmla="*/ 0 w 1303"/>
                  <a:gd name="T59" fmla="*/ 0 h 1332"/>
                  <a:gd name="T60" fmla="*/ 0 w 1303"/>
                  <a:gd name="T61" fmla="*/ 0 h 1332"/>
                  <a:gd name="T62" fmla="*/ 0 w 1303"/>
                  <a:gd name="T63" fmla="*/ 0 h 1332"/>
                  <a:gd name="T64" fmla="*/ 0 w 1303"/>
                  <a:gd name="T65" fmla="*/ 0 h 1332"/>
                  <a:gd name="T66" fmla="*/ 0 w 1303"/>
                  <a:gd name="T67" fmla="*/ 0 h 1332"/>
                  <a:gd name="T68" fmla="*/ 0 w 1303"/>
                  <a:gd name="T69" fmla="*/ 0 h 13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03"/>
                  <a:gd name="T106" fmla="*/ 0 h 1332"/>
                  <a:gd name="T107" fmla="*/ 1303 w 1303"/>
                  <a:gd name="T108" fmla="*/ 1332 h 13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03" h="1332">
                    <a:moveTo>
                      <a:pt x="0" y="421"/>
                    </a:moveTo>
                    <a:lnTo>
                      <a:pt x="29" y="483"/>
                    </a:lnTo>
                    <a:lnTo>
                      <a:pt x="74" y="504"/>
                    </a:lnTo>
                    <a:lnTo>
                      <a:pt x="110" y="480"/>
                    </a:lnTo>
                    <a:lnTo>
                      <a:pt x="110" y="535"/>
                    </a:lnTo>
                    <a:lnTo>
                      <a:pt x="139" y="535"/>
                    </a:lnTo>
                    <a:lnTo>
                      <a:pt x="180" y="538"/>
                    </a:lnTo>
                    <a:lnTo>
                      <a:pt x="280" y="490"/>
                    </a:lnTo>
                    <a:lnTo>
                      <a:pt x="288" y="565"/>
                    </a:lnTo>
                    <a:lnTo>
                      <a:pt x="437" y="625"/>
                    </a:lnTo>
                    <a:lnTo>
                      <a:pt x="460" y="714"/>
                    </a:lnTo>
                    <a:lnTo>
                      <a:pt x="517" y="718"/>
                    </a:lnTo>
                    <a:lnTo>
                      <a:pt x="538" y="777"/>
                    </a:lnTo>
                    <a:lnTo>
                      <a:pt x="526" y="846"/>
                    </a:lnTo>
                    <a:lnTo>
                      <a:pt x="534" y="913"/>
                    </a:lnTo>
                    <a:lnTo>
                      <a:pt x="603" y="924"/>
                    </a:lnTo>
                    <a:lnTo>
                      <a:pt x="613" y="971"/>
                    </a:lnTo>
                    <a:lnTo>
                      <a:pt x="647" y="980"/>
                    </a:lnTo>
                    <a:lnTo>
                      <a:pt x="642" y="1039"/>
                    </a:lnTo>
                    <a:lnTo>
                      <a:pt x="668" y="1040"/>
                    </a:lnTo>
                    <a:lnTo>
                      <a:pt x="673" y="1091"/>
                    </a:lnTo>
                    <a:lnTo>
                      <a:pt x="543" y="1204"/>
                    </a:lnTo>
                    <a:lnTo>
                      <a:pt x="567" y="1197"/>
                    </a:lnTo>
                    <a:lnTo>
                      <a:pt x="668" y="1267"/>
                    </a:lnTo>
                    <a:lnTo>
                      <a:pt x="688" y="1296"/>
                    </a:lnTo>
                    <a:lnTo>
                      <a:pt x="680" y="1332"/>
                    </a:lnTo>
                    <a:lnTo>
                      <a:pt x="839" y="1134"/>
                    </a:lnTo>
                    <a:lnTo>
                      <a:pt x="849" y="1033"/>
                    </a:lnTo>
                    <a:lnTo>
                      <a:pt x="977" y="942"/>
                    </a:lnTo>
                    <a:lnTo>
                      <a:pt x="1057" y="942"/>
                    </a:lnTo>
                    <a:lnTo>
                      <a:pt x="1090" y="911"/>
                    </a:lnTo>
                    <a:lnTo>
                      <a:pt x="1156" y="759"/>
                    </a:lnTo>
                    <a:lnTo>
                      <a:pt x="1164" y="611"/>
                    </a:lnTo>
                    <a:lnTo>
                      <a:pt x="1290" y="469"/>
                    </a:lnTo>
                    <a:lnTo>
                      <a:pt x="1303" y="407"/>
                    </a:lnTo>
                    <a:lnTo>
                      <a:pt x="1282" y="345"/>
                    </a:lnTo>
                    <a:lnTo>
                      <a:pt x="1230" y="337"/>
                    </a:lnTo>
                    <a:lnTo>
                      <a:pt x="1146" y="274"/>
                    </a:lnTo>
                    <a:lnTo>
                      <a:pt x="982" y="260"/>
                    </a:lnTo>
                    <a:lnTo>
                      <a:pt x="967" y="222"/>
                    </a:lnTo>
                    <a:lnTo>
                      <a:pt x="893" y="193"/>
                    </a:lnTo>
                    <a:lnTo>
                      <a:pt x="863" y="194"/>
                    </a:lnTo>
                    <a:lnTo>
                      <a:pt x="819" y="252"/>
                    </a:lnTo>
                    <a:lnTo>
                      <a:pt x="817" y="231"/>
                    </a:lnTo>
                    <a:lnTo>
                      <a:pt x="747" y="241"/>
                    </a:lnTo>
                    <a:lnTo>
                      <a:pt x="776" y="230"/>
                    </a:lnTo>
                    <a:lnTo>
                      <a:pt x="749" y="184"/>
                    </a:lnTo>
                    <a:lnTo>
                      <a:pt x="801" y="120"/>
                    </a:lnTo>
                    <a:lnTo>
                      <a:pt x="746" y="37"/>
                    </a:lnTo>
                    <a:lnTo>
                      <a:pt x="697" y="102"/>
                    </a:lnTo>
                    <a:lnTo>
                      <a:pt x="650" y="98"/>
                    </a:lnTo>
                    <a:lnTo>
                      <a:pt x="580" y="107"/>
                    </a:lnTo>
                    <a:lnTo>
                      <a:pt x="485" y="121"/>
                    </a:lnTo>
                    <a:lnTo>
                      <a:pt x="467" y="87"/>
                    </a:lnTo>
                    <a:lnTo>
                      <a:pt x="474" y="24"/>
                    </a:lnTo>
                    <a:lnTo>
                      <a:pt x="444" y="0"/>
                    </a:lnTo>
                    <a:lnTo>
                      <a:pt x="361" y="40"/>
                    </a:lnTo>
                    <a:lnTo>
                      <a:pt x="303" y="28"/>
                    </a:lnTo>
                    <a:lnTo>
                      <a:pt x="320" y="91"/>
                    </a:lnTo>
                    <a:lnTo>
                      <a:pt x="352" y="99"/>
                    </a:lnTo>
                    <a:lnTo>
                      <a:pt x="272" y="145"/>
                    </a:lnTo>
                    <a:lnTo>
                      <a:pt x="233" y="128"/>
                    </a:lnTo>
                    <a:lnTo>
                      <a:pt x="214" y="105"/>
                    </a:lnTo>
                    <a:lnTo>
                      <a:pt x="134" y="117"/>
                    </a:lnTo>
                    <a:lnTo>
                      <a:pt x="159" y="151"/>
                    </a:lnTo>
                    <a:lnTo>
                      <a:pt x="128" y="154"/>
                    </a:lnTo>
                    <a:lnTo>
                      <a:pt x="145" y="213"/>
                    </a:lnTo>
                    <a:lnTo>
                      <a:pt x="130" y="310"/>
                    </a:lnTo>
                    <a:lnTo>
                      <a:pt x="46" y="344"/>
                    </a:lnTo>
                    <a:lnTo>
                      <a:pt x="0" y="42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4" name="16356489.125363.3752.515">
                <a:extLst>
                  <a:ext uri="{FF2B5EF4-FFF2-40B4-BE49-F238E27FC236}">
                    <a16:creationId xmlns:a16="http://schemas.microsoft.com/office/drawing/2014/main" id="{1E36847B-90D4-6CD0-253B-C38928E9D7A1}"/>
                  </a:ext>
                </a:extLst>
              </p:cNvPr>
              <p:cNvSpPr>
                <a:spLocks/>
              </p:cNvSpPr>
              <p:nvPr/>
            </p:nvSpPr>
            <p:spPr bwMode="auto">
              <a:xfrm>
                <a:off x="4402646" y="5624751"/>
                <a:ext cx="14805" cy="39858"/>
              </a:xfrm>
              <a:custGeom>
                <a:avLst/>
                <a:gdLst>
                  <a:gd name="T0" fmla="*/ 0 w 22"/>
                  <a:gd name="T1" fmla="*/ 1 h 51"/>
                  <a:gd name="T2" fmla="*/ 1 w 22"/>
                  <a:gd name="T3" fmla="*/ 0 h 51"/>
                  <a:gd name="T4" fmla="*/ 1 w 22"/>
                  <a:gd name="T5" fmla="*/ 1 h 51"/>
                  <a:gd name="T6" fmla="*/ 0 w 22"/>
                  <a:gd name="T7" fmla="*/ 1 h 51"/>
                  <a:gd name="T8" fmla="*/ 0 60000 65536"/>
                  <a:gd name="T9" fmla="*/ 0 60000 65536"/>
                  <a:gd name="T10" fmla="*/ 0 60000 65536"/>
                  <a:gd name="T11" fmla="*/ 0 60000 65536"/>
                  <a:gd name="T12" fmla="*/ 0 w 22"/>
                  <a:gd name="T13" fmla="*/ 0 h 51"/>
                  <a:gd name="T14" fmla="*/ 22 w 22"/>
                  <a:gd name="T15" fmla="*/ 51 h 51"/>
                </a:gdLst>
                <a:ahLst/>
                <a:cxnLst>
                  <a:cxn ang="T8">
                    <a:pos x="T0" y="T1"/>
                  </a:cxn>
                  <a:cxn ang="T9">
                    <a:pos x="T2" y="T3"/>
                  </a:cxn>
                  <a:cxn ang="T10">
                    <a:pos x="T4" y="T5"/>
                  </a:cxn>
                  <a:cxn ang="T11">
                    <a:pos x="T6" y="T7"/>
                  </a:cxn>
                </a:cxnLst>
                <a:rect l="T12" t="T13" r="T14" b="T15"/>
                <a:pathLst>
                  <a:path w="22" h="51">
                    <a:moveTo>
                      <a:pt x="0" y="23"/>
                    </a:moveTo>
                    <a:lnTo>
                      <a:pt x="8" y="0"/>
                    </a:lnTo>
                    <a:lnTo>
                      <a:pt x="22" y="51"/>
                    </a:lnTo>
                    <a:lnTo>
                      <a:pt x="0" y="2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5" name="16357475.375364.3753.250.755">
                <a:extLst>
                  <a:ext uri="{FF2B5EF4-FFF2-40B4-BE49-F238E27FC236}">
                    <a16:creationId xmlns:a16="http://schemas.microsoft.com/office/drawing/2014/main" id="{0211A2C6-12CE-5D08-8DA7-1A944B9A651A}"/>
                  </a:ext>
                </a:extLst>
              </p:cNvPr>
              <p:cNvSpPr>
                <a:spLocks/>
              </p:cNvSpPr>
              <p:nvPr/>
            </p:nvSpPr>
            <p:spPr bwMode="auto">
              <a:xfrm>
                <a:off x="4417454" y="5408597"/>
                <a:ext cx="13459" cy="50589"/>
              </a:xfrm>
              <a:custGeom>
                <a:avLst/>
                <a:gdLst>
                  <a:gd name="T0" fmla="*/ 0 w 19"/>
                  <a:gd name="T1" fmla="*/ 1 h 66"/>
                  <a:gd name="T2" fmla="*/ 1 w 19"/>
                  <a:gd name="T3" fmla="*/ 0 h 66"/>
                  <a:gd name="T4" fmla="*/ 1 w 19"/>
                  <a:gd name="T5" fmla="*/ 1 h 66"/>
                  <a:gd name="T6" fmla="*/ 0 w 19"/>
                  <a:gd name="T7" fmla="*/ 1 h 66"/>
                  <a:gd name="T8" fmla="*/ 0 60000 65536"/>
                  <a:gd name="T9" fmla="*/ 0 60000 65536"/>
                  <a:gd name="T10" fmla="*/ 0 60000 65536"/>
                  <a:gd name="T11" fmla="*/ 0 60000 65536"/>
                  <a:gd name="T12" fmla="*/ 0 w 19"/>
                  <a:gd name="T13" fmla="*/ 0 h 66"/>
                  <a:gd name="T14" fmla="*/ 19 w 19"/>
                  <a:gd name="T15" fmla="*/ 66 h 66"/>
                </a:gdLst>
                <a:ahLst/>
                <a:cxnLst>
                  <a:cxn ang="T8">
                    <a:pos x="T0" y="T1"/>
                  </a:cxn>
                  <a:cxn ang="T9">
                    <a:pos x="T2" y="T3"/>
                  </a:cxn>
                  <a:cxn ang="T10">
                    <a:pos x="T4" y="T5"/>
                  </a:cxn>
                  <a:cxn ang="T11">
                    <a:pos x="T6" y="T7"/>
                  </a:cxn>
                </a:cxnLst>
                <a:rect l="T12" t="T13" r="T14" b="T15"/>
                <a:pathLst>
                  <a:path w="19" h="66">
                    <a:moveTo>
                      <a:pt x="0" y="56"/>
                    </a:moveTo>
                    <a:lnTo>
                      <a:pt x="19" y="0"/>
                    </a:lnTo>
                    <a:lnTo>
                      <a:pt x="19" y="66"/>
                    </a:lnTo>
                    <a:lnTo>
                      <a:pt x="0" y="5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6" name="16364383.75358.2526.7516.6255">
                <a:extLst>
                  <a:ext uri="{FF2B5EF4-FFF2-40B4-BE49-F238E27FC236}">
                    <a16:creationId xmlns:a16="http://schemas.microsoft.com/office/drawing/2014/main" id="{0F3BA377-3144-983C-8F5D-BC8E17A9447F}"/>
                  </a:ext>
                </a:extLst>
              </p:cNvPr>
              <p:cNvSpPr>
                <a:spLocks/>
              </p:cNvSpPr>
              <p:nvPr/>
            </p:nvSpPr>
            <p:spPr bwMode="auto">
              <a:xfrm>
                <a:off x="4319198" y="3964509"/>
                <a:ext cx="269192" cy="421575"/>
              </a:xfrm>
              <a:custGeom>
                <a:avLst/>
                <a:gdLst>
                  <a:gd name="T0" fmla="*/ 0 w 400"/>
                  <a:gd name="T1" fmla="*/ 0 h 552"/>
                  <a:gd name="T2" fmla="*/ 1 w 400"/>
                  <a:gd name="T3" fmla="*/ 0 h 552"/>
                  <a:gd name="T4" fmla="*/ 1 w 400"/>
                  <a:gd name="T5" fmla="*/ 0 h 552"/>
                  <a:gd name="T6" fmla="*/ 1 w 400"/>
                  <a:gd name="T7" fmla="*/ 0 h 552"/>
                  <a:gd name="T8" fmla="*/ 1 w 400"/>
                  <a:gd name="T9" fmla="*/ 0 h 552"/>
                  <a:gd name="T10" fmla="*/ 1 w 400"/>
                  <a:gd name="T11" fmla="*/ 0 h 552"/>
                  <a:gd name="T12" fmla="*/ 1 w 400"/>
                  <a:gd name="T13" fmla="*/ 0 h 552"/>
                  <a:gd name="T14" fmla="*/ 1 w 400"/>
                  <a:gd name="T15" fmla="*/ 0 h 552"/>
                  <a:gd name="T16" fmla="*/ 1 w 400"/>
                  <a:gd name="T17" fmla="*/ 0 h 552"/>
                  <a:gd name="T18" fmla="*/ 1 w 400"/>
                  <a:gd name="T19" fmla="*/ 0 h 552"/>
                  <a:gd name="T20" fmla="*/ 1 w 400"/>
                  <a:gd name="T21" fmla="*/ 0 h 552"/>
                  <a:gd name="T22" fmla="*/ 1 w 400"/>
                  <a:gd name="T23" fmla="*/ 0 h 552"/>
                  <a:gd name="T24" fmla="*/ 1 w 400"/>
                  <a:gd name="T25" fmla="*/ 0 h 552"/>
                  <a:gd name="T26" fmla="*/ 1 w 400"/>
                  <a:gd name="T27" fmla="*/ 0 h 552"/>
                  <a:gd name="T28" fmla="*/ 1 w 400"/>
                  <a:gd name="T29" fmla="*/ 0 h 552"/>
                  <a:gd name="T30" fmla="*/ 1 w 400"/>
                  <a:gd name="T31" fmla="*/ 0 h 552"/>
                  <a:gd name="T32" fmla="*/ 1 w 400"/>
                  <a:gd name="T33" fmla="*/ 0 h 552"/>
                  <a:gd name="T34" fmla="*/ 1 w 400"/>
                  <a:gd name="T35" fmla="*/ 0 h 552"/>
                  <a:gd name="T36" fmla="*/ 1 w 400"/>
                  <a:gd name="T37" fmla="*/ 0 h 552"/>
                  <a:gd name="T38" fmla="*/ 1 w 400"/>
                  <a:gd name="T39" fmla="*/ 0 h 552"/>
                  <a:gd name="T40" fmla="*/ 1 w 400"/>
                  <a:gd name="T41" fmla="*/ 0 h 552"/>
                  <a:gd name="T42" fmla="*/ 1 w 400"/>
                  <a:gd name="T43" fmla="*/ 0 h 552"/>
                  <a:gd name="T44" fmla="*/ 1 w 400"/>
                  <a:gd name="T45" fmla="*/ 0 h 552"/>
                  <a:gd name="T46" fmla="*/ 1 w 400"/>
                  <a:gd name="T47" fmla="*/ 0 h 552"/>
                  <a:gd name="T48" fmla="*/ 1 w 400"/>
                  <a:gd name="T49" fmla="*/ 0 h 552"/>
                  <a:gd name="T50" fmla="*/ 1 w 400"/>
                  <a:gd name="T51" fmla="*/ 0 h 552"/>
                  <a:gd name="T52" fmla="*/ 1 w 400"/>
                  <a:gd name="T53" fmla="*/ 0 h 552"/>
                  <a:gd name="T54" fmla="*/ 0 w 400"/>
                  <a:gd name="T55" fmla="*/ 0 h 5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00"/>
                  <a:gd name="T85" fmla="*/ 0 h 552"/>
                  <a:gd name="T86" fmla="*/ 400 w 400"/>
                  <a:gd name="T87" fmla="*/ 552 h 5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00" h="552">
                    <a:moveTo>
                      <a:pt x="0" y="367"/>
                    </a:moveTo>
                    <a:lnTo>
                      <a:pt x="50" y="407"/>
                    </a:lnTo>
                    <a:lnTo>
                      <a:pt x="120" y="417"/>
                    </a:lnTo>
                    <a:lnTo>
                      <a:pt x="193" y="491"/>
                    </a:lnTo>
                    <a:lnTo>
                      <a:pt x="288" y="498"/>
                    </a:lnTo>
                    <a:lnTo>
                      <a:pt x="274" y="538"/>
                    </a:lnTo>
                    <a:lnTo>
                      <a:pt x="297" y="552"/>
                    </a:lnTo>
                    <a:lnTo>
                      <a:pt x="312" y="455"/>
                    </a:lnTo>
                    <a:lnTo>
                      <a:pt x="295" y="396"/>
                    </a:lnTo>
                    <a:lnTo>
                      <a:pt x="326" y="393"/>
                    </a:lnTo>
                    <a:lnTo>
                      <a:pt x="301" y="359"/>
                    </a:lnTo>
                    <a:lnTo>
                      <a:pt x="381" y="347"/>
                    </a:lnTo>
                    <a:lnTo>
                      <a:pt x="400" y="370"/>
                    </a:lnTo>
                    <a:lnTo>
                      <a:pt x="370" y="322"/>
                    </a:lnTo>
                    <a:lnTo>
                      <a:pt x="380" y="206"/>
                    </a:lnTo>
                    <a:lnTo>
                      <a:pt x="315" y="211"/>
                    </a:lnTo>
                    <a:lnTo>
                      <a:pt x="295" y="183"/>
                    </a:lnTo>
                    <a:lnTo>
                      <a:pt x="229" y="175"/>
                    </a:lnTo>
                    <a:lnTo>
                      <a:pt x="187" y="109"/>
                    </a:lnTo>
                    <a:lnTo>
                      <a:pt x="251" y="21"/>
                    </a:lnTo>
                    <a:lnTo>
                      <a:pt x="242" y="0"/>
                    </a:lnTo>
                    <a:lnTo>
                      <a:pt x="130" y="48"/>
                    </a:lnTo>
                    <a:lnTo>
                      <a:pt x="68" y="147"/>
                    </a:lnTo>
                    <a:lnTo>
                      <a:pt x="49" y="124"/>
                    </a:lnTo>
                    <a:lnTo>
                      <a:pt x="32" y="172"/>
                    </a:lnTo>
                    <a:lnTo>
                      <a:pt x="49" y="282"/>
                    </a:lnTo>
                    <a:lnTo>
                      <a:pt x="62" y="282"/>
                    </a:lnTo>
                    <a:lnTo>
                      <a:pt x="0" y="36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7" name="16365401.5355.510.1257.755">
                <a:extLst>
                  <a:ext uri="{FF2B5EF4-FFF2-40B4-BE49-F238E27FC236}">
                    <a16:creationId xmlns:a16="http://schemas.microsoft.com/office/drawing/2014/main" id="{B99F9727-0E80-3B7A-52C9-FD1BF70A3AED}"/>
                  </a:ext>
                </a:extLst>
              </p:cNvPr>
              <p:cNvSpPr>
                <a:spLocks/>
              </p:cNvSpPr>
              <p:nvPr/>
            </p:nvSpPr>
            <p:spPr bwMode="auto">
              <a:xfrm>
                <a:off x="4274780" y="4245048"/>
                <a:ext cx="125175" cy="159431"/>
              </a:xfrm>
              <a:custGeom>
                <a:avLst/>
                <a:gdLst>
                  <a:gd name="T0" fmla="*/ 0 w 185"/>
                  <a:gd name="T1" fmla="*/ 1 h 208"/>
                  <a:gd name="T2" fmla="*/ 1 w 185"/>
                  <a:gd name="T3" fmla="*/ 1 h 208"/>
                  <a:gd name="T4" fmla="*/ 1 w 185"/>
                  <a:gd name="T5" fmla="*/ 1 h 208"/>
                  <a:gd name="T6" fmla="*/ 1 w 185"/>
                  <a:gd name="T7" fmla="*/ 1 h 208"/>
                  <a:gd name="T8" fmla="*/ 1 w 185"/>
                  <a:gd name="T9" fmla="*/ 1 h 208"/>
                  <a:gd name="T10" fmla="*/ 1 w 185"/>
                  <a:gd name="T11" fmla="*/ 1 h 208"/>
                  <a:gd name="T12" fmla="*/ 1 w 185"/>
                  <a:gd name="T13" fmla="*/ 1 h 208"/>
                  <a:gd name="T14" fmla="*/ 1 w 185"/>
                  <a:gd name="T15" fmla="*/ 1 h 208"/>
                  <a:gd name="T16" fmla="*/ 1 w 185"/>
                  <a:gd name="T17" fmla="*/ 1 h 208"/>
                  <a:gd name="T18" fmla="*/ 1 w 185"/>
                  <a:gd name="T19" fmla="*/ 1 h 208"/>
                  <a:gd name="T20" fmla="*/ 1 w 185"/>
                  <a:gd name="T21" fmla="*/ 0 h 208"/>
                  <a:gd name="T22" fmla="*/ 1 w 185"/>
                  <a:gd name="T23" fmla="*/ 1 h 208"/>
                  <a:gd name="T24" fmla="*/ 0 w 185"/>
                  <a:gd name="T25" fmla="*/ 1 h 2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5"/>
                  <a:gd name="T40" fmla="*/ 0 h 208"/>
                  <a:gd name="T41" fmla="*/ 185 w 185"/>
                  <a:gd name="T42" fmla="*/ 208 h 2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5" h="208">
                    <a:moveTo>
                      <a:pt x="0" y="80"/>
                    </a:moveTo>
                    <a:lnTo>
                      <a:pt x="1" y="121"/>
                    </a:lnTo>
                    <a:lnTo>
                      <a:pt x="34" y="131"/>
                    </a:lnTo>
                    <a:lnTo>
                      <a:pt x="16" y="164"/>
                    </a:lnTo>
                    <a:lnTo>
                      <a:pt x="11" y="198"/>
                    </a:lnTo>
                    <a:lnTo>
                      <a:pt x="54" y="208"/>
                    </a:lnTo>
                    <a:lnTo>
                      <a:pt x="93" y="150"/>
                    </a:lnTo>
                    <a:lnTo>
                      <a:pt x="169" y="105"/>
                    </a:lnTo>
                    <a:lnTo>
                      <a:pt x="185" y="50"/>
                    </a:lnTo>
                    <a:lnTo>
                      <a:pt x="115" y="40"/>
                    </a:lnTo>
                    <a:lnTo>
                      <a:pt x="65" y="0"/>
                    </a:lnTo>
                    <a:lnTo>
                      <a:pt x="23" y="21"/>
                    </a:lnTo>
                    <a:lnTo>
                      <a:pt x="0" y="8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8" name="16366383.87536618.62518.6255">
                <a:extLst>
                  <a:ext uri="{FF2B5EF4-FFF2-40B4-BE49-F238E27FC236}">
                    <a16:creationId xmlns:a16="http://schemas.microsoft.com/office/drawing/2014/main" id="{F8CE3024-611C-991E-6965-E111647100DE}"/>
                  </a:ext>
                </a:extLst>
              </p:cNvPr>
              <p:cNvSpPr>
                <a:spLocks/>
              </p:cNvSpPr>
              <p:nvPr/>
            </p:nvSpPr>
            <p:spPr bwMode="auto">
              <a:xfrm>
                <a:off x="4444372" y="3967574"/>
                <a:ext cx="301495" cy="292803"/>
              </a:xfrm>
              <a:custGeom>
                <a:avLst/>
                <a:gdLst>
                  <a:gd name="T0" fmla="*/ 0 w 448"/>
                  <a:gd name="T1" fmla="*/ 0 h 383"/>
                  <a:gd name="T2" fmla="*/ 1 w 448"/>
                  <a:gd name="T3" fmla="*/ 0 h 383"/>
                  <a:gd name="T4" fmla="*/ 1 w 448"/>
                  <a:gd name="T5" fmla="*/ 0 h 383"/>
                  <a:gd name="T6" fmla="*/ 1 w 448"/>
                  <a:gd name="T7" fmla="*/ 0 h 383"/>
                  <a:gd name="T8" fmla="*/ 1 w 448"/>
                  <a:gd name="T9" fmla="*/ 0 h 383"/>
                  <a:gd name="T10" fmla="*/ 1 w 448"/>
                  <a:gd name="T11" fmla="*/ 0 h 383"/>
                  <a:gd name="T12" fmla="*/ 1 w 448"/>
                  <a:gd name="T13" fmla="*/ 0 h 383"/>
                  <a:gd name="T14" fmla="*/ 1 w 448"/>
                  <a:gd name="T15" fmla="*/ 0 h 383"/>
                  <a:gd name="T16" fmla="*/ 1 w 448"/>
                  <a:gd name="T17" fmla="*/ 0 h 383"/>
                  <a:gd name="T18" fmla="*/ 1 w 448"/>
                  <a:gd name="T19" fmla="*/ 0 h 383"/>
                  <a:gd name="T20" fmla="*/ 1 w 448"/>
                  <a:gd name="T21" fmla="*/ 0 h 383"/>
                  <a:gd name="T22" fmla="*/ 1 w 448"/>
                  <a:gd name="T23" fmla="*/ 0 h 383"/>
                  <a:gd name="T24" fmla="*/ 1 w 448"/>
                  <a:gd name="T25" fmla="*/ 0 h 383"/>
                  <a:gd name="T26" fmla="*/ 1 w 448"/>
                  <a:gd name="T27" fmla="*/ 0 h 383"/>
                  <a:gd name="T28" fmla="*/ 1 w 448"/>
                  <a:gd name="T29" fmla="*/ 0 h 383"/>
                  <a:gd name="T30" fmla="*/ 1 w 448"/>
                  <a:gd name="T31" fmla="*/ 0 h 383"/>
                  <a:gd name="T32" fmla="*/ 1 w 448"/>
                  <a:gd name="T33" fmla="*/ 0 h 383"/>
                  <a:gd name="T34" fmla="*/ 1 w 448"/>
                  <a:gd name="T35" fmla="*/ 0 h 383"/>
                  <a:gd name="T36" fmla="*/ 1 w 448"/>
                  <a:gd name="T37" fmla="*/ 0 h 383"/>
                  <a:gd name="T38" fmla="*/ 1 w 448"/>
                  <a:gd name="T39" fmla="*/ 0 h 383"/>
                  <a:gd name="T40" fmla="*/ 1 w 448"/>
                  <a:gd name="T41" fmla="*/ 0 h 383"/>
                  <a:gd name="T42" fmla="*/ 1 w 448"/>
                  <a:gd name="T43" fmla="*/ 0 h 383"/>
                  <a:gd name="T44" fmla="*/ 1 w 448"/>
                  <a:gd name="T45" fmla="*/ 0 h 383"/>
                  <a:gd name="T46" fmla="*/ 1 w 448"/>
                  <a:gd name="T47" fmla="*/ 0 h 383"/>
                  <a:gd name="T48" fmla="*/ 1 w 448"/>
                  <a:gd name="T49" fmla="*/ 0 h 383"/>
                  <a:gd name="T50" fmla="*/ 1 w 448"/>
                  <a:gd name="T51" fmla="*/ 0 h 383"/>
                  <a:gd name="T52" fmla="*/ 1 w 448"/>
                  <a:gd name="T53" fmla="*/ 0 h 383"/>
                  <a:gd name="T54" fmla="*/ 1 w 448"/>
                  <a:gd name="T55" fmla="*/ 0 h 383"/>
                  <a:gd name="T56" fmla="*/ 1 w 448"/>
                  <a:gd name="T57" fmla="*/ 0 h 383"/>
                  <a:gd name="T58" fmla="*/ 0 w 448"/>
                  <a:gd name="T59" fmla="*/ 0 h 3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48"/>
                  <a:gd name="T91" fmla="*/ 0 h 383"/>
                  <a:gd name="T92" fmla="*/ 448 w 448"/>
                  <a:gd name="T93" fmla="*/ 383 h 3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48" h="383">
                    <a:moveTo>
                      <a:pt x="0" y="105"/>
                    </a:moveTo>
                    <a:lnTo>
                      <a:pt x="42" y="171"/>
                    </a:lnTo>
                    <a:lnTo>
                      <a:pt x="108" y="179"/>
                    </a:lnTo>
                    <a:lnTo>
                      <a:pt x="128" y="207"/>
                    </a:lnTo>
                    <a:lnTo>
                      <a:pt x="193" y="202"/>
                    </a:lnTo>
                    <a:lnTo>
                      <a:pt x="183" y="318"/>
                    </a:lnTo>
                    <a:lnTo>
                      <a:pt x="213" y="366"/>
                    </a:lnTo>
                    <a:lnTo>
                      <a:pt x="252" y="383"/>
                    </a:lnTo>
                    <a:lnTo>
                      <a:pt x="332" y="337"/>
                    </a:lnTo>
                    <a:lnTo>
                      <a:pt x="300" y="329"/>
                    </a:lnTo>
                    <a:lnTo>
                      <a:pt x="283" y="266"/>
                    </a:lnTo>
                    <a:lnTo>
                      <a:pt x="341" y="278"/>
                    </a:lnTo>
                    <a:lnTo>
                      <a:pt x="424" y="238"/>
                    </a:lnTo>
                    <a:lnTo>
                      <a:pt x="400" y="207"/>
                    </a:lnTo>
                    <a:lnTo>
                      <a:pt x="429" y="178"/>
                    </a:lnTo>
                    <a:lnTo>
                      <a:pt x="417" y="156"/>
                    </a:lnTo>
                    <a:lnTo>
                      <a:pt x="448" y="132"/>
                    </a:lnTo>
                    <a:lnTo>
                      <a:pt x="409" y="127"/>
                    </a:lnTo>
                    <a:lnTo>
                      <a:pt x="409" y="96"/>
                    </a:lnTo>
                    <a:lnTo>
                      <a:pt x="344" y="63"/>
                    </a:lnTo>
                    <a:lnTo>
                      <a:pt x="373" y="54"/>
                    </a:lnTo>
                    <a:lnTo>
                      <a:pt x="176" y="61"/>
                    </a:lnTo>
                    <a:lnTo>
                      <a:pt x="112" y="0"/>
                    </a:lnTo>
                    <a:lnTo>
                      <a:pt x="114" y="28"/>
                    </a:lnTo>
                    <a:lnTo>
                      <a:pt x="59" y="51"/>
                    </a:lnTo>
                    <a:lnTo>
                      <a:pt x="76" y="96"/>
                    </a:lnTo>
                    <a:lnTo>
                      <a:pt x="55" y="113"/>
                    </a:lnTo>
                    <a:lnTo>
                      <a:pt x="42" y="72"/>
                    </a:lnTo>
                    <a:lnTo>
                      <a:pt x="64" y="17"/>
                    </a:lnTo>
                    <a:lnTo>
                      <a:pt x="0" y="10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19" name="16367308569.87562.62584.8755">
                <a:extLst>
                  <a:ext uri="{FF2B5EF4-FFF2-40B4-BE49-F238E27FC236}">
                    <a16:creationId xmlns:a16="http://schemas.microsoft.com/office/drawing/2014/main" id="{D8FFDB13-2FBE-8648-AD04-8A8B0044762A}"/>
                  </a:ext>
                </a:extLst>
              </p:cNvPr>
              <p:cNvSpPr>
                <a:spLocks/>
              </p:cNvSpPr>
              <p:nvPr/>
            </p:nvSpPr>
            <p:spPr bwMode="auto">
              <a:xfrm>
                <a:off x="7056660" y="2726348"/>
                <a:ext cx="1374226" cy="985720"/>
              </a:xfrm>
              <a:custGeom>
                <a:avLst/>
                <a:gdLst>
                  <a:gd name="T0" fmla="*/ 0 w 2044"/>
                  <a:gd name="T1" fmla="*/ 1 h 1286"/>
                  <a:gd name="T2" fmla="*/ 0 w 2044"/>
                  <a:gd name="T3" fmla="*/ 1 h 1286"/>
                  <a:gd name="T4" fmla="*/ 0 w 2044"/>
                  <a:gd name="T5" fmla="*/ 1 h 1286"/>
                  <a:gd name="T6" fmla="*/ 0 w 2044"/>
                  <a:gd name="T7" fmla="*/ 1 h 1286"/>
                  <a:gd name="T8" fmla="*/ 0 w 2044"/>
                  <a:gd name="T9" fmla="*/ 1 h 1286"/>
                  <a:gd name="T10" fmla="*/ 0 w 2044"/>
                  <a:gd name="T11" fmla="*/ 1 h 1286"/>
                  <a:gd name="T12" fmla="*/ 0 w 2044"/>
                  <a:gd name="T13" fmla="*/ 1 h 1286"/>
                  <a:gd name="T14" fmla="*/ 0 w 2044"/>
                  <a:gd name="T15" fmla="*/ 1 h 1286"/>
                  <a:gd name="T16" fmla="*/ 0 w 2044"/>
                  <a:gd name="T17" fmla="*/ 1 h 1286"/>
                  <a:gd name="T18" fmla="*/ 0 w 2044"/>
                  <a:gd name="T19" fmla="*/ 1 h 1286"/>
                  <a:gd name="T20" fmla="*/ 0 w 2044"/>
                  <a:gd name="T21" fmla="*/ 1 h 1286"/>
                  <a:gd name="T22" fmla="*/ 0 w 2044"/>
                  <a:gd name="T23" fmla="*/ 1 h 1286"/>
                  <a:gd name="T24" fmla="*/ 0 w 2044"/>
                  <a:gd name="T25" fmla="*/ 1 h 1286"/>
                  <a:gd name="T26" fmla="*/ 0 w 2044"/>
                  <a:gd name="T27" fmla="*/ 1 h 1286"/>
                  <a:gd name="T28" fmla="*/ 0 w 2044"/>
                  <a:gd name="T29" fmla="*/ 1 h 1286"/>
                  <a:gd name="T30" fmla="*/ 0 w 2044"/>
                  <a:gd name="T31" fmla="*/ 1 h 1286"/>
                  <a:gd name="T32" fmla="*/ 0 w 2044"/>
                  <a:gd name="T33" fmla="*/ 1 h 1286"/>
                  <a:gd name="T34" fmla="*/ 0 w 2044"/>
                  <a:gd name="T35" fmla="*/ 1 h 1286"/>
                  <a:gd name="T36" fmla="*/ 0 w 2044"/>
                  <a:gd name="T37" fmla="*/ 1 h 1286"/>
                  <a:gd name="T38" fmla="*/ 0 w 2044"/>
                  <a:gd name="T39" fmla="*/ 1 h 1286"/>
                  <a:gd name="T40" fmla="*/ 0 w 2044"/>
                  <a:gd name="T41" fmla="*/ 1 h 1286"/>
                  <a:gd name="T42" fmla="*/ 0 w 2044"/>
                  <a:gd name="T43" fmla="*/ 1 h 1286"/>
                  <a:gd name="T44" fmla="*/ 0 w 2044"/>
                  <a:gd name="T45" fmla="*/ 1 h 1286"/>
                  <a:gd name="T46" fmla="*/ 0 w 2044"/>
                  <a:gd name="T47" fmla="*/ 1 h 1286"/>
                  <a:gd name="T48" fmla="*/ 0 w 2044"/>
                  <a:gd name="T49" fmla="*/ 1 h 1286"/>
                  <a:gd name="T50" fmla="*/ 0 w 2044"/>
                  <a:gd name="T51" fmla="*/ 1 h 1286"/>
                  <a:gd name="T52" fmla="*/ 0 w 2044"/>
                  <a:gd name="T53" fmla="*/ 1 h 1286"/>
                  <a:gd name="T54" fmla="*/ 0 w 2044"/>
                  <a:gd name="T55" fmla="*/ 1 h 1286"/>
                  <a:gd name="T56" fmla="*/ 0 w 2044"/>
                  <a:gd name="T57" fmla="*/ 1 h 1286"/>
                  <a:gd name="T58" fmla="*/ 0 w 2044"/>
                  <a:gd name="T59" fmla="*/ 1 h 1286"/>
                  <a:gd name="T60" fmla="*/ 0 w 2044"/>
                  <a:gd name="T61" fmla="*/ 1 h 1286"/>
                  <a:gd name="T62" fmla="*/ 0 w 2044"/>
                  <a:gd name="T63" fmla="*/ 1 h 1286"/>
                  <a:gd name="T64" fmla="*/ 0 w 2044"/>
                  <a:gd name="T65" fmla="*/ 1 h 1286"/>
                  <a:gd name="T66" fmla="*/ 0 w 2044"/>
                  <a:gd name="T67" fmla="*/ 1 h 1286"/>
                  <a:gd name="T68" fmla="*/ 0 w 2044"/>
                  <a:gd name="T69" fmla="*/ 1 h 1286"/>
                  <a:gd name="T70" fmla="*/ 0 w 2044"/>
                  <a:gd name="T71" fmla="*/ 1 h 1286"/>
                  <a:gd name="T72" fmla="*/ 0 w 2044"/>
                  <a:gd name="T73" fmla="*/ 1 h 1286"/>
                  <a:gd name="T74" fmla="*/ 0 w 2044"/>
                  <a:gd name="T75" fmla="*/ 1 h 1286"/>
                  <a:gd name="T76" fmla="*/ 0 w 2044"/>
                  <a:gd name="T77" fmla="*/ 1 h 1286"/>
                  <a:gd name="T78" fmla="*/ 0 w 2044"/>
                  <a:gd name="T79" fmla="*/ 1 h 1286"/>
                  <a:gd name="T80" fmla="*/ 0 w 2044"/>
                  <a:gd name="T81" fmla="*/ 1 h 1286"/>
                  <a:gd name="T82" fmla="*/ 0 w 2044"/>
                  <a:gd name="T83" fmla="*/ 1 h 1286"/>
                  <a:gd name="T84" fmla="*/ 0 w 2044"/>
                  <a:gd name="T85" fmla="*/ 1 h 1286"/>
                  <a:gd name="T86" fmla="*/ 0 w 2044"/>
                  <a:gd name="T87" fmla="*/ 1 h 1286"/>
                  <a:gd name="T88" fmla="*/ 0 w 2044"/>
                  <a:gd name="T89" fmla="*/ 1 h 1286"/>
                  <a:gd name="T90" fmla="*/ 0 w 2044"/>
                  <a:gd name="T91" fmla="*/ 1 h 1286"/>
                  <a:gd name="T92" fmla="*/ 0 w 2044"/>
                  <a:gd name="T93" fmla="*/ 1 h 1286"/>
                  <a:gd name="T94" fmla="*/ 0 w 2044"/>
                  <a:gd name="T95" fmla="*/ 1 h 1286"/>
                  <a:gd name="T96" fmla="*/ 0 w 2044"/>
                  <a:gd name="T97" fmla="*/ 1 h 1286"/>
                  <a:gd name="T98" fmla="*/ 0 w 2044"/>
                  <a:gd name="T99" fmla="*/ 1 h 1286"/>
                  <a:gd name="T100" fmla="*/ 0 w 2044"/>
                  <a:gd name="T101" fmla="*/ 1 h 1286"/>
                  <a:gd name="T102" fmla="*/ 0 w 2044"/>
                  <a:gd name="T103" fmla="*/ 1 h 128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44"/>
                  <a:gd name="T157" fmla="*/ 0 h 1286"/>
                  <a:gd name="T158" fmla="*/ 2044 w 2044"/>
                  <a:gd name="T159" fmla="*/ 1286 h 128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44" h="1286">
                    <a:moveTo>
                      <a:pt x="0" y="612"/>
                    </a:moveTo>
                    <a:lnTo>
                      <a:pt x="13" y="562"/>
                    </a:lnTo>
                    <a:lnTo>
                      <a:pt x="87" y="551"/>
                    </a:lnTo>
                    <a:lnTo>
                      <a:pt x="216" y="484"/>
                    </a:lnTo>
                    <a:lnTo>
                      <a:pt x="235" y="432"/>
                    </a:lnTo>
                    <a:lnTo>
                      <a:pt x="209" y="371"/>
                    </a:lnTo>
                    <a:lnTo>
                      <a:pt x="290" y="355"/>
                    </a:lnTo>
                    <a:lnTo>
                      <a:pt x="312" y="273"/>
                    </a:lnTo>
                    <a:lnTo>
                      <a:pt x="397" y="278"/>
                    </a:lnTo>
                    <a:lnTo>
                      <a:pt x="407" y="225"/>
                    </a:lnTo>
                    <a:lnTo>
                      <a:pt x="472" y="198"/>
                    </a:lnTo>
                    <a:lnTo>
                      <a:pt x="506" y="243"/>
                    </a:lnTo>
                    <a:lnTo>
                      <a:pt x="553" y="260"/>
                    </a:lnTo>
                    <a:lnTo>
                      <a:pt x="572" y="355"/>
                    </a:lnTo>
                    <a:lnTo>
                      <a:pt x="719" y="392"/>
                    </a:lnTo>
                    <a:lnTo>
                      <a:pt x="781" y="456"/>
                    </a:lnTo>
                    <a:lnTo>
                      <a:pt x="902" y="452"/>
                    </a:lnTo>
                    <a:lnTo>
                      <a:pt x="1039" y="503"/>
                    </a:lnTo>
                    <a:lnTo>
                      <a:pt x="1222" y="456"/>
                    </a:lnTo>
                    <a:lnTo>
                      <a:pt x="1278" y="419"/>
                    </a:lnTo>
                    <a:lnTo>
                      <a:pt x="1278" y="368"/>
                    </a:lnTo>
                    <a:lnTo>
                      <a:pt x="1329" y="374"/>
                    </a:lnTo>
                    <a:lnTo>
                      <a:pt x="1440" y="300"/>
                    </a:lnTo>
                    <a:lnTo>
                      <a:pt x="1530" y="295"/>
                    </a:lnTo>
                    <a:lnTo>
                      <a:pt x="1487" y="239"/>
                    </a:lnTo>
                    <a:lnTo>
                      <a:pt x="1402" y="254"/>
                    </a:lnTo>
                    <a:lnTo>
                      <a:pt x="1401" y="191"/>
                    </a:lnTo>
                    <a:lnTo>
                      <a:pt x="1423" y="157"/>
                    </a:lnTo>
                    <a:lnTo>
                      <a:pt x="1473" y="176"/>
                    </a:lnTo>
                    <a:lnTo>
                      <a:pt x="1522" y="154"/>
                    </a:lnTo>
                    <a:lnTo>
                      <a:pt x="1571" y="69"/>
                    </a:lnTo>
                    <a:lnTo>
                      <a:pt x="1548" y="38"/>
                    </a:lnTo>
                    <a:lnTo>
                      <a:pt x="1669" y="0"/>
                    </a:lnTo>
                    <a:lnTo>
                      <a:pt x="1736" y="26"/>
                    </a:lnTo>
                    <a:lnTo>
                      <a:pt x="1798" y="169"/>
                    </a:lnTo>
                    <a:lnTo>
                      <a:pt x="1899" y="201"/>
                    </a:lnTo>
                    <a:lnTo>
                      <a:pt x="1919" y="253"/>
                    </a:lnTo>
                    <a:lnTo>
                      <a:pt x="2044" y="220"/>
                    </a:lnTo>
                    <a:lnTo>
                      <a:pt x="1986" y="359"/>
                    </a:lnTo>
                    <a:lnTo>
                      <a:pt x="1913" y="379"/>
                    </a:lnTo>
                    <a:lnTo>
                      <a:pt x="1923" y="432"/>
                    </a:lnTo>
                    <a:lnTo>
                      <a:pt x="1899" y="463"/>
                    </a:lnTo>
                    <a:lnTo>
                      <a:pt x="1886" y="452"/>
                    </a:lnTo>
                    <a:lnTo>
                      <a:pt x="1823" y="491"/>
                    </a:lnTo>
                    <a:lnTo>
                      <a:pt x="1823" y="513"/>
                    </a:lnTo>
                    <a:lnTo>
                      <a:pt x="1777" y="506"/>
                    </a:lnTo>
                    <a:lnTo>
                      <a:pt x="1692" y="568"/>
                    </a:lnTo>
                    <a:lnTo>
                      <a:pt x="1593" y="617"/>
                    </a:lnTo>
                    <a:lnTo>
                      <a:pt x="1623" y="551"/>
                    </a:lnTo>
                    <a:lnTo>
                      <a:pt x="1608" y="528"/>
                    </a:lnTo>
                    <a:lnTo>
                      <a:pt x="1473" y="604"/>
                    </a:lnTo>
                    <a:lnTo>
                      <a:pt x="1469" y="624"/>
                    </a:lnTo>
                    <a:lnTo>
                      <a:pt x="1515" y="674"/>
                    </a:lnTo>
                    <a:lnTo>
                      <a:pt x="1574" y="653"/>
                    </a:lnTo>
                    <a:lnTo>
                      <a:pt x="1636" y="671"/>
                    </a:lnTo>
                    <a:lnTo>
                      <a:pt x="1553" y="710"/>
                    </a:lnTo>
                    <a:lnTo>
                      <a:pt x="1523" y="763"/>
                    </a:lnTo>
                    <a:lnTo>
                      <a:pt x="1611" y="880"/>
                    </a:lnTo>
                    <a:lnTo>
                      <a:pt x="1550" y="869"/>
                    </a:lnTo>
                    <a:lnTo>
                      <a:pt x="1611" y="909"/>
                    </a:lnTo>
                    <a:lnTo>
                      <a:pt x="1552" y="935"/>
                    </a:lnTo>
                    <a:lnTo>
                      <a:pt x="1614" y="946"/>
                    </a:lnTo>
                    <a:lnTo>
                      <a:pt x="1501" y="1133"/>
                    </a:lnTo>
                    <a:lnTo>
                      <a:pt x="1425" y="1188"/>
                    </a:lnTo>
                    <a:lnTo>
                      <a:pt x="1353" y="1206"/>
                    </a:lnTo>
                    <a:lnTo>
                      <a:pt x="1347" y="1207"/>
                    </a:lnTo>
                    <a:lnTo>
                      <a:pt x="1329" y="1196"/>
                    </a:lnTo>
                    <a:lnTo>
                      <a:pt x="1310" y="1228"/>
                    </a:lnTo>
                    <a:lnTo>
                      <a:pt x="1223" y="1247"/>
                    </a:lnTo>
                    <a:lnTo>
                      <a:pt x="1216" y="1286"/>
                    </a:lnTo>
                    <a:lnTo>
                      <a:pt x="1201" y="1239"/>
                    </a:lnTo>
                    <a:lnTo>
                      <a:pt x="1142" y="1242"/>
                    </a:lnTo>
                    <a:lnTo>
                      <a:pt x="1052" y="1184"/>
                    </a:lnTo>
                    <a:lnTo>
                      <a:pt x="953" y="1209"/>
                    </a:lnTo>
                    <a:lnTo>
                      <a:pt x="932" y="1210"/>
                    </a:lnTo>
                    <a:lnTo>
                      <a:pt x="935" y="1247"/>
                    </a:lnTo>
                    <a:lnTo>
                      <a:pt x="920" y="1238"/>
                    </a:lnTo>
                    <a:lnTo>
                      <a:pt x="856" y="1220"/>
                    </a:lnTo>
                    <a:lnTo>
                      <a:pt x="837" y="1152"/>
                    </a:lnTo>
                    <a:lnTo>
                      <a:pt x="799" y="1161"/>
                    </a:lnTo>
                    <a:lnTo>
                      <a:pt x="834" y="1062"/>
                    </a:lnTo>
                    <a:lnTo>
                      <a:pt x="833" y="1030"/>
                    </a:lnTo>
                    <a:lnTo>
                      <a:pt x="792" y="1009"/>
                    </a:lnTo>
                    <a:lnTo>
                      <a:pt x="757" y="996"/>
                    </a:lnTo>
                    <a:lnTo>
                      <a:pt x="746" y="960"/>
                    </a:lnTo>
                    <a:lnTo>
                      <a:pt x="604" y="1020"/>
                    </a:lnTo>
                    <a:lnTo>
                      <a:pt x="540" y="1004"/>
                    </a:lnTo>
                    <a:lnTo>
                      <a:pt x="507" y="1038"/>
                    </a:lnTo>
                    <a:lnTo>
                      <a:pt x="503" y="1014"/>
                    </a:lnTo>
                    <a:lnTo>
                      <a:pt x="481" y="1019"/>
                    </a:lnTo>
                    <a:lnTo>
                      <a:pt x="408" y="1019"/>
                    </a:lnTo>
                    <a:lnTo>
                      <a:pt x="352" y="967"/>
                    </a:lnTo>
                    <a:lnTo>
                      <a:pt x="246" y="932"/>
                    </a:lnTo>
                    <a:lnTo>
                      <a:pt x="178" y="908"/>
                    </a:lnTo>
                    <a:lnTo>
                      <a:pt x="161" y="850"/>
                    </a:lnTo>
                    <a:lnTo>
                      <a:pt x="197" y="843"/>
                    </a:lnTo>
                    <a:lnTo>
                      <a:pt x="175" y="796"/>
                    </a:lnTo>
                    <a:lnTo>
                      <a:pt x="221" y="740"/>
                    </a:lnTo>
                    <a:lnTo>
                      <a:pt x="186" y="721"/>
                    </a:lnTo>
                    <a:lnTo>
                      <a:pt x="134" y="741"/>
                    </a:lnTo>
                    <a:lnTo>
                      <a:pt x="32" y="679"/>
                    </a:lnTo>
                    <a:lnTo>
                      <a:pt x="35" y="671"/>
                    </a:lnTo>
                    <a:lnTo>
                      <a:pt x="36" y="626"/>
                    </a:lnTo>
                    <a:lnTo>
                      <a:pt x="0" y="61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0" name="16368371618.53.12535">
                <a:extLst>
                  <a:ext uri="{FF2B5EF4-FFF2-40B4-BE49-F238E27FC236}">
                    <a16:creationId xmlns:a16="http://schemas.microsoft.com/office/drawing/2014/main" id="{005EBD31-7C9C-DA20-9E0A-7CAE86A77862}"/>
                  </a:ext>
                </a:extLst>
              </p:cNvPr>
              <p:cNvSpPr>
                <a:spLocks/>
              </p:cNvSpPr>
              <p:nvPr/>
            </p:nvSpPr>
            <p:spPr bwMode="auto">
              <a:xfrm>
                <a:off x="7844047" y="3719733"/>
                <a:ext cx="48456" cy="47523"/>
              </a:xfrm>
              <a:custGeom>
                <a:avLst/>
                <a:gdLst>
                  <a:gd name="T0" fmla="*/ 0 w 73"/>
                  <a:gd name="T1" fmla="*/ 1 h 62"/>
                  <a:gd name="T2" fmla="*/ 0 w 73"/>
                  <a:gd name="T3" fmla="*/ 0 h 62"/>
                  <a:gd name="T4" fmla="*/ 0 w 73"/>
                  <a:gd name="T5" fmla="*/ 1 h 62"/>
                  <a:gd name="T6" fmla="*/ 0 w 73"/>
                  <a:gd name="T7" fmla="*/ 1 h 62"/>
                  <a:gd name="T8" fmla="*/ 0 w 73"/>
                  <a:gd name="T9" fmla="*/ 1 h 62"/>
                  <a:gd name="T10" fmla="*/ 0 60000 65536"/>
                  <a:gd name="T11" fmla="*/ 0 60000 65536"/>
                  <a:gd name="T12" fmla="*/ 0 60000 65536"/>
                  <a:gd name="T13" fmla="*/ 0 60000 65536"/>
                  <a:gd name="T14" fmla="*/ 0 60000 65536"/>
                  <a:gd name="T15" fmla="*/ 0 w 73"/>
                  <a:gd name="T16" fmla="*/ 0 h 62"/>
                  <a:gd name="T17" fmla="*/ 73 w 73"/>
                  <a:gd name="T18" fmla="*/ 62 h 62"/>
                </a:gdLst>
                <a:ahLst/>
                <a:cxnLst>
                  <a:cxn ang="T10">
                    <a:pos x="T0" y="T1"/>
                  </a:cxn>
                  <a:cxn ang="T11">
                    <a:pos x="T2" y="T3"/>
                  </a:cxn>
                  <a:cxn ang="T12">
                    <a:pos x="T4" y="T5"/>
                  </a:cxn>
                  <a:cxn ang="T13">
                    <a:pos x="T6" y="T7"/>
                  </a:cxn>
                  <a:cxn ang="T14">
                    <a:pos x="T8" y="T9"/>
                  </a:cxn>
                </a:cxnLst>
                <a:rect l="T15" t="T16" r="T17" b="T18"/>
                <a:pathLst>
                  <a:path w="73" h="62">
                    <a:moveTo>
                      <a:pt x="0" y="48"/>
                    </a:moveTo>
                    <a:lnTo>
                      <a:pt x="23" y="0"/>
                    </a:lnTo>
                    <a:lnTo>
                      <a:pt x="73" y="11"/>
                    </a:lnTo>
                    <a:lnTo>
                      <a:pt x="33" y="62"/>
                    </a:lnTo>
                    <a:lnTo>
                      <a:pt x="0" y="4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1" name="16369343.12556247.540.755">
                <a:extLst>
                  <a:ext uri="{FF2B5EF4-FFF2-40B4-BE49-F238E27FC236}">
                    <a16:creationId xmlns:a16="http://schemas.microsoft.com/office/drawing/2014/main" id="{8765B731-CCEE-3FA2-BD4C-D8508EDD6C79}"/>
                  </a:ext>
                </a:extLst>
              </p:cNvPr>
              <p:cNvSpPr>
                <a:spLocks/>
              </p:cNvSpPr>
              <p:nvPr/>
            </p:nvSpPr>
            <p:spPr bwMode="auto">
              <a:xfrm>
                <a:off x="6928795" y="3279763"/>
                <a:ext cx="659520" cy="748105"/>
              </a:xfrm>
              <a:custGeom>
                <a:avLst/>
                <a:gdLst>
                  <a:gd name="T0" fmla="*/ 0 w 980"/>
                  <a:gd name="T1" fmla="*/ 1 h 976"/>
                  <a:gd name="T2" fmla="*/ 1 w 980"/>
                  <a:gd name="T3" fmla="*/ 1 h 976"/>
                  <a:gd name="T4" fmla="*/ 1 w 980"/>
                  <a:gd name="T5" fmla="*/ 1 h 976"/>
                  <a:gd name="T6" fmla="*/ 1 w 980"/>
                  <a:gd name="T7" fmla="*/ 1 h 976"/>
                  <a:gd name="T8" fmla="*/ 1 w 980"/>
                  <a:gd name="T9" fmla="*/ 1 h 976"/>
                  <a:gd name="T10" fmla="*/ 1 w 980"/>
                  <a:gd name="T11" fmla="*/ 1 h 976"/>
                  <a:gd name="T12" fmla="*/ 1 w 980"/>
                  <a:gd name="T13" fmla="*/ 1 h 976"/>
                  <a:gd name="T14" fmla="*/ 1 w 980"/>
                  <a:gd name="T15" fmla="*/ 1 h 976"/>
                  <a:gd name="T16" fmla="*/ 1 w 980"/>
                  <a:gd name="T17" fmla="*/ 1 h 976"/>
                  <a:gd name="T18" fmla="*/ 1 w 980"/>
                  <a:gd name="T19" fmla="*/ 1 h 976"/>
                  <a:gd name="T20" fmla="*/ 1 w 980"/>
                  <a:gd name="T21" fmla="*/ 1 h 976"/>
                  <a:gd name="T22" fmla="*/ 1 w 980"/>
                  <a:gd name="T23" fmla="*/ 1 h 976"/>
                  <a:gd name="T24" fmla="*/ 1 w 980"/>
                  <a:gd name="T25" fmla="*/ 1 h 976"/>
                  <a:gd name="T26" fmla="*/ 1 w 980"/>
                  <a:gd name="T27" fmla="*/ 0 h 976"/>
                  <a:gd name="T28" fmla="*/ 1 w 980"/>
                  <a:gd name="T29" fmla="*/ 1 h 976"/>
                  <a:gd name="T30" fmla="*/ 1 w 980"/>
                  <a:gd name="T31" fmla="*/ 1 h 976"/>
                  <a:gd name="T32" fmla="*/ 1 w 980"/>
                  <a:gd name="T33" fmla="*/ 1 h 976"/>
                  <a:gd name="T34" fmla="*/ 1 w 980"/>
                  <a:gd name="T35" fmla="*/ 1 h 976"/>
                  <a:gd name="T36" fmla="*/ 1 w 980"/>
                  <a:gd name="T37" fmla="*/ 1 h 976"/>
                  <a:gd name="T38" fmla="*/ 1 w 980"/>
                  <a:gd name="T39" fmla="*/ 1 h 976"/>
                  <a:gd name="T40" fmla="*/ 1 w 980"/>
                  <a:gd name="T41" fmla="*/ 1 h 976"/>
                  <a:gd name="T42" fmla="*/ 1 w 980"/>
                  <a:gd name="T43" fmla="*/ 1 h 976"/>
                  <a:gd name="T44" fmla="*/ 1 w 980"/>
                  <a:gd name="T45" fmla="*/ 1 h 976"/>
                  <a:gd name="T46" fmla="*/ 1 w 980"/>
                  <a:gd name="T47" fmla="*/ 1 h 976"/>
                  <a:gd name="T48" fmla="*/ 1 w 980"/>
                  <a:gd name="T49" fmla="*/ 1 h 976"/>
                  <a:gd name="T50" fmla="*/ 1 w 980"/>
                  <a:gd name="T51" fmla="*/ 1 h 976"/>
                  <a:gd name="T52" fmla="*/ 1 w 980"/>
                  <a:gd name="T53" fmla="*/ 1 h 976"/>
                  <a:gd name="T54" fmla="*/ 1 w 980"/>
                  <a:gd name="T55" fmla="*/ 1 h 976"/>
                  <a:gd name="T56" fmla="*/ 1 w 980"/>
                  <a:gd name="T57" fmla="*/ 1 h 976"/>
                  <a:gd name="T58" fmla="*/ 1 w 980"/>
                  <a:gd name="T59" fmla="*/ 1 h 976"/>
                  <a:gd name="T60" fmla="*/ 1 w 980"/>
                  <a:gd name="T61" fmla="*/ 1 h 976"/>
                  <a:gd name="T62" fmla="*/ 1 w 980"/>
                  <a:gd name="T63" fmla="*/ 1 h 976"/>
                  <a:gd name="T64" fmla="*/ 1 w 980"/>
                  <a:gd name="T65" fmla="*/ 1 h 976"/>
                  <a:gd name="T66" fmla="*/ 1 w 980"/>
                  <a:gd name="T67" fmla="*/ 1 h 976"/>
                  <a:gd name="T68" fmla="*/ 1 w 980"/>
                  <a:gd name="T69" fmla="*/ 1 h 976"/>
                  <a:gd name="T70" fmla="*/ 1 w 980"/>
                  <a:gd name="T71" fmla="*/ 1 h 976"/>
                  <a:gd name="T72" fmla="*/ 1 w 980"/>
                  <a:gd name="T73" fmla="*/ 1 h 976"/>
                  <a:gd name="T74" fmla="*/ 1 w 980"/>
                  <a:gd name="T75" fmla="*/ 1 h 976"/>
                  <a:gd name="T76" fmla="*/ 1 w 980"/>
                  <a:gd name="T77" fmla="*/ 1 h 976"/>
                  <a:gd name="T78" fmla="*/ 1 w 980"/>
                  <a:gd name="T79" fmla="*/ 1 h 976"/>
                  <a:gd name="T80" fmla="*/ 1 w 980"/>
                  <a:gd name="T81" fmla="*/ 1 h 976"/>
                  <a:gd name="T82" fmla="*/ 1 w 980"/>
                  <a:gd name="T83" fmla="*/ 1 h 976"/>
                  <a:gd name="T84" fmla="*/ 1 w 980"/>
                  <a:gd name="T85" fmla="*/ 1 h 976"/>
                  <a:gd name="T86" fmla="*/ 1 w 980"/>
                  <a:gd name="T87" fmla="*/ 1 h 976"/>
                  <a:gd name="T88" fmla="*/ 1 w 980"/>
                  <a:gd name="T89" fmla="*/ 1 h 976"/>
                  <a:gd name="T90" fmla="*/ 1 w 980"/>
                  <a:gd name="T91" fmla="*/ 1 h 976"/>
                  <a:gd name="T92" fmla="*/ 1 w 980"/>
                  <a:gd name="T93" fmla="*/ 1 h 976"/>
                  <a:gd name="T94" fmla="*/ 1 w 980"/>
                  <a:gd name="T95" fmla="*/ 1 h 976"/>
                  <a:gd name="T96" fmla="*/ 1 w 980"/>
                  <a:gd name="T97" fmla="*/ 1 h 976"/>
                  <a:gd name="T98" fmla="*/ 1 w 980"/>
                  <a:gd name="T99" fmla="*/ 1 h 976"/>
                  <a:gd name="T100" fmla="*/ 1 w 980"/>
                  <a:gd name="T101" fmla="*/ 1 h 976"/>
                  <a:gd name="T102" fmla="*/ 1 w 980"/>
                  <a:gd name="T103" fmla="*/ 1 h 976"/>
                  <a:gd name="T104" fmla="*/ 1 w 980"/>
                  <a:gd name="T105" fmla="*/ 1 h 976"/>
                  <a:gd name="T106" fmla="*/ 1 w 980"/>
                  <a:gd name="T107" fmla="*/ 1 h 976"/>
                  <a:gd name="T108" fmla="*/ 1 w 980"/>
                  <a:gd name="T109" fmla="*/ 1 h 976"/>
                  <a:gd name="T110" fmla="*/ 1 w 980"/>
                  <a:gd name="T111" fmla="*/ 1 h 976"/>
                  <a:gd name="T112" fmla="*/ 1 w 980"/>
                  <a:gd name="T113" fmla="*/ 1 h 976"/>
                  <a:gd name="T114" fmla="*/ 1 w 980"/>
                  <a:gd name="T115" fmla="*/ 1 h 976"/>
                  <a:gd name="T116" fmla="*/ 1 w 980"/>
                  <a:gd name="T117" fmla="*/ 1 h 976"/>
                  <a:gd name="T118" fmla="*/ 1 w 980"/>
                  <a:gd name="T119" fmla="*/ 1 h 976"/>
                  <a:gd name="T120" fmla="*/ 1 w 980"/>
                  <a:gd name="T121" fmla="*/ 1 h 976"/>
                  <a:gd name="T122" fmla="*/ 0 w 980"/>
                  <a:gd name="T123" fmla="*/ 1 h 9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80"/>
                  <a:gd name="T187" fmla="*/ 0 h 976"/>
                  <a:gd name="T188" fmla="*/ 980 w 980"/>
                  <a:gd name="T189" fmla="*/ 976 h 97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80" h="976">
                    <a:moveTo>
                      <a:pt x="0" y="444"/>
                    </a:moveTo>
                    <a:lnTo>
                      <a:pt x="27" y="422"/>
                    </a:lnTo>
                    <a:lnTo>
                      <a:pt x="103" y="422"/>
                    </a:lnTo>
                    <a:lnTo>
                      <a:pt x="51" y="320"/>
                    </a:lnTo>
                    <a:lnTo>
                      <a:pt x="81" y="293"/>
                    </a:lnTo>
                    <a:lnTo>
                      <a:pt x="125" y="295"/>
                    </a:lnTo>
                    <a:lnTo>
                      <a:pt x="224" y="184"/>
                    </a:lnTo>
                    <a:lnTo>
                      <a:pt x="217" y="154"/>
                    </a:lnTo>
                    <a:lnTo>
                      <a:pt x="243" y="136"/>
                    </a:lnTo>
                    <a:lnTo>
                      <a:pt x="199" y="101"/>
                    </a:lnTo>
                    <a:lnTo>
                      <a:pt x="198" y="46"/>
                    </a:lnTo>
                    <a:lnTo>
                      <a:pt x="294" y="46"/>
                    </a:lnTo>
                    <a:lnTo>
                      <a:pt x="322" y="20"/>
                    </a:lnTo>
                    <a:lnTo>
                      <a:pt x="374" y="0"/>
                    </a:lnTo>
                    <a:lnTo>
                      <a:pt x="409" y="19"/>
                    </a:lnTo>
                    <a:lnTo>
                      <a:pt x="363" y="75"/>
                    </a:lnTo>
                    <a:lnTo>
                      <a:pt x="385" y="122"/>
                    </a:lnTo>
                    <a:lnTo>
                      <a:pt x="349" y="129"/>
                    </a:lnTo>
                    <a:lnTo>
                      <a:pt x="366" y="187"/>
                    </a:lnTo>
                    <a:lnTo>
                      <a:pt x="434" y="211"/>
                    </a:lnTo>
                    <a:lnTo>
                      <a:pt x="401" y="265"/>
                    </a:lnTo>
                    <a:lnTo>
                      <a:pt x="491" y="316"/>
                    </a:lnTo>
                    <a:lnTo>
                      <a:pt x="665" y="349"/>
                    </a:lnTo>
                    <a:lnTo>
                      <a:pt x="669" y="298"/>
                    </a:lnTo>
                    <a:lnTo>
                      <a:pt x="691" y="293"/>
                    </a:lnTo>
                    <a:lnTo>
                      <a:pt x="695" y="317"/>
                    </a:lnTo>
                    <a:lnTo>
                      <a:pt x="709" y="339"/>
                    </a:lnTo>
                    <a:lnTo>
                      <a:pt x="797" y="330"/>
                    </a:lnTo>
                    <a:lnTo>
                      <a:pt x="792" y="299"/>
                    </a:lnTo>
                    <a:lnTo>
                      <a:pt x="934" y="239"/>
                    </a:lnTo>
                    <a:lnTo>
                      <a:pt x="945" y="275"/>
                    </a:lnTo>
                    <a:lnTo>
                      <a:pt x="980" y="288"/>
                    </a:lnTo>
                    <a:lnTo>
                      <a:pt x="966" y="324"/>
                    </a:lnTo>
                    <a:lnTo>
                      <a:pt x="907" y="346"/>
                    </a:lnTo>
                    <a:lnTo>
                      <a:pt x="820" y="507"/>
                    </a:lnTo>
                    <a:lnTo>
                      <a:pt x="803" y="442"/>
                    </a:lnTo>
                    <a:lnTo>
                      <a:pt x="787" y="467"/>
                    </a:lnTo>
                    <a:lnTo>
                      <a:pt x="767" y="436"/>
                    </a:lnTo>
                    <a:lnTo>
                      <a:pt x="805" y="396"/>
                    </a:lnTo>
                    <a:lnTo>
                      <a:pt x="730" y="390"/>
                    </a:lnTo>
                    <a:lnTo>
                      <a:pt x="682" y="345"/>
                    </a:lnTo>
                    <a:lnTo>
                      <a:pt x="666" y="370"/>
                    </a:lnTo>
                    <a:lnTo>
                      <a:pt x="684" y="390"/>
                    </a:lnTo>
                    <a:lnTo>
                      <a:pt x="661" y="404"/>
                    </a:lnTo>
                    <a:lnTo>
                      <a:pt x="683" y="425"/>
                    </a:lnTo>
                    <a:lnTo>
                      <a:pt x="695" y="517"/>
                    </a:lnTo>
                    <a:lnTo>
                      <a:pt x="666" y="502"/>
                    </a:lnTo>
                    <a:lnTo>
                      <a:pt x="610" y="574"/>
                    </a:lnTo>
                    <a:lnTo>
                      <a:pt x="408" y="722"/>
                    </a:lnTo>
                    <a:lnTo>
                      <a:pt x="393" y="903"/>
                    </a:lnTo>
                    <a:lnTo>
                      <a:pt x="309" y="976"/>
                    </a:lnTo>
                    <a:lnTo>
                      <a:pt x="234" y="836"/>
                    </a:lnTo>
                    <a:lnTo>
                      <a:pt x="203" y="724"/>
                    </a:lnTo>
                    <a:lnTo>
                      <a:pt x="176" y="698"/>
                    </a:lnTo>
                    <a:lnTo>
                      <a:pt x="155" y="496"/>
                    </a:lnTo>
                    <a:lnTo>
                      <a:pt x="139" y="489"/>
                    </a:lnTo>
                    <a:lnTo>
                      <a:pt x="126" y="533"/>
                    </a:lnTo>
                    <a:lnTo>
                      <a:pt x="78" y="546"/>
                    </a:lnTo>
                    <a:lnTo>
                      <a:pt x="30" y="492"/>
                    </a:lnTo>
                    <a:lnTo>
                      <a:pt x="77" y="464"/>
                    </a:lnTo>
                    <a:lnTo>
                      <a:pt x="30" y="474"/>
                    </a:lnTo>
                    <a:lnTo>
                      <a:pt x="0" y="44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2" name="16370394.75599.87518.375155">
                <a:extLst>
                  <a:ext uri="{FF2B5EF4-FFF2-40B4-BE49-F238E27FC236}">
                    <a16:creationId xmlns:a16="http://schemas.microsoft.com/office/drawing/2014/main" id="{C5003FEE-A3E1-9BED-D928-9C1CF83D7438}"/>
                  </a:ext>
                </a:extLst>
              </p:cNvPr>
              <p:cNvSpPr>
                <a:spLocks/>
              </p:cNvSpPr>
              <p:nvPr/>
            </p:nvSpPr>
            <p:spPr bwMode="auto">
              <a:xfrm>
                <a:off x="7541206" y="4092251"/>
                <a:ext cx="243619" cy="289737"/>
              </a:xfrm>
              <a:custGeom>
                <a:avLst/>
                <a:gdLst>
                  <a:gd name="T0" fmla="*/ 0 w 363"/>
                  <a:gd name="T1" fmla="*/ 0 h 378"/>
                  <a:gd name="T2" fmla="*/ 0 w 363"/>
                  <a:gd name="T3" fmla="*/ 1 h 378"/>
                  <a:gd name="T4" fmla="*/ 0 w 363"/>
                  <a:gd name="T5" fmla="*/ 1 h 378"/>
                  <a:gd name="T6" fmla="*/ 0 w 363"/>
                  <a:gd name="T7" fmla="*/ 1 h 378"/>
                  <a:gd name="T8" fmla="*/ 0 w 363"/>
                  <a:gd name="T9" fmla="*/ 1 h 378"/>
                  <a:gd name="T10" fmla="*/ 0 w 363"/>
                  <a:gd name="T11" fmla="*/ 1 h 378"/>
                  <a:gd name="T12" fmla="*/ 0 w 363"/>
                  <a:gd name="T13" fmla="*/ 1 h 378"/>
                  <a:gd name="T14" fmla="*/ 0 w 363"/>
                  <a:gd name="T15" fmla="*/ 1 h 378"/>
                  <a:gd name="T16" fmla="*/ 0 w 363"/>
                  <a:gd name="T17" fmla="*/ 1 h 378"/>
                  <a:gd name="T18" fmla="*/ 0 w 363"/>
                  <a:gd name="T19" fmla="*/ 1 h 378"/>
                  <a:gd name="T20" fmla="*/ 0 w 363"/>
                  <a:gd name="T21" fmla="*/ 1 h 378"/>
                  <a:gd name="T22" fmla="*/ 0 w 363"/>
                  <a:gd name="T23" fmla="*/ 1 h 378"/>
                  <a:gd name="T24" fmla="*/ 0 w 363"/>
                  <a:gd name="T25" fmla="*/ 0 h 3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3"/>
                  <a:gd name="T40" fmla="*/ 0 h 378"/>
                  <a:gd name="T41" fmla="*/ 363 w 363"/>
                  <a:gd name="T42" fmla="*/ 378 h 3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3" h="378">
                    <a:moveTo>
                      <a:pt x="0" y="0"/>
                    </a:moveTo>
                    <a:lnTo>
                      <a:pt x="80" y="15"/>
                    </a:lnTo>
                    <a:lnTo>
                      <a:pt x="182" y="114"/>
                    </a:lnTo>
                    <a:lnTo>
                      <a:pt x="264" y="150"/>
                    </a:lnTo>
                    <a:lnTo>
                      <a:pt x="255" y="177"/>
                    </a:lnTo>
                    <a:lnTo>
                      <a:pt x="283" y="175"/>
                    </a:lnTo>
                    <a:lnTo>
                      <a:pt x="279" y="212"/>
                    </a:lnTo>
                    <a:lnTo>
                      <a:pt x="363" y="282"/>
                    </a:lnTo>
                    <a:lnTo>
                      <a:pt x="354" y="377"/>
                    </a:lnTo>
                    <a:lnTo>
                      <a:pt x="318" y="378"/>
                    </a:lnTo>
                    <a:lnTo>
                      <a:pt x="244" y="323"/>
                    </a:lnTo>
                    <a:lnTo>
                      <a:pt x="124" y="132"/>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3" name="16371413.3756144.62512.6255">
                <a:extLst>
                  <a:ext uri="{FF2B5EF4-FFF2-40B4-BE49-F238E27FC236}">
                    <a16:creationId xmlns:a16="http://schemas.microsoft.com/office/drawing/2014/main" id="{142E6441-99F5-6E25-B9FC-8B2750FB4C16}"/>
                  </a:ext>
                </a:extLst>
              </p:cNvPr>
              <p:cNvSpPr>
                <a:spLocks/>
              </p:cNvSpPr>
              <p:nvPr/>
            </p:nvSpPr>
            <p:spPr bwMode="auto">
              <a:xfrm>
                <a:off x="7770021" y="4386587"/>
                <a:ext cx="204586" cy="72051"/>
              </a:xfrm>
              <a:custGeom>
                <a:avLst/>
                <a:gdLst>
                  <a:gd name="T0" fmla="*/ 0 w 304"/>
                  <a:gd name="T1" fmla="*/ 0 h 95"/>
                  <a:gd name="T2" fmla="*/ 1 w 304"/>
                  <a:gd name="T3" fmla="*/ 0 h 95"/>
                  <a:gd name="T4" fmla="*/ 1 w 304"/>
                  <a:gd name="T5" fmla="*/ 0 h 95"/>
                  <a:gd name="T6" fmla="*/ 1 w 304"/>
                  <a:gd name="T7" fmla="*/ 0 h 95"/>
                  <a:gd name="T8" fmla="*/ 1 w 304"/>
                  <a:gd name="T9" fmla="*/ 0 h 95"/>
                  <a:gd name="T10" fmla="*/ 1 w 304"/>
                  <a:gd name="T11" fmla="*/ 0 h 95"/>
                  <a:gd name="T12" fmla="*/ 1 w 304"/>
                  <a:gd name="T13" fmla="*/ 0 h 95"/>
                  <a:gd name="T14" fmla="*/ 0 w 304"/>
                  <a:gd name="T15" fmla="*/ 0 h 95"/>
                  <a:gd name="T16" fmla="*/ 0 60000 65536"/>
                  <a:gd name="T17" fmla="*/ 0 60000 65536"/>
                  <a:gd name="T18" fmla="*/ 0 60000 65536"/>
                  <a:gd name="T19" fmla="*/ 0 60000 65536"/>
                  <a:gd name="T20" fmla="*/ 0 60000 65536"/>
                  <a:gd name="T21" fmla="*/ 0 60000 65536"/>
                  <a:gd name="T22" fmla="*/ 0 60000 65536"/>
                  <a:gd name="T23" fmla="*/ 0 60000 65536"/>
                  <a:gd name="T24" fmla="*/ 0 w 304"/>
                  <a:gd name="T25" fmla="*/ 0 h 95"/>
                  <a:gd name="T26" fmla="*/ 304 w 304"/>
                  <a:gd name="T27" fmla="*/ 95 h 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4" h="95">
                    <a:moveTo>
                      <a:pt x="0" y="26"/>
                    </a:moveTo>
                    <a:lnTo>
                      <a:pt x="21" y="0"/>
                    </a:lnTo>
                    <a:lnTo>
                      <a:pt x="234" y="29"/>
                    </a:lnTo>
                    <a:lnTo>
                      <a:pt x="254" y="53"/>
                    </a:lnTo>
                    <a:lnTo>
                      <a:pt x="298" y="62"/>
                    </a:lnTo>
                    <a:lnTo>
                      <a:pt x="304" y="95"/>
                    </a:lnTo>
                    <a:lnTo>
                      <a:pt x="54" y="49"/>
                    </a:lnTo>
                    <a:lnTo>
                      <a:pt x="0" y="2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4" name="16372396.7561913.7513.6255">
                <a:extLst>
                  <a:ext uri="{FF2B5EF4-FFF2-40B4-BE49-F238E27FC236}">
                    <a16:creationId xmlns:a16="http://schemas.microsoft.com/office/drawing/2014/main" id="{3D5D1998-B973-673E-FAA5-64F425A64662}"/>
                  </a:ext>
                </a:extLst>
              </p:cNvPr>
              <p:cNvSpPr>
                <a:spLocks/>
              </p:cNvSpPr>
              <p:nvPr/>
            </p:nvSpPr>
            <p:spPr bwMode="auto">
              <a:xfrm>
                <a:off x="7852125" y="4124446"/>
                <a:ext cx="220737" cy="216153"/>
              </a:xfrm>
              <a:custGeom>
                <a:avLst/>
                <a:gdLst>
                  <a:gd name="T0" fmla="*/ 0 w 329"/>
                  <a:gd name="T1" fmla="*/ 1 h 280"/>
                  <a:gd name="T2" fmla="*/ 0 w 329"/>
                  <a:gd name="T3" fmla="*/ 1 h 280"/>
                  <a:gd name="T4" fmla="*/ 0 w 329"/>
                  <a:gd name="T5" fmla="*/ 1 h 280"/>
                  <a:gd name="T6" fmla="*/ 0 w 329"/>
                  <a:gd name="T7" fmla="*/ 1 h 280"/>
                  <a:gd name="T8" fmla="*/ 0 w 329"/>
                  <a:gd name="T9" fmla="*/ 1 h 280"/>
                  <a:gd name="T10" fmla="*/ 0 w 329"/>
                  <a:gd name="T11" fmla="*/ 0 h 280"/>
                  <a:gd name="T12" fmla="*/ 0 w 329"/>
                  <a:gd name="T13" fmla="*/ 1 h 280"/>
                  <a:gd name="T14" fmla="*/ 0 w 329"/>
                  <a:gd name="T15" fmla="*/ 1 h 280"/>
                  <a:gd name="T16" fmla="*/ 0 w 329"/>
                  <a:gd name="T17" fmla="*/ 1 h 280"/>
                  <a:gd name="T18" fmla="*/ 0 w 329"/>
                  <a:gd name="T19" fmla="*/ 1 h 280"/>
                  <a:gd name="T20" fmla="*/ 0 w 329"/>
                  <a:gd name="T21" fmla="*/ 1 h 280"/>
                  <a:gd name="T22" fmla="*/ 0 w 329"/>
                  <a:gd name="T23" fmla="*/ 1 h 280"/>
                  <a:gd name="T24" fmla="*/ 0 w 329"/>
                  <a:gd name="T25" fmla="*/ 1 h 280"/>
                  <a:gd name="T26" fmla="*/ 0 w 329"/>
                  <a:gd name="T27" fmla="*/ 1 h 280"/>
                  <a:gd name="T28" fmla="*/ 0 w 329"/>
                  <a:gd name="T29" fmla="*/ 1 h 280"/>
                  <a:gd name="T30" fmla="*/ 0 w 329"/>
                  <a:gd name="T31" fmla="*/ 1 h 280"/>
                  <a:gd name="T32" fmla="*/ 0 w 329"/>
                  <a:gd name="T33" fmla="*/ 1 h 280"/>
                  <a:gd name="T34" fmla="*/ 0 w 329"/>
                  <a:gd name="T35" fmla="*/ 1 h 28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9"/>
                  <a:gd name="T55" fmla="*/ 0 h 280"/>
                  <a:gd name="T56" fmla="*/ 329 w 329"/>
                  <a:gd name="T57" fmla="*/ 280 h 28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9" h="280">
                    <a:moveTo>
                      <a:pt x="0" y="126"/>
                    </a:moveTo>
                    <a:lnTo>
                      <a:pt x="22" y="89"/>
                    </a:lnTo>
                    <a:lnTo>
                      <a:pt x="50" y="112"/>
                    </a:lnTo>
                    <a:lnTo>
                      <a:pt x="150" y="104"/>
                    </a:lnTo>
                    <a:lnTo>
                      <a:pt x="183" y="92"/>
                    </a:lnTo>
                    <a:lnTo>
                      <a:pt x="227" y="0"/>
                    </a:lnTo>
                    <a:lnTo>
                      <a:pt x="285" y="4"/>
                    </a:lnTo>
                    <a:lnTo>
                      <a:pt x="272" y="27"/>
                    </a:lnTo>
                    <a:lnTo>
                      <a:pt x="329" y="112"/>
                    </a:lnTo>
                    <a:lnTo>
                      <a:pt x="297" y="106"/>
                    </a:lnTo>
                    <a:lnTo>
                      <a:pt x="241" y="202"/>
                    </a:lnTo>
                    <a:lnTo>
                      <a:pt x="232" y="262"/>
                    </a:lnTo>
                    <a:lnTo>
                      <a:pt x="197" y="280"/>
                    </a:lnTo>
                    <a:lnTo>
                      <a:pt x="133" y="245"/>
                    </a:lnTo>
                    <a:lnTo>
                      <a:pt x="96" y="261"/>
                    </a:lnTo>
                    <a:lnTo>
                      <a:pt x="91" y="232"/>
                    </a:lnTo>
                    <a:lnTo>
                      <a:pt x="40" y="238"/>
                    </a:lnTo>
                    <a:lnTo>
                      <a:pt x="0" y="12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5" name="16373417.375629.7513.3755">
                <a:extLst>
                  <a:ext uri="{FF2B5EF4-FFF2-40B4-BE49-F238E27FC236}">
                    <a16:creationId xmlns:a16="http://schemas.microsoft.com/office/drawing/2014/main" id="{85FD87BF-289B-1820-6C45-34FF48DEA9E1}"/>
                  </a:ext>
                </a:extLst>
              </p:cNvPr>
              <p:cNvSpPr>
                <a:spLocks/>
              </p:cNvSpPr>
              <p:nvPr/>
            </p:nvSpPr>
            <p:spPr bwMode="auto">
              <a:xfrm>
                <a:off x="8025752" y="4449444"/>
                <a:ext cx="53837" cy="15331"/>
              </a:xfrm>
              <a:custGeom>
                <a:avLst/>
                <a:gdLst>
                  <a:gd name="T0" fmla="*/ 0 w 82"/>
                  <a:gd name="T1" fmla="*/ 0 h 21"/>
                  <a:gd name="T2" fmla="*/ 0 w 82"/>
                  <a:gd name="T3" fmla="*/ 0 h 21"/>
                  <a:gd name="T4" fmla="*/ 0 w 82"/>
                  <a:gd name="T5" fmla="*/ 0 h 21"/>
                  <a:gd name="T6" fmla="*/ 0 w 82"/>
                  <a:gd name="T7" fmla="*/ 0 h 21"/>
                  <a:gd name="T8" fmla="*/ 0 w 82"/>
                  <a:gd name="T9" fmla="*/ 0 h 21"/>
                  <a:gd name="T10" fmla="*/ 0 60000 65536"/>
                  <a:gd name="T11" fmla="*/ 0 60000 65536"/>
                  <a:gd name="T12" fmla="*/ 0 60000 65536"/>
                  <a:gd name="T13" fmla="*/ 0 60000 65536"/>
                  <a:gd name="T14" fmla="*/ 0 60000 65536"/>
                  <a:gd name="T15" fmla="*/ 0 w 82"/>
                  <a:gd name="T16" fmla="*/ 0 h 21"/>
                  <a:gd name="T17" fmla="*/ 82 w 82"/>
                  <a:gd name="T18" fmla="*/ 21 h 21"/>
                </a:gdLst>
                <a:ahLst/>
                <a:cxnLst>
                  <a:cxn ang="T10">
                    <a:pos x="T0" y="T1"/>
                  </a:cxn>
                  <a:cxn ang="T11">
                    <a:pos x="T2" y="T3"/>
                  </a:cxn>
                  <a:cxn ang="T12">
                    <a:pos x="T4" y="T5"/>
                  </a:cxn>
                  <a:cxn ang="T13">
                    <a:pos x="T6" y="T7"/>
                  </a:cxn>
                  <a:cxn ang="T14">
                    <a:pos x="T8" y="T9"/>
                  </a:cxn>
                </a:cxnLst>
                <a:rect l="T15" t="T16" r="T17" b="T18"/>
                <a:pathLst>
                  <a:path w="82" h="21">
                    <a:moveTo>
                      <a:pt x="0" y="4"/>
                    </a:moveTo>
                    <a:lnTo>
                      <a:pt x="10" y="21"/>
                    </a:lnTo>
                    <a:lnTo>
                      <a:pt x="82" y="7"/>
                    </a:lnTo>
                    <a:lnTo>
                      <a:pt x="27" y="0"/>
                    </a:lnTo>
                    <a:lnTo>
                      <a:pt x="0" y="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6" name="16374400.875632.62511.8758.6255">
                <a:extLst>
                  <a:ext uri="{FF2B5EF4-FFF2-40B4-BE49-F238E27FC236}">
                    <a16:creationId xmlns:a16="http://schemas.microsoft.com/office/drawing/2014/main" id="{3DCFAAAD-5A3D-62F5-5497-664DC07693B0}"/>
                  </a:ext>
                </a:extLst>
              </p:cNvPr>
              <p:cNvSpPr>
                <a:spLocks/>
              </p:cNvSpPr>
              <p:nvPr/>
            </p:nvSpPr>
            <p:spPr bwMode="auto">
              <a:xfrm>
                <a:off x="8072861" y="4188831"/>
                <a:ext cx="138634" cy="188559"/>
              </a:xfrm>
              <a:custGeom>
                <a:avLst/>
                <a:gdLst>
                  <a:gd name="T0" fmla="*/ 0 w 206"/>
                  <a:gd name="T1" fmla="*/ 1 h 244"/>
                  <a:gd name="T2" fmla="*/ 1 w 206"/>
                  <a:gd name="T3" fmla="*/ 1 h 244"/>
                  <a:gd name="T4" fmla="*/ 1 w 206"/>
                  <a:gd name="T5" fmla="*/ 1 h 244"/>
                  <a:gd name="T6" fmla="*/ 1 w 206"/>
                  <a:gd name="T7" fmla="*/ 1 h 244"/>
                  <a:gd name="T8" fmla="*/ 1 w 206"/>
                  <a:gd name="T9" fmla="*/ 1 h 244"/>
                  <a:gd name="T10" fmla="*/ 1 w 206"/>
                  <a:gd name="T11" fmla="*/ 1 h 244"/>
                  <a:gd name="T12" fmla="*/ 1 w 206"/>
                  <a:gd name="T13" fmla="*/ 1 h 244"/>
                  <a:gd name="T14" fmla="*/ 1 w 206"/>
                  <a:gd name="T15" fmla="*/ 1 h 244"/>
                  <a:gd name="T16" fmla="*/ 1 w 206"/>
                  <a:gd name="T17" fmla="*/ 1 h 244"/>
                  <a:gd name="T18" fmla="*/ 1 w 206"/>
                  <a:gd name="T19" fmla="*/ 1 h 244"/>
                  <a:gd name="T20" fmla="*/ 1 w 206"/>
                  <a:gd name="T21" fmla="*/ 1 h 244"/>
                  <a:gd name="T22" fmla="*/ 1 w 206"/>
                  <a:gd name="T23" fmla="*/ 1 h 244"/>
                  <a:gd name="T24" fmla="*/ 1 w 206"/>
                  <a:gd name="T25" fmla="*/ 1 h 244"/>
                  <a:gd name="T26" fmla="*/ 1 w 206"/>
                  <a:gd name="T27" fmla="*/ 1 h 244"/>
                  <a:gd name="T28" fmla="*/ 1 w 206"/>
                  <a:gd name="T29" fmla="*/ 0 h 244"/>
                  <a:gd name="T30" fmla="*/ 1 w 206"/>
                  <a:gd name="T31" fmla="*/ 1 h 244"/>
                  <a:gd name="T32" fmla="*/ 1 w 206"/>
                  <a:gd name="T33" fmla="*/ 1 h 244"/>
                  <a:gd name="T34" fmla="*/ 1 w 206"/>
                  <a:gd name="T35" fmla="*/ 1 h 244"/>
                  <a:gd name="T36" fmla="*/ 0 w 206"/>
                  <a:gd name="T37" fmla="*/ 1 h 2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6"/>
                  <a:gd name="T58" fmla="*/ 0 h 244"/>
                  <a:gd name="T59" fmla="*/ 206 w 206"/>
                  <a:gd name="T60" fmla="*/ 244 h 2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6" h="244">
                    <a:moveTo>
                      <a:pt x="0" y="145"/>
                    </a:moveTo>
                    <a:lnTo>
                      <a:pt x="26" y="191"/>
                    </a:lnTo>
                    <a:lnTo>
                      <a:pt x="17" y="235"/>
                    </a:lnTo>
                    <a:lnTo>
                      <a:pt x="50" y="244"/>
                    </a:lnTo>
                    <a:lnTo>
                      <a:pt x="48" y="154"/>
                    </a:lnTo>
                    <a:lnTo>
                      <a:pt x="70" y="145"/>
                    </a:lnTo>
                    <a:lnTo>
                      <a:pt x="72" y="180"/>
                    </a:lnTo>
                    <a:lnTo>
                      <a:pt x="92" y="220"/>
                    </a:lnTo>
                    <a:lnTo>
                      <a:pt x="129" y="202"/>
                    </a:lnTo>
                    <a:lnTo>
                      <a:pt x="83" y="118"/>
                    </a:lnTo>
                    <a:lnTo>
                      <a:pt x="152" y="81"/>
                    </a:lnTo>
                    <a:lnTo>
                      <a:pt x="60" y="104"/>
                    </a:lnTo>
                    <a:lnTo>
                      <a:pt x="46" y="50"/>
                    </a:lnTo>
                    <a:lnTo>
                      <a:pt x="181" y="45"/>
                    </a:lnTo>
                    <a:lnTo>
                      <a:pt x="206" y="0"/>
                    </a:lnTo>
                    <a:lnTo>
                      <a:pt x="166" y="28"/>
                    </a:lnTo>
                    <a:lnTo>
                      <a:pt x="70" y="13"/>
                    </a:lnTo>
                    <a:lnTo>
                      <a:pt x="37" y="34"/>
                    </a:lnTo>
                    <a:lnTo>
                      <a:pt x="0" y="14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7" name="16375417.5639.37534.8755">
                <a:extLst>
                  <a:ext uri="{FF2B5EF4-FFF2-40B4-BE49-F238E27FC236}">
                    <a16:creationId xmlns:a16="http://schemas.microsoft.com/office/drawing/2014/main" id="{DD85D02C-4F71-29A1-4C89-DE115DB99FBE}"/>
                  </a:ext>
                </a:extLst>
              </p:cNvPr>
              <p:cNvSpPr>
                <a:spLocks/>
              </p:cNvSpPr>
              <p:nvPr/>
            </p:nvSpPr>
            <p:spPr bwMode="auto">
              <a:xfrm>
                <a:off x="8181884" y="4450974"/>
                <a:ext cx="78066" cy="47523"/>
              </a:xfrm>
              <a:custGeom>
                <a:avLst/>
                <a:gdLst>
                  <a:gd name="T0" fmla="*/ 0 w 115"/>
                  <a:gd name="T1" fmla="*/ 0 h 63"/>
                  <a:gd name="T2" fmla="*/ 1 w 115"/>
                  <a:gd name="T3" fmla="*/ 0 h 63"/>
                  <a:gd name="T4" fmla="*/ 1 w 115"/>
                  <a:gd name="T5" fmla="*/ 0 h 63"/>
                  <a:gd name="T6" fmla="*/ 1 w 115"/>
                  <a:gd name="T7" fmla="*/ 0 h 63"/>
                  <a:gd name="T8" fmla="*/ 0 w 115"/>
                  <a:gd name="T9" fmla="*/ 0 h 63"/>
                  <a:gd name="T10" fmla="*/ 0 60000 65536"/>
                  <a:gd name="T11" fmla="*/ 0 60000 65536"/>
                  <a:gd name="T12" fmla="*/ 0 60000 65536"/>
                  <a:gd name="T13" fmla="*/ 0 60000 65536"/>
                  <a:gd name="T14" fmla="*/ 0 60000 65536"/>
                  <a:gd name="T15" fmla="*/ 0 w 115"/>
                  <a:gd name="T16" fmla="*/ 0 h 63"/>
                  <a:gd name="T17" fmla="*/ 115 w 115"/>
                  <a:gd name="T18" fmla="*/ 63 h 63"/>
                </a:gdLst>
                <a:ahLst/>
                <a:cxnLst>
                  <a:cxn ang="T10">
                    <a:pos x="T0" y="T1"/>
                  </a:cxn>
                  <a:cxn ang="T11">
                    <a:pos x="T2" y="T3"/>
                  </a:cxn>
                  <a:cxn ang="T12">
                    <a:pos x="T4" y="T5"/>
                  </a:cxn>
                  <a:cxn ang="T13">
                    <a:pos x="T6" y="T7"/>
                  </a:cxn>
                  <a:cxn ang="T14">
                    <a:pos x="T8" y="T9"/>
                  </a:cxn>
                </a:cxnLst>
                <a:rect l="T15" t="T16" r="T17" b="T18"/>
                <a:pathLst>
                  <a:path w="115" h="63">
                    <a:moveTo>
                      <a:pt x="0" y="37"/>
                    </a:moveTo>
                    <a:lnTo>
                      <a:pt x="5" y="63"/>
                    </a:lnTo>
                    <a:lnTo>
                      <a:pt x="115" y="0"/>
                    </a:lnTo>
                    <a:lnTo>
                      <a:pt x="33" y="19"/>
                    </a:lnTo>
                    <a:lnTo>
                      <a:pt x="0" y="3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8" name="16376400.25644.54.8751.6255">
                <a:extLst>
                  <a:ext uri="{FF2B5EF4-FFF2-40B4-BE49-F238E27FC236}">
                    <a16:creationId xmlns:a16="http://schemas.microsoft.com/office/drawing/2014/main" id="{4D9CC873-14C8-FC40-180F-2724BE27475B}"/>
                  </a:ext>
                </a:extLst>
              </p:cNvPr>
              <p:cNvSpPr>
                <a:spLocks/>
              </p:cNvSpPr>
              <p:nvPr/>
            </p:nvSpPr>
            <p:spPr bwMode="auto">
              <a:xfrm>
                <a:off x="8263989" y="4179634"/>
                <a:ext cx="26919" cy="76650"/>
              </a:xfrm>
              <a:custGeom>
                <a:avLst/>
                <a:gdLst>
                  <a:gd name="T0" fmla="*/ 0 w 40"/>
                  <a:gd name="T1" fmla="*/ 1 h 99"/>
                  <a:gd name="T2" fmla="*/ 1 w 40"/>
                  <a:gd name="T3" fmla="*/ 1 h 99"/>
                  <a:gd name="T4" fmla="*/ 1 w 40"/>
                  <a:gd name="T5" fmla="*/ 1 h 99"/>
                  <a:gd name="T6" fmla="*/ 1 w 40"/>
                  <a:gd name="T7" fmla="*/ 1 h 99"/>
                  <a:gd name="T8" fmla="*/ 1 w 40"/>
                  <a:gd name="T9" fmla="*/ 1 h 99"/>
                  <a:gd name="T10" fmla="*/ 1 w 40"/>
                  <a:gd name="T11" fmla="*/ 1 h 99"/>
                  <a:gd name="T12" fmla="*/ 1 w 40"/>
                  <a:gd name="T13" fmla="*/ 1 h 99"/>
                  <a:gd name="T14" fmla="*/ 1 w 40"/>
                  <a:gd name="T15" fmla="*/ 0 h 99"/>
                  <a:gd name="T16" fmla="*/ 0 w 40"/>
                  <a:gd name="T17" fmla="*/ 1 h 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
                  <a:gd name="T28" fmla="*/ 0 h 99"/>
                  <a:gd name="T29" fmla="*/ 40 w 40"/>
                  <a:gd name="T30" fmla="*/ 99 h 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 h="99">
                    <a:moveTo>
                      <a:pt x="0" y="35"/>
                    </a:moveTo>
                    <a:lnTo>
                      <a:pt x="8" y="80"/>
                    </a:lnTo>
                    <a:lnTo>
                      <a:pt x="32" y="99"/>
                    </a:lnTo>
                    <a:lnTo>
                      <a:pt x="17" y="58"/>
                    </a:lnTo>
                    <a:lnTo>
                      <a:pt x="40" y="52"/>
                    </a:lnTo>
                    <a:lnTo>
                      <a:pt x="37" y="21"/>
                    </a:lnTo>
                    <a:lnTo>
                      <a:pt x="8" y="41"/>
                    </a:lnTo>
                    <a:lnTo>
                      <a:pt x="21" y="0"/>
                    </a:lnTo>
                    <a:lnTo>
                      <a:pt x="0" y="3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29" name="16377408.125645.1251.545">
                <a:extLst>
                  <a:ext uri="{FF2B5EF4-FFF2-40B4-BE49-F238E27FC236}">
                    <a16:creationId xmlns:a16="http://schemas.microsoft.com/office/drawing/2014/main" id="{B33812D3-3033-BC10-84AD-7C4D6985E4DB}"/>
                  </a:ext>
                </a:extLst>
              </p:cNvPr>
              <p:cNvSpPr>
                <a:spLocks/>
              </p:cNvSpPr>
              <p:nvPr/>
            </p:nvSpPr>
            <p:spPr bwMode="auto">
              <a:xfrm>
                <a:off x="8274756" y="4303807"/>
                <a:ext cx="64606" cy="24528"/>
              </a:xfrm>
              <a:custGeom>
                <a:avLst/>
                <a:gdLst>
                  <a:gd name="T0" fmla="*/ 0 w 96"/>
                  <a:gd name="T1" fmla="*/ 1 h 31"/>
                  <a:gd name="T2" fmla="*/ 1 w 96"/>
                  <a:gd name="T3" fmla="*/ 0 h 31"/>
                  <a:gd name="T4" fmla="*/ 1 w 96"/>
                  <a:gd name="T5" fmla="*/ 1 h 31"/>
                  <a:gd name="T6" fmla="*/ 0 w 96"/>
                  <a:gd name="T7" fmla="*/ 1 h 31"/>
                  <a:gd name="T8" fmla="*/ 0 60000 65536"/>
                  <a:gd name="T9" fmla="*/ 0 60000 65536"/>
                  <a:gd name="T10" fmla="*/ 0 60000 65536"/>
                  <a:gd name="T11" fmla="*/ 0 60000 65536"/>
                  <a:gd name="T12" fmla="*/ 0 w 96"/>
                  <a:gd name="T13" fmla="*/ 0 h 31"/>
                  <a:gd name="T14" fmla="*/ 96 w 96"/>
                  <a:gd name="T15" fmla="*/ 31 h 31"/>
                </a:gdLst>
                <a:ahLst/>
                <a:cxnLst>
                  <a:cxn ang="T8">
                    <a:pos x="T0" y="T1"/>
                  </a:cxn>
                  <a:cxn ang="T9">
                    <a:pos x="T2" y="T3"/>
                  </a:cxn>
                  <a:cxn ang="T10">
                    <a:pos x="T4" y="T5"/>
                  </a:cxn>
                  <a:cxn ang="T11">
                    <a:pos x="T6" y="T7"/>
                  </a:cxn>
                </a:cxnLst>
                <a:rect l="T12" t="T13" r="T14" b="T15"/>
                <a:pathLst>
                  <a:path w="96" h="31">
                    <a:moveTo>
                      <a:pt x="0" y="12"/>
                    </a:moveTo>
                    <a:lnTo>
                      <a:pt x="53" y="0"/>
                    </a:lnTo>
                    <a:lnTo>
                      <a:pt x="96" y="31"/>
                    </a:lnTo>
                    <a:lnTo>
                      <a:pt x="0" y="1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0" name="16378404.375649.251414.55">
                <a:extLst>
                  <a:ext uri="{FF2B5EF4-FFF2-40B4-BE49-F238E27FC236}">
                    <a16:creationId xmlns:a16="http://schemas.microsoft.com/office/drawing/2014/main" id="{005F67F6-98EC-DBE5-F322-876627EA4A35}"/>
                  </a:ext>
                </a:extLst>
              </p:cNvPr>
              <p:cNvSpPr>
                <a:spLocks/>
              </p:cNvSpPr>
              <p:nvPr/>
            </p:nvSpPr>
            <p:spPr bwMode="auto">
              <a:xfrm>
                <a:off x="8340705" y="4244020"/>
                <a:ext cx="235544" cy="270577"/>
              </a:xfrm>
              <a:custGeom>
                <a:avLst/>
                <a:gdLst>
                  <a:gd name="T0" fmla="*/ 0 w 349"/>
                  <a:gd name="T1" fmla="*/ 4 h 289"/>
                  <a:gd name="T2" fmla="*/ 1 w 349"/>
                  <a:gd name="T3" fmla="*/ 4 h 289"/>
                  <a:gd name="T4" fmla="*/ 1 w 349"/>
                  <a:gd name="T5" fmla="*/ 4 h 289"/>
                  <a:gd name="T6" fmla="*/ 1 w 349"/>
                  <a:gd name="T7" fmla="*/ 5 h 289"/>
                  <a:gd name="T8" fmla="*/ 1 w 349"/>
                  <a:gd name="T9" fmla="*/ 9 h 289"/>
                  <a:gd name="T10" fmla="*/ 1 w 349"/>
                  <a:gd name="T11" fmla="*/ 5 h 289"/>
                  <a:gd name="T12" fmla="*/ 1 w 349"/>
                  <a:gd name="T13" fmla="*/ 9 h 289"/>
                  <a:gd name="T14" fmla="*/ 1 w 349"/>
                  <a:gd name="T15" fmla="*/ 11 h 289"/>
                  <a:gd name="T16" fmla="*/ 1 w 349"/>
                  <a:gd name="T17" fmla="*/ 16 h 289"/>
                  <a:gd name="T18" fmla="*/ 1 w 349"/>
                  <a:gd name="T19" fmla="*/ 16 h 289"/>
                  <a:gd name="T20" fmla="*/ 1 w 349"/>
                  <a:gd name="T21" fmla="*/ 18 h 289"/>
                  <a:gd name="T22" fmla="*/ 1 w 349"/>
                  <a:gd name="T23" fmla="*/ 18 h 289"/>
                  <a:gd name="T24" fmla="*/ 1 w 349"/>
                  <a:gd name="T25" fmla="*/ 20 h 289"/>
                  <a:gd name="T26" fmla="*/ 1 w 349"/>
                  <a:gd name="T27" fmla="*/ 4 h 289"/>
                  <a:gd name="T28" fmla="*/ 1 w 349"/>
                  <a:gd name="T29" fmla="*/ 4 h 289"/>
                  <a:gd name="T30" fmla="*/ 1 w 349"/>
                  <a:gd name="T31" fmla="*/ 7 h 289"/>
                  <a:gd name="T32" fmla="*/ 1 w 349"/>
                  <a:gd name="T33" fmla="*/ 4 h 289"/>
                  <a:gd name="T34" fmla="*/ 1 w 349"/>
                  <a:gd name="T35" fmla="*/ 4 h 289"/>
                  <a:gd name="T36" fmla="*/ 1 w 349"/>
                  <a:gd name="T37" fmla="*/ 0 h 289"/>
                  <a:gd name="T38" fmla="*/ 0 w 349"/>
                  <a:gd name="T39" fmla="*/ 4 h 28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9"/>
                  <a:gd name="T61" fmla="*/ 0 h 289"/>
                  <a:gd name="T62" fmla="*/ 349 w 349"/>
                  <a:gd name="T63" fmla="*/ 289 h 28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9" h="289">
                    <a:moveTo>
                      <a:pt x="0" y="36"/>
                    </a:moveTo>
                    <a:lnTo>
                      <a:pt x="51" y="63"/>
                    </a:lnTo>
                    <a:lnTo>
                      <a:pt x="102" y="56"/>
                    </a:lnTo>
                    <a:lnTo>
                      <a:pt x="37" y="77"/>
                    </a:lnTo>
                    <a:lnTo>
                      <a:pt x="69" y="124"/>
                    </a:lnTo>
                    <a:lnTo>
                      <a:pt x="99" y="84"/>
                    </a:lnTo>
                    <a:lnTo>
                      <a:pt x="120" y="124"/>
                    </a:lnTo>
                    <a:lnTo>
                      <a:pt x="245" y="168"/>
                    </a:lnTo>
                    <a:lnTo>
                      <a:pt x="275" y="238"/>
                    </a:lnTo>
                    <a:lnTo>
                      <a:pt x="252" y="235"/>
                    </a:lnTo>
                    <a:lnTo>
                      <a:pt x="232" y="268"/>
                    </a:lnTo>
                    <a:lnTo>
                      <a:pt x="308" y="253"/>
                    </a:lnTo>
                    <a:lnTo>
                      <a:pt x="349" y="289"/>
                    </a:lnTo>
                    <a:lnTo>
                      <a:pt x="344" y="73"/>
                    </a:lnTo>
                    <a:lnTo>
                      <a:pt x="236" y="36"/>
                    </a:lnTo>
                    <a:lnTo>
                      <a:pt x="149" y="99"/>
                    </a:lnTo>
                    <a:lnTo>
                      <a:pt x="114" y="66"/>
                    </a:lnTo>
                    <a:lnTo>
                      <a:pt x="103" y="14"/>
                    </a:lnTo>
                    <a:lnTo>
                      <a:pt x="51" y="0"/>
                    </a:lnTo>
                    <a:lnTo>
                      <a:pt x="0" y="36"/>
                    </a:lnTo>
                    <a:close/>
                  </a:path>
                </a:pathLst>
              </a:custGeom>
              <a:noFill/>
              <a:ln w="9525">
                <a:noFill/>
                <a:miter lim="800000"/>
                <a:headEnd/>
                <a:tailEnd/>
              </a:ln>
            </p:spPr>
            <p:txBody>
              <a:bodyPr lIns="64541" tIns="32271" rIns="64541" bIns="32271">
                <a:spAutoFit/>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1" name="16379415.25649.751.250.6255">
                <a:extLst>
                  <a:ext uri="{FF2B5EF4-FFF2-40B4-BE49-F238E27FC236}">
                    <a16:creationId xmlns:a16="http://schemas.microsoft.com/office/drawing/2014/main" id="{A9A5CDD4-3709-70E9-5145-4966DE80636A}"/>
                  </a:ext>
                </a:extLst>
              </p:cNvPr>
              <p:cNvSpPr>
                <a:spLocks/>
              </p:cNvSpPr>
              <p:nvPr/>
            </p:nvSpPr>
            <p:spPr bwMode="auto">
              <a:xfrm>
                <a:off x="8348783" y="4415716"/>
                <a:ext cx="10767" cy="19929"/>
              </a:xfrm>
              <a:custGeom>
                <a:avLst/>
                <a:gdLst>
                  <a:gd name="T0" fmla="*/ 0 w 16"/>
                  <a:gd name="T1" fmla="*/ 1 h 25"/>
                  <a:gd name="T2" fmla="*/ 1 w 16"/>
                  <a:gd name="T3" fmla="*/ 0 h 25"/>
                  <a:gd name="T4" fmla="*/ 1 w 16"/>
                  <a:gd name="T5" fmla="*/ 1 h 25"/>
                  <a:gd name="T6" fmla="*/ 0 w 16"/>
                  <a:gd name="T7" fmla="*/ 1 h 25"/>
                  <a:gd name="T8" fmla="*/ 0 60000 65536"/>
                  <a:gd name="T9" fmla="*/ 0 60000 65536"/>
                  <a:gd name="T10" fmla="*/ 0 60000 65536"/>
                  <a:gd name="T11" fmla="*/ 0 60000 65536"/>
                  <a:gd name="T12" fmla="*/ 0 w 16"/>
                  <a:gd name="T13" fmla="*/ 0 h 25"/>
                  <a:gd name="T14" fmla="*/ 16 w 16"/>
                  <a:gd name="T15" fmla="*/ 25 h 25"/>
                </a:gdLst>
                <a:ahLst/>
                <a:cxnLst>
                  <a:cxn ang="T8">
                    <a:pos x="T0" y="T1"/>
                  </a:cxn>
                  <a:cxn ang="T9">
                    <a:pos x="T2" y="T3"/>
                  </a:cxn>
                  <a:cxn ang="T10">
                    <a:pos x="T4" y="T5"/>
                  </a:cxn>
                  <a:cxn ang="T11">
                    <a:pos x="T6" y="T7"/>
                  </a:cxn>
                </a:cxnLst>
                <a:rect l="T12" t="T13" r="T14" b="T15"/>
                <a:pathLst>
                  <a:path w="16" h="25">
                    <a:moveTo>
                      <a:pt x="0" y="25"/>
                    </a:moveTo>
                    <a:lnTo>
                      <a:pt x="10" y="0"/>
                    </a:lnTo>
                    <a:lnTo>
                      <a:pt x="16" y="14"/>
                    </a:lnTo>
                    <a:lnTo>
                      <a:pt x="0" y="2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2" name="16380338.25642.757.754.755">
                <a:extLst>
                  <a:ext uri="{FF2B5EF4-FFF2-40B4-BE49-F238E27FC236}">
                    <a16:creationId xmlns:a16="http://schemas.microsoft.com/office/drawing/2014/main" id="{B7CE416C-2B26-DA50-9548-11CEEFBD1F34}"/>
                  </a:ext>
                </a:extLst>
              </p:cNvPr>
              <p:cNvSpPr>
                <a:spLocks/>
              </p:cNvSpPr>
              <p:nvPr/>
            </p:nvSpPr>
            <p:spPr bwMode="auto">
              <a:xfrm>
                <a:off x="8235721" y="3203113"/>
                <a:ext cx="78066" cy="122641"/>
              </a:xfrm>
              <a:custGeom>
                <a:avLst/>
                <a:gdLst>
                  <a:gd name="T0" fmla="*/ 0 w 115"/>
                  <a:gd name="T1" fmla="*/ 1 h 160"/>
                  <a:gd name="T2" fmla="*/ 1 w 115"/>
                  <a:gd name="T3" fmla="*/ 1 h 160"/>
                  <a:gd name="T4" fmla="*/ 1 w 115"/>
                  <a:gd name="T5" fmla="*/ 0 h 160"/>
                  <a:gd name="T6" fmla="*/ 1 w 115"/>
                  <a:gd name="T7" fmla="*/ 1 h 160"/>
                  <a:gd name="T8" fmla="*/ 1 w 115"/>
                  <a:gd name="T9" fmla="*/ 1 h 160"/>
                  <a:gd name="T10" fmla="*/ 0 w 115"/>
                  <a:gd name="T11" fmla="*/ 1 h 160"/>
                  <a:gd name="T12" fmla="*/ 0 60000 65536"/>
                  <a:gd name="T13" fmla="*/ 0 60000 65536"/>
                  <a:gd name="T14" fmla="*/ 0 60000 65536"/>
                  <a:gd name="T15" fmla="*/ 0 60000 65536"/>
                  <a:gd name="T16" fmla="*/ 0 60000 65536"/>
                  <a:gd name="T17" fmla="*/ 0 60000 65536"/>
                  <a:gd name="T18" fmla="*/ 0 w 115"/>
                  <a:gd name="T19" fmla="*/ 0 h 160"/>
                  <a:gd name="T20" fmla="*/ 115 w 115"/>
                  <a:gd name="T21" fmla="*/ 160 h 160"/>
                </a:gdLst>
                <a:ahLst/>
                <a:cxnLst>
                  <a:cxn ang="T12">
                    <a:pos x="T0" y="T1"/>
                  </a:cxn>
                  <a:cxn ang="T13">
                    <a:pos x="T2" y="T3"/>
                  </a:cxn>
                  <a:cxn ang="T14">
                    <a:pos x="T4" y="T5"/>
                  </a:cxn>
                  <a:cxn ang="T15">
                    <a:pos x="T6" y="T7"/>
                  </a:cxn>
                  <a:cxn ang="T16">
                    <a:pos x="T8" y="T9"/>
                  </a:cxn>
                  <a:cxn ang="T17">
                    <a:pos x="T10" y="T11"/>
                  </a:cxn>
                </a:cxnLst>
                <a:rect l="T18" t="T19" r="T20" b="T21"/>
                <a:pathLst>
                  <a:path w="115" h="160">
                    <a:moveTo>
                      <a:pt x="0" y="160"/>
                    </a:moveTo>
                    <a:lnTo>
                      <a:pt x="12" y="35"/>
                    </a:lnTo>
                    <a:lnTo>
                      <a:pt x="74" y="0"/>
                    </a:lnTo>
                    <a:lnTo>
                      <a:pt x="115" y="98"/>
                    </a:lnTo>
                    <a:lnTo>
                      <a:pt x="73" y="144"/>
                    </a:lnTo>
                    <a:lnTo>
                      <a:pt x="0" y="16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3" name="16381393.125606.8758.1255.1255">
                <a:extLst>
                  <a:ext uri="{FF2B5EF4-FFF2-40B4-BE49-F238E27FC236}">
                    <a16:creationId xmlns:a16="http://schemas.microsoft.com/office/drawing/2014/main" id="{AEF8204B-DB43-1E28-AAB5-AB767118FC66}"/>
                  </a:ext>
                </a:extLst>
              </p:cNvPr>
              <p:cNvSpPr>
                <a:spLocks/>
              </p:cNvSpPr>
              <p:nvPr/>
            </p:nvSpPr>
            <p:spPr bwMode="auto">
              <a:xfrm>
                <a:off x="7654268" y="4067726"/>
                <a:ext cx="84797" cy="127239"/>
              </a:xfrm>
              <a:custGeom>
                <a:avLst/>
                <a:gdLst>
                  <a:gd name="T0" fmla="*/ 0 w 125"/>
                  <a:gd name="T1" fmla="*/ 0 h 167"/>
                  <a:gd name="T2" fmla="*/ 1 w 125"/>
                  <a:gd name="T3" fmla="*/ 0 h 167"/>
                  <a:gd name="T4" fmla="*/ 1 w 125"/>
                  <a:gd name="T5" fmla="*/ 0 h 167"/>
                  <a:gd name="T6" fmla="*/ 1 w 125"/>
                  <a:gd name="T7" fmla="*/ 0 h 167"/>
                  <a:gd name="T8" fmla="*/ 1 w 125"/>
                  <a:gd name="T9" fmla="*/ 0 h 167"/>
                  <a:gd name="T10" fmla="*/ 1 w 125"/>
                  <a:gd name="T11" fmla="*/ 0 h 167"/>
                  <a:gd name="T12" fmla="*/ 1 w 125"/>
                  <a:gd name="T13" fmla="*/ 0 h 167"/>
                  <a:gd name="T14" fmla="*/ 1 w 125"/>
                  <a:gd name="T15" fmla="*/ 0 h 167"/>
                  <a:gd name="T16" fmla="*/ 0 w 125"/>
                  <a:gd name="T17" fmla="*/ 0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5"/>
                  <a:gd name="T28" fmla="*/ 0 h 167"/>
                  <a:gd name="T29" fmla="*/ 125 w 125"/>
                  <a:gd name="T30" fmla="*/ 167 h 1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5" h="167">
                    <a:moveTo>
                      <a:pt x="0" y="0"/>
                    </a:moveTo>
                    <a:lnTo>
                      <a:pt x="25" y="0"/>
                    </a:lnTo>
                    <a:lnTo>
                      <a:pt x="33" y="31"/>
                    </a:lnTo>
                    <a:lnTo>
                      <a:pt x="65" y="11"/>
                    </a:lnTo>
                    <a:lnTo>
                      <a:pt x="106" y="50"/>
                    </a:lnTo>
                    <a:lnTo>
                      <a:pt x="125" y="167"/>
                    </a:lnTo>
                    <a:lnTo>
                      <a:pt x="124" y="167"/>
                    </a:lnTo>
                    <a:lnTo>
                      <a:pt x="39" y="117"/>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4" name="16382392.56209.7513.1255">
                <a:extLst>
                  <a:ext uri="{FF2B5EF4-FFF2-40B4-BE49-F238E27FC236}">
                    <a16:creationId xmlns:a16="http://schemas.microsoft.com/office/drawing/2014/main" id="{23130B7B-77B8-4AC4-381F-CB1DCECAC8A0}"/>
                  </a:ext>
                </a:extLst>
              </p:cNvPr>
              <p:cNvSpPr>
                <a:spLocks/>
              </p:cNvSpPr>
              <p:nvPr/>
            </p:nvSpPr>
            <p:spPr bwMode="auto">
              <a:xfrm>
                <a:off x="7866929" y="4058526"/>
                <a:ext cx="214007" cy="153300"/>
              </a:xfrm>
              <a:custGeom>
                <a:avLst/>
                <a:gdLst>
                  <a:gd name="T0" fmla="*/ 0 w 319"/>
                  <a:gd name="T1" fmla="*/ 1 h 199"/>
                  <a:gd name="T2" fmla="*/ 0 w 319"/>
                  <a:gd name="T3" fmla="*/ 1 h 199"/>
                  <a:gd name="T4" fmla="*/ 0 w 319"/>
                  <a:gd name="T5" fmla="*/ 1 h 199"/>
                  <a:gd name="T6" fmla="*/ 0 w 319"/>
                  <a:gd name="T7" fmla="*/ 1 h 199"/>
                  <a:gd name="T8" fmla="*/ 0 w 319"/>
                  <a:gd name="T9" fmla="*/ 1 h 199"/>
                  <a:gd name="T10" fmla="*/ 0 w 319"/>
                  <a:gd name="T11" fmla="*/ 1 h 199"/>
                  <a:gd name="T12" fmla="*/ 0 w 319"/>
                  <a:gd name="T13" fmla="*/ 1 h 199"/>
                  <a:gd name="T14" fmla="*/ 0 w 319"/>
                  <a:gd name="T15" fmla="*/ 1 h 199"/>
                  <a:gd name="T16" fmla="*/ 0 w 319"/>
                  <a:gd name="T17" fmla="*/ 0 h 199"/>
                  <a:gd name="T18" fmla="*/ 0 w 319"/>
                  <a:gd name="T19" fmla="*/ 1 h 199"/>
                  <a:gd name="T20" fmla="*/ 0 w 319"/>
                  <a:gd name="T21" fmla="*/ 1 h 199"/>
                  <a:gd name="T22" fmla="*/ 0 w 319"/>
                  <a:gd name="T23" fmla="*/ 1 h 199"/>
                  <a:gd name="T24" fmla="*/ 0 w 319"/>
                  <a:gd name="T25" fmla="*/ 1 h 199"/>
                  <a:gd name="T26" fmla="*/ 0 w 319"/>
                  <a:gd name="T27" fmla="*/ 1 h 199"/>
                  <a:gd name="T28" fmla="*/ 0 w 319"/>
                  <a:gd name="T29" fmla="*/ 1 h 199"/>
                  <a:gd name="T30" fmla="*/ 0 w 319"/>
                  <a:gd name="T31" fmla="*/ 1 h 1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19"/>
                  <a:gd name="T49" fmla="*/ 0 h 199"/>
                  <a:gd name="T50" fmla="*/ 319 w 319"/>
                  <a:gd name="T51" fmla="*/ 199 h 1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19" h="199">
                    <a:moveTo>
                      <a:pt x="0" y="176"/>
                    </a:moveTo>
                    <a:lnTo>
                      <a:pt x="28" y="199"/>
                    </a:lnTo>
                    <a:lnTo>
                      <a:pt x="128" y="191"/>
                    </a:lnTo>
                    <a:lnTo>
                      <a:pt x="161" y="179"/>
                    </a:lnTo>
                    <a:lnTo>
                      <a:pt x="205" y="87"/>
                    </a:lnTo>
                    <a:lnTo>
                      <a:pt x="263" y="91"/>
                    </a:lnTo>
                    <a:lnTo>
                      <a:pt x="319" y="59"/>
                    </a:lnTo>
                    <a:lnTo>
                      <a:pt x="265" y="33"/>
                    </a:lnTo>
                    <a:lnTo>
                      <a:pt x="249" y="0"/>
                    </a:lnTo>
                    <a:lnTo>
                      <a:pt x="183" y="62"/>
                    </a:lnTo>
                    <a:lnTo>
                      <a:pt x="164" y="96"/>
                    </a:lnTo>
                    <a:lnTo>
                      <a:pt x="143" y="77"/>
                    </a:lnTo>
                    <a:lnTo>
                      <a:pt x="105" y="127"/>
                    </a:lnTo>
                    <a:lnTo>
                      <a:pt x="62" y="133"/>
                    </a:lnTo>
                    <a:lnTo>
                      <a:pt x="48" y="179"/>
                    </a:lnTo>
                    <a:lnTo>
                      <a:pt x="0" y="17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5" name="16383341.125552.2523.62523.1255">
                <a:extLst>
                  <a:ext uri="{FF2B5EF4-FFF2-40B4-BE49-F238E27FC236}">
                    <a16:creationId xmlns:a16="http://schemas.microsoft.com/office/drawing/2014/main" id="{22AB4E98-C0AD-E4D1-93FB-416177B6DB88}"/>
                  </a:ext>
                </a:extLst>
              </p:cNvPr>
              <p:cNvSpPr>
                <a:spLocks/>
              </p:cNvSpPr>
              <p:nvPr/>
            </p:nvSpPr>
            <p:spPr bwMode="auto">
              <a:xfrm>
                <a:off x="6769971" y="3247570"/>
                <a:ext cx="375523" cy="372519"/>
              </a:xfrm>
              <a:custGeom>
                <a:avLst/>
                <a:gdLst>
                  <a:gd name="T0" fmla="*/ 0 w 560"/>
                  <a:gd name="T1" fmla="*/ 1 h 486"/>
                  <a:gd name="T2" fmla="*/ 0 w 560"/>
                  <a:gd name="T3" fmla="*/ 1 h 486"/>
                  <a:gd name="T4" fmla="*/ 0 w 560"/>
                  <a:gd name="T5" fmla="*/ 1 h 486"/>
                  <a:gd name="T6" fmla="*/ 0 w 560"/>
                  <a:gd name="T7" fmla="*/ 1 h 486"/>
                  <a:gd name="T8" fmla="*/ 0 w 560"/>
                  <a:gd name="T9" fmla="*/ 1 h 486"/>
                  <a:gd name="T10" fmla="*/ 0 w 560"/>
                  <a:gd name="T11" fmla="*/ 1 h 486"/>
                  <a:gd name="T12" fmla="*/ 0 w 560"/>
                  <a:gd name="T13" fmla="*/ 1 h 486"/>
                  <a:gd name="T14" fmla="*/ 0 w 560"/>
                  <a:gd name="T15" fmla="*/ 1 h 486"/>
                  <a:gd name="T16" fmla="*/ 0 w 560"/>
                  <a:gd name="T17" fmla="*/ 1 h 486"/>
                  <a:gd name="T18" fmla="*/ 0 w 560"/>
                  <a:gd name="T19" fmla="*/ 1 h 486"/>
                  <a:gd name="T20" fmla="*/ 0 w 560"/>
                  <a:gd name="T21" fmla="*/ 1 h 486"/>
                  <a:gd name="T22" fmla="*/ 0 w 560"/>
                  <a:gd name="T23" fmla="*/ 0 h 486"/>
                  <a:gd name="T24" fmla="*/ 0 w 560"/>
                  <a:gd name="T25" fmla="*/ 1 h 486"/>
                  <a:gd name="T26" fmla="*/ 0 w 560"/>
                  <a:gd name="T27" fmla="*/ 1 h 486"/>
                  <a:gd name="T28" fmla="*/ 0 w 560"/>
                  <a:gd name="T29" fmla="*/ 1 h 486"/>
                  <a:gd name="T30" fmla="*/ 0 w 560"/>
                  <a:gd name="T31" fmla="*/ 1 h 486"/>
                  <a:gd name="T32" fmla="*/ 0 w 560"/>
                  <a:gd name="T33" fmla="*/ 1 h 486"/>
                  <a:gd name="T34" fmla="*/ 0 w 560"/>
                  <a:gd name="T35" fmla="*/ 1 h 486"/>
                  <a:gd name="T36" fmla="*/ 0 w 560"/>
                  <a:gd name="T37" fmla="*/ 1 h 486"/>
                  <a:gd name="T38" fmla="*/ 0 w 560"/>
                  <a:gd name="T39" fmla="*/ 1 h 486"/>
                  <a:gd name="T40" fmla="*/ 0 w 560"/>
                  <a:gd name="T41" fmla="*/ 1 h 486"/>
                  <a:gd name="T42" fmla="*/ 0 w 560"/>
                  <a:gd name="T43" fmla="*/ 1 h 486"/>
                  <a:gd name="T44" fmla="*/ 0 w 560"/>
                  <a:gd name="T45" fmla="*/ 1 h 486"/>
                  <a:gd name="T46" fmla="*/ 0 w 560"/>
                  <a:gd name="T47" fmla="*/ 1 h 486"/>
                  <a:gd name="T48" fmla="*/ 0 w 560"/>
                  <a:gd name="T49" fmla="*/ 1 h 486"/>
                  <a:gd name="T50" fmla="*/ 0 w 560"/>
                  <a:gd name="T51" fmla="*/ 1 h 486"/>
                  <a:gd name="T52" fmla="*/ 0 w 560"/>
                  <a:gd name="T53" fmla="*/ 1 h 486"/>
                  <a:gd name="T54" fmla="*/ 0 w 560"/>
                  <a:gd name="T55" fmla="*/ 1 h 486"/>
                  <a:gd name="T56" fmla="*/ 0 w 560"/>
                  <a:gd name="T57" fmla="*/ 1 h 48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60"/>
                  <a:gd name="T88" fmla="*/ 0 h 486"/>
                  <a:gd name="T89" fmla="*/ 560 w 560"/>
                  <a:gd name="T90" fmla="*/ 486 h 48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60" h="486">
                    <a:moveTo>
                      <a:pt x="0" y="267"/>
                    </a:moveTo>
                    <a:lnTo>
                      <a:pt x="52" y="284"/>
                    </a:lnTo>
                    <a:lnTo>
                      <a:pt x="175" y="267"/>
                    </a:lnTo>
                    <a:lnTo>
                      <a:pt x="198" y="218"/>
                    </a:lnTo>
                    <a:lnTo>
                      <a:pt x="281" y="190"/>
                    </a:lnTo>
                    <a:lnTo>
                      <a:pt x="289" y="149"/>
                    </a:lnTo>
                    <a:lnTo>
                      <a:pt x="316" y="138"/>
                    </a:lnTo>
                    <a:lnTo>
                      <a:pt x="304" y="116"/>
                    </a:lnTo>
                    <a:lnTo>
                      <a:pt x="334" y="114"/>
                    </a:lnTo>
                    <a:lnTo>
                      <a:pt x="356" y="72"/>
                    </a:lnTo>
                    <a:lnTo>
                      <a:pt x="347" y="31"/>
                    </a:lnTo>
                    <a:lnTo>
                      <a:pt x="458" y="0"/>
                    </a:lnTo>
                    <a:lnTo>
                      <a:pt x="560" y="62"/>
                    </a:lnTo>
                    <a:lnTo>
                      <a:pt x="532" y="88"/>
                    </a:lnTo>
                    <a:lnTo>
                      <a:pt x="436" y="88"/>
                    </a:lnTo>
                    <a:lnTo>
                      <a:pt x="437" y="143"/>
                    </a:lnTo>
                    <a:lnTo>
                      <a:pt x="481" y="178"/>
                    </a:lnTo>
                    <a:lnTo>
                      <a:pt x="455" y="196"/>
                    </a:lnTo>
                    <a:lnTo>
                      <a:pt x="462" y="226"/>
                    </a:lnTo>
                    <a:lnTo>
                      <a:pt x="363" y="337"/>
                    </a:lnTo>
                    <a:lnTo>
                      <a:pt x="319" y="335"/>
                    </a:lnTo>
                    <a:lnTo>
                      <a:pt x="289" y="362"/>
                    </a:lnTo>
                    <a:lnTo>
                      <a:pt x="341" y="464"/>
                    </a:lnTo>
                    <a:lnTo>
                      <a:pt x="265" y="464"/>
                    </a:lnTo>
                    <a:lnTo>
                      <a:pt x="238" y="486"/>
                    </a:lnTo>
                    <a:lnTo>
                      <a:pt x="182" y="425"/>
                    </a:lnTo>
                    <a:lnTo>
                      <a:pt x="26" y="436"/>
                    </a:lnTo>
                    <a:lnTo>
                      <a:pt x="79" y="366"/>
                    </a:lnTo>
                    <a:lnTo>
                      <a:pt x="0" y="26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6" name="16384385.375630.3754.6253.1255">
                <a:extLst>
                  <a:ext uri="{FF2B5EF4-FFF2-40B4-BE49-F238E27FC236}">
                    <a16:creationId xmlns:a16="http://schemas.microsoft.com/office/drawing/2014/main" id="{28202C63-5B21-5F6F-F7F6-36A663A51564}"/>
                  </a:ext>
                </a:extLst>
              </p:cNvPr>
              <p:cNvSpPr>
                <a:spLocks/>
              </p:cNvSpPr>
              <p:nvPr/>
            </p:nvSpPr>
            <p:spPr bwMode="auto">
              <a:xfrm>
                <a:off x="8035174" y="3945084"/>
                <a:ext cx="51147" cy="73583"/>
              </a:xfrm>
              <a:custGeom>
                <a:avLst/>
                <a:gdLst>
                  <a:gd name="T0" fmla="*/ 0 w 77"/>
                  <a:gd name="T1" fmla="*/ 0 h 97"/>
                  <a:gd name="T2" fmla="*/ 0 w 77"/>
                  <a:gd name="T3" fmla="*/ 0 h 97"/>
                  <a:gd name="T4" fmla="*/ 0 w 77"/>
                  <a:gd name="T5" fmla="*/ 0 h 97"/>
                  <a:gd name="T6" fmla="*/ 0 w 77"/>
                  <a:gd name="T7" fmla="*/ 0 h 97"/>
                  <a:gd name="T8" fmla="*/ 0 60000 65536"/>
                  <a:gd name="T9" fmla="*/ 0 60000 65536"/>
                  <a:gd name="T10" fmla="*/ 0 60000 65536"/>
                  <a:gd name="T11" fmla="*/ 0 60000 65536"/>
                  <a:gd name="T12" fmla="*/ 0 w 77"/>
                  <a:gd name="T13" fmla="*/ 0 h 97"/>
                  <a:gd name="T14" fmla="*/ 77 w 77"/>
                  <a:gd name="T15" fmla="*/ 97 h 97"/>
                </a:gdLst>
                <a:ahLst/>
                <a:cxnLst>
                  <a:cxn ang="T8">
                    <a:pos x="T0" y="T1"/>
                  </a:cxn>
                  <a:cxn ang="T9">
                    <a:pos x="T2" y="T3"/>
                  </a:cxn>
                  <a:cxn ang="T10">
                    <a:pos x="T4" y="T5"/>
                  </a:cxn>
                  <a:cxn ang="T11">
                    <a:pos x="T6" y="T7"/>
                  </a:cxn>
                </a:cxnLst>
                <a:rect l="T12" t="T13" r="T14" b="T15"/>
                <a:pathLst>
                  <a:path w="77" h="97">
                    <a:moveTo>
                      <a:pt x="0" y="97"/>
                    </a:moveTo>
                    <a:lnTo>
                      <a:pt x="54" y="51"/>
                    </a:lnTo>
                    <a:lnTo>
                      <a:pt x="77" y="0"/>
                    </a:lnTo>
                    <a:lnTo>
                      <a:pt x="0" y="9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7" name="16385373.375634.125105.6255">
                <a:extLst>
                  <a:ext uri="{FF2B5EF4-FFF2-40B4-BE49-F238E27FC236}">
                    <a16:creationId xmlns:a16="http://schemas.microsoft.com/office/drawing/2014/main" id="{DADAA144-DB06-8B9D-0032-7F69257C7B1A}"/>
                  </a:ext>
                </a:extLst>
              </p:cNvPr>
              <p:cNvSpPr>
                <a:spLocks/>
              </p:cNvSpPr>
              <p:nvPr/>
            </p:nvSpPr>
            <p:spPr bwMode="auto">
              <a:xfrm>
                <a:off x="8095743" y="3756524"/>
                <a:ext cx="91525" cy="156367"/>
              </a:xfrm>
              <a:custGeom>
                <a:avLst/>
                <a:gdLst>
                  <a:gd name="T0" fmla="*/ 0 w 136"/>
                  <a:gd name="T1" fmla="*/ 1 h 203"/>
                  <a:gd name="T2" fmla="*/ 1 w 136"/>
                  <a:gd name="T3" fmla="*/ 0 h 203"/>
                  <a:gd name="T4" fmla="*/ 1 w 136"/>
                  <a:gd name="T5" fmla="*/ 1 h 203"/>
                  <a:gd name="T6" fmla="*/ 1 w 136"/>
                  <a:gd name="T7" fmla="*/ 1 h 203"/>
                  <a:gd name="T8" fmla="*/ 1 w 136"/>
                  <a:gd name="T9" fmla="*/ 1 h 203"/>
                  <a:gd name="T10" fmla="*/ 1 w 136"/>
                  <a:gd name="T11" fmla="*/ 1 h 203"/>
                  <a:gd name="T12" fmla="*/ 1 w 136"/>
                  <a:gd name="T13" fmla="*/ 1 h 203"/>
                  <a:gd name="T14" fmla="*/ 1 w 136"/>
                  <a:gd name="T15" fmla="*/ 1 h 203"/>
                  <a:gd name="T16" fmla="*/ 1 w 136"/>
                  <a:gd name="T17" fmla="*/ 1 h 203"/>
                  <a:gd name="T18" fmla="*/ 1 w 136"/>
                  <a:gd name="T19" fmla="*/ 1 h 203"/>
                  <a:gd name="T20" fmla="*/ 1 w 136"/>
                  <a:gd name="T21" fmla="*/ 1 h 203"/>
                  <a:gd name="T22" fmla="*/ 0 w 136"/>
                  <a:gd name="T23" fmla="*/ 1 h 2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6"/>
                  <a:gd name="T37" fmla="*/ 0 h 203"/>
                  <a:gd name="T38" fmla="*/ 136 w 136"/>
                  <a:gd name="T39" fmla="*/ 203 h 20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6" h="203">
                    <a:moveTo>
                      <a:pt x="0" y="79"/>
                    </a:moveTo>
                    <a:lnTo>
                      <a:pt x="26" y="0"/>
                    </a:lnTo>
                    <a:lnTo>
                      <a:pt x="74" y="2"/>
                    </a:lnTo>
                    <a:lnTo>
                      <a:pt x="87" y="55"/>
                    </a:lnTo>
                    <a:lnTo>
                      <a:pt x="49" y="110"/>
                    </a:lnTo>
                    <a:lnTo>
                      <a:pt x="58" y="141"/>
                    </a:lnTo>
                    <a:lnTo>
                      <a:pt x="130" y="161"/>
                    </a:lnTo>
                    <a:lnTo>
                      <a:pt x="136" y="203"/>
                    </a:lnTo>
                    <a:lnTo>
                      <a:pt x="92" y="161"/>
                    </a:lnTo>
                    <a:lnTo>
                      <a:pt x="92" y="181"/>
                    </a:lnTo>
                    <a:lnTo>
                      <a:pt x="26" y="161"/>
                    </a:lnTo>
                    <a:lnTo>
                      <a:pt x="0" y="7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8" name="16386381.875634.62521.55">
                <a:extLst>
                  <a:ext uri="{FF2B5EF4-FFF2-40B4-BE49-F238E27FC236}">
                    <a16:creationId xmlns:a16="http://schemas.microsoft.com/office/drawing/2014/main" id="{98518276-75F6-9EC1-847A-10FC1F7FF52E}"/>
                  </a:ext>
                </a:extLst>
              </p:cNvPr>
              <p:cNvSpPr>
                <a:spLocks/>
              </p:cNvSpPr>
              <p:nvPr/>
            </p:nvSpPr>
            <p:spPr bwMode="auto">
              <a:xfrm>
                <a:off x="8103820" y="3889896"/>
                <a:ext cx="25574" cy="32193"/>
              </a:xfrm>
              <a:custGeom>
                <a:avLst/>
                <a:gdLst>
                  <a:gd name="T0" fmla="*/ 0 w 39"/>
                  <a:gd name="T1" fmla="*/ 0 h 41"/>
                  <a:gd name="T2" fmla="*/ 0 w 39"/>
                  <a:gd name="T3" fmla="*/ 0 h 41"/>
                  <a:gd name="T4" fmla="*/ 0 w 39"/>
                  <a:gd name="T5" fmla="*/ 1 h 41"/>
                  <a:gd name="T6" fmla="*/ 0 w 39"/>
                  <a:gd name="T7" fmla="*/ 1 h 41"/>
                  <a:gd name="T8" fmla="*/ 0 w 39"/>
                  <a:gd name="T9" fmla="*/ 0 h 41"/>
                  <a:gd name="T10" fmla="*/ 0 60000 65536"/>
                  <a:gd name="T11" fmla="*/ 0 60000 65536"/>
                  <a:gd name="T12" fmla="*/ 0 60000 65536"/>
                  <a:gd name="T13" fmla="*/ 0 60000 65536"/>
                  <a:gd name="T14" fmla="*/ 0 60000 65536"/>
                  <a:gd name="T15" fmla="*/ 0 w 39"/>
                  <a:gd name="T16" fmla="*/ 0 h 41"/>
                  <a:gd name="T17" fmla="*/ 39 w 39"/>
                  <a:gd name="T18" fmla="*/ 41 h 41"/>
                </a:gdLst>
                <a:ahLst/>
                <a:cxnLst>
                  <a:cxn ang="T10">
                    <a:pos x="T0" y="T1"/>
                  </a:cxn>
                  <a:cxn ang="T11">
                    <a:pos x="T2" y="T3"/>
                  </a:cxn>
                  <a:cxn ang="T12">
                    <a:pos x="T4" y="T5"/>
                  </a:cxn>
                  <a:cxn ang="T13">
                    <a:pos x="T6" y="T7"/>
                  </a:cxn>
                  <a:cxn ang="T14">
                    <a:pos x="T8" y="T9"/>
                  </a:cxn>
                </a:cxnLst>
                <a:rect l="T15" t="T16" r="T17" b="T18"/>
                <a:pathLst>
                  <a:path w="39" h="41">
                    <a:moveTo>
                      <a:pt x="0" y="0"/>
                    </a:moveTo>
                    <a:lnTo>
                      <a:pt x="20" y="0"/>
                    </a:lnTo>
                    <a:lnTo>
                      <a:pt x="39" y="8"/>
                    </a:lnTo>
                    <a:lnTo>
                      <a:pt x="29" y="41"/>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39" name="16387384.375636.8752.51.55">
                <a:extLst>
                  <a:ext uri="{FF2B5EF4-FFF2-40B4-BE49-F238E27FC236}">
                    <a16:creationId xmlns:a16="http://schemas.microsoft.com/office/drawing/2014/main" id="{B7187973-4C88-E2AE-DF4A-2AECFC4C2E25}"/>
                  </a:ext>
                </a:extLst>
              </p:cNvPr>
              <p:cNvSpPr>
                <a:spLocks/>
              </p:cNvSpPr>
              <p:nvPr/>
            </p:nvSpPr>
            <p:spPr bwMode="auto">
              <a:xfrm>
                <a:off x="8140158" y="3929755"/>
                <a:ext cx="24226" cy="39858"/>
              </a:xfrm>
              <a:custGeom>
                <a:avLst/>
                <a:gdLst>
                  <a:gd name="T0" fmla="*/ 0 w 36"/>
                  <a:gd name="T1" fmla="*/ 0 h 52"/>
                  <a:gd name="T2" fmla="*/ 1 w 36"/>
                  <a:gd name="T3" fmla="*/ 1 h 52"/>
                  <a:gd name="T4" fmla="*/ 1 w 36"/>
                  <a:gd name="T5" fmla="*/ 1 h 52"/>
                  <a:gd name="T6" fmla="*/ 0 w 36"/>
                  <a:gd name="T7" fmla="*/ 0 h 52"/>
                  <a:gd name="T8" fmla="*/ 0 60000 65536"/>
                  <a:gd name="T9" fmla="*/ 0 60000 65536"/>
                  <a:gd name="T10" fmla="*/ 0 60000 65536"/>
                  <a:gd name="T11" fmla="*/ 0 60000 65536"/>
                  <a:gd name="T12" fmla="*/ 0 w 36"/>
                  <a:gd name="T13" fmla="*/ 0 h 52"/>
                  <a:gd name="T14" fmla="*/ 36 w 36"/>
                  <a:gd name="T15" fmla="*/ 52 h 52"/>
                </a:gdLst>
                <a:ahLst/>
                <a:cxnLst>
                  <a:cxn ang="T8">
                    <a:pos x="T0" y="T1"/>
                  </a:cxn>
                  <a:cxn ang="T9">
                    <a:pos x="T2" y="T3"/>
                  </a:cxn>
                  <a:cxn ang="T10">
                    <a:pos x="T4" y="T5"/>
                  </a:cxn>
                  <a:cxn ang="T11">
                    <a:pos x="T6" y="T7"/>
                  </a:cxn>
                </a:cxnLst>
                <a:rect l="T12" t="T13" r="T14" b="T15"/>
                <a:pathLst>
                  <a:path w="36" h="52">
                    <a:moveTo>
                      <a:pt x="0" y="0"/>
                    </a:moveTo>
                    <a:lnTo>
                      <a:pt x="3" y="52"/>
                    </a:lnTo>
                    <a:lnTo>
                      <a:pt x="36" y="30"/>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0" name="16388388636.8756.756.1255">
                <a:extLst>
                  <a:ext uri="{FF2B5EF4-FFF2-40B4-BE49-F238E27FC236}">
                    <a16:creationId xmlns:a16="http://schemas.microsoft.com/office/drawing/2014/main" id="{222948FF-A954-1FE3-4EEC-8799CC18C374}"/>
                  </a:ext>
                </a:extLst>
              </p:cNvPr>
              <p:cNvSpPr>
                <a:spLocks/>
              </p:cNvSpPr>
              <p:nvPr/>
            </p:nvSpPr>
            <p:spPr bwMode="auto">
              <a:xfrm>
                <a:off x="8141504" y="3986476"/>
                <a:ext cx="98256" cy="105776"/>
              </a:xfrm>
              <a:custGeom>
                <a:avLst/>
                <a:gdLst>
                  <a:gd name="T0" fmla="*/ 0 w 145"/>
                  <a:gd name="T1" fmla="*/ 0 h 139"/>
                  <a:gd name="T2" fmla="*/ 1 w 145"/>
                  <a:gd name="T3" fmla="*/ 0 h 139"/>
                  <a:gd name="T4" fmla="*/ 1 w 145"/>
                  <a:gd name="T5" fmla="*/ 0 h 139"/>
                  <a:gd name="T6" fmla="*/ 1 w 145"/>
                  <a:gd name="T7" fmla="*/ 0 h 139"/>
                  <a:gd name="T8" fmla="*/ 1 w 145"/>
                  <a:gd name="T9" fmla="*/ 0 h 139"/>
                  <a:gd name="T10" fmla="*/ 1 w 145"/>
                  <a:gd name="T11" fmla="*/ 0 h 139"/>
                  <a:gd name="T12" fmla="*/ 1 w 145"/>
                  <a:gd name="T13" fmla="*/ 0 h 139"/>
                  <a:gd name="T14" fmla="*/ 1 w 145"/>
                  <a:gd name="T15" fmla="*/ 0 h 139"/>
                  <a:gd name="T16" fmla="*/ 1 w 145"/>
                  <a:gd name="T17" fmla="*/ 0 h 139"/>
                  <a:gd name="T18" fmla="*/ 1 w 145"/>
                  <a:gd name="T19" fmla="*/ 0 h 139"/>
                  <a:gd name="T20" fmla="*/ 0 w 145"/>
                  <a:gd name="T21" fmla="*/ 0 h 1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5"/>
                  <a:gd name="T34" fmla="*/ 0 h 139"/>
                  <a:gd name="T35" fmla="*/ 145 w 145"/>
                  <a:gd name="T36" fmla="*/ 139 h 1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5" h="139">
                    <a:moveTo>
                      <a:pt x="0" y="95"/>
                    </a:moveTo>
                    <a:lnTo>
                      <a:pt x="31" y="45"/>
                    </a:lnTo>
                    <a:lnTo>
                      <a:pt x="68" y="54"/>
                    </a:lnTo>
                    <a:lnTo>
                      <a:pt x="121" y="0"/>
                    </a:lnTo>
                    <a:lnTo>
                      <a:pt x="145" y="32"/>
                    </a:lnTo>
                    <a:lnTo>
                      <a:pt x="141" y="114"/>
                    </a:lnTo>
                    <a:lnTo>
                      <a:pt x="129" y="80"/>
                    </a:lnTo>
                    <a:lnTo>
                      <a:pt x="115" y="139"/>
                    </a:lnTo>
                    <a:lnTo>
                      <a:pt x="78" y="123"/>
                    </a:lnTo>
                    <a:lnTo>
                      <a:pt x="56" y="62"/>
                    </a:lnTo>
                    <a:lnTo>
                      <a:pt x="0" y="9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1" name="16389386.25637.6252.751.3755">
                <a:extLst>
                  <a:ext uri="{FF2B5EF4-FFF2-40B4-BE49-F238E27FC236}">
                    <a16:creationId xmlns:a16="http://schemas.microsoft.com/office/drawing/2014/main" id="{6A9874FB-FE6F-C865-DD00-4C87888FAB6E}"/>
                  </a:ext>
                </a:extLst>
              </p:cNvPr>
              <p:cNvSpPr>
                <a:spLocks/>
              </p:cNvSpPr>
              <p:nvPr/>
            </p:nvSpPr>
            <p:spPr bwMode="auto">
              <a:xfrm>
                <a:off x="8153620" y="3958881"/>
                <a:ext cx="21535" cy="44457"/>
              </a:xfrm>
              <a:custGeom>
                <a:avLst/>
                <a:gdLst>
                  <a:gd name="T0" fmla="*/ 0 w 33"/>
                  <a:gd name="T1" fmla="*/ 1 h 56"/>
                  <a:gd name="T2" fmla="*/ 0 w 33"/>
                  <a:gd name="T3" fmla="*/ 1 h 56"/>
                  <a:gd name="T4" fmla="*/ 0 w 33"/>
                  <a:gd name="T5" fmla="*/ 0 h 56"/>
                  <a:gd name="T6" fmla="*/ 0 w 33"/>
                  <a:gd name="T7" fmla="*/ 1 h 56"/>
                  <a:gd name="T8" fmla="*/ 0 w 33"/>
                  <a:gd name="T9" fmla="*/ 1 h 56"/>
                  <a:gd name="T10" fmla="*/ 0 60000 65536"/>
                  <a:gd name="T11" fmla="*/ 0 60000 65536"/>
                  <a:gd name="T12" fmla="*/ 0 60000 65536"/>
                  <a:gd name="T13" fmla="*/ 0 60000 65536"/>
                  <a:gd name="T14" fmla="*/ 0 60000 65536"/>
                  <a:gd name="T15" fmla="*/ 0 w 33"/>
                  <a:gd name="T16" fmla="*/ 0 h 56"/>
                  <a:gd name="T17" fmla="*/ 33 w 33"/>
                  <a:gd name="T18" fmla="*/ 56 h 56"/>
                </a:gdLst>
                <a:ahLst/>
                <a:cxnLst>
                  <a:cxn ang="T10">
                    <a:pos x="T0" y="T1"/>
                  </a:cxn>
                  <a:cxn ang="T11">
                    <a:pos x="T2" y="T3"/>
                  </a:cxn>
                  <a:cxn ang="T12">
                    <a:pos x="T4" y="T5"/>
                  </a:cxn>
                  <a:cxn ang="T13">
                    <a:pos x="T6" y="T7"/>
                  </a:cxn>
                  <a:cxn ang="T14">
                    <a:pos x="T8" y="T9"/>
                  </a:cxn>
                </a:cxnLst>
                <a:rect l="T15" t="T16" r="T17" b="T18"/>
                <a:pathLst>
                  <a:path w="33" h="56">
                    <a:moveTo>
                      <a:pt x="0" y="35"/>
                    </a:moveTo>
                    <a:lnTo>
                      <a:pt x="8" y="24"/>
                    </a:lnTo>
                    <a:lnTo>
                      <a:pt x="33" y="0"/>
                    </a:lnTo>
                    <a:lnTo>
                      <a:pt x="22" y="56"/>
                    </a:lnTo>
                    <a:lnTo>
                      <a:pt x="0" y="3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2" name="16390369.75603.12524.87510.8755">
                <a:extLst>
                  <a:ext uri="{FF2B5EF4-FFF2-40B4-BE49-F238E27FC236}">
                    <a16:creationId xmlns:a16="http://schemas.microsoft.com/office/drawing/2014/main" id="{71A321C6-A761-BA40-40CF-4C0276C0693A}"/>
                  </a:ext>
                </a:extLst>
              </p:cNvPr>
              <p:cNvSpPr>
                <a:spLocks/>
              </p:cNvSpPr>
              <p:nvPr/>
            </p:nvSpPr>
            <p:spPr bwMode="auto">
              <a:xfrm>
                <a:off x="7593699" y="3699803"/>
                <a:ext cx="177668" cy="390915"/>
              </a:xfrm>
              <a:custGeom>
                <a:avLst/>
                <a:gdLst>
                  <a:gd name="T0" fmla="*/ 0 w 264"/>
                  <a:gd name="T1" fmla="*/ 0 h 511"/>
                  <a:gd name="T2" fmla="*/ 1 w 264"/>
                  <a:gd name="T3" fmla="*/ 0 h 511"/>
                  <a:gd name="T4" fmla="*/ 1 w 264"/>
                  <a:gd name="T5" fmla="*/ 0 h 511"/>
                  <a:gd name="T6" fmla="*/ 1 w 264"/>
                  <a:gd name="T7" fmla="*/ 0 h 511"/>
                  <a:gd name="T8" fmla="*/ 1 w 264"/>
                  <a:gd name="T9" fmla="*/ 0 h 511"/>
                  <a:gd name="T10" fmla="*/ 1 w 264"/>
                  <a:gd name="T11" fmla="*/ 0 h 511"/>
                  <a:gd name="T12" fmla="*/ 1 w 264"/>
                  <a:gd name="T13" fmla="*/ 0 h 511"/>
                  <a:gd name="T14" fmla="*/ 1 w 264"/>
                  <a:gd name="T15" fmla="*/ 0 h 511"/>
                  <a:gd name="T16" fmla="*/ 1 w 264"/>
                  <a:gd name="T17" fmla="*/ 0 h 511"/>
                  <a:gd name="T18" fmla="*/ 1 w 264"/>
                  <a:gd name="T19" fmla="*/ 0 h 511"/>
                  <a:gd name="T20" fmla="*/ 1 w 264"/>
                  <a:gd name="T21" fmla="*/ 0 h 511"/>
                  <a:gd name="T22" fmla="*/ 1 w 264"/>
                  <a:gd name="T23" fmla="*/ 0 h 511"/>
                  <a:gd name="T24" fmla="*/ 1 w 264"/>
                  <a:gd name="T25" fmla="*/ 0 h 511"/>
                  <a:gd name="T26" fmla="*/ 1 w 264"/>
                  <a:gd name="T27" fmla="*/ 0 h 511"/>
                  <a:gd name="T28" fmla="*/ 1 w 264"/>
                  <a:gd name="T29" fmla="*/ 0 h 511"/>
                  <a:gd name="T30" fmla="*/ 1 w 264"/>
                  <a:gd name="T31" fmla="*/ 0 h 511"/>
                  <a:gd name="T32" fmla="*/ 1 w 264"/>
                  <a:gd name="T33" fmla="*/ 0 h 511"/>
                  <a:gd name="T34" fmla="*/ 1 w 264"/>
                  <a:gd name="T35" fmla="*/ 0 h 511"/>
                  <a:gd name="T36" fmla="*/ 1 w 264"/>
                  <a:gd name="T37" fmla="*/ 0 h 511"/>
                  <a:gd name="T38" fmla="*/ 1 w 264"/>
                  <a:gd name="T39" fmla="*/ 0 h 511"/>
                  <a:gd name="T40" fmla="*/ 1 w 264"/>
                  <a:gd name="T41" fmla="*/ 0 h 511"/>
                  <a:gd name="T42" fmla="*/ 1 w 264"/>
                  <a:gd name="T43" fmla="*/ 0 h 511"/>
                  <a:gd name="T44" fmla="*/ 1 w 264"/>
                  <a:gd name="T45" fmla="*/ 0 h 511"/>
                  <a:gd name="T46" fmla="*/ 1 w 264"/>
                  <a:gd name="T47" fmla="*/ 0 h 511"/>
                  <a:gd name="T48" fmla="*/ 0 w 264"/>
                  <a:gd name="T49" fmla="*/ 0 h 5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4"/>
                  <a:gd name="T76" fmla="*/ 0 h 511"/>
                  <a:gd name="T77" fmla="*/ 264 w 264"/>
                  <a:gd name="T78" fmla="*/ 511 h 5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4" h="511">
                    <a:moveTo>
                      <a:pt x="0" y="82"/>
                    </a:moveTo>
                    <a:lnTo>
                      <a:pt x="18" y="42"/>
                    </a:lnTo>
                    <a:lnTo>
                      <a:pt x="89" y="0"/>
                    </a:lnTo>
                    <a:lnTo>
                      <a:pt x="121" y="40"/>
                    </a:lnTo>
                    <a:lnTo>
                      <a:pt x="111" y="109"/>
                    </a:lnTo>
                    <a:lnTo>
                      <a:pt x="196" y="79"/>
                    </a:lnTo>
                    <a:lnTo>
                      <a:pt x="232" y="109"/>
                    </a:lnTo>
                    <a:lnTo>
                      <a:pt x="264" y="176"/>
                    </a:lnTo>
                    <a:lnTo>
                      <a:pt x="253" y="219"/>
                    </a:lnTo>
                    <a:lnTo>
                      <a:pt x="188" y="216"/>
                    </a:lnTo>
                    <a:lnTo>
                      <a:pt x="165" y="236"/>
                    </a:lnTo>
                    <a:lnTo>
                      <a:pt x="177" y="307"/>
                    </a:lnTo>
                    <a:lnTo>
                      <a:pt x="90" y="245"/>
                    </a:lnTo>
                    <a:lnTo>
                      <a:pt x="55" y="355"/>
                    </a:lnTo>
                    <a:lnTo>
                      <a:pt x="96" y="456"/>
                    </a:lnTo>
                    <a:lnTo>
                      <a:pt x="155" y="491"/>
                    </a:lnTo>
                    <a:lnTo>
                      <a:pt x="123" y="511"/>
                    </a:lnTo>
                    <a:lnTo>
                      <a:pt x="115" y="480"/>
                    </a:lnTo>
                    <a:lnTo>
                      <a:pt x="90" y="480"/>
                    </a:lnTo>
                    <a:lnTo>
                      <a:pt x="24" y="424"/>
                    </a:lnTo>
                    <a:lnTo>
                      <a:pt x="35" y="359"/>
                    </a:lnTo>
                    <a:lnTo>
                      <a:pt x="70" y="300"/>
                    </a:lnTo>
                    <a:lnTo>
                      <a:pt x="23" y="201"/>
                    </a:lnTo>
                    <a:lnTo>
                      <a:pt x="38" y="157"/>
                    </a:lnTo>
                    <a:lnTo>
                      <a:pt x="0" y="8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3" name="16391365.75609.524.1259.6255">
                <a:extLst>
                  <a:ext uri="{FF2B5EF4-FFF2-40B4-BE49-F238E27FC236}">
                    <a16:creationId xmlns:a16="http://schemas.microsoft.com/office/drawing/2014/main" id="{64DA5016-32CE-ED2B-3293-FC1DD3672B45}"/>
                  </a:ext>
                </a:extLst>
              </p:cNvPr>
              <p:cNvSpPr>
                <a:spLocks/>
              </p:cNvSpPr>
              <p:nvPr/>
            </p:nvSpPr>
            <p:spPr bwMode="auto">
              <a:xfrm>
                <a:off x="7697338" y="3635417"/>
                <a:ext cx="156131" cy="380185"/>
              </a:xfrm>
              <a:custGeom>
                <a:avLst/>
                <a:gdLst>
                  <a:gd name="T0" fmla="*/ 0 w 232"/>
                  <a:gd name="T1" fmla="*/ 0 h 497"/>
                  <a:gd name="T2" fmla="*/ 1 w 232"/>
                  <a:gd name="T3" fmla="*/ 0 h 497"/>
                  <a:gd name="T4" fmla="*/ 1 w 232"/>
                  <a:gd name="T5" fmla="*/ 0 h 497"/>
                  <a:gd name="T6" fmla="*/ 1 w 232"/>
                  <a:gd name="T7" fmla="*/ 0 h 497"/>
                  <a:gd name="T8" fmla="*/ 1 w 232"/>
                  <a:gd name="T9" fmla="*/ 0 h 497"/>
                  <a:gd name="T10" fmla="*/ 1 w 232"/>
                  <a:gd name="T11" fmla="*/ 0 h 497"/>
                  <a:gd name="T12" fmla="*/ 1 w 232"/>
                  <a:gd name="T13" fmla="*/ 0 h 497"/>
                  <a:gd name="T14" fmla="*/ 1 w 232"/>
                  <a:gd name="T15" fmla="*/ 0 h 497"/>
                  <a:gd name="T16" fmla="*/ 1 w 232"/>
                  <a:gd name="T17" fmla="*/ 0 h 497"/>
                  <a:gd name="T18" fmla="*/ 1 w 232"/>
                  <a:gd name="T19" fmla="*/ 0 h 497"/>
                  <a:gd name="T20" fmla="*/ 1 w 232"/>
                  <a:gd name="T21" fmla="*/ 0 h 497"/>
                  <a:gd name="T22" fmla="*/ 1 w 232"/>
                  <a:gd name="T23" fmla="*/ 0 h 497"/>
                  <a:gd name="T24" fmla="*/ 1 w 232"/>
                  <a:gd name="T25" fmla="*/ 0 h 497"/>
                  <a:gd name="T26" fmla="*/ 1 w 232"/>
                  <a:gd name="T27" fmla="*/ 0 h 497"/>
                  <a:gd name="T28" fmla="*/ 1 w 232"/>
                  <a:gd name="T29" fmla="*/ 0 h 497"/>
                  <a:gd name="T30" fmla="*/ 1 w 232"/>
                  <a:gd name="T31" fmla="*/ 0 h 497"/>
                  <a:gd name="T32" fmla="*/ 1 w 232"/>
                  <a:gd name="T33" fmla="*/ 0 h 497"/>
                  <a:gd name="T34" fmla="*/ 1 w 232"/>
                  <a:gd name="T35" fmla="*/ 0 h 497"/>
                  <a:gd name="T36" fmla="*/ 0 w 232"/>
                  <a:gd name="T37" fmla="*/ 0 h 4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2"/>
                  <a:gd name="T58" fmla="*/ 0 h 497"/>
                  <a:gd name="T59" fmla="*/ 232 w 232"/>
                  <a:gd name="T60" fmla="*/ 497 h 49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2" h="497">
                    <a:moveTo>
                      <a:pt x="0" y="25"/>
                    </a:moveTo>
                    <a:lnTo>
                      <a:pt x="34" y="77"/>
                    </a:lnTo>
                    <a:lnTo>
                      <a:pt x="79" y="98"/>
                    </a:lnTo>
                    <a:lnTo>
                      <a:pt x="57" y="136"/>
                    </a:lnTo>
                    <a:lnTo>
                      <a:pt x="138" y="202"/>
                    </a:lnTo>
                    <a:lnTo>
                      <a:pt x="174" y="292"/>
                    </a:lnTo>
                    <a:lnTo>
                      <a:pt x="178" y="369"/>
                    </a:lnTo>
                    <a:lnTo>
                      <a:pt x="78" y="435"/>
                    </a:lnTo>
                    <a:lnTo>
                      <a:pt x="94" y="497"/>
                    </a:lnTo>
                    <a:lnTo>
                      <a:pt x="126" y="453"/>
                    </a:lnTo>
                    <a:lnTo>
                      <a:pt x="144" y="465"/>
                    </a:lnTo>
                    <a:lnTo>
                      <a:pt x="152" y="437"/>
                    </a:lnTo>
                    <a:lnTo>
                      <a:pt x="232" y="392"/>
                    </a:lnTo>
                    <a:lnTo>
                      <a:pt x="221" y="267"/>
                    </a:lnTo>
                    <a:lnTo>
                      <a:pt x="114" y="151"/>
                    </a:lnTo>
                    <a:lnTo>
                      <a:pt x="125" y="114"/>
                    </a:lnTo>
                    <a:lnTo>
                      <a:pt x="189" y="58"/>
                    </a:lnTo>
                    <a:lnTo>
                      <a:pt x="99" y="0"/>
                    </a:lnTo>
                    <a:lnTo>
                      <a:pt x="0" y="2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4" name="16392372.75527.87510.513.3755">
                <a:extLst>
                  <a:ext uri="{FF2B5EF4-FFF2-40B4-BE49-F238E27FC236}">
                    <a16:creationId xmlns:a16="http://schemas.microsoft.com/office/drawing/2014/main" id="{03D9283F-88BB-ED29-E067-A93DA82B8A9F}"/>
                  </a:ext>
                </a:extLst>
              </p:cNvPr>
              <p:cNvSpPr>
                <a:spLocks/>
              </p:cNvSpPr>
              <p:nvPr/>
            </p:nvSpPr>
            <p:spPr bwMode="auto">
              <a:xfrm>
                <a:off x="6376953" y="3745793"/>
                <a:ext cx="215353" cy="165565"/>
              </a:xfrm>
              <a:custGeom>
                <a:avLst/>
                <a:gdLst>
                  <a:gd name="T0" fmla="*/ 0 w 322"/>
                  <a:gd name="T1" fmla="*/ 1 h 216"/>
                  <a:gd name="T2" fmla="*/ 0 w 322"/>
                  <a:gd name="T3" fmla="*/ 1 h 216"/>
                  <a:gd name="T4" fmla="*/ 0 w 322"/>
                  <a:gd name="T5" fmla="*/ 1 h 216"/>
                  <a:gd name="T6" fmla="*/ 0 w 322"/>
                  <a:gd name="T7" fmla="*/ 1 h 216"/>
                  <a:gd name="T8" fmla="*/ 0 w 322"/>
                  <a:gd name="T9" fmla="*/ 1 h 216"/>
                  <a:gd name="T10" fmla="*/ 0 w 322"/>
                  <a:gd name="T11" fmla="*/ 0 h 216"/>
                  <a:gd name="T12" fmla="*/ 0 w 322"/>
                  <a:gd name="T13" fmla="*/ 1 h 216"/>
                  <a:gd name="T14" fmla="*/ 0 w 322"/>
                  <a:gd name="T15" fmla="*/ 1 h 216"/>
                  <a:gd name="T16" fmla="*/ 0 w 322"/>
                  <a:gd name="T17" fmla="*/ 1 h 216"/>
                  <a:gd name="T18" fmla="*/ 0 w 322"/>
                  <a:gd name="T19" fmla="*/ 1 h 2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2"/>
                  <a:gd name="T31" fmla="*/ 0 h 216"/>
                  <a:gd name="T32" fmla="*/ 322 w 322"/>
                  <a:gd name="T33" fmla="*/ 216 h 2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2" h="216">
                    <a:moveTo>
                      <a:pt x="0" y="216"/>
                    </a:moveTo>
                    <a:lnTo>
                      <a:pt x="85" y="168"/>
                    </a:lnTo>
                    <a:lnTo>
                      <a:pt x="70" y="145"/>
                    </a:lnTo>
                    <a:lnTo>
                      <a:pt x="95" y="117"/>
                    </a:lnTo>
                    <a:lnTo>
                      <a:pt x="180" y="24"/>
                    </a:lnTo>
                    <a:lnTo>
                      <a:pt x="287" y="0"/>
                    </a:lnTo>
                    <a:lnTo>
                      <a:pt x="322" y="84"/>
                    </a:lnTo>
                    <a:lnTo>
                      <a:pt x="294" y="117"/>
                    </a:lnTo>
                    <a:lnTo>
                      <a:pt x="172" y="175"/>
                    </a:lnTo>
                    <a:lnTo>
                      <a:pt x="0" y="21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5" name="16393375.5526.8757.7555">
                <a:extLst>
                  <a:ext uri="{FF2B5EF4-FFF2-40B4-BE49-F238E27FC236}">
                    <a16:creationId xmlns:a16="http://schemas.microsoft.com/office/drawing/2014/main" id="{EBF26D0D-BC88-DC76-3B7E-C6BCEF36D12C}"/>
                  </a:ext>
                </a:extLst>
              </p:cNvPr>
              <p:cNvSpPr>
                <a:spLocks/>
              </p:cNvSpPr>
              <p:nvPr/>
            </p:nvSpPr>
            <p:spPr bwMode="auto">
              <a:xfrm>
                <a:off x="6359455" y="3790251"/>
                <a:ext cx="80758" cy="121107"/>
              </a:xfrm>
              <a:custGeom>
                <a:avLst/>
                <a:gdLst>
                  <a:gd name="T0" fmla="*/ 0 w 121"/>
                  <a:gd name="T1" fmla="*/ 1 h 158"/>
                  <a:gd name="T2" fmla="*/ 0 w 121"/>
                  <a:gd name="T3" fmla="*/ 1 h 158"/>
                  <a:gd name="T4" fmla="*/ 0 w 121"/>
                  <a:gd name="T5" fmla="*/ 1 h 158"/>
                  <a:gd name="T6" fmla="*/ 0 w 121"/>
                  <a:gd name="T7" fmla="*/ 1 h 158"/>
                  <a:gd name="T8" fmla="*/ 0 w 121"/>
                  <a:gd name="T9" fmla="*/ 1 h 158"/>
                  <a:gd name="T10" fmla="*/ 0 w 121"/>
                  <a:gd name="T11" fmla="*/ 1 h 158"/>
                  <a:gd name="T12" fmla="*/ 0 w 121"/>
                  <a:gd name="T13" fmla="*/ 0 h 158"/>
                  <a:gd name="T14" fmla="*/ 0 w 121"/>
                  <a:gd name="T15" fmla="*/ 1 h 158"/>
                  <a:gd name="T16" fmla="*/ 0 60000 65536"/>
                  <a:gd name="T17" fmla="*/ 0 60000 65536"/>
                  <a:gd name="T18" fmla="*/ 0 60000 65536"/>
                  <a:gd name="T19" fmla="*/ 0 60000 65536"/>
                  <a:gd name="T20" fmla="*/ 0 60000 65536"/>
                  <a:gd name="T21" fmla="*/ 0 60000 65536"/>
                  <a:gd name="T22" fmla="*/ 0 60000 65536"/>
                  <a:gd name="T23" fmla="*/ 0 60000 65536"/>
                  <a:gd name="T24" fmla="*/ 0 w 121"/>
                  <a:gd name="T25" fmla="*/ 0 h 158"/>
                  <a:gd name="T26" fmla="*/ 121 w 121"/>
                  <a:gd name="T27" fmla="*/ 158 h 1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1" h="158">
                    <a:moveTo>
                      <a:pt x="0" y="32"/>
                    </a:moveTo>
                    <a:lnTo>
                      <a:pt x="26" y="158"/>
                    </a:lnTo>
                    <a:lnTo>
                      <a:pt x="111" y="110"/>
                    </a:lnTo>
                    <a:lnTo>
                      <a:pt x="96" y="87"/>
                    </a:lnTo>
                    <a:lnTo>
                      <a:pt x="121" y="59"/>
                    </a:lnTo>
                    <a:lnTo>
                      <a:pt x="121" y="24"/>
                    </a:lnTo>
                    <a:lnTo>
                      <a:pt x="60" y="0"/>
                    </a:lnTo>
                    <a:lnTo>
                      <a:pt x="0" y="3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6" name="16394440490.521.37522.6255">
                <a:extLst>
                  <a:ext uri="{FF2B5EF4-FFF2-40B4-BE49-F238E27FC236}">
                    <a16:creationId xmlns:a16="http://schemas.microsoft.com/office/drawing/2014/main" id="{D65D3221-A392-F615-C930-339F68273128}"/>
                  </a:ext>
                </a:extLst>
              </p:cNvPr>
              <p:cNvSpPr>
                <a:spLocks/>
              </p:cNvSpPr>
              <p:nvPr/>
            </p:nvSpPr>
            <p:spPr bwMode="auto">
              <a:xfrm>
                <a:off x="5769923" y="4806631"/>
                <a:ext cx="367446" cy="335727"/>
              </a:xfrm>
              <a:custGeom>
                <a:avLst/>
                <a:gdLst>
                  <a:gd name="T0" fmla="*/ 0 w 546"/>
                  <a:gd name="T1" fmla="*/ 0 h 439"/>
                  <a:gd name="T2" fmla="*/ 1 w 546"/>
                  <a:gd name="T3" fmla="*/ 0 h 439"/>
                  <a:gd name="T4" fmla="*/ 1 w 546"/>
                  <a:gd name="T5" fmla="*/ 0 h 439"/>
                  <a:gd name="T6" fmla="*/ 1 w 546"/>
                  <a:gd name="T7" fmla="*/ 0 h 439"/>
                  <a:gd name="T8" fmla="*/ 1 w 546"/>
                  <a:gd name="T9" fmla="*/ 0 h 439"/>
                  <a:gd name="T10" fmla="*/ 1 w 546"/>
                  <a:gd name="T11" fmla="*/ 0 h 439"/>
                  <a:gd name="T12" fmla="*/ 1 w 546"/>
                  <a:gd name="T13" fmla="*/ 0 h 439"/>
                  <a:gd name="T14" fmla="*/ 1 w 546"/>
                  <a:gd name="T15" fmla="*/ 0 h 439"/>
                  <a:gd name="T16" fmla="*/ 1 w 546"/>
                  <a:gd name="T17" fmla="*/ 0 h 439"/>
                  <a:gd name="T18" fmla="*/ 1 w 546"/>
                  <a:gd name="T19" fmla="*/ 0 h 439"/>
                  <a:gd name="T20" fmla="*/ 1 w 546"/>
                  <a:gd name="T21" fmla="*/ 0 h 439"/>
                  <a:gd name="T22" fmla="*/ 1 w 546"/>
                  <a:gd name="T23" fmla="*/ 0 h 439"/>
                  <a:gd name="T24" fmla="*/ 1 w 546"/>
                  <a:gd name="T25" fmla="*/ 0 h 439"/>
                  <a:gd name="T26" fmla="*/ 1 w 546"/>
                  <a:gd name="T27" fmla="*/ 0 h 439"/>
                  <a:gd name="T28" fmla="*/ 1 w 546"/>
                  <a:gd name="T29" fmla="*/ 0 h 439"/>
                  <a:gd name="T30" fmla="*/ 1 w 546"/>
                  <a:gd name="T31" fmla="*/ 0 h 439"/>
                  <a:gd name="T32" fmla="*/ 1 w 546"/>
                  <a:gd name="T33" fmla="*/ 0 h 439"/>
                  <a:gd name="T34" fmla="*/ 1 w 546"/>
                  <a:gd name="T35" fmla="*/ 0 h 439"/>
                  <a:gd name="T36" fmla="*/ 1 w 546"/>
                  <a:gd name="T37" fmla="*/ 0 h 439"/>
                  <a:gd name="T38" fmla="*/ 1 w 546"/>
                  <a:gd name="T39" fmla="*/ 0 h 439"/>
                  <a:gd name="T40" fmla="*/ 1 w 546"/>
                  <a:gd name="T41" fmla="*/ 0 h 439"/>
                  <a:gd name="T42" fmla="*/ 1 w 546"/>
                  <a:gd name="T43" fmla="*/ 0 h 439"/>
                  <a:gd name="T44" fmla="*/ 1 w 546"/>
                  <a:gd name="T45" fmla="*/ 0 h 439"/>
                  <a:gd name="T46" fmla="*/ 1 w 546"/>
                  <a:gd name="T47" fmla="*/ 0 h 439"/>
                  <a:gd name="T48" fmla="*/ 1 w 546"/>
                  <a:gd name="T49" fmla="*/ 0 h 439"/>
                  <a:gd name="T50" fmla="*/ 0 w 546"/>
                  <a:gd name="T51" fmla="*/ 0 h 4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46"/>
                  <a:gd name="T79" fmla="*/ 0 h 439"/>
                  <a:gd name="T80" fmla="*/ 546 w 546"/>
                  <a:gd name="T81" fmla="*/ 439 h 4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46" h="439">
                    <a:moveTo>
                      <a:pt x="0" y="231"/>
                    </a:moveTo>
                    <a:lnTo>
                      <a:pt x="19" y="216"/>
                    </a:lnTo>
                    <a:lnTo>
                      <a:pt x="43" y="245"/>
                    </a:lnTo>
                    <a:lnTo>
                      <a:pt x="85" y="245"/>
                    </a:lnTo>
                    <a:lnTo>
                      <a:pt x="114" y="224"/>
                    </a:lnTo>
                    <a:lnTo>
                      <a:pt x="114" y="88"/>
                    </a:lnTo>
                    <a:lnTo>
                      <a:pt x="143" y="123"/>
                    </a:lnTo>
                    <a:lnTo>
                      <a:pt x="142" y="160"/>
                    </a:lnTo>
                    <a:lnTo>
                      <a:pt x="188" y="158"/>
                    </a:lnTo>
                    <a:lnTo>
                      <a:pt x="228" y="117"/>
                    </a:lnTo>
                    <a:lnTo>
                      <a:pt x="301" y="117"/>
                    </a:lnTo>
                    <a:lnTo>
                      <a:pt x="427" y="0"/>
                    </a:lnTo>
                    <a:lnTo>
                      <a:pt x="503" y="17"/>
                    </a:lnTo>
                    <a:lnTo>
                      <a:pt x="515" y="125"/>
                    </a:lnTo>
                    <a:lnTo>
                      <a:pt x="480" y="156"/>
                    </a:lnTo>
                    <a:lnTo>
                      <a:pt x="502" y="179"/>
                    </a:lnTo>
                    <a:lnTo>
                      <a:pt x="519" y="160"/>
                    </a:lnTo>
                    <a:lnTo>
                      <a:pt x="546" y="160"/>
                    </a:lnTo>
                    <a:lnTo>
                      <a:pt x="532" y="224"/>
                    </a:lnTo>
                    <a:lnTo>
                      <a:pt x="452" y="323"/>
                    </a:lnTo>
                    <a:lnTo>
                      <a:pt x="353" y="409"/>
                    </a:lnTo>
                    <a:lnTo>
                      <a:pt x="279" y="438"/>
                    </a:lnTo>
                    <a:lnTo>
                      <a:pt x="65" y="439"/>
                    </a:lnTo>
                    <a:lnTo>
                      <a:pt x="47" y="390"/>
                    </a:lnTo>
                    <a:lnTo>
                      <a:pt x="55" y="351"/>
                    </a:lnTo>
                    <a:lnTo>
                      <a:pt x="0" y="23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7" name="16395413483.7520.12517.55">
                <a:extLst>
                  <a:ext uri="{FF2B5EF4-FFF2-40B4-BE49-F238E27FC236}">
                    <a16:creationId xmlns:a16="http://schemas.microsoft.com/office/drawing/2014/main" id="{6121DE84-FAD2-7BAF-006F-EF26ECCA340B}"/>
                  </a:ext>
                </a:extLst>
              </p:cNvPr>
              <p:cNvSpPr>
                <a:spLocks/>
              </p:cNvSpPr>
              <p:nvPr/>
            </p:nvSpPr>
            <p:spPr bwMode="auto">
              <a:xfrm>
                <a:off x="5660902" y="4380457"/>
                <a:ext cx="283998" cy="317331"/>
              </a:xfrm>
              <a:custGeom>
                <a:avLst/>
                <a:gdLst>
                  <a:gd name="T0" fmla="*/ 0 w 422"/>
                  <a:gd name="T1" fmla="*/ 1 h 414"/>
                  <a:gd name="T2" fmla="*/ 1 w 422"/>
                  <a:gd name="T3" fmla="*/ 1 h 414"/>
                  <a:gd name="T4" fmla="*/ 1 w 422"/>
                  <a:gd name="T5" fmla="*/ 1 h 414"/>
                  <a:gd name="T6" fmla="*/ 1 w 422"/>
                  <a:gd name="T7" fmla="*/ 1 h 414"/>
                  <a:gd name="T8" fmla="*/ 1 w 422"/>
                  <a:gd name="T9" fmla="*/ 1 h 414"/>
                  <a:gd name="T10" fmla="*/ 1 w 422"/>
                  <a:gd name="T11" fmla="*/ 1 h 414"/>
                  <a:gd name="T12" fmla="*/ 1 w 422"/>
                  <a:gd name="T13" fmla="*/ 1 h 414"/>
                  <a:gd name="T14" fmla="*/ 1 w 422"/>
                  <a:gd name="T15" fmla="*/ 1 h 414"/>
                  <a:gd name="T16" fmla="*/ 1 w 422"/>
                  <a:gd name="T17" fmla="*/ 1 h 414"/>
                  <a:gd name="T18" fmla="*/ 1 w 422"/>
                  <a:gd name="T19" fmla="*/ 1 h 414"/>
                  <a:gd name="T20" fmla="*/ 1 w 422"/>
                  <a:gd name="T21" fmla="*/ 1 h 414"/>
                  <a:gd name="T22" fmla="*/ 1 w 422"/>
                  <a:gd name="T23" fmla="*/ 1 h 414"/>
                  <a:gd name="T24" fmla="*/ 1 w 422"/>
                  <a:gd name="T25" fmla="*/ 1 h 414"/>
                  <a:gd name="T26" fmla="*/ 1 w 422"/>
                  <a:gd name="T27" fmla="*/ 1 h 414"/>
                  <a:gd name="T28" fmla="*/ 1 w 422"/>
                  <a:gd name="T29" fmla="*/ 0 h 414"/>
                  <a:gd name="T30" fmla="*/ 1 w 422"/>
                  <a:gd name="T31" fmla="*/ 1 h 414"/>
                  <a:gd name="T32" fmla="*/ 1 w 422"/>
                  <a:gd name="T33" fmla="*/ 1 h 414"/>
                  <a:gd name="T34" fmla="*/ 0 w 422"/>
                  <a:gd name="T35" fmla="*/ 1 h 4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2"/>
                  <a:gd name="T55" fmla="*/ 0 h 414"/>
                  <a:gd name="T56" fmla="*/ 422 w 422"/>
                  <a:gd name="T57" fmla="*/ 414 h 4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2" h="414">
                    <a:moveTo>
                      <a:pt x="0" y="388"/>
                    </a:moveTo>
                    <a:lnTo>
                      <a:pt x="55" y="374"/>
                    </a:lnTo>
                    <a:lnTo>
                      <a:pt x="328" y="414"/>
                    </a:lnTo>
                    <a:lnTo>
                      <a:pt x="389" y="396"/>
                    </a:lnTo>
                    <a:lnTo>
                      <a:pt x="348" y="364"/>
                    </a:lnTo>
                    <a:lnTo>
                      <a:pt x="348" y="239"/>
                    </a:lnTo>
                    <a:lnTo>
                      <a:pt x="422" y="239"/>
                    </a:lnTo>
                    <a:lnTo>
                      <a:pt x="417" y="170"/>
                    </a:lnTo>
                    <a:lnTo>
                      <a:pt x="348" y="177"/>
                    </a:lnTo>
                    <a:lnTo>
                      <a:pt x="341" y="58"/>
                    </a:lnTo>
                    <a:lnTo>
                      <a:pt x="310" y="36"/>
                    </a:lnTo>
                    <a:lnTo>
                      <a:pt x="267" y="38"/>
                    </a:lnTo>
                    <a:lnTo>
                      <a:pt x="256" y="73"/>
                    </a:lnTo>
                    <a:lnTo>
                      <a:pt x="209" y="77"/>
                    </a:lnTo>
                    <a:lnTo>
                      <a:pt x="154" y="0"/>
                    </a:lnTo>
                    <a:lnTo>
                      <a:pt x="27" y="16"/>
                    </a:lnTo>
                    <a:lnTo>
                      <a:pt x="73" y="173"/>
                    </a:lnTo>
                    <a:lnTo>
                      <a:pt x="0" y="38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8" name="16396411.375484.251.6251.3755">
                <a:extLst>
                  <a:ext uri="{FF2B5EF4-FFF2-40B4-BE49-F238E27FC236}">
                    <a16:creationId xmlns:a16="http://schemas.microsoft.com/office/drawing/2014/main" id="{0602C0CE-EC97-1331-82C2-244D733FA752}"/>
                  </a:ext>
                </a:extLst>
              </p:cNvPr>
              <p:cNvSpPr>
                <a:spLocks/>
              </p:cNvSpPr>
              <p:nvPr/>
            </p:nvSpPr>
            <p:spPr bwMode="auto">
              <a:xfrm>
                <a:off x="5668977" y="4354396"/>
                <a:ext cx="22881" cy="26061"/>
              </a:xfrm>
              <a:custGeom>
                <a:avLst/>
                <a:gdLst>
                  <a:gd name="T0" fmla="*/ 0 w 34"/>
                  <a:gd name="T1" fmla="*/ 0 h 36"/>
                  <a:gd name="T2" fmla="*/ 1 w 34"/>
                  <a:gd name="T3" fmla="*/ 0 h 36"/>
                  <a:gd name="T4" fmla="*/ 1 w 34"/>
                  <a:gd name="T5" fmla="*/ 0 h 36"/>
                  <a:gd name="T6" fmla="*/ 0 w 34"/>
                  <a:gd name="T7" fmla="*/ 0 h 36"/>
                  <a:gd name="T8" fmla="*/ 0 60000 65536"/>
                  <a:gd name="T9" fmla="*/ 0 60000 65536"/>
                  <a:gd name="T10" fmla="*/ 0 60000 65536"/>
                  <a:gd name="T11" fmla="*/ 0 60000 65536"/>
                  <a:gd name="T12" fmla="*/ 0 w 34"/>
                  <a:gd name="T13" fmla="*/ 0 h 36"/>
                  <a:gd name="T14" fmla="*/ 34 w 34"/>
                  <a:gd name="T15" fmla="*/ 36 h 36"/>
                </a:gdLst>
                <a:ahLst/>
                <a:cxnLst>
                  <a:cxn ang="T8">
                    <a:pos x="T0" y="T1"/>
                  </a:cxn>
                  <a:cxn ang="T9">
                    <a:pos x="T2" y="T3"/>
                  </a:cxn>
                  <a:cxn ang="T10">
                    <a:pos x="T4" y="T5"/>
                  </a:cxn>
                  <a:cxn ang="T11">
                    <a:pos x="T6" y="T7"/>
                  </a:cxn>
                </a:cxnLst>
                <a:rect l="T12" t="T13" r="T14" b="T15"/>
                <a:pathLst>
                  <a:path w="34" h="36">
                    <a:moveTo>
                      <a:pt x="0" y="11"/>
                    </a:moveTo>
                    <a:lnTo>
                      <a:pt x="12" y="36"/>
                    </a:lnTo>
                    <a:lnTo>
                      <a:pt x="34" y="0"/>
                    </a:lnTo>
                    <a:lnTo>
                      <a:pt x="0" y="1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49" name="16397432.75495.2515135">
                <a:extLst>
                  <a:ext uri="{FF2B5EF4-FFF2-40B4-BE49-F238E27FC236}">
                    <a16:creationId xmlns:a16="http://schemas.microsoft.com/office/drawing/2014/main" id="{E32A82F9-EA6A-FAA4-627E-1355A9317440}"/>
                  </a:ext>
                </a:extLst>
              </p:cNvPr>
              <p:cNvSpPr>
                <a:spLocks/>
              </p:cNvSpPr>
              <p:nvPr/>
            </p:nvSpPr>
            <p:spPr bwMode="auto">
              <a:xfrm>
                <a:off x="5847988" y="4691656"/>
                <a:ext cx="209969" cy="236082"/>
              </a:xfrm>
              <a:custGeom>
                <a:avLst/>
                <a:gdLst>
                  <a:gd name="T0" fmla="*/ 0 w 313"/>
                  <a:gd name="T1" fmla="*/ 0 h 310"/>
                  <a:gd name="T2" fmla="*/ 0 w 313"/>
                  <a:gd name="T3" fmla="*/ 0 h 310"/>
                  <a:gd name="T4" fmla="*/ 0 w 313"/>
                  <a:gd name="T5" fmla="*/ 0 h 310"/>
                  <a:gd name="T6" fmla="*/ 0 w 313"/>
                  <a:gd name="T7" fmla="*/ 0 h 310"/>
                  <a:gd name="T8" fmla="*/ 0 w 313"/>
                  <a:gd name="T9" fmla="*/ 0 h 310"/>
                  <a:gd name="T10" fmla="*/ 0 w 313"/>
                  <a:gd name="T11" fmla="*/ 0 h 310"/>
                  <a:gd name="T12" fmla="*/ 0 w 313"/>
                  <a:gd name="T13" fmla="*/ 0 h 310"/>
                  <a:gd name="T14" fmla="*/ 0 w 313"/>
                  <a:gd name="T15" fmla="*/ 0 h 310"/>
                  <a:gd name="T16" fmla="*/ 0 w 313"/>
                  <a:gd name="T17" fmla="*/ 0 h 310"/>
                  <a:gd name="T18" fmla="*/ 0 w 313"/>
                  <a:gd name="T19" fmla="*/ 0 h 310"/>
                  <a:gd name="T20" fmla="*/ 0 w 313"/>
                  <a:gd name="T21" fmla="*/ 0 h 310"/>
                  <a:gd name="T22" fmla="*/ 0 w 313"/>
                  <a:gd name="T23" fmla="*/ 0 h 310"/>
                  <a:gd name="T24" fmla="*/ 0 w 313"/>
                  <a:gd name="T25" fmla="*/ 0 h 310"/>
                  <a:gd name="T26" fmla="*/ 0 w 313"/>
                  <a:gd name="T27" fmla="*/ 0 h 310"/>
                  <a:gd name="T28" fmla="*/ 0 w 313"/>
                  <a:gd name="T29" fmla="*/ 0 h 3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3"/>
                  <a:gd name="T46" fmla="*/ 0 h 310"/>
                  <a:gd name="T47" fmla="*/ 313 w 313"/>
                  <a:gd name="T48" fmla="*/ 310 h 3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3" h="310">
                    <a:moveTo>
                      <a:pt x="0" y="238"/>
                    </a:moveTo>
                    <a:lnTo>
                      <a:pt x="0" y="145"/>
                    </a:lnTo>
                    <a:lnTo>
                      <a:pt x="34" y="143"/>
                    </a:lnTo>
                    <a:lnTo>
                      <a:pt x="34" y="24"/>
                    </a:lnTo>
                    <a:lnTo>
                      <a:pt x="99" y="10"/>
                    </a:lnTo>
                    <a:lnTo>
                      <a:pt x="120" y="31"/>
                    </a:lnTo>
                    <a:lnTo>
                      <a:pt x="175" y="0"/>
                    </a:lnTo>
                    <a:lnTo>
                      <a:pt x="268" y="128"/>
                    </a:lnTo>
                    <a:lnTo>
                      <a:pt x="313" y="150"/>
                    </a:lnTo>
                    <a:lnTo>
                      <a:pt x="187" y="267"/>
                    </a:lnTo>
                    <a:lnTo>
                      <a:pt x="114" y="267"/>
                    </a:lnTo>
                    <a:lnTo>
                      <a:pt x="74" y="308"/>
                    </a:lnTo>
                    <a:lnTo>
                      <a:pt x="28" y="310"/>
                    </a:lnTo>
                    <a:lnTo>
                      <a:pt x="29" y="273"/>
                    </a:lnTo>
                    <a:lnTo>
                      <a:pt x="0" y="23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0" name="16398407.55083.1252.3755">
                <a:extLst>
                  <a:ext uri="{FF2B5EF4-FFF2-40B4-BE49-F238E27FC236}">
                    <a16:creationId xmlns:a16="http://schemas.microsoft.com/office/drawing/2014/main" id="{086C0128-A3CC-4890-FF73-C2ED53479B6B}"/>
                  </a:ext>
                </a:extLst>
              </p:cNvPr>
              <p:cNvSpPr>
                <a:spLocks/>
              </p:cNvSpPr>
              <p:nvPr/>
            </p:nvSpPr>
            <p:spPr bwMode="auto">
              <a:xfrm>
                <a:off x="6053920" y="4293077"/>
                <a:ext cx="39034" cy="50589"/>
              </a:xfrm>
              <a:custGeom>
                <a:avLst/>
                <a:gdLst>
                  <a:gd name="T0" fmla="*/ 0 w 58"/>
                  <a:gd name="T1" fmla="*/ 1 h 66"/>
                  <a:gd name="T2" fmla="*/ 1 w 58"/>
                  <a:gd name="T3" fmla="*/ 1 h 66"/>
                  <a:gd name="T4" fmla="*/ 1 w 58"/>
                  <a:gd name="T5" fmla="*/ 1 h 66"/>
                  <a:gd name="T6" fmla="*/ 1 w 58"/>
                  <a:gd name="T7" fmla="*/ 1 h 66"/>
                  <a:gd name="T8" fmla="*/ 1 w 58"/>
                  <a:gd name="T9" fmla="*/ 0 h 66"/>
                  <a:gd name="T10" fmla="*/ 0 w 58"/>
                  <a:gd name="T11" fmla="*/ 1 h 66"/>
                  <a:gd name="T12" fmla="*/ 0 60000 65536"/>
                  <a:gd name="T13" fmla="*/ 0 60000 65536"/>
                  <a:gd name="T14" fmla="*/ 0 60000 65536"/>
                  <a:gd name="T15" fmla="*/ 0 60000 65536"/>
                  <a:gd name="T16" fmla="*/ 0 60000 65536"/>
                  <a:gd name="T17" fmla="*/ 0 60000 65536"/>
                  <a:gd name="T18" fmla="*/ 0 w 58"/>
                  <a:gd name="T19" fmla="*/ 0 h 66"/>
                  <a:gd name="T20" fmla="*/ 58 w 58"/>
                  <a:gd name="T21" fmla="*/ 66 h 66"/>
                </a:gdLst>
                <a:ahLst/>
                <a:cxnLst>
                  <a:cxn ang="T12">
                    <a:pos x="T0" y="T1"/>
                  </a:cxn>
                  <a:cxn ang="T13">
                    <a:pos x="T2" y="T3"/>
                  </a:cxn>
                  <a:cxn ang="T14">
                    <a:pos x="T4" y="T5"/>
                  </a:cxn>
                  <a:cxn ang="T15">
                    <a:pos x="T6" y="T7"/>
                  </a:cxn>
                  <a:cxn ang="T16">
                    <a:pos x="T8" y="T9"/>
                  </a:cxn>
                  <a:cxn ang="T17">
                    <a:pos x="T10" y="T11"/>
                  </a:cxn>
                </a:cxnLst>
                <a:rect l="T18" t="T19" r="T20" b="T21"/>
                <a:pathLst>
                  <a:path w="58" h="66">
                    <a:moveTo>
                      <a:pt x="0" y="9"/>
                    </a:moveTo>
                    <a:lnTo>
                      <a:pt x="7" y="34"/>
                    </a:lnTo>
                    <a:lnTo>
                      <a:pt x="20" y="66"/>
                    </a:lnTo>
                    <a:lnTo>
                      <a:pt x="58" y="27"/>
                    </a:lnTo>
                    <a:lnTo>
                      <a:pt x="55" y="0"/>
                    </a:lnTo>
                    <a:lnTo>
                      <a:pt x="0" y="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1" name="16399383479.2518.2510.755">
                <a:extLst>
                  <a:ext uri="{FF2B5EF4-FFF2-40B4-BE49-F238E27FC236}">
                    <a16:creationId xmlns:a16="http://schemas.microsoft.com/office/drawing/2014/main" id="{238B11CA-3325-837C-9D7D-68E85337271D}"/>
                  </a:ext>
                </a:extLst>
              </p:cNvPr>
              <p:cNvSpPr>
                <a:spLocks/>
              </p:cNvSpPr>
              <p:nvPr/>
            </p:nvSpPr>
            <p:spPr bwMode="auto">
              <a:xfrm>
                <a:off x="5589564" y="3908293"/>
                <a:ext cx="172282" cy="286672"/>
              </a:xfrm>
              <a:custGeom>
                <a:avLst/>
                <a:gdLst>
                  <a:gd name="T0" fmla="*/ 0 w 257"/>
                  <a:gd name="T1" fmla="*/ 1 h 374"/>
                  <a:gd name="T2" fmla="*/ 0 w 257"/>
                  <a:gd name="T3" fmla="*/ 1 h 374"/>
                  <a:gd name="T4" fmla="*/ 0 w 257"/>
                  <a:gd name="T5" fmla="*/ 1 h 374"/>
                  <a:gd name="T6" fmla="*/ 0 w 257"/>
                  <a:gd name="T7" fmla="*/ 1 h 374"/>
                  <a:gd name="T8" fmla="*/ 0 w 257"/>
                  <a:gd name="T9" fmla="*/ 1 h 374"/>
                  <a:gd name="T10" fmla="*/ 0 w 257"/>
                  <a:gd name="T11" fmla="*/ 1 h 374"/>
                  <a:gd name="T12" fmla="*/ 0 w 257"/>
                  <a:gd name="T13" fmla="*/ 0 h 374"/>
                  <a:gd name="T14" fmla="*/ 0 w 257"/>
                  <a:gd name="T15" fmla="*/ 1 h 374"/>
                  <a:gd name="T16" fmla="*/ 0 w 257"/>
                  <a:gd name="T17" fmla="*/ 1 h 374"/>
                  <a:gd name="T18" fmla="*/ 0 w 257"/>
                  <a:gd name="T19" fmla="*/ 1 h 374"/>
                  <a:gd name="T20" fmla="*/ 0 w 257"/>
                  <a:gd name="T21" fmla="*/ 1 h 374"/>
                  <a:gd name="T22" fmla="*/ 0 w 257"/>
                  <a:gd name="T23" fmla="*/ 1 h 374"/>
                  <a:gd name="T24" fmla="*/ 0 w 257"/>
                  <a:gd name="T25" fmla="*/ 1 h 374"/>
                  <a:gd name="T26" fmla="*/ 0 w 257"/>
                  <a:gd name="T27" fmla="*/ 1 h 374"/>
                  <a:gd name="T28" fmla="*/ 0 w 257"/>
                  <a:gd name="T29" fmla="*/ 1 h 374"/>
                  <a:gd name="T30" fmla="*/ 0 w 257"/>
                  <a:gd name="T31" fmla="*/ 1 h 374"/>
                  <a:gd name="T32" fmla="*/ 0 w 257"/>
                  <a:gd name="T33" fmla="*/ 1 h 374"/>
                  <a:gd name="T34" fmla="*/ 0 w 257"/>
                  <a:gd name="T35" fmla="*/ 1 h 3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7"/>
                  <a:gd name="T55" fmla="*/ 0 h 374"/>
                  <a:gd name="T56" fmla="*/ 257 w 257"/>
                  <a:gd name="T57" fmla="*/ 374 h 3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7" h="374">
                    <a:moveTo>
                      <a:pt x="0" y="267"/>
                    </a:moveTo>
                    <a:lnTo>
                      <a:pt x="35" y="196"/>
                    </a:lnTo>
                    <a:lnTo>
                      <a:pt x="99" y="206"/>
                    </a:lnTo>
                    <a:lnTo>
                      <a:pt x="167" y="60"/>
                    </a:lnTo>
                    <a:lnTo>
                      <a:pt x="202" y="34"/>
                    </a:lnTo>
                    <a:lnTo>
                      <a:pt x="188" y="5"/>
                    </a:lnTo>
                    <a:lnTo>
                      <a:pt x="204" y="0"/>
                    </a:lnTo>
                    <a:lnTo>
                      <a:pt x="229" y="90"/>
                    </a:lnTo>
                    <a:lnTo>
                      <a:pt x="188" y="107"/>
                    </a:lnTo>
                    <a:lnTo>
                      <a:pt x="235" y="179"/>
                    </a:lnTo>
                    <a:lnTo>
                      <a:pt x="204" y="264"/>
                    </a:lnTo>
                    <a:lnTo>
                      <a:pt x="257" y="328"/>
                    </a:lnTo>
                    <a:lnTo>
                      <a:pt x="251" y="374"/>
                    </a:lnTo>
                    <a:lnTo>
                      <a:pt x="163" y="353"/>
                    </a:lnTo>
                    <a:lnTo>
                      <a:pt x="96" y="352"/>
                    </a:lnTo>
                    <a:lnTo>
                      <a:pt x="41" y="353"/>
                    </a:lnTo>
                    <a:lnTo>
                      <a:pt x="39" y="291"/>
                    </a:lnTo>
                    <a:lnTo>
                      <a:pt x="0" y="26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2" name="16400386487.7513.12518.1255">
                <a:extLst>
                  <a:ext uri="{FF2B5EF4-FFF2-40B4-BE49-F238E27FC236}">
                    <a16:creationId xmlns:a16="http://schemas.microsoft.com/office/drawing/2014/main" id="{246DD442-5321-AAD0-2378-AE30E635EB10}"/>
                  </a:ext>
                </a:extLst>
              </p:cNvPr>
              <p:cNvSpPr>
                <a:spLocks/>
              </p:cNvSpPr>
              <p:nvPr/>
            </p:nvSpPr>
            <p:spPr bwMode="auto">
              <a:xfrm>
                <a:off x="5726851" y="3954283"/>
                <a:ext cx="293419" cy="206954"/>
              </a:xfrm>
              <a:custGeom>
                <a:avLst/>
                <a:gdLst>
                  <a:gd name="T0" fmla="*/ 0 w 436"/>
                  <a:gd name="T1" fmla="*/ 1 h 269"/>
                  <a:gd name="T2" fmla="*/ 1 w 436"/>
                  <a:gd name="T3" fmla="*/ 1 h 269"/>
                  <a:gd name="T4" fmla="*/ 1 w 436"/>
                  <a:gd name="T5" fmla="*/ 1 h 269"/>
                  <a:gd name="T6" fmla="*/ 1 w 436"/>
                  <a:gd name="T7" fmla="*/ 1 h 269"/>
                  <a:gd name="T8" fmla="*/ 1 w 436"/>
                  <a:gd name="T9" fmla="*/ 1 h 269"/>
                  <a:gd name="T10" fmla="*/ 1 w 436"/>
                  <a:gd name="T11" fmla="*/ 0 h 269"/>
                  <a:gd name="T12" fmla="*/ 1 w 436"/>
                  <a:gd name="T13" fmla="*/ 1 h 269"/>
                  <a:gd name="T14" fmla="*/ 1 w 436"/>
                  <a:gd name="T15" fmla="*/ 1 h 269"/>
                  <a:gd name="T16" fmla="*/ 1 w 436"/>
                  <a:gd name="T17" fmla="*/ 1 h 269"/>
                  <a:gd name="T18" fmla="*/ 1 w 436"/>
                  <a:gd name="T19" fmla="*/ 1 h 269"/>
                  <a:gd name="T20" fmla="*/ 1 w 436"/>
                  <a:gd name="T21" fmla="*/ 1 h 269"/>
                  <a:gd name="T22" fmla="*/ 1 w 436"/>
                  <a:gd name="T23" fmla="*/ 1 h 269"/>
                  <a:gd name="T24" fmla="*/ 1 w 436"/>
                  <a:gd name="T25" fmla="*/ 1 h 269"/>
                  <a:gd name="T26" fmla="*/ 1 w 436"/>
                  <a:gd name="T27" fmla="*/ 1 h 269"/>
                  <a:gd name="T28" fmla="*/ 0 w 436"/>
                  <a:gd name="T29" fmla="*/ 1 h 2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6"/>
                  <a:gd name="T46" fmla="*/ 0 h 269"/>
                  <a:gd name="T47" fmla="*/ 436 w 436"/>
                  <a:gd name="T48" fmla="*/ 269 h 2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6" h="269">
                    <a:moveTo>
                      <a:pt x="0" y="205"/>
                    </a:moveTo>
                    <a:lnTo>
                      <a:pt x="31" y="120"/>
                    </a:lnTo>
                    <a:lnTo>
                      <a:pt x="139" y="98"/>
                    </a:lnTo>
                    <a:lnTo>
                      <a:pt x="150" y="70"/>
                    </a:lnTo>
                    <a:lnTo>
                      <a:pt x="200" y="60"/>
                    </a:lnTo>
                    <a:lnTo>
                      <a:pt x="274" y="0"/>
                    </a:lnTo>
                    <a:lnTo>
                      <a:pt x="299" y="71"/>
                    </a:lnTo>
                    <a:lnTo>
                      <a:pt x="355" y="98"/>
                    </a:lnTo>
                    <a:lnTo>
                      <a:pt x="436" y="195"/>
                    </a:lnTo>
                    <a:lnTo>
                      <a:pt x="234" y="223"/>
                    </a:lnTo>
                    <a:lnTo>
                      <a:pt x="168" y="195"/>
                    </a:lnTo>
                    <a:lnTo>
                      <a:pt x="139" y="243"/>
                    </a:lnTo>
                    <a:lnTo>
                      <a:pt x="81" y="243"/>
                    </a:lnTo>
                    <a:lnTo>
                      <a:pt x="53" y="269"/>
                    </a:lnTo>
                    <a:lnTo>
                      <a:pt x="0" y="20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3" name="16401365.25486.2526.514.8755">
                <a:extLst>
                  <a:ext uri="{FF2B5EF4-FFF2-40B4-BE49-F238E27FC236}">
                    <a16:creationId xmlns:a16="http://schemas.microsoft.com/office/drawing/2014/main" id="{1E1B5D34-27D1-7858-70E2-1DA2E6E99546}"/>
                  </a:ext>
                </a:extLst>
              </p:cNvPr>
              <p:cNvSpPr>
                <a:spLocks/>
              </p:cNvSpPr>
              <p:nvPr/>
            </p:nvSpPr>
            <p:spPr bwMode="auto">
              <a:xfrm>
                <a:off x="5701279" y="3627755"/>
                <a:ext cx="240927" cy="418512"/>
              </a:xfrm>
              <a:custGeom>
                <a:avLst/>
                <a:gdLst>
                  <a:gd name="T0" fmla="*/ 0 w 357"/>
                  <a:gd name="T1" fmla="*/ 0 h 547"/>
                  <a:gd name="T2" fmla="*/ 1 w 357"/>
                  <a:gd name="T3" fmla="*/ 0 h 547"/>
                  <a:gd name="T4" fmla="*/ 1 w 357"/>
                  <a:gd name="T5" fmla="*/ 0 h 547"/>
                  <a:gd name="T6" fmla="*/ 1 w 357"/>
                  <a:gd name="T7" fmla="*/ 0 h 547"/>
                  <a:gd name="T8" fmla="*/ 1 w 357"/>
                  <a:gd name="T9" fmla="*/ 0 h 547"/>
                  <a:gd name="T10" fmla="*/ 1 w 357"/>
                  <a:gd name="T11" fmla="*/ 0 h 547"/>
                  <a:gd name="T12" fmla="*/ 1 w 357"/>
                  <a:gd name="T13" fmla="*/ 0 h 547"/>
                  <a:gd name="T14" fmla="*/ 1 w 357"/>
                  <a:gd name="T15" fmla="*/ 0 h 547"/>
                  <a:gd name="T16" fmla="*/ 1 w 357"/>
                  <a:gd name="T17" fmla="*/ 0 h 547"/>
                  <a:gd name="T18" fmla="*/ 1 w 357"/>
                  <a:gd name="T19" fmla="*/ 0 h 547"/>
                  <a:gd name="T20" fmla="*/ 1 w 357"/>
                  <a:gd name="T21" fmla="*/ 0 h 547"/>
                  <a:gd name="T22" fmla="*/ 1 w 357"/>
                  <a:gd name="T23" fmla="*/ 0 h 547"/>
                  <a:gd name="T24" fmla="*/ 1 w 357"/>
                  <a:gd name="T25" fmla="*/ 0 h 547"/>
                  <a:gd name="T26" fmla="*/ 1 w 357"/>
                  <a:gd name="T27" fmla="*/ 0 h 547"/>
                  <a:gd name="T28" fmla="*/ 1 w 357"/>
                  <a:gd name="T29" fmla="*/ 0 h 547"/>
                  <a:gd name="T30" fmla="*/ 1 w 357"/>
                  <a:gd name="T31" fmla="*/ 0 h 547"/>
                  <a:gd name="T32" fmla="*/ 1 w 357"/>
                  <a:gd name="T33" fmla="*/ 0 h 547"/>
                  <a:gd name="T34" fmla="*/ 1 w 357"/>
                  <a:gd name="T35" fmla="*/ 0 h 547"/>
                  <a:gd name="T36" fmla="*/ 1 w 357"/>
                  <a:gd name="T37" fmla="*/ 0 h 547"/>
                  <a:gd name="T38" fmla="*/ 0 w 357"/>
                  <a:gd name="T39" fmla="*/ 0 h 54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57"/>
                  <a:gd name="T61" fmla="*/ 0 h 547"/>
                  <a:gd name="T62" fmla="*/ 357 w 357"/>
                  <a:gd name="T63" fmla="*/ 547 h 54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57" h="547">
                    <a:moveTo>
                      <a:pt x="0" y="313"/>
                    </a:moveTo>
                    <a:lnTo>
                      <a:pt x="52" y="340"/>
                    </a:lnTo>
                    <a:lnTo>
                      <a:pt x="38" y="368"/>
                    </a:lnTo>
                    <a:lnTo>
                      <a:pt x="63" y="458"/>
                    </a:lnTo>
                    <a:lnTo>
                      <a:pt x="22" y="475"/>
                    </a:lnTo>
                    <a:lnTo>
                      <a:pt x="69" y="547"/>
                    </a:lnTo>
                    <a:lnTo>
                      <a:pt x="177" y="525"/>
                    </a:lnTo>
                    <a:lnTo>
                      <a:pt x="188" y="497"/>
                    </a:lnTo>
                    <a:lnTo>
                      <a:pt x="238" y="487"/>
                    </a:lnTo>
                    <a:lnTo>
                      <a:pt x="312" y="427"/>
                    </a:lnTo>
                    <a:lnTo>
                      <a:pt x="286" y="361"/>
                    </a:lnTo>
                    <a:lnTo>
                      <a:pt x="321" y="271"/>
                    </a:lnTo>
                    <a:lnTo>
                      <a:pt x="356" y="265"/>
                    </a:lnTo>
                    <a:lnTo>
                      <a:pt x="357" y="138"/>
                    </a:lnTo>
                    <a:lnTo>
                      <a:pt x="89" y="0"/>
                    </a:lnTo>
                    <a:lnTo>
                      <a:pt x="55" y="14"/>
                    </a:lnTo>
                    <a:lnTo>
                      <a:pt x="55" y="68"/>
                    </a:lnTo>
                    <a:lnTo>
                      <a:pt x="89" y="105"/>
                    </a:lnTo>
                    <a:lnTo>
                      <a:pt x="69" y="225"/>
                    </a:lnTo>
                    <a:lnTo>
                      <a:pt x="0" y="31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4" name="16402397.875483.1251410.55">
                <a:extLst>
                  <a:ext uri="{FF2B5EF4-FFF2-40B4-BE49-F238E27FC236}">
                    <a16:creationId xmlns:a16="http://schemas.microsoft.com/office/drawing/2014/main" id="{B3A701CF-7454-B38B-D079-E5504649979E}"/>
                  </a:ext>
                </a:extLst>
              </p:cNvPr>
              <p:cNvSpPr>
                <a:spLocks/>
              </p:cNvSpPr>
              <p:nvPr/>
            </p:nvSpPr>
            <p:spPr bwMode="auto">
              <a:xfrm>
                <a:off x="5651479" y="4141310"/>
                <a:ext cx="169590" cy="220752"/>
              </a:xfrm>
              <a:custGeom>
                <a:avLst/>
                <a:gdLst>
                  <a:gd name="T0" fmla="*/ 0 w 251"/>
                  <a:gd name="T1" fmla="*/ 0 h 289"/>
                  <a:gd name="T2" fmla="*/ 1 w 251"/>
                  <a:gd name="T3" fmla="*/ 0 h 289"/>
                  <a:gd name="T4" fmla="*/ 1 w 251"/>
                  <a:gd name="T5" fmla="*/ 0 h 289"/>
                  <a:gd name="T6" fmla="*/ 1 w 251"/>
                  <a:gd name="T7" fmla="*/ 0 h 289"/>
                  <a:gd name="T8" fmla="*/ 1 w 251"/>
                  <a:gd name="T9" fmla="*/ 0 h 289"/>
                  <a:gd name="T10" fmla="*/ 1 w 251"/>
                  <a:gd name="T11" fmla="*/ 0 h 289"/>
                  <a:gd name="T12" fmla="*/ 1 w 251"/>
                  <a:gd name="T13" fmla="*/ 0 h 289"/>
                  <a:gd name="T14" fmla="*/ 1 w 251"/>
                  <a:gd name="T15" fmla="*/ 0 h 289"/>
                  <a:gd name="T16" fmla="*/ 1 w 251"/>
                  <a:gd name="T17" fmla="*/ 0 h 289"/>
                  <a:gd name="T18" fmla="*/ 1 w 251"/>
                  <a:gd name="T19" fmla="*/ 0 h 289"/>
                  <a:gd name="T20" fmla="*/ 1 w 251"/>
                  <a:gd name="T21" fmla="*/ 0 h 289"/>
                  <a:gd name="T22" fmla="*/ 1 w 251"/>
                  <a:gd name="T23" fmla="*/ 0 h 289"/>
                  <a:gd name="T24" fmla="*/ 1 w 251"/>
                  <a:gd name="T25" fmla="*/ 0 h 289"/>
                  <a:gd name="T26" fmla="*/ 1 w 251"/>
                  <a:gd name="T27" fmla="*/ 0 h 289"/>
                  <a:gd name="T28" fmla="*/ 1 w 251"/>
                  <a:gd name="T29" fmla="*/ 0 h 289"/>
                  <a:gd name="T30" fmla="*/ 1 w 251"/>
                  <a:gd name="T31" fmla="*/ 0 h 289"/>
                  <a:gd name="T32" fmla="*/ 0 w 251"/>
                  <a:gd name="T33" fmla="*/ 0 h 28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1"/>
                  <a:gd name="T52" fmla="*/ 0 h 289"/>
                  <a:gd name="T53" fmla="*/ 251 w 251"/>
                  <a:gd name="T54" fmla="*/ 289 h 28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1" h="289">
                    <a:moveTo>
                      <a:pt x="0" y="253"/>
                    </a:moveTo>
                    <a:lnTo>
                      <a:pt x="26" y="289"/>
                    </a:lnTo>
                    <a:lnTo>
                      <a:pt x="60" y="278"/>
                    </a:lnTo>
                    <a:lnTo>
                      <a:pt x="111" y="281"/>
                    </a:lnTo>
                    <a:lnTo>
                      <a:pt x="158" y="251"/>
                    </a:lnTo>
                    <a:lnTo>
                      <a:pt x="170" y="193"/>
                    </a:lnTo>
                    <a:lnTo>
                      <a:pt x="220" y="145"/>
                    </a:lnTo>
                    <a:lnTo>
                      <a:pt x="251" y="0"/>
                    </a:lnTo>
                    <a:lnTo>
                      <a:pt x="193" y="0"/>
                    </a:lnTo>
                    <a:lnTo>
                      <a:pt x="165" y="26"/>
                    </a:lnTo>
                    <a:lnTo>
                      <a:pt x="159" y="72"/>
                    </a:lnTo>
                    <a:lnTo>
                      <a:pt x="71" y="51"/>
                    </a:lnTo>
                    <a:lnTo>
                      <a:pt x="68" y="81"/>
                    </a:lnTo>
                    <a:lnTo>
                      <a:pt x="104" y="84"/>
                    </a:lnTo>
                    <a:lnTo>
                      <a:pt x="93" y="198"/>
                    </a:lnTo>
                    <a:lnTo>
                      <a:pt x="49" y="185"/>
                    </a:lnTo>
                    <a:lnTo>
                      <a:pt x="0" y="25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5" name="16403395.5484.7529.62526.255">
                <a:extLst>
                  <a:ext uri="{FF2B5EF4-FFF2-40B4-BE49-F238E27FC236}">
                    <a16:creationId xmlns:a16="http://schemas.microsoft.com/office/drawing/2014/main" id="{E903C45A-923D-CF53-E114-7E8CCA7DE1AB}"/>
                  </a:ext>
                </a:extLst>
              </p:cNvPr>
              <p:cNvSpPr>
                <a:spLocks/>
              </p:cNvSpPr>
              <p:nvPr/>
            </p:nvSpPr>
            <p:spPr bwMode="auto">
              <a:xfrm>
                <a:off x="5677051" y="4104517"/>
                <a:ext cx="426670" cy="467565"/>
              </a:xfrm>
              <a:custGeom>
                <a:avLst/>
                <a:gdLst>
                  <a:gd name="T0" fmla="*/ 0 w 634"/>
                  <a:gd name="T1" fmla="*/ 0 h 611"/>
                  <a:gd name="T2" fmla="*/ 1 w 634"/>
                  <a:gd name="T3" fmla="*/ 0 h 611"/>
                  <a:gd name="T4" fmla="*/ 1 w 634"/>
                  <a:gd name="T5" fmla="*/ 0 h 611"/>
                  <a:gd name="T6" fmla="*/ 1 w 634"/>
                  <a:gd name="T7" fmla="*/ 0 h 611"/>
                  <a:gd name="T8" fmla="*/ 1 w 634"/>
                  <a:gd name="T9" fmla="*/ 0 h 611"/>
                  <a:gd name="T10" fmla="*/ 1 w 634"/>
                  <a:gd name="T11" fmla="*/ 0 h 611"/>
                  <a:gd name="T12" fmla="*/ 1 w 634"/>
                  <a:gd name="T13" fmla="*/ 0 h 611"/>
                  <a:gd name="T14" fmla="*/ 1 w 634"/>
                  <a:gd name="T15" fmla="*/ 0 h 611"/>
                  <a:gd name="T16" fmla="*/ 1 w 634"/>
                  <a:gd name="T17" fmla="*/ 0 h 611"/>
                  <a:gd name="T18" fmla="*/ 1 w 634"/>
                  <a:gd name="T19" fmla="*/ 0 h 611"/>
                  <a:gd name="T20" fmla="*/ 1 w 634"/>
                  <a:gd name="T21" fmla="*/ 0 h 611"/>
                  <a:gd name="T22" fmla="*/ 1 w 634"/>
                  <a:gd name="T23" fmla="*/ 0 h 611"/>
                  <a:gd name="T24" fmla="*/ 1 w 634"/>
                  <a:gd name="T25" fmla="*/ 0 h 611"/>
                  <a:gd name="T26" fmla="*/ 1 w 634"/>
                  <a:gd name="T27" fmla="*/ 0 h 611"/>
                  <a:gd name="T28" fmla="*/ 1 w 634"/>
                  <a:gd name="T29" fmla="*/ 0 h 611"/>
                  <a:gd name="T30" fmla="*/ 1 w 634"/>
                  <a:gd name="T31" fmla="*/ 0 h 611"/>
                  <a:gd name="T32" fmla="*/ 1 w 634"/>
                  <a:gd name="T33" fmla="*/ 0 h 611"/>
                  <a:gd name="T34" fmla="*/ 1 w 634"/>
                  <a:gd name="T35" fmla="*/ 0 h 611"/>
                  <a:gd name="T36" fmla="*/ 1 w 634"/>
                  <a:gd name="T37" fmla="*/ 0 h 611"/>
                  <a:gd name="T38" fmla="*/ 1 w 634"/>
                  <a:gd name="T39" fmla="*/ 0 h 611"/>
                  <a:gd name="T40" fmla="*/ 1 w 634"/>
                  <a:gd name="T41" fmla="*/ 0 h 611"/>
                  <a:gd name="T42" fmla="*/ 1 w 634"/>
                  <a:gd name="T43" fmla="*/ 0 h 611"/>
                  <a:gd name="T44" fmla="*/ 1 w 634"/>
                  <a:gd name="T45" fmla="*/ 0 h 611"/>
                  <a:gd name="T46" fmla="*/ 1 w 634"/>
                  <a:gd name="T47" fmla="*/ 0 h 611"/>
                  <a:gd name="T48" fmla="*/ 1 w 634"/>
                  <a:gd name="T49" fmla="*/ 0 h 611"/>
                  <a:gd name="T50" fmla="*/ 1 w 634"/>
                  <a:gd name="T51" fmla="*/ 0 h 611"/>
                  <a:gd name="T52" fmla="*/ 1 w 634"/>
                  <a:gd name="T53" fmla="*/ 0 h 611"/>
                  <a:gd name="T54" fmla="*/ 1 w 634"/>
                  <a:gd name="T55" fmla="*/ 0 h 611"/>
                  <a:gd name="T56" fmla="*/ 1 w 634"/>
                  <a:gd name="T57" fmla="*/ 0 h 611"/>
                  <a:gd name="T58" fmla="*/ 1 w 634"/>
                  <a:gd name="T59" fmla="*/ 0 h 611"/>
                  <a:gd name="T60" fmla="*/ 1 w 634"/>
                  <a:gd name="T61" fmla="*/ 0 h 611"/>
                  <a:gd name="T62" fmla="*/ 0 w 634"/>
                  <a:gd name="T63" fmla="*/ 0 h 61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34"/>
                  <a:gd name="T97" fmla="*/ 0 h 611"/>
                  <a:gd name="T98" fmla="*/ 634 w 634"/>
                  <a:gd name="T99" fmla="*/ 611 h 61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34" h="611">
                    <a:moveTo>
                      <a:pt x="0" y="362"/>
                    </a:moveTo>
                    <a:lnTo>
                      <a:pt x="2" y="378"/>
                    </a:lnTo>
                    <a:lnTo>
                      <a:pt x="129" y="362"/>
                    </a:lnTo>
                    <a:lnTo>
                      <a:pt x="184" y="439"/>
                    </a:lnTo>
                    <a:lnTo>
                      <a:pt x="231" y="435"/>
                    </a:lnTo>
                    <a:lnTo>
                      <a:pt x="242" y="400"/>
                    </a:lnTo>
                    <a:lnTo>
                      <a:pt x="285" y="398"/>
                    </a:lnTo>
                    <a:lnTo>
                      <a:pt x="316" y="420"/>
                    </a:lnTo>
                    <a:lnTo>
                      <a:pt x="323" y="539"/>
                    </a:lnTo>
                    <a:lnTo>
                      <a:pt x="392" y="532"/>
                    </a:lnTo>
                    <a:lnTo>
                      <a:pt x="583" y="611"/>
                    </a:lnTo>
                    <a:lnTo>
                      <a:pt x="581" y="575"/>
                    </a:lnTo>
                    <a:lnTo>
                      <a:pt x="544" y="559"/>
                    </a:lnTo>
                    <a:lnTo>
                      <a:pt x="551" y="472"/>
                    </a:lnTo>
                    <a:lnTo>
                      <a:pt x="612" y="442"/>
                    </a:lnTo>
                    <a:lnTo>
                      <a:pt x="573" y="383"/>
                    </a:lnTo>
                    <a:lnTo>
                      <a:pt x="568" y="282"/>
                    </a:lnTo>
                    <a:lnTo>
                      <a:pt x="561" y="257"/>
                    </a:lnTo>
                    <a:lnTo>
                      <a:pt x="583" y="213"/>
                    </a:lnTo>
                    <a:lnTo>
                      <a:pt x="612" y="129"/>
                    </a:lnTo>
                    <a:lnTo>
                      <a:pt x="634" y="98"/>
                    </a:lnTo>
                    <a:lnTo>
                      <a:pt x="621" y="50"/>
                    </a:lnTo>
                    <a:lnTo>
                      <a:pt x="510" y="0"/>
                    </a:lnTo>
                    <a:lnTo>
                      <a:pt x="308" y="28"/>
                    </a:lnTo>
                    <a:lnTo>
                      <a:pt x="242" y="0"/>
                    </a:lnTo>
                    <a:lnTo>
                      <a:pt x="213" y="48"/>
                    </a:lnTo>
                    <a:lnTo>
                      <a:pt x="182" y="193"/>
                    </a:lnTo>
                    <a:lnTo>
                      <a:pt x="132" y="241"/>
                    </a:lnTo>
                    <a:lnTo>
                      <a:pt x="120" y="299"/>
                    </a:lnTo>
                    <a:lnTo>
                      <a:pt x="73" y="329"/>
                    </a:lnTo>
                    <a:lnTo>
                      <a:pt x="22" y="326"/>
                    </a:lnTo>
                    <a:lnTo>
                      <a:pt x="0" y="36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6" name="16404343.625512.523.255">
                <a:extLst>
                  <a:ext uri="{FF2B5EF4-FFF2-40B4-BE49-F238E27FC236}">
                    <a16:creationId xmlns:a16="http://schemas.microsoft.com/office/drawing/2014/main" id="{9AB6C187-9458-2F4D-DA43-EC6B00ED8934}"/>
                  </a:ext>
                </a:extLst>
              </p:cNvPr>
              <p:cNvSpPr>
                <a:spLocks/>
              </p:cNvSpPr>
              <p:nvPr/>
            </p:nvSpPr>
            <p:spPr bwMode="auto">
              <a:xfrm>
                <a:off x="6127949" y="3287426"/>
                <a:ext cx="52493" cy="32193"/>
              </a:xfrm>
              <a:custGeom>
                <a:avLst/>
                <a:gdLst>
                  <a:gd name="T0" fmla="*/ 0 w 79"/>
                  <a:gd name="T1" fmla="*/ 1 h 41"/>
                  <a:gd name="T2" fmla="*/ 0 w 79"/>
                  <a:gd name="T3" fmla="*/ 1 h 41"/>
                  <a:gd name="T4" fmla="*/ 0 w 79"/>
                  <a:gd name="T5" fmla="*/ 0 h 41"/>
                  <a:gd name="T6" fmla="*/ 0 w 79"/>
                  <a:gd name="T7" fmla="*/ 1 h 41"/>
                  <a:gd name="T8" fmla="*/ 0 60000 65536"/>
                  <a:gd name="T9" fmla="*/ 0 60000 65536"/>
                  <a:gd name="T10" fmla="*/ 0 60000 65536"/>
                  <a:gd name="T11" fmla="*/ 0 60000 65536"/>
                  <a:gd name="T12" fmla="*/ 0 w 79"/>
                  <a:gd name="T13" fmla="*/ 0 h 41"/>
                  <a:gd name="T14" fmla="*/ 79 w 79"/>
                  <a:gd name="T15" fmla="*/ 41 h 41"/>
                </a:gdLst>
                <a:ahLst/>
                <a:cxnLst>
                  <a:cxn ang="T8">
                    <a:pos x="T0" y="T1"/>
                  </a:cxn>
                  <a:cxn ang="T9">
                    <a:pos x="T2" y="T3"/>
                  </a:cxn>
                  <a:cxn ang="T10">
                    <a:pos x="T4" y="T5"/>
                  </a:cxn>
                  <a:cxn ang="T11">
                    <a:pos x="T6" y="T7"/>
                  </a:cxn>
                </a:cxnLst>
                <a:rect l="T12" t="T13" r="T14" b="T15"/>
                <a:pathLst>
                  <a:path w="79" h="41">
                    <a:moveTo>
                      <a:pt x="0" y="22"/>
                    </a:moveTo>
                    <a:lnTo>
                      <a:pt x="28" y="41"/>
                    </a:lnTo>
                    <a:lnTo>
                      <a:pt x="79" y="0"/>
                    </a:lnTo>
                    <a:lnTo>
                      <a:pt x="0" y="2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7" name="16405383.625468.8759.8753.755">
                <a:extLst>
                  <a:ext uri="{FF2B5EF4-FFF2-40B4-BE49-F238E27FC236}">
                    <a16:creationId xmlns:a16="http://schemas.microsoft.com/office/drawing/2014/main" id="{08F565FA-93E1-AAC3-CEA2-73BFA7A26FAB}"/>
                  </a:ext>
                </a:extLst>
              </p:cNvPr>
              <p:cNvSpPr>
                <a:spLocks/>
              </p:cNvSpPr>
              <p:nvPr/>
            </p:nvSpPr>
            <p:spPr bwMode="auto">
              <a:xfrm>
                <a:off x="5421318" y="3917490"/>
                <a:ext cx="60569" cy="156367"/>
              </a:xfrm>
              <a:custGeom>
                <a:avLst/>
                <a:gdLst>
                  <a:gd name="T0" fmla="*/ 0 w 91"/>
                  <a:gd name="T1" fmla="*/ 0 h 205"/>
                  <a:gd name="T2" fmla="*/ 0 w 91"/>
                  <a:gd name="T3" fmla="*/ 0 h 205"/>
                  <a:gd name="T4" fmla="*/ 0 w 91"/>
                  <a:gd name="T5" fmla="*/ 0 h 205"/>
                  <a:gd name="T6" fmla="*/ 0 w 91"/>
                  <a:gd name="T7" fmla="*/ 0 h 205"/>
                  <a:gd name="T8" fmla="*/ 0 w 91"/>
                  <a:gd name="T9" fmla="*/ 0 h 205"/>
                  <a:gd name="T10" fmla="*/ 0 w 91"/>
                  <a:gd name="T11" fmla="*/ 0 h 205"/>
                  <a:gd name="T12" fmla="*/ 0 w 91"/>
                  <a:gd name="T13" fmla="*/ 0 h 205"/>
                  <a:gd name="T14" fmla="*/ 0 60000 65536"/>
                  <a:gd name="T15" fmla="*/ 0 60000 65536"/>
                  <a:gd name="T16" fmla="*/ 0 60000 65536"/>
                  <a:gd name="T17" fmla="*/ 0 60000 65536"/>
                  <a:gd name="T18" fmla="*/ 0 60000 65536"/>
                  <a:gd name="T19" fmla="*/ 0 60000 65536"/>
                  <a:gd name="T20" fmla="*/ 0 60000 65536"/>
                  <a:gd name="T21" fmla="*/ 0 w 91"/>
                  <a:gd name="T22" fmla="*/ 0 h 205"/>
                  <a:gd name="T23" fmla="*/ 91 w 91"/>
                  <a:gd name="T24" fmla="*/ 205 h 20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 h="205">
                    <a:moveTo>
                      <a:pt x="0" y="49"/>
                    </a:moveTo>
                    <a:lnTo>
                      <a:pt x="36" y="205"/>
                    </a:lnTo>
                    <a:lnTo>
                      <a:pt x="65" y="203"/>
                    </a:lnTo>
                    <a:lnTo>
                      <a:pt x="91" y="23"/>
                    </a:lnTo>
                    <a:lnTo>
                      <a:pt x="65" y="0"/>
                    </a:lnTo>
                    <a:lnTo>
                      <a:pt x="49" y="15"/>
                    </a:lnTo>
                    <a:lnTo>
                      <a:pt x="0" y="4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8" name="16406400.125480.752.1252.55">
                <a:extLst>
                  <a:ext uri="{FF2B5EF4-FFF2-40B4-BE49-F238E27FC236}">
                    <a16:creationId xmlns:a16="http://schemas.microsoft.com/office/drawing/2014/main" id="{74821FF8-388C-9ACD-2802-F3D709E3DDDA}"/>
                  </a:ext>
                </a:extLst>
              </p:cNvPr>
              <p:cNvSpPr>
                <a:spLocks/>
              </p:cNvSpPr>
              <p:nvPr/>
            </p:nvSpPr>
            <p:spPr bwMode="auto">
              <a:xfrm>
                <a:off x="5613793" y="4178101"/>
                <a:ext cx="40378" cy="32193"/>
              </a:xfrm>
              <a:custGeom>
                <a:avLst/>
                <a:gdLst>
                  <a:gd name="T0" fmla="*/ 0 w 61"/>
                  <a:gd name="T1" fmla="*/ 1 h 41"/>
                  <a:gd name="T2" fmla="*/ 0 w 61"/>
                  <a:gd name="T3" fmla="*/ 1 h 41"/>
                  <a:gd name="T4" fmla="*/ 0 w 61"/>
                  <a:gd name="T5" fmla="*/ 0 h 41"/>
                  <a:gd name="T6" fmla="*/ 0 w 61"/>
                  <a:gd name="T7" fmla="*/ 1 h 41"/>
                  <a:gd name="T8" fmla="*/ 0 w 61"/>
                  <a:gd name="T9" fmla="*/ 1 h 41"/>
                  <a:gd name="T10" fmla="*/ 0 60000 65536"/>
                  <a:gd name="T11" fmla="*/ 0 60000 65536"/>
                  <a:gd name="T12" fmla="*/ 0 60000 65536"/>
                  <a:gd name="T13" fmla="*/ 0 60000 65536"/>
                  <a:gd name="T14" fmla="*/ 0 60000 65536"/>
                  <a:gd name="T15" fmla="*/ 0 w 61"/>
                  <a:gd name="T16" fmla="*/ 0 h 41"/>
                  <a:gd name="T17" fmla="*/ 61 w 61"/>
                  <a:gd name="T18" fmla="*/ 41 h 41"/>
                </a:gdLst>
                <a:ahLst/>
                <a:cxnLst>
                  <a:cxn ang="T10">
                    <a:pos x="T0" y="T1"/>
                  </a:cxn>
                  <a:cxn ang="T11">
                    <a:pos x="T2" y="T3"/>
                  </a:cxn>
                  <a:cxn ang="T12">
                    <a:pos x="T4" y="T5"/>
                  </a:cxn>
                  <a:cxn ang="T13">
                    <a:pos x="T6" y="T7"/>
                  </a:cxn>
                  <a:cxn ang="T14">
                    <a:pos x="T8" y="T9"/>
                  </a:cxn>
                </a:cxnLst>
                <a:rect l="T15" t="T16" r="T17" b="T18"/>
                <a:pathLst>
                  <a:path w="61" h="41">
                    <a:moveTo>
                      <a:pt x="0" y="41"/>
                    </a:moveTo>
                    <a:lnTo>
                      <a:pt x="6" y="1"/>
                    </a:lnTo>
                    <a:lnTo>
                      <a:pt x="61" y="0"/>
                    </a:lnTo>
                    <a:lnTo>
                      <a:pt x="61" y="36"/>
                    </a:lnTo>
                    <a:lnTo>
                      <a:pt x="0" y="4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59" name="16407374.25513.37523.875215">
                <a:extLst>
                  <a:ext uri="{FF2B5EF4-FFF2-40B4-BE49-F238E27FC236}">
                    <a16:creationId xmlns:a16="http://schemas.microsoft.com/office/drawing/2014/main" id="{3265EB27-FAAA-161A-1523-03D1FCACAA84}"/>
                  </a:ext>
                </a:extLst>
              </p:cNvPr>
              <p:cNvSpPr>
                <a:spLocks/>
              </p:cNvSpPr>
              <p:nvPr/>
            </p:nvSpPr>
            <p:spPr bwMode="auto">
              <a:xfrm>
                <a:off x="6141408" y="3770322"/>
                <a:ext cx="339182" cy="375586"/>
              </a:xfrm>
              <a:custGeom>
                <a:avLst/>
                <a:gdLst>
                  <a:gd name="T0" fmla="*/ 0 w 504"/>
                  <a:gd name="T1" fmla="*/ 1 h 489"/>
                  <a:gd name="T2" fmla="*/ 1 w 504"/>
                  <a:gd name="T3" fmla="*/ 1 h 489"/>
                  <a:gd name="T4" fmla="*/ 1 w 504"/>
                  <a:gd name="T5" fmla="*/ 1 h 489"/>
                  <a:gd name="T6" fmla="*/ 1 w 504"/>
                  <a:gd name="T7" fmla="*/ 1 h 489"/>
                  <a:gd name="T8" fmla="*/ 1 w 504"/>
                  <a:gd name="T9" fmla="*/ 1 h 489"/>
                  <a:gd name="T10" fmla="*/ 1 w 504"/>
                  <a:gd name="T11" fmla="*/ 0 h 489"/>
                  <a:gd name="T12" fmla="*/ 1 w 504"/>
                  <a:gd name="T13" fmla="*/ 1 h 489"/>
                  <a:gd name="T14" fmla="*/ 1 w 504"/>
                  <a:gd name="T15" fmla="*/ 1 h 489"/>
                  <a:gd name="T16" fmla="*/ 1 w 504"/>
                  <a:gd name="T17" fmla="*/ 1 h 489"/>
                  <a:gd name="T18" fmla="*/ 1 w 504"/>
                  <a:gd name="T19" fmla="*/ 1 h 489"/>
                  <a:gd name="T20" fmla="*/ 1 w 504"/>
                  <a:gd name="T21" fmla="*/ 1 h 489"/>
                  <a:gd name="T22" fmla="*/ 1 w 504"/>
                  <a:gd name="T23" fmla="*/ 1 h 489"/>
                  <a:gd name="T24" fmla="*/ 1 w 504"/>
                  <a:gd name="T25" fmla="*/ 1 h 489"/>
                  <a:gd name="T26" fmla="*/ 1 w 504"/>
                  <a:gd name="T27" fmla="*/ 1 h 489"/>
                  <a:gd name="T28" fmla="*/ 1 w 504"/>
                  <a:gd name="T29" fmla="*/ 1 h 489"/>
                  <a:gd name="T30" fmla="*/ 1 w 504"/>
                  <a:gd name="T31" fmla="*/ 1 h 489"/>
                  <a:gd name="T32" fmla="*/ 1 w 504"/>
                  <a:gd name="T33" fmla="*/ 1 h 489"/>
                  <a:gd name="T34" fmla="*/ 0 w 504"/>
                  <a:gd name="T35" fmla="*/ 1 h 4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04"/>
                  <a:gd name="T55" fmla="*/ 0 h 489"/>
                  <a:gd name="T56" fmla="*/ 504 w 504"/>
                  <a:gd name="T57" fmla="*/ 489 h 4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04" h="489">
                    <a:moveTo>
                      <a:pt x="0" y="342"/>
                    </a:moveTo>
                    <a:lnTo>
                      <a:pt x="39" y="316"/>
                    </a:lnTo>
                    <a:lnTo>
                      <a:pt x="43" y="255"/>
                    </a:lnTo>
                    <a:lnTo>
                      <a:pt x="109" y="174"/>
                    </a:lnTo>
                    <a:lnTo>
                      <a:pt x="135" y="31"/>
                    </a:lnTo>
                    <a:lnTo>
                      <a:pt x="186" y="0"/>
                    </a:lnTo>
                    <a:lnTo>
                      <a:pt x="224" y="97"/>
                    </a:lnTo>
                    <a:lnTo>
                      <a:pt x="335" y="181"/>
                    </a:lnTo>
                    <a:lnTo>
                      <a:pt x="296" y="231"/>
                    </a:lnTo>
                    <a:lnTo>
                      <a:pt x="331" y="243"/>
                    </a:lnTo>
                    <a:lnTo>
                      <a:pt x="372" y="303"/>
                    </a:lnTo>
                    <a:lnTo>
                      <a:pt x="504" y="337"/>
                    </a:lnTo>
                    <a:lnTo>
                      <a:pt x="403" y="437"/>
                    </a:lnTo>
                    <a:lnTo>
                      <a:pt x="298" y="474"/>
                    </a:lnTo>
                    <a:lnTo>
                      <a:pt x="202" y="489"/>
                    </a:lnTo>
                    <a:lnTo>
                      <a:pt x="96" y="452"/>
                    </a:lnTo>
                    <a:lnTo>
                      <a:pt x="59" y="382"/>
                    </a:lnTo>
                    <a:lnTo>
                      <a:pt x="0" y="34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0" name="16408383.125525.62532.255">
                <a:extLst>
                  <a:ext uri="{FF2B5EF4-FFF2-40B4-BE49-F238E27FC236}">
                    <a16:creationId xmlns:a16="http://schemas.microsoft.com/office/drawing/2014/main" id="{CF3A43FA-D7C2-DCDF-E7D7-D42DF3BE006E}"/>
                  </a:ext>
                </a:extLst>
              </p:cNvPr>
              <p:cNvSpPr>
                <a:spLocks/>
              </p:cNvSpPr>
              <p:nvPr/>
            </p:nvSpPr>
            <p:spPr bwMode="auto">
              <a:xfrm>
                <a:off x="6340609" y="3909826"/>
                <a:ext cx="34995" cy="47523"/>
              </a:xfrm>
              <a:custGeom>
                <a:avLst/>
                <a:gdLst>
                  <a:gd name="T0" fmla="*/ 0 w 52"/>
                  <a:gd name="T1" fmla="*/ 1 h 62"/>
                  <a:gd name="T2" fmla="*/ 1 w 52"/>
                  <a:gd name="T3" fmla="*/ 1 h 62"/>
                  <a:gd name="T4" fmla="*/ 1 w 52"/>
                  <a:gd name="T5" fmla="*/ 1 h 62"/>
                  <a:gd name="T6" fmla="*/ 1 w 52"/>
                  <a:gd name="T7" fmla="*/ 1 h 62"/>
                  <a:gd name="T8" fmla="*/ 1 w 52"/>
                  <a:gd name="T9" fmla="*/ 1 h 62"/>
                  <a:gd name="T10" fmla="*/ 1 w 52"/>
                  <a:gd name="T11" fmla="*/ 0 h 62"/>
                  <a:gd name="T12" fmla="*/ 0 w 52"/>
                  <a:gd name="T13" fmla="*/ 1 h 62"/>
                  <a:gd name="T14" fmla="*/ 0 60000 65536"/>
                  <a:gd name="T15" fmla="*/ 0 60000 65536"/>
                  <a:gd name="T16" fmla="*/ 0 60000 65536"/>
                  <a:gd name="T17" fmla="*/ 0 60000 65536"/>
                  <a:gd name="T18" fmla="*/ 0 60000 65536"/>
                  <a:gd name="T19" fmla="*/ 0 60000 65536"/>
                  <a:gd name="T20" fmla="*/ 0 60000 65536"/>
                  <a:gd name="T21" fmla="*/ 0 w 52"/>
                  <a:gd name="T22" fmla="*/ 0 h 62"/>
                  <a:gd name="T23" fmla="*/ 52 w 52"/>
                  <a:gd name="T24" fmla="*/ 62 h 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62">
                    <a:moveTo>
                      <a:pt x="0" y="50"/>
                    </a:moveTo>
                    <a:lnTo>
                      <a:pt x="35" y="62"/>
                    </a:lnTo>
                    <a:lnTo>
                      <a:pt x="50" y="43"/>
                    </a:lnTo>
                    <a:lnTo>
                      <a:pt x="24" y="39"/>
                    </a:lnTo>
                    <a:lnTo>
                      <a:pt x="52" y="23"/>
                    </a:lnTo>
                    <a:lnTo>
                      <a:pt x="39" y="0"/>
                    </a:lnTo>
                    <a:lnTo>
                      <a:pt x="0" y="5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1" name="16409400.125479.75107.755">
                <a:extLst>
                  <a:ext uri="{FF2B5EF4-FFF2-40B4-BE49-F238E27FC236}">
                    <a16:creationId xmlns:a16="http://schemas.microsoft.com/office/drawing/2014/main" id="{81EEF26E-CBFE-0F3E-D29C-AF6001B0AE83}"/>
                  </a:ext>
                </a:extLst>
              </p:cNvPr>
              <p:cNvSpPr>
                <a:spLocks/>
              </p:cNvSpPr>
              <p:nvPr/>
            </p:nvSpPr>
            <p:spPr bwMode="auto">
              <a:xfrm>
                <a:off x="5596294" y="4178101"/>
                <a:ext cx="125175" cy="156367"/>
              </a:xfrm>
              <a:custGeom>
                <a:avLst/>
                <a:gdLst>
                  <a:gd name="T0" fmla="*/ 0 w 185"/>
                  <a:gd name="T1" fmla="*/ 1 h 203"/>
                  <a:gd name="T2" fmla="*/ 1 w 185"/>
                  <a:gd name="T3" fmla="*/ 1 h 203"/>
                  <a:gd name="T4" fmla="*/ 1 w 185"/>
                  <a:gd name="T5" fmla="*/ 1 h 203"/>
                  <a:gd name="T6" fmla="*/ 1 w 185"/>
                  <a:gd name="T7" fmla="*/ 1 h 203"/>
                  <a:gd name="T8" fmla="*/ 1 w 185"/>
                  <a:gd name="T9" fmla="*/ 1 h 203"/>
                  <a:gd name="T10" fmla="*/ 1 w 185"/>
                  <a:gd name="T11" fmla="*/ 0 h 203"/>
                  <a:gd name="T12" fmla="*/ 1 w 185"/>
                  <a:gd name="T13" fmla="*/ 1 h 203"/>
                  <a:gd name="T14" fmla="*/ 1 w 185"/>
                  <a:gd name="T15" fmla="*/ 1 h 203"/>
                  <a:gd name="T16" fmla="*/ 1 w 185"/>
                  <a:gd name="T17" fmla="*/ 1 h 203"/>
                  <a:gd name="T18" fmla="*/ 1 w 185"/>
                  <a:gd name="T19" fmla="*/ 1 h 203"/>
                  <a:gd name="T20" fmla="*/ 1 w 185"/>
                  <a:gd name="T21" fmla="*/ 1 h 203"/>
                  <a:gd name="T22" fmla="*/ 1 w 185"/>
                  <a:gd name="T23" fmla="*/ 1 h 203"/>
                  <a:gd name="T24" fmla="*/ 0 w 185"/>
                  <a:gd name="T25" fmla="*/ 1 h 2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5"/>
                  <a:gd name="T40" fmla="*/ 0 h 203"/>
                  <a:gd name="T41" fmla="*/ 185 w 185"/>
                  <a:gd name="T42" fmla="*/ 203 h 2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5" h="203">
                    <a:moveTo>
                      <a:pt x="0" y="96"/>
                    </a:moveTo>
                    <a:lnTo>
                      <a:pt x="20" y="64"/>
                    </a:lnTo>
                    <a:lnTo>
                      <a:pt x="34" y="67"/>
                    </a:lnTo>
                    <a:lnTo>
                      <a:pt x="24" y="41"/>
                    </a:lnTo>
                    <a:lnTo>
                      <a:pt x="85" y="36"/>
                    </a:lnTo>
                    <a:lnTo>
                      <a:pt x="85" y="0"/>
                    </a:lnTo>
                    <a:lnTo>
                      <a:pt x="152" y="1"/>
                    </a:lnTo>
                    <a:lnTo>
                      <a:pt x="149" y="31"/>
                    </a:lnTo>
                    <a:lnTo>
                      <a:pt x="185" y="34"/>
                    </a:lnTo>
                    <a:lnTo>
                      <a:pt x="174" y="148"/>
                    </a:lnTo>
                    <a:lnTo>
                      <a:pt x="130" y="135"/>
                    </a:lnTo>
                    <a:lnTo>
                      <a:pt x="81" y="203"/>
                    </a:lnTo>
                    <a:lnTo>
                      <a:pt x="0" y="9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2" name="16410381.625444.50.87545">
                <a:extLst>
                  <a:ext uri="{FF2B5EF4-FFF2-40B4-BE49-F238E27FC236}">
                    <a16:creationId xmlns:a16="http://schemas.microsoft.com/office/drawing/2014/main" id="{BE894580-50E2-F931-ECEA-CE79FE4062A6}"/>
                  </a:ext>
                </a:extLst>
              </p:cNvPr>
              <p:cNvSpPr>
                <a:spLocks/>
              </p:cNvSpPr>
              <p:nvPr/>
            </p:nvSpPr>
            <p:spPr bwMode="auto">
              <a:xfrm>
                <a:off x="5025607" y="3885297"/>
                <a:ext cx="65952" cy="15331"/>
              </a:xfrm>
              <a:custGeom>
                <a:avLst/>
                <a:gdLst>
                  <a:gd name="T0" fmla="*/ 0 w 99"/>
                  <a:gd name="T1" fmla="*/ 1 h 20"/>
                  <a:gd name="T2" fmla="*/ 0 w 99"/>
                  <a:gd name="T3" fmla="*/ 0 h 20"/>
                  <a:gd name="T4" fmla="*/ 0 w 99"/>
                  <a:gd name="T5" fmla="*/ 1 h 20"/>
                  <a:gd name="T6" fmla="*/ 0 w 99"/>
                  <a:gd name="T7" fmla="*/ 1 h 20"/>
                  <a:gd name="T8" fmla="*/ 0 60000 65536"/>
                  <a:gd name="T9" fmla="*/ 0 60000 65536"/>
                  <a:gd name="T10" fmla="*/ 0 60000 65536"/>
                  <a:gd name="T11" fmla="*/ 0 60000 65536"/>
                  <a:gd name="T12" fmla="*/ 0 w 99"/>
                  <a:gd name="T13" fmla="*/ 0 h 20"/>
                  <a:gd name="T14" fmla="*/ 99 w 99"/>
                  <a:gd name="T15" fmla="*/ 20 h 20"/>
                </a:gdLst>
                <a:ahLst/>
                <a:cxnLst>
                  <a:cxn ang="T8">
                    <a:pos x="T0" y="T1"/>
                  </a:cxn>
                  <a:cxn ang="T9">
                    <a:pos x="T2" y="T3"/>
                  </a:cxn>
                  <a:cxn ang="T10">
                    <a:pos x="T4" y="T5"/>
                  </a:cxn>
                  <a:cxn ang="T11">
                    <a:pos x="T6" y="T7"/>
                  </a:cxn>
                </a:cxnLst>
                <a:rect l="T12" t="T13" r="T14" b="T15"/>
                <a:pathLst>
                  <a:path w="99" h="20">
                    <a:moveTo>
                      <a:pt x="0" y="20"/>
                    </a:moveTo>
                    <a:lnTo>
                      <a:pt x="4" y="0"/>
                    </a:lnTo>
                    <a:lnTo>
                      <a:pt x="99" y="7"/>
                    </a:lnTo>
                    <a:lnTo>
                      <a:pt x="0" y="2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3" name="16411385.5463.37510.62565">
                <a:extLst>
                  <a:ext uri="{FF2B5EF4-FFF2-40B4-BE49-F238E27FC236}">
                    <a16:creationId xmlns:a16="http://schemas.microsoft.com/office/drawing/2014/main" id="{FBB00D11-8320-369B-D2A4-6BFEE79AED58}"/>
                  </a:ext>
                </a:extLst>
              </p:cNvPr>
              <p:cNvSpPr>
                <a:spLocks/>
              </p:cNvSpPr>
              <p:nvPr/>
            </p:nvSpPr>
            <p:spPr bwMode="auto">
              <a:xfrm>
                <a:off x="5332486" y="3948150"/>
                <a:ext cx="95563" cy="165565"/>
              </a:xfrm>
              <a:custGeom>
                <a:avLst/>
                <a:gdLst>
                  <a:gd name="T0" fmla="*/ 0 w 142"/>
                  <a:gd name="T1" fmla="*/ 1 h 216"/>
                  <a:gd name="T2" fmla="*/ 1 w 142"/>
                  <a:gd name="T3" fmla="*/ 1 h 216"/>
                  <a:gd name="T4" fmla="*/ 1 w 142"/>
                  <a:gd name="T5" fmla="*/ 1 h 216"/>
                  <a:gd name="T6" fmla="*/ 1 w 142"/>
                  <a:gd name="T7" fmla="*/ 0 h 216"/>
                  <a:gd name="T8" fmla="*/ 1 w 142"/>
                  <a:gd name="T9" fmla="*/ 1 h 216"/>
                  <a:gd name="T10" fmla="*/ 1 w 142"/>
                  <a:gd name="T11" fmla="*/ 1 h 216"/>
                  <a:gd name="T12" fmla="*/ 0 w 142"/>
                  <a:gd name="T13" fmla="*/ 1 h 216"/>
                  <a:gd name="T14" fmla="*/ 0 60000 65536"/>
                  <a:gd name="T15" fmla="*/ 0 60000 65536"/>
                  <a:gd name="T16" fmla="*/ 0 60000 65536"/>
                  <a:gd name="T17" fmla="*/ 0 60000 65536"/>
                  <a:gd name="T18" fmla="*/ 0 60000 65536"/>
                  <a:gd name="T19" fmla="*/ 0 60000 65536"/>
                  <a:gd name="T20" fmla="*/ 0 60000 65536"/>
                  <a:gd name="T21" fmla="*/ 0 w 142"/>
                  <a:gd name="T22" fmla="*/ 0 h 216"/>
                  <a:gd name="T23" fmla="*/ 142 w 142"/>
                  <a:gd name="T24" fmla="*/ 216 h 2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 h="216">
                    <a:moveTo>
                      <a:pt x="0" y="204"/>
                    </a:moveTo>
                    <a:lnTo>
                      <a:pt x="13" y="55"/>
                    </a:lnTo>
                    <a:lnTo>
                      <a:pt x="6" y="8"/>
                    </a:lnTo>
                    <a:lnTo>
                      <a:pt x="96" y="0"/>
                    </a:lnTo>
                    <a:lnTo>
                      <a:pt x="142" y="171"/>
                    </a:lnTo>
                    <a:lnTo>
                      <a:pt x="37" y="216"/>
                    </a:lnTo>
                    <a:lnTo>
                      <a:pt x="0" y="20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4" name="16412383.125446.8758.62510.1255">
                <a:extLst>
                  <a:ext uri="{FF2B5EF4-FFF2-40B4-BE49-F238E27FC236}">
                    <a16:creationId xmlns:a16="http://schemas.microsoft.com/office/drawing/2014/main" id="{1E32E2FC-D286-AF28-AF98-91D8F13E9273}"/>
                  </a:ext>
                </a:extLst>
              </p:cNvPr>
              <p:cNvSpPr>
                <a:spLocks/>
              </p:cNvSpPr>
              <p:nvPr/>
            </p:nvSpPr>
            <p:spPr bwMode="auto">
              <a:xfrm>
                <a:off x="5064641" y="3909826"/>
                <a:ext cx="164206" cy="136438"/>
              </a:xfrm>
              <a:custGeom>
                <a:avLst/>
                <a:gdLst>
                  <a:gd name="T0" fmla="*/ 0 w 245"/>
                  <a:gd name="T1" fmla="*/ 0 h 179"/>
                  <a:gd name="T2" fmla="*/ 0 w 245"/>
                  <a:gd name="T3" fmla="*/ 0 h 179"/>
                  <a:gd name="T4" fmla="*/ 0 w 245"/>
                  <a:gd name="T5" fmla="*/ 0 h 179"/>
                  <a:gd name="T6" fmla="*/ 0 w 245"/>
                  <a:gd name="T7" fmla="*/ 0 h 179"/>
                  <a:gd name="T8" fmla="*/ 0 w 245"/>
                  <a:gd name="T9" fmla="*/ 0 h 179"/>
                  <a:gd name="T10" fmla="*/ 0 w 245"/>
                  <a:gd name="T11" fmla="*/ 0 h 179"/>
                  <a:gd name="T12" fmla="*/ 0 w 245"/>
                  <a:gd name="T13" fmla="*/ 0 h 179"/>
                  <a:gd name="T14" fmla="*/ 0 w 245"/>
                  <a:gd name="T15" fmla="*/ 0 h 179"/>
                  <a:gd name="T16" fmla="*/ 0 w 245"/>
                  <a:gd name="T17" fmla="*/ 0 h 179"/>
                  <a:gd name="T18" fmla="*/ 0 w 245"/>
                  <a:gd name="T19" fmla="*/ 0 h 179"/>
                  <a:gd name="T20" fmla="*/ 0 w 245"/>
                  <a:gd name="T21" fmla="*/ 0 h 179"/>
                  <a:gd name="T22" fmla="*/ 0 w 245"/>
                  <a:gd name="T23" fmla="*/ 0 h 179"/>
                  <a:gd name="T24" fmla="*/ 0 w 245"/>
                  <a:gd name="T25" fmla="*/ 0 h 179"/>
                  <a:gd name="T26" fmla="*/ 0 w 245"/>
                  <a:gd name="T27" fmla="*/ 0 h 179"/>
                  <a:gd name="T28" fmla="*/ 0 w 245"/>
                  <a:gd name="T29" fmla="*/ 0 h 179"/>
                  <a:gd name="T30" fmla="*/ 0 w 245"/>
                  <a:gd name="T31" fmla="*/ 0 h 17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5"/>
                  <a:gd name="T49" fmla="*/ 0 h 179"/>
                  <a:gd name="T50" fmla="*/ 245 w 245"/>
                  <a:gd name="T51" fmla="*/ 179 h 17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5" h="179">
                    <a:moveTo>
                      <a:pt x="0" y="59"/>
                    </a:moveTo>
                    <a:lnTo>
                      <a:pt x="41" y="33"/>
                    </a:lnTo>
                    <a:lnTo>
                      <a:pt x="43" y="0"/>
                    </a:lnTo>
                    <a:lnTo>
                      <a:pt x="122" y="7"/>
                    </a:lnTo>
                    <a:lnTo>
                      <a:pt x="144" y="23"/>
                    </a:lnTo>
                    <a:lnTo>
                      <a:pt x="201" y="4"/>
                    </a:lnTo>
                    <a:lnTo>
                      <a:pt x="235" y="84"/>
                    </a:lnTo>
                    <a:lnTo>
                      <a:pt x="245" y="144"/>
                    </a:lnTo>
                    <a:lnTo>
                      <a:pt x="224" y="140"/>
                    </a:lnTo>
                    <a:lnTo>
                      <a:pt x="219" y="173"/>
                    </a:lnTo>
                    <a:lnTo>
                      <a:pt x="183" y="179"/>
                    </a:lnTo>
                    <a:lnTo>
                      <a:pt x="181" y="144"/>
                    </a:lnTo>
                    <a:lnTo>
                      <a:pt x="161" y="143"/>
                    </a:lnTo>
                    <a:lnTo>
                      <a:pt x="128" y="92"/>
                    </a:lnTo>
                    <a:lnTo>
                      <a:pt x="58" y="121"/>
                    </a:lnTo>
                    <a:lnTo>
                      <a:pt x="0" y="5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5" name="16413355.25529.750.752.55">
                <a:extLst>
                  <a:ext uri="{FF2B5EF4-FFF2-40B4-BE49-F238E27FC236}">
                    <a16:creationId xmlns:a16="http://schemas.microsoft.com/office/drawing/2014/main" id="{95C91EDC-5904-03B5-C471-E362133C5B6B}"/>
                  </a:ext>
                </a:extLst>
              </p:cNvPr>
              <p:cNvSpPr>
                <a:spLocks/>
              </p:cNvSpPr>
              <p:nvPr/>
            </p:nvSpPr>
            <p:spPr bwMode="auto">
              <a:xfrm>
                <a:off x="6406562" y="3469855"/>
                <a:ext cx="40378" cy="12265"/>
              </a:xfrm>
              <a:custGeom>
                <a:avLst/>
                <a:gdLst>
                  <a:gd name="T0" fmla="*/ 0 w 61"/>
                  <a:gd name="T1" fmla="*/ 0 h 17"/>
                  <a:gd name="T2" fmla="*/ 0 w 61"/>
                  <a:gd name="T3" fmla="*/ 0 h 17"/>
                  <a:gd name="T4" fmla="*/ 0 w 61"/>
                  <a:gd name="T5" fmla="*/ 0 h 17"/>
                  <a:gd name="T6" fmla="*/ 0 w 61"/>
                  <a:gd name="T7" fmla="*/ 0 h 17"/>
                  <a:gd name="T8" fmla="*/ 0 60000 65536"/>
                  <a:gd name="T9" fmla="*/ 0 60000 65536"/>
                  <a:gd name="T10" fmla="*/ 0 60000 65536"/>
                  <a:gd name="T11" fmla="*/ 0 60000 65536"/>
                  <a:gd name="T12" fmla="*/ 0 w 61"/>
                  <a:gd name="T13" fmla="*/ 0 h 17"/>
                  <a:gd name="T14" fmla="*/ 61 w 61"/>
                  <a:gd name="T15" fmla="*/ 17 h 17"/>
                </a:gdLst>
                <a:ahLst/>
                <a:cxnLst>
                  <a:cxn ang="T8">
                    <a:pos x="T0" y="T1"/>
                  </a:cxn>
                  <a:cxn ang="T9">
                    <a:pos x="T2" y="T3"/>
                  </a:cxn>
                  <a:cxn ang="T10">
                    <a:pos x="T4" y="T5"/>
                  </a:cxn>
                  <a:cxn ang="T11">
                    <a:pos x="T6" y="T7"/>
                  </a:cxn>
                </a:cxnLst>
                <a:rect l="T12" t="T13" r="T14" b="T15"/>
                <a:pathLst>
                  <a:path w="61" h="17">
                    <a:moveTo>
                      <a:pt x="0" y="0"/>
                    </a:moveTo>
                    <a:lnTo>
                      <a:pt x="32" y="17"/>
                    </a:lnTo>
                    <a:lnTo>
                      <a:pt x="61" y="5"/>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6" name="16414348.125514.756.8752.255">
                <a:extLst>
                  <a:ext uri="{FF2B5EF4-FFF2-40B4-BE49-F238E27FC236}">
                    <a16:creationId xmlns:a16="http://schemas.microsoft.com/office/drawing/2014/main" id="{D992358A-6F55-9BEB-86E1-3C3EB8630498}"/>
                  </a:ext>
                </a:extLst>
              </p:cNvPr>
              <p:cNvSpPr>
                <a:spLocks/>
              </p:cNvSpPr>
              <p:nvPr/>
            </p:nvSpPr>
            <p:spPr bwMode="auto">
              <a:xfrm>
                <a:off x="6164288" y="3357945"/>
                <a:ext cx="34995" cy="108844"/>
              </a:xfrm>
              <a:custGeom>
                <a:avLst/>
                <a:gdLst>
                  <a:gd name="T0" fmla="*/ 0 w 53"/>
                  <a:gd name="T1" fmla="*/ 1 h 141"/>
                  <a:gd name="T2" fmla="*/ 0 w 53"/>
                  <a:gd name="T3" fmla="*/ 1 h 141"/>
                  <a:gd name="T4" fmla="*/ 0 w 53"/>
                  <a:gd name="T5" fmla="*/ 1 h 141"/>
                  <a:gd name="T6" fmla="*/ 0 w 53"/>
                  <a:gd name="T7" fmla="*/ 1 h 141"/>
                  <a:gd name="T8" fmla="*/ 0 w 53"/>
                  <a:gd name="T9" fmla="*/ 1 h 141"/>
                  <a:gd name="T10" fmla="*/ 0 w 53"/>
                  <a:gd name="T11" fmla="*/ 1 h 141"/>
                  <a:gd name="T12" fmla="*/ 0 w 53"/>
                  <a:gd name="T13" fmla="*/ 1 h 141"/>
                  <a:gd name="T14" fmla="*/ 0 w 53"/>
                  <a:gd name="T15" fmla="*/ 0 h 141"/>
                  <a:gd name="T16" fmla="*/ 0 w 53"/>
                  <a:gd name="T17" fmla="*/ 1 h 141"/>
                  <a:gd name="T18" fmla="*/ 0 w 53"/>
                  <a:gd name="T19" fmla="*/ 1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3"/>
                  <a:gd name="T31" fmla="*/ 0 h 141"/>
                  <a:gd name="T32" fmla="*/ 53 w 53"/>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3" h="141">
                    <a:moveTo>
                      <a:pt x="0" y="70"/>
                    </a:moveTo>
                    <a:lnTo>
                      <a:pt x="28" y="141"/>
                    </a:lnTo>
                    <a:lnTo>
                      <a:pt x="32" y="139"/>
                    </a:lnTo>
                    <a:lnTo>
                      <a:pt x="47" y="63"/>
                    </a:lnTo>
                    <a:lnTo>
                      <a:pt x="27" y="68"/>
                    </a:lnTo>
                    <a:lnTo>
                      <a:pt x="32" y="35"/>
                    </a:lnTo>
                    <a:lnTo>
                      <a:pt x="49" y="19"/>
                    </a:lnTo>
                    <a:lnTo>
                      <a:pt x="53" y="0"/>
                    </a:lnTo>
                    <a:lnTo>
                      <a:pt x="35" y="2"/>
                    </a:lnTo>
                    <a:lnTo>
                      <a:pt x="0" y="7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7" name="16415386.375455.7510.1258.255">
                <a:extLst>
                  <a:ext uri="{FF2B5EF4-FFF2-40B4-BE49-F238E27FC236}">
                    <a16:creationId xmlns:a16="http://schemas.microsoft.com/office/drawing/2014/main" id="{AD290324-FF2E-2E59-D0C7-C19BFD49C0FC}"/>
                  </a:ext>
                </a:extLst>
              </p:cNvPr>
              <p:cNvSpPr>
                <a:spLocks/>
              </p:cNvSpPr>
              <p:nvPr/>
            </p:nvSpPr>
            <p:spPr bwMode="auto">
              <a:xfrm>
                <a:off x="5208656" y="3960414"/>
                <a:ext cx="133251" cy="160964"/>
              </a:xfrm>
              <a:custGeom>
                <a:avLst/>
                <a:gdLst>
                  <a:gd name="T0" fmla="*/ 0 w 196"/>
                  <a:gd name="T1" fmla="*/ 0 h 211"/>
                  <a:gd name="T2" fmla="*/ 1 w 196"/>
                  <a:gd name="T3" fmla="*/ 0 h 211"/>
                  <a:gd name="T4" fmla="*/ 1 w 196"/>
                  <a:gd name="T5" fmla="*/ 0 h 211"/>
                  <a:gd name="T6" fmla="*/ 1 w 196"/>
                  <a:gd name="T7" fmla="*/ 0 h 211"/>
                  <a:gd name="T8" fmla="*/ 1 w 196"/>
                  <a:gd name="T9" fmla="*/ 0 h 211"/>
                  <a:gd name="T10" fmla="*/ 1 w 196"/>
                  <a:gd name="T11" fmla="*/ 0 h 211"/>
                  <a:gd name="T12" fmla="*/ 1 w 196"/>
                  <a:gd name="T13" fmla="*/ 0 h 211"/>
                  <a:gd name="T14" fmla="*/ 1 w 196"/>
                  <a:gd name="T15" fmla="*/ 0 h 211"/>
                  <a:gd name="T16" fmla="*/ 1 w 196"/>
                  <a:gd name="T17" fmla="*/ 0 h 211"/>
                  <a:gd name="T18" fmla="*/ 1 w 196"/>
                  <a:gd name="T19" fmla="*/ 0 h 211"/>
                  <a:gd name="T20" fmla="*/ 1 w 196"/>
                  <a:gd name="T21" fmla="*/ 0 h 211"/>
                  <a:gd name="T22" fmla="*/ 1 w 196"/>
                  <a:gd name="T23" fmla="*/ 0 h 211"/>
                  <a:gd name="T24" fmla="*/ 0 w 196"/>
                  <a:gd name="T25" fmla="*/ 0 h 2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6"/>
                  <a:gd name="T40" fmla="*/ 0 h 211"/>
                  <a:gd name="T41" fmla="*/ 196 w 196"/>
                  <a:gd name="T42" fmla="*/ 211 h 2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6" h="211">
                    <a:moveTo>
                      <a:pt x="0" y="139"/>
                    </a:moveTo>
                    <a:lnTo>
                      <a:pt x="3" y="107"/>
                    </a:lnTo>
                    <a:lnTo>
                      <a:pt x="8" y="74"/>
                    </a:lnTo>
                    <a:lnTo>
                      <a:pt x="29" y="78"/>
                    </a:lnTo>
                    <a:lnTo>
                      <a:pt x="19" y="18"/>
                    </a:lnTo>
                    <a:lnTo>
                      <a:pt x="77" y="0"/>
                    </a:lnTo>
                    <a:lnTo>
                      <a:pt x="111" y="12"/>
                    </a:lnTo>
                    <a:lnTo>
                      <a:pt x="129" y="33"/>
                    </a:lnTo>
                    <a:lnTo>
                      <a:pt x="196" y="40"/>
                    </a:lnTo>
                    <a:lnTo>
                      <a:pt x="183" y="189"/>
                    </a:lnTo>
                    <a:lnTo>
                      <a:pt x="31" y="211"/>
                    </a:lnTo>
                    <a:lnTo>
                      <a:pt x="36" y="162"/>
                    </a:lnTo>
                    <a:lnTo>
                      <a:pt x="0" y="13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8" name="16416347.875515.8757.56.1255">
                <a:extLst>
                  <a:ext uri="{FF2B5EF4-FFF2-40B4-BE49-F238E27FC236}">
                    <a16:creationId xmlns:a16="http://schemas.microsoft.com/office/drawing/2014/main" id="{5B67AD66-0408-F600-FAAA-314E2B4F26D3}"/>
                  </a:ext>
                </a:extLst>
              </p:cNvPr>
              <p:cNvSpPr>
                <a:spLocks/>
              </p:cNvSpPr>
              <p:nvPr/>
            </p:nvSpPr>
            <p:spPr bwMode="auto">
              <a:xfrm>
                <a:off x="6181786" y="3354880"/>
                <a:ext cx="98256" cy="118041"/>
              </a:xfrm>
              <a:custGeom>
                <a:avLst/>
                <a:gdLst>
                  <a:gd name="T0" fmla="*/ 0 w 145"/>
                  <a:gd name="T1" fmla="*/ 0 h 156"/>
                  <a:gd name="T2" fmla="*/ 1 w 145"/>
                  <a:gd name="T3" fmla="*/ 0 h 156"/>
                  <a:gd name="T4" fmla="*/ 1 w 145"/>
                  <a:gd name="T5" fmla="*/ 0 h 156"/>
                  <a:gd name="T6" fmla="*/ 1 w 145"/>
                  <a:gd name="T7" fmla="*/ 0 h 156"/>
                  <a:gd name="T8" fmla="*/ 1 w 145"/>
                  <a:gd name="T9" fmla="*/ 0 h 156"/>
                  <a:gd name="T10" fmla="*/ 1 w 145"/>
                  <a:gd name="T11" fmla="*/ 0 h 156"/>
                  <a:gd name="T12" fmla="*/ 1 w 145"/>
                  <a:gd name="T13" fmla="*/ 0 h 156"/>
                  <a:gd name="T14" fmla="*/ 1 w 145"/>
                  <a:gd name="T15" fmla="*/ 0 h 156"/>
                  <a:gd name="T16" fmla="*/ 1 w 145"/>
                  <a:gd name="T17" fmla="*/ 0 h 156"/>
                  <a:gd name="T18" fmla="*/ 1 w 145"/>
                  <a:gd name="T19" fmla="*/ 0 h 156"/>
                  <a:gd name="T20" fmla="*/ 1 w 145"/>
                  <a:gd name="T21" fmla="*/ 0 h 156"/>
                  <a:gd name="T22" fmla="*/ 1 w 145"/>
                  <a:gd name="T23" fmla="*/ 0 h 156"/>
                  <a:gd name="T24" fmla="*/ 0 w 145"/>
                  <a:gd name="T25" fmla="*/ 0 h 15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
                  <a:gd name="T40" fmla="*/ 0 h 156"/>
                  <a:gd name="T41" fmla="*/ 145 w 145"/>
                  <a:gd name="T42" fmla="*/ 156 h 15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 h="156">
                    <a:moveTo>
                      <a:pt x="0" y="74"/>
                    </a:moveTo>
                    <a:lnTo>
                      <a:pt x="5" y="41"/>
                    </a:lnTo>
                    <a:lnTo>
                      <a:pt x="22" y="25"/>
                    </a:lnTo>
                    <a:lnTo>
                      <a:pt x="57" y="39"/>
                    </a:lnTo>
                    <a:lnTo>
                      <a:pt x="129" y="0"/>
                    </a:lnTo>
                    <a:lnTo>
                      <a:pt x="145" y="43"/>
                    </a:lnTo>
                    <a:lnTo>
                      <a:pt x="70" y="68"/>
                    </a:lnTo>
                    <a:lnTo>
                      <a:pt x="107" y="102"/>
                    </a:lnTo>
                    <a:lnTo>
                      <a:pt x="87" y="124"/>
                    </a:lnTo>
                    <a:lnTo>
                      <a:pt x="42" y="156"/>
                    </a:lnTo>
                    <a:lnTo>
                      <a:pt x="5" y="145"/>
                    </a:lnTo>
                    <a:lnTo>
                      <a:pt x="20" y="69"/>
                    </a:lnTo>
                    <a:lnTo>
                      <a:pt x="0" y="7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69" name="16417396.375514.7514.875115">
                <a:extLst>
                  <a:ext uri="{FF2B5EF4-FFF2-40B4-BE49-F238E27FC236}">
                    <a16:creationId xmlns:a16="http://schemas.microsoft.com/office/drawing/2014/main" id="{31B01EC4-87BC-D473-90AA-A87FBD12F3F6}"/>
                  </a:ext>
                </a:extLst>
              </p:cNvPr>
              <p:cNvSpPr>
                <a:spLocks/>
              </p:cNvSpPr>
              <p:nvPr/>
            </p:nvSpPr>
            <p:spPr bwMode="auto">
              <a:xfrm>
                <a:off x="6164288" y="4118313"/>
                <a:ext cx="177668" cy="234550"/>
              </a:xfrm>
              <a:custGeom>
                <a:avLst/>
                <a:gdLst>
                  <a:gd name="T0" fmla="*/ 0 w 264"/>
                  <a:gd name="T1" fmla="*/ 0 h 307"/>
                  <a:gd name="T2" fmla="*/ 1 w 264"/>
                  <a:gd name="T3" fmla="*/ 0 h 307"/>
                  <a:gd name="T4" fmla="*/ 0 w 264"/>
                  <a:gd name="T5" fmla="*/ 0 h 307"/>
                  <a:gd name="T6" fmla="*/ 1 w 264"/>
                  <a:gd name="T7" fmla="*/ 0 h 307"/>
                  <a:gd name="T8" fmla="*/ 1 w 264"/>
                  <a:gd name="T9" fmla="*/ 0 h 307"/>
                  <a:gd name="T10" fmla="*/ 1 w 264"/>
                  <a:gd name="T11" fmla="*/ 0 h 307"/>
                  <a:gd name="T12" fmla="*/ 1 w 264"/>
                  <a:gd name="T13" fmla="*/ 0 h 307"/>
                  <a:gd name="T14" fmla="*/ 1 w 264"/>
                  <a:gd name="T15" fmla="*/ 0 h 307"/>
                  <a:gd name="T16" fmla="*/ 1 w 264"/>
                  <a:gd name="T17" fmla="*/ 0 h 307"/>
                  <a:gd name="T18" fmla="*/ 1 w 264"/>
                  <a:gd name="T19" fmla="*/ 0 h 307"/>
                  <a:gd name="T20" fmla="*/ 1 w 264"/>
                  <a:gd name="T21" fmla="*/ 0 h 307"/>
                  <a:gd name="T22" fmla="*/ 1 w 264"/>
                  <a:gd name="T23" fmla="*/ 0 h 307"/>
                  <a:gd name="T24" fmla="*/ 0 w 264"/>
                  <a:gd name="T25" fmla="*/ 0 h 3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4"/>
                  <a:gd name="T40" fmla="*/ 0 h 307"/>
                  <a:gd name="T41" fmla="*/ 264 w 264"/>
                  <a:gd name="T42" fmla="*/ 307 h 3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4" h="307">
                    <a:moveTo>
                      <a:pt x="0" y="19"/>
                    </a:moveTo>
                    <a:lnTo>
                      <a:pt x="36" y="84"/>
                    </a:lnTo>
                    <a:lnTo>
                      <a:pt x="0" y="144"/>
                    </a:lnTo>
                    <a:lnTo>
                      <a:pt x="28" y="161"/>
                    </a:lnTo>
                    <a:lnTo>
                      <a:pt x="9" y="183"/>
                    </a:lnTo>
                    <a:lnTo>
                      <a:pt x="180" y="307"/>
                    </a:lnTo>
                    <a:lnTo>
                      <a:pt x="253" y="208"/>
                    </a:lnTo>
                    <a:lnTo>
                      <a:pt x="237" y="180"/>
                    </a:lnTo>
                    <a:lnTo>
                      <a:pt x="237" y="58"/>
                    </a:lnTo>
                    <a:lnTo>
                      <a:pt x="264" y="22"/>
                    </a:lnTo>
                    <a:lnTo>
                      <a:pt x="168" y="37"/>
                    </a:lnTo>
                    <a:lnTo>
                      <a:pt x="62" y="0"/>
                    </a:lnTo>
                    <a:lnTo>
                      <a:pt x="0" y="1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0" name="16418353.875532.252.52.55">
                <a:extLst>
                  <a:ext uri="{FF2B5EF4-FFF2-40B4-BE49-F238E27FC236}">
                    <a16:creationId xmlns:a16="http://schemas.microsoft.com/office/drawing/2014/main" id="{DE62CE64-BE7C-0D53-EBB5-3F0320730CB7}"/>
                  </a:ext>
                </a:extLst>
              </p:cNvPr>
              <p:cNvSpPr>
                <a:spLocks/>
              </p:cNvSpPr>
              <p:nvPr/>
            </p:nvSpPr>
            <p:spPr bwMode="auto">
              <a:xfrm>
                <a:off x="6446939" y="3448392"/>
                <a:ext cx="40378" cy="39858"/>
              </a:xfrm>
              <a:custGeom>
                <a:avLst/>
                <a:gdLst>
                  <a:gd name="T0" fmla="*/ 0 w 60"/>
                  <a:gd name="T1" fmla="*/ 1 h 51"/>
                  <a:gd name="T2" fmla="*/ 1 w 60"/>
                  <a:gd name="T3" fmla="*/ 0 h 51"/>
                  <a:gd name="T4" fmla="*/ 1 w 60"/>
                  <a:gd name="T5" fmla="*/ 1 h 51"/>
                  <a:gd name="T6" fmla="*/ 0 w 60"/>
                  <a:gd name="T7" fmla="*/ 1 h 51"/>
                  <a:gd name="T8" fmla="*/ 0 60000 65536"/>
                  <a:gd name="T9" fmla="*/ 0 60000 65536"/>
                  <a:gd name="T10" fmla="*/ 0 60000 65536"/>
                  <a:gd name="T11" fmla="*/ 0 60000 65536"/>
                  <a:gd name="T12" fmla="*/ 0 w 60"/>
                  <a:gd name="T13" fmla="*/ 0 h 51"/>
                  <a:gd name="T14" fmla="*/ 60 w 60"/>
                  <a:gd name="T15" fmla="*/ 51 h 51"/>
                </a:gdLst>
                <a:ahLst/>
                <a:cxnLst>
                  <a:cxn ang="T8">
                    <a:pos x="T0" y="T1"/>
                  </a:cxn>
                  <a:cxn ang="T9">
                    <a:pos x="T2" y="T3"/>
                  </a:cxn>
                  <a:cxn ang="T10">
                    <a:pos x="T4" y="T5"/>
                  </a:cxn>
                  <a:cxn ang="T11">
                    <a:pos x="T6" y="T7"/>
                  </a:cxn>
                </a:cxnLst>
                <a:rect l="T12" t="T13" r="T14" b="T15"/>
                <a:pathLst>
                  <a:path w="60" h="51">
                    <a:moveTo>
                      <a:pt x="0" y="32"/>
                    </a:moveTo>
                    <a:lnTo>
                      <a:pt x="49" y="0"/>
                    </a:lnTo>
                    <a:lnTo>
                      <a:pt x="60" y="51"/>
                    </a:lnTo>
                    <a:lnTo>
                      <a:pt x="0" y="3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1" name="16419345.375516.252.8752.1255">
                <a:extLst>
                  <a:ext uri="{FF2B5EF4-FFF2-40B4-BE49-F238E27FC236}">
                    <a16:creationId xmlns:a16="http://schemas.microsoft.com/office/drawing/2014/main" id="{0F820D53-2EBD-B774-F95E-ECD25E23365F}"/>
                  </a:ext>
                </a:extLst>
              </p:cNvPr>
              <p:cNvSpPr>
                <a:spLocks/>
              </p:cNvSpPr>
              <p:nvPr/>
            </p:nvSpPr>
            <p:spPr bwMode="auto">
              <a:xfrm>
                <a:off x="6187170" y="3315020"/>
                <a:ext cx="34995" cy="45991"/>
              </a:xfrm>
              <a:custGeom>
                <a:avLst/>
                <a:gdLst>
                  <a:gd name="T0" fmla="*/ 0 w 52"/>
                  <a:gd name="T1" fmla="*/ 1 h 59"/>
                  <a:gd name="T2" fmla="*/ 1 w 52"/>
                  <a:gd name="T3" fmla="*/ 1 h 59"/>
                  <a:gd name="T4" fmla="*/ 1 w 52"/>
                  <a:gd name="T5" fmla="*/ 1 h 59"/>
                  <a:gd name="T6" fmla="*/ 1 w 52"/>
                  <a:gd name="T7" fmla="*/ 0 h 59"/>
                  <a:gd name="T8" fmla="*/ 0 w 52"/>
                  <a:gd name="T9" fmla="*/ 1 h 59"/>
                  <a:gd name="T10" fmla="*/ 0 60000 65536"/>
                  <a:gd name="T11" fmla="*/ 0 60000 65536"/>
                  <a:gd name="T12" fmla="*/ 0 60000 65536"/>
                  <a:gd name="T13" fmla="*/ 0 60000 65536"/>
                  <a:gd name="T14" fmla="*/ 0 60000 65536"/>
                  <a:gd name="T15" fmla="*/ 0 w 52"/>
                  <a:gd name="T16" fmla="*/ 0 h 59"/>
                  <a:gd name="T17" fmla="*/ 52 w 52"/>
                  <a:gd name="T18" fmla="*/ 59 h 59"/>
                </a:gdLst>
                <a:ahLst/>
                <a:cxnLst>
                  <a:cxn ang="T10">
                    <a:pos x="T0" y="T1"/>
                  </a:cxn>
                  <a:cxn ang="T11">
                    <a:pos x="T2" y="T3"/>
                  </a:cxn>
                  <a:cxn ang="T12">
                    <a:pos x="T4" y="T5"/>
                  </a:cxn>
                  <a:cxn ang="T13">
                    <a:pos x="T6" y="T7"/>
                  </a:cxn>
                  <a:cxn ang="T14">
                    <a:pos x="T8" y="T9"/>
                  </a:cxn>
                </a:cxnLst>
                <a:rect l="T15" t="T16" r="T17" b="T18"/>
                <a:pathLst>
                  <a:path w="52" h="59">
                    <a:moveTo>
                      <a:pt x="0" y="59"/>
                    </a:moveTo>
                    <a:lnTo>
                      <a:pt x="18" y="57"/>
                    </a:lnTo>
                    <a:lnTo>
                      <a:pt x="52" y="18"/>
                    </a:lnTo>
                    <a:lnTo>
                      <a:pt x="33" y="0"/>
                    </a:lnTo>
                    <a:lnTo>
                      <a:pt x="0" y="5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2" name="16420390.125451.756.3755.55">
                <a:extLst>
                  <a:ext uri="{FF2B5EF4-FFF2-40B4-BE49-F238E27FC236}">
                    <a16:creationId xmlns:a16="http://schemas.microsoft.com/office/drawing/2014/main" id="{462F8E3F-4E31-DF91-2076-D7BC208683E8}"/>
                  </a:ext>
                </a:extLst>
              </p:cNvPr>
              <p:cNvSpPr>
                <a:spLocks/>
              </p:cNvSpPr>
              <p:nvPr/>
            </p:nvSpPr>
            <p:spPr bwMode="auto">
              <a:xfrm>
                <a:off x="5144050" y="4020203"/>
                <a:ext cx="88834" cy="101178"/>
              </a:xfrm>
              <a:custGeom>
                <a:avLst/>
                <a:gdLst>
                  <a:gd name="T0" fmla="*/ 0 w 132"/>
                  <a:gd name="T1" fmla="*/ 0 h 134"/>
                  <a:gd name="T2" fmla="*/ 1 w 132"/>
                  <a:gd name="T3" fmla="*/ 0 h 134"/>
                  <a:gd name="T4" fmla="*/ 1 w 132"/>
                  <a:gd name="T5" fmla="*/ 0 h 134"/>
                  <a:gd name="T6" fmla="*/ 1 w 132"/>
                  <a:gd name="T7" fmla="*/ 0 h 134"/>
                  <a:gd name="T8" fmla="*/ 1 w 132"/>
                  <a:gd name="T9" fmla="*/ 0 h 134"/>
                  <a:gd name="T10" fmla="*/ 1 w 132"/>
                  <a:gd name="T11" fmla="*/ 0 h 134"/>
                  <a:gd name="T12" fmla="*/ 1 w 132"/>
                  <a:gd name="T13" fmla="*/ 0 h 134"/>
                  <a:gd name="T14" fmla="*/ 1 w 132"/>
                  <a:gd name="T15" fmla="*/ 0 h 134"/>
                  <a:gd name="T16" fmla="*/ 0 w 132"/>
                  <a:gd name="T17" fmla="*/ 0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2"/>
                  <a:gd name="T28" fmla="*/ 0 h 134"/>
                  <a:gd name="T29" fmla="*/ 132 w 132"/>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2" h="134">
                    <a:moveTo>
                      <a:pt x="0" y="50"/>
                    </a:moveTo>
                    <a:lnTo>
                      <a:pt x="41" y="0"/>
                    </a:lnTo>
                    <a:lnTo>
                      <a:pt x="61" y="1"/>
                    </a:lnTo>
                    <a:lnTo>
                      <a:pt x="63" y="36"/>
                    </a:lnTo>
                    <a:lnTo>
                      <a:pt x="99" y="30"/>
                    </a:lnTo>
                    <a:lnTo>
                      <a:pt x="96" y="62"/>
                    </a:lnTo>
                    <a:lnTo>
                      <a:pt x="132" y="85"/>
                    </a:lnTo>
                    <a:lnTo>
                      <a:pt x="127" y="134"/>
                    </a:lnTo>
                    <a:lnTo>
                      <a:pt x="0" y="5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3" name="16421348.25480.62523.62521.755">
                <a:extLst>
                  <a:ext uri="{FF2B5EF4-FFF2-40B4-BE49-F238E27FC236}">
                    <a16:creationId xmlns:a16="http://schemas.microsoft.com/office/drawing/2014/main" id="{B36A6AB7-3DA4-074A-F5CD-3BA4656FC053}"/>
                  </a:ext>
                </a:extLst>
              </p:cNvPr>
              <p:cNvSpPr>
                <a:spLocks/>
              </p:cNvSpPr>
              <p:nvPr/>
            </p:nvSpPr>
            <p:spPr bwMode="auto">
              <a:xfrm>
                <a:off x="5611100" y="3361011"/>
                <a:ext cx="351295" cy="370986"/>
              </a:xfrm>
              <a:custGeom>
                <a:avLst/>
                <a:gdLst>
                  <a:gd name="T0" fmla="*/ 0 w 522"/>
                  <a:gd name="T1" fmla="*/ 0 h 486"/>
                  <a:gd name="T2" fmla="*/ 1 w 522"/>
                  <a:gd name="T3" fmla="*/ 0 h 486"/>
                  <a:gd name="T4" fmla="*/ 1 w 522"/>
                  <a:gd name="T5" fmla="*/ 0 h 486"/>
                  <a:gd name="T6" fmla="*/ 1 w 522"/>
                  <a:gd name="T7" fmla="*/ 0 h 486"/>
                  <a:gd name="T8" fmla="*/ 1 w 522"/>
                  <a:gd name="T9" fmla="*/ 0 h 486"/>
                  <a:gd name="T10" fmla="*/ 1 w 522"/>
                  <a:gd name="T11" fmla="*/ 0 h 486"/>
                  <a:gd name="T12" fmla="*/ 1 w 522"/>
                  <a:gd name="T13" fmla="*/ 0 h 486"/>
                  <a:gd name="T14" fmla="*/ 1 w 522"/>
                  <a:gd name="T15" fmla="*/ 0 h 486"/>
                  <a:gd name="T16" fmla="*/ 1 w 522"/>
                  <a:gd name="T17" fmla="*/ 0 h 486"/>
                  <a:gd name="T18" fmla="*/ 1 w 522"/>
                  <a:gd name="T19" fmla="*/ 0 h 486"/>
                  <a:gd name="T20" fmla="*/ 1 w 522"/>
                  <a:gd name="T21" fmla="*/ 0 h 486"/>
                  <a:gd name="T22" fmla="*/ 1 w 522"/>
                  <a:gd name="T23" fmla="*/ 0 h 486"/>
                  <a:gd name="T24" fmla="*/ 1 w 522"/>
                  <a:gd name="T25" fmla="*/ 0 h 486"/>
                  <a:gd name="T26" fmla="*/ 1 w 522"/>
                  <a:gd name="T27" fmla="*/ 0 h 486"/>
                  <a:gd name="T28" fmla="*/ 1 w 522"/>
                  <a:gd name="T29" fmla="*/ 0 h 486"/>
                  <a:gd name="T30" fmla="*/ 1 w 522"/>
                  <a:gd name="T31" fmla="*/ 0 h 486"/>
                  <a:gd name="T32" fmla="*/ 1 w 522"/>
                  <a:gd name="T33" fmla="*/ 0 h 486"/>
                  <a:gd name="T34" fmla="*/ 1 w 522"/>
                  <a:gd name="T35" fmla="*/ 0 h 486"/>
                  <a:gd name="T36" fmla="*/ 0 w 522"/>
                  <a:gd name="T37" fmla="*/ 0 h 4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22"/>
                  <a:gd name="T58" fmla="*/ 0 h 486"/>
                  <a:gd name="T59" fmla="*/ 522 w 522"/>
                  <a:gd name="T60" fmla="*/ 486 h 48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22" h="486">
                    <a:moveTo>
                      <a:pt x="0" y="254"/>
                    </a:moveTo>
                    <a:lnTo>
                      <a:pt x="2" y="105"/>
                    </a:lnTo>
                    <a:lnTo>
                      <a:pt x="68" y="0"/>
                    </a:lnTo>
                    <a:lnTo>
                      <a:pt x="191" y="31"/>
                    </a:lnTo>
                    <a:lnTo>
                      <a:pt x="215" y="66"/>
                    </a:lnTo>
                    <a:lnTo>
                      <a:pt x="316" y="105"/>
                    </a:lnTo>
                    <a:lnTo>
                      <a:pt x="349" y="91"/>
                    </a:lnTo>
                    <a:lnTo>
                      <a:pt x="352" y="39"/>
                    </a:lnTo>
                    <a:lnTo>
                      <a:pt x="385" y="14"/>
                    </a:lnTo>
                    <a:lnTo>
                      <a:pt x="522" y="55"/>
                    </a:lnTo>
                    <a:lnTo>
                      <a:pt x="507" y="113"/>
                    </a:lnTo>
                    <a:lnTo>
                      <a:pt x="522" y="398"/>
                    </a:lnTo>
                    <a:lnTo>
                      <a:pt x="522" y="465"/>
                    </a:lnTo>
                    <a:lnTo>
                      <a:pt x="492" y="467"/>
                    </a:lnTo>
                    <a:lnTo>
                      <a:pt x="492" y="486"/>
                    </a:lnTo>
                    <a:lnTo>
                      <a:pt x="224" y="348"/>
                    </a:lnTo>
                    <a:lnTo>
                      <a:pt x="190" y="362"/>
                    </a:lnTo>
                    <a:lnTo>
                      <a:pt x="79" y="346"/>
                    </a:lnTo>
                    <a:lnTo>
                      <a:pt x="0" y="25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4" name="16422423.375527.37522.6259.8755">
                <a:extLst>
                  <a:ext uri="{FF2B5EF4-FFF2-40B4-BE49-F238E27FC236}">
                    <a16:creationId xmlns:a16="http://schemas.microsoft.com/office/drawing/2014/main" id="{13A024BD-FABA-910B-0EA7-E7F7A621415A}"/>
                  </a:ext>
                </a:extLst>
              </p:cNvPr>
              <p:cNvSpPr>
                <a:spLocks/>
              </p:cNvSpPr>
              <p:nvPr/>
            </p:nvSpPr>
            <p:spPr bwMode="auto">
              <a:xfrm>
                <a:off x="6368877" y="4544488"/>
                <a:ext cx="158823" cy="355655"/>
              </a:xfrm>
              <a:custGeom>
                <a:avLst/>
                <a:gdLst>
                  <a:gd name="T0" fmla="*/ 0 w 235"/>
                  <a:gd name="T1" fmla="*/ 1 h 464"/>
                  <a:gd name="T2" fmla="*/ 1 w 235"/>
                  <a:gd name="T3" fmla="*/ 1 h 464"/>
                  <a:gd name="T4" fmla="*/ 1 w 235"/>
                  <a:gd name="T5" fmla="*/ 1 h 464"/>
                  <a:gd name="T6" fmla="*/ 1 w 235"/>
                  <a:gd name="T7" fmla="*/ 1 h 464"/>
                  <a:gd name="T8" fmla="*/ 1 w 235"/>
                  <a:gd name="T9" fmla="*/ 1 h 464"/>
                  <a:gd name="T10" fmla="*/ 1 w 235"/>
                  <a:gd name="T11" fmla="*/ 1 h 464"/>
                  <a:gd name="T12" fmla="*/ 1 w 235"/>
                  <a:gd name="T13" fmla="*/ 0 h 464"/>
                  <a:gd name="T14" fmla="*/ 1 w 235"/>
                  <a:gd name="T15" fmla="*/ 1 h 464"/>
                  <a:gd name="T16" fmla="*/ 1 w 235"/>
                  <a:gd name="T17" fmla="*/ 1 h 464"/>
                  <a:gd name="T18" fmla="*/ 1 w 235"/>
                  <a:gd name="T19" fmla="*/ 1 h 464"/>
                  <a:gd name="T20" fmla="*/ 1 w 235"/>
                  <a:gd name="T21" fmla="*/ 1 h 464"/>
                  <a:gd name="T22" fmla="*/ 1 w 235"/>
                  <a:gd name="T23" fmla="*/ 1 h 464"/>
                  <a:gd name="T24" fmla="*/ 1 w 235"/>
                  <a:gd name="T25" fmla="*/ 1 h 464"/>
                  <a:gd name="T26" fmla="*/ 0 w 235"/>
                  <a:gd name="T27" fmla="*/ 1 h 4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35"/>
                  <a:gd name="T43" fmla="*/ 0 h 464"/>
                  <a:gd name="T44" fmla="*/ 235 w 235"/>
                  <a:gd name="T45" fmla="*/ 464 h 4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35" h="464">
                    <a:moveTo>
                      <a:pt x="0" y="332"/>
                    </a:moveTo>
                    <a:lnTo>
                      <a:pt x="21" y="427"/>
                    </a:lnTo>
                    <a:lnTo>
                      <a:pt x="65" y="464"/>
                    </a:lnTo>
                    <a:lnTo>
                      <a:pt x="138" y="427"/>
                    </a:lnTo>
                    <a:lnTo>
                      <a:pt x="220" y="107"/>
                    </a:lnTo>
                    <a:lnTo>
                      <a:pt x="235" y="120"/>
                    </a:lnTo>
                    <a:lnTo>
                      <a:pt x="199" y="0"/>
                    </a:lnTo>
                    <a:lnTo>
                      <a:pt x="157" y="50"/>
                    </a:lnTo>
                    <a:lnTo>
                      <a:pt x="158" y="85"/>
                    </a:lnTo>
                    <a:lnTo>
                      <a:pt x="106" y="123"/>
                    </a:lnTo>
                    <a:lnTo>
                      <a:pt x="41" y="139"/>
                    </a:lnTo>
                    <a:lnTo>
                      <a:pt x="23" y="180"/>
                    </a:lnTo>
                    <a:lnTo>
                      <a:pt x="41" y="261"/>
                    </a:lnTo>
                    <a:lnTo>
                      <a:pt x="0" y="33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5" name="16423418.875513.12512.754.3755">
                <a:extLst>
                  <a:ext uri="{FF2B5EF4-FFF2-40B4-BE49-F238E27FC236}">
                    <a16:creationId xmlns:a16="http://schemas.microsoft.com/office/drawing/2014/main" id="{A1DD7725-CEAE-AC0C-2129-B6766026B009}"/>
                  </a:ext>
                </a:extLst>
              </p:cNvPr>
              <p:cNvSpPr>
                <a:spLocks/>
              </p:cNvSpPr>
              <p:nvPr/>
            </p:nvSpPr>
            <p:spPr bwMode="auto">
              <a:xfrm>
                <a:off x="6137370" y="4473970"/>
                <a:ext cx="71335" cy="200823"/>
              </a:xfrm>
              <a:custGeom>
                <a:avLst/>
                <a:gdLst>
                  <a:gd name="T0" fmla="*/ 0 w 107"/>
                  <a:gd name="T1" fmla="*/ 1 h 261"/>
                  <a:gd name="T2" fmla="*/ 0 w 107"/>
                  <a:gd name="T3" fmla="*/ 1 h 261"/>
                  <a:gd name="T4" fmla="*/ 0 w 107"/>
                  <a:gd name="T5" fmla="*/ 1 h 261"/>
                  <a:gd name="T6" fmla="*/ 0 w 107"/>
                  <a:gd name="T7" fmla="*/ 1 h 261"/>
                  <a:gd name="T8" fmla="*/ 0 w 107"/>
                  <a:gd name="T9" fmla="*/ 1 h 261"/>
                  <a:gd name="T10" fmla="*/ 0 w 107"/>
                  <a:gd name="T11" fmla="*/ 1 h 261"/>
                  <a:gd name="T12" fmla="*/ 0 w 107"/>
                  <a:gd name="T13" fmla="*/ 1 h 261"/>
                  <a:gd name="T14" fmla="*/ 0 w 107"/>
                  <a:gd name="T15" fmla="*/ 1 h 261"/>
                  <a:gd name="T16" fmla="*/ 0 w 107"/>
                  <a:gd name="T17" fmla="*/ 1 h 261"/>
                  <a:gd name="T18" fmla="*/ 0 w 107"/>
                  <a:gd name="T19" fmla="*/ 1 h 261"/>
                  <a:gd name="T20" fmla="*/ 0 w 107"/>
                  <a:gd name="T21" fmla="*/ 1 h 261"/>
                  <a:gd name="T22" fmla="*/ 0 w 107"/>
                  <a:gd name="T23" fmla="*/ 0 h 261"/>
                  <a:gd name="T24" fmla="*/ 0 w 107"/>
                  <a:gd name="T25" fmla="*/ 1 h 261"/>
                  <a:gd name="T26" fmla="*/ 0 w 107"/>
                  <a:gd name="T27" fmla="*/ 1 h 26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7"/>
                  <a:gd name="T43" fmla="*/ 0 h 261"/>
                  <a:gd name="T44" fmla="*/ 107 w 107"/>
                  <a:gd name="T45" fmla="*/ 261 h 26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7" h="261">
                    <a:moveTo>
                      <a:pt x="0" y="142"/>
                    </a:moveTo>
                    <a:lnTo>
                      <a:pt x="14" y="158"/>
                    </a:lnTo>
                    <a:lnTo>
                      <a:pt x="57" y="172"/>
                    </a:lnTo>
                    <a:lnTo>
                      <a:pt x="51" y="221"/>
                    </a:lnTo>
                    <a:lnTo>
                      <a:pt x="87" y="261"/>
                    </a:lnTo>
                    <a:lnTo>
                      <a:pt x="107" y="187"/>
                    </a:lnTo>
                    <a:lnTo>
                      <a:pt x="73" y="138"/>
                    </a:lnTo>
                    <a:lnTo>
                      <a:pt x="84" y="165"/>
                    </a:lnTo>
                    <a:lnTo>
                      <a:pt x="63" y="164"/>
                    </a:lnTo>
                    <a:lnTo>
                      <a:pt x="41" y="96"/>
                    </a:lnTo>
                    <a:lnTo>
                      <a:pt x="40" y="7"/>
                    </a:lnTo>
                    <a:lnTo>
                      <a:pt x="7" y="0"/>
                    </a:lnTo>
                    <a:lnTo>
                      <a:pt x="33" y="43"/>
                    </a:lnTo>
                    <a:lnTo>
                      <a:pt x="0" y="14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6" name="16424362.625450.87524.62522.55">
                <a:extLst>
                  <a:ext uri="{FF2B5EF4-FFF2-40B4-BE49-F238E27FC236}">
                    <a16:creationId xmlns:a16="http://schemas.microsoft.com/office/drawing/2014/main" id="{EB2066CF-8817-2955-B2F4-0D7DCE44AC2A}"/>
                  </a:ext>
                </a:extLst>
              </p:cNvPr>
              <p:cNvSpPr>
                <a:spLocks/>
              </p:cNvSpPr>
              <p:nvPr/>
            </p:nvSpPr>
            <p:spPr bwMode="auto">
              <a:xfrm>
                <a:off x="5129244" y="3586363"/>
                <a:ext cx="363409" cy="387850"/>
              </a:xfrm>
              <a:custGeom>
                <a:avLst/>
                <a:gdLst>
                  <a:gd name="T0" fmla="*/ 0 w 540"/>
                  <a:gd name="T1" fmla="*/ 1 h 506"/>
                  <a:gd name="T2" fmla="*/ 1 w 540"/>
                  <a:gd name="T3" fmla="*/ 1 h 506"/>
                  <a:gd name="T4" fmla="*/ 1 w 540"/>
                  <a:gd name="T5" fmla="*/ 1 h 506"/>
                  <a:gd name="T6" fmla="*/ 1 w 540"/>
                  <a:gd name="T7" fmla="*/ 1 h 506"/>
                  <a:gd name="T8" fmla="*/ 1 w 540"/>
                  <a:gd name="T9" fmla="*/ 0 h 506"/>
                  <a:gd name="T10" fmla="*/ 1 w 540"/>
                  <a:gd name="T11" fmla="*/ 0 h 506"/>
                  <a:gd name="T12" fmla="*/ 1 w 540"/>
                  <a:gd name="T13" fmla="*/ 1 h 506"/>
                  <a:gd name="T14" fmla="*/ 1 w 540"/>
                  <a:gd name="T15" fmla="*/ 1 h 506"/>
                  <a:gd name="T16" fmla="*/ 1 w 540"/>
                  <a:gd name="T17" fmla="*/ 1 h 506"/>
                  <a:gd name="T18" fmla="*/ 1 w 540"/>
                  <a:gd name="T19" fmla="*/ 1 h 506"/>
                  <a:gd name="T20" fmla="*/ 1 w 540"/>
                  <a:gd name="T21" fmla="*/ 1 h 506"/>
                  <a:gd name="T22" fmla="*/ 1 w 540"/>
                  <a:gd name="T23" fmla="*/ 1 h 506"/>
                  <a:gd name="T24" fmla="*/ 1 w 540"/>
                  <a:gd name="T25" fmla="*/ 1 h 506"/>
                  <a:gd name="T26" fmla="*/ 1 w 540"/>
                  <a:gd name="T27" fmla="*/ 1 h 506"/>
                  <a:gd name="T28" fmla="*/ 1 w 540"/>
                  <a:gd name="T29" fmla="*/ 1 h 506"/>
                  <a:gd name="T30" fmla="*/ 1 w 540"/>
                  <a:gd name="T31" fmla="*/ 1 h 506"/>
                  <a:gd name="T32" fmla="*/ 1 w 540"/>
                  <a:gd name="T33" fmla="*/ 1 h 506"/>
                  <a:gd name="T34" fmla="*/ 1 w 540"/>
                  <a:gd name="T35" fmla="*/ 1 h 506"/>
                  <a:gd name="T36" fmla="*/ 1 w 540"/>
                  <a:gd name="T37" fmla="*/ 1 h 506"/>
                  <a:gd name="T38" fmla="*/ 0 w 540"/>
                  <a:gd name="T39" fmla="*/ 1 h 5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40"/>
                  <a:gd name="T61" fmla="*/ 0 h 506"/>
                  <a:gd name="T62" fmla="*/ 540 w 540"/>
                  <a:gd name="T63" fmla="*/ 506 h 50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40" h="506">
                    <a:moveTo>
                      <a:pt x="0" y="351"/>
                    </a:moveTo>
                    <a:lnTo>
                      <a:pt x="23" y="315"/>
                    </a:lnTo>
                    <a:lnTo>
                      <a:pt x="49" y="338"/>
                    </a:lnTo>
                    <a:lnTo>
                      <a:pt x="218" y="327"/>
                    </a:lnTo>
                    <a:lnTo>
                      <a:pt x="182" y="0"/>
                    </a:lnTo>
                    <a:lnTo>
                      <a:pt x="241" y="0"/>
                    </a:lnTo>
                    <a:lnTo>
                      <a:pt x="509" y="177"/>
                    </a:lnTo>
                    <a:lnTo>
                      <a:pt x="512" y="207"/>
                    </a:lnTo>
                    <a:lnTo>
                      <a:pt x="538" y="203"/>
                    </a:lnTo>
                    <a:lnTo>
                      <a:pt x="540" y="308"/>
                    </a:lnTo>
                    <a:lnTo>
                      <a:pt x="518" y="330"/>
                    </a:lnTo>
                    <a:lnTo>
                      <a:pt x="409" y="344"/>
                    </a:lnTo>
                    <a:lnTo>
                      <a:pt x="272" y="404"/>
                    </a:lnTo>
                    <a:lnTo>
                      <a:pt x="229" y="500"/>
                    </a:lnTo>
                    <a:lnTo>
                      <a:pt x="195" y="488"/>
                    </a:lnTo>
                    <a:lnTo>
                      <a:pt x="137" y="506"/>
                    </a:lnTo>
                    <a:lnTo>
                      <a:pt x="103" y="426"/>
                    </a:lnTo>
                    <a:lnTo>
                      <a:pt x="46" y="445"/>
                    </a:lnTo>
                    <a:lnTo>
                      <a:pt x="24" y="429"/>
                    </a:lnTo>
                    <a:lnTo>
                      <a:pt x="0" y="35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7" name="16425358.625444.1252116.755">
                <a:extLst>
                  <a:ext uri="{FF2B5EF4-FFF2-40B4-BE49-F238E27FC236}">
                    <a16:creationId xmlns:a16="http://schemas.microsoft.com/office/drawing/2014/main" id="{F0697460-F695-F244-E705-5897F72D7D6C}"/>
                  </a:ext>
                </a:extLst>
              </p:cNvPr>
              <p:cNvSpPr>
                <a:spLocks/>
              </p:cNvSpPr>
              <p:nvPr/>
            </p:nvSpPr>
            <p:spPr bwMode="auto">
              <a:xfrm>
                <a:off x="5020223" y="3523509"/>
                <a:ext cx="271883" cy="331129"/>
              </a:xfrm>
              <a:custGeom>
                <a:avLst/>
                <a:gdLst>
                  <a:gd name="T0" fmla="*/ 0 w 404"/>
                  <a:gd name="T1" fmla="*/ 1 h 432"/>
                  <a:gd name="T2" fmla="*/ 1 w 404"/>
                  <a:gd name="T3" fmla="*/ 1 h 432"/>
                  <a:gd name="T4" fmla="*/ 1 w 404"/>
                  <a:gd name="T5" fmla="*/ 1 h 432"/>
                  <a:gd name="T6" fmla="*/ 1 w 404"/>
                  <a:gd name="T7" fmla="*/ 1 h 432"/>
                  <a:gd name="T8" fmla="*/ 1 w 404"/>
                  <a:gd name="T9" fmla="*/ 1 h 432"/>
                  <a:gd name="T10" fmla="*/ 1 w 404"/>
                  <a:gd name="T11" fmla="*/ 1 h 432"/>
                  <a:gd name="T12" fmla="*/ 1 w 404"/>
                  <a:gd name="T13" fmla="*/ 1 h 432"/>
                  <a:gd name="T14" fmla="*/ 1 w 404"/>
                  <a:gd name="T15" fmla="*/ 1 h 432"/>
                  <a:gd name="T16" fmla="*/ 1 w 404"/>
                  <a:gd name="T17" fmla="*/ 1 h 432"/>
                  <a:gd name="T18" fmla="*/ 1 w 404"/>
                  <a:gd name="T19" fmla="*/ 1 h 432"/>
                  <a:gd name="T20" fmla="*/ 1 w 404"/>
                  <a:gd name="T21" fmla="*/ 1 h 432"/>
                  <a:gd name="T22" fmla="*/ 1 w 404"/>
                  <a:gd name="T23" fmla="*/ 0 h 432"/>
                  <a:gd name="T24" fmla="*/ 1 w 404"/>
                  <a:gd name="T25" fmla="*/ 1 h 432"/>
                  <a:gd name="T26" fmla="*/ 1 w 404"/>
                  <a:gd name="T27" fmla="*/ 1 h 432"/>
                  <a:gd name="T28" fmla="*/ 1 w 404"/>
                  <a:gd name="T29" fmla="*/ 1 h 432"/>
                  <a:gd name="T30" fmla="*/ 1 w 404"/>
                  <a:gd name="T31" fmla="*/ 1 h 432"/>
                  <a:gd name="T32" fmla="*/ 1 w 404"/>
                  <a:gd name="T33" fmla="*/ 1 h 432"/>
                  <a:gd name="T34" fmla="*/ 0 w 404"/>
                  <a:gd name="T35" fmla="*/ 1 h 4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04"/>
                  <a:gd name="T55" fmla="*/ 0 h 432"/>
                  <a:gd name="T56" fmla="*/ 404 w 404"/>
                  <a:gd name="T57" fmla="*/ 432 h 4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04" h="432">
                    <a:moveTo>
                      <a:pt x="0" y="217"/>
                    </a:moveTo>
                    <a:lnTo>
                      <a:pt x="25" y="242"/>
                    </a:lnTo>
                    <a:lnTo>
                      <a:pt x="31" y="306"/>
                    </a:lnTo>
                    <a:lnTo>
                      <a:pt x="11" y="388"/>
                    </a:lnTo>
                    <a:lnTo>
                      <a:pt x="87" y="370"/>
                    </a:lnTo>
                    <a:lnTo>
                      <a:pt x="163" y="432"/>
                    </a:lnTo>
                    <a:lnTo>
                      <a:pt x="186" y="396"/>
                    </a:lnTo>
                    <a:lnTo>
                      <a:pt x="212" y="419"/>
                    </a:lnTo>
                    <a:lnTo>
                      <a:pt x="381" y="408"/>
                    </a:lnTo>
                    <a:lnTo>
                      <a:pt x="345" y="81"/>
                    </a:lnTo>
                    <a:lnTo>
                      <a:pt x="404" y="81"/>
                    </a:lnTo>
                    <a:lnTo>
                      <a:pt x="281" y="0"/>
                    </a:lnTo>
                    <a:lnTo>
                      <a:pt x="278" y="44"/>
                    </a:lnTo>
                    <a:lnTo>
                      <a:pt x="171" y="41"/>
                    </a:lnTo>
                    <a:lnTo>
                      <a:pt x="169" y="132"/>
                    </a:lnTo>
                    <a:lnTo>
                      <a:pt x="131" y="148"/>
                    </a:lnTo>
                    <a:lnTo>
                      <a:pt x="134" y="203"/>
                    </a:lnTo>
                    <a:lnTo>
                      <a:pt x="0" y="21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8" name="16426343.625449.62514.37516.255">
                <a:extLst>
                  <a:ext uri="{FF2B5EF4-FFF2-40B4-BE49-F238E27FC236}">
                    <a16:creationId xmlns:a16="http://schemas.microsoft.com/office/drawing/2014/main" id="{24382086-2668-A980-CE84-48AB96BE5679}"/>
                  </a:ext>
                </a:extLst>
              </p:cNvPr>
              <p:cNvSpPr>
                <a:spLocks/>
              </p:cNvSpPr>
              <p:nvPr/>
            </p:nvSpPr>
            <p:spPr bwMode="auto">
              <a:xfrm>
                <a:off x="5109057" y="3287426"/>
                <a:ext cx="263809" cy="226883"/>
              </a:xfrm>
              <a:custGeom>
                <a:avLst/>
                <a:gdLst>
                  <a:gd name="T0" fmla="*/ 0 w 392"/>
                  <a:gd name="T1" fmla="*/ 1 h 295"/>
                  <a:gd name="T2" fmla="*/ 1 w 392"/>
                  <a:gd name="T3" fmla="*/ 1 h 295"/>
                  <a:gd name="T4" fmla="*/ 1 w 392"/>
                  <a:gd name="T5" fmla="*/ 1 h 295"/>
                  <a:gd name="T6" fmla="*/ 1 w 392"/>
                  <a:gd name="T7" fmla="*/ 1 h 295"/>
                  <a:gd name="T8" fmla="*/ 1 w 392"/>
                  <a:gd name="T9" fmla="*/ 0 h 295"/>
                  <a:gd name="T10" fmla="*/ 1 w 392"/>
                  <a:gd name="T11" fmla="*/ 1 h 295"/>
                  <a:gd name="T12" fmla="*/ 1 w 392"/>
                  <a:gd name="T13" fmla="*/ 1 h 295"/>
                  <a:gd name="T14" fmla="*/ 1 w 392"/>
                  <a:gd name="T15" fmla="*/ 1 h 295"/>
                  <a:gd name="T16" fmla="*/ 1 w 392"/>
                  <a:gd name="T17" fmla="*/ 1 h 295"/>
                  <a:gd name="T18" fmla="*/ 1 w 392"/>
                  <a:gd name="T19" fmla="*/ 1 h 295"/>
                  <a:gd name="T20" fmla="*/ 1 w 392"/>
                  <a:gd name="T21" fmla="*/ 1 h 295"/>
                  <a:gd name="T22" fmla="*/ 1 w 392"/>
                  <a:gd name="T23" fmla="*/ 1 h 295"/>
                  <a:gd name="T24" fmla="*/ 0 w 392"/>
                  <a:gd name="T25" fmla="*/ 1 h 2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2"/>
                  <a:gd name="T40" fmla="*/ 0 h 295"/>
                  <a:gd name="T41" fmla="*/ 392 w 392"/>
                  <a:gd name="T42" fmla="*/ 295 h 2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2" h="295">
                    <a:moveTo>
                      <a:pt x="0" y="291"/>
                    </a:moveTo>
                    <a:lnTo>
                      <a:pt x="97" y="235"/>
                    </a:lnTo>
                    <a:lnTo>
                      <a:pt x="131" y="118"/>
                    </a:lnTo>
                    <a:lnTo>
                      <a:pt x="213" y="59"/>
                    </a:lnTo>
                    <a:lnTo>
                      <a:pt x="241" y="0"/>
                    </a:lnTo>
                    <a:lnTo>
                      <a:pt x="360" y="19"/>
                    </a:lnTo>
                    <a:lnTo>
                      <a:pt x="392" y="129"/>
                    </a:lnTo>
                    <a:lnTo>
                      <a:pt x="338" y="132"/>
                    </a:lnTo>
                    <a:lnTo>
                      <a:pt x="310" y="144"/>
                    </a:lnTo>
                    <a:lnTo>
                      <a:pt x="315" y="173"/>
                    </a:lnTo>
                    <a:lnTo>
                      <a:pt x="164" y="239"/>
                    </a:lnTo>
                    <a:lnTo>
                      <a:pt x="146" y="295"/>
                    </a:lnTo>
                    <a:lnTo>
                      <a:pt x="0" y="29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79" name="16427420.625509.2527.12514.6255">
                <a:extLst>
                  <a:ext uri="{FF2B5EF4-FFF2-40B4-BE49-F238E27FC236}">
                    <a16:creationId xmlns:a16="http://schemas.microsoft.com/office/drawing/2014/main" id="{6490587A-2DA1-9B6A-257E-351807B59689}"/>
                  </a:ext>
                </a:extLst>
              </p:cNvPr>
              <p:cNvSpPr>
                <a:spLocks/>
              </p:cNvSpPr>
              <p:nvPr/>
            </p:nvSpPr>
            <p:spPr bwMode="auto">
              <a:xfrm>
                <a:off x="6074109" y="4501564"/>
                <a:ext cx="236889" cy="426175"/>
              </a:xfrm>
              <a:custGeom>
                <a:avLst/>
                <a:gdLst>
                  <a:gd name="T0" fmla="*/ 0 w 352"/>
                  <a:gd name="T1" fmla="*/ 0 h 557"/>
                  <a:gd name="T2" fmla="*/ 1 w 352"/>
                  <a:gd name="T3" fmla="*/ 0 h 557"/>
                  <a:gd name="T4" fmla="*/ 1 w 352"/>
                  <a:gd name="T5" fmla="*/ 0 h 557"/>
                  <a:gd name="T6" fmla="*/ 1 w 352"/>
                  <a:gd name="T7" fmla="*/ 0 h 557"/>
                  <a:gd name="T8" fmla="*/ 1 w 352"/>
                  <a:gd name="T9" fmla="*/ 0 h 557"/>
                  <a:gd name="T10" fmla="*/ 1 w 352"/>
                  <a:gd name="T11" fmla="*/ 0 h 557"/>
                  <a:gd name="T12" fmla="*/ 1 w 352"/>
                  <a:gd name="T13" fmla="*/ 0 h 557"/>
                  <a:gd name="T14" fmla="*/ 1 w 352"/>
                  <a:gd name="T15" fmla="*/ 0 h 557"/>
                  <a:gd name="T16" fmla="*/ 1 w 352"/>
                  <a:gd name="T17" fmla="*/ 0 h 557"/>
                  <a:gd name="T18" fmla="*/ 1 w 352"/>
                  <a:gd name="T19" fmla="*/ 0 h 557"/>
                  <a:gd name="T20" fmla="*/ 1 w 352"/>
                  <a:gd name="T21" fmla="*/ 0 h 557"/>
                  <a:gd name="T22" fmla="*/ 1 w 352"/>
                  <a:gd name="T23" fmla="*/ 0 h 557"/>
                  <a:gd name="T24" fmla="*/ 1 w 352"/>
                  <a:gd name="T25" fmla="*/ 0 h 557"/>
                  <a:gd name="T26" fmla="*/ 1 w 352"/>
                  <a:gd name="T27" fmla="*/ 0 h 557"/>
                  <a:gd name="T28" fmla="*/ 1 w 352"/>
                  <a:gd name="T29" fmla="*/ 0 h 557"/>
                  <a:gd name="T30" fmla="*/ 1 w 352"/>
                  <a:gd name="T31" fmla="*/ 0 h 557"/>
                  <a:gd name="T32" fmla="*/ 1 w 352"/>
                  <a:gd name="T33" fmla="*/ 0 h 557"/>
                  <a:gd name="T34" fmla="*/ 1 w 352"/>
                  <a:gd name="T35" fmla="*/ 0 h 557"/>
                  <a:gd name="T36" fmla="*/ 1 w 352"/>
                  <a:gd name="T37" fmla="*/ 0 h 557"/>
                  <a:gd name="T38" fmla="*/ 1 w 352"/>
                  <a:gd name="T39" fmla="*/ 0 h 557"/>
                  <a:gd name="T40" fmla="*/ 1 w 352"/>
                  <a:gd name="T41" fmla="*/ 0 h 557"/>
                  <a:gd name="T42" fmla="*/ 1 w 352"/>
                  <a:gd name="T43" fmla="*/ 0 h 557"/>
                  <a:gd name="T44" fmla="*/ 0 w 352"/>
                  <a:gd name="T45" fmla="*/ 0 h 55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52"/>
                  <a:gd name="T70" fmla="*/ 0 h 557"/>
                  <a:gd name="T71" fmla="*/ 352 w 352"/>
                  <a:gd name="T72" fmla="*/ 557 h 55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52" h="557">
                    <a:moveTo>
                      <a:pt x="0" y="155"/>
                    </a:moveTo>
                    <a:lnTo>
                      <a:pt x="9" y="173"/>
                    </a:lnTo>
                    <a:lnTo>
                      <a:pt x="92" y="199"/>
                    </a:lnTo>
                    <a:lnTo>
                      <a:pt x="100" y="234"/>
                    </a:lnTo>
                    <a:lnTo>
                      <a:pt x="96" y="322"/>
                    </a:lnTo>
                    <a:lnTo>
                      <a:pt x="52" y="414"/>
                    </a:lnTo>
                    <a:lnTo>
                      <a:pt x="64" y="522"/>
                    </a:lnTo>
                    <a:lnTo>
                      <a:pt x="68" y="557"/>
                    </a:lnTo>
                    <a:lnTo>
                      <a:pt x="95" y="557"/>
                    </a:lnTo>
                    <a:lnTo>
                      <a:pt x="95" y="520"/>
                    </a:lnTo>
                    <a:lnTo>
                      <a:pt x="181" y="470"/>
                    </a:lnTo>
                    <a:lnTo>
                      <a:pt x="156" y="322"/>
                    </a:lnTo>
                    <a:lnTo>
                      <a:pt x="349" y="172"/>
                    </a:lnTo>
                    <a:lnTo>
                      <a:pt x="352" y="0"/>
                    </a:lnTo>
                    <a:lnTo>
                      <a:pt x="302" y="30"/>
                    </a:lnTo>
                    <a:lnTo>
                      <a:pt x="169" y="38"/>
                    </a:lnTo>
                    <a:lnTo>
                      <a:pt x="166" y="102"/>
                    </a:lnTo>
                    <a:lnTo>
                      <a:pt x="200" y="151"/>
                    </a:lnTo>
                    <a:lnTo>
                      <a:pt x="180" y="225"/>
                    </a:lnTo>
                    <a:lnTo>
                      <a:pt x="144" y="185"/>
                    </a:lnTo>
                    <a:lnTo>
                      <a:pt x="150" y="136"/>
                    </a:lnTo>
                    <a:lnTo>
                      <a:pt x="107" y="122"/>
                    </a:lnTo>
                    <a:lnTo>
                      <a:pt x="0" y="15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0" name="16428365467.87519.7522.1255">
                <a:extLst>
                  <a:ext uri="{FF2B5EF4-FFF2-40B4-BE49-F238E27FC236}">
                    <a16:creationId xmlns:a16="http://schemas.microsoft.com/office/drawing/2014/main" id="{CE4DE93A-E9D3-C399-3885-D43BB058E4D9}"/>
                  </a:ext>
                </a:extLst>
              </p:cNvPr>
              <p:cNvSpPr>
                <a:spLocks/>
              </p:cNvSpPr>
              <p:nvPr/>
            </p:nvSpPr>
            <p:spPr bwMode="auto">
              <a:xfrm>
                <a:off x="5405166" y="3624687"/>
                <a:ext cx="356680" cy="311200"/>
              </a:xfrm>
              <a:custGeom>
                <a:avLst/>
                <a:gdLst>
                  <a:gd name="T0" fmla="*/ 0 w 529"/>
                  <a:gd name="T1" fmla="*/ 1 h 404"/>
                  <a:gd name="T2" fmla="*/ 1 w 529"/>
                  <a:gd name="T3" fmla="*/ 1 h 404"/>
                  <a:gd name="T4" fmla="*/ 1 w 529"/>
                  <a:gd name="T5" fmla="*/ 1 h 404"/>
                  <a:gd name="T6" fmla="*/ 1 w 529"/>
                  <a:gd name="T7" fmla="*/ 1 h 404"/>
                  <a:gd name="T8" fmla="*/ 1 w 529"/>
                  <a:gd name="T9" fmla="*/ 1 h 404"/>
                  <a:gd name="T10" fmla="*/ 1 w 529"/>
                  <a:gd name="T11" fmla="*/ 1 h 404"/>
                  <a:gd name="T12" fmla="*/ 1 w 529"/>
                  <a:gd name="T13" fmla="*/ 1 h 404"/>
                  <a:gd name="T14" fmla="*/ 1 w 529"/>
                  <a:gd name="T15" fmla="*/ 1 h 404"/>
                  <a:gd name="T16" fmla="*/ 1 w 529"/>
                  <a:gd name="T17" fmla="*/ 1 h 404"/>
                  <a:gd name="T18" fmla="*/ 1 w 529"/>
                  <a:gd name="T19" fmla="*/ 1 h 404"/>
                  <a:gd name="T20" fmla="*/ 1 w 529"/>
                  <a:gd name="T21" fmla="*/ 1 h 404"/>
                  <a:gd name="T22" fmla="*/ 1 w 529"/>
                  <a:gd name="T23" fmla="*/ 1 h 404"/>
                  <a:gd name="T24" fmla="*/ 1 w 529"/>
                  <a:gd name="T25" fmla="*/ 1 h 404"/>
                  <a:gd name="T26" fmla="*/ 1 w 529"/>
                  <a:gd name="T27" fmla="*/ 0 h 404"/>
                  <a:gd name="T28" fmla="*/ 1 w 529"/>
                  <a:gd name="T29" fmla="*/ 1 h 404"/>
                  <a:gd name="T30" fmla="*/ 1 w 529"/>
                  <a:gd name="T31" fmla="*/ 1 h 404"/>
                  <a:gd name="T32" fmla="*/ 1 w 529"/>
                  <a:gd name="T33" fmla="*/ 1 h 404"/>
                  <a:gd name="T34" fmla="*/ 1 w 529"/>
                  <a:gd name="T35" fmla="*/ 1 h 404"/>
                  <a:gd name="T36" fmla="*/ 0 w 529"/>
                  <a:gd name="T37" fmla="*/ 1 h 40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29"/>
                  <a:gd name="T58" fmla="*/ 0 h 404"/>
                  <a:gd name="T59" fmla="*/ 529 w 529"/>
                  <a:gd name="T60" fmla="*/ 404 h 40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29" h="404">
                    <a:moveTo>
                      <a:pt x="0" y="293"/>
                    </a:moveTo>
                    <a:lnTo>
                      <a:pt x="7" y="326"/>
                    </a:lnTo>
                    <a:lnTo>
                      <a:pt x="72" y="396"/>
                    </a:lnTo>
                    <a:lnTo>
                      <a:pt x="88" y="381"/>
                    </a:lnTo>
                    <a:lnTo>
                      <a:pt x="114" y="404"/>
                    </a:lnTo>
                    <a:lnTo>
                      <a:pt x="154" y="334"/>
                    </a:lnTo>
                    <a:lnTo>
                      <a:pt x="305" y="370"/>
                    </a:lnTo>
                    <a:lnTo>
                      <a:pt x="436" y="333"/>
                    </a:lnTo>
                    <a:lnTo>
                      <a:pt x="440" y="315"/>
                    </a:lnTo>
                    <a:lnTo>
                      <a:pt x="509" y="227"/>
                    </a:lnTo>
                    <a:lnTo>
                      <a:pt x="529" y="107"/>
                    </a:lnTo>
                    <a:lnTo>
                      <a:pt x="495" y="70"/>
                    </a:lnTo>
                    <a:lnTo>
                      <a:pt x="495" y="16"/>
                    </a:lnTo>
                    <a:lnTo>
                      <a:pt x="384" y="0"/>
                    </a:lnTo>
                    <a:lnTo>
                      <a:pt x="182" y="139"/>
                    </a:lnTo>
                    <a:lnTo>
                      <a:pt x="129" y="152"/>
                    </a:lnTo>
                    <a:lnTo>
                      <a:pt x="131" y="257"/>
                    </a:lnTo>
                    <a:lnTo>
                      <a:pt x="109" y="279"/>
                    </a:lnTo>
                    <a:lnTo>
                      <a:pt x="0" y="29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1" name="16429381.25471.62515.7516.1255">
                <a:extLst>
                  <a:ext uri="{FF2B5EF4-FFF2-40B4-BE49-F238E27FC236}">
                    <a16:creationId xmlns:a16="http://schemas.microsoft.com/office/drawing/2014/main" id="{0C1CC57C-C04A-54DB-C51E-BD5B84664B49}"/>
                  </a:ext>
                </a:extLst>
              </p:cNvPr>
              <p:cNvSpPr>
                <a:spLocks/>
              </p:cNvSpPr>
              <p:nvPr/>
            </p:nvSpPr>
            <p:spPr bwMode="auto">
              <a:xfrm>
                <a:off x="5464389" y="3880700"/>
                <a:ext cx="261116" cy="246813"/>
              </a:xfrm>
              <a:custGeom>
                <a:avLst/>
                <a:gdLst>
                  <a:gd name="T0" fmla="*/ 0 w 388"/>
                  <a:gd name="T1" fmla="*/ 0 h 323"/>
                  <a:gd name="T2" fmla="*/ 1 w 388"/>
                  <a:gd name="T3" fmla="*/ 0 h 323"/>
                  <a:gd name="T4" fmla="*/ 1 w 388"/>
                  <a:gd name="T5" fmla="*/ 0 h 323"/>
                  <a:gd name="T6" fmla="*/ 1 w 388"/>
                  <a:gd name="T7" fmla="*/ 0 h 323"/>
                  <a:gd name="T8" fmla="*/ 1 w 388"/>
                  <a:gd name="T9" fmla="*/ 0 h 323"/>
                  <a:gd name="T10" fmla="*/ 1 w 388"/>
                  <a:gd name="T11" fmla="*/ 0 h 323"/>
                  <a:gd name="T12" fmla="*/ 1 w 388"/>
                  <a:gd name="T13" fmla="*/ 0 h 323"/>
                  <a:gd name="T14" fmla="*/ 1 w 388"/>
                  <a:gd name="T15" fmla="*/ 0 h 323"/>
                  <a:gd name="T16" fmla="*/ 1 w 388"/>
                  <a:gd name="T17" fmla="*/ 0 h 323"/>
                  <a:gd name="T18" fmla="*/ 1 w 388"/>
                  <a:gd name="T19" fmla="*/ 0 h 323"/>
                  <a:gd name="T20" fmla="*/ 1 w 388"/>
                  <a:gd name="T21" fmla="*/ 0 h 323"/>
                  <a:gd name="T22" fmla="*/ 1 w 388"/>
                  <a:gd name="T23" fmla="*/ 0 h 323"/>
                  <a:gd name="T24" fmla="*/ 1 w 388"/>
                  <a:gd name="T25" fmla="*/ 0 h 323"/>
                  <a:gd name="T26" fmla="*/ 0 w 388"/>
                  <a:gd name="T27" fmla="*/ 0 h 3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8"/>
                  <a:gd name="T43" fmla="*/ 0 h 323"/>
                  <a:gd name="T44" fmla="*/ 388 w 388"/>
                  <a:gd name="T45" fmla="*/ 323 h 3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8" h="323">
                    <a:moveTo>
                      <a:pt x="0" y="251"/>
                    </a:moveTo>
                    <a:lnTo>
                      <a:pt x="26" y="71"/>
                    </a:lnTo>
                    <a:lnTo>
                      <a:pt x="66" y="1"/>
                    </a:lnTo>
                    <a:lnTo>
                      <a:pt x="217" y="37"/>
                    </a:lnTo>
                    <a:lnTo>
                      <a:pt x="348" y="0"/>
                    </a:lnTo>
                    <a:lnTo>
                      <a:pt x="374" y="42"/>
                    </a:lnTo>
                    <a:lnTo>
                      <a:pt x="388" y="71"/>
                    </a:lnTo>
                    <a:lnTo>
                      <a:pt x="353" y="97"/>
                    </a:lnTo>
                    <a:lnTo>
                      <a:pt x="285" y="243"/>
                    </a:lnTo>
                    <a:lnTo>
                      <a:pt x="221" y="233"/>
                    </a:lnTo>
                    <a:lnTo>
                      <a:pt x="186" y="304"/>
                    </a:lnTo>
                    <a:lnTo>
                      <a:pt x="111" y="323"/>
                    </a:lnTo>
                    <a:lnTo>
                      <a:pt x="66" y="260"/>
                    </a:lnTo>
                    <a:lnTo>
                      <a:pt x="0" y="25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2" name="16430383.125444.52.8754.1255">
                <a:extLst>
                  <a:ext uri="{FF2B5EF4-FFF2-40B4-BE49-F238E27FC236}">
                    <a16:creationId xmlns:a16="http://schemas.microsoft.com/office/drawing/2014/main" id="{15CD5A02-F195-53F2-B78A-6708BC650719}"/>
                  </a:ext>
                </a:extLst>
              </p:cNvPr>
              <p:cNvSpPr>
                <a:spLocks/>
              </p:cNvSpPr>
              <p:nvPr/>
            </p:nvSpPr>
            <p:spPr bwMode="auto">
              <a:xfrm>
                <a:off x="5025607" y="3909826"/>
                <a:ext cx="67298" cy="45991"/>
              </a:xfrm>
              <a:custGeom>
                <a:avLst/>
                <a:gdLst>
                  <a:gd name="T0" fmla="*/ 0 w 101"/>
                  <a:gd name="T1" fmla="*/ 1 h 59"/>
                  <a:gd name="T2" fmla="*/ 0 w 101"/>
                  <a:gd name="T3" fmla="*/ 1 h 59"/>
                  <a:gd name="T4" fmla="*/ 0 w 101"/>
                  <a:gd name="T5" fmla="*/ 1 h 59"/>
                  <a:gd name="T6" fmla="*/ 0 w 101"/>
                  <a:gd name="T7" fmla="*/ 1 h 59"/>
                  <a:gd name="T8" fmla="*/ 0 w 101"/>
                  <a:gd name="T9" fmla="*/ 1 h 59"/>
                  <a:gd name="T10" fmla="*/ 0 w 101"/>
                  <a:gd name="T11" fmla="*/ 1 h 59"/>
                  <a:gd name="T12" fmla="*/ 0 w 101"/>
                  <a:gd name="T13" fmla="*/ 0 h 59"/>
                  <a:gd name="T14" fmla="*/ 0 w 101"/>
                  <a:gd name="T15" fmla="*/ 1 h 59"/>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59"/>
                  <a:gd name="T26" fmla="*/ 101 w 101"/>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59">
                    <a:moveTo>
                      <a:pt x="0" y="7"/>
                    </a:moveTo>
                    <a:lnTo>
                      <a:pt x="29" y="33"/>
                    </a:lnTo>
                    <a:lnTo>
                      <a:pt x="62" y="25"/>
                    </a:lnTo>
                    <a:lnTo>
                      <a:pt x="43" y="33"/>
                    </a:lnTo>
                    <a:lnTo>
                      <a:pt x="58" y="59"/>
                    </a:lnTo>
                    <a:lnTo>
                      <a:pt x="99" y="33"/>
                    </a:lnTo>
                    <a:lnTo>
                      <a:pt x="101" y="0"/>
                    </a:lnTo>
                    <a:lnTo>
                      <a:pt x="0" y="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3" name="16431360.625538.1252.6250.755">
                <a:extLst>
                  <a:ext uri="{FF2B5EF4-FFF2-40B4-BE49-F238E27FC236}">
                    <a16:creationId xmlns:a16="http://schemas.microsoft.com/office/drawing/2014/main" id="{7C145D41-7005-27EA-5A59-E8441D51BAB1}"/>
                  </a:ext>
                </a:extLst>
              </p:cNvPr>
              <p:cNvSpPr>
                <a:spLocks/>
              </p:cNvSpPr>
              <p:nvPr/>
            </p:nvSpPr>
            <p:spPr bwMode="auto">
              <a:xfrm>
                <a:off x="6542503" y="3555701"/>
                <a:ext cx="12113" cy="41391"/>
              </a:xfrm>
              <a:custGeom>
                <a:avLst/>
                <a:gdLst>
                  <a:gd name="T0" fmla="*/ 0 w 19"/>
                  <a:gd name="T1" fmla="*/ 0 h 55"/>
                  <a:gd name="T2" fmla="*/ 0 w 19"/>
                  <a:gd name="T3" fmla="*/ 0 h 55"/>
                  <a:gd name="T4" fmla="*/ 0 w 19"/>
                  <a:gd name="T5" fmla="*/ 0 h 55"/>
                  <a:gd name="T6" fmla="*/ 0 w 19"/>
                  <a:gd name="T7" fmla="*/ 0 h 55"/>
                  <a:gd name="T8" fmla="*/ 0 w 19"/>
                  <a:gd name="T9" fmla="*/ 0 h 55"/>
                  <a:gd name="T10" fmla="*/ 0 60000 65536"/>
                  <a:gd name="T11" fmla="*/ 0 60000 65536"/>
                  <a:gd name="T12" fmla="*/ 0 60000 65536"/>
                  <a:gd name="T13" fmla="*/ 0 60000 65536"/>
                  <a:gd name="T14" fmla="*/ 0 60000 65536"/>
                  <a:gd name="T15" fmla="*/ 0 w 19"/>
                  <a:gd name="T16" fmla="*/ 0 h 55"/>
                  <a:gd name="T17" fmla="*/ 19 w 19"/>
                  <a:gd name="T18" fmla="*/ 55 h 55"/>
                </a:gdLst>
                <a:ahLst/>
                <a:cxnLst>
                  <a:cxn ang="T10">
                    <a:pos x="T0" y="T1"/>
                  </a:cxn>
                  <a:cxn ang="T11">
                    <a:pos x="T2" y="T3"/>
                  </a:cxn>
                  <a:cxn ang="T12">
                    <a:pos x="T4" y="T5"/>
                  </a:cxn>
                  <a:cxn ang="T13">
                    <a:pos x="T6" y="T7"/>
                  </a:cxn>
                  <a:cxn ang="T14">
                    <a:pos x="T8" y="T9"/>
                  </a:cxn>
                </a:cxnLst>
                <a:rect l="T15" t="T16" r="T17" b="T18"/>
                <a:pathLst>
                  <a:path w="19" h="55">
                    <a:moveTo>
                      <a:pt x="0" y="45"/>
                    </a:moveTo>
                    <a:lnTo>
                      <a:pt x="10" y="55"/>
                    </a:lnTo>
                    <a:lnTo>
                      <a:pt x="19" y="52"/>
                    </a:lnTo>
                    <a:lnTo>
                      <a:pt x="11" y="0"/>
                    </a:lnTo>
                    <a:lnTo>
                      <a:pt x="0" y="4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4" name="16432405.255082.6252.255">
                <a:extLst>
                  <a:ext uri="{FF2B5EF4-FFF2-40B4-BE49-F238E27FC236}">
                    <a16:creationId xmlns:a16="http://schemas.microsoft.com/office/drawing/2014/main" id="{F26DC6B9-6B06-D57F-BBCA-96DE91E1621D}"/>
                  </a:ext>
                </a:extLst>
              </p:cNvPr>
              <p:cNvSpPr>
                <a:spLocks/>
              </p:cNvSpPr>
              <p:nvPr/>
            </p:nvSpPr>
            <p:spPr bwMode="auto">
              <a:xfrm>
                <a:off x="6053920" y="4259350"/>
                <a:ext cx="37687" cy="41391"/>
              </a:xfrm>
              <a:custGeom>
                <a:avLst/>
                <a:gdLst>
                  <a:gd name="T0" fmla="*/ 0 w 55"/>
                  <a:gd name="T1" fmla="*/ 1 h 53"/>
                  <a:gd name="T2" fmla="*/ 1 w 55"/>
                  <a:gd name="T3" fmla="*/ 1 h 53"/>
                  <a:gd name="T4" fmla="*/ 1 w 55"/>
                  <a:gd name="T5" fmla="*/ 0 h 53"/>
                  <a:gd name="T6" fmla="*/ 1 w 55"/>
                  <a:gd name="T7" fmla="*/ 1 h 53"/>
                  <a:gd name="T8" fmla="*/ 0 w 55"/>
                  <a:gd name="T9" fmla="*/ 1 h 53"/>
                  <a:gd name="T10" fmla="*/ 0 60000 65536"/>
                  <a:gd name="T11" fmla="*/ 0 60000 65536"/>
                  <a:gd name="T12" fmla="*/ 0 60000 65536"/>
                  <a:gd name="T13" fmla="*/ 0 60000 65536"/>
                  <a:gd name="T14" fmla="*/ 0 60000 65536"/>
                  <a:gd name="T15" fmla="*/ 0 w 55"/>
                  <a:gd name="T16" fmla="*/ 0 h 53"/>
                  <a:gd name="T17" fmla="*/ 55 w 55"/>
                  <a:gd name="T18" fmla="*/ 53 h 53"/>
                </a:gdLst>
                <a:ahLst/>
                <a:cxnLst>
                  <a:cxn ang="T10">
                    <a:pos x="T0" y="T1"/>
                  </a:cxn>
                  <a:cxn ang="T11">
                    <a:pos x="T2" y="T3"/>
                  </a:cxn>
                  <a:cxn ang="T12">
                    <a:pos x="T4" y="T5"/>
                  </a:cxn>
                  <a:cxn ang="T13">
                    <a:pos x="T6" y="T7"/>
                  </a:cxn>
                  <a:cxn ang="T14">
                    <a:pos x="T8" y="T9"/>
                  </a:cxn>
                </a:cxnLst>
                <a:rect l="T15" t="T16" r="T17" b="T18"/>
                <a:pathLst>
                  <a:path w="55" h="53">
                    <a:moveTo>
                      <a:pt x="0" y="53"/>
                    </a:moveTo>
                    <a:lnTo>
                      <a:pt x="22" y="9"/>
                    </a:lnTo>
                    <a:lnTo>
                      <a:pt x="48" y="0"/>
                    </a:lnTo>
                    <a:lnTo>
                      <a:pt x="55" y="44"/>
                    </a:lnTo>
                    <a:lnTo>
                      <a:pt x="0" y="5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5" name="16433376.625443.3756.758.6255">
                <a:extLst>
                  <a:ext uri="{FF2B5EF4-FFF2-40B4-BE49-F238E27FC236}">
                    <a16:creationId xmlns:a16="http://schemas.microsoft.com/office/drawing/2014/main" id="{AC317AE0-0239-BE40-E54C-A09D1064FCCE}"/>
                  </a:ext>
                </a:extLst>
              </p:cNvPr>
              <p:cNvSpPr>
                <a:spLocks/>
              </p:cNvSpPr>
              <p:nvPr/>
            </p:nvSpPr>
            <p:spPr bwMode="auto">
              <a:xfrm>
                <a:off x="5008109" y="3807115"/>
                <a:ext cx="138634" cy="107309"/>
              </a:xfrm>
              <a:custGeom>
                <a:avLst/>
                <a:gdLst>
                  <a:gd name="T0" fmla="*/ 0 w 206"/>
                  <a:gd name="T1" fmla="*/ 1 h 140"/>
                  <a:gd name="T2" fmla="*/ 1 w 206"/>
                  <a:gd name="T3" fmla="*/ 1 h 140"/>
                  <a:gd name="T4" fmla="*/ 1 w 206"/>
                  <a:gd name="T5" fmla="*/ 1 h 140"/>
                  <a:gd name="T6" fmla="*/ 1 w 206"/>
                  <a:gd name="T7" fmla="*/ 1 h 140"/>
                  <a:gd name="T8" fmla="*/ 1 w 206"/>
                  <a:gd name="T9" fmla="*/ 1 h 140"/>
                  <a:gd name="T10" fmla="*/ 1 w 206"/>
                  <a:gd name="T11" fmla="*/ 1 h 140"/>
                  <a:gd name="T12" fmla="*/ 1 w 206"/>
                  <a:gd name="T13" fmla="*/ 1 h 140"/>
                  <a:gd name="T14" fmla="*/ 1 w 206"/>
                  <a:gd name="T15" fmla="*/ 1 h 140"/>
                  <a:gd name="T16" fmla="*/ 1 w 206"/>
                  <a:gd name="T17" fmla="*/ 0 h 140"/>
                  <a:gd name="T18" fmla="*/ 1 w 206"/>
                  <a:gd name="T19" fmla="*/ 1 h 140"/>
                  <a:gd name="T20" fmla="*/ 0 w 206"/>
                  <a:gd name="T21" fmla="*/ 1 h 1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6"/>
                  <a:gd name="T34" fmla="*/ 0 h 140"/>
                  <a:gd name="T35" fmla="*/ 206 w 206"/>
                  <a:gd name="T36" fmla="*/ 140 h 1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6" h="140">
                    <a:moveTo>
                      <a:pt x="0" y="62"/>
                    </a:moveTo>
                    <a:lnTo>
                      <a:pt x="30" y="101"/>
                    </a:lnTo>
                    <a:lnTo>
                      <a:pt x="125" y="108"/>
                    </a:lnTo>
                    <a:lnTo>
                      <a:pt x="26" y="121"/>
                    </a:lnTo>
                    <a:lnTo>
                      <a:pt x="26" y="140"/>
                    </a:lnTo>
                    <a:lnTo>
                      <a:pt x="127" y="133"/>
                    </a:lnTo>
                    <a:lnTo>
                      <a:pt x="206" y="140"/>
                    </a:lnTo>
                    <a:lnTo>
                      <a:pt x="182" y="62"/>
                    </a:lnTo>
                    <a:lnTo>
                      <a:pt x="106" y="0"/>
                    </a:lnTo>
                    <a:lnTo>
                      <a:pt x="30" y="18"/>
                    </a:lnTo>
                    <a:lnTo>
                      <a:pt x="0" y="6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6" name="16434387.625449.254.8754.255">
                <a:extLst>
                  <a:ext uri="{FF2B5EF4-FFF2-40B4-BE49-F238E27FC236}">
                    <a16:creationId xmlns:a16="http://schemas.microsoft.com/office/drawing/2014/main" id="{96AF5A4A-E6ED-20DF-454B-73F4D1D09B55}"/>
                  </a:ext>
                </a:extLst>
              </p:cNvPr>
              <p:cNvSpPr>
                <a:spLocks/>
              </p:cNvSpPr>
              <p:nvPr/>
            </p:nvSpPr>
            <p:spPr bwMode="auto">
              <a:xfrm>
                <a:off x="5102326" y="3980344"/>
                <a:ext cx="69989" cy="76650"/>
              </a:xfrm>
              <a:custGeom>
                <a:avLst/>
                <a:gdLst>
                  <a:gd name="T0" fmla="*/ 0 w 103"/>
                  <a:gd name="T1" fmla="*/ 0 h 101"/>
                  <a:gd name="T2" fmla="*/ 1 w 103"/>
                  <a:gd name="T3" fmla="*/ 0 h 101"/>
                  <a:gd name="T4" fmla="*/ 1 w 103"/>
                  <a:gd name="T5" fmla="*/ 0 h 101"/>
                  <a:gd name="T6" fmla="*/ 1 w 103"/>
                  <a:gd name="T7" fmla="*/ 0 h 101"/>
                  <a:gd name="T8" fmla="*/ 1 w 103"/>
                  <a:gd name="T9" fmla="*/ 0 h 101"/>
                  <a:gd name="T10" fmla="*/ 0 w 103"/>
                  <a:gd name="T11" fmla="*/ 0 h 101"/>
                  <a:gd name="T12" fmla="*/ 0 60000 65536"/>
                  <a:gd name="T13" fmla="*/ 0 60000 65536"/>
                  <a:gd name="T14" fmla="*/ 0 60000 65536"/>
                  <a:gd name="T15" fmla="*/ 0 60000 65536"/>
                  <a:gd name="T16" fmla="*/ 0 60000 65536"/>
                  <a:gd name="T17" fmla="*/ 0 60000 65536"/>
                  <a:gd name="T18" fmla="*/ 0 w 103"/>
                  <a:gd name="T19" fmla="*/ 0 h 101"/>
                  <a:gd name="T20" fmla="*/ 103 w 103"/>
                  <a:gd name="T21" fmla="*/ 101 h 101"/>
                </a:gdLst>
                <a:ahLst/>
                <a:cxnLst>
                  <a:cxn ang="T12">
                    <a:pos x="T0" y="T1"/>
                  </a:cxn>
                  <a:cxn ang="T13">
                    <a:pos x="T2" y="T3"/>
                  </a:cxn>
                  <a:cxn ang="T14">
                    <a:pos x="T4" y="T5"/>
                  </a:cxn>
                  <a:cxn ang="T15">
                    <a:pos x="T6" y="T7"/>
                  </a:cxn>
                  <a:cxn ang="T16">
                    <a:pos x="T8" y="T9"/>
                  </a:cxn>
                  <a:cxn ang="T17">
                    <a:pos x="T10" y="T11"/>
                  </a:cxn>
                </a:cxnLst>
                <a:rect l="T18" t="T19" r="T20" b="T21"/>
                <a:pathLst>
                  <a:path w="103" h="101">
                    <a:moveTo>
                      <a:pt x="0" y="29"/>
                    </a:moveTo>
                    <a:lnTo>
                      <a:pt x="11" y="69"/>
                    </a:lnTo>
                    <a:lnTo>
                      <a:pt x="62" y="101"/>
                    </a:lnTo>
                    <a:lnTo>
                      <a:pt x="103" y="51"/>
                    </a:lnTo>
                    <a:lnTo>
                      <a:pt x="70" y="0"/>
                    </a:lnTo>
                    <a:lnTo>
                      <a:pt x="0" y="2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7" name="16435384.375524.6252214.255">
                <a:extLst>
                  <a:ext uri="{FF2B5EF4-FFF2-40B4-BE49-F238E27FC236}">
                    <a16:creationId xmlns:a16="http://schemas.microsoft.com/office/drawing/2014/main" id="{371CFD38-F09B-41AA-0959-FC901A1ED49E}"/>
                  </a:ext>
                </a:extLst>
              </p:cNvPr>
              <p:cNvSpPr>
                <a:spLocks/>
              </p:cNvSpPr>
              <p:nvPr/>
            </p:nvSpPr>
            <p:spPr bwMode="auto">
              <a:xfrm>
                <a:off x="6323113" y="3929755"/>
                <a:ext cx="230161" cy="346457"/>
              </a:xfrm>
              <a:custGeom>
                <a:avLst/>
                <a:gdLst>
                  <a:gd name="T0" fmla="*/ 0 w 341"/>
                  <a:gd name="T1" fmla="*/ 0 h 453"/>
                  <a:gd name="T2" fmla="*/ 0 w 341"/>
                  <a:gd name="T3" fmla="*/ 0 h 453"/>
                  <a:gd name="T4" fmla="*/ 1 w 341"/>
                  <a:gd name="T5" fmla="*/ 0 h 453"/>
                  <a:gd name="T6" fmla="*/ 1 w 341"/>
                  <a:gd name="T7" fmla="*/ 0 h 453"/>
                  <a:gd name="T8" fmla="*/ 1 w 341"/>
                  <a:gd name="T9" fmla="*/ 0 h 453"/>
                  <a:gd name="T10" fmla="*/ 1 w 341"/>
                  <a:gd name="T11" fmla="*/ 0 h 453"/>
                  <a:gd name="T12" fmla="*/ 1 w 341"/>
                  <a:gd name="T13" fmla="*/ 0 h 453"/>
                  <a:gd name="T14" fmla="*/ 1 w 341"/>
                  <a:gd name="T15" fmla="*/ 0 h 453"/>
                  <a:gd name="T16" fmla="*/ 1 w 341"/>
                  <a:gd name="T17" fmla="*/ 0 h 453"/>
                  <a:gd name="T18" fmla="*/ 1 w 341"/>
                  <a:gd name="T19" fmla="*/ 0 h 453"/>
                  <a:gd name="T20" fmla="*/ 1 w 341"/>
                  <a:gd name="T21" fmla="*/ 0 h 453"/>
                  <a:gd name="T22" fmla="*/ 1 w 341"/>
                  <a:gd name="T23" fmla="*/ 0 h 453"/>
                  <a:gd name="T24" fmla="*/ 1 w 341"/>
                  <a:gd name="T25" fmla="*/ 0 h 453"/>
                  <a:gd name="T26" fmla="*/ 0 w 341"/>
                  <a:gd name="T27" fmla="*/ 0 h 4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1"/>
                  <a:gd name="T43" fmla="*/ 0 h 453"/>
                  <a:gd name="T44" fmla="*/ 341 w 341"/>
                  <a:gd name="T45" fmla="*/ 453 h 4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1" h="453">
                    <a:moveTo>
                      <a:pt x="0" y="425"/>
                    </a:moveTo>
                    <a:lnTo>
                      <a:pt x="0" y="303"/>
                    </a:lnTo>
                    <a:lnTo>
                      <a:pt x="27" y="267"/>
                    </a:lnTo>
                    <a:lnTo>
                      <a:pt x="132" y="230"/>
                    </a:lnTo>
                    <a:lnTo>
                      <a:pt x="233" y="130"/>
                    </a:lnTo>
                    <a:lnTo>
                      <a:pt x="101" y="96"/>
                    </a:lnTo>
                    <a:lnTo>
                      <a:pt x="60" y="36"/>
                    </a:lnTo>
                    <a:lnTo>
                      <a:pt x="75" y="17"/>
                    </a:lnTo>
                    <a:lnTo>
                      <a:pt x="128" y="52"/>
                    </a:lnTo>
                    <a:lnTo>
                      <a:pt x="325" y="0"/>
                    </a:lnTo>
                    <a:lnTo>
                      <a:pt x="341" y="52"/>
                    </a:lnTo>
                    <a:lnTo>
                      <a:pt x="221" y="264"/>
                    </a:lnTo>
                    <a:lnTo>
                      <a:pt x="16" y="453"/>
                    </a:lnTo>
                    <a:lnTo>
                      <a:pt x="0" y="42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8" name="16436429.125502.511.7510.8755">
                <a:extLst>
                  <a:ext uri="{FF2B5EF4-FFF2-40B4-BE49-F238E27FC236}">
                    <a16:creationId xmlns:a16="http://schemas.microsoft.com/office/drawing/2014/main" id="{16433130-02E6-E896-79CE-506E4D1F9A3D}"/>
                  </a:ext>
                </a:extLst>
              </p:cNvPr>
              <p:cNvSpPr>
                <a:spLocks/>
              </p:cNvSpPr>
              <p:nvPr/>
            </p:nvSpPr>
            <p:spPr bwMode="auto">
              <a:xfrm>
                <a:off x="5965087" y="4634936"/>
                <a:ext cx="176321" cy="183959"/>
              </a:xfrm>
              <a:custGeom>
                <a:avLst/>
                <a:gdLst>
                  <a:gd name="T0" fmla="*/ 0 w 262"/>
                  <a:gd name="T1" fmla="*/ 0 h 241"/>
                  <a:gd name="T2" fmla="*/ 1 w 262"/>
                  <a:gd name="T3" fmla="*/ 0 h 241"/>
                  <a:gd name="T4" fmla="*/ 1 w 262"/>
                  <a:gd name="T5" fmla="*/ 0 h 241"/>
                  <a:gd name="T6" fmla="*/ 1 w 262"/>
                  <a:gd name="T7" fmla="*/ 0 h 241"/>
                  <a:gd name="T8" fmla="*/ 1 w 262"/>
                  <a:gd name="T9" fmla="*/ 0 h 241"/>
                  <a:gd name="T10" fmla="*/ 1 w 262"/>
                  <a:gd name="T11" fmla="*/ 0 h 241"/>
                  <a:gd name="T12" fmla="*/ 1 w 262"/>
                  <a:gd name="T13" fmla="*/ 0 h 241"/>
                  <a:gd name="T14" fmla="*/ 1 w 262"/>
                  <a:gd name="T15" fmla="*/ 0 h 241"/>
                  <a:gd name="T16" fmla="*/ 1 w 262"/>
                  <a:gd name="T17" fmla="*/ 0 h 241"/>
                  <a:gd name="T18" fmla="*/ 1 w 262"/>
                  <a:gd name="T19" fmla="*/ 0 h 241"/>
                  <a:gd name="T20" fmla="*/ 1 w 262"/>
                  <a:gd name="T21" fmla="*/ 0 h 241"/>
                  <a:gd name="T22" fmla="*/ 0 w 262"/>
                  <a:gd name="T23" fmla="*/ 0 h 2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2"/>
                  <a:gd name="T37" fmla="*/ 0 h 241"/>
                  <a:gd name="T38" fmla="*/ 262 w 262"/>
                  <a:gd name="T39" fmla="*/ 241 h 2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2" h="241">
                    <a:moveTo>
                      <a:pt x="0" y="74"/>
                    </a:moveTo>
                    <a:lnTo>
                      <a:pt x="59" y="76"/>
                    </a:lnTo>
                    <a:lnTo>
                      <a:pt x="118" y="32"/>
                    </a:lnTo>
                    <a:lnTo>
                      <a:pt x="121" y="12"/>
                    </a:lnTo>
                    <a:lnTo>
                      <a:pt x="171" y="0"/>
                    </a:lnTo>
                    <a:lnTo>
                      <a:pt x="254" y="26"/>
                    </a:lnTo>
                    <a:lnTo>
                      <a:pt x="262" y="61"/>
                    </a:lnTo>
                    <a:lnTo>
                      <a:pt x="258" y="149"/>
                    </a:lnTo>
                    <a:lnTo>
                      <a:pt x="214" y="241"/>
                    </a:lnTo>
                    <a:lnTo>
                      <a:pt x="138" y="224"/>
                    </a:lnTo>
                    <a:lnTo>
                      <a:pt x="93" y="202"/>
                    </a:lnTo>
                    <a:lnTo>
                      <a:pt x="0" y="7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89" name="16437431.25483.7520.62518.755">
                <a:extLst>
                  <a:ext uri="{FF2B5EF4-FFF2-40B4-BE49-F238E27FC236}">
                    <a16:creationId xmlns:a16="http://schemas.microsoft.com/office/drawing/2014/main" id="{8E9DC3A7-B3F6-73AF-23A1-28ECAFEB27D1}"/>
                  </a:ext>
                </a:extLst>
              </p:cNvPr>
              <p:cNvSpPr>
                <a:spLocks/>
              </p:cNvSpPr>
              <p:nvPr/>
            </p:nvSpPr>
            <p:spPr bwMode="auto">
              <a:xfrm>
                <a:off x="5660902" y="4668661"/>
                <a:ext cx="304187" cy="324996"/>
              </a:xfrm>
              <a:custGeom>
                <a:avLst/>
                <a:gdLst>
                  <a:gd name="T0" fmla="*/ 0 w 453"/>
                  <a:gd name="T1" fmla="*/ 0 h 425"/>
                  <a:gd name="T2" fmla="*/ 0 w 453"/>
                  <a:gd name="T3" fmla="*/ 0 h 425"/>
                  <a:gd name="T4" fmla="*/ 0 w 453"/>
                  <a:gd name="T5" fmla="*/ 0 h 425"/>
                  <a:gd name="T6" fmla="*/ 0 w 453"/>
                  <a:gd name="T7" fmla="*/ 0 h 425"/>
                  <a:gd name="T8" fmla="*/ 0 w 453"/>
                  <a:gd name="T9" fmla="*/ 0 h 425"/>
                  <a:gd name="T10" fmla="*/ 0 w 453"/>
                  <a:gd name="T11" fmla="*/ 0 h 425"/>
                  <a:gd name="T12" fmla="*/ 0 w 453"/>
                  <a:gd name="T13" fmla="*/ 0 h 425"/>
                  <a:gd name="T14" fmla="*/ 0 w 453"/>
                  <a:gd name="T15" fmla="*/ 0 h 425"/>
                  <a:gd name="T16" fmla="*/ 0 w 453"/>
                  <a:gd name="T17" fmla="*/ 0 h 425"/>
                  <a:gd name="T18" fmla="*/ 0 w 453"/>
                  <a:gd name="T19" fmla="*/ 0 h 425"/>
                  <a:gd name="T20" fmla="*/ 0 w 453"/>
                  <a:gd name="T21" fmla="*/ 0 h 425"/>
                  <a:gd name="T22" fmla="*/ 0 w 453"/>
                  <a:gd name="T23" fmla="*/ 0 h 425"/>
                  <a:gd name="T24" fmla="*/ 0 w 453"/>
                  <a:gd name="T25" fmla="*/ 0 h 425"/>
                  <a:gd name="T26" fmla="*/ 0 w 453"/>
                  <a:gd name="T27" fmla="*/ 0 h 425"/>
                  <a:gd name="T28" fmla="*/ 0 w 453"/>
                  <a:gd name="T29" fmla="*/ 0 h 425"/>
                  <a:gd name="T30" fmla="*/ 0 w 453"/>
                  <a:gd name="T31" fmla="*/ 0 h 425"/>
                  <a:gd name="T32" fmla="*/ 0 w 453"/>
                  <a:gd name="T33" fmla="*/ 0 h 425"/>
                  <a:gd name="T34" fmla="*/ 0 w 453"/>
                  <a:gd name="T35" fmla="*/ 0 h 425"/>
                  <a:gd name="T36" fmla="*/ 0 w 453"/>
                  <a:gd name="T37" fmla="*/ 0 h 425"/>
                  <a:gd name="T38" fmla="*/ 0 w 453"/>
                  <a:gd name="T39" fmla="*/ 0 h 4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53"/>
                  <a:gd name="T61" fmla="*/ 0 h 425"/>
                  <a:gd name="T62" fmla="*/ 453 w 453"/>
                  <a:gd name="T63" fmla="*/ 425 h 4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53" h="425">
                    <a:moveTo>
                      <a:pt x="0" y="14"/>
                    </a:moveTo>
                    <a:lnTo>
                      <a:pt x="55" y="0"/>
                    </a:lnTo>
                    <a:lnTo>
                      <a:pt x="328" y="40"/>
                    </a:lnTo>
                    <a:lnTo>
                      <a:pt x="389" y="22"/>
                    </a:lnTo>
                    <a:lnTo>
                      <a:pt x="453" y="30"/>
                    </a:lnTo>
                    <a:lnTo>
                      <a:pt x="398" y="61"/>
                    </a:lnTo>
                    <a:lnTo>
                      <a:pt x="377" y="40"/>
                    </a:lnTo>
                    <a:lnTo>
                      <a:pt x="312" y="54"/>
                    </a:lnTo>
                    <a:lnTo>
                      <a:pt x="312" y="173"/>
                    </a:lnTo>
                    <a:lnTo>
                      <a:pt x="278" y="175"/>
                    </a:lnTo>
                    <a:lnTo>
                      <a:pt x="278" y="268"/>
                    </a:lnTo>
                    <a:lnTo>
                      <a:pt x="278" y="404"/>
                    </a:lnTo>
                    <a:lnTo>
                      <a:pt x="249" y="425"/>
                    </a:lnTo>
                    <a:lnTo>
                      <a:pt x="207" y="425"/>
                    </a:lnTo>
                    <a:lnTo>
                      <a:pt x="183" y="396"/>
                    </a:lnTo>
                    <a:lnTo>
                      <a:pt x="164" y="411"/>
                    </a:lnTo>
                    <a:lnTo>
                      <a:pt x="120" y="365"/>
                    </a:lnTo>
                    <a:lnTo>
                      <a:pt x="97" y="216"/>
                    </a:lnTo>
                    <a:lnTo>
                      <a:pt x="97" y="198"/>
                    </a:lnTo>
                    <a:lnTo>
                      <a:pt x="0" y="1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0" name="16438357.875444.12511.37511.6255">
                <a:extLst>
                  <a:ext uri="{FF2B5EF4-FFF2-40B4-BE49-F238E27FC236}">
                    <a16:creationId xmlns:a16="http://schemas.microsoft.com/office/drawing/2014/main" id="{13B6C181-7DFD-3901-09C3-2AD24AE6043F}"/>
                  </a:ext>
                </a:extLst>
              </p:cNvPr>
              <p:cNvSpPr>
                <a:spLocks/>
              </p:cNvSpPr>
              <p:nvPr/>
            </p:nvSpPr>
            <p:spPr bwMode="auto">
              <a:xfrm>
                <a:off x="5020223" y="3511243"/>
                <a:ext cx="188435" cy="179363"/>
              </a:xfrm>
              <a:custGeom>
                <a:avLst/>
                <a:gdLst>
                  <a:gd name="T0" fmla="*/ 0 w 281"/>
                  <a:gd name="T1" fmla="*/ 1 h 234"/>
                  <a:gd name="T2" fmla="*/ 0 w 281"/>
                  <a:gd name="T3" fmla="*/ 0 h 234"/>
                  <a:gd name="T4" fmla="*/ 0 w 281"/>
                  <a:gd name="T5" fmla="*/ 1 h 234"/>
                  <a:gd name="T6" fmla="*/ 0 w 281"/>
                  <a:gd name="T7" fmla="*/ 1 h 234"/>
                  <a:gd name="T8" fmla="*/ 0 w 281"/>
                  <a:gd name="T9" fmla="*/ 1 h 234"/>
                  <a:gd name="T10" fmla="*/ 0 w 281"/>
                  <a:gd name="T11" fmla="*/ 1 h 234"/>
                  <a:gd name="T12" fmla="*/ 0 w 281"/>
                  <a:gd name="T13" fmla="*/ 1 h 234"/>
                  <a:gd name="T14" fmla="*/ 0 w 281"/>
                  <a:gd name="T15" fmla="*/ 1 h 234"/>
                  <a:gd name="T16" fmla="*/ 0 w 281"/>
                  <a:gd name="T17" fmla="*/ 1 h 234"/>
                  <a:gd name="T18" fmla="*/ 0 w 281"/>
                  <a:gd name="T19" fmla="*/ 1 h 2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1"/>
                  <a:gd name="T31" fmla="*/ 0 h 234"/>
                  <a:gd name="T32" fmla="*/ 281 w 281"/>
                  <a:gd name="T33" fmla="*/ 234 h 2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1" h="234">
                    <a:moveTo>
                      <a:pt x="0" y="234"/>
                    </a:moveTo>
                    <a:lnTo>
                      <a:pt x="132" y="0"/>
                    </a:lnTo>
                    <a:lnTo>
                      <a:pt x="278" y="4"/>
                    </a:lnTo>
                    <a:lnTo>
                      <a:pt x="281" y="17"/>
                    </a:lnTo>
                    <a:lnTo>
                      <a:pt x="278" y="61"/>
                    </a:lnTo>
                    <a:lnTo>
                      <a:pt x="171" y="58"/>
                    </a:lnTo>
                    <a:lnTo>
                      <a:pt x="169" y="149"/>
                    </a:lnTo>
                    <a:lnTo>
                      <a:pt x="131" y="165"/>
                    </a:lnTo>
                    <a:lnTo>
                      <a:pt x="134" y="220"/>
                    </a:lnTo>
                    <a:lnTo>
                      <a:pt x="0" y="234"/>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1" name="16439365.75498.12532.125235">
                <a:extLst>
                  <a:ext uri="{FF2B5EF4-FFF2-40B4-BE49-F238E27FC236}">
                    <a16:creationId xmlns:a16="http://schemas.microsoft.com/office/drawing/2014/main" id="{B9ED664B-17C4-23FD-B424-534698C0673E}"/>
                  </a:ext>
                </a:extLst>
              </p:cNvPr>
              <p:cNvSpPr>
                <a:spLocks/>
              </p:cNvSpPr>
              <p:nvPr/>
            </p:nvSpPr>
            <p:spPr bwMode="auto">
              <a:xfrm>
                <a:off x="5893751" y="3636952"/>
                <a:ext cx="372832" cy="504358"/>
              </a:xfrm>
              <a:custGeom>
                <a:avLst/>
                <a:gdLst>
                  <a:gd name="T0" fmla="*/ 0 w 554"/>
                  <a:gd name="T1" fmla="*/ 0 h 659"/>
                  <a:gd name="T2" fmla="*/ 1 w 554"/>
                  <a:gd name="T3" fmla="*/ 0 h 659"/>
                  <a:gd name="T4" fmla="*/ 1 w 554"/>
                  <a:gd name="T5" fmla="*/ 0 h 659"/>
                  <a:gd name="T6" fmla="*/ 1 w 554"/>
                  <a:gd name="T7" fmla="*/ 0 h 659"/>
                  <a:gd name="T8" fmla="*/ 1 w 554"/>
                  <a:gd name="T9" fmla="*/ 0 h 659"/>
                  <a:gd name="T10" fmla="*/ 1 w 554"/>
                  <a:gd name="T11" fmla="*/ 0 h 659"/>
                  <a:gd name="T12" fmla="*/ 1 w 554"/>
                  <a:gd name="T13" fmla="*/ 0 h 659"/>
                  <a:gd name="T14" fmla="*/ 1 w 554"/>
                  <a:gd name="T15" fmla="*/ 0 h 659"/>
                  <a:gd name="T16" fmla="*/ 1 w 554"/>
                  <a:gd name="T17" fmla="*/ 0 h 659"/>
                  <a:gd name="T18" fmla="*/ 1 w 554"/>
                  <a:gd name="T19" fmla="*/ 0 h 659"/>
                  <a:gd name="T20" fmla="*/ 1 w 554"/>
                  <a:gd name="T21" fmla="*/ 0 h 659"/>
                  <a:gd name="T22" fmla="*/ 1 w 554"/>
                  <a:gd name="T23" fmla="*/ 0 h 659"/>
                  <a:gd name="T24" fmla="*/ 1 w 554"/>
                  <a:gd name="T25" fmla="*/ 0 h 659"/>
                  <a:gd name="T26" fmla="*/ 1 w 554"/>
                  <a:gd name="T27" fmla="*/ 0 h 659"/>
                  <a:gd name="T28" fmla="*/ 1 w 554"/>
                  <a:gd name="T29" fmla="*/ 0 h 659"/>
                  <a:gd name="T30" fmla="*/ 1 w 554"/>
                  <a:gd name="T31" fmla="*/ 0 h 659"/>
                  <a:gd name="T32" fmla="*/ 1 w 554"/>
                  <a:gd name="T33" fmla="*/ 0 h 659"/>
                  <a:gd name="T34" fmla="*/ 1 w 554"/>
                  <a:gd name="T35" fmla="*/ 0 h 659"/>
                  <a:gd name="T36" fmla="*/ 1 w 554"/>
                  <a:gd name="T37" fmla="*/ 0 h 659"/>
                  <a:gd name="T38" fmla="*/ 1 w 554"/>
                  <a:gd name="T39" fmla="*/ 0 h 659"/>
                  <a:gd name="T40" fmla="*/ 1 w 554"/>
                  <a:gd name="T41" fmla="*/ 0 h 659"/>
                  <a:gd name="T42" fmla="*/ 1 w 554"/>
                  <a:gd name="T43" fmla="*/ 0 h 659"/>
                  <a:gd name="T44" fmla="*/ 1 w 554"/>
                  <a:gd name="T45" fmla="*/ 0 h 659"/>
                  <a:gd name="T46" fmla="*/ 1 w 554"/>
                  <a:gd name="T47" fmla="*/ 0 h 659"/>
                  <a:gd name="T48" fmla="*/ 1 w 554"/>
                  <a:gd name="T49" fmla="*/ 0 h 659"/>
                  <a:gd name="T50" fmla="*/ 0 w 554"/>
                  <a:gd name="T51" fmla="*/ 0 h 6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54"/>
                  <a:gd name="T79" fmla="*/ 0 h 659"/>
                  <a:gd name="T80" fmla="*/ 554 w 554"/>
                  <a:gd name="T81" fmla="*/ 659 h 6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54" h="659">
                    <a:moveTo>
                      <a:pt x="0" y="348"/>
                    </a:moveTo>
                    <a:lnTo>
                      <a:pt x="26" y="414"/>
                    </a:lnTo>
                    <a:lnTo>
                      <a:pt x="51" y="485"/>
                    </a:lnTo>
                    <a:lnTo>
                      <a:pt x="107" y="512"/>
                    </a:lnTo>
                    <a:lnTo>
                      <a:pt x="188" y="609"/>
                    </a:lnTo>
                    <a:lnTo>
                      <a:pt x="299" y="659"/>
                    </a:lnTo>
                    <a:lnTo>
                      <a:pt x="402" y="646"/>
                    </a:lnTo>
                    <a:lnTo>
                      <a:pt x="464" y="627"/>
                    </a:lnTo>
                    <a:lnTo>
                      <a:pt x="427" y="557"/>
                    </a:lnTo>
                    <a:lnTo>
                      <a:pt x="368" y="517"/>
                    </a:lnTo>
                    <a:lnTo>
                      <a:pt x="407" y="491"/>
                    </a:lnTo>
                    <a:lnTo>
                      <a:pt x="411" y="430"/>
                    </a:lnTo>
                    <a:lnTo>
                      <a:pt x="477" y="349"/>
                    </a:lnTo>
                    <a:lnTo>
                      <a:pt x="503" y="206"/>
                    </a:lnTo>
                    <a:lnTo>
                      <a:pt x="554" y="175"/>
                    </a:lnTo>
                    <a:lnTo>
                      <a:pt x="514" y="144"/>
                    </a:lnTo>
                    <a:lnTo>
                      <a:pt x="499" y="38"/>
                    </a:lnTo>
                    <a:lnTo>
                      <a:pt x="455" y="0"/>
                    </a:lnTo>
                    <a:lnTo>
                      <a:pt x="402" y="45"/>
                    </a:lnTo>
                    <a:lnTo>
                      <a:pt x="101" y="37"/>
                    </a:lnTo>
                    <a:lnTo>
                      <a:pt x="101" y="104"/>
                    </a:lnTo>
                    <a:lnTo>
                      <a:pt x="71" y="106"/>
                    </a:lnTo>
                    <a:lnTo>
                      <a:pt x="71" y="125"/>
                    </a:lnTo>
                    <a:lnTo>
                      <a:pt x="70" y="252"/>
                    </a:lnTo>
                    <a:lnTo>
                      <a:pt x="35" y="258"/>
                    </a:lnTo>
                    <a:lnTo>
                      <a:pt x="0" y="34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2" name="16440446.125510.3752.6251.6255">
                <a:extLst>
                  <a:ext uri="{FF2B5EF4-FFF2-40B4-BE49-F238E27FC236}">
                    <a16:creationId xmlns:a16="http://schemas.microsoft.com/office/drawing/2014/main" id="{5B479C1A-F6AC-AAD1-02EC-1A8BB8EA640A}"/>
                  </a:ext>
                </a:extLst>
              </p:cNvPr>
              <p:cNvSpPr>
                <a:spLocks/>
              </p:cNvSpPr>
              <p:nvPr/>
            </p:nvSpPr>
            <p:spPr bwMode="auto">
              <a:xfrm>
                <a:off x="6092954" y="4901677"/>
                <a:ext cx="26919" cy="41391"/>
              </a:xfrm>
              <a:custGeom>
                <a:avLst/>
                <a:gdLst>
                  <a:gd name="T0" fmla="*/ 0 w 39"/>
                  <a:gd name="T1" fmla="*/ 1 h 54"/>
                  <a:gd name="T2" fmla="*/ 1 w 39"/>
                  <a:gd name="T3" fmla="*/ 1 h 54"/>
                  <a:gd name="T4" fmla="*/ 1 w 39"/>
                  <a:gd name="T5" fmla="*/ 1 h 54"/>
                  <a:gd name="T6" fmla="*/ 1 w 39"/>
                  <a:gd name="T7" fmla="*/ 0 h 54"/>
                  <a:gd name="T8" fmla="*/ 0 w 39"/>
                  <a:gd name="T9" fmla="*/ 1 h 54"/>
                  <a:gd name="T10" fmla="*/ 0 60000 65536"/>
                  <a:gd name="T11" fmla="*/ 0 60000 65536"/>
                  <a:gd name="T12" fmla="*/ 0 60000 65536"/>
                  <a:gd name="T13" fmla="*/ 0 60000 65536"/>
                  <a:gd name="T14" fmla="*/ 0 60000 65536"/>
                  <a:gd name="T15" fmla="*/ 0 w 39"/>
                  <a:gd name="T16" fmla="*/ 0 h 54"/>
                  <a:gd name="T17" fmla="*/ 39 w 39"/>
                  <a:gd name="T18" fmla="*/ 54 h 54"/>
                </a:gdLst>
                <a:ahLst/>
                <a:cxnLst>
                  <a:cxn ang="T10">
                    <a:pos x="T0" y="T1"/>
                  </a:cxn>
                  <a:cxn ang="T11">
                    <a:pos x="T2" y="T3"/>
                  </a:cxn>
                  <a:cxn ang="T12">
                    <a:pos x="T4" y="T5"/>
                  </a:cxn>
                  <a:cxn ang="T13">
                    <a:pos x="T6" y="T7"/>
                  </a:cxn>
                  <a:cxn ang="T14">
                    <a:pos x="T8" y="T9"/>
                  </a:cxn>
                </a:cxnLst>
                <a:rect l="T15" t="T16" r="T17" b="T18"/>
                <a:pathLst>
                  <a:path w="39" h="54">
                    <a:moveTo>
                      <a:pt x="0" y="31"/>
                    </a:moveTo>
                    <a:lnTo>
                      <a:pt x="22" y="54"/>
                    </a:lnTo>
                    <a:lnTo>
                      <a:pt x="39" y="35"/>
                    </a:lnTo>
                    <a:lnTo>
                      <a:pt x="35" y="0"/>
                    </a:lnTo>
                    <a:lnTo>
                      <a:pt x="0" y="3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3" name="16441405.25508.87517.25155">
                <a:extLst>
                  <a:ext uri="{FF2B5EF4-FFF2-40B4-BE49-F238E27FC236}">
                    <a16:creationId xmlns:a16="http://schemas.microsoft.com/office/drawing/2014/main" id="{CA0202F0-B7CB-1D60-BEEE-1220A2F5E7AA}"/>
                  </a:ext>
                </a:extLst>
              </p:cNvPr>
              <p:cNvSpPr>
                <a:spLocks/>
              </p:cNvSpPr>
              <p:nvPr/>
            </p:nvSpPr>
            <p:spPr bwMode="auto">
              <a:xfrm>
                <a:off x="6068726" y="4257816"/>
                <a:ext cx="242274" cy="272874"/>
              </a:xfrm>
              <a:custGeom>
                <a:avLst/>
                <a:gdLst>
                  <a:gd name="T0" fmla="*/ 0 w 361"/>
                  <a:gd name="T1" fmla="*/ 1 h 356"/>
                  <a:gd name="T2" fmla="*/ 0 w 361"/>
                  <a:gd name="T3" fmla="*/ 1 h 356"/>
                  <a:gd name="T4" fmla="*/ 0 w 361"/>
                  <a:gd name="T5" fmla="*/ 1 h 356"/>
                  <a:gd name="T6" fmla="*/ 0 w 361"/>
                  <a:gd name="T7" fmla="*/ 1 h 356"/>
                  <a:gd name="T8" fmla="*/ 0 w 361"/>
                  <a:gd name="T9" fmla="*/ 1 h 356"/>
                  <a:gd name="T10" fmla="*/ 0 w 361"/>
                  <a:gd name="T11" fmla="*/ 1 h 356"/>
                  <a:gd name="T12" fmla="*/ 0 w 361"/>
                  <a:gd name="T13" fmla="*/ 1 h 356"/>
                  <a:gd name="T14" fmla="*/ 0 w 361"/>
                  <a:gd name="T15" fmla="*/ 1 h 356"/>
                  <a:gd name="T16" fmla="*/ 0 w 361"/>
                  <a:gd name="T17" fmla="*/ 1 h 356"/>
                  <a:gd name="T18" fmla="*/ 0 w 361"/>
                  <a:gd name="T19" fmla="*/ 1 h 356"/>
                  <a:gd name="T20" fmla="*/ 0 w 361"/>
                  <a:gd name="T21" fmla="*/ 0 h 356"/>
                  <a:gd name="T22" fmla="*/ 0 w 361"/>
                  <a:gd name="T23" fmla="*/ 1 h 356"/>
                  <a:gd name="T24" fmla="*/ 0 w 361"/>
                  <a:gd name="T25" fmla="*/ 1 h 356"/>
                  <a:gd name="T26" fmla="*/ 0 w 361"/>
                  <a:gd name="T27" fmla="*/ 1 h 356"/>
                  <a:gd name="T28" fmla="*/ 0 w 361"/>
                  <a:gd name="T29" fmla="*/ 0 h 356"/>
                  <a:gd name="T30" fmla="*/ 0 w 361"/>
                  <a:gd name="T31" fmla="*/ 1 h 356"/>
                  <a:gd name="T32" fmla="*/ 0 w 361"/>
                  <a:gd name="T33" fmla="*/ 1 h 356"/>
                  <a:gd name="T34" fmla="*/ 0 w 361"/>
                  <a:gd name="T35" fmla="*/ 1 h 356"/>
                  <a:gd name="T36" fmla="*/ 0 w 361"/>
                  <a:gd name="T37" fmla="*/ 1 h 3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1"/>
                  <a:gd name="T58" fmla="*/ 0 h 356"/>
                  <a:gd name="T59" fmla="*/ 361 w 361"/>
                  <a:gd name="T60" fmla="*/ 356 h 3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1" h="356">
                    <a:moveTo>
                      <a:pt x="0" y="113"/>
                    </a:moveTo>
                    <a:lnTo>
                      <a:pt x="3" y="182"/>
                    </a:lnTo>
                    <a:lnTo>
                      <a:pt x="47" y="252"/>
                    </a:lnTo>
                    <a:lnTo>
                      <a:pt x="109" y="282"/>
                    </a:lnTo>
                    <a:lnTo>
                      <a:pt x="142" y="289"/>
                    </a:lnTo>
                    <a:lnTo>
                      <a:pt x="178" y="356"/>
                    </a:lnTo>
                    <a:lnTo>
                      <a:pt x="311" y="348"/>
                    </a:lnTo>
                    <a:lnTo>
                      <a:pt x="361" y="318"/>
                    </a:lnTo>
                    <a:lnTo>
                      <a:pt x="310" y="177"/>
                    </a:lnTo>
                    <a:lnTo>
                      <a:pt x="323" y="124"/>
                    </a:lnTo>
                    <a:lnTo>
                      <a:pt x="152" y="0"/>
                    </a:lnTo>
                    <a:lnTo>
                      <a:pt x="106" y="62"/>
                    </a:lnTo>
                    <a:lnTo>
                      <a:pt x="87" y="45"/>
                    </a:lnTo>
                    <a:lnTo>
                      <a:pt x="73" y="59"/>
                    </a:lnTo>
                    <a:lnTo>
                      <a:pt x="72" y="0"/>
                    </a:lnTo>
                    <a:lnTo>
                      <a:pt x="28" y="3"/>
                    </a:lnTo>
                    <a:lnTo>
                      <a:pt x="35" y="47"/>
                    </a:lnTo>
                    <a:lnTo>
                      <a:pt x="38" y="74"/>
                    </a:lnTo>
                    <a:lnTo>
                      <a:pt x="0" y="11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4" name="16442385.5467.3758.37535">
                <a:extLst>
                  <a:ext uri="{FF2B5EF4-FFF2-40B4-BE49-F238E27FC236}">
                    <a16:creationId xmlns:a16="http://schemas.microsoft.com/office/drawing/2014/main" id="{6470047F-C85C-758E-5C02-033534421193}"/>
                  </a:ext>
                </a:extLst>
              </p:cNvPr>
              <p:cNvSpPr>
                <a:spLocks/>
              </p:cNvSpPr>
              <p:nvPr/>
            </p:nvSpPr>
            <p:spPr bwMode="auto">
              <a:xfrm>
                <a:off x="5397090" y="3948150"/>
                <a:ext cx="48456" cy="131839"/>
              </a:xfrm>
              <a:custGeom>
                <a:avLst/>
                <a:gdLst>
                  <a:gd name="T0" fmla="*/ 0 w 71"/>
                  <a:gd name="T1" fmla="*/ 0 h 171"/>
                  <a:gd name="T2" fmla="*/ 1 w 71"/>
                  <a:gd name="T3" fmla="*/ 1 h 171"/>
                  <a:gd name="T4" fmla="*/ 1 w 71"/>
                  <a:gd name="T5" fmla="*/ 1 h 171"/>
                  <a:gd name="T6" fmla="*/ 1 w 71"/>
                  <a:gd name="T7" fmla="*/ 1 h 171"/>
                  <a:gd name="T8" fmla="*/ 0 w 71"/>
                  <a:gd name="T9" fmla="*/ 0 h 171"/>
                  <a:gd name="T10" fmla="*/ 0 60000 65536"/>
                  <a:gd name="T11" fmla="*/ 0 60000 65536"/>
                  <a:gd name="T12" fmla="*/ 0 60000 65536"/>
                  <a:gd name="T13" fmla="*/ 0 60000 65536"/>
                  <a:gd name="T14" fmla="*/ 0 60000 65536"/>
                  <a:gd name="T15" fmla="*/ 0 w 71"/>
                  <a:gd name="T16" fmla="*/ 0 h 171"/>
                  <a:gd name="T17" fmla="*/ 71 w 71"/>
                  <a:gd name="T18" fmla="*/ 171 h 171"/>
                </a:gdLst>
                <a:ahLst/>
                <a:cxnLst>
                  <a:cxn ang="T10">
                    <a:pos x="T0" y="T1"/>
                  </a:cxn>
                  <a:cxn ang="T11">
                    <a:pos x="T2" y="T3"/>
                  </a:cxn>
                  <a:cxn ang="T12">
                    <a:pos x="T4" y="T5"/>
                  </a:cxn>
                  <a:cxn ang="T13">
                    <a:pos x="T6" y="T7"/>
                  </a:cxn>
                  <a:cxn ang="T14">
                    <a:pos x="T8" y="T9"/>
                  </a:cxn>
                </a:cxnLst>
                <a:rect l="T15" t="T16" r="T17" b="T18"/>
                <a:pathLst>
                  <a:path w="71" h="171">
                    <a:moveTo>
                      <a:pt x="0" y="0"/>
                    </a:moveTo>
                    <a:lnTo>
                      <a:pt x="35" y="8"/>
                    </a:lnTo>
                    <a:lnTo>
                      <a:pt x="71" y="164"/>
                    </a:lnTo>
                    <a:lnTo>
                      <a:pt x="46" y="171"/>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5" name="16443397.25508.8758.57.3755">
                <a:extLst>
                  <a:ext uri="{FF2B5EF4-FFF2-40B4-BE49-F238E27FC236}">
                    <a16:creationId xmlns:a16="http://schemas.microsoft.com/office/drawing/2014/main" id="{B62D126B-2386-6672-7C1E-ED99838177AE}"/>
                  </a:ext>
                </a:extLst>
              </p:cNvPr>
              <p:cNvSpPr>
                <a:spLocks/>
              </p:cNvSpPr>
              <p:nvPr/>
            </p:nvSpPr>
            <p:spPr bwMode="auto">
              <a:xfrm>
                <a:off x="6068726" y="4132111"/>
                <a:ext cx="119790" cy="134905"/>
              </a:xfrm>
              <a:custGeom>
                <a:avLst/>
                <a:gdLst>
                  <a:gd name="T0" fmla="*/ 0 w 177"/>
                  <a:gd name="T1" fmla="*/ 1 h 176"/>
                  <a:gd name="T2" fmla="*/ 1 w 177"/>
                  <a:gd name="T3" fmla="*/ 1 h 176"/>
                  <a:gd name="T4" fmla="*/ 1 w 177"/>
                  <a:gd name="T5" fmla="*/ 1 h 176"/>
                  <a:gd name="T6" fmla="*/ 1 w 177"/>
                  <a:gd name="T7" fmla="*/ 1 h 176"/>
                  <a:gd name="T8" fmla="*/ 1 w 177"/>
                  <a:gd name="T9" fmla="*/ 1 h 176"/>
                  <a:gd name="T10" fmla="*/ 1 w 177"/>
                  <a:gd name="T11" fmla="*/ 1 h 176"/>
                  <a:gd name="T12" fmla="*/ 1 w 177"/>
                  <a:gd name="T13" fmla="*/ 0 h 176"/>
                  <a:gd name="T14" fmla="*/ 1 w 177"/>
                  <a:gd name="T15" fmla="*/ 1 h 176"/>
                  <a:gd name="T16" fmla="*/ 1 w 177"/>
                  <a:gd name="T17" fmla="*/ 1 h 176"/>
                  <a:gd name="T18" fmla="*/ 1 w 177"/>
                  <a:gd name="T19" fmla="*/ 1 h 176"/>
                  <a:gd name="T20" fmla="*/ 0 w 177"/>
                  <a:gd name="T21" fmla="*/ 1 h 1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7"/>
                  <a:gd name="T34" fmla="*/ 0 h 176"/>
                  <a:gd name="T35" fmla="*/ 177 w 177"/>
                  <a:gd name="T36" fmla="*/ 176 h 1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7" h="176">
                    <a:moveTo>
                      <a:pt x="0" y="176"/>
                    </a:moveTo>
                    <a:lnTo>
                      <a:pt x="26" y="167"/>
                    </a:lnTo>
                    <a:lnTo>
                      <a:pt x="70" y="164"/>
                    </a:lnTo>
                    <a:lnTo>
                      <a:pt x="71" y="139"/>
                    </a:lnTo>
                    <a:lnTo>
                      <a:pt x="141" y="125"/>
                    </a:lnTo>
                    <a:lnTo>
                      <a:pt x="177" y="65"/>
                    </a:lnTo>
                    <a:lnTo>
                      <a:pt x="141" y="0"/>
                    </a:lnTo>
                    <a:lnTo>
                      <a:pt x="38" y="13"/>
                    </a:lnTo>
                    <a:lnTo>
                      <a:pt x="51" y="61"/>
                    </a:lnTo>
                    <a:lnTo>
                      <a:pt x="29" y="92"/>
                    </a:lnTo>
                    <a:lnTo>
                      <a:pt x="0" y="17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6" name="16444350.875501.62517.12515.6255">
                <a:extLst>
                  <a:ext uri="{FF2B5EF4-FFF2-40B4-BE49-F238E27FC236}">
                    <a16:creationId xmlns:a16="http://schemas.microsoft.com/office/drawing/2014/main" id="{ED558573-D852-3D55-FB5F-8C0672886467}"/>
                  </a:ext>
                </a:extLst>
              </p:cNvPr>
              <p:cNvSpPr>
                <a:spLocks/>
              </p:cNvSpPr>
              <p:nvPr/>
            </p:nvSpPr>
            <p:spPr bwMode="auto">
              <a:xfrm>
                <a:off x="5951626" y="3402402"/>
                <a:ext cx="251695" cy="269807"/>
              </a:xfrm>
              <a:custGeom>
                <a:avLst/>
                <a:gdLst>
                  <a:gd name="T0" fmla="*/ 0 w 374"/>
                  <a:gd name="T1" fmla="*/ 1 h 351"/>
                  <a:gd name="T2" fmla="*/ 1 w 374"/>
                  <a:gd name="T3" fmla="*/ 1 h 351"/>
                  <a:gd name="T4" fmla="*/ 1 w 374"/>
                  <a:gd name="T5" fmla="*/ 1 h 351"/>
                  <a:gd name="T6" fmla="*/ 1 w 374"/>
                  <a:gd name="T7" fmla="*/ 1 h 351"/>
                  <a:gd name="T8" fmla="*/ 1 w 374"/>
                  <a:gd name="T9" fmla="*/ 1 h 351"/>
                  <a:gd name="T10" fmla="*/ 1 w 374"/>
                  <a:gd name="T11" fmla="*/ 1 h 351"/>
                  <a:gd name="T12" fmla="*/ 1 w 374"/>
                  <a:gd name="T13" fmla="*/ 1 h 351"/>
                  <a:gd name="T14" fmla="*/ 1 w 374"/>
                  <a:gd name="T15" fmla="*/ 1 h 351"/>
                  <a:gd name="T16" fmla="*/ 1 w 374"/>
                  <a:gd name="T17" fmla="*/ 1 h 351"/>
                  <a:gd name="T18" fmla="*/ 1 w 374"/>
                  <a:gd name="T19" fmla="*/ 1 h 351"/>
                  <a:gd name="T20" fmla="*/ 1 w 374"/>
                  <a:gd name="T21" fmla="*/ 1 h 351"/>
                  <a:gd name="T22" fmla="*/ 1 w 374"/>
                  <a:gd name="T23" fmla="*/ 1 h 351"/>
                  <a:gd name="T24" fmla="*/ 1 w 374"/>
                  <a:gd name="T25" fmla="*/ 1 h 351"/>
                  <a:gd name="T26" fmla="*/ 1 w 374"/>
                  <a:gd name="T27" fmla="*/ 0 h 351"/>
                  <a:gd name="T28" fmla="*/ 0 w 374"/>
                  <a:gd name="T29" fmla="*/ 1 h 35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74"/>
                  <a:gd name="T46" fmla="*/ 0 h 351"/>
                  <a:gd name="T47" fmla="*/ 374 w 374"/>
                  <a:gd name="T48" fmla="*/ 351 h 35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74" h="351">
                    <a:moveTo>
                      <a:pt x="0" y="58"/>
                    </a:moveTo>
                    <a:lnTo>
                      <a:pt x="15" y="343"/>
                    </a:lnTo>
                    <a:lnTo>
                      <a:pt x="316" y="351"/>
                    </a:lnTo>
                    <a:lnTo>
                      <a:pt x="369" y="306"/>
                    </a:lnTo>
                    <a:lnTo>
                      <a:pt x="374" y="276"/>
                    </a:lnTo>
                    <a:lnTo>
                      <a:pt x="261" y="75"/>
                    </a:lnTo>
                    <a:lnTo>
                      <a:pt x="316" y="139"/>
                    </a:lnTo>
                    <a:lnTo>
                      <a:pt x="344" y="84"/>
                    </a:lnTo>
                    <a:lnTo>
                      <a:pt x="316" y="13"/>
                    </a:lnTo>
                    <a:lnTo>
                      <a:pt x="246" y="24"/>
                    </a:lnTo>
                    <a:lnTo>
                      <a:pt x="245" y="5"/>
                    </a:lnTo>
                    <a:lnTo>
                      <a:pt x="208" y="5"/>
                    </a:lnTo>
                    <a:lnTo>
                      <a:pt x="146" y="31"/>
                    </a:lnTo>
                    <a:lnTo>
                      <a:pt x="15" y="0"/>
                    </a:lnTo>
                    <a:lnTo>
                      <a:pt x="0" y="5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7" name="16445379.375460.3758.87510.55">
                <a:extLst>
                  <a:ext uri="{FF2B5EF4-FFF2-40B4-BE49-F238E27FC236}">
                    <a16:creationId xmlns:a16="http://schemas.microsoft.com/office/drawing/2014/main" id="{CDBD3323-9B08-AD2F-3401-AC25B4A4F026}"/>
                  </a:ext>
                </a:extLst>
              </p:cNvPr>
              <p:cNvSpPr>
                <a:spLocks/>
              </p:cNvSpPr>
              <p:nvPr/>
            </p:nvSpPr>
            <p:spPr bwMode="auto">
              <a:xfrm>
                <a:off x="5284033" y="3850038"/>
                <a:ext cx="169590" cy="141037"/>
              </a:xfrm>
              <a:custGeom>
                <a:avLst/>
                <a:gdLst>
                  <a:gd name="T0" fmla="*/ 0 w 252"/>
                  <a:gd name="T1" fmla="*/ 1 h 184"/>
                  <a:gd name="T2" fmla="*/ 1 w 252"/>
                  <a:gd name="T3" fmla="*/ 1 h 184"/>
                  <a:gd name="T4" fmla="*/ 1 w 252"/>
                  <a:gd name="T5" fmla="*/ 1 h 184"/>
                  <a:gd name="T6" fmla="*/ 1 w 252"/>
                  <a:gd name="T7" fmla="*/ 1 h 184"/>
                  <a:gd name="T8" fmla="*/ 1 w 252"/>
                  <a:gd name="T9" fmla="*/ 1 h 184"/>
                  <a:gd name="T10" fmla="*/ 1 w 252"/>
                  <a:gd name="T11" fmla="*/ 1 h 184"/>
                  <a:gd name="T12" fmla="*/ 1 w 252"/>
                  <a:gd name="T13" fmla="*/ 1 h 184"/>
                  <a:gd name="T14" fmla="*/ 1 w 252"/>
                  <a:gd name="T15" fmla="*/ 1 h 184"/>
                  <a:gd name="T16" fmla="*/ 1 w 252"/>
                  <a:gd name="T17" fmla="*/ 0 h 184"/>
                  <a:gd name="T18" fmla="*/ 1 w 252"/>
                  <a:gd name="T19" fmla="*/ 1 h 184"/>
                  <a:gd name="T20" fmla="*/ 0 w 252"/>
                  <a:gd name="T21" fmla="*/ 1 h 1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2"/>
                  <a:gd name="T34" fmla="*/ 0 h 184"/>
                  <a:gd name="T35" fmla="*/ 252 w 252"/>
                  <a:gd name="T36" fmla="*/ 184 h 1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2" h="184">
                    <a:moveTo>
                      <a:pt x="0" y="156"/>
                    </a:moveTo>
                    <a:lnTo>
                      <a:pt x="18" y="177"/>
                    </a:lnTo>
                    <a:lnTo>
                      <a:pt x="85" y="184"/>
                    </a:lnTo>
                    <a:lnTo>
                      <a:pt x="78" y="137"/>
                    </a:lnTo>
                    <a:lnTo>
                      <a:pt x="168" y="129"/>
                    </a:lnTo>
                    <a:lnTo>
                      <a:pt x="203" y="137"/>
                    </a:lnTo>
                    <a:lnTo>
                      <a:pt x="252" y="103"/>
                    </a:lnTo>
                    <a:lnTo>
                      <a:pt x="187" y="33"/>
                    </a:lnTo>
                    <a:lnTo>
                      <a:pt x="180" y="0"/>
                    </a:lnTo>
                    <a:lnTo>
                      <a:pt x="43" y="60"/>
                    </a:lnTo>
                    <a:lnTo>
                      <a:pt x="0" y="15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8" name="16446416.875498.12515.87516.3755">
                <a:extLst>
                  <a:ext uri="{FF2B5EF4-FFF2-40B4-BE49-F238E27FC236}">
                    <a16:creationId xmlns:a16="http://schemas.microsoft.com/office/drawing/2014/main" id="{EB0A6190-8B91-EE25-3885-5F1FB9749A5A}"/>
                  </a:ext>
                </a:extLst>
              </p:cNvPr>
              <p:cNvSpPr>
                <a:spLocks/>
              </p:cNvSpPr>
              <p:nvPr/>
            </p:nvSpPr>
            <p:spPr bwMode="auto">
              <a:xfrm>
                <a:off x="5895097" y="4441777"/>
                <a:ext cx="263809" cy="249878"/>
              </a:xfrm>
              <a:custGeom>
                <a:avLst/>
                <a:gdLst>
                  <a:gd name="T0" fmla="*/ 0 w 393"/>
                  <a:gd name="T1" fmla="*/ 1 h 326"/>
                  <a:gd name="T2" fmla="*/ 0 w 393"/>
                  <a:gd name="T3" fmla="*/ 1 h 326"/>
                  <a:gd name="T4" fmla="*/ 0 w 393"/>
                  <a:gd name="T5" fmla="*/ 1 h 326"/>
                  <a:gd name="T6" fmla="*/ 0 w 393"/>
                  <a:gd name="T7" fmla="*/ 1 h 326"/>
                  <a:gd name="T8" fmla="*/ 0 w 393"/>
                  <a:gd name="T9" fmla="*/ 1 h 326"/>
                  <a:gd name="T10" fmla="*/ 0 w 393"/>
                  <a:gd name="T11" fmla="*/ 1 h 326"/>
                  <a:gd name="T12" fmla="*/ 0 w 393"/>
                  <a:gd name="T13" fmla="*/ 1 h 326"/>
                  <a:gd name="T14" fmla="*/ 0 w 393"/>
                  <a:gd name="T15" fmla="*/ 1 h 326"/>
                  <a:gd name="T16" fmla="*/ 0 w 393"/>
                  <a:gd name="T17" fmla="*/ 1 h 326"/>
                  <a:gd name="T18" fmla="*/ 0 w 393"/>
                  <a:gd name="T19" fmla="*/ 1 h 326"/>
                  <a:gd name="T20" fmla="*/ 0 w 393"/>
                  <a:gd name="T21" fmla="*/ 1 h 326"/>
                  <a:gd name="T22" fmla="*/ 0 w 393"/>
                  <a:gd name="T23" fmla="*/ 1 h 326"/>
                  <a:gd name="T24" fmla="*/ 0 w 393"/>
                  <a:gd name="T25" fmla="*/ 1 h 326"/>
                  <a:gd name="T26" fmla="*/ 0 w 393"/>
                  <a:gd name="T27" fmla="*/ 1 h 326"/>
                  <a:gd name="T28" fmla="*/ 0 w 393"/>
                  <a:gd name="T29" fmla="*/ 0 h 326"/>
                  <a:gd name="T30" fmla="*/ 0 w 393"/>
                  <a:gd name="T31" fmla="*/ 1 h 326"/>
                  <a:gd name="T32" fmla="*/ 0 w 393"/>
                  <a:gd name="T33" fmla="*/ 1 h 326"/>
                  <a:gd name="T34" fmla="*/ 0 w 393"/>
                  <a:gd name="T35" fmla="*/ 1 h 326"/>
                  <a:gd name="T36" fmla="*/ 0 w 393"/>
                  <a:gd name="T37" fmla="*/ 1 h 326"/>
                  <a:gd name="T38" fmla="*/ 0 w 393"/>
                  <a:gd name="T39" fmla="*/ 1 h 326"/>
                  <a:gd name="T40" fmla="*/ 0 w 393"/>
                  <a:gd name="T41" fmla="*/ 1 h 326"/>
                  <a:gd name="T42" fmla="*/ 0 w 393"/>
                  <a:gd name="T43" fmla="*/ 1 h 32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93"/>
                  <a:gd name="T67" fmla="*/ 0 h 326"/>
                  <a:gd name="T68" fmla="*/ 393 w 393"/>
                  <a:gd name="T69" fmla="*/ 326 h 32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93" h="326">
                    <a:moveTo>
                      <a:pt x="0" y="159"/>
                    </a:moveTo>
                    <a:lnTo>
                      <a:pt x="0" y="284"/>
                    </a:lnTo>
                    <a:lnTo>
                      <a:pt x="41" y="316"/>
                    </a:lnTo>
                    <a:lnTo>
                      <a:pt x="105" y="324"/>
                    </a:lnTo>
                    <a:lnTo>
                      <a:pt x="164" y="326"/>
                    </a:lnTo>
                    <a:lnTo>
                      <a:pt x="223" y="282"/>
                    </a:lnTo>
                    <a:lnTo>
                      <a:pt x="226" y="262"/>
                    </a:lnTo>
                    <a:lnTo>
                      <a:pt x="276" y="250"/>
                    </a:lnTo>
                    <a:lnTo>
                      <a:pt x="267" y="232"/>
                    </a:lnTo>
                    <a:lnTo>
                      <a:pt x="374" y="199"/>
                    </a:lnTo>
                    <a:lnTo>
                      <a:pt x="360" y="183"/>
                    </a:lnTo>
                    <a:lnTo>
                      <a:pt x="393" y="84"/>
                    </a:lnTo>
                    <a:lnTo>
                      <a:pt x="367" y="41"/>
                    </a:lnTo>
                    <a:lnTo>
                      <a:pt x="305" y="11"/>
                    </a:lnTo>
                    <a:lnTo>
                      <a:pt x="289" y="0"/>
                    </a:lnTo>
                    <a:lnTo>
                      <a:pt x="228" y="30"/>
                    </a:lnTo>
                    <a:lnTo>
                      <a:pt x="221" y="117"/>
                    </a:lnTo>
                    <a:lnTo>
                      <a:pt x="258" y="133"/>
                    </a:lnTo>
                    <a:lnTo>
                      <a:pt x="260" y="169"/>
                    </a:lnTo>
                    <a:lnTo>
                      <a:pt x="69" y="90"/>
                    </a:lnTo>
                    <a:lnTo>
                      <a:pt x="74" y="159"/>
                    </a:lnTo>
                    <a:lnTo>
                      <a:pt x="0" y="15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499" name="16447451.375505.12543.255">
                <a:extLst>
                  <a:ext uri="{FF2B5EF4-FFF2-40B4-BE49-F238E27FC236}">
                    <a16:creationId xmlns:a16="http://schemas.microsoft.com/office/drawing/2014/main" id="{47D32855-B4AE-96AA-9338-FE19DB225E8F}"/>
                  </a:ext>
                </a:extLst>
              </p:cNvPr>
              <p:cNvSpPr>
                <a:spLocks/>
              </p:cNvSpPr>
              <p:nvPr/>
            </p:nvSpPr>
            <p:spPr bwMode="auto">
              <a:xfrm>
                <a:off x="6006811" y="4985994"/>
                <a:ext cx="52493" cy="61319"/>
              </a:xfrm>
              <a:custGeom>
                <a:avLst/>
                <a:gdLst>
                  <a:gd name="T0" fmla="*/ 0 w 77"/>
                  <a:gd name="T1" fmla="*/ 1 h 80"/>
                  <a:gd name="T2" fmla="*/ 1 w 77"/>
                  <a:gd name="T3" fmla="*/ 1 h 80"/>
                  <a:gd name="T4" fmla="*/ 1 w 77"/>
                  <a:gd name="T5" fmla="*/ 1 h 80"/>
                  <a:gd name="T6" fmla="*/ 1 w 77"/>
                  <a:gd name="T7" fmla="*/ 0 h 80"/>
                  <a:gd name="T8" fmla="*/ 0 w 77"/>
                  <a:gd name="T9" fmla="*/ 1 h 80"/>
                  <a:gd name="T10" fmla="*/ 0 60000 65536"/>
                  <a:gd name="T11" fmla="*/ 0 60000 65536"/>
                  <a:gd name="T12" fmla="*/ 0 60000 65536"/>
                  <a:gd name="T13" fmla="*/ 0 60000 65536"/>
                  <a:gd name="T14" fmla="*/ 0 60000 65536"/>
                  <a:gd name="T15" fmla="*/ 0 w 77"/>
                  <a:gd name="T16" fmla="*/ 0 h 80"/>
                  <a:gd name="T17" fmla="*/ 77 w 77"/>
                  <a:gd name="T18" fmla="*/ 80 h 80"/>
                </a:gdLst>
                <a:ahLst/>
                <a:cxnLst>
                  <a:cxn ang="T10">
                    <a:pos x="T0" y="T1"/>
                  </a:cxn>
                  <a:cxn ang="T11">
                    <a:pos x="T2" y="T3"/>
                  </a:cxn>
                  <a:cxn ang="T12">
                    <a:pos x="T4" y="T5"/>
                  </a:cxn>
                  <a:cxn ang="T13">
                    <a:pos x="T6" y="T7"/>
                  </a:cxn>
                  <a:cxn ang="T14">
                    <a:pos x="T8" y="T9"/>
                  </a:cxn>
                </a:cxnLst>
                <a:rect l="T15" t="T16" r="T17" b="T18"/>
                <a:pathLst>
                  <a:path w="77" h="80">
                    <a:moveTo>
                      <a:pt x="0" y="39"/>
                    </a:moveTo>
                    <a:lnTo>
                      <a:pt x="29" y="80"/>
                    </a:lnTo>
                    <a:lnTo>
                      <a:pt x="77" y="39"/>
                    </a:lnTo>
                    <a:lnTo>
                      <a:pt x="55" y="0"/>
                    </a:lnTo>
                    <a:lnTo>
                      <a:pt x="0" y="3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0" name="16448303.375499.87510115">
                <a:extLst>
                  <a:ext uri="{FF2B5EF4-FFF2-40B4-BE49-F238E27FC236}">
                    <a16:creationId xmlns:a16="http://schemas.microsoft.com/office/drawing/2014/main" id="{1166AA72-93EA-1ED5-CEC4-DA31117F9787}"/>
                  </a:ext>
                </a:extLst>
              </p:cNvPr>
              <p:cNvSpPr>
                <a:spLocks/>
              </p:cNvSpPr>
              <p:nvPr/>
            </p:nvSpPr>
            <p:spPr bwMode="auto">
              <a:xfrm>
                <a:off x="5923363" y="2652765"/>
                <a:ext cx="177668" cy="157900"/>
              </a:xfrm>
              <a:custGeom>
                <a:avLst/>
                <a:gdLst>
                  <a:gd name="T0" fmla="*/ 0 w 265"/>
                  <a:gd name="T1" fmla="*/ 0 h 207"/>
                  <a:gd name="T2" fmla="*/ 0 w 265"/>
                  <a:gd name="T3" fmla="*/ 0 h 207"/>
                  <a:gd name="T4" fmla="*/ 0 w 265"/>
                  <a:gd name="T5" fmla="*/ 0 h 207"/>
                  <a:gd name="T6" fmla="*/ 0 w 265"/>
                  <a:gd name="T7" fmla="*/ 0 h 207"/>
                  <a:gd name="T8" fmla="*/ 0 w 265"/>
                  <a:gd name="T9" fmla="*/ 0 h 207"/>
                  <a:gd name="T10" fmla="*/ 0 w 265"/>
                  <a:gd name="T11" fmla="*/ 0 h 207"/>
                  <a:gd name="T12" fmla="*/ 0 w 265"/>
                  <a:gd name="T13" fmla="*/ 0 h 207"/>
                  <a:gd name="T14" fmla="*/ 0 w 265"/>
                  <a:gd name="T15" fmla="*/ 0 h 207"/>
                  <a:gd name="T16" fmla="*/ 0 w 265"/>
                  <a:gd name="T17" fmla="*/ 0 h 207"/>
                  <a:gd name="T18" fmla="*/ 0 w 265"/>
                  <a:gd name="T19" fmla="*/ 0 h 207"/>
                  <a:gd name="T20" fmla="*/ 0 w 265"/>
                  <a:gd name="T21" fmla="*/ 0 h 207"/>
                  <a:gd name="T22" fmla="*/ 0 w 265"/>
                  <a:gd name="T23" fmla="*/ 0 h 207"/>
                  <a:gd name="T24" fmla="*/ 0 w 265"/>
                  <a:gd name="T25" fmla="*/ 0 h 207"/>
                  <a:gd name="T26" fmla="*/ 0 w 265"/>
                  <a:gd name="T27" fmla="*/ 0 h 207"/>
                  <a:gd name="T28" fmla="*/ 0 w 265"/>
                  <a:gd name="T29" fmla="*/ 0 h 207"/>
                  <a:gd name="T30" fmla="*/ 0 w 265"/>
                  <a:gd name="T31" fmla="*/ 0 h 207"/>
                  <a:gd name="T32" fmla="*/ 0 w 265"/>
                  <a:gd name="T33" fmla="*/ 0 h 207"/>
                  <a:gd name="T34" fmla="*/ 0 w 265"/>
                  <a:gd name="T35" fmla="*/ 0 h 207"/>
                  <a:gd name="T36" fmla="*/ 0 w 265"/>
                  <a:gd name="T37" fmla="*/ 0 h 207"/>
                  <a:gd name="T38" fmla="*/ 0 w 265"/>
                  <a:gd name="T39" fmla="*/ 0 h 207"/>
                  <a:gd name="T40" fmla="*/ 0 w 265"/>
                  <a:gd name="T41" fmla="*/ 0 h 207"/>
                  <a:gd name="T42" fmla="*/ 0 w 265"/>
                  <a:gd name="T43" fmla="*/ 0 h 207"/>
                  <a:gd name="T44" fmla="*/ 0 w 265"/>
                  <a:gd name="T45" fmla="*/ 0 h 207"/>
                  <a:gd name="T46" fmla="*/ 0 w 265"/>
                  <a:gd name="T47" fmla="*/ 0 h 207"/>
                  <a:gd name="T48" fmla="*/ 0 w 265"/>
                  <a:gd name="T49" fmla="*/ 0 h 207"/>
                  <a:gd name="T50" fmla="*/ 0 w 265"/>
                  <a:gd name="T51" fmla="*/ 0 h 207"/>
                  <a:gd name="T52" fmla="*/ 0 w 265"/>
                  <a:gd name="T53" fmla="*/ 0 h 207"/>
                  <a:gd name="T54" fmla="*/ 0 w 265"/>
                  <a:gd name="T55" fmla="*/ 0 h 207"/>
                  <a:gd name="T56" fmla="*/ 0 w 265"/>
                  <a:gd name="T57" fmla="*/ 0 h 207"/>
                  <a:gd name="T58" fmla="*/ 0 w 265"/>
                  <a:gd name="T59" fmla="*/ 0 h 207"/>
                  <a:gd name="T60" fmla="*/ 0 w 265"/>
                  <a:gd name="T61" fmla="*/ 0 h 207"/>
                  <a:gd name="T62" fmla="*/ 0 w 265"/>
                  <a:gd name="T63" fmla="*/ 0 h 207"/>
                  <a:gd name="T64" fmla="*/ 0 w 265"/>
                  <a:gd name="T65" fmla="*/ 0 h 207"/>
                  <a:gd name="T66" fmla="*/ 0 w 265"/>
                  <a:gd name="T67" fmla="*/ 0 h 207"/>
                  <a:gd name="T68" fmla="*/ 0 w 265"/>
                  <a:gd name="T69" fmla="*/ 0 h 207"/>
                  <a:gd name="T70" fmla="*/ 0 w 265"/>
                  <a:gd name="T71" fmla="*/ 0 h 207"/>
                  <a:gd name="T72" fmla="*/ 0 w 265"/>
                  <a:gd name="T73" fmla="*/ 0 h 207"/>
                  <a:gd name="T74" fmla="*/ 0 w 265"/>
                  <a:gd name="T75" fmla="*/ 0 h 207"/>
                  <a:gd name="T76" fmla="*/ 0 w 265"/>
                  <a:gd name="T77" fmla="*/ 0 h 207"/>
                  <a:gd name="T78" fmla="*/ 0 w 265"/>
                  <a:gd name="T79" fmla="*/ 0 h 207"/>
                  <a:gd name="T80" fmla="*/ 0 w 265"/>
                  <a:gd name="T81" fmla="*/ 0 h 20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65"/>
                  <a:gd name="T124" fmla="*/ 0 h 207"/>
                  <a:gd name="T125" fmla="*/ 265 w 265"/>
                  <a:gd name="T126" fmla="*/ 207 h 20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65" h="207">
                    <a:moveTo>
                      <a:pt x="86" y="0"/>
                    </a:moveTo>
                    <a:lnTo>
                      <a:pt x="108" y="5"/>
                    </a:lnTo>
                    <a:lnTo>
                      <a:pt x="130" y="20"/>
                    </a:lnTo>
                    <a:lnTo>
                      <a:pt x="166" y="20"/>
                    </a:lnTo>
                    <a:lnTo>
                      <a:pt x="203" y="25"/>
                    </a:lnTo>
                    <a:lnTo>
                      <a:pt x="221" y="50"/>
                    </a:lnTo>
                    <a:lnTo>
                      <a:pt x="236" y="84"/>
                    </a:lnTo>
                    <a:lnTo>
                      <a:pt x="242" y="97"/>
                    </a:lnTo>
                    <a:lnTo>
                      <a:pt x="255" y="108"/>
                    </a:lnTo>
                    <a:lnTo>
                      <a:pt x="265" y="117"/>
                    </a:lnTo>
                    <a:lnTo>
                      <a:pt x="265" y="130"/>
                    </a:lnTo>
                    <a:lnTo>
                      <a:pt x="248" y="130"/>
                    </a:lnTo>
                    <a:lnTo>
                      <a:pt x="225" y="130"/>
                    </a:lnTo>
                    <a:lnTo>
                      <a:pt x="236" y="144"/>
                    </a:lnTo>
                    <a:lnTo>
                      <a:pt x="244" y="152"/>
                    </a:lnTo>
                    <a:lnTo>
                      <a:pt x="248" y="170"/>
                    </a:lnTo>
                    <a:lnTo>
                      <a:pt x="236" y="178"/>
                    </a:lnTo>
                    <a:lnTo>
                      <a:pt x="215" y="178"/>
                    </a:lnTo>
                    <a:lnTo>
                      <a:pt x="213" y="178"/>
                    </a:lnTo>
                    <a:lnTo>
                      <a:pt x="203" y="186"/>
                    </a:lnTo>
                    <a:lnTo>
                      <a:pt x="203" y="203"/>
                    </a:lnTo>
                    <a:lnTo>
                      <a:pt x="189" y="207"/>
                    </a:lnTo>
                    <a:lnTo>
                      <a:pt x="176" y="199"/>
                    </a:lnTo>
                    <a:lnTo>
                      <a:pt x="155" y="194"/>
                    </a:lnTo>
                    <a:lnTo>
                      <a:pt x="136" y="186"/>
                    </a:lnTo>
                    <a:lnTo>
                      <a:pt x="118" y="190"/>
                    </a:lnTo>
                    <a:lnTo>
                      <a:pt x="63" y="170"/>
                    </a:lnTo>
                    <a:lnTo>
                      <a:pt x="41" y="174"/>
                    </a:lnTo>
                    <a:lnTo>
                      <a:pt x="22" y="170"/>
                    </a:lnTo>
                    <a:lnTo>
                      <a:pt x="12" y="186"/>
                    </a:lnTo>
                    <a:lnTo>
                      <a:pt x="0" y="150"/>
                    </a:lnTo>
                    <a:lnTo>
                      <a:pt x="23" y="128"/>
                    </a:lnTo>
                    <a:lnTo>
                      <a:pt x="7" y="84"/>
                    </a:lnTo>
                    <a:lnTo>
                      <a:pt x="22" y="90"/>
                    </a:lnTo>
                    <a:lnTo>
                      <a:pt x="24" y="80"/>
                    </a:lnTo>
                    <a:lnTo>
                      <a:pt x="29" y="64"/>
                    </a:lnTo>
                    <a:lnTo>
                      <a:pt x="38" y="56"/>
                    </a:lnTo>
                    <a:lnTo>
                      <a:pt x="41" y="36"/>
                    </a:lnTo>
                    <a:lnTo>
                      <a:pt x="59" y="17"/>
                    </a:lnTo>
                    <a:lnTo>
                      <a:pt x="71" y="0"/>
                    </a:lnTo>
                    <a:lnTo>
                      <a:pt x="86"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1" name="16449310.5498.37516.524.3755">
                <a:extLst>
                  <a:ext uri="{FF2B5EF4-FFF2-40B4-BE49-F238E27FC236}">
                    <a16:creationId xmlns:a16="http://schemas.microsoft.com/office/drawing/2014/main" id="{AA8345A6-CDC9-ECA2-C82F-094C7BF1D423}"/>
                  </a:ext>
                </a:extLst>
              </p:cNvPr>
              <p:cNvSpPr>
                <a:spLocks/>
              </p:cNvSpPr>
              <p:nvPr/>
            </p:nvSpPr>
            <p:spPr bwMode="auto">
              <a:xfrm>
                <a:off x="5897788" y="2766207"/>
                <a:ext cx="394367" cy="259077"/>
              </a:xfrm>
              <a:custGeom>
                <a:avLst/>
                <a:gdLst>
                  <a:gd name="T0" fmla="*/ 0 w 587"/>
                  <a:gd name="T1" fmla="*/ 1 h 338"/>
                  <a:gd name="T2" fmla="*/ 0 w 587"/>
                  <a:gd name="T3" fmla="*/ 0 h 338"/>
                  <a:gd name="T4" fmla="*/ 0 w 587"/>
                  <a:gd name="T5" fmla="*/ 1 h 338"/>
                  <a:gd name="T6" fmla="*/ 0 w 587"/>
                  <a:gd name="T7" fmla="*/ 1 h 338"/>
                  <a:gd name="T8" fmla="*/ 0 w 587"/>
                  <a:gd name="T9" fmla="*/ 1 h 338"/>
                  <a:gd name="T10" fmla="*/ 0 w 587"/>
                  <a:gd name="T11" fmla="*/ 1 h 338"/>
                  <a:gd name="T12" fmla="*/ 0 w 587"/>
                  <a:gd name="T13" fmla="*/ 1 h 338"/>
                  <a:gd name="T14" fmla="*/ 0 w 587"/>
                  <a:gd name="T15" fmla="*/ 1 h 338"/>
                  <a:gd name="T16" fmla="*/ 0 w 587"/>
                  <a:gd name="T17" fmla="*/ 1 h 338"/>
                  <a:gd name="T18" fmla="*/ 0 w 587"/>
                  <a:gd name="T19" fmla="*/ 1 h 338"/>
                  <a:gd name="T20" fmla="*/ 0 w 587"/>
                  <a:gd name="T21" fmla="*/ 1 h 338"/>
                  <a:gd name="T22" fmla="*/ 0 w 587"/>
                  <a:gd name="T23" fmla="*/ 1 h 338"/>
                  <a:gd name="T24" fmla="*/ 0 w 587"/>
                  <a:gd name="T25" fmla="*/ 1 h 338"/>
                  <a:gd name="T26" fmla="*/ 0 w 587"/>
                  <a:gd name="T27" fmla="*/ 1 h 338"/>
                  <a:gd name="T28" fmla="*/ 0 w 587"/>
                  <a:gd name="T29" fmla="*/ 1 h 338"/>
                  <a:gd name="T30" fmla="*/ 0 w 587"/>
                  <a:gd name="T31" fmla="*/ 1 h 338"/>
                  <a:gd name="T32" fmla="*/ 0 w 587"/>
                  <a:gd name="T33" fmla="*/ 1 h 338"/>
                  <a:gd name="T34" fmla="*/ 0 w 587"/>
                  <a:gd name="T35" fmla="*/ 1 h 338"/>
                  <a:gd name="T36" fmla="*/ 0 w 587"/>
                  <a:gd name="T37" fmla="*/ 1 h 338"/>
                  <a:gd name="T38" fmla="*/ 0 w 587"/>
                  <a:gd name="T39" fmla="*/ 1 h 338"/>
                  <a:gd name="T40" fmla="*/ 0 w 587"/>
                  <a:gd name="T41" fmla="*/ 1 h 338"/>
                  <a:gd name="T42" fmla="*/ 0 w 587"/>
                  <a:gd name="T43" fmla="*/ 1 h 338"/>
                  <a:gd name="T44" fmla="*/ 0 w 587"/>
                  <a:gd name="T45" fmla="*/ 1 h 338"/>
                  <a:gd name="T46" fmla="*/ 0 w 587"/>
                  <a:gd name="T47" fmla="*/ 1 h 338"/>
                  <a:gd name="T48" fmla="*/ 0 w 587"/>
                  <a:gd name="T49" fmla="*/ 1 h 338"/>
                  <a:gd name="T50" fmla="*/ 0 w 587"/>
                  <a:gd name="T51" fmla="*/ 1 h 338"/>
                  <a:gd name="T52" fmla="*/ 0 w 587"/>
                  <a:gd name="T53" fmla="*/ 1 h 338"/>
                  <a:gd name="T54" fmla="*/ 0 w 587"/>
                  <a:gd name="T55" fmla="*/ 1 h 338"/>
                  <a:gd name="T56" fmla="*/ 0 w 587"/>
                  <a:gd name="T57" fmla="*/ 1 h 338"/>
                  <a:gd name="T58" fmla="*/ 0 w 587"/>
                  <a:gd name="T59" fmla="*/ 1 h 338"/>
                  <a:gd name="T60" fmla="*/ 0 w 587"/>
                  <a:gd name="T61" fmla="*/ 1 h 338"/>
                  <a:gd name="T62" fmla="*/ 0 w 587"/>
                  <a:gd name="T63" fmla="*/ 1 h 338"/>
                  <a:gd name="T64" fmla="*/ 0 w 587"/>
                  <a:gd name="T65" fmla="*/ 1 h 338"/>
                  <a:gd name="T66" fmla="*/ 0 w 587"/>
                  <a:gd name="T67" fmla="*/ 1 h 3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87"/>
                  <a:gd name="T103" fmla="*/ 0 h 338"/>
                  <a:gd name="T104" fmla="*/ 587 w 587"/>
                  <a:gd name="T105" fmla="*/ 338 h 3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87" h="338">
                    <a:moveTo>
                      <a:pt x="292" y="16"/>
                    </a:moveTo>
                    <a:lnTo>
                      <a:pt x="301" y="13"/>
                    </a:lnTo>
                    <a:lnTo>
                      <a:pt x="318" y="4"/>
                    </a:lnTo>
                    <a:lnTo>
                      <a:pt x="330" y="0"/>
                    </a:lnTo>
                    <a:lnTo>
                      <a:pt x="356" y="4"/>
                    </a:lnTo>
                    <a:lnTo>
                      <a:pt x="366" y="22"/>
                    </a:lnTo>
                    <a:lnTo>
                      <a:pt x="371" y="42"/>
                    </a:lnTo>
                    <a:lnTo>
                      <a:pt x="380" y="49"/>
                    </a:lnTo>
                    <a:lnTo>
                      <a:pt x="393" y="45"/>
                    </a:lnTo>
                    <a:lnTo>
                      <a:pt x="422" y="73"/>
                    </a:lnTo>
                    <a:lnTo>
                      <a:pt x="437" y="95"/>
                    </a:lnTo>
                    <a:lnTo>
                      <a:pt x="477" y="110"/>
                    </a:lnTo>
                    <a:lnTo>
                      <a:pt x="503" y="114"/>
                    </a:lnTo>
                    <a:lnTo>
                      <a:pt x="516" y="110"/>
                    </a:lnTo>
                    <a:lnTo>
                      <a:pt x="540" y="121"/>
                    </a:lnTo>
                    <a:lnTo>
                      <a:pt x="571" y="125"/>
                    </a:lnTo>
                    <a:lnTo>
                      <a:pt x="587" y="177"/>
                    </a:lnTo>
                    <a:lnTo>
                      <a:pt x="557" y="184"/>
                    </a:lnTo>
                    <a:lnTo>
                      <a:pt x="551" y="209"/>
                    </a:lnTo>
                    <a:lnTo>
                      <a:pt x="507" y="235"/>
                    </a:lnTo>
                    <a:lnTo>
                      <a:pt x="439" y="253"/>
                    </a:lnTo>
                    <a:lnTo>
                      <a:pt x="432" y="276"/>
                    </a:lnTo>
                    <a:lnTo>
                      <a:pt x="403" y="267"/>
                    </a:lnTo>
                    <a:lnTo>
                      <a:pt x="435" y="298"/>
                    </a:lnTo>
                    <a:lnTo>
                      <a:pt x="473" y="302"/>
                    </a:lnTo>
                    <a:lnTo>
                      <a:pt x="397" y="338"/>
                    </a:lnTo>
                    <a:lnTo>
                      <a:pt x="352" y="300"/>
                    </a:lnTo>
                    <a:lnTo>
                      <a:pt x="389" y="271"/>
                    </a:lnTo>
                    <a:lnTo>
                      <a:pt x="352" y="264"/>
                    </a:lnTo>
                    <a:lnTo>
                      <a:pt x="327" y="264"/>
                    </a:lnTo>
                    <a:lnTo>
                      <a:pt x="333" y="239"/>
                    </a:lnTo>
                    <a:lnTo>
                      <a:pt x="326" y="242"/>
                    </a:lnTo>
                    <a:lnTo>
                      <a:pt x="271" y="256"/>
                    </a:lnTo>
                    <a:lnTo>
                      <a:pt x="250" y="300"/>
                    </a:lnTo>
                    <a:lnTo>
                      <a:pt x="215" y="297"/>
                    </a:lnTo>
                    <a:lnTo>
                      <a:pt x="224" y="267"/>
                    </a:lnTo>
                    <a:lnTo>
                      <a:pt x="226" y="253"/>
                    </a:lnTo>
                    <a:lnTo>
                      <a:pt x="246" y="246"/>
                    </a:lnTo>
                    <a:lnTo>
                      <a:pt x="257" y="236"/>
                    </a:lnTo>
                    <a:lnTo>
                      <a:pt x="260" y="228"/>
                    </a:lnTo>
                    <a:lnTo>
                      <a:pt x="246" y="224"/>
                    </a:lnTo>
                    <a:lnTo>
                      <a:pt x="231" y="192"/>
                    </a:lnTo>
                    <a:lnTo>
                      <a:pt x="208" y="173"/>
                    </a:lnTo>
                    <a:lnTo>
                      <a:pt x="179" y="173"/>
                    </a:lnTo>
                    <a:lnTo>
                      <a:pt x="142" y="181"/>
                    </a:lnTo>
                    <a:lnTo>
                      <a:pt x="90" y="184"/>
                    </a:lnTo>
                    <a:lnTo>
                      <a:pt x="62" y="189"/>
                    </a:lnTo>
                    <a:lnTo>
                      <a:pt x="22" y="189"/>
                    </a:lnTo>
                    <a:lnTo>
                      <a:pt x="0" y="170"/>
                    </a:lnTo>
                    <a:lnTo>
                      <a:pt x="14" y="140"/>
                    </a:lnTo>
                    <a:lnTo>
                      <a:pt x="37" y="108"/>
                    </a:lnTo>
                    <a:lnTo>
                      <a:pt x="63" y="75"/>
                    </a:lnTo>
                    <a:lnTo>
                      <a:pt x="51" y="37"/>
                    </a:lnTo>
                    <a:lnTo>
                      <a:pt x="52" y="30"/>
                    </a:lnTo>
                    <a:lnTo>
                      <a:pt x="61" y="22"/>
                    </a:lnTo>
                    <a:lnTo>
                      <a:pt x="80" y="26"/>
                    </a:lnTo>
                    <a:lnTo>
                      <a:pt x="102" y="22"/>
                    </a:lnTo>
                    <a:lnTo>
                      <a:pt x="128" y="31"/>
                    </a:lnTo>
                    <a:lnTo>
                      <a:pt x="156" y="42"/>
                    </a:lnTo>
                    <a:lnTo>
                      <a:pt x="175" y="37"/>
                    </a:lnTo>
                    <a:lnTo>
                      <a:pt x="194" y="46"/>
                    </a:lnTo>
                    <a:lnTo>
                      <a:pt x="215" y="51"/>
                    </a:lnTo>
                    <a:lnTo>
                      <a:pt x="228" y="59"/>
                    </a:lnTo>
                    <a:lnTo>
                      <a:pt x="242" y="55"/>
                    </a:lnTo>
                    <a:lnTo>
                      <a:pt x="243" y="38"/>
                    </a:lnTo>
                    <a:lnTo>
                      <a:pt x="252" y="30"/>
                    </a:lnTo>
                    <a:lnTo>
                      <a:pt x="275" y="30"/>
                    </a:lnTo>
                    <a:lnTo>
                      <a:pt x="283" y="26"/>
                    </a:lnTo>
                    <a:lnTo>
                      <a:pt x="292" y="1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2" name="16450318.875504.6256.1254.55">
                <a:extLst>
                  <a:ext uri="{FF2B5EF4-FFF2-40B4-BE49-F238E27FC236}">
                    <a16:creationId xmlns:a16="http://schemas.microsoft.com/office/drawing/2014/main" id="{514D7E5E-07EA-634F-08D4-17B6B3471A2B}"/>
                  </a:ext>
                </a:extLst>
              </p:cNvPr>
              <p:cNvSpPr>
                <a:spLocks/>
              </p:cNvSpPr>
              <p:nvPr/>
            </p:nvSpPr>
            <p:spPr bwMode="auto">
              <a:xfrm>
                <a:off x="5998735" y="2898045"/>
                <a:ext cx="74028" cy="95046"/>
              </a:xfrm>
              <a:custGeom>
                <a:avLst/>
                <a:gdLst>
                  <a:gd name="T0" fmla="*/ 1 w 110"/>
                  <a:gd name="T1" fmla="*/ 1 h 122"/>
                  <a:gd name="T2" fmla="*/ 1 w 110"/>
                  <a:gd name="T3" fmla="*/ 1 h 122"/>
                  <a:gd name="T4" fmla="*/ 1 w 110"/>
                  <a:gd name="T5" fmla="*/ 1 h 122"/>
                  <a:gd name="T6" fmla="*/ 1 w 110"/>
                  <a:gd name="T7" fmla="*/ 1 h 122"/>
                  <a:gd name="T8" fmla="*/ 1 w 110"/>
                  <a:gd name="T9" fmla="*/ 1 h 122"/>
                  <a:gd name="T10" fmla="*/ 1 w 110"/>
                  <a:gd name="T11" fmla="*/ 1 h 122"/>
                  <a:gd name="T12" fmla="*/ 1 w 110"/>
                  <a:gd name="T13" fmla="*/ 1 h 122"/>
                  <a:gd name="T14" fmla="*/ 1 w 110"/>
                  <a:gd name="T15" fmla="*/ 1 h 122"/>
                  <a:gd name="T16" fmla="*/ 1 w 110"/>
                  <a:gd name="T17" fmla="*/ 1 h 122"/>
                  <a:gd name="T18" fmla="*/ 1 w 110"/>
                  <a:gd name="T19" fmla="*/ 1 h 122"/>
                  <a:gd name="T20" fmla="*/ 1 w 110"/>
                  <a:gd name="T21" fmla="*/ 1 h 122"/>
                  <a:gd name="T22" fmla="*/ 1 w 110"/>
                  <a:gd name="T23" fmla="*/ 1 h 122"/>
                  <a:gd name="T24" fmla="*/ 1 w 110"/>
                  <a:gd name="T25" fmla="*/ 0 h 122"/>
                  <a:gd name="T26" fmla="*/ 0 w 110"/>
                  <a:gd name="T27" fmla="*/ 1 h 122"/>
                  <a:gd name="T28" fmla="*/ 1 w 110"/>
                  <a:gd name="T29" fmla="*/ 1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0"/>
                  <a:gd name="T46" fmla="*/ 0 h 122"/>
                  <a:gd name="T47" fmla="*/ 110 w 110"/>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0" h="122">
                    <a:moveTo>
                      <a:pt x="25" y="33"/>
                    </a:moveTo>
                    <a:lnTo>
                      <a:pt x="39" y="51"/>
                    </a:lnTo>
                    <a:lnTo>
                      <a:pt x="46" y="65"/>
                    </a:lnTo>
                    <a:lnTo>
                      <a:pt x="53" y="121"/>
                    </a:lnTo>
                    <a:lnTo>
                      <a:pt x="64" y="122"/>
                    </a:lnTo>
                    <a:lnTo>
                      <a:pt x="73" y="94"/>
                    </a:lnTo>
                    <a:lnTo>
                      <a:pt x="75" y="78"/>
                    </a:lnTo>
                    <a:lnTo>
                      <a:pt x="103" y="69"/>
                    </a:lnTo>
                    <a:lnTo>
                      <a:pt x="110" y="56"/>
                    </a:lnTo>
                    <a:lnTo>
                      <a:pt x="97" y="52"/>
                    </a:lnTo>
                    <a:lnTo>
                      <a:pt x="81" y="21"/>
                    </a:lnTo>
                    <a:lnTo>
                      <a:pt x="58" y="1"/>
                    </a:lnTo>
                    <a:lnTo>
                      <a:pt x="28" y="0"/>
                    </a:lnTo>
                    <a:lnTo>
                      <a:pt x="0" y="4"/>
                    </a:lnTo>
                    <a:lnTo>
                      <a:pt x="25" y="3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3" name="16451327.125521.255.37510.3755">
                <a:extLst>
                  <a:ext uri="{FF2B5EF4-FFF2-40B4-BE49-F238E27FC236}">
                    <a16:creationId xmlns:a16="http://schemas.microsoft.com/office/drawing/2014/main" id="{B05F1B31-ED41-ABCA-4FFC-47AA1DA75065}"/>
                  </a:ext>
                </a:extLst>
              </p:cNvPr>
              <p:cNvSpPr>
                <a:spLocks/>
              </p:cNvSpPr>
              <p:nvPr/>
            </p:nvSpPr>
            <p:spPr bwMode="auto">
              <a:xfrm>
                <a:off x="6269274" y="3026816"/>
                <a:ext cx="166899" cy="84316"/>
              </a:xfrm>
              <a:custGeom>
                <a:avLst/>
                <a:gdLst>
                  <a:gd name="T0" fmla="*/ 0 w 247"/>
                  <a:gd name="T1" fmla="*/ 1 h 110"/>
                  <a:gd name="T2" fmla="*/ 1 w 247"/>
                  <a:gd name="T3" fmla="*/ 0 h 110"/>
                  <a:gd name="T4" fmla="*/ 1 w 247"/>
                  <a:gd name="T5" fmla="*/ 1 h 110"/>
                  <a:gd name="T6" fmla="*/ 1 w 247"/>
                  <a:gd name="T7" fmla="*/ 1 h 110"/>
                  <a:gd name="T8" fmla="*/ 1 w 247"/>
                  <a:gd name="T9" fmla="*/ 1 h 110"/>
                  <a:gd name="T10" fmla="*/ 1 w 247"/>
                  <a:gd name="T11" fmla="*/ 1 h 110"/>
                  <a:gd name="T12" fmla="*/ 1 w 247"/>
                  <a:gd name="T13" fmla="*/ 1 h 110"/>
                  <a:gd name="T14" fmla="*/ 1 w 247"/>
                  <a:gd name="T15" fmla="*/ 1 h 110"/>
                  <a:gd name="T16" fmla="*/ 1 w 247"/>
                  <a:gd name="T17" fmla="*/ 1 h 110"/>
                  <a:gd name="T18" fmla="*/ 1 w 247"/>
                  <a:gd name="T19" fmla="*/ 1 h 110"/>
                  <a:gd name="T20" fmla="*/ 1 w 247"/>
                  <a:gd name="T21" fmla="*/ 1 h 110"/>
                  <a:gd name="T22" fmla="*/ 1 w 247"/>
                  <a:gd name="T23" fmla="*/ 1 h 110"/>
                  <a:gd name="T24" fmla="*/ 1 w 247"/>
                  <a:gd name="T25" fmla="*/ 1 h 110"/>
                  <a:gd name="T26" fmla="*/ 1 w 247"/>
                  <a:gd name="T27" fmla="*/ 1 h 110"/>
                  <a:gd name="T28" fmla="*/ 1 w 247"/>
                  <a:gd name="T29" fmla="*/ 1 h 110"/>
                  <a:gd name="T30" fmla="*/ 1 w 247"/>
                  <a:gd name="T31" fmla="*/ 1 h 110"/>
                  <a:gd name="T32" fmla="*/ 1 w 247"/>
                  <a:gd name="T33" fmla="*/ 1 h 110"/>
                  <a:gd name="T34" fmla="*/ 1 w 247"/>
                  <a:gd name="T35" fmla="*/ 1 h 110"/>
                  <a:gd name="T36" fmla="*/ 1 w 247"/>
                  <a:gd name="T37" fmla="*/ 1 h 110"/>
                  <a:gd name="T38" fmla="*/ 1 w 247"/>
                  <a:gd name="T39" fmla="*/ 1 h 110"/>
                  <a:gd name="T40" fmla="*/ 1 w 247"/>
                  <a:gd name="T41" fmla="*/ 1 h 110"/>
                  <a:gd name="T42" fmla="*/ 0 w 247"/>
                  <a:gd name="T43" fmla="*/ 1 h 11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7"/>
                  <a:gd name="T67" fmla="*/ 0 h 110"/>
                  <a:gd name="T68" fmla="*/ 247 w 247"/>
                  <a:gd name="T69" fmla="*/ 110 h 11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7" h="110">
                    <a:moveTo>
                      <a:pt x="0" y="6"/>
                    </a:moveTo>
                    <a:lnTo>
                      <a:pt x="59" y="0"/>
                    </a:lnTo>
                    <a:lnTo>
                      <a:pt x="115" y="22"/>
                    </a:lnTo>
                    <a:lnTo>
                      <a:pt x="139" y="47"/>
                    </a:lnTo>
                    <a:lnTo>
                      <a:pt x="167" y="47"/>
                    </a:lnTo>
                    <a:lnTo>
                      <a:pt x="188" y="36"/>
                    </a:lnTo>
                    <a:lnTo>
                      <a:pt x="203" y="32"/>
                    </a:lnTo>
                    <a:lnTo>
                      <a:pt x="218" y="58"/>
                    </a:lnTo>
                    <a:lnTo>
                      <a:pt x="244" y="64"/>
                    </a:lnTo>
                    <a:lnTo>
                      <a:pt x="239" y="75"/>
                    </a:lnTo>
                    <a:lnTo>
                      <a:pt x="247" y="94"/>
                    </a:lnTo>
                    <a:lnTo>
                      <a:pt x="244" y="109"/>
                    </a:lnTo>
                    <a:lnTo>
                      <a:pt x="218" y="86"/>
                    </a:lnTo>
                    <a:lnTo>
                      <a:pt x="203" y="79"/>
                    </a:lnTo>
                    <a:lnTo>
                      <a:pt x="189" y="79"/>
                    </a:lnTo>
                    <a:lnTo>
                      <a:pt x="182" y="104"/>
                    </a:lnTo>
                    <a:lnTo>
                      <a:pt x="163" y="97"/>
                    </a:lnTo>
                    <a:lnTo>
                      <a:pt x="132" y="110"/>
                    </a:lnTo>
                    <a:lnTo>
                      <a:pt x="95" y="108"/>
                    </a:lnTo>
                    <a:lnTo>
                      <a:pt x="93" y="64"/>
                    </a:lnTo>
                    <a:lnTo>
                      <a:pt x="33" y="27"/>
                    </a:lnTo>
                    <a:lnTo>
                      <a:pt x="0" y="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4" name="16452330.125528.8758.1258.55">
                <a:extLst>
                  <a:ext uri="{FF2B5EF4-FFF2-40B4-BE49-F238E27FC236}">
                    <a16:creationId xmlns:a16="http://schemas.microsoft.com/office/drawing/2014/main" id="{2588B4F9-A86C-C7D5-C6A2-0B74259E7619}"/>
                  </a:ext>
                </a:extLst>
              </p:cNvPr>
              <p:cNvSpPr>
                <a:spLocks/>
              </p:cNvSpPr>
              <p:nvPr/>
            </p:nvSpPr>
            <p:spPr bwMode="auto">
              <a:xfrm>
                <a:off x="6391755" y="3074339"/>
                <a:ext cx="138634" cy="128772"/>
              </a:xfrm>
              <a:custGeom>
                <a:avLst/>
                <a:gdLst>
                  <a:gd name="T0" fmla="*/ 1 w 205"/>
                  <a:gd name="T1" fmla="*/ 1 h 166"/>
                  <a:gd name="T2" fmla="*/ 1 w 205"/>
                  <a:gd name="T3" fmla="*/ 1 h 166"/>
                  <a:gd name="T4" fmla="*/ 1 w 205"/>
                  <a:gd name="T5" fmla="*/ 1 h 166"/>
                  <a:gd name="T6" fmla="*/ 1 w 205"/>
                  <a:gd name="T7" fmla="*/ 1 h 166"/>
                  <a:gd name="T8" fmla="*/ 1 w 205"/>
                  <a:gd name="T9" fmla="*/ 1 h 166"/>
                  <a:gd name="T10" fmla="*/ 1 w 205"/>
                  <a:gd name="T11" fmla="*/ 1 h 166"/>
                  <a:gd name="T12" fmla="*/ 1 w 205"/>
                  <a:gd name="T13" fmla="*/ 1 h 166"/>
                  <a:gd name="T14" fmla="*/ 1 w 205"/>
                  <a:gd name="T15" fmla="*/ 1 h 166"/>
                  <a:gd name="T16" fmla="*/ 1 w 205"/>
                  <a:gd name="T17" fmla="*/ 1 h 166"/>
                  <a:gd name="T18" fmla="*/ 1 w 205"/>
                  <a:gd name="T19" fmla="*/ 1 h 166"/>
                  <a:gd name="T20" fmla="*/ 1 w 205"/>
                  <a:gd name="T21" fmla="*/ 1 h 166"/>
                  <a:gd name="T22" fmla="*/ 1 w 205"/>
                  <a:gd name="T23" fmla="*/ 1 h 166"/>
                  <a:gd name="T24" fmla="*/ 1 w 205"/>
                  <a:gd name="T25" fmla="*/ 1 h 166"/>
                  <a:gd name="T26" fmla="*/ 1 w 205"/>
                  <a:gd name="T27" fmla="*/ 1 h 166"/>
                  <a:gd name="T28" fmla="*/ 1 w 205"/>
                  <a:gd name="T29" fmla="*/ 1 h 166"/>
                  <a:gd name="T30" fmla="*/ 1 w 205"/>
                  <a:gd name="T31" fmla="*/ 1 h 166"/>
                  <a:gd name="T32" fmla="*/ 1 w 205"/>
                  <a:gd name="T33" fmla="*/ 1 h 166"/>
                  <a:gd name="T34" fmla="*/ 1 w 205"/>
                  <a:gd name="T35" fmla="*/ 1 h 166"/>
                  <a:gd name="T36" fmla="*/ 1 w 205"/>
                  <a:gd name="T37" fmla="*/ 1 h 166"/>
                  <a:gd name="T38" fmla="*/ 1 w 205"/>
                  <a:gd name="T39" fmla="*/ 1 h 166"/>
                  <a:gd name="T40" fmla="*/ 1 w 205"/>
                  <a:gd name="T41" fmla="*/ 1 h 166"/>
                  <a:gd name="T42" fmla="*/ 1 w 205"/>
                  <a:gd name="T43" fmla="*/ 1 h 166"/>
                  <a:gd name="T44" fmla="*/ 1 w 205"/>
                  <a:gd name="T45" fmla="*/ 1 h 166"/>
                  <a:gd name="T46" fmla="*/ 1 w 205"/>
                  <a:gd name="T47" fmla="*/ 1 h 166"/>
                  <a:gd name="T48" fmla="*/ 1 w 205"/>
                  <a:gd name="T49" fmla="*/ 1 h 166"/>
                  <a:gd name="T50" fmla="*/ 1 w 205"/>
                  <a:gd name="T51" fmla="*/ 1 h 166"/>
                  <a:gd name="T52" fmla="*/ 0 w 205"/>
                  <a:gd name="T53" fmla="*/ 1 h 166"/>
                  <a:gd name="T54" fmla="*/ 1 w 205"/>
                  <a:gd name="T55" fmla="*/ 1 h 166"/>
                  <a:gd name="T56" fmla="*/ 1 w 205"/>
                  <a:gd name="T57" fmla="*/ 1 h 166"/>
                  <a:gd name="T58" fmla="*/ 1 w 205"/>
                  <a:gd name="T59" fmla="*/ 1 h 166"/>
                  <a:gd name="T60" fmla="*/ 1 w 205"/>
                  <a:gd name="T61" fmla="*/ 1 h 166"/>
                  <a:gd name="T62" fmla="*/ 1 w 205"/>
                  <a:gd name="T63" fmla="*/ 1 h 166"/>
                  <a:gd name="T64" fmla="*/ 1 w 205"/>
                  <a:gd name="T65" fmla="*/ 1 h 166"/>
                  <a:gd name="T66" fmla="*/ 1 w 205"/>
                  <a:gd name="T67" fmla="*/ 1 h 166"/>
                  <a:gd name="T68" fmla="*/ 1 w 205"/>
                  <a:gd name="T69" fmla="*/ 0 h 166"/>
                  <a:gd name="T70" fmla="*/ 1 w 205"/>
                  <a:gd name="T71" fmla="*/ 1 h 16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05"/>
                  <a:gd name="T109" fmla="*/ 0 h 166"/>
                  <a:gd name="T110" fmla="*/ 205 w 205"/>
                  <a:gd name="T111" fmla="*/ 166 h 16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05" h="166">
                    <a:moveTo>
                      <a:pt x="77" y="7"/>
                    </a:moveTo>
                    <a:lnTo>
                      <a:pt x="88" y="7"/>
                    </a:lnTo>
                    <a:lnTo>
                      <a:pt x="119" y="15"/>
                    </a:lnTo>
                    <a:lnTo>
                      <a:pt x="149" y="37"/>
                    </a:lnTo>
                    <a:lnTo>
                      <a:pt x="167" y="63"/>
                    </a:lnTo>
                    <a:lnTo>
                      <a:pt x="205" y="95"/>
                    </a:lnTo>
                    <a:lnTo>
                      <a:pt x="185" y="101"/>
                    </a:lnTo>
                    <a:lnTo>
                      <a:pt x="171" y="121"/>
                    </a:lnTo>
                    <a:lnTo>
                      <a:pt x="168" y="130"/>
                    </a:lnTo>
                    <a:lnTo>
                      <a:pt x="160" y="166"/>
                    </a:lnTo>
                    <a:lnTo>
                      <a:pt x="132" y="156"/>
                    </a:lnTo>
                    <a:lnTo>
                      <a:pt x="126" y="125"/>
                    </a:lnTo>
                    <a:lnTo>
                      <a:pt x="98" y="137"/>
                    </a:lnTo>
                    <a:lnTo>
                      <a:pt x="69" y="155"/>
                    </a:lnTo>
                    <a:lnTo>
                      <a:pt x="53" y="151"/>
                    </a:lnTo>
                    <a:lnTo>
                      <a:pt x="38" y="136"/>
                    </a:lnTo>
                    <a:lnTo>
                      <a:pt x="28" y="121"/>
                    </a:lnTo>
                    <a:lnTo>
                      <a:pt x="40" y="106"/>
                    </a:lnTo>
                    <a:lnTo>
                      <a:pt x="49" y="118"/>
                    </a:lnTo>
                    <a:lnTo>
                      <a:pt x="84" y="134"/>
                    </a:lnTo>
                    <a:lnTo>
                      <a:pt x="91" y="119"/>
                    </a:lnTo>
                    <a:lnTo>
                      <a:pt x="58" y="93"/>
                    </a:lnTo>
                    <a:lnTo>
                      <a:pt x="47" y="71"/>
                    </a:lnTo>
                    <a:lnTo>
                      <a:pt x="36" y="63"/>
                    </a:lnTo>
                    <a:lnTo>
                      <a:pt x="36" y="51"/>
                    </a:lnTo>
                    <a:lnTo>
                      <a:pt x="21" y="45"/>
                    </a:lnTo>
                    <a:lnTo>
                      <a:pt x="0" y="41"/>
                    </a:lnTo>
                    <a:lnTo>
                      <a:pt x="6" y="24"/>
                    </a:lnTo>
                    <a:lnTo>
                      <a:pt x="9" y="15"/>
                    </a:lnTo>
                    <a:lnTo>
                      <a:pt x="25" y="15"/>
                    </a:lnTo>
                    <a:lnTo>
                      <a:pt x="36" y="22"/>
                    </a:lnTo>
                    <a:lnTo>
                      <a:pt x="62" y="45"/>
                    </a:lnTo>
                    <a:lnTo>
                      <a:pt x="65" y="30"/>
                    </a:lnTo>
                    <a:lnTo>
                      <a:pt x="57" y="12"/>
                    </a:lnTo>
                    <a:lnTo>
                      <a:pt x="62" y="0"/>
                    </a:lnTo>
                    <a:lnTo>
                      <a:pt x="77" y="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5" name="16453331.7552755.6255">
                <a:extLst>
                  <a:ext uri="{FF2B5EF4-FFF2-40B4-BE49-F238E27FC236}">
                    <a16:creationId xmlns:a16="http://schemas.microsoft.com/office/drawing/2014/main" id="{09BC5916-D8E5-3F82-87F6-6D72796A4206}"/>
                  </a:ext>
                </a:extLst>
              </p:cNvPr>
              <p:cNvSpPr>
                <a:spLocks/>
              </p:cNvSpPr>
              <p:nvPr/>
            </p:nvSpPr>
            <p:spPr bwMode="auto">
              <a:xfrm>
                <a:off x="6362147" y="3100400"/>
                <a:ext cx="91525" cy="78183"/>
              </a:xfrm>
              <a:custGeom>
                <a:avLst/>
                <a:gdLst>
                  <a:gd name="T0" fmla="*/ 0 w 134"/>
                  <a:gd name="T1" fmla="*/ 1 h 101"/>
                  <a:gd name="T2" fmla="*/ 1 w 134"/>
                  <a:gd name="T3" fmla="*/ 1 h 101"/>
                  <a:gd name="T4" fmla="*/ 1 w 134"/>
                  <a:gd name="T5" fmla="*/ 1 h 101"/>
                  <a:gd name="T6" fmla="*/ 1 w 134"/>
                  <a:gd name="T7" fmla="*/ 1 h 101"/>
                  <a:gd name="T8" fmla="*/ 1 w 134"/>
                  <a:gd name="T9" fmla="*/ 1 h 101"/>
                  <a:gd name="T10" fmla="*/ 1 w 134"/>
                  <a:gd name="T11" fmla="*/ 1 h 101"/>
                  <a:gd name="T12" fmla="*/ 1 w 134"/>
                  <a:gd name="T13" fmla="*/ 1 h 101"/>
                  <a:gd name="T14" fmla="*/ 1 w 134"/>
                  <a:gd name="T15" fmla="*/ 1 h 101"/>
                  <a:gd name="T16" fmla="*/ 1 w 134"/>
                  <a:gd name="T17" fmla="*/ 1 h 101"/>
                  <a:gd name="T18" fmla="*/ 1 w 134"/>
                  <a:gd name="T19" fmla="*/ 1 h 101"/>
                  <a:gd name="T20" fmla="*/ 1 w 134"/>
                  <a:gd name="T21" fmla="*/ 1 h 101"/>
                  <a:gd name="T22" fmla="*/ 1 w 134"/>
                  <a:gd name="T23" fmla="*/ 1 h 101"/>
                  <a:gd name="T24" fmla="*/ 1 w 134"/>
                  <a:gd name="T25" fmla="*/ 1 h 101"/>
                  <a:gd name="T26" fmla="*/ 1 w 134"/>
                  <a:gd name="T27" fmla="*/ 1 h 101"/>
                  <a:gd name="T28" fmla="*/ 1 w 134"/>
                  <a:gd name="T29" fmla="*/ 1 h 101"/>
                  <a:gd name="T30" fmla="*/ 1 w 134"/>
                  <a:gd name="T31" fmla="*/ 0 h 101"/>
                  <a:gd name="T32" fmla="*/ 1 w 134"/>
                  <a:gd name="T33" fmla="*/ 1 h 101"/>
                  <a:gd name="T34" fmla="*/ 0 w 134"/>
                  <a:gd name="T35" fmla="*/ 1 h 1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4"/>
                  <a:gd name="T55" fmla="*/ 0 h 101"/>
                  <a:gd name="T56" fmla="*/ 134 w 134"/>
                  <a:gd name="T57" fmla="*/ 101 h 1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4" h="101">
                    <a:moveTo>
                      <a:pt x="0" y="15"/>
                    </a:moveTo>
                    <a:lnTo>
                      <a:pt x="16" y="31"/>
                    </a:lnTo>
                    <a:lnTo>
                      <a:pt x="35" y="56"/>
                    </a:lnTo>
                    <a:lnTo>
                      <a:pt x="67" y="89"/>
                    </a:lnTo>
                    <a:lnTo>
                      <a:pt x="87" y="70"/>
                    </a:lnTo>
                    <a:lnTo>
                      <a:pt x="89" y="86"/>
                    </a:lnTo>
                    <a:lnTo>
                      <a:pt x="104" y="89"/>
                    </a:lnTo>
                    <a:lnTo>
                      <a:pt x="126" y="101"/>
                    </a:lnTo>
                    <a:lnTo>
                      <a:pt x="134" y="86"/>
                    </a:lnTo>
                    <a:lnTo>
                      <a:pt x="101" y="60"/>
                    </a:lnTo>
                    <a:lnTo>
                      <a:pt x="93" y="40"/>
                    </a:lnTo>
                    <a:lnTo>
                      <a:pt x="79" y="30"/>
                    </a:lnTo>
                    <a:lnTo>
                      <a:pt x="79" y="18"/>
                    </a:lnTo>
                    <a:lnTo>
                      <a:pt x="64" y="12"/>
                    </a:lnTo>
                    <a:lnTo>
                      <a:pt x="42" y="7"/>
                    </a:lnTo>
                    <a:lnTo>
                      <a:pt x="23" y="0"/>
                    </a:lnTo>
                    <a:lnTo>
                      <a:pt x="6" y="2"/>
                    </a:lnTo>
                    <a:lnTo>
                      <a:pt x="0" y="1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6" name="16454303.875530.2529.2558.1255">
                <a:extLst>
                  <a:ext uri="{FF2B5EF4-FFF2-40B4-BE49-F238E27FC236}">
                    <a16:creationId xmlns:a16="http://schemas.microsoft.com/office/drawing/2014/main" id="{F3307C93-08EF-9D2B-598D-3812BA4C459B}"/>
                  </a:ext>
                </a:extLst>
              </p:cNvPr>
              <p:cNvSpPr>
                <a:spLocks/>
              </p:cNvSpPr>
              <p:nvPr/>
            </p:nvSpPr>
            <p:spPr bwMode="auto">
              <a:xfrm>
                <a:off x="6414639" y="2661962"/>
                <a:ext cx="940827" cy="459900"/>
              </a:xfrm>
              <a:custGeom>
                <a:avLst/>
                <a:gdLst>
                  <a:gd name="T0" fmla="*/ 1 w 1396"/>
                  <a:gd name="T1" fmla="*/ 1 h 600"/>
                  <a:gd name="T2" fmla="*/ 1 w 1396"/>
                  <a:gd name="T3" fmla="*/ 1 h 600"/>
                  <a:gd name="T4" fmla="*/ 1 w 1396"/>
                  <a:gd name="T5" fmla="*/ 1 h 600"/>
                  <a:gd name="T6" fmla="*/ 1 w 1396"/>
                  <a:gd name="T7" fmla="*/ 1 h 600"/>
                  <a:gd name="T8" fmla="*/ 1 w 1396"/>
                  <a:gd name="T9" fmla="*/ 1 h 600"/>
                  <a:gd name="T10" fmla="*/ 1 w 1396"/>
                  <a:gd name="T11" fmla="*/ 1 h 600"/>
                  <a:gd name="T12" fmla="*/ 1 w 1396"/>
                  <a:gd name="T13" fmla="*/ 1 h 600"/>
                  <a:gd name="T14" fmla="*/ 1 w 1396"/>
                  <a:gd name="T15" fmla="*/ 1 h 600"/>
                  <a:gd name="T16" fmla="*/ 1 w 1396"/>
                  <a:gd name="T17" fmla="*/ 1 h 600"/>
                  <a:gd name="T18" fmla="*/ 1 w 1396"/>
                  <a:gd name="T19" fmla="*/ 1 h 600"/>
                  <a:gd name="T20" fmla="*/ 1 w 1396"/>
                  <a:gd name="T21" fmla="*/ 1 h 600"/>
                  <a:gd name="T22" fmla="*/ 1 w 1396"/>
                  <a:gd name="T23" fmla="*/ 1 h 600"/>
                  <a:gd name="T24" fmla="*/ 1 w 1396"/>
                  <a:gd name="T25" fmla="*/ 1 h 600"/>
                  <a:gd name="T26" fmla="*/ 1 w 1396"/>
                  <a:gd name="T27" fmla="*/ 1 h 600"/>
                  <a:gd name="T28" fmla="*/ 1 w 1396"/>
                  <a:gd name="T29" fmla="*/ 1 h 600"/>
                  <a:gd name="T30" fmla="*/ 1 w 1396"/>
                  <a:gd name="T31" fmla="*/ 1 h 600"/>
                  <a:gd name="T32" fmla="*/ 1 w 1396"/>
                  <a:gd name="T33" fmla="*/ 1 h 600"/>
                  <a:gd name="T34" fmla="*/ 1 w 1396"/>
                  <a:gd name="T35" fmla="*/ 1 h 600"/>
                  <a:gd name="T36" fmla="*/ 1 w 1396"/>
                  <a:gd name="T37" fmla="*/ 1 h 600"/>
                  <a:gd name="T38" fmla="*/ 1 w 1396"/>
                  <a:gd name="T39" fmla="*/ 1 h 600"/>
                  <a:gd name="T40" fmla="*/ 1 w 1396"/>
                  <a:gd name="T41" fmla="*/ 1 h 600"/>
                  <a:gd name="T42" fmla="*/ 1 w 1396"/>
                  <a:gd name="T43" fmla="*/ 1 h 600"/>
                  <a:gd name="T44" fmla="*/ 0 w 1396"/>
                  <a:gd name="T45" fmla="*/ 1 h 600"/>
                  <a:gd name="T46" fmla="*/ 1 w 1396"/>
                  <a:gd name="T47" fmla="*/ 1 h 600"/>
                  <a:gd name="T48" fmla="*/ 1 w 1396"/>
                  <a:gd name="T49" fmla="*/ 1 h 600"/>
                  <a:gd name="T50" fmla="*/ 1 w 1396"/>
                  <a:gd name="T51" fmla="*/ 1 h 600"/>
                  <a:gd name="T52" fmla="*/ 1 w 1396"/>
                  <a:gd name="T53" fmla="*/ 1 h 600"/>
                  <a:gd name="T54" fmla="*/ 1 w 1396"/>
                  <a:gd name="T55" fmla="*/ 1 h 600"/>
                  <a:gd name="T56" fmla="*/ 1 w 1396"/>
                  <a:gd name="T57" fmla="*/ 1 h 600"/>
                  <a:gd name="T58" fmla="*/ 1 w 1396"/>
                  <a:gd name="T59" fmla="*/ 1 h 600"/>
                  <a:gd name="T60" fmla="*/ 1 w 1396"/>
                  <a:gd name="T61" fmla="*/ 1 h 600"/>
                  <a:gd name="T62" fmla="*/ 1 w 1396"/>
                  <a:gd name="T63" fmla="*/ 1 h 600"/>
                  <a:gd name="T64" fmla="*/ 1 w 1396"/>
                  <a:gd name="T65" fmla="*/ 1 h 600"/>
                  <a:gd name="T66" fmla="*/ 1 w 1396"/>
                  <a:gd name="T67" fmla="*/ 1 h 600"/>
                  <a:gd name="T68" fmla="*/ 1 w 1396"/>
                  <a:gd name="T69" fmla="*/ 1 h 600"/>
                  <a:gd name="T70" fmla="*/ 1 w 1396"/>
                  <a:gd name="T71" fmla="*/ 1 h 600"/>
                  <a:gd name="T72" fmla="*/ 1 w 1396"/>
                  <a:gd name="T73" fmla="*/ 1 h 600"/>
                  <a:gd name="T74" fmla="*/ 1 w 1396"/>
                  <a:gd name="T75" fmla="*/ 1 h 600"/>
                  <a:gd name="T76" fmla="*/ 1 w 1396"/>
                  <a:gd name="T77" fmla="*/ 1 h 600"/>
                  <a:gd name="T78" fmla="*/ 1 w 1396"/>
                  <a:gd name="T79" fmla="*/ 1 h 600"/>
                  <a:gd name="T80" fmla="*/ 1 w 1396"/>
                  <a:gd name="T81" fmla="*/ 1 h 600"/>
                  <a:gd name="T82" fmla="*/ 1 w 1396"/>
                  <a:gd name="T83" fmla="*/ 1 h 600"/>
                  <a:gd name="T84" fmla="*/ 1 w 1396"/>
                  <a:gd name="T85" fmla="*/ 1 h 600"/>
                  <a:gd name="T86" fmla="*/ 1 w 1396"/>
                  <a:gd name="T87" fmla="*/ 1 h 600"/>
                  <a:gd name="T88" fmla="*/ 1 w 1396"/>
                  <a:gd name="T89" fmla="*/ 1 h 600"/>
                  <a:gd name="T90" fmla="*/ 1 w 1396"/>
                  <a:gd name="T91" fmla="*/ 1 h 600"/>
                  <a:gd name="T92" fmla="*/ 1 w 1396"/>
                  <a:gd name="T93" fmla="*/ 1 h 600"/>
                  <a:gd name="T94" fmla="*/ 1 w 1396"/>
                  <a:gd name="T95" fmla="*/ 1 h 600"/>
                  <a:gd name="T96" fmla="*/ 1 w 1396"/>
                  <a:gd name="T97" fmla="*/ 1 h 600"/>
                  <a:gd name="T98" fmla="*/ 1 w 1396"/>
                  <a:gd name="T99" fmla="*/ 1 h 600"/>
                  <a:gd name="T100" fmla="*/ 1 w 1396"/>
                  <a:gd name="T101" fmla="*/ 1 h 6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396"/>
                  <a:gd name="T154" fmla="*/ 0 h 600"/>
                  <a:gd name="T155" fmla="*/ 1396 w 1396"/>
                  <a:gd name="T156" fmla="*/ 600 h 60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396" h="600">
                    <a:moveTo>
                      <a:pt x="1362" y="308"/>
                    </a:moveTo>
                    <a:lnTo>
                      <a:pt x="1396" y="296"/>
                    </a:lnTo>
                    <a:lnTo>
                      <a:pt x="1326" y="247"/>
                    </a:lnTo>
                    <a:lnTo>
                      <a:pt x="1281" y="267"/>
                    </a:lnTo>
                    <a:lnTo>
                      <a:pt x="1216" y="249"/>
                    </a:lnTo>
                    <a:lnTo>
                      <a:pt x="1187" y="234"/>
                    </a:lnTo>
                    <a:lnTo>
                      <a:pt x="1160" y="234"/>
                    </a:lnTo>
                    <a:lnTo>
                      <a:pt x="1143" y="205"/>
                    </a:lnTo>
                    <a:lnTo>
                      <a:pt x="1135" y="186"/>
                    </a:lnTo>
                    <a:lnTo>
                      <a:pt x="1110" y="186"/>
                    </a:lnTo>
                    <a:lnTo>
                      <a:pt x="1090" y="186"/>
                    </a:lnTo>
                    <a:lnTo>
                      <a:pt x="1069" y="194"/>
                    </a:lnTo>
                    <a:lnTo>
                      <a:pt x="1036" y="161"/>
                    </a:lnTo>
                    <a:lnTo>
                      <a:pt x="1021" y="166"/>
                    </a:lnTo>
                    <a:lnTo>
                      <a:pt x="1006" y="173"/>
                    </a:lnTo>
                    <a:lnTo>
                      <a:pt x="987" y="180"/>
                    </a:lnTo>
                    <a:lnTo>
                      <a:pt x="958" y="155"/>
                    </a:lnTo>
                    <a:lnTo>
                      <a:pt x="889" y="100"/>
                    </a:lnTo>
                    <a:lnTo>
                      <a:pt x="835" y="67"/>
                    </a:lnTo>
                    <a:lnTo>
                      <a:pt x="802" y="37"/>
                    </a:lnTo>
                    <a:lnTo>
                      <a:pt x="745" y="73"/>
                    </a:lnTo>
                    <a:lnTo>
                      <a:pt x="735" y="47"/>
                    </a:lnTo>
                    <a:lnTo>
                      <a:pt x="654" y="44"/>
                    </a:lnTo>
                    <a:lnTo>
                      <a:pt x="644" y="44"/>
                    </a:lnTo>
                    <a:lnTo>
                      <a:pt x="609" y="0"/>
                    </a:lnTo>
                    <a:lnTo>
                      <a:pt x="569" y="5"/>
                    </a:lnTo>
                    <a:lnTo>
                      <a:pt x="544" y="23"/>
                    </a:lnTo>
                    <a:lnTo>
                      <a:pt x="493" y="34"/>
                    </a:lnTo>
                    <a:lnTo>
                      <a:pt x="477" y="25"/>
                    </a:lnTo>
                    <a:lnTo>
                      <a:pt x="449" y="51"/>
                    </a:lnTo>
                    <a:lnTo>
                      <a:pt x="430" y="47"/>
                    </a:lnTo>
                    <a:lnTo>
                      <a:pt x="357" y="54"/>
                    </a:lnTo>
                    <a:lnTo>
                      <a:pt x="342" y="51"/>
                    </a:lnTo>
                    <a:lnTo>
                      <a:pt x="332" y="56"/>
                    </a:lnTo>
                    <a:lnTo>
                      <a:pt x="363" y="89"/>
                    </a:lnTo>
                    <a:lnTo>
                      <a:pt x="342" y="120"/>
                    </a:lnTo>
                    <a:lnTo>
                      <a:pt x="345" y="142"/>
                    </a:lnTo>
                    <a:lnTo>
                      <a:pt x="345" y="153"/>
                    </a:lnTo>
                    <a:lnTo>
                      <a:pt x="383" y="153"/>
                    </a:lnTo>
                    <a:lnTo>
                      <a:pt x="396" y="173"/>
                    </a:lnTo>
                    <a:lnTo>
                      <a:pt x="396" y="194"/>
                    </a:lnTo>
                    <a:lnTo>
                      <a:pt x="383" y="198"/>
                    </a:lnTo>
                    <a:lnTo>
                      <a:pt x="368" y="186"/>
                    </a:lnTo>
                    <a:lnTo>
                      <a:pt x="352" y="194"/>
                    </a:lnTo>
                    <a:lnTo>
                      <a:pt x="342" y="202"/>
                    </a:lnTo>
                    <a:lnTo>
                      <a:pt x="315" y="186"/>
                    </a:lnTo>
                    <a:lnTo>
                      <a:pt x="306" y="169"/>
                    </a:lnTo>
                    <a:lnTo>
                      <a:pt x="280" y="177"/>
                    </a:lnTo>
                    <a:lnTo>
                      <a:pt x="280" y="183"/>
                    </a:lnTo>
                    <a:lnTo>
                      <a:pt x="262" y="169"/>
                    </a:lnTo>
                    <a:lnTo>
                      <a:pt x="239" y="186"/>
                    </a:lnTo>
                    <a:lnTo>
                      <a:pt x="209" y="194"/>
                    </a:lnTo>
                    <a:lnTo>
                      <a:pt x="199" y="186"/>
                    </a:lnTo>
                    <a:lnTo>
                      <a:pt x="191" y="169"/>
                    </a:lnTo>
                    <a:lnTo>
                      <a:pt x="152" y="166"/>
                    </a:lnTo>
                    <a:lnTo>
                      <a:pt x="88" y="162"/>
                    </a:lnTo>
                    <a:lnTo>
                      <a:pt x="73" y="166"/>
                    </a:lnTo>
                    <a:lnTo>
                      <a:pt x="67" y="177"/>
                    </a:lnTo>
                    <a:lnTo>
                      <a:pt x="56" y="173"/>
                    </a:lnTo>
                    <a:lnTo>
                      <a:pt x="47" y="191"/>
                    </a:lnTo>
                    <a:lnTo>
                      <a:pt x="37" y="205"/>
                    </a:lnTo>
                    <a:lnTo>
                      <a:pt x="37" y="212"/>
                    </a:lnTo>
                    <a:lnTo>
                      <a:pt x="44" y="224"/>
                    </a:lnTo>
                    <a:lnTo>
                      <a:pt x="33" y="228"/>
                    </a:lnTo>
                    <a:lnTo>
                      <a:pt x="22" y="205"/>
                    </a:lnTo>
                    <a:lnTo>
                      <a:pt x="5" y="208"/>
                    </a:lnTo>
                    <a:lnTo>
                      <a:pt x="0" y="239"/>
                    </a:lnTo>
                    <a:lnTo>
                      <a:pt x="0" y="258"/>
                    </a:lnTo>
                    <a:lnTo>
                      <a:pt x="0" y="275"/>
                    </a:lnTo>
                    <a:lnTo>
                      <a:pt x="8" y="290"/>
                    </a:lnTo>
                    <a:lnTo>
                      <a:pt x="18" y="301"/>
                    </a:lnTo>
                    <a:lnTo>
                      <a:pt x="18" y="320"/>
                    </a:lnTo>
                    <a:lnTo>
                      <a:pt x="33" y="318"/>
                    </a:lnTo>
                    <a:lnTo>
                      <a:pt x="52" y="304"/>
                    </a:lnTo>
                    <a:lnTo>
                      <a:pt x="62" y="318"/>
                    </a:lnTo>
                    <a:lnTo>
                      <a:pt x="77" y="335"/>
                    </a:lnTo>
                    <a:lnTo>
                      <a:pt x="89" y="352"/>
                    </a:lnTo>
                    <a:lnTo>
                      <a:pt x="104" y="385"/>
                    </a:lnTo>
                    <a:lnTo>
                      <a:pt x="133" y="377"/>
                    </a:lnTo>
                    <a:lnTo>
                      <a:pt x="180" y="368"/>
                    </a:lnTo>
                    <a:lnTo>
                      <a:pt x="253" y="359"/>
                    </a:lnTo>
                    <a:lnTo>
                      <a:pt x="271" y="381"/>
                    </a:lnTo>
                    <a:lnTo>
                      <a:pt x="273" y="422"/>
                    </a:lnTo>
                    <a:lnTo>
                      <a:pt x="240" y="430"/>
                    </a:lnTo>
                    <a:lnTo>
                      <a:pt x="209" y="439"/>
                    </a:lnTo>
                    <a:lnTo>
                      <a:pt x="213" y="468"/>
                    </a:lnTo>
                    <a:lnTo>
                      <a:pt x="166" y="468"/>
                    </a:lnTo>
                    <a:lnTo>
                      <a:pt x="209" y="527"/>
                    </a:lnTo>
                    <a:lnTo>
                      <a:pt x="228" y="531"/>
                    </a:lnTo>
                    <a:lnTo>
                      <a:pt x="249" y="535"/>
                    </a:lnTo>
                    <a:lnTo>
                      <a:pt x="258" y="560"/>
                    </a:lnTo>
                    <a:lnTo>
                      <a:pt x="269" y="550"/>
                    </a:lnTo>
                    <a:lnTo>
                      <a:pt x="308" y="545"/>
                    </a:lnTo>
                    <a:lnTo>
                      <a:pt x="328" y="554"/>
                    </a:lnTo>
                    <a:lnTo>
                      <a:pt x="342" y="567"/>
                    </a:lnTo>
                    <a:lnTo>
                      <a:pt x="353" y="554"/>
                    </a:lnTo>
                    <a:lnTo>
                      <a:pt x="378" y="557"/>
                    </a:lnTo>
                    <a:lnTo>
                      <a:pt x="335" y="425"/>
                    </a:lnTo>
                    <a:lnTo>
                      <a:pt x="352" y="418"/>
                    </a:lnTo>
                    <a:lnTo>
                      <a:pt x="408" y="389"/>
                    </a:lnTo>
                    <a:lnTo>
                      <a:pt x="418" y="388"/>
                    </a:lnTo>
                    <a:lnTo>
                      <a:pt x="409" y="377"/>
                    </a:lnTo>
                    <a:lnTo>
                      <a:pt x="422" y="382"/>
                    </a:lnTo>
                    <a:lnTo>
                      <a:pt x="422" y="368"/>
                    </a:lnTo>
                    <a:lnTo>
                      <a:pt x="430" y="359"/>
                    </a:lnTo>
                    <a:lnTo>
                      <a:pt x="434" y="363"/>
                    </a:lnTo>
                    <a:lnTo>
                      <a:pt x="446" y="363"/>
                    </a:lnTo>
                    <a:lnTo>
                      <a:pt x="459" y="371"/>
                    </a:lnTo>
                    <a:lnTo>
                      <a:pt x="475" y="355"/>
                    </a:lnTo>
                    <a:lnTo>
                      <a:pt x="485" y="359"/>
                    </a:lnTo>
                    <a:lnTo>
                      <a:pt x="474" y="382"/>
                    </a:lnTo>
                    <a:lnTo>
                      <a:pt x="482" y="414"/>
                    </a:lnTo>
                    <a:lnTo>
                      <a:pt x="511" y="432"/>
                    </a:lnTo>
                    <a:lnTo>
                      <a:pt x="511" y="439"/>
                    </a:lnTo>
                    <a:lnTo>
                      <a:pt x="501" y="454"/>
                    </a:lnTo>
                    <a:lnTo>
                      <a:pt x="506" y="461"/>
                    </a:lnTo>
                    <a:lnTo>
                      <a:pt x="541" y="474"/>
                    </a:lnTo>
                    <a:lnTo>
                      <a:pt x="552" y="494"/>
                    </a:lnTo>
                    <a:lnTo>
                      <a:pt x="587" y="483"/>
                    </a:lnTo>
                    <a:lnTo>
                      <a:pt x="624" y="474"/>
                    </a:lnTo>
                    <a:lnTo>
                      <a:pt x="654" y="534"/>
                    </a:lnTo>
                    <a:lnTo>
                      <a:pt x="665" y="561"/>
                    </a:lnTo>
                    <a:lnTo>
                      <a:pt x="655" y="568"/>
                    </a:lnTo>
                    <a:lnTo>
                      <a:pt x="650" y="578"/>
                    </a:lnTo>
                    <a:lnTo>
                      <a:pt x="679" y="587"/>
                    </a:lnTo>
                    <a:lnTo>
                      <a:pt x="688" y="600"/>
                    </a:lnTo>
                    <a:lnTo>
                      <a:pt x="728" y="587"/>
                    </a:lnTo>
                    <a:lnTo>
                      <a:pt x="742" y="600"/>
                    </a:lnTo>
                    <a:lnTo>
                      <a:pt x="769" y="584"/>
                    </a:lnTo>
                    <a:lnTo>
                      <a:pt x="789" y="582"/>
                    </a:lnTo>
                    <a:lnTo>
                      <a:pt x="813" y="586"/>
                    </a:lnTo>
                    <a:lnTo>
                      <a:pt x="866" y="586"/>
                    </a:lnTo>
                    <a:lnTo>
                      <a:pt x="852" y="575"/>
                    </a:lnTo>
                    <a:lnTo>
                      <a:pt x="852" y="557"/>
                    </a:lnTo>
                    <a:lnTo>
                      <a:pt x="860" y="546"/>
                    </a:lnTo>
                    <a:lnTo>
                      <a:pt x="860" y="536"/>
                    </a:lnTo>
                    <a:lnTo>
                      <a:pt x="844" y="528"/>
                    </a:lnTo>
                    <a:lnTo>
                      <a:pt x="877" y="525"/>
                    </a:lnTo>
                    <a:lnTo>
                      <a:pt x="906" y="528"/>
                    </a:lnTo>
                    <a:lnTo>
                      <a:pt x="912" y="536"/>
                    </a:lnTo>
                    <a:lnTo>
                      <a:pt x="936" y="534"/>
                    </a:lnTo>
                    <a:lnTo>
                      <a:pt x="919" y="507"/>
                    </a:lnTo>
                    <a:lnTo>
                      <a:pt x="937" y="503"/>
                    </a:lnTo>
                    <a:lnTo>
                      <a:pt x="1018" y="514"/>
                    </a:lnTo>
                    <a:lnTo>
                      <a:pt x="1086" y="520"/>
                    </a:lnTo>
                    <a:lnTo>
                      <a:pt x="1135" y="542"/>
                    </a:lnTo>
                    <a:lnTo>
                      <a:pt x="1160" y="542"/>
                    </a:lnTo>
                    <a:lnTo>
                      <a:pt x="1168" y="567"/>
                    </a:lnTo>
                    <a:lnTo>
                      <a:pt x="1187" y="514"/>
                    </a:lnTo>
                    <a:lnTo>
                      <a:pt x="1160" y="457"/>
                    </a:lnTo>
                    <a:lnTo>
                      <a:pt x="1242" y="437"/>
                    </a:lnTo>
                    <a:lnTo>
                      <a:pt x="1252" y="406"/>
                    </a:lnTo>
                    <a:lnTo>
                      <a:pt x="1264" y="359"/>
                    </a:lnTo>
                    <a:lnTo>
                      <a:pt x="1349" y="363"/>
                    </a:lnTo>
                    <a:lnTo>
                      <a:pt x="1362" y="30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7" name="16455322.75544.2518.12525.255">
                <a:extLst>
                  <a:ext uri="{FF2B5EF4-FFF2-40B4-BE49-F238E27FC236}">
                    <a16:creationId xmlns:a16="http://schemas.microsoft.com/office/drawing/2014/main" id="{2103C568-D1D3-B496-C8EB-86E8DBDEF0D1}"/>
                  </a:ext>
                </a:extLst>
              </p:cNvPr>
              <p:cNvSpPr>
                <a:spLocks/>
              </p:cNvSpPr>
              <p:nvPr/>
            </p:nvSpPr>
            <p:spPr bwMode="auto">
              <a:xfrm>
                <a:off x="6640760" y="2959365"/>
                <a:ext cx="409171" cy="285139"/>
              </a:xfrm>
              <a:custGeom>
                <a:avLst/>
                <a:gdLst>
                  <a:gd name="T0" fmla="*/ 0 w 609"/>
                  <a:gd name="T1" fmla="*/ 1 h 371"/>
                  <a:gd name="T2" fmla="*/ 0 w 609"/>
                  <a:gd name="T3" fmla="*/ 1 h 371"/>
                  <a:gd name="T4" fmla="*/ 0 w 609"/>
                  <a:gd name="T5" fmla="*/ 1 h 371"/>
                  <a:gd name="T6" fmla="*/ 0 w 609"/>
                  <a:gd name="T7" fmla="*/ 1 h 371"/>
                  <a:gd name="T8" fmla="*/ 0 w 609"/>
                  <a:gd name="T9" fmla="*/ 1 h 371"/>
                  <a:gd name="T10" fmla="*/ 0 w 609"/>
                  <a:gd name="T11" fmla="*/ 1 h 371"/>
                  <a:gd name="T12" fmla="*/ 0 w 609"/>
                  <a:gd name="T13" fmla="*/ 1 h 371"/>
                  <a:gd name="T14" fmla="*/ 0 w 609"/>
                  <a:gd name="T15" fmla="*/ 1 h 371"/>
                  <a:gd name="T16" fmla="*/ 0 w 609"/>
                  <a:gd name="T17" fmla="*/ 1 h 371"/>
                  <a:gd name="T18" fmla="*/ 0 w 609"/>
                  <a:gd name="T19" fmla="*/ 1 h 371"/>
                  <a:gd name="T20" fmla="*/ 0 w 609"/>
                  <a:gd name="T21" fmla="*/ 1 h 371"/>
                  <a:gd name="T22" fmla="*/ 0 w 609"/>
                  <a:gd name="T23" fmla="*/ 1 h 371"/>
                  <a:gd name="T24" fmla="*/ 0 w 609"/>
                  <a:gd name="T25" fmla="*/ 1 h 371"/>
                  <a:gd name="T26" fmla="*/ 0 w 609"/>
                  <a:gd name="T27" fmla="*/ 1 h 371"/>
                  <a:gd name="T28" fmla="*/ 0 w 609"/>
                  <a:gd name="T29" fmla="*/ 1 h 371"/>
                  <a:gd name="T30" fmla="*/ 0 w 609"/>
                  <a:gd name="T31" fmla="*/ 1 h 371"/>
                  <a:gd name="T32" fmla="*/ 0 w 609"/>
                  <a:gd name="T33" fmla="*/ 1 h 371"/>
                  <a:gd name="T34" fmla="*/ 0 w 609"/>
                  <a:gd name="T35" fmla="*/ 1 h 371"/>
                  <a:gd name="T36" fmla="*/ 0 w 609"/>
                  <a:gd name="T37" fmla="*/ 1 h 371"/>
                  <a:gd name="T38" fmla="*/ 0 w 609"/>
                  <a:gd name="T39" fmla="*/ 1 h 371"/>
                  <a:gd name="T40" fmla="*/ 0 w 609"/>
                  <a:gd name="T41" fmla="*/ 1 h 371"/>
                  <a:gd name="T42" fmla="*/ 0 w 609"/>
                  <a:gd name="T43" fmla="*/ 1 h 371"/>
                  <a:gd name="T44" fmla="*/ 0 w 609"/>
                  <a:gd name="T45" fmla="*/ 1 h 371"/>
                  <a:gd name="T46" fmla="*/ 0 w 609"/>
                  <a:gd name="T47" fmla="*/ 1 h 371"/>
                  <a:gd name="T48" fmla="*/ 0 w 609"/>
                  <a:gd name="T49" fmla="*/ 1 h 371"/>
                  <a:gd name="T50" fmla="*/ 0 w 609"/>
                  <a:gd name="T51" fmla="*/ 1 h 371"/>
                  <a:gd name="T52" fmla="*/ 0 w 609"/>
                  <a:gd name="T53" fmla="*/ 1 h 371"/>
                  <a:gd name="T54" fmla="*/ 0 w 609"/>
                  <a:gd name="T55" fmla="*/ 1 h 371"/>
                  <a:gd name="T56" fmla="*/ 0 w 609"/>
                  <a:gd name="T57" fmla="*/ 1 h 371"/>
                  <a:gd name="T58" fmla="*/ 0 w 609"/>
                  <a:gd name="T59" fmla="*/ 1 h 371"/>
                  <a:gd name="T60" fmla="*/ 0 w 609"/>
                  <a:gd name="T61" fmla="*/ 1 h 371"/>
                  <a:gd name="T62" fmla="*/ 0 w 609"/>
                  <a:gd name="T63" fmla="*/ 1 h 371"/>
                  <a:gd name="T64" fmla="*/ 0 w 609"/>
                  <a:gd name="T65" fmla="*/ 1 h 371"/>
                  <a:gd name="T66" fmla="*/ 0 w 609"/>
                  <a:gd name="T67" fmla="*/ 0 h 371"/>
                  <a:gd name="T68" fmla="*/ 0 w 609"/>
                  <a:gd name="T69" fmla="*/ 1 h 37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09"/>
                  <a:gd name="T106" fmla="*/ 0 h 371"/>
                  <a:gd name="T107" fmla="*/ 609 w 609"/>
                  <a:gd name="T108" fmla="*/ 371 h 37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09" h="371">
                    <a:moveTo>
                      <a:pt x="43" y="169"/>
                    </a:moveTo>
                    <a:lnTo>
                      <a:pt x="58" y="166"/>
                    </a:lnTo>
                    <a:lnTo>
                      <a:pt x="63" y="151"/>
                    </a:lnTo>
                    <a:lnTo>
                      <a:pt x="69" y="139"/>
                    </a:lnTo>
                    <a:lnTo>
                      <a:pt x="87" y="146"/>
                    </a:lnTo>
                    <a:lnTo>
                      <a:pt x="83" y="126"/>
                    </a:lnTo>
                    <a:lnTo>
                      <a:pt x="99" y="119"/>
                    </a:lnTo>
                    <a:lnTo>
                      <a:pt x="109" y="132"/>
                    </a:lnTo>
                    <a:lnTo>
                      <a:pt x="124" y="132"/>
                    </a:lnTo>
                    <a:lnTo>
                      <a:pt x="139" y="140"/>
                    </a:lnTo>
                    <a:lnTo>
                      <a:pt x="147" y="146"/>
                    </a:lnTo>
                    <a:lnTo>
                      <a:pt x="147" y="148"/>
                    </a:lnTo>
                    <a:lnTo>
                      <a:pt x="149" y="161"/>
                    </a:lnTo>
                    <a:lnTo>
                      <a:pt x="166" y="166"/>
                    </a:lnTo>
                    <a:lnTo>
                      <a:pt x="166" y="183"/>
                    </a:lnTo>
                    <a:lnTo>
                      <a:pt x="180" y="209"/>
                    </a:lnTo>
                    <a:lnTo>
                      <a:pt x="197" y="212"/>
                    </a:lnTo>
                    <a:lnTo>
                      <a:pt x="204" y="205"/>
                    </a:lnTo>
                    <a:lnTo>
                      <a:pt x="221" y="195"/>
                    </a:lnTo>
                    <a:lnTo>
                      <a:pt x="237" y="209"/>
                    </a:lnTo>
                    <a:lnTo>
                      <a:pt x="256" y="229"/>
                    </a:lnTo>
                    <a:lnTo>
                      <a:pt x="285" y="258"/>
                    </a:lnTo>
                    <a:lnTo>
                      <a:pt x="335" y="271"/>
                    </a:lnTo>
                    <a:lnTo>
                      <a:pt x="337" y="289"/>
                    </a:lnTo>
                    <a:lnTo>
                      <a:pt x="370" y="301"/>
                    </a:lnTo>
                    <a:lnTo>
                      <a:pt x="385" y="319"/>
                    </a:lnTo>
                    <a:lnTo>
                      <a:pt x="374" y="370"/>
                    </a:lnTo>
                    <a:lnTo>
                      <a:pt x="404" y="371"/>
                    </a:lnTo>
                    <a:lnTo>
                      <a:pt x="423" y="345"/>
                    </a:lnTo>
                    <a:lnTo>
                      <a:pt x="436" y="330"/>
                    </a:lnTo>
                    <a:lnTo>
                      <a:pt x="444" y="316"/>
                    </a:lnTo>
                    <a:lnTo>
                      <a:pt x="439" y="291"/>
                    </a:lnTo>
                    <a:lnTo>
                      <a:pt x="415" y="282"/>
                    </a:lnTo>
                    <a:lnTo>
                      <a:pt x="421" y="236"/>
                    </a:lnTo>
                    <a:lnTo>
                      <a:pt x="443" y="218"/>
                    </a:lnTo>
                    <a:lnTo>
                      <a:pt x="461" y="224"/>
                    </a:lnTo>
                    <a:lnTo>
                      <a:pt x="506" y="216"/>
                    </a:lnTo>
                    <a:lnTo>
                      <a:pt x="513" y="235"/>
                    </a:lnTo>
                    <a:lnTo>
                      <a:pt x="539" y="234"/>
                    </a:lnTo>
                    <a:lnTo>
                      <a:pt x="595" y="229"/>
                    </a:lnTo>
                    <a:lnTo>
                      <a:pt x="609" y="209"/>
                    </a:lnTo>
                    <a:lnTo>
                      <a:pt x="595" y="196"/>
                    </a:lnTo>
                    <a:lnTo>
                      <a:pt x="560" y="196"/>
                    </a:lnTo>
                    <a:lnTo>
                      <a:pt x="496" y="196"/>
                    </a:lnTo>
                    <a:lnTo>
                      <a:pt x="472" y="196"/>
                    </a:lnTo>
                    <a:lnTo>
                      <a:pt x="447" y="192"/>
                    </a:lnTo>
                    <a:lnTo>
                      <a:pt x="407" y="212"/>
                    </a:lnTo>
                    <a:lnTo>
                      <a:pt x="403" y="209"/>
                    </a:lnTo>
                    <a:lnTo>
                      <a:pt x="393" y="199"/>
                    </a:lnTo>
                    <a:lnTo>
                      <a:pt x="373" y="205"/>
                    </a:lnTo>
                    <a:lnTo>
                      <a:pt x="353" y="212"/>
                    </a:lnTo>
                    <a:lnTo>
                      <a:pt x="349" y="207"/>
                    </a:lnTo>
                    <a:lnTo>
                      <a:pt x="345" y="199"/>
                    </a:lnTo>
                    <a:lnTo>
                      <a:pt x="320" y="192"/>
                    </a:lnTo>
                    <a:lnTo>
                      <a:pt x="315" y="190"/>
                    </a:lnTo>
                    <a:lnTo>
                      <a:pt x="319" y="180"/>
                    </a:lnTo>
                    <a:lnTo>
                      <a:pt x="331" y="173"/>
                    </a:lnTo>
                    <a:lnTo>
                      <a:pt x="315" y="137"/>
                    </a:lnTo>
                    <a:lnTo>
                      <a:pt x="289" y="86"/>
                    </a:lnTo>
                    <a:lnTo>
                      <a:pt x="219" y="103"/>
                    </a:lnTo>
                    <a:lnTo>
                      <a:pt x="204" y="86"/>
                    </a:lnTo>
                    <a:lnTo>
                      <a:pt x="171" y="73"/>
                    </a:lnTo>
                    <a:lnTo>
                      <a:pt x="140" y="93"/>
                    </a:lnTo>
                    <a:lnTo>
                      <a:pt x="110" y="88"/>
                    </a:lnTo>
                    <a:lnTo>
                      <a:pt x="77" y="66"/>
                    </a:lnTo>
                    <a:lnTo>
                      <a:pt x="72" y="38"/>
                    </a:lnTo>
                    <a:lnTo>
                      <a:pt x="74" y="19"/>
                    </a:lnTo>
                    <a:lnTo>
                      <a:pt x="73" y="0"/>
                    </a:lnTo>
                    <a:lnTo>
                      <a:pt x="0" y="38"/>
                    </a:lnTo>
                    <a:lnTo>
                      <a:pt x="43" y="16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8" name="16456328.625540.87515.87519.3755">
                <a:extLst>
                  <a:ext uri="{FF2B5EF4-FFF2-40B4-BE49-F238E27FC236}">
                    <a16:creationId xmlns:a16="http://schemas.microsoft.com/office/drawing/2014/main" id="{65EA1C34-ADD9-6A4D-64EE-A3BD114B5694}"/>
                  </a:ext>
                </a:extLst>
              </p:cNvPr>
              <p:cNvSpPr>
                <a:spLocks/>
              </p:cNvSpPr>
              <p:nvPr/>
            </p:nvSpPr>
            <p:spPr bwMode="auto">
              <a:xfrm>
                <a:off x="6586921" y="3051343"/>
                <a:ext cx="313609" cy="249878"/>
              </a:xfrm>
              <a:custGeom>
                <a:avLst/>
                <a:gdLst>
                  <a:gd name="T0" fmla="*/ 0 w 466"/>
                  <a:gd name="T1" fmla="*/ 1 h 325"/>
                  <a:gd name="T2" fmla="*/ 1 w 466"/>
                  <a:gd name="T3" fmla="*/ 1 h 325"/>
                  <a:gd name="T4" fmla="*/ 1 w 466"/>
                  <a:gd name="T5" fmla="*/ 1 h 325"/>
                  <a:gd name="T6" fmla="*/ 1 w 466"/>
                  <a:gd name="T7" fmla="*/ 1 h 325"/>
                  <a:gd name="T8" fmla="*/ 1 w 466"/>
                  <a:gd name="T9" fmla="*/ 1 h 325"/>
                  <a:gd name="T10" fmla="*/ 1 w 466"/>
                  <a:gd name="T11" fmla="*/ 1 h 325"/>
                  <a:gd name="T12" fmla="*/ 1 w 466"/>
                  <a:gd name="T13" fmla="*/ 1 h 325"/>
                  <a:gd name="T14" fmla="*/ 1 w 466"/>
                  <a:gd name="T15" fmla="*/ 1 h 325"/>
                  <a:gd name="T16" fmla="*/ 1 w 466"/>
                  <a:gd name="T17" fmla="*/ 1 h 325"/>
                  <a:gd name="T18" fmla="*/ 1 w 466"/>
                  <a:gd name="T19" fmla="*/ 1 h 325"/>
                  <a:gd name="T20" fmla="*/ 1 w 466"/>
                  <a:gd name="T21" fmla="*/ 1 h 325"/>
                  <a:gd name="T22" fmla="*/ 1 w 466"/>
                  <a:gd name="T23" fmla="*/ 1 h 325"/>
                  <a:gd name="T24" fmla="*/ 1 w 466"/>
                  <a:gd name="T25" fmla="*/ 1 h 325"/>
                  <a:gd name="T26" fmla="*/ 1 w 466"/>
                  <a:gd name="T27" fmla="*/ 1 h 325"/>
                  <a:gd name="T28" fmla="*/ 1 w 466"/>
                  <a:gd name="T29" fmla="*/ 1 h 325"/>
                  <a:gd name="T30" fmla="*/ 1 w 466"/>
                  <a:gd name="T31" fmla="*/ 1 h 325"/>
                  <a:gd name="T32" fmla="*/ 1 w 466"/>
                  <a:gd name="T33" fmla="*/ 1 h 325"/>
                  <a:gd name="T34" fmla="*/ 1 w 466"/>
                  <a:gd name="T35" fmla="*/ 1 h 325"/>
                  <a:gd name="T36" fmla="*/ 1 w 466"/>
                  <a:gd name="T37" fmla="*/ 1 h 325"/>
                  <a:gd name="T38" fmla="*/ 1 w 466"/>
                  <a:gd name="T39" fmla="*/ 1 h 325"/>
                  <a:gd name="T40" fmla="*/ 1 w 466"/>
                  <a:gd name="T41" fmla="*/ 1 h 325"/>
                  <a:gd name="T42" fmla="*/ 1 w 466"/>
                  <a:gd name="T43" fmla="*/ 1 h 325"/>
                  <a:gd name="T44" fmla="*/ 1 w 466"/>
                  <a:gd name="T45" fmla="*/ 1 h 325"/>
                  <a:gd name="T46" fmla="*/ 1 w 466"/>
                  <a:gd name="T47" fmla="*/ 1 h 325"/>
                  <a:gd name="T48" fmla="*/ 1 w 466"/>
                  <a:gd name="T49" fmla="*/ 1 h 325"/>
                  <a:gd name="T50" fmla="*/ 1 w 466"/>
                  <a:gd name="T51" fmla="*/ 1 h 325"/>
                  <a:gd name="T52" fmla="*/ 1 w 466"/>
                  <a:gd name="T53" fmla="*/ 1 h 325"/>
                  <a:gd name="T54" fmla="*/ 1 w 466"/>
                  <a:gd name="T55" fmla="*/ 1 h 325"/>
                  <a:gd name="T56" fmla="*/ 1 w 466"/>
                  <a:gd name="T57" fmla="*/ 1 h 325"/>
                  <a:gd name="T58" fmla="*/ 1 w 466"/>
                  <a:gd name="T59" fmla="*/ 1 h 325"/>
                  <a:gd name="T60" fmla="*/ 1 w 466"/>
                  <a:gd name="T61" fmla="*/ 1 h 325"/>
                  <a:gd name="T62" fmla="*/ 1 w 466"/>
                  <a:gd name="T63" fmla="*/ 1 h 325"/>
                  <a:gd name="T64" fmla="*/ 1 w 466"/>
                  <a:gd name="T65" fmla="*/ 1 h 325"/>
                  <a:gd name="T66" fmla="*/ 1 w 466"/>
                  <a:gd name="T67" fmla="*/ 1 h 325"/>
                  <a:gd name="T68" fmla="*/ 1 w 466"/>
                  <a:gd name="T69" fmla="*/ 1 h 325"/>
                  <a:gd name="T70" fmla="*/ 1 w 466"/>
                  <a:gd name="T71" fmla="*/ 1 h 325"/>
                  <a:gd name="T72" fmla="*/ 1 w 466"/>
                  <a:gd name="T73" fmla="*/ 1 h 325"/>
                  <a:gd name="T74" fmla="*/ 1 w 466"/>
                  <a:gd name="T75" fmla="*/ 1 h 325"/>
                  <a:gd name="T76" fmla="*/ 1 w 466"/>
                  <a:gd name="T77" fmla="*/ 1 h 325"/>
                  <a:gd name="T78" fmla="*/ 1 w 466"/>
                  <a:gd name="T79" fmla="*/ 0 h 325"/>
                  <a:gd name="T80" fmla="*/ 1 w 466"/>
                  <a:gd name="T81" fmla="*/ 1 h 325"/>
                  <a:gd name="T82" fmla="*/ 1 w 466"/>
                  <a:gd name="T83" fmla="*/ 1 h 325"/>
                  <a:gd name="T84" fmla="*/ 1 w 466"/>
                  <a:gd name="T85" fmla="*/ 1 h 325"/>
                  <a:gd name="T86" fmla="*/ 1 w 466"/>
                  <a:gd name="T87" fmla="*/ 1 h 325"/>
                  <a:gd name="T88" fmla="*/ 1 w 466"/>
                  <a:gd name="T89" fmla="*/ 1 h 325"/>
                  <a:gd name="T90" fmla="*/ 1 w 466"/>
                  <a:gd name="T91" fmla="*/ 1 h 325"/>
                  <a:gd name="T92" fmla="*/ 1 w 466"/>
                  <a:gd name="T93" fmla="*/ 1 h 325"/>
                  <a:gd name="T94" fmla="*/ 1 w 466"/>
                  <a:gd name="T95" fmla="*/ 1 h 325"/>
                  <a:gd name="T96" fmla="*/ 1 w 466"/>
                  <a:gd name="T97" fmla="*/ 1 h 325"/>
                  <a:gd name="T98" fmla="*/ 1 w 466"/>
                  <a:gd name="T99" fmla="*/ 1 h 325"/>
                  <a:gd name="T100" fmla="*/ 0 w 466"/>
                  <a:gd name="T101" fmla="*/ 1 h 32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66"/>
                  <a:gd name="T154" fmla="*/ 0 h 325"/>
                  <a:gd name="T155" fmla="*/ 466 w 466"/>
                  <a:gd name="T156" fmla="*/ 325 h 32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66" h="325">
                    <a:moveTo>
                      <a:pt x="0" y="47"/>
                    </a:moveTo>
                    <a:lnTo>
                      <a:pt x="3" y="90"/>
                    </a:lnTo>
                    <a:lnTo>
                      <a:pt x="29" y="64"/>
                    </a:lnTo>
                    <a:lnTo>
                      <a:pt x="64" y="97"/>
                    </a:lnTo>
                    <a:lnTo>
                      <a:pt x="49" y="117"/>
                    </a:lnTo>
                    <a:lnTo>
                      <a:pt x="6" y="98"/>
                    </a:lnTo>
                    <a:lnTo>
                      <a:pt x="2" y="127"/>
                    </a:lnTo>
                    <a:lnTo>
                      <a:pt x="6" y="143"/>
                    </a:lnTo>
                    <a:lnTo>
                      <a:pt x="29" y="148"/>
                    </a:lnTo>
                    <a:lnTo>
                      <a:pt x="18" y="165"/>
                    </a:lnTo>
                    <a:lnTo>
                      <a:pt x="39" y="179"/>
                    </a:lnTo>
                    <a:lnTo>
                      <a:pt x="39" y="237"/>
                    </a:lnTo>
                    <a:lnTo>
                      <a:pt x="102" y="220"/>
                    </a:lnTo>
                    <a:lnTo>
                      <a:pt x="138" y="203"/>
                    </a:lnTo>
                    <a:lnTo>
                      <a:pt x="220" y="241"/>
                    </a:lnTo>
                    <a:lnTo>
                      <a:pt x="271" y="265"/>
                    </a:lnTo>
                    <a:lnTo>
                      <a:pt x="282" y="276"/>
                    </a:lnTo>
                    <a:lnTo>
                      <a:pt x="288" y="304"/>
                    </a:lnTo>
                    <a:lnTo>
                      <a:pt x="336" y="325"/>
                    </a:lnTo>
                    <a:lnTo>
                      <a:pt x="407" y="248"/>
                    </a:lnTo>
                    <a:lnTo>
                      <a:pt x="454" y="248"/>
                    </a:lnTo>
                    <a:lnTo>
                      <a:pt x="461" y="215"/>
                    </a:lnTo>
                    <a:lnTo>
                      <a:pt x="466" y="201"/>
                    </a:lnTo>
                    <a:lnTo>
                      <a:pt x="451" y="181"/>
                    </a:lnTo>
                    <a:lnTo>
                      <a:pt x="417" y="168"/>
                    </a:lnTo>
                    <a:lnTo>
                      <a:pt x="414" y="152"/>
                    </a:lnTo>
                    <a:lnTo>
                      <a:pt x="365" y="139"/>
                    </a:lnTo>
                    <a:lnTo>
                      <a:pt x="336" y="110"/>
                    </a:lnTo>
                    <a:lnTo>
                      <a:pt x="325" y="93"/>
                    </a:lnTo>
                    <a:lnTo>
                      <a:pt x="301" y="75"/>
                    </a:lnTo>
                    <a:lnTo>
                      <a:pt x="286" y="84"/>
                    </a:lnTo>
                    <a:lnTo>
                      <a:pt x="277" y="93"/>
                    </a:lnTo>
                    <a:lnTo>
                      <a:pt x="260" y="90"/>
                    </a:lnTo>
                    <a:lnTo>
                      <a:pt x="246" y="64"/>
                    </a:lnTo>
                    <a:lnTo>
                      <a:pt x="245" y="47"/>
                    </a:lnTo>
                    <a:lnTo>
                      <a:pt x="229" y="42"/>
                    </a:lnTo>
                    <a:lnTo>
                      <a:pt x="224" y="27"/>
                    </a:lnTo>
                    <a:lnTo>
                      <a:pt x="204" y="13"/>
                    </a:lnTo>
                    <a:lnTo>
                      <a:pt x="189" y="13"/>
                    </a:lnTo>
                    <a:lnTo>
                      <a:pt x="179" y="0"/>
                    </a:lnTo>
                    <a:lnTo>
                      <a:pt x="163" y="7"/>
                    </a:lnTo>
                    <a:lnTo>
                      <a:pt x="168" y="27"/>
                    </a:lnTo>
                    <a:lnTo>
                      <a:pt x="160" y="22"/>
                    </a:lnTo>
                    <a:lnTo>
                      <a:pt x="149" y="20"/>
                    </a:lnTo>
                    <a:lnTo>
                      <a:pt x="138" y="47"/>
                    </a:lnTo>
                    <a:lnTo>
                      <a:pt x="120" y="50"/>
                    </a:lnTo>
                    <a:lnTo>
                      <a:pt x="102" y="46"/>
                    </a:lnTo>
                    <a:lnTo>
                      <a:pt x="87" y="60"/>
                    </a:lnTo>
                    <a:lnTo>
                      <a:pt x="73" y="47"/>
                    </a:lnTo>
                    <a:lnTo>
                      <a:pt x="51" y="35"/>
                    </a:lnTo>
                    <a:lnTo>
                      <a:pt x="0" y="47"/>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09" name="16457328.5562.625816.1255">
                <a:extLst>
                  <a:ext uri="{FF2B5EF4-FFF2-40B4-BE49-F238E27FC236}">
                    <a16:creationId xmlns:a16="http://schemas.microsoft.com/office/drawing/2014/main" id="{94DE4842-6176-4A3E-F9E8-71E8684A7FB7}"/>
                  </a:ext>
                </a:extLst>
              </p:cNvPr>
              <p:cNvSpPr>
                <a:spLocks/>
              </p:cNvSpPr>
              <p:nvPr/>
            </p:nvSpPr>
            <p:spPr bwMode="auto">
              <a:xfrm>
                <a:off x="6938215" y="3048278"/>
                <a:ext cx="262462" cy="127239"/>
              </a:xfrm>
              <a:custGeom>
                <a:avLst/>
                <a:gdLst>
                  <a:gd name="T0" fmla="*/ 1 w 389"/>
                  <a:gd name="T1" fmla="*/ 0 h 167"/>
                  <a:gd name="T2" fmla="*/ 1 w 389"/>
                  <a:gd name="T3" fmla="*/ 0 h 167"/>
                  <a:gd name="T4" fmla="*/ 1 w 389"/>
                  <a:gd name="T5" fmla="*/ 0 h 167"/>
                  <a:gd name="T6" fmla="*/ 0 w 389"/>
                  <a:gd name="T7" fmla="*/ 0 h 167"/>
                  <a:gd name="T8" fmla="*/ 1 w 389"/>
                  <a:gd name="T9" fmla="*/ 0 h 167"/>
                  <a:gd name="T10" fmla="*/ 1 w 389"/>
                  <a:gd name="T11" fmla="*/ 0 h 167"/>
                  <a:gd name="T12" fmla="*/ 1 w 389"/>
                  <a:gd name="T13" fmla="*/ 0 h 167"/>
                  <a:gd name="T14" fmla="*/ 1 w 389"/>
                  <a:gd name="T15" fmla="*/ 0 h 167"/>
                  <a:gd name="T16" fmla="*/ 1 w 389"/>
                  <a:gd name="T17" fmla="*/ 0 h 167"/>
                  <a:gd name="T18" fmla="*/ 1 w 389"/>
                  <a:gd name="T19" fmla="*/ 0 h 167"/>
                  <a:gd name="T20" fmla="*/ 1 w 389"/>
                  <a:gd name="T21" fmla="*/ 0 h 167"/>
                  <a:gd name="T22" fmla="*/ 1 w 389"/>
                  <a:gd name="T23" fmla="*/ 0 h 167"/>
                  <a:gd name="T24" fmla="*/ 1 w 389"/>
                  <a:gd name="T25" fmla="*/ 0 h 167"/>
                  <a:gd name="T26" fmla="*/ 1 w 389"/>
                  <a:gd name="T27" fmla="*/ 0 h 167"/>
                  <a:gd name="T28" fmla="*/ 1 w 389"/>
                  <a:gd name="T29" fmla="*/ 0 h 167"/>
                  <a:gd name="T30" fmla="*/ 1 w 389"/>
                  <a:gd name="T31" fmla="*/ 0 h 167"/>
                  <a:gd name="T32" fmla="*/ 1 w 389"/>
                  <a:gd name="T33" fmla="*/ 0 h 167"/>
                  <a:gd name="T34" fmla="*/ 1 w 389"/>
                  <a:gd name="T35" fmla="*/ 0 h 167"/>
                  <a:gd name="T36" fmla="*/ 1 w 389"/>
                  <a:gd name="T37" fmla="*/ 0 h 167"/>
                  <a:gd name="T38" fmla="*/ 1 w 389"/>
                  <a:gd name="T39" fmla="*/ 0 h 167"/>
                  <a:gd name="T40" fmla="*/ 1 w 389"/>
                  <a:gd name="T41" fmla="*/ 0 h 167"/>
                  <a:gd name="T42" fmla="*/ 1 w 389"/>
                  <a:gd name="T43" fmla="*/ 0 h 167"/>
                  <a:gd name="T44" fmla="*/ 1 w 389"/>
                  <a:gd name="T45" fmla="*/ 0 h 167"/>
                  <a:gd name="T46" fmla="*/ 1 w 389"/>
                  <a:gd name="T47" fmla="*/ 0 h 167"/>
                  <a:gd name="T48" fmla="*/ 1 w 389"/>
                  <a:gd name="T49" fmla="*/ 0 h 167"/>
                  <a:gd name="T50" fmla="*/ 1 w 389"/>
                  <a:gd name="T51" fmla="*/ 0 h 167"/>
                  <a:gd name="T52" fmla="*/ 1 w 389"/>
                  <a:gd name="T53" fmla="*/ 0 h 167"/>
                  <a:gd name="T54" fmla="*/ 1 w 389"/>
                  <a:gd name="T55" fmla="*/ 0 h 167"/>
                  <a:gd name="T56" fmla="*/ 1 w 389"/>
                  <a:gd name="T57" fmla="*/ 0 h 167"/>
                  <a:gd name="T58" fmla="*/ 1 w 389"/>
                  <a:gd name="T59" fmla="*/ 0 h 167"/>
                  <a:gd name="T60" fmla="*/ 1 w 389"/>
                  <a:gd name="T61" fmla="*/ 0 h 167"/>
                  <a:gd name="T62" fmla="*/ 1 w 389"/>
                  <a:gd name="T63" fmla="*/ 0 h 167"/>
                  <a:gd name="T64" fmla="*/ 1 w 389"/>
                  <a:gd name="T65" fmla="*/ 0 h 167"/>
                  <a:gd name="T66" fmla="*/ 1 w 389"/>
                  <a:gd name="T67" fmla="*/ 0 h 167"/>
                  <a:gd name="T68" fmla="*/ 1 w 389"/>
                  <a:gd name="T69" fmla="*/ 0 h 167"/>
                  <a:gd name="T70" fmla="*/ 1 w 389"/>
                  <a:gd name="T71" fmla="*/ 0 h 167"/>
                  <a:gd name="T72" fmla="*/ 1 w 389"/>
                  <a:gd name="T73" fmla="*/ 0 h 167"/>
                  <a:gd name="T74" fmla="*/ 1 w 389"/>
                  <a:gd name="T75" fmla="*/ 0 h 167"/>
                  <a:gd name="T76" fmla="*/ 1 w 389"/>
                  <a:gd name="T77" fmla="*/ 0 h 167"/>
                  <a:gd name="T78" fmla="*/ 1 w 389"/>
                  <a:gd name="T79" fmla="*/ 0 h 167"/>
                  <a:gd name="T80" fmla="*/ 1 w 389"/>
                  <a:gd name="T81" fmla="*/ 0 h 167"/>
                  <a:gd name="T82" fmla="*/ 1 w 389"/>
                  <a:gd name="T83" fmla="*/ 0 h 16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89"/>
                  <a:gd name="T127" fmla="*/ 0 h 167"/>
                  <a:gd name="T128" fmla="*/ 389 w 389"/>
                  <a:gd name="T129" fmla="*/ 167 h 16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89" h="167">
                    <a:moveTo>
                      <a:pt x="99" y="119"/>
                    </a:moveTo>
                    <a:lnTo>
                      <a:pt x="70" y="119"/>
                    </a:lnTo>
                    <a:lnTo>
                      <a:pt x="13" y="125"/>
                    </a:lnTo>
                    <a:lnTo>
                      <a:pt x="0" y="143"/>
                    </a:lnTo>
                    <a:lnTo>
                      <a:pt x="13" y="152"/>
                    </a:lnTo>
                    <a:lnTo>
                      <a:pt x="26" y="157"/>
                    </a:lnTo>
                    <a:lnTo>
                      <a:pt x="104" y="156"/>
                    </a:lnTo>
                    <a:lnTo>
                      <a:pt x="156" y="156"/>
                    </a:lnTo>
                    <a:lnTo>
                      <a:pt x="180" y="167"/>
                    </a:lnTo>
                    <a:lnTo>
                      <a:pt x="188" y="146"/>
                    </a:lnTo>
                    <a:lnTo>
                      <a:pt x="210" y="143"/>
                    </a:lnTo>
                    <a:lnTo>
                      <a:pt x="242" y="136"/>
                    </a:lnTo>
                    <a:lnTo>
                      <a:pt x="269" y="131"/>
                    </a:lnTo>
                    <a:lnTo>
                      <a:pt x="319" y="103"/>
                    </a:lnTo>
                    <a:lnTo>
                      <a:pt x="371" y="77"/>
                    </a:lnTo>
                    <a:lnTo>
                      <a:pt x="389" y="64"/>
                    </a:lnTo>
                    <a:lnTo>
                      <a:pt x="382" y="39"/>
                    </a:lnTo>
                    <a:lnTo>
                      <a:pt x="357" y="39"/>
                    </a:lnTo>
                    <a:lnTo>
                      <a:pt x="332" y="26"/>
                    </a:lnTo>
                    <a:lnTo>
                      <a:pt x="306" y="17"/>
                    </a:lnTo>
                    <a:lnTo>
                      <a:pt x="240" y="11"/>
                    </a:lnTo>
                    <a:lnTo>
                      <a:pt x="159" y="0"/>
                    </a:lnTo>
                    <a:lnTo>
                      <a:pt x="143" y="4"/>
                    </a:lnTo>
                    <a:lnTo>
                      <a:pt x="148" y="17"/>
                    </a:lnTo>
                    <a:lnTo>
                      <a:pt x="158" y="31"/>
                    </a:lnTo>
                    <a:lnTo>
                      <a:pt x="134" y="33"/>
                    </a:lnTo>
                    <a:lnTo>
                      <a:pt x="128" y="25"/>
                    </a:lnTo>
                    <a:lnTo>
                      <a:pt x="101" y="22"/>
                    </a:lnTo>
                    <a:lnTo>
                      <a:pt x="66" y="25"/>
                    </a:lnTo>
                    <a:lnTo>
                      <a:pt x="82" y="33"/>
                    </a:lnTo>
                    <a:lnTo>
                      <a:pt x="85" y="43"/>
                    </a:lnTo>
                    <a:lnTo>
                      <a:pt x="74" y="54"/>
                    </a:lnTo>
                    <a:lnTo>
                      <a:pt x="74" y="72"/>
                    </a:lnTo>
                    <a:lnTo>
                      <a:pt x="88" y="83"/>
                    </a:lnTo>
                    <a:lnTo>
                      <a:pt x="134" y="83"/>
                    </a:lnTo>
                    <a:lnTo>
                      <a:pt x="151" y="81"/>
                    </a:lnTo>
                    <a:lnTo>
                      <a:pt x="166" y="97"/>
                    </a:lnTo>
                    <a:lnTo>
                      <a:pt x="149" y="116"/>
                    </a:lnTo>
                    <a:lnTo>
                      <a:pt x="133" y="116"/>
                    </a:lnTo>
                    <a:lnTo>
                      <a:pt x="117" y="114"/>
                    </a:lnTo>
                    <a:lnTo>
                      <a:pt x="108" y="116"/>
                    </a:lnTo>
                    <a:lnTo>
                      <a:pt x="99" y="11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0" name="16458333.375561.1258.2510.255">
                <a:extLst>
                  <a:ext uri="{FF2B5EF4-FFF2-40B4-BE49-F238E27FC236}">
                    <a16:creationId xmlns:a16="http://schemas.microsoft.com/office/drawing/2014/main" id="{30178D52-79C2-FD79-C4DC-296B388DD56D}"/>
                  </a:ext>
                </a:extLst>
              </p:cNvPr>
              <p:cNvSpPr>
                <a:spLocks/>
              </p:cNvSpPr>
              <p:nvPr/>
            </p:nvSpPr>
            <p:spPr bwMode="auto">
              <a:xfrm>
                <a:off x="6913990" y="3124930"/>
                <a:ext cx="166899" cy="131839"/>
              </a:xfrm>
              <a:custGeom>
                <a:avLst/>
                <a:gdLst>
                  <a:gd name="T0" fmla="*/ 0 w 247"/>
                  <a:gd name="T1" fmla="*/ 1 h 172"/>
                  <a:gd name="T2" fmla="*/ 1 w 247"/>
                  <a:gd name="T3" fmla="*/ 1 h 172"/>
                  <a:gd name="T4" fmla="*/ 1 w 247"/>
                  <a:gd name="T5" fmla="*/ 1 h 172"/>
                  <a:gd name="T6" fmla="*/ 1 w 247"/>
                  <a:gd name="T7" fmla="*/ 1 h 172"/>
                  <a:gd name="T8" fmla="*/ 1 w 247"/>
                  <a:gd name="T9" fmla="*/ 1 h 172"/>
                  <a:gd name="T10" fmla="*/ 1 w 247"/>
                  <a:gd name="T11" fmla="*/ 1 h 172"/>
                  <a:gd name="T12" fmla="*/ 1 w 247"/>
                  <a:gd name="T13" fmla="*/ 1 h 172"/>
                  <a:gd name="T14" fmla="*/ 1 w 247"/>
                  <a:gd name="T15" fmla="*/ 1 h 172"/>
                  <a:gd name="T16" fmla="*/ 1 w 247"/>
                  <a:gd name="T17" fmla="*/ 1 h 172"/>
                  <a:gd name="T18" fmla="*/ 1 w 247"/>
                  <a:gd name="T19" fmla="*/ 1 h 172"/>
                  <a:gd name="T20" fmla="*/ 1 w 247"/>
                  <a:gd name="T21" fmla="*/ 1 h 172"/>
                  <a:gd name="T22" fmla="*/ 1 w 247"/>
                  <a:gd name="T23" fmla="*/ 1 h 172"/>
                  <a:gd name="T24" fmla="*/ 1 w 247"/>
                  <a:gd name="T25" fmla="*/ 1 h 172"/>
                  <a:gd name="T26" fmla="*/ 1 w 247"/>
                  <a:gd name="T27" fmla="*/ 1 h 172"/>
                  <a:gd name="T28" fmla="*/ 1 w 247"/>
                  <a:gd name="T29" fmla="*/ 1 h 172"/>
                  <a:gd name="T30" fmla="*/ 1 w 247"/>
                  <a:gd name="T31" fmla="*/ 1 h 172"/>
                  <a:gd name="T32" fmla="*/ 1 w 247"/>
                  <a:gd name="T33" fmla="*/ 1 h 172"/>
                  <a:gd name="T34" fmla="*/ 1 w 247"/>
                  <a:gd name="T35" fmla="*/ 1 h 172"/>
                  <a:gd name="T36" fmla="*/ 1 w 247"/>
                  <a:gd name="T37" fmla="*/ 1 h 172"/>
                  <a:gd name="T38" fmla="*/ 1 w 247"/>
                  <a:gd name="T39" fmla="*/ 1 h 172"/>
                  <a:gd name="T40" fmla="*/ 1 w 247"/>
                  <a:gd name="T41" fmla="*/ 1 h 172"/>
                  <a:gd name="T42" fmla="*/ 1 w 247"/>
                  <a:gd name="T43" fmla="*/ 1 h 172"/>
                  <a:gd name="T44" fmla="*/ 1 w 247"/>
                  <a:gd name="T45" fmla="*/ 1 h 172"/>
                  <a:gd name="T46" fmla="*/ 1 w 247"/>
                  <a:gd name="T47" fmla="*/ 1 h 172"/>
                  <a:gd name="T48" fmla="*/ 1 w 247"/>
                  <a:gd name="T49" fmla="*/ 0 h 172"/>
                  <a:gd name="T50" fmla="*/ 1 w 247"/>
                  <a:gd name="T51" fmla="*/ 1 h 172"/>
                  <a:gd name="T52" fmla="*/ 1 w 247"/>
                  <a:gd name="T53" fmla="*/ 1 h 172"/>
                  <a:gd name="T54" fmla="*/ 1 w 247"/>
                  <a:gd name="T55" fmla="*/ 1 h 172"/>
                  <a:gd name="T56" fmla="*/ 1 w 247"/>
                  <a:gd name="T57" fmla="*/ 1 h 172"/>
                  <a:gd name="T58" fmla="*/ 1 w 247"/>
                  <a:gd name="T59" fmla="*/ 1 h 172"/>
                  <a:gd name="T60" fmla="*/ 1 w 247"/>
                  <a:gd name="T61" fmla="*/ 1 h 172"/>
                  <a:gd name="T62" fmla="*/ 1 w 247"/>
                  <a:gd name="T63" fmla="*/ 1 h 172"/>
                  <a:gd name="T64" fmla="*/ 1 w 247"/>
                  <a:gd name="T65" fmla="*/ 1 h 172"/>
                  <a:gd name="T66" fmla="*/ 1 w 247"/>
                  <a:gd name="T67" fmla="*/ 1 h 172"/>
                  <a:gd name="T68" fmla="*/ 1 w 247"/>
                  <a:gd name="T69" fmla="*/ 1 h 172"/>
                  <a:gd name="T70" fmla="*/ 1 w 247"/>
                  <a:gd name="T71" fmla="*/ 1 h 172"/>
                  <a:gd name="T72" fmla="*/ 0 w 247"/>
                  <a:gd name="T73" fmla="*/ 1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47"/>
                  <a:gd name="T112" fmla="*/ 0 h 172"/>
                  <a:gd name="T113" fmla="*/ 247 w 247"/>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47" h="172">
                    <a:moveTo>
                      <a:pt x="0" y="146"/>
                    </a:moveTo>
                    <a:lnTo>
                      <a:pt x="3" y="152"/>
                    </a:lnTo>
                    <a:lnTo>
                      <a:pt x="21" y="155"/>
                    </a:lnTo>
                    <a:lnTo>
                      <a:pt x="65" y="157"/>
                    </a:lnTo>
                    <a:lnTo>
                      <a:pt x="117" y="103"/>
                    </a:lnTo>
                    <a:lnTo>
                      <a:pt x="129" y="137"/>
                    </a:lnTo>
                    <a:lnTo>
                      <a:pt x="144" y="172"/>
                    </a:lnTo>
                    <a:lnTo>
                      <a:pt x="176" y="158"/>
                    </a:lnTo>
                    <a:lnTo>
                      <a:pt x="210" y="144"/>
                    </a:lnTo>
                    <a:lnTo>
                      <a:pt x="245" y="155"/>
                    </a:lnTo>
                    <a:lnTo>
                      <a:pt x="247" y="104"/>
                    </a:lnTo>
                    <a:lnTo>
                      <a:pt x="223" y="95"/>
                    </a:lnTo>
                    <a:lnTo>
                      <a:pt x="209" y="96"/>
                    </a:lnTo>
                    <a:lnTo>
                      <a:pt x="218" y="64"/>
                    </a:lnTo>
                    <a:lnTo>
                      <a:pt x="190" y="57"/>
                    </a:lnTo>
                    <a:lnTo>
                      <a:pt x="165" y="55"/>
                    </a:lnTo>
                    <a:lnTo>
                      <a:pt x="131" y="55"/>
                    </a:lnTo>
                    <a:lnTo>
                      <a:pt x="103" y="55"/>
                    </a:lnTo>
                    <a:lnTo>
                      <a:pt x="70" y="55"/>
                    </a:lnTo>
                    <a:lnTo>
                      <a:pt x="41" y="49"/>
                    </a:lnTo>
                    <a:lnTo>
                      <a:pt x="37" y="45"/>
                    </a:lnTo>
                    <a:lnTo>
                      <a:pt x="43" y="33"/>
                    </a:lnTo>
                    <a:lnTo>
                      <a:pt x="55" y="24"/>
                    </a:lnTo>
                    <a:lnTo>
                      <a:pt x="102" y="16"/>
                    </a:lnTo>
                    <a:lnTo>
                      <a:pt x="99" y="0"/>
                    </a:lnTo>
                    <a:lnTo>
                      <a:pt x="63" y="5"/>
                    </a:lnTo>
                    <a:lnTo>
                      <a:pt x="33" y="4"/>
                    </a:lnTo>
                    <a:lnTo>
                      <a:pt x="14" y="20"/>
                    </a:lnTo>
                    <a:lnTo>
                      <a:pt x="7" y="55"/>
                    </a:lnTo>
                    <a:lnTo>
                      <a:pt x="8" y="63"/>
                    </a:lnTo>
                    <a:lnTo>
                      <a:pt x="5" y="66"/>
                    </a:lnTo>
                    <a:lnTo>
                      <a:pt x="27" y="73"/>
                    </a:lnTo>
                    <a:lnTo>
                      <a:pt x="38" y="92"/>
                    </a:lnTo>
                    <a:lnTo>
                      <a:pt x="32" y="114"/>
                    </a:lnTo>
                    <a:lnTo>
                      <a:pt x="26" y="117"/>
                    </a:lnTo>
                    <a:lnTo>
                      <a:pt x="18" y="126"/>
                    </a:lnTo>
                    <a:lnTo>
                      <a:pt x="0" y="14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1" name="16459321.875486.62512135">
                <a:extLst>
                  <a:ext uri="{FF2B5EF4-FFF2-40B4-BE49-F238E27FC236}">
                    <a16:creationId xmlns:a16="http://schemas.microsoft.com/office/drawing/2014/main" id="{A4876523-77A5-EF8D-F598-405E5FB6318F}"/>
                  </a:ext>
                </a:extLst>
              </p:cNvPr>
              <p:cNvSpPr>
                <a:spLocks/>
              </p:cNvSpPr>
              <p:nvPr/>
            </p:nvSpPr>
            <p:spPr bwMode="auto">
              <a:xfrm>
                <a:off x="5708009" y="2945568"/>
                <a:ext cx="209969" cy="188559"/>
              </a:xfrm>
              <a:custGeom>
                <a:avLst/>
                <a:gdLst>
                  <a:gd name="T0" fmla="*/ 0 w 311"/>
                  <a:gd name="T1" fmla="*/ 1 h 245"/>
                  <a:gd name="T2" fmla="*/ 0 w 311"/>
                  <a:gd name="T3" fmla="*/ 1 h 245"/>
                  <a:gd name="T4" fmla="*/ 1 w 311"/>
                  <a:gd name="T5" fmla="*/ 0 h 245"/>
                  <a:gd name="T6" fmla="*/ 1 w 311"/>
                  <a:gd name="T7" fmla="*/ 1 h 245"/>
                  <a:gd name="T8" fmla="*/ 1 w 311"/>
                  <a:gd name="T9" fmla="*/ 1 h 245"/>
                  <a:gd name="T10" fmla="*/ 1 w 311"/>
                  <a:gd name="T11" fmla="*/ 1 h 245"/>
                  <a:gd name="T12" fmla="*/ 1 w 311"/>
                  <a:gd name="T13" fmla="*/ 1 h 245"/>
                  <a:gd name="T14" fmla="*/ 1 w 311"/>
                  <a:gd name="T15" fmla="*/ 1 h 245"/>
                  <a:gd name="T16" fmla="*/ 1 w 311"/>
                  <a:gd name="T17" fmla="*/ 1 h 245"/>
                  <a:gd name="T18" fmla="*/ 1 w 311"/>
                  <a:gd name="T19" fmla="*/ 1 h 245"/>
                  <a:gd name="T20" fmla="*/ 1 w 311"/>
                  <a:gd name="T21" fmla="*/ 1 h 245"/>
                  <a:gd name="T22" fmla="*/ 1 w 311"/>
                  <a:gd name="T23" fmla="*/ 1 h 245"/>
                  <a:gd name="T24" fmla="*/ 1 w 311"/>
                  <a:gd name="T25" fmla="*/ 1 h 245"/>
                  <a:gd name="T26" fmla="*/ 1 w 311"/>
                  <a:gd name="T27" fmla="*/ 1 h 245"/>
                  <a:gd name="T28" fmla="*/ 0 w 311"/>
                  <a:gd name="T29" fmla="*/ 1 h 2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1"/>
                  <a:gd name="T46" fmla="*/ 0 h 245"/>
                  <a:gd name="T47" fmla="*/ 311 w 311"/>
                  <a:gd name="T48" fmla="*/ 245 h 2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1" h="245">
                    <a:moveTo>
                      <a:pt x="0" y="58"/>
                    </a:moveTo>
                    <a:lnTo>
                      <a:pt x="0" y="18"/>
                    </a:lnTo>
                    <a:lnTo>
                      <a:pt x="79" y="0"/>
                    </a:lnTo>
                    <a:lnTo>
                      <a:pt x="144" y="48"/>
                    </a:lnTo>
                    <a:lnTo>
                      <a:pt x="217" y="34"/>
                    </a:lnTo>
                    <a:lnTo>
                      <a:pt x="303" y="111"/>
                    </a:lnTo>
                    <a:lnTo>
                      <a:pt x="291" y="191"/>
                    </a:lnTo>
                    <a:lnTo>
                      <a:pt x="311" y="227"/>
                    </a:lnTo>
                    <a:lnTo>
                      <a:pt x="246" y="245"/>
                    </a:lnTo>
                    <a:lnTo>
                      <a:pt x="215" y="177"/>
                    </a:lnTo>
                    <a:lnTo>
                      <a:pt x="188" y="205"/>
                    </a:lnTo>
                    <a:lnTo>
                      <a:pt x="79" y="139"/>
                    </a:lnTo>
                    <a:lnTo>
                      <a:pt x="28" y="69"/>
                    </a:lnTo>
                    <a:lnTo>
                      <a:pt x="2" y="84"/>
                    </a:lnTo>
                    <a:lnTo>
                      <a:pt x="0" y="5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2" name="16460323.875489.1257.255.3755">
                <a:extLst>
                  <a:ext uri="{FF2B5EF4-FFF2-40B4-BE49-F238E27FC236}">
                    <a16:creationId xmlns:a16="http://schemas.microsoft.com/office/drawing/2014/main" id="{EF0B0BE4-1D93-10F8-C8CC-54D3B6B62385}"/>
                  </a:ext>
                </a:extLst>
              </p:cNvPr>
              <p:cNvSpPr>
                <a:spLocks/>
              </p:cNvSpPr>
              <p:nvPr/>
            </p:nvSpPr>
            <p:spPr bwMode="auto">
              <a:xfrm>
                <a:off x="5748386" y="2976226"/>
                <a:ext cx="87487" cy="114975"/>
              </a:xfrm>
              <a:custGeom>
                <a:avLst/>
                <a:gdLst>
                  <a:gd name="T0" fmla="*/ 1 w 129"/>
                  <a:gd name="T1" fmla="*/ 1 h 150"/>
                  <a:gd name="T2" fmla="*/ 1 w 129"/>
                  <a:gd name="T3" fmla="*/ 1 h 150"/>
                  <a:gd name="T4" fmla="*/ 1 w 129"/>
                  <a:gd name="T5" fmla="*/ 0 h 150"/>
                  <a:gd name="T6" fmla="*/ 0 w 129"/>
                  <a:gd name="T7" fmla="*/ 1 h 150"/>
                  <a:gd name="T8" fmla="*/ 1 w 129"/>
                  <a:gd name="T9" fmla="*/ 1 h 150"/>
                  <a:gd name="T10" fmla="*/ 1 w 129"/>
                  <a:gd name="T11" fmla="*/ 1 h 150"/>
                  <a:gd name="T12" fmla="*/ 1 w 129"/>
                  <a:gd name="T13" fmla="*/ 1 h 150"/>
                  <a:gd name="T14" fmla="*/ 0 60000 65536"/>
                  <a:gd name="T15" fmla="*/ 0 60000 65536"/>
                  <a:gd name="T16" fmla="*/ 0 60000 65536"/>
                  <a:gd name="T17" fmla="*/ 0 60000 65536"/>
                  <a:gd name="T18" fmla="*/ 0 60000 65536"/>
                  <a:gd name="T19" fmla="*/ 0 60000 65536"/>
                  <a:gd name="T20" fmla="*/ 0 60000 65536"/>
                  <a:gd name="T21" fmla="*/ 0 w 129"/>
                  <a:gd name="T22" fmla="*/ 0 h 150"/>
                  <a:gd name="T23" fmla="*/ 129 w 129"/>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9" h="150">
                    <a:moveTo>
                      <a:pt x="129" y="81"/>
                    </a:moveTo>
                    <a:lnTo>
                      <a:pt x="103" y="41"/>
                    </a:lnTo>
                    <a:lnTo>
                      <a:pt x="45" y="0"/>
                    </a:lnTo>
                    <a:lnTo>
                      <a:pt x="0" y="5"/>
                    </a:lnTo>
                    <a:lnTo>
                      <a:pt x="5" y="59"/>
                    </a:lnTo>
                    <a:lnTo>
                      <a:pt x="103" y="150"/>
                    </a:lnTo>
                    <a:lnTo>
                      <a:pt x="129" y="8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3" name="16461293.875494.87513.511.255">
                <a:extLst>
                  <a:ext uri="{FF2B5EF4-FFF2-40B4-BE49-F238E27FC236}">
                    <a16:creationId xmlns:a16="http://schemas.microsoft.com/office/drawing/2014/main" id="{3304AEF1-A542-E0BB-D069-C3B7E728424E}"/>
                  </a:ext>
                </a:extLst>
              </p:cNvPr>
              <p:cNvSpPr>
                <a:spLocks/>
              </p:cNvSpPr>
              <p:nvPr/>
            </p:nvSpPr>
            <p:spPr bwMode="auto">
              <a:xfrm>
                <a:off x="5841258" y="2504063"/>
                <a:ext cx="183051" cy="213088"/>
              </a:xfrm>
              <a:custGeom>
                <a:avLst/>
                <a:gdLst>
                  <a:gd name="T0" fmla="*/ 0 w 272"/>
                  <a:gd name="T1" fmla="*/ 1 h 277"/>
                  <a:gd name="T2" fmla="*/ 1 w 272"/>
                  <a:gd name="T3" fmla="*/ 1 h 277"/>
                  <a:gd name="T4" fmla="*/ 1 w 272"/>
                  <a:gd name="T5" fmla="*/ 1 h 277"/>
                  <a:gd name="T6" fmla="*/ 1 w 272"/>
                  <a:gd name="T7" fmla="*/ 1 h 277"/>
                  <a:gd name="T8" fmla="*/ 1 w 272"/>
                  <a:gd name="T9" fmla="*/ 1 h 277"/>
                  <a:gd name="T10" fmla="*/ 1 w 272"/>
                  <a:gd name="T11" fmla="*/ 1 h 277"/>
                  <a:gd name="T12" fmla="*/ 1 w 272"/>
                  <a:gd name="T13" fmla="*/ 1 h 277"/>
                  <a:gd name="T14" fmla="*/ 1 w 272"/>
                  <a:gd name="T15" fmla="*/ 1 h 277"/>
                  <a:gd name="T16" fmla="*/ 1 w 272"/>
                  <a:gd name="T17" fmla="*/ 1 h 277"/>
                  <a:gd name="T18" fmla="*/ 1 w 272"/>
                  <a:gd name="T19" fmla="*/ 1 h 277"/>
                  <a:gd name="T20" fmla="*/ 1 w 272"/>
                  <a:gd name="T21" fmla="*/ 1 h 277"/>
                  <a:gd name="T22" fmla="*/ 1 w 272"/>
                  <a:gd name="T23" fmla="*/ 0 h 277"/>
                  <a:gd name="T24" fmla="*/ 1 w 272"/>
                  <a:gd name="T25" fmla="*/ 1 h 277"/>
                  <a:gd name="T26" fmla="*/ 1 w 272"/>
                  <a:gd name="T27" fmla="*/ 1 h 277"/>
                  <a:gd name="T28" fmla="*/ 1 w 272"/>
                  <a:gd name="T29" fmla="*/ 1 h 277"/>
                  <a:gd name="T30" fmla="*/ 1 w 272"/>
                  <a:gd name="T31" fmla="*/ 1 h 277"/>
                  <a:gd name="T32" fmla="*/ 1 w 272"/>
                  <a:gd name="T33" fmla="*/ 1 h 277"/>
                  <a:gd name="T34" fmla="*/ 1 w 272"/>
                  <a:gd name="T35" fmla="*/ 1 h 277"/>
                  <a:gd name="T36" fmla="*/ 0 w 272"/>
                  <a:gd name="T37" fmla="*/ 1 h 2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72"/>
                  <a:gd name="T58" fmla="*/ 0 h 277"/>
                  <a:gd name="T59" fmla="*/ 272 w 272"/>
                  <a:gd name="T60" fmla="*/ 277 h 2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72" h="277">
                    <a:moveTo>
                      <a:pt x="0" y="246"/>
                    </a:moveTo>
                    <a:lnTo>
                      <a:pt x="47" y="203"/>
                    </a:lnTo>
                    <a:lnTo>
                      <a:pt x="31" y="221"/>
                    </a:lnTo>
                    <a:lnTo>
                      <a:pt x="52" y="226"/>
                    </a:lnTo>
                    <a:lnTo>
                      <a:pt x="47" y="140"/>
                    </a:lnTo>
                    <a:lnTo>
                      <a:pt x="66" y="100"/>
                    </a:lnTo>
                    <a:lnTo>
                      <a:pt x="93" y="94"/>
                    </a:lnTo>
                    <a:lnTo>
                      <a:pt x="148" y="132"/>
                    </a:lnTo>
                    <a:lnTo>
                      <a:pt x="161" y="60"/>
                    </a:lnTo>
                    <a:lnTo>
                      <a:pt x="137" y="61"/>
                    </a:lnTo>
                    <a:lnTo>
                      <a:pt x="128" y="20"/>
                    </a:lnTo>
                    <a:lnTo>
                      <a:pt x="272" y="0"/>
                    </a:lnTo>
                    <a:lnTo>
                      <a:pt x="264" y="26"/>
                    </a:lnTo>
                    <a:lnTo>
                      <a:pt x="240" y="42"/>
                    </a:lnTo>
                    <a:lnTo>
                      <a:pt x="260" y="79"/>
                    </a:lnTo>
                    <a:lnTo>
                      <a:pt x="247" y="88"/>
                    </a:lnTo>
                    <a:lnTo>
                      <a:pt x="130" y="277"/>
                    </a:lnTo>
                    <a:lnTo>
                      <a:pt x="126" y="265"/>
                    </a:lnTo>
                    <a:lnTo>
                      <a:pt x="0" y="24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4" name="16462297.375494.87510.510.755">
                <a:extLst>
                  <a:ext uri="{FF2B5EF4-FFF2-40B4-BE49-F238E27FC236}">
                    <a16:creationId xmlns:a16="http://schemas.microsoft.com/office/drawing/2014/main" id="{E14E6A1F-65F4-87D1-2B8B-4920032E8769}"/>
                  </a:ext>
                </a:extLst>
              </p:cNvPr>
              <p:cNvSpPr>
                <a:spLocks/>
              </p:cNvSpPr>
              <p:nvPr/>
            </p:nvSpPr>
            <p:spPr bwMode="auto">
              <a:xfrm>
                <a:off x="5841258" y="2557718"/>
                <a:ext cx="173629" cy="167098"/>
              </a:xfrm>
              <a:custGeom>
                <a:avLst/>
                <a:gdLst>
                  <a:gd name="T0" fmla="*/ 0 w 257"/>
                  <a:gd name="T1" fmla="*/ 1 h 217"/>
                  <a:gd name="T2" fmla="*/ 1 w 257"/>
                  <a:gd name="T3" fmla="*/ 1 h 217"/>
                  <a:gd name="T4" fmla="*/ 1 w 257"/>
                  <a:gd name="T5" fmla="*/ 1 h 217"/>
                  <a:gd name="T6" fmla="*/ 1 w 257"/>
                  <a:gd name="T7" fmla="*/ 1 h 217"/>
                  <a:gd name="T8" fmla="*/ 1 w 257"/>
                  <a:gd name="T9" fmla="*/ 1 h 217"/>
                  <a:gd name="T10" fmla="*/ 1 w 257"/>
                  <a:gd name="T11" fmla="*/ 1 h 217"/>
                  <a:gd name="T12" fmla="*/ 1 w 257"/>
                  <a:gd name="T13" fmla="*/ 1 h 217"/>
                  <a:gd name="T14" fmla="*/ 1 w 257"/>
                  <a:gd name="T15" fmla="*/ 1 h 217"/>
                  <a:gd name="T16" fmla="*/ 1 w 257"/>
                  <a:gd name="T17" fmla="*/ 1 h 217"/>
                  <a:gd name="T18" fmla="*/ 1 w 257"/>
                  <a:gd name="T19" fmla="*/ 0 h 217"/>
                  <a:gd name="T20" fmla="*/ 1 w 257"/>
                  <a:gd name="T21" fmla="*/ 1 h 217"/>
                  <a:gd name="T22" fmla="*/ 1 w 257"/>
                  <a:gd name="T23" fmla="*/ 1 h 217"/>
                  <a:gd name="T24" fmla="*/ 1 w 257"/>
                  <a:gd name="T25" fmla="*/ 1 h 217"/>
                  <a:gd name="T26" fmla="*/ 1 w 257"/>
                  <a:gd name="T27" fmla="*/ 1 h 217"/>
                  <a:gd name="T28" fmla="*/ 1 w 257"/>
                  <a:gd name="T29" fmla="*/ 1 h 217"/>
                  <a:gd name="T30" fmla="*/ 1 w 257"/>
                  <a:gd name="T31" fmla="*/ 1 h 217"/>
                  <a:gd name="T32" fmla="*/ 1 w 257"/>
                  <a:gd name="T33" fmla="*/ 1 h 217"/>
                  <a:gd name="T34" fmla="*/ 1 w 257"/>
                  <a:gd name="T35" fmla="*/ 1 h 217"/>
                  <a:gd name="T36" fmla="*/ 1 w 257"/>
                  <a:gd name="T37" fmla="*/ 1 h 217"/>
                  <a:gd name="T38" fmla="*/ 1 w 257"/>
                  <a:gd name="T39" fmla="*/ 1 h 217"/>
                  <a:gd name="T40" fmla="*/ 1 w 257"/>
                  <a:gd name="T41" fmla="*/ 1 h 217"/>
                  <a:gd name="T42" fmla="*/ 1 w 257"/>
                  <a:gd name="T43" fmla="*/ 1 h 217"/>
                  <a:gd name="T44" fmla="*/ 1 w 257"/>
                  <a:gd name="T45" fmla="*/ 1 h 217"/>
                  <a:gd name="T46" fmla="*/ 1 w 257"/>
                  <a:gd name="T47" fmla="*/ 1 h 217"/>
                  <a:gd name="T48" fmla="*/ 1 w 257"/>
                  <a:gd name="T49" fmla="*/ 1 h 217"/>
                  <a:gd name="T50" fmla="*/ 0 w 257"/>
                  <a:gd name="T51" fmla="*/ 1 h 21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7"/>
                  <a:gd name="T79" fmla="*/ 0 h 217"/>
                  <a:gd name="T80" fmla="*/ 257 w 257"/>
                  <a:gd name="T81" fmla="*/ 217 h 21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7" h="217">
                    <a:moveTo>
                      <a:pt x="0" y="176"/>
                    </a:moveTo>
                    <a:lnTo>
                      <a:pt x="47" y="133"/>
                    </a:lnTo>
                    <a:lnTo>
                      <a:pt x="31" y="151"/>
                    </a:lnTo>
                    <a:lnTo>
                      <a:pt x="52" y="156"/>
                    </a:lnTo>
                    <a:lnTo>
                      <a:pt x="47" y="70"/>
                    </a:lnTo>
                    <a:lnTo>
                      <a:pt x="66" y="30"/>
                    </a:lnTo>
                    <a:lnTo>
                      <a:pt x="93" y="24"/>
                    </a:lnTo>
                    <a:lnTo>
                      <a:pt x="148" y="62"/>
                    </a:lnTo>
                    <a:lnTo>
                      <a:pt x="155" y="11"/>
                    </a:lnTo>
                    <a:lnTo>
                      <a:pt x="181" y="0"/>
                    </a:lnTo>
                    <a:lnTo>
                      <a:pt x="214" y="18"/>
                    </a:lnTo>
                    <a:lnTo>
                      <a:pt x="246" y="18"/>
                    </a:lnTo>
                    <a:lnTo>
                      <a:pt x="257" y="34"/>
                    </a:lnTo>
                    <a:lnTo>
                      <a:pt x="235" y="57"/>
                    </a:lnTo>
                    <a:lnTo>
                      <a:pt x="251" y="82"/>
                    </a:lnTo>
                    <a:lnTo>
                      <a:pt x="238" y="133"/>
                    </a:lnTo>
                    <a:lnTo>
                      <a:pt x="211" y="125"/>
                    </a:lnTo>
                    <a:lnTo>
                      <a:pt x="194" y="125"/>
                    </a:lnTo>
                    <a:lnTo>
                      <a:pt x="183" y="137"/>
                    </a:lnTo>
                    <a:lnTo>
                      <a:pt x="162" y="158"/>
                    </a:lnTo>
                    <a:lnTo>
                      <a:pt x="159" y="179"/>
                    </a:lnTo>
                    <a:lnTo>
                      <a:pt x="150" y="184"/>
                    </a:lnTo>
                    <a:lnTo>
                      <a:pt x="139" y="217"/>
                    </a:lnTo>
                    <a:lnTo>
                      <a:pt x="130" y="207"/>
                    </a:lnTo>
                    <a:lnTo>
                      <a:pt x="126" y="195"/>
                    </a:lnTo>
                    <a:lnTo>
                      <a:pt x="0" y="176"/>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5" name="16463327.375498.6255.758.755">
                <a:extLst>
                  <a:ext uri="{FF2B5EF4-FFF2-40B4-BE49-F238E27FC236}">
                    <a16:creationId xmlns:a16="http://schemas.microsoft.com/office/drawing/2014/main" id="{A9980728-7168-1308-33E2-2B43D931CEB2}"/>
                  </a:ext>
                </a:extLst>
              </p:cNvPr>
              <p:cNvSpPr>
                <a:spLocks/>
              </p:cNvSpPr>
              <p:nvPr/>
            </p:nvSpPr>
            <p:spPr bwMode="auto">
              <a:xfrm>
                <a:off x="5903173" y="3031414"/>
                <a:ext cx="141327" cy="90448"/>
              </a:xfrm>
              <a:custGeom>
                <a:avLst/>
                <a:gdLst>
                  <a:gd name="T0" fmla="*/ 0 w 209"/>
                  <a:gd name="T1" fmla="*/ 1 h 117"/>
                  <a:gd name="T2" fmla="*/ 1 w 209"/>
                  <a:gd name="T3" fmla="*/ 0 h 117"/>
                  <a:gd name="T4" fmla="*/ 1 w 209"/>
                  <a:gd name="T5" fmla="*/ 1 h 117"/>
                  <a:gd name="T6" fmla="*/ 1 w 209"/>
                  <a:gd name="T7" fmla="*/ 1 h 117"/>
                  <a:gd name="T8" fmla="*/ 1 w 209"/>
                  <a:gd name="T9" fmla="*/ 1 h 117"/>
                  <a:gd name="T10" fmla="*/ 1 w 209"/>
                  <a:gd name="T11" fmla="*/ 1 h 117"/>
                  <a:gd name="T12" fmla="*/ 1 w 209"/>
                  <a:gd name="T13" fmla="*/ 1 h 117"/>
                  <a:gd name="T14" fmla="*/ 1 w 209"/>
                  <a:gd name="T15" fmla="*/ 1 h 117"/>
                  <a:gd name="T16" fmla="*/ 0 w 209"/>
                  <a:gd name="T17" fmla="*/ 1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9"/>
                  <a:gd name="T28" fmla="*/ 0 h 117"/>
                  <a:gd name="T29" fmla="*/ 209 w 209"/>
                  <a:gd name="T30" fmla="*/ 117 h 1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9" h="117">
                    <a:moveTo>
                      <a:pt x="0" y="80"/>
                    </a:moveTo>
                    <a:lnTo>
                      <a:pt x="12" y="0"/>
                    </a:lnTo>
                    <a:lnTo>
                      <a:pt x="209" y="18"/>
                    </a:lnTo>
                    <a:lnTo>
                      <a:pt x="172" y="68"/>
                    </a:lnTo>
                    <a:lnTo>
                      <a:pt x="187" y="94"/>
                    </a:lnTo>
                    <a:lnTo>
                      <a:pt x="135" y="97"/>
                    </a:lnTo>
                    <a:lnTo>
                      <a:pt x="103" y="117"/>
                    </a:lnTo>
                    <a:lnTo>
                      <a:pt x="20" y="116"/>
                    </a:lnTo>
                    <a:lnTo>
                      <a:pt x="0" y="8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6" name="16464318.6254905.759.255">
                <a:extLst>
                  <a:ext uri="{FF2B5EF4-FFF2-40B4-BE49-F238E27FC236}">
                    <a16:creationId xmlns:a16="http://schemas.microsoft.com/office/drawing/2014/main" id="{4A42A7EC-5A18-1D93-8F7F-F44F48C40991}"/>
                  </a:ext>
                </a:extLst>
              </p:cNvPr>
              <p:cNvSpPr>
                <a:spLocks/>
              </p:cNvSpPr>
              <p:nvPr/>
            </p:nvSpPr>
            <p:spPr bwMode="auto">
              <a:xfrm>
                <a:off x="5761849" y="2893445"/>
                <a:ext cx="150747" cy="90448"/>
              </a:xfrm>
              <a:custGeom>
                <a:avLst/>
                <a:gdLst>
                  <a:gd name="T0" fmla="*/ 0 w 224"/>
                  <a:gd name="T1" fmla="*/ 1 h 117"/>
                  <a:gd name="T2" fmla="*/ 1 w 224"/>
                  <a:gd name="T3" fmla="*/ 1 h 117"/>
                  <a:gd name="T4" fmla="*/ 1 w 224"/>
                  <a:gd name="T5" fmla="*/ 1 h 117"/>
                  <a:gd name="T6" fmla="*/ 1 w 224"/>
                  <a:gd name="T7" fmla="*/ 0 h 117"/>
                  <a:gd name="T8" fmla="*/ 1 w 224"/>
                  <a:gd name="T9" fmla="*/ 1 h 117"/>
                  <a:gd name="T10" fmla="*/ 1 w 224"/>
                  <a:gd name="T11" fmla="*/ 1 h 117"/>
                  <a:gd name="T12" fmla="*/ 1 w 224"/>
                  <a:gd name="T13" fmla="*/ 1 h 117"/>
                  <a:gd name="T14" fmla="*/ 1 w 224"/>
                  <a:gd name="T15" fmla="*/ 1 h 117"/>
                  <a:gd name="T16" fmla="*/ 0 w 224"/>
                  <a:gd name="T17" fmla="*/ 1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4"/>
                  <a:gd name="T28" fmla="*/ 0 h 117"/>
                  <a:gd name="T29" fmla="*/ 224 w 224"/>
                  <a:gd name="T30" fmla="*/ 117 h 1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4" h="117">
                    <a:moveTo>
                      <a:pt x="0" y="69"/>
                    </a:moveTo>
                    <a:lnTo>
                      <a:pt x="35" y="19"/>
                    </a:lnTo>
                    <a:lnTo>
                      <a:pt x="80" y="33"/>
                    </a:lnTo>
                    <a:lnTo>
                      <a:pt x="157" y="0"/>
                    </a:lnTo>
                    <a:lnTo>
                      <a:pt x="202" y="7"/>
                    </a:lnTo>
                    <a:lnTo>
                      <a:pt x="224" y="25"/>
                    </a:lnTo>
                    <a:lnTo>
                      <a:pt x="138" y="103"/>
                    </a:lnTo>
                    <a:lnTo>
                      <a:pt x="65" y="117"/>
                    </a:lnTo>
                    <a:lnTo>
                      <a:pt x="0" y="69"/>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7" name="16465305.25487.2512.2513.755">
                <a:extLst>
                  <a:ext uri="{FF2B5EF4-FFF2-40B4-BE49-F238E27FC236}">
                    <a16:creationId xmlns:a16="http://schemas.microsoft.com/office/drawing/2014/main" id="{11CB6688-3376-19C3-DE7F-4974D2585BB3}"/>
                  </a:ext>
                </a:extLst>
              </p:cNvPr>
              <p:cNvSpPr>
                <a:spLocks/>
              </p:cNvSpPr>
              <p:nvPr/>
            </p:nvSpPr>
            <p:spPr bwMode="auto">
              <a:xfrm>
                <a:off x="5717432" y="2681891"/>
                <a:ext cx="223429" cy="193158"/>
              </a:xfrm>
              <a:custGeom>
                <a:avLst/>
                <a:gdLst>
                  <a:gd name="T0" fmla="*/ 0 w 333"/>
                  <a:gd name="T1" fmla="*/ 1 h 252"/>
                  <a:gd name="T2" fmla="*/ 0 w 333"/>
                  <a:gd name="T3" fmla="*/ 1 h 252"/>
                  <a:gd name="T4" fmla="*/ 0 w 333"/>
                  <a:gd name="T5" fmla="*/ 1 h 252"/>
                  <a:gd name="T6" fmla="*/ 0 w 333"/>
                  <a:gd name="T7" fmla="*/ 1 h 252"/>
                  <a:gd name="T8" fmla="*/ 0 w 333"/>
                  <a:gd name="T9" fmla="*/ 1 h 252"/>
                  <a:gd name="T10" fmla="*/ 0 w 333"/>
                  <a:gd name="T11" fmla="*/ 1 h 252"/>
                  <a:gd name="T12" fmla="*/ 0 w 333"/>
                  <a:gd name="T13" fmla="*/ 1 h 252"/>
                  <a:gd name="T14" fmla="*/ 0 w 333"/>
                  <a:gd name="T15" fmla="*/ 1 h 252"/>
                  <a:gd name="T16" fmla="*/ 0 w 333"/>
                  <a:gd name="T17" fmla="*/ 1 h 252"/>
                  <a:gd name="T18" fmla="*/ 0 w 333"/>
                  <a:gd name="T19" fmla="*/ 0 h 252"/>
                  <a:gd name="T20" fmla="*/ 0 w 333"/>
                  <a:gd name="T21" fmla="*/ 1 h 2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3"/>
                  <a:gd name="T34" fmla="*/ 0 h 252"/>
                  <a:gd name="T35" fmla="*/ 333 w 333"/>
                  <a:gd name="T36" fmla="*/ 252 h 2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3" h="252">
                    <a:moveTo>
                      <a:pt x="0" y="45"/>
                    </a:moveTo>
                    <a:lnTo>
                      <a:pt x="19" y="177"/>
                    </a:lnTo>
                    <a:lnTo>
                      <a:pt x="194" y="243"/>
                    </a:lnTo>
                    <a:lnTo>
                      <a:pt x="278" y="252"/>
                    </a:lnTo>
                    <a:lnTo>
                      <a:pt x="333" y="186"/>
                    </a:lnTo>
                    <a:lnTo>
                      <a:pt x="305" y="110"/>
                    </a:lnTo>
                    <a:lnTo>
                      <a:pt x="326" y="91"/>
                    </a:lnTo>
                    <a:lnTo>
                      <a:pt x="312" y="33"/>
                    </a:lnTo>
                    <a:lnTo>
                      <a:pt x="186" y="14"/>
                    </a:lnTo>
                    <a:lnTo>
                      <a:pt x="103" y="0"/>
                    </a:lnTo>
                    <a:lnTo>
                      <a:pt x="0" y="4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8" name="16466319.25495.625913.1255">
                <a:extLst>
                  <a:ext uri="{FF2B5EF4-FFF2-40B4-BE49-F238E27FC236}">
                    <a16:creationId xmlns:a16="http://schemas.microsoft.com/office/drawing/2014/main" id="{A8F1A777-D06C-695D-CC0D-4B0CB80B3C37}"/>
                  </a:ext>
                </a:extLst>
              </p:cNvPr>
              <p:cNvSpPr>
                <a:spLocks/>
              </p:cNvSpPr>
              <p:nvPr/>
            </p:nvSpPr>
            <p:spPr bwMode="auto">
              <a:xfrm>
                <a:off x="5853371" y="2902643"/>
                <a:ext cx="214007" cy="142569"/>
              </a:xfrm>
              <a:custGeom>
                <a:avLst/>
                <a:gdLst>
                  <a:gd name="T0" fmla="*/ 0 w 317"/>
                  <a:gd name="T1" fmla="*/ 1 h 186"/>
                  <a:gd name="T2" fmla="*/ 1 w 317"/>
                  <a:gd name="T3" fmla="*/ 1 h 186"/>
                  <a:gd name="T4" fmla="*/ 1 w 317"/>
                  <a:gd name="T5" fmla="*/ 1 h 186"/>
                  <a:gd name="T6" fmla="*/ 1 w 317"/>
                  <a:gd name="T7" fmla="*/ 1 h 186"/>
                  <a:gd name="T8" fmla="*/ 1 w 317"/>
                  <a:gd name="T9" fmla="*/ 1 h 186"/>
                  <a:gd name="T10" fmla="*/ 1 w 317"/>
                  <a:gd name="T11" fmla="*/ 1 h 186"/>
                  <a:gd name="T12" fmla="*/ 1 w 317"/>
                  <a:gd name="T13" fmla="*/ 0 h 186"/>
                  <a:gd name="T14" fmla="*/ 1 w 317"/>
                  <a:gd name="T15" fmla="*/ 1 h 186"/>
                  <a:gd name="T16" fmla="*/ 0 w 317"/>
                  <a:gd name="T17" fmla="*/ 1 h 18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7"/>
                  <a:gd name="T28" fmla="*/ 0 h 186"/>
                  <a:gd name="T29" fmla="*/ 317 w 317"/>
                  <a:gd name="T30" fmla="*/ 186 h 18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7" h="186">
                    <a:moveTo>
                      <a:pt x="0" y="91"/>
                    </a:moveTo>
                    <a:lnTo>
                      <a:pt x="86" y="168"/>
                    </a:lnTo>
                    <a:lnTo>
                      <a:pt x="283" y="186"/>
                    </a:lnTo>
                    <a:lnTo>
                      <a:pt x="317" y="122"/>
                    </a:lnTo>
                    <a:lnTo>
                      <a:pt x="268" y="117"/>
                    </a:lnTo>
                    <a:lnTo>
                      <a:pt x="262" y="61"/>
                    </a:lnTo>
                    <a:lnTo>
                      <a:pt x="218" y="0"/>
                    </a:lnTo>
                    <a:lnTo>
                      <a:pt x="86" y="13"/>
                    </a:lnTo>
                    <a:lnTo>
                      <a:pt x="0" y="91"/>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19" name="16467313.125484.1257.12514.55">
                <a:extLst>
                  <a:ext uri="{FF2B5EF4-FFF2-40B4-BE49-F238E27FC236}">
                    <a16:creationId xmlns:a16="http://schemas.microsoft.com/office/drawing/2014/main" id="{F04CC89A-B16D-776E-6328-677BAFCE4375}"/>
                  </a:ext>
                </a:extLst>
              </p:cNvPr>
              <p:cNvSpPr>
                <a:spLocks/>
              </p:cNvSpPr>
              <p:nvPr/>
            </p:nvSpPr>
            <p:spPr bwMode="auto">
              <a:xfrm>
                <a:off x="5667629" y="2807597"/>
                <a:ext cx="235544" cy="111908"/>
              </a:xfrm>
              <a:custGeom>
                <a:avLst/>
                <a:gdLst>
                  <a:gd name="T0" fmla="*/ 0 w 351"/>
                  <a:gd name="T1" fmla="*/ 1 h 144"/>
                  <a:gd name="T2" fmla="*/ 0 w 351"/>
                  <a:gd name="T3" fmla="*/ 1 h 144"/>
                  <a:gd name="T4" fmla="*/ 0 w 351"/>
                  <a:gd name="T5" fmla="*/ 1 h 144"/>
                  <a:gd name="T6" fmla="*/ 0 w 351"/>
                  <a:gd name="T7" fmla="*/ 1 h 144"/>
                  <a:gd name="T8" fmla="*/ 0 w 351"/>
                  <a:gd name="T9" fmla="*/ 1 h 144"/>
                  <a:gd name="T10" fmla="*/ 0 w 351"/>
                  <a:gd name="T11" fmla="*/ 1 h 144"/>
                  <a:gd name="T12" fmla="*/ 0 w 351"/>
                  <a:gd name="T13" fmla="*/ 1 h 144"/>
                  <a:gd name="T14" fmla="*/ 0 w 351"/>
                  <a:gd name="T15" fmla="*/ 1 h 144"/>
                  <a:gd name="T16" fmla="*/ 0 w 351"/>
                  <a:gd name="T17" fmla="*/ 1 h 144"/>
                  <a:gd name="T18" fmla="*/ 0 w 351"/>
                  <a:gd name="T19" fmla="*/ 1 h 144"/>
                  <a:gd name="T20" fmla="*/ 0 w 351"/>
                  <a:gd name="T21" fmla="*/ 0 h 144"/>
                  <a:gd name="T22" fmla="*/ 0 w 351"/>
                  <a:gd name="T23" fmla="*/ 1 h 1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1"/>
                  <a:gd name="T37" fmla="*/ 0 h 144"/>
                  <a:gd name="T38" fmla="*/ 351 w 351"/>
                  <a:gd name="T39" fmla="*/ 144 h 14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1" h="144">
                    <a:moveTo>
                      <a:pt x="0" y="35"/>
                    </a:moveTo>
                    <a:lnTo>
                      <a:pt x="61" y="101"/>
                    </a:lnTo>
                    <a:lnTo>
                      <a:pt x="160" y="100"/>
                    </a:lnTo>
                    <a:lnTo>
                      <a:pt x="174" y="130"/>
                    </a:lnTo>
                    <a:lnTo>
                      <a:pt x="219" y="144"/>
                    </a:lnTo>
                    <a:lnTo>
                      <a:pt x="296" y="111"/>
                    </a:lnTo>
                    <a:lnTo>
                      <a:pt x="341" y="118"/>
                    </a:lnTo>
                    <a:lnTo>
                      <a:pt x="351" y="88"/>
                    </a:lnTo>
                    <a:lnTo>
                      <a:pt x="267" y="79"/>
                    </a:lnTo>
                    <a:lnTo>
                      <a:pt x="92" y="13"/>
                    </a:lnTo>
                    <a:lnTo>
                      <a:pt x="75" y="0"/>
                    </a:lnTo>
                    <a:lnTo>
                      <a:pt x="0" y="3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20" name="16468321.875486.6259.257.255">
                <a:extLst>
                  <a:ext uri="{FF2B5EF4-FFF2-40B4-BE49-F238E27FC236}">
                    <a16:creationId xmlns:a16="http://schemas.microsoft.com/office/drawing/2014/main" id="{6BA32883-B021-BA40-26C7-6F4D1C091B6F}"/>
                  </a:ext>
                </a:extLst>
              </p:cNvPr>
              <p:cNvSpPr>
                <a:spLocks/>
              </p:cNvSpPr>
              <p:nvPr/>
            </p:nvSpPr>
            <p:spPr bwMode="auto">
              <a:xfrm>
                <a:off x="5708009" y="2945568"/>
                <a:ext cx="118443" cy="145635"/>
              </a:xfrm>
              <a:custGeom>
                <a:avLst/>
                <a:gdLst>
                  <a:gd name="T0" fmla="*/ 0 w 177"/>
                  <a:gd name="T1" fmla="*/ 1 h 190"/>
                  <a:gd name="T2" fmla="*/ 0 w 177"/>
                  <a:gd name="T3" fmla="*/ 1 h 190"/>
                  <a:gd name="T4" fmla="*/ 0 w 177"/>
                  <a:gd name="T5" fmla="*/ 0 h 190"/>
                  <a:gd name="T6" fmla="*/ 0 w 177"/>
                  <a:gd name="T7" fmla="*/ 1 h 190"/>
                  <a:gd name="T8" fmla="*/ 0 w 177"/>
                  <a:gd name="T9" fmla="*/ 1 h 190"/>
                  <a:gd name="T10" fmla="*/ 0 w 177"/>
                  <a:gd name="T11" fmla="*/ 1 h 190"/>
                  <a:gd name="T12" fmla="*/ 0 w 177"/>
                  <a:gd name="T13" fmla="*/ 1 h 190"/>
                  <a:gd name="T14" fmla="*/ 0 w 177"/>
                  <a:gd name="T15" fmla="*/ 1 h 190"/>
                  <a:gd name="T16" fmla="*/ 0 w 177"/>
                  <a:gd name="T17" fmla="*/ 1 h 190"/>
                  <a:gd name="T18" fmla="*/ 0 w 177"/>
                  <a:gd name="T19" fmla="*/ 1 h 190"/>
                  <a:gd name="T20" fmla="*/ 0 w 177"/>
                  <a:gd name="T21" fmla="*/ 1 h 190"/>
                  <a:gd name="T22" fmla="*/ 0 w 177"/>
                  <a:gd name="T23" fmla="*/ 1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7"/>
                  <a:gd name="T37" fmla="*/ 0 h 190"/>
                  <a:gd name="T38" fmla="*/ 177 w 177"/>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7" h="190">
                    <a:moveTo>
                      <a:pt x="0" y="58"/>
                    </a:moveTo>
                    <a:lnTo>
                      <a:pt x="0" y="18"/>
                    </a:lnTo>
                    <a:lnTo>
                      <a:pt x="79" y="0"/>
                    </a:lnTo>
                    <a:lnTo>
                      <a:pt x="144" y="48"/>
                    </a:lnTo>
                    <a:lnTo>
                      <a:pt x="177" y="43"/>
                    </a:lnTo>
                    <a:lnTo>
                      <a:pt x="163" y="81"/>
                    </a:lnTo>
                    <a:lnTo>
                      <a:pt x="72" y="59"/>
                    </a:lnTo>
                    <a:lnTo>
                      <a:pt x="163" y="190"/>
                    </a:lnTo>
                    <a:lnTo>
                      <a:pt x="79" y="139"/>
                    </a:lnTo>
                    <a:lnTo>
                      <a:pt x="28" y="69"/>
                    </a:lnTo>
                    <a:lnTo>
                      <a:pt x="2" y="84"/>
                    </a:lnTo>
                    <a:lnTo>
                      <a:pt x="0" y="5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21" name="16469321.875486.6252.8753.3755">
                <a:extLst>
                  <a:ext uri="{FF2B5EF4-FFF2-40B4-BE49-F238E27FC236}">
                    <a16:creationId xmlns:a16="http://schemas.microsoft.com/office/drawing/2014/main" id="{4AF82046-B162-C5EF-3AAB-0D7ABF61EDE0}"/>
                  </a:ext>
                </a:extLst>
              </p:cNvPr>
              <p:cNvSpPr>
                <a:spLocks/>
              </p:cNvSpPr>
              <p:nvPr/>
            </p:nvSpPr>
            <p:spPr bwMode="auto">
              <a:xfrm>
                <a:off x="5708009" y="2945568"/>
                <a:ext cx="53837" cy="44457"/>
              </a:xfrm>
              <a:custGeom>
                <a:avLst/>
                <a:gdLst>
                  <a:gd name="T0" fmla="*/ 0 w 79"/>
                  <a:gd name="T1" fmla="*/ 1 h 58"/>
                  <a:gd name="T2" fmla="*/ 0 w 79"/>
                  <a:gd name="T3" fmla="*/ 1 h 58"/>
                  <a:gd name="T4" fmla="*/ 1 w 79"/>
                  <a:gd name="T5" fmla="*/ 0 h 58"/>
                  <a:gd name="T6" fmla="*/ 1 w 79"/>
                  <a:gd name="T7" fmla="*/ 1 h 58"/>
                  <a:gd name="T8" fmla="*/ 0 w 79"/>
                  <a:gd name="T9" fmla="*/ 1 h 58"/>
                  <a:gd name="T10" fmla="*/ 0 60000 65536"/>
                  <a:gd name="T11" fmla="*/ 0 60000 65536"/>
                  <a:gd name="T12" fmla="*/ 0 60000 65536"/>
                  <a:gd name="T13" fmla="*/ 0 60000 65536"/>
                  <a:gd name="T14" fmla="*/ 0 60000 65536"/>
                  <a:gd name="T15" fmla="*/ 0 w 79"/>
                  <a:gd name="T16" fmla="*/ 0 h 58"/>
                  <a:gd name="T17" fmla="*/ 79 w 79"/>
                  <a:gd name="T18" fmla="*/ 58 h 58"/>
                </a:gdLst>
                <a:ahLst/>
                <a:cxnLst>
                  <a:cxn ang="T10">
                    <a:pos x="T0" y="T1"/>
                  </a:cxn>
                  <a:cxn ang="T11">
                    <a:pos x="T2" y="T3"/>
                  </a:cxn>
                  <a:cxn ang="T12">
                    <a:pos x="T4" y="T5"/>
                  </a:cxn>
                  <a:cxn ang="T13">
                    <a:pos x="T6" y="T7"/>
                  </a:cxn>
                  <a:cxn ang="T14">
                    <a:pos x="T8" y="T9"/>
                  </a:cxn>
                </a:cxnLst>
                <a:rect l="T15" t="T16" r="T17" b="T18"/>
                <a:pathLst>
                  <a:path w="79" h="58">
                    <a:moveTo>
                      <a:pt x="0" y="58"/>
                    </a:moveTo>
                    <a:lnTo>
                      <a:pt x="0" y="18"/>
                    </a:lnTo>
                    <a:lnTo>
                      <a:pt x="79" y="0"/>
                    </a:lnTo>
                    <a:lnTo>
                      <a:pt x="49" y="54"/>
                    </a:lnTo>
                    <a:lnTo>
                      <a:pt x="0" y="58"/>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22" name="16470300.875494.87577.6255">
                <a:extLst>
                  <a:ext uri="{FF2B5EF4-FFF2-40B4-BE49-F238E27FC236}">
                    <a16:creationId xmlns:a16="http://schemas.microsoft.com/office/drawing/2014/main" id="{F7E20978-80B9-99D0-B518-3F1D772DB923}"/>
                  </a:ext>
                </a:extLst>
              </p:cNvPr>
              <p:cNvSpPr>
                <a:spLocks/>
              </p:cNvSpPr>
              <p:nvPr/>
            </p:nvSpPr>
            <p:spPr bwMode="auto">
              <a:xfrm>
                <a:off x="5841258" y="2614438"/>
                <a:ext cx="123828" cy="110377"/>
              </a:xfrm>
              <a:custGeom>
                <a:avLst/>
                <a:gdLst>
                  <a:gd name="T0" fmla="*/ 0 w 183"/>
                  <a:gd name="T1" fmla="*/ 1 h 143"/>
                  <a:gd name="T2" fmla="*/ 1 w 183"/>
                  <a:gd name="T3" fmla="*/ 1 h 143"/>
                  <a:gd name="T4" fmla="*/ 1 w 183"/>
                  <a:gd name="T5" fmla="*/ 1 h 143"/>
                  <a:gd name="T6" fmla="*/ 1 w 183"/>
                  <a:gd name="T7" fmla="*/ 1 h 143"/>
                  <a:gd name="T8" fmla="*/ 1 w 183"/>
                  <a:gd name="T9" fmla="*/ 1 h 143"/>
                  <a:gd name="T10" fmla="*/ 1 w 183"/>
                  <a:gd name="T11" fmla="*/ 0 h 143"/>
                  <a:gd name="T12" fmla="*/ 1 w 183"/>
                  <a:gd name="T13" fmla="*/ 1 h 143"/>
                  <a:gd name="T14" fmla="*/ 1 w 183"/>
                  <a:gd name="T15" fmla="*/ 1 h 143"/>
                  <a:gd name="T16" fmla="*/ 1 w 183"/>
                  <a:gd name="T17" fmla="*/ 1 h 143"/>
                  <a:gd name="T18" fmla="*/ 1 w 183"/>
                  <a:gd name="T19" fmla="*/ 1 h 143"/>
                  <a:gd name="T20" fmla="*/ 1 w 183"/>
                  <a:gd name="T21" fmla="*/ 1 h 143"/>
                  <a:gd name="T22" fmla="*/ 1 w 183"/>
                  <a:gd name="T23" fmla="*/ 1 h 143"/>
                  <a:gd name="T24" fmla="*/ 1 w 183"/>
                  <a:gd name="T25" fmla="*/ 1 h 143"/>
                  <a:gd name="T26" fmla="*/ 1 w 183"/>
                  <a:gd name="T27" fmla="*/ 1 h 143"/>
                  <a:gd name="T28" fmla="*/ 0 w 183"/>
                  <a:gd name="T29" fmla="*/ 1 h 1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3"/>
                  <a:gd name="T46" fmla="*/ 0 h 143"/>
                  <a:gd name="T47" fmla="*/ 183 w 183"/>
                  <a:gd name="T48" fmla="*/ 143 h 1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3" h="143">
                    <a:moveTo>
                      <a:pt x="0" y="102"/>
                    </a:moveTo>
                    <a:lnTo>
                      <a:pt x="47" y="59"/>
                    </a:lnTo>
                    <a:lnTo>
                      <a:pt x="31" y="77"/>
                    </a:lnTo>
                    <a:lnTo>
                      <a:pt x="52" y="82"/>
                    </a:lnTo>
                    <a:lnTo>
                      <a:pt x="49" y="5"/>
                    </a:lnTo>
                    <a:lnTo>
                      <a:pt x="115" y="0"/>
                    </a:lnTo>
                    <a:lnTo>
                      <a:pt x="178" y="19"/>
                    </a:lnTo>
                    <a:lnTo>
                      <a:pt x="183" y="63"/>
                    </a:lnTo>
                    <a:lnTo>
                      <a:pt x="162" y="84"/>
                    </a:lnTo>
                    <a:lnTo>
                      <a:pt x="159" y="105"/>
                    </a:lnTo>
                    <a:lnTo>
                      <a:pt x="150" y="110"/>
                    </a:lnTo>
                    <a:lnTo>
                      <a:pt x="139" y="143"/>
                    </a:lnTo>
                    <a:lnTo>
                      <a:pt x="130" y="133"/>
                    </a:lnTo>
                    <a:lnTo>
                      <a:pt x="126" y="121"/>
                    </a:lnTo>
                    <a:lnTo>
                      <a:pt x="0" y="102"/>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23" name="16471303.875494.8752.753.55">
                <a:extLst>
                  <a:ext uri="{FF2B5EF4-FFF2-40B4-BE49-F238E27FC236}">
                    <a16:creationId xmlns:a16="http://schemas.microsoft.com/office/drawing/2014/main" id="{F967CF2F-C3C5-78A1-2232-8DE645CAC9AF}"/>
                  </a:ext>
                </a:extLst>
              </p:cNvPr>
              <p:cNvSpPr>
                <a:spLocks/>
              </p:cNvSpPr>
              <p:nvPr/>
            </p:nvSpPr>
            <p:spPr bwMode="auto">
              <a:xfrm>
                <a:off x="5841258" y="2660428"/>
                <a:ext cx="56530" cy="44457"/>
              </a:xfrm>
              <a:custGeom>
                <a:avLst/>
                <a:gdLst>
                  <a:gd name="T0" fmla="*/ 0 w 82"/>
                  <a:gd name="T1" fmla="*/ 1 h 58"/>
                  <a:gd name="T2" fmla="*/ 1 w 82"/>
                  <a:gd name="T3" fmla="*/ 0 h 58"/>
                  <a:gd name="T4" fmla="*/ 1 w 82"/>
                  <a:gd name="T5" fmla="*/ 1 h 58"/>
                  <a:gd name="T6" fmla="*/ 1 w 82"/>
                  <a:gd name="T7" fmla="*/ 1 h 58"/>
                  <a:gd name="T8" fmla="*/ 1 w 82"/>
                  <a:gd name="T9" fmla="*/ 1 h 58"/>
                  <a:gd name="T10" fmla="*/ 1 w 82"/>
                  <a:gd name="T11" fmla="*/ 1 h 58"/>
                  <a:gd name="T12" fmla="*/ 0 w 82"/>
                  <a:gd name="T13" fmla="*/ 1 h 58"/>
                  <a:gd name="T14" fmla="*/ 0 60000 65536"/>
                  <a:gd name="T15" fmla="*/ 0 60000 65536"/>
                  <a:gd name="T16" fmla="*/ 0 60000 65536"/>
                  <a:gd name="T17" fmla="*/ 0 60000 65536"/>
                  <a:gd name="T18" fmla="*/ 0 60000 65536"/>
                  <a:gd name="T19" fmla="*/ 0 60000 65536"/>
                  <a:gd name="T20" fmla="*/ 0 60000 65536"/>
                  <a:gd name="T21" fmla="*/ 0 w 82"/>
                  <a:gd name="T22" fmla="*/ 0 h 58"/>
                  <a:gd name="T23" fmla="*/ 82 w 82"/>
                  <a:gd name="T24" fmla="*/ 58 h 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 h="58">
                    <a:moveTo>
                      <a:pt x="0" y="43"/>
                    </a:moveTo>
                    <a:lnTo>
                      <a:pt x="47" y="0"/>
                    </a:lnTo>
                    <a:lnTo>
                      <a:pt x="31" y="18"/>
                    </a:lnTo>
                    <a:lnTo>
                      <a:pt x="52" y="23"/>
                    </a:lnTo>
                    <a:lnTo>
                      <a:pt x="77" y="19"/>
                    </a:lnTo>
                    <a:lnTo>
                      <a:pt x="82" y="58"/>
                    </a:lnTo>
                    <a:lnTo>
                      <a:pt x="0" y="43"/>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24" name="16472313.125484.12559.55">
                <a:extLst>
                  <a:ext uri="{FF2B5EF4-FFF2-40B4-BE49-F238E27FC236}">
                    <a16:creationId xmlns:a16="http://schemas.microsoft.com/office/drawing/2014/main" id="{C59E5DF4-53C4-968F-E829-1CD006B3B429}"/>
                  </a:ext>
                </a:extLst>
              </p:cNvPr>
              <p:cNvSpPr>
                <a:spLocks/>
              </p:cNvSpPr>
              <p:nvPr/>
            </p:nvSpPr>
            <p:spPr bwMode="auto">
              <a:xfrm>
                <a:off x="5667629" y="2807597"/>
                <a:ext cx="153440" cy="78183"/>
              </a:xfrm>
              <a:custGeom>
                <a:avLst/>
                <a:gdLst>
                  <a:gd name="T0" fmla="*/ 0 w 227"/>
                  <a:gd name="T1" fmla="*/ 1 h 101"/>
                  <a:gd name="T2" fmla="*/ 1 w 227"/>
                  <a:gd name="T3" fmla="*/ 1 h 101"/>
                  <a:gd name="T4" fmla="*/ 1 w 227"/>
                  <a:gd name="T5" fmla="*/ 1 h 101"/>
                  <a:gd name="T6" fmla="*/ 1 w 227"/>
                  <a:gd name="T7" fmla="*/ 1 h 101"/>
                  <a:gd name="T8" fmla="*/ 1 w 227"/>
                  <a:gd name="T9" fmla="*/ 1 h 101"/>
                  <a:gd name="T10" fmla="*/ 1 w 227"/>
                  <a:gd name="T11" fmla="*/ 0 h 101"/>
                  <a:gd name="T12" fmla="*/ 0 w 227"/>
                  <a:gd name="T13" fmla="*/ 1 h 101"/>
                  <a:gd name="T14" fmla="*/ 0 60000 65536"/>
                  <a:gd name="T15" fmla="*/ 0 60000 65536"/>
                  <a:gd name="T16" fmla="*/ 0 60000 65536"/>
                  <a:gd name="T17" fmla="*/ 0 60000 65536"/>
                  <a:gd name="T18" fmla="*/ 0 60000 65536"/>
                  <a:gd name="T19" fmla="*/ 0 60000 65536"/>
                  <a:gd name="T20" fmla="*/ 0 60000 65536"/>
                  <a:gd name="T21" fmla="*/ 0 w 227"/>
                  <a:gd name="T22" fmla="*/ 0 h 101"/>
                  <a:gd name="T23" fmla="*/ 227 w 227"/>
                  <a:gd name="T24" fmla="*/ 101 h 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7" h="101">
                    <a:moveTo>
                      <a:pt x="0" y="35"/>
                    </a:moveTo>
                    <a:lnTo>
                      <a:pt x="61" y="101"/>
                    </a:lnTo>
                    <a:lnTo>
                      <a:pt x="160" y="100"/>
                    </a:lnTo>
                    <a:lnTo>
                      <a:pt x="227" y="64"/>
                    </a:lnTo>
                    <a:lnTo>
                      <a:pt x="92" y="13"/>
                    </a:lnTo>
                    <a:lnTo>
                      <a:pt x="75" y="0"/>
                    </a:lnTo>
                    <a:lnTo>
                      <a:pt x="0" y="35"/>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25" name="Rectangle 644">
                <a:extLst>
                  <a:ext uri="{FF2B5EF4-FFF2-40B4-BE49-F238E27FC236}">
                    <a16:creationId xmlns:a16="http://schemas.microsoft.com/office/drawing/2014/main" id="{5519794A-63F5-E046-EB69-C2E217C4A431}"/>
                  </a:ext>
                </a:extLst>
              </p:cNvPr>
              <p:cNvSpPr>
                <a:spLocks noChangeArrowheads="1"/>
              </p:cNvSpPr>
              <p:nvPr/>
            </p:nvSpPr>
            <p:spPr bwMode="auto">
              <a:xfrm>
                <a:off x="6524680" y="4087739"/>
                <a:ext cx="1227450" cy="250133"/>
              </a:xfrm>
              <a:prstGeom prst="rect">
                <a:avLst/>
              </a:prstGeom>
              <a:noFill/>
              <a:ln w="9525">
                <a:noFill/>
                <a:miter lim="800000"/>
                <a:headEnd/>
                <a:tailEnd/>
              </a:ln>
            </p:spPr>
            <p:txBody>
              <a:bodyPr lIns="64541" tIns="32271" rIns="64541" bIns="32271">
                <a:spAutoFit/>
              </a:bodyPr>
              <a:lstStyle/>
              <a:p>
                <a:pPr marL="0" marR="0" lvl="0" indent="0" algn="r"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Singapore</a:t>
                </a:r>
              </a:p>
            </p:txBody>
          </p:sp>
          <p:sp>
            <p:nvSpPr>
              <p:cNvPr id="526" name="Rectangle 644">
                <a:extLst>
                  <a:ext uri="{FF2B5EF4-FFF2-40B4-BE49-F238E27FC236}">
                    <a16:creationId xmlns:a16="http://schemas.microsoft.com/office/drawing/2014/main" id="{1D4BD9E0-8B73-EB2C-A69D-BE9D52EE6A74}"/>
                  </a:ext>
                </a:extLst>
              </p:cNvPr>
              <p:cNvSpPr>
                <a:spLocks noChangeArrowheads="1"/>
              </p:cNvSpPr>
              <p:nvPr/>
            </p:nvSpPr>
            <p:spPr bwMode="auto">
              <a:xfrm>
                <a:off x="4856146" y="2437597"/>
                <a:ext cx="957411" cy="250133"/>
              </a:xfrm>
              <a:prstGeom prst="rect">
                <a:avLst/>
              </a:prstGeom>
              <a:noFill/>
              <a:ln w="9525">
                <a:noFill/>
                <a:miter lim="800000"/>
                <a:headEnd/>
                <a:tailEnd/>
              </a:ln>
            </p:spPr>
            <p:txBody>
              <a:bodyPr wrap="square" lIns="64541" tIns="32271" rIns="64541" bIns="32271">
                <a:spAutoFit/>
              </a:bodyPr>
              <a:lstStyle/>
              <a:p>
                <a:pPr marL="0" marR="0" lvl="0" indent="0" algn="ctr"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UK</a:t>
                </a:r>
              </a:p>
            </p:txBody>
          </p:sp>
          <p:sp>
            <p:nvSpPr>
              <p:cNvPr id="527" name="Rectangle 657">
                <a:extLst>
                  <a:ext uri="{FF2B5EF4-FFF2-40B4-BE49-F238E27FC236}">
                    <a16:creationId xmlns:a16="http://schemas.microsoft.com/office/drawing/2014/main" id="{4EEB53F2-FAEC-0968-C209-A25A83704033}"/>
                  </a:ext>
                </a:extLst>
              </p:cNvPr>
              <p:cNvSpPr>
                <a:spLocks noChangeArrowheads="1"/>
              </p:cNvSpPr>
              <p:nvPr/>
            </p:nvSpPr>
            <p:spPr bwMode="auto">
              <a:xfrm>
                <a:off x="7988213" y="3525013"/>
                <a:ext cx="1218523" cy="250133"/>
              </a:xfrm>
              <a:prstGeom prst="rect">
                <a:avLst/>
              </a:prstGeom>
              <a:noFill/>
              <a:ln w="9525">
                <a:noFill/>
                <a:miter lim="800000"/>
                <a:headEnd/>
                <a:tailEnd/>
              </a:ln>
            </p:spPr>
            <p:txBody>
              <a:bodyPr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HK/China</a:t>
                </a:r>
              </a:p>
            </p:txBody>
          </p:sp>
          <p:sp>
            <p:nvSpPr>
              <p:cNvPr id="528" name="Oval 629">
                <a:extLst>
                  <a:ext uri="{FF2B5EF4-FFF2-40B4-BE49-F238E27FC236}">
                    <a16:creationId xmlns:a16="http://schemas.microsoft.com/office/drawing/2014/main" id="{623AD890-84FC-DF0D-F74D-8A249B5A7E85}"/>
                  </a:ext>
                </a:extLst>
              </p:cNvPr>
              <p:cNvSpPr>
                <a:spLocks noChangeArrowheads="1"/>
              </p:cNvSpPr>
              <p:nvPr/>
            </p:nvSpPr>
            <p:spPr bwMode="auto">
              <a:xfrm>
                <a:off x="5305338" y="2679116"/>
                <a:ext cx="53562" cy="65616"/>
              </a:xfrm>
              <a:prstGeom prst="ellipse">
                <a:avLst/>
              </a:prstGeom>
              <a:solidFill>
                <a:srgbClr val="C00000"/>
              </a:solidFill>
              <a:ln w="12700">
                <a:solidFill>
                  <a:srgbClr val="C00000"/>
                </a:solidFill>
                <a:round/>
                <a:headEnd/>
                <a:tailEnd/>
              </a:ln>
            </p:spPr>
            <p:txBody>
              <a:bodyPr wrap="none" lIns="0" tIns="0" rIns="0" anchor="ctr"/>
              <a:lstStyle/>
              <a:p>
                <a:pPr marL="0" marR="0" lvl="0" indent="0" defTabSz="844083" eaLnBrk="1" fontAlgn="auto" latinLnBrk="0" hangingPunct="1">
                  <a:lnSpc>
                    <a:spcPct val="100000"/>
                  </a:lnSpc>
                  <a:spcBef>
                    <a:spcPts val="0"/>
                  </a:spcBef>
                  <a:spcAft>
                    <a:spcPts val="0"/>
                  </a:spcAft>
                  <a:buClrTx/>
                  <a:buSzTx/>
                  <a:buFontTx/>
                  <a:buChar char="•"/>
                  <a:tabLst/>
                  <a:defRPr/>
                </a:pPr>
                <a:endParaRPr kumimoji="0" lang="en-SG" sz="2000" b="0" i="0" u="none" strike="noStrike" kern="0" cap="none" spc="0" normalizeH="0" baseline="0" noProof="0">
                  <a:ln>
                    <a:noFill/>
                  </a:ln>
                  <a:solidFill>
                    <a:srgbClr val="000000"/>
                  </a:solidFill>
                  <a:effectLst/>
                  <a:uLnTx/>
                  <a:uFillTx/>
                  <a:latin typeface="Arial"/>
                  <a:cs typeface="+mn-cs"/>
                </a:endParaRPr>
              </a:p>
            </p:txBody>
          </p:sp>
          <p:sp>
            <p:nvSpPr>
              <p:cNvPr id="529" name="Oval 629">
                <a:extLst>
                  <a:ext uri="{FF2B5EF4-FFF2-40B4-BE49-F238E27FC236}">
                    <a16:creationId xmlns:a16="http://schemas.microsoft.com/office/drawing/2014/main" id="{CB8F9CA8-260E-DBD4-F02C-14F4795BDDE4}"/>
                  </a:ext>
                </a:extLst>
              </p:cNvPr>
              <p:cNvSpPr>
                <a:spLocks noChangeArrowheads="1"/>
              </p:cNvSpPr>
              <p:nvPr/>
            </p:nvSpPr>
            <p:spPr bwMode="auto">
              <a:xfrm>
                <a:off x="7716088" y="4149505"/>
                <a:ext cx="53562" cy="65616"/>
              </a:xfrm>
              <a:prstGeom prst="ellipse">
                <a:avLst/>
              </a:prstGeom>
              <a:solidFill>
                <a:srgbClr val="C00000"/>
              </a:solidFill>
              <a:ln w="12700">
                <a:solidFill>
                  <a:srgbClr val="C00000"/>
                </a:solidFill>
                <a:round/>
                <a:headEnd/>
                <a:tailEnd/>
              </a:ln>
            </p:spPr>
            <p:txBody>
              <a:bodyPr wrap="none" lIns="0" tIns="0" rIns="0" anchor="ctr"/>
              <a:lstStyle/>
              <a:p>
                <a:pPr marL="0" marR="0" lvl="0" indent="0" defTabSz="844083" eaLnBrk="1" fontAlgn="auto" latinLnBrk="0" hangingPunct="1">
                  <a:lnSpc>
                    <a:spcPct val="100000"/>
                  </a:lnSpc>
                  <a:spcBef>
                    <a:spcPts val="0"/>
                  </a:spcBef>
                  <a:spcAft>
                    <a:spcPts val="0"/>
                  </a:spcAft>
                  <a:buClrTx/>
                  <a:buSzTx/>
                  <a:buFontTx/>
                  <a:buChar char="•"/>
                  <a:tabLst/>
                  <a:defRPr/>
                </a:pPr>
                <a:endParaRPr kumimoji="0" lang="en-SG" sz="2000" b="0" i="0" u="none" strike="noStrike" kern="0" cap="none" spc="0" normalizeH="0" baseline="0" noProof="0">
                  <a:ln>
                    <a:noFill/>
                  </a:ln>
                  <a:solidFill>
                    <a:srgbClr val="000000"/>
                  </a:solidFill>
                  <a:effectLst/>
                  <a:uLnTx/>
                  <a:uFillTx/>
                  <a:latin typeface="Arial"/>
                  <a:cs typeface="+mn-cs"/>
                </a:endParaRPr>
              </a:p>
            </p:txBody>
          </p:sp>
          <p:sp>
            <p:nvSpPr>
              <p:cNvPr id="530" name="Oval 629">
                <a:extLst>
                  <a:ext uri="{FF2B5EF4-FFF2-40B4-BE49-F238E27FC236}">
                    <a16:creationId xmlns:a16="http://schemas.microsoft.com/office/drawing/2014/main" id="{F30D1071-AB86-A7FB-4F33-F4F7422AB405}"/>
                  </a:ext>
                </a:extLst>
              </p:cNvPr>
              <p:cNvSpPr>
                <a:spLocks noChangeArrowheads="1"/>
              </p:cNvSpPr>
              <p:nvPr/>
            </p:nvSpPr>
            <p:spPr bwMode="auto">
              <a:xfrm>
                <a:off x="7858920" y="4418630"/>
                <a:ext cx="53562" cy="61970"/>
              </a:xfrm>
              <a:prstGeom prst="ellipse">
                <a:avLst/>
              </a:prstGeom>
              <a:solidFill>
                <a:srgbClr val="C00000"/>
              </a:solidFill>
              <a:ln w="12700">
                <a:solidFill>
                  <a:srgbClr val="C00000"/>
                </a:solidFill>
                <a:round/>
                <a:headEnd/>
                <a:tailEnd/>
              </a:ln>
            </p:spPr>
            <p:txBody>
              <a:bodyPr wrap="none" lIns="0" tIns="0" rIns="0" anchor="ctr"/>
              <a:lstStyle/>
              <a:p>
                <a:pPr marL="0" marR="0" lvl="0" indent="0" defTabSz="844083" eaLnBrk="1" fontAlgn="auto" latinLnBrk="0" hangingPunct="1">
                  <a:lnSpc>
                    <a:spcPct val="100000"/>
                  </a:lnSpc>
                  <a:spcBef>
                    <a:spcPts val="0"/>
                  </a:spcBef>
                  <a:spcAft>
                    <a:spcPts val="0"/>
                  </a:spcAft>
                  <a:buClrTx/>
                  <a:buSzTx/>
                  <a:buFontTx/>
                  <a:buChar char="•"/>
                  <a:tabLst/>
                  <a:defRPr/>
                </a:pPr>
                <a:endParaRPr kumimoji="0" lang="en-SG" sz="2000" b="0" i="0" u="none" strike="noStrike" kern="0" cap="none" spc="0" normalizeH="0" baseline="0" noProof="0">
                  <a:ln>
                    <a:noFill/>
                  </a:ln>
                  <a:solidFill>
                    <a:srgbClr val="000000"/>
                  </a:solidFill>
                  <a:effectLst/>
                  <a:uLnTx/>
                  <a:uFillTx/>
                  <a:latin typeface="Arial"/>
                  <a:cs typeface="+mn-cs"/>
                </a:endParaRPr>
              </a:p>
            </p:txBody>
          </p:sp>
          <p:sp>
            <p:nvSpPr>
              <p:cNvPr id="531" name="Rectangle 644">
                <a:extLst>
                  <a:ext uri="{FF2B5EF4-FFF2-40B4-BE49-F238E27FC236}">
                    <a16:creationId xmlns:a16="http://schemas.microsoft.com/office/drawing/2014/main" id="{498D2FD1-8F1E-72F8-0304-6CFD9B75BB2F}"/>
                  </a:ext>
                </a:extLst>
              </p:cNvPr>
              <p:cNvSpPr>
                <a:spLocks noChangeArrowheads="1"/>
              </p:cNvSpPr>
              <p:nvPr/>
            </p:nvSpPr>
            <p:spPr bwMode="auto">
              <a:xfrm>
                <a:off x="4135300" y="3333688"/>
                <a:ext cx="957411" cy="250133"/>
              </a:xfrm>
              <a:prstGeom prst="rect">
                <a:avLst/>
              </a:prstGeom>
              <a:noFill/>
              <a:ln w="9525">
                <a:noFill/>
                <a:miter lim="800000"/>
                <a:headEnd/>
                <a:tailEnd/>
              </a:ln>
            </p:spPr>
            <p:txBody>
              <a:bodyPr wrap="square"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New York</a:t>
                </a:r>
              </a:p>
            </p:txBody>
          </p:sp>
          <p:sp>
            <p:nvSpPr>
              <p:cNvPr id="532" name="Oval 629">
                <a:extLst>
                  <a:ext uri="{FF2B5EF4-FFF2-40B4-BE49-F238E27FC236}">
                    <a16:creationId xmlns:a16="http://schemas.microsoft.com/office/drawing/2014/main" id="{DAC3A020-6DB8-2AE2-402D-AFAF5128547A}"/>
                  </a:ext>
                </a:extLst>
              </p:cNvPr>
              <p:cNvSpPr>
                <a:spLocks noChangeArrowheads="1"/>
              </p:cNvSpPr>
              <p:nvPr/>
            </p:nvSpPr>
            <p:spPr bwMode="auto">
              <a:xfrm>
                <a:off x="4291045" y="3289549"/>
                <a:ext cx="53562" cy="65616"/>
              </a:xfrm>
              <a:prstGeom prst="ellipse">
                <a:avLst/>
              </a:prstGeom>
              <a:solidFill>
                <a:srgbClr val="C00000"/>
              </a:solidFill>
              <a:ln w="12700">
                <a:solidFill>
                  <a:srgbClr val="C00000"/>
                </a:solidFill>
                <a:round/>
                <a:headEnd/>
                <a:tailEnd/>
              </a:ln>
            </p:spPr>
            <p:txBody>
              <a:bodyPr wrap="none" lIns="0" tIns="0" rIns="0" anchor="ctr"/>
              <a:lstStyle/>
              <a:p>
                <a:pPr marL="0" marR="0" lvl="0" indent="0" defTabSz="844083" eaLnBrk="1" fontAlgn="auto" latinLnBrk="0" hangingPunct="1">
                  <a:lnSpc>
                    <a:spcPct val="100000"/>
                  </a:lnSpc>
                  <a:spcBef>
                    <a:spcPts val="0"/>
                  </a:spcBef>
                  <a:spcAft>
                    <a:spcPts val="0"/>
                  </a:spcAft>
                  <a:buClrTx/>
                  <a:buSzTx/>
                  <a:buFontTx/>
                  <a:buChar char="•"/>
                  <a:tabLst/>
                  <a:defRPr/>
                </a:pPr>
                <a:endParaRPr kumimoji="0" lang="en-SG" sz="2000" b="0" i="0" u="none" strike="noStrike" kern="0" cap="none" spc="0" normalizeH="0" baseline="0" noProof="0">
                  <a:ln>
                    <a:noFill/>
                  </a:ln>
                  <a:solidFill>
                    <a:srgbClr val="000000"/>
                  </a:solidFill>
                  <a:effectLst/>
                  <a:uLnTx/>
                  <a:uFillTx/>
                  <a:latin typeface="Arial"/>
                  <a:cs typeface="+mn-cs"/>
                </a:endParaRPr>
              </a:p>
            </p:txBody>
          </p:sp>
          <p:sp>
            <p:nvSpPr>
              <p:cNvPr id="533" name="Rectangle 644">
                <a:extLst>
                  <a:ext uri="{FF2B5EF4-FFF2-40B4-BE49-F238E27FC236}">
                    <a16:creationId xmlns:a16="http://schemas.microsoft.com/office/drawing/2014/main" id="{B98655AE-7F93-0C19-1CCA-611DAA44075F}"/>
                  </a:ext>
                </a:extLst>
              </p:cNvPr>
              <p:cNvSpPr>
                <a:spLocks noChangeArrowheads="1"/>
              </p:cNvSpPr>
              <p:nvPr/>
            </p:nvSpPr>
            <p:spPr bwMode="auto">
              <a:xfrm>
                <a:off x="7926516" y="4341843"/>
                <a:ext cx="856024" cy="250133"/>
              </a:xfrm>
              <a:prstGeom prst="rect">
                <a:avLst/>
              </a:prstGeom>
              <a:noFill/>
              <a:ln w="9525">
                <a:noFill/>
                <a:miter lim="800000"/>
                <a:headEnd/>
                <a:tailEnd/>
              </a:ln>
            </p:spPr>
            <p:txBody>
              <a:bodyPr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Indonesia</a:t>
                </a:r>
              </a:p>
            </p:txBody>
          </p:sp>
          <p:pic>
            <p:nvPicPr>
              <p:cNvPr id="534" name="Picture 15" descr="DBS-LOGO-STAR.png">
                <a:extLst>
                  <a:ext uri="{FF2B5EF4-FFF2-40B4-BE49-F238E27FC236}">
                    <a16:creationId xmlns:a16="http://schemas.microsoft.com/office/drawing/2014/main" id="{7A5CDD7A-C734-8BEE-96D5-01815C9C18E3}"/>
                  </a:ext>
                </a:extLst>
              </p:cNvPr>
              <p:cNvPicPr>
                <a:picLocks noChangeAspect="1"/>
              </p:cNvPicPr>
              <p:nvPr/>
            </p:nvPicPr>
            <p:blipFill>
              <a:blip r:embed="rId2" cstate="print"/>
              <a:srcRect/>
              <a:stretch>
                <a:fillRect/>
              </a:stretch>
            </p:blipFill>
            <p:spPr bwMode="auto">
              <a:xfrm>
                <a:off x="7904293" y="3560850"/>
                <a:ext cx="169742" cy="163713"/>
              </a:xfrm>
              <a:prstGeom prst="rect">
                <a:avLst/>
              </a:prstGeom>
              <a:noFill/>
              <a:ln w="9525">
                <a:noFill/>
                <a:miter lim="800000"/>
                <a:headEnd/>
                <a:tailEnd/>
              </a:ln>
            </p:spPr>
          </p:pic>
          <p:pic>
            <p:nvPicPr>
              <p:cNvPr id="535" name="Picture 15" descr="DBS-LOGO-STAR.png">
                <a:extLst>
                  <a:ext uri="{FF2B5EF4-FFF2-40B4-BE49-F238E27FC236}">
                    <a16:creationId xmlns:a16="http://schemas.microsoft.com/office/drawing/2014/main" id="{CD1F1C49-AA05-9C13-FBCE-C68793C370BE}"/>
                  </a:ext>
                </a:extLst>
              </p:cNvPr>
              <p:cNvPicPr>
                <a:picLocks noChangeAspect="1"/>
              </p:cNvPicPr>
              <p:nvPr/>
            </p:nvPicPr>
            <p:blipFill>
              <a:blip r:embed="rId2" cstate="print"/>
              <a:srcRect/>
              <a:stretch>
                <a:fillRect/>
              </a:stretch>
            </p:blipFill>
            <p:spPr bwMode="auto">
              <a:xfrm>
                <a:off x="7572872" y="3741619"/>
                <a:ext cx="169741" cy="163713"/>
              </a:xfrm>
              <a:prstGeom prst="rect">
                <a:avLst/>
              </a:prstGeom>
              <a:noFill/>
              <a:ln w="9525">
                <a:noFill/>
                <a:miter lim="800000"/>
                <a:headEnd/>
                <a:tailEnd/>
              </a:ln>
            </p:spPr>
          </p:pic>
          <p:pic>
            <p:nvPicPr>
              <p:cNvPr id="536" name="Picture 15" descr="DBS-LOGO-STAR.png">
                <a:extLst>
                  <a:ext uri="{FF2B5EF4-FFF2-40B4-BE49-F238E27FC236}">
                    <a16:creationId xmlns:a16="http://schemas.microsoft.com/office/drawing/2014/main" id="{65F505C3-4AE0-CDAE-47D5-F1F348DB4003}"/>
                  </a:ext>
                </a:extLst>
              </p:cNvPr>
              <p:cNvPicPr>
                <a:picLocks noChangeAspect="1"/>
              </p:cNvPicPr>
              <p:nvPr/>
            </p:nvPicPr>
            <p:blipFill>
              <a:blip r:embed="rId2" cstate="print"/>
              <a:srcRect/>
              <a:stretch>
                <a:fillRect/>
              </a:stretch>
            </p:blipFill>
            <p:spPr bwMode="auto">
              <a:xfrm>
                <a:off x="7803370" y="4361809"/>
                <a:ext cx="169742" cy="163713"/>
              </a:xfrm>
              <a:prstGeom prst="rect">
                <a:avLst/>
              </a:prstGeom>
              <a:noFill/>
              <a:ln w="9525">
                <a:noFill/>
                <a:miter lim="800000"/>
                <a:headEnd/>
                <a:tailEnd/>
              </a:ln>
            </p:spPr>
          </p:pic>
          <p:sp>
            <p:nvSpPr>
              <p:cNvPr id="537" name="Rectangle 644">
                <a:extLst>
                  <a:ext uri="{FF2B5EF4-FFF2-40B4-BE49-F238E27FC236}">
                    <a16:creationId xmlns:a16="http://schemas.microsoft.com/office/drawing/2014/main" id="{6E55DC22-4DD5-DB8E-1ECF-59B204DF72CF}"/>
                  </a:ext>
                </a:extLst>
              </p:cNvPr>
              <p:cNvSpPr>
                <a:spLocks noChangeArrowheads="1"/>
              </p:cNvSpPr>
              <p:nvPr/>
            </p:nvSpPr>
            <p:spPr bwMode="auto">
              <a:xfrm>
                <a:off x="6107280" y="3655234"/>
                <a:ext cx="537711" cy="250133"/>
              </a:xfrm>
              <a:prstGeom prst="rect">
                <a:avLst/>
              </a:prstGeom>
              <a:noFill/>
              <a:ln w="9525">
                <a:noFill/>
                <a:miter lim="800000"/>
                <a:headEnd/>
                <a:tailEnd/>
              </a:ln>
            </p:spPr>
            <p:txBody>
              <a:bodyPr wrap="square" lIns="64541" tIns="32271" rIns="64541" bIns="32271">
                <a:spAutoFit/>
              </a:bodyPr>
              <a:lstStyle/>
              <a:p>
                <a:pPr marL="0" marR="0" lvl="0" indent="0" algn="ctr"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UAE</a:t>
                </a:r>
              </a:p>
            </p:txBody>
          </p:sp>
          <p:sp>
            <p:nvSpPr>
              <p:cNvPr id="538" name="Rectangle 644">
                <a:extLst>
                  <a:ext uri="{FF2B5EF4-FFF2-40B4-BE49-F238E27FC236}">
                    <a16:creationId xmlns:a16="http://schemas.microsoft.com/office/drawing/2014/main" id="{9D26A74D-C0EC-C47E-609A-C341078DC149}"/>
                  </a:ext>
                </a:extLst>
              </p:cNvPr>
              <p:cNvSpPr>
                <a:spLocks noChangeArrowheads="1"/>
              </p:cNvSpPr>
              <p:nvPr/>
            </p:nvSpPr>
            <p:spPr bwMode="auto">
              <a:xfrm>
                <a:off x="6981338" y="3704423"/>
                <a:ext cx="740927" cy="250133"/>
              </a:xfrm>
              <a:prstGeom prst="rect">
                <a:avLst/>
              </a:prstGeom>
              <a:noFill/>
              <a:ln w="9525">
                <a:noFill/>
                <a:miter lim="800000"/>
                <a:headEnd/>
                <a:tailEnd/>
              </a:ln>
            </p:spPr>
            <p:txBody>
              <a:bodyPr wrap="square"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Thailand</a:t>
                </a:r>
              </a:p>
            </p:txBody>
          </p:sp>
          <p:pic>
            <p:nvPicPr>
              <p:cNvPr id="539" name="Picture 15" descr="DBS-LOGO-STAR.png">
                <a:extLst>
                  <a:ext uri="{FF2B5EF4-FFF2-40B4-BE49-F238E27FC236}">
                    <a16:creationId xmlns:a16="http://schemas.microsoft.com/office/drawing/2014/main" id="{4FD97FEF-92C4-90A7-205E-4CA626B7F0E8}"/>
                  </a:ext>
                </a:extLst>
              </p:cNvPr>
              <p:cNvPicPr>
                <a:picLocks noChangeAspect="1"/>
              </p:cNvPicPr>
              <p:nvPr/>
            </p:nvPicPr>
            <p:blipFill>
              <a:blip r:embed="rId2" cstate="print"/>
              <a:srcRect/>
              <a:stretch>
                <a:fillRect/>
              </a:stretch>
            </p:blipFill>
            <p:spPr bwMode="auto">
              <a:xfrm>
                <a:off x="7678432" y="4119170"/>
                <a:ext cx="169742" cy="163713"/>
              </a:xfrm>
              <a:prstGeom prst="rect">
                <a:avLst/>
              </a:prstGeom>
              <a:noFill/>
              <a:ln w="9525">
                <a:noFill/>
                <a:miter lim="800000"/>
                <a:headEnd/>
                <a:tailEnd/>
              </a:ln>
              <a:effectLst/>
            </p:spPr>
          </p:pic>
          <p:pic>
            <p:nvPicPr>
              <p:cNvPr id="540" name="Picture 15" descr="DBS-LOGO-STAR.png">
                <a:extLst>
                  <a:ext uri="{FF2B5EF4-FFF2-40B4-BE49-F238E27FC236}">
                    <a16:creationId xmlns:a16="http://schemas.microsoft.com/office/drawing/2014/main" id="{88E1FCA1-61AB-E108-2052-1022458ECBC3}"/>
                  </a:ext>
                </a:extLst>
              </p:cNvPr>
              <p:cNvPicPr>
                <a:picLocks noChangeAspect="1"/>
              </p:cNvPicPr>
              <p:nvPr/>
            </p:nvPicPr>
            <p:blipFill>
              <a:blip r:embed="rId2" cstate="print"/>
              <a:srcRect/>
              <a:stretch>
                <a:fillRect/>
              </a:stretch>
            </p:blipFill>
            <p:spPr bwMode="auto">
              <a:xfrm>
                <a:off x="5255835" y="2630089"/>
                <a:ext cx="169742" cy="163713"/>
              </a:xfrm>
              <a:prstGeom prst="rect">
                <a:avLst/>
              </a:prstGeom>
              <a:noFill/>
              <a:ln w="9525">
                <a:noFill/>
                <a:miter lim="800000"/>
                <a:headEnd/>
                <a:tailEnd/>
              </a:ln>
            </p:spPr>
          </p:pic>
          <p:pic>
            <p:nvPicPr>
              <p:cNvPr id="541" name="Picture 15" descr="DBS-LOGO-STAR.png">
                <a:extLst>
                  <a:ext uri="{FF2B5EF4-FFF2-40B4-BE49-F238E27FC236}">
                    <a16:creationId xmlns:a16="http://schemas.microsoft.com/office/drawing/2014/main" id="{306AF558-00D5-DDA8-F5BC-BE390BFF07A5}"/>
                  </a:ext>
                </a:extLst>
              </p:cNvPr>
              <p:cNvPicPr>
                <a:picLocks noChangeAspect="1"/>
              </p:cNvPicPr>
              <p:nvPr/>
            </p:nvPicPr>
            <p:blipFill>
              <a:blip r:embed="rId2" cstate="print"/>
              <a:srcRect/>
              <a:stretch>
                <a:fillRect/>
              </a:stretch>
            </p:blipFill>
            <p:spPr bwMode="auto">
              <a:xfrm>
                <a:off x="4217000" y="3224461"/>
                <a:ext cx="169742" cy="163713"/>
              </a:xfrm>
              <a:prstGeom prst="rect">
                <a:avLst/>
              </a:prstGeom>
              <a:noFill/>
              <a:ln w="9525">
                <a:noFill/>
                <a:miter lim="800000"/>
                <a:headEnd/>
                <a:tailEnd/>
              </a:ln>
            </p:spPr>
          </p:pic>
          <p:sp>
            <p:nvSpPr>
              <p:cNvPr id="542" name="Rectangle 644">
                <a:extLst>
                  <a:ext uri="{FF2B5EF4-FFF2-40B4-BE49-F238E27FC236}">
                    <a16:creationId xmlns:a16="http://schemas.microsoft.com/office/drawing/2014/main" id="{159F054B-39C5-7706-90DA-FAF219E5A022}"/>
                  </a:ext>
                </a:extLst>
              </p:cNvPr>
              <p:cNvSpPr>
                <a:spLocks noChangeArrowheads="1"/>
              </p:cNvSpPr>
              <p:nvPr/>
            </p:nvSpPr>
            <p:spPr bwMode="auto">
              <a:xfrm>
                <a:off x="6635033" y="3505884"/>
                <a:ext cx="508383" cy="250133"/>
              </a:xfrm>
              <a:prstGeom prst="rect">
                <a:avLst/>
              </a:prstGeom>
              <a:noFill/>
              <a:ln w="9525">
                <a:noFill/>
                <a:miter lim="800000"/>
                <a:headEnd/>
                <a:tailEnd/>
              </a:ln>
            </p:spPr>
            <p:txBody>
              <a:bodyPr wrap="square" lIns="64541" tIns="32271" rIns="64541" bIns="32271">
                <a:spAutoFit/>
              </a:bodyPr>
              <a:lstStyle/>
              <a:p>
                <a:pPr marL="0" marR="0" lvl="0" indent="0" algn="ctr"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India</a:t>
                </a:r>
              </a:p>
            </p:txBody>
          </p:sp>
          <p:sp>
            <p:nvSpPr>
              <p:cNvPr id="543" name="Rectangle 644">
                <a:extLst>
                  <a:ext uri="{FF2B5EF4-FFF2-40B4-BE49-F238E27FC236}">
                    <a16:creationId xmlns:a16="http://schemas.microsoft.com/office/drawing/2014/main" id="{A7E4FCD3-C2E8-AECC-81A6-9862740B2738}"/>
                  </a:ext>
                </a:extLst>
              </p:cNvPr>
              <p:cNvSpPr>
                <a:spLocks noChangeArrowheads="1"/>
              </p:cNvSpPr>
              <p:nvPr/>
            </p:nvSpPr>
            <p:spPr bwMode="auto">
              <a:xfrm>
                <a:off x="8515700" y="3126426"/>
                <a:ext cx="624403" cy="250133"/>
              </a:xfrm>
              <a:prstGeom prst="rect">
                <a:avLst/>
              </a:prstGeom>
              <a:noFill/>
              <a:ln w="9525">
                <a:noFill/>
                <a:miter lim="800000"/>
                <a:headEnd/>
                <a:tailEnd/>
              </a:ln>
            </p:spPr>
            <p:txBody>
              <a:bodyPr wrap="square" lIns="64541" tIns="32271" rIns="64541" bIns="32271">
                <a:spAutoFit/>
              </a:bodyPr>
              <a:lstStyle/>
              <a:p>
                <a:pPr marL="0" marR="0" lvl="0" indent="0" algn="ctr"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Japan</a:t>
                </a:r>
              </a:p>
            </p:txBody>
          </p:sp>
          <p:sp>
            <p:nvSpPr>
              <p:cNvPr id="544" name="Rectangle 644">
                <a:extLst>
                  <a:ext uri="{FF2B5EF4-FFF2-40B4-BE49-F238E27FC236}">
                    <a16:creationId xmlns:a16="http://schemas.microsoft.com/office/drawing/2014/main" id="{DFD306A0-B307-DE0F-432E-B2B325A8DD44}"/>
                  </a:ext>
                </a:extLst>
              </p:cNvPr>
              <p:cNvSpPr>
                <a:spLocks noChangeArrowheads="1"/>
              </p:cNvSpPr>
              <p:nvPr/>
            </p:nvSpPr>
            <p:spPr bwMode="auto">
              <a:xfrm>
                <a:off x="8191114" y="3850103"/>
                <a:ext cx="887964" cy="250133"/>
              </a:xfrm>
              <a:prstGeom prst="rect">
                <a:avLst/>
              </a:prstGeom>
              <a:noFill/>
              <a:ln w="9525">
                <a:noFill/>
                <a:miter lim="800000"/>
                <a:headEnd/>
                <a:tailEnd/>
              </a:ln>
            </p:spPr>
            <p:txBody>
              <a:bodyPr wrap="square" lIns="64541" tIns="32271" rIns="64541" bIns="32271">
                <a:spAutoFit/>
              </a:bodyPr>
              <a:lstStyle/>
              <a:p>
                <a:pPr marL="0" marR="0" lvl="0" indent="0" algn="ctr"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Philippines</a:t>
                </a:r>
              </a:p>
            </p:txBody>
          </p:sp>
          <p:pic>
            <p:nvPicPr>
              <p:cNvPr id="545" name="Picture 15" descr="DBS-LOGO-STAR.png">
                <a:extLst>
                  <a:ext uri="{FF2B5EF4-FFF2-40B4-BE49-F238E27FC236}">
                    <a16:creationId xmlns:a16="http://schemas.microsoft.com/office/drawing/2014/main" id="{85D5DBF1-BCB3-DDAB-E7FB-D6342B9212CB}"/>
                  </a:ext>
                </a:extLst>
              </p:cNvPr>
              <p:cNvPicPr>
                <a:picLocks noChangeAspect="1"/>
              </p:cNvPicPr>
              <p:nvPr/>
            </p:nvPicPr>
            <p:blipFill>
              <a:blip r:embed="rId2" cstate="print"/>
              <a:srcRect/>
              <a:stretch>
                <a:fillRect/>
              </a:stretch>
            </p:blipFill>
            <p:spPr bwMode="auto">
              <a:xfrm>
                <a:off x="6301499" y="3537615"/>
                <a:ext cx="169742" cy="163713"/>
              </a:xfrm>
              <a:prstGeom prst="rect">
                <a:avLst/>
              </a:prstGeom>
              <a:noFill/>
              <a:ln w="9525">
                <a:noFill/>
                <a:miter lim="800000"/>
                <a:headEnd/>
                <a:tailEnd/>
              </a:ln>
            </p:spPr>
          </p:pic>
          <p:pic>
            <p:nvPicPr>
              <p:cNvPr id="546" name="Picture 15" descr="DBS-LOGO-STAR.png">
                <a:extLst>
                  <a:ext uri="{FF2B5EF4-FFF2-40B4-BE49-F238E27FC236}">
                    <a16:creationId xmlns:a16="http://schemas.microsoft.com/office/drawing/2014/main" id="{DCD7804F-8981-AEB7-53BB-9C22834A9BD0}"/>
                  </a:ext>
                </a:extLst>
              </p:cNvPr>
              <p:cNvPicPr>
                <a:picLocks noChangeAspect="1"/>
              </p:cNvPicPr>
              <p:nvPr/>
            </p:nvPicPr>
            <p:blipFill>
              <a:blip r:embed="rId2" cstate="print"/>
              <a:srcRect/>
              <a:stretch>
                <a:fillRect/>
              </a:stretch>
            </p:blipFill>
            <p:spPr bwMode="auto">
              <a:xfrm>
                <a:off x="7044019" y="3572872"/>
                <a:ext cx="169742" cy="163713"/>
              </a:xfrm>
              <a:prstGeom prst="rect">
                <a:avLst/>
              </a:prstGeom>
              <a:noFill/>
              <a:ln w="9525">
                <a:noFill/>
                <a:miter lim="800000"/>
                <a:headEnd/>
                <a:tailEnd/>
              </a:ln>
            </p:spPr>
          </p:pic>
          <p:sp>
            <p:nvSpPr>
              <p:cNvPr id="547" name="Rectangle 644">
                <a:extLst>
                  <a:ext uri="{FF2B5EF4-FFF2-40B4-BE49-F238E27FC236}">
                    <a16:creationId xmlns:a16="http://schemas.microsoft.com/office/drawing/2014/main" id="{18460E1F-2A79-2D73-F781-99EC985B933C}"/>
                  </a:ext>
                </a:extLst>
              </p:cNvPr>
              <p:cNvSpPr>
                <a:spLocks noChangeArrowheads="1"/>
              </p:cNvSpPr>
              <p:nvPr/>
            </p:nvSpPr>
            <p:spPr bwMode="auto">
              <a:xfrm>
                <a:off x="6454205" y="3895121"/>
                <a:ext cx="1227451" cy="250133"/>
              </a:xfrm>
              <a:prstGeom prst="rect">
                <a:avLst/>
              </a:prstGeom>
              <a:noFill/>
              <a:ln w="9525">
                <a:noFill/>
                <a:miter lim="800000"/>
                <a:headEnd/>
                <a:tailEnd/>
              </a:ln>
            </p:spPr>
            <p:txBody>
              <a:bodyPr lIns="64541" tIns="32271" rIns="64541" bIns="32271">
                <a:spAutoFit/>
              </a:bodyPr>
              <a:lstStyle/>
              <a:p>
                <a:pPr marL="0" marR="0" lvl="0" indent="0" algn="r"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Malaysia</a:t>
                </a:r>
              </a:p>
            </p:txBody>
          </p:sp>
          <p:pic>
            <p:nvPicPr>
              <p:cNvPr id="548" name="Picture 15" descr="DBS-LOGO-STAR.png">
                <a:extLst>
                  <a:ext uri="{FF2B5EF4-FFF2-40B4-BE49-F238E27FC236}">
                    <a16:creationId xmlns:a16="http://schemas.microsoft.com/office/drawing/2014/main" id="{370E9EFB-3275-0B23-5ECC-B5E928132B1D}"/>
                  </a:ext>
                </a:extLst>
              </p:cNvPr>
              <p:cNvPicPr>
                <a:picLocks noChangeAspect="1"/>
              </p:cNvPicPr>
              <p:nvPr/>
            </p:nvPicPr>
            <p:blipFill>
              <a:blip r:embed="rId2" cstate="print"/>
              <a:srcRect/>
              <a:stretch>
                <a:fillRect/>
              </a:stretch>
            </p:blipFill>
            <p:spPr bwMode="auto">
              <a:xfrm>
                <a:off x="7586071" y="3947822"/>
                <a:ext cx="169742" cy="163713"/>
              </a:xfrm>
              <a:prstGeom prst="rect">
                <a:avLst/>
              </a:prstGeom>
              <a:noFill/>
              <a:ln w="9525">
                <a:noFill/>
                <a:miter lim="800000"/>
                <a:headEnd/>
                <a:tailEnd/>
              </a:ln>
              <a:effectLst/>
            </p:spPr>
          </p:pic>
          <p:sp>
            <p:nvSpPr>
              <p:cNvPr id="549" name="16297461.625707.125138.1255">
                <a:extLst>
                  <a:ext uri="{FF2B5EF4-FFF2-40B4-BE49-F238E27FC236}">
                    <a16:creationId xmlns:a16="http://schemas.microsoft.com/office/drawing/2014/main" id="{AEE24BA8-B705-A9FE-892A-BCDA990493BA}"/>
                  </a:ext>
                </a:extLst>
              </p:cNvPr>
              <p:cNvSpPr>
                <a:spLocks/>
              </p:cNvSpPr>
              <p:nvPr/>
            </p:nvSpPr>
            <p:spPr bwMode="auto">
              <a:xfrm>
                <a:off x="9221966" y="5133101"/>
                <a:ext cx="134672" cy="210314"/>
              </a:xfrm>
              <a:custGeom>
                <a:avLst/>
                <a:gdLst>
                  <a:gd name="T0" fmla="*/ 0 w 193"/>
                  <a:gd name="T1" fmla="*/ 0 h 266"/>
                  <a:gd name="T2" fmla="*/ 1 w 193"/>
                  <a:gd name="T3" fmla="*/ 1 h 266"/>
                  <a:gd name="T4" fmla="*/ 1 w 193"/>
                  <a:gd name="T5" fmla="*/ 1 h 266"/>
                  <a:gd name="T6" fmla="*/ 1 w 193"/>
                  <a:gd name="T7" fmla="*/ 1 h 266"/>
                  <a:gd name="T8" fmla="*/ 1 w 193"/>
                  <a:gd name="T9" fmla="*/ 1 h 266"/>
                  <a:gd name="T10" fmla="*/ 1 w 193"/>
                  <a:gd name="T11" fmla="*/ 1 h 266"/>
                  <a:gd name="T12" fmla="*/ 1 w 193"/>
                  <a:gd name="T13" fmla="*/ 1 h 266"/>
                  <a:gd name="T14" fmla="*/ 1 w 193"/>
                  <a:gd name="T15" fmla="*/ 1 h 266"/>
                  <a:gd name="T16" fmla="*/ 1 w 193"/>
                  <a:gd name="T17" fmla="*/ 1 h 266"/>
                  <a:gd name="T18" fmla="*/ 1 w 193"/>
                  <a:gd name="T19" fmla="*/ 1 h 266"/>
                  <a:gd name="T20" fmla="*/ 1 w 193"/>
                  <a:gd name="T21" fmla="*/ 1 h 266"/>
                  <a:gd name="T22" fmla="*/ 1 w 193"/>
                  <a:gd name="T23" fmla="*/ 1 h 266"/>
                  <a:gd name="T24" fmla="*/ 1 w 193"/>
                  <a:gd name="T25" fmla="*/ 1 h 266"/>
                  <a:gd name="T26" fmla="*/ 1 w 193"/>
                  <a:gd name="T27" fmla="*/ 1 h 266"/>
                  <a:gd name="T28" fmla="*/ 1 w 193"/>
                  <a:gd name="T29" fmla="*/ 1 h 266"/>
                  <a:gd name="T30" fmla="*/ 0 w 193"/>
                  <a:gd name="T31" fmla="*/ 0 h 2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3"/>
                  <a:gd name="T49" fmla="*/ 0 h 266"/>
                  <a:gd name="T50" fmla="*/ 193 w 193"/>
                  <a:gd name="T51" fmla="*/ 266 h 2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3" h="266">
                    <a:moveTo>
                      <a:pt x="0" y="0"/>
                    </a:moveTo>
                    <a:lnTo>
                      <a:pt x="53" y="30"/>
                    </a:lnTo>
                    <a:lnTo>
                      <a:pt x="67" y="89"/>
                    </a:lnTo>
                    <a:lnTo>
                      <a:pt x="90" y="105"/>
                    </a:lnTo>
                    <a:lnTo>
                      <a:pt x="104" y="81"/>
                    </a:lnTo>
                    <a:lnTo>
                      <a:pt x="115" y="121"/>
                    </a:lnTo>
                    <a:lnTo>
                      <a:pt x="193" y="121"/>
                    </a:lnTo>
                    <a:lnTo>
                      <a:pt x="177" y="180"/>
                    </a:lnTo>
                    <a:lnTo>
                      <a:pt x="138" y="188"/>
                    </a:lnTo>
                    <a:lnTo>
                      <a:pt x="105" y="265"/>
                    </a:lnTo>
                    <a:lnTo>
                      <a:pt x="68" y="266"/>
                    </a:lnTo>
                    <a:lnTo>
                      <a:pt x="85" y="239"/>
                    </a:lnTo>
                    <a:lnTo>
                      <a:pt x="37" y="184"/>
                    </a:lnTo>
                    <a:lnTo>
                      <a:pt x="75" y="136"/>
                    </a:lnTo>
                    <a:lnTo>
                      <a:pt x="68" y="96"/>
                    </a:lnTo>
                    <a:lnTo>
                      <a:pt x="0" y="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825" b="0" i="0" u="none" strike="noStrike" kern="0" cap="none" spc="0" normalizeH="0" baseline="0" noProof="0">
                  <a:ln>
                    <a:noFill/>
                  </a:ln>
                  <a:solidFill>
                    <a:srgbClr val="000000"/>
                  </a:solidFill>
                  <a:effectLst/>
                  <a:uLnTx/>
                  <a:uFillTx/>
                  <a:latin typeface="Arial"/>
                  <a:cs typeface="+mn-cs"/>
                </a:endParaRPr>
              </a:p>
            </p:txBody>
          </p:sp>
          <p:sp>
            <p:nvSpPr>
              <p:cNvPr id="550" name="16308242.625494.87589236.8755">
                <a:extLst>
                  <a:ext uri="{FF2B5EF4-FFF2-40B4-BE49-F238E27FC236}">
                    <a16:creationId xmlns:a16="http://schemas.microsoft.com/office/drawing/2014/main" id="{510B7DE7-C2AB-1834-A861-E3CC25CCF074}"/>
                  </a:ext>
                </a:extLst>
              </p:cNvPr>
              <p:cNvSpPr>
                <a:spLocks/>
              </p:cNvSpPr>
              <p:nvPr/>
            </p:nvSpPr>
            <p:spPr bwMode="auto">
              <a:xfrm>
                <a:off x="5667903" y="1573578"/>
                <a:ext cx="3956865" cy="1446898"/>
              </a:xfrm>
              <a:custGeom>
                <a:avLst/>
                <a:gdLst>
                  <a:gd name="T0" fmla="*/ 1 w 5699"/>
                  <a:gd name="T1" fmla="*/ 1 h 1829"/>
                  <a:gd name="T2" fmla="*/ 1 w 5699"/>
                  <a:gd name="T3" fmla="*/ 1 h 1829"/>
                  <a:gd name="T4" fmla="*/ 1 w 5699"/>
                  <a:gd name="T5" fmla="*/ 1 h 1829"/>
                  <a:gd name="T6" fmla="*/ 1 w 5699"/>
                  <a:gd name="T7" fmla="*/ 1 h 1829"/>
                  <a:gd name="T8" fmla="*/ 1 w 5699"/>
                  <a:gd name="T9" fmla="*/ 1 h 1829"/>
                  <a:gd name="T10" fmla="*/ 1 w 5699"/>
                  <a:gd name="T11" fmla="*/ 1 h 1829"/>
                  <a:gd name="T12" fmla="*/ 1 w 5699"/>
                  <a:gd name="T13" fmla="*/ 1 h 1829"/>
                  <a:gd name="T14" fmla="*/ 1 w 5699"/>
                  <a:gd name="T15" fmla="*/ 1 h 1829"/>
                  <a:gd name="T16" fmla="*/ 1 w 5699"/>
                  <a:gd name="T17" fmla="*/ 1 h 1829"/>
                  <a:gd name="T18" fmla="*/ 1 w 5699"/>
                  <a:gd name="T19" fmla="*/ 1 h 1829"/>
                  <a:gd name="T20" fmla="*/ 1 w 5699"/>
                  <a:gd name="T21" fmla="*/ 1 h 1829"/>
                  <a:gd name="T22" fmla="*/ 1 w 5699"/>
                  <a:gd name="T23" fmla="*/ 1 h 1829"/>
                  <a:gd name="T24" fmla="*/ 1 w 5699"/>
                  <a:gd name="T25" fmla="*/ 1 h 1829"/>
                  <a:gd name="T26" fmla="*/ 1 w 5699"/>
                  <a:gd name="T27" fmla="*/ 1 h 1829"/>
                  <a:gd name="T28" fmla="*/ 1 w 5699"/>
                  <a:gd name="T29" fmla="*/ 1 h 1829"/>
                  <a:gd name="T30" fmla="*/ 1 w 5699"/>
                  <a:gd name="T31" fmla="*/ 1 h 1829"/>
                  <a:gd name="T32" fmla="*/ 1 w 5699"/>
                  <a:gd name="T33" fmla="*/ 1 h 1829"/>
                  <a:gd name="T34" fmla="*/ 1 w 5699"/>
                  <a:gd name="T35" fmla="*/ 1 h 1829"/>
                  <a:gd name="T36" fmla="*/ 1 w 5699"/>
                  <a:gd name="T37" fmla="*/ 1 h 1829"/>
                  <a:gd name="T38" fmla="*/ 1 w 5699"/>
                  <a:gd name="T39" fmla="*/ 1 h 1829"/>
                  <a:gd name="T40" fmla="*/ 1 w 5699"/>
                  <a:gd name="T41" fmla="*/ 1 h 1829"/>
                  <a:gd name="T42" fmla="*/ 1 w 5699"/>
                  <a:gd name="T43" fmla="*/ 1 h 1829"/>
                  <a:gd name="T44" fmla="*/ 1 w 5699"/>
                  <a:gd name="T45" fmla="*/ 1 h 1829"/>
                  <a:gd name="T46" fmla="*/ 1 w 5699"/>
                  <a:gd name="T47" fmla="*/ 1 h 1829"/>
                  <a:gd name="T48" fmla="*/ 1 w 5699"/>
                  <a:gd name="T49" fmla="*/ 1 h 1829"/>
                  <a:gd name="T50" fmla="*/ 1 w 5699"/>
                  <a:gd name="T51" fmla="*/ 1 h 1829"/>
                  <a:gd name="T52" fmla="*/ 1 w 5699"/>
                  <a:gd name="T53" fmla="*/ 1 h 1829"/>
                  <a:gd name="T54" fmla="*/ 1 w 5699"/>
                  <a:gd name="T55" fmla="*/ 1 h 1829"/>
                  <a:gd name="T56" fmla="*/ 1 w 5699"/>
                  <a:gd name="T57" fmla="*/ 1 h 1829"/>
                  <a:gd name="T58" fmla="*/ 1 w 5699"/>
                  <a:gd name="T59" fmla="*/ 1 h 1829"/>
                  <a:gd name="T60" fmla="*/ 1 w 5699"/>
                  <a:gd name="T61" fmla="*/ 1 h 1829"/>
                  <a:gd name="T62" fmla="*/ 1 w 5699"/>
                  <a:gd name="T63" fmla="*/ 1 h 1829"/>
                  <a:gd name="T64" fmla="*/ 1 w 5699"/>
                  <a:gd name="T65" fmla="*/ 1 h 1829"/>
                  <a:gd name="T66" fmla="*/ 1 w 5699"/>
                  <a:gd name="T67" fmla="*/ 1 h 1829"/>
                  <a:gd name="T68" fmla="*/ 1 w 5699"/>
                  <a:gd name="T69" fmla="*/ 1 h 1829"/>
                  <a:gd name="T70" fmla="*/ 1 w 5699"/>
                  <a:gd name="T71" fmla="*/ 1 h 1829"/>
                  <a:gd name="T72" fmla="*/ 1 w 5699"/>
                  <a:gd name="T73" fmla="*/ 1 h 1829"/>
                  <a:gd name="T74" fmla="*/ 1 w 5699"/>
                  <a:gd name="T75" fmla="*/ 1 h 1829"/>
                  <a:gd name="T76" fmla="*/ 1 w 5699"/>
                  <a:gd name="T77" fmla="*/ 1 h 1829"/>
                  <a:gd name="T78" fmla="*/ 1 w 5699"/>
                  <a:gd name="T79" fmla="*/ 1 h 1829"/>
                  <a:gd name="T80" fmla="*/ 1 w 5699"/>
                  <a:gd name="T81" fmla="*/ 1 h 1829"/>
                  <a:gd name="T82" fmla="*/ 1 w 5699"/>
                  <a:gd name="T83" fmla="*/ 1 h 1829"/>
                  <a:gd name="T84" fmla="*/ 1 w 5699"/>
                  <a:gd name="T85" fmla="*/ 1 h 1829"/>
                  <a:gd name="T86" fmla="*/ 1 w 5699"/>
                  <a:gd name="T87" fmla="*/ 1 h 1829"/>
                  <a:gd name="T88" fmla="*/ 1 w 5699"/>
                  <a:gd name="T89" fmla="*/ 1 h 1829"/>
                  <a:gd name="T90" fmla="*/ 1 w 5699"/>
                  <a:gd name="T91" fmla="*/ 1 h 1829"/>
                  <a:gd name="T92" fmla="*/ 1 w 5699"/>
                  <a:gd name="T93" fmla="*/ 1 h 1829"/>
                  <a:gd name="T94" fmla="*/ 1 w 5699"/>
                  <a:gd name="T95" fmla="*/ 1 h 1829"/>
                  <a:gd name="T96" fmla="*/ 1 w 5699"/>
                  <a:gd name="T97" fmla="*/ 1 h 1829"/>
                  <a:gd name="T98" fmla="*/ 1 w 5699"/>
                  <a:gd name="T99" fmla="*/ 1 h 1829"/>
                  <a:gd name="T100" fmla="*/ 1 w 5699"/>
                  <a:gd name="T101" fmla="*/ 1 h 1829"/>
                  <a:gd name="T102" fmla="*/ 1 w 5699"/>
                  <a:gd name="T103" fmla="*/ 1 h 1829"/>
                  <a:gd name="T104" fmla="*/ 1 w 5699"/>
                  <a:gd name="T105" fmla="*/ 1 h 1829"/>
                  <a:gd name="T106" fmla="*/ 1 w 5699"/>
                  <a:gd name="T107" fmla="*/ 1 h 1829"/>
                  <a:gd name="T108" fmla="*/ 1 w 5699"/>
                  <a:gd name="T109" fmla="*/ 1 h 1829"/>
                  <a:gd name="T110" fmla="*/ 1 w 5699"/>
                  <a:gd name="T111" fmla="*/ 1 h 1829"/>
                  <a:gd name="T112" fmla="*/ 1 w 5699"/>
                  <a:gd name="T113" fmla="*/ 1 h 1829"/>
                  <a:gd name="T114" fmla="*/ 1 w 5699"/>
                  <a:gd name="T115" fmla="*/ 1 h 182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99"/>
                  <a:gd name="T175" fmla="*/ 0 h 1829"/>
                  <a:gd name="T176" fmla="*/ 5699 w 5699"/>
                  <a:gd name="T177" fmla="*/ 1829 h 1829"/>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99" h="1829">
                    <a:moveTo>
                      <a:pt x="0" y="1300"/>
                    </a:moveTo>
                    <a:lnTo>
                      <a:pt x="47" y="1257"/>
                    </a:lnTo>
                    <a:lnTo>
                      <a:pt x="31" y="1275"/>
                    </a:lnTo>
                    <a:lnTo>
                      <a:pt x="52" y="1280"/>
                    </a:lnTo>
                    <a:lnTo>
                      <a:pt x="47" y="1194"/>
                    </a:lnTo>
                    <a:lnTo>
                      <a:pt x="66" y="1154"/>
                    </a:lnTo>
                    <a:lnTo>
                      <a:pt x="93" y="1148"/>
                    </a:lnTo>
                    <a:lnTo>
                      <a:pt x="148" y="1186"/>
                    </a:lnTo>
                    <a:lnTo>
                      <a:pt x="161" y="1114"/>
                    </a:lnTo>
                    <a:lnTo>
                      <a:pt x="137" y="1115"/>
                    </a:lnTo>
                    <a:lnTo>
                      <a:pt x="128" y="1074"/>
                    </a:lnTo>
                    <a:lnTo>
                      <a:pt x="353" y="1037"/>
                    </a:lnTo>
                    <a:lnTo>
                      <a:pt x="298" y="1022"/>
                    </a:lnTo>
                    <a:lnTo>
                      <a:pt x="301" y="1001"/>
                    </a:lnTo>
                    <a:lnTo>
                      <a:pt x="266" y="1008"/>
                    </a:lnTo>
                    <a:lnTo>
                      <a:pt x="394" y="901"/>
                    </a:lnTo>
                    <a:lnTo>
                      <a:pt x="338" y="787"/>
                    </a:lnTo>
                    <a:lnTo>
                      <a:pt x="352" y="733"/>
                    </a:lnTo>
                    <a:lnTo>
                      <a:pt x="317" y="673"/>
                    </a:lnTo>
                    <a:lnTo>
                      <a:pt x="345" y="638"/>
                    </a:lnTo>
                    <a:lnTo>
                      <a:pt x="298" y="591"/>
                    </a:lnTo>
                    <a:lnTo>
                      <a:pt x="312" y="553"/>
                    </a:lnTo>
                    <a:lnTo>
                      <a:pt x="374" y="509"/>
                    </a:lnTo>
                    <a:lnTo>
                      <a:pt x="408" y="503"/>
                    </a:lnTo>
                    <a:lnTo>
                      <a:pt x="451" y="513"/>
                    </a:lnTo>
                    <a:lnTo>
                      <a:pt x="413" y="523"/>
                    </a:lnTo>
                    <a:lnTo>
                      <a:pt x="442" y="539"/>
                    </a:lnTo>
                    <a:lnTo>
                      <a:pt x="541" y="545"/>
                    </a:lnTo>
                    <a:lnTo>
                      <a:pt x="716" y="637"/>
                    </a:lnTo>
                    <a:lnTo>
                      <a:pt x="720" y="681"/>
                    </a:lnTo>
                    <a:lnTo>
                      <a:pt x="644" y="721"/>
                    </a:lnTo>
                    <a:lnTo>
                      <a:pt x="409" y="666"/>
                    </a:lnTo>
                    <a:lnTo>
                      <a:pt x="506" y="732"/>
                    </a:lnTo>
                    <a:lnTo>
                      <a:pt x="503" y="807"/>
                    </a:lnTo>
                    <a:lnTo>
                      <a:pt x="598" y="844"/>
                    </a:lnTo>
                    <a:lnTo>
                      <a:pt x="622" y="838"/>
                    </a:lnTo>
                    <a:lnTo>
                      <a:pt x="610" y="807"/>
                    </a:lnTo>
                    <a:lnTo>
                      <a:pt x="566" y="795"/>
                    </a:lnTo>
                    <a:lnTo>
                      <a:pt x="577" y="769"/>
                    </a:lnTo>
                    <a:lnTo>
                      <a:pt x="620" y="798"/>
                    </a:lnTo>
                    <a:lnTo>
                      <a:pt x="712" y="807"/>
                    </a:lnTo>
                    <a:lnTo>
                      <a:pt x="672" y="747"/>
                    </a:lnTo>
                    <a:lnTo>
                      <a:pt x="757" y="696"/>
                    </a:lnTo>
                    <a:lnTo>
                      <a:pt x="819" y="732"/>
                    </a:lnTo>
                    <a:lnTo>
                      <a:pt x="817" y="595"/>
                    </a:lnTo>
                    <a:lnTo>
                      <a:pt x="791" y="575"/>
                    </a:lnTo>
                    <a:lnTo>
                      <a:pt x="894" y="605"/>
                    </a:lnTo>
                    <a:lnTo>
                      <a:pt x="901" y="622"/>
                    </a:lnTo>
                    <a:lnTo>
                      <a:pt x="846" y="645"/>
                    </a:lnTo>
                    <a:lnTo>
                      <a:pt x="901" y="689"/>
                    </a:lnTo>
                    <a:lnTo>
                      <a:pt x="948" y="638"/>
                    </a:lnTo>
                    <a:lnTo>
                      <a:pt x="1140" y="558"/>
                    </a:lnTo>
                    <a:lnTo>
                      <a:pt x="1169" y="554"/>
                    </a:lnTo>
                    <a:lnTo>
                      <a:pt x="1140" y="568"/>
                    </a:lnTo>
                    <a:lnTo>
                      <a:pt x="1172" y="607"/>
                    </a:lnTo>
                    <a:lnTo>
                      <a:pt x="1311" y="554"/>
                    </a:lnTo>
                    <a:lnTo>
                      <a:pt x="1342" y="593"/>
                    </a:lnTo>
                    <a:lnTo>
                      <a:pt x="1375" y="564"/>
                    </a:lnTo>
                    <a:lnTo>
                      <a:pt x="1359" y="520"/>
                    </a:lnTo>
                    <a:lnTo>
                      <a:pt x="1378" y="506"/>
                    </a:lnTo>
                    <a:lnTo>
                      <a:pt x="1484" y="527"/>
                    </a:lnTo>
                    <a:lnTo>
                      <a:pt x="1624" y="604"/>
                    </a:lnTo>
                    <a:lnTo>
                      <a:pt x="1652" y="567"/>
                    </a:lnTo>
                    <a:lnTo>
                      <a:pt x="1621" y="528"/>
                    </a:lnTo>
                    <a:lnTo>
                      <a:pt x="1579" y="517"/>
                    </a:lnTo>
                    <a:lnTo>
                      <a:pt x="1595" y="457"/>
                    </a:lnTo>
                    <a:lnTo>
                      <a:pt x="1566" y="448"/>
                    </a:lnTo>
                    <a:lnTo>
                      <a:pt x="1576" y="421"/>
                    </a:lnTo>
                    <a:lnTo>
                      <a:pt x="1627" y="391"/>
                    </a:lnTo>
                    <a:lnTo>
                      <a:pt x="1660" y="318"/>
                    </a:lnTo>
                    <a:lnTo>
                      <a:pt x="1733" y="319"/>
                    </a:lnTo>
                    <a:lnTo>
                      <a:pt x="1767" y="330"/>
                    </a:lnTo>
                    <a:lnTo>
                      <a:pt x="1741" y="407"/>
                    </a:lnTo>
                    <a:lnTo>
                      <a:pt x="1771" y="446"/>
                    </a:lnTo>
                    <a:lnTo>
                      <a:pt x="1762" y="553"/>
                    </a:lnTo>
                    <a:lnTo>
                      <a:pt x="1797" y="590"/>
                    </a:lnTo>
                    <a:lnTo>
                      <a:pt x="1784" y="629"/>
                    </a:lnTo>
                    <a:lnTo>
                      <a:pt x="1729" y="659"/>
                    </a:lnTo>
                    <a:lnTo>
                      <a:pt x="1747" y="673"/>
                    </a:lnTo>
                    <a:lnTo>
                      <a:pt x="1674" y="688"/>
                    </a:lnTo>
                    <a:lnTo>
                      <a:pt x="1751" y="714"/>
                    </a:lnTo>
                    <a:lnTo>
                      <a:pt x="1837" y="629"/>
                    </a:lnTo>
                    <a:lnTo>
                      <a:pt x="1828" y="575"/>
                    </a:lnTo>
                    <a:lnTo>
                      <a:pt x="1858" y="567"/>
                    </a:lnTo>
                    <a:lnTo>
                      <a:pt x="1903" y="557"/>
                    </a:lnTo>
                    <a:lnTo>
                      <a:pt x="1925" y="587"/>
                    </a:lnTo>
                    <a:lnTo>
                      <a:pt x="1922" y="627"/>
                    </a:lnTo>
                    <a:lnTo>
                      <a:pt x="1979" y="640"/>
                    </a:lnTo>
                    <a:lnTo>
                      <a:pt x="1935" y="626"/>
                    </a:lnTo>
                    <a:lnTo>
                      <a:pt x="1954" y="602"/>
                    </a:lnTo>
                    <a:lnTo>
                      <a:pt x="1938" y="567"/>
                    </a:lnTo>
                    <a:lnTo>
                      <a:pt x="1807" y="543"/>
                    </a:lnTo>
                    <a:lnTo>
                      <a:pt x="1828" y="459"/>
                    </a:lnTo>
                    <a:lnTo>
                      <a:pt x="1782" y="407"/>
                    </a:lnTo>
                    <a:lnTo>
                      <a:pt x="1847" y="359"/>
                    </a:lnTo>
                    <a:lnTo>
                      <a:pt x="1839" y="325"/>
                    </a:lnTo>
                    <a:lnTo>
                      <a:pt x="1869" y="344"/>
                    </a:lnTo>
                    <a:lnTo>
                      <a:pt x="1854" y="411"/>
                    </a:lnTo>
                    <a:lnTo>
                      <a:pt x="1874" y="421"/>
                    </a:lnTo>
                    <a:lnTo>
                      <a:pt x="1962" y="441"/>
                    </a:lnTo>
                    <a:lnTo>
                      <a:pt x="1883" y="385"/>
                    </a:lnTo>
                    <a:lnTo>
                      <a:pt x="1943" y="388"/>
                    </a:lnTo>
                    <a:lnTo>
                      <a:pt x="1929" y="366"/>
                    </a:lnTo>
                    <a:lnTo>
                      <a:pt x="1962" y="355"/>
                    </a:lnTo>
                    <a:lnTo>
                      <a:pt x="2123" y="399"/>
                    </a:lnTo>
                    <a:lnTo>
                      <a:pt x="2093" y="428"/>
                    </a:lnTo>
                    <a:lnTo>
                      <a:pt x="2089" y="472"/>
                    </a:lnTo>
                    <a:lnTo>
                      <a:pt x="2122" y="496"/>
                    </a:lnTo>
                    <a:lnTo>
                      <a:pt x="2138" y="399"/>
                    </a:lnTo>
                    <a:lnTo>
                      <a:pt x="2050" y="349"/>
                    </a:lnTo>
                    <a:lnTo>
                      <a:pt x="2032" y="282"/>
                    </a:lnTo>
                    <a:lnTo>
                      <a:pt x="2237" y="257"/>
                    </a:lnTo>
                    <a:lnTo>
                      <a:pt x="2211" y="195"/>
                    </a:lnTo>
                    <a:lnTo>
                      <a:pt x="2237" y="209"/>
                    </a:lnTo>
                    <a:lnTo>
                      <a:pt x="2271" y="184"/>
                    </a:lnTo>
                    <a:lnTo>
                      <a:pt x="2247" y="177"/>
                    </a:lnTo>
                    <a:lnTo>
                      <a:pt x="2461" y="126"/>
                    </a:lnTo>
                    <a:lnTo>
                      <a:pt x="2443" y="113"/>
                    </a:lnTo>
                    <a:lnTo>
                      <a:pt x="2542" y="107"/>
                    </a:lnTo>
                    <a:lnTo>
                      <a:pt x="2541" y="124"/>
                    </a:lnTo>
                    <a:lnTo>
                      <a:pt x="2566" y="124"/>
                    </a:lnTo>
                    <a:lnTo>
                      <a:pt x="2637" y="102"/>
                    </a:lnTo>
                    <a:lnTo>
                      <a:pt x="2671" y="114"/>
                    </a:lnTo>
                    <a:lnTo>
                      <a:pt x="2640" y="87"/>
                    </a:lnTo>
                    <a:lnTo>
                      <a:pt x="2721" y="81"/>
                    </a:lnTo>
                    <a:lnTo>
                      <a:pt x="2724" y="47"/>
                    </a:lnTo>
                    <a:lnTo>
                      <a:pt x="2820" y="0"/>
                    </a:lnTo>
                    <a:lnTo>
                      <a:pt x="2886" y="27"/>
                    </a:lnTo>
                    <a:lnTo>
                      <a:pt x="2829" y="52"/>
                    </a:lnTo>
                    <a:lnTo>
                      <a:pt x="2926" y="51"/>
                    </a:lnTo>
                    <a:lnTo>
                      <a:pt x="2887" y="87"/>
                    </a:lnTo>
                    <a:lnTo>
                      <a:pt x="3052" y="69"/>
                    </a:lnTo>
                    <a:lnTo>
                      <a:pt x="3143" y="124"/>
                    </a:lnTo>
                    <a:lnTo>
                      <a:pt x="3129" y="144"/>
                    </a:lnTo>
                    <a:lnTo>
                      <a:pt x="3099" y="132"/>
                    </a:lnTo>
                    <a:lnTo>
                      <a:pt x="3140" y="150"/>
                    </a:lnTo>
                    <a:lnTo>
                      <a:pt x="3119" y="183"/>
                    </a:lnTo>
                    <a:lnTo>
                      <a:pt x="2820" y="342"/>
                    </a:lnTo>
                    <a:lnTo>
                      <a:pt x="2915" y="322"/>
                    </a:lnTo>
                    <a:lnTo>
                      <a:pt x="2895" y="301"/>
                    </a:lnTo>
                    <a:lnTo>
                      <a:pt x="3047" y="271"/>
                    </a:lnTo>
                    <a:lnTo>
                      <a:pt x="3005" y="276"/>
                    </a:lnTo>
                    <a:lnTo>
                      <a:pt x="3015" y="249"/>
                    </a:lnTo>
                    <a:lnTo>
                      <a:pt x="3099" y="271"/>
                    </a:lnTo>
                    <a:lnTo>
                      <a:pt x="3111" y="249"/>
                    </a:lnTo>
                    <a:lnTo>
                      <a:pt x="3130" y="301"/>
                    </a:lnTo>
                    <a:lnTo>
                      <a:pt x="3172" y="304"/>
                    </a:lnTo>
                    <a:lnTo>
                      <a:pt x="3133" y="283"/>
                    </a:lnTo>
                    <a:lnTo>
                      <a:pt x="3213" y="270"/>
                    </a:lnTo>
                    <a:lnTo>
                      <a:pt x="3309" y="282"/>
                    </a:lnTo>
                    <a:lnTo>
                      <a:pt x="3301" y="301"/>
                    </a:lnTo>
                    <a:lnTo>
                      <a:pt x="3385" y="318"/>
                    </a:lnTo>
                    <a:lnTo>
                      <a:pt x="3458" y="314"/>
                    </a:lnTo>
                    <a:lnTo>
                      <a:pt x="3460" y="264"/>
                    </a:lnTo>
                    <a:lnTo>
                      <a:pt x="3482" y="259"/>
                    </a:lnTo>
                    <a:lnTo>
                      <a:pt x="3668" y="314"/>
                    </a:lnTo>
                    <a:lnTo>
                      <a:pt x="3642" y="399"/>
                    </a:lnTo>
                    <a:lnTo>
                      <a:pt x="3728" y="457"/>
                    </a:lnTo>
                    <a:lnTo>
                      <a:pt x="3775" y="377"/>
                    </a:lnTo>
                    <a:lnTo>
                      <a:pt x="3807" y="411"/>
                    </a:lnTo>
                    <a:lnTo>
                      <a:pt x="3868" y="399"/>
                    </a:lnTo>
                    <a:lnTo>
                      <a:pt x="3951" y="428"/>
                    </a:lnTo>
                    <a:lnTo>
                      <a:pt x="4018" y="410"/>
                    </a:lnTo>
                    <a:lnTo>
                      <a:pt x="4011" y="377"/>
                    </a:lnTo>
                    <a:lnTo>
                      <a:pt x="4057" y="323"/>
                    </a:lnTo>
                    <a:lnTo>
                      <a:pt x="4334" y="362"/>
                    </a:lnTo>
                    <a:lnTo>
                      <a:pt x="4352" y="386"/>
                    </a:lnTo>
                    <a:lnTo>
                      <a:pt x="4318" y="397"/>
                    </a:lnTo>
                    <a:lnTo>
                      <a:pt x="4407" y="410"/>
                    </a:lnTo>
                    <a:lnTo>
                      <a:pt x="4440" y="448"/>
                    </a:lnTo>
                    <a:lnTo>
                      <a:pt x="4649" y="441"/>
                    </a:lnTo>
                    <a:lnTo>
                      <a:pt x="4687" y="472"/>
                    </a:lnTo>
                    <a:lnTo>
                      <a:pt x="4674" y="509"/>
                    </a:lnTo>
                    <a:lnTo>
                      <a:pt x="4734" y="535"/>
                    </a:lnTo>
                    <a:lnTo>
                      <a:pt x="4766" y="514"/>
                    </a:lnTo>
                    <a:lnTo>
                      <a:pt x="4914" y="529"/>
                    </a:lnTo>
                    <a:lnTo>
                      <a:pt x="4944" y="509"/>
                    </a:lnTo>
                    <a:lnTo>
                      <a:pt x="4962" y="542"/>
                    </a:lnTo>
                    <a:lnTo>
                      <a:pt x="5024" y="569"/>
                    </a:lnTo>
                    <a:lnTo>
                      <a:pt x="5053" y="550"/>
                    </a:lnTo>
                    <a:lnTo>
                      <a:pt x="5023" y="520"/>
                    </a:lnTo>
                    <a:lnTo>
                      <a:pt x="5041" y="496"/>
                    </a:lnTo>
                    <a:lnTo>
                      <a:pt x="5300" y="534"/>
                    </a:lnTo>
                    <a:lnTo>
                      <a:pt x="5472" y="630"/>
                    </a:lnTo>
                    <a:lnTo>
                      <a:pt x="5508" y="630"/>
                    </a:lnTo>
                    <a:lnTo>
                      <a:pt x="5552" y="708"/>
                    </a:lnTo>
                    <a:lnTo>
                      <a:pt x="5534" y="666"/>
                    </a:lnTo>
                    <a:lnTo>
                      <a:pt x="5562" y="662"/>
                    </a:lnTo>
                    <a:lnTo>
                      <a:pt x="5579" y="678"/>
                    </a:lnTo>
                    <a:lnTo>
                      <a:pt x="5629" y="673"/>
                    </a:lnTo>
                    <a:lnTo>
                      <a:pt x="5699" y="718"/>
                    </a:lnTo>
                    <a:lnTo>
                      <a:pt x="5599" y="767"/>
                    </a:lnTo>
                    <a:lnTo>
                      <a:pt x="5619" y="781"/>
                    </a:lnTo>
                    <a:lnTo>
                      <a:pt x="5584" y="791"/>
                    </a:lnTo>
                    <a:lnTo>
                      <a:pt x="5612" y="809"/>
                    </a:lnTo>
                    <a:lnTo>
                      <a:pt x="5552" y="810"/>
                    </a:lnTo>
                    <a:lnTo>
                      <a:pt x="5533" y="781"/>
                    </a:lnTo>
                    <a:lnTo>
                      <a:pt x="5509" y="792"/>
                    </a:lnTo>
                    <a:lnTo>
                      <a:pt x="5471" y="747"/>
                    </a:lnTo>
                    <a:lnTo>
                      <a:pt x="5403" y="748"/>
                    </a:lnTo>
                    <a:lnTo>
                      <a:pt x="5386" y="721"/>
                    </a:lnTo>
                    <a:lnTo>
                      <a:pt x="5402" y="708"/>
                    </a:lnTo>
                    <a:lnTo>
                      <a:pt x="5376" y="708"/>
                    </a:lnTo>
                    <a:lnTo>
                      <a:pt x="5354" y="718"/>
                    </a:lnTo>
                    <a:lnTo>
                      <a:pt x="5379" y="750"/>
                    </a:lnTo>
                    <a:lnTo>
                      <a:pt x="5364" y="769"/>
                    </a:lnTo>
                    <a:lnTo>
                      <a:pt x="5306" y="800"/>
                    </a:lnTo>
                    <a:lnTo>
                      <a:pt x="5267" y="794"/>
                    </a:lnTo>
                    <a:lnTo>
                      <a:pt x="5332" y="883"/>
                    </a:lnTo>
                    <a:lnTo>
                      <a:pt x="5321" y="917"/>
                    </a:lnTo>
                    <a:lnTo>
                      <a:pt x="5255" y="893"/>
                    </a:lnTo>
                    <a:lnTo>
                      <a:pt x="5258" y="906"/>
                    </a:lnTo>
                    <a:lnTo>
                      <a:pt x="5137" y="950"/>
                    </a:lnTo>
                    <a:lnTo>
                      <a:pt x="5030" y="1041"/>
                    </a:lnTo>
                    <a:lnTo>
                      <a:pt x="4957" y="1007"/>
                    </a:lnTo>
                    <a:lnTo>
                      <a:pt x="4890" y="1044"/>
                    </a:lnTo>
                    <a:lnTo>
                      <a:pt x="4890" y="1011"/>
                    </a:lnTo>
                    <a:lnTo>
                      <a:pt x="4851" y="1045"/>
                    </a:lnTo>
                    <a:lnTo>
                      <a:pt x="4804" y="1043"/>
                    </a:lnTo>
                    <a:lnTo>
                      <a:pt x="4753" y="1131"/>
                    </a:lnTo>
                    <a:lnTo>
                      <a:pt x="4793" y="1148"/>
                    </a:lnTo>
                    <a:lnTo>
                      <a:pt x="4777" y="1177"/>
                    </a:lnTo>
                    <a:lnTo>
                      <a:pt x="4796" y="1223"/>
                    </a:lnTo>
                    <a:lnTo>
                      <a:pt x="4762" y="1214"/>
                    </a:lnTo>
                    <a:lnTo>
                      <a:pt x="4741" y="1254"/>
                    </a:lnTo>
                    <a:lnTo>
                      <a:pt x="4755" y="1290"/>
                    </a:lnTo>
                    <a:lnTo>
                      <a:pt x="4682" y="1320"/>
                    </a:lnTo>
                    <a:lnTo>
                      <a:pt x="4687" y="1360"/>
                    </a:lnTo>
                    <a:lnTo>
                      <a:pt x="4639" y="1371"/>
                    </a:lnTo>
                    <a:lnTo>
                      <a:pt x="4626" y="1415"/>
                    </a:lnTo>
                    <a:lnTo>
                      <a:pt x="4582" y="1462"/>
                    </a:lnTo>
                    <a:lnTo>
                      <a:pt x="4545" y="1290"/>
                    </a:lnTo>
                    <a:lnTo>
                      <a:pt x="4549" y="1198"/>
                    </a:lnTo>
                    <a:lnTo>
                      <a:pt x="4582" y="1143"/>
                    </a:lnTo>
                    <a:lnTo>
                      <a:pt x="4633" y="1132"/>
                    </a:lnTo>
                    <a:lnTo>
                      <a:pt x="4751" y="1016"/>
                    </a:lnTo>
                    <a:lnTo>
                      <a:pt x="4807" y="993"/>
                    </a:lnTo>
                    <a:lnTo>
                      <a:pt x="4826" y="926"/>
                    </a:lnTo>
                    <a:lnTo>
                      <a:pt x="4851" y="908"/>
                    </a:lnTo>
                    <a:lnTo>
                      <a:pt x="4806" y="906"/>
                    </a:lnTo>
                    <a:lnTo>
                      <a:pt x="4792" y="961"/>
                    </a:lnTo>
                    <a:lnTo>
                      <a:pt x="4692" y="1008"/>
                    </a:lnTo>
                    <a:lnTo>
                      <a:pt x="4701" y="938"/>
                    </a:lnTo>
                    <a:lnTo>
                      <a:pt x="4594" y="953"/>
                    </a:lnTo>
                    <a:lnTo>
                      <a:pt x="4492" y="1044"/>
                    </a:lnTo>
                    <a:lnTo>
                      <a:pt x="4512" y="1081"/>
                    </a:lnTo>
                    <a:lnTo>
                      <a:pt x="4403" y="1093"/>
                    </a:lnTo>
                    <a:lnTo>
                      <a:pt x="4389" y="1082"/>
                    </a:lnTo>
                    <a:lnTo>
                      <a:pt x="4426" y="1077"/>
                    </a:lnTo>
                    <a:lnTo>
                      <a:pt x="4336" y="1054"/>
                    </a:lnTo>
                    <a:lnTo>
                      <a:pt x="4311" y="1077"/>
                    </a:lnTo>
                    <a:lnTo>
                      <a:pt x="4106" y="1078"/>
                    </a:lnTo>
                    <a:lnTo>
                      <a:pt x="3862" y="1287"/>
                    </a:lnTo>
                    <a:lnTo>
                      <a:pt x="3911" y="1296"/>
                    </a:lnTo>
                    <a:lnTo>
                      <a:pt x="3911" y="1333"/>
                    </a:lnTo>
                    <a:lnTo>
                      <a:pt x="3940" y="1309"/>
                    </a:lnTo>
                    <a:lnTo>
                      <a:pt x="3932" y="1341"/>
                    </a:lnTo>
                    <a:lnTo>
                      <a:pt x="3969" y="1323"/>
                    </a:lnTo>
                    <a:lnTo>
                      <a:pt x="3965" y="1344"/>
                    </a:lnTo>
                    <a:lnTo>
                      <a:pt x="3976" y="1309"/>
                    </a:lnTo>
                    <a:lnTo>
                      <a:pt x="4011" y="1311"/>
                    </a:lnTo>
                    <a:lnTo>
                      <a:pt x="4064" y="1355"/>
                    </a:lnTo>
                    <a:lnTo>
                      <a:pt x="4017" y="1359"/>
                    </a:lnTo>
                    <a:lnTo>
                      <a:pt x="4058" y="1373"/>
                    </a:lnTo>
                    <a:lnTo>
                      <a:pt x="4068" y="1403"/>
                    </a:lnTo>
                    <a:lnTo>
                      <a:pt x="4035" y="1469"/>
                    </a:lnTo>
                    <a:lnTo>
                      <a:pt x="4028" y="1568"/>
                    </a:lnTo>
                    <a:lnTo>
                      <a:pt x="3856" y="1776"/>
                    </a:lnTo>
                    <a:lnTo>
                      <a:pt x="3796" y="1803"/>
                    </a:lnTo>
                    <a:lnTo>
                      <a:pt x="3749" y="1776"/>
                    </a:lnTo>
                    <a:lnTo>
                      <a:pt x="3708" y="1816"/>
                    </a:lnTo>
                    <a:lnTo>
                      <a:pt x="3703" y="1807"/>
                    </a:lnTo>
                    <a:lnTo>
                      <a:pt x="3727" y="1776"/>
                    </a:lnTo>
                    <a:lnTo>
                      <a:pt x="3717" y="1723"/>
                    </a:lnTo>
                    <a:lnTo>
                      <a:pt x="3790" y="1703"/>
                    </a:lnTo>
                    <a:lnTo>
                      <a:pt x="3848" y="1564"/>
                    </a:lnTo>
                    <a:lnTo>
                      <a:pt x="3723" y="1597"/>
                    </a:lnTo>
                    <a:lnTo>
                      <a:pt x="3703" y="1545"/>
                    </a:lnTo>
                    <a:lnTo>
                      <a:pt x="3602" y="1513"/>
                    </a:lnTo>
                    <a:lnTo>
                      <a:pt x="3540" y="1370"/>
                    </a:lnTo>
                    <a:lnTo>
                      <a:pt x="3473" y="1344"/>
                    </a:lnTo>
                    <a:lnTo>
                      <a:pt x="3352" y="1382"/>
                    </a:lnTo>
                    <a:lnTo>
                      <a:pt x="3375" y="1413"/>
                    </a:lnTo>
                    <a:lnTo>
                      <a:pt x="3326" y="1498"/>
                    </a:lnTo>
                    <a:lnTo>
                      <a:pt x="3277" y="1520"/>
                    </a:lnTo>
                    <a:lnTo>
                      <a:pt x="3227" y="1501"/>
                    </a:lnTo>
                    <a:lnTo>
                      <a:pt x="3166" y="1491"/>
                    </a:lnTo>
                    <a:lnTo>
                      <a:pt x="3008" y="1529"/>
                    </a:lnTo>
                    <a:lnTo>
                      <a:pt x="2869" y="1473"/>
                    </a:lnTo>
                    <a:lnTo>
                      <a:pt x="2780" y="1481"/>
                    </a:lnTo>
                    <a:lnTo>
                      <a:pt x="2747" y="1435"/>
                    </a:lnTo>
                    <a:lnTo>
                      <a:pt x="2659" y="1403"/>
                    </a:lnTo>
                    <a:lnTo>
                      <a:pt x="2612" y="1436"/>
                    </a:lnTo>
                    <a:lnTo>
                      <a:pt x="2610" y="1499"/>
                    </a:lnTo>
                    <a:lnTo>
                      <a:pt x="2409" y="1472"/>
                    </a:lnTo>
                    <a:lnTo>
                      <a:pt x="2303" y="1529"/>
                    </a:lnTo>
                    <a:lnTo>
                      <a:pt x="2247" y="1553"/>
                    </a:lnTo>
                    <a:lnTo>
                      <a:pt x="2175" y="1507"/>
                    </a:lnTo>
                    <a:lnTo>
                      <a:pt x="2130" y="1532"/>
                    </a:lnTo>
                    <a:lnTo>
                      <a:pt x="2045" y="1501"/>
                    </a:lnTo>
                    <a:lnTo>
                      <a:pt x="2013" y="1498"/>
                    </a:lnTo>
                    <a:lnTo>
                      <a:pt x="1988" y="1448"/>
                    </a:lnTo>
                    <a:lnTo>
                      <a:pt x="1943" y="1448"/>
                    </a:lnTo>
                    <a:lnTo>
                      <a:pt x="1924" y="1457"/>
                    </a:lnTo>
                    <a:lnTo>
                      <a:pt x="1888" y="1419"/>
                    </a:lnTo>
                    <a:lnTo>
                      <a:pt x="1863" y="1429"/>
                    </a:lnTo>
                    <a:lnTo>
                      <a:pt x="1840" y="1441"/>
                    </a:lnTo>
                    <a:lnTo>
                      <a:pt x="1747" y="1363"/>
                    </a:lnTo>
                    <a:lnTo>
                      <a:pt x="1719" y="1356"/>
                    </a:lnTo>
                    <a:lnTo>
                      <a:pt x="1656" y="1297"/>
                    </a:lnTo>
                    <a:lnTo>
                      <a:pt x="1597" y="1333"/>
                    </a:lnTo>
                    <a:lnTo>
                      <a:pt x="1586" y="1308"/>
                    </a:lnTo>
                    <a:lnTo>
                      <a:pt x="1498" y="1305"/>
                    </a:lnTo>
                    <a:lnTo>
                      <a:pt x="1465" y="1261"/>
                    </a:lnTo>
                    <a:lnTo>
                      <a:pt x="1418" y="1265"/>
                    </a:lnTo>
                    <a:lnTo>
                      <a:pt x="1402" y="1283"/>
                    </a:lnTo>
                    <a:lnTo>
                      <a:pt x="1342" y="1294"/>
                    </a:lnTo>
                    <a:lnTo>
                      <a:pt x="1326" y="1283"/>
                    </a:lnTo>
                    <a:lnTo>
                      <a:pt x="1304" y="1316"/>
                    </a:lnTo>
                    <a:lnTo>
                      <a:pt x="1286" y="1308"/>
                    </a:lnTo>
                    <a:lnTo>
                      <a:pt x="1216" y="1318"/>
                    </a:lnTo>
                    <a:lnTo>
                      <a:pt x="1193" y="1308"/>
                    </a:lnTo>
                    <a:lnTo>
                      <a:pt x="1184" y="1318"/>
                    </a:lnTo>
                    <a:lnTo>
                      <a:pt x="1220" y="1356"/>
                    </a:lnTo>
                    <a:lnTo>
                      <a:pt x="1195" y="1378"/>
                    </a:lnTo>
                    <a:lnTo>
                      <a:pt x="1198" y="1410"/>
                    </a:lnTo>
                    <a:lnTo>
                      <a:pt x="1238" y="1411"/>
                    </a:lnTo>
                    <a:lnTo>
                      <a:pt x="1255" y="1441"/>
                    </a:lnTo>
                    <a:lnTo>
                      <a:pt x="1245" y="1463"/>
                    </a:lnTo>
                    <a:lnTo>
                      <a:pt x="1216" y="1448"/>
                    </a:lnTo>
                    <a:lnTo>
                      <a:pt x="1193" y="1462"/>
                    </a:lnTo>
                    <a:lnTo>
                      <a:pt x="1171" y="1450"/>
                    </a:lnTo>
                    <a:lnTo>
                      <a:pt x="1160" y="1429"/>
                    </a:lnTo>
                    <a:lnTo>
                      <a:pt x="1132" y="1441"/>
                    </a:lnTo>
                    <a:lnTo>
                      <a:pt x="1112" y="1430"/>
                    </a:lnTo>
                    <a:lnTo>
                      <a:pt x="1090" y="1448"/>
                    </a:lnTo>
                    <a:lnTo>
                      <a:pt x="1058" y="1452"/>
                    </a:lnTo>
                    <a:lnTo>
                      <a:pt x="1040" y="1429"/>
                    </a:lnTo>
                    <a:lnTo>
                      <a:pt x="932" y="1422"/>
                    </a:lnTo>
                    <a:lnTo>
                      <a:pt x="919" y="1435"/>
                    </a:lnTo>
                    <a:lnTo>
                      <a:pt x="908" y="1433"/>
                    </a:lnTo>
                    <a:lnTo>
                      <a:pt x="893" y="1458"/>
                    </a:lnTo>
                    <a:lnTo>
                      <a:pt x="894" y="1483"/>
                    </a:lnTo>
                    <a:lnTo>
                      <a:pt x="882" y="1484"/>
                    </a:lnTo>
                    <a:lnTo>
                      <a:pt x="872" y="1463"/>
                    </a:lnTo>
                    <a:lnTo>
                      <a:pt x="857" y="1466"/>
                    </a:lnTo>
                    <a:lnTo>
                      <a:pt x="853" y="1536"/>
                    </a:lnTo>
                    <a:lnTo>
                      <a:pt x="870" y="1558"/>
                    </a:lnTo>
                    <a:lnTo>
                      <a:pt x="870" y="1578"/>
                    </a:lnTo>
                    <a:lnTo>
                      <a:pt x="888" y="1575"/>
                    </a:lnTo>
                    <a:lnTo>
                      <a:pt x="908" y="1565"/>
                    </a:lnTo>
                    <a:lnTo>
                      <a:pt x="929" y="1597"/>
                    </a:lnTo>
                    <a:lnTo>
                      <a:pt x="944" y="1617"/>
                    </a:lnTo>
                    <a:lnTo>
                      <a:pt x="959" y="1644"/>
                    </a:lnTo>
                    <a:lnTo>
                      <a:pt x="982" y="1651"/>
                    </a:lnTo>
                    <a:lnTo>
                      <a:pt x="952" y="1671"/>
                    </a:lnTo>
                    <a:lnTo>
                      <a:pt x="930" y="1652"/>
                    </a:lnTo>
                    <a:lnTo>
                      <a:pt x="907" y="1732"/>
                    </a:lnTo>
                    <a:lnTo>
                      <a:pt x="934" y="1752"/>
                    </a:lnTo>
                    <a:lnTo>
                      <a:pt x="958" y="1829"/>
                    </a:lnTo>
                    <a:lnTo>
                      <a:pt x="936" y="1816"/>
                    </a:lnTo>
                    <a:lnTo>
                      <a:pt x="914" y="1807"/>
                    </a:lnTo>
                    <a:lnTo>
                      <a:pt x="888" y="1803"/>
                    </a:lnTo>
                    <a:lnTo>
                      <a:pt x="870" y="1795"/>
                    </a:lnTo>
                    <a:lnTo>
                      <a:pt x="852" y="1792"/>
                    </a:lnTo>
                    <a:lnTo>
                      <a:pt x="837" y="1765"/>
                    </a:lnTo>
                    <a:lnTo>
                      <a:pt x="802" y="1781"/>
                    </a:lnTo>
                    <a:lnTo>
                      <a:pt x="771" y="1780"/>
                    </a:lnTo>
                    <a:lnTo>
                      <a:pt x="750" y="1756"/>
                    </a:lnTo>
                    <a:lnTo>
                      <a:pt x="697" y="1734"/>
                    </a:lnTo>
                    <a:lnTo>
                      <a:pt x="643" y="1739"/>
                    </a:lnTo>
                    <a:lnTo>
                      <a:pt x="587" y="1700"/>
                    </a:lnTo>
                    <a:lnTo>
                      <a:pt x="631" y="1664"/>
                    </a:lnTo>
                    <a:lnTo>
                      <a:pt x="636" y="1634"/>
                    </a:lnTo>
                    <a:lnTo>
                      <a:pt x="635" y="1604"/>
                    </a:lnTo>
                    <a:lnTo>
                      <a:pt x="639" y="1580"/>
                    </a:lnTo>
                    <a:lnTo>
                      <a:pt x="668" y="1572"/>
                    </a:lnTo>
                    <a:lnTo>
                      <a:pt x="653" y="1525"/>
                    </a:lnTo>
                    <a:lnTo>
                      <a:pt x="618" y="1513"/>
                    </a:lnTo>
                    <a:lnTo>
                      <a:pt x="602" y="1505"/>
                    </a:lnTo>
                    <a:lnTo>
                      <a:pt x="578" y="1512"/>
                    </a:lnTo>
                    <a:lnTo>
                      <a:pt x="529" y="1499"/>
                    </a:lnTo>
                    <a:lnTo>
                      <a:pt x="489" y="1454"/>
                    </a:lnTo>
                    <a:lnTo>
                      <a:pt x="457" y="1440"/>
                    </a:lnTo>
                    <a:lnTo>
                      <a:pt x="442" y="1397"/>
                    </a:lnTo>
                    <a:lnTo>
                      <a:pt x="413" y="1393"/>
                    </a:lnTo>
                    <a:lnTo>
                      <a:pt x="387" y="1407"/>
                    </a:lnTo>
                    <a:lnTo>
                      <a:pt x="369" y="1415"/>
                    </a:lnTo>
                    <a:lnTo>
                      <a:pt x="361" y="1396"/>
                    </a:lnTo>
                    <a:lnTo>
                      <a:pt x="347" y="1377"/>
                    </a:lnTo>
                    <a:lnTo>
                      <a:pt x="386" y="1374"/>
                    </a:lnTo>
                    <a:lnTo>
                      <a:pt x="383" y="1362"/>
                    </a:lnTo>
                    <a:lnTo>
                      <a:pt x="374" y="1352"/>
                    </a:lnTo>
                    <a:lnTo>
                      <a:pt x="361" y="1342"/>
                    </a:lnTo>
                    <a:lnTo>
                      <a:pt x="341" y="1294"/>
                    </a:lnTo>
                    <a:lnTo>
                      <a:pt x="312" y="1268"/>
                    </a:lnTo>
                    <a:lnTo>
                      <a:pt x="282" y="1267"/>
                    </a:lnTo>
                    <a:lnTo>
                      <a:pt x="253" y="1267"/>
                    </a:lnTo>
                    <a:lnTo>
                      <a:pt x="231" y="1252"/>
                    </a:lnTo>
                    <a:lnTo>
                      <a:pt x="211" y="1249"/>
                    </a:lnTo>
                    <a:lnTo>
                      <a:pt x="194" y="1249"/>
                    </a:lnTo>
                    <a:lnTo>
                      <a:pt x="183" y="1261"/>
                    </a:lnTo>
                    <a:lnTo>
                      <a:pt x="162" y="1282"/>
                    </a:lnTo>
                    <a:lnTo>
                      <a:pt x="159" y="1303"/>
                    </a:lnTo>
                    <a:lnTo>
                      <a:pt x="150" y="1308"/>
                    </a:lnTo>
                    <a:lnTo>
                      <a:pt x="139" y="1341"/>
                    </a:lnTo>
                    <a:lnTo>
                      <a:pt x="130" y="1331"/>
                    </a:lnTo>
                    <a:lnTo>
                      <a:pt x="126" y="1319"/>
                    </a:lnTo>
                    <a:lnTo>
                      <a:pt x="0" y="1300"/>
                    </a:lnTo>
                    <a:close/>
                  </a:path>
                </a:pathLst>
              </a:custGeom>
              <a:solidFill>
                <a:srgbClr val="C0C0C0">
                  <a:alpha val="39999"/>
                </a:srgbClr>
              </a:solidFill>
              <a:ln w="3175">
                <a:solidFill>
                  <a:srgbClr val="C0C0C0"/>
                </a:solid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825" b="0" i="0" u="none" strike="noStrike" kern="0" cap="none" spc="0" normalizeH="0" baseline="0" noProof="0">
                  <a:ln>
                    <a:noFill/>
                  </a:ln>
                  <a:solidFill>
                    <a:srgbClr val="000000"/>
                  </a:solidFill>
                  <a:effectLst/>
                  <a:uLnTx/>
                  <a:uFillTx/>
                  <a:latin typeface="Arial"/>
                  <a:cs typeface="+mn-cs"/>
                </a:endParaRPr>
              </a:p>
            </p:txBody>
          </p:sp>
          <p:sp>
            <p:nvSpPr>
              <p:cNvPr id="551" name="16296473.25698.62511.7510.755">
                <a:extLst>
                  <a:ext uri="{FF2B5EF4-FFF2-40B4-BE49-F238E27FC236}">
                    <a16:creationId xmlns:a16="http://schemas.microsoft.com/office/drawing/2014/main" id="{705CFAFC-1A8C-7A45-5D51-CDF94D109A01}"/>
                  </a:ext>
                </a:extLst>
              </p:cNvPr>
              <p:cNvSpPr>
                <a:spLocks/>
              </p:cNvSpPr>
              <p:nvPr/>
            </p:nvSpPr>
            <p:spPr bwMode="auto">
              <a:xfrm>
                <a:off x="9141554" y="5329382"/>
                <a:ext cx="173629" cy="185494"/>
              </a:xfrm>
              <a:custGeom>
                <a:avLst/>
                <a:gdLst>
                  <a:gd name="T0" fmla="*/ 0 w 257"/>
                  <a:gd name="T1" fmla="*/ 0 h 243"/>
                  <a:gd name="T2" fmla="*/ 1 w 257"/>
                  <a:gd name="T3" fmla="*/ 0 h 243"/>
                  <a:gd name="T4" fmla="*/ 1 w 257"/>
                  <a:gd name="T5" fmla="*/ 0 h 243"/>
                  <a:gd name="T6" fmla="*/ 1 w 257"/>
                  <a:gd name="T7" fmla="*/ 0 h 243"/>
                  <a:gd name="T8" fmla="*/ 1 w 257"/>
                  <a:gd name="T9" fmla="*/ 0 h 243"/>
                  <a:gd name="T10" fmla="*/ 1 w 257"/>
                  <a:gd name="T11" fmla="*/ 0 h 243"/>
                  <a:gd name="T12" fmla="*/ 1 w 257"/>
                  <a:gd name="T13" fmla="*/ 0 h 243"/>
                  <a:gd name="T14" fmla="*/ 1 w 257"/>
                  <a:gd name="T15" fmla="*/ 0 h 243"/>
                  <a:gd name="T16" fmla="*/ 1 w 257"/>
                  <a:gd name="T17" fmla="*/ 0 h 243"/>
                  <a:gd name="T18" fmla="*/ 1 w 257"/>
                  <a:gd name="T19" fmla="*/ 0 h 243"/>
                  <a:gd name="T20" fmla="*/ 1 w 257"/>
                  <a:gd name="T21" fmla="*/ 0 h 243"/>
                  <a:gd name="T22" fmla="*/ 1 w 257"/>
                  <a:gd name="T23" fmla="*/ 0 h 243"/>
                  <a:gd name="T24" fmla="*/ 0 w 257"/>
                  <a:gd name="T25" fmla="*/ 0 h 2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7"/>
                  <a:gd name="T40" fmla="*/ 0 h 243"/>
                  <a:gd name="T41" fmla="*/ 257 w 257"/>
                  <a:gd name="T42" fmla="*/ 243 h 24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7" h="243">
                    <a:moveTo>
                      <a:pt x="0" y="212"/>
                    </a:moveTo>
                    <a:lnTo>
                      <a:pt x="54" y="138"/>
                    </a:lnTo>
                    <a:lnTo>
                      <a:pt x="147" y="83"/>
                    </a:lnTo>
                    <a:lnTo>
                      <a:pt x="194" y="0"/>
                    </a:lnTo>
                    <a:lnTo>
                      <a:pt x="223" y="25"/>
                    </a:lnTo>
                    <a:lnTo>
                      <a:pt x="254" y="14"/>
                    </a:lnTo>
                    <a:lnTo>
                      <a:pt x="257" y="43"/>
                    </a:lnTo>
                    <a:lnTo>
                      <a:pt x="209" y="101"/>
                    </a:lnTo>
                    <a:lnTo>
                      <a:pt x="220" y="127"/>
                    </a:lnTo>
                    <a:lnTo>
                      <a:pt x="165" y="137"/>
                    </a:lnTo>
                    <a:lnTo>
                      <a:pt x="139" y="218"/>
                    </a:lnTo>
                    <a:lnTo>
                      <a:pt x="83" y="243"/>
                    </a:lnTo>
                    <a:lnTo>
                      <a:pt x="0" y="212"/>
                    </a:lnTo>
                    <a:close/>
                  </a:path>
                </a:pathLst>
              </a:custGeom>
              <a:solidFill>
                <a:srgbClr val="E6E6E6"/>
              </a:solidFill>
              <a:ln w="3175">
                <a:noFill/>
                <a:round/>
                <a:headEnd/>
                <a:tailEnd/>
              </a:ln>
            </p:spPr>
            <p:txBody>
              <a:bodyPr/>
              <a:lstStyle/>
              <a:p>
                <a:pPr marL="0" marR="0" lvl="0" indent="0" defTabSz="844083"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000000"/>
                  </a:solidFill>
                  <a:effectLst/>
                  <a:uLnTx/>
                  <a:uFillTx/>
                  <a:latin typeface="Arial"/>
                  <a:cs typeface="+mn-cs"/>
                </a:endParaRPr>
              </a:p>
            </p:txBody>
          </p:sp>
          <p:sp>
            <p:nvSpPr>
              <p:cNvPr id="552" name="Rectangle 644">
                <a:extLst>
                  <a:ext uri="{FF2B5EF4-FFF2-40B4-BE49-F238E27FC236}">
                    <a16:creationId xmlns:a16="http://schemas.microsoft.com/office/drawing/2014/main" id="{268E4682-B6F7-2635-7AA1-49A974746472}"/>
                  </a:ext>
                </a:extLst>
              </p:cNvPr>
              <p:cNvSpPr>
                <a:spLocks noChangeArrowheads="1"/>
              </p:cNvSpPr>
              <p:nvPr/>
            </p:nvSpPr>
            <p:spPr bwMode="auto">
              <a:xfrm>
                <a:off x="8232804" y="5020715"/>
                <a:ext cx="1266127" cy="234800"/>
              </a:xfrm>
              <a:prstGeom prst="rect">
                <a:avLst/>
              </a:prstGeom>
              <a:noFill/>
              <a:ln w="9525">
                <a:noFill/>
                <a:miter lim="800000"/>
                <a:headEnd/>
                <a:tailEnd/>
              </a:ln>
            </p:spPr>
            <p:txBody>
              <a:bodyPr wrap="square"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725" b="0" i="0" u="none" strike="noStrike" kern="0" cap="none" spc="0" normalizeH="0" baseline="0" noProof="0">
                    <a:ln>
                      <a:noFill/>
                    </a:ln>
                    <a:solidFill>
                      <a:srgbClr val="A40000"/>
                    </a:solidFill>
                    <a:effectLst/>
                    <a:uLnTx/>
                    <a:uFillTx/>
                    <a:latin typeface="Arial"/>
                    <a:cs typeface="+mn-cs"/>
                  </a:rPr>
                  <a:t>Australia</a:t>
                </a:r>
              </a:p>
            </p:txBody>
          </p:sp>
          <p:sp>
            <p:nvSpPr>
              <p:cNvPr id="553" name="Rectangle 644">
                <a:extLst>
                  <a:ext uri="{FF2B5EF4-FFF2-40B4-BE49-F238E27FC236}">
                    <a16:creationId xmlns:a16="http://schemas.microsoft.com/office/drawing/2014/main" id="{0BA5C27C-B2D2-A66C-C4E9-52B607CB7AE0}"/>
                  </a:ext>
                </a:extLst>
              </p:cNvPr>
              <p:cNvSpPr>
                <a:spLocks noChangeArrowheads="1"/>
              </p:cNvSpPr>
              <p:nvPr/>
            </p:nvSpPr>
            <p:spPr bwMode="auto">
              <a:xfrm>
                <a:off x="7911191" y="3669081"/>
                <a:ext cx="740927" cy="234800"/>
              </a:xfrm>
              <a:prstGeom prst="rect">
                <a:avLst/>
              </a:prstGeom>
              <a:noFill/>
              <a:ln w="9525">
                <a:noFill/>
                <a:miter lim="800000"/>
                <a:headEnd/>
                <a:tailEnd/>
              </a:ln>
            </p:spPr>
            <p:txBody>
              <a:bodyPr wrap="square"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725" b="0" i="0" u="none" strike="noStrike" kern="0" cap="none" spc="0" normalizeH="0" baseline="0" noProof="0">
                    <a:ln>
                      <a:noFill/>
                    </a:ln>
                    <a:solidFill>
                      <a:srgbClr val="A40000"/>
                    </a:solidFill>
                    <a:effectLst/>
                    <a:uLnTx/>
                    <a:uFillTx/>
                    <a:latin typeface="Arial"/>
                    <a:cs typeface="+mn-cs"/>
                  </a:rPr>
                  <a:t>Vietnam</a:t>
                </a:r>
              </a:p>
            </p:txBody>
          </p:sp>
          <p:sp>
            <p:nvSpPr>
              <p:cNvPr id="554" name="Rectangle 644">
                <a:extLst>
                  <a:ext uri="{FF2B5EF4-FFF2-40B4-BE49-F238E27FC236}">
                    <a16:creationId xmlns:a16="http://schemas.microsoft.com/office/drawing/2014/main" id="{7C4FE42A-6AE2-3B77-18F3-09EED168B413}"/>
                  </a:ext>
                </a:extLst>
              </p:cNvPr>
              <p:cNvSpPr>
                <a:spLocks noChangeArrowheads="1"/>
              </p:cNvSpPr>
              <p:nvPr/>
            </p:nvSpPr>
            <p:spPr bwMode="auto">
              <a:xfrm>
                <a:off x="7227657" y="3378533"/>
                <a:ext cx="836425" cy="234800"/>
              </a:xfrm>
              <a:prstGeom prst="rect">
                <a:avLst/>
              </a:prstGeom>
              <a:noFill/>
              <a:ln w="9525">
                <a:noFill/>
                <a:miter lim="800000"/>
                <a:headEnd/>
                <a:tailEnd/>
              </a:ln>
            </p:spPr>
            <p:txBody>
              <a:bodyPr wrap="square"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725" b="0" i="0" u="none" strike="noStrike" kern="0" cap="none" spc="0" normalizeH="0" baseline="0" noProof="0">
                    <a:ln>
                      <a:noFill/>
                    </a:ln>
                    <a:solidFill>
                      <a:srgbClr val="A40000"/>
                    </a:solidFill>
                    <a:effectLst/>
                    <a:uLnTx/>
                    <a:uFillTx/>
                    <a:latin typeface="Arial"/>
                    <a:cs typeface="+mn-cs"/>
                  </a:rPr>
                  <a:t>Myanmar</a:t>
                </a:r>
              </a:p>
            </p:txBody>
          </p:sp>
          <p:sp>
            <p:nvSpPr>
              <p:cNvPr id="555" name="Rectangle 644">
                <a:extLst>
                  <a:ext uri="{FF2B5EF4-FFF2-40B4-BE49-F238E27FC236}">
                    <a16:creationId xmlns:a16="http://schemas.microsoft.com/office/drawing/2014/main" id="{514E78F9-9B57-AB15-5E75-7CBAAC6B4CEE}"/>
                  </a:ext>
                </a:extLst>
              </p:cNvPr>
              <p:cNvSpPr>
                <a:spLocks noChangeArrowheads="1"/>
              </p:cNvSpPr>
              <p:nvPr/>
            </p:nvSpPr>
            <p:spPr bwMode="auto">
              <a:xfrm>
                <a:off x="7840583" y="2955400"/>
                <a:ext cx="836425" cy="250133"/>
              </a:xfrm>
              <a:prstGeom prst="rect">
                <a:avLst/>
              </a:prstGeom>
              <a:noFill/>
              <a:ln w="9525">
                <a:noFill/>
                <a:miter lim="800000"/>
                <a:headEnd/>
                <a:tailEnd/>
              </a:ln>
            </p:spPr>
            <p:txBody>
              <a:bodyPr wrap="square"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A40000"/>
                    </a:solidFill>
                    <a:effectLst/>
                    <a:uLnTx/>
                    <a:uFillTx/>
                    <a:latin typeface="Arial"/>
                    <a:cs typeface="+mn-cs"/>
                  </a:rPr>
                  <a:t>S. Korea</a:t>
                </a:r>
              </a:p>
            </p:txBody>
          </p:sp>
          <p:pic>
            <p:nvPicPr>
              <p:cNvPr id="556" name="Picture 15" descr="DBS-LOGO-STAR.png">
                <a:extLst>
                  <a:ext uri="{FF2B5EF4-FFF2-40B4-BE49-F238E27FC236}">
                    <a16:creationId xmlns:a16="http://schemas.microsoft.com/office/drawing/2014/main" id="{C8929CBC-119D-44BB-2920-09FE27AC6AB9}"/>
                  </a:ext>
                </a:extLst>
              </p:cNvPr>
              <p:cNvPicPr>
                <a:picLocks noChangeAspect="1"/>
              </p:cNvPicPr>
              <p:nvPr/>
            </p:nvPicPr>
            <p:blipFill>
              <a:blip r:embed="rId2" cstate="print"/>
              <a:srcRect/>
              <a:stretch>
                <a:fillRect/>
              </a:stretch>
            </p:blipFill>
            <p:spPr bwMode="auto">
              <a:xfrm>
                <a:off x="7919226" y="1540235"/>
                <a:ext cx="169743" cy="163713"/>
              </a:xfrm>
              <a:prstGeom prst="rect">
                <a:avLst/>
              </a:prstGeom>
              <a:noFill/>
              <a:ln w="9525">
                <a:noFill/>
                <a:miter lim="800000"/>
                <a:headEnd/>
                <a:tailEnd/>
              </a:ln>
            </p:spPr>
          </p:pic>
          <p:pic>
            <p:nvPicPr>
              <p:cNvPr id="557" name="Picture 15" descr="DBS-LOGO-STAR.png">
                <a:extLst>
                  <a:ext uri="{FF2B5EF4-FFF2-40B4-BE49-F238E27FC236}">
                    <a16:creationId xmlns:a16="http://schemas.microsoft.com/office/drawing/2014/main" id="{7581876D-6680-804E-A6B8-54C1CCA74580}"/>
                  </a:ext>
                </a:extLst>
              </p:cNvPr>
              <p:cNvPicPr>
                <a:picLocks noChangeAspect="1"/>
              </p:cNvPicPr>
              <p:nvPr/>
            </p:nvPicPr>
            <p:blipFill>
              <a:blip r:embed="rId2" cstate="print"/>
              <a:srcRect/>
              <a:stretch>
                <a:fillRect/>
              </a:stretch>
            </p:blipFill>
            <p:spPr bwMode="auto">
              <a:xfrm>
                <a:off x="7534182" y="3565420"/>
                <a:ext cx="169742" cy="163713"/>
              </a:xfrm>
              <a:prstGeom prst="rect">
                <a:avLst/>
              </a:prstGeom>
              <a:noFill/>
              <a:ln w="9525">
                <a:noFill/>
                <a:miter lim="800000"/>
                <a:headEnd/>
                <a:tailEnd/>
              </a:ln>
            </p:spPr>
          </p:pic>
          <p:pic>
            <p:nvPicPr>
              <p:cNvPr id="558" name="Picture 15" descr="DBS-LOGO-STAR.png">
                <a:extLst>
                  <a:ext uri="{FF2B5EF4-FFF2-40B4-BE49-F238E27FC236}">
                    <a16:creationId xmlns:a16="http://schemas.microsoft.com/office/drawing/2014/main" id="{EC73B4AF-5C81-97A7-568F-EB39F6509877}"/>
                  </a:ext>
                </a:extLst>
              </p:cNvPr>
              <p:cNvPicPr>
                <a:picLocks noChangeAspect="1"/>
              </p:cNvPicPr>
              <p:nvPr/>
            </p:nvPicPr>
            <p:blipFill>
              <a:blip r:embed="rId2" cstate="print"/>
              <a:srcRect/>
              <a:stretch>
                <a:fillRect/>
              </a:stretch>
            </p:blipFill>
            <p:spPr bwMode="auto">
              <a:xfrm>
                <a:off x="8221193" y="3161891"/>
                <a:ext cx="169743" cy="163713"/>
              </a:xfrm>
              <a:prstGeom prst="rect">
                <a:avLst/>
              </a:prstGeom>
              <a:noFill/>
              <a:ln w="9525">
                <a:noFill/>
                <a:miter lim="800000"/>
                <a:headEnd/>
                <a:tailEnd/>
              </a:ln>
            </p:spPr>
          </p:pic>
          <p:pic>
            <p:nvPicPr>
              <p:cNvPr id="559" name="Picture 15" descr="DBS-LOGO-STAR.png">
                <a:extLst>
                  <a:ext uri="{FF2B5EF4-FFF2-40B4-BE49-F238E27FC236}">
                    <a16:creationId xmlns:a16="http://schemas.microsoft.com/office/drawing/2014/main" id="{F6CD6159-F41C-2002-6ED7-4371CF749561}"/>
                  </a:ext>
                </a:extLst>
              </p:cNvPr>
              <p:cNvPicPr>
                <a:picLocks noChangeAspect="1"/>
              </p:cNvPicPr>
              <p:nvPr/>
            </p:nvPicPr>
            <p:blipFill>
              <a:blip r:embed="rId2" cstate="print"/>
              <a:srcRect/>
              <a:stretch>
                <a:fillRect/>
              </a:stretch>
            </p:blipFill>
            <p:spPr bwMode="auto">
              <a:xfrm>
                <a:off x="8491169" y="3163573"/>
                <a:ext cx="169743" cy="163713"/>
              </a:xfrm>
              <a:prstGeom prst="rect">
                <a:avLst/>
              </a:prstGeom>
              <a:noFill/>
              <a:ln w="9525">
                <a:noFill/>
                <a:miter lim="800000"/>
                <a:headEnd/>
                <a:tailEnd/>
              </a:ln>
            </p:spPr>
          </p:pic>
          <p:pic>
            <p:nvPicPr>
              <p:cNvPr id="560" name="Picture 15" descr="DBS-LOGO-STAR.png">
                <a:extLst>
                  <a:ext uri="{FF2B5EF4-FFF2-40B4-BE49-F238E27FC236}">
                    <a16:creationId xmlns:a16="http://schemas.microsoft.com/office/drawing/2014/main" id="{A141DF49-A2F7-CC16-9F40-97A4923E9CED}"/>
                  </a:ext>
                </a:extLst>
              </p:cNvPr>
              <p:cNvPicPr>
                <a:picLocks noChangeAspect="1"/>
              </p:cNvPicPr>
              <p:nvPr/>
            </p:nvPicPr>
            <p:blipFill>
              <a:blip r:embed="rId2" cstate="print"/>
              <a:srcRect/>
              <a:stretch>
                <a:fillRect/>
              </a:stretch>
            </p:blipFill>
            <p:spPr bwMode="auto">
              <a:xfrm>
                <a:off x="7816265" y="3803544"/>
                <a:ext cx="169743" cy="163713"/>
              </a:xfrm>
              <a:prstGeom prst="rect">
                <a:avLst/>
              </a:prstGeom>
              <a:noFill/>
              <a:ln w="9525">
                <a:noFill/>
                <a:miter lim="800000"/>
                <a:headEnd/>
                <a:tailEnd/>
              </a:ln>
            </p:spPr>
          </p:pic>
          <p:pic>
            <p:nvPicPr>
              <p:cNvPr id="561" name="Picture 15" descr="DBS-LOGO-STAR.png">
                <a:extLst>
                  <a:ext uri="{FF2B5EF4-FFF2-40B4-BE49-F238E27FC236}">
                    <a16:creationId xmlns:a16="http://schemas.microsoft.com/office/drawing/2014/main" id="{87BC46AE-DF5E-CD6F-3A4B-C3FDB8525AF8}"/>
                  </a:ext>
                </a:extLst>
              </p:cNvPr>
              <p:cNvPicPr>
                <a:picLocks noChangeAspect="1"/>
              </p:cNvPicPr>
              <p:nvPr/>
            </p:nvPicPr>
            <p:blipFill>
              <a:blip r:embed="rId2" cstate="print"/>
              <a:srcRect/>
              <a:stretch>
                <a:fillRect/>
              </a:stretch>
            </p:blipFill>
            <p:spPr bwMode="auto">
              <a:xfrm>
                <a:off x="8122121" y="3894704"/>
                <a:ext cx="169743" cy="163713"/>
              </a:xfrm>
              <a:prstGeom prst="rect">
                <a:avLst/>
              </a:prstGeom>
              <a:noFill/>
              <a:ln w="9525">
                <a:noFill/>
                <a:miter lim="800000"/>
                <a:headEnd/>
                <a:tailEnd/>
              </a:ln>
            </p:spPr>
          </p:pic>
          <p:pic>
            <p:nvPicPr>
              <p:cNvPr id="562" name="Picture 15" descr="DBS-LOGO-STAR.png">
                <a:extLst>
                  <a:ext uri="{FF2B5EF4-FFF2-40B4-BE49-F238E27FC236}">
                    <a16:creationId xmlns:a16="http://schemas.microsoft.com/office/drawing/2014/main" id="{6931303B-B9CD-EDFB-01CC-380E3FC9449A}"/>
                  </a:ext>
                </a:extLst>
              </p:cNvPr>
              <p:cNvPicPr>
                <a:picLocks noChangeAspect="1"/>
              </p:cNvPicPr>
              <p:nvPr/>
            </p:nvPicPr>
            <p:blipFill>
              <a:blip r:embed="rId2" cstate="print"/>
              <a:srcRect/>
              <a:stretch>
                <a:fillRect/>
              </a:stretch>
            </p:blipFill>
            <p:spPr bwMode="auto">
              <a:xfrm>
                <a:off x="8591944" y="4909565"/>
                <a:ext cx="169743" cy="163713"/>
              </a:xfrm>
              <a:prstGeom prst="rect">
                <a:avLst/>
              </a:prstGeom>
              <a:noFill/>
              <a:ln w="9525">
                <a:noFill/>
                <a:miter lim="800000"/>
                <a:headEnd/>
                <a:tailEnd/>
              </a:ln>
            </p:spPr>
          </p:pic>
          <p:pic>
            <p:nvPicPr>
              <p:cNvPr id="563" name="Picture 15" descr="DBS-LOGO-STAR.png">
                <a:extLst>
                  <a:ext uri="{FF2B5EF4-FFF2-40B4-BE49-F238E27FC236}">
                    <a16:creationId xmlns:a16="http://schemas.microsoft.com/office/drawing/2014/main" id="{9AB16B52-8DE5-5C27-1A50-D8EECDCA34E9}"/>
                  </a:ext>
                </a:extLst>
              </p:cNvPr>
              <p:cNvPicPr>
                <a:picLocks noChangeAspect="1"/>
              </p:cNvPicPr>
              <p:nvPr/>
            </p:nvPicPr>
            <p:blipFill>
              <a:blip r:embed="rId2" cstate="print"/>
              <a:srcRect/>
              <a:stretch>
                <a:fillRect/>
              </a:stretch>
            </p:blipFill>
            <p:spPr bwMode="auto">
              <a:xfrm>
                <a:off x="8105153" y="3394159"/>
                <a:ext cx="169743" cy="163713"/>
              </a:xfrm>
              <a:prstGeom prst="rect">
                <a:avLst/>
              </a:prstGeom>
              <a:noFill/>
              <a:ln w="9525">
                <a:noFill/>
                <a:miter lim="800000"/>
                <a:headEnd/>
                <a:tailEnd/>
              </a:ln>
            </p:spPr>
          </p:pic>
          <p:sp>
            <p:nvSpPr>
              <p:cNvPr id="564" name="Rectangle 657">
                <a:extLst>
                  <a:ext uri="{FF2B5EF4-FFF2-40B4-BE49-F238E27FC236}">
                    <a16:creationId xmlns:a16="http://schemas.microsoft.com/office/drawing/2014/main" id="{5BD61B2A-63BC-BCCA-7C63-7CEE0249613A}"/>
                  </a:ext>
                </a:extLst>
              </p:cNvPr>
              <p:cNvSpPr>
                <a:spLocks noChangeArrowheads="1"/>
              </p:cNvSpPr>
              <p:nvPr/>
            </p:nvSpPr>
            <p:spPr bwMode="auto">
              <a:xfrm>
                <a:off x="8191409" y="3355810"/>
                <a:ext cx="1218523" cy="234800"/>
              </a:xfrm>
              <a:prstGeom prst="rect">
                <a:avLst/>
              </a:prstGeom>
              <a:noFill/>
              <a:ln w="9525">
                <a:noFill/>
                <a:miter lim="800000"/>
                <a:headEnd/>
                <a:tailEnd/>
              </a:ln>
            </p:spPr>
            <p:txBody>
              <a:bodyPr wrap="square" lIns="64541" tIns="32271" rIns="64541" bIns="32271">
                <a:spAutoFit/>
              </a:bodyPr>
              <a:lstStyle/>
              <a:p>
                <a:pPr marL="0" marR="0" lvl="0" indent="0" defTabSz="645581" eaLnBrk="1" fontAlgn="auto" latinLnBrk="0" hangingPunct="1">
                  <a:lnSpc>
                    <a:spcPct val="100000"/>
                  </a:lnSpc>
                  <a:spcBef>
                    <a:spcPts val="0"/>
                  </a:spcBef>
                  <a:spcAft>
                    <a:spcPts val="0"/>
                  </a:spcAft>
                  <a:buClrTx/>
                  <a:buSzTx/>
                  <a:buFontTx/>
                  <a:buNone/>
                  <a:tabLst/>
                  <a:defRPr/>
                </a:pPr>
                <a:r>
                  <a:rPr kumimoji="0" lang="en-US" sz="725" b="0" i="0" u="none" strike="noStrike" kern="0" cap="none" spc="0" normalizeH="0" baseline="0" noProof="0">
                    <a:ln>
                      <a:noFill/>
                    </a:ln>
                    <a:solidFill>
                      <a:srgbClr val="A40000"/>
                    </a:solidFill>
                    <a:effectLst/>
                    <a:uLnTx/>
                    <a:uFillTx/>
                    <a:latin typeface="Arial"/>
                    <a:cs typeface="+mn-cs"/>
                  </a:rPr>
                  <a:t>Taiwan</a:t>
                </a:r>
              </a:p>
            </p:txBody>
          </p:sp>
        </p:grpSp>
      </p:grpSp>
      <p:sp>
        <p:nvSpPr>
          <p:cNvPr id="292" name="Rectangle: Rounded Corners 291">
            <a:extLst>
              <a:ext uri="{FF2B5EF4-FFF2-40B4-BE49-F238E27FC236}">
                <a16:creationId xmlns:a16="http://schemas.microsoft.com/office/drawing/2014/main" id="{ECCED268-75D7-D030-1273-55D19EA9393E}"/>
              </a:ext>
            </a:extLst>
          </p:cNvPr>
          <p:cNvSpPr/>
          <p:nvPr/>
        </p:nvSpPr>
        <p:spPr bwMode="auto">
          <a:xfrm>
            <a:off x="453000" y="4769047"/>
            <a:ext cx="9134764" cy="1517453"/>
          </a:xfrm>
          <a:prstGeom prst="roundRect">
            <a:avLst>
              <a:gd name="adj" fmla="val 8231"/>
            </a:avLst>
          </a:prstGeom>
          <a:solidFill>
            <a:schemeClr val="bg1"/>
          </a:solidFill>
          <a:ln w="12700" cap="flat" cmpd="sng" algn="ctr">
            <a:solidFill>
              <a:schemeClr val="bg1">
                <a:lumMod val="75000"/>
              </a:schemeClr>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defTabSz="914400" eaLnBrk="0" fontAlgn="auto" latinLnBrk="0" hangingPunct="0">
              <a:lnSpc>
                <a:spcPct val="100000"/>
              </a:lnSpc>
              <a:spcBef>
                <a:spcPts val="0"/>
              </a:spcBef>
              <a:spcAft>
                <a:spcPts val="0"/>
              </a:spcAft>
              <a:buClrTx/>
              <a:buSzTx/>
              <a:buFontTx/>
              <a:buNone/>
              <a:tabLst/>
              <a:defRPr/>
            </a:pPr>
            <a:endParaRPr kumimoji="0" lang="en-SG" sz="1000" b="0" i="0" u="none" strike="noStrike" kern="0" cap="none" spc="0" normalizeH="0" baseline="0" noProof="0">
              <a:ln>
                <a:noFill/>
              </a:ln>
              <a:solidFill>
                <a:srgbClr val="000000"/>
              </a:solidFill>
              <a:effectLst/>
              <a:uLnTx/>
              <a:uFillTx/>
              <a:latin typeface="Arial" panose="020B0604020202020204" pitchFamily="34" charset="0"/>
              <a:cs typeface="+mn-cs"/>
            </a:endParaRPr>
          </a:p>
        </p:txBody>
      </p:sp>
      <p:sp>
        <p:nvSpPr>
          <p:cNvPr id="2" name="Title 1">
            <a:extLst>
              <a:ext uri="{FF2B5EF4-FFF2-40B4-BE49-F238E27FC236}">
                <a16:creationId xmlns:a16="http://schemas.microsoft.com/office/drawing/2014/main" id="{FDCC1874-9BDF-90AA-5D11-4228C292B3A0}"/>
              </a:ext>
            </a:extLst>
          </p:cNvPr>
          <p:cNvSpPr>
            <a:spLocks noGrp="1"/>
          </p:cNvSpPr>
          <p:nvPr>
            <p:ph type="title"/>
          </p:nvPr>
        </p:nvSpPr>
        <p:spPr/>
        <p:txBody>
          <a:bodyPr/>
          <a:lstStyle/>
          <a:p>
            <a:r>
              <a:rPr lang="en-US"/>
              <a:t>DBS offers differentiated access to Asian liquidity</a:t>
            </a:r>
          </a:p>
        </p:txBody>
      </p:sp>
      <p:sp>
        <p:nvSpPr>
          <p:cNvPr id="3" name="Slide Number Placeholder 2">
            <a:extLst>
              <a:ext uri="{FF2B5EF4-FFF2-40B4-BE49-F238E27FC236}">
                <a16:creationId xmlns:a16="http://schemas.microsoft.com/office/drawing/2014/main" id="{284700FD-24AA-78EE-8A50-8EB8BBBD6DEA}"/>
              </a:ext>
            </a:extLst>
          </p:cNvPr>
          <p:cNvSpPr>
            <a:spLocks noGrp="1"/>
          </p:cNvSpPr>
          <p:nvPr>
            <p:ph type="sldNum" sz="quarter" idx="11"/>
          </p:nvPr>
        </p:nvSpPr>
        <p:spPr/>
        <p:txBody>
          <a:bodyPr/>
          <a:lstStyle/>
          <a:p>
            <a:fld id="{EED7964B-8F50-47E5-B5EE-37748C966AF4}" type="slidenum">
              <a:rPr lang="en-US" smtClean="0"/>
              <a:pPr/>
              <a:t>31</a:t>
            </a:fld>
            <a:endParaRPr lang="en-US"/>
          </a:p>
        </p:txBody>
      </p:sp>
      <p:sp>
        <p:nvSpPr>
          <p:cNvPr id="4" name="Text Placeholder 3">
            <a:extLst>
              <a:ext uri="{FF2B5EF4-FFF2-40B4-BE49-F238E27FC236}">
                <a16:creationId xmlns:a16="http://schemas.microsoft.com/office/drawing/2014/main" id="{089BD0F7-B762-BBEF-9B14-2926C39847BA}"/>
              </a:ext>
            </a:extLst>
          </p:cNvPr>
          <p:cNvSpPr>
            <a:spLocks noGrp="1"/>
          </p:cNvSpPr>
          <p:nvPr>
            <p:ph type="body" sz="quarter" idx="46"/>
          </p:nvPr>
        </p:nvSpPr>
        <p:spPr/>
        <p:txBody>
          <a:bodyPr/>
          <a:lstStyle/>
          <a:p>
            <a:r>
              <a:rPr lang="en-US" sz="800"/>
              <a:t>As at September 2025</a:t>
            </a:r>
          </a:p>
        </p:txBody>
      </p:sp>
      <p:sp>
        <p:nvSpPr>
          <p:cNvPr id="565" name="Rectangle: Rounded Corners 564">
            <a:extLst>
              <a:ext uri="{FF2B5EF4-FFF2-40B4-BE49-F238E27FC236}">
                <a16:creationId xmlns:a16="http://schemas.microsoft.com/office/drawing/2014/main" id="{D7F0FDAA-3623-E571-2090-DC34AE3C7D4B}"/>
              </a:ext>
            </a:extLst>
          </p:cNvPr>
          <p:cNvSpPr/>
          <p:nvPr/>
        </p:nvSpPr>
        <p:spPr bwMode="gray">
          <a:xfrm>
            <a:off x="460056" y="1026011"/>
            <a:ext cx="2340294" cy="3258526"/>
          </a:xfrm>
          <a:prstGeom prst="roundRect">
            <a:avLst>
              <a:gd name="adj" fmla="val 4163"/>
            </a:avLst>
          </a:prstGeom>
          <a:solidFill>
            <a:srgbClr val="FFFFFF"/>
          </a:solidFill>
          <a:ln w="12700" cap="flat" cmpd="sng" algn="ctr">
            <a:solidFill>
              <a:schemeClr val="bg1">
                <a:lumMod val="75000"/>
              </a:schemeClr>
            </a:solidFill>
            <a:prstDash val="sysDash"/>
            <a:round/>
            <a:headEnd/>
            <a:tailEnd/>
          </a:ln>
          <a:effectLst/>
        </p:spPr>
        <p:txBody>
          <a:bodyPr lIns="90000" tIns="90000" rIns="90000" bIns="90000" rtlCol="0" anchor="ctr" anchorCtr="0"/>
          <a:lstStyle/>
          <a:p>
            <a:pPr marL="144145" marR="0" lvl="0" indent="-144145" defTabSz="844083" eaLnBrk="1" fontAlgn="auto" latinLnBrk="0" hangingPunct="1">
              <a:lnSpc>
                <a:spcPct val="100000"/>
              </a:lnSpc>
              <a:spcBef>
                <a:spcPts val="0"/>
              </a:spcBef>
              <a:spcAft>
                <a:spcPts val="600"/>
              </a:spcAft>
              <a:buClrTx/>
              <a:buSzTx/>
              <a:buFont typeface="Wingdings" pitchFamily="2" charset="2"/>
              <a:buChar char="§"/>
              <a:tabLst/>
              <a:defRPr/>
            </a:pPr>
            <a:r>
              <a:rPr kumimoji="0" lang="en-SG" sz="1000" b="0" i="0" u="none" strike="noStrike" kern="0" cap="none" spc="0" normalizeH="0" baseline="0" noProof="0">
                <a:ln>
                  <a:noFill/>
                </a:ln>
                <a:solidFill>
                  <a:prstClr val="black"/>
                </a:solidFill>
                <a:effectLst/>
                <a:uLnTx/>
                <a:uFillTx/>
                <a:latin typeface="Arial" panose="020B0604020202020204"/>
                <a:ea typeface="+mn-ea"/>
                <a:cs typeface="+mn-cs"/>
                <a:sym typeface="Wingdings"/>
              </a:rPr>
              <a:t>Strong Asian momentum is critical for Asian issuers </a:t>
            </a:r>
          </a:p>
          <a:p>
            <a:pPr marL="292100" marR="0" lvl="1" indent="-171450" defTabSz="844083"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SG" sz="1000" b="0" i="0" u="none" strike="noStrike" kern="0" cap="none" spc="0" normalizeH="0" baseline="0" noProof="0">
                <a:ln>
                  <a:noFill/>
                </a:ln>
                <a:solidFill>
                  <a:prstClr val="black"/>
                </a:solidFill>
                <a:effectLst/>
                <a:uLnTx/>
                <a:uFillTx/>
                <a:latin typeface="Arial" panose="020B0604020202020204"/>
                <a:ea typeface="+mn-ea"/>
                <a:cs typeface="+mn-cs"/>
                <a:sym typeface="Wingdings"/>
              </a:rPr>
              <a:t>E</a:t>
            </a:r>
            <a:r>
              <a:rPr kumimoji="0" lang="en-SG" sz="1000" b="0" i="0" u="none" strike="noStrike" kern="0" cap="none" spc="0" normalizeH="0" baseline="0" noProof="0">
                <a:ln>
                  <a:noFill/>
                </a:ln>
                <a:solidFill>
                  <a:srgbClr val="000000"/>
                </a:solidFill>
                <a:effectLst/>
                <a:uLnTx/>
                <a:uFillTx/>
                <a:latin typeface="Arial" panose="020B0604020202020204"/>
                <a:ea typeface="+mn-ea"/>
                <a:cs typeface="Calibri"/>
                <a:sym typeface="Wingdings"/>
              </a:rPr>
              <a:t>arly “books covered” message during book-building important to garner broader market buy-in</a:t>
            </a:r>
          </a:p>
          <a:p>
            <a:pPr marL="171450" marR="0" lvl="0" indent="-171450" defTabSz="844083" eaLnBrk="1" fontAlgn="auto" latinLnBrk="0" hangingPunct="1">
              <a:lnSpc>
                <a:spcPct val="100000"/>
              </a:lnSpc>
              <a:spcBef>
                <a:spcPts val="0"/>
              </a:spcBef>
              <a:spcAft>
                <a:spcPts val="600"/>
              </a:spcAft>
              <a:buClrTx/>
              <a:buSzTx/>
              <a:buFont typeface="Wingdings" pitchFamily="2" charset="2"/>
              <a:buChar char="§"/>
              <a:tabLst/>
              <a:defRPr/>
            </a:pPr>
            <a:endParaRPr kumimoji="0" lang="en-SG" sz="1000" b="0" i="0" u="none" strike="noStrike" kern="0" cap="none" spc="0" normalizeH="0" baseline="0" noProof="0">
              <a:ln>
                <a:noFill/>
              </a:ln>
              <a:solidFill>
                <a:prstClr val="black"/>
              </a:solidFill>
              <a:effectLst/>
              <a:uLnTx/>
              <a:uFillTx/>
              <a:latin typeface="Arial" panose="020B0604020202020204"/>
              <a:ea typeface="+mn-ea"/>
              <a:cs typeface="+mn-cs"/>
              <a:sym typeface="Wingdings"/>
            </a:endParaRPr>
          </a:p>
          <a:p>
            <a:pPr marL="171450" marR="0" lvl="0" indent="-171450" defTabSz="844083" eaLnBrk="1" fontAlgn="auto" latinLnBrk="0" hangingPunct="1">
              <a:lnSpc>
                <a:spcPct val="100000"/>
              </a:lnSpc>
              <a:spcBef>
                <a:spcPts val="0"/>
              </a:spcBef>
              <a:spcAft>
                <a:spcPts val="600"/>
              </a:spcAft>
              <a:buClrTx/>
              <a:buSzTx/>
              <a:buFont typeface="Wingdings" pitchFamily="2" charset="2"/>
              <a:buChar char="§"/>
              <a:tabLst/>
              <a:defRPr/>
            </a:pPr>
            <a:r>
              <a:rPr kumimoji="0" lang="en-SG" sz="1000" b="0" i="0" u="none" strike="noStrike" kern="0" cap="none" spc="0" normalizeH="0" baseline="0" noProof="0">
                <a:ln>
                  <a:noFill/>
                </a:ln>
                <a:solidFill>
                  <a:prstClr val="black"/>
                </a:solidFill>
                <a:effectLst/>
                <a:uLnTx/>
                <a:uFillTx/>
                <a:latin typeface="Arial" panose="020B0604020202020204"/>
                <a:ea typeface="+mn-ea"/>
                <a:cs typeface="+mn-cs"/>
                <a:sym typeface="Wingdings"/>
              </a:rPr>
              <a:t>Asian investors expected to generate the </a:t>
            </a:r>
            <a:r>
              <a:rPr kumimoji="0" lang="en-SG" sz="1000" b="0" i="0" u="sng" strike="noStrike" kern="0" cap="none" spc="0" normalizeH="0" baseline="0" noProof="0">
                <a:ln>
                  <a:noFill/>
                </a:ln>
                <a:solidFill>
                  <a:prstClr val="black"/>
                </a:solidFill>
                <a:effectLst/>
                <a:uLnTx/>
                <a:uFillTx/>
                <a:latin typeface="Arial" panose="020B0604020202020204"/>
                <a:ea typeface="+mn-ea"/>
                <a:cs typeface="+mn-cs"/>
                <a:sym typeface="Wingdings"/>
              </a:rPr>
              <a:t>largest investor demand</a:t>
            </a:r>
            <a:r>
              <a:rPr kumimoji="0" lang="en-SG" sz="1000" b="0" i="0" u="none" strike="noStrike" kern="0" cap="none" spc="0" normalizeH="0" baseline="0" noProof="0">
                <a:ln>
                  <a:noFill/>
                </a:ln>
                <a:solidFill>
                  <a:prstClr val="black"/>
                </a:solidFill>
                <a:effectLst/>
                <a:uLnTx/>
                <a:uFillTx/>
                <a:latin typeface="Arial" panose="020B0604020202020204"/>
                <a:ea typeface="+mn-ea"/>
                <a:cs typeface="+mn-cs"/>
                <a:sym typeface="Wingdings"/>
              </a:rPr>
              <a:t> for SGX offerings</a:t>
            </a:r>
          </a:p>
          <a:p>
            <a:pPr marL="171450" marR="0" lvl="1" indent="-171450" defTabSz="844083" eaLnBrk="1" fontAlgn="auto" latinLnBrk="0" hangingPunct="1">
              <a:lnSpc>
                <a:spcPct val="100000"/>
              </a:lnSpc>
              <a:spcBef>
                <a:spcPts val="0"/>
              </a:spcBef>
              <a:spcAft>
                <a:spcPts val="600"/>
              </a:spcAft>
              <a:buClrTx/>
              <a:buSzTx/>
              <a:buFont typeface="Wingdings" pitchFamily="2" charset="2"/>
              <a:buChar char="§"/>
              <a:tabLst>
                <a:tab pos="413249" algn="l"/>
              </a:tabLst>
              <a:defRPr/>
            </a:pPr>
            <a:endParaRPr kumimoji="0" lang="en-US" sz="1000" b="0" i="0" u="none" strike="noStrike" kern="0" cap="none" spc="0" normalizeH="0" baseline="0" noProof="0">
              <a:ln>
                <a:noFill/>
              </a:ln>
              <a:solidFill>
                <a:prstClr val="black"/>
              </a:solidFill>
              <a:effectLst/>
              <a:uLnTx/>
              <a:uFillTx/>
              <a:latin typeface="Arial" panose="020B0604020202020204"/>
              <a:ea typeface="+mn-ea"/>
              <a:cs typeface="+mn-cs"/>
            </a:endParaRPr>
          </a:p>
          <a:p>
            <a:pPr marL="171450" marR="0" lvl="1" indent="-171450" defTabSz="844083" eaLnBrk="1" fontAlgn="auto" latinLnBrk="0" hangingPunct="1">
              <a:lnSpc>
                <a:spcPct val="100000"/>
              </a:lnSpc>
              <a:spcBef>
                <a:spcPts val="0"/>
              </a:spcBef>
              <a:spcAft>
                <a:spcPts val="600"/>
              </a:spcAft>
              <a:buClrTx/>
              <a:buSzTx/>
              <a:buFont typeface="Wingdings" pitchFamily="2" charset="2"/>
              <a:buChar char="§"/>
              <a:tabLst>
                <a:tab pos="413249" algn="l"/>
              </a:tabLst>
              <a:defRPr/>
            </a:pPr>
            <a:r>
              <a:rPr kumimoji="0" lang="en-US" sz="1000" b="0" i="0" u="none" strike="noStrike" kern="0" cap="none" spc="0" normalizeH="0" baseline="0" noProof="0">
                <a:ln>
                  <a:noFill/>
                </a:ln>
                <a:solidFill>
                  <a:prstClr val="black"/>
                </a:solidFill>
                <a:effectLst/>
                <a:uLnTx/>
                <a:uFillTx/>
                <a:latin typeface="Arial" panose="020B0604020202020204"/>
                <a:ea typeface="+mn-ea"/>
                <a:cs typeface="+mn-cs"/>
              </a:rPr>
              <a:t>DBS' strong and comprehensive Asian investor access can help to generate multi-dimensional demand for price tension</a:t>
            </a:r>
          </a:p>
        </p:txBody>
      </p:sp>
      <p:pic>
        <p:nvPicPr>
          <p:cNvPr id="567" name="Picture 6" descr="dbsvs_e2_2c.jpg">
            <a:extLst>
              <a:ext uri="{FF2B5EF4-FFF2-40B4-BE49-F238E27FC236}">
                <a16:creationId xmlns:a16="http://schemas.microsoft.com/office/drawing/2014/main" id="{300E03D2-AA28-34FE-2C28-18006F61FF39}"/>
              </a:ext>
            </a:extLst>
          </p:cNvPr>
          <p:cNvPicPr>
            <a:picLocks noChangeAspect="1"/>
          </p:cNvPicPr>
          <p:nvPr/>
        </p:nvPicPr>
        <p:blipFill>
          <a:blip r:embed="rId3" cstate="print"/>
          <a:srcRect/>
          <a:stretch>
            <a:fillRect/>
          </a:stretch>
        </p:blipFill>
        <p:spPr bwMode="auto">
          <a:xfrm>
            <a:off x="637572" y="4872502"/>
            <a:ext cx="659901" cy="473944"/>
          </a:xfrm>
          <a:prstGeom prst="rect">
            <a:avLst/>
          </a:prstGeom>
          <a:noFill/>
          <a:ln w="9525">
            <a:noFill/>
            <a:miter lim="800000"/>
            <a:headEnd/>
            <a:tailEnd/>
          </a:ln>
        </p:spPr>
      </p:pic>
      <p:sp>
        <p:nvSpPr>
          <p:cNvPr id="568" name="TextBox 567">
            <a:extLst>
              <a:ext uri="{FF2B5EF4-FFF2-40B4-BE49-F238E27FC236}">
                <a16:creationId xmlns:a16="http://schemas.microsoft.com/office/drawing/2014/main" id="{35B7B006-83AB-A219-79FA-7C5B7AD271BA}"/>
              </a:ext>
            </a:extLst>
          </p:cNvPr>
          <p:cNvSpPr txBox="1"/>
          <p:nvPr/>
        </p:nvSpPr>
        <p:spPr>
          <a:xfrm>
            <a:off x="1241104" y="4876484"/>
            <a:ext cx="2184730" cy="408830"/>
          </a:xfrm>
          <a:prstGeom prst="rect">
            <a:avLst/>
          </a:prstGeom>
          <a:noFill/>
        </p:spPr>
        <p:txBody>
          <a:bodyPr wrap="square" rtlCol="0">
            <a:spAutoFit/>
          </a:bodyPr>
          <a:lstStyle/>
          <a:p>
            <a:pPr marL="0" marR="0" lvl="0" indent="0" algn="ctr" defTabSz="844083" eaLnBrk="1" fontAlgn="auto" latinLnBrk="0" hangingPunct="1">
              <a:lnSpc>
                <a:spcPct val="90000"/>
              </a:lnSpc>
              <a:spcBef>
                <a:spcPts val="85"/>
              </a:spcBef>
              <a:spcAft>
                <a:spcPts val="85"/>
              </a:spcAft>
              <a:buClrTx/>
              <a:buSzTx/>
              <a:buFontTx/>
              <a:buNone/>
              <a:tabLst/>
              <a:defRPr/>
            </a:pPr>
            <a:r>
              <a:rPr kumimoji="0" lang="en-GB" sz="1000" b="0" i="0" u="none" strike="noStrike" kern="0" cap="none" spc="0" normalizeH="0" baseline="0" noProof="0">
                <a:ln>
                  <a:noFill/>
                </a:ln>
                <a:solidFill>
                  <a:srgbClr val="000000"/>
                </a:solidFill>
                <a:effectLst/>
                <a:uLnTx/>
                <a:uFillTx/>
                <a:latin typeface="Arial"/>
                <a:cs typeface="+mn-cs"/>
              </a:rPr>
              <a:t>Global Institutional Sales</a:t>
            </a:r>
          </a:p>
          <a:p>
            <a:pPr marL="0" marR="0" lvl="0" indent="0" algn="ctr" defTabSz="844083" eaLnBrk="1" fontAlgn="auto" latinLnBrk="0" hangingPunct="1">
              <a:lnSpc>
                <a:spcPct val="90000"/>
              </a:lnSpc>
              <a:spcBef>
                <a:spcPts val="85"/>
              </a:spcBef>
              <a:spcAft>
                <a:spcPts val="85"/>
              </a:spcAft>
              <a:buClrTx/>
              <a:buSzTx/>
              <a:buFontTx/>
              <a:buNone/>
              <a:tabLst/>
              <a:defRPr/>
            </a:pPr>
            <a:r>
              <a:rPr kumimoji="0" lang="en-GB" sz="1000" b="0" i="0" u="none" strike="noStrike" kern="0" cap="none" spc="0" normalizeH="0" baseline="0" noProof="0">
                <a:ln>
                  <a:noFill/>
                </a:ln>
                <a:solidFill>
                  <a:srgbClr val="000000"/>
                </a:solidFill>
                <a:effectLst/>
                <a:uLnTx/>
                <a:uFillTx/>
                <a:latin typeface="Arial"/>
                <a:cs typeface="+mn-cs"/>
              </a:rPr>
              <a:t>in 6 key global financial centres</a:t>
            </a:r>
          </a:p>
        </p:txBody>
      </p:sp>
      <p:sp>
        <p:nvSpPr>
          <p:cNvPr id="569" name="Text Box 2">
            <a:extLst>
              <a:ext uri="{FF2B5EF4-FFF2-40B4-BE49-F238E27FC236}">
                <a16:creationId xmlns:a16="http://schemas.microsoft.com/office/drawing/2014/main" id="{42EA0635-425A-7D1D-3B75-8E0B7CC82319}"/>
              </a:ext>
            </a:extLst>
          </p:cNvPr>
          <p:cNvSpPr txBox="1">
            <a:spLocks noChangeArrowheads="1"/>
          </p:cNvSpPr>
          <p:nvPr/>
        </p:nvSpPr>
        <p:spPr bwMode="auto">
          <a:xfrm>
            <a:off x="572952" y="5406933"/>
            <a:ext cx="2780061" cy="628377"/>
          </a:xfrm>
          <a:prstGeom prst="rect">
            <a:avLst/>
          </a:prstGeom>
          <a:noFill/>
          <a:ln w="9525" algn="ctr">
            <a:noFill/>
            <a:miter lim="800000"/>
            <a:headEnd/>
            <a:tailEnd/>
          </a:ln>
          <a:effectLst>
            <a:prstShdw prst="shdw17" dist="17961" dir="2700000">
              <a:srgbClr val="333333">
                <a:gamma/>
                <a:shade val="60000"/>
                <a:invGamma/>
              </a:srgbClr>
            </a:prstShdw>
          </a:effectLst>
        </p:spPr>
        <p:txBody>
          <a:bodyPr wrap="square">
            <a:spAutoFit/>
          </a:bodyPr>
          <a:lstStyle/>
          <a:p>
            <a:pPr marL="133612" marR="0" lvl="0" indent="-133612" defTabSz="844083" eaLnBrk="1" fontAlgn="auto" latinLnBrk="0" hangingPunct="1">
              <a:lnSpc>
                <a:spcPct val="100000"/>
              </a:lnSpc>
              <a:spcBef>
                <a:spcPts val="0"/>
              </a:spcBef>
              <a:spcAft>
                <a:spcPts val="300"/>
              </a:spcAft>
              <a:buClr>
                <a:srgbClr val="000000"/>
              </a:buClr>
              <a:buSzTx/>
              <a:buFont typeface="Wingdings" pitchFamily="2" charset="2"/>
              <a:buChar char="§"/>
              <a:tabLst/>
              <a:defRPr/>
            </a:pPr>
            <a:r>
              <a:rPr kumimoji="0" lang="en-GB" sz="1000" b="0" i="0" u="none" strike="noStrike" kern="0" cap="none" spc="0" normalizeH="0" baseline="0" noProof="0">
                <a:ln>
                  <a:noFill/>
                </a:ln>
                <a:solidFill>
                  <a:srgbClr val="000000"/>
                </a:solidFill>
                <a:effectLst/>
                <a:uLnTx/>
                <a:uFillTx/>
                <a:latin typeface="Arial"/>
                <a:cs typeface="+mn-cs"/>
              </a:rPr>
              <a:t>Tier 1 &amp; 2 funds</a:t>
            </a:r>
          </a:p>
          <a:p>
            <a:pPr marL="133612" marR="0" lvl="0" indent="-133612" defTabSz="844083" eaLnBrk="1" fontAlgn="auto" latinLnBrk="0" hangingPunct="1">
              <a:lnSpc>
                <a:spcPct val="100000"/>
              </a:lnSpc>
              <a:spcBef>
                <a:spcPts val="0"/>
              </a:spcBef>
              <a:spcAft>
                <a:spcPts val="300"/>
              </a:spcAft>
              <a:buClr>
                <a:srgbClr val="000000"/>
              </a:buClr>
              <a:buSzTx/>
              <a:buFont typeface="Wingdings" pitchFamily="2" charset="2"/>
              <a:buChar char="§"/>
              <a:tabLst/>
              <a:defRPr/>
            </a:pPr>
            <a:r>
              <a:rPr kumimoji="0" lang="en-GB" sz="1000" b="0" i="0" u="none" strike="noStrike" kern="0" cap="none" spc="0" normalizeH="0" baseline="0" noProof="0">
                <a:ln>
                  <a:noFill/>
                </a:ln>
                <a:solidFill>
                  <a:srgbClr val="000000"/>
                </a:solidFill>
                <a:effectLst/>
                <a:uLnTx/>
                <a:uFillTx/>
                <a:latin typeface="Arial"/>
                <a:cs typeface="+mn-cs"/>
                <a:sym typeface="Wingdings"/>
              </a:rPr>
              <a:t>Boutique funds</a:t>
            </a:r>
          </a:p>
          <a:p>
            <a:pPr marL="133612" marR="0" lvl="0" indent="-133612" defTabSz="844083" eaLnBrk="1" fontAlgn="auto" latinLnBrk="0" hangingPunct="1">
              <a:lnSpc>
                <a:spcPct val="100000"/>
              </a:lnSpc>
              <a:spcBef>
                <a:spcPts val="0"/>
              </a:spcBef>
              <a:spcAft>
                <a:spcPts val="300"/>
              </a:spcAft>
              <a:buClr>
                <a:srgbClr val="000000"/>
              </a:buClr>
              <a:buSzTx/>
              <a:buFont typeface="Wingdings" pitchFamily="2" charset="2"/>
              <a:buChar char="§"/>
              <a:tabLst/>
              <a:defRPr/>
            </a:pPr>
            <a:r>
              <a:rPr kumimoji="0" lang="en-GB" sz="1000" b="0" i="0" u="none" strike="noStrike" kern="0" cap="none" spc="0" normalizeH="0" baseline="0" noProof="0">
                <a:ln>
                  <a:noFill/>
                </a:ln>
                <a:solidFill>
                  <a:srgbClr val="000000"/>
                </a:solidFill>
                <a:effectLst/>
                <a:uLnTx/>
                <a:uFillTx/>
                <a:latin typeface="Arial"/>
                <a:cs typeface="+mn-cs"/>
                <a:sym typeface="Wingdings"/>
              </a:rPr>
              <a:t>Family offices</a:t>
            </a:r>
          </a:p>
        </p:txBody>
      </p:sp>
      <p:sp>
        <p:nvSpPr>
          <p:cNvPr id="570" name="TextBox 569">
            <a:extLst>
              <a:ext uri="{FF2B5EF4-FFF2-40B4-BE49-F238E27FC236}">
                <a16:creationId xmlns:a16="http://schemas.microsoft.com/office/drawing/2014/main" id="{B713547E-585C-517D-16D8-CB4CEF2C1A88}"/>
              </a:ext>
            </a:extLst>
          </p:cNvPr>
          <p:cNvSpPr txBox="1"/>
          <p:nvPr/>
        </p:nvSpPr>
        <p:spPr>
          <a:xfrm>
            <a:off x="4350459" y="4826984"/>
            <a:ext cx="2176348" cy="507831"/>
          </a:xfrm>
          <a:prstGeom prst="rect">
            <a:avLst/>
          </a:prstGeom>
          <a:noFill/>
        </p:spPr>
        <p:txBody>
          <a:bodyPr wrap="square" rtlCol="0">
            <a:spAutoFit/>
          </a:bodyPr>
          <a:lstStyle/>
          <a:p>
            <a:pPr marL="0" marR="0" lvl="0" indent="0" algn="ctr" defTabSz="844083" eaLnBrk="1" fontAlgn="auto" latinLnBrk="0" hangingPunct="1">
              <a:lnSpc>
                <a:spcPct val="90000"/>
              </a:lnSpc>
              <a:spcBef>
                <a:spcPts val="85"/>
              </a:spcBef>
              <a:spcAft>
                <a:spcPts val="85"/>
              </a:spcAft>
              <a:buClrTx/>
              <a:buSzTx/>
              <a:buFontTx/>
              <a:buNone/>
              <a:tabLst/>
              <a:defRPr/>
            </a:pPr>
            <a:r>
              <a:rPr kumimoji="0" lang="en-GB" sz="1000" b="0" i="0" u="none" strike="noStrike" kern="0" cap="none" spc="0" normalizeH="0" baseline="0" noProof="0">
                <a:ln>
                  <a:noFill/>
                </a:ln>
                <a:solidFill>
                  <a:srgbClr val="000000"/>
                </a:solidFill>
                <a:effectLst/>
                <a:uLnTx/>
                <a:uFillTx/>
                <a:latin typeface="Arial"/>
                <a:cs typeface="+mn-cs"/>
              </a:rPr>
              <a:t>Corporate Banking, Global Financial Markets in 18 markets across Asia &amp; the region</a:t>
            </a:r>
          </a:p>
        </p:txBody>
      </p:sp>
      <p:sp>
        <p:nvSpPr>
          <p:cNvPr id="571" name="Text Box 2">
            <a:extLst>
              <a:ext uri="{FF2B5EF4-FFF2-40B4-BE49-F238E27FC236}">
                <a16:creationId xmlns:a16="http://schemas.microsoft.com/office/drawing/2014/main" id="{AFFA6F61-454C-5398-0DC8-F9B07FF9A647}"/>
              </a:ext>
            </a:extLst>
          </p:cNvPr>
          <p:cNvSpPr txBox="1">
            <a:spLocks noChangeArrowheads="1"/>
          </p:cNvSpPr>
          <p:nvPr/>
        </p:nvSpPr>
        <p:spPr bwMode="auto">
          <a:xfrm>
            <a:off x="3634868" y="5406933"/>
            <a:ext cx="2568849" cy="628377"/>
          </a:xfrm>
          <a:prstGeom prst="rect">
            <a:avLst/>
          </a:prstGeom>
          <a:noFill/>
          <a:ln w="9525" algn="ctr">
            <a:noFill/>
            <a:miter lim="800000"/>
            <a:headEnd/>
            <a:tailEnd/>
          </a:ln>
          <a:effectLst>
            <a:prstShdw prst="shdw17" dist="17961" dir="2700000">
              <a:srgbClr val="333333">
                <a:gamma/>
                <a:shade val="60000"/>
                <a:invGamma/>
              </a:srgbClr>
            </a:prstShdw>
          </a:effectLst>
        </p:spPr>
        <p:txBody>
          <a:bodyPr wrap="square">
            <a:spAutoFit/>
          </a:bodyPr>
          <a:lstStyle/>
          <a:p>
            <a:pPr marL="133612" marR="0" lvl="0" indent="-133612" defTabSz="844083" eaLnBrk="1" fontAlgn="auto" latinLnBrk="0" hangingPunct="1">
              <a:lnSpc>
                <a:spcPct val="100000"/>
              </a:lnSpc>
              <a:spcBef>
                <a:spcPts val="0"/>
              </a:spcBef>
              <a:spcAft>
                <a:spcPts val="300"/>
              </a:spcAft>
              <a:buClr>
                <a:srgbClr val="000000"/>
              </a:buClr>
              <a:buSzTx/>
              <a:buFont typeface="Wingdings" pitchFamily="2" charset="2"/>
              <a:buChar char="§"/>
              <a:tabLst/>
              <a:defRPr/>
            </a:pPr>
            <a:r>
              <a:rPr kumimoji="0" lang="en-GB" sz="1000" b="0" i="0" u="none" strike="noStrike" kern="0" cap="none" spc="0" normalizeH="0" baseline="0" noProof="0">
                <a:ln>
                  <a:noFill/>
                </a:ln>
                <a:solidFill>
                  <a:srgbClr val="000000"/>
                </a:solidFill>
                <a:effectLst/>
                <a:uLnTx/>
                <a:uFillTx/>
                <a:latin typeface="Arial"/>
                <a:cs typeface="+mn-cs"/>
              </a:rPr>
              <a:t>Corporate clients including strategics</a:t>
            </a:r>
          </a:p>
          <a:p>
            <a:pPr marL="133612" marR="0" lvl="0" indent="-133612" defTabSz="844083" eaLnBrk="1" fontAlgn="auto" latinLnBrk="0" hangingPunct="1">
              <a:lnSpc>
                <a:spcPct val="100000"/>
              </a:lnSpc>
              <a:spcBef>
                <a:spcPts val="0"/>
              </a:spcBef>
              <a:spcAft>
                <a:spcPts val="300"/>
              </a:spcAft>
              <a:buClr>
                <a:srgbClr val="000000"/>
              </a:buClr>
              <a:buSzTx/>
              <a:buFont typeface="Wingdings" pitchFamily="2" charset="2"/>
              <a:buChar char="§"/>
              <a:tabLst/>
              <a:defRPr/>
            </a:pPr>
            <a:r>
              <a:rPr kumimoji="0" lang="en-GB" sz="1000" b="0" i="0" u="none" strike="noStrike" kern="0" cap="none" spc="0" normalizeH="0" baseline="0" noProof="0">
                <a:ln>
                  <a:noFill/>
                </a:ln>
                <a:solidFill>
                  <a:srgbClr val="000000"/>
                </a:solidFill>
                <a:effectLst/>
                <a:uLnTx/>
                <a:uFillTx/>
                <a:latin typeface="Arial"/>
                <a:cs typeface="+mn-cs"/>
                <a:sym typeface="Wingdings"/>
              </a:rPr>
              <a:t>Foundations / non-profits</a:t>
            </a:r>
          </a:p>
          <a:p>
            <a:pPr marL="133612" marR="0" lvl="0" indent="-133612" defTabSz="844083" eaLnBrk="1" fontAlgn="auto" latinLnBrk="0" hangingPunct="1">
              <a:lnSpc>
                <a:spcPct val="100000"/>
              </a:lnSpc>
              <a:spcBef>
                <a:spcPts val="0"/>
              </a:spcBef>
              <a:spcAft>
                <a:spcPts val="300"/>
              </a:spcAft>
              <a:buClr>
                <a:srgbClr val="000000"/>
              </a:buClr>
              <a:buSzTx/>
              <a:buFont typeface="Wingdings" pitchFamily="2" charset="2"/>
              <a:buChar char="§"/>
              <a:tabLst/>
              <a:defRPr/>
            </a:pPr>
            <a:r>
              <a:rPr kumimoji="0" lang="en-GB" sz="1000" b="0" i="0" u="none" strike="noStrike" kern="0" cap="none" spc="0" normalizeH="0" baseline="0" noProof="0">
                <a:ln>
                  <a:noFill/>
                </a:ln>
                <a:solidFill>
                  <a:srgbClr val="000000"/>
                </a:solidFill>
                <a:effectLst/>
                <a:uLnTx/>
                <a:uFillTx/>
                <a:latin typeface="Arial"/>
                <a:cs typeface="+mn-cs"/>
                <a:sym typeface="Wingdings"/>
              </a:rPr>
              <a:t>Sovereign funds / quasi sovereign</a:t>
            </a:r>
          </a:p>
        </p:txBody>
      </p:sp>
      <p:cxnSp>
        <p:nvCxnSpPr>
          <p:cNvPr id="572" name="Straight Connector 571">
            <a:extLst>
              <a:ext uri="{FF2B5EF4-FFF2-40B4-BE49-F238E27FC236}">
                <a16:creationId xmlns:a16="http://schemas.microsoft.com/office/drawing/2014/main" id="{C5E8CA37-6F83-14A4-F2C1-CA795A942975}"/>
              </a:ext>
            </a:extLst>
          </p:cNvPr>
          <p:cNvCxnSpPr>
            <a:cxnSpLocks/>
          </p:cNvCxnSpPr>
          <p:nvPr/>
        </p:nvCxnSpPr>
        <p:spPr bwMode="auto">
          <a:xfrm>
            <a:off x="3633247" y="5355829"/>
            <a:ext cx="2834640" cy="0"/>
          </a:xfrm>
          <a:prstGeom prst="line">
            <a:avLst/>
          </a:prstGeom>
          <a:noFill/>
          <a:ln w="9525" cap="flat" cmpd="sng" algn="ctr">
            <a:solidFill>
              <a:srgbClr val="000000"/>
            </a:solidFill>
            <a:prstDash val="solid"/>
            <a:round/>
            <a:headEnd type="none" w="med" len="med"/>
            <a:tailEnd type="none" w="med" len="med"/>
          </a:ln>
          <a:effectLst/>
        </p:spPr>
      </p:cxnSp>
      <p:pic>
        <p:nvPicPr>
          <p:cNvPr id="573" name="Picture 572" descr="Shape&#10;&#10;Description automatically generated with medium confidence">
            <a:extLst>
              <a:ext uri="{FF2B5EF4-FFF2-40B4-BE49-F238E27FC236}">
                <a16:creationId xmlns:a16="http://schemas.microsoft.com/office/drawing/2014/main" id="{60412BE4-47CE-EC72-98BD-59937D091C7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9034" y="4977446"/>
            <a:ext cx="644337" cy="187857"/>
          </a:xfrm>
          <a:prstGeom prst="rect">
            <a:avLst/>
          </a:prstGeom>
        </p:spPr>
      </p:pic>
      <p:sp>
        <p:nvSpPr>
          <p:cNvPr id="574" name="Text Box 2">
            <a:extLst>
              <a:ext uri="{FF2B5EF4-FFF2-40B4-BE49-F238E27FC236}">
                <a16:creationId xmlns:a16="http://schemas.microsoft.com/office/drawing/2014/main" id="{8262C23F-5244-CD03-23C5-B5CDB1775692}"/>
              </a:ext>
            </a:extLst>
          </p:cNvPr>
          <p:cNvSpPr txBox="1">
            <a:spLocks noChangeArrowheads="1"/>
          </p:cNvSpPr>
          <p:nvPr/>
        </p:nvSpPr>
        <p:spPr bwMode="auto">
          <a:xfrm>
            <a:off x="6697483" y="5406933"/>
            <a:ext cx="2593074" cy="823302"/>
          </a:xfrm>
          <a:prstGeom prst="rect">
            <a:avLst/>
          </a:prstGeom>
          <a:noFill/>
          <a:ln w="9525" algn="ctr">
            <a:noFill/>
            <a:miter lim="800000"/>
            <a:headEnd/>
            <a:tailEnd/>
          </a:ln>
          <a:effectLst>
            <a:prstShdw prst="shdw17" dist="17961" dir="2700000">
              <a:srgbClr val="333333">
                <a:gamma/>
                <a:shade val="60000"/>
                <a:invGamma/>
              </a:srgbClr>
            </a:prstShdw>
          </a:effectLst>
        </p:spPr>
        <p:txBody>
          <a:bodyPr wrap="square">
            <a:spAutoFit/>
          </a:bodyPr>
          <a:lstStyle/>
          <a:p>
            <a:pPr marL="133612" marR="0" lvl="0" indent="-133612" defTabSz="844083" eaLnBrk="1" fontAlgn="auto" latinLnBrk="0" hangingPunct="1">
              <a:lnSpc>
                <a:spcPct val="100000"/>
              </a:lnSpc>
              <a:spcBef>
                <a:spcPts val="236"/>
              </a:spcBef>
              <a:spcAft>
                <a:spcPts val="300"/>
              </a:spcAft>
              <a:buClr>
                <a:srgbClr val="000000"/>
              </a:buClr>
              <a:buSzTx/>
              <a:buFont typeface="Wingdings" pitchFamily="2" charset="2"/>
              <a:buChar char="§"/>
              <a:tabLst/>
              <a:defRPr/>
            </a:pPr>
            <a:r>
              <a:rPr kumimoji="0" lang="en-SG" sz="1000" b="0" i="0" u="none" strike="noStrike" kern="0" cap="none" spc="0" normalizeH="0" baseline="0" noProof="0">
                <a:ln>
                  <a:noFill/>
                </a:ln>
                <a:solidFill>
                  <a:srgbClr val="000000"/>
                </a:solidFill>
                <a:effectLst/>
                <a:uLnTx/>
                <a:uFillTx/>
                <a:latin typeface="Arial"/>
                <a:cs typeface="+mn-cs"/>
              </a:rPr>
              <a:t>Three platforms serving:</a:t>
            </a:r>
          </a:p>
          <a:p>
            <a:pPr marL="324000" marR="0" lvl="1" indent="-144000" defTabSz="74295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SG" sz="1000" b="0" i="0" u="none" strike="noStrike" kern="0" cap="none" spc="0" normalizeH="0" baseline="0" noProof="0">
                <a:ln>
                  <a:noFill/>
                </a:ln>
                <a:solidFill>
                  <a:srgbClr val="000000"/>
                </a:solidFill>
                <a:effectLst/>
                <a:uLnTx/>
                <a:uFillTx/>
                <a:latin typeface="Arial"/>
                <a:cs typeface="+mn-cs"/>
              </a:rPr>
              <a:t>Private Banking clients</a:t>
            </a:r>
          </a:p>
          <a:p>
            <a:pPr marL="324000" marR="0" lvl="1" indent="-144000" defTabSz="74295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SG" sz="1000" b="0" i="0" u="none" strike="noStrike" kern="0" cap="none" spc="0" normalizeH="0" baseline="0" noProof="0">
                <a:ln>
                  <a:noFill/>
                </a:ln>
                <a:solidFill>
                  <a:srgbClr val="000000"/>
                </a:solidFill>
                <a:effectLst/>
                <a:uLnTx/>
                <a:uFillTx/>
                <a:latin typeface="Arial"/>
                <a:cs typeface="+mn-cs"/>
              </a:rPr>
              <a:t>Treasures Private clients</a:t>
            </a:r>
          </a:p>
          <a:p>
            <a:pPr marL="324000" marR="0" lvl="1" indent="-144000" defTabSz="74295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SG" sz="1000" b="0" i="0" u="none" strike="noStrike" kern="0" cap="none" spc="0" normalizeH="0" baseline="0" noProof="0">
                <a:ln>
                  <a:noFill/>
                </a:ln>
                <a:solidFill>
                  <a:srgbClr val="000000"/>
                </a:solidFill>
                <a:effectLst/>
                <a:uLnTx/>
                <a:uFillTx/>
                <a:latin typeface="Arial"/>
                <a:cs typeface="+mn-cs"/>
              </a:rPr>
              <a:t>Treasures clients</a:t>
            </a:r>
          </a:p>
        </p:txBody>
      </p:sp>
      <p:cxnSp>
        <p:nvCxnSpPr>
          <p:cNvPr id="575" name="Straight Connector 574">
            <a:extLst>
              <a:ext uri="{FF2B5EF4-FFF2-40B4-BE49-F238E27FC236}">
                <a16:creationId xmlns:a16="http://schemas.microsoft.com/office/drawing/2014/main" id="{7F64FBF5-548D-3C35-709D-CE13CC69555B}"/>
              </a:ext>
            </a:extLst>
          </p:cNvPr>
          <p:cNvCxnSpPr>
            <a:cxnSpLocks/>
          </p:cNvCxnSpPr>
          <p:nvPr/>
        </p:nvCxnSpPr>
        <p:spPr bwMode="auto">
          <a:xfrm>
            <a:off x="6700856" y="5355829"/>
            <a:ext cx="2834640" cy="0"/>
          </a:xfrm>
          <a:prstGeom prst="line">
            <a:avLst/>
          </a:prstGeom>
          <a:noFill/>
          <a:ln w="9525" cap="flat" cmpd="sng" algn="ctr">
            <a:solidFill>
              <a:srgbClr val="000000"/>
            </a:solidFill>
            <a:prstDash val="solid"/>
            <a:round/>
            <a:headEnd type="none" w="med" len="med"/>
            <a:tailEnd type="none" w="med" len="med"/>
          </a:ln>
          <a:effectLst/>
        </p:spPr>
      </p:cxnSp>
      <p:pic>
        <p:nvPicPr>
          <p:cNvPr id="576" name="Picture 575">
            <a:extLst>
              <a:ext uri="{FF2B5EF4-FFF2-40B4-BE49-F238E27FC236}">
                <a16:creationId xmlns:a16="http://schemas.microsoft.com/office/drawing/2014/main" id="{A4186867-EFB6-19DD-B59F-D107996A499A}"/>
              </a:ext>
            </a:extLst>
          </p:cNvPr>
          <p:cNvPicPr>
            <a:picLocks noChangeAspect="1"/>
          </p:cNvPicPr>
          <p:nvPr/>
        </p:nvPicPr>
        <p:blipFill>
          <a:blip r:embed="rId5"/>
          <a:stretch>
            <a:fillRect/>
          </a:stretch>
        </p:blipFill>
        <p:spPr>
          <a:xfrm>
            <a:off x="6762185" y="4947362"/>
            <a:ext cx="1324800" cy="267075"/>
          </a:xfrm>
          <a:prstGeom prst="rect">
            <a:avLst/>
          </a:prstGeom>
        </p:spPr>
      </p:pic>
      <p:sp>
        <p:nvSpPr>
          <p:cNvPr id="577" name="Text Box 2">
            <a:extLst>
              <a:ext uri="{FF2B5EF4-FFF2-40B4-BE49-F238E27FC236}">
                <a16:creationId xmlns:a16="http://schemas.microsoft.com/office/drawing/2014/main" id="{58C910FF-4847-6343-0755-DF694ECFBA30}"/>
              </a:ext>
            </a:extLst>
          </p:cNvPr>
          <p:cNvSpPr txBox="1">
            <a:spLocks noChangeArrowheads="1"/>
          </p:cNvSpPr>
          <p:nvPr/>
        </p:nvSpPr>
        <p:spPr bwMode="auto">
          <a:xfrm>
            <a:off x="8155779" y="4880844"/>
            <a:ext cx="1316687" cy="400110"/>
          </a:xfrm>
          <a:prstGeom prst="rect">
            <a:avLst/>
          </a:prstGeom>
          <a:noFill/>
          <a:ln w="9525" algn="ctr">
            <a:noFill/>
            <a:miter lim="800000"/>
            <a:headEnd/>
            <a:tailEnd/>
          </a:ln>
          <a:effectLst>
            <a:prstShdw prst="shdw17" dist="17961" dir="2700000">
              <a:srgbClr val="333333">
                <a:gamma/>
                <a:shade val="60000"/>
                <a:invGamma/>
              </a:srgbClr>
            </a:prstShdw>
          </a:effectLst>
        </p:spPr>
        <p:txBody>
          <a:bodyPr wrap="square">
            <a:spAutoFit/>
          </a:bodyPr>
          <a:lstStyle/>
          <a:p>
            <a:pPr marL="0" marR="0" lvl="0" indent="0" algn="ctr" defTabSz="844083" eaLnBrk="1" fontAlgn="auto" latinLnBrk="0" hangingPunct="1">
              <a:lnSpc>
                <a:spcPct val="100000"/>
              </a:lnSpc>
              <a:spcBef>
                <a:spcPts val="236"/>
              </a:spcBef>
              <a:spcAft>
                <a:spcPts val="300"/>
              </a:spcAft>
              <a:buClr>
                <a:srgbClr val="000000"/>
              </a:buClr>
              <a:buSzTx/>
              <a:buFontTx/>
              <a:buNone/>
              <a:tabLst/>
              <a:defRPr/>
            </a:pPr>
            <a:r>
              <a:rPr kumimoji="0" lang="en-GB" sz="1000" b="0" i="0" u="none" strike="noStrike" kern="0" cap="none" spc="0" normalizeH="0" baseline="0" noProof="0">
                <a:ln>
                  <a:noFill/>
                </a:ln>
                <a:solidFill>
                  <a:schemeClr val="tx1"/>
                </a:solidFill>
                <a:effectLst/>
                <a:uLnTx/>
                <a:uFillTx/>
                <a:latin typeface="Arial" panose="020B0604020202020204"/>
                <a:cs typeface="+mn-cs"/>
              </a:rPr>
              <a:t>Large AUM of S$474 billion</a:t>
            </a:r>
            <a:r>
              <a:rPr kumimoji="0" lang="en-GB" sz="1000" b="0" i="0" u="none" strike="noStrike" kern="0" cap="none" spc="0" normalizeH="0" baseline="30000" noProof="0">
                <a:ln>
                  <a:noFill/>
                </a:ln>
                <a:solidFill>
                  <a:schemeClr val="tx1"/>
                </a:solidFill>
                <a:effectLst/>
                <a:uLnTx/>
                <a:uFillTx/>
                <a:latin typeface="Arial" panose="020B0604020202020204"/>
                <a:cs typeface="+mn-cs"/>
              </a:rPr>
              <a:t>(1)</a:t>
            </a:r>
          </a:p>
        </p:txBody>
      </p:sp>
      <p:cxnSp>
        <p:nvCxnSpPr>
          <p:cNvPr id="578" name="Straight Connector 577">
            <a:extLst>
              <a:ext uri="{FF2B5EF4-FFF2-40B4-BE49-F238E27FC236}">
                <a16:creationId xmlns:a16="http://schemas.microsoft.com/office/drawing/2014/main" id="{9D015F93-1493-C1FE-C3A1-C10591F9F8B8}"/>
              </a:ext>
            </a:extLst>
          </p:cNvPr>
          <p:cNvCxnSpPr>
            <a:cxnSpLocks/>
          </p:cNvCxnSpPr>
          <p:nvPr/>
        </p:nvCxnSpPr>
        <p:spPr bwMode="auto">
          <a:xfrm>
            <a:off x="563865" y="5355829"/>
            <a:ext cx="2834640" cy="0"/>
          </a:xfrm>
          <a:prstGeom prst="line">
            <a:avLst/>
          </a:prstGeom>
          <a:noFill/>
          <a:ln w="9525" cap="flat" cmpd="sng" algn="ctr">
            <a:solidFill>
              <a:srgbClr val="000000"/>
            </a:solidFill>
            <a:prstDash val="solid"/>
            <a:round/>
            <a:headEnd type="none" w="med" len="med"/>
            <a:tailEnd type="none" w="med" len="med"/>
          </a:ln>
          <a:effectLst/>
        </p:spPr>
      </p:cxnSp>
    </p:spTree>
    <p:extLst>
      <p:ext uri="{BB962C8B-B14F-4D97-AF65-F5344CB8AC3E}">
        <p14:creationId xmlns:p14="http://schemas.microsoft.com/office/powerpoint/2010/main" val="3514249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BA88C-6C8D-2571-AA48-4CD584AA3048}"/>
              </a:ext>
            </a:extLst>
          </p:cNvPr>
          <p:cNvSpPr>
            <a:spLocks noGrp="1"/>
          </p:cNvSpPr>
          <p:nvPr>
            <p:ph type="title"/>
          </p:nvPr>
        </p:nvSpPr>
        <p:spPr/>
        <p:txBody>
          <a:bodyPr/>
          <a:lstStyle/>
          <a:p>
            <a:r>
              <a:rPr lang="en-US"/>
              <a:t>Robust performance in generating cornerstone and anchor demand</a:t>
            </a:r>
            <a:br>
              <a:rPr lang="en-US"/>
            </a:br>
            <a:r>
              <a:rPr lang="en-US" sz="1200"/>
              <a:t>Strong early demand builds confidence and price leadership</a:t>
            </a:r>
          </a:p>
        </p:txBody>
      </p:sp>
      <p:sp>
        <p:nvSpPr>
          <p:cNvPr id="4" name="Slide Number Placeholder 3">
            <a:extLst>
              <a:ext uri="{FF2B5EF4-FFF2-40B4-BE49-F238E27FC236}">
                <a16:creationId xmlns:a16="http://schemas.microsoft.com/office/drawing/2014/main" id="{CF4E7E97-D053-E529-7BE9-6CC41B3F2501}"/>
              </a:ext>
            </a:extLst>
          </p:cNvPr>
          <p:cNvSpPr>
            <a:spLocks noGrp="1"/>
          </p:cNvSpPr>
          <p:nvPr>
            <p:ph type="sldNum" sz="quarter" idx="11"/>
          </p:nvPr>
        </p:nvSpPr>
        <p:spPr/>
        <p:txBody>
          <a:bodyPr/>
          <a:lstStyle/>
          <a:p>
            <a:pPr>
              <a:defRPr/>
            </a:pPr>
            <a:fld id="{EED7964B-8F50-47E5-B5EE-37748C966AF4}" type="slidenum">
              <a:rPr lang="en-US" smtClean="0"/>
              <a:pPr>
                <a:defRPr/>
              </a:pPr>
              <a:t>32</a:t>
            </a:fld>
            <a:r>
              <a:rPr lang="en-US"/>
              <a:t> </a:t>
            </a:r>
          </a:p>
        </p:txBody>
      </p:sp>
      <p:sp>
        <p:nvSpPr>
          <p:cNvPr id="103" name="Text Placeholder 102">
            <a:extLst>
              <a:ext uri="{FF2B5EF4-FFF2-40B4-BE49-F238E27FC236}">
                <a16:creationId xmlns:a16="http://schemas.microsoft.com/office/drawing/2014/main" id="{F3C141D5-CC33-62DC-F0B4-52113DF7DA50}"/>
              </a:ext>
            </a:extLst>
          </p:cNvPr>
          <p:cNvSpPr>
            <a:spLocks noGrp="1"/>
          </p:cNvSpPr>
          <p:nvPr>
            <p:ph type="body" sz="quarter" idx="46"/>
          </p:nvPr>
        </p:nvSpPr>
        <p:spPr/>
        <p:txBody>
          <a:bodyPr/>
          <a:lstStyle/>
          <a:p>
            <a:r>
              <a:rPr lang="en-GB" sz="800"/>
              <a:t>PBWA refers to purpose-built worker accommodation and PBSA refers to purpose-built student accommodation</a:t>
            </a:r>
            <a:endParaRPr lang="en-US" sz="800"/>
          </a:p>
        </p:txBody>
      </p:sp>
      <p:sp>
        <p:nvSpPr>
          <p:cNvPr id="5" name="Rectangle: Rounded Corners 4">
            <a:extLst>
              <a:ext uri="{FF2B5EF4-FFF2-40B4-BE49-F238E27FC236}">
                <a16:creationId xmlns:a16="http://schemas.microsoft.com/office/drawing/2014/main" id="{43FC7D76-C255-FA86-D275-FB5E7EEAB825}"/>
              </a:ext>
            </a:extLst>
          </p:cNvPr>
          <p:cNvSpPr/>
          <p:nvPr/>
        </p:nvSpPr>
        <p:spPr bwMode="auto">
          <a:xfrm>
            <a:off x="452998" y="989555"/>
            <a:ext cx="9000002" cy="272415"/>
          </a:xfrm>
          <a:prstGeom prst="roundRect">
            <a:avLst>
              <a:gd name="adj" fmla="val 17331"/>
            </a:avLst>
          </a:prstGeom>
          <a:solidFill>
            <a:srgbClr val="089C8B"/>
          </a:solidFill>
          <a:ln>
            <a:noFill/>
          </a:ln>
        </p:spPr>
        <p:txBody>
          <a:bodyPr wrap="square" lIns="36000" tIns="36000" rIns="36000" bIns="36000" rtlCol="0" anchor="ctr">
            <a:noAutofit/>
          </a:bodyPr>
          <a:lstStyle/>
          <a:p>
            <a:pPr algn="ctr"/>
            <a:r>
              <a:rPr lang="en-SG" sz="1100">
                <a:solidFill>
                  <a:schemeClr val="bg1"/>
                </a:solidFill>
              </a:rPr>
              <a:t> DBS’ ability to bring thought leaders as cornerstones and anchors into the transactions</a:t>
            </a:r>
          </a:p>
        </p:txBody>
      </p:sp>
      <p:grpSp>
        <p:nvGrpSpPr>
          <p:cNvPr id="6" name="Group 5">
            <a:extLst>
              <a:ext uri="{FF2B5EF4-FFF2-40B4-BE49-F238E27FC236}">
                <a16:creationId xmlns:a16="http://schemas.microsoft.com/office/drawing/2014/main" id="{EF8A50B3-8137-21DF-60FC-EBD835953040}"/>
              </a:ext>
            </a:extLst>
          </p:cNvPr>
          <p:cNvGrpSpPr/>
          <p:nvPr/>
        </p:nvGrpSpPr>
        <p:grpSpPr>
          <a:xfrm>
            <a:off x="3569467" y="3091351"/>
            <a:ext cx="2808000" cy="1345632"/>
            <a:chOff x="3569467" y="3262547"/>
            <a:chExt cx="2808000" cy="1345632"/>
          </a:xfrm>
        </p:grpSpPr>
        <p:sp>
          <p:nvSpPr>
            <p:cNvPr id="7" name="TextBox 6">
              <a:extLst>
                <a:ext uri="{FF2B5EF4-FFF2-40B4-BE49-F238E27FC236}">
                  <a16:creationId xmlns:a16="http://schemas.microsoft.com/office/drawing/2014/main" id="{95088642-E2BF-A382-E094-29F407FA2E51}"/>
                </a:ext>
              </a:extLst>
            </p:cNvPr>
            <p:cNvSpPr txBox="1"/>
            <p:nvPr/>
          </p:nvSpPr>
          <p:spPr>
            <a:xfrm>
              <a:off x="3569467" y="3262547"/>
              <a:ext cx="2808000" cy="324000"/>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SG"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Procured 43% of cornerstone demand </a:t>
              </a:r>
              <a:br>
                <a:rPr kumimoji="0" lang="en-SG"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br>
              <a:r>
                <a:rPr kumimoji="0" lang="en-SG"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 most among banks</a:t>
              </a:r>
            </a:p>
          </p:txBody>
        </p:sp>
        <p:sp>
          <p:nvSpPr>
            <p:cNvPr id="8" name="Rectangle 7">
              <a:extLst>
                <a:ext uri="{FF2B5EF4-FFF2-40B4-BE49-F238E27FC236}">
                  <a16:creationId xmlns:a16="http://schemas.microsoft.com/office/drawing/2014/main" id="{40EEFB13-A6F6-E721-2D98-6913C96EAA3B}"/>
                </a:ext>
              </a:extLst>
            </p:cNvPr>
            <p:cNvSpPr/>
            <p:nvPr/>
          </p:nvSpPr>
          <p:spPr>
            <a:xfrm>
              <a:off x="3797810" y="4246574"/>
              <a:ext cx="692986" cy="322783"/>
            </a:xfrm>
            <a:prstGeom prst="rect">
              <a:avLst/>
            </a:prstGeom>
          </p:spPr>
          <p:txBody>
            <a:bodyPr wrap="none">
              <a:noAutofit/>
            </a:bodyPr>
            <a:lstStyle/>
            <a:p>
              <a:pPr marL="0" marR="0" lvl="0" indent="0" algn="ctr" defTabSz="914400" eaLnBrk="0" fontAlgn="auto" latinLnBrk="0" hangingPunct="0">
                <a:lnSpc>
                  <a:spcPct val="100000"/>
                </a:lnSpc>
                <a:spcBef>
                  <a:spcPts val="0"/>
                </a:spcBef>
                <a:spcAft>
                  <a:spcPts val="100"/>
                </a:spcAft>
                <a:buClrTx/>
                <a:buSzTx/>
                <a:buFontTx/>
                <a:buNone/>
                <a:tabLst/>
                <a:defRPr/>
              </a:pPr>
              <a:r>
                <a:rPr kumimoji="0" lang="en-GB" sz="800"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S$297m IPO</a:t>
              </a:r>
            </a:p>
            <a:p>
              <a:pPr marL="0" marR="0" lvl="0" indent="0" algn="ctr" defTabSz="914400" eaLnBrk="0" fontAlgn="auto" latinLnBrk="0" hangingPunct="0">
                <a:lnSpc>
                  <a:spcPct val="100000"/>
                </a:lnSpc>
                <a:spcBef>
                  <a:spcPts val="0"/>
                </a:spcBef>
                <a:spcAft>
                  <a:spcPts val="100"/>
                </a:spcAft>
                <a:buClrTx/>
                <a:buSzTx/>
                <a:buFontTx/>
                <a:buNone/>
                <a:tabLst/>
                <a:defRPr/>
              </a:pPr>
              <a:r>
                <a:rPr kumimoji="0" lang="en-GB" sz="800"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IOT OEM</a:t>
              </a:r>
            </a:p>
          </p:txBody>
        </p:sp>
        <p:pic>
          <p:nvPicPr>
            <p:cNvPr id="9" name="Picture 2" descr="Aztech Stock Info (SGX:8AZ) | SG investors.io">
              <a:extLst>
                <a:ext uri="{FF2B5EF4-FFF2-40B4-BE49-F238E27FC236}">
                  <a16:creationId xmlns:a16="http://schemas.microsoft.com/office/drawing/2014/main" id="{66E414D4-0B0F-1833-4901-2AA296E11C02}"/>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t="36858" r="1801" b="32502"/>
            <a:stretch/>
          </p:blipFill>
          <p:spPr bwMode="auto">
            <a:xfrm>
              <a:off x="3797810" y="3855101"/>
              <a:ext cx="692986" cy="270786"/>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E12ECF3A-6555-C890-4EDA-76FADFB47109}"/>
                </a:ext>
              </a:extLst>
            </p:cNvPr>
            <p:cNvCxnSpPr>
              <a:cxnSpLocks/>
            </p:cNvCxnSpPr>
            <p:nvPr/>
          </p:nvCxnSpPr>
          <p:spPr>
            <a:xfrm>
              <a:off x="4798226" y="3725161"/>
              <a:ext cx="0" cy="720000"/>
            </a:xfrm>
            <a:prstGeom prst="line">
              <a:avLst/>
            </a:prstGeom>
            <a:noFill/>
            <a:ln w="6350" cap="flat" cmpd="sng" algn="ctr">
              <a:solidFill>
                <a:srgbClr val="FFFFFF">
                  <a:lumMod val="65000"/>
                </a:srgbClr>
              </a:solidFill>
              <a:prstDash val="solid"/>
              <a:miter lim="800000"/>
            </a:ln>
            <a:effectLst/>
          </p:spPr>
        </p:cxnSp>
        <p:grpSp>
          <p:nvGrpSpPr>
            <p:cNvPr id="11" name="Group 10">
              <a:extLst>
                <a:ext uri="{FF2B5EF4-FFF2-40B4-BE49-F238E27FC236}">
                  <a16:creationId xmlns:a16="http://schemas.microsoft.com/office/drawing/2014/main" id="{0406D7D1-866F-34AE-D680-7627CBDCE53F}"/>
                </a:ext>
              </a:extLst>
            </p:cNvPr>
            <p:cNvGrpSpPr/>
            <p:nvPr/>
          </p:nvGrpSpPr>
          <p:grpSpPr>
            <a:xfrm>
              <a:off x="4885982" y="3672179"/>
              <a:ext cx="1323844" cy="936000"/>
              <a:chOff x="4968377" y="3337303"/>
              <a:chExt cx="1323844" cy="936000"/>
            </a:xfrm>
          </p:grpSpPr>
          <p:pic>
            <p:nvPicPr>
              <p:cNvPr id="12" name="Picture 4" descr="AIA logo and symbol, meaning, history, PNG">
                <a:extLst>
                  <a:ext uri="{FF2B5EF4-FFF2-40B4-BE49-F238E27FC236}">
                    <a16:creationId xmlns:a16="http://schemas.microsoft.com/office/drawing/2014/main" id="{F37F39DA-DBE4-E027-AAFF-D9317A87E79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767525" y="3337303"/>
                <a:ext cx="522817" cy="32584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9C702C45-5210-7F15-2DAE-AC274B68A6F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98001" y="3420393"/>
                <a:ext cx="804137" cy="165213"/>
              </a:xfrm>
              <a:prstGeom prst="rect">
                <a:avLst/>
              </a:prstGeom>
            </p:spPr>
          </p:pic>
          <p:pic>
            <p:nvPicPr>
              <p:cNvPr id="14" name="Picture 6" descr="Asset Management &amp; Fund Investment in Singapore | Fidelity Singapore">
                <a:extLst>
                  <a:ext uri="{FF2B5EF4-FFF2-40B4-BE49-F238E27FC236}">
                    <a16:creationId xmlns:a16="http://schemas.microsoft.com/office/drawing/2014/main" id="{4539BFA1-1771-79F8-8583-BD83ABDFC49D}"/>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l="8469" t="20578" r="9405" b="24983"/>
              <a:stretch/>
            </p:blipFill>
            <p:spPr bwMode="auto">
              <a:xfrm>
                <a:off x="4968377" y="3707342"/>
                <a:ext cx="645229" cy="2227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Home | Institutional Investors | J.P. Morgan Asset Management">
                <a:extLst>
                  <a:ext uri="{FF2B5EF4-FFF2-40B4-BE49-F238E27FC236}">
                    <a16:creationId xmlns:a16="http://schemas.microsoft.com/office/drawing/2014/main" id="{57B65A13-E342-4604-4B3E-3D3CD28DDE7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278468" y="4071900"/>
                <a:ext cx="599562" cy="20140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1A6DF226-4B24-C5EF-4E66-BB8B77B207A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694273" y="3759645"/>
                <a:ext cx="597948" cy="196342"/>
              </a:xfrm>
              <a:prstGeom prst="rect">
                <a:avLst/>
              </a:prstGeom>
            </p:spPr>
          </p:pic>
        </p:grpSp>
      </p:grpSp>
      <p:grpSp>
        <p:nvGrpSpPr>
          <p:cNvPr id="108" name="Group 107">
            <a:extLst>
              <a:ext uri="{FF2B5EF4-FFF2-40B4-BE49-F238E27FC236}">
                <a16:creationId xmlns:a16="http://schemas.microsoft.com/office/drawing/2014/main" id="{96E93155-791A-88E1-9B81-D7BB18DE57BE}"/>
              </a:ext>
            </a:extLst>
          </p:cNvPr>
          <p:cNvGrpSpPr/>
          <p:nvPr/>
        </p:nvGrpSpPr>
        <p:grpSpPr>
          <a:xfrm>
            <a:off x="6666888" y="3090969"/>
            <a:ext cx="2808000" cy="1411880"/>
            <a:chOff x="6767865" y="3119895"/>
            <a:chExt cx="2808000" cy="1411880"/>
          </a:xfrm>
        </p:grpSpPr>
        <p:cxnSp>
          <p:nvCxnSpPr>
            <p:cNvPr id="18" name="Straight Connector 17">
              <a:extLst>
                <a:ext uri="{FF2B5EF4-FFF2-40B4-BE49-F238E27FC236}">
                  <a16:creationId xmlns:a16="http://schemas.microsoft.com/office/drawing/2014/main" id="{F87DE42E-9C5B-D6B1-3377-930C40067BAD}"/>
                </a:ext>
              </a:extLst>
            </p:cNvPr>
            <p:cNvCxnSpPr>
              <a:cxnSpLocks/>
            </p:cNvCxnSpPr>
            <p:nvPr/>
          </p:nvCxnSpPr>
          <p:spPr>
            <a:xfrm>
              <a:off x="8013873" y="3613195"/>
              <a:ext cx="0" cy="720000"/>
            </a:xfrm>
            <a:prstGeom prst="line">
              <a:avLst/>
            </a:prstGeom>
            <a:noFill/>
            <a:ln w="6350" cap="flat" cmpd="sng" algn="ctr">
              <a:solidFill>
                <a:srgbClr val="FFFFFF">
                  <a:lumMod val="65000"/>
                </a:srgbClr>
              </a:solidFill>
              <a:prstDash val="solid"/>
              <a:miter lim="800000"/>
            </a:ln>
            <a:effectLst/>
          </p:spPr>
        </p:cxnSp>
        <p:sp>
          <p:nvSpPr>
            <p:cNvPr id="19" name="Rectangle 18">
              <a:extLst>
                <a:ext uri="{FF2B5EF4-FFF2-40B4-BE49-F238E27FC236}">
                  <a16:creationId xmlns:a16="http://schemas.microsoft.com/office/drawing/2014/main" id="{17250973-1EA3-3E69-C8D7-ABF26CF706C0}"/>
                </a:ext>
              </a:extLst>
            </p:cNvPr>
            <p:cNvSpPr/>
            <p:nvPr/>
          </p:nvSpPr>
          <p:spPr>
            <a:xfrm>
              <a:off x="6780876" y="4115999"/>
              <a:ext cx="1251121" cy="360000"/>
            </a:xfrm>
            <a:prstGeom prst="rect">
              <a:avLst/>
            </a:prstGeom>
          </p:spPr>
          <p:txBody>
            <a:bodyPr wrap="none">
              <a:noAutofit/>
            </a:bodyPr>
            <a:lstStyle/>
            <a:p>
              <a:pPr marL="0" marR="0" lvl="0" indent="0" algn="ctr" defTabSz="914400" eaLnBrk="0" fontAlgn="auto" latinLnBrk="0" hangingPunct="0">
                <a:lnSpc>
                  <a:spcPct val="100000"/>
                </a:lnSpc>
                <a:spcBef>
                  <a:spcPts val="0"/>
                </a:spcBef>
                <a:spcAft>
                  <a:spcPts val="100"/>
                </a:spcAft>
                <a:buClrTx/>
                <a:buSzTx/>
                <a:buFontTx/>
                <a:buNone/>
                <a:tabLst/>
                <a:defRPr/>
              </a:pPr>
              <a:r>
                <a:rPr kumimoji="0" lang="en-GB" sz="8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rPr>
                <a:t>S$740m IPO</a:t>
              </a:r>
            </a:p>
            <a:p>
              <a:pPr marL="0" marR="0" lvl="0" indent="0" algn="ctr" defTabSz="914400" eaLnBrk="0" fontAlgn="auto" latinLnBrk="0" hangingPunct="0">
                <a:lnSpc>
                  <a:spcPct val="100000"/>
                </a:lnSpc>
                <a:spcBef>
                  <a:spcPts val="0"/>
                </a:spcBef>
                <a:spcAft>
                  <a:spcPts val="100"/>
                </a:spcAft>
                <a:buClrTx/>
                <a:buSzTx/>
                <a:buFontTx/>
                <a:buNone/>
                <a:tabLst/>
                <a:defRPr/>
              </a:pPr>
              <a:r>
                <a:rPr kumimoji="0" lang="en-GB" sz="8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rPr>
                <a:t>Retail REIT</a:t>
              </a:r>
            </a:p>
          </p:txBody>
        </p:sp>
        <p:pic>
          <p:nvPicPr>
            <p:cNvPr id="20" name="Picture 19">
              <a:extLst>
                <a:ext uri="{FF2B5EF4-FFF2-40B4-BE49-F238E27FC236}">
                  <a16:creationId xmlns:a16="http://schemas.microsoft.com/office/drawing/2014/main" id="{765F6850-ED6E-C115-4AFB-A731134DC127}"/>
                </a:ext>
              </a:extLst>
            </p:cNvPr>
            <p:cNvPicPr>
              <a:picLocks noChangeAspect="1"/>
            </p:cNvPicPr>
            <p:nvPr/>
          </p:nvPicPr>
          <p:blipFill>
            <a:blip r:embed="rId8"/>
            <a:stretch>
              <a:fillRect/>
            </a:stretch>
          </p:blipFill>
          <p:spPr>
            <a:xfrm>
              <a:off x="6870784" y="3656331"/>
              <a:ext cx="1071305" cy="307297"/>
            </a:xfrm>
            <a:prstGeom prst="rect">
              <a:avLst/>
            </a:prstGeom>
          </p:spPr>
        </p:pic>
        <p:pic>
          <p:nvPicPr>
            <p:cNvPr id="23" name="Picture 22">
              <a:extLst>
                <a:ext uri="{FF2B5EF4-FFF2-40B4-BE49-F238E27FC236}">
                  <a16:creationId xmlns:a16="http://schemas.microsoft.com/office/drawing/2014/main" id="{BDC9EA8C-A7DB-2A01-8E10-E81142FFA27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04228" y="3657624"/>
              <a:ext cx="741558" cy="152356"/>
            </a:xfrm>
            <a:prstGeom prst="rect">
              <a:avLst/>
            </a:prstGeom>
          </p:spPr>
        </p:pic>
        <p:sp>
          <p:nvSpPr>
            <p:cNvPr id="24" name="TextBox 23">
              <a:extLst>
                <a:ext uri="{FF2B5EF4-FFF2-40B4-BE49-F238E27FC236}">
                  <a16:creationId xmlns:a16="http://schemas.microsoft.com/office/drawing/2014/main" id="{AE42BC5F-2F48-4AD3-FB90-EFD7F22720E2}"/>
                </a:ext>
              </a:extLst>
            </p:cNvPr>
            <p:cNvSpPr txBox="1"/>
            <p:nvPr/>
          </p:nvSpPr>
          <p:spPr bwMode="gray">
            <a:xfrm>
              <a:off x="8113901" y="3831567"/>
              <a:ext cx="728875" cy="307777"/>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rPr>
                <a:t>Asdew Acquisitions</a:t>
              </a:r>
              <a:endParaRPr kumimoji="0" lang="en-US" sz="7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endParaRPr>
            </a:p>
          </p:txBody>
        </p:sp>
        <p:pic>
          <p:nvPicPr>
            <p:cNvPr id="25" name="Picture 24">
              <a:extLst>
                <a:ext uri="{FF2B5EF4-FFF2-40B4-BE49-F238E27FC236}">
                  <a16:creationId xmlns:a16="http://schemas.microsoft.com/office/drawing/2014/main" id="{EEA649B5-FD0E-FA59-B7AA-EEBD6420C616}"/>
                </a:ext>
              </a:extLst>
            </p:cNvPr>
            <p:cNvPicPr>
              <a:picLocks noChangeAspect="1"/>
            </p:cNvPicPr>
            <p:nvPr/>
          </p:nvPicPr>
          <p:blipFill>
            <a:blip r:embed="rId9"/>
            <a:stretch>
              <a:fillRect/>
            </a:stretch>
          </p:blipFill>
          <p:spPr>
            <a:xfrm>
              <a:off x="8962066" y="4221641"/>
              <a:ext cx="511695" cy="95617"/>
            </a:xfrm>
            <a:prstGeom prst="rect">
              <a:avLst/>
            </a:prstGeom>
          </p:spPr>
        </p:pic>
        <p:pic>
          <p:nvPicPr>
            <p:cNvPr id="26" name="Picture 25">
              <a:extLst>
                <a:ext uri="{FF2B5EF4-FFF2-40B4-BE49-F238E27FC236}">
                  <a16:creationId xmlns:a16="http://schemas.microsoft.com/office/drawing/2014/main" id="{A9912146-CED8-1437-49D2-95C1CFF229C2}"/>
                </a:ext>
              </a:extLst>
            </p:cNvPr>
            <p:cNvPicPr>
              <a:picLocks noChangeAspect="1"/>
            </p:cNvPicPr>
            <p:nvPr/>
          </p:nvPicPr>
          <p:blipFill rotWithShape="1">
            <a:blip r:embed="rId10"/>
            <a:srcRect l="816" r="1086"/>
            <a:stretch/>
          </p:blipFill>
          <p:spPr>
            <a:xfrm>
              <a:off x="8978326" y="3903675"/>
              <a:ext cx="479174" cy="193840"/>
            </a:xfrm>
            <a:prstGeom prst="rect">
              <a:avLst/>
            </a:prstGeom>
          </p:spPr>
        </p:pic>
        <p:pic>
          <p:nvPicPr>
            <p:cNvPr id="27" name="Picture 26">
              <a:extLst>
                <a:ext uri="{FF2B5EF4-FFF2-40B4-BE49-F238E27FC236}">
                  <a16:creationId xmlns:a16="http://schemas.microsoft.com/office/drawing/2014/main" id="{0D032144-C2E9-045B-9DF1-A94C93C5F51A}"/>
                </a:ext>
              </a:extLst>
            </p:cNvPr>
            <p:cNvPicPr>
              <a:picLocks noChangeAspect="1"/>
            </p:cNvPicPr>
            <p:nvPr/>
          </p:nvPicPr>
          <p:blipFill>
            <a:blip r:embed="rId11"/>
            <a:stretch>
              <a:fillRect/>
            </a:stretch>
          </p:blipFill>
          <p:spPr>
            <a:xfrm>
              <a:off x="8230913" y="4162090"/>
              <a:ext cx="498534" cy="142776"/>
            </a:xfrm>
            <a:prstGeom prst="rect">
              <a:avLst/>
            </a:prstGeom>
          </p:spPr>
        </p:pic>
        <p:pic>
          <p:nvPicPr>
            <p:cNvPr id="28" name="Picture 4" descr="Image result for tmb asset management">
              <a:extLst>
                <a:ext uri="{FF2B5EF4-FFF2-40B4-BE49-F238E27FC236}">
                  <a16:creationId xmlns:a16="http://schemas.microsoft.com/office/drawing/2014/main" id="{6408615A-C406-9280-A721-5A5FD35F1DDC}"/>
                </a:ext>
              </a:extLst>
            </p:cNvPr>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a:stretch/>
          </p:blipFill>
          <p:spPr bwMode="auto">
            <a:xfrm>
              <a:off x="8992753" y="3652782"/>
              <a:ext cx="450321" cy="183368"/>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2228D7FB-AE62-06A8-FC41-95B15C945097}"/>
                </a:ext>
              </a:extLst>
            </p:cNvPr>
            <p:cNvSpPr txBox="1"/>
            <p:nvPr/>
          </p:nvSpPr>
          <p:spPr bwMode="gray">
            <a:xfrm>
              <a:off x="8268953" y="4331720"/>
              <a:ext cx="1160951" cy="200055"/>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rPr>
                <a:t>Soon Lee Land        </a:t>
              </a:r>
              <a:endParaRPr kumimoji="0" lang="en-US" sz="7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endParaRPr>
            </a:p>
          </p:txBody>
        </p:sp>
        <p:sp>
          <p:nvSpPr>
            <p:cNvPr id="22" name="TextBox 21">
              <a:extLst>
                <a:ext uri="{FF2B5EF4-FFF2-40B4-BE49-F238E27FC236}">
                  <a16:creationId xmlns:a16="http://schemas.microsoft.com/office/drawing/2014/main" id="{CF354584-87E3-EB55-D5C6-E84C857BACC6}"/>
                </a:ext>
              </a:extLst>
            </p:cNvPr>
            <p:cNvSpPr txBox="1"/>
            <p:nvPr/>
          </p:nvSpPr>
          <p:spPr>
            <a:xfrm>
              <a:off x="6767865" y="3119895"/>
              <a:ext cx="2808000" cy="324000"/>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SG"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Procured 62% of cornerstone demand</a:t>
              </a:r>
            </a:p>
          </p:txBody>
        </p:sp>
      </p:grpSp>
      <p:grpSp>
        <p:nvGrpSpPr>
          <p:cNvPr id="30" name="Group 29">
            <a:extLst>
              <a:ext uri="{FF2B5EF4-FFF2-40B4-BE49-F238E27FC236}">
                <a16:creationId xmlns:a16="http://schemas.microsoft.com/office/drawing/2014/main" id="{4F9895EA-A09F-078E-F8A3-BF0BDB00F8BF}"/>
              </a:ext>
            </a:extLst>
          </p:cNvPr>
          <p:cNvGrpSpPr/>
          <p:nvPr/>
        </p:nvGrpSpPr>
        <p:grpSpPr>
          <a:xfrm>
            <a:off x="452998" y="3091352"/>
            <a:ext cx="2808000" cy="1244354"/>
            <a:chOff x="452998" y="3262548"/>
            <a:chExt cx="2808000" cy="1244354"/>
          </a:xfrm>
        </p:grpSpPr>
        <p:sp>
          <p:nvSpPr>
            <p:cNvPr id="31" name="Mainlogo 1">
              <a:extLst>
                <a:ext uri="{FF2B5EF4-FFF2-40B4-BE49-F238E27FC236}">
                  <a16:creationId xmlns:a16="http://schemas.microsoft.com/office/drawing/2014/main" id="{3566C5A2-E062-0825-4AD8-DB446132D562}"/>
                </a:ext>
              </a:extLst>
            </p:cNvPr>
            <p:cNvSpPr/>
            <p:nvPr/>
          </p:nvSpPr>
          <p:spPr>
            <a:xfrm>
              <a:off x="454067" y="3732285"/>
              <a:ext cx="1214996" cy="441595"/>
            </a:xfrm>
            <a:prstGeom prst="rect">
              <a:avLst/>
            </a:prstGeom>
            <a:blipFill>
              <a:blip r:embed="rId13"/>
              <a:stretch>
                <a:fillRect l="-22417" t="-4808" r="-19419"/>
              </a:stretch>
            </a:blipFill>
            <a:ln w="12700" cap="flat" cmpd="sng" algn="ctr">
              <a:noFill/>
              <a:prstDash val="solid"/>
              <a:miter lim="800000"/>
            </a:ln>
            <a:effectLst/>
          </p:spPr>
          <p:txBody>
            <a:bodyPr rtlCol="0" anchor="ctr"/>
            <a:lstStyle/>
            <a:p>
              <a:pPr marL="0" marR="0" lvl="0" indent="0" algn="ctr" defTabSz="844083" eaLnBrk="1" fontAlgn="auto" latinLnBrk="0" hangingPunct="1">
                <a:lnSpc>
                  <a:spcPct val="100000"/>
                </a:lnSpc>
                <a:spcBef>
                  <a:spcPts val="0"/>
                </a:spcBef>
                <a:spcAft>
                  <a:spcPts val="0"/>
                </a:spcAft>
                <a:buClrTx/>
                <a:buSzTx/>
                <a:buFontTx/>
                <a:buNone/>
                <a:tabLst/>
                <a:defRPr/>
              </a:pPr>
              <a:endParaRPr kumimoji="0" lang="en-US" sz="1477" b="0" i="0" u="none" strike="noStrike" kern="0" cap="none" spc="0" normalizeH="0" baseline="0" noProof="0">
                <a:ln>
                  <a:noFill/>
                </a:ln>
                <a:solidFill>
                  <a:prstClr val="white"/>
                </a:solidFill>
                <a:effectLst/>
                <a:uLnTx/>
                <a:uFillTx/>
                <a:latin typeface="Arial"/>
              </a:endParaRPr>
            </a:p>
          </p:txBody>
        </p:sp>
        <p:sp>
          <p:nvSpPr>
            <p:cNvPr id="32" name="TextBox 31">
              <a:extLst>
                <a:ext uri="{FF2B5EF4-FFF2-40B4-BE49-F238E27FC236}">
                  <a16:creationId xmlns:a16="http://schemas.microsoft.com/office/drawing/2014/main" id="{A64B83FB-C3C5-18A7-96FE-83087D683352}"/>
                </a:ext>
              </a:extLst>
            </p:cNvPr>
            <p:cNvSpPr txBox="1"/>
            <p:nvPr/>
          </p:nvSpPr>
          <p:spPr>
            <a:xfrm>
              <a:off x="452998" y="3262548"/>
              <a:ext cx="2808000" cy="330631"/>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p>
              <a:pPr marL="0" marR="0" lvl="0" indent="0" algn="ctr" defTabSz="422041" eaLnBrk="1" fontAlgn="auto" latinLnBrk="0" hangingPunct="1">
                <a:lnSpc>
                  <a:spcPct val="100000"/>
                </a:lnSpc>
                <a:spcBef>
                  <a:spcPts val="0"/>
                </a:spcBef>
                <a:spcAft>
                  <a:spcPts val="0"/>
                </a:spcAft>
                <a:buClrTx/>
                <a:buSzTx/>
                <a:buFontTx/>
                <a:buNone/>
                <a:tabLst/>
                <a:defRPr/>
              </a:pPr>
              <a:r>
                <a:rPr kumimoji="0" lang="en-SG" sz="831"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Achieved highest conversion rate of ~80% with  US$636m cornerstone demand </a:t>
              </a:r>
            </a:p>
          </p:txBody>
        </p:sp>
        <p:sp>
          <p:nvSpPr>
            <p:cNvPr id="33" name="Rectangle 32">
              <a:extLst>
                <a:ext uri="{FF2B5EF4-FFF2-40B4-BE49-F238E27FC236}">
                  <a16:creationId xmlns:a16="http://schemas.microsoft.com/office/drawing/2014/main" id="{82F28F3B-A9FF-D09A-25CE-20958D4B25B6}"/>
                </a:ext>
              </a:extLst>
            </p:cNvPr>
            <p:cNvSpPr/>
            <p:nvPr/>
          </p:nvSpPr>
          <p:spPr>
            <a:xfrm>
              <a:off x="707980" y="4177513"/>
              <a:ext cx="707170" cy="329389"/>
            </a:xfrm>
            <a:prstGeom prst="rect">
              <a:avLst/>
            </a:prstGeom>
          </p:spPr>
          <p:txBody>
            <a:bodyPr wrap="none">
              <a:noAutofit/>
            </a:bodyPr>
            <a:lstStyle/>
            <a:p>
              <a:pPr marL="0" marR="0" lvl="0" indent="0" algn="ctr" defTabSz="844083" eaLnBrk="0" fontAlgn="auto" latinLnBrk="0" hangingPunct="0">
                <a:lnSpc>
                  <a:spcPct val="100000"/>
                </a:lnSpc>
                <a:spcBef>
                  <a:spcPts val="0"/>
                </a:spcBef>
                <a:spcAft>
                  <a:spcPts val="92"/>
                </a:spcAft>
                <a:buClrTx/>
                <a:buSzTx/>
                <a:buFontTx/>
                <a:buNone/>
                <a:tabLst/>
                <a:defRPr/>
              </a:pPr>
              <a:r>
                <a:rPr kumimoji="0" lang="en-GB" sz="738"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US$600m IPO</a:t>
              </a:r>
            </a:p>
            <a:p>
              <a:pPr marL="0" marR="0" lvl="0" indent="0" algn="ctr" defTabSz="844083" eaLnBrk="0" fontAlgn="auto" latinLnBrk="0" hangingPunct="0">
                <a:lnSpc>
                  <a:spcPct val="100000"/>
                </a:lnSpc>
                <a:spcBef>
                  <a:spcPts val="0"/>
                </a:spcBef>
                <a:spcAft>
                  <a:spcPts val="92"/>
                </a:spcAft>
                <a:buClrTx/>
                <a:buSzTx/>
                <a:buFontTx/>
                <a:buNone/>
                <a:tabLst/>
                <a:defRPr/>
              </a:pPr>
              <a:r>
                <a:rPr kumimoji="0" lang="en-GB" sz="738"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Data centre REIT</a:t>
              </a:r>
            </a:p>
          </p:txBody>
        </p:sp>
        <p:cxnSp>
          <p:nvCxnSpPr>
            <p:cNvPr id="34" name="Straight Connector 33">
              <a:extLst>
                <a:ext uri="{FF2B5EF4-FFF2-40B4-BE49-F238E27FC236}">
                  <a16:creationId xmlns:a16="http://schemas.microsoft.com/office/drawing/2014/main" id="{FB23764B-D95E-66ED-7102-6926146A8E86}"/>
                </a:ext>
              </a:extLst>
            </p:cNvPr>
            <p:cNvCxnSpPr>
              <a:cxnSpLocks/>
            </p:cNvCxnSpPr>
            <p:nvPr/>
          </p:nvCxnSpPr>
          <p:spPr>
            <a:xfrm>
              <a:off x="1628785" y="3722155"/>
              <a:ext cx="0" cy="734736"/>
            </a:xfrm>
            <a:prstGeom prst="line">
              <a:avLst/>
            </a:prstGeom>
            <a:noFill/>
            <a:ln w="6350" cap="flat" cmpd="sng" algn="ctr">
              <a:solidFill>
                <a:srgbClr val="FFFFFF">
                  <a:lumMod val="65000"/>
                </a:srgbClr>
              </a:solidFill>
              <a:prstDash val="solid"/>
              <a:miter lim="800000"/>
            </a:ln>
            <a:effectLst/>
          </p:spPr>
        </p:cxnSp>
        <p:grpSp>
          <p:nvGrpSpPr>
            <p:cNvPr id="35" name="Group 34">
              <a:extLst>
                <a:ext uri="{FF2B5EF4-FFF2-40B4-BE49-F238E27FC236}">
                  <a16:creationId xmlns:a16="http://schemas.microsoft.com/office/drawing/2014/main" id="{A546CFFF-19C0-3525-3E64-24B70EE2B4AB}"/>
                </a:ext>
              </a:extLst>
            </p:cNvPr>
            <p:cNvGrpSpPr/>
            <p:nvPr/>
          </p:nvGrpSpPr>
          <p:grpSpPr>
            <a:xfrm>
              <a:off x="1709574" y="3752802"/>
              <a:ext cx="1525681" cy="733495"/>
              <a:chOff x="7984727" y="2020032"/>
              <a:chExt cx="1495081" cy="718784"/>
            </a:xfrm>
          </p:grpSpPr>
          <p:pic>
            <p:nvPicPr>
              <p:cNvPr id="36" name="Picture 4" descr="AIA logo and symbol, meaning, history, PNG">
                <a:extLst>
                  <a:ext uri="{FF2B5EF4-FFF2-40B4-BE49-F238E27FC236}">
                    <a16:creationId xmlns:a16="http://schemas.microsoft.com/office/drawing/2014/main" id="{9FD510E3-2ED1-F0CA-1E74-2285FAC647BF}"/>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12955" r="12955"/>
              <a:stretch/>
            </p:blipFill>
            <p:spPr bwMode="auto">
              <a:xfrm>
                <a:off x="7984727" y="2027031"/>
                <a:ext cx="387356" cy="32584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0" descr="Singapore's Fullerton Fund Management creates PE team | AVCJ">
                <a:extLst>
                  <a:ext uri="{FF2B5EF4-FFF2-40B4-BE49-F238E27FC236}">
                    <a16:creationId xmlns:a16="http://schemas.microsoft.com/office/drawing/2014/main" id="{272944B2-2DD5-D821-DCF9-DE3B1A404067}"/>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t="23772" b="21924"/>
              <a:stretch/>
            </p:blipFill>
            <p:spPr bwMode="auto">
              <a:xfrm>
                <a:off x="8394824" y="2020032"/>
                <a:ext cx="1084984" cy="362581"/>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8" descr="AEW">
                <a:extLst>
                  <a:ext uri="{FF2B5EF4-FFF2-40B4-BE49-F238E27FC236}">
                    <a16:creationId xmlns:a16="http://schemas.microsoft.com/office/drawing/2014/main" id="{A92524DD-9AA9-1B97-7071-254FB3789EF6}"/>
                  </a:ext>
                </a:extLst>
              </p:cNvPr>
              <p:cNvPicPr>
                <a:picLocks noChangeAspect="1" noChangeArrowheads="1"/>
              </p:cNvPicPr>
              <p:nvPr/>
            </p:nvPicPr>
            <p:blipFill rotWithShape="1">
              <a:blip r:embed="rId15" cstate="print">
                <a:extLst>
                  <a:ext uri="{28A0092B-C50C-407E-A947-70E740481C1C}">
                    <a14:useLocalDpi xmlns:a14="http://schemas.microsoft.com/office/drawing/2010/main" val="0"/>
                  </a:ext>
                </a:extLst>
              </a:blip>
              <a:srcRect r="30330"/>
              <a:stretch/>
            </p:blipFill>
            <p:spPr bwMode="auto">
              <a:xfrm>
                <a:off x="8375774" y="2392399"/>
                <a:ext cx="520076" cy="34641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9" name="Group 38">
            <a:extLst>
              <a:ext uri="{FF2B5EF4-FFF2-40B4-BE49-F238E27FC236}">
                <a16:creationId xmlns:a16="http://schemas.microsoft.com/office/drawing/2014/main" id="{085C0339-A6E2-5FB6-19B9-F6BDA84AD12E}"/>
              </a:ext>
            </a:extLst>
          </p:cNvPr>
          <p:cNvGrpSpPr/>
          <p:nvPr/>
        </p:nvGrpSpPr>
        <p:grpSpPr>
          <a:xfrm>
            <a:off x="452998" y="4669104"/>
            <a:ext cx="3083538" cy="1249171"/>
            <a:chOff x="452998" y="4860178"/>
            <a:chExt cx="3083538" cy="1249171"/>
          </a:xfrm>
        </p:grpSpPr>
        <p:sp>
          <p:nvSpPr>
            <p:cNvPr id="40" name="TextBox 39">
              <a:extLst>
                <a:ext uri="{FF2B5EF4-FFF2-40B4-BE49-F238E27FC236}">
                  <a16:creationId xmlns:a16="http://schemas.microsoft.com/office/drawing/2014/main" id="{4CB927BE-7731-E68D-9209-36F3A06494CA}"/>
                </a:ext>
              </a:extLst>
            </p:cNvPr>
            <p:cNvSpPr txBox="1"/>
            <p:nvPr/>
          </p:nvSpPr>
          <p:spPr>
            <a:xfrm>
              <a:off x="452998" y="4860178"/>
              <a:ext cx="2808000" cy="324000"/>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SG"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Procured bulk of anchor book, accounted for 48% of Day 1 demand</a:t>
              </a:r>
            </a:p>
          </p:txBody>
        </p:sp>
        <p:cxnSp>
          <p:nvCxnSpPr>
            <p:cNvPr id="41" name="Straight Connector 40">
              <a:extLst>
                <a:ext uri="{FF2B5EF4-FFF2-40B4-BE49-F238E27FC236}">
                  <a16:creationId xmlns:a16="http://schemas.microsoft.com/office/drawing/2014/main" id="{DBA074AB-6BEB-0675-357E-61BFB0B0F233}"/>
                </a:ext>
              </a:extLst>
            </p:cNvPr>
            <p:cNvCxnSpPr>
              <a:cxnSpLocks/>
            </p:cNvCxnSpPr>
            <p:nvPr/>
          </p:nvCxnSpPr>
          <p:spPr>
            <a:xfrm>
              <a:off x="1637188" y="5370886"/>
              <a:ext cx="0" cy="720000"/>
            </a:xfrm>
            <a:prstGeom prst="line">
              <a:avLst/>
            </a:prstGeom>
            <a:noFill/>
            <a:ln w="6350" cap="flat" cmpd="sng" algn="ctr">
              <a:solidFill>
                <a:srgbClr val="FFFFFF">
                  <a:lumMod val="65000"/>
                </a:srgbClr>
              </a:solidFill>
              <a:prstDash val="solid"/>
              <a:miter lim="800000"/>
            </a:ln>
            <a:effectLst/>
          </p:spPr>
        </p:cxnSp>
        <p:sp>
          <p:nvSpPr>
            <p:cNvPr id="42" name="Rectangle 41">
              <a:extLst>
                <a:ext uri="{FF2B5EF4-FFF2-40B4-BE49-F238E27FC236}">
                  <a16:creationId xmlns:a16="http://schemas.microsoft.com/office/drawing/2014/main" id="{14AD973A-D1CA-A38F-9C19-A55BF958E9B9}"/>
                </a:ext>
              </a:extLst>
            </p:cNvPr>
            <p:cNvSpPr/>
            <p:nvPr/>
          </p:nvSpPr>
          <p:spPr>
            <a:xfrm>
              <a:off x="453000" y="5807783"/>
              <a:ext cx="1251121" cy="301566"/>
            </a:xfrm>
            <a:prstGeom prst="rect">
              <a:avLst/>
            </a:prstGeom>
          </p:spPr>
          <p:txBody>
            <a:bodyPr wrap="none">
              <a:noAutofit/>
            </a:bodyPr>
            <a:lstStyle/>
            <a:p>
              <a:pPr marL="0" marR="0" lvl="0" indent="0" algn="ctr" defTabSz="914400" eaLnBrk="0" fontAlgn="auto" latinLnBrk="0" hangingPunct="0">
                <a:lnSpc>
                  <a:spcPct val="100000"/>
                </a:lnSpc>
                <a:spcBef>
                  <a:spcPts val="0"/>
                </a:spcBef>
                <a:spcAft>
                  <a:spcPts val="100"/>
                </a:spcAft>
                <a:buClrTx/>
                <a:buSzTx/>
                <a:buFontTx/>
                <a:buNone/>
                <a:tabLst/>
                <a:defRPr/>
              </a:pPr>
              <a:r>
                <a:rPr kumimoji="0" lang="en-SG" sz="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S$2.3b IPO</a:t>
              </a:r>
            </a:p>
            <a:p>
              <a:pPr marL="0" marR="0" lvl="0" indent="0" algn="ctr" defTabSz="914400" eaLnBrk="0" fontAlgn="auto" latinLnBrk="0" hangingPunct="0">
                <a:lnSpc>
                  <a:spcPct val="100000"/>
                </a:lnSpc>
                <a:spcBef>
                  <a:spcPts val="0"/>
                </a:spcBef>
                <a:spcAft>
                  <a:spcPts val="100"/>
                </a:spcAft>
                <a:buClrTx/>
                <a:buSzTx/>
                <a:buFontTx/>
                <a:buNone/>
                <a:tabLst/>
                <a:defRPr/>
              </a:pPr>
              <a:r>
                <a:rPr kumimoji="0" lang="en-SG" sz="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Fibre network</a:t>
              </a:r>
            </a:p>
          </p:txBody>
        </p:sp>
        <p:sp>
          <p:nvSpPr>
            <p:cNvPr id="43" name="Mainlogo 2">
              <a:extLst>
                <a:ext uri="{FF2B5EF4-FFF2-40B4-BE49-F238E27FC236}">
                  <a16:creationId xmlns:a16="http://schemas.microsoft.com/office/drawing/2014/main" id="{1BD77FF0-8853-7ADE-AE55-6873636192F4}"/>
                </a:ext>
              </a:extLst>
            </p:cNvPr>
            <p:cNvSpPr/>
            <p:nvPr/>
          </p:nvSpPr>
          <p:spPr>
            <a:xfrm>
              <a:off x="544065" y="5348761"/>
              <a:ext cx="1068990" cy="296387"/>
            </a:xfrm>
            <a:prstGeom prst="rect">
              <a:avLst/>
            </a:prstGeom>
            <a:blipFill>
              <a:blip r:embed="rId16" cstate="print"/>
              <a:stretch>
                <a:fillRect l="-8519" r="-8519"/>
              </a:stretch>
            </a:blipFill>
            <a:ln w="12700" cap="flat" cmpd="sng" algn="ctr">
              <a:noFill/>
              <a:prstDash val="solid"/>
              <a:miter lim="800000"/>
            </a:ln>
            <a:effectLst/>
          </p:spPr>
          <p:txBody>
            <a:bodyPr rtlCol="0" anchor="ctr"/>
            <a:lstStyle/>
            <a:p>
              <a:pPr marL="0" marR="0" lvl="0" indent="0" algn="ctr" defTabSz="844024" eaLnBrk="0" fontAlgn="auto" latinLnBrk="0" hangingPunct="0">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nvGrpSpPr>
            <p:cNvPr id="44" name="Group 43">
              <a:extLst>
                <a:ext uri="{FF2B5EF4-FFF2-40B4-BE49-F238E27FC236}">
                  <a16:creationId xmlns:a16="http://schemas.microsoft.com/office/drawing/2014/main" id="{B70F4173-38E4-D70E-9EAC-307344D7473E}"/>
                </a:ext>
              </a:extLst>
            </p:cNvPr>
            <p:cNvGrpSpPr/>
            <p:nvPr/>
          </p:nvGrpSpPr>
          <p:grpSpPr>
            <a:xfrm>
              <a:off x="1722227" y="5377367"/>
              <a:ext cx="1814309" cy="719328"/>
              <a:chOff x="1673077" y="4872822"/>
              <a:chExt cx="1814309" cy="719328"/>
            </a:xfrm>
          </p:grpSpPr>
          <p:pic>
            <p:nvPicPr>
              <p:cNvPr id="45" name="Picture 44">
                <a:extLst>
                  <a:ext uri="{FF2B5EF4-FFF2-40B4-BE49-F238E27FC236}">
                    <a16:creationId xmlns:a16="http://schemas.microsoft.com/office/drawing/2014/main" id="{50A53940-91C8-F78E-D7E8-93CB52D95C6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33077" y="4872822"/>
                <a:ext cx="908203" cy="154352"/>
              </a:xfrm>
              <a:prstGeom prst="rect">
                <a:avLst/>
              </a:prstGeom>
            </p:spPr>
          </p:pic>
          <p:pic>
            <p:nvPicPr>
              <p:cNvPr id="46" name="Picture 45">
                <a:extLst>
                  <a:ext uri="{FF2B5EF4-FFF2-40B4-BE49-F238E27FC236}">
                    <a16:creationId xmlns:a16="http://schemas.microsoft.com/office/drawing/2014/main" id="{E6F035F1-CD1E-351D-5BA9-C61759DA7673}"/>
                  </a:ext>
                </a:extLst>
              </p:cNvPr>
              <p:cNvPicPr>
                <a:picLocks noChangeAspect="1"/>
              </p:cNvPicPr>
              <p:nvPr/>
            </p:nvPicPr>
            <p:blipFill>
              <a:blip r:embed="rId17"/>
              <a:stretch>
                <a:fillRect/>
              </a:stretch>
            </p:blipFill>
            <p:spPr>
              <a:xfrm>
                <a:off x="1710591" y="5103788"/>
                <a:ext cx="1037241" cy="200180"/>
              </a:xfrm>
              <a:prstGeom prst="rect">
                <a:avLst/>
              </a:prstGeom>
            </p:spPr>
          </p:pic>
          <p:pic>
            <p:nvPicPr>
              <p:cNvPr id="47" name="Picture 46">
                <a:extLst>
                  <a:ext uri="{FF2B5EF4-FFF2-40B4-BE49-F238E27FC236}">
                    <a16:creationId xmlns:a16="http://schemas.microsoft.com/office/drawing/2014/main" id="{09D0F618-E7EC-EFC4-32DF-462226FB8447}"/>
                  </a:ext>
                </a:extLst>
              </p:cNvPr>
              <p:cNvPicPr>
                <a:picLocks noChangeAspect="1"/>
              </p:cNvPicPr>
              <p:nvPr/>
            </p:nvPicPr>
            <p:blipFill>
              <a:blip r:embed="rId18"/>
              <a:stretch>
                <a:fillRect/>
              </a:stretch>
            </p:blipFill>
            <p:spPr>
              <a:xfrm>
                <a:off x="1673077" y="5346779"/>
                <a:ext cx="894505" cy="245371"/>
              </a:xfrm>
              <a:prstGeom prst="rect">
                <a:avLst/>
              </a:prstGeom>
            </p:spPr>
          </p:pic>
          <p:pic>
            <p:nvPicPr>
              <p:cNvPr id="48" name="Picture 47">
                <a:extLst>
                  <a:ext uri="{FF2B5EF4-FFF2-40B4-BE49-F238E27FC236}">
                    <a16:creationId xmlns:a16="http://schemas.microsoft.com/office/drawing/2014/main" id="{D40EE86A-07AF-D779-F695-E387995E6B0E}"/>
                  </a:ext>
                </a:extLst>
              </p:cNvPr>
              <p:cNvPicPr>
                <a:picLocks noChangeAspect="1"/>
              </p:cNvPicPr>
              <p:nvPr/>
            </p:nvPicPr>
            <p:blipFill>
              <a:blip r:embed="rId19"/>
              <a:stretch>
                <a:fillRect/>
              </a:stretch>
            </p:blipFill>
            <p:spPr>
              <a:xfrm>
                <a:off x="2763166" y="4881002"/>
                <a:ext cx="572108" cy="136996"/>
              </a:xfrm>
              <a:prstGeom prst="rect">
                <a:avLst/>
              </a:prstGeom>
            </p:spPr>
          </p:pic>
          <p:pic>
            <p:nvPicPr>
              <p:cNvPr id="49" name="Picture 48">
                <a:extLst>
                  <a:ext uri="{FF2B5EF4-FFF2-40B4-BE49-F238E27FC236}">
                    <a16:creationId xmlns:a16="http://schemas.microsoft.com/office/drawing/2014/main" id="{314E893B-C6B0-989E-B9CC-0451C85BCC82}"/>
                  </a:ext>
                </a:extLst>
              </p:cNvPr>
              <p:cNvPicPr>
                <a:picLocks noChangeAspect="1"/>
              </p:cNvPicPr>
              <p:nvPr/>
            </p:nvPicPr>
            <p:blipFill>
              <a:blip r:embed="rId20"/>
              <a:stretch>
                <a:fillRect/>
              </a:stretch>
            </p:blipFill>
            <p:spPr>
              <a:xfrm>
                <a:off x="2835102" y="5091317"/>
                <a:ext cx="631559" cy="272135"/>
              </a:xfrm>
              <a:prstGeom prst="rect">
                <a:avLst/>
              </a:prstGeom>
            </p:spPr>
          </p:pic>
          <p:pic>
            <p:nvPicPr>
              <p:cNvPr id="50" name="Picture 49">
                <a:extLst>
                  <a:ext uri="{FF2B5EF4-FFF2-40B4-BE49-F238E27FC236}">
                    <a16:creationId xmlns:a16="http://schemas.microsoft.com/office/drawing/2014/main" id="{21F138E8-70B8-89BC-2F5A-4465BDF6124C}"/>
                  </a:ext>
                </a:extLst>
              </p:cNvPr>
              <p:cNvPicPr>
                <a:picLocks noChangeAspect="1"/>
              </p:cNvPicPr>
              <p:nvPr/>
            </p:nvPicPr>
            <p:blipFill>
              <a:blip r:embed="rId21"/>
              <a:stretch>
                <a:fillRect/>
              </a:stretch>
            </p:blipFill>
            <p:spPr>
              <a:xfrm>
                <a:off x="2641755" y="5439098"/>
                <a:ext cx="845631" cy="122906"/>
              </a:xfrm>
              <a:prstGeom prst="rect">
                <a:avLst/>
              </a:prstGeom>
            </p:spPr>
          </p:pic>
        </p:grpSp>
      </p:grpSp>
      <p:grpSp>
        <p:nvGrpSpPr>
          <p:cNvPr id="51" name="Group 50">
            <a:extLst>
              <a:ext uri="{FF2B5EF4-FFF2-40B4-BE49-F238E27FC236}">
                <a16:creationId xmlns:a16="http://schemas.microsoft.com/office/drawing/2014/main" id="{11F0D682-042D-D1FE-B9C3-FAEB6EF7B5DA}"/>
              </a:ext>
            </a:extLst>
          </p:cNvPr>
          <p:cNvGrpSpPr/>
          <p:nvPr/>
        </p:nvGrpSpPr>
        <p:grpSpPr>
          <a:xfrm>
            <a:off x="3588517" y="4669104"/>
            <a:ext cx="2808000" cy="1217943"/>
            <a:chOff x="3569467" y="4860178"/>
            <a:chExt cx="2808000" cy="1217943"/>
          </a:xfrm>
        </p:grpSpPr>
        <p:sp>
          <p:nvSpPr>
            <p:cNvPr id="52" name="TextBox 51">
              <a:extLst>
                <a:ext uri="{FF2B5EF4-FFF2-40B4-BE49-F238E27FC236}">
                  <a16:creationId xmlns:a16="http://schemas.microsoft.com/office/drawing/2014/main" id="{85DBA23D-67AC-6522-7E14-CC066AE4BADB}"/>
                </a:ext>
              </a:extLst>
            </p:cNvPr>
            <p:cNvSpPr txBox="1"/>
            <p:nvPr/>
          </p:nvSpPr>
          <p:spPr>
            <a:xfrm>
              <a:off x="3569467" y="4860178"/>
              <a:ext cx="2808000" cy="324000"/>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Procured the largest strategic anchor investor </a:t>
              </a:r>
              <a:endParaRPr kumimoji="0" lang="en-SG" sz="900"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cxnSp>
          <p:nvCxnSpPr>
            <p:cNvPr id="53" name="Straight Connector 52">
              <a:extLst>
                <a:ext uri="{FF2B5EF4-FFF2-40B4-BE49-F238E27FC236}">
                  <a16:creationId xmlns:a16="http://schemas.microsoft.com/office/drawing/2014/main" id="{AC290971-E3D1-5B2E-72B1-CF1B7BE2CD7D}"/>
                </a:ext>
              </a:extLst>
            </p:cNvPr>
            <p:cNvCxnSpPr>
              <a:cxnSpLocks/>
            </p:cNvCxnSpPr>
            <p:nvPr/>
          </p:nvCxnSpPr>
          <p:spPr>
            <a:xfrm>
              <a:off x="4773263" y="5337371"/>
              <a:ext cx="0" cy="720000"/>
            </a:xfrm>
            <a:prstGeom prst="line">
              <a:avLst/>
            </a:prstGeom>
            <a:noFill/>
            <a:ln w="6350" cap="flat" cmpd="sng" algn="ctr">
              <a:solidFill>
                <a:srgbClr val="FFFFFF">
                  <a:lumMod val="65000"/>
                </a:srgbClr>
              </a:solidFill>
              <a:prstDash val="solid"/>
              <a:miter lim="800000"/>
            </a:ln>
            <a:effectLst/>
          </p:spPr>
        </p:cxnSp>
        <p:sp>
          <p:nvSpPr>
            <p:cNvPr id="54" name="Rectangle 53">
              <a:extLst>
                <a:ext uri="{FF2B5EF4-FFF2-40B4-BE49-F238E27FC236}">
                  <a16:creationId xmlns:a16="http://schemas.microsoft.com/office/drawing/2014/main" id="{1EB74E11-0785-AD57-D85E-8C2D129706FD}"/>
                </a:ext>
              </a:extLst>
            </p:cNvPr>
            <p:cNvSpPr/>
            <p:nvPr/>
          </p:nvSpPr>
          <p:spPr>
            <a:xfrm>
              <a:off x="3638143" y="5770606"/>
              <a:ext cx="1055367" cy="307515"/>
            </a:xfrm>
            <a:prstGeom prst="rect">
              <a:avLst/>
            </a:prstGeom>
          </p:spPr>
          <p:txBody>
            <a:bodyPr wrap="none">
              <a:noAutofit/>
            </a:bodyPr>
            <a:lstStyle/>
            <a:p>
              <a:pPr marL="0" marR="0" lvl="0" indent="0" algn="ctr" defTabSz="914400" eaLnBrk="0" fontAlgn="auto" latinLnBrk="0" hangingPunct="0">
                <a:lnSpc>
                  <a:spcPct val="100000"/>
                </a:lnSpc>
                <a:spcBef>
                  <a:spcPts val="0"/>
                </a:spcBef>
                <a:spcAft>
                  <a:spcPts val="100"/>
                </a:spcAft>
                <a:buClrTx/>
                <a:buSzTx/>
                <a:buFontTx/>
                <a:buNone/>
                <a:tabLst/>
                <a:defRPr/>
              </a:pPr>
              <a:r>
                <a:rPr kumimoji="0" lang="en-GB" sz="800" b="0" i="0" u="none" strike="noStrike" kern="0" cap="none" spc="0" normalizeH="0" baseline="0" noProof="0" err="1">
                  <a:ln>
                    <a:noFill/>
                  </a:ln>
                  <a:solidFill>
                    <a:srgbClr val="000000"/>
                  </a:solidFill>
                  <a:effectLst/>
                  <a:uLnTx/>
                  <a:uFillTx/>
                  <a:latin typeface="Arial" panose="020B0604020202020204" pitchFamily="34" charset="0"/>
                  <a:cs typeface="Arial" panose="020B0604020202020204" pitchFamily="34" charset="0"/>
                </a:rPr>
                <a:t>HK$6.6b</a:t>
              </a:r>
              <a:r>
                <a:rPr kumimoji="0" lang="en-GB" sz="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 IPO</a:t>
              </a:r>
            </a:p>
            <a:p>
              <a:pPr marL="0" marR="0" lvl="0" indent="0" algn="ctr" defTabSz="914400" eaLnBrk="0" fontAlgn="auto" latinLnBrk="0" hangingPunct="0">
                <a:lnSpc>
                  <a:spcPct val="100000"/>
                </a:lnSpc>
                <a:spcBef>
                  <a:spcPts val="0"/>
                </a:spcBef>
                <a:spcAft>
                  <a:spcPts val="100"/>
                </a:spcAft>
                <a:buClrTx/>
                <a:buSzTx/>
                <a:buFontTx/>
                <a:buNone/>
                <a:tabLst/>
                <a:defRPr/>
              </a:pPr>
              <a:r>
                <a:rPr kumimoji="0" lang="en-GB" sz="8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TMT</a:t>
              </a:r>
            </a:p>
          </p:txBody>
        </p:sp>
        <p:pic>
          <p:nvPicPr>
            <p:cNvPr id="55" name="Picture 54">
              <a:extLst>
                <a:ext uri="{FF2B5EF4-FFF2-40B4-BE49-F238E27FC236}">
                  <a16:creationId xmlns:a16="http://schemas.microsoft.com/office/drawing/2014/main" id="{498FBE4D-9673-1459-31FF-6A6A57E6A590}"/>
                </a:ext>
              </a:extLst>
            </p:cNvPr>
            <p:cNvPicPr>
              <a:picLocks noChangeAspect="1"/>
            </p:cNvPicPr>
            <p:nvPr/>
          </p:nvPicPr>
          <p:blipFill>
            <a:blip r:embed="rId22"/>
            <a:stretch>
              <a:fillRect/>
            </a:stretch>
          </p:blipFill>
          <p:spPr>
            <a:xfrm>
              <a:off x="3781806" y="5446222"/>
              <a:ext cx="768040" cy="216000"/>
            </a:xfrm>
            <a:prstGeom prst="rect">
              <a:avLst/>
            </a:prstGeom>
          </p:spPr>
        </p:pic>
        <p:sp>
          <p:nvSpPr>
            <p:cNvPr id="56" name="TextBox 55">
              <a:extLst>
                <a:ext uri="{FF2B5EF4-FFF2-40B4-BE49-F238E27FC236}">
                  <a16:creationId xmlns:a16="http://schemas.microsoft.com/office/drawing/2014/main" id="{DD563EB2-BC77-E9B7-6EB7-CC58393753AB}"/>
                </a:ext>
              </a:extLst>
            </p:cNvPr>
            <p:cNvSpPr txBox="1"/>
            <p:nvPr/>
          </p:nvSpPr>
          <p:spPr bwMode="gray">
            <a:xfrm>
              <a:off x="4985290" y="5363722"/>
              <a:ext cx="1251046" cy="667298"/>
            </a:xfrm>
            <a:prstGeom prst="rect">
              <a:avLst/>
            </a:prstGeom>
            <a:noFill/>
            <a:ln w="9525">
              <a:noFill/>
              <a:miter lim="800000"/>
              <a:headEnd/>
              <a:tailEnd/>
            </a:ln>
          </p:spPr>
          <p:txBody>
            <a:bodyPr vert="horz" wrap="square" lIns="77913" tIns="38957" rIns="77913" bIns="38957" numCol="1" rtlCol="0" anchor="ctr" anchorCtr="0" compatLnSpc="1">
              <a:prstTxWarp prst="textNoShape">
                <a:avLst/>
              </a:prstTxWarp>
              <a:spAutoFit/>
            </a:bodyPr>
            <a:lstStyle/>
            <a:p>
              <a:pPr algn="ctr" defTabSz="457200" eaLnBrk="0" fontAlgn="auto" hangingPunct="0">
                <a:lnSpc>
                  <a:spcPct val="85000"/>
                </a:lnSpc>
                <a:spcBef>
                  <a:spcPts val="0"/>
                </a:spcBef>
                <a:spcAft>
                  <a:spcPts val="0"/>
                </a:spcAft>
              </a:pPr>
              <a:r>
                <a:rPr lang="en-US" sz="900" b="0" kern="0">
                  <a:solidFill>
                    <a:srgbClr val="000000"/>
                  </a:solidFill>
                  <a:latin typeface="Arial" panose="020B0604020202020204" pitchFamily="34" charset="0"/>
                  <a:ea typeface="Open Sans" panose="020B0606030504020204" pitchFamily="34" charset="0"/>
                  <a:cs typeface="Arial" panose="020B0604020202020204" pitchFamily="34" charset="0"/>
                </a:rPr>
                <a:t>Large-cap SG-listed real estate corporation owned by a leading Thai conglomerate</a:t>
              </a:r>
            </a:p>
          </p:txBody>
        </p:sp>
      </p:grpSp>
      <p:grpSp>
        <p:nvGrpSpPr>
          <p:cNvPr id="57" name="Group 56">
            <a:extLst>
              <a:ext uri="{FF2B5EF4-FFF2-40B4-BE49-F238E27FC236}">
                <a16:creationId xmlns:a16="http://schemas.microsoft.com/office/drawing/2014/main" id="{3923912B-4130-B0F2-B7B2-334198780AF9}"/>
              </a:ext>
            </a:extLst>
          </p:cNvPr>
          <p:cNvGrpSpPr/>
          <p:nvPr/>
        </p:nvGrpSpPr>
        <p:grpSpPr>
          <a:xfrm>
            <a:off x="6647346" y="4669104"/>
            <a:ext cx="2808000" cy="1376305"/>
            <a:chOff x="6647346" y="4860178"/>
            <a:chExt cx="2808000" cy="1376305"/>
          </a:xfrm>
        </p:grpSpPr>
        <p:sp>
          <p:nvSpPr>
            <p:cNvPr id="58" name="TextBox 57">
              <a:extLst>
                <a:ext uri="{FF2B5EF4-FFF2-40B4-BE49-F238E27FC236}">
                  <a16:creationId xmlns:a16="http://schemas.microsoft.com/office/drawing/2014/main" id="{FD275B2A-6771-8CCD-443D-17F6B9D6BD96}"/>
                </a:ext>
              </a:extLst>
            </p:cNvPr>
            <p:cNvSpPr txBox="1"/>
            <p:nvPr/>
          </p:nvSpPr>
          <p:spPr>
            <a:xfrm>
              <a:off x="6647346" y="4860178"/>
              <a:ext cx="2808000" cy="324000"/>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defPPr>
                <a:defRPr lang="en-US"/>
              </a:defPPr>
              <a:lvl1pPr marL="0" marR="0" lvl="0" indent="0" algn="ctr" defTabSz="457200" eaLnBrk="1" fontAlgn="auto" latinLnBrk="0" hangingPunct="1">
                <a:lnSpc>
                  <a:spcPct val="100000"/>
                </a:lnSpc>
                <a:spcBef>
                  <a:spcPts val="0"/>
                </a:spcBef>
                <a:spcAft>
                  <a:spcPts val="0"/>
                </a:spcAft>
                <a:buClrTx/>
                <a:buSzTx/>
                <a:buFontTx/>
                <a:buNone/>
                <a:tabLst/>
                <a:defRPr kumimoji="0" sz="900" i="0" u="none" strike="noStrike" kern="0" cap="none" spc="0" normalizeH="0" baseline="0">
                  <a:ln>
                    <a:noFill/>
                  </a:ln>
                  <a:solidFill>
                    <a:srgbClr val="000000"/>
                  </a:solidFill>
                  <a:effectLst/>
                  <a:uLnTx/>
                  <a:uFillTx/>
                  <a:latin typeface="Arial" panose="020B0604020202020204"/>
                  <a:ea typeface="Open Sans" panose="020B0606030504020204" pitchFamily="34" charset="0"/>
                  <a:cs typeface="Open Sans" panose="020B0606030504020204" pitchFamily="34" charset="0"/>
                </a:defRPr>
              </a:lvl1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Arial" panose="020B0604020202020204"/>
                  <a:ea typeface="Open Sans" panose="020B0606030504020204" pitchFamily="34" charset="0"/>
                  <a:cs typeface="Open Sans" panose="020B0606030504020204" pitchFamily="34" charset="0"/>
                </a:rPr>
                <a:t>Procured </a:t>
              </a:r>
              <a:r>
                <a:rPr kumimoji="0" lang="en-US" sz="900" b="0" i="0" u="none" strike="noStrike" kern="0" cap="none" spc="0" normalizeH="0" baseline="0" noProof="0" err="1">
                  <a:ln>
                    <a:noFill/>
                  </a:ln>
                  <a:solidFill>
                    <a:srgbClr val="000000"/>
                  </a:solidFill>
                  <a:effectLst/>
                  <a:uLnTx/>
                  <a:uFillTx/>
                  <a:latin typeface="Arial" panose="020B0604020202020204"/>
                  <a:ea typeface="Open Sans" panose="020B0606030504020204" pitchFamily="34" charset="0"/>
                  <a:cs typeface="Open Sans" panose="020B0606030504020204" pitchFamily="34" charset="0"/>
                </a:rPr>
                <a:t>US$230m</a:t>
              </a:r>
              <a:r>
                <a:rPr kumimoji="0" lang="en-US" sz="900" b="0" i="0" u="none" strike="noStrike" kern="0" cap="none" spc="0" normalizeH="0" baseline="0" noProof="0">
                  <a:ln>
                    <a:noFill/>
                  </a:ln>
                  <a:solidFill>
                    <a:srgbClr val="000000"/>
                  </a:solidFill>
                  <a:effectLst/>
                  <a:uLnTx/>
                  <a:uFillTx/>
                  <a:latin typeface="Arial" panose="020B0604020202020204"/>
                  <a:ea typeface="Open Sans" panose="020B0606030504020204" pitchFamily="34" charset="0"/>
                  <a:cs typeface="Open Sans" panose="020B0606030504020204" pitchFamily="34" charset="0"/>
                </a:rPr>
                <a:t> of cornerstone demand</a:t>
              </a:r>
              <a:endParaRPr kumimoji="0" lang="en-SG" sz="900" b="0" i="0" u="none" strike="noStrike" kern="0" cap="none" spc="0" normalizeH="0" baseline="0" noProof="0">
                <a:ln>
                  <a:noFill/>
                </a:ln>
                <a:solidFill>
                  <a:srgbClr val="000000"/>
                </a:solidFill>
                <a:effectLst/>
                <a:uLnTx/>
                <a:uFillTx/>
                <a:latin typeface="Arial" panose="020B0604020202020204"/>
                <a:ea typeface="Open Sans" panose="020B0606030504020204" pitchFamily="34" charset="0"/>
                <a:cs typeface="Open Sans" panose="020B0606030504020204" pitchFamily="34" charset="0"/>
              </a:endParaRPr>
            </a:p>
          </p:txBody>
        </p:sp>
        <p:cxnSp>
          <p:nvCxnSpPr>
            <p:cNvPr id="59" name="Straight Connector 58">
              <a:extLst>
                <a:ext uri="{FF2B5EF4-FFF2-40B4-BE49-F238E27FC236}">
                  <a16:creationId xmlns:a16="http://schemas.microsoft.com/office/drawing/2014/main" id="{47FBF1D7-5F2C-1119-9408-DB42B8ADE2E4}"/>
                </a:ext>
              </a:extLst>
            </p:cNvPr>
            <p:cNvCxnSpPr>
              <a:cxnSpLocks/>
            </p:cNvCxnSpPr>
            <p:nvPr/>
          </p:nvCxnSpPr>
          <p:spPr>
            <a:xfrm>
              <a:off x="7882462" y="5336483"/>
              <a:ext cx="0" cy="900000"/>
            </a:xfrm>
            <a:prstGeom prst="line">
              <a:avLst/>
            </a:prstGeom>
            <a:noFill/>
            <a:ln w="6350" cap="flat" cmpd="sng" algn="ctr">
              <a:solidFill>
                <a:srgbClr val="FFFFFF">
                  <a:lumMod val="65000"/>
                </a:srgbClr>
              </a:solidFill>
              <a:prstDash val="solid"/>
              <a:miter lim="800000"/>
            </a:ln>
            <a:effectLst/>
          </p:spPr>
        </p:cxnSp>
        <p:grpSp>
          <p:nvGrpSpPr>
            <p:cNvPr id="60" name="Group 59">
              <a:extLst>
                <a:ext uri="{FF2B5EF4-FFF2-40B4-BE49-F238E27FC236}">
                  <a16:creationId xmlns:a16="http://schemas.microsoft.com/office/drawing/2014/main" id="{AAB6D0AD-E86C-4A4D-B1B2-810EF0BCCFE4}"/>
                </a:ext>
              </a:extLst>
            </p:cNvPr>
            <p:cNvGrpSpPr/>
            <p:nvPr/>
          </p:nvGrpSpPr>
          <p:grpSpPr>
            <a:xfrm>
              <a:off x="6749527" y="5342080"/>
              <a:ext cx="1122111" cy="781818"/>
              <a:chOff x="6824940" y="5210898"/>
              <a:chExt cx="1122111" cy="781818"/>
            </a:xfrm>
          </p:grpSpPr>
          <p:sp>
            <p:nvSpPr>
              <p:cNvPr id="65" name="Rectangle 64">
                <a:extLst>
                  <a:ext uri="{FF2B5EF4-FFF2-40B4-BE49-F238E27FC236}">
                    <a16:creationId xmlns:a16="http://schemas.microsoft.com/office/drawing/2014/main" id="{802CED8E-0D48-3276-413C-3F2062479CB6}"/>
                  </a:ext>
                </a:extLst>
              </p:cNvPr>
              <p:cNvSpPr/>
              <p:nvPr/>
            </p:nvSpPr>
            <p:spPr>
              <a:xfrm>
                <a:off x="6824940" y="5665753"/>
                <a:ext cx="1122111" cy="326963"/>
              </a:xfrm>
              <a:prstGeom prst="rect">
                <a:avLst/>
              </a:prstGeom>
            </p:spPr>
            <p:txBody>
              <a:bodyPr wrap="none">
                <a:noAutofit/>
              </a:bodyPr>
              <a:lstStyle/>
              <a:p>
                <a:pPr marL="0" marR="0" lvl="0" indent="0" algn="ctr" defTabSz="914400" eaLnBrk="1" fontAlgn="auto" latinLnBrk="0" hangingPunct="1">
                  <a:lnSpc>
                    <a:spcPct val="100000"/>
                  </a:lnSpc>
                  <a:spcBef>
                    <a:spcPts val="0"/>
                  </a:spcBef>
                  <a:spcAft>
                    <a:spcPts val="100"/>
                  </a:spcAft>
                  <a:buClrTx/>
                  <a:buSzTx/>
                  <a:buFontTx/>
                  <a:buNone/>
                  <a:tabLst/>
                  <a:defRPr/>
                </a:pPr>
                <a:r>
                  <a:rPr kumimoji="0" lang="en-GB" sz="800" b="0" i="0" u="none" strike="noStrike" kern="0" cap="none" spc="0" normalizeH="0" baseline="0" noProof="0" err="1">
                    <a:ln>
                      <a:noFill/>
                    </a:ln>
                    <a:solidFill>
                      <a:srgbClr val="000000"/>
                    </a:solidFill>
                    <a:effectLst/>
                    <a:uLnTx/>
                    <a:uFillTx/>
                    <a:latin typeface="Arial" panose="020B0604020202020204"/>
                    <a:cs typeface="Calibri" panose="020F0502020204030204" pitchFamily="34" charset="0"/>
                  </a:rPr>
                  <a:t>S$2.7b</a:t>
                </a:r>
                <a:r>
                  <a:rPr kumimoji="0" lang="en-GB" sz="8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rPr>
                  <a:t> IPO</a:t>
                </a:r>
              </a:p>
              <a:p>
                <a:pPr marL="0" marR="0" lvl="0" indent="0" algn="ctr" defTabSz="914400" eaLnBrk="1" fontAlgn="auto" latinLnBrk="0" hangingPunct="1">
                  <a:lnSpc>
                    <a:spcPct val="100000"/>
                  </a:lnSpc>
                  <a:spcBef>
                    <a:spcPts val="0"/>
                  </a:spcBef>
                  <a:spcAft>
                    <a:spcPts val="100"/>
                  </a:spcAft>
                  <a:buClrTx/>
                  <a:buSzTx/>
                  <a:buFontTx/>
                  <a:buNone/>
                  <a:tabLst/>
                  <a:defRPr/>
                </a:pPr>
                <a:r>
                  <a:rPr kumimoji="0" lang="en-GB" sz="8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rPr>
                  <a:t>Healthcare</a:t>
                </a:r>
              </a:p>
            </p:txBody>
          </p:sp>
          <p:pic>
            <p:nvPicPr>
              <p:cNvPr id="66" name="Picture 2" descr="http://i.forbesimg.com/media/lists/companies/ihh-healthcare_416x416.jpg">
                <a:extLst>
                  <a:ext uri="{FF2B5EF4-FFF2-40B4-BE49-F238E27FC236}">
                    <a16:creationId xmlns:a16="http://schemas.microsoft.com/office/drawing/2014/main" id="{509179AC-F0FC-D60A-1D61-BD8CBA2A7CD8}"/>
                  </a:ext>
                </a:extLst>
              </p:cNvPr>
              <p:cNvPicPr>
                <a:picLocks noChangeAspect="1" noChangeArrowheads="1"/>
              </p:cNvPicPr>
              <p:nvPr/>
            </p:nvPicPr>
            <p:blipFill>
              <a:blip r:embed="rId23" cstate="print"/>
              <a:srcRect l="16154" t="26538" r="16923" b="23846"/>
              <a:stretch>
                <a:fillRect/>
              </a:stretch>
            </p:blipFill>
            <p:spPr bwMode="auto">
              <a:xfrm>
                <a:off x="7070367" y="5210898"/>
                <a:ext cx="631256" cy="432000"/>
              </a:xfrm>
              <a:prstGeom prst="rect">
                <a:avLst/>
              </a:prstGeom>
              <a:noFill/>
              <a:effectLst/>
            </p:spPr>
          </p:pic>
        </p:grpSp>
        <p:grpSp>
          <p:nvGrpSpPr>
            <p:cNvPr id="61" name="Group 60">
              <a:extLst>
                <a:ext uri="{FF2B5EF4-FFF2-40B4-BE49-F238E27FC236}">
                  <a16:creationId xmlns:a16="http://schemas.microsoft.com/office/drawing/2014/main" id="{13CAFE04-A909-9DFC-8235-F8C9C5D9EF0E}"/>
                </a:ext>
              </a:extLst>
            </p:cNvPr>
            <p:cNvGrpSpPr/>
            <p:nvPr/>
          </p:nvGrpSpPr>
          <p:grpSpPr>
            <a:xfrm>
              <a:off x="8011842" y="5382116"/>
              <a:ext cx="1269570" cy="688011"/>
              <a:chOff x="8087255" y="5250934"/>
              <a:chExt cx="1269570" cy="688011"/>
            </a:xfrm>
          </p:grpSpPr>
          <p:pic>
            <p:nvPicPr>
              <p:cNvPr id="62" name="Picture 8" descr="Home | Institutional Investors | J.P. Morgan Asset Management">
                <a:extLst>
                  <a:ext uri="{FF2B5EF4-FFF2-40B4-BE49-F238E27FC236}">
                    <a16:creationId xmlns:a16="http://schemas.microsoft.com/office/drawing/2014/main" id="{C1820F7A-EC9F-B81C-68C8-70B91885F8C4}"/>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087255" y="5250934"/>
                <a:ext cx="750188" cy="252000"/>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4" descr="http://www.optisage.com/userfiles/image/logo-keckseng.gif">
                <a:extLst>
                  <a:ext uri="{FF2B5EF4-FFF2-40B4-BE49-F238E27FC236}">
                    <a16:creationId xmlns:a16="http://schemas.microsoft.com/office/drawing/2014/main" id="{B4483922-22CB-F32C-6CC3-6DCB6010F632}"/>
                  </a:ext>
                </a:extLst>
              </p:cNvPr>
              <p:cNvPicPr>
                <a:picLocks noChangeAspect="1" noChangeArrowheads="1"/>
              </p:cNvPicPr>
              <p:nvPr/>
            </p:nvPicPr>
            <p:blipFill>
              <a:blip r:embed="rId24" cstate="print"/>
              <a:srcRect/>
              <a:stretch>
                <a:fillRect/>
              </a:stretch>
            </p:blipFill>
            <p:spPr bwMode="auto">
              <a:xfrm>
                <a:off x="8966822" y="5468940"/>
                <a:ext cx="390003" cy="252000"/>
              </a:xfrm>
              <a:prstGeom prst="rect">
                <a:avLst/>
              </a:prstGeom>
              <a:noFill/>
              <a:ln w="9525">
                <a:noFill/>
                <a:miter lim="800000"/>
                <a:headEnd/>
                <a:tailEnd/>
              </a:ln>
            </p:spPr>
          </p:pic>
          <p:pic>
            <p:nvPicPr>
              <p:cNvPr id="64" name="Picture 8" descr="http://www.eastspringinvestments.com.sg/Images/logo2.jpg">
                <a:extLst>
                  <a:ext uri="{FF2B5EF4-FFF2-40B4-BE49-F238E27FC236}">
                    <a16:creationId xmlns:a16="http://schemas.microsoft.com/office/drawing/2014/main" id="{9AAEB98E-0416-C0F7-3A11-55FA86DC4E37}"/>
                  </a:ext>
                </a:extLst>
              </p:cNvPr>
              <p:cNvPicPr>
                <a:picLocks noChangeAspect="1" noChangeArrowheads="1"/>
              </p:cNvPicPr>
              <p:nvPr/>
            </p:nvPicPr>
            <p:blipFill>
              <a:blip r:embed="rId25" cstate="print"/>
              <a:srcRect/>
              <a:stretch>
                <a:fillRect/>
              </a:stretch>
            </p:blipFill>
            <p:spPr bwMode="auto">
              <a:xfrm>
                <a:off x="8112734" y="5686945"/>
                <a:ext cx="699230" cy="252000"/>
              </a:xfrm>
              <a:prstGeom prst="rect">
                <a:avLst/>
              </a:prstGeom>
              <a:noFill/>
              <a:ln w="9525">
                <a:noFill/>
                <a:miter lim="800000"/>
                <a:headEnd/>
                <a:tailEnd/>
              </a:ln>
            </p:spPr>
          </p:pic>
        </p:grpSp>
      </p:grpSp>
      <p:grpSp>
        <p:nvGrpSpPr>
          <p:cNvPr id="77" name="Group 76">
            <a:extLst>
              <a:ext uri="{FF2B5EF4-FFF2-40B4-BE49-F238E27FC236}">
                <a16:creationId xmlns:a16="http://schemas.microsoft.com/office/drawing/2014/main" id="{4E1EE053-E245-3111-EAAB-A3FD726D9F11}"/>
              </a:ext>
            </a:extLst>
          </p:cNvPr>
          <p:cNvGrpSpPr/>
          <p:nvPr/>
        </p:nvGrpSpPr>
        <p:grpSpPr>
          <a:xfrm>
            <a:off x="6666886" y="1561141"/>
            <a:ext cx="2786111" cy="1221831"/>
            <a:chOff x="3569467" y="1603617"/>
            <a:chExt cx="2808000" cy="1221831"/>
          </a:xfrm>
        </p:grpSpPr>
        <p:sp>
          <p:nvSpPr>
            <p:cNvPr id="78" name="TextBox 77">
              <a:extLst>
                <a:ext uri="{FF2B5EF4-FFF2-40B4-BE49-F238E27FC236}">
                  <a16:creationId xmlns:a16="http://schemas.microsoft.com/office/drawing/2014/main" id="{931C8FA5-BB1C-7E76-B58E-91CD53F4F3D6}"/>
                </a:ext>
              </a:extLst>
            </p:cNvPr>
            <p:cNvSpPr txBox="1"/>
            <p:nvPr/>
          </p:nvSpPr>
          <p:spPr>
            <a:xfrm>
              <a:off x="3569467" y="1603617"/>
              <a:ext cx="2808000" cy="334721"/>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p>
              <a:pPr marL="0" marR="0" lvl="0" indent="0" algn="ctr" defTabSz="422041" eaLnBrk="1" fontAlgn="auto" latinLnBrk="0" hangingPunct="1">
                <a:lnSpc>
                  <a:spcPct val="100000"/>
                </a:lnSpc>
                <a:spcBef>
                  <a:spcPts val="0"/>
                </a:spcBef>
                <a:spcAft>
                  <a:spcPts val="0"/>
                </a:spcAft>
                <a:buClrTx/>
                <a:buSzTx/>
                <a:buFontTx/>
                <a:buNone/>
                <a:tabLst/>
                <a:defRPr/>
              </a:pPr>
              <a:r>
                <a:rPr kumimoji="0" lang="en-SG" sz="831"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Procured GIC as key cornerstone</a:t>
              </a:r>
            </a:p>
          </p:txBody>
        </p:sp>
        <p:sp>
          <p:nvSpPr>
            <p:cNvPr id="79" name="Rectangle 78">
              <a:extLst>
                <a:ext uri="{FF2B5EF4-FFF2-40B4-BE49-F238E27FC236}">
                  <a16:creationId xmlns:a16="http://schemas.microsoft.com/office/drawing/2014/main" id="{90916202-C722-AD3F-6597-5F5B2D920DFD}"/>
                </a:ext>
              </a:extLst>
            </p:cNvPr>
            <p:cNvSpPr/>
            <p:nvPr/>
          </p:nvSpPr>
          <p:spPr>
            <a:xfrm>
              <a:off x="3879254" y="2472360"/>
              <a:ext cx="707171" cy="329390"/>
            </a:xfrm>
            <a:prstGeom prst="rect">
              <a:avLst/>
            </a:prstGeom>
          </p:spPr>
          <p:txBody>
            <a:bodyPr wrap="none">
              <a:noAutofit/>
            </a:bodyPr>
            <a:lstStyle/>
            <a:p>
              <a:pPr marL="0" marR="0" lvl="0" indent="0" algn="ctr" defTabSz="844083" eaLnBrk="0" fontAlgn="auto" latinLnBrk="0" hangingPunct="0">
                <a:lnSpc>
                  <a:spcPct val="100000"/>
                </a:lnSpc>
                <a:spcBef>
                  <a:spcPts val="0"/>
                </a:spcBef>
                <a:spcAft>
                  <a:spcPts val="92"/>
                </a:spcAft>
                <a:buClrTx/>
                <a:buSzTx/>
                <a:buFontTx/>
                <a:buNone/>
                <a:tabLst/>
                <a:defRPr/>
              </a:pPr>
              <a:r>
                <a:rPr kumimoji="0" lang="en-GB" sz="738"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US$1.0b IPO</a:t>
              </a:r>
            </a:p>
            <a:p>
              <a:pPr marL="0" marR="0" lvl="0" indent="0" algn="ctr" defTabSz="844083" eaLnBrk="0" fontAlgn="auto" latinLnBrk="0" hangingPunct="0">
                <a:lnSpc>
                  <a:spcPct val="100000"/>
                </a:lnSpc>
                <a:spcBef>
                  <a:spcPts val="0"/>
                </a:spcBef>
                <a:spcAft>
                  <a:spcPts val="92"/>
                </a:spcAft>
                <a:buClrTx/>
                <a:buSzTx/>
                <a:buFontTx/>
                <a:buNone/>
                <a:tabLst/>
                <a:defRPr/>
              </a:pPr>
              <a:r>
                <a:rPr kumimoji="0" lang="en-GB" sz="738"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Data centre REIT</a:t>
              </a:r>
            </a:p>
          </p:txBody>
        </p:sp>
        <p:cxnSp>
          <p:nvCxnSpPr>
            <p:cNvPr id="80" name="Straight Connector 79">
              <a:extLst>
                <a:ext uri="{FF2B5EF4-FFF2-40B4-BE49-F238E27FC236}">
                  <a16:creationId xmlns:a16="http://schemas.microsoft.com/office/drawing/2014/main" id="{9C45BA5E-6B5C-BE51-CF8F-1F88064C254F}"/>
                </a:ext>
              </a:extLst>
            </p:cNvPr>
            <p:cNvCxnSpPr>
              <a:cxnSpLocks/>
            </p:cNvCxnSpPr>
            <p:nvPr/>
          </p:nvCxnSpPr>
          <p:spPr>
            <a:xfrm>
              <a:off x="4897670" y="2090710"/>
              <a:ext cx="0" cy="734738"/>
            </a:xfrm>
            <a:prstGeom prst="line">
              <a:avLst/>
            </a:prstGeom>
            <a:noFill/>
            <a:ln w="6350" cap="flat" cmpd="sng" algn="ctr">
              <a:solidFill>
                <a:srgbClr val="FFFFFF">
                  <a:lumMod val="65000"/>
                </a:srgbClr>
              </a:solidFill>
              <a:prstDash val="solid"/>
              <a:miter lim="800000"/>
            </a:ln>
            <a:effectLst/>
          </p:spPr>
        </p:cxnSp>
      </p:grpSp>
      <p:grpSp>
        <p:nvGrpSpPr>
          <p:cNvPr id="81" name="Group 80">
            <a:extLst>
              <a:ext uri="{FF2B5EF4-FFF2-40B4-BE49-F238E27FC236}">
                <a16:creationId xmlns:a16="http://schemas.microsoft.com/office/drawing/2014/main" id="{51C5BC2D-074F-8810-2945-5B801C56CB78}"/>
              </a:ext>
            </a:extLst>
          </p:cNvPr>
          <p:cNvGrpSpPr/>
          <p:nvPr/>
        </p:nvGrpSpPr>
        <p:grpSpPr>
          <a:xfrm>
            <a:off x="6729959" y="1989960"/>
            <a:ext cx="2511878" cy="680449"/>
            <a:chOff x="3613490" y="2032436"/>
            <a:chExt cx="2511878" cy="680449"/>
          </a:xfrm>
        </p:grpSpPr>
        <p:pic>
          <p:nvPicPr>
            <p:cNvPr id="82" name="Picture 81">
              <a:extLst>
                <a:ext uri="{FF2B5EF4-FFF2-40B4-BE49-F238E27FC236}">
                  <a16:creationId xmlns:a16="http://schemas.microsoft.com/office/drawing/2014/main" id="{7979BB70-D2FA-3804-DCC7-789DA31955AA}"/>
                </a:ext>
              </a:extLst>
            </p:cNvPr>
            <p:cNvPicPr>
              <a:picLocks noChangeAspect="1"/>
            </p:cNvPicPr>
            <p:nvPr/>
          </p:nvPicPr>
          <p:blipFill>
            <a:blip r:embed="rId26">
              <a:clrChange>
                <a:clrFrom>
                  <a:srgbClr val="FFFFFF"/>
                </a:clrFrom>
                <a:clrTo>
                  <a:srgbClr val="FFFFFF">
                    <a:alpha val="0"/>
                  </a:srgbClr>
                </a:clrTo>
              </a:clrChange>
            </a:blip>
            <a:srcRect l="18564" t="15589" r="15034" b="17771"/>
            <a:stretch/>
          </p:blipFill>
          <p:spPr>
            <a:xfrm>
              <a:off x="4920001" y="2032436"/>
              <a:ext cx="1205367" cy="680449"/>
            </a:xfrm>
            <a:prstGeom prst="rect">
              <a:avLst/>
            </a:prstGeom>
          </p:spPr>
        </p:pic>
        <p:pic>
          <p:nvPicPr>
            <p:cNvPr id="83" name="Picture 82">
              <a:extLst>
                <a:ext uri="{FF2B5EF4-FFF2-40B4-BE49-F238E27FC236}">
                  <a16:creationId xmlns:a16="http://schemas.microsoft.com/office/drawing/2014/main" id="{7136FA30-D2E5-9024-9721-FABA622AE76A}"/>
                </a:ext>
              </a:extLst>
            </p:cNvPr>
            <p:cNvPicPr>
              <a:picLocks noChangeAspect="1"/>
            </p:cNvPicPr>
            <p:nvPr/>
          </p:nvPicPr>
          <p:blipFill>
            <a:blip r:embed="rId27"/>
            <a:stretch>
              <a:fillRect/>
            </a:stretch>
          </p:blipFill>
          <p:spPr>
            <a:xfrm>
              <a:off x="3613490" y="2121046"/>
              <a:ext cx="1194682" cy="287328"/>
            </a:xfrm>
            <a:prstGeom prst="rect">
              <a:avLst/>
            </a:prstGeom>
          </p:spPr>
        </p:pic>
      </p:grpSp>
      <p:sp>
        <p:nvSpPr>
          <p:cNvPr id="105" name="TextBox 104">
            <a:extLst>
              <a:ext uri="{FF2B5EF4-FFF2-40B4-BE49-F238E27FC236}">
                <a16:creationId xmlns:a16="http://schemas.microsoft.com/office/drawing/2014/main" id="{2B1D9890-F8F7-4377-54FF-D41D79546E25}"/>
              </a:ext>
            </a:extLst>
          </p:cNvPr>
          <p:cNvSpPr txBox="1"/>
          <p:nvPr/>
        </p:nvSpPr>
        <p:spPr>
          <a:xfrm>
            <a:off x="452998" y="1561143"/>
            <a:ext cx="2808000" cy="330631"/>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p>
            <a:pPr marL="0" marR="0" lvl="0" indent="0" algn="ctr" defTabSz="422041" eaLnBrk="1" fontAlgn="auto" latinLnBrk="0" hangingPunct="1">
              <a:lnSpc>
                <a:spcPct val="100000"/>
              </a:lnSpc>
              <a:spcBef>
                <a:spcPts val="0"/>
              </a:spcBef>
              <a:spcAft>
                <a:spcPts val="0"/>
              </a:spcAft>
              <a:buClrTx/>
              <a:buSzTx/>
              <a:buFontTx/>
              <a:buNone/>
              <a:tabLst/>
              <a:defRPr/>
            </a:pPr>
            <a:r>
              <a:rPr lang="en-SG" sz="831" b="0" kern="0">
                <a:solidFill>
                  <a:prstClr val="black"/>
                </a:solidFill>
                <a:latin typeface="Arial" panose="020B0604020202020204" pitchFamily="34" charset="0"/>
                <a:cs typeface="Arial" panose="020B0604020202020204" pitchFamily="34" charset="0"/>
              </a:rPr>
              <a:t>Procured 6 out of 13 cornerstone investors</a:t>
            </a:r>
          </a:p>
        </p:txBody>
      </p:sp>
      <p:sp>
        <p:nvSpPr>
          <p:cNvPr id="106" name="Rectangle 105">
            <a:extLst>
              <a:ext uri="{FF2B5EF4-FFF2-40B4-BE49-F238E27FC236}">
                <a16:creationId xmlns:a16="http://schemas.microsoft.com/office/drawing/2014/main" id="{F315CB9E-9AD3-DC80-47F7-D12BD5DCB9E0}"/>
              </a:ext>
            </a:extLst>
          </p:cNvPr>
          <p:cNvSpPr/>
          <p:nvPr/>
        </p:nvSpPr>
        <p:spPr>
          <a:xfrm>
            <a:off x="676225" y="2476108"/>
            <a:ext cx="707170" cy="329389"/>
          </a:xfrm>
          <a:prstGeom prst="rect">
            <a:avLst/>
          </a:prstGeom>
        </p:spPr>
        <p:txBody>
          <a:bodyPr wrap="none">
            <a:noAutofit/>
          </a:bodyPr>
          <a:lstStyle/>
          <a:p>
            <a:pPr marL="0" marR="0" lvl="0" indent="0" algn="ctr" defTabSz="844083" eaLnBrk="0" fontAlgn="auto" latinLnBrk="0" hangingPunct="0">
              <a:lnSpc>
                <a:spcPct val="100000"/>
              </a:lnSpc>
              <a:spcBef>
                <a:spcPts val="0"/>
              </a:spcBef>
              <a:spcAft>
                <a:spcPts val="92"/>
              </a:spcAft>
              <a:buClrTx/>
              <a:buSzTx/>
              <a:buFontTx/>
              <a:buNone/>
              <a:tabLst/>
              <a:defRPr/>
            </a:pPr>
            <a:r>
              <a:rPr kumimoji="0" lang="en-GB" sz="738"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US$400m IPO</a:t>
            </a:r>
          </a:p>
          <a:p>
            <a:pPr marL="0" marR="0" lvl="0" indent="0" algn="ctr" defTabSz="844083" eaLnBrk="0" fontAlgn="auto" latinLnBrk="0" hangingPunct="0">
              <a:lnSpc>
                <a:spcPct val="100000"/>
              </a:lnSpc>
              <a:spcBef>
                <a:spcPts val="0"/>
              </a:spcBef>
              <a:spcAft>
                <a:spcPts val="92"/>
              </a:spcAft>
              <a:buClrTx/>
              <a:buSzTx/>
              <a:buFontTx/>
              <a:buNone/>
              <a:tabLst/>
              <a:defRPr/>
            </a:pPr>
            <a:r>
              <a:rPr kumimoji="0" lang="en-GB" sz="738" b="0" i="0" u="none" strike="noStrike" kern="0" cap="none" spc="0" normalizeH="0" baseline="0" noProof="0">
                <a:ln>
                  <a:noFill/>
                </a:ln>
                <a:solidFill>
                  <a:srgbClr val="000000"/>
                </a:solidFill>
                <a:effectLst/>
                <a:uLnTx/>
                <a:uFillTx/>
                <a:latin typeface="Arial" panose="020B0604020202020204" pitchFamily="34" charset="0"/>
                <a:ea typeface="Open Sans" panose="020B0606030504020204" pitchFamily="34" charset="0"/>
                <a:cs typeface="Arial" panose="020B0604020202020204" pitchFamily="34" charset="0"/>
              </a:rPr>
              <a:t>Healthcare</a:t>
            </a:r>
          </a:p>
        </p:txBody>
      </p:sp>
      <p:cxnSp>
        <p:nvCxnSpPr>
          <p:cNvPr id="107" name="Straight Connector 106">
            <a:extLst>
              <a:ext uri="{FF2B5EF4-FFF2-40B4-BE49-F238E27FC236}">
                <a16:creationId xmlns:a16="http://schemas.microsoft.com/office/drawing/2014/main" id="{03FDE918-E3DF-7D44-D1C9-7EE5BDE2742E}"/>
              </a:ext>
            </a:extLst>
          </p:cNvPr>
          <p:cNvCxnSpPr>
            <a:cxnSpLocks/>
          </p:cNvCxnSpPr>
          <p:nvPr/>
        </p:nvCxnSpPr>
        <p:spPr>
          <a:xfrm>
            <a:off x="1628785" y="2020750"/>
            <a:ext cx="0" cy="734736"/>
          </a:xfrm>
          <a:prstGeom prst="line">
            <a:avLst/>
          </a:prstGeom>
          <a:noFill/>
          <a:ln w="6350" cap="flat" cmpd="sng" algn="ctr">
            <a:solidFill>
              <a:srgbClr val="FFFFFF">
                <a:lumMod val="65000"/>
              </a:srgbClr>
            </a:solidFill>
            <a:prstDash val="solid"/>
            <a:miter lim="800000"/>
          </a:ln>
          <a:effectLst/>
        </p:spPr>
      </p:cxnSp>
      <p:pic>
        <p:nvPicPr>
          <p:cNvPr id="112" name="Picture 111">
            <a:extLst>
              <a:ext uri="{FF2B5EF4-FFF2-40B4-BE49-F238E27FC236}">
                <a16:creationId xmlns:a16="http://schemas.microsoft.com/office/drawing/2014/main" id="{2850BC69-CEE4-C538-1B0A-2C0E7D5F7EDF}"/>
              </a:ext>
            </a:extLst>
          </p:cNvPr>
          <p:cNvPicPr>
            <a:picLocks noChangeAspect="1"/>
          </p:cNvPicPr>
          <p:nvPr/>
        </p:nvPicPr>
        <p:blipFill>
          <a:blip r:embed="rId28"/>
          <a:stretch>
            <a:fillRect/>
          </a:stretch>
        </p:blipFill>
        <p:spPr>
          <a:xfrm>
            <a:off x="486666" y="2144527"/>
            <a:ext cx="1086288" cy="112469"/>
          </a:xfrm>
          <a:prstGeom prst="rect">
            <a:avLst/>
          </a:prstGeom>
        </p:spPr>
      </p:pic>
      <p:pic>
        <p:nvPicPr>
          <p:cNvPr id="67" name="Picture 66">
            <a:extLst>
              <a:ext uri="{FF2B5EF4-FFF2-40B4-BE49-F238E27FC236}">
                <a16:creationId xmlns:a16="http://schemas.microsoft.com/office/drawing/2014/main" id="{6741532A-F98E-2D63-DE4F-02D68B10C8F8}"/>
              </a:ext>
            </a:extLst>
          </p:cNvPr>
          <p:cNvPicPr>
            <a:picLocks noChangeAspect="1"/>
          </p:cNvPicPr>
          <p:nvPr/>
        </p:nvPicPr>
        <p:blipFill>
          <a:blip r:embed="rId29"/>
          <a:srcRect l="10916" t="24295" r="10916" b="24295"/>
          <a:stretch>
            <a:fillRect/>
          </a:stretch>
        </p:blipFill>
        <p:spPr>
          <a:xfrm>
            <a:off x="1893331" y="2031645"/>
            <a:ext cx="590220" cy="168478"/>
          </a:xfrm>
          <a:prstGeom prst="rect">
            <a:avLst/>
          </a:prstGeom>
        </p:spPr>
      </p:pic>
      <p:pic>
        <p:nvPicPr>
          <p:cNvPr id="68" name="Picture 67">
            <a:extLst>
              <a:ext uri="{FF2B5EF4-FFF2-40B4-BE49-F238E27FC236}">
                <a16:creationId xmlns:a16="http://schemas.microsoft.com/office/drawing/2014/main" id="{5A70FEF0-F717-B761-6A8D-A36A65905099}"/>
              </a:ext>
            </a:extLst>
          </p:cNvPr>
          <p:cNvPicPr>
            <a:picLocks noChangeAspect="1"/>
          </p:cNvPicPr>
          <p:nvPr/>
        </p:nvPicPr>
        <p:blipFill>
          <a:blip r:embed="rId30"/>
          <a:stretch>
            <a:fillRect/>
          </a:stretch>
        </p:blipFill>
        <p:spPr>
          <a:xfrm>
            <a:off x="2692799" y="1996913"/>
            <a:ext cx="381784" cy="237943"/>
          </a:xfrm>
          <a:prstGeom prst="rect">
            <a:avLst/>
          </a:prstGeom>
        </p:spPr>
      </p:pic>
      <p:pic>
        <p:nvPicPr>
          <p:cNvPr id="69" name="Picture 68">
            <a:extLst>
              <a:ext uri="{FF2B5EF4-FFF2-40B4-BE49-F238E27FC236}">
                <a16:creationId xmlns:a16="http://schemas.microsoft.com/office/drawing/2014/main" id="{A287D7DB-417F-369F-2EE3-B4E3C60241E6}"/>
              </a:ext>
            </a:extLst>
          </p:cNvPr>
          <p:cNvPicPr>
            <a:picLocks noChangeAspect="1"/>
          </p:cNvPicPr>
          <p:nvPr/>
        </p:nvPicPr>
        <p:blipFill>
          <a:blip r:embed="rId31"/>
          <a:stretch>
            <a:fillRect/>
          </a:stretch>
        </p:blipFill>
        <p:spPr>
          <a:xfrm>
            <a:off x="1789603" y="2344046"/>
            <a:ext cx="617887" cy="165149"/>
          </a:xfrm>
          <a:prstGeom prst="rect">
            <a:avLst/>
          </a:prstGeom>
        </p:spPr>
      </p:pic>
      <p:pic>
        <p:nvPicPr>
          <p:cNvPr id="70" name="Picture 69">
            <a:extLst>
              <a:ext uri="{FF2B5EF4-FFF2-40B4-BE49-F238E27FC236}">
                <a16:creationId xmlns:a16="http://schemas.microsoft.com/office/drawing/2014/main" id="{6A3A6A25-B2AF-01D2-0F02-A33587CF65A9}"/>
              </a:ext>
            </a:extLst>
          </p:cNvPr>
          <p:cNvPicPr>
            <a:picLocks noChangeAspect="1"/>
          </p:cNvPicPr>
          <p:nvPr/>
        </p:nvPicPr>
        <p:blipFill>
          <a:blip r:embed="rId32"/>
          <a:srcRect t="25065" b="25065"/>
          <a:stretch>
            <a:fillRect/>
          </a:stretch>
        </p:blipFill>
        <p:spPr>
          <a:xfrm>
            <a:off x="2692799" y="2331424"/>
            <a:ext cx="381784" cy="190392"/>
          </a:xfrm>
          <a:prstGeom prst="rect">
            <a:avLst/>
          </a:prstGeom>
        </p:spPr>
      </p:pic>
      <p:pic>
        <p:nvPicPr>
          <p:cNvPr id="71" name="Picture 70">
            <a:extLst>
              <a:ext uri="{FF2B5EF4-FFF2-40B4-BE49-F238E27FC236}">
                <a16:creationId xmlns:a16="http://schemas.microsoft.com/office/drawing/2014/main" id="{4AB513D6-0C97-677D-F435-0FCA06BEBF66}"/>
              </a:ext>
            </a:extLst>
          </p:cNvPr>
          <p:cNvPicPr>
            <a:picLocks noChangeAspect="1"/>
          </p:cNvPicPr>
          <p:nvPr/>
        </p:nvPicPr>
        <p:blipFill>
          <a:blip r:embed="rId33"/>
          <a:stretch>
            <a:fillRect/>
          </a:stretch>
        </p:blipFill>
        <p:spPr>
          <a:xfrm>
            <a:off x="1845335" y="2636234"/>
            <a:ext cx="418147" cy="200040"/>
          </a:xfrm>
          <a:prstGeom prst="rect">
            <a:avLst/>
          </a:prstGeom>
        </p:spPr>
      </p:pic>
      <p:pic>
        <p:nvPicPr>
          <p:cNvPr id="72" name="Picture 71">
            <a:extLst>
              <a:ext uri="{FF2B5EF4-FFF2-40B4-BE49-F238E27FC236}">
                <a16:creationId xmlns:a16="http://schemas.microsoft.com/office/drawing/2014/main" id="{F4862671-2414-40D4-50DA-466EAAAABAC0}"/>
              </a:ext>
            </a:extLst>
          </p:cNvPr>
          <p:cNvPicPr>
            <a:picLocks noChangeAspect="1"/>
          </p:cNvPicPr>
          <p:nvPr/>
        </p:nvPicPr>
        <p:blipFill>
          <a:blip r:embed="rId34"/>
          <a:stretch>
            <a:fillRect/>
          </a:stretch>
        </p:blipFill>
        <p:spPr>
          <a:xfrm>
            <a:off x="2435974" y="2595402"/>
            <a:ext cx="772133" cy="228641"/>
          </a:xfrm>
          <a:prstGeom prst="rect">
            <a:avLst/>
          </a:prstGeom>
        </p:spPr>
      </p:pic>
      <p:grpSp>
        <p:nvGrpSpPr>
          <p:cNvPr id="110" name="Group 109">
            <a:extLst>
              <a:ext uri="{FF2B5EF4-FFF2-40B4-BE49-F238E27FC236}">
                <a16:creationId xmlns:a16="http://schemas.microsoft.com/office/drawing/2014/main" id="{3C7C5356-0904-66DB-305A-0ED0760C051B}"/>
              </a:ext>
            </a:extLst>
          </p:cNvPr>
          <p:cNvGrpSpPr/>
          <p:nvPr/>
        </p:nvGrpSpPr>
        <p:grpSpPr>
          <a:xfrm>
            <a:off x="3569467" y="1561143"/>
            <a:ext cx="2808000" cy="1297173"/>
            <a:chOff x="3569467" y="1561143"/>
            <a:chExt cx="2808000" cy="1297173"/>
          </a:xfrm>
        </p:grpSpPr>
        <p:sp>
          <p:nvSpPr>
            <p:cNvPr id="85" name="TextBox 84">
              <a:extLst>
                <a:ext uri="{FF2B5EF4-FFF2-40B4-BE49-F238E27FC236}">
                  <a16:creationId xmlns:a16="http://schemas.microsoft.com/office/drawing/2014/main" id="{D3A778A4-756E-5CDC-4F58-2EE583933311}"/>
                </a:ext>
              </a:extLst>
            </p:cNvPr>
            <p:cNvSpPr txBox="1"/>
            <p:nvPr/>
          </p:nvSpPr>
          <p:spPr>
            <a:xfrm>
              <a:off x="3569467" y="1561143"/>
              <a:ext cx="2808000" cy="319750"/>
            </a:xfrm>
            <a:prstGeom prst="rect">
              <a:avLst/>
            </a:prstGeom>
            <a:solidFill>
              <a:srgbClr val="FFFFFF"/>
            </a:solidFill>
            <a:ln w="12700">
              <a:solidFill>
                <a:srgbClr val="3F3F3F">
                  <a:lumMod val="90000"/>
                </a:srgbClr>
              </a:solidFill>
            </a:ln>
            <a:effectLst>
              <a:outerShdw blurRad="50800" dist="38100" dir="2700000" algn="tl" rotWithShape="0">
                <a:prstClr val="black">
                  <a:alpha val="40000"/>
                </a:prstClr>
              </a:outerShdw>
            </a:effectLst>
          </p:spPr>
          <p:txBody>
            <a:bodyPr wrap="square" rtlCol="0" anchor="ctr">
              <a:noAutofit/>
            </a:bodyPr>
            <a:lstStyle/>
            <a:p>
              <a:pPr marL="0" marR="0" lvl="0" indent="0" algn="ctr" defTabSz="422041" eaLnBrk="1" fontAlgn="auto" latinLnBrk="0" hangingPunct="1">
                <a:lnSpc>
                  <a:spcPct val="100000"/>
                </a:lnSpc>
                <a:spcBef>
                  <a:spcPts val="0"/>
                </a:spcBef>
                <a:spcAft>
                  <a:spcPts val="0"/>
                </a:spcAft>
                <a:buClrTx/>
                <a:buSzTx/>
                <a:buFontTx/>
                <a:buNone/>
                <a:tabLst/>
                <a:defRPr/>
              </a:pPr>
              <a:r>
                <a:rPr kumimoji="0" lang="en-SG" sz="831" b="0" i="0" u="none" strike="noStrike" kern="0" cap="none" spc="0" normalizeH="0" baseline="0" noProof="0">
                  <a:ln>
                    <a:noFill/>
                  </a:ln>
                  <a:solidFill>
                    <a:prstClr val="black"/>
                  </a:solidFill>
                  <a:effectLst/>
                  <a:uLnTx/>
                  <a:uFillTx/>
                  <a:latin typeface="Arial" panose="020B0604020202020204" pitchFamily="34" charset="0"/>
                  <a:cs typeface="Arial" panose="020B0604020202020204" pitchFamily="34" charset="0"/>
                </a:rPr>
                <a:t>Procured 11 out of 16 cornerstone investors</a:t>
              </a:r>
            </a:p>
          </p:txBody>
        </p:sp>
        <p:grpSp>
          <p:nvGrpSpPr>
            <p:cNvPr id="87" name="Group 86">
              <a:extLst>
                <a:ext uri="{FF2B5EF4-FFF2-40B4-BE49-F238E27FC236}">
                  <a16:creationId xmlns:a16="http://schemas.microsoft.com/office/drawing/2014/main" id="{D3F2555D-91AF-DDDE-448A-D12798F05A18}"/>
                </a:ext>
              </a:extLst>
            </p:cNvPr>
            <p:cNvGrpSpPr/>
            <p:nvPr/>
          </p:nvGrpSpPr>
          <p:grpSpPr>
            <a:xfrm>
              <a:off x="3571107" y="1984518"/>
              <a:ext cx="900000" cy="779165"/>
              <a:chOff x="10772202" y="1279467"/>
              <a:chExt cx="900000" cy="789521"/>
            </a:xfrm>
          </p:grpSpPr>
          <p:pic>
            <p:nvPicPr>
              <p:cNvPr id="99" name="Picture 2" descr="Centurion Accomodation REIT IPO: Prospectus &amp; Summary">
                <a:extLst>
                  <a:ext uri="{FF2B5EF4-FFF2-40B4-BE49-F238E27FC236}">
                    <a16:creationId xmlns:a16="http://schemas.microsoft.com/office/drawing/2014/main" id="{481A7536-0819-D76B-EF19-4660897D7EEF}"/>
                  </a:ext>
                </a:extLst>
              </p:cNvPr>
              <p:cNvPicPr>
                <a:picLocks noChangeAspect="1" noChangeArrowheads="1"/>
              </p:cNvPicPr>
              <p:nvPr/>
            </p:nvPicPr>
            <p:blipFill rotWithShape="1">
              <a:blip r:embed="rId35" cstate="print">
                <a:extLst>
                  <a:ext uri="{28A0092B-C50C-407E-A947-70E740481C1C}">
                    <a14:useLocalDpi xmlns:a14="http://schemas.microsoft.com/office/drawing/2010/main" val="0"/>
                  </a:ext>
                </a:extLst>
              </a:blip>
              <a:srcRect l="4436" t="5848" r="4438" b="5143"/>
              <a:stretch/>
            </p:blipFill>
            <p:spPr bwMode="auto">
              <a:xfrm>
                <a:off x="10880202" y="1279467"/>
                <a:ext cx="684000" cy="305935"/>
              </a:xfrm>
              <a:prstGeom prst="rect">
                <a:avLst/>
              </a:prstGeom>
              <a:noFill/>
              <a:extLst>
                <a:ext uri="{909E8E84-426E-40DD-AFC4-6F175D3DCCD1}">
                  <a14:hiddenFill xmlns:a14="http://schemas.microsoft.com/office/drawing/2010/main">
                    <a:solidFill>
                      <a:srgbClr val="FFFFFF"/>
                    </a:solidFill>
                  </a14:hiddenFill>
                </a:ext>
              </a:extLst>
            </p:spPr>
          </p:pic>
          <p:sp>
            <p:nvSpPr>
              <p:cNvPr id="100" name="Rectangle 99">
                <a:extLst>
                  <a:ext uri="{FF2B5EF4-FFF2-40B4-BE49-F238E27FC236}">
                    <a16:creationId xmlns:a16="http://schemas.microsoft.com/office/drawing/2014/main" id="{C49F2694-0C1C-DBAA-21AF-B676ED336235}"/>
                  </a:ext>
                </a:extLst>
              </p:cNvPr>
              <p:cNvSpPr/>
              <p:nvPr/>
            </p:nvSpPr>
            <p:spPr>
              <a:xfrm>
                <a:off x="10772202" y="1816988"/>
                <a:ext cx="900000" cy="252000"/>
              </a:xfrm>
              <a:prstGeom prst="rect">
                <a:avLst/>
              </a:prstGeom>
            </p:spPr>
            <p:txBody>
              <a:bodyPr wrap="none" lIns="0" tIns="0" rIns="0" bIns="0" anchor="ctr">
                <a:noAutofit/>
              </a:bodyPr>
              <a:lstStyle/>
              <a:p>
                <a:pPr marL="0" marR="0" lvl="0" indent="0" algn="ctr" defTabSz="844083" eaLnBrk="0" fontAlgn="auto" latinLnBrk="0" hangingPunct="0">
                  <a:lnSpc>
                    <a:spcPct val="100000"/>
                  </a:lnSpc>
                  <a:spcBef>
                    <a:spcPts val="0"/>
                  </a:spcBef>
                  <a:spcAft>
                    <a:spcPts val="92"/>
                  </a:spcAft>
                  <a:buClrTx/>
                  <a:buSzTx/>
                  <a:buFontTx/>
                  <a:buNone/>
                  <a:tabLst/>
                  <a:defRPr/>
                </a:pPr>
                <a:r>
                  <a:rPr kumimoji="0" lang="en-GB" sz="738"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rPr>
                  <a:t>S$771m IPO</a:t>
                </a:r>
              </a:p>
              <a:p>
                <a:pPr marL="0" marR="0" lvl="0" indent="0" algn="ctr" defTabSz="844083" eaLnBrk="0" fontAlgn="auto" latinLnBrk="0" hangingPunct="0">
                  <a:lnSpc>
                    <a:spcPct val="100000"/>
                  </a:lnSpc>
                  <a:spcBef>
                    <a:spcPts val="0"/>
                  </a:spcBef>
                  <a:spcAft>
                    <a:spcPts val="92"/>
                  </a:spcAft>
                  <a:buClrTx/>
                  <a:buSzTx/>
                  <a:buFontTx/>
                  <a:buNone/>
                  <a:tabLst/>
                  <a:defRPr/>
                </a:pPr>
                <a:r>
                  <a:rPr lang="en-GB" sz="738" b="0" kern="0">
                    <a:solidFill>
                      <a:srgbClr val="000000"/>
                    </a:solidFill>
                    <a:latin typeface="Arial" panose="020B0604020202020204"/>
                    <a:cs typeface="Calibri" panose="020F0502020204030204" pitchFamily="34" charset="0"/>
                  </a:rPr>
                  <a:t>PBWA &amp; PBSA REIT</a:t>
                </a:r>
                <a:r>
                  <a:rPr lang="en-GB" sz="738" b="0" kern="0" baseline="30000">
                    <a:solidFill>
                      <a:srgbClr val="000000"/>
                    </a:solidFill>
                    <a:latin typeface="Arial" panose="020B0604020202020204"/>
                    <a:cs typeface="Calibri" panose="020F0502020204030204" pitchFamily="34" charset="0"/>
                  </a:rPr>
                  <a:t>(1)</a:t>
                </a:r>
                <a:endParaRPr kumimoji="0" lang="en-GB" sz="738" b="0" i="0" u="none" strike="noStrike" kern="0" cap="none" spc="0" normalizeH="0" baseline="30000" noProof="0">
                  <a:ln>
                    <a:noFill/>
                  </a:ln>
                  <a:solidFill>
                    <a:srgbClr val="000000"/>
                  </a:solidFill>
                  <a:effectLst/>
                  <a:uLnTx/>
                  <a:uFillTx/>
                  <a:latin typeface="Arial" panose="020B0604020202020204"/>
                  <a:cs typeface="Calibri" panose="020F0502020204030204" pitchFamily="34" charset="0"/>
                </a:endParaRPr>
              </a:p>
            </p:txBody>
          </p:sp>
        </p:grpSp>
        <p:cxnSp>
          <p:nvCxnSpPr>
            <p:cNvPr id="89" name="Straight Connector 88">
              <a:extLst>
                <a:ext uri="{FF2B5EF4-FFF2-40B4-BE49-F238E27FC236}">
                  <a16:creationId xmlns:a16="http://schemas.microsoft.com/office/drawing/2014/main" id="{3EF7B043-C341-F2C4-EA35-833A44E56B2B}"/>
                </a:ext>
              </a:extLst>
            </p:cNvPr>
            <p:cNvCxnSpPr>
              <a:cxnSpLocks/>
            </p:cNvCxnSpPr>
            <p:nvPr/>
          </p:nvCxnSpPr>
          <p:spPr>
            <a:xfrm>
              <a:off x="4571548" y="1991471"/>
              <a:ext cx="0" cy="781610"/>
            </a:xfrm>
            <a:prstGeom prst="line">
              <a:avLst/>
            </a:prstGeom>
            <a:noFill/>
            <a:ln w="6350" cap="flat" cmpd="sng" algn="ctr">
              <a:solidFill>
                <a:srgbClr val="FFFFFF">
                  <a:lumMod val="65000"/>
                </a:srgbClr>
              </a:solidFill>
              <a:prstDash val="solid"/>
              <a:miter lim="800000"/>
            </a:ln>
            <a:effectLst/>
          </p:spPr>
        </p:cxnSp>
        <p:grpSp>
          <p:nvGrpSpPr>
            <p:cNvPr id="109" name="Group 108">
              <a:extLst>
                <a:ext uri="{FF2B5EF4-FFF2-40B4-BE49-F238E27FC236}">
                  <a16:creationId xmlns:a16="http://schemas.microsoft.com/office/drawing/2014/main" id="{A000CD18-FE82-D0A7-E3BC-4D608CF805C9}"/>
                </a:ext>
              </a:extLst>
            </p:cNvPr>
            <p:cNvGrpSpPr/>
            <p:nvPr/>
          </p:nvGrpSpPr>
          <p:grpSpPr>
            <a:xfrm>
              <a:off x="4707011" y="1988153"/>
              <a:ext cx="1572012" cy="870163"/>
              <a:chOff x="4707011" y="1988153"/>
              <a:chExt cx="1572012" cy="870163"/>
            </a:xfrm>
          </p:grpSpPr>
          <p:sp>
            <p:nvSpPr>
              <p:cNvPr id="74" name="TextBox 73">
                <a:extLst>
                  <a:ext uri="{FF2B5EF4-FFF2-40B4-BE49-F238E27FC236}">
                    <a16:creationId xmlns:a16="http://schemas.microsoft.com/office/drawing/2014/main" id="{23686DCD-5268-BAA3-DBB1-1263CCF6E40E}"/>
                  </a:ext>
                </a:extLst>
              </p:cNvPr>
              <p:cNvSpPr txBox="1"/>
              <p:nvPr/>
            </p:nvSpPr>
            <p:spPr bwMode="gray">
              <a:xfrm>
                <a:off x="4707011" y="2743748"/>
                <a:ext cx="586647" cy="107722"/>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rPr>
                  <a:t>Ong Pang Aik</a:t>
                </a:r>
                <a:endParaRPr kumimoji="0" lang="en-US" sz="700" b="0" i="0" u="none" strike="noStrike" kern="0" cap="none" spc="0" normalizeH="0" baseline="0" noProof="0">
                  <a:ln>
                    <a:noFill/>
                  </a:ln>
                  <a:solidFill>
                    <a:srgbClr val="000000"/>
                  </a:solidFill>
                  <a:effectLst/>
                  <a:uLnTx/>
                  <a:uFillTx/>
                  <a:latin typeface="Arial" panose="020B0604020202020204"/>
                  <a:cs typeface="Calibri" panose="020F0502020204030204" pitchFamily="34" charset="0"/>
                </a:endParaRPr>
              </a:p>
            </p:txBody>
          </p:sp>
          <p:pic>
            <p:nvPicPr>
              <p:cNvPr id="91" name="Picture 90">
                <a:extLst>
                  <a:ext uri="{FF2B5EF4-FFF2-40B4-BE49-F238E27FC236}">
                    <a16:creationId xmlns:a16="http://schemas.microsoft.com/office/drawing/2014/main" id="{CE886761-BFF1-55F2-EEE2-33B95416687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46686" y="1999657"/>
                <a:ext cx="631942" cy="130754"/>
              </a:xfrm>
              <a:prstGeom prst="rect">
                <a:avLst/>
              </a:prstGeom>
            </p:spPr>
          </p:pic>
          <p:pic>
            <p:nvPicPr>
              <p:cNvPr id="92" name="Picture 2" descr="abrdn Asia Limited - PromiseLand ...">
                <a:extLst>
                  <a:ext uri="{FF2B5EF4-FFF2-40B4-BE49-F238E27FC236}">
                    <a16:creationId xmlns:a16="http://schemas.microsoft.com/office/drawing/2014/main" id="{877D58A4-C4EE-5B85-392D-BC07C19CE83E}"/>
                  </a:ext>
                </a:extLst>
              </p:cNvPr>
              <p:cNvPicPr>
                <a:picLocks noChangeAspect="1" noChangeArrowheads="1"/>
              </p:cNvPicPr>
              <p:nvPr/>
            </p:nvPicPr>
            <p:blipFill rotWithShape="1">
              <a:blip r:embed="rId36" cstate="print">
                <a:extLst>
                  <a:ext uri="{28A0092B-C50C-407E-A947-70E740481C1C}">
                    <a14:useLocalDpi xmlns:a14="http://schemas.microsoft.com/office/drawing/2010/main" val="0"/>
                  </a:ext>
                </a:extLst>
              </a:blip>
              <a:srcRect l="11848" t="34038" r="12464" b="31190"/>
              <a:stretch/>
            </p:blipFill>
            <p:spPr bwMode="auto">
              <a:xfrm>
                <a:off x="5755667" y="2009666"/>
                <a:ext cx="523356" cy="102981"/>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4" descr="AMOVA ASSET MANAGEMENT ASIA LIMITED ...">
                <a:extLst>
                  <a:ext uri="{FF2B5EF4-FFF2-40B4-BE49-F238E27FC236}">
                    <a16:creationId xmlns:a16="http://schemas.microsoft.com/office/drawing/2014/main" id="{E30DAFFA-EE83-9B47-4C6C-7682A03708AF}"/>
                  </a:ext>
                </a:extLst>
              </p:cNvPr>
              <p:cNvPicPr>
                <a:picLocks noChangeAspect="1" noChangeArrowheads="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4750802" y="2394485"/>
                <a:ext cx="538759" cy="142111"/>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6" descr="EPRA Virtual Real Estate Digest Event ...">
                <a:extLst>
                  <a:ext uri="{FF2B5EF4-FFF2-40B4-BE49-F238E27FC236}">
                    <a16:creationId xmlns:a16="http://schemas.microsoft.com/office/drawing/2014/main" id="{08A7ADC3-EDB5-CFD0-82E6-4547BBA21121}"/>
                  </a:ext>
                </a:extLst>
              </p:cNvPr>
              <p:cNvPicPr>
                <a:picLocks noChangeAspect="1" noChangeArrowheads="1"/>
              </p:cNvPicPr>
              <p:nvPr/>
            </p:nvPicPr>
            <p:blipFill>
              <a:blip r:embed="rId38" cstate="print">
                <a:extLst>
                  <a:ext uri="{28A0092B-C50C-407E-A947-70E740481C1C}">
                    <a14:useLocalDpi xmlns:a14="http://schemas.microsoft.com/office/drawing/2010/main" val="0"/>
                  </a:ext>
                </a:extLst>
              </a:blip>
              <a:srcRect/>
              <a:stretch>
                <a:fillRect/>
              </a:stretch>
            </p:blipFill>
            <p:spPr bwMode="auto">
              <a:xfrm>
                <a:off x="4732366" y="2209156"/>
                <a:ext cx="575630" cy="10658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8" descr="DWS Group - Wikipedia">
                <a:extLst>
                  <a:ext uri="{FF2B5EF4-FFF2-40B4-BE49-F238E27FC236}">
                    <a16:creationId xmlns:a16="http://schemas.microsoft.com/office/drawing/2014/main" id="{A1499655-D758-FECF-F756-E2F3E22A27BF}"/>
                  </a:ext>
                </a:extLst>
              </p:cNvPr>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5733516" y="2438157"/>
                <a:ext cx="392828" cy="142111"/>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a:extLst>
                  <a:ext uri="{FF2B5EF4-FFF2-40B4-BE49-F238E27FC236}">
                    <a16:creationId xmlns:a16="http://schemas.microsoft.com/office/drawing/2014/main" id="{3BAB4F22-DE0F-3966-9FA2-A03EBD0DAC1A}"/>
                  </a:ext>
                </a:extLst>
              </p:cNvPr>
              <p:cNvPicPr>
                <a:picLocks noChangeAspect="1"/>
              </p:cNvPicPr>
              <p:nvPr/>
            </p:nvPicPr>
            <p:blipFill>
              <a:blip r:embed="rId18"/>
              <a:stretch>
                <a:fillRect/>
              </a:stretch>
            </p:blipFill>
            <p:spPr>
              <a:xfrm>
                <a:off x="4720775" y="2567611"/>
                <a:ext cx="524955" cy="142111"/>
              </a:xfrm>
              <a:prstGeom prst="rect">
                <a:avLst/>
              </a:prstGeom>
            </p:spPr>
          </p:pic>
          <p:pic>
            <p:nvPicPr>
              <p:cNvPr id="97" name="Picture 10">
                <a:extLst>
                  <a:ext uri="{FF2B5EF4-FFF2-40B4-BE49-F238E27FC236}">
                    <a16:creationId xmlns:a16="http://schemas.microsoft.com/office/drawing/2014/main" id="{23C342EC-ED9A-B788-4EA3-76E368EBEC3D}"/>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5397494" y="2213780"/>
                <a:ext cx="545949" cy="142111"/>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97" descr="A pink background with white text&#10;&#10;Description automatically generated">
                <a:extLst>
                  <a:ext uri="{FF2B5EF4-FFF2-40B4-BE49-F238E27FC236}">
                    <a16:creationId xmlns:a16="http://schemas.microsoft.com/office/drawing/2014/main" id="{011BFE4B-DA0B-C7F9-A7E8-01014A53D949}"/>
                  </a:ext>
                </a:extLst>
              </p:cNvPr>
              <p:cNvPicPr>
                <a:picLocks noChangeAspect="1"/>
              </p:cNvPicPr>
              <p:nvPr/>
            </p:nvPicPr>
            <p:blipFill>
              <a:blip r:embed="rId41" cstate="print">
                <a:extLst>
                  <a:ext uri="{28A0092B-C50C-407E-A947-70E740481C1C}">
                    <a14:useLocalDpi xmlns:a14="http://schemas.microsoft.com/office/drawing/2010/main" val="0"/>
                  </a:ext>
                </a:extLst>
              </a:blip>
              <a:stretch>
                <a:fillRect/>
              </a:stretch>
            </p:blipFill>
            <p:spPr>
              <a:xfrm>
                <a:off x="5341587" y="2415806"/>
                <a:ext cx="300784" cy="360447"/>
              </a:xfrm>
              <a:prstGeom prst="rect">
                <a:avLst/>
              </a:prstGeom>
            </p:spPr>
          </p:pic>
          <p:pic>
            <p:nvPicPr>
              <p:cNvPr id="101" name="Picture 100">
                <a:extLst>
                  <a:ext uri="{FF2B5EF4-FFF2-40B4-BE49-F238E27FC236}">
                    <a16:creationId xmlns:a16="http://schemas.microsoft.com/office/drawing/2014/main" id="{50B4A109-FE53-7B3B-6687-4281BEE49D9E}"/>
                  </a:ext>
                </a:extLst>
              </p:cNvPr>
              <p:cNvPicPr>
                <a:picLocks noChangeAspect="1"/>
              </p:cNvPicPr>
              <p:nvPr/>
            </p:nvPicPr>
            <p:blipFill>
              <a:blip r:embed="rId42"/>
              <a:stretch>
                <a:fillRect/>
              </a:stretch>
            </p:blipFill>
            <p:spPr>
              <a:xfrm>
                <a:off x="5693303" y="2591195"/>
                <a:ext cx="559482" cy="267121"/>
              </a:xfrm>
              <a:prstGeom prst="rect">
                <a:avLst/>
              </a:prstGeom>
            </p:spPr>
          </p:pic>
          <p:pic>
            <p:nvPicPr>
              <p:cNvPr id="75" name="Picture 74">
                <a:extLst>
                  <a:ext uri="{FF2B5EF4-FFF2-40B4-BE49-F238E27FC236}">
                    <a16:creationId xmlns:a16="http://schemas.microsoft.com/office/drawing/2014/main" id="{17BB1E1D-5679-338B-B532-66AC4341F2B8}"/>
                  </a:ext>
                </a:extLst>
              </p:cNvPr>
              <p:cNvPicPr>
                <a:picLocks noChangeAspect="1"/>
              </p:cNvPicPr>
              <p:nvPr/>
            </p:nvPicPr>
            <p:blipFill>
              <a:blip r:embed="rId33"/>
              <a:stretch>
                <a:fillRect/>
              </a:stretch>
            </p:blipFill>
            <p:spPr>
              <a:xfrm>
                <a:off x="4708301" y="1988153"/>
                <a:ext cx="294035" cy="140665"/>
              </a:xfrm>
              <a:prstGeom prst="rect">
                <a:avLst/>
              </a:prstGeom>
            </p:spPr>
          </p:pic>
        </p:grpSp>
      </p:grpSp>
    </p:spTree>
    <p:extLst>
      <p:ext uri="{BB962C8B-B14F-4D97-AF65-F5344CB8AC3E}">
        <p14:creationId xmlns:p14="http://schemas.microsoft.com/office/powerpoint/2010/main" val="41666398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4202B-6E2E-4520-A879-D227048DC291}"/>
              </a:ext>
            </a:extLst>
          </p:cNvPr>
          <p:cNvSpPr>
            <a:spLocks noGrp="1"/>
          </p:cNvSpPr>
          <p:nvPr>
            <p:ph type="title"/>
          </p:nvPr>
        </p:nvSpPr>
        <p:spPr/>
        <p:txBody>
          <a:bodyPr/>
          <a:lstStyle/>
          <a:p>
            <a:r>
              <a:rPr lang="en-US" altLang="zh-CN">
                <a:latin typeface="+mn-lt"/>
              </a:rPr>
              <a:t>DBS has a Strong Track Record in Introducing Cornerstone and Anchor Investors</a:t>
            </a:r>
          </a:p>
        </p:txBody>
      </p:sp>
      <p:sp>
        <p:nvSpPr>
          <p:cNvPr id="14" name="Text Placeholder 13">
            <a:extLst>
              <a:ext uri="{FF2B5EF4-FFF2-40B4-BE49-F238E27FC236}">
                <a16:creationId xmlns:a16="http://schemas.microsoft.com/office/drawing/2014/main" id="{2D8241EA-6BAD-E6B9-D6B9-21DACE377C5E}"/>
              </a:ext>
            </a:extLst>
          </p:cNvPr>
          <p:cNvSpPr>
            <a:spLocks noGrp="1"/>
          </p:cNvSpPr>
          <p:nvPr>
            <p:ph type="body" sz="quarter" idx="46"/>
          </p:nvPr>
        </p:nvSpPr>
        <p:spPr/>
        <p:txBody>
          <a:bodyPr/>
          <a:lstStyle/>
          <a:p>
            <a:endParaRPr lang="en-GB"/>
          </a:p>
        </p:txBody>
      </p:sp>
      <p:graphicFrame>
        <p:nvGraphicFramePr>
          <p:cNvPr id="5" name="Group 74">
            <a:extLst>
              <a:ext uri="{FF2B5EF4-FFF2-40B4-BE49-F238E27FC236}">
                <a16:creationId xmlns:a16="http://schemas.microsoft.com/office/drawing/2014/main" id="{342ACE9C-EC06-AC3C-52C1-D9C9DD99B9AA}"/>
              </a:ext>
            </a:extLst>
          </p:cNvPr>
          <p:cNvGraphicFramePr>
            <a:graphicFrameLocks noGrp="1"/>
          </p:cNvGraphicFramePr>
          <p:nvPr>
            <p:custDataLst>
              <p:tags r:id="rId1"/>
            </p:custDataLst>
            <p:extLst>
              <p:ext uri="{D42A27DB-BD31-4B8C-83A1-F6EECF244321}">
                <p14:modId xmlns:p14="http://schemas.microsoft.com/office/powerpoint/2010/main" val="2084946608"/>
              </p:ext>
            </p:extLst>
          </p:nvPr>
        </p:nvGraphicFramePr>
        <p:xfrm>
          <a:off x="452998" y="4099713"/>
          <a:ext cx="9000000" cy="2007490"/>
        </p:xfrm>
        <a:graphic>
          <a:graphicData uri="http://schemas.openxmlformats.org/drawingml/2006/table">
            <a:tbl>
              <a:tblPr/>
              <a:tblGrid>
                <a:gridCol w="1052933">
                  <a:extLst>
                    <a:ext uri="{9D8B030D-6E8A-4147-A177-3AD203B41FA5}">
                      <a16:colId xmlns:a16="http://schemas.microsoft.com/office/drawing/2014/main" val="20000"/>
                    </a:ext>
                  </a:extLst>
                </a:gridCol>
                <a:gridCol w="1969924">
                  <a:extLst>
                    <a:ext uri="{9D8B030D-6E8A-4147-A177-3AD203B41FA5}">
                      <a16:colId xmlns:a16="http://schemas.microsoft.com/office/drawing/2014/main" val="2498094068"/>
                    </a:ext>
                  </a:extLst>
                </a:gridCol>
                <a:gridCol w="1992381">
                  <a:extLst>
                    <a:ext uri="{9D8B030D-6E8A-4147-A177-3AD203B41FA5}">
                      <a16:colId xmlns:a16="http://schemas.microsoft.com/office/drawing/2014/main" val="181501301"/>
                    </a:ext>
                  </a:extLst>
                </a:gridCol>
                <a:gridCol w="1992381">
                  <a:extLst>
                    <a:ext uri="{9D8B030D-6E8A-4147-A177-3AD203B41FA5}">
                      <a16:colId xmlns:a16="http://schemas.microsoft.com/office/drawing/2014/main" val="20001"/>
                    </a:ext>
                  </a:extLst>
                </a:gridCol>
                <a:gridCol w="1992381">
                  <a:extLst>
                    <a:ext uri="{9D8B030D-6E8A-4147-A177-3AD203B41FA5}">
                      <a16:colId xmlns:a16="http://schemas.microsoft.com/office/drawing/2014/main" val="20002"/>
                    </a:ext>
                  </a:extLst>
                </a:gridCol>
              </a:tblGrid>
              <a:tr h="109883">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Issuer</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Far East Horizon</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ja-JP"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JLMAG</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err="1">
                          <a:ln>
                            <a:noFill/>
                          </a:ln>
                          <a:solidFill>
                            <a:schemeClr val="tx1"/>
                          </a:solidFill>
                          <a:effectLst/>
                          <a:latin typeface="Calibri" panose="020F0502020204030204" pitchFamily="34" charset="0"/>
                          <a:cs typeface="Calibri" panose="020F0502020204030204" pitchFamily="34" charset="0"/>
                        </a:rPr>
                        <a:t>Senstime</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SF REIT</a:t>
                      </a: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9883">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Industry</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Financials</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Rare Earth Materials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ja-JP" sz="800">
                          <a:latin typeface="Calibri" panose="020F0502020204030204" pitchFamily="34" charset="0"/>
                          <a:cs typeface="Calibri" panose="020F0502020204030204" pitchFamily="34" charset="0"/>
                        </a:rPr>
                        <a:t>Artificial Intelligence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Logistics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684600596"/>
                  </a:ext>
                </a:extLst>
              </a:tr>
              <a:tr h="109883">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Listing Date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May 25, 2023 </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January 14, 2022 </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rtl="0" eaLnBrk="1" fontAlgn="b" latinLnBrk="0" hangingPunct="1">
                        <a:lnSpc>
                          <a:spcPct val="85000"/>
                        </a:lnSpc>
                        <a:spcBef>
                          <a:spcPct val="0"/>
                        </a:spcBef>
                        <a:spcAft>
                          <a:spcPct val="0"/>
                        </a:spcAft>
                        <a:buClr>
                          <a:schemeClr val="accent1"/>
                        </a:buClr>
                        <a:buSzPct val="75000"/>
                        <a:buFont typeface="Arial" panose="020B0604020202020204" pitchFamily="34" charset="0"/>
                        <a:buNone/>
                      </a:pPr>
                      <a:r>
                        <a:rPr lang="en-US" sz="800">
                          <a:latin typeface="Calibri"/>
                          <a:cs typeface="Calibri"/>
                        </a:rPr>
                        <a:t>December 30, 2021 </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May 17, 2021 </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0544">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Listing Location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HKEX</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HKEX</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HKEX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HKEX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8336">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Offering Size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USD210 million</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USD544 million</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95000"/>
                        </a:lnSpc>
                        <a:spcBef>
                          <a:spcPct val="0"/>
                        </a:spcBef>
                        <a:spcAft>
                          <a:spcPct val="0"/>
                        </a:spcAft>
                        <a:buClr>
                          <a:schemeClr val="accent1"/>
                        </a:buClr>
                        <a:buSzPct val="75000"/>
                        <a:buFont typeface="Wingdings" pitchFamily="2" charset="2"/>
                        <a:buNone/>
                        <a:tabLst/>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HKD5.78 billion</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USD351 million</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4237">
                <a:tc>
                  <a:txBody>
                    <a:bodyPr/>
                    <a:lstStyle/>
                    <a:p>
                      <a:pPr marL="0" marR="0" lvl="0" indent="0" algn="l" defTabSz="914400" rtl="0" eaLnBrk="0" fontAlgn="base" latinLnBrk="0" hangingPunct="0">
                        <a:lnSpc>
                          <a:spcPct val="85000"/>
                        </a:lnSpc>
                        <a:spcBef>
                          <a:spcPct val="0"/>
                        </a:spcBef>
                        <a:spcAft>
                          <a:spcPct val="0"/>
                        </a:spcAft>
                        <a:buClr>
                          <a:schemeClr val="accent1"/>
                        </a:buClr>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Cornerstone/Anchor Investors Secured by DBS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85000"/>
                        </a:lnSpc>
                        <a:spcBef>
                          <a:spcPct val="0"/>
                        </a:spcBef>
                        <a:spcAft>
                          <a:spcPct val="0"/>
                        </a:spcAft>
                        <a:buClr>
                          <a:srgbClr val="FE7917"/>
                        </a:buClr>
                        <a:buSzPct val="75000"/>
                        <a:buFont typeface="Arial" panose="020B0604020202020204" pitchFamily="34" charset="0"/>
                        <a:buNone/>
                        <a:tabLst/>
                        <a:defRPr/>
                      </a:pPr>
                      <a:endParaRPr kumimoji="0" lang="en-US" sz="800" b="0" i="1"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endParaRPr kumimoji="0" lang="en-SG"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
                          <a:schemeClr val="accent1"/>
                        </a:buClr>
                        <a:buSzPct val="75000"/>
                        <a:buFont typeface="Wingdings" pitchFamily="2" charset="2"/>
                        <a:buNone/>
                        <a:tabLst/>
                        <a:defRPr/>
                      </a:pPr>
                      <a:endParaRPr kumimoji="0" lang="en-SG"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rgbClr val="FE7917"/>
                        </a:buClr>
                        <a:buSzPct val="75000"/>
                        <a:buFont typeface="Arial" panose="020B0604020202020204" pitchFamily="34" charset="0"/>
                        <a:buNone/>
                        <a:tabLst/>
                        <a:defRPr/>
                      </a:pPr>
                      <a:endParaRPr kumimoji="0" lang="en-US" sz="800" b="0" i="1"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5423">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Orderbook Demand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noProof="0">
                          <a:ln>
                            <a:noFill/>
                          </a:ln>
                          <a:solidFill>
                            <a:schemeClr val="tx1"/>
                          </a:solidFill>
                          <a:effectLst/>
                          <a:latin typeface="Calibri" panose="020F0502020204030204" pitchFamily="34" charset="0"/>
                          <a:ea typeface="+mn-ea"/>
                          <a:cs typeface="Calibri" panose="020F0502020204030204" pitchFamily="34" charset="0"/>
                        </a:rPr>
                        <a:t>DBS introduced 100% of the long-term institutional investors and 72% of the overall institutional investor demand </a:t>
                      </a:r>
                      <a:endParaRPr kumimoji="0" lang="en-US" sz="800" b="0" i="0" u="none" strike="noStrike" kern="1200" cap="none" normalizeH="0" baseline="0" noProof="0">
                        <a:ln>
                          <a:noFill/>
                        </a:ln>
                        <a:solidFill>
                          <a:schemeClr val="tx1"/>
                        </a:solidFill>
                        <a:effectLst/>
                        <a:latin typeface="Calibri" panose="020F0502020204030204" pitchFamily="34" charset="0"/>
                        <a:ea typeface="+mn-ea"/>
                        <a:cs typeface="Calibri" panose="020F0502020204030204" pitchFamily="34" charset="0"/>
                      </a:endParaRP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DBS brought in 65% of the cornerstone demand and approximately 50% of the overall orderbook demand </a:t>
                      </a:r>
                      <a:endParaRPr kumimoji="0" lang="en-US"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endParaRP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DBS introduced strategic anchor investors and facilitated </a:t>
                      </a:r>
                      <a:r>
                        <a:rPr kumimoji="0" lang="en-US" altLang="zh-CN" sz="800" b="0" i="0" u="none" strike="noStrike" kern="1200" cap="none" normalizeH="0" baseline="0" err="1">
                          <a:ln>
                            <a:noFill/>
                          </a:ln>
                          <a:solidFill>
                            <a:schemeClr val="tx1"/>
                          </a:solidFill>
                          <a:effectLst/>
                          <a:latin typeface="Calibri" panose="020F0502020204030204" pitchFamily="34" charset="0"/>
                          <a:ea typeface="+mn-ea"/>
                          <a:cs typeface="Calibri" panose="020F0502020204030204" pitchFamily="34" charset="0"/>
                        </a:rPr>
                        <a:t>SenseTime's</a:t>
                      </a: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 participation in its AI development layout in Southeast Asia </a:t>
                      </a:r>
                      <a:endParaRPr kumimoji="0" lang="zh-CN" altLang="en-US"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endParaRP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noProof="0">
                          <a:ln>
                            <a:noFill/>
                          </a:ln>
                          <a:solidFill>
                            <a:schemeClr val="tx1"/>
                          </a:solidFill>
                          <a:effectLst/>
                          <a:latin typeface="Calibri" panose="020F0502020204030204" pitchFamily="34" charset="0"/>
                          <a:ea typeface="+mn-ea"/>
                          <a:cs typeface="Calibri" panose="020F0502020204030204" pitchFamily="34" charset="0"/>
                        </a:rPr>
                        <a:t>DBS introduced 56% of the total allocation and 61% of the long-only investors</a:t>
                      </a:r>
                      <a:endParaRPr kumimoji="0" lang="en-US" sz="800" b="0" i="0" u="none" strike="noStrike" kern="1200" cap="none" normalizeH="0" baseline="0" noProof="0">
                        <a:ln>
                          <a:noFill/>
                        </a:ln>
                        <a:solidFill>
                          <a:schemeClr val="tx1"/>
                        </a:solidFill>
                        <a:effectLst/>
                        <a:latin typeface="Calibri" panose="020F0502020204030204" pitchFamily="34" charset="0"/>
                        <a:ea typeface="+mn-ea"/>
                        <a:cs typeface="Calibri" panose="020F0502020204030204" pitchFamily="34" charset="0"/>
                      </a:endParaRP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3577">
                <a:tc>
                  <a:txBody>
                    <a:bodyPr/>
                    <a:lstStyle/>
                    <a:p>
                      <a:pPr marL="0" marR="0" lvl="0" indent="0" algn="l" defTabSz="914400" rtl="0" eaLnBrk="0" fontAlgn="base" latinLnBrk="0" hangingPunct="0">
                        <a:lnSpc>
                          <a:spcPct val="85000"/>
                        </a:lnSpc>
                        <a:spcBef>
                          <a:spcPct val="0"/>
                        </a:spcBef>
                        <a:spcAft>
                          <a:spcPct val="0"/>
                        </a:spcAft>
                        <a:buClr>
                          <a:schemeClr val="accent1"/>
                        </a:buClr>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DBS's Role</a:t>
                      </a: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Joint Sponsor, Joint Global Coordinator, Joint Bookrunner,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Joint Global Coordinator, Bookrunner,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Joint Global Coordinator, Joint Bookrunner and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Sole Listing Agent, Joint Global Coordinator, Joint Bookrunner,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6" name="Group 74">
            <a:extLst>
              <a:ext uri="{FF2B5EF4-FFF2-40B4-BE49-F238E27FC236}">
                <a16:creationId xmlns:a16="http://schemas.microsoft.com/office/drawing/2014/main" id="{44ED65F3-EA52-F3D9-B64C-13C6422CE6CB}"/>
              </a:ext>
            </a:extLst>
          </p:cNvPr>
          <p:cNvGraphicFramePr>
            <a:graphicFrameLocks noGrp="1"/>
          </p:cNvGraphicFramePr>
          <p:nvPr>
            <p:custDataLst>
              <p:tags r:id="rId2"/>
            </p:custDataLst>
            <p:extLst>
              <p:ext uri="{D42A27DB-BD31-4B8C-83A1-F6EECF244321}">
                <p14:modId xmlns:p14="http://schemas.microsoft.com/office/powerpoint/2010/main" val="603360520"/>
              </p:ext>
            </p:extLst>
          </p:nvPr>
        </p:nvGraphicFramePr>
        <p:xfrm>
          <a:off x="452999" y="1325645"/>
          <a:ext cx="9000000" cy="2302072"/>
        </p:xfrm>
        <a:graphic>
          <a:graphicData uri="http://schemas.openxmlformats.org/drawingml/2006/table">
            <a:tbl>
              <a:tblPr/>
              <a:tblGrid>
                <a:gridCol w="1061233">
                  <a:extLst>
                    <a:ext uri="{9D8B030D-6E8A-4147-A177-3AD203B41FA5}">
                      <a16:colId xmlns:a16="http://schemas.microsoft.com/office/drawing/2014/main" val="20000"/>
                    </a:ext>
                  </a:extLst>
                </a:gridCol>
                <a:gridCol w="1581817">
                  <a:extLst>
                    <a:ext uri="{9D8B030D-6E8A-4147-A177-3AD203B41FA5}">
                      <a16:colId xmlns:a16="http://schemas.microsoft.com/office/drawing/2014/main" val="1598050282"/>
                    </a:ext>
                  </a:extLst>
                </a:gridCol>
                <a:gridCol w="1581817">
                  <a:extLst>
                    <a:ext uri="{9D8B030D-6E8A-4147-A177-3AD203B41FA5}">
                      <a16:colId xmlns:a16="http://schemas.microsoft.com/office/drawing/2014/main" val="1255439562"/>
                    </a:ext>
                  </a:extLst>
                </a:gridCol>
                <a:gridCol w="1591711">
                  <a:extLst>
                    <a:ext uri="{9D8B030D-6E8A-4147-A177-3AD203B41FA5}">
                      <a16:colId xmlns:a16="http://schemas.microsoft.com/office/drawing/2014/main" val="2060741662"/>
                    </a:ext>
                  </a:extLst>
                </a:gridCol>
                <a:gridCol w="1591711">
                  <a:extLst>
                    <a:ext uri="{9D8B030D-6E8A-4147-A177-3AD203B41FA5}">
                      <a16:colId xmlns:a16="http://schemas.microsoft.com/office/drawing/2014/main" val="2498094068"/>
                    </a:ext>
                  </a:extLst>
                </a:gridCol>
                <a:gridCol w="1591711">
                  <a:extLst>
                    <a:ext uri="{9D8B030D-6E8A-4147-A177-3AD203B41FA5}">
                      <a16:colId xmlns:a16="http://schemas.microsoft.com/office/drawing/2014/main" val="20001"/>
                    </a:ext>
                  </a:extLst>
                </a:gridCol>
              </a:tblGrid>
              <a:tr h="165585">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Issuer</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CIG</a:t>
                      </a: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HESAI</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err="1">
                          <a:ln>
                            <a:noFill/>
                          </a:ln>
                          <a:solidFill>
                            <a:schemeClr val="tx1"/>
                          </a:solidFill>
                          <a:effectLst/>
                          <a:latin typeface="Calibri" panose="020F0502020204030204" pitchFamily="34" charset="0"/>
                          <a:cs typeface="Calibri" panose="020F0502020204030204" pitchFamily="34" charset="0"/>
                        </a:rPr>
                        <a:t>CommChina</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TW"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Geek+</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altLang="zh-CN"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Nanshan Aluminum Intl.</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5585">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Industry</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Communications Technology</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Lidar</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ja-JP" sz="800">
                          <a:latin typeface="Calibri" panose="020F0502020204030204" pitchFamily="34" charset="0"/>
                          <a:cs typeface="Calibri" panose="020F0502020204030204" pitchFamily="34" charset="0"/>
                        </a:rPr>
                        <a:t>Cloud Communication Services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Smart Warehouse/AI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Aluminum Industry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684600596"/>
                  </a:ext>
                </a:extLst>
              </a:tr>
              <a:tr h="165585">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Listing Date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October 28, 2025</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September 16, 2025 </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July 9, 2025 </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July 9, 2025 </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March 25, 2025 </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6581">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Listing Location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sz="800">
                          <a:latin typeface="Calibri" panose="020F0502020204030204" pitchFamily="34" charset="0"/>
                          <a:cs typeface="Calibri" panose="020F0502020204030204" pitchFamily="34" charset="0"/>
                        </a:rPr>
                        <a:t>HKEX</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HKEX</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HKEX</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HKEX </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a:latin typeface="Calibri" panose="020F0502020204030204" pitchFamily="34" charset="0"/>
                          <a:cs typeface="Calibri" panose="020F0502020204030204" pitchFamily="34" charset="0"/>
                        </a:rPr>
                        <a:t>HKEX</a:t>
                      </a:r>
                      <a:endParaRPr lang="en-US" sz="800">
                        <a:latin typeface="Calibri" panose="020F0502020204030204" pitchFamily="34" charset="0"/>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5585">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Offering Size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u="none" strike="noStrike">
                          <a:latin typeface="Calibri" panose="020F0502020204030204" pitchFamily="34" charset="0"/>
                          <a:ea typeface="楷体" panose="02010609060101010101" pitchFamily="49" charset="-122"/>
                          <a:cs typeface="Calibri" panose="020F0502020204030204" pitchFamily="34" charset="0"/>
                        </a:rPr>
                        <a:t>USD593 million</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u="none" strike="noStrike">
                          <a:latin typeface="Calibri" panose="020F0502020204030204" pitchFamily="34" charset="0"/>
                          <a:ea typeface="楷体" panose="02010609060101010101" pitchFamily="49" charset="-122"/>
                          <a:cs typeface="Calibri" panose="020F0502020204030204" pitchFamily="34" charset="0"/>
                        </a:rPr>
                        <a:t>USD534 million</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defRPr/>
                      </a:pPr>
                      <a:r>
                        <a:rPr lang="en-US" altLang="zh-CN" sz="800" u="none" strike="noStrike">
                          <a:latin typeface="Calibri" panose="020F0502020204030204" pitchFamily="34" charset="0"/>
                          <a:ea typeface="楷体" panose="02010609060101010101" pitchFamily="49" charset="-122"/>
                          <a:cs typeface="Calibri" panose="020F0502020204030204" pitchFamily="34" charset="0"/>
                        </a:rPr>
                        <a:t>HKD413 million </a:t>
                      </a:r>
                      <a:endParaRPr lang="zh-CN" altLang="en-US" sz="800" u="none" strike="noStrike">
                        <a:latin typeface="Calibri" panose="020F0502020204030204" pitchFamily="34" charset="0"/>
                        <a:ea typeface="楷体" panose="02010609060101010101" pitchFamily="49" charset="-122"/>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USD345 million</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5000"/>
                        </a:lnSpc>
                        <a:spcBef>
                          <a:spcPct val="0"/>
                        </a:spcBef>
                        <a:spcAft>
                          <a:spcPct val="0"/>
                        </a:spcAft>
                        <a:buClr>
                          <a:schemeClr val="accent1"/>
                        </a:buClr>
                        <a:buSzPct val="75000"/>
                        <a:buFont typeface="Arial" panose="020B0604020202020204" pitchFamily="34" charset="0"/>
                        <a:buNone/>
                        <a:tabLst/>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USD302 million</a:t>
                      </a: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3115">
                <a:tc>
                  <a:txBody>
                    <a:bodyPr/>
                    <a:lstStyle/>
                    <a:p>
                      <a:pPr marL="0" marR="0" lvl="0" indent="0" algn="l" defTabSz="914400" rtl="0" eaLnBrk="0" fontAlgn="base" latinLnBrk="0" hangingPunct="0">
                        <a:lnSpc>
                          <a:spcPct val="85000"/>
                        </a:lnSpc>
                        <a:spcBef>
                          <a:spcPct val="0"/>
                        </a:spcBef>
                        <a:spcAft>
                          <a:spcPct val="0"/>
                        </a:spcAft>
                        <a:buClr>
                          <a:schemeClr val="accent1"/>
                        </a:buClr>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Cornerstone/Anchor Investors Secured by DBS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endParaRPr kumimoji="0" lang="en-SG"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endParaRPr kumimoji="0" lang="en-SG"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kumimoji="0" lang="en-US" altLang="zh-CN" sz="800" b="0"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Tongzhou</a:t>
                      </a:r>
                      <a:r>
                        <a:rPr kumimoji="0" lang="en-US" altLang="zh-CN"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International Development Co., Ltd. </a:t>
                      </a:r>
                      <a:endParaRPr kumimoji="0" lang="en-SG"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r>
                        <a:rPr kumimoji="0" lang="zh-CN" altLang="en-US"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en-SG"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85000"/>
                        </a:lnSpc>
                        <a:spcBef>
                          <a:spcPct val="0"/>
                        </a:spcBef>
                        <a:spcAft>
                          <a:spcPct val="0"/>
                        </a:spcAft>
                        <a:buClr>
                          <a:schemeClr val="accent1"/>
                        </a:buClr>
                        <a:buSzPct val="75000"/>
                        <a:buFont typeface="Arial" panose="020B0604020202020204" pitchFamily="34" charset="0"/>
                        <a:buNone/>
                        <a:tabLst/>
                        <a:defRPr/>
                      </a:pPr>
                      <a:endParaRPr kumimoji="0" lang="en-SG" sz="8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txBody>
                  <a:tcPr marL="18288" marR="18288" marT="27432" marB="27432" anchor="ctr"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8654">
                <a:tc>
                  <a:txBody>
                    <a:bodyPr/>
                    <a:lstStyle/>
                    <a:p>
                      <a:pPr marL="0" marR="0" lvl="0" indent="0" algn="l" defTabSz="914400" rtl="0" eaLnBrk="1" fontAlgn="b" latinLnBrk="0" hangingPunct="1">
                        <a:lnSpc>
                          <a:spcPct val="85000"/>
                        </a:lnSpc>
                        <a:spcBef>
                          <a:spcPct val="0"/>
                        </a:spcBef>
                        <a:spcAft>
                          <a:spcPct val="0"/>
                        </a:spcAft>
                        <a:buClrTx/>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Orderbook Demand </a:t>
                      </a:r>
                      <a:endParaRPr kumimoji="0" lang="en-US" sz="8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DBS received total orders of over US$1.8 bn </a:t>
                      </a:r>
                      <a:b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br>
                      <a:r>
                        <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(i.e. over 3.4x International Offering size)</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DBS exclusively introduced the only cornerstone investor with Southeast Asian background, accounting for 7% of the cornerstone demand</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DBS brought in 100% of the cornerstone demand and approximately 7.85% of the overall orderbook demand</a:t>
                      </a:r>
                      <a:endParaRPr kumimoji="0" lang="en-US" sz="8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DBS exclusively brought in long-term institutional investor demand that covered over 60% of the orderbook</a:t>
                      </a:r>
                      <a:endParaRPr kumimoji="0" lang="en-US"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endParaRP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DBS brought in over 80% of the foreign institutional investor demand</a:t>
                      </a:r>
                      <a:endParaRPr kumimoji="0" lang="en-US"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endParaRP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rgbClr val="C0C0C0"/>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1382">
                <a:tc>
                  <a:txBody>
                    <a:bodyPr/>
                    <a:lstStyle/>
                    <a:p>
                      <a:pPr marL="0" marR="0" lvl="0" indent="0" algn="l" defTabSz="914400" rtl="0" eaLnBrk="0" fontAlgn="base" latinLnBrk="0" hangingPunct="0">
                        <a:lnSpc>
                          <a:spcPct val="85000"/>
                        </a:lnSpc>
                        <a:spcBef>
                          <a:spcPct val="0"/>
                        </a:spcBef>
                        <a:spcAft>
                          <a:spcPct val="0"/>
                        </a:spcAft>
                        <a:buClr>
                          <a:schemeClr val="accent1"/>
                        </a:buClr>
                        <a:buSzTx/>
                        <a:buFont typeface="Arial" panose="020B0604020202020204" pitchFamily="34" charset="0"/>
                        <a:buNone/>
                        <a:tabLst/>
                      </a:pPr>
                      <a:r>
                        <a:rPr kumimoji="0" lang="en-US" altLang="zh-CN" sz="800" b="1" i="0" u="none" strike="noStrike" cap="none" normalizeH="0" baseline="0">
                          <a:ln>
                            <a:noFill/>
                          </a:ln>
                          <a:solidFill>
                            <a:schemeClr val="tx1"/>
                          </a:solidFill>
                          <a:effectLst/>
                          <a:latin typeface="Calibri" panose="020F0502020204030204" pitchFamily="34" charset="0"/>
                          <a:cs typeface="Calibri" panose="020F0502020204030204" pitchFamily="34" charset="0"/>
                        </a:rPr>
                        <a:t>DBS's Role</a:t>
                      </a:r>
                    </a:p>
                  </a:txBody>
                  <a:tcPr marL="18288" marR="18288" marT="27432" marB="27432" anchor="ctr" horzOverflow="overflow">
                    <a:lnL cap="flat">
                      <a:noFill/>
                    </a:lnL>
                    <a:lnR>
                      <a:noFill/>
                    </a:lnR>
                    <a:lnT w="28575"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Joint Global Coordinator, Joint Bookrunner,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Joint Global Coordinator, Joint Bookrunner,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0" fontAlgn="base" latinLnBrk="0" hangingPunct="0">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cap="none" normalizeH="0" baseline="0">
                          <a:ln>
                            <a:noFill/>
                          </a:ln>
                          <a:solidFill>
                            <a:schemeClr val="tx1"/>
                          </a:solidFill>
                          <a:effectLst/>
                          <a:latin typeface="Calibri" panose="020F0502020204030204" pitchFamily="34" charset="0"/>
                          <a:cs typeface="Calibri" panose="020F0502020204030204" pitchFamily="34" charset="0"/>
                        </a:rPr>
                        <a:t>Sole Sponsor, Overall Coordinator, Joint Global Coordinator, Joint Bookrunner and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Joint Global Coordinator, Joint Bookrunner,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 latinLnBrk="0" hangingPunct="1">
                        <a:lnSpc>
                          <a:spcPct val="85000"/>
                        </a:lnSpc>
                        <a:spcBef>
                          <a:spcPct val="0"/>
                        </a:spcBef>
                        <a:spcAft>
                          <a:spcPct val="0"/>
                        </a:spcAft>
                        <a:buClr>
                          <a:srgbClr val="C00000"/>
                        </a:buClr>
                        <a:buSzPct val="100000"/>
                        <a:buFont typeface="Wingdings 2" panose="05020102010507070707" pitchFamily="18" charset="2"/>
                        <a:buChar char="¡"/>
                        <a:tabLst/>
                        <a:defRPr/>
                      </a:pPr>
                      <a:r>
                        <a:rPr kumimoji="0" lang="en-US" altLang="zh-CN" sz="800" b="0" i="0" u="none" strike="noStrike" kern="1200" cap="none" normalizeH="0" baseline="0">
                          <a:ln>
                            <a:noFill/>
                          </a:ln>
                          <a:solidFill>
                            <a:schemeClr val="tx1"/>
                          </a:solidFill>
                          <a:effectLst/>
                          <a:latin typeface="Calibri" panose="020F0502020204030204" pitchFamily="34" charset="0"/>
                          <a:ea typeface="+mn-ea"/>
                          <a:cs typeface="Calibri" panose="020F0502020204030204" pitchFamily="34" charset="0"/>
                        </a:rPr>
                        <a:t>Joint Global Coordinator, Bookrunner, Joint Lead Manager</a:t>
                      </a:r>
                    </a:p>
                  </a:txBody>
                  <a:tcPr marL="18288" marR="18288" marT="27432" marB="27432" horzOverflow="overflow">
                    <a:lnL>
                      <a:noFill/>
                    </a:lnL>
                    <a:lnR cap="flat">
                      <a:noFill/>
                    </a:lnR>
                    <a:lnT w="12700" cap="flat" cmpd="sng" algn="ctr">
                      <a:solidFill>
                        <a:srgbClr val="C0C0C0"/>
                      </a:solidFill>
                      <a:prstDash val="sysDash"/>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40" name="Group 39">
            <a:extLst>
              <a:ext uri="{FF2B5EF4-FFF2-40B4-BE49-F238E27FC236}">
                <a16:creationId xmlns:a16="http://schemas.microsoft.com/office/drawing/2014/main" id="{F7831C99-49C5-E051-4B59-B04A6DD76568}"/>
              </a:ext>
            </a:extLst>
          </p:cNvPr>
          <p:cNvGrpSpPr/>
          <p:nvPr/>
        </p:nvGrpSpPr>
        <p:grpSpPr>
          <a:xfrm>
            <a:off x="1558820" y="3673917"/>
            <a:ext cx="7608486" cy="1622646"/>
            <a:chOff x="2045512" y="3673917"/>
            <a:chExt cx="6640475" cy="1622646"/>
          </a:xfrm>
        </p:grpSpPr>
        <p:sp>
          <p:nvSpPr>
            <p:cNvPr id="7" name="Mainlogo 1">
              <a:extLst>
                <a:ext uri="{FF2B5EF4-FFF2-40B4-BE49-F238E27FC236}">
                  <a16:creationId xmlns:a16="http://schemas.microsoft.com/office/drawing/2014/main" id="{577B4466-D982-57BF-17DD-D48B5EA3E511}"/>
                </a:ext>
              </a:extLst>
            </p:cNvPr>
            <p:cNvSpPr/>
            <p:nvPr/>
          </p:nvSpPr>
          <p:spPr>
            <a:xfrm>
              <a:off x="4188210" y="3699881"/>
              <a:ext cx="819647" cy="354225"/>
            </a:xfrm>
            <a:prstGeom prst="rect">
              <a:avLst/>
            </a:prstGeom>
            <a:blipFill>
              <a:blip r:embed="rId4"/>
              <a:stretch>
                <a:fillRect l="-28031" t="-12610" r="-26751"/>
              </a:stretch>
            </a:blipFill>
            <a:ln w="12700" cap="flat" cmpd="sng" algn="ctr">
              <a:noFill/>
              <a:prstDash val="solid"/>
              <a:miter lim="800000"/>
            </a:ln>
            <a:effectLst/>
          </p:spPr>
          <p:txBody>
            <a:bodyPr rtlCol="0" anchor="ctr"/>
            <a:lstStyle/>
            <a:p>
              <a:pPr algn="ctr">
                <a:defRPr/>
              </a:pPr>
              <a:endParaRPr lang="en-US" sz="1600" kern="0">
                <a:solidFill>
                  <a:prstClr val="white"/>
                </a:solidFill>
                <a:latin typeface="Calibri" panose="020F0502020204030204" pitchFamily="34" charset="0"/>
                <a:ea typeface="楷体" panose="02010609060101010101" pitchFamily="49" charset="-122"/>
                <a:cs typeface="Calibri" panose="020F0502020204030204" pitchFamily="34" charset="0"/>
              </a:endParaRPr>
            </a:p>
          </p:txBody>
        </p:sp>
        <p:sp>
          <p:nvSpPr>
            <p:cNvPr id="8" name="TextBox 7">
              <a:extLst>
                <a:ext uri="{FF2B5EF4-FFF2-40B4-BE49-F238E27FC236}">
                  <a16:creationId xmlns:a16="http://schemas.microsoft.com/office/drawing/2014/main" id="{012B65EA-37A4-BECF-C8FB-2BE9671E06E1}"/>
                </a:ext>
              </a:extLst>
            </p:cNvPr>
            <p:cNvSpPr txBox="1"/>
            <p:nvPr/>
          </p:nvSpPr>
          <p:spPr bwMode="gray">
            <a:xfrm>
              <a:off x="3678950" y="4871575"/>
              <a:ext cx="841992" cy="424988"/>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p>
              <a:pPr algn="ctr" eaLnBrk="0" hangingPunct="0">
                <a:lnSpc>
                  <a:spcPct val="95000"/>
                </a:lnSpc>
                <a:spcBef>
                  <a:spcPts val="100"/>
                </a:spcBef>
                <a:spcAft>
                  <a:spcPts val="100"/>
                </a:spcAft>
                <a:defRPr/>
              </a:pPr>
              <a:r>
                <a:rPr lang="en-US" sz="700" kern="0">
                  <a:solidFill>
                    <a:srgbClr val="000000"/>
                  </a:solidFill>
                  <a:latin typeface="Calibri" panose="020F0502020204030204" pitchFamily="34" charset="0"/>
                  <a:ea typeface="楷体" panose="02010609060101010101" pitchFamily="49" charset="-122"/>
                  <a:cs typeface="Calibri" panose="020F0502020204030204" pitchFamily="34" charset="0"/>
                </a:rPr>
                <a:t>China SOE </a:t>
              </a:r>
            </a:p>
            <a:p>
              <a:pPr algn="ctr" eaLnBrk="0" hangingPunct="0">
                <a:lnSpc>
                  <a:spcPct val="95000"/>
                </a:lnSpc>
                <a:spcBef>
                  <a:spcPts val="100"/>
                </a:spcBef>
                <a:spcAft>
                  <a:spcPts val="100"/>
                </a:spcAft>
                <a:defRPr/>
              </a:pPr>
              <a:r>
                <a:rPr lang="en-US" sz="700" kern="0">
                  <a:solidFill>
                    <a:srgbClr val="000000"/>
                  </a:solidFill>
                  <a:latin typeface="Calibri" panose="020F0502020204030204" pitchFamily="34" charset="0"/>
                  <a:ea typeface="楷体" panose="02010609060101010101" pitchFamily="49" charset="-122"/>
                  <a:cs typeface="Calibri" panose="020F0502020204030204" pitchFamily="34" charset="0"/>
                </a:rPr>
                <a:t>Mixed Ownership Reform Fund</a:t>
              </a:r>
            </a:p>
          </p:txBody>
        </p:sp>
        <p:pic>
          <p:nvPicPr>
            <p:cNvPr id="9" name="Picture 6" descr="CITIC Annual Report 2020">
              <a:extLst>
                <a:ext uri="{FF2B5EF4-FFF2-40B4-BE49-F238E27FC236}">
                  <a16:creationId xmlns:a16="http://schemas.microsoft.com/office/drawing/2014/main" id="{5A5FA0B7-524F-6F27-8F12-8F443BB8B2A5}"/>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602162" y="4950735"/>
              <a:ext cx="473813" cy="1580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ED4B2D88-69FD-E1DE-96DA-012C43B739B3}"/>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7397318" y="4924121"/>
              <a:ext cx="337691" cy="114596"/>
            </a:xfrm>
            <a:prstGeom prst="rect">
              <a:avLst/>
            </a:prstGeom>
          </p:spPr>
        </p:pic>
        <p:pic>
          <p:nvPicPr>
            <p:cNvPr id="11" name="Picture 10">
              <a:extLst>
                <a:ext uri="{FF2B5EF4-FFF2-40B4-BE49-F238E27FC236}">
                  <a16:creationId xmlns:a16="http://schemas.microsoft.com/office/drawing/2014/main" id="{69E733B4-AA41-3964-9FBA-6AEE94847BF9}"/>
                </a:ext>
              </a:extLst>
            </p:cNvPr>
            <p:cNvPicPr>
              <a:picLocks noChangeAspect="1"/>
            </p:cNvPicPr>
            <p:nvPr/>
          </p:nvPicPr>
          <p:blipFill>
            <a:blip r:embed="rId9">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7373472" y="5110880"/>
              <a:ext cx="403721" cy="127833"/>
            </a:xfrm>
            <a:prstGeom prst="rect">
              <a:avLst/>
            </a:prstGeom>
          </p:spPr>
        </p:pic>
        <p:pic>
          <p:nvPicPr>
            <p:cNvPr id="12" name="Picture 6" descr="China Life Insurance Co.Ltd | LinkedIn">
              <a:extLst>
                <a:ext uri="{FF2B5EF4-FFF2-40B4-BE49-F238E27FC236}">
                  <a16:creationId xmlns:a16="http://schemas.microsoft.com/office/drawing/2014/main" id="{E244D3D2-9641-518C-254C-8D559C9782FB}"/>
                </a:ext>
              </a:extLst>
            </p:cNvPr>
            <p:cNvPicPr>
              <a:picLocks noChangeAspect="1" noChangeArrowheads="1"/>
            </p:cNvPicPr>
            <p:nvPr/>
          </p:nvPicPr>
          <p:blipFill>
            <a:blip r:embed="rId11" cstate="print">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892507" y="4905893"/>
              <a:ext cx="305175" cy="3051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Cohen &amp; Steers (@cohenandsteers) / Twitter">
              <a:extLst>
                <a:ext uri="{FF2B5EF4-FFF2-40B4-BE49-F238E27FC236}">
                  <a16:creationId xmlns:a16="http://schemas.microsoft.com/office/drawing/2014/main" id="{DE540D84-6164-088F-AFA2-53857D1C283F}"/>
                </a:ext>
              </a:extLst>
            </p:cNvPr>
            <p:cNvPicPr>
              <a:picLocks noChangeAspect="1" noChangeArrowheads="1"/>
            </p:cNvPicPr>
            <p:nvPr/>
          </p:nvPicPr>
          <p:blipFill rotWithShape="1">
            <a:blip r:embed="rId13" cstate="print">
              <a:extLst>
                <a:ext uri="{BEBA8EAE-BF5A-486C-A8C5-ECC9F3942E4B}">
                  <a14:imgProps xmlns:a14="http://schemas.microsoft.com/office/drawing/2010/main">
                    <a14:imgLayer r:embed="rId14">
                      <a14:imgEffect>
                        <a14:saturation sat="0"/>
                      </a14:imgEffect>
                    </a14:imgLayer>
                  </a14:imgProps>
                </a:ext>
                <a:ext uri="{28A0092B-C50C-407E-A947-70E740481C1C}">
                  <a14:useLocalDpi xmlns:a14="http://schemas.microsoft.com/office/drawing/2010/main" val="0"/>
                </a:ext>
              </a:extLst>
            </a:blip>
            <a:srcRect t="28603" b="29001"/>
            <a:stretch/>
          </p:blipFill>
          <p:spPr bwMode="auto">
            <a:xfrm>
              <a:off x="8254919" y="4919504"/>
              <a:ext cx="354060" cy="15010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41FB13EE-7A30-8974-D27F-8D3E2C15BC7C}"/>
                </a:ext>
              </a:extLst>
            </p:cNvPr>
            <p:cNvPicPr>
              <a:picLocks noChangeAspect="1"/>
            </p:cNvPicPr>
            <p:nvPr/>
          </p:nvPicPr>
          <p:blipFill>
            <a:blip r:embed="rId15"/>
            <a:stretch>
              <a:fillRect/>
            </a:stretch>
          </p:blipFill>
          <p:spPr>
            <a:xfrm>
              <a:off x="5972170" y="3765299"/>
              <a:ext cx="767793" cy="273869"/>
            </a:xfrm>
            <a:prstGeom prst="rect">
              <a:avLst/>
            </a:prstGeom>
          </p:spPr>
        </p:pic>
        <p:pic>
          <p:nvPicPr>
            <p:cNvPr id="16" name="Picture 15">
              <a:extLst>
                <a:ext uri="{FF2B5EF4-FFF2-40B4-BE49-F238E27FC236}">
                  <a16:creationId xmlns:a16="http://schemas.microsoft.com/office/drawing/2014/main" id="{7A1861FF-273F-6FE2-E76F-8BBBE05657C3}"/>
                </a:ext>
              </a:extLst>
            </p:cNvPr>
            <p:cNvPicPr>
              <a:picLocks noChangeAspect="1"/>
            </p:cNvPicPr>
            <p:nvPr/>
          </p:nvPicPr>
          <p:blipFill>
            <a:blip r:embed="rId16">
              <a:biLevel thresh="50000"/>
            </a:blip>
            <a:stretch>
              <a:fillRect/>
            </a:stretch>
          </p:blipFill>
          <p:spPr>
            <a:xfrm>
              <a:off x="5900501" y="4981715"/>
              <a:ext cx="517769" cy="206571"/>
            </a:xfrm>
            <a:prstGeom prst="rect">
              <a:avLst/>
            </a:prstGeom>
          </p:spPr>
        </p:pic>
        <p:pic>
          <p:nvPicPr>
            <p:cNvPr id="17" name="Picture 16">
              <a:extLst>
                <a:ext uri="{FF2B5EF4-FFF2-40B4-BE49-F238E27FC236}">
                  <a16:creationId xmlns:a16="http://schemas.microsoft.com/office/drawing/2014/main" id="{BC72C4DD-11CF-916C-4001-2F155175C5BE}"/>
                </a:ext>
              </a:extLst>
            </p:cNvPr>
            <p:cNvPicPr>
              <a:picLocks noChangeAspect="1"/>
            </p:cNvPicPr>
            <p:nvPr/>
          </p:nvPicPr>
          <p:blipFill rotWithShape="1">
            <a:blip r:embed="rId17"/>
            <a:srcRect l="26127" t="32312" r="25503" b="31873"/>
            <a:stretch/>
          </p:blipFill>
          <p:spPr>
            <a:xfrm>
              <a:off x="7672519" y="3699881"/>
              <a:ext cx="739195" cy="349254"/>
            </a:xfrm>
            <a:prstGeom prst="rect">
              <a:avLst/>
            </a:prstGeom>
          </p:spPr>
        </p:pic>
        <p:pic>
          <p:nvPicPr>
            <p:cNvPr id="19" name="Picture 18">
              <a:extLst>
                <a:ext uri="{FF2B5EF4-FFF2-40B4-BE49-F238E27FC236}">
                  <a16:creationId xmlns:a16="http://schemas.microsoft.com/office/drawing/2014/main" id="{646ECE3A-B40A-0D66-B7E5-B05675B96626}"/>
                </a:ext>
              </a:extLst>
            </p:cNvPr>
            <p:cNvPicPr>
              <a:picLocks noChangeAspect="1"/>
            </p:cNvPicPr>
            <p:nvPr/>
          </p:nvPicPr>
          <p:blipFill>
            <a:blip r:embed="rId18">
              <a:clrChange>
                <a:clrFrom>
                  <a:srgbClr val="FFFFFF"/>
                </a:clrFrom>
                <a:clrTo>
                  <a:srgbClr val="FFFFFF">
                    <a:alpha val="0"/>
                  </a:srgbClr>
                </a:clrTo>
              </a:clrChange>
            </a:blip>
            <a:stretch>
              <a:fillRect/>
            </a:stretch>
          </p:blipFill>
          <p:spPr>
            <a:xfrm>
              <a:off x="2687189" y="3673917"/>
              <a:ext cx="312210" cy="406980"/>
            </a:xfrm>
            <a:prstGeom prst="rect">
              <a:avLst/>
            </a:prstGeom>
          </p:spPr>
        </p:pic>
        <p:pic>
          <p:nvPicPr>
            <p:cNvPr id="20" name="Picture 19">
              <a:extLst>
                <a:ext uri="{FF2B5EF4-FFF2-40B4-BE49-F238E27FC236}">
                  <a16:creationId xmlns:a16="http://schemas.microsoft.com/office/drawing/2014/main" id="{C35F159E-2942-B022-31F1-EE68D00CF296}"/>
                </a:ext>
              </a:extLst>
            </p:cNvPr>
            <p:cNvPicPr>
              <a:picLocks noChangeAspect="1"/>
            </p:cNvPicPr>
            <p:nvPr/>
          </p:nvPicPr>
          <p:blipFill>
            <a:blip r:embed="rId19">
              <a:clrChange>
                <a:clrFrom>
                  <a:srgbClr val="F7F7F7"/>
                </a:clrFrom>
                <a:clrTo>
                  <a:srgbClr val="F7F7F7">
                    <a:alpha val="0"/>
                  </a:srgbClr>
                </a:clrTo>
              </a:clrChange>
              <a:duotone>
                <a:schemeClr val="accent5">
                  <a:shade val="45000"/>
                  <a:satMod val="135000"/>
                </a:schemeClr>
                <a:prstClr val="white"/>
              </a:duotone>
            </a:blip>
            <a:stretch>
              <a:fillRect/>
            </a:stretch>
          </p:blipFill>
          <p:spPr>
            <a:xfrm>
              <a:off x="2045512" y="4935362"/>
              <a:ext cx="345721" cy="318063"/>
            </a:xfrm>
            <a:prstGeom prst="rect">
              <a:avLst/>
            </a:prstGeom>
          </p:spPr>
        </p:pic>
        <p:pic>
          <p:nvPicPr>
            <p:cNvPr id="21" name="Picture 20">
              <a:extLst>
                <a:ext uri="{FF2B5EF4-FFF2-40B4-BE49-F238E27FC236}">
                  <a16:creationId xmlns:a16="http://schemas.microsoft.com/office/drawing/2014/main" id="{71B5D237-E582-B8C6-4249-A42E4810B763}"/>
                </a:ext>
              </a:extLst>
            </p:cNvPr>
            <p:cNvPicPr>
              <a:picLocks noChangeAspect="1"/>
            </p:cNvPicPr>
            <p:nvPr/>
          </p:nvPicPr>
          <p:blipFill>
            <a:blip r:embed="rId20">
              <a:clrChange>
                <a:clrFrom>
                  <a:srgbClr val="F7F7F7"/>
                </a:clrFrom>
                <a:clrTo>
                  <a:srgbClr val="F7F7F7">
                    <a:alpha val="0"/>
                  </a:srgbClr>
                </a:clrTo>
              </a:clrChange>
              <a:biLevel thresh="75000"/>
            </a:blip>
            <a:stretch>
              <a:fillRect/>
            </a:stretch>
          </p:blipFill>
          <p:spPr>
            <a:xfrm>
              <a:off x="2470911" y="4993144"/>
              <a:ext cx="326418" cy="215264"/>
            </a:xfrm>
            <a:prstGeom prst="rect">
              <a:avLst/>
            </a:prstGeom>
          </p:spPr>
        </p:pic>
        <p:pic>
          <p:nvPicPr>
            <p:cNvPr id="22" name="Picture 21">
              <a:extLst>
                <a:ext uri="{FF2B5EF4-FFF2-40B4-BE49-F238E27FC236}">
                  <a16:creationId xmlns:a16="http://schemas.microsoft.com/office/drawing/2014/main" id="{81AB8BCF-0F2E-EF21-C946-A01E256E51FD}"/>
                </a:ext>
              </a:extLst>
            </p:cNvPr>
            <p:cNvPicPr>
              <a:picLocks noChangeAspect="1"/>
            </p:cNvPicPr>
            <p:nvPr/>
          </p:nvPicPr>
          <p:blipFill>
            <a:blip r:embed="rId21">
              <a:clrChange>
                <a:clrFrom>
                  <a:srgbClr val="F7F7F7"/>
                </a:clrFrom>
                <a:clrTo>
                  <a:srgbClr val="F7F7F7">
                    <a:alpha val="0"/>
                  </a:srgbClr>
                </a:clrTo>
              </a:clrChange>
              <a:biLevel thresh="50000"/>
            </a:blip>
            <a:stretch>
              <a:fillRect/>
            </a:stretch>
          </p:blipFill>
          <p:spPr>
            <a:xfrm>
              <a:off x="2883556" y="5024841"/>
              <a:ext cx="485570" cy="162977"/>
            </a:xfrm>
            <a:prstGeom prst="rect">
              <a:avLst/>
            </a:prstGeom>
          </p:spPr>
        </p:pic>
        <p:pic>
          <p:nvPicPr>
            <p:cNvPr id="32" name="Picture 31">
              <a:extLst>
                <a:ext uri="{FF2B5EF4-FFF2-40B4-BE49-F238E27FC236}">
                  <a16:creationId xmlns:a16="http://schemas.microsoft.com/office/drawing/2014/main" id="{47AB01D1-CDF6-C0C4-BC8F-E3F78AD8D77B}"/>
                </a:ext>
              </a:extLst>
            </p:cNvPr>
            <p:cNvPicPr>
              <a:picLocks noChangeAspect="1"/>
            </p:cNvPicPr>
            <p:nvPr/>
          </p:nvPicPr>
          <p:blipFill>
            <a:blip r:embed="rId22">
              <a:clrChange>
                <a:clrFrom>
                  <a:srgbClr val="F7F7F7"/>
                </a:clrFrom>
                <a:clrTo>
                  <a:srgbClr val="F7F7F7">
                    <a:alpha val="0"/>
                  </a:srgbClr>
                </a:clrTo>
              </a:clrChange>
              <a:biLevel thresh="50000"/>
            </a:blip>
            <a:stretch>
              <a:fillRect/>
            </a:stretch>
          </p:blipFill>
          <p:spPr>
            <a:xfrm>
              <a:off x="4452480" y="5103255"/>
              <a:ext cx="766155" cy="154929"/>
            </a:xfrm>
            <a:prstGeom prst="rect">
              <a:avLst/>
            </a:prstGeom>
          </p:spPr>
        </p:pic>
        <p:pic>
          <p:nvPicPr>
            <p:cNvPr id="33" name="Picture 32">
              <a:extLst>
                <a:ext uri="{FF2B5EF4-FFF2-40B4-BE49-F238E27FC236}">
                  <a16:creationId xmlns:a16="http://schemas.microsoft.com/office/drawing/2014/main" id="{D358A16C-55EA-632A-0FCC-6E77F4AB2639}"/>
                </a:ext>
              </a:extLst>
            </p:cNvPr>
            <p:cNvPicPr>
              <a:picLocks noChangeAspect="1"/>
            </p:cNvPicPr>
            <p:nvPr/>
          </p:nvPicPr>
          <p:blipFill>
            <a:blip r:embed="rId23">
              <a:clrChange>
                <a:clrFrom>
                  <a:srgbClr val="F7F7F7"/>
                </a:clrFrom>
                <a:clrTo>
                  <a:srgbClr val="F7F7F7">
                    <a:alpha val="0"/>
                  </a:srgbClr>
                </a:clrTo>
              </a:clrChange>
              <a:biLevel thresh="75000"/>
            </a:blip>
            <a:stretch>
              <a:fillRect/>
            </a:stretch>
          </p:blipFill>
          <p:spPr>
            <a:xfrm>
              <a:off x="8254919" y="5116048"/>
              <a:ext cx="431068" cy="122818"/>
            </a:xfrm>
            <a:prstGeom prst="rect">
              <a:avLst/>
            </a:prstGeom>
          </p:spPr>
        </p:pic>
      </p:grpSp>
      <p:grpSp>
        <p:nvGrpSpPr>
          <p:cNvPr id="39" name="Group 38">
            <a:extLst>
              <a:ext uri="{FF2B5EF4-FFF2-40B4-BE49-F238E27FC236}">
                <a16:creationId xmlns:a16="http://schemas.microsoft.com/office/drawing/2014/main" id="{F482CC98-FC3A-D1BD-0B23-FE0266C0B073}"/>
              </a:ext>
            </a:extLst>
          </p:cNvPr>
          <p:cNvGrpSpPr/>
          <p:nvPr/>
        </p:nvGrpSpPr>
        <p:grpSpPr>
          <a:xfrm>
            <a:off x="1475409" y="867304"/>
            <a:ext cx="7977588" cy="1665923"/>
            <a:chOff x="1978734" y="873469"/>
            <a:chExt cx="6962620" cy="1594600"/>
          </a:xfrm>
        </p:grpSpPr>
        <p:pic>
          <p:nvPicPr>
            <p:cNvPr id="18" name="Picture 17">
              <a:extLst>
                <a:ext uri="{FF2B5EF4-FFF2-40B4-BE49-F238E27FC236}">
                  <a16:creationId xmlns:a16="http://schemas.microsoft.com/office/drawing/2014/main" id="{35DD86F9-711D-E3F9-9E7E-C1B56D8B8F44}"/>
                </a:ext>
              </a:extLst>
            </p:cNvPr>
            <p:cNvPicPr>
              <a:picLocks noChangeAspect="1"/>
            </p:cNvPicPr>
            <p:nvPr/>
          </p:nvPicPr>
          <p:blipFill>
            <a:blip r:embed="rId24"/>
            <a:stretch>
              <a:fillRect/>
            </a:stretch>
          </p:blipFill>
          <p:spPr>
            <a:xfrm>
              <a:off x="5116152" y="900368"/>
              <a:ext cx="744640" cy="353866"/>
            </a:xfrm>
            <a:prstGeom prst="rect">
              <a:avLst/>
            </a:prstGeom>
          </p:spPr>
        </p:pic>
        <p:pic>
          <p:nvPicPr>
            <p:cNvPr id="23" name="Picture 22">
              <a:extLst>
                <a:ext uri="{FF2B5EF4-FFF2-40B4-BE49-F238E27FC236}">
                  <a16:creationId xmlns:a16="http://schemas.microsoft.com/office/drawing/2014/main" id="{506140E6-983E-1FBE-4177-0A1FDAD66A84}"/>
                </a:ext>
              </a:extLst>
            </p:cNvPr>
            <p:cNvPicPr>
              <a:picLocks noChangeAspect="1"/>
            </p:cNvPicPr>
            <p:nvPr/>
          </p:nvPicPr>
          <p:blipFill>
            <a:blip r:embed="rId25"/>
            <a:srcRect l="4350"/>
            <a:stretch/>
          </p:blipFill>
          <p:spPr>
            <a:xfrm>
              <a:off x="7503303" y="937017"/>
              <a:ext cx="1438051" cy="344587"/>
            </a:xfrm>
            <a:prstGeom prst="rect">
              <a:avLst/>
            </a:prstGeom>
          </p:spPr>
        </p:pic>
        <p:pic>
          <p:nvPicPr>
            <p:cNvPr id="24" name="Picture 23">
              <a:extLst>
                <a:ext uri="{FF2B5EF4-FFF2-40B4-BE49-F238E27FC236}">
                  <a16:creationId xmlns:a16="http://schemas.microsoft.com/office/drawing/2014/main" id="{D6144A71-780B-4688-E162-74DF6BE59A5D}"/>
                </a:ext>
              </a:extLst>
            </p:cNvPr>
            <p:cNvPicPr>
              <a:picLocks noChangeAspect="1"/>
            </p:cNvPicPr>
            <p:nvPr/>
          </p:nvPicPr>
          <p:blipFill>
            <a:blip r:embed="rId26">
              <a:clrChange>
                <a:clrFrom>
                  <a:srgbClr val="F7F7F7"/>
                </a:clrFrom>
                <a:clrTo>
                  <a:srgbClr val="F7F7F7">
                    <a:alpha val="0"/>
                  </a:srgbClr>
                </a:clrTo>
              </a:clrChange>
              <a:duotone>
                <a:prstClr val="black"/>
                <a:schemeClr val="tx2">
                  <a:tint val="45000"/>
                  <a:satMod val="400000"/>
                </a:schemeClr>
              </a:duotone>
            </a:blip>
            <a:stretch>
              <a:fillRect/>
            </a:stretch>
          </p:blipFill>
          <p:spPr>
            <a:xfrm>
              <a:off x="7596729" y="2237924"/>
              <a:ext cx="391001" cy="163369"/>
            </a:xfrm>
            <a:prstGeom prst="rect">
              <a:avLst/>
            </a:prstGeom>
          </p:spPr>
        </p:pic>
        <p:pic>
          <p:nvPicPr>
            <p:cNvPr id="25" name="Picture 24">
              <a:extLst>
                <a:ext uri="{FF2B5EF4-FFF2-40B4-BE49-F238E27FC236}">
                  <a16:creationId xmlns:a16="http://schemas.microsoft.com/office/drawing/2014/main" id="{04602149-4826-5827-FE08-BC18CB70D36D}"/>
                </a:ext>
              </a:extLst>
            </p:cNvPr>
            <p:cNvPicPr>
              <a:picLocks noChangeAspect="1"/>
            </p:cNvPicPr>
            <p:nvPr/>
          </p:nvPicPr>
          <p:blipFill>
            <a:blip r:embed="rId27">
              <a:clrChange>
                <a:clrFrom>
                  <a:srgbClr val="F5F5F5"/>
                </a:clrFrom>
                <a:clrTo>
                  <a:srgbClr val="F5F5F5">
                    <a:alpha val="0"/>
                  </a:srgbClr>
                </a:clrTo>
              </a:clrChange>
              <a:duotone>
                <a:schemeClr val="accent5">
                  <a:shade val="45000"/>
                  <a:satMod val="135000"/>
                </a:schemeClr>
                <a:prstClr val="white"/>
              </a:duotone>
            </a:blip>
            <a:stretch>
              <a:fillRect/>
            </a:stretch>
          </p:blipFill>
          <p:spPr>
            <a:xfrm>
              <a:off x="7993492" y="2237923"/>
              <a:ext cx="494360" cy="158856"/>
            </a:xfrm>
            <a:prstGeom prst="rect">
              <a:avLst/>
            </a:prstGeom>
          </p:spPr>
        </p:pic>
        <p:pic>
          <p:nvPicPr>
            <p:cNvPr id="26" name="Picture 25">
              <a:extLst>
                <a:ext uri="{FF2B5EF4-FFF2-40B4-BE49-F238E27FC236}">
                  <a16:creationId xmlns:a16="http://schemas.microsoft.com/office/drawing/2014/main" id="{559F9D1F-70F1-3329-124D-1B8FC3BFE926}"/>
                </a:ext>
              </a:extLst>
            </p:cNvPr>
            <p:cNvPicPr>
              <a:picLocks noChangeAspect="1"/>
            </p:cNvPicPr>
            <p:nvPr/>
          </p:nvPicPr>
          <p:blipFill>
            <a:blip r:embed="rId28">
              <a:clrChange>
                <a:clrFrom>
                  <a:srgbClr val="F7F7F7"/>
                </a:clrFrom>
                <a:clrTo>
                  <a:srgbClr val="F7F7F7">
                    <a:alpha val="0"/>
                  </a:srgbClr>
                </a:clrTo>
              </a:clrChange>
              <a:biLevel thresh="50000"/>
            </a:blip>
            <a:stretch>
              <a:fillRect/>
            </a:stretch>
          </p:blipFill>
          <p:spPr>
            <a:xfrm>
              <a:off x="8505778" y="2202911"/>
              <a:ext cx="312925" cy="193869"/>
            </a:xfrm>
            <a:prstGeom prst="rect">
              <a:avLst/>
            </a:prstGeom>
          </p:spPr>
        </p:pic>
        <p:pic>
          <p:nvPicPr>
            <p:cNvPr id="27" name="Picture 26">
              <a:extLst>
                <a:ext uri="{FF2B5EF4-FFF2-40B4-BE49-F238E27FC236}">
                  <a16:creationId xmlns:a16="http://schemas.microsoft.com/office/drawing/2014/main" id="{0715616D-2B2F-1E63-5805-8E6C49DC35C1}"/>
                </a:ext>
              </a:extLst>
            </p:cNvPr>
            <p:cNvPicPr>
              <a:picLocks noChangeAspect="1"/>
            </p:cNvPicPr>
            <p:nvPr/>
          </p:nvPicPr>
          <p:blipFill>
            <a:blip r:embed="rId29"/>
            <a:stretch>
              <a:fillRect/>
            </a:stretch>
          </p:blipFill>
          <p:spPr>
            <a:xfrm>
              <a:off x="6362089" y="938019"/>
              <a:ext cx="965588" cy="316215"/>
            </a:xfrm>
            <a:prstGeom prst="rect">
              <a:avLst/>
            </a:prstGeom>
          </p:spPr>
        </p:pic>
        <p:pic>
          <p:nvPicPr>
            <p:cNvPr id="28" name="Picture 27">
              <a:extLst>
                <a:ext uri="{FF2B5EF4-FFF2-40B4-BE49-F238E27FC236}">
                  <a16:creationId xmlns:a16="http://schemas.microsoft.com/office/drawing/2014/main" id="{F031AD9E-29EA-6C2A-9A3F-0823C8817622}"/>
                </a:ext>
              </a:extLst>
            </p:cNvPr>
            <p:cNvPicPr>
              <a:picLocks noChangeAspect="1"/>
            </p:cNvPicPr>
            <p:nvPr/>
          </p:nvPicPr>
          <p:blipFill>
            <a:blip r:embed="rId30">
              <a:clrChange>
                <a:clrFrom>
                  <a:srgbClr val="F7F7F7"/>
                </a:clrFrom>
                <a:clrTo>
                  <a:srgbClr val="F7F7F7">
                    <a:alpha val="0"/>
                  </a:srgbClr>
                </a:clrTo>
              </a:clrChange>
              <a:biLevel thresh="75000"/>
            </a:blip>
            <a:stretch>
              <a:fillRect/>
            </a:stretch>
          </p:blipFill>
          <p:spPr>
            <a:xfrm>
              <a:off x="6276393" y="2163874"/>
              <a:ext cx="514094" cy="132080"/>
            </a:xfrm>
            <a:prstGeom prst="rect">
              <a:avLst/>
            </a:prstGeom>
          </p:spPr>
        </p:pic>
        <p:pic>
          <p:nvPicPr>
            <p:cNvPr id="29" name="Picture 28">
              <a:extLst>
                <a:ext uri="{FF2B5EF4-FFF2-40B4-BE49-F238E27FC236}">
                  <a16:creationId xmlns:a16="http://schemas.microsoft.com/office/drawing/2014/main" id="{47D31232-4F6A-6C95-FF58-7EA558ADD47B}"/>
                </a:ext>
              </a:extLst>
            </p:cNvPr>
            <p:cNvPicPr>
              <a:picLocks noChangeAspect="1"/>
            </p:cNvPicPr>
            <p:nvPr/>
          </p:nvPicPr>
          <p:blipFill>
            <a:blip r:embed="rId31">
              <a:clrChange>
                <a:clrFrom>
                  <a:srgbClr val="F7F7F7"/>
                </a:clrFrom>
                <a:clrTo>
                  <a:srgbClr val="F7F7F7">
                    <a:alpha val="0"/>
                  </a:srgbClr>
                </a:clrTo>
              </a:clrChange>
              <a:biLevel thresh="75000"/>
            </a:blip>
            <a:stretch>
              <a:fillRect/>
            </a:stretch>
          </p:blipFill>
          <p:spPr>
            <a:xfrm>
              <a:off x="6960660" y="2312593"/>
              <a:ext cx="496872" cy="155476"/>
            </a:xfrm>
            <a:prstGeom prst="rect">
              <a:avLst/>
            </a:prstGeom>
          </p:spPr>
        </p:pic>
        <p:pic>
          <p:nvPicPr>
            <p:cNvPr id="30" name="Picture 29">
              <a:extLst>
                <a:ext uri="{FF2B5EF4-FFF2-40B4-BE49-F238E27FC236}">
                  <a16:creationId xmlns:a16="http://schemas.microsoft.com/office/drawing/2014/main" id="{57A12139-519B-D941-428C-9BCF0B161CA8}"/>
                </a:ext>
              </a:extLst>
            </p:cNvPr>
            <p:cNvPicPr>
              <a:picLocks noChangeAspect="1"/>
            </p:cNvPicPr>
            <p:nvPr/>
          </p:nvPicPr>
          <p:blipFill>
            <a:blip r:embed="rId32">
              <a:clrChange>
                <a:clrFrom>
                  <a:srgbClr val="F7F7F7"/>
                </a:clrFrom>
                <a:clrTo>
                  <a:srgbClr val="F7F7F7">
                    <a:alpha val="0"/>
                  </a:srgbClr>
                </a:clrTo>
              </a:clrChange>
            </a:blip>
            <a:stretch>
              <a:fillRect/>
            </a:stretch>
          </p:blipFill>
          <p:spPr>
            <a:xfrm>
              <a:off x="6276394" y="2328088"/>
              <a:ext cx="661083" cy="115624"/>
            </a:xfrm>
            <a:prstGeom prst="rect">
              <a:avLst/>
            </a:prstGeom>
          </p:spPr>
        </p:pic>
        <p:pic>
          <p:nvPicPr>
            <p:cNvPr id="31" name="Picture 30">
              <a:extLst>
                <a:ext uri="{FF2B5EF4-FFF2-40B4-BE49-F238E27FC236}">
                  <a16:creationId xmlns:a16="http://schemas.microsoft.com/office/drawing/2014/main" id="{E660CF9C-D00C-01BC-F98C-2463CB51338D}"/>
                </a:ext>
              </a:extLst>
            </p:cNvPr>
            <p:cNvPicPr>
              <a:picLocks noChangeAspect="1"/>
            </p:cNvPicPr>
            <p:nvPr/>
          </p:nvPicPr>
          <p:blipFill>
            <a:blip r:embed="rId33">
              <a:clrChange>
                <a:clrFrom>
                  <a:srgbClr val="F7F7F7"/>
                </a:clrFrom>
                <a:clrTo>
                  <a:srgbClr val="F7F7F7">
                    <a:alpha val="0"/>
                  </a:srgbClr>
                </a:clrTo>
              </a:clrChange>
              <a:biLevel thresh="75000"/>
            </a:blip>
            <a:stretch>
              <a:fillRect/>
            </a:stretch>
          </p:blipFill>
          <p:spPr>
            <a:xfrm>
              <a:off x="6821464" y="2158402"/>
              <a:ext cx="524134" cy="163462"/>
            </a:xfrm>
            <a:prstGeom prst="rect">
              <a:avLst/>
            </a:prstGeom>
          </p:spPr>
        </p:pic>
        <p:pic>
          <p:nvPicPr>
            <p:cNvPr id="3" name="Picture 2">
              <a:extLst>
                <a:ext uri="{FF2B5EF4-FFF2-40B4-BE49-F238E27FC236}">
                  <a16:creationId xmlns:a16="http://schemas.microsoft.com/office/drawing/2014/main" id="{123A3B87-6E9F-B6CA-11A4-69F91798087F}"/>
                </a:ext>
              </a:extLst>
            </p:cNvPr>
            <p:cNvPicPr>
              <a:picLocks noChangeAspect="1"/>
            </p:cNvPicPr>
            <p:nvPr/>
          </p:nvPicPr>
          <p:blipFill>
            <a:blip r:embed="rId34">
              <a:clrChange>
                <a:clrFrom>
                  <a:srgbClr val="FFFFFF"/>
                </a:clrFrom>
                <a:clrTo>
                  <a:srgbClr val="FFFFFF">
                    <a:alpha val="0"/>
                  </a:srgbClr>
                </a:clrTo>
              </a:clrChange>
            </a:blip>
            <a:stretch>
              <a:fillRect/>
            </a:stretch>
          </p:blipFill>
          <p:spPr>
            <a:xfrm>
              <a:off x="3897375" y="873469"/>
              <a:ext cx="374532" cy="403907"/>
            </a:xfrm>
            <a:prstGeom prst="rect">
              <a:avLst/>
            </a:prstGeom>
          </p:spPr>
        </p:pic>
        <p:pic>
          <p:nvPicPr>
            <p:cNvPr id="34" name="Picture 33">
              <a:extLst>
                <a:ext uri="{FF2B5EF4-FFF2-40B4-BE49-F238E27FC236}">
                  <a16:creationId xmlns:a16="http://schemas.microsoft.com/office/drawing/2014/main" id="{3C900577-A838-D2E5-9EAE-18CE09F1A20F}"/>
                </a:ext>
              </a:extLst>
            </p:cNvPr>
            <p:cNvPicPr>
              <a:picLocks noChangeAspect="1"/>
            </p:cNvPicPr>
            <p:nvPr/>
          </p:nvPicPr>
          <p:blipFill>
            <a:blip r:embed="rId35"/>
            <a:stretch>
              <a:fillRect/>
            </a:stretch>
          </p:blipFill>
          <p:spPr>
            <a:xfrm>
              <a:off x="3855809" y="2152651"/>
              <a:ext cx="311517" cy="308079"/>
            </a:xfrm>
            <a:prstGeom prst="rect">
              <a:avLst/>
            </a:prstGeom>
          </p:spPr>
        </p:pic>
        <p:pic>
          <p:nvPicPr>
            <p:cNvPr id="4" name="Picture 2" descr="Taikang Insurance Group Company 2025 Profile: Valuation, Funding &amp;  Investors | PitchBook">
              <a:extLst>
                <a:ext uri="{FF2B5EF4-FFF2-40B4-BE49-F238E27FC236}">
                  <a16:creationId xmlns:a16="http://schemas.microsoft.com/office/drawing/2014/main" id="{9D505AB7-60C8-34FD-6D08-D58CFE96BAA9}"/>
                </a:ext>
              </a:extLst>
            </p:cNvPr>
            <p:cNvPicPr>
              <a:picLocks noChangeAspect="1" noChangeArrowheads="1"/>
            </p:cNvPicPr>
            <p:nvPr/>
          </p:nvPicPr>
          <p:blipFill rotWithShape="1">
            <a:blip r:embed="rId36" cstate="print">
              <a:extLst>
                <a:ext uri="{28A0092B-C50C-407E-A947-70E740481C1C}">
                  <a14:useLocalDpi xmlns:a14="http://schemas.microsoft.com/office/drawing/2010/main" val="0"/>
                </a:ext>
              </a:extLst>
            </a:blip>
            <a:srcRect t="28040" b="24451"/>
            <a:stretch>
              <a:fillRect/>
            </a:stretch>
          </p:blipFill>
          <p:spPr bwMode="auto">
            <a:xfrm>
              <a:off x="2045512" y="2183092"/>
              <a:ext cx="487583" cy="2316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Barings — fundsnet">
              <a:extLst>
                <a:ext uri="{FF2B5EF4-FFF2-40B4-BE49-F238E27FC236}">
                  <a16:creationId xmlns:a16="http://schemas.microsoft.com/office/drawing/2014/main" id="{EA1219D0-6425-ACEB-81BC-AE26228BDB54}"/>
                </a:ext>
              </a:extLst>
            </p:cNvPr>
            <p:cNvPicPr>
              <a:picLocks noChangeAspect="1" noChangeArrowheads="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2651569" y="2239358"/>
              <a:ext cx="474773" cy="12602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剑桥科技赴港IPO：前五大供应商数据“打架” 前次募投项目“非变即延”耗时五年仍未完工_手机新浪网">
              <a:extLst>
                <a:ext uri="{FF2B5EF4-FFF2-40B4-BE49-F238E27FC236}">
                  <a16:creationId xmlns:a16="http://schemas.microsoft.com/office/drawing/2014/main" id="{1C883B15-C9E1-33F9-4CDE-10E65E7C638D}"/>
                </a:ext>
              </a:extLst>
            </p:cNvPr>
            <p:cNvPicPr>
              <a:picLocks noChangeAspect="1" noChangeArrowheads="1"/>
            </p:cNvPicPr>
            <p:nvPr/>
          </p:nvPicPr>
          <p:blipFill rotWithShape="1">
            <a:blip r:embed="rId38" cstate="print">
              <a:extLst>
                <a:ext uri="{28A0092B-C50C-407E-A947-70E740481C1C}">
                  <a14:useLocalDpi xmlns:a14="http://schemas.microsoft.com/office/drawing/2010/main" val="0"/>
                </a:ext>
              </a:extLst>
            </a:blip>
            <a:srcRect t="31612" b="44017"/>
            <a:stretch>
              <a:fillRect/>
            </a:stretch>
          </p:blipFill>
          <p:spPr bwMode="auto">
            <a:xfrm>
              <a:off x="1978734" y="990852"/>
              <a:ext cx="1442694" cy="263382"/>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Slide Number Placeholder 3">
            <a:extLst>
              <a:ext uri="{FF2B5EF4-FFF2-40B4-BE49-F238E27FC236}">
                <a16:creationId xmlns:a16="http://schemas.microsoft.com/office/drawing/2014/main" id="{4C03722D-95F6-E785-F601-DE185CDB771E}"/>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33</a:t>
            </a:fld>
            <a:r>
              <a:rPr lang="en-US"/>
              <a:t> </a:t>
            </a:r>
          </a:p>
        </p:txBody>
      </p:sp>
      <p:sp>
        <p:nvSpPr>
          <p:cNvPr id="36" name="TextBox 35">
            <a:extLst>
              <a:ext uri="{FF2B5EF4-FFF2-40B4-BE49-F238E27FC236}">
                <a16:creationId xmlns:a16="http://schemas.microsoft.com/office/drawing/2014/main" id="{9E2CAFE7-5BB9-252E-554C-9460E7D25F0B}"/>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dirty="0">
                <a:solidFill>
                  <a:schemeClr val="tx1"/>
                </a:solidFill>
              </a:rPr>
              <a:t>HK team updated</a:t>
            </a:r>
            <a:endParaRPr lang="en-GB" sz="1400" dirty="0">
              <a:solidFill>
                <a:schemeClr val="tx1"/>
              </a:solidFill>
            </a:endParaRPr>
          </a:p>
        </p:txBody>
      </p:sp>
    </p:spTree>
    <p:extLst>
      <p:ext uri="{BB962C8B-B14F-4D97-AF65-F5344CB8AC3E}">
        <p14:creationId xmlns:p14="http://schemas.microsoft.com/office/powerpoint/2010/main" val="16732451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25283-6D86-CFFB-62A5-251EE048BFD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8E845D-B7C6-5C5C-DC16-210CF6095991}"/>
              </a:ext>
            </a:extLst>
          </p:cNvPr>
          <p:cNvSpPr>
            <a:spLocks noGrp="1"/>
          </p:cNvSpPr>
          <p:nvPr>
            <p:ph type="title"/>
          </p:nvPr>
        </p:nvSpPr>
        <p:spPr/>
        <p:txBody>
          <a:bodyPr/>
          <a:lstStyle/>
          <a:p>
            <a:r>
              <a:rPr lang="en-US"/>
              <a:t>DBS is instrumental in driving demand momentum</a:t>
            </a:r>
          </a:p>
        </p:txBody>
      </p:sp>
      <p:sp>
        <p:nvSpPr>
          <p:cNvPr id="4" name="Slide Number Placeholder 3">
            <a:extLst>
              <a:ext uri="{FF2B5EF4-FFF2-40B4-BE49-F238E27FC236}">
                <a16:creationId xmlns:a16="http://schemas.microsoft.com/office/drawing/2014/main" id="{6BA73A0C-1912-3A73-D607-0BB58E90245D}"/>
              </a:ext>
            </a:extLst>
          </p:cNvPr>
          <p:cNvSpPr>
            <a:spLocks noGrp="1"/>
          </p:cNvSpPr>
          <p:nvPr>
            <p:ph type="sldNum" sz="quarter" idx="11"/>
          </p:nvPr>
        </p:nvSpPr>
        <p:spPr/>
        <p:txBody>
          <a:bodyPr/>
          <a:lstStyle/>
          <a:p>
            <a:pPr>
              <a:defRPr/>
            </a:pPr>
            <a:fld id="{EED7964B-8F50-47E5-B5EE-37748C966AF4}" type="slidenum">
              <a:rPr lang="en-US" smtClean="0"/>
              <a:pPr>
                <a:defRPr/>
              </a:pPr>
              <a:t>34</a:t>
            </a:fld>
            <a:endParaRPr lang="en-US"/>
          </a:p>
        </p:txBody>
      </p:sp>
      <p:sp>
        <p:nvSpPr>
          <p:cNvPr id="6" name="Text Placeholder 5">
            <a:extLst>
              <a:ext uri="{FF2B5EF4-FFF2-40B4-BE49-F238E27FC236}">
                <a16:creationId xmlns:a16="http://schemas.microsoft.com/office/drawing/2014/main" id="{F300663F-CEE0-9AB3-593C-487CF1A56111}"/>
              </a:ext>
            </a:extLst>
          </p:cNvPr>
          <p:cNvSpPr>
            <a:spLocks noGrp="1"/>
          </p:cNvSpPr>
          <p:nvPr>
            <p:ph type="body" sz="quarter" idx="46"/>
          </p:nvPr>
        </p:nvSpPr>
        <p:spPr/>
        <p:txBody>
          <a:bodyPr/>
          <a:lstStyle/>
          <a:p>
            <a:r>
              <a:rPr lang="en-US" sz="800"/>
              <a:t>2 cornerstone investors were pre-IPO investors and not considered to be procured by JGCs</a:t>
            </a:r>
          </a:p>
        </p:txBody>
      </p:sp>
      <p:pic>
        <p:nvPicPr>
          <p:cNvPr id="3" name="Picture 2" descr="Aztech Stock Info (SGX:8AZ) | SG investors.io">
            <a:extLst>
              <a:ext uri="{FF2B5EF4-FFF2-40B4-BE49-F238E27FC236}">
                <a16:creationId xmlns:a16="http://schemas.microsoft.com/office/drawing/2014/main" id="{1A40BA8A-9D83-10A7-8514-45E31AE07F59}"/>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t="36858" r="1801" b="32502"/>
          <a:stretch/>
        </p:blipFill>
        <p:spPr bwMode="auto">
          <a:xfrm>
            <a:off x="483383" y="5436549"/>
            <a:ext cx="551814" cy="184266"/>
          </a:xfrm>
          <a:prstGeom prst="rect">
            <a:avLst/>
          </a:prstGeom>
          <a:extLst>
            <a:ext uri="{909E8E84-426E-40DD-AFC4-6F175D3DCCD1}">
              <a14:hiddenFill xmlns:a14="http://schemas.microsoft.com/office/drawing/2010/main">
                <a:solidFill>
                  <a:srgbClr val="FFFFFF"/>
                </a:solidFill>
              </a14:hiddenFill>
            </a:ext>
          </a:extLst>
        </p:spPr>
      </p:pic>
      <p:graphicFrame>
        <p:nvGraphicFramePr>
          <p:cNvPr id="7" name="Chart 6">
            <a:extLst>
              <a:ext uri="{FF2B5EF4-FFF2-40B4-BE49-F238E27FC236}">
                <a16:creationId xmlns:a16="http://schemas.microsoft.com/office/drawing/2014/main" id="{33940177-0226-F15A-F2A3-985D584BCAC8}"/>
              </a:ext>
            </a:extLst>
          </p:cNvPr>
          <p:cNvGraphicFramePr/>
          <p:nvPr/>
        </p:nvGraphicFramePr>
        <p:xfrm>
          <a:off x="5009038" y="5169747"/>
          <a:ext cx="2047048" cy="126772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8" name="Chart 7">
            <a:extLst>
              <a:ext uri="{FF2B5EF4-FFF2-40B4-BE49-F238E27FC236}">
                <a16:creationId xmlns:a16="http://schemas.microsoft.com/office/drawing/2014/main" id="{3433609F-9144-F5FC-7C92-E8852BA87A1D}"/>
              </a:ext>
            </a:extLst>
          </p:cNvPr>
          <p:cNvGraphicFramePr/>
          <p:nvPr/>
        </p:nvGraphicFramePr>
        <p:xfrm>
          <a:off x="7320825" y="5187264"/>
          <a:ext cx="2047048" cy="120327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9" name="Table 8">
            <a:extLst>
              <a:ext uri="{FF2B5EF4-FFF2-40B4-BE49-F238E27FC236}">
                <a16:creationId xmlns:a16="http://schemas.microsoft.com/office/drawing/2014/main" id="{DCA812E2-3388-510C-7B23-D9A1F3F14882}"/>
              </a:ext>
            </a:extLst>
          </p:cNvPr>
          <p:cNvGraphicFramePr>
            <a:graphicFrameLocks noGrp="1"/>
          </p:cNvGraphicFramePr>
          <p:nvPr/>
        </p:nvGraphicFramePr>
        <p:xfrm>
          <a:off x="452999" y="5656776"/>
          <a:ext cx="1855139" cy="576000"/>
        </p:xfrm>
        <a:graphic>
          <a:graphicData uri="http://schemas.openxmlformats.org/drawingml/2006/table">
            <a:tbl>
              <a:tblPr firstRow="1" bandRow="1"/>
              <a:tblGrid>
                <a:gridCol w="606558">
                  <a:extLst>
                    <a:ext uri="{9D8B030D-6E8A-4147-A177-3AD203B41FA5}">
                      <a16:colId xmlns:a16="http://schemas.microsoft.com/office/drawing/2014/main" val="769234682"/>
                    </a:ext>
                  </a:extLst>
                </a:gridCol>
                <a:gridCol w="31233">
                  <a:extLst>
                    <a:ext uri="{9D8B030D-6E8A-4147-A177-3AD203B41FA5}">
                      <a16:colId xmlns:a16="http://schemas.microsoft.com/office/drawing/2014/main" val="3594781737"/>
                    </a:ext>
                  </a:extLst>
                </a:gridCol>
                <a:gridCol w="1217348">
                  <a:extLst>
                    <a:ext uri="{9D8B030D-6E8A-4147-A177-3AD203B41FA5}">
                      <a16:colId xmlns:a16="http://schemas.microsoft.com/office/drawing/2014/main" val="3200364116"/>
                    </a:ext>
                  </a:extLst>
                </a:gridCol>
              </a:tblGrid>
              <a:tr h="144000">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IPO year</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2021</a:t>
                      </a:r>
                      <a:endParaRPr lang="en-US" sz="800">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8190405"/>
                  </a:ext>
                </a:extLst>
              </a:tr>
              <a:tr h="144000">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Market cap</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S$990m</a:t>
                      </a:r>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710141"/>
                  </a:ext>
                </a:extLst>
              </a:tr>
              <a:tr h="144000">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Offer size</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S$297m</a:t>
                      </a:r>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8822752"/>
                  </a:ext>
                </a:extLst>
              </a:tr>
              <a:tr h="144000">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US" sz="800">
                          <a:solidFill>
                            <a:schemeClr val="tx1"/>
                          </a:solidFill>
                          <a:latin typeface="+mj-lt"/>
                          <a:cs typeface="Calibri" panose="020F0502020204030204" pitchFamily="34" charset="0"/>
                        </a:rPr>
                        <a:t>DBS role</a:t>
                      </a: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US" sz="800">
                          <a:latin typeface="+mj-lt"/>
                          <a:cs typeface="Calibri" panose="020F0502020204030204" pitchFamily="34" charset="0"/>
                        </a:rPr>
                        <a:t>JGC &amp; JBR</a:t>
                      </a:r>
                    </a:p>
                  </a:txBody>
                  <a:tcPr marL="0" marR="0" marT="0" marB="0" anchor="ctr">
                    <a:lnL w="12700" cmpd="sng">
                      <a:noFill/>
                    </a:lnL>
                    <a:lnR w="12700" cmpd="sng">
                      <a:noFill/>
                    </a:lnR>
                    <a:lnT w="12700" cmpd="sng">
                      <a:noFill/>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2187890"/>
                  </a:ext>
                </a:extLst>
              </a:tr>
            </a:tbl>
          </a:graphicData>
        </a:graphic>
      </p:graphicFrame>
      <p:graphicFrame>
        <p:nvGraphicFramePr>
          <p:cNvPr id="10" name="Chart 9">
            <a:extLst>
              <a:ext uri="{FF2B5EF4-FFF2-40B4-BE49-F238E27FC236}">
                <a16:creationId xmlns:a16="http://schemas.microsoft.com/office/drawing/2014/main" id="{9444D543-E279-3DFE-3026-69190B0A619F}"/>
              </a:ext>
            </a:extLst>
          </p:cNvPr>
          <p:cNvGraphicFramePr/>
          <p:nvPr/>
        </p:nvGraphicFramePr>
        <p:xfrm>
          <a:off x="5002284" y="3936503"/>
          <a:ext cx="2047048" cy="126772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1" name="Chart 10">
            <a:extLst>
              <a:ext uri="{FF2B5EF4-FFF2-40B4-BE49-F238E27FC236}">
                <a16:creationId xmlns:a16="http://schemas.microsoft.com/office/drawing/2014/main" id="{7F3EC5FA-C252-2D7D-381D-93B8F9856928}"/>
              </a:ext>
            </a:extLst>
          </p:cNvPr>
          <p:cNvGraphicFramePr/>
          <p:nvPr/>
        </p:nvGraphicFramePr>
        <p:xfrm>
          <a:off x="7249738" y="3968729"/>
          <a:ext cx="2047048" cy="1203275"/>
        </p:xfrm>
        <a:graphic>
          <a:graphicData uri="http://schemas.openxmlformats.org/drawingml/2006/chart">
            <c:chart xmlns:c="http://schemas.openxmlformats.org/drawingml/2006/chart" xmlns:r="http://schemas.openxmlformats.org/officeDocument/2006/relationships" r:id="rId9"/>
          </a:graphicData>
        </a:graphic>
      </p:graphicFrame>
      <p:pic>
        <p:nvPicPr>
          <p:cNvPr id="12" name="Picture 11">
            <a:extLst>
              <a:ext uri="{FF2B5EF4-FFF2-40B4-BE49-F238E27FC236}">
                <a16:creationId xmlns:a16="http://schemas.microsoft.com/office/drawing/2014/main" id="{0C9CFB08-448E-EF73-7D5D-4F39ABD86DE4}"/>
              </a:ext>
            </a:extLst>
          </p:cNvPr>
          <p:cNvPicPr>
            <a:picLocks noChangeAspect="1"/>
          </p:cNvPicPr>
          <p:nvPr/>
        </p:nvPicPr>
        <p:blipFill rotWithShape="1">
          <a:blip r:embed="rId10"/>
          <a:srcRect t="30888" b="33673"/>
          <a:stretch/>
        </p:blipFill>
        <p:spPr>
          <a:xfrm>
            <a:off x="494373" y="4182960"/>
            <a:ext cx="540824" cy="191662"/>
          </a:xfrm>
          <a:prstGeom prst="rect">
            <a:avLst/>
          </a:prstGeom>
        </p:spPr>
      </p:pic>
      <p:graphicFrame>
        <p:nvGraphicFramePr>
          <p:cNvPr id="13" name="Table 12">
            <a:extLst>
              <a:ext uri="{FF2B5EF4-FFF2-40B4-BE49-F238E27FC236}">
                <a16:creationId xmlns:a16="http://schemas.microsoft.com/office/drawing/2014/main" id="{571D30F1-CABF-B9D7-F7E7-EA81B9964541}"/>
              </a:ext>
            </a:extLst>
          </p:cNvPr>
          <p:cNvGraphicFramePr>
            <a:graphicFrameLocks noGrp="1"/>
          </p:cNvGraphicFramePr>
          <p:nvPr>
            <p:custDataLst>
              <p:tags r:id="rId1"/>
            </p:custDataLst>
          </p:nvPr>
        </p:nvGraphicFramePr>
        <p:xfrm>
          <a:off x="452999" y="4480920"/>
          <a:ext cx="1876515" cy="575999"/>
        </p:xfrm>
        <a:graphic>
          <a:graphicData uri="http://schemas.openxmlformats.org/drawingml/2006/table">
            <a:tbl>
              <a:tblPr firstRow="1" bandRow="1"/>
              <a:tblGrid>
                <a:gridCol w="613547">
                  <a:extLst>
                    <a:ext uri="{9D8B030D-6E8A-4147-A177-3AD203B41FA5}">
                      <a16:colId xmlns:a16="http://schemas.microsoft.com/office/drawing/2014/main" val="769234682"/>
                    </a:ext>
                  </a:extLst>
                </a:gridCol>
                <a:gridCol w="31593">
                  <a:extLst>
                    <a:ext uri="{9D8B030D-6E8A-4147-A177-3AD203B41FA5}">
                      <a16:colId xmlns:a16="http://schemas.microsoft.com/office/drawing/2014/main" val="3594781737"/>
                    </a:ext>
                  </a:extLst>
                </a:gridCol>
                <a:gridCol w="1231375">
                  <a:extLst>
                    <a:ext uri="{9D8B030D-6E8A-4147-A177-3AD203B41FA5}">
                      <a16:colId xmlns:a16="http://schemas.microsoft.com/office/drawing/2014/main" val="3200364116"/>
                    </a:ext>
                  </a:extLst>
                </a:gridCol>
              </a:tblGrid>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IPO year</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2021</a:t>
                      </a:r>
                      <a:endParaRPr lang="en-US" sz="800">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8190405"/>
                  </a:ext>
                </a:extLst>
              </a:tr>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Market cap</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S$208m</a:t>
                      </a:r>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710141"/>
                  </a:ext>
                </a:extLst>
              </a:tr>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Offer size</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S$208m</a:t>
                      </a:r>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8822752"/>
                  </a:ext>
                </a:extLst>
              </a:tr>
              <a:tr h="207818">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US" sz="800">
                          <a:solidFill>
                            <a:schemeClr val="tx1"/>
                          </a:solidFill>
                          <a:latin typeface="+mj-lt"/>
                          <a:cs typeface="Calibri" panose="020F0502020204030204" pitchFamily="34" charset="0"/>
                        </a:rPr>
                        <a:t>DBS role</a:t>
                      </a: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US" sz="800">
                          <a:latin typeface="+mj-lt"/>
                          <a:cs typeface="Calibri" panose="020F0502020204030204" pitchFamily="34" charset="0"/>
                        </a:rPr>
                        <a:t>JIM, JGC &amp; JBR</a:t>
                      </a:r>
                    </a:p>
                  </a:txBody>
                  <a:tcPr marL="0" marR="0" marT="0" marB="0" anchor="ctr">
                    <a:lnL w="12700" cmpd="sng">
                      <a:noFill/>
                    </a:lnL>
                    <a:lnR w="12700" cmpd="sng">
                      <a:noFill/>
                    </a:lnR>
                    <a:lnT w="12700" cmpd="sng">
                      <a:noFill/>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2187890"/>
                  </a:ext>
                </a:extLst>
              </a:tr>
            </a:tbl>
          </a:graphicData>
        </a:graphic>
      </p:graphicFrame>
      <p:sp>
        <p:nvSpPr>
          <p:cNvPr id="14" name="TextBox 13">
            <a:extLst>
              <a:ext uri="{FF2B5EF4-FFF2-40B4-BE49-F238E27FC236}">
                <a16:creationId xmlns:a16="http://schemas.microsoft.com/office/drawing/2014/main" id="{A471DDAD-9E5D-A86E-C49F-DA343619B9FE}"/>
              </a:ext>
            </a:extLst>
          </p:cNvPr>
          <p:cNvSpPr txBox="1"/>
          <p:nvPr/>
        </p:nvSpPr>
        <p:spPr>
          <a:xfrm>
            <a:off x="445379" y="1352707"/>
            <a:ext cx="4464000" cy="250697"/>
          </a:xfrm>
          <a:prstGeom prst="roundRect">
            <a:avLst/>
          </a:prstGeom>
          <a:solidFill>
            <a:schemeClr val="bg1">
              <a:lumMod val="85000"/>
            </a:schemeClr>
          </a:solidFill>
        </p:spPr>
        <p:txBody>
          <a:bodyPr wrap="square" lIns="36000" tIns="36000" rIns="36000" bIns="3600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SG" sz="1000" b="0" i="0" u="none" strike="noStrike" kern="0" cap="none" spc="0" normalizeH="0" baseline="0" noProof="0">
                <a:ln>
                  <a:noFill/>
                </a:ln>
                <a:solidFill>
                  <a:schemeClr val="tx1"/>
                </a:solidFill>
                <a:effectLst/>
                <a:uLnTx/>
                <a:uFillTx/>
                <a:latin typeface="Arial" panose="020B0604020202020204"/>
                <a:cs typeface="+mn-cs"/>
              </a:rPr>
              <a:t>Cornerstone / Anchor</a:t>
            </a:r>
          </a:p>
        </p:txBody>
      </p:sp>
      <p:sp>
        <p:nvSpPr>
          <p:cNvPr id="15" name="TextBox 14">
            <a:extLst>
              <a:ext uri="{FF2B5EF4-FFF2-40B4-BE49-F238E27FC236}">
                <a16:creationId xmlns:a16="http://schemas.microsoft.com/office/drawing/2014/main" id="{785C1F67-AF2E-9558-1DE0-ABE88A3F09CD}"/>
              </a:ext>
            </a:extLst>
          </p:cNvPr>
          <p:cNvSpPr txBox="1"/>
          <p:nvPr/>
        </p:nvSpPr>
        <p:spPr>
          <a:xfrm>
            <a:off x="4985190" y="1352707"/>
            <a:ext cx="2196000" cy="250697"/>
          </a:xfrm>
          <a:prstGeom prst="roundRect">
            <a:avLst/>
          </a:prstGeom>
          <a:solidFill>
            <a:schemeClr val="bg1">
              <a:lumMod val="85000"/>
            </a:schemeClr>
          </a:solidFill>
        </p:spPr>
        <p:txBody>
          <a:bodyPr wrap="square" lIns="36000" tIns="36000" rIns="36000" bIns="3600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SG" sz="1000" b="0" i="0" u="none" strike="noStrike" kern="0" cap="none" spc="0" normalizeH="0" baseline="0" noProof="0">
                <a:ln>
                  <a:noFill/>
                </a:ln>
                <a:solidFill>
                  <a:schemeClr val="tx1"/>
                </a:solidFill>
                <a:effectLst/>
                <a:uLnTx/>
                <a:uFillTx/>
                <a:latin typeface="Arial" panose="020B0604020202020204"/>
                <a:cs typeface="+mn-cs"/>
              </a:rPr>
              <a:t>Placement</a:t>
            </a:r>
          </a:p>
        </p:txBody>
      </p:sp>
      <p:sp>
        <p:nvSpPr>
          <p:cNvPr id="16" name="TextBox 15">
            <a:extLst>
              <a:ext uri="{FF2B5EF4-FFF2-40B4-BE49-F238E27FC236}">
                <a16:creationId xmlns:a16="http://schemas.microsoft.com/office/drawing/2014/main" id="{75763C9A-A226-51C1-3AD7-BBB22366AB77}"/>
              </a:ext>
            </a:extLst>
          </p:cNvPr>
          <p:cNvSpPr txBox="1"/>
          <p:nvPr/>
        </p:nvSpPr>
        <p:spPr>
          <a:xfrm>
            <a:off x="7257000" y="1352707"/>
            <a:ext cx="2196000" cy="250697"/>
          </a:xfrm>
          <a:prstGeom prst="roundRect">
            <a:avLst/>
          </a:prstGeom>
          <a:solidFill>
            <a:schemeClr val="bg1">
              <a:lumMod val="85000"/>
            </a:schemeClr>
          </a:solidFill>
        </p:spPr>
        <p:txBody>
          <a:bodyPr wrap="square" lIns="36000" tIns="36000" rIns="36000" bIns="3600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SG" sz="1000" b="0" i="0" u="none" strike="noStrike" kern="0" cap="none" spc="0" normalizeH="0" baseline="0" noProof="0">
                <a:ln>
                  <a:noFill/>
                </a:ln>
                <a:solidFill>
                  <a:schemeClr val="tx1"/>
                </a:solidFill>
                <a:effectLst/>
                <a:uLnTx/>
                <a:uFillTx/>
                <a:latin typeface="Arial" panose="020B0604020202020204"/>
                <a:cs typeface="+mn-cs"/>
              </a:rPr>
              <a:t>High Net Worth</a:t>
            </a:r>
          </a:p>
        </p:txBody>
      </p:sp>
      <p:sp>
        <p:nvSpPr>
          <p:cNvPr id="17" name="TextBox 16">
            <a:extLst>
              <a:ext uri="{FF2B5EF4-FFF2-40B4-BE49-F238E27FC236}">
                <a16:creationId xmlns:a16="http://schemas.microsoft.com/office/drawing/2014/main" id="{E479EA27-67FC-0794-1258-F203A5FB057A}"/>
              </a:ext>
            </a:extLst>
          </p:cNvPr>
          <p:cNvSpPr txBox="1"/>
          <p:nvPr/>
        </p:nvSpPr>
        <p:spPr>
          <a:xfrm>
            <a:off x="2427240" y="4303182"/>
            <a:ext cx="2243820" cy="534368"/>
          </a:xfrm>
          <a:prstGeom prst="rect">
            <a:avLst/>
          </a:prstGeom>
          <a:noFill/>
        </p:spPr>
        <p:txBody>
          <a:bodyPr wrap="square" lIns="36000" tIns="36000" rIns="36000" bIns="36000" rtlCol="0">
            <a:spAutoFit/>
          </a:bodyPr>
          <a:lstStyle/>
          <a:p>
            <a:pPr marL="171450" indent="-171450" defTabSz="742950" fontAlgn="ctr">
              <a:spcBef>
                <a:spcPts val="0"/>
              </a:spcBef>
              <a:spcAft>
                <a:spcPts val="400"/>
              </a:spcAft>
              <a:buFont typeface="Arial" panose="020B0604020202020204" pitchFamily="34" charset="0"/>
              <a:buChar char="•"/>
              <a:defRPr/>
            </a:pPr>
            <a:r>
              <a:rPr lang="en-SG" sz="1000" b="0">
                <a:solidFill>
                  <a:srgbClr val="000000"/>
                </a:solidFill>
                <a:latin typeface="Arial" panose="020B0604020202020204"/>
                <a:ea typeface="KaiTi"/>
                <a:cs typeface="+mn-cs"/>
              </a:rPr>
              <a:t>DBS brought in </a:t>
            </a:r>
            <a:r>
              <a:rPr lang="en-SG" sz="1000">
                <a:solidFill>
                  <a:srgbClr val="000000"/>
                </a:solidFill>
                <a:latin typeface="Arial" panose="020B0604020202020204"/>
                <a:ea typeface="KaiTi"/>
                <a:cs typeface="+mn-cs"/>
              </a:rPr>
              <a:t>7 of the 13 </a:t>
            </a:r>
            <a:r>
              <a:rPr lang="en-SG" sz="1000" b="0">
                <a:solidFill>
                  <a:srgbClr val="000000"/>
                </a:solidFill>
                <a:latin typeface="Arial" panose="020B0604020202020204"/>
                <a:ea typeface="KaiTi"/>
                <a:cs typeface="+mn-cs"/>
              </a:rPr>
              <a:t>cornerstones and a majority of the demand, amongst 3 banks</a:t>
            </a:r>
          </a:p>
        </p:txBody>
      </p:sp>
      <p:sp>
        <p:nvSpPr>
          <p:cNvPr id="18" name="TextBox 17">
            <a:extLst>
              <a:ext uri="{FF2B5EF4-FFF2-40B4-BE49-F238E27FC236}">
                <a16:creationId xmlns:a16="http://schemas.microsoft.com/office/drawing/2014/main" id="{ABF2F4FD-A3AF-FF32-E93F-9AB89545E44F}"/>
              </a:ext>
            </a:extLst>
          </p:cNvPr>
          <p:cNvSpPr txBox="1"/>
          <p:nvPr/>
        </p:nvSpPr>
        <p:spPr>
          <a:xfrm>
            <a:off x="2526084" y="5521717"/>
            <a:ext cx="2243820" cy="534368"/>
          </a:xfrm>
          <a:prstGeom prst="rect">
            <a:avLst/>
          </a:prstGeom>
          <a:noFill/>
        </p:spPr>
        <p:txBody>
          <a:bodyPr wrap="square" lIns="36000" tIns="36000" rIns="36000" bIns="36000" rtlCol="0">
            <a:spAutoFit/>
          </a:bodyPr>
          <a:lstStyle/>
          <a:p>
            <a:pPr marL="171450" indent="-171450" defTabSz="742950" fontAlgn="ctr">
              <a:spcBef>
                <a:spcPts val="0"/>
              </a:spcBef>
              <a:spcAft>
                <a:spcPts val="400"/>
              </a:spcAft>
              <a:buFont typeface="Arial" panose="020B0604020202020204" pitchFamily="34" charset="0"/>
              <a:buChar char="•"/>
              <a:defRPr/>
            </a:pPr>
            <a:r>
              <a:rPr lang="en-SG" sz="1000" b="0">
                <a:solidFill>
                  <a:srgbClr val="000000"/>
                </a:solidFill>
                <a:latin typeface="Arial" panose="020B0604020202020204"/>
                <a:ea typeface="KaiTi"/>
                <a:cs typeface="+mn-cs"/>
              </a:rPr>
              <a:t>DBS brought in </a:t>
            </a:r>
            <a:r>
              <a:rPr lang="en-SG" sz="1000">
                <a:solidFill>
                  <a:prstClr val="black"/>
                </a:solidFill>
                <a:latin typeface="Arial" panose="020B0604020202020204"/>
                <a:ea typeface="KaiTi"/>
                <a:cs typeface="+mn-cs"/>
              </a:rPr>
              <a:t>43%</a:t>
            </a:r>
            <a:r>
              <a:rPr lang="en-SG" sz="1000">
                <a:solidFill>
                  <a:srgbClr val="C52133"/>
                </a:solidFill>
                <a:latin typeface="Arial" panose="020B0604020202020204"/>
                <a:ea typeface="KaiTi"/>
                <a:cs typeface="+mn-cs"/>
              </a:rPr>
              <a:t> </a:t>
            </a:r>
            <a:r>
              <a:rPr lang="en-SG" sz="1000" b="0">
                <a:solidFill>
                  <a:srgbClr val="000000"/>
                </a:solidFill>
                <a:latin typeface="Arial" panose="020B0604020202020204"/>
                <a:ea typeface="KaiTi"/>
                <a:cs typeface="+mn-cs"/>
              </a:rPr>
              <a:t>of the cornerstone demand, the largest among all banks</a:t>
            </a:r>
          </a:p>
        </p:txBody>
      </p:sp>
      <p:pic>
        <p:nvPicPr>
          <p:cNvPr id="19" name="Picture 2" descr="Centurion Accomodation REIT IPO: Prospectus &amp; Summary">
            <a:extLst>
              <a:ext uri="{FF2B5EF4-FFF2-40B4-BE49-F238E27FC236}">
                <a16:creationId xmlns:a16="http://schemas.microsoft.com/office/drawing/2014/main" id="{CAF7D044-6415-EAC6-D38C-8DB1BA3955B4}"/>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4436" t="5848" r="4438" b="5143"/>
          <a:stretch/>
        </p:blipFill>
        <p:spPr bwMode="auto">
          <a:xfrm>
            <a:off x="486962" y="2937112"/>
            <a:ext cx="684000" cy="301922"/>
          </a:xfrm>
          <a:prstGeom prst="rect">
            <a:avLst/>
          </a:prstGeom>
          <a:extLst>
            <a:ext uri="{909E8E84-426E-40DD-AFC4-6F175D3DCCD1}">
              <a14:hiddenFill xmlns:a14="http://schemas.microsoft.com/office/drawing/2010/main">
                <a:solidFill>
                  <a:srgbClr val="FFFFFF"/>
                </a:solidFill>
              </a14:hiddenFill>
            </a:ext>
          </a:extLst>
        </p:spPr>
      </p:pic>
      <p:graphicFrame>
        <p:nvGraphicFramePr>
          <p:cNvPr id="20" name="Table 19">
            <a:extLst>
              <a:ext uri="{FF2B5EF4-FFF2-40B4-BE49-F238E27FC236}">
                <a16:creationId xmlns:a16="http://schemas.microsoft.com/office/drawing/2014/main" id="{D48AA4C4-61A7-5535-F0E9-1F786E7E1DEF}"/>
              </a:ext>
            </a:extLst>
          </p:cNvPr>
          <p:cNvGraphicFramePr>
            <a:graphicFrameLocks noGrp="1"/>
          </p:cNvGraphicFramePr>
          <p:nvPr>
            <p:custDataLst>
              <p:tags r:id="rId2"/>
            </p:custDataLst>
          </p:nvPr>
        </p:nvGraphicFramePr>
        <p:xfrm>
          <a:off x="452999" y="3300213"/>
          <a:ext cx="1876515" cy="575999"/>
        </p:xfrm>
        <a:graphic>
          <a:graphicData uri="http://schemas.openxmlformats.org/drawingml/2006/table">
            <a:tbl>
              <a:tblPr firstRow="1" bandRow="1"/>
              <a:tblGrid>
                <a:gridCol w="613547">
                  <a:extLst>
                    <a:ext uri="{9D8B030D-6E8A-4147-A177-3AD203B41FA5}">
                      <a16:colId xmlns:a16="http://schemas.microsoft.com/office/drawing/2014/main" val="769234682"/>
                    </a:ext>
                  </a:extLst>
                </a:gridCol>
                <a:gridCol w="31593">
                  <a:extLst>
                    <a:ext uri="{9D8B030D-6E8A-4147-A177-3AD203B41FA5}">
                      <a16:colId xmlns:a16="http://schemas.microsoft.com/office/drawing/2014/main" val="3594781737"/>
                    </a:ext>
                  </a:extLst>
                </a:gridCol>
                <a:gridCol w="1231375">
                  <a:extLst>
                    <a:ext uri="{9D8B030D-6E8A-4147-A177-3AD203B41FA5}">
                      <a16:colId xmlns:a16="http://schemas.microsoft.com/office/drawing/2014/main" val="3200364116"/>
                    </a:ext>
                  </a:extLst>
                </a:gridCol>
              </a:tblGrid>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IPO year</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2025</a:t>
                      </a:r>
                      <a:endParaRPr lang="en-US" sz="800">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8190405"/>
                  </a:ext>
                </a:extLst>
              </a:tr>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Market cap</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S$1.5b</a:t>
                      </a:r>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710141"/>
                  </a:ext>
                </a:extLst>
              </a:tr>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Offer size</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S$771m</a:t>
                      </a:r>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8822752"/>
                  </a:ext>
                </a:extLst>
              </a:tr>
              <a:tr h="207818">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US" sz="800">
                          <a:solidFill>
                            <a:schemeClr val="tx1"/>
                          </a:solidFill>
                          <a:latin typeface="+mj-lt"/>
                          <a:cs typeface="Calibri" panose="020F0502020204030204" pitchFamily="34" charset="0"/>
                        </a:rPr>
                        <a:t>DBS role</a:t>
                      </a: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US" sz="800">
                          <a:latin typeface="+mj-lt"/>
                          <a:cs typeface="Calibri" panose="020F0502020204030204" pitchFamily="34" charset="0"/>
                        </a:rPr>
                        <a:t>JIM, JGC &amp; JBR</a:t>
                      </a:r>
                    </a:p>
                  </a:txBody>
                  <a:tcPr marL="0" marR="0" marT="0" marB="0" anchor="ctr">
                    <a:lnL w="12700" cmpd="sng">
                      <a:noFill/>
                    </a:lnL>
                    <a:lnR w="12700" cmpd="sng">
                      <a:noFill/>
                    </a:lnR>
                    <a:lnT w="12700" cmpd="sng">
                      <a:noFill/>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2187890"/>
                  </a:ext>
                </a:extLst>
              </a:tr>
            </a:tbl>
          </a:graphicData>
        </a:graphic>
      </p:graphicFrame>
      <p:graphicFrame>
        <p:nvGraphicFramePr>
          <p:cNvPr id="22" name="Table 21">
            <a:extLst>
              <a:ext uri="{FF2B5EF4-FFF2-40B4-BE49-F238E27FC236}">
                <a16:creationId xmlns:a16="http://schemas.microsoft.com/office/drawing/2014/main" id="{B5B98BC8-AECE-4ACC-05C0-9AE196FB4B8B}"/>
              </a:ext>
            </a:extLst>
          </p:cNvPr>
          <p:cNvGraphicFramePr>
            <a:graphicFrameLocks noGrp="1"/>
          </p:cNvGraphicFramePr>
          <p:nvPr>
            <p:custDataLst>
              <p:tags r:id="rId3"/>
            </p:custDataLst>
            <p:extLst>
              <p:ext uri="{D42A27DB-BD31-4B8C-83A1-F6EECF244321}">
                <p14:modId xmlns:p14="http://schemas.microsoft.com/office/powerpoint/2010/main" val="719994376"/>
              </p:ext>
            </p:extLst>
          </p:nvPr>
        </p:nvGraphicFramePr>
        <p:xfrm>
          <a:off x="452999" y="2015096"/>
          <a:ext cx="1876515" cy="575999"/>
        </p:xfrm>
        <a:graphic>
          <a:graphicData uri="http://schemas.openxmlformats.org/drawingml/2006/table">
            <a:tbl>
              <a:tblPr firstRow="1" bandRow="1"/>
              <a:tblGrid>
                <a:gridCol w="613547">
                  <a:extLst>
                    <a:ext uri="{9D8B030D-6E8A-4147-A177-3AD203B41FA5}">
                      <a16:colId xmlns:a16="http://schemas.microsoft.com/office/drawing/2014/main" val="769234682"/>
                    </a:ext>
                  </a:extLst>
                </a:gridCol>
                <a:gridCol w="31593">
                  <a:extLst>
                    <a:ext uri="{9D8B030D-6E8A-4147-A177-3AD203B41FA5}">
                      <a16:colId xmlns:a16="http://schemas.microsoft.com/office/drawing/2014/main" val="3594781737"/>
                    </a:ext>
                  </a:extLst>
                </a:gridCol>
                <a:gridCol w="1231375">
                  <a:extLst>
                    <a:ext uri="{9D8B030D-6E8A-4147-A177-3AD203B41FA5}">
                      <a16:colId xmlns:a16="http://schemas.microsoft.com/office/drawing/2014/main" val="3200364116"/>
                    </a:ext>
                  </a:extLst>
                </a:gridCol>
              </a:tblGrid>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IPO year</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2026</a:t>
                      </a:r>
                      <a:endParaRPr lang="en-US" sz="800">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Text" lastClr="000000"/>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68190405"/>
                  </a:ext>
                </a:extLst>
              </a:tr>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Market cap</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S$1.2b</a:t>
                      </a:r>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4710141"/>
                  </a:ext>
                </a:extLst>
              </a:tr>
              <a:tr h="122727">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GB" sz="800">
                          <a:solidFill>
                            <a:schemeClr val="tx1"/>
                          </a:solidFill>
                          <a:latin typeface="+mj-lt"/>
                          <a:cs typeface="Calibri" panose="020F0502020204030204" pitchFamily="34" charset="0"/>
                        </a:rPr>
                        <a:t>Offer size</a:t>
                      </a:r>
                      <a:endParaRPr lang="en-US" sz="800">
                        <a:solidFill>
                          <a:schemeClr val="tx1"/>
                        </a:solidFill>
                        <a:latin typeface="+mj-lt"/>
                        <a:cs typeface="Calibri" panose="020F0502020204030204" pitchFamily="34" charset="0"/>
                      </a:endParaRP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63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GB" sz="800">
                          <a:latin typeface="+mj-lt"/>
                          <a:cs typeface="Calibri" panose="020F0502020204030204" pitchFamily="34" charset="0"/>
                        </a:rPr>
                        <a:t>S$974m</a:t>
                      </a:r>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8822752"/>
                  </a:ext>
                </a:extLst>
              </a:tr>
              <a:tr h="207818">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pPr algn="ctr"/>
                      <a:r>
                        <a:rPr lang="en-US" sz="800">
                          <a:solidFill>
                            <a:schemeClr val="tx1"/>
                          </a:solidFill>
                          <a:latin typeface="+mj-lt"/>
                          <a:cs typeface="Calibri" panose="020F0502020204030204" pitchFamily="34" charset="0"/>
                        </a:rPr>
                        <a:t>DBS role</a:t>
                      </a:r>
                    </a:p>
                  </a:txBody>
                  <a:tcPr marL="0" marR="0" marT="0" marB="0" anchor="ctr">
                    <a:lnL w="12700" cmpd="sng">
                      <a:noFill/>
                    </a:lnL>
                    <a:lnR w="12700" cmpd="sng">
                      <a:noFill/>
                    </a:lnR>
                    <a:lnT w="6350" cap="flat" cmpd="sng" algn="ctr">
                      <a:solidFill>
                        <a:sysClr val="window" lastClr="FFFFFF"/>
                      </a:solidFill>
                      <a:prstDash val="solid"/>
                      <a:round/>
                      <a:headEnd type="none" w="med" len="med"/>
                      <a:tailEnd type="none" w="med" len="med"/>
                    </a:lnT>
                    <a:lnB w="12700" cmpd="sng">
                      <a:no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endParaRPr lang="en-US" sz="800">
                        <a:latin typeface="+mj-lt"/>
                        <a:cs typeface="Calibri" panose="020F050202020403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742950" rtl="0" eaLnBrk="1" latinLnBrk="0" hangingPunct="1">
                        <a:defRPr sz="1463" kern="1200">
                          <a:solidFill>
                            <a:schemeClr val="dk1"/>
                          </a:solidFill>
                          <a:latin typeface="Arial" panose="020B0604020202020204"/>
                        </a:defRPr>
                      </a:lvl1pPr>
                      <a:lvl2pPr marL="371475" algn="l" defTabSz="742950" rtl="0" eaLnBrk="1" latinLnBrk="0" hangingPunct="1">
                        <a:defRPr sz="1463" kern="1200">
                          <a:solidFill>
                            <a:schemeClr val="dk1"/>
                          </a:solidFill>
                          <a:latin typeface="Arial" panose="020B0604020202020204"/>
                        </a:defRPr>
                      </a:lvl2pPr>
                      <a:lvl3pPr marL="742950" algn="l" defTabSz="742950" rtl="0" eaLnBrk="1" latinLnBrk="0" hangingPunct="1">
                        <a:defRPr sz="1463" kern="1200">
                          <a:solidFill>
                            <a:schemeClr val="dk1"/>
                          </a:solidFill>
                          <a:latin typeface="Arial" panose="020B0604020202020204"/>
                        </a:defRPr>
                      </a:lvl3pPr>
                      <a:lvl4pPr marL="1114425" algn="l" defTabSz="742950" rtl="0" eaLnBrk="1" latinLnBrk="0" hangingPunct="1">
                        <a:defRPr sz="1463" kern="1200">
                          <a:solidFill>
                            <a:schemeClr val="dk1"/>
                          </a:solidFill>
                          <a:latin typeface="Arial" panose="020B0604020202020204"/>
                        </a:defRPr>
                      </a:lvl4pPr>
                      <a:lvl5pPr marL="1485900" algn="l" defTabSz="742950" rtl="0" eaLnBrk="1" latinLnBrk="0" hangingPunct="1">
                        <a:defRPr sz="1463" kern="1200">
                          <a:solidFill>
                            <a:schemeClr val="dk1"/>
                          </a:solidFill>
                          <a:latin typeface="Arial" panose="020B0604020202020204"/>
                        </a:defRPr>
                      </a:lvl5pPr>
                      <a:lvl6pPr marL="1857375" algn="l" defTabSz="742950" rtl="0" eaLnBrk="1" latinLnBrk="0" hangingPunct="1">
                        <a:defRPr sz="1463" kern="1200">
                          <a:solidFill>
                            <a:schemeClr val="dk1"/>
                          </a:solidFill>
                          <a:latin typeface="Arial" panose="020B0604020202020204"/>
                        </a:defRPr>
                      </a:lvl6pPr>
                      <a:lvl7pPr marL="2228850" algn="l" defTabSz="742950" rtl="0" eaLnBrk="1" latinLnBrk="0" hangingPunct="1">
                        <a:defRPr sz="1463" kern="1200">
                          <a:solidFill>
                            <a:schemeClr val="dk1"/>
                          </a:solidFill>
                          <a:latin typeface="Arial" panose="020B0604020202020204"/>
                        </a:defRPr>
                      </a:lvl7pPr>
                      <a:lvl8pPr marL="2600325" algn="l" defTabSz="742950" rtl="0" eaLnBrk="1" latinLnBrk="0" hangingPunct="1">
                        <a:defRPr sz="1463" kern="1200">
                          <a:solidFill>
                            <a:schemeClr val="dk1"/>
                          </a:solidFill>
                          <a:latin typeface="Arial" panose="020B0604020202020204"/>
                        </a:defRPr>
                      </a:lvl8pPr>
                      <a:lvl9pPr marL="2971800" algn="l" defTabSz="742950" rtl="0" eaLnBrk="1" latinLnBrk="0" hangingPunct="1">
                        <a:defRPr sz="1463" kern="1200">
                          <a:solidFill>
                            <a:schemeClr val="dk1"/>
                          </a:solidFill>
                          <a:latin typeface="Arial" panose="020B0604020202020204"/>
                        </a:defRPr>
                      </a:lvl9pPr>
                    </a:lstStyle>
                    <a:p>
                      <a:r>
                        <a:rPr lang="en-US" sz="800">
                          <a:latin typeface="+mj-lt"/>
                          <a:cs typeface="Calibri" panose="020F0502020204030204" pitchFamily="34" charset="0"/>
                        </a:rPr>
                        <a:t>JIM, JGC &amp; JBR</a:t>
                      </a:r>
                    </a:p>
                  </a:txBody>
                  <a:tcPr marL="0" marR="0" marT="0" marB="0" anchor="ctr">
                    <a:lnL w="12700" cmpd="sng">
                      <a:noFill/>
                    </a:lnL>
                    <a:lnR w="12700" cmpd="sng">
                      <a:noFill/>
                    </a:lnR>
                    <a:lnT w="12700" cmpd="sng">
                      <a:noFill/>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2187890"/>
                  </a:ext>
                </a:extLst>
              </a:tr>
            </a:tbl>
          </a:graphicData>
        </a:graphic>
      </p:graphicFrame>
      <p:sp>
        <p:nvSpPr>
          <p:cNvPr id="23" name="TextBox 22">
            <a:extLst>
              <a:ext uri="{FF2B5EF4-FFF2-40B4-BE49-F238E27FC236}">
                <a16:creationId xmlns:a16="http://schemas.microsoft.com/office/drawing/2014/main" id="{CD1EEF0E-A90B-0AF8-BF5A-C8F12F60B51C}"/>
              </a:ext>
            </a:extLst>
          </p:cNvPr>
          <p:cNvSpPr txBox="1"/>
          <p:nvPr/>
        </p:nvSpPr>
        <p:spPr>
          <a:xfrm>
            <a:off x="2427240" y="1944566"/>
            <a:ext cx="2243820" cy="534368"/>
          </a:xfrm>
          <a:prstGeom prst="rect">
            <a:avLst/>
          </a:prstGeom>
          <a:noFill/>
        </p:spPr>
        <p:txBody>
          <a:bodyPr wrap="square" lIns="36000" tIns="36000" rIns="36000" bIns="36000" rtlCol="0">
            <a:spAutoFit/>
          </a:bodyPr>
          <a:lstStyle/>
          <a:p>
            <a:pPr marL="171450" indent="-171450" defTabSz="742950" fontAlgn="ctr">
              <a:spcBef>
                <a:spcPts val="0"/>
              </a:spcBef>
              <a:spcAft>
                <a:spcPts val="400"/>
              </a:spcAft>
              <a:buFont typeface="Arial" panose="020B0604020202020204" pitchFamily="34" charset="0"/>
              <a:buChar char="•"/>
              <a:defRPr/>
            </a:pPr>
            <a:r>
              <a:rPr lang="en-SG" sz="1000" b="0">
                <a:solidFill>
                  <a:srgbClr val="000000"/>
                </a:solidFill>
                <a:latin typeface="Arial" panose="020B0604020202020204"/>
                <a:ea typeface="KaiTi"/>
                <a:cs typeface="+mn-cs"/>
              </a:rPr>
              <a:t>DBS brought in </a:t>
            </a:r>
            <a:r>
              <a:rPr lang="en-SG" sz="1000">
                <a:solidFill>
                  <a:srgbClr val="000000"/>
                </a:solidFill>
                <a:latin typeface="Arial" panose="020B0604020202020204"/>
                <a:ea typeface="KaiTi"/>
                <a:cs typeface="+mn-cs"/>
              </a:rPr>
              <a:t>27% of </a:t>
            </a:r>
            <a:r>
              <a:rPr lang="en-SG" sz="1000" b="0">
                <a:solidFill>
                  <a:srgbClr val="000000"/>
                </a:solidFill>
                <a:latin typeface="Arial" panose="020B0604020202020204"/>
                <a:ea typeface="KaiTi"/>
                <a:cs typeface="+mn-cs"/>
              </a:rPr>
              <a:t>cornerstones and bulk of placement demand out of 6 banks</a:t>
            </a:r>
          </a:p>
        </p:txBody>
      </p:sp>
      <p:graphicFrame>
        <p:nvGraphicFramePr>
          <p:cNvPr id="24" name="Chart 23">
            <a:extLst>
              <a:ext uri="{FF2B5EF4-FFF2-40B4-BE49-F238E27FC236}">
                <a16:creationId xmlns:a16="http://schemas.microsoft.com/office/drawing/2014/main" id="{5F7A1972-57F2-9D14-868C-A4C08605F399}"/>
              </a:ext>
            </a:extLst>
          </p:cNvPr>
          <p:cNvGraphicFramePr/>
          <p:nvPr>
            <p:extLst>
              <p:ext uri="{D42A27DB-BD31-4B8C-83A1-F6EECF244321}">
                <p14:modId xmlns:p14="http://schemas.microsoft.com/office/powerpoint/2010/main" val="3618954332"/>
              </p:ext>
            </p:extLst>
          </p:nvPr>
        </p:nvGraphicFramePr>
        <p:xfrm>
          <a:off x="5002284" y="1577887"/>
          <a:ext cx="2047048" cy="1267727"/>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25" name="Chart 24">
            <a:extLst>
              <a:ext uri="{FF2B5EF4-FFF2-40B4-BE49-F238E27FC236}">
                <a16:creationId xmlns:a16="http://schemas.microsoft.com/office/drawing/2014/main" id="{21335F11-23BD-6601-5F90-065D336683F7}"/>
              </a:ext>
            </a:extLst>
          </p:cNvPr>
          <p:cNvGraphicFramePr/>
          <p:nvPr>
            <p:extLst>
              <p:ext uri="{D42A27DB-BD31-4B8C-83A1-F6EECF244321}">
                <p14:modId xmlns:p14="http://schemas.microsoft.com/office/powerpoint/2010/main" val="2975047068"/>
              </p:ext>
            </p:extLst>
          </p:nvPr>
        </p:nvGraphicFramePr>
        <p:xfrm>
          <a:off x="7249738" y="1582650"/>
          <a:ext cx="2047048" cy="1267727"/>
        </p:xfrm>
        <a:graphic>
          <a:graphicData uri="http://schemas.openxmlformats.org/drawingml/2006/chart">
            <c:chart xmlns:c="http://schemas.openxmlformats.org/drawingml/2006/chart" xmlns:r="http://schemas.openxmlformats.org/officeDocument/2006/relationships" r:id="rId13"/>
          </a:graphicData>
        </a:graphic>
      </p:graphicFrame>
      <p:sp>
        <p:nvSpPr>
          <p:cNvPr id="26" name="TextBox 25">
            <a:extLst>
              <a:ext uri="{FF2B5EF4-FFF2-40B4-BE49-F238E27FC236}">
                <a16:creationId xmlns:a16="http://schemas.microsoft.com/office/drawing/2014/main" id="{8350C393-BD3C-F720-CA83-D8D2076BB859}"/>
              </a:ext>
            </a:extLst>
          </p:cNvPr>
          <p:cNvSpPr txBox="1"/>
          <p:nvPr/>
        </p:nvSpPr>
        <p:spPr>
          <a:xfrm>
            <a:off x="2427240" y="3215715"/>
            <a:ext cx="2243820" cy="534368"/>
          </a:xfrm>
          <a:prstGeom prst="rect">
            <a:avLst/>
          </a:prstGeom>
          <a:noFill/>
        </p:spPr>
        <p:txBody>
          <a:bodyPr wrap="square" lIns="36000" tIns="36000" rIns="36000" bIns="36000" rtlCol="0">
            <a:spAutoFit/>
          </a:bodyPr>
          <a:lstStyle/>
          <a:p>
            <a:pPr marL="171450" indent="-171450" defTabSz="742950" fontAlgn="ctr">
              <a:spcBef>
                <a:spcPts val="0"/>
              </a:spcBef>
              <a:spcAft>
                <a:spcPts val="400"/>
              </a:spcAft>
              <a:buFont typeface="Arial" panose="020B0604020202020204" pitchFamily="34" charset="0"/>
              <a:buChar char="•"/>
              <a:defRPr/>
            </a:pPr>
            <a:r>
              <a:rPr lang="en-SG" sz="1000" b="0">
                <a:solidFill>
                  <a:srgbClr val="000000"/>
                </a:solidFill>
                <a:latin typeface="Arial" panose="020B0604020202020204"/>
                <a:ea typeface="KaiTi"/>
                <a:cs typeface="+mn-cs"/>
              </a:rPr>
              <a:t>DBS brought in </a:t>
            </a:r>
            <a:r>
              <a:rPr lang="en-SG" sz="1000">
                <a:solidFill>
                  <a:srgbClr val="000000"/>
                </a:solidFill>
                <a:latin typeface="Arial" panose="020B0604020202020204"/>
                <a:ea typeface="KaiTi"/>
                <a:cs typeface="+mn-cs"/>
              </a:rPr>
              <a:t>11 of the 16 </a:t>
            </a:r>
            <a:r>
              <a:rPr lang="en-SG" sz="1000" b="0">
                <a:solidFill>
                  <a:srgbClr val="000000"/>
                </a:solidFill>
                <a:latin typeface="Arial" panose="020B0604020202020204"/>
                <a:ea typeface="KaiTi"/>
                <a:cs typeface="+mn-cs"/>
              </a:rPr>
              <a:t>cornerstones and a majority of the demand, amongst 5 banks</a:t>
            </a:r>
          </a:p>
        </p:txBody>
      </p:sp>
      <p:graphicFrame>
        <p:nvGraphicFramePr>
          <p:cNvPr id="27" name="Chart 26">
            <a:extLst>
              <a:ext uri="{FF2B5EF4-FFF2-40B4-BE49-F238E27FC236}">
                <a16:creationId xmlns:a16="http://schemas.microsoft.com/office/drawing/2014/main" id="{7D020206-A223-0A73-9F88-B9F3BC820EB8}"/>
              </a:ext>
            </a:extLst>
          </p:cNvPr>
          <p:cNvGraphicFramePr/>
          <p:nvPr/>
        </p:nvGraphicFramePr>
        <p:xfrm>
          <a:off x="5002284" y="2748712"/>
          <a:ext cx="2047048" cy="1267727"/>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28" name="Chart 27">
            <a:extLst>
              <a:ext uri="{FF2B5EF4-FFF2-40B4-BE49-F238E27FC236}">
                <a16:creationId xmlns:a16="http://schemas.microsoft.com/office/drawing/2014/main" id="{5DF2EDE3-EC35-3756-ABDF-E1D844481847}"/>
              </a:ext>
            </a:extLst>
          </p:cNvPr>
          <p:cNvGraphicFramePr/>
          <p:nvPr/>
        </p:nvGraphicFramePr>
        <p:xfrm>
          <a:off x="7249738" y="2748712"/>
          <a:ext cx="2047048" cy="1267727"/>
        </p:xfrm>
        <a:graphic>
          <a:graphicData uri="http://schemas.openxmlformats.org/drawingml/2006/chart">
            <c:chart xmlns:c="http://schemas.openxmlformats.org/drawingml/2006/chart" xmlns:r="http://schemas.openxmlformats.org/officeDocument/2006/relationships" r:id="rId15"/>
          </a:graphicData>
        </a:graphic>
      </p:graphicFrame>
      <p:sp>
        <p:nvSpPr>
          <p:cNvPr id="30" name="Rectangle: Rounded Corners 29">
            <a:extLst>
              <a:ext uri="{FF2B5EF4-FFF2-40B4-BE49-F238E27FC236}">
                <a16:creationId xmlns:a16="http://schemas.microsoft.com/office/drawing/2014/main" id="{52A9013D-5913-A529-558F-A25E099F66B7}"/>
              </a:ext>
            </a:extLst>
          </p:cNvPr>
          <p:cNvSpPr/>
          <p:nvPr/>
        </p:nvSpPr>
        <p:spPr bwMode="auto">
          <a:xfrm>
            <a:off x="452998" y="981042"/>
            <a:ext cx="9000002" cy="289441"/>
          </a:xfrm>
          <a:prstGeom prst="roundRect">
            <a:avLst>
              <a:gd name="adj" fmla="val 17331"/>
            </a:avLst>
          </a:prstGeom>
          <a:solidFill>
            <a:srgbClr val="089C8B"/>
          </a:solidFill>
          <a:ln>
            <a:noFill/>
          </a:ln>
        </p:spPr>
        <p:txBody>
          <a:bodyPr wrap="square" lIns="36000" tIns="36000" rIns="36000" bIns="36000" rtlCol="0" anchor="ctr">
            <a:noAutofit/>
          </a:bodyPr>
          <a:lstStyle/>
          <a:p>
            <a:pPr algn="ctr"/>
            <a:r>
              <a:rPr lang="en-US" sz="1100">
                <a:solidFill>
                  <a:schemeClr val="bg1"/>
                </a:solidFill>
              </a:rPr>
              <a:t>DBS constantly outperforms in demand generation across cornerstone and overall book-building </a:t>
            </a:r>
          </a:p>
        </p:txBody>
      </p:sp>
      <p:pic>
        <p:nvPicPr>
          <p:cNvPr id="2" name="Picture 2" descr="UIB REIT Stock Info (SGX:UIBU) | SGinvestors.io">
            <a:extLst>
              <a:ext uri="{FF2B5EF4-FFF2-40B4-BE49-F238E27FC236}">
                <a16:creationId xmlns:a16="http://schemas.microsoft.com/office/drawing/2014/main" id="{9B907229-CAE8-F826-2B2E-BA10166E3C3D}"/>
              </a:ext>
            </a:extLst>
          </p:cNvPr>
          <p:cNvPicPr>
            <a:picLocks noChangeAspect="1" noChangeArrowheads="1"/>
          </p:cNvPicPr>
          <p:nvPr/>
        </p:nvPicPr>
        <p:blipFill rotWithShape="1">
          <a:blip r:embed="rId16" cstate="print">
            <a:extLst>
              <a:ext uri="{28A0092B-C50C-407E-A947-70E740481C1C}">
                <a14:useLocalDpi xmlns:a14="http://schemas.microsoft.com/office/drawing/2010/main" val="0"/>
              </a:ext>
            </a:extLst>
          </a:blip>
          <a:srcRect l="-1" t="23999" r="127" b="24375"/>
          <a:stretch>
            <a:fillRect/>
          </a:stretch>
        </p:blipFill>
        <p:spPr bwMode="auto">
          <a:xfrm>
            <a:off x="485413" y="1670689"/>
            <a:ext cx="557157" cy="28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1783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1575C4A4-33FF-8C68-B348-7BC63ADCD7D9}"/>
              </a:ext>
            </a:extLst>
          </p:cNvPr>
          <p:cNvSpPr/>
          <p:nvPr/>
        </p:nvSpPr>
        <p:spPr bwMode="auto">
          <a:xfrm flipH="1">
            <a:off x="4225490" y="3705726"/>
            <a:ext cx="5227510" cy="2656573"/>
          </a:xfrm>
          <a:prstGeom prst="rect">
            <a:avLst/>
          </a:prstGeom>
          <a:solidFill>
            <a:schemeClr val="bg1">
              <a:lumMod val="95000"/>
            </a:schemeClr>
          </a:solidFill>
          <a:ln w="19050">
            <a:noFill/>
          </a:ln>
          <a:effectLst/>
        </p:spPr>
        <p:txBody>
          <a:bodyPr vert="horz" wrap="square" lIns="36000" tIns="36000" rIns="36000" bIns="360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33" name="Rectangle 32">
            <a:extLst>
              <a:ext uri="{FF2B5EF4-FFF2-40B4-BE49-F238E27FC236}">
                <a16:creationId xmlns:a16="http://schemas.microsoft.com/office/drawing/2014/main" id="{1A4767B6-F615-B91B-63E8-B54759BD27E2}"/>
              </a:ext>
            </a:extLst>
          </p:cNvPr>
          <p:cNvSpPr/>
          <p:nvPr/>
        </p:nvSpPr>
        <p:spPr bwMode="auto">
          <a:xfrm flipH="1">
            <a:off x="4225490" y="962526"/>
            <a:ext cx="5227510" cy="2656573"/>
          </a:xfrm>
          <a:prstGeom prst="rect">
            <a:avLst/>
          </a:prstGeom>
          <a:solidFill>
            <a:schemeClr val="bg1">
              <a:lumMod val="95000"/>
            </a:schemeClr>
          </a:solidFill>
          <a:ln w="19050">
            <a:noFill/>
          </a:ln>
          <a:effectLst/>
        </p:spPr>
        <p:txBody>
          <a:bodyPr vert="horz" wrap="square" lIns="36000" tIns="36000" rIns="36000" bIns="3600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5" name="Title 4">
            <a:extLst>
              <a:ext uri="{FF2B5EF4-FFF2-40B4-BE49-F238E27FC236}">
                <a16:creationId xmlns:a16="http://schemas.microsoft.com/office/drawing/2014/main" id="{85EA0251-0D76-055A-85C4-F822D511C521}"/>
              </a:ext>
            </a:extLst>
          </p:cNvPr>
          <p:cNvSpPr>
            <a:spLocks noGrp="1"/>
          </p:cNvSpPr>
          <p:nvPr>
            <p:ph type="title"/>
          </p:nvPr>
        </p:nvSpPr>
        <p:spPr/>
        <p:txBody>
          <a:bodyPr/>
          <a:lstStyle/>
          <a:p>
            <a:r>
              <a:rPr lang="en-SG"/>
              <a:t>DBS’ Private Wealth clients have been active participants in our REIT IPOs</a:t>
            </a:r>
            <a:endParaRPr lang="en-US"/>
          </a:p>
        </p:txBody>
      </p:sp>
      <p:sp>
        <p:nvSpPr>
          <p:cNvPr id="2" name="Text Placeholder 1">
            <a:extLst>
              <a:ext uri="{FF2B5EF4-FFF2-40B4-BE49-F238E27FC236}">
                <a16:creationId xmlns:a16="http://schemas.microsoft.com/office/drawing/2014/main" id="{348B756D-AE9F-6C34-23D5-08CA1DFF4BFC}"/>
              </a:ext>
            </a:extLst>
          </p:cNvPr>
          <p:cNvSpPr>
            <a:spLocks noGrp="1"/>
          </p:cNvSpPr>
          <p:nvPr>
            <p:ph type="body" sz="quarter" idx="46"/>
          </p:nvPr>
        </p:nvSpPr>
        <p:spPr/>
        <p:txBody>
          <a:bodyPr/>
          <a:lstStyle/>
          <a:p>
            <a:r>
              <a:rPr lang="en-SG" sz="800"/>
              <a:t>DBS Annual Report 2024</a:t>
            </a:r>
          </a:p>
        </p:txBody>
      </p:sp>
      <p:sp>
        <p:nvSpPr>
          <p:cNvPr id="3" name="Text Box 2">
            <a:extLst>
              <a:ext uri="{FF2B5EF4-FFF2-40B4-BE49-F238E27FC236}">
                <a16:creationId xmlns:a16="http://schemas.microsoft.com/office/drawing/2014/main" id="{72F6DC82-2BB7-2D7F-8089-EA315CB48CB0}"/>
              </a:ext>
            </a:extLst>
          </p:cNvPr>
          <p:cNvSpPr txBox="1">
            <a:spLocks noChangeArrowheads="1"/>
          </p:cNvSpPr>
          <p:nvPr/>
        </p:nvSpPr>
        <p:spPr bwMode="auto">
          <a:xfrm>
            <a:off x="409457" y="950348"/>
            <a:ext cx="3633153" cy="878453"/>
          </a:xfrm>
          <a:prstGeom prst="rect">
            <a:avLst/>
          </a:prstGeom>
          <a:noFill/>
          <a:ln w="9525" algn="ctr">
            <a:noFill/>
            <a:miter lim="800000"/>
            <a:headEnd/>
            <a:tailEnd/>
          </a:ln>
          <a:effectLst>
            <a:prstShdw prst="shdw17" dist="17961" dir="2700000">
              <a:srgbClr val="868686">
                <a:gamma/>
                <a:shade val="60000"/>
                <a:invGamma/>
              </a:srgbClr>
            </a:prstShdw>
          </a:effectLst>
        </p:spPr>
        <p:txBody>
          <a:bodyPr wrap="square" lIns="36000" tIns="36000" rIns="36000" bIns="36000">
            <a:noAutofit/>
          </a:bodyPr>
          <a:lstStyle>
            <a:lvl1pPr>
              <a:tabLst>
                <a:tab pos="171450" algn="l"/>
              </a:tabLst>
              <a:defRPr sz="1200" b="1">
                <a:solidFill>
                  <a:schemeClr val="tx1"/>
                </a:solidFill>
                <a:latin typeface="Calibri" panose="020F0502020204030204" pitchFamily="34" charset="0"/>
              </a:defRPr>
            </a:lvl1pPr>
            <a:lvl2pPr marL="400050" indent="-228600">
              <a:tabLst>
                <a:tab pos="171450" algn="l"/>
              </a:tabLst>
              <a:defRPr sz="1200" b="1">
                <a:solidFill>
                  <a:schemeClr val="tx1"/>
                </a:solidFill>
                <a:latin typeface="Calibri" panose="020F0502020204030204" pitchFamily="34" charset="0"/>
              </a:defRPr>
            </a:lvl2pPr>
            <a:lvl3pPr marL="1143000" indent="-228600">
              <a:tabLst>
                <a:tab pos="171450" algn="l"/>
              </a:tabLst>
              <a:defRPr sz="1200" b="1">
                <a:solidFill>
                  <a:schemeClr val="tx1"/>
                </a:solidFill>
                <a:latin typeface="Calibri" panose="020F0502020204030204" pitchFamily="34" charset="0"/>
              </a:defRPr>
            </a:lvl3pPr>
            <a:lvl4pPr marL="1600200" indent="-228600">
              <a:tabLst>
                <a:tab pos="171450" algn="l"/>
              </a:tabLst>
              <a:defRPr sz="1200" b="1">
                <a:solidFill>
                  <a:schemeClr val="tx1"/>
                </a:solidFill>
                <a:latin typeface="Calibri" panose="020F0502020204030204" pitchFamily="34" charset="0"/>
              </a:defRPr>
            </a:lvl4pPr>
            <a:lvl5pPr marL="2057400" indent="-228600">
              <a:tabLst>
                <a:tab pos="171450" algn="l"/>
              </a:tabLst>
              <a:defRPr sz="1200" b="1">
                <a:solidFill>
                  <a:schemeClr val="tx1"/>
                </a:solidFill>
                <a:latin typeface="Calibri" panose="020F0502020204030204" pitchFamily="34" charset="0"/>
              </a:defRPr>
            </a:lvl5pPr>
            <a:lvl6pPr marL="2514600" indent="-228600" eaLnBrk="0" fontAlgn="base" hangingPunct="0">
              <a:spcBef>
                <a:spcPct val="0"/>
              </a:spcBef>
              <a:spcAft>
                <a:spcPct val="0"/>
              </a:spcAft>
              <a:tabLst>
                <a:tab pos="171450" algn="l"/>
              </a:tabLst>
              <a:defRPr sz="1200" b="1">
                <a:solidFill>
                  <a:schemeClr val="tx1"/>
                </a:solidFill>
                <a:latin typeface="Calibri" panose="020F0502020204030204" pitchFamily="34" charset="0"/>
              </a:defRPr>
            </a:lvl6pPr>
            <a:lvl7pPr marL="2971800" indent="-228600" eaLnBrk="0" fontAlgn="base" hangingPunct="0">
              <a:spcBef>
                <a:spcPct val="0"/>
              </a:spcBef>
              <a:spcAft>
                <a:spcPct val="0"/>
              </a:spcAft>
              <a:tabLst>
                <a:tab pos="171450" algn="l"/>
              </a:tabLst>
              <a:defRPr sz="1200" b="1">
                <a:solidFill>
                  <a:schemeClr val="tx1"/>
                </a:solidFill>
                <a:latin typeface="Calibri" panose="020F0502020204030204" pitchFamily="34" charset="0"/>
              </a:defRPr>
            </a:lvl7pPr>
            <a:lvl8pPr marL="3429000" indent="-228600" eaLnBrk="0" fontAlgn="base" hangingPunct="0">
              <a:spcBef>
                <a:spcPct val="0"/>
              </a:spcBef>
              <a:spcAft>
                <a:spcPct val="0"/>
              </a:spcAft>
              <a:tabLst>
                <a:tab pos="171450" algn="l"/>
              </a:tabLst>
              <a:defRPr sz="1200" b="1">
                <a:solidFill>
                  <a:schemeClr val="tx1"/>
                </a:solidFill>
                <a:latin typeface="Calibri" panose="020F0502020204030204" pitchFamily="34" charset="0"/>
              </a:defRPr>
            </a:lvl8pPr>
            <a:lvl9pPr marL="3886200" indent="-228600" eaLnBrk="0" fontAlgn="base" hangingPunct="0">
              <a:spcBef>
                <a:spcPct val="0"/>
              </a:spcBef>
              <a:spcAft>
                <a:spcPct val="0"/>
              </a:spcAft>
              <a:tabLst>
                <a:tab pos="171450" algn="l"/>
              </a:tabLst>
              <a:defRPr sz="1200" b="1">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ts val="0"/>
              </a:spcBef>
              <a:spcAft>
                <a:spcPts val="200"/>
              </a:spcAft>
              <a:buClrTx/>
              <a:buSzTx/>
              <a:buFontTx/>
              <a:buNone/>
              <a:tabLst>
                <a:tab pos="171450" algn="l"/>
              </a:tabLst>
              <a:defRPr/>
            </a:pPr>
            <a:r>
              <a:rPr kumimoji="0" lang="en-US" altLang="en-US" sz="1000" b="1" i="0" u="none" strike="noStrike" kern="0" cap="none" spc="0" normalizeH="0" baseline="0" noProof="0">
                <a:ln>
                  <a:noFill/>
                </a:ln>
                <a:solidFill>
                  <a:srgbClr val="000000"/>
                </a:solidFill>
                <a:effectLst/>
                <a:uLnTx/>
                <a:uFillTx/>
                <a:latin typeface="Arial" panose="020B0604020202020204" pitchFamily="34" charset="0"/>
                <a:ea typeface="KaiTi"/>
                <a:cs typeface="Arial" panose="020B0604020202020204" pitchFamily="34" charset="0"/>
              </a:rPr>
              <a:t>DBS Private Banking has an extensive network of high networth individuals</a:t>
            </a:r>
          </a:p>
          <a:p>
            <a:pPr marL="355600" marR="0" lvl="0" indent="-171450" defTabSz="1828800" eaLnBrk="0" fontAlgn="auto" latinLnBrk="0" hangingPunct="0">
              <a:lnSpc>
                <a:spcPct val="100000"/>
              </a:lnSpc>
              <a:spcBef>
                <a:spcPts val="0"/>
              </a:spcBef>
              <a:spcAft>
                <a:spcPts val="200"/>
              </a:spcAft>
              <a:buClrTx/>
              <a:buSzTx/>
              <a:buFont typeface="Calibri" panose="020F0502020204030204" pitchFamily="34" charset="0"/>
              <a:buChar char="–"/>
              <a:tabLst>
                <a:tab pos="173736" algn="l"/>
                <a:tab pos="274320" algn="l"/>
              </a:tabLst>
              <a:defRPr/>
            </a:pPr>
            <a:r>
              <a:rPr kumimoji="0" lang="en-US" altLang="en-US" sz="1000" b="0" i="0" u="none" strike="noStrike" kern="0" cap="none" spc="0" normalizeH="0" baseline="0" noProof="0">
                <a:ln>
                  <a:noFill/>
                </a:ln>
                <a:solidFill>
                  <a:srgbClr val="000000"/>
                </a:solidFill>
                <a:effectLst/>
                <a:uLnTx/>
                <a:uFillTx/>
                <a:latin typeface="Arial" panose="020B0604020202020204" pitchFamily="34" charset="0"/>
                <a:ea typeface="KaiTi"/>
                <a:cs typeface="Arial" panose="020B0604020202020204" pitchFamily="34" charset="0"/>
              </a:rPr>
              <a:t>Covers major cities including Singapore, Jakarta, Kuala Lumpur, Hong Kong and Beijing</a:t>
            </a:r>
          </a:p>
          <a:p>
            <a:pPr marL="355600" marR="0" lvl="0" indent="-171450" defTabSz="914400" eaLnBrk="0" fontAlgn="auto" latinLnBrk="0" hangingPunct="0">
              <a:lnSpc>
                <a:spcPct val="100000"/>
              </a:lnSpc>
              <a:spcBef>
                <a:spcPts val="0"/>
              </a:spcBef>
              <a:spcAft>
                <a:spcPts val="200"/>
              </a:spcAft>
              <a:buClrTx/>
              <a:buSzTx/>
              <a:buFont typeface="Calibri" panose="020F0502020204030204" pitchFamily="34" charset="0"/>
              <a:buChar char="–"/>
              <a:tabLst>
                <a:tab pos="171450" algn="l"/>
              </a:tabLst>
              <a:defRPr/>
            </a:pPr>
            <a:r>
              <a:rPr kumimoji="0" lang="en-US" altLang="en-US" sz="1000" b="0" i="0" u="none" strike="noStrike" kern="0" cap="none" spc="0" normalizeH="0" baseline="0" noProof="0">
                <a:ln>
                  <a:noFill/>
                </a:ln>
                <a:solidFill>
                  <a:srgbClr val="000000"/>
                </a:solidFill>
                <a:effectLst/>
                <a:uLnTx/>
                <a:uFillTx/>
                <a:latin typeface="Arial" panose="020B0604020202020204" pitchFamily="34" charset="0"/>
                <a:ea typeface="KaiTi"/>
                <a:cs typeface="Arial" panose="020B0604020202020204" pitchFamily="34" charset="0"/>
              </a:rPr>
              <a:t>With total AUM of </a:t>
            </a:r>
            <a:r>
              <a:rPr kumimoji="0" lang="en-US" altLang="en-US" sz="1000" b="1" i="0" u="none" strike="noStrike" kern="0" cap="none" spc="0" normalizeH="0" baseline="0" noProof="0">
                <a:ln>
                  <a:noFill/>
                </a:ln>
                <a:solidFill>
                  <a:srgbClr val="0D73BB"/>
                </a:solidFill>
                <a:effectLst/>
                <a:uLnTx/>
                <a:uFillTx/>
                <a:latin typeface="Arial" panose="020B0604020202020204" pitchFamily="34" charset="0"/>
                <a:ea typeface="KaiTi"/>
                <a:cs typeface="Arial" panose="020B0604020202020204" pitchFamily="34" charset="0"/>
              </a:rPr>
              <a:t>S$</a:t>
            </a:r>
            <a:r>
              <a:rPr lang="en-US" altLang="en-US" sz="1000" kern="0">
                <a:solidFill>
                  <a:srgbClr val="0D73BB"/>
                </a:solidFill>
                <a:latin typeface="Arial" panose="020B0604020202020204" pitchFamily="34" charset="0"/>
                <a:ea typeface="KaiTi"/>
                <a:cs typeface="Arial" panose="020B0604020202020204" pitchFamily="34" charset="0"/>
              </a:rPr>
              <a:t>426</a:t>
            </a:r>
            <a:r>
              <a:rPr kumimoji="0" lang="en-US" altLang="en-US" sz="1000" b="1" i="0" u="none" strike="noStrike" kern="0" cap="none" spc="0" normalizeH="0" baseline="0" noProof="0">
                <a:ln>
                  <a:noFill/>
                </a:ln>
                <a:solidFill>
                  <a:srgbClr val="0D73BB"/>
                </a:solidFill>
                <a:effectLst/>
                <a:uLnTx/>
                <a:uFillTx/>
                <a:latin typeface="Arial" panose="020B0604020202020204" pitchFamily="34" charset="0"/>
                <a:ea typeface="KaiTi"/>
                <a:cs typeface="Arial" panose="020B0604020202020204" pitchFamily="34" charset="0"/>
              </a:rPr>
              <a:t> billion</a:t>
            </a:r>
            <a:r>
              <a:rPr kumimoji="0" lang="en-US" altLang="en-US" sz="1000" b="1" i="0" u="none" strike="noStrike" kern="0" cap="none" spc="0" normalizeH="0" baseline="30000" noProof="0">
                <a:ln>
                  <a:noFill/>
                </a:ln>
                <a:solidFill>
                  <a:srgbClr val="0D73BB"/>
                </a:solidFill>
                <a:effectLst/>
                <a:uLnTx/>
                <a:uFillTx/>
                <a:latin typeface="Arial" panose="020B0604020202020204" pitchFamily="34" charset="0"/>
                <a:ea typeface="KaiTi"/>
                <a:cs typeface="Arial" panose="020B0604020202020204" pitchFamily="34" charset="0"/>
              </a:rPr>
              <a:t>(1)</a:t>
            </a:r>
            <a:r>
              <a:rPr kumimoji="0" lang="en-US" altLang="en-US" sz="1000" b="1" i="0" u="none" strike="noStrike" kern="0" cap="none" spc="0" normalizeH="0" baseline="0" noProof="0">
                <a:ln>
                  <a:noFill/>
                </a:ln>
                <a:solidFill>
                  <a:srgbClr val="0D73BB"/>
                </a:solidFill>
                <a:effectLst/>
                <a:uLnTx/>
                <a:uFillTx/>
                <a:latin typeface="Arial" panose="020B0604020202020204" pitchFamily="34" charset="0"/>
                <a:ea typeface="KaiTi"/>
                <a:cs typeface="Arial" panose="020B0604020202020204" pitchFamily="34" charset="0"/>
              </a:rPr>
              <a:t> </a:t>
            </a:r>
          </a:p>
        </p:txBody>
      </p:sp>
      <p:sp>
        <p:nvSpPr>
          <p:cNvPr id="8" name="Rectangle 7">
            <a:extLst>
              <a:ext uri="{FF2B5EF4-FFF2-40B4-BE49-F238E27FC236}">
                <a16:creationId xmlns:a16="http://schemas.microsoft.com/office/drawing/2014/main" id="{2DB7F7FD-D6B2-7F4B-FFE9-4DE5CF697C75}"/>
              </a:ext>
            </a:extLst>
          </p:cNvPr>
          <p:cNvSpPr/>
          <p:nvPr/>
        </p:nvSpPr>
        <p:spPr>
          <a:xfrm>
            <a:off x="394943" y="1833642"/>
            <a:ext cx="3240000" cy="834361"/>
          </a:xfrm>
          <a:prstGeom prst="rect">
            <a:avLst/>
          </a:prstGeom>
        </p:spPr>
        <p:txBody>
          <a:bodyPr wrap="square" lIns="36000" tIns="36000" rIns="36000" bIns="36000">
            <a:noAutofit/>
          </a:bodyPr>
          <a:lstStyle/>
          <a:p>
            <a:pPr marL="0" lvl="1">
              <a:spcBef>
                <a:spcPts val="0"/>
              </a:spcBef>
              <a:spcAft>
                <a:spcPts val="0"/>
              </a:spcAft>
              <a:buClr>
                <a:srgbClr val="FE7917"/>
              </a:buClr>
              <a:tabLst>
                <a:tab pos="168524" algn="l"/>
              </a:tabLst>
              <a:defRPr/>
            </a:pPr>
            <a:r>
              <a:rPr lang="en-SG" sz="1100">
                <a:solidFill>
                  <a:schemeClr val="tx1"/>
                </a:solidFill>
                <a:latin typeface="Arial" panose="020B0604020202020204" pitchFamily="34" charset="0"/>
                <a:ea typeface="KaiTi"/>
                <a:cs typeface="Arial" panose="020B0604020202020204" pitchFamily="34" charset="0"/>
              </a:rPr>
              <a:t>2025</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Asia’s Best Private Bank (2023 – 2025)</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Private Bank (Singapore)</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World’s Best for HNW</a:t>
            </a:r>
            <a:endParaRPr lang="en-US" sz="900" b="0">
              <a:solidFill>
                <a:srgbClr val="000000"/>
              </a:solidFill>
              <a:latin typeface="Arial" panose="020B0604020202020204" pitchFamily="34" charset="0"/>
              <a:ea typeface="KaiTi"/>
              <a:cs typeface="Arial" panose="020B0604020202020204" pitchFamily="34" charset="0"/>
            </a:endParaRPr>
          </a:p>
        </p:txBody>
      </p:sp>
      <p:sp>
        <p:nvSpPr>
          <p:cNvPr id="24" name="Text Box 2">
            <a:extLst>
              <a:ext uri="{FF2B5EF4-FFF2-40B4-BE49-F238E27FC236}">
                <a16:creationId xmlns:a16="http://schemas.microsoft.com/office/drawing/2014/main" id="{642942EC-82B8-B461-9666-2300E812FBC7}"/>
              </a:ext>
            </a:extLst>
          </p:cNvPr>
          <p:cNvSpPr txBox="1">
            <a:spLocks noChangeArrowheads="1"/>
          </p:cNvSpPr>
          <p:nvPr/>
        </p:nvSpPr>
        <p:spPr bwMode="auto">
          <a:xfrm>
            <a:off x="4299885" y="1721548"/>
            <a:ext cx="2735952" cy="1631216"/>
          </a:xfrm>
          <a:prstGeom prst="rect">
            <a:avLst/>
          </a:prstGeom>
          <a:noFill/>
          <a:ln w="9525" algn="ctr">
            <a:noFill/>
            <a:miter lim="800000"/>
            <a:headEnd/>
            <a:tailEnd/>
          </a:ln>
          <a:effectLst>
            <a:prstShdw prst="shdw17" dist="17961" dir="2700000">
              <a:srgbClr val="868686">
                <a:gamma/>
                <a:shade val="60000"/>
                <a:invGamma/>
              </a:srgbClr>
            </a:prstShdw>
          </a:effectLst>
        </p:spPr>
        <p:txBody>
          <a:bodyPr wrap="square" lIns="90000">
            <a:spAutoFit/>
          </a:bodyPr>
          <a:lstStyle/>
          <a:p>
            <a:pPr marL="171455" marR="0" lvl="0" indent="-171455" defTabSz="914400" eaLnBrk="0" fontAlgn="auto" latinLnBrk="0" hangingPunct="0">
              <a:lnSpc>
                <a:spcPct val="100000"/>
              </a:lnSpc>
              <a:spcBef>
                <a:spcPts val="0"/>
              </a:spcBef>
              <a:spcAft>
                <a:spcPts val="1200"/>
              </a:spcAft>
              <a:buClr>
                <a:srgbClr val="000000"/>
              </a:buClr>
              <a:buSzTx/>
              <a:buFont typeface="Wingdings" pitchFamily="2" charset="2"/>
              <a:buChar char="§"/>
              <a:tabLst/>
              <a:defRPr/>
            </a:pPr>
            <a:r>
              <a:rPr kumimoji="0" lang="en-GB" sz="1000" i="0" u="none" strike="noStrike" kern="0" cap="none" spc="0" normalizeH="0" baseline="0" noProof="0">
                <a:ln>
                  <a:noFill/>
                </a:ln>
                <a:solidFill>
                  <a:srgbClr val="0D73BB"/>
                </a:solidFill>
                <a:effectLst/>
                <a:uLnTx/>
                <a:uFillTx/>
                <a:latin typeface="Arial" panose="020B0604020202020204" pitchFamily="34" charset="0"/>
                <a:ea typeface="KaiTi"/>
                <a:cs typeface="Arial" panose="020B0604020202020204" pitchFamily="34" charset="0"/>
              </a:rPr>
              <a:t>Overwhelming demand from DBS Private Bank </a:t>
            </a:r>
            <a:r>
              <a:rPr kumimoji="0" lang="en-SG" sz="1000" i="0" u="none" strike="noStrike" kern="0" cap="none" spc="0" normalizeH="0" baseline="0" noProof="0">
                <a:ln>
                  <a:noFill/>
                </a:ln>
                <a:solidFill>
                  <a:srgbClr val="0D73BB"/>
                </a:solidFill>
                <a:effectLst/>
                <a:uLnTx/>
                <a:uFillTx/>
                <a:latin typeface="Arial" panose="020B0604020202020204" pitchFamily="34" charset="0"/>
                <a:ea typeface="KaiTi"/>
                <a:cs typeface="Arial" panose="020B0604020202020204" pitchFamily="34" charset="0"/>
              </a:rPr>
              <a:t>drove 85.3% </a:t>
            </a:r>
            <a:r>
              <a:rPr kumimoji="0" lang="en-SG" sz="1000" b="0" i="0" u="none" strike="noStrike" kern="0" cap="none" spc="0" normalizeH="0" baseline="0" noProof="0">
                <a:ln>
                  <a:noFill/>
                </a:ln>
                <a:solidFill>
                  <a:srgbClr val="000000"/>
                </a:solidFill>
                <a:effectLst/>
                <a:uLnTx/>
                <a:uFillTx/>
                <a:latin typeface="Arial" panose="020B0604020202020204" pitchFamily="34" charset="0"/>
                <a:ea typeface="KaiTi"/>
                <a:cs typeface="Arial" panose="020B0604020202020204" pitchFamily="34" charset="0"/>
              </a:rPr>
              <a:t>of the private banking placement demand, far exceeding demand generated by its banking counterparts</a:t>
            </a:r>
          </a:p>
          <a:p>
            <a:pPr marL="171455" marR="0" lvl="0" indent="-171455" defTabSz="914400" eaLnBrk="0" fontAlgn="auto" latinLnBrk="0" hangingPunct="0">
              <a:lnSpc>
                <a:spcPct val="100000"/>
              </a:lnSpc>
              <a:spcBef>
                <a:spcPts val="0"/>
              </a:spcBef>
              <a:spcAft>
                <a:spcPts val="1200"/>
              </a:spcAft>
              <a:buClrTx/>
              <a:buSzTx/>
              <a:buFont typeface="Wingdings" pitchFamily="2" charset="2"/>
              <a:buChar char="§"/>
              <a:tabLst/>
              <a:defRPr/>
            </a:pPr>
            <a:r>
              <a:rPr kumimoji="0" lang="en-SG" sz="1000" b="0" i="0" u="none" strike="noStrike" kern="0" cap="none" spc="0" normalizeH="0" baseline="0" noProof="0">
                <a:ln>
                  <a:noFill/>
                </a:ln>
                <a:solidFill>
                  <a:srgbClr val="000000"/>
                </a:solidFill>
                <a:effectLst/>
                <a:uLnTx/>
                <a:uFillTx/>
                <a:latin typeface="Arial" panose="020B0604020202020204" pitchFamily="34" charset="0"/>
                <a:ea typeface="KaiTi"/>
                <a:cs typeface="Arial" panose="020B0604020202020204" pitchFamily="34" charset="0"/>
              </a:rPr>
              <a:t>Furthermore, DBS dominated retail demand generation for the IPO as it brought in 71% of retail demand in the public offer tranche</a:t>
            </a:r>
            <a:endParaRPr kumimoji="0" lang="en-US" sz="900" b="0" i="0" u="none" strike="noStrike" kern="0" cap="none" spc="0" normalizeH="0" baseline="0" noProof="0">
              <a:ln>
                <a:noFill/>
              </a:ln>
              <a:solidFill>
                <a:srgbClr val="000000"/>
              </a:solidFill>
              <a:effectLst/>
              <a:uLnTx/>
              <a:uFillTx/>
              <a:latin typeface="Arial" panose="020B0604020202020204" pitchFamily="34" charset="0"/>
              <a:ea typeface="KaiTi"/>
              <a:cs typeface="Arial" panose="020B0604020202020204" pitchFamily="34" charset="0"/>
            </a:endParaRPr>
          </a:p>
        </p:txBody>
      </p:sp>
      <p:sp>
        <p:nvSpPr>
          <p:cNvPr id="31" name="Text Box 2">
            <a:extLst>
              <a:ext uri="{FF2B5EF4-FFF2-40B4-BE49-F238E27FC236}">
                <a16:creationId xmlns:a16="http://schemas.microsoft.com/office/drawing/2014/main" id="{705EA4D6-5108-ED0A-5779-9A6BB94DDB39}"/>
              </a:ext>
            </a:extLst>
          </p:cNvPr>
          <p:cNvSpPr txBox="1">
            <a:spLocks noChangeArrowheads="1"/>
          </p:cNvSpPr>
          <p:nvPr/>
        </p:nvSpPr>
        <p:spPr bwMode="auto">
          <a:xfrm>
            <a:off x="4309509" y="4584401"/>
            <a:ext cx="2726327" cy="1477328"/>
          </a:xfrm>
          <a:prstGeom prst="rect">
            <a:avLst/>
          </a:prstGeom>
          <a:noFill/>
          <a:ln w="9525" algn="ctr">
            <a:noFill/>
            <a:miter lim="800000"/>
            <a:headEnd/>
            <a:tailEnd/>
          </a:ln>
          <a:effectLst>
            <a:prstShdw prst="shdw17" dist="17961" dir="2700000">
              <a:srgbClr val="868686">
                <a:gamma/>
                <a:shade val="60000"/>
                <a:invGamma/>
              </a:srgbClr>
            </a:prstShdw>
          </a:effectLst>
        </p:spPr>
        <p:txBody>
          <a:bodyPr wrap="square" lIns="90000">
            <a:spAutoFit/>
          </a:bodyPr>
          <a:lstStyle/>
          <a:p>
            <a:pPr marL="171455" marR="0" lvl="0" indent="-171455" defTabSz="914400" eaLnBrk="0" fontAlgn="auto" latinLnBrk="0" hangingPunct="0">
              <a:lnSpc>
                <a:spcPct val="100000"/>
              </a:lnSpc>
              <a:spcBef>
                <a:spcPts val="0"/>
              </a:spcBef>
              <a:spcAft>
                <a:spcPts val="1200"/>
              </a:spcAft>
              <a:buClr>
                <a:srgbClr val="000000"/>
              </a:buClr>
              <a:buSzTx/>
              <a:buFont typeface="Wingdings" pitchFamily="2" charset="2"/>
              <a:buChar char="§"/>
              <a:tabLst/>
              <a:defRPr/>
            </a:pPr>
            <a:r>
              <a:rPr kumimoji="0" lang="en-US" sz="1000" i="0" u="none" strike="noStrike" kern="0" cap="none" spc="0" normalizeH="0" baseline="0" noProof="0">
                <a:ln>
                  <a:noFill/>
                </a:ln>
                <a:solidFill>
                  <a:srgbClr val="0D73BB"/>
                </a:solidFill>
                <a:effectLst/>
                <a:uLnTx/>
                <a:uFillTx/>
                <a:latin typeface="Arial" panose="020B0604020202020204" pitchFamily="34" charset="0"/>
                <a:ea typeface="KaiTi"/>
                <a:cs typeface="Arial" panose="020B0604020202020204" pitchFamily="34" charset="0"/>
              </a:rPr>
              <a:t>DBS Private Bank generated 42.0% of the total demand from high networth investors, </a:t>
            </a: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KaiTi"/>
                <a:cs typeface="Arial" panose="020B0604020202020204" pitchFamily="34" charset="0"/>
              </a:rPr>
              <a:t>which represents a significant step above other banks</a:t>
            </a:r>
          </a:p>
          <a:p>
            <a:pPr marL="171455" marR="0" lvl="0" indent="-171455" defTabSz="914400" eaLnBrk="0" fontAlgn="auto" latinLnBrk="0" hangingPunct="0">
              <a:lnSpc>
                <a:spcPct val="100000"/>
              </a:lnSpc>
              <a:spcBef>
                <a:spcPts val="0"/>
              </a:spcBef>
              <a:spcAft>
                <a:spcPts val="1200"/>
              </a:spcAft>
              <a:buClrTx/>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Arial" panose="020B0604020202020204" pitchFamily="34" charset="0"/>
                <a:ea typeface="KaiTi"/>
                <a:cs typeface="Arial" panose="020B0604020202020204" pitchFamily="34" charset="0"/>
              </a:rPr>
              <a:t>This contributed meaningfully to the success of the transaction as PB ultimately contributed almost half (i.e. 45.2%) of the total allocation</a:t>
            </a:r>
          </a:p>
        </p:txBody>
      </p:sp>
      <p:sp>
        <p:nvSpPr>
          <p:cNvPr id="29" name="TextBox 12">
            <a:extLst>
              <a:ext uri="{FF2B5EF4-FFF2-40B4-BE49-F238E27FC236}">
                <a16:creationId xmlns:a16="http://schemas.microsoft.com/office/drawing/2014/main" id="{00C0FF87-006D-660A-F2C3-A742B3F46FAA}"/>
              </a:ext>
            </a:extLst>
          </p:cNvPr>
          <p:cNvSpPr txBox="1">
            <a:spLocks noChangeArrowheads="1"/>
          </p:cNvSpPr>
          <p:nvPr/>
        </p:nvSpPr>
        <p:spPr bwMode="auto">
          <a:xfrm>
            <a:off x="7772098" y="5100686"/>
            <a:ext cx="939845" cy="435501"/>
          </a:xfrm>
          <a:prstGeom prst="roundRect">
            <a:avLst/>
          </a:prstGeom>
          <a:noFill/>
          <a:ln w="19050" cap="flat" cmpd="sng" algn="ctr">
            <a:noFill/>
            <a:prstDash val="solid"/>
            <a:miter lim="800000"/>
            <a:headEnd/>
            <a:tailEnd/>
          </a:ln>
          <a:effectLst/>
        </p:spPr>
        <p:txBody>
          <a:bodyPr wrap="square" lIns="36000" tIns="36000" rIns="36000" bIns="36000">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100" i="0" u="none" strike="noStrike" kern="0" cap="none" spc="0" normalizeH="0" baseline="0">
                <a:ln>
                  <a:noFill/>
                </a:ln>
                <a:solidFill>
                  <a:schemeClr val="tx1"/>
                </a:solidFill>
                <a:effectLst/>
                <a:uLnTx/>
                <a:uFillTx/>
                <a:latin typeface="Arial" panose="020B0604020202020204" pitchFamily="34" charset="0"/>
                <a:ea typeface="KaiTi"/>
                <a:cs typeface="Arial" panose="020B0604020202020204" pitchFamily="34" charset="0"/>
              </a:defRPr>
            </a:lvl1pPr>
          </a:lstStyle>
          <a:p>
            <a:r>
              <a:rPr lang="en-US"/>
              <a:t>PB demand</a:t>
            </a:r>
          </a:p>
          <a:p>
            <a:r>
              <a:rPr lang="en-US"/>
              <a:t>by bank</a:t>
            </a:r>
          </a:p>
        </p:txBody>
      </p:sp>
      <p:pic>
        <p:nvPicPr>
          <p:cNvPr id="6" name="Picture 5">
            <a:extLst>
              <a:ext uri="{FF2B5EF4-FFF2-40B4-BE49-F238E27FC236}">
                <a16:creationId xmlns:a16="http://schemas.microsoft.com/office/drawing/2014/main" id="{808ACAF5-C69A-F88F-BD8B-38B02DEFBD9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071034" y="1915025"/>
            <a:ext cx="759739" cy="709090"/>
          </a:xfrm>
          <a:prstGeom prst="rect">
            <a:avLst/>
          </a:prstGeom>
        </p:spPr>
      </p:pic>
      <p:sp>
        <p:nvSpPr>
          <p:cNvPr id="7" name="Rectangle 6">
            <a:extLst>
              <a:ext uri="{FF2B5EF4-FFF2-40B4-BE49-F238E27FC236}">
                <a16:creationId xmlns:a16="http://schemas.microsoft.com/office/drawing/2014/main" id="{F8259D32-6AF2-B80E-5512-DDAB69613B68}"/>
              </a:ext>
            </a:extLst>
          </p:cNvPr>
          <p:cNvSpPr/>
          <p:nvPr/>
        </p:nvSpPr>
        <p:spPr>
          <a:xfrm>
            <a:off x="394943" y="2680400"/>
            <a:ext cx="3240000" cy="2064855"/>
          </a:xfrm>
          <a:prstGeom prst="rect">
            <a:avLst/>
          </a:prstGeom>
        </p:spPr>
        <p:txBody>
          <a:bodyPr wrap="square" lIns="36000" tIns="36000" rIns="36000" bIns="36000">
            <a:noAutofit/>
          </a:bodyPr>
          <a:lstStyle/>
          <a:p>
            <a:pPr marL="0" lvl="1">
              <a:spcBef>
                <a:spcPts val="0"/>
              </a:spcBef>
              <a:spcAft>
                <a:spcPts val="0"/>
              </a:spcAft>
              <a:buClr>
                <a:srgbClr val="FE7917"/>
              </a:buClr>
              <a:tabLst>
                <a:tab pos="168524" algn="l"/>
              </a:tabLst>
              <a:defRPr/>
            </a:pPr>
            <a:r>
              <a:rPr lang="en-SG" sz="1100">
                <a:solidFill>
                  <a:schemeClr val="tx1"/>
                </a:solidFill>
                <a:latin typeface="Arial" panose="020B0604020202020204" pitchFamily="34" charset="0"/>
                <a:ea typeface="KaiTi"/>
                <a:cs typeface="Arial" panose="020B0604020202020204" pitchFamily="34" charset="0"/>
              </a:rPr>
              <a:t>2024</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World’s Best for HNW</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Asia’s Best Private Bank</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Singapore’s Best Domestic Private Bank</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for Family Office</a:t>
            </a:r>
            <a:r>
              <a:rPr lang="en-US" sz="900" b="0">
                <a:solidFill>
                  <a:srgbClr val="000000"/>
                </a:solidFill>
                <a:latin typeface="Arial" panose="020B0604020202020204" pitchFamily="34" charset="0"/>
                <a:ea typeface="KaiTi"/>
                <a:cs typeface="Arial" panose="020B0604020202020204" pitchFamily="34" charset="0"/>
              </a:rPr>
              <a:t> Services (Asia)</a:t>
            </a:r>
          </a:p>
          <a:p>
            <a:pPr marL="0" lvl="1" indent="-168524">
              <a:spcBef>
                <a:spcPts val="200"/>
              </a:spcBef>
              <a:spcAft>
                <a:spcPts val="200"/>
              </a:spcAft>
              <a:buClr>
                <a:srgbClr val="06B6EC"/>
              </a:buClr>
              <a:buFont typeface="Wingdings 2" pitchFamily="18" charset="2"/>
              <a:buChar char="R"/>
              <a:tabLst>
                <a:tab pos="168524" algn="l"/>
              </a:tabLst>
              <a:defRPr/>
            </a:pPr>
            <a:r>
              <a:rPr lang="en-US" sz="900" b="0">
                <a:solidFill>
                  <a:srgbClr val="000000"/>
                </a:solidFill>
                <a:latin typeface="Arial" panose="020B0604020202020204" pitchFamily="34" charset="0"/>
                <a:ea typeface="KaiTi"/>
                <a:cs typeface="Arial" panose="020B0604020202020204" pitchFamily="34" charset="0"/>
              </a:rPr>
              <a:t>Best for High Net-Worth Individuals (Asia)</a:t>
            </a:r>
          </a:p>
          <a:p>
            <a:pPr marL="0" lvl="1" indent="-168524">
              <a:spcBef>
                <a:spcPts val="200"/>
              </a:spcBef>
              <a:spcAft>
                <a:spcPts val="200"/>
              </a:spcAft>
              <a:buClr>
                <a:srgbClr val="06B6EC"/>
              </a:buClr>
              <a:buFont typeface="Wingdings 2" pitchFamily="18" charset="2"/>
              <a:buChar char="R"/>
              <a:tabLst>
                <a:tab pos="168524" algn="l"/>
              </a:tabLst>
              <a:defRPr/>
            </a:pPr>
            <a:r>
              <a:rPr lang="en-US" sz="900" b="0">
                <a:solidFill>
                  <a:srgbClr val="000000"/>
                </a:solidFill>
                <a:latin typeface="Arial" panose="020B0604020202020204" pitchFamily="34" charset="0"/>
                <a:ea typeface="KaiTi"/>
                <a:cs typeface="Arial" panose="020B0604020202020204" pitchFamily="34" charset="0"/>
              </a:rPr>
              <a:t>Best Private Bank – Family Offices</a:t>
            </a:r>
          </a:p>
          <a:p>
            <a:pPr marL="0" lvl="1" indent="-168524">
              <a:spcBef>
                <a:spcPts val="200"/>
              </a:spcBef>
              <a:spcAft>
                <a:spcPts val="200"/>
              </a:spcAft>
              <a:buClr>
                <a:srgbClr val="06B6EC"/>
              </a:buClr>
              <a:buFont typeface="Wingdings 2" pitchFamily="18" charset="2"/>
              <a:buChar char="R"/>
              <a:tabLst>
                <a:tab pos="168524" algn="l"/>
              </a:tabLst>
              <a:defRPr/>
            </a:pPr>
            <a:r>
              <a:rPr lang="en-US" sz="900" b="0">
                <a:solidFill>
                  <a:srgbClr val="000000"/>
                </a:solidFill>
                <a:latin typeface="Arial" panose="020B0604020202020204" pitchFamily="34" charset="0"/>
                <a:ea typeface="KaiTi"/>
                <a:cs typeface="Arial" panose="020B0604020202020204" pitchFamily="34" charset="0"/>
              </a:rPr>
              <a:t>Best Private Bank – Asea</a:t>
            </a:r>
          </a:p>
          <a:p>
            <a:pPr marL="0" lvl="1" indent="-168524">
              <a:spcBef>
                <a:spcPts val="200"/>
              </a:spcBef>
              <a:spcAft>
                <a:spcPts val="200"/>
              </a:spcAft>
              <a:buClr>
                <a:srgbClr val="06B6EC"/>
              </a:buClr>
              <a:buFont typeface="Wingdings 2" pitchFamily="18" charset="2"/>
              <a:buChar char="R"/>
              <a:tabLst>
                <a:tab pos="168524" algn="l"/>
              </a:tabLst>
              <a:defRPr/>
            </a:pPr>
            <a:r>
              <a:rPr lang="en-US" sz="900" b="0">
                <a:solidFill>
                  <a:srgbClr val="000000"/>
                </a:solidFill>
                <a:latin typeface="Arial" panose="020B0604020202020204" pitchFamily="34" charset="0"/>
                <a:ea typeface="KaiTi"/>
                <a:cs typeface="Arial" panose="020B0604020202020204" pitchFamily="34" charset="0"/>
              </a:rPr>
              <a:t>Best Wealth Manager – Asia</a:t>
            </a:r>
          </a:p>
          <a:p>
            <a:pPr marL="0" lvl="1" indent="-168524">
              <a:spcBef>
                <a:spcPts val="200"/>
              </a:spcBef>
              <a:spcAft>
                <a:spcPts val="200"/>
              </a:spcAft>
              <a:buClr>
                <a:srgbClr val="06B6EC"/>
              </a:buClr>
              <a:buFont typeface="Wingdings 2" pitchFamily="18" charset="2"/>
              <a:buChar char="R"/>
              <a:tabLst>
                <a:tab pos="168524" algn="l"/>
              </a:tabLst>
              <a:defRPr/>
            </a:pPr>
            <a:r>
              <a:rPr lang="en-US" sz="900" b="0">
                <a:solidFill>
                  <a:srgbClr val="000000"/>
                </a:solidFill>
                <a:latin typeface="Arial" panose="020B0604020202020204" pitchFamily="34" charset="0"/>
                <a:ea typeface="KaiTi"/>
                <a:cs typeface="Arial" panose="020B0604020202020204" pitchFamily="34" charset="0"/>
              </a:rPr>
              <a:t>Best Private Bank – Singapore</a:t>
            </a:r>
          </a:p>
          <a:p>
            <a:pPr marL="0" lvl="1" indent="-168524">
              <a:spcBef>
                <a:spcPts val="200"/>
              </a:spcBef>
              <a:spcAft>
                <a:spcPts val="200"/>
              </a:spcAft>
              <a:buClr>
                <a:srgbClr val="06B6EC"/>
              </a:buClr>
              <a:buFont typeface="Wingdings 2" pitchFamily="18" charset="2"/>
              <a:buChar char="R"/>
              <a:tabLst>
                <a:tab pos="168524" algn="l"/>
              </a:tabLst>
              <a:defRPr/>
            </a:pPr>
            <a:r>
              <a:rPr lang="en-US" sz="900" b="0">
                <a:solidFill>
                  <a:srgbClr val="000000"/>
                </a:solidFill>
                <a:latin typeface="Arial" panose="020B0604020202020204" pitchFamily="34" charset="0"/>
                <a:ea typeface="KaiTi"/>
                <a:cs typeface="Arial" panose="020B0604020202020204" pitchFamily="34" charset="0"/>
              </a:rPr>
              <a:t>Best Private Bank – Hong Kong</a:t>
            </a:r>
            <a:endParaRPr lang="en-SG" sz="1000" b="0">
              <a:solidFill>
                <a:srgbClr val="000000"/>
              </a:solidFill>
              <a:latin typeface="Arial" panose="020B0604020202020204" pitchFamily="34" charset="0"/>
              <a:ea typeface="KaiTi"/>
              <a:cs typeface="Arial" panose="020B0604020202020204" pitchFamily="34" charset="0"/>
            </a:endParaRPr>
          </a:p>
        </p:txBody>
      </p:sp>
      <p:sp>
        <p:nvSpPr>
          <p:cNvPr id="44" name="Rectangle 43">
            <a:extLst>
              <a:ext uri="{FF2B5EF4-FFF2-40B4-BE49-F238E27FC236}">
                <a16:creationId xmlns:a16="http://schemas.microsoft.com/office/drawing/2014/main" id="{26AE4C2D-57CF-3F4D-2121-4375E60A4BCE}"/>
              </a:ext>
            </a:extLst>
          </p:cNvPr>
          <p:cNvSpPr/>
          <p:nvPr/>
        </p:nvSpPr>
        <p:spPr>
          <a:xfrm>
            <a:off x="394943" y="4784156"/>
            <a:ext cx="3240000" cy="1530018"/>
          </a:xfrm>
          <a:prstGeom prst="rect">
            <a:avLst/>
          </a:prstGeom>
        </p:spPr>
        <p:txBody>
          <a:bodyPr wrap="square" lIns="36000" tIns="36000" rIns="36000" bIns="36000">
            <a:noAutofit/>
          </a:bodyPr>
          <a:lstStyle/>
          <a:p>
            <a:pPr marL="0" lvl="1">
              <a:spcBef>
                <a:spcPts val="0"/>
              </a:spcBef>
              <a:spcAft>
                <a:spcPts val="0"/>
              </a:spcAft>
              <a:buClr>
                <a:srgbClr val="FE7917"/>
              </a:buClr>
              <a:tabLst>
                <a:tab pos="168524" algn="l"/>
              </a:tabLst>
              <a:defRPr/>
            </a:pPr>
            <a:r>
              <a:rPr lang="en-SG" sz="1100">
                <a:solidFill>
                  <a:schemeClr val="tx1"/>
                </a:solidFill>
                <a:latin typeface="Arial" panose="020B0604020202020204" pitchFamily="34" charset="0"/>
                <a:ea typeface="KaiTi"/>
                <a:cs typeface="Arial" panose="020B0604020202020204" pitchFamily="34" charset="0"/>
              </a:rPr>
              <a:t>2023</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Private Bank (Singapore UHNW and HNW)</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Asian Private Bank – Regional</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Domestic Private Bank – Singapore</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International Private Bank (Taiwan)</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Private Bank – Asia-Pacific</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Private Bank – Asia</a:t>
            </a:r>
          </a:p>
          <a:p>
            <a:pPr marL="0" lvl="1" indent="-168524">
              <a:spcBef>
                <a:spcPts val="200"/>
              </a:spcBef>
              <a:spcAft>
                <a:spcPts val="200"/>
              </a:spcAft>
              <a:buClr>
                <a:srgbClr val="06B6EC"/>
              </a:buClr>
              <a:buFont typeface="Wingdings 2" pitchFamily="18" charset="2"/>
              <a:buChar char="R"/>
              <a:tabLst>
                <a:tab pos="168524" algn="l"/>
              </a:tabLst>
              <a:defRPr/>
            </a:pPr>
            <a:r>
              <a:rPr lang="en-SG" sz="900" b="0">
                <a:solidFill>
                  <a:srgbClr val="000000"/>
                </a:solidFill>
                <a:latin typeface="Arial" panose="020B0604020202020204" pitchFamily="34" charset="0"/>
                <a:ea typeface="KaiTi"/>
                <a:cs typeface="Arial" panose="020B0604020202020204" pitchFamily="34" charset="0"/>
              </a:rPr>
              <a:t>Best Private Bank for HNWIs - Asia</a:t>
            </a:r>
            <a:endParaRPr lang="en-SG" sz="1000" b="0">
              <a:solidFill>
                <a:srgbClr val="000000"/>
              </a:solidFill>
              <a:latin typeface="Arial" panose="020B0604020202020204" pitchFamily="34" charset="0"/>
              <a:ea typeface="KaiTi"/>
              <a:cs typeface="Arial" panose="020B0604020202020204" pitchFamily="34" charset="0"/>
            </a:endParaRPr>
          </a:p>
        </p:txBody>
      </p:sp>
      <p:pic>
        <p:nvPicPr>
          <p:cNvPr id="45" name="Picture 44">
            <a:extLst>
              <a:ext uri="{FF2B5EF4-FFF2-40B4-BE49-F238E27FC236}">
                <a16:creationId xmlns:a16="http://schemas.microsoft.com/office/drawing/2014/main" id="{CF5FCD13-8D39-04DA-6F1A-CD7D1A81401D}"/>
              </a:ext>
            </a:extLst>
          </p:cNvPr>
          <p:cNvPicPr>
            <a:picLocks noChangeAspect="1"/>
          </p:cNvPicPr>
          <p:nvPr/>
        </p:nvPicPr>
        <p:blipFill>
          <a:blip r:embed="rId3"/>
          <a:stretch>
            <a:fillRect/>
          </a:stretch>
        </p:blipFill>
        <p:spPr>
          <a:xfrm>
            <a:off x="3123832" y="3806239"/>
            <a:ext cx="629018" cy="628776"/>
          </a:xfrm>
          <a:prstGeom prst="rect">
            <a:avLst/>
          </a:prstGeom>
        </p:spPr>
      </p:pic>
      <p:pic>
        <p:nvPicPr>
          <p:cNvPr id="46" name="Picture 45">
            <a:extLst>
              <a:ext uri="{FF2B5EF4-FFF2-40B4-BE49-F238E27FC236}">
                <a16:creationId xmlns:a16="http://schemas.microsoft.com/office/drawing/2014/main" id="{2B78A3BA-2335-7475-12D1-2BC3BA25F9F9}"/>
              </a:ext>
            </a:extLst>
          </p:cNvPr>
          <p:cNvPicPr>
            <a:picLocks noChangeAspect="1"/>
          </p:cNvPicPr>
          <p:nvPr/>
        </p:nvPicPr>
        <p:blipFill>
          <a:blip r:embed="rId4"/>
          <a:stretch>
            <a:fillRect/>
          </a:stretch>
        </p:blipFill>
        <p:spPr>
          <a:xfrm>
            <a:off x="2883569" y="3507121"/>
            <a:ext cx="1222408" cy="209610"/>
          </a:xfrm>
          <a:prstGeom prst="rect">
            <a:avLst/>
          </a:prstGeom>
        </p:spPr>
      </p:pic>
      <p:pic>
        <p:nvPicPr>
          <p:cNvPr id="47" name="Picture 46">
            <a:extLst>
              <a:ext uri="{FF2B5EF4-FFF2-40B4-BE49-F238E27FC236}">
                <a16:creationId xmlns:a16="http://schemas.microsoft.com/office/drawing/2014/main" id="{09E57B1D-FED6-1C83-D4C4-5F14F32E0B53}"/>
              </a:ext>
            </a:extLst>
          </p:cNvPr>
          <p:cNvPicPr>
            <a:picLocks noChangeAspect="1"/>
          </p:cNvPicPr>
          <p:nvPr/>
        </p:nvPicPr>
        <p:blipFill>
          <a:blip r:embed="rId5">
            <a:clrChange>
              <a:clrFrom>
                <a:srgbClr val="FFFFFF"/>
              </a:clrFrom>
              <a:clrTo>
                <a:srgbClr val="FFFFFF">
                  <a:alpha val="0"/>
                </a:srgbClr>
              </a:clrTo>
            </a:clrChange>
          </a:blip>
          <a:srcRect l="5540" t="26147" r="6347" b="32522"/>
          <a:stretch>
            <a:fillRect/>
          </a:stretch>
        </p:blipFill>
        <p:spPr>
          <a:xfrm>
            <a:off x="3011805" y="4465558"/>
            <a:ext cx="904875" cy="237687"/>
          </a:xfrm>
          <a:prstGeom prst="rect">
            <a:avLst/>
          </a:prstGeom>
          <a:ln>
            <a:noFill/>
          </a:ln>
        </p:spPr>
      </p:pic>
      <p:pic>
        <p:nvPicPr>
          <p:cNvPr id="48" name="Picture 47">
            <a:extLst>
              <a:ext uri="{FF2B5EF4-FFF2-40B4-BE49-F238E27FC236}">
                <a16:creationId xmlns:a16="http://schemas.microsoft.com/office/drawing/2014/main" id="{3749A417-0218-59E1-93F4-9B388A89B451}"/>
              </a:ext>
            </a:extLst>
          </p:cNvPr>
          <p:cNvPicPr>
            <a:picLocks noChangeAspect="1"/>
          </p:cNvPicPr>
          <p:nvPr/>
        </p:nvPicPr>
        <p:blipFill>
          <a:blip r:embed="rId6">
            <a:clrChange>
              <a:clrFrom>
                <a:srgbClr val="FFFFFF"/>
              </a:clrFrom>
              <a:clrTo>
                <a:srgbClr val="FFFFFF">
                  <a:alpha val="0"/>
                </a:srgbClr>
              </a:clrTo>
            </a:clrChange>
          </a:blip>
          <a:srcRect l="20754" r="21698"/>
          <a:stretch>
            <a:fillRect/>
          </a:stretch>
        </p:blipFill>
        <p:spPr>
          <a:xfrm>
            <a:off x="3019425" y="2753124"/>
            <a:ext cx="842303" cy="731837"/>
          </a:xfrm>
          <a:prstGeom prst="rect">
            <a:avLst/>
          </a:prstGeom>
        </p:spPr>
      </p:pic>
      <p:pic>
        <p:nvPicPr>
          <p:cNvPr id="49" name="Picture 48">
            <a:extLst>
              <a:ext uri="{FF2B5EF4-FFF2-40B4-BE49-F238E27FC236}">
                <a16:creationId xmlns:a16="http://schemas.microsoft.com/office/drawing/2014/main" id="{4A9BCD02-D3BC-AE8D-B5D6-275C16EE1F62}"/>
              </a:ext>
            </a:extLst>
          </p:cNvPr>
          <p:cNvPicPr>
            <a:picLocks noChangeAspect="1"/>
          </p:cNvPicPr>
          <p:nvPr/>
        </p:nvPicPr>
        <p:blipFill>
          <a:blip r:embed="rId4"/>
          <a:stretch>
            <a:fillRect/>
          </a:stretch>
        </p:blipFill>
        <p:spPr>
          <a:xfrm>
            <a:off x="2874044" y="5109125"/>
            <a:ext cx="1222408" cy="209610"/>
          </a:xfrm>
          <a:prstGeom prst="rect">
            <a:avLst/>
          </a:prstGeom>
        </p:spPr>
      </p:pic>
      <p:pic>
        <p:nvPicPr>
          <p:cNvPr id="50" name="Picture 49">
            <a:extLst>
              <a:ext uri="{FF2B5EF4-FFF2-40B4-BE49-F238E27FC236}">
                <a16:creationId xmlns:a16="http://schemas.microsoft.com/office/drawing/2014/main" id="{93C25D56-30E0-D308-82AD-D36D5BEA57DC}"/>
              </a:ext>
            </a:extLst>
          </p:cNvPr>
          <p:cNvPicPr>
            <a:picLocks noChangeAspect="1"/>
          </p:cNvPicPr>
          <p:nvPr/>
        </p:nvPicPr>
        <p:blipFill>
          <a:blip r:embed="rId3"/>
          <a:stretch>
            <a:fillRect/>
          </a:stretch>
        </p:blipFill>
        <p:spPr>
          <a:xfrm>
            <a:off x="3220987" y="5899959"/>
            <a:ext cx="436613" cy="436445"/>
          </a:xfrm>
          <a:prstGeom prst="rect">
            <a:avLst/>
          </a:prstGeom>
        </p:spPr>
      </p:pic>
      <p:pic>
        <p:nvPicPr>
          <p:cNvPr id="51" name="Picture 50">
            <a:extLst>
              <a:ext uri="{FF2B5EF4-FFF2-40B4-BE49-F238E27FC236}">
                <a16:creationId xmlns:a16="http://schemas.microsoft.com/office/drawing/2014/main" id="{F10B4050-515B-22B3-72F2-B398DCFF6BAE}"/>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3094673" y="5625802"/>
            <a:ext cx="639127" cy="231319"/>
          </a:xfrm>
          <a:prstGeom prst="rect">
            <a:avLst/>
          </a:prstGeom>
        </p:spPr>
      </p:pic>
      <p:graphicFrame>
        <p:nvGraphicFramePr>
          <p:cNvPr id="54" name="Chart 53">
            <a:extLst>
              <a:ext uri="{FF2B5EF4-FFF2-40B4-BE49-F238E27FC236}">
                <a16:creationId xmlns:a16="http://schemas.microsoft.com/office/drawing/2014/main" id="{5363AD89-E897-A787-7AC6-3209AD2A139E}"/>
              </a:ext>
            </a:extLst>
          </p:cNvPr>
          <p:cNvGraphicFramePr/>
          <p:nvPr/>
        </p:nvGraphicFramePr>
        <p:xfrm>
          <a:off x="7002572" y="1610793"/>
          <a:ext cx="2429912" cy="1980688"/>
        </p:xfrm>
        <a:graphic>
          <a:graphicData uri="http://schemas.openxmlformats.org/drawingml/2006/chart">
            <c:chart xmlns:c="http://schemas.openxmlformats.org/drawingml/2006/chart" xmlns:r="http://schemas.openxmlformats.org/officeDocument/2006/relationships" r:id="rId8"/>
          </a:graphicData>
        </a:graphic>
      </p:graphicFrame>
      <p:pic>
        <p:nvPicPr>
          <p:cNvPr id="52" name="Picture 51">
            <a:extLst>
              <a:ext uri="{FF2B5EF4-FFF2-40B4-BE49-F238E27FC236}">
                <a16:creationId xmlns:a16="http://schemas.microsoft.com/office/drawing/2014/main" id="{A577CFE8-1C43-D3D3-BF0A-7451FAE57D7F}"/>
              </a:ext>
            </a:extLst>
          </p:cNvPr>
          <p:cNvPicPr>
            <a:picLocks noChangeAspect="1"/>
          </p:cNvPicPr>
          <p:nvPr/>
        </p:nvPicPr>
        <p:blipFill>
          <a:blip r:embed="rId9">
            <a:clrChange>
              <a:clrFrom>
                <a:srgbClr val="FFFFFF"/>
              </a:clrFrom>
              <a:clrTo>
                <a:srgbClr val="FFFFFF">
                  <a:alpha val="0"/>
                </a:srgbClr>
              </a:clrTo>
            </a:clrChange>
          </a:blip>
          <a:srcRect l="25653" t="16390" r="26187" b="29684"/>
          <a:stretch>
            <a:fillRect/>
          </a:stretch>
        </p:blipFill>
        <p:spPr>
          <a:xfrm>
            <a:off x="3198396" y="5289030"/>
            <a:ext cx="480059" cy="303815"/>
          </a:xfrm>
          <a:prstGeom prst="rect">
            <a:avLst/>
          </a:prstGeom>
        </p:spPr>
      </p:pic>
      <p:graphicFrame>
        <p:nvGraphicFramePr>
          <p:cNvPr id="55" name="Chart 54">
            <a:extLst>
              <a:ext uri="{FF2B5EF4-FFF2-40B4-BE49-F238E27FC236}">
                <a16:creationId xmlns:a16="http://schemas.microsoft.com/office/drawing/2014/main" id="{95EEFFA9-EB13-3E90-FCCC-9716D7A6E25A}"/>
              </a:ext>
            </a:extLst>
          </p:cNvPr>
          <p:cNvGraphicFramePr/>
          <p:nvPr/>
        </p:nvGraphicFramePr>
        <p:xfrm>
          <a:off x="7012198" y="4333486"/>
          <a:ext cx="2429912" cy="1980688"/>
        </p:xfrm>
        <a:graphic>
          <a:graphicData uri="http://schemas.openxmlformats.org/drawingml/2006/chart">
            <c:chart xmlns:c="http://schemas.openxmlformats.org/drawingml/2006/chart" xmlns:r="http://schemas.openxmlformats.org/officeDocument/2006/relationships" r:id="rId10"/>
          </a:graphicData>
        </a:graphic>
      </p:graphicFrame>
      <p:pic>
        <p:nvPicPr>
          <p:cNvPr id="57" name="Picture 56">
            <a:extLst>
              <a:ext uri="{FF2B5EF4-FFF2-40B4-BE49-F238E27FC236}">
                <a16:creationId xmlns:a16="http://schemas.microsoft.com/office/drawing/2014/main" id="{CEC6527A-6B1B-B675-5765-D165E58FA6FF}"/>
              </a:ext>
            </a:extLst>
          </p:cNvPr>
          <p:cNvPicPr>
            <a:picLocks noChangeAspect="1"/>
          </p:cNvPicPr>
          <p:nvPr/>
        </p:nvPicPr>
        <p:blipFill>
          <a:blip r:embed="rId11"/>
          <a:stretch>
            <a:fillRect/>
          </a:stretch>
        </p:blipFill>
        <p:spPr>
          <a:xfrm>
            <a:off x="6377149" y="3844127"/>
            <a:ext cx="1086830" cy="477944"/>
          </a:xfrm>
          <a:prstGeom prst="rect">
            <a:avLst/>
          </a:prstGeom>
        </p:spPr>
      </p:pic>
      <p:pic>
        <p:nvPicPr>
          <p:cNvPr id="60" name="Picture 59">
            <a:extLst>
              <a:ext uri="{FF2B5EF4-FFF2-40B4-BE49-F238E27FC236}">
                <a16:creationId xmlns:a16="http://schemas.microsoft.com/office/drawing/2014/main" id="{09744A79-1AEE-0131-3C34-280D4CDFD59E}"/>
              </a:ext>
            </a:extLst>
          </p:cNvPr>
          <p:cNvPicPr>
            <a:picLocks noChangeAspect="1"/>
          </p:cNvPicPr>
          <p:nvPr/>
        </p:nvPicPr>
        <p:blipFill rotWithShape="1">
          <a:blip r:embed="rId12"/>
          <a:srcRect t="35161" b="35982"/>
          <a:stretch/>
        </p:blipFill>
        <p:spPr>
          <a:xfrm>
            <a:off x="6296799" y="1209574"/>
            <a:ext cx="1247530" cy="360000"/>
          </a:xfrm>
          <a:prstGeom prst="rect">
            <a:avLst/>
          </a:prstGeom>
          <a:effectLst>
            <a:outerShdw blurRad="50800" dist="38100" dir="2700000" algn="ctr" rotWithShape="0">
              <a:schemeClr val="tx1">
                <a:alpha val="10000"/>
              </a:schemeClr>
            </a:outerShdw>
          </a:effectLst>
        </p:spPr>
      </p:pic>
      <p:sp>
        <p:nvSpPr>
          <p:cNvPr id="61" name="TextBox 12">
            <a:extLst>
              <a:ext uri="{FF2B5EF4-FFF2-40B4-BE49-F238E27FC236}">
                <a16:creationId xmlns:a16="http://schemas.microsoft.com/office/drawing/2014/main" id="{6A1E4199-DBFE-515F-C23F-163D1B513428}"/>
              </a:ext>
            </a:extLst>
          </p:cNvPr>
          <p:cNvSpPr txBox="1">
            <a:spLocks noChangeArrowheads="1"/>
          </p:cNvSpPr>
          <p:nvPr/>
        </p:nvSpPr>
        <p:spPr bwMode="auto">
          <a:xfrm>
            <a:off x="7772098" y="2403301"/>
            <a:ext cx="939845" cy="435501"/>
          </a:xfrm>
          <a:prstGeom prst="roundRect">
            <a:avLst/>
          </a:prstGeom>
          <a:noFill/>
          <a:ln w="19050" cap="flat" cmpd="sng" algn="ctr">
            <a:noFill/>
            <a:prstDash val="solid"/>
            <a:miter lim="800000"/>
            <a:headEnd/>
            <a:tailEnd/>
          </a:ln>
          <a:effectLst/>
        </p:spPr>
        <p:txBody>
          <a:bodyPr wrap="square" lIns="36000" tIns="36000" rIns="36000" bIns="36000">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100" i="0" u="none" strike="noStrike" kern="0" cap="none" spc="0" normalizeH="0" baseline="0">
                <a:ln>
                  <a:noFill/>
                </a:ln>
                <a:solidFill>
                  <a:schemeClr val="tx1"/>
                </a:solidFill>
                <a:effectLst/>
                <a:uLnTx/>
                <a:uFillTx/>
                <a:latin typeface="Arial" panose="020B0604020202020204" pitchFamily="34" charset="0"/>
                <a:ea typeface="KaiTi"/>
                <a:cs typeface="Arial" panose="020B0604020202020204" pitchFamily="34" charset="0"/>
              </a:defRPr>
            </a:lvl1pPr>
          </a:lstStyle>
          <a:p>
            <a:r>
              <a:rPr lang="en-US"/>
              <a:t>PB demand</a:t>
            </a:r>
          </a:p>
          <a:p>
            <a:r>
              <a:rPr lang="en-US"/>
              <a:t>by bank</a:t>
            </a:r>
          </a:p>
        </p:txBody>
      </p:sp>
      <p:sp>
        <p:nvSpPr>
          <p:cNvPr id="9" name="Slide Number Placeholder 8">
            <a:extLst>
              <a:ext uri="{FF2B5EF4-FFF2-40B4-BE49-F238E27FC236}">
                <a16:creationId xmlns:a16="http://schemas.microsoft.com/office/drawing/2014/main" id="{4450E21B-6B46-E469-A9D2-3253160D3166}"/>
              </a:ext>
            </a:extLst>
          </p:cNvPr>
          <p:cNvSpPr>
            <a:spLocks noGrp="1"/>
          </p:cNvSpPr>
          <p:nvPr>
            <p:ph type="sldNum" sz="quarter" idx="11"/>
          </p:nvPr>
        </p:nvSpPr>
        <p:spPr/>
        <p:txBody>
          <a:bodyPr/>
          <a:lstStyle/>
          <a:p>
            <a:pPr>
              <a:defRPr/>
            </a:pPr>
            <a:fld id="{EED7964B-8F50-47E5-B5EE-37748C966AF4}" type="slidenum">
              <a:rPr lang="en-US" smtClean="0"/>
              <a:pPr>
                <a:defRPr/>
              </a:pPr>
              <a:t>35</a:t>
            </a:fld>
            <a:endParaRPr lang="en-US"/>
          </a:p>
        </p:txBody>
      </p:sp>
    </p:spTree>
    <p:extLst>
      <p:ext uri="{BB962C8B-B14F-4D97-AF65-F5344CB8AC3E}">
        <p14:creationId xmlns:p14="http://schemas.microsoft.com/office/powerpoint/2010/main" val="1775816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1B293-66C5-9534-BC5E-5EE54C6E9287}"/>
              </a:ext>
            </a:extLst>
          </p:cNvPr>
          <p:cNvSpPr>
            <a:spLocks noGrp="1"/>
          </p:cNvSpPr>
          <p:nvPr>
            <p:ph type="title"/>
          </p:nvPr>
        </p:nvSpPr>
        <p:spPr/>
        <p:txBody>
          <a:bodyPr/>
          <a:lstStyle/>
          <a:p>
            <a:r>
              <a:rPr lang="en-US" dirty="0"/>
              <a:t>DBS’ proven track record in executing landmark Asian IPOs</a:t>
            </a:r>
            <a:endParaRPr lang="en-SG" dirty="0"/>
          </a:p>
        </p:txBody>
      </p:sp>
      <p:sp>
        <p:nvSpPr>
          <p:cNvPr id="3" name="Slide Number Placeholder 2">
            <a:extLst>
              <a:ext uri="{FF2B5EF4-FFF2-40B4-BE49-F238E27FC236}">
                <a16:creationId xmlns:a16="http://schemas.microsoft.com/office/drawing/2014/main" id="{363F5484-4723-360A-998B-43D8325E183F}"/>
              </a:ext>
            </a:extLst>
          </p:cNvPr>
          <p:cNvSpPr>
            <a:spLocks noGrp="1"/>
          </p:cNvSpPr>
          <p:nvPr>
            <p:ph type="sldNum" sz="quarter" idx="11"/>
          </p:nvPr>
        </p:nvSpPr>
        <p:spPr/>
        <p:txBody>
          <a:bodyPr/>
          <a:lstStyle/>
          <a:p>
            <a:pPr>
              <a:defRPr/>
            </a:pPr>
            <a:fld id="{EED7964B-8F50-47E5-B5EE-37748C966AF4}" type="slidenum">
              <a:rPr lang="en-US" smtClean="0"/>
              <a:pPr>
                <a:defRPr/>
              </a:pPr>
              <a:t>36</a:t>
            </a:fld>
            <a:endParaRPr lang="en-US"/>
          </a:p>
        </p:txBody>
      </p:sp>
      <p:grpSp>
        <p:nvGrpSpPr>
          <p:cNvPr id="198" name="Group 197">
            <a:extLst>
              <a:ext uri="{FF2B5EF4-FFF2-40B4-BE49-F238E27FC236}">
                <a16:creationId xmlns:a16="http://schemas.microsoft.com/office/drawing/2014/main" id="{12F9DFC3-FD10-6813-4671-30CE5660D066}"/>
              </a:ext>
            </a:extLst>
          </p:cNvPr>
          <p:cNvGrpSpPr/>
          <p:nvPr/>
        </p:nvGrpSpPr>
        <p:grpSpPr>
          <a:xfrm>
            <a:off x="439577" y="2788656"/>
            <a:ext cx="1426464" cy="1572768"/>
            <a:chOff x="6492162" y="1033008"/>
            <a:chExt cx="1426464" cy="1572768"/>
          </a:xfrm>
        </p:grpSpPr>
        <p:sp>
          <p:nvSpPr>
            <p:cNvPr id="23" name="Round Single Corner Rectangle 38">
              <a:extLst>
                <a:ext uri="{FF2B5EF4-FFF2-40B4-BE49-F238E27FC236}">
                  <a16:creationId xmlns:a16="http://schemas.microsoft.com/office/drawing/2014/main" id="{BC2CBFA6-2926-E641-4202-0073D800571A}"/>
                </a:ext>
              </a:extLst>
            </p:cNvPr>
            <p:cNvSpPr/>
            <p:nvPr/>
          </p:nvSpPr>
          <p:spPr>
            <a:xfrm>
              <a:off x="6501306" y="10330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Arial"/>
                <a:cs typeface="Arial" panose="020B0604020202020204" pitchFamily="34" charset="0"/>
              </a:endParaRPr>
            </a:p>
          </p:txBody>
        </p:sp>
        <p:sp>
          <p:nvSpPr>
            <p:cNvPr id="24" name="Deal Size 4">
              <a:extLst>
                <a:ext uri="{FF2B5EF4-FFF2-40B4-BE49-F238E27FC236}">
                  <a16:creationId xmlns:a16="http://schemas.microsoft.com/office/drawing/2014/main" id="{EE94DCC1-6D58-3C6B-31DA-4FEB73B2989B}"/>
                </a:ext>
              </a:extLst>
            </p:cNvPr>
            <p:cNvSpPr/>
            <p:nvPr/>
          </p:nvSpPr>
          <p:spPr>
            <a:xfrm>
              <a:off x="6492162" y="1580695"/>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algn="ctr" fontAlgn="auto">
                <a:spcBef>
                  <a:spcPts val="0"/>
                </a:spcBef>
                <a:spcAft>
                  <a:spcPts val="0"/>
                </a:spcAft>
              </a:pPr>
              <a:r>
                <a:rPr lang="en-GB" sz="700" b="0" kern="0">
                  <a:solidFill>
                    <a:prstClr val="black"/>
                  </a:solidFill>
                  <a:latin typeface="+mj-lt"/>
                  <a:cs typeface="Arial" panose="020B0604020202020204" pitchFamily="34" charset="0"/>
                </a:rPr>
                <a:t>IDR 7.9 trillion</a:t>
              </a:r>
            </a:p>
          </p:txBody>
        </p:sp>
        <p:sp>
          <p:nvSpPr>
            <p:cNvPr id="25" name="Deal Role 4">
              <a:extLst>
                <a:ext uri="{FF2B5EF4-FFF2-40B4-BE49-F238E27FC236}">
                  <a16:creationId xmlns:a16="http://schemas.microsoft.com/office/drawing/2014/main" id="{0BF9A542-71AA-92C7-E0B5-B1974B940C78}"/>
                </a:ext>
              </a:extLst>
            </p:cNvPr>
            <p:cNvSpPr/>
            <p:nvPr/>
          </p:nvSpPr>
          <p:spPr>
            <a:xfrm>
              <a:off x="6492162" y="1725158"/>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algn="ctr" fontAlgn="auto">
                <a:spcBef>
                  <a:spcPts val="0"/>
                </a:spcBef>
                <a:spcAft>
                  <a:spcPts val="0"/>
                </a:spcAft>
              </a:pPr>
              <a:r>
                <a:rPr lang="en-US" sz="700" b="0" kern="0">
                  <a:solidFill>
                    <a:prstClr val="black"/>
                  </a:solidFill>
                  <a:latin typeface="+mj-lt"/>
                  <a:cs typeface="Arial" panose="020B0604020202020204" pitchFamily="34" charset="0"/>
                </a:rPr>
                <a:t>IPO</a:t>
              </a:r>
            </a:p>
          </p:txBody>
        </p:sp>
        <p:sp>
          <p:nvSpPr>
            <p:cNvPr id="26" name="Deal Date 4">
              <a:extLst>
                <a:ext uri="{FF2B5EF4-FFF2-40B4-BE49-F238E27FC236}">
                  <a16:creationId xmlns:a16="http://schemas.microsoft.com/office/drawing/2014/main" id="{52D19049-2EB7-3970-8B92-0A48D7CFDA14}"/>
                </a:ext>
              </a:extLst>
            </p:cNvPr>
            <p:cNvSpPr/>
            <p:nvPr/>
          </p:nvSpPr>
          <p:spPr>
            <a:xfrm>
              <a:off x="6492162" y="2442986"/>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algn="ctr" fontAlgn="auto">
                <a:spcBef>
                  <a:spcPts val="0"/>
                </a:spcBef>
                <a:spcAft>
                  <a:spcPts val="0"/>
                </a:spcAft>
              </a:pPr>
              <a:r>
                <a:rPr lang="en-GB" sz="700" b="0" kern="0">
                  <a:solidFill>
                    <a:prstClr val="black"/>
                  </a:solidFill>
                  <a:latin typeface="+mj-lt"/>
                  <a:cs typeface="Arial" panose="020B0604020202020204" pitchFamily="34" charset="0"/>
                </a:rPr>
                <a:t> 2022</a:t>
              </a:r>
            </a:p>
          </p:txBody>
        </p:sp>
        <p:sp>
          <p:nvSpPr>
            <p:cNvPr id="27" name="Description 4">
              <a:extLst>
                <a:ext uri="{FF2B5EF4-FFF2-40B4-BE49-F238E27FC236}">
                  <a16:creationId xmlns:a16="http://schemas.microsoft.com/office/drawing/2014/main" id="{C947D54E-7ADF-B810-1B7B-114487A4C91C}"/>
                </a:ext>
              </a:extLst>
            </p:cNvPr>
            <p:cNvSpPr/>
            <p:nvPr/>
          </p:nvSpPr>
          <p:spPr>
            <a:xfrm>
              <a:off x="6492162" y="1923973"/>
              <a:ext cx="1417320" cy="215444"/>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algn="ctr" fontAlgn="auto">
                <a:spcBef>
                  <a:spcPts val="0"/>
                </a:spcBef>
                <a:spcAft>
                  <a:spcPts val="0"/>
                </a:spcAft>
              </a:pPr>
              <a:r>
                <a:rPr lang="en-GB" sz="700" b="0" kern="0">
                  <a:solidFill>
                    <a:prstClr val="black"/>
                  </a:solidFill>
                  <a:latin typeface="+mj-lt"/>
                  <a:cs typeface="Arial" panose="020B0604020202020204" pitchFamily="34" charset="0"/>
                </a:rPr>
                <a:t>Joint Bookrunner and Underwriter</a:t>
              </a:r>
            </a:p>
          </p:txBody>
        </p:sp>
        <p:sp>
          <p:nvSpPr>
            <p:cNvPr id="28" name="Mainlogo 4">
              <a:extLst>
                <a:ext uri="{FF2B5EF4-FFF2-40B4-BE49-F238E27FC236}">
                  <a16:creationId xmlns:a16="http://schemas.microsoft.com/office/drawing/2014/main" id="{A0C1B16A-A6C9-8476-1717-21C809DAD052}"/>
                </a:ext>
              </a:extLst>
            </p:cNvPr>
            <p:cNvSpPr/>
            <p:nvPr/>
          </p:nvSpPr>
          <p:spPr>
            <a:xfrm>
              <a:off x="6617485" y="1101270"/>
              <a:ext cx="1166674" cy="313330"/>
            </a:xfrm>
            <a:prstGeom prst="rect">
              <a:avLst/>
            </a:prstGeom>
            <a:blipFill>
              <a:blip r:embed="rId2"/>
              <a:stretch>
                <a:fillRect/>
              </a:stretch>
            </a:blipFill>
            <a:ln w="12700" cap="flat" cmpd="sng" algn="ctr">
              <a:noFill/>
              <a:prstDash val="solid"/>
              <a:miter lim="800000"/>
            </a:ln>
            <a:effectLst/>
          </p:spPr>
          <p:txBody>
            <a:bodyPr rtlCol="0" anchor="ctr"/>
            <a:lstStyle/>
            <a:p>
              <a:pPr algn="ctr" fontAlgn="auto">
                <a:spcBef>
                  <a:spcPts val="0"/>
                </a:spcBef>
                <a:spcAft>
                  <a:spcPts val="0"/>
                </a:spcAft>
              </a:pPr>
              <a:endParaRPr lang="en-US" sz="1600" b="0" kern="0">
                <a:solidFill>
                  <a:prstClr val="white"/>
                </a:solidFill>
                <a:latin typeface="Arial"/>
              </a:endParaRPr>
            </a:p>
          </p:txBody>
        </p:sp>
      </p:grpSp>
      <p:grpSp>
        <p:nvGrpSpPr>
          <p:cNvPr id="109" name="Group 108">
            <a:extLst>
              <a:ext uri="{FF2B5EF4-FFF2-40B4-BE49-F238E27FC236}">
                <a16:creationId xmlns:a16="http://schemas.microsoft.com/office/drawing/2014/main" id="{6C66A838-54E7-18C5-A586-A77782129EA7}"/>
              </a:ext>
            </a:extLst>
          </p:cNvPr>
          <p:cNvGrpSpPr/>
          <p:nvPr/>
        </p:nvGrpSpPr>
        <p:grpSpPr>
          <a:xfrm>
            <a:off x="462041" y="4608555"/>
            <a:ext cx="1417320" cy="1572768"/>
            <a:chOff x="8026614" y="2795408"/>
            <a:chExt cx="1417320" cy="1572768"/>
          </a:xfrm>
        </p:grpSpPr>
        <p:sp>
          <p:nvSpPr>
            <p:cNvPr id="29" name="Round Single Corner Rectangle 158">
              <a:extLst>
                <a:ext uri="{FF2B5EF4-FFF2-40B4-BE49-F238E27FC236}">
                  <a16:creationId xmlns:a16="http://schemas.microsoft.com/office/drawing/2014/main" id="{620B041F-95E6-3003-4D8B-C943604FD02C}"/>
                </a:ext>
              </a:extLst>
            </p:cNvPr>
            <p:cNvSpPr/>
            <p:nvPr/>
          </p:nvSpPr>
          <p:spPr>
            <a:xfrm>
              <a:off x="8026614" y="27954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30" name="Deal Size 17">
              <a:extLst>
                <a:ext uri="{FF2B5EF4-FFF2-40B4-BE49-F238E27FC236}">
                  <a16:creationId xmlns:a16="http://schemas.microsoft.com/office/drawing/2014/main" id="{82AB0F1B-7065-8911-12FB-52AC42392539}"/>
                </a:ext>
              </a:extLst>
            </p:cNvPr>
            <p:cNvSpPr/>
            <p:nvPr/>
          </p:nvSpPr>
          <p:spPr>
            <a:xfrm>
              <a:off x="8026614" y="3355138"/>
              <a:ext cx="1417320" cy="215444"/>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RMB4.98 billion</a:t>
              </a:r>
            </a:p>
            <a:p>
              <a:pPr marL="0" marR="0" lvl="0" indent="0" algn="ctr" defTabSz="914400" eaLnBrk="1" fontAlgn="auto" latinLnBrk="0" hangingPunct="1">
                <a:lnSpc>
                  <a:spcPct val="100000"/>
                </a:lnSpc>
                <a:spcBef>
                  <a:spcPts val="0"/>
                </a:spcBef>
                <a:spcAft>
                  <a:spcPts val="0"/>
                </a:spcAft>
                <a:buClrTx/>
                <a:buSzTx/>
                <a:buFontTx/>
                <a:buNone/>
                <a:tabLst/>
                <a:defRPr/>
              </a:pPr>
              <a:r>
                <a:rPr lang="en-GB" sz="700" b="0" kern="0">
                  <a:solidFill>
                    <a:prstClr val="black"/>
                  </a:solidFill>
                  <a:latin typeface="+mj-lt"/>
                  <a:cs typeface="Arial" panose="020B0604020202020204" pitchFamily="34" charset="0"/>
                </a:rPr>
                <a:t>IPO</a:t>
              </a:r>
              <a:endPar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endParaRPr>
            </a:p>
          </p:txBody>
        </p:sp>
        <p:sp>
          <p:nvSpPr>
            <p:cNvPr id="31" name="Deal Date 17">
              <a:extLst>
                <a:ext uri="{FF2B5EF4-FFF2-40B4-BE49-F238E27FC236}">
                  <a16:creationId xmlns:a16="http://schemas.microsoft.com/office/drawing/2014/main" id="{D1700F16-8AF5-084C-9590-88A8A09B576A}"/>
                </a:ext>
              </a:extLst>
            </p:cNvPr>
            <p:cNvSpPr/>
            <p:nvPr/>
          </p:nvSpPr>
          <p:spPr>
            <a:xfrm>
              <a:off x="8026614" y="4205386"/>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 2021</a:t>
              </a:r>
            </a:p>
          </p:txBody>
        </p:sp>
        <p:sp>
          <p:nvSpPr>
            <p:cNvPr id="32" name="Description 17">
              <a:extLst>
                <a:ext uri="{FF2B5EF4-FFF2-40B4-BE49-F238E27FC236}">
                  <a16:creationId xmlns:a16="http://schemas.microsoft.com/office/drawing/2014/main" id="{70DD126E-B8A0-EFE4-82AD-C5A75BCE6701}"/>
                </a:ext>
              </a:extLst>
            </p:cNvPr>
            <p:cNvSpPr/>
            <p:nvPr/>
          </p:nvSpPr>
          <p:spPr>
            <a:xfrm>
              <a:off x="8026614" y="3762160"/>
              <a:ext cx="1417320" cy="215444"/>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700" b="0" i="0" u="none" strike="noStrike" kern="0" cap="none" spc="0" normalizeH="0" baseline="0" noProof="0">
                  <a:ln>
                    <a:noFill/>
                  </a:ln>
                  <a:solidFill>
                    <a:prstClr val="black"/>
                  </a:solidFill>
                  <a:effectLst/>
                  <a:uLnTx/>
                  <a:uFillTx/>
                  <a:latin typeface="+mj-lt"/>
                  <a:ea typeface="+mn-ea"/>
                  <a:cs typeface="Arial" panose="020B0604020202020204" pitchFamily="34" charset="0"/>
                </a:rPr>
                <a:t>Financial Advisor and Co-lead Underwriter</a:t>
              </a:r>
              <a:endPar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endParaRPr>
            </a:p>
          </p:txBody>
        </p:sp>
        <p:sp>
          <p:nvSpPr>
            <p:cNvPr id="33" name="Mainlogo 17">
              <a:extLst>
                <a:ext uri="{FF2B5EF4-FFF2-40B4-BE49-F238E27FC236}">
                  <a16:creationId xmlns:a16="http://schemas.microsoft.com/office/drawing/2014/main" id="{48CD32D2-E6DD-F795-B118-A7534EA374B7}"/>
                </a:ext>
              </a:extLst>
            </p:cNvPr>
            <p:cNvSpPr/>
            <p:nvPr/>
          </p:nvSpPr>
          <p:spPr>
            <a:xfrm>
              <a:off x="8151937" y="2891472"/>
              <a:ext cx="1166674" cy="313330"/>
            </a:xfrm>
            <a:prstGeom prst="rect">
              <a:avLst/>
            </a:prstGeom>
            <a:blipFill>
              <a:blip r:embed="rId3"/>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white"/>
                </a:solidFill>
                <a:effectLst/>
                <a:uLnTx/>
                <a:uFillTx/>
                <a:latin typeface="+mj-lt"/>
                <a:ea typeface="+mn-ea"/>
                <a:cs typeface="+mn-cs"/>
              </a:endParaRPr>
            </a:p>
          </p:txBody>
        </p:sp>
      </p:grpSp>
      <p:grpSp>
        <p:nvGrpSpPr>
          <p:cNvPr id="103" name="Group 102">
            <a:extLst>
              <a:ext uri="{FF2B5EF4-FFF2-40B4-BE49-F238E27FC236}">
                <a16:creationId xmlns:a16="http://schemas.microsoft.com/office/drawing/2014/main" id="{FE0BEE48-AFFD-322C-2D38-CCC9FEF3171B}"/>
              </a:ext>
            </a:extLst>
          </p:cNvPr>
          <p:cNvGrpSpPr/>
          <p:nvPr/>
        </p:nvGrpSpPr>
        <p:grpSpPr>
          <a:xfrm>
            <a:off x="8011242" y="4601572"/>
            <a:ext cx="1432692" cy="1572768"/>
            <a:chOff x="6493620" y="4601572"/>
            <a:chExt cx="1432692" cy="1572768"/>
          </a:xfrm>
        </p:grpSpPr>
        <p:sp>
          <p:nvSpPr>
            <p:cNvPr id="34" name="Round Single Corner Rectangle 138">
              <a:extLst>
                <a:ext uri="{FF2B5EF4-FFF2-40B4-BE49-F238E27FC236}">
                  <a16:creationId xmlns:a16="http://schemas.microsoft.com/office/drawing/2014/main" id="{53A99B15-833E-C1FF-A0F1-7C944E64CFB5}"/>
                </a:ext>
              </a:extLst>
            </p:cNvPr>
            <p:cNvSpPr/>
            <p:nvPr/>
          </p:nvSpPr>
          <p:spPr>
            <a:xfrm>
              <a:off x="6501306" y="4601572"/>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35" name="Deal Date 15">
              <a:extLst>
                <a:ext uri="{FF2B5EF4-FFF2-40B4-BE49-F238E27FC236}">
                  <a16:creationId xmlns:a16="http://schemas.microsoft.com/office/drawing/2014/main" id="{FDE1A620-4D3F-EA3F-0095-851D73FF28FD}"/>
                </a:ext>
              </a:extLst>
            </p:cNvPr>
            <p:cNvSpPr/>
            <p:nvPr/>
          </p:nvSpPr>
          <p:spPr>
            <a:xfrm>
              <a:off x="6493620" y="5987403"/>
              <a:ext cx="1432692" cy="107722"/>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eaLnBrk="0" fontAlgn="auto" hangingPunct="0">
                <a:spcBef>
                  <a:spcPts val="0"/>
                </a:spcBef>
                <a:spcAft>
                  <a:spcPts val="0"/>
                </a:spcAft>
                <a:defRPr/>
              </a:pPr>
              <a:r>
                <a:rPr lang="id-ID" sz="700" b="0" kern="0">
                  <a:solidFill>
                    <a:srgbClr val="000000"/>
                  </a:solidFill>
                  <a:latin typeface="+mj-lt"/>
                  <a:cs typeface="Calibri" panose="020F0502020204030204" pitchFamily="34" charset="0"/>
                </a:rPr>
                <a:t>20</a:t>
              </a:r>
              <a:r>
                <a:rPr lang="en-SG" sz="700" b="0" kern="0">
                  <a:solidFill>
                    <a:srgbClr val="000000"/>
                  </a:solidFill>
                  <a:latin typeface="+mj-lt"/>
                  <a:cs typeface="Calibri" panose="020F0502020204030204" pitchFamily="34" charset="0"/>
                </a:rPr>
                <a:t>17</a:t>
              </a:r>
              <a:endParaRPr lang="en-GB" sz="700" b="0" kern="0">
                <a:solidFill>
                  <a:srgbClr val="000000"/>
                </a:solidFill>
                <a:latin typeface="+mj-lt"/>
                <a:cs typeface="Calibri" panose="020F0502020204030204" pitchFamily="34" charset="0"/>
              </a:endParaRPr>
            </a:p>
          </p:txBody>
        </p:sp>
        <p:sp>
          <p:nvSpPr>
            <p:cNvPr id="36" name="Description 15">
              <a:extLst>
                <a:ext uri="{FF2B5EF4-FFF2-40B4-BE49-F238E27FC236}">
                  <a16:creationId xmlns:a16="http://schemas.microsoft.com/office/drawing/2014/main" id="{FD11515D-A45E-A9EF-BB86-67A18066305A}"/>
                </a:ext>
              </a:extLst>
            </p:cNvPr>
            <p:cNvSpPr/>
            <p:nvPr/>
          </p:nvSpPr>
          <p:spPr>
            <a:xfrm>
              <a:off x="6525516" y="5470880"/>
              <a:ext cx="1368900" cy="107722"/>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eaLnBrk="0" fontAlgn="auto" hangingPunct="0">
                <a:spcBef>
                  <a:spcPts val="0"/>
                </a:spcBef>
                <a:spcAft>
                  <a:spcPts val="0"/>
                </a:spcAft>
                <a:defRPr/>
              </a:pPr>
              <a:r>
                <a:rPr lang="en-SG" sz="700" b="0" kern="0">
                  <a:solidFill>
                    <a:srgbClr val="000000"/>
                  </a:solidFill>
                  <a:latin typeface="+mj-lt"/>
                  <a:cs typeface="Calibri" panose="020F0502020204030204" pitchFamily="34" charset="0"/>
                </a:rPr>
                <a:t>Joint Underwriter</a:t>
              </a:r>
            </a:p>
          </p:txBody>
        </p:sp>
        <p:sp>
          <p:nvSpPr>
            <p:cNvPr id="37" name="Deal Size 2">
              <a:extLst>
                <a:ext uri="{FF2B5EF4-FFF2-40B4-BE49-F238E27FC236}">
                  <a16:creationId xmlns:a16="http://schemas.microsoft.com/office/drawing/2014/main" id="{2BEBDCDD-A0A9-80AE-70D3-D1106DA59201}"/>
                </a:ext>
              </a:extLst>
            </p:cNvPr>
            <p:cNvSpPr/>
            <p:nvPr/>
          </p:nvSpPr>
          <p:spPr>
            <a:xfrm>
              <a:off x="6501306" y="5142156"/>
              <a:ext cx="1417320" cy="215444"/>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eaLnBrk="0" fontAlgn="auto" hangingPunct="0">
                <a:spcBef>
                  <a:spcPts val="0"/>
                </a:spcBef>
                <a:spcAft>
                  <a:spcPts val="0"/>
                </a:spcAft>
                <a:defRPr/>
              </a:pPr>
              <a:r>
                <a:rPr lang="id-ID" altLang="zh-TW" sz="700" b="0" kern="0">
                  <a:solidFill>
                    <a:srgbClr val="000000"/>
                  </a:solidFill>
                  <a:latin typeface="+mj-lt"/>
                  <a:ea typeface="DFKaiShu-GB5"/>
                  <a:cs typeface="Calibri" panose="020F0502020204030204" pitchFamily="34" charset="0"/>
                </a:rPr>
                <a:t>US$</a:t>
              </a:r>
              <a:r>
                <a:rPr lang="en-SG" altLang="zh-TW" sz="700" b="0" kern="0">
                  <a:solidFill>
                    <a:srgbClr val="000000"/>
                  </a:solidFill>
                  <a:latin typeface="+mj-lt"/>
                  <a:ea typeface="DFKaiShu-GB5"/>
                  <a:cs typeface="Calibri" panose="020F0502020204030204" pitchFamily="34" charset="0"/>
                </a:rPr>
                <a:t>884 m</a:t>
              </a:r>
              <a:r>
                <a:rPr lang="id-ID" altLang="zh-TW" sz="700" b="0" kern="0">
                  <a:solidFill>
                    <a:srgbClr val="000000"/>
                  </a:solidFill>
                  <a:latin typeface="+mj-lt"/>
                  <a:ea typeface="DFKaiShu-GB5"/>
                  <a:cs typeface="Calibri" panose="020F0502020204030204" pitchFamily="34" charset="0"/>
                </a:rPr>
                <a:t>illion</a:t>
              </a:r>
              <a:endParaRPr lang="en-US" altLang="zh-TW" sz="700" b="0" kern="0">
                <a:solidFill>
                  <a:srgbClr val="000000"/>
                </a:solidFill>
                <a:latin typeface="+mj-lt"/>
                <a:ea typeface="DFKaiShu-GB5"/>
                <a:cs typeface="Calibri" panose="020F0502020204030204" pitchFamily="34" charset="0"/>
              </a:endParaRPr>
            </a:p>
            <a:p>
              <a:pPr algn="ctr" eaLnBrk="0" fontAlgn="auto" hangingPunct="0">
                <a:spcBef>
                  <a:spcPts val="0"/>
                </a:spcBef>
                <a:spcAft>
                  <a:spcPts val="0"/>
                </a:spcAft>
                <a:defRPr/>
              </a:pPr>
              <a:r>
                <a:rPr lang="id-ID" altLang="zh-TW" sz="700" b="0" kern="0">
                  <a:solidFill>
                    <a:srgbClr val="000000"/>
                  </a:solidFill>
                  <a:latin typeface="+mj-lt"/>
                  <a:ea typeface="DFKaiShu-GB5"/>
                  <a:cs typeface="Calibri" panose="020F0502020204030204" pitchFamily="34" charset="0"/>
                </a:rPr>
                <a:t>IPO</a:t>
              </a:r>
              <a:endParaRPr lang="en-US" altLang="zh-TW" sz="700" b="0" kern="0">
                <a:solidFill>
                  <a:srgbClr val="000000"/>
                </a:solidFill>
                <a:latin typeface="+mj-lt"/>
                <a:ea typeface="DFKaiShu-GB5"/>
                <a:cs typeface="Calibri" panose="020F0502020204030204" pitchFamily="34" charset="0"/>
              </a:endParaRPr>
            </a:p>
          </p:txBody>
        </p:sp>
        <p:pic>
          <p:nvPicPr>
            <p:cNvPr id="38" name="Picture 6">
              <a:extLst>
                <a:ext uri="{FF2B5EF4-FFF2-40B4-BE49-F238E27FC236}">
                  <a16:creationId xmlns:a16="http://schemas.microsoft.com/office/drawing/2014/main" id="{619BB186-D377-1A87-B8EE-9CBA99EA856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1704" y="4740641"/>
              <a:ext cx="616525" cy="256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7" name="Group 106">
            <a:extLst>
              <a:ext uri="{FF2B5EF4-FFF2-40B4-BE49-F238E27FC236}">
                <a16:creationId xmlns:a16="http://schemas.microsoft.com/office/drawing/2014/main" id="{D346EB1B-B5BF-F60F-1B67-DB0A1ADAE792}"/>
              </a:ext>
            </a:extLst>
          </p:cNvPr>
          <p:cNvGrpSpPr/>
          <p:nvPr/>
        </p:nvGrpSpPr>
        <p:grpSpPr>
          <a:xfrm>
            <a:off x="4989533" y="4601572"/>
            <a:ext cx="1426477" cy="1572768"/>
            <a:chOff x="3478692" y="4601572"/>
            <a:chExt cx="1426477" cy="1572768"/>
          </a:xfrm>
        </p:grpSpPr>
        <p:sp>
          <p:nvSpPr>
            <p:cNvPr id="39" name="Round Single Corner Rectangle 138">
              <a:extLst>
                <a:ext uri="{FF2B5EF4-FFF2-40B4-BE49-F238E27FC236}">
                  <a16:creationId xmlns:a16="http://schemas.microsoft.com/office/drawing/2014/main" id="{A03DDFC0-6A64-38CB-5F3B-A5D34ACEB8B5}"/>
                </a:ext>
              </a:extLst>
            </p:cNvPr>
            <p:cNvSpPr/>
            <p:nvPr/>
          </p:nvSpPr>
          <p:spPr>
            <a:xfrm>
              <a:off x="3483270" y="4601572"/>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40" name="Deal Date 15">
              <a:extLst>
                <a:ext uri="{FF2B5EF4-FFF2-40B4-BE49-F238E27FC236}">
                  <a16:creationId xmlns:a16="http://schemas.microsoft.com/office/drawing/2014/main" id="{874B5798-E928-88BD-8D98-A8F9BED751C0}"/>
                </a:ext>
              </a:extLst>
            </p:cNvPr>
            <p:cNvSpPr/>
            <p:nvPr/>
          </p:nvSpPr>
          <p:spPr>
            <a:xfrm>
              <a:off x="3484465" y="5987403"/>
              <a:ext cx="1414931" cy="107722"/>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defTabSz="914332" fontAlgn="auto">
                <a:spcBef>
                  <a:spcPts val="0"/>
                </a:spcBef>
                <a:spcAft>
                  <a:spcPts val="0"/>
                </a:spcAft>
                <a:defRPr/>
              </a:pPr>
              <a:r>
                <a:rPr lang="id-ID" sz="700" b="0" kern="0">
                  <a:solidFill>
                    <a:srgbClr val="000000"/>
                  </a:solidFill>
                  <a:latin typeface="+mj-lt"/>
                  <a:cs typeface="Calibri" panose="020F0502020204030204" pitchFamily="34" charset="0"/>
                </a:rPr>
                <a:t>2019</a:t>
              </a:r>
              <a:endParaRPr lang="en-GB" sz="700" b="0" kern="0">
                <a:solidFill>
                  <a:srgbClr val="000000"/>
                </a:solidFill>
                <a:latin typeface="+mj-lt"/>
                <a:cs typeface="Calibri" panose="020F0502020204030204" pitchFamily="34" charset="0"/>
              </a:endParaRPr>
            </a:p>
          </p:txBody>
        </p:sp>
        <p:sp>
          <p:nvSpPr>
            <p:cNvPr id="41" name="Description 15">
              <a:extLst>
                <a:ext uri="{FF2B5EF4-FFF2-40B4-BE49-F238E27FC236}">
                  <a16:creationId xmlns:a16="http://schemas.microsoft.com/office/drawing/2014/main" id="{91BA2A78-F20D-903D-5C04-5B4FFC6B2985}"/>
                </a:ext>
              </a:extLst>
            </p:cNvPr>
            <p:cNvSpPr/>
            <p:nvPr/>
          </p:nvSpPr>
          <p:spPr>
            <a:xfrm>
              <a:off x="3478692" y="5470880"/>
              <a:ext cx="1426477" cy="107722"/>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eaLnBrk="0" fontAlgn="auto" hangingPunct="0">
                <a:spcBef>
                  <a:spcPts val="0"/>
                </a:spcBef>
                <a:spcAft>
                  <a:spcPts val="0"/>
                </a:spcAft>
                <a:defRPr/>
              </a:pPr>
              <a:r>
                <a:rPr lang="id-ID" sz="700" b="0" kern="0">
                  <a:solidFill>
                    <a:srgbClr val="000000"/>
                  </a:solidFill>
                  <a:latin typeface="+mj-lt"/>
                  <a:cs typeface="Calibri" panose="020F0502020204030204" pitchFamily="34" charset="0"/>
                </a:rPr>
                <a:t>Senior Joint Lead Manager</a:t>
              </a:r>
              <a:endParaRPr lang="en-SG" sz="700" b="0" kern="0">
                <a:solidFill>
                  <a:srgbClr val="000000"/>
                </a:solidFill>
                <a:latin typeface="+mj-lt"/>
                <a:cs typeface="Calibri" panose="020F0502020204030204" pitchFamily="34" charset="0"/>
              </a:endParaRPr>
            </a:p>
          </p:txBody>
        </p:sp>
        <p:sp>
          <p:nvSpPr>
            <p:cNvPr id="42" name="Deal Size 2">
              <a:extLst>
                <a:ext uri="{FF2B5EF4-FFF2-40B4-BE49-F238E27FC236}">
                  <a16:creationId xmlns:a16="http://schemas.microsoft.com/office/drawing/2014/main" id="{6D26B41D-4781-283A-01A1-7D07BA95EA3A}"/>
                </a:ext>
              </a:extLst>
            </p:cNvPr>
            <p:cNvSpPr/>
            <p:nvPr/>
          </p:nvSpPr>
          <p:spPr>
            <a:xfrm>
              <a:off x="3484465" y="5142156"/>
              <a:ext cx="1414930" cy="215444"/>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eaLnBrk="0" fontAlgn="auto" hangingPunct="0">
                <a:spcBef>
                  <a:spcPts val="0"/>
                </a:spcBef>
                <a:spcAft>
                  <a:spcPts val="0"/>
                </a:spcAft>
                <a:defRPr/>
              </a:pPr>
              <a:r>
                <a:rPr lang="id-ID" altLang="zh-TW" sz="700" b="0" kern="0">
                  <a:solidFill>
                    <a:srgbClr val="000000"/>
                  </a:solidFill>
                  <a:latin typeface="+mj-lt"/>
                  <a:ea typeface="DFKaiShu-GB5"/>
                  <a:cs typeface="Calibri" panose="020F0502020204030204" pitchFamily="34" charset="0"/>
                </a:rPr>
                <a:t>US$11.2 billion</a:t>
              </a:r>
              <a:endParaRPr lang="en-US" altLang="zh-TW" sz="700" b="0" kern="0">
                <a:solidFill>
                  <a:srgbClr val="000000"/>
                </a:solidFill>
                <a:latin typeface="+mj-lt"/>
                <a:ea typeface="DFKaiShu-GB5"/>
                <a:cs typeface="Calibri" panose="020F0502020204030204" pitchFamily="34" charset="0"/>
              </a:endParaRPr>
            </a:p>
            <a:p>
              <a:pPr algn="ctr" eaLnBrk="0" fontAlgn="auto" hangingPunct="0">
                <a:spcBef>
                  <a:spcPts val="0"/>
                </a:spcBef>
                <a:spcAft>
                  <a:spcPts val="0"/>
                </a:spcAft>
                <a:defRPr/>
              </a:pPr>
              <a:r>
                <a:rPr lang="id-ID" altLang="zh-TW" sz="700" b="0" kern="0">
                  <a:solidFill>
                    <a:srgbClr val="000000"/>
                  </a:solidFill>
                  <a:latin typeface="+mj-lt"/>
                  <a:ea typeface="DFKaiShu-GB5"/>
                  <a:cs typeface="Calibri" panose="020F0502020204030204" pitchFamily="34" charset="0"/>
                </a:rPr>
                <a:t>IPO</a:t>
              </a:r>
              <a:endParaRPr lang="en-US" altLang="zh-TW" sz="700" b="0" kern="0">
                <a:solidFill>
                  <a:srgbClr val="000000"/>
                </a:solidFill>
                <a:latin typeface="+mj-lt"/>
                <a:ea typeface="DFKaiShu-GB5"/>
                <a:cs typeface="Calibri" panose="020F0502020204030204" pitchFamily="34" charset="0"/>
              </a:endParaRPr>
            </a:p>
          </p:txBody>
        </p:sp>
        <p:pic>
          <p:nvPicPr>
            <p:cNvPr id="43" name="Picture 8" descr="Image result for alibaba">
              <a:extLst>
                <a:ext uri="{FF2B5EF4-FFF2-40B4-BE49-F238E27FC236}">
                  <a16:creationId xmlns:a16="http://schemas.microsoft.com/office/drawing/2014/main" id="{F90DE924-A0CD-0D50-3024-3BC85BA877F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13612" y="4732655"/>
              <a:ext cx="556636" cy="2722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 name="Group 103">
            <a:extLst>
              <a:ext uri="{FF2B5EF4-FFF2-40B4-BE49-F238E27FC236}">
                <a16:creationId xmlns:a16="http://schemas.microsoft.com/office/drawing/2014/main" id="{604A3F9D-ACEC-7A10-65B0-8E638C2A9E82}"/>
              </a:ext>
            </a:extLst>
          </p:cNvPr>
          <p:cNvGrpSpPr/>
          <p:nvPr/>
        </p:nvGrpSpPr>
        <p:grpSpPr>
          <a:xfrm>
            <a:off x="1977982" y="4608555"/>
            <a:ext cx="1417320" cy="1572768"/>
            <a:chOff x="471185" y="4608555"/>
            <a:chExt cx="1417320" cy="1572768"/>
          </a:xfrm>
        </p:grpSpPr>
        <p:sp>
          <p:nvSpPr>
            <p:cNvPr id="44" name="Round Single Corner Rectangle 38">
              <a:extLst>
                <a:ext uri="{FF2B5EF4-FFF2-40B4-BE49-F238E27FC236}">
                  <a16:creationId xmlns:a16="http://schemas.microsoft.com/office/drawing/2014/main" id="{F293C9E0-6747-A576-949B-64E2E3CB7A2F}"/>
                </a:ext>
              </a:extLst>
            </p:cNvPr>
            <p:cNvSpPr/>
            <p:nvPr/>
          </p:nvSpPr>
          <p:spPr>
            <a:xfrm>
              <a:off x="471185" y="4608555"/>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45" name="Deal Size 4">
              <a:extLst>
                <a:ext uri="{FF2B5EF4-FFF2-40B4-BE49-F238E27FC236}">
                  <a16:creationId xmlns:a16="http://schemas.microsoft.com/office/drawing/2014/main" id="{2FA90D56-AB28-D41C-A867-78D5A6B4D7B1}"/>
                </a:ext>
              </a:extLst>
            </p:cNvPr>
            <p:cNvSpPr/>
            <p:nvPr/>
          </p:nvSpPr>
          <p:spPr>
            <a:xfrm>
              <a:off x="471185" y="5147362"/>
              <a:ext cx="1417320" cy="215444"/>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algn="ctr" fontAlgn="auto">
                <a:spcBef>
                  <a:spcPts val="0"/>
                </a:spcBef>
                <a:spcAft>
                  <a:spcPts val="0"/>
                </a:spcAft>
                <a:defRPr/>
              </a:pPr>
              <a:r>
                <a:rPr lang="en-GB" sz="700" b="0" kern="0">
                  <a:solidFill>
                    <a:prstClr val="black"/>
                  </a:solidFill>
                  <a:latin typeface="+mj-lt"/>
                  <a:cs typeface="Calibri" panose="020F0502020204030204" pitchFamily="34" charset="0"/>
                </a:rPr>
                <a:t>HK$2.59 billion</a:t>
              </a:r>
            </a:p>
            <a:p>
              <a:pPr algn="ctr" fontAlgn="auto">
                <a:spcBef>
                  <a:spcPts val="0"/>
                </a:spcBef>
                <a:spcAft>
                  <a:spcPts val="0"/>
                </a:spcAft>
                <a:defRPr/>
              </a:pPr>
              <a:r>
                <a:rPr lang="en-GB" sz="700" b="0" kern="0">
                  <a:solidFill>
                    <a:prstClr val="black"/>
                  </a:solidFill>
                  <a:latin typeface="+mj-lt"/>
                  <a:cs typeface="Calibri" panose="020F0502020204030204" pitchFamily="34" charset="0"/>
                </a:rPr>
                <a:t>IPO</a:t>
              </a:r>
            </a:p>
          </p:txBody>
        </p:sp>
        <p:sp>
          <p:nvSpPr>
            <p:cNvPr id="46" name="Deal Date 4">
              <a:extLst>
                <a:ext uri="{FF2B5EF4-FFF2-40B4-BE49-F238E27FC236}">
                  <a16:creationId xmlns:a16="http://schemas.microsoft.com/office/drawing/2014/main" id="{506DFA65-0565-0929-E344-EFC59DBC49C6}"/>
                </a:ext>
              </a:extLst>
            </p:cNvPr>
            <p:cNvSpPr/>
            <p:nvPr/>
          </p:nvSpPr>
          <p:spPr>
            <a:xfrm>
              <a:off x="471185" y="5997610"/>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algn="ctr" fontAlgn="auto">
                <a:spcBef>
                  <a:spcPts val="0"/>
                </a:spcBef>
                <a:spcAft>
                  <a:spcPts val="0"/>
                </a:spcAft>
                <a:defRPr/>
              </a:pPr>
              <a:r>
                <a:rPr lang="en-GB" sz="700" b="0" kern="0">
                  <a:solidFill>
                    <a:prstClr val="black"/>
                  </a:solidFill>
                  <a:latin typeface="+mj-lt"/>
                  <a:cs typeface="Calibri" panose="020F0502020204030204" pitchFamily="34" charset="0"/>
                </a:rPr>
                <a:t> 2021</a:t>
              </a:r>
            </a:p>
          </p:txBody>
        </p:sp>
        <p:sp>
          <p:nvSpPr>
            <p:cNvPr id="47" name="Description 4">
              <a:extLst>
                <a:ext uri="{FF2B5EF4-FFF2-40B4-BE49-F238E27FC236}">
                  <a16:creationId xmlns:a16="http://schemas.microsoft.com/office/drawing/2014/main" id="{368CF319-610A-F559-2103-CF4099350AEB}"/>
                </a:ext>
              </a:extLst>
            </p:cNvPr>
            <p:cNvSpPr/>
            <p:nvPr/>
          </p:nvSpPr>
          <p:spPr>
            <a:xfrm>
              <a:off x="471185" y="5554384"/>
              <a:ext cx="1417320" cy="323165"/>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algn="ctr" fontAlgn="auto">
                <a:spcBef>
                  <a:spcPts val="0"/>
                </a:spcBef>
                <a:spcAft>
                  <a:spcPts val="0"/>
                </a:spcAft>
                <a:defRPr/>
              </a:pPr>
              <a:r>
                <a:rPr lang="en-US" sz="700" b="0" kern="0">
                  <a:solidFill>
                    <a:prstClr val="black"/>
                  </a:solidFill>
                  <a:latin typeface="+mj-lt"/>
                  <a:cs typeface="Calibri" panose="020F0502020204030204" pitchFamily="34" charset="0"/>
                </a:rPr>
                <a:t>Sole Listing Agent, Joint Global Coordinator, Joint Bookrunner and Joint Lead Manager</a:t>
              </a:r>
              <a:endParaRPr lang="en-GB" sz="700" b="0" kern="0">
                <a:solidFill>
                  <a:prstClr val="black"/>
                </a:solidFill>
                <a:latin typeface="+mj-lt"/>
                <a:cs typeface="Calibri" panose="020F0502020204030204" pitchFamily="34" charset="0"/>
              </a:endParaRPr>
            </a:p>
          </p:txBody>
        </p:sp>
        <p:sp>
          <p:nvSpPr>
            <p:cNvPr id="48" name="Mainlogo 4">
              <a:extLst>
                <a:ext uri="{FF2B5EF4-FFF2-40B4-BE49-F238E27FC236}">
                  <a16:creationId xmlns:a16="http://schemas.microsoft.com/office/drawing/2014/main" id="{7A5D3AAD-D5CE-EE1B-E79D-2E223DB10D0E}"/>
                </a:ext>
              </a:extLst>
            </p:cNvPr>
            <p:cNvSpPr/>
            <p:nvPr/>
          </p:nvSpPr>
          <p:spPr>
            <a:xfrm>
              <a:off x="596508" y="4683696"/>
              <a:ext cx="1166674" cy="313330"/>
            </a:xfrm>
            <a:prstGeom prst="rect">
              <a:avLst/>
            </a:prstGeom>
            <a:blipFill>
              <a:blip r:embed="rId6"/>
              <a:stretch>
                <a:fillRect/>
              </a:stretch>
            </a:blipFill>
            <a:ln w="12700" cap="flat" cmpd="sng" algn="ctr">
              <a:noFill/>
              <a:prstDash val="solid"/>
              <a:miter lim="800000"/>
            </a:ln>
            <a:effectLst/>
          </p:spPr>
          <p:txBody>
            <a:bodyPr rtlCol="0" anchor="ctr"/>
            <a:lstStyle/>
            <a:p>
              <a:pPr algn="ctr" fontAlgn="auto">
                <a:spcBef>
                  <a:spcPts val="0"/>
                </a:spcBef>
                <a:spcAft>
                  <a:spcPts val="0"/>
                </a:spcAft>
                <a:defRPr/>
              </a:pPr>
              <a:endParaRPr lang="en-US" sz="700" b="0" kern="0">
                <a:solidFill>
                  <a:prstClr val="white"/>
                </a:solidFill>
                <a:latin typeface="+mj-lt"/>
                <a:cs typeface="+mn-cs"/>
              </a:endParaRPr>
            </a:p>
          </p:txBody>
        </p:sp>
      </p:grpSp>
      <p:grpSp>
        <p:nvGrpSpPr>
          <p:cNvPr id="114" name="Group 113">
            <a:extLst>
              <a:ext uri="{FF2B5EF4-FFF2-40B4-BE49-F238E27FC236}">
                <a16:creationId xmlns:a16="http://schemas.microsoft.com/office/drawing/2014/main" id="{EB471936-6F47-6AE5-4BD0-5801857DB9A4}"/>
              </a:ext>
            </a:extLst>
          </p:cNvPr>
          <p:cNvGrpSpPr/>
          <p:nvPr/>
        </p:nvGrpSpPr>
        <p:grpSpPr>
          <a:xfrm>
            <a:off x="1952513" y="2788656"/>
            <a:ext cx="7465729" cy="1579520"/>
            <a:chOff x="462041" y="2788656"/>
            <a:chExt cx="7465729" cy="1579520"/>
          </a:xfrm>
        </p:grpSpPr>
        <p:grpSp>
          <p:nvGrpSpPr>
            <p:cNvPr id="108" name="Group 107">
              <a:extLst>
                <a:ext uri="{FF2B5EF4-FFF2-40B4-BE49-F238E27FC236}">
                  <a16:creationId xmlns:a16="http://schemas.microsoft.com/office/drawing/2014/main" id="{C4544F3A-E780-F6FA-BE54-861D7DE38B62}"/>
                </a:ext>
              </a:extLst>
            </p:cNvPr>
            <p:cNvGrpSpPr/>
            <p:nvPr/>
          </p:nvGrpSpPr>
          <p:grpSpPr>
            <a:xfrm>
              <a:off x="462041" y="2788656"/>
              <a:ext cx="1417320" cy="1572768"/>
              <a:chOff x="462041" y="2788656"/>
              <a:chExt cx="1417320" cy="1572768"/>
            </a:xfrm>
          </p:grpSpPr>
          <p:sp>
            <p:nvSpPr>
              <p:cNvPr id="12" name="Round Single Corner Rectangle 8">
                <a:extLst>
                  <a:ext uri="{FF2B5EF4-FFF2-40B4-BE49-F238E27FC236}">
                    <a16:creationId xmlns:a16="http://schemas.microsoft.com/office/drawing/2014/main" id="{F38F3B8E-7CA9-F042-2F89-FA8F698F2F62}"/>
                  </a:ext>
                </a:extLst>
              </p:cNvPr>
              <p:cNvSpPr/>
              <p:nvPr/>
            </p:nvSpPr>
            <p:spPr>
              <a:xfrm>
                <a:off x="462041" y="2788656"/>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Arial"/>
                  <a:cs typeface="Arial" panose="020B0604020202020204" pitchFamily="34" charset="0"/>
                </a:endParaRPr>
              </a:p>
            </p:txBody>
          </p:sp>
          <p:sp>
            <p:nvSpPr>
              <p:cNvPr id="13" name="Deal Size 1">
                <a:extLst>
                  <a:ext uri="{FF2B5EF4-FFF2-40B4-BE49-F238E27FC236}">
                    <a16:creationId xmlns:a16="http://schemas.microsoft.com/office/drawing/2014/main" id="{8D06D26C-19B9-7B03-6149-3F0F736CCAFB}"/>
                  </a:ext>
                </a:extLst>
              </p:cNvPr>
              <p:cNvSpPr/>
              <p:nvPr/>
            </p:nvSpPr>
            <p:spPr>
              <a:xfrm>
                <a:off x="462041" y="3336343"/>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US$600 million</a:t>
                </a:r>
              </a:p>
            </p:txBody>
          </p:sp>
          <p:sp>
            <p:nvSpPr>
              <p:cNvPr id="14" name="Deal Role 1">
                <a:extLst>
                  <a:ext uri="{FF2B5EF4-FFF2-40B4-BE49-F238E27FC236}">
                    <a16:creationId xmlns:a16="http://schemas.microsoft.com/office/drawing/2014/main" id="{C90ED8DA-A1CE-719F-E40D-D207D0AB468A}"/>
                  </a:ext>
                </a:extLst>
              </p:cNvPr>
              <p:cNvSpPr/>
              <p:nvPr/>
            </p:nvSpPr>
            <p:spPr>
              <a:xfrm>
                <a:off x="462041" y="3480806"/>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prstClr val="black"/>
                    </a:solidFill>
                    <a:effectLst/>
                    <a:uLnTx/>
                    <a:uFillTx/>
                    <a:latin typeface="+mj-lt"/>
                    <a:ea typeface="+mn-ea"/>
                    <a:cs typeface="Arial" panose="020B0604020202020204" pitchFamily="34" charset="0"/>
                  </a:rPr>
                  <a:t>IPO</a:t>
                </a:r>
              </a:p>
            </p:txBody>
          </p:sp>
          <p:sp>
            <p:nvSpPr>
              <p:cNvPr id="15" name="Deal Date 1">
                <a:extLst>
                  <a:ext uri="{FF2B5EF4-FFF2-40B4-BE49-F238E27FC236}">
                    <a16:creationId xmlns:a16="http://schemas.microsoft.com/office/drawing/2014/main" id="{25F9FA4E-E296-485A-6D01-7F682DE8D78D}"/>
                  </a:ext>
                </a:extLst>
              </p:cNvPr>
              <p:cNvSpPr/>
              <p:nvPr/>
            </p:nvSpPr>
            <p:spPr>
              <a:xfrm>
                <a:off x="462041" y="4198634"/>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 2021</a:t>
                </a:r>
              </a:p>
            </p:txBody>
          </p:sp>
          <p:sp>
            <p:nvSpPr>
              <p:cNvPr id="16" name="Description 1">
                <a:extLst>
                  <a:ext uri="{FF2B5EF4-FFF2-40B4-BE49-F238E27FC236}">
                    <a16:creationId xmlns:a16="http://schemas.microsoft.com/office/drawing/2014/main" id="{73966FE3-6DB9-77ED-690E-24D53669F176}"/>
                  </a:ext>
                </a:extLst>
              </p:cNvPr>
              <p:cNvSpPr/>
              <p:nvPr/>
            </p:nvSpPr>
            <p:spPr>
              <a:xfrm>
                <a:off x="462041" y="3679621"/>
                <a:ext cx="1417320" cy="323165"/>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prstClr val="black"/>
                    </a:solidFill>
                    <a:effectLst/>
                    <a:uLnTx/>
                    <a:uFillTx/>
                    <a:latin typeface="+mj-lt"/>
                    <a:ea typeface="+mn-ea"/>
                    <a:cs typeface="Arial" panose="020B0604020202020204" pitchFamily="34" charset="0"/>
                  </a:rPr>
                  <a:t>Joint Issue Manager, Global Coordinator, Bookrunner and Underwriter</a:t>
                </a:r>
                <a:endPar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endParaRPr>
              </a:p>
            </p:txBody>
          </p:sp>
          <p:sp>
            <p:nvSpPr>
              <p:cNvPr id="17" name="Mainlogo 1">
                <a:extLst>
                  <a:ext uri="{FF2B5EF4-FFF2-40B4-BE49-F238E27FC236}">
                    <a16:creationId xmlns:a16="http://schemas.microsoft.com/office/drawing/2014/main" id="{3B70FEEE-5373-4BDC-19AB-F3CC73B87DE4}"/>
                  </a:ext>
                </a:extLst>
              </p:cNvPr>
              <p:cNvSpPr/>
              <p:nvPr/>
            </p:nvSpPr>
            <p:spPr>
              <a:xfrm>
                <a:off x="587364" y="2856918"/>
                <a:ext cx="1166674" cy="313330"/>
              </a:xfrm>
              <a:prstGeom prst="rect">
                <a:avLst/>
              </a:prstGeom>
              <a:blipFill>
                <a:blip r:embed="rId7"/>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grpSp>
          <p:nvGrpSpPr>
            <p:cNvPr id="113" name="Group 112">
              <a:extLst>
                <a:ext uri="{FF2B5EF4-FFF2-40B4-BE49-F238E27FC236}">
                  <a16:creationId xmlns:a16="http://schemas.microsoft.com/office/drawing/2014/main" id="{102A6AD4-CD13-601E-A08F-548CE57AF160}"/>
                </a:ext>
              </a:extLst>
            </p:cNvPr>
            <p:cNvGrpSpPr/>
            <p:nvPr/>
          </p:nvGrpSpPr>
          <p:grpSpPr>
            <a:xfrm>
              <a:off x="1977982" y="2795408"/>
              <a:ext cx="1417320" cy="1572768"/>
              <a:chOff x="1977982" y="2795408"/>
              <a:chExt cx="1417320" cy="1572768"/>
            </a:xfrm>
          </p:grpSpPr>
          <p:sp>
            <p:nvSpPr>
              <p:cNvPr id="18" name="Round Single Corner Rectangle 18">
                <a:extLst>
                  <a:ext uri="{FF2B5EF4-FFF2-40B4-BE49-F238E27FC236}">
                    <a16:creationId xmlns:a16="http://schemas.microsoft.com/office/drawing/2014/main" id="{C555D0B4-A047-13BD-7038-7B53C0DF86B0}"/>
                  </a:ext>
                </a:extLst>
              </p:cNvPr>
              <p:cNvSpPr/>
              <p:nvPr/>
            </p:nvSpPr>
            <p:spPr>
              <a:xfrm>
                <a:off x="1977982" y="27954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19" name="Deal Size 2">
                <a:extLst>
                  <a:ext uri="{FF2B5EF4-FFF2-40B4-BE49-F238E27FC236}">
                    <a16:creationId xmlns:a16="http://schemas.microsoft.com/office/drawing/2014/main" id="{D0555204-46CF-74EB-EDEF-15C84B771B06}"/>
                  </a:ext>
                </a:extLst>
              </p:cNvPr>
              <p:cNvSpPr/>
              <p:nvPr/>
            </p:nvSpPr>
            <p:spPr>
              <a:xfrm>
                <a:off x="1977982" y="3355138"/>
                <a:ext cx="1417320" cy="215444"/>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S$464 million</a:t>
                </a:r>
              </a:p>
              <a:p>
                <a:pPr marL="0" marR="0" lvl="0" indent="0" algn="ctr" defTabSz="914400" eaLnBrk="1" fontAlgn="auto" latinLnBrk="0" hangingPunct="1">
                  <a:lnSpc>
                    <a:spcPct val="100000"/>
                  </a:lnSpc>
                  <a:spcBef>
                    <a:spcPts val="0"/>
                  </a:spcBef>
                  <a:spcAft>
                    <a:spcPts val="0"/>
                  </a:spcAft>
                  <a:buClrTx/>
                  <a:buSzTx/>
                  <a:buFontTx/>
                  <a:buNone/>
                  <a:tabLst/>
                  <a:defRPr/>
                </a:pPr>
                <a:r>
                  <a:rPr lang="en-GB" sz="700" b="0" kern="0">
                    <a:solidFill>
                      <a:prstClr val="black"/>
                    </a:solidFill>
                    <a:latin typeface="+mj-lt"/>
                    <a:cs typeface="Arial" panose="020B0604020202020204" pitchFamily="34" charset="0"/>
                  </a:rPr>
                  <a:t>IPO</a:t>
                </a:r>
                <a:endPar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endParaRPr>
              </a:p>
            </p:txBody>
          </p:sp>
          <p:sp>
            <p:nvSpPr>
              <p:cNvPr id="20" name="Deal Date 2">
                <a:extLst>
                  <a:ext uri="{FF2B5EF4-FFF2-40B4-BE49-F238E27FC236}">
                    <a16:creationId xmlns:a16="http://schemas.microsoft.com/office/drawing/2014/main" id="{41E8922C-9BB1-71B0-B67D-CDDA3C128861}"/>
                  </a:ext>
                </a:extLst>
              </p:cNvPr>
              <p:cNvSpPr/>
              <p:nvPr/>
            </p:nvSpPr>
            <p:spPr>
              <a:xfrm>
                <a:off x="1977982" y="4205386"/>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 2021</a:t>
                </a:r>
              </a:p>
            </p:txBody>
          </p:sp>
          <p:sp>
            <p:nvSpPr>
              <p:cNvPr id="21" name="Description 2">
                <a:extLst>
                  <a:ext uri="{FF2B5EF4-FFF2-40B4-BE49-F238E27FC236}">
                    <a16:creationId xmlns:a16="http://schemas.microsoft.com/office/drawing/2014/main" id="{652184C4-1ECD-CE18-8C7F-723A2A153A4A}"/>
                  </a:ext>
                </a:extLst>
              </p:cNvPr>
              <p:cNvSpPr/>
              <p:nvPr/>
            </p:nvSpPr>
            <p:spPr>
              <a:xfrm>
                <a:off x="1977982" y="3762160"/>
                <a:ext cx="1417320" cy="430887"/>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prstClr val="black"/>
                    </a:solidFill>
                    <a:effectLst/>
                    <a:uLnTx/>
                    <a:uFillTx/>
                    <a:latin typeface="+mj-lt"/>
                    <a:ea typeface="+mn-ea"/>
                    <a:cs typeface="Arial" panose="020B0604020202020204" pitchFamily="34" charset="0"/>
                  </a:rPr>
                  <a:t>Sole Financial Advisor, Joint Issue Manager, Joint Global Coordinator, Joint Bookrunner and Underwriter</a:t>
                </a:r>
                <a:endPar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endParaRPr>
              </a:p>
            </p:txBody>
          </p:sp>
          <p:sp>
            <p:nvSpPr>
              <p:cNvPr id="22" name="Mainlogo 2">
                <a:extLst>
                  <a:ext uri="{FF2B5EF4-FFF2-40B4-BE49-F238E27FC236}">
                    <a16:creationId xmlns:a16="http://schemas.microsoft.com/office/drawing/2014/main" id="{20D1B8CE-34ED-AD21-2E4C-1034EB9A3518}"/>
                  </a:ext>
                </a:extLst>
              </p:cNvPr>
              <p:cNvSpPr/>
              <p:nvPr/>
            </p:nvSpPr>
            <p:spPr>
              <a:xfrm>
                <a:off x="2103305" y="2891472"/>
                <a:ext cx="1166674" cy="313330"/>
              </a:xfrm>
              <a:prstGeom prst="rect">
                <a:avLst/>
              </a:prstGeom>
              <a:blipFill>
                <a:blip r:embed="rId8"/>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white"/>
                  </a:solidFill>
                  <a:effectLst/>
                  <a:uLnTx/>
                  <a:uFillTx/>
                  <a:latin typeface="+mj-lt"/>
                  <a:ea typeface="+mn-ea"/>
                  <a:cs typeface="+mn-cs"/>
                </a:endParaRPr>
              </a:p>
            </p:txBody>
          </p:sp>
        </p:grpSp>
        <p:grpSp>
          <p:nvGrpSpPr>
            <p:cNvPr id="112" name="Group 111">
              <a:extLst>
                <a:ext uri="{FF2B5EF4-FFF2-40B4-BE49-F238E27FC236}">
                  <a16:creationId xmlns:a16="http://schemas.microsoft.com/office/drawing/2014/main" id="{BE09AAF5-9F81-1BD8-3585-340E1CFC7454}"/>
                </a:ext>
              </a:extLst>
            </p:cNvPr>
            <p:cNvGrpSpPr/>
            <p:nvPr/>
          </p:nvGrpSpPr>
          <p:grpSpPr>
            <a:xfrm>
              <a:off x="3492414" y="2795408"/>
              <a:ext cx="1417320" cy="1572768"/>
              <a:chOff x="3492414" y="2795408"/>
              <a:chExt cx="1417320" cy="1572768"/>
            </a:xfrm>
          </p:grpSpPr>
          <p:sp>
            <p:nvSpPr>
              <p:cNvPr id="67" name="Round Single Corner Rectangle 8">
                <a:extLst>
                  <a:ext uri="{FF2B5EF4-FFF2-40B4-BE49-F238E27FC236}">
                    <a16:creationId xmlns:a16="http://schemas.microsoft.com/office/drawing/2014/main" id="{C94EF358-1BFB-21FE-E968-46EC705852E6}"/>
                  </a:ext>
                </a:extLst>
              </p:cNvPr>
              <p:cNvSpPr/>
              <p:nvPr/>
            </p:nvSpPr>
            <p:spPr>
              <a:xfrm>
                <a:off x="3492414" y="27954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68" name="Deal Size 1">
                <a:extLst>
                  <a:ext uri="{FF2B5EF4-FFF2-40B4-BE49-F238E27FC236}">
                    <a16:creationId xmlns:a16="http://schemas.microsoft.com/office/drawing/2014/main" id="{246FD4EF-C833-48A2-C05F-D3019A33C712}"/>
                  </a:ext>
                </a:extLst>
              </p:cNvPr>
              <p:cNvSpPr/>
              <p:nvPr/>
            </p:nvSpPr>
            <p:spPr>
              <a:xfrm>
                <a:off x="3492414" y="3355138"/>
                <a:ext cx="141732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US$767 million</a:t>
                </a:r>
              </a:p>
              <a:p>
                <a:pPr algn="ctr"/>
                <a:r>
                  <a:rPr lang="en-GB" sz="700" b="0">
                    <a:solidFill>
                      <a:schemeClr val="tx1"/>
                    </a:solidFill>
                    <a:latin typeface="+mj-lt"/>
                    <a:cs typeface="Arial" panose="020B0604020202020204" pitchFamily="34" charset="0"/>
                  </a:rPr>
                  <a:t>IPO</a:t>
                </a:r>
              </a:p>
            </p:txBody>
          </p:sp>
          <p:sp>
            <p:nvSpPr>
              <p:cNvPr id="69" name="Deal Date 1">
                <a:extLst>
                  <a:ext uri="{FF2B5EF4-FFF2-40B4-BE49-F238E27FC236}">
                    <a16:creationId xmlns:a16="http://schemas.microsoft.com/office/drawing/2014/main" id="{8D4000F3-731C-B6FC-5534-62FAE9B80332}"/>
                  </a:ext>
                </a:extLst>
              </p:cNvPr>
              <p:cNvSpPr/>
              <p:nvPr/>
            </p:nvSpPr>
            <p:spPr>
              <a:xfrm>
                <a:off x="3492414" y="4205386"/>
                <a:ext cx="1417320" cy="107722"/>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 2021</a:t>
                </a:r>
              </a:p>
            </p:txBody>
          </p:sp>
          <p:sp>
            <p:nvSpPr>
              <p:cNvPr id="70" name="Description 1">
                <a:extLst>
                  <a:ext uri="{FF2B5EF4-FFF2-40B4-BE49-F238E27FC236}">
                    <a16:creationId xmlns:a16="http://schemas.microsoft.com/office/drawing/2014/main" id="{2F6BB39E-2AA7-8968-7F66-A78EDF9FCE19}"/>
                  </a:ext>
                </a:extLst>
              </p:cNvPr>
              <p:cNvSpPr/>
              <p:nvPr/>
            </p:nvSpPr>
            <p:spPr>
              <a:xfrm>
                <a:off x="3492414" y="3762160"/>
                <a:ext cx="141732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US" sz="700" b="0">
                    <a:solidFill>
                      <a:schemeClr val="tx1"/>
                    </a:solidFill>
                    <a:latin typeface="+mj-lt"/>
                    <a:cs typeface="Arial" panose="020B0604020202020204" pitchFamily="34" charset="0"/>
                  </a:rPr>
                  <a:t>Joint Global Coordinator and Joint Bookrunner</a:t>
                </a:r>
                <a:endParaRPr lang="en-GB" sz="700" b="0">
                  <a:solidFill>
                    <a:schemeClr val="tx1"/>
                  </a:solidFill>
                  <a:latin typeface="+mj-lt"/>
                  <a:cs typeface="Arial" panose="020B0604020202020204" pitchFamily="34" charset="0"/>
                </a:endParaRPr>
              </a:p>
            </p:txBody>
          </p:sp>
          <p:sp>
            <p:nvSpPr>
              <p:cNvPr id="71" name="Mainlogo 1">
                <a:extLst>
                  <a:ext uri="{FF2B5EF4-FFF2-40B4-BE49-F238E27FC236}">
                    <a16:creationId xmlns:a16="http://schemas.microsoft.com/office/drawing/2014/main" id="{7F759DF1-6139-4FF1-4CA9-472531FBA67E}"/>
                  </a:ext>
                </a:extLst>
              </p:cNvPr>
              <p:cNvSpPr/>
              <p:nvPr/>
            </p:nvSpPr>
            <p:spPr>
              <a:xfrm>
                <a:off x="3617737" y="2891472"/>
                <a:ext cx="1166674" cy="313330"/>
              </a:xfrm>
              <a:prstGeom prst="rect">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b="0">
                  <a:latin typeface="+mj-lt"/>
                  <a:cs typeface="Arial" panose="020B0604020202020204" pitchFamily="34" charset="0"/>
                </a:endParaRPr>
              </a:p>
            </p:txBody>
          </p:sp>
        </p:grpSp>
        <p:grpSp>
          <p:nvGrpSpPr>
            <p:cNvPr id="111" name="Group 110">
              <a:extLst>
                <a:ext uri="{FF2B5EF4-FFF2-40B4-BE49-F238E27FC236}">
                  <a16:creationId xmlns:a16="http://schemas.microsoft.com/office/drawing/2014/main" id="{61DCCB4C-B6B9-C8D4-C257-B68F9CFB90FD}"/>
                </a:ext>
              </a:extLst>
            </p:cNvPr>
            <p:cNvGrpSpPr/>
            <p:nvPr/>
          </p:nvGrpSpPr>
          <p:grpSpPr>
            <a:xfrm>
              <a:off x="4998690" y="2795408"/>
              <a:ext cx="1417320" cy="1572768"/>
              <a:chOff x="4998690" y="2795408"/>
              <a:chExt cx="1417320" cy="1572768"/>
            </a:xfrm>
          </p:grpSpPr>
          <p:sp>
            <p:nvSpPr>
              <p:cNvPr id="72" name="Round Single Corner Rectangle 18">
                <a:extLst>
                  <a:ext uri="{FF2B5EF4-FFF2-40B4-BE49-F238E27FC236}">
                    <a16:creationId xmlns:a16="http://schemas.microsoft.com/office/drawing/2014/main" id="{ABBE0B98-154F-3864-9D79-D5ACEECB8DB4}"/>
                  </a:ext>
                </a:extLst>
              </p:cNvPr>
              <p:cNvSpPr/>
              <p:nvPr/>
            </p:nvSpPr>
            <p:spPr>
              <a:xfrm>
                <a:off x="4998690" y="27954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73" name="Deal Size 2">
                <a:extLst>
                  <a:ext uri="{FF2B5EF4-FFF2-40B4-BE49-F238E27FC236}">
                    <a16:creationId xmlns:a16="http://schemas.microsoft.com/office/drawing/2014/main" id="{BE16431C-A7E1-6DD7-E708-32B056FD55E0}"/>
                  </a:ext>
                </a:extLst>
              </p:cNvPr>
              <p:cNvSpPr/>
              <p:nvPr/>
            </p:nvSpPr>
            <p:spPr>
              <a:xfrm>
                <a:off x="4998690" y="3355138"/>
                <a:ext cx="141732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IDR5.7 trillion</a:t>
                </a:r>
              </a:p>
              <a:p>
                <a:pPr algn="ctr"/>
                <a:r>
                  <a:rPr lang="en-GB" sz="700" b="0">
                    <a:solidFill>
                      <a:schemeClr val="tx1"/>
                    </a:solidFill>
                    <a:latin typeface="+mj-lt"/>
                    <a:cs typeface="Arial" panose="020B0604020202020204" pitchFamily="34" charset="0"/>
                  </a:rPr>
                  <a:t>IPO</a:t>
                </a:r>
              </a:p>
            </p:txBody>
          </p:sp>
          <p:sp>
            <p:nvSpPr>
              <p:cNvPr id="74" name="Deal Date 2">
                <a:extLst>
                  <a:ext uri="{FF2B5EF4-FFF2-40B4-BE49-F238E27FC236}">
                    <a16:creationId xmlns:a16="http://schemas.microsoft.com/office/drawing/2014/main" id="{6D547EC4-D64D-46BB-B665-484E08B6F84C}"/>
                  </a:ext>
                </a:extLst>
              </p:cNvPr>
              <p:cNvSpPr/>
              <p:nvPr/>
            </p:nvSpPr>
            <p:spPr>
              <a:xfrm>
                <a:off x="4998690" y="4205386"/>
                <a:ext cx="1417320" cy="107722"/>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 2021</a:t>
                </a:r>
              </a:p>
            </p:txBody>
          </p:sp>
          <p:sp>
            <p:nvSpPr>
              <p:cNvPr id="75" name="Description 2">
                <a:extLst>
                  <a:ext uri="{FF2B5EF4-FFF2-40B4-BE49-F238E27FC236}">
                    <a16:creationId xmlns:a16="http://schemas.microsoft.com/office/drawing/2014/main" id="{07C3B04E-6EE7-A9FC-CDD4-B860831CE909}"/>
                  </a:ext>
                </a:extLst>
              </p:cNvPr>
              <p:cNvSpPr/>
              <p:nvPr/>
            </p:nvSpPr>
            <p:spPr>
              <a:xfrm>
                <a:off x="4998690" y="3762160"/>
                <a:ext cx="1417320" cy="107722"/>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Joint Bookrunner</a:t>
                </a:r>
              </a:p>
            </p:txBody>
          </p:sp>
          <p:sp>
            <p:nvSpPr>
              <p:cNvPr id="76" name="Mainlogo 2">
                <a:extLst>
                  <a:ext uri="{FF2B5EF4-FFF2-40B4-BE49-F238E27FC236}">
                    <a16:creationId xmlns:a16="http://schemas.microsoft.com/office/drawing/2014/main" id="{0B785CB1-F36E-9474-1C5F-992BD61C77CC}"/>
                  </a:ext>
                </a:extLst>
              </p:cNvPr>
              <p:cNvSpPr/>
              <p:nvPr/>
            </p:nvSpPr>
            <p:spPr>
              <a:xfrm>
                <a:off x="5269954" y="2920467"/>
                <a:ext cx="874793" cy="255340"/>
              </a:xfrm>
              <a:prstGeom prst="rect">
                <a:avLst/>
              </a:prstGeom>
              <a:blipFill>
                <a:blip r:embed="rId1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b="0">
                  <a:latin typeface="+mj-lt"/>
                  <a:cs typeface="Arial" panose="020B0604020202020204" pitchFamily="34" charset="0"/>
                </a:endParaRPr>
              </a:p>
            </p:txBody>
          </p:sp>
        </p:grpSp>
        <p:grpSp>
          <p:nvGrpSpPr>
            <p:cNvPr id="110" name="Group 109">
              <a:extLst>
                <a:ext uri="{FF2B5EF4-FFF2-40B4-BE49-F238E27FC236}">
                  <a16:creationId xmlns:a16="http://schemas.microsoft.com/office/drawing/2014/main" id="{F9015008-6E1F-D790-5313-EE3299BA94FE}"/>
                </a:ext>
              </a:extLst>
            </p:cNvPr>
            <p:cNvGrpSpPr/>
            <p:nvPr/>
          </p:nvGrpSpPr>
          <p:grpSpPr>
            <a:xfrm>
              <a:off x="6510450" y="2795408"/>
              <a:ext cx="1417320" cy="1572768"/>
              <a:chOff x="6510450" y="2795408"/>
              <a:chExt cx="1417320" cy="1572768"/>
            </a:xfrm>
          </p:grpSpPr>
          <p:sp>
            <p:nvSpPr>
              <p:cNvPr id="77" name="Round Single Corner Rectangle 68">
                <a:extLst>
                  <a:ext uri="{FF2B5EF4-FFF2-40B4-BE49-F238E27FC236}">
                    <a16:creationId xmlns:a16="http://schemas.microsoft.com/office/drawing/2014/main" id="{57FE45DF-AB8E-0D33-5A42-C9CECC200AC4}"/>
                  </a:ext>
                </a:extLst>
              </p:cNvPr>
              <p:cNvSpPr/>
              <p:nvPr/>
            </p:nvSpPr>
            <p:spPr>
              <a:xfrm>
                <a:off x="6510450" y="27954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78" name="Deal Size 7">
                <a:extLst>
                  <a:ext uri="{FF2B5EF4-FFF2-40B4-BE49-F238E27FC236}">
                    <a16:creationId xmlns:a16="http://schemas.microsoft.com/office/drawing/2014/main" id="{2D9C82AF-55DF-BFB7-9EF3-059D8E693CE5}"/>
                  </a:ext>
                </a:extLst>
              </p:cNvPr>
              <p:cNvSpPr/>
              <p:nvPr/>
            </p:nvSpPr>
            <p:spPr>
              <a:xfrm>
                <a:off x="6510450" y="3355138"/>
                <a:ext cx="141732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US$1.09 billion</a:t>
                </a:r>
              </a:p>
              <a:p>
                <a:pPr algn="ctr"/>
                <a:r>
                  <a:rPr lang="en-GB" sz="700" b="0">
                    <a:solidFill>
                      <a:schemeClr val="tx1"/>
                    </a:solidFill>
                    <a:latin typeface="+mj-lt"/>
                    <a:cs typeface="Arial" panose="020B0604020202020204" pitchFamily="34" charset="0"/>
                  </a:rPr>
                  <a:t>IPO</a:t>
                </a:r>
              </a:p>
            </p:txBody>
          </p:sp>
          <p:sp>
            <p:nvSpPr>
              <p:cNvPr id="79" name="Deal Date 7">
                <a:extLst>
                  <a:ext uri="{FF2B5EF4-FFF2-40B4-BE49-F238E27FC236}">
                    <a16:creationId xmlns:a16="http://schemas.microsoft.com/office/drawing/2014/main" id="{CF3FBA80-BAB7-1D43-B4CC-B2F8178C6AA8}"/>
                  </a:ext>
                </a:extLst>
              </p:cNvPr>
              <p:cNvSpPr/>
              <p:nvPr/>
            </p:nvSpPr>
            <p:spPr>
              <a:xfrm>
                <a:off x="6510450" y="4205386"/>
                <a:ext cx="1417320" cy="107722"/>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 2021</a:t>
                </a:r>
              </a:p>
            </p:txBody>
          </p:sp>
          <p:sp>
            <p:nvSpPr>
              <p:cNvPr id="80" name="Description 7">
                <a:extLst>
                  <a:ext uri="{FF2B5EF4-FFF2-40B4-BE49-F238E27FC236}">
                    <a16:creationId xmlns:a16="http://schemas.microsoft.com/office/drawing/2014/main" id="{9A9353CC-9A7B-6473-1060-9774308DFA2D}"/>
                  </a:ext>
                </a:extLst>
              </p:cNvPr>
              <p:cNvSpPr/>
              <p:nvPr/>
            </p:nvSpPr>
            <p:spPr>
              <a:xfrm>
                <a:off x="6510450" y="3762160"/>
                <a:ext cx="141732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US" sz="700" b="0">
                    <a:solidFill>
                      <a:schemeClr val="tx1"/>
                    </a:solidFill>
                    <a:latin typeface="+mj-lt"/>
                    <a:cs typeface="Arial" panose="020B0604020202020204" pitchFamily="34" charset="0"/>
                  </a:rPr>
                  <a:t>Joint Bookrunner and Joint Lead Manager</a:t>
                </a:r>
                <a:endParaRPr lang="en-GB" sz="700" b="0">
                  <a:solidFill>
                    <a:schemeClr val="tx1"/>
                  </a:solidFill>
                  <a:latin typeface="+mj-lt"/>
                  <a:cs typeface="Arial" panose="020B0604020202020204" pitchFamily="34" charset="0"/>
                </a:endParaRPr>
              </a:p>
            </p:txBody>
          </p:sp>
          <p:sp>
            <p:nvSpPr>
              <p:cNvPr id="81" name="Mainlogo 7">
                <a:extLst>
                  <a:ext uri="{FF2B5EF4-FFF2-40B4-BE49-F238E27FC236}">
                    <a16:creationId xmlns:a16="http://schemas.microsoft.com/office/drawing/2014/main" id="{A20EDF9B-45EE-A5C3-59D7-32387766CE6F}"/>
                  </a:ext>
                </a:extLst>
              </p:cNvPr>
              <p:cNvSpPr/>
              <p:nvPr/>
            </p:nvSpPr>
            <p:spPr>
              <a:xfrm>
                <a:off x="6635773" y="2891472"/>
                <a:ext cx="1166674" cy="313330"/>
              </a:xfrm>
              <a:prstGeom prst="rect">
                <a:avLst/>
              </a:prstGeom>
              <a:blipFill>
                <a:blip r:embed="rId1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b="0">
                  <a:latin typeface="+mj-lt"/>
                  <a:cs typeface="Arial" panose="020B0604020202020204" pitchFamily="34" charset="0"/>
                </a:endParaRPr>
              </a:p>
            </p:txBody>
          </p:sp>
        </p:grpSp>
      </p:grpSp>
      <p:grpSp>
        <p:nvGrpSpPr>
          <p:cNvPr id="105" name="Group 104">
            <a:extLst>
              <a:ext uri="{FF2B5EF4-FFF2-40B4-BE49-F238E27FC236}">
                <a16:creationId xmlns:a16="http://schemas.microsoft.com/office/drawing/2014/main" id="{3FC17541-DBFB-C7C4-9D13-2C95D236D73B}"/>
              </a:ext>
            </a:extLst>
          </p:cNvPr>
          <p:cNvGrpSpPr/>
          <p:nvPr/>
        </p:nvGrpSpPr>
        <p:grpSpPr>
          <a:xfrm>
            <a:off x="3460725" y="4601572"/>
            <a:ext cx="1449009" cy="1572768"/>
            <a:chOff x="1952994" y="4601572"/>
            <a:chExt cx="1449009" cy="1572768"/>
          </a:xfrm>
        </p:grpSpPr>
        <p:sp>
          <p:nvSpPr>
            <p:cNvPr id="82" name="Round Single Corner Rectangle 138">
              <a:extLst>
                <a:ext uri="{FF2B5EF4-FFF2-40B4-BE49-F238E27FC236}">
                  <a16:creationId xmlns:a16="http://schemas.microsoft.com/office/drawing/2014/main" id="{0CF0868A-1E76-3F76-47FA-2A6556BA233D}"/>
                </a:ext>
              </a:extLst>
            </p:cNvPr>
            <p:cNvSpPr/>
            <p:nvPr/>
          </p:nvSpPr>
          <p:spPr>
            <a:xfrm>
              <a:off x="1968838" y="4601572"/>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pic>
          <p:nvPicPr>
            <p:cNvPr id="83" name="Picture 12" descr="BPEA | Private Equity | Portfolio">
              <a:extLst>
                <a:ext uri="{FF2B5EF4-FFF2-40B4-BE49-F238E27FC236}">
                  <a16:creationId xmlns:a16="http://schemas.microsoft.com/office/drawing/2014/main" id="{6262D9B5-2181-2442-3003-ABAD1D29FDD3}"/>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330113" y="4769842"/>
              <a:ext cx="694771" cy="197864"/>
            </a:xfrm>
            <a:prstGeom prst="rect">
              <a:avLst/>
            </a:prstGeom>
            <a:noFill/>
            <a:extLst>
              <a:ext uri="{909E8E84-426E-40DD-AFC4-6F175D3DCCD1}">
                <a14:hiddenFill xmlns:a14="http://schemas.microsoft.com/office/drawing/2010/main">
                  <a:solidFill>
                    <a:srgbClr val="FFFFFF"/>
                  </a:solidFill>
                </a14:hiddenFill>
              </a:ext>
            </a:extLst>
          </p:spPr>
        </p:pic>
        <p:sp>
          <p:nvSpPr>
            <p:cNvPr id="84" name="Deal Date 15">
              <a:extLst>
                <a:ext uri="{FF2B5EF4-FFF2-40B4-BE49-F238E27FC236}">
                  <a16:creationId xmlns:a16="http://schemas.microsoft.com/office/drawing/2014/main" id="{429A04D6-00C4-7802-85D7-B3AE3ED6C455}"/>
                </a:ext>
              </a:extLst>
            </p:cNvPr>
            <p:cNvSpPr/>
            <p:nvPr/>
          </p:nvSpPr>
          <p:spPr>
            <a:xfrm>
              <a:off x="1952994" y="5987403"/>
              <a:ext cx="1449009" cy="107722"/>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eaLnBrk="0" fontAlgn="auto" hangingPunct="0">
                <a:spcBef>
                  <a:spcPts val="0"/>
                </a:spcBef>
                <a:spcAft>
                  <a:spcPts val="0"/>
                </a:spcAft>
                <a:defRPr/>
              </a:pPr>
              <a:r>
                <a:rPr lang="id-ID" sz="700" b="0" kern="0">
                  <a:solidFill>
                    <a:srgbClr val="000000"/>
                  </a:solidFill>
                  <a:latin typeface="+mj-lt"/>
                  <a:cs typeface="Calibri" panose="020F0502020204030204" pitchFamily="34" charset="0"/>
                </a:rPr>
                <a:t>2020</a:t>
              </a:r>
              <a:endParaRPr lang="en-GB" sz="700" b="0" kern="0">
                <a:solidFill>
                  <a:srgbClr val="000000"/>
                </a:solidFill>
                <a:latin typeface="+mj-lt"/>
                <a:cs typeface="Calibri" panose="020F0502020204030204" pitchFamily="34" charset="0"/>
              </a:endParaRPr>
            </a:p>
          </p:txBody>
        </p:sp>
        <p:sp>
          <p:nvSpPr>
            <p:cNvPr id="85" name="Description 15">
              <a:extLst>
                <a:ext uri="{FF2B5EF4-FFF2-40B4-BE49-F238E27FC236}">
                  <a16:creationId xmlns:a16="http://schemas.microsoft.com/office/drawing/2014/main" id="{54E78888-DF8C-E4D5-C01E-CF4CF8B9175E}"/>
                </a:ext>
              </a:extLst>
            </p:cNvPr>
            <p:cNvSpPr/>
            <p:nvPr/>
          </p:nvSpPr>
          <p:spPr>
            <a:xfrm>
              <a:off x="1956572" y="5470880"/>
              <a:ext cx="1441853" cy="215444"/>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eaLnBrk="0" fontAlgn="auto" hangingPunct="0">
                <a:spcBef>
                  <a:spcPts val="0"/>
                </a:spcBef>
                <a:spcAft>
                  <a:spcPts val="0"/>
                </a:spcAft>
                <a:defRPr/>
              </a:pPr>
              <a:r>
                <a:rPr lang="id-ID" sz="700" b="0" kern="0">
                  <a:solidFill>
                    <a:srgbClr val="000000"/>
                  </a:solidFill>
                  <a:latin typeface="+mj-lt"/>
                  <a:cs typeface="Calibri" panose="020F0502020204030204" pitchFamily="34" charset="0"/>
                </a:rPr>
                <a:t>Joint Bookrunner &amp; Joint Lead Manager</a:t>
              </a:r>
              <a:endParaRPr lang="en-SG" sz="700" b="0" kern="0">
                <a:solidFill>
                  <a:srgbClr val="000000"/>
                </a:solidFill>
                <a:latin typeface="+mj-lt"/>
                <a:cs typeface="Calibri" panose="020F0502020204030204" pitchFamily="34" charset="0"/>
              </a:endParaRPr>
            </a:p>
          </p:txBody>
        </p:sp>
        <p:sp>
          <p:nvSpPr>
            <p:cNvPr id="86" name="Deal Size 2">
              <a:extLst>
                <a:ext uri="{FF2B5EF4-FFF2-40B4-BE49-F238E27FC236}">
                  <a16:creationId xmlns:a16="http://schemas.microsoft.com/office/drawing/2014/main" id="{334AD95B-3B63-BB2C-A0FB-15DC0632D54D}"/>
                </a:ext>
              </a:extLst>
            </p:cNvPr>
            <p:cNvSpPr/>
            <p:nvPr/>
          </p:nvSpPr>
          <p:spPr>
            <a:xfrm>
              <a:off x="1961150" y="5142156"/>
              <a:ext cx="1432697" cy="215444"/>
            </a:xfrm>
            <a:prstGeom prst="rect">
              <a:avLst/>
            </a:prstGeom>
            <a:noFill/>
            <a:ln w="6350" cap="flat" cmpd="sng" algn="ctr">
              <a:noFill/>
              <a:prstDash val="solid"/>
              <a:miter lim="800000"/>
              <a:headEnd/>
              <a:tailEnd type="none" w="sm" len="sm"/>
            </a:ln>
            <a:effectLst/>
          </p:spPr>
          <p:txBody>
            <a:bodyPr wrap="square" lIns="66463" tIns="0" rIns="33231" bIns="0" rtlCol="0" anchor="t" anchorCtr="0">
              <a:spAutoFit/>
            </a:bodyPr>
            <a:lstStyle/>
            <a:p>
              <a:pPr algn="ctr" eaLnBrk="0" fontAlgn="auto" hangingPunct="0">
                <a:spcBef>
                  <a:spcPts val="0"/>
                </a:spcBef>
                <a:spcAft>
                  <a:spcPts val="0"/>
                </a:spcAft>
                <a:defRPr/>
              </a:pPr>
              <a:r>
                <a:rPr lang="id-ID" altLang="zh-TW" sz="700" b="0" kern="0">
                  <a:solidFill>
                    <a:srgbClr val="000000"/>
                  </a:solidFill>
                  <a:latin typeface="+mj-lt"/>
                  <a:ea typeface="DFKaiShu-GB5"/>
                  <a:cs typeface="Calibri" panose="020F0502020204030204" pitchFamily="34" charset="0"/>
                </a:rPr>
                <a:t>US$</a:t>
              </a:r>
              <a:r>
                <a:rPr lang="en-SG" altLang="zh-TW" sz="700" b="0" kern="0">
                  <a:solidFill>
                    <a:srgbClr val="000000"/>
                  </a:solidFill>
                  <a:latin typeface="+mj-lt"/>
                  <a:ea typeface="DFKaiShu-GB5"/>
                  <a:cs typeface="Calibri" panose="020F0502020204030204" pitchFamily="34" charset="0"/>
                </a:rPr>
                <a:t>4</a:t>
              </a:r>
              <a:r>
                <a:rPr lang="id-ID" altLang="zh-TW" sz="700" b="0" kern="0">
                  <a:solidFill>
                    <a:srgbClr val="000000"/>
                  </a:solidFill>
                  <a:latin typeface="+mj-lt"/>
                  <a:ea typeface="DFKaiShu-GB5"/>
                  <a:cs typeface="Calibri" panose="020F0502020204030204" pitchFamily="34" charset="0"/>
                </a:rPr>
                <a:t> billion</a:t>
              </a:r>
              <a:endParaRPr lang="en-US" altLang="zh-TW" sz="700" b="0" kern="0">
                <a:solidFill>
                  <a:srgbClr val="000000"/>
                </a:solidFill>
                <a:latin typeface="+mj-lt"/>
                <a:ea typeface="DFKaiShu-GB5"/>
                <a:cs typeface="Calibri" panose="020F0502020204030204" pitchFamily="34" charset="0"/>
              </a:endParaRPr>
            </a:p>
            <a:p>
              <a:pPr algn="ctr" eaLnBrk="0" fontAlgn="auto" hangingPunct="0">
                <a:spcBef>
                  <a:spcPts val="0"/>
                </a:spcBef>
                <a:spcAft>
                  <a:spcPts val="0"/>
                </a:spcAft>
                <a:defRPr/>
              </a:pPr>
              <a:r>
                <a:rPr lang="en-US" altLang="zh-TW" sz="700" b="0" kern="0">
                  <a:solidFill>
                    <a:srgbClr val="000000"/>
                  </a:solidFill>
                  <a:latin typeface="+mj-lt"/>
                  <a:ea typeface="DFKaiShu-GB5"/>
                  <a:cs typeface="Calibri" panose="020F0502020204030204" pitchFamily="34" charset="0"/>
                </a:rPr>
                <a:t>IPO</a:t>
              </a:r>
            </a:p>
          </p:txBody>
        </p:sp>
      </p:grpSp>
      <p:grpSp>
        <p:nvGrpSpPr>
          <p:cNvPr id="106" name="Group 105">
            <a:extLst>
              <a:ext uri="{FF2B5EF4-FFF2-40B4-BE49-F238E27FC236}">
                <a16:creationId xmlns:a16="http://schemas.microsoft.com/office/drawing/2014/main" id="{7572B1D3-7E79-B89C-F554-E4830AD22494}"/>
              </a:ext>
            </a:extLst>
          </p:cNvPr>
          <p:cNvGrpSpPr/>
          <p:nvPr/>
        </p:nvGrpSpPr>
        <p:grpSpPr>
          <a:xfrm>
            <a:off x="6510450" y="4601572"/>
            <a:ext cx="1417320" cy="1572768"/>
            <a:chOff x="4989546" y="4601572"/>
            <a:chExt cx="1417320" cy="1572768"/>
          </a:xfrm>
        </p:grpSpPr>
        <p:sp>
          <p:nvSpPr>
            <p:cNvPr id="87" name="Round Single Corner Rectangle 138">
              <a:extLst>
                <a:ext uri="{FF2B5EF4-FFF2-40B4-BE49-F238E27FC236}">
                  <a16:creationId xmlns:a16="http://schemas.microsoft.com/office/drawing/2014/main" id="{FBFD2FB1-8B2B-B0B4-1287-7EA3E263324C}"/>
                </a:ext>
              </a:extLst>
            </p:cNvPr>
            <p:cNvSpPr/>
            <p:nvPr/>
          </p:nvSpPr>
          <p:spPr>
            <a:xfrm>
              <a:off x="4989546" y="4601572"/>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88" name="Deal Size 15">
              <a:extLst>
                <a:ext uri="{FF2B5EF4-FFF2-40B4-BE49-F238E27FC236}">
                  <a16:creationId xmlns:a16="http://schemas.microsoft.com/office/drawing/2014/main" id="{B96F4FFE-26D6-3193-94A1-AF0F2C24EB84}"/>
                </a:ext>
              </a:extLst>
            </p:cNvPr>
            <p:cNvSpPr/>
            <p:nvPr/>
          </p:nvSpPr>
          <p:spPr>
            <a:xfrm>
              <a:off x="4989546" y="5142156"/>
              <a:ext cx="141732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S$2.4 billion</a:t>
              </a:r>
            </a:p>
            <a:p>
              <a:pPr algn="ctr"/>
              <a:r>
                <a:rPr lang="en-GB" sz="700" b="0">
                  <a:solidFill>
                    <a:schemeClr val="tx1"/>
                  </a:solidFill>
                  <a:latin typeface="+mj-lt"/>
                  <a:cs typeface="Arial" panose="020B0604020202020204" pitchFamily="34" charset="0"/>
                </a:rPr>
                <a:t>IPO</a:t>
              </a:r>
            </a:p>
          </p:txBody>
        </p:sp>
        <p:sp>
          <p:nvSpPr>
            <p:cNvPr id="89" name="Deal Date 15">
              <a:extLst>
                <a:ext uri="{FF2B5EF4-FFF2-40B4-BE49-F238E27FC236}">
                  <a16:creationId xmlns:a16="http://schemas.microsoft.com/office/drawing/2014/main" id="{30C63C36-EB11-A4A0-EB8F-49628A843E5F}"/>
                </a:ext>
              </a:extLst>
            </p:cNvPr>
            <p:cNvSpPr/>
            <p:nvPr/>
          </p:nvSpPr>
          <p:spPr>
            <a:xfrm>
              <a:off x="4989546" y="5987403"/>
              <a:ext cx="1417320" cy="107722"/>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 2017</a:t>
              </a:r>
            </a:p>
          </p:txBody>
        </p:sp>
        <p:sp>
          <p:nvSpPr>
            <p:cNvPr id="90" name="Description 15">
              <a:extLst>
                <a:ext uri="{FF2B5EF4-FFF2-40B4-BE49-F238E27FC236}">
                  <a16:creationId xmlns:a16="http://schemas.microsoft.com/office/drawing/2014/main" id="{37B3A629-FC38-6027-3755-1B83116BAFC3}"/>
                </a:ext>
              </a:extLst>
            </p:cNvPr>
            <p:cNvSpPr/>
            <p:nvPr/>
          </p:nvSpPr>
          <p:spPr>
            <a:xfrm>
              <a:off x="4989546" y="5470880"/>
              <a:ext cx="1417320" cy="323165"/>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US" sz="700" b="0">
                  <a:solidFill>
                    <a:schemeClr val="tx1"/>
                  </a:solidFill>
                  <a:latin typeface="+mj-lt"/>
                  <a:cs typeface="Arial" panose="020B0604020202020204" pitchFamily="34" charset="0"/>
                </a:rPr>
                <a:t>Joint Issue Manager and Joint Global Coordinator, Joint Bookrunner and Underwriter</a:t>
              </a:r>
              <a:endParaRPr lang="en-GB" sz="700" b="0">
                <a:solidFill>
                  <a:schemeClr val="tx1"/>
                </a:solidFill>
                <a:latin typeface="+mj-lt"/>
                <a:cs typeface="Arial" panose="020B0604020202020204" pitchFamily="34" charset="0"/>
              </a:endParaRPr>
            </a:p>
          </p:txBody>
        </p:sp>
        <p:sp>
          <p:nvSpPr>
            <p:cNvPr id="91" name="Mainlogo 15">
              <a:extLst>
                <a:ext uri="{FF2B5EF4-FFF2-40B4-BE49-F238E27FC236}">
                  <a16:creationId xmlns:a16="http://schemas.microsoft.com/office/drawing/2014/main" id="{2495AA53-BA3E-C985-B4EC-1CA401BCD748}"/>
                </a:ext>
              </a:extLst>
            </p:cNvPr>
            <p:cNvSpPr/>
            <p:nvPr/>
          </p:nvSpPr>
          <p:spPr>
            <a:xfrm>
              <a:off x="5114869" y="4712109"/>
              <a:ext cx="1166674" cy="313330"/>
            </a:xfrm>
            <a:prstGeom prst="rect">
              <a:avLst/>
            </a:prstGeom>
            <a:blipFill>
              <a:blip r:embed="rId1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b="0">
                <a:latin typeface="+mj-lt"/>
                <a:cs typeface="Arial" panose="020B0604020202020204" pitchFamily="34" charset="0"/>
              </a:endParaRPr>
            </a:p>
          </p:txBody>
        </p:sp>
      </p:grpSp>
      <p:grpSp>
        <p:nvGrpSpPr>
          <p:cNvPr id="196" name="Group 195">
            <a:extLst>
              <a:ext uri="{FF2B5EF4-FFF2-40B4-BE49-F238E27FC236}">
                <a16:creationId xmlns:a16="http://schemas.microsoft.com/office/drawing/2014/main" id="{1D21A873-290E-A9B0-638B-0271FE593D34}"/>
              </a:ext>
            </a:extLst>
          </p:cNvPr>
          <p:cNvGrpSpPr/>
          <p:nvPr/>
        </p:nvGrpSpPr>
        <p:grpSpPr>
          <a:xfrm>
            <a:off x="4980214" y="1033008"/>
            <a:ext cx="1417320" cy="1572768"/>
            <a:chOff x="1959694" y="1033008"/>
            <a:chExt cx="1417320" cy="1572768"/>
          </a:xfrm>
        </p:grpSpPr>
        <p:sp>
          <p:nvSpPr>
            <p:cNvPr id="49" name="Round Single Corner Rectangle 8">
              <a:extLst>
                <a:ext uri="{FF2B5EF4-FFF2-40B4-BE49-F238E27FC236}">
                  <a16:creationId xmlns:a16="http://schemas.microsoft.com/office/drawing/2014/main" id="{EF58D5AC-8A0A-C83C-F3F3-D4A1789ED282}"/>
                </a:ext>
              </a:extLst>
            </p:cNvPr>
            <p:cNvSpPr/>
            <p:nvPr/>
          </p:nvSpPr>
          <p:spPr>
            <a:xfrm>
              <a:off x="1959694" y="10330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Arial"/>
                <a:cs typeface="Arial" panose="020B0604020202020204" pitchFamily="34" charset="0"/>
              </a:endParaRPr>
            </a:p>
          </p:txBody>
        </p:sp>
        <p:sp>
          <p:nvSpPr>
            <p:cNvPr id="50" name="Deal Size 1">
              <a:extLst>
                <a:ext uri="{FF2B5EF4-FFF2-40B4-BE49-F238E27FC236}">
                  <a16:creationId xmlns:a16="http://schemas.microsoft.com/office/drawing/2014/main" id="{681E2C58-4267-5E2F-9B68-98D50AED678C}"/>
                </a:ext>
              </a:extLst>
            </p:cNvPr>
            <p:cNvSpPr/>
            <p:nvPr/>
          </p:nvSpPr>
          <p:spPr>
            <a:xfrm>
              <a:off x="1959694" y="1580695"/>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IDR10.7 trillion</a:t>
              </a:r>
            </a:p>
          </p:txBody>
        </p:sp>
        <p:sp>
          <p:nvSpPr>
            <p:cNvPr id="51" name="Deal Role 1">
              <a:extLst>
                <a:ext uri="{FF2B5EF4-FFF2-40B4-BE49-F238E27FC236}">
                  <a16:creationId xmlns:a16="http://schemas.microsoft.com/office/drawing/2014/main" id="{1BDE0F99-E5CA-0402-8479-247465E6B821}"/>
                </a:ext>
              </a:extLst>
            </p:cNvPr>
            <p:cNvSpPr/>
            <p:nvPr/>
          </p:nvSpPr>
          <p:spPr>
            <a:xfrm>
              <a:off x="1959694" y="1725158"/>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prstClr val="black"/>
                  </a:solidFill>
                  <a:effectLst/>
                  <a:uLnTx/>
                  <a:uFillTx/>
                  <a:latin typeface="+mj-lt"/>
                  <a:ea typeface="+mn-ea"/>
                  <a:cs typeface="Arial" panose="020B0604020202020204" pitchFamily="34" charset="0"/>
                </a:rPr>
                <a:t>IPO</a:t>
              </a:r>
            </a:p>
          </p:txBody>
        </p:sp>
        <p:sp>
          <p:nvSpPr>
            <p:cNvPr id="52" name="Deal Date 1">
              <a:extLst>
                <a:ext uri="{FF2B5EF4-FFF2-40B4-BE49-F238E27FC236}">
                  <a16:creationId xmlns:a16="http://schemas.microsoft.com/office/drawing/2014/main" id="{FEF62E26-E787-7B6A-8A6D-6F0A8C0E5C40}"/>
                </a:ext>
              </a:extLst>
            </p:cNvPr>
            <p:cNvSpPr/>
            <p:nvPr/>
          </p:nvSpPr>
          <p:spPr>
            <a:xfrm>
              <a:off x="1959694" y="2442986"/>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 2023</a:t>
              </a:r>
            </a:p>
          </p:txBody>
        </p:sp>
        <p:sp>
          <p:nvSpPr>
            <p:cNvPr id="53" name="Description 1">
              <a:extLst>
                <a:ext uri="{FF2B5EF4-FFF2-40B4-BE49-F238E27FC236}">
                  <a16:creationId xmlns:a16="http://schemas.microsoft.com/office/drawing/2014/main" id="{CC9BC103-E312-2229-5DA9-AC191B5CC2FE}"/>
                </a:ext>
              </a:extLst>
            </p:cNvPr>
            <p:cNvSpPr/>
            <p:nvPr/>
          </p:nvSpPr>
          <p:spPr>
            <a:xfrm>
              <a:off x="1959694" y="1923973"/>
              <a:ext cx="1417320" cy="430887"/>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700" b="0" i="0" u="none" strike="noStrike" kern="0" cap="none" spc="0" normalizeH="0" baseline="0" noProof="0">
                  <a:ln>
                    <a:noFill/>
                  </a:ln>
                  <a:solidFill>
                    <a:prstClr val="black"/>
                  </a:solidFill>
                  <a:effectLst/>
                  <a:uLnTx/>
                  <a:uFillTx/>
                  <a:latin typeface="+mj-lt"/>
                  <a:ea typeface="+mn-ea"/>
                  <a:cs typeface="Arial" panose="020B0604020202020204" pitchFamily="34" charset="0"/>
                </a:rPr>
                <a:t>Joint Global Coordinator, International Selling Agent,  Lead Managing Underwriter and Bookrunner</a:t>
              </a:r>
              <a:endPar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endParaRPr>
            </a:p>
          </p:txBody>
        </p:sp>
        <p:sp>
          <p:nvSpPr>
            <p:cNvPr id="54" name="Mainlogo 1">
              <a:extLst>
                <a:ext uri="{FF2B5EF4-FFF2-40B4-BE49-F238E27FC236}">
                  <a16:creationId xmlns:a16="http://schemas.microsoft.com/office/drawing/2014/main" id="{E890C5E3-028B-F923-1EFC-84085EA66AA8}"/>
                </a:ext>
              </a:extLst>
            </p:cNvPr>
            <p:cNvSpPr/>
            <p:nvPr/>
          </p:nvSpPr>
          <p:spPr>
            <a:xfrm>
              <a:off x="2085017" y="1101270"/>
              <a:ext cx="1166674" cy="313330"/>
            </a:xfrm>
            <a:prstGeom prst="rect">
              <a:avLst/>
            </a:prstGeom>
            <a:blipFill>
              <a:blip r:embed="rId14"/>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grpSp>
        <p:nvGrpSpPr>
          <p:cNvPr id="197" name="Group 196">
            <a:extLst>
              <a:ext uri="{FF2B5EF4-FFF2-40B4-BE49-F238E27FC236}">
                <a16:creationId xmlns:a16="http://schemas.microsoft.com/office/drawing/2014/main" id="{C3B02E0F-513B-BEBD-1BED-4EED054E958F}"/>
              </a:ext>
            </a:extLst>
          </p:cNvPr>
          <p:cNvGrpSpPr/>
          <p:nvPr/>
        </p:nvGrpSpPr>
        <p:grpSpPr>
          <a:xfrm>
            <a:off x="6494646" y="1033008"/>
            <a:ext cx="1417320" cy="1572768"/>
            <a:chOff x="3474126" y="1033008"/>
            <a:chExt cx="1417320" cy="1572768"/>
          </a:xfrm>
        </p:grpSpPr>
        <p:sp>
          <p:nvSpPr>
            <p:cNvPr id="55" name="Round Single Corner Rectangle 18">
              <a:extLst>
                <a:ext uri="{FF2B5EF4-FFF2-40B4-BE49-F238E27FC236}">
                  <a16:creationId xmlns:a16="http://schemas.microsoft.com/office/drawing/2014/main" id="{A573E9FA-A5D0-D006-A04C-15B88164116E}"/>
                </a:ext>
              </a:extLst>
            </p:cNvPr>
            <p:cNvSpPr/>
            <p:nvPr/>
          </p:nvSpPr>
          <p:spPr>
            <a:xfrm>
              <a:off x="3474126" y="10330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Arial"/>
                <a:cs typeface="Arial" panose="020B0604020202020204" pitchFamily="34" charset="0"/>
              </a:endParaRPr>
            </a:p>
          </p:txBody>
        </p:sp>
        <p:sp>
          <p:nvSpPr>
            <p:cNvPr id="56" name="Deal Size 2">
              <a:extLst>
                <a:ext uri="{FF2B5EF4-FFF2-40B4-BE49-F238E27FC236}">
                  <a16:creationId xmlns:a16="http://schemas.microsoft.com/office/drawing/2014/main" id="{1DE9064C-3CD6-04AC-5247-8856FF38C9D8}"/>
                </a:ext>
              </a:extLst>
            </p:cNvPr>
            <p:cNvSpPr/>
            <p:nvPr/>
          </p:nvSpPr>
          <p:spPr>
            <a:xfrm>
              <a:off x="3474126" y="1580695"/>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US$211.3 million</a:t>
              </a:r>
            </a:p>
          </p:txBody>
        </p:sp>
        <p:sp>
          <p:nvSpPr>
            <p:cNvPr id="57" name="Deal Role 2">
              <a:extLst>
                <a:ext uri="{FF2B5EF4-FFF2-40B4-BE49-F238E27FC236}">
                  <a16:creationId xmlns:a16="http://schemas.microsoft.com/office/drawing/2014/main" id="{67CF4D63-5F14-9A4A-C749-3021AB4270FC}"/>
                </a:ext>
              </a:extLst>
            </p:cNvPr>
            <p:cNvSpPr/>
            <p:nvPr/>
          </p:nvSpPr>
          <p:spPr>
            <a:xfrm>
              <a:off x="3474126" y="1725158"/>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prstClr val="black"/>
                  </a:solidFill>
                  <a:effectLst/>
                  <a:uLnTx/>
                  <a:uFillTx/>
                  <a:latin typeface="+mj-lt"/>
                  <a:ea typeface="+mn-ea"/>
                  <a:cs typeface="Arial" panose="020B0604020202020204" pitchFamily="34" charset="0"/>
                </a:rPr>
                <a:t>IPO</a:t>
              </a:r>
            </a:p>
          </p:txBody>
        </p:sp>
        <p:sp>
          <p:nvSpPr>
            <p:cNvPr id="58" name="Deal Date 2">
              <a:extLst>
                <a:ext uri="{FF2B5EF4-FFF2-40B4-BE49-F238E27FC236}">
                  <a16:creationId xmlns:a16="http://schemas.microsoft.com/office/drawing/2014/main" id="{3ADBAB14-84E4-3463-A7E9-434B05E9026C}"/>
                </a:ext>
              </a:extLst>
            </p:cNvPr>
            <p:cNvSpPr/>
            <p:nvPr/>
          </p:nvSpPr>
          <p:spPr>
            <a:xfrm>
              <a:off x="3474126" y="2442986"/>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 2023</a:t>
              </a:r>
            </a:p>
          </p:txBody>
        </p:sp>
        <p:sp>
          <p:nvSpPr>
            <p:cNvPr id="59" name="Description 2">
              <a:extLst>
                <a:ext uri="{FF2B5EF4-FFF2-40B4-BE49-F238E27FC236}">
                  <a16:creationId xmlns:a16="http://schemas.microsoft.com/office/drawing/2014/main" id="{140065BA-ADDD-8B7B-4E17-34D34D1235FA}"/>
                </a:ext>
              </a:extLst>
            </p:cNvPr>
            <p:cNvSpPr/>
            <p:nvPr/>
          </p:nvSpPr>
          <p:spPr>
            <a:xfrm>
              <a:off x="3474126" y="1923973"/>
              <a:ext cx="1417320" cy="430887"/>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700" b="0" i="0" u="none" strike="noStrike" kern="0" cap="none" spc="0" normalizeH="0" baseline="0" noProof="0">
                  <a:ln>
                    <a:noFill/>
                  </a:ln>
                  <a:solidFill>
                    <a:prstClr val="black"/>
                  </a:solidFill>
                  <a:effectLst/>
                  <a:uLnTx/>
                  <a:uFillTx/>
                  <a:latin typeface="+mj-lt"/>
                  <a:ea typeface="+mn-ea"/>
                  <a:cs typeface="Arial" panose="020B0604020202020204" pitchFamily="34" charset="0"/>
                </a:rPr>
                <a:t>Sponsor, Overall Coordinator, Joint Global Coordinator, Joint Bookrunner and Joint Lead Manager</a:t>
              </a:r>
              <a:endPar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endParaRPr>
            </a:p>
          </p:txBody>
        </p:sp>
        <p:sp>
          <p:nvSpPr>
            <p:cNvPr id="60" name="Mainlogo 2">
              <a:extLst>
                <a:ext uri="{FF2B5EF4-FFF2-40B4-BE49-F238E27FC236}">
                  <a16:creationId xmlns:a16="http://schemas.microsoft.com/office/drawing/2014/main" id="{684EC630-1278-8069-BABF-4E19D89652EF}"/>
                </a:ext>
              </a:extLst>
            </p:cNvPr>
            <p:cNvSpPr/>
            <p:nvPr/>
          </p:nvSpPr>
          <p:spPr>
            <a:xfrm>
              <a:off x="3599449" y="1101270"/>
              <a:ext cx="1166674" cy="313330"/>
            </a:xfrm>
            <a:prstGeom prst="rect">
              <a:avLst/>
            </a:prstGeom>
            <a:blipFill>
              <a:blip r:embed="rId15"/>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grpSp>
        <p:nvGrpSpPr>
          <p:cNvPr id="199" name="Group 198">
            <a:extLst>
              <a:ext uri="{FF2B5EF4-FFF2-40B4-BE49-F238E27FC236}">
                <a16:creationId xmlns:a16="http://schemas.microsoft.com/office/drawing/2014/main" id="{FE95F166-EFFD-0FA6-994C-A6FC1C7BBEE6}"/>
              </a:ext>
            </a:extLst>
          </p:cNvPr>
          <p:cNvGrpSpPr/>
          <p:nvPr/>
        </p:nvGrpSpPr>
        <p:grpSpPr>
          <a:xfrm>
            <a:off x="8000922" y="1033008"/>
            <a:ext cx="1417320" cy="1572768"/>
            <a:chOff x="4980402" y="1033008"/>
            <a:chExt cx="1417320" cy="1572768"/>
          </a:xfrm>
        </p:grpSpPr>
        <p:sp>
          <p:nvSpPr>
            <p:cNvPr id="61" name="Round Single Corner Rectangle 28">
              <a:extLst>
                <a:ext uri="{FF2B5EF4-FFF2-40B4-BE49-F238E27FC236}">
                  <a16:creationId xmlns:a16="http://schemas.microsoft.com/office/drawing/2014/main" id="{EF76731A-43BA-D643-EA2D-80325A321917}"/>
                </a:ext>
              </a:extLst>
            </p:cNvPr>
            <p:cNvSpPr/>
            <p:nvPr/>
          </p:nvSpPr>
          <p:spPr>
            <a:xfrm>
              <a:off x="4980402" y="1033008"/>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Arial"/>
                <a:cs typeface="Arial" panose="020B0604020202020204" pitchFamily="34" charset="0"/>
              </a:endParaRPr>
            </a:p>
          </p:txBody>
        </p:sp>
        <p:sp>
          <p:nvSpPr>
            <p:cNvPr id="62" name="Deal Size 3">
              <a:extLst>
                <a:ext uri="{FF2B5EF4-FFF2-40B4-BE49-F238E27FC236}">
                  <a16:creationId xmlns:a16="http://schemas.microsoft.com/office/drawing/2014/main" id="{D3EDF7C8-25BB-513D-878E-9D313BACC60C}"/>
                </a:ext>
              </a:extLst>
            </p:cNvPr>
            <p:cNvSpPr/>
            <p:nvPr/>
          </p:nvSpPr>
          <p:spPr>
            <a:xfrm>
              <a:off x="4980402" y="1580695"/>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IDR 10 trillion</a:t>
              </a:r>
            </a:p>
          </p:txBody>
        </p:sp>
        <p:sp>
          <p:nvSpPr>
            <p:cNvPr id="63" name="Deal Role 3">
              <a:extLst>
                <a:ext uri="{FF2B5EF4-FFF2-40B4-BE49-F238E27FC236}">
                  <a16:creationId xmlns:a16="http://schemas.microsoft.com/office/drawing/2014/main" id="{BE396953-FD01-7BE9-2BA2-955BF238401B}"/>
                </a:ext>
              </a:extLst>
            </p:cNvPr>
            <p:cNvSpPr/>
            <p:nvPr/>
          </p:nvSpPr>
          <p:spPr>
            <a:xfrm>
              <a:off x="4980402" y="1725158"/>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prstClr val="black"/>
                  </a:solidFill>
                  <a:effectLst/>
                  <a:uLnTx/>
                  <a:uFillTx/>
                  <a:latin typeface="+mj-lt"/>
                  <a:ea typeface="+mn-ea"/>
                  <a:cs typeface="Arial" panose="020B0604020202020204" pitchFamily="34" charset="0"/>
                </a:rPr>
                <a:t>IPO</a:t>
              </a:r>
            </a:p>
          </p:txBody>
        </p:sp>
        <p:sp>
          <p:nvSpPr>
            <p:cNvPr id="64" name="Deal Date 3">
              <a:extLst>
                <a:ext uri="{FF2B5EF4-FFF2-40B4-BE49-F238E27FC236}">
                  <a16:creationId xmlns:a16="http://schemas.microsoft.com/office/drawing/2014/main" id="{98B22614-AA85-DC66-A832-A018A6541BC2}"/>
                </a:ext>
              </a:extLst>
            </p:cNvPr>
            <p:cNvSpPr/>
            <p:nvPr/>
          </p:nvSpPr>
          <p:spPr>
            <a:xfrm>
              <a:off x="4980402" y="2442986"/>
              <a:ext cx="1417320" cy="107722"/>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rPr>
                <a:t> 2023</a:t>
              </a:r>
            </a:p>
          </p:txBody>
        </p:sp>
        <p:sp>
          <p:nvSpPr>
            <p:cNvPr id="65" name="Description 3">
              <a:extLst>
                <a:ext uri="{FF2B5EF4-FFF2-40B4-BE49-F238E27FC236}">
                  <a16:creationId xmlns:a16="http://schemas.microsoft.com/office/drawing/2014/main" id="{067FA741-A56E-3BCF-54F1-7DEF93027129}"/>
                </a:ext>
              </a:extLst>
            </p:cNvPr>
            <p:cNvSpPr/>
            <p:nvPr/>
          </p:nvSpPr>
          <p:spPr>
            <a:xfrm>
              <a:off x="4980402" y="1923973"/>
              <a:ext cx="1417320" cy="215444"/>
            </a:xfrm>
            <a:prstGeom prst="rect">
              <a:avLst/>
            </a:prstGeom>
            <a:noFill/>
            <a:ln w="6350" cap="flat" cmpd="sng" algn="ctr">
              <a:noFill/>
              <a:prstDash val="solid"/>
              <a:miter lim="800000"/>
              <a:headEnd/>
              <a:tailEnd type="none" w="sm" len="sm"/>
            </a:ln>
            <a:effectLst/>
          </p:spPr>
          <p:txBody>
            <a:bodyPr lIns="72000" tIns="0" rIns="36000" bIns="0" rtlCol="0" anchor="t" anchorCtr="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700" b="0" i="0" u="none" strike="noStrike" kern="0" cap="none" spc="0" normalizeH="0" baseline="0" noProof="0">
                  <a:ln>
                    <a:noFill/>
                  </a:ln>
                  <a:solidFill>
                    <a:prstClr val="black"/>
                  </a:solidFill>
                  <a:effectLst/>
                  <a:uLnTx/>
                  <a:uFillTx/>
                  <a:latin typeface="+mj-lt"/>
                  <a:ea typeface="+mn-ea"/>
                  <a:cs typeface="Arial" panose="020B0604020202020204" pitchFamily="34" charset="0"/>
                </a:rPr>
                <a:t>Domestic Underwriter and Joint Bookrunner</a:t>
              </a:r>
              <a:endParaRPr kumimoji="0" lang="en-GB" sz="700" b="0" i="0" u="none" strike="noStrike" kern="0" cap="none" spc="0" normalizeH="0" baseline="0" noProof="0">
                <a:ln>
                  <a:noFill/>
                </a:ln>
                <a:solidFill>
                  <a:prstClr val="black"/>
                </a:solidFill>
                <a:effectLst/>
                <a:uLnTx/>
                <a:uFillTx/>
                <a:latin typeface="+mj-lt"/>
                <a:ea typeface="+mn-ea"/>
                <a:cs typeface="Arial" panose="020B0604020202020204" pitchFamily="34" charset="0"/>
              </a:endParaRPr>
            </a:p>
          </p:txBody>
        </p:sp>
        <p:sp>
          <p:nvSpPr>
            <p:cNvPr id="66" name="Mainlogo 3">
              <a:extLst>
                <a:ext uri="{FF2B5EF4-FFF2-40B4-BE49-F238E27FC236}">
                  <a16:creationId xmlns:a16="http://schemas.microsoft.com/office/drawing/2014/main" id="{5640A6CB-D969-7B20-CC6F-DCF8C4C9F583}"/>
                </a:ext>
              </a:extLst>
            </p:cNvPr>
            <p:cNvSpPr/>
            <p:nvPr/>
          </p:nvSpPr>
          <p:spPr>
            <a:xfrm>
              <a:off x="5105725" y="1101270"/>
              <a:ext cx="1166674" cy="313330"/>
            </a:xfrm>
            <a:prstGeom prst="rect">
              <a:avLst/>
            </a:prstGeom>
            <a:blipFill>
              <a:blip r:embed="rId16"/>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grpSp>
        <p:nvGrpSpPr>
          <p:cNvPr id="194" name="Group 193">
            <a:extLst>
              <a:ext uri="{FF2B5EF4-FFF2-40B4-BE49-F238E27FC236}">
                <a16:creationId xmlns:a16="http://schemas.microsoft.com/office/drawing/2014/main" id="{A41CBD0B-6DFB-A71D-A43E-54439FC795AA}"/>
              </a:ext>
            </a:extLst>
          </p:cNvPr>
          <p:cNvGrpSpPr/>
          <p:nvPr/>
        </p:nvGrpSpPr>
        <p:grpSpPr>
          <a:xfrm>
            <a:off x="3473520" y="1047544"/>
            <a:ext cx="1417698" cy="1572768"/>
            <a:chOff x="453000" y="1047544"/>
            <a:chExt cx="1417698" cy="1572768"/>
          </a:xfrm>
        </p:grpSpPr>
        <p:sp>
          <p:nvSpPr>
            <p:cNvPr id="97" name="Round Single Corner Rectangle 98">
              <a:extLst>
                <a:ext uri="{FF2B5EF4-FFF2-40B4-BE49-F238E27FC236}">
                  <a16:creationId xmlns:a16="http://schemas.microsoft.com/office/drawing/2014/main" id="{9783CFDA-6CD0-6704-82F1-D318F4122455}"/>
                </a:ext>
              </a:extLst>
            </p:cNvPr>
            <p:cNvSpPr/>
            <p:nvPr/>
          </p:nvSpPr>
          <p:spPr>
            <a:xfrm>
              <a:off x="453000" y="1047544"/>
              <a:ext cx="141732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700" b="0" kern="0">
                <a:solidFill>
                  <a:prstClr val="black"/>
                </a:solidFill>
                <a:latin typeface="+mj-lt"/>
                <a:cs typeface="Arial" panose="020B0604020202020204" pitchFamily="34" charset="0"/>
              </a:endParaRPr>
            </a:p>
          </p:txBody>
        </p:sp>
        <p:sp>
          <p:nvSpPr>
            <p:cNvPr id="98" name="Deal Size 11">
              <a:extLst>
                <a:ext uri="{FF2B5EF4-FFF2-40B4-BE49-F238E27FC236}">
                  <a16:creationId xmlns:a16="http://schemas.microsoft.com/office/drawing/2014/main" id="{227D1730-7214-C38C-8409-1B932B920E54}"/>
                </a:ext>
              </a:extLst>
            </p:cNvPr>
            <p:cNvSpPr/>
            <p:nvPr/>
          </p:nvSpPr>
          <p:spPr>
            <a:xfrm>
              <a:off x="453000" y="1569840"/>
              <a:ext cx="141732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US$773 million </a:t>
              </a:r>
            </a:p>
            <a:p>
              <a:pPr algn="ctr"/>
              <a:r>
                <a:rPr lang="en-GB" sz="700" b="0">
                  <a:solidFill>
                    <a:schemeClr val="tx1"/>
                  </a:solidFill>
                  <a:latin typeface="+mj-lt"/>
                  <a:cs typeface="Arial" panose="020B0604020202020204" pitchFamily="34" charset="0"/>
                </a:rPr>
                <a:t>IPO</a:t>
              </a:r>
            </a:p>
          </p:txBody>
        </p:sp>
        <p:sp>
          <p:nvSpPr>
            <p:cNvPr id="99" name="Deal Date 11">
              <a:extLst>
                <a:ext uri="{FF2B5EF4-FFF2-40B4-BE49-F238E27FC236}">
                  <a16:creationId xmlns:a16="http://schemas.microsoft.com/office/drawing/2014/main" id="{45E15450-A63E-8156-48DA-EEB421975480}"/>
                </a:ext>
              </a:extLst>
            </p:cNvPr>
            <p:cNvSpPr/>
            <p:nvPr/>
          </p:nvSpPr>
          <p:spPr>
            <a:xfrm>
              <a:off x="453000" y="2415087"/>
              <a:ext cx="1417320" cy="107722"/>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 2025</a:t>
              </a:r>
            </a:p>
          </p:txBody>
        </p:sp>
        <p:sp>
          <p:nvSpPr>
            <p:cNvPr id="100" name="Description 11">
              <a:extLst>
                <a:ext uri="{FF2B5EF4-FFF2-40B4-BE49-F238E27FC236}">
                  <a16:creationId xmlns:a16="http://schemas.microsoft.com/office/drawing/2014/main" id="{D388F884-325D-7136-D416-9C2A87EA0DF9}"/>
                </a:ext>
              </a:extLst>
            </p:cNvPr>
            <p:cNvSpPr/>
            <p:nvPr/>
          </p:nvSpPr>
          <p:spPr>
            <a:xfrm>
              <a:off x="453378" y="1944206"/>
              <a:ext cx="141732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SG" sz="700" b="0">
                  <a:solidFill>
                    <a:schemeClr val="tx1"/>
                  </a:solidFill>
                  <a:latin typeface="+mj-lt"/>
                  <a:cs typeface="Arial" panose="020B0604020202020204" pitchFamily="34" charset="0"/>
                </a:rPr>
                <a:t>Joint Bookrunner and Underwriter</a:t>
              </a:r>
              <a:endParaRPr lang="en-GB" sz="700" b="0">
                <a:solidFill>
                  <a:schemeClr val="tx1"/>
                </a:solidFill>
                <a:latin typeface="+mj-lt"/>
                <a:cs typeface="Arial" panose="020B0604020202020204" pitchFamily="34" charset="0"/>
              </a:endParaRPr>
            </a:p>
          </p:txBody>
        </p:sp>
        <p:pic>
          <p:nvPicPr>
            <p:cNvPr id="101" name="Picture 100">
              <a:extLst>
                <a:ext uri="{FF2B5EF4-FFF2-40B4-BE49-F238E27FC236}">
                  <a16:creationId xmlns:a16="http://schemas.microsoft.com/office/drawing/2014/main" id="{D4DE170C-1AAD-60B5-0E10-DAE7CA2101B9}"/>
                </a:ext>
              </a:extLst>
            </p:cNvPr>
            <p:cNvPicPr>
              <a:picLocks noChangeAspect="1"/>
            </p:cNvPicPr>
            <p:nvPr/>
          </p:nvPicPr>
          <p:blipFill>
            <a:blip r:embed="rId17"/>
            <a:stretch>
              <a:fillRect/>
            </a:stretch>
          </p:blipFill>
          <p:spPr>
            <a:xfrm>
              <a:off x="662573" y="1138121"/>
              <a:ext cx="951715" cy="246460"/>
            </a:xfrm>
            <a:prstGeom prst="rect">
              <a:avLst/>
            </a:prstGeom>
          </p:spPr>
        </p:pic>
      </p:grpSp>
      <p:grpSp>
        <p:nvGrpSpPr>
          <p:cNvPr id="124" name="Group 123">
            <a:extLst>
              <a:ext uri="{FF2B5EF4-FFF2-40B4-BE49-F238E27FC236}">
                <a16:creationId xmlns:a16="http://schemas.microsoft.com/office/drawing/2014/main" id="{F584739D-F911-6C6D-8F22-814E465EEAD6}"/>
              </a:ext>
            </a:extLst>
          </p:cNvPr>
          <p:cNvGrpSpPr/>
          <p:nvPr/>
        </p:nvGrpSpPr>
        <p:grpSpPr>
          <a:xfrm>
            <a:off x="1982945" y="1051066"/>
            <a:ext cx="1404000" cy="1572768"/>
            <a:chOff x="1982945" y="1051066"/>
            <a:chExt cx="1404000" cy="1572768"/>
          </a:xfrm>
        </p:grpSpPr>
        <p:sp>
          <p:nvSpPr>
            <p:cNvPr id="201" name="Round Single Corner Rectangle 98">
              <a:extLst>
                <a:ext uri="{FF2B5EF4-FFF2-40B4-BE49-F238E27FC236}">
                  <a16:creationId xmlns:a16="http://schemas.microsoft.com/office/drawing/2014/main" id="{5DF37D4D-0801-B4BA-68A9-21A8C93ABD07}"/>
                </a:ext>
              </a:extLst>
            </p:cNvPr>
            <p:cNvSpPr/>
            <p:nvPr/>
          </p:nvSpPr>
          <p:spPr>
            <a:xfrm>
              <a:off x="1982945" y="1051066"/>
              <a:ext cx="140400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800" b="0" kern="0">
                <a:solidFill>
                  <a:prstClr val="black"/>
                </a:solidFill>
                <a:latin typeface="+mj-lt"/>
                <a:cs typeface="Arial" panose="020B0604020202020204" pitchFamily="34" charset="0"/>
              </a:endParaRPr>
            </a:p>
          </p:txBody>
        </p:sp>
        <p:sp>
          <p:nvSpPr>
            <p:cNvPr id="202" name="Deal Size 11">
              <a:extLst>
                <a:ext uri="{FF2B5EF4-FFF2-40B4-BE49-F238E27FC236}">
                  <a16:creationId xmlns:a16="http://schemas.microsoft.com/office/drawing/2014/main" id="{AA0E7D91-39B0-A1BF-0929-22CE6FAAAAC6}"/>
                </a:ext>
              </a:extLst>
            </p:cNvPr>
            <p:cNvSpPr/>
            <p:nvPr/>
          </p:nvSpPr>
          <p:spPr>
            <a:xfrm>
              <a:off x="1982945" y="1591650"/>
              <a:ext cx="140400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err="1">
                  <a:solidFill>
                    <a:schemeClr val="tx1"/>
                  </a:solidFill>
                  <a:latin typeface="+mj-lt"/>
                  <a:cs typeface="Arial" panose="020B0604020202020204" pitchFamily="34" charset="0"/>
                </a:rPr>
                <a:t>S$771</a:t>
              </a:r>
              <a:r>
                <a:rPr lang="en-GB" sz="700" b="0">
                  <a:solidFill>
                    <a:schemeClr val="tx1"/>
                  </a:solidFill>
                  <a:latin typeface="+mj-lt"/>
                  <a:cs typeface="Arial" panose="020B0604020202020204" pitchFamily="34" charset="0"/>
                </a:rPr>
                <a:t> million</a:t>
              </a:r>
            </a:p>
            <a:p>
              <a:pPr algn="ctr"/>
              <a:r>
                <a:rPr lang="en-GB" sz="700" b="0">
                  <a:solidFill>
                    <a:schemeClr val="tx1"/>
                  </a:solidFill>
                  <a:latin typeface="+mj-lt"/>
                  <a:cs typeface="Arial" panose="020B0604020202020204" pitchFamily="34" charset="0"/>
                </a:rPr>
                <a:t>IPO</a:t>
              </a:r>
            </a:p>
          </p:txBody>
        </p:sp>
        <p:sp>
          <p:nvSpPr>
            <p:cNvPr id="203" name="Deal Date 11">
              <a:extLst>
                <a:ext uri="{FF2B5EF4-FFF2-40B4-BE49-F238E27FC236}">
                  <a16:creationId xmlns:a16="http://schemas.microsoft.com/office/drawing/2014/main" id="{FBF6FC02-DDBA-ED31-4017-94A59CFF5DC9}"/>
                </a:ext>
              </a:extLst>
            </p:cNvPr>
            <p:cNvSpPr/>
            <p:nvPr/>
          </p:nvSpPr>
          <p:spPr>
            <a:xfrm>
              <a:off x="1982945" y="2436897"/>
              <a:ext cx="1404000" cy="123111"/>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800" b="0">
                  <a:solidFill>
                    <a:schemeClr val="tx1"/>
                  </a:solidFill>
                  <a:latin typeface="+mj-lt"/>
                  <a:cs typeface="Arial" panose="020B0604020202020204" pitchFamily="34" charset="0"/>
                </a:rPr>
                <a:t> </a:t>
              </a:r>
              <a:r>
                <a:rPr lang="en-GB" sz="700" b="0">
                  <a:solidFill>
                    <a:schemeClr val="tx1"/>
                  </a:solidFill>
                  <a:latin typeface="+mj-lt"/>
                  <a:cs typeface="Arial" panose="020B0604020202020204" pitchFamily="34" charset="0"/>
                </a:rPr>
                <a:t>2025</a:t>
              </a:r>
            </a:p>
          </p:txBody>
        </p:sp>
        <p:sp>
          <p:nvSpPr>
            <p:cNvPr id="204" name="Description 11">
              <a:extLst>
                <a:ext uri="{FF2B5EF4-FFF2-40B4-BE49-F238E27FC236}">
                  <a16:creationId xmlns:a16="http://schemas.microsoft.com/office/drawing/2014/main" id="{B24DD3C0-D8A7-31F7-F794-F0C855E9EEDB}"/>
                </a:ext>
              </a:extLst>
            </p:cNvPr>
            <p:cNvSpPr/>
            <p:nvPr/>
          </p:nvSpPr>
          <p:spPr>
            <a:xfrm>
              <a:off x="1982945" y="1920374"/>
              <a:ext cx="1404000" cy="323165"/>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US" sz="700" b="0">
                  <a:solidFill>
                    <a:schemeClr val="tx1"/>
                  </a:solidFill>
                  <a:latin typeface="+mj-lt"/>
                  <a:cs typeface="Arial" panose="020B0604020202020204" pitchFamily="34" charset="0"/>
                </a:rPr>
                <a:t>Joint Issue Manager and Global Coordinator, Joint Bookrunner and Underwriter</a:t>
              </a:r>
              <a:endParaRPr lang="en-GB" sz="700" b="0">
                <a:solidFill>
                  <a:schemeClr val="tx1"/>
                </a:solidFill>
                <a:latin typeface="+mj-lt"/>
                <a:cs typeface="Arial" panose="020B0604020202020204" pitchFamily="34" charset="0"/>
              </a:endParaRPr>
            </a:p>
          </p:txBody>
        </p:sp>
        <p:pic>
          <p:nvPicPr>
            <p:cNvPr id="205" name="Picture 204">
              <a:extLst>
                <a:ext uri="{FF2B5EF4-FFF2-40B4-BE49-F238E27FC236}">
                  <a16:creationId xmlns:a16="http://schemas.microsoft.com/office/drawing/2014/main" id="{CE6F9955-0096-09AC-A8A8-ABBAF380B0B9}"/>
                </a:ext>
              </a:extLst>
            </p:cNvPr>
            <p:cNvPicPr>
              <a:picLocks noChangeAspect="1"/>
            </p:cNvPicPr>
            <p:nvPr/>
          </p:nvPicPr>
          <p:blipFill>
            <a:blip r:embed="rId18"/>
            <a:stretch>
              <a:fillRect/>
            </a:stretch>
          </p:blipFill>
          <p:spPr>
            <a:xfrm>
              <a:off x="2363183" y="1177641"/>
              <a:ext cx="643525" cy="288436"/>
            </a:xfrm>
            <a:prstGeom prst="rect">
              <a:avLst/>
            </a:prstGeom>
          </p:spPr>
        </p:pic>
      </p:grpSp>
      <p:grpSp>
        <p:nvGrpSpPr>
          <p:cNvPr id="123" name="Group 122">
            <a:extLst>
              <a:ext uri="{FF2B5EF4-FFF2-40B4-BE49-F238E27FC236}">
                <a16:creationId xmlns:a16="http://schemas.microsoft.com/office/drawing/2014/main" id="{E19290C3-7178-5270-781F-B8D00FDCDC50}"/>
              </a:ext>
            </a:extLst>
          </p:cNvPr>
          <p:cNvGrpSpPr/>
          <p:nvPr/>
        </p:nvGrpSpPr>
        <p:grpSpPr>
          <a:xfrm>
            <a:off x="462041" y="1051066"/>
            <a:ext cx="1404000" cy="1572768"/>
            <a:chOff x="462041" y="1051066"/>
            <a:chExt cx="1404000" cy="1572768"/>
          </a:xfrm>
        </p:grpSpPr>
        <p:sp>
          <p:nvSpPr>
            <p:cNvPr id="117" name="Round Single Corner Rectangle 98">
              <a:extLst>
                <a:ext uri="{FF2B5EF4-FFF2-40B4-BE49-F238E27FC236}">
                  <a16:creationId xmlns:a16="http://schemas.microsoft.com/office/drawing/2014/main" id="{CE2DF159-92DC-8768-0978-1A6775C25E5C}"/>
                </a:ext>
              </a:extLst>
            </p:cNvPr>
            <p:cNvSpPr/>
            <p:nvPr/>
          </p:nvSpPr>
          <p:spPr>
            <a:xfrm>
              <a:off x="462041" y="1051066"/>
              <a:ext cx="1404000" cy="1572768"/>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blurRad="50800" dist="38100" dir="2700000" algn="tl" rotWithShape="0">
                <a:prstClr val="black">
                  <a:alpha val="40000"/>
                </a:prstClr>
              </a:outerShdw>
            </a:effectLst>
          </p:spPr>
          <p:txBody>
            <a:bodyPr lIns="0" tIns="457200" rIns="0" bIns="0" rtlCol="0" anchor="t" anchorCtr="0"/>
            <a:lstStyle/>
            <a:p>
              <a:pPr algn="ctr" fontAlgn="auto">
                <a:spcBef>
                  <a:spcPts val="0"/>
                </a:spcBef>
                <a:spcAft>
                  <a:spcPts val="0"/>
                </a:spcAft>
              </a:pPr>
              <a:endParaRPr lang="en-GB" sz="800" b="0" kern="0">
                <a:solidFill>
                  <a:prstClr val="black"/>
                </a:solidFill>
                <a:latin typeface="+mj-lt"/>
                <a:cs typeface="Arial" panose="020B0604020202020204" pitchFamily="34" charset="0"/>
              </a:endParaRPr>
            </a:p>
          </p:txBody>
        </p:sp>
        <p:sp>
          <p:nvSpPr>
            <p:cNvPr id="118" name="Deal Size 11">
              <a:extLst>
                <a:ext uri="{FF2B5EF4-FFF2-40B4-BE49-F238E27FC236}">
                  <a16:creationId xmlns:a16="http://schemas.microsoft.com/office/drawing/2014/main" id="{5F67FC18-3F69-AFB0-2FC1-1C2E681FB3B6}"/>
                </a:ext>
              </a:extLst>
            </p:cNvPr>
            <p:cNvSpPr/>
            <p:nvPr/>
          </p:nvSpPr>
          <p:spPr>
            <a:xfrm>
              <a:off x="462041" y="1591650"/>
              <a:ext cx="1404000" cy="215444"/>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700" b="0">
                  <a:solidFill>
                    <a:schemeClr val="tx1"/>
                  </a:solidFill>
                  <a:latin typeface="+mj-lt"/>
                  <a:cs typeface="Arial" panose="020B0604020202020204" pitchFamily="34" charset="0"/>
                </a:rPr>
                <a:t>S$</a:t>
              </a:r>
              <a:r>
                <a:rPr lang="en-SG" sz="700" b="0">
                  <a:solidFill>
                    <a:srgbClr val="000000"/>
                  </a:solidFill>
                  <a:latin typeface="+mj-lt"/>
                </a:rPr>
                <a:t>974 </a:t>
              </a:r>
              <a:r>
                <a:rPr lang="en-GB" sz="700" b="0">
                  <a:solidFill>
                    <a:schemeClr val="tx1"/>
                  </a:solidFill>
                  <a:latin typeface="+mj-lt"/>
                  <a:cs typeface="Arial" panose="020B0604020202020204" pitchFamily="34" charset="0"/>
                </a:rPr>
                <a:t>million</a:t>
              </a:r>
            </a:p>
            <a:p>
              <a:pPr algn="ctr"/>
              <a:r>
                <a:rPr lang="en-GB" sz="700" b="0">
                  <a:solidFill>
                    <a:schemeClr val="tx1"/>
                  </a:solidFill>
                  <a:latin typeface="+mj-lt"/>
                  <a:cs typeface="Arial" panose="020B0604020202020204" pitchFamily="34" charset="0"/>
                </a:rPr>
                <a:t>IPO</a:t>
              </a:r>
            </a:p>
          </p:txBody>
        </p:sp>
        <p:sp>
          <p:nvSpPr>
            <p:cNvPr id="119" name="Deal Date 11">
              <a:extLst>
                <a:ext uri="{FF2B5EF4-FFF2-40B4-BE49-F238E27FC236}">
                  <a16:creationId xmlns:a16="http://schemas.microsoft.com/office/drawing/2014/main" id="{CAF24769-97DA-10DF-9D52-2BB3C29C4474}"/>
                </a:ext>
              </a:extLst>
            </p:cNvPr>
            <p:cNvSpPr/>
            <p:nvPr/>
          </p:nvSpPr>
          <p:spPr>
            <a:xfrm>
              <a:off x="462041" y="2436897"/>
              <a:ext cx="1404000" cy="123111"/>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GB" sz="800" b="0">
                  <a:solidFill>
                    <a:schemeClr val="tx1"/>
                  </a:solidFill>
                  <a:latin typeface="+mj-lt"/>
                  <a:cs typeface="Arial" panose="020B0604020202020204" pitchFamily="34" charset="0"/>
                </a:rPr>
                <a:t> </a:t>
              </a:r>
              <a:r>
                <a:rPr lang="en-GB" sz="700" b="0">
                  <a:solidFill>
                    <a:schemeClr val="tx1"/>
                  </a:solidFill>
                  <a:latin typeface="+mj-lt"/>
                  <a:cs typeface="Arial" panose="020B0604020202020204" pitchFamily="34" charset="0"/>
                </a:rPr>
                <a:t>2026</a:t>
              </a:r>
            </a:p>
          </p:txBody>
        </p:sp>
        <p:sp>
          <p:nvSpPr>
            <p:cNvPr id="120" name="Description 11">
              <a:extLst>
                <a:ext uri="{FF2B5EF4-FFF2-40B4-BE49-F238E27FC236}">
                  <a16:creationId xmlns:a16="http://schemas.microsoft.com/office/drawing/2014/main" id="{56751361-8284-0720-06C5-9A7C09FD21E6}"/>
                </a:ext>
              </a:extLst>
            </p:cNvPr>
            <p:cNvSpPr/>
            <p:nvPr/>
          </p:nvSpPr>
          <p:spPr>
            <a:xfrm>
              <a:off x="462041" y="1920374"/>
              <a:ext cx="1404000" cy="323165"/>
            </a:xfrm>
            <a:prstGeom prst="rect">
              <a:avLst/>
            </a:prstGeom>
            <a:noFill/>
            <a:ln w="6350">
              <a:noFill/>
              <a:miter lim="800000"/>
              <a:headEnd/>
              <a:tailEnd type="none" w="sm" len="sm"/>
            </a:ln>
            <a:effectLst/>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t" anchorCtr="0">
              <a:spAutoFit/>
            </a:bodyPr>
            <a:lstStyle/>
            <a:p>
              <a:pPr algn="ctr"/>
              <a:r>
                <a:rPr lang="en-US" sz="700" b="0">
                  <a:solidFill>
                    <a:schemeClr val="tx1"/>
                  </a:solidFill>
                  <a:latin typeface="+mj-lt"/>
                  <a:cs typeface="Arial" panose="020B0604020202020204" pitchFamily="34" charset="0"/>
                </a:rPr>
                <a:t>Joint Issue Manager and Global Coordinator, Joint Bookrunner and Underwriter</a:t>
              </a:r>
              <a:endParaRPr lang="en-GB" sz="700" b="0">
                <a:solidFill>
                  <a:schemeClr val="tx1"/>
                </a:solidFill>
                <a:latin typeface="+mj-lt"/>
                <a:cs typeface="Arial" panose="020B0604020202020204" pitchFamily="34" charset="0"/>
              </a:endParaRPr>
            </a:p>
          </p:txBody>
        </p:sp>
        <p:pic>
          <p:nvPicPr>
            <p:cNvPr id="122" name="Picture 2" descr="UIB REIT Stock Info (SGX:UIBU) | SGinvestors.io">
              <a:extLst>
                <a:ext uri="{FF2B5EF4-FFF2-40B4-BE49-F238E27FC236}">
                  <a16:creationId xmlns:a16="http://schemas.microsoft.com/office/drawing/2014/main" id="{D42758D8-14EF-EF88-0A9E-697FCAB5E2B8}"/>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l="-1" t="23999" r="127" b="24375"/>
            <a:stretch>
              <a:fillRect/>
            </a:stretch>
          </p:blipFill>
          <p:spPr bwMode="auto">
            <a:xfrm>
              <a:off x="885463" y="1223014"/>
              <a:ext cx="557157" cy="288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01630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6DE876-A1A5-F301-954D-C30BDBBC5DE7}"/>
              </a:ext>
            </a:extLst>
          </p:cNvPr>
          <p:cNvSpPr>
            <a:spLocks noGrp="1"/>
          </p:cNvSpPr>
          <p:nvPr>
            <p:ph type="title"/>
          </p:nvPr>
        </p:nvSpPr>
        <p:spPr/>
        <p:txBody>
          <a:bodyPr/>
          <a:lstStyle/>
          <a:p>
            <a:r>
              <a:rPr lang="en-US" dirty="0"/>
              <a:t>Selected Hong Kong IPO Transactions</a:t>
            </a:r>
          </a:p>
        </p:txBody>
      </p:sp>
      <p:sp>
        <p:nvSpPr>
          <p:cNvPr id="6" name="Text Placeholder 5">
            <a:extLst>
              <a:ext uri="{FF2B5EF4-FFF2-40B4-BE49-F238E27FC236}">
                <a16:creationId xmlns:a16="http://schemas.microsoft.com/office/drawing/2014/main" id="{96EEB7A9-B6E0-047E-4BD2-885C6C92B1BC}"/>
              </a:ext>
            </a:extLst>
          </p:cNvPr>
          <p:cNvSpPr>
            <a:spLocks noGrp="1"/>
          </p:cNvSpPr>
          <p:nvPr>
            <p:ph type="body" sz="quarter" idx="46"/>
          </p:nvPr>
        </p:nvSpPr>
        <p:spPr/>
        <p:txBody>
          <a:bodyPr/>
          <a:lstStyle/>
          <a:p>
            <a:endParaRPr lang="en-GB"/>
          </a:p>
        </p:txBody>
      </p:sp>
      <p:grpSp>
        <p:nvGrpSpPr>
          <p:cNvPr id="42" name="Group 41">
            <a:extLst>
              <a:ext uri="{FF2B5EF4-FFF2-40B4-BE49-F238E27FC236}">
                <a16:creationId xmlns:a16="http://schemas.microsoft.com/office/drawing/2014/main" id="{7BD65951-390F-A4E5-247A-F18E3EF8C10A}"/>
              </a:ext>
            </a:extLst>
          </p:cNvPr>
          <p:cNvGrpSpPr/>
          <p:nvPr/>
        </p:nvGrpSpPr>
        <p:grpSpPr>
          <a:xfrm>
            <a:off x="453000" y="1085850"/>
            <a:ext cx="9000000" cy="4857182"/>
            <a:chOff x="1038150" y="1085850"/>
            <a:chExt cx="7845489" cy="4857182"/>
          </a:xfrm>
        </p:grpSpPr>
        <p:sp>
          <p:nvSpPr>
            <p:cNvPr id="4" name="Rectangle 15">
              <a:extLst>
                <a:ext uri="{FF2B5EF4-FFF2-40B4-BE49-F238E27FC236}">
                  <a16:creationId xmlns:a16="http://schemas.microsoft.com/office/drawing/2014/main" id="{DFAAEE30-AD8B-459D-A710-5C5B00F7F637}"/>
                </a:ext>
              </a:extLst>
            </p:cNvPr>
            <p:cNvSpPr>
              <a:spLocks noChangeArrowheads="1"/>
            </p:cNvSpPr>
            <p:nvPr/>
          </p:nvSpPr>
          <p:spPr bwMode="gray">
            <a:xfrm>
              <a:off x="1039791" y="1085850"/>
              <a:ext cx="7840662" cy="274320"/>
            </a:xfrm>
            <a:prstGeom prst="rect">
              <a:avLst/>
            </a:prstGeom>
            <a:solidFill>
              <a:srgbClr val="089584"/>
            </a:soli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p>
              <a:pPr algn="ctr" eaLnBrk="0" hangingPunct="0">
                <a:spcBef>
                  <a:spcPts val="0"/>
                </a:spcBef>
                <a:defRPr/>
              </a:pPr>
              <a:r>
                <a:rPr lang="en-US" altLang="zh-TW" sz="1100" kern="0">
                  <a:solidFill>
                    <a:srgbClr val="FFFFFF"/>
                  </a:solidFill>
                  <a:latin typeface="Calibri"/>
                  <a:ea typeface="DFKaiShu-GB5"/>
                  <a:cs typeface="+mn-cs"/>
                </a:rPr>
                <a:t>IPO</a:t>
              </a:r>
            </a:p>
          </p:txBody>
        </p:sp>
        <p:sp>
          <p:nvSpPr>
            <p:cNvPr id="1069" name="Rectangle 406">
              <a:extLst>
                <a:ext uri="{FF2B5EF4-FFF2-40B4-BE49-F238E27FC236}">
                  <a16:creationId xmlns:a16="http://schemas.microsoft.com/office/drawing/2014/main" id="{0E6796A8-7F25-B040-D56F-E507968F014B}"/>
                </a:ext>
              </a:extLst>
            </p:cNvPr>
            <p:cNvSpPr>
              <a:spLocks noChangeArrowheads="1"/>
            </p:cNvSpPr>
            <p:nvPr/>
          </p:nvSpPr>
          <p:spPr bwMode="auto">
            <a:xfrm>
              <a:off x="2171226"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081" name="Rectangle 408">
              <a:extLst>
                <a:ext uri="{FF2B5EF4-FFF2-40B4-BE49-F238E27FC236}">
                  <a16:creationId xmlns:a16="http://schemas.microsoft.com/office/drawing/2014/main" id="{F2BBD0CD-145B-A1C9-B7F8-796D1F4B5A30}"/>
                </a:ext>
              </a:extLst>
            </p:cNvPr>
            <p:cNvSpPr>
              <a:spLocks noChangeArrowheads="1"/>
            </p:cNvSpPr>
            <p:nvPr/>
          </p:nvSpPr>
          <p:spPr bwMode="auto">
            <a:xfrm>
              <a:off x="2171226" y="5437331"/>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082" name="Rectangle 409">
              <a:extLst>
                <a:ext uri="{FF2B5EF4-FFF2-40B4-BE49-F238E27FC236}">
                  <a16:creationId xmlns:a16="http://schemas.microsoft.com/office/drawing/2014/main" id="{C06D00D5-8A50-0143-06B1-83CAEF447106}"/>
                </a:ext>
              </a:extLst>
            </p:cNvPr>
            <p:cNvSpPr>
              <a:spLocks noChangeArrowheads="1"/>
            </p:cNvSpPr>
            <p:nvPr/>
          </p:nvSpPr>
          <p:spPr bwMode="auto">
            <a:xfrm>
              <a:off x="2175798" y="5020170"/>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US$270m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083" name="Rectangle 412">
              <a:extLst>
                <a:ext uri="{FF2B5EF4-FFF2-40B4-BE49-F238E27FC236}">
                  <a16:creationId xmlns:a16="http://schemas.microsoft.com/office/drawing/2014/main" id="{D3FC49CE-69D3-DDC5-2EA4-2C28E43744A2}"/>
                </a:ext>
              </a:extLst>
            </p:cNvPr>
            <p:cNvSpPr>
              <a:spLocks noChangeArrowheads="1"/>
            </p:cNvSpPr>
            <p:nvPr/>
          </p:nvSpPr>
          <p:spPr bwMode="auto">
            <a:xfrm>
              <a:off x="2412237" y="5795202"/>
              <a:ext cx="578685" cy="107722"/>
            </a:xfrm>
            <a:prstGeom prst="rect">
              <a:avLst/>
            </a:prstGeom>
            <a:noFill/>
            <a:ln w="9525">
              <a:noFill/>
              <a:miter lim="800000"/>
              <a:headEnd/>
              <a:tailEnd/>
            </a:ln>
          </p:spPr>
          <p:txBody>
            <a:bodyPr wrap="none" lIns="0" tIns="0" rIns="0" bIns="0" anchor="ctr">
              <a:spAutoFit/>
            </a:bodyPr>
            <a:lstStyle/>
            <a:p>
              <a:pPr algn="ctr">
                <a:defRPr/>
              </a:pPr>
              <a:r>
                <a:rPr lang="en-GB" altLang="zh-CN" sz="700">
                  <a:solidFill>
                    <a:srgbClr val="000000"/>
                  </a:solidFill>
                  <a:latin typeface="Calibri" panose="020F0502020204030204" pitchFamily="34" charset="0"/>
                  <a:cs typeface="DFPKaiShu-GB5" panose="03000500000000000000" pitchFamily="66" charset="-128"/>
                </a:rPr>
                <a:t>December</a:t>
              </a:r>
              <a:r>
                <a:rPr lang="en-GB" altLang="zh-CN" sz="700" b="0">
                  <a:solidFill>
                    <a:srgbClr val="000000"/>
                  </a:solidFill>
                  <a:latin typeface="Calibri" panose="020F0502020204030204" pitchFamily="34" charset="0"/>
                  <a:ea typeface="DFKaiShu-GB5"/>
                  <a:cs typeface="DFPKaiShu-GB5" panose="03000500000000000000" pitchFamily="66" charset="-128"/>
                </a:rPr>
                <a:t> 2023</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28" name="Picture 127">
              <a:extLst>
                <a:ext uri="{FF2B5EF4-FFF2-40B4-BE49-F238E27FC236}">
                  <a16:creationId xmlns:a16="http://schemas.microsoft.com/office/drawing/2014/main" id="{A9958BE0-A208-E36A-A5B5-CEF8608C773C}"/>
                </a:ext>
              </a:extLst>
            </p:cNvPr>
            <p:cNvPicPr>
              <a:picLocks noChangeAspect="1"/>
            </p:cNvPicPr>
            <p:nvPr/>
          </p:nvPicPr>
          <p:blipFill>
            <a:blip r:embed="rId2"/>
            <a:stretch>
              <a:fillRect/>
            </a:stretch>
          </p:blipFill>
          <p:spPr>
            <a:xfrm>
              <a:off x="2305214" y="4578506"/>
              <a:ext cx="792728" cy="360000"/>
            </a:xfrm>
            <a:prstGeom prst="rect">
              <a:avLst/>
            </a:prstGeom>
          </p:spPr>
        </p:pic>
        <p:sp>
          <p:nvSpPr>
            <p:cNvPr id="129" name="Rectangle 406">
              <a:extLst>
                <a:ext uri="{FF2B5EF4-FFF2-40B4-BE49-F238E27FC236}">
                  <a16:creationId xmlns:a16="http://schemas.microsoft.com/office/drawing/2014/main" id="{7825DA43-3636-44DB-388A-2513F76412D3}"/>
                </a:ext>
              </a:extLst>
            </p:cNvPr>
            <p:cNvSpPr>
              <a:spLocks noChangeArrowheads="1"/>
            </p:cNvSpPr>
            <p:nvPr/>
          </p:nvSpPr>
          <p:spPr bwMode="auto">
            <a:xfrm>
              <a:off x="1038150"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30" name="Rectangle 408">
              <a:extLst>
                <a:ext uri="{FF2B5EF4-FFF2-40B4-BE49-F238E27FC236}">
                  <a16:creationId xmlns:a16="http://schemas.microsoft.com/office/drawing/2014/main" id="{7A0495BC-87C8-C894-2A3B-4DC8926F886E}"/>
                </a:ext>
              </a:extLst>
            </p:cNvPr>
            <p:cNvSpPr>
              <a:spLocks noChangeArrowheads="1"/>
            </p:cNvSpPr>
            <p:nvPr/>
          </p:nvSpPr>
          <p:spPr bwMode="auto">
            <a:xfrm>
              <a:off x="1041233" y="5340380"/>
              <a:ext cx="1060704" cy="38779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Overall Coordinator, Joint Global Coordinator, 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31" name="Rectangle 409">
              <a:extLst>
                <a:ext uri="{FF2B5EF4-FFF2-40B4-BE49-F238E27FC236}">
                  <a16:creationId xmlns:a16="http://schemas.microsoft.com/office/drawing/2014/main" id="{7879B232-F400-B7AA-21BA-70A9930BDBB1}"/>
                </a:ext>
              </a:extLst>
            </p:cNvPr>
            <p:cNvSpPr>
              <a:spLocks noChangeArrowheads="1"/>
            </p:cNvSpPr>
            <p:nvPr/>
          </p:nvSpPr>
          <p:spPr bwMode="auto">
            <a:xfrm>
              <a:off x="1045805" y="5020170"/>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US$84m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32" name="Rectangle 412">
              <a:extLst>
                <a:ext uri="{FF2B5EF4-FFF2-40B4-BE49-F238E27FC236}">
                  <a16:creationId xmlns:a16="http://schemas.microsoft.com/office/drawing/2014/main" id="{0E1F71DC-B7D5-4829-799F-7301E9BB2EA1}"/>
                </a:ext>
              </a:extLst>
            </p:cNvPr>
            <p:cNvSpPr>
              <a:spLocks noChangeArrowheads="1"/>
            </p:cNvSpPr>
            <p:nvPr/>
          </p:nvSpPr>
          <p:spPr bwMode="auto">
            <a:xfrm>
              <a:off x="1282244" y="5795202"/>
              <a:ext cx="578685"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December 2023</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33" name="Picture 132">
              <a:extLst>
                <a:ext uri="{FF2B5EF4-FFF2-40B4-BE49-F238E27FC236}">
                  <a16:creationId xmlns:a16="http://schemas.microsoft.com/office/drawing/2014/main" id="{CECBD921-1999-3827-47BE-B7F737471BFC}"/>
                </a:ext>
              </a:extLst>
            </p:cNvPr>
            <p:cNvPicPr>
              <a:picLocks noChangeAspect="1"/>
            </p:cNvPicPr>
            <p:nvPr/>
          </p:nvPicPr>
          <p:blipFill rotWithShape="1">
            <a:blip r:embed="rId3"/>
            <a:srcRect l="7168" t="32743" r="7187" b="38166"/>
            <a:stretch/>
          </p:blipFill>
          <p:spPr>
            <a:xfrm>
              <a:off x="1093789" y="4612358"/>
              <a:ext cx="955592" cy="216000"/>
            </a:xfrm>
            <a:prstGeom prst="rect">
              <a:avLst/>
            </a:prstGeom>
          </p:spPr>
        </p:pic>
        <p:sp>
          <p:nvSpPr>
            <p:cNvPr id="61" name="Rectangle 406">
              <a:extLst>
                <a:ext uri="{FF2B5EF4-FFF2-40B4-BE49-F238E27FC236}">
                  <a16:creationId xmlns:a16="http://schemas.microsoft.com/office/drawing/2014/main" id="{0E23C9C2-5649-B8A5-D277-15A6E7FA9811}"/>
                </a:ext>
              </a:extLst>
            </p:cNvPr>
            <p:cNvSpPr>
              <a:spLocks noChangeArrowheads="1"/>
            </p:cNvSpPr>
            <p:nvPr/>
          </p:nvSpPr>
          <p:spPr bwMode="auto">
            <a:xfrm>
              <a:off x="3290492"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a:solidFill>
                  <a:prstClr val="black"/>
                </a:solidFill>
                <a:latin typeface="Calibri" panose="020F0502020204030204" pitchFamily="34" charset="0"/>
                <a:ea typeface="DFKaiShu-GB5"/>
                <a:cs typeface="Calibri" panose="020F0502020204030204" pitchFamily="34" charset="0"/>
              </a:endParaRPr>
            </a:p>
          </p:txBody>
        </p:sp>
        <p:sp>
          <p:nvSpPr>
            <p:cNvPr id="63" name="Rectangle 408">
              <a:extLst>
                <a:ext uri="{FF2B5EF4-FFF2-40B4-BE49-F238E27FC236}">
                  <a16:creationId xmlns:a16="http://schemas.microsoft.com/office/drawing/2014/main" id="{8FBEA8FB-1FB0-9BA7-7CEA-009E83E55DF8}"/>
                </a:ext>
              </a:extLst>
            </p:cNvPr>
            <p:cNvSpPr>
              <a:spLocks noChangeArrowheads="1"/>
            </p:cNvSpPr>
            <p:nvPr/>
          </p:nvSpPr>
          <p:spPr bwMode="auto">
            <a:xfrm>
              <a:off x="3290492" y="5291905"/>
              <a:ext cx="1060704" cy="48474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DFKaiShu-GB5"/>
                  <a:cs typeface="DFPKaiShu-GB5" panose="03000500000000000000" pitchFamily="66" charset="-128"/>
                </a:rPr>
                <a:t>Joint Sponsor, Joint Overall Coordinator, Joint Global Coordinator, Joint Bookrunner and Joint Lead Manager</a:t>
              </a:r>
            </a:p>
          </p:txBody>
        </p:sp>
        <p:sp>
          <p:nvSpPr>
            <p:cNvPr id="1028" name="Rectangle 409">
              <a:extLst>
                <a:ext uri="{FF2B5EF4-FFF2-40B4-BE49-F238E27FC236}">
                  <a16:creationId xmlns:a16="http://schemas.microsoft.com/office/drawing/2014/main" id="{2D795E64-7E2A-35D0-1C8B-F28A8B88F832}"/>
                </a:ext>
              </a:extLst>
            </p:cNvPr>
            <p:cNvSpPr>
              <a:spLocks noChangeArrowheads="1"/>
            </p:cNvSpPr>
            <p:nvPr/>
          </p:nvSpPr>
          <p:spPr bwMode="auto">
            <a:xfrm>
              <a:off x="3290492" y="5020170"/>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a:solidFill>
                    <a:srgbClr val="000000"/>
                  </a:solidFill>
                  <a:latin typeface="Calibri" panose="020F0502020204030204" pitchFamily="34" charset="0"/>
                  <a:ea typeface="DFKaiShu-GB5"/>
                  <a:cs typeface="DFPKaiShu-GB5" panose="03000500000000000000" pitchFamily="66" charset="-128"/>
                </a:rPr>
                <a:t>US$29m</a:t>
              </a:r>
            </a:p>
            <a:p>
              <a:pPr algn="ctr">
                <a:spcBef>
                  <a:spcPct val="0"/>
                </a:spcBef>
                <a:defRPr/>
              </a:pPr>
              <a:r>
                <a:rPr lang="en-US" altLang="zh-CN" sz="700">
                  <a:solidFill>
                    <a:srgbClr val="000000"/>
                  </a:solidFill>
                  <a:latin typeface="Calibri" panose="020F0502020204030204" pitchFamily="34" charset="0"/>
                  <a:ea typeface="DFKaiShu-GB5"/>
                  <a:cs typeface="DFPKaiShu-GB5" panose="03000500000000000000" pitchFamily="66" charset="-128"/>
                </a:rPr>
                <a:t>IPO</a:t>
              </a:r>
            </a:p>
          </p:txBody>
        </p:sp>
        <p:pic>
          <p:nvPicPr>
            <p:cNvPr id="1032" name="Picture 1031">
              <a:extLst>
                <a:ext uri="{FF2B5EF4-FFF2-40B4-BE49-F238E27FC236}">
                  <a16:creationId xmlns:a16="http://schemas.microsoft.com/office/drawing/2014/main" id="{17010B80-7B5E-89E9-1C55-195D7748CFCF}"/>
                </a:ext>
              </a:extLst>
            </p:cNvPr>
            <p:cNvPicPr>
              <a:picLocks noChangeAspect="1"/>
            </p:cNvPicPr>
            <p:nvPr/>
          </p:nvPicPr>
          <p:blipFill>
            <a:blip r:embed="rId4"/>
            <a:stretch>
              <a:fillRect/>
            </a:stretch>
          </p:blipFill>
          <p:spPr>
            <a:xfrm>
              <a:off x="3385745" y="4576540"/>
              <a:ext cx="870198" cy="360000"/>
            </a:xfrm>
            <a:prstGeom prst="rect">
              <a:avLst/>
            </a:prstGeom>
          </p:spPr>
        </p:pic>
        <p:sp>
          <p:nvSpPr>
            <p:cNvPr id="1058" name="Rectangle 412">
              <a:extLst>
                <a:ext uri="{FF2B5EF4-FFF2-40B4-BE49-F238E27FC236}">
                  <a16:creationId xmlns:a16="http://schemas.microsoft.com/office/drawing/2014/main" id="{94A0F76B-A5C8-80C5-0C0F-95C90C52B6BE}"/>
                </a:ext>
              </a:extLst>
            </p:cNvPr>
            <p:cNvSpPr>
              <a:spLocks noChangeArrowheads="1"/>
            </p:cNvSpPr>
            <p:nvPr/>
          </p:nvSpPr>
          <p:spPr bwMode="auto">
            <a:xfrm>
              <a:off x="3531503" y="5795202"/>
              <a:ext cx="578685" cy="107722"/>
            </a:xfrm>
            <a:prstGeom prst="rect">
              <a:avLst/>
            </a:prstGeom>
            <a:noFill/>
            <a:ln w="9525">
              <a:noFill/>
              <a:miter lim="800000"/>
              <a:headEnd/>
              <a:tailEnd/>
            </a:ln>
          </p:spPr>
          <p:txBody>
            <a:bodyPr wrap="none" lIns="0" tIns="0" rIns="0" bIns="0" anchor="ctr">
              <a:spAutoFit/>
            </a:bodyPr>
            <a:lstStyle/>
            <a:p>
              <a:pPr algn="ctr">
                <a:defRPr/>
              </a:pPr>
              <a:r>
                <a:rPr lang="en-GB" altLang="zh-CN" sz="700">
                  <a:solidFill>
                    <a:srgbClr val="000000"/>
                  </a:solidFill>
                  <a:latin typeface="Calibri" panose="020F0502020204030204" pitchFamily="34" charset="0"/>
                  <a:cs typeface="DFPKaiShu-GB5" panose="03000500000000000000" pitchFamily="66" charset="-128"/>
                </a:rPr>
                <a:t>December</a:t>
              </a:r>
              <a:r>
                <a:rPr lang="en-GB" altLang="zh-CN" sz="700" b="0">
                  <a:solidFill>
                    <a:srgbClr val="000000"/>
                  </a:solidFill>
                  <a:latin typeface="Calibri" panose="020F0502020204030204" pitchFamily="34" charset="0"/>
                  <a:ea typeface="DFKaiShu-GB5"/>
                  <a:cs typeface="DFPKaiShu-GB5" panose="03000500000000000000" pitchFamily="66" charset="-128"/>
                </a:rPr>
                <a:t> 2023</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sp>
          <p:nvSpPr>
            <p:cNvPr id="157" name="Rectangle 406">
              <a:extLst>
                <a:ext uri="{FF2B5EF4-FFF2-40B4-BE49-F238E27FC236}">
                  <a16:creationId xmlns:a16="http://schemas.microsoft.com/office/drawing/2014/main" id="{01F4766A-8D61-E125-C10A-2802FE905596}"/>
                </a:ext>
              </a:extLst>
            </p:cNvPr>
            <p:cNvSpPr>
              <a:spLocks noChangeArrowheads="1"/>
            </p:cNvSpPr>
            <p:nvPr/>
          </p:nvSpPr>
          <p:spPr bwMode="auto">
            <a:xfrm>
              <a:off x="5559192"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a:solidFill>
                  <a:prstClr val="black"/>
                </a:solidFill>
                <a:latin typeface="Calibri" panose="020F0502020204030204" pitchFamily="34" charset="0"/>
                <a:ea typeface="DFKaiShu-GB5"/>
                <a:cs typeface="Calibri" panose="020F0502020204030204" pitchFamily="34" charset="0"/>
              </a:endParaRPr>
            </a:p>
          </p:txBody>
        </p:sp>
        <p:sp>
          <p:nvSpPr>
            <p:cNvPr id="158" name="Rectangle 412">
              <a:extLst>
                <a:ext uri="{FF2B5EF4-FFF2-40B4-BE49-F238E27FC236}">
                  <a16:creationId xmlns:a16="http://schemas.microsoft.com/office/drawing/2014/main" id="{58F1C5E7-34DD-E9E6-A28F-C2314D89E513}"/>
                </a:ext>
              </a:extLst>
            </p:cNvPr>
            <p:cNvSpPr>
              <a:spLocks noChangeArrowheads="1"/>
            </p:cNvSpPr>
            <p:nvPr/>
          </p:nvSpPr>
          <p:spPr bwMode="auto">
            <a:xfrm>
              <a:off x="5926636" y="5795202"/>
              <a:ext cx="360675" cy="107722"/>
            </a:xfrm>
            <a:prstGeom prst="rect">
              <a:avLst/>
            </a:prstGeom>
            <a:noFill/>
            <a:ln w="9525">
              <a:noFill/>
              <a:miter lim="800000"/>
              <a:headEnd/>
              <a:tailEnd/>
            </a:ln>
          </p:spPr>
          <p:txBody>
            <a:bodyPr wrap="none" lIns="0" tIns="0" rIns="0" bIns="0" anchor="ctr">
              <a:spAutoFit/>
            </a:bodyPr>
            <a:lstStyle/>
            <a:p>
              <a:pPr algn="ctr" eaLnBrk="0" fontAlgn="base" hangingPunct="0">
                <a:spcBef>
                  <a:spcPct val="0"/>
                </a:spcBef>
                <a:spcAft>
                  <a:spcPct val="0"/>
                </a:spcAft>
                <a:defRPr/>
              </a:pPr>
              <a:r>
                <a:rPr lang="en-US" altLang="zh-TW" sz="700" b="0">
                  <a:solidFill>
                    <a:srgbClr val="000000"/>
                  </a:solidFill>
                  <a:latin typeface="Calibri" panose="020F0502020204030204" pitchFamily="34" charset="0"/>
                  <a:ea typeface="DFKaiShu-GB5"/>
                  <a:cs typeface="Calibri" pitchFamily="34" charset="0"/>
                </a:rPr>
                <a:t>May 2023</a:t>
              </a:r>
            </a:p>
          </p:txBody>
        </p:sp>
        <p:sp>
          <p:nvSpPr>
            <p:cNvPr id="159" name="Rectangle 408">
              <a:extLst>
                <a:ext uri="{FF2B5EF4-FFF2-40B4-BE49-F238E27FC236}">
                  <a16:creationId xmlns:a16="http://schemas.microsoft.com/office/drawing/2014/main" id="{BA786722-3653-67FA-8F55-6931CCEF350E}"/>
                </a:ext>
              </a:extLst>
            </p:cNvPr>
            <p:cNvSpPr>
              <a:spLocks noChangeArrowheads="1"/>
            </p:cNvSpPr>
            <p:nvPr/>
          </p:nvSpPr>
          <p:spPr bwMode="auto">
            <a:xfrm>
              <a:off x="5576620" y="5272220"/>
              <a:ext cx="1060704" cy="48474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DFKaiShu-GB5"/>
                  <a:cs typeface="DFPKaiShu-GB5" panose="03000500000000000000" pitchFamily="66" charset="-128"/>
                </a:rPr>
                <a:t>Joint Sponsor, Joint Overall Coordinator, Joint Global Coordinator, Joint Bookrunner and Joint Lead Manager</a:t>
              </a:r>
            </a:p>
          </p:txBody>
        </p:sp>
        <p:sp>
          <p:nvSpPr>
            <p:cNvPr id="160" name="Rectangle 409">
              <a:extLst>
                <a:ext uri="{FF2B5EF4-FFF2-40B4-BE49-F238E27FC236}">
                  <a16:creationId xmlns:a16="http://schemas.microsoft.com/office/drawing/2014/main" id="{A81438D9-40E2-CEDE-21F6-8A2EF3371027}"/>
                </a:ext>
              </a:extLst>
            </p:cNvPr>
            <p:cNvSpPr>
              <a:spLocks noChangeArrowheads="1"/>
            </p:cNvSpPr>
            <p:nvPr/>
          </p:nvSpPr>
          <p:spPr bwMode="auto">
            <a:xfrm>
              <a:off x="5576620" y="5027911"/>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a:solidFill>
                    <a:srgbClr val="000000"/>
                  </a:solidFill>
                  <a:latin typeface="Calibri" panose="020F0502020204030204" pitchFamily="34" charset="0"/>
                  <a:ea typeface="DFKaiShu-GB5"/>
                  <a:cs typeface="DFPKaiShu-GB5" panose="03000500000000000000" pitchFamily="66" charset="-128"/>
                </a:rPr>
                <a:t>US$210m</a:t>
              </a:r>
            </a:p>
            <a:p>
              <a:pPr algn="ctr">
                <a:spcBef>
                  <a:spcPct val="0"/>
                </a:spcBef>
                <a:defRPr/>
              </a:pPr>
              <a:r>
                <a:rPr lang="en-US" altLang="zh-CN" sz="700">
                  <a:solidFill>
                    <a:srgbClr val="000000"/>
                  </a:solidFill>
                  <a:latin typeface="Calibri" panose="020F0502020204030204" pitchFamily="34" charset="0"/>
                  <a:ea typeface="DFKaiShu-GB5"/>
                  <a:cs typeface="DFPKaiShu-GB5" panose="03000500000000000000" pitchFamily="66" charset="-128"/>
                </a:rPr>
                <a:t>IPO</a:t>
              </a:r>
            </a:p>
          </p:txBody>
        </p:sp>
        <p:pic>
          <p:nvPicPr>
            <p:cNvPr id="161" name="Picture 160">
              <a:extLst>
                <a:ext uri="{FF2B5EF4-FFF2-40B4-BE49-F238E27FC236}">
                  <a16:creationId xmlns:a16="http://schemas.microsoft.com/office/drawing/2014/main" id="{85B70CF1-2F17-DE11-5D9C-36C3F37C6691}"/>
                </a:ext>
              </a:extLst>
            </p:cNvPr>
            <p:cNvPicPr>
              <a:picLocks noChangeAspect="1"/>
            </p:cNvPicPr>
            <p:nvPr/>
          </p:nvPicPr>
          <p:blipFill rotWithShape="1">
            <a:blip r:embed="rId5"/>
            <a:srcRect t="4138"/>
            <a:stretch/>
          </p:blipFill>
          <p:spPr>
            <a:xfrm>
              <a:off x="5880402" y="4543049"/>
              <a:ext cx="453143" cy="448636"/>
            </a:xfrm>
            <a:prstGeom prst="rect">
              <a:avLst/>
            </a:prstGeom>
          </p:spPr>
        </p:pic>
        <p:sp>
          <p:nvSpPr>
            <p:cNvPr id="8" name="Rectangle 406">
              <a:extLst>
                <a:ext uri="{FF2B5EF4-FFF2-40B4-BE49-F238E27FC236}">
                  <a16:creationId xmlns:a16="http://schemas.microsoft.com/office/drawing/2014/main" id="{4D64FCBE-0A5C-976F-A508-CFACD30A1E0E}"/>
                </a:ext>
              </a:extLst>
            </p:cNvPr>
            <p:cNvSpPr>
              <a:spLocks noChangeArrowheads="1"/>
            </p:cNvSpPr>
            <p:nvPr/>
          </p:nvSpPr>
          <p:spPr bwMode="auto">
            <a:xfrm>
              <a:off x="4424842"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4" name="Rectangle 408">
              <a:extLst>
                <a:ext uri="{FF2B5EF4-FFF2-40B4-BE49-F238E27FC236}">
                  <a16:creationId xmlns:a16="http://schemas.microsoft.com/office/drawing/2014/main" id="{C22B5DC1-191F-5EDB-B939-18920C648303}"/>
                </a:ext>
              </a:extLst>
            </p:cNvPr>
            <p:cNvSpPr>
              <a:spLocks noChangeArrowheads="1"/>
            </p:cNvSpPr>
            <p:nvPr/>
          </p:nvSpPr>
          <p:spPr bwMode="auto">
            <a:xfrm>
              <a:off x="4446627" y="5417646"/>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5" name="Rectangle 409">
              <a:extLst>
                <a:ext uri="{FF2B5EF4-FFF2-40B4-BE49-F238E27FC236}">
                  <a16:creationId xmlns:a16="http://schemas.microsoft.com/office/drawing/2014/main" id="{F1402E32-C70D-1C43-0B92-16A07C2A8269}"/>
                </a:ext>
              </a:extLst>
            </p:cNvPr>
            <p:cNvSpPr>
              <a:spLocks noChangeArrowheads="1"/>
            </p:cNvSpPr>
            <p:nvPr/>
          </p:nvSpPr>
          <p:spPr bwMode="auto">
            <a:xfrm>
              <a:off x="4451199" y="5027911"/>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US$500m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8" name="Rectangle 412">
              <a:extLst>
                <a:ext uri="{FF2B5EF4-FFF2-40B4-BE49-F238E27FC236}">
                  <a16:creationId xmlns:a16="http://schemas.microsoft.com/office/drawing/2014/main" id="{B60ADC07-4BEA-AECB-16D3-72A23F166172}"/>
                </a:ext>
              </a:extLst>
            </p:cNvPr>
            <p:cNvSpPr>
              <a:spLocks noChangeArrowheads="1"/>
            </p:cNvSpPr>
            <p:nvPr/>
          </p:nvSpPr>
          <p:spPr bwMode="auto">
            <a:xfrm>
              <a:off x="4726911" y="5795202"/>
              <a:ext cx="500138"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October 2023</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25" name="Picture 24">
              <a:extLst>
                <a:ext uri="{FF2B5EF4-FFF2-40B4-BE49-F238E27FC236}">
                  <a16:creationId xmlns:a16="http://schemas.microsoft.com/office/drawing/2014/main" id="{920D0E0D-26A1-FA8D-0AA7-4741566EE360}"/>
                </a:ext>
              </a:extLst>
            </p:cNvPr>
            <p:cNvPicPr>
              <a:picLocks noChangeAspect="1"/>
            </p:cNvPicPr>
            <p:nvPr/>
          </p:nvPicPr>
          <p:blipFill>
            <a:blip r:embed="rId6"/>
            <a:stretch>
              <a:fillRect/>
            </a:stretch>
          </p:blipFill>
          <p:spPr>
            <a:xfrm>
              <a:off x="4600630" y="4676625"/>
              <a:ext cx="752701" cy="178663"/>
            </a:xfrm>
            <a:prstGeom prst="rect">
              <a:avLst/>
            </a:prstGeom>
          </p:spPr>
        </p:pic>
        <p:grpSp>
          <p:nvGrpSpPr>
            <p:cNvPr id="11" name="Group 10">
              <a:extLst>
                <a:ext uri="{FF2B5EF4-FFF2-40B4-BE49-F238E27FC236}">
                  <a16:creationId xmlns:a16="http://schemas.microsoft.com/office/drawing/2014/main" id="{E4809498-9270-EF64-D59D-1906303FD440}"/>
                </a:ext>
              </a:extLst>
            </p:cNvPr>
            <p:cNvGrpSpPr/>
            <p:nvPr/>
          </p:nvGrpSpPr>
          <p:grpSpPr>
            <a:xfrm>
              <a:off x="6688112" y="3018395"/>
              <a:ext cx="2195526" cy="1417320"/>
              <a:chOff x="647700" y="4525712"/>
              <a:chExt cx="2195526" cy="1417320"/>
            </a:xfrm>
          </p:grpSpPr>
          <p:sp>
            <p:nvSpPr>
              <p:cNvPr id="140" name="Rectangle 406">
                <a:extLst>
                  <a:ext uri="{FF2B5EF4-FFF2-40B4-BE49-F238E27FC236}">
                    <a16:creationId xmlns:a16="http://schemas.microsoft.com/office/drawing/2014/main" id="{EBCA5B3F-8490-1D40-E97B-9094E7C7C074}"/>
                  </a:ext>
                </a:extLst>
              </p:cNvPr>
              <p:cNvSpPr>
                <a:spLocks noChangeArrowheads="1"/>
              </p:cNvSpPr>
              <p:nvPr/>
            </p:nvSpPr>
            <p:spPr bwMode="auto">
              <a:xfrm>
                <a:off x="1776356"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42" name="Rectangle 408">
                <a:extLst>
                  <a:ext uri="{FF2B5EF4-FFF2-40B4-BE49-F238E27FC236}">
                    <a16:creationId xmlns:a16="http://schemas.microsoft.com/office/drawing/2014/main" id="{01B71FEC-2BCC-5148-E6FE-8A362851E6FE}"/>
                  </a:ext>
                </a:extLst>
              </p:cNvPr>
              <p:cNvSpPr>
                <a:spLocks noChangeArrowheads="1"/>
              </p:cNvSpPr>
              <p:nvPr/>
            </p:nvSpPr>
            <p:spPr bwMode="auto">
              <a:xfrm>
                <a:off x="1782522" y="5437330"/>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43" name="Rectangle 409">
                <a:extLst>
                  <a:ext uri="{FF2B5EF4-FFF2-40B4-BE49-F238E27FC236}">
                    <a16:creationId xmlns:a16="http://schemas.microsoft.com/office/drawing/2014/main" id="{5C527C43-DBA4-6301-70D3-405AA0B00490}"/>
                  </a:ext>
                </a:extLst>
              </p:cNvPr>
              <p:cNvSpPr>
                <a:spLocks noChangeArrowheads="1"/>
              </p:cNvSpPr>
              <p:nvPr/>
            </p:nvSpPr>
            <p:spPr bwMode="auto">
              <a:xfrm>
                <a:off x="1787094" y="5020170"/>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US$85m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44" name="Rectangle 412">
                <a:extLst>
                  <a:ext uri="{FF2B5EF4-FFF2-40B4-BE49-F238E27FC236}">
                    <a16:creationId xmlns:a16="http://schemas.microsoft.com/office/drawing/2014/main" id="{E8878C0E-D0D3-C8F3-089C-47FFD264BDD9}"/>
                  </a:ext>
                </a:extLst>
              </p:cNvPr>
              <p:cNvSpPr>
                <a:spLocks noChangeArrowheads="1"/>
              </p:cNvSpPr>
              <p:nvPr/>
            </p:nvSpPr>
            <p:spPr bwMode="auto">
              <a:xfrm>
                <a:off x="2144559" y="5795202"/>
                <a:ext cx="336631"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July 2024</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45" name="Picture 2" descr="image">
                <a:extLst>
                  <a:ext uri="{FF2B5EF4-FFF2-40B4-BE49-F238E27FC236}">
                    <a16:creationId xmlns:a16="http://schemas.microsoft.com/office/drawing/2014/main" id="{449192FD-1173-C6B3-FB14-209AFF6D530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12824" y="4652223"/>
                <a:ext cx="800100" cy="222068"/>
              </a:xfrm>
              <a:prstGeom prst="rect">
                <a:avLst/>
              </a:prstGeom>
              <a:noFill/>
              <a:extLst>
                <a:ext uri="{909E8E84-426E-40DD-AFC4-6F175D3DCCD1}">
                  <a14:hiddenFill xmlns:a14="http://schemas.microsoft.com/office/drawing/2010/main">
                    <a:solidFill>
                      <a:srgbClr val="FFFFFF"/>
                    </a:solidFill>
                  </a14:hiddenFill>
                </a:ext>
              </a:extLst>
            </p:spPr>
          </p:pic>
          <p:sp>
            <p:nvSpPr>
              <p:cNvPr id="134" name="Rectangle 406">
                <a:extLst>
                  <a:ext uri="{FF2B5EF4-FFF2-40B4-BE49-F238E27FC236}">
                    <a16:creationId xmlns:a16="http://schemas.microsoft.com/office/drawing/2014/main" id="{7BF7775B-7FB8-1D18-5E1D-ACC0CB3B2974}"/>
                  </a:ext>
                </a:extLst>
              </p:cNvPr>
              <p:cNvSpPr>
                <a:spLocks noChangeArrowheads="1"/>
              </p:cNvSpPr>
              <p:nvPr/>
            </p:nvSpPr>
            <p:spPr bwMode="auto">
              <a:xfrm>
                <a:off x="647700"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36" name="Rectangle 408">
                <a:extLst>
                  <a:ext uri="{FF2B5EF4-FFF2-40B4-BE49-F238E27FC236}">
                    <a16:creationId xmlns:a16="http://schemas.microsoft.com/office/drawing/2014/main" id="{6F311CB3-B6D5-4C1B-6DD6-07D293DEF7AE}"/>
                  </a:ext>
                </a:extLst>
              </p:cNvPr>
              <p:cNvSpPr>
                <a:spLocks noChangeArrowheads="1"/>
              </p:cNvSpPr>
              <p:nvPr/>
            </p:nvSpPr>
            <p:spPr bwMode="auto">
              <a:xfrm>
                <a:off x="656949" y="5485804"/>
                <a:ext cx="1060704" cy="96950"/>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37" name="Rectangle 409">
                <a:extLst>
                  <a:ext uri="{FF2B5EF4-FFF2-40B4-BE49-F238E27FC236}">
                    <a16:creationId xmlns:a16="http://schemas.microsoft.com/office/drawing/2014/main" id="{17C27B49-5D44-FF79-522F-99A3E1C0FFD0}"/>
                  </a:ext>
                </a:extLst>
              </p:cNvPr>
              <p:cNvSpPr>
                <a:spLocks noChangeArrowheads="1"/>
              </p:cNvSpPr>
              <p:nvPr/>
            </p:nvSpPr>
            <p:spPr bwMode="auto">
              <a:xfrm>
                <a:off x="661521" y="5020170"/>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Up to US$700m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Proposed IPO</a:t>
                </a:r>
              </a:p>
            </p:txBody>
          </p:sp>
          <p:sp>
            <p:nvSpPr>
              <p:cNvPr id="138" name="Rectangle 412">
                <a:extLst>
                  <a:ext uri="{FF2B5EF4-FFF2-40B4-BE49-F238E27FC236}">
                    <a16:creationId xmlns:a16="http://schemas.microsoft.com/office/drawing/2014/main" id="{350E62F5-4368-38A7-DA2F-2125ADAD3274}"/>
                  </a:ext>
                </a:extLst>
              </p:cNvPr>
              <p:cNvSpPr>
                <a:spLocks noChangeArrowheads="1"/>
              </p:cNvSpPr>
              <p:nvPr/>
            </p:nvSpPr>
            <p:spPr bwMode="auto">
              <a:xfrm>
                <a:off x="937233" y="5795202"/>
                <a:ext cx="500138"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October 2024</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39" name="Picture 138">
                <a:extLst>
                  <a:ext uri="{FF2B5EF4-FFF2-40B4-BE49-F238E27FC236}">
                    <a16:creationId xmlns:a16="http://schemas.microsoft.com/office/drawing/2014/main" id="{1AFF2E9C-B690-3B30-EABC-C30920BCFFF4}"/>
                  </a:ext>
                </a:extLst>
              </p:cNvPr>
              <p:cNvPicPr>
                <a:picLocks noChangeAspect="1"/>
              </p:cNvPicPr>
              <p:nvPr/>
            </p:nvPicPr>
            <p:blipFill>
              <a:blip r:embed="rId8"/>
              <a:stretch>
                <a:fillRect/>
              </a:stretch>
            </p:blipFill>
            <p:spPr>
              <a:xfrm>
                <a:off x="743196" y="4576567"/>
                <a:ext cx="888211" cy="381148"/>
              </a:xfrm>
              <a:prstGeom prst="rect">
                <a:avLst/>
              </a:prstGeom>
            </p:spPr>
          </p:pic>
        </p:grpSp>
        <p:sp>
          <p:nvSpPr>
            <p:cNvPr id="1100" name="Rectangle 406">
              <a:extLst>
                <a:ext uri="{FF2B5EF4-FFF2-40B4-BE49-F238E27FC236}">
                  <a16:creationId xmlns:a16="http://schemas.microsoft.com/office/drawing/2014/main" id="{5E6BCD82-6AE6-9E1B-ED76-BC4376B0C363}"/>
                </a:ext>
              </a:extLst>
            </p:cNvPr>
            <p:cNvSpPr>
              <a:spLocks noChangeArrowheads="1"/>
            </p:cNvSpPr>
            <p:nvPr/>
          </p:nvSpPr>
          <p:spPr bwMode="auto">
            <a:xfrm>
              <a:off x="1038150"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01" name="Rectangle 408">
              <a:extLst>
                <a:ext uri="{FF2B5EF4-FFF2-40B4-BE49-F238E27FC236}">
                  <a16:creationId xmlns:a16="http://schemas.microsoft.com/office/drawing/2014/main" id="{8FCE599C-3C68-719E-A713-4EA98BD19C07}"/>
                </a:ext>
              </a:extLst>
            </p:cNvPr>
            <p:cNvSpPr>
              <a:spLocks noChangeArrowheads="1"/>
            </p:cNvSpPr>
            <p:nvPr/>
          </p:nvSpPr>
          <p:spPr bwMode="auto">
            <a:xfrm>
              <a:off x="1038150" y="2359330"/>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Overall Coordinator, Global Coordinator, Bookrunner, Lead Manager </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102" name="Rectangle 409">
              <a:extLst>
                <a:ext uri="{FF2B5EF4-FFF2-40B4-BE49-F238E27FC236}">
                  <a16:creationId xmlns:a16="http://schemas.microsoft.com/office/drawing/2014/main" id="{8B7870F5-4AD0-F7E4-5573-17B334EA2ABC}"/>
                </a:ext>
              </a:extLst>
            </p:cNvPr>
            <p:cNvSpPr>
              <a:spLocks noChangeArrowheads="1"/>
            </p:cNvSpPr>
            <p:nvPr/>
          </p:nvSpPr>
          <p:spPr bwMode="auto">
            <a:xfrm>
              <a:off x="1042722" y="1942385"/>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US$111 million</a:t>
              </a:r>
            </a:p>
            <a:p>
              <a:pPr algn="ctr">
                <a:spcBef>
                  <a:spcPct val="0"/>
                </a:spcBef>
                <a:defRPr/>
              </a:pPr>
              <a:r>
                <a:rPr lang="en-US" altLang="zh-TW" sz="700">
                  <a:solidFill>
                    <a:srgbClr val="000000"/>
                  </a:solidFill>
                  <a:latin typeface="Calibri" panose="020F0502020204030204" pitchFamily="34" charset="0"/>
                  <a:ea typeface="STKaiti"/>
                  <a:cs typeface="DFPKaiShu-GB5" panose="03000500000000000000" pitchFamily="66" charset="-128"/>
                </a:rPr>
                <a:t>IPO</a:t>
              </a:r>
              <a:endParaRPr lang="en-US" altLang="zh-CN" sz="700">
                <a:solidFill>
                  <a:srgbClr val="000000"/>
                </a:solidFill>
                <a:latin typeface="Calibri" panose="020F0502020204030204" pitchFamily="34" charset="0"/>
                <a:ea typeface="STKaiti"/>
                <a:cs typeface="DFPKaiShu-GB5" panose="03000500000000000000" pitchFamily="66" charset="-128"/>
              </a:endParaRPr>
            </a:p>
          </p:txBody>
        </p:sp>
        <p:sp>
          <p:nvSpPr>
            <p:cNvPr id="1103" name="Rectangle 412">
              <a:extLst>
                <a:ext uri="{FF2B5EF4-FFF2-40B4-BE49-F238E27FC236}">
                  <a16:creationId xmlns:a16="http://schemas.microsoft.com/office/drawing/2014/main" id="{AF1921BF-3989-ABB8-D95D-DD2D78FA6F16}"/>
                </a:ext>
              </a:extLst>
            </p:cNvPr>
            <p:cNvSpPr>
              <a:spLocks noChangeArrowheads="1"/>
            </p:cNvSpPr>
            <p:nvPr/>
          </p:nvSpPr>
          <p:spPr bwMode="auto">
            <a:xfrm>
              <a:off x="1388166" y="2745992"/>
              <a:ext cx="360676" cy="107722"/>
            </a:xfrm>
            <a:prstGeom prst="rect">
              <a:avLst/>
            </a:prstGeom>
            <a:noFill/>
            <a:ln w="9525">
              <a:noFill/>
              <a:miter lim="800000"/>
              <a:headEnd/>
              <a:tailEnd/>
            </a:ln>
          </p:spPr>
          <p:txBody>
            <a:bodyPr wrap="none" lIns="0" tIns="0" rIns="0" bIns="0" anchor="ctr">
              <a:spAutoFit/>
            </a:bodyPr>
            <a:lstStyle/>
            <a:p>
              <a:pPr algn="ctr">
                <a:defRPr/>
              </a:pPr>
              <a:r>
                <a:rPr lang="en-US" altLang="zh-TW" sz="700" b="0">
                  <a:solidFill>
                    <a:srgbClr val="000000"/>
                  </a:solidFill>
                  <a:latin typeface="Calibri" panose="020F0502020204030204" pitchFamily="34" charset="0"/>
                  <a:ea typeface="DFKaiShu-GB5"/>
                  <a:cs typeface="DFPKaiShu-GB5" panose="03000500000000000000" pitchFamily="66" charset="-128"/>
                </a:rPr>
                <a:t>May</a:t>
              </a:r>
              <a:r>
                <a:rPr lang="en-GB" altLang="zh-CN" sz="700" b="0">
                  <a:solidFill>
                    <a:srgbClr val="000000"/>
                  </a:solidFill>
                  <a:latin typeface="Calibri" panose="020F0502020204030204" pitchFamily="34" charset="0"/>
                  <a:ea typeface="DFKaiShu-GB5"/>
                  <a:cs typeface="DFPKaiShu-GB5" panose="03000500000000000000" pitchFamily="66" charset="-128"/>
                </a:rPr>
                <a:t> 2026</a:t>
              </a:r>
            </a:p>
          </p:txBody>
        </p:sp>
        <p:sp>
          <p:nvSpPr>
            <p:cNvPr id="146" name="Rectangle 406">
              <a:extLst>
                <a:ext uri="{FF2B5EF4-FFF2-40B4-BE49-F238E27FC236}">
                  <a16:creationId xmlns:a16="http://schemas.microsoft.com/office/drawing/2014/main" id="{19102992-A443-E12F-E90B-203E21A00D6D}"/>
                </a:ext>
              </a:extLst>
            </p:cNvPr>
            <p:cNvSpPr>
              <a:spLocks noChangeArrowheads="1"/>
            </p:cNvSpPr>
            <p:nvPr/>
          </p:nvSpPr>
          <p:spPr bwMode="auto">
            <a:xfrm>
              <a:off x="5561963" y="3018395"/>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47" name="Rectangle 408">
              <a:extLst>
                <a:ext uri="{FF2B5EF4-FFF2-40B4-BE49-F238E27FC236}">
                  <a16:creationId xmlns:a16="http://schemas.microsoft.com/office/drawing/2014/main" id="{60BF86DA-D12E-80B2-168C-906C1F22B584}"/>
                </a:ext>
              </a:extLst>
            </p:cNvPr>
            <p:cNvSpPr>
              <a:spLocks noChangeArrowheads="1"/>
            </p:cNvSpPr>
            <p:nvPr/>
          </p:nvSpPr>
          <p:spPr bwMode="auto">
            <a:xfrm>
              <a:off x="5574295" y="3833063"/>
              <a:ext cx="1060704" cy="38779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Overall Coordinator, Joint Global Coordinator, 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48" name="Rectangle 409">
              <a:extLst>
                <a:ext uri="{FF2B5EF4-FFF2-40B4-BE49-F238E27FC236}">
                  <a16:creationId xmlns:a16="http://schemas.microsoft.com/office/drawing/2014/main" id="{A027E6B1-E60B-2F36-7DA7-B2FBB2600911}"/>
                </a:ext>
              </a:extLst>
            </p:cNvPr>
            <p:cNvSpPr>
              <a:spLocks noChangeArrowheads="1"/>
            </p:cNvSpPr>
            <p:nvPr/>
          </p:nvSpPr>
          <p:spPr bwMode="auto">
            <a:xfrm>
              <a:off x="5578867" y="351285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US$60m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49" name="Rectangle 412">
              <a:extLst>
                <a:ext uri="{FF2B5EF4-FFF2-40B4-BE49-F238E27FC236}">
                  <a16:creationId xmlns:a16="http://schemas.microsoft.com/office/drawing/2014/main" id="{CCABCAD2-19A2-8D7D-9D72-B50A2C0B6D4F}"/>
                </a:ext>
              </a:extLst>
            </p:cNvPr>
            <p:cNvSpPr>
              <a:spLocks noChangeArrowheads="1"/>
            </p:cNvSpPr>
            <p:nvPr/>
          </p:nvSpPr>
          <p:spPr bwMode="auto">
            <a:xfrm>
              <a:off x="5811300" y="4287885"/>
              <a:ext cx="586699"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November 2024</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50" name="Picture 149">
              <a:extLst>
                <a:ext uri="{FF2B5EF4-FFF2-40B4-BE49-F238E27FC236}">
                  <a16:creationId xmlns:a16="http://schemas.microsoft.com/office/drawing/2014/main" id="{DF67CC1F-EC7F-8DE4-ECFC-8F9DCBF66D4B}"/>
                </a:ext>
              </a:extLst>
            </p:cNvPr>
            <p:cNvPicPr>
              <a:picLocks noChangeAspect="1"/>
            </p:cNvPicPr>
            <p:nvPr/>
          </p:nvPicPr>
          <p:blipFill>
            <a:blip r:embed="rId9"/>
            <a:stretch>
              <a:fillRect/>
            </a:stretch>
          </p:blipFill>
          <p:spPr>
            <a:xfrm>
              <a:off x="5591511" y="3278738"/>
              <a:ext cx="1026272" cy="215444"/>
            </a:xfrm>
            <a:prstGeom prst="rect">
              <a:avLst/>
            </a:prstGeom>
          </p:spPr>
        </p:pic>
        <p:pic>
          <p:nvPicPr>
            <p:cNvPr id="151" name="Picture 150">
              <a:extLst>
                <a:ext uri="{FF2B5EF4-FFF2-40B4-BE49-F238E27FC236}">
                  <a16:creationId xmlns:a16="http://schemas.microsoft.com/office/drawing/2014/main" id="{442B6A39-FC70-8754-D882-E0AA6359C02B}"/>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696919" y="3108711"/>
              <a:ext cx="815456" cy="158619"/>
            </a:xfrm>
            <a:prstGeom prst="rect">
              <a:avLst/>
            </a:prstGeom>
            <a:noFill/>
          </p:spPr>
        </p:pic>
        <p:sp>
          <p:nvSpPr>
            <p:cNvPr id="152" name="Rectangle 406">
              <a:extLst>
                <a:ext uri="{FF2B5EF4-FFF2-40B4-BE49-F238E27FC236}">
                  <a16:creationId xmlns:a16="http://schemas.microsoft.com/office/drawing/2014/main" id="{30EAE72D-323E-68AC-39A9-4FFEDDE1A1C2}"/>
                </a:ext>
              </a:extLst>
            </p:cNvPr>
            <p:cNvSpPr>
              <a:spLocks noChangeArrowheads="1"/>
            </p:cNvSpPr>
            <p:nvPr/>
          </p:nvSpPr>
          <p:spPr bwMode="auto">
            <a:xfrm>
              <a:off x="4428887" y="3018395"/>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53" name="Rectangle 408">
              <a:extLst>
                <a:ext uri="{FF2B5EF4-FFF2-40B4-BE49-F238E27FC236}">
                  <a16:creationId xmlns:a16="http://schemas.microsoft.com/office/drawing/2014/main" id="{6FBE2C4C-CFF7-D8A4-9140-B89E0E562011}"/>
                </a:ext>
              </a:extLst>
            </p:cNvPr>
            <p:cNvSpPr>
              <a:spLocks noChangeArrowheads="1"/>
            </p:cNvSpPr>
            <p:nvPr/>
          </p:nvSpPr>
          <p:spPr bwMode="auto">
            <a:xfrm>
              <a:off x="4444302" y="3930014"/>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54" name="Rectangle 409">
              <a:extLst>
                <a:ext uri="{FF2B5EF4-FFF2-40B4-BE49-F238E27FC236}">
                  <a16:creationId xmlns:a16="http://schemas.microsoft.com/office/drawing/2014/main" id="{8C939D3B-C457-8453-6D50-8FDB53F3F462}"/>
                </a:ext>
              </a:extLst>
            </p:cNvPr>
            <p:cNvSpPr>
              <a:spLocks noChangeArrowheads="1"/>
            </p:cNvSpPr>
            <p:nvPr/>
          </p:nvSpPr>
          <p:spPr bwMode="auto">
            <a:xfrm>
              <a:off x="4448874" y="351285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US$749m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55" name="Rectangle 412">
              <a:extLst>
                <a:ext uri="{FF2B5EF4-FFF2-40B4-BE49-F238E27FC236}">
                  <a16:creationId xmlns:a16="http://schemas.microsoft.com/office/drawing/2014/main" id="{89A84A14-495F-BA2C-8413-360B41757AE2}"/>
                </a:ext>
              </a:extLst>
            </p:cNvPr>
            <p:cNvSpPr>
              <a:spLocks noChangeArrowheads="1"/>
            </p:cNvSpPr>
            <p:nvPr/>
          </p:nvSpPr>
          <p:spPr bwMode="auto">
            <a:xfrm>
              <a:off x="4678100" y="4287885"/>
              <a:ext cx="593111" cy="107722"/>
            </a:xfrm>
            <a:prstGeom prst="rect">
              <a:avLst/>
            </a:prstGeom>
            <a:noFill/>
            <a:ln w="9525">
              <a:noFill/>
              <a:miter lim="800000"/>
              <a:headEnd/>
              <a:tailEnd/>
            </a:ln>
          </p:spPr>
          <p:txBody>
            <a:bodyPr wrap="none" lIns="0" tIns="0" rIns="0" bIns="0" anchor="ctr">
              <a:spAutoFit/>
            </a:bodyPr>
            <a:lstStyle/>
            <a:p>
              <a:pPr algn="ctr">
                <a:defRPr/>
              </a:pPr>
              <a:r>
                <a:rPr lang="en-GB" altLang="zh-CN" sz="700">
                  <a:solidFill>
                    <a:srgbClr val="000000"/>
                  </a:solidFill>
                  <a:latin typeface="Calibri" panose="020F0502020204030204" pitchFamily="34" charset="0"/>
                  <a:cs typeface="DFPKaiShu-GB5" panose="03000500000000000000" pitchFamily="66" charset="-128"/>
                </a:rPr>
                <a:t>November</a:t>
              </a:r>
              <a:r>
                <a:rPr lang="en-GB" altLang="zh-CN" sz="700" b="0">
                  <a:solidFill>
                    <a:srgbClr val="000000"/>
                  </a:solidFill>
                  <a:latin typeface="Calibri" panose="020F0502020204030204" pitchFamily="34" charset="0"/>
                  <a:ea typeface="DFKaiShu-GB5"/>
                  <a:cs typeface="DFPKaiShu-GB5" panose="03000500000000000000" pitchFamily="66" charset="-128"/>
                </a:rPr>
                <a:t> 2024</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56" name="Picture 155">
              <a:extLst>
                <a:ext uri="{FF2B5EF4-FFF2-40B4-BE49-F238E27FC236}">
                  <a16:creationId xmlns:a16="http://schemas.microsoft.com/office/drawing/2014/main" id="{2475C3B0-1AD4-C952-8F34-EA02DE715C8C}"/>
                </a:ext>
              </a:extLst>
            </p:cNvPr>
            <p:cNvPicPr>
              <a:picLocks noChangeAspect="1"/>
            </p:cNvPicPr>
            <p:nvPr/>
          </p:nvPicPr>
          <p:blipFill rotWithShape="1">
            <a:blip r:embed="rId11" cstate="hqprint">
              <a:extLst>
                <a:ext uri="{28A0092B-C50C-407E-A947-70E740481C1C}">
                  <a14:useLocalDpi xmlns:a14="http://schemas.microsoft.com/office/drawing/2010/main"/>
                </a:ext>
              </a:extLst>
            </a:blip>
            <a:srcRect l="4821" t="22974" r="4150" b="22843"/>
            <a:stretch/>
          </p:blipFill>
          <p:spPr>
            <a:xfrm>
              <a:off x="4607391" y="3103355"/>
              <a:ext cx="734529" cy="327914"/>
            </a:xfrm>
            <a:prstGeom prst="rect">
              <a:avLst/>
            </a:prstGeom>
          </p:spPr>
        </p:pic>
        <p:grpSp>
          <p:nvGrpSpPr>
            <p:cNvPr id="12" name="Group 11">
              <a:extLst>
                <a:ext uri="{FF2B5EF4-FFF2-40B4-BE49-F238E27FC236}">
                  <a16:creationId xmlns:a16="http://schemas.microsoft.com/office/drawing/2014/main" id="{F7A01EF5-1290-B75D-A62D-96D9C9DA425E}"/>
                </a:ext>
              </a:extLst>
            </p:cNvPr>
            <p:cNvGrpSpPr/>
            <p:nvPr/>
          </p:nvGrpSpPr>
          <p:grpSpPr>
            <a:xfrm>
              <a:off x="2173538" y="3018395"/>
              <a:ext cx="2179910" cy="1417320"/>
              <a:chOff x="657150" y="3018395"/>
              <a:chExt cx="2179910" cy="1417320"/>
            </a:xfrm>
          </p:grpSpPr>
          <p:sp>
            <p:nvSpPr>
              <p:cNvPr id="1105" name="Rectangle 406">
                <a:extLst>
                  <a:ext uri="{FF2B5EF4-FFF2-40B4-BE49-F238E27FC236}">
                    <a16:creationId xmlns:a16="http://schemas.microsoft.com/office/drawing/2014/main" id="{99E31260-82F1-EC07-5202-53A19FBBA0DB}"/>
                  </a:ext>
                </a:extLst>
              </p:cNvPr>
              <p:cNvSpPr>
                <a:spLocks noChangeArrowheads="1"/>
              </p:cNvSpPr>
              <p:nvPr/>
            </p:nvSpPr>
            <p:spPr bwMode="auto">
              <a:xfrm>
                <a:off x="1776356" y="3018395"/>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06" name="Rectangle 408">
                <a:extLst>
                  <a:ext uri="{FF2B5EF4-FFF2-40B4-BE49-F238E27FC236}">
                    <a16:creationId xmlns:a16="http://schemas.microsoft.com/office/drawing/2014/main" id="{EF6E36D3-1404-3D45-FE80-279AB6D3A1FE}"/>
                  </a:ext>
                </a:extLst>
              </p:cNvPr>
              <p:cNvSpPr>
                <a:spLocks noChangeArrowheads="1"/>
              </p:cNvSpPr>
              <p:nvPr/>
            </p:nvSpPr>
            <p:spPr bwMode="auto">
              <a:xfrm>
                <a:off x="1776356" y="3901223"/>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107" name="Rectangle 409">
                <a:extLst>
                  <a:ext uri="{FF2B5EF4-FFF2-40B4-BE49-F238E27FC236}">
                    <a16:creationId xmlns:a16="http://schemas.microsoft.com/office/drawing/2014/main" id="{F8674047-1ECD-651A-25B1-3C00B182CC7E}"/>
                  </a:ext>
                </a:extLst>
              </p:cNvPr>
              <p:cNvSpPr>
                <a:spLocks noChangeArrowheads="1"/>
              </p:cNvSpPr>
              <p:nvPr/>
            </p:nvSpPr>
            <p:spPr bwMode="auto">
              <a:xfrm>
                <a:off x="1780928" y="3484278"/>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US$302m</a:t>
                </a:r>
                <a:br>
                  <a:rPr lang="en-US" altLang="zh-CN" sz="700">
                    <a:solidFill>
                      <a:srgbClr val="000000"/>
                    </a:solidFill>
                    <a:latin typeface="Calibri" panose="020F0502020204030204" pitchFamily="34" charset="0"/>
                    <a:ea typeface="STKaiti"/>
                    <a:cs typeface="DFPKaiShu-GB5" panose="03000500000000000000" pitchFamily="66" charset="-128"/>
                  </a:rPr>
                </a:b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108" name="Rectangle 412">
                <a:extLst>
                  <a:ext uri="{FF2B5EF4-FFF2-40B4-BE49-F238E27FC236}">
                    <a16:creationId xmlns:a16="http://schemas.microsoft.com/office/drawing/2014/main" id="{53A7808A-CA64-2830-32E6-7495376C6B7F}"/>
                  </a:ext>
                </a:extLst>
              </p:cNvPr>
              <p:cNvSpPr>
                <a:spLocks noChangeArrowheads="1"/>
              </p:cNvSpPr>
              <p:nvPr/>
            </p:nvSpPr>
            <p:spPr bwMode="auto">
              <a:xfrm>
                <a:off x="2087899" y="4287885"/>
                <a:ext cx="437620"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March 2025</a:t>
                </a:r>
              </a:p>
            </p:txBody>
          </p:sp>
          <p:pic>
            <p:nvPicPr>
              <p:cNvPr id="1109" name="Picture 1108">
                <a:extLst>
                  <a:ext uri="{FF2B5EF4-FFF2-40B4-BE49-F238E27FC236}">
                    <a16:creationId xmlns:a16="http://schemas.microsoft.com/office/drawing/2014/main" id="{2AB19091-B655-B0A9-E90F-DDB3D1DED645}"/>
                  </a:ext>
                </a:extLst>
              </p:cNvPr>
              <p:cNvPicPr>
                <a:picLocks noChangeAspect="1"/>
              </p:cNvPicPr>
              <p:nvPr/>
            </p:nvPicPr>
            <p:blipFill>
              <a:blip r:embed="rId12"/>
              <a:srcRect l="4350"/>
              <a:stretch/>
            </p:blipFill>
            <p:spPr>
              <a:xfrm>
                <a:off x="1803798" y="3168936"/>
                <a:ext cx="1005820" cy="241017"/>
              </a:xfrm>
              <a:prstGeom prst="rect">
                <a:avLst/>
              </a:prstGeom>
            </p:spPr>
          </p:pic>
          <p:grpSp>
            <p:nvGrpSpPr>
              <p:cNvPr id="9" name="Group 8">
                <a:extLst>
                  <a:ext uri="{FF2B5EF4-FFF2-40B4-BE49-F238E27FC236}">
                    <a16:creationId xmlns:a16="http://schemas.microsoft.com/office/drawing/2014/main" id="{0401861A-7408-DF51-43A8-8FCDC489E8F7}"/>
                  </a:ext>
                </a:extLst>
              </p:cNvPr>
              <p:cNvGrpSpPr/>
              <p:nvPr/>
            </p:nvGrpSpPr>
            <p:grpSpPr>
              <a:xfrm>
                <a:off x="657150" y="3018395"/>
                <a:ext cx="1071491" cy="1417320"/>
                <a:chOff x="1770964" y="3018395"/>
                <a:chExt cx="1071491" cy="1417320"/>
              </a:xfrm>
            </p:grpSpPr>
            <p:sp>
              <p:nvSpPr>
                <p:cNvPr id="1110" name="Rectangle 406">
                  <a:extLst>
                    <a:ext uri="{FF2B5EF4-FFF2-40B4-BE49-F238E27FC236}">
                      <a16:creationId xmlns:a16="http://schemas.microsoft.com/office/drawing/2014/main" id="{1A64831D-B298-38D0-E629-B3958CDE20F6}"/>
                    </a:ext>
                  </a:extLst>
                </p:cNvPr>
                <p:cNvSpPr>
                  <a:spLocks noChangeArrowheads="1"/>
                </p:cNvSpPr>
                <p:nvPr/>
              </p:nvSpPr>
              <p:spPr bwMode="auto">
                <a:xfrm>
                  <a:off x="1770964" y="3018395"/>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11" name="Rectangle 408">
                  <a:extLst>
                    <a:ext uri="{FF2B5EF4-FFF2-40B4-BE49-F238E27FC236}">
                      <a16:creationId xmlns:a16="http://schemas.microsoft.com/office/drawing/2014/main" id="{4D739CC1-113E-E5A9-0FC6-144943ED2721}"/>
                    </a:ext>
                  </a:extLst>
                </p:cNvPr>
                <p:cNvSpPr>
                  <a:spLocks noChangeArrowheads="1"/>
                </p:cNvSpPr>
                <p:nvPr/>
              </p:nvSpPr>
              <p:spPr bwMode="auto">
                <a:xfrm>
                  <a:off x="1781751" y="3901223"/>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p>
              </p:txBody>
            </p:sp>
            <p:sp>
              <p:nvSpPr>
                <p:cNvPr id="1112" name="Rectangle 409">
                  <a:extLst>
                    <a:ext uri="{FF2B5EF4-FFF2-40B4-BE49-F238E27FC236}">
                      <a16:creationId xmlns:a16="http://schemas.microsoft.com/office/drawing/2014/main" id="{23BAD1CE-9E41-516C-B16F-B2CFFCD05F22}"/>
                    </a:ext>
                  </a:extLst>
                </p:cNvPr>
                <p:cNvSpPr>
                  <a:spLocks noChangeArrowheads="1"/>
                </p:cNvSpPr>
                <p:nvPr/>
              </p:nvSpPr>
              <p:spPr bwMode="auto">
                <a:xfrm>
                  <a:off x="1786323" y="3522378"/>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US$345m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113" name="Rectangle 412">
                  <a:extLst>
                    <a:ext uri="{FF2B5EF4-FFF2-40B4-BE49-F238E27FC236}">
                      <a16:creationId xmlns:a16="http://schemas.microsoft.com/office/drawing/2014/main" id="{B77887BD-E2BF-9710-142A-4656E7FF29D1}"/>
                    </a:ext>
                  </a:extLst>
                </p:cNvPr>
                <p:cNvSpPr>
                  <a:spLocks noChangeArrowheads="1"/>
                </p:cNvSpPr>
                <p:nvPr/>
              </p:nvSpPr>
              <p:spPr bwMode="auto">
                <a:xfrm>
                  <a:off x="2143788" y="4287885"/>
                  <a:ext cx="336631"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July 2025</a:t>
                  </a:r>
                </a:p>
              </p:txBody>
            </p:sp>
            <p:pic>
              <p:nvPicPr>
                <p:cNvPr id="1114" name="Picture 1113">
                  <a:extLst>
                    <a:ext uri="{FF2B5EF4-FFF2-40B4-BE49-F238E27FC236}">
                      <a16:creationId xmlns:a16="http://schemas.microsoft.com/office/drawing/2014/main" id="{0FE24DDC-34A5-2CD4-1D08-A1903632E239}"/>
                    </a:ext>
                  </a:extLst>
                </p:cNvPr>
                <p:cNvPicPr>
                  <a:picLocks noChangeAspect="1"/>
                </p:cNvPicPr>
                <p:nvPr/>
              </p:nvPicPr>
              <p:blipFill>
                <a:blip r:embed="rId13"/>
                <a:stretch>
                  <a:fillRect/>
                </a:stretch>
              </p:blipFill>
              <p:spPr>
                <a:xfrm>
                  <a:off x="1885166" y="3093578"/>
                  <a:ext cx="853874" cy="279631"/>
                </a:xfrm>
                <a:prstGeom prst="rect">
                  <a:avLst/>
                </a:prstGeom>
              </p:spPr>
            </p:pic>
          </p:grpSp>
        </p:grpSp>
        <p:grpSp>
          <p:nvGrpSpPr>
            <p:cNvPr id="7" name="Group 6">
              <a:extLst>
                <a:ext uri="{FF2B5EF4-FFF2-40B4-BE49-F238E27FC236}">
                  <a16:creationId xmlns:a16="http://schemas.microsoft.com/office/drawing/2014/main" id="{06B9C122-B5EC-DF99-DD91-BE6D504D0FAF}"/>
                </a:ext>
              </a:extLst>
            </p:cNvPr>
            <p:cNvGrpSpPr/>
            <p:nvPr/>
          </p:nvGrpSpPr>
          <p:grpSpPr>
            <a:xfrm>
              <a:off x="1038151" y="3018395"/>
              <a:ext cx="1076883" cy="1417320"/>
              <a:chOff x="657150" y="3018395"/>
              <a:chExt cx="1076883" cy="1417320"/>
            </a:xfrm>
          </p:grpSpPr>
          <p:sp>
            <p:nvSpPr>
              <p:cNvPr id="1095" name="Rectangle 406">
                <a:extLst>
                  <a:ext uri="{FF2B5EF4-FFF2-40B4-BE49-F238E27FC236}">
                    <a16:creationId xmlns:a16="http://schemas.microsoft.com/office/drawing/2014/main" id="{A517A3BD-EF82-7E8D-2F03-D1D9D32366DF}"/>
                  </a:ext>
                </a:extLst>
              </p:cNvPr>
              <p:cNvSpPr>
                <a:spLocks noChangeArrowheads="1"/>
              </p:cNvSpPr>
              <p:nvPr/>
            </p:nvSpPr>
            <p:spPr bwMode="auto">
              <a:xfrm>
                <a:off x="657150" y="3018395"/>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096" name="Rectangle 408">
                <a:extLst>
                  <a:ext uri="{FF2B5EF4-FFF2-40B4-BE49-F238E27FC236}">
                    <a16:creationId xmlns:a16="http://schemas.microsoft.com/office/drawing/2014/main" id="{E8DC6703-9357-5121-7D0F-45C278A99218}"/>
                  </a:ext>
                </a:extLst>
              </p:cNvPr>
              <p:cNvSpPr>
                <a:spLocks noChangeArrowheads="1"/>
              </p:cNvSpPr>
              <p:nvPr/>
            </p:nvSpPr>
            <p:spPr bwMode="auto">
              <a:xfrm>
                <a:off x="673329" y="3804273"/>
                <a:ext cx="1060704" cy="48474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Sole Sponsor, Overall Coordinator, Joint Global Coordinator, Joint Bookrunner and Joint Lead Manager</a:t>
                </a:r>
                <a:endParaRPr lang="zh-CN" altLang="en-US" sz="700" b="0">
                  <a:solidFill>
                    <a:srgbClr val="000000"/>
                  </a:solidFill>
                  <a:latin typeface="Calibri" panose="020F0502020204030204" pitchFamily="34" charset="0"/>
                  <a:ea typeface="STKaiti"/>
                  <a:cs typeface="DFPKaiShu-GB5" panose="03000500000000000000" pitchFamily="66" charset="-128"/>
                </a:endParaRPr>
              </a:p>
            </p:txBody>
          </p:sp>
          <p:sp>
            <p:nvSpPr>
              <p:cNvPr id="1097" name="Rectangle 409">
                <a:extLst>
                  <a:ext uri="{FF2B5EF4-FFF2-40B4-BE49-F238E27FC236}">
                    <a16:creationId xmlns:a16="http://schemas.microsoft.com/office/drawing/2014/main" id="{2A179225-3D4D-1270-13F8-691D296A2A43}"/>
                  </a:ext>
                </a:extLst>
              </p:cNvPr>
              <p:cNvSpPr>
                <a:spLocks noChangeArrowheads="1"/>
              </p:cNvSpPr>
              <p:nvPr/>
            </p:nvSpPr>
            <p:spPr bwMode="auto">
              <a:xfrm>
                <a:off x="677901" y="3522378"/>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US$53m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098" name="Rectangle 412">
                <a:extLst>
                  <a:ext uri="{FF2B5EF4-FFF2-40B4-BE49-F238E27FC236}">
                    <a16:creationId xmlns:a16="http://schemas.microsoft.com/office/drawing/2014/main" id="{17EEA54C-DA29-A886-7406-5D0AD975F850}"/>
                  </a:ext>
                </a:extLst>
              </p:cNvPr>
              <p:cNvSpPr>
                <a:spLocks noChangeArrowheads="1"/>
              </p:cNvSpPr>
              <p:nvPr/>
            </p:nvSpPr>
            <p:spPr bwMode="auto">
              <a:xfrm>
                <a:off x="1035366" y="4287885"/>
                <a:ext cx="336631"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July 2025</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099" name="Picture 1098">
                <a:extLst>
                  <a:ext uri="{FF2B5EF4-FFF2-40B4-BE49-F238E27FC236}">
                    <a16:creationId xmlns:a16="http://schemas.microsoft.com/office/drawing/2014/main" id="{E9DC6646-8F3F-5F49-5D3D-C2A49D55FAB2}"/>
                  </a:ext>
                </a:extLst>
              </p:cNvPr>
              <p:cNvPicPr>
                <a:picLocks noChangeAspect="1"/>
              </p:cNvPicPr>
              <p:nvPr/>
            </p:nvPicPr>
            <p:blipFill>
              <a:blip r:embed="rId14"/>
              <a:stretch>
                <a:fillRect/>
              </a:stretch>
            </p:blipFill>
            <p:spPr>
              <a:xfrm>
                <a:off x="802504" y="3058950"/>
                <a:ext cx="802354" cy="383558"/>
              </a:xfrm>
              <a:prstGeom prst="rect">
                <a:avLst/>
              </a:prstGeom>
            </p:spPr>
          </p:pic>
        </p:grpSp>
        <p:grpSp>
          <p:nvGrpSpPr>
            <p:cNvPr id="20" name="Group 19">
              <a:extLst>
                <a:ext uri="{FF2B5EF4-FFF2-40B4-BE49-F238E27FC236}">
                  <a16:creationId xmlns:a16="http://schemas.microsoft.com/office/drawing/2014/main" id="{546DAC2F-C572-8602-5035-375F107DBDE9}"/>
                </a:ext>
              </a:extLst>
            </p:cNvPr>
            <p:cNvGrpSpPr/>
            <p:nvPr/>
          </p:nvGrpSpPr>
          <p:grpSpPr>
            <a:xfrm>
              <a:off x="2151402" y="1475260"/>
              <a:ext cx="6732237" cy="1417320"/>
              <a:chOff x="657150" y="1475260"/>
              <a:chExt cx="6732237" cy="1417320"/>
            </a:xfrm>
          </p:grpSpPr>
          <p:sp>
            <p:nvSpPr>
              <p:cNvPr id="1120" name="Rectangle 406">
                <a:extLst>
                  <a:ext uri="{FF2B5EF4-FFF2-40B4-BE49-F238E27FC236}">
                    <a16:creationId xmlns:a16="http://schemas.microsoft.com/office/drawing/2014/main" id="{79253B78-262C-60C7-F9FA-116DF05684E5}"/>
                  </a:ext>
                </a:extLst>
              </p:cNvPr>
              <p:cNvSpPr>
                <a:spLocks noChangeArrowheads="1"/>
              </p:cNvSpPr>
              <p:nvPr/>
            </p:nvSpPr>
            <p:spPr bwMode="auto">
              <a:xfrm>
                <a:off x="6307112"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21" name="Rectangle 408">
                <a:extLst>
                  <a:ext uri="{FF2B5EF4-FFF2-40B4-BE49-F238E27FC236}">
                    <a16:creationId xmlns:a16="http://schemas.microsoft.com/office/drawing/2014/main" id="{33DC8280-E832-67ED-D88D-C241E92984BB}"/>
                  </a:ext>
                </a:extLst>
              </p:cNvPr>
              <p:cNvSpPr>
                <a:spLocks noChangeArrowheads="1"/>
              </p:cNvSpPr>
              <p:nvPr/>
            </p:nvSpPr>
            <p:spPr bwMode="auto">
              <a:xfrm>
                <a:off x="6328683" y="2455037"/>
                <a:ext cx="1060704" cy="96950"/>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Lead Manager</a:t>
                </a:r>
              </a:p>
            </p:txBody>
          </p:sp>
          <p:sp>
            <p:nvSpPr>
              <p:cNvPr id="1122" name="Rectangle 409">
                <a:extLst>
                  <a:ext uri="{FF2B5EF4-FFF2-40B4-BE49-F238E27FC236}">
                    <a16:creationId xmlns:a16="http://schemas.microsoft.com/office/drawing/2014/main" id="{D1B996F1-E51A-E86B-6E0F-7265795EB98F}"/>
                  </a:ext>
                </a:extLst>
              </p:cNvPr>
              <p:cNvSpPr>
                <a:spLocks noChangeArrowheads="1"/>
              </p:cNvSpPr>
              <p:nvPr/>
            </p:nvSpPr>
            <p:spPr bwMode="auto">
              <a:xfrm>
                <a:off x="6333255" y="197924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US$442m</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123" name="Rectangle 412">
                <a:extLst>
                  <a:ext uri="{FF2B5EF4-FFF2-40B4-BE49-F238E27FC236}">
                    <a16:creationId xmlns:a16="http://schemas.microsoft.com/office/drawing/2014/main" id="{CC03207B-3151-35F0-C67A-5041478A1545}"/>
                  </a:ext>
                </a:extLst>
              </p:cNvPr>
              <p:cNvSpPr>
                <a:spLocks noChangeArrowheads="1"/>
              </p:cNvSpPr>
              <p:nvPr/>
            </p:nvSpPr>
            <p:spPr bwMode="auto">
              <a:xfrm>
                <a:off x="6690720" y="2744750"/>
                <a:ext cx="336631"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July 2025</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124" name="Picture 1123">
                <a:extLst>
                  <a:ext uri="{FF2B5EF4-FFF2-40B4-BE49-F238E27FC236}">
                    <a16:creationId xmlns:a16="http://schemas.microsoft.com/office/drawing/2014/main" id="{894B1107-281D-81CE-69B5-C4E4D5CBEC58}"/>
                  </a:ext>
                </a:extLst>
              </p:cNvPr>
              <p:cNvPicPr>
                <a:picLocks noChangeAspect="1"/>
              </p:cNvPicPr>
              <p:nvPr/>
            </p:nvPicPr>
            <p:blipFill>
              <a:blip r:embed="rId15"/>
              <a:stretch>
                <a:fillRect/>
              </a:stretch>
            </p:blipFill>
            <p:spPr>
              <a:xfrm>
                <a:off x="6522482" y="1609887"/>
                <a:ext cx="673107" cy="228995"/>
              </a:xfrm>
              <a:prstGeom prst="rect">
                <a:avLst/>
              </a:prstGeom>
            </p:spPr>
          </p:pic>
          <p:sp>
            <p:nvSpPr>
              <p:cNvPr id="1125" name="Rectangle 406">
                <a:extLst>
                  <a:ext uri="{FF2B5EF4-FFF2-40B4-BE49-F238E27FC236}">
                    <a16:creationId xmlns:a16="http://schemas.microsoft.com/office/drawing/2014/main" id="{8AA4A971-4CA2-4313-17D9-4E480487C8F2}"/>
                  </a:ext>
                </a:extLst>
              </p:cNvPr>
              <p:cNvSpPr>
                <a:spLocks noChangeArrowheads="1"/>
              </p:cNvSpPr>
              <p:nvPr/>
            </p:nvSpPr>
            <p:spPr bwMode="auto">
              <a:xfrm>
                <a:off x="5171727"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126" name="Rectangle 408">
                <a:extLst>
                  <a:ext uri="{FF2B5EF4-FFF2-40B4-BE49-F238E27FC236}">
                    <a16:creationId xmlns:a16="http://schemas.microsoft.com/office/drawing/2014/main" id="{8A90F773-678F-E954-BCDE-60230A703276}"/>
                  </a:ext>
                </a:extLst>
              </p:cNvPr>
              <p:cNvSpPr>
                <a:spLocks noChangeArrowheads="1"/>
              </p:cNvSpPr>
              <p:nvPr/>
            </p:nvSpPr>
            <p:spPr bwMode="auto">
              <a:xfrm>
                <a:off x="5198690" y="2358088"/>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p>
            </p:txBody>
          </p:sp>
          <p:sp>
            <p:nvSpPr>
              <p:cNvPr id="1127" name="Rectangle 409">
                <a:extLst>
                  <a:ext uri="{FF2B5EF4-FFF2-40B4-BE49-F238E27FC236}">
                    <a16:creationId xmlns:a16="http://schemas.microsoft.com/office/drawing/2014/main" id="{619BE80A-6613-CDA9-91D9-B37C7DC12D43}"/>
                  </a:ext>
                </a:extLst>
              </p:cNvPr>
              <p:cNvSpPr>
                <a:spLocks noChangeArrowheads="1"/>
              </p:cNvSpPr>
              <p:nvPr/>
            </p:nvSpPr>
            <p:spPr bwMode="auto">
              <a:xfrm>
                <a:off x="5203262" y="197924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US$534 million</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a:t>
                </a:r>
              </a:p>
            </p:txBody>
          </p:sp>
          <p:sp>
            <p:nvSpPr>
              <p:cNvPr id="1128" name="Rectangle 412">
                <a:extLst>
                  <a:ext uri="{FF2B5EF4-FFF2-40B4-BE49-F238E27FC236}">
                    <a16:creationId xmlns:a16="http://schemas.microsoft.com/office/drawing/2014/main" id="{625D4DA2-9120-E1A8-838F-C9CBA1126AC8}"/>
                  </a:ext>
                </a:extLst>
              </p:cNvPr>
              <p:cNvSpPr>
                <a:spLocks noChangeArrowheads="1"/>
              </p:cNvSpPr>
              <p:nvPr/>
            </p:nvSpPr>
            <p:spPr bwMode="auto">
              <a:xfrm>
                <a:off x="5426877" y="2744750"/>
                <a:ext cx="604333"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Sep</a:t>
                </a:r>
                <a:r>
                  <a:rPr lang="en-GB" altLang="zh-CN" sz="700">
                    <a:solidFill>
                      <a:srgbClr val="000000"/>
                    </a:solidFill>
                    <a:latin typeface="Calibri" panose="020F0502020204030204" pitchFamily="34" charset="0"/>
                    <a:ea typeface="DFKaiShu-GB5"/>
                    <a:cs typeface="DFPKaiShu-GB5" panose="03000500000000000000" pitchFamily="66" charset="-128"/>
                  </a:rPr>
                  <a:t>tember</a:t>
                </a:r>
                <a:r>
                  <a:rPr lang="en-GB" altLang="zh-CN" sz="700" b="0">
                    <a:solidFill>
                      <a:srgbClr val="000000"/>
                    </a:solidFill>
                    <a:latin typeface="Calibri" panose="020F0502020204030204" pitchFamily="34" charset="0"/>
                    <a:ea typeface="DFKaiShu-GB5"/>
                    <a:cs typeface="DFPKaiShu-GB5" panose="03000500000000000000" pitchFamily="66" charset="-128"/>
                  </a:rPr>
                  <a:t> 2025</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1129" name="Picture 1128">
                <a:extLst>
                  <a:ext uri="{FF2B5EF4-FFF2-40B4-BE49-F238E27FC236}">
                    <a16:creationId xmlns:a16="http://schemas.microsoft.com/office/drawing/2014/main" id="{C0FD4B0E-168B-0744-52CA-7D1E3442F209}"/>
                  </a:ext>
                </a:extLst>
              </p:cNvPr>
              <p:cNvPicPr>
                <a:picLocks noChangeAspect="1"/>
              </p:cNvPicPr>
              <p:nvPr/>
            </p:nvPicPr>
            <p:blipFill>
              <a:blip r:embed="rId16"/>
              <a:stretch>
                <a:fillRect/>
              </a:stretch>
            </p:blipFill>
            <p:spPr>
              <a:xfrm>
                <a:off x="5554054" y="1519073"/>
                <a:ext cx="349977" cy="403562"/>
              </a:xfrm>
              <a:prstGeom prst="rect">
                <a:avLst/>
              </a:prstGeom>
            </p:spPr>
          </p:pic>
          <p:sp>
            <p:nvSpPr>
              <p:cNvPr id="21" name="Rectangle 406">
                <a:extLst>
                  <a:ext uri="{FF2B5EF4-FFF2-40B4-BE49-F238E27FC236}">
                    <a16:creationId xmlns:a16="http://schemas.microsoft.com/office/drawing/2014/main" id="{E15FA833-977C-9ACC-F961-D5BD6E1D4D32}"/>
                  </a:ext>
                </a:extLst>
              </p:cNvPr>
              <p:cNvSpPr>
                <a:spLocks noChangeArrowheads="1"/>
              </p:cNvSpPr>
              <p:nvPr/>
            </p:nvSpPr>
            <p:spPr bwMode="auto">
              <a:xfrm>
                <a:off x="4036342"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a:solidFill>
                    <a:prstClr val="black"/>
                  </a:solidFill>
                  <a:latin typeface="Calibri" panose="020F0502020204030204" pitchFamily="34" charset="0"/>
                  <a:ea typeface="DFKaiShu-GB5"/>
                  <a:cs typeface="Calibri" panose="020F0502020204030204" pitchFamily="34" charset="0"/>
                </a:endParaRPr>
              </a:p>
            </p:txBody>
          </p:sp>
          <p:sp>
            <p:nvSpPr>
              <p:cNvPr id="22" name="Rectangle 412">
                <a:extLst>
                  <a:ext uri="{FF2B5EF4-FFF2-40B4-BE49-F238E27FC236}">
                    <a16:creationId xmlns:a16="http://schemas.microsoft.com/office/drawing/2014/main" id="{FB5DC53F-88CD-3963-4104-A16F5E0A3531}"/>
                  </a:ext>
                </a:extLst>
              </p:cNvPr>
              <p:cNvSpPr>
                <a:spLocks noChangeArrowheads="1"/>
              </p:cNvSpPr>
              <p:nvPr/>
            </p:nvSpPr>
            <p:spPr bwMode="auto">
              <a:xfrm>
                <a:off x="4316625" y="2744750"/>
                <a:ext cx="500138" cy="107722"/>
              </a:xfrm>
              <a:prstGeom prst="rect">
                <a:avLst/>
              </a:prstGeom>
              <a:noFill/>
              <a:ln w="9525">
                <a:noFill/>
                <a:miter lim="800000"/>
                <a:headEnd/>
                <a:tailEnd/>
              </a:ln>
            </p:spPr>
            <p:txBody>
              <a:bodyPr wrap="none" lIns="0" tIns="0" rIns="0" bIns="0" anchor="ctr">
                <a:spAutoFit/>
              </a:bodyPr>
              <a:lstStyle/>
              <a:p>
                <a:pPr algn="ctr" eaLnBrk="0" fontAlgn="base" hangingPunct="0">
                  <a:spcBef>
                    <a:spcPct val="0"/>
                  </a:spcBef>
                  <a:spcAft>
                    <a:spcPct val="0"/>
                  </a:spcAft>
                  <a:defRPr/>
                </a:pPr>
                <a:r>
                  <a:rPr lang="en-US" altLang="zh-TW" sz="700">
                    <a:solidFill>
                      <a:srgbClr val="000000"/>
                    </a:solidFill>
                    <a:latin typeface="Calibri" panose="020F0502020204030204" pitchFamily="34" charset="0"/>
                    <a:ea typeface="DFKaiShu-GB5"/>
                    <a:cs typeface="Calibri" pitchFamily="34" charset="0"/>
                  </a:rPr>
                  <a:t>October</a:t>
                </a:r>
                <a:r>
                  <a:rPr lang="en-US" altLang="zh-TW" sz="700" b="0">
                    <a:solidFill>
                      <a:srgbClr val="000000"/>
                    </a:solidFill>
                    <a:latin typeface="Calibri" panose="020F0502020204030204" pitchFamily="34" charset="0"/>
                    <a:ea typeface="DFKaiShu-GB5"/>
                    <a:cs typeface="Calibri" pitchFamily="34" charset="0"/>
                  </a:rPr>
                  <a:t> 2025</a:t>
                </a:r>
              </a:p>
            </p:txBody>
          </p:sp>
          <p:sp>
            <p:nvSpPr>
              <p:cNvPr id="23" name="Rectangle 408">
                <a:extLst>
                  <a:ext uri="{FF2B5EF4-FFF2-40B4-BE49-F238E27FC236}">
                    <a16:creationId xmlns:a16="http://schemas.microsoft.com/office/drawing/2014/main" id="{ABA9F7C3-7412-0874-8684-F50F4A816334}"/>
                  </a:ext>
                </a:extLst>
              </p:cNvPr>
              <p:cNvSpPr>
                <a:spLocks noChangeArrowheads="1"/>
              </p:cNvSpPr>
              <p:nvPr/>
            </p:nvSpPr>
            <p:spPr bwMode="auto">
              <a:xfrm>
                <a:off x="4036342" y="2359809"/>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p>
            </p:txBody>
          </p:sp>
          <p:sp>
            <p:nvSpPr>
              <p:cNvPr id="24" name="Rectangle 409">
                <a:extLst>
                  <a:ext uri="{FF2B5EF4-FFF2-40B4-BE49-F238E27FC236}">
                    <a16:creationId xmlns:a16="http://schemas.microsoft.com/office/drawing/2014/main" id="{B8B536D0-7897-3B76-E845-76C2F3180412}"/>
                  </a:ext>
                </a:extLst>
              </p:cNvPr>
              <p:cNvSpPr>
                <a:spLocks noChangeArrowheads="1"/>
              </p:cNvSpPr>
              <p:nvPr/>
            </p:nvSpPr>
            <p:spPr bwMode="auto">
              <a:xfrm>
                <a:off x="4036342" y="1979243"/>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a:solidFill>
                      <a:srgbClr val="000000"/>
                    </a:solidFill>
                    <a:latin typeface="Calibri" panose="020F0502020204030204" pitchFamily="34" charset="0"/>
                    <a:ea typeface="DFKaiShu-GB5"/>
                    <a:cs typeface="DFPKaiShu-GB5" panose="03000500000000000000" pitchFamily="66" charset="-128"/>
                  </a:rPr>
                  <a:t>US$593 million</a:t>
                </a:r>
              </a:p>
              <a:p>
                <a:pPr algn="ctr">
                  <a:spcBef>
                    <a:spcPct val="0"/>
                  </a:spcBef>
                  <a:defRPr/>
                </a:pPr>
                <a:r>
                  <a:rPr lang="en-US" altLang="zh-CN" sz="700">
                    <a:solidFill>
                      <a:srgbClr val="000000"/>
                    </a:solidFill>
                    <a:latin typeface="Calibri" panose="020F0502020204030204" pitchFamily="34" charset="0"/>
                    <a:ea typeface="DFKaiShu-GB5"/>
                    <a:cs typeface="DFPKaiShu-GB5" panose="03000500000000000000" pitchFamily="66" charset="-128"/>
                  </a:rPr>
                  <a:t>IPO</a:t>
                </a:r>
              </a:p>
            </p:txBody>
          </p:sp>
          <p:pic>
            <p:nvPicPr>
              <p:cNvPr id="27" name="Picture 2" descr="剑桥科技赴港IPO：前五大供应商数据“打架” 前次募投项目“非变即延”耗时五年仍未完工_手机新浪网">
                <a:extLst>
                  <a:ext uri="{FF2B5EF4-FFF2-40B4-BE49-F238E27FC236}">
                    <a16:creationId xmlns:a16="http://schemas.microsoft.com/office/drawing/2014/main" id="{273DA5E9-AFDB-2AE4-7094-BDB725516361}"/>
                  </a:ext>
                </a:extLst>
              </p:cNvPr>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t="31612" b="44017"/>
              <a:stretch>
                <a:fillRect/>
              </a:stretch>
            </p:blipFill>
            <p:spPr bwMode="auto">
              <a:xfrm>
                <a:off x="4097646" y="1689436"/>
                <a:ext cx="945053" cy="17253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406">
                <a:extLst>
                  <a:ext uri="{FF2B5EF4-FFF2-40B4-BE49-F238E27FC236}">
                    <a16:creationId xmlns:a16="http://schemas.microsoft.com/office/drawing/2014/main" id="{4B2628D9-2CDD-05A5-9B58-8328C8672109}"/>
                  </a:ext>
                </a:extLst>
              </p:cNvPr>
              <p:cNvSpPr>
                <a:spLocks noChangeArrowheads="1"/>
              </p:cNvSpPr>
              <p:nvPr/>
            </p:nvSpPr>
            <p:spPr bwMode="auto">
              <a:xfrm>
                <a:off x="1776356"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16" name="Rectangle 408">
                <a:extLst>
                  <a:ext uri="{FF2B5EF4-FFF2-40B4-BE49-F238E27FC236}">
                    <a16:creationId xmlns:a16="http://schemas.microsoft.com/office/drawing/2014/main" id="{11FB0EB1-C7DF-5C43-D8B7-D86ACB137A93}"/>
                  </a:ext>
                </a:extLst>
              </p:cNvPr>
              <p:cNvSpPr>
                <a:spLocks noChangeArrowheads="1"/>
              </p:cNvSpPr>
              <p:nvPr/>
            </p:nvSpPr>
            <p:spPr bwMode="auto">
              <a:xfrm>
                <a:off x="1803319" y="2358088"/>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Global Coordinator, Joint Bookrunner and Joint Lead Manager</a:t>
                </a:r>
              </a:p>
            </p:txBody>
          </p:sp>
          <p:sp>
            <p:nvSpPr>
              <p:cNvPr id="17" name="Rectangle 409">
                <a:extLst>
                  <a:ext uri="{FF2B5EF4-FFF2-40B4-BE49-F238E27FC236}">
                    <a16:creationId xmlns:a16="http://schemas.microsoft.com/office/drawing/2014/main" id="{5D762D34-FC04-7298-C939-3955A9C63154}"/>
                  </a:ext>
                </a:extLst>
              </p:cNvPr>
              <p:cNvSpPr>
                <a:spLocks noChangeArrowheads="1"/>
              </p:cNvSpPr>
              <p:nvPr/>
            </p:nvSpPr>
            <p:spPr bwMode="auto">
              <a:xfrm>
                <a:off x="1807891" y="197924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US$132 million</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De-SPAC IPO </a:t>
                </a:r>
              </a:p>
            </p:txBody>
          </p:sp>
          <p:sp>
            <p:nvSpPr>
              <p:cNvPr id="19" name="Rectangle 412">
                <a:extLst>
                  <a:ext uri="{FF2B5EF4-FFF2-40B4-BE49-F238E27FC236}">
                    <a16:creationId xmlns:a16="http://schemas.microsoft.com/office/drawing/2014/main" id="{8CACB43A-3EE3-DEED-7D2F-ED23CBEE9F97}"/>
                  </a:ext>
                </a:extLst>
              </p:cNvPr>
              <p:cNvSpPr>
                <a:spLocks noChangeArrowheads="1"/>
              </p:cNvSpPr>
              <p:nvPr/>
            </p:nvSpPr>
            <p:spPr bwMode="auto">
              <a:xfrm>
                <a:off x="2044329" y="2744750"/>
                <a:ext cx="578685"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December 2025</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sp>
            <p:nvSpPr>
              <p:cNvPr id="26" name="Rectangle 406">
                <a:extLst>
                  <a:ext uri="{FF2B5EF4-FFF2-40B4-BE49-F238E27FC236}">
                    <a16:creationId xmlns:a16="http://schemas.microsoft.com/office/drawing/2014/main" id="{0D3417E2-566D-9855-69DA-EE827471B726}"/>
                  </a:ext>
                </a:extLst>
              </p:cNvPr>
              <p:cNvSpPr>
                <a:spLocks noChangeArrowheads="1"/>
              </p:cNvSpPr>
              <p:nvPr/>
            </p:nvSpPr>
            <p:spPr bwMode="auto">
              <a:xfrm>
                <a:off x="2911744"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b="0" kern="0">
                  <a:solidFill>
                    <a:prstClr val="black"/>
                  </a:solidFill>
                  <a:latin typeface="Calibri" panose="020F0502020204030204" pitchFamily="34" charset="0"/>
                  <a:ea typeface="DFKaiShu-GB5"/>
                  <a:cs typeface="Calibri" panose="020F0502020204030204" pitchFamily="34" charset="0"/>
                </a:endParaRPr>
              </a:p>
            </p:txBody>
          </p:sp>
          <p:sp>
            <p:nvSpPr>
              <p:cNvPr id="28" name="Rectangle 412">
                <a:extLst>
                  <a:ext uri="{FF2B5EF4-FFF2-40B4-BE49-F238E27FC236}">
                    <a16:creationId xmlns:a16="http://schemas.microsoft.com/office/drawing/2014/main" id="{1F13FBA2-7125-A22D-7A04-9B51A3C44DF6}"/>
                  </a:ext>
                </a:extLst>
              </p:cNvPr>
              <p:cNvSpPr>
                <a:spLocks noChangeArrowheads="1"/>
              </p:cNvSpPr>
              <p:nvPr/>
            </p:nvSpPr>
            <p:spPr bwMode="auto">
              <a:xfrm>
                <a:off x="3148746" y="2744750"/>
                <a:ext cx="586700" cy="107722"/>
              </a:xfrm>
              <a:prstGeom prst="rect">
                <a:avLst/>
              </a:prstGeom>
              <a:noFill/>
              <a:ln w="9525">
                <a:noFill/>
                <a:miter lim="800000"/>
                <a:headEnd/>
                <a:tailEnd/>
              </a:ln>
            </p:spPr>
            <p:txBody>
              <a:bodyPr wrap="none" lIns="0" tIns="0" rIns="0" bIns="0" anchor="ctr">
                <a:spAutoFit/>
              </a:bodyPr>
              <a:lstStyle/>
              <a:p>
                <a:pPr algn="ctr" eaLnBrk="0" fontAlgn="base" hangingPunct="0">
                  <a:spcBef>
                    <a:spcPct val="0"/>
                  </a:spcBef>
                  <a:spcAft>
                    <a:spcPct val="0"/>
                  </a:spcAft>
                  <a:defRPr/>
                </a:pPr>
                <a:r>
                  <a:rPr lang="en-US" altLang="zh-TW" sz="700" b="0">
                    <a:solidFill>
                      <a:srgbClr val="000000"/>
                    </a:solidFill>
                    <a:latin typeface="Calibri" panose="020F0502020204030204" pitchFamily="34" charset="0"/>
                    <a:ea typeface="DFKaiShu-GB5"/>
                    <a:cs typeface="Calibri" pitchFamily="34" charset="0"/>
                  </a:rPr>
                  <a:t>November 2025</a:t>
                </a:r>
              </a:p>
            </p:txBody>
          </p:sp>
          <p:sp>
            <p:nvSpPr>
              <p:cNvPr id="29" name="Rectangle 408">
                <a:extLst>
                  <a:ext uri="{FF2B5EF4-FFF2-40B4-BE49-F238E27FC236}">
                    <a16:creationId xmlns:a16="http://schemas.microsoft.com/office/drawing/2014/main" id="{1324E471-0A0B-AD1C-F124-4189AB1E5D62}"/>
                  </a:ext>
                </a:extLst>
              </p:cNvPr>
              <p:cNvSpPr>
                <a:spLocks noChangeArrowheads="1"/>
              </p:cNvSpPr>
              <p:nvPr/>
            </p:nvSpPr>
            <p:spPr bwMode="auto">
              <a:xfrm>
                <a:off x="2911744" y="2311335"/>
                <a:ext cx="1060704" cy="387798"/>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a:solidFill>
                      <a:srgbClr val="000000"/>
                    </a:solidFill>
                    <a:latin typeface="Calibri" panose="020F0502020204030204" pitchFamily="34" charset="0"/>
                    <a:ea typeface="STKaiti"/>
                    <a:cs typeface="DFPKaiShu-GB5" panose="03000500000000000000" pitchFamily="66" charset="-128"/>
                  </a:rPr>
                  <a:t>Overall Coordinator, Joint Global Coordinator, Joint Bookrunner and Joint Lead Manager</a:t>
                </a:r>
              </a:p>
            </p:txBody>
          </p:sp>
          <p:sp>
            <p:nvSpPr>
              <p:cNvPr id="30" name="Rectangle 409">
                <a:extLst>
                  <a:ext uri="{FF2B5EF4-FFF2-40B4-BE49-F238E27FC236}">
                    <a16:creationId xmlns:a16="http://schemas.microsoft.com/office/drawing/2014/main" id="{99986AE8-FB19-5C75-85E2-E148C8CFDEFE}"/>
                  </a:ext>
                </a:extLst>
              </p:cNvPr>
              <p:cNvSpPr>
                <a:spLocks noChangeArrowheads="1"/>
              </p:cNvSpPr>
              <p:nvPr/>
            </p:nvSpPr>
            <p:spPr bwMode="auto">
              <a:xfrm>
                <a:off x="2911744" y="1979243"/>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a:solidFill>
                      <a:srgbClr val="000000"/>
                    </a:solidFill>
                    <a:latin typeface="Calibri" panose="020F0502020204030204" pitchFamily="34" charset="0"/>
                    <a:ea typeface="DFKaiShu-GB5"/>
                    <a:cs typeface="DFPKaiShu-GB5" panose="03000500000000000000" pitchFamily="66" charset="-128"/>
                  </a:rPr>
                  <a:t>US$23 million</a:t>
                </a:r>
              </a:p>
              <a:p>
                <a:pPr algn="ctr">
                  <a:spcBef>
                    <a:spcPct val="0"/>
                  </a:spcBef>
                  <a:defRPr/>
                </a:pPr>
                <a:r>
                  <a:rPr lang="en-US" altLang="zh-CN" sz="700">
                    <a:solidFill>
                      <a:srgbClr val="000000"/>
                    </a:solidFill>
                    <a:latin typeface="Calibri" panose="020F0502020204030204" pitchFamily="34" charset="0"/>
                    <a:ea typeface="DFKaiShu-GB5"/>
                    <a:cs typeface="DFPKaiShu-GB5" panose="03000500000000000000" pitchFamily="66" charset="-128"/>
                  </a:rPr>
                  <a:t>IPO</a:t>
                </a:r>
              </a:p>
            </p:txBody>
          </p:sp>
          <p:pic>
            <p:nvPicPr>
              <p:cNvPr id="1026" name="Picture 2" descr="金岩高新，新增保荐人，递交IPO招股书，拟赴香港上市| 新三板企业香港上市">
                <a:extLst>
                  <a:ext uri="{FF2B5EF4-FFF2-40B4-BE49-F238E27FC236}">
                    <a16:creationId xmlns:a16="http://schemas.microsoft.com/office/drawing/2014/main" id="{EDF614C2-5D6F-00DF-4C30-97A09FF2320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009564" y="1606551"/>
                <a:ext cx="830943" cy="23986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AC234E25-5181-34B3-9A03-2B493F285C57}"/>
                  </a:ext>
                </a:extLst>
              </p:cNvPr>
              <p:cNvPicPr>
                <a:picLocks noChangeAspect="1"/>
              </p:cNvPicPr>
              <p:nvPr/>
            </p:nvPicPr>
            <p:blipFill>
              <a:blip r:embed="rId19"/>
              <a:stretch>
                <a:fillRect/>
              </a:stretch>
            </p:blipFill>
            <p:spPr>
              <a:xfrm>
                <a:off x="2144096" y="1541145"/>
                <a:ext cx="394970" cy="394970"/>
              </a:xfrm>
              <a:prstGeom prst="rect">
                <a:avLst/>
              </a:prstGeom>
            </p:spPr>
          </p:pic>
          <p:sp>
            <p:nvSpPr>
              <p:cNvPr id="32" name="Rectangle 406">
                <a:extLst>
                  <a:ext uri="{FF2B5EF4-FFF2-40B4-BE49-F238E27FC236}">
                    <a16:creationId xmlns:a16="http://schemas.microsoft.com/office/drawing/2014/main" id="{6E69BEB8-D728-68D5-2DAE-CB07B9B10EA7}"/>
                  </a:ext>
                </a:extLst>
              </p:cNvPr>
              <p:cNvSpPr>
                <a:spLocks noChangeArrowheads="1"/>
              </p:cNvSpPr>
              <p:nvPr/>
            </p:nvSpPr>
            <p:spPr bwMode="auto">
              <a:xfrm>
                <a:off x="657150" y="1475260"/>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eaLnBrk="0" fontAlgn="base" hangingPunct="0">
                  <a:spcBef>
                    <a:spcPct val="50000"/>
                  </a:spcBef>
                  <a:spcAft>
                    <a:spcPct val="0"/>
                  </a:spcAft>
                  <a:defRPr/>
                </a:pPr>
                <a:endParaRPr lang="en-US" sz="700" b="0" kern="0">
                  <a:solidFill>
                    <a:prstClr val="black"/>
                  </a:solidFill>
                  <a:latin typeface="Calibri" panose="020F0502020204030204" pitchFamily="34" charset="0"/>
                  <a:ea typeface="華康簡楷" pitchFamily="65" charset="-120"/>
                  <a:cs typeface="Calibri" panose="020F0502020204030204" pitchFamily="34" charset="0"/>
                </a:endParaRPr>
              </a:p>
            </p:txBody>
          </p:sp>
          <p:sp>
            <p:nvSpPr>
              <p:cNvPr id="33" name="Rectangle 408">
                <a:extLst>
                  <a:ext uri="{FF2B5EF4-FFF2-40B4-BE49-F238E27FC236}">
                    <a16:creationId xmlns:a16="http://schemas.microsoft.com/office/drawing/2014/main" id="{08623BF9-DECB-96B9-0334-3000ED51E308}"/>
                  </a:ext>
                </a:extLst>
              </p:cNvPr>
              <p:cNvSpPr>
                <a:spLocks noChangeArrowheads="1"/>
              </p:cNvSpPr>
              <p:nvPr/>
            </p:nvSpPr>
            <p:spPr bwMode="auto">
              <a:xfrm>
                <a:off x="684113" y="2406563"/>
                <a:ext cx="1060704" cy="19389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b="0">
                    <a:solidFill>
                      <a:srgbClr val="000000"/>
                    </a:solidFill>
                    <a:latin typeface="Calibri" panose="020F0502020204030204" pitchFamily="34" charset="0"/>
                    <a:ea typeface="STKaiti"/>
                    <a:cs typeface="DFPKaiShu-GB5" panose="03000500000000000000" pitchFamily="66" charset="-128"/>
                  </a:rPr>
                  <a:t>Joint Bookrunner and</a:t>
                </a:r>
                <a:br>
                  <a:rPr lang="en-US" altLang="zh-CN" sz="700" b="0">
                    <a:solidFill>
                      <a:srgbClr val="000000"/>
                    </a:solidFill>
                    <a:latin typeface="Calibri" panose="020F0502020204030204" pitchFamily="34" charset="0"/>
                    <a:ea typeface="STKaiti"/>
                    <a:cs typeface="DFPKaiShu-GB5" panose="03000500000000000000" pitchFamily="66" charset="-128"/>
                  </a:rPr>
                </a:br>
                <a:r>
                  <a:rPr lang="en-US" altLang="zh-CN" sz="700" b="0">
                    <a:solidFill>
                      <a:srgbClr val="000000"/>
                    </a:solidFill>
                    <a:latin typeface="Calibri" panose="020F0502020204030204" pitchFamily="34" charset="0"/>
                    <a:ea typeface="STKaiti"/>
                    <a:cs typeface="DFPKaiShu-GB5" panose="03000500000000000000" pitchFamily="66" charset="-128"/>
                  </a:rPr>
                  <a:t>Joint Lead Manager</a:t>
                </a:r>
              </a:p>
            </p:txBody>
          </p:sp>
          <p:sp>
            <p:nvSpPr>
              <p:cNvPr id="35" name="Rectangle 409">
                <a:extLst>
                  <a:ext uri="{FF2B5EF4-FFF2-40B4-BE49-F238E27FC236}">
                    <a16:creationId xmlns:a16="http://schemas.microsoft.com/office/drawing/2014/main" id="{6B38D194-91F3-17F1-1E39-D494AB6D8CA2}"/>
                  </a:ext>
                </a:extLst>
              </p:cNvPr>
              <p:cNvSpPr>
                <a:spLocks noChangeArrowheads="1"/>
              </p:cNvSpPr>
              <p:nvPr/>
            </p:nvSpPr>
            <p:spPr bwMode="auto">
              <a:xfrm>
                <a:off x="688685" y="1979243"/>
                <a:ext cx="1051560" cy="215444"/>
              </a:xfrm>
              <a:prstGeom prst="rect">
                <a:avLst/>
              </a:prstGeom>
              <a:noFill/>
              <a:ln w="9525">
                <a:noFill/>
                <a:miter lim="800000"/>
                <a:headEnd/>
                <a:tailEnd/>
              </a:ln>
            </p:spPr>
            <p:txBody>
              <a:bodyPr lIns="0" tIns="0" rIns="0" bIns="0" anchor="t" anchorCtr="0">
                <a:spAutoFit/>
              </a:bodyPr>
              <a:lstStyle/>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US$361 million</a:t>
                </a:r>
              </a:p>
              <a:p>
                <a:pPr algn="ctr">
                  <a:spcBef>
                    <a:spcPct val="0"/>
                  </a:spcBef>
                  <a:defRPr/>
                </a:pPr>
                <a:r>
                  <a:rPr lang="en-US" altLang="zh-CN" sz="700">
                    <a:solidFill>
                      <a:srgbClr val="000000"/>
                    </a:solidFill>
                    <a:latin typeface="Calibri" panose="020F0502020204030204" pitchFamily="34" charset="0"/>
                    <a:ea typeface="STKaiti"/>
                    <a:cs typeface="DFPKaiShu-GB5" panose="03000500000000000000" pitchFamily="66" charset="-128"/>
                  </a:rPr>
                  <a:t>IPO </a:t>
                </a:r>
              </a:p>
            </p:txBody>
          </p:sp>
          <p:sp>
            <p:nvSpPr>
              <p:cNvPr id="36" name="Rectangle 412">
                <a:extLst>
                  <a:ext uri="{FF2B5EF4-FFF2-40B4-BE49-F238E27FC236}">
                    <a16:creationId xmlns:a16="http://schemas.microsoft.com/office/drawing/2014/main" id="{B011DAE2-D3BA-FD72-D7C2-061B56B24CDE}"/>
                  </a:ext>
                </a:extLst>
              </p:cNvPr>
              <p:cNvSpPr>
                <a:spLocks noChangeArrowheads="1"/>
              </p:cNvSpPr>
              <p:nvPr/>
            </p:nvSpPr>
            <p:spPr bwMode="auto">
              <a:xfrm>
                <a:off x="950772" y="2744750"/>
                <a:ext cx="527387" cy="107722"/>
              </a:xfrm>
              <a:prstGeom prst="rect">
                <a:avLst/>
              </a:prstGeom>
              <a:noFill/>
              <a:ln w="9525">
                <a:noFill/>
                <a:miter lim="800000"/>
                <a:headEnd/>
                <a:tailEnd/>
              </a:ln>
            </p:spPr>
            <p:txBody>
              <a:bodyPr wrap="none" lIns="0" tIns="0" rIns="0" bIns="0" anchor="ctr">
                <a:spAutoFit/>
              </a:bodyPr>
              <a:lstStyle/>
              <a:p>
                <a:pPr algn="ctr">
                  <a:defRPr/>
                </a:pPr>
                <a:r>
                  <a:rPr lang="en-GB" altLang="zh-CN" sz="700" b="0">
                    <a:solidFill>
                      <a:srgbClr val="000000"/>
                    </a:solidFill>
                    <a:latin typeface="Calibri" panose="020F0502020204030204" pitchFamily="34" charset="0"/>
                    <a:ea typeface="DFKaiShu-GB5"/>
                    <a:cs typeface="DFPKaiShu-GB5" panose="03000500000000000000" pitchFamily="66" charset="-128"/>
                  </a:rPr>
                  <a:t>February 2026</a:t>
                </a:r>
                <a:endParaRPr lang="en-US" altLang="zh-TW" sz="700" b="0">
                  <a:solidFill>
                    <a:srgbClr val="000000"/>
                  </a:solidFill>
                  <a:latin typeface="Calibri" panose="020F0502020204030204" pitchFamily="34" charset="0"/>
                  <a:ea typeface="DFKaiShu-GB5"/>
                  <a:cs typeface="DFPKaiShu-GB5" panose="03000500000000000000" pitchFamily="66" charset="-128"/>
                </a:endParaRPr>
              </a:p>
            </p:txBody>
          </p:sp>
          <p:pic>
            <p:nvPicPr>
              <p:cNvPr id="2" name="Picture 1">
                <a:extLst>
                  <a:ext uri="{FF2B5EF4-FFF2-40B4-BE49-F238E27FC236}">
                    <a16:creationId xmlns:a16="http://schemas.microsoft.com/office/drawing/2014/main" id="{5B6F387B-F710-174A-677E-80B81308B021}"/>
                  </a:ext>
                </a:extLst>
              </p:cNvPr>
              <p:cNvPicPr>
                <a:picLocks noChangeAspect="1"/>
              </p:cNvPicPr>
              <p:nvPr/>
            </p:nvPicPr>
            <p:blipFill>
              <a:blip r:embed="rId20" cstate="print">
                <a:extLst>
                  <a:ext uri="{28A0092B-C50C-407E-A947-70E740481C1C}">
                    <a14:useLocalDpi xmlns:a14="http://schemas.microsoft.com/office/drawing/2010/main" val="0"/>
                  </a:ext>
                </a:extLst>
              </a:blip>
              <a:srcRect t="16739" b="12906"/>
              <a:stretch>
                <a:fillRect/>
              </a:stretch>
            </p:blipFill>
            <p:spPr>
              <a:xfrm>
                <a:off x="736361" y="1585695"/>
                <a:ext cx="902282" cy="317400"/>
              </a:xfrm>
              <a:prstGeom prst="rect">
                <a:avLst/>
              </a:prstGeom>
            </p:spPr>
          </p:pic>
        </p:grpSp>
        <p:sp>
          <p:nvSpPr>
            <p:cNvPr id="31" name="Rectangle 406">
              <a:extLst>
                <a:ext uri="{FF2B5EF4-FFF2-40B4-BE49-F238E27FC236}">
                  <a16:creationId xmlns:a16="http://schemas.microsoft.com/office/drawing/2014/main" id="{040B6594-46C6-7440-3DDB-6028AACC1E06}"/>
                </a:ext>
              </a:extLst>
            </p:cNvPr>
            <p:cNvSpPr>
              <a:spLocks noChangeArrowheads="1"/>
            </p:cNvSpPr>
            <p:nvPr/>
          </p:nvSpPr>
          <p:spPr bwMode="auto">
            <a:xfrm>
              <a:off x="7811906"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kern="0">
                <a:solidFill>
                  <a:prstClr val="black"/>
                </a:solidFill>
                <a:latin typeface="Arial"/>
                <a:ea typeface="DFKaiShu-GB5"/>
                <a:cs typeface="Arial" panose="020B0604020202020204" pitchFamily="34" charset="0"/>
              </a:endParaRPr>
            </a:p>
          </p:txBody>
        </p:sp>
        <p:sp>
          <p:nvSpPr>
            <p:cNvPr id="37" name="Rectangle 412">
              <a:extLst>
                <a:ext uri="{FF2B5EF4-FFF2-40B4-BE49-F238E27FC236}">
                  <a16:creationId xmlns:a16="http://schemas.microsoft.com/office/drawing/2014/main" id="{C5208D5D-DA58-DEAA-FFDD-9E58F28AF4E9}"/>
                </a:ext>
              </a:extLst>
            </p:cNvPr>
            <p:cNvSpPr>
              <a:spLocks noChangeArrowheads="1"/>
            </p:cNvSpPr>
            <p:nvPr/>
          </p:nvSpPr>
          <p:spPr bwMode="auto">
            <a:xfrm>
              <a:off x="8161510" y="5791048"/>
              <a:ext cx="387928" cy="107722"/>
            </a:xfrm>
            <a:prstGeom prst="rect">
              <a:avLst/>
            </a:prstGeom>
            <a:noFill/>
            <a:ln w="9525">
              <a:noFill/>
              <a:miter lim="800000"/>
              <a:headEnd/>
              <a:tailEnd/>
            </a:ln>
          </p:spPr>
          <p:txBody>
            <a:bodyPr wrap="none" lIns="0" tIns="0" rIns="0" bIns="0" anchor="ctr">
              <a:spAutoFit/>
            </a:bodyPr>
            <a:lstStyle/>
            <a:p>
              <a:pPr algn="r">
                <a:defRPr/>
              </a:pPr>
              <a:r>
                <a:rPr lang="en-US" altLang="zh-TW" sz="700">
                  <a:solidFill>
                    <a:srgbClr val="000000"/>
                  </a:solidFill>
                  <a:ea typeface="DFKaiShu-GB5"/>
                  <a:cs typeface="DFPKaiShu-GB5" panose="03000500000000000000" pitchFamily="66" charset="-128"/>
                </a:rPr>
                <a:t>Dec 2021</a:t>
              </a:r>
            </a:p>
          </p:txBody>
        </p:sp>
        <p:sp>
          <p:nvSpPr>
            <p:cNvPr id="38" name="Rectangle 409">
              <a:extLst>
                <a:ext uri="{FF2B5EF4-FFF2-40B4-BE49-F238E27FC236}">
                  <a16:creationId xmlns:a16="http://schemas.microsoft.com/office/drawing/2014/main" id="{946F31BE-951F-0E02-107D-4CD939FAB75C}"/>
                </a:ext>
              </a:extLst>
            </p:cNvPr>
            <p:cNvSpPr>
              <a:spLocks noChangeArrowheads="1"/>
            </p:cNvSpPr>
            <p:nvPr/>
          </p:nvSpPr>
          <p:spPr bwMode="auto">
            <a:xfrm>
              <a:off x="7811906" y="5027911"/>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a:solidFill>
                    <a:srgbClr val="000000"/>
                  </a:solidFill>
                  <a:ea typeface="DFKaiShu-GB5"/>
                  <a:cs typeface="DFPKaiShu-GB5" panose="03000500000000000000" pitchFamily="66" charset="-128"/>
                </a:rPr>
                <a:t>US$740.0m</a:t>
              </a:r>
            </a:p>
            <a:p>
              <a:pPr algn="ctr">
                <a:spcBef>
                  <a:spcPct val="0"/>
                </a:spcBef>
                <a:defRPr/>
              </a:pPr>
              <a:r>
                <a:rPr lang="en-US" altLang="zh-CN" sz="700">
                  <a:solidFill>
                    <a:srgbClr val="000000"/>
                  </a:solidFill>
                  <a:ea typeface="DFKaiShu-GB5"/>
                  <a:cs typeface="DFPKaiShu-GB5" panose="03000500000000000000" pitchFamily="66" charset="-128"/>
                </a:rPr>
                <a:t>IPO</a:t>
              </a:r>
            </a:p>
          </p:txBody>
        </p:sp>
        <p:sp>
          <p:nvSpPr>
            <p:cNvPr id="39" name="Rectangle 408">
              <a:extLst>
                <a:ext uri="{FF2B5EF4-FFF2-40B4-BE49-F238E27FC236}">
                  <a16:creationId xmlns:a16="http://schemas.microsoft.com/office/drawing/2014/main" id="{9731BEAD-E0EF-236F-6848-E2595964232F}"/>
                </a:ext>
              </a:extLst>
            </p:cNvPr>
            <p:cNvSpPr>
              <a:spLocks noChangeArrowheads="1"/>
            </p:cNvSpPr>
            <p:nvPr/>
          </p:nvSpPr>
          <p:spPr bwMode="auto">
            <a:xfrm>
              <a:off x="7811906" y="5369171"/>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a:solidFill>
                    <a:srgbClr val="000000"/>
                  </a:solidFill>
                  <a:ea typeface="DFKaiShu-GB5"/>
                  <a:cs typeface="DFPKaiShu-GB5" panose="03000500000000000000" pitchFamily="66" charset="-128"/>
                </a:rPr>
                <a:t>Joint Global Coordinator, Joint Bookrunners and Joint Lead Manager</a:t>
              </a:r>
            </a:p>
          </p:txBody>
        </p:sp>
        <p:pic>
          <p:nvPicPr>
            <p:cNvPr id="40" name="Picture 39">
              <a:extLst>
                <a:ext uri="{FF2B5EF4-FFF2-40B4-BE49-F238E27FC236}">
                  <a16:creationId xmlns:a16="http://schemas.microsoft.com/office/drawing/2014/main" id="{9F0C6DF1-86FD-470E-4EB4-BF114C6FDFFE}"/>
                </a:ext>
              </a:extLst>
            </p:cNvPr>
            <p:cNvPicPr/>
            <p:nvPr/>
          </p:nvPicPr>
          <p:blipFill>
            <a:blip r:embed="rId21"/>
            <a:stretch>
              <a:fillRect/>
            </a:stretch>
          </p:blipFill>
          <p:spPr>
            <a:xfrm>
              <a:off x="8003774" y="4609507"/>
              <a:ext cx="672933" cy="295304"/>
            </a:xfrm>
            <a:prstGeom prst="rect">
              <a:avLst/>
            </a:prstGeom>
          </p:spPr>
        </p:pic>
        <p:sp>
          <p:nvSpPr>
            <p:cNvPr id="41" name="Rectangle 406">
              <a:extLst>
                <a:ext uri="{FF2B5EF4-FFF2-40B4-BE49-F238E27FC236}">
                  <a16:creationId xmlns:a16="http://schemas.microsoft.com/office/drawing/2014/main" id="{79C9AAD2-F27E-FB9B-6AE6-0B02ED932CCC}"/>
                </a:ext>
              </a:extLst>
            </p:cNvPr>
            <p:cNvSpPr>
              <a:spLocks noChangeArrowheads="1"/>
            </p:cNvSpPr>
            <p:nvPr/>
          </p:nvSpPr>
          <p:spPr bwMode="auto">
            <a:xfrm>
              <a:off x="6688112" y="4525712"/>
              <a:ext cx="1060704" cy="141732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kern="0">
                <a:solidFill>
                  <a:prstClr val="black"/>
                </a:solidFill>
                <a:latin typeface="Arial"/>
                <a:ea typeface="DFKaiShu-GB5"/>
                <a:cs typeface="Arial" panose="020B0604020202020204" pitchFamily="34" charset="0"/>
              </a:endParaRPr>
            </a:p>
          </p:txBody>
        </p:sp>
        <p:sp>
          <p:nvSpPr>
            <p:cNvPr id="46" name="Rectangle 408">
              <a:extLst>
                <a:ext uri="{FF2B5EF4-FFF2-40B4-BE49-F238E27FC236}">
                  <a16:creationId xmlns:a16="http://schemas.microsoft.com/office/drawing/2014/main" id="{9F8BE7DD-4592-680C-62F7-AC058838A80A}"/>
                </a:ext>
              </a:extLst>
            </p:cNvPr>
            <p:cNvSpPr>
              <a:spLocks noChangeArrowheads="1"/>
            </p:cNvSpPr>
            <p:nvPr/>
          </p:nvSpPr>
          <p:spPr bwMode="auto">
            <a:xfrm>
              <a:off x="6688112" y="5369171"/>
              <a:ext cx="1060704" cy="290849"/>
            </a:xfrm>
            <a:prstGeom prst="rect">
              <a:avLst/>
            </a:prstGeom>
            <a:noFill/>
            <a:ln w="9525" algn="ctr">
              <a:noFill/>
              <a:miter lim="800000"/>
              <a:headEnd/>
              <a:tailEnd/>
            </a:ln>
          </p:spPr>
          <p:txBody>
            <a:bodyPr lIns="0" tIns="0" rIns="0" bIns="0" anchor="ctr" anchorCtr="0">
              <a:spAutoFit/>
            </a:bodyPr>
            <a:lstStyle/>
            <a:p>
              <a:pPr algn="ctr">
                <a:lnSpc>
                  <a:spcPct val="90000"/>
                </a:lnSpc>
                <a:defRPr/>
              </a:pPr>
              <a:r>
                <a:rPr lang="en-US" altLang="zh-CN" sz="700">
                  <a:solidFill>
                    <a:srgbClr val="000000"/>
                  </a:solidFill>
                  <a:ea typeface="DFKaiShu-GB5"/>
                  <a:cs typeface="DFPKaiShu-GB5" panose="03000500000000000000" pitchFamily="66" charset="-128"/>
                </a:rPr>
                <a:t>Joint Global Coordinator, Joint Bookrunners and Joint Lead Manager</a:t>
              </a:r>
            </a:p>
          </p:txBody>
        </p:sp>
        <p:sp>
          <p:nvSpPr>
            <p:cNvPr id="48" name="Rectangle 409">
              <a:extLst>
                <a:ext uri="{FF2B5EF4-FFF2-40B4-BE49-F238E27FC236}">
                  <a16:creationId xmlns:a16="http://schemas.microsoft.com/office/drawing/2014/main" id="{0E215C70-60AF-2288-5CBF-F58E54F00D53}"/>
                </a:ext>
              </a:extLst>
            </p:cNvPr>
            <p:cNvSpPr>
              <a:spLocks noChangeArrowheads="1"/>
            </p:cNvSpPr>
            <p:nvPr/>
          </p:nvSpPr>
          <p:spPr bwMode="auto">
            <a:xfrm>
              <a:off x="6688112" y="5027911"/>
              <a:ext cx="1060704" cy="215444"/>
            </a:xfrm>
            <a:prstGeom prst="rect">
              <a:avLst/>
            </a:prstGeom>
            <a:noFill/>
            <a:ln w="9525">
              <a:noFill/>
              <a:miter lim="800000"/>
              <a:headEnd/>
              <a:tailEnd/>
            </a:ln>
          </p:spPr>
          <p:txBody>
            <a:bodyPr lIns="0" tIns="0" rIns="0" bIns="0" anchor="ctr">
              <a:spAutoFit/>
            </a:bodyPr>
            <a:lstStyle/>
            <a:p>
              <a:pPr algn="ctr">
                <a:spcBef>
                  <a:spcPct val="0"/>
                </a:spcBef>
                <a:defRPr/>
              </a:pPr>
              <a:r>
                <a:rPr lang="en-US" altLang="zh-CN" sz="700">
                  <a:solidFill>
                    <a:srgbClr val="000000"/>
                  </a:solidFill>
                  <a:ea typeface="DFKaiShu-GB5"/>
                  <a:cs typeface="DFPKaiShu-GB5" panose="03000500000000000000" pitchFamily="66" charset="-128"/>
                </a:rPr>
                <a:t>US$540.0m</a:t>
              </a:r>
            </a:p>
            <a:p>
              <a:pPr algn="ctr">
                <a:spcBef>
                  <a:spcPct val="0"/>
                </a:spcBef>
                <a:defRPr/>
              </a:pPr>
              <a:r>
                <a:rPr lang="en-US" altLang="zh-CN" sz="700">
                  <a:solidFill>
                    <a:srgbClr val="000000"/>
                  </a:solidFill>
                  <a:ea typeface="DFKaiShu-GB5"/>
                  <a:cs typeface="DFPKaiShu-GB5" panose="03000500000000000000" pitchFamily="66" charset="-128"/>
                </a:rPr>
                <a:t>IPO</a:t>
              </a:r>
            </a:p>
          </p:txBody>
        </p:sp>
        <p:pic>
          <p:nvPicPr>
            <p:cNvPr id="49" name="Picture 48">
              <a:extLst>
                <a:ext uri="{FF2B5EF4-FFF2-40B4-BE49-F238E27FC236}">
                  <a16:creationId xmlns:a16="http://schemas.microsoft.com/office/drawing/2014/main" id="{520F1111-D706-F2DD-3DF1-E4B2BCDD0CF9}"/>
                </a:ext>
              </a:extLst>
            </p:cNvPr>
            <p:cNvPicPr>
              <a:picLocks noChangeAspect="1"/>
            </p:cNvPicPr>
            <p:nvPr/>
          </p:nvPicPr>
          <p:blipFill>
            <a:blip r:embed="rId22"/>
            <a:stretch>
              <a:fillRect/>
            </a:stretch>
          </p:blipFill>
          <p:spPr>
            <a:xfrm>
              <a:off x="6965883" y="4601748"/>
              <a:ext cx="527497" cy="250408"/>
            </a:xfrm>
            <a:prstGeom prst="rect">
              <a:avLst/>
            </a:prstGeom>
          </p:spPr>
        </p:pic>
        <p:sp>
          <p:nvSpPr>
            <p:cNvPr id="50" name="Rectangle 412">
              <a:extLst>
                <a:ext uri="{FF2B5EF4-FFF2-40B4-BE49-F238E27FC236}">
                  <a16:creationId xmlns:a16="http://schemas.microsoft.com/office/drawing/2014/main" id="{A447FF6C-0302-D171-1220-5EA7203F44E8}"/>
                </a:ext>
              </a:extLst>
            </p:cNvPr>
            <p:cNvSpPr>
              <a:spLocks noChangeArrowheads="1"/>
            </p:cNvSpPr>
            <p:nvPr/>
          </p:nvSpPr>
          <p:spPr bwMode="auto">
            <a:xfrm>
              <a:off x="7014948" y="5786277"/>
              <a:ext cx="378309" cy="107722"/>
            </a:xfrm>
            <a:prstGeom prst="rect">
              <a:avLst/>
            </a:prstGeom>
            <a:noFill/>
            <a:ln w="9525">
              <a:noFill/>
              <a:miter lim="800000"/>
              <a:headEnd/>
              <a:tailEnd/>
            </a:ln>
          </p:spPr>
          <p:txBody>
            <a:bodyPr wrap="none" lIns="0" tIns="0" rIns="0" bIns="0" anchor="ctr">
              <a:spAutoFit/>
            </a:bodyPr>
            <a:lstStyle/>
            <a:p>
              <a:pPr algn="r">
                <a:defRPr/>
              </a:pPr>
              <a:r>
                <a:rPr lang="en-US" altLang="zh-TW" sz="700">
                  <a:solidFill>
                    <a:srgbClr val="000000"/>
                  </a:solidFill>
                  <a:ea typeface="DFKaiShu-GB5"/>
                  <a:cs typeface="DFPKaiShu-GB5" panose="03000500000000000000" pitchFamily="66" charset="-128"/>
                </a:rPr>
                <a:t>Jan 2022</a:t>
              </a:r>
            </a:p>
          </p:txBody>
        </p:sp>
        <p:pic>
          <p:nvPicPr>
            <p:cNvPr id="45" name="Picture 44">
              <a:extLst>
                <a:ext uri="{FF2B5EF4-FFF2-40B4-BE49-F238E27FC236}">
                  <a16:creationId xmlns:a16="http://schemas.microsoft.com/office/drawing/2014/main" id="{6483DD51-A80B-9DA3-5A4C-B99C729B2B43}"/>
                </a:ext>
              </a:extLst>
            </p:cNvPr>
            <p:cNvPicPr>
              <a:picLocks noChangeAspect="1"/>
            </p:cNvPicPr>
            <p:nvPr/>
          </p:nvPicPr>
          <p:blipFill>
            <a:blip r:embed="rId23"/>
            <a:stretch>
              <a:fillRect/>
            </a:stretch>
          </p:blipFill>
          <p:spPr>
            <a:xfrm>
              <a:off x="1209675" y="1604865"/>
              <a:ext cx="773312" cy="252510"/>
            </a:xfrm>
            <a:prstGeom prst="rect">
              <a:avLst/>
            </a:prstGeom>
          </p:spPr>
        </p:pic>
      </p:grpSp>
      <p:sp>
        <p:nvSpPr>
          <p:cNvPr id="10" name="Slide Number Placeholder 3">
            <a:extLst>
              <a:ext uri="{FF2B5EF4-FFF2-40B4-BE49-F238E27FC236}">
                <a16:creationId xmlns:a16="http://schemas.microsoft.com/office/drawing/2014/main" id="{A5D8DA99-078D-01AC-A58C-637EE12A2A48}"/>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37</a:t>
            </a:fld>
            <a:r>
              <a:rPr lang="en-US"/>
              <a:t> </a:t>
            </a:r>
          </a:p>
        </p:txBody>
      </p:sp>
      <p:sp>
        <p:nvSpPr>
          <p:cNvPr id="3" name="TextBox 2">
            <a:extLst>
              <a:ext uri="{FF2B5EF4-FFF2-40B4-BE49-F238E27FC236}">
                <a16:creationId xmlns:a16="http://schemas.microsoft.com/office/drawing/2014/main" id="{38A86AA1-C62A-CF78-5521-993DDE907E82}"/>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dirty="0">
                <a:solidFill>
                  <a:schemeClr val="tx1"/>
                </a:solidFill>
              </a:rPr>
              <a:t>HK team updated</a:t>
            </a:r>
            <a:endParaRPr lang="en-GB" sz="1400" dirty="0">
              <a:solidFill>
                <a:schemeClr val="tx1"/>
              </a:solidFill>
            </a:endParaRPr>
          </a:p>
        </p:txBody>
      </p:sp>
    </p:spTree>
    <p:extLst>
      <p:ext uri="{BB962C8B-B14F-4D97-AF65-F5344CB8AC3E}">
        <p14:creationId xmlns:p14="http://schemas.microsoft.com/office/powerpoint/2010/main" val="2754615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6D6FF9E-EC72-3399-F768-C2755B8B2F58}"/>
              </a:ext>
            </a:extLst>
          </p:cNvPr>
          <p:cNvSpPr>
            <a:spLocks noGrp="1"/>
          </p:cNvSpPr>
          <p:nvPr>
            <p:ph type="title"/>
          </p:nvPr>
        </p:nvSpPr>
        <p:spPr/>
        <p:txBody>
          <a:bodyPr/>
          <a:lstStyle/>
          <a:p>
            <a:r>
              <a:rPr lang="en-US"/>
              <a:t>Selected Hong Kong ECM Transactions</a:t>
            </a:r>
          </a:p>
        </p:txBody>
      </p:sp>
      <p:sp>
        <p:nvSpPr>
          <p:cNvPr id="8" name="Text Placeholder 7">
            <a:extLst>
              <a:ext uri="{FF2B5EF4-FFF2-40B4-BE49-F238E27FC236}">
                <a16:creationId xmlns:a16="http://schemas.microsoft.com/office/drawing/2014/main" id="{3EF46681-864C-87B3-C1B9-8D71A8C832E9}"/>
              </a:ext>
            </a:extLst>
          </p:cNvPr>
          <p:cNvSpPr>
            <a:spLocks noGrp="1"/>
          </p:cNvSpPr>
          <p:nvPr>
            <p:ph type="body" sz="quarter" idx="46"/>
          </p:nvPr>
        </p:nvSpPr>
        <p:spPr/>
        <p:txBody>
          <a:bodyPr/>
          <a:lstStyle/>
          <a:p>
            <a:endParaRPr lang="en-GB"/>
          </a:p>
        </p:txBody>
      </p:sp>
      <p:grpSp>
        <p:nvGrpSpPr>
          <p:cNvPr id="28" name="Group 27">
            <a:extLst>
              <a:ext uri="{FF2B5EF4-FFF2-40B4-BE49-F238E27FC236}">
                <a16:creationId xmlns:a16="http://schemas.microsoft.com/office/drawing/2014/main" id="{8B6BC8B9-503E-260A-CC55-43A114A6F429}"/>
              </a:ext>
            </a:extLst>
          </p:cNvPr>
          <p:cNvGrpSpPr/>
          <p:nvPr/>
        </p:nvGrpSpPr>
        <p:grpSpPr>
          <a:xfrm>
            <a:off x="453000" y="1082021"/>
            <a:ext cx="9000000" cy="4628044"/>
            <a:chOff x="1035692" y="1082021"/>
            <a:chExt cx="7881034" cy="4628044"/>
          </a:xfrm>
        </p:grpSpPr>
        <p:sp>
          <p:nvSpPr>
            <p:cNvPr id="19" name="Rectangle 18">
              <a:extLst>
                <a:ext uri="{FF2B5EF4-FFF2-40B4-BE49-F238E27FC236}">
                  <a16:creationId xmlns:a16="http://schemas.microsoft.com/office/drawing/2014/main" id="{E07BD15C-1FBA-4812-858A-382D99D50B57}"/>
                </a:ext>
              </a:extLst>
            </p:cNvPr>
            <p:cNvSpPr/>
            <p:nvPr/>
          </p:nvSpPr>
          <p:spPr bwMode="auto">
            <a:xfrm>
              <a:off x="1035693" y="1082021"/>
              <a:ext cx="7847957" cy="274320"/>
            </a:xfrm>
            <a:prstGeom prst="rect">
              <a:avLst/>
            </a:prstGeom>
            <a:solidFill>
              <a:srgbClr val="089584"/>
            </a:soli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p>
              <a:pPr algn="ctr" eaLnBrk="0" fontAlgn="base" hangingPunct="0">
                <a:spcAft>
                  <a:spcPct val="0"/>
                </a:spcAft>
              </a:pPr>
              <a:r>
                <a:rPr lang="en-US" altLang="zh-TW" sz="1100" kern="0">
                  <a:solidFill>
                    <a:srgbClr val="FFFFFF"/>
                  </a:solidFill>
                  <a:latin typeface="Calibri"/>
                  <a:ea typeface="DFKaiShu-GB5"/>
                </a:rPr>
                <a:t>Rights Issue</a:t>
              </a:r>
              <a:r>
                <a:rPr lang="zh-TW" altLang="en-US" sz="1100" kern="0">
                  <a:solidFill>
                    <a:srgbClr val="FFFFFF"/>
                  </a:solidFill>
                  <a:latin typeface="Calibri"/>
                  <a:ea typeface="DFKaiShu-GB5"/>
                </a:rPr>
                <a:t> </a:t>
              </a:r>
              <a:r>
                <a:rPr lang="en-US" altLang="zh-TW" sz="1100" kern="0">
                  <a:solidFill>
                    <a:srgbClr val="FFFFFF"/>
                  </a:solidFill>
                  <a:latin typeface="Calibri"/>
                  <a:ea typeface="DFKaiShu-GB5"/>
                </a:rPr>
                <a:t>/ Placement </a:t>
              </a:r>
              <a:endParaRPr lang="en-US" altLang="en-US" sz="1100" kern="0">
                <a:solidFill>
                  <a:srgbClr val="FFFFFF"/>
                </a:solidFill>
                <a:latin typeface="Calibri"/>
                <a:ea typeface="DFKaiShu-GB5"/>
              </a:endParaRPr>
            </a:p>
          </p:txBody>
        </p:sp>
        <p:sp>
          <p:nvSpPr>
            <p:cNvPr id="20" name="Rectangle 19">
              <a:extLst>
                <a:ext uri="{FF2B5EF4-FFF2-40B4-BE49-F238E27FC236}">
                  <a16:creationId xmlns:a16="http://schemas.microsoft.com/office/drawing/2014/main" id="{A54250DE-DECC-4A58-8D32-488FD83E6E47}"/>
                </a:ext>
              </a:extLst>
            </p:cNvPr>
            <p:cNvSpPr/>
            <p:nvPr/>
          </p:nvSpPr>
          <p:spPr bwMode="auto">
            <a:xfrm>
              <a:off x="1051741" y="3643032"/>
              <a:ext cx="7864985" cy="274320"/>
            </a:xfrm>
            <a:prstGeom prst="rect">
              <a:avLst/>
            </a:prstGeom>
            <a:solidFill>
              <a:srgbClr val="089584"/>
            </a:solidFill>
            <a:ln w="9525" cap="flat" cmpd="sng" algn="ctr">
              <a:noFill/>
              <a:prstDash val="solid"/>
              <a:headEnd/>
              <a:tailEnd/>
            </a:ln>
            <a:effectLst>
              <a:outerShdw blurRad="40000" dist="23000" dir="5400000" rotWithShape="0">
                <a:srgbClr val="000000">
                  <a:alpha val="35000"/>
                </a:srgbClr>
              </a:outerShdw>
            </a:effectLst>
          </p:spPr>
          <p:txBody>
            <a:bodyPr lIns="0" tIns="0" rIns="0" bIns="0" anchor="ctr"/>
            <a:lstStyle/>
            <a:p>
              <a:pPr algn="ctr" eaLnBrk="0" fontAlgn="base" hangingPunct="0">
                <a:spcAft>
                  <a:spcPct val="0"/>
                </a:spcAft>
              </a:pPr>
              <a:r>
                <a:rPr lang="en-US" altLang="zh-TW" sz="1100" kern="0">
                  <a:solidFill>
                    <a:srgbClr val="FFFFFF"/>
                  </a:solidFill>
                  <a:latin typeface="Calibri"/>
                  <a:ea typeface="DFKaiShu-GB5"/>
                </a:rPr>
                <a:t>Financial Advisor </a:t>
              </a:r>
              <a:endParaRPr lang="en-US" altLang="en-US" sz="1100" kern="0">
                <a:solidFill>
                  <a:srgbClr val="FFFFFF"/>
                </a:solidFill>
                <a:latin typeface="Calibri"/>
                <a:ea typeface="DFKaiShu-GB5"/>
              </a:endParaRPr>
            </a:p>
          </p:txBody>
        </p:sp>
        <p:grpSp>
          <p:nvGrpSpPr>
            <p:cNvPr id="84" name="Group 83">
              <a:extLst>
                <a:ext uri="{FF2B5EF4-FFF2-40B4-BE49-F238E27FC236}">
                  <a16:creationId xmlns:a16="http://schemas.microsoft.com/office/drawing/2014/main" id="{2A11EA26-E9C8-8CC0-8BCB-2B7CB797D57F}"/>
                </a:ext>
              </a:extLst>
            </p:cNvPr>
            <p:cNvGrpSpPr/>
            <p:nvPr/>
          </p:nvGrpSpPr>
          <p:grpSpPr>
            <a:xfrm>
              <a:off x="7969249" y="1437133"/>
              <a:ext cx="914400" cy="1691640"/>
              <a:chOff x="3644051" y="1426108"/>
              <a:chExt cx="914400" cy="1691640"/>
            </a:xfrm>
          </p:grpSpPr>
          <p:sp>
            <p:nvSpPr>
              <p:cNvPr id="85" name="Rectangle 406">
                <a:extLst>
                  <a:ext uri="{FF2B5EF4-FFF2-40B4-BE49-F238E27FC236}">
                    <a16:creationId xmlns:a16="http://schemas.microsoft.com/office/drawing/2014/main" id="{21541ED1-68C0-A08C-8E00-D38B835E9E69}"/>
                  </a:ext>
                </a:extLst>
              </p:cNvPr>
              <p:cNvSpPr>
                <a:spLocks noChangeArrowheads="1"/>
              </p:cNvSpPr>
              <p:nvPr/>
            </p:nvSpPr>
            <p:spPr bwMode="auto">
              <a:xfrm>
                <a:off x="3644051" y="1426108"/>
                <a:ext cx="914400" cy="169164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Arial"/>
                  <a:cs typeface="Arial" panose="020B0604020202020204" pitchFamily="34" charset="0"/>
                </a:endParaRPr>
              </a:p>
            </p:txBody>
          </p:sp>
          <p:pic>
            <p:nvPicPr>
              <p:cNvPr id="86" name="Picture 5" descr="PPT模版">
                <a:extLst>
                  <a:ext uri="{FF2B5EF4-FFF2-40B4-BE49-F238E27FC236}">
                    <a16:creationId xmlns:a16="http://schemas.microsoft.com/office/drawing/2014/main" id="{710F691F-0D3D-7C46-F5CB-A582E2131C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4867" y="1567403"/>
                <a:ext cx="652768" cy="223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 name="Rectangle 408">
                <a:extLst>
                  <a:ext uri="{FF2B5EF4-FFF2-40B4-BE49-F238E27FC236}">
                    <a16:creationId xmlns:a16="http://schemas.microsoft.com/office/drawing/2014/main" id="{1C1CFABC-77D3-3F5F-1687-A2FDEC670122}"/>
                  </a:ext>
                </a:extLst>
              </p:cNvPr>
              <p:cNvSpPr>
                <a:spLocks noChangeArrowheads="1"/>
              </p:cNvSpPr>
              <p:nvPr/>
            </p:nvSpPr>
            <p:spPr bwMode="auto">
              <a:xfrm>
                <a:off x="3644051" y="2459551"/>
                <a:ext cx="914400" cy="275525"/>
              </a:xfrm>
              <a:prstGeom prst="rect">
                <a:avLst/>
              </a:prstGeom>
              <a:noFill/>
              <a:ln w="9525" algn="ctr">
                <a:noFill/>
                <a:miter lim="800000"/>
                <a:headEnd/>
                <a:tailEnd/>
              </a:ln>
            </p:spPr>
            <p:txBody>
              <a:bodyPr wrap="square" lIns="0" tIns="0" rIns="0" bIns="0" anchor="ctr">
                <a:spAutoFit/>
              </a:bodyPr>
              <a:lstStyle/>
              <a:p>
                <a:pPr algn="ctr" eaLnBrk="0" hangingPunct="0">
                  <a:lnSpc>
                    <a:spcPct val="85000"/>
                  </a:lnSpc>
                  <a:spcBef>
                    <a:spcPts val="0"/>
                  </a:spcBef>
                  <a:defRPr/>
                </a:pPr>
                <a:r>
                  <a:rPr lang="en-US" altLang="zh-CN" sz="700" b="0">
                    <a:solidFill>
                      <a:srgbClr val="000000"/>
                    </a:solidFill>
                    <a:latin typeface="Calibri"/>
                    <a:ea typeface="DFKaiShu-GB5"/>
                    <a:cs typeface="DFPKaiShu-GB5" panose="03000500000000000000" pitchFamily="66" charset="-128"/>
                  </a:rPr>
                  <a:t>Financial Advisor</a:t>
                </a:r>
                <a:r>
                  <a:rPr lang="en-US" altLang="zh-TW" sz="700">
                    <a:solidFill>
                      <a:srgbClr val="000000"/>
                    </a:solidFill>
                    <a:latin typeface="Calibri"/>
                    <a:ea typeface="DFKaiShu-GB5"/>
                    <a:cs typeface="Calibri" pitchFamily="34" charset="0"/>
                  </a:rPr>
                  <a:t> </a:t>
                </a:r>
              </a:p>
              <a:p>
                <a:pPr algn="ctr" eaLnBrk="0" hangingPunct="0">
                  <a:lnSpc>
                    <a:spcPct val="85000"/>
                  </a:lnSpc>
                  <a:spcBef>
                    <a:spcPts val="0"/>
                  </a:spcBef>
                  <a:defRPr/>
                </a:pPr>
                <a:r>
                  <a:rPr lang="en-US" altLang="zh-TW" sz="700">
                    <a:solidFill>
                      <a:srgbClr val="000000"/>
                    </a:solidFill>
                    <a:latin typeface="Calibri"/>
                    <a:ea typeface="DFKaiShu-GB5"/>
                    <a:cs typeface="Calibri" pitchFamily="34" charset="0"/>
                  </a:rPr>
                  <a:t>and</a:t>
                </a:r>
              </a:p>
              <a:p>
                <a:pPr algn="ctr" eaLnBrk="0" hangingPunct="0">
                  <a:lnSpc>
                    <a:spcPct val="85000"/>
                  </a:lnSpc>
                  <a:spcBef>
                    <a:spcPts val="0"/>
                  </a:spcBef>
                  <a:defRPr/>
                </a:pPr>
                <a:r>
                  <a:rPr lang="en-US" altLang="zh-TW" sz="700" b="0">
                    <a:solidFill>
                      <a:srgbClr val="000000"/>
                    </a:solidFill>
                    <a:latin typeface="Calibri"/>
                    <a:ea typeface="DFKaiShu-GB5"/>
                    <a:cs typeface="Calibri" pitchFamily="34" charset="0"/>
                  </a:rPr>
                  <a:t>Sole Lead Placing Agent</a:t>
                </a:r>
              </a:p>
            </p:txBody>
          </p:sp>
          <p:sp>
            <p:nvSpPr>
              <p:cNvPr id="89" name="Rectangle 409">
                <a:extLst>
                  <a:ext uri="{FF2B5EF4-FFF2-40B4-BE49-F238E27FC236}">
                    <a16:creationId xmlns:a16="http://schemas.microsoft.com/office/drawing/2014/main" id="{783EED22-4BE5-8653-F1CF-C690E4F364A6}"/>
                  </a:ext>
                </a:extLst>
              </p:cNvPr>
              <p:cNvSpPr>
                <a:spLocks noChangeArrowheads="1"/>
              </p:cNvSpPr>
              <p:nvPr/>
            </p:nvSpPr>
            <p:spPr bwMode="auto">
              <a:xfrm>
                <a:off x="3644051" y="1951674"/>
                <a:ext cx="914400" cy="323165"/>
              </a:xfrm>
              <a:prstGeom prst="rect">
                <a:avLst/>
              </a:prstGeom>
              <a:noFill/>
              <a:ln w="9525">
                <a:noFill/>
                <a:miter lim="800000"/>
                <a:headEnd/>
                <a:tailEnd/>
              </a:ln>
            </p:spPr>
            <p:txBody>
              <a:bodyPr lIns="0" tIns="0" rIns="0" bIns="0" anchor="ctr">
                <a:spAutoFit/>
              </a:bodyPr>
              <a:lstStyle/>
              <a:p>
                <a:pPr algn="ctr" eaLnBrk="0" hangingPunct="0">
                  <a:spcBef>
                    <a:spcPts val="0"/>
                  </a:spcBef>
                  <a:defRPr/>
                </a:pPr>
                <a:r>
                  <a:rPr lang="en-US" altLang="zh-TW" sz="700" b="0">
                    <a:solidFill>
                      <a:srgbClr val="000000"/>
                    </a:solidFill>
                    <a:latin typeface="Calibri"/>
                    <a:ea typeface="DFKaiShu-GB5"/>
                    <a:cs typeface="Calibri" pitchFamily="34" charset="0"/>
                  </a:rPr>
                  <a:t>US$</a:t>
                </a:r>
                <a:r>
                  <a:rPr lang="en-US" altLang="zh-TW" sz="700">
                    <a:solidFill>
                      <a:srgbClr val="000000"/>
                    </a:solidFill>
                    <a:latin typeface="Calibri"/>
                    <a:ea typeface="DFKaiShu-GB5"/>
                    <a:cs typeface="Calibri" pitchFamily="34" charset="0"/>
                  </a:rPr>
                  <a:t>507</a:t>
                </a:r>
                <a:r>
                  <a:rPr lang="en-US" altLang="zh-TW" sz="700" b="0">
                    <a:solidFill>
                      <a:srgbClr val="000000"/>
                    </a:solidFill>
                    <a:latin typeface="Calibri"/>
                    <a:ea typeface="DFKaiShu-GB5"/>
                    <a:cs typeface="Calibri" pitchFamily="34" charset="0"/>
                  </a:rPr>
                  <a:t>m</a:t>
                </a:r>
              </a:p>
              <a:p>
                <a:pPr algn="ctr" eaLnBrk="0" hangingPunct="0">
                  <a:spcBef>
                    <a:spcPts val="0"/>
                  </a:spcBef>
                  <a:defRPr/>
                </a:pPr>
                <a:r>
                  <a:rPr lang="en-US" altLang="zh-TW" sz="700" b="0">
                    <a:solidFill>
                      <a:srgbClr val="000000"/>
                    </a:solidFill>
                    <a:latin typeface="Calibri"/>
                    <a:ea typeface="DFKaiShu-GB5"/>
                    <a:cs typeface="Calibri" pitchFamily="34" charset="0"/>
                  </a:rPr>
                  <a:t>Placement and </a:t>
                </a:r>
              </a:p>
              <a:p>
                <a:pPr algn="ctr" eaLnBrk="0" hangingPunct="0">
                  <a:spcBef>
                    <a:spcPts val="0"/>
                  </a:spcBef>
                  <a:defRPr/>
                </a:pPr>
                <a:r>
                  <a:rPr lang="en-US" altLang="zh-TW" sz="700" b="0">
                    <a:solidFill>
                      <a:srgbClr val="000000"/>
                    </a:solidFill>
                    <a:latin typeface="Calibri"/>
                    <a:ea typeface="DFKaiShu-GB5"/>
                    <a:cs typeface="Calibri" pitchFamily="34" charset="0"/>
                  </a:rPr>
                  <a:t>Rights Issue</a:t>
                </a:r>
              </a:p>
            </p:txBody>
          </p:sp>
          <p:sp>
            <p:nvSpPr>
              <p:cNvPr id="90" name="Rectangle 412">
                <a:extLst>
                  <a:ext uri="{FF2B5EF4-FFF2-40B4-BE49-F238E27FC236}">
                    <a16:creationId xmlns:a16="http://schemas.microsoft.com/office/drawing/2014/main" id="{45BBA965-8C5F-ED98-4182-E7C498253960}"/>
                  </a:ext>
                </a:extLst>
              </p:cNvPr>
              <p:cNvSpPr>
                <a:spLocks noChangeArrowheads="1"/>
              </p:cNvSpPr>
              <p:nvPr/>
            </p:nvSpPr>
            <p:spPr bwMode="auto">
              <a:xfrm>
                <a:off x="3860800" y="2949164"/>
                <a:ext cx="480902" cy="107722"/>
              </a:xfrm>
              <a:prstGeom prst="rect">
                <a:avLst/>
              </a:prstGeom>
              <a:noFill/>
              <a:ln w="9525">
                <a:noFill/>
                <a:miter lim="800000"/>
                <a:headEnd/>
                <a:tailEnd/>
              </a:ln>
            </p:spPr>
            <p:txBody>
              <a:bodyPr wrap="none" lIns="0" tIns="0" rIns="0" bIns="0" anchor="ctr">
                <a:spAutoFit/>
              </a:bodyPr>
              <a:lstStyle/>
              <a:p>
                <a:pPr algn="ctr" eaLnBrk="0" hangingPunct="0">
                  <a:defRPr/>
                </a:pPr>
                <a:r>
                  <a:rPr lang="en-US" altLang="zh-TW" sz="700" b="0">
                    <a:solidFill>
                      <a:srgbClr val="000000"/>
                    </a:solidFill>
                    <a:latin typeface="Calibri"/>
                    <a:ea typeface="DFKaiShu-GB5"/>
                    <a:cs typeface="Calibri" pitchFamily="34" charset="0"/>
                  </a:rPr>
                  <a:t>January 2022</a:t>
                </a:r>
              </a:p>
            </p:txBody>
          </p:sp>
        </p:grpSp>
        <p:sp>
          <p:nvSpPr>
            <p:cNvPr id="95" name="Rectangle 406">
              <a:extLst>
                <a:ext uri="{FF2B5EF4-FFF2-40B4-BE49-F238E27FC236}">
                  <a16:creationId xmlns:a16="http://schemas.microsoft.com/office/drawing/2014/main" id="{F8E70C8C-23D6-A133-400B-170363FA0B30}"/>
                </a:ext>
              </a:extLst>
            </p:cNvPr>
            <p:cNvSpPr>
              <a:spLocks noChangeArrowheads="1"/>
            </p:cNvSpPr>
            <p:nvPr/>
          </p:nvSpPr>
          <p:spPr bwMode="auto">
            <a:xfrm>
              <a:off x="2025108" y="1437133"/>
              <a:ext cx="914400" cy="169164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Arial"/>
                <a:cs typeface="Arial" panose="020B0604020202020204" pitchFamily="34" charset="0"/>
              </a:endParaRPr>
            </a:p>
          </p:txBody>
        </p:sp>
        <p:sp>
          <p:nvSpPr>
            <p:cNvPr id="113" name="Rectangle 408">
              <a:extLst>
                <a:ext uri="{FF2B5EF4-FFF2-40B4-BE49-F238E27FC236}">
                  <a16:creationId xmlns:a16="http://schemas.microsoft.com/office/drawing/2014/main" id="{6FAC4540-ABE3-1013-BED9-B660241EF3AA}"/>
                </a:ext>
              </a:extLst>
            </p:cNvPr>
            <p:cNvSpPr>
              <a:spLocks noChangeArrowheads="1"/>
            </p:cNvSpPr>
            <p:nvPr/>
          </p:nvSpPr>
          <p:spPr bwMode="auto">
            <a:xfrm>
              <a:off x="2025108" y="2544842"/>
              <a:ext cx="914400" cy="92398"/>
            </a:xfrm>
            <a:prstGeom prst="rect">
              <a:avLst/>
            </a:prstGeom>
            <a:noFill/>
            <a:ln w="9525" algn="ctr">
              <a:noFill/>
              <a:miter lim="800000"/>
              <a:headEnd/>
              <a:tailEnd/>
            </a:ln>
          </p:spPr>
          <p:txBody>
            <a:bodyPr wrap="square" lIns="0" tIns="0" rIns="0" bIns="0" anchor="ctr">
              <a:spAutoFit/>
            </a:bodyPr>
            <a:lstStyle/>
            <a:p>
              <a:pPr algn="ctr" eaLnBrk="0" hangingPunct="0">
                <a:lnSpc>
                  <a:spcPct val="85000"/>
                </a:lnSpc>
                <a:spcBef>
                  <a:spcPts val="0"/>
                </a:spcBef>
                <a:defRPr/>
              </a:pPr>
              <a:r>
                <a:rPr lang="en-US" altLang="zh-TW" sz="700" b="0">
                  <a:solidFill>
                    <a:srgbClr val="000000"/>
                  </a:solidFill>
                  <a:latin typeface="Calibri"/>
                  <a:ea typeface="DFKaiShu-GB5"/>
                  <a:cs typeface="Calibri" pitchFamily="34" charset="0"/>
                </a:rPr>
                <a:t>Placing Agent</a:t>
              </a:r>
            </a:p>
          </p:txBody>
        </p:sp>
        <p:sp>
          <p:nvSpPr>
            <p:cNvPr id="114" name="Rectangle 409">
              <a:extLst>
                <a:ext uri="{FF2B5EF4-FFF2-40B4-BE49-F238E27FC236}">
                  <a16:creationId xmlns:a16="http://schemas.microsoft.com/office/drawing/2014/main" id="{18AC4925-085B-8EF1-BCB1-87B1AE7F6FBE}"/>
                </a:ext>
              </a:extLst>
            </p:cNvPr>
            <p:cNvSpPr>
              <a:spLocks noChangeArrowheads="1"/>
            </p:cNvSpPr>
            <p:nvPr/>
          </p:nvSpPr>
          <p:spPr bwMode="auto">
            <a:xfrm>
              <a:off x="2025108" y="2016561"/>
              <a:ext cx="914400" cy="215444"/>
            </a:xfrm>
            <a:prstGeom prst="rect">
              <a:avLst/>
            </a:prstGeom>
            <a:noFill/>
            <a:ln w="9525">
              <a:noFill/>
              <a:miter lim="800000"/>
              <a:headEnd/>
              <a:tailEnd/>
            </a:ln>
          </p:spPr>
          <p:txBody>
            <a:bodyPr wrap="square" lIns="0" tIns="0" rIns="0" bIns="0" anchor="ctr">
              <a:spAutoFit/>
            </a:bodyPr>
            <a:lstStyle/>
            <a:p>
              <a:pPr algn="ctr" fontAlgn="auto">
                <a:spcAft>
                  <a:spcPts val="0"/>
                </a:spcAft>
                <a:defRPr/>
              </a:pPr>
              <a:r>
                <a:rPr lang="en-US" altLang="zh-CN" sz="700" b="0">
                  <a:solidFill>
                    <a:srgbClr val="000000"/>
                  </a:solidFill>
                  <a:latin typeface="Calibri"/>
                  <a:ea typeface="DFKaiShu-GB5"/>
                  <a:cs typeface="DFPKaiShu-GB5" panose="03000500000000000000" pitchFamily="66" charset="-128"/>
                </a:rPr>
                <a:t>US$53.6m</a:t>
              </a:r>
            </a:p>
            <a:p>
              <a:pPr algn="ctr" fontAlgn="auto">
                <a:spcAft>
                  <a:spcPts val="0"/>
                </a:spcAft>
                <a:defRPr/>
              </a:pPr>
              <a:r>
                <a:rPr lang="en-US" altLang="zh-CN" sz="700" b="0">
                  <a:solidFill>
                    <a:srgbClr val="000000"/>
                  </a:solidFill>
                  <a:latin typeface="Calibri"/>
                  <a:ea typeface="DFKaiShu-GB5"/>
                  <a:cs typeface="DFPKaiShu-GB5" panose="03000500000000000000" pitchFamily="66" charset="-128"/>
                </a:rPr>
                <a:t>Placement</a:t>
              </a:r>
            </a:p>
          </p:txBody>
        </p:sp>
        <p:sp>
          <p:nvSpPr>
            <p:cNvPr id="115" name="Rectangle 412">
              <a:extLst>
                <a:ext uri="{FF2B5EF4-FFF2-40B4-BE49-F238E27FC236}">
                  <a16:creationId xmlns:a16="http://schemas.microsoft.com/office/drawing/2014/main" id="{0869AD76-A718-BC45-0349-898139B80CFF}"/>
                </a:ext>
              </a:extLst>
            </p:cNvPr>
            <p:cNvSpPr>
              <a:spLocks noChangeArrowheads="1"/>
            </p:cNvSpPr>
            <p:nvPr/>
          </p:nvSpPr>
          <p:spPr bwMode="auto">
            <a:xfrm>
              <a:off x="2252280" y="2960189"/>
              <a:ext cx="460062" cy="107722"/>
            </a:xfrm>
            <a:prstGeom prst="rect">
              <a:avLst/>
            </a:prstGeom>
            <a:noFill/>
            <a:ln w="9525">
              <a:noFill/>
              <a:miter lim="800000"/>
              <a:headEnd/>
              <a:tailEnd/>
            </a:ln>
          </p:spPr>
          <p:txBody>
            <a:bodyPr wrap="none" lIns="0" tIns="0" rIns="0" bIns="0" anchor="ctr">
              <a:spAutoFit/>
            </a:bodyPr>
            <a:lstStyle/>
            <a:p>
              <a:pPr algn="ctr" eaLnBrk="0" hangingPunct="0">
                <a:defRPr/>
              </a:pPr>
              <a:r>
                <a:rPr lang="en-US" altLang="zh-TW" sz="700">
                  <a:solidFill>
                    <a:srgbClr val="000000"/>
                  </a:solidFill>
                  <a:latin typeface="Calibri"/>
                  <a:ea typeface="DFKaiShu-GB5"/>
                  <a:cs typeface="Calibri" pitchFamily="34" charset="0"/>
                </a:rPr>
                <a:t>August</a:t>
              </a:r>
              <a:r>
                <a:rPr lang="en-US" altLang="zh-TW" sz="700" b="0">
                  <a:solidFill>
                    <a:srgbClr val="000000"/>
                  </a:solidFill>
                  <a:latin typeface="Calibri"/>
                  <a:ea typeface="DFKaiShu-GB5"/>
                  <a:cs typeface="Calibri" pitchFamily="34" charset="0"/>
                </a:rPr>
                <a:t> 2025</a:t>
              </a:r>
            </a:p>
          </p:txBody>
        </p:sp>
        <p:grpSp>
          <p:nvGrpSpPr>
            <p:cNvPr id="172" name="Group 171">
              <a:extLst>
                <a:ext uri="{FF2B5EF4-FFF2-40B4-BE49-F238E27FC236}">
                  <a16:creationId xmlns:a16="http://schemas.microsoft.com/office/drawing/2014/main" id="{E8FF2AB4-9B80-483D-F664-D4ED2A0F320E}"/>
                </a:ext>
              </a:extLst>
            </p:cNvPr>
            <p:cNvGrpSpPr/>
            <p:nvPr/>
          </p:nvGrpSpPr>
          <p:grpSpPr>
            <a:xfrm>
              <a:off x="6983523" y="1437133"/>
              <a:ext cx="914400" cy="1691640"/>
              <a:chOff x="2618031" y="1426108"/>
              <a:chExt cx="914400" cy="1691640"/>
            </a:xfrm>
          </p:grpSpPr>
          <p:sp>
            <p:nvSpPr>
              <p:cNvPr id="173" name="Rectangle 406">
                <a:extLst>
                  <a:ext uri="{FF2B5EF4-FFF2-40B4-BE49-F238E27FC236}">
                    <a16:creationId xmlns:a16="http://schemas.microsoft.com/office/drawing/2014/main" id="{10D212EA-FB65-BD7C-4BCE-4D3AD43F0FB9}"/>
                  </a:ext>
                </a:extLst>
              </p:cNvPr>
              <p:cNvSpPr>
                <a:spLocks noChangeArrowheads="1"/>
              </p:cNvSpPr>
              <p:nvPr/>
            </p:nvSpPr>
            <p:spPr bwMode="auto">
              <a:xfrm>
                <a:off x="2618031" y="1426108"/>
                <a:ext cx="914400" cy="169164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Arial"/>
                  <a:cs typeface="Arial" panose="020B0604020202020204" pitchFamily="34" charset="0"/>
                </a:endParaRPr>
              </a:p>
            </p:txBody>
          </p:sp>
          <p:sp>
            <p:nvSpPr>
              <p:cNvPr id="174" name="Rectangle 408">
                <a:extLst>
                  <a:ext uri="{FF2B5EF4-FFF2-40B4-BE49-F238E27FC236}">
                    <a16:creationId xmlns:a16="http://schemas.microsoft.com/office/drawing/2014/main" id="{D40BD18C-6BDD-55DA-EF65-5A9515094C18}"/>
                  </a:ext>
                </a:extLst>
              </p:cNvPr>
              <p:cNvSpPr>
                <a:spLocks noChangeArrowheads="1"/>
              </p:cNvSpPr>
              <p:nvPr/>
            </p:nvSpPr>
            <p:spPr bwMode="auto">
              <a:xfrm>
                <a:off x="2618031" y="2525963"/>
                <a:ext cx="914400" cy="92398"/>
              </a:xfrm>
              <a:prstGeom prst="rect">
                <a:avLst/>
              </a:prstGeom>
              <a:noFill/>
              <a:ln w="9525" algn="ctr">
                <a:noFill/>
                <a:miter lim="800000"/>
                <a:headEnd/>
                <a:tailEnd/>
              </a:ln>
            </p:spPr>
            <p:txBody>
              <a:bodyPr wrap="square" lIns="0" tIns="0" rIns="0" bIns="0" anchor="ctr">
                <a:spAutoFit/>
              </a:bodyPr>
              <a:lstStyle/>
              <a:p>
                <a:pPr algn="ctr" eaLnBrk="0" hangingPunct="0">
                  <a:lnSpc>
                    <a:spcPct val="85000"/>
                  </a:lnSpc>
                  <a:spcBef>
                    <a:spcPts val="0"/>
                  </a:spcBef>
                  <a:defRPr/>
                </a:pPr>
                <a:r>
                  <a:rPr lang="en-US" altLang="zh-TW" sz="700" b="0">
                    <a:solidFill>
                      <a:srgbClr val="000000"/>
                    </a:solidFill>
                    <a:latin typeface="Calibri"/>
                    <a:ea typeface="DFKaiShu-GB5"/>
                    <a:cs typeface="Calibri" pitchFamily="34" charset="0"/>
                  </a:rPr>
                  <a:t>Joint Lead Underwriter</a:t>
                </a:r>
              </a:p>
            </p:txBody>
          </p:sp>
          <p:sp>
            <p:nvSpPr>
              <p:cNvPr id="175" name="Rectangle 409">
                <a:extLst>
                  <a:ext uri="{FF2B5EF4-FFF2-40B4-BE49-F238E27FC236}">
                    <a16:creationId xmlns:a16="http://schemas.microsoft.com/office/drawing/2014/main" id="{C6E8FEFF-2F4A-B366-E273-053A1A7E2F6F}"/>
                  </a:ext>
                </a:extLst>
              </p:cNvPr>
              <p:cNvSpPr>
                <a:spLocks noChangeArrowheads="1"/>
              </p:cNvSpPr>
              <p:nvPr/>
            </p:nvSpPr>
            <p:spPr bwMode="auto">
              <a:xfrm>
                <a:off x="2618031" y="2005536"/>
                <a:ext cx="914400" cy="215444"/>
              </a:xfrm>
              <a:prstGeom prst="rect">
                <a:avLst/>
              </a:prstGeom>
              <a:noFill/>
              <a:ln w="9525">
                <a:noFill/>
                <a:miter lim="800000"/>
                <a:headEnd/>
                <a:tailEnd/>
              </a:ln>
            </p:spPr>
            <p:txBody>
              <a:bodyPr lIns="0" tIns="0" rIns="0" bIns="0" anchor="ctr">
                <a:spAutoFit/>
              </a:bodyPr>
              <a:lstStyle/>
              <a:p>
                <a:pPr algn="ctr" eaLnBrk="0" hangingPunct="0">
                  <a:spcBef>
                    <a:spcPts val="0"/>
                  </a:spcBef>
                  <a:defRPr/>
                </a:pPr>
                <a:r>
                  <a:rPr lang="en-US" altLang="zh-TW" sz="700" b="0">
                    <a:solidFill>
                      <a:srgbClr val="000000"/>
                    </a:solidFill>
                    <a:latin typeface="Calibri"/>
                    <a:ea typeface="DFKaiShu-GB5"/>
                    <a:cs typeface="Calibri" pitchFamily="34" charset="0"/>
                  </a:rPr>
                  <a:t>US$2.4b</a:t>
                </a:r>
              </a:p>
              <a:p>
                <a:pPr algn="ctr" eaLnBrk="0" hangingPunct="0">
                  <a:spcBef>
                    <a:spcPts val="0"/>
                  </a:spcBef>
                  <a:defRPr/>
                </a:pPr>
                <a:r>
                  <a:rPr lang="en-US" altLang="zh-TW" sz="700" b="0">
                    <a:solidFill>
                      <a:srgbClr val="000000"/>
                    </a:solidFill>
                    <a:latin typeface="Calibri"/>
                    <a:ea typeface="DFKaiShu-GB5"/>
                    <a:cs typeface="Calibri" pitchFamily="34" charset="0"/>
                  </a:rPr>
                  <a:t>Rights </a:t>
                </a:r>
                <a:r>
                  <a:rPr lang="en-US" altLang="zh-TW" sz="700">
                    <a:solidFill>
                      <a:srgbClr val="000000"/>
                    </a:solidFill>
                    <a:latin typeface="Calibri"/>
                    <a:ea typeface="DFKaiShu-GB5"/>
                    <a:cs typeface="Calibri" pitchFamily="34" charset="0"/>
                  </a:rPr>
                  <a:t>Issue</a:t>
                </a:r>
                <a:endParaRPr lang="en-US" altLang="zh-TW" sz="700" b="0">
                  <a:solidFill>
                    <a:srgbClr val="000000"/>
                  </a:solidFill>
                  <a:latin typeface="Calibri"/>
                  <a:ea typeface="DFKaiShu-GB5"/>
                  <a:cs typeface="Calibri" pitchFamily="34" charset="0"/>
                </a:endParaRPr>
              </a:p>
            </p:txBody>
          </p:sp>
          <p:sp>
            <p:nvSpPr>
              <p:cNvPr id="176" name="Rectangle 412">
                <a:extLst>
                  <a:ext uri="{FF2B5EF4-FFF2-40B4-BE49-F238E27FC236}">
                    <a16:creationId xmlns:a16="http://schemas.microsoft.com/office/drawing/2014/main" id="{3307C868-2239-5FAB-ACCF-D6B9BC9393A5}"/>
                  </a:ext>
                </a:extLst>
              </p:cNvPr>
              <p:cNvSpPr>
                <a:spLocks noChangeArrowheads="1"/>
              </p:cNvSpPr>
              <p:nvPr/>
            </p:nvSpPr>
            <p:spPr bwMode="auto">
              <a:xfrm>
                <a:off x="2856421" y="2949164"/>
                <a:ext cx="437620" cy="107722"/>
              </a:xfrm>
              <a:prstGeom prst="rect">
                <a:avLst/>
              </a:prstGeom>
              <a:noFill/>
              <a:ln w="9525">
                <a:noFill/>
                <a:miter lim="800000"/>
                <a:headEnd/>
                <a:tailEnd/>
              </a:ln>
            </p:spPr>
            <p:txBody>
              <a:bodyPr wrap="none" lIns="0" tIns="0" rIns="0" bIns="0" anchor="ctr">
                <a:spAutoFit/>
              </a:bodyPr>
              <a:lstStyle/>
              <a:p>
                <a:pPr algn="ctr" eaLnBrk="0" hangingPunct="0">
                  <a:defRPr/>
                </a:pPr>
                <a:r>
                  <a:rPr lang="en-US" altLang="zh-TW" sz="700" b="0">
                    <a:solidFill>
                      <a:srgbClr val="000000"/>
                    </a:solidFill>
                    <a:latin typeface="Calibri"/>
                    <a:ea typeface="DFKaiShu-GB5"/>
                    <a:cs typeface="Calibri" pitchFamily="34" charset="0"/>
                  </a:rPr>
                  <a:t>March 2023</a:t>
                </a:r>
              </a:p>
            </p:txBody>
          </p:sp>
          <p:pic>
            <p:nvPicPr>
              <p:cNvPr id="177" name="Picture 176" descr="Icon&#10;&#10;Description automatically generated">
                <a:extLst>
                  <a:ext uri="{FF2B5EF4-FFF2-40B4-BE49-F238E27FC236}">
                    <a16:creationId xmlns:a16="http://schemas.microsoft.com/office/drawing/2014/main" id="{025645CC-3B1F-D53F-8672-70BA5169EE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7544" y="1515350"/>
                <a:ext cx="595375" cy="390467"/>
              </a:xfrm>
              <a:prstGeom prst="rect">
                <a:avLst/>
              </a:prstGeom>
            </p:spPr>
          </p:pic>
        </p:grpSp>
        <p:grpSp>
          <p:nvGrpSpPr>
            <p:cNvPr id="178" name="Group 177">
              <a:extLst>
                <a:ext uri="{FF2B5EF4-FFF2-40B4-BE49-F238E27FC236}">
                  <a16:creationId xmlns:a16="http://schemas.microsoft.com/office/drawing/2014/main" id="{89496EB7-1FEF-4E18-AE1D-EC81A4497B2C}"/>
                </a:ext>
              </a:extLst>
            </p:cNvPr>
            <p:cNvGrpSpPr/>
            <p:nvPr/>
          </p:nvGrpSpPr>
          <p:grpSpPr>
            <a:xfrm>
              <a:off x="5997797" y="1437133"/>
              <a:ext cx="914400" cy="1691640"/>
              <a:chOff x="1645392" y="1426108"/>
              <a:chExt cx="914400" cy="1691640"/>
            </a:xfrm>
          </p:grpSpPr>
          <p:sp>
            <p:nvSpPr>
              <p:cNvPr id="179" name="Rectangle 406">
                <a:extLst>
                  <a:ext uri="{FF2B5EF4-FFF2-40B4-BE49-F238E27FC236}">
                    <a16:creationId xmlns:a16="http://schemas.microsoft.com/office/drawing/2014/main" id="{99C556C5-60AE-ECEF-011F-3FD9D88C7F52}"/>
                  </a:ext>
                </a:extLst>
              </p:cNvPr>
              <p:cNvSpPr>
                <a:spLocks noChangeArrowheads="1"/>
              </p:cNvSpPr>
              <p:nvPr/>
            </p:nvSpPr>
            <p:spPr bwMode="auto">
              <a:xfrm>
                <a:off x="1645392" y="1426108"/>
                <a:ext cx="914400" cy="169164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kern="0">
                  <a:solidFill>
                    <a:prstClr val="black"/>
                  </a:solidFill>
                  <a:latin typeface="Arial"/>
                  <a:cs typeface="Arial" panose="020B0604020202020204" pitchFamily="34" charset="0"/>
                </a:endParaRPr>
              </a:p>
            </p:txBody>
          </p:sp>
          <p:sp>
            <p:nvSpPr>
              <p:cNvPr id="180" name="Rectangle 408">
                <a:extLst>
                  <a:ext uri="{FF2B5EF4-FFF2-40B4-BE49-F238E27FC236}">
                    <a16:creationId xmlns:a16="http://schemas.microsoft.com/office/drawing/2014/main" id="{36C710E5-2018-8600-F9BC-BC822A641BA3}"/>
                  </a:ext>
                </a:extLst>
              </p:cNvPr>
              <p:cNvSpPr>
                <a:spLocks noChangeArrowheads="1"/>
              </p:cNvSpPr>
              <p:nvPr/>
            </p:nvSpPr>
            <p:spPr bwMode="auto">
              <a:xfrm>
                <a:off x="1645392" y="2486946"/>
                <a:ext cx="914400" cy="183961"/>
              </a:xfrm>
              <a:prstGeom prst="rect">
                <a:avLst/>
              </a:prstGeom>
              <a:noFill/>
              <a:ln w="9525" algn="ctr">
                <a:noFill/>
                <a:miter lim="800000"/>
                <a:headEnd/>
                <a:tailEnd/>
              </a:ln>
            </p:spPr>
            <p:txBody>
              <a:bodyPr wrap="square" lIns="0" tIns="0" rIns="0" bIns="0" anchor="ctr">
                <a:spAutoFit/>
              </a:bodyPr>
              <a:lstStyle/>
              <a:p>
                <a:pPr algn="ctr" eaLnBrk="0" hangingPunct="0">
                  <a:lnSpc>
                    <a:spcPct val="85000"/>
                  </a:lnSpc>
                  <a:spcBef>
                    <a:spcPts val="0"/>
                  </a:spcBef>
                  <a:defRPr/>
                </a:pPr>
                <a:r>
                  <a:rPr lang="en-US" altLang="zh-CN" sz="700" b="0">
                    <a:solidFill>
                      <a:srgbClr val="000000"/>
                    </a:solidFill>
                    <a:latin typeface="Calibri"/>
                    <a:ea typeface="DFKaiShu-GB5"/>
                    <a:cs typeface="DFPKaiShu-GB5" panose="03000500000000000000" pitchFamily="66" charset="-128"/>
                  </a:rPr>
                  <a:t>Financial Advisor</a:t>
                </a:r>
                <a:r>
                  <a:rPr lang="en-US" altLang="zh-TW" sz="700">
                    <a:solidFill>
                      <a:srgbClr val="000000"/>
                    </a:solidFill>
                    <a:latin typeface="Calibri"/>
                    <a:ea typeface="DFKaiShu-GB5"/>
                    <a:cs typeface="Calibri" pitchFamily="34" charset="0"/>
                  </a:rPr>
                  <a:t> and </a:t>
                </a:r>
                <a:br>
                  <a:rPr lang="en-US" altLang="zh-TW" sz="700">
                    <a:solidFill>
                      <a:srgbClr val="000000"/>
                    </a:solidFill>
                    <a:latin typeface="Calibri"/>
                    <a:ea typeface="DFKaiShu-GB5"/>
                    <a:cs typeface="Calibri" pitchFamily="34" charset="0"/>
                  </a:rPr>
                </a:br>
                <a:r>
                  <a:rPr lang="en-US" altLang="zh-TW" sz="700">
                    <a:solidFill>
                      <a:srgbClr val="000000"/>
                    </a:solidFill>
                    <a:latin typeface="Calibri"/>
                    <a:ea typeface="DFKaiShu-GB5"/>
                    <a:cs typeface="Calibri" pitchFamily="34" charset="0"/>
                  </a:rPr>
                  <a:t>Joint </a:t>
                </a:r>
                <a:r>
                  <a:rPr lang="en-US" altLang="zh-TW" sz="700" b="0">
                    <a:solidFill>
                      <a:srgbClr val="000000"/>
                    </a:solidFill>
                    <a:latin typeface="Calibri"/>
                    <a:ea typeface="DFKaiShu-GB5"/>
                    <a:cs typeface="Calibri" pitchFamily="34" charset="0"/>
                  </a:rPr>
                  <a:t>Underwriter</a:t>
                </a:r>
              </a:p>
            </p:txBody>
          </p:sp>
          <p:sp>
            <p:nvSpPr>
              <p:cNvPr id="181" name="Rectangle 409">
                <a:extLst>
                  <a:ext uri="{FF2B5EF4-FFF2-40B4-BE49-F238E27FC236}">
                    <a16:creationId xmlns:a16="http://schemas.microsoft.com/office/drawing/2014/main" id="{D0911746-57F0-1237-2BB3-6B5BACD586F2}"/>
                  </a:ext>
                </a:extLst>
              </p:cNvPr>
              <p:cNvSpPr>
                <a:spLocks noChangeArrowheads="1"/>
              </p:cNvSpPr>
              <p:nvPr/>
            </p:nvSpPr>
            <p:spPr bwMode="auto">
              <a:xfrm>
                <a:off x="1645392" y="2005536"/>
                <a:ext cx="914400" cy="215444"/>
              </a:xfrm>
              <a:prstGeom prst="rect">
                <a:avLst/>
              </a:prstGeom>
              <a:noFill/>
              <a:ln w="9525">
                <a:noFill/>
                <a:miter lim="800000"/>
                <a:headEnd/>
                <a:tailEnd/>
              </a:ln>
            </p:spPr>
            <p:txBody>
              <a:bodyPr lIns="0" tIns="0" rIns="0" bIns="0" anchor="ctr">
                <a:spAutoFit/>
              </a:bodyPr>
              <a:lstStyle/>
              <a:p>
                <a:pPr algn="ctr" eaLnBrk="0" hangingPunct="0">
                  <a:spcBef>
                    <a:spcPts val="0"/>
                  </a:spcBef>
                  <a:defRPr/>
                </a:pPr>
                <a:r>
                  <a:rPr lang="en-US" altLang="zh-TW" sz="700" b="0">
                    <a:solidFill>
                      <a:srgbClr val="000000"/>
                    </a:solidFill>
                    <a:latin typeface="Calibri"/>
                    <a:ea typeface="DFKaiShu-GB5"/>
                    <a:cs typeface="Calibri" pitchFamily="34" charset="0"/>
                  </a:rPr>
                  <a:t>US$</a:t>
                </a:r>
                <a:r>
                  <a:rPr lang="en-US" altLang="zh-TW" sz="700">
                    <a:solidFill>
                      <a:srgbClr val="000000"/>
                    </a:solidFill>
                    <a:latin typeface="Calibri"/>
                    <a:ea typeface="DFKaiShu-GB5"/>
                    <a:cs typeface="Calibri" pitchFamily="34" charset="0"/>
                  </a:rPr>
                  <a:t>1.06</a:t>
                </a:r>
                <a:r>
                  <a:rPr lang="en-US" altLang="zh-TW" sz="700" b="0">
                    <a:solidFill>
                      <a:srgbClr val="000000"/>
                    </a:solidFill>
                    <a:latin typeface="Calibri"/>
                    <a:ea typeface="DFKaiShu-GB5"/>
                    <a:cs typeface="Calibri" pitchFamily="34" charset="0"/>
                  </a:rPr>
                  <a:t>b</a:t>
                </a:r>
              </a:p>
              <a:p>
                <a:pPr algn="ctr" eaLnBrk="0" hangingPunct="0">
                  <a:spcBef>
                    <a:spcPts val="0"/>
                  </a:spcBef>
                  <a:defRPr/>
                </a:pPr>
                <a:r>
                  <a:rPr lang="en-US" altLang="zh-TW" sz="700" b="0">
                    <a:solidFill>
                      <a:srgbClr val="000000"/>
                    </a:solidFill>
                    <a:latin typeface="Calibri"/>
                    <a:ea typeface="DFKaiShu-GB5"/>
                    <a:cs typeface="Calibri" pitchFamily="34" charset="0"/>
                  </a:rPr>
                  <a:t>Rights </a:t>
                </a:r>
                <a:r>
                  <a:rPr lang="en-US" altLang="zh-TW" sz="700">
                    <a:solidFill>
                      <a:srgbClr val="000000"/>
                    </a:solidFill>
                    <a:latin typeface="Calibri"/>
                    <a:ea typeface="DFKaiShu-GB5"/>
                    <a:cs typeface="Calibri" pitchFamily="34" charset="0"/>
                  </a:rPr>
                  <a:t>Issue</a:t>
                </a:r>
                <a:endParaRPr lang="en-US" altLang="zh-TW" sz="700" b="0">
                  <a:solidFill>
                    <a:srgbClr val="000000"/>
                  </a:solidFill>
                  <a:latin typeface="Calibri"/>
                  <a:ea typeface="DFKaiShu-GB5"/>
                  <a:cs typeface="Calibri" pitchFamily="34" charset="0"/>
                </a:endParaRPr>
              </a:p>
            </p:txBody>
          </p:sp>
          <p:sp>
            <p:nvSpPr>
              <p:cNvPr id="182" name="Rectangle 412">
                <a:extLst>
                  <a:ext uri="{FF2B5EF4-FFF2-40B4-BE49-F238E27FC236}">
                    <a16:creationId xmlns:a16="http://schemas.microsoft.com/office/drawing/2014/main" id="{ADC78914-A543-7B10-807F-0F16F51F7441}"/>
                  </a:ext>
                </a:extLst>
              </p:cNvPr>
              <p:cNvSpPr>
                <a:spLocks noChangeArrowheads="1"/>
              </p:cNvSpPr>
              <p:nvPr/>
            </p:nvSpPr>
            <p:spPr bwMode="auto">
              <a:xfrm>
                <a:off x="1919048" y="2949164"/>
                <a:ext cx="367087" cy="107722"/>
              </a:xfrm>
              <a:prstGeom prst="rect">
                <a:avLst/>
              </a:prstGeom>
              <a:noFill/>
              <a:ln w="9525">
                <a:noFill/>
                <a:miter lim="800000"/>
                <a:headEnd/>
                <a:tailEnd/>
              </a:ln>
            </p:spPr>
            <p:txBody>
              <a:bodyPr wrap="none" lIns="0" tIns="0" rIns="0" bIns="0" anchor="ctr">
                <a:spAutoFit/>
              </a:bodyPr>
              <a:lstStyle/>
              <a:p>
                <a:pPr algn="ctr" eaLnBrk="0" hangingPunct="0">
                  <a:defRPr/>
                </a:pPr>
                <a:r>
                  <a:rPr lang="en-US" altLang="zh-TW" sz="700" b="0">
                    <a:solidFill>
                      <a:srgbClr val="000000"/>
                    </a:solidFill>
                    <a:latin typeface="Calibri"/>
                    <a:ea typeface="DFKaiShu-GB5"/>
                    <a:cs typeface="Calibri" pitchFamily="34" charset="0"/>
                  </a:rPr>
                  <a:t>June 2023</a:t>
                </a:r>
              </a:p>
            </p:txBody>
          </p:sp>
          <p:pic>
            <p:nvPicPr>
              <p:cNvPr id="183" name="Picture 182" descr="Logo, company name&#10;&#10;Description automatically generated">
                <a:extLst>
                  <a:ext uri="{FF2B5EF4-FFF2-40B4-BE49-F238E27FC236}">
                    <a16:creationId xmlns:a16="http://schemas.microsoft.com/office/drawing/2014/main" id="{CA58E134-3F70-F91C-C53B-8A25768E829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5575" b="20375"/>
              <a:stretch/>
            </p:blipFill>
            <p:spPr>
              <a:xfrm>
                <a:off x="1736832" y="1571678"/>
                <a:ext cx="731520" cy="219369"/>
              </a:xfrm>
              <a:prstGeom prst="rect">
                <a:avLst/>
              </a:prstGeom>
            </p:spPr>
          </p:pic>
        </p:grpSp>
        <p:grpSp>
          <p:nvGrpSpPr>
            <p:cNvPr id="184" name="Group 183">
              <a:extLst>
                <a:ext uri="{FF2B5EF4-FFF2-40B4-BE49-F238E27FC236}">
                  <a16:creationId xmlns:a16="http://schemas.microsoft.com/office/drawing/2014/main" id="{FB2127E6-6EE4-37A3-A1DD-741A3F3E239C}"/>
                </a:ext>
              </a:extLst>
            </p:cNvPr>
            <p:cNvGrpSpPr/>
            <p:nvPr/>
          </p:nvGrpSpPr>
          <p:grpSpPr>
            <a:xfrm>
              <a:off x="5012071" y="1437133"/>
              <a:ext cx="914400" cy="1691640"/>
              <a:chOff x="672753" y="1426108"/>
              <a:chExt cx="914400" cy="1691640"/>
            </a:xfrm>
          </p:grpSpPr>
          <p:sp>
            <p:nvSpPr>
              <p:cNvPr id="185" name="Rectangle 406">
                <a:extLst>
                  <a:ext uri="{FF2B5EF4-FFF2-40B4-BE49-F238E27FC236}">
                    <a16:creationId xmlns:a16="http://schemas.microsoft.com/office/drawing/2014/main" id="{B0DFA189-A67F-FC76-278E-77BD51CDAAE5}"/>
                  </a:ext>
                </a:extLst>
              </p:cNvPr>
              <p:cNvSpPr>
                <a:spLocks noChangeArrowheads="1"/>
              </p:cNvSpPr>
              <p:nvPr/>
            </p:nvSpPr>
            <p:spPr bwMode="auto">
              <a:xfrm>
                <a:off x="672753" y="1426108"/>
                <a:ext cx="914400" cy="169164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700" kern="0">
                  <a:solidFill>
                    <a:prstClr val="black"/>
                  </a:solidFill>
                  <a:latin typeface="Arial"/>
                  <a:cs typeface="Arial" panose="020B0604020202020204" pitchFamily="34" charset="0"/>
                </a:endParaRPr>
              </a:p>
            </p:txBody>
          </p:sp>
          <p:sp>
            <p:nvSpPr>
              <p:cNvPr id="186" name="Rectangle 408">
                <a:extLst>
                  <a:ext uri="{FF2B5EF4-FFF2-40B4-BE49-F238E27FC236}">
                    <a16:creationId xmlns:a16="http://schemas.microsoft.com/office/drawing/2014/main" id="{2AA3A32C-89F0-AD23-967C-C907DFC6AD6B}"/>
                  </a:ext>
                </a:extLst>
              </p:cNvPr>
              <p:cNvSpPr>
                <a:spLocks noChangeArrowheads="1"/>
              </p:cNvSpPr>
              <p:nvPr/>
            </p:nvSpPr>
            <p:spPr bwMode="auto">
              <a:xfrm>
                <a:off x="672753" y="2441164"/>
                <a:ext cx="914400" cy="275525"/>
              </a:xfrm>
              <a:prstGeom prst="rect">
                <a:avLst/>
              </a:prstGeom>
              <a:noFill/>
              <a:ln w="9525" algn="ctr">
                <a:noFill/>
                <a:miter lim="800000"/>
                <a:headEnd/>
                <a:tailEnd/>
              </a:ln>
            </p:spPr>
            <p:txBody>
              <a:bodyPr wrap="square" lIns="0" tIns="0" rIns="0" bIns="0" anchor="ctr">
                <a:spAutoFit/>
              </a:bodyPr>
              <a:lstStyle/>
              <a:p>
                <a:pPr algn="ctr" eaLnBrk="0" hangingPunct="0">
                  <a:lnSpc>
                    <a:spcPct val="85000"/>
                  </a:lnSpc>
                  <a:spcBef>
                    <a:spcPts val="0"/>
                  </a:spcBef>
                  <a:defRPr/>
                </a:pPr>
                <a:r>
                  <a:rPr lang="en-US" altLang="zh-CN" sz="700" b="0">
                    <a:solidFill>
                      <a:srgbClr val="000000"/>
                    </a:solidFill>
                    <a:latin typeface="Calibri"/>
                    <a:ea typeface="DFKaiShu-GB5"/>
                    <a:cs typeface="DFPKaiShu-GB5" panose="03000500000000000000" pitchFamily="66" charset="-128"/>
                  </a:rPr>
                  <a:t>Joint Global Coordinator, Joint Bookrunner and Underwriter</a:t>
                </a:r>
              </a:p>
            </p:txBody>
          </p:sp>
          <p:sp>
            <p:nvSpPr>
              <p:cNvPr id="187" name="Rectangle 409">
                <a:extLst>
                  <a:ext uri="{FF2B5EF4-FFF2-40B4-BE49-F238E27FC236}">
                    <a16:creationId xmlns:a16="http://schemas.microsoft.com/office/drawing/2014/main" id="{BAF114D5-6453-3349-F87F-9E2E35D90B8F}"/>
                  </a:ext>
                </a:extLst>
              </p:cNvPr>
              <p:cNvSpPr>
                <a:spLocks noChangeArrowheads="1"/>
              </p:cNvSpPr>
              <p:nvPr/>
            </p:nvSpPr>
            <p:spPr bwMode="auto">
              <a:xfrm>
                <a:off x="672753" y="2005536"/>
                <a:ext cx="914400" cy="215444"/>
              </a:xfrm>
              <a:prstGeom prst="rect">
                <a:avLst/>
              </a:prstGeom>
              <a:noFill/>
              <a:ln w="9525">
                <a:noFill/>
                <a:miter lim="800000"/>
                <a:headEnd/>
                <a:tailEnd/>
              </a:ln>
            </p:spPr>
            <p:txBody>
              <a:bodyPr lIns="0" tIns="0" rIns="0" bIns="0" anchor="ctr">
                <a:spAutoFit/>
              </a:bodyPr>
              <a:lstStyle/>
              <a:p>
                <a:pPr algn="ctr" eaLnBrk="0" hangingPunct="0">
                  <a:spcBef>
                    <a:spcPts val="0"/>
                  </a:spcBef>
                  <a:defRPr/>
                </a:pPr>
                <a:r>
                  <a:rPr lang="en-US" altLang="zh-TW" sz="700" b="0">
                    <a:solidFill>
                      <a:srgbClr val="000000"/>
                    </a:solidFill>
                    <a:latin typeface="Calibri"/>
                    <a:ea typeface="DFKaiShu-GB5"/>
                    <a:cs typeface="Calibri" pitchFamily="34" charset="0"/>
                  </a:rPr>
                  <a:t>US$854m</a:t>
                </a:r>
              </a:p>
              <a:p>
                <a:pPr algn="ctr" eaLnBrk="0" hangingPunct="0">
                  <a:spcBef>
                    <a:spcPts val="0"/>
                  </a:spcBef>
                  <a:defRPr/>
                </a:pPr>
                <a:r>
                  <a:rPr lang="en-US" altLang="zh-TW" sz="700" b="0">
                    <a:solidFill>
                      <a:srgbClr val="000000"/>
                    </a:solidFill>
                    <a:latin typeface="Calibri"/>
                    <a:ea typeface="DFKaiShu-GB5"/>
                    <a:cs typeface="Calibri" pitchFamily="34" charset="0"/>
                  </a:rPr>
                  <a:t>Rights Issue</a:t>
                </a:r>
              </a:p>
            </p:txBody>
          </p:sp>
          <p:sp>
            <p:nvSpPr>
              <p:cNvPr id="188" name="Rectangle 412">
                <a:extLst>
                  <a:ext uri="{FF2B5EF4-FFF2-40B4-BE49-F238E27FC236}">
                    <a16:creationId xmlns:a16="http://schemas.microsoft.com/office/drawing/2014/main" id="{C63E5FD4-8383-1975-45BE-7A45E8A4633B}"/>
                  </a:ext>
                </a:extLst>
              </p:cNvPr>
              <p:cNvSpPr>
                <a:spLocks noChangeArrowheads="1"/>
              </p:cNvSpPr>
              <p:nvPr/>
            </p:nvSpPr>
            <p:spPr bwMode="auto">
              <a:xfrm>
                <a:off x="814162" y="2949164"/>
                <a:ext cx="631583" cy="107722"/>
              </a:xfrm>
              <a:prstGeom prst="rect">
                <a:avLst/>
              </a:prstGeom>
              <a:noFill/>
              <a:ln w="9525">
                <a:noFill/>
                <a:miter lim="800000"/>
                <a:headEnd/>
                <a:tailEnd/>
              </a:ln>
            </p:spPr>
            <p:txBody>
              <a:bodyPr wrap="none" lIns="0" tIns="0" rIns="0" bIns="0" anchor="ctr">
                <a:spAutoFit/>
              </a:bodyPr>
              <a:lstStyle/>
              <a:p>
                <a:pPr algn="ctr" eaLnBrk="0" hangingPunct="0">
                  <a:defRPr/>
                </a:pPr>
                <a:r>
                  <a:rPr lang="en-US" altLang="zh-TW" sz="700" b="0">
                    <a:solidFill>
                      <a:srgbClr val="000000"/>
                    </a:solidFill>
                    <a:latin typeface="Calibri"/>
                    <a:ea typeface="DFKaiShu-GB5"/>
                    <a:cs typeface="Calibri" pitchFamily="34" charset="0"/>
                  </a:rPr>
                  <a:t>November 2023*</a:t>
                </a:r>
              </a:p>
            </p:txBody>
          </p:sp>
          <p:pic>
            <p:nvPicPr>
              <p:cNvPr id="189" name="Picture 188">
                <a:extLst>
                  <a:ext uri="{FF2B5EF4-FFF2-40B4-BE49-F238E27FC236}">
                    <a16:creationId xmlns:a16="http://schemas.microsoft.com/office/drawing/2014/main" id="{028309DA-66AA-1516-280C-1D81975F4999}"/>
                  </a:ext>
                </a:extLst>
              </p:cNvPr>
              <p:cNvPicPr>
                <a:picLocks noChangeAspect="1"/>
              </p:cNvPicPr>
              <p:nvPr/>
            </p:nvPicPr>
            <p:blipFill>
              <a:blip r:embed="rId5"/>
              <a:stretch>
                <a:fillRect/>
              </a:stretch>
            </p:blipFill>
            <p:spPr>
              <a:xfrm>
                <a:off x="726684" y="1593832"/>
                <a:ext cx="806538" cy="183226"/>
              </a:xfrm>
              <a:prstGeom prst="rect">
                <a:avLst/>
              </a:prstGeom>
            </p:spPr>
          </p:pic>
        </p:grpSp>
        <p:grpSp>
          <p:nvGrpSpPr>
            <p:cNvPr id="11" name="Group 10">
              <a:extLst>
                <a:ext uri="{FF2B5EF4-FFF2-40B4-BE49-F238E27FC236}">
                  <a16:creationId xmlns:a16="http://schemas.microsoft.com/office/drawing/2014/main" id="{30296403-FC3B-0108-4E71-38CDA1959FF3}"/>
                </a:ext>
              </a:extLst>
            </p:cNvPr>
            <p:cNvGrpSpPr/>
            <p:nvPr/>
          </p:nvGrpSpPr>
          <p:grpSpPr>
            <a:xfrm>
              <a:off x="4006849" y="1437134"/>
              <a:ext cx="933897" cy="1689077"/>
              <a:chOff x="1642414" y="1437133"/>
              <a:chExt cx="933897" cy="1689077"/>
            </a:xfrm>
          </p:grpSpPr>
          <p:sp>
            <p:nvSpPr>
              <p:cNvPr id="192" name="Rectangle 406">
                <a:extLst>
                  <a:ext uri="{FF2B5EF4-FFF2-40B4-BE49-F238E27FC236}">
                    <a16:creationId xmlns:a16="http://schemas.microsoft.com/office/drawing/2014/main" id="{AC13DEBB-98E3-DC46-BF82-58CEE79DDEC2}"/>
                  </a:ext>
                </a:extLst>
              </p:cNvPr>
              <p:cNvSpPr>
                <a:spLocks noChangeArrowheads="1"/>
              </p:cNvSpPr>
              <p:nvPr/>
            </p:nvSpPr>
            <p:spPr bwMode="auto">
              <a:xfrm>
                <a:off x="1642414" y="1437133"/>
                <a:ext cx="924688"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Arial"/>
                  <a:cs typeface="Arial" panose="020B0604020202020204" pitchFamily="34" charset="0"/>
                </a:endParaRPr>
              </a:p>
            </p:txBody>
          </p:sp>
          <p:sp>
            <p:nvSpPr>
              <p:cNvPr id="193" name="Rectangle 408">
                <a:extLst>
                  <a:ext uri="{FF2B5EF4-FFF2-40B4-BE49-F238E27FC236}">
                    <a16:creationId xmlns:a16="http://schemas.microsoft.com/office/drawing/2014/main" id="{8DA2B721-FB41-2622-F2BB-FB49A1CCD266}"/>
                  </a:ext>
                </a:extLst>
              </p:cNvPr>
              <p:cNvSpPr>
                <a:spLocks noChangeArrowheads="1"/>
              </p:cNvSpPr>
              <p:nvPr/>
            </p:nvSpPr>
            <p:spPr bwMode="auto">
              <a:xfrm>
                <a:off x="1652767" y="2555776"/>
                <a:ext cx="923544" cy="108043"/>
              </a:xfrm>
              <a:prstGeom prst="rect">
                <a:avLst/>
              </a:prstGeom>
              <a:noFill/>
              <a:ln w="9525" algn="ctr">
                <a:noFill/>
                <a:miter lim="800000"/>
                <a:headEnd/>
                <a:tailEnd/>
              </a:ln>
            </p:spPr>
            <p:txBody>
              <a:bodyPr wrap="square" lIns="0" tIns="0" rIns="0" bIns="0" anchor="ctr">
                <a:noAutofit/>
              </a:bodyPr>
              <a:lstStyle/>
              <a:p>
                <a:pPr algn="ctr" fontAlgn="auto">
                  <a:lnSpc>
                    <a:spcPct val="85000"/>
                  </a:lnSpc>
                  <a:spcAft>
                    <a:spcPts val="0"/>
                  </a:spcAft>
                  <a:defRPr/>
                </a:pPr>
                <a:r>
                  <a:rPr lang="en-US" altLang="zh-TW" sz="700" b="0">
                    <a:solidFill>
                      <a:srgbClr val="000000"/>
                    </a:solidFill>
                    <a:latin typeface="Calibri"/>
                    <a:ea typeface="DFKaiShu-GB5"/>
                    <a:cs typeface="DFPKaiShu-GB5" panose="03000500000000000000" pitchFamily="66" charset="-128"/>
                  </a:rPr>
                  <a:t>Financial Advisor and Placing Agent</a:t>
                </a:r>
              </a:p>
            </p:txBody>
          </p:sp>
          <p:sp>
            <p:nvSpPr>
              <p:cNvPr id="194" name="Rectangle 409">
                <a:extLst>
                  <a:ext uri="{FF2B5EF4-FFF2-40B4-BE49-F238E27FC236}">
                    <a16:creationId xmlns:a16="http://schemas.microsoft.com/office/drawing/2014/main" id="{51A0F3CA-F513-AD58-DAF9-B3A7449EBAC6}"/>
                  </a:ext>
                </a:extLst>
              </p:cNvPr>
              <p:cNvSpPr>
                <a:spLocks noChangeArrowheads="1"/>
              </p:cNvSpPr>
              <p:nvPr/>
            </p:nvSpPr>
            <p:spPr bwMode="auto">
              <a:xfrm>
                <a:off x="1649229" y="1987982"/>
                <a:ext cx="923544" cy="215444"/>
              </a:xfrm>
              <a:prstGeom prst="rect">
                <a:avLst/>
              </a:prstGeom>
              <a:noFill/>
              <a:ln w="9525">
                <a:noFill/>
                <a:miter lim="800000"/>
                <a:headEnd/>
                <a:tailEnd/>
              </a:ln>
            </p:spPr>
            <p:txBody>
              <a:bodyPr lIns="0" tIns="0" rIns="0" bIns="0" anchor="ctr">
                <a:spAutoFit/>
              </a:bodyPr>
              <a:lstStyle/>
              <a:p>
                <a:pPr algn="ctr" fontAlgn="auto">
                  <a:spcAft>
                    <a:spcPts val="0"/>
                  </a:spcAft>
                  <a:defRPr/>
                </a:pPr>
                <a:r>
                  <a:rPr lang="en-US" altLang="zh-CN" sz="700" b="0">
                    <a:solidFill>
                      <a:srgbClr val="000000"/>
                    </a:solidFill>
                    <a:latin typeface="Calibri"/>
                    <a:ea typeface="DFKaiShu-GB5"/>
                    <a:cs typeface="DFPKaiShu-GB5" panose="03000500000000000000" pitchFamily="66" charset="-128"/>
                  </a:rPr>
                  <a:t>Up to US$28m</a:t>
                </a:r>
              </a:p>
              <a:p>
                <a:pPr algn="ctr" fontAlgn="auto">
                  <a:spcAft>
                    <a:spcPts val="0"/>
                  </a:spcAft>
                  <a:defRPr/>
                </a:pPr>
                <a:r>
                  <a:rPr lang="en-US" altLang="zh-CN" sz="700" b="0">
                    <a:solidFill>
                      <a:srgbClr val="000000"/>
                    </a:solidFill>
                    <a:latin typeface="Calibri"/>
                    <a:ea typeface="DFKaiShu-GB5"/>
                    <a:cs typeface="DFPKaiShu-GB5" panose="03000500000000000000" pitchFamily="66" charset="-128"/>
                  </a:rPr>
                  <a:t>Placement</a:t>
                </a:r>
              </a:p>
            </p:txBody>
          </p:sp>
          <p:sp>
            <p:nvSpPr>
              <p:cNvPr id="195" name="Rectangle 412">
                <a:extLst>
                  <a:ext uri="{FF2B5EF4-FFF2-40B4-BE49-F238E27FC236}">
                    <a16:creationId xmlns:a16="http://schemas.microsoft.com/office/drawing/2014/main" id="{3B92F0E8-EC1A-8504-35A8-0E0B08240CF7}"/>
                  </a:ext>
                </a:extLst>
              </p:cNvPr>
              <p:cNvSpPr>
                <a:spLocks noChangeArrowheads="1"/>
              </p:cNvSpPr>
              <p:nvPr/>
            </p:nvSpPr>
            <p:spPr bwMode="auto">
              <a:xfrm>
                <a:off x="1652767" y="2951872"/>
                <a:ext cx="923544" cy="123591"/>
              </a:xfrm>
              <a:prstGeom prst="rect">
                <a:avLst/>
              </a:prstGeom>
              <a:noFill/>
              <a:ln w="9525">
                <a:noFill/>
                <a:miter lim="800000"/>
                <a:headEnd/>
                <a:tailEnd/>
              </a:ln>
            </p:spPr>
            <p:txBody>
              <a:bodyPr wrap="none" lIns="0" tIns="0" rIns="0" bIns="0" anchor="ctr">
                <a:noAutofit/>
              </a:bodyPr>
              <a:lstStyle/>
              <a:p>
                <a:pPr algn="ctr" fontAlgn="auto">
                  <a:spcBef>
                    <a:spcPts val="0"/>
                  </a:spcBef>
                  <a:spcAft>
                    <a:spcPts val="0"/>
                  </a:spcAft>
                  <a:defRPr/>
                </a:pPr>
                <a:r>
                  <a:rPr lang="en-US" altLang="zh-TW" sz="700" b="0">
                    <a:solidFill>
                      <a:srgbClr val="000000"/>
                    </a:solidFill>
                    <a:latin typeface="Calibri"/>
                    <a:ea typeface="DFPKaiShu-GB5" panose="03000500000000000000" pitchFamily="66" charset="-128"/>
                    <a:cs typeface="DFPKaiShu-GB5" panose="03000500000000000000" pitchFamily="66" charset="-128"/>
                  </a:rPr>
                  <a:t>December 2024</a:t>
                </a:r>
                <a:endParaRPr lang="zh-TW" altLang="en-US" sz="700" b="0">
                  <a:solidFill>
                    <a:srgbClr val="000000"/>
                  </a:solidFill>
                  <a:latin typeface="Calibri"/>
                  <a:ea typeface="DFPKaiShu-GB5" panose="03000500000000000000" pitchFamily="66" charset="-128"/>
                  <a:cs typeface="DFPKaiShu-GB5" panose="03000500000000000000" pitchFamily="66" charset="-128"/>
                </a:endParaRPr>
              </a:p>
            </p:txBody>
          </p:sp>
          <p:pic>
            <p:nvPicPr>
              <p:cNvPr id="196" name="Picture 195">
                <a:extLst>
                  <a:ext uri="{FF2B5EF4-FFF2-40B4-BE49-F238E27FC236}">
                    <a16:creationId xmlns:a16="http://schemas.microsoft.com/office/drawing/2014/main" id="{657CEEB2-44F4-88D7-F56E-0D30B26C8AD1}"/>
                  </a:ext>
                </a:extLst>
              </p:cNvPr>
              <p:cNvPicPr>
                <a:picLocks noChangeAspect="1"/>
              </p:cNvPicPr>
              <p:nvPr/>
            </p:nvPicPr>
            <p:blipFill rotWithShape="1">
              <a:blip r:embed="rId6"/>
              <a:srcRect l="36744" r="39056" b="66854"/>
              <a:stretch/>
            </p:blipFill>
            <p:spPr>
              <a:xfrm>
                <a:off x="1809982" y="1579255"/>
                <a:ext cx="594185" cy="271665"/>
              </a:xfrm>
              <a:prstGeom prst="rect">
                <a:avLst/>
              </a:prstGeom>
            </p:spPr>
          </p:pic>
        </p:grpSp>
        <p:grpSp>
          <p:nvGrpSpPr>
            <p:cNvPr id="10" name="Group 9">
              <a:extLst>
                <a:ext uri="{FF2B5EF4-FFF2-40B4-BE49-F238E27FC236}">
                  <a16:creationId xmlns:a16="http://schemas.microsoft.com/office/drawing/2014/main" id="{9A538EA8-93E0-E0B9-D628-EAFBF18AE6C8}"/>
                </a:ext>
              </a:extLst>
            </p:cNvPr>
            <p:cNvGrpSpPr/>
            <p:nvPr/>
          </p:nvGrpSpPr>
          <p:grpSpPr>
            <a:xfrm>
              <a:off x="3010834" y="1437134"/>
              <a:ext cx="924688" cy="1689077"/>
              <a:chOff x="679002" y="1437133"/>
              <a:chExt cx="924688" cy="1689077"/>
            </a:xfrm>
          </p:grpSpPr>
          <p:sp>
            <p:nvSpPr>
              <p:cNvPr id="13" name="Rectangle 406">
                <a:extLst>
                  <a:ext uri="{FF2B5EF4-FFF2-40B4-BE49-F238E27FC236}">
                    <a16:creationId xmlns:a16="http://schemas.microsoft.com/office/drawing/2014/main" id="{9AFE0030-734E-6A74-7563-DEA002D8C1F3}"/>
                  </a:ext>
                </a:extLst>
              </p:cNvPr>
              <p:cNvSpPr>
                <a:spLocks noChangeArrowheads="1"/>
              </p:cNvSpPr>
              <p:nvPr/>
            </p:nvSpPr>
            <p:spPr bwMode="auto">
              <a:xfrm>
                <a:off x="679002" y="1437133"/>
                <a:ext cx="924688"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Arial"/>
                  <a:cs typeface="Arial" panose="020B0604020202020204" pitchFamily="34" charset="0"/>
                </a:endParaRPr>
              </a:p>
            </p:txBody>
          </p:sp>
          <p:sp>
            <p:nvSpPr>
              <p:cNvPr id="14" name="Rectangle 408">
                <a:extLst>
                  <a:ext uri="{FF2B5EF4-FFF2-40B4-BE49-F238E27FC236}">
                    <a16:creationId xmlns:a16="http://schemas.microsoft.com/office/drawing/2014/main" id="{6776C018-7F28-A918-F224-AEFBB3371697}"/>
                  </a:ext>
                </a:extLst>
              </p:cNvPr>
              <p:cNvSpPr>
                <a:spLocks noChangeArrowheads="1"/>
              </p:cNvSpPr>
              <p:nvPr/>
            </p:nvSpPr>
            <p:spPr bwMode="auto">
              <a:xfrm>
                <a:off x="679574" y="2555776"/>
                <a:ext cx="923544" cy="108043"/>
              </a:xfrm>
              <a:prstGeom prst="rect">
                <a:avLst/>
              </a:prstGeom>
              <a:noFill/>
              <a:ln w="9525" algn="ctr">
                <a:noFill/>
                <a:miter lim="800000"/>
                <a:headEnd/>
                <a:tailEnd/>
              </a:ln>
            </p:spPr>
            <p:txBody>
              <a:bodyPr wrap="square" lIns="0" tIns="0" rIns="0" bIns="0" anchor="ctr">
                <a:noAutofit/>
              </a:bodyPr>
              <a:lstStyle/>
              <a:p>
                <a:pPr algn="ctr" fontAlgn="auto">
                  <a:lnSpc>
                    <a:spcPct val="85000"/>
                  </a:lnSpc>
                  <a:spcAft>
                    <a:spcPts val="0"/>
                  </a:spcAft>
                  <a:defRPr/>
                </a:pPr>
                <a:r>
                  <a:rPr lang="en-US" altLang="zh-TW" sz="700" b="0">
                    <a:solidFill>
                      <a:srgbClr val="000000"/>
                    </a:solidFill>
                    <a:latin typeface="Calibri"/>
                    <a:ea typeface="DFKaiShu-GB5"/>
                    <a:cs typeface="DFPKaiShu-GB5" panose="03000500000000000000" pitchFamily="66" charset="-128"/>
                  </a:rPr>
                  <a:t>Sole Placement Agent and Sole Overall Coordinator</a:t>
                </a:r>
              </a:p>
            </p:txBody>
          </p:sp>
          <p:sp>
            <p:nvSpPr>
              <p:cNvPr id="15" name="Rectangle 409">
                <a:extLst>
                  <a:ext uri="{FF2B5EF4-FFF2-40B4-BE49-F238E27FC236}">
                    <a16:creationId xmlns:a16="http://schemas.microsoft.com/office/drawing/2014/main" id="{72DB00B0-5F66-F5C6-5E1C-8C46FC99A776}"/>
                  </a:ext>
                </a:extLst>
              </p:cNvPr>
              <p:cNvSpPr>
                <a:spLocks noChangeArrowheads="1"/>
              </p:cNvSpPr>
              <p:nvPr/>
            </p:nvSpPr>
            <p:spPr bwMode="auto">
              <a:xfrm>
                <a:off x="679574" y="1987982"/>
                <a:ext cx="923544" cy="215444"/>
              </a:xfrm>
              <a:prstGeom prst="rect">
                <a:avLst/>
              </a:prstGeom>
              <a:noFill/>
              <a:ln w="9525">
                <a:noFill/>
                <a:miter lim="800000"/>
                <a:headEnd/>
                <a:tailEnd/>
              </a:ln>
            </p:spPr>
            <p:txBody>
              <a:bodyPr lIns="0" tIns="0" rIns="0" bIns="0" anchor="ctr">
                <a:spAutoFit/>
              </a:bodyPr>
              <a:lstStyle/>
              <a:p>
                <a:pPr algn="ctr" fontAlgn="auto">
                  <a:spcAft>
                    <a:spcPts val="0"/>
                  </a:spcAft>
                  <a:defRPr/>
                </a:pPr>
                <a:r>
                  <a:rPr lang="en-US" altLang="zh-CN" sz="700" b="0">
                    <a:solidFill>
                      <a:srgbClr val="000000"/>
                    </a:solidFill>
                    <a:latin typeface="Calibri"/>
                    <a:ea typeface="DFKaiShu-GB5"/>
                    <a:cs typeface="DFPKaiShu-GB5" panose="03000500000000000000" pitchFamily="66" charset="-128"/>
                  </a:rPr>
                  <a:t>US$10m</a:t>
                </a:r>
              </a:p>
              <a:p>
                <a:pPr algn="ctr" fontAlgn="auto">
                  <a:spcAft>
                    <a:spcPts val="0"/>
                  </a:spcAft>
                  <a:defRPr/>
                </a:pPr>
                <a:r>
                  <a:rPr lang="en-US" altLang="zh-CN" sz="700" b="0">
                    <a:solidFill>
                      <a:srgbClr val="000000"/>
                    </a:solidFill>
                    <a:latin typeface="Calibri"/>
                    <a:ea typeface="DFKaiShu-GB5"/>
                    <a:cs typeface="DFPKaiShu-GB5" panose="03000500000000000000" pitchFamily="66" charset="-128"/>
                  </a:rPr>
                  <a:t>Placement</a:t>
                </a:r>
              </a:p>
            </p:txBody>
          </p:sp>
          <p:sp>
            <p:nvSpPr>
              <p:cNvPr id="16" name="Rectangle 412">
                <a:extLst>
                  <a:ext uri="{FF2B5EF4-FFF2-40B4-BE49-F238E27FC236}">
                    <a16:creationId xmlns:a16="http://schemas.microsoft.com/office/drawing/2014/main" id="{1061ED32-CA4E-F371-F3B5-A1389B8361E7}"/>
                  </a:ext>
                </a:extLst>
              </p:cNvPr>
              <p:cNvSpPr>
                <a:spLocks noChangeArrowheads="1"/>
              </p:cNvSpPr>
              <p:nvPr/>
            </p:nvSpPr>
            <p:spPr bwMode="auto">
              <a:xfrm>
                <a:off x="679574" y="2951872"/>
                <a:ext cx="923544" cy="123591"/>
              </a:xfrm>
              <a:prstGeom prst="rect">
                <a:avLst/>
              </a:prstGeom>
              <a:noFill/>
              <a:ln w="9525">
                <a:noFill/>
                <a:miter lim="800000"/>
                <a:headEnd/>
                <a:tailEnd/>
              </a:ln>
            </p:spPr>
            <p:txBody>
              <a:bodyPr wrap="none" lIns="0" tIns="0" rIns="0" bIns="0" anchor="ctr">
                <a:noAutofit/>
              </a:bodyPr>
              <a:lstStyle/>
              <a:p>
                <a:pPr algn="ctr" fontAlgn="auto">
                  <a:spcBef>
                    <a:spcPts val="0"/>
                  </a:spcBef>
                  <a:spcAft>
                    <a:spcPts val="0"/>
                  </a:spcAft>
                  <a:defRPr/>
                </a:pPr>
                <a:r>
                  <a:rPr lang="en-US" altLang="zh-TW" sz="700" b="0">
                    <a:solidFill>
                      <a:srgbClr val="000000"/>
                    </a:solidFill>
                    <a:latin typeface="Calibri"/>
                    <a:ea typeface="DFPKaiShu-GB5" panose="03000500000000000000" pitchFamily="66" charset="-128"/>
                    <a:cs typeface="DFPKaiShu-GB5" panose="03000500000000000000" pitchFamily="66" charset="-128"/>
                  </a:rPr>
                  <a:t>March 2025</a:t>
                </a:r>
                <a:endParaRPr lang="zh-TW" altLang="en-US" sz="700" b="0">
                  <a:solidFill>
                    <a:srgbClr val="000000"/>
                  </a:solidFill>
                  <a:latin typeface="Calibri"/>
                  <a:ea typeface="DFPKaiShu-GB5" panose="03000500000000000000" pitchFamily="66" charset="-128"/>
                  <a:cs typeface="DFPKaiShu-GB5" panose="03000500000000000000" pitchFamily="66" charset="-128"/>
                </a:endParaRPr>
              </a:p>
            </p:txBody>
          </p:sp>
          <p:pic>
            <p:nvPicPr>
              <p:cNvPr id="18" name="Picture 17">
                <a:extLst>
                  <a:ext uri="{FF2B5EF4-FFF2-40B4-BE49-F238E27FC236}">
                    <a16:creationId xmlns:a16="http://schemas.microsoft.com/office/drawing/2014/main" id="{D690EC3D-BE47-BDEF-BCFD-562D14C1C27D}"/>
                  </a:ext>
                </a:extLst>
              </p:cNvPr>
              <p:cNvPicPr>
                <a:picLocks noChangeAspect="1"/>
              </p:cNvPicPr>
              <p:nvPr/>
            </p:nvPicPr>
            <p:blipFill>
              <a:blip r:embed="rId7" cstate="print">
                <a:extLst>
                  <a:ext uri="{28A0092B-C50C-407E-A947-70E740481C1C}">
                    <a14:useLocalDpi xmlns:a14="http://schemas.microsoft.com/office/drawing/2010/main"/>
                  </a:ext>
                </a:extLst>
              </a:blip>
              <a:srcRect l="6044" t="14012" r="4286" b="40846"/>
              <a:stretch/>
            </p:blipFill>
            <p:spPr>
              <a:xfrm>
                <a:off x="737293" y="1633221"/>
                <a:ext cx="808106" cy="148135"/>
              </a:xfrm>
              <a:prstGeom prst="rect">
                <a:avLst/>
              </a:prstGeom>
            </p:spPr>
          </p:pic>
        </p:grpSp>
        <p:pic>
          <p:nvPicPr>
            <p:cNvPr id="1026" name="Picture 2" descr="Boyaa Interactive International Limited">
              <a:extLst>
                <a:ext uri="{FF2B5EF4-FFF2-40B4-BE49-F238E27FC236}">
                  <a16:creationId xmlns:a16="http://schemas.microsoft.com/office/drawing/2014/main" id="{F035AE2D-928B-617C-5C77-40BCE259602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28582" b="28878"/>
            <a:stretch/>
          </p:blipFill>
          <p:spPr bwMode="auto">
            <a:xfrm>
              <a:off x="2091625" y="1531763"/>
              <a:ext cx="739475" cy="316365"/>
            </a:xfrm>
            <a:prstGeom prst="rect">
              <a:avLst/>
            </a:prstGeom>
            <a:noFill/>
            <a:extLst>
              <a:ext uri="{909E8E84-426E-40DD-AFC4-6F175D3DCCD1}">
                <a14:hiddenFill xmlns:a14="http://schemas.microsoft.com/office/drawing/2010/main">
                  <a:solidFill>
                    <a:srgbClr val="FFFFFF"/>
                  </a:solidFill>
                </a14:hiddenFill>
              </a:ext>
            </a:extLst>
          </p:spPr>
        </p:pic>
        <p:grpSp>
          <p:nvGrpSpPr>
            <p:cNvPr id="103" name="Group 102">
              <a:extLst>
                <a:ext uri="{FF2B5EF4-FFF2-40B4-BE49-F238E27FC236}">
                  <a16:creationId xmlns:a16="http://schemas.microsoft.com/office/drawing/2014/main" id="{0BE0EBFD-DFAF-6397-6C28-3AA3327511AA}"/>
                </a:ext>
              </a:extLst>
            </p:cNvPr>
            <p:cNvGrpSpPr/>
            <p:nvPr/>
          </p:nvGrpSpPr>
          <p:grpSpPr>
            <a:xfrm>
              <a:off x="7970369" y="4017009"/>
              <a:ext cx="936768" cy="1689077"/>
              <a:chOff x="7589369" y="4017008"/>
              <a:chExt cx="936768" cy="1689077"/>
            </a:xfrm>
          </p:grpSpPr>
          <p:sp>
            <p:nvSpPr>
              <p:cNvPr id="26" name="Rectangle 406">
                <a:extLst>
                  <a:ext uri="{FF2B5EF4-FFF2-40B4-BE49-F238E27FC236}">
                    <a16:creationId xmlns:a16="http://schemas.microsoft.com/office/drawing/2014/main" id="{746341FE-2684-3FC9-87A9-B9138DB10F28}"/>
                  </a:ext>
                </a:extLst>
              </p:cNvPr>
              <p:cNvSpPr>
                <a:spLocks noChangeArrowheads="1"/>
              </p:cNvSpPr>
              <p:nvPr/>
            </p:nvSpPr>
            <p:spPr bwMode="auto">
              <a:xfrm>
                <a:off x="7591382" y="4017008"/>
                <a:ext cx="919519"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Calibri" panose="020F0502020204030204" pitchFamily="34" charset="0"/>
                  <a:cs typeface="Calibri" panose="020F0502020204030204" pitchFamily="34" charset="0"/>
                </a:endParaRPr>
              </a:p>
            </p:txBody>
          </p:sp>
          <p:sp>
            <p:nvSpPr>
              <p:cNvPr id="53" name="Rectangle 408">
                <a:extLst>
                  <a:ext uri="{FF2B5EF4-FFF2-40B4-BE49-F238E27FC236}">
                    <a16:creationId xmlns:a16="http://schemas.microsoft.com/office/drawing/2014/main" id="{C83721C1-BA74-4CBA-8EF9-9600A89E8275}"/>
                  </a:ext>
                </a:extLst>
              </p:cNvPr>
              <p:cNvSpPr>
                <a:spLocks noChangeArrowheads="1"/>
              </p:cNvSpPr>
              <p:nvPr/>
            </p:nvSpPr>
            <p:spPr bwMode="auto">
              <a:xfrm>
                <a:off x="7589369" y="5139630"/>
                <a:ext cx="923544" cy="108043"/>
              </a:xfrm>
              <a:prstGeom prst="rect">
                <a:avLst/>
              </a:prstGeom>
              <a:noFill/>
              <a:ln w="9525" algn="ctr">
                <a:noFill/>
                <a:miter lim="800000"/>
                <a:headEnd/>
                <a:tailEnd/>
              </a:ln>
            </p:spPr>
            <p:txBody>
              <a:bodyPr wrap="square" lIns="0" tIns="0" rIns="0" bIns="0" anchor="ctr">
                <a:noAutofit/>
              </a:bodyPr>
              <a:lstStyle/>
              <a:p>
                <a:pPr algn="ctr" fontAlgn="auto">
                  <a:lnSpc>
                    <a:spcPct val="85000"/>
                  </a:lnSpc>
                  <a:spcAft>
                    <a:spcPts val="0"/>
                  </a:spcAft>
                  <a:defRPr/>
                </a:pPr>
                <a:r>
                  <a:rPr lang="en-US" altLang="zh-TW" sz="700" b="0">
                    <a:solidFill>
                      <a:srgbClr val="000000"/>
                    </a:solidFill>
                    <a:latin typeface="Calibri"/>
                    <a:ea typeface="DFKaiShu-GB5"/>
                    <a:cs typeface="DFPKaiShu-GB5" panose="03000500000000000000" pitchFamily="66" charset="-128"/>
                  </a:rPr>
                  <a:t>Financial Advisor</a:t>
                </a:r>
              </a:p>
            </p:txBody>
          </p:sp>
          <p:sp>
            <p:nvSpPr>
              <p:cNvPr id="54" name="Rectangle 409">
                <a:extLst>
                  <a:ext uri="{FF2B5EF4-FFF2-40B4-BE49-F238E27FC236}">
                    <a16:creationId xmlns:a16="http://schemas.microsoft.com/office/drawing/2014/main" id="{31DD4634-9DB1-E9F2-FD73-F45E36EBAD13}"/>
                  </a:ext>
                </a:extLst>
              </p:cNvPr>
              <p:cNvSpPr>
                <a:spLocks noChangeArrowheads="1"/>
              </p:cNvSpPr>
              <p:nvPr/>
            </p:nvSpPr>
            <p:spPr bwMode="auto">
              <a:xfrm>
                <a:off x="7602593" y="4643120"/>
                <a:ext cx="923544" cy="215444"/>
              </a:xfrm>
              <a:prstGeom prst="rect">
                <a:avLst/>
              </a:prstGeom>
              <a:noFill/>
              <a:ln w="9525">
                <a:noFill/>
                <a:miter lim="800000"/>
                <a:headEnd/>
                <a:tailEnd/>
              </a:ln>
            </p:spPr>
            <p:txBody>
              <a:bodyPr lIns="0" tIns="0" rIns="0" bIns="0" anchor="ctr">
                <a:spAutoFit/>
              </a:bodyPr>
              <a:lstStyle/>
              <a:p>
                <a:pPr algn="ctr" fontAlgn="auto">
                  <a:spcAft>
                    <a:spcPts val="0"/>
                  </a:spcAft>
                  <a:defRPr/>
                </a:pPr>
                <a:r>
                  <a:rPr lang="en-US" altLang="zh-CN" sz="700">
                    <a:solidFill>
                      <a:srgbClr val="000000"/>
                    </a:solidFill>
                    <a:latin typeface="Calibri"/>
                    <a:ea typeface="DFKaiShu-GB5"/>
                    <a:cs typeface="DFPKaiShu-GB5" panose="03000500000000000000" pitchFamily="66" charset="-128"/>
                  </a:rPr>
                  <a:t>US$355m</a:t>
                </a:r>
              </a:p>
              <a:p>
                <a:pPr algn="ctr" fontAlgn="auto">
                  <a:spcAft>
                    <a:spcPts val="0"/>
                  </a:spcAft>
                  <a:defRPr/>
                </a:pPr>
                <a:r>
                  <a:rPr lang="en-US" altLang="zh-CN" sz="700">
                    <a:solidFill>
                      <a:srgbClr val="000000"/>
                    </a:solidFill>
                    <a:latin typeface="Calibri"/>
                    <a:ea typeface="DFKaiShu-GB5"/>
                    <a:cs typeface="DFPKaiShu-GB5" panose="03000500000000000000" pitchFamily="66" charset="-128"/>
                  </a:rPr>
                  <a:t>Acquisition</a:t>
                </a:r>
              </a:p>
            </p:txBody>
          </p:sp>
          <p:sp>
            <p:nvSpPr>
              <p:cNvPr id="55" name="Rectangle 412">
                <a:extLst>
                  <a:ext uri="{FF2B5EF4-FFF2-40B4-BE49-F238E27FC236}">
                    <a16:creationId xmlns:a16="http://schemas.microsoft.com/office/drawing/2014/main" id="{8CEFF43D-49E2-165E-AEF3-084305BF506D}"/>
                  </a:ext>
                </a:extLst>
              </p:cNvPr>
              <p:cNvSpPr>
                <a:spLocks noChangeArrowheads="1"/>
              </p:cNvSpPr>
              <p:nvPr/>
            </p:nvSpPr>
            <p:spPr bwMode="auto">
              <a:xfrm>
                <a:off x="7589369" y="5535726"/>
                <a:ext cx="923544" cy="123591"/>
              </a:xfrm>
              <a:prstGeom prst="rect">
                <a:avLst/>
              </a:prstGeom>
              <a:noFill/>
              <a:ln w="9525">
                <a:noFill/>
                <a:miter lim="800000"/>
                <a:headEnd/>
                <a:tailEnd/>
              </a:ln>
            </p:spPr>
            <p:txBody>
              <a:bodyPr wrap="none" lIns="0" tIns="0" rIns="0" bIns="0" anchor="ctr">
                <a:noAutofit/>
              </a:bodyPr>
              <a:lstStyle/>
              <a:p>
                <a:pPr lvl="0" algn="ctr">
                  <a:defRPr/>
                </a:pPr>
                <a:r>
                  <a:rPr lang="en-US" altLang="zh-TW" sz="700">
                    <a:solidFill>
                      <a:srgbClr val="000000"/>
                    </a:solidFill>
                    <a:cs typeface="DFPKaiShu-GB5" panose="03000500000000000000" pitchFamily="66" charset="-128"/>
                  </a:rPr>
                  <a:t>December</a:t>
                </a:r>
                <a:r>
                  <a:rPr lang="en-US" altLang="zh-TW" sz="700" b="0">
                    <a:solidFill>
                      <a:srgbClr val="000000"/>
                    </a:solidFill>
                    <a:latin typeface="Calibri"/>
                    <a:ea typeface="DFKaiShu-GB5"/>
                    <a:cs typeface="DFPKaiShu-GB5" panose="03000500000000000000" pitchFamily="66" charset="-128"/>
                  </a:rPr>
                  <a:t> 2017</a:t>
                </a:r>
                <a:endParaRPr lang="zh-TW" altLang="en-US" sz="700" b="0">
                  <a:solidFill>
                    <a:srgbClr val="000000"/>
                  </a:solidFill>
                  <a:latin typeface="Calibri"/>
                  <a:ea typeface="DFKaiShu-GB5"/>
                  <a:cs typeface="DFPKaiShu-GB5" panose="03000500000000000000" pitchFamily="66" charset="-128"/>
                </a:endParaRPr>
              </a:p>
            </p:txBody>
          </p:sp>
          <p:pic>
            <p:nvPicPr>
              <p:cNvPr id="56" name="Picture 5" descr="PPT模版">
                <a:extLst>
                  <a:ext uri="{FF2B5EF4-FFF2-40B4-BE49-F238E27FC236}">
                    <a16:creationId xmlns:a16="http://schemas.microsoft.com/office/drawing/2014/main" id="{F4F7B1FA-2C97-A44D-6860-E2EE94BABA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34707" y="4136184"/>
                <a:ext cx="632868" cy="193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7" name="Group 106">
              <a:extLst>
                <a:ext uri="{FF2B5EF4-FFF2-40B4-BE49-F238E27FC236}">
                  <a16:creationId xmlns:a16="http://schemas.microsoft.com/office/drawing/2014/main" id="{E604DFFD-FBB3-716B-5211-F7DF4C3D54CE}"/>
                </a:ext>
              </a:extLst>
            </p:cNvPr>
            <p:cNvGrpSpPr/>
            <p:nvPr/>
          </p:nvGrpSpPr>
          <p:grpSpPr>
            <a:xfrm>
              <a:off x="4005071" y="4020988"/>
              <a:ext cx="923544" cy="1689077"/>
              <a:chOff x="3650468" y="4020987"/>
              <a:chExt cx="923544" cy="1689077"/>
            </a:xfrm>
          </p:grpSpPr>
          <p:sp>
            <p:nvSpPr>
              <p:cNvPr id="72" name="Rectangle 406">
                <a:extLst>
                  <a:ext uri="{FF2B5EF4-FFF2-40B4-BE49-F238E27FC236}">
                    <a16:creationId xmlns:a16="http://schemas.microsoft.com/office/drawing/2014/main" id="{58E44B8E-18C7-5915-F996-8A91121A22C0}"/>
                  </a:ext>
                </a:extLst>
              </p:cNvPr>
              <p:cNvSpPr>
                <a:spLocks noChangeArrowheads="1"/>
              </p:cNvSpPr>
              <p:nvPr/>
            </p:nvSpPr>
            <p:spPr bwMode="auto">
              <a:xfrm>
                <a:off x="3652481" y="4020987"/>
                <a:ext cx="919519"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Calibri" panose="020F0502020204030204" pitchFamily="34" charset="0"/>
                  <a:cs typeface="Calibri" panose="020F0502020204030204" pitchFamily="34" charset="0"/>
                </a:endParaRPr>
              </a:p>
            </p:txBody>
          </p:sp>
          <p:sp>
            <p:nvSpPr>
              <p:cNvPr id="73" name="Rectangle 408">
                <a:extLst>
                  <a:ext uri="{FF2B5EF4-FFF2-40B4-BE49-F238E27FC236}">
                    <a16:creationId xmlns:a16="http://schemas.microsoft.com/office/drawing/2014/main" id="{1D5D2221-305E-0288-87E3-951CE343F0C7}"/>
                  </a:ext>
                </a:extLst>
              </p:cNvPr>
              <p:cNvSpPr>
                <a:spLocks noChangeArrowheads="1"/>
              </p:cNvSpPr>
              <p:nvPr/>
            </p:nvSpPr>
            <p:spPr bwMode="auto">
              <a:xfrm>
                <a:off x="3650468" y="5149155"/>
                <a:ext cx="923544" cy="108043"/>
              </a:xfrm>
              <a:prstGeom prst="rect">
                <a:avLst/>
              </a:prstGeom>
              <a:noFill/>
              <a:ln w="9525" algn="ctr">
                <a:noFill/>
                <a:miter lim="800000"/>
                <a:headEnd/>
                <a:tailEnd/>
              </a:ln>
            </p:spPr>
            <p:txBody>
              <a:bodyPr wrap="square" lIns="0" tIns="0" rIns="0" bIns="0" anchor="ctr">
                <a:noAutofit/>
              </a:bodyPr>
              <a:lstStyle/>
              <a:p>
                <a:pPr algn="ctr" fontAlgn="auto">
                  <a:lnSpc>
                    <a:spcPct val="85000"/>
                  </a:lnSpc>
                  <a:spcAft>
                    <a:spcPts val="0"/>
                  </a:spcAft>
                  <a:defRPr/>
                </a:pPr>
                <a:r>
                  <a:rPr lang="en-US" altLang="zh-TW" sz="700" b="0">
                    <a:solidFill>
                      <a:srgbClr val="000000"/>
                    </a:solidFill>
                    <a:latin typeface="Calibri"/>
                    <a:ea typeface="DFKaiShu-GB5"/>
                    <a:cs typeface="DFPKaiShu-GB5" panose="03000500000000000000" pitchFamily="66" charset="-128"/>
                  </a:rPr>
                  <a:t>Financial Advisor</a:t>
                </a:r>
              </a:p>
            </p:txBody>
          </p:sp>
          <p:sp>
            <p:nvSpPr>
              <p:cNvPr id="74" name="Rectangle 409">
                <a:extLst>
                  <a:ext uri="{FF2B5EF4-FFF2-40B4-BE49-F238E27FC236}">
                    <a16:creationId xmlns:a16="http://schemas.microsoft.com/office/drawing/2014/main" id="{2A48ED08-AC8F-FB94-3E69-FD77CF329C07}"/>
                  </a:ext>
                </a:extLst>
              </p:cNvPr>
              <p:cNvSpPr>
                <a:spLocks noChangeArrowheads="1"/>
              </p:cNvSpPr>
              <p:nvPr/>
            </p:nvSpPr>
            <p:spPr bwMode="auto">
              <a:xfrm>
                <a:off x="3650468" y="4586557"/>
                <a:ext cx="923544" cy="323165"/>
              </a:xfrm>
              <a:prstGeom prst="rect">
                <a:avLst/>
              </a:prstGeom>
              <a:noFill/>
              <a:ln w="9525">
                <a:noFill/>
                <a:miter lim="800000"/>
                <a:headEnd/>
                <a:tailEnd/>
              </a:ln>
            </p:spPr>
            <p:txBody>
              <a:bodyPr lIns="0" tIns="0" rIns="0" bIns="0" anchor="ctr">
                <a:spAutoFit/>
              </a:bodyPr>
              <a:lstStyle/>
              <a:p>
                <a:pPr algn="ctr" fontAlgn="auto">
                  <a:spcAft>
                    <a:spcPts val="0"/>
                  </a:spcAft>
                  <a:defRPr/>
                </a:pPr>
                <a:r>
                  <a:rPr lang="en-US" altLang="zh-CN" sz="700">
                    <a:solidFill>
                      <a:srgbClr val="000000"/>
                    </a:solidFill>
                    <a:latin typeface="Calibri"/>
                    <a:ea typeface="DFKaiShu-GB5"/>
                    <a:cs typeface="DFPKaiShu-GB5" panose="03000500000000000000" pitchFamily="66" charset="-128"/>
                  </a:rPr>
                  <a:t>US$2,500m</a:t>
                </a:r>
              </a:p>
              <a:p>
                <a:pPr algn="ctr" fontAlgn="auto">
                  <a:spcAft>
                    <a:spcPts val="0"/>
                  </a:spcAft>
                  <a:defRPr/>
                </a:pPr>
                <a:r>
                  <a:rPr lang="en-US" altLang="zh-CN" sz="700">
                    <a:solidFill>
                      <a:srgbClr val="000000"/>
                    </a:solidFill>
                    <a:latin typeface="Calibri"/>
                    <a:ea typeface="DFKaiShu-GB5"/>
                    <a:cs typeface="DFPKaiShu-GB5" panose="03000500000000000000" pitchFamily="66" charset="-128"/>
                  </a:rPr>
                  <a:t>Asset</a:t>
                </a:r>
                <a:r>
                  <a:rPr lang="zh-TW" altLang="en-US" sz="700">
                    <a:solidFill>
                      <a:srgbClr val="000000"/>
                    </a:solidFill>
                    <a:latin typeface="Calibri"/>
                    <a:ea typeface="DFKaiShu-GB5"/>
                    <a:cs typeface="DFPKaiShu-GB5" panose="03000500000000000000" pitchFamily="66" charset="-128"/>
                  </a:rPr>
                  <a:t> </a:t>
                </a:r>
                <a:r>
                  <a:rPr lang="en-US" altLang="zh-TW" sz="700">
                    <a:solidFill>
                      <a:srgbClr val="000000"/>
                    </a:solidFill>
                    <a:latin typeface="Calibri"/>
                    <a:ea typeface="DFKaiShu-GB5"/>
                    <a:cs typeface="DFPKaiShu-GB5" panose="03000500000000000000" pitchFamily="66" charset="-128"/>
                  </a:rPr>
                  <a:t>Enhancement Project</a:t>
                </a:r>
                <a:endParaRPr lang="en-US" altLang="zh-CN" sz="700">
                  <a:solidFill>
                    <a:srgbClr val="000000"/>
                  </a:solidFill>
                  <a:latin typeface="Calibri"/>
                  <a:ea typeface="DFKaiShu-GB5"/>
                  <a:cs typeface="DFPKaiShu-GB5" panose="03000500000000000000" pitchFamily="66" charset="-128"/>
                </a:endParaRPr>
              </a:p>
            </p:txBody>
          </p:sp>
          <p:sp>
            <p:nvSpPr>
              <p:cNvPr id="75" name="Rectangle 412">
                <a:extLst>
                  <a:ext uri="{FF2B5EF4-FFF2-40B4-BE49-F238E27FC236}">
                    <a16:creationId xmlns:a16="http://schemas.microsoft.com/office/drawing/2014/main" id="{2ADF6CB5-77BF-3100-E88D-03188B624CDA}"/>
                  </a:ext>
                </a:extLst>
              </p:cNvPr>
              <p:cNvSpPr>
                <a:spLocks noChangeArrowheads="1"/>
              </p:cNvSpPr>
              <p:nvPr/>
            </p:nvSpPr>
            <p:spPr bwMode="auto">
              <a:xfrm>
                <a:off x="3650468" y="5539705"/>
                <a:ext cx="923544" cy="123591"/>
              </a:xfrm>
              <a:prstGeom prst="rect">
                <a:avLst/>
              </a:prstGeom>
              <a:noFill/>
              <a:ln w="9525">
                <a:noFill/>
                <a:miter lim="800000"/>
                <a:headEnd/>
                <a:tailEnd/>
              </a:ln>
            </p:spPr>
            <p:txBody>
              <a:bodyPr wrap="none" lIns="0" tIns="0" rIns="0" bIns="0" anchor="ctr">
                <a:noAutofit/>
              </a:bodyPr>
              <a:lstStyle/>
              <a:p>
                <a:pPr algn="ctr" fontAlgn="auto">
                  <a:spcBef>
                    <a:spcPts val="0"/>
                  </a:spcBef>
                  <a:spcAft>
                    <a:spcPts val="0"/>
                  </a:spcAft>
                  <a:defRPr/>
                </a:pPr>
                <a:r>
                  <a:rPr lang="en-US" altLang="zh-TW" sz="700" b="0">
                    <a:solidFill>
                      <a:srgbClr val="000000"/>
                    </a:solidFill>
                    <a:latin typeface="Calibri"/>
                    <a:ea typeface="DFKaiShu-GB5"/>
                    <a:cs typeface="DFPKaiShu-GB5" panose="03000500000000000000" pitchFamily="66" charset="-128"/>
                  </a:rPr>
                  <a:t>January 2023</a:t>
                </a:r>
                <a:endParaRPr lang="zh-TW" altLang="en-US" sz="700" b="0">
                  <a:solidFill>
                    <a:srgbClr val="000000"/>
                  </a:solidFill>
                  <a:latin typeface="Calibri"/>
                  <a:ea typeface="DFKaiShu-GB5"/>
                  <a:cs typeface="DFPKaiShu-GB5" panose="03000500000000000000" pitchFamily="66" charset="-128"/>
                </a:endParaRPr>
              </a:p>
            </p:txBody>
          </p:sp>
          <p:pic>
            <p:nvPicPr>
              <p:cNvPr id="76" name="Picture 75">
                <a:extLst>
                  <a:ext uri="{FF2B5EF4-FFF2-40B4-BE49-F238E27FC236}">
                    <a16:creationId xmlns:a16="http://schemas.microsoft.com/office/drawing/2014/main" id="{2CFDD558-58C6-614E-2EE4-8DF3356EAA14}"/>
                  </a:ext>
                </a:extLst>
              </p:cNvPr>
              <p:cNvPicPr>
                <a:picLocks noChangeAspect="1"/>
              </p:cNvPicPr>
              <p:nvPr/>
            </p:nvPicPr>
            <p:blipFill rotWithShape="1">
              <a:blip r:embed="rId9"/>
              <a:srcRect l="11772" t="12714" r="15661" b="15556"/>
              <a:stretch/>
            </p:blipFill>
            <p:spPr>
              <a:xfrm>
                <a:off x="3704089" y="4109187"/>
                <a:ext cx="825190" cy="266340"/>
              </a:xfrm>
              <a:prstGeom prst="rect">
                <a:avLst/>
              </a:prstGeom>
            </p:spPr>
          </p:pic>
        </p:grpSp>
        <p:grpSp>
          <p:nvGrpSpPr>
            <p:cNvPr id="108" name="Group 107">
              <a:extLst>
                <a:ext uri="{FF2B5EF4-FFF2-40B4-BE49-F238E27FC236}">
                  <a16:creationId xmlns:a16="http://schemas.microsoft.com/office/drawing/2014/main" id="{44825F0F-239D-ECA0-8FC8-4243703A0998}"/>
                </a:ext>
              </a:extLst>
            </p:cNvPr>
            <p:cNvGrpSpPr/>
            <p:nvPr/>
          </p:nvGrpSpPr>
          <p:grpSpPr>
            <a:xfrm>
              <a:off x="3018729" y="4017009"/>
              <a:ext cx="923544" cy="1689077"/>
              <a:chOff x="2652295" y="4017008"/>
              <a:chExt cx="923544" cy="1689077"/>
            </a:xfrm>
          </p:grpSpPr>
          <p:sp>
            <p:nvSpPr>
              <p:cNvPr id="2" name="Rectangle 406">
                <a:extLst>
                  <a:ext uri="{FF2B5EF4-FFF2-40B4-BE49-F238E27FC236}">
                    <a16:creationId xmlns:a16="http://schemas.microsoft.com/office/drawing/2014/main" id="{B5BC723C-FB4B-38A9-185B-3DB207CA172D}"/>
                  </a:ext>
                </a:extLst>
              </p:cNvPr>
              <p:cNvSpPr>
                <a:spLocks noChangeArrowheads="1"/>
              </p:cNvSpPr>
              <p:nvPr/>
            </p:nvSpPr>
            <p:spPr bwMode="auto">
              <a:xfrm>
                <a:off x="2654308" y="4017008"/>
                <a:ext cx="919519"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Calibri" panose="020F0502020204030204" pitchFamily="34" charset="0"/>
                  <a:cs typeface="Calibri" panose="020F0502020204030204" pitchFamily="34" charset="0"/>
                </a:endParaRPr>
              </a:p>
            </p:txBody>
          </p:sp>
          <p:sp>
            <p:nvSpPr>
              <p:cNvPr id="12" name="Rectangle 408">
                <a:extLst>
                  <a:ext uri="{FF2B5EF4-FFF2-40B4-BE49-F238E27FC236}">
                    <a16:creationId xmlns:a16="http://schemas.microsoft.com/office/drawing/2014/main" id="{C1C964DF-81EC-5EFB-03F0-47E387E62999}"/>
                  </a:ext>
                </a:extLst>
              </p:cNvPr>
              <p:cNvSpPr>
                <a:spLocks noChangeArrowheads="1"/>
              </p:cNvSpPr>
              <p:nvPr/>
            </p:nvSpPr>
            <p:spPr bwMode="auto">
              <a:xfrm>
                <a:off x="2652295" y="5147452"/>
                <a:ext cx="923544" cy="92398"/>
              </a:xfrm>
              <a:prstGeom prst="rect">
                <a:avLst/>
              </a:prstGeom>
              <a:noFill/>
              <a:ln w="9525" algn="ctr">
                <a:noFill/>
                <a:miter lim="800000"/>
                <a:headEnd/>
                <a:tailEnd/>
              </a:ln>
            </p:spPr>
            <p:txBody>
              <a:bodyPr lIns="0" tIns="0" rIns="0" bIns="0" anchor="ctr">
                <a:spAutoFit/>
              </a:bodyPr>
              <a:lstStyle/>
              <a:p>
                <a:pPr algn="ctr" eaLnBrk="0" hangingPunct="0">
                  <a:lnSpc>
                    <a:spcPct val="85000"/>
                  </a:lnSpc>
                  <a:spcBef>
                    <a:spcPts val="0"/>
                  </a:spcBef>
                  <a:defRPr/>
                </a:pPr>
                <a:r>
                  <a:rPr lang="en-US" altLang="zh-CN" sz="700" b="0">
                    <a:solidFill>
                      <a:srgbClr val="000000"/>
                    </a:solidFill>
                    <a:latin typeface="Calibri"/>
                    <a:ea typeface="DFKaiShu-GB5"/>
                    <a:cs typeface="Calibri" pitchFamily="34" charset="0"/>
                  </a:rPr>
                  <a:t>Sole Financial Advisor</a:t>
                </a:r>
              </a:p>
            </p:txBody>
          </p:sp>
          <p:sp>
            <p:nvSpPr>
              <p:cNvPr id="17" name="Rectangle 409">
                <a:extLst>
                  <a:ext uri="{FF2B5EF4-FFF2-40B4-BE49-F238E27FC236}">
                    <a16:creationId xmlns:a16="http://schemas.microsoft.com/office/drawing/2014/main" id="{39AD47C5-7D2A-3F22-ACD7-2FC4C7FF9E82}"/>
                  </a:ext>
                </a:extLst>
              </p:cNvPr>
              <p:cNvSpPr>
                <a:spLocks noChangeArrowheads="1"/>
              </p:cNvSpPr>
              <p:nvPr/>
            </p:nvSpPr>
            <p:spPr bwMode="auto">
              <a:xfrm>
                <a:off x="2652295" y="4586556"/>
                <a:ext cx="923544" cy="323165"/>
              </a:xfrm>
              <a:prstGeom prst="rect">
                <a:avLst/>
              </a:prstGeom>
              <a:noFill/>
              <a:ln w="9525">
                <a:noFill/>
                <a:miter lim="800000"/>
                <a:headEnd/>
                <a:tailEnd/>
              </a:ln>
            </p:spPr>
            <p:txBody>
              <a:bodyPr lIns="0" tIns="0" rIns="0" bIns="0" anchor="t" anchorCtr="0">
                <a:spAutoFit/>
              </a:bodyPr>
              <a:lstStyle/>
              <a:p>
                <a:pPr algn="ctr" eaLnBrk="0" hangingPunct="0">
                  <a:spcBef>
                    <a:spcPts val="0"/>
                  </a:spcBef>
                  <a:defRPr/>
                </a:pPr>
                <a:r>
                  <a:rPr lang="en-US" altLang="zh-TW" sz="700">
                    <a:solidFill>
                      <a:srgbClr val="000000"/>
                    </a:solidFill>
                    <a:latin typeface="Calibri"/>
                    <a:ea typeface="DFKaiShu-GB5"/>
                    <a:cs typeface="Calibri" pitchFamily="34" charset="0"/>
                  </a:rPr>
                  <a:t>US$20 million</a:t>
                </a:r>
              </a:p>
              <a:p>
                <a:pPr algn="ctr" eaLnBrk="0" hangingPunct="0">
                  <a:spcBef>
                    <a:spcPts val="0"/>
                  </a:spcBef>
                  <a:defRPr/>
                </a:pPr>
                <a:r>
                  <a:rPr lang="en-US" altLang="zh-TW" sz="700">
                    <a:solidFill>
                      <a:srgbClr val="000000"/>
                    </a:solidFill>
                    <a:latin typeface="Calibri"/>
                    <a:ea typeface="DFKaiShu-GB5"/>
                    <a:cs typeface="Calibri" pitchFamily="34" charset="0"/>
                  </a:rPr>
                  <a:t>Off-market Units Buy-back</a:t>
                </a:r>
              </a:p>
            </p:txBody>
          </p:sp>
          <p:sp>
            <p:nvSpPr>
              <p:cNvPr id="23" name="Rectangle 412">
                <a:extLst>
                  <a:ext uri="{FF2B5EF4-FFF2-40B4-BE49-F238E27FC236}">
                    <a16:creationId xmlns:a16="http://schemas.microsoft.com/office/drawing/2014/main" id="{4FD562B5-5CDF-83A4-A81B-6649FB6162EC}"/>
                  </a:ext>
                </a:extLst>
              </p:cNvPr>
              <p:cNvSpPr>
                <a:spLocks noChangeArrowheads="1"/>
              </p:cNvSpPr>
              <p:nvPr/>
            </p:nvSpPr>
            <p:spPr bwMode="auto">
              <a:xfrm>
                <a:off x="2652295" y="5535726"/>
                <a:ext cx="923544" cy="123591"/>
              </a:xfrm>
              <a:prstGeom prst="rect">
                <a:avLst/>
              </a:prstGeom>
              <a:noFill/>
              <a:ln w="9525">
                <a:noFill/>
                <a:miter lim="800000"/>
                <a:headEnd/>
                <a:tailEnd/>
              </a:ln>
            </p:spPr>
            <p:txBody>
              <a:bodyPr wrap="none" lIns="0" tIns="0" rIns="0" bIns="0" anchor="ctr">
                <a:noAutofit/>
              </a:bodyPr>
              <a:lstStyle/>
              <a:p>
                <a:pPr algn="ctr" eaLnBrk="0" hangingPunct="0">
                  <a:defRPr/>
                </a:pPr>
                <a:r>
                  <a:rPr lang="en-US" altLang="zh-TW" sz="700" b="0">
                    <a:solidFill>
                      <a:srgbClr val="000000"/>
                    </a:solidFill>
                    <a:latin typeface="Calibri"/>
                    <a:ea typeface="DFKaiShu-GB5"/>
                    <a:cs typeface="Calibri" pitchFamily="34" charset="0"/>
                  </a:rPr>
                  <a:t>July 2023</a:t>
                </a:r>
              </a:p>
            </p:txBody>
          </p:sp>
          <p:pic>
            <p:nvPicPr>
              <p:cNvPr id="77" name="Picture 76">
                <a:extLst>
                  <a:ext uri="{FF2B5EF4-FFF2-40B4-BE49-F238E27FC236}">
                    <a16:creationId xmlns:a16="http://schemas.microsoft.com/office/drawing/2014/main" id="{21DFED45-0466-40B2-D370-1CD76F5B7000}"/>
                  </a:ext>
                </a:extLst>
              </p:cNvPr>
              <p:cNvPicPr>
                <a:picLocks noChangeAspect="1"/>
              </p:cNvPicPr>
              <p:nvPr/>
            </p:nvPicPr>
            <p:blipFill>
              <a:blip r:embed="rId10"/>
              <a:stretch>
                <a:fillRect/>
              </a:stretch>
            </p:blipFill>
            <p:spPr>
              <a:xfrm>
                <a:off x="2708570" y="4122971"/>
                <a:ext cx="822960" cy="219722"/>
              </a:xfrm>
              <a:prstGeom prst="rect">
                <a:avLst/>
              </a:prstGeom>
            </p:spPr>
          </p:pic>
        </p:grpSp>
        <p:grpSp>
          <p:nvGrpSpPr>
            <p:cNvPr id="106" name="Group 105">
              <a:extLst>
                <a:ext uri="{FF2B5EF4-FFF2-40B4-BE49-F238E27FC236}">
                  <a16:creationId xmlns:a16="http://schemas.microsoft.com/office/drawing/2014/main" id="{8C62A826-5706-C2A4-77F1-9ABE44F3790C}"/>
                </a:ext>
              </a:extLst>
            </p:cNvPr>
            <p:cNvGrpSpPr/>
            <p:nvPr/>
          </p:nvGrpSpPr>
          <p:grpSpPr>
            <a:xfrm>
              <a:off x="4991413" y="4013374"/>
              <a:ext cx="929772" cy="1689076"/>
              <a:chOff x="4635598" y="4013374"/>
              <a:chExt cx="929772" cy="1689076"/>
            </a:xfrm>
          </p:grpSpPr>
          <p:sp>
            <p:nvSpPr>
              <p:cNvPr id="78" name="Rectangle 406">
                <a:extLst>
                  <a:ext uri="{FF2B5EF4-FFF2-40B4-BE49-F238E27FC236}">
                    <a16:creationId xmlns:a16="http://schemas.microsoft.com/office/drawing/2014/main" id="{E3247E0E-3531-00D8-6A86-9702C148F5B3}"/>
                  </a:ext>
                </a:extLst>
              </p:cNvPr>
              <p:cNvSpPr>
                <a:spLocks noChangeArrowheads="1"/>
              </p:cNvSpPr>
              <p:nvPr/>
            </p:nvSpPr>
            <p:spPr bwMode="auto">
              <a:xfrm>
                <a:off x="4637611" y="4013374"/>
                <a:ext cx="919519" cy="1689076"/>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Calibri" panose="020F0502020204030204" pitchFamily="34" charset="0"/>
                  <a:cs typeface="Calibri" panose="020F0502020204030204" pitchFamily="34" charset="0"/>
                </a:endParaRPr>
              </a:p>
            </p:txBody>
          </p:sp>
          <p:sp>
            <p:nvSpPr>
              <p:cNvPr id="79" name="Rectangle 408">
                <a:extLst>
                  <a:ext uri="{FF2B5EF4-FFF2-40B4-BE49-F238E27FC236}">
                    <a16:creationId xmlns:a16="http://schemas.microsoft.com/office/drawing/2014/main" id="{E38229DA-C531-475D-CBD6-340B03244970}"/>
                  </a:ext>
                </a:extLst>
              </p:cNvPr>
              <p:cNvSpPr>
                <a:spLocks noChangeArrowheads="1"/>
              </p:cNvSpPr>
              <p:nvPr/>
            </p:nvSpPr>
            <p:spPr bwMode="auto">
              <a:xfrm>
                <a:off x="4635598" y="5143817"/>
                <a:ext cx="923544" cy="92398"/>
              </a:xfrm>
              <a:prstGeom prst="rect">
                <a:avLst/>
              </a:prstGeom>
              <a:noFill/>
              <a:ln w="9525" algn="ctr">
                <a:noFill/>
                <a:miter lim="800000"/>
                <a:headEnd/>
                <a:tailEnd/>
              </a:ln>
            </p:spPr>
            <p:txBody>
              <a:bodyPr lIns="0" tIns="0" rIns="0" bIns="0" anchor="ctr">
                <a:spAutoFit/>
              </a:bodyPr>
              <a:lstStyle/>
              <a:p>
                <a:pPr algn="ctr" eaLnBrk="0" hangingPunct="0">
                  <a:lnSpc>
                    <a:spcPct val="85000"/>
                  </a:lnSpc>
                  <a:spcBef>
                    <a:spcPts val="0"/>
                  </a:spcBef>
                  <a:defRPr/>
                </a:pPr>
                <a:r>
                  <a:rPr lang="en-US" altLang="zh-CN" sz="700" b="0">
                    <a:solidFill>
                      <a:srgbClr val="000000"/>
                    </a:solidFill>
                    <a:latin typeface="Calibri"/>
                    <a:ea typeface="DFKaiShu-GB5"/>
                    <a:cs typeface="Calibri" pitchFamily="34" charset="0"/>
                  </a:rPr>
                  <a:t>Sole Financial Advisor</a:t>
                </a:r>
              </a:p>
            </p:txBody>
          </p:sp>
          <p:sp>
            <p:nvSpPr>
              <p:cNvPr id="80" name="Rectangle 409">
                <a:extLst>
                  <a:ext uri="{FF2B5EF4-FFF2-40B4-BE49-F238E27FC236}">
                    <a16:creationId xmlns:a16="http://schemas.microsoft.com/office/drawing/2014/main" id="{21EB4831-011A-427C-B14C-53390EE34EA9}"/>
                  </a:ext>
                </a:extLst>
              </p:cNvPr>
              <p:cNvSpPr>
                <a:spLocks noChangeArrowheads="1"/>
              </p:cNvSpPr>
              <p:nvPr/>
            </p:nvSpPr>
            <p:spPr bwMode="auto">
              <a:xfrm>
                <a:off x="4641826" y="4624606"/>
                <a:ext cx="923544" cy="215444"/>
              </a:xfrm>
              <a:prstGeom prst="rect">
                <a:avLst/>
              </a:prstGeom>
              <a:noFill/>
              <a:ln w="9525">
                <a:noFill/>
                <a:miter lim="800000"/>
                <a:headEnd/>
                <a:tailEnd/>
              </a:ln>
            </p:spPr>
            <p:txBody>
              <a:bodyPr lIns="0" tIns="0" rIns="0" bIns="0" anchor="t" anchorCtr="0">
                <a:spAutoFit/>
              </a:bodyPr>
              <a:lstStyle/>
              <a:p>
                <a:pPr algn="ctr" eaLnBrk="0" hangingPunct="0">
                  <a:spcBef>
                    <a:spcPts val="0"/>
                  </a:spcBef>
                  <a:defRPr/>
                </a:pPr>
                <a:r>
                  <a:rPr lang="en-US" altLang="zh-TW" sz="700">
                    <a:solidFill>
                      <a:srgbClr val="000000"/>
                    </a:solidFill>
                    <a:latin typeface="Calibri"/>
                    <a:ea typeface="DFKaiShu-GB5"/>
                    <a:cs typeface="Calibri" pitchFamily="34" charset="0"/>
                  </a:rPr>
                  <a:t>US$240m</a:t>
                </a:r>
              </a:p>
              <a:p>
                <a:pPr algn="ctr" eaLnBrk="0" hangingPunct="0">
                  <a:spcBef>
                    <a:spcPts val="0"/>
                  </a:spcBef>
                  <a:defRPr/>
                </a:pPr>
                <a:r>
                  <a:rPr lang="en-US" altLang="zh-TW" sz="700">
                    <a:solidFill>
                      <a:srgbClr val="000000"/>
                    </a:solidFill>
                    <a:latin typeface="Calibri"/>
                    <a:ea typeface="DFKaiShu-GB5"/>
                    <a:cs typeface="Calibri" pitchFamily="34" charset="0"/>
                  </a:rPr>
                  <a:t>Acquisition</a:t>
                </a:r>
              </a:p>
            </p:txBody>
          </p:sp>
          <p:sp>
            <p:nvSpPr>
              <p:cNvPr id="81" name="Rectangle 412">
                <a:extLst>
                  <a:ext uri="{FF2B5EF4-FFF2-40B4-BE49-F238E27FC236}">
                    <a16:creationId xmlns:a16="http://schemas.microsoft.com/office/drawing/2014/main" id="{CDD9D3AD-8BCF-5896-9A52-44707516BECC}"/>
                  </a:ext>
                </a:extLst>
              </p:cNvPr>
              <p:cNvSpPr>
                <a:spLocks noChangeArrowheads="1"/>
              </p:cNvSpPr>
              <p:nvPr/>
            </p:nvSpPr>
            <p:spPr bwMode="auto">
              <a:xfrm>
                <a:off x="4635598" y="5532091"/>
                <a:ext cx="923544" cy="123591"/>
              </a:xfrm>
              <a:prstGeom prst="rect">
                <a:avLst/>
              </a:prstGeom>
              <a:noFill/>
              <a:ln w="9525">
                <a:noFill/>
                <a:miter lim="800000"/>
                <a:headEnd/>
                <a:tailEnd/>
              </a:ln>
            </p:spPr>
            <p:txBody>
              <a:bodyPr wrap="none" lIns="0" tIns="0" rIns="0" bIns="0" anchor="ctr">
                <a:noAutofit/>
              </a:bodyPr>
              <a:lstStyle/>
              <a:p>
                <a:pPr algn="ctr" eaLnBrk="0" hangingPunct="0">
                  <a:defRPr/>
                </a:pPr>
                <a:r>
                  <a:rPr lang="en-US" altLang="zh-TW" sz="700" b="0">
                    <a:solidFill>
                      <a:srgbClr val="000000"/>
                    </a:solidFill>
                    <a:latin typeface="Calibri"/>
                    <a:ea typeface="DFKaiShu-GB5"/>
                    <a:cs typeface="Calibri" pitchFamily="34" charset="0"/>
                  </a:rPr>
                  <a:t>September 2022</a:t>
                </a:r>
              </a:p>
            </p:txBody>
          </p:sp>
          <p:pic>
            <p:nvPicPr>
              <p:cNvPr id="82" name="Picture 81">
                <a:extLst>
                  <a:ext uri="{FF2B5EF4-FFF2-40B4-BE49-F238E27FC236}">
                    <a16:creationId xmlns:a16="http://schemas.microsoft.com/office/drawing/2014/main" id="{34200773-2FBC-676F-74BC-4411AD5B77E0}"/>
                  </a:ext>
                </a:extLst>
              </p:cNvPr>
              <p:cNvPicPr>
                <a:picLocks noChangeAspect="1"/>
              </p:cNvPicPr>
              <p:nvPr/>
            </p:nvPicPr>
            <p:blipFill>
              <a:blip r:embed="rId10"/>
              <a:stretch>
                <a:fillRect/>
              </a:stretch>
            </p:blipFill>
            <p:spPr>
              <a:xfrm>
                <a:off x="4691873" y="4119336"/>
                <a:ext cx="822960" cy="219722"/>
              </a:xfrm>
              <a:prstGeom prst="rect">
                <a:avLst/>
              </a:prstGeom>
            </p:spPr>
          </p:pic>
        </p:grpSp>
        <p:grpSp>
          <p:nvGrpSpPr>
            <p:cNvPr id="104" name="Group 103">
              <a:extLst>
                <a:ext uri="{FF2B5EF4-FFF2-40B4-BE49-F238E27FC236}">
                  <a16:creationId xmlns:a16="http://schemas.microsoft.com/office/drawing/2014/main" id="{43CE1F8F-4F99-4B0F-1FEA-3A5552997BD2}"/>
                </a:ext>
              </a:extLst>
            </p:cNvPr>
            <p:cNvGrpSpPr/>
            <p:nvPr/>
          </p:nvGrpSpPr>
          <p:grpSpPr>
            <a:xfrm>
              <a:off x="6984027" y="4016847"/>
              <a:ext cx="923544" cy="1689077"/>
              <a:chOff x="6610175" y="4016846"/>
              <a:chExt cx="923544" cy="1689077"/>
            </a:xfrm>
          </p:grpSpPr>
          <p:sp>
            <p:nvSpPr>
              <p:cNvPr id="83" name="Rectangle 406">
                <a:extLst>
                  <a:ext uri="{FF2B5EF4-FFF2-40B4-BE49-F238E27FC236}">
                    <a16:creationId xmlns:a16="http://schemas.microsoft.com/office/drawing/2014/main" id="{8603E6D3-F74B-8813-069E-45D22EABCA49}"/>
                  </a:ext>
                </a:extLst>
              </p:cNvPr>
              <p:cNvSpPr>
                <a:spLocks noChangeArrowheads="1"/>
              </p:cNvSpPr>
              <p:nvPr/>
            </p:nvSpPr>
            <p:spPr bwMode="auto">
              <a:xfrm>
                <a:off x="6612188" y="4016846"/>
                <a:ext cx="919519"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Calibri" panose="020F0502020204030204" pitchFamily="34" charset="0"/>
                  <a:cs typeface="Calibri" panose="020F0502020204030204" pitchFamily="34" charset="0"/>
                </a:endParaRPr>
              </a:p>
            </p:txBody>
          </p:sp>
          <p:sp>
            <p:nvSpPr>
              <p:cNvPr id="87" name="Rectangle 408">
                <a:extLst>
                  <a:ext uri="{FF2B5EF4-FFF2-40B4-BE49-F238E27FC236}">
                    <a16:creationId xmlns:a16="http://schemas.microsoft.com/office/drawing/2014/main" id="{95AC3F56-EBD2-7C7F-9E0E-1EDBDF091EED}"/>
                  </a:ext>
                </a:extLst>
              </p:cNvPr>
              <p:cNvSpPr>
                <a:spLocks noChangeArrowheads="1"/>
              </p:cNvSpPr>
              <p:nvPr/>
            </p:nvSpPr>
            <p:spPr bwMode="auto">
              <a:xfrm>
                <a:off x="6610175" y="5145014"/>
                <a:ext cx="923544" cy="108043"/>
              </a:xfrm>
              <a:prstGeom prst="rect">
                <a:avLst/>
              </a:prstGeom>
              <a:noFill/>
              <a:ln w="9525" algn="ctr">
                <a:noFill/>
                <a:miter lim="800000"/>
                <a:headEnd/>
                <a:tailEnd/>
              </a:ln>
            </p:spPr>
            <p:txBody>
              <a:bodyPr wrap="square" lIns="0" tIns="0" rIns="0" bIns="0" anchor="ctr">
                <a:noAutofit/>
              </a:bodyPr>
              <a:lstStyle/>
              <a:p>
                <a:pPr algn="ctr" fontAlgn="auto">
                  <a:lnSpc>
                    <a:spcPct val="85000"/>
                  </a:lnSpc>
                  <a:spcAft>
                    <a:spcPts val="0"/>
                  </a:spcAft>
                  <a:defRPr/>
                </a:pPr>
                <a:r>
                  <a:rPr lang="en-US" altLang="zh-TW" sz="700" b="0">
                    <a:solidFill>
                      <a:srgbClr val="000000"/>
                    </a:solidFill>
                    <a:latin typeface="Calibri"/>
                    <a:ea typeface="DFKaiShu-GB5"/>
                    <a:cs typeface="DFPKaiShu-GB5" panose="03000500000000000000" pitchFamily="66" charset="-128"/>
                  </a:rPr>
                  <a:t>Financial Advisor</a:t>
                </a:r>
              </a:p>
            </p:txBody>
          </p:sp>
          <p:sp>
            <p:nvSpPr>
              <p:cNvPr id="91" name="Rectangle 409">
                <a:extLst>
                  <a:ext uri="{FF2B5EF4-FFF2-40B4-BE49-F238E27FC236}">
                    <a16:creationId xmlns:a16="http://schemas.microsoft.com/office/drawing/2014/main" id="{8016454C-0F3D-9F9C-16DC-AF1445FFD07E}"/>
                  </a:ext>
                </a:extLst>
              </p:cNvPr>
              <p:cNvSpPr>
                <a:spLocks noChangeArrowheads="1"/>
              </p:cNvSpPr>
              <p:nvPr/>
            </p:nvSpPr>
            <p:spPr bwMode="auto">
              <a:xfrm>
                <a:off x="6653902" y="4594381"/>
                <a:ext cx="878811" cy="323165"/>
              </a:xfrm>
              <a:prstGeom prst="rect">
                <a:avLst/>
              </a:prstGeom>
              <a:noFill/>
              <a:ln w="9525">
                <a:noFill/>
                <a:miter lim="800000"/>
                <a:headEnd/>
                <a:tailEnd/>
              </a:ln>
            </p:spPr>
            <p:txBody>
              <a:bodyPr wrap="square" lIns="0" tIns="0" rIns="0" bIns="0" anchor="ctr">
                <a:spAutoFit/>
              </a:bodyPr>
              <a:lstStyle/>
              <a:p>
                <a:pPr algn="ctr" fontAlgn="auto">
                  <a:spcAft>
                    <a:spcPts val="0"/>
                  </a:spcAft>
                  <a:defRPr/>
                </a:pPr>
                <a:r>
                  <a:rPr lang="en-US" altLang="zh-CN" sz="700">
                    <a:solidFill>
                      <a:srgbClr val="000000"/>
                    </a:solidFill>
                    <a:latin typeface="Calibri"/>
                    <a:ea typeface="DFKaiShu-GB5"/>
                    <a:cs typeface="DFPKaiShu-GB5" panose="03000500000000000000" pitchFamily="66" charset="-128"/>
                  </a:rPr>
                  <a:t>US$336m</a:t>
                </a:r>
              </a:p>
              <a:p>
                <a:pPr algn="ctr" fontAlgn="auto">
                  <a:spcAft>
                    <a:spcPts val="0"/>
                  </a:spcAft>
                  <a:defRPr/>
                </a:pPr>
                <a:r>
                  <a:rPr lang="en-US" altLang="zh-CN" sz="700">
                    <a:solidFill>
                      <a:srgbClr val="000000"/>
                    </a:solidFill>
                    <a:latin typeface="Calibri"/>
                    <a:ea typeface="DFKaiShu-GB5"/>
                    <a:cs typeface="DFPKaiShu-GB5" panose="03000500000000000000" pitchFamily="66" charset="-128"/>
                  </a:rPr>
                  <a:t>Spin-off</a:t>
                </a:r>
                <a:r>
                  <a:rPr lang="zh-TW" altLang="en-US" sz="700">
                    <a:solidFill>
                      <a:srgbClr val="000000"/>
                    </a:solidFill>
                    <a:latin typeface="Calibri"/>
                    <a:ea typeface="DFKaiShu-GB5"/>
                    <a:cs typeface="DFPKaiShu-GB5" panose="03000500000000000000" pitchFamily="66" charset="-128"/>
                  </a:rPr>
                  <a:t> </a:t>
                </a:r>
                <a:r>
                  <a:rPr lang="en-US" altLang="zh-TW" sz="700">
                    <a:solidFill>
                      <a:srgbClr val="000000"/>
                    </a:solidFill>
                    <a:latin typeface="Calibri"/>
                    <a:ea typeface="DFKaiShu-GB5"/>
                    <a:cs typeface="DFPKaiShu-GB5" panose="03000500000000000000" pitchFamily="66" charset="-128"/>
                  </a:rPr>
                  <a:t>of Infrastructure REIT</a:t>
                </a:r>
                <a:endParaRPr lang="en-US" altLang="zh-CN" sz="700">
                  <a:solidFill>
                    <a:srgbClr val="000000"/>
                  </a:solidFill>
                  <a:latin typeface="Calibri"/>
                  <a:ea typeface="DFKaiShu-GB5"/>
                  <a:cs typeface="DFPKaiShu-GB5" panose="03000500000000000000" pitchFamily="66" charset="-128"/>
                </a:endParaRPr>
              </a:p>
            </p:txBody>
          </p:sp>
          <p:sp>
            <p:nvSpPr>
              <p:cNvPr id="92" name="Rectangle 412">
                <a:extLst>
                  <a:ext uri="{FF2B5EF4-FFF2-40B4-BE49-F238E27FC236}">
                    <a16:creationId xmlns:a16="http://schemas.microsoft.com/office/drawing/2014/main" id="{2003BD74-F338-C86B-EE55-0CB195B567C2}"/>
                  </a:ext>
                </a:extLst>
              </p:cNvPr>
              <p:cNvSpPr>
                <a:spLocks noChangeArrowheads="1"/>
              </p:cNvSpPr>
              <p:nvPr/>
            </p:nvSpPr>
            <p:spPr bwMode="auto">
              <a:xfrm>
                <a:off x="6610175" y="5535564"/>
                <a:ext cx="923544" cy="123591"/>
              </a:xfrm>
              <a:prstGeom prst="rect">
                <a:avLst/>
              </a:prstGeom>
              <a:noFill/>
              <a:ln w="9525">
                <a:noFill/>
                <a:miter lim="800000"/>
                <a:headEnd/>
                <a:tailEnd/>
              </a:ln>
            </p:spPr>
            <p:txBody>
              <a:bodyPr wrap="none" lIns="0" tIns="0" rIns="0" bIns="0" anchor="ctr">
                <a:noAutofit/>
              </a:bodyPr>
              <a:lstStyle/>
              <a:p>
                <a:pPr lvl="0" algn="ctr">
                  <a:defRPr/>
                </a:pPr>
                <a:r>
                  <a:rPr lang="en-US" altLang="zh-TW" sz="700">
                    <a:solidFill>
                      <a:srgbClr val="000000"/>
                    </a:solidFill>
                    <a:cs typeface="DFPKaiShu-GB5" panose="03000500000000000000" pitchFamily="66" charset="-128"/>
                  </a:rPr>
                  <a:t>December</a:t>
                </a:r>
                <a:r>
                  <a:rPr lang="en-US" altLang="zh-TW" sz="700" b="0">
                    <a:solidFill>
                      <a:srgbClr val="000000"/>
                    </a:solidFill>
                    <a:latin typeface="Calibri"/>
                    <a:ea typeface="DFKaiShu-GB5"/>
                    <a:cs typeface="DFPKaiShu-GB5" panose="03000500000000000000" pitchFamily="66" charset="-128"/>
                  </a:rPr>
                  <a:t> 2021</a:t>
                </a:r>
                <a:endParaRPr lang="zh-TW" altLang="en-US" sz="700" b="0">
                  <a:solidFill>
                    <a:srgbClr val="000000"/>
                  </a:solidFill>
                  <a:latin typeface="Calibri"/>
                  <a:ea typeface="DFKaiShu-GB5"/>
                  <a:cs typeface="DFPKaiShu-GB5" panose="03000500000000000000" pitchFamily="66" charset="-128"/>
                </a:endParaRPr>
              </a:p>
            </p:txBody>
          </p:sp>
          <p:pic>
            <p:nvPicPr>
              <p:cNvPr id="93" name="Picture 92">
                <a:extLst>
                  <a:ext uri="{FF2B5EF4-FFF2-40B4-BE49-F238E27FC236}">
                    <a16:creationId xmlns:a16="http://schemas.microsoft.com/office/drawing/2014/main" id="{104C78A8-1133-CAF7-0738-F1DD3397D735}"/>
                  </a:ext>
                </a:extLst>
              </p:cNvPr>
              <p:cNvPicPr>
                <a:picLocks noChangeAspect="1"/>
              </p:cNvPicPr>
              <p:nvPr/>
            </p:nvPicPr>
            <p:blipFill rotWithShape="1">
              <a:blip r:embed="rId9"/>
              <a:srcRect l="11772" t="12714" r="15661" b="15556"/>
              <a:stretch/>
            </p:blipFill>
            <p:spPr>
              <a:xfrm>
                <a:off x="6663796" y="4105046"/>
                <a:ext cx="825190" cy="266340"/>
              </a:xfrm>
              <a:prstGeom prst="rect">
                <a:avLst/>
              </a:prstGeom>
            </p:spPr>
          </p:pic>
        </p:grpSp>
        <p:grpSp>
          <p:nvGrpSpPr>
            <p:cNvPr id="109" name="Group 108">
              <a:extLst>
                <a:ext uri="{FF2B5EF4-FFF2-40B4-BE49-F238E27FC236}">
                  <a16:creationId xmlns:a16="http://schemas.microsoft.com/office/drawing/2014/main" id="{7366C836-960B-461E-5555-368936F58104}"/>
                </a:ext>
              </a:extLst>
            </p:cNvPr>
            <p:cNvGrpSpPr/>
            <p:nvPr/>
          </p:nvGrpSpPr>
          <p:grpSpPr>
            <a:xfrm>
              <a:off x="2032387" y="4020988"/>
              <a:ext cx="923544" cy="1689077"/>
              <a:chOff x="1665929" y="4020987"/>
              <a:chExt cx="923544" cy="1689077"/>
            </a:xfrm>
          </p:grpSpPr>
          <p:sp>
            <p:nvSpPr>
              <p:cNvPr id="94" name="Rectangle 406">
                <a:extLst>
                  <a:ext uri="{FF2B5EF4-FFF2-40B4-BE49-F238E27FC236}">
                    <a16:creationId xmlns:a16="http://schemas.microsoft.com/office/drawing/2014/main" id="{2C36556F-E05A-1C72-3ADD-FF0FCDAAA330}"/>
                  </a:ext>
                </a:extLst>
              </p:cNvPr>
              <p:cNvSpPr>
                <a:spLocks noChangeArrowheads="1"/>
              </p:cNvSpPr>
              <p:nvPr/>
            </p:nvSpPr>
            <p:spPr bwMode="auto">
              <a:xfrm>
                <a:off x="1667942" y="4020987"/>
                <a:ext cx="919519"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Calibri" panose="020F0502020204030204" pitchFamily="34" charset="0"/>
                  <a:cs typeface="Calibri" panose="020F0502020204030204" pitchFamily="34" charset="0"/>
                </a:endParaRPr>
              </a:p>
            </p:txBody>
          </p:sp>
          <p:sp>
            <p:nvSpPr>
              <p:cNvPr id="96" name="Rectangle 408">
                <a:extLst>
                  <a:ext uri="{FF2B5EF4-FFF2-40B4-BE49-F238E27FC236}">
                    <a16:creationId xmlns:a16="http://schemas.microsoft.com/office/drawing/2014/main" id="{31974A17-1C63-6D6E-8683-7ACFC48989C3}"/>
                  </a:ext>
                </a:extLst>
              </p:cNvPr>
              <p:cNvSpPr>
                <a:spLocks noChangeArrowheads="1"/>
              </p:cNvSpPr>
              <p:nvPr/>
            </p:nvSpPr>
            <p:spPr bwMode="auto">
              <a:xfrm>
                <a:off x="1665929" y="5059868"/>
                <a:ext cx="923544" cy="275525"/>
              </a:xfrm>
              <a:prstGeom prst="rect">
                <a:avLst/>
              </a:prstGeom>
              <a:noFill/>
              <a:ln w="9525" algn="ctr">
                <a:noFill/>
                <a:miter lim="800000"/>
                <a:headEnd/>
                <a:tailEnd/>
              </a:ln>
            </p:spPr>
            <p:txBody>
              <a:bodyPr lIns="0" tIns="0" rIns="0" bIns="0" anchor="ctr">
                <a:spAutoFit/>
              </a:bodyPr>
              <a:lstStyle/>
              <a:p>
                <a:pPr algn="ctr" eaLnBrk="0" hangingPunct="0">
                  <a:lnSpc>
                    <a:spcPct val="85000"/>
                  </a:lnSpc>
                  <a:spcBef>
                    <a:spcPts val="0"/>
                  </a:spcBef>
                  <a:defRPr/>
                </a:pPr>
                <a:r>
                  <a:rPr lang="en-US" altLang="zh-CN" sz="700" b="0">
                    <a:solidFill>
                      <a:srgbClr val="000000"/>
                    </a:solidFill>
                    <a:latin typeface="Calibri"/>
                    <a:ea typeface="DFKaiShu-GB5"/>
                    <a:cs typeface="Calibri" pitchFamily="34" charset="0"/>
                  </a:rPr>
                  <a:t>Haitong Securities</a:t>
                </a:r>
                <a:br>
                  <a:rPr lang="en-US" altLang="zh-CN" sz="700" b="0">
                    <a:solidFill>
                      <a:srgbClr val="000000"/>
                    </a:solidFill>
                    <a:latin typeface="Calibri"/>
                    <a:ea typeface="DFKaiShu-GB5"/>
                    <a:cs typeface="Calibri" pitchFamily="34" charset="0"/>
                  </a:rPr>
                </a:br>
                <a:r>
                  <a:rPr lang="en-US" altLang="zh-CN" sz="700" b="0">
                    <a:solidFill>
                      <a:srgbClr val="000000"/>
                    </a:solidFill>
                    <a:latin typeface="Calibri"/>
                    <a:ea typeface="DFKaiShu-GB5"/>
                    <a:cs typeface="Calibri" pitchFamily="34" charset="0"/>
                  </a:rPr>
                  <a:t>H-Shares</a:t>
                </a:r>
                <a:br>
                  <a:rPr lang="en-US" altLang="zh-CN" sz="700" b="0">
                    <a:solidFill>
                      <a:srgbClr val="000000"/>
                    </a:solidFill>
                    <a:latin typeface="Calibri"/>
                    <a:ea typeface="DFKaiShu-GB5"/>
                    <a:cs typeface="Calibri" pitchFamily="34" charset="0"/>
                  </a:rPr>
                </a:br>
                <a:r>
                  <a:rPr lang="en-US" altLang="zh-CN" sz="700" b="0">
                    <a:solidFill>
                      <a:srgbClr val="000000"/>
                    </a:solidFill>
                    <a:latin typeface="Calibri"/>
                    <a:ea typeface="DFKaiShu-GB5"/>
                    <a:cs typeface="Calibri" pitchFamily="34" charset="0"/>
                  </a:rPr>
                  <a:t>Financial Advisor</a:t>
                </a:r>
              </a:p>
            </p:txBody>
          </p:sp>
          <p:sp>
            <p:nvSpPr>
              <p:cNvPr id="97" name="Rectangle 409">
                <a:extLst>
                  <a:ext uri="{FF2B5EF4-FFF2-40B4-BE49-F238E27FC236}">
                    <a16:creationId xmlns:a16="http://schemas.microsoft.com/office/drawing/2014/main" id="{54E42065-8AB6-8B86-FC02-D753B2A43D4C}"/>
                  </a:ext>
                </a:extLst>
              </p:cNvPr>
              <p:cNvSpPr>
                <a:spLocks noChangeArrowheads="1"/>
              </p:cNvSpPr>
              <p:nvPr/>
            </p:nvSpPr>
            <p:spPr bwMode="auto">
              <a:xfrm>
                <a:off x="1665929" y="4590535"/>
                <a:ext cx="923544" cy="323165"/>
              </a:xfrm>
              <a:prstGeom prst="rect">
                <a:avLst/>
              </a:prstGeom>
              <a:noFill/>
              <a:ln w="9525">
                <a:noFill/>
                <a:miter lim="800000"/>
                <a:headEnd/>
                <a:tailEnd/>
              </a:ln>
            </p:spPr>
            <p:txBody>
              <a:bodyPr lIns="0" tIns="0" rIns="0" bIns="0" anchor="t" anchorCtr="0">
                <a:spAutoFit/>
              </a:bodyPr>
              <a:lstStyle/>
              <a:p>
                <a:pPr algn="ctr" eaLnBrk="0" hangingPunct="0">
                  <a:spcBef>
                    <a:spcPts val="0"/>
                  </a:spcBef>
                  <a:defRPr/>
                </a:pPr>
                <a:r>
                  <a:rPr lang="en-US" altLang="zh-TW" sz="700">
                    <a:solidFill>
                      <a:srgbClr val="000000"/>
                    </a:solidFill>
                    <a:latin typeface="Calibri"/>
                    <a:ea typeface="DFKaiShu-GB5"/>
                    <a:cs typeface="Calibri" pitchFamily="34" charset="0"/>
                  </a:rPr>
                  <a:t>Merger of Haitong Securities and Guotai Junan Securities</a:t>
                </a:r>
              </a:p>
            </p:txBody>
          </p:sp>
          <p:sp>
            <p:nvSpPr>
              <p:cNvPr id="98" name="Rectangle 412">
                <a:extLst>
                  <a:ext uri="{FF2B5EF4-FFF2-40B4-BE49-F238E27FC236}">
                    <a16:creationId xmlns:a16="http://schemas.microsoft.com/office/drawing/2014/main" id="{018EA502-BF04-7469-B47E-07E62D3577E9}"/>
                  </a:ext>
                </a:extLst>
              </p:cNvPr>
              <p:cNvSpPr>
                <a:spLocks noChangeArrowheads="1"/>
              </p:cNvSpPr>
              <p:nvPr/>
            </p:nvSpPr>
            <p:spPr bwMode="auto">
              <a:xfrm>
                <a:off x="1665929" y="5539705"/>
                <a:ext cx="923544" cy="123591"/>
              </a:xfrm>
              <a:prstGeom prst="rect">
                <a:avLst/>
              </a:prstGeom>
              <a:noFill/>
              <a:ln w="9525">
                <a:noFill/>
                <a:miter lim="800000"/>
                <a:headEnd/>
                <a:tailEnd/>
              </a:ln>
            </p:spPr>
            <p:txBody>
              <a:bodyPr wrap="none" lIns="0" tIns="0" rIns="0" bIns="0" anchor="ctr">
                <a:noAutofit/>
              </a:bodyPr>
              <a:lstStyle/>
              <a:p>
                <a:pPr algn="ctr" eaLnBrk="0" hangingPunct="0">
                  <a:defRPr/>
                </a:pPr>
                <a:r>
                  <a:rPr lang="en-US" altLang="zh-TW" sz="700" b="0">
                    <a:solidFill>
                      <a:srgbClr val="000000"/>
                    </a:solidFill>
                    <a:latin typeface="Calibri"/>
                    <a:ea typeface="DFKaiShu-GB5"/>
                    <a:cs typeface="Calibri" pitchFamily="34" charset="0"/>
                  </a:rPr>
                  <a:t>October 2024</a:t>
                </a:r>
              </a:p>
            </p:txBody>
          </p:sp>
          <p:pic>
            <p:nvPicPr>
              <p:cNvPr id="99" name="Picture 98">
                <a:extLst>
                  <a:ext uri="{FF2B5EF4-FFF2-40B4-BE49-F238E27FC236}">
                    <a16:creationId xmlns:a16="http://schemas.microsoft.com/office/drawing/2014/main" id="{2F661D95-1EA9-561B-132B-A6A5B09AB268}"/>
                  </a:ext>
                </a:extLst>
              </p:cNvPr>
              <p:cNvPicPr>
                <a:picLocks noChangeAspect="1"/>
              </p:cNvPicPr>
              <p:nvPr/>
            </p:nvPicPr>
            <p:blipFill rotWithShape="1">
              <a:blip r:embed="rId11"/>
              <a:srcRect l="16457" t="32273" r="16207" b="32383"/>
              <a:stretch/>
            </p:blipFill>
            <p:spPr>
              <a:xfrm>
                <a:off x="1768497" y="4134360"/>
                <a:ext cx="648279" cy="194075"/>
              </a:xfrm>
              <a:prstGeom prst="rect">
                <a:avLst/>
              </a:prstGeom>
            </p:spPr>
          </p:pic>
          <p:pic>
            <p:nvPicPr>
              <p:cNvPr id="100" name="Picture 99">
                <a:extLst>
                  <a:ext uri="{FF2B5EF4-FFF2-40B4-BE49-F238E27FC236}">
                    <a16:creationId xmlns:a16="http://schemas.microsoft.com/office/drawing/2014/main" id="{A5B54C3C-2F2C-8EC1-4004-F324EA973D63}"/>
                  </a:ext>
                </a:extLst>
              </p:cNvPr>
              <p:cNvPicPr>
                <a:picLocks noChangeAspect="1"/>
              </p:cNvPicPr>
              <p:nvPr/>
            </p:nvPicPr>
            <p:blipFill rotWithShape="1">
              <a:blip r:embed="rId12"/>
              <a:srcRect b="42090"/>
              <a:stretch/>
            </p:blipFill>
            <p:spPr>
              <a:xfrm>
                <a:off x="1720872" y="4380767"/>
                <a:ext cx="763698" cy="107529"/>
              </a:xfrm>
              <a:prstGeom prst="rect">
                <a:avLst/>
              </a:prstGeom>
            </p:spPr>
          </p:pic>
        </p:grpSp>
        <p:grpSp>
          <p:nvGrpSpPr>
            <p:cNvPr id="102" name="Group 101">
              <a:extLst>
                <a:ext uri="{FF2B5EF4-FFF2-40B4-BE49-F238E27FC236}">
                  <a16:creationId xmlns:a16="http://schemas.microsoft.com/office/drawing/2014/main" id="{E813A8C8-7C5A-A2A0-8506-B398FF60C913}"/>
                </a:ext>
              </a:extLst>
            </p:cNvPr>
            <p:cNvGrpSpPr/>
            <p:nvPr/>
          </p:nvGrpSpPr>
          <p:grpSpPr>
            <a:xfrm>
              <a:off x="1035693" y="4014166"/>
              <a:ext cx="933897" cy="1689077"/>
              <a:chOff x="618302" y="4014165"/>
              <a:chExt cx="933897" cy="1689077"/>
            </a:xfrm>
          </p:grpSpPr>
          <p:sp>
            <p:nvSpPr>
              <p:cNvPr id="24" name="Rectangle 406">
                <a:extLst>
                  <a:ext uri="{FF2B5EF4-FFF2-40B4-BE49-F238E27FC236}">
                    <a16:creationId xmlns:a16="http://schemas.microsoft.com/office/drawing/2014/main" id="{628B416D-0E6D-4294-2F98-438C25FE7495}"/>
                  </a:ext>
                </a:extLst>
              </p:cNvPr>
              <p:cNvSpPr>
                <a:spLocks noChangeArrowheads="1"/>
              </p:cNvSpPr>
              <p:nvPr/>
            </p:nvSpPr>
            <p:spPr bwMode="auto">
              <a:xfrm>
                <a:off x="618302" y="4014165"/>
                <a:ext cx="931885"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Calibri" panose="020F0502020204030204" pitchFamily="34" charset="0"/>
                  <a:cs typeface="Calibri" panose="020F0502020204030204" pitchFamily="34" charset="0"/>
                </a:endParaRPr>
              </a:p>
            </p:txBody>
          </p:sp>
          <p:sp>
            <p:nvSpPr>
              <p:cNvPr id="27" name="Rectangle 408">
                <a:extLst>
                  <a:ext uri="{FF2B5EF4-FFF2-40B4-BE49-F238E27FC236}">
                    <a16:creationId xmlns:a16="http://schemas.microsoft.com/office/drawing/2014/main" id="{39A4F49B-7E9B-BBBF-75D6-9AFF53EC54A1}"/>
                  </a:ext>
                </a:extLst>
              </p:cNvPr>
              <p:cNvSpPr>
                <a:spLocks noChangeArrowheads="1"/>
              </p:cNvSpPr>
              <p:nvPr/>
            </p:nvSpPr>
            <p:spPr bwMode="auto">
              <a:xfrm>
                <a:off x="628655" y="5136787"/>
                <a:ext cx="923544" cy="108043"/>
              </a:xfrm>
              <a:prstGeom prst="rect">
                <a:avLst/>
              </a:prstGeom>
              <a:noFill/>
              <a:ln w="9525" algn="ctr">
                <a:noFill/>
                <a:miter lim="800000"/>
                <a:headEnd/>
                <a:tailEnd/>
              </a:ln>
            </p:spPr>
            <p:txBody>
              <a:bodyPr wrap="square" lIns="0" tIns="0" rIns="0" bIns="0" anchor="ctr">
                <a:noAutofit/>
              </a:bodyPr>
              <a:lstStyle/>
              <a:p>
                <a:pPr algn="ctr" fontAlgn="auto">
                  <a:lnSpc>
                    <a:spcPct val="85000"/>
                  </a:lnSpc>
                  <a:spcAft>
                    <a:spcPts val="0"/>
                  </a:spcAft>
                  <a:defRPr/>
                </a:pPr>
                <a:r>
                  <a:rPr lang="en-US" altLang="zh-TW" sz="700" b="0">
                    <a:solidFill>
                      <a:srgbClr val="000000"/>
                    </a:solidFill>
                    <a:latin typeface="Calibri"/>
                    <a:ea typeface="DFKaiShu-GB5"/>
                    <a:cs typeface="DFPKaiShu-GB5" panose="03000500000000000000" pitchFamily="66" charset="-128"/>
                  </a:rPr>
                  <a:t>Financial Advisor</a:t>
                </a:r>
              </a:p>
            </p:txBody>
          </p:sp>
          <p:sp>
            <p:nvSpPr>
              <p:cNvPr id="30" name="Rectangle 409">
                <a:extLst>
                  <a:ext uri="{FF2B5EF4-FFF2-40B4-BE49-F238E27FC236}">
                    <a16:creationId xmlns:a16="http://schemas.microsoft.com/office/drawing/2014/main" id="{E12D43A2-6C19-5079-1CEB-1D071263C9C8}"/>
                  </a:ext>
                </a:extLst>
              </p:cNvPr>
              <p:cNvSpPr>
                <a:spLocks noChangeArrowheads="1"/>
              </p:cNvSpPr>
              <p:nvPr/>
            </p:nvSpPr>
            <p:spPr bwMode="auto">
              <a:xfrm>
                <a:off x="628560" y="4645398"/>
                <a:ext cx="923544" cy="215444"/>
              </a:xfrm>
              <a:prstGeom prst="rect">
                <a:avLst/>
              </a:prstGeom>
              <a:noFill/>
              <a:ln w="9525">
                <a:noFill/>
                <a:miter lim="800000"/>
                <a:headEnd/>
                <a:tailEnd/>
              </a:ln>
            </p:spPr>
            <p:txBody>
              <a:bodyPr lIns="0" tIns="0" rIns="0" bIns="0" anchor="ctr">
                <a:spAutoFit/>
              </a:bodyPr>
              <a:lstStyle/>
              <a:p>
                <a:pPr algn="ctr" fontAlgn="auto">
                  <a:spcAft>
                    <a:spcPts val="0"/>
                  </a:spcAft>
                  <a:defRPr/>
                </a:pPr>
                <a:r>
                  <a:rPr lang="en-US" altLang="zh-CN" sz="700">
                    <a:solidFill>
                      <a:srgbClr val="000000"/>
                    </a:solidFill>
                    <a:latin typeface="Calibri"/>
                    <a:ea typeface="DFKaiShu-GB5"/>
                    <a:cs typeface="DFPKaiShu-GB5" panose="03000500000000000000" pitchFamily="66" charset="-128"/>
                  </a:rPr>
                  <a:t>US$550 million</a:t>
                </a:r>
              </a:p>
              <a:p>
                <a:pPr algn="ctr" fontAlgn="auto">
                  <a:spcAft>
                    <a:spcPts val="0"/>
                  </a:spcAft>
                  <a:defRPr/>
                </a:pPr>
                <a:r>
                  <a:rPr lang="en-US" altLang="zh-CN" sz="700">
                    <a:solidFill>
                      <a:srgbClr val="000000"/>
                    </a:solidFill>
                    <a:latin typeface="Calibri"/>
                    <a:ea typeface="DFKaiShu-GB5"/>
                    <a:cs typeface="DFPKaiShu-GB5" panose="03000500000000000000" pitchFamily="66" charset="-128"/>
                  </a:rPr>
                  <a:t>Asset Disposal </a:t>
                </a:r>
                <a:endParaRPr lang="zh-CN" altLang="en-US" sz="700">
                  <a:solidFill>
                    <a:srgbClr val="000000"/>
                  </a:solidFill>
                  <a:latin typeface="Calibri"/>
                  <a:ea typeface="DFKaiShu-GB5"/>
                  <a:cs typeface="DFPKaiShu-GB5" panose="03000500000000000000" pitchFamily="66" charset="-128"/>
                </a:endParaRPr>
              </a:p>
            </p:txBody>
          </p:sp>
          <p:sp>
            <p:nvSpPr>
              <p:cNvPr id="33" name="Rectangle 412">
                <a:extLst>
                  <a:ext uri="{FF2B5EF4-FFF2-40B4-BE49-F238E27FC236}">
                    <a16:creationId xmlns:a16="http://schemas.microsoft.com/office/drawing/2014/main" id="{3C8437F1-8609-B0BD-4707-9DE9E2E7FB0D}"/>
                  </a:ext>
                </a:extLst>
              </p:cNvPr>
              <p:cNvSpPr>
                <a:spLocks noChangeArrowheads="1"/>
              </p:cNvSpPr>
              <p:nvPr/>
            </p:nvSpPr>
            <p:spPr bwMode="auto">
              <a:xfrm>
                <a:off x="628655" y="5532883"/>
                <a:ext cx="923544" cy="123591"/>
              </a:xfrm>
              <a:prstGeom prst="rect">
                <a:avLst/>
              </a:prstGeom>
              <a:noFill/>
              <a:ln w="9525">
                <a:noFill/>
                <a:miter lim="800000"/>
                <a:headEnd/>
                <a:tailEnd/>
              </a:ln>
            </p:spPr>
            <p:txBody>
              <a:bodyPr wrap="none" lIns="0" tIns="0" rIns="0" bIns="0" anchor="ctr">
                <a:noAutofit/>
              </a:bodyPr>
              <a:lstStyle/>
              <a:p>
                <a:pPr algn="ctr" fontAlgn="auto">
                  <a:spcBef>
                    <a:spcPts val="0"/>
                  </a:spcBef>
                  <a:spcAft>
                    <a:spcPts val="0"/>
                  </a:spcAft>
                  <a:defRPr/>
                </a:pPr>
                <a:r>
                  <a:rPr lang="en-US" altLang="zh-TW" sz="700" b="0">
                    <a:solidFill>
                      <a:srgbClr val="000000"/>
                    </a:solidFill>
                    <a:latin typeface="Calibri"/>
                    <a:ea typeface="DFKaiShu-GB5"/>
                    <a:cs typeface="DFPKaiShu-GB5" panose="03000500000000000000" pitchFamily="66" charset="-128"/>
                  </a:rPr>
                  <a:t>September 2025</a:t>
                </a:r>
                <a:endParaRPr lang="zh-TW" altLang="en-US" sz="700" b="0">
                  <a:solidFill>
                    <a:srgbClr val="000000"/>
                  </a:solidFill>
                  <a:latin typeface="Calibri"/>
                  <a:ea typeface="DFKaiShu-GB5"/>
                  <a:cs typeface="DFPKaiShu-GB5" panose="03000500000000000000" pitchFamily="66" charset="-128"/>
                </a:endParaRPr>
              </a:p>
            </p:txBody>
          </p:sp>
          <p:pic>
            <p:nvPicPr>
              <p:cNvPr id="101" name="Picture 5" descr="PPT模版">
                <a:extLst>
                  <a:ext uri="{FF2B5EF4-FFF2-40B4-BE49-F238E27FC236}">
                    <a16:creationId xmlns:a16="http://schemas.microsoft.com/office/drawing/2014/main" id="{C3AEFEA2-2D98-6CCC-7B4A-E895EAFD0D6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4713" y="4144240"/>
                <a:ext cx="747009" cy="205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5" name="Group 104">
              <a:extLst>
                <a:ext uri="{FF2B5EF4-FFF2-40B4-BE49-F238E27FC236}">
                  <a16:creationId xmlns:a16="http://schemas.microsoft.com/office/drawing/2014/main" id="{BA2FB742-371D-AD7F-0FA3-8AD2BB0720D8}"/>
                </a:ext>
              </a:extLst>
            </p:cNvPr>
            <p:cNvGrpSpPr/>
            <p:nvPr/>
          </p:nvGrpSpPr>
          <p:grpSpPr>
            <a:xfrm>
              <a:off x="5983983" y="4017009"/>
              <a:ext cx="937246" cy="1689077"/>
              <a:chOff x="5618912" y="4017008"/>
              <a:chExt cx="937246" cy="1689077"/>
            </a:xfrm>
          </p:grpSpPr>
          <p:sp>
            <p:nvSpPr>
              <p:cNvPr id="25" name="Rectangle 406">
                <a:extLst>
                  <a:ext uri="{FF2B5EF4-FFF2-40B4-BE49-F238E27FC236}">
                    <a16:creationId xmlns:a16="http://schemas.microsoft.com/office/drawing/2014/main" id="{BAE93793-9543-6069-E6C2-9A04C24DDF87}"/>
                  </a:ext>
                </a:extLst>
              </p:cNvPr>
              <p:cNvSpPr>
                <a:spLocks noChangeArrowheads="1"/>
              </p:cNvSpPr>
              <p:nvPr/>
            </p:nvSpPr>
            <p:spPr bwMode="auto">
              <a:xfrm>
                <a:off x="5625045" y="4017008"/>
                <a:ext cx="915399" cy="1689077"/>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endParaRPr lang="en-US" sz="800" kern="0">
                  <a:solidFill>
                    <a:prstClr val="black"/>
                  </a:solidFill>
                  <a:latin typeface="Calibri" panose="020F0502020204030204" pitchFamily="34" charset="0"/>
                  <a:cs typeface="Calibri" panose="020F0502020204030204" pitchFamily="34" charset="0"/>
                </a:endParaRPr>
              </a:p>
            </p:txBody>
          </p:sp>
          <p:sp>
            <p:nvSpPr>
              <p:cNvPr id="40" name="Rectangle 408">
                <a:extLst>
                  <a:ext uri="{FF2B5EF4-FFF2-40B4-BE49-F238E27FC236}">
                    <a16:creationId xmlns:a16="http://schemas.microsoft.com/office/drawing/2014/main" id="{4E54AE94-B14D-6C85-C29D-6CD0C7956141}"/>
                  </a:ext>
                </a:extLst>
              </p:cNvPr>
              <p:cNvSpPr>
                <a:spLocks noChangeArrowheads="1"/>
              </p:cNvSpPr>
              <p:nvPr/>
            </p:nvSpPr>
            <p:spPr bwMode="auto">
              <a:xfrm>
                <a:off x="5618912" y="5139630"/>
                <a:ext cx="923544" cy="108043"/>
              </a:xfrm>
              <a:prstGeom prst="rect">
                <a:avLst/>
              </a:prstGeom>
              <a:noFill/>
              <a:ln w="9525" algn="ctr">
                <a:noFill/>
                <a:miter lim="800000"/>
                <a:headEnd/>
                <a:tailEnd/>
              </a:ln>
            </p:spPr>
            <p:txBody>
              <a:bodyPr wrap="square" lIns="0" tIns="0" rIns="0" bIns="0" anchor="ctr">
                <a:noAutofit/>
              </a:bodyPr>
              <a:lstStyle/>
              <a:p>
                <a:pPr algn="ctr" fontAlgn="auto">
                  <a:lnSpc>
                    <a:spcPct val="85000"/>
                  </a:lnSpc>
                  <a:spcAft>
                    <a:spcPts val="0"/>
                  </a:spcAft>
                  <a:defRPr/>
                </a:pPr>
                <a:r>
                  <a:rPr lang="en-US" altLang="zh-TW" sz="700" b="0">
                    <a:solidFill>
                      <a:srgbClr val="000000"/>
                    </a:solidFill>
                    <a:latin typeface="Calibri"/>
                    <a:ea typeface="DFKaiShu-GB5"/>
                    <a:cs typeface="DFPKaiShu-GB5" panose="03000500000000000000" pitchFamily="66" charset="-128"/>
                  </a:rPr>
                  <a:t>Financial Advisor</a:t>
                </a:r>
              </a:p>
            </p:txBody>
          </p:sp>
          <p:sp>
            <p:nvSpPr>
              <p:cNvPr id="41" name="Rectangle 409">
                <a:extLst>
                  <a:ext uri="{FF2B5EF4-FFF2-40B4-BE49-F238E27FC236}">
                    <a16:creationId xmlns:a16="http://schemas.microsoft.com/office/drawing/2014/main" id="{905E0707-BE68-0EFB-5887-BB28C27A60E9}"/>
                  </a:ext>
                </a:extLst>
              </p:cNvPr>
              <p:cNvSpPr>
                <a:spLocks noChangeArrowheads="1"/>
              </p:cNvSpPr>
              <p:nvPr/>
            </p:nvSpPr>
            <p:spPr bwMode="auto">
              <a:xfrm>
                <a:off x="5632614" y="4624606"/>
                <a:ext cx="923544" cy="215444"/>
              </a:xfrm>
              <a:prstGeom prst="rect">
                <a:avLst/>
              </a:prstGeom>
              <a:noFill/>
              <a:ln w="9525">
                <a:noFill/>
                <a:miter lim="800000"/>
                <a:headEnd/>
                <a:tailEnd/>
              </a:ln>
            </p:spPr>
            <p:txBody>
              <a:bodyPr lIns="0" tIns="0" rIns="0" bIns="0" anchor="ctr">
                <a:spAutoFit/>
              </a:bodyPr>
              <a:lstStyle/>
              <a:p>
                <a:pPr algn="ctr" fontAlgn="auto">
                  <a:spcAft>
                    <a:spcPts val="0"/>
                  </a:spcAft>
                  <a:defRPr/>
                </a:pPr>
                <a:r>
                  <a:rPr lang="en-US" altLang="zh-CN" sz="700">
                    <a:solidFill>
                      <a:srgbClr val="000000"/>
                    </a:solidFill>
                    <a:latin typeface="Calibri"/>
                    <a:ea typeface="DFKaiShu-GB5"/>
                    <a:cs typeface="DFPKaiShu-GB5" panose="03000500000000000000" pitchFamily="66" charset="-128"/>
                  </a:rPr>
                  <a:t>US$1,250m</a:t>
                </a:r>
              </a:p>
              <a:p>
                <a:pPr algn="ctr" fontAlgn="auto">
                  <a:spcAft>
                    <a:spcPts val="0"/>
                  </a:spcAft>
                  <a:defRPr/>
                </a:pPr>
                <a:r>
                  <a:rPr lang="en-US" altLang="zh-CN" sz="700">
                    <a:solidFill>
                      <a:srgbClr val="000000"/>
                    </a:solidFill>
                    <a:latin typeface="Calibri"/>
                    <a:ea typeface="DFKaiShu-GB5"/>
                    <a:cs typeface="DFPKaiShu-GB5" panose="03000500000000000000" pitchFamily="66" charset="-128"/>
                  </a:rPr>
                  <a:t>Acquisition</a:t>
                </a:r>
              </a:p>
            </p:txBody>
          </p:sp>
          <p:sp>
            <p:nvSpPr>
              <p:cNvPr id="42" name="Rectangle 412">
                <a:extLst>
                  <a:ext uri="{FF2B5EF4-FFF2-40B4-BE49-F238E27FC236}">
                    <a16:creationId xmlns:a16="http://schemas.microsoft.com/office/drawing/2014/main" id="{6B7F0C31-42C9-93D6-D05D-B10D57525F9A}"/>
                  </a:ext>
                </a:extLst>
              </p:cNvPr>
              <p:cNvSpPr>
                <a:spLocks noChangeArrowheads="1"/>
              </p:cNvSpPr>
              <p:nvPr/>
            </p:nvSpPr>
            <p:spPr bwMode="auto">
              <a:xfrm>
                <a:off x="5618912" y="5535726"/>
                <a:ext cx="923544" cy="123591"/>
              </a:xfrm>
              <a:prstGeom prst="rect">
                <a:avLst/>
              </a:prstGeom>
              <a:noFill/>
              <a:ln w="9525">
                <a:noFill/>
                <a:miter lim="800000"/>
                <a:headEnd/>
                <a:tailEnd/>
              </a:ln>
            </p:spPr>
            <p:txBody>
              <a:bodyPr wrap="none" lIns="0" tIns="0" rIns="0" bIns="0" anchor="ctr">
                <a:noAutofit/>
              </a:bodyPr>
              <a:lstStyle/>
              <a:p>
                <a:pPr algn="ctr" fontAlgn="auto">
                  <a:spcBef>
                    <a:spcPts val="0"/>
                  </a:spcBef>
                  <a:spcAft>
                    <a:spcPts val="0"/>
                  </a:spcAft>
                  <a:defRPr/>
                </a:pPr>
                <a:r>
                  <a:rPr lang="en-US" altLang="zh-TW" sz="700" b="0">
                    <a:solidFill>
                      <a:srgbClr val="000000"/>
                    </a:solidFill>
                    <a:latin typeface="Calibri"/>
                    <a:ea typeface="DFKaiShu-GB5"/>
                    <a:cs typeface="DFPKaiShu-GB5" panose="03000500000000000000" pitchFamily="66" charset="-128"/>
                  </a:rPr>
                  <a:t>December 2021</a:t>
                </a:r>
                <a:endParaRPr lang="zh-TW" altLang="en-US" sz="700" b="0">
                  <a:solidFill>
                    <a:srgbClr val="000000"/>
                  </a:solidFill>
                  <a:latin typeface="Calibri"/>
                  <a:ea typeface="DFKaiShu-GB5"/>
                  <a:cs typeface="DFPKaiShu-GB5" panose="03000500000000000000" pitchFamily="66" charset="-128"/>
                </a:endParaRPr>
              </a:p>
            </p:txBody>
          </p:sp>
          <p:pic>
            <p:nvPicPr>
              <p:cNvPr id="43" name="Picture 5" descr="PPT模版">
                <a:extLst>
                  <a:ext uri="{FF2B5EF4-FFF2-40B4-BE49-F238E27FC236}">
                    <a16:creationId xmlns:a16="http://schemas.microsoft.com/office/drawing/2014/main" id="{ADAB74D9-00FE-70C8-908D-753145CBC0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94559" y="4129915"/>
                <a:ext cx="747009" cy="205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Rectangle 406">
              <a:extLst>
                <a:ext uri="{FF2B5EF4-FFF2-40B4-BE49-F238E27FC236}">
                  <a16:creationId xmlns:a16="http://schemas.microsoft.com/office/drawing/2014/main" id="{3C1AE35D-9760-B7DA-7F70-56C3F2EDBF5F}"/>
                </a:ext>
              </a:extLst>
            </p:cNvPr>
            <p:cNvSpPr>
              <a:spLocks noChangeArrowheads="1"/>
            </p:cNvSpPr>
            <p:nvPr/>
          </p:nvSpPr>
          <p:spPr bwMode="auto">
            <a:xfrm>
              <a:off x="1035692" y="1437133"/>
              <a:ext cx="914400" cy="1691640"/>
            </a:xfrm>
            <a:prstGeom prst="rect">
              <a:avLst/>
            </a:prstGeom>
            <a:solidFill>
              <a:sysClr val="window" lastClr="FFFFFF"/>
            </a:solidFill>
            <a:ln w="6350" cap="flat" cmpd="sng" algn="ctr">
              <a:solidFill>
                <a:srgbClr val="E7E6E6">
                  <a:lumMod val="75000"/>
                </a:srgbClr>
              </a:solidFill>
              <a:prstDash val="solid"/>
              <a:miter lim="800000"/>
              <a:headEnd/>
              <a:tailEnd type="none" w="sm" len="sm"/>
            </a:ln>
            <a:effectLst>
              <a:outerShdw dist="35560" dir="2700000" algn="ctr" rotWithShape="0">
                <a:srgbClr val="D9D9D9"/>
              </a:outerShdw>
            </a:effectLst>
          </p:spPr>
          <p:txBody>
            <a:bodyPr lIns="0" tIns="457200" rIns="0" bIns="0" rtlCol="0" anchor="t" anchorCtr="0"/>
            <a:lstStyle/>
            <a:p>
              <a:pPr algn="ctr">
                <a:spcBef>
                  <a:spcPct val="50000"/>
                </a:spcBef>
                <a:defRPr/>
              </a:pPr>
              <a:endParaRPr lang="en-US" sz="800" kern="0">
                <a:solidFill>
                  <a:prstClr val="black"/>
                </a:solidFill>
                <a:latin typeface="Arial"/>
                <a:ea typeface="STKaiti"/>
                <a:cs typeface="Arial" panose="020B0604020202020204" pitchFamily="34" charset="0"/>
              </a:endParaRPr>
            </a:p>
          </p:txBody>
        </p:sp>
        <p:sp>
          <p:nvSpPr>
            <p:cNvPr id="5" name="Rectangle 408">
              <a:extLst>
                <a:ext uri="{FF2B5EF4-FFF2-40B4-BE49-F238E27FC236}">
                  <a16:creationId xmlns:a16="http://schemas.microsoft.com/office/drawing/2014/main" id="{BC8712EE-BD26-A644-2657-ABCA470108DE}"/>
                </a:ext>
              </a:extLst>
            </p:cNvPr>
            <p:cNvSpPr>
              <a:spLocks noChangeArrowheads="1"/>
            </p:cNvSpPr>
            <p:nvPr/>
          </p:nvSpPr>
          <p:spPr bwMode="auto">
            <a:xfrm>
              <a:off x="1035692" y="2503204"/>
              <a:ext cx="914400" cy="215444"/>
            </a:xfrm>
            <a:prstGeom prst="rect">
              <a:avLst/>
            </a:prstGeom>
            <a:noFill/>
            <a:ln w="9525">
              <a:noFill/>
              <a:miter lim="800000"/>
              <a:headEnd/>
              <a:tailEnd/>
            </a:ln>
          </p:spPr>
          <p:txBody>
            <a:bodyPr wrap="square" lIns="0" tIns="0" rIns="0" bIns="0" anchor="ctr">
              <a:spAutoFit/>
            </a:bodyPr>
            <a:lstStyle/>
            <a:p>
              <a:pPr algn="ctr" eaLnBrk="0" fontAlgn="base" hangingPunct="0">
                <a:spcBef>
                  <a:spcPct val="0"/>
                </a:spcBef>
                <a:spcAft>
                  <a:spcPct val="0"/>
                </a:spcAft>
              </a:pPr>
              <a:r>
                <a:rPr lang="en-US" altLang="zh-CN" sz="700">
                  <a:solidFill>
                    <a:srgbClr val="000000"/>
                  </a:solidFill>
                  <a:latin typeface="Calibri"/>
                  <a:ea typeface="DFKaiShu-GB5"/>
                  <a:cs typeface="Calibri" pitchFamily="34" charset="0"/>
                </a:rPr>
                <a:t>Placing Agent and Overall Coordinator</a:t>
              </a:r>
              <a:endParaRPr lang="zh-CN" altLang="en-US" sz="700">
                <a:solidFill>
                  <a:srgbClr val="000000"/>
                </a:solidFill>
                <a:latin typeface="Calibri"/>
                <a:ea typeface="DFKaiShu-GB5"/>
                <a:cs typeface="Calibri" pitchFamily="34" charset="0"/>
              </a:endParaRPr>
            </a:p>
          </p:txBody>
        </p:sp>
        <p:sp>
          <p:nvSpPr>
            <p:cNvPr id="6" name="Rectangle 412">
              <a:extLst>
                <a:ext uri="{FF2B5EF4-FFF2-40B4-BE49-F238E27FC236}">
                  <a16:creationId xmlns:a16="http://schemas.microsoft.com/office/drawing/2014/main" id="{763A926C-346E-A56B-8FC7-79C4B801A65D}"/>
                </a:ext>
              </a:extLst>
            </p:cNvPr>
            <p:cNvSpPr>
              <a:spLocks noChangeArrowheads="1"/>
            </p:cNvSpPr>
            <p:nvPr/>
          </p:nvSpPr>
          <p:spPr bwMode="auto">
            <a:xfrm>
              <a:off x="1035692" y="2960189"/>
              <a:ext cx="914400" cy="107722"/>
            </a:xfrm>
            <a:prstGeom prst="rect">
              <a:avLst/>
            </a:prstGeom>
            <a:noFill/>
            <a:ln w="9525">
              <a:noFill/>
              <a:miter lim="800000"/>
              <a:headEnd/>
              <a:tailEnd/>
            </a:ln>
          </p:spPr>
          <p:txBody>
            <a:bodyPr wrap="square" lIns="0" tIns="0" rIns="0" bIns="0" anchor="ctr">
              <a:spAutoFit/>
            </a:bodyPr>
            <a:lstStyle/>
            <a:p>
              <a:pPr algn="ctr" eaLnBrk="0" fontAlgn="base" hangingPunct="0">
                <a:spcBef>
                  <a:spcPct val="0"/>
                </a:spcBef>
                <a:spcAft>
                  <a:spcPct val="0"/>
                </a:spcAft>
              </a:pPr>
              <a:r>
                <a:rPr lang="en-US" altLang="zh-TW" sz="700">
                  <a:solidFill>
                    <a:srgbClr val="000000"/>
                  </a:solidFill>
                  <a:latin typeface="Calibri"/>
                  <a:ea typeface="DFKaiShu-GB5"/>
                  <a:cs typeface="Calibri" pitchFamily="34" charset="0"/>
                </a:rPr>
                <a:t>February 2026</a:t>
              </a:r>
              <a:endParaRPr lang="zh-TW" altLang="en-US" sz="700">
                <a:solidFill>
                  <a:srgbClr val="000000"/>
                </a:solidFill>
                <a:latin typeface="Calibri"/>
                <a:ea typeface="DFKaiShu-GB5"/>
                <a:cs typeface="Calibri" pitchFamily="34" charset="0"/>
              </a:endParaRPr>
            </a:p>
          </p:txBody>
        </p:sp>
        <p:sp>
          <p:nvSpPr>
            <p:cNvPr id="7" name="Rectangle 409">
              <a:extLst>
                <a:ext uri="{FF2B5EF4-FFF2-40B4-BE49-F238E27FC236}">
                  <a16:creationId xmlns:a16="http://schemas.microsoft.com/office/drawing/2014/main" id="{016F5D12-400C-64C4-4FE3-8A4FBA9485BF}"/>
                </a:ext>
              </a:extLst>
            </p:cNvPr>
            <p:cNvSpPr>
              <a:spLocks noChangeArrowheads="1"/>
            </p:cNvSpPr>
            <p:nvPr/>
          </p:nvSpPr>
          <p:spPr bwMode="auto">
            <a:xfrm>
              <a:off x="1035692" y="2016561"/>
              <a:ext cx="914400" cy="215444"/>
            </a:xfrm>
            <a:prstGeom prst="rect">
              <a:avLst/>
            </a:prstGeom>
            <a:noFill/>
            <a:ln w="9525">
              <a:noFill/>
              <a:miter lim="800000"/>
              <a:headEnd/>
              <a:tailEnd/>
            </a:ln>
          </p:spPr>
          <p:txBody>
            <a:bodyPr wrap="square" lIns="0" tIns="0" rIns="0" bIns="0" anchor="ctr">
              <a:spAutoFit/>
            </a:bodyPr>
            <a:lstStyle/>
            <a:p>
              <a:pPr algn="ctr" eaLnBrk="0" fontAlgn="base" hangingPunct="0">
                <a:spcBef>
                  <a:spcPct val="0"/>
                </a:spcBef>
                <a:spcAft>
                  <a:spcPct val="0"/>
                </a:spcAft>
              </a:pPr>
              <a:r>
                <a:rPr lang="en-US" altLang="zh-TW" sz="700">
                  <a:solidFill>
                    <a:srgbClr val="000000"/>
                  </a:solidFill>
                  <a:latin typeface="Calibri"/>
                  <a:ea typeface="DFKaiShu-GB5"/>
                  <a:cs typeface="Calibri" pitchFamily="34" charset="0"/>
                </a:rPr>
                <a:t>US$20m</a:t>
              </a:r>
              <a:br>
                <a:rPr lang="en-US" altLang="zh-TW" sz="700">
                  <a:solidFill>
                    <a:srgbClr val="000000"/>
                  </a:solidFill>
                  <a:latin typeface="Calibri"/>
                  <a:ea typeface="DFKaiShu-GB5"/>
                  <a:cs typeface="Calibri" pitchFamily="34" charset="0"/>
                </a:rPr>
              </a:br>
              <a:r>
                <a:rPr lang="en-US" altLang="zh-CN" sz="700">
                  <a:solidFill>
                    <a:srgbClr val="000000"/>
                  </a:solidFill>
                  <a:latin typeface="Calibri"/>
                  <a:ea typeface="DFKaiShu-GB5"/>
                  <a:cs typeface="Calibri" pitchFamily="34" charset="0"/>
                </a:rPr>
                <a:t>Placement</a:t>
              </a:r>
            </a:p>
          </p:txBody>
        </p:sp>
        <p:pic>
          <p:nvPicPr>
            <p:cNvPr id="21" name="Picture 20">
              <a:extLst>
                <a:ext uri="{FF2B5EF4-FFF2-40B4-BE49-F238E27FC236}">
                  <a16:creationId xmlns:a16="http://schemas.microsoft.com/office/drawing/2014/main" id="{42DD6904-69F4-FF4E-9A95-DD42891B5E78}"/>
                </a:ext>
              </a:extLst>
            </p:cNvPr>
            <p:cNvPicPr>
              <a:picLocks noChangeAspect="1"/>
            </p:cNvPicPr>
            <p:nvPr/>
          </p:nvPicPr>
          <p:blipFill>
            <a:blip r:embed="rId13"/>
            <a:stretch>
              <a:fillRect/>
            </a:stretch>
          </p:blipFill>
          <p:spPr>
            <a:xfrm>
              <a:off x="1069904" y="1540256"/>
              <a:ext cx="845977" cy="301439"/>
            </a:xfrm>
            <a:prstGeom prst="rect">
              <a:avLst/>
            </a:prstGeom>
          </p:spPr>
        </p:pic>
      </p:grpSp>
      <p:sp>
        <p:nvSpPr>
          <p:cNvPr id="22" name="Slide Number Placeholder 1">
            <a:extLst>
              <a:ext uri="{FF2B5EF4-FFF2-40B4-BE49-F238E27FC236}">
                <a16:creationId xmlns:a16="http://schemas.microsoft.com/office/drawing/2014/main" id="{E30E3536-0195-9FD1-0A6D-122DAF8A038F}"/>
              </a:ext>
            </a:extLst>
          </p:cNvPr>
          <p:cNvSpPr>
            <a:spLocks noGrp="1"/>
          </p:cNvSpPr>
          <p:nvPr>
            <p:ph type="sldNum" sz="quarter" idx="11"/>
          </p:nvPr>
        </p:nvSpPr>
        <p:spPr>
          <a:xfrm>
            <a:off x="9454758" y="6388883"/>
            <a:ext cx="432000" cy="360000"/>
          </a:xfrm>
        </p:spPr>
        <p:txBody>
          <a:bodyPr/>
          <a:lstStyle/>
          <a:p>
            <a:pPr>
              <a:defRPr/>
            </a:pPr>
            <a:fld id="{EED7964B-8F50-47E5-B5EE-37748C966AF4}" type="slidenum">
              <a:rPr lang="en-US" smtClean="0"/>
              <a:pPr>
                <a:defRPr/>
              </a:pPr>
              <a:t>38</a:t>
            </a:fld>
            <a:endParaRPr lang="en-US"/>
          </a:p>
        </p:txBody>
      </p:sp>
      <p:sp>
        <p:nvSpPr>
          <p:cNvPr id="3" name="TextBox 2">
            <a:extLst>
              <a:ext uri="{FF2B5EF4-FFF2-40B4-BE49-F238E27FC236}">
                <a16:creationId xmlns:a16="http://schemas.microsoft.com/office/drawing/2014/main" id="{7B2D2AC7-A27D-4803-BED0-3E585EF5DE63}"/>
              </a:ext>
            </a:extLst>
          </p:cNvPr>
          <p:cNvSpPr txBox="1"/>
          <p:nvPr/>
        </p:nvSpPr>
        <p:spPr>
          <a:xfrm>
            <a:off x="0" y="0"/>
            <a:ext cx="1544260" cy="288147"/>
          </a:xfrm>
          <a:prstGeom prst="rect">
            <a:avLst/>
          </a:prstGeom>
          <a:solidFill>
            <a:schemeClr val="accent1">
              <a:lumMod val="20000"/>
              <a:lumOff val="80000"/>
            </a:schemeClr>
          </a:solidFill>
          <a:ln w="6350">
            <a:noFill/>
            <a:prstDash val="dash"/>
          </a:ln>
        </p:spPr>
        <p:txBody>
          <a:bodyPr wrap="none" lIns="36000" tIns="36000" rIns="36000" bIns="36000" rtlCol="0" anchor="t">
            <a:spAutoFit/>
          </a:bodyPr>
          <a:lstStyle/>
          <a:p>
            <a:pPr algn="l">
              <a:spcAft>
                <a:spcPts val="200"/>
              </a:spcAft>
            </a:pPr>
            <a:r>
              <a:rPr lang="en-US" altLang="zh-TW" sz="1400" dirty="0">
                <a:solidFill>
                  <a:schemeClr val="tx1"/>
                </a:solidFill>
              </a:rPr>
              <a:t>HK team updated</a:t>
            </a:r>
            <a:endParaRPr lang="en-GB" sz="1400" dirty="0">
              <a:solidFill>
                <a:schemeClr val="tx1"/>
              </a:solidFill>
            </a:endParaRPr>
          </a:p>
        </p:txBody>
      </p:sp>
    </p:spTree>
    <p:extLst>
      <p:ext uri="{BB962C8B-B14F-4D97-AF65-F5344CB8AC3E}">
        <p14:creationId xmlns:p14="http://schemas.microsoft.com/office/powerpoint/2010/main" val="3885695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68402-6CCC-43F3-13BF-60BC45DBF0B1}"/>
              </a:ext>
            </a:extLst>
          </p:cNvPr>
          <p:cNvSpPr>
            <a:spLocks noGrp="1"/>
          </p:cNvSpPr>
          <p:nvPr>
            <p:ph type="title"/>
          </p:nvPr>
        </p:nvSpPr>
        <p:spPr/>
        <p:txBody>
          <a:bodyPr>
            <a:noAutofit/>
          </a:bodyPr>
          <a:lstStyle/>
          <a:p>
            <a:r>
              <a:rPr lang="en-US"/>
              <a:t>DBS continues to provide research coverage and profile companies in conferences and roadshows post listing</a:t>
            </a:r>
          </a:p>
        </p:txBody>
      </p:sp>
      <p:sp>
        <p:nvSpPr>
          <p:cNvPr id="4" name="Slide Number Placeholder 3">
            <a:extLst>
              <a:ext uri="{FF2B5EF4-FFF2-40B4-BE49-F238E27FC236}">
                <a16:creationId xmlns:a16="http://schemas.microsoft.com/office/drawing/2014/main" id="{7EEA667D-1434-B6D4-3CC3-10D5ABE3016D}"/>
              </a:ext>
            </a:extLst>
          </p:cNvPr>
          <p:cNvSpPr>
            <a:spLocks noGrp="1"/>
          </p:cNvSpPr>
          <p:nvPr>
            <p:ph type="sldNum" sz="quarter" idx="11"/>
          </p:nvPr>
        </p:nvSpPr>
        <p:spPr/>
        <p:txBody>
          <a:bodyPr/>
          <a:lstStyle/>
          <a:p>
            <a:pPr>
              <a:defRPr/>
            </a:pPr>
            <a:fld id="{EED7964B-8F50-47E5-B5EE-37748C966AF4}" type="slidenum">
              <a:rPr lang="en-US" smtClean="0"/>
              <a:pPr>
                <a:defRPr/>
              </a:pPr>
              <a:t>39</a:t>
            </a:fld>
            <a:r>
              <a:rPr lang="en-US"/>
              <a:t> </a:t>
            </a:r>
          </a:p>
        </p:txBody>
      </p:sp>
      <p:sp>
        <p:nvSpPr>
          <p:cNvPr id="19" name="Text Placeholder 18">
            <a:extLst>
              <a:ext uri="{FF2B5EF4-FFF2-40B4-BE49-F238E27FC236}">
                <a16:creationId xmlns:a16="http://schemas.microsoft.com/office/drawing/2014/main" id="{23A9E074-7E27-90F5-209B-C7951946E2DA}"/>
              </a:ext>
            </a:extLst>
          </p:cNvPr>
          <p:cNvSpPr>
            <a:spLocks noGrp="1"/>
          </p:cNvSpPr>
          <p:nvPr>
            <p:ph type="body" sz="quarter" idx="46"/>
          </p:nvPr>
        </p:nvSpPr>
        <p:spPr/>
        <p:txBody>
          <a:bodyPr/>
          <a:lstStyle/>
          <a:p>
            <a:pPr marL="0" indent="0">
              <a:buNone/>
            </a:pPr>
            <a:r>
              <a:rPr lang="en-US" sz="800"/>
              <a:t>Source: DBS Research</a:t>
            </a:r>
          </a:p>
        </p:txBody>
      </p:sp>
      <p:graphicFrame>
        <p:nvGraphicFramePr>
          <p:cNvPr id="5" name="Chart 4">
            <a:extLst>
              <a:ext uri="{FF2B5EF4-FFF2-40B4-BE49-F238E27FC236}">
                <a16:creationId xmlns:a16="http://schemas.microsoft.com/office/drawing/2014/main" id="{2D0332D1-13FD-4E7D-0E06-B31C65DAED79}"/>
              </a:ext>
            </a:extLst>
          </p:cNvPr>
          <p:cNvGraphicFramePr/>
          <p:nvPr/>
        </p:nvGraphicFramePr>
        <p:xfrm>
          <a:off x="5133562" y="1384158"/>
          <a:ext cx="4319437" cy="160455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Table 8">
            <a:extLst>
              <a:ext uri="{FF2B5EF4-FFF2-40B4-BE49-F238E27FC236}">
                <a16:creationId xmlns:a16="http://schemas.microsoft.com/office/drawing/2014/main" id="{4399A201-CACE-8D8C-AE68-0DC4BA75C7D6}"/>
              </a:ext>
            </a:extLst>
          </p:cNvPr>
          <p:cNvGraphicFramePr>
            <a:graphicFrameLocks noGrp="1"/>
          </p:cNvGraphicFramePr>
          <p:nvPr>
            <p:custDataLst>
              <p:tags r:id="rId1"/>
            </p:custDataLst>
            <p:extLst>
              <p:ext uri="{D42A27DB-BD31-4B8C-83A1-F6EECF244321}">
                <p14:modId xmlns:p14="http://schemas.microsoft.com/office/powerpoint/2010/main" val="3322045112"/>
              </p:ext>
            </p:extLst>
          </p:nvPr>
        </p:nvGraphicFramePr>
        <p:xfrm>
          <a:off x="452435" y="1276332"/>
          <a:ext cx="4391993" cy="5042211"/>
        </p:xfrm>
        <a:graphic>
          <a:graphicData uri="http://schemas.openxmlformats.org/drawingml/2006/table">
            <a:tbl>
              <a:tblPr firstRow="1" bandRow="1">
                <a:tableStyleId>{2D5ABB26-0587-4C30-8999-92F81FD0307C}</a:tableStyleId>
              </a:tblPr>
              <a:tblGrid>
                <a:gridCol w="1932008">
                  <a:extLst>
                    <a:ext uri="{9D8B030D-6E8A-4147-A177-3AD203B41FA5}">
                      <a16:colId xmlns:a16="http://schemas.microsoft.com/office/drawing/2014/main" val="3821163844"/>
                    </a:ext>
                  </a:extLst>
                </a:gridCol>
                <a:gridCol w="723525">
                  <a:extLst>
                    <a:ext uri="{9D8B030D-6E8A-4147-A177-3AD203B41FA5}">
                      <a16:colId xmlns:a16="http://schemas.microsoft.com/office/drawing/2014/main" val="160199747"/>
                    </a:ext>
                  </a:extLst>
                </a:gridCol>
                <a:gridCol w="723525">
                  <a:extLst>
                    <a:ext uri="{9D8B030D-6E8A-4147-A177-3AD203B41FA5}">
                      <a16:colId xmlns:a16="http://schemas.microsoft.com/office/drawing/2014/main" val="310659497"/>
                    </a:ext>
                  </a:extLst>
                </a:gridCol>
                <a:gridCol w="1012935">
                  <a:extLst>
                    <a:ext uri="{9D8B030D-6E8A-4147-A177-3AD203B41FA5}">
                      <a16:colId xmlns:a16="http://schemas.microsoft.com/office/drawing/2014/main" val="2643103340"/>
                    </a:ext>
                  </a:extLst>
                </a:gridCol>
              </a:tblGrid>
              <a:tr h="308111">
                <a:tc>
                  <a:txBody>
                    <a:bodyPr/>
                    <a:lstStyle/>
                    <a:p>
                      <a:r>
                        <a:rPr lang="en-US" sz="900" b="1">
                          <a:solidFill>
                            <a:sysClr val="windowText" lastClr="000000"/>
                          </a:solidFill>
                          <a:latin typeface="+mj-lt"/>
                          <a:cs typeface="Arial" panose="020B0604020202020204" pitchFamily="34" charset="0"/>
                        </a:rPr>
                        <a:t>IPO </a:t>
                      </a:r>
                      <a:endParaRPr lang="en-SG" sz="900" b="1">
                        <a:solidFill>
                          <a:sysClr val="windowText" lastClr="000000"/>
                        </a:solidFill>
                        <a:latin typeface="+mj-lt"/>
                        <a:cs typeface="Arial" panose="020B0604020202020204" pitchFamily="34" charset="0"/>
                      </a:endParaRPr>
                    </a:p>
                  </a:txBody>
                  <a:tcPr marL="18000" marR="18000" marT="18000" marB="18000" anchor="ctr">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a:r>
                        <a:rPr lang="en-US" sz="900" b="1">
                          <a:solidFill>
                            <a:sysClr val="windowText" lastClr="000000"/>
                          </a:solidFill>
                          <a:latin typeface="+mj-lt"/>
                          <a:cs typeface="Arial" panose="020B0604020202020204" pitchFamily="34" charset="0"/>
                        </a:rPr>
                        <a:t>Listing exchange</a:t>
                      </a:r>
                      <a:endParaRPr lang="en-SG" sz="900" b="1">
                        <a:solidFill>
                          <a:sysClr val="windowText" lastClr="000000"/>
                        </a:solidFill>
                        <a:latin typeface="+mj-lt"/>
                        <a:cs typeface="Arial" panose="020B0604020202020204" pitchFamily="34" charset="0"/>
                      </a:endParaRPr>
                    </a:p>
                  </a:txBody>
                  <a:tcPr marL="18000" marR="18000" marT="18000" marB="18000" anchor="ctr">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a:r>
                        <a:rPr lang="en-US" sz="900" b="1">
                          <a:solidFill>
                            <a:sysClr val="windowText" lastClr="000000"/>
                          </a:solidFill>
                          <a:latin typeface="+mj-lt"/>
                          <a:cs typeface="Arial" panose="020B0604020202020204" pitchFamily="34" charset="0"/>
                        </a:rPr>
                        <a:t>Listing year</a:t>
                      </a:r>
                    </a:p>
                  </a:txBody>
                  <a:tcPr marL="18000" marR="18000" marT="18000" marB="18000" anchor="ctr">
                    <a:lnB w="635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a:r>
                        <a:rPr lang="en-US" sz="900" b="1">
                          <a:solidFill>
                            <a:sysClr val="windowText" lastClr="000000"/>
                          </a:solidFill>
                          <a:latin typeface="+mj-lt"/>
                          <a:cs typeface="Arial" panose="020B0604020202020204" pitchFamily="34" charset="0"/>
                        </a:rPr>
                        <a:t>Ongoing coverage</a:t>
                      </a:r>
                      <a:endParaRPr lang="en-SG" sz="900" b="1">
                        <a:solidFill>
                          <a:sysClr val="windowText" lastClr="000000"/>
                        </a:solidFill>
                        <a:latin typeface="+mj-lt"/>
                        <a:cs typeface="Arial" panose="020B0604020202020204" pitchFamily="34" charset="0"/>
                      </a:endParaRPr>
                    </a:p>
                  </a:txBody>
                  <a:tcPr marL="18000" marR="18000" marT="18000" marB="18000" anchor="ctr">
                    <a:lnB w="635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89094769"/>
                  </a:ext>
                </a:extLst>
              </a:tr>
              <a:tr h="302743">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UI Boustead REIT</a:t>
                      </a: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SGX</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2026</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39769100"/>
                  </a:ext>
                </a:extLst>
              </a:tr>
              <a:tr h="302743">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UltraGreen.ai</a:t>
                      </a: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SG" sz="900">
                          <a:latin typeface="+mj-lt"/>
                          <a:cs typeface="Arial" panose="020B0604020202020204" pitchFamily="34" charset="0"/>
                        </a:rPr>
                        <a:t>SGX</a:t>
                      </a: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SG" sz="900">
                          <a:latin typeface="+mj-lt"/>
                          <a:cs typeface="Arial" panose="020B0604020202020204" pitchFamily="34" charset="0"/>
                        </a:rPr>
                        <a:t>2025</a:t>
                      </a: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mn-lt"/>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n-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4824323"/>
                  </a:ext>
                </a:extLst>
              </a:tr>
              <a:tr h="302743">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Coliwoo Holdings</a:t>
                      </a: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SGX</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2025</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mn-lt"/>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n-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22868289"/>
                  </a:ext>
                </a:extLst>
              </a:tr>
              <a:tr h="302743">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Centurion Accommodation REIT</a:t>
                      </a: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SGX</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2025</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40445140"/>
                  </a:ext>
                </a:extLst>
              </a:tr>
              <a:tr h="302743">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NTT DC REIT</a:t>
                      </a:r>
                      <a:endParaRPr lang="en-SG" sz="900" kern="1200">
                        <a:solidFill>
                          <a:schemeClr val="tx1"/>
                        </a:solidFill>
                        <a:latin typeface="+mn-lt"/>
                        <a:ea typeface="+mn-ea"/>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SGX</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2025</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1673080"/>
                  </a:ext>
                </a:extLst>
              </a:tr>
              <a:tr h="302743">
                <a:tc>
                  <a:txBody>
                    <a:bodyPr/>
                    <a:lstStyle/>
                    <a:p>
                      <a:r>
                        <a:rPr lang="en-US" sz="900">
                          <a:latin typeface="+mj-lt"/>
                          <a:cs typeface="Arial" panose="020B0604020202020204" pitchFamily="34" charset="0"/>
                        </a:rPr>
                        <a:t>Digital Core REIT</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SGX</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2021</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88627962"/>
                  </a:ext>
                </a:extLst>
              </a:tr>
              <a:tr h="302743">
                <a:tc>
                  <a:txBody>
                    <a:bodyPr/>
                    <a:lstStyle/>
                    <a:p>
                      <a:r>
                        <a:rPr lang="en-US" sz="900">
                          <a:latin typeface="+mj-lt"/>
                          <a:cs typeface="Arial" panose="020B0604020202020204" pitchFamily="34" charset="0"/>
                        </a:rPr>
                        <a:t>Daiwa House Logistics Trust</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SGX</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2021</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177386733"/>
                  </a:ext>
                </a:extLst>
              </a:tr>
              <a:tr h="302743">
                <a:tc>
                  <a:txBody>
                    <a:bodyPr/>
                    <a:lstStyle/>
                    <a:p>
                      <a:pPr algn="l" fontAlgn="b"/>
                      <a:r>
                        <a:rPr lang="en-SG" sz="900" b="0" i="0" u="none" strike="noStrike" kern="1200" err="1">
                          <a:solidFill>
                            <a:schemeClr val="tx1"/>
                          </a:solidFill>
                          <a:effectLst/>
                          <a:latin typeface="+mj-lt"/>
                          <a:ea typeface="+mn-ea"/>
                          <a:cs typeface="+mn-cs"/>
                        </a:rPr>
                        <a:t>Aztech</a:t>
                      </a:r>
                      <a:r>
                        <a:rPr lang="en-SG" sz="900" b="0" i="0" u="none" strike="noStrike" kern="1200">
                          <a:solidFill>
                            <a:schemeClr val="tx1"/>
                          </a:solidFill>
                          <a:effectLst/>
                          <a:latin typeface="+mj-lt"/>
                          <a:ea typeface="+mn-ea"/>
                          <a:cs typeface="+mn-cs"/>
                        </a:rPr>
                        <a:t> Global Ltd</a:t>
                      </a: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SGX</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2021</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84818202"/>
                  </a:ext>
                </a:extLst>
              </a:tr>
              <a:tr h="302743">
                <a:tc>
                  <a:txBody>
                    <a:bodyPr/>
                    <a:lstStyle/>
                    <a:p>
                      <a:r>
                        <a:rPr lang="en-US" sz="900">
                          <a:latin typeface="+mj-lt"/>
                          <a:cs typeface="Arial" panose="020B0604020202020204" pitchFamily="34" charset="0"/>
                        </a:rPr>
                        <a:t>Lendlease REIT</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SGX</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2019</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9893003"/>
                  </a:ext>
                </a:extLst>
              </a:tr>
              <a:tr h="302743">
                <a:tc>
                  <a:txBody>
                    <a:bodyPr/>
                    <a:lstStyle/>
                    <a:p>
                      <a:r>
                        <a:rPr lang="en-US" sz="900">
                          <a:latin typeface="+mj-lt"/>
                          <a:cs typeface="Arial" panose="020B0604020202020204" pitchFamily="34" charset="0"/>
                        </a:rPr>
                        <a:t>Prime US REIT</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SGX</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2019</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10990906"/>
                  </a:ext>
                </a:extLst>
              </a:tr>
              <a:tr h="302743">
                <a:tc>
                  <a:txBody>
                    <a:bodyPr/>
                    <a:lstStyle/>
                    <a:p>
                      <a:r>
                        <a:rPr lang="en-US" sz="900">
                          <a:latin typeface="+mj-lt"/>
                          <a:cs typeface="Arial" panose="020B0604020202020204" pitchFamily="34" charset="0"/>
                        </a:rPr>
                        <a:t>Sasseur REIT</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SGX</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2018</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19703434"/>
                  </a:ext>
                </a:extLst>
              </a:tr>
              <a:tr h="398116">
                <a:tc>
                  <a:txBody>
                    <a:bodyPr/>
                    <a:lstStyle/>
                    <a:p>
                      <a:r>
                        <a:rPr lang="en-US" sz="900">
                          <a:latin typeface="+mj-lt"/>
                          <a:cs typeface="Arial" panose="020B0604020202020204" pitchFamily="34" charset="0"/>
                        </a:rPr>
                        <a:t>Stoneweg Europe Stapled Trust </a:t>
                      </a:r>
                    </a:p>
                    <a:p>
                      <a:r>
                        <a:rPr lang="en-US" sz="900">
                          <a:latin typeface="+mj-lt"/>
                          <a:cs typeface="Arial" panose="020B0604020202020204" pitchFamily="34" charset="0"/>
                        </a:rPr>
                        <a:t>(fka Cromwell European REIT)</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latin typeface="+mj-lt"/>
                          <a:cs typeface="Arial" panose="020B0604020202020204" pitchFamily="34" charset="0"/>
                        </a:rPr>
                        <a:t>SGX</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2017</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71544646"/>
                  </a:ext>
                </a:extLst>
              </a:tr>
              <a:tr h="302743">
                <a:tc>
                  <a:txBody>
                    <a:bodyPr/>
                    <a:lstStyle/>
                    <a:p>
                      <a:r>
                        <a:rPr lang="en-US" sz="900" err="1">
                          <a:latin typeface="+mj-lt"/>
                          <a:cs typeface="Arial" panose="020B0604020202020204" pitchFamily="34" charset="0"/>
                        </a:rPr>
                        <a:t>NetLink</a:t>
                      </a:r>
                      <a:r>
                        <a:rPr lang="en-US" sz="900">
                          <a:latin typeface="+mj-lt"/>
                          <a:cs typeface="Arial" panose="020B0604020202020204" pitchFamily="34" charset="0"/>
                        </a:rPr>
                        <a:t> NBN Trust</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latin typeface="+mj-lt"/>
                          <a:cs typeface="Arial" panose="020B0604020202020204" pitchFamily="34" charset="0"/>
                        </a:rPr>
                        <a:t>SGX</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lang="en-US" sz="900">
                          <a:latin typeface="+mj-lt"/>
                          <a:cs typeface="Arial" panose="020B0604020202020204" pitchFamily="34" charset="0"/>
                        </a:rPr>
                        <a:t>2017</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97281664"/>
                  </a:ext>
                </a:extLst>
              </a:tr>
              <a:tr h="302743">
                <a:tc>
                  <a:txBody>
                    <a:bodyPr/>
                    <a:lstStyle/>
                    <a:p>
                      <a:r>
                        <a:rPr lang="en-US" sz="900">
                          <a:latin typeface="+mj-lt"/>
                          <a:cs typeface="Arial" panose="020B0604020202020204" pitchFamily="34" charset="0"/>
                        </a:rPr>
                        <a:t>APAC Realty Limited</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SGX</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2017</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01253448"/>
                  </a:ext>
                </a:extLst>
              </a:tr>
              <a:tr h="398116">
                <a:tc>
                  <a:txBody>
                    <a:bodyPr/>
                    <a:lstStyle/>
                    <a:p>
                      <a:r>
                        <a:rPr lang="en-US" sz="900">
                          <a:latin typeface="+mj-lt"/>
                          <a:cs typeface="Arial" panose="020B0604020202020204" pitchFamily="34" charset="0"/>
                        </a:rPr>
                        <a:t>Keppel Pacific Oak US REIT</a:t>
                      </a:r>
                    </a:p>
                    <a:p>
                      <a:r>
                        <a:rPr lang="en-US" sz="900">
                          <a:latin typeface="+mj-lt"/>
                          <a:cs typeface="Arial" panose="020B0604020202020204" pitchFamily="34" charset="0"/>
                        </a:rPr>
                        <a:t>(</a:t>
                      </a:r>
                      <a:r>
                        <a:rPr lang="en-US" sz="900" err="1">
                          <a:latin typeface="+mj-lt"/>
                          <a:cs typeface="Arial" panose="020B0604020202020204" pitchFamily="34" charset="0"/>
                        </a:rPr>
                        <a:t>fka</a:t>
                      </a:r>
                      <a:r>
                        <a:rPr lang="en-US" sz="900">
                          <a:latin typeface="+mj-lt"/>
                          <a:cs typeface="Arial" panose="020B0604020202020204" pitchFamily="34" charset="0"/>
                        </a:rPr>
                        <a:t> Keppel-KBS US REIT)</a:t>
                      </a:r>
                      <a:endParaRPr lang="en-SG" sz="900">
                        <a:latin typeface="+mj-lt"/>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SGX</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j-lt"/>
                          <a:ea typeface="KaiTi"/>
                          <a:cs typeface="Arial" panose="020B0604020202020204" pitchFamily="34" charset="0"/>
                        </a:rPr>
                        <a:t>2017</a:t>
                      </a:r>
                      <a:endParaRPr kumimoji="0" lang="en-SG" sz="900" b="0" i="0" u="none" strike="noStrike" kern="1200" cap="none" spc="0" normalizeH="0" baseline="0" noProof="0">
                        <a:ln>
                          <a:noFill/>
                        </a:ln>
                        <a:solidFill>
                          <a:srgbClr val="000000"/>
                        </a:solidFill>
                        <a:effectLst/>
                        <a:uLnTx/>
                        <a:uFillTx/>
                        <a:latin typeface="+mj-lt"/>
                        <a:ea typeface="KaiTi"/>
                        <a:cs typeface="Arial" panose="020B0604020202020204" pitchFamily="34" charset="0"/>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ctr" defTabSz="742950" rtl="0" eaLnBrk="1" fontAlgn="b" latinLnBrk="0" hangingPunct="1">
                        <a:lnSpc>
                          <a:spcPct val="100000"/>
                        </a:lnSpc>
                        <a:spcBef>
                          <a:spcPts val="0"/>
                        </a:spcBef>
                        <a:spcAft>
                          <a:spcPts val="0"/>
                        </a:spcAft>
                        <a:buClrTx/>
                        <a:buSzTx/>
                        <a:buFontTx/>
                        <a:buNone/>
                        <a:tabLst/>
                        <a:defRPr/>
                      </a:pPr>
                      <a:r>
                        <a:rPr kumimoji="0" lang="en-SG" sz="900" b="1" i="0" u="none" strike="noStrike" kern="1200" cap="none" spc="0" normalizeH="0" baseline="0" noProof="0">
                          <a:ln>
                            <a:noFill/>
                          </a:ln>
                          <a:solidFill>
                            <a:srgbClr val="089C8B"/>
                          </a:solidFill>
                          <a:effectLst/>
                          <a:uLnTx/>
                          <a:uFillTx/>
                          <a:latin typeface="Arial" panose="020B0604020202020204"/>
                          <a:ea typeface="+mn-ea"/>
                          <a:cs typeface="+mn-cs"/>
                          <a:sym typeface="Wingdings" panose="05000000000000000000" pitchFamily="2" charset="2"/>
                        </a:rPr>
                        <a:t></a:t>
                      </a:r>
                      <a:endParaRPr kumimoji="0" lang="en-SG" sz="900" b="1" i="0" u="none" strike="noStrike" kern="1200" cap="none" spc="0" normalizeH="0" baseline="0" noProof="0">
                        <a:ln>
                          <a:noFill/>
                        </a:ln>
                        <a:solidFill>
                          <a:srgbClr val="089C8B"/>
                        </a:solidFill>
                        <a:effectLst/>
                        <a:uLnTx/>
                        <a:uFillTx/>
                        <a:latin typeface="+mj-lt"/>
                        <a:ea typeface="+mn-ea"/>
                        <a:cs typeface="+mn-cs"/>
                      </a:endParaRPr>
                    </a:p>
                  </a:txBody>
                  <a:tcPr marL="18000" marR="18000" marT="18000" marB="18000" anchor="ct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51260631"/>
                  </a:ext>
                </a:extLst>
              </a:tr>
            </a:tbl>
          </a:graphicData>
        </a:graphic>
      </p:graphicFrame>
      <p:cxnSp>
        <p:nvCxnSpPr>
          <p:cNvPr id="13" name="Straight Connector 12">
            <a:extLst>
              <a:ext uri="{FF2B5EF4-FFF2-40B4-BE49-F238E27FC236}">
                <a16:creationId xmlns:a16="http://schemas.microsoft.com/office/drawing/2014/main" id="{66AB4098-AA11-91EB-F969-A7C37AE5D271}"/>
              </a:ext>
            </a:extLst>
          </p:cNvPr>
          <p:cNvCxnSpPr>
            <a:cxnSpLocks/>
          </p:cNvCxnSpPr>
          <p:nvPr/>
        </p:nvCxnSpPr>
        <p:spPr>
          <a:xfrm>
            <a:off x="4988997" y="1036056"/>
            <a:ext cx="0" cy="520654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4893E000-EDC3-873F-CAEB-59562C69F729}"/>
              </a:ext>
            </a:extLst>
          </p:cNvPr>
          <p:cNvGraphicFramePr>
            <a:graphicFrameLocks noGrp="1"/>
          </p:cNvGraphicFramePr>
          <p:nvPr>
            <p:custDataLst>
              <p:tags r:id="rId2"/>
            </p:custDataLst>
          </p:nvPr>
        </p:nvGraphicFramePr>
        <p:xfrm>
          <a:off x="5133563" y="3558378"/>
          <a:ext cx="4319434" cy="2684227"/>
        </p:xfrm>
        <a:graphic>
          <a:graphicData uri="http://schemas.openxmlformats.org/drawingml/2006/table">
            <a:tbl>
              <a:tblPr firstRow="1" bandRow="1"/>
              <a:tblGrid>
                <a:gridCol w="1769067">
                  <a:extLst>
                    <a:ext uri="{9D8B030D-6E8A-4147-A177-3AD203B41FA5}">
                      <a16:colId xmlns:a16="http://schemas.microsoft.com/office/drawing/2014/main" val="20000"/>
                    </a:ext>
                  </a:extLst>
                </a:gridCol>
                <a:gridCol w="2550367">
                  <a:extLst>
                    <a:ext uri="{9D8B030D-6E8A-4147-A177-3AD203B41FA5}">
                      <a16:colId xmlns:a16="http://schemas.microsoft.com/office/drawing/2014/main" val="2134865887"/>
                    </a:ext>
                  </a:extLst>
                </a:gridCol>
              </a:tblGrid>
              <a:tr h="190124">
                <a:tc>
                  <a:txBody>
                    <a:bodyPr/>
                    <a:lstStyle>
                      <a:lvl1pPr marL="0" algn="l" defTabSz="742950" rtl="0" eaLnBrk="1" latinLnBrk="0" hangingPunct="1">
                        <a:defRPr sz="1463" kern="1200">
                          <a:solidFill>
                            <a:schemeClr val="dk1"/>
                          </a:solidFill>
                          <a:latin typeface="Open Sans"/>
                        </a:defRPr>
                      </a:lvl1pPr>
                      <a:lvl2pPr marL="371475" algn="l" defTabSz="742950" rtl="0" eaLnBrk="1" latinLnBrk="0" hangingPunct="1">
                        <a:defRPr sz="1463" kern="1200">
                          <a:solidFill>
                            <a:schemeClr val="dk1"/>
                          </a:solidFill>
                          <a:latin typeface="Open Sans"/>
                        </a:defRPr>
                      </a:lvl2pPr>
                      <a:lvl3pPr marL="742950" algn="l" defTabSz="742950" rtl="0" eaLnBrk="1" latinLnBrk="0" hangingPunct="1">
                        <a:defRPr sz="1463" kern="1200">
                          <a:solidFill>
                            <a:schemeClr val="dk1"/>
                          </a:solidFill>
                          <a:latin typeface="Open Sans"/>
                        </a:defRPr>
                      </a:lvl3pPr>
                      <a:lvl4pPr marL="1114425" algn="l" defTabSz="742950" rtl="0" eaLnBrk="1" latinLnBrk="0" hangingPunct="1">
                        <a:defRPr sz="1463" kern="1200">
                          <a:solidFill>
                            <a:schemeClr val="dk1"/>
                          </a:solidFill>
                          <a:latin typeface="Open Sans"/>
                        </a:defRPr>
                      </a:lvl4pPr>
                      <a:lvl5pPr marL="1485900" algn="l" defTabSz="742950" rtl="0" eaLnBrk="1" latinLnBrk="0" hangingPunct="1">
                        <a:defRPr sz="1463" kern="1200">
                          <a:solidFill>
                            <a:schemeClr val="dk1"/>
                          </a:solidFill>
                          <a:latin typeface="Open Sans"/>
                        </a:defRPr>
                      </a:lvl5pPr>
                      <a:lvl6pPr marL="1857375" algn="l" defTabSz="742950" rtl="0" eaLnBrk="1" latinLnBrk="0" hangingPunct="1">
                        <a:defRPr sz="1463" kern="1200">
                          <a:solidFill>
                            <a:schemeClr val="dk1"/>
                          </a:solidFill>
                          <a:latin typeface="Open Sans"/>
                        </a:defRPr>
                      </a:lvl6pPr>
                      <a:lvl7pPr marL="2228850" algn="l" defTabSz="742950" rtl="0" eaLnBrk="1" latinLnBrk="0" hangingPunct="1">
                        <a:defRPr sz="1463" kern="1200">
                          <a:solidFill>
                            <a:schemeClr val="dk1"/>
                          </a:solidFill>
                          <a:latin typeface="Open Sans"/>
                        </a:defRPr>
                      </a:lvl7pPr>
                      <a:lvl8pPr marL="2600325" algn="l" defTabSz="742950" rtl="0" eaLnBrk="1" latinLnBrk="0" hangingPunct="1">
                        <a:defRPr sz="1463" kern="1200">
                          <a:solidFill>
                            <a:schemeClr val="dk1"/>
                          </a:solidFill>
                          <a:latin typeface="Open Sans"/>
                        </a:defRPr>
                      </a:lvl8pPr>
                      <a:lvl9pPr marL="2971800" algn="l" defTabSz="742950" rtl="0" eaLnBrk="1" latinLnBrk="0" hangingPunct="1">
                        <a:defRPr sz="1463" kern="1200">
                          <a:solidFill>
                            <a:schemeClr val="dk1"/>
                          </a:solidFill>
                          <a:latin typeface="Open Sans"/>
                        </a:defRPr>
                      </a:lvl9pPr>
                    </a:lstStyle>
                    <a:p>
                      <a:pPr algn="ctr">
                        <a:spcAft>
                          <a:spcPts val="400"/>
                        </a:spcAft>
                      </a:pPr>
                      <a:r>
                        <a:rPr lang="en-US" sz="900" b="1">
                          <a:solidFill>
                            <a:sysClr val="windowText" lastClr="000000"/>
                          </a:solidFill>
                          <a:latin typeface="Arial" panose="020B0604020202020204" pitchFamily="34" charset="0"/>
                          <a:cs typeface="Arial" panose="020B0604020202020204" pitchFamily="34" charset="0"/>
                        </a:rPr>
                        <a:t>Event</a:t>
                      </a:r>
                      <a:endParaRPr lang="en-SG" sz="900" b="1">
                        <a:solidFill>
                          <a:sysClr val="windowText" lastClr="000000"/>
                        </a:solidFill>
                        <a:latin typeface="Arial" panose="020B0604020202020204" pitchFamily="34" charset="0"/>
                        <a:cs typeface="Arial" panose="020B0604020202020204" pitchFamily="34" charset="0"/>
                      </a:endParaRPr>
                    </a:p>
                  </a:txBody>
                  <a:tcPr marT="0" marB="0" anchor="ctr">
                    <a:lnL w="12700" cmpd="sng">
                      <a:noFill/>
                    </a:lnL>
                    <a:lnR w="12700" cmpd="sng">
                      <a:noFill/>
                    </a:lnR>
                    <a:lnT w="381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742950" rtl="0" eaLnBrk="1" latinLnBrk="0" hangingPunct="1">
                        <a:defRPr sz="1463" kern="1200">
                          <a:solidFill>
                            <a:schemeClr val="dk1"/>
                          </a:solidFill>
                          <a:latin typeface="Open Sans"/>
                        </a:defRPr>
                      </a:lvl1pPr>
                      <a:lvl2pPr marL="371475" algn="l" defTabSz="742950" rtl="0" eaLnBrk="1" latinLnBrk="0" hangingPunct="1">
                        <a:defRPr sz="1463" kern="1200">
                          <a:solidFill>
                            <a:schemeClr val="dk1"/>
                          </a:solidFill>
                          <a:latin typeface="Open Sans"/>
                        </a:defRPr>
                      </a:lvl2pPr>
                      <a:lvl3pPr marL="742950" algn="l" defTabSz="742950" rtl="0" eaLnBrk="1" latinLnBrk="0" hangingPunct="1">
                        <a:defRPr sz="1463" kern="1200">
                          <a:solidFill>
                            <a:schemeClr val="dk1"/>
                          </a:solidFill>
                          <a:latin typeface="Open Sans"/>
                        </a:defRPr>
                      </a:lvl3pPr>
                      <a:lvl4pPr marL="1114425" algn="l" defTabSz="742950" rtl="0" eaLnBrk="1" latinLnBrk="0" hangingPunct="1">
                        <a:defRPr sz="1463" kern="1200">
                          <a:solidFill>
                            <a:schemeClr val="dk1"/>
                          </a:solidFill>
                          <a:latin typeface="Open Sans"/>
                        </a:defRPr>
                      </a:lvl4pPr>
                      <a:lvl5pPr marL="1485900" algn="l" defTabSz="742950" rtl="0" eaLnBrk="1" latinLnBrk="0" hangingPunct="1">
                        <a:defRPr sz="1463" kern="1200">
                          <a:solidFill>
                            <a:schemeClr val="dk1"/>
                          </a:solidFill>
                          <a:latin typeface="Open Sans"/>
                        </a:defRPr>
                      </a:lvl5pPr>
                      <a:lvl6pPr marL="1857375" algn="l" defTabSz="742950" rtl="0" eaLnBrk="1" latinLnBrk="0" hangingPunct="1">
                        <a:defRPr sz="1463" kern="1200">
                          <a:solidFill>
                            <a:schemeClr val="dk1"/>
                          </a:solidFill>
                          <a:latin typeface="Open Sans"/>
                        </a:defRPr>
                      </a:lvl6pPr>
                      <a:lvl7pPr marL="2228850" algn="l" defTabSz="742950" rtl="0" eaLnBrk="1" latinLnBrk="0" hangingPunct="1">
                        <a:defRPr sz="1463" kern="1200">
                          <a:solidFill>
                            <a:schemeClr val="dk1"/>
                          </a:solidFill>
                          <a:latin typeface="Open Sans"/>
                        </a:defRPr>
                      </a:lvl7pPr>
                      <a:lvl8pPr marL="2600325" algn="l" defTabSz="742950" rtl="0" eaLnBrk="1" latinLnBrk="0" hangingPunct="1">
                        <a:defRPr sz="1463" kern="1200">
                          <a:solidFill>
                            <a:schemeClr val="dk1"/>
                          </a:solidFill>
                          <a:latin typeface="Open Sans"/>
                        </a:defRPr>
                      </a:lvl8pPr>
                      <a:lvl9pPr marL="2971800" algn="l" defTabSz="742950" rtl="0" eaLnBrk="1" latinLnBrk="0" hangingPunct="1">
                        <a:defRPr sz="1463" kern="1200">
                          <a:solidFill>
                            <a:schemeClr val="dk1"/>
                          </a:solidFill>
                          <a:latin typeface="Open Sans"/>
                        </a:defRPr>
                      </a:lvl9pPr>
                    </a:lstStyle>
                    <a:p>
                      <a:pPr marL="0" indent="0" algn="ctr">
                        <a:spcAft>
                          <a:spcPts val="600"/>
                        </a:spcAft>
                        <a:buClr>
                          <a:srgbClr val="C52133"/>
                        </a:buClr>
                        <a:buFont typeface="Arial" panose="020B0604020202020204" pitchFamily="34" charset="0"/>
                        <a:buNone/>
                      </a:pPr>
                      <a:r>
                        <a:rPr lang="en-US" sz="900" b="1">
                          <a:solidFill>
                            <a:sysClr val="windowText" lastClr="000000"/>
                          </a:solidFill>
                          <a:latin typeface="Arial" panose="020B0604020202020204" pitchFamily="34" charset="0"/>
                          <a:cs typeface="Arial" panose="020B0604020202020204" pitchFamily="34" charset="0"/>
                        </a:rPr>
                        <a:t>Description</a:t>
                      </a:r>
                    </a:p>
                  </a:txBody>
                  <a:tcPr marL="0" marR="0" marT="0" marB="0" anchor="ctr">
                    <a:lnL w="12700" cmpd="sng">
                      <a:noFill/>
                    </a:lnL>
                    <a:lnR w="6350" cap="flat" cmpd="sng" algn="ctr">
                      <a:noFill/>
                      <a:prstDash val="solid"/>
                      <a:round/>
                      <a:headEnd type="none" w="med" len="med"/>
                      <a:tailEnd type="none" w="med" len="med"/>
                    </a:lnR>
                    <a:lnT w="38100" cmpd="sng">
                      <a:noFill/>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46133882"/>
                  </a:ext>
                </a:extLst>
              </a:tr>
              <a:tr h="637670">
                <a:tc>
                  <a:txBody>
                    <a:bodyPr/>
                    <a:lstStyle/>
                    <a:p>
                      <a:pPr algn="l">
                        <a:spcAft>
                          <a:spcPts val="400"/>
                        </a:spcAft>
                      </a:pPr>
                      <a:r>
                        <a:rPr lang="en-US" sz="900" b="1">
                          <a:solidFill>
                            <a:schemeClr val="tx1"/>
                          </a:solidFill>
                          <a:latin typeface="Arial" panose="020B0604020202020204" pitchFamily="34" charset="0"/>
                          <a:cs typeface="Arial" panose="020B0604020202020204" pitchFamily="34" charset="0"/>
                        </a:rPr>
                        <a:t>DBS Pulse of Asia conference</a:t>
                      </a:r>
                    </a:p>
                    <a:p>
                      <a:pPr algn="l">
                        <a:spcAft>
                          <a:spcPts val="400"/>
                        </a:spcAft>
                      </a:pPr>
                      <a:r>
                        <a:rPr lang="en-US" sz="900" b="0">
                          <a:solidFill>
                            <a:schemeClr val="tx1"/>
                          </a:solidFill>
                          <a:latin typeface="Arial" panose="020B0604020202020204" pitchFamily="34" charset="0"/>
                          <a:cs typeface="Arial" panose="020B0604020202020204" pitchFamily="34" charset="0"/>
                        </a:rPr>
                        <a:t>Annual</a:t>
                      </a:r>
                      <a:endParaRPr lang="en-SG" sz="900" b="0">
                        <a:solidFill>
                          <a:schemeClr val="tx1"/>
                        </a:solidFill>
                        <a:latin typeface="Arial" panose="020B0604020202020204" pitchFamily="34" charset="0"/>
                        <a:cs typeface="Arial" panose="020B0604020202020204" pitchFamily="34" charset="0"/>
                      </a:endParaRPr>
                    </a:p>
                  </a:txBody>
                  <a:tcPr marL="18000" marR="18000" marT="72000" marB="18000">
                    <a:lnL w="12700" cmpd="sng">
                      <a:noFill/>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975" indent="-180975">
                        <a:spcAft>
                          <a:spcPts val="600"/>
                        </a:spcAft>
                        <a:buClr>
                          <a:schemeClr val="tx1"/>
                        </a:buClr>
                        <a:buFont typeface="Wingdings" panose="05000000000000000000" pitchFamily="2" charset="2"/>
                        <a:buChar char="§"/>
                      </a:pPr>
                      <a:r>
                        <a:rPr lang="en-US" sz="900">
                          <a:latin typeface="Arial" panose="020B0604020202020204" pitchFamily="34" charset="0"/>
                          <a:cs typeface="Arial" panose="020B0604020202020204" pitchFamily="34" charset="0"/>
                        </a:rPr>
                        <a:t>DBS Vickers flagship event organised for institutional investors and selected corporates across a range of industries</a:t>
                      </a:r>
                    </a:p>
                  </a:txBody>
                  <a:tcPr marL="18000" marR="18000" marT="72000" marB="1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012124"/>
                  </a:ext>
                </a:extLst>
              </a:tr>
              <a:tr h="637670">
                <a:tc>
                  <a:txBody>
                    <a:bodyPr/>
                    <a:lstStyle>
                      <a:lvl1pPr marL="0" algn="l" defTabSz="742950" rtl="0" eaLnBrk="1" latinLnBrk="0" hangingPunct="1">
                        <a:defRPr sz="1463" kern="1200">
                          <a:solidFill>
                            <a:schemeClr val="dk1"/>
                          </a:solidFill>
                          <a:latin typeface="Open Sans"/>
                        </a:defRPr>
                      </a:lvl1pPr>
                      <a:lvl2pPr marL="371475" algn="l" defTabSz="742950" rtl="0" eaLnBrk="1" latinLnBrk="0" hangingPunct="1">
                        <a:defRPr sz="1463" kern="1200">
                          <a:solidFill>
                            <a:schemeClr val="dk1"/>
                          </a:solidFill>
                          <a:latin typeface="Open Sans"/>
                        </a:defRPr>
                      </a:lvl2pPr>
                      <a:lvl3pPr marL="742950" algn="l" defTabSz="742950" rtl="0" eaLnBrk="1" latinLnBrk="0" hangingPunct="1">
                        <a:defRPr sz="1463" kern="1200">
                          <a:solidFill>
                            <a:schemeClr val="dk1"/>
                          </a:solidFill>
                          <a:latin typeface="Open Sans"/>
                        </a:defRPr>
                      </a:lvl3pPr>
                      <a:lvl4pPr marL="1114425" algn="l" defTabSz="742950" rtl="0" eaLnBrk="1" latinLnBrk="0" hangingPunct="1">
                        <a:defRPr sz="1463" kern="1200">
                          <a:solidFill>
                            <a:schemeClr val="dk1"/>
                          </a:solidFill>
                          <a:latin typeface="Open Sans"/>
                        </a:defRPr>
                      </a:lvl4pPr>
                      <a:lvl5pPr marL="1485900" algn="l" defTabSz="742950" rtl="0" eaLnBrk="1" latinLnBrk="0" hangingPunct="1">
                        <a:defRPr sz="1463" kern="1200">
                          <a:solidFill>
                            <a:schemeClr val="dk1"/>
                          </a:solidFill>
                          <a:latin typeface="Open Sans"/>
                        </a:defRPr>
                      </a:lvl5pPr>
                      <a:lvl6pPr marL="1857375" algn="l" defTabSz="742950" rtl="0" eaLnBrk="1" latinLnBrk="0" hangingPunct="1">
                        <a:defRPr sz="1463" kern="1200">
                          <a:solidFill>
                            <a:schemeClr val="dk1"/>
                          </a:solidFill>
                          <a:latin typeface="Open Sans"/>
                        </a:defRPr>
                      </a:lvl6pPr>
                      <a:lvl7pPr marL="2228850" algn="l" defTabSz="742950" rtl="0" eaLnBrk="1" latinLnBrk="0" hangingPunct="1">
                        <a:defRPr sz="1463" kern="1200">
                          <a:solidFill>
                            <a:schemeClr val="dk1"/>
                          </a:solidFill>
                          <a:latin typeface="Open Sans"/>
                        </a:defRPr>
                      </a:lvl7pPr>
                      <a:lvl8pPr marL="2600325" algn="l" defTabSz="742950" rtl="0" eaLnBrk="1" latinLnBrk="0" hangingPunct="1">
                        <a:defRPr sz="1463" kern="1200">
                          <a:solidFill>
                            <a:schemeClr val="dk1"/>
                          </a:solidFill>
                          <a:latin typeface="Open Sans"/>
                        </a:defRPr>
                      </a:lvl8pPr>
                      <a:lvl9pPr marL="2971800" algn="l" defTabSz="742950" rtl="0" eaLnBrk="1" latinLnBrk="0" hangingPunct="1">
                        <a:defRPr sz="1463" kern="1200">
                          <a:solidFill>
                            <a:schemeClr val="dk1"/>
                          </a:solidFill>
                          <a:latin typeface="Open Sans"/>
                        </a:defRPr>
                      </a:lvl9pPr>
                    </a:lstStyle>
                    <a:p>
                      <a:pPr algn="l">
                        <a:spcAft>
                          <a:spcPts val="400"/>
                        </a:spcAft>
                      </a:pPr>
                      <a:r>
                        <a:rPr lang="en-SG" sz="900" b="1" kern="1200">
                          <a:solidFill>
                            <a:schemeClr val="tx1"/>
                          </a:solidFill>
                          <a:latin typeface="Arial" panose="020B0604020202020204" pitchFamily="34" charset="0"/>
                          <a:ea typeface="+mn-ea"/>
                          <a:cs typeface="Arial" panose="020B0604020202020204" pitchFamily="34" charset="0"/>
                        </a:rPr>
                        <a:t>SGX-DBS Jewels of Singapore conference</a:t>
                      </a:r>
                    </a:p>
                    <a:p>
                      <a:pPr algn="l">
                        <a:spcAft>
                          <a:spcPts val="400"/>
                        </a:spcAft>
                      </a:pPr>
                      <a:r>
                        <a:rPr lang="en-SG" sz="900" b="0" kern="1200">
                          <a:solidFill>
                            <a:schemeClr val="tx1"/>
                          </a:solidFill>
                          <a:latin typeface="Arial" panose="020B0604020202020204" pitchFamily="34" charset="0"/>
                          <a:ea typeface="+mn-ea"/>
                          <a:cs typeface="Arial" panose="020B0604020202020204" pitchFamily="34" charset="0"/>
                        </a:rPr>
                        <a:t>Mar &amp; Sep 2025 </a:t>
                      </a:r>
                      <a:endParaRPr lang="en-SG" sz="900" b="0">
                        <a:solidFill>
                          <a:schemeClr val="tx1"/>
                        </a:solidFill>
                        <a:latin typeface="Arial" panose="020B0604020202020204" pitchFamily="34" charset="0"/>
                        <a:cs typeface="Arial" panose="020B0604020202020204" pitchFamily="34" charset="0"/>
                      </a:endParaRPr>
                    </a:p>
                  </a:txBody>
                  <a:tcPr marL="18000" marR="18000" marT="72000" marB="18000">
                    <a:lnL w="12700" cmpd="sng">
                      <a:noFill/>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Open Sans"/>
                        </a:defRPr>
                      </a:lvl1pPr>
                      <a:lvl2pPr marL="371475" algn="l" defTabSz="742950" rtl="0" eaLnBrk="1" latinLnBrk="0" hangingPunct="1">
                        <a:defRPr sz="1463" kern="1200">
                          <a:solidFill>
                            <a:schemeClr val="dk1"/>
                          </a:solidFill>
                          <a:latin typeface="Open Sans"/>
                        </a:defRPr>
                      </a:lvl2pPr>
                      <a:lvl3pPr marL="742950" algn="l" defTabSz="742950" rtl="0" eaLnBrk="1" latinLnBrk="0" hangingPunct="1">
                        <a:defRPr sz="1463" kern="1200">
                          <a:solidFill>
                            <a:schemeClr val="dk1"/>
                          </a:solidFill>
                          <a:latin typeface="Open Sans"/>
                        </a:defRPr>
                      </a:lvl3pPr>
                      <a:lvl4pPr marL="1114425" algn="l" defTabSz="742950" rtl="0" eaLnBrk="1" latinLnBrk="0" hangingPunct="1">
                        <a:defRPr sz="1463" kern="1200">
                          <a:solidFill>
                            <a:schemeClr val="dk1"/>
                          </a:solidFill>
                          <a:latin typeface="Open Sans"/>
                        </a:defRPr>
                      </a:lvl4pPr>
                      <a:lvl5pPr marL="1485900" algn="l" defTabSz="742950" rtl="0" eaLnBrk="1" latinLnBrk="0" hangingPunct="1">
                        <a:defRPr sz="1463" kern="1200">
                          <a:solidFill>
                            <a:schemeClr val="dk1"/>
                          </a:solidFill>
                          <a:latin typeface="Open Sans"/>
                        </a:defRPr>
                      </a:lvl5pPr>
                      <a:lvl6pPr marL="1857375" algn="l" defTabSz="742950" rtl="0" eaLnBrk="1" latinLnBrk="0" hangingPunct="1">
                        <a:defRPr sz="1463" kern="1200">
                          <a:solidFill>
                            <a:schemeClr val="dk1"/>
                          </a:solidFill>
                          <a:latin typeface="Open Sans"/>
                        </a:defRPr>
                      </a:lvl6pPr>
                      <a:lvl7pPr marL="2228850" algn="l" defTabSz="742950" rtl="0" eaLnBrk="1" latinLnBrk="0" hangingPunct="1">
                        <a:defRPr sz="1463" kern="1200">
                          <a:solidFill>
                            <a:schemeClr val="dk1"/>
                          </a:solidFill>
                          <a:latin typeface="Open Sans"/>
                        </a:defRPr>
                      </a:lvl7pPr>
                      <a:lvl8pPr marL="2600325" algn="l" defTabSz="742950" rtl="0" eaLnBrk="1" latinLnBrk="0" hangingPunct="1">
                        <a:defRPr sz="1463" kern="1200">
                          <a:solidFill>
                            <a:schemeClr val="dk1"/>
                          </a:solidFill>
                          <a:latin typeface="Open Sans"/>
                        </a:defRPr>
                      </a:lvl8pPr>
                      <a:lvl9pPr marL="2971800" algn="l" defTabSz="742950" rtl="0" eaLnBrk="1" latinLnBrk="0" hangingPunct="1">
                        <a:defRPr sz="1463" kern="1200">
                          <a:solidFill>
                            <a:schemeClr val="dk1"/>
                          </a:solidFill>
                          <a:latin typeface="Open Sans"/>
                        </a:defRPr>
                      </a:lvl9pPr>
                    </a:lstStyle>
                    <a:p>
                      <a:pPr marL="180975" indent="-180975">
                        <a:spcAft>
                          <a:spcPts val="600"/>
                        </a:spcAft>
                        <a:buClr>
                          <a:schemeClr val="tx1"/>
                        </a:buClr>
                        <a:buFont typeface="Wingdings" panose="05000000000000000000" pitchFamily="2" charset="2"/>
                        <a:buChar char="§"/>
                      </a:pPr>
                      <a:r>
                        <a:rPr lang="en-US" sz="900">
                          <a:latin typeface="Arial" panose="020B0604020202020204" pitchFamily="34" charset="0"/>
                          <a:cs typeface="Arial" panose="020B0604020202020204" pitchFamily="34" charset="0"/>
                        </a:rPr>
                        <a:t>A showcase of selected SGX-listed small and mid-cap companies</a:t>
                      </a:r>
                    </a:p>
                  </a:txBody>
                  <a:tcPr marL="18000" marR="18000" marT="72000" marB="1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1485756"/>
                  </a:ext>
                </a:extLst>
              </a:tr>
              <a:tr h="637670">
                <a:tc>
                  <a:txBody>
                    <a:bodyPr/>
                    <a:lstStyle/>
                    <a:p>
                      <a:pPr algn="l">
                        <a:spcAft>
                          <a:spcPts val="400"/>
                        </a:spcAft>
                      </a:pPr>
                      <a:r>
                        <a:rPr lang="en-US" sz="900" b="1">
                          <a:solidFill>
                            <a:schemeClr val="tx1"/>
                          </a:solidFill>
                          <a:latin typeface="Arial" panose="020B0604020202020204" pitchFamily="34" charset="0"/>
                          <a:cs typeface="Arial" panose="020B0604020202020204" pitchFamily="34" charset="0"/>
                        </a:rPr>
                        <a:t>Forward Singapore SGX-DBSV conference</a:t>
                      </a:r>
                    </a:p>
                    <a:p>
                      <a:pPr algn="l">
                        <a:spcAft>
                          <a:spcPts val="400"/>
                        </a:spcAft>
                      </a:pPr>
                      <a:r>
                        <a:rPr lang="en-US" sz="900" b="0">
                          <a:solidFill>
                            <a:schemeClr val="tx1"/>
                          </a:solidFill>
                          <a:latin typeface="Arial" panose="020B0604020202020204" pitchFamily="34" charset="0"/>
                          <a:cs typeface="Arial" panose="020B0604020202020204" pitchFamily="34" charset="0"/>
                        </a:rPr>
                        <a:t>August 2024</a:t>
                      </a:r>
                      <a:endParaRPr lang="en-SG" sz="900" b="0">
                        <a:solidFill>
                          <a:schemeClr val="tx1"/>
                        </a:solidFill>
                        <a:latin typeface="Arial" panose="020B0604020202020204" pitchFamily="34" charset="0"/>
                        <a:cs typeface="Arial" panose="020B0604020202020204" pitchFamily="34" charset="0"/>
                      </a:endParaRPr>
                    </a:p>
                  </a:txBody>
                  <a:tcPr marL="18000" marR="18000" marT="72000" marB="18000">
                    <a:lnL w="12700" cmpd="sng">
                      <a:noFill/>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975" indent="-180975">
                        <a:spcAft>
                          <a:spcPts val="600"/>
                        </a:spcAft>
                        <a:buClr>
                          <a:schemeClr val="tx1"/>
                        </a:buClr>
                        <a:buFont typeface="Wingdings" panose="05000000000000000000" pitchFamily="2" charset="2"/>
                        <a:buChar char="§"/>
                      </a:pPr>
                      <a:r>
                        <a:rPr lang="en-US" sz="900">
                          <a:latin typeface="Arial" panose="020B0604020202020204" pitchFamily="34" charset="0"/>
                          <a:cs typeface="Arial" panose="020B0604020202020204" pitchFamily="34" charset="0"/>
                        </a:rPr>
                        <a:t>A showcase of selected SGX-listed blue chip companies and a few selected private companies to institutional investors</a:t>
                      </a:r>
                    </a:p>
                  </a:txBody>
                  <a:tcPr marL="18000" marR="18000" marT="72000" marB="1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03096"/>
                  </a:ext>
                </a:extLst>
              </a:tr>
              <a:tr h="581093">
                <a:tc>
                  <a:txBody>
                    <a:bodyPr/>
                    <a:lstStyle>
                      <a:lvl1pPr marL="0" algn="l" defTabSz="742950" rtl="0" eaLnBrk="1" latinLnBrk="0" hangingPunct="1">
                        <a:defRPr sz="1463" kern="1200">
                          <a:solidFill>
                            <a:schemeClr val="dk1"/>
                          </a:solidFill>
                          <a:latin typeface="Open Sans"/>
                        </a:defRPr>
                      </a:lvl1pPr>
                      <a:lvl2pPr marL="371475" algn="l" defTabSz="742950" rtl="0" eaLnBrk="1" latinLnBrk="0" hangingPunct="1">
                        <a:defRPr sz="1463" kern="1200">
                          <a:solidFill>
                            <a:schemeClr val="dk1"/>
                          </a:solidFill>
                          <a:latin typeface="Open Sans"/>
                        </a:defRPr>
                      </a:lvl2pPr>
                      <a:lvl3pPr marL="742950" algn="l" defTabSz="742950" rtl="0" eaLnBrk="1" latinLnBrk="0" hangingPunct="1">
                        <a:defRPr sz="1463" kern="1200">
                          <a:solidFill>
                            <a:schemeClr val="dk1"/>
                          </a:solidFill>
                          <a:latin typeface="Open Sans"/>
                        </a:defRPr>
                      </a:lvl3pPr>
                      <a:lvl4pPr marL="1114425" algn="l" defTabSz="742950" rtl="0" eaLnBrk="1" latinLnBrk="0" hangingPunct="1">
                        <a:defRPr sz="1463" kern="1200">
                          <a:solidFill>
                            <a:schemeClr val="dk1"/>
                          </a:solidFill>
                          <a:latin typeface="Open Sans"/>
                        </a:defRPr>
                      </a:lvl4pPr>
                      <a:lvl5pPr marL="1485900" algn="l" defTabSz="742950" rtl="0" eaLnBrk="1" latinLnBrk="0" hangingPunct="1">
                        <a:defRPr sz="1463" kern="1200">
                          <a:solidFill>
                            <a:schemeClr val="dk1"/>
                          </a:solidFill>
                          <a:latin typeface="Open Sans"/>
                        </a:defRPr>
                      </a:lvl5pPr>
                      <a:lvl6pPr marL="1857375" algn="l" defTabSz="742950" rtl="0" eaLnBrk="1" latinLnBrk="0" hangingPunct="1">
                        <a:defRPr sz="1463" kern="1200">
                          <a:solidFill>
                            <a:schemeClr val="dk1"/>
                          </a:solidFill>
                          <a:latin typeface="Open Sans"/>
                        </a:defRPr>
                      </a:lvl6pPr>
                      <a:lvl7pPr marL="2228850" algn="l" defTabSz="742950" rtl="0" eaLnBrk="1" latinLnBrk="0" hangingPunct="1">
                        <a:defRPr sz="1463" kern="1200">
                          <a:solidFill>
                            <a:schemeClr val="dk1"/>
                          </a:solidFill>
                          <a:latin typeface="Open Sans"/>
                        </a:defRPr>
                      </a:lvl7pPr>
                      <a:lvl8pPr marL="2600325" algn="l" defTabSz="742950" rtl="0" eaLnBrk="1" latinLnBrk="0" hangingPunct="1">
                        <a:defRPr sz="1463" kern="1200">
                          <a:solidFill>
                            <a:schemeClr val="dk1"/>
                          </a:solidFill>
                          <a:latin typeface="Open Sans"/>
                        </a:defRPr>
                      </a:lvl8pPr>
                      <a:lvl9pPr marL="2971800" algn="l" defTabSz="742950" rtl="0" eaLnBrk="1" latinLnBrk="0" hangingPunct="1">
                        <a:defRPr sz="1463" kern="1200">
                          <a:solidFill>
                            <a:schemeClr val="dk1"/>
                          </a:solidFill>
                          <a:latin typeface="Open Sans"/>
                        </a:defRPr>
                      </a:lvl9pPr>
                    </a:lstStyle>
                    <a:p>
                      <a:pPr algn="l">
                        <a:spcAft>
                          <a:spcPts val="400"/>
                        </a:spcAft>
                      </a:pPr>
                      <a:r>
                        <a:rPr lang="en-SG" sz="900" b="1" kern="1200">
                          <a:solidFill>
                            <a:schemeClr val="tx1"/>
                          </a:solidFill>
                          <a:latin typeface="Arial" panose="020B0604020202020204" pitchFamily="34" charset="0"/>
                          <a:ea typeface="+mn-ea"/>
                          <a:cs typeface="Arial" panose="020B0604020202020204" pitchFamily="34" charset="0"/>
                        </a:rPr>
                        <a:t>Overseas Marketing Efforts in HK, KL, PRC and SG</a:t>
                      </a:r>
                    </a:p>
                    <a:p>
                      <a:pPr algn="l">
                        <a:spcAft>
                          <a:spcPts val="400"/>
                        </a:spcAft>
                      </a:pPr>
                      <a:r>
                        <a:rPr lang="en-SG" sz="900" b="0" kern="1200">
                          <a:solidFill>
                            <a:schemeClr val="tx1"/>
                          </a:solidFill>
                          <a:latin typeface="Arial" panose="020B0604020202020204" pitchFamily="34" charset="0"/>
                          <a:ea typeface="+mn-ea"/>
                          <a:cs typeface="Arial" panose="020B0604020202020204" pitchFamily="34" charset="0"/>
                        </a:rPr>
                        <a:t>2023 and 2021</a:t>
                      </a:r>
                      <a:endParaRPr lang="en-SG" sz="900" b="0">
                        <a:solidFill>
                          <a:schemeClr val="tx1"/>
                        </a:solidFill>
                        <a:latin typeface="Arial" panose="020B0604020202020204" pitchFamily="34" charset="0"/>
                        <a:cs typeface="Arial" panose="020B0604020202020204" pitchFamily="34" charset="0"/>
                      </a:endParaRPr>
                    </a:p>
                  </a:txBody>
                  <a:tcPr marL="18000" marR="18000" marT="72000" marB="18000">
                    <a:lnL w="12700" cmpd="sng">
                      <a:noFill/>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42950" rtl="0" eaLnBrk="1" latinLnBrk="0" hangingPunct="1">
                        <a:defRPr sz="1463" kern="1200">
                          <a:solidFill>
                            <a:schemeClr val="dk1"/>
                          </a:solidFill>
                          <a:latin typeface="Open Sans"/>
                        </a:defRPr>
                      </a:lvl1pPr>
                      <a:lvl2pPr marL="371475" algn="l" defTabSz="742950" rtl="0" eaLnBrk="1" latinLnBrk="0" hangingPunct="1">
                        <a:defRPr sz="1463" kern="1200">
                          <a:solidFill>
                            <a:schemeClr val="dk1"/>
                          </a:solidFill>
                          <a:latin typeface="Open Sans"/>
                        </a:defRPr>
                      </a:lvl2pPr>
                      <a:lvl3pPr marL="742950" algn="l" defTabSz="742950" rtl="0" eaLnBrk="1" latinLnBrk="0" hangingPunct="1">
                        <a:defRPr sz="1463" kern="1200">
                          <a:solidFill>
                            <a:schemeClr val="dk1"/>
                          </a:solidFill>
                          <a:latin typeface="Open Sans"/>
                        </a:defRPr>
                      </a:lvl3pPr>
                      <a:lvl4pPr marL="1114425" algn="l" defTabSz="742950" rtl="0" eaLnBrk="1" latinLnBrk="0" hangingPunct="1">
                        <a:defRPr sz="1463" kern="1200">
                          <a:solidFill>
                            <a:schemeClr val="dk1"/>
                          </a:solidFill>
                          <a:latin typeface="Open Sans"/>
                        </a:defRPr>
                      </a:lvl4pPr>
                      <a:lvl5pPr marL="1485900" algn="l" defTabSz="742950" rtl="0" eaLnBrk="1" latinLnBrk="0" hangingPunct="1">
                        <a:defRPr sz="1463" kern="1200">
                          <a:solidFill>
                            <a:schemeClr val="dk1"/>
                          </a:solidFill>
                          <a:latin typeface="Open Sans"/>
                        </a:defRPr>
                      </a:lvl5pPr>
                      <a:lvl6pPr marL="1857375" algn="l" defTabSz="742950" rtl="0" eaLnBrk="1" latinLnBrk="0" hangingPunct="1">
                        <a:defRPr sz="1463" kern="1200">
                          <a:solidFill>
                            <a:schemeClr val="dk1"/>
                          </a:solidFill>
                          <a:latin typeface="Open Sans"/>
                        </a:defRPr>
                      </a:lvl6pPr>
                      <a:lvl7pPr marL="2228850" algn="l" defTabSz="742950" rtl="0" eaLnBrk="1" latinLnBrk="0" hangingPunct="1">
                        <a:defRPr sz="1463" kern="1200">
                          <a:solidFill>
                            <a:schemeClr val="dk1"/>
                          </a:solidFill>
                          <a:latin typeface="Open Sans"/>
                        </a:defRPr>
                      </a:lvl7pPr>
                      <a:lvl8pPr marL="2600325" algn="l" defTabSz="742950" rtl="0" eaLnBrk="1" latinLnBrk="0" hangingPunct="1">
                        <a:defRPr sz="1463" kern="1200">
                          <a:solidFill>
                            <a:schemeClr val="dk1"/>
                          </a:solidFill>
                          <a:latin typeface="Open Sans"/>
                        </a:defRPr>
                      </a:lvl8pPr>
                      <a:lvl9pPr marL="2971800" algn="l" defTabSz="742950" rtl="0" eaLnBrk="1" latinLnBrk="0" hangingPunct="1">
                        <a:defRPr sz="1463" kern="1200">
                          <a:solidFill>
                            <a:schemeClr val="dk1"/>
                          </a:solidFill>
                          <a:latin typeface="Open Sans"/>
                        </a:defRPr>
                      </a:lvl9pPr>
                    </a:lstStyle>
                    <a:p>
                      <a:pPr marL="180975" indent="-180975">
                        <a:spcAft>
                          <a:spcPts val="600"/>
                        </a:spcAft>
                        <a:buClr>
                          <a:schemeClr val="tx1"/>
                        </a:buClr>
                        <a:buFont typeface="Wingdings" panose="05000000000000000000" pitchFamily="2" charset="2"/>
                        <a:buChar char="§"/>
                      </a:pPr>
                      <a:r>
                        <a:rPr lang="en-US" sz="900" err="1">
                          <a:latin typeface="Arial" panose="020B0604020202020204" pitchFamily="34" charset="0"/>
                          <a:cs typeface="Arial" panose="020B0604020202020204" pitchFamily="34" charset="0"/>
                        </a:rPr>
                        <a:t>Organised</a:t>
                      </a:r>
                      <a:r>
                        <a:rPr lang="en-US" sz="900">
                          <a:latin typeface="Arial" panose="020B0604020202020204" pitchFamily="34" charset="0"/>
                          <a:cs typeface="Arial" panose="020B0604020202020204" pitchFamily="34" charset="0"/>
                        </a:rPr>
                        <a:t> for institutional investors in the pharmaceutical and biosimilars sectors</a:t>
                      </a:r>
                    </a:p>
                  </a:txBody>
                  <a:tcPr marL="18000" marR="18000" marT="72000" marB="1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8192366"/>
                  </a:ext>
                </a:extLst>
              </a:tr>
            </a:tbl>
          </a:graphicData>
        </a:graphic>
      </p:graphicFrame>
      <p:sp>
        <p:nvSpPr>
          <p:cNvPr id="3" name="TextBox 2">
            <a:extLst>
              <a:ext uri="{FF2B5EF4-FFF2-40B4-BE49-F238E27FC236}">
                <a16:creationId xmlns:a16="http://schemas.microsoft.com/office/drawing/2014/main" id="{EAC9BF41-79D2-0152-2C44-467E6BC7648D}"/>
              </a:ext>
            </a:extLst>
          </p:cNvPr>
          <p:cNvSpPr txBox="1"/>
          <p:nvPr/>
        </p:nvSpPr>
        <p:spPr>
          <a:xfrm>
            <a:off x="452437" y="948483"/>
            <a:ext cx="4391993" cy="261988"/>
          </a:xfrm>
          <a:prstGeom prst="roundRect">
            <a:avLst/>
          </a:prstGeom>
          <a:solidFill>
            <a:srgbClr val="089C8B"/>
          </a:solidFill>
          <a:ln w="19050">
            <a:noFill/>
          </a:ln>
          <a:effectLst/>
        </p:spPr>
        <p:txBody>
          <a:bodyPr wrap="square" lIns="0" rIns="0" rtlCol="0" anchor="ctr">
            <a:noAutofit/>
          </a:bodyPr>
          <a:lstStyle/>
          <a:p>
            <a:pPr algn="ctr" defTabSz="422041" fontAlgn="auto">
              <a:spcBef>
                <a:spcPts val="0"/>
              </a:spcBef>
              <a:spcAft>
                <a:spcPts val="0"/>
              </a:spcAft>
              <a:defRPr/>
            </a:pPr>
            <a:r>
              <a:rPr lang="en-US" sz="1000" kern="0">
                <a:solidFill>
                  <a:srgbClr val="FFFFFF"/>
                </a:solidFill>
                <a:latin typeface="Arial" panose="020B0604020202020204" pitchFamily="34" charset="0"/>
                <a:cs typeface="Arial" panose="020B0604020202020204" pitchFamily="34" charset="0"/>
              </a:rPr>
              <a:t>Ongoing research coverage for majority of IPOs that DBS participated</a:t>
            </a:r>
          </a:p>
        </p:txBody>
      </p:sp>
      <p:sp>
        <p:nvSpPr>
          <p:cNvPr id="18" name="TextBox 17">
            <a:extLst>
              <a:ext uri="{FF2B5EF4-FFF2-40B4-BE49-F238E27FC236}">
                <a16:creationId xmlns:a16="http://schemas.microsoft.com/office/drawing/2014/main" id="{AD7F3EE9-783F-0686-F841-243D7B61B26B}"/>
              </a:ext>
            </a:extLst>
          </p:cNvPr>
          <p:cNvSpPr txBox="1"/>
          <p:nvPr/>
        </p:nvSpPr>
        <p:spPr>
          <a:xfrm>
            <a:off x="5133563" y="948483"/>
            <a:ext cx="4320000" cy="261988"/>
          </a:xfrm>
          <a:prstGeom prst="roundRect">
            <a:avLst/>
          </a:prstGeom>
          <a:solidFill>
            <a:srgbClr val="089C8B"/>
          </a:solidFill>
          <a:ln w="19050">
            <a:noFill/>
          </a:ln>
          <a:effectLst/>
        </p:spPr>
        <p:txBody>
          <a:bodyPr wrap="square" rtlCol="0" anchor="ctr">
            <a:noAutofit/>
          </a:bodyPr>
          <a:lstStyle/>
          <a:p>
            <a:pPr algn="ctr" defTabSz="422041" fontAlgn="auto">
              <a:spcBef>
                <a:spcPts val="0"/>
              </a:spcBef>
              <a:spcAft>
                <a:spcPts val="0"/>
              </a:spcAft>
              <a:defRPr/>
            </a:pPr>
            <a:r>
              <a:rPr lang="en-US" sz="1000" kern="0">
                <a:solidFill>
                  <a:srgbClr val="FFFFFF"/>
                </a:solidFill>
                <a:latin typeface="Arial" panose="020B0604020202020204" pitchFamily="34" charset="0"/>
                <a:cs typeface="Arial" panose="020B0604020202020204" pitchFamily="34" charset="0"/>
              </a:rPr>
              <a:t>DBS  in profiling companies in non-deal roadshows</a:t>
            </a:r>
          </a:p>
        </p:txBody>
      </p:sp>
      <p:sp>
        <p:nvSpPr>
          <p:cNvPr id="20" name="TextBox 19">
            <a:extLst>
              <a:ext uri="{FF2B5EF4-FFF2-40B4-BE49-F238E27FC236}">
                <a16:creationId xmlns:a16="http://schemas.microsoft.com/office/drawing/2014/main" id="{AE489784-517F-EFF0-950D-7C05FC79995C}"/>
              </a:ext>
            </a:extLst>
          </p:cNvPr>
          <p:cNvSpPr txBox="1"/>
          <p:nvPr/>
        </p:nvSpPr>
        <p:spPr>
          <a:xfrm>
            <a:off x="5133563" y="3209145"/>
            <a:ext cx="4320000" cy="261988"/>
          </a:xfrm>
          <a:prstGeom prst="roundRect">
            <a:avLst/>
          </a:prstGeom>
          <a:solidFill>
            <a:srgbClr val="089C8B"/>
          </a:solidFill>
          <a:ln w="19050">
            <a:noFill/>
          </a:ln>
          <a:effectLst/>
        </p:spPr>
        <p:txBody>
          <a:bodyPr wrap="square" rtlCol="0" anchor="ctr">
            <a:noAutofit/>
          </a:bodyPr>
          <a:lstStyle/>
          <a:p>
            <a:pPr algn="ctr" defTabSz="422041" fontAlgn="auto">
              <a:spcBef>
                <a:spcPts val="0"/>
              </a:spcBef>
              <a:spcAft>
                <a:spcPts val="0"/>
              </a:spcAft>
              <a:defRPr/>
            </a:pPr>
            <a:r>
              <a:rPr lang="en-US" sz="1000" kern="0">
                <a:solidFill>
                  <a:srgbClr val="FFFFFF"/>
                </a:solidFill>
                <a:latin typeface="Arial" panose="020B0604020202020204" pitchFamily="34" charset="0"/>
                <a:cs typeface="Arial" panose="020B0604020202020204" pitchFamily="34" charset="0"/>
              </a:rPr>
              <a:t>Ongoing profiling of companies via dedicated conferences</a:t>
            </a:r>
          </a:p>
        </p:txBody>
      </p:sp>
    </p:spTree>
    <p:extLst>
      <p:ext uri="{BB962C8B-B14F-4D97-AF65-F5344CB8AC3E}">
        <p14:creationId xmlns:p14="http://schemas.microsoft.com/office/powerpoint/2010/main" val="509439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AF18B-79DE-86A9-3610-D426E453232B}"/>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19FFBDED-EC5C-E0C9-0529-6598033709F1}"/>
              </a:ext>
            </a:extLst>
          </p:cNvPr>
          <p:cNvSpPr>
            <a:spLocks noGrp="1"/>
          </p:cNvSpPr>
          <p:nvPr>
            <p:ph type="subTitle" idx="1"/>
          </p:nvPr>
        </p:nvSpPr>
        <p:spPr/>
        <p:txBody>
          <a:bodyPr/>
          <a:lstStyle/>
          <a:p>
            <a:r>
              <a:rPr lang="en-US"/>
              <a:t>Section 6</a:t>
            </a:r>
            <a:endParaRPr lang="en-SG"/>
          </a:p>
        </p:txBody>
      </p:sp>
      <p:sp>
        <p:nvSpPr>
          <p:cNvPr id="5" name="Title 4">
            <a:extLst>
              <a:ext uri="{FF2B5EF4-FFF2-40B4-BE49-F238E27FC236}">
                <a16:creationId xmlns:a16="http://schemas.microsoft.com/office/drawing/2014/main" id="{191A4415-1EE6-449A-9189-01EB579829CA}"/>
              </a:ext>
            </a:extLst>
          </p:cNvPr>
          <p:cNvSpPr>
            <a:spLocks noGrp="1"/>
          </p:cNvSpPr>
          <p:nvPr>
            <p:ph type="ctrTitle"/>
          </p:nvPr>
        </p:nvSpPr>
        <p:spPr/>
        <p:txBody>
          <a:bodyPr/>
          <a:lstStyle/>
          <a:p>
            <a:r>
              <a:rPr lang="en-US"/>
              <a:t>Select Case Studies</a:t>
            </a:r>
            <a:endParaRPr lang="en-SG"/>
          </a:p>
        </p:txBody>
      </p:sp>
      <p:sp>
        <p:nvSpPr>
          <p:cNvPr id="2" name="Slide Number Placeholder 1">
            <a:extLst>
              <a:ext uri="{FF2B5EF4-FFF2-40B4-BE49-F238E27FC236}">
                <a16:creationId xmlns:a16="http://schemas.microsoft.com/office/drawing/2014/main" id="{843C2F54-269C-8463-C57C-8017A1083A55}"/>
              </a:ext>
            </a:extLst>
          </p:cNvPr>
          <p:cNvSpPr>
            <a:spLocks noGrp="1"/>
          </p:cNvSpPr>
          <p:nvPr>
            <p:ph type="sldNum" sz="quarter" idx="11"/>
          </p:nvPr>
        </p:nvSpPr>
        <p:spPr/>
        <p:txBody>
          <a:bodyPr/>
          <a:lstStyle/>
          <a:p>
            <a:pPr>
              <a:defRPr/>
            </a:pPr>
            <a:fld id="{EED7964B-8F50-47E5-B5EE-37748C966AF4}" type="slidenum">
              <a:rPr lang="en-US" smtClean="0"/>
              <a:pPr>
                <a:defRPr/>
              </a:pPr>
              <a:t>40</a:t>
            </a:fld>
            <a:endParaRPr lang="en-US"/>
          </a:p>
        </p:txBody>
      </p:sp>
    </p:spTree>
    <p:extLst>
      <p:ext uri="{BB962C8B-B14F-4D97-AF65-F5344CB8AC3E}">
        <p14:creationId xmlns:p14="http://schemas.microsoft.com/office/powerpoint/2010/main" val="35541781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652D5-72E8-7734-86AE-1B8780F69AA4}"/>
            </a:ext>
          </a:extLst>
        </p:cNvPr>
        <p:cNvGrpSpPr/>
        <p:nvPr/>
      </p:nvGrpSpPr>
      <p:grpSpPr>
        <a:xfrm>
          <a:off x="0" y="0"/>
          <a:ext cx="0" cy="0"/>
          <a:chOff x="0" y="0"/>
          <a:chExt cx="0" cy="0"/>
        </a:xfrm>
      </p:grpSpPr>
      <p:sp>
        <p:nvSpPr>
          <p:cNvPr id="9" name="Oval 8">
            <a:extLst>
              <a:ext uri="{FF2B5EF4-FFF2-40B4-BE49-F238E27FC236}">
                <a16:creationId xmlns:a16="http://schemas.microsoft.com/office/drawing/2014/main" id="{B6AE8B43-049A-54D9-70D3-DFE528D2D464}"/>
              </a:ext>
            </a:extLst>
          </p:cNvPr>
          <p:cNvSpPr/>
          <p:nvPr/>
        </p:nvSpPr>
        <p:spPr bwMode="auto">
          <a:xfrm>
            <a:off x="438150" y="5238750"/>
            <a:ext cx="381000" cy="381000"/>
          </a:xfrm>
          <a:prstGeom prst="ellipse">
            <a:avLst/>
          </a:prstGeom>
          <a:solidFill>
            <a:srgbClr val="089C8B"/>
          </a:solidFill>
          <a:ln>
            <a:noFill/>
          </a:ln>
          <a:effectLst>
            <a:outerShdw blurRad="50800" dist="38100" dir="2700000" algn="ctr" rotWithShape="0">
              <a:schemeClr val="tx1">
                <a:alpha val="40000"/>
              </a:schemeClr>
            </a:outerShdw>
          </a:effectLst>
        </p:spPr>
        <p:txBody>
          <a:bodyPr vert="horz" wrap="square" lIns="36000" tIns="36000" rIns="36000" bIns="36000" numCol="1" rtlCol="0" anchor="ctr"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graphicFrame>
        <p:nvGraphicFramePr>
          <p:cNvPr id="8" name="Chart 7">
            <a:extLst>
              <a:ext uri="{FF2B5EF4-FFF2-40B4-BE49-F238E27FC236}">
                <a16:creationId xmlns:a16="http://schemas.microsoft.com/office/drawing/2014/main" id="{9360FB89-CC72-1A53-DBB5-7A7ED44ED3B1}"/>
              </a:ext>
            </a:extLst>
          </p:cNvPr>
          <p:cNvGraphicFramePr>
            <a:graphicFrameLocks/>
          </p:cNvGraphicFramePr>
          <p:nvPr/>
        </p:nvGraphicFramePr>
        <p:xfrm>
          <a:off x="352424" y="2676525"/>
          <a:ext cx="9201152" cy="3586425"/>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7A90DE68-3CAC-4E30-3C79-2484FF6A2E4E}"/>
              </a:ext>
            </a:extLst>
          </p:cNvPr>
          <p:cNvSpPr>
            <a:spLocks noGrp="1"/>
          </p:cNvSpPr>
          <p:nvPr>
            <p:ph type="title"/>
          </p:nvPr>
        </p:nvSpPr>
        <p:spPr/>
        <p:txBody>
          <a:bodyPr/>
          <a:lstStyle/>
          <a:p>
            <a:r>
              <a:rPr lang="en-SG" b="1"/>
              <a:t>Case Study: </a:t>
            </a:r>
            <a:r>
              <a:rPr lang="en-US"/>
              <a:t>Keppel DC REIT grew &gt;4x in the last decade through active management</a:t>
            </a:r>
          </a:p>
        </p:txBody>
      </p:sp>
      <p:sp>
        <p:nvSpPr>
          <p:cNvPr id="4" name="Text Placeholder 3">
            <a:extLst>
              <a:ext uri="{FF2B5EF4-FFF2-40B4-BE49-F238E27FC236}">
                <a16:creationId xmlns:a16="http://schemas.microsoft.com/office/drawing/2014/main" id="{D93C9C08-5430-933B-81D7-E14A2154E3C7}"/>
              </a:ext>
            </a:extLst>
          </p:cNvPr>
          <p:cNvSpPr>
            <a:spLocks noGrp="1"/>
          </p:cNvSpPr>
          <p:nvPr>
            <p:ph type="body" sz="quarter" idx="46"/>
          </p:nvPr>
        </p:nvSpPr>
        <p:spPr/>
        <p:txBody>
          <a:bodyPr/>
          <a:lstStyle/>
          <a:p>
            <a:endParaRPr lang="en-SG"/>
          </a:p>
        </p:txBody>
      </p:sp>
      <p:pic>
        <p:nvPicPr>
          <p:cNvPr id="5" name="Picture 4">
            <a:extLst>
              <a:ext uri="{FF2B5EF4-FFF2-40B4-BE49-F238E27FC236}">
                <a16:creationId xmlns:a16="http://schemas.microsoft.com/office/drawing/2014/main" id="{0E9DC2C4-615D-9D9C-A04A-E31F68237496}"/>
              </a:ext>
            </a:extLst>
          </p:cNvPr>
          <p:cNvPicPr>
            <a:picLocks noChangeAspect="1"/>
          </p:cNvPicPr>
          <p:nvPr/>
        </p:nvPicPr>
        <p:blipFill>
          <a:blip r:embed="rId3"/>
          <a:stretch>
            <a:fillRect/>
          </a:stretch>
        </p:blipFill>
        <p:spPr>
          <a:xfrm>
            <a:off x="453000" y="875396"/>
            <a:ext cx="2185035" cy="352425"/>
          </a:xfrm>
          <a:prstGeom prst="rect">
            <a:avLst/>
          </a:prstGeom>
        </p:spPr>
      </p:pic>
      <p:sp>
        <p:nvSpPr>
          <p:cNvPr id="11" name="TextBox 10">
            <a:extLst>
              <a:ext uri="{FF2B5EF4-FFF2-40B4-BE49-F238E27FC236}">
                <a16:creationId xmlns:a16="http://schemas.microsoft.com/office/drawing/2014/main" id="{2188F4FE-5EAC-6BA2-8609-63EA9C7507FD}"/>
              </a:ext>
            </a:extLst>
          </p:cNvPr>
          <p:cNvSpPr txBox="1"/>
          <p:nvPr/>
        </p:nvSpPr>
        <p:spPr>
          <a:xfrm>
            <a:off x="7943850" y="5685973"/>
            <a:ext cx="1230240" cy="211203"/>
          </a:xfrm>
          <a:prstGeom prst="rect">
            <a:avLst/>
          </a:prstGeom>
          <a:noFill/>
          <a:ln w="6350">
            <a:noFill/>
            <a:prstDash val="dash"/>
          </a:ln>
        </p:spPr>
        <p:txBody>
          <a:bodyPr wrap="square" lIns="0" tIns="36000" rIns="0" bIns="36000" rtlCol="0" anchor="t">
            <a:spAutoFit/>
          </a:bodyPr>
          <a:lstStyle/>
          <a:p>
            <a:pPr>
              <a:spcAft>
                <a:spcPts val="200"/>
              </a:spcAft>
            </a:pPr>
            <a:r>
              <a:rPr lang="en-US" sz="900">
                <a:solidFill>
                  <a:schemeClr val="tx1"/>
                </a:solidFill>
              </a:rPr>
              <a:t>Total Assets (</a:t>
            </a:r>
            <a:r>
              <a:rPr lang="en-US" sz="900" err="1">
                <a:solidFill>
                  <a:schemeClr val="tx1"/>
                </a:solidFill>
              </a:rPr>
              <a:t>S$bn</a:t>
            </a:r>
            <a:r>
              <a:rPr lang="en-US" sz="900">
                <a:solidFill>
                  <a:schemeClr val="tx1"/>
                </a:solidFill>
              </a:rPr>
              <a:t>)</a:t>
            </a:r>
            <a:endParaRPr lang="en-SG" sz="900">
              <a:solidFill>
                <a:schemeClr val="tx1"/>
              </a:solidFill>
            </a:endParaRPr>
          </a:p>
        </p:txBody>
      </p:sp>
      <p:sp>
        <p:nvSpPr>
          <p:cNvPr id="19" name="TextBox 18">
            <a:extLst>
              <a:ext uri="{FF2B5EF4-FFF2-40B4-BE49-F238E27FC236}">
                <a16:creationId xmlns:a16="http://schemas.microsoft.com/office/drawing/2014/main" id="{3CDF61FC-FE1A-786F-3ACA-49852F254524}"/>
              </a:ext>
            </a:extLst>
          </p:cNvPr>
          <p:cNvSpPr txBox="1"/>
          <p:nvPr/>
        </p:nvSpPr>
        <p:spPr>
          <a:xfrm>
            <a:off x="3387357" y="3576712"/>
            <a:ext cx="1398493" cy="985774"/>
          </a:xfrm>
          <a:prstGeom prst="rect">
            <a:avLst/>
          </a:prstGeom>
          <a:noFill/>
          <a:ln w="6350">
            <a:noFill/>
            <a:prstDash val="dash"/>
          </a:ln>
        </p:spPr>
        <p:txBody>
          <a:bodyPr wrap="square" lIns="0" tIns="36000" rIns="0" bIns="36000" rtlCol="0" anchor="b">
            <a:spAutoFit/>
          </a:bodyPr>
          <a:lstStyle/>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a:t>
            </a:r>
            <a:r>
              <a:rPr lang="en-US" sz="800" b="0" err="1">
                <a:solidFill>
                  <a:schemeClr val="tx1"/>
                </a:solidFill>
              </a:rPr>
              <a:t>maincubes</a:t>
            </a:r>
            <a:r>
              <a:rPr lang="en-US" sz="800" b="0">
                <a:solidFill>
                  <a:schemeClr val="tx1"/>
                </a:solidFill>
              </a:rPr>
              <a:t> DC in Germany to be developed</a:t>
            </a:r>
          </a:p>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Keppel DC Singapore 5</a:t>
            </a:r>
          </a:p>
          <a:p>
            <a:pPr marL="108000" indent="-108000">
              <a:spcAft>
                <a:spcPts val="200"/>
              </a:spcAft>
              <a:buFont typeface="Arial" panose="020B0604020202020204" pitchFamily="34" charset="0"/>
              <a:buChar char="•"/>
            </a:pPr>
            <a:r>
              <a:rPr lang="en-US" sz="800" b="0">
                <a:solidFill>
                  <a:srgbClr val="055F54"/>
                </a:solidFill>
              </a:rPr>
              <a:t>Agreement with Macquarie Telecom to construct </a:t>
            </a:r>
            <a:r>
              <a:rPr lang="en-US" sz="800" b="0" err="1">
                <a:solidFill>
                  <a:srgbClr val="055F54"/>
                </a:solidFill>
              </a:rPr>
              <a:t>Intellicentre</a:t>
            </a:r>
            <a:r>
              <a:rPr lang="en-US" sz="800" b="0">
                <a:solidFill>
                  <a:srgbClr val="055F54"/>
                </a:solidFill>
              </a:rPr>
              <a:t> 3 East on vacant land</a:t>
            </a:r>
            <a:endParaRPr lang="en-SG" sz="800" b="0">
              <a:solidFill>
                <a:srgbClr val="055F54"/>
              </a:solidFill>
            </a:endParaRPr>
          </a:p>
        </p:txBody>
      </p:sp>
      <p:grpSp>
        <p:nvGrpSpPr>
          <p:cNvPr id="20" name="Group 19">
            <a:extLst>
              <a:ext uri="{FF2B5EF4-FFF2-40B4-BE49-F238E27FC236}">
                <a16:creationId xmlns:a16="http://schemas.microsoft.com/office/drawing/2014/main" id="{2F659839-8033-A298-72D7-7D028D901CFA}"/>
              </a:ext>
            </a:extLst>
          </p:cNvPr>
          <p:cNvGrpSpPr/>
          <p:nvPr/>
        </p:nvGrpSpPr>
        <p:grpSpPr>
          <a:xfrm>
            <a:off x="3426195" y="4562486"/>
            <a:ext cx="1318307" cy="377093"/>
            <a:chOff x="4856869" y="2857500"/>
            <a:chExt cx="1318307" cy="1511300"/>
          </a:xfrm>
        </p:grpSpPr>
        <p:cxnSp>
          <p:nvCxnSpPr>
            <p:cNvPr id="21" name="Straight Connector 20">
              <a:extLst>
                <a:ext uri="{FF2B5EF4-FFF2-40B4-BE49-F238E27FC236}">
                  <a16:creationId xmlns:a16="http://schemas.microsoft.com/office/drawing/2014/main" id="{665E8B32-69B4-AC7C-EF13-40C3EA2053C8}"/>
                </a:ext>
              </a:extLst>
            </p:cNvPr>
            <p:cNvCxnSpPr>
              <a:cxnSpLocks/>
            </p:cNvCxnSpPr>
            <p:nvPr/>
          </p:nvCxnSpPr>
          <p:spPr bwMode="auto">
            <a:xfrm>
              <a:off x="4856869" y="2857500"/>
              <a:ext cx="1318307"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2E43DAC-0D4A-6583-2DBB-3AEA3968C717}"/>
                </a:ext>
              </a:extLst>
            </p:cNvPr>
            <p:cNvCxnSpPr>
              <a:cxnSpLocks/>
            </p:cNvCxnSpPr>
            <p:nvPr/>
          </p:nvCxnSpPr>
          <p:spPr bwMode="auto">
            <a:xfrm>
              <a:off x="5505450" y="2857500"/>
              <a:ext cx="0" cy="1511300"/>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3" name="TextBox 22">
            <a:extLst>
              <a:ext uri="{FF2B5EF4-FFF2-40B4-BE49-F238E27FC236}">
                <a16:creationId xmlns:a16="http://schemas.microsoft.com/office/drawing/2014/main" id="{A67B8A98-0C5C-8881-6706-D9D556D4387A}"/>
              </a:ext>
            </a:extLst>
          </p:cNvPr>
          <p:cNvSpPr txBox="1"/>
          <p:nvPr/>
        </p:nvSpPr>
        <p:spPr>
          <a:xfrm>
            <a:off x="3849160" y="2859986"/>
            <a:ext cx="1225272" cy="467683"/>
          </a:xfrm>
          <a:prstGeom prst="rect">
            <a:avLst/>
          </a:prstGeom>
          <a:noFill/>
          <a:ln w="6350">
            <a:noFill/>
            <a:prstDash val="dash"/>
          </a:ln>
        </p:spPr>
        <p:txBody>
          <a:bodyPr wrap="square" lIns="0" tIns="36000" rIns="0" bIns="36000" rtlCol="0" anchor="b">
            <a:spAutoFit/>
          </a:bodyPr>
          <a:lstStyle/>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DC1 in Singapore</a:t>
            </a:r>
          </a:p>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99% interest in Keppel DC Singapore 4</a:t>
            </a:r>
            <a:endParaRPr lang="en-SG" sz="800" b="0">
              <a:solidFill>
                <a:schemeClr val="tx1"/>
              </a:solidFill>
            </a:endParaRPr>
          </a:p>
        </p:txBody>
      </p:sp>
      <p:grpSp>
        <p:nvGrpSpPr>
          <p:cNvPr id="27" name="Group 26">
            <a:extLst>
              <a:ext uri="{FF2B5EF4-FFF2-40B4-BE49-F238E27FC236}">
                <a16:creationId xmlns:a16="http://schemas.microsoft.com/office/drawing/2014/main" id="{B20EB680-3CE8-1F04-0356-DEFE122D6028}"/>
              </a:ext>
            </a:extLst>
          </p:cNvPr>
          <p:cNvGrpSpPr/>
          <p:nvPr/>
        </p:nvGrpSpPr>
        <p:grpSpPr>
          <a:xfrm>
            <a:off x="3849160" y="3346187"/>
            <a:ext cx="1202263" cy="1134154"/>
            <a:chOff x="4393933" y="2857500"/>
            <a:chExt cx="1202263" cy="1511300"/>
          </a:xfrm>
        </p:grpSpPr>
        <p:cxnSp>
          <p:nvCxnSpPr>
            <p:cNvPr id="28" name="Straight Connector 27">
              <a:extLst>
                <a:ext uri="{FF2B5EF4-FFF2-40B4-BE49-F238E27FC236}">
                  <a16:creationId xmlns:a16="http://schemas.microsoft.com/office/drawing/2014/main" id="{6CD66FD6-F5FA-A558-94BE-C7F6361C455B}"/>
                </a:ext>
              </a:extLst>
            </p:cNvPr>
            <p:cNvCxnSpPr>
              <a:cxnSpLocks/>
            </p:cNvCxnSpPr>
            <p:nvPr/>
          </p:nvCxnSpPr>
          <p:spPr bwMode="auto">
            <a:xfrm>
              <a:off x="4393933" y="2857500"/>
              <a:ext cx="1202263"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855D3B1C-FA97-14C7-4340-F8363C5DE0A4}"/>
                </a:ext>
              </a:extLst>
            </p:cNvPr>
            <p:cNvCxnSpPr>
              <a:cxnSpLocks/>
            </p:cNvCxnSpPr>
            <p:nvPr/>
          </p:nvCxnSpPr>
          <p:spPr bwMode="auto">
            <a:xfrm>
              <a:off x="5505450" y="2857500"/>
              <a:ext cx="0" cy="1511300"/>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0" name="TextBox 29">
            <a:extLst>
              <a:ext uri="{FF2B5EF4-FFF2-40B4-BE49-F238E27FC236}">
                <a16:creationId xmlns:a16="http://schemas.microsoft.com/office/drawing/2014/main" id="{062783BF-2848-06AC-9B11-A61DE843680F}"/>
              </a:ext>
            </a:extLst>
          </p:cNvPr>
          <p:cNvSpPr txBox="1"/>
          <p:nvPr/>
        </p:nvSpPr>
        <p:spPr>
          <a:xfrm>
            <a:off x="5180785" y="3341445"/>
            <a:ext cx="1255016" cy="590794"/>
          </a:xfrm>
          <a:prstGeom prst="rect">
            <a:avLst/>
          </a:prstGeom>
          <a:noFill/>
          <a:ln w="6350">
            <a:noFill/>
            <a:prstDash val="dash"/>
          </a:ln>
        </p:spPr>
        <p:txBody>
          <a:bodyPr wrap="square" lIns="0" tIns="36000" rIns="0" bIns="36000" rtlCol="0" anchor="b">
            <a:spAutoFit/>
          </a:bodyPr>
          <a:lstStyle/>
          <a:p>
            <a:pPr marL="108000" indent="-108000" algn="ctr">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a:t>
            </a:r>
            <a:r>
              <a:rPr lang="en-US" sz="800" b="0" err="1">
                <a:solidFill>
                  <a:schemeClr val="tx1"/>
                </a:solidFill>
              </a:rPr>
              <a:t>Kelsterbach</a:t>
            </a:r>
            <a:r>
              <a:rPr lang="en-US" sz="800" b="0">
                <a:solidFill>
                  <a:schemeClr val="tx1"/>
                </a:solidFill>
              </a:rPr>
              <a:t> DC in Germany </a:t>
            </a:r>
          </a:p>
          <a:p>
            <a:pPr marL="108000" indent="-108000" algn="ctr">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Amsterdam DC in Netherlands</a:t>
            </a:r>
            <a:endParaRPr lang="en-SG" sz="800" b="0">
              <a:solidFill>
                <a:schemeClr val="tx1"/>
              </a:solidFill>
            </a:endParaRPr>
          </a:p>
        </p:txBody>
      </p:sp>
      <p:grpSp>
        <p:nvGrpSpPr>
          <p:cNvPr id="31" name="Group 30">
            <a:extLst>
              <a:ext uri="{FF2B5EF4-FFF2-40B4-BE49-F238E27FC236}">
                <a16:creationId xmlns:a16="http://schemas.microsoft.com/office/drawing/2014/main" id="{BA42F527-209C-A8DA-B468-1144F310F2E6}"/>
              </a:ext>
            </a:extLst>
          </p:cNvPr>
          <p:cNvGrpSpPr/>
          <p:nvPr/>
        </p:nvGrpSpPr>
        <p:grpSpPr>
          <a:xfrm>
            <a:off x="5238750" y="3942589"/>
            <a:ext cx="1197051" cy="324356"/>
            <a:chOff x="4935907" y="2857500"/>
            <a:chExt cx="1197051" cy="1511300"/>
          </a:xfrm>
        </p:grpSpPr>
        <p:cxnSp>
          <p:nvCxnSpPr>
            <p:cNvPr id="32" name="Straight Connector 31">
              <a:extLst>
                <a:ext uri="{FF2B5EF4-FFF2-40B4-BE49-F238E27FC236}">
                  <a16:creationId xmlns:a16="http://schemas.microsoft.com/office/drawing/2014/main" id="{B039CCEC-9C52-A1B5-2E61-EFCB983FED1C}"/>
                </a:ext>
              </a:extLst>
            </p:cNvPr>
            <p:cNvCxnSpPr>
              <a:cxnSpLocks/>
            </p:cNvCxnSpPr>
            <p:nvPr/>
          </p:nvCxnSpPr>
          <p:spPr bwMode="auto">
            <a:xfrm>
              <a:off x="4935907" y="2857500"/>
              <a:ext cx="119705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7FE65F1F-EC56-876F-F96D-21BA390FB221}"/>
                </a:ext>
              </a:extLst>
            </p:cNvPr>
            <p:cNvCxnSpPr>
              <a:cxnSpLocks/>
            </p:cNvCxnSpPr>
            <p:nvPr/>
          </p:nvCxnSpPr>
          <p:spPr bwMode="auto">
            <a:xfrm>
              <a:off x="5505450" y="2857500"/>
              <a:ext cx="0" cy="1511300"/>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4" name="TextBox 33">
            <a:extLst>
              <a:ext uri="{FF2B5EF4-FFF2-40B4-BE49-F238E27FC236}">
                <a16:creationId xmlns:a16="http://schemas.microsoft.com/office/drawing/2014/main" id="{5C06811F-6E77-595E-DAC8-1E6553FE914A}"/>
              </a:ext>
            </a:extLst>
          </p:cNvPr>
          <p:cNvSpPr txBox="1"/>
          <p:nvPr/>
        </p:nvSpPr>
        <p:spPr>
          <a:xfrm>
            <a:off x="5124663" y="1696740"/>
            <a:ext cx="1893850" cy="1380754"/>
          </a:xfrm>
          <a:prstGeom prst="rect">
            <a:avLst/>
          </a:prstGeom>
          <a:noFill/>
          <a:ln w="6350">
            <a:noFill/>
            <a:prstDash val="dash"/>
          </a:ln>
        </p:spPr>
        <p:txBody>
          <a:bodyPr wrap="square" lIns="0" tIns="36000" rIns="0" bIns="36000" rtlCol="0" anchor="b">
            <a:spAutoFit/>
          </a:bodyPr>
          <a:lstStyle/>
          <a:p>
            <a:pPr marL="108000" indent="-108000">
              <a:spcAft>
                <a:spcPts val="200"/>
              </a:spcAft>
              <a:buFont typeface="Arial" panose="020B0604020202020204" pitchFamily="34" charset="0"/>
              <a:buChar char="•"/>
            </a:pPr>
            <a:r>
              <a:rPr lang="en-US" sz="800" b="0">
                <a:solidFill>
                  <a:schemeClr val="tx1"/>
                </a:solidFill>
              </a:rPr>
              <a:t>Invested in bonds and preference shares issued by M1 Network Private Limited</a:t>
            </a:r>
          </a:p>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Guangdong DC</a:t>
            </a:r>
          </a:p>
          <a:p>
            <a:pPr marL="108000" indent="-108000">
              <a:spcAft>
                <a:spcPts val="200"/>
              </a:spcAft>
              <a:buFont typeface="Arial" panose="020B0604020202020204" pitchFamily="34" charset="0"/>
              <a:buChar char="•"/>
            </a:pPr>
            <a:r>
              <a:rPr lang="en-US" sz="800" b="0">
                <a:solidFill>
                  <a:schemeClr val="tx1"/>
                </a:solidFill>
              </a:rPr>
              <a:t>Acquired Eindhoven Campus in Netherlands</a:t>
            </a:r>
          </a:p>
          <a:p>
            <a:pPr marL="108000" indent="-108000">
              <a:spcAft>
                <a:spcPts val="200"/>
              </a:spcAft>
              <a:buFont typeface="Arial" panose="020B0604020202020204" pitchFamily="34" charset="0"/>
              <a:buChar char="•"/>
            </a:pPr>
            <a:r>
              <a:rPr lang="en-US" sz="800" b="0">
                <a:solidFill>
                  <a:srgbClr val="055F54"/>
                </a:solidFill>
              </a:rPr>
              <a:t>Completed development of </a:t>
            </a:r>
            <a:r>
              <a:rPr lang="en-US" sz="800" b="0" err="1">
                <a:solidFill>
                  <a:srgbClr val="055F54"/>
                </a:solidFill>
              </a:rPr>
              <a:t>Intellicentre</a:t>
            </a:r>
            <a:r>
              <a:rPr lang="en-US" sz="800" b="0">
                <a:solidFill>
                  <a:srgbClr val="055F54"/>
                </a:solidFill>
              </a:rPr>
              <a:t> 3 East in Sydney, commencing 20-year triple net master lease with Macquarie Data </a:t>
            </a:r>
            <a:r>
              <a:rPr lang="en-US" sz="800" b="0" err="1">
                <a:solidFill>
                  <a:srgbClr val="055F54"/>
                </a:solidFill>
              </a:rPr>
              <a:t>Centres</a:t>
            </a:r>
            <a:endParaRPr lang="en-SG" sz="800" b="0">
              <a:solidFill>
                <a:srgbClr val="055F54"/>
              </a:solidFill>
            </a:endParaRPr>
          </a:p>
        </p:txBody>
      </p:sp>
      <p:grpSp>
        <p:nvGrpSpPr>
          <p:cNvPr id="35" name="Group 34">
            <a:extLst>
              <a:ext uri="{FF2B5EF4-FFF2-40B4-BE49-F238E27FC236}">
                <a16:creationId xmlns:a16="http://schemas.microsoft.com/office/drawing/2014/main" id="{3FC9E487-4E89-39AF-AE25-A8EC4E4DB966}"/>
              </a:ext>
            </a:extLst>
          </p:cNvPr>
          <p:cNvGrpSpPr/>
          <p:nvPr/>
        </p:nvGrpSpPr>
        <p:grpSpPr>
          <a:xfrm>
            <a:off x="5238750" y="3090191"/>
            <a:ext cx="1644650" cy="842048"/>
            <a:chOff x="4056189" y="2857500"/>
            <a:chExt cx="1644650" cy="842048"/>
          </a:xfrm>
        </p:grpSpPr>
        <p:cxnSp>
          <p:nvCxnSpPr>
            <p:cNvPr id="36" name="Straight Connector 35">
              <a:extLst>
                <a:ext uri="{FF2B5EF4-FFF2-40B4-BE49-F238E27FC236}">
                  <a16:creationId xmlns:a16="http://schemas.microsoft.com/office/drawing/2014/main" id="{03E1CB95-7776-3EC9-B17D-350B2420E8E2}"/>
                </a:ext>
              </a:extLst>
            </p:cNvPr>
            <p:cNvCxnSpPr>
              <a:cxnSpLocks/>
            </p:cNvCxnSpPr>
            <p:nvPr/>
          </p:nvCxnSpPr>
          <p:spPr bwMode="auto">
            <a:xfrm>
              <a:off x="4056189" y="2857500"/>
              <a:ext cx="1644650"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A5DDDECB-3754-A2B6-A6DE-7EDB0968B05F}"/>
                </a:ext>
              </a:extLst>
            </p:cNvPr>
            <p:cNvCxnSpPr>
              <a:cxnSpLocks/>
            </p:cNvCxnSpPr>
            <p:nvPr/>
          </p:nvCxnSpPr>
          <p:spPr bwMode="auto">
            <a:xfrm>
              <a:off x="5505450" y="2857500"/>
              <a:ext cx="0" cy="842048"/>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9" name="TextBox 38">
            <a:extLst>
              <a:ext uri="{FF2B5EF4-FFF2-40B4-BE49-F238E27FC236}">
                <a16:creationId xmlns:a16="http://schemas.microsoft.com/office/drawing/2014/main" id="{2D58B21F-88D8-A48A-3830-9A4DE96214C8}"/>
              </a:ext>
            </a:extLst>
          </p:cNvPr>
          <p:cNvSpPr txBox="1"/>
          <p:nvPr/>
        </p:nvSpPr>
        <p:spPr>
          <a:xfrm>
            <a:off x="7153625" y="3002442"/>
            <a:ext cx="1613463" cy="467683"/>
          </a:xfrm>
          <a:prstGeom prst="rect">
            <a:avLst/>
          </a:prstGeom>
          <a:noFill/>
          <a:ln w="6350">
            <a:noFill/>
            <a:prstDash val="dash"/>
          </a:ln>
        </p:spPr>
        <p:txBody>
          <a:bodyPr wrap="square" lIns="0" tIns="36000" rIns="0" bIns="36000" rtlCol="0" anchor="b">
            <a:spAutoFit/>
          </a:bodyPr>
          <a:lstStyle/>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London DC in the UK</a:t>
            </a:r>
          </a:p>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Guangdong DC 2 and Guangdong DC3 in China</a:t>
            </a:r>
            <a:endParaRPr lang="en-SG" sz="800" b="0">
              <a:solidFill>
                <a:schemeClr val="tx1"/>
              </a:solidFill>
            </a:endParaRPr>
          </a:p>
        </p:txBody>
      </p:sp>
      <p:grpSp>
        <p:nvGrpSpPr>
          <p:cNvPr id="40" name="Group 39">
            <a:extLst>
              <a:ext uri="{FF2B5EF4-FFF2-40B4-BE49-F238E27FC236}">
                <a16:creationId xmlns:a16="http://schemas.microsoft.com/office/drawing/2014/main" id="{ABCABA10-AFD5-3EC1-6A7B-64CF993CB124}"/>
              </a:ext>
            </a:extLst>
          </p:cNvPr>
          <p:cNvGrpSpPr/>
          <p:nvPr/>
        </p:nvGrpSpPr>
        <p:grpSpPr>
          <a:xfrm>
            <a:off x="7153625" y="3481266"/>
            <a:ext cx="1322863" cy="251529"/>
            <a:chOff x="5114184" y="2857500"/>
            <a:chExt cx="1322863" cy="1511300"/>
          </a:xfrm>
        </p:grpSpPr>
        <p:cxnSp>
          <p:nvCxnSpPr>
            <p:cNvPr id="41" name="Straight Connector 40">
              <a:extLst>
                <a:ext uri="{FF2B5EF4-FFF2-40B4-BE49-F238E27FC236}">
                  <a16:creationId xmlns:a16="http://schemas.microsoft.com/office/drawing/2014/main" id="{4C7CFB07-DD6B-E7FB-60FF-04844B456AFA}"/>
                </a:ext>
              </a:extLst>
            </p:cNvPr>
            <p:cNvCxnSpPr>
              <a:cxnSpLocks/>
            </p:cNvCxnSpPr>
            <p:nvPr/>
          </p:nvCxnSpPr>
          <p:spPr bwMode="auto">
            <a:xfrm>
              <a:off x="5114184" y="2857500"/>
              <a:ext cx="1322863"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5C43662A-22D7-B76D-6941-36F2D0EBD502}"/>
                </a:ext>
              </a:extLst>
            </p:cNvPr>
            <p:cNvCxnSpPr>
              <a:cxnSpLocks/>
            </p:cNvCxnSpPr>
            <p:nvPr/>
          </p:nvCxnSpPr>
          <p:spPr bwMode="auto">
            <a:xfrm>
              <a:off x="5505450" y="2857500"/>
              <a:ext cx="0" cy="1511300"/>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3" name="TextBox 42">
            <a:extLst>
              <a:ext uri="{FF2B5EF4-FFF2-40B4-BE49-F238E27FC236}">
                <a16:creationId xmlns:a16="http://schemas.microsoft.com/office/drawing/2014/main" id="{B024B454-250F-0040-BFE5-45CC78926557}"/>
              </a:ext>
            </a:extLst>
          </p:cNvPr>
          <p:cNvSpPr txBox="1"/>
          <p:nvPr/>
        </p:nvSpPr>
        <p:spPr>
          <a:xfrm>
            <a:off x="7153625" y="1468245"/>
            <a:ext cx="2492899" cy="1334587"/>
          </a:xfrm>
          <a:prstGeom prst="rect">
            <a:avLst/>
          </a:prstGeom>
          <a:noFill/>
          <a:ln w="6350">
            <a:noFill/>
            <a:prstDash val="dash"/>
          </a:ln>
        </p:spPr>
        <p:txBody>
          <a:bodyPr wrap="square" lIns="0" tIns="36000" rIns="0" bIns="36000" rtlCol="0" anchor="b">
            <a:spAutoFit/>
          </a:bodyPr>
          <a:lstStyle/>
          <a:p>
            <a:pPr marL="108000" indent="-108000">
              <a:spcAft>
                <a:spcPts val="200"/>
              </a:spcAft>
            </a:pPr>
            <a:r>
              <a:rPr lang="en-US" sz="800" b="0">
                <a:solidFill>
                  <a:schemeClr val="tx1"/>
                </a:solidFill>
              </a:rPr>
              <a:t>2025</a:t>
            </a:r>
          </a:p>
          <a:p>
            <a:pPr marL="108000" indent="-108000">
              <a:spcAft>
                <a:spcPts val="200"/>
              </a:spcAft>
              <a:buFont typeface="Arial" panose="020B0604020202020204" pitchFamily="34" charset="0"/>
              <a:buChar char="•"/>
            </a:pPr>
            <a:r>
              <a:rPr lang="en-US" sz="800" b="0">
                <a:solidFill>
                  <a:schemeClr val="tx1"/>
                </a:solidFill>
              </a:rPr>
              <a:t>Divested Basis Bay DC and </a:t>
            </a:r>
            <a:r>
              <a:rPr lang="en-US" sz="800" b="0" err="1">
                <a:solidFill>
                  <a:schemeClr val="tx1"/>
                </a:solidFill>
              </a:rPr>
              <a:t>Kelsterbach</a:t>
            </a:r>
            <a:r>
              <a:rPr lang="en-US" sz="800" b="0">
                <a:solidFill>
                  <a:schemeClr val="tx1"/>
                </a:solidFill>
              </a:rPr>
              <a:t> DC</a:t>
            </a:r>
            <a:endParaRPr lang="en-SG" sz="800" b="0">
              <a:solidFill>
                <a:schemeClr val="tx1"/>
              </a:solidFill>
            </a:endParaRPr>
          </a:p>
          <a:p>
            <a:pPr marL="108000" indent="-108000">
              <a:spcAft>
                <a:spcPts val="200"/>
              </a:spcAft>
            </a:pPr>
            <a:r>
              <a:rPr lang="en-US" sz="800" b="0">
                <a:solidFill>
                  <a:schemeClr val="tx1"/>
                </a:solidFill>
              </a:rPr>
              <a:t>2024</a:t>
            </a:r>
          </a:p>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KDC Singapore 7 and KDC Singapore 8</a:t>
            </a:r>
          </a:p>
          <a:p>
            <a:pPr marL="108000" indent="-108000">
              <a:spcAft>
                <a:spcPts val="200"/>
              </a:spcAft>
              <a:buFont typeface="Arial" panose="020B0604020202020204" pitchFamily="34" charset="0"/>
              <a:buChar char="•"/>
            </a:pPr>
            <a:r>
              <a:rPr lang="en-US" sz="800" b="0">
                <a:solidFill>
                  <a:schemeClr val="tx1"/>
                </a:solidFill>
              </a:rPr>
              <a:t>Acquired Tokyo DC 1</a:t>
            </a:r>
            <a:endParaRPr lang="en-SG" sz="800" b="0">
              <a:solidFill>
                <a:schemeClr val="tx1"/>
              </a:solidFill>
            </a:endParaRPr>
          </a:p>
          <a:p>
            <a:pPr marL="108000" indent="-108000">
              <a:spcAft>
                <a:spcPts val="200"/>
              </a:spcAft>
              <a:buFont typeface="Arial" panose="020B0604020202020204" pitchFamily="34" charset="0"/>
              <a:buChar char="•"/>
            </a:pPr>
            <a:r>
              <a:rPr lang="en-US" sz="800" b="0">
                <a:solidFill>
                  <a:srgbClr val="055F54"/>
                </a:solidFill>
              </a:rPr>
              <a:t>Divested </a:t>
            </a:r>
            <a:r>
              <a:rPr lang="en-US" sz="800" b="0" err="1">
                <a:solidFill>
                  <a:srgbClr val="055F54"/>
                </a:solidFill>
              </a:rPr>
              <a:t>Intellicentre</a:t>
            </a:r>
            <a:r>
              <a:rPr lang="en-US" sz="800" b="0">
                <a:solidFill>
                  <a:srgbClr val="055F54"/>
                </a:solidFill>
              </a:rPr>
              <a:t> 2 and 3 East at 35.4% premium and 3.6% exit cap rate</a:t>
            </a:r>
            <a:r>
              <a:rPr lang="en-US" sz="800" b="0">
                <a:solidFill>
                  <a:schemeClr val="tx1"/>
                </a:solidFill>
              </a:rPr>
              <a:t>, and re-invested part of proceeds to notes issued by acquirer Macquarie Data </a:t>
            </a:r>
            <a:r>
              <a:rPr lang="en-US" sz="800" b="0" err="1">
                <a:solidFill>
                  <a:schemeClr val="tx1"/>
                </a:solidFill>
              </a:rPr>
              <a:t>Centres</a:t>
            </a:r>
            <a:endParaRPr lang="en-US" sz="800" b="0">
              <a:solidFill>
                <a:schemeClr val="tx1"/>
              </a:solidFill>
            </a:endParaRPr>
          </a:p>
        </p:txBody>
      </p:sp>
      <p:sp>
        <p:nvSpPr>
          <p:cNvPr id="53" name="TextBox 52">
            <a:extLst>
              <a:ext uri="{FF2B5EF4-FFF2-40B4-BE49-F238E27FC236}">
                <a16:creationId xmlns:a16="http://schemas.microsoft.com/office/drawing/2014/main" id="{C2BCEBED-1091-D981-031B-260C4C3C7D3E}"/>
              </a:ext>
            </a:extLst>
          </p:cNvPr>
          <p:cNvSpPr txBox="1"/>
          <p:nvPr/>
        </p:nvSpPr>
        <p:spPr>
          <a:xfrm>
            <a:off x="817754" y="4480341"/>
            <a:ext cx="1372694" cy="318924"/>
          </a:xfrm>
          <a:prstGeom prst="rect">
            <a:avLst/>
          </a:prstGeom>
          <a:noFill/>
          <a:ln w="6350">
            <a:noFill/>
            <a:prstDash val="dash"/>
          </a:ln>
        </p:spPr>
        <p:txBody>
          <a:bodyPr wrap="square" lIns="0" tIns="36000" rIns="0" bIns="36000" rtlCol="0" anchor="b">
            <a:spAutoFit/>
          </a:bodyPr>
          <a:lstStyle/>
          <a:p>
            <a:pPr marL="108000" indent="-108000" algn="ctr">
              <a:spcAft>
                <a:spcPts val="200"/>
              </a:spcAft>
            </a:pPr>
            <a:r>
              <a:rPr lang="en-US" sz="800" b="0">
                <a:solidFill>
                  <a:schemeClr val="tx1"/>
                </a:solidFill>
              </a:rPr>
              <a:t>Maiden </a:t>
            </a:r>
            <a:r>
              <a:rPr lang="en-US" sz="800" b="0" err="1">
                <a:solidFill>
                  <a:schemeClr val="tx1"/>
                </a:solidFill>
              </a:rPr>
              <a:t>acq</a:t>
            </a:r>
            <a:r>
              <a:rPr lang="en-US" sz="800" b="0">
                <a:solidFill>
                  <a:schemeClr val="tx1"/>
                </a:solidFill>
              </a:rPr>
              <a:t> of </a:t>
            </a:r>
            <a:br>
              <a:rPr lang="en-US" sz="800" b="0">
                <a:solidFill>
                  <a:schemeClr val="tx1"/>
                </a:solidFill>
              </a:rPr>
            </a:br>
            <a:r>
              <a:rPr lang="en-US" sz="800" b="0">
                <a:solidFill>
                  <a:schemeClr val="tx1"/>
                </a:solidFill>
              </a:rPr>
              <a:t>Intellicentre 2 in Sydney</a:t>
            </a:r>
          </a:p>
        </p:txBody>
      </p:sp>
      <p:grpSp>
        <p:nvGrpSpPr>
          <p:cNvPr id="54" name="Group 53">
            <a:extLst>
              <a:ext uri="{FF2B5EF4-FFF2-40B4-BE49-F238E27FC236}">
                <a16:creationId xmlns:a16="http://schemas.microsoft.com/office/drawing/2014/main" id="{22DA7F4D-E0E2-0B0D-A9DA-23840F811D96}"/>
              </a:ext>
            </a:extLst>
          </p:cNvPr>
          <p:cNvGrpSpPr/>
          <p:nvPr/>
        </p:nvGrpSpPr>
        <p:grpSpPr>
          <a:xfrm>
            <a:off x="982608" y="4799266"/>
            <a:ext cx="1042987" cy="756498"/>
            <a:chOff x="5045186" y="2857500"/>
            <a:chExt cx="1042987" cy="1511300"/>
          </a:xfrm>
        </p:grpSpPr>
        <p:cxnSp>
          <p:nvCxnSpPr>
            <p:cNvPr id="55" name="Straight Connector 54">
              <a:extLst>
                <a:ext uri="{FF2B5EF4-FFF2-40B4-BE49-F238E27FC236}">
                  <a16:creationId xmlns:a16="http://schemas.microsoft.com/office/drawing/2014/main" id="{0810C8A2-34FE-DAD6-37D5-7E6A71F0AE8B}"/>
                </a:ext>
              </a:extLst>
            </p:cNvPr>
            <p:cNvCxnSpPr>
              <a:cxnSpLocks/>
            </p:cNvCxnSpPr>
            <p:nvPr/>
          </p:nvCxnSpPr>
          <p:spPr bwMode="auto">
            <a:xfrm>
              <a:off x="5045186" y="2857500"/>
              <a:ext cx="1042987"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5AB07CE2-1853-3212-BD6A-5E1BCCBB2F71}"/>
                </a:ext>
              </a:extLst>
            </p:cNvPr>
            <p:cNvCxnSpPr>
              <a:cxnSpLocks/>
            </p:cNvCxnSpPr>
            <p:nvPr/>
          </p:nvCxnSpPr>
          <p:spPr bwMode="auto">
            <a:xfrm>
              <a:off x="5566679" y="2857500"/>
              <a:ext cx="0" cy="1511300"/>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7" name="TextBox 56">
            <a:extLst>
              <a:ext uri="{FF2B5EF4-FFF2-40B4-BE49-F238E27FC236}">
                <a16:creationId xmlns:a16="http://schemas.microsoft.com/office/drawing/2014/main" id="{223AB4E3-AD4E-285A-2AF7-EBC651BEEC25}"/>
              </a:ext>
            </a:extLst>
          </p:cNvPr>
          <p:cNvSpPr txBox="1"/>
          <p:nvPr/>
        </p:nvSpPr>
        <p:spPr>
          <a:xfrm>
            <a:off x="1780208" y="4893324"/>
            <a:ext cx="1134471" cy="195814"/>
          </a:xfrm>
          <a:prstGeom prst="rect">
            <a:avLst/>
          </a:prstGeom>
          <a:noFill/>
          <a:ln w="6350">
            <a:noFill/>
            <a:prstDash val="dash"/>
          </a:ln>
        </p:spPr>
        <p:txBody>
          <a:bodyPr wrap="square" lIns="0" tIns="36000" rIns="0" bIns="36000" rtlCol="0" anchor="b">
            <a:spAutoFit/>
          </a:bodyPr>
          <a:lstStyle/>
          <a:p>
            <a:pPr marL="108000" indent="-108000" algn="ctr">
              <a:spcAft>
                <a:spcPts val="200"/>
              </a:spcAft>
            </a:pPr>
            <a:r>
              <a:rPr lang="en-US" sz="800" b="0" err="1">
                <a:solidFill>
                  <a:schemeClr val="tx1"/>
                </a:solidFill>
              </a:rPr>
              <a:t>Acq</a:t>
            </a:r>
            <a:r>
              <a:rPr lang="en-US" sz="800" b="0">
                <a:solidFill>
                  <a:schemeClr val="tx1"/>
                </a:solidFill>
              </a:rPr>
              <a:t> DC in Cardiff</a:t>
            </a:r>
            <a:endParaRPr lang="en-SG" sz="800" b="0">
              <a:solidFill>
                <a:schemeClr val="tx1"/>
              </a:solidFill>
            </a:endParaRPr>
          </a:p>
        </p:txBody>
      </p:sp>
      <p:sp>
        <p:nvSpPr>
          <p:cNvPr id="61" name="TextBox 60">
            <a:extLst>
              <a:ext uri="{FF2B5EF4-FFF2-40B4-BE49-F238E27FC236}">
                <a16:creationId xmlns:a16="http://schemas.microsoft.com/office/drawing/2014/main" id="{DE1A43AF-35B7-A1EB-01DA-367CC5CF0E1B}"/>
              </a:ext>
            </a:extLst>
          </p:cNvPr>
          <p:cNvSpPr txBox="1"/>
          <p:nvPr/>
        </p:nvSpPr>
        <p:spPr>
          <a:xfrm>
            <a:off x="2052271" y="4028102"/>
            <a:ext cx="1255013" cy="467683"/>
          </a:xfrm>
          <a:prstGeom prst="rect">
            <a:avLst/>
          </a:prstGeom>
          <a:noFill/>
          <a:ln w="6350">
            <a:noFill/>
            <a:prstDash val="dash"/>
          </a:ln>
        </p:spPr>
        <p:txBody>
          <a:bodyPr wrap="square" lIns="0" tIns="36000" rIns="0" bIns="36000" rtlCol="0" anchor="b">
            <a:spAutoFit/>
          </a:bodyPr>
          <a:lstStyle/>
          <a:p>
            <a:pPr marL="108000" indent="-108000">
              <a:spcAft>
                <a:spcPts val="200"/>
              </a:spcAft>
              <a:buFont typeface="Arial" panose="020B0604020202020204" pitchFamily="34" charset="0"/>
              <a:buChar char="•"/>
            </a:pPr>
            <a:r>
              <a:rPr lang="en-US" sz="800" b="0" err="1">
                <a:solidFill>
                  <a:schemeClr val="tx1"/>
                </a:solidFill>
              </a:rPr>
              <a:t>Acq</a:t>
            </a:r>
            <a:r>
              <a:rPr lang="en-US" sz="800" b="0">
                <a:solidFill>
                  <a:schemeClr val="tx1"/>
                </a:solidFill>
              </a:rPr>
              <a:t> Keppel DC Dublin 2</a:t>
            </a:r>
          </a:p>
          <a:p>
            <a:pPr marL="108000" indent="-108000">
              <a:spcAft>
                <a:spcPts val="200"/>
              </a:spcAft>
              <a:buFont typeface="Arial" panose="020B0604020202020204" pitchFamily="34" charset="0"/>
              <a:buChar char="•"/>
            </a:pPr>
            <a:r>
              <a:rPr lang="en-SG" sz="800" b="0" err="1">
                <a:solidFill>
                  <a:schemeClr val="tx1"/>
                </a:solidFill>
              </a:rPr>
              <a:t>Acq</a:t>
            </a:r>
            <a:r>
              <a:rPr lang="en-SG" sz="800" b="0">
                <a:solidFill>
                  <a:schemeClr val="tx1"/>
                </a:solidFill>
              </a:rPr>
              <a:t> 90% interest in Keppel DC Singapore 3</a:t>
            </a:r>
          </a:p>
        </p:txBody>
      </p:sp>
      <p:grpSp>
        <p:nvGrpSpPr>
          <p:cNvPr id="62" name="Group 61">
            <a:extLst>
              <a:ext uri="{FF2B5EF4-FFF2-40B4-BE49-F238E27FC236}">
                <a16:creationId xmlns:a16="http://schemas.microsoft.com/office/drawing/2014/main" id="{8888AF0D-55B0-6286-A4E6-D530D30F3787}"/>
              </a:ext>
            </a:extLst>
          </p:cNvPr>
          <p:cNvGrpSpPr/>
          <p:nvPr/>
        </p:nvGrpSpPr>
        <p:grpSpPr>
          <a:xfrm>
            <a:off x="2263887" y="4495785"/>
            <a:ext cx="978906" cy="729090"/>
            <a:chOff x="4558227" y="2857500"/>
            <a:chExt cx="978906" cy="879199"/>
          </a:xfrm>
        </p:grpSpPr>
        <p:cxnSp>
          <p:nvCxnSpPr>
            <p:cNvPr id="63" name="Straight Connector 62">
              <a:extLst>
                <a:ext uri="{FF2B5EF4-FFF2-40B4-BE49-F238E27FC236}">
                  <a16:creationId xmlns:a16="http://schemas.microsoft.com/office/drawing/2014/main" id="{40FB71A8-195F-7386-5481-1D44C79A572D}"/>
                </a:ext>
              </a:extLst>
            </p:cNvPr>
            <p:cNvCxnSpPr>
              <a:cxnSpLocks/>
            </p:cNvCxnSpPr>
            <p:nvPr/>
          </p:nvCxnSpPr>
          <p:spPr bwMode="auto">
            <a:xfrm>
              <a:off x="4558227" y="2857500"/>
              <a:ext cx="978906"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646293C5-43E5-BC4C-2F9E-01D14EF48E48}"/>
                </a:ext>
              </a:extLst>
            </p:cNvPr>
            <p:cNvCxnSpPr>
              <a:cxnSpLocks/>
            </p:cNvCxnSpPr>
            <p:nvPr/>
          </p:nvCxnSpPr>
          <p:spPr bwMode="auto">
            <a:xfrm>
              <a:off x="5505450" y="2857500"/>
              <a:ext cx="0" cy="879199"/>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6" name="TextBox 65">
            <a:extLst>
              <a:ext uri="{FF2B5EF4-FFF2-40B4-BE49-F238E27FC236}">
                <a16:creationId xmlns:a16="http://schemas.microsoft.com/office/drawing/2014/main" id="{EA8E4A91-711D-E682-B7A3-A708A2AEC207}"/>
              </a:ext>
            </a:extLst>
          </p:cNvPr>
          <p:cNvSpPr txBox="1"/>
          <p:nvPr/>
        </p:nvSpPr>
        <p:spPr>
          <a:xfrm>
            <a:off x="452999" y="1346230"/>
            <a:ext cx="3621777" cy="842145"/>
          </a:xfrm>
          <a:prstGeom prst="rect">
            <a:avLst/>
          </a:prstGeom>
          <a:solidFill>
            <a:schemeClr val="bg1">
              <a:lumMod val="95000"/>
            </a:schemeClr>
          </a:solidFill>
          <a:ln w="6350">
            <a:solidFill>
              <a:schemeClr val="tx1"/>
            </a:solidFill>
            <a:prstDash val="solid"/>
          </a:ln>
        </p:spPr>
        <p:txBody>
          <a:bodyPr wrap="square" lIns="36000" tIns="36000" rIns="36000" bIns="36000" rtlCol="0" anchor="t">
            <a:spAutoFit/>
          </a:bodyPr>
          <a:lstStyle/>
          <a:p>
            <a:pPr marL="171450" indent="-171450" algn="l">
              <a:spcAft>
                <a:spcPts val="300"/>
              </a:spcAft>
              <a:buFont typeface="Arial" panose="020B0604020202020204" pitchFamily="34" charset="0"/>
              <a:buChar char="•"/>
            </a:pPr>
            <a:r>
              <a:rPr lang="en-US" sz="900" b="0">
                <a:solidFill>
                  <a:schemeClr val="tx1"/>
                </a:solidFill>
              </a:rPr>
              <a:t>KDCREIT enjoys low cost of capital which has fueled a virtuous cycle of funding growth through acquisitions, including participation in DC developments</a:t>
            </a:r>
          </a:p>
          <a:p>
            <a:pPr marL="171450" indent="-171450" algn="l">
              <a:spcAft>
                <a:spcPts val="300"/>
              </a:spcAft>
              <a:buFont typeface="Arial" panose="020B0604020202020204" pitchFamily="34" charset="0"/>
              <a:buChar char="•"/>
            </a:pPr>
            <a:r>
              <a:rPr lang="en-SG" sz="900" b="0">
                <a:solidFill>
                  <a:schemeClr val="tx1"/>
                </a:solidFill>
              </a:rPr>
              <a:t>Notably, over time, it strengthened its portfolio in Singapore</a:t>
            </a:r>
          </a:p>
          <a:p>
            <a:pPr marL="171450" indent="-171450" algn="l">
              <a:spcAft>
                <a:spcPts val="300"/>
              </a:spcAft>
              <a:buFont typeface="Arial" panose="020B0604020202020204" pitchFamily="34" charset="0"/>
              <a:buChar char="•"/>
            </a:pPr>
            <a:r>
              <a:rPr lang="en-SG" sz="900" b="0">
                <a:solidFill>
                  <a:schemeClr val="tx1"/>
                </a:solidFill>
              </a:rPr>
              <a:t>Since 2024, KDCREIT has been active in asset recycling</a:t>
            </a:r>
          </a:p>
        </p:txBody>
      </p:sp>
      <p:cxnSp>
        <p:nvCxnSpPr>
          <p:cNvPr id="12" name="Straight Connector 11">
            <a:extLst>
              <a:ext uri="{FF2B5EF4-FFF2-40B4-BE49-F238E27FC236}">
                <a16:creationId xmlns:a16="http://schemas.microsoft.com/office/drawing/2014/main" id="{FEAC6039-52AD-FB9C-5DD6-70B9F0DF6217}"/>
              </a:ext>
            </a:extLst>
          </p:cNvPr>
          <p:cNvCxnSpPr>
            <a:cxnSpLocks/>
          </p:cNvCxnSpPr>
          <p:nvPr/>
        </p:nvCxnSpPr>
        <p:spPr bwMode="auto">
          <a:xfrm>
            <a:off x="616611" y="4427445"/>
            <a:ext cx="0" cy="824005"/>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a:extLst>
              <a:ext uri="{FF2B5EF4-FFF2-40B4-BE49-F238E27FC236}">
                <a16:creationId xmlns:a16="http://schemas.microsoft.com/office/drawing/2014/main" id="{65E3E284-17D8-36CC-D253-3A343FF09CD2}"/>
              </a:ext>
            </a:extLst>
          </p:cNvPr>
          <p:cNvSpPr txBox="1"/>
          <p:nvPr/>
        </p:nvSpPr>
        <p:spPr>
          <a:xfrm>
            <a:off x="452998" y="3231357"/>
            <a:ext cx="1498700" cy="1196088"/>
          </a:xfrm>
          <a:prstGeom prst="rect">
            <a:avLst/>
          </a:prstGeom>
          <a:solidFill>
            <a:schemeClr val="tx2">
              <a:lumMod val="20000"/>
              <a:lumOff val="80000"/>
            </a:schemeClr>
          </a:solidFill>
          <a:ln w="6350">
            <a:solidFill>
              <a:schemeClr val="bg1">
                <a:lumMod val="75000"/>
              </a:schemeClr>
            </a:solidFill>
            <a:prstDash val="solid"/>
          </a:ln>
        </p:spPr>
        <p:txBody>
          <a:bodyPr wrap="square" lIns="36000" tIns="36000" rIns="36000" bIns="36000" rtlCol="0" anchor="b">
            <a:spAutoFit/>
          </a:bodyPr>
          <a:lstStyle/>
          <a:p>
            <a:pPr>
              <a:spcAft>
                <a:spcPts val="300"/>
              </a:spcAft>
            </a:pPr>
            <a:r>
              <a:rPr lang="en-US" sz="900" u="sng">
                <a:solidFill>
                  <a:schemeClr val="tx1"/>
                </a:solidFill>
              </a:rPr>
              <a:t>IPO</a:t>
            </a:r>
          </a:p>
          <a:p>
            <a:pPr marL="108000" indent="-108000">
              <a:spcAft>
                <a:spcPts val="300"/>
              </a:spcAft>
              <a:buFont typeface="Arial" panose="020B0604020202020204" pitchFamily="34" charset="0"/>
              <a:buChar char="•"/>
            </a:pPr>
            <a:r>
              <a:rPr lang="en-US" sz="900">
                <a:solidFill>
                  <a:schemeClr val="tx1"/>
                </a:solidFill>
              </a:rPr>
              <a:t>8</a:t>
            </a:r>
            <a:r>
              <a:rPr lang="en-US" sz="900" b="0">
                <a:solidFill>
                  <a:schemeClr val="tx1"/>
                </a:solidFill>
              </a:rPr>
              <a:t> data </a:t>
            </a:r>
            <a:r>
              <a:rPr lang="en-US" sz="900" b="0" err="1">
                <a:solidFill>
                  <a:schemeClr val="tx1"/>
                </a:solidFill>
              </a:rPr>
              <a:t>centres</a:t>
            </a:r>
            <a:r>
              <a:rPr lang="en-US" sz="900" b="0">
                <a:solidFill>
                  <a:schemeClr val="tx1"/>
                </a:solidFill>
              </a:rPr>
              <a:t> in </a:t>
            </a:r>
            <a:r>
              <a:rPr lang="en-US" sz="900">
                <a:solidFill>
                  <a:schemeClr val="tx1"/>
                </a:solidFill>
              </a:rPr>
              <a:t>7</a:t>
            </a:r>
            <a:r>
              <a:rPr lang="en-US" sz="900" b="0">
                <a:solidFill>
                  <a:schemeClr val="tx1"/>
                </a:solidFill>
              </a:rPr>
              <a:t> markets in APAC and EU</a:t>
            </a:r>
          </a:p>
          <a:p>
            <a:pPr marL="108000" indent="-108000">
              <a:spcAft>
                <a:spcPts val="300"/>
              </a:spcAft>
              <a:buFont typeface="Arial" panose="020B0604020202020204" pitchFamily="34" charset="0"/>
              <a:buChar char="•"/>
            </a:pPr>
            <a:r>
              <a:rPr lang="en-US" sz="900">
                <a:solidFill>
                  <a:schemeClr val="tx1"/>
                </a:solidFill>
              </a:rPr>
              <a:t>S$1.1bn </a:t>
            </a:r>
            <a:r>
              <a:rPr lang="en-US" sz="900" b="0">
                <a:solidFill>
                  <a:schemeClr val="tx1"/>
                </a:solidFill>
              </a:rPr>
              <a:t>AUM</a:t>
            </a:r>
          </a:p>
          <a:p>
            <a:pPr marL="108000" indent="-108000">
              <a:spcAft>
                <a:spcPts val="300"/>
              </a:spcAft>
              <a:buFont typeface="Arial" panose="020B0604020202020204" pitchFamily="34" charset="0"/>
              <a:buChar char="•"/>
            </a:pPr>
            <a:r>
              <a:rPr lang="en-US" sz="900">
                <a:solidFill>
                  <a:schemeClr val="tx1"/>
                </a:solidFill>
              </a:rPr>
              <a:t>S$0.82bn</a:t>
            </a:r>
            <a:r>
              <a:rPr lang="en-US" sz="900" b="0">
                <a:solidFill>
                  <a:schemeClr val="tx1"/>
                </a:solidFill>
              </a:rPr>
              <a:t> Market Cap</a:t>
            </a:r>
          </a:p>
          <a:p>
            <a:pPr marL="108000" indent="-108000">
              <a:spcAft>
                <a:spcPts val="300"/>
              </a:spcAft>
              <a:buFont typeface="Arial" panose="020B0604020202020204" pitchFamily="34" charset="0"/>
              <a:buChar char="•"/>
            </a:pPr>
            <a:r>
              <a:rPr lang="en-US" sz="900">
                <a:solidFill>
                  <a:schemeClr val="tx1"/>
                </a:solidFill>
              </a:rPr>
              <a:t>6.8%</a:t>
            </a:r>
            <a:r>
              <a:rPr lang="en-US" sz="900" b="0">
                <a:solidFill>
                  <a:schemeClr val="tx1"/>
                </a:solidFill>
              </a:rPr>
              <a:t> Forecast Year DPU yield</a:t>
            </a:r>
            <a:endParaRPr lang="en-SG" sz="900" b="0">
              <a:solidFill>
                <a:schemeClr val="tx1"/>
              </a:solidFill>
            </a:endParaRPr>
          </a:p>
        </p:txBody>
      </p:sp>
      <p:grpSp>
        <p:nvGrpSpPr>
          <p:cNvPr id="14" name="Group 13">
            <a:extLst>
              <a:ext uri="{FF2B5EF4-FFF2-40B4-BE49-F238E27FC236}">
                <a16:creationId xmlns:a16="http://schemas.microsoft.com/office/drawing/2014/main" id="{7696E9A3-3424-053F-51DA-89A208CCAF55}"/>
              </a:ext>
            </a:extLst>
          </p:cNvPr>
          <p:cNvGrpSpPr/>
          <p:nvPr/>
        </p:nvGrpSpPr>
        <p:grpSpPr>
          <a:xfrm>
            <a:off x="7153625" y="2802832"/>
            <a:ext cx="2206786" cy="171088"/>
            <a:chOff x="3746339" y="2857500"/>
            <a:chExt cx="2206786" cy="1511300"/>
          </a:xfrm>
        </p:grpSpPr>
        <p:cxnSp>
          <p:nvCxnSpPr>
            <p:cNvPr id="15" name="Straight Connector 14">
              <a:extLst>
                <a:ext uri="{FF2B5EF4-FFF2-40B4-BE49-F238E27FC236}">
                  <a16:creationId xmlns:a16="http://schemas.microsoft.com/office/drawing/2014/main" id="{AFED0EEF-21F2-1C86-D61F-446CCE921322}"/>
                </a:ext>
              </a:extLst>
            </p:cNvPr>
            <p:cNvCxnSpPr>
              <a:cxnSpLocks/>
            </p:cNvCxnSpPr>
            <p:nvPr/>
          </p:nvCxnSpPr>
          <p:spPr bwMode="auto">
            <a:xfrm>
              <a:off x="3746339" y="2857500"/>
              <a:ext cx="2206786"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C0A79450-7B70-5705-B15F-28EF85003ACF}"/>
                </a:ext>
              </a:extLst>
            </p:cNvPr>
            <p:cNvCxnSpPr>
              <a:cxnSpLocks/>
            </p:cNvCxnSpPr>
            <p:nvPr/>
          </p:nvCxnSpPr>
          <p:spPr bwMode="auto">
            <a:xfrm>
              <a:off x="5854700" y="2857500"/>
              <a:ext cx="0" cy="1511300"/>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3" name="TextBox 82">
            <a:extLst>
              <a:ext uri="{FF2B5EF4-FFF2-40B4-BE49-F238E27FC236}">
                <a16:creationId xmlns:a16="http://schemas.microsoft.com/office/drawing/2014/main" id="{418EB723-961D-3816-F400-D73819FA2FF5}"/>
              </a:ext>
            </a:extLst>
          </p:cNvPr>
          <p:cNvSpPr txBox="1"/>
          <p:nvPr/>
        </p:nvSpPr>
        <p:spPr>
          <a:xfrm>
            <a:off x="6295662" y="917283"/>
            <a:ext cx="3157338" cy="560776"/>
          </a:xfrm>
          <a:prstGeom prst="rect">
            <a:avLst/>
          </a:prstGeom>
          <a:solidFill>
            <a:schemeClr val="tx2">
              <a:lumMod val="20000"/>
              <a:lumOff val="80000"/>
            </a:schemeClr>
          </a:solidFill>
          <a:ln w="6350">
            <a:solidFill>
              <a:schemeClr val="bg1">
                <a:lumMod val="75000"/>
              </a:schemeClr>
            </a:solidFill>
            <a:prstDash val="solid"/>
          </a:ln>
        </p:spPr>
        <p:txBody>
          <a:bodyPr wrap="square" lIns="36000" tIns="36000" rIns="36000" bIns="36000" numCol="2" rtlCol="0" anchor="b">
            <a:noAutofit/>
          </a:bodyPr>
          <a:lstStyle/>
          <a:p>
            <a:pPr>
              <a:spcAft>
                <a:spcPts val="300"/>
              </a:spcAft>
            </a:pPr>
            <a:r>
              <a:rPr lang="en-US" sz="900" u="sng">
                <a:solidFill>
                  <a:schemeClr val="tx1"/>
                </a:solidFill>
              </a:rPr>
              <a:t>2025</a:t>
            </a:r>
          </a:p>
          <a:p>
            <a:pPr marL="108000" indent="-108000">
              <a:spcAft>
                <a:spcPts val="300"/>
              </a:spcAft>
              <a:buFont typeface="Arial" panose="020B0604020202020204" pitchFamily="34" charset="0"/>
              <a:buChar char="•"/>
            </a:pPr>
            <a:r>
              <a:rPr lang="en-US" sz="900">
                <a:solidFill>
                  <a:schemeClr val="tx1"/>
                </a:solidFill>
              </a:rPr>
              <a:t>25</a:t>
            </a:r>
            <a:r>
              <a:rPr lang="en-US" sz="900" b="0">
                <a:solidFill>
                  <a:schemeClr val="tx1"/>
                </a:solidFill>
              </a:rPr>
              <a:t> data </a:t>
            </a:r>
            <a:r>
              <a:rPr lang="en-US" sz="900" b="0" err="1">
                <a:solidFill>
                  <a:schemeClr val="tx1"/>
                </a:solidFill>
              </a:rPr>
              <a:t>centres</a:t>
            </a:r>
            <a:r>
              <a:rPr lang="en-US" sz="900" b="0">
                <a:solidFill>
                  <a:schemeClr val="tx1"/>
                </a:solidFill>
              </a:rPr>
              <a:t> in </a:t>
            </a:r>
            <a:r>
              <a:rPr lang="en-US" sz="900">
                <a:solidFill>
                  <a:schemeClr val="tx1"/>
                </a:solidFill>
              </a:rPr>
              <a:t>10</a:t>
            </a:r>
            <a:r>
              <a:rPr lang="en-US" sz="900" b="0">
                <a:solidFill>
                  <a:schemeClr val="tx1"/>
                </a:solidFill>
              </a:rPr>
              <a:t> markets in APAC and EU</a:t>
            </a:r>
          </a:p>
          <a:p>
            <a:pPr marL="108000" indent="-108000">
              <a:spcAft>
                <a:spcPts val="300"/>
              </a:spcAft>
              <a:buFont typeface="Arial" panose="020B0604020202020204" pitchFamily="34" charset="0"/>
              <a:buChar char="•"/>
            </a:pPr>
            <a:r>
              <a:rPr lang="en-US" sz="900">
                <a:solidFill>
                  <a:schemeClr val="tx1"/>
                </a:solidFill>
              </a:rPr>
              <a:t>S$5.7bn </a:t>
            </a:r>
            <a:r>
              <a:rPr lang="en-US" sz="900" b="0">
                <a:solidFill>
                  <a:schemeClr val="tx1"/>
                </a:solidFill>
              </a:rPr>
              <a:t>AUM</a:t>
            </a:r>
          </a:p>
          <a:p>
            <a:pPr marL="108000" indent="-108000">
              <a:spcAft>
                <a:spcPts val="300"/>
              </a:spcAft>
              <a:buFont typeface="Arial" panose="020B0604020202020204" pitchFamily="34" charset="0"/>
              <a:buChar char="•"/>
            </a:pPr>
            <a:r>
              <a:rPr lang="en-US" sz="900">
                <a:solidFill>
                  <a:schemeClr val="tx1"/>
                </a:solidFill>
              </a:rPr>
              <a:t>S$5.8bn</a:t>
            </a:r>
            <a:r>
              <a:rPr lang="en-US" sz="900" b="0">
                <a:solidFill>
                  <a:schemeClr val="tx1"/>
                </a:solidFill>
              </a:rPr>
              <a:t> Market Cap</a:t>
            </a:r>
          </a:p>
          <a:p>
            <a:pPr marL="108000" indent="-108000">
              <a:spcAft>
                <a:spcPts val="300"/>
              </a:spcAft>
              <a:buFont typeface="Arial" panose="020B0604020202020204" pitchFamily="34" charset="0"/>
              <a:buChar char="•"/>
            </a:pPr>
            <a:r>
              <a:rPr lang="en-US" sz="900">
                <a:solidFill>
                  <a:schemeClr val="tx1"/>
                </a:solidFill>
              </a:rPr>
              <a:t>4.6%</a:t>
            </a:r>
            <a:r>
              <a:rPr lang="en-US" sz="900" b="0">
                <a:solidFill>
                  <a:schemeClr val="tx1"/>
                </a:solidFill>
              </a:rPr>
              <a:t> CY2026E DPU yield</a:t>
            </a:r>
            <a:endParaRPr lang="en-SG" sz="900" b="0">
              <a:solidFill>
                <a:schemeClr val="tx1"/>
              </a:solidFill>
            </a:endParaRPr>
          </a:p>
        </p:txBody>
      </p:sp>
      <p:grpSp>
        <p:nvGrpSpPr>
          <p:cNvPr id="85" name="Group 84">
            <a:extLst>
              <a:ext uri="{FF2B5EF4-FFF2-40B4-BE49-F238E27FC236}">
                <a16:creationId xmlns:a16="http://schemas.microsoft.com/office/drawing/2014/main" id="{606A2093-33AD-F1EE-E5B5-729FE6213641}"/>
              </a:ext>
            </a:extLst>
          </p:cNvPr>
          <p:cNvGrpSpPr/>
          <p:nvPr/>
        </p:nvGrpSpPr>
        <p:grpSpPr>
          <a:xfrm>
            <a:off x="1951698" y="5101326"/>
            <a:ext cx="796265" cy="288993"/>
            <a:chOff x="4490130" y="2857500"/>
            <a:chExt cx="796265" cy="288993"/>
          </a:xfrm>
        </p:grpSpPr>
        <p:cxnSp>
          <p:nvCxnSpPr>
            <p:cNvPr id="86" name="Straight Connector 85">
              <a:extLst>
                <a:ext uri="{FF2B5EF4-FFF2-40B4-BE49-F238E27FC236}">
                  <a16:creationId xmlns:a16="http://schemas.microsoft.com/office/drawing/2014/main" id="{9A8BCFD9-9CFA-EE7E-73BB-B74B49E44F1B}"/>
                </a:ext>
              </a:extLst>
            </p:cNvPr>
            <p:cNvCxnSpPr>
              <a:cxnSpLocks/>
            </p:cNvCxnSpPr>
            <p:nvPr/>
          </p:nvCxnSpPr>
          <p:spPr bwMode="auto">
            <a:xfrm>
              <a:off x="4490130" y="2857500"/>
              <a:ext cx="796265"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85053E2F-8C85-BE0C-6D42-7D333A4863D3}"/>
                </a:ext>
              </a:extLst>
            </p:cNvPr>
            <p:cNvCxnSpPr>
              <a:cxnSpLocks/>
            </p:cNvCxnSpPr>
            <p:nvPr/>
          </p:nvCxnSpPr>
          <p:spPr bwMode="auto">
            <a:xfrm>
              <a:off x="4887443" y="2857500"/>
              <a:ext cx="0" cy="288993"/>
            </a:xfrm>
            <a:prstGeom prst="line">
              <a:avLst/>
            </a:prstGeom>
            <a:noFill/>
            <a:ln w="9525" cap="flat" cmpd="sng" algn="ctr">
              <a:solidFill>
                <a:schemeClr val="bg1">
                  <a:lumMod val="6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97" name="Picture 96">
            <a:extLst>
              <a:ext uri="{FF2B5EF4-FFF2-40B4-BE49-F238E27FC236}">
                <a16:creationId xmlns:a16="http://schemas.microsoft.com/office/drawing/2014/main" id="{73D5AE89-80F2-7B6B-7C31-F84FC11923D7}"/>
              </a:ext>
            </a:extLst>
          </p:cNvPr>
          <p:cNvPicPr>
            <a:picLocks noChangeAspect="1"/>
          </p:cNvPicPr>
          <p:nvPr/>
        </p:nvPicPr>
        <p:blipFill>
          <a:blip r:embed="rId4"/>
          <a:stretch>
            <a:fillRect/>
          </a:stretch>
        </p:blipFill>
        <p:spPr>
          <a:xfrm>
            <a:off x="10019189" y="0"/>
            <a:ext cx="3508275" cy="843896"/>
          </a:xfrm>
          <a:prstGeom prst="rect">
            <a:avLst/>
          </a:prstGeom>
        </p:spPr>
      </p:pic>
      <p:pic>
        <p:nvPicPr>
          <p:cNvPr id="100" name="Picture 99">
            <a:extLst>
              <a:ext uri="{FF2B5EF4-FFF2-40B4-BE49-F238E27FC236}">
                <a16:creationId xmlns:a16="http://schemas.microsoft.com/office/drawing/2014/main" id="{C96BCC73-F23E-1005-E4C0-241B5892649A}"/>
              </a:ext>
            </a:extLst>
          </p:cNvPr>
          <p:cNvPicPr>
            <a:picLocks noChangeAspect="1"/>
          </p:cNvPicPr>
          <p:nvPr/>
        </p:nvPicPr>
        <p:blipFill>
          <a:blip r:embed="rId5"/>
          <a:stretch>
            <a:fillRect/>
          </a:stretch>
        </p:blipFill>
        <p:spPr>
          <a:xfrm>
            <a:off x="10019189" y="1036227"/>
            <a:ext cx="3508275" cy="1537179"/>
          </a:xfrm>
          <a:prstGeom prst="rect">
            <a:avLst/>
          </a:prstGeom>
        </p:spPr>
      </p:pic>
      <p:sp>
        <p:nvSpPr>
          <p:cNvPr id="6" name="Slide Number Placeholder 5">
            <a:extLst>
              <a:ext uri="{FF2B5EF4-FFF2-40B4-BE49-F238E27FC236}">
                <a16:creationId xmlns:a16="http://schemas.microsoft.com/office/drawing/2014/main" id="{550EB15C-DE2F-3707-8F37-292752F47798}"/>
              </a:ext>
            </a:extLst>
          </p:cNvPr>
          <p:cNvSpPr>
            <a:spLocks noGrp="1"/>
          </p:cNvSpPr>
          <p:nvPr>
            <p:ph type="sldNum" sz="quarter" idx="11"/>
          </p:nvPr>
        </p:nvSpPr>
        <p:spPr/>
        <p:txBody>
          <a:bodyPr/>
          <a:lstStyle/>
          <a:p>
            <a:pPr>
              <a:defRPr/>
            </a:pPr>
            <a:fld id="{EED7964B-8F50-47E5-B5EE-37748C966AF4}" type="slidenum">
              <a:rPr lang="en-US" smtClean="0"/>
              <a:pPr>
                <a:defRPr/>
              </a:pPr>
              <a:t>41</a:t>
            </a:fld>
            <a:endParaRPr lang="en-US"/>
          </a:p>
        </p:txBody>
      </p:sp>
      <p:sp>
        <p:nvSpPr>
          <p:cNvPr id="7" name="Rectangle 6">
            <a:extLst>
              <a:ext uri="{FF2B5EF4-FFF2-40B4-BE49-F238E27FC236}">
                <a16:creationId xmlns:a16="http://schemas.microsoft.com/office/drawing/2014/main" id="{8CFEFE11-C328-CD14-6AB9-0D6AB12B50E7}"/>
              </a:ext>
            </a:extLst>
          </p:cNvPr>
          <p:cNvSpPr/>
          <p:nvPr/>
        </p:nvSpPr>
        <p:spPr bwMode="auto">
          <a:xfrm>
            <a:off x="482600" y="5337175"/>
            <a:ext cx="292100" cy="184150"/>
          </a:xfrm>
          <a:prstGeom prst="rect">
            <a:avLst/>
          </a:prstGeom>
          <a:noFill/>
          <a:ln>
            <a:noFill/>
          </a:ln>
          <a:effectLst/>
        </p:spPr>
        <p:txBody>
          <a:bodyPr vert="horz" wrap="square" lIns="36000" tIns="36000" rIns="36000" bIns="36000" numCol="1" rtlCol="0" anchor="ctr" anchorCtr="0" compatLnSpc="1">
            <a:prstTxWarp prst="textNoShape">
              <a:avLst/>
            </a:prstTxWarp>
          </a:bodyPr>
          <a:lstStyle/>
          <a:p>
            <a:pPr marR="0" algn="ctr" defTabSz="914400" rtl="0" eaLnBrk="0" fontAlgn="base" latinLnBrk="0" hangingPunct="0">
              <a:lnSpc>
                <a:spcPct val="110000"/>
              </a:lnSpc>
              <a:spcBef>
                <a:spcPct val="0"/>
              </a:spcBef>
              <a:spcAft>
                <a:spcPct val="0"/>
              </a:spcAft>
              <a:buClrTx/>
              <a:buSzTx/>
              <a:tabLst/>
            </a:pPr>
            <a:r>
              <a:rPr kumimoji="0" lang="en-US" sz="1000" i="0" u="none" strike="noStrike" cap="none" normalizeH="0" baseline="0">
                <a:ln>
                  <a:noFill/>
                </a:ln>
                <a:solidFill>
                  <a:schemeClr val="bg1"/>
                </a:solidFill>
                <a:effectLst/>
                <a:latin typeface="Arial" panose="020B0604020202020204" pitchFamily="34" charset="0"/>
              </a:rPr>
              <a:t>IPO</a:t>
            </a:r>
            <a:endParaRPr kumimoji="0" lang="en-SG" sz="1000" i="0" u="none" strike="noStrike" cap="none" normalizeH="0" baseline="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8975876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hart 12">
            <a:extLst>
              <a:ext uri="{FF2B5EF4-FFF2-40B4-BE49-F238E27FC236}">
                <a16:creationId xmlns:a16="http://schemas.microsoft.com/office/drawing/2014/main" id="{7C474592-2A2D-C82B-696F-63C16257E1EE}"/>
              </a:ext>
            </a:extLst>
          </p:cNvPr>
          <p:cNvGraphicFramePr/>
          <p:nvPr>
            <p:extLst>
              <p:ext uri="{D42A27DB-BD31-4B8C-83A1-F6EECF244321}">
                <p14:modId xmlns:p14="http://schemas.microsoft.com/office/powerpoint/2010/main" val="4019349653"/>
              </p:ext>
            </p:extLst>
          </p:nvPr>
        </p:nvGraphicFramePr>
        <p:xfrm>
          <a:off x="438149" y="3019425"/>
          <a:ext cx="8886825" cy="3667125"/>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ADB2D044-136D-1F32-6C29-5C6EE14BCF83}"/>
              </a:ext>
            </a:extLst>
          </p:cNvPr>
          <p:cNvSpPr>
            <a:spLocks noGrp="1"/>
          </p:cNvSpPr>
          <p:nvPr>
            <p:ph type="title"/>
          </p:nvPr>
        </p:nvSpPr>
        <p:spPr/>
        <p:txBody>
          <a:bodyPr/>
          <a:lstStyle/>
          <a:p>
            <a:r>
              <a:rPr lang="en-SG" b="1"/>
              <a:t>Case Study: </a:t>
            </a:r>
            <a:r>
              <a:rPr lang="en-US"/>
              <a:t>Digital Core REIT – a timeline analysis</a:t>
            </a:r>
            <a:endParaRPr lang="en-SG"/>
          </a:p>
        </p:txBody>
      </p:sp>
      <p:sp>
        <p:nvSpPr>
          <p:cNvPr id="3" name="Slide Number Placeholder 2">
            <a:extLst>
              <a:ext uri="{FF2B5EF4-FFF2-40B4-BE49-F238E27FC236}">
                <a16:creationId xmlns:a16="http://schemas.microsoft.com/office/drawing/2014/main" id="{339530E5-A664-8DD3-6D67-2D73451A87A6}"/>
              </a:ext>
            </a:extLst>
          </p:cNvPr>
          <p:cNvSpPr>
            <a:spLocks noGrp="1"/>
          </p:cNvSpPr>
          <p:nvPr>
            <p:ph type="sldNum" sz="quarter" idx="11"/>
          </p:nvPr>
        </p:nvSpPr>
        <p:spPr/>
        <p:txBody>
          <a:bodyPr/>
          <a:lstStyle/>
          <a:p>
            <a:pPr>
              <a:defRPr/>
            </a:pPr>
            <a:fld id="{EED7964B-8F50-47E5-B5EE-37748C966AF4}" type="slidenum">
              <a:rPr lang="en-US" smtClean="0"/>
              <a:pPr>
                <a:defRPr/>
              </a:pPr>
              <a:t>42</a:t>
            </a:fld>
            <a:endParaRPr lang="en-US"/>
          </a:p>
        </p:txBody>
      </p:sp>
      <p:sp>
        <p:nvSpPr>
          <p:cNvPr id="4" name="Text Placeholder 3">
            <a:extLst>
              <a:ext uri="{FF2B5EF4-FFF2-40B4-BE49-F238E27FC236}">
                <a16:creationId xmlns:a16="http://schemas.microsoft.com/office/drawing/2014/main" id="{5D3BEB12-6EDC-BB46-286E-1A47A78E4353}"/>
              </a:ext>
            </a:extLst>
          </p:cNvPr>
          <p:cNvSpPr>
            <a:spLocks noGrp="1"/>
          </p:cNvSpPr>
          <p:nvPr>
            <p:ph type="body" sz="quarter" idx="46"/>
          </p:nvPr>
        </p:nvSpPr>
        <p:spPr>
          <a:xfrm>
            <a:off x="1317367" y="6505386"/>
            <a:ext cx="8100000" cy="360000"/>
          </a:xfrm>
        </p:spPr>
        <p:txBody>
          <a:bodyPr/>
          <a:lstStyle/>
          <a:p>
            <a:pPr marL="0" indent="0">
              <a:buNone/>
            </a:pPr>
            <a:r>
              <a:rPr lang="en-US" sz="800"/>
              <a:t>Source: FactSet, Bloomberg as at 04 May 2026, REIT Disclosures, Public Announcements </a:t>
            </a:r>
            <a:endParaRPr lang="en-SG" sz="800"/>
          </a:p>
        </p:txBody>
      </p:sp>
      <p:sp>
        <p:nvSpPr>
          <p:cNvPr id="16" name="TextBox 15">
            <a:extLst>
              <a:ext uri="{FF2B5EF4-FFF2-40B4-BE49-F238E27FC236}">
                <a16:creationId xmlns:a16="http://schemas.microsoft.com/office/drawing/2014/main" id="{6526802E-B0B1-982B-ACE7-1F6660589CEC}"/>
              </a:ext>
            </a:extLst>
          </p:cNvPr>
          <p:cNvSpPr txBox="1"/>
          <p:nvPr/>
        </p:nvSpPr>
        <p:spPr>
          <a:xfrm>
            <a:off x="7762875" y="4248150"/>
            <a:ext cx="1514475" cy="195814"/>
          </a:xfrm>
          <a:prstGeom prst="rect">
            <a:avLst/>
          </a:prstGeom>
          <a:solidFill>
            <a:schemeClr val="bg1"/>
          </a:solidFill>
          <a:ln w="6350">
            <a:noFill/>
            <a:prstDash val="dash"/>
          </a:ln>
        </p:spPr>
        <p:txBody>
          <a:bodyPr wrap="square" lIns="36000" tIns="36000" rIns="36000" bIns="36000" rtlCol="0" anchor="t">
            <a:spAutoFit/>
          </a:bodyPr>
          <a:lstStyle/>
          <a:p>
            <a:pPr algn="ctr">
              <a:spcAft>
                <a:spcPts val="200"/>
              </a:spcAft>
            </a:pPr>
            <a:r>
              <a:rPr lang="en-US" sz="800">
                <a:solidFill>
                  <a:schemeClr val="bg1">
                    <a:lumMod val="50000"/>
                  </a:schemeClr>
                </a:solidFill>
              </a:rPr>
              <a:t>IPO Offer Price: US$0.88</a:t>
            </a:r>
            <a:endParaRPr lang="en-SG" sz="800">
              <a:solidFill>
                <a:schemeClr val="bg1">
                  <a:lumMod val="50000"/>
                </a:schemeClr>
              </a:solidFill>
            </a:endParaRPr>
          </a:p>
        </p:txBody>
      </p:sp>
      <p:grpSp>
        <p:nvGrpSpPr>
          <p:cNvPr id="20" name="Group 19">
            <a:extLst>
              <a:ext uri="{FF2B5EF4-FFF2-40B4-BE49-F238E27FC236}">
                <a16:creationId xmlns:a16="http://schemas.microsoft.com/office/drawing/2014/main" id="{F1DE9FC6-2951-B22F-E8CD-3129B8C0F4A7}"/>
              </a:ext>
            </a:extLst>
          </p:cNvPr>
          <p:cNvGrpSpPr/>
          <p:nvPr/>
        </p:nvGrpSpPr>
        <p:grpSpPr>
          <a:xfrm>
            <a:off x="751886" y="1399339"/>
            <a:ext cx="1086439" cy="2544011"/>
            <a:chOff x="751886" y="1027864"/>
            <a:chExt cx="1086439" cy="2544011"/>
          </a:xfrm>
        </p:grpSpPr>
        <p:sp>
          <p:nvSpPr>
            <p:cNvPr id="9" name="Rectangle: Rounded Corners 8">
              <a:extLst>
                <a:ext uri="{FF2B5EF4-FFF2-40B4-BE49-F238E27FC236}">
                  <a16:creationId xmlns:a16="http://schemas.microsoft.com/office/drawing/2014/main" id="{8FB98FF5-CBD2-F709-51FC-2270D79B788D}"/>
                </a:ext>
              </a:extLst>
            </p:cNvPr>
            <p:cNvSpPr/>
            <p:nvPr/>
          </p:nvSpPr>
          <p:spPr>
            <a:xfrm>
              <a:off x="751886" y="1027864"/>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Dec 2021</a:t>
              </a:r>
              <a:endParaRPr lang="en-SG" sz="800" b="1"/>
            </a:p>
          </p:txBody>
        </p:sp>
        <p:sp>
          <p:nvSpPr>
            <p:cNvPr id="10" name="TextBox 9">
              <a:extLst>
                <a:ext uri="{FF2B5EF4-FFF2-40B4-BE49-F238E27FC236}">
                  <a16:creationId xmlns:a16="http://schemas.microsoft.com/office/drawing/2014/main" id="{CE9C6EA7-0A12-F228-9324-17E78238F9E1}"/>
                </a:ext>
              </a:extLst>
            </p:cNvPr>
            <p:cNvSpPr txBox="1"/>
            <p:nvPr/>
          </p:nvSpPr>
          <p:spPr>
            <a:xfrm>
              <a:off x="856660" y="1257300"/>
              <a:ext cx="981665" cy="228600"/>
            </a:xfrm>
            <a:prstGeom prst="rect">
              <a:avLst/>
            </a:prstGeom>
            <a:noFill/>
          </p:spPr>
          <p:txBody>
            <a:bodyPr wrap="square" lIns="0" tIns="0" rIns="0" bIns="0" rtlCol="0" anchor="ctr">
              <a:noAutofit/>
            </a:bodyPr>
            <a:lstStyle/>
            <a:p>
              <a:pPr>
                <a:buClr>
                  <a:schemeClr val="tx1"/>
                </a:buClr>
              </a:pPr>
              <a:r>
                <a:rPr lang="en-SG" sz="800" b="0">
                  <a:solidFill>
                    <a:schemeClr val="tx1"/>
                  </a:solidFill>
                  <a:cs typeface="Calibri" panose="020F0502020204030204" pitchFamily="34" charset="0"/>
                </a:rPr>
                <a:t>IPO of DCREIT</a:t>
              </a:r>
              <a:endParaRPr lang="en-SG" sz="800">
                <a:cs typeface="Calibri" panose="020F0502020204030204" pitchFamily="34" charset="0"/>
              </a:endParaRPr>
            </a:p>
          </p:txBody>
        </p:sp>
        <p:cxnSp>
          <p:nvCxnSpPr>
            <p:cNvPr id="18" name="Straight Connector 17">
              <a:extLst>
                <a:ext uri="{FF2B5EF4-FFF2-40B4-BE49-F238E27FC236}">
                  <a16:creationId xmlns:a16="http://schemas.microsoft.com/office/drawing/2014/main" id="{06717EA8-991A-807B-B35B-2664C3644965}"/>
                </a:ext>
              </a:extLst>
            </p:cNvPr>
            <p:cNvCxnSpPr/>
            <p:nvPr/>
          </p:nvCxnSpPr>
          <p:spPr bwMode="auto">
            <a:xfrm flipH="1" flipV="1">
              <a:off x="809036" y="1145604"/>
              <a:ext cx="0" cy="2426271"/>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 name="Group 25">
            <a:extLst>
              <a:ext uri="{FF2B5EF4-FFF2-40B4-BE49-F238E27FC236}">
                <a16:creationId xmlns:a16="http://schemas.microsoft.com/office/drawing/2014/main" id="{D4727F55-3FF7-5844-CE93-205FA229ED1B}"/>
              </a:ext>
            </a:extLst>
          </p:cNvPr>
          <p:cNvGrpSpPr/>
          <p:nvPr/>
        </p:nvGrpSpPr>
        <p:grpSpPr>
          <a:xfrm>
            <a:off x="1161461" y="3707829"/>
            <a:ext cx="1040719" cy="2205291"/>
            <a:chOff x="723311" y="-283146"/>
            <a:chExt cx="1040719" cy="2205291"/>
          </a:xfrm>
        </p:grpSpPr>
        <p:sp>
          <p:nvSpPr>
            <p:cNvPr id="27" name="Rectangle: Rounded Corners 26">
              <a:extLst>
                <a:ext uri="{FF2B5EF4-FFF2-40B4-BE49-F238E27FC236}">
                  <a16:creationId xmlns:a16="http://schemas.microsoft.com/office/drawing/2014/main" id="{22CB74EE-17E0-A157-E6EA-9C3AB979D535}"/>
                </a:ext>
              </a:extLst>
            </p:cNvPr>
            <p:cNvSpPr/>
            <p:nvPr/>
          </p:nvSpPr>
          <p:spPr>
            <a:xfrm>
              <a:off x="723311" y="1365049"/>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Feb 2022</a:t>
              </a:r>
              <a:endParaRPr lang="en-SG" sz="800" b="1"/>
            </a:p>
          </p:txBody>
        </p:sp>
        <p:sp>
          <p:nvSpPr>
            <p:cNvPr id="28" name="TextBox 27">
              <a:extLst>
                <a:ext uri="{FF2B5EF4-FFF2-40B4-BE49-F238E27FC236}">
                  <a16:creationId xmlns:a16="http://schemas.microsoft.com/office/drawing/2014/main" id="{F2E8277F-CDBF-DF43-27C7-88044FA83E37}"/>
                </a:ext>
              </a:extLst>
            </p:cNvPr>
            <p:cNvSpPr txBox="1"/>
            <p:nvPr/>
          </p:nvSpPr>
          <p:spPr>
            <a:xfrm>
              <a:off x="797605" y="1693545"/>
              <a:ext cx="966425" cy="228600"/>
            </a:xfrm>
            <a:prstGeom prst="rect">
              <a:avLst/>
            </a:prstGeom>
            <a:noFill/>
          </p:spPr>
          <p:txBody>
            <a:bodyPr wrap="square" lIns="0" tIns="0" rIns="0" bIns="0" rtlCol="0" anchor="ctr">
              <a:noAutofit/>
            </a:bodyPr>
            <a:lstStyle/>
            <a:p>
              <a:pPr>
                <a:buClr>
                  <a:schemeClr val="tx1"/>
                </a:buClr>
              </a:pPr>
              <a:r>
                <a:rPr lang="en-SG" sz="800" b="0">
                  <a:solidFill>
                    <a:schemeClr val="tx1"/>
                  </a:solidFill>
                  <a:cs typeface="Calibri" panose="020F0502020204030204" pitchFamily="34" charset="0"/>
                </a:rPr>
                <a:t>Russia invades Ukraine, sparking an ongoing conflict</a:t>
              </a:r>
              <a:endParaRPr lang="en-SG" sz="800">
                <a:cs typeface="Calibri" panose="020F0502020204030204" pitchFamily="34" charset="0"/>
              </a:endParaRPr>
            </a:p>
          </p:txBody>
        </p:sp>
        <p:cxnSp>
          <p:nvCxnSpPr>
            <p:cNvPr id="29" name="Straight Connector 28">
              <a:extLst>
                <a:ext uri="{FF2B5EF4-FFF2-40B4-BE49-F238E27FC236}">
                  <a16:creationId xmlns:a16="http://schemas.microsoft.com/office/drawing/2014/main" id="{CE7B32AD-AA03-0841-A8F0-394C099BFB03}"/>
                </a:ext>
              </a:extLst>
            </p:cNvPr>
            <p:cNvCxnSpPr/>
            <p:nvPr/>
          </p:nvCxnSpPr>
          <p:spPr bwMode="auto">
            <a:xfrm flipV="1">
              <a:off x="837611" y="-283146"/>
              <a:ext cx="0" cy="1601406"/>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8" name="Group 47">
            <a:extLst>
              <a:ext uri="{FF2B5EF4-FFF2-40B4-BE49-F238E27FC236}">
                <a16:creationId xmlns:a16="http://schemas.microsoft.com/office/drawing/2014/main" id="{97ED421B-8A9D-4F94-22D5-E9C6C98DD462}"/>
              </a:ext>
            </a:extLst>
          </p:cNvPr>
          <p:cNvGrpSpPr/>
          <p:nvPr/>
        </p:nvGrpSpPr>
        <p:grpSpPr>
          <a:xfrm>
            <a:off x="1351961" y="2906194"/>
            <a:ext cx="2534239" cy="833321"/>
            <a:chOff x="809036" y="1094539"/>
            <a:chExt cx="2534239" cy="833321"/>
          </a:xfrm>
        </p:grpSpPr>
        <p:sp>
          <p:nvSpPr>
            <p:cNvPr id="49" name="Arrow: Left-Right 48">
              <a:extLst>
                <a:ext uri="{FF2B5EF4-FFF2-40B4-BE49-F238E27FC236}">
                  <a16:creationId xmlns:a16="http://schemas.microsoft.com/office/drawing/2014/main" id="{1F1C3500-5566-7462-D7D2-746420C5F519}"/>
                </a:ext>
              </a:extLst>
            </p:cNvPr>
            <p:cNvSpPr/>
            <p:nvPr/>
          </p:nvSpPr>
          <p:spPr>
            <a:xfrm>
              <a:off x="812845" y="1094539"/>
              <a:ext cx="2530430" cy="338021"/>
            </a:xfrm>
            <a:prstGeom prst="leftRightArrow">
              <a:avLst>
                <a:gd name="adj1" fmla="val 54509"/>
                <a:gd name="adj2" fmla="val 43237"/>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Mar 2022 – Jul 2023</a:t>
              </a:r>
              <a:endParaRPr lang="en-SG" sz="800" b="1"/>
            </a:p>
          </p:txBody>
        </p:sp>
        <p:sp>
          <p:nvSpPr>
            <p:cNvPr id="50" name="TextBox 49">
              <a:extLst>
                <a:ext uri="{FF2B5EF4-FFF2-40B4-BE49-F238E27FC236}">
                  <a16:creationId xmlns:a16="http://schemas.microsoft.com/office/drawing/2014/main" id="{768F5905-7534-F585-A372-D9BADD456F63}"/>
                </a:ext>
              </a:extLst>
            </p:cNvPr>
            <p:cNvSpPr txBox="1"/>
            <p:nvPr/>
          </p:nvSpPr>
          <p:spPr>
            <a:xfrm>
              <a:off x="1049655" y="1369695"/>
              <a:ext cx="2125980" cy="169545"/>
            </a:xfrm>
            <a:prstGeom prst="rect">
              <a:avLst/>
            </a:prstGeom>
            <a:noFill/>
          </p:spPr>
          <p:txBody>
            <a:bodyPr wrap="square" lIns="0" tIns="0" rIns="0" bIns="0" rtlCol="0" anchor="t">
              <a:noAutofit/>
            </a:bodyPr>
            <a:lstStyle/>
            <a:p>
              <a:pPr algn="ctr">
                <a:buClr>
                  <a:schemeClr val="tx1"/>
                </a:buClr>
              </a:pPr>
              <a:r>
                <a:rPr lang="en-SG" sz="800" b="0">
                  <a:solidFill>
                    <a:schemeClr val="tx1"/>
                  </a:solidFill>
                  <a:cs typeface="Calibri" panose="020F0502020204030204" pitchFamily="34" charset="0"/>
                </a:rPr>
                <a:t>Fed rate hike cycle commences</a:t>
              </a:r>
              <a:endParaRPr lang="en-SG" sz="800">
                <a:cs typeface="Calibri" panose="020F0502020204030204" pitchFamily="34" charset="0"/>
              </a:endParaRPr>
            </a:p>
          </p:txBody>
        </p:sp>
        <p:cxnSp>
          <p:nvCxnSpPr>
            <p:cNvPr id="51" name="Straight Connector 50">
              <a:extLst>
                <a:ext uri="{FF2B5EF4-FFF2-40B4-BE49-F238E27FC236}">
                  <a16:creationId xmlns:a16="http://schemas.microsoft.com/office/drawing/2014/main" id="{033F1D06-7125-B95C-3D56-052ADC0FE07C}"/>
                </a:ext>
              </a:extLst>
            </p:cNvPr>
            <p:cNvCxnSpPr/>
            <p:nvPr/>
          </p:nvCxnSpPr>
          <p:spPr bwMode="auto">
            <a:xfrm flipV="1">
              <a:off x="809036" y="1145604"/>
              <a:ext cx="0" cy="782256"/>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1" name="Group 20">
            <a:extLst>
              <a:ext uri="{FF2B5EF4-FFF2-40B4-BE49-F238E27FC236}">
                <a16:creationId xmlns:a16="http://schemas.microsoft.com/office/drawing/2014/main" id="{9273D522-B9EF-AECD-9671-56601793987E}"/>
              </a:ext>
            </a:extLst>
          </p:cNvPr>
          <p:cNvGrpSpPr/>
          <p:nvPr/>
        </p:nvGrpSpPr>
        <p:grpSpPr>
          <a:xfrm>
            <a:off x="990011" y="1904164"/>
            <a:ext cx="1387429" cy="1648661"/>
            <a:chOff x="751886" y="818314"/>
            <a:chExt cx="1387429" cy="1648661"/>
          </a:xfrm>
        </p:grpSpPr>
        <p:sp>
          <p:nvSpPr>
            <p:cNvPr id="22" name="Rectangle: Rounded Corners 21">
              <a:extLst>
                <a:ext uri="{FF2B5EF4-FFF2-40B4-BE49-F238E27FC236}">
                  <a16:creationId xmlns:a16="http://schemas.microsoft.com/office/drawing/2014/main" id="{4B0170B9-6208-1763-F626-711D65B9AC9C}"/>
                </a:ext>
              </a:extLst>
            </p:cNvPr>
            <p:cNvSpPr/>
            <p:nvPr/>
          </p:nvSpPr>
          <p:spPr>
            <a:xfrm>
              <a:off x="751886" y="818314"/>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Jan 2022</a:t>
              </a:r>
              <a:endParaRPr lang="en-SG" sz="800" b="1"/>
            </a:p>
          </p:txBody>
        </p:sp>
        <p:sp>
          <p:nvSpPr>
            <p:cNvPr id="23" name="TextBox 22">
              <a:extLst>
                <a:ext uri="{FF2B5EF4-FFF2-40B4-BE49-F238E27FC236}">
                  <a16:creationId xmlns:a16="http://schemas.microsoft.com/office/drawing/2014/main" id="{B762A75A-CB50-61C3-62AE-18D27C905D08}"/>
                </a:ext>
              </a:extLst>
            </p:cNvPr>
            <p:cNvSpPr txBox="1"/>
            <p:nvPr/>
          </p:nvSpPr>
          <p:spPr>
            <a:xfrm>
              <a:off x="910000" y="1131570"/>
              <a:ext cx="1229315" cy="569596"/>
            </a:xfrm>
            <a:prstGeom prst="rect">
              <a:avLst/>
            </a:prstGeom>
            <a:solidFill>
              <a:schemeClr val="bg1"/>
            </a:solidFill>
          </p:spPr>
          <p:txBody>
            <a:bodyPr wrap="square" lIns="0" tIns="0" rIns="0" bIns="0" rtlCol="0" anchor="t">
              <a:noAutofit/>
            </a:bodyPr>
            <a:lstStyle/>
            <a:p>
              <a:pPr>
                <a:buClr>
                  <a:schemeClr val="tx1"/>
                </a:buClr>
              </a:pPr>
              <a:r>
                <a:rPr lang="en-SG" sz="800" b="0">
                  <a:solidFill>
                    <a:schemeClr val="tx1"/>
                  </a:solidFill>
                  <a:cs typeface="Calibri" panose="020F0502020204030204" pitchFamily="34" charset="0"/>
                </a:rPr>
                <a:t>High inflation prints following the COVID-19 pandemic stoke concerns on rising interest rates</a:t>
              </a:r>
              <a:endParaRPr lang="en-SG" sz="800">
                <a:cs typeface="Calibri" panose="020F0502020204030204" pitchFamily="34" charset="0"/>
              </a:endParaRPr>
            </a:p>
          </p:txBody>
        </p:sp>
        <p:cxnSp>
          <p:nvCxnSpPr>
            <p:cNvPr id="24" name="Straight Connector 23">
              <a:extLst>
                <a:ext uri="{FF2B5EF4-FFF2-40B4-BE49-F238E27FC236}">
                  <a16:creationId xmlns:a16="http://schemas.microsoft.com/office/drawing/2014/main" id="{66089BAA-3A6B-6B15-9A35-7F91B8D5DE11}"/>
                </a:ext>
              </a:extLst>
            </p:cNvPr>
            <p:cNvCxnSpPr/>
            <p:nvPr/>
          </p:nvCxnSpPr>
          <p:spPr bwMode="auto">
            <a:xfrm flipV="1">
              <a:off x="809036" y="1057275"/>
              <a:ext cx="0" cy="140970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1" name="Straight Connector 90">
            <a:extLst>
              <a:ext uri="{FF2B5EF4-FFF2-40B4-BE49-F238E27FC236}">
                <a16:creationId xmlns:a16="http://schemas.microsoft.com/office/drawing/2014/main" id="{000967FA-89F0-CE42-D2CC-DE736A9E58E2}"/>
              </a:ext>
            </a:extLst>
          </p:cNvPr>
          <p:cNvCxnSpPr/>
          <p:nvPr/>
        </p:nvCxnSpPr>
        <p:spPr bwMode="auto">
          <a:xfrm flipV="1">
            <a:off x="3889421" y="2825115"/>
            <a:ext cx="0" cy="218694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a:extLst>
              <a:ext uri="{FF2B5EF4-FFF2-40B4-BE49-F238E27FC236}">
                <a16:creationId xmlns:a16="http://schemas.microsoft.com/office/drawing/2014/main" id="{1D592394-639C-5F68-5417-449F766B2DC6}"/>
              </a:ext>
            </a:extLst>
          </p:cNvPr>
          <p:cNvSpPr txBox="1"/>
          <p:nvPr/>
        </p:nvSpPr>
        <p:spPr>
          <a:xfrm>
            <a:off x="482417" y="2789513"/>
            <a:ext cx="736783" cy="211203"/>
          </a:xfrm>
          <a:prstGeom prst="rect">
            <a:avLst/>
          </a:prstGeom>
          <a:solidFill>
            <a:schemeClr val="bg1"/>
          </a:solidFill>
          <a:ln w="6350">
            <a:noFill/>
            <a:prstDash val="dash"/>
          </a:ln>
        </p:spPr>
        <p:txBody>
          <a:bodyPr wrap="square" lIns="36000" tIns="36000" rIns="36000" bIns="36000" rtlCol="0" anchor="t">
            <a:spAutoFit/>
          </a:bodyPr>
          <a:lstStyle/>
          <a:p>
            <a:pPr>
              <a:spcAft>
                <a:spcPts val="0"/>
              </a:spcAft>
            </a:pPr>
            <a:r>
              <a:rPr lang="en-US" sz="900" i="1">
                <a:solidFill>
                  <a:schemeClr val="tx1"/>
                </a:solidFill>
              </a:rPr>
              <a:t>Price (US$)</a:t>
            </a:r>
            <a:endParaRPr lang="en-SG" sz="900" i="1">
              <a:solidFill>
                <a:schemeClr val="tx1"/>
              </a:solidFill>
            </a:endParaRPr>
          </a:p>
        </p:txBody>
      </p:sp>
      <p:grpSp>
        <p:nvGrpSpPr>
          <p:cNvPr id="94" name="Group 93">
            <a:extLst>
              <a:ext uri="{FF2B5EF4-FFF2-40B4-BE49-F238E27FC236}">
                <a16:creationId xmlns:a16="http://schemas.microsoft.com/office/drawing/2014/main" id="{CB2E8E73-32B5-7D5A-0B74-EC9DA4746840}"/>
              </a:ext>
            </a:extLst>
          </p:cNvPr>
          <p:cNvGrpSpPr/>
          <p:nvPr/>
        </p:nvGrpSpPr>
        <p:grpSpPr>
          <a:xfrm>
            <a:off x="2975021" y="4745355"/>
            <a:ext cx="1337899" cy="1152525"/>
            <a:chOff x="723311" y="746760"/>
            <a:chExt cx="1337899" cy="1152525"/>
          </a:xfrm>
        </p:grpSpPr>
        <p:sp>
          <p:nvSpPr>
            <p:cNvPr id="95" name="Rectangle: Rounded Corners 94">
              <a:extLst>
                <a:ext uri="{FF2B5EF4-FFF2-40B4-BE49-F238E27FC236}">
                  <a16:creationId xmlns:a16="http://schemas.microsoft.com/office/drawing/2014/main" id="{8A7CF1C4-2B5D-E4EB-1462-7291F8225896}"/>
                </a:ext>
              </a:extLst>
            </p:cNvPr>
            <p:cNvSpPr/>
            <p:nvPr/>
          </p:nvSpPr>
          <p:spPr>
            <a:xfrm>
              <a:off x="723311" y="1311709"/>
              <a:ext cx="914990" cy="254529"/>
            </a:xfrm>
            <a:prstGeom prst="roundRect">
              <a:avLst>
                <a:gd name="adj" fmla="val 3170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Feb 2023</a:t>
              </a:r>
              <a:endParaRPr lang="en-SG" sz="800" b="1"/>
            </a:p>
          </p:txBody>
        </p:sp>
        <p:sp>
          <p:nvSpPr>
            <p:cNvPr id="96" name="TextBox 95">
              <a:extLst>
                <a:ext uri="{FF2B5EF4-FFF2-40B4-BE49-F238E27FC236}">
                  <a16:creationId xmlns:a16="http://schemas.microsoft.com/office/drawing/2014/main" id="{27928137-40BC-2132-EDA3-1BD9DED60EC3}"/>
                </a:ext>
              </a:extLst>
            </p:cNvPr>
            <p:cNvSpPr txBox="1"/>
            <p:nvPr/>
          </p:nvSpPr>
          <p:spPr>
            <a:xfrm>
              <a:off x="797605" y="1670685"/>
              <a:ext cx="1263605" cy="228600"/>
            </a:xfrm>
            <a:prstGeom prst="rect">
              <a:avLst/>
            </a:prstGeom>
            <a:noFill/>
          </p:spPr>
          <p:txBody>
            <a:bodyPr wrap="square" lIns="0" tIns="0" rIns="0" bIns="0" rtlCol="0" anchor="ctr">
              <a:noAutofit/>
            </a:bodyPr>
            <a:lstStyle/>
            <a:p>
              <a:pPr>
                <a:buClr>
                  <a:schemeClr val="tx1"/>
                </a:buClr>
              </a:pPr>
              <a:r>
                <a:rPr lang="en-SG" sz="800" b="0">
                  <a:solidFill>
                    <a:schemeClr val="tx1"/>
                  </a:solidFill>
                  <a:cs typeface="Calibri" panose="020F0502020204030204" pitchFamily="34" charset="0"/>
                </a:rPr>
                <a:t>Moody’s downgraded Cyxtera’s credit rating to Caa2 from B3</a:t>
              </a:r>
              <a:endParaRPr lang="en-SG" sz="800">
                <a:cs typeface="Calibri" panose="020F0502020204030204" pitchFamily="34" charset="0"/>
              </a:endParaRPr>
            </a:p>
          </p:txBody>
        </p:sp>
        <p:cxnSp>
          <p:nvCxnSpPr>
            <p:cNvPr id="97" name="Straight Connector 96">
              <a:extLst>
                <a:ext uri="{FF2B5EF4-FFF2-40B4-BE49-F238E27FC236}">
                  <a16:creationId xmlns:a16="http://schemas.microsoft.com/office/drawing/2014/main" id="{3B610504-A247-F4DC-2545-4F76FE5ABBDD}"/>
                </a:ext>
              </a:extLst>
            </p:cNvPr>
            <p:cNvCxnSpPr/>
            <p:nvPr/>
          </p:nvCxnSpPr>
          <p:spPr bwMode="auto">
            <a:xfrm flipV="1">
              <a:off x="837611" y="746760"/>
              <a:ext cx="0" cy="57150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9" name="Group 98">
            <a:extLst>
              <a:ext uri="{FF2B5EF4-FFF2-40B4-BE49-F238E27FC236}">
                <a16:creationId xmlns:a16="http://schemas.microsoft.com/office/drawing/2014/main" id="{B47F0874-52AE-7976-61C5-1E1EAA1102A1}"/>
              </a:ext>
            </a:extLst>
          </p:cNvPr>
          <p:cNvGrpSpPr/>
          <p:nvPr/>
        </p:nvGrpSpPr>
        <p:grpSpPr>
          <a:xfrm>
            <a:off x="1630091" y="3390064"/>
            <a:ext cx="1654129" cy="631391"/>
            <a:chOff x="751886" y="818314"/>
            <a:chExt cx="1654129" cy="631391"/>
          </a:xfrm>
        </p:grpSpPr>
        <p:sp>
          <p:nvSpPr>
            <p:cNvPr id="100" name="Rectangle: Rounded Corners 99">
              <a:extLst>
                <a:ext uri="{FF2B5EF4-FFF2-40B4-BE49-F238E27FC236}">
                  <a16:creationId xmlns:a16="http://schemas.microsoft.com/office/drawing/2014/main" id="{640FC69A-4A85-EB83-F383-18453328BCB1}"/>
                </a:ext>
              </a:extLst>
            </p:cNvPr>
            <p:cNvSpPr/>
            <p:nvPr/>
          </p:nvSpPr>
          <p:spPr>
            <a:xfrm>
              <a:off x="751886" y="818314"/>
              <a:ext cx="914990" cy="254529"/>
            </a:xfrm>
            <a:prstGeom prst="roundRect">
              <a:avLst>
                <a:gd name="adj" fmla="val 3170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1H 2022</a:t>
              </a:r>
              <a:endParaRPr lang="en-SG" sz="800" b="1"/>
            </a:p>
          </p:txBody>
        </p:sp>
        <p:sp>
          <p:nvSpPr>
            <p:cNvPr id="101" name="TextBox 100">
              <a:extLst>
                <a:ext uri="{FF2B5EF4-FFF2-40B4-BE49-F238E27FC236}">
                  <a16:creationId xmlns:a16="http://schemas.microsoft.com/office/drawing/2014/main" id="{4D88DDC7-0731-325B-17C4-39273B38D5E3}"/>
                </a:ext>
              </a:extLst>
            </p:cNvPr>
            <p:cNvSpPr txBox="1"/>
            <p:nvPr/>
          </p:nvSpPr>
          <p:spPr>
            <a:xfrm>
              <a:off x="894760" y="1101090"/>
              <a:ext cx="1511255" cy="348615"/>
            </a:xfrm>
            <a:prstGeom prst="rect">
              <a:avLst/>
            </a:prstGeom>
            <a:solidFill>
              <a:schemeClr val="bg1"/>
            </a:solidFill>
          </p:spPr>
          <p:txBody>
            <a:bodyPr wrap="square" lIns="0" tIns="0" rIns="0" bIns="0" rtlCol="0" anchor="t">
              <a:noAutofit/>
            </a:bodyPr>
            <a:lstStyle/>
            <a:p>
              <a:pPr>
                <a:buClr>
                  <a:schemeClr val="tx1"/>
                </a:buClr>
              </a:pPr>
              <a:r>
                <a:rPr lang="en-SG" sz="800" b="0">
                  <a:solidFill>
                    <a:schemeClr val="tx1"/>
                  </a:solidFill>
                  <a:cs typeface="Calibri" panose="020F0502020204030204" pitchFamily="34" charset="0"/>
                </a:rPr>
                <a:t>Cyxtera (2</a:t>
              </a:r>
              <a:r>
                <a:rPr lang="en-SG" sz="800" b="0" baseline="30000">
                  <a:solidFill>
                    <a:schemeClr val="tx1"/>
                  </a:solidFill>
                  <a:cs typeface="Calibri" panose="020F0502020204030204" pitchFamily="34" charset="0"/>
                </a:rPr>
                <a:t>nd</a:t>
              </a:r>
              <a:r>
                <a:rPr lang="en-SG" sz="800" b="0">
                  <a:solidFill>
                    <a:schemeClr val="tx1"/>
                  </a:solidFill>
                  <a:cs typeface="Calibri" panose="020F0502020204030204" pitchFamily="34" charset="0"/>
                </a:rPr>
                <a:t> largest tenant) reports ongoing free cash flow deficits and heavy debt</a:t>
              </a:r>
              <a:endParaRPr lang="en-SG" sz="800">
                <a:cs typeface="Calibri" panose="020F0502020204030204" pitchFamily="34" charset="0"/>
              </a:endParaRPr>
            </a:p>
          </p:txBody>
        </p:sp>
        <p:cxnSp>
          <p:nvCxnSpPr>
            <p:cNvPr id="102" name="Straight Connector 101">
              <a:extLst>
                <a:ext uri="{FF2B5EF4-FFF2-40B4-BE49-F238E27FC236}">
                  <a16:creationId xmlns:a16="http://schemas.microsoft.com/office/drawing/2014/main" id="{22CFC914-C8A6-68C6-DC16-C05624BAE64A}"/>
                </a:ext>
              </a:extLst>
            </p:cNvPr>
            <p:cNvCxnSpPr/>
            <p:nvPr/>
          </p:nvCxnSpPr>
          <p:spPr bwMode="auto">
            <a:xfrm flipV="1">
              <a:off x="809036" y="1057275"/>
              <a:ext cx="0" cy="27813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04" name="Group 103">
            <a:extLst>
              <a:ext uri="{FF2B5EF4-FFF2-40B4-BE49-F238E27FC236}">
                <a16:creationId xmlns:a16="http://schemas.microsoft.com/office/drawing/2014/main" id="{51D2162E-7A59-BE57-BF58-129D4A7B3035}"/>
              </a:ext>
            </a:extLst>
          </p:cNvPr>
          <p:cNvGrpSpPr/>
          <p:nvPr/>
        </p:nvGrpSpPr>
        <p:grpSpPr>
          <a:xfrm>
            <a:off x="1435781" y="3799269"/>
            <a:ext cx="1170259" cy="1389951"/>
            <a:chOff x="746171" y="-283146"/>
            <a:chExt cx="1170259" cy="1389951"/>
          </a:xfrm>
        </p:grpSpPr>
        <p:sp>
          <p:nvSpPr>
            <p:cNvPr id="106" name="TextBox 105">
              <a:extLst>
                <a:ext uri="{FF2B5EF4-FFF2-40B4-BE49-F238E27FC236}">
                  <a16:creationId xmlns:a16="http://schemas.microsoft.com/office/drawing/2014/main" id="{70AA78C3-FA5B-59BD-0588-8529E2CD67D7}"/>
                </a:ext>
              </a:extLst>
            </p:cNvPr>
            <p:cNvSpPr txBox="1"/>
            <p:nvPr/>
          </p:nvSpPr>
          <p:spPr>
            <a:xfrm>
              <a:off x="812845" y="878205"/>
              <a:ext cx="1103585" cy="228600"/>
            </a:xfrm>
            <a:prstGeom prst="rect">
              <a:avLst/>
            </a:prstGeom>
            <a:noFill/>
          </p:spPr>
          <p:txBody>
            <a:bodyPr wrap="square" lIns="0" tIns="0" rIns="0" bIns="0" rtlCol="0" anchor="ctr">
              <a:noAutofit/>
            </a:bodyPr>
            <a:lstStyle/>
            <a:p>
              <a:pPr>
                <a:buClr>
                  <a:schemeClr val="tx1"/>
                </a:buClr>
              </a:pPr>
              <a:r>
                <a:rPr lang="en-SG" sz="800" b="0" err="1">
                  <a:solidFill>
                    <a:schemeClr val="tx1"/>
                  </a:solidFill>
                  <a:cs typeface="Calibri" panose="020F0502020204030204" pitchFamily="34" charset="0"/>
                </a:rPr>
                <a:t>Sungard</a:t>
              </a:r>
              <a:r>
                <a:rPr lang="en-SG" sz="800" b="0">
                  <a:solidFill>
                    <a:schemeClr val="tx1"/>
                  </a:solidFill>
                  <a:cs typeface="Calibri" panose="020F0502020204030204" pitchFamily="34" charset="0"/>
                </a:rPr>
                <a:t> (5</a:t>
              </a:r>
              <a:r>
                <a:rPr lang="en-SG" sz="800" b="0" baseline="30000">
                  <a:solidFill>
                    <a:schemeClr val="tx1"/>
                  </a:solidFill>
                  <a:cs typeface="Calibri" panose="020F0502020204030204" pitchFamily="34" charset="0"/>
                </a:rPr>
                <a:t>th</a:t>
              </a:r>
              <a:r>
                <a:rPr lang="en-SG" sz="800" b="0">
                  <a:solidFill>
                    <a:schemeClr val="tx1"/>
                  </a:solidFill>
                  <a:cs typeface="Calibri" panose="020F0502020204030204" pitchFamily="34" charset="0"/>
                </a:rPr>
                <a:t> largest tenant) files for bankruptcy protection</a:t>
              </a:r>
              <a:endParaRPr lang="en-SG" sz="800">
                <a:cs typeface="Calibri" panose="020F0502020204030204" pitchFamily="34" charset="0"/>
              </a:endParaRPr>
            </a:p>
          </p:txBody>
        </p:sp>
        <p:cxnSp>
          <p:nvCxnSpPr>
            <p:cNvPr id="107" name="Straight Connector 106">
              <a:extLst>
                <a:ext uri="{FF2B5EF4-FFF2-40B4-BE49-F238E27FC236}">
                  <a16:creationId xmlns:a16="http://schemas.microsoft.com/office/drawing/2014/main" id="{F838194A-B2FA-A475-2BAF-53C98D8E7F91}"/>
                </a:ext>
              </a:extLst>
            </p:cNvPr>
            <p:cNvCxnSpPr/>
            <p:nvPr/>
          </p:nvCxnSpPr>
          <p:spPr bwMode="auto">
            <a:xfrm flipV="1">
              <a:off x="837611" y="-283146"/>
              <a:ext cx="0" cy="953706"/>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Rectangle: Rounded Corners 104">
              <a:extLst>
                <a:ext uri="{FF2B5EF4-FFF2-40B4-BE49-F238E27FC236}">
                  <a16:creationId xmlns:a16="http://schemas.microsoft.com/office/drawing/2014/main" id="{1054CCF9-1DA3-5F32-1522-6F281D287E9E}"/>
                </a:ext>
              </a:extLst>
            </p:cNvPr>
            <p:cNvSpPr/>
            <p:nvPr/>
          </p:nvSpPr>
          <p:spPr>
            <a:xfrm>
              <a:off x="746171" y="534469"/>
              <a:ext cx="914990" cy="254529"/>
            </a:xfrm>
            <a:prstGeom prst="roundRect">
              <a:avLst>
                <a:gd name="adj" fmla="val 3170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Apr 2022</a:t>
              </a:r>
              <a:endParaRPr lang="en-SG" sz="800" b="1"/>
            </a:p>
          </p:txBody>
        </p:sp>
      </p:grpSp>
      <p:grpSp>
        <p:nvGrpSpPr>
          <p:cNvPr id="109" name="Group 108">
            <a:extLst>
              <a:ext uri="{FF2B5EF4-FFF2-40B4-BE49-F238E27FC236}">
                <a16:creationId xmlns:a16="http://schemas.microsoft.com/office/drawing/2014/main" id="{A7014F46-AD07-EFE4-4F5F-D0128201FA8B}"/>
              </a:ext>
            </a:extLst>
          </p:cNvPr>
          <p:cNvGrpSpPr/>
          <p:nvPr/>
        </p:nvGrpSpPr>
        <p:grpSpPr>
          <a:xfrm>
            <a:off x="3596051" y="3565324"/>
            <a:ext cx="1288369" cy="1629611"/>
            <a:chOff x="751886" y="818314"/>
            <a:chExt cx="1288369" cy="1629611"/>
          </a:xfrm>
        </p:grpSpPr>
        <p:sp>
          <p:nvSpPr>
            <p:cNvPr id="110" name="Rectangle: Rounded Corners 109">
              <a:extLst>
                <a:ext uri="{FF2B5EF4-FFF2-40B4-BE49-F238E27FC236}">
                  <a16:creationId xmlns:a16="http://schemas.microsoft.com/office/drawing/2014/main" id="{7615EDB4-43B3-8AFD-9AAE-F4216DA4E8AD}"/>
                </a:ext>
              </a:extLst>
            </p:cNvPr>
            <p:cNvSpPr/>
            <p:nvPr/>
          </p:nvSpPr>
          <p:spPr>
            <a:xfrm>
              <a:off x="751886" y="818314"/>
              <a:ext cx="914990" cy="254529"/>
            </a:xfrm>
            <a:prstGeom prst="roundRect">
              <a:avLst>
                <a:gd name="adj" fmla="val 31705"/>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Jun 2023</a:t>
              </a:r>
              <a:endParaRPr lang="en-SG" sz="800" b="1"/>
            </a:p>
          </p:txBody>
        </p:sp>
        <p:sp>
          <p:nvSpPr>
            <p:cNvPr id="111" name="TextBox 110">
              <a:extLst>
                <a:ext uri="{FF2B5EF4-FFF2-40B4-BE49-F238E27FC236}">
                  <a16:creationId xmlns:a16="http://schemas.microsoft.com/office/drawing/2014/main" id="{E95D88F7-1A73-992B-568E-6C9B41F7D086}"/>
                </a:ext>
              </a:extLst>
            </p:cNvPr>
            <p:cNvSpPr txBox="1"/>
            <p:nvPr/>
          </p:nvSpPr>
          <p:spPr>
            <a:xfrm>
              <a:off x="879520" y="1101090"/>
              <a:ext cx="1160735" cy="348615"/>
            </a:xfrm>
            <a:prstGeom prst="rect">
              <a:avLst/>
            </a:prstGeom>
            <a:solidFill>
              <a:schemeClr val="bg1"/>
            </a:solidFill>
          </p:spPr>
          <p:txBody>
            <a:bodyPr wrap="square" lIns="0" tIns="0" rIns="0" bIns="0" rtlCol="0" anchor="t">
              <a:noAutofit/>
            </a:bodyPr>
            <a:lstStyle/>
            <a:p>
              <a:pPr>
                <a:buClr>
                  <a:schemeClr val="tx1"/>
                </a:buClr>
              </a:pPr>
              <a:r>
                <a:rPr lang="en-SG" sz="800" b="0">
                  <a:solidFill>
                    <a:schemeClr val="tx1"/>
                  </a:solidFill>
                  <a:cs typeface="Calibri" panose="020F0502020204030204" pitchFamily="34" charset="0"/>
                </a:rPr>
                <a:t>Cyxtera files for bankruptcy protection</a:t>
              </a:r>
              <a:endParaRPr lang="en-SG" sz="800">
                <a:cs typeface="Calibri" panose="020F0502020204030204" pitchFamily="34" charset="0"/>
              </a:endParaRPr>
            </a:p>
          </p:txBody>
        </p:sp>
        <p:cxnSp>
          <p:nvCxnSpPr>
            <p:cNvPr id="112" name="Straight Connector 111">
              <a:extLst>
                <a:ext uri="{FF2B5EF4-FFF2-40B4-BE49-F238E27FC236}">
                  <a16:creationId xmlns:a16="http://schemas.microsoft.com/office/drawing/2014/main" id="{43A483D3-F144-2DC5-5967-ACC699D678E8}"/>
                </a:ext>
              </a:extLst>
            </p:cNvPr>
            <p:cNvCxnSpPr/>
            <p:nvPr/>
          </p:nvCxnSpPr>
          <p:spPr bwMode="auto">
            <a:xfrm flipV="1">
              <a:off x="809036" y="1057275"/>
              <a:ext cx="0" cy="139065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4" name="Group 113">
            <a:extLst>
              <a:ext uri="{FF2B5EF4-FFF2-40B4-BE49-F238E27FC236}">
                <a16:creationId xmlns:a16="http://schemas.microsoft.com/office/drawing/2014/main" id="{B2789C81-FD16-9789-1410-FB0C5245E032}"/>
              </a:ext>
            </a:extLst>
          </p:cNvPr>
          <p:cNvGrpSpPr/>
          <p:nvPr/>
        </p:nvGrpSpPr>
        <p:grpSpPr>
          <a:xfrm>
            <a:off x="4339001" y="4836795"/>
            <a:ext cx="1497919" cy="1068705"/>
            <a:chOff x="723311" y="830580"/>
            <a:chExt cx="1497919" cy="1068705"/>
          </a:xfrm>
        </p:grpSpPr>
        <p:sp>
          <p:nvSpPr>
            <p:cNvPr id="115" name="Rectangle: Rounded Corners 114">
              <a:extLst>
                <a:ext uri="{FF2B5EF4-FFF2-40B4-BE49-F238E27FC236}">
                  <a16:creationId xmlns:a16="http://schemas.microsoft.com/office/drawing/2014/main" id="{B51E9CA2-AC2B-9DFF-F258-42FFE9A53C71}"/>
                </a:ext>
              </a:extLst>
            </p:cNvPr>
            <p:cNvSpPr/>
            <p:nvPr/>
          </p:nvSpPr>
          <p:spPr>
            <a:xfrm>
              <a:off x="723311" y="1311709"/>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Nov 2023</a:t>
              </a:r>
              <a:endParaRPr lang="en-SG" sz="800" b="1"/>
            </a:p>
          </p:txBody>
        </p:sp>
        <p:sp>
          <p:nvSpPr>
            <p:cNvPr id="116" name="TextBox 115">
              <a:extLst>
                <a:ext uri="{FF2B5EF4-FFF2-40B4-BE49-F238E27FC236}">
                  <a16:creationId xmlns:a16="http://schemas.microsoft.com/office/drawing/2014/main" id="{13B8DC23-4491-FF25-AF53-B14059DBD198}"/>
                </a:ext>
              </a:extLst>
            </p:cNvPr>
            <p:cNvSpPr txBox="1"/>
            <p:nvPr/>
          </p:nvSpPr>
          <p:spPr>
            <a:xfrm>
              <a:off x="789985" y="1670685"/>
              <a:ext cx="1431245" cy="228600"/>
            </a:xfrm>
            <a:prstGeom prst="rect">
              <a:avLst/>
            </a:prstGeom>
            <a:noFill/>
          </p:spPr>
          <p:txBody>
            <a:bodyPr wrap="square" lIns="0" tIns="0" rIns="0" bIns="0" rtlCol="0" anchor="ctr">
              <a:noAutofit/>
            </a:bodyPr>
            <a:lstStyle/>
            <a:p>
              <a:pPr>
                <a:buClr>
                  <a:schemeClr val="tx1"/>
                </a:buClr>
              </a:pPr>
              <a:r>
                <a:rPr lang="en-SG" sz="800" b="0">
                  <a:solidFill>
                    <a:schemeClr val="tx1"/>
                  </a:solidFill>
                  <a:cs typeface="Calibri" panose="020F0502020204030204" pitchFamily="34" charset="0"/>
                </a:rPr>
                <a:t>DCREIT announces agreements to resolve customer bankruptcy</a:t>
              </a:r>
              <a:endParaRPr lang="en-SG" sz="800">
                <a:cs typeface="Calibri" panose="020F0502020204030204" pitchFamily="34" charset="0"/>
              </a:endParaRPr>
            </a:p>
          </p:txBody>
        </p:sp>
        <p:cxnSp>
          <p:nvCxnSpPr>
            <p:cNvPr id="117" name="Straight Connector 116">
              <a:extLst>
                <a:ext uri="{FF2B5EF4-FFF2-40B4-BE49-F238E27FC236}">
                  <a16:creationId xmlns:a16="http://schemas.microsoft.com/office/drawing/2014/main" id="{89A05CC9-6393-B9EA-BCE3-8CBEBB54FD5C}"/>
                </a:ext>
              </a:extLst>
            </p:cNvPr>
            <p:cNvCxnSpPr/>
            <p:nvPr/>
          </p:nvCxnSpPr>
          <p:spPr bwMode="auto">
            <a:xfrm flipV="1">
              <a:off x="837611" y="830580"/>
              <a:ext cx="0" cy="48768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9" name="Group 118">
            <a:extLst>
              <a:ext uri="{FF2B5EF4-FFF2-40B4-BE49-F238E27FC236}">
                <a16:creationId xmlns:a16="http://schemas.microsoft.com/office/drawing/2014/main" id="{BD8D255E-F6E8-65F7-2857-6DE9B53DBFBF}"/>
              </a:ext>
            </a:extLst>
          </p:cNvPr>
          <p:cNvGrpSpPr/>
          <p:nvPr/>
        </p:nvGrpSpPr>
        <p:grpSpPr>
          <a:xfrm>
            <a:off x="4739051" y="1393624"/>
            <a:ext cx="1303609" cy="3306011"/>
            <a:chOff x="736646" y="-858086"/>
            <a:chExt cx="1303609" cy="3306011"/>
          </a:xfrm>
        </p:grpSpPr>
        <p:sp>
          <p:nvSpPr>
            <p:cNvPr id="120" name="Rectangle: Rounded Corners 119">
              <a:extLst>
                <a:ext uri="{FF2B5EF4-FFF2-40B4-BE49-F238E27FC236}">
                  <a16:creationId xmlns:a16="http://schemas.microsoft.com/office/drawing/2014/main" id="{1F44E9F1-F77C-762B-07E3-89B41B6D158A}"/>
                </a:ext>
              </a:extLst>
            </p:cNvPr>
            <p:cNvSpPr/>
            <p:nvPr/>
          </p:nvSpPr>
          <p:spPr>
            <a:xfrm>
              <a:off x="736646" y="-858086"/>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Jan 2024</a:t>
              </a:r>
              <a:endParaRPr lang="en-SG" sz="800" b="1"/>
            </a:p>
          </p:txBody>
        </p:sp>
        <p:sp>
          <p:nvSpPr>
            <p:cNvPr id="121" name="TextBox 120">
              <a:extLst>
                <a:ext uri="{FF2B5EF4-FFF2-40B4-BE49-F238E27FC236}">
                  <a16:creationId xmlns:a16="http://schemas.microsoft.com/office/drawing/2014/main" id="{80132DE0-1807-CEB2-21B4-2ADFC4579268}"/>
                </a:ext>
              </a:extLst>
            </p:cNvPr>
            <p:cNvSpPr txBox="1"/>
            <p:nvPr/>
          </p:nvSpPr>
          <p:spPr>
            <a:xfrm>
              <a:off x="879520" y="-560070"/>
              <a:ext cx="1160735" cy="615315"/>
            </a:xfrm>
            <a:prstGeom prst="rect">
              <a:avLst/>
            </a:prstGeom>
            <a:solidFill>
              <a:schemeClr val="bg1"/>
            </a:solidFill>
          </p:spPr>
          <p:txBody>
            <a:bodyPr wrap="square" lIns="0" tIns="0" rIns="0" bIns="0" rtlCol="0" anchor="t">
              <a:noAutofit/>
            </a:bodyPr>
            <a:lstStyle/>
            <a:p>
              <a:pPr>
                <a:buClr>
                  <a:schemeClr val="tx1"/>
                </a:buClr>
              </a:pPr>
              <a:r>
                <a:rPr lang="en-SG" sz="800" b="0">
                  <a:solidFill>
                    <a:schemeClr val="tx1"/>
                  </a:solidFill>
                  <a:cs typeface="Calibri" panose="020F0502020204030204" pitchFamily="34" charset="0"/>
                </a:rPr>
                <a:t>Completion of sale of two shell &amp; core facilities in Silicon Valley as part of customer bankruptcy resolution</a:t>
              </a:r>
              <a:endParaRPr lang="en-SG" sz="800">
                <a:cs typeface="Calibri" panose="020F0502020204030204" pitchFamily="34" charset="0"/>
              </a:endParaRPr>
            </a:p>
          </p:txBody>
        </p:sp>
        <p:cxnSp>
          <p:nvCxnSpPr>
            <p:cNvPr id="122" name="Straight Connector 121">
              <a:extLst>
                <a:ext uri="{FF2B5EF4-FFF2-40B4-BE49-F238E27FC236}">
                  <a16:creationId xmlns:a16="http://schemas.microsoft.com/office/drawing/2014/main" id="{7D53E496-F459-FA5A-650A-0B4A53DB6F96}"/>
                </a:ext>
              </a:extLst>
            </p:cNvPr>
            <p:cNvCxnSpPr/>
            <p:nvPr/>
          </p:nvCxnSpPr>
          <p:spPr bwMode="auto">
            <a:xfrm flipV="1">
              <a:off x="809036" y="-607695"/>
              <a:ext cx="0" cy="305562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4" name="Group 123">
            <a:extLst>
              <a:ext uri="{FF2B5EF4-FFF2-40B4-BE49-F238E27FC236}">
                <a16:creationId xmlns:a16="http://schemas.microsoft.com/office/drawing/2014/main" id="{0DD02582-0D41-1C44-4D33-3A6578E86292}"/>
              </a:ext>
            </a:extLst>
          </p:cNvPr>
          <p:cNvGrpSpPr/>
          <p:nvPr/>
        </p:nvGrpSpPr>
        <p:grpSpPr>
          <a:xfrm>
            <a:off x="4891451" y="2399464"/>
            <a:ext cx="1158829" cy="2216351"/>
            <a:chOff x="744266" y="-865706"/>
            <a:chExt cx="1158829" cy="2216351"/>
          </a:xfrm>
        </p:grpSpPr>
        <p:sp>
          <p:nvSpPr>
            <p:cNvPr id="125" name="Rectangle: Rounded Corners 124">
              <a:extLst>
                <a:ext uri="{FF2B5EF4-FFF2-40B4-BE49-F238E27FC236}">
                  <a16:creationId xmlns:a16="http://schemas.microsoft.com/office/drawing/2014/main" id="{031D1E7F-CC13-26E2-08D2-5EBB13C58C6F}"/>
                </a:ext>
              </a:extLst>
            </p:cNvPr>
            <p:cNvSpPr/>
            <p:nvPr/>
          </p:nvSpPr>
          <p:spPr>
            <a:xfrm>
              <a:off x="744266" y="-865706"/>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Feb 2024</a:t>
              </a:r>
              <a:endParaRPr lang="en-SG" sz="800" b="1"/>
            </a:p>
          </p:txBody>
        </p:sp>
        <p:sp>
          <p:nvSpPr>
            <p:cNvPr id="126" name="TextBox 125">
              <a:extLst>
                <a:ext uri="{FF2B5EF4-FFF2-40B4-BE49-F238E27FC236}">
                  <a16:creationId xmlns:a16="http://schemas.microsoft.com/office/drawing/2014/main" id="{C4F96237-1C8F-1D74-01C8-0765BB11987E}"/>
                </a:ext>
              </a:extLst>
            </p:cNvPr>
            <p:cNvSpPr txBox="1"/>
            <p:nvPr/>
          </p:nvSpPr>
          <p:spPr>
            <a:xfrm>
              <a:off x="879520" y="-567690"/>
              <a:ext cx="1023575" cy="615315"/>
            </a:xfrm>
            <a:prstGeom prst="rect">
              <a:avLst/>
            </a:prstGeom>
            <a:solidFill>
              <a:schemeClr val="bg1"/>
            </a:solidFill>
          </p:spPr>
          <p:txBody>
            <a:bodyPr wrap="square" lIns="0" tIns="0" rIns="0" bIns="0" rtlCol="0" anchor="t">
              <a:noAutofit/>
            </a:bodyPr>
            <a:lstStyle/>
            <a:p>
              <a:pPr>
                <a:buClr>
                  <a:schemeClr val="tx1"/>
                </a:buClr>
              </a:pPr>
              <a:r>
                <a:rPr lang="en-SG" sz="800" b="0">
                  <a:solidFill>
                    <a:schemeClr val="tx1"/>
                  </a:solidFill>
                  <a:cs typeface="Calibri" panose="020F0502020204030204" pitchFamily="34" charset="0"/>
                </a:rPr>
                <a:t>DCREIT launches private placement to raise US$100m for Frankfurt and Japan acquisitions</a:t>
              </a:r>
              <a:endParaRPr lang="en-SG" sz="800">
                <a:cs typeface="Calibri" panose="020F0502020204030204" pitchFamily="34" charset="0"/>
              </a:endParaRPr>
            </a:p>
          </p:txBody>
        </p:sp>
        <p:cxnSp>
          <p:nvCxnSpPr>
            <p:cNvPr id="127" name="Straight Connector 126">
              <a:extLst>
                <a:ext uri="{FF2B5EF4-FFF2-40B4-BE49-F238E27FC236}">
                  <a16:creationId xmlns:a16="http://schemas.microsoft.com/office/drawing/2014/main" id="{49B6ED4B-3A16-47E3-CC29-5D197156DE51}"/>
                </a:ext>
              </a:extLst>
            </p:cNvPr>
            <p:cNvCxnSpPr/>
            <p:nvPr/>
          </p:nvCxnSpPr>
          <p:spPr bwMode="auto">
            <a:xfrm flipV="1">
              <a:off x="809036" y="-600075"/>
              <a:ext cx="0" cy="195072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31" name="Group 130">
            <a:extLst>
              <a:ext uri="{FF2B5EF4-FFF2-40B4-BE49-F238E27FC236}">
                <a16:creationId xmlns:a16="http://schemas.microsoft.com/office/drawing/2014/main" id="{EBD359D1-F2A8-86D0-E762-BF2EE12A7E1E}"/>
              </a:ext>
            </a:extLst>
          </p:cNvPr>
          <p:cNvGrpSpPr/>
          <p:nvPr/>
        </p:nvGrpSpPr>
        <p:grpSpPr>
          <a:xfrm>
            <a:off x="6095411" y="1454584"/>
            <a:ext cx="1189309" cy="3306011"/>
            <a:chOff x="736646" y="-858086"/>
            <a:chExt cx="1189309" cy="3306011"/>
          </a:xfrm>
        </p:grpSpPr>
        <p:sp>
          <p:nvSpPr>
            <p:cNvPr id="132" name="Rectangle: Rounded Corners 131">
              <a:extLst>
                <a:ext uri="{FF2B5EF4-FFF2-40B4-BE49-F238E27FC236}">
                  <a16:creationId xmlns:a16="http://schemas.microsoft.com/office/drawing/2014/main" id="{51772AAE-2416-AD6A-C03E-9E0AC8686E61}"/>
                </a:ext>
              </a:extLst>
            </p:cNvPr>
            <p:cNvSpPr/>
            <p:nvPr/>
          </p:nvSpPr>
          <p:spPr>
            <a:xfrm>
              <a:off x="736646" y="-858086"/>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Oct 2024</a:t>
              </a:r>
              <a:endParaRPr lang="en-SG" sz="800" b="1"/>
            </a:p>
          </p:txBody>
        </p:sp>
        <p:sp>
          <p:nvSpPr>
            <p:cNvPr id="133" name="TextBox 132">
              <a:extLst>
                <a:ext uri="{FF2B5EF4-FFF2-40B4-BE49-F238E27FC236}">
                  <a16:creationId xmlns:a16="http://schemas.microsoft.com/office/drawing/2014/main" id="{8786C749-43EA-55C1-727C-C075271E2427}"/>
                </a:ext>
              </a:extLst>
            </p:cNvPr>
            <p:cNvSpPr txBox="1"/>
            <p:nvPr/>
          </p:nvSpPr>
          <p:spPr>
            <a:xfrm>
              <a:off x="879520" y="-560070"/>
              <a:ext cx="1046435" cy="615315"/>
            </a:xfrm>
            <a:prstGeom prst="rect">
              <a:avLst/>
            </a:prstGeom>
            <a:solidFill>
              <a:schemeClr val="bg1"/>
            </a:solidFill>
          </p:spPr>
          <p:txBody>
            <a:bodyPr wrap="square" lIns="0" tIns="0" rIns="0" bIns="0" rtlCol="0" anchor="t">
              <a:noAutofit/>
            </a:bodyPr>
            <a:lstStyle/>
            <a:p>
              <a:pPr>
                <a:buClr>
                  <a:schemeClr val="tx1"/>
                </a:buClr>
              </a:pPr>
              <a:r>
                <a:rPr lang="en-SG" sz="800" b="0">
                  <a:solidFill>
                    <a:schemeClr val="tx1"/>
                  </a:solidFill>
                  <a:cs typeface="Calibri" panose="020F0502020204030204" pitchFamily="34" charset="0"/>
                </a:rPr>
                <a:t>DCREIT announces recast of loan facilities for the purposes of refinancing existing debt</a:t>
              </a:r>
              <a:endParaRPr lang="en-SG" sz="800">
                <a:cs typeface="Calibri" panose="020F0502020204030204" pitchFamily="34" charset="0"/>
              </a:endParaRPr>
            </a:p>
          </p:txBody>
        </p:sp>
        <p:cxnSp>
          <p:nvCxnSpPr>
            <p:cNvPr id="134" name="Straight Connector 133">
              <a:extLst>
                <a:ext uri="{FF2B5EF4-FFF2-40B4-BE49-F238E27FC236}">
                  <a16:creationId xmlns:a16="http://schemas.microsoft.com/office/drawing/2014/main" id="{C14CDF65-035E-F612-D431-C4A673278D67}"/>
                </a:ext>
              </a:extLst>
            </p:cNvPr>
            <p:cNvCxnSpPr/>
            <p:nvPr/>
          </p:nvCxnSpPr>
          <p:spPr bwMode="auto">
            <a:xfrm flipV="1">
              <a:off x="809036" y="-607695"/>
              <a:ext cx="0" cy="305562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39" name="Group 138">
            <a:extLst>
              <a:ext uri="{FF2B5EF4-FFF2-40B4-BE49-F238E27FC236}">
                <a16:creationId xmlns:a16="http://schemas.microsoft.com/office/drawing/2014/main" id="{52620BBC-27F7-AB75-D4C5-1F31436DB85A}"/>
              </a:ext>
            </a:extLst>
          </p:cNvPr>
          <p:cNvGrpSpPr/>
          <p:nvPr/>
        </p:nvGrpSpPr>
        <p:grpSpPr>
          <a:xfrm>
            <a:off x="6560231" y="2437564"/>
            <a:ext cx="1067389" cy="2391611"/>
            <a:chOff x="744266" y="-1040966"/>
            <a:chExt cx="1067389" cy="2391611"/>
          </a:xfrm>
        </p:grpSpPr>
        <p:sp>
          <p:nvSpPr>
            <p:cNvPr id="140" name="Rectangle: Rounded Corners 139">
              <a:extLst>
                <a:ext uri="{FF2B5EF4-FFF2-40B4-BE49-F238E27FC236}">
                  <a16:creationId xmlns:a16="http://schemas.microsoft.com/office/drawing/2014/main" id="{792CB87D-3456-4F22-E3EE-D94A81F75E39}"/>
                </a:ext>
              </a:extLst>
            </p:cNvPr>
            <p:cNvSpPr/>
            <p:nvPr/>
          </p:nvSpPr>
          <p:spPr>
            <a:xfrm>
              <a:off x="744266" y="-1040966"/>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Dec 2024</a:t>
              </a:r>
              <a:endParaRPr lang="en-SG" sz="800" b="1"/>
            </a:p>
          </p:txBody>
        </p:sp>
        <p:sp>
          <p:nvSpPr>
            <p:cNvPr id="141" name="TextBox 140">
              <a:extLst>
                <a:ext uri="{FF2B5EF4-FFF2-40B4-BE49-F238E27FC236}">
                  <a16:creationId xmlns:a16="http://schemas.microsoft.com/office/drawing/2014/main" id="{83B44D0B-49A3-0F39-4CB4-AF38B7614001}"/>
                </a:ext>
              </a:extLst>
            </p:cNvPr>
            <p:cNvSpPr txBox="1"/>
            <p:nvPr/>
          </p:nvSpPr>
          <p:spPr>
            <a:xfrm>
              <a:off x="879520" y="-750570"/>
              <a:ext cx="932135" cy="615315"/>
            </a:xfrm>
            <a:prstGeom prst="rect">
              <a:avLst/>
            </a:prstGeom>
            <a:solidFill>
              <a:schemeClr val="bg1"/>
            </a:solidFill>
          </p:spPr>
          <p:txBody>
            <a:bodyPr wrap="square" lIns="0" tIns="0" rIns="0" bIns="0" rtlCol="0" anchor="t">
              <a:noAutofit/>
            </a:bodyPr>
            <a:lstStyle/>
            <a:p>
              <a:pPr>
                <a:buClr>
                  <a:schemeClr val="tx1"/>
                </a:buClr>
              </a:pPr>
              <a:r>
                <a:rPr lang="en-US" sz="800" b="0">
                  <a:solidFill>
                    <a:schemeClr val="tx1"/>
                  </a:solidFill>
                  <a:cs typeface="Calibri" panose="020F0502020204030204" pitchFamily="34" charset="0"/>
                </a:rPr>
                <a:t>C</a:t>
              </a:r>
              <a:r>
                <a:rPr lang="en-SG" sz="800" b="0" err="1">
                  <a:solidFill>
                    <a:schemeClr val="tx1"/>
                  </a:solidFill>
                  <a:cs typeface="Calibri" panose="020F0502020204030204" pitchFamily="34" charset="0"/>
                </a:rPr>
                <a:t>ustomer</a:t>
              </a:r>
              <a:r>
                <a:rPr lang="en-SG" sz="800" b="0">
                  <a:solidFill>
                    <a:schemeClr val="tx1"/>
                  </a:solidFill>
                  <a:cs typeface="Calibri" panose="020F0502020204030204" pitchFamily="34" charset="0"/>
                </a:rPr>
                <a:t> option to renew lease for Linton Hall expired unexercised</a:t>
              </a:r>
              <a:endParaRPr lang="en-SG" sz="800">
                <a:cs typeface="Calibri" panose="020F0502020204030204" pitchFamily="34" charset="0"/>
              </a:endParaRPr>
            </a:p>
          </p:txBody>
        </p:sp>
        <p:cxnSp>
          <p:nvCxnSpPr>
            <p:cNvPr id="142" name="Straight Connector 141">
              <a:extLst>
                <a:ext uri="{FF2B5EF4-FFF2-40B4-BE49-F238E27FC236}">
                  <a16:creationId xmlns:a16="http://schemas.microsoft.com/office/drawing/2014/main" id="{1F13D602-1F8A-F39D-0403-377C52E60953}"/>
                </a:ext>
              </a:extLst>
            </p:cNvPr>
            <p:cNvCxnSpPr/>
            <p:nvPr/>
          </p:nvCxnSpPr>
          <p:spPr bwMode="auto">
            <a:xfrm flipV="1">
              <a:off x="809036" y="-821055"/>
              <a:ext cx="0" cy="217170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3" name="Group 142">
            <a:extLst>
              <a:ext uri="{FF2B5EF4-FFF2-40B4-BE49-F238E27FC236}">
                <a16:creationId xmlns:a16="http://schemas.microsoft.com/office/drawing/2014/main" id="{5185DED9-C419-10E1-5B56-D1242B615401}"/>
              </a:ext>
            </a:extLst>
          </p:cNvPr>
          <p:cNvGrpSpPr/>
          <p:nvPr/>
        </p:nvGrpSpPr>
        <p:grpSpPr>
          <a:xfrm>
            <a:off x="8488091" y="2749984"/>
            <a:ext cx="1021669" cy="2216351"/>
            <a:chOff x="744266" y="-865706"/>
            <a:chExt cx="1021669" cy="2216351"/>
          </a:xfrm>
        </p:grpSpPr>
        <p:sp>
          <p:nvSpPr>
            <p:cNvPr id="144" name="Rectangle: Rounded Corners 143">
              <a:extLst>
                <a:ext uri="{FF2B5EF4-FFF2-40B4-BE49-F238E27FC236}">
                  <a16:creationId xmlns:a16="http://schemas.microsoft.com/office/drawing/2014/main" id="{4B58E42C-6929-D26C-5207-182F6FF9BBEF}"/>
                </a:ext>
              </a:extLst>
            </p:cNvPr>
            <p:cNvSpPr/>
            <p:nvPr/>
          </p:nvSpPr>
          <p:spPr>
            <a:xfrm>
              <a:off x="744266" y="-865706"/>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Jan 2026</a:t>
              </a:r>
              <a:endParaRPr lang="en-SG" sz="800" b="1"/>
            </a:p>
          </p:txBody>
        </p:sp>
        <p:sp>
          <p:nvSpPr>
            <p:cNvPr id="145" name="TextBox 144">
              <a:extLst>
                <a:ext uri="{FF2B5EF4-FFF2-40B4-BE49-F238E27FC236}">
                  <a16:creationId xmlns:a16="http://schemas.microsoft.com/office/drawing/2014/main" id="{E17E70D8-C981-4FD6-938A-D7CBB2653F4C}"/>
                </a:ext>
              </a:extLst>
            </p:cNvPr>
            <p:cNvSpPr txBox="1"/>
            <p:nvPr/>
          </p:nvSpPr>
          <p:spPr>
            <a:xfrm>
              <a:off x="879520" y="-567690"/>
              <a:ext cx="886415" cy="615315"/>
            </a:xfrm>
            <a:prstGeom prst="rect">
              <a:avLst/>
            </a:prstGeom>
            <a:solidFill>
              <a:schemeClr val="bg1"/>
            </a:solidFill>
          </p:spPr>
          <p:txBody>
            <a:bodyPr wrap="square" lIns="0" tIns="0" rIns="0" bIns="0" rtlCol="0" anchor="t">
              <a:noAutofit/>
            </a:bodyPr>
            <a:lstStyle/>
            <a:p>
              <a:pPr>
                <a:buClr>
                  <a:schemeClr val="tx1"/>
                </a:buClr>
              </a:pPr>
              <a:r>
                <a:rPr lang="en-US" sz="800" b="0">
                  <a:solidFill>
                    <a:schemeClr val="tx1"/>
                  </a:solidFill>
                  <a:cs typeface="Calibri" panose="020F0502020204030204" pitchFamily="34" charset="0"/>
                </a:rPr>
                <a:t>10-year agreement for lease-up of Linton Hall announced</a:t>
              </a:r>
              <a:endParaRPr lang="en-SG" sz="800">
                <a:cs typeface="Calibri" panose="020F0502020204030204" pitchFamily="34" charset="0"/>
              </a:endParaRPr>
            </a:p>
          </p:txBody>
        </p:sp>
        <p:cxnSp>
          <p:nvCxnSpPr>
            <p:cNvPr id="146" name="Straight Connector 145">
              <a:extLst>
                <a:ext uri="{FF2B5EF4-FFF2-40B4-BE49-F238E27FC236}">
                  <a16:creationId xmlns:a16="http://schemas.microsoft.com/office/drawing/2014/main" id="{8EE6D6C6-5031-F020-08B5-BDE6F992F4DA}"/>
                </a:ext>
              </a:extLst>
            </p:cNvPr>
            <p:cNvCxnSpPr/>
            <p:nvPr/>
          </p:nvCxnSpPr>
          <p:spPr bwMode="auto">
            <a:xfrm flipV="1">
              <a:off x="809036" y="-600075"/>
              <a:ext cx="0" cy="195072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7" name="Group 146">
            <a:extLst>
              <a:ext uri="{FF2B5EF4-FFF2-40B4-BE49-F238E27FC236}">
                <a16:creationId xmlns:a16="http://schemas.microsoft.com/office/drawing/2014/main" id="{5670D4DA-67D0-0AF0-F8B3-EEC0FC299972}"/>
              </a:ext>
            </a:extLst>
          </p:cNvPr>
          <p:cNvGrpSpPr/>
          <p:nvPr/>
        </p:nvGrpSpPr>
        <p:grpSpPr>
          <a:xfrm>
            <a:off x="7566071" y="1507924"/>
            <a:ext cx="1204549" cy="3427931"/>
            <a:chOff x="736646" y="-858086"/>
            <a:chExt cx="1204549" cy="3427931"/>
          </a:xfrm>
        </p:grpSpPr>
        <p:sp>
          <p:nvSpPr>
            <p:cNvPr id="148" name="Rectangle: Rounded Corners 147">
              <a:extLst>
                <a:ext uri="{FF2B5EF4-FFF2-40B4-BE49-F238E27FC236}">
                  <a16:creationId xmlns:a16="http://schemas.microsoft.com/office/drawing/2014/main" id="{E54C33F7-31A4-696E-0E28-FD0947586567}"/>
                </a:ext>
              </a:extLst>
            </p:cNvPr>
            <p:cNvSpPr/>
            <p:nvPr/>
          </p:nvSpPr>
          <p:spPr>
            <a:xfrm>
              <a:off x="736646" y="-858086"/>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Jun 2025</a:t>
              </a:r>
              <a:endParaRPr lang="en-SG" sz="800" b="1"/>
            </a:p>
          </p:txBody>
        </p:sp>
        <p:sp>
          <p:nvSpPr>
            <p:cNvPr id="149" name="TextBox 148">
              <a:extLst>
                <a:ext uri="{FF2B5EF4-FFF2-40B4-BE49-F238E27FC236}">
                  <a16:creationId xmlns:a16="http://schemas.microsoft.com/office/drawing/2014/main" id="{9065F260-D357-08D1-52D2-6315D5D324EE}"/>
                </a:ext>
              </a:extLst>
            </p:cNvPr>
            <p:cNvSpPr txBox="1"/>
            <p:nvPr/>
          </p:nvSpPr>
          <p:spPr>
            <a:xfrm>
              <a:off x="879520" y="-560070"/>
              <a:ext cx="1061675" cy="615315"/>
            </a:xfrm>
            <a:prstGeom prst="rect">
              <a:avLst/>
            </a:prstGeom>
            <a:solidFill>
              <a:schemeClr val="bg1"/>
            </a:solidFill>
          </p:spPr>
          <p:txBody>
            <a:bodyPr wrap="square" lIns="0" tIns="0" rIns="0" bIns="0" rtlCol="0" anchor="t">
              <a:noAutofit/>
            </a:bodyPr>
            <a:lstStyle/>
            <a:p>
              <a:pPr>
                <a:buClr>
                  <a:schemeClr val="tx1"/>
                </a:buClr>
              </a:pPr>
              <a:r>
                <a:rPr lang="en-US" sz="800" b="0">
                  <a:solidFill>
                    <a:schemeClr val="tx1"/>
                  </a:solidFill>
                  <a:cs typeface="Calibri" panose="020F0502020204030204" pitchFamily="34" charset="0"/>
                </a:rPr>
                <a:t>Announced that Linton Hall DC was vacant as no replacement tenant had been found</a:t>
              </a:r>
            </a:p>
          </p:txBody>
        </p:sp>
        <p:cxnSp>
          <p:nvCxnSpPr>
            <p:cNvPr id="150" name="Straight Connector 149">
              <a:extLst>
                <a:ext uri="{FF2B5EF4-FFF2-40B4-BE49-F238E27FC236}">
                  <a16:creationId xmlns:a16="http://schemas.microsoft.com/office/drawing/2014/main" id="{170D7B1F-D0BC-8CEE-71E6-B5933785E724}"/>
                </a:ext>
              </a:extLst>
            </p:cNvPr>
            <p:cNvCxnSpPr/>
            <p:nvPr/>
          </p:nvCxnSpPr>
          <p:spPr bwMode="auto">
            <a:xfrm flipV="1">
              <a:off x="809036" y="-607695"/>
              <a:ext cx="0" cy="317754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3" name="Group 152">
            <a:extLst>
              <a:ext uri="{FF2B5EF4-FFF2-40B4-BE49-F238E27FC236}">
                <a16:creationId xmlns:a16="http://schemas.microsoft.com/office/drawing/2014/main" id="{A0015C8E-C58D-4482-2018-D25738EE860C}"/>
              </a:ext>
            </a:extLst>
          </p:cNvPr>
          <p:cNvGrpSpPr/>
          <p:nvPr/>
        </p:nvGrpSpPr>
        <p:grpSpPr>
          <a:xfrm>
            <a:off x="7078391" y="3306244"/>
            <a:ext cx="1067389" cy="1728671"/>
            <a:chOff x="744266" y="-1040966"/>
            <a:chExt cx="1067389" cy="1728671"/>
          </a:xfrm>
        </p:grpSpPr>
        <p:sp>
          <p:nvSpPr>
            <p:cNvPr id="154" name="Rectangle: Rounded Corners 153">
              <a:extLst>
                <a:ext uri="{FF2B5EF4-FFF2-40B4-BE49-F238E27FC236}">
                  <a16:creationId xmlns:a16="http://schemas.microsoft.com/office/drawing/2014/main" id="{F4A1578D-2175-07AF-AA1B-DFED271EE959}"/>
                </a:ext>
              </a:extLst>
            </p:cNvPr>
            <p:cNvSpPr/>
            <p:nvPr/>
          </p:nvSpPr>
          <p:spPr>
            <a:xfrm>
              <a:off x="744266" y="-1040966"/>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Apr 2025</a:t>
              </a:r>
              <a:endParaRPr lang="en-SG" sz="800" b="1"/>
            </a:p>
          </p:txBody>
        </p:sp>
        <p:sp>
          <p:nvSpPr>
            <p:cNvPr id="155" name="TextBox 154">
              <a:extLst>
                <a:ext uri="{FF2B5EF4-FFF2-40B4-BE49-F238E27FC236}">
                  <a16:creationId xmlns:a16="http://schemas.microsoft.com/office/drawing/2014/main" id="{5D1123FE-0023-BE2F-8292-8296E968B25E}"/>
                </a:ext>
              </a:extLst>
            </p:cNvPr>
            <p:cNvSpPr txBox="1"/>
            <p:nvPr/>
          </p:nvSpPr>
          <p:spPr>
            <a:xfrm>
              <a:off x="879520" y="-750570"/>
              <a:ext cx="932135" cy="272415"/>
            </a:xfrm>
            <a:prstGeom prst="rect">
              <a:avLst/>
            </a:prstGeom>
            <a:solidFill>
              <a:schemeClr val="bg1"/>
            </a:solidFill>
          </p:spPr>
          <p:txBody>
            <a:bodyPr wrap="square" lIns="0" tIns="0" rIns="0" bIns="0" rtlCol="0" anchor="t">
              <a:noAutofit/>
            </a:bodyPr>
            <a:lstStyle/>
            <a:p>
              <a:pPr>
                <a:buClr>
                  <a:schemeClr val="tx1"/>
                </a:buClr>
              </a:pPr>
              <a:r>
                <a:rPr lang="en-US" sz="800" b="0">
                  <a:solidFill>
                    <a:schemeClr val="tx1"/>
                  </a:solidFill>
                  <a:cs typeface="Calibri" panose="020F0502020204030204" pitchFamily="34" charset="0"/>
                </a:rPr>
                <a:t>“”Liberation Day” tariffs announced</a:t>
              </a:r>
              <a:endParaRPr lang="en-SG" sz="800">
                <a:cs typeface="Calibri" panose="020F0502020204030204" pitchFamily="34" charset="0"/>
              </a:endParaRPr>
            </a:p>
          </p:txBody>
        </p:sp>
        <p:cxnSp>
          <p:nvCxnSpPr>
            <p:cNvPr id="156" name="Straight Connector 155">
              <a:extLst>
                <a:ext uri="{FF2B5EF4-FFF2-40B4-BE49-F238E27FC236}">
                  <a16:creationId xmlns:a16="http://schemas.microsoft.com/office/drawing/2014/main" id="{F24AC1FE-73FF-72E1-E534-D7687B83EDFA}"/>
                </a:ext>
              </a:extLst>
            </p:cNvPr>
            <p:cNvCxnSpPr/>
            <p:nvPr/>
          </p:nvCxnSpPr>
          <p:spPr bwMode="auto">
            <a:xfrm flipV="1">
              <a:off x="809036" y="-821055"/>
              <a:ext cx="0" cy="150876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58" name="Group 157">
            <a:extLst>
              <a:ext uri="{FF2B5EF4-FFF2-40B4-BE49-F238E27FC236}">
                <a16:creationId xmlns:a16="http://schemas.microsoft.com/office/drawing/2014/main" id="{F777FD3C-C376-3C2F-4A23-B55EBCA2464D}"/>
              </a:ext>
            </a:extLst>
          </p:cNvPr>
          <p:cNvGrpSpPr/>
          <p:nvPr/>
        </p:nvGrpSpPr>
        <p:grpSpPr>
          <a:xfrm>
            <a:off x="8728121" y="4943475"/>
            <a:ext cx="949279" cy="982980"/>
            <a:chOff x="723311" y="830580"/>
            <a:chExt cx="949279" cy="982980"/>
          </a:xfrm>
        </p:grpSpPr>
        <p:sp>
          <p:nvSpPr>
            <p:cNvPr id="159" name="Rectangle: Rounded Corners 158">
              <a:extLst>
                <a:ext uri="{FF2B5EF4-FFF2-40B4-BE49-F238E27FC236}">
                  <a16:creationId xmlns:a16="http://schemas.microsoft.com/office/drawing/2014/main" id="{B9996DAC-977F-98F5-94EC-6EF254549AC1}"/>
                </a:ext>
              </a:extLst>
            </p:cNvPr>
            <p:cNvSpPr/>
            <p:nvPr/>
          </p:nvSpPr>
          <p:spPr>
            <a:xfrm>
              <a:off x="723311" y="1311709"/>
              <a:ext cx="914990" cy="254529"/>
            </a:xfrm>
            <a:prstGeom prst="roundRect">
              <a:avLst>
                <a:gd name="adj" fmla="val 31705"/>
              </a:avLst>
            </a:prstGeom>
            <a:solidFill>
              <a:srgbClr val="089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sz="800"/>
                <a:t>Feb 2026</a:t>
              </a:r>
              <a:endParaRPr lang="en-SG" sz="800" b="1"/>
            </a:p>
          </p:txBody>
        </p:sp>
        <p:sp>
          <p:nvSpPr>
            <p:cNvPr id="160" name="TextBox 159">
              <a:extLst>
                <a:ext uri="{FF2B5EF4-FFF2-40B4-BE49-F238E27FC236}">
                  <a16:creationId xmlns:a16="http://schemas.microsoft.com/office/drawing/2014/main" id="{564C8148-0FBC-5F0B-BB1F-E15EE869F111}"/>
                </a:ext>
              </a:extLst>
            </p:cNvPr>
            <p:cNvSpPr txBox="1"/>
            <p:nvPr/>
          </p:nvSpPr>
          <p:spPr>
            <a:xfrm>
              <a:off x="789985" y="1573530"/>
              <a:ext cx="882605" cy="240030"/>
            </a:xfrm>
            <a:prstGeom prst="rect">
              <a:avLst/>
            </a:prstGeom>
            <a:noFill/>
          </p:spPr>
          <p:txBody>
            <a:bodyPr wrap="square" lIns="0" tIns="0" rIns="0" bIns="0" rtlCol="0" anchor="ctr">
              <a:noAutofit/>
            </a:bodyPr>
            <a:lstStyle/>
            <a:p>
              <a:pPr>
                <a:buClr>
                  <a:schemeClr val="tx1"/>
                </a:buClr>
              </a:pPr>
              <a:r>
                <a:rPr lang="en-SG" sz="800" b="0">
                  <a:solidFill>
                    <a:schemeClr val="tx1"/>
                  </a:solidFill>
                  <a:cs typeface="Calibri" panose="020F0502020204030204" pitchFamily="34" charset="0"/>
                </a:rPr>
                <a:t>US-Iran conflict</a:t>
              </a:r>
              <a:endParaRPr lang="en-SG" sz="800">
                <a:cs typeface="Calibri" panose="020F0502020204030204" pitchFamily="34" charset="0"/>
              </a:endParaRPr>
            </a:p>
          </p:txBody>
        </p:sp>
        <p:cxnSp>
          <p:nvCxnSpPr>
            <p:cNvPr id="161" name="Straight Connector 160">
              <a:extLst>
                <a:ext uri="{FF2B5EF4-FFF2-40B4-BE49-F238E27FC236}">
                  <a16:creationId xmlns:a16="http://schemas.microsoft.com/office/drawing/2014/main" id="{27BB5320-B451-E7A4-556E-9239924EE286}"/>
                </a:ext>
              </a:extLst>
            </p:cNvPr>
            <p:cNvCxnSpPr/>
            <p:nvPr/>
          </p:nvCxnSpPr>
          <p:spPr bwMode="auto">
            <a:xfrm flipV="1">
              <a:off x="837611" y="830580"/>
              <a:ext cx="0" cy="487680"/>
            </a:xfrm>
            <a:prstGeom prst="line">
              <a:avLst/>
            </a:prstGeom>
            <a:noFill/>
            <a:ln w="9525" cap="flat" cmpd="sng" algn="ctr">
              <a:solidFill>
                <a:srgbClr val="089C8B"/>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62" name="TextBox 161">
            <a:extLst>
              <a:ext uri="{FF2B5EF4-FFF2-40B4-BE49-F238E27FC236}">
                <a16:creationId xmlns:a16="http://schemas.microsoft.com/office/drawing/2014/main" id="{696BFE63-7F26-8BF0-5300-B92D8FBFF12C}"/>
              </a:ext>
            </a:extLst>
          </p:cNvPr>
          <p:cNvSpPr txBox="1"/>
          <p:nvPr/>
        </p:nvSpPr>
        <p:spPr>
          <a:xfrm>
            <a:off x="453000" y="922853"/>
            <a:ext cx="8999992" cy="382072"/>
          </a:xfrm>
          <a:prstGeom prst="roundRect">
            <a:avLst/>
          </a:prstGeom>
          <a:solidFill>
            <a:schemeClr val="bg2"/>
          </a:solidFill>
          <a:ln>
            <a:solidFill>
              <a:schemeClr val="bg1">
                <a:lumMod val="65000"/>
              </a:schemeClr>
            </a:solidFill>
          </a:ln>
        </p:spPr>
        <p:txBody>
          <a:bodyPr wrap="square" lIns="36000" tIns="36000" rIns="36000" bIns="36000" rtlCol="0" anchor="ctr">
            <a:noAutofit/>
          </a:bodyPr>
          <a:lstStyle/>
          <a:p>
            <a:pPr algn="ctr"/>
            <a:r>
              <a:rPr lang="en-US" sz="1000">
                <a:solidFill>
                  <a:schemeClr val="tx1"/>
                </a:solidFill>
              </a:rPr>
              <a:t>Digital Core REIT underperformed the wider FTSE ST REIT Index due to REIT-specific factors, </a:t>
            </a:r>
            <a:br>
              <a:rPr lang="en-US" sz="1000">
                <a:solidFill>
                  <a:schemeClr val="tx1"/>
                </a:solidFill>
              </a:rPr>
            </a:br>
            <a:r>
              <a:rPr lang="en-US" sz="1000">
                <a:solidFill>
                  <a:schemeClr val="tx1"/>
                </a:solidFill>
              </a:rPr>
              <a:t>particularly the disruption of business of two of its top tenants in the portfolio</a:t>
            </a:r>
          </a:p>
        </p:txBody>
      </p:sp>
    </p:spTree>
    <p:extLst>
      <p:ext uri="{BB962C8B-B14F-4D97-AF65-F5344CB8AC3E}">
        <p14:creationId xmlns:p14="http://schemas.microsoft.com/office/powerpoint/2010/main" val="38989487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07F83819-7123-717E-D6BA-E814673D562D}"/>
              </a:ext>
            </a:extLst>
          </p:cNvPr>
          <p:cNvSpPr/>
          <p:nvPr/>
        </p:nvSpPr>
        <p:spPr bwMode="auto">
          <a:xfrm>
            <a:off x="5058988" y="4185975"/>
            <a:ext cx="4389959" cy="2160000"/>
          </a:xfrm>
          <a:prstGeom prst="rect">
            <a:avLst/>
          </a:prstGeom>
          <a:solidFill>
            <a:schemeClr val="bg1">
              <a:lumMod val="95000"/>
            </a:schemeClr>
          </a:solidFill>
          <a:ln>
            <a:noFill/>
          </a:ln>
          <a:effectLst>
            <a:outerShdw blurRad="50800" dist="38100" dir="2700000" algn="ctr" rotWithShape="0">
              <a:schemeClr val="tx1">
                <a:alpha val="40000"/>
              </a:schemeClr>
            </a:outerShdw>
          </a:effectLst>
        </p:spPr>
        <p:txBody>
          <a:bodyPr vert="horz" wrap="square" lIns="36000" tIns="36000" rIns="36000" bIns="36000" numCol="1" rtlCol="0" anchor="t" anchorCtr="0" compatLnSpc="1">
            <a:prstTxWarp prst="textNoShape">
              <a:avLst/>
            </a:prstTxWarp>
          </a:bodyPr>
          <a:lstStyle/>
          <a:p>
            <a: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pP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60" name="Title 59">
            <a:extLst>
              <a:ext uri="{FF2B5EF4-FFF2-40B4-BE49-F238E27FC236}">
                <a16:creationId xmlns:a16="http://schemas.microsoft.com/office/drawing/2014/main" id="{E14BEFC7-BF1E-E65F-E268-3F1540BCD7E9}"/>
              </a:ext>
            </a:extLst>
          </p:cNvPr>
          <p:cNvSpPr>
            <a:spLocks noGrp="1"/>
          </p:cNvSpPr>
          <p:nvPr>
            <p:ph type="title"/>
          </p:nvPr>
        </p:nvSpPr>
        <p:spPr/>
        <p:txBody>
          <a:bodyPr/>
          <a:lstStyle/>
          <a:p>
            <a:r>
              <a:rPr lang="en-SG" b="1"/>
              <a:t>Case Study: </a:t>
            </a:r>
            <a:r>
              <a:rPr kumimoji="0" lang="en-SG" b="0" i="0" u="none" strike="noStrike" kern="1200" cap="none" spc="0" normalizeH="0" baseline="0" noProof="0">
                <a:ln>
                  <a:noFill/>
                </a:ln>
                <a:solidFill>
                  <a:sysClr val="windowText" lastClr="000000"/>
                </a:solidFill>
                <a:effectLst/>
                <a:uLnTx/>
                <a:uFillTx/>
                <a:latin typeface="Arial"/>
                <a:ea typeface="+mj-ea"/>
                <a:cs typeface="+mj-cs"/>
              </a:rPr>
              <a:t>NTT DC REIT | U$772.7 million (14 July 2025) </a:t>
            </a:r>
            <a:br>
              <a:rPr kumimoji="0" lang="en-SG" b="0" i="0" u="none" strike="noStrike" kern="1200" cap="none" spc="0" normalizeH="0" baseline="0" noProof="0">
                <a:ln>
                  <a:noFill/>
                </a:ln>
                <a:solidFill>
                  <a:sysClr val="windowText" lastClr="000000"/>
                </a:solidFill>
                <a:effectLst/>
                <a:uLnTx/>
                <a:uFillTx/>
                <a:latin typeface="Arial"/>
                <a:ea typeface="+mj-ea"/>
                <a:cs typeface="+mj-cs"/>
              </a:rPr>
            </a:br>
            <a:r>
              <a:rPr kumimoji="0" lang="en-US" sz="1100" b="0" i="1" u="none" strike="noStrike" kern="0" cap="none" spc="0" normalizeH="0" baseline="0" noProof="0">
                <a:ln>
                  <a:noFill/>
                </a:ln>
                <a:solidFill>
                  <a:srgbClr val="000000"/>
                </a:solidFill>
                <a:effectLst/>
                <a:uLnTx/>
                <a:uFillTx/>
                <a:latin typeface="+mj-lt"/>
                <a:cs typeface="+mj-cs"/>
              </a:rPr>
              <a:t>Largest</a:t>
            </a:r>
            <a:r>
              <a:rPr lang="en-US" sz="1100" i="1" kern="0">
                <a:solidFill>
                  <a:srgbClr val="000000"/>
                </a:solidFill>
                <a:latin typeface="+mj-lt"/>
                <a:ea typeface="+mj-ea"/>
                <a:cs typeface="+mj-cs"/>
              </a:rPr>
              <a:t> REIT IPO on SGX in the last decade</a:t>
            </a:r>
            <a:endParaRPr lang="en-SG" sz="1200" i="1"/>
          </a:p>
        </p:txBody>
      </p:sp>
      <p:sp>
        <p:nvSpPr>
          <p:cNvPr id="4" name="Slide Number Placeholder 3">
            <a:extLst>
              <a:ext uri="{FF2B5EF4-FFF2-40B4-BE49-F238E27FC236}">
                <a16:creationId xmlns:a16="http://schemas.microsoft.com/office/drawing/2014/main" id="{160DEB11-48CA-BCE6-E55A-8B4A22EEEF26}"/>
              </a:ext>
            </a:extLst>
          </p:cNvPr>
          <p:cNvSpPr>
            <a:spLocks noGrp="1"/>
          </p:cNvSpPr>
          <p:nvPr>
            <p:ph type="sldNum" sz="quarter" idx="11"/>
          </p:nvPr>
        </p:nvSpPr>
        <p:spPr/>
        <p:txBody>
          <a:bodyPr/>
          <a:lstStyle/>
          <a:p>
            <a:fld id="{EED7964B-8F50-47E5-B5EE-37748C966AF4}" type="slidenum">
              <a:rPr lang="en-US" smtClean="0"/>
              <a:pPr/>
              <a:t>43</a:t>
            </a:fld>
            <a:endParaRPr lang="en-US"/>
          </a:p>
        </p:txBody>
      </p:sp>
      <p:sp>
        <p:nvSpPr>
          <p:cNvPr id="6" name="Text Placeholder 5">
            <a:extLst>
              <a:ext uri="{FF2B5EF4-FFF2-40B4-BE49-F238E27FC236}">
                <a16:creationId xmlns:a16="http://schemas.microsoft.com/office/drawing/2014/main" id="{5B32DC38-57E3-9F76-4C36-2866A5BD3C8D}"/>
              </a:ext>
            </a:extLst>
          </p:cNvPr>
          <p:cNvSpPr>
            <a:spLocks noGrp="1"/>
          </p:cNvSpPr>
          <p:nvPr>
            <p:ph type="body" sz="quarter" idx="46"/>
          </p:nvPr>
        </p:nvSpPr>
        <p:spPr/>
        <p:txBody>
          <a:bodyPr/>
          <a:lstStyle/>
          <a:p>
            <a:r>
              <a:rPr lang="en-US" sz="800"/>
              <a:t>This does not include the Overallotment Option of U$51.5 million</a:t>
            </a:r>
            <a:endParaRPr lang="en-SG" sz="800"/>
          </a:p>
        </p:txBody>
      </p:sp>
      <p:sp>
        <p:nvSpPr>
          <p:cNvPr id="46" name="AutoShape 4">
            <a:extLst>
              <a:ext uri="{FF2B5EF4-FFF2-40B4-BE49-F238E27FC236}">
                <a16:creationId xmlns:a16="http://schemas.microsoft.com/office/drawing/2014/main" id="{581F1C8F-0CE2-4B64-0F53-F76E22636B0A}"/>
              </a:ext>
            </a:extLst>
          </p:cNvPr>
          <p:cNvSpPr>
            <a:spLocks noChangeAspect="1" noChangeArrowheads="1" noTextEdit="1"/>
          </p:cNvSpPr>
          <p:nvPr/>
        </p:nvSpPr>
        <p:spPr bwMode="auto">
          <a:xfrm>
            <a:off x="1525003" y="1495958"/>
            <a:ext cx="6772275" cy="4360985"/>
          </a:xfrm>
          <a:prstGeom prst="rect">
            <a:avLst/>
          </a:prstGeom>
          <a:noFill/>
          <a:ln w="9525">
            <a:noFill/>
            <a:miter lim="800000"/>
            <a:headEnd/>
            <a:tailEnd/>
          </a:ln>
        </p:spPr>
        <p:txBody>
          <a:bodyPr/>
          <a:lstStyle/>
          <a:p>
            <a:pPr>
              <a:defRPr/>
            </a:pPr>
            <a:endParaRPr lang="en-US" sz="1000">
              <a:solidFill>
                <a:srgbClr val="E6E6E6"/>
              </a:solidFill>
              <a:latin typeface="Arial"/>
            </a:endParaRPr>
          </a:p>
        </p:txBody>
      </p:sp>
      <p:graphicFrame>
        <p:nvGraphicFramePr>
          <p:cNvPr id="50" name="Group 38">
            <a:extLst>
              <a:ext uri="{FF2B5EF4-FFF2-40B4-BE49-F238E27FC236}">
                <a16:creationId xmlns:a16="http://schemas.microsoft.com/office/drawing/2014/main" id="{2E8ECD4C-FBB1-511D-2E06-98C59F88D1C8}"/>
              </a:ext>
            </a:extLst>
          </p:cNvPr>
          <p:cNvGraphicFramePr>
            <a:graphicFrameLocks noGrp="1"/>
          </p:cNvGraphicFramePr>
          <p:nvPr>
            <p:custDataLst>
              <p:tags r:id="rId1"/>
            </p:custDataLst>
            <p:extLst>
              <p:ext uri="{D42A27DB-BD31-4B8C-83A1-F6EECF244321}">
                <p14:modId xmlns:p14="http://schemas.microsoft.com/office/powerpoint/2010/main" val="18405568"/>
              </p:ext>
            </p:extLst>
          </p:nvPr>
        </p:nvGraphicFramePr>
        <p:xfrm>
          <a:off x="451320" y="1382937"/>
          <a:ext cx="4389961" cy="4830917"/>
        </p:xfrm>
        <a:graphic>
          <a:graphicData uri="http://schemas.openxmlformats.org/drawingml/2006/table">
            <a:tbl>
              <a:tblPr/>
              <a:tblGrid>
                <a:gridCol w="860652">
                  <a:extLst>
                    <a:ext uri="{9D8B030D-6E8A-4147-A177-3AD203B41FA5}">
                      <a16:colId xmlns:a16="http://schemas.microsoft.com/office/drawing/2014/main" val="20000"/>
                    </a:ext>
                  </a:extLst>
                </a:gridCol>
                <a:gridCol w="3529309">
                  <a:extLst>
                    <a:ext uri="{9D8B030D-6E8A-4147-A177-3AD203B41FA5}">
                      <a16:colId xmlns:a16="http://schemas.microsoft.com/office/drawing/2014/main" val="20001"/>
                    </a:ext>
                  </a:extLst>
                </a:gridCol>
              </a:tblGrid>
              <a:tr h="23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Listing date</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a:noFill/>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14 July 2025</a:t>
                      </a:r>
                      <a:endParaRPr kumimoji="0" lang="en-SG" sz="900" b="0" i="0" u="none" strike="noStrike" kern="1200" cap="none" normalizeH="0" baseline="0">
                        <a:ln>
                          <a:noFill/>
                        </a:ln>
                        <a:solidFill>
                          <a:srgbClr val="000000"/>
                        </a:solidFill>
                        <a:effectLst/>
                        <a:latin typeface="+mj-lt"/>
                        <a:ea typeface="+mn-ea"/>
                        <a:cs typeface="Arial"/>
                      </a:endParaRPr>
                    </a:p>
                  </a:txBody>
                  <a:tcPr marL="36000" marR="36000" marT="36000" marB="36000" horzOverflow="overflow">
                    <a:lnL>
                      <a:noFill/>
                    </a:lnL>
                    <a:lnR>
                      <a:noFill/>
                    </a:lnR>
                    <a:lnT>
                      <a:noFill/>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Issuer</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NTT DC REIT</a:t>
                      </a: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Offer type</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IPO (Reg-S)</a:t>
                      </a:r>
                      <a:endParaRPr kumimoji="0" lang="en-SG" sz="900" b="0" i="0" u="none" strike="noStrike" kern="1200" cap="none" normalizeH="0" baseline="0">
                        <a:ln>
                          <a:noFill/>
                        </a:ln>
                        <a:solidFill>
                          <a:srgbClr val="000000"/>
                        </a:solidFill>
                        <a:effectLst/>
                        <a:latin typeface="+mj-lt"/>
                        <a:ea typeface="+mn-ea"/>
                        <a:cs typeface="Arial"/>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933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Listing exchange</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Listing on the Mainboard of SGX-ST</a:t>
                      </a: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933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Market cap at IPO</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US$</a:t>
                      </a:r>
                      <a:r>
                        <a:rPr kumimoji="0" lang="en-SG" sz="900" b="0" i="0" u="none" strike="noStrike" kern="1200" cap="none" normalizeH="0" baseline="0">
                          <a:ln>
                            <a:noFill/>
                          </a:ln>
                          <a:solidFill>
                            <a:srgbClr val="000000"/>
                          </a:solidFill>
                          <a:effectLst/>
                          <a:latin typeface="+mj-lt"/>
                          <a:ea typeface="+mn-ea"/>
                          <a:cs typeface="Arial"/>
                        </a:rPr>
                        <a:t>1,030.2 million</a:t>
                      </a:r>
                      <a:endParaRPr kumimoji="0" lang="en-US" sz="900" b="0" i="0" u="none" strike="noStrike" kern="1200" cap="none" normalizeH="0" baseline="0">
                        <a:ln>
                          <a:noFill/>
                        </a:ln>
                        <a:solidFill>
                          <a:srgbClr val="000000"/>
                        </a:solidFill>
                        <a:effectLst/>
                        <a:latin typeface="+mj-lt"/>
                        <a:ea typeface="+mn-ea"/>
                        <a:cs typeface="Arial"/>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Issue size</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U$772.7 million </a:t>
                      </a:r>
                      <a:r>
                        <a:rPr kumimoji="0" lang="en-US" sz="900" b="0" i="0" u="none" strike="noStrike" kern="1200" cap="none" normalizeH="0" baseline="30000">
                          <a:ln>
                            <a:noFill/>
                          </a:ln>
                          <a:solidFill>
                            <a:srgbClr val="000000"/>
                          </a:solidFill>
                          <a:effectLst/>
                          <a:latin typeface="+mj-lt"/>
                          <a:ea typeface="+mn-ea"/>
                          <a:cs typeface="Arial"/>
                        </a:rPr>
                        <a:t>(1)</a:t>
                      </a:r>
                      <a:r>
                        <a:rPr kumimoji="0" lang="en-US" sz="900" b="0" i="0" u="none" strike="noStrike" kern="1200" cap="none" normalizeH="0" baseline="0">
                          <a:ln>
                            <a:noFill/>
                          </a:ln>
                          <a:solidFill>
                            <a:srgbClr val="000000"/>
                          </a:solidFill>
                          <a:effectLst/>
                          <a:latin typeface="+mj-lt"/>
                          <a:ea typeface="+mn-ea"/>
                          <a:cs typeface="Arial"/>
                        </a:rPr>
                        <a:t> (75.0% of IPO Market cap)</a:t>
                      </a:r>
                      <a:endParaRPr kumimoji="0" lang="en-SG" sz="900" b="0" i="0" u="none" strike="noStrike" kern="1200" cap="none" normalizeH="0" baseline="0">
                        <a:ln>
                          <a:noFill/>
                        </a:ln>
                        <a:solidFill>
                          <a:srgbClr val="000000"/>
                        </a:solidFill>
                        <a:effectLst/>
                        <a:latin typeface="+mj-lt"/>
                        <a:ea typeface="+mn-ea"/>
                        <a:cs typeface="Arial"/>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9607805"/>
                  </a:ext>
                </a:extLst>
              </a:tr>
              <a:tr h="12459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Offer structure</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Sponsor Stake: U$257.6 million (25.0% of IPO Market Capitalization)</a:t>
                      </a:r>
                    </a:p>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Base Offer: U$772.7 million (75.0% of IPO Market Capitalization)</a:t>
                      </a:r>
                    </a:p>
                    <a:p>
                      <a:pPr marL="360000" marR="0" lvl="1" indent="-144000" algn="l" defTabSz="914400" rtl="0" eaLnBrk="1" fontAlgn="base" latinLnBrk="0" hangingPunct="1">
                        <a:lnSpc>
                          <a:spcPct val="100000"/>
                        </a:lnSpc>
                        <a:spcBef>
                          <a:spcPts val="0"/>
                        </a:spcBef>
                        <a:spcAft>
                          <a:spcPts val="300"/>
                        </a:spcAft>
                        <a:buClrTx/>
                        <a:buSzPct val="100000"/>
                        <a:buFont typeface="Courier New" panose="02070309020205020404" pitchFamily="49" charset="0"/>
                        <a:buChar char="o"/>
                        <a:tabLst/>
                        <a:defRPr/>
                      </a:pPr>
                      <a:r>
                        <a:rPr lang="en-US" sz="900" b="0" kern="1200">
                          <a:solidFill>
                            <a:srgbClr val="000000"/>
                          </a:solidFill>
                          <a:latin typeface="+mj-lt"/>
                          <a:ea typeface="+mn-ea"/>
                          <a:cs typeface="Arial"/>
                        </a:rPr>
                        <a:t>Cornerstone: U$172.8 million (22.4% of Base Offer)</a:t>
                      </a:r>
                    </a:p>
                    <a:p>
                      <a:pPr marL="360000" marR="0" lvl="1" indent="-144000" algn="l" defTabSz="914400" rtl="0" eaLnBrk="1" fontAlgn="base" latinLnBrk="0" hangingPunct="1">
                        <a:lnSpc>
                          <a:spcPct val="100000"/>
                        </a:lnSpc>
                        <a:spcBef>
                          <a:spcPts val="0"/>
                        </a:spcBef>
                        <a:spcAft>
                          <a:spcPts val="300"/>
                        </a:spcAft>
                        <a:buClrTx/>
                        <a:buSzPct val="100000"/>
                        <a:buFont typeface="Courier New" panose="02070309020205020404" pitchFamily="49" charset="0"/>
                        <a:buChar char="o"/>
                        <a:tabLst/>
                        <a:defRPr/>
                      </a:pPr>
                      <a:r>
                        <a:rPr lang="en-US" sz="900" b="0" kern="1200">
                          <a:solidFill>
                            <a:srgbClr val="000000"/>
                          </a:solidFill>
                          <a:latin typeface="+mj-lt"/>
                          <a:ea typeface="+mn-ea"/>
                          <a:cs typeface="Arial"/>
                        </a:rPr>
                        <a:t>Placement: U$569.9 million (73.8% of Base Offer)</a:t>
                      </a:r>
                    </a:p>
                    <a:p>
                      <a:pPr marL="360000" marR="0" lvl="1" indent="-144000" algn="l" defTabSz="914400" rtl="0" eaLnBrk="1" fontAlgn="base" latinLnBrk="0" hangingPunct="1">
                        <a:lnSpc>
                          <a:spcPct val="100000"/>
                        </a:lnSpc>
                        <a:spcBef>
                          <a:spcPts val="0"/>
                        </a:spcBef>
                        <a:spcAft>
                          <a:spcPts val="300"/>
                        </a:spcAft>
                        <a:buClrTx/>
                        <a:buSzPct val="100000"/>
                        <a:buFont typeface="Courier New" panose="02070309020205020404" pitchFamily="49" charset="0"/>
                        <a:buChar char="o"/>
                        <a:tabLst/>
                        <a:defRPr/>
                      </a:pPr>
                      <a:r>
                        <a:rPr lang="en-US" sz="900" b="0" kern="1200">
                          <a:solidFill>
                            <a:srgbClr val="000000"/>
                          </a:solidFill>
                          <a:latin typeface="+mj-lt"/>
                          <a:ea typeface="+mn-ea"/>
                          <a:cs typeface="Arial"/>
                        </a:rPr>
                        <a:t>Retail: U$30.0 million (3.9% of Base Offer or 5.0% of Base Offer ex-Cornerstone)</a:t>
                      </a: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85192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Cornerstone investors</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defRPr/>
                      </a:pPr>
                      <a:r>
                        <a:rPr kumimoji="0" lang="en-US" sz="900" b="0" i="0" u="none" strike="noStrike" kern="1200" cap="none" normalizeH="0" baseline="0">
                          <a:ln>
                            <a:noFill/>
                          </a:ln>
                          <a:solidFill>
                            <a:srgbClr val="000000"/>
                          </a:solidFill>
                          <a:effectLst/>
                          <a:latin typeface="+mj-lt"/>
                          <a:ea typeface="+mn-ea"/>
                          <a:cs typeface="Arial"/>
                        </a:rPr>
                        <a:t>(1) GIC Private Ltd, (2) AM Squared Ltd, (3) Ghisallo Master Fund LP, (4) Hazelview Securities Inc., (5) Pinpoint Asset Management (Singapore) Pte. Ltd., (6) UBS AG Singapore Branch (on behalf of certain Wealth Management customers), and (7) Viridian Asset Management Ltd.</a:t>
                      </a: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15822049"/>
                  </a:ext>
                </a:extLst>
              </a:tr>
              <a:tr h="23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IPO price</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US" sz="900" b="0" i="0" u="none" strike="noStrike" kern="1200" cap="none" normalizeH="0" baseline="0">
                          <a:ln>
                            <a:noFill/>
                          </a:ln>
                          <a:solidFill>
                            <a:srgbClr val="000000"/>
                          </a:solidFill>
                          <a:effectLst/>
                          <a:latin typeface="+mj-lt"/>
                          <a:ea typeface="+mn-ea"/>
                          <a:cs typeface="Arial"/>
                        </a:rPr>
                        <a:t>U$1.00 per Unit</a:t>
                      </a: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933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SG" sz="900" b="1" i="0" u="none" strike="noStrike" cap="none" normalizeH="0" baseline="0">
                          <a:ln>
                            <a:noFill/>
                          </a:ln>
                          <a:solidFill>
                            <a:schemeClr val="tx1"/>
                          </a:solidFill>
                          <a:effectLst/>
                          <a:latin typeface="+mj-lt"/>
                          <a:cs typeface="Arial" charset="0"/>
                        </a:rPr>
                        <a:t>Annualized DPU yield</a:t>
                      </a: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defRPr/>
                      </a:pPr>
                      <a:r>
                        <a:rPr kumimoji="0" lang="en-SG" sz="900" b="0" i="0" u="none" strike="noStrike" kern="0" cap="none" spc="0" normalizeH="0">
                          <a:ln>
                            <a:noFill/>
                          </a:ln>
                          <a:solidFill>
                            <a:schemeClr val="tx1"/>
                          </a:solidFill>
                          <a:effectLst/>
                          <a:uLnTx/>
                          <a:uFillTx/>
                          <a:latin typeface="+mj-lt"/>
                          <a:ea typeface="+mn-ea"/>
                          <a:cs typeface="+mn-cs"/>
                        </a:rPr>
                        <a:t>7.50% (for FY9M25/26) and 7.80% (for FY26/27) </a:t>
                      </a:r>
                    </a:p>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endParaRPr kumimoji="0" lang="en-SG" sz="900" b="0" i="0" u="none" strike="noStrike" kern="1200" cap="none" normalizeH="0" baseline="0">
                        <a:ln>
                          <a:noFill/>
                        </a:ln>
                        <a:solidFill>
                          <a:srgbClr val="000000"/>
                        </a:solidFill>
                        <a:effectLst/>
                        <a:latin typeface="+mj-lt"/>
                        <a:ea typeface="+mn-ea"/>
                        <a:cs typeface="Arial"/>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8933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tx1"/>
                          </a:solidFill>
                          <a:effectLst/>
                          <a:latin typeface="+mj-lt"/>
                          <a:cs typeface="Arial" charset="0"/>
                        </a:rPr>
                        <a:t>Bank syndicate</a:t>
                      </a:r>
                      <a:endParaRPr kumimoji="0" lang="en-SG" sz="900" b="1" i="0" u="none" strike="noStrike" cap="none" normalizeH="0" baseline="0">
                        <a:ln>
                          <a:noFill/>
                        </a:ln>
                        <a:solidFill>
                          <a:schemeClr val="tx1"/>
                        </a:solidFill>
                        <a:effectLst/>
                        <a:latin typeface="+mj-lt"/>
                        <a:cs typeface="Arial" charset="0"/>
                      </a:endParaRP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solidFill>
                      <a:sysClr val="window" lastClr="FFFFFF">
                        <a:lumMod val="85000"/>
                      </a:sysClr>
                    </a:solidFill>
                  </a:tcPr>
                </a:tc>
                <a:tc>
                  <a:txBody>
                    <a:bodyPr/>
                    <a:lstStyle/>
                    <a:p>
                      <a:pPr marL="144000" marR="0" lvl="0" indent="-144000" algn="l" defTabSz="914400" rtl="0" eaLnBrk="1" fontAlgn="base" latinLnBrk="0" hangingPunct="1">
                        <a:lnSpc>
                          <a:spcPct val="100000"/>
                        </a:lnSpc>
                        <a:spcBef>
                          <a:spcPct val="0"/>
                        </a:spcBef>
                        <a:spcAft>
                          <a:spcPct val="0"/>
                        </a:spcAft>
                        <a:buClrTx/>
                        <a:buSzPct val="100000"/>
                        <a:buFont typeface="Wingdings" pitchFamily="2" charset="2"/>
                        <a:buChar char="§"/>
                        <a:tabLst/>
                      </a:pPr>
                      <a:r>
                        <a:rPr kumimoji="0" lang="en-SG" sz="900" b="1" i="0" u="none" strike="noStrike" kern="1200" cap="none" normalizeH="0" baseline="0">
                          <a:ln>
                            <a:noFill/>
                          </a:ln>
                          <a:solidFill>
                            <a:srgbClr val="000000"/>
                          </a:solidFill>
                          <a:effectLst/>
                          <a:latin typeface="+mj-lt"/>
                          <a:ea typeface="+mn-ea"/>
                          <a:cs typeface="Arial"/>
                        </a:rPr>
                        <a:t>DBS</a:t>
                      </a:r>
                      <a:r>
                        <a:rPr kumimoji="0" lang="en-SG" sz="900" b="0" i="0" u="none" strike="noStrike" kern="1200" cap="none" normalizeH="0" baseline="0">
                          <a:ln>
                            <a:noFill/>
                          </a:ln>
                          <a:solidFill>
                            <a:srgbClr val="000000"/>
                          </a:solidFill>
                          <a:effectLst/>
                          <a:latin typeface="+mj-lt"/>
                          <a:ea typeface="+mn-ea"/>
                          <a:cs typeface="Arial"/>
                        </a:rPr>
                        <a:t>, BofA, UBS, Mizuho, Citi</a:t>
                      </a:r>
                    </a:p>
                  </a:txBody>
                  <a:tcPr marL="36000" marR="36000" marT="36000" marB="36000" horzOverflow="overflow">
                    <a:lnL>
                      <a:noFill/>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1" name="Content Placeholder 2">
            <a:extLst>
              <a:ext uri="{FF2B5EF4-FFF2-40B4-BE49-F238E27FC236}">
                <a16:creationId xmlns:a16="http://schemas.microsoft.com/office/drawing/2014/main" id="{BD0162FF-23F2-C6EA-FBD6-15056C88402A}"/>
              </a:ext>
            </a:extLst>
          </p:cNvPr>
          <p:cNvSpPr txBox="1">
            <a:spLocks/>
          </p:cNvSpPr>
          <p:nvPr/>
        </p:nvSpPr>
        <p:spPr bwMode="gray">
          <a:xfrm>
            <a:off x="5063038" y="1361698"/>
            <a:ext cx="4389961" cy="1771446"/>
          </a:xfrm>
          <a:prstGeom prst="rect">
            <a:avLst/>
          </a:prstGeom>
          <a:noFill/>
          <a:ln w="9525">
            <a:noFill/>
            <a:miter lim="800000"/>
            <a:headEnd/>
            <a:tailEnd/>
          </a:ln>
        </p:spPr>
        <p:txBody>
          <a:bodyPr vert="horz" wrap="square" lIns="38957" tIns="38957" rIns="38957" bIns="38957" numCol="1" anchor="t" anchorCtr="0" compatLnSpc="1">
            <a:prstTxWarp prst="textNoShape">
              <a:avLst/>
            </a:prstTxWarp>
            <a:spAutoFit/>
          </a:bodyPr>
          <a:lstStyle/>
          <a:p>
            <a:pPr marL="144000" indent="-144000">
              <a:spcBef>
                <a:spcPts val="0"/>
              </a:spcBef>
              <a:spcAft>
                <a:spcPts val="600"/>
              </a:spcAft>
              <a:buSzPct val="100000"/>
              <a:buFont typeface="Wingdings" pitchFamily="2" charset="2"/>
              <a:buChar char="§"/>
              <a:defRPr/>
            </a:pPr>
            <a:r>
              <a:rPr lang="en-US" sz="900" b="0">
                <a:solidFill>
                  <a:srgbClr val="000000"/>
                </a:solidFill>
                <a:latin typeface="+mj-lt"/>
                <a:cs typeface="Arial"/>
              </a:rPr>
              <a:t>DBS secured a very significant (U$100.8m) cornerstone investment from GIC – the very first investment by GIC in a SGX listed REIT IPO</a:t>
            </a:r>
          </a:p>
          <a:p>
            <a:pPr marL="144000" indent="-144000">
              <a:spcBef>
                <a:spcPts val="0"/>
              </a:spcBef>
              <a:spcAft>
                <a:spcPts val="600"/>
              </a:spcAft>
              <a:buSzPct val="100000"/>
              <a:buFont typeface="Wingdings" pitchFamily="2" charset="2"/>
              <a:buChar char="§"/>
              <a:defRPr/>
            </a:pPr>
            <a:r>
              <a:rPr lang="en-US" sz="900" b="0">
                <a:solidFill>
                  <a:srgbClr val="000000"/>
                </a:solidFill>
                <a:latin typeface="+mj-lt"/>
                <a:cs typeface="Arial"/>
              </a:rPr>
              <a:t>GIC’s investment was pivotal to the IPO's success, injecting substantial capital to enhance deal certainty and providing critical market validation that significantly boosted investor confidence</a:t>
            </a:r>
          </a:p>
          <a:p>
            <a:pPr marL="144000" indent="-144000">
              <a:spcBef>
                <a:spcPts val="0"/>
              </a:spcBef>
              <a:spcAft>
                <a:spcPts val="600"/>
              </a:spcAft>
              <a:buSzPct val="100000"/>
              <a:buFont typeface="Wingdings" pitchFamily="2" charset="2"/>
              <a:buChar char="§"/>
              <a:defRPr/>
            </a:pPr>
            <a:r>
              <a:rPr lang="en-US" sz="900" b="0">
                <a:solidFill>
                  <a:srgbClr val="000000"/>
                </a:solidFill>
                <a:latin typeface="+mj-lt"/>
                <a:cs typeface="Arial"/>
              </a:rPr>
              <a:t>Final placement book was approximately 4.0x covered</a:t>
            </a:r>
          </a:p>
          <a:p>
            <a:pPr marL="144000" indent="-144000">
              <a:spcBef>
                <a:spcPts val="0"/>
              </a:spcBef>
              <a:spcAft>
                <a:spcPts val="600"/>
              </a:spcAft>
              <a:buSzPct val="100000"/>
              <a:buFont typeface="Wingdings" pitchFamily="2" charset="2"/>
              <a:buChar char="§"/>
              <a:defRPr/>
            </a:pPr>
            <a:r>
              <a:rPr lang="en-US" sz="900" b="0">
                <a:solidFill>
                  <a:srgbClr val="000000"/>
                </a:solidFill>
                <a:latin typeface="+mj-lt"/>
                <a:cs typeface="Arial"/>
              </a:rPr>
              <a:t>Allocation was skewed towards the long only investors / real estate specialist funds (47%), and the rest to multi-strategy investors and private wealth</a:t>
            </a:r>
          </a:p>
          <a:p>
            <a:pPr marL="144000" indent="-144000">
              <a:spcBef>
                <a:spcPts val="0"/>
              </a:spcBef>
              <a:spcAft>
                <a:spcPts val="600"/>
              </a:spcAft>
              <a:buSzPct val="100000"/>
              <a:buFont typeface="Wingdings" pitchFamily="2" charset="2"/>
              <a:buChar char="§"/>
              <a:defRPr/>
            </a:pPr>
            <a:r>
              <a:rPr lang="en-US" sz="900" b="0">
                <a:solidFill>
                  <a:srgbClr val="000000"/>
                </a:solidFill>
                <a:latin typeface="+mj-lt"/>
                <a:cs typeface="Arial"/>
              </a:rPr>
              <a:t>Public Offer was approximately 9.8x subscribed, in spite of the sizable public offer tranche of S$30.0 million and a short (2.5 day) public offering window</a:t>
            </a:r>
          </a:p>
        </p:txBody>
      </p:sp>
      <p:sp>
        <p:nvSpPr>
          <p:cNvPr id="52" name="Content Placeholder 2">
            <a:extLst>
              <a:ext uri="{FF2B5EF4-FFF2-40B4-BE49-F238E27FC236}">
                <a16:creationId xmlns:a16="http://schemas.microsoft.com/office/drawing/2014/main" id="{DF56BD18-8C6C-E320-5356-D44D20A5B265}"/>
              </a:ext>
            </a:extLst>
          </p:cNvPr>
          <p:cNvSpPr txBox="1">
            <a:spLocks/>
          </p:cNvSpPr>
          <p:nvPr/>
        </p:nvSpPr>
        <p:spPr bwMode="gray">
          <a:xfrm>
            <a:off x="5023981" y="3754628"/>
            <a:ext cx="3759959" cy="413437"/>
          </a:xfrm>
          <a:prstGeom prst="rect">
            <a:avLst/>
          </a:prstGeom>
          <a:noFill/>
          <a:ln w="9525">
            <a:noFill/>
            <a:miter lim="800000"/>
            <a:headEnd/>
            <a:tailEnd/>
          </a:ln>
        </p:spPr>
        <p:txBody>
          <a:bodyPr vert="horz" wrap="square" lIns="38957" tIns="38957" rIns="38957" bIns="38957" numCol="1" anchor="ctr" anchorCtr="0" compatLnSpc="1">
            <a:prstTxWarp prst="textNoShape">
              <a:avLst/>
            </a:prstTxWarp>
          </a:bodyPr>
          <a:lstStyle/>
          <a:p>
            <a:pPr algn="ctr">
              <a:spcBef>
                <a:spcPts val="300"/>
              </a:spcBef>
              <a:spcAft>
                <a:spcPts val="300"/>
              </a:spcAft>
              <a:buSzPct val="100000"/>
              <a:defRPr/>
            </a:pPr>
            <a:r>
              <a:rPr lang="en-GB" sz="900">
                <a:solidFill>
                  <a:srgbClr val="000000"/>
                </a:solidFill>
                <a:latin typeface="+mj-lt"/>
              </a:rPr>
              <a:t>Cornerstone demand by DBS – </a:t>
            </a:r>
            <a:r>
              <a:rPr lang="en-US" sz="900" b="0">
                <a:solidFill>
                  <a:srgbClr val="000000"/>
                </a:solidFill>
                <a:latin typeface="+mj-lt"/>
                <a:cs typeface="Arial"/>
              </a:rPr>
              <a:t>DBS procured U$100.8m </a:t>
            </a:r>
            <a:br>
              <a:rPr lang="en-US" sz="900" b="0">
                <a:solidFill>
                  <a:srgbClr val="000000"/>
                </a:solidFill>
                <a:latin typeface="+mj-lt"/>
                <a:cs typeface="Arial"/>
              </a:rPr>
            </a:br>
            <a:r>
              <a:rPr lang="en-US" sz="900" b="0">
                <a:solidFill>
                  <a:srgbClr val="000000"/>
                </a:solidFill>
                <a:latin typeface="+mj-lt"/>
                <a:cs typeface="Arial"/>
              </a:rPr>
              <a:t>cornerstone demand from GIC</a:t>
            </a:r>
          </a:p>
        </p:txBody>
      </p:sp>
      <p:pic>
        <p:nvPicPr>
          <p:cNvPr id="12" name="Picture 11">
            <a:extLst>
              <a:ext uri="{FF2B5EF4-FFF2-40B4-BE49-F238E27FC236}">
                <a16:creationId xmlns:a16="http://schemas.microsoft.com/office/drawing/2014/main" id="{85683623-DD63-2191-E650-351E1683FFFB}"/>
              </a:ext>
            </a:extLst>
          </p:cNvPr>
          <p:cNvPicPr>
            <a:picLocks noChangeAspect="1"/>
          </p:cNvPicPr>
          <p:nvPr/>
        </p:nvPicPr>
        <p:blipFill>
          <a:blip r:embed="rId3"/>
          <a:stretch>
            <a:fillRect/>
          </a:stretch>
        </p:blipFill>
        <p:spPr>
          <a:xfrm>
            <a:off x="8740959" y="3767618"/>
            <a:ext cx="630000" cy="312584"/>
          </a:xfrm>
          <a:prstGeom prst="rect">
            <a:avLst/>
          </a:prstGeom>
        </p:spPr>
      </p:pic>
      <p:grpSp>
        <p:nvGrpSpPr>
          <p:cNvPr id="8" name="Group 7">
            <a:extLst>
              <a:ext uri="{FF2B5EF4-FFF2-40B4-BE49-F238E27FC236}">
                <a16:creationId xmlns:a16="http://schemas.microsoft.com/office/drawing/2014/main" id="{7B6D1FAF-8FF8-3671-5B74-D59279A31C3E}"/>
              </a:ext>
            </a:extLst>
          </p:cNvPr>
          <p:cNvGrpSpPr/>
          <p:nvPr/>
        </p:nvGrpSpPr>
        <p:grpSpPr>
          <a:xfrm>
            <a:off x="4196014" y="4266143"/>
            <a:ext cx="3960000" cy="2229603"/>
            <a:chOff x="4196014" y="4344254"/>
            <a:chExt cx="3960000" cy="2229603"/>
          </a:xfrm>
        </p:grpSpPr>
        <p:graphicFrame>
          <p:nvGraphicFramePr>
            <p:cNvPr id="26" name="Chart 25">
              <a:extLst>
                <a:ext uri="{FF2B5EF4-FFF2-40B4-BE49-F238E27FC236}">
                  <a16:creationId xmlns:a16="http://schemas.microsoft.com/office/drawing/2014/main" id="{E681840B-4D9B-919B-E9DC-2331682C2F08}"/>
                </a:ext>
              </a:extLst>
            </p:cNvPr>
            <p:cNvGraphicFramePr>
              <a:graphicFrameLocks/>
            </p:cNvGraphicFramePr>
            <p:nvPr>
              <p:extLst>
                <p:ext uri="{D42A27DB-BD31-4B8C-83A1-F6EECF244321}">
                  <p14:modId xmlns:p14="http://schemas.microsoft.com/office/powerpoint/2010/main" val="29485649"/>
                </p:ext>
              </p:extLst>
            </p:nvPr>
          </p:nvGraphicFramePr>
          <p:xfrm>
            <a:off x="4196014" y="4413857"/>
            <a:ext cx="3960000" cy="2160000"/>
          </p:xfrm>
          <a:graphic>
            <a:graphicData uri="http://schemas.openxmlformats.org/drawingml/2006/chart">
              <c:chart xmlns:c="http://schemas.openxmlformats.org/drawingml/2006/chart" xmlns:r="http://schemas.openxmlformats.org/officeDocument/2006/relationships" r:id="rId4"/>
            </a:graphicData>
          </a:graphic>
        </p:graphicFrame>
        <p:sp>
          <p:nvSpPr>
            <p:cNvPr id="34" name="TextBox 33">
              <a:extLst>
                <a:ext uri="{FF2B5EF4-FFF2-40B4-BE49-F238E27FC236}">
                  <a16:creationId xmlns:a16="http://schemas.microsoft.com/office/drawing/2014/main" id="{B4B2FB07-E85F-E5CA-400E-DF97A30FA038}"/>
                </a:ext>
              </a:extLst>
            </p:cNvPr>
            <p:cNvSpPr txBox="1"/>
            <p:nvPr/>
          </p:nvSpPr>
          <p:spPr>
            <a:xfrm>
              <a:off x="5571637" y="4344254"/>
              <a:ext cx="1208755" cy="249220"/>
            </a:xfrm>
            <a:prstGeom prst="rect">
              <a:avLst/>
            </a:prstGeom>
            <a:solidFill>
              <a:schemeClr val="bg1">
                <a:lumMod val="95000"/>
                <a:alpha val="80000"/>
              </a:schemeClr>
            </a:solidFill>
          </p:spPr>
          <p:txBody>
            <a:bodyPr wrap="square" lIns="18000" tIns="18000" rIns="18000" bIns="18000" rtlCol="0" anchor="ctr">
              <a:noAutofit/>
            </a:bodyPr>
            <a:lstStyle/>
            <a:p>
              <a:pPr algn="ctr"/>
              <a:r>
                <a:rPr lang="en-US" sz="900" b="0">
                  <a:solidFill>
                    <a:schemeClr val="tx1"/>
                  </a:solidFill>
                </a:rPr>
                <a:t>Demand</a:t>
              </a:r>
              <a:endParaRPr lang="en-SG" sz="900" b="0">
                <a:solidFill>
                  <a:schemeClr val="tx1"/>
                </a:solidFill>
              </a:endParaRPr>
            </a:p>
          </p:txBody>
        </p:sp>
      </p:grpSp>
      <p:grpSp>
        <p:nvGrpSpPr>
          <p:cNvPr id="7" name="Group 6">
            <a:extLst>
              <a:ext uri="{FF2B5EF4-FFF2-40B4-BE49-F238E27FC236}">
                <a16:creationId xmlns:a16="http://schemas.microsoft.com/office/drawing/2014/main" id="{DD9900D4-6A98-344B-DA08-C778D83ECD2E}"/>
              </a:ext>
            </a:extLst>
          </p:cNvPr>
          <p:cNvGrpSpPr/>
          <p:nvPr/>
        </p:nvGrpSpPr>
        <p:grpSpPr>
          <a:xfrm>
            <a:off x="6351921" y="4255231"/>
            <a:ext cx="3960000" cy="2240515"/>
            <a:chOff x="6631603" y="4333342"/>
            <a:chExt cx="3960000" cy="2240515"/>
          </a:xfrm>
        </p:grpSpPr>
        <p:graphicFrame>
          <p:nvGraphicFramePr>
            <p:cNvPr id="28" name="Chart 27">
              <a:extLst>
                <a:ext uri="{FF2B5EF4-FFF2-40B4-BE49-F238E27FC236}">
                  <a16:creationId xmlns:a16="http://schemas.microsoft.com/office/drawing/2014/main" id="{46A9E135-49F8-7351-6D0F-D6A63AD246C3}"/>
                </a:ext>
              </a:extLst>
            </p:cNvPr>
            <p:cNvGraphicFramePr>
              <a:graphicFrameLocks/>
            </p:cNvGraphicFramePr>
            <p:nvPr>
              <p:extLst>
                <p:ext uri="{D42A27DB-BD31-4B8C-83A1-F6EECF244321}">
                  <p14:modId xmlns:p14="http://schemas.microsoft.com/office/powerpoint/2010/main" val="392066460"/>
                </p:ext>
              </p:extLst>
            </p:nvPr>
          </p:nvGraphicFramePr>
          <p:xfrm>
            <a:off x="6631603" y="4413857"/>
            <a:ext cx="3960000" cy="2160000"/>
          </p:xfrm>
          <a:graphic>
            <a:graphicData uri="http://schemas.openxmlformats.org/drawingml/2006/chart">
              <c:chart xmlns:c="http://schemas.openxmlformats.org/drawingml/2006/chart" xmlns:r="http://schemas.openxmlformats.org/officeDocument/2006/relationships" r:id="rId5"/>
            </a:graphicData>
          </a:graphic>
        </p:graphicFrame>
        <p:sp>
          <p:nvSpPr>
            <p:cNvPr id="35" name="TextBox 34">
              <a:extLst>
                <a:ext uri="{FF2B5EF4-FFF2-40B4-BE49-F238E27FC236}">
                  <a16:creationId xmlns:a16="http://schemas.microsoft.com/office/drawing/2014/main" id="{4604F3C3-A445-288A-D501-4E336ACE196A}"/>
                </a:ext>
              </a:extLst>
            </p:cNvPr>
            <p:cNvSpPr txBox="1"/>
            <p:nvPr/>
          </p:nvSpPr>
          <p:spPr>
            <a:xfrm>
              <a:off x="8061847" y="4333342"/>
              <a:ext cx="1208755" cy="249220"/>
            </a:xfrm>
            <a:prstGeom prst="rect">
              <a:avLst/>
            </a:prstGeom>
            <a:solidFill>
              <a:schemeClr val="bg1">
                <a:lumMod val="95000"/>
                <a:alpha val="80000"/>
              </a:schemeClr>
            </a:solidFill>
          </p:spPr>
          <p:txBody>
            <a:bodyPr wrap="square" lIns="18000" tIns="18000" rIns="18000" bIns="18000" rtlCol="0" anchor="ctr">
              <a:noAutofit/>
            </a:bodyPr>
            <a:lstStyle/>
            <a:p>
              <a:pPr algn="ctr"/>
              <a:r>
                <a:rPr lang="en-US" sz="900" b="0">
                  <a:solidFill>
                    <a:schemeClr val="tx1"/>
                  </a:solidFill>
                </a:rPr>
                <a:t>Allocation</a:t>
              </a:r>
              <a:endParaRPr lang="en-SG" sz="900" b="0">
                <a:solidFill>
                  <a:schemeClr val="tx1"/>
                </a:solidFill>
              </a:endParaRPr>
            </a:p>
          </p:txBody>
        </p:sp>
      </p:grpSp>
      <p:sp>
        <p:nvSpPr>
          <p:cNvPr id="2" name="TextBox 1">
            <a:extLst>
              <a:ext uri="{FF2B5EF4-FFF2-40B4-BE49-F238E27FC236}">
                <a16:creationId xmlns:a16="http://schemas.microsoft.com/office/drawing/2014/main" id="{517D7C22-6CCB-36C2-3D9E-55CE7729AFE8}"/>
              </a:ext>
            </a:extLst>
          </p:cNvPr>
          <p:cNvSpPr txBox="1"/>
          <p:nvPr/>
        </p:nvSpPr>
        <p:spPr>
          <a:xfrm>
            <a:off x="5058986" y="1001057"/>
            <a:ext cx="4389961" cy="216396"/>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0" rIns="36000" bIns="0" rtlCol="0" anchor="ctr">
            <a:spAutoFit/>
          </a:bodyPr>
          <a:lstStyle/>
          <a:p>
            <a:pPr algn="ctr">
              <a:spcAft>
                <a:spcPts val="0"/>
              </a:spcAft>
            </a:pPr>
            <a:r>
              <a:rPr lang="en-US" sz="1000">
                <a:solidFill>
                  <a:schemeClr val="bg1"/>
                </a:solidFill>
              </a:rPr>
              <a:t>Transaction Highlights</a:t>
            </a:r>
            <a:endParaRPr lang="en-SG" sz="1000" b="0" i="1">
              <a:solidFill>
                <a:schemeClr val="bg1"/>
              </a:solidFill>
            </a:endParaRPr>
          </a:p>
        </p:txBody>
      </p:sp>
      <p:sp>
        <p:nvSpPr>
          <p:cNvPr id="3" name="TextBox 2">
            <a:extLst>
              <a:ext uri="{FF2B5EF4-FFF2-40B4-BE49-F238E27FC236}">
                <a16:creationId xmlns:a16="http://schemas.microsoft.com/office/drawing/2014/main" id="{7FE62B34-7F0C-04CC-897C-6875BE0313DC}"/>
              </a:ext>
            </a:extLst>
          </p:cNvPr>
          <p:cNvSpPr txBox="1"/>
          <p:nvPr/>
        </p:nvSpPr>
        <p:spPr>
          <a:xfrm>
            <a:off x="452437" y="1001057"/>
            <a:ext cx="4389961" cy="216396"/>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0" rIns="36000" bIns="0" rtlCol="0" anchor="ctr">
            <a:spAutoFit/>
          </a:bodyPr>
          <a:lstStyle/>
          <a:p>
            <a:pPr algn="ctr">
              <a:spcAft>
                <a:spcPts val="0"/>
              </a:spcAft>
            </a:pPr>
            <a:r>
              <a:rPr lang="en-US" sz="1000">
                <a:solidFill>
                  <a:schemeClr val="bg1"/>
                </a:solidFill>
              </a:rPr>
              <a:t>Transaction Overview</a:t>
            </a:r>
          </a:p>
        </p:txBody>
      </p:sp>
      <p:sp>
        <p:nvSpPr>
          <p:cNvPr id="5" name="TextBox 4">
            <a:extLst>
              <a:ext uri="{FF2B5EF4-FFF2-40B4-BE49-F238E27FC236}">
                <a16:creationId xmlns:a16="http://schemas.microsoft.com/office/drawing/2014/main" id="{1E9790B7-CA13-C54B-181B-E8C22567A0D6}"/>
              </a:ext>
            </a:extLst>
          </p:cNvPr>
          <p:cNvSpPr txBox="1"/>
          <p:nvPr/>
        </p:nvSpPr>
        <p:spPr>
          <a:xfrm>
            <a:off x="5058986" y="3445669"/>
            <a:ext cx="4389961" cy="216396"/>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0" rIns="36000" bIns="0" rtlCol="0" anchor="ctr">
            <a:spAutoFit/>
          </a:bodyPr>
          <a:lstStyle/>
          <a:p>
            <a:pPr algn="ctr">
              <a:spcAft>
                <a:spcPts val="0"/>
              </a:spcAft>
            </a:pPr>
            <a:r>
              <a:rPr lang="en-US" sz="1000">
                <a:solidFill>
                  <a:schemeClr val="bg1"/>
                </a:solidFill>
              </a:rPr>
              <a:t>Investor Demand</a:t>
            </a:r>
            <a:endParaRPr lang="en-SG" sz="1000" b="0" i="1">
              <a:solidFill>
                <a:schemeClr val="bg1"/>
              </a:solidFill>
            </a:endParaRPr>
          </a:p>
        </p:txBody>
      </p:sp>
    </p:spTree>
    <p:extLst>
      <p:ext uri="{BB962C8B-B14F-4D97-AF65-F5344CB8AC3E}">
        <p14:creationId xmlns:p14="http://schemas.microsoft.com/office/powerpoint/2010/main" val="726672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ABAF-1D0C-028F-3C59-369DAE8659F3}"/>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6344183A-65E6-8337-53A8-2C94D2E76EDE}"/>
              </a:ext>
            </a:extLst>
          </p:cNvPr>
          <p:cNvGraphicFramePr>
            <a:graphicFrameLocks noGrp="1"/>
          </p:cNvGraphicFramePr>
          <p:nvPr/>
        </p:nvGraphicFramePr>
        <p:xfrm>
          <a:off x="4932680" y="1192531"/>
          <a:ext cx="4566920" cy="1044240"/>
        </p:xfrm>
        <a:graphic>
          <a:graphicData uri="http://schemas.openxmlformats.org/drawingml/2006/table">
            <a:tbl>
              <a:tblPr firstRow="1" bandRow="1">
                <a:tableStyleId>{5C22544A-7EE6-4342-B048-85BDC9FD1C3A}</a:tableStyleId>
              </a:tblPr>
              <a:tblGrid>
                <a:gridCol w="506095">
                  <a:extLst>
                    <a:ext uri="{9D8B030D-6E8A-4147-A177-3AD203B41FA5}">
                      <a16:colId xmlns:a16="http://schemas.microsoft.com/office/drawing/2014/main" val="481439569"/>
                    </a:ext>
                  </a:extLst>
                </a:gridCol>
                <a:gridCol w="4060825">
                  <a:extLst>
                    <a:ext uri="{9D8B030D-6E8A-4147-A177-3AD203B41FA5}">
                      <a16:colId xmlns:a16="http://schemas.microsoft.com/office/drawing/2014/main" val="4036029720"/>
                    </a:ext>
                  </a:extLst>
                </a:gridCol>
              </a:tblGrid>
              <a:tr h="324000">
                <a:tc>
                  <a:txBody>
                    <a:bodyPr/>
                    <a:lstStyle/>
                    <a:p>
                      <a:endParaRPr lang="en-SG" sz="1000"/>
                    </a:p>
                  </a:txBody>
                  <a:tcPr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1000" b="0">
                          <a:solidFill>
                            <a:schemeClr val="tx1"/>
                          </a:solidFill>
                        </a:rPr>
                        <a:t>First pure-play S-REIT in the living sector</a:t>
                      </a:r>
                    </a:p>
                  </a:txBody>
                  <a:tcPr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474062"/>
                  </a:ext>
                </a:extLst>
              </a:tr>
              <a:tr h="324000">
                <a:tc>
                  <a:txBody>
                    <a:bodyPr/>
                    <a:lstStyle/>
                    <a:p>
                      <a:endParaRPr lang="en-SG" sz="1000"/>
                    </a:p>
                  </a:txBody>
                  <a:tcPr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1000" b="0">
                          <a:solidFill>
                            <a:schemeClr val="tx1"/>
                          </a:solidFill>
                        </a:rPr>
                        <a:t>Singapore-focused exposure in a resilient asset class with strong industry demand fundamentals</a:t>
                      </a:r>
                    </a:p>
                  </a:txBody>
                  <a:tcPr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2337942"/>
                  </a:ext>
                </a:extLst>
              </a:tr>
              <a:tr h="324000">
                <a:tc>
                  <a:txBody>
                    <a:bodyPr/>
                    <a:lstStyle/>
                    <a:p>
                      <a:endParaRPr lang="en-SG" sz="1000"/>
                    </a:p>
                  </a:txBody>
                  <a:tcPr anchor="ctr">
                    <a:lnL w="12700" cmpd="sng">
                      <a:noFill/>
                    </a:lnL>
                    <a:lnR w="12700" cmpd="sng">
                      <a:noFill/>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sz="1000" b="0">
                          <a:solidFill>
                            <a:schemeClr val="tx1"/>
                          </a:solidFill>
                        </a:rPr>
                        <a:t>Attractive valuation with low gearing and AEI upsides to drive growth</a:t>
                      </a:r>
                    </a:p>
                  </a:txBody>
                  <a:tcPr anchor="ctr">
                    <a:lnL w="12700" cmpd="sng">
                      <a:noFill/>
                    </a:lnL>
                    <a:lnR w="12700" cmpd="sng">
                      <a:noFill/>
                    </a:lnR>
                    <a:lnT w="381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1162361"/>
                  </a:ext>
                </a:extLst>
              </a:tr>
            </a:tbl>
          </a:graphicData>
        </a:graphic>
      </p:graphicFrame>
      <p:sp>
        <p:nvSpPr>
          <p:cNvPr id="4" name="Text Placeholder 3">
            <a:extLst>
              <a:ext uri="{FF2B5EF4-FFF2-40B4-BE49-F238E27FC236}">
                <a16:creationId xmlns:a16="http://schemas.microsoft.com/office/drawing/2014/main" id="{2A9F36FB-5A35-9F04-F3E4-D9AD5478703C}"/>
              </a:ext>
            </a:extLst>
          </p:cNvPr>
          <p:cNvSpPr>
            <a:spLocks noGrp="1"/>
          </p:cNvSpPr>
          <p:nvPr>
            <p:ph type="body" sz="quarter" idx="46"/>
          </p:nvPr>
        </p:nvSpPr>
        <p:spPr/>
        <p:txBody>
          <a:bodyPr/>
          <a:lstStyle/>
          <a:p>
            <a:pPr marL="0" indent="0">
              <a:buNone/>
            </a:pPr>
            <a:r>
              <a:rPr lang="en-US" sz="800"/>
              <a:t>Source: Bloomberg as at 14 Nov 2025, Centurion Accommodation REIT Publications</a:t>
            </a:r>
            <a:endParaRPr lang="en-SG" sz="800"/>
          </a:p>
        </p:txBody>
      </p:sp>
      <p:graphicFrame>
        <p:nvGraphicFramePr>
          <p:cNvPr id="5" name="Table 4">
            <a:extLst>
              <a:ext uri="{FF2B5EF4-FFF2-40B4-BE49-F238E27FC236}">
                <a16:creationId xmlns:a16="http://schemas.microsoft.com/office/drawing/2014/main" id="{4C696480-B6B9-7908-08C5-FDD05162D678}"/>
              </a:ext>
            </a:extLst>
          </p:cNvPr>
          <p:cNvGraphicFramePr>
            <a:graphicFrameLocks noGrp="1"/>
          </p:cNvGraphicFramePr>
          <p:nvPr>
            <p:custDataLst>
              <p:tags r:id="rId1"/>
            </p:custDataLst>
            <p:extLst>
              <p:ext uri="{D42A27DB-BD31-4B8C-83A1-F6EECF244321}">
                <p14:modId xmlns:p14="http://schemas.microsoft.com/office/powerpoint/2010/main" val="3215320609"/>
              </p:ext>
            </p:extLst>
          </p:nvPr>
        </p:nvGraphicFramePr>
        <p:xfrm>
          <a:off x="468415" y="1286035"/>
          <a:ext cx="4181056" cy="4893275"/>
        </p:xfrm>
        <a:graphic>
          <a:graphicData uri="http://schemas.openxmlformats.org/drawingml/2006/table">
            <a:tbl>
              <a:tblPr firstRow="1" bandRow="1"/>
              <a:tblGrid>
                <a:gridCol w="1057453">
                  <a:extLst>
                    <a:ext uri="{9D8B030D-6E8A-4147-A177-3AD203B41FA5}">
                      <a16:colId xmlns:a16="http://schemas.microsoft.com/office/drawing/2014/main" val="1642412872"/>
                    </a:ext>
                  </a:extLst>
                </a:gridCol>
                <a:gridCol w="3123603">
                  <a:extLst>
                    <a:ext uri="{9D8B030D-6E8A-4147-A177-3AD203B41FA5}">
                      <a16:colId xmlns:a16="http://schemas.microsoft.com/office/drawing/2014/main" val="1492864834"/>
                    </a:ext>
                  </a:extLst>
                </a:gridCol>
              </a:tblGrid>
              <a:tr h="198779">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r>
                        <a:rPr lang="en-US" sz="900" b="1">
                          <a:solidFill>
                            <a:schemeClr val="tx1"/>
                          </a:solidFill>
                          <a:latin typeface="Arial" panose="020B0604020202020204" pitchFamily="34" charset="0"/>
                          <a:cs typeface="Arial" panose="020B0604020202020204" pitchFamily="34" charset="0"/>
                        </a:rPr>
                        <a:t>Issuer</a:t>
                      </a:r>
                    </a:p>
                  </a:txBody>
                  <a:tcPr marL="36000" marR="36000" marT="36000" marB="36000">
                    <a:lnL>
                      <a:noFill/>
                    </a:lnL>
                    <a:lnR>
                      <a:noFill/>
                    </a:lnR>
                    <a:lnT w="12700" cap="flat" cmpd="sng" algn="ctr">
                      <a:solidFill>
                        <a:schemeClr val="tx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171450" indent="-171450">
                        <a:buFont typeface="Wingdings" panose="05000000000000000000" pitchFamily="2" charset="2"/>
                        <a:buChar char="§"/>
                      </a:pPr>
                      <a:r>
                        <a:rPr lang="en-US" sz="900">
                          <a:latin typeface="Arial" panose="020B0604020202020204" pitchFamily="34" charset="0"/>
                          <a:cs typeface="Arial" panose="020B0604020202020204" pitchFamily="34" charset="0"/>
                        </a:rPr>
                        <a:t>Centurion Accommodation REIT (“</a:t>
                      </a:r>
                      <a:r>
                        <a:rPr lang="en-US" sz="900" b="1">
                          <a:latin typeface="Arial" panose="020B0604020202020204" pitchFamily="34" charset="0"/>
                          <a:cs typeface="Arial" panose="020B0604020202020204" pitchFamily="34" charset="0"/>
                        </a:rPr>
                        <a:t>CAREIT</a:t>
                      </a:r>
                      <a:r>
                        <a:rPr lang="en-US" sz="900">
                          <a:latin typeface="Arial" panose="020B0604020202020204" pitchFamily="34" charset="0"/>
                          <a:cs typeface="Arial" panose="020B0604020202020204" pitchFamily="34" charset="0"/>
                        </a:rPr>
                        <a:t>”)</a:t>
                      </a:r>
                    </a:p>
                  </a:txBody>
                  <a:tcPr marL="36000" marR="36000" marT="36000" marB="36000">
                    <a:lnL>
                      <a:noFill/>
                    </a:lnL>
                    <a:lnR>
                      <a:noFill/>
                    </a:lnR>
                    <a:lnT w="12700" cap="flat" cmpd="sng" algn="ctr">
                      <a:solidFill>
                        <a:schemeClr val="tx1"/>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8493115"/>
                  </a:ext>
                </a:extLst>
              </a:tr>
              <a:tr h="198779">
                <a:tc>
                  <a:txBody>
                    <a:bodyPr/>
                    <a:lstStyle/>
                    <a:p>
                      <a:r>
                        <a:rPr lang="en-US" sz="900" b="1">
                          <a:solidFill>
                            <a:schemeClr val="tx1"/>
                          </a:solidFill>
                          <a:latin typeface="Arial" panose="020B0604020202020204" pitchFamily="34" charset="0"/>
                          <a:cs typeface="Arial" panose="020B0604020202020204" pitchFamily="34" charset="0"/>
                        </a:rPr>
                        <a:t>Offer Type</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buFont typeface="Wingdings" panose="05000000000000000000" pitchFamily="2" charset="2"/>
                        <a:buChar char="§"/>
                      </a:pPr>
                      <a:r>
                        <a:rPr lang="en-US" sz="900">
                          <a:latin typeface="Arial" panose="020B0604020202020204" pitchFamily="34" charset="0"/>
                          <a:cs typeface="Arial" panose="020B0604020202020204" pitchFamily="34" charset="0"/>
                        </a:rPr>
                        <a:t>IPO on SGX</a:t>
                      </a: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403644"/>
                  </a:ext>
                </a:extLst>
              </a:tr>
              <a:tr h="198779">
                <a:tc>
                  <a:txBody>
                    <a:bodyPr/>
                    <a:lstStyle/>
                    <a:p>
                      <a:r>
                        <a:rPr lang="en-US" sz="900" b="1">
                          <a:solidFill>
                            <a:schemeClr val="tx1"/>
                          </a:solidFill>
                          <a:latin typeface="Arial" panose="020B0604020202020204" pitchFamily="34" charset="0"/>
                          <a:cs typeface="Arial" panose="020B0604020202020204" pitchFamily="34" charset="0"/>
                        </a:rPr>
                        <a:t>Listing Date</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indent="-171450">
                        <a:buFont typeface="Wingdings" panose="05000000000000000000" pitchFamily="2" charset="2"/>
                        <a:buChar char="§"/>
                      </a:pPr>
                      <a:r>
                        <a:rPr lang="en-US" sz="900">
                          <a:latin typeface="Arial" panose="020B0604020202020204" pitchFamily="34" charset="0"/>
                          <a:cs typeface="Arial" panose="020B0604020202020204" pitchFamily="34" charset="0"/>
                        </a:rPr>
                        <a:t>25 September 2025</a:t>
                      </a: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912935"/>
                  </a:ext>
                </a:extLst>
              </a:tr>
              <a:tr h="198779">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r>
                        <a:rPr lang="en-US" sz="900" b="1">
                          <a:solidFill>
                            <a:schemeClr val="tx1"/>
                          </a:solidFill>
                          <a:latin typeface="Arial" panose="020B0604020202020204" pitchFamily="34" charset="0"/>
                          <a:cs typeface="Arial" panose="020B0604020202020204" pitchFamily="34" charset="0"/>
                        </a:rPr>
                        <a:t>Sponsor </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171450" indent="-171450">
                        <a:buFont typeface="Wingdings" panose="05000000000000000000" pitchFamily="2" charset="2"/>
                        <a:buChar char="§"/>
                      </a:pPr>
                      <a:r>
                        <a:rPr lang="en-US" sz="900">
                          <a:latin typeface="Arial" panose="020B0604020202020204" pitchFamily="34" charset="0"/>
                          <a:cs typeface="Arial" panose="020B0604020202020204" pitchFamily="34" charset="0"/>
                        </a:rPr>
                        <a:t>Centurion Corporation Limited</a:t>
                      </a: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4349072"/>
                  </a:ext>
                </a:extLst>
              </a:tr>
              <a:tr h="198779">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0" marR="0" lvl="0" indent="0" algn="l" defTabSz="1005505"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Sponsor Stake</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171450" marR="0" lvl="0" indent="-171450" algn="l" defTabSz="100550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latin typeface="Arial" panose="020B0604020202020204" pitchFamily="34" charset="0"/>
                          <a:cs typeface="Arial" panose="020B0604020202020204" pitchFamily="34" charset="0"/>
                        </a:rPr>
                        <a:t>Approx. 45.8% of market cap (pre over-allotment)</a:t>
                      </a: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4522155"/>
                  </a:ext>
                </a:extLst>
              </a:tr>
              <a:tr h="198779">
                <a:tc>
                  <a:txBody>
                    <a:bodyPr/>
                    <a:lstStyle/>
                    <a:p>
                      <a:pPr marL="0" marR="0" lvl="0" indent="0" algn="l" defTabSz="1005505"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Market Cap</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marR="0" lvl="0" indent="-171450" algn="l" defTabSz="100550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latin typeface="Arial" panose="020B0604020202020204" pitchFamily="34" charset="0"/>
                          <a:cs typeface="Arial" panose="020B0604020202020204" pitchFamily="34" charset="0"/>
                        </a:rPr>
                        <a:t>S$1,513.0 million</a:t>
                      </a: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721854"/>
                  </a:ext>
                </a:extLst>
              </a:tr>
              <a:tr h="198779">
                <a:tc>
                  <a:txBody>
                    <a:bodyPr/>
                    <a:lstStyle/>
                    <a:p>
                      <a:pPr marL="0" marR="0" lvl="0" indent="0" algn="l" defTabSz="1005505"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Offering Price</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171450" marR="0" lvl="0" indent="-171450" algn="l" defTabSz="100550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latin typeface="Arial" panose="020B0604020202020204" pitchFamily="34" charset="0"/>
                          <a:cs typeface="Arial" panose="020B0604020202020204" pitchFamily="34" charset="0"/>
                        </a:rPr>
                        <a:t>S$0.88 / unit</a:t>
                      </a: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9377224"/>
                  </a:ext>
                </a:extLst>
              </a:tr>
              <a:tr h="1258932">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r>
                        <a:rPr lang="en-US" sz="900" b="1">
                          <a:solidFill>
                            <a:schemeClr val="tx1"/>
                          </a:solidFill>
                          <a:latin typeface="Arial" panose="020B0604020202020204" pitchFamily="34" charset="0"/>
                          <a:cs typeface="Arial" panose="020B0604020202020204" pitchFamily="34" charset="0"/>
                        </a:rPr>
                        <a:t>Offering Size</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171450" marR="0" lvl="0" indent="-171450" algn="l" defTabSz="1005505"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n-US" sz="900">
                        <a:latin typeface="Arial" panose="020B0604020202020204" pitchFamily="34" charset="0"/>
                        <a:cs typeface="Arial" panose="020B0604020202020204" pitchFamily="34" charset="0"/>
                      </a:endParaRP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4022221"/>
                  </a:ext>
                </a:extLst>
              </a:tr>
              <a:tr h="1477583">
                <a:tc>
                  <a:txBody>
                    <a:bodyPr/>
                    <a:lstStyle/>
                    <a:p>
                      <a:pPr marL="0" marR="0" lvl="0" indent="0" algn="l" defTabSz="1005505"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Cornerstone Investors</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l" defTabSz="1005505"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900" kern="1200">
                          <a:solidFill>
                            <a:schemeClr val="tx1"/>
                          </a:solidFill>
                          <a:latin typeface="Arial" panose="020B0604020202020204" pitchFamily="34" charset="0"/>
                          <a:ea typeface="STKaiti"/>
                          <a:cs typeface="Arial" panose="020B0604020202020204" pitchFamily="34" charset="0"/>
                        </a:rPr>
                        <a:t>16 cornerstone investors comprising tier-1 real estate funds, long-only investors and private banks</a:t>
                      </a:r>
                    </a:p>
                    <a:p>
                      <a:pPr marL="0" marR="0" lvl="0" indent="0" algn="l" defTabSz="1005505"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900">
                        <a:latin typeface="Arial" panose="020B0604020202020204" pitchFamily="34" charset="0"/>
                        <a:cs typeface="Arial" panose="020B0604020202020204" pitchFamily="34" charset="0"/>
                      </a:endParaRPr>
                    </a:p>
                    <a:p>
                      <a:pPr marL="171450" marR="0" lvl="0" indent="-171450" algn="l" defTabSz="100550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latin typeface="Arial" panose="020B0604020202020204" pitchFamily="34" charset="0"/>
                        <a:cs typeface="Arial" panose="020B0604020202020204" pitchFamily="34" charset="0"/>
                      </a:endParaRPr>
                    </a:p>
                    <a:p>
                      <a:pPr marL="171450" marR="0" lvl="0" indent="-171450" algn="l" defTabSz="100550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latin typeface="Arial" panose="020B0604020202020204" pitchFamily="34" charset="0"/>
                        <a:cs typeface="Arial" panose="020B0604020202020204" pitchFamily="34" charset="0"/>
                      </a:endParaRPr>
                    </a:p>
                    <a:p>
                      <a:pPr marL="0" marR="0" lvl="0" indent="0" algn="l" defTabSz="1005505"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a:latin typeface="Arial" panose="020B0604020202020204" pitchFamily="34" charset="0"/>
                        <a:cs typeface="Arial" panose="020B0604020202020204" pitchFamily="34" charset="0"/>
                      </a:endParaRP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5696554"/>
                  </a:ext>
                </a:extLst>
              </a:tr>
              <a:tr h="329089">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0" marR="0" lvl="0" indent="0" algn="l" defTabSz="1005505"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DPU Yield</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171450" marR="0" lvl="0" indent="-171450" algn="l" defTabSz="100550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latin typeface="Arial" panose="020B0604020202020204" pitchFamily="34" charset="0"/>
                          <a:cs typeface="Arial" panose="020B0604020202020204" pitchFamily="34" charset="0"/>
                        </a:rPr>
                        <a:t>Projection Year 2026: 7.47%</a:t>
                      </a:r>
                    </a:p>
                    <a:p>
                      <a:pPr marL="171450" marR="0" lvl="0" indent="-171450" algn="l" defTabSz="100550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tx1"/>
                          </a:solidFill>
                          <a:latin typeface="Arial" panose="020B0604020202020204" pitchFamily="34" charset="0"/>
                          <a:ea typeface="STKaiti"/>
                          <a:cs typeface="Arial" panose="020B0604020202020204" pitchFamily="34" charset="0"/>
                        </a:rPr>
                        <a:t>Projection Year 2027: 8.11%</a:t>
                      </a:r>
                      <a:endParaRPr lang="en-US" sz="900">
                        <a:latin typeface="Arial" panose="020B0604020202020204" pitchFamily="34" charset="0"/>
                        <a:cs typeface="Arial" panose="020B0604020202020204" pitchFamily="34" charset="0"/>
                      </a:endParaRP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7456984"/>
                  </a:ext>
                </a:extLst>
              </a:tr>
              <a:tr h="329089">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0" marR="0" lvl="0" indent="0" algn="l" defTabSz="1005505"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DBS’ Role</a:t>
                      </a:r>
                    </a:p>
                  </a:txBody>
                  <a:tcPr marL="36000" marR="36000" marT="36000" marB="36000">
                    <a:lnL>
                      <a:noFill/>
                    </a:lnL>
                    <a:lnR>
                      <a:noFill/>
                    </a:lnR>
                    <a:lnT w="12700" cap="flat" cmpd="sng" algn="ctr">
                      <a:solidFill>
                        <a:sysClr val="window" lastClr="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171450" marR="0" lvl="0" indent="-171450" algn="l" defTabSz="1005505"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b="0" kern="1200">
                          <a:solidFill>
                            <a:schemeClr val="tx1"/>
                          </a:solidFill>
                          <a:latin typeface="Arial" panose="020B0604020202020204" pitchFamily="34" charset="0"/>
                          <a:ea typeface="STKaiti"/>
                          <a:cs typeface="Arial" panose="020B0604020202020204" pitchFamily="34" charset="0"/>
                        </a:rPr>
                        <a:t>Joint Issue Manager and Global Coordinator, </a:t>
                      </a:r>
                      <a:br>
                        <a:rPr lang="en-US" sz="900" b="0" kern="1200">
                          <a:solidFill>
                            <a:schemeClr val="tx1"/>
                          </a:solidFill>
                          <a:latin typeface="Arial" panose="020B0604020202020204" pitchFamily="34" charset="0"/>
                          <a:ea typeface="STKaiti"/>
                          <a:cs typeface="Arial" panose="020B0604020202020204" pitchFamily="34" charset="0"/>
                        </a:rPr>
                      </a:br>
                      <a:r>
                        <a:rPr lang="en-US" sz="900" b="0" kern="1200">
                          <a:solidFill>
                            <a:schemeClr val="tx1"/>
                          </a:solidFill>
                          <a:latin typeface="Arial" panose="020B0604020202020204" pitchFamily="34" charset="0"/>
                          <a:ea typeface="STKaiti"/>
                          <a:cs typeface="Arial" panose="020B0604020202020204" pitchFamily="34" charset="0"/>
                        </a:rPr>
                        <a:t>Joint Bookrunner and Underwriter</a:t>
                      </a:r>
                    </a:p>
                  </a:txBody>
                  <a:tcPr marL="36000" marR="36000" marT="36000" marB="36000">
                    <a:lnL>
                      <a:noFill/>
                    </a:lnL>
                    <a:lnR>
                      <a:noFill/>
                    </a:lnR>
                    <a:lnT w="12700" cap="flat" cmpd="sng" algn="ctr">
                      <a:solidFill>
                        <a:sysClr val="window" lastClr="FFFFFF">
                          <a:lumMod val="75000"/>
                        </a:sys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39777"/>
                  </a:ext>
                </a:extLst>
              </a:tr>
            </a:tbl>
          </a:graphicData>
        </a:graphic>
      </p:graphicFrame>
      <p:sp>
        <p:nvSpPr>
          <p:cNvPr id="6" name="TextBox 5">
            <a:extLst>
              <a:ext uri="{FF2B5EF4-FFF2-40B4-BE49-F238E27FC236}">
                <a16:creationId xmlns:a16="http://schemas.microsoft.com/office/drawing/2014/main" id="{339DD838-28B8-3A6C-AC29-BA380624CFEB}"/>
              </a:ext>
            </a:extLst>
          </p:cNvPr>
          <p:cNvSpPr txBox="1"/>
          <p:nvPr/>
        </p:nvSpPr>
        <p:spPr>
          <a:xfrm>
            <a:off x="1476376" y="4381500"/>
            <a:ext cx="3333750" cy="1133475"/>
          </a:xfrm>
          <a:prstGeom prst="rect">
            <a:avLst/>
          </a:prstGeom>
          <a:noFill/>
          <a:ln>
            <a:noFill/>
          </a:ln>
        </p:spPr>
        <p:txBody>
          <a:bodyPr wrap="square" numCol="3">
            <a:noAutofit/>
          </a:bodyPr>
          <a:lstStyle/>
          <a:p>
            <a:pPr marL="171450" indent="-171450" defTabSz="1005505" fontAlgn="auto">
              <a:spcBef>
                <a:spcPts val="0"/>
              </a:spcBef>
              <a:spcAft>
                <a:spcPts val="200"/>
              </a:spcAft>
              <a:buFont typeface="Wingdings" panose="05000000000000000000" pitchFamily="2" charset="2"/>
              <a:buChar char="§"/>
              <a:defRPr/>
            </a:pPr>
            <a:r>
              <a:rPr lang="en-US" sz="900" b="0">
                <a:solidFill>
                  <a:prstClr val="black"/>
                </a:solidFill>
                <a:latin typeface="Arial" panose="020B0604020202020204" pitchFamily="34" charset="0"/>
                <a:ea typeface="STKaiti"/>
                <a:cs typeface="Arial" panose="020B0604020202020204" pitchFamily="34" charset="0"/>
              </a:rPr>
              <a:t>FIL </a:t>
            </a:r>
          </a:p>
          <a:p>
            <a:pPr marL="171450" indent="-171450" defTabSz="1005505" fontAlgn="auto">
              <a:spcBef>
                <a:spcPts val="0"/>
              </a:spcBef>
              <a:spcAft>
                <a:spcPts val="200"/>
              </a:spcAft>
              <a:buFont typeface="Wingdings" panose="05000000000000000000" pitchFamily="2" charset="2"/>
              <a:buChar char="§"/>
              <a:defRPr/>
            </a:pPr>
            <a:r>
              <a:rPr lang="en-US" sz="900" b="0" err="1">
                <a:solidFill>
                  <a:srgbClr val="000000"/>
                </a:solidFill>
                <a:latin typeface="Arial" panose="020B0604020202020204"/>
                <a:cs typeface="+mn-cs"/>
              </a:rPr>
              <a:t>abrdn</a:t>
            </a:r>
            <a:r>
              <a:rPr lang="en-US" sz="900" b="0">
                <a:solidFill>
                  <a:srgbClr val="000000"/>
                </a:solidFill>
                <a:latin typeface="Arial" panose="020B0604020202020204"/>
                <a:cs typeface="+mn-cs"/>
              </a:rPr>
              <a:t> Asia</a:t>
            </a:r>
          </a:p>
          <a:p>
            <a:pPr marL="171450" indent="-171450" defTabSz="1005505" fontAlgn="auto">
              <a:spcBef>
                <a:spcPts val="0"/>
              </a:spcBef>
              <a:spcAft>
                <a:spcPts val="200"/>
              </a:spcAft>
              <a:buFont typeface="Wingdings" panose="05000000000000000000" pitchFamily="2" charset="2"/>
              <a:buChar char="§"/>
              <a:defRPr/>
            </a:pPr>
            <a:r>
              <a:rPr lang="en-US" sz="900" b="0" err="1">
                <a:solidFill>
                  <a:srgbClr val="000000"/>
                </a:solidFill>
                <a:latin typeface="Arial" panose="020B0604020202020204"/>
                <a:cs typeface="+mn-cs"/>
              </a:rPr>
              <a:t>Amova</a:t>
            </a:r>
            <a:r>
              <a:rPr lang="en-US" sz="900" b="0">
                <a:solidFill>
                  <a:srgbClr val="000000"/>
                </a:solidFill>
                <a:latin typeface="Arial" panose="020B0604020202020204"/>
                <a:cs typeface="+mn-cs"/>
              </a:rPr>
              <a:t> </a:t>
            </a:r>
          </a:p>
          <a:p>
            <a:pPr marL="171450" indent="-171450" defTabSz="1005505" fontAlgn="auto">
              <a:spcBef>
                <a:spcPts val="0"/>
              </a:spcBef>
              <a:spcAft>
                <a:spcPts val="200"/>
              </a:spcAft>
              <a:buFont typeface="Wingdings" panose="05000000000000000000" pitchFamily="2" charset="2"/>
              <a:buChar char="§"/>
              <a:defRPr/>
            </a:pPr>
            <a:r>
              <a:rPr lang="en-US" sz="900" b="0" err="1">
                <a:solidFill>
                  <a:srgbClr val="000000"/>
                </a:solidFill>
                <a:latin typeface="Arial" panose="020B0604020202020204"/>
                <a:cs typeface="+mn-cs"/>
              </a:rPr>
              <a:t>Asdew</a:t>
            </a:r>
            <a:r>
              <a:rPr lang="en-US" sz="900" b="0">
                <a:solidFill>
                  <a:srgbClr val="000000"/>
                </a:solidFill>
                <a:latin typeface="Arial" panose="020B0604020202020204"/>
                <a:cs typeface="+mn-cs"/>
              </a:rPr>
              <a:t> </a:t>
            </a:r>
            <a:r>
              <a:rPr lang="en-US" sz="900" b="0" err="1">
                <a:solidFill>
                  <a:srgbClr val="000000"/>
                </a:solidFill>
                <a:latin typeface="Arial" panose="020B0604020202020204"/>
                <a:cs typeface="+mn-cs"/>
              </a:rPr>
              <a:t>Acq</a:t>
            </a:r>
            <a:r>
              <a:rPr lang="en-US" sz="900" b="0">
                <a:solidFill>
                  <a:srgbClr val="000000"/>
                </a:solidFill>
                <a:latin typeface="Arial" panose="020B0604020202020204"/>
                <a:cs typeface="+mn-cs"/>
              </a:rPr>
              <a:t> </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B&amp;I Capital</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Barings</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Cohen &amp; Steers</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DBS Bank</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DBS PB</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DWS </a:t>
            </a:r>
            <a:r>
              <a:rPr lang="en-US" sz="900" b="0" err="1">
                <a:solidFill>
                  <a:srgbClr val="000000"/>
                </a:solidFill>
                <a:latin typeface="Arial" panose="020B0604020202020204"/>
                <a:cs typeface="+mn-cs"/>
              </a:rPr>
              <a:t>Eastspring</a:t>
            </a:r>
            <a:endParaRPr lang="en-US" sz="900" b="0">
              <a:solidFill>
                <a:srgbClr val="000000"/>
              </a:solidFill>
              <a:latin typeface="Arial" panose="020B0604020202020204"/>
              <a:cs typeface="+mn-cs"/>
            </a:endParaRP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Lion Global</a:t>
            </a:r>
          </a:p>
          <a:p>
            <a:pPr marL="171450" indent="-171450" defTabSz="1005505" fontAlgn="auto">
              <a:spcBef>
                <a:spcPts val="0"/>
              </a:spcBef>
              <a:spcAft>
                <a:spcPts val="200"/>
              </a:spcAft>
              <a:buFont typeface="Wingdings" panose="05000000000000000000" pitchFamily="2" charset="2"/>
              <a:buChar char="§"/>
              <a:defRPr/>
            </a:pPr>
            <a:r>
              <a:rPr lang="en-US" sz="900" b="0" err="1">
                <a:solidFill>
                  <a:srgbClr val="000000"/>
                </a:solidFill>
                <a:latin typeface="Arial" panose="020B0604020202020204"/>
                <a:cs typeface="+mn-cs"/>
              </a:rPr>
              <a:t>Mr</a:t>
            </a:r>
            <a:r>
              <a:rPr lang="en-US" sz="900" b="0">
                <a:solidFill>
                  <a:srgbClr val="000000"/>
                </a:solidFill>
                <a:latin typeface="Arial" panose="020B0604020202020204"/>
                <a:cs typeface="+mn-cs"/>
              </a:rPr>
              <a:t> Ong Pang Aik </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PGI Singapore</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UBS PB</a:t>
            </a:r>
          </a:p>
          <a:p>
            <a:pPr marL="171450" indent="-171450" defTabSz="1005505" fontAlgn="auto">
              <a:spcBef>
                <a:spcPts val="0"/>
              </a:spcBef>
              <a:spcAft>
                <a:spcPts val="200"/>
              </a:spcAft>
              <a:buFont typeface="Wingdings" panose="05000000000000000000" pitchFamily="2" charset="2"/>
              <a:buChar char="§"/>
              <a:defRPr/>
            </a:pPr>
            <a:r>
              <a:rPr lang="en-US" sz="900" b="0">
                <a:solidFill>
                  <a:srgbClr val="000000"/>
                </a:solidFill>
                <a:latin typeface="Arial" panose="020B0604020202020204"/>
                <a:cs typeface="+mn-cs"/>
              </a:rPr>
              <a:t>Value Partners</a:t>
            </a:r>
            <a:endParaRPr lang="en-US" sz="3200" b="0">
              <a:solidFill>
                <a:prstClr val="black"/>
              </a:solidFill>
              <a:latin typeface="Calibri" panose="020F0502020204030204"/>
              <a:cs typeface="+mn-cs"/>
            </a:endParaRPr>
          </a:p>
        </p:txBody>
      </p:sp>
      <p:sp>
        <p:nvSpPr>
          <p:cNvPr id="9" name="TextBox 8">
            <a:extLst>
              <a:ext uri="{FF2B5EF4-FFF2-40B4-BE49-F238E27FC236}">
                <a16:creationId xmlns:a16="http://schemas.microsoft.com/office/drawing/2014/main" id="{66BF6A9D-1579-FB2E-95DE-9D042A5B9E2E}"/>
              </a:ext>
            </a:extLst>
          </p:cNvPr>
          <p:cNvSpPr txBox="1"/>
          <p:nvPr/>
        </p:nvSpPr>
        <p:spPr>
          <a:xfrm>
            <a:off x="4884600" y="911559"/>
            <a:ext cx="4625160" cy="216396"/>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0" rIns="36000" bIns="0" rtlCol="0" anchor="ctr">
            <a:spAutoFit/>
          </a:bodyPr>
          <a:lstStyle/>
          <a:p>
            <a:pPr algn="ctr">
              <a:spcAft>
                <a:spcPts val="0"/>
              </a:spcAft>
            </a:pPr>
            <a:r>
              <a:rPr lang="en-US" sz="1000">
                <a:solidFill>
                  <a:schemeClr val="bg1"/>
                </a:solidFill>
              </a:rPr>
              <a:t>Key Positives for Investors</a:t>
            </a:r>
            <a:endParaRPr lang="en-SG" sz="1000" b="0" i="1">
              <a:solidFill>
                <a:schemeClr val="bg1"/>
              </a:solidFill>
            </a:endParaRPr>
          </a:p>
        </p:txBody>
      </p:sp>
      <p:pic>
        <p:nvPicPr>
          <p:cNvPr id="14" name="Graphic 13" descr="Couch with solid fill">
            <a:extLst>
              <a:ext uri="{FF2B5EF4-FFF2-40B4-BE49-F238E27FC236}">
                <a16:creationId xmlns:a16="http://schemas.microsoft.com/office/drawing/2014/main" id="{CFF18E72-AFAA-AE89-6AF9-E608982B1D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12929" y="1181006"/>
            <a:ext cx="331896" cy="331896"/>
          </a:xfrm>
          <a:prstGeom prst="rect">
            <a:avLst/>
          </a:prstGeom>
        </p:spPr>
      </p:pic>
      <p:pic>
        <p:nvPicPr>
          <p:cNvPr id="16" name="Graphic 15" descr="Target Audience with solid fill">
            <a:extLst>
              <a:ext uri="{FF2B5EF4-FFF2-40B4-BE49-F238E27FC236}">
                <a16:creationId xmlns:a16="http://schemas.microsoft.com/office/drawing/2014/main" id="{69943F35-9C9D-D058-28F0-31995EA40F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3463" y="1535590"/>
            <a:ext cx="370829" cy="370829"/>
          </a:xfrm>
          <a:prstGeom prst="rect">
            <a:avLst/>
          </a:prstGeom>
        </p:spPr>
      </p:pic>
      <p:pic>
        <p:nvPicPr>
          <p:cNvPr id="18" name="Graphic 17" descr="Fast Forward with solid fill">
            <a:extLst>
              <a:ext uri="{FF2B5EF4-FFF2-40B4-BE49-F238E27FC236}">
                <a16:creationId xmlns:a16="http://schemas.microsoft.com/office/drawing/2014/main" id="{3E236939-10CE-9F11-4454-FC7DC3E1FD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200000">
            <a:off x="5026476" y="1920238"/>
            <a:ext cx="304802" cy="304802"/>
          </a:xfrm>
          <a:prstGeom prst="rect">
            <a:avLst/>
          </a:prstGeom>
        </p:spPr>
      </p:pic>
      <p:sp>
        <p:nvSpPr>
          <p:cNvPr id="19" name="TextBox 18">
            <a:extLst>
              <a:ext uri="{FF2B5EF4-FFF2-40B4-BE49-F238E27FC236}">
                <a16:creationId xmlns:a16="http://schemas.microsoft.com/office/drawing/2014/main" id="{A413A62B-26E8-9CE6-0E9C-A89F23B28842}"/>
              </a:ext>
            </a:extLst>
          </p:cNvPr>
          <p:cNvSpPr txBox="1"/>
          <p:nvPr/>
        </p:nvSpPr>
        <p:spPr>
          <a:xfrm>
            <a:off x="4884600" y="2319550"/>
            <a:ext cx="4625160" cy="216396"/>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0" rIns="36000" bIns="0" rtlCol="0" anchor="ctr">
            <a:spAutoFit/>
          </a:bodyPr>
          <a:lstStyle/>
          <a:p>
            <a:pPr algn="ctr">
              <a:spcAft>
                <a:spcPts val="0"/>
              </a:spcAft>
            </a:pPr>
            <a:r>
              <a:rPr lang="en-US" sz="1000">
                <a:solidFill>
                  <a:schemeClr val="bg1"/>
                </a:solidFill>
              </a:rPr>
              <a:t>The IPO saw overwhelming demand</a:t>
            </a:r>
            <a:endParaRPr lang="en-SG" sz="1000">
              <a:solidFill>
                <a:schemeClr val="bg1"/>
              </a:solidFill>
            </a:endParaRPr>
          </a:p>
        </p:txBody>
      </p:sp>
      <p:sp>
        <p:nvSpPr>
          <p:cNvPr id="20" name="Rectangle: Rounded Corners 19">
            <a:extLst>
              <a:ext uri="{FF2B5EF4-FFF2-40B4-BE49-F238E27FC236}">
                <a16:creationId xmlns:a16="http://schemas.microsoft.com/office/drawing/2014/main" id="{4C460A12-000B-7464-BDF5-2859CBA4E5ED}"/>
              </a:ext>
            </a:extLst>
          </p:cNvPr>
          <p:cNvSpPr/>
          <p:nvPr/>
        </p:nvSpPr>
        <p:spPr bwMode="auto">
          <a:xfrm>
            <a:off x="6463755" y="2638427"/>
            <a:ext cx="1466850" cy="885823"/>
          </a:xfrm>
          <a:prstGeom prst="roundRect">
            <a:avLst>
              <a:gd name="adj" fmla="val 14018"/>
            </a:avLst>
          </a:prstGeom>
          <a:solidFill>
            <a:schemeClr val="bg1">
              <a:lumMod val="95000"/>
            </a:schemeClr>
          </a:solidFill>
          <a:ln>
            <a:solidFill>
              <a:schemeClr val="bg1">
                <a:lumMod val="75000"/>
              </a:schemeClr>
            </a:solidFill>
          </a:ln>
          <a:effectLst/>
        </p:spPr>
        <p:txBody>
          <a:bodyPr vert="horz" wrap="square" lIns="36000" tIns="36000" rIns="36000" bIns="36000" numCol="1" rtlCol="0" anchor="t" anchorCtr="0" compatLnSpc="1">
            <a:prstTxWarp prst="textNoShape">
              <a:avLst/>
            </a:prstTxWarp>
          </a:bodyPr>
          <a:lstStyle/>
          <a:p>
            <a:pPr marR="0" algn="ctr" defTabSz="914400" rtl="0" eaLnBrk="0" fontAlgn="base" latinLnBrk="0" hangingPunct="0">
              <a:spcBef>
                <a:spcPct val="0"/>
              </a:spcBef>
              <a:spcAft>
                <a:spcPct val="0"/>
              </a:spcAft>
              <a:buClrTx/>
              <a:buSzTx/>
              <a:tabLst/>
            </a:pPr>
            <a:r>
              <a:rPr kumimoji="0" lang="en-US" sz="1000" b="0" i="0" u="none" strike="noStrike" cap="none" normalizeH="0" baseline="0">
                <a:ln>
                  <a:noFill/>
                </a:ln>
                <a:solidFill>
                  <a:schemeClr val="tx1"/>
                </a:solidFill>
                <a:effectLst/>
                <a:latin typeface="Arial" panose="020B0604020202020204" pitchFamily="34" charset="0"/>
              </a:rPr>
              <a:t>Placement Book</a:t>
            </a:r>
          </a:p>
          <a:p>
            <a:pPr marR="0" algn="ctr" defTabSz="914400" rtl="0" eaLnBrk="0" fontAlgn="base" latinLnBrk="0" hangingPunct="0">
              <a:spcBef>
                <a:spcPct val="0"/>
              </a:spcBef>
              <a:spcAft>
                <a:spcPct val="0"/>
              </a:spcAft>
              <a:buClrTx/>
              <a:buSzTx/>
              <a:tabLst/>
            </a:pPr>
            <a:r>
              <a:rPr kumimoji="0" lang="en-US" sz="3200" i="0" u="none" strike="noStrike" cap="none" normalizeH="0" baseline="0">
                <a:ln>
                  <a:noFill/>
                </a:ln>
                <a:solidFill>
                  <a:schemeClr val="tx1"/>
                </a:solidFill>
                <a:effectLst/>
                <a:latin typeface="Arial" panose="020B0604020202020204" pitchFamily="34" charset="0"/>
              </a:rPr>
              <a:t>16.0x </a:t>
            </a:r>
          </a:p>
          <a:p>
            <a:pPr marR="0" algn="ctr" defTabSz="914400" rtl="0" eaLnBrk="0" fontAlgn="base" latinLnBrk="0" hangingPunct="0">
              <a:spcBef>
                <a:spcPct val="0"/>
              </a:spcBef>
              <a:spcAft>
                <a:spcPct val="0"/>
              </a:spcAft>
              <a:buClrTx/>
              <a:buSzTx/>
              <a:tabLst/>
            </a:pPr>
            <a:r>
              <a:rPr kumimoji="0" lang="en-US" sz="1000" b="0" i="0" u="none" strike="noStrike" cap="none" normalizeH="0" baseline="0">
                <a:ln>
                  <a:noFill/>
                </a:ln>
                <a:solidFill>
                  <a:schemeClr val="tx1"/>
                </a:solidFill>
                <a:effectLst/>
                <a:latin typeface="Arial" panose="020B0604020202020204" pitchFamily="34" charset="0"/>
              </a:rPr>
              <a:t>covered</a:t>
            </a: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26" name="Rectangle: Rounded Corners 25">
            <a:extLst>
              <a:ext uri="{FF2B5EF4-FFF2-40B4-BE49-F238E27FC236}">
                <a16:creationId xmlns:a16="http://schemas.microsoft.com/office/drawing/2014/main" id="{B1AECAFF-779D-4888-70FE-5BA506E12216}"/>
              </a:ext>
            </a:extLst>
          </p:cNvPr>
          <p:cNvSpPr/>
          <p:nvPr/>
        </p:nvSpPr>
        <p:spPr bwMode="auto">
          <a:xfrm>
            <a:off x="8042910" y="2638427"/>
            <a:ext cx="1466850" cy="885823"/>
          </a:xfrm>
          <a:prstGeom prst="roundRect">
            <a:avLst>
              <a:gd name="adj" fmla="val 14018"/>
            </a:avLst>
          </a:prstGeom>
          <a:solidFill>
            <a:schemeClr val="bg1">
              <a:lumMod val="95000"/>
            </a:schemeClr>
          </a:solidFill>
          <a:ln>
            <a:solidFill>
              <a:schemeClr val="bg1">
                <a:lumMod val="75000"/>
              </a:schemeClr>
            </a:solidFill>
          </a:ln>
          <a:effectLst/>
        </p:spPr>
        <p:txBody>
          <a:bodyPr vert="horz" wrap="square" lIns="36000" tIns="36000" rIns="36000" bIns="36000" numCol="1" rtlCol="0" anchor="t" anchorCtr="0" compatLnSpc="1">
            <a:prstTxWarp prst="textNoShape">
              <a:avLst/>
            </a:prstTxWarp>
          </a:bodyPr>
          <a:lstStyle/>
          <a:p>
            <a:pPr marR="0" algn="ctr" defTabSz="914400" rtl="0" eaLnBrk="0" fontAlgn="base" latinLnBrk="0" hangingPunct="0">
              <a:spcBef>
                <a:spcPct val="0"/>
              </a:spcBef>
              <a:spcAft>
                <a:spcPct val="0"/>
              </a:spcAft>
              <a:buClrTx/>
              <a:buSzTx/>
              <a:tabLst/>
            </a:pPr>
            <a:r>
              <a:rPr kumimoji="0" lang="en-US" sz="1000" b="0" i="0" u="none" strike="noStrike" cap="none" normalizeH="0" baseline="0">
                <a:ln>
                  <a:noFill/>
                </a:ln>
                <a:solidFill>
                  <a:schemeClr val="tx1"/>
                </a:solidFill>
                <a:effectLst/>
                <a:latin typeface="Arial" panose="020B0604020202020204" pitchFamily="34" charset="0"/>
              </a:rPr>
              <a:t>Retail Offering</a:t>
            </a:r>
          </a:p>
          <a:p>
            <a:pPr marR="0" algn="ctr" defTabSz="914400" rtl="0" eaLnBrk="0" fontAlgn="base" latinLnBrk="0" hangingPunct="0">
              <a:spcBef>
                <a:spcPct val="0"/>
              </a:spcBef>
              <a:spcAft>
                <a:spcPct val="0"/>
              </a:spcAft>
              <a:buClrTx/>
              <a:buSzTx/>
              <a:tabLst/>
            </a:pPr>
            <a:r>
              <a:rPr kumimoji="0" lang="en-US" sz="3200" i="0" u="none" strike="noStrike" cap="none" normalizeH="0" baseline="0">
                <a:ln>
                  <a:noFill/>
                </a:ln>
                <a:solidFill>
                  <a:schemeClr val="tx1"/>
                </a:solidFill>
                <a:effectLst/>
                <a:latin typeface="Arial" panose="020B0604020202020204" pitchFamily="34" charset="0"/>
              </a:rPr>
              <a:t>30.9x </a:t>
            </a:r>
          </a:p>
          <a:p>
            <a:pPr marR="0" algn="ctr" defTabSz="914400" rtl="0" eaLnBrk="0" fontAlgn="base" latinLnBrk="0" hangingPunct="0">
              <a:spcBef>
                <a:spcPct val="0"/>
              </a:spcBef>
              <a:spcAft>
                <a:spcPct val="0"/>
              </a:spcAft>
              <a:buClrTx/>
              <a:buSzTx/>
              <a:tabLst/>
            </a:pPr>
            <a:r>
              <a:rPr kumimoji="0" lang="en-US" sz="1000" b="0" i="0" u="none" strike="noStrike" cap="none" normalizeH="0" baseline="0">
                <a:ln>
                  <a:noFill/>
                </a:ln>
                <a:solidFill>
                  <a:schemeClr val="tx1"/>
                </a:solidFill>
                <a:effectLst/>
                <a:latin typeface="Arial" panose="020B0604020202020204" pitchFamily="34" charset="0"/>
              </a:rPr>
              <a:t>subscribed</a:t>
            </a: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27" name="Rectangle: Rounded Corners 26">
            <a:extLst>
              <a:ext uri="{FF2B5EF4-FFF2-40B4-BE49-F238E27FC236}">
                <a16:creationId xmlns:a16="http://schemas.microsoft.com/office/drawing/2014/main" id="{E633B88C-4C50-DD21-528A-B9767FB90B4F}"/>
              </a:ext>
            </a:extLst>
          </p:cNvPr>
          <p:cNvSpPr/>
          <p:nvPr/>
        </p:nvSpPr>
        <p:spPr bwMode="auto">
          <a:xfrm>
            <a:off x="4884600" y="2638427"/>
            <a:ext cx="1466850" cy="885823"/>
          </a:xfrm>
          <a:prstGeom prst="roundRect">
            <a:avLst>
              <a:gd name="adj" fmla="val 14018"/>
            </a:avLst>
          </a:prstGeom>
          <a:solidFill>
            <a:schemeClr val="bg1">
              <a:lumMod val="95000"/>
            </a:schemeClr>
          </a:solidFill>
          <a:ln>
            <a:solidFill>
              <a:schemeClr val="bg1">
                <a:lumMod val="75000"/>
              </a:schemeClr>
            </a:solidFill>
          </a:ln>
          <a:effectLst/>
        </p:spPr>
        <p:txBody>
          <a:bodyPr vert="horz" wrap="square" lIns="36000" tIns="36000" rIns="36000" bIns="36000" numCol="1" rtlCol="0" anchor="t" anchorCtr="0" compatLnSpc="1">
            <a:prstTxWarp prst="textNoShape">
              <a:avLst/>
            </a:prstTxWarp>
          </a:bodyPr>
          <a:lstStyle/>
          <a:p>
            <a:pPr marR="0" algn="ctr" defTabSz="914400" rtl="0" eaLnBrk="0" fontAlgn="base" latinLnBrk="0" hangingPunct="0">
              <a:spcBef>
                <a:spcPct val="0"/>
              </a:spcBef>
              <a:spcAft>
                <a:spcPct val="0"/>
              </a:spcAft>
              <a:buClrTx/>
              <a:buSzTx/>
              <a:tabLst/>
            </a:pPr>
            <a:r>
              <a:rPr kumimoji="0" lang="en-US" sz="1000" b="0" i="0" u="none" strike="noStrike" cap="none" normalizeH="0" baseline="0">
                <a:ln>
                  <a:noFill/>
                </a:ln>
                <a:solidFill>
                  <a:schemeClr val="tx1"/>
                </a:solidFill>
                <a:effectLst/>
                <a:latin typeface="Arial" panose="020B0604020202020204" pitchFamily="34" charset="0"/>
              </a:rPr>
              <a:t>Cornerstone Tranche</a:t>
            </a:r>
          </a:p>
          <a:p>
            <a:pPr marR="0" algn="ctr" defTabSz="914400" rtl="0" eaLnBrk="0" fontAlgn="base" latinLnBrk="0" hangingPunct="0">
              <a:spcBef>
                <a:spcPct val="0"/>
              </a:spcBef>
              <a:spcAft>
                <a:spcPct val="0"/>
              </a:spcAft>
              <a:buClrTx/>
              <a:buSzTx/>
              <a:tabLst/>
            </a:pPr>
            <a:r>
              <a:rPr lang="en-US" sz="3200">
                <a:solidFill>
                  <a:schemeClr val="tx1"/>
                </a:solidFill>
                <a:latin typeface="Arial" panose="020B0604020202020204" pitchFamily="34" charset="0"/>
              </a:rPr>
              <a:t>70.1%</a:t>
            </a:r>
            <a:r>
              <a:rPr kumimoji="0" lang="en-US" sz="3200" i="0" u="none" strike="noStrike" cap="none" normalizeH="0" baseline="0">
                <a:ln>
                  <a:noFill/>
                </a:ln>
                <a:solidFill>
                  <a:schemeClr val="tx1"/>
                </a:solidFill>
                <a:effectLst/>
                <a:latin typeface="Arial" panose="020B0604020202020204" pitchFamily="34" charset="0"/>
              </a:rPr>
              <a:t> </a:t>
            </a:r>
          </a:p>
          <a:p>
            <a:pPr marR="0" algn="ctr" defTabSz="914400" rtl="0" eaLnBrk="0" fontAlgn="base" latinLnBrk="0" hangingPunct="0">
              <a:spcBef>
                <a:spcPct val="0"/>
              </a:spcBef>
              <a:spcAft>
                <a:spcPct val="0"/>
              </a:spcAft>
              <a:buClrTx/>
              <a:buSzTx/>
              <a:tabLst/>
            </a:pPr>
            <a:r>
              <a:rPr kumimoji="0" lang="en-US" sz="1000" b="0" i="0" u="none" strike="noStrike" cap="none" normalizeH="0" baseline="0">
                <a:ln>
                  <a:noFill/>
                </a:ln>
                <a:solidFill>
                  <a:schemeClr val="tx1"/>
                </a:solidFill>
                <a:effectLst/>
                <a:latin typeface="Arial" panose="020B0604020202020204" pitchFamily="34" charset="0"/>
              </a:rPr>
              <a:t>of IPO size</a:t>
            </a:r>
            <a:endParaRPr kumimoji="0" lang="en-SG" sz="1000" b="0" i="0" u="none" strike="noStrike" cap="none" normalizeH="0" baseline="0">
              <a:ln>
                <a:noFill/>
              </a:ln>
              <a:solidFill>
                <a:schemeClr val="tx1"/>
              </a:solidFill>
              <a:effectLst/>
              <a:latin typeface="Arial" panose="020B0604020202020204" pitchFamily="34" charset="0"/>
            </a:endParaRPr>
          </a:p>
        </p:txBody>
      </p:sp>
      <p:sp>
        <p:nvSpPr>
          <p:cNvPr id="28" name="TextBox 27">
            <a:extLst>
              <a:ext uri="{FF2B5EF4-FFF2-40B4-BE49-F238E27FC236}">
                <a16:creationId xmlns:a16="http://schemas.microsoft.com/office/drawing/2014/main" id="{472A14E7-D851-C0B1-25E1-C9A4146A8070}"/>
              </a:ext>
            </a:extLst>
          </p:cNvPr>
          <p:cNvSpPr txBox="1"/>
          <p:nvPr/>
        </p:nvSpPr>
        <p:spPr>
          <a:xfrm>
            <a:off x="4884600" y="3624475"/>
            <a:ext cx="4625160" cy="216396"/>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0" rIns="36000" bIns="0" rtlCol="0" anchor="ctr">
            <a:spAutoFit/>
          </a:bodyPr>
          <a:lstStyle/>
          <a:p>
            <a:pPr algn="ctr">
              <a:spcAft>
                <a:spcPts val="0"/>
              </a:spcAft>
            </a:pPr>
            <a:r>
              <a:rPr lang="en-US" sz="1000">
                <a:solidFill>
                  <a:schemeClr val="bg1"/>
                </a:solidFill>
              </a:rPr>
              <a:t>Since IPO, Centurion Accommodation REIT is up 20.5%</a:t>
            </a:r>
            <a:endParaRPr lang="en-SG" sz="1000">
              <a:solidFill>
                <a:schemeClr val="bg1"/>
              </a:solidFill>
            </a:endParaRPr>
          </a:p>
        </p:txBody>
      </p:sp>
      <p:graphicFrame>
        <p:nvGraphicFramePr>
          <p:cNvPr id="31" name="Chart 30">
            <a:extLst>
              <a:ext uri="{FF2B5EF4-FFF2-40B4-BE49-F238E27FC236}">
                <a16:creationId xmlns:a16="http://schemas.microsoft.com/office/drawing/2014/main" id="{26F823BF-B654-08DC-406C-D36A531DD874}"/>
              </a:ext>
            </a:extLst>
          </p:cNvPr>
          <p:cNvGraphicFramePr/>
          <p:nvPr>
            <p:extLst>
              <p:ext uri="{D42A27DB-BD31-4B8C-83A1-F6EECF244321}">
                <p14:modId xmlns:p14="http://schemas.microsoft.com/office/powerpoint/2010/main" val="3248689959"/>
              </p:ext>
            </p:extLst>
          </p:nvPr>
        </p:nvGraphicFramePr>
        <p:xfrm>
          <a:off x="4886325" y="4010025"/>
          <a:ext cx="4629150" cy="2305050"/>
        </p:xfrm>
        <a:graphic>
          <a:graphicData uri="http://schemas.openxmlformats.org/drawingml/2006/chart">
            <c:chart xmlns:c="http://schemas.openxmlformats.org/drawingml/2006/chart" xmlns:r="http://schemas.openxmlformats.org/officeDocument/2006/relationships" r:id="rId6"/>
          </a:graphicData>
        </a:graphic>
      </p:graphicFrame>
      <p:sp>
        <p:nvSpPr>
          <p:cNvPr id="32" name="TextBox 31">
            <a:extLst>
              <a:ext uri="{FF2B5EF4-FFF2-40B4-BE49-F238E27FC236}">
                <a16:creationId xmlns:a16="http://schemas.microsoft.com/office/drawing/2014/main" id="{FE5B05D6-7EE1-D8AE-E682-1BC3B4A2B51C}"/>
              </a:ext>
            </a:extLst>
          </p:cNvPr>
          <p:cNvSpPr txBox="1"/>
          <p:nvPr/>
        </p:nvSpPr>
        <p:spPr>
          <a:xfrm>
            <a:off x="4914900" y="3867150"/>
            <a:ext cx="1590675" cy="211203"/>
          </a:xfrm>
          <a:prstGeom prst="rect">
            <a:avLst/>
          </a:prstGeom>
          <a:noFill/>
          <a:ln w="6350">
            <a:noFill/>
            <a:prstDash val="dash"/>
          </a:ln>
        </p:spPr>
        <p:txBody>
          <a:bodyPr wrap="square" lIns="36000" tIns="36000" rIns="36000" bIns="36000" rtlCol="0" anchor="t">
            <a:spAutoFit/>
          </a:bodyPr>
          <a:lstStyle/>
          <a:p>
            <a:pPr algn="l">
              <a:spcAft>
                <a:spcPts val="200"/>
              </a:spcAft>
            </a:pPr>
            <a:r>
              <a:rPr lang="en-US" sz="900">
                <a:solidFill>
                  <a:schemeClr val="tx1"/>
                </a:solidFill>
              </a:rPr>
              <a:t>Price (S$)</a:t>
            </a:r>
            <a:endParaRPr lang="en-SG" sz="900">
              <a:solidFill>
                <a:schemeClr val="tx1"/>
              </a:solidFill>
            </a:endParaRPr>
          </a:p>
        </p:txBody>
      </p:sp>
      <p:sp>
        <p:nvSpPr>
          <p:cNvPr id="33" name="TextBox 32">
            <a:extLst>
              <a:ext uri="{FF2B5EF4-FFF2-40B4-BE49-F238E27FC236}">
                <a16:creationId xmlns:a16="http://schemas.microsoft.com/office/drawing/2014/main" id="{06027C5C-940B-0F19-616A-0C55FAC8143F}"/>
              </a:ext>
            </a:extLst>
          </p:cNvPr>
          <p:cNvSpPr txBox="1"/>
          <p:nvPr/>
        </p:nvSpPr>
        <p:spPr>
          <a:xfrm>
            <a:off x="7943850" y="3867150"/>
            <a:ext cx="1590675" cy="211203"/>
          </a:xfrm>
          <a:prstGeom prst="rect">
            <a:avLst/>
          </a:prstGeom>
          <a:noFill/>
          <a:ln w="6350">
            <a:noFill/>
            <a:prstDash val="dash"/>
          </a:ln>
        </p:spPr>
        <p:txBody>
          <a:bodyPr wrap="square" lIns="36000" tIns="36000" rIns="36000" bIns="36000" rtlCol="0" anchor="t">
            <a:spAutoFit/>
          </a:bodyPr>
          <a:lstStyle/>
          <a:p>
            <a:pPr algn="r">
              <a:spcAft>
                <a:spcPts val="200"/>
              </a:spcAft>
            </a:pPr>
            <a:r>
              <a:rPr lang="en-US" sz="900">
                <a:solidFill>
                  <a:schemeClr val="tx1"/>
                </a:solidFill>
              </a:rPr>
              <a:t>Turnover (</a:t>
            </a:r>
            <a:r>
              <a:rPr lang="en-US" sz="900" err="1">
                <a:solidFill>
                  <a:schemeClr val="tx1"/>
                </a:solidFill>
              </a:rPr>
              <a:t>S$m</a:t>
            </a:r>
            <a:r>
              <a:rPr lang="en-US" sz="900">
                <a:solidFill>
                  <a:schemeClr val="tx1"/>
                </a:solidFill>
              </a:rPr>
              <a:t>)</a:t>
            </a:r>
            <a:endParaRPr lang="en-SG" sz="900">
              <a:solidFill>
                <a:schemeClr val="tx1"/>
              </a:solidFill>
            </a:endParaRPr>
          </a:p>
        </p:txBody>
      </p:sp>
      <p:sp>
        <p:nvSpPr>
          <p:cNvPr id="34" name="TextBox 33">
            <a:extLst>
              <a:ext uri="{FF2B5EF4-FFF2-40B4-BE49-F238E27FC236}">
                <a16:creationId xmlns:a16="http://schemas.microsoft.com/office/drawing/2014/main" id="{380F5785-9187-34CF-2560-5FA9798B5961}"/>
              </a:ext>
            </a:extLst>
          </p:cNvPr>
          <p:cNvSpPr txBox="1"/>
          <p:nvPr/>
        </p:nvSpPr>
        <p:spPr>
          <a:xfrm>
            <a:off x="5981700" y="3886200"/>
            <a:ext cx="2486025" cy="334313"/>
          </a:xfrm>
          <a:prstGeom prst="rect">
            <a:avLst/>
          </a:prstGeom>
          <a:noFill/>
          <a:ln w="6350">
            <a:noFill/>
            <a:prstDash val="dash"/>
          </a:ln>
        </p:spPr>
        <p:txBody>
          <a:bodyPr wrap="square" lIns="36000" tIns="36000" rIns="36000" bIns="36000" rtlCol="0" anchor="t">
            <a:spAutoFit/>
          </a:bodyPr>
          <a:lstStyle/>
          <a:p>
            <a:pPr algn="ctr">
              <a:spcAft>
                <a:spcPts val="200"/>
              </a:spcAft>
            </a:pPr>
            <a:r>
              <a:rPr lang="en-US" sz="900">
                <a:solidFill>
                  <a:schemeClr val="tx1"/>
                </a:solidFill>
              </a:rPr>
              <a:t>CAREIT Price Performance </a:t>
            </a:r>
            <a:br>
              <a:rPr lang="en-US" sz="900">
                <a:solidFill>
                  <a:schemeClr val="tx1"/>
                </a:solidFill>
              </a:rPr>
            </a:br>
            <a:r>
              <a:rPr lang="en-US" sz="800" b="0">
                <a:solidFill>
                  <a:schemeClr val="tx1"/>
                </a:solidFill>
              </a:rPr>
              <a:t>(YTD since IPO on 25 September 2025)</a:t>
            </a:r>
            <a:endParaRPr lang="en-SG" sz="900" b="0">
              <a:solidFill>
                <a:schemeClr val="tx1"/>
              </a:solidFill>
            </a:endParaRPr>
          </a:p>
        </p:txBody>
      </p:sp>
      <p:sp>
        <p:nvSpPr>
          <p:cNvPr id="39" name="Title 1">
            <a:extLst>
              <a:ext uri="{FF2B5EF4-FFF2-40B4-BE49-F238E27FC236}">
                <a16:creationId xmlns:a16="http://schemas.microsoft.com/office/drawing/2014/main" id="{CEBBC130-01F4-9BE4-D041-859A157E4547}"/>
              </a:ext>
            </a:extLst>
          </p:cNvPr>
          <p:cNvSpPr>
            <a:spLocks noGrp="1"/>
          </p:cNvSpPr>
          <p:nvPr>
            <p:ph type="title"/>
          </p:nvPr>
        </p:nvSpPr>
        <p:spPr>
          <a:xfrm>
            <a:off x="452437" y="244800"/>
            <a:ext cx="9093899" cy="576000"/>
          </a:xfrm>
        </p:spPr>
        <p:txBody>
          <a:bodyPr/>
          <a:lstStyle/>
          <a:p>
            <a:r>
              <a:rPr lang="en-SG" b="1" noProof="0"/>
              <a:t>Case Study: </a:t>
            </a:r>
            <a:r>
              <a:rPr lang="en-SG" noProof="0"/>
              <a:t>Centurion Accommodation REIT IPO (25 September 2025)</a:t>
            </a:r>
            <a:br>
              <a:rPr lang="en-SG" noProof="0"/>
            </a:br>
            <a:r>
              <a:rPr lang="en-SG" sz="1100" i="1" noProof="0"/>
              <a:t>Strong demand backed by attractive valuation and fundamentals has fuelled stellar market performance</a:t>
            </a:r>
            <a:endParaRPr lang="en-SG" noProof="0"/>
          </a:p>
        </p:txBody>
      </p:sp>
      <p:cxnSp>
        <p:nvCxnSpPr>
          <p:cNvPr id="41" name="Straight Connector 40">
            <a:extLst>
              <a:ext uri="{FF2B5EF4-FFF2-40B4-BE49-F238E27FC236}">
                <a16:creationId xmlns:a16="http://schemas.microsoft.com/office/drawing/2014/main" id="{FE0920AD-929D-2568-B9FD-D767221D6525}"/>
              </a:ext>
            </a:extLst>
          </p:cNvPr>
          <p:cNvCxnSpPr/>
          <p:nvPr/>
        </p:nvCxnSpPr>
        <p:spPr bwMode="auto">
          <a:xfrm flipV="1">
            <a:off x="5343525" y="4352925"/>
            <a:ext cx="0" cy="1085850"/>
          </a:xfrm>
          <a:prstGeom prst="line">
            <a:avLst/>
          </a:prstGeom>
          <a:noFill/>
          <a:ln w="9525" cap="flat" cmpd="sng" algn="ctr">
            <a:solidFill>
              <a:srgbClr val="06B6EC"/>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Rectangle: Rounded Corners 42">
            <a:extLst>
              <a:ext uri="{FF2B5EF4-FFF2-40B4-BE49-F238E27FC236}">
                <a16:creationId xmlns:a16="http://schemas.microsoft.com/office/drawing/2014/main" id="{00027780-B953-D4E9-6F3B-87EE2AB4260B}"/>
              </a:ext>
            </a:extLst>
          </p:cNvPr>
          <p:cNvSpPr/>
          <p:nvPr/>
        </p:nvSpPr>
        <p:spPr bwMode="auto">
          <a:xfrm>
            <a:off x="5362575" y="4248150"/>
            <a:ext cx="1076325" cy="361950"/>
          </a:xfrm>
          <a:prstGeom prst="roundRect">
            <a:avLst/>
          </a:prstGeom>
          <a:noFill/>
          <a:ln>
            <a:noFill/>
          </a:ln>
          <a:effectLst/>
        </p:spPr>
        <p:txBody>
          <a:bodyPr vert="horz" wrap="square" lIns="36000" tIns="36000" rIns="36000" bIns="36000" numCol="1" rtlCol="0" anchor="t" anchorCtr="0" compatLnSpc="1">
            <a:prstTxWarp prst="textNoShape">
              <a:avLst/>
            </a:prstTxWarp>
          </a:bodyPr>
          <a:lstStyle/>
          <a:p>
            <a:pPr marR="0" algn="l" defTabSz="914400" rtl="0" eaLnBrk="0" fontAlgn="base" latinLnBrk="0" hangingPunct="0">
              <a:lnSpc>
                <a:spcPct val="110000"/>
              </a:lnSpc>
              <a:spcBef>
                <a:spcPct val="0"/>
              </a:spcBef>
              <a:spcAft>
                <a:spcPct val="0"/>
              </a:spcAft>
              <a:buClrTx/>
              <a:buSzTx/>
              <a:tabLst/>
            </a:pPr>
            <a:r>
              <a:rPr lang="en-US" sz="800" b="0">
                <a:solidFill>
                  <a:schemeClr val="tx1"/>
                </a:solidFill>
                <a:latin typeface="Arial" panose="020B0604020202020204" pitchFamily="34" charset="0"/>
              </a:rPr>
              <a:t>CY2026 DPU Yield: </a:t>
            </a:r>
            <a:r>
              <a:rPr lang="en-US" sz="900">
                <a:solidFill>
                  <a:srgbClr val="06B6EC"/>
                </a:solidFill>
                <a:latin typeface="Arial" panose="020B0604020202020204" pitchFamily="34" charset="0"/>
              </a:rPr>
              <a:t>7.47%</a:t>
            </a:r>
            <a:endParaRPr kumimoji="0" lang="en-SG" sz="800" i="0" u="none" strike="noStrike" cap="none" normalizeH="0" baseline="0">
              <a:ln>
                <a:noFill/>
              </a:ln>
              <a:solidFill>
                <a:srgbClr val="06B6EC"/>
              </a:solidFill>
              <a:effectLst/>
              <a:latin typeface="Arial" panose="020B0604020202020204" pitchFamily="34" charset="0"/>
            </a:endParaRPr>
          </a:p>
        </p:txBody>
      </p:sp>
      <p:cxnSp>
        <p:nvCxnSpPr>
          <p:cNvPr id="44" name="Straight Connector 43">
            <a:extLst>
              <a:ext uri="{FF2B5EF4-FFF2-40B4-BE49-F238E27FC236}">
                <a16:creationId xmlns:a16="http://schemas.microsoft.com/office/drawing/2014/main" id="{C99DD5F4-73E4-FA68-EE94-8ADD2B32042B}"/>
              </a:ext>
            </a:extLst>
          </p:cNvPr>
          <p:cNvCxnSpPr/>
          <p:nvPr/>
        </p:nvCxnSpPr>
        <p:spPr bwMode="auto">
          <a:xfrm flipV="1">
            <a:off x="9064625" y="4708525"/>
            <a:ext cx="0" cy="533400"/>
          </a:xfrm>
          <a:prstGeom prst="line">
            <a:avLst/>
          </a:prstGeom>
          <a:noFill/>
          <a:ln w="9525" cap="flat" cmpd="sng" algn="ctr">
            <a:solidFill>
              <a:srgbClr val="06B6EC"/>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Rectangle: Rounded Corners 45">
            <a:extLst>
              <a:ext uri="{FF2B5EF4-FFF2-40B4-BE49-F238E27FC236}">
                <a16:creationId xmlns:a16="http://schemas.microsoft.com/office/drawing/2014/main" id="{FEB384F0-7A7C-0F33-3428-1DDB465252C0}"/>
              </a:ext>
            </a:extLst>
          </p:cNvPr>
          <p:cNvSpPr/>
          <p:nvPr/>
        </p:nvSpPr>
        <p:spPr bwMode="auto">
          <a:xfrm>
            <a:off x="7534275" y="4902200"/>
            <a:ext cx="1552576" cy="361950"/>
          </a:xfrm>
          <a:prstGeom prst="roundRect">
            <a:avLst/>
          </a:prstGeom>
          <a:noFill/>
          <a:ln>
            <a:noFill/>
          </a:ln>
          <a:effectLst/>
        </p:spPr>
        <p:txBody>
          <a:bodyPr vert="horz" wrap="square" lIns="36000" tIns="36000" rIns="36000" bIns="36000" numCol="1" rtlCol="0" anchor="t" anchorCtr="0" compatLnSpc="1">
            <a:prstTxWarp prst="textNoShape">
              <a:avLst/>
            </a:prstTxWarp>
          </a:bodyPr>
          <a:lstStyle/>
          <a:p>
            <a:pPr marR="0" algn="r" defTabSz="914400" rtl="0" eaLnBrk="0" fontAlgn="base" latinLnBrk="0" hangingPunct="0">
              <a:lnSpc>
                <a:spcPct val="110000"/>
              </a:lnSpc>
              <a:spcBef>
                <a:spcPct val="0"/>
              </a:spcBef>
              <a:spcAft>
                <a:spcPct val="0"/>
              </a:spcAft>
              <a:buClrTx/>
              <a:buSzTx/>
              <a:tabLst/>
            </a:pPr>
            <a:r>
              <a:rPr lang="en-US" sz="800" b="0">
                <a:solidFill>
                  <a:schemeClr val="tx1"/>
                </a:solidFill>
                <a:latin typeface="Arial" panose="020B0604020202020204" pitchFamily="34" charset="0"/>
              </a:rPr>
              <a:t>Equivalent CY2026 DPU Yield: </a:t>
            </a:r>
            <a:r>
              <a:rPr lang="en-US" sz="900">
                <a:solidFill>
                  <a:srgbClr val="06B6EC"/>
                </a:solidFill>
                <a:latin typeface="Arial" panose="020B0604020202020204" pitchFamily="34" charset="0"/>
              </a:rPr>
              <a:t>6.20%</a:t>
            </a:r>
            <a:endParaRPr kumimoji="0" lang="en-SG" sz="800" i="0" u="none" strike="noStrike" cap="none" normalizeH="0" baseline="0">
              <a:ln>
                <a:noFill/>
              </a:ln>
              <a:solidFill>
                <a:srgbClr val="06B6EC"/>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0B419036-5C4C-6337-1E1E-4C5E06396DC6}"/>
              </a:ext>
            </a:extLst>
          </p:cNvPr>
          <p:cNvGraphicFramePr>
            <a:graphicFrameLocks noGrp="1"/>
          </p:cNvGraphicFramePr>
          <p:nvPr>
            <p:extLst>
              <p:ext uri="{D42A27DB-BD31-4B8C-83A1-F6EECF244321}">
                <p14:modId xmlns:p14="http://schemas.microsoft.com/office/powerpoint/2010/main" val="1725080607"/>
              </p:ext>
            </p:extLst>
          </p:nvPr>
        </p:nvGraphicFramePr>
        <p:xfrm>
          <a:off x="1653540" y="2827835"/>
          <a:ext cx="2870744" cy="1089720"/>
        </p:xfrm>
        <a:graphic>
          <a:graphicData uri="http://schemas.openxmlformats.org/drawingml/2006/table">
            <a:tbl>
              <a:tblPr firstRow="1" bandRow="1">
                <a:tableStyleId>{2D5ABB26-0587-4C30-8999-92F81FD0307C}</a:tableStyleId>
              </a:tblPr>
              <a:tblGrid>
                <a:gridCol w="1519806">
                  <a:extLst>
                    <a:ext uri="{9D8B030D-6E8A-4147-A177-3AD203B41FA5}">
                      <a16:colId xmlns:a16="http://schemas.microsoft.com/office/drawing/2014/main" val="2520959645"/>
                    </a:ext>
                  </a:extLst>
                </a:gridCol>
                <a:gridCol w="675469">
                  <a:extLst>
                    <a:ext uri="{9D8B030D-6E8A-4147-A177-3AD203B41FA5}">
                      <a16:colId xmlns:a16="http://schemas.microsoft.com/office/drawing/2014/main" val="1409242259"/>
                    </a:ext>
                  </a:extLst>
                </a:gridCol>
                <a:gridCol w="675469">
                  <a:extLst>
                    <a:ext uri="{9D8B030D-6E8A-4147-A177-3AD203B41FA5}">
                      <a16:colId xmlns:a16="http://schemas.microsoft.com/office/drawing/2014/main" val="1958738277"/>
                    </a:ext>
                  </a:extLst>
                </a:gridCol>
              </a:tblGrid>
              <a:tr h="244454">
                <a:tc>
                  <a:txBody>
                    <a:bodyPr/>
                    <a:lstStyle/>
                    <a:p>
                      <a:endParaRPr lang="en-US" sz="900" b="1">
                        <a:solidFill>
                          <a:schemeClr val="tx1"/>
                        </a:solidFill>
                        <a:latin typeface="Arial" panose="020B0604020202020204" pitchFamily="34" charset="0"/>
                        <a:cs typeface="Arial" panose="020B0604020202020204" pitchFamily="34" charset="0"/>
                      </a:endParaRPr>
                    </a:p>
                  </a:txBody>
                  <a:tcPr marL="36000" marR="36000" marT="10800" marB="10800">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Offering Size (S$m)</a:t>
                      </a:r>
                    </a:p>
                  </a:txBody>
                  <a:tcPr marL="36000" marR="36000" marT="10800" marB="10800">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 of Total Offering</a:t>
                      </a:r>
                    </a:p>
                  </a:txBody>
                  <a:tcPr marL="36000" marR="36000" marT="10800" marB="10800">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16753707"/>
                  </a:ext>
                </a:extLst>
              </a:tr>
              <a:tr h="136406">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r>
                        <a:rPr lang="en-US" sz="900" b="1">
                          <a:solidFill>
                            <a:schemeClr val="tx1"/>
                          </a:solidFill>
                          <a:latin typeface="Arial" panose="020B0604020202020204" pitchFamily="34" charset="0"/>
                          <a:cs typeface="Arial" panose="020B0604020202020204" pitchFamily="34" charset="0"/>
                        </a:rPr>
                        <a:t>(i) Cornerstone</a:t>
                      </a:r>
                    </a:p>
                  </a:txBody>
                  <a:tcPr marL="36000" marR="36000" marT="10800" marB="10800">
                    <a:lnT w="6350" cap="flat" cmpd="sng" algn="ctr">
                      <a:solidFill>
                        <a:schemeClr val="bg1">
                          <a:lumMod val="75000"/>
                        </a:schemeClr>
                      </a:solidFill>
                      <a:prstDash val="solid"/>
                      <a:round/>
                      <a:headEnd type="none" w="med" len="med"/>
                      <a:tailEnd type="none" w="med" len="med"/>
                    </a:lnT>
                  </a:tcPr>
                </a:tc>
                <a:tc>
                  <a:txBody>
                    <a:bodyPr/>
                    <a:lstStyle>
                      <a:lvl1pPr marL="0" algn="l" defTabSz="742950" rtl="0" eaLnBrk="1" latinLnBrk="0" hangingPunct="1">
                        <a:defRPr sz="1463" kern="1200">
                          <a:solidFill>
                            <a:schemeClr val="tx1"/>
                          </a:solidFill>
                          <a:latin typeface="Neue Haas Grotesk Text Pro"/>
                          <a:ea typeface="STKaiti"/>
                        </a:defRPr>
                      </a:lvl1pPr>
                      <a:lvl2pPr marL="371475" algn="l" defTabSz="742950" rtl="0" eaLnBrk="1" latinLnBrk="0" hangingPunct="1">
                        <a:defRPr sz="1463" kern="1200">
                          <a:solidFill>
                            <a:schemeClr val="tx1"/>
                          </a:solidFill>
                          <a:latin typeface="Neue Haas Grotesk Text Pro"/>
                          <a:ea typeface="STKaiti"/>
                        </a:defRPr>
                      </a:lvl2pPr>
                      <a:lvl3pPr marL="742950" algn="l" defTabSz="742950" rtl="0" eaLnBrk="1" latinLnBrk="0" hangingPunct="1">
                        <a:defRPr sz="1463" kern="1200">
                          <a:solidFill>
                            <a:schemeClr val="tx1"/>
                          </a:solidFill>
                          <a:latin typeface="Neue Haas Grotesk Text Pro"/>
                          <a:ea typeface="STKaiti"/>
                        </a:defRPr>
                      </a:lvl3pPr>
                      <a:lvl4pPr marL="1114425" algn="l" defTabSz="742950" rtl="0" eaLnBrk="1" latinLnBrk="0" hangingPunct="1">
                        <a:defRPr sz="1463" kern="1200">
                          <a:solidFill>
                            <a:schemeClr val="tx1"/>
                          </a:solidFill>
                          <a:latin typeface="Neue Haas Grotesk Text Pro"/>
                          <a:ea typeface="STKaiti"/>
                        </a:defRPr>
                      </a:lvl4pPr>
                      <a:lvl5pPr marL="1485900" algn="l" defTabSz="742950" rtl="0" eaLnBrk="1" latinLnBrk="0" hangingPunct="1">
                        <a:defRPr sz="1463" kern="1200">
                          <a:solidFill>
                            <a:schemeClr val="tx1"/>
                          </a:solidFill>
                          <a:latin typeface="Neue Haas Grotesk Text Pro"/>
                          <a:ea typeface="STKaiti"/>
                        </a:defRPr>
                      </a:lvl5pPr>
                      <a:lvl6pPr marL="1857375" algn="l" defTabSz="742950" rtl="0" eaLnBrk="1" latinLnBrk="0" hangingPunct="1">
                        <a:defRPr sz="1463" kern="1200">
                          <a:solidFill>
                            <a:schemeClr val="tx1"/>
                          </a:solidFill>
                          <a:latin typeface="Neue Haas Grotesk Text Pro"/>
                          <a:ea typeface="STKaiti"/>
                        </a:defRPr>
                      </a:lvl6pPr>
                      <a:lvl7pPr marL="2228850" algn="l" defTabSz="742950" rtl="0" eaLnBrk="1" latinLnBrk="0" hangingPunct="1">
                        <a:defRPr sz="1463" kern="1200">
                          <a:solidFill>
                            <a:schemeClr val="tx1"/>
                          </a:solidFill>
                          <a:latin typeface="Neue Haas Grotesk Text Pro"/>
                          <a:ea typeface="STKaiti"/>
                        </a:defRPr>
                      </a:lvl7pPr>
                      <a:lvl8pPr marL="2600325" algn="l" defTabSz="742950" rtl="0" eaLnBrk="1" latinLnBrk="0" hangingPunct="1">
                        <a:defRPr sz="1463" kern="1200">
                          <a:solidFill>
                            <a:schemeClr val="tx1"/>
                          </a:solidFill>
                          <a:latin typeface="Neue Haas Grotesk Text Pro"/>
                          <a:ea typeface="STKaiti"/>
                        </a:defRPr>
                      </a:lvl8pPr>
                      <a:lvl9pPr marL="2971800" algn="l" defTabSz="742950" rtl="0" eaLnBrk="1" latinLnBrk="0" hangingPunct="1">
                        <a:defRPr sz="1463" kern="1200">
                          <a:solidFill>
                            <a:schemeClr val="tx1"/>
                          </a:solidFill>
                          <a:latin typeface="Neue Haas Grotesk Text Pro"/>
                          <a:ea typeface="STKaiti"/>
                        </a:defRPr>
                      </a:lvl9p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540.4</a:t>
                      </a:r>
                    </a:p>
                  </a:txBody>
                  <a:tcPr marL="36000" marR="36000" marT="10800" marB="10800">
                    <a:lnT w="6350" cap="flat" cmpd="sng" algn="ctr">
                      <a:solidFill>
                        <a:schemeClr val="bg1">
                          <a:lumMod val="75000"/>
                        </a:schemeClr>
                      </a:solidFill>
                      <a:prstDash val="solid"/>
                      <a:round/>
                      <a:headEnd type="none" w="med" len="med"/>
                      <a:tailEnd type="none" w="med" len="med"/>
                    </a:lnT>
                  </a:tcPr>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70.1%</a:t>
                      </a:r>
                    </a:p>
                  </a:txBody>
                  <a:tcPr marL="36000" marR="36000" marT="10800" marB="10800">
                    <a:lnT w="635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2666853141"/>
                  </a:ext>
                </a:extLst>
              </a:tr>
              <a:tr h="136406">
                <a:tc>
                  <a:txBody>
                    <a:bodyPr/>
                    <a:lstStyle/>
                    <a:p>
                      <a:r>
                        <a:rPr lang="en-US" sz="900" b="1">
                          <a:solidFill>
                            <a:schemeClr val="tx1"/>
                          </a:solidFill>
                          <a:latin typeface="Arial" panose="020B0604020202020204" pitchFamily="34" charset="0"/>
                          <a:cs typeface="Arial" panose="020B0604020202020204" pitchFamily="34" charset="0"/>
                        </a:rPr>
                        <a:t>(ii) Offering:</a:t>
                      </a:r>
                    </a:p>
                  </a:txBody>
                  <a:tcPr marL="36000" marR="36000" marT="10800" marB="10800"/>
                </a:tc>
                <a:tc>
                  <a:txBody>
                    <a:bodyPr/>
                    <a:lstStyle/>
                    <a:p>
                      <a:pPr marL="0" indent="0" algn="r">
                        <a:buFont typeface="Wingdings" panose="05000000000000000000" pitchFamily="2" charset="2"/>
                        <a:buNone/>
                      </a:pPr>
                      <a:endParaRPr lang="en-US" sz="900">
                        <a:latin typeface="Arial" panose="020B0604020202020204" pitchFamily="34" charset="0"/>
                        <a:cs typeface="Arial" panose="020B0604020202020204" pitchFamily="34" charset="0"/>
                      </a:endParaRPr>
                    </a:p>
                  </a:txBody>
                  <a:tcPr marL="36000" marR="36000" marT="10800" marB="10800"/>
                </a:tc>
                <a:tc>
                  <a:txBody>
                    <a:bodyPr/>
                    <a:lstStyle/>
                    <a:p>
                      <a:pPr marL="0" indent="0" algn="r">
                        <a:buFont typeface="Wingdings" panose="05000000000000000000" pitchFamily="2" charset="2"/>
                        <a:buNone/>
                      </a:pPr>
                      <a:endParaRPr lang="en-US" sz="900">
                        <a:latin typeface="Arial" panose="020B0604020202020204" pitchFamily="34" charset="0"/>
                        <a:cs typeface="Arial" panose="020B0604020202020204" pitchFamily="34" charset="0"/>
                      </a:endParaRPr>
                    </a:p>
                  </a:txBody>
                  <a:tcPr marL="36000" marR="36000" marT="10800" marB="10800"/>
                </a:tc>
                <a:extLst>
                  <a:ext uri="{0D108BD9-81ED-4DB2-BD59-A6C34878D82A}">
                    <a16:rowId xmlns:a16="http://schemas.microsoft.com/office/drawing/2014/main" val="2143392398"/>
                  </a:ext>
                </a:extLst>
              </a:tr>
              <a:tr h="136406">
                <a:tc>
                  <a:txBody>
                    <a:bodyPr/>
                    <a:lstStyle/>
                    <a:p>
                      <a:r>
                        <a:rPr lang="en-US" sz="900" b="1">
                          <a:solidFill>
                            <a:schemeClr val="tx1"/>
                          </a:solidFill>
                          <a:latin typeface="Arial" panose="020B0604020202020204" pitchFamily="34" charset="0"/>
                          <a:cs typeface="Arial" panose="020B0604020202020204" pitchFamily="34" charset="0"/>
                        </a:rPr>
                        <a:t>      Placement Tranche</a:t>
                      </a:r>
                    </a:p>
                  </a:txBody>
                  <a:tcPr marL="36000" marR="36000" marT="10800" marB="10800"/>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219.1</a:t>
                      </a:r>
                    </a:p>
                  </a:txBody>
                  <a:tcPr marL="36000" marR="36000" marT="10800" marB="10800"/>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28.4%</a:t>
                      </a:r>
                    </a:p>
                  </a:txBody>
                  <a:tcPr marL="36000" marR="36000" marT="10800" marB="10800"/>
                </a:tc>
                <a:extLst>
                  <a:ext uri="{0D108BD9-81ED-4DB2-BD59-A6C34878D82A}">
                    <a16:rowId xmlns:a16="http://schemas.microsoft.com/office/drawing/2014/main" val="1617412288"/>
                  </a:ext>
                </a:extLst>
              </a:tr>
              <a:tr h="136406">
                <a:tc>
                  <a:txBody>
                    <a:bodyPr/>
                    <a:lstStyle/>
                    <a:p>
                      <a:r>
                        <a:rPr lang="en-US" sz="900" b="1">
                          <a:solidFill>
                            <a:schemeClr val="tx1"/>
                          </a:solidFill>
                          <a:latin typeface="Arial" panose="020B0604020202020204" pitchFamily="34" charset="0"/>
                          <a:cs typeface="Arial" panose="020B0604020202020204" pitchFamily="34" charset="0"/>
                        </a:rPr>
                        <a:t>      Public Offer Tranche</a:t>
                      </a:r>
                    </a:p>
                  </a:txBody>
                  <a:tcPr marL="36000" marR="36000" marT="10800" marB="10800">
                    <a:lnB w="6350" cap="flat" cmpd="sng" algn="ctr">
                      <a:solidFill>
                        <a:schemeClr val="bg1">
                          <a:lumMod val="75000"/>
                        </a:schemeClr>
                      </a:solidFill>
                      <a:prstDash val="solid"/>
                      <a:round/>
                      <a:headEnd type="none" w="med" len="med"/>
                      <a:tailEnd type="none" w="med" len="med"/>
                    </a:lnB>
                  </a:tcPr>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11.6</a:t>
                      </a:r>
                    </a:p>
                  </a:txBody>
                  <a:tcPr marL="36000" marR="36000" marT="10800" marB="10800">
                    <a:lnB w="6350" cap="flat" cmpd="sng" algn="ctr">
                      <a:solidFill>
                        <a:schemeClr val="bg1">
                          <a:lumMod val="75000"/>
                        </a:schemeClr>
                      </a:solidFill>
                      <a:prstDash val="solid"/>
                      <a:round/>
                      <a:headEnd type="none" w="med" len="med"/>
                      <a:tailEnd type="none" w="med" len="med"/>
                    </a:lnB>
                  </a:tcPr>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1.5%</a:t>
                      </a:r>
                    </a:p>
                  </a:txBody>
                  <a:tcPr marL="36000" marR="36000" marT="10800" marB="10800">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6375076"/>
                  </a:ext>
                </a:extLst>
              </a:tr>
              <a:tr h="136406">
                <a:tc>
                  <a:txBody>
                    <a:bodyPr/>
                    <a:lstStyle/>
                    <a:p>
                      <a:r>
                        <a:rPr lang="en-US" sz="900" b="1">
                          <a:solidFill>
                            <a:schemeClr val="tx1"/>
                          </a:solidFill>
                          <a:latin typeface="Arial" panose="020B0604020202020204" pitchFamily="34" charset="0"/>
                          <a:cs typeface="Arial" panose="020B0604020202020204" pitchFamily="34" charset="0"/>
                        </a:rPr>
                        <a:t>Total</a:t>
                      </a:r>
                    </a:p>
                  </a:txBody>
                  <a:tcPr marL="36000" marR="36000" marT="10800" marB="10800">
                    <a:lnT w="6350" cap="flat" cmpd="sng" algn="ctr">
                      <a:solidFill>
                        <a:schemeClr val="bg1">
                          <a:lumMod val="75000"/>
                        </a:schemeClr>
                      </a:solidFill>
                      <a:prstDash val="solid"/>
                      <a:round/>
                      <a:headEnd type="none" w="med" len="med"/>
                      <a:tailEnd type="none" w="med" len="med"/>
                    </a:lnT>
                  </a:tcPr>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771.1</a:t>
                      </a:r>
                    </a:p>
                  </a:txBody>
                  <a:tcPr marL="36000" marR="36000" marT="10800" marB="10800">
                    <a:lnT w="6350" cap="flat" cmpd="sng" algn="ctr">
                      <a:solidFill>
                        <a:schemeClr val="bg1">
                          <a:lumMod val="75000"/>
                        </a:schemeClr>
                      </a:solidFill>
                      <a:prstDash val="solid"/>
                      <a:round/>
                      <a:headEnd type="none" w="med" len="med"/>
                      <a:tailEnd type="none" w="med" len="med"/>
                    </a:lnT>
                  </a:tcPr>
                </a:tc>
                <a:tc>
                  <a:txBody>
                    <a:bodyPr/>
                    <a:lstStyle/>
                    <a:p>
                      <a:pPr marL="0" indent="0" algn="r">
                        <a:buFont typeface="Wingdings" panose="05000000000000000000" pitchFamily="2" charset="2"/>
                        <a:buNone/>
                      </a:pPr>
                      <a:r>
                        <a:rPr lang="en-US" sz="900">
                          <a:latin typeface="Arial" panose="020B0604020202020204" pitchFamily="34" charset="0"/>
                          <a:cs typeface="Arial" panose="020B0604020202020204" pitchFamily="34" charset="0"/>
                        </a:rPr>
                        <a:t>100.0%</a:t>
                      </a:r>
                    </a:p>
                  </a:txBody>
                  <a:tcPr marL="36000" marR="36000" marT="10800" marB="10800">
                    <a:lnT w="6350"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3128008641"/>
                  </a:ext>
                </a:extLst>
              </a:tr>
            </a:tbl>
          </a:graphicData>
        </a:graphic>
      </p:graphicFrame>
      <p:sp>
        <p:nvSpPr>
          <p:cNvPr id="2" name="Slide Number Placeholder 1">
            <a:extLst>
              <a:ext uri="{FF2B5EF4-FFF2-40B4-BE49-F238E27FC236}">
                <a16:creationId xmlns:a16="http://schemas.microsoft.com/office/drawing/2014/main" id="{46C508E3-8A63-C5E9-990E-94F0BC1AD840}"/>
              </a:ext>
            </a:extLst>
          </p:cNvPr>
          <p:cNvSpPr>
            <a:spLocks noGrp="1"/>
          </p:cNvSpPr>
          <p:nvPr>
            <p:ph type="sldNum" sz="quarter" idx="11"/>
          </p:nvPr>
        </p:nvSpPr>
        <p:spPr/>
        <p:txBody>
          <a:bodyPr/>
          <a:lstStyle/>
          <a:p>
            <a:pPr>
              <a:defRPr/>
            </a:pPr>
            <a:fld id="{EED7964B-8F50-47E5-B5EE-37748C966AF4}" type="slidenum">
              <a:rPr lang="en-US" smtClean="0"/>
              <a:pPr>
                <a:defRPr/>
              </a:pPr>
              <a:t>44</a:t>
            </a:fld>
            <a:endParaRPr lang="en-US"/>
          </a:p>
        </p:txBody>
      </p:sp>
      <p:sp>
        <p:nvSpPr>
          <p:cNvPr id="3" name="TextBox 2">
            <a:extLst>
              <a:ext uri="{FF2B5EF4-FFF2-40B4-BE49-F238E27FC236}">
                <a16:creationId xmlns:a16="http://schemas.microsoft.com/office/drawing/2014/main" id="{687E4875-6D20-8AF4-1DBB-0DA5A9067447}"/>
              </a:ext>
            </a:extLst>
          </p:cNvPr>
          <p:cNvSpPr txBox="1"/>
          <p:nvPr/>
        </p:nvSpPr>
        <p:spPr>
          <a:xfrm>
            <a:off x="452438" y="911559"/>
            <a:ext cx="4197034" cy="216396"/>
          </a:xfrm>
          <a:prstGeom prst="roundRect">
            <a:avLst>
              <a:gd name="adj" fmla="val 50000"/>
            </a:avLst>
          </a:prstGeom>
          <a:solidFill>
            <a:srgbClr val="089C8B"/>
          </a:solidFill>
          <a:ln w="6350">
            <a:noFill/>
            <a:prstDash val="dash"/>
          </a:ln>
          <a:effectLst>
            <a:outerShdw blurRad="50800" dist="38100" dir="2700000" algn="tl" rotWithShape="0">
              <a:prstClr val="black">
                <a:alpha val="40000"/>
              </a:prstClr>
            </a:outerShdw>
          </a:effectLst>
        </p:spPr>
        <p:txBody>
          <a:bodyPr wrap="square" lIns="36000" tIns="0" rIns="36000" bIns="0" rtlCol="0" anchor="ctr">
            <a:spAutoFit/>
          </a:bodyPr>
          <a:lstStyle/>
          <a:p>
            <a:pPr algn="ctr">
              <a:spcAft>
                <a:spcPts val="0"/>
              </a:spcAft>
            </a:pPr>
            <a:r>
              <a:rPr lang="en-US" sz="1000">
                <a:solidFill>
                  <a:schemeClr val="bg1"/>
                </a:solidFill>
              </a:rPr>
              <a:t>Transaction Overview</a:t>
            </a:r>
          </a:p>
        </p:txBody>
      </p:sp>
    </p:spTree>
    <p:extLst>
      <p:ext uri="{BB962C8B-B14F-4D97-AF65-F5344CB8AC3E}">
        <p14:creationId xmlns:p14="http://schemas.microsoft.com/office/powerpoint/2010/main" val="1159268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0FA6E-1410-4CBB-7539-79404074F5A5}"/>
            </a:ext>
          </a:extLst>
        </p:cNvPr>
        <p:cNvGrpSpPr/>
        <p:nvPr/>
      </p:nvGrpSpPr>
      <p:grpSpPr>
        <a:xfrm>
          <a:off x="0" y="0"/>
          <a:ext cx="0" cy="0"/>
          <a:chOff x="0" y="0"/>
          <a:chExt cx="0" cy="0"/>
        </a:xfrm>
      </p:grpSpPr>
    </p:spTree>
    <p:extLst>
      <p:ext uri="{BB962C8B-B14F-4D97-AF65-F5344CB8AC3E}">
        <p14:creationId xmlns:p14="http://schemas.microsoft.com/office/powerpoint/2010/main" val="26479721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83e2480-703a-4536-938d-6f2928d55c6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AFSPANMODE" val="span"/>
</p:tagLst>
</file>

<file path=ppt/tags/tag9.xml><?xml version="1.0" encoding="utf-8"?>
<p:tagLst xmlns:a="http://schemas.openxmlformats.org/drawingml/2006/main" xmlns:r="http://schemas.openxmlformats.org/officeDocument/2006/relationships" xmlns:p="http://schemas.openxmlformats.org/presentationml/2006/main">
  <p:tag name="AFSPANMODE" val="span"/>
</p:tagLst>
</file>

<file path=ppt/tags/tag10.xml><?xml version="1.0" encoding="utf-8"?>
<p:tagLst xmlns:a="http://schemas.openxmlformats.org/drawingml/2006/main" xmlns:r="http://schemas.openxmlformats.org/officeDocument/2006/relationships" xmlns:p="http://schemas.openxmlformats.org/presentationml/2006/main">
  <p:tag name="AFSPANMODE" val="span"/>
</p:tagLst>
</file>

<file path=ppt/tags/tag11.xml><?xml version="1.0" encoding="utf-8"?>
<p:tagLst xmlns:a="http://schemas.openxmlformats.org/drawingml/2006/main" xmlns:r="http://schemas.openxmlformats.org/officeDocument/2006/relationships" xmlns:p="http://schemas.openxmlformats.org/presentationml/2006/main">
  <p:tag name="AFSPANMODE" val="span"/>
</p:tagLst>
</file>

<file path=ppt/tags/tag12.xml><?xml version="1.0" encoding="utf-8"?>
<p:tagLst xmlns:a="http://schemas.openxmlformats.org/drawingml/2006/main" xmlns:r="http://schemas.openxmlformats.org/officeDocument/2006/relationships" xmlns:p="http://schemas.openxmlformats.org/presentationml/2006/main">
  <p:tag name="AFSPANMODE" val="span"/>
</p:tagLst>
</file>

<file path=ppt/tags/tag13.xml><?xml version="1.0" encoding="utf-8"?>
<p:tagLst xmlns:a="http://schemas.openxmlformats.org/drawingml/2006/main" xmlns:r="http://schemas.openxmlformats.org/officeDocument/2006/relationships" xmlns:p="http://schemas.openxmlformats.org/presentationml/2006/main">
  <p:tag name="AFSPANMODE" val="span"/>
</p:tagLst>
</file>

<file path=ppt/tags/tag14.xml><?xml version="1.0" encoding="utf-8"?>
<p:tagLst xmlns:a="http://schemas.openxmlformats.org/drawingml/2006/main" xmlns:r="http://schemas.openxmlformats.org/officeDocument/2006/relationships" xmlns:p="http://schemas.openxmlformats.org/presentationml/2006/main">
  <p:tag name="AFSPANMODE" val="span"/>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ags/tag16.xml><?xml version="1.0" encoding="utf-8"?>
<p:tagLst xmlns:a="http://schemas.openxmlformats.org/drawingml/2006/main" xmlns:r="http://schemas.openxmlformats.org/officeDocument/2006/relationships" xmlns:p="http://schemas.openxmlformats.org/presentationml/2006/main">
  <p:tag name="AFSPANMODE" val="span"/>
</p:tagLst>
</file>

<file path=ppt/tags/tag17.xml><?xml version="1.0" encoding="utf-8"?>
<p:tagLst xmlns:a="http://schemas.openxmlformats.org/drawingml/2006/main" xmlns:r="http://schemas.openxmlformats.org/officeDocument/2006/relationships" xmlns:p="http://schemas.openxmlformats.org/presentationml/2006/main">
  <p:tag name="AFSPANMODE" val="span"/>
</p:tagLst>
</file>

<file path=ppt/tags/tag18.xml><?xml version="1.0" encoding="utf-8"?>
<p:tagLst xmlns:a="http://schemas.openxmlformats.org/drawingml/2006/main" xmlns:r="http://schemas.openxmlformats.org/officeDocument/2006/relationships" xmlns:p="http://schemas.openxmlformats.org/presentationml/2006/main">
  <p:tag name="AFSPANMODE" val="span"/>
</p:tagLst>
</file>

<file path=ppt/tags/tag19.xml><?xml version="1.0" encoding="utf-8"?>
<p:tagLst xmlns:a="http://schemas.openxmlformats.org/drawingml/2006/main" xmlns:r="http://schemas.openxmlformats.org/officeDocument/2006/relationships" xmlns:p="http://schemas.openxmlformats.org/presentationml/2006/main">
  <p:tag name="AFSPANMODE" val="span"/>
</p:tagLst>
</file>

<file path=ppt/tags/tag20.xml><?xml version="1.0" encoding="utf-8"?>
<p:tagLst xmlns:a="http://schemas.openxmlformats.org/drawingml/2006/main" xmlns:r="http://schemas.openxmlformats.org/officeDocument/2006/relationships" xmlns:p="http://schemas.openxmlformats.org/presentationml/2006/main">
  <p:tag name="AFSPANMODE" val="span"/>
</p:tagLst>
</file>

<file path=ppt/tags/tag21.xml><?xml version="1.0" encoding="utf-8"?>
<p:tagLst xmlns:a="http://schemas.openxmlformats.org/drawingml/2006/main" xmlns:r="http://schemas.openxmlformats.org/officeDocument/2006/relationships" xmlns:p="http://schemas.openxmlformats.org/presentationml/2006/main">
  <p:tag name="AFSPANMODE" val="span"/>
</p:tagLst>
</file>

<file path=ppt/tags/tag22.xml><?xml version="1.0" encoding="utf-8"?>
<p:tagLst xmlns:a="http://schemas.openxmlformats.org/drawingml/2006/main" xmlns:r="http://schemas.openxmlformats.org/officeDocument/2006/relationships" xmlns:p="http://schemas.openxmlformats.org/presentationml/2006/main">
  <p:tag name="AFSPANMODE" val="span"/>
</p:tagLst>
</file>

<file path=ppt/tags/tag23.xml><?xml version="1.0" encoding="utf-8"?>
<p:tagLst xmlns:a="http://schemas.openxmlformats.org/drawingml/2006/main" xmlns:r="http://schemas.openxmlformats.org/officeDocument/2006/relationships" xmlns:p="http://schemas.openxmlformats.org/presentationml/2006/main">
  <p:tag name="AFSPANMODE" val="span"/>
</p:tagLst>
</file>

<file path=ppt/tags/tag24.xml><?xml version="1.0" encoding="utf-8"?>
<p:tagLst xmlns:a="http://schemas.openxmlformats.org/drawingml/2006/main" xmlns:r="http://schemas.openxmlformats.org/officeDocument/2006/relationships" xmlns:p="http://schemas.openxmlformats.org/presentationml/2006/main">
  <p:tag name="AFSPANMODE" val="span"/>
</p:tagLst>
</file>

<file path=ppt/tags/tag25.xml><?xml version="1.0" encoding="utf-8"?>
<p:tagLst xmlns:a="http://schemas.openxmlformats.org/drawingml/2006/main" xmlns:r="http://schemas.openxmlformats.org/officeDocument/2006/relationships" xmlns:p="http://schemas.openxmlformats.org/presentationml/2006/main">
  <p:tag name="AFSPANMODE" val="span"/>
</p:tagLst>
</file>

<file path=ppt/tags/tag26.xml><?xml version="1.0" encoding="utf-8"?>
<p:tagLst xmlns:a="http://schemas.openxmlformats.org/drawingml/2006/main" xmlns:r="http://schemas.openxmlformats.org/officeDocument/2006/relationships" xmlns:p="http://schemas.openxmlformats.org/presentationml/2006/main">
  <p:tag name="AFSPANMODE" val="span"/>
</p:tagLst>
</file>

<file path=ppt/tags/tag27.xml><?xml version="1.0" encoding="utf-8"?>
<p:tagLst xmlns:a="http://schemas.openxmlformats.org/drawingml/2006/main" xmlns:r="http://schemas.openxmlformats.org/officeDocument/2006/relationships" xmlns:p="http://schemas.openxmlformats.org/presentationml/2006/main">
  <p:tag name="AFSPANMODE" val="span"/>
</p:tagLst>
</file>

<file path=ppt/tags/tag28.xml><?xml version="1.0" encoding="utf-8"?>
<p:tagLst xmlns:a="http://schemas.openxmlformats.org/drawingml/2006/main" xmlns:r="http://schemas.openxmlformats.org/officeDocument/2006/relationships" xmlns:p="http://schemas.openxmlformats.org/presentationml/2006/main">
  <p:tag name="AFSPANMODE" val="span"/>
</p:tagLst>
</file>

<file path=ppt/tags/tag29.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DBS-CMG_v1.6">
  <a:themeElements>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bg1">
            <a:lumMod val="95000"/>
          </a:schemeClr>
        </a:solidFill>
        <a:ln>
          <a:noFill/>
        </a:ln>
        <a:effectLst>
          <a:outerShdw blurRad="50800" dist="38100" dir="2700000" algn="ctr" rotWithShape="0">
            <a:schemeClr val="tx1">
              <a:alpha val="40000"/>
            </a:schemeClr>
          </a:outerShdw>
        </a:effectLst>
      </a:spPr>
      <a:bodyPr vert="horz" wrap="square" lIns="36000" tIns="36000" rIns="36000" bIns="36000" numCol="1" rtlCol="0" anchor="t" anchorCtr="0" compatLnSpc="1">
        <a:prstTxWarp prst="textNoShape">
          <a:avLst/>
        </a:prstTxWarp>
      </a:bodyPr>
      <a:lstStyle>
        <a:defPPr marL="171450" marR="0" indent="-171450" algn="l" defTabSz="914400" rtl="0" eaLnBrk="0" fontAlgn="base" latinLnBrk="0" hangingPunct="0">
          <a:lnSpc>
            <a:spcPct val="110000"/>
          </a:lnSpc>
          <a:spcBef>
            <a:spcPct val="0"/>
          </a:spcBef>
          <a:spcAft>
            <a:spcPct val="0"/>
          </a:spcAft>
          <a:buClrTx/>
          <a:buSzTx/>
          <a:buFont typeface="Arial" panose="020B0604020202020204" pitchFamily="34" charset="0"/>
          <a:buChar char="•"/>
          <a:tabLst/>
          <a:defRPr kumimoji="0" sz="1000" b="0" i="0" u="none" strike="noStrike" cap="none" normalizeH="0" baseline="0" dirty="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1" i="0" u="none" strike="noStrike" cap="none" normalizeH="0" baseline="0" smtClean="0">
            <a:ln>
              <a:noFill/>
            </a:ln>
            <a:solidFill>
              <a:schemeClr val="tx1"/>
            </a:solidFill>
            <a:effectLst/>
            <a:latin typeface="Arial" panose="020B0604020202020204" pitchFamily="34" charset="0"/>
          </a:defRPr>
        </a:defPPr>
      </a:lstStyle>
    </a:lnDef>
    <a:txDef>
      <a:spPr>
        <a:solidFill>
          <a:srgbClr val="FFFF00"/>
        </a:solidFill>
        <a:ln w="6350">
          <a:noFill/>
          <a:prstDash val="dash"/>
        </a:ln>
      </a:spPr>
      <a:bodyPr wrap="square" lIns="36000" tIns="36000" rIns="36000" bIns="36000" rtlCol="0" anchor="t">
        <a:spAutoFit/>
      </a:bodyPr>
      <a:lstStyle>
        <a:defPPr algn="l">
          <a:spcAft>
            <a:spcPts val="200"/>
          </a:spcAft>
          <a:defRPr sz="900" b="0" dirty="0" smtClean="0">
            <a:solidFill>
              <a:schemeClr val="tx1"/>
            </a:solidFill>
          </a:defRPr>
        </a:defPPr>
      </a:lstStyle>
    </a:txDef>
  </a:objectDefaults>
  <a:extraClrSchemeLst>
    <a:extraClrScheme>
      <a:clrScheme name="DBS PPT template 020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S PPT template 020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BS PPT template 020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S PPT template 020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S PPT template 02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S PPT template 02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BS PPT template 02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S Colour Theme" id="{96DFB9BB-14DA-4277-8074-37C6C6857950}" vid="{04737458-0D02-45A3-8C9C-C6F56AD3942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Custom 1">
    <a:dk1>
      <a:sysClr val="windowText" lastClr="000000"/>
    </a:dk1>
    <a:lt1>
      <a:sysClr val="window" lastClr="FFFFFF"/>
    </a:lt1>
    <a:dk2>
      <a:srgbClr val="44546A"/>
    </a:dk2>
    <a:lt2>
      <a:srgbClr val="E7E6E6"/>
    </a:lt2>
    <a:accent1>
      <a:srgbClr val="CC0000"/>
    </a:accent1>
    <a:accent2>
      <a:srgbClr val="262626"/>
    </a:accent2>
    <a:accent3>
      <a:srgbClr val="FDBBBC"/>
    </a:accent3>
    <a:accent4>
      <a:srgbClr val="8E0408"/>
    </a:accent4>
    <a:accent5>
      <a:srgbClr val="FBDA97"/>
    </a:accent5>
    <a:accent6>
      <a:srgbClr val="717171"/>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Custom 14">
    <a:dk1>
      <a:srgbClr val="000000"/>
    </a:dk1>
    <a:lt1>
      <a:srgbClr val="FFFFFF"/>
    </a:lt1>
    <a:dk2>
      <a:srgbClr val="262626"/>
    </a:dk2>
    <a:lt2>
      <a:srgbClr val="E6E6E6"/>
    </a:lt2>
    <a:accent1>
      <a:srgbClr val="CC0000"/>
    </a:accent1>
    <a:accent2>
      <a:srgbClr val="333333"/>
    </a:accent2>
    <a:accent3>
      <a:srgbClr val="FDBBBC"/>
    </a:accent3>
    <a:accent4>
      <a:srgbClr val="940408"/>
    </a:accent4>
    <a:accent5>
      <a:srgbClr val="FBDA97"/>
    </a:accent5>
    <a:accent6>
      <a:srgbClr val="717171"/>
    </a:accent6>
    <a:hlink>
      <a:srgbClr val="969696"/>
    </a:hlink>
    <a:folHlink>
      <a:srgbClr val="E6E6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Custom 14">
    <a:dk1>
      <a:srgbClr val="000000"/>
    </a:dk1>
    <a:lt1>
      <a:srgbClr val="FFFFFF"/>
    </a:lt1>
    <a:dk2>
      <a:srgbClr val="262626"/>
    </a:dk2>
    <a:lt2>
      <a:srgbClr val="E6E6E6"/>
    </a:lt2>
    <a:accent1>
      <a:srgbClr val="CC0000"/>
    </a:accent1>
    <a:accent2>
      <a:srgbClr val="333333"/>
    </a:accent2>
    <a:accent3>
      <a:srgbClr val="FDBBBC"/>
    </a:accent3>
    <a:accent4>
      <a:srgbClr val="940408"/>
    </a:accent4>
    <a:accent5>
      <a:srgbClr val="FBDA97"/>
    </a:accent5>
    <a:accent6>
      <a:srgbClr val="717171"/>
    </a:accent6>
    <a:hlink>
      <a:srgbClr val="969696"/>
    </a:hlink>
    <a:folHlink>
      <a:srgbClr val="E6E6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58048602-5fd1-4777-b2d4-750a4696923f">
      <UserInfo>
        <DisplayName>Joanne Hoy Yan PANG</DisplayName>
        <AccountId>34</AccountId>
        <AccountType/>
      </UserInfo>
      <UserInfo>
        <DisplayName>CM Connect Admin - HK Content</DisplayName>
        <AccountId>38</AccountId>
        <AccountType/>
      </UserInfo>
      <UserInfo>
        <DisplayName>Limited Access System Group For List 0989de2b-2f9f-4cc7-b069-62f6084c2af1</DisplayName>
        <AccountId>109</AccountId>
        <AccountType/>
      </UserInfo>
      <UserInfo>
        <DisplayName>Cathy Wen LONG</DisplayName>
        <AccountId>46</AccountId>
        <AccountType/>
      </UserInfo>
      <UserInfo>
        <DisplayName>Le Sa CHEAH</DisplayName>
        <AccountId>32</AccountId>
        <AccountType/>
      </UserInfo>
      <UserInfo>
        <DisplayName>Jonathan HO</DisplayName>
        <AccountId>54</AccountId>
        <AccountType/>
      </UserInfo>
      <UserInfo>
        <DisplayName>Wei Han LOH</DisplayName>
        <AccountId>128</AccountId>
        <AccountType/>
      </UserInfo>
      <UserInfo>
        <DisplayName>Christopher Leng Chong SAW</DisplayName>
        <AccountId>92</AccountId>
        <AccountType/>
      </UserInfo>
      <UserInfo>
        <DisplayName>Sanjog KUSUMWAL</DisplayName>
        <AccountId>85</AccountId>
        <AccountType/>
      </UserInfo>
      <UserInfo>
        <DisplayName>Jerry Chi Yuen LAI</DisplayName>
        <AccountId>52</AccountId>
        <AccountType/>
      </UserInfo>
      <UserInfo>
        <DisplayName>Jennifer Kam Yin LIU</DisplayName>
        <AccountId>51</AccountId>
        <AccountType/>
      </UserInfo>
      <UserInfo>
        <DisplayName>Lilian SIM</DisplayName>
        <AccountId>18</AccountId>
        <AccountType/>
      </UserInfo>
    </SharedWithUsers>
    <lcf76f155ced4ddcb4097134ff3c332f xmlns="d27e5f7d-f0ff-4de2-90b8-382edadbb92e">
      <Terms xmlns="http://schemas.microsoft.com/office/infopath/2007/PartnerControls"/>
    </lcf76f155ced4ddcb4097134ff3c332f>
    <TaxCatchAll xmlns="58048602-5fd1-4777-b2d4-750a469692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AA53A12D24D774E8BF208EFDF8265AA" ma:contentTypeVersion="15" ma:contentTypeDescription="Create a new document." ma:contentTypeScope="" ma:versionID="681145651eea06a584d27149e4628571">
  <xsd:schema xmlns:xsd="http://www.w3.org/2001/XMLSchema" xmlns:xs="http://www.w3.org/2001/XMLSchema" xmlns:p="http://schemas.microsoft.com/office/2006/metadata/properties" xmlns:ns2="58048602-5fd1-4777-b2d4-750a4696923f" xmlns:ns3="d27e5f7d-f0ff-4de2-90b8-382edadbb92e" targetNamespace="http://schemas.microsoft.com/office/2006/metadata/properties" ma:root="true" ma:fieldsID="bb920e1f4364254216c038aefab94305" ns2:_="" ns3:_="">
    <xsd:import namespace="58048602-5fd1-4777-b2d4-750a4696923f"/>
    <xsd:import namespace="d27e5f7d-f0ff-4de2-90b8-382edadbb92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048602-5fd1-4777-b2d4-750a4696923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eeec5372-01d4-4a73-8daf-4ba62b902125}" ma:internalName="TaxCatchAll" ma:showField="CatchAllData" ma:web="58048602-5fd1-4777-b2d4-750a4696923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27e5f7d-f0ff-4de2-90b8-382edadbb92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5afc53d-a465-4c37-9d87-7482417fd67c"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9A9F15-5CE9-47BB-B607-FC688EF78729}">
  <ds:schemaRefs>
    <ds:schemaRef ds:uri="http://schemas.microsoft.com/sharepoint/v3/contenttype/forms"/>
  </ds:schemaRefs>
</ds:datastoreItem>
</file>

<file path=customXml/itemProps2.xml><?xml version="1.0" encoding="utf-8"?>
<ds:datastoreItem xmlns:ds="http://schemas.openxmlformats.org/officeDocument/2006/customXml" ds:itemID="{7E0216D0-BCE7-44D0-8064-6A537768DB0C}">
  <ds:schemaRefs>
    <ds:schemaRef ds:uri="58048602-5fd1-4777-b2d4-750a4696923f"/>
    <ds:schemaRef ds:uri="d27e5f7d-f0ff-4de2-90b8-382edadbb92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3E1D93A-AAD2-4305-99D7-CD1C56B0AA63}">
  <ds:schemaRefs>
    <ds:schemaRef ds:uri="58048602-5fd1-4777-b2d4-750a4696923f"/>
    <ds:schemaRef ds:uri="d27e5f7d-f0ff-4de2-90b8-382edadbb92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TotalTime>
  <Words>11148</Words>
  <Application>Microsoft Office PowerPoint</Application>
  <PresentationFormat>A4 Paper (210x297 mm)</PresentationFormat>
  <Paragraphs>3442</Paragraphs>
  <Slides>45</Slides>
  <Notes>9</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DBS-CMG_v1.6</vt:lpstr>
      <vt:lpstr>PowerPoint Presentation</vt:lpstr>
      <vt:lpstr>Equity and REIT Market Update</vt:lpstr>
      <vt:lpstr>2026 – Markets once again demonstrate resilience and momentum, prevailing above geopolitical uncertainties</vt:lpstr>
      <vt:lpstr>Global macro overview and outlook</vt:lpstr>
      <vt:lpstr>Singapore equity market gained momentum in 2025 - YTD 2026 supported by whole-of-ecosystem market initiatives, with both deal volume and trading liquidity up significantly</vt:lpstr>
      <vt:lpstr>Resurgence of S-REIT IPO market activity in 2025 and 2026, after a hiatus of three years …</vt:lpstr>
      <vt:lpstr>… while momentum continues in S-REIT market activity</vt:lpstr>
      <vt:lpstr>Comparing Singapore-listed data centre REITs</vt:lpstr>
      <vt:lpstr>Analysts remain bullish on the data centre REITs backed by strong rental growth, accretive acquisitions and lowering funding costs</vt:lpstr>
      <vt:lpstr>[ ]</vt:lpstr>
      <vt:lpstr>[Hong Kong Equity Capital Market Update]</vt:lpstr>
      <vt:lpstr>Hong Kong Equity Capital Markets Recap – 2026YTD</vt:lpstr>
      <vt:lpstr>Hong Kong IPO Trends – 2026 YTD</vt:lpstr>
      <vt:lpstr>HK is the #1 IPO Market Globally and 2nd Most Active Geography for All ECM Issuance</vt:lpstr>
      <vt:lpstr>Hong Kong – #1 IPO Venue Globally in 2026 Q1</vt:lpstr>
      <vt:lpstr>International Investors Increasingly Active in Cornerstone Investments</vt:lpstr>
      <vt:lpstr>International Issuers Utilized Hong Kong’s Fundraising Platform</vt:lpstr>
      <vt:lpstr>HKEx is an Attractive Listing Venue for International Companies </vt:lpstr>
      <vt:lpstr>HK Increasingly Attractive for International Issuers</vt:lpstr>
      <vt:lpstr>[Comparison of Listing Vehicle]</vt:lpstr>
      <vt:lpstr>Comparison of Listing Vehicle</vt:lpstr>
      <vt:lpstr>Comparison of Listing Vehicle (Cont’d)</vt:lpstr>
      <vt:lpstr>[Comparable Company Analysis]</vt:lpstr>
      <vt:lpstr>Hong Kong Listed Comparable Company Analysis</vt:lpstr>
      <vt:lpstr>Hong Kong Listed Comparable Company Analysis (Cont’d)</vt:lpstr>
      <vt:lpstr>Hong Kong Listed Comparable Company Analysis</vt:lpstr>
      <vt:lpstr>DBS Credentials</vt:lpstr>
      <vt:lpstr>Dominant presence in equity capital markets in Singapore and ASEAN DBS had led-managed ~90% of IPOs and equity fund raisings on SGX between 2021 to 2026 YTD</vt:lpstr>
      <vt:lpstr>Unrivalled track record of accolades in the investment banking space</vt:lpstr>
      <vt:lpstr>DBS’ undisputable track record of successful IPOs on SGX</vt:lpstr>
      <vt:lpstr>DBS offers differentiated access to Asian liquidity</vt:lpstr>
      <vt:lpstr>Robust performance in generating cornerstone and anchor demand Strong early demand builds confidence and price leadership</vt:lpstr>
      <vt:lpstr>DBS has a Strong Track Record in Introducing Cornerstone and Anchor Investors</vt:lpstr>
      <vt:lpstr>DBS is instrumental in driving demand momentum</vt:lpstr>
      <vt:lpstr>DBS’ Private Wealth clients have been active participants in our REIT IPOs</vt:lpstr>
      <vt:lpstr>DBS’ proven track record in executing landmark Asian IPOs</vt:lpstr>
      <vt:lpstr>Selected Hong Kong IPO Transactions</vt:lpstr>
      <vt:lpstr>Selected Hong Kong ECM Transactions</vt:lpstr>
      <vt:lpstr>DBS continues to provide research coverage and profile companies in conferences and roadshows post listing</vt:lpstr>
      <vt:lpstr>Select Case Studies</vt:lpstr>
      <vt:lpstr>Case Study: Keppel DC REIT grew &gt;4x in the last decade through active management</vt:lpstr>
      <vt:lpstr>Case Study: Digital Core REIT – a timeline analysis</vt:lpstr>
      <vt:lpstr>Case Study: NTT DC REIT | U$772.7 million (14 July 2025)  Largest REIT IPO on SGX in the last decade</vt:lpstr>
      <vt:lpstr>Case Study: Centurion Accommodation REIT IPO (25 September 2025) Strong demand backed by attractive valuation and fundamentals has fuelled stellar market performance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Discussion Paper</dc:title>
  <dc:creator>weihanloh@dbs.com</dc:creator>
  <cp:lastModifiedBy>DBS</cp:lastModifiedBy>
  <cp:revision>118</cp:revision>
  <cp:lastPrinted>2026-05-08T03:16:43Z</cp:lastPrinted>
  <dcterms:modified xsi:type="dcterms:W3CDTF">2026-05-27T08:10:18Z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0x010100BAA53A12D24D774E8BF208EFDF8265AA</vt:lpwstr>
  </property>
  <property fmtid="{D5CDD505-2E9C-101B-9397-08002B2CF9AE}" pid="3" name="AuthorIds_UIVersion_3072">
    <vt:lpwstr>53</vt:lpwstr>
  </property>
  <property fmtid="{D5CDD505-2E9C-101B-9397-08002B2CF9AE}" pid="4" name="MediaServiceImageTags">
    <vt:lpwstr/>
  </property>
  <property fmtid="{D5CDD505-2E9C-101B-9397-08002B2CF9AE}" pid="5" name="Language">
    <vt:lpwstr>EnglishUS</vt:lpwstr>
  </property>
</Properties>
</file>